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41"/>
  </p:handoutMasterIdLst>
  <p:sldIdLst>
    <p:sldId id="335" r:id="rId3"/>
    <p:sldId id="490" r:id="rId5"/>
    <p:sldId id="458" r:id="rId6"/>
    <p:sldId id="570" r:id="rId7"/>
    <p:sldId id="571" r:id="rId8"/>
    <p:sldId id="459" r:id="rId9"/>
    <p:sldId id="460" r:id="rId10"/>
    <p:sldId id="461" r:id="rId11"/>
    <p:sldId id="462" r:id="rId12"/>
    <p:sldId id="463" r:id="rId13"/>
    <p:sldId id="464" r:id="rId14"/>
    <p:sldId id="465" r:id="rId15"/>
    <p:sldId id="466" r:id="rId16"/>
    <p:sldId id="504" r:id="rId17"/>
    <p:sldId id="511" r:id="rId18"/>
    <p:sldId id="507" r:id="rId19"/>
    <p:sldId id="508" r:id="rId20"/>
    <p:sldId id="509" r:id="rId21"/>
    <p:sldId id="568" r:id="rId22"/>
    <p:sldId id="569" r:id="rId23"/>
    <p:sldId id="567" r:id="rId24"/>
    <p:sldId id="560" r:id="rId25"/>
    <p:sldId id="562" r:id="rId26"/>
    <p:sldId id="563" r:id="rId27"/>
    <p:sldId id="564" r:id="rId28"/>
    <p:sldId id="565" r:id="rId29"/>
    <p:sldId id="566" r:id="rId30"/>
    <p:sldId id="551" r:id="rId31"/>
    <p:sldId id="552" r:id="rId32"/>
    <p:sldId id="553" r:id="rId33"/>
    <p:sldId id="554" r:id="rId34"/>
    <p:sldId id="555" r:id="rId35"/>
    <p:sldId id="556" r:id="rId36"/>
    <p:sldId id="557" r:id="rId37"/>
    <p:sldId id="558" r:id="rId38"/>
    <p:sldId id="559" r:id="rId39"/>
    <p:sldId id="510" r:id="rId40"/>
  </p:sldIdLst>
  <p:sldSz cx="9144000" cy="6858000" type="screen4x3"/>
  <p:notesSz cx="7099300" cy="10234295"/>
  <p:custDataLst>
    <p:tags r:id="rId45"/>
  </p:custDataLst>
  <p:defaultTextStyle>
    <a:defPPr>
      <a:defRPr lang="en-US"/>
    </a:defPPr>
    <a:lvl1pPr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1pPr>
    <a:lvl2pPr marL="4572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2pPr>
    <a:lvl3pPr marL="9144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3pPr>
    <a:lvl4pPr marL="13716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4pPr>
    <a:lvl5pPr marL="1828800" algn="l" rtl="0" eaLnBrk="0" fontAlgn="base" hangingPunct="0">
      <a:spcBef>
        <a:spcPct val="0"/>
      </a:spcBef>
      <a:spcAft>
        <a:spcPct val="0"/>
      </a:spcAft>
      <a:defRPr sz="4000" b="1" kern="1200">
        <a:solidFill>
          <a:srgbClr val="0000FF"/>
        </a:solidFill>
        <a:latin typeface="Arial" panose="020B0604020202020204" pitchFamily="34" charset="0"/>
        <a:ea typeface="楷体_GB2312" charset="-122"/>
        <a:cs typeface="+mn-cs"/>
      </a:defRPr>
    </a:lvl5pPr>
    <a:lvl6pPr marL="2286000" algn="l" defTabSz="914400" rtl="0" eaLnBrk="1" latinLnBrk="0" hangingPunct="1">
      <a:defRPr sz="4000" b="1" kern="1200">
        <a:solidFill>
          <a:srgbClr val="0000FF"/>
        </a:solidFill>
        <a:latin typeface="Arial" panose="020B0604020202020204" pitchFamily="34" charset="0"/>
        <a:ea typeface="楷体_GB2312" charset="-122"/>
        <a:cs typeface="+mn-cs"/>
      </a:defRPr>
    </a:lvl6pPr>
    <a:lvl7pPr marL="2743200" algn="l" defTabSz="914400" rtl="0" eaLnBrk="1" latinLnBrk="0" hangingPunct="1">
      <a:defRPr sz="4000" b="1" kern="1200">
        <a:solidFill>
          <a:srgbClr val="0000FF"/>
        </a:solidFill>
        <a:latin typeface="Arial" panose="020B0604020202020204" pitchFamily="34" charset="0"/>
        <a:ea typeface="楷体_GB2312" charset="-122"/>
        <a:cs typeface="+mn-cs"/>
      </a:defRPr>
    </a:lvl7pPr>
    <a:lvl8pPr marL="3200400" algn="l" defTabSz="914400" rtl="0" eaLnBrk="1" latinLnBrk="0" hangingPunct="1">
      <a:defRPr sz="4000" b="1" kern="1200">
        <a:solidFill>
          <a:srgbClr val="0000FF"/>
        </a:solidFill>
        <a:latin typeface="Arial" panose="020B0604020202020204" pitchFamily="34" charset="0"/>
        <a:ea typeface="楷体_GB2312" charset="-122"/>
        <a:cs typeface="+mn-cs"/>
      </a:defRPr>
    </a:lvl8pPr>
    <a:lvl9pPr marL="3657600" algn="l" defTabSz="914400" rtl="0" eaLnBrk="1" latinLnBrk="0" hangingPunct="1">
      <a:defRPr sz="4000" b="1" kern="1200">
        <a:solidFill>
          <a:srgbClr val="0000FF"/>
        </a:solidFill>
        <a:latin typeface="Arial" panose="020B0604020202020204" pitchFamily="34" charset="0"/>
        <a:ea typeface="楷体_GB231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0BFD9"/>
    <a:srgbClr val="7BC3F7"/>
    <a:srgbClr val="F4BA4A"/>
    <a:srgbClr val="CD5134"/>
    <a:srgbClr val="800000"/>
    <a:srgbClr val="D6009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90" autoAdjust="0"/>
    <p:restoredTop sz="98897" autoAdjust="0"/>
  </p:normalViewPr>
  <p:slideViewPr>
    <p:cSldViewPr snapToGrid="0" snapToObjects="1" showGuides="1">
      <p:cViewPr varScale="1">
        <p:scale>
          <a:sx n="76" d="100"/>
          <a:sy n="76" d="100"/>
        </p:scale>
        <p:origin x="939" y="42"/>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gs" Target="tags/tag1.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lnSpc>
                <a:spcPct val="100000"/>
              </a:lnSpc>
              <a:spcBef>
                <a:spcPct val="0"/>
              </a:spcBef>
              <a:buFontTx/>
              <a:buNone/>
              <a:defRPr sz="1300" b="0">
                <a:solidFill>
                  <a:schemeClr val="tx1"/>
                </a:solidFill>
                <a:latin typeface="Times" panose="02020603050405020304" pitchFamily="18" charset="0"/>
                <a:ea typeface="宋体" panose="02010600030101010101" pitchFamily="2" charset="-122"/>
              </a:defRPr>
            </a:lvl1pPr>
          </a:lstStyle>
          <a:p>
            <a:pPr>
              <a:defRPr/>
            </a:pPr>
            <a:fld id="{2365A85D-FE57-4433-9BCD-855532B3C02F}"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eaLnBrk="0" hangingPunct="0">
              <a:lnSpc>
                <a:spcPct val="100000"/>
              </a:lnSpc>
              <a:spcBef>
                <a:spcPct val="0"/>
              </a:spcBef>
              <a:buFontTx/>
              <a:buNone/>
              <a:defRPr sz="1300" b="0">
                <a:solidFill>
                  <a:schemeClr val="tx1"/>
                </a:solidFill>
                <a:latin typeface="Times"/>
                <a:ea typeface="宋体" panose="02010600030101010101" pitchFamily="2" charset="-122"/>
                <a:cs typeface="楷体_GB2312"/>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eaLnBrk="0" hangingPunct="0">
              <a:lnSpc>
                <a:spcPct val="100000"/>
              </a:lnSpc>
              <a:spcBef>
                <a:spcPct val="0"/>
              </a:spcBef>
              <a:buFontTx/>
              <a:buNone/>
              <a:defRPr sz="1300" b="0">
                <a:solidFill>
                  <a:schemeClr val="tx1"/>
                </a:solidFill>
                <a:latin typeface="Times" panose="02020603050405020304" pitchFamily="18" charset="0"/>
                <a:ea typeface="宋体" panose="02010600030101010101" pitchFamily="2" charset="-122"/>
              </a:defRPr>
            </a:lvl1pPr>
          </a:lstStyle>
          <a:p>
            <a:pPr>
              <a:defRPr/>
            </a:pPr>
            <a:fld id="{B961EE25-DEFA-4993-B6F4-A7D299DCFA84}"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B250D9AA-2DD8-4147-A7EA-F5B20271577B}" type="slidenum">
              <a:rPr lang="zh-CN" altLang="en-US" sz="1300" smtClean="0">
                <a:cs typeface="楷体_GB2312" charset="-122"/>
              </a:rPr>
            </a:fld>
            <a:endParaRPr lang="en-US" altLang="zh-CN" sz="1300">
              <a:cs typeface="楷体_GB2312" charset="-122"/>
            </a:endParaRPr>
          </a:p>
        </p:txBody>
      </p:sp>
      <p:sp>
        <p:nvSpPr>
          <p:cNvPr id="6147" name="Rectangle 2"/>
          <p:cNvSpPr>
            <a:spLocks noGrp="1" noRot="1" noChangeAspect="1" noChangeArrowheads="1" noTextEdit="1"/>
          </p:cNvSpPr>
          <p:nvPr>
            <p:ph type="sldImg"/>
          </p:nvPr>
        </p:nvSpPr>
        <p:spPr>
          <a:xfrm>
            <a:off x="992188" y="768350"/>
            <a:ext cx="5114925" cy="3836988"/>
          </a:xfrm>
        </p:spPr>
      </p:sp>
      <p:sp>
        <p:nvSpPr>
          <p:cNvPr id="614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9FCA352A-7CC3-4CF6-B1C9-0ED68888E684}" type="slidenum">
              <a:rPr lang="zh-CN" altLang="en-US" sz="1300" smtClean="0">
                <a:cs typeface="楷体_GB2312" charset="-122"/>
              </a:rPr>
            </a:fld>
            <a:endParaRPr lang="en-US" altLang="zh-CN" sz="1300">
              <a:cs typeface="楷体_GB2312" charset="-122"/>
            </a:endParaRPr>
          </a:p>
        </p:txBody>
      </p:sp>
      <p:sp>
        <p:nvSpPr>
          <p:cNvPr id="9219" name="Rectangle 2"/>
          <p:cNvSpPr>
            <a:spLocks noGrp="1" noRot="1" noChangeAspect="1" noChangeArrowheads="1" noTextEdit="1"/>
          </p:cNvSpPr>
          <p:nvPr>
            <p:ph type="sldImg"/>
          </p:nvPr>
        </p:nvSpPr>
        <p:spPr>
          <a:xfrm>
            <a:off x="992188" y="768350"/>
            <a:ext cx="5114925" cy="3836988"/>
          </a:xfrm>
        </p:spPr>
      </p:sp>
      <p:sp>
        <p:nvSpPr>
          <p:cNvPr id="9220"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3275447-D718-401F-BA5A-7460B5CB764A}" type="slidenum">
              <a:rPr lang="zh-CN" altLang="en-US" sz="1300" smtClean="0">
                <a:cs typeface="楷体_GB2312" charset="-122"/>
              </a:rPr>
            </a:fld>
            <a:endParaRPr lang="en-US" altLang="zh-CN" sz="1300">
              <a:cs typeface="楷体_GB2312" charset="-122"/>
            </a:endParaRPr>
          </a:p>
        </p:txBody>
      </p:sp>
      <p:sp>
        <p:nvSpPr>
          <p:cNvPr id="13315" name="Rectangle 2"/>
          <p:cNvSpPr>
            <a:spLocks noGrp="1" noRot="1" noChangeAspect="1" noChangeArrowheads="1" noTextEdit="1"/>
          </p:cNvSpPr>
          <p:nvPr>
            <p:ph type="sldImg"/>
          </p:nvPr>
        </p:nvSpPr>
        <p:spPr>
          <a:xfrm>
            <a:off x="992188" y="768350"/>
            <a:ext cx="5114925" cy="3836988"/>
          </a:xfrm>
        </p:spPr>
      </p:sp>
      <p:sp>
        <p:nvSpPr>
          <p:cNvPr id="1331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142F8746-7640-476E-BE16-5E1CEE2CA8CB}" type="slidenum">
              <a:rPr lang="zh-CN" altLang="en-US" sz="1300" smtClean="0">
                <a:cs typeface="楷体_GB2312" charset="-122"/>
              </a:rPr>
            </a:fld>
            <a:endParaRPr lang="en-US" altLang="zh-CN" sz="1300">
              <a:cs typeface="楷体_GB2312" charset="-122"/>
            </a:endParaRPr>
          </a:p>
        </p:txBody>
      </p:sp>
      <p:sp>
        <p:nvSpPr>
          <p:cNvPr id="15363" name="Rectangle 2"/>
          <p:cNvSpPr>
            <a:spLocks noGrp="1" noRot="1" noChangeAspect="1" noChangeArrowheads="1" noTextEdit="1"/>
          </p:cNvSpPr>
          <p:nvPr>
            <p:ph type="sldImg"/>
          </p:nvPr>
        </p:nvSpPr>
        <p:spPr>
          <a:xfrm>
            <a:off x="992188" y="768350"/>
            <a:ext cx="5114925" cy="3836988"/>
          </a:xfrm>
        </p:spPr>
      </p:sp>
      <p:sp>
        <p:nvSpPr>
          <p:cNvPr id="15364"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6FD28C0E-077D-4B8A-BD30-9A61A3D21AFD}" type="slidenum">
              <a:rPr lang="zh-CN" altLang="en-US" sz="1300" smtClean="0">
                <a:cs typeface="楷体_GB2312" charset="-122"/>
              </a:rPr>
            </a:fld>
            <a:endParaRPr lang="en-US" altLang="zh-CN" sz="1300">
              <a:cs typeface="楷体_GB2312" charset="-122"/>
            </a:endParaRPr>
          </a:p>
        </p:txBody>
      </p:sp>
      <p:sp>
        <p:nvSpPr>
          <p:cNvPr id="17411" name="Rectangle 2"/>
          <p:cNvSpPr>
            <a:spLocks noGrp="1" noRot="1" noChangeAspect="1" noChangeArrowheads="1" noTextEdit="1"/>
          </p:cNvSpPr>
          <p:nvPr>
            <p:ph type="sldImg"/>
          </p:nvPr>
        </p:nvSpPr>
        <p:spPr>
          <a:xfrm>
            <a:off x="992188" y="768350"/>
            <a:ext cx="5114925" cy="3836988"/>
          </a:xfrm>
        </p:spPr>
      </p:sp>
      <p:sp>
        <p:nvSpPr>
          <p:cNvPr id="1741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0608962E-EA42-4E9B-B775-EC9E564B7A45}" type="slidenum">
              <a:rPr lang="zh-CN" altLang="en-US" sz="1300" smtClean="0">
                <a:cs typeface="楷体_GB2312" charset="-122"/>
              </a:rPr>
            </a:fld>
            <a:endParaRPr lang="en-US" altLang="zh-CN" sz="1300">
              <a:cs typeface="楷体_GB2312" charset="-122"/>
            </a:endParaRPr>
          </a:p>
        </p:txBody>
      </p:sp>
      <p:sp>
        <p:nvSpPr>
          <p:cNvPr id="19459" name="Rectangle 2"/>
          <p:cNvSpPr>
            <a:spLocks noGrp="1" noRot="1" noChangeAspect="1" noChangeArrowheads="1" noTextEdit="1"/>
          </p:cNvSpPr>
          <p:nvPr>
            <p:ph type="sldImg"/>
          </p:nvPr>
        </p:nvSpPr>
        <p:spPr>
          <a:xfrm>
            <a:off x="992188" y="768350"/>
            <a:ext cx="5114925" cy="3836988"/>
          </a:xfrm>
        </p:spPr>
      </p:sp>
      <p:sp>
        <p:nvSpPr>
          <p:cNvPr id="19460"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87F1BFE2-0ED3-4FD9-897C-E7B0A0A12991}" type="slidenum">
              <a:rPr lang="zh-CN" altLang="en-US" sz="1300" smtClean="0">
                <a:cs typeface="楷体_GB2312" charset="-122"/>
              </a:rPr>
            </a:fld>
            <a:endParaRPr lang="en-US" altLang="zh-CN" sz="1300">
              <a:cs typeface="楷体_GB2312" charset="-122"/>
            </a:endParaRPr>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33F1A549-483B-400B-9391-D42314923293}" type="slidenum">
              <a:rPr lang="zh-CN" altLang="en-US" sz="1300" smtClean="0">
                <a:cs typeface="楷体_GB2312" charset="-122"/>
              </a:rPr>
            </a:fld>
            <a:endParaRPr lang="en-US" altLang="zh-CN" sz="1300">
              <a:cs typeface="楷体_GB2312" charset="-122"/>
            </a:endParaRPr>
          </a:p>
        </p:txBody>
      </p:sp>
      <p:sp>
        <p:nvSpPr>
          <p:cNvPr id="23555" name="Rectangle 2"/>
          <p:cNvSpPr>
            <a:spLocks noGrp="1" noRot="1" noChangeAspect="1" noChangeArrowheads="1" noTextEdit="1"/>
          </p:cNvSpPr>
          <p:nvPr>
            <p:ph type="sldImg"/>
          </p:nvPr>
        </p:nvSpPr>
        <p:spPr>
          <a:xfrm>
            <a:off x="992188" y="768350"/>
            <a:ext cx="5114925" cy="3836988"/>
          </a:xfrm>
        </p:spPr>
      </p:sp>
      <p:sp>
        <p:nvSpPr>
          <p:cNvPr id="23556"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32D8339-5F8B-49FC-87DC-224FE01CEB3D}" type="slidenum">
              <a:rPr lang="zh-CN" altLang="en-US" sz="1300" smtClean="0">
                <a:cs typeface="楷体_GB2312" charset="-122"/>
              </a:rPr>
            </a:fld>
            <a:endParaRPr lang="en-US" altLang="zh-CN" sz="1300">
              <a:cs typeface="楷体_GB2312" charset="-122"/>
            </a:endParaRPr>
          </a:p>
        </p:txBody>
      </p:sp>
      <p:sp>
        <p:nvSpPr>
          <p:cNvPr id="25603" name="Rectangle 2"/>
          <p:cNvSpPr>
            <a:spLocks noGrp="1" noRot="1" noChangeAspect="1" noChangeArrowheads="1" noTextEdit="1"/>
          </p:cNvSpPr>
          <p:nvPr>
            <p:ph type="sldImg"/>
          </p:nvPr>
        </p:nvSpPr>
        <p:spPr>
          <a:xfrm>
            <a:off x="992188" y="768350"/>
            <a:ext cx="5114925" cy="3836988"/>
          </a:xfrm>
        </p:spPr>
      </p:sp>
      <p:sp>
        <p:nvSpPr>
          <p:cNvPr id="25604"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FB47CA26-C657-4F10-9E6D-737FEC0E7F34}" type="slidenum">
              <a:rPr lang="zh-CN" altLang="en-US" sz="1300" smtClean="0">
                <a:cs typeface="楷体_GB2312" charset="-122"/>
              </a:rPr>
            </a:fld>
            <a:endParaRPr lang="en-US" altLang="zh-CN" sz="1300">
              <a:cs typeface="楷体_GB2312" charset="-122"/>
            </a:endParaRPr>
          </a:p>
        </p:txBody>
      </p:sp>
      <p:sp>
        <p:nvSpPr>
          <p:cNvPr id="27651" name="Rectangle 2"/>
          <p:cNvSpPr>
            <a:spLocks noGrp="1" noRot="1" noChangeAspect="1" noChangeArrowheads="1" noTextEdit="1"/>
          </p:cNvSpPr>
          <p:nvPr>
            <p:ph type="sldImg"/>
          </p:nvPr>
        </p:nvSpPr>
        <p:spPr>
          <a:xfrm>
            <a:off x="992188" y="768350"/>
            <a:ext cx="5114925" cy="3836988"/>
          </a:xfrm>
        </p:spPr>
      </p:sp>
      <p:sp>
        <p:nvSpPr>
          <p:cNvPr id="27652" name="Rectangle 3"/>
          <p:cNvSpPr>
            <a:spLocks noGrp="1" noChangeArrowheads="1"/>
          </p:cNvSpPr>
          <p:nvPr>
            <p:ph type="body" idx="1"/>
          </p:nvPr>
        </p:nvSpPr>
        <p:spPr>
          <a:noFill/>
        </p:spPr>
        <p:txBody>
          <a:bodyPr/>
          <a:lstStyle/>
          <a:p>
            <a:pPr eaLnBrk="1" hangingPunct="1"/>
            <a:endParaRPr lang="zh-CN" altLang="en-US">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p:spPr>
        <p:txBody>
          <a:bodyPr wrap="none">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a:solidFill>
                <a:schemeClr val="tx1"/>
              </a:solidFill>
              <a:latin typeface="Times"/>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p:spPr>
        <p:txBody>
          <a:bodyPr>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a:solidFill>
                <a:schemeClr val="tx1"/>
              </a:solidFill>
              <a:latin typeface="Times"/>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eaLnBrk="1" hangingPunct="1">
              <a:lnSpc>
                <a:spcPct val="90000"/>
              </a:lnSpc>
              <a:spcBef>
                <a:spcPct val="50000"/>
              </a:spcBef>
              <a:buFontTx/>
              <a:buChar char="•"/>
              <a:defRPr/>
            </a:pPr>
            <a:endParaRPr lang="zh-CN" altLang="en-US"/>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a:solidFill>
                <a:schemeClr val="tx1"/>
              </a:solidFill>
              <a:latin typeface="Times"/>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77900"/>
            <a:ext cx="4495800" cy="58801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8453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12700"/>
            <a:ext cx="6705600" cy="68453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0" y="977900"/>
            <a:ext cx="4495800" cy="58801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图表占位符 3"/>
          <p:cNvSpPr>
            <a:spLocks noGrp="1"/>
          </p:cNvSpPr>
          <p:nvPr>
            <p:ph type="chart" sz="half" idx="2"/>
          </p:nvPr>
        </p:nvSpPr>
        <p:spPr>
          <a:xfrm>
            <a:off x="4648200" y="977900"/>
            <a:ext cx="4495800" cy="5880100"/>
          </a:xfrm>
        </p:spPr>
        <p:txBody>
          <a:bodyPr/>
          <a:lstStyle/>
          <a:p>
            <a:pPr lvl="0"/>
            <a:endParaRPr lang="zh-CN" altLang="en-US" noProof="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178800" cy="6096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0" y="977900"/>
            <a:ext cx="9144000" cy="5880100"/>
          </a:xfrm>
        </p:spPr>
        <p:txBody>
          <a:bodyPr/>
          <a:lstStyle/>
          <a:p>
            <a:pPr lvl="0"/>
            <a:endParaRPr lang="zh-CN" altLang="en-US" noProof="0"/>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977900"/>
            <a:ext cx="9144000" cy="5880100"/>
          </a:xfrm>
          <a:prstGeom prst="rect">
            <a:avLst/>
          </a:prstGeom>
          <a:solidFill>
            <a:srgbClr val="FFFFFF"/>
          </a:solidFill>
          <a:ln>
            <a:noFill/>
          </a:ln>
        </p:spPr>
        <p:txBody>
          <a:bodyPr vert="horz" wrap="square" lIns="91440" tIns="45720" rIns="91440" bIns="4572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1027" name="Rectangle 7"/>
          <p:cNvSpPr>
            <a:spLocks noChangeArrowheads="1"/>
          </p:cNvSpPr>
          <p:nvPr userDrawn="1"/>
        </p:nvSpPr>
        <p:spPr bwMode="auto">
          <a:xfrm>
            <a:off x="4371975" y="0"/>
            <a:ext cx="184150" cy="457200"/>
          </a:xfrm>
          <a:prstGeom prst="rect">
            <a:avLst/>
          </a:prstGeom>
          <a:noFill/>
          <a:ln>
            <a:noFill/>
          </a:ln>
        </p:spPr>
        <p:txBody>
          <a:bodyPr wrap="none">
            <a:spAutoFit/>
          </a:bodyP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a:defRPr/>
            </a:pPr>
            <a:endParaRPr lang="zh-CN" altLang="en-US" sz="2400" b="0">
              <a:solidFill>
                <a:schemeClr val="tx1"/>
              </a:solidFill>
              <a:latin typeface="Times"/>
              <a:ea typeface="宋体" panose="02010600030101010101" pitchFamily="2" charset="-122"/>
            </a:endParaRPr>
          </a:p>
        </p:txBody>
      </p:sp>
      <p:sp>
        <p:nvSpPr>
          <p:cNvPr id="1028" name="Rectangle 14"/>
          <p:cNvSpPr>
            <a:spLocks noChangeArrowheads="1"/>
          </p:cNvSpPr>
          <p:nvPr userDrawn="1"/>
        </p:nvSpPr>
        <p:spPr bwMode="auto">
          <a:xfrm>
            <a:off x="-12700" y="774700"/>
            <a:ext cx="3467100" cy="42863"/>
          </a:xfrm>
          <a:prstGeom prst="rect">
            <a:avLst/>
          </a:prstGeom>
          <a:solidFill>
            <a:srgbClr val="800000"/>
          </a:solidFill>
          <a:ln w="9525">
            <a:solidFill>
              <a:srgbClr val="800000"/>
            </a:solidFill>
            <a:miter lim="800000"/>
          </a:ln>
        </p:spPr>
        <p:txBody>
          <a:bodyPr wrap="none" anchor="ctr"/>
          <a:lstStyle>
            <a:lvl1pPr eaLnBrk="0" hangingPunct="0">
              <a:defRPr sz="4000" b="1">
                <a:solidFill>
                  <a:srgbClr val="0000FF"/>
                </a:solidFill>
                <a:latin typeface="Arial" panose="020B0604020202020204" pitchFamily="34" charset="0"/>
                <a:ea typeface="楷体_GB2312"/>
                <a:cs typeface="楷体_GB2312"/>
              </a:defRPr>
            </a:lvl1pPr>
            <a:lvl2pPr marL="742950" indent="-285750" eaLnBrk="0" hangingPunct="0">
              <a:defRPr sz="4000" b="1">
                <a:solidFill>
                  <a:srgbClr val="0000FF"/>
                </a:solidFill>
                <a:latin typeface="Arial" panose="020B0604020202020204" pitchFamily="34" charset="0"/>
                <a:ea typeface="楷体_GB2312"/>
                <a:cs typeface="楷体_GB2312"/>
              </a:defRPr>
            </a:lvl2pPr>
            <a:lvl3pPr marL="1143000" indent="-228600" eaLnBrk="0" hangingPunct="0">
              <a:defRPr sz="4000" b="1">
                <a:solidFill>
                  <a:srgbClr val="0000FF"/>
                </a:solidFill>
                <a:latin typeface="Arial" panose="020B0604020202020204" pitchFamily="34" charset="0"/>
                <a:ea typeface="楷体_GB2312"/>
                <a:cs typeface="楷体_GB2312"/>
              </a:defRPr>
            </a:lvl3pPr>
            <a:lvl4pPr marL="1600200" indent="-228600" eaLnBrk="0" hangingPunct="0">
              <a:defRPr sz="4000" b="1">
                <a:solidFill>
                  <a:srgbClr val="0000FF"/>
                </a:solidFill>
                <a:latin typeface="Arial" panose="020B0604020202020204" pitchFamily="34" charset="0"/>
                <a:ea typeface="楷体_GB2312"/>
                <a:cs typeface="楷体_GB2312"/>
              </a:defRPr>
            </a:lvl4pPr>
            <a:lvl5pPr marL="2057400" indent="-228600" eaLnBrk="0" hangingPunct="0">
              <a:defRPr sz="4000" b="1">
                <a:solidFill>
                  <a:srgbClr val="0000FF"/>
                </a:solidFill>
                <a:latin typeface="Arial" panose="020B0604020202020204" pitchFamily="34" charset="0"/>
                <a:ea typeface="楷体_GB2312"/>
                <a:cs typeface="楷体_GB2312"/>
              </a:defRPr>
            </a:lvl5pPr>
            <a:lvl6pPr marL="25146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6pPr>
            <a:lvl7pPr marL="29718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7pPr>
            <a:lvl8pPr marL="34290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8pPr>
            <a:lvl9pPr marL="3886200" indent="-228600" eaLnBrk="0" fontAlgn="base" hangingPunct="0">
              <a:lnSpc>
                <a:spcPct val="90000"/>
              </a:lnSpc>
              <a:spcBef>
                <a:spcPct val="50000"/>
              </a:spcBef>
              <a:spcAft>
                <a:spcPct val="0"/>
              </a:spcAft>
              <a:buChar char="•"/>
              <a:defRPr sz="4000" b="1">
                <a:solidFill>
                  <a:srgbClr val="0000FF"/>
                </a:solidFill>
                <a:latin typeface="Arial" panose="020B0604020202020204" pitchFamily="34" charset="0"/>
                <a:ea typeface="楷体_GB2312"/>
                <a:cs typeface="楷体_GB2312"/>
              </a:defRPr>
            </a:lvl9pPr>
          </a:lstStyle>
          <a:p>
            <a:pPr eaLnBrk="1" hangingPunct="1">
              <a:lnSpc>
                <a:spcPct val="90000"/>
              </a:lnSpc>
              <a:spcBef>
                <a:spcPct val="50000"/>
              </a:spcBef>
              <a:buFontTx/>
              <a:buChar char="•"/>
              <a:defRPr/>
            </a:pPr>
            <a:endParaRPr lang="zh-CN" altLang="en-US"/>
          </a:p>
        </p:txBody>
      </p:sp>
      <p:sp>
        <p:nvSpPr>
          <p:cNvPr id="1029" name="Rectangle 2"/>
          <p:cNvSpPr>
            <a:spLocks noGrp="1" noChangeArrowheads="1"/>
          </p:cNvSpPr>
          <p:nvPr>
            <p:ph type="title"/>
          </p:nvPr>
        </p:nvSpPr>
        <p:spPr bwMode="auto">
          <a:xfrm>
            <a:off x="0" y="12700"/>
            <a:ext cx="8178800" cy="609600"/>
          </a:xfrm>
          <a:prstGeom prst="rect">
            <a:avLst/>
          </a:prstGeom>
          <a:solidFill>
            <a:schemeClr val="tx2"/>
          </a:solidFill>
          <a:ln>
            <a:noFill/>
          </a:ln>
        </p:spPr>
        <p:txBody>
          <a:bodyPr vert="horz" wrap="square" lIns="91440" tIns="45720" rIns="91440" bIns="45720" numCol="1" anchor="ctr" anchorCtr="0" compatLnSpc="1"/>
          <a:lstStyle/>
          <a:p>
            <a:pPr lvl="0"/>
            <a:r>
              <a:rPr lang="en-US" altLang="zh-CN"/>
              <a:t>Click to edit Master title style</a:t>
            </a:r>
            <a:endParaRPr lang="en-US"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l" rtl="0" eaLnBrk="0" fontAlgn="base" hangingPunct="0">
        <a:spcBef>
          <a:spcPct val="0"/>
        </a:spcBef>
        <a:spcAft>
          <a:spcPct val="0"/>
        </a:spcAft>
        <a:defRPr sz="3600" b="1">
          <a:solidFill>
            <a:srgbClr val="990000"/>
          </a:solidFill>
          <a:latin typeface="+mj-lt"/>
          <a:ea typeface="+mj-ea"/>
          <a:cs typeface="+mj-cs"/>
        </a:defRPr>
      </a:lvl1pPr>
      <a:lvl2pPr algn="l" rtl="0" eaLnBrk="0" fontAlgn="base" hangingPunct="0">
        <a:spcBef>
          <a:spcPct val="0"/>
        </a:spcBef>
        <a:spcAft>
          <a:spcPct val="0"/>
        </a:spcAft>
        <a:defRPr sz="3600" b="1">
          <a:solidFill>
            <a:srgbClr val="990000"/>
          </a:solidFill>
          <a:latin typeface="楷体" panose="02010609060101010101" pitchFamily="49" charset="-122"/>
          <a:ea typeface="楷体" panose="02010609060101010101" pitchFamily="49" charset="-122"/>
        </a:defRPr>
      </a:lvl2pPr>
      <a:lvl3pPr algn="l" rtl="0" eaLnBrk="0" fontAlgn="base" hangingPunct="0">
        <a:spcBef>
          <a:spcPct val="0"/>
        </a:spcBef>
        <a:spcAft>
          <a:spcPct val="0"/>
        </a:spcAft>
        <a:defRPr sz="3600" b="1">
          <a:solidFill>
            <a:srgbClr val="990000"/>
          </a:solidFill>
          <a:latin typeface="楷体" panose="02010609060101010101" pitchFamily="49" charset="-122"/>
          <a:ea typeface="楷体" panose="02010609060101010101" pitchFamily="49" charset="-122"/>
        </a:defRPr>
      </a:lvl3pPr>
      <a:lvl4pPr algn="l" rtl="0" eaLnBrk="0" fontAlgn="base" hangingPunct="0">
        <a:spcBef>
          <a:spcPct val="0"/>
        </a:spcBef>
        <a:spcAft>
          <a:spcPct val="0"/>
        </a:spcAft>
        <a:defRPr sz="3600" b="1">
          <a:solidFill>
            <a:srgbClr val="990000"/>
          </a:solidFill>
          <a:latin typeface="楷体" panose="02010609060101010101" pitchFamily="49" charset="-122"/>
          <a:ea typeface="楷体" panose="02010609060101010101" pitchFamily="49" charset="-122"/>
        </a:defRPr>
      </a:lvl4pPr>
      <a:lvl5pPr algn="l" rtl="0" eaLnBrk="0" fontAlgn="base" hangingPunct="0">
        <a:spcBef>
          <a:spcPct val="0"/>
        </a:spcBef>
        <a:spcAft>
          <a:spcPct val="0"/>
        </a:spcAft>
        <a:defRPr sz="3600" b="1">
          <a:solidFill>
            <a:srgbClr val="990000"/>
          </a:solidFill>
          <a:latin typeface="楷体" panose="02010609060101010101" pitchFamily="49" charset="-122"/>
          <a:ea typeface="楷体" panose="02010609060101010101" pitchFamily="49" charset="-122"/>
        </a:defRPr>
      </a:lvl5pPr>
      <a:lvl6pPr marL="457200" algn="l" rtl="0" fontAlgn="base">
        <a:spcBef>
          <a:spcPct val="0"/>
        </a:spcBef>
        <a:spcAft>
          <a:spcPct val="0"/>
        </a:spcAft>
        <a:defRPr sz="3600" b="1">
          <a:solidFill>
            <a:srgbClr val="990000"/>
          </a:solidFill>
          <a:latin typeface="楷体" panose="02010609060101010101" pitchFamily="49" charset="-122"/>
          <a:ea typeface="楷体" panose="02010609060101010101" pitchFamily="49" charset="-122"/>
        </a:defRPr>
      </a:lvl6pPr>
      <a:lvl7pPr marL="914400" algn="l" rtl="0" fontAlgn="base">
        <a:spcBef>
          <a:spcPct val="0"/>
        </a:spcBef>
        <a:spcAft>
          <a:spcPct val="0"/>
        </a:spcAft>
        <a:defRPr sz="3600" b="1">
          <a:solidFill>
            <a:srgbClr val="990000"/>
          </a:solidFill>
          <a:latin typeface="楷体" panose="02010609060101010101" pitchFamily="49" charset="-122"/>
          <a:ea typeface="楷体" panose="02010609060101010101" pitchFamily="49" charset="-122"/>
        </a:defRPr>
      </a:lvl7pPr>
      <a:lvl8pPr marL="1371600" algn="l" rtl="0" fontAlgn="base">
        <a:spcBef>
          <a:spcPct val="0"/>
        </a:spcBef>
        <a:spcAft>
          <a:spcPct val="0"/>
        </a:spcAft>
        <a:defRPr sz="3600" b="1">
          <a:solidFill>
            <a:srgbClr val="990000"/>
          </a:solidFill>
          <a:latin typeface="楷体" panose="02010609060101010101" pitchFamily="49" charset="-122"/>
          <a:ea typeface="楷体" panose="02010609060101010101" pitchFamily="49" charset="-122"/>
        </a:defRPr>
      </a:lvl8pPr>
      <a:lvl9pPr marL="1828800" algn="l" rtl="0" fontAlgn="base">
        <a:spcBef>
          <a:spcPct val="0"/>
        </a:spcBef>
        <a:spcAft>
          <a:spcPct val="0"/>
        </a:spcAft>
        <a:defRPr sz="3600" b="1">
          <a:solidFill>
            <a:srgbClr val="990000"/>
          </a:solidFill>
          <a:latin typeface="楷体" panose="02010609060101010101" pitchFamily="49" charset="-122"/>
          <a:ea typeface="楷体" panose="02010609060101010101" pitchFamily="49" charset="-122"/>
        </a:defRPr>
      </a:lvl9pPr>
    </p:titleStyle>
    <p:bodyStyle>
      <a:lvl1pPr marL="342900" indent="-342900" algn="l" rtl="0" eaLnBrk="0" fontAlgn="base" hangingPunct="0">
        <a:spcBef>
          <a:spcPct val="20000"/>
        </a:spcBef>
        <a:spcAft>
          <a:spcPct val="0"/>
        </a:spcAft>
        <a:buChar char="•"/>
        <a:defRPr sz="3200" b="1">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b="1">
          <a:solidFill>
            <a:srgbClr val="000000"/>
          </a:solidFill>
          <a:latin typeface="+mn-lt"/>
          <a:ea typeface="+mn-ea"/>
        </a:defRPr>
      </a:lvl2pPr>
      <a:lvl3pPr marL="1143000" indent="-228600" algn="l" rtl="0" eaLnBrk="0" fontAlgn="base" hangingPunct="0">
        <a:spcBef>
          <a:spcPct val="20000"/>
        </a:spcBef>
        <a:spcAft>
          <a:spcPct val="0"/>
        </a:spcAft>
        <a:buChar char="•"/>
        <a:defRPr sz="2400" b="1">
          <a:solidFill>
            <a:srgbClr val="000000"/>
          </a:solidFill>
          <a:latin typeface="+mn-lt"/>
          <a:ea typeface="+mn-ea"/>
        </a:defRPr>
      </a:lvl3pPr>
      <a:lvl4pPr marL="1600200" indent="-228600" algn="l" rtl="0" eaLnBrk="0" fontAlgn="base" hangingPunct="0">
        <a:spcBef>
          <a:spcPct val="20000"/>
        </a:spcBef>
        <a:spcAft>
          <a:spcPct val="0"/>
        </a:spcAft>
        <a:buChar char="–"/>
        <a:defRPr sz="2000" b="1">
          <a:solidFill>
            <a:srgbClr val="000000"/>
          </a:solidFill>
          <a:latin typeface="+mn-lt"/>
          <a:ea typeface="+mn-ea"/>
        </a:defRPr>
      </a:lvl4pPr>
      <a:lvl5pPr marL="2057400" indent="-228600" algn="l" rtl="0" eaLnBrk="0" fontAlgn="base" hangingPunct="0">
        <a:spcBef>
          <a:spcPct val="20000"/>
        </a:spcBef>
        <a:spcAft>
          <a:spcPct val="0"/>
        </a:spcAft>
        <a:buChar char="»"/>
        <a:defRPr sz="2000" b="1">
          <a:solidFill>
            <a:srgbClr val="000000"/>
          </a:solidFill>
          <a:latin typeface="+mn-lt"/>
          <a:ea typeface="+mn-ea"/>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2.xml"/><Relationship Id="rId2" Type="http://schemas.openxmlformats.org/officeDocument/2006/relationships/image" Target="../media/image8.emf"/><Relationship Id="rId1"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ctrTitle"/>
          </p:nvPr>
        </p:nvSpPr>
        <p:spPr>
          <a:xfrm>
            <a:off x="0" y="798513"/>
            <a:ext cx="9186863" cy="3163887"/>
          </a:xfrm>
          <a:noFill/>
        </p:spPr>
        <p:txBody>
          <a:bodyPr/>
          <a:lstStyle/>
          <a:p>
            <a:pPr eaLnBrk="1" hangingPunct="1"/>
            <a:r>
              <a:rPr lang="zh-CN" altLang="en-US" sz="6600">
                <a:solidFill>
                  <a:srgbClr val="000000"/>
                </a:solidFill>
              </a:rPr>
              <a:t>工程经济学</a:t>
            </a:r>
            <a:br>
              <a:rPr lang="zh-CN" altLang="en-US" sz="4800">
                <a:solidFill>
                  <a:srgbClr val="000000"/>
                </a:solidFill>
              </a:rPr>
            </a:br>
            <a:br>
              <a:rPr lang="zh-CN" altLang="en-US" sz="4800">
                <a:solidFill>
                  <a:srgbClr val="000000"/>
                </a:solidFill>
              </a:rPr>
            </a:br>
            <a:r>
              <a:rPr kumimoji="1" lang="zh-CN" altLang="en-US" sz="4800">
                <a:solidFill>
                  <a:srgbClr val="800000"/>
                </a:solidFill>
              </a:rPr>
              <a:t>项目可行性研究</a:t>
            </a:r>
            <a:r>
              <a:rPr kumimoji="1" lang="en-US" altLang="zh-CN" sz="4800">
                <a:solidFill>
                  <a:srgbClr val="800000"/>
                </a:solidFill>
              </a:rPr>
              <a:t>:</a:t>
            </a:r>
            <a:r>
              <a:rPr kumimoji="1" lang="zh-CN" altLang="en-US" sz="4800">
                <a:solidFill>
                  <a:srgbClr val="800000"/>
                </a:solidFill>
              </a:rPr>
              <a:t>财务评价</a:t>
            </a:r>
            <a:endParaRPr lang="en-US" altLang="zh-CN" sz="4800">
              <a:solidFill>
                <a:srgbClr val="800000"/>
              </a:solidFill>
            </a:endParaRPr>
          </a:p>
        </p:txBody>
      </p:sp>
      <p:sp>
        <p:nvSpPr>
          <p:cNvPr id="5123" name="Rectangle 7"/>
          <p:cNvSpPr>
            <a:spLocks noGrp="1" noChangeArrowheads="1"/>
          </p:cNvSpPr>
          <p:nvPr>
            <p:ph type="subTitle" idx="1"/>
          </p:nvPr>
        </p:nvSpPr>
        <p:spPr>
          <a:xfrm>
            <a:off x="725488" y="4775200"/>
            <a:ext cx="7634287" cy="1538288"/>
          </a:xfrm>
          <a:ln>
            <a:noFill/>
          </a:ln>
        </p:spPr>
        <p:txBody>
          <a:bodyPr/>
          <a:lstStyle/>
          <a:p>
            <a:pPr eaLnBrk="1" hangingPunct="1"/>
            <a:endParaRPr lang="en-US" altLang="zh-CN" dirty="0"/>
          </a:p>
          <a:p>
            <a:pPr eaLnBrk="1" hangingPunct="1"/>
            <a:r>
              <a:rPr lang="zh-CN" altLang="en-US" dirty="0"/>
              <a:t>唐文哲 教授</a:t>
            </a:r>
            <a:r>
              <a:rPr lang="en-US" altLang="zh-CN" dirty="0"/>
              <a:t>/</a:t>
            </a:r>
            <a:r>
              <a:rPr lang="zh-CN" altLang="en-US" dirty="0"/>
              <a:t>博导</a:t>
            </a:r>
            <a:endParaRPr lang="zh-CN" altLang="en-US" dirty="0"/>
          </a:p>
          <a:p>
            <a:pPr eaLnBrk="1" hangingPunct="1"/>
            <a:r>
              <a:rPr lang="en-US" altLang="zh-CN" dirty="0" smtClean="0"/>
              <a:t>2023</a:t>
            </a:r>
            <a:r>
              <a:rPr lang="zh-CN" altLang="en-US" dirty="0" smtClean="0"/>
              <a:t>年</a:t>
            </a:r>
            <a:r>
              <a:rPr lang="en-US" altLang="zh-CN" dirty="0"/>
              <a:t>11</a:t>
            </a:r>
            <a:r>
              <a:rPr lang="zh-CN" altLang="en-US" dirty="0"/>
              <a:t>月</a:t>
            </a:r>
            <a:r>
              <a:rPr lang="en-US" altLang="zh-CN" dirty="0"/>
              <a:t>23</a:t>
            </a:r>
            <a:r>
              <a:rPr lang="zh-CN" altLang="en-US" smtClean="0"/>
              <a:t>日</a:t>
            </a:r>
            <a:endParaRPr lang="zh-CN" altLang="en-US" dirty="0"/>
          </a:p>
          <a:p>
            <a:pPr algn="l" eaLnBrk="1" hangingPunct="1"/>
            <a:endParaRPr lang="zh-CN" altLang="en-US" sz="2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title"/>
          </p:nvPr>
        </p:nvSpPr>
        <p:spPr/>
        <p:txBody>
          <a:bodyPr/>
          <a:lstStyle/>
          <a:p>
            <a:pPr eaLnBrk="1" hangingPunct="1"/>
            <a:r>
              <a:rPr lang="zh-CN" altLang="en-US"/>
              <a:t>可行性研究        工程经济学</a:t>
            </a:r>
            <a:endParaRPr lang="en-US" altLang="zh-CN"/>
          </a:p>
        </p:txBody>
      </p:sp>
      <p:sp>
        <p:nvSpPr>
          <p:cNvPr id="7171" name="Text Box 5"/>
          <p:cNvSpPr txBox="1">
            <a:spLocks noChangeArrowheads="1"/>
          </p:cNvSpPr>
          <p:nvPr/>
        </p:nvSpPr>
        <p:spPr bwMode="auto">
          <a:xfrm>
            <a:off x="228600" y="11684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charset="0"/>
                <a:ea typeface="楷体_GB2312" charset="-122"/>
              </a:rPr>
              <a:t>总论</a:t>
            </a:r>
            <a:endParaRPr lang="zh-CN" altLang="en-US" sz="2000">
              <a:latin typeface="Times New Roman" panose="02020603050405020304" charset="0"/>
              <a:ea typeface="楷体_GB2312" charset="-122"/>
            </a:endParaRPr>
          </a:p>
        </p:txBody>
      </p:sp>
      <p:sp>
        <p:nvSpPr>
          <p:cNvPr id="7172" name="Text Box 6"/>
          <p:cNvSpPr txBox="1">
            <a:spLocks noChangeArrowheads="1"/>
          </p:cNvSpPr>
          <p:nvPr/>
        </p:nvSpPr>
        <p:spPr bwMode="auto">
          <a:xfrm>
            <a:off x="228600" y="17399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charset="0"/>
                <a:ea typeface="楷体_GB2312" charset="-122"/>
              </a:rPr>
              <a:t>市场研究</a:t>
            </a:r>
            <a:endParaRPr lang="zh-CN" altLang="en-US" sz="2000">
              <a:latin typeface="Times New Roman" panose="02020603050405020304" charset="0"/>
              <a:ea typeface="楷体_GB2312" charset="-122"/>
            </a:endParaRPr>
          </a:p>
        </p:txBody>
      </p:sp>
      <p:sp>
        <p:nvSpPr>
          <p:cNvPr id="7173" name="Line 7"/>
          <p:cNvSpPr>
            <a:spLocks noChangeShapeType="1"/>
          </p:cNvSpPr>
          <p:nvPr/>
        </p:nvSpPr>
        <p:spPr bwMode="auto">
          <a:xfrm>
            <a:off x="2633663" y="320675"/>
            <a:ext cx="747712" cy="0"/>
          </a:xfrm>
          <a:prstGeom prst="line">
            <a:avLst/>
          </a:prstGeom>
          <a:noFill/>
          <a:ln w="19050">
            <a:solidFill>
              <a:srgbClr val="800000"/>
            </a:solidFill>
            <a:round/>
            <a:headEnd type="stealth" w="med" len="lg"/>
            <a:tailEnd type="stealth" w="med" len="lg"/>
          </a:ln>
        </p:spPr>
        <p:txBody>
          <a:bodyPr/>
          <a:lstStyle/>
          <a:p>
            <a:endParaRPr lang="zh-CN" altLang="en-US"/>
          </a:p>
        </p:txBody>
      </p:sp>
      <p:sp>
        <p:nvSpPr>
          <p:cNvPr id="7174" name="Text Box 8"/>
          <p:cNvSpPr txBox="1">
            <a:spLocks noChangeArrowheads="1"/>
          </p:cNvSpPr>
          <p:nvPr/>
        </p:nvSpPr>
        <p:spPr bwMode="auto">
          <a:xfrm>
            <a:off x="228600" y="23114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ea typeface="楷体_GB2312" charset="-122"/>
              </a:rPr>
              <a:t>投资条件与项目选址</a:t>
            </a:r>
            <a:endParaRPr lang="en-US" altLang="zh-CN" sz="2000">
              <a:ea typeface="楷体_GB2312" charset="-122"/>
            </a:endParaRPr>
          </a:p>
        </p:txBody>
      </p:sp>
      <p:sp>
        <p:nvSpPr>
          <p:cNvPr id="7175" name="Text Box 9"/>
          <p:cNvSpPr txBox="1">
            <a:spLocks noChangeArrowheads="1"/>
          </p:cNvSpPr>
          <p:nvPr/>
        </p:nvSpPr>
        <p:spPr bwMode="auto">
          <a:xfrm>
            <a:off x="228600" y="29210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charset="0"/>
                <a:ea typeface="楷体_GB2312" charset="-122"/>
              </a:rPr>
              <a:t>技术方案</a:t>
            </a:r>
            <a:endParaRPr lang="zh-CN" altLang="en-US" sz="2000">
              <a:latin typeface="Times New Roman" panose="02020603050405020304" charset="0"/>
              <a:ea typeface="楷体_GB2312" charset="-122"/>
            </a:endParaRPr>
          </a:p>
        </p:txBody>
      </p:sp>
      <p:sp>
        <p:nvSpPr>
          <p:cNvPr id="7176" name="Text Box 10"/>
          <p:cNvSpPr txBox="1">
            <a:spLocks noChangeArrowheads="1"/>
          </p:cNvSpPr>
          <p:nvPr/>
        </p:nvSpPr>
        <p:spPr bwMode="auto">
          <a:xfrm>
            <a:off x="228600" y="35306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ea typeface="楷体_GB2312" charset="-122"/>
              </a:rPr>
              <a:t>环境影响</a:t>
            </a:r>
            <a:endParaRPr lang="zh-CN" altLang="en-US" sz="2000">
              <a:ea typeface="楷体_GB2312" charset="-122"/>
            </a:endParaRPr>
          </a:p>
        </p:txBody>
      </p:sp>
      <p:sp>
        <p:nvSpPr>
          <p:cNvPr id="7177" name="Text Box 11"/>
          <p:cNvSpPr txBox="1">
            <a:spLocks noChangeArrowheads="1"/>
          </p:cNvSpPr>
          <p:nvPr/>
        </p:nvSpPr>
        <p:spPr bwMode="auto">
          <a:xfrm>
            <a:off x="228600" y="41402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charset="0"/>
                <a:ea typeface="楷体_GB2312" charset="-122"/>
              </a:rPr>
              <a:t>组织</a:t>
            </a:r>
            <a:r>
              <a:rPr lang="en-US" altLang="zh-CN" sz="2000">
                <a:latin typeface="Times New Roman" panose="02020603050405020304" charset="0"/>
                <a:ea typeface="楷体_GB2312" charset="-122"/>
              </a:rPr>
              <a:t>,</a:t>
            </a:r>
            <a:r>
              <a:rPr lang="zh-CN" altLang="en-US" sz="2000">
                <a:latin typeface="Times New Roman" panose="02020603050405020304" charset="0"/>
                <a:ea typeface="楷体_GB2312" charset="-122"/>
              </a:rPr>
              <a:t>实施与进度安排</a:t>
            </a:r>
            <a:endParaRPr lang="zh-CN" altLang="en-US" sz="2000">
              <a:latin typeface="Times New Roman" panose="02020603050405020304" charset="0"/>
              <a:ea typeface="楷体_GB2312" charset="-122"/>
            </a:endParaRPr>
          </a:p>
        </p:txBody>
      </p:sp>
      <p:sp>
        <p:nvSpPr>
          <p:cNvPr id="7178" name="Text Box 12"/>
          <p:cNvSpPr txBox="1">
            <a:spLocks noChangeArrowheads="1"/>
          </p:cNvSpPr>
          <p:nvPr/>
        </p:nvSpPr>
        <p:spPr bwMode="auto">
          <a:xfrm>
            <a:off x="0" y="5329238"/>
            <a:ext cx="31527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charset="0"/>
                <a:ea typeface="楷体_GB2312" charset="-122"/>
              </a:rPr>
              <a:t>国民经济评价与社会效益</a:t>
            </a:r>
            <a:endParaRPr lang="zh-CN" altLang="en-US" sz="2000">
              <a:latin typeface="Times New Roman" panose="02020603050405020304" charset="0"/>
              <a:ea typeface="楷体_GB2312" charset="-122"/>
            </a:endParaRPr>
          </a:p>
        </p:txBody>
      </p:sp>
      <p:sp>
        <p:nvSpPr>
          <p:cNvPr id="7179" name="Text Box 13"/>
          <p:cNvSpPr txBox="1">
            <a:spLocks noChangeArrowheads="1"/>
          </p:cNvSpPr>
          <p:nvPr/>
        </p:nvSpPr>
        <p:spPr bwMode="auto">
          <a:xfrm>
            <a:off x="228600" y="4749800"/>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solidFill>
                  <a:srgbClr val="D60093"/>
                </a:solidFill>
                <a:latin typeface="Times New Roman" panose="02020603050405020304" charset="0"/>
                <a:ea typeface="楷体_GB2312" charset="-122"/>
              </a:rPr>
              <a:t>财务评价</a:t>
            </a:r>
            <a:endParaRPr lang="en-US" altLang="zh-CN" sz="2000">
              <a:solidFill>
                <a:srgbClr val="D60093"/>
              </a:solidFill>
              <a:latin typeface="Times New Roman" panose="02020603050405020304" charset="0"/>
              <a:ea typeface="楷体_GB2312" charset="-122"/>
            </a:endParaRPr>
          </a:p>
        </p:txBody>
      </p:sp>
      <p:sp>
        <p:nvSpPr>
          <p:cNvPr id="7180" name="Text Box 14"/>
          <p:cNvSpPr txBox="1">
            <a:spLocks noChangeArrowheads="1"/>
          </p:cNvSpPr>
          <p:nvPr/>
        </p:nvSpPr>
        <p:spPr bwMode="auto">
          <a:xfrm>
            <a:off x="228600" y="6035675"/>
            <a:ext cx="2847975" cy="406400"/>
          </a:xfrm>
          <a:prstGeom prst="rect">
            <a:avLst/>
          </a:prstGeom>
          <a:noFill/>
          <a:ln w="9525">
            <a:solidFill>
              <a:srgbClr val="000000"/>
            </a:solidFill>
            <a:miter lim="800000"/>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ctr">
              <a:spcBef>
                <a:spcPct val="50000"/>
              </a:spcBef>
              <a:buFontTx/>
              <a:buNone/>
            </a:pPr>
            <a:r>
              <a:rPr lang="zh-CN" altLang="en-US" sz="2000">
                <a:latin typeface="Times New Roman" panose="02020603050405020304" charset="0"/>
                <a:ea typeface="楷体_GB2312" charset="-122"/>
              </a:rPr>
              <a:t>结论：是否可行？</a:t>
            </a:r>
            <a:endParaRPr lang="zh-CN" altLang="en-US" sz="2000">
              <a:latin typeface="Times New Roman" panose="02020603050405020304" charset="0"/>
              <a:ea typeface="楷体_GB2312" charset="-122"/>
            </a:endParaRPr>
          </a:p>
        </p:txBody>
      </p:sp>
      <p:sp>
        <p:nvSpPr>
          <p:cNvPr id="7181" name="Line 15"/>
          <p:cNvSpPr>
            <a:spLocks noChangeShapeType="1"/>
          </p:cNvSpPr>
          <p:nvPr/>
        </p:nvSpPr>
        <p:spPr bwMode="auto">
          <a:xfrm>
            <a:off x="1541463" y="1574800"/>
            <a:ext cx="0" cy="165100"/>
          </a:xfrm>
          <a:prstGeom prst="line">
            <a:avLst/>
          </a:prstGeom>
          <a:noFill/>
          <a:ln w="9525">
            <a:solidFill>
              <a:srgbClr val="000000"/>
            </a:solidFill>
            <a:round/>
            <a:tailEnd type="triangle" w="med" len="med"/>
          </a:ln>
        </p:spPr>
        <p:txBody>
          <a:bodyPr/>
          <a:lstStyle/>
          <a:p>
            <a:endParaRPr lang="zh-CN" altLang="en-US"/>
          </a:p>
        </p:txBody>
      </p:sp>
      <p:sp>
        <p:nvSpPr>
          <p:cNvPr id="7182" name="Line 16"/>
          <p:cNvSpPr>
            <a:spLocks noChangeShapeType="1"/>
          </p:cNvSpPr>
          <p:nvPr/>
        </p:nvSpPr>
        <p:spPr bwMode="auto">
          <a:xfrm>
            <a:off x="1541463" y="2146300"/>
            <a:ext cx="0" cy="165100"/>
          </a:xfrm>
          <a:prstGeom prst="line">
            <a:avLst/>
          </a:prstGeom>
          <a:noFill/>
          <a:ln w="9525">
            <a:solidFill>
              <a:srgbClr val="000000"/>
            </a:solidFill>
            <a:round/>
            <a:tailEnd type="triangle" w="med" len="med"/>
          </a:ln>
        </p:spPr>
        <p:txBody>
          <a:bodyPr/>
          <a:lstStyle/>
          <a:p>
            <a:endParaRPr lang="zh-CN" altLang="en-US"/>
          </a:p>
        </p:txBody>
      </p:sp>
      <p:sp>
        <p:nvSpPr>
          <p:cNvPr id="7183" name="Line 17"/>
          <p:cNvSpPr>
            <a:spLocks noChangeShapeType="1"/>
          </p:cNvSpPr>
          <p:nvPr/>
        </p:nvSpPr>
        <p:spPr bwMode="auto">
          <a:xfrm>
            <a:off x="1528763" y="2717800"/>
            <a:ext cx="0" cy="165100"/>
          </a:xfrm>
          <a:prstGeom prst="line">
            <a:avLst/>
          </a:prstGeom>
          <a:noFill/>
          <a:ln w="9525">
            <a:solidFill>
              <a:srgbClr val="000000"/>
            </a:solidFill>
            <a:round/>
            <a:tailEnd type="triangle" w="med" len="med"/>
          </a:ln>
        </p:spPr>
        <p:txBody>
          <a:bodyPr/>
          <a:lstStyle/>
          <a:p>
            <a:endParaRPr lang="zh-CN" altLang="en-US"/>
          </a:p>
        </p:txBody>
      </p:sp>
      <p:sp>
        <p:nvSpPr>
          <p:cNvPr id="7184" name="Line 18"/>
          <p:cNvSpPr>
            <a:spLocks noChangeShapeType="1"/>
          </p:cNvSpPr>
          <p:nvPr/>
        </p:nvSpPr>
        <p:spPr bwMode="auto">
          <a:xfrm>
            <a:off x="1543050" y="3365500"/>
            <a:ext cx="0" cy="165100"/>
          </a:xfrm>
          <a:prstGeom prst="line">
            <a:avLst/>
          </a:prstGeom>
          <a:noFill/>
          <a:ln w="9525">
            <a:solidFill>
              <a:srgbClr val="000000"/>
            </a:solidFill>
            <a:round/>
            <a:tailEnd type="triangle" w="med" len="med"/>
          </a:ln>
        </p:spPr>
        <p:txBody>
          <a:bodyPr/>
          <a:lstStyle/>
          <a:p>
            <a:endParaRPr lang="zh-CN" altLang="en-US"/>
          </a:p>
        </p:txBody>
      </p:sp>
      <p:sp>
        <p:nvSpPr>
          <p:cNvPr id="7185" name="Line 19"/>
          <p:cNvSpPr>
            <a:spLocks noChangeShapeType="1"/>
          </p:cNvSpPr>
          <p:nvPr/>
        </p:nvSpPr>
        <p:spPr bwMode="auto">
          <a:xfrm>
            <a:off x="1546225" y="3937000"/>
            <a:ext cx="0" cy="165100"/>
          </a:xfrm>
          <a:prstGeom prst="line">
            <a:avLst/>
          </a:prstGeom>
          <a:noFill/>
          <a:ln w="9525">
            <a:solidFill>
              <a:srgbClr val="000000"/>
            </a:solidFill>
            <a:round/>
            <a:tailEnd type="triangle" w="med" len="med"/>
          </a:ln>
        </p:spPr>
        <p:txBody>
          <a:bodyPr/>
          <a:lstStyle/>
          <a:p>
            <a:endParaRPr lang="zh-CN" altLang="en-US"/>
          </a:p>
        </p:txBody>
      </p:sp>
      <p:sp>
        <p:nvSpPr>
          <p:cNvPr id="7186" name="Line 20"/>
          <p:cNvSpPr>
            <a:spLocks noChangeShapeType="1"/>
          </p:cNvSpPr>
          <p:nvPr/>
        </p:nvSpPr>
        <p:spPr bwMode="auto">
          <a:xfrm>
            <a:off x="1528763" y="4546600"/>
            <a:ext cx="0" cy="165100"/>
          </a:xfrm>
          <a:prstGeom prst="line">
            <a:avLst/>
          </a:prstGeom>
          <a:noFill/>
          <a:ln w="9525">
            <a:solidFill>
              <a:srgbClr val="000000"/>
            </a:solidFill>
            <a:round/>
            <a:tailEnd type="triangle" w="med" len="med"/>
          </a:ln>
        </p:spPr>
        <p:txBody>
          <a:bodyPr/>
          <a:lstStyle/>
          <a:p>
            <a:endParaRPr lang="zh-CN" altLang="en-US"/>
          </a:p>
        </p:txBody>
      </p:sp>
      <p:sp>
        <p:nvSpPr>
          <p:cNvPr id="7187" name="Line 21"/>
          <p:cNvSpPr>
            <a:spLocks noChangeShapeType="1"/>
          </p:cNvSpPr>
          <p:nvPr/>
        </p:nvSpPr>
        <p:spPr bwMode="auto">
          <a:xfrm>
            <a:off x="1528763" y="5191125"/>
            <a:ext cx="0" cy="165100"/>
          </a:xfrm>
          <a:prstGeom prst="line">
            <a:avLst/>
          </a:prstGeom>
          <a:noFill/>
          <a:ln w="9525">
            <a:solidFill>
              <a:srgbClr val="000000"/>
            </a:solidFill>
            <a:round/>
            <a:tailEnd type="triangle" w="med" len="med"/>
          </a:ln>
        </p:spPr>
        <p:txBody>
          <a:bodyPr/>
          <a:lstStyle/>
          <a:p>
            <a:endParaRPr lang="zh-CN" altLang="en-US"/>
          </a:p>
        </p:txBody>
      </p:sp>
      <p:sp>
        <p:nvSpPr>
          <p:cNvPr id="7188" name="Line 22"/>
          <p:cNvSpPr>
            <a:spLocks noChangeShapeType="1"/>
          </p:cNvSpPr>
          <p:nvPr/>
        </p:nvSpPr>
        <p:spPr bwMode="auto">
          <a:xfrm>
            <a:off x="1528763" y="5762625"/>
            <a:ext cx="0" cy="273050"/>
          </a:xfrm>
          <a:prstGeom prst="line">
            <a:avLst/>
          </a:prstGeom>
          <a:noFill/>
          <a:ln w="9525">
            <a:solidFill>
              <a:srgbClr val="000000"/>
            </a:solidFill>
            <a:round/>
            <a:tailEnd type="triangle" w="med" len="med"/>
          </a:ln>
        </p:spPr>
        <p:txBody>
          <a:bodyPr/>
          <a:lstStyle/>
          <a:p>
            <a:endParaRPr lang="zh-CN" altLang="en-US"/>
          </a:p>
        </p:txBody>
      </p:sp>
      <p:sp>
        <p:nvSpPr>
          <p:cNvPr id="1033239" name="Line 23"/>
          <p:cNvSpPr>
            <a:spLocks noChangeShapeType="1"/>
          </p:cNvSpPr>
          <p:nvPr/>
        </p:nvSpPr>
        <p:spPr bwMode="auto">
          <a:xfrm>
            <a:off x="3381375" y="1371600"/>
            <a:ext cx="1095375" cy="0"/>
          </a:xfrm>
          <a:prstGeom prst="line">
            <a:avLst/>
          </a:prstGeom>
          <a:noFill/>
          <a:ln w="9525">
            <a:solidFill>
              <a:srgbClr val="0000FF"/>
            </a:solidFill>
            <a:round/>
            <a:tailEnd type="triangle" w="med" len="med"/>
          </a:ln>
        </p:spPr>
        <p:txBody>
          <a:bodyPr/>
          <a:lstStyle/>
          <a:p>
            <a:endParaRPr lang="zh-CN" altLang="en-US"/>
          </a:p>
        </p:txBody>
      </p:sp>
      <p:sp>
        <p:nvSpPr>
          <p:cNvPr id="1033240" name="Text Box 24"/>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基本分析工具：收益</a:t>
            </a:r>
            <a:r>
              <a:rPr lang="en-US" altLang="zh-CN" sz="2000">
                <a:solidFill>
                  <a:srgbClr val="3333CC"/>
                </a:solidFill>
                <a:latin typeface="Times New Roman" panose="02020603050405020304" charset="0"/>
                <a:ea typeface="楷体_GB2312" charset="-122"/>
              </a:rPr>
              <a:t>&gt;</a:t>
            </a:r>
            <a:r>
              <a:rPr lang="zh-CN" altLang="en-US" sz="2000">
                <a:solidFill>
                  <a:srgbClr val="3333CC"/>
                </a:solidFill>
                <a:latin typeface="Times New Roman" panose="02020603050405020304" charset="0"/>
                <a:ea typeface="楷体_GB2312" charset="-122"/>
              </a:rPr>
              <a:t>成本？</a:t>
            </a:r>
            <a:r>
              <a:rPr lang="en-US" altLang="zh-CN" sz="2000">
                <a:solidFill>
                  <a:srgbClr val="3333CC"/>
                </a:solidFill>
                <a:latin typeface="Times New Roman" panose="02020603050405020304" charset="0"/>
                <a:ea typeface="楷体_GB2312" charset="-122"/>
              </a:rPr>
              <a:t>(BCA)</a:t>
            </a:r>
            <a:endParaRPr lang="en-US" altLang="zh-CN" sz="2000">
              <a:solidFill>
                <a:srgbClr val="3333CC"/>
              </a:solidFill>
              <a:latin typeface="Times New Roman" panose="02020603050405020304" charset="0"/>
              <a:ea typeface="楷体_GB2312" charset="-122"/>
            </a:endParaRPr>
          </a:p>
        </p:txBody>
      </p:sp>
      <p:sp>
        <p:nvSpPr>
          <p:cNvPr id="1033241" name="Line 25"/>
          <p:cNvSpPr>
            <a:spLocks noChangeShapeType="1"/>
          </p:cNvSpPr>
          <p:nvPr/>
        </p:nvSpPr>
        <p:spPr bwMode="auto">
          <a:xfrm>
            <a:off x="3381375" y="1933575"/>
            <a:ext cx="1095375" cy="0"/>
          </a:xfrm>
          <a:prstGeom prst="line">
            <a:avLst/>
          </a:prstGeom>
          <a:noFill/>
          <a:ln w="9525">
            <a:solidFill>
              <a:srgbClr val="0000FF"/>
            </a:solidFill>
            <a:round/>
            <a:tailEnd type="triangle" w="med" len="med"/>
          </a:ln>
        </p:spPr>
        <p:txBody>
          <a:bodyPr/>
          <a:lstStyle/>
          <a:p>
            <a:endParaRPr lang="zh-CN" altLang="en-US"/>
          </a:p>
        </p:txBody>
      </p:sp>
      <p:sp>
        <p:nvSpPr>
          <p:cNvPr id="1033242" name="Text Box 26"/>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市场有没有需求？收益有多大？</a:t>
            </a:r>
            <a:endParaRPr lang="zh-CN" altLang="en-US" sz="2000">
              <a:solidFill>
                <a:srgbClr val="3333CC"/>
              </a:solidFill>
              <a:latin typeface="Times New Roman" panose="02020603050405020304" charset="0"/>
              <a:ea typeface="楷体_GB2312" charset="-122"/>
            </a:endParaRPr>
          </a:p>
        </p:txBody>
      </p:sp>
      <p:sp>
        <p:nvSpPr>
          <p:cNvPr id="1033243" name="Line 27"/>
          <p:cNvSpPr>
            <a:spLocks noChangeShapeType="1"/>
          </p:cNvSpPr>
          <p:nvPr/>
        </p:nvSpPr>
        <p:spPr bwMode="auto">
          <a:xfrm>
            <a:off x="3381375" y="2482850"/>
            <a:ext cx="1095375" cy="0"/>
          </a:xfrm>
          <a:prstGeom prst="line">
            <a:avLst/>
          </a:prstGeom>
          <a:noFill/>
          <a:ln w="9525">
            <a:solidFill>
              <a:srgbClr val="000000"/>
            </a:solidFill>
            <a:round/>
            <a:tailEnd type="triangle" w="med" len="med"/>
          </a:ln>
        </p:spPr>
        <p:txBody>
          <a:bodyPr/>
          <a:lstStyle/>
          <a:p>
            <a:endParaRPr lang="zh-CN" altLang="en-US"/>
          </a:p>
        </p:txBody>
      </p:sp>
      <p:sp>
        <p:nvSpPr>
          <p:cNvPr id="1033244" name="Text Box 28"/>
          <p:cNvSpPr txBox="1">
            <a:spLocks noChangeArrowheads="1"/>
          </p:cNvSpPr>
          <p:nvPr/>
        </p:nvSpPr>
        <p:spPr bwMode="auto">
          <a:xfrm>
            <a:off x="4652963" y="23114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charset="0"/>
                <a:ea typeface="楷体_GB2312" charset="-122"/>
              </a:rPr>
              <a:t>投资环境分析</a:t>
            </a:r>
            <a:endParaRPr lang="zh-CN" altLang="en-US" sz="2000">
              <a:solidFill>
                <a:srgbClr val="0000FF"/>
              </a:solidFill>
              <a:latin typeface="Times New Roman" panose="02020603050405020304" charset="0"/>
              <a:ea typeface="楷体_GB2312" charset="-122"/>
            </a:endParaRPr>
          </a:p>
        </p:txBody>
      </p:sp>
      <p:sp>
        <p:nvSpPr>
          <p:cNvPr id="1033245" name="Line 29"/>
          <p:cNvSpPr>
            <a:spLocks noChangeShapeType="1"/>
          </p:cNvSpPr>
          <p:nvPr/>
        </p:nvSpPr>
        <p:spPr bwMode="auto">
          <a:xfrm>
            <a:off x="3381375" y="4321175"/>
            <a:ext cx="1095375" cy="0"/>
          </a:xfrm>
          <a:prstGeom prst="line">
            <a:avLst/>
          </a:prstGeom>
          <a:noFill/>
          <a:ln w="9525">
            <a:solidFill>
              <a:srgbClr val="0000FF"/>
            </a:solidFill>
            <a:round/>
            <a:tailEnd type="triangle" w="med" len="med"/>
          </a:ln>
        </p:spPr>
        <p:txBody>
          <a:bodyPr/>
          <a:lstStyle/>
          <a:p>
            <a:endParaRPr lang="zh-CN" altLang="en-US"/>
          </a:p>
        </p:txBody>
      </p:sp>
      <p:sp>
        <p:nvSpPr>
          <p:cNvPr id="1033246" name="Text Box 30"/>
          <p:cNvSpPr txBox="1">
            <a:spLocks noChangeArrowheads="1"/>
          </p:cNvSpPr>
          <p:nvPr/>
        </p:nvSpPr>
        <p:spPr bwMode="auto">
          <a:xfrm>
            <a:off x="4652963" y="3540125"/>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charset="0"/>
                <a:ea typeface="楷体_GB2312" charset="-122"/>
              </a:rPr>
              <a:t>法律法规要求</a:t>
            </a:r>
            <a:endParaRPr lang="zh-CN" altLang="en-US" sz="2000">
              <a:solidFill>
                <a:srgbClr val="0000FF"/>
              </a:solidFill>
              <a:latin typeface="Times New Roman" panose="02020603050405020304" charset="0"/>
              <a:ea typeface="楷体_GB2312" charset="-122"/>
            </a:endParaRPr>
          </a:p>
        </p:txBody>
      </p:sp>
      <p:sp>
        <p:nvSpPr>
          <p:cNvPr id="1033247" name="Line 31"/>
          <p:cNvSpPr>
            <a:spLocks noChangeShapeType="1"/>
          </p:cNvSpPr>
          <p:nvPr/>
        </p:nvSpPr>
        <p:spPr bwMode="auto">
          <a:xfrm>
            <a:off x="3381375" y="3711575"/>
            <a:ext cx="1095375" cy="0"/>
          </a:xfrm>
          <a:prstGeom prst="line">
            <a:avLst/>
          </a:prstGeom>
          <a:noFill/>
          <a:ln w="9525">
            <a:solidFill>
              <a:srgbClr val="0000FF"/>
            </a:solidFill>
            <a:round/>
            <a:tailEnd type="triangle" w="med" len="med"/>
          </a:ln>
        </p:spPr>
        <p:txBody>
          <a:bodyPr/>
          <a:lstStyle/>
          <a:p>
            <a:endParaRPr lang="zh-CN" altLang="en-US"/>
          </a:p>
        </p:txBody>
      </p:sp>
      <p:sp>
        <p:nvSpPr>
          <p:cNvPr id="1033248" name="Line 32"/>
          <p:cNvSpPr>
            <a:spLocks noChangeShapeType="1"/>
          </p:cNvSpPr>
          <p:nvPr/>
        </p:nvSpPr>
        <p:spPr bwMode="auto">
          <a:xfrm>
            <a:off x="3381375" y="3054350"/>
            <a:ext cx="1095375" cy="0"/>
          </a:xfrm>
          <a:prstGeom prst="line">
            <a:avLst/>
          </a:prstGeom>
          <a:noFill/>
          <a:ln w="9525">
            <a:solidFill>
              <a:srgbClr val="000000"/>
            </a:solidFill>
            <a:round/>
            <a:tailEnd type="triangle" w="med" len="med"/>
          </a:ln>
        </p:spPr>
        <p:txBody>
          <a:bodyPr/>
          <a:lstStyle/>
          <a:p>
            <a:endParaRPr lang="zh-CN" altLang="en-US"/>
          </a:p>
        </p:txBody>
      </p:sp>
      <p:sp>
        <p:nvSpPr>
          <p:cNvPr id="1033249" name="Text Box 33"/>
          <p:cNvSpPr txBox="1">
            <a:spLocks noChangeArrowheads="1"/>
          </p:cNvSpPr>
          <p:nvPr/>
        </p:nvSpPr>
        <p:spPr bwMode="auto">
          <a:xfrm>
            <a:off x="4648200" y="2855913"/>
            <a:ext cx="4081463"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ea typeface="楷体_GB2312" charset="-122"/>
              </a:rPr>
              <a:t>相关工程学科，同时得到成本数据</a:t>
            </a:r>
            <a:endParaRPr lang="zh-CN" altLang="en-US" sz="2000">
              <a:solidFill>
                <a:srgbClr val="0000FF"/>
              </a:solidFill>
              <a:ea typeface="楷体_GB2312" charset="-122"/>
            </a:endParaRPr>
          </a:p>
        </p:txBody>
      </p:sp>
      <p:sp>
        <p:nvSpPr>
          <p:cNvPr id="1033250" name="Line 34"/>
          <p:cNvSpPr>
            <a:spLocks noChangeShapeType="1"/>
          </p:cNvSpPr>
          <p:nvPr/>
        </p:nvSpPr>
        <p:spPr bwMode="auto">
          <a:xfrm>
            <a:off x="3381375" y="4965700"/>
            <a:ext cx="1095375" cy="0"/>
          </a:xfrm>
          <a:prstGeom prst="line">
            <a:avLst/>
          </a:prstGeom>
          <a:noFill/>
          <a:ln w="9525">
            <a:solidFill>
              <a:srgbClr val="0000FF"/>
            </a:solidFill>
            <a:round/>
            <a:tailEnd type="triangle" w="med" len="med"/>
          </a:ln>
        </p:spPr>
        <p:txBody>
          <a:bodyPr/>
          <a:lstStyle/>
          <a:p>
            <a:endParaRPr lang="zh-CN" altLang="en-US"/>
          </a:p>
        </p:txBody>
      </p:sp>
      <p:sp>
        <p:nvSpPr>
          <p:cNvPr id="1033251" name="Line 35"/>
          <p:cNvSpPr>
            <a:spLocks noChangeShapeType="1"/>
          </p:cNvSpPr>
          <p:nvPr/>
        </p:nvSpPr>
        <p:spPr bwMode="auto">
          <a:xfrm>
            <a:off x="3381375" y="5537200"/>
            <a:ext cx="1095375" cy="0"/>
          </a:xfrm>
          <a:prstGeom prst="line">
            <a:avLst/>
          </a:prstGeom>
          <a:noFill/>
          <a:ln w="9525">
            <a:solidFill>
              <a:srgbClr val="0000FF"/>
            </a:solidFill>
            <a:round/>
            <a:tailEnd type="triangle" w="med" len="med"/>
          </a:ln>
        </p:spPr>
        <p:txBody>
          <a:bodyPr/>
          <a:lstStyle/>
          <a:p>
            <a:endParaRPr lang="zh-CN" altLang="en-US"/>
          </a:p>
        </p:txBody>
      </p:sp>
      <p:sp>
        <p:nvSpPr>
          <p:cNvPr id="1033252" name="Line 36"/>
          <p:cNvSpPr>
            <a:spLocks noChangeShapeType="1"/>
          </p:cNvSpPr>
          <p:nvPr/>
        </p:nvSpPr>
        <p:spPr bwMode="auto">
          <a:xfrm>
            <a:off x="3381375" y="6207125"/>
            <a:ext cx="1095375" cy="0"/>
          </a:xfrm>
          <a:prstGeom prst="line">
            <a:avLst/>
          </a:prstGeom>
          <a:noFill/>
          <a:ln w="9525">
            <a:solidFill>
              <a:srgbClr val="0000FF"/>
            </a:solidFill>
            <a:round/>
            <a:tailEnd type="triangle" w="med" len="med"/>
          </a:ln>
        </p:spPr>
        <p:txBody>
          <a:bodyPr/>
          <a:lstStyle/>
          <a:p>
            <a:endParaRPr lang="zh-CN" altLang="en-US"/>
          </a:p>
        </p:txBody>
      </p:sp>
      <p:sp>
        <p:nvSpPr>
          <p:cNvPr id="1033253" name="Text Box 37"/>
          <p:cNvSpPr txBox="1">
            <a:spLocks noChangeArrowheads="1"/>
          </p:cNvSpPr>
          <p:nvPr/>
        </p:nvSpPr>
        <p:spPr bwMode="auto">
          <a:xfrm>
            <a:off x="4652963" y="5876925"/>
            <a:ext cx="4081462" cy="7016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归纳上述分析，对成本与收益的关系进行总评价</a:t>
            </a:r>
            <a:endParaRPr lang="zh-CN" altLang="en-US" sz="2000">
              <a:solidFill>
                <a:srgbClr val="3333CC"/>
              </a:solidFill>
              <a:latin typeface="Times New Roman" panose="02020603050405020304" charset="0"/>
              <a:ea typeface="楷体_GB2312" charset="-122"/>
            </a:endParaRPr>
          </a:p>
        </p:txBody>
      </p:sp>
      <p:sp>
        <p:nvSpPr>
          <p:cNvPr id="1033254" name="Text Box 38"/>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基本分析工具：收益</a:t>
            </a:r>
            <a:r>
              <a:rPr lang="en-US" altLang="zh-CN" sz="2000">
                <a:solidFill>
                  <a:srgbClr val="3333CC"/>
                </a:solidFill>
                <a:latin typeface="Times New Roman" panose="02020603050405020304" charset="0"/>
                <a:ea typeface="楷体_GB2312" charset="-122"/>
              </a:rPr>
              <a:t>&gt;</a:t>
            </a:r>
            <a:r>
              <a:rPr lang="zh-CN" altLang="en-US" sz="2000">
                <a:solidFill>
                  <a:srgbClr val="3333CC"/>
                </a:solidFill>
                <a:latin typeface="Times New Roman" panose="02020603050405020304" charset="0"/>
                <a:ea typeface="楷体_GB2312" charset="-122"/>
              </a:rPr>
              <a:t>成本？</a:t>
            </a:r>
            <a:r>
              <a:rPr lang="en-US" altLang="zh-CN" sz="2000">
                <a:solidFill>
                  <a:srgbClr val="3333CC"/>
                </a:solidFill>
                <a:latin typeface="Times New Roman" panose="02020603050405020304" charset="0"/>
                <a:ea typeface="楷体_GB2312" charset="-122"/>
              </a:rPr>
              <a:t>(BCA)</a:t>
            </a:r>
            <a:endParaRPr lang="en-US" altLang="zh-CN" sz="2000">
              <a:solidFill>
                <a:srgbClr val="3333CC"/>
              </a:solidFill>
              <a:latin typeface="Times New Roman" panose="02020603050405020304" charset="0"/>
              <a:ea typeface="楷体_GB2312" charset="-122"/>
            </a:endParaRPr>
          </a:p>
        </p:txBody>
      </p:sp>
      <p:sp>
        <p:nvSpPr>
          <p:cNvPr id="1033255" name="Text Box 39"/>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市场有没有需求？收益有多大？</a:t>
            </a:r>
            <a:endParaRPr lang="zh-CN" altLang="en-US" sz="2000">
              <a:solidFill>
                <a:srgbClr val="3333CC"/>
              </a:solidFill>
              <a:latin typeface="Times New Roman" panose="02020603050405020304" charset="0"/>
              <a:ea typeface="楷体_GB2312" charset="-122"/>
            </a:endParaRPr>
          </a:p>
        </p:txBody>
      </p:sp>
      <p:sp>
        <p:nvSpPr>
          <p:cNvPr id="1033256" name="Text Box 40"/>
          <p:cNvSpPr txBox="1">
            <a:spLocks noChangeArrowheads="1"/>
          </p:cNvSpPr>
          <p:nvPr/>
        </p:nvSpPr>
        <p:spPr bwMode="auto">
          <a:xfrm>
            <a:off x="4652963" y="4119563"/>
            <a:ext cx="4081462" cy="8540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ea typeface="楷体_GB2312" charset="-122"/>
              </a:rPr>
              <a:t>项目如何执行</a:t>
            </a:r>
            <a:endParaRPr lang="zh-CN" altLang="en-US" sz="2000">
              <a:solidFill>
                <a:srgbClr val="0000FF"/>
              </a:solidFill>
              <a:ea typeface="楷体_GB2312" charset="-122"/>
            </a:endParaRPr>
          </a:p>
          <a:p>
            <a:pPr>
              <a:spcBef>
                <a:spcPct val="50000"/>
              </a:spcBef>
              <a:buFontTx/>
              <a:buNone/>
            </a:pPr>
            <a:endParaRPr lang="zh-CN" altLang="en-US" sz="2000">
              <a:solidFill>
                <a:srgbClr val="3333CC"/>
              </a:solidFill>
              <a:latin typeface="Times New Roman" panose="02020603050405020304" charset="0"/>
              <a:ea typeface="楷体_GB2312" charset="-122"/>
            </a:endParaRPr>
          </a:p>
        </p:txBody>
      </p:sp>
      <p:sp>
        <p:nvSpPr>
          <p:cNvPr id="1033257" name="Text Box 41"/>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基本分析工具：收益</a:t>
            </a:r>
            <a:r>
              <a:rPr lang="en-US" altLang="zh-CN" sz="2000">
                <a:solidFill>
                  <a:srgbClr val="3333CC"/>
                </a:solidFill>
                <a:latin typeface="Times New Roman" panose="02020603050405020304" charset="0"/>
                <a:ea typeface="楷体_GB2312" charset="-122"/>
              </a:rPr>
              <a:t>&gt;</a:t>
            </a:r>
            <a:r>
              <a:rPr lang="zh-CN" altLang="en-US" sz="2000">
                <a:solidFill>
                  <a:srgbClr val="3333CC"/>
                </a:solidFill>
                <a:latin typeface="Times New Roman" panose="02020603050405020304" charset="0"/>
                <a:ea typeface="楷体_GB2312" charset="-122"/>
              </a:rPr>
              <a:t>成本？</a:t>
            </a:r>
            <a:r>
              <a:rPr lang="en-US" altLang="zh-CN" sz="2000">
                <a:solidFill>
                  <a:srgbClr val="3333CC"/>
                </a:solidFill>
                <a:latin typeface="Times New Roman" panose="02020603050405020304" charset="0"/>
                <a:ea typeface="楷体_GB2312" charset="-122"/>
              </a:rPr>
              <a:t>(BCA)</a:t>
            </a:r>
            <a:endParaRPr lang="en-US" altLang="zh-CN" sz="2000">
              <a:solidFill>
                <a:srgbClr val="3333CC"/>
              </a:solidFill>
              <a:latin typeface="Times New Roman" panose="02020603050405020304" charset="0"/>
              <a:ea typeface="楷体_GB2312" charset="-122"/>
            </a:endParaRPr>
          </a:p>
        </p:txBody>
      </p:sp>
      <p:sp>
        <p:nvSpPr>
          <p:cNvPr id="1033258" name="Text Box 42"/>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市场有没有需求？收益有多大？</a:t>
            </a:r>
            <a:endParaRPr lang="zh-CN" altLang="en-US" sz="2000">
              <a:solidFill>
                <a:srgbClr val="3333CC"/>
              </a:solidFill>
              <a:latin typeface="Times New Roman" panose="02020603050405020304" charset="0"/>
              <a:ea typeface="楷体_GB2312" charset="-122"/>
            </a:endParaRPr>
          </a:p>
        </p:txBody>
      </p:sp>
      <p:sp>
        <p:nvSpPr>
          <p:cNvPr id="1033259" name="Text Box 43"/>
          <p:cNvSpPr txBox="1">
            <a:spLocks noChangeArrowheads="1"/>
          </p:cNvSpPr>
          <p:nvPr/>
        </p:nvSpPr>
        <p:spPr bwMode="auto">
          <a:xfrm>
            <a:off x="4872038" y="4767263"/>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endParaRPr lang="en-US" altLang="zh-CN" sz="2000">
              <a:solidFill>
                <a:srgbClr val="3333CC"/>
              </a:solidFill>
              <a:latin typeface="Times New Roman" panose="02020603050405020304" charset="0"/>
              <a:ea typeface="楷体_GB2312" charset="-122"/>
            </a:endParaRPr>
          </a:p>
        </p:txBody>
      </p:sp>
      <p:sp>
        <p:nvSpPr>
          <p:cNvPr id="1033260" name="Text Box 44"/>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基本分析工具：收益</a:t>
            </a:r>
            <a:r>
              <a:rPr lang="en-US" altLang="zh-CN" sz="2000">
                <a:solidFill>
                  <a:srgbClr val="3333CC"/>
                </a:solidFill>
                <a:latin typeface="Times New Roman" panose="02020603050405020304" charset="0"/>
                <a:ea typeface="楷体_GB2312" charset="-122"/>
              </a:rPr>
              <a:t>&gt;</a:t>
            </a:r>
            <a:r>
              <a:rPr lang="zh-CN" altLang="en-US" sz="2000">
                <a:solidFill>
                  <a:srgbClr val="3333CC"/>
                </a:solidFill>
                <a:latin typeface="Times New Roman" panose="02020603050405020304" charset="0"/>
                <a:ea typeface="楷体_GB2312" charset="-122"/>
              </a:rPr>
              <a:t>成本？</a:t>
            </a:r>
            <a:r>
              <a:rPr lang="en-US" altLang="zh-CN" sz="2000">
                <a:solidFill>
                  <a:srgbClr val="3333CC"/>
                </a:solidFill>
                <a:latin typeface="Times New Roman" panose="02020603050405020304" charset="0"/>
                <a:ea typeface="楷体_GB2312" charset="-122"/>
              </a:rPr>
              <a:t>(BCA)</a:t>
            </a:r>
            <a:endParaRPr lang="en-US" altLang="zh-CN" sz="2000">
              <a:solidFill>
                <a:srgbClr val="3333CC"/>
              </a:solidFill>
              <a:latin typeface="Times New Roman" panose="02020603050405020304" charset="0"/>
              <a:ea typeface="楷体_GB2312" charset="-122"/>
            </a:endParaRPr>
          </a:p>
        </p:txBody>
      </p:sp>
      <p:sp>
        <p:nvSpPr>
          <p:cNvPr id="1033261" name="Text Box 45"/>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市场有没有需求？收益有多大？</a:t>
            </a:r>
            <a:endParaRPr lang="zh-CN" altLang="en-US" sz="2000">
              <a:solidFill>
                <a:srgbClr val="3333CC"/>
              </a:solidFill>
              <a:latin typeface="Times New Roman" panose="02020603050405020304" charset="0"/>
              <a:ea typeface="楷体_GB2312" charset="-122"/>
            </a:endParaRPr>
          </a:p>
        </p:txBody>
      </p:sp>
      <p:sp>
        <p:nvSpPr>
          <p:cNvPr id="1033262" name="Text Box 46"/>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基本分析工具：收益</a:t>
            </a:r>
            <a:r>
              <a:rPr lang="en-US" altLang="zh-CN" sz="2000">
                <a:solidFill>
                  <a:srgbClr val="3333CC"/>
                </a:solidFill>
                <a:latin typeface="Times New Roman" panose="02020603050405020304" charset="0"/>
                <a:ea typeface="楷体_GB2312" charset="-122"/>
              </a:rPr>
              <a:t>&gt;</a:t>
            </a:r>
            <a:r>
              <a:rPr lang="zh-CN" altLang="en-US" sz="2000">
                <a:solidFill>
                  <a:srgbClr val="3333CC"/>
                </a:solidFill>
                <a:latin typeface="Times New Roman" panose="02020603050405020304" charset="0"/>
                <a:ea typeface="楷体_GB2312" charset="-122"/>
              </a:rPr>
              <a:t>成本？</a:t>
            </a:r>
            <a:r>
              <a:rPr lang="en-US" altLang="zh-CN" sz="2000">
                <a:solidFill>
                  <a:srgbClr val="3333CC"/>
                </a:solidFill>
                <a:latin typeface="Times New Roman" panose="02020603050405020304" charset="0"/>
                <a:ea typeface="楷体_GB2312" charset="-122"/>
              </a:rPr>
              <a:t>(BCA)</a:t>
            </a:r>
            <a:endParaRPr lang="en-US" altLang="zh-CN" sz="2000">
              <a:solidFill>
                <a:srgbClr val="3333CC"/>
              </a:solidFill>
              <a:latin typeface="Times New Roman" panose="02020603050405020304" charset="0"/>
              <a:ea typeface="楷体_GB2312" charset="-122"/>
            </a:endParaRPr>
          </a:p>
        </p:txBody>
      </p:sp>
      <p:sp>
        <p:nvSpPr>
          <p:cNvPr id="1033263" name="Text Box 47"/>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市场有没有需求？收益有多大？</a:t>
            </a:r>
            <a:endParaRPr lang="zh-CN" altLang="en-US" sz="2000">
              <a:solidFill>
                <a:srgbClr val="3333CC"/>
              </a:solidFill>
              <a:latin typeface="Times New Roman" panose="02020603050405020304" charset="0"/>
              <a:ea typeface="楷体_GB2312" charset="-122"/>
            </a:endParaRPr>
          </a:p>
        </p:txBody>
      </p:sp>
      <p:sp>
        <p:nvSpPr>
          <p:cNvPr id="1033264" name="Text Box 48"/>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基本分析工具：收益</a:t>
            </a:r>
            <a:r>
              <a:rPr lang="en-US" altLang="zh-CN" sz="2000">
                <a:solidFill>
                  <a:srgbClr val="3333CC"/>
                </a:solidFill>
                <a:latin typeface="Times New Roman" panose="02020603050405020304" charset="0"/>
                <a:ea typeface="楷体_GB2312" charset="-122"/>
              </a:rPr>
              <a:t>&gt;</a:t>
            </a:r>
            <a:r>
              <a:rPr lang="zh-CN" altLang="en-US" sz="2000">
                <a:solidFill>
                  <a:srgbClr val="3333CC"/>
                </a:solidFill>
                <a:latin typeface="Times New Roman" panose="02020603050405020304" charset="0"/>
                <a:ea typeface="楷体_GB2312" charset="-122"/>
              </a:rPr>
              <a:t>成本？</a:t>
            </a:r>
            <a:r>
              <a:rPr lang="en-US" altLang="zh-CN" sz="2000">
                <a:solidFill>
                  <a:srgbClr val="3333CC"/>
                </a:solidFill>
                <a:latin typeface="Times New Roman" panose="02020603050405020304" charset="0"/>
                <a:ea typeface="楷体_GB2312" charset="-122"/>
              </a:rPr>
              <a:t>(BCA)</a:t>
            </a:r>
            <a:endParaRPr lang="en-US" altLang="zh-CN" sz="2000">
              <a:solidFill>
                <a:srgbClr val="3333CC"/>
              </a:solidFill>
              <a:latin typeface="Times New Roman" panose="02020603050405020304" charset="0"/>
              <a:ea typeface="楷体_GB2312" charset="-122"/>
            </a:endParaRPr>
          </a:p>
        </p:txBody>
      </p:sp>
      <p:sp>
        <p:nvSpPr>
          <p:cNvPr id="1033265" name="Text Box 49"/>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3333CC"/>
                </a:solidFill>
                <a:latin typeface="Times New Roman" panose="02020603050405020304" charset="0"/>
                <a:ea typeface="楷体_GB2312" charset="-122"/>
              </a:rPr>
              <a:t>市场有没有需求？收益有多大？</a:t>
            </a:r>
            <a:endParaRPr lang="zh-CN" altLang="en-US" sz="2000">
              <a:solidFill>
                <a:srgbClr val="3333CC"/>
              </a:solidFill>
              <a:latin typeface="Times New Roman" panose="02020603050405020304" charset="0"/>
              <a:ea typeface="楷体_GB2312" charset="-122"/>
            </a:endParaRPr>
          </a:p>
        </p:txBody>
      </p:sp>
      <p:sp>
        <p:nvSpPr>
          <p:cNvPr id="1033266" name="Text Box 50"/>
          <p:cNvSpPr txBox="1">
            <a:spLocks noChangeArrowheads="1"/>
          </p:cNvSpPr>
          <p:nvPr/>
        </p:nvSpPr>
        <p:spPr bwMode="auto">
          <a:xfrm>
            <a:off x="4652963" y="5876925"/>
            <a:ext cx="4081462" cy="7016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charset="0"/>
                <a:ea typeface="楷体_GB2312" charset="-122"/>
              </a:rPr>
              <a:t>归纳上述分析，对成本与收益的关系进行总评价</a:t>
            </a:r>
            <a:endParaRPr lang="zh-CN" altLang="en-US" sz="2000">
              <a:solidFill>
                <a:srgbClr val="0000FF"/>
              </a:solidFill>
              <a:latin typeface="Times New Roman" panose="02020603050405020304" charset="0"/>
              <a:ea typeface="楷体_GB2312" charset="-122"/>
            </a:endParaRPr>
          </a:p>
        </p:txBody>
      </p:sp>
      <p:sp>
        <p:nvSpPr>
          <p:cNvPr id="1033267" name="Text Box 51"/>
          <p:cNvSpPr txBox="1">
            <a:spLocks noChangeArrowheads="1"/>
          </p:cNvSpPr>
          <p:nvPr/>
        </p:nvSpPr>
        <p:spPr bwMode="auto">
          <a:xfrm>
            <a:off x="4648200" y="5338763"/>
            <a:ext cx="4081463"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ea typeface="楷体_GB2312" charset="-122"/>
              </a:rPr>
              <a:t>考虑社会成本、社会收益的评价</a:t>
            </a:r>
            <a:endParaRPr lang="en-US" altLang="zh-CN" sz="2000">
              <a:solidFill>
                <a:srgbClr val="0000FF"/>
              </a:solidFill>
              <a:ea typeface="楷体_GB2312" charset="-122"/>
            </a:endParaRPr>
          </a:p>
        </p:txBody>
      </p:sp>
      <p:sp>
        <p:nvSpPr>
          <p:cNvPr id="1033268" name="Text Box 52"/>
          <p:cNvSpPr txBox="1">
            <a:spLocks noChangeArrowheads="1"/>
          </p:cNvSpPr>
          <p:nvPr/>
        </p:nvSpPr>
        <p:spPr bwMode="auto">
          <a:xfrm>
            <a:off x="4648200" y="4805363"/>
            <a:ext cx="4081463"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en-US" altLang="zh-CN" sz="2000">
                <a:solidFill>
                  <a:srgbClr val="D60093"/>
                </a:solidFill>
                <a:ea typeface="楷体_GB2312" charset="-122"/>
              </a:rPr>
              <a:t>NPV</a:t>
            </a:r>
            <a:r>
              <a:rPr lang="zh-CN" altLang="en-US" sz="2000">
                <a:solidFill>
                  <a:srgbClr val="D60093"/>
                </a:solidFill>
                <a:ea typeface="楷体_GB2312" charset="-122"/>
              </a:rPr>
              <a:t>、</a:t>
            </a:r>
            <a:r>
              <a:rPr lang="en-US" altLang="zh-CN" sz="2000">
                <a:solidFill>
                  <a:srgbClr val="D60093"/>
                </a:solidFill>
                <a:ea typeface="楷体_GB2312" charset="-122"/>
              </a:rPr>
              <a:t>IRR </a:t>
            </a:r>
            <a:r>
              <a:rPr lang="zh-CN" altLang="en-US" sz="2000">
                <a:solidFill>
                  <a:srgbClr val="D60093"/>
                </a:solidFill>
                <a:ea typeface="楷体_GB2312" charset="-122"/>
              </a:rPr>
              <a:t>、投资回收期</a:t>
            </a:r>
            <a:r>
              <a:rPr lang="en-US" altLang="zh-CN" sz="2000">
                <a:solidFill>
                  <a:srgbClr val="0000FF"/>
                </a:solidFill>
                <a:ea typeface="楷体_GB2312" charset="-122"/>
              </a:rPr>
              <a:t> </a:t>
            </a:r>
            <a:r>
              <a:rPr lang="en-US" altLang="zh-CN" sz="2000">
                <a:solidFill>
                  <a:srgbClr val="3333CC"/>
                </a:solidFill>
                <a:ea typeface="楷体_GB2312" charset="-122"/>
              </a:rPr>
              <a:t>……</a:t>
            </a:r>
            <a:endParaRPr lang="zh-CN" altLang="en-US" sz="2000">
              <a:solidFill>
                <a:srgbClr val="3333CC"/>
              </a:solidFill>
              <a:ea typeface="楷体_GB2312" charset="-122"/>
            </a:endParaRPr>
          </a:p>
        </p:txBody>
      </p:sp>
      <p:sp>
        <p:nvSpPr>
          <p:cNvPr id="1033269" name="Text Box 53"/>
          <p:cNvSpPr txBox="1">
            <a:spLocks noChangeArrowheads="1"/>
          </p:cNvSpPr>
          <p:nvPr/>
        </p:nvSpPr>
        <p:spPr bwMode="auto">
          <a:xfrm>
            <a:off x="4652963" y="1168400"/>
            <a:ext cx="42719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charset="0"/>
                <a:ea typeface="楷体_GB2312" charset="-122"/>
              </a:rPr>
              <a:t>基本分析工具：收益</a:t>
            </a:r>
            <a:r>
              <a:rPr lang="en-US" altLang="zh-CN" sz="2000">
                <a:solidFill>
                  <a:srgbClr val="0000FF"/>
                </a:solidFill>
                <a:latin typeface="Times New Roman" panose="02020603050405020304" charset="0"/>
                <a:ea typeface="楷体_GB2312" charset="-122"/>
              </a:rPr>
              <a:t>&gt;</a:t>
            </a:r>
            <a:r>
              <a:rPr lang="zh-CN" altLang="en-US" sz="2000">
                <a:solidFill>
                  <a:srgbClr val="0000FF"/>
                </a:solidFill>
                <a:latin typeface="Times New Roman" panose="02020603050405020304" charset="0"/>
                <a:ea typeface="楷体_GB2312" charset="-122"/>
              </a:rPr>
              <a:t>成本？</a:t>
            </a:r>
            <a:r>
              <a:rPr lang="en-US" altLang="zh-CN" sz="2000">
                <a:solidFill>
                  <a:srgbClr val="0000FF"/>
                </a:solidFill>
                <a:latin typeface="Times New Roman" panose="02020603050405020304" charset="0"/>
                <a:ea typeface="楷体_GB2312" charset="-122"/>
              </a:rPr>
              <a:t>(BCA)</a:t>
            </a:r>
            <a:endParaRPr lang="en-US" altLang="zh-CN" sz="2000">
              <a:solidFill>
                <a:srgbClr val="0000FF"/>
              </a:solidFill>
              <a:latin typeface="Times New Roman" panose="02020603050405020304" charset="0"/>
              <a:ea typeface="楷体_GB2312" charset="-122"/>
            </a:endParaRPr>
          </a:p>
        </p:txBody>
      </p:sp>
      <p:sp>
        <p:nvSpPr>
          <p:cNvPr id="1033270" name="Text Box 54"/>
          <p:cNvSpPr txBox="1">
            <a:spLocks noChangeArrowheads="1"/>
          </p:cNvSpPr>
          <p:nvPr/>
        </p:nvSpPr>
        <p:spPr bwMode="auto">
          <a:xfrm>
            <a:off x="4652963" y="1739900"/>
            <a:ext cx="4081462" cy="396875"/>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r>
              <a:rPr lang="zh-CN" altLang="en-US" sz="2000">
                <a:solidFill>
                  <a:srgbClr val="0000FF"/>
                </a:solidFill>
                <a:latin typeface="Times New Roman" panose="02020603050405020304" charset="0"/>
                <a:ea typeface="楷体_GB2312" charset="-122"/>
              </a:rPr>
              <a:t>市场有没有需求？收益有多大？</a:t>
            </a:r>
            <a:endParaRPr lang="zh-CN" altLang="en-US" sz="2000">
              <a:solidFill>
                <a:srgbClr val="0000FF"/>
              </a:solidFill>
              <a:latin typeface="Times New Roman" panose="02020603050405020304" charset="0"/>
              <a:ea typeface="楷体_GB2312" charset="-122"/>
            </a:endParaRPr>
          </a:p>
        </p:txBody>
      </p:sp>
      <p:sp>
        <p:nvSpPr>
          <p:cNvPr id="7221" name="Rectangle 55"/>
          <p:cNvSpPr>
            <a:spLocks noChangeArrowheads="1"/>
          </p:cNvSpPr>
          <p:nvPr/>
        </p:nvSpPr>
        <p:spPr bwMode="auto">
          <a:xfrm>
            <a:off x="-284163" y="3673475"/>
            <a:ext cx="184150" cy="396875"/>
          </a:xfrm>
          <a:prstGeom prst="rect">
            <a:avLst/>
          </a:prstGeom>
          <a:noFill/>
          <a:ln>
            <a:noFill/>
          </a:ln>
        </p:spPr>
        <p:txBody>
          <a:bodyPr wrap="none">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spcBef>
                <a:spcPct val="50000"/>
              </a:spcBef>
              <a:buFontTx/>
              <a:buNone/>
            </a:pPr>
            <a:endParaRPr lang="zh-CN" altLang="en-US" sz="2000">
              <a:solidFill>
                <a:schemeClr val="tx1"/>
              </a:solidFill>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33239"/>
                                        </p:tgtEl>
                                        <p:attrNameLst>
                                          <p:attrName>style.visibility</p:attrName>
                                        </p:attrNameLst>
                                      </p:cBhvr>
                                      <p:to>
                                        <p:strVal val="visible"/>
                                      </p:to>
                                    </p:set>
                                    <p:animEffect transition="in" filter="checkerboard(across)">
                                      <p:cBhvr>
                                        <p:cTn id="7" dur="500"/>
                                        <p:tgtEl>
                                          <p:spTgt spid="103323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33240"/>
                                        </p:tgtEl>
                                        <p:attrNameLst>
                                          <p:attrName>style.visibility</p:attrName>
                                        </p:attrNameLst>
                                      </p:cBhvr>
                                      <p:to>
                                        <p:strVal val="visible"/>
                                      </p:to>
                                    </p:set>
                                    <p:animEffect transition="in" filter="checkerboard(across)">
                                      <p:cBhvr>
                                        <p:cTn id="10" dur="500"/>
                                        <p:tgtEl>
                                          <p:spTgt spid="1033240"/>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033241"/>
                                        </p:tgtEl>
                                        <p:attrNameLst>
                                          <p:attrName>style.visibility</p:attrName>
                                        </p:attrNameLst>
                                      </p:cBhvr>
                                      <p:to>
                                        <p:strVal val="visible"/>
                                      </p:to>
                                    </p:set>
                                    <p:animEffect transition="in" filter="checkerboard(across)">
                                      <p:cBhvr>
                                        <p:cTn id="15" dur="500"/>
                                        <p:tgtEl>
                                          <p:spTgt spid="1033241"/>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033242"/>
                                        </p:tgtEl>
                                        <p:attrNameLst>
                                          <p:attrName>style.visibility</p:attrName>
                                        </p:attrNameLst>
                                      </p:cBhvr>
                                      <p:to>
                                        <p:strVal val="visible"/>
                                      </p:to>
                                    </p:set>
                                    <p:animEffect transition="in" filter="checkerboard(across)">
                                      <p:cBhvr>
                                        <p:cTn id="18" dur="500"/>
                                        <p:tgtEl>
                                          <p:spTgt spid="1033242"/>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033243"/>
                                        </p:tgtEl>
                                        <p:attrNameLst>
                                          <p:attrName>style.visibility</p:attrName>
                                        </p:attrNameLst>
                                      </p:cBhvr>
                                      <p:to>
                                        <p:strVal val="visible"/>
                                      </p:to>
                                    </p:set>
                                    <p:animEffect transition="in" filter="checkerboard(across)">
                                      <p:cBhvr>
                                        <p:cTn id="23" dur="500"/>
                                        <p:tgtEl>
                                          <p:spTgt spid="1033243"/>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033244"/>
                                        </p:tgtEl>
                                        <p:attrNameLst>
                                          <p:attrName>style.visibility</p:attrName>
                                        </p:attrNameLst>
                                      </p:cBhvr>
                                      <p:to>
                                        <p:strVal val="visible"/>
                                      </p:to>
                                    </p:set>
                                    <p:animEffect transition="in" filter="checkerboard(across)">
                                      <p:cBhvr>
                                        <p:cTn id="26" dur="500"/>
                                        <p:tgtEl>
                                          <p:spTgt spid="103324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1033248"/>
                                        </p:tgtEl>
                                        <p:attrNameLst>
                                          <p:attrName>style.visibility</p:attrName>
                                        </p:attrNameLst>
                                      </p:cBhvr>
                                      <p:to>
                                        <p:strVal val="visible"/>
                                      </p:to>
                                    </p:set>
                                    <p:animEffect transition="in" filter="checkerboard(across)">
                                      <p:cBhvr>
                                        <p:cTn id="31" dur="500"/>
                                        <p:tgtEl>
                                          <p:spTgt spid="1033248"/>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1033249"/>
                                        </p:tgtEl>
                                        <p:attrNameLst>
                                          <p:attrName>style.visibility</p:attrName>
                                        </p:attrNameLst>
                                      </p:cBhvr>
                                      <p:to>
                                        <p:strVal val="visible"/>
                                      </p:to>
                                    </p:set>
                                    <p:animEffect transition="in" filter="checkerboard(across)">
                                      <p:cBhvr>
                                        <p:cTn id="34" dur="500"/>
                                        <p:tgtEl>
                                          <p:spTgt spid="1033249"/>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1033247"/>
                                        </p:tgtEl>
                                        <p:attrNameLst>
                                          <p:attrName>style.visibility</p:attrName>
                                        </p:attrNameLst>
                                      </p:cBhvr>
                                      <p:to>
                                        <p:strVal val="visible"/>
                                      </p:to>
                                    </p:set>
                                    <p:animEffect transition="in" filter="checkerboard(across)">
                                      <p:cBhvr>
                                        <p:cTn id="39" dur="500"/>
                                        <p:tgtEl>
                                          <p:spTgt spid="1033247"/>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nodeType="clickEffect">
                                  <p:stCondLst>
                                    <p:cond delay="0"/>
                                  </p:stCondLst>
                                  <p:childTnLst>
                                    <p:set>
                                      <p:cBhvr>
                                        <p:cTn id="43" dur="1" fill="hold">
                                          <p:stCondLst>
                                            <p:cond delay="0"/>
                                          </p:stCondLst>
                                        </p:cTn>
                                        <p:tgtEl>
                                          <p:spTgt spid="1033245"/>
                                        </p:tgtEl>
                                        <p:attrNameLst>
                                          <p:attrName>style.visibility</p:attrName>
                                        </p:attrNameLst>
                                      </p:cBhvr>
                                      <p:to>
                                        <p:strVal val="visible"/>
                                      </p:to>
                                    </p:set>
                                    <p:animEffect transition="in" filter="checkerboard(across)">
                                      <p:cBhvr>
                                        <p:cTn id="44" dur="500"/>
                                        <p:tgtEl>
                                          <p:spTgt spid="1033245"/>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1033246"/>
                                        </p:tgtEl>
                                        <p:attrNameLst>
                                          <p:attrName>style.visibility</p:attrName>
                                        </p:attrNameLst>
                                      </p:cBhvr>
                                      <p:to>
                                        <p:strVal val="visible"/>
                                      </p:to>
                                    </p:set>
                                    <p:animEffect transition="in" filter="checkerboard(across)">
                                      <p:cBhvr>
                                        <p:cTn id="47" dur="500"/>
                                        <p:tgtEl>
                                          <p:spTgt spid="1033246"/>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1033250"/>
                                        </p:tgtEl>
                                        <p:attrNameLst>
                                          <p:attrName>style.visibility</p:attrName>
                                        </p:attrNameLst>
                                      </p:cBhvr>
                                      <p:to>
                                        <p:strVal val="visible"/>
                                      </p:to>
                                    </p:set>
                                    <p:animEffect transition="in" filter="checkerboard(across)">
                                      <p:cBhvr>
                                        <p:cTn id="52" dur="500"/>
                                        <p:tgtEl>
                                          <p:spTgt spid="1033250"/>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nodeType="clickEffect">
                                  <p:stCondLst>
                                    <p:cond delay="0"/>
                                  </p:stCondLst>
                                  <p:childTnLst>
                                    <p:set>
                                      <p:cBhvr>
                                        <p:cTn id="56" dur="1" fill="hold">
                                          <p:stCondLst>
                                            <p:cond delay="0"/>
                                          </p:stCondLst>
                                        </p:cTn>
                                        <p:tgtEl>
                                          <p:spTgt spid="1033251"/>
                                        </p:tgtEl>
                                        <p:attrNameLst>
                                          <p:attrName>style.visibility</p:attrName>
                                        </p:attrNameLst>
                                      </p:cBhvr>
                                      <p:to>
                                        <p:strVal val="visible"/>
                                      </p:to>
                                    </p:set>
                                    <p:animEffect transition="in" filter="checkerboard(across)">
                                      <p:cBhvr>
                                        <p:cTn id="57" dur="500"/>
                                        <p:tgtEl>
                                          <p:spTgt spid="1033251"/>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nodeType="clickEffect">
                                  <p:stCondLst>
                                    <p:cond delay="0"/>
                                  </p:stCondLst>
                                  <p:childTnLst>
                                    <p:set>
                                      <p:cBhvr>
                                        <p:cTn id="61" dur="1" fill="hold">
                                          <p:stCondLst>
                                            <p:cond delay="0"/>
                                          </p:stCondLst>
                                        </p:cTn>
                                        <p:tgtEl>
                                          <p:spTgt spid="1033252"/>
                                        </p:tgtEl>
                                        <p:attrNameLst>
                                          <p:attrName>style.visibility</p:attrName>
                                        </p:attrNameLst>
                                      </p:cBhvr>
                                      <p:to>
                                        <p:strVal val="visible"/>
                                      </p:to>
                                    </p:set>
                                    <p:animEffect transition="in" filter="checkerboard(across)">
                                      <p:cBhvr>
                                        <p:cTn id="62" dur="500"/>
                                        <p:tgtEl>
                                          <p:spTgt spid="1033252"/>
                                        </p:tgtEl>
                                      </p:cBhvr>
                                    </p:animEffect>
                                  </p:childTnLst>
                                </p:cTn>
                              </p:par>
                              <p:par>
                                <p:cTn id="63" presetID="5" presetClass="entr" presetSubtype="10" fill="hold" grpId="0" nodeType="withEffect">
                                  <p:stCondLst>
                                    <p:cond delay="0"/>
                                  </p:stCondLst>
                                  <p:childTnLst>
                                    <p:set>
                                      <p:cBhvr>
                                        <p:cTn id="64" dur="1" fill="hold">
                                          <p:stCondLst>
                                            <p:cond delay="0"/>
                                          </p:stCondLst>
                                        </p:cTn>
                                        <p:tgtEl>
                                          <p:spTgt spid="1033253"/>
                                        </p:tgtEl>
                                        <p:attrNameLst>
                                          <p:attrName>style.visibility</p:attrName>
                                        </p:attrNameLst>
                                      </p:cBhvr>
                                      <p:to>
                                        <p:strVal val="visible"/>
                                      </p:to>
                                    </p:set>
                                    <p:animEffect transition="in" filter="checkerboard(across)">
                                      <p:cBhvr>
                                        <p:cTn id="65" dur="500"/>
                                        <p:tgtEl>
                                          <p:spTgt spid="1033253"/>
                                        </p:tgtEl>
                                      </p:cBhvr>
                                    </p:animEffect>
                                  </p:childTnLst>
                                </p:cTn>
                              </p:par>
                              <p:par>
                                <p:cTn id="66" presetID="5" presetClass="entr" presetSubtype="10" fill="hold" grpId="0" nodeType="withEffect">
                                  <p:stCondLst>
                                    <p:cond delay="0"/>
                                  </p:stCondLst>
                                  <p:childTnLst>
                                    <p:set>
                                      <p:cBhvr>
                                        <p:cTn id="67" dur="1" fill="hold">
                                          <p:stCondLst>
                                            <p:cond delay="0"/>
                                          </p:stCondLst>
                                        </p:cTn>
                                        <p:tgtEl>
                                          <p:spTgt spid="1033254"/>
                                        </p:tgtEl>
                                        <p:attrNameLst>
                                          <p:attrName>style.visibility</p:attrName>
                                        </p:attrNameLst>
                                      </p:cBhvr>
                                      <p:to>
                                        <p:strVal val="visible"/>
                                      </p:to>
                                    </p:set>
                                    <p:animEffect transition="in" filter="checkerboard(across)">
                                      <p:cBhvr>
                                        <p:cTn id="68" dur="500"/>
                                        <p:tgtEl>
                                          <p:spTgt spid="1033254"/>
                                        </p:tgtEl>
                                      </p:cBhvr>
                                    </p:animEffect>
                                  </p:childTnLst>
                                </p:cTn>
                              </p:par>
                              <p:par>
                                <p:cTn id="69" presetID="5" presetClass="entr" presetSubtype="10" fill="hold" grpId="0" nodeType="withEffect">
                                  <p:stCondLst>
                                    <p:cond delay="0"/>
                                  </p:stCondLst>
                                  <p:childTnLst>
                                    <p:set>
                                      <p:cBhvr>
                                        <p:cTn id="70" dur="1" fill="hold">
                                          <p:stCondLst>
                                            <p:cond delay="0"/>
                                          </p:stCondLst>
                                        </p:cTn>
                                        <p:tgtEl>
                                          <p:spTgt spid="1033255"/>
                                        </p:tgtEl>
                                        <p:attrNameLst>
                                          <p:attrName>style.visibility</p:attrName>
                                        </p:attrNameLst>
                                      </p:cBhvr>
                                      <p:to>
                                        <p:strVal val="visible"/>
                                      </p:to>
                                    </p:set>
                                    <p:animEffect transition="in" filter="checkerboard(across)">
                                      <p:cBhvr>
                                        <p:cTn id="71" dur="500"/>
                                        <p:tgtEl>
                                          <p:spTgt spid="1033255"/>
                                        </p:tgtEl>
                                      </p:cBhvr>
                                    </p:animEffect>
                                  </p:childTnLst>
                                </p:cTn>
                              </p:par>
                              <p:par>
                                <p:cTn id="72" presetID="5" presetClass="entr" presetSubtype="10" fill="hold" grpId="0" nodeType="withEffect">
                                  <p:stCondLst>
                                    <p:cond delay="0"/>
                                  </p:stCondLst>
                                  <p:childTnLst>
                                    <p:set>
                                      <p:cBhvr>
                                        <p:cTn id="73" dur="1" fill="hold">
                                          <p:stCondLst>
                                            <p:cond delay="0"/>
                                          </p:stCondLst>
                                        </p:cTn>
                                        <p:tgtEl>
                                          <p:spTgt spid="1033256"/>
                                        </p:tgtEl>
                                        <p:attrNameLst>
                                          <p:attrName>style.visibility</p:attrName>
                                        </p:attrNameLst>
                                      </p:cBhvr>
                                      <p:to>
                                        <p:strVal val="visible"/>
                                      </p:to>
                                    </p:set>
                                    <p:animEffect transition="in" filter="checkerboard(across)">
                                      <p:cBhvr>
                                        <p:cTn id="74" dur="500"/>
                                        <p:tgtEl>
                                          <p:spTgt spid="1033256"/>
                                        </p:tgtEl>
                                      </p:cBhvr>
                                    </p:animEffect>
                                  </p:childTnLst>
                                </p:cTn>
                              </p:par>
                              <p:par>
                                <p:cTn id="75" presetID="5" presetClass="entr" presetSubtype="10" fill="hold" grpId="0" nodeType="withEffect">
                                  <p:stCondLst>
                                    <p:cond delay="0"/>
                                  </p:stCondLst>
                                  <p:childTnLst>
                                    <p:set>
                                      <p:cBhvr>
                                        <p:cTn id="76" dur="1" fill="hold">
                                          <p:stCondLst>
                                            <p:cond delay="0"/>
                                          </p:stCondLst>
                                        </p:cTn>
                                        <p:tgtEl>
                                          <p:spTgt spid="1033257"/>
                                        </p:tgtEl>
                                        <p:attrNameLst>
                                          <p:attrName>style.visibility</p:attrName>
                                        </p:attrNameLst>
                                      </p:cBhvr>
                                      <p:to>
                                        <p:strVal val="visible"/>
                                      </p:to>
                                    </p:set>
                                    <p:animEffect transition="in" filter="checkerboard(across)">
                                      <p:cBhvr>
                                        <p:cTn id="77" dur="500"/>
                                        <p:tgtEl>
                                          <p:spTgt spid="1033257"/>
                                        </p:tgtEl>
                                      </p:cBhvr>
                                    </p:animEffect>
                                  </p:childTnLst>
                                </p:cTn>
                              </p:par>
                              <p:par>
                                <p:cTn id="78" presetID="5" presetClass="entr" presetSubtype="10" fill="hold" grpId="0" nodeType="withEffect">
                                  <p:stCondLst>
                                    <p:cond delay="0"/>
                                  </p:stCondLst>
                                  <p:childTnLst>
                                    <p:set>
                                      <p:cBhvr>
                                        <p:cTn id="79" dur="1" fill="hold">
                                          <p:stCondLst>
                                            <p:cond delay="0"/>
                                          </p:stCondLst>
                                        </p:cTn>
                                        <p:tgtEl>
                                          <p:spTgt spid="1033258"/>
                                        </p:tgtEl>
                                        <p:attrNameLst>
                                          <p:attrName>style.visibility</p:attrName>
                                        </p:attrNameLst>
                                      </p:cBhvr>
                                      <p:to>
                                        <p:strVal val="visible"/>
                                      </p:to>
                                    </p:set>
                                    <p:animEffect transition="in" filter="checkerboard(across)">
                                      <p:cBhvr>
                                        <p:cTn id="80" dur="500"/>
                                        <p:tgtEl>
                                          <p:spTgt spid="1033258"/>
                                        </p:tgtEl>
                                      </p:cBhvr>
                                    </p:animEffect>
                                  </p:childTnLst>
                                </p:cTn>
                              </p:par>
                              <p:par>
                                <p:cTn id="81" presetID="5" presetClass="entr" presetSubtype="10" fill="hold" grpId="0" nodeType="withEffect" nodePh="1">
                                  <p:stCondLst>
                                    <p:cond delay="0"/>
                                  </p:stCondLst>
                                  <p:endCondLst>
                                    <p:cond evt="begin" delay="0">
                                      <p:tn val="81"/>
                                    </p:cond>
                                  </p:endCondLst>
                                  <p:childTnLst>
                                    <p:set>
                                      <p:cBhvr>
                                        <p:cTn id="82" dur="1" fill="hold">
                                          <p:stCondLst>
                                            <p:cond delay="0"/>
                                          </p:stCondLst>
                                        </p:cTn>
                                        <p:tgtEl>
                                          <p:spTgt spid="1033259"/>
                                        </p:tgtEl>
                                        <p:attrNameLst>
                                          <p:attrName>style.visibility</p:attrName>
                                        </p:attrNameLst>
                                      </p:cBhvr>
                                      <p:to>
                                        <p:strVal val="visible"/>
                                      </p:to>
                                    </p:set>
                                    <p:animEffect transition="in" filter="checkerboard(across)">
                                      <p:cBhvr>
                                        <p:cTn id="83" dur="500"/>
                                        <p:tgtEl>
                                          <p:spTgt spid="1033259"/>
                                        </p:tgtEl>
                                      </p:cBhvr>
                                    </p:animEffect>
                                  </p:childTnLst>
                                </p:cTn>
                              </p:par>
                              <p:par>
                                <p:cTn id="84" presetID="5" presetClass="entr" presetSubtype="10" fill="hold" grpId="0" nodeType="withEffect">
                                  <p:stCondLst>
                                    <p:cond delay="0"/>
                                  </p:stCondLst>
                                  <p:childTnLst>
                                    <p:set>
                                      <p:cBhvr>
                                        <p:cTn id="85" dur="1" fill="hold">
                                          <p:stCondLst>
                                            <p:cond delay="0"/>
                                          </p:stCondLst>
                                        </p:cTn>
                                        <p:tgtEl>
                                          <p:spTgt spid="1033260"/>
                                        </p:tgtEl>
                                        <p:attrNameLst>
                                          <p:attrName>style.visibility</p:attrName>
                                        </p:attrNameLst>
                                      </p:cBhvr>
                                      <p:to>
                                        <p:strVal val="visible"/>
                                      </p:to>
                                    </p:set>
                                    <p:animEffect transition="in" filter="checkerboard(across)">
                                      <p:cBhvr>
                                        <p:cTn id="86" dur="500"/>
                                        <p:tgtEl>
                                          <p:spTgt spid="1033260"/>
                                        </p:tgtEl>
                                      </p:cBhvr>
                                    </p:animEffect>
                                  </p:childTnLst>
                                </p:cTn>
                              </p:par>
                              <p:par>
                                <p:cTn id="87" presetID="5" presetClass="entr" presetSubtype="10" fill="hold" grpId="0" nodeType="withEffect">
                                  <p:stCondLst>
                                    <p:cond delay="0"/>
                                  </p:stCondLst>
                                  <p:childTnLst>
                                    <p:set>
                                      <p:cBhvr>
                                        <p:cTn id="88" dur="1" fill="hold">
                                          <p:stCondLst>
                                            <p:cond delay="0"/>
                                          </p:stCondLst>
                                        </p:cTn>
                                        <p:tgtEl>
                                          <p:spTgt spid="1033261"/>
                                        </p:tgtEl>
                                        <p:attrNameLst>
                                          <p:attrName>style.visibility</p:attrName>
                                        </p:attrNameLst>
                                      </p:cBhvr>
                                      <p:to>
                                        <p:strVal val="visible"/>
                                      </p:to>
                                    </p:set>
                                    <p:animEffect transition="in" filter="checkerboard(across)">
                                      <p:cBhvr>
                                        <p:cTn id="89" dur="500"/>
                                        <p:tgtEl>
                                          <p:spTgt spid="1033261"/>
                                        </p:tgtEl>
                                      </p:cBhvr>
                                    </p:animEffect>
                                  </p:childTnLst>
                                </p:cTn>
                              </p:par>
                              <p:par>
                                <p:cTn id="90" presetID="5" presetClass="entr" presetSubtype="10" fill="hold" grpId="0" nodeType="withEffect">
                                  <p:stCondLst>
                                    <p:cond delay="0"/>
                                  </p:stCondLst>
                                  <p:childTnLst>
                                    <p:set>
                                      <p:cBhvr>
                                        <p:cTn id="91" dur="1" fill="hold">
                                          <p:stCondLst>
                                            <p:cond delay="0"/>
                                          </p:stCondLst>
                                        </p:cTn>
                                        <p:tgtEl>
                                          <p:spTgt spid="1033262"/>
                                        </p:tgtEl>
                                        <p:attrNameLst>
                                          <p:attrName>style.visibility</p:attrName>
                                        </p:attrNameLst>
                                      </p:cBhvr>
                                      <p:to>
                                        <p:strVal val="visible"/>
                                      </p:to>
                                    </p:set>
                                    <p:animEffect transition="in" filter="checkerboard(across)">
                                      <p:cBhvr>
                                        <p:cTn id="92" dur="500"/>
                                        <p:tgtEl>
                                          <p:spTgt spid="1033262"/>
                                        </p:tgtEl>
                                      </p:cBhvr>
                                    </p:animEffect>
                                  </p:childTnLst>
                                </p:cTn>
                              </p:par>
                              <p:par>
                                <p:cTn id="93" presetID="5" presetClass="entr" presetSubtype="10" fill="hold" grpId="0" nodeType="withEffect">
                                  <p:stCondLst>
                                    <p:cond delay="0"/>
                                  </p:stCondLst>
                                  <p:childTnLst>
                                    <p:set>
                                      <p:cBhvr>
                                        <p:cTn id="94" dur="1" fill="hold">
                                          <p:stCondLst>
                                            <p:cond delay="0"/>
                                          </p:stCondLst>
                                        </p:cTn>
                                        <p:tgtEl>
                                          <p:spTgt spid="1033263"/>
                                        </p:tgtEl>
                                        <p:attrNameLst>
                                          <p:attrName>style.visibility</p:attrName>
                                        </p:attrNameLst>
                                      </p:cBhvr>
                                      <p:to>
                                        <p:strVal val="visible"/>
                                      </p:to>
                                    </p:set>
                                    <p:animEffect transition="in" filter="checkerboard(across)">
                                      <p:cBhvr>
                                        <p:cTn id="95" dur="500"/>
                                        <p:tgtEl>
                                          <p:spTgt spid="1033263"/>
                                        </p:tgtEl>
                                      </p:cBhvr>
                                    </p:animEffect>
                                  </p:childTnLst>
                                </p:cTn>
                              </p:par>
                              <p:par>
                                <p:cTn id="96" presetID="5" presetClass="entr" presetSubtype="10" fill="hold" grpId="0" nodeType="withEffect">
                                  <p:stCondLst>
                                    <p:cond delay="0"/>
                                  </p:stCondLst>
                                  <p:childTnLst>
                                    <p:set>
                                      <p:cBhvr>
                                        <p:cTn id="97" dur="1" fill="hold">
                                          <p:stCondLst>
                                            <p:cond delay="0"/>
                                          </p:stCondLst>
                                        </p:cTn>
                                        <p:tgtEl>
                                          <p:spTgt spid="1033264"/>
                                        </p:tgtEl>
                                        <p:attrNameLst>
                                          <p:attrName>style.visibility</p:attrName>
                                        </p:attrNameLst>
                                      </p:cBhvr>
                                      <p:to>
                                        <p:strVal val="visible"/>
                                      </p:to>
                                    </p:set>
                                    <p:animEffect transition="in" filter="checkerboard(across)">
                                      <p:cBhvr>
                                        <p:cTn id="98" dur="500"/>
                                        <p:tgtEl>
                                          <p:spTgt spid="1033264"/>
                                        </p:tgtEl>
                                      </p:cBhvr>
                                    </p:animEffect>
                                  </p:childTnLst>
                                </p:cTn>
                              </p:par>
                              <p:par>
                                <p:cTn id="99" presetID="5" presetClass="entr" presetSubtype="10" fill="hold" grpId="0" nodeType="withEffect">
                                  <p:stCondLst>
                                    <p:cond delay="0"/>
                                  </p:stCondLst>
                                  <p:childTnLst>
                                    <p:set>
                                      <p:cBhvr>
                                        <p:cTn id="100" dur="1" fill="hold">
                                          <p:stCondLst>
                                            <p:cond delay="0"/>
                                          </p:stCondLst>
                                        </p:cTn>
                                        <p:tgtEl>
                                          <p:spTgt spid="1033265"/>
                                        </p:tgtEl>
                                        <p:attrNameLst>
                                          <p:attrName>style.visibility</p:attrName>
                                        </p:attrNameLst>
                                      </p:cBhvr>
                                      <p:to>
                                        <p:strVal val="visible"/>
                                      </p:to>
                                    </p:set>
                                    <p:animEffect transition="in" filter="checkerboard(across)">
                                      <p:cBhvr>
                                        <p:cTn id="101" dur="500"/>
                                        <p:tgtEl>
                                          <p:spTgt spid="1033265"/>
                                        </p:tgtEl>
                                      </p:cBhvr>
                                    </p:animEffect>
                                  </p:childTnLst>
                                </p:cTn>
                              </p:par>
                              <p:par>
                                <p:cTn id="102" presetID="5" presetClass="entr" presetSubtype="10" fill="hold" grpId="0" nodeType="withEffect">
                                  <p:stCondLst>
                                    <p:cond delay="0"/>
                                  </p:stCondLst>
                                  <p:childTnLst>
                                    <p:set>
                                      <p:cBhvr>
                                        <p:cTn id="103" dur="1" fill="hold">
                                          <p:stCondLst>
                                            <p:cond delay="0"/>
                                          </p:stCondLst>
                                        </p:cTn>
                                        <p:tgtEl>
                                          <p:spTgt spid="1033266"/>
                                        </p:tgtEl>
                                        <p:attrNameLst>
                                          <p:attrName>style.visibility</p:attrName>
                                        </p:attrNameLst>
                                      </p:cBhvr>
                                      <p:to>
                                        <p:strVal val="visible"/>
                                      </p:to>
                                    </p:set>
                                    <p:animEffect transition="in" filter="checkerboard(across)">
                                      <p:cBhvr>
                                        <p:cTn id="104" dur="500"/>
                                        <p:tgtEl>
                                          <p:spTgt spid="1033266"/>
                                        </p:tgtEl>
                                      </p:cBhvr>
                                    </p:animEffect>
                                  </p:childTnLst>
                                </p:cTn>
                              </p:par>
                              <p:par>
                                <p:cTn id="105" presetID="5" presetClass="entr" presetSubtype="10" fill="hold" grpId="0" nodeType="withEffect">
                                  <p:stCondLst>
                                    <p:cond delay="0"/>
                                  </p:stCondLst>
                                  <p:childTnLst>
                                    <p:set>
                                      <p:cBhvr>
                                        <p:cTn id="106" dur="1" fill="hold">
                                          <p:stCondLst>
                                            <p:cond delay="0"/>
                                          </p:stCondLst>
                                        </p:cTn>
                                        <p:tgtEl>
                                          <p:spTgt spid="1033267"/>
                                        </p:tgtEl>
                                        <p:attrNameLst>
                                          <p:attrName>style.visibility</p:attrName>
                                        </p:attrNameLst>
                                      </p:cBhvr>
                                      <p:to>
                                        <p:strVal val="visible"/>
                                      </p:to>
                                    </p:set>
                                    <p:animEffect transition="in" filter="checkerboard(across)">
                                      <p:cBhvr>
                                        <p:cTn id="107" dur="500"/>
                                        <p:tgtEl>
                                          <p:spTgt spid="1033267"/>
                                        </p:tgtEl>
                                      </p:cBhvr>
                                    </p:animEffect>
                                  </p:childTnLst>
                                </p:cTn>
                              </p:par>
                              <p:par>
                                <p:cTn id="108" presetID="5" presetClass="entr" presetSubtype="10" fill="hold" grpId="0" nodeType="withEffect">
                                  <p:stCondLst>
                                    <p:cond delay="0"/>
                                  </p:stCondLst>
                                  <p:childTnLst>
                                    <p:set>
                                      <p:cBhvr>
                                        <p:cTn id="109" dur="1" fill="hold">
                                          <p:stCondLst>
                                            <p:cond delay="0"/>
                                          </p:stCondLst>
                                        </p:cTn>
                                        <p:tgtEl>
                                          <p:spTgt spid="1033268"/>
                                        </p:tgtEl>
                                        <p:attrNameLst>
                                          <p:attrName>style.visibility</p:attrName>
                                        </p:attrNameLst>
                                      </p:cBhvr>
                                      <p:to>
                                        <p:strVal val="visible"/>
                                      </p:to>
                                    </p:set>
                                    <p:animEffect transition="in" filter="checkerboard(across)">
                                      <p:cBhvr>
                                        <p:cTn id="110" dur="500"/>
                                        <p:tgtEl>
                                          <p:spTgt spid="1033268"/>
                                        </p:tgtEl>
                                      </p:cBhvr>
                                    </p:animEffect>
                                  </p:childTnLst>
                                </p:cTn>
                              </p:par>
                              <p:par>
                                <p:cTn id="111" presetID="5" presetClass="entr" presetSubtype="10" fill="hold" grpId="0" nodeType="withEffect">
                                  <p:stCondLst>
                                    <p:cond delay="0"/>
                                  </p:stCondLst>
                                  <p:childTnLst>
                                    <p:set>
                                      <p:cBhvr>
                                        <p:cTn id="112" dur="1" fill="hold">
                                          <p:stCondLst>
                                            <p:cond delay="0"/>
                                          </p:stCondLst>
                                        </p:cTn>
                                        <p:tgtEl>
                                          <p:spTgt spid="1033269"/>
                                        </p:tgtEl>
                                        <p:attrNameLst>
                                          <p:attrName>style.visibility</p:attrName>
                                        </p:attrNameLst>
                                      </p:cBhvr>
                                      <p:to>
                                        <p:strVal val="visible"/>
                                      </p:to>
                                    </p:set>
                                    <p:animEffect transition="in" filter="checkerboard(across)">
                                      <p:cBhvr>
                                        <p:cTn id="113" dur="500"/>
                                        <p:tgtEl>
                                          <p:spTgt spid="1033269"/>
                                        </p:tgtEl>
                                      </p:cBhvr>
                                    </p:animEffect>
                                  </p:childTnLst>
                                </p:cTn>
                              </p:par>
                              <p:par>
                                <p:cTn id="114" presetID="5" presetClass="entr" presetSubtype="10" fill="hold" grpId="0" nodeType="withEffect">
                                  <p:stCondLst>
                                    <p:cond delay="0"/>
                                  </p:stCondLst>
                                  <p:childTnLst>
                                    <p:set>
                                      <p:cBhvr>
                                        <p:cTn id="115" dur="1" fill="hold">
                                          <p:stCondLst>
                                            <p:cond delay="0"/>
                                          </p:stCondLst>
                                        </p:cTn>
                                        <p:tgtEl>
                                          <p:spTgt spid="1033270"/>
                                        </p:tgtEl>
                                        <p:attrNameLst>
                                          <p:attrName>style.visibility</p:attrName>
                                        </p:attrNameLst>
                                      </p:cBhvr>
                                      <p:to>
                                        <p:strVal val="visible"/>
                                      </p:to>
                                    </p:set>
                                    <p:animEffect transition="in" filter="checkerboard(across)">
                                      <p:cBhvr>
                                        <p:cTn id="116" dur="500"/>
                                        <p:tgtEl>
                                          <p:spTgt spid="10332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240" grpId="0"/>
      <p:bldP spid="1033242" grpId="0"/>
      <p:bldP spid="1033244" grpId="0"/>
      <p:bldP spid="1033246" grpId="0"/>
      <p:bldP spid="1033249" grpId="0"/>
      <p:bldP spid="1033253" grpId="0"/>
      <p:bldP spid="1033254" grpId="0"/>
      <p:bldP spid="1033255" grpId="0"/>
      <p:bldP spid="1033256" grpId="0"/>
      <p:bldP spid="1033257" grpId="0"/>
      <p:bldP spid="1033258" grpId="0"/>
      <p:bldP spid="1033259" grpId="0"/>
      <p:bldP spid="1033260" grpId="0"/>
      <p:bldP spid="1033261" grpId="0"/>
      <p:bldP spid="1033262" grpId="0"/>
      <p:bldP spid="1033263" grpId="0"/>
      <p:bldP spid="1033264" grpId="0"/>
      <p:bldP spid="1033265" grpId="0"/>
      <p:bldP spid="1033266" grpId="0"/>
      <p:bldP spid="1033267" grpId="0"/>
      <p:bldP spid="1033268" grpId="0"/>
      <p:bldP spid="1033269" grpId="0"/>
      <p:bldP spid="10332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a:t>财务评价的步骤</a:t>
            </a:r>
            <a:endParaRPr lang="zh-CN" altLang="en-US"/>
          </a:p>
        </p:txBody>
      </p:sp>
      <p:sp>
        <p:nvSpPr>
          <p:cNvPr id="977923" name="Rectangle 3"/>
          <p:cNvSpPr>
            <a:spLocks noGrp="1" noChangeArrowheads="1"/>
          </p:cNvSpPr>
          <p:nvPr>
            <p:ph type="body" idx="1"/>
          </p:nvPr>
        </p:nvSpPr>
        <p:spPr>
          <a:xfrm>
            <a:off x="0" y="1028700"/>
            <a:ext cx="9144000" cy="5829300"/>
          </a:xfrm>
        </p:spPr>
        <p:txBody>
          <a:bodyPr/>
          <a:lstStyle/>
          <a:p>
            <a:pPr eaLnBrk="1" hangingPunct="1"/>
            <a:r>
              <a:rPr lang="zh-CN" altLang="en-US" sz="2800"/>
              <a:t>实际上就是我们所学的</a:t>
            </a:r>
            <a:r>
              <a:rPr lang="zh-CN" altLang="en-US" sz="2800" u="sng"/>
              <a:t>方案评价</a:t>
            </a:r>
            <a:r>
              <a:rPr lang="zh-CN" altLang="en-US" sz="2800"/>
              <a:t>的步骤，但最终要以</a:t>
            </a:r>
            <a:r>
              <a:rPr lang="zh-CN" altLang="en-US" sz="2800" u="sng"/>
              <a:t>财务报表</a:t>
            </a:r>
            <a:r>
              <a:rPr lang="zh-CN" altLang="en-US" sz="2800"/>
              <a:t>的形式体现出来</a:t>
            </a:r>
            <a:endParaRPr lang="zh-CN" altLang="en-US" sz="2800"/>
          </a:p>
          <a:p>
            <a:pPr lvl="1" eaLnBrk="1" hangingPunct="1"/>
            <a:r>
              <a:rPr lang="en-US" altLang="zh-CN" sz="2400"/>
              <a:t>1. </a:t>
            </a:r>
            <a:r>
              <a:rPr lang="zh-CN" altLang="en-US" sz="2400"/>
              <a:t>提出和界定备选方案</a:t>
            </a:r>
            <a:endParaRPr lang="zh-CN" altLang="en-US" sz="2400"/>
          </a:p>
          <a:p>
            <a:pPr lvl="1" eaLnBrk="1" hangingPunct="1"/>
            <a:r>
              <a:rPr lang="en-US" altLang="zh-CN" sz="2400"/>
              <a:t>2. </a:t>
            </a:r>
            <a:r>
              <a:rPr lang="zh-CN" altLang="en-US" sz="2400"/>
              <a:t>收集整理基础数据资料</a:t>
            </a:r>
            <a:endParaRPr lang="zh-CN" altLang="en-US" sz="2400"/>
          </a:p>
          <a:p>
            <a:pPr lvl="2" eaLnBrk="1" hangingPunct="1"/>
            <a:r>
              <a:rPr lang="zh-CN" altLang="en-US" sz="2000"/>
              <a:t>识别各个方案的成本、收入</a:t>
            </a:r>
            <a:endParaRPr lang="zh-CN" altLang="en-US" sz="2000"/>
          </a:p>
          <a:p>
            <a:pPr lvl="2" eaLnBrk="1" hangingPunct="1"/>
            <a:r>
              <a:rPr lang="zh-CN" altLang="en-US" sz="2000"/>
              <a:t>确定各项成本和收入各自发生的时间点</a:t>
            </a:r>
            <a:endParaRPr lang="zh-CN" altLang="en-US" sz="2000"/>
          </a:p>
          <a:p>
            <a:pPr lvl="2" eaLnBrk="1" hangingPunct="1"/>
            <a:endParaRPr lang="zh-CN" altLang="en-US" sz="2000"/>
          </a:p>
          <a:p>
            <a:pPr lvl="1" eaLnBrk="1" hangingPunct="1"/>
            <a:r>
              <a:rPr lang="en-US" altLang="zh-CN" sz="2400"/>
              <a:t>3. </a:t>
            </a:r>
            <a:r>
              <a:rPr lang="zh-CN" altLang="en-US" sz="2400"/>
              <a:t>编制辅助财务报表</a:t>
            </a:r>
            <a:endParaRPr lang="zh-CN" altLang="en-US" sz="2400"/>
          </a:p>
          <a:p>
            <a:pPr lvl="2" eaLnBrk="1" hangingPunct="1"/>
            <a:r>
              <a:rPr lang="zh-CN" altLang="en-US" sz="2000"/>
              <a:t>如项目总投资估算表、开发建设投资估算表、经营成本估算表</a:t>
            </a:r>
            <a:r>
              <a:rPr lang="en-US" altLang="zh-CN" sz="2000"/>
              <a:t>……</a:t>
            </a:r>
            <a:endParaRPr lang="en-US" altLang="zh-CN" sz="2000"/>
          </a:p>
          <a:p>
            <a:pPr lvl="1" eaLnBrk="1" hangingPunct="1"/>
            <a:r>
              <a:rPr lang="en-US" altLang="zh-CN" sz="2400"/>
              <a:t>4. </a:t>
            </a:r>
            <a:r>
              <a:rPr lang="zh-CN" altLang="en-US" sz="2400"/>
              <a:t>编制基本财务报表</a:t>
            </a:r>
            <a:endParaRPr lang="zh-CN" altLang="en-US" sz="2400"/>
          </a:p>
          <a:p>
            <a:pPr lvl="2" eaLnBrk="1" hangingPunct="1"/>
            <a:r>
              <a:rPr lang="zh-CN" altLang="en-US" sz="2000"/>
              <a:t>如现金流量表、资金来源与运用表、损益表</a:t>
            </a:r>
            <a:r>
              <a:rPr lang="en-US" altLang="zh-CN" sz="2000"/>
              <a:t>……</a:t>
            </a:r>
            <a:endParaRPr lang="en-US" altLang="zh-CN" sz="2000"/>
          </a:p>
          <a:p>
            <a:pPr lvl="2" eaLnBrk="1" hangingPunct="1"/>
            <a:endParaRPr lang="en-US" altLang="zh-CN" sz="2000"/>
          </a:p>
          <a:p>
            <a:pPr lvl="1" eaLnBrk="1" hangingPunct="1"/>
            <a:r>
              <a:rPr lang="en-US" altLang="zh-CN" sz="2400"/>
              <a:t>5. </a:t>
            </a:r>
            <a:r>
              <a:rPr lang="zh-CN" altLang="en-US" sz="2400"/>
              <a:t>进行财务分析</a:t>
            </a:r>
            <a:endParaRPr lang="zh-CN" altLang="en-US" sz="2400"/>
          </a:p>
          <a:p>
            <a:pPr lvl="1" eaLnBrk="1" hangingPunct="1"/>
            <a:r>
              <a:rPr lang="en-US" altLang="zh-CN" sz="2400"/>
              <a:t>6. </a:t>
            </a:r>
            <a:r>
              <a:rPr lang="zh-CN" altLang="en-US" sz="2400"/>
              <a:t>进行风险和不确定性分析</a:t>
            </a:r>
            <a:endParaRPr lang="zh-CN" altLang="en-US" sz="2400"/>
          </a:p>
          <a:p>
            <a:pPr lvl="1" eaLnBrk="1" hangingPunct="1"/>
            <a:endParaRPr lang="zh-CN" altLang="en-US" sz="2400"/>
          </a:p>
          <a:p>
            <a:pPr lvl="1" eaLnBrk="1" hangingPunct="1"/>
            <a:endParaRPr lang="zh-CN" altLang="en-US"/>
          </a:p>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77923">
                                            <p:txEl>
                                              <p:pRg st="1" end="1"/>
                                            </p:txEl>
                                          </p:spTgt>
                                        </p:tgtEl>
                                        <p:attrNameLst>
                                          <p:attrName>style.visibility</p:attrName>
                                        </p:attrNameLst>
                                      </p:cBhvr>
                                      <p:to>
                                        <p:strVal val="visible"/>
                                      </p:to>
                                    </p:set>
                                    <p:animEffect transition="in" filter="blinds(horizontal)">
                                      <p:cBhvr>
                                        <p:cTn id="7" dur="500"/>
                                        <p:tgtEl>
                                          <p:spTgt spid="97792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77923">
                                            <p:txEl>
                                              <p:pRg st="2" end="2"/>
                                            </p:txEl>
                                          </p:spTgt>
                                        </p:tgtEl>
                                        <p:attrNameLst>
                                          <p:attrName>style.visibility</p:attrName>
                                        </p:attrNameLst>
                                      </p:cBhvr>
                                      <p:to>
                                        <p:strVal val="visible"/>
                                      </p:to>
                                    </p:set>
                                    <p:animEffect transition="in" filter="blinds(horizontal)">
                                      <p:cBhvr>
                                        <p:cTn id="10" dur="500"/>
                                        <p:tgtEl>
                                          <p:spTgt spid="97792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77923">
                                            <p:txEl>
                                              <p:pRg st="3" end="3"/>
                                            </p:txEl>
                                          </p:spTgt>
                                        </p:tgtEl>
                                        <p:attrNameLst>
                                          <p:attrName>style.visibility</p:attrName>
                                        </p:attrNameLst>
                                      </p:cBhvr>
                                      <p:to>
                                        <p:strVal val="visible"/>
                                      </p:to>
                                    </p:set>
                                    <p:animEffect transition="in" filter="blinds(horizontal)">
                                      <p:cBhvr>
                                        <p:cTn id="13" dur="500"/>
                                        <p:tgtEl>
                                          <p:spTgt spid="97792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77923">
                                            <p:txEl>
                                              <p:pRg st="4" end="4"/>
                                            </p:txEl>
                                          </p:spTgt>
                                        </p:tgtEl>
                                        <p:attrNameLst>
                                          <p:attrName>style.visibility</p:attrName>
                                        </p:attrNameLst>
                                      </p:cBhvr>
                                      <p:to>
                                        <p:strVal val="visible"/>
                                      </p:to>
                                    </p:set>
                                    <p:animEffect transition="in" filter="blinds(horizontal)">
                                      <p:cBhvr>
                                        <p:cTn id="16" dur="500"/>
                                        <p:tgtEl>
                                          <p:spTgt spid="97792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977923">
                                            <p:txEl>
                                              <p:pRg st="6" end="6"/>
                                            </p:txEl>
                                          </p:spTgt>
                                        </p:tgtEl>
                                        <p:attrNameLst>
                                          <p:attrName>style.visibility</p:attrName>
                                        </p:attrNameLst>
                                      </p:cBhvr>
                                      <p:to>
                                        <p:strVal val="visible"/>
                                      </p:to>
                                    </p:set>
                                    <p:animEffect transition="in" filter="blinds(horizontal)">
                                      <p:cBhvr>
                                        <p:cTn id="21" dur="500"/>
                                        <p:tgtEl>
                                          <p:spTgt spid="977923">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977923">
                                            <p:txEl>
                                              <p:pRg st="7" end="7"/>
                                            </p:txEl>
                                          </p:spTgt>
                                        </p:tgtEl>
                                        <p:attrNameLst>
                                          <p:attrName>style.visibility</p:attrName>
                                        </p:attrNameLst>
                                      </p:cBhvr>
                                      <p:to>
                                        <p:strVal val="visible"/>
                                      </p:to>
                                    </p:set>
                                    <p:animEffect transition="in" filter="blinds(horizontal)">
                                      <p:cBhvr>
                                        <p:cTn id="24" dur="500"/>
                                        <p:tgtEl>
                                          <p:spTgt spid="977923">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977923">
                                            <p:txEl>
                                              <p:pRg st="8" end="8"/>
                                            </p:txEl>
                                          </p:spTgt>
                                        </p:tgtEl>
                                        <p:attrNameLst>
                                          <p:attrName>style.visibility</p:attrName>
                                        </p:attrNameLst>
                                      </p:cBhvr>
                                      <p:to>
                                        <p:strVal val="visible"/>
                                      </p:to>
                                    </p:set>
                                    <p:animEffect transition="in" filter="blinds(horizontal)">
                                      <p:cBhvr>
                                        <p:cTn id="27" dur="500"/>
                                        <p:tgtEl>
                                          <p:spTgt spid="977923">
                                            <p:txEl>
                                              <p:pRg st="8" end="8"/>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977923">
                                            <p:txEl>
                                              <p:pRg st="9" end="9"/>
                                            </p:txEl>
                                          </p:spTgt>
                                        </p:tgtEl>
                                        <p:attrNameLst>
                                          <p:attrName>style.visibility</p:attrName>
                                        </p:attrNameLst>
                                      </p:cBhvr>
                                      <p:to>
                                        <p:strVal val="visible"/>
                                      </p:to>
                                    </p:set>
                                    <p:animEffect transition="in" filter="blinds(horizontal)">
                                      <p:cBhvr>
                                        <p:cTn id="30" dur="500"/>
                                        <p:tgtEl>
                                          <p:spTgt spid="977923">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977923">
                                            <p:txEl>
                                              <p:pRg st="11" end="11"/>
                                            </p:txEl>
                                          </p:spTgt>
                                        </p:tgtEl>
                                        <p:attrNameLst>
                                          <p:attrName>style.visibility</p:attrName>
                                        </p:attrNameLst>
                                      </p:cBhvr>
                                      <p:to>
                                        <p:strVal val="visible"/>
                                      </p:to>
                                    </p:set>
                                    <p:animEffect transition="in" filter="blinds(horizontal)">
                                      <p:cBhvr>
                                        <p:cTn id="35" dur="500"/>
                                        <p:tgtEl>
                                          <p:spTgt spid="977923">
                                            <p:txEl>
                                              <p:pRg st="11" end="1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977923">
                                            <p:txEl>
                                              <p:pRg st="12" end="12"/>
                                            </p:txEl>
                                          </p:spTgt>
                                        </p:tgtEl>
                                        <p:attrNameLst>
                                          <p:attrName>style.visibility</p:attrName>
                                        </p:attrNameLst>
                                      </p:cBhvr>
                                      <p:to>
                                        <p:strVal val="visible"/>
                                      </p:to>
                                    </p:set>
                                    <p:animEffect transition="in" filter="blinds(horizontal)">
                                      <p:cBhvr>
                                        <p:cTn id="38" dur="500"/>
                                        <p:tgtEl>
                                          <p:spTgt spid="9779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8"/>
          <p:cNvSpPr>
            <a:spLocks noRot="1" noChangeArrowheads="1"/>
          </p:cNvSpPr>
          <p:nvPr/>
        </p:nvSpPr>
        <p:spPr bwMode="auto">
          <a:xfrm>
            <a:off x="316171" y="134360"/>
            <a:ext cx="4175125" cy="515422"/>
          </a:xfrm>
          <a:prstGeom prst="rect">
            <a:avLst/>
          </a:prstGeom>
          <a:noFill/>
          <a:ln>
            <a:noFill/>
          </a:ln>
        </p:spPr>
        <p:txBody>
          <a:bodyPr anchor="ct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dist" eaLnBrk="1" hangingPunct="1">
              <a:lnSpc>
                <a:spcPct val="90000"/>
              </a:lnSpc>
              <a:spcBef>
                <a:spcPct val="50000"/>
              </a:spcBef>
            </a:pPr>
            <a:r>
              <a:rPr lang="zh-CN" altLang="en-US" sz="4800" dirty="0">
                <a:solidFill>
                  <a:srgbClr val="990000"/>
                </a:solidFill>
                <a:latin typeface="方正舒体" panose="02010601030101010101" pitchFamily="2" charset="-122"/>
                <a:ea typeface="方正舒体" panose="02010601030101010101" pitchFamily="2" charset="-122"/>
                <a:cs typeface="楷体_GB2312" charset="-122"/>
              </a:rPr>
              <a:t>点击时事</a:t>
            </a:r>
            <a:endParaRPr lang="en-US" altLang="zh-CN" sz="4800" dirty="0">
              <a:solidFill>
                <a:srgbClr val="990000"/>
              </a:solidFill>
              <a:latin typeface="方正舒体" panose="02010601030101010101" pitchFamily="2" charset="-122"/>
              <a:ea typeface="方正舒体" panose="02010601030101010101" pitchFamily="2" charset="-122"/>
              <a:cs typeface="楷体_GB2312" charset="-122"/>
            </a:endParaRPr>
          </a:p>
        </p:txBody>
      </p:sp>
      <p:sp>
        <p:nvSpPr>
          <p:cNvPr id="6" name="矩形 5"/>
          <p:cNvSpPr/>
          <p:nvPr/>
        </p:nvSpPr>
        <p:spPr>
          <a:xfrm>
            <a:off x="142875" y="1484313"/>
            <a:ext cx="5357813" cy="1849437"/>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“外行”企业撤离　</a:t>
            </a:r>
            <a:endParaRPr lang="zh-CN" altLang="en-US" sz="26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例如：</a:t>
            </a:r>
            <a:r>
              <a:rPr lang="zh-CN" altLang="en-US" sz="2400" i="1" kern="0" dirty="0">
                <a:solidFill>
                  <a:srgbClr val="000000"/>
                </a:solidFill>
                <a:latin typeface="华文新魏" panose="02010800040101010101" pitchFamily="2" charset="-122"/>
                <a:ea typeface="华文新魏" panose="02010800040101010101" pitchFamily="2" charset="-122"/>
              </a:rPr>
              <a:t>四川水井坊</a:t>
            </a:r>
            <a:r>
              <a:rPr lang="zh-CN" altLang="en-US" sz="2400" kern="0" dirty="0">
                <a:solidFill>
                  <a:srgbClr val="000000"/>
                </a:solidFill>
                <a:latin typeface="华文新魏" panose="02010800040101010101" pitchFamily="2" charset="-122"/>
                <a:ea typeface="华文新魏" panose="02010800040101010101" pitchFamily="2" charset="-122"/>
              </a:rPr>
              <a:t>称将剥离旗下</a:t>
            </a:r>
            <a:r>
              <a:rPr lang="en-US" altLang="zh-CN" sz="2400" kern="0" dirty="0">
                <a:solidFill>
                  <a:srgbClr val="000000"/>
                </a:solidFill>
                <a:latin typeface="华文新魏" panose="02010800040101010101" pitchFamily="2" charset="-122"/>
                <a:ea typeface="华文新魏" panose="02010800040101010101" pitchFamily="2" charset="-122"/>
              </a:rPr>
              <a:t>5.3</a:t>
            </a:r>
            <a:r>
              <a:rPr lang="zh-CN" altLang="en-US" sz="2400" kern="0" dirty="0">
                <a:solidFill>
                  <a:srgbClr val="000000"/>
                </a:solidFill>
                <a:latin typeface="华文新魏" panose="02010800040101010101" pitchFamily="2" charset="-122"/>
                <a:ea typeface="华文新魏" panose="02010800040101010101" pitchFamily="2" charset="-122"/>
              </a:rPr>
              <a:t>亿地产项目，回归主业白酒</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东方航空、江苏舜天、酒鬼酒业、安徽金种子等企业撤资地产</a:t>
            </a:r>
            <a:endParaRPr lang="zh-CN" altLang="en-US" sz="2400" kern="0" dirty="0">
              <a:solidFill>
                <a:srgbClr val="000000"/>
              </a:solidFill>
              <a:latin typeface="华文新魏" panose="02010800040101010101" pitchFamily="2" charset="-122"/>
              <a:ea typeface="华文新魏" panose="02010800040101010101" pitchFamily="2" charset="-122"/>
            </a:endParaRPr>
          </a:p>
        </p:txBody>
      </p:sp>
      <p:sp>
        <p:nvSpPr>
          <p:cNvPr id="7" name="矩形 6"/>
          <p:cNvSpPr/>
          <p:nvPr/>
        </p:nvSpPr>
        <p:spPr>
          <a:xfrm>
            <a:off x="142875" y="3825875"/>
            <a:ext cx="5929313" cy="1927225"/>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“内行”企业转向</a:t>
            </a:r>
            <a:endParaRPr lang="en-US" altLang="zh-CN" sz="26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华业地产、中弘地产、绿景地产等</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Tx/>
              <a:buChar char="•"/>
              <a:defRPr/>
            </a:pPr>
            <a:r>
              <a:rPr lang="zh-CN" altLang="en-US" sz="2400" kern="0" dirty="0">
                <a:solidFill>
                  <a:srgbClr val="000000"/>
                </a:solidFill>
                <a:latin typeface="华文新魏" panose="02010800040101010101" pitchFamily="2" charset="-122"/>
                <a:ea typeface="华文新魏" panose="02010800040101010101" pitchFamily="2" charset="-122"/>
              </a:rPr>
              <a:t>房企先后转型投入矿产行业</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已有至少</a:t>
            </a:r>
            <a:r>
              <a:rPr lang="en-US" altLang="zh-CN" sz="2400" kern="0" dirty="0">
                <a:solidFill>
                  <a:srgbClr val="000000"/>
                </a:solidFill>
                <a:latin typeface="华文新魏" panose="02010800040101010101" pitchFamily="2" charset="-122"/>
                <a:ea typeface="华文新魏" panose="02010800040101010101" pitchFamily="2" charset="-122"/>
              </a:rPr>
              <a:t>20</a:t>
            </a:r>
            <a:r>
              <a:rPr lang="zh-CN" altLang="en-US" sz="2400" kern="0" dirty="0">
                <a:solidFill>
                  <a:srgbClr val="000000"/>
                </a:solidFill>
                <a:latin typeface="华文新魏" panose="02010800040101010101" pitchFamily="2" charset="-122"/>
                <a:ea typeface="华文新魏" panose="02010800040101010101" pitchFamily="2" charset="-122"/>
              </a:rPr>
              <a:t>家房地产上市公司涉足矿业，占全部房地产上市公司的六分之一</a:t>
            </a:r>
            <a:endParaRPr lang="zh-CN" altLang="en-US" sz="2400" kern="0" dirty="0">
              <a:solidFill>
                <a:srgbClr val="000000"/>
              </a:solidFill>
              <a:latin typeface="华文新魏" panose="02010800040101010101" pitchFamily="2" charset="-122"/>
              <a:ea typeface="华文新魏" panose="02010800040101010101" pitchFamily="2" charset="-122"/>
            </a:endParaRPr>
          </a:p>
        </p:txBody>
      </p:sp>
      <p:sp>
        <p:nvSpPr>
          <p:cNvPr id="8" name="矩形 7"/>
          <p:cNvSpPr/>
          <p:nvPr/>
        </p:nvSpPr>
        <p:spPr>
          <a:xfrm>
            <a:off x="142875" y="5689600"/>
            <a:ext cx="8286750" cy="733425"/>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  原因：</a:t>
            </a:r>
            <a:r>
              <a:rPr lang="zh-CN" altLang="en-US" sz="2400" kern="0" dirty="0">
                <a:solidFill>
                  <a:srgbClr val="000000"/>
                </a:solidFill>
                <a:latin typeface="华文新魏" panose="02010800040101010101" pitchFamily="2" charset="-122"/>
                <a:ea typeface="华文新魏" panose="02010800040101010101" pitchFamily="2" charset="-122"/>
              </a:rPr>
              <a:t>房地产调控拐点已经出现，房价可能继续深跌，房地产投资的收益降低</a:t>
            </a:r>
            <a:endParaRPr lang="zh-CN" altLang="en-US" sz="2400" kern="0" dirty="0">
              <a:solidFill>
                <a:srgbClr val="000000"/>
              </a:solidFill>
              <a:latin typeface="华文新魏" panose="02010800040101010101" pitchFamily="2" charset="-122"/>
              <a:ea typeface="华文新魏" panose="02010800040101010101" pitchFamily="2" charset="-122"/>
            </a:endParaRPr>
          </a:p>
        </p:txBody>
      </p:sp>
      <p:pic>
        <p:nvPicPr>
          <p:cNvPr id="10247" name="Picture 2" descr="D:\学习\工程经济学助教\2011秋工程经济学\点击时事\地产.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15250" y="1357313"/>
            <a:ext cx="1371600" cy="858837"/>
          </a:xfrm>
          <a:prstGeom prst="rect">
            <a:avLst/>
          </a:prstGeom>
          <a:noFill/>
          <a:ln>
            <a:noFill/>
          </a:ln>
        </p:spPr>
      </p:pic>
      <p:pic>
        <p:nvPicPr>
          <p:cNvPr id="10" name="Picture 4" descr="D:\学习\工程经济学助教\2011秋工程经济学\点击时事\地产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0" y="2286000"/>
            <a:ext cx="3714750" cy="2714625"/>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一种封闭式自行车高速路的想象图，道内可防止下雨等自然变化，未来还可能有气流动力助推。它可替代汽车高速路连接城市。"/>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54388" y="1187450"/>
            <a:ext cx="4572000" cy="3214688"/>
          </a:xfrm>
          <a:prstGeom prst="rect">
            <a:avLst/>
          </a:prstGeom>
          <a:noFill/>
          <a:ln>
            <a:noFill/>
          </a:ln>
        </p:spPr>
      </p:pic>
      <p:sp>
        <p:nvSpPr>
          <p:cNvPr id="6" name="Rectangle 9"/>
          <p:cNvSpPr txBox="1">
            <a:spLocks noRot="1" noChangeArrowheads="1"/>
          </p:cNvSpPr>
          <p:nvPr/>
        </p:nvSpPr>
        <p:spPr bwMode="auto">
          <a:xfrm>
            <a:off x="7078663" y="600075"/>
            <a:ext cx="1743075" cy="4611688"/>
          </a:xfrm>
          <a:prstGeom prst="rect">
            <a:avLst/>
          </a:prstGeom>
          <a:noFill/>
          <a:ln w="9525">
            <a:noFill/>
            <a:miter lim="800000"/>
          </a:ln>
          <a:effectLst/>
        </p:spPr>
        <p:txBody>
          <a:bodyPr vert="eaVert"/>
          <a:lstStyle/>
          <a:p>
            <a:pPr marL="631825" indent="-457200" eaLnBrk="1" hangingPunct="1">
              <a:spcBef>
                <a:spcPct val="20000"/>
              </a:spcBef>
              <a:buFont typeface="Wingdings" panose="05000000000000000000" pitchFamily="2" charset="2"/>
              <a:buChar char="l"/>
              <a:defRPr/>
            </a:pPr>
            <a:r>
              <a:rPr lang="zh-CN" altLang="en-US" sz="2800" kern="0" dirty="0">
                <a:solidFill>
                  <a:srgbClr val="000000"/>
                </a:solidFill>
                <a:latin typeface="+mn-lt"/>
                <a:ea typeface="+mn-ea"/>
              </a:rPr>
              <a:t>德国将建全长</a:t>
            </a:r>
            <a:r>
              <a:rPr lang="en-US" altLang="zh-CN" sz="2800" kern="0" dirty="0">
                <a:solidFill>
                  <a:srgbClr val="000000"/>
                </a:solidFill>
                <a:latin typeface="+mn-lt"/>
                <a:ea typeface="+mn-ea"/>
              </a:rPr>
              <a:t>60</a:t>
            </a:r>
            <a:r>
              <a:rPr lang="zh-CN" altLang="en-US" sz="2800" kern="0" dirty="0">
                <a:solidFill>
                  <a:srgbClr val="000000"/>
                </a:solidFill>
                <a:latin typeface="+mn-lt"/>
                <a:ea typeface="+mn-ea"/>
              </a:rPr>
              <a:t>公里的自行车高速公路</a:t>
            </a:r>
            <a:endParaRPr lang="zh-CN" altLang="en-US" sz="2800" kern="0" dirty="0">
              <a:solidFill>
                <a:srgbClr val="000000"/>
              </a:solidFill>
              <a:latin typeface="+mn-lt"/>
              <a:ea typeface="+mn-ea"/>
            </a:endParaRPr>
          </a:p>
        </p:txBody>
      </p:sp>
      <p:sp>
        <p:nvSpPr>
          <p:cNvPr id="7" name="矩形 6"/>
          <p:cNvSpPr/>
          <p:nvPr/>
        </p:nvSpPr>
        <p:spPr>
          <a:xfrm>
            <a:off x="0" y="1797050"/>
            <a:ext cx="6858000" cy="2003425"/>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自行车高速公路　</a:t>
            </a:r>
            <a:endParaRPr lang="zh-CN" altLang="en-US" sz="26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专供自行车行驶的全封闭高速公路</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时速最高可达</a:t>
            </a:r>
            <a:r>
              <a:rPr lang="en-US" altLang="zh-CN" sz="2400" kern="0" dirty="0">
                <a:solidFill>
                  <a:srgbClr val="000000"/>
                </a:solidFill>
                <a:latin typeface="华文新魏" panose="02010800040101010101" pitchFamily="2" charset="-122"/>
                <a:ea typeface="华文新魏" panose="02010800040101010101" pitchFamily="2" charset="-122"/>
              </a:rPr>
              <a:t>40</a:t>
            </a:r>
            <a:r>
              <a:rPr lang="zh-CN" altLang="en-US" sz="2400" kern="0" dirty="0">
                <a:solidFill>
                  <a:srgbClr val="000000"/>
                </a:solidFill>
                <a:latin typeface="华文新魏" panose="02010800040101010101" pitchFamily="2" charset="-122"/>
                <a:ea typeface="华文新魏" panose="02010800040101010101" pitchFamily="2" charset="-122"/>
              </a:rPr>
              <a:t>公里</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没有交叉路口和红绿灯</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晚间也有夜光照明标识</a:t>
            </a:r>
            <a:endParaRPr lang="zh-CN" altLang="en-US" sz="2400" kern="0" dirty="0">
              <a:solidFill>
                <a:srgbClr val="000000"/>
              </a:solidFill>
              <a:latin typeface="华文新魏" panose="02010800040101010101" pitchFamily="2" charset="-122"/>
              <a:ea typeface="华文新魏" panose="02010800040101010101" pitchFamily="2" charset="-122"/>
            </a:endParaRPr>
          </a:p>
        </p:txBody>
      </p:sp>
      <p:sp>
        <p:nvSpPr>
          <p:cNvPr id="8" name="矩形 7"/>
          <p:cNvSpPr/>
          <p:nvPr/>
        </p:nvSpPr>
        <p:spPr>
          <a:xfrm>
            <a:off x="142875" y="4003675"/>
            <a:ext cx="5929313" cy="1208088"/>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项目概况</a:t>
            </a:r>
            <a:endParaRPr lang="en-US" altLang="zh-CN" sz="26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德国传统工业重地鲁尔区</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路宽</a:t>
            </a:r>
            <a:r>
              <a:rPr lang="en-US" altLang="zh-CN" sz="2400" kern="0" dirty="0">
                <a:solidFill>
                  <a:srgbClr val="000000"/>
                </a:solidFill>
                <a:latin typeface="华文新魏" panose="02010800040101010101" pitchFamily="2" charset="-122"/>
                <a:ea typeface="华文新魏" panose="02010800040101010101" pitchFamily="2" charset="-122"/>
              </a:rPr>
              <a:t>5</a:t>
            </a:r>
            <a:r>
              <a:rPr lang="zh-CN" altLang="en-US" sz="2400" kern="0" dirty="0">
                <a:solidFill>
                  <a:srgbClr val="000000"/>
                </a:solidFill>
                <a:latin typeface="华文新魏" panose="02010800040101010101" pitchFamily="2" charset="-122"/>
                <a:ea typeface="华文新魏" panose="02010800040101010101" pitchFamily="2" charset="-122"/>
              </a:rPr>
              <a:t>米，全长约</a:t>
            </a:r>
            <a:r>
              <a:rPr lang="en-US" altLang="zh-CN" sz="2400" kern="0" dirty="0">
                <a:solidFill>
                  <a:srgbClr val="000000"/>
                </a:solidFill>
                <a:latin typeface="华文新魏" panose="02010800040101010101" pitchFamily="2" charset="-122"/>
                <a:ea typeface="华文新魏" panose="02010800040101010101" pitchFamily="2" charset="-122"/>
              </a:rPr>
              <a:t>60</a:t>
            </a:r>
            <a:r>
              <a:rPr lang="zh-CN" altLang="en-US" sz="2400" kern="0" dirty="0">
                <a:solidFill>
                  <a:srgbClr val="000000"/>
                </a:solidFill>
                <a:latin typeface="华文新魏" panose="02010800040101010101" pitchFamily="2" charset="-122"/>
                <a:ea typeface="华文新魏" panose="02010800040101010101" pitchFamily="2" charset="-122"/>
              </a:rPr>
              <a:t>公里</a:t>
            </a:r>
            <a:endParaRPr lang="en-US" altLang="zh-CN" sz="2400" kern="0" dirty="0">
              <a:solidFill>
                <a:srgbClr val="000000"/>
              </a:solidFill>
              <a:latin typeface="华文新魏" panose="02010800040101010101" pitchFamily="2" charset="-122"/>
              <a:ea typeface="华文新魏" panose="02010800040101010101" pitchFamily="2" charset="-122"/>
            </a:endParaRPr>
          </a:p>
        </p:txBody>
      </p:sp>
      <p:sp>
        <p:nvSpPr>
          <p:cNvPr id="9" name="矩形 8"/>
          <p:cNvSpPr/>
          <p:nvPr/>
        </p:nvSpPr>
        <p:spPr>
          <a:xfrm>
            <a:off x="142875" y="5214938"/>
            <a:ext cx="8286750" cy="1208087"/>
          </a:xfrm>
          <a:prstGeom prst="rect">
            <a:avLst/>
          </a:prstGeom>
        </p:spPr>
        <p:txBody>
          <a:bodyPr>
            <a:spAutoFit/>
          </a:bodyPr>
          <a:lstStyle/>
          <a:p>
            <a:pPr marL="177800" indent="-177800" eaLnBrk="1" fontAlgn="auto" hangingPunct="1">
              <a:lnSpc>
                <a:spcPts val="2500"/>
              </a:lnSpc>
              <a:spcBef>
                <a:spcPts val="600"/>
              </a:spcBef>
              <a:spcAft>
                <a:spcPts val="0"/>
              </a:spcAft>
              <a:buFont typeface="Wingdings" panose="05000000000000000000" pitchFamily="2" charset="2"/>
              <a:buChar char="Ø"/>
              <a:defRPr/>
            </a:pPr>
            <a:r>
              <a:rPr lang="zh-CN" altLang="en-US" sz="2600" kern="0" dirty="0">
                <a:solidFill>
                  <a:srgbClr val="000000"/>
                </a:solidFill>
                <a:latin typeface="华文新魏" panose="02010800040101010101" pitchFamily="2" charset="-122"/>
                <a:ea typeface="华文新魏" panose="02010800040101010101" pitchFamily="2" charset="-122"/>
              </a:rPr>
              <a:t>未来城市新宠</a:t>
            </a:r>
            <a:endParaRPr lang="en-US" altLang="zh-CN" sz="26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预计将有</a:t>
            </a:r>
            <a:r>
              <a:rPr lang="en-US" altLang="zh-CN" sz="2400" kern="0" dirty="0">
                <a:solidFill>
                  <a:srgbClr val="000000"/>
                </a:solidFill>
                <a:latin typeface="华文新魏" panose="02010800040101010101" pitchFamily="2" charset="-122"/>
                <a:ea typeface="华文新魏" panose="02010800040101010101" pitchFamily="2" charset="-122"/>
              </a:rPr>
              <a:t>200</a:t>
            </a:r>
            <a:r>
              <a:rPr lang="zh-CN" altLang="en-US" sz="2400" kern="0" dirty="0">
                <a:solidFill>
                  <a:srgbClr val="000000"/>
                </a:solidFill>
                <a:latin typeface="华文新魏" panose="02010800040101010101" pitchFamily="2" charset="-122"/>
                <a:ea typeface="华文新魏" panose="02010800040101010101" pitchFamily="2" charset="-122"/>
              </a:rPr>
              <a:t>万人选择使用</a:t>
            </a:r>
            <a:endParaRPr lang="en-US" altLang="zh-CN" sz="2400" kern="0" dirty="0">
              <a:solidFill>
                <a:srgbClr val="000000"/>
              </a:solidFill>
              <a:latin typeface="华文新魏" panose="02010800040101010101" pitchFamily="2" charset="-122"/>
              <a:ea typeface="华文新魏" panose="02010800040101010101" pitchFamily="2" charset="-122"/>
            </a:endParaRPr>
          </a:p>
          <a:p>
            <a:pPr marL="182880" indent="263525" eaLnBrk="1" fontAlgn="auto" hangingPunct="1">
              <a:lnSpc>
                <a:spcPts val="2500"/>
              </a:lnSpc>
              <a:spcBef>
                <a:spcPts val="600"/>
              </a:spcBef>
              <a:spcAft>
                <a:spcPts val="0"/>
              </a:spcAft>
              <a:buFont typeface="Arial" panose="020B0604020202020204" pitchFamily="34" charset="0"/>
              <a:buChar char="•"/>
              <a:defRPr/>
            </a:pPr>
            <a:r>
              <a:rPr lang="zh-CN" altLang="en-US" sz="2400" kern="0" dirty="0">
                <a:solidFill>
                  <a:srgbClr val="000000"/>
                </a:solidFill>
                <a:latin typeface="华文新魏" panose="02010800040101010101" pitchFamily="2" charset="-122"/>
                <a:ea typeface="华文新魏" panose="02010800040101010101" pitchFamily="2" charset="-122"/>
              </a:rPr>
              <a:t>对骑行半径在</a:t>
            </a:r>
            <a:r>
              <a:rPr lang="en-US" altLang="zh-CN" sz="2400" kern="0" dirty="0">
                <a:solidFill>
                  <a:srgbClr val="000000"/>
                </a:solidFill>
                <a:latin typeface="华文新魏" panose="02010800040101010101" pitchFamily="2" charset="-122"/>
                <a:ea typeface="华文新魏" panose="02010800040101010101" pitchFamily="2" charset="-122"/>
              </a:rPr>
              <a:t>10</a:t>
            </a:r>
            <a:r>
              <a:rPr lang="zh-CN" altLang="en-US" sz="2400" kern="0" dirty="0">
                <a:solidFill>
                  <a:srgbClr val="000000"/>
                </a:solidFill>
                <a:latin typeface="华文新魏" panose="02010800040101010101" pitchFamily="2" charset="-122"/>
                <a:ea typeface="华文新魏" panose="02010800040101010101" pitchFamily="2" charset="-122"/>
              </a:rPr>
              <a:t>到</a:t>
            </a:r>
            <a:r>
              <a:rPr lang="en-US" altLang="zh-CN" sz="2400" kern="0" dirty="0">
                <a:solidFill>
                  <a:srgbClr val="000000"/>
                </a:solidFill>
                <a:latin typeface="华文新魏" panose="02010800040101010101" pitchFamily="2" charset="-122"/>
                <a:ea typeface="华文新魏" panose="02010800040101010101" pitchFamily="2" charset="-122"/>
              </a:rPr>
              <a:t>20</a:t>
            </a:r>
            <a:r>
              <a:rPr lang="zh-CN" altLang="en-US" sz="2400" kern="0" dirty="0">
                <a:solidFill>
                  <a:srgbClr val="000000"/>
                </a:solidFill>
                <a:latin typeface="华文新魏" panose="02010800040101010101" pitchFamily="2" charset="-122"/>
                <a:ea typeface="华文新魏" panose="02010800040101010101" pitchFamily="2" charset="-122"/>
              </a:rPr>
              <a:t>公里的自行车一族将别具吸引力</a:t>
            </a:r>
            <a:endParaRPr lang="zh-CN" altLang="en-US" sz="2400" kern="0" dirty="0">
              <a:solidFill>
                <a:srgbClr val="000000"/>
              </a:solidFill>
              <a:latin typeface="华文新魏" panose="02010800040101010101" pitchFamily="2" charset="-122"/>
              <a:ea typeface="华文新魏" panose="02010800040101010101" pitchFamily="2" charset="-122"/>
            </a:endParaRPr>
          </a:p>
        </p:txBody>
      </p:sp>
      <p:sp>
        <p:nvSpPr>
          <p:cNvPr id="10" name="Rectangle 8"/>
          <p:cNvSpPr>
            <a:spLocks noRot="1" noChangeArrowheads="1"/>
          </p:cNvSpPr>
          <p:nvPr/>
        </p:nvSpPr>
        <p:spPr bwMode="auto">
          <a:xfrm>
            <a:off x="316171" y="134360"/>
            <a:ext cx="4175125" cy="515422"/>
          </a:xfrm>
          <a:prstGeom prst="rect">
            <a:avLst/>
          </a:prstGeom>
          <a:noFill/>
          <a:ln>
            <a:noFill/>
          </a:ln>
        </p:spPr>
        <p:txBody>
          <a:bodyPr anchor="ct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algn="dist" eaLnBrk="1" hangingPunct="1">
              <a:lnSpc>
                <a:spcPct val="90000"/>
              </a:lnSpc>
              <a:spcBef>
                <a:spcPct val="50000"/>
              </a:spcBef>
            </a:pPr>
            <a:r>
              <a:rPr lang="zh-CN" altLang="en-US" sz="4800" dirty="0">
                <a:solidFill>
                  <a:srgbClr val="990000"/>
                </a:solidFill>
                <a:latin typeface="方正舒体" panose="02010601030101010101" pitchFamily="2" charset="-122"/>
                <a:ea typeface="方正舒体" panose="02010601030101010101" pitchFamily="2" charset="-122"/>
                <a:cs typeface="楷体_GB2312" charset="-122"/>
              </a:rPr>
              <a:t>点击时事</a:t>
            </a:r>
            <a:endParaRPr lang="en-US" altLang="zh-CN" sz="4800" dirty="0">
              <a:solidFill>
                <a:srgbClr val="990000"/>
              </a:solidFill>
              <a:latin typeface="方正舒体" panose="02010601030101010101" pitchFamily="2" charset="-122"/>
              <a:ea typeface="方正舒体" panose="02010601030101010101" pitchFamily="2" charset="-122"/>
              <a:cs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7">
                                            <p:txEl>
                                              <p:pRg st="2" end="2"/>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0" y="12700"/>
            <a:ext cx="9144000" cy="584200"/>
          </a:xfrm>
        </p:spPr>
        <p:txBody>
          <a:bodyPr/>
          <a:lstStyle/>
          <a:p>
            <a:pPr eaLnBrk="1" hangingPunct="1"/>
            <a:r>
              <a:rPr lang="zh-CN" altLang="en-US"/>
              <a:t>财务评价的前期准备：基本参数的确定</a:t>
            </a:r>
            <a:endParaRPr lang="zh-CN" altLang="en-US"/>
          </a:p>
        </p:txBody>
      </p:sp>
      <p:sp>
        <p:nvSpPr>
          <p:cNvPr id="979971" name="Rectangle 3"/>
          <p:cNvSpPr>
            <a:spLocks noGrp="1" noChangeArrowheads="1"/>
          </p:cNvSpPr>
          <p:nvPr>
            <p:ph type="body" idx="1"/>
          </p:nvPr>
        </p:nvSpPr>
        <p:spPr>
          <a:xfrm>
            <a:off x="0" y="977900"/>
            <a:ext cx="4435475" cy="5754688"/>
          </a:xfrm>
          <a:ln>
            <a:solidFill>
              <a:srgbClr val="000000"/>
            </a:solidFill>
            <a:miter lim="800000"/>
          </a:ln>
        </p:spPr>
        <p:txBody>
          <a:bodyPr/>
          <a:lstStyle/>
          <a:p>
            <a:pPr eaLnBrk="1" hangingPunct="1"/>
            <a:r>
              <a:rPr lang="zh-CN" altLang="en-US"/>
              <a:t>房地产开发项目</a:t>
            </a:r>
            <a:endParaRPr lang="zh-CN" altLang="en-US"/>
          </a:p>
          <a:p>
            <a:pPr lvl="1" eaLnBrk="1" hangingPunct="1"/>
            <a:r>
              <a:rPr lang="en-US" altLang="zh-CN" sz="2400"/>
              <a:t>1. </a:t>
            </a:r>
            <a:r>
              <a:rPr lang="zh-CN" altLang="en-US" sz="2400"/>
              <a:t>项目规划设计指标</a:t>
            </a:r>
            <a:endParaRPr lang="zh-CN" altLang="en-US" sz="2400"/>
          </a:p>
          <a:p>
            <a:pPr lvl="2" eaLnBrk="1" hangingPunct="1"/>
            <a:r>
              <a:rPr lang="zh-CN" altLang="en-US" sz="2000"/>
              <a:t> 总建筑面积、建筑形式、公共配套要求</a:t>
            </a:r>
            <a:r>
              <a:rPr lang="en-US" altLang="zh-CN" sz="2000"/>
              <a:t>……</a:t>
            </a:r>
            <a:endParaRPr lang="en-US" altLang="zh-CN" sz="2000"/>
          </a:p>
          <a:p>
            <a:pPr lvl="2" eaLnBrk="1" hangingPunct="1"/>
            <a:endParaRPr lang="en-US" altLang="zh-CN" sz="2000"/>
          </a:p>
          <a:p>
            <a:pPr lvl="1" eaLnBrk="1" hangingPunct="1"/>
            <a:r>
              <a:rPr lang="en-US" altLang="zh-CN" sz="2400"/>
              <a:t>2. </a:t>
            </a:r>
            <a:r>
              <a:rPr lang="zh-CN" altLang="en-US" sz="2400"/>
              <a:t>市场研究：产品定位和市场定位</a:t>
            </a:r>
            <a:endParaRPr lang="zh-CN" altLang="en-US" sz="2400"/>
          </a:p>
          <a:p>
            <a:pPr lvl="2" eaLnBrk="1" hangingPunct="1"/>
            <a:r>
              <a:rPr lang="zh-CN" altLang="en-US" sz="2000"/>
              <a:t>产品类型：住宅</a:t>
            </a:r>
            <a:r>
              <a:rPr lang="en-US" altLang="zh-CN" sz="2000"/>
              <a:t>/</a:t>
            </a:r>
            <a:r>
              <a:rPr lang="zh-CN" altLang="en-US" sz="2000"/>
              <a:t>写字楼</a:t>
            </a:r>
            <a:r>
              <a:rPr lang="en-US" altLang="zh-CN" sz="2000"/>
              <a:t>/</a:t>
            </a:r>
            <a:r>
              <a:rPr lang="zh-CN" altLang="en-US" sz="2000"/>
              <a:t>商业</a:t>
            </a:r>
            <a:r>
              <a:rPr lang="en-US" altLang="zh-CN" sz="2000"/>
              <a:t>/</a:t>
            </a:r>
            <a:r>
              <a:rPr lang="zh-CN" altLang="en-US" sz="2000"/>
              <a:t>酒店</a:t>
            </a:r>
            <a:endParaRPr lang="zh-CN" altLang="en-US" sz="2000"/>
          </a:p>
          <a:p>
            <a:pPr lvl="2" eaLnBrk="1" hangingPunct="1"/>
            <a:r>
              <a:rPr lang="zh-CN" altLang="en-US" sz="2000"/>
              <a:t>档次：高端</a:t>
            </a:r>
            <a:r>
              <a:rPr lang="en-US" altLang="zh-CN" sz="2000"/>
              <a:t>/</a:t>
            </a:r>
            <a:r>
              <a:rPr lang="zh-CN" altLang="en-US" sz="2000"/>
              <a:t>中档</a:t>
            </a:r>
            <a:r>
              <a:rPr lang="en-US" altLang="zh-CN" sz="2000"/>
              <a:t>/</a:t>
            </a:r>
            <a:r>
              <a:rPr lang="zh-CN" altLang="en-US" sz="2000"/>
              <a:t>低端</a:t>
            </a:r>
            <a:endParaRPr lang="zh-CN" altLang="en-US" sz="2000"/>
          </a:p>
          <a:p>
            <a:pPr lvl="2" eaLnBrk="1" hangingPunct="1"/>
            <a:r>
              <a:rPr lang="zh-CN" altLang="en-US" sz="2000"/>
              <a:t>户型安排</a:t>
            </a:r>
            <a:endParaRPr lang="zh-CN" altLang="en-US" sz="2000"/>
          </a:p>
          <a:p>
            <a:pPr lvl="2" eaLnBrk="1" hangingPunct="1"/>
            <a:r>
              <a:rPr lang="zh-CN" altLang="en-US" sz="2000"/>
              <a:t>价位水平</a:t>
            </a:r>
            <a:endParaRPr lang="zh-CN" altLang="en-US" sz="2000"/>
          </a:p>
          <a:p>
            <a:pPr lvl="2" eaLnBrk="1" hangingPunct="1"/>
            <a:r>
              <a:rPr lang="zh-CN" altLang="en-US" sz="2000"/>
              <a:t>预计销售收入</a:t>
            </a:r>
            <a:endParaRPr lang="zh-CN" altLang="en-US" sz="2000"/>
          </a:p>
        </p:txBody>
      </p:sp>
      <p:sp>
        <p:nvSpPr>
          <p:cNvPr id="979972" name="Rectangle 4"/>
          <p:cNvSpPr>
            <a:spLocks noChangeArrowheads="1"/>
          </p:cNvSpPr>
          <p:nvPr/>
        </p:nvSpPr>
        <p:spPr bwMode="auto">
          <a:xfrm>
            <a:off x="4572000" y="977900"/>
            <a:ext cx="4572000" cy="5754688"/>
          </a:xfrm>
          <a:prstGeom prst="rect">
            <a:avLst/>
          </a:prstGeom>
          <a:solidFill>
            <a:srgbClr val="FFFFFF"/>
          </a:solidFill>
          <a:ln w="9525">
            <a:solidFill>
              <a:srgbClr val="000000"/>
            </a:solidFill>
            <a:miter lim="800000"/>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rgbClr val="0000FF"/>
                </a:solidFill>
                <a:ea typeface="楷体_GB2312" charset="-122"/>
              </a:rPr>
              <a:t>高速公路建设项目</a:t>
            </a:r>
            <a:endParaRPr lang="zh-CN" altLang="en-US">
              <a:solidFill>
                <a:srgbClr val="0000FF"/>
              </a:solidFill>
              <a:ea typeface="楷体_GB2312" charset="-122"/>
            </a:endParaRPr>
          </a:p>
          <a:p>
            <a:pPr lvl="1" eaLnBrk="1" hangingPunct="1"/>
            <a:r>
              <a:rPr lang="en-US" altLang="zh-CN" sz="2400">
                <a:solidFill>
                  <a:srgbClr val="0000FF"/>
                </a:solidFill>
                <a:ea typeface="楷体_GB2312" charset="-122"/>
              </a:rPr>
              <a:t>1. </a:t>
            </a:r>
            <a:r>
              <a:rPr lang="zh-CN" altLang="en-US" sz="2400">
                <a:solidFill>
                  <a:srgbClr val="0000FF"/>
                </a:solidFill>
                <a:ea typeface="楷体_GB2312" charset="-122"/>
              </a:rPr>
              <a:t>项目规划设计指标</a:t>
            </a:r>
            <a:endParaRPr lang="zh-CN" altLang="en-US" sz="2400">
              <a:solidFill>
                <a:srgbClr val="0000FF"/>
              </a:solidFill>
              <a:ea typeface="楷体_GB2312" charset="-122"/>
            </a:endParaRPr>
          </a:p>
          <a:p>
            <a:pPr lvl="2" eaLnBrk="1" hangingPunct="1"/>
            <a:r>
              <a:rPr lang="zh-CN" altLang="en-US" sz="2000">
                <a:solidFill>
                  <a:srgbClr val="0000FF"/>
                </a:solidFill>
                <a:ea typeface="楷体_GB2312" charset="-122"/>
              </a:rPr>
              <a:t>高速公路长度、宽度（车道数）、路线、出入口个数和位置</a:t>
            </a:r>
            <a:r>
              <a:rPr lang="en-US" altLang="zh-CN" sz="2000">
                <a:solidFill>
                  <a:srgbClr val="0000FF"/>
                </a:solidFill>
                <a:ea typeface="楷体_GB2312" charset="-122"/>
              </a:rPr>
              <a:t>……</a:t>
            </a:r>
            <a:endParaRPr lang="zh-CN" altLang="en-US" sz="2000">
              <a:solidFill>
                <a:srgbClr val="0000FF"/>
              </a:solidFill>
              <a:ea typeface="楷体_GB2312" charset="-122"/>
            </a:endParaRPr>
          </a:p>
          <a:p>
            <a:pPr lvl="1" eaLnBrk="1" hangingPunct="1"/>
            <a:endParaRPr lang="en-US" altLang="zh-CN" sz="2400">
              <a:solidFill>
                <a:srgbClr val="0000FF"/>
              </a:solidFill>
              <a:ea typeface="楷体_GB2312" charset="-122"/>
            </a:endParaRPr>
          </a:p>
          <a:p>
            <a:pPr lvl="1" eaLnBrk="1" hangingPunct="1"/>
            <a:r>
              <a:rPr lang="en-US" altLang="zh-CN" sz="2400">
                <a:solidFill>
                  <a:srgbClr val="0000FF"/>
                </a:solidFill>
                <a:ea typeface="楷体_GB2312" charset="-122"/>
              </a:rPr>
              <a:t>2. </a:t>
            </a:r>
            <a:r>
              <a:rPr lang="zh-CN" altLang="en-US" sz="2400">
                <a:solidFill>
                  <a:srgbClr val="0000FF"/>
                </a:solidFill>
                <a:ea typeface="楷体_GB2312" charset="-122"/>
              </a:rPr>
              <a:t>市场研究：需求分析</a:t>
            </a:r>
            <a:endParaRPr lang="zh-CN" altLang="en-US" sz="2400">
              <a:solidFill>
                <a:srgbClr val="0000FF"/>
              </a:solidFill>
              <a:ea typeface="楷体_GB2312" charset="-122"/>
            </a:endParaRPr>
          </a:p>
          <a:p>
            <a:pPr lvl="2" eaLnBrk="1" hangingPunct="1"/>
            <a:r>
              <a:rPr lang="zh-CN" altLang="en-US" sz="2000">
                <a:solidFill>
                  <a:srgbClr val="0000FF"/>
                </a:solidFill>
                <a:ea typeface="楷体_GB2312" charset="-122"/>
              </a:rPr>
              <a:t>预计通车类型和车流量</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预计收费单价和收费时段</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预计总收入</a:t>
            </a:r>
            <a:endParaRPr lang="zh-CN" altLang="en-US" sz="2000">
              <a:solidFill>
                <a:srgbClr val="0000FF"/>
              </a:solidFill>
              <a:ea typeface="楷体_GB2312" charset="-122"/>
            </a:endParaRPr>
          </a:p>
          <a:p>
            <a:pPr lvl="2" eaLnBrk="1" hangingPunct="1"/>
            <a:endParaRPr lang="zh-CN" altLang="en-US" sz="2000">
              <a:solidFill>
                <a:srgbClr val="0000FF"/>
              </a:solidFill>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79971">
                                            <p:txEl>
                                              <p:pRg st="1" end="1"/>
                                            </p:txEl>
                                          </p:spTgt>
                                        </p:tgtEl>
                                        <p:attrNameLst>
                                          <p:attrName>style.visibility</p:attrName>
                                        </p:attrNameLst>
                                      </p:cBhvr>
                                      <p:to>
                                        <p:strVal val="visible"/>
                                      </p:to>
                                    </p:set>
                                    <p:animEffect transition="in" filter="checkerboard(across)">
                                      <p:cBhvr>
                                        <p:cTn id="7" dur="500"/>
                                        <p:tgtEl>
                                          <p:spTgt spid="979971">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79971">
                                            <p:txEl>
                                              <p:pRg st="2" end="2"/>
                                            </p:txEl>
                                          </p:spTgt>
                                        </p:tgtEl>
                                        <p:attrNameLst>
                                          <p:attrName>style.visibility</p:attrName>
                                        </p:attrNameLst>
                                      </p:cBhvr>
                                      <p:to>
                                        <p:strVal val="visible"/>
                                      </p:to>
                                    </p:set>
                                    <p:animEffect transition="in" filter="checkerboard(across)">
                                      <p:cBhvr>
                                        <p:cTn id="10" dur="500"/>
                                        <p:tgtEl>
                                          <p:spTgt spid="97997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979971">
                                            <p:txEl>
                                              <p:pRg st="4" end="4"/>
                                            </p:txEl>
                                          </p:spTgt>
                                        </p:tgtEl>
                                        <p:attrNameLst>
                                          <p:attrName>style.visibility</p:attrName>
                                        </p:attrNameLst>
                                      </p:cBhvr>
                                      <p:to>
                                        <p:strVal val="visible"/>
                                      </p:to>
                                    </p:set>
                                    <p:animEffect transition="in" filter="checkerboard(across)">
                                      <p:cBhvr>
                                        <p:cTn id="15" dur="500"/>
                                        <p:tgtEl>
                                          <p:spTgt spid="979971">
                                            <p:txEl>
                                              <p:pRg st="4" end="4"/>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979971">
                                            <p:txEl>
                                              <p:pRg st="5" end="5"/>
                                            </p:txEl>
                                          </p:spTgt>
                                        </p:tgtEl>
                                        <p:attrNameLst>
                                          <p:attrName>style.visibility</p:attrName>
                                        </p:attrNameLst>
                                      </p:cBhvr>
                                      <p:to>
                                        <p:strVal val="visible"/>
                                      </p:to>
                                    </p:set>
                                    <p:animEffect transition="in" filter="checkerboard(across)">
                                      <p:cBhvr>
                                        <p:cTn id="18" dur="500"/>
                                        <p:tgtEl>
                                          <p:spTgt spid="979971">
                                            <p:txEl>
                                              <p:pRg st="5" end="5"/>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979971">
                                            <p:txEl>
                                              <p:pRg st="6" end="6"/>
                                            </p:txEl>
                                          </p:spTgt>
                                        </p:tgtEl>
                                        <p:attrNameLst>
                                          <p:attrName>style.visibility</p:attrName>
                                        </p:attrNameLst>
                                      </p:cBhvr>
                                      <p:to>
                                        <p:strVal val="visible"/>
                                      </p:to>
                                    </p:set>
                                    <p:animEffect transition="in" filter="checkerboard(across)">
                                      <p:cBhvr>
                                        <p:cTn id="21" dur="500"/>
                                        <p:tgtEl>
                                          <p:spTgt spid="979971">
                                            <p:txEl>
                                              <p:pRg st="6" end="6"/>
                                            </p:txEl>
                                          </p:spTgt>
                                        </p:tgtEl>
                                      </p:cBhvr>
                                    </p:animEffect>
                                  </p:childTnLst>
                                </p:cTn>
                              </p:par>
                              <p:par>
                                <p:cTn id="22" presetID="5" presetClass="entr" presetSubtype="10" fill="hold" nodeType="withEffect">
                                  <p:stCondLst>
                                    <p:cond delay="0"/>
                                  </p:stCondLst>
                                  <p:childTnLst>
                                    <p:set>
                                      <p:cBhvr>
                                        <p:cTn id="23" dur="1" fill="hold">
                                          <p:stCondLst>
                                            <p:cond delay="0"/>
                                          </p:stCondLst>
                                        </p:cTn>
                                        <p:tgtEl>
                                          <p:spTgt spid="979971">
                                            <p:txEl>
                                              <p:pRg st="7" end="7"/>
                                            </p:txEl>
                                          </p:spTgt>
                                        </p:tgtEl>
                                        <p:attrNameLst>
                                          <p:attrName>style.visibility</p:attrName>
                                        </p:attrNameLst>
                                      </p:cBhvr>
                                      <p:to>
                                        <p:strVal val="visible"/>
                                      </p:to>
                                    </p:set>
                                    <p:animEffect transition="in" filter="checkerboard(across)">
                                      <p:cBhvr>
                                        <p:cTn id="24" dur="500"/>
                                        <p:tgtEl>
                                          <p:spTgt spid="979971">
                                            <p:txEl>
                                              <p:pRg st="7" end="7"/>
                                            </p:txEl>
                                          </p:spTgt>
                                        </p:tgtEl>
                                      </p:cBhvr>
                                    </p:animEffect>
                                  </p:childTnLst>
                                </p:cTn>
                              </p:par>
                              <p:par>
                                <p:cTn id="25" presetID="5" presetClass="entr" presetSubtype="10" fill="hold" nodeType="withEffect">
                                  <p:stCondLst>
                                    <p:cond delay="0"/>
                                  </p:stCondLst>
                                  <p:childTnLst>
                                    <p:set>
                                      <p:cBhvr>
                                        <p:cTn id="26" dur="1" fill="hold">
                                          <p:stCondLst>
                                            <p:cond delay="0"/>
                                          </p:stCondLst>
                                        </p:cTn>
                                        <p:tgtEl>
                                          <p:spTgt spid="979971">
                                            <p:txEl>
                                              <p:pRg st="8" end="8"/>
                                            </p:txEl>
                                          </p:spTgt>
                                        </p:tgtEl>
                                        <p:attrNameLst>
                                          <p:attrName>style.visibility</p:attrName>
                                        </p:attrNameLst>
                                      </p:cBhvr>
                                      <p:to>
                                        <p:strVal val="visible"/>
                                      </p:to>
                                    </p:set>
                                    <p:animEffect transition="in" filter="checkerboard(across)">
                                      <p:cBhvr>
                                        <p:cTn id="27" dur="500"/>
                                        <p:tgtEl>
                                          <p:spTgt spid="979971">
                                            <p:txEl>
                                              <p:pRg st="8" end="8"/>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979971">
                                            <p:txEl>
                                              <p:pRg st="9" end="9"/>
                                            </p:txEl>
                                          </p:spTgt>
                                        </p:tgtEl>
                                        <p:attrNameLst>
                                          <p:attrName>style.visibility</p:attrName>
                                        </p:attrNameLst>
                                      </p:cBhvr>
                                      <p:to>
                                        <p:strVal val="visible"/>
                                      </p:to>
                                    </p:set>
                                    <p:animEffect transition="in" filter="checkerboard(across)">
                                      <p:cBhvr>
                                        <p:cTn id="30" dur="500"/>
                                        <p:tgtEl>
                                          <p:spTgt spid="979971">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979972"/>
                                        </p:tgtEl>
                                        <p:attrNameLst>
                                          <p:attrName>style.visibility</p:attrName>
                                        </p:attrNameLst>
                                      </p:cBhvr>
                                      <p:to>
                                        <p:strVal val="visible"/>
                                      </p:to>
                                    </p:set>
                                    <p:animEffect transition="in" filter="checkerboard(across)">
                                      <p:cBhvr>
                                        <p:cTn id="35" dur="500"/>
                                        <p:tgtEl>
                                          <p:spTgt spid="979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997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en-US" sz="3200"/>
              <a:t>基本参数的确定</a:t>
            </a:r>
            <a:r>
              <a:rPr lang="en-US" altLang="zh-CN" sz="3200"/>
              <a:t>(</a:t>
            </a:r>
            <a:r>
              <a:rPr lang="zh-CN" altLang="en-US" sz="3200"/>
              <a:t>续</a:t>
            </a:r>
            <a:r>
              <a:rPr lang="en-US" altLang="zh-CN" sz="3200"/>
              <a:t>)</a:t>
            </a:r>
            <a:endParaRPr lang="en-US" altLang="zh-CN" sz="3200"/>
          </a:p>
        </p:txBody>
      </p:sp>
      <p:sp>
        <p:nvSpPr>
          <p:cNvPr id="14339" name="Rectangle 3"/>
          <p:cNvSpPr>
            <a:spLocks noGrp="1" noChangeArrowheads="1"/>
          </p:cNvSpPr>
          <p:nvPr>
            <p:ph type="body" idx="1"/>
          </p:nvPr>
        </p:nvSpPr>
        <p:spPr/>
        <p:txBody>
          <a:bodyPr/>
          <a:lstStyle/>
          <a:p>
            <a:pPr eaLnBrk="1" hangingPunct="1"/>
            <a:endParaRPr lang="zh-CN" altLang="en-US"/>
          </a:p>
        </p:txBody>
      </p:sp>
      <p:sp>
        <p:nvSpPr>
          <p:cNvPr id="982020" name="Rectangle 4"/>
          <p:cNvSpPr>
            <a:spLocks noChangeArrowheads="1"/>
          </p:cNvSpPr>
          <p:nvPr/>
        </p:nvSpPr>
        <p:spPr bwMode="auto">
          <a:xfrm>
            <a:off x="0" y="977900"/>
            <a:ext cx="4435475" cy="5651500"/>
          </a:xfrm>
          <a:prstGeom prst="rect">
            <a:avLst/>
          </a:prstGeom>
          <a:solidFill>
            <a:srgbClr val="FFFFFF"/>
          </a:solidFill>
          <a:ln w="9525">
            <a:solidFill>
              <a:srgbClr val="000000"/>
            </a:solidFill>
            <a:miter lim="800000"/>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ea typeface="楷体_GB2312" charset="-122"/>
              </a:rPr>
              <a:t>房地产开发项目</a:t>
            </a:r>
            <a:endParaRPr lang="zh-CN" altLang="en-US">
              <a:ea typeface="楷体_GB2312" charset="-122"/>
            </a:endParaRPr>
          </a:p>
          <a:p>
            <a:pPr lvl="1" eaLnBrk="1" hangingPunct="1"/>
            <a:r>
              <a:rPr lang="en-US" altLang="zh-CN" sz="2400">
                <a:ea typeface="楷体_GB2312" charset="-122"/>
              </a:rPr>
              <a:t>3. </a:t>
            </a:r>
            <a:r>
              <a:rPr lang="zh-CN" altLang="en-US" sz="2400">
                <a:ea typeface="楷体_GB2312" charset="-122"/>
              </a:rPr>
              <a:t>建设进度和销售进度</a:t>
            </a:r>
            <a:endParaRPr lang="zh-CN" altLang="en-US" sz="2400">
              <a:ea typeface="楷体_GB2312" charset="-122"/>
            </a:endParaRPr>
          </a:p>
          <a:p>
            <a:pPr lvl="2" eaLnBrk="1" hangingPunct="1"/>
            <a:r>
              <a:rPr lang="zh-CN" altLang="en-US" sz="2000">
                <a:ea typeface="楷体_GB2312" charset="-122"/>
              </a:rPr>
              <a:t>土地开发进度：拆迁</a:t>
            </a:r>
            <a:r>
              <a:rPr lang="en-US" altLang="zh-CN" sz="2000">
                <a:ea typeface="楷体_GB2312" charset="-122"/>
              </a:rPr>
              <a:t>/</a:t>
            </a:r>
            <a:r>
              <a:rPr lang="zh-CN" altLang="en-US" sz="2000">
                <a:ea typeface="楷体_GB2312" charset="-122"/>
              </a:rPr>
              <a:t>土地平整</a:t>
            </a:r>
            <a:endParaRPr lang="zh-CN" altLang="en-US" sz="2000">
              <a:ea typeface="楷体_GB2312" charset="-122"/>
            </a:endParaRPr>
          </a:p>
          <a:p>
            <a:pPr lvl="2" eaLnBrk="1" hangingPunct="1"/>
            <a:r>
              <a:rPr lang="zh-CN" altLang="en-US" sz="2000">
                <a:ea typeface="楷体_GB2312" charset="-122"/>
              </a:rPr>
              <a:t>建设进度：主体结构</a:t>
            </a:r>
            <a:r>
              <a:rPr lang="en-US" altLang="zh-CN" sz="2000">
                <a:ea typeface="楷体_GB2312" charset="-122"/>
              </a:rPr>
              <a:t>/</a:t>
            </a:r>
            <a:r>
              <a:rPr lang="zh-CN" altLang="en-US" sz="2000">
                <a:ea typeface="楷体_GB2312" charset="-122"/>
              </a:rPr>
              <a:t>装修</a:t>
            </a:r>
            <a:r>
              <a:rPr lang="en-US" altLang="zh-CN" sz="2000">
                <a:ea typeface="楷体_GB2312" charset="-122"/>
              </a:rPr>
              <a:t>/</a:t>
            </a:r>
            <a:r>
              <a:rPr lang="zh-CN" altLang="en-US" sz="2000">
                <a:ea typeface="楷体_GB2312" charset="-122"/>
              </a:rPr>
              <a:t>配套设施</a:t>
            </a:r>
            <a:endParaRPr lang="zh-CN" altLang="en-US" sz="2000">
              <a:ea typeface="楷体_GB2312" charset="-122"/>
            </a:endParaRPr>
          </a:p>
          <a:p>
            <a:pPr lvl="2" eaLnBrk="1" hangingPunct="1"/>
            <a:r>
              <a:rPr lang="zh-CN" altLang="en-US" sz="2000">
                <a:ea typeface="楷体_GB2312" charset="-122"/>
              </a:rPr>
              <a:t>销售进度</a:t>
            </a:r>
            <a:endParaRPr lang="zh-CN" altLang="en-US" sz="2000">
              <a:ea typeface="楷体_GB2312" charset="-122"/>
            </a:endParaRPr>
          </a:p>
          <a:p>
            <a:pPr lvl="1" eaLnBrk="1" hangingPunct="1"/>
            <a:r>
              <a:rPr lang="en-US" altLang="zh-CN" sz="2400">
                <a:ea typeface="楷体_GB2312" charset="-122"/>
              </a:rPr>
              <a:t>4. </a:t>
            </a:r>
            <a:r>
              <a:rPr lang="zh-CN" altLang="en-US" sz="2400">
                <a:ea typeface="楷体_GB2312" charset="-122"/>
              </a:rPr>
              <a:t>项目投资估算</a:t>
            </a:r>
            <a:endParaRPr lang="zh-CN" altLang="en-US" sz="2400">
              <a:ea typeface="楷体_GB2312" charset="-122"/>
            </a:endParaRPr>
          </a:p>
          <a:p>
            <a:pPr lvl="2" eaLnBrk="1" hangingPunct="1"/>
            <a:r>
              <a:rPr lang="zh-CN" altLang="en-US" sz="2000">
                <a:ea typeface="楷体_GB2312" charset="-122"/>
              </a:rPr>
              <a:t>土地费用、前期工程费、房屋开发费、管理费用、财务费用、销售费用</a:t>
            </a:r>
            <a:r>
              <a:rPr lang="en-US" altLang="zh-CN" sz="2000">
                <a:ea typeface="楷体_GB2312" charset="-122"/>
              </a:rPr>
              <a:t>……</a:t>
            </a:r>
            <a:endParaRPr lang="en-US" altLang="zh-CN" sz="2000">
              <a:ea typeface="楷体_GB2312" charset="-122"/>
            </a:endParaRPr>
          </a:p>
        </p:txBody>
      </p:sp>
      <p:sp>
        <p:nvSpPr>
          <p:cNvPr id="982021" name="Rectangle 5"/>
          <p:cNvSpPr>
            <a:spLocks noChangeArrowheads="1"/>
          </p:cNvSpPr>
          <p:nvPr/>
        </p:nvSpPr>
        <p:spPr bwMode="auto">
          <a:xfrm>
            <a:off x="4572000" y="977900"/>
            <a:ext cx="4572000" cy="5651500"/>
          </a:xfrm>
          <a:prstGeom prst="rect">
            <a:avLst/>
          </a:prstGeom>
          <a:solidFill>
            <a:srgbClr val="FFFFFF"/>
          </a:solidFill>
          <a:ln w="9525">
            <a:solidFill>
              <a:srgbClr val="000000"/>
            </a:solidFill>
            <a:miter lim="800000"/>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rgbClr val="0000FF"/>
                </a:solidFill>
                <a:ea typeface="楷体_GB2312" charset="-122"/>
              </a:rPr>
              <a:t>高速公路建设项目</a:t>
            </a:r>
            <a:endParaRPr lang="zh-CN" altLang="en-US">
              <a:solidFill>
                <a:srgbClr val="0000FF"/>
              </a:solidFill>
              <a:ea typeface="楷体_GB2312" charset="-122"/>
            </a:endParaRPr>
          </a:p>
          <a:p>
            <a:pPr lvl="1" eaLnBrk="1" hangingPunct="1"/>
            <a:r>
              <a:rPr lang="en-US" altLang="zh-CN" sz="2400">
                <a:solidFill>
                  <a:srgbClr val="0000FF"/>
                </a:solidFill>
                <a:ea typeface="楷体_GB2312" charset="-122"/>
              </a:rPr>
              <a:t>3. </a:t>
            </a:r>
            <a:r>
              <a:rPr lang="zh-CN" altLang="en-US" sz="2400">
                <a:solidFill>
                  <a:srgbClr val="0000FF"/>
                </a:solidFill>
                <a:ea typeface="楷体_GB2312" charset="-122"/>
              </a:rPr>
              <a:t>建设进度</a:t>
            </a:r>
            <a:endParaRPr lang="zh-CN" altLang="en-US" sz="2400">
              <a:solidFill>
                <a:srgbClr val="0000FF"/>
              </a:solidFill>
              <a:ea typeface="楷体_GB2312" charset="-122"/>
            </a:endParaRPr>
          </a:p>
          <a:p>
            <a:pPr lvl="2" eaLnBrk="1" hangingPunct="1"/>
            <a:r>
              <a:rPr lang="zh-CN" altLang="en-US" sz="2000">
                <a:solidFill>
                  <a:srgbClr val="0000FF"/>
                </a:solidFill>
                <a:ea typeface="楷体_GB2312" charset="-122"/>
              </a:rPr>
              <a:t>土地平整、路基铺设</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公路主体结构铺设</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辅路铺设</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公路附属设备安装调试</a:t>
            </a:r>
            <a:endParaRPr lang="zh-CN" altLang="en-US" sz="2000">
              <a:solidFill>
                <a:srgbClr val="0000FF"/>
              </a:solidFill>
              <a:ea typeface="楷体_GB2312" charset="-122"/>
            </a:endParaRPr>
          </a:p>
          <a:p>
            <a:pPr lvl="1" eaLnBrk="1" hangingPunct="1"/>
            <a:r>
              <a:rPr lang="en-US" altLang="zh-CN" sz="2400">
                <a:solidFill>
                  <a:srgbClr val="0000FF"/>
                </a:solidFill>
                <a:ea typeface="楷体_GB2312" charset="-122"/>
              </a:rPr>
              <a:t>4. </a:t>
            </a:r>
            <a:r>
              <a:rPr lang="zh-CN" altLang="en-US" sz="2400">
                <a:solidFill>
                  <a:srgbClr val="0000FF"/>
                </a:solidFill>
                <a:ea typeface="楷体_GB2312" charset="-122"/>
              </a:rPr>
              <a:t>项目投资估算</a:t>
            </a:r>
            <a:endParaRPr lang="zh-CN" altLang="en-US" sz="2400">
              <a:solidFill>
                <a:srgbClr val="0000FF"/>
              </a:solidFill>
              <a:ea typeface="楷体_GB2312" charset="-122"/>
            </a:endParaRPr>
          </a:p>
          <a:p>
            <a:pPr lvl="2" eaLnBrk="1" hangingPunct="1"/>
            <a:r>
              <a:rPr lang="zh-CN" altLang="en-US" sz="2000">
                <a:solidFill>
                  <a:srgbClr val="0000FF"/>
                </a:solidFill>
                <a:ea typeface="楷体_GB2312" charset="-122"/>
              </a:rPr>
              <a:t>土地费用</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道路铺设成本</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设备成本和安装费用</a:t>
            </a:r>
            <a:endParaRPr lang="zh-CN" altLang="en-US" sz="2000">
              <a:solidFill>
                <a:srgbClr val="0000FF"/>
              </a:solidFill>
              <a:ea typeface="楷体_GB2312" charset="-122"/>
            </a:endParaRPr>
          </a:p>
          <a:p>
            <a:pPr lvl="1" eaLnBrk="1" hangingPunct="1"/>
            <a:r>
              <a:rPr lang="en-US" altLang="zh-CN" sz="2400">
                <a:solidFill>
                  <a:srgbClr val="0000FF"/>
                </a:solidFill>
                <a:ea typeface="楷体_GB2312" charset="-122"/>
              </a:rPr>
              <a:t>5. </a:t>
            </a:r>
            <a:r>
              <a:rPr lang="zh-CN" altLang="en-US" sz="2400">
                <a:solidFill>
                  <a:srgbClr val="0000FF"/>
                </a:solidFill>
                <a:ea typeface="楷体_GB2312" charset="-122"/>
              </a:rPr>
              <a:t>维护保养费用估算</a:t>
            </a:r>
            <a:endParaRPr lang="zh-CN" altLang="en-US" sz="2400">
              <a:solidFill>
                <a:srgbClr val="0000FF"/>
              </a:solidFill>
              <a:ea typeface="楷体_GB2312" charset="-122"/>
            </a:endParaRPr>
          </a:p>
          <a:p>
            <a:pPr lvl="2" eaLnBrk="1" hangingPunct="1"/>
            <a:r>
              <a:rPr lang="zh-CN" altLang="en-US" sz="2000">
                <a:solidFill>
                  <a:srgbClr val="0000FF"/>
                </a:solidFill>
                <a:ea typeface="楷体_GB2312" charset="-122"/>
              </a:rPr>
              <a:t>年度维护保养成本</a:t>
            </a:r>
            <a:endParaRPr lang="zh-CN" altLang="en-US" sz="2000">
              <a:solidFill>
                <a:srgbClr val="0000FF"/>
              </a:solidFill>
              <a:ea typeface="楷体_GB2312" charset="-122"/>
            </a:endParaRPr>
          </a:p>
          <a:p>
            <a:pPr lvl="1" eaLnBrk="1" hangingPunct="1"/>
            <a:endParaRPr lang="zh-CN" altLang="en-US" sz="2400">
              <a:solidFill>
                <a:srgbClr val="0000FF"/>
              </a:solidFill>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982020">
                                            <p:txEl>
                                              <p:pRg st="5" end="5"/>
                                            </p:txEl>
                                          </p:spTgt>
                                        </p:tgtEl>
                                        <p:attrNameLst>
                                          <p:attrName>style.visibility</p:attrName>
                                        </p:attrNameLst>
                                      </p:cBhvr>
                                      <p:to>
                                        <p:strVal val="visible"/>
                                      </p:to>
                                    </p:set>
                                    <p:animEffect transition="in" filter="checkerboard(across)">
                                      <p:cBhvr>
                                        <p:cTn id="7" dur="500"/>
                                        <p:tgtEl>
                                          <p:spTgt spid="982020">
                                            <p:txEl>
                                              <p:pRg st="5" end="5"/>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82020">
                                            <p:txEl>
                                              <p:pRg st="6" end="6"/>
                                            </p:txEl>
                                          </p:spTgt>
                                        </p:tgtEl>
                                        <p:attrNameLst>
                                          <p:attrName>style.visibility</p:attrName>
                                        </p:attrNameLst>
                                      </p:cBhvr>
                                      <p:to>
                                        <p:strVal val="visible"/>
                                      </p:to>
                                    </p:set>
                                    <p:animEffect transition="in" filter="checkerboard(across)">
                                      <p:cBhvr>
                                        <p:cTn id="10" dur="500"/>
                                        <p:tgtEl>
                                          <p:spTgt spid="982020">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982021"/>
                                        </p:tgtEl>
                                        <p:attrNameLst>
                                          <p:attrName>style.visibility</p:attrName>
                                        </p:attrNameLst>
                                      </p:cBhvr>
                                      <p:to>
                                        <p:strVal val="visible"/>
                                      </p:to>
                                    </p:set>
                                    <p:animEffect transition="in" filter="checkerboard(across)">
                                      <p:cBhvr>
                                        <p:cTn id="15" dur="500"/>
                                        <p:tgtEl>
                                          <p:spTgt spid="982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20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en-US" sz="3200"/>
              <a:t>基本参数的确定</a:t>
            </a:r>
            <a:r>
              <a:rPr lang="en-US" altLang="zh-CN" sz="3200"/>
              <a:t>(</a:t>
            </a:r>
            <a:r>
              <a:rPr lang="zh-CN" altLang="en-US" sz="3200"/>
              <a:t>续</a:t>
            </a:r>
            <a:r>
              <a:rPr lang="en-US" altLang="zh-CN" sz="3200"/>
              <a:t>)</a:t>
            </a:r>
            <a:endParaRPr lang="zh-CN" altLang="en-US" sz="3200"/>
          </a:p>
        </p:txBody>
      </p:sp>
      <p:sp>
        <p:nvSpPr>
          <p:cNvPr id="16387" name="Rectangle 4"/>
          <p:cNvSpPr>
            <a:spLocks noChangeArrowheads="1"/>
          </p:cNvSpPr>
          <p:nvPr/>
        </p:nvSpPr>
        <p:spPr bwMode="auto">
          <a:xfrm>
            <a:off x="0" y="1346200"/>
            <a:ext cx="4435475" cy="5095875"/>
          </a:xfrm>
          <a:prstGeom prst="rect">
            <a:avLst/>
          </a:prstGeom>
          <a:solidFill>
            <a:srgbClr val="FFFFFF"/>
          </a:solidFill>
          <a:ln w="9525">
            <a:solidFill>
              <a:srgbClr val="000000"/>
            </a:solidFill>
            <a:miter lim="800000"/>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ea typeface="楷体_GB2312" charset="-122"/>
              </a:rPr>
              <a:t>房地产开发项目</a:t>
            </a:r>
            <a:endParaRPr lang="zh-CN" altLang="en-US">
              <a:ea typeface="楷体_GB2312" charset="-122"/>
            </a:endParaRPr>
          </a:p>
          <a:p>
            <a:pPr lvl="1" eaLnBrk="1" hangingPunct="1"/>
            <a:r>
              <a:rPr lang="en-US" altLang="zh-CN" sz="2400">
                <a:ea typeface="楷体_GB2312" charset="-122"/>
              </a:rPr>
              <a:t>5. </a:t>
            </a:r>
            <a:r>
              <a:rPr lang="zh-CN" altLang="en-US" sz="2400">
                <a:ea typeface="楷体_GB2312" charset="-122"/>
              </a:rPr>
              <a:t>资金筹措计划</a:t>
            </a:r>
            <a:endParaRPr lang="zh-CN" altLang="en-US" sz="2400">
              <a:ea typeface="楷体_GB2312" charset="-122"/>
            </a:endParaRPr>
          </a:p>
          <a:p>
            <a:pPr lvl="2" eaLnBrk="1" hangingPunct="1"/>
            <a:r>
              <a:rPr lang="zh-CN" altLang="en-US" sz="2000">
                <a:ea typeface="楷体_GB2312" charset="-122"/>
              </a:rPr>
              <a:t>自有资金</a:t>
            </a:r>
            <a:endParaRPr lang="zh-CN" altLang="en-US" sz="2000">
              <a:ea typeface="楷体_GB2312" charset="-122"/>
            </a:endParaRPr>
          </a:p>
          <a:p>
            <a:pPr lvl="2" eaLnBrk="1" hangingPunct="1"/>
            <a:r>
              <a:rPr lang="zh-CN" altLang="en-US" sz="2000">
                <a:ea typeface="楷体_GB2312" charset="-122"/>
              </a:rPr>
              <a:t>银行贷款</a:t>
            </a:r>
            <a:endParaRPr lang="zh-CN" altLang="en-US" sz="2000">
              <a:ea typeface="楷体_GB2312" charset="-122"/>
            </a:endParaRPr>
          </a:p>
          <a:p>
            <a:pPr lvl="2" eaLnBrk="1" hangingPunct="1"/>
            <a:r>
              <a:rPr lang="zh-CN" altLang="en-US" sz="2000">
                <a:ea typeface="楷体_GB2312" charset="-122"/>
              </a:rPr>
              <a:t>预售收入</a:t>
            </a:r>
            <a:endParaRPr lang="zh-CN" altLang="en-US" sz="2000">
              <a:ea typeface="楷体_GB2312" charset="-122"/>
            </a:endParaRPr>
          </a:p>
        </p:txBody>
      </p:sp>
      <p:sp>
        <p:nvSpPr>
          <p:cNvPr id="984069" name="Rectangle 5"/>
          <p:cNvSpPr>
            <a:spLocks noChangeArrowheads="1"/>
          </p:cNvSpPr>
          <p:nvPr/>
        </p:nvSpPr>
        <p:spPr bwMode="auto">
          <a:xfrm>
            <a:off x="4572000" y="1346200"/>
            <a:ext cx="4572000" cy="5095875"/>
          </a:xfrm>
          <a:prstGeom prst="rect">
            <a:avLst/>
          </a:prstGeom>
          <a:solidFill>
            <a:srgbClr val="FFFFFF"/>
          </a:solidFill>
          <a:ln w="9525">
            <a:solidFill>
              <a:srgbClr val="000000"/>
            </a:solidFill>
            <a:miter lim="800000"/>
          </a:ln>
        </p:spPr>
        <p:txBody>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r>
              <a:rPr lang="zh-CN" altLang="en-US">
                <a:solidFill>
                  <a:srgbClr val="0000FF"/>
                </a:solidFill>
                <a:ea typeface="楷体_GB2312" charset="-122"/>
              </a:rPr>
              <a:t>高速公路建设项目</a:t>
            </a:r>
            <a:endParaRPr lang="zh-CN" altLang="en-US">
              <a:solidFill>
                <a:srgbClr val="0000FF"/>
              </a:solidFill>
              <a:ea typeface="楷体_GB2312" charset="-122"/>
            </a:endParaRPr>
          </a:p>
          <a:p>
            <a:pPr lvl="1" eaLnBrk="1" hangingPunct="1"/>
            <a:r>
              <a:rPr lang="en-US" altLang="zh-CN" sz="2400">
                <a:solidFill>
                  <a:srgbClr val="0000FF"/>
                </a:solidFill>
                <a:ea typeface="楷体_GB2312" charset="-122"/>
              </a:rPr>
              <a:t>6. </a:t>
            </a:r>
            <a:r>
              <a:rPr lang="zh-CN" altLang="en-US" sz="2400">
                <a:solidFill>
                  <a:srgbClr val="0000FF"/>
                </a:solidFill>
                <a:ea typeface="楷体_GB2312" charset="-122"/>
              </a:rPr>
              <a:t>资金筹措计划</a:t>
            </a:r>
            <a:endParaRPr lang="zh-CN" altLang="en-US" sz="2400">
              <a:solidFill>
                <a:srgbClr val="0000FF"/>
              </a:solidFill>
              <a:ea typeface="楷体_GB2312" charset="-122"/>
            </a:endParaRPr>
          </a:p>
          <a:p>
            <a:pPr lvl="2" eaLnBrk="1" hangingPunct="1"/>
            <a:r>
              <a:rPr lang="zh-CN" altLang="en-US" sz="2000">
                <a:solidFill>
                  <a:srgbClr val="0000FF"/>
                </a:solidFill>
                <a:ea typeface="楷体_GB2312" charset="-122"/>
              </a:rPr>
              <a:t>政府投资</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企业投资</a:t>
            </a:r>
            <a:endParaRPr lang="zh-CN" altLang="en-US" sz="2000">
              <a:solidFill>
                <a:srgbClr val="0000FF"/>
              </a:solidFill>
              <a:ea typeface="楷体_GB2312" charset="-122"/>
            </a:endParaRPr>
          </a:p>
          <a:p>
            <a:pPr lvl="2" eaLnBrk="1" hangingPunct="1"/>
            <a:r>
              <a:rPr lang="zh-CN" altLang="en-US" sz="2000">
                <a:solidFill>
                  <a:srgbClr val="0000FF"/>
                </a:solidFill>
                <a:ea typeface="楷体_GB2312" charset="-122"/>
              </a:rPr>
              <a:t>第三方投资</a:t>
            </a:r>
            <a:endParaRPr lang="zh-CN" altLang="en-US" sz="2000">
              <a:solidFill>
                <a:srgbClr val="0000FF"/>
              </a:solidFill>
              <a:ea typeface="楷体_GB2312" charset="-122"/>
            </a:endParaRPr>
          </a:p>
          <a:p>
            <a:pPr lvl="2" eaLnBrk="1" hangingPunct="1"/>
            <a:endParaRPr lang="zh-CN" altLang="en-US" sz="2000">
              <a:solidFill>
                <a:srgbClr val="0000FF"/>
              </a:solidFill>
              <a:ea typeface="楷体_GB2312" charset="-122"/>
            </a:endParaRPr>
          </a:p>
          <a:p>
            <a:pPr lvl="1" eaLnBrk="1" hangingPunct="1"/>
            <a:endParaRPr lang="zh-CN" altLang="en-US" sz="240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84069"/>
                                        </p:tgtEl>
                                        <p:attrNameLst>
                                          <p:attrName>style.visibility</p:attrName>
                                        </p:attrNameLst>
                                      </p:cBhvr>
                                      <p:to>
                                        <p:strVal val="visible"/>
                                      </p:to>
                                    </p:set>
                                    <p:animEffect transition="in" filter="checkerboard(across)">
                                      <p:cBhvr>
                                        <p:cTn id="7" dur="500"/>
                                        <p:tgtEl>
                                          <p:spTgt spid="984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6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3513" y="12700"/>
            <a:ext cx="8980487" cy="723900"/>
          </a:xfrm>
        </p:spPr>
        <p:txBody>
          <a:bodyPr/>
          <a:lstStyle/>
          <a:p>
            <a:pPr eaLnBrk="1" hangingPunct="1"/>
            <a:r>
              <a:rPr lang="zh-CN" altLang="en-US"/>
              <a:t>财务报表间的关系</a:t>
            </a:r>
            <a:r>
              <a:rPr lang="en-US" altLang="zh-CN"/>
              <a:t>(</a:t>
            </a:r>
            <a:r>
              <a:rPr lang="zh-CN" altLang="en-US"/>
              <a:t>以房地产开发项目为例</a:t>
            </a:r>
            <a:r>
              <a:rPr lang="en-US" altLang="zh-CN"/>
              <a:t>)</a:t>
            </a:r>
            <a:endParaRPr lang="en-US" altLang="zh-CN"/>
          </a:p>
        </p:txBody>
      </p:sp>
      <p:sp>
        <p:nvSpPr>
          <p:cNvPr id="18435" name="Rectangle 3"/>
          <p:cNvSpPr>
            <a:spLocks noGrp="1" noChangeArrowheads="1"/>
          </p:cNvSpPr>
          <p:nvPr>
            <p:ph type="body" idx="1"/>
          </p:nvPr>
        </p:nvSpPr>
        <p:spPr/>
        <p:txBody>
          <a:bodyPr/>
          <a:lstStyle/>
          <a:p>
            <a:pPr eaLnBrk="1" hangingPunct="1"/>
            <a:endParaRPr lang="zh-CN" altLang="en-US"/>
          </a:p>
        </p:txBody>
      </p:sp>
      <p:pic>
        <p:nvPicPr>
          <p:cNvPr id="18436" name="Picture 7" descr="财务报表关系表"/>
          <p:cNvPicPr>
            <a:picLocks noChangeAspect="1" noChangeArrowheads="1"/>
          </p:cNvPicPr>
          <p:nvPr/>
        </p:nvPicPr>
        <p:blipFill>
          <a:blip r:embed="rId1">
            <a:lum bright="-12000" contrast="24000"/>
            <a:extLst>
              <a:ext uri="{28A0092B-C50C-407E-A947-70E740481C1C}">
                <a14:useLocalDpi xmlns:a14="http://schemas.microsoft.com/office/drawing/2010/main" val="0"/>
              </a:ext>
            </a:extLst>
          </a:blip>
          <a:srcRect/>
          <a:stretch>
            <a:fillRect/>
          </a:stretch>
        </p:blipFill>
        <p:spPr bwMode="auto">
          <a:xfrm>
            <a:off x="163513" y="977900"/>
            <a:ext cx="8515350" cy="5905500"/>
          </a:xfrm>
          <a:prstGeom prst="rect">
            <a:avLst/>
          </a:prstGeom>
          <a:noFill/>
          <a:ln>
            <a:noFill/>
          </a:ln>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0" y="0"/>
            <a:ext cx="8861425" cy="749300"/>
          </a:xfrm>
        </p:spPr>
        <p:txBody>
          <a:bodyPr/>
          <a:lstStyle/>
          <a:p>
            <a:pPr eaLnBrk="1" hangingPunct="1"/>
            <a:r>
              <a:rPr lang="zh-CN" altLang="en-US"/>
              <a:t>基本的财务报表 </a:t>
            </a:r>
            <a:endParaRPr lang="en-US" altLang="zh-CN"/>
          </a:p>
        </p:txBody>
      </p:sp>
      <p:sp>
        <p:nvSpPr>
          <p:cNvPr id="20483" name="Rectangle 3"/>
          <p:cNvSpPr>
            <a:spLocks noGrp="1" noChangeArrowheads="1"/>
          </p:cNvSpPr>
          <p:nvPr>
            <p:ph type="body" idx="1"/>
          </p:nvPr>
        </p:nvSpPr>
        <p:spPr/>
        <p:txBody>
          <a:bodyPr/>
          <a:lstStyle/>
          <a:p>
            <a:pPr eaLnBrk="1" hangingPunct="1"/>
            <a:r>
              <a:rPr lang="en-US" altLang="zh-CN"/>
              <a:t>1. </a:t>
            </a:r>
            <a:r>
              <a:rPr lang="zh-CN" altLang="en-US"/>
              <a:t>损益表 </a:t>
            </a:r>
            <a:endParaRPr lang="en-US" altLang="zh-CN"/>
          </a:p>
          <a:p>
            <a:pPr lvl="1" eaLnBrk="1" hangingPunct="1"/>
            <a:r>
              <a:rPr lang="zh-CN" altLang="en-US"/>
              <a:t>计算项目的利润，以及利润分配</a:t>
            </a:r>
            <a:endParaRPr lang="zh-CN" altLang="en-US"/>
          </a:p>
          <a:p>
            <a:pPr lvl="1" eaLnBrk="1" hangingPunct="1"/>
            <a:r>
              <a:rPr lang="zh-CN" altLang="en-US"/>
              <a:t>税前利润 </a:t>
            </a:r>
            <a:r>
              <a:rPr lang="en-US" altLang="zh-CN"/>
              <a:t>=  </a:t>
            </a:r>
            <a:r>
              <a:rPr lang="zh-CN" altLang="en-US"/>
              <a:t>销售收入 －</a:t>
            </a:r>
            <a:r>
              <a:rPr lang="en-US" altLang="zh-CN"/>
              <a:t> </a:t>
            </a:r>
            <a:r>
              <a:rPr lang="zh-CN" altLang="en-US"/>
              <a:t>销售成本 －销售税金</a:t>
            </a:r>
            <a:endParaRPr lang="zh-CN" altLang="en-US"/>
          </a:p>
          <a:p>
            <a:pPr lvl="1" eaLnBrk="1" hangingPunct="1">
              <a:buFontTx/>
              <a:buNone/>
            </a:pPr>
            <a:r>
              <a:rPr lang="en-US" altLang="zh-CN"/>
              <a:t>                       </a:t>
            </a:r>
            <a:r>
              <a:rPr lang="zh-CN" altLang="en-US"/>
              <a:t>－销售费用－管理费用－财务费用</a:t>
            </a:r>
            <a:endParaRPr lang="zh-CN" altLang="en-US"/>
          </a:p>
          <a:p>
            <a:pPr lvl="1" eaLnBrk="1" hangingPunct="1"/>
            <a:r>
              <a:rPr lang="zh-CN" altLang="en-US"/>
              <a:t>税后利润 </a:t>
            </a:r>
            <a:r>
              <a:rPr lang="en-US" altLang="zh-CN"/>
              <a:t>= </a:t>
            </a:r>
            <a:r>
              <a:rPr lang="zh-CN" altLang="en-US"/>
              <a:t>税前利润－企业所得税</a:t>
            </a:r>
            <a:endParaRPr lang="zh-CN" altLang="en-US"/>
          </a:p>
          <a:p>
            <a:pPr lvl="1" eaLnBrk="1" hangingPunct="1"/>
            <a:r>
              <a:rPr lang="zh-CN" altLang="en-US"/>
              <a:t>利润分配：税后利润首先用于后续投资和归还贷款本息，之后再进行利润分配</a:t>
            </a:r>
            <a:endParaRPr lang="zh-CN" alt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zh-CN" altLang="en-US" sz="3200"/>
              <a:t>基本的财务报表</a:t>
            </a:r>
            <a:endParaRPr lang="zh-CN" altLang="en-US" sz="3200"/>
          </a:p>
        </p:txBody>
      </p:sp>
      <p:sp>
        <p:nvSpPr>
          <p:cNvPr id="22531" name="Rectangle 3"/>
          <p:cNvSpPr>
            <a:spLocks noGrp="1" noChangeArrowheads="1"/>
          </p:cNvSpPr>
          <p:nvPr>
            <p:ph type="body" idx="1"/>
          </p:nvPr>
        </p:nvSpPr>
        <p:spPr/>
        <p:txBody>
          <a:bodyPr/>
          <a:lstStyle/>
          <a:p>
            <a:pPr eaLnBrk="1" hangingPunct="1"/>
            <a:r>
              <a:rPr lang="en-US" altLang="zh-CN"/>
              <a:t>2. </a:t>
            </a:r>
            <a:r>
              <a:rPr lang="zh-CN" altLang="en-US"/>
              <a:t>现金流量表 </a:t>
            </a:r>
            <a:endParaRPr lang="en-US" altLang="zh-CN"/>
          </a:p>
          <a:p>
            <a:pPr lvl="1" eaLnBrk="1" hangingPunct="1"/>
            <a:r>
              <a:rPr lang="zh-CN" altLang="en-US"/>
              <a:t>考察项目的财务盈利能力</a:t>
            </a:r>
            <a:endParaRPr lang="zh-CN" altLang="en-US"/>
          </a:p>
          <a:p>
            <a:pPr lvl="1" eaLnBrk="1" hangingPunct="1"/>
            <a:r>
              <a:rPr lang="zh-CN" altLang="en-US"/>
              <a:t>分为全投资现金流量表（自有资金＋贷款）、自有资金现金流量表（自有资金）</a:t>
            </a:r>
            <a:endParaRPr lang="zh-CN" altLang="en-US"/>
          </a:p>
          <a:p>
            <a:pPr lvl="1" eaLnBrk="1" hangingPunct="1"/>
            <a:r>
              <a:rPr lang="zh-CN" altLang="en-US"/>
              <a:t>现金流入</a:t>
            </a:r>
            <a:endParaRPr lang="zh-CN" altLang="en-US"/>
          </a:p>
          <a:p>
            <a:pPr lvl="2" eaLnBrk="1" hangingPunct="1"/>
            <a:r>
              <a:rPr lang="zh-CN" altLang="en-US"/>
              <a:t>产品销售收入</a:t>
            </a:r>
            <a:endParaRPr lang="zh-CN" altLang="en-US"/>
          </a:p>
          <a:p>
            <a:pPr lvl="1" eaLnBrk="1" hangingPunct="1"/>
            <a:r>
              <a:rPr lang="zh-CN" altLang="en-US"/>
              <a:t>现金流出</a:t>
            </a:r>
            <a:endParaRPr lang="zh-CN" altLang="en-US"/>
          </a:p>
          <a:p>
            <a:pPr lvl="2" eaLnBrk="1" hangingPunct="1"/>
            <a:r>
              <a:rPr lang="zh-CN" altLang="en-US"/>
              <a:t>总投资、销售税金、销售费用、管理费用、财务费用</a:t>
            </a:r>
            <a:r>
              <a:rPr lang="en-US" altLang="zh-CN"/>
              <a:t>……</a:t>
            </a:r>
            <a:endParaRPr lang="en-US" altLang="zh-CN"/>
          </a:p>
          <a:p>
            <a:pPr lvl="1" eaLnBrk="1" hangingPunct="1"/>
            <a:r>
              <a:rPr lang="zh-CN" altLang="en-US"/>
              <a:t>评价指标：</a:t>
            </a:r>
            <a:r>
              <a:rPr lang="en-US" altLang="zh-CN"/>
              <a:t>NPV</a:t>
            </a:r>
            <a:r>
              <a:rPr lang="zh-CN" altLang="en-US"/>
              <a:t>、</a:t>
            </a:r>
            <a:r>
              <a:rPr lang="en-US" altLang="zh-CN"/>
              <a:t>IRR</a:t>
            </a:r>
            <a:r>
              <a:rPr lang="zh-CN" altLang="en-US"/>
              <a:t>、投资回收期</a:t>
            </a:r>
            <a:r>
              <a:rPr lang="en-US" altLang="zh-CN"/>
              <a:t>……</a:t>
            </a:r>
            <a:endParaRPr lang="en-US" altLang="zh-CN"/>
          </a:p>
          <a:p>
            <a:pPr lvl="1" eaLnBrk="1" hangingPunct="1"/>
            <a:r>
              <a:rPr lang="zh-CN" altLang="en-US" u="sng"/>
              <a:t>损益表</a:t>
            </a:r>
            <a:r>
              <a:rPr lang="zh-CN" altLang="en-US"/>
              <a:t>和</a:t>
            </a:r>
            <a:r>
              <a:rPr lang="zh-CN" altLang="en-US" u="sng"/>
              <a:t>现金流量表</a:t>
            </a:r>
            <a:r>
              <a:rPr lang="zh-CN" altLang="en-US"/>
              <a:t>的区别在哪里？</a:t>
            </a:r>
            <a:endParaRPr lang="zh-CN" altLang="en-US"/>
          </a:p>
          <a:p>
            <a:pPr lvl="1" eaLnBrk="1" hangingPunct="1"/>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zh-CN" altLang="en-US" sz="3200"/>
              <a:t>基本的财务报表</a:t>
            </a:r>
            <a:endParaRPr lang="zh-CN" altLang="en-US" sz="3200"/>
          </a:p>
        </p:txBody>
      </p:sp>
      <p:sp>
        <p:nvSpPr>
          <p:cNvPr id="24579" name="Rectangle 3"/>
          <p:cNvSpPr>
            <a:spLocks noGrp="1" noChangeArrowheads="1"/>
          </p:cNvSpPr>
          <p:nvPr>
            <p:ph type="body" idx="1"/>
          </p:nvPr>
        </p:nvSpPr>
        <p:spPr/>
        <p:txBody>
          <a:bodyPr/>
          <a:lstStyle/>
          <a:p>
            <a:pPr eaLnBrk="1" hangingPunct="1"/>
            <a:r>
              <a:rPr lang="en-US" altLang="zh-CN"/>
              <a:t>3. </a:t>
            </a:r>
            <a:r>
              <a:rPr lang="zh-CN" altLang="en-US"/>
              <a:t>资金来源与运用表 </a:t>
            </a:r>
            <a:endParaRPr lang="en-US" altLang="zh-CN"/>
          </a:p>
          <a:p>
            <a:pPr lvl="1" eaLnBrk="1" hangingPunct="1"/>
            <a:r>
              <a:rPr lang="zh-CN" altLang="en-US"/>
              <a:t>考察项目的资金平衡能力</a:t>
            </a:r>
            <a:endParaRPr lang="zh-CN" altLang="en-US"/>
          </a:p>
          <a:p>
            <a:pPr lvl="1" eaLnBrk="1" hangingPunct="1"/>
            <a:r>
              <a:rPr lang="zh-CN" altLang="en-US"/>
              <a:t>资金来源</a:t>
            </a:r>
            <a:endParaRPr lang="zh-CN" altLang="en-US"/>
          </a:p>
          <a:p>
            <a:pPr lvl="2" eaLnBrk="1" hangingPunct="1"/>
            <a:r>
              <a:rPr lang="zh-CN" altLang="en-US"/>
              <a:t>销售收入、自有资金、贷款</a:t>
            </a:r>
            <a:endParaRPr lang="zh-CN" altLang="en-US"/>
          </a:p>
          <a:p>
            <a:pPr lvl="1" eaLnBrk="1" hangingPunct="1"/>
            <a:r>
              <a:rPr lang="zh-CN" altLang="en-US"/>
              <a:t>资金运用</a:t>
            </a:r>
            <a:endParaRPr lang="zh-CN" altLang="en-US"/>
          </a:p>
          <a:p>
            <a:pPr lvl="2" eaLnBrk="1" hangingPunct="1"/>
            <a:r>
              <a:rPr lang="zh-CN" altLang="en-US"/>
              <a:t>总投资、销售税金、销售费用、管理费用、财务费用、所得税、各期还本付息、应付利润</a:t>
            </a:r>
            <a:endParaRPr lang="zh-CN" altLang="en-US"/>
          </a:p>
          <a:p>
            <a:pPr lvl="1" eaLnBrk="1" hangingPunct="1"/>
            <a:r>
              <a:rPr lang="zh-CN" altLang="en-US"/>
              <a:t>资金来源</a:t>
            </a:r>
            <a:r>
              <a:rPr lang="en-US" altLang="zh-CN"/>
              <a:t>&gt;</a:t>
            </a:r>
            <a:r>
              <a:rPr lang="zh-CN" altLang="en-US"/>
              <a:t>资金运用</a:t>
            </a:r>
            <a:endParaRPr lang="zh-CN" altLang="en-US"/>
          </a:p>
          <a:p>
            <a:pPr lvl="1" eaLnBrk="1" hangingPunct="1"/>
            <a:r>
              <a:rPr lang="zh-CN" altLang="en-US"/>
              <a:t>资金来源 － 资金运用＝盈余资金（投资回收）</a:t>
            </a:r>
            <a:endParaRPr lang="en-US" altLang="zh-CN"/>
          </a:p>
          <a:p>
            <a:pPr lvl="2" eaLnBrk="1" hangingPunct="1"/>
            <a:endParaRPr lang="zh-CN" altLang="en-US"/>
          </a:p>
          <a:p>
            <a:pPr lvl="2" eaLnBrk="1" hangingPunct="1"/>
            <a:endParaRPr lang="zh-CN" altLang="en-US"/>
          </a:p>
          <a:p>
            <a:pPr lvl="2" eaLnBrk="1" hangingPunct="1"/>
            <a:endParaRPr lang="zh-CN"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12700"/>
            <a:ext cx="9144000" cy="6845300"/>
          </a:xfrm>
        </p:spPr>
        <p:txBody>
          <a:bodyPr/>
          <a:lstStyle/>
          <a:p>
            <a:pPr eaLnBrk="1" hangingPunct="1"/>
            <a:endParaRPr lang="zh-CN" altLang="en-US"/>
          </a:p>
        </p:txBody>
      </p:sp>
      <p:graphicFrame>
        <p:nvGraphicFramePr>
          <p:cNvPr id="26627" name="Object 3"/>
          <p:cNvGraphicFramePr>
            <a:graphicFrameLocks noGrp="1" noChangeAspect="1"/>
          </p:cNvGraphicFramePr>
          <p:nvPr>
            <p:ph idx="1"/>
          </p:nvPr>
        </p:nvGraphicFramePr>
        <p:xfrm>
          <a:off x="0" y="20638"/>
          <a:ext cx="9144000" cy="6837362"/>
        </p:xfrm>
        <a:graphic>
          <a:graphicData uri="http://schemas.openxmlformats.org/presentationml/2006/ole">
            <mc:AlternateContent xmlns:mc="http://schemas.openxmlformats.org/markup-compatibility/2006">
              <mc:Choice xmlns:v="urn:schemas-microsoft-com:vml" Requires="v">
                <p:oleObj spid="_x0000_s26633" name="Visio" r:id="rId1" imgW="7153275" imgH="5353050" progId="Visio.Drawing.11">
                  <p:embed/>
                </p:oleObj>
              </mc:Choice>
              <mc:Fallback>
                <p:oleObj name="Visio" r:id="rId1" imgW="7153275" imgH="5353050" progId="Visio.Drawing.11">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638"/>
                        <a:ext cx="9144000" cy="6837362"/>
                      </a:xfrm>
                      <a:prstGeom prst="rect">
                        <a:avLst/>
                      </a:prstGeom>
                      <a:noFill/>
                      <a:ln>
                        <a:noFill/>
                      </a:ln>
                      <a:effectLst/>
                    </p:spPr>
                  </p:pic>
                </p:oleObj>
              </mc:Fallback>
            </mc:AlternateContent>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zh-CN" altLang="en-US" sz="3200"/>
              <a:t>某水电工程财务评价</a:t>
            </a:r>
            <a:endParaRPr lang="zh-CN" altLang="en-US" sz="3200"/>
          </a:p>
        </p:txBody>
      </p:sp>
      <p:sp>
        <p:nvSpPr>
          <p:cNvPr id="28675" name="Rectangle 3"/>
          <p:cNvSpPr>
            <a:spLocks noGrp="1" noChangeArrowheads="1"/>
          </p:cNvSpPr>
          <p:nvPr>
            <p:ph type="body" idx="1"/>
          </p:nvPr>
        </p:nvSpPr>
        <p:spPr/>
        <p:txBody>
          <a:bodyPr/>
          <a:lstStyle/>
          <a:p>
            <a:pPr fontAlgn="ctr">
              <a:spcBef>
                <a:spcPct val="0"/>
              </a:spcBef>
              <a:buFont typeface="Wingdings" panose="05000000000000000000" pitchFamily="2" charset="2"/>
              <a:buChar char="Ø"/>
            </a:pPr>
            <a:r>
              <a:rPr lang="zh-CN" altLang="en-AU" b="0">
                <a:latin typeface="宋体" panose="02010600030101010101" pitchFamily="2" charset="-122"/>
              </a:rPr>
              <a:t>某电站装机容量</a:t>
            </a:r>
            <a:r>
              <a:rPr lang="en-AU" altLang="zh-CN" b="0">
                <a:latin typeface="宋体" panose="02010600030101010101" pitchFamily="2" charset="-122"/>
              </a:rPr>
              <a:t>100MW,</a:t>
            </a:r>
            <a:r>
              <a:rPr lang="zh-CN" altLang="en-AU" b="0">
                <a:latin typeface="宋体" panose="02010600030101010101" pitchFamily="2" charset="-122"/>
              </a:rPr>
              <a:t>年发电量</a:t>
            </a:r>
            <a:r>
              <a:rPr lang="en-AU" altLang="zh-CN" b="0">
                <a:latin typeface="宋体" panose="02010600030101010101" pitchFamily="2" charset="-122"/>
              </a:rPr>
              <a:t>4.06*10</a:t>
            </a:r>
            <a:r>
              <a:rPr lang="en-AU" altLang="zh-CN" b="0" baseline="30000">
                <a:latin typeface="宋体" panose="02010600030101010101" pitchFamily="2" charset="-122"/>
              </a:rPr>
              <a:t>8</a:t>
            </a:r>
            <a:r>
              <a:rPr lang="en-AU" altLang="zh-CN" b="0">
                <a:latin typeface="宋体" panose="02010600030101010101" pitchFamily="2" charset="-122"/>
              </a:rPr>
              <a:t>KW.H,  </a:t>
            </a:r>
            <a:r>
              <a:rPr lang="zh-CN" altLang="en-AU" b="0">
                <a:latin typeface="宋体" panose="02010600030101010101" pitchFamily="2" charset="-122"/>
              </a:rPr>
              <a:t>资本金基准收益率</a:t>
            </a:r>
            <a:r>
              <a:rPr lang="en-AU" altLang="zh-CN" b="0">
                <a:latin typeface="宋体" panose="02010600030101010101" pitchFamily="2" charset="-122"/>
              </a:rPr>
              <a:t>8%   													</a:t>
            </a:r>
            <a:endParaRPr lang="en-AU" altLang="zh-CN" b="0">
              <a:latin typeface="宋体" panose="02010600030101010101" pitchFamily="2" charset="-122"/>
            </a:endParaRPr>
          </a:p>
          <a:p>
            <a:pPr fontAlgn="ctr">
              <a:spcBef>
                <a:spcPct val="0"/>
              </a:spcBef>
              <a:buFont typeface="Wingdings" panose="05000000000000000000" pitchFamily="2" charset="2"/>
              <a:buChar char="Ø"/>
            </a:pPr>
            <a:r>
              <a:rPr lang="zh-CN" altLang="en-AU" b="0">
                <a:latin typeface="宋体" panose="02010600030101010101" pitchFamily="2" charset="-122"/>
              </a:rPr>
              <a:t>筹建期全用资本金</a:t>
            </a:r>
            <a:r>
              <a:rPr lang="en-AU" altLang="zh-CN" b="0">
                <a:latin typeface="宋体" panose="02010600030101010101" pitchFamily="2" charset="-122"/>
              </a:rPr>
              <a:t>,</a:t>
            </a:r>
            <a:r>
              <a:rPr lang="zh-CN" altLang="en-AU" b="0">
                <a:latin typeface="宋体" panose="02010600030101010101" pitchFamily="2" charset="-122"/>
              </a:rPr>
              <a:t>施工期资本金占</a:t>
            </a:r>
            <a:r>
              <a:rPr lang="en-AU" altLang="zh-CN" b="0">
                <a:latin typeface="宋体" panose="02010600030101010101" pitchFamily="2" charset="-122"/>
              </a:rPr>
              <a:t>20%,</a:t>
            </a:r>
            <a:r>
              <a:rPr lang="zh-CN" altLang="en-AU" b="0">
                <a:latin typeface="宋体" panose="02010600030101010101" pitchFamily="2" charset="-122"/>
              </a:rPr>
              <a:t>其余为银行贷款</a:t>
            </a:r>
            <a:r>
              <a:rPr lang="en-AU" altLang="zh-CN" b="0">
                <a:latin typeface="宋体" panose="02010600030101010101" pitchFamily="2" charset="-122"/>
              </a:rPr>
              <a:t>,</a:t>
            </a:r>
            <a:r>
              <a:rPr lang="zh-CN" altLang="en-AU" b="0">
                <a:latin typeface="宋体" panose="02010600030101010101" pitchFamily="2" charset="-122"/>
              </a:rPr>
              <a:t>利率</a:t>
            </a:r>
            <a:r>
              <a:rPr lang="en-AU" altLang="zh-CN" b="0">
                <a:latin typeface="宋体" panose="02010600030101010101" pitchFamily="2" charset="-122"/>
              </a:rPr>
              <a:t>6.12%,</a:t>
            </a:r>
            <a:r>
              <a:rPr lang="zh-CN" altLang="en-AU" b="0">
                <a:latin typeface="宋体" panose="02010600030101010101" pitchFamily="2" charset="-122"/>
              </a:rPr>
              <a:t>建设期利息计入固定资产价值</a:t>
            </a:r>
            <a:r>
              <a:rPr lang="en-AU" altLang="zh-CN" b="0">
                <a:latin typeface="宋体" panose="02010600030101010101" pitchFamily="2" charset="-122"/>
              </a:rPr>
              <a:t>;</a:t>
            </a:r>
            <a:endParaRPr lang="en-AU" altLang="zh-CN" b="0">
              <a:latin typeface="宋体" panose="02010600030101010101" pitchFamily="2" charset="-122"/>
            </a:endParaRPr>
          </a:p>
          <a:p>
            <a:pPr fontAlgn="ctr">
              <a:spcBef>
                <a:spcPct val="0"/>
              </a:spcBef>
              <a:buFont typeface="Wingdings" panose="05000000000000000000" pitchFamily="2" charset="2"/>
              <a:buChar char="Ø"/>
            </a:pPr>
            <a:endParaRPr lang="en-AU" altLang="zh-CN" b="0">
              <a:latin typeface="宋体" panose="02010600030101010101" pitchFamily="2" charset="-122"/>
            </a:endParaRPr>
          </a:p>
          <a:p>
            <a:pPr fontAlgn="ctr">
              <a:spcBef>
                <a:spcPct val="0"/>
              </a:spcBef>
              <a:buFont typeface="Wingdings" panose="05000000000000000000" pitchFamily="2" charset="2"/>
              <a:buChar char="Ø"/>
            </a:pPr>
            <a:r>
              <a:rPr lang="zh-CN" altLang="en-AU" b="0"/>
              <a:t>折旧率</a:t>
            </a:r>
            <a:r>
              <a:rPr lang="en-AU" altLang="zh-CN" b="0"/>
              <a:t>4%</a:t>
            </a:r>
            <a:r>
              <a:rPr lang="en-AU" altLang="zh-CN" b="0">
                <a:latin typeface="宋体" panose="02010600030101010101" pitchFamily="2" charset="-122"/>
              </a:rPr>
              <a:t>													</a:t>
            </a:r>
            <a:endParaRPr lang="en-AU" altLang="zh-CN" b="0">
              <a:latin typeface="宋体" panose="02010600030101010101" pitchFamily="2" charset="-122"/>
            </a:endParaRPr>
          </a:p>
          <a:p>
            <a:pPr fontAlgn="ctr">
              <a:spcBef>
                <a:spcPct val="0"/>
              </a:spcBef>
              <a:buFont typeface="Wingdings" panose="05000000000000000000" pitchFamily="2" charset="2"/>
              <a:buChar char="Ø"/>
            </a:pPr>
            <a:r>
              <a:rPr lang="zh-CN" altLang="en-AU" b="0">
                <a:latin typeface="宋体" panose="02010600030101010101" pitchFamily="2" charset="-122"/>
              </a:rPr>
              <a:t>流动资金</a:t>
            </a:r>
            <a:r>
              <a:rPr lang="en-AU" altLang="zh-CN" b="0">
                <a:latin typeface="宋体" panose="02010600030101010101" pitchFamily="2" charset="-122"/>
              </a:rPr>
              <a:t>10</a:t>
            </a:r>
            <a:r>
              <a:rPr lang="zh-CN" altLang="en-AU" b="0">
                <a:latin typeface="宋体" panose="02010600030101010101" pitchFamily="2" charset="-122"/>
              </a:rPr>
              <a:t>元</a:t>
            </a:r>
            <a:r>
              <a:rPr lang="en-AU" altLang="zh-CN" b="0">
                <a:latin typeface="宋体" panose="02010600030101010101" pitchFamily="2" charset="-122"/>
              </a:rPr>
              <a:t>/KW,</a:t>
            </a:r>
            <a:r>
              <a:rPr lang="zh-CN" altLang="en-AU" b="0">
                <a:latin typeface="宋体" panose="02010600030101010101" pitchFamily="2" charset="-122"/>
              </a:rPr>
              <a:t>自有资金</a:t>
            </a:r>
            <a:r>
              <a:rPr lang="en-AU" altLang="zh-CN" b="0">
                <a:latin typeface="宋体" panose="02010600030101010101" pitchFamily="2" charset="-122"/>
              </a:rPr>
              <a:t>30%,</a:t>
            </a:r>
            <a:r>
              <a:rPr lang="zh-CN" altLang="en-AU" b="0">
                <a:latin typeface="宋体" panose="02010600030101010101" pitchFamily="2" charset="-122"/>
              </a:rPr>
              <a:t>借款</a:t>
            </a:r>
            <a:r>
              <a:rPr lang="en-AU" altLang="zh-CN" b="0">
                <a:latin typeface="宋体" panose="02010600030101010101" pitchFamily="2" charset="-122"/>
              </a:rPr>
              <a:t>70%,</a:t>
            </a:r>
            <a:r>
              <a:rPr lang="zh-CN" altLang="en-AU" b="0">
                <a:latin typeface="宋体" panose="02010600030101010101" pitchFamily="2" charset="-122"/>
              </a:rPr>
              <a:t>利率</a:t>
            </a:r>
            <a:r>
              <a:rPr lang="en-AU" altLang="zh-CN" b="0">
                <a:latin typeface="宋体" panose="02010600030101010101" pitchFamily="2" charset="-122"/>
              </a:rPr>
              <a:t>5.58%,</a:t>
            </a:r>
            <a:r>
              <a:rPr lang="zh-CN" altLang="en-AU" b="0">
                <a:latin typeface="宋体" panose="02010600030101010101" pitchFamily="2" charset="-122"/>
              </a:rPr>
              <a:t>利息计入发电成本</a:t>
            </a:r>
            <a:r>
              <a:rPr lang="en-AU" altLang="zh-CN" b="0">
                <a:latin typeface="宋体" panose="02010600030101010101" pitchFamily="2" charset="-122"/>
              </a:rPr>
              <a:t>,</a:t>
            </a:r>
            <a:r>
              <a:rPr lang="zh-CN" altLang="en-AU" b="0">
                <a:latin typeface="宋体" panose="02010600030101010101" pitchFamily="2" charset="-122"/>
              </a:rPr>
              <a:t>计算期末尾一次收回</a:t>
            </a:r>
            <a:endParaRPr lang="zh-CN" altLang="en-US" b="0">
              <a:latin typeface="宋体" panose="0201060003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zh-CN" altLang="en-US" sz="3200"/>
              <a:t>解答</a:t>
            </a:r>
            <a:endParaRPr lang="zh-CN" altLang="en-US" sz="3200"/>
          </a:p>
        </p:txBody>
      </p:sp>
      <p:sp>
        <p:nvSpPr>
          <p:cNvPr id="29699" name="Rectangle 3"/>
          <p:cNvSpPr>
            <a:spLocks noGrp="1" noChangeArrowheads="1"/>
          </p:cNvSpPr>
          <p:nvPr>
            <p:ph type="body" idx="1"/>
          </p:nvPr>
        </p:nvSpPr>
        <p:spPr/>
        <p:txBody>
          <a:bodyPr/>
          <a:lstStyle/>
          <a:p>
            <a:pPr algn="ctr" eaLnBrk="1" hangingPunct="1">
              <a:buFontTx/>
              <a:buNone/>
            </a:pPr>
            <a:r>
              <a:rPr lang="zh-CN" altLang="en-US" sz="6000">
                <a:solidFill>
                  <a:srgbClr val="800000"/>
                </a:solidFill>
              </a:rPr>
              <a:t>见</a:t>
            </a:r>
            <a:r>
              <a:rPr lang="en-US" altLang="zh-CN" sz="6000">
                <a:solidFill>
                  <a:srgbClr val="800000"/>
                </a:solidFill>
              </a:rPr>
              <a:t>EXCEL </a:t>
            </a:r>
            <a:r>
              <a:rPr lang="zh-CN" altLang="en-US" sz="6000">
                <a:solidFill>
                  <a:srgbClr val="800000"/>
                </a:solidFill>
              </a:rPr>
              <a:t>表</a:t>
            </a:r>
            <a:endParaRPr lang="zh-CN" altLang="en-US" sz="6000">
              <a:solidFill>
                <a:srgbClr val="800000"/>
              </a:solidFill>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sz="3200"/>
              <a:t>偿债能力分析</a:t>
            </a:r>
            <a:endParaRPr lang="zh-CN" altLang="en-US" sz="3200"/>
          </a:p>
        </p:txBody>
      </p:sp>
      <p:sp>
        <p:nvSpPr>
          <p:cNvPr id="30723" name="Rectangle 3"/>
          <p:cNvSpPr>
            <a:spLocks noGrp="1" noChangeArrowheads="1"/>
          </p:cNvSpPr>
          <p:nvPr>
            <p:ph type="body" idx="1"/>
          </p:nvPr>
        </p:nvSpPr>
        <p:spPr/>
        <p:txBody>
          <a:bodyPr/>
          <a:lstStyle/>
          <a:p>
            <a:pPr eaLnBrk="1" hangingPunct="1"/>
            <a:r>
              <a:rPr lang="zh-CN" altLang="en-US">
                <a:solidFill>
                  <a:srgbClr val="D60093"/>
                </a:solidFill>
              </a:rPr>
              <a:t>资产负债率</a:t>
            </a:r>
            <a:r>
              <a:rPr lang="en-US" altLang="zh-CN">
                <a:solidFill>
                  <a:srgbClr val="D60093"/>
                </a:solidFill>
              </a:rPr>
              <a:t>=(</a:t>
            </a:r>
            <a:r>
              <a:rPr lang="zh-CN" altLang="en-US">
                <a:solidFill>
                  <a:srgbClr val="D60093"/>
                </a:solidFill>
              </a:rPr>
              <a:t>负债合计</a:t>
            </a:r>
            <a:r>
              <a:rPr lang="en-US" altLang="zh-CN">
                <a:solidFill>
                  <a:srgbClr val="D60093"/>
                </a:solidFill>
              </a:rPr>
              <a:t>/</a:t>
            </a:r>
            <a:r>
              <a:rPr lang="zh-CN" altLang="en-US">
                <a:solidFill>
                  <a:srgbClr val="D60093"/>
                </a:solidFill>
              </a:rPr>
              <a:t>资产合计</a:t>
            </a:r>
            <a:r>
              <a:rPr lang="en-US" altLang="zh-CN">
                <a:solidFill>
                  <a:srgbClr val="D60093"/>
                </a:solidFill>
              </a:rPr>
              <a:t>)*100% </a:t>
            </a:r>
            <a:endParaRPr lang="en-US" altLang="zh-CN">
              <a:solidFill>
                <a:srgbClr val="D60093"/>
              </a:solidFill>
            </a:endParaRPr>
          </a:p>
          <a:p>
            <a:pPr eaLnBrk="1" hangingPunct="1">
              <a:buFontTx/>
              <a:buNone/>
            </a:pPr>
            <a:r>
              <a:rPr lang="en-US" altLang="zh-CN"/>
              <a:t>   0.5-0.8</a:t>
            </a:r>
            <a:r>
              <a:rPr lang="zh-CN" altLang="en-US"/>
              <a:t>合适 </a:t>
            </a:r>
            <a:endParaRPr lang="zh-CN" altLang="en-US"/>
          </a:p>
          <a:p>
            <a:pPr eaLnBrk="1" hangingPunct="1"/>
            <a:r>
              <a:rPr lang="zh-CN" altLang="en-US"/>
              <a:t>流动比率是反映项目各年偿付流动负债能力的指标</a:t>
            </a:r>
            <a:r>
              <a:rPr lang="en-US" altLang="zh-CN"/>
              <a:t>,</a:t>
            </a:r>
            <a:r>
              <a:rPr lang="zh-CN" altLang="en-US"/>
              <a:t>衡量短期债务到期前变现偿还流动负债能力</a:t>
            </a:r>
            <a:endParaRPr lang="zh-CN" altLang="en-US"/>
          </a:p>
          <a:p>
            <a:pPr eaLnBrk="1" hangingPunct="1"/>
            <a:r>
              <a:rPr lang="zh-CN" altLang="en-US">
                <a:solidFill>
                  <a:srgbClr val="D60093"/>
                </a:solidFill>
              </a:rPr>
              <a:t>流动比率</a:t>
            </a:r>
            <a:r>
              <a:rPr lang="en-US" altLang="zh-CN">
                <a:solidFill>
                  <a:srgbClr val="D60093"/>
                </a:solidFill>
              </a:rPr>
              <a:t>=(</a:t>
            </a:r>
            <a:r>
              <a:rPr lang="zh-CN" altLang="en-US">
                <a:solidFill>
                  <a:srgbClr val="D60093"/>
                </a:solidFill>
              </a:rPr>
              <a:t>流动资产总额</a:t>
            </a:r>
            <a:r>
              <a:rPr lang="en-US" altLang="zh-CN">
                <a:solidFill>
                  <a:srgbClr val="D60093"/>
                </a:solidFill>
              </a:rPr>
              <a:t>/</a:t>
            </a:r>
            <a:r>
              <a:rPr lang="zh-CN" altLang="en-US">
                <a:solidFill>
                  <a:srgbClr val="D60093"/>
                </a:solidFill>
              </a:rPr>
              <a:t>流动负债总额</a:t>
            </a:r>
            <a:r>
              <a:rPr lang="en-US" altLang="zh-CN">
                <a:solidFill>
                  <a:srgbClr val="D60093"/>
                </a:solidFill>
              </a:rPr>
              <a:t>)*100%</a:t>
            </a:r>
            <a:endParaRPr lang="en-US" altLang="zh-CN">
              <a:solidFill>
                <a:srgbClr val="D60093"/>
              </a:solidFill>
            </a:endParaRPr>
          </a:p>
          <a:p>
            <a:pPr eaLnBrk="1" hangingPunct="1">
              <a:buFontTx/>
              <a:buNone/>
            </a:pPr>
            <a:r>
              <a:rPr lang="en-US" altLang="zh-CN"/>
              <a:t>   1.2-2.0</a:t>
            </a:r>
            <a:r>
              <a:rPr lang="zh-CN" altLang="en-US"/>
              <a:t>合适</a:t>
            </a:r>
            <a:endParaRPr lang="zh-CN" altLang="en-US"/>
          </a:p>
          <a:p>
            <a:pPr eaLnBrk="1" hangingPunct="1"/>
            <a:r>
              <a:rPr lang="zh-CN" altLang="en-US">
                <a:solidFill>
                  <a:srgbClr val="D60093"/>
                </a:solidFill>
              </a:rPr>
              <a:t>速动比率</a:t>
            </a:r>
            <a:endParaRPr lang="zh-CN" altLang="en-US">
              <a:solidFill>
                <a:srgbClr val="D60093"/>
              </a:solidFill>
            </a:endParaRPr>
          </a:p>
          <a:p>
            <a:pPr eaLnBrk="1" hangingPunct="1">
              <a:buFontTx/>
              <a:buNone/>
            </a:pPr>
            <a:r>
              <a:rPr lang="en-US" altLang="zh-CN">
                <a:solidFill>
                  <a:srgbClr val="D60093"/>
                </a:solidFill>
              </a:rPr>
              <a:t>   =((</a:t>
            </a:r>
            <a:r>
              <a:rPr lang="zh-CN" altLang="en-US">
                <a:solidFill>
                  <a:srgbClr val="D60093"/>
                </a:solidFill>
              </a:rPr>
              <a:t>流动资产总额</a:t>
            </a:r>
            <a:r>
              <a:rPr lang="en-US" altLang="zh-CN">
                <a:solidFill>
                  <a:srgbClr val="D60093"/>
                </a:solidFill>
              </a:rPr>
              <a:t>-</a:t>
            </a:r>
            <a:r>
              <a:rPr lang="zh-CN" altLang="en-US">
                <a:solidFill>
                  <a:srgbClr val="D60093"/>
                </a:solidFill>
              </a:rPr>
              <a:t>存货</a:t>
            </a:r>
            <a:r>
              <a:rPr lang="en-US" altLang="zh-CN">
                <a:solidFill>
                  <a:srgbClr val="D60093"/>
                </a:solidFill>
              </a:rPr>
              <a:t>)/</a:t>
            </a:r>
            <a:r>
              <a:rPr lang="zh-CN" altLang="en-US">
                <a:solidFill>
                  <a:srgbClr val="D60093"/>
                </a:solidFill>
              </a:rPr>
              <a:t>流动负债总额</a:t>
            </a:r>
            <a:r>
              <a:rPr lang="en-US" altLang="zh-CN">
                <a:solidFill>
                  <a:srgbClr val="D60093"/>
                </a:solidFill>
              </a:rPr>
              <a:t>)*100%</a:t>
            </a:r>
            <a:endParaRPr lang="en-US" altLang="zh-CN">
              <a:solidFill>
                <a:srgbClr val="D60093"/>
              </a:solidFill>
            </a:endParaRPr>
          </a:p>
          <a:p>
            <a:pPr eaLnBrk="1" hangingPunct="1">
              <a:buFontTx/>
              <a:buNone/>
            </a:pPr>
            <a:r>
              <a:rPr lang="en-US" altLang="zh-CN"/>
              <a:t>  1.0-1.2</a:t>
            </a:r>
            <a:r>
              <a:rPr lang="zh-CN" altLang="en-US"/>
              <a:t>合适</a:t>
            </a:r>
            <a:endParaRPr lang="zh-CN" altLang="en-US"/>
          </a:p>
          <a:p>
            <a:pPr eaLnBrk="1" hangingPunct="1">
              <a:buFontTx/>
              <a:buNone/>
            </a:pPr>
            <a:r>
              <a:rPr lang="zh-CN" altLang="en-US"/>
              <a:t>  速动资产</a:t>
            </a:r>
            <a:r>
              <a:rPr lang="en-US" altLang="zh-CN"/>
              <a:t>: </a:t>
            </a:r>
            <a:r>
              <a:rPr lang="zh-CN" altLang="en-US"/>
              <a:t>现金</a:t>
            </a:r>
            <a:r>
              <a:rPr lang="en-US" altLang="zh-CN"/>
              <a:t>,</a:t>
            </a:r>
            <a:r>
              <a:rPr lang="zh-CN" altLang="en-US"/>
              <a:t>有价证券</a:t>
            </a:r>
            <a:r>
              <a:rPr lang="en-US" altLang="zh-CN"/>
              <a:t>,</a:t>
            </a:r>
            <a:r>
              <a:rPr lang="zh-CN" altLang="en-US"/>
              <a:t>应收帐款等</a:t>
            </a:r>
            <a:endParaRPr lang="zh-CN" altLang="en-US"/>
          </a:p>
          <a:p>
            <a:pPr eaLnBrk="1" hangingPunct="1"/>
            <a:endParaRPr lang="en-US" altLang="zh-C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sz="3200"/>
              <a:t>例子</a:t>
            </a:r>
            <a:endParaRPr lang="zh-CN" altLang="en-US" sz="3200"/>
          </a:p>
        </p:txBody>
      </p:sp>
      <p:sp>
        <p:nvSpPr>
          <p:cNvPr id="31747" name="Rectangle 3"/>
          <p:cNvSpPr>
            <a:spLocks noGrp="1" noChangeArrowheads="1"/>
          </p:cNvSpPr>
          <p:nvPr>
            <p:ph type="body" idx="1"/>
          </p:nvPr>
        </p:nvSpPr>
        <p:spPr/>
        <p:txBody>
          <a:bodyPr/>
          <a:lstStyle/>
          <a:p>
            <a:pPr eaLnBrk="1" hangingPunct="1"/>
            <a:r>
              <a:rPr lang="zh-CN" altLang="en-US"/>
              <a:t>某项目某一年度总资产</a:t>
            </a:r>
            <a:r>
              <a:rPr lang="en-US" altLang="zh-CN"/>
              <a:t>50 000</a:t>
            </a:r>
            <a:r>
              <a:rPr lang="zh-CN" altLang="en-US"/>
              <a:t>万</a:t>
            </a:r>
            <a:r>
              <a:rPr lang="en-US" altLang="zh-CN"/>
              <a:t>, </a:t>
            </a:r>
            <a:r>
              <a:rPr lang="zh-CN" altLang="en-US"/>
              <a:t>短期借款</a:t>
            </a:r>
            <a:r>
              <a:rPr lang="en-US" altLang="zh-CN"/>
              <a:t>2500</a:t>
            </a:r>
            <a:r>
              <a:rPr lang="zh-CN" altLang="en-US"/>
              <a:t>万</a:t>
            </a:r>
            <a:r>
              <a:rPr lang="en-US" altLang="zh-CN"/>
              <a:t>,</a:t>
            </a:r>
            <a:r>
              <a:rPr lang="zh-CN" altLang="en-US"/>
              <a:t>长期借款</a:t>
            </a:r>
            <a:r>
              <a:rPr lang="en-US" altLang="zh-CN"/>
              <a:t>32000</a:t>
            </a:r>
            <a:r>
              <a:rPr lang="zh-CN" altLang="en-US"/>
              <a:t>万</a:t>
            </a:r>
            <a:r>
              <a:rPr lang="en-US" altLang="zh-CN"/>
              <a:t>,</a:t>
            </a:r>
            <a:r>
              <a:rPr lang="zh-CN" altLang="en-US"/>
              <a:t>应收帐款</a:t>
            </a:r>
            <a:r>
              <a:rPr lang="en-US" altLang="zh-CN"/>
              <a:t>1200</a:t>
            </a:r>
            <a:r>
              <a:rPr lang="zh-CN" altLang="en-US"/>
              <a:t>万</a:t>
            </a:r>
            <a:r>
              <a:rPr lang="en-US" altLang="zh-CN"/>
              <a:t>, </a:t>
            </a:r>
            <a:r>
              <a:rPr lang="zh-CN" altLang="en-US"/>
              <a:t>存货</a:t>
            </a:r>
            <a:r>
              <a:rPr lang="en-US" altLang="zh-CN"/>
              <a:t>5200</a:t>
            </a:r>
            <a:r>
              <a:rPr lang="zh-CN" altLang="en-US"/>
              <a:t>万</a:t>
            </a:r>
            <a:r>
              <a:rPr lang="en-US" altLang="zh-CN"/>
              <a:t>, </a:t>
            </a:r>
            <a:r>
              <a:rPr lang="zh-CN" altLang="en-US"/>
              <a:t>现金</a:t>
            </a:r>
            <a:r>
              <a:rPr lang="en-US" altLang="zh-CN"/>
              <a:t>1000</a:t>
            </a:r>
            <a:r>
              <a:rPr lang="zh-CN" altLang="en-US"/>
              <a:t>万</a:t>
            </a:r>
            <a:r>
              <a:rPr lang="en-US" altLang="zh-CN"/>
              <a:t>, </a:t>
            </a:r>
            <a:r>
              <a:rPr lang="zh-CN" altLang="en-US"/>
              <a:t>累计盈余资金为</a:t>
            </a:r>
            <a:r>
              <a:rPr lang="en-US" altLang="zh-CN"/>
              <a:t>500</a:t>
            </a:r>
            <a:r>
              <a:rPr lang="zh-CN" altLang="en-US"/>
              <a:t>万</a:t>
            </a:r>
            <a:r>
              <a:rPr lang="en-US" altLang="zh-CN"/>
              <a:t>,</a:t>
            </a:r>
            <a:r>
              <a:rPr lang="zh-CN" altLang="en-US"/>
              <a:t>应付帐款</a:t>
            </a:r>
            <a:r>
              <a:rPr lang="en-US" altLang="zh-CN"/>
              <a:t>1500</a:t>
            </a:r>
            <a:r>
              <a:rPr lang="zh-CN" altLang="en-US"/>
              <a:t>万</a:t>
            </a:r>
            <a:r>
              <a:rPr lang="en-US" altLang="zh-CN"/>
              <a:t>, </a:t>
            </a:r>
            <a:r>
              <a:rPr lang="zh-CN" altLang="en-US"/>
              <a:t>求偿债能力指标</a:t>
            </a:r>
            <a:r>
              <a:rPr lang="en-US" altLang="zh-CN"/>
              <a:t>?</a:t>
            </a:r>
            <a:endParaRPr lang="en-US" altLang="zh-C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a:t>结果</a:t>
            </a:r>
            <a:r>
              <a:rPr lang="en-US" altLang="zh-CN"/>
              <a:t>:</a:t>
            </a:r>
            <a:endParaRPr lang="en-US" altLang="zh-CN"/>
          </a:p>
        </p:txBody>
      </p:sp>
      <p:sp>
        <p:nvSpPr>
          <p:cNvPr id="32771" name="Rectangle 3"/>
          <p:cNvSpPr>
            <a:spLocks noGrp="1" noChangeArrowheads="1"/>
          </p:cNvSpPr>
          <p:nvPr>
            <p:ph type="body" idx="1"/>
          </p:nvPr>
        </p:nvSpPr>
        <p:spPr/>
        <p:txBody>
          <a:bodyPr/>
          <a:lstStyle/>
          <a:p>
            <a:pPr eaLnBrk="1" hangingPunct="1">
              <a:buFontTx/>
              <a:buNone/>
            </a:pPr>
            <a:r>
              <a:rPr lang="zh-CN" altLang="en-US">
                <a:solidFill>
                  <a:srgbClr val="800000"/>
                </a:solidFill>
              </a:rPr>
              <a:t>资产负债率</a:t>
            </a:r>
            <a:r>
              <a:rPr lang="en-US" altLang="zh-CN"/>
              <a:t>=(32000+2500+1500)/50000= 72%</a:t>
            </a:r>
            <a:endParaRPr lang="en-US" altLang="zh-CN"/>
          </a:p>
          <a:p>
            <a:pPr eaLnBrk="1" hangingPunct="1"/>
            <a:endParaRPr lang="en-US" altLang="zh-CN">
              <a:solidFill>
                <a:srgbClr val="D60093"/>
              </a:solidFill>
            </a:endParaRPr>
          </a:p>
          <a:p>
            <a:pPr eaLnBrk="1" hangingPunct="1">
              <a:buFontTx/>
              <a:buNone/>
            </a:pPr>
            <a:r>
              <a:rPr lang="zh-CN" altLang="en-US">
                <a:solidFill>
                  <a:srgbClr val="800000"/>
                </a:solidFill>
              </a:rPr>
              <a:t>流动比率</a:t>
            </a:r>
            <a:r>
              <a:rPr lang="en-US" altLang="zh-CN"/>
              <a:t>=(</a:t>
            </a:r>
            <a:r>
              <a:rPr lang="zh-CN" altLang="en-US"/>
              <a:t>应收帐款</a:t>
            </a:r>
            <a:r>
              <a:rPr lang="en-US" altLang="zh-CN"/>
              <a:t>+</a:t>
            </a:r>
            <a:r>
              <a:rPr lang="zh-CN" altLang="en-US"/>
              <a:t>存货</a:t>
            </a:r>
            <a:r>
              <a:rPr lang="en-US" altLang="zh-CN"/>
              <a:t>+</a:t>
            </a:r>
            <a:r>
              <a:rPr lang="zh-CN" altLang="en-US"/>
              <a:t>现金</a:t>
            </a:r>
            <a:r>
              <a:rPr lang="en-US" altLang="zh-CN"/>
              <a:t>+</a:t>
            </a:r>
            <a:r>
              <a:rPr lang="zh-CN" altLang="en-US"/>
              <a:t>累计盈余资金</a:t>
            </a:r>
            <a:r>
              <a:rPr lang="en-US" altLang="zh-CN"/>
              <a:t>)/(</a:t>
            </a:r>
            <a:r>
              <a:rPr lang="zh-CN" altLang="en-US"/>
              <a:t>短期借款</a:t>
            </a:r>
            <a:r>
              <a:rPr lang="en-US" altLang="zh-CN"/>
              <a:t>+</a:t>
            </a:r>
            <a:r>
              <a:rPr lang="zh-CN" altLang="en-US"/>
              <a:t>应付帐款</a:t>
            </a:r>
            <a:r>
              <a:rPr lang="en-US" altLang="zh-CN"/>
              <a:t>)=</a:t>
            </a:r>
            <a:endParaRPr lang="en-US" altLang="zh-CN"/>
          </a:p>
          <a:p>
            <a:pPr eaLnBrk="1" hangingPunct="1">
              <a:buFontTx/>
              <a:buNone/>
            </a:pPr>
            <a:r>
              <a:rPr lang="en-US" altLang="zh-CN"/>
              <a:t>   (1200+5200+1000+500)/(2500+1500)=197.5%</a:t>
            </a:r>
            <a:endParaRPr lang="en-US" altLang="zh-CN"/>
          </a:p>
          <a:p>
            <a:pPr eaLnBrk="1" hangingPunct="1">
              <a:buFontTx/>
              <a:buNone/>
            </a:pPr>
            <a:endParaRPr lang="en-US" altLang="zh-CN"/>
          </a:p>
          <a:p>
            <a:pPr eaLnBrk="1" hangingPunct="1">
              <a:buFontTx/>
              <a:buNone/>
            </a:pPr>
            <a:r>
              <a:rPr lang="zh-CN" altLang="en-US">
                <a:solidFill>
                  <a:srgbClr val="800000"/>
                </a:solidFill>
              </a:rPr>
              <a:t>速动比率</a:t>
            </a:r>
            <a:r>
              <a:rPr lang="en-US" altLang="zh-CN"/>
              <a:t>=(1200+1000+500)/(2500+1500)=67.5%</a:t>
            </a:r>
            <a:endParaRPr lang="en-US" altLang="zh-CN"/>
          </a:p>
          <a:p>
            <a:pPr eaLnBrk="1" hangingPunct="1">
              <a:buFontTx/>
              <a:buNone/>
            </a:pPr>
            <a:endParaRPr lang="en-US" altLang="zh-CN"/>
          </a:p>
          <a:p>
            <a:pPr eaLnBrk="1" hangingPunct="1">
              <a:buFontTx/>
              <a:buNone/>
            </a:pPr>
            <a:endParaRPr lang="en-US" altLang="zh-CN"/>
          </a:p>
          <a:p>
            <a:pPr eaLnBrk="1" hangingPunct="1">
              <a:buFontTx/>
              <a:buNone/>
            </a:pPr>
            <a:endParaRPr lang="en-US" altLang="zh-CN">
              <a:solidFill>
                <a:srgbClr val="D60093"/>
              </a:solidFill>
            </a:endParaRPr>
          </a:p>
          <a:p>
            <a:pPr eaLnBrk="1" hangingPunct="1"/>
            <a:endParaRPr lang="en-US" altLang="zh-CN">
              <a:solidFill>
                <a:srgbClr val="D60093"/>
              </a:solidFill>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sz="3200"/>
              <a:t>练习</a:t>
            </a:r>
            <a:endParaRPr lang="zh-CN" altLang="en-US" sz="3200"/>
          </a:p>
        </p:txBody>
      </p:sp>
      <p:sp>
        <p:nvSpPr>
          <p:cNvPr id="33795" name="Rectangle 3"/>
          <p:cNvSpPr>
            <a:spLocks noGrp="1" noChangeArrowheads="1"/>
          </p:cNvSpPr>
          <p:nvPr>
            <p:ph type="body" idx="1"/>
          </p:nvPr>
        </p:nvSpPr>
        <p:spPr/>
        <p:txBody>
          <a:bodyPr/>
          <a:lstStyle/>
          <a:p>
            <a:pPr eaLnBrk="1" hangingPunct="1"/>
            <a:r>
              <a:rPr lang="zh-CN" altLang="en-US"/>
              <a:t>项目现有资产总计</a:t>
            </a:r>
            <a:r>
              <a:rPr lang="en-US" altLang="zh-CN"/>
              <a:t>51736</a:t>
            </a:r>
            <a:r>
              <a:rPr lang="zh-CN" altLang="en-US"/>
              <a:t>万元，其中流动资产总额</a:t>
            </a:r>
            <a:r>
              <a:rPr lang="en-US" altLang="zh-CN"/>
              <a:t>5997</a:t>
            </a:r>
            <a:r>
              <a:rPr lang="zh-CN" altLang="en-US"/>
              <a:t>万元，流动负债总额</a:t>
            </a:r>
            <a:r>
              <a:rPr lang="en-US" altLang="zh-CN"/>
              <a:t>3872</a:t>
            </a:r>
            <a:r>
              <a:rPr lang="zh-CN" altLang="en-US"/>
              <a:t>万元，长期借款为</a:t>
            </a:r>
            <a:r>
              <a:rPr lang="en-US" altLang="zh-CN"/>
              <a:t>31484</a:t>
            </a:r>
            <a:r>
              <a:rPr lang="zh-CN" altLang="en-US"/>
              <a:t>万元，另外流动资产中存货为</a:t>
            </a:r>
            <a:r>
              <a:rPr lang="en-US" altLang="zh-CN"/>
              <a:t>4769</a:t>
            </a:r>
            <a:r>
              <a:rPr lang="zh-CN" altLang="en-US"/>
              <a:t>万元，试计算资产负债率，流动比率和速动比率。</a:t>
            </a:r>
            <a:endParaRPr lang="zh-CN" altLang="en-US"/>
          </a:p>
          <a:p>
            <a:pPr eaLnBrk="1" hangingPunct="1"/>
            <a:endParaRPr lang="zh-CN" alt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z="3200"/>
              <a:t>结果</a:t>
            </a:r>
            <a:r>
              <a:rPr lang="en-US" altLang="zh-CN" sz="3200"/>
              <a:t>:</a:t>
            </a:r>
            <a:endParaRPr lang="en-US" altLang="zh-CN" sz="3200"/>
          </a:p>
        </p:txBody>
      </p:sp>
      <p:sp>
        <p:nvSpPr>
          <p:cNvPr id="34819" name="Rectangle 3"/>
          <p:cNvSpPr>
            <a:spLocks noGrp="1" noChangeArrowheads="1"/>
          </p:cNvSpPr>
          <p:nvPr>
            <p:ph type="body" idx="1"/>
          </p:nvPr>
        </p:nvSpPr>
        <p:spPr/>
        <p:txBody>
          <a:bodyPr/>
          <a:lstStyle/>
          <a:p>
            <a:pPr eaLnBrk="1" hangingPunct="1">
              <a:buFontTx/>
              <a:buNone/>
            </a:pPr>
            <a:r>
              <a:rPr lang="zh-CN" altLang="en-US">
                <a:solidFill>
                  <a:srgbClr val="800000"/>
                </a:solidFill>
              </a:rPr>
              <a:t>资产负债率</a:t>
            </a:r>
            <a:r>
              <a:rPr lang="en-US" altLang="zh-CN"/>
              <a:t>=(3872+31484)/51736= 68.94%</a:t>
            </a:r>
            <a:endParaRPr lang="en-US" altLang="zh-CN"/>
          </a:p>
          <a:p>
            <a:pPr eaLnBrk="1" hangingPunct="1"/>
            <a:endParaRPr lang="en-US" altLang="zh-CN">
              <a:solidFill>
                <a:srgbClr val="D60093"/>
              </a:solidFill>
            </a:endParaRPr>
          </a:p>
          <a:p>
            <a:pPr eaLnBrk="1" hangingPunct="1">
              <a:buFontTx/>
              <a:buNone/>
            </a:pPr>
            <a:r>
              <a:rPr lang="zh-CN" altLang="en-US">
                <a:solidFill>
                  <a:srgbClr val="800000"/>
                </a:solidFill>
              </a:rPr>
              <a:t>流动比率</a:t>
            </a:r>
            <a:r>
              <a:rPr lang="zh-CN" altLang="en-US">
                <a:solidFill>
                  <a:schemeClr val="bg2"/>
                </a:solidFill>
              </a:rPr>
              <a:t> </a:t>
            </a:r>
            <a:r>
              <a:rPr lang="en-US" altLang="zh-CN"/>
              <a:t>5997/3872=154.88%</a:t>
            </a:r>
            <a:endParaRPr lang="en-US" altLang="zh-CN"/>
          </a:p>
          <a:p>
            <a:pPr eaLnBrk="1" hangingPunct="1">
              <a:buFontTx/>
              <a:buNone/>
            </a:pPr>
            <a:endParaRPr lang="en-US" altLang="zh-CN"/>
          </a:p>
          <a:p>
            <a:pPr eaLnBrk="1" hangingPunct="1">
              <a:buFontTx/>
              <a:buNone/>
            </a:pPr>
            <a:r>
              <a:rPr lang="zh-CN" altLang="en-US">
                <a:solidFill>
                  <a:srgbClr val="800000"/>
                </a:solidFill>
              </a:rPr>
              <a:t>速动比率</a:t>
            </a:r>
            <a:r>
              <a:rPr lang="en-US" altLang="zh-CN"/>
              <a:t>=(5997- 4769)/3872=31.71%</a:t>
            </a:r>
            <a:endParaRPr lang="en-US" altLang="zh-CN"/>
          </a:p>
          <a:p>
            <a:pPr eaLnBrk="1" hangingPunct="1"/>
            <a:endParaRPr lang="zh-CN" altLang="en-US"/>
          </a:p>
          <a:p>
            <a:pPr eaLnBrk="1" hangingPunct="1"/>
            <a:endParaRPr lang="zh-CN"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zh-CN" altLang="en-US" sz="3200"/>
              <a:t>案例</a:t>
            </a:r>
            <a:r>
              <a:rPr lang="en-US" altLang="zh-CN" sz="3200"/>
              <a:t>:</a:t>
            </a:r>
            <a:r>
              <a:rPr lang="zh-CN" altLang="en-US" sz="3200"/>
              <a:t>评标分析</a:t>
            </a:r>
            <a:r>
              <a:rPr lang="en-US" altLang="zh-CN" sz="3200"/>
              <a:t>(</a:t>
            </a:r>
            <a:r>
              <a:rPr lang="zh-CN" altLang="en-US" sz="3200"/>
              <a:t>财务状况</a:t>
            </a:r>
            <a:r>
              <a:rPr lang="en-US" altLang="zh-CN" sz="3200"/>
              <a:t>)</a:t>
            </a:r>
            <a:endParaRPr lang="en-US" altLang="zh-CN" sz="3200"/>
          </a:p>
        </p:txBody>
      </p:sp>
      <p:sp>
        <p:nvSpPr>
          <p:cNvPr id="35843" name="Rectangle 3"/>
          <p:cNvSpPr>
            <a:spLocks noGrp="1" noChangeArrowheads="1"/>
          </p:cNvSpPr>
          <p:nvPr>
            <p:ph type="body" idx="1"/>
          </p:nvPr>
        </p:nvSpPr>
        <p:spPr/>
        <p:txBody>
          <a:bodyPr/>
          <a:lstStyle/>
          <a:p>
            <a:pPr eaLnBrk="1" hangingPunct="1">
              <a:buFontTx/>
              <a:buNone/>
            </a:pPr>
            <a:r>
              <a:rPr lang="en-US" altLang="zh-CN" sz="2800">
                <a:solidFill>
                  <a:srgbClr val="800000"/>
                </a:solidFill>
              </a:rPr>
              <a:t>G</a:t>
            </a:r>
            <a:r>
              <a:rPr lang="zh-CN" altLang="en-US" sz="2800">
                <a:solidFill>
                  <a:srgbClr val="800000"/>
                </a:solidFill>
              </a:rPr>
              <a:t>集团</a:t>
            </a:r>
            <a:r>
              <a:rPr lang="en-US" altLang="zh-CN" sz="2800">
                <a:solidFill>
                  <a:srgbClr val="800000"/>
                </a:solidFill>
              </a:rPr>
              <a:t>:</a:t>
            </a:r>
            <a:r>
              <a:rPr lang="zh-CN" altLang="en-US" sz="2800">
                <a:solidFill>
                  <a:srgbClr val="800000"/>
                </a:solidFill>
              </a:rPr>
              <a:t>资产负债率</a:t>
            </a:r>
            <a:r>
              <a:rPr lang="en-US" altLang="zh-CN" sz="2800">
                <a:solidFill>
                  <a:srgbClr val="800000"/>
                </a:solidFill>
              </a:rPr>
              <a:t>31.89%,</a:t>
            </a:r>
            <a:r>
              <a:rPr lang="zh-CN" altLang="en-US" sz="2800">
                <a:solidFill>
                  <a:srgbClr val="800000"/>
                </a:solidFill>
              </a:rPr>
              <a:t>流动比率</a:t>
            </a:r>
            <a:r>
              <a:rPr lang="en-US" altLang="zh-CN" sz="2800">
                <a:solidFill>
                  <a:srgbClr val="800000"/>
                </a:solidFill>
              </a:rPr>
              <a:t>1.67,</a:t>
            </a:r>
            <a:r>
              <a:rPr lang="zh-CN" altLang="en-US" sz="2800">
                <a:solidFill>
                  <a:srgbClr val="800000"/>
                </a:solidFill>
              </a:rPr>
              <a:t>速动比率</a:t>
            </a:r>
            <a:r>
              <a:rPr lang="en-US" altLang="zh-CN" sz="2800">
                <a:solidFill>
                  <a:srgbClr val="800000"/>
                </a:solidFill>
              </a:rPr>
              <a:t>1.25</a:t>
            </a:r>
            <a:endParaRPr lang="en-US" altLang="zh-CN" sz="2800">
              <a:solidFill>
                <a:srgbClr val="800000"/>
              </a:solidFill>
            </a:endParaRPr>
          </a:p>
          <a:p>
            <a:pPr eaLnBrk="1" hangingPunct="1"/>
            <a:r>
              <a:rPr lang="zh-CN" altLang="en-US" sz="2800"/>
              <a:t>赢利能力较强</a:t>
            </a:r>
            <a:endParaRPr lang="zh-CN" altLang="en-US" sz="2800"/>
          </a:p>
          <a:p>
            <a:pPr eaLnBrk="1" hangingPunct="1"/>
            <a:r>
              <a:rPr lang="zh-CN" altLang="en-US" sz="2800"/>
              <a:t>速比与流比相近</a:t>
            </a:r>
            <a:r>
              <a:rPr lang="en-US" altLang="zh-CN" sz="2800"/>
              <a:t>,</a:t>
            </a:r>
            <a:r>
              <a:rPr lang="zh-CN" altLang="en-US" sz="2800"/>
              <a:t>说明企业存货很少</a:t>
            </a:r>
            <a:r>
              <a:rPr lang="en-US" altLang="zh-CN" sz="2800"/>
              <a:t>,</a:t>
            </a:r>
            <a:r>
              <a:rPr lang="zh-CN" altLang="en-US" sz="2800"/>
              <a:t>资产的流动性较好</a:t>
            </a:r>
            <a:r>
              <a:rPr lang="en-US" altLang="zh-CN" sz="2800"/>
              <a:t>,</a:t>
            </a:r>
            <a:r>
              <a:rPr lang="zh-CN" altLang="en-US" sz="2800"/>
              <a:t>短期偿债能力强</a:t>
            </a:r>
            <a:endParaRPr lang="zh-CN" altLang="en-US" sz="2800"/>
          </a:p>
          <a:p>
            <a:pPr eaLnBrk="1" hangingPunct="1"/>
            <a:r>
              <a:rPr lang="zh-CN" altLang="en-US" sz="2800"/>
              <a:t>资产负债率低</a:t>
            </a:r>
            <a:r>
              <a:rPr lang="en-US" altLang="zh-CN" sz="2800"/>
              <a:t>, </a:t>
            </a:r>
            <a:r>
              <a:rPr lang="zh-CN" altLang="en-US" sz="2800"/>
              <a:t>企业长期偿债能力强</a:t>
            </a:r>
            <a:r>
              <a:rPr lang="en-US" altLang="zh-CN" sz="2800"/>
              <a:t>,</a:t>
            </a:r>
            <a:r>
              <a:rPr lang="zh-CN" altLang="en-US" sz="2800"/>
              <a:t>财务风险小</a:t>
            </a:r>
            <a:r>
              <a:rPr lang="en-US" altLang="zh-CN" sz="2800"/>
              <a:t>,</a:t>
            </a:r>
            <a:r>
              <a:rPr lang="zh-CN" altLang="en-US" sz="2800"/>
              <a:t>且经营稳定</a:t>
            </a:r>
            <a:endParaRPr lang="zh-CN" altLang="en-US" sz="2800"/>
          </a:p>
          <a:p>
            <a:pPr eaLnBrk="1" hangingPunct="1"/>
            <a:endParaRPr lang="zh-CN" altLang="en-US" sz="2800"/>
          </a:p>
          <a:p>
            <a:pPr eaLnBrk="1" hangingPunct="1">
              <a:buFontTx/>
              <a:buNone/>
            </a:pPr>
            <a:r>
              <a:rPr lang="en-US" altLang="zh-CN" sz="2800">
                <a:solidFill>
                  <a:srgbClr val="800000"/>
                </a:solidFill>
              </a:rPr>
              <a:t>H</a:t>
            </a:r>
            <a:r>
              <a:rPr lang="zh-CN" altLang="en-US" sz="2800">
                <a:solidFill>
                  <a:srgbClr val="800000"/>
                </a:solidFill>
              </a:rPr>
              <a:t>集团</a:t>
            </a:r>
            <a:r>
              <a:rPr lang="en-US" altLang="zh-CN" sz="2800">
                <a:solidFill>
                  <a:srgbClr val="800000"/>
                </a:solidFill>
              </a:rPr>
              <a:t>:</a:t>
            </a:r>
            <a:r>
              <a:rPr lang="zh-CN" altLang="en-US" sz="2800">
                <a:solidFill>
                  <a:srgbClr val="800000"/>
                </a:solidFill>
              </a:rPr>
              <a:t>资产负债率</a:t>
            </a:r>
            <a:r>
              <a:rPr lang="en-US" altLang="zh-CN" sz="2800">
                <a:solidFill>
                  <a:srgbClr val="800000"/>
                </a:solidFill>
              </a:rPr>
              <a:t>82.01%,</a:t>
            </a:r>
            <a:r>
              <a:rPr lang="zh-CN" altLang="en-US" sz="2800">
                <a:solidFill>
                  <a:srgbClr val="800000"/>
                </a:solidFill>
              </a:rPr>
              <a:t>流动比率</a:t>
            </a:r>
            <a:r>
              <a:rPr lang="en-US" altLang="zh-CN" sz="2800">
                <a:solidFill>
                  <a:srgbClr val="800000"/>
                </a:solidFill>
              </a:rPr>
              <a:t>1.08,</a:t>
            </a:r>
            <a:r>
              <a:rPr lang="zh-CN" altLang="en-US" sz="2800">
                <a:solidFill>
                  <a:srgbClr val="800000"/>
                </a:solidFill>
              </a:rPr>
              <a:t>速动比率</a:t>
            </a:r>
            <a:r>
              <a:rPr lang="en-US" altLang="zh-CN" sz="2800">
                <a:solidFill>
                  <a:srgbClr val="800000"/>
                </a:solidFill>
              </a:rPr>
              <a:t>0.33</a:t>
            </a:r>
            <a:endParaRPr lang="en-US" altLang="zh-CN" sz="2800">
              <a:solidFill>
                <a:srgbClr val="800000"/>
              </a:solidFill>
            </a:endParaRPr>
          </a:p>
          <a:p>
            <a:pPr eaLnBrk="1" hangingPunct="1"/>
            <a:r>
              <a:rPr lang="zh-CN" altLang="en-US" sz="2800"/>
              <a:t>赢利能力较弱</a:t>
            </a:r>
            <a:endParaRPr lang="zh-CN" altLang="en-US" sz="2800"/>
          </a:p>
          <a:p>
            <a:pPr eaLnBrk="1" hangingPunct="1"/>
            <a:r>
              <a:rPr lang="zh-CN" altLang="en-US" sz="2800"/>
              <a:t>速比与流比均低</a:t>
            </a:r>
            <a:r>
              <a:rPr lang="en-US" altLang="zh-CN" sz="2800"/>
              <a:t>,</a:t>
            </a:r>
            <a:r>
              <a:rPr lang="zh-CN" altLang="en-US" sz="2800"/>
              <a:t>短期偿债能力很弱</a:t>
            </a:r>
            <a:endParaRPr lang="zh-CN" altLang="en-US" sz="2800"/>
          </a:p>
          <a:p>
            <a:pPr eaLnBrk="1" hangingPunct="1"/>
            <a:r>
              <a:rPr lang="zh-CN" altLang="en-US" sz="2800"/>
              <a:t>资产负债率高</a:t>
            </a:r>
            <a:r>
              <a:rPr lang="en-US" altLang="zh-CN" sz="2800"/>
              <a:t>, </a:t>
            </a:r>
            <a:r>
              <a:rPr lang="zh-CN" altLang="en-US" sz="2800"/>
              <a:t>企业长期偿债能力很弱</a:t>
            </a:r>
            <a:r>
              <a:rPr lang="en-US" altLang="zh-CN" sz="2800"/>
              <a:t>,</a:t>
            </a:r>
            <a:r>
              <a:rPr lang="zh-CN" altLang="en-US" sz="2800"/>
              <a:t>财务风险很大</a:t>
            </a:r>
            <a:endParaRPr lang="en-US" altLang="zh-CN" sz="2800">
              <a:solidFill>
                <a:srgbClr val="800000"/>
              </a:solidFill>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z="3200"/>
              <a:t>案例</a:t>
            </a:r>
            <a:r>
              <a:rPr lang="en-US" altLang="zh-CN" sz="3200"/>
              <a:t>: </a:t>
            </a:r>
            <a:r>
              <a:rPr lang="zh-CN" altLang="en-US" sz="3200"/>
              <a:t>三峡工程投资分析</a:t>
            </a:r>
            <a:endParaRPr lang="zh-CN" altLang="en-US" sz="3200"/>
          </a:p>
        </p:txBody>
      </p:sp>
      <p:graphicFrame>
        <p:nvGraphicFramePr>
          <p:cNvPr id="36867" name="Object 4"/>
          <p:cNvGraphicFramePr>
            <a:graphicFrameLocks noGrp="1" noChangeAspect="1"/>
          </p:cNvGraphicFramePr>
          <p:nvPr>
            <p:ph idx="1"/>
          </p:nvPr>
        </p:nvGraphicFramePr>
        <p:xfrm>
          <a:off x="252413" y="1027113"/>
          <a:ext cx="8483600" cy="5641975"/>
        </p:xfrm>
        <a:graphic>
          <a:graphicData uri="http://schemas.openxmlformats.org/presentationml/2006/ole">
            <mc:AlternateContent xmlns:mc="http://schemas.openxmlformats.org/markup-compatibility/2006">
              <mc:Choice xmlns:v="urn:schemas-microsoft-com:vml" Requires="v">
                <p:oleObj spid="_x0000_s36874" name="文档" r:id="rId1" imgW="8484235" imgH="5641975" progId="Word.Document.8">
                  <p:embed/>
                </p:oleObj>
              </mc:Choice>
              <mc:Fallback>
                <p:oleObj name="文档" r:id="rId1" imgW="8484235" imgH="5641975"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3" y="1027113"/>
                        <a:ext cx="8483600" cy="5641975"/>
                      </a:xfrm>
                      <a:prstGeom prst="rect">
                        <a:avLst/>
                      </a:prstGeom>
                      <a:noFill/>
                      <a:ln>
                        <a:noFill/>
                      </a:ln>
                      <a:effectLst/>
                    </p:spPr>
                  </p:pic>
                </p:oleObj>
              </mc:Fallback>
            </mc:AlternateContent>
          </a:graphicData>
        </a:graphic>
      </p:graphicFrame>
      <p:sp>
        <p:nvSpPr>
          <p:cNvPr id="36868" name="矩形 3"/>
          <p:cNvSpPr>
            <a:spLocks noChangeArrowheads="1"/>
          </p:cNvSpPr>
          <p:nvPr/>
        </p:nvSpPr>
        <p:spPr bwMode="auto">
          <a:xfrm>
            <a:off x="1106488" y="6076950"/>
            <a:ext cx="7072312" cy="592138"/>
          </a:xfrm>
          <a:prstGeom prst="rect">
            <a:avLst/>
          </a:prstGeom>
          <a:noFill/>
          <a:ln>
            <a:noFill/>
          </a:ln>
        </p:spPr>
        <p:txBody>
          <a:bodyPr>
            <a:spAutoFit/>
          </a:bodyPr>
          <a:lstStyle>
            <a:lvl1pPr>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buFontTx/>
              <a:buNone/>
            </a:pPr>
            <a:r>
              <a:rPr lang="zh-CN" altLang="en-US" sz="3600">
                <a:solidFill>
                  <a:srgbClr val="000066"/>
                </a:solidFill>
                <a:latin typeface="楷体_GB2312" charset="-122"/>
                <a:ea typeface="楷体_GB2312" charset="-122"/>
              </a:rPr>
              <a:t>实际动态总投资</a:t>
            </a:r>
            <a:r>
              <a:rPr lang="en-US" altLang="zh-CN" sz="3600">
                <a:solidFill>
                  <a:srgbClr val="000066"/>
                </a:solidFill>
                <a:latin typeface="楷体_GB2312" charset="-122"/>
                <a:ea typeface="楷体_GB2312" charset="-122"/>
              </a:rPr>
              <a:t>1731</a:t>
            </a:r>
            <a:r>
              <a:rPr lang="zh-CN" altLang="en-US" sz="3600">
                <a:solidFill>
                  <a:srgbClr val="000066"/>
                </a:solidFill>
                <a:latin typeface="楷体_GB2312" charset="-122"/>
                <a:ea typeface="楷体_GB2312" charset="-122"/>
              </a:rPr>
              <a:t>亿元</a:t>
            </a:r>
            <a:endParaRPr lang="zh-CN" altLang="en-US" sz="3600">
              <a:solidFill>
                <a:srgbClr val="0000FF"/>
              </a:solidFill>
              <a:ea typeface="楷体_GB231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kumimoji="1" lang="zh-CN" altLang="en-US" sz="3200">
                <a:solidFill>
                  <a:srgbClr val="800000"/>
                </a:solidFill>
              </a:rPr>
              <a:t>三峡工程筹资方案</a:t>
            </a:r>
            <a:endParaRPr kumimoji="1" lang="zh-CN" altLang="en-US" sz="3200">
              <a:solidFill>
                <a:srgbClr val="800000"/>
              </a:solidFill>
            </a:endParaRPr>
          </a:p>
        </p:txBody>
      </p:sp>
      <p:sp>
        <p:nvSpPr>
          <p:cNvPr id="38915" name="Rectangle 3"/>
          <p:cNvSpPr>
            <a:spLocks noGrp="1" noChangeArrowheads="1"/>
          </p:cNvSpPr>
          <p:nvPr>
            <p:ph type="body" idx="1"/>
          </p:nvPr>
        </p:nvSpPr>
        <p:spPr/>
        <p:txBody>
          <a:bodyPr/>
          <a:lstStyle/>
          <a:p>
            <a:pPr eaLnBrk="1" hangingPunct="1"/>
            <a:r>
              <a:rPr kumimoji="1" lang="zh-CN" altLang="en-US">
                <a:solidFill>
                  <a:srgbClr val="0000FF"/>
                </a:solidFill>
              </a:rPr>
              <a:t>三峡工程建设基金征收约</a:t>
            </a:r>
            <a:r>
              <a:rPr kumimoji="1" lang="en-US" altLang="zh-CN">
                <a:solidFill>
                  <a:srgbClr val="0000FF"/>
                </a:solidFill>
              </a:rPr>
              <a:t>900</a:t>
            </a:r>
            <a:r>
              <a:rPr kumimoji="1" lang="zh-CN" altLang="en-US">
                <a:solidFill>
                  <a:srgbClr val="0000FF"/>
                </a:solidFill>
              </a:rPr>
              <a:t>～</a:t>
            </a:r>
            <a:r>
              <a:rPr kumimoji="1" lang="en-US" altLang="zh-CN">
                <a:solidFill>
                  <a:srgbClr val="0000FF"/>
                </a:solidFill>
              </a:rPr>
              <a:t>1000</a:t>
            </a:r>
            <a:r>
              <a:rPr kumimoji="1" lang="zh-CN" altLang="en-US">
                <a:solidFill>
                  <a:srgbClr val="0000FF"/>
                </a:solidFill>
              </a:rPr>
              <a:t>亿元</a:t>
            </a:r>
            <a:endParaRPr kumimoji="1" lang="zh-CN" altLang="en-US">
              <a:solidFill>
                <a:srgbClr val="0000FF"/>
              </a:solidFill>
            </a:endParaRPr>
          </a:p>
          <a:p>
            <a:pPr eaLnBrk="1" hangingPunct="1"/>
            <a:r>
              <a:rPr kumimoji="1" lang="zh-CN" altLang="en-US">
                <a:solidFill>
                  <a:srgbClr val="0000FF"/>
                </a:solidFill>
              </a:rPr>
              <a:t>葛洲坝电厂（三峡总公司全资子公司）发电收益</a:t>
            </a:r>
            <a:r>
              <a:rPr kumimoji="1" lang="en-US" altLang="zh-CN">
                <a:solidFill>
                  <a:srgbClr val="0000FF"/>
                </a:solidFill>
              </a:rPr>
              <a:t>100</a:t>
            </a:r>
            <a:r>
              <a:rPr kumimoji="1" lang="zh-CN" altLang="en-US">
                <a:solidFill>
                  <a:srgbClr val="0000FF"/>
                </a:solidFill>
              </a:rPr>
              <a:t>亿元</a:t>
            </a:r>
            <a:endParaRPr kumimoji="1" lang="zh-CN" altLang="en-US">
              <a:solidFill>
                <a:srgbClr val="0000FF"/>
              </a:solidFill>
            </a:endParaRPr>
          </a:p>
          <a:p>
            <a:pPr eaLnBrk="1" hangingPunct="1"/>
            <a:r>
              <a:rPr kumimoji="1" lang="zh-CN" altLang="en-US">
                <a:solidFill>
                  <a:srgbClr val="0000FF"/>
                </a:solidFill>
              </a:rPr>
              <a:t>国家开发银行贷款</a:t>
            </a:r>
            <a:r>
              <a:rPr kumimoji="1" lang="en-US" altLang="zh-CN">
                <a:solidFill>
                  <a:srgbClr val="0000FF"/>
                </a:solidFill>
              </a:rPr>
              <a:t>300</a:t>
            </a:r>
            <a:r>
              <a:rPr kumimoji="1" lang="zh-CN" altLang="en-US">
                <a:solidFill>
                  <a:srgbClr val="0000FF"/>
                </a:solidFill>
              </a:rPr>
              <a:t>亿元</a:t>
            </a:r>
            <a:endParaRPr kumimoji="1" lang="zh-CN" altLang="en-US">
              <a:solidFill>
                <a:srgbClr val="0000FF"/>
              </a:solidFill>
            </a:endParaRPr>
          </a:p>
          <a:p>
            <a:pPr eaLnBrk="1" hangingPunct="1"/>
            <a:r>
              <a:rPr kumimoji="1" lang="zh-CN" altLang="en-US">
                <a:solidFill>
                  <a:srgbClr val="0000FF"/>
                </a:solidFill>
              </a:rPr>
              <a:t>三峡电厂发电收益</a:t>
            </a:r>
            <a:r>
              <a:rPr kumimoji="1" lang="en-US" altLang="zh-CN">
                <a:solidFill>
                  <a:srgbClr val="0000FF"/>
                </a:solidFill>
              </a:rPr>
              <a:t>670</a:t>
            </a:r>
            <a:r>
              <a:rPr kumimoji="1" lang="zh-CN" altLang="en-US">
                <a:solidFill>
                  <a:srgbClr val="0000FF"/>
                </a:solidFill>
              </a:rPr>
              <a:t>亿元</a:t>
            </a:r>
            <a:endParaRPr kumimoji="1" lang="zh-CN" altLang="en-US">
              <a:solidFill>
                <a:srgbClr val="0000FF"/>
              </a:solidFill>
            </a:endParaRPr>
          </a:p>
          <a:p>
            <a:pPr eaLnBrk="1" hangingPunct="1">
              <a:buFontTx/>
              <a:buNone/>
            </a:pPr>
            <a:r>
              <a:rPr kumimoji="1" lang="zh-CN" altLang="en-US"/>
              <a:t>另外</a:t>
            </a:r>
            <a:endParaRPr kumimoji="1" lang="zh-CN" altLang="en-US"/>
          </a:p>
          <a:p>
            <a:pPr eaLnBrk="1" hangingPunct="1"/>
            <a:r>
              <a:rPr kumimoji="1" lang="zh-CN" altLang="en-US"/>
              <a:t>国家投资</a:t>
            </a:r>
            <a:r>
              <a:rPr kumimoji="1" lang="en-US" altLang="zh-CN"/>
              <a:t>113</a:t>
            </a:r>
            <a:r>
              <a:rPr kumimoji="1" lang="zh-CN" altLang="en-US"/>
              <a:t>亿元对三峡库区地质灾害的防治</a:t>
            </a:r>
            <a:endParaRPr kumimoji="1" lang="zh-CN" altLang="en-US"/>
          </a:p>
          <a:p>
            <a:pPr eaLnBrk="1" hangingPunct="1"/>
            <a:r>
              <a:rPr kumimoji="1" lang="zh-CN" altLang="en-US"/>
              <a:t>中国政府制定了三峡库区及长江上游水污染防治规划，通过多渠道融资，总投资达</a:t>
            </a:r>
            <a:r>
              <a:rPr kumimoji="1" lang="en-US" altLang="zh-CN"/>
              <a:t>390</a:t>
            </a:r>
            <a:r>
              <a:rPr kumimoji="1" lang="zh-CN" altLang="en-US"/>
              <a:t>亿元，分</a:t>
            </a:r>
            <a:r>
              <a:rPr kumimoji="1" lang="en-US" altLang="zh-CN"/>
              <a:t>10</a:t>
            </a:r>
            <a:r>
              <a:rPr kumimoji="1" lang="zh-CN" altLang="en-US"/>
              <a:t>年实施</a:t>
            </a:r>
            <a:endParaRPr kumimoji="1" lang="zh-CN"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Grp="1" noChangeArrowheads="1"/>
          </p:cNvSpPr>
          <p:nvPr>
            <p:ph type="title"/>
          </p:nvPr>
        </p:nvSpPr>
        <p:spPr/>
        <p:txBody>
          <a:bodyPr/>
          <a:lstStyle/>
          <a:p>
            <a:pPr eaLnBrk="1" hangingPunct="1"/>
            <a:r>
              <a:rPr lang="zh-CN" altLang="en-US" sz="3200"/>
              <a:t>三峡工程投资控制体系</a:t>
            </a:r>
            <a:endParaRPr lang="zh-CN" altLang="en-US" sz="3200"/>
          </a:p>
        </p:txBody>
      </p:sp>
      <p:graphicFrame>
        <p:nvGraphicFramePr>
          <p:cNvPr id="39939" name="Object 4"/>
          <p:cNvGraphicFramePr>
            <a:graphicFrameLocks noGrp="1" noChangeAspect="1"/>
          </p:cNvGraphicFramePr>
          <p:nvPr>
            <p:ph idx="1"/>
          </p:nvPr>
        </p:nvGraphicFramePr>
        <p:xfrm>
          <a:off x="377825" y="977900"/>
          <a:ext cx="8543925" cy="6726238"/>
        </p:xfrm>
        <a:graphic>
          <a:graphicData uri="http://schemas.openxmlformats.org/presentationml/2006/ole">
            <mc:AlternateContent xmlns:mc="http://schemas.openxmlformats.org/markup-compatibility/2006">
              <mc:Choice xmlns:v="urn:schemas-microsoft-com:vml" Requires="v">
                <p:oleObj spid="_x0000_s39945" name="文档" r:id="rId1" imgW="8255000" imgH="7315200" progId="Word.Document.8">
                  <p:embed/>
                </p:oleObj>
              </mc:Choice>
              <mc:Fallback>
                <p:oleObj name="文档" r:id="rId1" imgW="8255000" imgH="7315200"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 y="977900"/>
                        <a:ext cx="8543925" cy="6726238"/>
                      </a:xfrm>
                      <a:prstGeom prst="rect">
                        <a:avLst/>
                      </a:prstGeom>
                      <a:noFill/>
                      <a:ln>
                        <a:noFill/>
                      </a:ln>
                      <a:effectLst/>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4354" name="Rectangle 2"/>
          <p:cNvSpPr>
            <a:spLocks noGrp="1" noChangeArrowheads="1"/>
          </p:cNvSpPr>
          <p:nvPr>
            <p:ph type="title"/>
          </p:nvPr>
        </p:nvSpPr>
        <p:spPr/>
        <p:txBody>
          <a:bodyPr/>
          <a:lstStyle/>
          <a:p>
            <a:pPr eaLnBrk="1" hangingPunct="1">
              <a:defRPr/>
            </a:pPr>
            <a:r>
              <a:rPr kumimoji="1" lang="zh-CN" altLang="en-US" sz="3200">
                <a:solidFill>
                  <a:srgbClr val="CC0000"/>
                </a:solidFill>
                <a:effectLst>
                  <a:outerShdw blurRad="38100" dist="38100" dir="2700000" algn="tl">
                    <a:srgbClr val="C0C0C0"/>
                  </a:outerShdw>
                </a:effectLst>
              </a:rPr>
              <a:t>投资风险分析</a:t>
            </a:r>
            <a:endParaRPr kumimoji="1" lang="zh-CN" altLang="en-US" sz="3200">
              <a:solidFill>
                <a:srgbClr val="CC0000"/>
              </a:solidFill>
              <a:effectLst>
                <a:outerShdw blurRad="38100" dist="38100" dir="2700000" algn="tl">
                  <a:srgbClr val="C0C0C0"/>
                </a:outerShdw>
              </a:effectLst>
            </a:endParaRPr>
          </a:p>
        </p:txBody>
      </p:sp>
      <p:sp>
        <p:nvSpPr>
          <p:cNvPr id="40963" name="Rectangle 3"/>
          <p:cNvSpPr>
            <a:spLocks noGrp="1" noChangeArrowheads="1"/>
          </p:cNvSpPr>
          <p:nvPr>
            <p:ph type="body" idx="1"/>
          </p:nvPr>
        </p:nvSpPr>
        <p:spPr/>
        <p:txBody>
          <a:bodyPr/>
          <a:lstStyle/>
          <a:p>
            <a:pPr eaLnBrk="1" hangingPunct="1"/>
            <a:r>
              <a:rPr kumimoji="1" lang="zh-CN" altLang="en-US" sz="2800">
                <a:solidFill>
                  <a:srgbClr val="3333FF"/>
                </a:solidFill>
              </a:rPr>
              <a:t>设计变更：主要指设计工程量增加、工程标准提高和地质原因等不可预见因素</a:t>
            </a:r>
            <a:endParaRPr kumimoji="1" lang="zh-CN" altLang="en-US" sz="2800">
              <a:solidFill>
                <a:srgbClr val="3333FF"/>
              </a:solidFill>
            </a:endParaRPr>
          </a:p>
          <a:p>
            <a:pPr eaLnBrk="1" hangingPunct="1"/>
            <a:r>
              <a:rPr kumimoji="1" lang="zh-CN" altLang="en-US" sz="2800">
                <a:solidFill>
                  <a:srgbClr val="3333FF"/>
                </a:solidFill>
              </a:rPr>
              <a:t>质量安全：工程施工事故和质量缺陷，导致费用增加</a:t>
            </a:r>
            <a:endParaRPr kumimoji="1" lang="zh-CN" altLang="en-US" sz="2800">
              <a:solidFill>
                <a:srgbClr val="3333FF"/>
              </a:solidFill>
            </a:endParaRPr>
          </a:p>
          <a:p>
            <a:pPr eaLnBrk="1" hangingPunct="1"/>
            <a:r>
              <a:rPr kumimoji="1" lang="zh-CN" altLang="en-US" sz="2800">
                <a:solidFill>
                  <a:srgbClr val="3333FF"/>
                </a:solidFill>
              </a:rPr>
              <a:t>移民补偿标准变化：国家实施新土地管理法</a:t>
            </a:r>
            <a:endParaRPr kumimoji="1" lang="zh-CN" altLang="en-US" sz="2800">
              <a:solidFill>
                <a:srgbClr val="3333FF"/>
              </a:solidFill>
            </a:endParaRPr>
          </a:p>
          <a:p>
            <a:pPr eaLnBrk="1" hangingPunct="1"/>
            <a:r>
              <a:rPr kumimoji="1" lang="zh-CN" altLang="en-US" sz="2800">
                <a:solidFill>
                  <a:srgbClr val="3333FF"/>
                </a:solidFill>
              </a:rPr>
              <a:t>移民迁建政策变化：由于库区容量不够，国家鼓励库区移民外迁</a:t>
            </a:r>
            <a:endParaRPr kumimoji="1" lang="zh-CN" altLang="en-US" sz="2800">
              <a:solidFill>
                <a:srgbClr val="3333FF"/>
              </a:solidFill>
            </a:endParaRPr>
          </a:p>
          <a:p>
            <a:pPr eaLnBrk="1" hangingPunct="1"/>
            <a:r>
              <a:rPr kumimoji="1" lang="zh-CN" altLang="en-US" sz="2800">
                <a:solidFill>
                  <a:srgbClr val="3333FF"/>
                </a:solidFill>
              </a:rPr>
              <a:t>建设期融资成本变化</a:t>
            </a:r>
            <a:endParaRPr kumimoji="1" lang="zh-CN" altLang="en-US" sz="2800">
              <a:solidFill>
                <a:srgbClr val="3333FF"/>
              </a:solidFill>
            </a:endParaRPr>
          </a:p>
          <a:p>
            <a:pPr eaLnBrk="1" hangingPunct="1"/>
            <a:r>
              <a:rPr kumimoji="1" lang="zh-CN" altLang="en-US" sz="2800">
                <a:solidFill>
                  <a:srgbClr val="3333FF"/>
                </a:solidFill>
              </a:rPr>
              <a:t>国家投入的资本金因各种原因将减少</a:t>
            </a:r>
            <a:endParaRPr kumimoji="1" lang="zh-CN" altLang="en-US" sz="2800">
              <a:solidFill>
                <a:srgbClr val="3333FF"/>
              </a:solidFill>
            </a:endParaRPr>
          </a:p>
          <a:p>
            <a:pPr eaLnBrk="1" hangingPunct="1"/>
            <a:r>
              <a:rPr kumimoji="1" lang="zh-CN" altLang="en-US" sz="2800">
                <a:solidFill>
                  <a:srgbClr val="3333FF"/>
                </a:solidFill>
              </a:rPr>
              <a:t>三峡电厂建设期发电收益因电价较预测降低将减少</a:t>
            </a:r>
            <a:endParaRPr kumimoji="1" lang="zh-CN" altLang="en-US" sz="2800">
              <a:solidFill>
                <a:srgbClr val="3333FF"/>
              </a:solidFill>
            </a:endParaRPr>
          </a:p>
          <a:p>
            <a:pPr eaLnBrk="1" hangingPunct="1"/>
            <a:r>
              <a:rPr kumimoji="1" lang="zh-CN" altLang="en-US" sz="2800">
                <a:solidFill>
                  <a:srgbClr val="3333FF"/>
                </a:solidFill>
              </a:rPr>
              <a:t>银行贷款和企业发债增加，从而增加建设期融资成本</a:t>
            </a:r>
            <a:endParaRPr kumimoji="1" lang="zh-CN" altLang="en-US" sz="2800">
              <a:solidFill>
                <a:srgbClr val="3333FF"/>
              </a:solidFill>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378" name="Rectangle 2"/>
          <p:cNvSpPr>
            <a:spLocks noGrp="1" noChangeArrowheads="1"/>
          </p:cNvSpPr>
          <p:nvPr>
            <p:ph type="title"/>
          </p:nvPr>
        </p:nvSpPr>
        <p:spPr/>
        <p:txBody>
          <a:bodyPr/>
          <a:lstStyle/>
          <a:p>
            <a:pPr eaLnBrk="1" hangingPunct="1">
              <a:defRPr/>
            </a:pPr>
            <a:r>
              <a:rPr kumimoji="1" lang="zh-CN" altLang="en-US" sz="3200">
                <a:solidFill>
                  <a:srgbClr val="C15595"/>
                </a:solidFill>
                <a:effectLst>
                  <a:outerShdw blurRad="38100" dist="38100" dir="2700000" algn="tl">
                    <a:srgbClr val="C0C0C0"/>
                  </a:outerShdw>
                </a:effectLst>
              </a:rPr>
              <a:t>三峡电厂发电收益</a:t>
            </a:r>
            <a:endParaRPr kumimoji="1" lang="zh-CN" altLang="en-US" sz="3200">
              <a:solidFill>
                <a:srgbClr val="C15595"/>
              </a:solidFill>
              <a:effectLst>
                <a:outerShdw blurRad="38100" dist="38100" dir="2700000" algn="tl">
                  <a:srgbClr val="C0C0C0"/>
                </a:outerShdw>
              </a:effectLst>
            </a:endParaRPr>
          </a:p>
        </p:txBody>
      </p:sp>
      <p:sp>
        <p:nvSpPr>
          <p:cNvPr id="41987" name="Rectangle 3"/>
          <p:cNvSpPr>
            <a:spLocks noGrp="1" noChangeArrowheads="1"/>
          </p:cNvSpPr>
          <p:nvPr>
            <p:ph type="body" sz="half" idx="1"/>
          </p:nvPr>
        </p:nvSpPr>
        <p:spPr/>
        <p:txBody>
          <a:bodyPr/>
          <a:lstStyle/>
          <a:p>
            <a:pPr eaLnBrk="1" hangingPunct="1"/>
            <a:r>
              <a:rPr kumimoji="1" lang="zh-CN" altLang="en-US" sz="2800">
                <a:solidFill>
                  <a:srgbClr val="3333FF"/>
                </a:solidFill>
              </a:rPr>
              <a:t>平均年发电量</a:t>
            </a:r>
            <a:r>
              <a:rPr kumimoji="1" lang="en-US" altLang="zh-CN" sz="2800">
                <a:solidFill>
                  <a:srgbClr val="3333FF"/>
                </a:solidFill>
              </a:rPr>
              <a:t>847</a:t>
            </a:r>
            <a:r>
              <a:rPr kumimoji="1" lang="zh-CN" altLang="en-US" sz="2800">
                <a:solidFill>
                  <a:srgbClr val="3333FF"/>
                </a:solidFill>
              </a:rPr>
              <a:t>亿</a:t>
            </a:r>
            <a:r>
              <a:rPr kumimoji="1" lang="en-US" altLang="zh-CN" sz="2800">
                <a:solidFill>
                  <a:srgbClr val="3333FF"/>
                </a:solidFill>
              </a:rPr>
              <a:t>Kwh</a:t>
            </a:r>
            <a:r>
              <a:rPr kumimoji="1" lang="zh-CN" altLang="en-US" sz="2800">
                <a:solidFill>
                  <a:srgbClr val="3333FF"/>
                </a:solidFill>
              </a:rPr>
              <a:t>，</a:t>
            </a:r>
            <a:endParaRPr kumimoji="1" lang="zh-CN" altLang="en-US" sz="2800">
              <a:solidFill>
                <a:srgbClr val="3333FF"/>
              </a:solidFill>
            </a:endParaRPr>
          </a:p>
          <a:p>
            <a:pPr eaLnBrk="1" hangingPunct="1"/>
            <a:r>
              <a:rPr kumimoji="1" lang="zh-CN" altLang="en-US" sz="2800">
                <a:solidFill>
                  <a:srgbClr val="3333FF"/>
                </a:solidFill>
              </a:rPr>
              <a:t>上网电价</a:t>
            </a:r>
            <a:r>
              <a:rPr kumimoji="1" lang="en-US" altLang="zh-CN" sz="2800">
                <a:solidFill>
                  <a:srgbClr val="3333FF"/>
                </a:solidFill>
              </a:rPr>
              <a:t>0.25</a:t>
            </a:r>
            <a:r>
              <a:rPr kumimoji="1" lang="zh-CN" altLang="en-US" sz="2800">
                <a:solidFill>
                  <a:srgbClr val="3333FF"/>
                </a:solidFill>
              </a:rPr>
              <a:t>元</a:t>
            </a:r>
            <a:r>
              <a:rPr kumimoji="1" lang="en-US" altLang="zh-CN" sz="2800">
                <a:solidFill>
                  <a:srgbClr val="3333FF"/>
                </a:solidFill>
              </a:rPr>
              <a:t>/Kwh</a:t>
            </a:r>
            <a:r>
              <a:rPr kumimoji="1" lang="zh-CN" altLang="en-US" sz="2800">
                <a:solidFill>
                  <a:srgbClr val="3333FF"/>
                </a:solidFill>
              </a:rPr>
              <a:t>，</a:t>
            </a:r>
            <a:endParaRPr kumimoji="1" lang="zh-CN" altLang="en-US" sz="2800">
              <a:solidFill>
                <a:srgbClr val="3333FF"/>
              </a:solidFill>
            </a:endParaRPr>
          </a:p>
          <a:p>
            <a:pPr eaLnBrk="1" hangingPunct="1"/>
            <a:r>
              <a:rPr kumimoji="1" lang="zh-CN" altLang="en-US" sz="2800">
                <a:solidFill>
                  <a:srgbClr val="3333FF"/>
                </a:solidFill>
              </a:rPr>
              <a:t>年收入约</a:t>
            </a:r>
            <a:r>
              <a:rPr kumimoji="1" lang="en-US" altLang="zh-CN" sz="2800">
                <a:solidFill>
                  <a:srgbClr val="3333FF"/>
                </a:solidFill>
              </a:rPr>
              <a:t>200</a:t>
            </a:r>
            <a:r>
              <a:rPr kumimoji="1" lang="zh-CN" altLang="en-US" sz="2800">
                <a:solidFill>
                  <a:srgbClr val="3333FF"/>
                </a:solidFill>
              </a:rPr>
              <a:t>亿元。</a:t>
            </a:r>
            <a:endParaRPr kumimoji="1" lang="zh-CN" altLang="en-US" sz="2800">
              <a:solidFill>
                <a:srgbClr val="3333FF"/>
              </a:solidFill>
            </a:endParaRPr>
          </a:p>
          <a:p>
            <a:pPr eaLnBrk="1" hangingPunct="1"/>
            <a:r>
              <a:rPr kumimoji="1" lang="zh-CN" altLang="en-US" sz="2800">
                <a:solidFill>
                  <a:srgbClr val="3333FF"/>
                </a:solidFill>
              </a:rPr>
              <a:t>发电成本包括折旧和利息，其中折旧约占</a:t>
            </a:r>
            <a:r>
              <a:rPr kumimoji="1" lang="en-US" altLang="zh-CN" sz="2800">
                <a:solidFill>
                  <a:srgbClr val="3333FF"/>
                </a:solidFill>
              </a:rPr>
              <a:t>40-50%</a:t>
            </a:r>
            <a:r>
              <a:rPr kumimoji="1" lang="zh-CN" altLang="en-US" sz="2800">
                <a:solidFill>
                  <a:srgbClr val="3333FF"/>
                </a:solidFill>
              </a:rPr>
              <a:t>，可部分用于还贷</a:t>
            </a:r>
            <a:endParaRPr kumimoji="1" lang="zh-CN" altLang="en-US" sz="2800">
              <a:solidFill>
                <a:srgbClr val="3333FF"/>
              </a:solidFill>
            </a:endParaRPr>
          </a:p>
          <a:p>
            <a:pPr eaLnBrk="1" hangingPunct="1"/>
            <a:r>
              <a:rPr kumimoji="1" lang="zh-CN" altLang="en-US" sz="2800">
                <a:solidFill>
                  <a:srgbClr val="3333FF"/>
                </a:solidFill>
              </a:rPr>
              <a:t>三峡电站资本金内部收益率为</a:t>
            </a:r>
            <a:r>
              <a:rPr kumimoji="1" lang="en-US" altLang="zh-CN" sz="2800">
                <a:solidFill>
                  <a:srgbClr val="3333FF"/>
                </a:solidFill>
              </a:rPr>
              <a:t>8.47%</a:t>
            </a:r>
            <a:r>
              <a:rPr kumimoji="1" lang="zh-CN" altLang="en-US" sz="2800">
                <a:solidFill>
                  <a:srgbClr val="3333FF"/>
                </a:solidFill>
              </a:rPr>
              <a:t>，每年可实现税后利润约</a:t>
            </a:r>
            <a:r>
              <a:rPr kumimoji="1" lang="en-US" altLang="zh-CN" sz="2800">
                <a:solidFill>
                  <a:srgbClr val="3333FF"/>
                </a:solidFill>
              </a:rPr>
              <a:t>50</a:t>
            </a:r>
            <a:r>
              <a:rPr kumimoji="1" lang="zh-CN" altLang="en-US" sz="2800">
                <a:solidFill>
                  <a:srgbClr val="3333FF"/>
                </a:solidFill>
              </a:rPr>
              <a:t>亿元</a:t>
            </a:r>
            <a:endParaRPr kumimoji="1" lang="zh-CN" altLang="en-US" sz="2800">
              <a:solidFill>
                <a:srgbClr val="3333FF"/>
              </a:solidFill>
            </a:endParaRPr>
          </a:p>
        </p:txBody>
      </p:sp>
      <p:graphicFrame>
        <p:nvGraphicFramePr>
          <p:cNvPr id="41988" name="Object 4"/>
          <p:cNvGraphicFramePr>
            <a:graphicFrameLocks noGrp="1" noChangeAspect="1"/>
          </p:cNvGraphicFramePr>
          <p:nvPr>
            <p:ph sz="half" idx="2"/>
          </p:nvPr>
        </p:nvGraphicFramePr>
        <p:xfrm>
          <a:off x="4648200" y="1347788"/>
          <a:ext cx="4495800" cy="3436937"/>
        </p:xfrm>
        <a:graphic>
          <a:graphicData uri="http://schemas.openxmlformats.org/presentationml/2006/ole">
            <mc:AlternateContent xmlns:mc="http://schemas.openxmlformats.org/markup-compatibility/2006">
              <mc:Choice xmlns:v="urn:schemas-microsoft-com:vml" Requires="v">
                <p:oleObj spid="_x0000_s41994" name="图表" r:id="rId1" imgW="4413885" imgH="3375660" progId="MSGraph.Chart.8">
                  <p:embed followColorScheme="full"/>
                </p:oleObj>
              </mc:Choice>
              <mc:Fallback>
                <p:oleObj name="图表" r:id="rId1" imgW="4413885" imgH="3375660" progId="MSGraph.Chart.8">
                  <p:embed followColorScheme="full"/>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1347788"/>
                        <a:ext cx="4495800" cy="3436937"/>
                      </a:xfrm>
                      <a:prstGeom prst="rect">
                        <a:avLst/>
                      </a:prstGeom>
                      <a:noFill/>
                      <a:ln>
                        <a:noFill/>
                      </a:ln>
                      <a:effectLst/>
                    </p:spPr>
                  </p:pic>
                </p:oleObj>
              </mc:Fallback>
            </mc:AlternateContent>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sz="3200"/>
              <a:t>金沙江下游梯级电站工程特性综合表 </a:t>
            </a:r>
            <a:endParaRPr lang="zh-CN" altLang="en-US" sz="3200"/>
          </a:p>
        </p:txBody>
      </p:sp>
      <p:graphicFrame>
        <p:nvGraphicFramePr>
          <p:cNvPr id="1127956" name="Group 532"/>
          <p:cNvGraphicFramePr>
            <a:graphicFrameLocks noGrp="1"/>
          </p:cNvGraphicFramePr>
          <p:nvPr>
            <p:ph idx="1"/>
          </p:nvPr>
        </p:nvGraphicFramePr>
        <p:xfrm>
          <a:off x="0" y="622300"/>
          <a:ext cx="9144000" cy="6296026"/>
        </p:xfrm>
        <a:graphic>
          <a:graphicData uri="http://schemas.openxmlformats.org/drawingml/2006/table">
            <a:tbl>
              <a:tblPr/>
              <a:tblGrid>
                <a:gridCol w="2459038"/>
                <a:gridCol w="1662112"/>
                <a:gridCol w="1824038"/>
                <a:gridCol w="1576387"/>
                <a:gridCol w="1622425"/>
              </a:tblGrid>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项  目</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向家坝</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溪洛渡</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白鹤滩</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乌东德</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正常蓄水位（</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m</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380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600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825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975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汛期限制水位（</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m</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370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560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795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962.5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死水位（</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m</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370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540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765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950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总库容（亿</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m</a:t>
                      </a:r>
                      <a:r>
                        <a:rPr kumimoji="0" lang="en-US" altLang="zh-CN" sz="1600" b="1" i="0" u="none" strike="noStrike" cap="none" normalizeH="0" baseline="30000">
                          <a:ln>
                            <a:noFill/>
                          </a:ln>
                          <a:solidFill>
                            <a:srgbClr val="000000"/>
                          </a:solidFill>
                          <a:effectLst/>
                          <a:latin typeface="Times New Roman" panose="02020603050405020304" charset="0"/>
                          <a:ea typeface="仿宋_GB2312" pitchFamily="49" charset="-122"/>
                          <a:cs typeface="Times New Roman" panose="02020603050405020304" charset="0"/>
                        </a:rPr>
                        <a:t>3</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51.63</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126.7</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205.1</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72.98</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调节库容（亿</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m</a:t>
                      </a:r>
                      <a:r>
                        <a:rPr kumimoji="0" lang="en-US" altLang="zh-CN" sz="1600" b="1" i="0" u="none" strike="noStrike" cap="none" normalizeH="0" baseline="30000">
                          <a:ln>
                            <a:noFill/>
                          </a:ln>
                          <a:solidFill>
                            <a:srgbClr val="000000"/>
                          </a:solidFill>
                          <a:effectLst/>
                          <a:latin typeface="Times New Roman" panose="02020603050405020304" charset="0"/>
                          <a:ea typeface="仿宋_GB2312" pitchFamily="49" charset="-122"/>
                          <a:cs typeface="Times New Roman" panose="02020603050405020304" charset="0"/>
                        </a:rPr>
                        <a:t>3</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9.03</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64.6</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104.36</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26.15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防洪库容（亿</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m</a:t>
                      </a:r>
                      <a:r>
                        <a:rPr kumimoji="0" lang="en-US" altLang="zh-CN" sz="1600" b="1" i="0" u="none" strike="noStrike" cap="none" normalizeH="0" baseline="30000">
                          <a:ln>
                            <a:noFill/>
                          </a:ln>
                          <a:solidFill>
                            <a:srgbClr val="000000"/>
                          </a:solidFill>
                          <a:effectLst/>
                          <a:latin typeface="Times New Roman" panose="02020603050405020304" charset="0"/>
                          <a:ea typeface="仿宋_GB2312" pitchFamily="49" charset="-122"/>
                          <a:cs typeface="Times New Roman" panose="02020603050405020304" charset="0"/>
                        </a:rPr>
                        <a:t>3</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9.03</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46.5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58.38</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14.47</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装机容量（万千瓦）</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600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1260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1305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870</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保证出力（万千瓦）</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200.9</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339.5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420/503</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328.4</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49">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多年平均发电量</a:t>
                      </a:r>
                      <a:b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b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（亿度）</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307.5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571.2</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569.1/576.9</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394.6</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35015">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水库搬迁人口（万人）</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11.85</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6.1</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11.03</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3.73</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地震基本烈度（度）</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Ⅶ</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Ⅷ</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Ⅷ</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Ⅶ</a:t>
                      </a:r>
                      <a:endParaRPr kumimoji="0" lang="en-US" altLang="zh-CN"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总工期</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年半</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12</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个月</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12</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个月</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8</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个月</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5297">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发电工期</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7</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9</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10</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7</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个月</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7</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个月</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49">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静态投资（亿元）</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434.23</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(2006</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季度</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en-US" altLang="zh-CN"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503.42</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(2005</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1</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季度</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en-US" altLang="zh-CN"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654.98</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(2006</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季度</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en-US" altLang="zh-CN"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336.26</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(2006</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年</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3</a:t>
                      </a: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季度</a:t>
                      </a: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a:t>
                      </a:r>
                      <a:endParaRPr kumimoji="0" lang="en-US" altLang="zh-CN"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79149">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总投资（亿元）</a:t>
                      </a:r>
                      <a:endParaRPr kumimoji="0" lang="zh-CN" altLang="en-US" sz="1600" b="1" i="0" u="none" strike="noStrike" cap="none" normalizeH="0" baseline="0">
                        <a:ln>
                          <a:noFill/>
                        </a:ln>
                        <a:solidFill>
                          <a:srgbClr val="000000"/>
                        </a:solidFill>
                        <a:effectLst/>
                        <a:latin typeface="Times"/>
                        <a:ea typeface="仿宋_GB2312" pitchFamily="49"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541.7</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（零价差）</a:t>
                      </a:r>
                      <a:endParaRPr kumimoji="0" lang="zh-CN" altLang="en-US"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674.8</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（零价差）</a:t>
                      </a:r>
                      <a:endParaRPr kumimoji="0" lang="zh-CN" altLang="en-US"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877.97</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（零价差）</a:t>
                      </a:r>
                      <a:endParaRPr kumimoji="0" lang="zh-CN" altLang="en-US"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413.24</a:t>
                      </a:r>
                      <a:endParaRPr kumimoji="0" lang="en-US" altLang="zh-CN" sz="1600" b="1" i="0" u="none" strike="noStrike" cap="none" normalizeH="0" baseline="0">
                        <a:ln>
                          <a:noFill/>
                        </a:ln>
                        <a:solidFill>
                          <a:srgbClr val="000000"/>
                        </a:solidFill>
                        <a:effectLst/>
                        <a:latin typeface="Arial" panose="020B0604020202020204" pitchFamily="34" charset="0"/>
                        <a:ea typeface="仿宋_GB2312" pitchFamily="49" charset="-12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仿宋_GB2312" pitchFamily="49" charset="-122"/>
                          <a:cs typeface="Times New Roman" panose="02020603050405020304" charset="0"/>
                        </a:rPr>
                        <a:t>（零价差）</a:t>
                      </a:r>
                      <a:endParaRPr kumimoji="0" lang="zh-CN" altLang="en-US" sz="1600" b="1"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title"/>
          </p:nvPr>
        </p:nvSpPr>
        <p:spPr/>
        <p:txBody>
          <a:bodyPr/>
          <a:lstStyle/>
          <a:p>
            <a:pPr eaLnBrk="1" hangingPunct="1"/>
            <a:r>
              <a:rPr lang="zh-CN" altLang="en-US" sz="3200"/>
              <a:t>案例</a:t>
            </a:r>
            <a:r>
              <a:rPr lang="en-US" altLang="zh-CN" sz="3200"/>
              <a:t>:</a:t>
            </a:r>
            <a:r>
              <a:rPr lang="zh-CN" altLang="en-US" sz="3200"/>
              <a:t>嘉兴至绍兴公路工程财务评价</a:t>
            </a:r>
            <a:endParaRPr lang="zh-CN" altLang="en-US" sz="3200"/>
          </a:p>
        </p:txBody>
      </p:sp>
      <p:graphicFrame>
        <p:nvGraphicFramePr>
          <p:cNvPr id="1108997" name="Group 5"/>
          <p:cNvGraphicFramePr>
            <a:graphicFrameLocks noGrp="1"/>
          </p:cNvGraphicFramePr>
          <p:nvPr/>
        </p:nvGraphicFramePr>
        <p:xfrm>
          <a:off x="0" y="977900"/>
          <a:ext cx="9144000" cy="5962649"/>
        </p:xfrm>
        <a:graphic>
          <a:graphicData uri="http://schemas.openxmlformats.org/drawingml/2006/table">
            <a:tbl>
              <a:tblPr/>
              <a:tblGrid>
                <a:gridCol w="950913"/>
                <a:gridCol w="1485900"/>
                <a:gridCol w="1376362"/>
                <a:gridCol w="1379538"/>
                <a:gridCol w="1304925"/>
                <a:gridCol w="1341437"/>
                <a:gridCol w="1304925"/>
              </a:tblGrid>
              <a:tr h="701077">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 名称</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长度</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建筑安装</a:t>
                      </a:r>
                      <a:endParaRPr kumimoji="0" lang="zh-CN" altLang="en-US" sz="20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工程费</a:t>
                      </a:r>
                      <a:endParaRPr kumimoji="0" lang="zh-CN" altLang="en-US" sz="20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建安费</a:t>
                      </a:r>
                      <a:endParaRPr kumimoji="0" lang="zh-CN" altLang="en-US" sz="20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单位造价</a:t>
                      </a:r>
                      <a:endParaRPr kumimoji="0" lang="zh-CN" altLang="en-US" sz="20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估算</a:t>
                      </a:r>
                      <a:endParaRPr kumimoji="0" lang="zh-CN" altLang="en-US" sz="20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总金额</a:t>
                      </a:r>
                      <a:endParaRPr kumimoji="0" lang="zh-CN" altLang="en-US" sz="20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总估算</a:t>
                      </a:r>
                      <a:endParaRPr kumimoji="0" lang="zh-CN" altLang="en-US" sz="20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单位造价</a:t>
                      </a:r>
                      <a:endParaRPr kumimoji="0" lang="zh-CN" altLang="en-US" sz="20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261">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单位</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km</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万元</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万元</a:t>
                      </a: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/km</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万元</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万元</a:t>
                      </a: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/km</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53">
                <a:tc rowSpan="3">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方案</a:t>
                      </a:r>
                      <a:endParaRPr kumimoji="0" lang="zh-CN" altLang="en-US" sz="20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Ⅰ</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40.720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236312.4</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5803.4</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362829.9</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8910.4</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515965">
                <a:tc v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II</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39.183</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236765.1</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6042.5</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361234.3</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9219.2</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7553">
                <a:tc v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III</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40.753</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2315777.1</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5682.5</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354946.7</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8709.7</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3610">
                <a:tc row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杭州湾跨江</a:t>
                      </a:r>
                      <a:endParaRPr kumimoji="0" lang="zh-CN" altLang="en-US" sz="20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大桥</a:t>
                      </a:r>
                      <a:endParaRPr kumimoji="0" lang="zh-CN" altLang="en-US" sz="20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双层桁架梁</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12.320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382734.0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31066.1</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501135.3</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40676.6</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647099">
                <a:tc v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低塔斜拉桥</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12.326</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358267.5</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29066.0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467652.9</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37940.4</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3610">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越江盾构隧道方案</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12.320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507086.3</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41159.6</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716720.1</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58175.3</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3136">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基本方案（南岸）</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16.188</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98283.4</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6071.4</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153948.5</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9510.0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6785">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推荐方案</a:t>
                      </a:r>
                      <a:endParaRPr kumimoji="0" lang="zh-CN" altLang="en-US"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69.228</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717330.0</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10361.8</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1017913.6</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0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14703.8</a:t>
                      </a:r>
                      <a:endParaRPr kumimoji="0" lang="en-US" altLang="zh-CN" sz="2000" b="0" i="0" u="none" strike="noStrike" cap="none" normalizeH="0" baseline="0">
                        <a:ln>
                          <a:noFill/>
                        </a:ln>
                        <a:solidFill>
                          <a:srgbClr val="000000"/>
                        </a:solidFill>
                        <a:effectLst/>
                        <a:latin typeface="Times"/>
                        <a:ea typeface="楷体_GB2312"/>
                        <a:cs typeface="Times New Roman" panose="02020603050405020304" charset="0"/>
                      </a:endParaRPr>
                    </a:p>
                  </a:txBody>
                  <a:tcPr marT="45722" marB="45722"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title"/>
          </p:nvPr>
        </p:nvSpPr>
        <p:spPr/>
        <p:txBody>
          <a:bodyPr/>
          <a:lstStyle/>
          <a:p>
            <a:pPr eaLnBrk="1" hangingPunct="1"/>
            <a:r>
              <a:rPr lang="zh-CN" altLang="en-US" sz="3200"/>
              <a:t>投资估算 </a:t>
            </a:r>
            <a:endParaRPr lang="zh-CN" altLang="en-US" sz="3200"/>
          </a:p>
        </p:txBody>
      </p:sp>
      <p:sp>
        <p:nvSpPr>
          <p:cNvPr id="45059" name="Rectangle 5"/>
          <p:cNvSpPr>
            <a:spLocks noGrp="1" noChangeArrowheads="1"/>
          </p:cNvSpPr>
          <p:nvPr>
            <p:ph type="body" idx="1"/>
          </p:nvPr>
        </p:nvSpPr>
        <p:spPr/>
        <p:txBody>
          <a:bodyPr/>
          <a:lstStyle/>
          <a:p>
            <a:pPr eaLnBrk="1" hangingPunct="1"/>
            <a:r>
              <a:rPr lang="zh-CN" altLang="en-US"/>
              <a:t>工程投资金额为</a:t>
            </a:r>
            <a:r>
              <a:rPr lang="en-US" altLang="zh-CN"/>
              <a:t>939051.5</a:t>
            </a:r>
            <a:r>
              <a:rPr lang="zh-CN" altLang="en-US"/>
              <a:t>万元</a:t>
            </a:r>
            <a:r>
              <a:rPr lang="en-US" altLang="zh-CN"/>
              <a:t>(</a:t>
            </a:r>
            <a:r>
              <a:rPr lang="zh-CN" altLang="en-US"/>
              <a:t>静态投资</a:t>
            </a:r>
            <a:r>
              <a:rPr lang="en-US" altLang="zh-CN"/>
              <a:t>)</a:t>
            </a:r>
            <a:endParaRPr lang="en-US" altLang="zh-CN"/>
          </a:p>
          <a:p>
            <a:pPr eaLnBrk="1" hangingPunct="1"/>
            <a:r>
              <a:rPr lang="zh-CN" altLang="en-US"/>
              <a:t>建设期贷款利息</a:t>
            </a:r>
            <a:r>
              <a:rPr lang="en-US" altLang="zh-CN"/>
              <a:t>78862.1</a:t>
            </a:r>
            <a:r>
              <a:rPr lang="zh-CN" altLang="en-US"/>
              <a:t>万元</a:t>
            </a:r>
            <a:endParaRPr lang="zh-CN" altLang="en-US"/>
          </a:p>
          <a:p>
            <a:pPr eaLnBrk="1" hangingPunct="1"/>
            <a:r>
              <a:rPr lang="zh-CN" altLang="en-US"/>
              <a:t>总金额为</a:t>
            </a:r>
            <a:r>
              <a:rPr lang="en-US" altLang="zh-CN"/>
              <a:t>1017913.6</a:t>
            </a:r>
            <a:r>
              <a:rPr lang="zh-CN" altLang="en-US"/>
              <a:t>万元 </a:t>
            </a:r>
            <a:r>
              <a:rPr lang="en-US" altLang="zh-CN"/>
              <a:t>(</a:t>
            </a:r>
            <a:r>
              <a:rPr lang="zh-CN" altLang="en-US"/>
              <a:t>动态投资</a:t>
            </a:r>
            <a:r>
              <a:rPr lang="en-US" altLang="zh-CN"/>
              <a:t>)</a:t>
            </a:r>
            <a:endParaRPr lang="en-US" altLang="zh-CN"/>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title"/>
          </p:nvPr>
        </p:nvSpPr>
        <p:spPr/>
        <p:txBody>
          <a:bodyPr/>
          <a:lstStyle/>
          <a:p>
            <a:pPr eaLnBrk="1" hangingPunct="1"/>
            <a:r>
              <a:rPr lang="zh-CN" altLang="en-US" sz="3200"/>
              <a:t>资金筹措 </a:t>
            </a:r>
            <a:endParaRPr lang="zh-CN" altLang="en-US" sz="3200"/>
          </a:p>
        </p:txBody>
      </p:sp>
      <p:sp>
        <p:nvSpPr>
          <p:cNvPr id="46083" name="Rectangle 5"/>
          <p:cNvSpPr>
            <a:spLocks noGrp="1" noChangeArrowheads="1"/>
          </p:cNvSpPr>
          <p:nvPr>
            <p:ph type="body" idx="1"/>
          </p:nvPr>
        </p:nvSpPr>
        <p:spPr/>
        <p:txBody>
          <a:bodyPr/>
          <a:lstStyle/>
          <a:p>
            <a:pPr eaLnBrk="1" hangingPunct="1"/>
            <a:r>
              <a:rPr lang="zh-CN" altLang="en-US"/>
              <a:t>项目资本金占总投资估算的</a:t>
            </a:r>
            <a:r>
              <a:rPr lang="en-US" altLang="zh-CN"/>
              <a:t>35%</a:t>
            </a:r>
            <a:r>
              <a:rPr lang="zh-CN" altLang="en-US"/>
              <a:t>，由项目公司自筹，不计息；</a:t>
            </a:r>
            <a:endParaRPr lang="zh-CN" altLang="en-US"/>
          </a:p>
          <a:p>
            <a:pPr eaLnBrk="1" hangingPunct="1"/>
            <a:r>
              <a:rPr lang="zh-CN" altLang="en-US"/>
              <a:t>其他</a:t>
            </a:r>
            <a:r>
              <a:rPr lang="en-US" altLang="zh-CN"/>
              <a:t>65%</a:t>
            </a:r>
            <a:r>
              <a:rPr lang="zh-CN" altLang="en-US"/>
              <a:t>的由项目公司向国家开发银行和商业银行贷款，年利率</a:t>
            </a:r>
            <a:r>
              <a:rPr lang="en-US" altLang="zh-CN"/>
              <a:t>5.76% </a:t>
            </a:r>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Grp="1" noChangeArrowheads="1"/>
          </p:cNvSpPr>
          <p:nvPr>
            <p:ph type="title"/>
          </p:nvPr>
        </p:nvSpPr>
        <p:spPr/>
        <p:txBody>
          <a:bodyPr/>
          <a:lstStyle/>
          <a:p>
            <a:pPr eaLnBrk="1" hangingPunct="1"/>
            <a:r>
              <a:rPr lang="zh-CN" altLang="en-US" sz="3200"/>
              <a:t>项目成本 </a:t>
            </a:r>
            <a:endParaRPr lang="zh-CN" altLang="en-US" sz="3200"/>
          </a:p>
        </p:txBody>
      </p:sp>
      <p:sp>
        <p:nvSpPr>
          <p:cNvPr id="47107" name="Rectangle 5"/>
          <p:cNvSpPr>
            <a:spLocks noGrp="1" noChangeArrowheads="1"/>
          </p:cNvSpPr>
          <p:nvPr>
            <p:ph type="body" idx="1"/>
          </p:nvPr>
        </p:nvSpPr>
        <p:spPr/>
        <p:txBody>
          <a:bodyPr/>
          <a:lstStyle/>
          <a:p>
            <a:pPr eaLnBrk="1" hangingPunct="1"/>
            <a:r>
              <a:rPr lang="zh-CN" altLang="en-US"/>
              <a:t>项目建成后的养护管理费用及大修费用按国民经济评价设定的费用计算，并考虑</a:t>
            </a:r>
            <a:r>
              <a:rPr lang="en-US" altLang="zh-CN"/>
              <a:t>5</a:t>
            </a:r>
            <a:r>
              <a:rPr lang="zh-CN" altLang="en-US"/>
              <a:t>％的年物价上涨率每五年调整一次 </a:t>
            </a:r>
            <a:endParaRPr lang="zh-CN" altLang="en-US"/>
          </a:p>
          <a:p>
            <a:pPr eaLnBrk="1" hangingPunct="1"/>
            <a:r>
              <a:rPr lang="zh-CN" altLang="en-US"/>
              <a:t>营业税按收费收入的</a:t>
            </a:r>
            <a:r>
              <a:rPr lang="en-US" altLang="zh-CN"/>
              <a:t>5%</a:t>
            </a:r>
            <a:r>
              <a:rPr lang="zh-CN" altLang="en-US"/>
              <a:t>计，城市建设税按营业税的</a:t>
            </a:r>
            <a:r>
              <a:rPr lang="en-US" altLang="zh-CN"/>
              <a:t>7%</a:t>
            </a:r>
            <a:r>
              <a:rPr lang="zh-CN" altLang="en-US"/>
              <a:t>计，教育附加税按营业税的</a:t>
            </a:r>
            <a:r>
              <a:rPr lang="en-US" altLang="zh-CN"/>
              <a:t>3%</a:t>
            </a:r>
            <a:r>
              <a:rPr lang="zh-CN" altLang="en-US"/>
              <a:t>，基础设施附加税按营业税的</a:t>
            </a:r>
            <a:r>
              <a:rPr lang="en-US" altLang="zh-CN"/>
              <a:t>5%</a:t>
            </a:r>
            <a:r>
              <a:rPr lang="zh-CN" altLang="en-US"/>
              <a:t>计 </a:t>
            </a:r>
            <a:endParaRPr lang="zh-CN" altLang="en-US"/>
          </a:p>
          <a:p>
            <a:pPr eaLnBrk="1" hangingPunct="1"/>
            <a:r>
              <a:rPr lang="zh-CN" altLang="en-US"/>
              <a:t>项目业主（公司）经营费用参照本省其它已建成通车的高等级公路经营状况确定，拟按收费收入的 </a:t>
            </a:r>
            <a:r>
              <a:rPr lang="en-US" altLang="zh-CN"/>
              <a:t>6.00%</a:t>
            </a:r>
            <a:r>
              <a:rPr lang="zh-CN" altLang="en-US"/>
              <a:t>计列 </a:t>
            </a:r>
            <a:endParaRPr lang="zh-CN"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title"/>
          </p:nvPr>
        </p:nvSpPr>
        <p:spPr/>
        <p:txBody>
          <a:bodyPr/>
          <a:lstStyle/>
          <a:p>
            <a:pPr eaLnBrk="1" hangingPunct="1"/>
            <a:r>
              <a:rPr lang="zh-CN" altLang="en-US" sz="3200"/>
              <a:t>财务基准折现率 </a:t>
            </a:r>
            <a:endParaRPr lang="zh-CN" altLang="en-US" sz="3200"/>
          </a:p>
        </p:txBody>
      </p:sp>
      <p:sp>
        <p:nvSpPr>
          <p:cNvPr id="48131" name="Rectangle 5"/>
          <p:cNvSpPr>
            <a:spLocks noGrp="1" noChangeArrowheads="1"/>
          </p:cNvSpPr>
          <p:nvPr>
            <p:ph type="body" idx="1"/>
          </p:nvPr>
        </p:nvSpPr>
        <p:spPr/>
        <p:txBody>
          <a:bodyPr/>
          <a:lstStyle/>
          <a:p>
            <a:pPr eaLnBrk="1" hangingPunct="1"/>
            <a:r>
              <a:rPr lang="zh-CN" altLang="en-US"/>
              <a:t>根据本项目建设资金来源情况及其利率，可得到本项目财务基准折现率为</a:t>
            </a:r>
            <a:r>
              <a:rPr lang="en-US" altLang="zh-CN"/>
              <a:t>3.744</a:t>
            </a:r>
            <a:r>
              <a:rPr lang="zh-CN" altLang="en-US"/>
              <a:t>％ </a:t>
            </a:r>
            <a:endParaRPr lang="zh-CN"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title"/>
          </p:nvPr>
        </p:nvSpPr>
        <p:spPr/>
        <p:txBody>
          <a:bodyPr/>
          <a:lstStyle/>
          <a:p>
            <a:pPr eaLnBrk="1" hangingPunct="1"/>
            <a:r>
              <a:rPr lang="zh-CN" altLang="en-US" sz="3200"/>
              <a:t>收　费　标　准　表    </a:t>
            </a:r>
            <a:r>
              <a:rPr lang="en-US" altLang="zh-CN" sz="3200"/>
              <a:t>(</a:t>
            </a:r>
            <a:r>
              <a:rPr lang="zh-CN" altLang="en-US" sz="3200" b="0"/>
              <a:t>单位：元</a:t>
            </a:r>
            <a:r>
              <a:rPr lang="en-US" altLang="zh-CN" sz="3200" b="0"/>
              <a:t>/</a:t>
            </a:r>
            <a:r>
              <a:rPr lang="zh-CN" altLang="en-US" sz="3200" b="0"/>
              <a:t>公里</a:t>
            </a:r>
            <a:r>
              <a:rPr lang="en-US" altLang="zh-CN" sz="3200" b="0"/>
              <a:t>)</a:t>
            </a:r>
            <a:endParaRPr lang="en-US" altLang="zh-CN" sz="3200" b="0"/>
          </a:p>
        </p:txBody>
      </p:sp>
      <p:graphicFrame>
        <p:nvGraphicFramePr>
          <p:cNvPr id="1114117" name="Group 5"/>
          <p:cNvGraphicFramePr>
            <a:graphicFrameLocks noGrp="1"/>
          </p:cNvGraphicFramePr>
          <p:nvPr/>
        </p:nvGraphicFramePr>
        <p:xfrm>
          <a:off x="0" y="977900"/>
          <a:ext cx="9144000" cy="2868613"/>
        </p:xfrm>
        <a:graphic>
          <a:graphicData uri="http://schemas.openxmlformats.org/drawingml/2006/table">
            <a:tbl>
              <a:tblPr/>
              <a:tblGrid>
                <a:gridCol w="1708150"/>
                <a:gridCol w="1487488"/>
                <a:gridCol w="1487487"/>
                <a:gridCol w="1485900"/>
                <a:gridCol w="1487488"/>
                <a:gridCol w="1487487"/>
              </a:tblGrid>
              <a:tr h="955675">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年   份</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2008</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2010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2015</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2020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2025</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57263">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小汽车</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0.90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0.90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1.15</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1.47</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1.87</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55675">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混合汽车</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1.40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1.40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1.77</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2.25</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2.84</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49185" name="Text Box 35"/>
          <p:cNvSpPr txBox="1">
            <a:spLocks noChangeArrowheads="1"/>
          </p:cNvSpPr>
          <p:nvPr/>
        </p:nvSpPr>
        <p:spPr bwMode="auto">
          <a:xfrm>
            <a:off x="254000" y="4522788"/>
            <a:ext cx="6781800" cy="641350"/>
          </a:xfrm>
          <a:prstGeom prst="rect">
            <a:avLst/>
          </a:prstGeom>
          <a:noFill/>
          <a:ln>
            <a:noFill/>
          </a:ln>
        </p:spPr>
        <p:txBody>
          <a:bodyPr wrap="none">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4000">
                <a:solidFill>
                  <a:srgbClr val="0000FF"/>
                </a:solidFill>
                <a:ea typeface="楷体_GB2312" charset="-122"/>
              </a:rPr>
              <a:t>按</a:t>
            </a:r>
            <a:r>
              <a:rPr lang="en-US" altLang="zh-CN" sz="4000">
                <a:solidFill>
                  <a:srgbClr val="0000FF"/>
                </a:solidFill>
                <a:ea typeface="楷体_GB2312" charset="-122"/>
              </a:rPr>
              <a:t>5%</a:t>
            </a:r>
            <a:r>
              <a:rPr lang="zh-CN" altLang="en-US" sz="4000">
                <a:solidFill>
                  <a:srgbClr val="0000FF"/>
                </a:solidFill>
                <a:ea typeface="楷体_GB2312" charset="-122"/>
              </a:rPr>
              <a:t>的增幅每</a:t>
            </a:r>
            <a:r>
              <a:rPr lang="en-US" altLang="zh-CN" sz="4000">
                <a:solidFill>
                  <a:srgbClr val="0000FF"/>
                </a:solidFill>
                <a:ea typeface="楷体_GB2312" charset="-122"/>
              </a:rPr>
              <a:t>5</a:t>
            </a:r>
            <a:r>
              <a:rPr lang="zh-CN" altLang="en-US" sz="4000">
                <a:solidFill>
                  <a:srgbClr val="0000FF"/>
                </a:solidFill>
                <a:ea typeface="楷体_GB2312" charset="-122"/>
              </a:rPr>
              <a:t>年调整一次 </a:t>
            </a:r>
            <a:endParaRPr lang="zh-CN" altLang="en-US" sz="4000">
              <a:solidFill>
                <a:srgbClr val="0000FF"/>
              </a:solidFill>
              <a:ea typeface="楷体_GB231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p:txBody>
          <a:bodyPr/>
          <a:lstStyle/>
          <a:p>
            <a:pPr eaLnBrk="1" hangingPunct="1"/>
            <a:r>
              <a:rPr lang="zh-CN" altLang="en-US" sz="3200"/>
              <a:t>财 务 效 益    </a:t>
            </a:r>
            <a:r>
              <a:rPr lang="en-US" altLang="zh-CN" sz="3200"/>
              <a:t>(</a:t>
            </a:r>
            <a:r>
              <a:rPr lang="zh-CN" altLang="en-US" sz="3200"/>
              <a:t>单位：万元 </a:t>
            </a:r>
            <a:r>
              <a:rPr lang="en-US" altLang="zh-CN" sz="3200"/>
              <a:t>)</a:t>
            </a:r>
            <a:endParaRPr lang="en-US" altLang="zh-CN" sz="3200"/>
          </a:p>
        </p:txBody>
      </p:sp>
      <p:graphicFrame>
        <p:nvGraphicFramePr>
          <p:cNvPr id="1115141" name="Group 5"/>
          <p:cNvGraphicFramePr>
            <a:graphicFrameLocks noGrp="1"/>
          </p:cNvGraphicFramePr>
          <p:nvPr/>
        </p:nvGraphicFramePr>
        <p:xfrm>
          <a:off x="0" y="977900"/>
          <a:ext cx="9144000" cy="3657600"/>
        </p:xfrm>
        <a:graphic>
          <a:graphicData uri="http://schemas.openxmlformats.org/drawingml/2006/table">
            <a:tbl>
              <a:tblPr/>
              <a:tblGrid>
                <a:gridCol w="1712913"/>
                <a:gridCol w="1238250"/>
                <a:gridCol w="1238250"/>
                <a:gridCol w="1238250"/>
                <a:gridCol w="1239837"/>
                <a:gridCol w="1238250"/>
                <a:gridCol w="1238250"/>
              </a:tblGrid>
              <a:tr h="2057400">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年   份</a:t>
                      </a:r>
                      <a:endParaRPr kumimoji="0" lang="zh-CN" altLang="en-US"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2008</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2010</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2015</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2020</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2025</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2027</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00200">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财务效益</a:t>
                      </a:r>
                      <a:endParaRPr kumimoji="0" lang="zh-CN" altLang="en-US"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56332</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72541</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135591</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230557</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353935</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371974</a:t>
                      </a:r>
                      <a:endParaRPr kumimoji="0" lang="en-US" altLang="zh-CN" sz="2400" b="1" i="0" u="none" strike="noStrike" cap="none" normalizeH="0" baseline="0">
                        <a:ln>
                          <a:noFill/>
                        </a:ln>
                        <a:solidFill>
                          <a:srgbClr val="000000"/>
                        </a:solidFill>
                        <a:effectLst/>
                        <a:latin typeface="Times"/>
                        <a:ea typeface="楷体_GB2312"/>
                        <a:cs typeface="Times New Roman" panose="02020603050405020304" charset="0"/>
                      </a:endParaRPr>
                    </a:p>
                  </a:txBody>
                  <a:tcPr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title"/>
          </p:nvPr>
        </p:nvSpPr>
        <p:spPr/>
        <p:txBody>
          <a:bodyPr/>
          <a:lstStyle/>
          <a:p>
            <a:pPr eaLnBrk="1" hangingPunct="1"/>
            <a:r>
              <a:rPr lang="zh-CN" altLang="en-US" sz="3200"/>
              <a:t>财务评价结果 </a:t>
            </a:r>
            <a:endParaRPr lang="zh-CN" altLang="en-US" sz="3200"/>
          </a:p>
        </p:txBody>
      </p:sp>
      <p:graphicFrame>
        <p:nvGraphicFramePr>
          <p:cNvPr id="1116193" name="Group 33"/>
          <p:cNvGraphicFramePr>
            <a:graphicFrameLocks noGrp="1"/>
          </p:cNvGraphicFramePr>
          <p:nvPr/>
        </p:nvGraphicFramePr>
        <p:xfrm>
          <a:off x="0" y="977900"/>
          <a:ext cx="9144000" cy="4914900"/>
        </p:xfrm>
        <a:graphic>
          <a:graphicData uri="http://schemas.openxmlformats.org/drawingml/2006/table">
            <a:tbl>
              <a:tblPr/>
              <a:tblGrid>
                <a:gridCol w="750888"/>
                <a:gridCol w="877887"/>
                <a:gridCol w="1752600"/>
                <a:gridCol w="1879600"/>
                <a:gridCol w="1879600"/>
                <a:gridCol w="2003425"/>
              </a:tblGrid>
              <a:tr h="1798436">
                <a:tc grid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指标名称</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财务净现值</a:t>
                      </a:r>
                      <a:endParaRPr kumimoji="0" lang="zh-CN" altLang="en-US"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FNPV       (</a:t>
                      </a: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亿元</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endParaRPr kumimoji="0" lang="en-US" altLang="zh-CN"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财务内部收益率 </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FIRR     (</a:t>
                      </a: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财务效益成本比</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FBCR</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财务投资回收期</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N     (</a:t>
                      </a: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年</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59026">
                <a:tc rowSpan="2">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  指标值</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税后</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47.50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7.09</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220" algn="l"/>
                          <a:tab pos="2251075" algn="l"/>
                          <a:tab pos="3378200" algn="l"/>
                          <a:tab pos="4503420" algn="l"/>
                          <a:tab pos="5629275" algn="l"/>
                        </a:tabLst>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1.27</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220" algn="l"/>
                          <a:tab pos="2251075" algn="l"/>
                          <a:tab pos="3378200" algn="l"/>
                          <a:tab pos="4503420" algn="l"/>
                          <a:tab pos="5629275" algn="l"/>
                        </a:tabLst>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19.11</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57438">
                <a:tc vMerge="1">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税前</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97.89</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9.58</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220" algn="l"/>
                          <a:tab pos="2251075" algn="l"/>
                          <a:tab pos="3378200" algn="l"/>
                          <a:tab pos="4503420" algn="l"/>
                          <a:tab pos="5629275" algn="l"/>
                        </a:tabLst>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1.80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125220" algn="l"/>
                          <a:tab pos="2251075" algn="l"/>
                          <a:tab pos="3378200" algn="l"/>
                          <a:tab pos="4503420" algn="l"/>
                          <a:tab pos="5629275" algn="l"/>
                        </a:tabLst>
                      </a:pP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16.70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23" marB="45723"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title"/>
          </p:nvPr>
        </p:nvSpPr>
        <p:spPr/>
        <p:txBody>
          <a:bodyPr/>
          <a:lstStyle/>
          <a:p>
            <a:pPr eaLnBrk="1" hangingPunct="1"/>
            <a:r>
              <a:rPr lang="zh-CN" altLang="en-US" sz="3200"/>
              <a:t>财务敏感性分析 </a:t>
            </a:r>
            <a:endParaRPr lang="zh-CN" altLang="en-US" sz="3200"/>
          </a:p>
        </p:txBody>
      </p:sp>
      <p:graphicFrame>
        <p:nvGraphicFramePr>
          <p:cNvPr id="1117189" name="Group 5"/>
          <p:cNvGraphicFramePr>
            <a:graphicFrameLocks noGrp="1"/>
          </p:cNvGraphicFramePr>
          <p:nvPr/>
        </p:nvGraphicFramePr>
        <p:xfrm>
          <a:off x="0" y="977900"/>
          <a:ext cx="9144000" cy="4729166"/>
        </p:xfrm>
        <a:graphic>
          <a:graphicData uri="http://schemas.openxmlformats.org/drawingml/2006/table">
            <a:tbl>
              <a:tblPr/>
              <a:tblGrid>
                <a:gridCol w="2500313"/>
                <a:gridCol w="1660525"/>
                <a:gridCol w="1660525"/>
                <a:gridCol w="1662112"/>
                <a:gridCol w="1660525"/>
              </a:tblGrid>
              <a:tr h="1371588">
                <a:tc>
                  <a:txBody>
                    <a:bodyPr/>
                    <a:lstStyle/>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指标   </a:t>
                      </a:r>
                      <a:endParaRPr kumimoji="0" lang="zh-CN" altLang="en-US"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  分析方案</a:t>
                      </a:r>
                      <a:endParaRPr kumimoji="0" lang="zh-CN" altLang="en-US"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财务净现值</a:t>
                      </a:r>
                      <a:endParaRPr kumimoji="0" lang="zh-CN" altLang="en-US"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（亿元）</a:t>
                      </a:r>
                      <a:endParaRPr kumimoji="0" lang="zh-CN" altLang="en-US"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内部收益率</a:t>
                      </a:r>
                      <a:endParaRPr kumimoji="0" lang="zh-CN" altLang="en-US"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a:t>
                      </a:r>
                      <a:endParaRPr kumimoji="0" lang="zh-CN" altLang="en-US"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效益成本比</a:t>
                      </a:r>
                      <a:endParaRPr kumimoji="0" lang="zh-CN" altLang="en-US"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投资回收期</a:t>
                      </a:r>
                      <a:endParaRPr kumimoji="0" lang="zh-CN" altLang="en-US"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（年）</a:t>
                      </a:r>
                      <a:endParaRPr kumimoji="0" lang="zh-CN" altLang="en-US"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84129">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效益减少</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3.32</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266700" algn="r"/>
                          <a:tab pos="2636520" algn="ctr"/>
                          <a:tab pos="5273675" algn="r"/>
                        </a:tabLst>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4.02</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1.02</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23.49</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85716">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费用增加</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a:t>
                      </a:r>
                      <a:endParaRPr kumimoji="0" lang="en-US" altLang="zh-CN" sz="2800" b="0" i="0" u="none" strike="noStrike" cap="none" normalizeH="0" baseline="0">
                        <a:ln>
                          <a:noFill/>
                        </a:ln>
                        <a:solidFill>
                          <a:srgbClr val="000000"/>
                        </a:solidFill>
                        <a:effectLst/>
                        <a:latin typeface="Times"/>
                        <a:ea typeface="楷体_GB2312"/>
                        <a:cs typeface="Times New Roman" panose="02020603050405020304"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28.7</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5.55</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1.15</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21.13</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42861">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效益减少</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10%</a:t>
                      </a:r>
                      <a:endParaRPr kumimoji="0" lang="en-US" altLang="zh-CN"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费用增加</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10%</a:t>
                      </a:r>
                      <a:endParaRPr kumimoji="0" lang="en-US" altLang="zh-CN"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16.01</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4.89</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1.09</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22.08</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44869">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效益减少</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a:t>
                      </a:r>
                      <a:endParaRPr kumimoji="0" lang="en-US" altLang="zh-CN" sz="2800" b="0" i="0" u="none" strike="noStrike" cap="none" normalizeH="0" baseline="0">
                        <a:ln>
                          <a:noFill/>
                        </a:ln>
                        <a:solidFill>
                          <a:srgbClr val="000000"/>
                        </a:solidFill>
                        <a:effectLst/>
                        <a:latin typeface="Arial" panose="020B0604020202020204" pitchFamily="34" charset="0"/>
                        <a:ea typeface="楷体_GB2312"/>
                        <a:cs typeface="Times New Roman" panose="02020603050405020304"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费用增加</a:t>
                      </a:r>
                      <a:r>
                        <a:rPr kumimoji="0" lang="en-US" altLang="zh-CN" sz="2800" b="0" i="0" u="none" strike="noStrike" cap="none" normalizeH="0" baseline="0">
                          <a:ln>
                            <a:noFill/>
                          </a:ln>
                          <a:solidFill>
                            <a:srgbClr val="000000"/>
                          </a:solidFill>
                          <a:effectLst/>
                          <a:latin typeface="Times New Roman" panose="02020603050405020304" charset="0"/>
                          <a:ea typeface="楷体_GB2312"/>
                          <a:cs typeface="Times New Roman" panose="02020603050405020304" charset="0"/>
                        </a:rPr>
                        <a:t>20%</a:t>
                      </a:r>
                      <a:endParaRPr kumimoji="0" lang="en-US" altLang="zh-CN" sz="2800" b="0" i="0" u="none" strike="noStrike" cap="none" normalizeH="0" baseline="0">
                        <a:ln>
                          <a:noFill/>
                        </a:ln>
                        <a:solidFill>
                          <a:srgbClr val="000000"/>
                        </a:solidFill>
                        <a:effectLst/>
                        <a:latin typeface="Times"/>
                        <a:ea typeface="宋体" panose="02010600030101010101" pitchFamily="2" charset="-122"/>
                        <a:cs typeface="Times New Roman" panose="02020603050405020304" charset="0"/>
                      </a:endParaRPr>
                    </a:p>
                  </a:txBody>
                  <a:tcPr marT="45715" marB="45715" anchor="ct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-15.48</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2.60</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0.92</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rgbClr val="000000"/>
                          </a:solidFill>
                          <a:effectLst/>
                          <a:latin typeface="Times New Roman" panose="02020603050405020304" charset="0"/>
                          <a:ea typeface="宋体" panose="02010600030101010101" pitchFamily="2" charset="-122"/>
                          <a:cs typeface="Times New Roman" panose="02020603050405020304" charset="0"/>
                        </a:rPr>
                        <a:t>26.38</a:t>
                      </a:r>
                      <a:endParaRPr kumimoji="0" lang="en-US" altLang="zh-CN" sz="2800" b="0" i="0" u="none" strike="noStrike" cap="none" normalizeH="0" baseline="0">
                        <a:ln>
                          <a:noFill/>
                        </a:ln>
                        <a:solidFill>
                          <a:srgbClr val="000000"/>
                        </a:solidFill>
                        <a:effectLst/>
                        <a:latin typeface="Times"/>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2265" name="Text Box 43"/>
          <p:cNvSpPr txBox="1">
            <a:spLocks noChangeArrowheads="1"/>
          </p:cNvSpPr>
          <p:nvPr/>
        </p:nvSpPr>
        <p:spPr bwMode="auto">
          <a:xfrm>
            <a:off x="349250" y="5707063"/>
            <a:ext cx="5122863" cy="931862"/>
          </a:xfrm>
          <a:prstGeom prst="rect">
            <a:avLst/>
          </a:prstGeom>
          <a:noFill/>
          <a:ln>
            <a:noFill/>
          </a:ln>
        </p:spPr>
        <p:txBody>
          <a:bodyPr wrap="none">
            <a:spAutoFit/>
          </a:bodyPr>
          <a:lstStyle>
            <a:lvl1pPr marL="342900" indent="-342900">
              <a:spcBef>
                <a:spcPct val="20000"/>
              </a:spcBef>
              <a:buChar char="•"/>
              <a:defRPr sz="3200" b="1">
                <a:solidFill>
                  <a:srgbClr val="000000"/>
                </a:solidFill>
                <a:latin typeface="Arial" panose="020B0604020202020204" pitchFamily="34" charset="0"/>
                <a:ea typeface="宋体" panose="02010600030101010101" pitchFamily="2" charset="-122"/>
              </a:defRPr>
            </a:lvl1pPr>
            <a:lvl2pPr marL="742950" indent="-285750">
              <a:spcBef>
                <a:spcPct val="20000"/>
              </a:spcBef>
              <a:buChar char="–"/>
              <a:defRPr sz="2800" b="1">
                <a:solidFill>
                  <a:srgbClr val="000000"/>
                </a:solidFill>
                <a:latin typeface="Arial" panose="020B0604020202020204" pitchFamily="34" charset="0"/>
                <a:ea typeface="宋体" panose="02010600030101010101" pitchFamily="2" charset="-122"/>
              </a:defRPr>
            </a:lvl2pPr>
            <a:lvl3pPr marL="1143000" indent="-228600">
              <a:spcBef>
                <a:spcPct val="20000"/>
              </a:spcBef>
              <a:buChar char="•"/>
              <a:defRPr sz="2400" b="1">
                <a:solidFill>
                  <a:srgbClr val="000000"/>
                </a:solidFill>
                <a:latin typeface="Arial" panose="020B0604020202020204" pitchFamily="34" charset="0"/>
                <a:ea typeface="宋体" panose="02010600030101010101" pitchFamily="2" charset="-122"/>
              </a:defRPr>
            </a:lvl3pPr>
            <a:lvl4pPr marL="1600200" indent="-228600">
              <a:spcBef>
                <a:spcPct val="20000"/>
              </a:spcBef>
              <a:buChar char="–"/>
              <a:defRPr sz="2000" b="1">
                <a:solidFill>
                  <a:srgbClr val="000000"/>
                </a:solidFill>
                <a:latin typeface="Arial" panose="020B0604020202020204" pitchFamily="34" charset="0"/>
                <a:ea typeface="宋体" panose="02010600030101010101" pitchFamily="2" charset="-122"/>
              </a:defRPr>
            </a:lvl4pPr>
            <a:lvl5pPr marL="2057400" indent="-228600">
              <a:spcBef>
                <a:spcPct val="20000"/>
              </a:spcBef>
              <a:buChar char="»"/>
              <a:defRPr sz="2000" b="1">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宋体" panose="02010600030101010101" pitchFamily="2" charset="-122"/>
              </a:defRPr>
            </a:lvl9pPr>
          </a:lstStyle>
          <a:p>
            <a:pPr eaLnBrk="1" hangingPunct="1">
              <a:lnSpc>
                <a:spcPct val="90000"/>
              </a:lnSpc>
              <a:spcBef>
                <a:spcPct val="50000"/>
              </a:spcBef>
            </a:pPr>
            <a:r>
              <a:rPr lang="zh-CN" altLang="en-US" sz="2400">
                <a:solidFill>
                  <a:srgbClr val="0000FF"/>
                </a:solidFill>
                <a:ea typeface="楷体_GB2312" charset="-122"/>
              </a:rPr>
              <a:t>项目财务上承受风险的能力一般，</a:t>
            </a:r>
            <a:endParaRPr lang="zh-CN" altLang="en-US" sz="2400">
              <a:solidFill>
                <a:srgbClr val="0000FF"/>
              </a:solidFill>
              <a:ea typeface="楷体_GB2312" charset="-122"/>
            </a:endParaRPr>
          </a:p>
          <a:p>
            <a:pPr eaLnBrk="1" hangingPunct="1">
              <a:lnSpc>
                <a:spcPct val="90000"/>
              </a:lnSpc>
              <a:spcBef>
                <a:spcPct val="50000"/>
              </a:spcBef>
            </a:pPr>
            <a:r>
              <a:rPr lang="zh-CN" altLang="en-US" sz="2400">
                <a:solidFill>
                  <a:srgbClr val="0000FF"/>
                </a:solidFill>
                <a:ea typeface="楷体_GB2312" charset="-122"/>
              </a:rPr>
              <a:t>应注意控制工程造价 </a:t>
            </a:r>
            <a:endParaRPr lang="zh-CN" altLang="en-US" sz="2400">
              <a:solidFill>
                <a:srgbClr val="0000FF"/>
              </a:solidFill>
              <a:ea typeface="楷体_GB231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endParaRPr lang="zh-CN" altLang="en-US"/>
          </a:p>
        </p:txBody>
      </p:sp>
      <p:sp>
        <p:nvSpPr>
          <p:cNvPr id="53251" name="Rectangle 3"/>
          <p:cNvSpPr>
            <a:spLocks noGrp="1" noChangeArrowheads="1"/>
          </p:cNvSpPr>
          <p:nvPr>
            <p:ph type="body" idx="1"/>
          </p:nvPr>
        </p:nvSpPr>
        <p:spPr/>
        <p:txBody>
          <a:bodyPr/>
          <a:lstStyle/>
          <a:p>
            <a:pPr algn="ctr" eaLnBrk="1" hangingPunct="1">
              <a:buFontTx/>
              <a:buNone/>
            </a:pPr>
            <a:r>
              <a:rPr lang="en-US" altLang="zh-CN" sz="6000" i="1">
                <a:solidFill>
                  <a:srgbClr val="800000"/>
                </a:solidFill>
              </a:rPr>
              <a:t>QUESTION?</a:t>
            </a:r>
            <a:endParaRPr lang="en-US" altLang="zh-CN" sz="6000" i="1">
              <a:solidFill>
                <a:srgbClr val="800000"/>
              </a:solidFill>
            </a:endParaRPr>
          </a:p>
        </p:txBody>
      </p:sp>
    </p:spTree>
  </p:cSld>
  <p:clrMapOvr>
    <a:masterClrMapping/>
  </p:clrMapOvr>
  <p:transition/>
</p:sld>
</file>

<file path=ppt/tags/tag1.xml><?xml version="1.0" encoding="utf-8"?>
<p:tagLst xmlns:p="http://schemas.openxmlformats.org/presentationml/2006/main">
  <p:tag name="COMMONDATA" val="eyJoZGlkIjoiOTI0OWQxZGJjNDE2MzIxNDlmMGQ4ZDUyYzcyZTE1MzkifQ=="/>
  <p:tag name="commondata" val="eyJoZGlkIjoiMDUyNTk2M2IyMzU4MzVkNTcwMTc5ZTNjMDhlZjc2Nj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楷体"/>
        <a:ea typeface="楷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a:cs typeface="楷体_GB231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342900" marR="0" indent="-342900" algn="l" defTabSz="914400" rtl="0" eaLnBrk="1" fontAlgn="base" latinLnBrk="0" hangingPunct="1">
          <a:lnSpc>
            <a:spcPct val="90000"/>
          </a:lnSpc>
          <a:spcBef>
            <a:spcPct val="50000"/>
          </a:spcBef>
          <a:spcAft>
            <a:spcPct val="0"/>
          </a:spcAft>
          <a:buClrTx/>
          <a:buSzTx/>
          <a:buFontTx/>
          <a:buChar char="•"/>
          <a:defRPr kumimoji="0" lang="en-US" sz="4000" b="1" i="0" u="none" strike="noStrike" cap="none" normalizeH="0" baseline="0" smtClean="0">
            <a:ln>
              <a:noFill/>
            </a:ln>
            <a:solidFill>
              <a:srgbClr val="0000FF"/>
            </a:solidFill>
            <a:effectLst/>
            <a:latin typeface="Arial" panose="020B0604020202020204" pitchFamily="34" charset="0"/>
            <a:ea typeface="楷体_GB2312"/>
            <a:cs typeface="楷体_GB2312"/>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5098</Words>
  <Application>WPS 演示</Application>
  <PresentationFormat>全屏显示(4:3)</PresentationFormat>
  <Paragraphs>837</Paragraphs>
  <Slides>37</Slides>
  <Notes>10</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4</vt:i4>
      </vt:variant>
      <vt:variant>
        <vt:lpstr>幻灯片标题</vt:lpstr>
      </vt:variant>
      <vt:variant>
        <vt:i4>37</vt:i4>
      </vt:variant>
    </vt:vector>
  </HeadingPairs>
  <TitlesOfParts>
    <vt:vector size="58" baseType="lpstr">
      <vt:lpstr>Arial</vt:lpstr>
      <vt:lpstr>宋体</vt:lpstr>
      <vt:lpstr>Wingdings</vt:lpstr>
      <vt:lpstr>楷体_GB2312</vt:lpstr>
      <vt:lpstr>新宋体</vt:lpstr>
      <vt:lpstr>楷体_GB2312</vt:lpstr>
      <vt:lpstr>Times</vt:lpstr>
      <vt:lpstr>楷体</vt:lpstr>
      <vt:lpstr>Times New Roman</vt:lpstr>
      <vt:lpstr>Times</vt:lpstr>
      <vt:lpstr>方正舒体</vt:lpstr>
      <vt:lpstr>华文新魏</vt:lpstr>
      <vt:lpstr>微软雅黑</vt:lpstr>
      <vt:lpstr>Arial Unicode MS</vt:lpstr>
      <vt:lpstr>仿宋_GB2312</vt:lpstr>
      <vt:lpstr>仿宋</vt:lpstr>
      <vt:lpstr>Blank Presentation</vt:lpstr>
      <vt:lpstr>Visio.Drawing.11</vt:lpstr>
      <vt:lpstr>Word.Document.8</vt:lpstr>
      <vt:lpstr>Word.Document.8</vt:lpstr>
      <vt:lpstr>MSGraph.Chart.8</vt:lpstr>
      <vt:lpstr>工程经济学  项目可行性研究:财务评价</vt:lpstr>
      <vt:lpstr>可行性研究        工程经济学</vt:lpstr>
      <vt:lpstr>财务评价的步骤</vt:lpstr>
      <vt:lpstr>PowerPoint 演示文稿</vt:lpstr>
      <vt:lpstr>PowerPoint 演示文稿</vt:lpstr>
      <vt:lpstr>财务评价的前期准备：基本参数的确定</vt:lpstr>
      <vt:lpstr>基本参数的确定(续)</vt:lpstr>
      <vt:lpstr>基本参数的确定(续)</vt:lpstr>
      <vt:lpstr>财务报表间的关系(以房地产开发项目为例)</vt:lpstr>
      <vt:lpstr>基本的财务报表 </vt:lpstr>
      <vt:lpstr>基本的财务报表</vt:lpstr>
      <vt:lpstr>基本的财务报表</vt:lpstr>
      <vt:lpstr>PowerPoint 演示文稿</vt:lpstr>
      <vt:lpstr>某水电工程财务评价</vt:lpstr>
      <vt:lpstr>解答</vt:lpstr>
      <vt:lpstr>偿债能力分析</vt:lpstr>
      <vt:lpstr>例子</vt:lpstr>
      <vt:lpstr>结果:</vt:lpstr>
      <vt:lpstr>练习</vt:lpstr>
      <vt:lpstr>结果:</vt:lpstr>
      <vt:lpstr>案例:评标分析(财务状况)</vt:lpstr>
      <vt:lpstr>案例: 三峡工程投资分析</vt:lpstr>
      <vt:lpstr>三峡工程筹资方案</vt:lpstr>
      <vt:lpstr>三峡工程投资控制体系</vt:lpstr>
      <vt:lpstr>投资风险分析</vt:lpstr>
      <vt:lpstr>三峡电厂发电收益</vt:lpstr>
      <vt:lpstr>金沙江下游梯级电站工程特性综合表 </vt:lpstr>
      <vt:lpstr>案例:嘉兴至绍兴公路工程财务评价</vt:lpstr>
      <vt:lpstr>投资估算 </vt:lpstr>
      <vt:lpstr>资金筹措 </vt:lpstr>
      <vt:lpstr>项目成本 </vt:lpstr>
      <vt:lpstr>财务基准折现率 </vt:lpstr>
      <vt:lpstr>收　费　标　准　表    (单位：元/公里)</vt:lpstr>
      <vt:lpstr>财 务 效 益    (单位：万元 )</vt:lpstr>
      <vt:lpstr>财务评价结果 </vt:lpstr>
      <vt:lpstr>财务敏感性分析 </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2400</cp:revision>
  <dcterms:created xsi:type="dcterms:W3CDTF">2006-03-30T18:33:00Z</dcterms:created>
  <dcterms:modified xsi:type="dcterms:W3CDTF">2023-11-22T11:33:30Z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148861A5C5314DE8A848686921EDA8BF</vt:lpwstr>
  </property>
  <property fmtid="{D5CDD505-2E9C-101B-9397-08002B2CF9AE}" pid="3" name="KSOProductBuildVer">
    <vt:lpwstr>2052-12.1.0.15712</vt:lpwstr>
  </property>
</Properties>
</file>