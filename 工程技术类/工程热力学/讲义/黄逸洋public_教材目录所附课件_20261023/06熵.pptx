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361" r:id="rId8"/>
    <p:sldId id="362" r:id="rId9"/>
    <p:sldId id="363" r:id="rId10"/>
    <p:sldId id="364" r:id="rId11"/>
    <p:sldId id="273" r:id="rId12"/>
    <p:sldId id="266" r:id="rId13"/>
    <p:sldId id="275" r:id="rId14"/>
    <p:sldId id="276" r:id="rId15"/>
    <p:sldId id="277" r:id="rId16"/>
    <p:sldId id="274" r:id="rId17"/>
    <p:sldId id="278" r:id="rId18"/>
    <p:sldId id="279" r:id="rId19"/>
    <p:sldId id="365"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60"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sorterViewPr>
    <p:cViewPr>
      <p:scale>
        <a:sx n="100" d="100"/>
        <a:sy n="100" d="100"/>
      </p:scale>
      <p:origin x="0" y="-2360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png"/></Relationships>
</file>

<file path=ppt/drawings/_rels/vmlDrawing8.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52.wmf"/><Relationship Id="rId5" Type="http://schemas.openxmlformats.org/officeDocument/2006/relationships/image" Target="../media/image48.wmf"/><Relationship Id="rId4" Type="http://schemas.openxmlformats.org/officeDocument/2006/relationships/image" Target="../media/image23.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5.wmf"/><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23.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2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28.vml.rels><?xml version="1.0" encoding="UTF-8" standalone="yes"?>
<Relationships xmlns="http://schemas.openxmlformats.org/package/2006/relationships"><Relationship Id="rId5" Type="http://schemas.openxmlformats.org/officeDocument/2006/relationships/image" Target="../media/image113.wmf"/><Relationship Id="rId4" Type="http://schemas.openxmlformats.org/officeDocument/2006/relationships/image" Target="../media/image112.wmf"/><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18.wmf"/><Relationship Id="rId1" Type="http://schemas.openxmlformats.org/officeDocument/2006/relationships/image" Target="../media/image120.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2.wmf"/></Relationships>
</file>

<file path=ppt/drawings/_rels/vmlDrawing33.vml.rels><?xml version="1.0" encoding="UTF-8" standalone="yes"?>
<Relationships xmlns="http://schemas.openxmlformats.org/package/2006/relationships"><Relationship Id="rId4" Type="http://schemas.openxmlformats.org/officeDocument/2006/relationships/image" Target="../media/image126.wmf"/><Relationship Id="rId3" Type="http://schemas.openxmlformats.org/officeDocument/2006/relationships/image" Target="../media/image125.wmf"/><Relationship Id="rId2" Type="http://schemas.openxmlformats.org/officeDocument/2006/relationships/image" Target="../media/image122.wmf"/><Relationship Id="rId1" Type="http://schemas.openxmlformats.org/officeDocument/2006/relationships/image" Target="../media/image12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8.wmf"/><Relationship Id="rId1" Type="http://schemas.openxmlformats.org/officeDocument/2006/relationships/image" Target="../media/image127.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135.wmf"/><Relationship Id="rId4" Type="http://schemas.openxmlformats.org/officeDocument/2006/relationships/image" Target="../media/image134.wmf"/><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141.wmf"/><Relationship Id="rId4" Type="http://schemas.openxmlformats.org/officeDocument/2006/relationships/image" Target="../media/image140.wmf"/><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37.vml.rels><?xml version="1.0" encoding="UTF-8" standalone="yes"?>
<Relationships xmlns="http://schemas.openxmlformats.org/package/2006/relationships"><Relationship Id="rId6" Type="http://schemas.openxmlformats.org/officeDocument/2006/relationships/image" Target="../media/image150.wmf"/><Relationship Id="rId5" Type="http://schemas.openxmlformats.org/officeDocument/2006/relationships/image" Target="../media/image149.wmf"/><Relationship Id="rId4" Type="http://schemas.openxmlformats.org/officeDocument/2006/relationships/image" Target="../media/image148.wmf"/><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154.wmf"/><Relationship Id="rId7" Type="http://schemas.openxmlformats.org/officeDocument/2006/relationships/image" Target="../media/image153.wmf"/><Relationship Id="rId6" Type="http://schemas.openxmlformats.org/officeDocument/2006/relationships/image" Target="../media/image152.wmf"/><Relationship Id="rId5" Type="http://schemas.openxmlformats.org/officeDocument/2006/relationships/image" Target="../media/image149.wmf"/><Relationship Id="rId4" Type="http://schemas.openxmlformats.org/officeDocument/2006/relationships/image" Target="../media/image148.wmf"/><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51.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40.vml.rels><?xml version="1.0" encoding="UTF-8" standalone="yes"?>
<Relationships xmlns="http://schemas.openxmlformats.org/package/2006/relationships"><Relationship Id="rId4" Type="http://schemas.openxmlformats.org/officeDocument/2006/relationships/image" Target="../media/image159.wmf"/><Relationship Id="rId3" Type="http://schemas.openxmlformats.org/officeDocument/2006/relationships/image" Target="../media/image157.wmf"/><Relationship Id="rId2" Type="http://schemas.openxmlformats.org/officeDocument/2006/relationships/image" Target="../media/image150.wmf"/><Relationship Id="rId1" Type="http://schemas.openxmlformats.org/officeDocument/2006/relationships/image" Target="../media/image15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s>
</file>

<file path=ppt/drawings/_rels/vmlDrawing42.vml.rels><?xml version="1.0" encoding="UTF-8" standalone="yes"?>
<Relationships xmlns="http://schemas.openxmlformats.org/package/2006/relationships"><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73.wmf"/></Relationships>
</file>

<file path=ppt/drawings/_rels/vmlDrawing44.vml.rels><?xml version="1.0" encoding="UTF-8" standalone="yes"?>
<Relationships xmlns="http://schemas.openxmlformats.org/package/2006/relationships"><Relationship Id="rId4" Type="http://schemas.openxmlformats.org/officeDocument/2006/relationships/image" Target="../media/image179.wmf"/><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81.wmf"/><Relationship Id="rId1" Type="http://schemas.openxmlformats.org/officeDocument/2006/relationships/image" Target="../media/image180.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83.wmf"/><Relationship Id="rId1" Type="http://schemas.openxmlformats.org/officeDocument/2006/relationships/image" Target="../media/image182.wmf"/></Relationships>
</file>

<file path=ppt/drawings/_rels/vmlDrawing47.vml.rels><?xml version="1.0" encoding="UTF-8" standalone="yes"?>
<Relationships xmlns="http://schemas.openxmlformats.org/package/2006/relationships"><Relationship Id="rId5" Type="http://schemas.openxmlformats.org/officeDocument/2006/relationships/image" Target="../media/image189.wmf"/><Relationship Id="rId4" Type="http://schemas.openxmlformats.org/officeDocument/2006/relationships/image" Target="../media/image188.wmf"/><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93.wmf"/><Relationship Id="rId1" Type="http://schemas.openxmlformats.org/officeDocument/2006/relationships/image" Target="../media/image192.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96.wmf"/><Relationship Id="rId1" Type="http://schemas.openxmlformats.org/officeDocument/2006/relationships/image" Target="../media/image195.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99.wmf"/><Relationship Id="rId1" Type="http://schemas.openxmlformats.org/officeDocument/2006/relationships/image" Target="../media/image198.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image" Target="../media/image203.wmf"/><Relationship Id="rId1" Type="http://schemas.openxmlformats.org/officeDocument/2006/relationships/image" Target="../media/image202.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206.wmf"/><Relationship Id="rId1" Type="http://schemas.openxmlformats.org/officeDocument/2006/relationships/image" Target="../media/image205.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08.wmf"/><Relationship Id="rId1" Type="http://schemas.openxmlformats.org/officeDocument/2006/relationships/image" Target="../media/image207.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0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7" Type="http://schemas.openxmlformats.org/officeDocument/2006/relationships/vmlDrawing" Target="../drawings/vmlDrawing1.vml"/><Relationship Id="rId16" Type="http://schemas.openxmlformats.org/officeDocument/2006/relationships/slideLayout" Target="../slideLayouts/slideLayout2.xml"/><Relationship Id="rId15" Type="http://schemas.openxmlformats.org/officeDocument/2006/relationships/tags" Target="../tags/tag3.xml"/><Relationship Id="rId14"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6.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4.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17.jpeg"/><Relationship Id="rId2" Type="http://schemas.openxmlformats.org/officeDocument/2006/relationships/image" Target="../media/image16.emf"/><Relationship Id="rId1"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6.emf"/><Relationship Id="rId1"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10.bin"/><Relationship Id="rId4" Type="http://schemas.openxmlformats.org/officeDocument/2006/relationships/image" Target="../media/image20.wmf"/><Relationship Id="rId3" Type="http://schemas.openxmlformats.org/officeDocument/2006/relationships/oleObject" Target="../embeddings/oleObject9.bin"/><Relationship Id="rId2" Type="http://schemas.openxmlformats.org/officeDocument/2006/relationships/image" Target="../media/image19.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wmf"/><Relationship Id="rId1"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image" Target="../media/image24.wmf"/><Relationship Id="rId3" Type="http://schemas.openxmlformats.org/officeDocument/2006/relationships/oleObject" Target="../embeddings/oleObject13.bin"/><Relationship Id="rId2" Type="http://schemas.openxmlformats.org/officeDocument/2006/relationships/image" Target="../media/image23.wmf"/><Relationship Id="rId1" Type="http://schemas.openxmlformats.org/officeDocument/2006/relationships/oleObject" Target="../embeddings/oleObject1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image" Target="../media/image29.png"/><Relationship Id="rId4" Type="http://schemas.openxmlformats.org/officeDocument/2006/relationships/image" Target="../media/image28.wmf"/><Relationship Id="rId3" Type="http://schemas.openxmlformats.org/officeDocument/2006/relationships/oleObject" Target="../embeddings/oleObject15.bin"/><Relationship Id="rId2" Type="http://schemas.openxmlformats.org/officeDocument/2006/relationships/image" Target="../media/image27.png"/><Relationship Id="rId1"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33.wmf"/><Relationship Id="rId7" Type="http://schemas.openxmlformats.org/officeDocument/2006/relationships/oleObject" Target="../embeddings/oleObject19.bin"/><Relationship Id="rId6" Type="http://schemas.openxmlformats.org/officeDocument/2006/relationships/image" Target="../media/image32.emf"/><Relationship Id="rId5" Type="http://schemas.openxmlformats.org/officeDocument/2006/relationships/oleObject" Target="../embeddings/oleObject18.bin"/><Relationship Id="rId4" Type="http://schemas.openxmlformats.org/officeDocument/2006/relationships/image" Target="../media/image31.emf"/><Relationship Id="rId3" Type="http://schemas.openxmlformats.org/officeDocument/2006/relationships/oleObject" Target="../embeddings/oleObject17.bin"/><Relationship Id="rId2" Type="http://schemas.openxmlformats.org/officeDocument/2006/relationships/image" Target="../media/image30.wmf"/><Relationship Id="rId15" Type="http://schemas.openxmlformats.org/officeDocument/2006/relationships/vmlDrawing" Target="../drawings/vmlDrawing8.vml"/><Relationship Id="rId14" Type="http://schemas.openxmlformats.org/officeDocument/2006/relationships/slideLayout" Target="../slideLayouts/slideLayout7.xml"/><Relationship Id="rId13" Type="http://schemas.openxmlformats.org/officeDocument/2006/relationships/tags" Target="../tags/tag7.xml"/><Relationship Id="rId12" Type="http://schemas.openxmlformats.org/officeDocument/2006/relationships/image" Target="../media/image36.png"/><Relationship Id="rId11" Type="http://schemas.openxmlformats.org/officeDocument/2006/relationships/image" Target="../media/image35.png"/><Relationship Id="rId10" Type="http://schemas.openxmlformats.org/officeDocument/2006/relationships/image" Target="../media/image34.wmf"/><Relationship Id="rId1" Type="http://schemas.openxmlformats.org/officeDocument/2006/relationships/oleObject" Target="../embeddings/oleObject16.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38.wmf"/><Relationship Id="rId1"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39.wmf"/><Relationship Id="rId1" Type="http://schemas.openxmlformats.org/officeDocument/2006/relationships/oleObject" Target="../embeddings/oleObject23.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26.bin"/><Relationship Id="rId4" Type="http://schemas.openxmlformats.org/officeDocument/2006/relationships/image" Target="../media/image41.wmf"/><Relationship Id="rId3" Type="http://schemas.openxmlformats.org/officeDocument/2006/relationships/oleObject" Target="../embeddings/oleObject25.bin"/><Relationship Id="rId2" Type="http://schemas.openxmlformats.org/officeDocument/2006/relationships/image" Target="../media/image40.wmf"/><Relationship Id="rId1" Type="http://schemas.openxmlformats.org/officeDocument/2006/relationships/oleObject" Target="../embeddings/oleObject24.bin"/></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tags" Target="../tags/tag9.xml"/><Relationship Id="rId2" Type="http://schemas.openxmlformats.org/officeDocument/2006/relationships/image" Target="../media/image43.emf"/><Relationship Id="rId1" Type="http://schemas.openxmlformats.org/officeDocument/2006/relationships/oleObject" Target="../embeddings/oleObject27.bin"/></Relationships>
</file>

<file path=ppt/slides/_rels/slide30.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47.wmf"/><Relationship Id="rId7" Type="http://schemas.openxmlformats.org/officeDocument/2006/relationships/oleObject" Target="../embeddings/oleObject31.bin"/><Relationship Id="rId6" Type="http://schemas.openxmlformats.org/officeDocument/2006/relationships/image" Target="../media/image46.wmf"/><Relationship Id="rId5" Type="http://schemas.openxmlformats.org/officeDocument/2006/relationships/oleObject" Target="../embeddings/oleObject30.bin"/><Relationship Id="rId4" Type="http://schemas.openxmlformats.org/officeDocument/2006/relationships/image" Target="../media/image45.wmf"/><Relationship Id="rId3" Type="http://schemas.openxmlformats.org/officeDocument/2006/relationships/oleObject" Target="../embeddings/oleObject29.bin"/><Relationship Id="rId2" Type="http://schemas.openxmlformats.org/officeDocument/2006/relationships/image" Target="../media/image44.emf"/><Relationship Id="rId11" Type="http://schemas.openxmlformats.org/officeDocument/2006/relationships/vmlDrawing" Target="../drawings/vmlDrawing14.vml"/><Relationship Id="rId10" Type="http://schemas.openxmlformats.org/officeDocument/2006/relationships/slideLayout" Target="../slideLayouts/slideLayout2.xml"/><Relationship Id="rId1" Type="http://schemas.openxmlformats.org/officeDocument/2006/relationships/oleObject" Target="../embeddings/oleObject28.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48.wmf"/><Relationship Id="rId1" Type="http://schemas.openxmlformats.org/officeDocument/2006/relationships/oleObject" Target="../embeddings/oleObject32.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23.wmf"/><Relationship Id="rId7" Type="http://schemas.openxmlformats.org/officeDocument/2006/relationships/oleObject" Target="../embeddings/oleObject36.bin"/><Relationship Id="rId6" Type="http://schemas.openxmlformats.org/officeDocument/2006/relationships/image" Target="../media/image51.wmf"/><Relationship Id="rId5" Type="http://schemas.openxmlformats.org/officeDocument/2006/relationships/oleObject" Target="../embeddings/oleObject35.bin"/><Relationship Id="rId4" Type="http://schemas.openxmlformats.org/officeDocument/2006/relationships/image" Target="../media/image50.wmf"/><Relationship Id="rId3" Type="http://schemas.openxmlformats.org/officeDocument/2006/relationships/oleObject" Target="../embeddings/oleObject34.bin"/><Relationship Id="rId2" Type="http://schemas.openxmlformats.org/officeDocument/2006/relationships/image" Target="../media/image49.wmf"/><Relationship Id="rId14" Type="http://schemas.openxmlformats.org/officeDocument/2006/relationships/vmlDrawing" Target="../drawings/vmlDrawing16.vml"/><Relationship Id="rId13" Type="http://schemas.openxmlformats.org/officeDocument/2006/relationships/slideLayout" Target="../slideLayouts/slideLayout7.xml"/><Relationship Id="rId12" Type="http://schemas.openxmlformats.org/officeDocument/2006/relationships/image" Target="../media/image52.wmf"/><Relationship Id="rId11" Type="http://schemas.openxmlformats.org/officeDocument/2006/relationships/oleObject" Target="../embeddings/oleObject38.bin"/><Relationship Id="rId10" Type="http://schemas.openxmlformats.org/officeDocument/2006/relationships/image" Target="../media/image48.wmf"/><Relationship Id="rId1" Type="http://schemas.openxmlformats.org/officeDocument/2006/relationships/oleObject" Target="../embeddings/oleObject33.bin"/></Relationships>
</file>

<file path=ppt/slides/_rels/slide33.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7.xml"/><Relationship Id="rId7" Type="http://schemas.openxmlformats.org/officeDocument/2006/relationships/tags" Target="../tags/tag11.xml"/><Relationship Id="rId6" Type="http://schemas.openxmlformats.org/officeDocument/2006/relationships/image" Target="../media/image55.wmf"/><Relationship Id="rId5" Type="http://schemas.openxmlformats.org/officeDocument/2006/relationships/oleObject" Target="../embeddings/oleObject41.bin"/><Relationship Id="rId4" Type="http://schemas.openxmlformats.org/officeDocument/2006/relationships/image" Target="../media/image54.wmf"/><Relationship Id="rId3" Type="http://schemas.openxmlformats.org/officeDocument/2006/relationships/oleObject" Target="../embeddings/oleObject40.bin"/><Relationship Id="rId2" Type="http://schemas.openxmlformats.org/officeDocument/2006/relationships/image" Target="../media/image53.wmf"/><Relationship Id="rId1" Type="http://schemas.openxmlformats.org/officeDocument/2006/relationships/oleObject" Target="../embeddings/oleObject39.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59.wmf"/><Relationship Id="rId7" Type="http://schemas.openxmlformats.org/officeDocument/2006/relationships/oleObject" Target="../embeddings/oleObject45.bin"/><Relationship Id="rId6" Type="http://schemas.openxmlformats.org/officeDocument/2006/relationships/image" Target="../media/image58.wmf"/><Relationship Id="rId5" Type="http://schemas.openxmlformats.org/officeDocument/2006/relationships/oleObject" Target="../embeddings/oleObject44.bin"/><Relationship Id="rId4" Type="http://schemas.openxmlformats.org/officeDocument/2006/relationships/image" Target="../media/image57.wmf"/><Relationship Id="rId3" Type="http://schemas.openxmlformats.org/officeDocument/2006/relationships/oleObject" Target="../embeddings/oleObject43.bin"/><Relationship Id="rId21" Type="http://schemas.openxmlformats.org/officeDocument/2006/relationships/vmlDrawing" Target="../drawings/vmlDrawing18.vml"/><Relationship Id="rId20" Type="http://schemas.openxmlformats.org/officeDocument/2006/relationships/slideLayout" Target="../slideLayouts/slideLayout7.xml"/><Relationship Id="rId2" Type="http://schemas.openxmlformats.org/officeDocument/2006/relationships/image" Target="../media/image56.wmf"/><Relationship Id="rId19" Type="http://schemas.openxmlformats.org/officeDocument/2006/relationships/tags" Target="../tags/tag12.xml"/><Relationship Id="rId18" Type="http://schemas.openxmlformats.org/officeDocument/2006/relationships/image" Target="../media/image63.wmf"/><Relationship Id="rId17" Type="http://schemas.openxmlformats.org/officeDocument/2006/relationships/oleObject" Target="../embeddings/oleObject50.bin"/><Relationship Id="rId16" Type="http://schemas.openxmlformats.org/officeDocument/2006/relationships/image" Target="../media/image62.wmf"/><Relationship Id="rId15" Type="http://schemas.openxmlformats.org/officeDocument/2006/relationships/oleObject" Target="../embeddings/oleObject49.bin"/><Relationship Id="rId14" Type="http://schemas.openxmlformats.org/officeDocument/2006/relationships/image" Target="../media/image61.wmf"/><Relationship Id="rId13" Type="http://schemas.openxmlformats.org/officeDocument/2006/relationships/oleObject" Target="../embeddings/oleObject48.bin"/><Relationship Id="rId12" Type="http://schemas.openxmlformats.org/officeDocument/2006/relationships/image" Target="../media/image60.wmf"/><Relationship Id="rId11" Type="http://schemas.openxmlformats.org/officeDocument/2006/relationships/oleObject" Target="../embeddings/oleObject47.bin"/><Relationship Id="rId10" Type="http://schemas.openxmlformats.org/officeDocument/2006/relationships/image" Target="../media/image55.wmf"/><Relationship Id="rId1" Type="http://schemas.openxmlformats.org/officeDocument/2006/relationships/oleObject" Target="../embeddings/oleObject42.bin"/></Relationships>
</file>

<file path=ppt/slides/_rels/slide36.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7.xml"/><Relationship Id="rId7" Type="http://schemas.openxmlformats.org/officeDocument/2006/relationships/tags" Target="../tags/tag13.xml"/><Relationship Id="rId6" Type="http://schemas.openxmlformats.org/officeDocument/2006/relationships/image" Target="../media/image66.wmf"/><Relationship Id="rId5" Type="http://schemas.openxmlformats.org/officeDocument/2006/relationships/oleObject" Target="../embeddings/oleObject52.bin"/><Relationship Id="rId4" Type="http://schemas.openxmlformats.org/officeDocument/2006/relationships/image" Target="../media/image23.wmf"/><Relationship Id="rId3" Type="http://schemas.openxmlformats.org/officeDocument/2006/relationships/oleObject" Target="../embeddings/oleObject51.bin"/><Relationship Id="rId2" Type="http://schemas.openxmlformats.org/officeDocument/2006/relationships/image" Target="../media/image65.jpeg"/><Relationship Id="rId1" Type="http://schemas.openxmlformats.org/officeDocument/2006/relationships/image" Target="../media/image64.jpeg"/></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7.xml"/><Relationship Id="rId4" Type="http://schemas.openxmlformats.org/officeDocument/2006/relationships/image" Target="../media/image67.wmf"/><Relationship Id="rId3" Type="http://schemas.openxmlformats.org/officeDocument/2006/relationships/oleObject" Target="../embeddings/oleObject54.bin"/><Relationship Id="rId2" Type="http://schemas.openxmlformats.org/officeDocument/2006/relationships/image" Target="../media/image23.wmf"/><Relationship Id="rId1" Type="http://schemas.openxmlformats.org/officeDocument/2006/relationships/oleObject" Target="../embeddings/oleObject53.bin"/></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7.xml"/><Relationship Id="rId3" Type="http://schemas.openxmlformats.org/officeDocument/2006/relationships/tags" Target="../tags/tag14.xml"/><Relationship Id="rId2" Type="http://schemas.openxmlformats.org/officeDocument/2006/relationships/image" Target="../media/image68.wmf"/><Relationship Id="rId1" Type="http://schemas.openxmlformats.org/officeDocument/2006/relationships/oleObject" Target="../embeddings/oleObject55.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wmf"/><Relationship Id="rId3" Type="http://schemas.openxmlformats.org/officeDocument/2006/relationships/oleObject" Target="../embeddings/oleObject57.bin"/><Relationship Id="rId2" Type="http://schemas.openxmlformats.org/officeDocument/2006/relationships/image" Target="../media/image69.wmf"/><Relationship Id="rId1" Type="http://schemas.openxmlformats.org/officeDocument/2006/relationships/oleObject" Target="../embeddings/oleObject56.bin"/></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7.xml"/><Relationship Id="rId3" Type="http://schemas.openxmlformats.org/officeDocument/2006/relationships/tags" Target="../tags/tag15.xml"/><Relationship Id="rId2" Type="http://schemas.openxmlformats.org/officeDocument/2006/relationships/image" Target="../media/image73.emf"/><Relationship Id="rId1" Type="http://schemas.openxmlformats.org/officeDocument/2006/relationships/oleObject" Target="../embeddings/oleObject58.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wmf"/></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82.wmf"/><Relationship Id="rId3" Type="http://schemas.openxmlformats.org/officeDocument/2006/relationships/oleObject" Target="../embeddings/oleObject59.bin"/><Relationship Id="rId2" Type="http://schemas.openxmlformats.org/officeDocument/2006/relationships/image" Target="../media/image80.wmf"/><Relationship Id="rId1" Type="http://schemas.openxmlformats.org/officeDocument/2006/relationships/image" Target="../media/image81.emf"/></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wmf"/></Relationships>
</file>

<file path=ppt/slides/_rels/slide48.xml.rels><?xml version="1.0" encoding="UTF-8" standalone="yes"?>
<Relationships xmlns="http://schemas.openxmlformats.org/package/2006/relationships"><Relationship Id="rId7" Type="http://schemas.openxmlformats.org/officeDocument/2006/relationships/vmlDrawing" Target="../drawings/vmlDrawing25.vml"/><Relationship Id="rId6" Type="http://schemas.openxmlformats.org/officeDocument/2006/relationships/slideLayout" Target="../slideLayouts/slideLayout2.xml"/><Relationship Id="rId5" Type="http://schemas.openxmlformats.org/officeDocument/2006/relationships/tags" Target="../tags/tag16.xml"/><Relationship Id="rId4" Type="http://schemas.openxmlformats.org/officeDocument/2006/relationships/image" Target="../media/image84.wmf"/><Relationship Id="rId3" Type="http://schemas.openxmlformats.org/officeDocument/2006/relationships/oleObject" Target="../embeddings/oleObject61.bin"/><Relationship Id="rId2" Type="http://schemas.openxmlformats.org/officeDocument/2006/relationships/image" Target="../media/image83.wmf"/><Relationship Id="rId1" Type="http://schemas.openxmlformats.org/officeDocument/2006/relationships/oleObject" Target="../embeddings/oleObject60.bin"/></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emf"/></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7.xml"/><Relationship Id="rId5" Type="http://schemas.openxmlformats.org/officeDocument/2006/relationships/image" Target="../media/image92.emf"/><Relationship Id="rId4" Type="http://schemas.openxmlformats.org/officeDocument/2006/relationships/image" Target="../media/image91.emf"/><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9.xml"/><Relationship Id="rId4" Type="http://schemas.openxmlformats.org/officeDocument/2006/relationships/image" Target="../media/image96.GIF"/><Relationship Id="rId3" Type="http://schemas.openxmlformats.org/officeDocument/2006/relationships/image" Target="../media/image95.png"/><Relationship Id="rId2" Type="http://schemas.openxmlformats.org/officeDocument/2006/relationships/image" Target="../media/image94.jpeg"/><Relationship Id="rId1" Type="http://schemas.openxmlformats.org/officeDocument/2006/relationships/image" Target="../media/image9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image" Target="../media/image97.wmf"/></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9.jpeg"/><Relationship Id="rId1" Type="http://schemas.openxmlformats.org/officeDocument/2006/relationships/image" Target="../media/image98.emf"/></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1.xml"/><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png"/></Relationships>
</file>

<file path=ppt/slides/_rels/slide59.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7.xml"/><Relationship Id="rId6" Type="http://schemas.openxmlformats.org/officeDocument/2006/relationships/image" Target="../media/image105.wmf"/><Relationship Id="rId5" Type="http://schemas.openxmlformats.org/officeDocument/2006/relationships/oleObject" Target="../embeddings/oleObject64.bin"/><Relationship Id="rId4" Type="http://schemas.openxmlformats.org/officeDocument/2006/relationships/image" Target="../media/image104.wmf"/><Relationship Id="rId3" Type="http://schemas.openxmlformats.org/officeDocument/2006/relationships/oleObject" Target="../embeddings/oleObject63.bin"/><Relationship Id="rId2" Type="http://schemas.openxmlformats.org/officeDocument/2006/relationships/image" Target="../media/image103.wmf"/><Relationship Id="rId1" Type="http://schemas.openxmlformats.org/officeDocument/2006/relationships/oleObject" Target="../embeddings/oleObject62.bin"/></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7.xml"/><Relationship Id="rId4" Type="http://schemas.openxmlformats.org/officeDocument/2006/relationships/image" Target="../media/image108.wmf"/><Relationship Id="rId3" Type="http://schemas.openxmlformats.org/officeDocument/2006/relationships/oleObject" Target="../embeddings/oleObject66.bin"/><Relationship Id="rId2" Type="http://schemas.openxmlformats.org/officeDocument/2006/relationships/image" Target="../media/image107.wmf"/><Relationship Id="rId1" Type="http://schemas.openxmlformats.org/officeDocument/2006/relationships/oleObject" Target="../embeddings/oleObject65.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71.bin"/><Relationship Id="rId8" Type="http://schemas.openxmlformats.org/officeDocument/2006/relationships/image" Target="../media/image112.wmf"/><Relationship Id="rId7" Type="http://schemas.openxmlformats.org/officeDocument/2006/relationships/oleObject" Target="../embeddings/oleObject70.bin"/><Relationship Id="rId6" Type="http://schemas.openxmlformats.org/officeDocument/2006/relationships/image" Target="../media/image111.wmf"/><Relationship Id="rId5" Type="http://schemas.openxmlformats.org/officeDocument/2006/relationships/oleObject" Target="../embeddings/oleObject69.bin"/><Relationship Id="rId4" Type="http://schemas.openxmlformats.org/officeDocument/2006/relationships/image" Target="../media/image110.wmf"/><Relationship Id="rId3" Type="http://schemas.openxmlformats.org/officeDocument/2006/relationships/oleObject" Target="../embeddings/oleObject68.bin"/><Relationship Id="rId2" Type="http://schemas.openxmlformats.org/officeDocument/2006/relationships/image" Target="../media/image109.wmf"/><Relationship Id="rId14" Type="http://schemas.openxmlformats.org/officeDocument/2006/relationships/vmlDrawing" Target="../drawings/vmlDrawing28.vml"/><Relationship Id="rId13" Type="http://schemas.openxmlformats.org/officeDocument/2006/relationships/slideLayout" Target="../slideLayouts/slideLayout7.xml"/><Relationship Id="rId12" Type="http://schemas.openxmlformats.org/officeDocument/2006/relationships/tags" Target="../tags/tag22.xml"/><Relationship Id="rId11" Type="http://schemas.openxmlformats.org/officeDocument/2006/relationships/image" Target="../media/image114.png"/><Relationship Id="rId10" Type="http://schemas.openxmlformats.org/officeDocument/2006/relationships/image" Target="../media/image113.wmf"/><Relationship Id="rId1" Type="http://schemas.openxmlformats.org/officeDocument/2006/relationships/oleObject" Target="../embeddings/oleObject67.bin"/></Relationships>
</file>

<file path=ppt/slides/_rels/slide64.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7.xml"/><Relationship Id="rId3" Type="http://schemas.openxmlformats.org/officeDocument/2006/relationships/image" Target="../media/image116.png"/><Relationship Id="rId2" Type="http://schemas.openxmlformats.org/officeDocument/2006/relationships/image" Target="../media/image115.wmf"/><Relationship Id="rId1" Type="http://schemas.openxmlformats.org/officeDocument/2006/relationships/oleObject" Target="../embeddings/oleObject72.bin"/></Relationships>
</file>

<file path=ppt/slides/_rels/slide65.xml.rels><?xml version="1.0" encoding="UTF-8" standalone="yes"?>
<Relationships xmlns="http://schemas.openxmlformats.org/package/2006/relationships"><Relationship Id="rId7" Type="http://schemas.openxmlformats.org/officeDocument/2006/relationships/vmlDrawing" Target="../drawings/vmlDrawing30.vml"/><Relationship Id="rId6" Type="http://schemas.openxmlformats.org/officeDocument/2006/relationships/slideLayout" Target="../slideLayouts/slideLayout7.xml"/><Relationship Id="rId5" Type="http://schemas.openxmlformats.org/officeDocument/2006/relationships/image" Target="../media/image119.png"/><Relationship Id="rId4" Type="http://schemas.openxmlformats.org/officeDocument/2006/relationships/image" Target="../media/image118.wmf"/><Relationship Id="rId3" Type="http://schemas.openxmlformats.org/officeDocument/2006/relationships/oleObject" Target="../embeddings/oleObject74.bin"/><Relationship Id="rId2" Type="http://schemas.openxmlformats.org/officeDocument/2006/relationships/image" Target="../media/image117.wmf"/><Relationship Id="rId1" Type="http://schemas.openxmlformats.org/officeDocument/2006/relationships/oleObject" Target="../embeddings/oleObject73.bin"/></Relationships>
</file>

<file path=ppt/slides/_rels/slide66.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7.xml"/><Relationship Id="rId6" Type="http://schemas.openxmlformats.org/officeDocument/2006/relationships/image" Target="../media/image121.wmf"/><Relationship Id="rId5" Type="http://schemas.openxmlformats.org/officeDocument/2006/relationships/oleObject" Target="../embeddings/oleObject77.bin"/><Relationship Id="rId4" Type="http://schemas.openxmlformats.org/officeDocument/2006/relationships/image" Target="../media/image118.wmf"/><Relationship Id="rId3" Type="http://schemas.openxmlformats.org/officeDocument/2006/relationships/oleObject" Target="../embeddings/oleObject76.bin"/><Relationship Id="rId2" Type="http://schemas.openxmlformats.org/officeDocument/2006/relationships/image" Target="../media/image120.wmf"/><Relationship Id="rId1" Type="http://schemas.openxmlformats.org/officeDocument/2006/relationships/oleObject" Target="../embeddings/oleObject75.bin"/></Relationships>
</file>

<file path=ppt/slides/_rels/slide67.xml.rels><?xml version="1.0" encoding="UTF-8" standalone="yes"?>
<Relationships xmlns="http://schemas.openxmlformats.org/package/2006/relationships"><Relationship Id="rId7" Type="http://schemas.openxmlformats.org/officeDocument/2006/relationships/vmlDrawing" Target="../drawings/vmlDrawing32.vml"/><Relationship Id="rId6" Type="http://schemas.openxmlformats.org/officeDocument/2006/relationships/slideLayout" Target="../slideLayouts/slideLayout7.xml"/><Relationship Id="rId5" Type="http://schemas.openxmlformats.org/officeDocument/2006/relationships/image" Target="../media/image123.png"/><Relationship Id="rId4" Type="http://schemas.openxmlformats.org/officeDocument/2006/relationships/image" Target="../media/image121.wmf"/><Relationship Id="rId3" Type="http://schemas.openxmlformats.org/officeDocument/2006/relationships/oleObject" Target="../embeddings/oleObject79.bin"/><Relationship Id="rId2" Type="http://schemas.openxmlformats.org/officeDocument/2006/relationships/image" Target="../media/image122.wmf"/><Relationship Id="rId1" Type="http://schemas.openxmlformats.org/officeDocument/2006/relationships/oleObject" Target="../embeddings/oleObject78.bin"/></Relationships>
</file>

<file path=ppt/slides/_rels/slide6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6.wmf"/><Relationship Id="rId7" Type="http://schemas.openxmlformats.org/officeDocument/2006/relationships/oleObject" Target="../embeddings/oleObject83.bin"/><Relationship Id="rId6" Type="http://schemas.openxmlformats.org/officeDocument/2006/relationships/image" Target="../media/image125.wmf"/><Relationship Id="rId5" Type="http://schemas.openxmlformats.org/officeDocument/2006/relationships/oleObject" Target="../embeddings/oleObject82.bin"/><Relationship Id="rId4" Type="http://schemas.openxmlformats.org/officeDocument/2006/relationships/image" Target="../media/image122.wmf"/><Relationship Id="rId3" Type="http://schemas.openxmlformats.org/officeDocument/2006/relationships/oleObject" Target="../embeddings/oleObject81.bin"/><Relationship Id="rId2" Type="http://schemas.openxmlformats.org/officeDocument/2006/relationships/image" Target="../media/image124.wmf"/><Relationship Id="rId10" Type="http://schemas.openxmlformats.org/officeDocument/2006/relationships/vmlDrawing" Target="../drawings/vmlDrawing33.vml"/><Relationship Id="rId1" Type="http://schemas.openxmlformats.org/officeDocument/2006/relationships/oleObject" Target="../embeddings/oleObject80.bin"/></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34.vml"/><Relationship Id="rId8" Type="http://schemas.openxmlformats.org/officeDocument/2006/relationships/slideLayout" Target="../slideLayouts/slideLayout7.xml"/><Relationship Id="rId7" Type="http://schemas.openxmlformats.org/officeDocument/2006/relationships/image" Target="../media/image129.png"/><Relationship Id="rId6" Type="http://schemas.openxmlformats.org/officeDocument/2006/relationships/image" Target="../media/image126.wmf"/><Relationship Id="rId5" Type="http://schemas.openxmlformats.org/officeDocument/2006/relationships/oleObject" Target="../embeddings/oleObject86.bin"/><Relationship Id="rId4" Type="http://schemas.openxmlformats.org/officeDocument/2006/relationships/image" Target="../media/image128.wmf"/><Relationship Id="rId3" Type="http://schemas.openxmlformats.org/officeDocument/2006/relationships/oleObject" Target="../embeddings/oleObject85.bin"/><Relationship Id="rId2" Type="http://schemas.openxmlformats.org/officeDocument/2006/relationships/image" Target="../media/image127.wmf"/><Relationship Id="rId1" Type="http://schemas.openxmlformats.org/officeDocument/2006/relationships/oleObject" Target="../embeddings/oleObject84.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0.png"/></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134.wmf"/><Relationship Id="rId7" Type="http://schemas.openxmlformats.org/officeDocument/2006/relationships/oleObject" Target="../embeddings/oleObject90.bin"/><Relationship Id="rId6" Type="http://schemas.openxmlformats.org/officeDocument/2006/relationships/image" Target="../media/image133.wmf"/><Relationship Id="rId5" Type="http://schemas.openxmlformats.org/officeDocument/2006/relationships/oleObject" Target="../embeddings/oleObject89.bin"/><Relationship Id="rId4" Type="http://schemas.openxmlformats.org/officeDocument/2006/relationships/image" Target="../media/image132.wmf"/><Relationship Id="rId3" Type="http://schemas.openxmlformats.org/officeDocument/2006/relationships/oleObject" Target="../embeddings/oleObject88.bin"/><Relationship Id="rId2" Type="http://schemas.openxmlformats.org/officeDocument/2006/relationships/image" Target="../media/image131.wmf"/><Relationship Id="rId13" Type="http://schemas.openxmlformats.org/officeDocument/2006/relationships/vmlDrawing" Target="../drawings/vmlDrawing35.vml"/><Relationship Id="rId12" Type="http://schemas.openxmlformats.org/officeDocument/2006/relationships/slideLayout" Target="../slideLayouts/slideLayout7.xml"/><Relationship Id="rId11" Type="http://schemas.openxmlformats.org/officeDocument/2006/relationships/image" Target="../media/image136.png"/><Relationship Id="rId10" Type="http://schemas.openxmlformats.org/officeDocument/2006/relationships/image" Target="../media/image135.wmf"/><Relationship Id="rId1" Type="http://schemas.openxmlformats.org/officeDocument/2006/relationships/oleObject" Target="../embeddings/oleObject87.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140.wmf"/><Relationship Id="rId7" Type="http://schemas.openxmlformats.org/officeDocument/2006/relationships/oleObject" Target="../embeddings/oleObject95.bin"/><Relationship Id="rId6" Type="http://schemas.openxmlformats.org/officeDocument/2006/relationships/image" Target="../media/image139.wmf"/><Relationship Id="rId5" Type="http://schemas.openxmlformats.org/officeDocument/2006/relationships/oleObject" Target="../embeddings/oleObject94.bin"/><Relationship Id="rId4" Type="http://schemas.openxmlformats.org/officeDocument/2006/relationships/image" Target="../media/image138.wmf"/><Relationship Id="rId3" Type="http://schemas.openxmlformats.org/officeDocument/2006/relationships/oleObject" Target="../embeddings/oleObject93.bin"/><Relationship Id="rId2" Type="http://schemas.openxmlformats.org/officeDocument/2006/relationships/image" Target="../media/image137.wmf"/><Relationship Id="rId14" Type="http://schemas.openxmlformats.org/officeDocument/2006/relationships/vmlDrawing" Target="../drawings/vmlDrawing36.vml"/><Relationship Id="rId13" Type="http://schemas.openxmlformats.org/officeDocument/2006/relationships/slideLayout" Target="../slideLayouts/slideLayout7.xml"/><Relationship Id="rId12" Type="http://schemas.openxmlformats.org/officeDocument/2006/relationships/image" Target="../media/image142.png"/><Relationship Id="rId11" Type="http://schemas.openxmlformats.org/officeDocument/2006/relationships/image" Target="../media/image136.png"/><Relationship Id="rId10" Type="http://schemas.openxmlformats.org/officeDocument/2006/relationships/image" Target="../media/image141.wmf"/><Relationship Id="rId1" Type="http://schemas.openxmlformats.org/officeDocument/2006/relationships/oleObject" Target="../embeddings/oleObject92.bin"/></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3.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4.png"/></Relationships>
</file>

<file path=ppt/slides/_rels/slide76.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148.wmf"/><Relationship Id="rId7" Type="http://schemas.openxmlformats.org/officeDocument/2006/relationships/oleObject" Target="../embeddings/oleObject100.bin"/><Relationship Id="rId6" Type="http://schemas.openxmlformats.org/officeDocument/2006/relationships/image" Target="../media/image147.wmf"/><Relationship Id="rId5" Type="http://schemas.openxmlformats.org/officeDocument/2006/relationships/oleObject" Target="../embeddings/oleObject99.bin"/><Relationship Id="rId4" Type="http://schemas.openxmlformats.org/officeDocument/2006/relationships/image" Target="../media/image146.wmf"/><Relationship Id="rId3" Type="http://schemas.openxmlformats.org/officeDocument/2006/relationships/oleObject" Target="../embeddings/oleObject98.bin"/><Relationship Id="rId2" Type="http://schemas.openxmlformats.org/officeDocument/2006/relationships/image" Target="../media/image145.wmf"/><Relationship Id="rId14" Type="http://schemas.openxmlformats.org/officeDocument/2006/relationships/vmlDrawing" Target="../drawings/vmlDrawing37.vml"/><Relationship Id="rId13" Type="http://schemas.openxmlformats.org/officeDocument/2006/relationships/slideLayout" Target="../slideLayouts/slideLayout7.xml"/><Relationship Id="rId12" Type="http://schemas.openxmlformats.org/officeDocument/2006/relationships/image" Target="../media/image150.wmf"/><Relationship Id="rId11" Type="http://schemas.openxmlformats.org/officeDocument/2006/relationships/oleObject" Target="../embeddings/oleObject102.bin"/><Relationship Id="rId10" Type="http://schemas.openxmlformats.org/officeDocument/2006/relationships/image" Target="../media/image149.wmf"/><Relationship Id="rId1" Type="http://schemas.openxmlformats.org/officeDocument/2006/relationships/oleObject" Target="../embeddings/oleObject97.bin"/></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107.bin"/><Relationship Id="rId8" Type="http://schemas.openxmlformats.org/officeDocument/2006/relationships/image" Target="../media/image148.wmf"/><Relationship Id="rId7" Type="http://schemas.openxmlformats.org/officeDocument/2006/relationships/oleObject" Target="../embeddings/oleObject106.bin"/><Relationship Id="rId6" Type="http://schemas.openxmlformats.org/officeDocument/2006/relationships/image" Target="../media/image147.wmf"/><Relationship Id="rId5" Type="http://schemas.openxmlformats.org/officeDocument/2006/relationships/oleObject" Target="../embeddings/oleObject105.bin"/><Relationship Id="rId4" Type="http://schemas.openxmlformats.org/officeDocument/2006/relationships/image" Target="../media/image146.wmf"/><Relationship Id="rId3" Type="http://schemas.openxmlformats.org/officeDocument/2006/relationships/oleObject" Target="../embeddings/oleObject104.bin"/><Relationship Id="rId2" Type="http://schemas.openxmlformats.org/officeDocument/2006/relationships/image" Target="../media/image151.wmf"/><Relationship Id="rId18" Type="http://schemas.openxmlformats.org/officeDocument/2006/relationships/vmlDrawing" Target="../drawings/vmlDrawing38.vml"/><Relationship Id="rId17" Type="http://schemas.openxmlformats.org/officeDocument/2006/relationships/slideLayout" Target="../slideLayouts/slideLayout7.xml"/><Relationship Id="rId16" Type="http://schemas.openxmlformats.org/officeDocument/2006/relationships/image" Target="../media/image154.wmf"/><Relationship Id="rId15" Type="http://schemas.openxmlformats.org/officeDocument/2006/relationships/oleObject" Target="../embeddings/oleObject110.bin"/><Relationship Id="rId14" Type="http://schemas.openxmlformats.org/officeDocument/2006/relationships/image" Target="../media/image153.wmf"/><Relationship Id="rId13" Type="http://schemas.openxmlformats.org/officeDocument/2006/relationships/oleObject" Target="../embeddings/oleObject109.bin"/><Relationship Id="rId12" Type="http://schemas.openxmlformats.org/officeDocument/2006/relationships/image" Target="../media/image152.wmf"/><Relationship Id="rId11" Type="http://schemas.openxmlformats.org/officeDocument/2006/relationships/oleObject" Target="../embeddings/oleObject108.bin"/><Relationship Id="rId10" Type="http://schemas.openxmlformats.org/officeDocument/2006/relationships/image" Target="../media/image149.wmf"/><Relationship Id="rId1" Type="http://schemas.openxmlformats.org/officeDocument/2006/relationships/oleObject" Target="../embeddings/oleObject103.bin"/></Relationships>
</file>

<file path=ppt/slides/_rels/slide78.xml.rels><?xml version="1.0" encoding="UTF-8" standalone="yes"?>
<Relationships xmlns="http://schemas.openxmlformats.org/package/2006/relationships"><Relationship Id="rId8" Type="http://schemas.openxmlformats.org/officeDocument/2006/relationships/vmlDrawing" Target="../drawings/vmlDrawing39.vml"/><Relationship Id="rId7" Type="http://schemas.openxmlformats.org/officeDocument/2006/relationships/slideLayout" Target="../slideLayouts/slideLayout7.xml"/><Relationship Id="rId6" Type="http://schemas.openxmlformats.org/officeDocument/2006/relationships/image" Target="../media/image157.wmf"/><Relationship Id="rId5" Type="http://schemas.openxmlformats.org/officeDocument/2006/relationships/oleObject" Target="../embeddings/oleObject113.bin"/><Relationship Id="rId4" Type="http://schemas.openxmlformats.org/officeDocument/2006/relationships/image" Target="../media/image156.wmf"/><Relationship Id="rId3" Type="http://schemas.openxmlformats.org/officeDocument/2006/relationships/oleObject" Target="../embeddings/oleObject112.bin"/><Relationship Id="rId2" Type="http://schemas.openxmlformats.org/officeDocument/2006/relationships/image" Target="../media/image155.wmf"/><Relationship Id="rId1" Type="http://schemas.openxmlformats.org/officeDocument/2006/relationships/oleObject" Target="../embeddings/oleObject111.bin"/></Relationships>
</file>

<file path=ppt/slides/_rels/slide7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9.wmf"/><Relationship Id="rId7" Type="http://schemas.openxmlformats.org/officeDocument/2006/relationships/oleObject" Target="../embeddings/oleObject117.bin"/><Relationship Id="rId6" Type="http://schemas.openxmlformats.org/officeDocument/2006/relationships/image" Target="../media/image157.wmf"/><Relationship Id="rId5" Type="http://schemas.openxmlformats.org/officeDocument/2006/relationships/oleObject" Target="../embeddings/oleObject116.bin"/><Relationship Id="rId4" Type="http://schemas.openxmlformats.org/officeDocument/2006/relationships/image" Target="../media/image150.wmf"/><Relationship Id="rId3" Type="http://schemas.openxmlformats.org/officeDocument/2006/relationships/oleObject" Target="../embeddings/oleObject115.bin"/><Relationship Id="rId2" Type="http://schemas.openxmlformats.org/officeDocument/2006/relationships/image" Target="../media/image158.wmf"/><Relationship Id="rId10" Type="http://schemas.openxmlformats.org/officeDocument/2006/relationships/vmlDrawing" Target="../drawings/vmlDrawing40.vml"/><Relationship Id="rId1" Type="http://schemas.openxmlformats.org/officeDocument/2006/relationships/oleObject" Target="../embeddings/oleObject114.bin"/></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0.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1.png"/></Relationships>
</file>

<file path=ppt/slides/_rels/slide82.xml.rels><?xml version="1.0" encoding="UTF-8" standalone="yes"?>
<Relationships xmlns="http://schemas.openxmlformats.org/package/2006/relationships"><Relationship Id="rId9" Type="http://schemas.openxmlformats.org/officeDocument/2006/relationships/vmlDrawing" Target="../drawings/vmlDrawing41.vml"/><Relationship Id="rId8" Type="http://schemas.openxmlformats.org/officeDocument/2006/relationships/slideLayout" Target="../slideLayouts/slideLayout7.xml"/><Relationship Id="rId7" Type="http://schemas.openxmlformats.org/officeDocument/2006/relationships/image" Target="../media/image161.png"/><Relationship Id="rId6" Type="http://schemas.openxmlformats.org/officeDocument/2006/relationships/image" Target="../media/image164.wmf"/><Relationship Id="rId5" Type="http://schemas.openxmlformats.org/officeDocument/2006/relationships/oleObject" Target="../embeddings/oleObject120.bin"/><Relationship Id="rId4" Type="http://schemas.openxmlformats.org/officeDocument/2006/relationships/image" Target="../media/image163.wmf"/><Relationship Id="rId3" Type="http://schemas.openxmlformats.org/officeDocument/2006/relationships/oleObject" Target="../embeddings/oleObject119.bin"/><Relationship Id="rId2" Type="http://schemas.openxmlformats.org/officeDocument/2006/relationships/image" Target="../media/image162.wmf"/><Relationship Id="rId1" Type="http://schemas.openxmlformats.org/officeDocument/2006/relationships/oleObject" Target="../embeddings/oleObject118.bin"/></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125.bin"/><Relationship Id="rId8" Type="http://schemas.openxmlformats.org/officeDocument/2006/relationships/image" Target="../media/image168.wmf"/><Relationship Id="rId7" Type="http://schemas.openxmlformats.org/officeDocument/2006/relationships/oleObject" Target="../embeddings/oleObject124.bin"/><Relationship Id="rId6" Type="http://schemas.openxmlformats.org/officeDocument/2006/relationships/image" Target="../media/image167.wmf"/><Relationship Id="rId5" Type="http://schemas.openxmlformats.org/officeDocument/2006/relationships/oleObject" Target="../embeddings/oleObject123.bin"/><Relationship Id="rId4" Type="http://schemas.openxmlformats.org/officeDocument/2006/relationships/image" Target="../media/image166.wmf"/><Relationship Id="rId3" Type="http://schemas.openxmlformats.org/officeDocument/2006/relationships/oleObject" Target="../embeddings/oleObject122.bin"/><Relationship Id="rId2" Type="http://schemas.openxmlformats.org/officeDocument/2006/relationships/image" Target="../media/image165.wmf"/><Relationship Id="rId16" Type="http://schemas.openxmlformats.org/officeDocument/2006/relationships/vmlDrawing" Target="../drawings/vmlDrawing42.vml"/><Relationship Id="rId15" Type="http://schemas.openxmlformats.org/officeDocument/2006/relationships/slideLayout" Target="../slideLayouts/slideLayout7.xml"/><Relationship Id="rId14" Type="http://schemas.openxmlformats.org/officeDocument/2006/relationships/image" Target="../media/image172.png"/><Relationship Id="rId13" Type="http://schemas.openxmlformats.org/officeDocument/2006/relationships/image" Target="../media/image171.png"/><Relationship Id="rId12" Type="http://schemas.openxmlformats.org/officeDocument/2006/relationships/image" Target="../media/image170.wmf"/><Relationship Id="rId11" Type="http://schemas.openxmlformats.org/officeDocument/2006/relationships/oleObject" Target="../embeddings/oleObject126.bin"/><Relationship Id="rId10" Type="http://schemas.openxmlformats.org/officeDocument/2006/relationships/image" Target="../media/image169.wmf"/><Relationship Id="rId1" Type="http://schemas.openxmlformats.org/officeDocument/2006/relationships/oleObject" Target="../embeddings/oleObject121.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7.xml"/><Relationship Id="rId4" Type="http://schemas.openxmlformats.org/officeDocument/2006/relationships/image" Target="../media/image175.png"/><Relationship Id="rId3" Type="http://schemas.openxmlformats.org/officeDocument/2006/relationships/image" Target="../media/image174.png"/><Relationship Id="rId2" Type="http://schemas.openxmlformats.org/officeDocument/2006/relationships/image" Target="../media/image173.wmf"/><Relationship Id="rId1" Type="http://schemas.openxmlformats.org/officeDocument/2006/relationships/oleObject" Target="../embeddings/oleObject127.bin"/></Relationships>
</file>

<file path=ppt/slides/_rels/slide85.xml.rels><?xml version="1.0" encoding="UTF-8" standalone="yes"?>
<Relationships xmlns="http://schemas.openxmlformats.org/package/2006/relationships"><Relationship Id="rId9" Type="http://schemas.openxmlformats.org/officeDocument/2006/relationships/image" Target="../media/image175.png"/><Relationship Id="rId8" Type="http://schemas.openxmlformats.org/officeDocument/2006/relationships/image" Target="../media/image179.wmf"/><Relationship Id="rId7" Type="http://schemas.openxmlformats.org/officeDocument/2006/relationships/oleObject" Target="../embeddings/oleObject131.bin"/><Relationship Id="rId6" Type="http://schemas.openxmlformats.org/officeDocument/2006/relationships/image" Target="../media/image178.wmf"/><Relationship Id="rId5" Type="http://schemas.openxmlformats.org/officeDocument/2006/relationships/oleObject" Target="../embeddings/oleObject130.bin"/><Relationship Id="rId4" Type="http://schemas.openxmlformats.org/officeDocument/2006/relationships/image" Target="../media/image177.wmf"/><Relationship Id="rId3" Type="http://schemas.openxmlformats.org/officeDocument/2006/relationships/oleObject" Target="../embeddings/oleObject129.bin"/><Relationship Id="rId2" Type="http://schemas.openxmlformats.org/officeDocument/2006/relationships/image" Target="../media/image176.wmf"/><Relationship Id="rId11" Type="http://schemas.openxmlformats.org/officeDocument/2006/relationships/vmlDrawing" Target="../drawings/vmlDrawing44.vml"/><Relationship Id="rId10" Type="http://schemas.openxmlformats.org/officeDocument/2006/relationships/slideLayout" Target="../slideLayouts/slideLayout7.xml"/><Relationship Id="rId1" Type="http://schemas.openxmlformats.org/officeDocument/2006/relationships/oleObject" Target="../embeddings/oleObject128.bin"/></Relationships>
</file>

<file path=ppt/slides/_rels/slide86.xml.rels><?xml version="1.0" encoding="UTF-8" standalone="yes"?>
<Relationships xmlns="http://schemas.openxmlformats.org/package/2006/relationships"><Relationship Id="rId7" Type="http://schemas.openxmlformats.org/officeDocument/2006/relationships/vmlDrawing" Target="../drawings/vmlDrawing45.vml"/><Relationship Id="rId6" Type="http://schemas.openxmlformats.org/officeDocument/2006/relationships/slideLayout" Target="../slideLayouts/slideLayout7.xml"/><Relationship Id="rId5" Type="http://schemas.openxmlformats.org/officeDocument/2006/relationships/image" Target="../media/image175.png"/><Relationship Id="rId4" Type="http://schemas.openxmlformats.org/officeDocument/2006/relationships/image" Target="../media/image181.wmf"/><Relationship Id="rId3" Type="http://schemas.openxmlformats.org/officeDocument/2006/relationships/oleObject" Target="../embeddings/oleObject133.bin"/><Relationship Id="rId2" Type="http://schemas.openxmlformats.org/officeDocument/2006/relationships/image" Target="../media/image180.wmf"/><Relationship Id="rId1" Type="http://schemas.openxmlformats.org/officeDocument/2006/relationships/oleObject" Target="../embeddings/oleObject132.bin"/></Relationships>
</file>

<file path=ppt/slides/_rels/slide87.xml.rels><?xml version="1.0" encoding="UTF-8" standalone="yes"?>
<Relationships xmlns="http://schemas.openxmlformats.org/package/2006/relationships"><Relationship Id="rId7" Type="http://schemas.openxmlformats.org/officeDocument/2006/relationships/vmlDrawing" Target="../drawings/vmlDrawing46.vml"/><Relationship Id="rId6" Type="http://schemas.openxmlformats.org/officeDocument/2006/relationships/slideLayout" Target="../slideLayouts/slideLayout7.xml"/><Relationship Id="rId5" Type="http://schemas.openxmlformats.org/officeDocument/2006/relationships/image" Target="../media/image184.png"/><Relationship Id="rId4" Type="http://schemas.openxmlformats.org/officeDocument/2006/relationships/image" Target="../media/image183.wmf"/><Relationship Id="rId3" Type="http://schemas.openxmlformats.org/officeDocument/2006/relationships/oleObject" Target="../embeddings/oleObject135.bin"/><Relationship Id="rId2" Type="http://schemas.openxmlformats.org/officeDocument/2006/relationships/image" Target="../media/image182.wmf"/><Relationship Id="rId1" Type="http://schemas.openxmlformats.org/officeDocument/2006/relationships/oleObject" Target="../embeddings/oleObject134.bin"/></Relationships>
</file>

<file path=ppt/slides/_rels/slide88.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88.wmf"/><Relationship Id="rId7" Type="http://schemas.openxmlformats.org/officeDocument/2006/relationships/oleObject" Target="../embeddings/oleObject139.bin"/><Relationship Id="rId6" Type="http://schemas.openxmlformats.org/officeDocument/2006/relationships/image" Target="../media/image187.wmf"/><Relationship Id="rId5" Type="http://schemas.openxmlformats.org/officeDocument/2006/relationships/oleObject" Target="../embeddings/oleObject138.bin"/><Relationship Id="rId4" Type="http://schemas.openxmlformats.org/officeDocument/2006/relationships/image" Target="../media/image186.wmf"/><Relationship Id="rId3" Type="http://schemas.openxmlformats.org/officeDocument/2006/relationships/oleObject" Target="../embeddings/oleObject137.bin"/><Relationship Id="rId2" Type="http://schemas.openxmlformats.org/officeDocument/2006/relationships/image" Target="../media/image185.wmf"/><Relationship Id="rId13" Type="http://schemas.openxmlformats.org/officeDocument/2006/relationships/vmlDrawing" Target="../drawings/vmlDrawing47.vml"/><Relationship Id="rId12" Type="http://schemas.openxmlformats.org/officeDocument/2006/relationships/slideLayout" Target="../slideLayouts/slideLayout7.xml"/><Relationship Id="rId11" Type="http://schemas.openxmlformats.org/officeDocument/2006/relationships/image" Target="../media/image190.png"/><Relationship Id="rId10" Type="http://schemas.openxmlformats.org/officeDocument/2006/relationships/image" Target="../media/image189.wmf"/><Relationship Id="rId1" Type="http://schemas.openxmlformats.org/officeDocument/2006/relationships/oleObject" Target="../embeddings/oleObject136.bin"/></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1.png"/></Relationships>
</file>

<file path=ppt/slides/_rels/slide90.xml.rels><?xml version="1.0" encoding="UTF-8" standalone="yes"?>
<Relationships xmlns="http://schemas.openxmlformats.org/package/2006/relationships"><Relationship Id="rId7" Type="http://schemas.openxmlformats.org/officeDocument/2006/relationships/vmlDrawing" Target="../drawings/vmlDrawing48.vml"/><Relationship Id="rId6" Type="http://schemas.openxmlformats.org/officeDocument/2006/relationships/slideLayout" Target="../slideLayouts/slideLayout7.xml"/><Relationship Id="rId5" Type="http://schemas.openxmlformats.org/officeDocument/2006/relationships/image" Target="../media/image194.png"/><Relationship Id="rId4" Type="http://schemas.openxmlformats.org/officeDocument/2006/relationships/image" Target="../media/image193.wmf"/><Relationship Id="rId3" Type="http://schemas.openxmlformats.org/officeDocument/2006/relationships/oleObject" Target="../embeddings/oleObject142.bin"/><Relationship Id="rId2" Type="http://schemas.openxmlformats.org/officeDocument/2006/relationships/image" Target="../media/image192.wmf"/><Relationship Id="rId1" Type="http://schemas.openxmlformats.org/officeDocument/2006/relationships/oleObject" Target="../embeddings/oleObject141.bin"/></Relationships>
</file>

<file path=ppt/slides/_rels/slide91.xml.rels><?xml version="1.0" encoding="UTF-8" standalone="yes"?>
<Relationships xmlns="http://schemas.openxmlformats.org/package/2006/relationships"><Relationship Id="rId7" Type="http://schemas.openxmlformats.org/officeDocument/2006/relationships/vmlDrawing" Target="../drawings/vmlDrawing49.vml"/><Relationship Id="rId6" Type="http://schemas.openxmlformats.org/officeDocument/2006/relationships/slideLayout" Target="../slideLayouts/slideLayout7.xml"/><Relationship Id="rId5" Type="http://schemas.openxmlformats.org/officeDocument/2006/relationships/image" Target="../media/image197.png"/><Relationship Id="rId4" Type="http://schemas.openxmlformats.org/officeDocument/2006/relationships/image" Target="../media/image196.wmf"/><Relationship Id="rId3" Type="http://schemas.openxmlformats.org/officeDocument/2006/relationships/oleObject" Target="../embeddings/oleObject144.bin"/><Relationship Id="rId2" Type="http://schemas.openxmlformats.org/officeDocument/2006/relationships/image" Target="../media/image195.wmf"/><Relationship Id="rId1" Type="http://schemas.openxmlformats.org/officeDocument/2006/relationships/oleObject" Target="../embeddings/oleObject143.bin"/></Relationships>
</file>

<file path=ppt/slides/_rels/slide92.xml.rels><?xml version="1.0" encoding="UTF-8" standalone="yes"?>
<Relationships xmlns="http://schemas.openxmlformats.org/package/2006/relationships"><Relationship Id="rId7" Type="http://schemas.openxmlformats.org/officeDocument/2006/relationships/vmlDrawing" Target="../drawings/vmlDrawing50.vml"/><Relationship Id="rId6" Type="http://schemas.openxmlformats.org/officeDocument/2006/relationships/slideLayout" Target="../slideLayouts/slideLayout7.xml"/><Relationship Id="rId5" Type="http://schemas.openxmlformats.org/officeDocument/2006/relationships/image" Target="../media/image200.png"/><Relationship Id="rId4" Type="http://schemas.openxmlformats.org/officeDocument/2006/relationships/image" Target="../media/image199.wmf"/><Relationship Id="rId3" Type="http://schemas.openxmlformats.org/officeDocument/2006/relationships/oleObject" Target="../embeddings/oleObject146.bin"/><Relationship Id="rId2" Type="http://schemas.openxmlformats.org/officeDocument/2006/relationships/image" Target="../media/image198.wmf"/><Relationship Id="rId1" Type="http://schemas.openxmlformats.org/officeDocument/2006/relationships/oleObject" Target="../embeddings/oleObject145.bin"/></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51.vml"/><Relationship Id="rId3" Type="http://schemas.openxmlformats.org/officeDocument/2006/relationships/slideLayout" Target="../slideLayouts/slideLayout7.xml"/><Relationship Id="rId2" Type="http://schemas.openxmlformats.org/officeDocument/2006/relationships/image" Target="../media/image201.wmf"/><Relationship Id="rId1" Type="http://schemas.openxmlformats.org/officeDocument/2006/relationships/oleObject" Target="../embeddings/oleObject147.bin"/></Relationships>
</file>

<file path=ppt/slides/_rels/slide94.xml.rels><?xml version="1.0" encoding="UTF-8" standalone="yes"?>
<Relationships xmlns="http://schemas.openxmlformats.org/package/2006/relationships"><Relationship Id="rId9" Type="http://schemas.openxmlformats.org/officeDocument/2006/relationships/vmlDrawing" Target="../drawings/vmlDrawing52.vml"/><Relationship Id="rId8" Type="http://schemas.openxmlformats.org/officeDocument/2006/relationships/slideLayout" Target="../slideLayouts/slideLayout7.xml"/><Relationship Id="rId7" Type="http://schemas.openxmlformats.org/officeDocument/2006/relationships/image" Target="../media/image194.png"/><Relationship Id="rId6" Type="http://schemas.openxmlformats.org/officeDocument/2006/relationships/image" Target="../media/image204.wmf"/><Relationship Id="rId5" Type="http://schemas.openxmlformats.org/officeDocument/2006/relationships/oleObject" Target="../embeddings/oleObject150.bin"/><Relationship Id="rId4" Type="http://schemas.openxmlformats.org/officeDocument/2006/relationships/image" Target="../media/image203.wmf"/><Relationship Id="rId3" Type="http://schemas.openxmlformats.org/officeDocument/2006/relationships/oleObject" Target="../embeddings/oleObject149.bin"/><Relationship Id="rId2" Type="http://schemas.openxmlformats.org/officeDocument/2006/relationships/image" Target="../media/image202.wmf"/><Relationship Id="rId1" Type="http://schemas.openxmlformats.org/officeDocument/2006/relationships/oleObject" Target="../embeddings/oleObject148.bin"/></Relationships>
</file>

<file path=ppt/slides/_rels/slide95.xml.rels><?xml version="1.0" encoding="UTF-8" standalone="yes"?>
<Relationships xmlns="http://schemas.openxmlformats.org/package/2006/relationships"><Relationship Id="rId8" Type="http://schemas.openxmlformats.org/officeDocument/2006/relationships/vmlDrawing" Target="../drawings/vmlDrawing53.vml"/><Relationship Id="rId7" Type="http://schemas.openxmlformats.org/officeDocument/2006/relationships/slideLayout" Target="../slideLayouts/slideLayout7.xml"/><Relationship Id="rId6" Type="http://schemas.openxmlformats.org/officeDocument/2006/relationships/image" Target="../media/image200.png"/><Relationship Id="rId5" Type="http://schemas.openxmlformats.org/officeDocument/2006/relationships/image" Target="../media/image197.png"/><Relationship Id="rId4" Type="http://schemas.openxmlformats.org/officeDocument/2006/relationships/image" Target="../media/image206.wmf"/><Relationship Id="rId3" Type="http://schemas.openxmlformats.org/officeDocument/2006/relationships/oleObject" Target="../embeddings/oleObject152.bin"/><Relationship Id="rId2" Type="http://schemas.openxmlformats.org/officeDocument/2006/relationships/image" Target="../media/image205.wmf"/><Relationship Id="rId1" Type="http://schemas.openxmlformats.org/officeDocument/2006/relationships/oleObject" Target="../embeddings/oleObject151.bin"/></Relationships>
</file>

<file path=ppt/slides/_rels/slide96.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7.xml"/><Relationship Id="rId4" Type="http://schemas.openxmlformats.org/officeDocument/2006/relationships/image" Target="../media/image208.wmf"/><Relationship Id="rId3" Type="http://schemas.openxmlformats.org/officeDocument/2006/relationships/oleObject" Target="../embeddings/oleObject154.bin"/><Relationship Id="rId2" Type="http://schemas.openxmlformats.org/officeDocument/2006/relationships/image" Target="../media/image207.wmf"/><Relationship Id="rId1" Type="http://schemas.openxmlformats.org/officeDocument/2006/relationships/oleObject" Target="../embeddings/oleObject153.bin"/></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55.vml"/><Relationship Id="rId3" Type="http://schemas.openxmlformats.org/officeDocument/2006/relationships/slideLayout" Target="../slideLayouts/slideLayout7.xml"/><Relationship Id="rId2" Type="http://schemas.openxmlformats.org/officeDocument/2006/relationships/image" Target="../media/image209.wmf"/><Relationship Id="rId1" Type="http://schemas.openxmlformats.org/officeDocument/2006/relationships/oleObject" Target="../embeddings/oleObject15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5121"/>
          <p:cNvSpPr>
            <a:spLocks noGrp="1" noChangeArrowheads="1"/>
          </p:cNvSpPr>
          <p:nvPr>
            <p:ph type="ctrTitle"/>
          </p:nvPr>
        </p:nvSpPr>
        <p:spPr>
          <a:xfrm>
            <a:off x="685800" y="1905000"/>
            <a:ext cx="7772400" cy="1470025"/>
          </a:xfrm>
        </p:spPr>
        <p:txBody>
          <a:bodyPr anchor="ctr"/>
          <a:lstStyle/>
          <a:p>
            <a:r>
              <a:rPr lang="en-US" altLang="zh-CN" sz="4600" b="1" dirty="0" smtClean="0">
                <a:solidFill>
                  <a:schemeClr val="tx1"/>
                </a:solidFill>
                <a:latin typeface="黑体" panose="02010609060101010101" pitchFamily="49" charset="-122"/>
                <a:ea typeface="黑体" panose="02010609060101010101" pitchFamily="49" charset="-122"/>
              </a:rPr>
              <a:t>06</a:t>
            </a:r>
            <a:r>
              <a:rPr lang="zh-CN" altLang="en-US" sz="4600" b="1" dirty="0" smtClean="0">
                <a:solidFill>
                  <a:schemeClr val="tx1"/>
                </a:solidFill>
                <a:latin typeface="黑体" panose="02010609060101010101" pitchFamily="49" charset="-122"/>
                <a:ea typeface="黑体" panose="02010609060101010101" pitchFamily="49" charset="-122"/>
              </a:rPr>
              <a:t>   熵</a:t>
            </a:r>
            <a:endParaRPr lang="zh-CN" altLang="en-US" sz="4600" b="1" dirty="0" smtClean="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116739"/>
          <p:cNvSpPr>
            <a:spLocks noChangeArrowheads="1"/>
          </p:cNvSpPr>
          <p:nvPr/>
        </p:nvSpPr>
        <p:spPr bwMode="auto">
          <a:xfrm>
            <a:off x="609600" y="19050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800" baseline="0">
                <a:latin typeface="黑体" panose="02010609060101010101" pitchFamily="49" charset="-122"/>
                <a:ea typeface="黑体" panose="02010609060101010101" pitchFamily="49" charset="-122"/>
              </a:rPr>
              <a:t>6</a:t>
            </a:r>
            <a:r>
              <a:rPr lang="zh-CN" altLang="en-US" sz="4800" baseline="0">
                <a:latin typeface="黑体" panose="02010609060101010101" pitchFamily="49" charset="-122"/>
                <a:ea typeface="黑体" panose="02010609060101010101" pitchFamily="49" charset="-122"/>
              </a:rPr>
              <a:t>－</a:t>
            </a:r>
            <a:r>
              <a:rPr lang="en-US" altLang="zh-CN" sz="4800" baseline="0">
                <a:latin typeface="黑体" panose="02010609060101010101" pitchFamily="49" charset="-122"/>
                <a:ea typeface="黑体" panose="02010609060101010101" pitchFamily="49" charset="-122"/>
              </a:rPr>
              <a:t>1</a:t>
            </a:r>
            <a:r>
              <a:rPr lang="zh-CN" altLang="en-US" sz="4800" baseline="0">
                <a:latin typeface="黑体" panose="02010609060101010101" pitchFamily="49" charset="-122"/>
                <a:ea typeface="黑体" panose="02010609060101010101" pitchFamily="49" charset="-122"/>
              </a:rPr>
              <a:t>　熵</a:t>
            </a:r>
            <a:endParaRPr lang="zh-CN" altLang="en-US" sz="4800" baseline="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355329"/>
          <p:cNvSpPr>
            <a:spLocks noGrp="1" noChangeArrowheads="1"/>
          </p:cNvSpPr>
          <p:nvPr>
            <p:ph type="title"/>
          </p:nvPr>
        </p:nvSpPr>
        <p:spPr>
          <a:xfrm>
            <a:off x="457200" y="76200"/>
            <a:ext cx="8229600" cy="1143000"/>
          </a:xfrm>
        </p:spPr>
        <p:txBody>
          <a:bodyPr/>
          <a:lstStyle/>
          <a:p>
            <a:r>
              <a:rPr lang="zh-CN" altLang="en-US" sz="4000" b="1" dirty="0" smtClean="0">
                <a:ea typeface="黑体" panose="02010609060101010101" pitchFamily="49" charset="-122"/>
              </a:rPr>
              <a:t>一、为什么需要熵？</a:t>
            </a:r>
            <a:endParaRPr lang="zh-CN" altLang="en-US" sz="4000" b="1" dirty="0" smtClean="0">
              <a:ea typeface="黑体" panose="02010609060101010101" pitchFamily="49" charset="-122"/>
            </a:endParaRPr>
          </a:p>
        </p:txBody>
      </p:sp>
      <p:sp>
        <p:nvSpPr>
          <p:cNvPr id="355331" name="内容占位符 355330"/>
          <p:cNvSpPr>
            <a:spLocks noGrp="1" noChangeArrowheads="1"/>
          </p:cNvSpPr>
          <p:nvPr>
            <p:ph idx="1"/>
          </p:nvPr>
        </p:nvSpPr>
        <p:spPr>
          <a:xfrm>
            <a:off x="457200" y="1219200"/>
            <a:ext cx="8458200" cy="4525963"/>
          </a:xfrm>
        </p:spPr>
        <p:txBody>
          <a:bodyPr/>
          <a:lstStyle/>
          <a:p>
            <a:r>
              <a:rPr lang="zh-CN" altLang="en-US" sz="2800" b="1" dirty="0" smtClean="0"/>
              <a:t>热力学第一定律反映能量之间的守恒关系，其数学表达式体现了各种能量之间的数量关系 </a:t>
            </a:r>
            <a:endParaRPr lang="zh-CN" altLang="en-US" sz="2800" b="1" dirty="0" smtClean="0"/>
          </a:p>
          <a:p>
            <a:r>
              <a:rPr lang="zh-CN" altLang="en-US" sz="2800" b="1" dirty="0" smtClean="0"/>
              <a:t>但是，无论是克氏说法，还是开氏说法，都以“不可能</a:t>
            </a:r>
            <a:r>
              <a:rPr lang="en-US" altLang="zh-CN" sz="2800" b="1" dirty="0" smtClean="0"/>
              <a:t>……”</a:t>
            </a:r>
            <a:r>
              <a:rPr lang="zh-CN" altLang="en-US" sz="2800" b="1" dirty="0" smtClean="0"/>
              <a:t>这种</a:t>
            </a:r>
            <a:r>
              <a:rPr lang="zh-CN" altLang="en-US" b="1" dirty="0" smtClean="0">
                <a:solidFill>
                  <a:srgbClr val="FF0000"/>
                </a:solidFill>
              </a:rPr>
              <a:t>否定的文字形式</a:t>
            </a:r>
            <a:r>
              <a:rPr lang="zh-CN" altLang="en-US" sz="2800" b="1" dirty="0" smtClean="0"/>
              <a:t>描述热过程进行的方向、条件和限制，总显得不那么直接。 </a:t>
            </a:r>
            <a:endParaRPr lang="zh-CN" altLang="en-US" sz="2800" b="1" dirty="0" smtClean="0"/>
          </a:p>
          <a:p>
            <a:r>
              <a:rPr lang="zh-CN" altLang="en-US" sz="2800" b="1" dirty="0" smtClean="0"/>
              <a:t>热力学第二定律有没有相应的数学表达式？</a:t>
            </a:r>
            <a:r>
              <a:rPr lang="zh-CN" altLang="en-US" sz="2800" b="1" dirty="0" smtClean="0">
                <a:solidFill>
                  <a:srgbClr val="FF0000"/>
                </a:solidFill>
              </a:rPr>
              <a:t>如果有，在数学表达式中，又是通过哪个或哪些物理量来判断过程的方向性呢</a:t>
            </a:r>
            <a:r>
              <a:rPr lang="zh-CN" altLang="en-US" sz="2800" b="1" dirty="0" smtClean="0"/>
              <a:t>？ </a:t>
            </a:r>
            <a:endParaRPr lang="zh-CN" altLang="en-US" sz="2800" b="1" dirty="0" smtClean="0"/>
          </a:p>
          <a:p>
            <a:r>
              <a:rPr lang="zh-CN" altLang="en-US" sz="2800" b="1" dirty="0" smtClean="0"/>
              <a:t>仅通过一个物理量</a:t>
            </a:r>
            <a:r>
              <a:rPr lang="en-US" altLang="zh-CN" sz="2800" b="1" dirty="0" smtClean="0"/>
              <a:t>——</a:t>
            </a:r>
            <a:r>
              <a:rPr lang="zh-CN" altLang="en-US" sz="3600" b="1" dirty="0" smtClean="0">
                <a:solidFill>
                  <a:srgbClr val="FF0000"/>
                </a:solidFill>
                <a:ea typeface="黑体" panose="02010609060101010101" pitchFamily="49" charset="-122"/>
              </a:rPr>
              <a:t>熵</a:t>
            </a:r>
            <a:r>
              <a:rPr lang="zh-CN" altLang="en-US" sz="2800" b="1" dirty="0" smtClean="0"/>
              <a:t>，就能够表示热力学第二定律并判断过程的方向 </a:t>
            </a:r>
            <a:endParaRPr lang="zh-CN" altLang="en-US" sz="2800" b="1" dirty="0" smtClean="0"/>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Effect transition="in" filter="blinds(horizontal)">
                                      <p:cBhvr>
                                        <p:cTn id="7" dur="500"/>
                                        <p:tgtEl>
                                          <p:spTgt spid="355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5331">
                                            <p:txEl>
                                              <p:pRg st="1" end="1"/>
                                            </p:txEl>
                                          </p:spTgt>
                                        </p:tgtEl>
                                        <p:attrNameLst>
                                          <p:attrName>style.visibility</p:attrName>
                                        </p:attrNameLst>
                                      </p:cBhvr>
                                      <p:to>
                                        <p:strVal val="visible"/>
                                      </p:to>
                                    </p:set>
                                    <p:animEffect transition="in" filter="blinds(horizontal)">
                                      <p:cBhvr>
                                        <p:cTn id="12" dur="500"/>
                                        <p:tgtEl>
                                          <p:spTgt spid="355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5331">
                                            <p:txEl>
                                              <p:pRg st="2" end="2"/>
                                            </p:txEl>
                                          </p:spTgt>
                                        </p:tgtEl>
                                        <p:attrNameLst>
                                          <p:attrName>style.visibility</p:attrName>
                                        </p:attrNameLst>
                                      </p:cBhvr>
                                      <p:to>
                                        <p:strVal val="visible"/>
                                      </p:to>
                                    </p:set>
                                    <p:animEffect transition="in" filter="blinds(horizontal)">
                                      <p:cBhvr>
                                        <p:cTn id="17" dur="500"/>
                                        <p:tgtEl>
                                          <p:spTgt spid="355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5331">
                                            <p:txEl>
                                              <p:pRg st="3" end="3"/>
                                            </p:txEl>
                                          </p:spTgt>
                                        </p:tgtEl>
                                        <p:attrNameLst>
                                          <p:attrName>style.visibility</p:attrName>
                                        </p:attrNameLst>
                                      </p:cBhvr>
                                      <p:to>
                                        <p:strVal val="visible"/>
                                      </p:to>
                                    </p:set>
                                    <p:animEffect transition="in" filter="blinds(horizontal)">
                                      <p:cBhvr>
                                        <p:cTn id="22" dur="500"/>
                                        <p:tgtEl>
                                          <p:spTgt spid="3553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矩形 380931"/>
          <p:cNvSpPr>
            <a:spLocks noChangeArrowheads="1"/>
          </p:cNvSpPr>
          <p:nvPr/>
        </p:nvSpPr>
        <p:spPr bwMode="auto">
          <a:xfrm>
            <a:off x="457200" y="2286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4000" b="1" baseline="0" dirty="0">
                <a:ea typeface="黑体" panose="02010609060101010101" pitchFamily="49" charset="-122"/>
              </a:rPr>
              <a:t>二</a:t>
            </a:r>
            <a:r>
              <a:rPr lang="zh-CN" altLang="en-US" sz="4000" b="1" baseline="0" dirty="0" smtClean="0">
                <a:ea typeface="黑体" panose="02010609060101010101" pitchFamily="49" charset="-122"/>
              </a:rPr>
              <a:t>、状态参数熵的导出</a:t>
            </a:r>
            <a:endParaRPr lang="zh-CN" altLang="en-US" sz="4000" b="1" baseline="0" dirty="0">
              <a:ea typeface="黑体" panose="02010609060101010101" pitchFamily="49" charset="-122"/>
            </a:endParaRPr>
          </a:p>
        </p:txBody>
      </p:sp>
      <p:sp>
        <p:nvSpPr>
          <p:cNvPr id="17410" name="矩形 380932"/>
          <p:cNvSpPr>
            <a:spLocks noChangeArrowheads="1"/>
          </p:cNvSpPr>
          <p:nvPr/>
        </p:nvSpPr>
        <p:spPr bwMode="auto">
          <a:xfrm>
            <a:off x="457200" y="2755900"/>
            <a:ext cx="8153400" cy="213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3200" b="1" baseline="0" dirty="0"/>
              <a:t>热力学第二定律有各种表述方式，熵的导出也有各种方法。</a:t>
            </a:r>
            <a:endParaRPr lang="zh-CN" altLang="en-US" sz="3200" b="1" baseline="0" dirty="0"/>
          </a:p>
          <a:p>
            <a:pPr>
              <a:spcBef>
                <a:spcPct val="20000"/>
              </a:spcBef>
            </a:pPr>
            <a:r>
              <a:rPr lang="zh-CN" altLang="en-US" sz="3200" b="1" baseline="0" dirty="0"/>
              <a:t>下面将从</a:t>
            </a:r>
            <a:r>
              <a:rPr lang="zh-CN" altLang="en-US" sz="3200" b="1" baseline="0" dirty="0">
                <a:solidFill>
                  <a:srgbClr val="FF0000"/>
                </a:solidFill>
              </a:rPr>
              <a:t>循环出发，利用卡诺定理和热力学第二定律来导出熵</a:t>
            </a:r>
            <a:r>
              <a:rPr lang="zh-CN" altLang="en-US" sz="3200" b="1" baseline="0" dirty="0"/>
              <a:t>。 </a:t>
            </a:r>
            <a:endParaRPr lang="zh-CN" altLang="en-US" sz="3200" b="1" baseline="0" dirty="0"/>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566275"/>
          <p:cNvSpPr>
            <a:spLocks noChangeArrowheads="1"/>
          </p:cNvSpPr>
          <p:nvPr/>
        </p:nvSpPr>
        <p:spPr bwMode="auto">
          <a:xfrm>
            <a:off x="0" y="1245501"/>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6" name="矩形 566277"/>
          <p:cNvSpPr>
            <a:spLocks noChangeArrowheads="1"/>
          </p:cNvSpPr>
          <p:nvPr/>
        </p:nvSpPr>
        <p:spPr bwMode="auto">
          <a:xfrm>
            <a:off x="0" y="2917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7" name="矩形 566278"/>
          <p:cNvSpPr>
            <a:spLocks noChangeArrowheads="1"/>
          </p:cNvSpPr>
          <p:nvPr/>
        </p:nvSpPr>
        <p:spPr bwMode="auto">
          <a:xfrm>
            <a:off x="0" y="281712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8" name="矩形 566280"/>
          <p:cNvSpPr>
            <a:spLocks noChangeArrowheads="1"/>
          </p:cNvSpPr>
          <p:nvPr/>
        </p:nvSpPr>
        <p:spPr bwMode="auto">
          <a:xfrm>
            <a:off x="0" y="283617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9" name="矩形 566287"/>
          <p:cNvSpPr>
            <a:spLocks noChangeArrowheads="1"/>
          </p:cNvSpPr>
          <p:nvPr/>
        </p:nvSpPr>
        <p:spPr bwMode="auto">
          <a:xfrm>
            <a:off x="0" y="283617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40" name="矩形 566289"/>
          <p:cNvSpPr>
            <a:spLocks noChangeArrowheads="1"/>
          </p:cNvSpPr>
          <p:nvPr/>
        </p:nvSpPr>
        <p:spPr bwMode="auto">
          <a:xfrm>
            <a:off x="0" y="283617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6295" name="矩形 566294"/>
          <p:cNvSpPr>
            <a:spLocks noChangeArrowheads="1"/>
          </p:cNvSpPr>
          <p:nvPr/>
        </p:nvSpPr>
        <p:spPr bwMode="auto">
          <a:xfrm>
            <a:off x="3657600" y="451041"/>
            <a:ext cx="51816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2800" b="1" baseline="0" dirty="0"/>
              <a:t>闭口系任意微元过程，从外界吸热</a:t>
            </a:r>
            <a:r>
              <a:rPr lang="el-GR" altLang="zh-CN" sz="2800" b="1" baseline="0" dirty="0">
                <a:latin typeface="Times New Roman" panose="02020603050405020304" pitchFamily="18" charset="0"/>
                <a:cs typeface="Times New Roman" panose="02020603050405020304" pitchFamily="18" charset="0"/>
              </a:rPr>
              <a:t>δ</a:t>
            </a:r>
            <a:r>
              <a:rPr lang="en-US" altLang="zh-CN" sz="2800" b="1" i="1" baseline="0" dirty="0">
                <a:latin typeface="Times New Roman" panose="02020603050405020304" pitchFamily="18" charset="0"/>
                <a:cs typeface="Times New Roman" panose="02020603050405020304" pitchFamily="18" charset="0"/>
              </a:rPr>
              <a:t>Q</a:t>
            </a:r>
            <a:r>
              <a:rPr lang="en-US" altLang="zh-CN" b="1" i="1" baseline="0" dirty="0">
                <a:latin typeface="Times New Roman" panose="02020603050405020304" pitchFamily="18" charset="0"/>
                <a:cs typeface="Times New Roman" panose="02020603050405020304" pitchFamily="18" charset="0"/>
              </a:rPr>
              <a:t> </a:t>
            </a:r>
            <a:r>
              <a:rPr lang="zh-CN" altLang="en-US" sz="2800" b="1" baseline="0" dirty="0">
                <a:latin typeface="Times New Roman" panose="02020603050405020304" pitchFamily="18" charset="0"/>
              </a:rPr>
              <a:t>，对外界作功</a:t>
            </a:r>
            <a:r>
              <a:rPr lang="el-GR" altLang="zh-CN" sz="2800" b="1" baseline="0" dirty="0">
                <a:latin typeface="Times New Roman" panose="02020603050405020304" pitchFamily="18" charset="0"/>
                <a:cs typeface="Times New Roman" panose="02020603050405020304" pitchFamily="18" charset="0"/>
              </a:rPr>
              <a:t>δ</a:t>
            </a:r>
            <a:r>
              <a:rPr lang="en-US" altLang="zh-CN" sz="2800" b="1" i="1" baseline="0" dirty="0" smtClean="0">
                <a:latin typeface="Times New Roman" panose="02020603050405020304" pitchFamily="18" charset="0"/>
                <a:cs typeface="Times New Roman" panose="02020603050405020304" pitchFamily="18" charset="0"/>
              </a:rPr>
              <a:t>W</a:t>
            </a:r>
            <a:r>
              <a:rPr lang="zh-CN" altLang="en-US" sz="2800" b="1" dirty="0"/>
              <a:t> ，</a:t>
            </a:r>
            <a:r>
              <a:rPr lang="zh-CN" altLang="en-US" sz="2800" b="1" dirty="0" smtClean="0"/>
              <a:t>系统</a:t>
            </a:r>
            <a:r>
              <a:rPr lang="zh-CN" altLang="en-US" sz="2800" b="1" dirty="0"/>
              <a:t>在吸热</a:t>
            </a:r>
            <a:r>
              <a:rPr lang="zh-CN" altLang="en-US" sz="2800" b="1" i="1" dirty="0"/>
              <a:t> </a:t>
            </a:r>
            <a:r>
              <a:rPr lang="el-GR" altLang="zh-CN" sz="2800" b="1" dirty="0">
                <a:latin typeface="Times New Roman" panose="02020603050405020304" pitchFamily="18" charset="0"/>
                <a:cs typeface="Times New Roman" panose="02020603050405020304" pitchFamily="18" charset="0"/>
              </a:rPr>
              <a:t>δ</a:t>
            </a:r>
            <a:r>
              <a:rPr lang="en-US" altLang="zh-CN" sz="2800" b="1" i="1" dirty="0">
                <a:latin typeface="Times New Roman" panose="02020603050405020304" pitchFamily="18" charset="0"/>
                <a:cs typeface="Times New Roman" panose="02020603050405020304" pitchFamily="18" charset="0"/>
              </a:rPr>
              <a:t>Q</a:t>
            </a:r>
            <a:r>
              <a:rPr lang="zh-CN" altLang="en-US" sz="2800" b="1" dirty="0"/>
              <a:t>时的温度为</a:t>
            </a:r>
            <a:r>
              <a:rPr lang="en-US" altLang="zh-CN" sz="2800" b="1" i="1" dirty="0" smtClean="0">
                <a:latin typeface="Times New Roman" panose="02020603050405020304" pitchFamily="18" charset="0"/>
                <a:cs typeface="Times New Roman" panose="02020603050405020304" pitchFamily="18" charset="0"/>
              </a:rPr>
              <a:t>T</a:t>
            </a:r>
            <a:r>
              <a:rPr lang="zh-CN" altLang="en-US" sz="2800" b="1" dirty="0" smtClean="0">
                <a:latin typeface="Times New Roman" panose="02020603050405020304" pitchFamily="18" charset="0"/>
                <a:cs typeface="Times New Roman" panose="02020603050405020304" pitchFamily="18" charset="0"/>
              </a:rPr>
              <a:t>。</a:t>
            </a:r>
            <a:endParaRPr lang="zh-CN" altLang="el-GR" sz="2800" b="1" i="1" baseline="0" dirty="0">
              <a:latin typeface="Times New Roman" panose="02020603050405020304" pitchFamily="18" charset="0"/>
              <a:cs typeface="Times New Roman" panose="02020603050405020304" pitchFamily="18" charset="0"/>
            </a:endParaRPr>
          </a:p>
        </p:txBody>
      </p:sp>
      <p:sp>
        <p:nvSpPr>
          <p:cNvPr id="566296" name="矩形 566295"/>
          <p:cNvSpPr>
            <a:spLocks noChangeArrowheads="1"/>
          </p:cNvSpPr>
          <p:nvPr/>
        </p:nvSpPr>
        <p:spPr bwMode="auto">
          <a:xfrm>
            <a:off x="3657600" y="1836036"/>
            <a:ext cx="5029200" cy="405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2800" b="1" baseline="0" dirty="0" smtClean="0"/>
              <a:t>假设</a:t>
            </a:r>
            <a:r>
              <a:rPr lang="el-GR" altLang="zh-CN" sz="2800" b="1" dirty="0">
                <a:latin typeface="Times New Roman" panose="02020603050405020304" pitchFamily="18" charset="0"/>
                <a:cs typeface="Times New Roman" panose="02020603050405020304" pitchFamily="18" charset="0"/>
              </a:rPr>
              <a:t>δ</a:t>
            </a:r>
            <a:r>
              <a:rPr lang="en-US" altLang="zh-CN" sz="2800" b="1" i="1" dirty="0" smtClean="0">
                <a:latin typeface="Times New Roman" panose="02020603050405020304" pitchFamily="18" charset="0"/>
                <a:cs typeface="Times New Roman" panose="02020603050405020304" pitchFamily="18" charset="0"/>
              </a:rPr>
              <a:t>Q</a:t>
            </a:r>
            <a:r>
              <a:rPr lang="zh-CN" altLang="en-US" sz="2800" b="1" baseline="0" dirty="0" smtClean="0"/>
              <a:t>由温度为</a:t>
            </a:r>
            <a:r>
              <a:rPr lang="en-US" altLang="zh-CN" sz="2800" b="1" i="1" baseline="0" dirty="0" err="1" smtClean="0">
                <a:latin typeface="Times New Roman" panose="02020603050405020304" pitchFamily="18" charset="0"/>
                <a:cs typeface="Times New Roman" panose="02020603050405020304" pitchFamily="18" charset="0"/>
              </a:rPr>
              <a:t>T</a:t>
            </a:r>
            <a:r>
              <a:rPr lang="en-US" altLang="zh-CN" sz="2800" b="1" baseline="-25000" dirty="0" err="1" smtClean="0">
                <a:latin typeface="Times New Roman" panose="02020603050405020304" pitchFamily="18" charset="0"/>
                <a:cs typeface="Times New Roman" panose="02020603050405020304" pitchFamily="18" charset="0"/>
              </a:rPr>
              <a:t>r</a:t>
            </a:r>
            <a:r>
              <a:rPr lang="zh-CN" altLang="en-US" sz="2800" b="1" baseline="0" dirty="0"/>
              <a:t>的恒温</a:t>
            </a:r>
            <a:r>
              <a:rPr lang="zh-CN" altLang="en-US" sz="2800" b="1" baseline="0" dirty="0" smtClean="0"/>
              <a:t>热源所提供。当闭口系与热源温度不同时，若两者间直接传热，则存在有限温差传热引起的不可逆性。</a:t>
            </a:r>
            <a:endParaRPr lang="en-US" altLang="zh-CN" sz="2800" b="1" baseline="0" dirty="0" smtClean="0"/>
          </a:p>
          <a:p>
            <a:pPr>
              <a:spcBef>
                <a:spcPct val="20000"/>
              </a:spcBef>
            </a:pPr>
            <a:r>
              <a:rPr lang="zh-CN" altLang="en-US" sz="2800" b="1" baseline="0" dirty="0" smtClean="0"/>
              <a:t>为确保可逆，放置</a:t>
            </a:r>
            <a:r>
              <a:rPr lang="zh-CN" altLang="en-US" sz="2800" b="1" baseline="0" dirty="0"/>
              <a:t>一个</a:t>
            </a:r>
            <a:r>
              <a:rPr lang="zh-CN" altLang="en-US" sz="2800" b="1" baseline="0" dirty="0" smtClean="0"/>
              <a:t>可逆热机，</a:t>
            </a:r>
            <a:r>
              <a:rPr lang="zh-CN" altLang="en-US" sz="2800" b="1" baseline="0" dirty="0"/>
              <a:t>从热源吸热</a:t>
            </a:r>
            <a:r>
              <a:rPr lang="el-GR" altLang="zh-CN" sz="2800" b="1" baseline="0" dirty="0">
                <a:latin typeface="Times New Roman" panose="02020603050405020304" pitchFamily="18" charset="0"/>
                <a:cs typeface="Times New Roman" panose="02020603050405020304" pitchFamily="18" charset="0"/>
              </a:rPr>
              <a:t>δ</a:t>
            </a:r>
            <a:r>
              <a:rPr lang="en-US" altLang="zh-CN" sz="2800" b="1" i="1" baseline="0" dirty="0" err="1">
                <a:latin typeface="Times New Roman" panose="02020603050405020304" pitchFamily="18" charset="0"/>
                <a:cs typeface="Times New Roman" panose="02020603050405020304" pitchFamily="18" charset="0"/>
              </a:rPr>
              <a:t>Q</a:t>
            </a:r>
            <a:r>
              <a:rPr lang="en-US" altLang="zh-CN" sz="2800" b="1" baseline="-25000" dirty="0" err="1">
                <a:latin typeface="Times New Roman" panose="02020603050405020304" pitchFamily="18" charset="0"/>
                <a:cs typeface="Times New Roman" panose="02020603050405020304" pitchFamily="18" charset="0"/>
              </a:rPr>
              <a:t>r</a:t>
            </a:r>
            <a:r>
              <a:rPr lang="zh-CN" altLang="en-US" sz="2800" b="1" i="1" baseline="0" dirty="0"/>
              <a:t>，</a:t>
            </a:r>
            <a:r>
              <a:rPr lang="zh-CN" altLang="en-US" sz="2800" b="1" baseline="0" dirty="0"/>
              <a:t>作功</a:t>
            </a:r>
            <a:r>
              <a:rPr lang="el-GR" altLang="zh-CN" sz="2800" b="1" baseline="0" dirty="0">
                <a:latin typeface="Times New Roman" panose="02020603050405020304" pitchFamily="18" charset="0"/>
                <a:cs typeface="Times New Roman" panose="02020603050405020304" pitchFamily="18" charset="0"/>
              </a:rPr>
              <a:t>δ</a:t>
            </a:r>
            <a:r>
              <a:rPr lang="en-US" altLang="zh-CN" sz="2800" b="1" i="1" baseline="0" dirty="0" err="1">
                <a:latin typeface="Times New Roman" panose="02020603050405020304" pitchFamily="18" charset="0"/>
                <a:cs typeface="Times New Roman" panose="02020603050405020304" pitchFamily="18" charset="0"/>
              </a:rPr>
              <a:t>W</a:t>
            </a:r>
            <a:r>
              <a:rPr lang="en-US" altLang="zh-CN" sz="2800" b="1" baseline="-25000" dirty="0" err="1">
                <a:latin typeface="Times New Roman" panose="02020603050405020304" pitchFamily="18" charset="0"/>
                <a:cs typeface="Times New Roman" panose="02020603050405020304" pitchFamily="18" charset="0"/>
              </a:rPr>
              <a:t>rev</a:t>
            </a:r>
            <a:r>
              <a:rPr lang="zh-CN" altLang="en-US" sz="2800" b="1" baseline="0" dirty="0" smtClean="0"/>
              <a:t>后，将</a:t>
            </a:r>
            <a:r>
              <a:rPr lang="zh-CN" altLang="en-US" sz="2800" b="1" baseline="0" dirty="0"/>
              <a:t>余下的</a:t>
            </a:r>
            <a:r>
              <a:rPr lang="zh-CN" altLang="en-US" sz="2800" b="1" baseline="0" dirty="0" smtClean="0"/>
              <a:t>热量放</a:t>
            </a:r>
            <a:r>
              <a:rPr lang="zh-CN" altLang="en-US" sz="2800" b="1" baseline="0" dirty="0"/>
              <a:t>给</a:t>
            </a:r>
            <a:r>
              <a:rPr lang="zh-CN" altLang="en-US" sz="2800" b="1" baseline="0" dirty="0" smtClean="0"/>
              <a:t>系统。</a:t>
            </a:r>
            <a:endParaRPr lang="zh-CN" altLang="el-GR" sz="2800" b="1" baseline="0" dirty="0"/>
          </a:p>
        </p:txBody>
      </p:sp>
      <p:sp>
        <p:nvSpPr>
          <p:cNvPr id="566297" name="矩形 566296"/>
          <p:cNvSpPr>
            <a:spLocks noChangeArrowheads="1"/>
          </p:cNvSpPr>
          <p:nvPr/>
        </p:nvSpPr>
        <p:spPr bwMode="auto">
          <a:xfrm>
            <a:off x="318603" y="6244538"/>
            <a:ext cx="85868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spcBef>
                <a:spcPct val="20000"/>
              </a:spcBef>
            </a:pPr>
            <a:r>
              <a:rPr lang="zh-CN" altLang="en-US" sz="2400" b="1" baseline="0" dirty="0"/>
              <a:t>下标：“</a:t>
            </a:r>
            <a:r>
              <a:rPr lang="en-US" altLang="zh-CN" sz="2400" b="1" baseline="0" dirty="0">
                <a:latin typeface="Times New Roman" panose="02020603050405020304" pitchFamily="18" charset="0"/>
                <a:cs typeface="Times New Roman" panose="02020603050405020304" pitchFamily="18" charset="0"/>
              </a:rPr>
              <a:t>r”</a:t>
            </a:r>
            <a:r>
              <a:rPr lang="zh-CN" altLang="en-US" sz="2400" b="1" baseline="0" dirty="0">
                <a:latin typeface="Times New Roman" panose="02020603050405020304" pitchFamily="18" charset="0"/>
                <a:cs typeface="Times New Roman" panose="02020603050405020304" pitchFamily="18" charset="0"/>
              </a:rPr>
              <a:t>表示热源</a:t>
            </a:r>
            <a:r>
              <a:rPr lang="en-US" altLang="zh-CN" sz="2400" b="1" baseline="0" dirty="0">
                <a:latin typeface="Times New Roman" panose="02020603050405020304" pitchFamily="18" charset="0"/>
                <a:cs typeface="Times New Roman" panose="02020603050405020304" pitchFamily="18" charset="0"/>
              </a:rPr>
              <a:t>reservoir</a:t>
            </a:r>
            <a:r>
              <a:rPr lang="zh-CN" altLang="en-US" sz="2400" b="1" baseline="0" dirty="0">
                <a:latin typeface="Times New Roman" panose="02020603050405020304" pitchFamily="18" charset="0"/>
                <a:cs typeface="Times New Roman" panose="02020603050405020304" pitchFamily="18" charset="0"/>
              </a:rPr>
              <a:t>，“</a:t>
            </a:r>
            <a:r>
              <a:rPr lang="en-US" altLang="zh-CN" sz="2400" b="1" baseline="0" dirty="0">
                <a:latin typeface="Times New Roman" panose="02020603050405020304" pitchFamily="18" charset="0"/>
                <a:cs typeface="Times New Roman" panose="02020603050405020304" pitchFamily="18" charset="0"/>
              </a:rPr>
              <a:t>rev”</a:t>
            </a:r>
            <a:r>
              <a:rPr lang="zh-CN" altLang="en-US" sz="2400" b="1" baseline="0" dirty="0">
                <a:latin typeface="Times New Roman" panose="02020603050405020304" pitchFamily="18" charset="0"/>
                <a:cs typeface="Times New Roman" panose="02020603050405020304" pitchFamily="18" charset="0"/>
              </a:rPr>
              <a:t>表示</a:t>
            </a:r>
            <a:r>
              <a:rPr lang="zh-CN" altLang="en-US" sz="2400" b="1" baseline="0" dirty="0" smtClean="0">
                <a:latin typeface="Times New Roman" panose="02020603050405020304" pitchFamily="18" charset="0"/>
                <a:cs typeface="Times New Roman" panose="02020603050405020304" pitchFamily="18" charset="0"/>
              </a:rPr>
              <a:t>可逆过程</a:t>
            </a:r>
            <a:r>
              <a:rPr lang="en-US" altLang="zh-CN" sz="2400" b="1" baseline="0" dirty="0" smtClean="0">
                <a:latin typeface="Times New Roman" panose="02020603050405020304" pitchFamily="18" charset="0"/>
                <a:cs typeface="Times New Roman" panose="02020603050405020304" pitchFamily="18" charset="0"/>
              </a:rPr>
              <a:t>reversible</a:t>
            </a:r>
            <a:endParaRPr lang="el-GR" altLang="zh-CN" sz="2400" b="1" i="1" baseline="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204" y="515749"/>
            <a:ext cx="3638324" cy="5728789"/>
          </a:xfrm>
          <a:prstGeom prst="rect">
            <a:avLst/>
          </a:prstGeom>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6295"/>
                                        </p:tgtEl>
                                        <p:attrNameLst>
                                          <p:attrName>style.visibility</p:attrName>
                                        </p:attrNameLst>
                                      </p:cBhvr>
                                      <p:to>
                                        <p:strVal val="visible"/>
                                      </p:to>
                                    </p:set>
                                    <p:animEffect transition="in" filter="blinds(horizontal)">
                                      <p:cBhvr>
                                        <p:cTn id="7" dur="500"/>
                                        <p:tgtEl>
                                          <p:spTgt spid="5662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66296"/>
                                        </p:tgtEl>
                                        <p:attrNameLst>
                                          <p:attrName>style.visibility</p:attrName>
                                        </p:attrNameLst>
                                      </p:cBhvr>
                                      <p:to>
                                        <p:strVal val="visible"/>
                                      </p:to>
                                    </p:set>
                                    <p:animEffect transition="in" filter="blinds(horizontal)">
                                      <p:cBhvr>
                                        <p:cTn id="12" dur="500"/>
                                        <p:tgtEl>
                                          <p:spTgt spid="56629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66297"/>
                                        </p:tgtEl>
                                        <p:attrNameLst>
                                          <p:attrName>style.visibility</p:attrName>
                                        </p:attrNameLst>
                                      </p:cBhvr>
                                      <p:to>
                                        <p:strVal val="visible"/>
                                      </p:to>
                                    </p:set>
                                    <p:animEffect transition="in" filter="blinds(horizontal)">
                                      <p:cBhvr>
                                        <p:cTn id="17" dur="500"/>
                                        <p:tgtEl>
                                          <p:spTgt spid="566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95" grpId="0"/>
      <p:bldP spid="566296" grpId="0"/>
      <p:bldP spid="5662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矩形 356358"/>
          <p:cNvSpPr>
            <a:spLocks noChangeArrowheads="1"/>
          </p:cNvSpPr>
          <p:nvPr/>
        </p:nvSpPr>
        <p:spPr bwMode="auto">
          <a:xfrm>
            <a:off x="0" y="1643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矩形 35636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56362" name="对象 356361"/>
          <p:cNvGraphicFramePr/>
          <p:nvPr/>
        </p:nvGraphicFramePr>
        <p:xfrm>
          <a:off x="5867400" y="1371600"/>
          <a:ext cx="1219200" cy="795338"/>
        </p:xfrm>
        <a:graphic>
          <a:graphicData uri="http://schemas.openxmlformats.org/presentationml/2006/ole">
            <mc:AlternateContent xmlns:mc="http://schemas.openxmlformats.org/markup-compatibility/2006">
              <mc:Choice xmlns:v="urn:schemas-microsoft-com:vml" Requires="v">
                <p:oleObj spid="_x0000_s116748" name="" r:id="rId1" imgW="660400" imgH="431800" progId="Equation.DSMT4">
                  <p:embed/>
                </p:oleObj>
              </mc:Choice>
              <mc:Fallback>
                <p:oleObj name="" r:id="rId1" imgW="660400" imgH="431800" progId="Equation.DSMT4">
                  <p:embed/>
                  <p:pic>
                    <p:nvPicPr>
                      <p:cNvPr id="0" name="对象 35636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371600"/>
                        <a:ext cx="1219200"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6364" name="对象 356363"/>
          <p:cNvGraphicFramePr/>
          <p:nvPr/>
        </p:nvGraphicFramePr>
        <p:xfrm>
          <a:off x="5453063" y="2133600"/>
          <a:ext cx="2659062" cy="762000"/>
        </p:xfrm>
        <a:graphic>
          <a:graphicData uri="http://schemas.openxmlformats.org/presentationml/2006/ole">
            <mc:AlternateContent xmlns:mc="http://schemas.openxmlformats.org/markup-compatibility/2006">
              <mc:Choice xmlns:v="urn:schemas-microsoft-com:vml" Requires="v">
                <p:oleObj spid="_x0000_s116749" name="Equation" r:id="rId3" imgW="32613600" imgH="9448800" progId="Equation.DSMT4">
                  <p:embed/>
                </p:oleObj>
              </mc:Choice>
              <mc:Fallback>
                <p:oleObj name="Equation" r:id="rId3" imgW="32613600" imgH="9448800" progId="Equation.DSMT4">
                  <p:embed/>
                  <p:pic>
                    <p:nvPicPr>
                      <p:cNvPr id="0" name="对象 356363"/>
                      <p:cNvPicPr>
                        <a:picLocks noChangeArrowheads="1"/>
                      </p:cNvPicPr>
                      <p:nvPr/>
                    </p:nvPicPr>
                    <p:blipFill>
                      <a:blip r:embed="rId4"/>
                      <a:srcRect/>
                      <a:stretch>
                        <a:fillRect/>
                      </a:stretch>
                    </p:blipFill>
                    <p:spPr bwMode="auto">
                      <a:xfrm>
                        <a:off x="5453063" y="2133600"/>
                        <a:ext cx="26590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6366" name="矩形 356365"/>
          <p:cNvSpPr>
            <a:spLocks noChangeArrowheads="1"/>
          </p:cNvSpPr>
          <p:nvPr/>
        </p:nvSpPr>
        <p:spPr bwMode="auto">
          <a:xfrm>
            <a:off x="4114800" y="2782540"/>
            <a:ext cx="4724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t>让闭口系完成某封闭循环，同时可逆循环装置也完成若干个循环 </a:t>
            </a:r>
            <a:endParaRPr lang="zh-CN" altLang="en-US" sz="2800" b="1" dirty="0"/>
          </a:p>
        </p:txBody>
      </p:sp>
      <p:graphicFrame>
        <p:nvGraphicFramePr>
          <p:cNvPr id="356369" name="对象 356368"/>
          <p:cNvGraphicFramePr/>
          <p:nvPr/>
        </p:nvGraphicFramePr>
        <p:xfrm>
          <a:off x="5225256" y="839441"/>
          <a:ext cx="2493962" cy="461963"/>
        </p:xfrm>
        <a:graphic>
          <a:graphicData uri="http://schemas.openxmlformats.org/presentationml/2006/ole">
            <mc:AlternateContent xmlns:mc="http://schemas.openxmlformats.org/markup-compatibility/2006">
              <mc:Choice xmlns:v="urn:schemas-microsoft-com:vml" Requires="v">
                <p:oleObj spid="_x0000_s116750" name="Equation" r:id="rId5" imgW="29565600" imgH="5486400" progId="Equation.DSMT4">
                  <p:embed/>
                </p:oleObj>
              </mc:Choice>
              <mc:Fallback>
                <p:oleObj name="Equation" r:id="rId5" imgW="29565600" imgH="5486400" progId="Equation.DSMT4">
                  <p:embed/>
                  <p:pic>
                    <p:nvPicPr>
                      <p:cNvPr id="0" name="对象 356368"/>
                      <p:cNvPicPr>
                        <a:picLocks noChangeArrowheads="1"/>
                      </p:cNvPicPr>
                      <p:nvPr/>
                    </p:nvPicPr>
                    <p:blipFill>
                      <a:blip r:embed="rId6"/>
                      <a:srcRect/>
                      <a:stretch>
                        <a:fillRect/>
                      </a:stretch>
                    </p:blipFill>
                    <p:spPr bwMode="auto">
                      <a:xfrm>
                        <a:off x="5225256" y="839441"/>
                        <a:ext cx="2493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6" name="右大括号 356370"/>
          <p:cNvSpPr/>
          <p:nvPr/>
        </p:nvSpPr>
        <p:spPr bwMode="auto">
          <a:xfrm>
            <a:off x="3429000" y="1828800"/>
            <a:ext cx="228600" cy="1600200"/>
          </a:xfrm>
          <a:prstGeom prst="rightBrace">
            <a:avLst>
              <a:gd name="adj1" fmla="val 58204"/>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9467" name="内容占位符 356371"/>
          <p:cNvGraphicFramePr>
            <a:graphicFrameLocks noGrp="1" noChangeAspect="1"/>
          </p:cNvGraphicFramePr>
          <p:nvPr>
            <p:ph idx="1"/>
          </p:nvPr>
        </p:nvGraphicFramePr>
        <p:xfrm>
          <a:off x="3686387" y="2474661"/>
          <a:ext cx="590220" cy="342900"/>
        </p:xfrm>
        <a:graphic>
          <a:graphicData uri="http://schemas.openxmlformats.org/presentationml/2006/ole">
            <mc:AlternateContent xmlns:mc="http://schemas.openxmlformats.org/markup-compatibility/2006">
              <mc:Choice xmlns:v="urn:schemas-microsoft-com:vml" Requires="v">
                <p:oleObj spid="_x0000_s116751" name="Equation" r:id="rId7" imgW="9448800" imgH="5486400" progId="Equation.DSMT4">
                  <p:embed/>
                </p:oleObj>
              </mc:Choice>
              <mc:Fallback>
                <p:oleObj name="Equation" r:id="rId7" imgW="9448800" imgH="5486400" progId="Equation.DSMT4">
                  <p:embed/>
                  <p:pic>
                    <p:nvPicPr>
                      <p:cNvPr id="0" name="内容占位符 356371"/>
                      <p:cNvPicPr>
                        <a:picLocks noGrp="1" noChangeArrowheads="1"/>
                      </p:cNvPicPr>
                      <p:nvPr/>
                    </p:nvPicPr>
                    <p:blipFill>
                      <a:blip r:embed="rId8"/>
                      <a:srcRect/>
                      <a:stretch>
                        <a:fillRect/>
                      </a:stretch>
                    </p:blipFill>
                    <p:spPr bwMode="auto">
                      <a:xfrm>
                        <a:off x="3686387" y="2474661"/>
                        <a:ext cx="590220" cy="342900"/>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6376" name="对象 356375"/>
          <p:cNvGraphicFramePr/>
          <p:nvPr/>
        </p:nvGraphicFramePr>
        <p:xfrm>
          <a:off x="7315200" y="5405784"/>
          <a:ext cx="609600" cy="444500"/>
        </p:xfrm>
        <a:graphic>
          <a:graphicData uri="http://schemas.openxmlformats.org/presentationml/2006/ole">
            <mc:AlternateContent xmlns:mc="http://schemas.openxmlformats.org/markup-compatibility/2006">
              <mc:Choice xmlns:v="urn:schemas-microsoft-com:vml" Requires="v">
                <p:oleObj spid="_x0000_s116752" name="" r:id="rId9" imgW="240665" imgH="177800" progId="Equation.DSMT4">
                  <p:embed/>
                </p:oleObj>
              </mc:Choice>
              <mc:Fallback>
                <p:oleObj name="" r:id="rId9" imgW="240665" imgH="177800" progId="Equation.DSMT4">
                  <p:embed/>
                  <p:pic>
                    <p:nvPicPr>
                      <p:cNvPr id="0" name="对象 35637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5200" y="5405784"/>
                        <a:ext cx="6096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6380" name="矩形标注 356379"/>
          <p:cNvSpPr>
            <a:spLocks noChangeArrowheads="1"/>
          </p:cNvSpPr>
          <p:nvPr/>
        </p:nvSpPr>
        <p:spPr bwMode="auto">
          <a:xfrm>
            <a:off x="1752600" y="5562600"/>
            <a:ext cx="3200400" cy="609600"/>
          </a:xfrm>
          <a:prstGeom prst="wedgeRectCallout">
            <a:avLst>
              <a:gd name="adj1" fmla="val -54662"/>
              <a:gd name="adj2" fmla="val -1953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lgn="ctr"/>
            <a:r>
              <a:rPr lang="zh-CN" altLang="en-US" sz="2800" b="1" baseline="0">
                <a:solidFill>
                  <a:srgbClr val="FF0000"/>
                </a:solidFill>
                <a:latin typeface="Tahoma" panose="020B0604030504040204" pitchFamily="34" charset="0"/>
              </a:rPr>
              <a:t>克劳修斯不等式</a:t>
            </a:r>
            <a:endParaRPr lang="zh-CN" altLang="en-US" sz="2800" b="1" baseline="0">
              <a:solidFill>
                <a:srgbClr val="FF0000"/>
              </a:solidFill>
              <a:latin typeface="Tahoma" panose="020B0604030504040204" pitchFamily="34" charset="0"/>
            </a:endParaRPr>
          </a:p>
        </p:txBody>
      </p:sp>
      <p:sp>
        <p:nvSpPr>
          <p:cNvPr id="356381" name="矩形 356380"/>
          <p:cNvSpPr>
            <a:spLocks noChangeArrowheads="1"/>
          </p:cNvSpPr>
          <p:nvPr/>
        </p:nvSpPr>
        <p:spPr bwMode="auto">
          <a:xfrm>
            <a:off x="5181600" y="5955139"/>
            <a:ext cx="3657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t>大于</a:t>
            </a:r>
            <a:r>
              <a:rPr lang="en-US" altLang="zh-CN" sz="2400" b="1" dirty="0">
                <a:latin typeface="Times New Roman" panose="02020603050405020304" pitchFamily="18" charset="0"/>
                <a:cs typeface="Times New Roman" panose="02020603050405020304" pitchFamily="18" charset="0"/>
              </a:rPr>
              <a:t>0</a:t>
            </a:r>
            <a:r>
              <a:rPr lang="zh-CN" altLang="en-US" sz="2400" b="1" dirty="0"/>
              <a:t>意味着实现第二类永动机</a:t>
            </a:r>
            <a:endParaRPr lang="zh-CN" altLang="en-US" sz="2400" b="1" dirty="0"/>
          </a:p>
        </p:txBody>
      </p:sp>
      <p:sp>
        <p:nvSpPr>
          <p:cNvPr id="356384" name="矩形 356383"/>
          <p:cNvSpPr>
            <a:spLocks noChangeArrowheads="1"/>
          </p:cNvSpPr>
          <p:nvPr/>
        </p:nvSpPr>
        <p:spPr bwMode="auto">
          <a:xfrm>
            <a:off x="3848100" y="226041"/>
            <a:ext cx="556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2800" b="1" dirty="0"/>
              <a:t>复合系（虚线框内）能量守恒</a:t>
            </a:r>
            <a:endParaRPr lang="zh-CN" altLang="el-GR" sz="2800" b="1" dirty="0"/>
          </a:p>
        </p:txBody>
      </p:sp>
      <p:sp>
        <p:nvSpPr>
          <p:cNvPr id="356389" name="矩形 356388"/>
          <p:cNvSpPr>
            <a:spLocks noChangeArrowheads="1"/>
          </p:cNvSpPr>
          <p:nvPr/>
        </p:nvSpPr>
        <p:spPr bwMode="auto">
          <a:xfrm>
            <a:off x="3848100" y="1452924"/>
            <a:ext cx="556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2800" b="1" dirty="0"/>
              <a:t>可逆循环</a:t>
            </a:r>
            <a:endParaRPr lang="zh-CN" altLang="el-GR" sz="2800" b="1" dirty="0"/>
          </a:p>
        </p:txBody>
      </p:sp>
      <p:sp>
        <p:nvSpPr>
          <p:cNvPr id="356390" name="右大括号 356389"/>
          <p:cNvSpPr/>
          <p:nvPr/>
        </p:nvSpPr>
        <p:spPr bwMode="auto">
          <a:xfrm>
            <a:off x="7772400" y="1066800"/>
            <a:ext cx="152400" cy="838200"/>
          </a:xfrm>
          <a:prstGeom prst="rightBrace">
            <a:avLst>
              <a:gd name="adj1" fmla="val 4573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6391" name="右弧形箭头 356390"/>
          <p:cNvSpPr>
            <a:spLocks noChangeArrowheads="1"/>
          </p:cNvSpPr>
          <p:nvPr/>
        </p:nvSpPr>
        <p:spPr bwMode="auto">
          <a:xfrm>
            <a:off x="8001000" y="1447800"/>
            <a:ext cx="381000" cy="914400"/>
          </a:xfrm>
          <a:prstGeom prst="curvedLeftArrow">
            <a:avLst>
              <a:gd name="adj1" fmla="val 48000"/>
              <a:gd name="adj2" fmla="val 96000"/>
              <a:gd name="adj3" fmla="val 33315"/>
            </a:avLst>
          </a:prstGeom>
          <a:solidFill>
            <a:schemeClr val="accent1"/>
          </a:solidFill>
          <a:ln w="9525">
            <a:solidFill>
              <a:schemeClr val="tx1"/>
            </a:solidFill>
            <a:miter lim="800000"/>
          </a:ln>
        </p:spPr>
        <p:txBody>
          <a:bodyPr/>
          <a:lstStyle/>
          <a:p>
            <a:endParaRPr lang="zh-CN" altLang="en-US"/>
          </a:p>
        </p:txBody>
      </p:sp>
      <p:sp>
        <p:nvSpPr>
          <p:cNvPr id="356392" name="直接连接符 356391"/>
          <p:cNvSpPr>
            <a:spLocks noChangeShapeType="1"/>
          </p:cNvSpPr>
          <p:nvPr/>
        </p:nvSpPr>
        <p:spPr bwMode="auto">
          <a:xfrm>
            <a:off x="5486400" y="17526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6397" name="下箭头 356396"/>
          <p:cNvSpPr>
            <a:spLocks noChangeArrowheads="1"/>
          </p:cNvSpPr>
          <p:nvPr/>
        </p:nvSpPr>
        <p:spPr bwMode="auto">
          <a:xfrm>
            <a:off x="6477000" y="4800600"/>
            <a:ext cx="228600" cy="457200"/>
          </a:xfrm>
          <a:prstGeom prst="downArrow">
            <a:avLst>
              <a:gd name="adj1" fmla="val 50000"/>
              <a:gd name="adj2" fmla="val 50000"/>
            </a:avLst>
          </a:prstGeom>
          <a:solidFill>
            <a:schemeClr val="accent1"/>
          </a:solidFill>
          <a:ln w="9525">
            <a:solidFill>
              <a:schemeClr val="tx1"/>
            </a:solidFill>
            <a:miter lim="800000"/>
          </a:ln>
        </p:spPr>
        <p:txBody>
          <a:bodyPr/>
          <a:lstStyle/>
          <a:p>
            <a:endParaRPr lang="zh-CN" altLang="en-US"/>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11672" y="138418"/>
            <a:ext cx="3194581" cy="5029636"/>
          </a:xfrm>
          <a:prstGeom prst="rect">
            <a:avLst/>
          </a:prstGeom>
        </p:spPr>
      </p:pic>
      <p:pic>
        <p:nvPicPr>
          <p:cNvPr id="3" name="图片 2" descr="图片1"/>
          <p:cNvPicPr>
            <a:picLocks noChangeAspect="1"/>
          </p:cNvPicPr>
          <p:nvPr/>
        </p:nvPicPr>
        <p:blipFill>
          <a:blip r:embed="rId12"/>
          <a:stretch>
            <a:fillRect/>
          </a:stretch>
        </p:blipFill>
        <p:spPr>
          <a:xfrm>
            <a:off x="4704715" y="4032250"/>
            <a:ext cx="3407410" cy="768350"/>
          </a:xfrm>
          <a:prstGeom prst="rect">
            <a:avLst/>
          </a:prstGeom>
        </p:spPr>
      </p:pic>
      <p:pic>
        <p:nvPicPr>
          <p:cNvPr id="4" name="图片 3" descr="图片2"/>
          <p:cNvPicPr>
            <a:picLocks noChangeAspect="1"/>
          </p:cNvPicPr>
          <p:nvPr/>
        </p:nvPicPr>
        <p:blipFill>
          <a:blip r:embed="rId13"/>
          <a:stretch>
            <a:fillRect/>
          </a:stretch>
        </p:blipFill>
        <p:spPr>
          <a:xfrm>
            <a:off x="5626735" y="5241925"/>
            <a:ext cx="1688465" cy="713105"/>
          </a:xfrm>
          <a:prstGeom prst="rect">
            <a:avLst/>
          </a:prstGeom>
        </p:spPr>
      </p:pic>
      <p:pic>
        <p:nvPicPr>
          <p:cNvPr id="5" name="图片 4" descr="图片3"/>
          <p:cNvPicPr>
            <a:picLocks noChangeAspect="1"/>
          </p:cNvPicPr>
          <p:nvPr/>
        </p:nvPicPr>
        <p:blipFill>
          <a:blip r:embed="rId14"/>
          <a:stretch>
            <a:fillRect/>
          </a:stretch>
        </p:blipFill>
        <p:spPr>
          <a:xfrm>
            <a:off x="525145" y="5405755"/>
            <a:ext cx="1073150" cy="688975"/>
          </a:xfrm>
          <a:prstGeom prst="rect">
            <a:avLst/>
          </a:prstGeom>
        </p:spPr>
      </p:pic>
    </p:spTree>
    <p:custDataLst>
      <p:tags r:id="rId1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6384"/>
                                        </p:tgtEl>
                                        <p:attrNameLst>
                                          <p:attrName>style.visibility</p:attrName>
                                        </p:attrNameLst>
                                      </p:cBhvr>
                                      <p:to>
                                        <p:strVal val="visible"/>
                                      </p:to>
                                    </p:set>
                                    <p:animEffect transition="in" filter="blinds(horizontal)">
                                      <p:cBhvr>
                                        <p:cTn id="7" dur="500"/>
                                        <p:tgtEl>
                                          <p:spTgt spid="3563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6369"/>
                                        </p:tgtEl>
                                        <p:attrNameLst>
                                          <p:attrName>style.visibility</p:attrName>
                                        </p:attrNameLst>
                                      </p:cBhvr>
                                      <p:to>
                                        <p:strVal val="visible"/>
                                      </p:to>
                                    </p:set>
                                    <p:animEffect transition="in" filter="blinds(horizontal)">
                                      <p:cBhvr>
                                        <p:cTn id="12" dur="500"/>
                                        <p:tgtEl>
                                          <p:spTgt spid="3563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6389"/>
                                        </p:tgtEl>
                                        <p:attrNameLst>
                                          <p:attrName>style.visibility</p:attrName>
                                        </p:attrNameLst>
                                      </p:cBhvr>
                                      <p:to>
                                        <p:strVal val="visible"/>
                                      </p:to>
                                    </p:set>
                                    <p:animEffect transition="in" filter="blinds(horizontal)">
                                      <p:cBhvr>
                                        <p:cTn id="17" dur="500"/>
                                        <p:tgtEl>
                                          <p:spTgt spid="356389"/>
                                        </p:tgtEl>
                                      </p:cBhvr>
                                    </p:animEffect>
                                  </p:childTnLst>
                                </p:cTn>
                              </p:par>
                              <p:par>
                                <p:cTn id="18" presetID="3" presetClass="entr" presetSubtype="10" fill="hold" nodeType="withEffect">
                                  <p:stCondLst>
                                    <p:cond delay="0"/>
                                  </p:stCondLst>
                                  <p:childTnLst>
                                    <p:set>
                                      <p:cBhvr>
                                        <p:cTn id="19" dur="1" fill="hold">
                                          <p:stCondLst>
                                            <p:cond delay="0"/>
                                          </p:stCondLst>
                                        </p:cTn>
                                        <p:tgtEl>
                                          <p:spTgt spid="356392"/>
                                        </p:tgtEl>
                                        <p:attrNameLst>
                                          <p:attrName>style.visibility</p:attrName>
                                        </p:attrNameLst>
                                      </p:cBhvr>
                                      <p:to>
                                        <p:strVal val="visible"/>
                                      </p:to>
                                    </p:set>
                                    <p:animEffect transition="in" filter="blinds(horizontal)">
                                      <p:cBhvr>
                                        <p:cTn id="20" dur="500"/>
                                        <p:tgtEl>
                                          <p:spTgt spid="35639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56362"/>
                                        </p:tgtEl>
                                        <p:attrNameLst>
                                          <p:attrName>style.visibility</p:attrName>
                                        </p:attrNameLst>
                                      </p:cBhvr>
                                      <p:to>
                                        <p:strVal val="visible"/>
                                      </p:to>
                                    </p:set>
                                    <p:animEffect transition="in" filter="blinds(horizontal)">
                                      <p:cBhvr>
                                        <p:cTn id="25" dur="500"/>
                                        <p:tgtEl>
                                          <p:spTgt spid="35636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56390"/>
                                        </p:tgtEl>
                                        <p:attrNameLst>
                                          <p:attrName>style.visibility</p:attrName>
                                        </p:attrNameLst>
                                      </p:cBhvr>
                                      <p:to>
                                        <p:strVal val="visible"/>
                                      </p:to>
                                    </p:set>
                                    <p:animEffect transition="in" filter="wipe(left)">
                                      <p:cBhvr>
                                        <p:cTn id="30" dur="500"/>
                                        <p:tgtEl>
                                          <p:spTgt spid="35639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56391"/>
                                        </p:tgtEl>
                                        <p:attrNameLst>
                                          <p:attrName>style.visibility</p:attrName>
                                        </p:attrNameLst>
                                      </p:cBhvr>
                                      <p:to>
                                        <p:strVal val="visible"/>
                                      </p:to>
                                    </p:set>
                                    <p:animEffect transition="in" filter="blinds(horizontal)">
                                      <p:cBhvr>
                                        <p:cTn id="35" dur="500"/>
                                        <p:tgtEl>
                                          <p:spTgt spid="35639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56364"/>
                                        </p:tgtEl>
                                        <p:attrNameLst>
                                          <p:attrName>style.visibility</p:attrName>
                                        </p:attrNameLst>
                                      </p:cBhvr>
                                      <p:to>
                                        <p:strVal val="visible"/>
                                      </p:to>
                                    </p:set>
                                    <p:animEffect transition="in" filter="blinds(horizontal)">
                                      <p:cBhvr>
                                        <p:cTn id="40" dur="500"/>
                                        <p:tgtEl>
                                          <p:spTgt spid="35636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56366"/>
                                        </p:tgtEl>
                                        <p:attrNameLst>
                                          <p:attrName>style.visibility</p:attrName>
                                        </p:attrNameLst>
                                      </p:cBhvr>
                                      <p:to>
                                        <p:strVal val="visible"/>
                                      </p:to>
                                    </p:set>
                                    <p:animEffect transition="in" filter="blinds(horizontal)">
                                      <p:cBhvr>
                                        <p:cTn id="45" dur="500"/>
                                        <p:tgtEl>
                                          <p:spTgt spid="35636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356397"/>
                                        </p:tgtEl>
                                        <p:attrNameLst>
                                          <p:attrName>style.visibility</p:attrName>
                                        </p:attrNameLst>
                                      </p:cBhvr>
                                      <p:to>
                                        <p:strVal val="visible"/>
                                      </p:to>
                                    </p:set>
                                    <p:animEffect transition="in" filter="wipe(up)">
                                      <p:cBhvr>
                                        <p:cTn id="50" dur="500"/>
                                        <p:tgtEl>
                                          <p:spTgt spid="35639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56376"/>
                                        </p:tgtEl>
                                        <p:attrNameLst>
                                          <p:attrName>style.visibility</p:attrName>
                                        </p:attrNameLst>
                                      </p:cBhvr>
                                      <p:to>
                                        <p:strVal val="visible"/>
                                      </p:to>
                                    </p:set>
                                    <p:animEffect transition="in" filter="wipe(left)">
                                      <p:cBhvr>
                                        <p:cTn id="55" dur="500"/>
                                        <p:tgtEl>
                                          <p:spTgt spid="356376"/>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56381"/>
                                        </p:tgtEl>
                                        <p:attrNameLst>
                                          <p:attrName>style.visibility</p:attrName>
                                        </p:attrNameLst>
                                      </p:cBhvr>
                                      <p:to>
                                        <p:strVal val="visible"/>
                                      </p:to>
                                    </p:set>
                                    <p:animEffect transition="in" filter="blinds(horizontal)">
                                      <p:cBhvr>
                                        <p:cTn id="60" dur="500"/>
                                        <p:tgtEl>
                                          <p:spTgt spid="356381"/>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56380"/>
                                        </p:tgtEl>
                                        <p:attrNameLst>
                                          <p:attrName>style.visibility</p:attrName>
                                        </p:attrNameLst>
                                      </p:cBhvr>
                                      <p:to>
                                        <p:strVal val="visible"/>
                                      </p:to>
                                    </p:set>
                                    <p:animEffect transition="in" filter="blinds(horizontal)">
                                      <p:cBhvr>
                                        <p:cTn id="65" dur="500"/>
                                        <p:tgtEl>
                                          <p:spTgt spid="356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66" grpId="0"/>
      <p:bldP spid="356380" grpId="0" animBg="1"/>
      <p:bldP spid="356381" grpId="0"/>
      <p:bldP spid="356384" grpId="0"/>
      <p:bldP spid="35638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359429"/>
          <p:cNvSpPr txBox="1"/>
          <p:nvPr/>
        </p:nvSpPr>
        <p:spPr>
          <a:xfrm>
            <a:off x="601317" y="1846229"/>
            <a:ext cx="7986092" cy="4524315"/>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marL="457200" indent="-457200">
              <a:buFont typeface="Arial" panose="020B0604020202020204" pitchFamily="34" charset="0"/>
              <a:buChar char="•"/>
            </a:pPr>
            <a:r>
              <a:rPr lang="zh-CN" altLang="en-US" sz="3200" b="1" dirty="0"/>
              <a:t>在上面的论述中，并未对闭口系的热力过程提出任何限制，因此克劳修斯不等式适用于</a:t>
            </a:r>
            <a:r>
              <a:rPr lang="zh-CN" altLang="en-US" sz="3200" b="1" dirty="0">
                <a:solidFill>
                  <a:srgbClr val="FF0000"/>
                </a:solidFill>
              </a:rPr>
              <a:t>闭口系的任意</a:t>
            </a:r>
            <a:r>
              <a:rPr lang="zh-CN" altLang="en-US" sz="3200" b="1" dirty="0" smtClean="0">
                <a:solidFill>
                  <a:srgbClr val="FF0000"/>
                </a:solidFill>
              </a:rPr>
              <a:t>循环</a:t>
            </a:r>
            <a:endParaRPr lang="en-US" altLang="zh-CN" sz="3200" b="1" dirty="0" smtClean="0">
              <a:solidFill>
                <a:srgbClr val="FF0000"/>
              </a:solidFill>
            </a:endParaRPr>
          </a:p>
          <a:p>
            <a:pPr marL="457200" indent="-457200">
              <a:buFont typeface="Arial" panose="020B0604020202020204" pitchFamily="34" charset="0"/>
              <a:buChar char="•"/>
            </a:pPr>
            <a:r>
              <a:rPr lang="zh-CN" altLang="en-US" sz="3200" b="1" dirty="0" smtClean="0"/>
              <a:t>该式表明：闭口系经历任何循环时，将组成循环的每个微元过程中的</a:t>
            </a:r>
            <a:r>
              <a:rPr lang="el-GR" altLang="zh-CN" sz="3200" b="1" dirty="0">
                <a:latin typeface="Times New Roman" panose="02020603050405020304" pitchFamily="18" charset="0"/>
                <a:cs typeface="Times New Roman" panose="02020603050405020304" pitchFamily="18" charset="0"/>
              </a:rPr>
              <a:t>δ</a:t>
            </a:r>
            <a:r>
              <a:rPr lang="en-US" altLang="zh-CN" sz="3200" b="1" i="1" dirty="0" smtClean="0">
                <a:latin typeface="Times New Roman" panose="02020603050405020304" pitchFamily="18" charset="0"/>
                <a:cs typeface="Times New Roman" panose="02020603050405020304" pitchFamily="18" charset="0"/>
              </a:rPr>
              <a:t>Q/T</a:t>
            </a:r>
            <a:r>
              <a:rPr lang="zh-CN" altLang="en-US" sz="3200" b="1" dirty="0" smtClean="0">
                <a:latin typeface="Times New Roman" panose="02020603050405020304" pitchFamily="18" charset="0"/>
                <a:cs typeface="Times New Roman" panose="02020603050405020304" pitchFamily="18" charset="0"/>
              </a:rPr>
              <a:t>相加</a:t>
            </a:r>
            <a:r>
              <a:rPr lang="zh-CN" altLang="en-US" sz="3200" b="1" dirty="0" smtClean="0"/>
              <a:t>总是小于等于</a:t>
            </a:r>
            <a:r>
              <a:rPr lang="en-US" altLang="zh-CN" sz="3200" b="1" dirty="0" smtClean="0">
                <a:latin typeface="Times New Roman" panose="02020603050405020304" pitchFamily="18" charset="0"/>
                <a:cs typeface="Times New Roman" panose="02020603050405020304" pitchFamily="18" charset="0"/>
              </a:rPr>
              <a:t>0</a:t>
            </a:r>
            <a:r>
              <a:rPr lang="zh-CN" altLang="en-US" sz="3200" b="1" dirty="0" smtClean="0"/>
              <a:t>的</a:t>
            </a:r>
            <a:endParaRPr lang="en-US" altLang="zh-CN" sz="3200" b="1" dirty="0" smtClean="0"/>
          </a:p>
          <a:p>
            <a:pPr marL="457200" indent="-457200">
              <a:buFont typeface="Arial" panose="020B0604020202020204" pitchFamily="34" charset="0"/>
              <a:buChar char="•"/>
            </a:pPr>
            <a:r>
              <a:rPr lang="zh-CN" altLang="en-US" sz="3200" b="1" dirty="0" smtClean="0"/>
              <a:t>需要注意：闭口系在经历整个循环时，其温度</a:t>
            </a:r>
            <a:r>
              <a:rPr lang="en-US" altLang="zh-CN" sz="3200" b="1" i="1" dirty="0" smtClean="0">
                <a:solidFill>
                  <a:srgbClr val="FF0000"/>
                </a:solidFill>
                <a:latin typeface="Times New Roman" panose="02020603050405020304" pitchFamily="18" charset="0"/>
                <a:cs typeface="Times New Roman" panose="02020603050405020304" pitchFamily="18" charset="0"/>
              </a:rPr>
              <a:t>T</a:t>
            </a:r>
            <a:r>
              <a:rPr lang="zh-CN" altLang="en-US" sz="3200" b="1" dirty="0" smtClean="0">
                <a:solidFill>
                  <a:srgbClr val="FF0000"/>
                </a:solidFill>
              </a:rPr>
              <a:t>是可以变化的</a:t>
            </a:r>
            <a:r>
              <a:rPr lang="zh-CN" altLang="en-US" sz="3200" b="1" dirty="0" smtClean="0"/>
              <a:t>；闭口系既可以吸热，也可以放热，即</a:t>
            </a:r>
            <a:r>
              <a:rPr lang="el-GR" altLang="zh-CN" sz="3200" b="1" dirty="0">
                <a:solidFill>
                  <a:srgbClr val="FF0000"/>
                </a:solidFill>
                <a:latin typeface="Times New Roman" panose="02020603050405020304" pitchFamily="18" charset="0"/>
                <a:cs typeface="Times New Roman" panose="02020603050405020304" pitchFamily="18" charset="0"/>
              </a:rPr>
              <a:t>δ</a:t>
            </a:r>
            <a:r>
              <a:rPr lang="en-US" altLang="zh-CN" sz="3200" b="1" i="1" dirty="0" smtClean="0">
                <a:solidFill>
                  <a:srgbClr val="FF0000"/>
                </a:solidFill>
                <a:latin typeface="Times New Roman" panose="02020603050405020304" pitchFamily="18" charset="0"/>
                <a:cs typeface="Times New Roman" panose="02020603050405020304" pitchFamily="18" charset="0"/>
              </a:rPr>
              <a:t>Q</a:t>
            </a:r>
            <a:r>
              <a:rPr lang="zh-CN" altLang="en-US" sz="3200" b="1" dirty="0" smtClean="0">
                <a:solidFill>
                  <a:srgbClr val="FF0000"/>
                </a:solidFill>
                <a:latin typeface="Times New Roman" panose="02020603050405020304" pitchFamily="18" charset="0"/>
                <a:cs typeface="Times New Roman" panose="02020603050405020304" pitchFamily="18" charset="0"/>
              </a:rPr>
              <a:t>可正可负</a:t>
            </a:r>
            <a:endParaRPr lang="zh-CN" altLang="en-US" sz="3200" b="1" dirty="0">
              <a:solidFill>
                <a:srgbClr val="FF0000"/>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31108" y="494921"/>
            <a:ext cx="1511939" cy="10973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3886200" y="3467100"/>
            <a:ext cx="4876800" cy="5334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Arial" panose="020B0604020202020204" pitchFamily="34" charset="0"/>
                <a:ea typeface="黑体" panose="02010609060101010101" pitchFamily="49" charset="-122"/>
              </a:rPr>
              <a:t>前已得到</a:t>
            </a:r>
            <a:endParaRPr lang="zh-CN" altLang="en-US" sz="2800" b="1" baseline="0" dirty="0">
              <a:latin typeface="Arial" panose="020B0604020202020204" pitchFamily="34" charset="0"/>
              <a:ea typeface="黑体" panose="02010609060101010101" pitchFamily="49" charset="-122"/>
            </a:endParaRPr>
          </a:p>
        </p:txBody>
      </p:sp>
      <p:sp>
        <p:nvSpPr>
          <p:cNvPr id="22" name="矩形 21"/>
          <p:cNvSpPr/>
          <p:nvPr/>
        </p:nvSpPr>
        <p:spPr>
          <a:xfrm>
            <a:off x="2895600" y="5031665"/>
            <a:ext cx="3429000" cy="519112"/>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Arial" panose="020B0604020202020204" pitchFamily="34" charset="0"/>
                <a:ea typeface="黑体" panose="02010609060101010101" pitchFamily="49" charset="-122"/>
              </a:rPr>
              <a:t>唯一的可能性</a:t>
            </a:r>
            <a:r>
              <a:rPr lang="zh-CN" altLang="en-US" sz="2800" baseline="0" dirty="0">
                <a:latin typeface="Arial" panose="020B0604020202020204" pitchFamily="34" charset="0"/>
                <a:ea typeface="宋体" panose="02010600030101010101" pitchFamily="2" charset="-122"/>
              </a:rPr>
              <a:t> </a:t>
            </a:r>
            <a:endParaRPr lang="zh-CN" altLang="en-US" sz="2800" baseline="0" dirty="0">
              <a:latin typeface="Arial" panose="020B0604020202020204" pitchFamily="34" charset="0"/>
              <a:ea typeface="宋体" panose="02010600030101010101" pitchFamily="2" charset="-122"/>
            </a:endParaRPr>
          </a:p>
        </p:txBody>
      </p:sp>
      <p:sp>
        <p:nvSpPr>
          <p:cNvPr id="24" name="矩形 23"/>
          <p:cNvSpPr/>
          <p:nvPr/>
        </p:nvSpPr>
        <p:spPr>
          <a:xfrm>
            <a:off x="2754162" y="5990290"/>
            <a:ext cx="2487073" cy="369332"/>
          </a:xfrm>
          <a:prstGeom prst="rect">
            <a:avLst/>
          </a:prstGeom>
          <a:solidFill>
            <a:schemeClr val="accent1">
              <a:lumMod val="40000"/>
              <a:lumOff val="60000"/>
            </a:schemeClr>
          </a:solidFill>
          <a:ln w="9525">
            <a:noFill/>
          </a:ln>
        </p:spPr>
        <p:txBody>
          <a:bodyPr wrap="squar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en-US" altLang="zh-CN" b="1" i="1" baseline="0" dirty="0">
                <a:solidFill>
                  <a:srgbClr val="FF0000"/>
                </a:solidFill>
                <a:latin typeface="Arial" panose="020B0604020202020204" pitchFamily="34" charset="0"/>
                <a:ea typeface="宋体" panose="02010600030101010101" pitchFamily="2" charset="-122"/>
              </a:rPr>
              <a:t>int</a:t>
            </a:r>
            <a:r>
              <a:rPr lang="en-US" altLang="zh-CN" b="1" i="1" baseline="0" dirty="0">
                <a:latin typeface="Arial" panose="020B0604020202020204" pitchFamily="34" charset="0"/>
                <a:ea typeface="宋体" panose="02010600030101010101" pitchFamily="2" charset="-122"/>
              </a:rPr>
              <a:t>ernally </a:t>
            </a:r>
            <a:r>
              <a:rPr lang="en-US" altLang="zh-CN" b="1" i="1" baseline="0" dirty="0">
                <a:solidFill>
                  <a:srgbClr val="FF0000"/>
                </a:solidFill>
                <a:latin typeface="Arial" panose="020B0604020202020204" pitchFamily="34" charset="0"/>
                <a:ea typeface="宋体" panose="02010600030101010101" pitchFamily="2" charset="-122"/>
              </a:rPr>
              <a:t>rev</a:t>
            </a:r>
            <a:r>
              <a:rPr lang="en-US" altLang="zh-CN" b="1" i="1" baseline="0" dirty="0">
                <a:latin typeface="Arial" panose="020B0604020202020204" pitchFamily="34" charset="0"/>
                <a:ea typeface="宋体" panose="02010600030101010101" pitchFamily="2" charset="-122"/>
              </a:rPr>
              <a:t>ersible</a:t>
            </a:r>
            <a:r>
              <a:rPr lang="en-US" altLang="zh-CN" sz="1800" baseline="0" dirty="0">
                <a:latin typeface="Arial" panose="020B0604020202020204" pitchFamily="34" charset="0"/>
                <a:ea typeface="宋体" panose="02010600030101010101" pitchFamily="2" charset="-122"/>
              </a:rPr>
              <a:t> </a:t>
            </a:r>
            <a:endParaRPr lang="en-US" altLang="zh-CN" sz="1800" baseline="0" dirty="0">
              <a:latin typeface="Arial" panose="020B0604020202020204" pitchFamily="34" charset="0"/>
              <a:ea typeface="宋体" panose="02010600030101010101" pitchFamily="2" charset="-122"/>
            </a:endParaRPr>
          </a:p>
        </p:txBody>
      </p:sp>
      <p:sp>
        <p:nvSpPr>
          <p:cNvPr id="25" name="矩形 24"/>
          <p:cNvSpPr/>
          <p:nvPr/>
        </p:nvSpPr>
        <p:spPr>
          <a:xfrm>
            <a:off x="3848100" y="272986"/>
            <a:ext cx="4876800" cy="26670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Arial" panose="020B0604020202020204" pitchFamily="34" charset="0"/>
                <a:ea typeface="黑体" panose="02010609060101010101" pitchFamily="49" charset="-122"/>
              </a:rPr>
              <a:t>若闭口系内不存在任何不可逆因素，则复合系经历内可逆过程。令复合系反向运行，则反向运行过程中热量和功量的数量不变但方向相反，有 </a:t>
            </a:r>
            <a:br>
              <a:rPr lang="zh-CN" altLang="en-US" sz="2800" b="1" baseline="0" dirty="0">
                <a:solidFill>
                  <a:schemeClr val="tx2"/>
                </a:solidFill>
                <a:latin typeface="Arial" panose="020B0604020202020204" pitchFamily="34" charset="0"/>
                <a:ea typeface="黑体" panose="02010609060101010101" pitchFamily="49" charset="-122"/>
              </a:rPr>
            </a:br>
            <a:endParaRPr lang="zh-CN" altLang="en-US" sz="2800" b="1" baseline="0" dirty="0">
              <a:solidFill>
                <a:schemeClr val="tx2"/>
              </a:solidFill>
              <a:latin typeface="Arial" panose="020B0604020202020204" pitchFamily="34" charset="0"/>
              <a:ea typeface="黑体" panose="02010609060101010101" pitchFamily="49" charset="-122"/>
            </a:endParaRPr>
          </a:p>
        </p:txBody>
      </p:sp>
      <p:sp>
        <p:nvSpPr>
          <p:cNvPr id="36" name="矩形 35"/>
          <p:cNvSpPr/>
          <p:nvPr/>
        </p:nvSpPr>
        <p:spPr>
          <a:xfrm>
            <a:off x="5500680" y="5908546"/>
            <a:ext cx="989020" cy="519112"/>
          </a:xfrm>
          <a:prstGeom prst="rect">
            <a:avLst/>
          </a:prstGeom>
          <a:noFill/>
          <a:ln w="9525">
            <a:noFill/>
          </a:ln>
        </p:spPr>
        <p:txBody>
          <a:bodyPr wrap="squar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dirty="0">
                <a:latin typeface="Arial" panose="020B0604020202020204" pitchFamily="34" charset="0"/>
                <a:ea typeface="黑体" panose="02010609060101010101" pitchFamily="49" charset="-122"/>
              </a:rPr>
              <a:t>即</a:t>
            </a:r>
            <a:endParaRPr lang="zh-CN" altLang="en-US" sz="2800" baseline="0" dirty="0">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821" y="244804"/>
            <a:ext cx="3883489" cy="6114818"/>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9685" y="2585290"/>
            <a:ext cx="3609145" cy="89009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6641" y="4003500"/>
            <a:ext cx="3603048" cy="89009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5685" y="4893593"/>
            <a:ext cx="3609145" cy="890093"/>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0615" y="5783686"/>
            <a:ext cx="2030144" cy="890093"/>
          </a:xfrm>
          <a:prstGeom prst="rect">
            <a:avLst/>
          </a:prstGeom>
        </p:spPr>
      </p:pic>
    </p:spTree>
    <p:custDataLst>
      <p:tags r:id="rId6"/>
    </p:custDataLst>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9" name="对象 221185"/>
          <p:cNvGraphicFramePr>
            <a:graphicFrameLocks noChangeAspect="1"/>
          </p:cNvGraphicFramePr>
          <p:nvPr/>
        </p:nvGraphicFramePr>
        <p:xfrm>
          <a:off x="569844" y="4257261"/>
          <a:ext cx="5617313" cy="1110768"/>
        </p:xfrm>
        <a:graphic>
          <a:graphicData uri="http://schemas.openxmlformats.org/presentationml/2006/ole">
            <mc:AlternateContent xmlns:mc="http://schemas.openxmlformats.org/markup-compatibility/2006">
              <mc:Choice xmlns:v="urn:schemas-microsoft-com:vml" Requires="v">
                <p:oleObj spid="_x0000_s117764" name="Equation" r:id="rId1" imgW="1498600" imgH="296545" progId="Equation.DSMT4">
                  <p:embed/>
                </p:oleObj>
              </mc:Choice>
              <mc:Fallback>
                <p:oleObj name="Equation" r:id="rId1" imgW="1498600" imgH="296545" progId="Equation.DSMT4">
                  <p:embed/>
                  <p:pic>
                    <p:nvPicPr>
                      <p:cNvPr id="0" name="对象 22118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844" y="4257261"/>
                        <a:ext cx="5617313" cy="1110768"/>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0" name="文本框 221187"/>
          <p:cNvSpPr txBox="1">
            <a:spLocks noChangeArrowheads="1"/>
          </p:cNvSpPr>
          <p:nvPr/>
        </p:nvSpPr>
        <p:spPr bwMode="auto">
          <a:xfrm>
            <a:off x="223079" y="1841511"/>
            <a:ext cx="863876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buFont typeface="Arial" panose="020B0604020202020204" pitchFamily="34" charset="0"/>
              <a:buChar char="•"/>
            </a:pPr>
            <a:r>
              <a:rPr lang="zh-CN" altLang="en-US" sz="2800" b="1" baseline="0" dirty="0">
                <a:latin typeface="Times New Roman" panose="02020603050405020304" pitchFamily="18" charset="0"/>
              </a:rPr>
              <a:t>任意工质经历一内可逆循环，其克劳修斯积分为</a:t>
            </a:r>
            <a:r>
              <a:rPr lang="zh-CN" altLang="en-US" sz="2800" b="1" baseline="0" dirty="0" smtClean="0">
                <a:latin typeface="Times New Roman" panose="02020603050405020304" pitchFamily="18" charset="0"/>
              </a:rPr>
              <a:t>零</a:t>
            </a:r>
            <a:endParaRPr lang="en-US" altLang="zh-CN" sz="2800" b="1" baseline="0" dirty="0" smtClean="0">
              <a:latin typeface="Times New Roman" panose="02020603050405020304" pitchFamily="18" charset="0"/>
            </a:endParaRPr>
          </a:p>
          <a:p>
            <a:pPr marL="457200" indent="-457200">
              <a:buFont typeface="Arial" panose="020B0604020202020204" pitchFamily="34" charset="0"/>
              <a:buChar char="•"/>
            </a:pPr>
            <a:r>
              <a:rPr lang="zh-CN" altLang="en-US" sz="2800" b="1" baseline="0" dirty="0" smtClean="0">
                <a:latin typeface="Times New Roman" panose="02020603050405020304" pitchFamily="18" charset="0"/>
              </a:rPr>
              <a:t>根据数学知识，若某函数的环路积分为</a:t>
            </a:r>
            <a:r>
              <a:rPr lang="en-US" altLang="zh-CN" sz="2800" b="1" baseline="0" dirty="0" smtClean="0">
                <a:latin typeface="Times New Roman" panose="02020603050405020304" pitchFamily="18" charset="0"/>
              </a:rPr>
              <a:t>0</a:t>
            </a:r>
            <a:r>
              <a:rPr lang="zh-CN" altLang="en-US" sz="2800" b="1" baseline="0" dirty="0" smtClean="0">
                <a:latin typeface="Times New Roman" panose="02020603050405020304" pitchFamily="18" charset="0"/>
              </a:rPr>
              <a:t>，则该函数必定是为</a:t>
            </a:r>
            <a:r>
              <a:rPr lang="zh-CN" altLang="en-US" sz="2800" b="1" baseline="0" dirty="0">
                <a:latin typeface="Times New Roman" panose="02020603050405020304" pitchFamily="18" charset="0"/>
              </a:rPr>
              <a:t>某个</a:t>
            </a:r>
            <a:r>
              <a:rPr lang="zh-CN" altLang="en-US" sz="2800" b="1" baseline="0" dirty="0" smtClean="0">
                <a:latin typeface="Times New Roman" panose="02020603050405020304" pitchFamily="18" charset="0"/>
              </a:rPr>
              <a:t>状态函数的全微分</a:t>
            </a:r>
            <a:endParaRPr lang="en-US" altLang="zh-CN" sz="2800" b="1" baseline="0" dirty="0" smtClean="0">
              <a:latin typeface="Times New Roman" panose="02020603050405020304" pitchFamily="18" charset="0"/>
            </a:endParaRPr>
          </a:p>
          <a:p>
            <a:pPr marL="457200" indent="-457200">
              <a:buFont typeface="Arial" panose="020B0604020202020204" pitchFamily="34" charset="0"/>
              <a:buChar char="•"/>
            </a:pPr>
            <a:r>
              <a:rPr lang="en-US" altLang="zh-CN" sz="2800" b="1" baseline="0" dirty="0" smtClean="0">
                <a:latin typeface="Times New Roman" panose="02020603050405020304" pitchFamily="18" charset="0"/>
              </a:rPr>
              <a:t>1865</a:t>
            </a:r>
            <a:r>
              <a:rPr lang="zh-CN" altLang="en-US" sz="2800" b="1" baseline="0" dirty="0">
                <a:latin typeface="Times New Roman" panose="02020603050405020304" pitchFamily="18" charset="0"/>
              </a:rPr>
              <a:t>年，克劳修斯定义这个状态参数为熵（</a:t>
            </a:r>
            <a:r>
              <a:rPr lang="en-US" altLang="zh-CN" sz="2800" b="1" baseline="0" dirty="0">
                <a:latin typeface="Times New Roman" panose="02020603050405020304" pitchFamily="18" charset="0"/>
              </a:rPr>
              <a:t>entropy</a:t>
            </a:r>
            <a:r>
              <a:rPr lang="en-US" altLang="zh-CN" sz="2800" b="1" baseline="0" dirty="0" smtClean="0">
                <a:latin typeface="Times New Roman" panose="02020603050405020304" pitchFamily="18" charset="0"/>
              </a:rPr>
              <a:t>)</a:t>
            </a:r>
            <a:endParaRPr lang="zh-CN" altLang="en-US" sz="2800" b="1" baseline="0" dirty="0">
              <a:latin typeface="Times New Roman" panose="02020603050405020304" pitchFamily="18" charset="0"/>
            </a:endParaRPr>
          </a:p>
        </p:txBody>
      </p:sp>
      <p:grpSp>
        <p:nvGrpSpPr>
          <p:cNvPr id="22532" name="组合 221199"/>
          <p:cNvGrpSpPr/>
          <p:nvPr/>
        </p:nvGrpSpPr>
        <p:grpSpPr bwMode="auto">
          <a:xfrm>
            <a:off x="6671856" y="3760933"/>
            <a:ext cx="1911163" cy="2787322"/>
            <a:chOff x="3918" y="1440"/>
            <a:chExt cx="1650" cy="2355"/>
          </a:xfrm>
        </p:grpSpPr>
        <p:pic>
          <p:nvPicPr>
            <p:cNvPr id="22533" name="图片 221200" descr="clausius_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 y="1440"/>
              <a:ext cx="1650" cy="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文本框 221201"/>
            <p:cNvSpPr txBox="1">
              <a:spLocks noChangeArrowheads="1"/>
            </p:cNvSpPr>
            <p:nvPr/>
          </p:nvSpPr>
          <p:spPr bwMode="auto">
            <a:xfrm>
              <a:off x="3994" y="3483"/>
              <a:ext cx="142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baseline="0" dirty="0">
                  <a:latin typeface="Times New Roman" panose="02020603050405020304" pitchFamily="18" charset="0"/>
                  <a:cs typeface="Times New Roman" panose="02020603050405020304" pitchFamily="18" charset="0"/>
                </a:rPr>
                <a:t>（</a:t>
              </a:r>
              <a:r>
                <a:rPr lang="en-US" altLang="zh-CN" sz="1800" baseline="0" dirty="0">
                  <a:latin typeface="Times New Roman" panose="02020603050405020304" pitchFamily="18" charset="0"/>
                  <a:cs typeface="Times New Roman" panose="02020603050405020304" pitchFamily="18" charset="0"/>
                </a:rPr>
                <a:t>1822-1888</a:t>
              </a:r>
              <a:r>
                <a:rPr lang="zh-CN" altLang="en-US" sz="1800" baseline="0" dirty="0">
                  <a:latin typeface="Times New Roman" panose="02020603050405020304" pitchFamily="18" charset="0"/>
                  <a:cs typeface="Times New Roman" panose="02020603050405020304" pitchFamily="18" charset="0"/>
                </a:rPr>
                <a:t>）</a:t>
              </a:r>
              <a:endParaRPr lang="zh-CN" altLang="en-US" sz="1800" baseline="0" dirty="0">
                <a:latin typeface="Times New Roman" panose="02020603050405020304" pitchFamily="18" charset="0"/>
                <a:cs typeface="Times New Roman" panose="02020603050405020304" pitchFamily="18" charset="0"/>
              </a:endParaRP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0301" y="306200"/>
            <a:ext cx="3005588" cy="1329043"/>
          </a:xfrm>
          <a:prstGeom prst="rect">
            <a:avLst/>
          </a:prstGeom>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21185"/>
          <p:cNvGraphicFramePr>
            <a:graphicFrameLocks noChangeAspect="1"/>
          </p:cNvGraphicFramePr>
          <p:nvPr/>
        </p:nvGraphicFramePr>
        <p:xfrm>
          <a:off x="1603513" y="765314"/>
          <a:ext cx="5617313" cy="1110768"/>
        </p:xfrm>
        <a:graphic>
          <a:graphicData uri="http://schemas.openxmlformats.org/presentationml/2006/ole">
            <mc:AlternateContent xmlns:mc="http://schemas.openxmlformats.org/markup-compatibility/2006">
              <mc:Choice xmlns:v="urn:schemas-microsoft-com:vml" Requires="v">
                <p:oleObj spid="_x0000_s58409" name="" r:id="rId1" imgW="1498600" imgH="296545" progId="Equation.DSMT4">
                  <p:embed/>
                </p:oleObj>
              </mc:Choice>
              <mc:Fallback>
                <p:oleObj name="" r:id="rId1" imgW="1498600" imgH="296545" progId="Equation.DSMT4">
                  <p:embed/>
                  <p:pic>
                    <p:nvPicPr>
                      <p:cNvPr id="0" name="对象 22118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513" y="765314"/>
                        <a:ext cx="5617313" cy="1110768"/>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a:spLocks noChangeArrowheads="1"/>
          </p:cNvSpPr>
          <p:nvPr/>
        </p:nvSpPr>
        <p:spPr bwMode="auto">
          <a:xfrm>
            <a:off x="526922" y="2340632"/>
            <a:ext cx="797434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spcBef>
                <a:spcPct val="20000"/>
              </a:spcBef>
            </a:pPr>
            <a:r>
              <a:rPr lang="zh-CN" altLang="en-US" sz="2800" b="1" dirty="0" smtClean="0"/>
              <a:t>提醒注意：由于完全可逆的过程一定是内可逆过程，因此以上两式对完全可逆的过程也适用。</a:t>
            </a:r>
            <a:endParaRPr lang="zh-CN" altLang="el-GR"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362497"/>
          <p:cNvSpPr>
            <a:spLocks noGrp="1" noChangeArrowheads="1"/>
          </p:cNvSpPr>
          <p:nvPr>
            <p:ph type="title"/>
          </p:nvPr>
        </p:nvSpPr>
        <p:spPr/>
        <p:txBody>
          <a:bodyPr/>
          <a:lstStyle/>
          <a:p>
            <a:r>
              <a:rPr lang="zh-CN" altLang="en-US" b="1" dirty="0" smtClean="0">
                <a:ea typeface="黑体" panose="02010609060101010101" pitchFamily="49" charset="-122"/>
              </a:rPr>
              <a:t>三、有关熵的一些说明</a:t>
            </a:r>
            <a:endParaRPr lang="zh-CN" altLang="en-US" b="1" dirty="0" smtClean="0">
              <a:ea typeface="黑体" panose="02010609060101010101" pitchFamily="49" charset="-122"/>
            </a:endParaRPr>
          </a:p>
        </p:txBody>
      </p:sp>
      <p:sp>
        <p:nvSpPr>
          <p:cNvPr id="23554" name="文本占位符 362498"/>
          <p:cNvSpPr>
            <a:spLocks noGrp="1" noChangeArrowheads="1"/>
          </p:cNvSpPr>
          <p:nvPr>
            <p:ph idx="1"/>
          </p:nvPr>
        </p:nvSpPr>
        <p:spPr>
          <a:xfrm>
            <a:off x="628650" y="1825625"/>
            <a:ext cx="7886700" cy="698914"/>
          </a:xfrm>
        </p:spPr>
        <p:txBody>
          <a:bodyPr>
            <a:normAutofit/>
          </a:bodyPr>
          <a:lstStyle/>
          <a:p>
            <a:pPr>
              <a:buFontTx/>
              <a:buNone/>
            </a:pPr>
            <a:r>
              <a:rPr lang="en-US" altLang="zh-CN" sz="3200" b="1" dirty="0" smtClean="0">
                <a:latin typeface="Times New Roman" panose="02020603050405020304" pitchFamily="18" charset="0"/>
                <a:cs typeface="Times New Roman" panose="02020603050405020304" pitchFamily="18" charset="0"/>
              </a:rPr>
              <a:t>1</a:t>
            </a:r>
            <a:r>
              <a:rPr lang="zh-CN" altLang="en-US" sz="3200" b="1" dirty="0" smtClean="0">
                <a:latin typeface="Times New Roman" panose="02020603050405020304" pitchFamily="18" charset="0"/>
                <a:cs typeface="Times New Roman" panose="02020603050405020304" pitchFamily="18" charset="0"/>
              </a:rPr>
              <a:t>、</a:t>
            </a:r>
            <a:r>
              <a:rPr lang="zh-CN" altLang="en-US" sz="3200" b="1" dirty="0" smtClean="0"/>
              <a:t>广延量和强度量</a:t>
            </a:r>
            <a:endParaRPr lang="zh-CN" altLang="en-US" sz="3200" b="1" dirty="0" smtClean="0"/>
          </a:p>
        </p:txBody>
      </p:sp>
      <p:sp>
        <p:nvSpPr>
          <p:cNvPr id="23555" name="矩形 36250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 name="矩形 2"/>
          <p:cNvSpPr/>
          <p:nvPr/>
        </p:nvSpPr>
        <p:spPr>
          <a:xfrm>
            <a:off x="990427" y="2856298"/>
            <a:ext cx="7163146" cy="2246769"/>
          </a:xfrm>
          <a:prstGeom prst="rect">
            <a:avLst/>
          </a:prstGeom>
        </p:spPr>
        <p:txBody>
          <a:bodyPr wrap="square">
            <a:spAutoFit/>
          </a:bodyPr>
          <a:lstStyle/>
          <a:p>
            <a:pPr marL="457200" indent="-457200">
              <a:buFont typeface="Arial" panose="020B0604020202020204" pitchFamily="34" charset="0"/>
              <a:buChar char="•"/>
            </a:pPr>
            <a:r>
              <a:rPr lang="zh-CN" altLang="zh-CN" sz="2800" b="1" dirty="0"/>
              <a:t>熵是广延量，具有可加性，其单位</a:t>
            </a:r>
            <a:r>
              <a:rPr lang="zh-CN" altLang="zh-CN" sz="2800" b="1" dirty="0" smtClean="0"/>
              <a:t>为</a:t>
            </a:r>
            <a:r>
              <a:rPr lang="en-US" altLang="zh-CN" sz="2800" b="1" dirty="0" smtClean="0">
                <a:latin typeface="Times New Roman" panose="02020603050405020304" pitchFamily="18" charset="0"/>
                <a:cs typeface="Times New Roman" panose="02020603050405020304" pitchFamily="18" charset="0"/>
              </a:rPr>
              <a:t>J/K</a:t>
            </a:r>
            <a:endParaRPr lang="en-US" altLang="zh-CN" sz="2800" b="1"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zh-CN" sz="2800" b="1" dirty="0">
                <a:latin typeface="Times New Roman" panose="02020603050405020304" pitchFamily="18" charset="0"/>
                <a:cs typeface="Times New Roman" panose="02020603050405020304" pitchFamily="18" charset="0"/>
              </a:rPr>
              <a:t>1kg</a:t>
            </a:r>
            <a:r>
              <a:rPr lang="zh-CN" altLang="en-US" sz="2800" b="1" dirty="0">
                <a:latin typeface="Times New Roman" panose="02020603050405020304" pitchFamily="18" charset="0"/>
                <a:cs typeface="Times New Roman" panose="02020603050405020304" pitchFamily="18" charset="0"/>
              </a:rPr>
              <a:t>物质具有的熵称为比</a:t>
            </a:r>
            <a:r>
              <a:rPr lang="zh-CN" altLang="zh-CN" sz="2800" b="1" dirty="0">
                <a:latin typeface="Times New Roman" panose="02020603050405020304" pitchFamily="18" charset="0"/>
                <a:cs typeface="Times New Roman" panose="02020603050405020304" pitchFamily="18" charset="0"/>
              </a:rPr>
              <a:t>熵</a:t>
            </a:r>
            <a:r>
              <a:rPr lang="zh-CN" altLang="en-US" sz="2800" b="1" dirty="0">
                <a:latin typeface="Times New Roman" panose="02020603050405020304" pitchFamily="18" charset="0"/>
                <a:cs typeface="Times New Roman" panose="02020603050405020304" pitchFamily="18" charset="0"/>
              </a:rPr>
              <a:t>，用符号</a:t>
            </a:r>
            <a:r>
              <a:rPr lang="en-US" altLang="zh-CN" sz="2800" b="1" i="1" dirty="0">
                <a:latin typeface="Times New Roman" panose="02020603050405020304" pitchFamily="18" charset="0"/>
                <a:cs typeface="Times New Roman" panose="02020603050405020304" pitchFamily="18" charset="0"/>
              </a:rPr>
              <a:t>s</a:t>
            </a:r>
            <a:r>
              <a:rPr lang="zh-CN" altLang="en-US" sz="2800" b="1" dirty="0">
                <a:latin typeface="Times New Roman" panose="02020603050405020304" pitchFamily="18" charset="0"/>
                <a:cs typeface="Times New Roman" panose="02020603050405020304" pitchFamily="18" charset="0"/>
              </a:rPr>
              <a:t>表示</a:t>
            </a:r>
            <a:r>
              <a:rPr lang="zh-CN" altLang="en-US" sz="2800" b="1" dirty="0" smtClean="0">
                <a:latin typeface="Times New Roman" panose="02020603050405020304" pitchFamily="18" charset="0"/>
                <a:cs typeface="Times New Roman" panose="02020603050405020304" pitchFamily="18" charset="0"/>
              </a:rPr>
              <a:t>，单位为</a:t>
            </a:r>
            <a:r>
              <a:rPr lang="en-US" altLang="zh-CN" sz="2800" b="1" dirty="0" smtClean="0">
                <a:latin typeface="Times New Roman" panose="02020603050405020304" pitchFamily="18" charset="0"/>
                <a:cs typeface="Times New Roman" panose="02020603050405020304" pitchFamily="18" charset="0"/>
              </a:rPr>
              <a:t>J/</a:t>
            </a:r>
            <a:r>
              <a:rPr lang="en-US" altLang="zh-CN" sz="2800" b="1" dirty="0">
                <a:latin typeface="Times New Roman" panose="02020603050405020304" pitchFamily="18" charset="0"/>
                <a:cs typeface="Times New Roman" panose="02020603050405020304" pitchFamily="18" charset="0"/>
              </a:rPr>
              <a:t>(</a:t>
            </a:r>
            <a:r>
              <a:rPr lang="en-US" altLang="zh-CN" sz="2800" b="1" dirty="0" err="1" smtClean="0">
                <a:latin typeface="Times New Roman" panose="02020603050405020304" pitchFamily="18" charset="0"/>
                <a:cs typeface="Times New Roman" panose="02020603050405020304" pitchFamily="18" charset="0"/>
              </a:rPr>
              <a:t>kg∙K</a:t>
            </a:r>
            <a:r>
              <a:rPr lang="en-US" altLang="zh-CN" sz="2800" b="1" dirty="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zh-CN" altLang="en-US" sz="2800" b="1" dirty="0">
                <a:latin typeface="Times New Roman" panose="02020603050405020304" pitchFamily="18" charset="0"/>
                <a:cs typeface="Times New Roman" panose="02020603050405020304" pitchFamily="18" charset="0"/>
              </a:rPr>
              <a:t>比</a:t>
            </a:r>
            <a:r>
              <a:rPr lang="zh-CN" altLang="zh-CN" sz="2800" b="1" dirty="0">
                <a:latin typeface="Times New Roman" panose="02020603050405020304" pitchFamily="18" charset="0"/>
                <a:cs typeface="Times New Roman" panose="02020603050405020304" pitchFamily="18" charset="0"/>
              </a:rPr>
              <a:t>熵</a:t>
            </a:r>
            <a:r>
              <a:rPr lang="zh-CN" altLang="zh-CN" sz="2800" b="1" dirty="0" smtClean="0">
                <a:latin typeface="Times New Roman" panose="02020603050405020304" pitchFamily="18" charset="0"/>
                <a:cs typeface="Times New Roman" panose="02020603050405020304" pitchFamily="18" charset="0"/>
              </a:rPr>
              <a:t>是</a:t>
            </a:r>
            <a:r>
              <a:rPr lang="zh-CN" altLang="en-US" sz="2800" b="1" dirty="0" smtClean="0">
                <a:latin typeface="Times New Roman" panose="02020603050405020304" pitchFamily="18" charset="0"/>
                <a:cs typeface="Times New Roman" panose="02020603050405020304" pitchFamily="18" charset="0"/>
              </a:rPr>
              <a:t>强度</a:t>
            </a:r>
            <a:r>
              <a:rPr lang="zh-CN" altLang="zh-CN" sz="2800" b="1" dirty="0" smtClean="0">
                <a:latin typeface="Times New Roman" panose="02020603050405020304" pitchFamily="18" charset="0"/>
                <a:cs typeface="Times New Roman" panose="02020603050405020304" pitchFamily="18" charset="0"/>
              </a:rPr>
              <a:t>量，</a:t>
            </a:r>
            <a:r>
              <a:rPr lang="zh-CN" altLang="en-US" sz="2800" b="1" dirty="0" smtClean="0">
                <a:latin typeface="Times New Roman" panose="02020603050405020304" pitchFamily="18" charset="0"/>
                <a:cs typeface="Times New Roman" panose="02020603050405020304" pitchFamily="18" charset="0"/>
              </a:rPr>
              <a:t>不</a:t>
            </a:r>
            <a:r>
              <a:rPr lang="zh-CN" altLang="zh-CN" sz="2800" b="1" dirty="0" smtClean="0">
                <a:latin typeface="Times New Roman" panose="02020603050405020304" pitchFamily="18" charset="0"/>
                <a:cs typeface="Times New Roman" panose="02020603050405020304" pitchFamily="18" charset="0"/>
              </a:rPr>
              <a:t>具有</a:t>
            </a:r>
            <a:r>
              <a:rPr lang="zh-CN" altLang="zh-CN" sz="2800" b="1" dirty="0">
                <a:latin typeface="Times New Roman" panose="02020603050405020304" pitchFamily="18" charset="0"/>
                <a:cs typeface="Times New Roman" panose="02020603050405020304" pitchFamily="18" charset="0"/>
              </a:rPr>
              <a:t>可</a:t>
            </a:r>
            <a:r>
              <a:rPr lang="zh-CN" altLang="zh-CN" sz="2800" b="1" dirty="0" smtClean="0">
                <a:latin typeface="Times New Roman" panose="02020603050405020304" pitchFamily="18" charset="0"/>
                <a:cs typeface="Times New Roman" panose="02020603050405020304" pitchFamily="18" charset="0"/>
              </a:rPr>
              <a:t>加性</a:t>
            </a:r>
            <a:endParaRPr lang="zh-CN" alt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zh-CN" altLang="en-US" sz="2800" b="1"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占位符 364546"/>
          <p:cNvSpPr>
            <a:spLocks noGrp="1" noChangeArrowheads="1"/>
          </p:cNvSpPr>
          <p:nvPr>
            <p:ph idx="1"/>
          </p:nvPr>
        </p:nvSpPr>
        <p:spPr>
          <a:xfrm>
            <a:off x="457200" y="1600200"/>
            <a:ext cx="8229600" cy="838200"/>
          </a:xfrm>
        </p:spPr>
        <p:txBody>
          <a:bodyPr/>
          <a:lstStyle/>
          <a:p>
            <a:pPr>
              <a:buFontTx/>
              <a:buNone/>
            </a:pPr>
            <a:r>
              <a:rPr lang="en-US" altLang="zh-CN" sz="3200" b="1" dirty="0">
                <a:latin typeface="Times New Roman" panose="02020603050405020304" pitchFamily="18" charset="0"/>
                <a:cs typeface="Times New Roman" panose="02020603050405020304" pitchFamily="18" charset="0"/>
              </a:rPr>
              <a:t>2</a:t>
            </a:r>
            <a:r>
              <a:rPr lang="zh-CN" altLang="en-US" sz="3200" b="1" dirty="0" smtClean="0">
                <a:latin typeface="Times New Roman" panose="02020603050405020304" pitchFamily="18" charset="0"/>
                <a:cs typeface="Times New Roman" panose="02020603050405020304" pitchFamily="18" charset="0"/>
              </a:rPr>
              <a:t>、</a:t>
            </a:r>
            <a:r>
              <a:rPr lang="zh-CN" altLang="en-US" sz="3200" b="1" dirty="0" smtClean="0"/>
              <a:t>涉及熵的状态图</a:t>
            </a:r>
            <a:endParaRPr lang="zh-CN" altLang="en-US" sz="3200" b="1" dirty="0" smtClean="0"/>
          </a:p>
          <a:p>
            <a:pPr>
              <a:buFontTx/>
              <a:buNone/>
            </a:pPr>
            <a:endParaRPr lang="zh-CN" altLang="en-US" b="1" dirty="0" smtClean="0"/>
          </a:p>
        </p:txBody>
      </p:sp>
      <p:sp>
        <p:nvSpPr>
          <p:cNvPr id="8" name="标题 362497"/>
          <p:cNvSpPr txBox="1">
            <a:spLocks noChangeArrowheads="1"/>
          </p:cNvSpPr>
          <p:nvPr/>
        </p:nvSpPr>
        <p:spPr>
          <a:xfrm>
            <a:off x="457200" y="28813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smtClean="0">
                <a:ea typeface="黑体" panose="02010609060101010101" pitchFamily="49" charset="-122"/>
              </a:rPr>
              <a:t>三、有关熵的一些说明（续）</a:t>
            </a:r>
            <a:endParaRPr lang="zh-CN" altLang="en-US" b="1" dirty="0" smtClean="0">
              <a:ea typeface="黑体" panose="02010609060101010101" pitchFamily="49" charset="-122"/>
            </a:endParaRPr>
          </a:p>
        </p:txBody>
      </p:sp>
      <p:graphicFrame>
        <p:nvGraphicFramePr>
          <p:cNvPr id="4" name="对象 3"/>
          <p:cNvGraphicFramePr>
            <a:graphicFrameLocks noChangeAspect="1"/>
          </p:cNvGraphicFramePr>
          <p:nvPr/>
        </p:nvGraphicFramePr>
        <p:xfrm>
          <a:off x="5024875" y="2630753"/>
          <a:ext cx="2158063" cy="571253"/>
        </p:xfrm>
        <a:graphic>
          <a:graphicData uri="http://schemas.openxmlformats.org/presentationml/2006/ole">
            <mc:AlternateContent xmlns:mc="http://schemas.openxmlformats.org/markup-compatibility/2006">
              <mc:Choice xmlns:v="urn:schemas-microsoft-com:vml" Requires="v">
                <p:oleObj spid="_x0000_s59510" name="Equation" r:id="rId1" imgW="862965" imgH="228600" progId="Equation.DSMT4">
                  <p:embed/>
                </p:oleObj>
              </mc:Choice>
              <mc:Fallback>
                <p:oleObj name="Equation" r:id="rId1" imgW="862965" imgH="228600" progId="Equation.DSMT4">
                  <p:embed/>
                  <p:pic>
                    <p:nvPicPr>
                      <p:cNvPr id="0" name="对象 3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875" y="2630753"/>
                        <a:ext cx="2158063" cy="571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954984" y="2370463"/>
          <a:ext cx="2380500" cy="1110600"/>
        </p:xfrm>
        <a:graphic>
          <a:graphicData uri="http://schemas.openxmlformats.org/presentationml/2006/ole">
            <mc:AlternateContent xmlns:mc="http://schemas.openxmlformats.org/markup-compatibility/2006">
              <mc:Choice xmlns:v="urn:schemas-microsoft-com:vml" Requires="v">
                <p:oleObj spid="_x0000_s59511" name="Equation" r:id="rId3" imgW="22860000" imgH="10668000" progId="Equation.DSMT4">
                  <p:embed/>
                </p:oleObj>
              </mc:Choice>
              <mc:Fallback>
                <p:oleObj name="Equation" r:id="rId3" imgW="22860000" imgH="10668000" progId="Equation.DSMT4">
                  <p:embed/>
                  <p:pic>
                    <p:nvPicPr>
                      <p:cNvPr id="0" name="图片 59510"/>
                      <p:cNvPicPr/>
                      <p:nvPr/>
                    </p:nvPicPr>
                    <p:blipFill>
                      <a:blip r:embed="rId4"/>
                      <a:stretch>
                        <a:fillRect/>
                      </a:stretch>
                    </p:blipFill>
                    <p:spPr>
                      <a:xfrm>
                        <a:off x="954984" y="2370463"/>
                        <a:ext cx="2380500" cy="1110600"/>
                      </a:xfrm>
                      <a:prstGeom prst="rect">
                        <a:avLst/>
                      </a:prstGeom>
                    </p:spPr>
                  </p:pic>
                </p:oleObj>
              </mc:Fallback>
            </mc:AlternateContent>
          </a:graphicData>
        </a:graphic>
      </p:graphicFrame>
      <p:sp>
        <p:nvSpPr>
          <p:cNvPr id="6" name="右箭头 5"/>
          <p:cNvSpPr/>
          <p:nvPr/>
        </p:nvSpPr>
        <p:spPr>
          <a:xfrm>
            <a:off x="3793510" y="2783858"/>
            <a:ext cx="821635" cy="265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下箭头 6"/>
          <p:cNvSpPr/>
          <p:nvPr/>
        </p:nvSpPr>
        <p:spPr>
          <a:xfrm>
            <a:off x="5804452" y="3356217"/>
            <a:ext cx="299454" cy="788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对象 9"/>
          <p:cNvGraphicFramePr>
            <a:graphicFrameLocks noChangeAspect="1"/>
          </p:cNvGraphicFramePr>
          <p:nvPr/>
        </p:nvGraphicFramePr>
        <p:xfrm>
          <a:off x="4866193" y="4298932"/>
          <a:ext cx="2316745" cy="825143"/>
        </p:xfrm>
        <a:graphic>
          <a:graphicData uri="http://schemas.openxmlformats.org/presentationml/2006/ole">
            <mc:AlternateContent xmlns:mc="http://schemas.openxmlformats.org/markup-compatibility/2006">
              <mc:Choice xmlns:v="urn:schemas-microsoft-com:vml" Requires="v">
                <p:oleObj spid="_x0000_s59512" name="Equation" r:id="rId5" imgW="926465" imgH="330200" progId="Equation.DSMT4">
                  <p:embed/>
                </p:oleObj>
              </mc:Choice>
              <mc:Fallback>
                <p:oleObj name="Equation" r:id="rId5" imgW="926465" imgH="330200" progId="Equation.DSMT4">
                  <p:embed/>
                  <p:pic>
                    <p:nvPicPr>
                      <p:cNvPr id="0" name="对象 3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6193" y="4298932"/>
                        <a:ext cx="2316745" cy="825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矩形 364555"/>
          <p:cNvSpPr>
            <a:spLocks noChangeArrowheads="1"/>
          </p:cNvSpPr>
          <p:nvPr/>
        </p:nvSpPr>
        <p:spPr bwMode="auto">
          <a:xfrm>
            <a:off x="4714240" y="2116927"/>
            <a:ext cx="40560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t>经常和</a:t>
            </a:r>
            <a:r>
              <a:rPr lang="en-US" altLang="zh-CN" sz="3200" b="1" i="1" baseline="0" dirty="0" smtClean="0">
                <a:latin typeface="Times New Roman" panose="02020603050405020304" pitchFamily="18" charset="0"/>
                <a:cs typeface="Times New Roman" panose="02020603050405020304" pitchFamily="18" charset="0"/>
              </a:rPr>
              <a:t>p-V</a:t>
            </a:r>
            <a:r>
              <a:rPr lang="zh-CN" altLang="en-US" sz="3200" b="1" baseline="0" dirty="0" smtClean="0"/>
              <a:t>图</a:t>
            </a:r>
            <a:r>
              <a:rPr lang="zh-CN" altLang="en-US" sz="3200" b="1" baseline="0" dirty="0"/>
              <a:t>配套使用</a:t>
            </a:r>
            <a:endParaRPr lang="zh-CN" altLang="en-US" sz="3200" b="1" baseline="0" dirty="0"/>
          </a:p>
        </p:txBody>
      </p:sp>
      <p:sp>
        <p:nvSpPr>
          <p:cNvPr id="10" name="矩形 364555"/>
          <p:cNvSpPr>
            <a:spLocks noChangeArrowheads="1"/>
          </p:cNvSpPr>
          <p:nvPr/>
        </p:nvSpPr>
        <p:spPr bwMode="auto">
          <a:xfrm>
            <a:off x="447877" y="4350627"/>
            <a:ext cx="8254691"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buFont typeface="Arial" panose="020B0604020202020204" pitchFamily="34" charset="0"/>
              <a:buChar char="•"/>
            </a:pPr>
            <a:r>
              <a:rPr lang="zh-CN" altLang="en-US" sz="2800" b="1" dirty="0" smtClean="0"/>
              <a:t>利用</a:t>
            </a:r>
            <a:r>
              <a:rPr lang="en-US" altLang="zh-CN" sz="2800" b="1" i="1" dirty="0" smtClean="0">
                <a:latin typeface="Times New Roman" panose="02020603050405020304" pitchFamily="18" charset="0"/>
                <a:cs typeface="Times New Roman" panose="02020603050405020304" pitchFamily="18" charset="0"/>
              </a:rPr>
              <a:t>T-S</a:t>
            </a:r>
            <a:r>
              <a:rPr lang="zh-CN" altLang="en-US" sz="2800" b="1" dirty="0" smtClean="0"/>
              <a:t>图，可以表示出</a:t>
            </a:r>
            <a:r>
              <a:rPr lang="zh-CN" altLang="en-US" sz="2800" b="1" dirty="0" smtClean="0">
                <a:solidFill>
                  <a:srgbClr val="FF0000"/>
                </a:solidFill>
              </a:rPr>
              <a:t>内可逆过程中系统与外界交换热量的大小</a:t>
            </a:r>
            <a:r>
              <a:rPr lang="zh-CN" altLang="en-US" sz="2800" b="1" dirty="0" smtClean="0"/>
              <a:t>，它等于过程线下方曲边梯形的面积</a:t>
            </a:r>
            <a:endParaRPr lang="en-US" altLang="zh-CN" sz="2800" b="1" dirty="0" smtClean="0"/>
          </a:p>
          <a:p>
            <a:pPr marL="457200" indent="-457200">
              <a:buFont typeface="Arial" panose="020B0604020202020204" pitchFamily="34" charset="0"/>
              <a:buChar char="•"/>
            </a:pPr>
            <a:r>
              <a:rPr lang="zh-CN" altLang="en-US" sz="2800" b="1" dirty="0"/>
              <a:t>还</a:t>
            </a:r>
            <a:r>
              <a:rPr lang="zh-CN" altLang="en-US" sz="2800" b="1" dirty="0" smtClean="0"/>
              <a:t>可利用</a:t>
            </a:r>
            <a:r>
              <a:rPr lang="en-US" altLang="zh-CN" sz="2800" b="1" i="1" dirty="0">
                <a:latin typeface="Times New Roman" panose="02020603050405020304" pitchFamily="18" charset="0"/>
                <a:cs typeface="Times New Roman" panose="02020603050405020304" pitchFamily="18" charset="0"/>
              </a:rPr>
              <a:t>T-S</a:t>
            </a:r>
            <a:r>
              <a:rPr lang="zh-CN" altLang="en-US" sz="2800" b="1" baseline="0" dirty="0" smtClean="0"/>
              <a:t>图判断热量传递的方向。若过程中</a:t>
            </a:r>
            <a:r>
              <a:rPr lang="en-US" altLang="zh-CN" sz="2800" b="1" baseline="0" dirty="0" err="1" smtClean="0">
                <a:latin typeface="Times New Roman" panose="02020603050405020304" pitchFamily="18" charset="0"/>
                <a:cs typeface="Times New Roman" panose="02020603050405020304" pitchFamily="18" charset="0"/>
              </a:rPr>
              <a:t>d</a:t>
            </a:r>
            <a:r>
              <a:rPr lang="en-US" altLang="zh-CN" sz="2800" b="1" i="1" baseline="0" dirty="0" err="1" smtClean="0">
                <a:latin typeface="Times New Roman" panose="02020603050405020304" pitchFamily="18" charset="0"/>
                <a:cs typeface="Times New Roman" panose="02020603050405020304" pitchFamily="18" charset="0"/>
              </a:rPr>
              <a:t>S</a:t>
            </a:r>
            <a:r>
              <a:rPr lang="en-US" altLang="zh-CN" sz="2800" b="1" dirty="0" smtClean="0">
                <a:latin typeface="Times New Roman" panose="02020603050405020304" pitchFamily="18" charset="0"/>
                <a:cs typeface="Times New Roman" panose="02020603050405020304" pitchFamily="18" charset="0"/>
              </a:rPr>
              <a:t>&gt;0</a:t>
            </a:r>
            <a:r>
              <a:rPr lang="zh-CN" altLang="en-US" sz="2800" b="1" dirty="0" smtClean="0"/>
              <a:t>，则系统吸热；若</a:t>
            </a:r>
            <a:r>
              <a:rPr lang="en-US" altLang="zh-CN" sz="2800" b="1" dirty="0" err="1" smtClean="0">
                <a:latin typeface="Times New Roman" panose="02020603050405020304" pitchFamily="18" charset="0"/>
                <a:cs typeface="Times New Roman" panose="02020603050405020304" pitchFamily="18" charset="0"/>
              </a:rPr>
              <a:t>d</a:t>
            </a:r>
            <a:r>
              <a:rPr lang="en-US" altLang="zh-CN" sz="2800" b="1" i="1" dirty="0" err="1" smtClean="0">
                <a:latin typeface="Times New Roman" panose="02020603050405020304" pitchFamily="18" charset="0"/>
                <a:cs typeface="Times New Roman" panose="02020603050405020304" pitchFamily="18" charset="0"/>
              </a:rPr>
              <a:t>S</a:t>
            </a:r>
            <a:r>
              <a:rPr lang="en-US" altLang="zh-CN" sz="2800" b="1" dirty="0" smtClean="0">
                <a:latin typeface="Times New Roman" panose="02020603050405020304" pitchFamily="18" charset="0"/>
                <a:cs typeface="Times New Roman" panose="02020603050405020304" pitchFamily="18" charset="0"/>
              </a:rPr>
              <a:t>&lt;0 </a:t>
            </a:r>
            <a:r>
              <a:rPr lang="zh-CN" altLang="en-US" sz="2800" b="1" dirty="0" smtClean="0"/>
              <a:t>，则系统</a:t>
            </a:r>
            <a:r>
              <a:rPr lang="zh-CN" altLang="en-US" sz="2800" b="1" dirty="0"/>
              <a:t>放</a:t>
            </a:r>
            <a:r>
              <a:rPr lang="zh-CN" altLang="en-US" sz="2800" b="1" dirty="0" smtClean="0"/>
              <a:t>热</a:t>
            </a:r>
            <a:endParaRPr lang="zh-CN" altLang="en-US" sz="2800" b="1" baseline="0" dirty="0"/>
          </a:p>
        </p:txBody>
      </p:sp>
      <p:graphicFrame>
        <p:nvGraphicFramePr>
          <p:cNvPr id="11" name="对象 10"/>
          <p:cNvGraphicFramePr>
            <a:graphicFrameLocks noChangeAspect="1"/>
          </p:cNvGraphicFramePr>
          <p:nvPr/>
        </p:nvGraphicFramePr>
        <p:xfrm>
          <a:off x="5367420" y="781672"/>
          <a:ext cx="2316745" cy="825143"/>
        </p:xfrm>
        <a:graphic>
          <a:graphicData uri="http://schemas.openxmlformats.org/presentationml/2006/ole">
            <mc:AlternateContent xmlns:mc="http://schemas.openxmlformats.org/markup-compatibility/2006">
              <mc:Choice xmlns:v="urn:schemas-microsoft-com:vml" Requires="v">
                <p:oleObj spid="_x0000_s61499" name="Equation" r:id="rId1" imgW="926465" imgH="330200" progId="Equation.DSMT4">
                  <p:embed/>
                </p:oleObj>
              </mc:Choice>
              <mc:Fallback>
                <p:oleObj name="Equation" r:id="rId1" imgW="926465" imgH="330200" progId="Equation.DSMT4">
                  <p:embed/>
                  <p:pic>
                    <p:nvPicPr>
                      <p:cNvPr id="0" name="对象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7420" y="781672"/>
                        <a:ext cx="2316745" cy="825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92" y="390774"/>
            <a:ext cx="3682303" cy="3810330"/>
          </a:xfrm>
          <a:prstGeom prst="rect">
            <a:avLst/>
          </a:prstGeom>
        </p:spPr>
      </p:pic>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矩形 364556"/>
          <p:cNvSpPr>
            <a:spLocks noChangeArrowheads="1"/>
          </p:cNvSpPr>
          <p:nvPr/>
        </p:nvSpPr>
        <p:spPr bwMode="auto">
          <a:xfrm>
            <a:off x="659368" y="4359086"/>
            <a:ext cx="789490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000" b="1" dirty="0">
                <a:solidFill>
                  <a:srgbClr val="0000CC"/>
                </a:solidFill>
              </a:rPr>
              <a:t>提醒</a:t>
            </a:r>
            <a:r>
              <a:rPr lang="zh-CN" altLang="en-US" sz="3000" b="1" baseline="0" dirty="0" smtClean="0">
                <a:solidFill>
                  <a:srgbClr val="0000CC"/>
                </a:solidFill>
              </a:rPr>
              <a:t>注意</a:t>
            </a:r>
            <a:r>
              <a:rPr lang="zh-CN" altLang="en-US" sz="3000" b="1" baseline="0" dirty="0">
                <a:solidFill>
                  <a:srgbClr val="0000CC"/>
                </a:solidFill>
              </a:rPr>
              <a:t>：只有系统经历内可逆（或完全可逆）的过程，才能用图中面积表示过程中系统与外界交换的热量</a:t>
            </a:r>
            <a:r>
              <a:rPr lang="zh-CN" altLang="en-US" sz="3000" b="1" baseline="0" dirty="0" smtClean="0">
                <a:solidFill>
                  <a:srgbClr val="0000CC"/>
                </a:solidFill>
              </a:rPr>
              <a:t>。对于非内可逆过程，过程线下方的曲边梯形面积没有物理含义。 </a:t>
            </a:r>
            <a:endParaRPr lang="zh-CN" altLang="en-US" sz="3000" b="1" baseline="0" dirty="0">
              <a:solidFill>
                <a:srgbClr val="0000CC"/>
              </a:solidFill>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3161" y="351018"/>
            <a:ext cx="3682303" cy="3810330"/>
          </a:xfrm>
          <a:prstGeom prst="rect">
            <a:avLst/>
          </a:prstGeom>
        </p:spPr>
      </p:pic>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362497"/>
          <p:cNvSpPr>
            <a:spLocks noGrp="1" noChangeArrowheads="1"/>
          </p:cNvSpPr>
          <p:nvPr>
            <p:ph type="title"/>
          </p:nvPr>
        </p:nvSpPr>
        <p:spPr/>
        <p:txBody>
          <a:bodyPr/>
          <a:lstStyle/>
          <a:p>
            <a:r>
              <a:rPr lang="zh-CN" altLang="en-US" b="1" dirty="0" smtClean="0">
                <a:ea typeface="黑体" panose="02010609060101010101" pitchFamily="49" charset="-122"/>
              </a:rPr>
              <a:t>三、有关熵的一些说明（续）</a:t>
            </a:r>
            <a:endParaRPr lang="zh-CN" altLang="en-US" b="1" dirty="0" smtClean="0">
              <a:ea typeface="黑体" panose="02010609060101010101" pitchFamily="49" charset="-122"/>
            </a:endParaRPr>
          </a:p>
        </p:txBody>
      </p:sp>
      <p:sp>
        <p:nvSpPr>
          <p:cNvPr id="23555" name="矩形 36250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 name="矩形 495617"/>
          <p:cNvSpPr>
            <a:spLocks noChangeArrowheads="1"/>
          </p:cNvSpPr>
          <p:nvPr/>
        </p:nvSpPr>
        <p:spPr bwMode="auto">
          <a:xfrm>
            <a:off x="914400" y="1600200"/>
            <a:ext cx="7391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aseline="-25000">
                <a:solidFill>
                  <a:schemeClr val="tx1"/>
                </a:solidFill>
                <a:latin typeface="Arial" panose="020B0604020202020204" pitchFamily="34" charset="0"/>
                <a:ea typeface="宋体" panose="02010600030101010101" pitchFamily="2" charset="-122"/>
              </a:defRPr>
            </a:lvl1pPr>
            <a:lvl2pPr>
              <a:defRPr sz="2400" baseline="-25000">
                <a:solidFill>
                  <a:schemeClr val="tx1"/>
                </a:solidFill>
                <a:latin typeface="Arial" panose="020B0604020202020204" pitchFamily="34" charset="0"/>
                <a:ea typeface="宋体" panose="02010600030101010101" pitchFamily="2" charset="-122"/>
              </a:defRPr>
            </a:lvl2pPr>
            <a:lvl3pPr>
              <a:defRPr sz="2400" baseline="-25000">
                <a:solidFill>
                  <a:schemeClr val="tx1"/>
                </a:solidFill>
                <a:latin typeface="Arial" panose="020B0604020202020204" pitchFamily="34" charset="0"/>
                <a:ea typeface="宋体" panose="02010600030101010101" pitchFamily="2" charset="-122"/>
              </a:defRPr>
            </a:lvl3pPr>
            <a:lvl4pPr>
              <a:defRPr sz="2400" baseline="-25000">
                <a:solidFill>
                  <a:schemeClr val="tx1"/>
                </a:solidFill>
                <a:latin typeface="Arial" panose="020B0604020202020204" pitchFamily="34" charset="0"/>
                <a:ea typeface="宋体" panose="02010600030101010101" pitchFamily="2" charset="-122"/>
              </a:defRPr>
            </a:lvl4pPr>
            <a:lvl5pPr>
              <a:defRPr sz="2400" baseline="-250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3600" b="1" baseline="0"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en-US" sz="3600" b="1" baseline="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baseline="0" dirty="0">
                <a:latin typeface="Times New Roman" panose="02020603050405020304" pitchFamily="18" charset="0"/>
                <a:ea typeface="黑体" panose="02010609060101010101" pitchFamily="49" charset="-122"/>
                <a:cs typeface="Times New Roman" panose="02020603050405020304" pitchFamily="18" charset="0"/>
              </a:rPr>
              <a:t>熵是什么？</a:t>
            </a:r>
            <a:r>
              <a:rPr lang="en-US" altLang="zh-CN" sz="3600" b="1" baseline="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baseline="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baseline="0"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3200" baseline="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矩形 495620"/>
          <p:cNvSpPr>
            <a:spLocks noChangeArrowheads="1"/>
          </p:cNvSpPr>
          <p:nvPr/>
        </p:nvSpPr>
        <p:spPr bwMode="auto">
          <a:xfrm>
            <a:off x="762000" y="2514600"/>
            <a:ext cx="51764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dirty="0" smtClean="0">
                <a:latin typeface="Times New Roman" panose="02020603050405020304" pitchFamily="18" charset="0"/>
                <a:cs typeface="Times New Roman" panose="02020603050405020304" pitchFamily="18" charset="0"/>
              </a:rPr>
              <a:t>(1)</a:t>
            </a:r>
            <a:r>
              <a:rPr lang="zh-CN" altLang="en-US" sz="3200" b="1" baseline="0" dirty="0" smtClean="0"/>
              <a:t>无法</a:t>
            </a:r>
            <a:r>
              <a:rPr lang="zh-CN" altLang="en-US" sz="3200" b="1" baseline="0" dirty="0"/>
              <a:t>感知，无法直接测量</a:t>
            </a:r>
            <a:endParaRPr lang="zh-CN" altLang="en-US" sz="3200" b="1" baseline="0" dirty="0"/>
          </a:p>
        </p:txBody>
      </p:sp>
      <p:sp>
        <p:nvSpPr>
          <p:cNvPr id="10" name="矩形 495621"/>
          <p:cNvSpPr>
            <a:spLocks noChangeArrowheads="1"/>
          </p:cNvSpPr>
          <p:nvPr/>
        </p:nvSpPr>
        <p:spPr bwMode="auto">
          <a:xfrm>
            <a:off x="765314" y="3300413"/>
            <a:ext cx="76258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dirty="0" smtClean="0">
                <a:latin typeface="Times New Roman" panose="02020603050405020304" pitchFamily="18" charset="0"/>
                <a:cs typeface="Times New Roman" panose="02020603050405020304" pitchFamily="18" charset="0"/>
              </a:rPr>
              <a:t>(2)</a:t>
            </a:r>
            <a:r>
              <a:rPr lang="zh-CN" altLang="en-US" sz="3200" b="1" baseline="0" dirty="0" smtClean="0"/>
              <a:t>形式上与其他状态参数的定义有所不同</a:t>
            </a:r>
            <a:endParaRPr lang="zh-CN" altLang="en-US" sz="3200" b="1" baseline="0" dirty="0"/>
          </a:p>
        </p:txBody>
      </p:sp>
      <p:graphicFrame>
        <p:nvGraphicFramePr>
          <p:cNvPr id="11" name="对象 495622"/>
          <p:cNvGraphicFramePr/>
          <p:nvPr/>
        </p:nvGraphicFramePr>
        <p:xfrm>
          <a:off x="1849021" y="3956283"/>
          <a:ext cx="2438400" cy="1146175"/>
        </p:xfrm>
        <a:graphic>
          <a:graphicData uri="http://schemas.openxmlformats.org/presentationml/2006/ole">
            <mc:AlternateContent xmlns:mc="http://schemas.openxmlformats.org/markup-compatibility/2006">
              <mc:Choice xmlns:v="urn:schemas-microsoft-com:vml" Requires="v">
                <p:oleObj spid="_x0000_s60491" name="" r:id="rId1" imgW="951865" imgH="444500" progId="Equation.DSMT4">
                  <p:embed/>
                </p:oleObj>
              </mc:Choice>
              <mc:Fallback>
                <p:oleObj name="" r:id="rId1" imgW="951865" imgH="444500" progId="Equation.DSMT4">
                  <p:embed/>
                  <p:pic>
                    <p:nvPicPr>
                      <p:cNvPr id="0" name="对象 49562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9021" y="3956283"/>
                        <a:ext cx="24384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对象 11"/>
          <p:cNvGraphicFramePr/>
          <p:nvPr/>
        </p:nvGraphicFramePr>
        <p:xfrm>
          <a:off x="5446713" y="4298990"/>
          <a:ext cx="2057400" cy="609600"/>
        </p:xfrm>
        <a:graphic>
          <a:graphicData uri="http://schemas.openxmlformats.org/presentationml/2006/ole">
            <mc:AlternateContent xmlns:mc="http://schemas.openxmlformats.org/markup-compatibility/2006">
              <mc:Choice xmlns:v="urn:schemas-microsoft-com:vml" Requires="v">
                <p:oleObj spid="_x0000_s60492" name="" r:id="rId3" imgW="673100" imgH="203200" progId="Equation.DSMT4">
                  <p:embed/>
                </p:oleObj>
              </mc:Choice>
              <mc:Fallback>
                <p:oleObj name="" r:id="rId3" imgW="673100" imgH="203200" progId="Equation.DSMT4">
                  <p:embed/>
                  <p:pic>
                    <p:nvPicPr>
                      <p:cNvPr id="0" name="对象 4956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6713" y="4298990"/>
                        <a:ext cx="2057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 name="矩形 12"/>
          <p:cNvSpPr>
            <a:spLocks noChangeArrowheads="1"/>
          </p:cNvSpPr>
          <p:nvPr/>
        </p:nvSpPr>
        <p:spPr bwMode="auto">
          <a:xfrm>
            <a:off x="308491" y="6119263"/>
            <a:ext cx="8343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t>熵是无序度的量度、丢失的信息、不确定度等</a:t>
            </a:r>
            <a:endParaRPr lang="zh-CN" altLang="en-US" sz="3200" b="1" baseline="0" dirty="0"/>
          </a:p>
        </p:txBody>
      </p:sp>
      <p:sp>
        <p:nvSpPr>
          <p:cNvPr id="14" name="矩形 495621"/>
          <p:cNvSpPr>
            <a:spLocks noChangeArrowheads="1"/>
          </p:cNvSpPr>
          <p:nvPr/>
        </p:nvSpPr>
        <p:spPr bwMode="auto">
          <a:xfrm>
            <a:off x="1481308" y="5301791"/>
            <a:ext cx="55194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smtClean="0"/>
              <a:t>玻尔兹曼提出熵的微观表达式</a:t>
            </a:r>
            <a:endParaRPr lang="zh-CN" altLang="en-US" sz="3200" b="1" baseline="0" dirty="0"/>
          </a:p>
        </p:txBody>
      </p:sp>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矩形 496641"/>
          <p:cNvSpPr>
            <a:spLocks noChangeArrowheads="1"/>
          </p:cNvSpPr>
          <p:nvPr/>
        </p:nvSpPr>
        <p:spPr bwMode="auto">
          <a:xfrm>
            <a:off x="483704" y="2107096"/>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baseline="0" dirty="0">
                <a:latin typeface="黑体" panose="02010609060101010101" pitchFamily="49" charset="-122"/>
                <a:ea typeface="黑体" panose="02010609060101010101" pitchFamily="49" charset="-122"/>
              </a:rPr>
              <a:t>6</a:t>
            </a:r>
            <a:r>
              <a:rPr lang="zh-CN" altLang="en-US" sz="4400" b="1" baseline="0" dirty="0">
                <a:latin typeface="黑体" panose="02010609060101010101" pitchFamily="49" charset="-122"/>
                <a:ea typeface="黑体" panose="02010609060101010101" pitchFamily="49" charset="-122"/>
              </a:rPr>
              <a:t>－</a:t>
            </a:r>
            <a:r>
              <a:rPr lang="en-US" altLang="zh-CN" sz="4400" b="1" baseline="0" dirty="0">
                <a:latin typeface="黑体" panose="02010609060101010101" pitchFamily="49" charset="-122"/>
                <a:ea typeface="黑体" panose="02010609060101010101" pitchFamily="49" charset="-122"/>
              </a:rPr>
              <a:t>2</a:t>
            </a:r>
            <a:r>
              <a:rPr lang="zh-CN" altLang="en-US" sz="4400" b="1" baseline="0" dirty="0">
                <a:latin typeface="黑体" panose="02010609060101010101" pitchFamily="49" charset="-122"/>
                <a:ea typeface="黑体" panose="02010609060101010101" pitchFamily="49" charset="-122"/>
              </a:rPr>
              <a:t>　热力学第二定律的数学表达式</a:t>
            </a:r>
            <a:endParaRPr lang="zh-CN" altLang="en-US" sz="4400" b="1" baseline="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96643"/>
          <p:cNvSpPr>
            <a:spLocks noChangeArrowheads="1"/>
          </p:cNvSpPr>
          <p:nvPr/>
        </p:nvSpPr>
        <p:spPr bwMode="auto">
          <a:xfrm>
            <a:off x="758687" y="1219200"/>
            <a:ext cx="73152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smtClean="0">
                <a:latin typeface="黑体" panose="02010609060101010101" pitchFamily="49" charset="-122"/>
                <a:ea typeface="黑体" panose="02010609060101010101" pitchFamily="49" charset="-122"/>
              </a:rPr>
              <a:t>在定义了状态参数熵之后，就可以用数学表达式来表示热力学第二定律了。它可</a:t>
            </a:r>
            <a:r>
              <a:rPr lang="zh-CN" altLang="en-US" sz="3200" b="1" baseline="0" dirty="0">
                <a:latin typeface="黑体" panose="02010609060101010101" pitchFamily="49" charset="-122"/>
                <a:ea typeface="黑体" panose="02010609060101010101" pitchFamily="49" charset="-122"/>
              </a:rPr>
              <a:t>分为四</a:t>
            </a:r>
            <a:r>
              <a:rPr lang="zh-CN" altLang="en-US" sz="3200" b="1" baseline="0" dirty="0" smtClean="0">
                <a:latin typeface="黑体" panose="02010609060101010101" pitchFamily="49" charset="-122"/>
                <a:ea typeface="黑体" panose="02010609060101010101" pitchFamily="49" charset="-122"/>
              </a:rPr>
              <a:t>种形式，</a:t>
            </a:r>
            <a:r>
              <a:rPr lang="zh-CN" altLang="en-US" sz="3200" b="1" baseline="0" dirty="0">
                <a:latin typeface="黑体" panose="02010609060101010101" pitchFamily="49" charset="-122"/>
                <a:ea typeface="黑体" panose="02010609060101010101" pitchFamily="49" charset="-122"/>
              </a:rPr>
              <a:t>本节介绍三种</a:t>
            </a:r>
            <a:r>
              <a:rPr lang="zh-CN" altLang="en-US" sz="3200" b="1" baseline="0" dirty="0" smtClean="0">
                <a:latin typeface="黑体" panose="02010609060101010101" pitchFamily="49" charset="-122"/>
                <a:ea typeface="黑体" panose="02010609060101010101" pitchFamily="49" charset="-122"/>
              </a:rPr>
              <a:t>，第四种（熵平衡方程）放在</a:t>
            </a:r>
            <a:r>
              <a:rPr lang="en-US" altLang="zh-CN" sz="3200" b="1" baseline="0" dirty="0">
                <a:latin typeface="黑体" panose="02010609060101010101" pitchFamily="49" charset="-122"/>
                <a:ea typeface="黑体" panose="02010609060101010101" pitchFamily="49" charset="-122"/>
              </a:rPr>
              <a:t>6-4</a:t>
            </a:r>
            <a:r>
              <a:rPr lang="zh-CN" altLang="en-US" sz="3200" b="1" baseline="0" dirty="0">
                <a:latin typeface="黑体" panose="02010609060101010101" pitchFamily="49" charset="-122"/>
                <a:ea typeface="黑体" panose="02010609060101010101" pitchFamily="49" charset="-122"/>
              </a:rPr>
              <a:t>节</a:t>
            </a:r>
            <a:r>
              <a:rPr lang="zh-CN" altLang="en-US" sz="3200" b="1" baseline="0" dirty="0" smtClean="0">
                <a:latin typeface="黑体" panose="02010609060101010101" pitchFamily="49" charset="-122"/>
                <a:ea typeface="黑体" panose="02010609060101010101" pitchFamily="49" charset="-122"/>
              </a:rPr>
              <a:t>介绍。</a:t>
            </a:r>
            <a:endParaRPr lang="zh-CN" altLang="en-US" sz="3200" b="1" baseline="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497665"/>
          <p:cNvSpPr>
            <a:spLocks noGrp="1" noChangeArrowheads="1"/>
          </p:cNvSpPr>
          <p:nvPr>
            <p:ph type="title"/>
          </p:nvPr>
        </p:nvSpPr>
        <p:spPr>
          <a:xfrm>
            <a:off x="334962" y="260350"/>
            <a:ext cx="8603627" cy="1325563"/>
          </a:xfrm>
        </p:spPr>
        <p:txBody>
          <a:bodyPr/>
          <a:lstStyle/>
          <a:p>
            <a:pPr algn="l"/>
            <a:r>
              <a:rPr lang="zh-CN" altLang="en-US" sz="3600" b="1" dirty="0" smtClean="0">
                <a:latin typeface="黑体" panose="02010609060101010101" pitchFamily="49" charset="-122"/>
                <a:ea typeface="黑体" panose="02010609060101010101" pitchFamily="49" charset="-122"/>
              </a:rPr>
              <a:t>第一种：</a:t>
            </a:r>
            <a:r>
              <a:rPr lang="zh-CN" altLang="en-US" sz="3600" b="1" dirty="0" smtClean="0">
                <a:solidFill>
                  <a:srgbClr val="FF0000"/>
                </a:solidFill>
                <a:latin typeface="黑体" panose="02010609060101010101" pitchFamily="49" charset="-122"/>
                <a:ea typeface="黑体" panose="02010609060101010101" pitchFamily="49" charset="-122"/>
              </a:rPr>
              <a:t>循环</a:t>
            </a:r>
            <a:r>
              <a:rPr lang="zh-CN" altLang="en-US" sz="3600" b="1" dirty="0" smtClean="0">
                <a:latin typeface="黑体" panose="02010609060101010101" pitchFamily="49" charset="-122"/>
                <a:ea typeface="黑体" panose="02010609060101010101" pitchFamily="49" charset="-122"/>
              </a:rPr>
              <a:t>过程的热力学第二定律数学表达式</a:t>
            </a:r>
            <a:r>
              <a:rPr lang="zh-CN" altLang="en-US" sz="4000" dirty="0" smtClean="0">
                <a:latin typeface="黑体" panose="02010609060101010101" pitchFamily="49" charset="-122"/>
                <a:ea typeface="黑体" panose="02010609060101010101" pitchFamily="49" charset="-122"/>
              </a:rPr>
              <a:t> </a:t>
            </a:r>
            <a:endParaRPr lang="zh-CN" altLang="en-US" sz="4000" dirty="0" smtClean="0">
              <a:latin typeface="黑体" panose="02010609060101010101" pitchFamily="49" charset="-122"/>
              <a:ea typeface="黑体" panose="02010609060101010101" pitchFamily="49" charset="-122"/>
            </a:endParaRPr>
          </a:p>
        </p:txBody>
      </p:sp>
      <p:sp>
        <p:nvSpPr>
          <p:cNvPr id="30724" name="矩形 497670"/>
          <p:cNvSpPr>
            <a:spLocks noChangeArrowheads="1"/>
          </p:cNvSpPr>
          <p:nvPr/>
        </p:nvSpPr>
        <p:spPr bwMode="auto">
          <a:xfrm>
            <a:off x="4343400" y="1981200"/>
            <a:ext cx="331046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baseline="0" dirty="0" smtClean="0">
                <a:latin typeface="Times New Roman" panose="02020603050405020304" pitchFamily="18" charset="0"/>
                <a:ea typeface="黑体" panose="02010609060101010101" pitchFamily="49" charset="-122"/>
                <a:cs typeface="Times New Roman" panose="02020603050405020304" pitchFamily="18" charset="0"/>
              </a:rPr>
              <a:t>内不可逆“</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&lt;</a:t>
            </a:r>
            <a:r>
              <a:rPr lang="zh-CN" altLang="en-US" sz="3200" b="1" baseline="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3200" b="1" baseline="0" dirty="0" smtClean="0">
                <a:latin typeface="Times New Roman" panose="02020603050405020304" pitchFamily="18" charset="0"/>
                <a:ea typeface="黑体" panose="02010609060101010101" pitchFamily="49" charset="-122"/>
                <a:cs typeface="Times New Roman" panose="02020603050405020304" pitchFamily="18" charset="0"/>
              </a:rPr>
              <a:t>内可逆“</a:t>
            </a:r>
            <a:r>
              <a:rPr lang="en-US" altLang="zh-CN" sz="3200" b="1" baseline="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baseline="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7" name="矩形 497673"/>
          <p:cNvSpPr>
            <a:spLocks noChangeArrowheads="1"/>
          </p:cNvSpPr>
          <p:nvPr/>
        </p:nvSpPr>
        <p:spPr bwMode="auto">
          <a:xfrm>
            <a:off x="4343400" y="3429000"/>
            <a:ext cx="26564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smtClean="0">
                <a:latin typeface="黑体" panose="02010609060101010101" pitchFamily="49" charset="-122"/>
                <a:ea typeface="黑体" panose="02010609060101010101" pitchFamily="49" charset="-122"/>
              </a:rPr>
              <a:t>循环无法实现</a:t>
            </a:r>
            <a:endParaRPr lang="zh-CN" altLang="en-US" sz="3200" b="1" baseline="0" dirty="0">
              <a:latin typeface="黑体" panose="02010609060101010101" pitchFamily="49" charset="-122"/>
              <a:ea typeface="黑体" panose="02010609060101010101" pitchFamily="49" charset="-122"/>
            </a:endParaRPr>
          </a:p>
        </p:txBody>
      </p:sp>
      <p:sp>
        <p:nvSpPr>
          <p:cNvPr id="30728" name="矩形 497674"/>
          <p:cNvSpPr>
            <a:spLocks noChangeArrowheads="1"/>
          </p:cNvSpPr>
          <p:nvPr/>
        </p:nvSpPr>
        <p:spPr bwMode="auto">
          <a:xfrm>
            <a:off x="137663" y="4753659"/>
            <a:ext cx="880092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buFont typeface="Arial" panose="020B0604020202020204" pitchFamily="34" charset="0"/>
              <a:buChar char="•"/>
            </a:pPr>
            <a:r>
              <a:rPr lang="zh-CN" altLang="en-US" sz="3200" b="1" dirty="0" smtClean="0">
                <a:latin typeface="黑体" panose="02010609060101010101" pitchFamily="49" charset="-122"/>
                <a:ea typeface="黑体" panose="02010609060101010101" pitchFamily="49" charset="-122"/>
              </a:rPr>
              <a:t>此</a:t>
            </a:r>
            <a:r>
              <a:rPr lang="zh-CN" altLang="en-US" sz="3200" b="1" baseline="0" dirty="0" smtClean="0">
                <a:latin typeface="黑体" panose="02010609060101010101" pitchFamily="49" charset="-122"/>
                <a:ea typeface="黑体" panose="02010609060101010101" pitchFamily="49" charset="-122"/>
              </a:rPr>
              <a:t>式为</a:t>
            </a:r>
            <a:r>
              <a:rPr lang="zh-CN" altLang="en-US" sz="3200" b="1" dirty="0" smtClean="0">
                <a:solidFill>
                  <a:srgbClr val="FF0000"/>
                </a:solidFill>
                <a:latin typeface="黑体" panose="02010609060101010101" pitchFamily="49" charset="-122"/>
                <a:ea typeface="黑体" panose="02010609060101010101" pitchFamily="49" charset="-122"/>
              </a:rPr>
              <a:t>循环过程</a:t>
            </a:r>
            <a:r>
              <a:rPr lang="zh-CN" altLang="en-US" sz="3200" b="1" dirty="0">
                <a:solidFill>
                  <a:srgbClr val="FF0000"/>
                </a:solidFill>
                <a:latin typeface="黑体" panose="02010609060101010101" pitchFamily="49" charset="-122"/>
                <a:ea typeface="黑体" panose="02010609060101010101" pitchFamily="49" charset="-122"/>
              </a:rPr>
              <a:t>能</a:t>
            </a:r>
            <a:r>
              <a:rPr lang="zh-CN" altLang="en-US" sz="3200" b="1" baseline="0" dirty="0">
                <a:solidFill>
                  <a:srgbClr val="FF0000"/>
                </a:solidFill>
                <a:latin typeface="黑体" panose="02010609060101010101" pitchFamily="49" charset="-122"/>
                <a:ea typeface="黑体" panose="02010609060101010101" pitchFamily="49" charset="-122"/>
              </a:rPr>
              <a:t>否实现</a:t>
            </a:r>
            <a:r>
              <a:rPr lang="zh-CN" altLang="en-US" sz="3200" b="1" baseline="0" dirty="0">
                <a:latin typeface="黑体" panose="02010609060101010101" pitchFamily="49" charset="-122"/>
                <a:ea typeface="黑体" panose="02010609060101010101" pitchFamily="49" charset="-122"/>
              </a:rPr>
              <a:t>的一般性</a:t>
            </a:r>
            <a:r>
              <a:rPr lang="zh-CN" altLang="en-US" sz="3200" b="1" baseline="0" dirty="0" smtClean="0">
                <a:latin typeface="黑体" panose="02010609060101010101" pitchFamily="49" charset="-122"/>
                <a:ea typeface="黑体" panose="02010609060101010101" pitchFamily="49" charset="-122"/>
              </a:rPr>
              <a:t>判据</a:t>
            </a:r>
            <a:endParaRPr lang="en-US" altLang="zh-CN" sz="3200" b="1" baseline="0"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δ</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Q</a:t>
            </a:r>
            <a:r>
              <a:rPr lang="zh-CN" altLang="en-US" sz="3200" b="1" dirty="0" smtClean="0">
                <a:latin typeface="黑体" panose="02010609060101010101" pitchFamily="49" charset="-122"/>
                <a:ea typeface="黑体" panose="02010609060101010101" pitchFamily="49" charset="-122"/>
              </a:rPr>
              <a:t>的正</a:t>
            </a:r>
            <a:r>
              <a:rPr lang="zh-CN" altLang="en-US" sz="3200" b="1" dirty="0">
                <a:latin typeface="黑体" panose="02010609060101010101" pitchFamily="49" charset="-122"/>
                <a:ea typeface="黑体" panose="02010609060101010101" pitchFamily="49" charset="-122"/>
              </a:rPr>
              <a:t>负号</a:t>
            </a:r>
            <a:r>
              <a:rPr lang="zh-CN" altLang="en-US" sz="3200" b="1" dirty="0" smtClean="0">
                <a:latin typeface="黑体" panose="02010609060101010101" pitchFamily="49" charset="-122"/>
                <a:ea typeface="黑体" panose="02010609060101010101" pitchFamily="49" charset="-122"/>
              </a:rPr>
              <a:t>以循环中的</a:t>
            </a:r>
            <a:r>
              <a:rPr lang="zh-CN" altLang="en-US" sz="3200" b="1" dirty="0" smtClean="0">
                <a:solidFill>
                  <a:srgbClr val="FF0000"/>
                </a:solidFill>
                <a:latin typeface="黑体" panose="02010609060101010101" pitchFamily="49" charset="-122"/>
                <a:ea typeface="黑体" panose="02010609060101010101" pitchFamily="49" charset="-122"/>
              </a:rPr>
              <a:t>工质</a:t>
            </a:r>
            <a:r>
              <a:rPr lang="zh-CN" altLang="en-US" sz="3200" b="1" dirty="0" smtClean="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而非热源</a:t>
            </a:r>
            <a:r>
              <a:rPr lang="zh-CN" altLang="en-US" sz="3200" b="1" dirty="0" smtClean="0">
                <a:latin typeface="黑体" panose="02010609060101010101" pitchFamily="49" charset="-122"/>
                <a:ea typeface="黑体" panose="02010609060101010101" pitchFamily="49" charset="-122"/>
              </a:rPr>
              <a:t>）</a:t>
            </a:r>
            <a:r>
              <a:rPr lang="zh-CN" altLang="en-US" sz="3200" b="1" dirty="0" smtClean="0">
                <a:solidFill>
                  <a:srgbClr val="FF0000"/>
                </a:solidFill>
                <a:latin typeface="黑体" panose="02010609060101010101" pitchFamily="49" charset="-122"/>
                <a:ea typeface="黑体" panose="02010609060101010101" pitchFamily="49" charset="-122"/>
              </a:rPr>
              <a:t>作为主体</a:t>
            </a:r>
            <a:r>
              <a:rPr lang="zh-CN" altLang="en-US" sz="3200" b="1" dirty="0" smtClean="0">
                <a:latin typeface="黑体" panose="02010609060101010101" pitchFamily="49" charset="-122"/>
                <a:ea typeface="黑体" panose="02010609060101010101" pitchFamily="49" charset="-122"/>
              </a:rPr>
              <a:t>来确定，工质吸热</a:t>
            </a:r>
            <a:r>
              <a:rPr lang="zh-CN" altLang="en-US" sz="3200" b="1" dirty="0">
                <a:latin typeface="黑体" panose="02010609060101010101" pitchFamily="49" charset="-122"/>
                <a:ea typeface="黑体" panose="02010609060101010101" pitchFamily="49" charset="-122"/>
              </a:rPr>
              <a:t>为</a:t>
            </a:r>
            <a:r>
              <a:rPr lang="zh-CN" altLang="en-US" sz="3200" b="1" dirty="0" smtClean="0">
                <a:latin typeface="黑体" panose="02010609060101010101" pitchFamily="49" charset="-122"/>
                <a:ea typeface="黑体" panose="02010609060101010101" pitchFamily="49" charset="-122"/>
              </a:rPr>
              <a:t>正，放热为负</a:t>
            </a:r>
            <a:endParaRPr lang="zh-CN" altLang="en-US" sz="3200" dirty="0">
              <a:latin typeface="黑体" panose="02010609060101010101" pitchFamily="49" charset="-122"/>
              <a:ea typeface="黑体" panose="02010609060101010101" pitchFamily="49" charset="-122"/>
            </a:endParaRPr>
          </a:p>
        </p:txBody>
      </p:sp>
      <p:sp>
        <p:nvSpPr>
          <p:cNvPr id="30729" name="矩形 497675"/>
          <p:cNvSpPr>
            <a:spLocks noChangeArrowheads="1"/>
          </p:cNvSpPr>
          <p:nvPr/>
        </p:nvSpPr>
        <p:spPr bwMode="auto">
          <a:xfrm>
            <a:off x="334963" y="5538489"/>
            <a:ext cx="8305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smtClean="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p:txBody>
      </p:sp>
      <p:sp>
        <p:nvSpPr>
          <p:cNvPr id="30730" name="矩形 497676"/>
          <p:cNvSpPr>
            <a:spLocks noChangeArrowheads="1"/>
          </p:cNvSpPr>
          <p:nvPr/>
        </p:nvSpPr>
        <p:spPr bwMode="auto">
          <a:xfrm>
            <a:off x="2057399" y="1676400"/>
            <a:ext cx="5596468" cy="2667000"/>
          </a:xfrm>
          <a:prstGeom prst="rect">
            <a:avLst/>
          </a:prstGeom>
          <a:noFill/>
          <a:ln w="3175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01755" y="1961344"/>
            <a:ext cx="1597290" cy="1030313"/>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1755" y="3179806"/>
            <a:ext cx="1524132" cy="975445"/>
          </a:xfrm>
          <a:prstGeom prst="rect">
            <a:avLst/>
          </a:prstGeom>
        </p:spPr>
      </p:pic>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5" name="对象 368641"/>
          <p:cNvGraphicFramePr/>
          <p:nvPr/>
        </p:nvGraphicFramePr>
        <p:xfrm>
          <a:off x="4856922" y="2227262"/>
          <a:ext cx="3124200" cy="2303463"/>
        </p:xfrm>
        <a:graphic>
          <a:graphicData uri="http://schemas.openxmlformats.org/presentationml/2006/ole">
            <mc:AlternateContent xmlns:mc="http://schemas.openxmlformats.org/markup-compatibility/2006">
              <mc:Choice xmlns:v="urn:schemas-microsoft-com:vml" Requires="v">
                <p:oleObj spid="_x0000_s64604" name="" r:id="rId1" imgW="4676775" imgH="3448050" progId="Paint.Picture">
                  <p:embed/>
                </p:oleObj>
              </mc:Choice>
              <mc:Fallback>
                <p:oleObj name="" r:id="rId1" imgW="4676775" imgH="3448050" progId="Paint.Picture">
                  <p:embed/>
                  <p:pic>
                    <p:nvPicPr>
                      <p:cNvPr id="0" name="对象 36864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6922" y="2227262"/>
                        <a:ext cx="312420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68644" name="对象 368643"/>
          <p:cNvGraphicFramePr/>
          <p:nvPr/>
        </p:nvGraphicFramePr>
        <p:xfrm>
          <a:off x="976313" y="4967288"/>
          <a:ext cx="3459162" cy="933450"/>
        </p:xfrm>
        <a:graphic>
          <a:graphicData uri="http://schemas.openxmlformats.org/presentationml/2006/ole">
            <mc:AlternateContent xmlns:mc="http://schemas.openxmlformats.org/markup-compatibility/2006">
              <mc:Choice xmlns:v="urn:schemas-microsoft-com:vml" Requires="v">
                <p:oleObj spid="_x0000_s64605" name="Equation" r:id="rId3" imgW="34442400" imgH="10363200" progId="Equation.DSMT4">
                  <p:embed/>
                </p:oleObj>
              </mc:Choice>
              <mc:Fallback>
                <p:oleObj name="Equation" r:id="rId3" imgW="34442400" imgH="10363200" progId="Equation.DSMT4">
                  <p:embed/>
                  <p:pic>
                    <p:nvPicPr>
                      <p:cNvPr id="0" name="对象 368643"/>
                      <p:cNvPicPr>
                        <a:picLocks noChangeArrowheads="1"/>
                      </p:cNvPicPr>
                      <p:nvPr/>
                    </p:nvPicPr>
                    <p:blipFill>
                      <a:blip r:embed="rId4"/>
                      <a:srcRect/>
                      <a:stretch>
                        <a:fillRect/>
                      </a:stretch>
                    </p:blipFill>
                    <p:spPr bwMode="auto">
                      <a:xfrm>
                        <a:off x="976313" y="4967288"/>
                        <a:ext cx="345916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45" name="文本框 368644"/>
          <p:cNvSpPr txBox="1"/>
          <p:nvPr/>
        </p:nvSpPr>
        <p:spPr>
          <a:xfrm>
            <a:off x="381000" y="1454150"/>
            <a:ext cx="9144000" cy="488950"/>
          </a:xfrm>
          <a:prstGeom prst="rect">
            <a:avLst/>
          </a:prstGeom>
          <a:noFill/>
          <a:ln w="9525">
            <a:noFill/>
          </a:ln>
        </p:spPr>
        <p:txBody>
          <a:bodyPr>
            <a:spAutoFit/>
          </a:bodyPr>
          <a:lstStyle/>
          <a:p>
            <a:pPr>
              <a:spcBef>
                <a:spcPct val="50000"/>
              </a:spcBef>
            </a:pPr>
            <a:r>
              <a:rPr lang="zh-CN" altLang="en-US" sz="2600" b="1" baseline="0" noProof="1" smtClean="0">
                <a:latin typeface="Times New Roman" panose="02020603050405020304" pitchFamily="18" charset="0"/>
                <a:ea typeface="黑体" panose="02010609060101010101" pitchFamily="49" charset="-122"/>
                <a:cs typeface="Times New Roman" panose="02020603050405020304" pitchFamily="18" charset="0"/>
              </a:rPr>
              <a:t>对于图中不可逆循环</a:t>
            </a:r>
            <a:r>
              <a:rPr lang="en-US" altLang="zh-CN" sz="2600" b="1" baseline="0" noProof="1" smtClean="0">
                <a:latin typeface="Times New Roman" panose="02020603050405020304" pitchFamily="18" charset="0"/>
                <a:ea typeface="黑体" panose="02010609060101010101" pitchFamily="49" charset="-122"/>
                <a:cs typeface="Times New Roman" panose="02020603050405020304" pitchFamily="18" charset="0"/>
              </a:rPr>
              <a:t>1A2B1(</a:t>
            </a:r>
            <a:r>
              <a:rPr lang="zh-CN" altLang="en-US" sz="2600" b="1" baseline="0" noProof="1" smtClean="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2600" b="1" baseline="0" noProof="1" smtClean="0">
                <a:latin typeface="Times New Roman" panose="02020603050405020304" pitchFamily="18" charset="0"/>
                <a:ea typeface="黑体" panose="02010609060101010101" pitchFamily="49" charset="-122"/>
                <a:cs typeface="Times New Roman" panose="02020603050405020304" pitchFamily="18" charset="0"/>
              </a:rPr>
              <a:t>1A2</a:t>
            </a:r>
            <a:r>
              <a:rPr lang="zh-CN" altLang="en-US" sz="2600" b="1" baseline="0" noProof="1" smtClean="0">
                <a:latin typeface="Times New Roman" panose="02020603050405020304" pitchFamily="18" charset="0"/>
                <a:ea typeface="黑体" panose="02010609060101010101" pitchFamily="49" charset="-122"/>
                <a:cs typeface="Times New Roman" panose="02020603050405020304" pitchFamily="18" charset="0"/>
              </a:rPr>
              <a:t>不可逆，</a:t>
            </a:r>
            <a:r>
              <a:rPr lang="en-US" altLang="zh-CN" sz="2600" b="1" baseline="0" noProof="1" smtClean="0">
                <a:latin typeface="Times New Roman" panose="02020603050405020304" pitchFamily="18" charset="0"/>
                <a:ea typeface="黑体" panose="02010609060101010101" pitchFamily="49" charset="-122"/>
                <a:cs typeface="Times New Roman" panose="02020603050405020304" pitchFamily="18" charset="0"/>
              </a:rPr>
              <a:t>1B2</a:t>
            </a:r>
            <a:r>
              <a:rPr lang="zh-CN" altLang="en-US" sz="2600" b="1" baseline="0" noProof="1" smtClean="0">
                <a:latin typeface="Times New Roman" panose="02020603050405020304" pitchFamily="18" charset="0"/>
                <a:ea typeface="黑体" panose="02010609060101010101" pitchFamily="49" charset="-122"/>
                <a:cs typeface="Times New Roman" panose="02020603050405020304" pitchFamily="18" charset="0"/>
              </a:rPr>
              <a:t>可逆</a:t>
            </a:r>
            <a:r>
              <a:rPr lang="en-US" altLang="zh-CN" sz="2600" b="1" baseline="0" noProof="1"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600" b="1" baseline="0" noProof="1"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600" b="1" baseline="0" noProof="1">
              <a:effectLst>
                <a:outerShdw blurRad="38100" dist="38100" dir="2700000">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8647" name="任意多边形 368646"/>
          <p:cNvSpPr>
            <a:spLocks noChangeArrowheads="1"/>
          </p:cNvSpPr>
          <p:nvPr/>
        </p:nvSpPr>
        <p:spPr bwMode="auto">
          <a:xfrm>
            <a:off x="304800" y="5272088"/>
            <a:ext cx="533400" cy="3048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rgbClr val="000000"/>
              </a:gs>
              <a:gs pos="50000">
                <a:schemeClr val="tx2"/>
              </a:gs>
              <a:gs pos="100000">
                <a:srgbClr val="000000"/>
              </a:gs>
            </a:gsLst>
            <a:lin ang="5400000" scaled="1"/>
          </a:gradFill>
          <a:ln w="9525">
            <a:solidFill>
              <a:srgbClr val="FF3300"/>
            </a:solidFill>
            <a:miter lim="800000"/>
          </a:ln>
        </p:spPr>
        <p:txBody>
          <a:bodyPr/>
          <a:lstStyle/>
          <a:p>
            <a:endParaRPr lang="zh-CN" altLang="en-US"/>
          </a:p>
        </p:txBody>
      </p:sp>
      <p:sp>
        <p:nvSpPr>
          <p:cNvPr id="368648" name="左大括号 368647"/>
          <p:cNvSpPr/>
          <p:nvPr/>
        </p:nvSpPr>
        <p:spPr bwMode="auto">
          <a:xfrm>
            <a:off x="4572000" y="4814888"/>
            <a:ext cx="76200" cy="1219200"/>
          </a:xfrm>
          <a:prstGeom prst="leftBrace">
            <a:avLst>
              <a:gd name="adj1" fmla="val 133037"/>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649" name="文本框 368648"/>
          <p:cNvSpPr txBox="1">
            <a:spLocks noChangeArrowheads="1"/>
          </p:cNvSpPr>
          <p:nvPr/>
        </p:nvSpPr>
        <p:spPr bwMode="auto">
          <a:xfrm>
            <a:off x="4724400" y="4738688"/>
            <a:ext cx="3886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baseline="0" dirty="0" smtClean="0">
                <a:latin typeface="Tahoma" panose="020B0604030504040204" pitchFamily="34" charset="0"/>
              </a:rPr>
              <a:t>＝</a:t>
            </a:r>
            <a:r>
              <a:rPr lang="zh-CN" altLang="en-US" sz="2400" b="1" baseline="0" dirty="0" smtClean="0">
                <a:latin typeface="Times New Roman" panose="02020603050405020304" pitchFamily="18" charset="0"/>
              </a:rPr>
              <a:t>”</a:t>
            </a:r>
            <a:r>
              <a:rPr lang="zh-CN" altLang="en-US" sz="2400" b="1" baseline="0" dirty="0">
                <a:latin typeface="Tahoma" panose="020B0604030504040204" pitchFamily="34" charset="0"/>
              </a:rPr>
              <a:t>　</a:t>
            </a:r>
            <a:r>
              <a:rPr lang="zh-CN" altLang="en-US" sz="2400" b="1" baseline="0" dirty="0">
                <a:latin typeface="+mj-lt"/>
                <a:ea typeface="楷体_GB2312" pitchFamily="49" charset="-122"/>
              </a:rPr>
              <a:t>对应于可逆过程</a:t>
            </a:r>
            <a:endParaRPr lang="zh-CN" altLang="en-US" sz="2400" b="1" baseline="0" dirty="0">
              <a:latin typeface="+mj-lt"/>
              <a:ea typeface="楷体_GB2312" pitchFamily="49" charset="-122"/>
            </a:endParaRPr>
          </a:p>
        </p:txBody>
      </p:sp>
      <p:sp>
        <p:nvSpPr>
          <p:cNvPr id="368650" name="文本框 368649"/>
          <p:cNvSpPr txBox="1">
            <a:spLocks noChangeArrowheads="1"/>
          </p:cNvSpPr>
          <p:nvPr/>
        </p:nvSpPr>
        <p:spPr bwMode="auto">
          <a:xfrm>
            <a:off x="4724400" y="5500688"/>
            <a:ext cx="4191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baseline="0" dirty="0" smtClean="0">
                <a:latin typeface="Tahoma" panose="020B0604030504040204" pitchFamily="34" charset="0"/>
              </a:rPr>
              <a:t>＞</a:t>
            </a:r>
            <a:r>
              <a:rPr lang="zh-CN" altLang="en-US" sz="2400" b="1" baseline="0" dirty="0" smtClean="0">
                <a:latin typeface="Times New Roman" panose="02020603050405020304" pitchFamily="18" charset="0"/>
              </a:rPr>
              <a:t>”</a:t>
            </a:r>
            <a:r>
              <a:rPr lang="zh-CN" altLang="en-US" sz="2400" b="1" baseline="0" dirty="0">
                <a:latin typeface="Tahoma" panose="020B0604030504040204" pitchFamily="34" charset="0"/>
              </a:rPr>
              <a:t>　</a:t>
            </a:r>
            <a:r>
              <a:rPr lang="zh-CN" altLang="en-US" sz="2400" b="1" baseline="0" dirty="0">
                <a:latin typeface="Tahoma" panose="020B0604030504040204" pitchFamily="34" charset="0"/>
                <a:ea typeface="楷体_GB2312" pitchFamily="49" charset="-122"/>
              </a:rPr>
              <a:t>对应于不可逆过程</a:t>
            </a:r>
            <a:endParaRPr lang="zh-CN" altLang="en-US" sz="2400" b="1" baseline="0" dirty="0">
              <a:latin typeface="Tahoma" panose="020B0604030504040204" pitchFamily="34" charset="0"/>
              <a:ea typeface="楷体_GB2312" pitchFamily="49" charset="-122"/>
            </a:endParaRPr>
          </a:p>
        </p:txBody>
      </p:sp>
      <p:sp>
        <p:nvSpPr>
          <p:cNvPr id="368651" name="文本框 368650"/>
          <p:cNvSpPr txBox="1"/>
          <p:nvPr/>
        </p:nvSpPr>
        <p:spPr>
          <a:xfrm>
            <a:off x="381000" y="6110288"/>
            <a:ext cx="8458200" cy="519112"/>
          </a:xfrm>
          <a:prstGeom prst="rect">
            <a:avLst/>
          </a:prstGeom>
          <a:noFill/>
          <a:ln w="9525">
            <a:noFill/>
          </a:ln>
        </p:spPr>
        <p:txBody>
          <a:bodyPr>
            <a:spAutoFit/>
          </a:bodyPr>
          <a:lstStyle/>
          <a:p>
            <a:pPr>
              <a:spcBef>
                <a:spcPct val="50000"/>
              </a:spcBef>
            </a:pPr>
            <a:r>
              <a:rPr lang="zh-CN" altLang="en-US" sz="2800" b="1" baseline="0" noProof="1">
                <a:latin typeface="Times New Roman" panose="02020603050405020304" pitchFamily="18" charset="0"/>
              </a:rPr>
              <a:t>　　</a:t>
            </a:r>
            <a:r>
              <a:rPr lang="zh-CN" altLang="en-US" sz="2800" b="1" baseline="0" noProof="1">
                <a:latin typeface="黑体" panose="02010609060101010101" pitchFamily="49" charset="-122"/>
                <a:ea typeface="黑体" panose="02010609060101010101" pitchFamily="49" charset="-122"/>
              </a:rPr>
              <a:t>此式为</a:t>
            </a:r>
            <a:r>
              <a:rPr lang="zh-CN" altLang="en-US" sz="2800" b="1" baseline="0" noProof="1">
                <a:solidFill>
                  <a:srgbClr val="FF0000"/>
                </a:solidFill>
                <a:latin typeface="黑体" panose="02010609060101010101" pitchFamily="49" charset="-122"/>
                <a:ea typeface="黑体" panose="02010609060101010101" pitchFamily="49" charset="-122"/>
              </a:rPr>
              <a:t>任意过程能否进行</a:t>
            </a:r>
            <a:r>
              <a:rPr lang="zh-CN" altLang="en-US" sz="2800" b="1" baseline="0" noProof="1">
                <a:latin typeface="黑体" panose="02010609060101010101" pitchFamily="49" charset="-122"/>
                <a:ea typeface="黑体" panose="02010609060101010101" pitchFamily="49" charset="-122"/>
              </a:rPr>
              <a:t>的一般性判据</a:t>
            </a:r>
            <a:endParaRPr lang="zh-CN" altLang="en-US" sz="2800" b="1" baseline="0" noProof="1">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31754" name="矩形 368651"/>
          <p:cNvSpPr>
            <a:spLocks noChangeArrowheads="1"/>
          </p:cNvSpPr>
          <p:nvPr/>
        </p:nvSpPr>
        <p:spPr bwMode="auto">
          <a:xfrm>
            <a:off x="381000" y="152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baseline="0" dirty="0">
                <a:latin typeface="黑体" panose="02010609060101010101" pitchFamily="49" charset="-122"/>
                <a:ea typeface="黑体" panose="02010609060101010101" pitchFamily="49" charset="-122"/>
              </a:rPr>
              <a:t>第二种：</a:t>
            </a:r>
            <a:r>
              <a:rPr lang="zh-CN" altLang="en-US" sz="3600" b="1" baseline="0" dirty="0">
                <a:solidFill>
                  <a:srgbClr val="FF0000"/>
                </a:solidFill>
                <a:latin typeface="黑体" panose="02010609060101010101" pitchFamily="49" charset="-122"/>
                <a:ea typeface="黑体" panose="02010609060101010101" pitchFamily="49" charset="-122"/>
              </a:rPr>
              <a:t>任意过程</a:t>
            </a:r>
            <a:r>
              <a:rPr lang="zh-CN" altLang="en-US" sz="3600" b="1" baseline="0" dirty="0">
                <a:latin typeface="黑体" panose="02010609060101010101" pitchFamily="49" charset="-122"/>
                <a:ea typeface="黑体" panose="02010609060101010101" pitchFamily="49" charset="-122"/>
              </a:rPr>
              <a:t>的热力学第二定律数学表达式</a:t>
            </a:r>
            <a:r>
              <a:rPr lang="zh-CN" altLang="en-US" sz="4000" baseline="0" dirty="0">
                <a:latin typeface="黑体" panose="02010609060101010101" pitchFamily="49" charset="-122"/>
                <a:ea typeface="黑体" panose="02010609060101010101" pitchFamily="49" charset="-122"/>
              </a:rPr>
              <a:t> </a:t>
            </a:r>
            <a:endParaRPr lang="zh-CN" altLang="en-US" sz="4000" baseline="0" dirty="0">
              <a:latin typeface="黑体" panose="02010609060101010101" pitchFamily="49" charset="-122"/>
              <a:ea typeface="黑体" panose="02010609060101010101" pitchFamily="49" charset="-122"/>
            </a:endParaRPr>
          </a:p>
        </p:txBody>
      </p:sp>
      <p:sp>
        <p:nvSpPr>
          <p:cNvPr id="368653" name="矩形 368652"/>
          <p:cNvSpPr>
            <a:spLocks noChangeArrowheads="1"/>
          </p:cNvSpPr>
          <p:nvPr/>
        </p:nvSpPr>
        <p:spPr bwMode="auto">
          <a:xfrm>
            <a:off x="914400" y="4724400"/>
            <a:ext cx="7696200" cy="1371600"/>
          </a:xfrm>
          <a:prstGeom prst="rect">
            <a:avLst/>
          </a:prstGeom>
          <a:noFill/>
          <a:ln w="3175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4041" y="1924960"/>
            <a:ext cx="3407959" cy="2694666"/>
          </a:xfrm>
          <a:prstGeom prst="rect">
            <a:avLst/>
          </a:prstGeom>
        </p:spPr>
      </p:pic>
    </p:spTree>
    <p:custDataLst>
      <p:tags r:id="rId6"/>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47"/>
                                        </p:tgtEl>
                                        <p:attrNameLst>
                                          <p:attrName>style.visibility</p:attrName>
                                        </p:attrNameLst>
                                      </p:cBhvr>
                                      <p:to>
                                        <p:strVal val="visible"/>
                                      </p:to>
                                    </p:set>
                                    <p:animEffect transition="in" filter="blinds(horizontal)">
                                      <p:cBhvr>
                                        <p:cTn id="7" dur="500"/>
                                        <p:tgtEl>
                                          <p:spTgt spid="368647"/>
                                        </p:tgtEl>
                                      </p:cBhvr>
                                    </p:animEffect>
                                  </p:childTnLst>
                                </p:cTn>
                              </p:par>
                              <p:par>
                                <p:cTn id="8" presetID="3" presetClass="entr" presetSubtype="10" fill="hold" nodeType="withEffect">
                                  <p:stCondLst>
                                    <p:cond delay="0"/>
                                  </p:stCondLst>
                                  <p:childTnLst>
                                    <p:set>
                                      <p:cBhvr>
                                        <p:cTn id="9" dur="1" fill="hold">
                                          <p:stCondLst>
                                            <p:cond delay="0"/>
                                          </p:stCondLst>
                                        </p:cTn>
                                        <p:tgtEl>
                                          <p:spTgt spid="368644"/>
                                        </p:tgtEl>
                                        <p:attrNameLst>
                                          <p:attrName>style.visibility</p:attrName>
                                        </p:attrNameLst>
                                      </p:cBhvr>
                                      <p:to>
                                        <p:strVal val="visible"/>
                                      </p:to>
                                    </p:set>
                                    <p:animEffect transition="in" filter="blinds(horizontal)">
                                      <p:cBhvr>
                                        <p:cTn id="10" dur="500"/>
                                        <p:tgtEl>
                                          <p:spTgt spid="36864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68648"/>
                                        </p:tgtEl>
                                        <p:attrNameLst>
                                          <p:attrName>style.visibility</p:attrName>
                                        </p:attrNameLst>
                                      </p:cBhvr>
                                      <p:to>
                                        <p:strVal val="visible"/>
                                      </p:to>
                                    </p:set>
                                    <p:animEffect transition="in" filter="blinds(horizontal)">
                                      <p:cBhvr>
                                        <p:cTn id="15" dur="500"/>
                                        <p:tgtEl>
                                          <p:spTgt spid="36864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68649"/>
                                        </p:tgtEl>
                                        <p:attrNameLst>
                                          <p:attrName>style.visibility</p:attrName>
                                        </p:attrNameLst>
                                      </p:cBhvr>
                                      <p:to>
                                        <p:strVal val="visible"/>
                                      </p:to>
                                    </p:set>
                                    <p:animEffect transition="in" filter="blinds(horizontal)">
                                      <p:cBhvr>
                                        <p:cTn id="18" dur="500"/>
                                        <p:tgtEl>
                                          <p:spTgt spid="36864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68650"/>
                                        </p:tgtEl>
                                        <p:attrNameLst>
                                          <p:attrName>style.visibility</p:attrName>
                                        </p:attrNameLst>
                                      </p:cBhvr>
                                      <p:to>
                                        <p:strVal val="visible"/>
                                      </p:to>
                                    </p:set>
                                    <p:animEffect transition="in" filter="blinds(horizontal)">
                                      <p:cBhvr>
                                        <p:cTn id="21" dur="500"/>
                                        <p:tgtEl>
                                          <p:spTgt spid="368650"/>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68653"/>
                                        </p:tgtEl>
                                        <p:attrNameLst>
                                          <p:attrName>style.visibility</p:attrName>
                                        </p:attrNameLst>
                                      </p:cBhvr>
                                      <p:to>
                                        <p:strVal val="visible"/>
                                      </p:to>
                                    </p:set>
                                    <p:animEffect transition="in" filter="blinds(horizontal)">
                                      <p:cBhvr>
                                        <p:cTn id="26" dur="500"/>
                                        <p:tgtEl>
                                          <p:spTgt spid="36865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68651"/>
                                        </p:tgtEl>
                                        <p:attrNameLst>
                                          <p:attrName>style.visibility</p:attrName>
                                        </p:attrNameLst>
                                      </p:cBhvr>
                                      <p:to>
                                        <p:strVal val="visible"/>
                                      </p:to>
                                    </p:set>
                                    <p:animEffect transition="in" filter="blinds(horizontal)">
                                      <p:cBhvr>
                                        <p:cTn id="31" dur="500"/>
                                        <p:tgtEl>
                                          <p:spTgt spid="368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9" grpId="0"/>
      <p:bldP spid="368650" grpId="0"/>
      <p:bldP spid="3686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69" name="对象 499715"/>
          <p:cNvGraphicFramePr/>
          <p:nvPr/>
        </p:nvGraphicFramePr>
        <p:xfrm>
          <a:off x="2681288" y="304800"/>
          <a:ext cx="3460750" cy="933450"/>
        </p:xfrm>
        <a:graphic>
          <a:graphicData uri="http://schemas.openxmlformats.org/presentationml/2006/ole">
            <mc:AlternateContent xmlns:mc="http://schemas.openxmlformats.org/markup-compatibility/2006">
              <mc:Choice xmlns:v="urn:schemas-microsoft-com:vml" Requires="v">
                <p:oleObj spid="_x0000_s65704" name="Equation" r:id="rId1" imgW="34442400" imgH="10363200" progId="Equation.DSMT4">
                  <p:embed/>
                </p:oleObj>
              </mc:Choice>
              <mc:Fallback>
                <p:oleObj name="Equation" r:id="rId1" imgW="34442400" imgH="10363200" progId="Equation.DSMT4">
                  <p:embed/>
                  <p:pic>
                    <p:nvPicPr>
                      <p:cNvPr id="0" name="对象 499715"/>
                      <p:cNvPicPr>
                        <a:picLocks noChangeArrowheads="1"/>
                      </p:cNvPicPr>
                      <p:nvPr/>
                    </p:nvPicPr>
                    <p:blipFill>
                      <a:blip r:embed="rId2"/>
                      <a:srcRect/>
                      <a:stretch>
                        <a:fillRect/>
                      </a:stretch>
                    </p:blipFill>
                    <p:spPr bwMode="auto">
                      <a:xfrm>
                        <a:off x="2681288" y="304800"/>
                        <a:ext cx="34607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0" name="矩形 499717"/>
          <p:cNvSpPr>
            <a:spLocks noChangeArrowheads="1"/>
          </p:cNvSpPr>
          <p:nvPr/>
        </p:nvSpPr>
        <p:spPr bwMode="auto">
          <a:xfrm>
            <a:off x="697653" y="1266032"/>
            <a:ext cx="34480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对于可逆绝热过程</a:t>
            </a:r>
            <a:endParaRPr lang="zh-CN" altLang="en-US" sz="3200" b="1" baseline="0" dirty="0">
              <a:latin typeface="黑体" panose="02010609060101010101" pitchFamily="49" charset="-122"/>
              <a:ea typeface="黑体" panose="02010609060101010101" pitchFamily="49" charset="-122"/>
            </a:endParaRPr>
          </a:p>
        </p:txBody>
      </p:sp>
      <p:graphicFrame>
        <p:nvGraphicFramePr>
          <p:cNvPr id="32771" name="对象 499718"/>
          <p:cNvGraphicFramePr>
            <a:graphicFrameLocks noChangeAspect="1"/>
          </p:cNvGraphicFramePr>
          <p:nvPr/>
        </p:nvGraphicFramePr>
        <p:xfrm>
          <a:off x="4375542" y="1336755"/>
          <a:ext cx="1474470" cy="491490"/>
        </p:xfrm>
        <a:graphic>
          <a:graphicData uri="http://schemas.openxmlformats.org/presentationml/2006/ole">
            <mc:AlternateContent xmlns:mc="http://schemas.openxmlformats.org/markup-compatibility/2006">
              <mc:Choice xmlns:v="urn:schemas-microsoft-com:vml" Requires="v">
                <p:oleObj spid="_x0000_s65705" name="" r:id="rId3" imgW="457200" imgH="152400" progId="Equation.DSMT4">
                  <p:embed/>
                </p:oleObj>
              </mc:Choice>
              <mc:Fallback>
                <p:oleObj name="" r:id="rId3" imgW="457200" imgH="152400" progId="Equation.DSMT4">
                  <p:embed/>
                  <p:pic>
                    <p:nvPicPr>
                      <p:cNvPr id="0" name="对象 4997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5542" y="1336755"/>
                        <a:ext cx="147447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2" name="矩形 499719"/>
          <p:cNvSpPr>
            <a:spLocks noChangeArrowheads="1"/>
          </p:cNvSpPr>
          <p:nvPr/>
        </p:nvSpPr>
        <p:spPr bwMode="auto">
          <a:xfrm>
            <a:off x="590264" y="2064241"/>
            <a:ext cx="38924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对于不可逆绝热过程</a:t>
            </a:r>
            <a:endParaRPr lang="zh-CN" altLang="en-US" sz="3200" b="1" baseline="0" dirty="0">
              <a:latin typeface="黑体" panose="02010609060101010101" pitchFamily="49" charset="-122"/>
              <a:ea typeface="黑体" panose="02010609060101010101" pitchFamily="49" charset="-122"/>
            </a:endParaRPr>
          </a:p>
        </p:txBody>
      </p:sp>
      <p:graphicFrame>
        <p:nvGraphicFramePr>
          <p:cNvPr id="32773" name="对象 499720"/>
          <p:cNvGraphicFramePr>
            <a:graphicFrameLocks noChangeAspect="1"/>
          </p:cNvGraphicFramePr>
          <p:nvPr/>
        </p:nvGraphicFramePr>
        <p:xfrm>
          <a:off x="6970533" y="2157526"/>
          <a:ext cx="982980" cy="491490"/>
        </p:xfrm>
        <a:graphic>
          <a:graphicData uri="http://schemas.openxmlformats.org/presentationml/2006/ole">
            <mc:AlternateContent xmlns:mc="http://schemas.openxmlformats.org/markup-compatibility/2006">
              <mc:Choice xmlns:v="urn:schemas-microsoft-com:vml" Requires="v">
                <p:oleObj spid="_x0000_s65706" name="" r:id="rId5" imgW="304800" imgH="152400" progId="Equation.DSMT4">
                  <p:embed/>
                </p:oleObj>
              </mc:Choice>
              <mc:Fallback>
                <p:oleObj name="" r:id="rId5" imgW="304800" imgH="152400" progId="Equation.DSMT4">
                  <p:embed/>
                  <p:pic>
                    <p:nvPicPr>
                      <p:cNvPr id="0" name="对象 49972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0533" y="2157526"/>
                        <a:ext cx="98298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9723" name="矩形 499722"/>
          <p:cNvSpPr>
            <a:spLocks noChangeArrowheads="1"/>
          </p:cNvSpPr>
          <p:nvPr/>
        </p:nvSpPr>
        <p:spPr bwMode="auto">
          <a:xfrm>
            <a:off x="390525" y="2870200"/>
            <a:ext cx="829906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000" b="1" baseline="0" dirty="0" smtClean="0">
                <a:latin typeface="Times New Roman" panose="02020603050405020304" pitchFamily="18" charset="0"/>
                <a:ea typeface="黑体" panose="02010609060101010101" pitchFamily="49" charset="-122"/>
                <a:cs typeface="Times New Roman" panose="02020603050405020304" pitchFamily="18" charset="0"/>
              </a:rPr>
              <a:t>练习：系统分别经可逆和不可逆绝热过程到达</a:t>
            </a:r>
            <a:r>
              <a:rPr lang="en-US" altLang="zh-CN" sz="3000" b="1" i="1" baseline="0"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30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endParaRPr lang="en-US" altLang="zh-CN" sz="3000" b="1" baseline="-25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右箭头 4"/>
          <p:cNvSpPr/>
          <p:nvPr/>
        </p:nvSpPr>
        <p:spPr>
          <a:xfrm>
            <a:off x="6142038" y="1503680"/>
            <a:ext cx="604202" cy="155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499718"/>
          <p:cNvGraphicFramePr>
            <a:graphicFrameLocks noChangeAspect="1"/>
          </p:cNvGraphicFramePr>
          <p:nvPr/>
        </p:nvGraphicFramePr>
        <p:xfrm>
          <a:off x="7038266" y="1353344"/>
          <a:ext cx="981075" cy="492125"/>
        </p:xfrm>
        <a:graphic>
          <a:graphicData uri="http://schemas.openxmlformats.org/presentationml/2006/ole">
            <mc:AlternateContent xmlns:mc="http://schemas.openxmlformats.org/markup-compatibility/2006">
              <mc:Choice xmlns:v="urn:schemas-microsoft-com:vml" Requires="v">
                <p:oleObj spid="_x0000_s65707" name="Equation" r:id="rId7" imgW="10972800" imgH="5486400" progId="Equation.DSMT4">
                  <p:embed/>
                </p:oleObj>
              </mc:Choice>
              <mc:Fallback>
                <p:oleObj name="Equation" r:id="rId7" imgW="10972800" imgH="5486400" progId="Equation.DSMT4">
                  <p:embed/>
                  <p:pic>
                    <p:nvPicPr>
                      <p:cNvPr id="0" name="对象 499718"/>
                      <p:cNvPicPr>
                        <a:picLocks noChangeArrowheads="1"/>
                      </p:cNvPicPr>
                      <p:nvPr/>
                    </p:nvPicPr>
                    <p:blipFill>
                      <a:blip r:embed="rId8"/>
                      <a:srcRect/>
                      <a:stretch>
                        <a:fillRect/>
                      </a:stretch>
                    </p:blipFill>
                    <p:spPr bwMode="auto">
                      <a:xfrm>
                        <a:off x="7038266" y="1353344"/>
                        <a:ext cx="9810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右箭头 15"/>
          <p:cNvSpPr/>
          <p:nvPr/>
        </p:nvSpPr>
        <p:spPr>
          <a:xfrm>
            <a:off x="6190429" y="2325377"/>
            <a:ext cx="604202" cy="155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499718"/>
          <p:cNvGraphicFramePr>
            <a:graphicFrameLocks noChangeAspect="1"/>
          </p:cNvGraphicFramePr>
          <p:nvPr/>
        </p:nvGraphicFramePr>
        <p:xfrm>
          <a:off x="4540058" y="2157526"/>
          <a:ext cx="1474470" cy="491490"/>
        </p:xfrm>
        <a:graphic>
          <a:graphicData uri="http://schemas.openxmlformats.org/presentationml/2006/ole">
            <mc:AlternateContent xmlns:mc="http://schemas.openxmlformats.org/markup-compatibility/2006">
              <mc:Choice xmlns:v="urn:schemas-microsoft-com:vml" Requires="v">
                <p:oleObj spid="_x0000_s65708" name="Equation" r:id="rId9" imgW="16459200" imgH="5486400" progId="Equation.DSMT4">
                  <p:embed/>
                </p:oleObj>
              </mc:Choice>
              <mc:Fallback>
                <p:oleObj name="Equation" r:id="rId9" imgW="16459200" imgH="5486400" progId="Equation.DSMT4">
                  <p:embed/>
                  <p:pic>
                    <p:nvPicPr>
                      <p:cNvPr id="0" name="对象 499718"/>
                      <p:cNvPicPr>
                        <a:picLocks noChangeArrowheads="1"/>
                      </p:cNvPicPr>
                      <p:nvPr/>
                    </p:nvPicPr>
                    <p:blipFill>
                      <a:blip r:embed="rId10"/>
                      <a:srcRect/>
                      <a:stretch>
                        <a:fillRect/>
                      </a:stretch>
                    </p:blipFill>
                    <p:spPr bwMode="auto">
                      <a:xfrm>
                        <a:off x="4540058" y="2157526"/>
                        <a:ext cx="147447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88544" y="3460465"/>
            <a:ext cx="3057159" cy="3031415"/>
          </a:xfrm>
          <a:prstGeom prst="rect">
            <a:avLst/>
          </a:prstGeom>
        </p:spPr>
      </p:pic>
      <p:pic>
        <p:nvPicPr>
          <p:cNvPr id="3" name="图片 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01070" y="3314926"/>
            <a:ext cx="3200677" cy="3170195"/>
          </a:xfrm>
          <a:prstGeom prst="rect">
            <a:avLst/>
          </a:prstGeom>
        </p:spPr>
      </p:pic>
    </p:spTree>
    <p:custDataLst>
      <p:tags r:id="rId1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9723"/>
                                        </p:tgtEl>
                                        <p:attrNameLst>
                                          <p:attrName>style.visibility</p:attrName>
                                        </p:attrNameLst>
                                      </p:cBhvr>
                                      <p:to>
                                        <p:strVal val="visible"/>
                                      </p:to>
                                    </p:set>
                                    <p:animEffect transition="in" filter="blinds(horizontal)">
                                      <p:cBhvr>
                                        <p:cTn id="7" dur="500"/>
                                        <p:tgtEl>
                                          <p:spTgt spid="499723"/>
                                        </p:tgtEl>
                                      </p:cBhvr>
                                    </p:animEffect>
                                  </p:childTnLst>
                                </p:cTn>
                              </p:par>
                              <p:par>
                                <p:cTn id="8" presetID="1"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3" name="对象 369666"/>
          <p:cNvGraphicFramePr>
            <a:graphicFrameLocks noChangeAspect="1"/>
          </p:cNvGraphicFramePr>
          <p:nvPr/>
        </p:nvGraphicFramePr>
        <p:xfrm>
          <a:off x="1316038" y="1752600"/>
          <a:ext cx="1676160" cy="1371600"/>
        </p:xfrm>
        <a:graphic>
          <a:graphicData uri="http://schemas.openxmlformats.org/presentationml/2006/ole">
            <mc:AlternateContent xmlns:mc="http://schemas.openxmlformats.org/markup-compatibility/2006">
              <mc:Choice xmlns:v="urn:schemas-microsoft-com:vml" Requires="v">
                <p:oleObj spid="_x0000_s66620" name="Equation" r:id="rId1" imgW="13411200" imgH="10972800" progId="Equation.DSMT4">
                  <p:embed/>
                </p:oleObj>
              </mc:Choice>
              <mc:Fallback>
                <p:oleObj name="Equation" r:id="rId1" imgW="13411200" imgH="10972800" progId="Equation.DSMT4">
                  <p:embed/>
                  <p:pic>
                    <p:nvPicPr>
                      <p:cNvPr id="0" name="对象 369666"/>
                      <p:cNvPicPr>
                        <a:picLocks noChangeArrowheads="1"/>
                      </p:cNvPicPr>
                      <p:nvPr/>
                    </p:nvPicPr>
                    <p:blipFill>
                      <a:blip r:embed="rId2"/>
                      <a:srcRect/>
                      <a:stretch>
                        <a:fillRect/>
                      </a:stretch>
                    </p:blipFill>
                    <p:spPr bwMode="auto">
                      <a:xfrm>
                        <a:off x="1316038" y="1752600"/>
                        <a:ext cx="167616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794" name="文本框 369667"/>
          <p:cNvSpPr txBox="1">
            <a:spLocks noChangeArrowheads="1"/>
          </p:cNvSpPr>
          <p:nvPr/>
        </p:nvSpPr>
        <p:spPr bwMode="auto">
          <a:xfrm>
            <a:off x="609600" y="3657600"/>
            <a:ext cx="79248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200" b="1" baseline="0" dirty="0" smtClean="0">
                <a:latin typeface="黑体" panose="02010609060101010101" pitchFamily="49" charset="-122"/>
                <a:ea typeface="黑体" panose="02010609060101010101" pitchFamily="49" charset="-122"/>
              </a:rPr>
              <a:t>孤立系内部</a:t>
            </a:r>
            <a:r>
              <a:rPr lang="zh-CN" altLang="en-US" sz="3200" b="1" baseline="0" dirty="0">
                <a:latin typeface="黑体" panose="02010609060101010101" pitchFamily="49" charset="-122"/>
                <a:ea typeface="黑体" panose="02010609060101010101" pitchFamily="49" charset="-122"/>
              </a:rPr>
              <a:t>发生不可逆变化时，孤立系的熵增大，极限情况时（可逆），熵保持不变。</a:t>
            </a:r>
            <a:r>
              <a:rPr lang="zh-CN" altLang="en-US" sz="3200" b="1" baseline="0" dirty="0">
                <a:solidFill>
                  <a:srgbClr val="FF0000"/>
                </a:solidFill>
                <a:latin typeface="黑体" panose="02010609060101010101" pitchFamily="49" charset="-122"/>
                <a:ea typeface="黑体" panose="02010609060101010101" pitchFamily="49" charset="-122"/>
              </a:rPr>
              <a:t>使孤立系统总熵减小的过程是不可能发生的</a:t>
            </a:r>
            <a:r>
              <a:rPr lang="zh-CN" altLang="en-US" sz="3200" b="1" baseline="0" dirty="0">
                <a:latin typeface="黑体" panose="02010609060101010101" pitchFamily="49" charset="-122"/>
                <a:ea typeface="黑体" panose="02010609060101010101" pitchFamily="49" charset="-122"/>
              </a:rPr>
              <a:t>。这一结论称为</a:t>
            </a:r>
            <a:r>
              <a:rPr lang="zh-CN" altLang="en-US" sz="3200" b="1" baseline="0" dirty="0" smtClean="0">
                <a:latin typeface="黑体" panose="02010609060101010101" pitchFamily="49" charset="-122"/>
                <a:ea typeface="黑体" panose="02010609060101010101" pitchFamily="49" charset="-122"/>
              </a:rPr>
              <a:t>孤立系的</a:t>
            </a:r>
            <a:r>
              <a:rPr lang="zh-CN" altLang="en-US" sz="3200" b="1" baseline="0" dirty="0">
                <a:latin typeface="黑体" panose="02010609060101010101" pitchFamily="49" charset="-122"/>
                <a:ea typeface="黑体" panose="02010609060101010101" pitchFamily="49" charset="-122"/>
              </a:rPr>
              <a:t>熵增原理。</a:t>
            </a:r>
            <a:endParaRPr lang="zh-CN" altLang="en-US" sz="3200" b="1" baseline="0" dirty="0">
              <a:latin typeface="黑体" panose="02010609060101010101" pitchFamily="49" charset="-122"/>
              <a:ea typeface="黑体" panose="02010609060101010101" pitchFamily="49" charset="-122"/>
            </a:endParaRPr>
          </a:p>
        </p:txBody>
      </p:sp>
      <p:sp>
        <p:nvSpPr>
          <p:cNvPr id="33795" name="左大括号 369668"/>
          <p:cNvSpPr/>
          <p:nvPr/>
        </p:nvSpPr>
        <p:spPr bwMode="auto">
          <a:xfrm>
            <a:off x="3733800" y="1828800"/>
            <a:ext cx="76200" cy="1219200"/>
          </a:xfrm>
          <a:prstGeom prst="leftBrace">
            <a:avLst>
              <a:gd name="adj1" fmla="val 133037"/>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798" name="矩形 369671"/>
          <p:cNvSpPr>
            <a:spLocks noChangeArrowheads="1"/>
          </p:cNvSpPr>
          <p:nvPr/>
        </p:nvSpPr>
        <p:spPr bwMode="auto">
          <a:xfrm>
            <a:off x="381000" y="762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baseline="0" dirty="0">
                <a:latin typeface="黑体" panose="02010609060101010101" pitchFamily="49" charset="-122"/>
                <a:ea typeface="黑体" panose="02010609060101010101" pitchFamily="49" charset="-122"/>
              </a:rPr>
              <a:t>第三种：</a:t>
            </a:r>
            <a:r>
              <a:rPr lang="zh-CN" altLang="en-US" sz="3600" b="1" baseline="0" dirty="0" smtClean="0">
                <a:latin typeface="黑体" panose="02010609060101010101" pitchFamily="49" charset="-122"/>
                <a:ea typeface="黑体" panose="02010609060101010101" pitchFamily="49" charset="-122"/>
              </a:rPr>
              <a:t>孤立系熵增原理</a:t>
            </a:r>
            <a:endParaRPr lang="zh-CN" altLang="en-US" sz="3600" b="1" baseline="0" dirty="0">
              <a:latin typeface="黑体" panose="02010609060101010101" pitchFamily="49" charset="-122"/>
              <a:ea typeface="黑体" panose="02010609060101010101" pitchFamily="49" charset="-122"/>
            </a:endParaRPr>
          </a:p>
        </p:txBody>
      </p:sp>
      <p:sp>
        <p:nvSpPr>
          <p:cNvPr id="33799" name="矩形 369672"/>
          <p:cNvSpPr>
            <a:spLocks noChangeArrowheads="1"/>
          </p:cNvSpPr>
          <p:nvPr/>
        </p:nvSpPr>
        <p:spPr bwMode="auto">
          <a:xfrm>
            <a:off x="838200" y="1600200"/>
            <a:ext cx="7315200" cy="1798984"/>
          </a:xfrm>
          <a:prstGeom prst="rect">
            <a:avLst/>
          </a:prstGeom>
          <a:noFill/>
          <a:ln w="31750">
            <a:solidFill>
              <a:schemeClr val="folHlink"/>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endParaRPr lang="en-US" altLang="zh-CN" dirty="0"/>
          </a:p>
        </p:txBody>
      </p:sp>
      <p:sp>
        <p:nvSpPr>
          <p:cNvPr id="11" name="文本框 369669"/>
          <p:cNvSpPr txBox="1">
            <a:spLocks noChangeArrowheads="1"/>
          </p:cNvSpPr>
          <p:nvPr/>
        </p:nvSpPr>
        <p:spPr bwMode="auto">
          <a:xfrm>
            <a:off x="3886200" y="1752600"/>
            <a:ext cx="43481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smtClean="0">
                <a:latin typeface="Times New Roman" panose="02020603050405020304" pitchFamily="18" charset="0"/>
              </a:rPr>
              <a:t>“</a:t>
            </a:r>
            <a:r>
              <a:rPr lang="zh-CN" altLang="en-US" sz="2800" b="1" baseline="0" dirty="0" smtClean="0">
                <a:latin typeface="Tahoma" panose="020B0604030504040204" pitchFamily="34" charset="0"/>
              </a:rPr>
              <a:t>＝</a:t>
            </a:r>
            <a:r>
              <a:rPr lang="zh-CN" altLang="en-US" sz="2800" b="1" baseline="0" dirty="0" smtClean="0">
                <a:latin typeface="Times New Roman" panose="02020603050405020304" pitchFamily="18" charset="0"/>
              </a:rPr>
              <a:t>”</a:t>
            </a:r>
            <a:r>
              <a:rPr lang="zh-CN" altLang="en-US" sz="2800" b="1" baseline="0" dirty="0" smtClean="0">
                <a:latin typeface="Tahoma" panose="020B0604030504040204" pitchFamily="34" charset="0"/>
              </a:rPr>
              <a:t>对应</a:t>
            </a:r>
            <a:r>
              <a:rPr lang="zh-CN" altLang="en-US" sz="2800" b="1" baseline="0" dirty="0">
                <a:latin typeface="Tahoma" panose="020B0604030504040204" pitchFamily="34" charset="0"/>
              </a:rPr>
              <a:t>于可逆过程</a:t>
            </a:r>
            <a:endParaRPr lang="zh-CN" altLang="en-US" sz="2800" b="1" baseline="0" dirty="0">
              <a:latin typeface="Tahoma" panose="020B0604030504040204" pitchFamily="34" charset="0"/>
            </a:endParaRPr>
          </a:p>
        </p:txBody>
      </p:sp>
      <p:sp>
        <p:nvSpPr>
          <p:cNvPr id="12" name="文本框 369670"/>
          <p:cNvSpPr txBox="1">
            <a:spLocks noChangeArrowheads="1"/>
          </p:cNvSpPr>
          <p:nvPr/>
        </p:nvSpPr>
        <p:spPr bwMode="auto">
          <a:xfrm>
            <a:off x="3886200" y="2514600"/>
            <a:ext cx="45100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smtClean="0">
                <a:latin typeface="Times New Roman" panose="02020603050405020304" pitchFamily="18" charset="0"/>
              </a:rPr>
              <a:t>“</a:t>
            </a:r>
            <a:r>
              <a:rPr lang="zh-CN" altLang="en-US" sz="2800" b="1" baseline="0" dirty="0" smtClean="0">
                <a:latin typeface="Tahoma" panose="020B0604030504040204" pitchFamily="34" charset="0"/>
              </a:rPr>
              <a:t>＞</a:t>
            </a:r>
            <a:r>
              <a:rPr lang="zh-CN" altLang="en-US" sz="2800" b="1" baseline="0" dirty="0" smtClean="0">
                <a:latin typeface="Times New Roman" panose="02020603050405020304" pitchFamily="18" charset="0"/>
              </a:rPr>
              <a:t>”</a:t>
            </a:r>
            <a:r>
              <a:rPr lang="zh-CN" altLang="en-US" sz="2800" b="1" baseline="0" dirty="0" smtClean="0">
                <a:latin typeface="Tahoma" panose="020B0604030504040204" pitchFamily="34" charset="0"/>
              </a:rPr>
              <a:t>对应</a:t>
            </a:r>
            <a:r>
              <a:rPr lang="zh-CN" altLang="en-US" sz="2800" b="1" baseline="0" dirty="0">
                <a:latin typeface="Tahoma" panose="020B0604030504040204" pitchFamily="34" charset="0"/>
              </a:rPr>
              <a:t>于不可逆过程</a:t>
            </a:r>
            <a:endParaRPr lang="zh-CN" altLang="en-US" sz="2800" b="1" baseline="0" dirty="0">
              <a:latin typeface="Tahoma" panose="020B0604030504040204" pitchFamily="34" charset="0"/>
            </a:endParaRP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501763"/>
          <p:cNvSpPr>
            <a:spLocks noChangeArrowheads="1"/>
          </p:cNvSpPr>
          <p:nvPr/>
        </p:nvSpPr>
        <p:spPr bwMode="auto">
          <a:xfrm>
            <a:off x="457200" y="2428111"/>
            <a:ext cx="842645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由于任何系统总是能够与和它有质量交换和能量交换的外界一起归入一个孤立系统，所以上式也是热力学第二定律数学表达式的一种，可作为过程能否进行的一般性判据。 </a:t>
            </a:r>
            <a:endParaRPr lang="zh-CN" altLang="en-US" sz="3200" b="1" baseline="0" dirty="0">
              <a:latin typeface="黑体" panose="02010609060101010101" pitchFamily="49" charset="-122"/>
              <a:ea typeface="黑体" panose="02010609060101010101" pitchFamily="49" charset="-122"/>
            </a:endParaRPr>
          </a:p>
        </p:txBody>
      </p:sp>
      <p:graphicFrame>
        <p:nvGraphicFramePr>
          <p:cNvPr id="34818" name="对象 501764"/>
          <p:cNvGraphicFramePr/>
          <p:nvPr/>
        </p:nvGraphicFramePr>
        <p:xfrm>
          <a:off x="3148013" y="882650"/>
          <a:ext cx="2085975" cy="854075"/>
        </p:xfrm>
        <a:graphic>
          <a:graphicData uri="http://schemas.openxmlformats.org/presentationml/2006/ole">
            <mc:AlternateContent xmlns:mc="http://schemas.openxmlformats.org/markup-compatibility/2006">
              <mc:Choice xmlns:v="urn:schemas-microsoft-com:vml" Requires="v">
                <p:oleObj spid="_x0000_s67615" name="Equation" r:id="rId1" imgW="13411200" imgH="5486400" progId="Equation.DSMT4">
                  <p:embed/>
                </p:oleObj>
              </mc:Choice>
              <mc:Fallback>
                <p:oleObj name="Equation" r:id="rId1" imgW="13411200" imgH="5486400" progId="Equation.DSMT4">
                  <p:embed/>
                  <p:pic>
                    <p:nvPicPr>
                      <p:cNvPr id="0" name="对象 501764"/>
                      <p:cNvPicPr>
                        <a:picLocks noChangeArrowheads="1"/>
                      </p:cNvPicPr>
                      <p:nvPr/>
                    </p:nvPicPr>
                    <p:blipFill>
                      <a:blip r:embed="rId2"/>
                      <a:srcRect/>
                      <a:stretch>
                        <a:fillRect/>
                      </a:stretch>
                    </p:blipFill>
                    <p:spPr bwMode="auto">
                      <a:xfrm>
                        <a:off x="3148013" y="882650"/>
                        <a:ext cx="20859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文本占位符 370689"/>
          <p:cNvSpPr>
            <a:spLocks noGrp="1" noChangeArrowheads="1"/>
          </p:cNvSpPr>
          <p:nvPr>
            <p:ph idx="1"/>
          </p:nvPr>
        </p:nvSpPr>
        <p:spPr>
          <a:xfrm>
            <a:off x="530087" y="642731"/>
            <a:ext cx="7772400" cy="796925"/>
          </a:xfrm>
        </p:spPr>
        <p:txBody>
          <a:bodyPr>
            <a:normAutofit/>
          </a:bodyPr>
          <a:lstStyle/>
          <a:p>
            <a:pPr>
              <a:buFontTx/>
              <a:buNone/>
            </a:pPr>
            <a:r>
              <a:rPr lang="zh-CN" altLang="en-US" sz="3200" b="1" dirty="0" smtClean="0">
                <a:latin typeface="黑体" panose="02010609060101010101" pitchFamily="49" charset="-122"/>
                <a:ea typeface="黑体" panose="02010609060101010101" pitchFamily="49" charset="-122"/>
              </a:rPr>
              <a:t>需要强调：</a:t>
            </a:r>
            <a:r>
              <a:rPr lang="zh-CN" altLang="en-US" sz="3200" b="1" dirty="0" smtClean="0">
                <a:solidFill>
                  <a:srgbClr val="0000CC"/>
                </a:solidFill>
                <a:latin typeface="黑体" panose="02010609060101010101" pitchFamily="49" charset="-122"/>
                <a:ea typeface="黑体" panose="02010609060101010101" pitchFamily="49" charset="-122"/>
              </a:rPr>
              <a:t>熵增原理只适用于孤立系</a:t>
            </a:r>
            <a:r>
              <a:rPr lang="zh-CN" altLang="en-US" sz="3200" b="1" dirty="0" smtClean="0">
                <a:latin typeface="黑体" panose="02010609060101010101" pitchFamily="49" charset="-122"/>
                <a:ea typeface="黑体" panose="02010609060101010101" pitchFamily="49" charset="-122"/>
              </a:rPr>
              <a:t>。</a:t>
            </a:r>
            <a:endParaRPr lang="zh-CN" altLang="en-US" sz="3200" b="1" dirty="0" smtClean="0">
              <a:latin typeface="黑体" panose="02010609060101010101" pitchFamily="49" charset="-122"/>
              <a:ea typeface="黑体" panose="02010609060101010101" pitchFamily="49" charset="-122"/>
            </a:endParaRPr>
          </a:p>
        </p:txBody>
      </p:sp>
      <p:sp>
        <p:nvSpPr>
          <p:cNvPr id="370691" name="矩形 370690"/>
          <p:cNvSpPr>
            <a:spLocks noChangeArrowheads="1"/>
          </p:cNvSpPr>
          <p:nvPr/>
        </p:nvSpPr>
        <p:spPr bwMode="auto">
          <a:xfrm>
            <a:off x="911087" y="1633331"/>
            <a:ext cx="75438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folHlink"/>
              </a:buClr>
            </a:pPr>
            <a:r>
              <a:rPr lang="zh-CN" altLang="en-US" sz="2800" b="1" baseline="0" dirty="0" smtClean="0">
                <a:latin typeface="黑体" panose="02010609060101010101" pitchFamily="49" charset="-122"/>
                <a:ea typeface="黑体" panose="02010609060101010101" pitchFamily="49" charset="-122"/>
              </a:rPr>
              <a:t>对于</a:t>
            </a:r>
            <a:r>
              <a:rPr lang="zh-CN" altLang="en-US" sz="2800" b="1" baseline="0" dirty="0">
                <a:latin typeface="黑体" panose="02010609060101010101" pitchFamily="49" charset="-122"/>
                <a:ea typeface="黑体" panose="02010609060101010101" pitchFamily="49" charset="-122"/>
              </a:rPr>
              <a:t>非</a:t>
            </a:r>
            <a:r>
              <a:rPr lang="zh-CN" altLang="en-US" sz="2800" b="1" baseline="0" dirty="0" smtClean="0">
                <a:latin typeface="黑体" panose="02010609060101010101" pitchFamily="49" charset="-122"/>
                <a:ea typeface="黑体" panose="02010609060101010101" pitchFamily="49" charset="-122"/>
              </a:rPr>
              <a:t>孤立系，或者孤立系中</a:t>
            </a:r>
            <a:r>
              <a:rPr lang="zh-CN" altLang="en-US" sz="2800" b="1" baseline="0" dirty="0">
                <a:latin typeface="黑体" panose="02010609060101010101" pitchFamily="49" charset="-122"/>
                <a:ea typeface="黑体" panose="02010609060101010101" pitchFamily="49" charset="-122"/>
              </a:rPr>
              <a:t>的</a:t>
            </a:r>
            <a:r>
              <a:rPr lang="zh-CN" altLang="en-US" sz="2800" b="1" baseline="0" dirty="0" smtClean="0">
                <a:latin typeface="黑体" panose="02010609060101010101" pitchFamily="49" charset="-122"/>
                <a:ea typeface="黑体" panose="02010609060101010101" pitchFamily="49" charset="-122"/>
              </a:rPr>
              <a:t>某个</a:t>
            </a:r>
            <a:r>
              <a:rPr lang="zh-CN" altLang="en-US" sz="2800" b="1" dirty="0" smtClean="0">
                <a:latin typeface="黑体" panose="02010609060101010101" pitchFamily="49" charset="-122"/>
                <a:ea typeface="黑体" panose="02010609060101010101" pitchFamily="49" charset="-122"/>
              </a:rPr>
              <a:t>子系统</a:t>
            </a:r>
            <a:r>
              <a:rPr lang="zh-CN" altLang="en-US" sz="2800" b="1" baseline="0" dirty="0" smtClean="0">
                <a:latin typeface="黑体" panose="02010609060101010101" pitchFamily="49" charset="-122"/>
                <a:ea typeface="黑体" panose="02010609060101010101" pitchFamily="49" charset="-122"/>
              </a:rPr>
              <a:t>，</a:t>
            </a:r>
            <a:r>
              <a:rPr lang="zh-CN" altLang="en-US" sz="2800" b="1" baseline="0" dirty="0">
                <a:latin typeface="黑体" panose="02010609060101010101" pitchFamily="49" charset="-122"/>
                <a:ea typeface="黑体" panose="02010609060101010101" pitchFamily="49" charset="-122"/>
              </a:rPr>
              <a:t>它们</a:t>
            </a:r>
            <a:r>
              <a:rPr lang="zh-CN" altLang="en-US" sz="2800" b="1" baseline="0" dirty="0" smtClean="0">
                <a:latin typeface="黑体" panose="02010609060101010101" pitchFamily="49" charset="-122"/>
                <a:ea typeface="黑体" panose="02010609060101010101" pitchFamily="49" charset="-122"/>
              </a:rPr>
              <a:t>在热力过程中的熵可能</a:t>
            </a:r>
            <a:r>
              <a:rPr lang="zh-CN" altLang="en-US" sz="2800" b="1" baseline="0" dirty="0">
                <a:latin typeface="黑体" panose="02010609060101010101" pitchFamily="49" charset="-122"/>
                <a:ea typeface="黑体" panose="02010609060101010101" pitchFamily="49" charset="-122"/>
              </a:rPr>
              <a:t>增大，</a:t>
            </a:r>
            <a:r>
              <a:rPr lang="zh-CN" altLang="en-US" sz="2800" b="1" baseline="0" dirty="0" smtClean="0">
                <a:latin typeface="黑体" panose="02010609060101010101" pitchFamily="49" charset="-122"/>
                <a:ea typeface="黑体" panose="02010609060101010101" pitchFamily="49" charset="-122"/>
              </a:rPr>
              <a:t>可能减小，</a:t>
            </a:r>
            <a:r>
              <a:rPr lang="zh-CN" altLang="en-US" sz="2800" b="1" baseline="0" dirty="0">
                <a:latin typeface="黑体" panose="02010609060101010101" pitchFamily="49" charset="-122"/>
                <a:ea typeface="黑体" panose="02010609060101010101" pitchFamily="49" charset="-122"/>
              </a:rPr>
              <a:t>也</a:t>
            </a:r>
            <a:r>
              <a:rPr lang="zh-CN" altLang="en-US" sz="2800" b="1" baseline="0" dirty="0" smtClean="0">
                <a:latin typeface="黑体" panose="02010609060101010101" pitchFamily="49" charset="-122"/>
                <a:ea typeface="黑体" panose="02010609060101010101" pitchFamily="49" charset="-122"/>
              </a:rPr>
              <a:t>可能不变。</a:t>
            </a:r>
            <a:endParaRPr lang="zh-CN" altLang="en-US" b="1" baseline="0" dirty="0">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0691"/>
                                        </p:tgtEl>
                                        <p:attrNameLst>
                                          <p:attrName>style.visibility</p:attrName>
                                        </p:attrNameLst>
                                      </p:cBhvr>
                                      <p:to>
                                        <p:strVal val="visible"/>
                                      </p:to>
                                    </p:set>
                                    <p:animEffect transition="in" filter="blinds(horizontal)">
                                      <p:cBhvr>
                                        <p:cTn id="7" dur="500"/>
                                        <p:tgtEl>
                                          <p:spTgt spid="370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502785"/>
          <p:cNvSpPr>
            <a:spLocks noChangeArrowheads="1"/>
          </p:cNvSpPr>
          <p:nvPr/>
        </p:nvSpPr>
        <p:spPr bwMode="auto">
          <a:xfrm>
            <a:off x="377687" y="1759226"/>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baseline="0" dirty="0">
                <a:latin typeface="黑体" panose="02010609060101010101" pitchFamily="49" charset="-122"/>
                <a:ea typeface="黑体" panose="02010609060101010101" pitchFamily="49" charset="-122"/>
              </a:rPr>
              <a:t>6</a:t>
            </a:r>
            <a:r>
              <a:rPr lang="zh-CN" altLang="en-US" sz="4400" b="1" baseline="0" dirty="0">
                <a:latin typeface="黑体" panose="02010609060101010101" pitchFamily="49" charset="-122"/>
                <a:ea typeface="黑体" panose="02010609060101010101" pitchFamily="49" charset="-122"/>
              </a:rPr>
              <a:t>－</a:t>
            </a:r>
            <a:r>
              <a:rPr lang="en-US" altLang="zh-CN" sz="4400" b="1" baseline="0" dirty="0">
                <a:latin typeface="黑体" panose="02010609060101010101" pitchFamily="49" charset="-122"/>
                <a:ea typeface="黑体" panose="02010609060101010101" pitchFamily="49" charset="-122"/>
              </a:rPr>
              <a:t>3</a:t>
            </a:r>
            <a:r>
              <a:rPr lang="zh-CN" altLang="en-US" sz="4400" b="1" baseline="0" dirty="0">
                <a:latin typeface="黑体" panose="02010609060101010101" pitchFamily="49" charset="-122"/>
                <a:ea typeface="黑体" panose="02010609060101010101" pitchFamily="49" charset="-122"/>
              </a:rPr>
              <a:t>　熵变的计算</a:t>
            </a:r>
            <a:endParaRPr lang="zh-CN" altLang="en-US" sz="4400" b="1" baseline="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504835"/>
          <p:cNvSpPr>
            <a:spLocks noGrp="1" noChangeArrowheads="1"/>
          </p:cNvSpPr>
          <p:nvPr>
            <p:ph type="title"/>
          </p:nvPr>
        </p:nvSpPr>
        <p:spPr/>
        <p:txBody>
          <a:bodyPr>
            <a:normAutofit/>
          </a:bodyPr>
          <a:lstStyle/>
          <a:p>
            <a:r>
              <a:rPr lang="zh-CN" altLang="en-US" sz="3600" b="1" dirty="0" smtClean="0">
                <a:latin typeface="黑体" panose="02010609060101010101" pitchFamily="49" charset="-122"/>
                <a:ea typeface="黑体" panose="02010609060101010101" pitchFamily="49" charset="-122"/>
              </a:rPr>
              <a:t>一、绝对熵和相对熵</a:t>
            </a:r>
            <a:endParaRPr lang="zh-CN" altLang="en-US" sz="3600" b="1" dirty="0" smtClean="0">
              <a:latin typeface="黑体" panose="02010609060101010101" pitchFamily="49" charset="-122"/>
              <a:ea typeface="黑体" panose="02010609060101010101" pitchFamily="49" charset="-122"/>
            </a:endParaRPr>
          </a:p>
        </p:txBody>
      </p:sp>
      <p:sp>
        <p:nvSpPr>
          <p:cNvPr id="45058" name="文本占位符 504836"/>
          <p:cNvSpPr>
            <a:spLocks noGrp="1" noChangeArrowheads="1"/>
          </p:cNvSpPr>
          <p:nvPr>
            <p:ph idx="1"/>
          </p:nvPr>
        </p:nvSpPr>
        <p:spPr/>
        <p:txBody>
          <a:bodyPr>
            <a:normAutofit/>
          </a:bodyPr>
          <a:lstStyle/>
          <a:p>
            <a:pPr>
              <a:lnSpc>
                <a:spcPct val="100000"/>
              </a:lnSpc>
            </a:pPr>
            <a:r>
              <a:rPr lang="zh-CN" altLang="en-US" sz="2800" b="1" dirty="0" smtClean="0">
                <a:latin typeface="黑体" panose="02010609060101010101" pitchFamily="49" charset="-122"/>
                <a:ea typeface="黑体" panose="02010609060101010101" pitchFamily="49" charset="-122"/>
              </a:rPr>
              <a:t>系统的熵有绝对熵和相对熵之分</a:t>
            </a:r>
            <a:endParaRPr lang="zh-CN" altLang="en-US" sz="2800" b="1" dirty="0" smtClean="0">
              <a:latin typeface="黑体" panose="02010609060101010101" pitchFamily="49" charset="-122"/>
              <a:ea typeface="黑体" panose="02010609060101010101" pitchFamily="49" charset="-122"/>
            </a:endParaRPr>
          </a:p>
          <a:p>
            <a:pPr>
              <a:lnSpc>
                <a:spcPct val="100000"/>
              </a:lnSpc>
            </a:pPr>
            <a:r>
              <a:rPr lang="zh-CN" altLang="en-US" sz="2800" b="1" dirty="0" smtClean="0">
                <a:latin typeface="黑体" panose="02010609060101010101" pitchFamily="49" charset="-122"/>
                <a:ea typeface="黑体" panose="02010609060101010101" pitchFamily="49" charset="-122"/>
              </a:rPr>
              <a:t>根据热力学第三定律，在绝对零度（</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0K</a:t>
            </a:r>
            <a:r>
              <a:rPr lang="zh-CN" altLang="en-US" sz="2800" b="1" dirty="0" smtClean="0">
                <a:latin typeface="黑体" panose="02010609060101010101" pitchFamily="49" charset="-122"/>
                <a:ea typeface="黑体" panose="02010609060101010101" pitchFamily="49" charset="-122"/>
              </a:rPr>
              <a:t>）时，凝聚物体的熵等于零。以绝对零度为参考点（起点）的熵称为</a:t>
            </a:r>
            <a:r>
              <a:rPr lang="zh-CN" altLang="en-US" sz="2800" b="1" dirty="0" smtClean="0">
                <a:solidFill>
                  <a:srgbClr val="FF0000"/>
                </a:solidFill>
                <a:latin typeface="黑体" panose="02010609060101010101" pitchFamily="49" charset="-122"/>
                <a:ea typeface="黑体" panose="02010609060101010101" pitchFamily="49" charset="-122"/>
              </a:rPr>
              <a:t>绝对熵</a:t>
            </a:r>
            <a:endParaRPr lang="zh-CN" altLang="en-US" sz="2800" b="1" dirty="0" smtClean="0">
              <a:latin typeface="黑体" panose="02010609060101010101" pitchFamily="49" charset="-122"/>
              <a:ea typeface="黑体" panose="02010609060101010101" pitchFamily="49" charset="-122"/>
            </a:endParaRPr>
          </a:p>
          <a:p>
            <a:pPr>
              <a:lnSpc>
                <a:spcPct val="100000"/>
              </a:lnSpc>
            </a:pPr>
            <a:r>
              <a:rPr lang="zh-CN" altLang="en-US" sz="2800" b="1" dirty="0" smtClean="0">
                <a:latin typeface="黑体" panose="02010609060101010101" pitchFamily="49" charset="-122"/>
                <a:ea typeface="黑体" panose="02010609060101010101" pitchFamily="49" charset="-122"/>
              </a:rPr>
              <a:t>对于有化学反应的系统，物质的结构和成分会发生变化，因此若要计算反应前后熵的变化，则需要分别计算反应前后物质的绝对熵</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占位符 506884"/>
          <p:cNvSpPr>
            <a:spLocks noGrp="1" noChangeArrowheads="1"/>
          </p:cNvSpPr>
          <p:nvPr>
            <p:ph idx="1"/>
          </p:nvPr>
        </p:nvSpPr>
        <p:spPr>
          <a:xfrm>
            <a:off x="381000" y="1036638"/>
            <a:ext cx="8491330" cy="4983162"/>
          </a:xfrm>
        </p:spPr>
        <p:txBody>
          <a:bodyPr>
            <a:normAutofit/>
          </a:bodyPr>
          <a:lstStyle/>
          <a:p>
            <a:pPr>
              <a:lnSpc>
                <a:spcPct val="100000"/>
              </a:lnSpc>
            </a:pPr>
            <a:r>
              <a:rPr lang="zh-CN" altLang="en-US" sz="2800" b="1" dirty="0">
                <a:latin typeface="黑体" panose="02010609060101010101" pitchFamily="49" charset="-122"/>
                <a:ea typeface="黑体" panose="02010609060101010101" pitchFamily="49" charset="-122"/>
              </a:rPr>
              <a:t>对于无化学反应发生的简单可压缩系统，过程中熵的变化可采用</a:t>
            </a:r>
            <a:r>
              <a:rPr lang="zh-CN" altLang="en-US" sz="2800" b="1" dirty="0">
                <a:solidFill>
                  <a:srgbClr val="FF0000"/>
                </a:solidFill>
                <a:latin typeface="黑体" panose="02010609060101010101" pitchFamily="49" charset="-122"/>
                <a:ea typeface="黑体" panose="02010609060101010101" pitchFamily="49" charset="-122"/>
              </a:rPr>
              <a:t>相对熵</a:t>
            </a:r>
            <a:r>
              <a:rPr lang="zh-CN" altLang="en-US" sz="2800" b="1" dirty="0">
                <a:latin typeface="黑体" panose="02010609060101010101" pitchFamily="49" charset="-122"/>
                <a:ea typeface="黑体" panose="02010609060101010101" pitchFamily="49" charset="-122"/>
              </a:rPr>
              <a:t>，即人为选定任何状态作参考点（称为基准状态），规定系统处于该基准状态时的熵值为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latin typeface="黑体" panose="02010609060101010101" pitchFamily="49" charset="-122"/>
                <a:ea typeface="黑体" panose="02010609060101010101" pitchFamily="49" charset="-122"/>
              </a:rPr>
              <a:t>，由此得出的熵值称为</a:t>
            </a:r>
            <a:r>
              <a:rPr lang="zh-CN" altLang="en-US" sz="2800" b="1" dirty="0" smtClean="0">
                <a:latin typeface="黑体" panose="02010609060101010101" pitchFamily="49" charset="-122"/>
                <a:ea typeface="黑体" panose="02010609060101010101" pitchFamily="49" charset="-122"/>
              </a:rPr>
              <a:t>相对熵</a:t>
            </a:r>
            <a:endParaRPr lang="zh-CN" altLang="en-US" sz="2800" b="1" dirty="0">
              <a:latin typeface="黑体" panose="02010609060101010101" pitchFamily="49" charset="-122"/>
              <a:ea typeface="黑体" panose="02010609060101010101" pitchFamily="49" charset="-122"/>
            </a:endParaRPr>
          </a:p>
          <a:p>
            <a:pPr>
              <a:lnSpc>
                <a:spcPct val="100000"/>
              </a:lnSpc>
            </a:pPr>
            <a:r>
              <a:rPr lang="zh-CN" altLang="en-US" sz="2800" b="1" dirty="0">
                <a:latin typeface="黑体" panose="02010609060101010101" pitchFamily="49" charset="-122"/>
                <a:ea typeface="黑体" panose="02010609060101010101" pitchFamily="49" charset="-122"/>
              </a:rPr>
              <a:t>基准状态可以有多种选择，选择不同，系统相对熵的数值也不同，但是熵变值是相同的，它与基准状态的选择</a:t>
            </a:r>
            <a:r>
              <a:rPr lang="zh-CN" altLang="en-US" sz="2800" b="1" dirty="0" smtClean="0">
                <a:latin typeface="黑体" panose="02010609060101010101" pitchFamily="49" charset="-122"/>
                <a:ea typeface="黑体" panose="02010609060101010101" pitchFamily="49" charset="-122"/>
              </a:rPr>
              <a:t>无关</a:t>
            </a:r>
            <a:endParaRPr lang="zh-CN" altLang="en-US" sz="2800" b="1" dirty="0">
              <a:latin typeface="黑体" panose="02010609060101010101" pitchFamily="49" charset="-122"/>
              <a:ea typeface="黑体" panose="02010609060101010101" pitchFamily="49" charset="-122"/>
            </a:endParaRPr>
          </a:p>
          <a:p>
            <a:pPr>
              <a:lnSpc>
                <a:spcPct val="100000"/>
              </a:lnSpc>
            </a:pPr>
            <a:r>
              <a:rPr lang="zh-CN" altLang="en-US" sz="2800" b="1" dirty="0">
                <a:latin typeface="黑体" panose="02010609060101010101" pitchFamily="49" charset="-122"/>
                <a:ea typeface="黑体" panose="02010609060101010101" pitchFamily="49" charset="-122"/>
              </a:rPr>
              <a:t>对于水和水蒸气，通常取三相点时液态水的熵为</a:t>
            </a:r>
            <a:r>
              <a:rPr lang="zh-CN" altLang="en-US" sz="2800" b="1" dirty="0" smtClean="0">
                <a:latin typeface="黑体" panose="02010609060101010101" pitchFamily="49" charset="-122"/>
                <a:ea typeface="黑体" panose="02010609060101010101" pitchFamily="49" charset="-122"/>
              </a:rPr>
              <a:t>零</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504835"/>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4000" b="1" baseline="0" dirty="0">
                <a:ea typeface="黑体" panose="02010609060101010101" pitchFamily="49" charset="-122"/>
              </a:rPr>
              <a:t>二、熵变的计算方法</a:t>
            </a:r>
            <a:endParaRPr lang="zh-CN" altLang="en-US" sz="4000" b="1" baseline="0" dirty="0">
              <a:ea typeface="黑体" panose="02010609060101010101" pitchFamily="49" charset="-122"/>
            </a:endParaRPr>
          </a:p>
        </p:txBody>
      </p:sp>
      <p:sp>
        <p:nvSpPr>
          <p:cNvPr id="35842" name="矩形 503811"/>
          <p:cNvSpPr>
            <a:spLocks noChangeArrowheads="1"/>
          </p:cNvSpPr>
          <p:nvPr/>
        </p:nvSpPr>
        <p:spPr bwMode="auto">
          <a:xfrm>
            <a:off x="609600" y="1524000"/>
            <a:ext cx="594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方法一：查表法</a:t>
            </a:r>
            <a:endParaRPr lang="zh-CN" altLang="en-US" sz="3200" b="1" baseline="0" dirty="0">
              <a:latin typeface="黑体" panose="02010609060101010101" pitchFamily="49" charset="-122"/>
              <a:ea typeface="黑体" panose="02010609060101010101" pitchFamily="49" charset="-122"/>
            </a:endParaRPr>
          </a:p>
        </p:txBody>
      </p:sp>
      <p:sp>
        <p:nvSpPr>
          <p:cNvPr id="35843" name="矩形 503811"/>
          <p:cNvSpPr>
            <a:spLocks noChangeArrowheads="1"/>
          </p:cNvSpPr>
          <p:nvPr/>
        </p:nvSpPr>
        <p:spPr bwMode="auto">
          <a:xfrm>
            <a:off x="685800" y="2514600"/>
            <a:ext cx="81534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通过物质的热力性质图或表直接查</a:t>
            </a:r>
            <a:r>
              <a:rPr lang="zh-CN" altLang="en-US" sz="3200" b="1" baseline="0" dirty="0" smtClean="0">
                <a:latin typeface="黑体" panose="02010609060101010101" pitchFamily="49" charset="-122"/>
                <a:ea typeface="黑体" panose="02010609060101010101" pitchFamily="49" charset="-122"/>
              </a:rPr>
              <a:t>取</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2 </a:t>
            </a:r>
            <a:r>
              <a:rPr lang="zh-CN" altLang="en-US" sz="3200" b="1" baseline="0" dirty="0" smtClean="0">
                <a:latin typeface="黑体" panose="02010609060101010101" pitchFamily="49" charset="-122"/>
                <a:ea typeface="黑体" panose="02010609060101010101" pitchFamily="49" charset="-122"/>
              </a:rPr>
              <a:t>，</a:t>
            </a:r>
            <a:r>
              <a:rPr lang="zh-CN" altLang="en-US" sz="3200" b="1" baseline="0" dirty="0">
                <a:latin typeface="黑体" panose="02010609060101010101" pitchFamily="49" charset="-122"/>
                <a:ea typeface="黑体" panose="02010609060101010101" pitchFamily="49" charset="-122"/>
              </a:rPr>
              <a:t>利用          </a:t>
            </a:r>
            <a:r>
              <a:rPr lang="zh-CN" altLang="en-US" sz="3200" b="1" baseline="0" dirty="0" smtClean="0">
                <a:latin typeface="黑体" panose="02010609060101010101" pitchFamily="49" charset="-122"/>
                <a:ea typeface="黑体" panose="02010609060101010101" pitchFamily="49" charset="-122"/>
              </a:rPr>
              <a:t>计算</a:t>
            </a:r>
            <a:r>
              <a:rPr lang="zh-CN" altLang="en-US" sz="3200" b="1" baseline="0" dirty="0">
                <a:latin typeface="黑体" panose="02010609060101010101" pitchFamily="49" charset="-122"/>
                <a:ea typeface="黑体" panose="02010609060101010101" pitchFamily="49" charset="-122"/>
              </a:rPr>
              <a:t>获得熵变</a:t>
            </a:r>
            <a:endParaRPr lang="en-US" altLang="zh-CN" sz="3200" b="1" baseline="0" dirty="0">
              <a:latin typeface="黑体" panose="02010609060101010101" pitchFamily="49" charset="-122"/>
              <a:ea typeface="黑体" panose="02010609060101010101" pitchFamily="49" charset="-122"/>
            </a:endParaRPr>
          </a:p>
        </p:txBody>
      </p:sp>
      <p:graphicFrame>
        <p:nvGraphicFramePr>
          <p:cNvPr id="35844" name="对象 105478"/>
          <p:cNvGraphicFramePr>
            <a:graphicFrameLocks noChangeAspect="1"/>
          </p:cNvGraphicFramePr>
          <p:nvPr/>
        </p:nvGraphicFramePr>
        <p:xfrm>
          <a:off x="1645490" y="3052762"/>
          <a:ext cx="1935910" cy="571253"/>
        </p:xfrm>
        <a:graphic>
          <a:graphicData uri="http://schemas.openxmlformats.org/presentationml/2006/ole">
            <mc:AlternateContent xmlns:mc="http://schemas.openxmlformats.org/markup-compatibility/2006">
              <mc:Choice xmlns:v="urn:schemas-microsoft-com:vml" Requires="v">
                <p:oleObj spid="_x0000_s68639" name="" r:id="rId1" imgW="774065" imgH="228600" progId="Equation.DSMT4">
                  <p:embed/>
                </p:oleObj>
              </mc:Choice>
              <mc:Fallback>
                <p:oleObj name="" r:id="rId1" imgW="774065" imgH="228600" progId="Equation.DSMT4">
                  <p:embed/>
                  <p:pic>
                    <p:nvPicPr>
                      <p:cNvPr id="0" name="对象 10547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490" y="3052762"/>
                        <a:ext cx="1935910" cy="571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5" name="矩形 503811"/>
          <p:cNvSpPr>
            <a:spLocks noChangeArrowheads="1"/>
          </p:cNvSpPr>
          <p:nvPr/>
        </p:nvSpPr>
        <p:spPr bwMode="auto">
          <a:xfrm>
            <a:off x="762000" y="4038600"/>
            <a:ext cx="8153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i="1" baseline="0"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baseline="0"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可以是绝对熵，也可以是相对熵，只要两者的基准点选的一致就可以</a:t>
            </a:r>
            <a:endPar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矩形 503811"/>
          <p:cNvSpPr>
            <a:spLocks noChangeArrowheads="1"/>
          </p:cNvSpPr>
          <p:nvPr/>
        </p:nvSpPr>
        <p:spPr bwMode="auto">
          <a:xfrm>
            <a:off x="609600" y="762000"/>
            <a:ext cx="784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方法二：对        </a:t>
            </a:r>
            <a:r>
              <a:rPr lang="zh-CN" altLang="en-US" sz="3200" b="1" baseline="0" dirty="0" smtClean="0">
                <a:latin typeface="黑体" panose="02010609060101010101" pitchFamily="49" charset="-122"/>
                <a:ea typeface="黑体" panose="02010609060101010101" pitchFamily="49" charset="-122"/>
              </a:rPr>
              <a:t>积分</a:t>
            </a:r>
            <a:r>
              <a:rPr lang="zh-CN" altLang="en-US" sz="3200" b="1" baseline="0" dirty="0">
                <a:latin typeface="黑体" panose="02010609060101010101" pitchFamily="49" charset="-122"/>
                <a:ea typeface="黑体" panose="02010609060101010101" pitchFamily="49" charset="-122"/>
              </a:rPr>
              <a:t>得到熵变</a:t>
            </a:r>
            <a:endParaRPr lang="zh-CN" altLang="en-US" sz="3200" b="1" baseline="0" dirty="0">
              <a:latin typeface="黑体" panose="02010609060101010101" pitchFamily="49" charset="-122"/>
              <a:ea typeface="黑体" panose="02010609060101010101" pitchFamily="49" charset="-122"/>
            </a:endParaRPr>
          </a:p>
        </p:txBody>
      </p:sp>
      <p:sp>
        <p:nvSpPr>
          <p:cNvPr id="36866" name="矩形 10650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6867" name="对象 106500"/>
          <p:cNvGraphicFramePr/>
          <p:nvPr/>
        </p:nvGraphicFramePr>
        <p:xfrm>
          <a:off x="2895600" y="609600"/>
          <a:ext cx="1295400" cy="908050"/>
        </p:xfrm>
        <a:graphic>
          <a:graphicData uri="http://schemas.openxmlformats.org/presentationml/2006/ole">
            <mc:AlternateContent xmlns:mc="http://schemas.openxmlformats.org/markup-compatibility/2006">
              <mc:Choice xmlns:v="urn:schemas-microsoft-com:vml" Requires="v">
                <p:oleObj spid="_x0000_s69703" name="" r:id="rId1" imgW="635000" imgH="444500" progId="Equation.DSMT4">
                  <p:embed/>
                </p:oleObj>
              </mc:Choice>
              <mc:Fallback>
                <p:oleObj name="" r:id="rId1" imgW="635000" imgH="444500" progId="Equation.DSMT4">
                  <p:embed/>
                  <p:pic>
                    <p:nvPicPr>
                      <p:cNvPr id="0" name="对象 1065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609600"/>
                        <a:ext cx="1295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8" name="矩形 106503"/>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6869" name="对象 106502"/>
          <p:cNvGraphicFramePr>
            <a:graphicFrameLocks noChangeAspect="1"/>
          </p:cNvGraphicFramePr>
          <p:nvPr/>
        </p:nvGraphicFramePr>
        <p:xfrm>
          <a:off x="2117035" y="1993107"/>
          <a:ext cx="4572000" cy="1111250"/>
        </p:xfrm>
        <a:graphic>
          <a:graphicData uri="http://schemas.openxmlformats.org/presentationml/2006/ole">
            <mc:AlternateContent xmlns:mc="http://schemas.openxmlformats.org/markup-compatibility/2006">
              <mc:Choice xmlns:v="urn:schemas-microsoft-com:vml" Requires="v">
                <p:oleObj spid="_x0000_s69704" name="" r:id="rId3" imgW="1828800" imgH="444500" progId="Equation.DSMT4">
                  <p:embed/>
                </p:oleObj>
              </mc:Choice>
              <mc:Fallback>
                <p:oleObj name="" r:id="rId3" imgW="1828800" imgH="444500" progId="Equation.DSMT4">
                  <p:embed/>
                  <p:pic>
                    <p:nvPicPr>
                      <p:cNvPr id="0" name="对象 10650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035" y="1993107"/>
                        <a:ext cx="457200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矩形 4"/>
          <p:cNvSpPr/>
          <p:nvPr/>
        </p:nvSpPr>
        <p:spPr>
          <a:xfrm>
            <a:off x="461010" y="3886357"/>
            <a:ext cx="8145780" cy="1668149"/>
          </a:xfrm>
          <a:prstGeom prst="rect">
            <a:avLst/>
          </a:prstGeom>
        </p:spPr>
        <p:txBody>
          <a:bodyPr wrap="square">
            <a:spAutoFit/>
          </a:bodyPr>
          <a:lstStyle/>
          <a:p>
            <a:pPr lvl="0">
              <a:spcBef>
                <a:spcPct val="20000"/>
              </a:spcBef>
            </a:pPr>
            <a:r>
              <a:rPr lang="zh-CN" altLang="en-US" sz="3200" b="1" dirty="0" smtClean="0">
                <a:solidFill>
                  <a:srgbClr val="FF0000"/>
                </a:solidFill>
                <a:latin typeface="黑体" panose="02010609060101010101" pitchFamily="49" charset="-122"/>
                <a:ea typeface="黑体" panose="02010609060101010101" pitchFamily="49" charset="-122"/>
              </a:rPr>
              <a:t>直接积分求熵变的注意事项：</a:t>
            </a:r>
            <a:endParaRPr lang="en-US" altLang="zh-CN" sz="3200" b="1" dirty="0" smtClean="0">
              <a:solidFill>
                <a:srgbClr val="FF0000"/>
              </a:solidFill>
              <a:latin typeface="黑体" panose="02010609060101010101" pitchFamily="49" charset="-122"/>
              <a:ea typeface="黑体" panose="02010609060101010101" pitchFamily="49" charset="-122"/>
            </a:endParaRPr>
          </a:p>
          <a:p>
            <a:pPr lvl="0">
              <a:spcBef>
                <a:spcPct val="20000"/>
              </a:spcBef>
            </a:pPr>
            <a:r>
              <a:rPr lang="zh-CN" altLang="en-US" sz="3200" b="1" dirty="0" smtClean="0">
                <a:latin typeface="黑体" panose="02010609060101010101" pitchFamily="49" charset="-122"/>
                <a:ea typeface="黑体" panose="02010609060101010101" pitchFamily="49" charset="-122"/>
              </a:rPr>
              <a:t>过程只有满足“内可逆”，才能用    的积分来求熵变</a:t>
            </a:r>
            <a:endParaRPr lang="zh-CN" altLang="en-US" sz="3200" b="1" dirty="0">
              <a:latin typeface="黑体" panose="02010609060101010101" pitchFamily="49" charset="-122"/>
              <a:ea typeface="黑体" panose="02010609060101010101" pitchFamily="49" charset="-122"/>
            </a:endParaRPr>
          </a:p>
        </p:txBody>
      </p:sp>
      <p:graphicFrame>
        <p:nvGraphicFramePr>
          <p:cNvPr id="10" name="对象 106502"/>
          <p:cNvGraphicFramePr>
            <a:graphicFrameLocks noChangeAspect="1"/>
          </p:cNvGraphicFramePr>
          <p:nvPr/>
        </p:nvGraphicFramePr>
        <p:xfrm>
          <a:off x="6776140" y="4309097"/>
          <a:ext cx="635000" cy="984250"/>
        </p:xfrm>
        <a:graphic>
          <a:graphicData uri="http://schemas.openxmlformats.org/presentationml/2006/ole">
            <mc:AlternateContent xmlns:mc="http://schemas.openxmlformats.org/markup-compatibility/2006">
              <mc:Choice xmlns:v="urn:schemas-microsoft-com:vml" Requires="v">
                <p:oleObj spid="_x0000_s69705" name="Equation" r:id="rId5" imgW="6096000" imgH="9448800" progId="Equation.DSMT4">
                  <p:embed/>
                </p:oleObj>
              </mc:Choice>
              <mc:Fallback>
                <p:oleObj name="Equation" r:id="rId5" imgW="6096000" imgH="9448800" progId="Equation.DSMT4">
                  <p:embed/>
                  <p:pic>
                    <p:nvPicPr>
                      <p:cNvPr id="0" name="对象 106502"/>
                      <p:cNvPicPr>
                        <a:picLocks noChangeArrowheads="1"/>
                      </p:cNvPicPr>
                      <p:nvPr/>
                    </p:nvPicPr>
                    <p:blipFill>
                      <a:blip r:embed="rId6"/>
                      <a:srcRect/>
                      <a:stretch>
                        <a:fillRect/>
                      </a:stretch>
                    </p:blipFill>
                    <p:spPr bwMode="auto">
                      <a:xfrm>
                        <a:off x="6776140" y="4309097"/>
                        <a:ext cx="6350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493571"/>
          <p:cNvSpPr>
            <a:spLocks noChangeArrowheads="1"/>
          </p:cNvSpPr>
          <p:nvPr/>
        </p:nvSpPr>
        <p:spPr bwMode="auto">
          <a:xfrm>
            <a:off x="304800" y="3048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aseline="-25000">
                <a:solidFill>
                  <a:schemeClr val="tx1"/>
                </a:solidFill>
                <a:latin typeface="Arial" panose="020B0604020202020204" pitchFamily="34" charset="0"/>
                <a:ea typeface="宋体" panose="02010600030101010101" pitchFamily="2" charset="-122"/>
              </a:defRPr>
            </a:lvl1pPr>
            <a:lvl2pPr>
              <a:defRPr sz="2400" baseline="-25000">
                <a:solidFill>
                  <a:schemeClr val="tx1"/>
                </a:solidFill>
                <a:latin typeface="Arial" panose="020B0604020202020204" pitchFamily="34" charset="0"/>
                <a:ea typeface="宋体" panose="02010600030101010101" pitchFamily="2" charset="-122"/>
              </a:defRPr>
            </a:lvl2pPr>
            <a:lvl3pPr>
              <a:defRPr sz="2400" baseline="-25000">
                <a:solidFill>
                  <a:schemeClr val="tx1"/>
                </a:solidFill>
                <a:latin typeface="Arial" panose="020B0604020202020204" pitchFamily="34" charset="0"/>
                <a:ea typeface="宋体" panose="02010600030101010101" pitchFamily="2" charset="-122"/>
              </a:defRPr>
            </a:lvl3pPr>
            <a:lvl4pPr>
              <a:defRPr sz="2400" baseline="-25000">
                <a:solidFill>
                  <a:schemeClr val="tx1"/>
                </a:solidFill>
                <a:latin typeface="Arial" panose="020B0604020202020204" pitchFamily="34" charset="0"/>
                <a:ea typeface="宋体" panose="02010600030101010101" pitchFamily="2" charset="-122"/>
              </a:defRPr>
            </a:lvl4pPr>
            <a:lvl5pPr>
              <a:defRPr sz="2400" baseline="-250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9pPr>
          </a:lstStyle>
          <a:p>
            <a:pPr>
              <a:spcBef>
                <a:spcPct val="20000"/>
              </a:spcBef>
            </a:pPr>
            <a:r>
              <a:rPr lang="zh-CN" altLang="en-US" sz="3200" b="1" baseline="0" dirty="0" smtClean="0">
                <a:latin typeface="黑体" panose="02010609060101010101" pitchFamily="49" charset="-122"/>
                <a:ea typeface="黑体" panose="02010609060101010101" pitchFamily="49" charset="-122"/>
              </a:rPr>
              <a:t>举例说明</a:t>
            </a:r>
            <a:endParaRPr lang="en-US" altLang="zh-CN" sz="3200" b="1" baseline="0" dirty="0" smtClean="0">
              <a:latin typeface="黑体" panose="02010609060101010101" pitchFamily="49" charset="-122"/>
              <a:ea typeface="黑体" panose="02010609060101010101" pitchFamily="49" charset="-122"/>
            </a:endParaRPr>
          </a:p>
          <a:p>
            <a:pPr>
              <a:spcBef>
                <a:spcPct val="20000"/>
              </a:spcBef>
            </a:pPr>
            <a:endParaRPr lang="zh-CN" altLang="en-US" sz="3200" b="1" baseline="0" dirty="0"/>
          </a:p>
        </p:txBody>
      </p:sp>
      <p:sp>
        <p:nvSpPr>
          <p:cNvPr id="37891" name="矩形 107526"/>
          <p:cNvSpPr>
            <a:spLocks noChangeArrowheads="1"/>
          </p:cNvSpPr>
          <p:nvPr/>
        </p:nvSpPr>
        <p:spPr bwMode="auto">
          <a:xfrm>
            <a:off x="0" y="1914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7892" name="对象 107525"/>
          <p:cNvGraphicFramePr/>
          <p:nvPr/>
        </p:nvGraphicFramePr>
        <p:xfrm>
          <a:off x="1943100" y="723900"/>
          <a:ext cx="5257800" cy="5241925"/>
        </p:xfrm>
        <a:graphic>
          <a:graphicData uri="http://schemas.openxmlformats.org/presentationml/2006/ole">
            <mc:AlternateContent xmlns:mc="http://schemas.openxmlformats.org/markup-compatibility/2006">
              <mc:Choice xmlns:v="urn:schemas-microsoft-com:vml" Requires="v">
                <p:oleObj spid="_x0000_s70687" name="" r:id="rId1" imgW="1930400" imgH="1930400" progId="Visio.Drawing.11">
                  <p:embed/>
                </p:oleObj>
              </mc:Choice>
              <mc:Fallback>
                <p:oleObj name="" r:id="rId1" imgW="1930400" imgH="1930400" progId="Visio.Drawing.11">
                  <p:embed/>
                  <p:pic>
                    <p:nvPicPr>
                      <p:cNvPr id="0" name="对象 10752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723900"/>
                        <a:ext cx="5257800" cy="52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矩形 494597"/>
          <p:cNvSpPr>
            <a:spLocks noChangeArrowheads="1"/>
          </p:cNvSpPr>
          <p:nvPr/>
        </p:nvSpPr>
        <p:spPr bwMode="auto">
          <a:xfrm>
            <a:off x="239713" y="182885"/>
            <a:ext cx="8751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pPr>
            <a:r>
              <a:rPr lang="zh-CN" altLang="en-US" sz="3200" b="1" baseline="0" dirty="0">
                <a:latin typeface="黑体" panose="02010609060101010101" pitchFamily="49" charset="-122"/>
                <a:ea typeface="黑体" panose="02010609060101010101" pitchFamily="49" charset="-122"/>
              </a:rPr>
              <a:t>对于内不可逆过程，如何求过程中系统的熵变？</a:t>
            </a:r>
            <a:endParaRPr lang="zh-CN" altLang="en-US" sz="3200" b="1" baseline="0" dirty="0">
              <a:latin typeface="黑体" panose="02010609060101010101" pitchFamily="49" charset="-122"/>
              <a:ea typeface="黑体" panose="02010609060101010101" pitchFamily="49" charset="-122"/>
            </a:endParaRPr>
          </a:p>
        </p:txBody>
      </p:sp>
      <p:sp>
        <p:nvSpPr>
          <p:cNvPr id="38914" name="矩形 494599"/>
          <p:cNvSpPr>
            <a:spLocks noChangeArrowheads="1"/>
          </p:cNvSpPr>
          <p:nvPr/>
        </p:nvSpPr>
        <p:spPr bwMode="auto">
          <a:xfrm>
            <a:off x="0" y="2395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8915" name="对象 494598"/>
          <p:cNvGraphicFramePr/>
          <p:nvPr/>
        </p:nvGraphicFramePr>
        <p:xfrm>
          <a:off x="381000" y="944885"/>
          <a:ext cx="4648200" cy="3527425"/>
        </p:xfrm>
        <a:graphic>
          <a:graphicData uri="http://schemas.openxmlformats.org/presentationml/2006/ole">
            <mc:AlternateContent xmlns:mc="http://schemas.openxmlformats.org/markup-compatibility/2006">
              <mc:Choice xmlns:v="urn:schemas-microsoft-com:vml" Requires="v">
                <p:oleObj spid="_x0000_s71798" name="" r:id="rId1" imgW="2540000" imgH="1930400" progId="Visio.Drawing.11">
                  <p:embed/>
                </p:oleObj>
              </mc:Choice>
              <mc:Fallback>
                <p:oleObj name="" r:id="rId1" imgW="2540000" imgH="1930400" progId="Visio.Drawing.11">
                  <p:embed/>
                  <p:pic>
                    <p:nvPicPr>
                      <p:cNvPr id="0" name="对象 49459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944885"/>
                        <a:ext cx="4648200"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6" name="矩形 494601"/>
          <p:cNvSpPr>
            <a:spLocks noChangeArrowheads="1"/>
          </p:cNvSpPr>
          <p:nvPr/>
        </p:nvSpPr>
        <p:spPr bwMode="auto">
          <a:xfrm>
            <a:off x="4114800" y="1021085"/>
            <a:ext cx="45143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若想求</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1-B-2</a:t>
            </a:r>
            <a:r>
              <a:rPr lang="zh-CN" altLang="en-US" sz="3200" b="1" baseline="0" dirty="0">
                <a:latin typeface="黑体" panose="02010609060101010101" pitchFamily="49" charset="-122"/>
                <a:ea typeface="黑体" panose="02010609060101010101" pitchFamily="49" charset="-122"/>
              </a:rPr>
              <a:t>过程的熵变</a:t>
            </a:r>
            <a:endParaRPr lang="zh-CN" altLang="en-US" sz="3200" b="1" baseline="0" dirty="0">
              <a:latin typeface="黑体" panose="02010609060101010101" pitchFamily="49" charset="-122"/>
              <a:ea typeface="黑体" panose="02010609060101010101" pitchFamily="49" charset="-122"/>
            </a:endParaRPr>
          </a:p>
        </p:txBody>
      </p:sp>
      <p:sp>
        <p:nvSpPr>
          <p:cNvPr id="38917" name="矩形 494603"/>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8918" name="对象 494602"/>
          <p:cNvGraphicFramePr/>
          <p:nvPr/>
        </p:nvGraphicFramePr>
        <p:xfrm>
          <a:off x="4038600" y="1783085"/>
          <a:ext cx="2590800" cy="957263"/>
        </p:xfrm>
        <a:graphic>
          <a:graphicData uri="http://schemas.openxmlformats.org/presentationml/2006/ole">
            <mc:AlternateContent xmlns:mc="http://schemas.openxmlformats.org/markup-compatibility/2006">
              <mc:Choice xmlns:v="urn:schemas-microsoft-com:vml" Requires="v">
                <p:oleObj spid="_x0000_s71799" name="" r:id="rId3" imgW="1054100" imgH="393700" progId="Equation.DSMT4">
                  <p:embed/>
                </p:oleObj>
              </mc:Choice>
              <mc:Fallback>
                <p:oleObj name="" r:id="rId3" imgW="1054100" imgH="393700" progId="Equation.DSMT4">
                  <p:embed/>
                  <p:pic>
                    <p:nvPicPr>
                      <p:cNvPr id="0" name="对象 49460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1783085"/>
                        <a:ext cx="259080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9" name="矩形 494605"/>
          <p:cNvSpPr>
            <a:spLocks noChangeArrowheads="1"/>
          </p:cNvSpPr>
          <p:nvPr/>
        </p:nvSpPr>
        <p:spPr bwMode="auto">
          <a:xfrm>
            <a:off x="6858000" y="2133600"/>
            <a:ext cx="22240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不能用了！</a:t>
            </a:r>
            <a:endParaRPr lang="zh-CN" altLang="en-US" sz="3200" b="1" baseline="0" dirty="0">
              <a:latin typeface="黑体" panose="02010609060101010101" pitchFamily="49" charset="-122"/>
              <a:ea typeface="黑体" panose="02010609060101010101" pitchFamily="49" charset="-122"/>
            </a:endParaRPr>
          </a:p>
        </p:txBody>
      </p:sp>
      <p:sp>
        <p:nvSpPr>
          <p:cNvPr id="38920" name="矩形 494606"/>
          <p:cNvSpPr>
            <a:spLocks noChangeArrowheads="1"/>
          </p:cNvSpPr>
          <p:nvPr/>
        </p:nvSpPr>
        <p:spPr bwMode="auto">
          <a:xfrm>
            <a:off x="5562600" y="3078485"/>
            <a:ext cx="22225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000" b="1" baseline="0" dirty="0">
                <a:solidFill>
                  <a:srgbClr val="FF0000"/>
                </a:solidFill>
              </a:rPr>
              <a:t>怎么办？</a:t>
            </a:r>
            <a:endParaRPr lang="zh-CN" altLang="en-US" sz="4000" b="1" baseline="0" dirty="0">
              <a:solidFill>
                <a:srgbClr val="FF0000"/>
              </a:solidFill>
            </a:endParaRPr>
          </a:p>
        </p:txBody>
      </p:sp>
      <p:sp>
        <p:nvSpPr>
          <p:cNvPr id="494608" name="矩形 494607"/>
          <p:cNvSpPr>
            <a:spLocks noChangeArrowheads="1"/>
          </p:cNvSpPr>
          <p:nvPr/>
        </p:nvSpPr>
        <p:spPr bwMode="auto">
          <a:xfrm>
            <a:off x="381000" y="4492418"/>
            <a:ext cx="80201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改求</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1-A-2</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或</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1-C-2</a:t>
            </a:r>
            <a:r>
              <a:rPr lang="zh-CN" altLang="en-US" sz="3200" b="1" baseline="0" dirty="0">
                <a:latin typeface="黑体" panose="02010609060101010101" pitchFamily="49" charset="-122"/>
                <a:ea typeface="黑体" panose="02010609060101010101" pitchFamily="49" charset="-122"/>
              </a:rPr>
              <a:t>过程的熵变（需要假想）</a:t>
            </a:r>
            <a:endParaRPr lang="zh-CN" altLang="en-US" sz="3200" b="1" baseline="0" dirty="0">
              <a:latin typeface="黑体" panose="02010609060101010101" pitchFamily="49" charset="-122"/>
              <a:ea typeface="黑体" panose="02010609060101010101" pitchFamily="49" charset="-122"/>
            </a:endParaRPr>
          </a:p>
        </p:txBody>
      </p:sp>
      <p:graphicFrame>
        <p:nvGraphicFramePr>
          <p:cNvPr id="108555" name="对象 494608"/>
          <p:cNvGraphicFramePr/>
          <p:nvPr/>
        </p:nvGraphicFramePr>
        <p:xfrm>
          <a:off x="304800" y="5254418"/>
          <a:ext cx="2362200" cy="865188"/>
        </p:xfrm>
        <a:graphic>
          <a:graphicData uri="http://schemas.openxmlformats.org/presentationml/2006/ole">
            <mc:AlternateContent xmlns:mc="http://schemas.openxmlformats.org/markup-compatibility/2006">
              <mc:Choice xmlns:v="urn:schemas-microsoft-com:vml" Requires="v">
                <p:oleObj spid="_x0000_s71800" name="" r:id="rId5" imgW="1066165" imgH="393700" progId="Equation.DSMT4">
                  <p:embed/>
                </p:oleObj>
              </mc:Choice>
              <mc:Fallback>
                <p:oleObj name="" r:id="rId5" imgW="1066165" imgH="393700" progId="Equation.DSMT4">
                  <p:embed/>
                  <p:pic>
                    <p:nvPicPr>
                      <p:cNvPr id="0" name="对象 49460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5254418"/>
                        <a:ext cx="23622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8556" name="对象 494610"/>
          <p:cNvGraphicFramePr/>
          <p:nvPr/>
        </p:nvGraphicFramePr>
        <p:xfrm>
          <a:off x="3581400" y="5254418"/>
          <a:ext cx="2333625" cy="865188"/>
        </p:xfrm>
        <a:graphic>
          <a:graphicData uri="http://schemas.openxmlformats.org/presentationml/2006/ole">
            <mc:AlternateContent xmlns:mc="http://schemas.openxmlformats.org/markup-compatibility/2006">
              <mc:Choice xmlns:v="urn:schemas-microsoft-com:vml" Requires="v">
                <p:oleObj spid="_x0000_s71801" name="" r:id="rId7" imgW="1053465" imgH="393700" progId="Equation.DSMT4">
                  <p:embed/>
                </p:oleObj>
              </mc:Choice>
              <mc:Fallback>
                <p:oleObj name="" r:id="rId7" imgW="1053465" imgH="393700" progId="Equation.DSMT4">
                  <p:embed/>
                  <p:pic>
                    <p:nvPicPr>
                      <p:cNvPr id="0" name="对象 4946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5254418"/>
                        <a:ext cx="233362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4613" name="矩形 494612"/>
          <p:cNvSpPr>
            <a:spLocks noChangeArrowheads="1"/>
          </p:cNvSpPr>
          <p:nvPr/>
        </p:nvSpPr>
        <p:spPr bwMode="auto">
          <a:xfrm>
            <a:off x="2819400" y="5406818"/>
            <a:ext cx="592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或</a:t>
            </a:r>
            <a:endParaRPr lang="zh-CN" altLang="en-US" sz="3200" b="1" baseline="0" dirty="0">
              <a:latin typeface="黑体" panose="02010609060101010101" pitchFamily="49" charset="-122"/>
              <a:ea typeface="黑体" panose="02010609060101010101" pitchFamily="49" charset="-122"/>
            </a:endParaRPr>
          </a:p>
        </p:txBody>
      </p:sp>
      <p:sp>
        <p:nvSpPr>
          <p:cNvPr id="494614" name="矩形 494613"/>
          <p:cNvSpPr>
            <a:spLocks noChangeArrowheads="1"/>
          </p:cNvSpPr>
          <p:nvPr/>
        </p:nvSpPr>
        <p:spPr bwMode="auto">
          <a:xfrm>
            <a:off x="6324600" y="5102018"/>
            <a:ext cx="2133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哪个方便就用哪个</a:t>
            </a:r>
            <a:endParaRPr lang="zh-CN" altLang="en-US" sz="3200" b="1" baseline="0" dirty="0">
              <a:latin typeface="黑体" panose="02010609060101010101" pitchFamily="49" charset="-122"/>
              <a:ea typeface="黑体" panose="02010609060101010101" pitchFamily="49" charset="-122"/>
            </a:endParaRPr>
          </a:p>
        </p:txBody>
      </p:sp>
    </p:spTree>
    <p:custDataLst>
      <p:tags r:id="rId9"/>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4608"/>
                                        </p:tgtEl>
                                        <p:attrNameLst>
                                          <p:attrName>style.visibility</p:attrName>
                                        </p:attrNameLst>
                                      </p:cBhvr>
                                      <p:to>
                                        <p:strVal val="visible"/>
                                      </p:to>
                                    </p:set>
                                    <p:animEffect transition="in" filter="blinds(horizontal)">
                                      <p:cBhvr>
                                        <p:cTn id="7" dur="500"/>
                                        <p:tgtEl>
                                          <p:spTgt spid="494608"/>
                                        </p:tgtEl>
                                      </p:cBhvr>
                                    </p:animEffect>
                                  </p:childTnLst>
                                </p:cTn>
                              </p:par>
                              <p:par>
                                <p:cTn id="8" presetID="3" presetClass="entr" presetSubtype="10" fill="hold" nodeType="withEffect">
                                  <p:stCondLst>
                                    <p:cond delay="0"/>
                                  </p:stCondLst>
                                  <p:childTnLst>
                                    <p:set>
                                      <p:cBhvr>
                                        <p:cTn id="9" dur="1" fill="hold">
                                          <p:stCondLst>
                                            <p:cond delay="0"/>
                                          </p:stCondLst>
                                        </p:cTn>
                                        <p:tgtEl>
                                          <p:spTgt spid="108555"/>
                                        </p:tgtEl>
                                        <p:attrNameLst>
                                          <p:attrName>style.visibility</p:attrName>
                                        </p:attrNameLst>
                                      </p:cBhvr>
                                      <p:to>
                                        <p:strVal val="visible"/>
                                      </p:to>
                                    </p:set>
                                    <p:animEffect transition="in" filter="blinds(horizontal)">
                                      <p:cBhvr>
                                        <p:cTn id="10" dur="500"/>
                                        <p:tgtEl>
                                          <p:spTgt spid="108555"/>
                                        </p:tgtEl>
                                      </p:cBhvr>
                                    </p:animEffect>
                                  </p:childTnLst>
                                </p:cTn>
                              </p:par>
                              <p:par>
                                <p:cTn id="11" presetID="3" presetClass="entr" presetSubtype="10" fill="hold" nodeType="withEffect">
                                  <p:stCondLst>
                                    <p:cond delay="0"/>
                                  </p:stCondLst>
                                  <p:childTnLst>
                                    <p:set>
                                      <p:cBhvr>
                                        <p:cTn id="12" dur="1" fill="hold">
                                          <p:stCondLst>
                                            <p:cond delay="0"/>
                                          </p:stCondLst>
                                        </p:cTn>
                                        <p:tgtEl>
                                          <p:spTgt spid="108556"/>
                                        </p:tgtEl>
                                        <p:attrNameLst>
                                          <p:attrName>style.visibility</p:attrName>
                                        </p:attrNameLst>
                                      </p:cBhvr>
                                      <p:to>
                                        <p:strVal val="visible"/>
                                      </p:to>
                                    </p:set>
                                    <p:animEffect transition="in" filter="blinds(horizontal)">
                                      <p:cBhvr>
                                        <p:cTn id="13" dur="500"/>
                                        <p:tgtEl>
                                          <p:spTgt spid="10855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94613"/>
                                        </p:tgtEl>
                                        <p:attrNameLst>
                                          <p:attrName>style.visibility</p:attrName>
                                        </p:attrNameLst>
                                      </p:cBhvr>
                                      <p:to>
                                        <p:strVal val="visible"/>
                                      </p:to>
                                    </p:set>
                                    <p:animEffect transition="in" filter="blinds(horizontal)">
                                      <p:cBhvr>
                                        <p:cTn id="16" dur="500"/>
                                        <p:tgtEl>
                                          <p:spTgt spid="49461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94614"/>
                                        </p:tgtEl>
                                        <p:attrNameLst>
                                          <p:attrName>style.visibility</p:attrName>
                                        </p:attrNameLst>
                                      </p:cBhvr>
                                      <p:to>
                                        <p:strVal val="visible"/>
                                      </p:to>
                                    </p:set>
                                    <p:animEffect transition="in" filter="blinds(horizontal)">
                                      <p:cBhvr>
                                        <p:cTn id="19" dur="500"/>
                                        <p:tgtEl>
                                          <p:spTgt spid="494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08" grpId="0"/>
      <p:bldP spid="494613" grpId="0"/>
      <p:bldP spid="4946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矩形 503811"/>
          <p:cNvSpPr>
            <a:spLocks noChangeArrowheads="1"/>
          </p:cNvSpPr>
          <p:nvPr/>
        </p:nvSpPr>
        <p:spPr bwMode="auto">
          <a:xfrm>
            <a:off x="609600" y="762000"/>
            <a:ext cx="7848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方法三：对              </a:t>
            </a:r>
            <a:r>
              <a:rPr lang="zh-CN" altLang="en-US" sz="3200" b="1" baseline="0" dirty="0" smtClean="0">
                <a:latin typeface="黑体" panose="02010609060101010101" pitchFamily="49" charset="-122"/>
                <a:ea typeface="黑体" panose="02010609060101010101" pitchFamily="49" charset="-122"/>
              </a:rPr>
              <a:t>积分</a:t>
            </a:r>
            <a:r>
              <a:rPr lang="zh-CN" altLang="en-US" sz="3200" b="1" baseline="0" dirty="0">
                <a:latin typeface="黑体" panose="02010609060101010101" pitchFamily="49" charset="-122"/>
                <a:ea typeface="黑体" panose="02010609060101010101" pitchFamily="49" charset="-122"/>
              </a:rPr>
              <a:t>得到熵变</a:t>
            </a:r>
            <a:endParaRPr lang="zh-CN" altLang="en-US" sz="3200" b="1" baseline="0" dirty="0">
              <a:latin typeface="黑体" panose="02010609060101010101" pitchFamily="49" charset="-122"/>
              <a:ea typeface="黑体" panose="02010609060101010101" pitchFamily="49" charset="-122"/>
            </a:endParaRPr>
          </a:p>
        </p:txBody>
      </p:sp>
      <p:graphicFrame>
        <p:nvGraphicFramePr>
          <p:cNvPr id="39939" name="对象 109572"/>
          <p:cNvGraphicFramePr/>
          <p:nvPr/>
        </p:nvGraphicFramePr>
        <p:xfrm>
          <a:off x="2888974" y="689113"/>
          <a:ext cx="2362200" cy="904875"/>
        </p:xfrm>
        <a:graphic>
          <a:graphicData uri="http://schemas.openxmlformats.org/presentationml/2006/ole">
            <mc:AlternateContent xmlns:mc="http://schemas.openxmlformats.org/markup-compatibility/2006">
              <mc:Choice xmlns:v="urn:schemas-microsoft-com:vml" Requires="v">
                <p:oleObj spid="_x0000_s72735" name="" r:id="rId1" imgW="1016000" imgH="393700" progId="Equation.DSMT4">
                  <p:embed/>
                </p:oleObj>
              </mc:Choice>
              <mc:Fallback>
                <p:oleObj name="" r:id="rId1" imgW="1016000" imgH="393700" progId="Equation.DSMT4">
                  <p:embed/>
                  <p:pic>
                    <p:nvPicPr>
                      <p:cNvPr id="0" name="对象 10957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8974" y="689113"/>
                        <a:ext cx="23622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940" name="矩形 494606"/>
          <p:cNvSpPr>
            <a:spLocks noChangeArrowheads="1"/>
          </p:cNvSpPr>
          <p:nvPr/>
        </p:nvSpPr>
        <p:spPr bwMode="auto">
          <a:xfrm>
            <a:off x="685800" y="2057400"/>
            <a:ext cx="6303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此式是如何得到的？下面进行说明</a:t>
            </a:r>
            <a:endParaRPr lang="zh-CN" altLang="en-US" sz="3200" b="1" baseline="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523267"/>
          <p:cNvSpPr txBox="1">
            <a:spLocks noChangeArrowheads="1"/>
          </p:cNvSpPr>
          <p:nvPr/>
        </p:nvSpPr>
        <p:spPr bwMode="auto">
          <a:xfrm>
            <a:off x="364434" y="134040"/>
            <a:ext cx="5955476" cy="66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buClr>
                <a:srgbClr val="FF3300"/>
              </a:buClr>
              <a:buFont typeface="Wingdings" panose="05000000000000000000" pitchFamily="2" charset="2"/>
              <a:buNone/>
            </a:pPr>
            <a:r>
              <a:rPr lang="zh-CN" altLang="en-US" sz="2800" b="1" baseline="0" dirty="0">
                <a:ea typeface="黑体" panose="02010609060101010101" pitchFamily="49" charset="-122"/>
              </a:rPr>
              <a:t>考虑一个静止的闭口简单可压缩系统</a:t>
            </a:r>
            <a:endParaRPr lang="zh-CN" altLang="en-US" sz="2800" b="1" baseline="0" dirty="0">
              <a:ea typeface="黑体" panose="02010609060101010101" pitchFamily="49" charset="-122"/>
            </a:endParaRPr>
          </a:p>
        </p:txBody>
      </p:sp>
      <p:sp>
        <p:nvSpPr>
          <p:cNvPr id="40962" name="矩形 52326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963" name="对象 523268"/>
          <p:cNvGraphicFramePr/>
          <p:nvPr/>
        </p:nvGraphicFramePr>
        <p:xfrm>
          <a:off x="2491408" y="2348945"/>
          <a:ext cx="3414713" cy="563563"/>
        </p:xfrm>
        <a:graphic>
          <a:graphicData uri="http://schemas.openxmlformats.org/presentationml/2006/ole">
            <mc:AlternateContent xmlns:mc="http://schemas.openxmlformats.org/markup-compatibility/2006">
              <mc:Choice xmlns:v="urn:schemas-microsoft-com:vml" Requires="v">
                <p:oleObj spid="_x0000_s73904" name="" r:id="rId1" imgW="1384300" imgH="228600" progId="Equation.DSMT4">
                  <p:embed/>
                </p:oleObj>
              </mc:Choice>
              <mc:Fallback>
                <p:oleObj name="" r:id="rId1" imgW="1384300" imgH="228600" progId="Equation.DSMT4">
                  <p:embed/>
                  <p:pic>
                    <p:nvPicPr>
                      <p:cNvPr id="0" name="对象 52326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1408" y="2348945"/>
                        <a:ext cx="3414713"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4" name="矩形 523272"/>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5" name="矩形 523273"/>
          <p:cNvSpPr>
            <a:spLocks noChangeArrowheads="1"/>
          </p:cNvSpPr>
          <p:nvPr/>
        </p:nvSpPr>
        <p:spPr bwMode="auto">
          <a:xfrm>
            <a:off x="357808" y="3062567"/>
            <a:ext cx="82296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ea typeface="黑体" panose="02010609060101010101" pitchFamily="49" charset="-122"/>
              </a:rPr>
              <a:t>对于简单可压缩系统，在内可逆过程与外界交换的功量形式</a:t>
            </a:r>
            <a:r>
              <a:rPr lang="zh-CN" altLang="en-US" sz="2800" b="1" dirty="0" smtClean="0">
                <a:ea typeface="黑体" panose="02010609060101010101" pitchFamily="49" charset="-122"/>
              </a:rPr>
              <a:t>只有体积</a:t>
            </a:r>
            <a:r>
              <a:rPr lang="zh-CN" altLang="en-US" sz="2800" b="1" dirty="0">
                <a:ea typeface="黑体" panose="02010609060101010101" pitchFamily="49" charset="-122"/>
              </a:rPr>
              <a:t>变化功，因此              </a:t>
            </a:r>
            <a:endParaRPr lang="en-US" altLang="zh-CN" sz="2800" b="1" dirty="0" smtClean="0">
              <a:ea typeface="黑体" panose="02010609060101010101" pitchFamily="49" charset="-122"/>
            </a:endParaRPr>
          </a:p>
          <a:p>
            <a:r>
              <a:rPr lang="zh-CN" altLang="en-US" sz="2800" b="1" dirty="0" smtClean="0">
                <a:ea typeface="黑体" panose="02010609060101010101" pitchFamily="49" charset="-122"/>
              </a:rPr>
              <a:t>代入</a:t>
            </a:r>
            <a:r>
              <a:rPr lang="zh-CN" altLang="en-US" sz="2800" b="1" dirty="0">
                <a:ea typeface="黑体" panose="02010609060101010101" pitchFamily="49" charset="-122"/>
              </a:rPr>
              <a:t>上式，得 </a:t>
            </a:r>
            <a:endParaRPr lang="zh-CN" altLang="en-US" sz="2800" b="1" dirty="0">
              <a:ea typeface="黑体" panose="02010609060101010101" pitchFamily="49" charset="-122"/>
            </a:endParaRPr>
          </a:p>
        </p:txBody>
      </p:sp>
      <p:sp>
        <p:nvSpPr>
          <p:cNvPr id="40966" name="矩形 52327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967" name="对象 523274"/>
          <p:cNvGraphicFramePr>
            <a:graphicFrameLocks noChangeAspect="1"/>
          </p:cNvGraphicFramePr>
          <p:nvPr/>
        </p:nvGraphicFramePr>
        <p:xfrm>
          <a:off x="5582478" y="3548008"/>
          <a:ext cx="2011680" cy="502920"/>
        </p:xfrm>
        <a:graphic>
          <a:graphicData uri="http://schemas.openxmlformats.org/presentationml/2006/ole">
            <mc:AlternateContent xmlns:mc="http://schemas.openxmlformats.org/markup-compatibility/2006">
              <mc:Choice xmlns:v="urn:schemas-microsoft-com:vml" Requires="v">
                <p:oleObj spid="_x0000_s73905" name="" r:id="rId3" imgW="914400" imgH="228600" progId="Equation.DSMT4">
                  <p:embed/>
                </p:oleObj>
              </mc:Choice>
              <mc:Fallback>
                <p:oleObj name="" r:id="rId3" imgW="914400" imgH="228600" progId="Equation.DSMT4">
                  <p:embed/>
                  <p:pic>
                    <p:nvPicPr>
                      <p:cNvPr id="0" name="对象 52327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2478" y="3548008"/>
                        <a:ext cx="201168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8" name="矩形 52327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969" name="对象 523276"/>
          <p:cNvGraphicFramePr/>
          <p:nvPr/>
        </p:nvGraphicFramePr>
        <p:xfrm>
          <a:off x="2549386" y="4471374"/>
          <a:ext cx="3124200" cy="573088"/>
        </p:xfrm>
        <a:graphic>
          <a:graphicData uri="http://schemas.openxmlformats.org/presentationml/2006/ole">
            <mc:AlternateContent xmlns:mc="http://schemas.openxmlformats.org/markup-compatibility/2006">
              <mc:Choice xmlns:v="urn:schemas-microsoft-com:vml" Requires="v">
                <p:oleObj spid="_x0000_s73906" name="" r:id="rId5" imgW="1244600" imgH="228600" progId="Equation.DSMT4">
                  <p:embed/>
                </p:oleObj>
              </mc:Choice>
              <mc:Fallback>
                <p:oleObj name="" r:id="rId5" imgW="1244600" imgH="228600" progId="Equation.DSMT4">
                  <p:embed/>
                  <p:pic>
                    <p:nvPicPr>
                      <p:cNvPr id="0" name="对象 52327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9386" y="4471374"/>
                        <a:ext cx="31242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70" name="矩形 523279"/>
          <p:cNvSpPr>
            <a:spLocks noChangeArrowheads="1"/>
          </p:cNvSpPr>
          <p:nvPr/>
        </p:nvSpPr>
        <p:spPr bwMode="auto">
          <a:xfrm>
            <a:off x="364434" y="5135649"/>
            <a:ext cx="277992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ea typeface="黑体" panose="02010609060101010101" pitchFamily="49" charset="-122"/>
              </a:rPr>
              <a:t>代入熵的定义式 </a:t>
            </a:r>
            <a:endParaRPr lang="zh-CN" altLang="en-US" sz="2800" b="1" dirty="0">
              <a:ea typeface="黑体" panose="02010609060101010101" pitchFamily="49" charset="-122"/>
            </a:endParaRPr>
          </a:p>
        </p:txBody>
      </p:sp>
      <p:sp>
        <p:nvSpPr>
          <p:cNvPr id="40971" name="矩形 52328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972" name="对象 523280"/>
          <p:cNvGraphicFramePr/>
          <p:nvPr/>
        </p:nvGraphicFramePr>
        <p:xfrm>
          <a:off x="2690190" y="5497911"/>
          <a:ext cx="2133600" cy="1001713"/>
        </p:xfrm>
        <a:graphic>
          <a:graphicData uri="http://schemas.openxmlformats.org/presentationml/2006/ole">
            <mc:AlternateContent xmlns:mc="http://schemas.openxmlformats.org/markup-compatibility/2006">
              <mc:Choice xmlns:v="urn:schemas-microsoft-com:vml" Requires="v">
                <p:oleObj spid="_x0000_s73907" name="" r:id="rId7" imgW="951865" imgH="444500" progId="Equation.DSMT4">
                  <p:embed/>
                </p:oleObj>
              </mc:Choice>
              <mc:Fallback>
                <p:oleObj name="" r:id="rId7" imgW="951865" imgH="444500" progId="Equation.DSMT4">
                  <p:embed/>
                  <p:pic>
                    <p:nvPicPr>
                      <p:cNvPr id="0" name="对象 52328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0190" y="5497911"/>
                        <a:ext cx="213360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73" name="右箭头 523282"/>
          <p:cNvSpPr>
            <a:spLocks noChangeArrowheads="1"/>
          </p:cNvSpPr>
          <p:nvPr/>
        </p:nvSpPr>
        <p:spPr bwMode="auto">
          <a:xfrm>
            <a:off x="4972878" y="5815860"/>
            <a:ext cx="609600" cy="228600"/>
          </a:xfrm>
          <a:prstGeom prst="rightArrow">
            <a:avLst>
              <a:gd name="adj1" fmla="val 50000"/>
              <a:gd name="adj2" fmla="val 66568"/>
            </a:avLst>
          </a:prstGeom>
          <a:solidFill>
            <a:schemeClr val="accent1"/>
          </a:solidFill>
          <a:ln w="9525">
            <a:solidFill>
              <a:schemeClr val="tx1"/>
            </a:solidFill>
            <a:miter lim="800000"/>
          </a:ln>
        </p:spPr>
        <p:txBody>
          <a:bodyPr/>
          <a:lstStyle/>
          <a:p>
            <a:endParaRPr lang="zh-CN" altLang="en-US"/>
          </a:p>
        </p:txBody>
      </p:sp>
      <p:sp>
        <p:nvSpPr>
          <p:cNvPr id="40974" name="矩形 52328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975" name="对象 523283"/>
          <p:cNvGraphicFramePr/>
          <p:nvPr/>
        </p:nvGraphicFramePr>
        <p:xfrm>
          <a:off x="5999921" y="5551006"/>
          <a:ext cx="2133600" cy="817563"/>
        </p:xfrm>
        <a:graphic>
          <a:graphicData uri="http://schemas.openxmlformats.org/presentationml/2006/ole">
            <mc:AlternateContent xmlns:mc="http://schemas.openxmlformats.org/markup-compatibility/2006">
              <mc:Choice xmlns:v="urn:schemas-microsoft-com:vml" Requires="v">
                <p:oleObj spid="_x0000_s73908" name="" r:id="rId9" imgW="1016000" imgH="393700" progId="Equation.DSMT4">
                  <p:embed/>
                </p:oleObj>
              </mc:Choice>
              <mc:Fallback>
                <p:oleObj name="" r:id="rId9" imgW="1016000" imgH="393700" progId="Equation.DSMT4">
                  <p:embed/>
                  <p:pic>
                    <p:nvPicPr>
                      <p:cNvPr id="0" name="对象 52328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99921" y="5551006"/>
                        <a:ext cx="2133600" cy="817563"/>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77" name="对象 523268"/>
          <p:cNvGraphicFramePr/>
          <p:nvPr/>
        </p:nvGraphicFramePr>
        <p:xfrm>
          <a:off x="2720008" y="977347"/>
          <a:ext cx="3133725" cy="501650"/>
        </p:xfrm>
        <a:graphic>
          <a:graphicData uri="http://schemas.openxmlformats.org/presentationml/2006/ole">
            <mc:AlternateContent xmlns:mc="http://schemas.openxmlformats.org/markup-compatibility/2006">
              <mc:Choice xmlns:v="urn:schemas-microsoft-com:vml" Requires="v">
                <p:oleObj spid="_x0000_s73909" name="" r:id="rId11" imgW="1268730" imgH="203200" progId="Equation.DSMT4">
                  <p:embed/>
                </p:oleObj>
              </mc:Choice>
              <mc:Fallback>
                <p:oleObj name="" r:id="rId11" imgW="1268730" imgH="203200" progId="Equation.DSMT4">
                  <p:embed/>
                  <p:pic>
                    <p:nvPicPr>
                      <p:cNvPr id="0" name="对象 52326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0008" y="977347"/>
                        <a:ext cx="31337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78" name="文本框 523267"/>
          <p:cNvSpPr txBox="1">
            <a:spLocks noChangeArrowheads="1"/>
          </p:cNvSpPr>
          <p:nvPr/>
        </p:nvSpPr>
        <p:spPr bwMode="auto">
          <a:xfrm>
            <a:off x="357808" y="1510745"/>
            <a:ext cx="5955476" cy="66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buClr>
                <a:srgbClr val="FF3300"/>
              </a:buClr>
              <a:buFont typeface="Wingdings" panose="05000000000000000000" pitchFamily="2" charset="2"/>
              <a:buNone/>
            </a:pPr>
            <a:r>
              <a:rPr lang="zh-CN" altLang="en-US" sz="2800" b="1" baseline="0" dirty="0">
                <a:ea typeface="黑体" panose="02010609060101010101" pitchFamily="49" charset="-122"/>
              </a:rPr>
              <a:t>假设该系统经历某内可逆过程，则有</a:t>
            </a:r>
            <a:endParaRPr lang="zh-CN" altLang="en-US" sz="2800" b="1" baseline="0" dirty="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文本框 401409"/>
          <p:cNvSpPr txBox="1">
            <a:spLocks noChangeArrowheads="1"/>
          </p:cNvSpPr>
          <p:nvPr/>
        </p:nvSpPr>
        <p:spPr bwMode="auto">
          <a:xfrm>
            <a:off x="223059" y="2390776"/>
            <a:ext cx="76354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Clr>
                <a:schemeClr val="accent1"/>
              </a:buClr>
              <a:buSzPct val="145000"/>
              <a:buFont typeface="Wingdings" panose="05000000000000000000" pitchFamily="2" charset="2"/>
              <a:buNone/>
            </a:pPr>
            <a:r>
              <a:rPr lang="zh-CN" altLang="en-US" sz="3200" b="1" baseline="0" dirty="0" smtClean="0">
                <a:latin typeface="黑体" panose="02010609060101010101" pitchFamily="49" charset="-122"/>
                <a:ea typeface="黑体" panose="02010609060101010101" pitchFamily="49" charset="-122"/>
              </a:rPr>
              <a:t>简单可压缩系统状态参数熵的微分关系式</a:t>
            </a:r>
            <a:endParaRPr lang="zh-CN" altLang="en-US" sz="1800" b="1" baseline="0" dirty="0">
              <a:latin typeface="黑体" panose="02010609060101010101" pitchFamily="49" charset="-122"/>
              <a:ea typeface="黑体" panose="02010609060101010101" pitchFamily="49" charset="-122"/>
            </a:endParaRPr>
          </a:p>
        </p:txBody>
      </p:sp>
      <p:graphicFrame>
        <p:nvGraphicFramePr>
          <p:cNvPr id="41986" name="对象 401410"/>
          <p:cNvGraphicFramePr/>
          <p:nvPr/>
        </p:nvGraphicFramePr>
        <p:xfrm>
          <a:off x="310690" y="1022403"/>
          <a:ext cx="1924050" cy="1268413"/>
        </p:xfrm>
        <a:graphic>
          <a:graphicData uri="http://schemas.openxmlformats.org/presentationml/2006/ole">
            <mc:AlternateContent xmlns:mc="http://schemas.openxmlformats.org/markup-compatibility/2006">
              <mc:Choice xmlns:v="urn:schemas-microsoft-com:vml" Requires="v">
                <p:oleObj spid="_x0000_s74841" name="" r:id="rId1" imgW="723900" imgH="482600" progId="Equation.DSMT4">
                  <p:embed/>
                </p:oleObj>
              </mc:Choice>
              <mc:Fallback>
                <p:oleObj name="" r:id="rId1" imgW="723900" imgH="482600" progId="Equation.DSMT4">
                  <p:embed/>
                  <p:pic>
                    <p:nvPicPr>
                      <p:cNvPr id="0" name="对象 40141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690" y="1022403"/>
                        <a:ext cx="1924050"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87" name="对象 401411"/>
          <p:cNvGraphicFramePr/>
          <p:nvPr/>
        </p:nvGraphicFramePr>
        <p:xfrm>
          <a:off x="2171770" y="1555856"/>
          <a:ext cx="1068387" cy="635000"/>
        </p:xfrm>
        <a:graphic>
          <a:graphicData uri="http://schemas.openxmlformats.org/presentationml/2006/ole">
            <mc:AlternateContent xmlns:mc="http://schemas.openxmlformats.org/markup-compatibility/2006">
              <mc:Choice xmlns:v="urn:schemas-microsoft-com:vml" Requires="v">
                <p:oleObj spid="_x0000_s74842" name="" r:id="rId3" imgW="469900" imgH="279400" progId="Equation.DSMT4">
                  <p:embed/>
                </p:oleObj>
              </mc:Choice>
              <mc:Fallback>
                <p:oleObj name="" r:id="rId3" imgW="469900" imgH="279400" progId="Equation.DSMT4">
                  <p:embed/>
                  <p:pic>
                    <p:nvPicPr>
                      <p:cNvPr id="0" name="对象 4014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1770" y="1555856"/>
                        <a:ext cx="1068387"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88" name="文本框 401412"/>
          <p:cNvSpPr txBox="1">
            <a:spLocks noChangeArrowheads="1"/>
          </p:cNvSpPr>
          <p:nvPr/>
        </p:nvSpPr>
        <p:spPr bwMode="auto">
          <a:xfrm>
            <a:off x="3342083" y="562689"/>
            <a:ext cx="533511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lnSpc>
                <a:spcPct val="150000"/>
              </a:lnSpc>
              <a:buFont typeface="Arial" panose="020B0604020202020204" pitchFamily="34" charset="0"/>
              <a:buChar char="•"/>
            </a:pPr>
            <a:r>
              <a:rPr lang="zh-CN" altLang="en-US" sz="2800" b="1" baseline="0" dirty="0">
                <a:ea typeface="黑体" panose="02010609060101010101" pitchFamily="49" charset="-122"/>
              </a:rPr>
              <a:t>用过程量来定义状态量</a:t>
            </a:r>
            <a:endParaRPr lang="zh-CN" altLang="en-US" sz="2800" b="1" baseline="0" dirty="0">
              <a:ea typeface="黑体" panose="02010609060101010101" pitchFamily="49" charset="-122"/>
            </a:endParaRPr>
          </a:p>
          <a:p>
            <a:pPr marL="457200" indent="-457200">
              <a:lnSpc>
                <a:spcPct val="150000"/>
              </a:lnSpc>
              <a:buFont typeface="Arial" panose="020B0604020202020204" pitchFamily="34" charset="0"/>
              <a:buChar char="•"/>
            </a:pPr>
            <a:r>
              <a:rPr lang="zh-CN" altLang="en-US" sz="2800" b="1" baseline="0" dirty="0">
                <a:ea typeface="黑体" panose="02010609060101010101" pitchFamily="49" charset="-122"/>
              </a:rPr>
              <a:t>求不可逆熵变要假想可逆过程</a:t>
            </a:r>
            <a:endParaRPr lang="zh-CN" altLang="en-US" sz="2800" b="1" baseline="0" dirty="0">
              <a:ea typeface="黑体" panose="02010609060101010101" pitchFamily="49" charset="-122"/>
            </a:endParaRPr>
          </a:p>
        </p:txBody>
      </p:sp>
      <p:graphicFrame>
        <p:nvGraphicFramePr>
          <p:cNvPr id="401414" name="对象 401413"/>
          <p:cNvGraphicFramePr>
            <a:graphicFrameLocks noChangeAspect="1"/>
          </p:cNvGraphicFramePr>
          <p:nvPr/>
        </p:nvGraphicFramePr>
        <p:xfrm>
          <a:off x="310690" y="3317591"/>
          <a:ext cx="2670920" cy="1034981"/>
        </p:xfrm>
        <a:graphic>
          <a:graphicData uri="http://schemas.openxmlformats.org/presentationml/2006/ole">
            <mc:AlternateContent xmlns:mc="http://schemas.openxmlformats.org/markup-compatibility/2006">
              <mc:Choice xmlns:v="urn:schemas-microsoft-com:vml" Requires="v">
                <p:oleObj spid="_x0000_s74843" name="" r:id="rId5" imgW="1015365" imgH="393700" progId="Equation.DSMT4">
                  <p:embed/>
                </p:oleObj>
              </mc:Choice>
              <mc:Fallback>
                <p:oleObj name="" r:id="rId5" imgW="1015365" imgH="393700" progId="Equation.DSMT4">
                  <p:embed/>
                  <p:pic>
                    <p:nvPicPr>
                      <p:cNvPr id="0" name="对象 40141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690" y="3317591"/>
                        <a:ext cx="2670920" cy="103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1416" name="文本框 401415"/>
          <p:cNvSpPr txBox="1">
            <a:spLocks noChangeArrowheads="1"/>
          </p:cNvSpPr>
          <p:nvPr/>
        </p:nvSpPr>
        <p:spPr bwMode="auto">
          <a:xfrm>
            <a:off x="3240157" y="3007575"/>
            <a:ext cx="551776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Clr>
                <a:srgbClr val="0033CC"/>
              </a:buClr>
              <a:buFont typeface="Wingdings" panose="05000000000000000000" pitchFamily="2" charset="2"/>
              <a:buChar char="ü"/>
            </a:pPr>
            <a:r>
              <a:rPr lang="zh-CN" altLang="en-US" sz="2800" b="1" baseline="0" dirty="0">
                <a:ea typeface="黑体" panose="02010609060101010101" pitchFamily="49" charset="-122"/>
              </a:rPr>
              <a:t>用状态量的组合来定义状态量</a:t>
            </a:r>
            <a:endParaRPr lang="zh-CN" altLang="en-US" sz="2800" b="1" baseline="0" dirty="0">
              <a:ea typeface="黑体" panose="02010609060101010101" pitchFamily="49" charset="-122"/>
            </a:endParaRPr>
          </a:p>
          <a:p>
            <a:pPr>
              <a:lnSpc>
                <a:spcPct val="150000"/>
              </a:lnSpc>
              <a:buClr>
                <a:srgbClr val="0033CC"/>
              </a:buClr>
              <a:buFont typeface="Wingdings" panose="05000000000000000000" pitchFamily="2" charset="2"/>
              <a:buChar char="ü"/>
            </a:pPr>
            <a:r>
              <a:rPr lang="zh-CN" altLang="en-US" sz="2800" b="1" baseline="0" dirty="0" smtClean="0">
                <a:ea typeface="黑体" panose="02010609060101010101" pitchFamily="49" charset="-122"/>
              </a:rPr>
              <a:t>求</a:t>
            </a:r>
            <a:r>
              <a:rPr lang="zh-CN" altLang="en-US" sz="2800" b="1" baseline="0" dirty="0">
                <a:ea typeface="黑体" panose="02010609060101010101" pitchFamily="49" charset="-122"/>
              </a:rPr>
              <a:t>熵变不需要假想可逆过程</a:t>
            </a:r>
            <a:endParaRPr lang="zh-CN" altLang="en-US" sz="2800" b="1" baseline="0" dirty="0">
              <a:ea typeface="黑体" panose="02010609060101010101" pitchFamily="49" charset="-122"/>
            </a:endParaRPr>
          </a:p>
        </p:txBody>
      </p:sp>
      <p:sp>
        <p:nvSpPr>
          <p:cNvPr id="8" name="文本框 7"/>
          <p:cNvSpPr txBox="1">
            <a:spLocks noChangeArrowheads="1"/>
          </p:cNvSpPr>
          <p:nvPr/>
        </p:nvSpPr>
        <p:spPr bwMode="auto">
          <a:xfrm>
            <a:off x="223060" y="267072"/>
            <a:ext cx="365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SzPct val="145000"/>
              <a:buFont typeface="Wingdings" panose="05000000000000000000" pitchFamily="2" charset="2"/>
              <a:buNone/>
            </a:pPr>
            <a:r>
              <a:rPr lang="zh-CN" altLang="en-US" sz="3200" b="1" baseline="0" dirty="0">
                <a:latin typeface="黑体" panose="02010609060101010101" pitchFamily="49" charset="-122"/>
                <a:ea typeface="黑体" panose="02010609060101010101" pitchFamily="49" charset="-122"/>
              </a:rPr>
              <a:t>熵</a:t>
            </a:r>
            <a:r>
              <a:rPr lang="zh-CN" altLang="en-US" sz="3200" b="1" baseline="0" dirty="0" smtClean="0">
                <a:latin typeface="黑体" panose="02010609060101010101" pitchFamily="49" charset="-122"/>
                <a:ea typeface="黑体" panose="02010609060101010101" pitchFamily="49" charset="-122"/>
              </a:rPr>
              <a:t>的</a:t>
            </a:r>
            <a:r>
              <a:rPr lang="zh-CN" altLang="en-US" sz="3200" b="1" dirty="0">
                <a:latin typeface="黑体" panose="02010609060101010101" pitchFamily="49" charset="-122"/>
                <a:ea typeface="黑体" panose="02010609060101010101" pitchFamily="49" charset="-122"/>
              </a:rPr>
              <a:t>定义式</a:t>
            </a:r>
            <a:endParaRPr lang="zh-CN" altLang="en-US" sz="1800" b="1" baseline="0" dirty="0">
              <a:latin typeface="黑体" panose="02010609060101010101" pitchFamily="49" charset="-122"/>
              <a:ea typeface="黑体" panose="02010609060101010101" pitchFamily="49" charset="-122"/>
            </a:endParaRPr>
          </a:p>
        </p:txBody>
      </p:sp>
      <p:grpSp>
        <p:nvGrpSpPr>
          <p:cNvPr id="6" name="组合 5"/>
          <p:cNvGrpSpPr/>
          <p:nvPr/>
        </p:nvGrpSpPr>
        <p:grpSpPr>
          <a:xfrm>
            <a:off x="487606" y="4305158"/>
            <a:ext cx="8077200" cy="1946692"/>
            <a:chOff x="487606" y="4305158"/>
            <a:chExt cx="8077200" cy="1946692"/>
          </a:xfrm>
        </p:grpSpPr>
        <p:sp>
          <p:nvSpPr>
            <p:cNvPr id="9" name="矩形 523286"/>
            <p:cNvSpPr>
              <a:spLocks noChangeArrowheads="1"/>
            </p:cNvSpPr>
            <p:nvPr/>
          </p:nvSpPr>
          <p:spPr bwMode="auto">
            <a:xfrm>
              <a:off x="487606" y="5051521"/>
              <a:ext cx="8077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p>
              <a:r>
                <a:rPr lang="zh-CN" altLang="en-US" sz="2400" b="1" baseline="0" dirty="0">
                  <a:solidFill>
                    <a:srgbClr val="000000"/>
                  </a:solidFill>
                  <a:latin typeface="黑体" panose="02010609060101010101" pitchFamily="49" charset="-122"/>
                  <a:ea typeface="黑体" panose="02010609060101010101" pitchFamily="49" charset="-122"/>
                </a:rPr>
                <a:t>由于该式概念清晰，计算便捷，在有些教材中，也将它作为简单可压缩系统熵的定义式（例如，严家騄</a:t>
              </a:r>
              <a:r>
                <a:rPr lang="en-US" altLang="zh-CN" sz="2400" b="1" baseline="0" dirty="0">
                  <a:solidFill>
                    <a:srgbClr val="000000"/>
                  </a:solidFill>
                  <a:latin typeface="黑体" panose="02010609060101010101" pitchFamily="49" charset="-122"/>
                  <a:ea typeface="黑体" panose="02010609060101010101" pitchFamily="49" charset="-122"/>
                </a:rPr>
                <a:t>. </a:t>
              </a:r>
              <a:r>
                <a:rPr lang="zh-CN" altLang="en-US" sz="2400" b="1" baseline="0" dirty="0">
                  <a:solidFill>
                    <a:srgbClr val="000000"/>
                  </a:solidFill>
                  <a:latin typeface="黑体" panose="02010609060101010101" pitchFamily="49" charset="-122"/>
                  <a:ea typeface="黑体" panose="02010609060101010101" pitchFamily="49" charset="-122"/>
                </a:rPr>
                <a:t>工程热力学</a:t>
              </a:r>
              <a:r>
                <a:rPr lang="en-US" altLang="zh-CN" sz="2400" b="1" baseline="0" dirty="0">
                  <a:solidFill>
                    <a:srgbClr val="000000"/>
                  </a:solidFill>
                  <a:latin typeface="黑体" panose="02010609060101010101" pitchFamily="49" charset="-122"/>
                  <a:ea typeface="黑体" panose="02010609060101010101" pitchFamily="49" charset="-122"/>
                </a:rPr>
                <a:t>. </a:t>
              </a:r>
              <a:r>
                <a:rPr lang="zh-CN" altLang="en-US" sz="2400" b="1" baseline="0" dirty="0">
                  <a:solidFill>
                    <a:srgbClr val="000000"/>
                  </a:solidFill>
                  <a:latin typeface="黑体" panose="02010609060101010101" pitchFamily="49" charset="-122"/>
                  <a:ea typeface="黑体" panose="02010609060101010101" pitchFamily="49" charset="-122"/>
                </a:rPr>
                <a:t>第五版</a:t>
              </a:r>
              <a:r>
                <a:rPr lang="en-US" altLang="zh-CN" sz="2400" b="1" baseline="0" dirty="0">
                  <a:solidFill>
                    <a:srgbClr val="000000"/>
                  </a:solidFill>
                  <a:latin typeface="黑体" panose="02010609060101010101" pitchFamily="49" charset="-122"/>
                  <a:ea typeface="黑体" panose="02010609060101010101" pitchFamily="49" charset="-122"/>
                </a:rPr>
                <a:t>. </a:t>
              </a:r>
              <a:r>
                <a:rPr lang="zh-CN" altLang="en-US" sz="2400" b="1" baseline="0" dirty="0">
                  <a:solidFill>
                    <a:srgbClr val="000000"/>
                  </a:solidFill>
                  <a:latin typeface="黑体" panose="02010609060101010101" pitchFamily="49" charset="-122"/>
                  <a:ea typeface="黑体" panose="02010609060101010101" pitchFamily="49" charset="-122"/>
                </a:rPr>
                <a:t>北京</a:t>
              </a:r>
              <a:r>
                <a:rPr lang="en-US" altLang="zh-CN" sz="2400" b="1" baseline="0" dirty="0">
                  <a:solidFill>
                    <a:srgbClr val="000000"/>
                  </a:solidFill>
                  <a:latin typeface="黑体" panose="02010609060101010101" pitchFamily="49" charset="-122"/>
                  <a:ea typeface="黑体" panose="02010609060101010101" pitchFamily="49" charset="-122"/>
                </a:rPr>
                <a:t>:</a:t>
              </a:r>
              <a:r>
                <a:rPr lang="zh-CN" altLang="en-US" sz="2400" b="1" baseline="0" dirty="0">
                  <a:solidFill>
                    <a:srgbClr val="000000"/>
                  </a:solidFill>
                  <a:latin typeface="黑体" panose="02010609060101010101" pitchFamily="49" charset="-122"/>
                  <a:ea typeface="黑体" panose="02010609060101010101" pitchFamily="49" charset="-122"/>
                </a:rPr>
                <a:t>高等教育出版社</a:t>
              </a:r>
              <a:r>
                <a:rPr lang="en-US" altLang="zh-CN" sz="2400" b="1" baseline="0" dirty="0">
                  <a:solidFill>
                    <a:srgbClr val="000000"/>
                  </a:solidFill>
                  <a:latin typeface="黑体" panose="02010609060101010101" pitchFamily="49" charset="-122"/>
                  <a:ea typeface="黑体" panose="02010609060101010101" pitchFamily="49" charset="-122"/>
                </a:rPr>
                <a:t>, 2015: 11</a:t>
              </a:r>
              <a:r>
                <a:rPr lang="zh-CN" altLang="en-US" sz="2400" b="1" baseline="0" dirty="0">
                  <a:solidFill>
                    <a:srgbClr val="000000"/>
                  </a:solidFill>
                  <a:latin typeface="黑体" panose="02010609060101010101" pitchFamily="49" charset="-122"/>
                  <a:ea typeface="黑体" panose="02010609060101010101" pitchFamily="49" charset="-122"/>
                </a:rPr>
                <a:t>）</a:t>
              </a:r>
              <a:endParaRPr lang="en-US" altLang="zh-CN" sz="2400" b="1" baseline="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 name="下箭头 1"/>
            <p:cNvSpPr/>
            <p:nvPr/>
          </p:nvSpPr>
          <p:spPr>
            <a:xfrm>
              <a:off x="1272715" y="4305158"/>
              <a:ext cx="250613" cy="6122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 name="直接连接符 4"/>
          <p:cNvCxnSpPr/>
          <p:nvPr/>
        </p:nvCxnSpPr>
        <p:spPr>
          <a:xfrm>
            <a:off x="249563" y="2336628"/>
            <a:ext cx="8454139" cy="0"/>
          </a:xfrm>
          <a:prstGeom prst="line">
            <a:avLst/>
          </a:prstGeom>
          <a:ln w="15875"/>
        </p:spPr>
        <p:style>
          <a:lnRef idx="1">
            <a:schemeClr val="accent1"/>
          </a:lnRef>
          <a:fillRef idx="0">
            <a:schemeClr val="accent1"/>
          </a:fillRef>
          <a:effectRef idx="0">
            <a:schemeClr val="accent1"/>
          </a:effectRef>
          <a:fontRef idx="minor">
            <a:schemeClr val="tx1"/>
          </a:fontRef>
        </p:style>
      </p:cxnSp>
    </p:spTree>
    <p:custDataLst>
      <p:tags r:id="rId7"/>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198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41987"/>
                                        </p:tgtEl>
                                        <p:attrNameLst>
                                          <p:attrName>style.visibility</p:attrName>
                                        </p:attrNameLst>
                                      </p:cBhvr>
                                      <p:to>
                                        <p:strVal val="visible"/>
                                      </p:to>
                                    </p:set>
                                    <p:animEffect transition="in" filter="randombar(horizontal)">
                                      <p:cBhvr>
                                        <p:cTn id="20" dur="500"/>
                                        <p:tgtEl>
                                          <p:spTgt spid="4198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98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401416"/>
                                        </p:tgtEl>
                                        <p:attrNameLst>
                                          <p:attrName>style.visibility</p:attrName>
                                        </p:attrNameLst>
                                      </p:cBhvr>
                                      <p:to>
                                        <p:strVal val="visible"/>
                                      </p:to>
                                    </p:set>
                                    <p:animEffect transition="in" filter="blinds(horizontal)">
                                      <p:cBhvr>
                                        <p:cTn id="29" dur="500"/>
                                        <p:tgtEl>
                                          <p:spTgt spid="4014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up)">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p:bldP spid="401416"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文本占位符 570370"/>
          <p:cNvSpPr>
            <a:spLocks noGrp="1" noChangeArrowheads="1"/>
          </p:cNvSpPr>
          <p:nvPr>
            <p:ph idx="1"/>
          </p:nvPr>
        </p:nvSpPr>
        <p:spPr>
          <a:xfrm>
            <a:off x="695739" y="659296"/>
            <a:ext cx="6511925" cy="990600"/>
          </a:xfrm>
        </p:spPr>
        <p:txBody>
          <a:bodyPr>
            <a:normAutofit/>
          </a:bodyPr>
          <a:lstStyle/>
          <a:p>
            <a:pPr>
              <a:buFontTx/>
              <a:buNone/>
            </a:pPr>
            <a:r>
              <a:rPr lang="zh-CN" altLang="en-US" sz="4000" b="1" dirty="0" smtClean="0">
                <a:latin typeface="黑体" panose="02010609060101010101" pitchFamily="49" charset="-122"/>
                <a:ea typeface="黑体" panose="02010609060101010101" pitchFamily="49" charset="-122"/>
              </a:rPr>
              <a:t>三、常见系统的熵变</a:t>
            </a:r>
            <a:endParaRPr lang="zh-CN" altLang="en-US" sz="4000" b="1" dirty="0" smtClean="0">
              <a:latin typeface="黑体" panose="02010609060101010101" pitchFamily="49" charset="-122"/>
              <a:ea typeface="黑体" panose="02010609060101010101" pitchFamily="49" charset="-122"/>
            </a:endParaRPr>
          </a:p>
        </p:txBody>
      </p:sp>
      <p:sp>
        <p:nvSpPr>
          <p:cNvPr id="5" name="文本占位符 570370"/>
          <p:cNvSpPr txBox="1">
            <a:spLocks noChangeArrowheads="1"/>
          </p:cNvSpPr>
          <p:nvPr/>
        </p:nvSpPr>
        <p:spPr>
          <a:xfrm>
            <a:off x="1146313" y="2011017"/>
            <a:ext cx="6511925" cy="3077817"/>
          </a:xfrm>
          <a:prstGeom prst="rect">
            <a:avLst/>
          </a:prstGeom>
        </p:spPr>
        <p:txBody>
          <a:bodyPr vert="horz" lIns="91440" tIns="45720" rIns="91440" bIns="45720" rtlCol="0">
            <a:normAutofit fontScale="77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20000"/>
              </a:lnSpc>
              <a:buFontTx/>
              <a:buNone/>
            </a:pPr>
            <a:r>
              <a:rPr lang="en-US" altLang="zh-CN" sz="4000" b="1" dirty="0" smtClean="0">
                <a:latin typeface="黑体" panose="02010609060101010101" pitchFamily="49" charset="-122"/>
                <a:ea typeface="黑体" panose="02010609060101010101" pitchFamily="49" charset="-122"/>
              </a:rPr>
              <a:t>1</a:t>
            </a:r>
            <a:r>
              <a:rPr lang="zh-CN" altLang="en-US" sz="4000" b="1" dirty="0" smtClean="0">
                <a:latin typeface="黑体" panose="02010609060101010101" pitchFamily="49" charset="-122"/>
                <a:ea typeface="黑体" panose="02010609060101010101" pitchFamily="49" charset="-122"/>
              </a:rPr>
              <a:t>、理想气体</a:t>
            </a:r>
            <a:endParaRPr lang="en-US" altLang="zh-CN" sz="4000" b="1" dirty="0" smtClean="0">
              <a:latin typeface="黑体" panose="02010609060101010101" pitchFamily="49" charset="-122"/>
              <a:ea typeface="黑体" panose="02010609060101010101" pitchFamily="49" charset="-122"/>
            </a:endParaRPr>
          </a:p>
          <a:p>
            <a:pPr>
              <a:lnSpc>
                <a:spcPct val="120000"/>
              </a:lnSpc>
              <a:buFontTx/>
              <a:buNone/>
            </a:pPr>
            <a:r>
              <a:rPr lang="en-US" altLang="zh-CN" sz="4000" b="1" dirty="0" smtClean="0">
                <a:latin typeface="黑体" panose="02010609060101010101" pitchFamily="49" charset="-122"/>
                <a:ea typeface="黑体" panose="02010609060101010101" pitchFamily="49" charset="-122"/>
              </a:rPr>
              <a:t>2</a:t>
            </a:r>
            <a:r>
              <a:rPr lang="zh-CN" altLang="en-US" sz="4000" b="1" dirty="0" smtClean="0">
                <a:latin typeface="黑体" panose="02010609060101010101" pitchFamily="49" charset="-122"/>
                <a:ea typeface="黑体" panose="02010609060101010101" pitchFamily="49" charset="-122"/>
              </a:rPr>
              <a:t>、固体或液体</a:t>
            </a:r>
            <a:endParaRPr lang="en-US" altLang="zh-CN" sz="4000" b="1" dirty="0" smtClean="0">
              <a:latin typeface="黑体" panose="02010609060101010101" pitchFamily="49" charset="-122"/>
              <a:ea typeface="黑体" panose="02010609060101010101" pitchFamily="49" charset="-122"/>
            </a:endParaRPr>
          </a:p>
          <a:p>
            <a:pPr>
              <a:lnSpc>
                <a:spcPct val="120000"/>
              </a:lnSpc>
              <a:buFontTx/>
              <a:buNone/>
            </a:pPr>
            <a:r>
              <a:rPr lang="en-US" altLang="zh-CN" sz="4000" b="1" dirty="0" smtClean="0">
                <a:latin typeface="黑体" panose="02010609060101010101" pitchFamily="49" charset="-122"/>
                <a:ea typeface="黑体" panose="02010609060101010101" pitchFamily="49" charset="-122"/>
              </a:rPr>
              <a:t>3</a:t>
            </a:r>
            <a:r>
              <a:rPr lang="zh-CN" altLang="en-US" sz="4000" b="1" dirty="0" smtClean="0">
                <a:latin typeface="黑体" panose="02010609060101010101" pitchFamily="49" charset="-122"/>
                <a:ea typeface="黑体" panose="02010609060101010101" pitchFamily="49" charset="-122"/>
              </a:rPr>
              <a:t>、热源和冷源</a:t>
            </a:r>
            <a:endParaRPr lang="en-US" altLang="zh-CN" sz="4000" b="1" dirty="0" smtClean="0">
              <a:latin typeface="黑体" panose="02010609060101010101" pitchFamily="49" charset="-122"/>
              <a:ea typeface="黑体" panose="02010609060101010101" pitchFamily="49" charset="-122"/>
            </a:endParaRPr>
          </a:p>
          <a:p>
            <a:pPr>
              <a:lnSpc>
                <a:spcPct val="120000"/>
              </a:lnSpc>
              <a:buFontTx/>
              <a:buNone/>
            </a:pPr>
            <a:r>
              <a:rPr lang="en-US" altLang="zh-CN" sz="4000" b="1" dirty="0" smtClean="0">
                <a:latin typeface="黑体" panose="02010609060101010101" pitchFamily="49" charset="-122"/>
                <a:ea typeface="黑体" panose="02010609060101010101" pitchFamily="49" charset="-122"/>
              </a:rPr>
              <a:t>4</a:t>
            </a:r>
            <a:r>
              <a:rPr lang="zh-CN" altLang="en-US" sz="4000" b="1" dirty="0" smtClean="0">
                <a:latin typeface="黑体" panose="02010609060101010101" pitchFamily="49" charset="-122"/>
                <a:ea typeface="黑体" panose="02010609060101010101" pitchFamily="49" charset="-122"/>
              </a:rPr>
              <a:t>、相变系统</a:t>
            </a:r>
            <a:endParaRPr lang="en-US" altLang="zh-CN" sz="4000" b="1" dirty="0" smtClean="0">
              <a:latin typeface="黑体" panose="02010609060101010101" pitchFamily="49" charset="-122"/>
              <a:ea typeface="黑体" panose="02010609060101010101" pitchFamily="49" charset="-122"/>
            </a:endParaRPr>
          </a:p>
          <a:p>
            <a:pPr>
              <a:lnSpc>
                <a:spcPct val="120000"/>
              </a:lnSpc>
              <a:buFontTx/>
              <a:buNone/>
            </a:pPr>
            <a:r>
              <a:rPr lang="en-US" altLang="zh-CN" sz="4000" b="1" dirty="0" smtClean="0">
                <a:latin typeface="黑体" panose="02010609060101010101" pitchFamily="49" charset="-122"/>
                <a:ea typeface="黑体" panose="02010609060101010101" pitchFamily="49" charset="-122"/>
              </a:rPr>
              <a:t>5</a:t>
            </a:r>
            <a:r>
              <a:rPr lang="zh-CN" altLang="en-US" sz="4000" b="1" dirty="0" smtClean="0">
                <a:latin typeface="黑体" panose="02010609060101010101" pitchFamily="49" charset="-122"/>
                <a:ea typeface="黑体" panose="02010609060101010101" pitchFamily="49" charset="-122"/>
              </a:rPr>
              <a:t>、孤立系统</a:t>
            </a:r>
            <a:endParaRPr lang="zh-CN" altLang="en-US" sz="4000" b="1"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矩形 40243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1202" name="对象 402435"/>
          <p:cNvGraphicFramePr/>
          <p:nvPr/>
        </p:nvGraphicFramePr>
        <p:xfrm>
          <a:off x="990600" y="1889125"/>
          <a:ext cx="2819400" cy="746125"/>
        </p:xfrm>
        <a:graphic>
          <a:graphicData uri="http://schemas.openxmlformats.org/presentationml/2006/ole">
            <mc:AlternateContent xmlns:mc="http://schemas.openxmlformats.org/markup-compatibility/2006">
              <mc:Choice xmlns:v="urn:schemas-microsoft-com:vml" Requires="v">
                <p:oleObj spid="_x0000_s76039" name="" r:id="rId1" imgW="1473200" imgH="393700" progId="Equation.DSMT4">
                  <p:embed/>
                </p:oleObj>
              </mc:Choice>
              <mc:Fallback>
                <p:oleObj name="" r:id="rId1" imgW="1473200" imgH="393700" progId="Equation.DSMT4">
                  <p:embed/>
                  <p:pic>
                    <p:nvPicPr>
                      <p:cNvPr id="0" name="对象 40243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889125"/>
                        <a:ext cx="28194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3" name="文本框 402437"/>
          <p:cNvSpPr txBox="1">
            <a:spLocks noChangeArrowheads="1"/>
          </p:cNvSpPr>
          <p:nvPr/>
        </p:nvSpPr>
        <p:spPr bwMode="auto">
          <a:xfrm>
            <a:off x="1143000" y="563563"/>
            <a:ext cx="3657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SzPct val="145000"/>
              <a:buFont typeface="Wingdings" panose="05000000000000000000" pitchFamily="2" charset="2"/>
              <a:buNone/>
            </a:pPr>
            <a:r>
              <a:rPr lang="en-US" altLang="zh-CN" sz="3200" b="1" baseline="0">
                <a:latin typeface="黑体" panose="02010609060101010101" pitchFamily="49" charset="-122"/>
                <a:ea typeface="黑体" panose="02010609060101010101" pitchFamily="49" charset="-122"/>
              </a:rPr>
              <a:t>1</a:t>
            </a:r>
            <a:r>
              <a:rPr lang="zh-CN" altLang="en-US" sz="3200" b="1" baseline="0">
                <a:latin typeface="黑体" panose="02010609060101010101" pitchFamily="49" charset="-122"/>
                <a:ea typeface="黑体" panose="02010609060101010101" pitchFamily="49" charset="-122"/>
              </a:rPr>
              <a:t>、理想气体</a:t>
            </a:r>
            <a:endParaRPr lang="zh-CN" altLang="en-US" sz="1800" b="1" baseline="0">
              <a:latin typeface="黑体" panose="02010609060101010101" pitchFamily="49" charset="-122"/>
              <a:ea typeface="黑体" panose="02010609060101010101" pitchFamily="49" charset="-122"/>
            </a:endParaRPr>
          </a:p>
        </p:txBody>
      </p:sp>
      <p:graphicFrame>
        <p:nvGraphicFramePr>
          <p:cNvPr id="51204" name="对象 402438"/>
          <p:cNvGraphicFramePr/>
          <p:nvPr/>
        </p:nvGraphicFramePr>
        <p:xfrm>
          <a:off x="914400" y="3108325"/>
          <a:ext cx="2971800" cy="763588"/>
        </p:xfrm>
        <a:graphic>
          <a:graphicData uri="http://schemas.openxmlformats.org/presentationml/2006/ole">
            <mc:AlternateContent xmlns:mc="http://schemas.openxmlformats.org/markup-compatibility/2006">
              <mc:Choice xmlns:v="urn:schemas-microsoft-com:vml" Requires="v">
                <p:oleObj spid="_x0000_s76040" name="" r:id="rId3" imgW="1663700" imgH="431800" progId="Equation.DSMT4">
                  <p:embed/>
                </p:oleObj>
              </mc:Choice>
              <mc:Fallback>
                <p:oleObj name="" r:id="rId3" imgW="1663700" imgH="431800" progId="Equation.DSMT4">
                  <p:embed/>
                  <p:pic>
                    <p:nvPicPr>
                      <p:cNvPr id="0" name="对象 4024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108325"/>
                        <a:ext cx="29718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205" name="对象 402440"/>
          <p:cNvGraphicFramePr/>
          <p:nvPr/>
        </p:nvGraphicFramePr>
        <p:xfrm>
          <a:off x="914400" y="4327525"/>
          <a:ext cx="2971800" cy="760413"/>
        </p:xfrm>
        <a:graphic>
          <a:graphicData uri="http://schemas.openxmlformats.org/presentationml/2006/ole">
            <mc:AlternateContent xmlns:mc="http://schemas.openxmlformats.org/markup-compatibility/2006">
              <mc:Choice xmlns:v="urn:schemas-microsoft-com:vml" Requires="v">
                <p:oleObj spid="_x0000_s76041" name="" r:id="rId5" imgW="1676400" imgH="431800" progId="Equation.DSMT4">
                  <p:embed/>
                </p:oleObj>
              </mc:Choice>
              <mc:Fallback>
                <p:oleObj name="" r:id="rId5" imgW="1676400" imgH="431800" progId="Equation.DSMT4">
                  <p:embed/>
                  <p:pic>
                    <p:nvPicPr>
                      <p:cNvPr id="0" name="对象 40244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4327525"/>
                        <a:ext cx="29718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2443" name="文本框 402442"/>
          <p:cNvSpPr txBox="1">
            <a:spLocks noChangeArrowheads="1"/>
          </p:cNvSpPr>
          <p:nvPr/>
        </p:nvSpPr>
        <p:spPr bwMode="auto">
          <a:xfrm>
            <a:off x="5181600" y="563563"/>
            <a:ext cx="3657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SzPct val="145000"/>
              <a:buFont typeface="Wingdings" panose="05000000000000000000" pitchFamily="2" charset="2"/>
              <a:buNone/>
            </a:pPr>
            <a:r>
              <a:rPr lang="en-US" altLang="zh-CN" sz="3200" b="1" baseline="0">
                <a:latin typeface="黑体" panose="02010609060101010101" pitchFamily="49" charset="-122"/>
                <a:ea typeface="黑体" panose="02010609060101010101" pitchFamily="49" charset="-122"/>
              </a:rPr>
              <a:t>2</a:t>
            </a:r>
            <a:r>
              <a:rPr lang="zh-CN" altLang="en-US" sz="3200" b="1" baseline="0">
                <a:latin typeface="黑体" panose="02010609060101010101" pitchFamily="49" charset="-122"/>
                <a:ea typeface="黑体" panose="02010609060101010101" pitchFamily="49" charset="-122"/>
              </a:rPr>
              <a:t>、固体或液体</a:t>
            </a:r>
            <a:endParaRPr lang="zh-CN" altLang="en-US" sz="1800" b="1" baseline="0">
              <a:latin typeface="黑体" panose="02010609060101010101" pitchFamily="49" charset="-122"/>
              <a:ea typeface="黑体" panose="02010609060101010101" pitchFamily="49" charset="-122"/>
            </a:endParaRPr>
          </a:p>
        </p:txBody>
      </p:sp>
      <p:sp>
        <p:nvSpPr>
          <p:cNvPr id="51207" name="矩形 402444"/>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2444" name="对象 402443"/>
          <p:cNvGraphicFramePr/>
          <p:nvPr/>
        </p:nvGraphicFramePr>
        <p:xfrm>
          <a:off x="6096000" y="1600200"/>
          <a:ext cx="914400" cy="354013"/>
        </p:xfrm>
        <a:graphic>
          <a:graphicData uri="http://schemas.openxmlformats.org/presentationml/2006/ole">
            <mc:AlternateContent xmlns:mc="http://schemas.openxmlformats.org/markup-compatibility/2006">
              <mc:Choice xmlns:v="urn:schemas-microsoft-com:vml" Requires="v">
                <p:oleObj spid="_x0000_s76042" name="" r:id="rId7" imgW="469900" imgH="177800" progId="Equation.DSMT4">
                  <p:embed/>
                </p:oleObj>
              </mc:Choice>
              <mc:Fallback>
                <p:oleObj name="" r:id="rId7" imgW="469900" imgH="177800" progId="Equation.DSMT4">
                  <p:embed/>
                  <p:pic>
                    <p:nvPicPr>
                      <p:cNvPr id="0" name="对象 40244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1600200"/>
                        <a:ext cx="9144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02446" name="对象 402445"/>
          <p:cNvGraphicFramePr/>
          <p:nvPr/>
        </p:nvGraphicFramePr>
        <p:xfrm>
          <a:off x="5562600" y="2362200"/>
          <a:ext cx="2209800" cy="847725"/>
        </p:xfrm>
        <a:graphic>
          <a:graphicData uri="http://schemas.openxmlformats.org/presentationml/2006/ole">
            <mc:AlternateContent xmlns:mc="http://schemas.openxmlformats.org/markup-compatibility/2006">
              <mc:Choice xmlns:v="urn:schemas-microsoft-com:vml" Requires="v">
                <p:oleObj spid="_x0000_s76043" name="" r:id="rId9" imgW="1015365" imgH="393700" progId="Equation.DSMT4">
                  <p:embed/>
                </p:oleObj>
              </mc:Choice>
              <mc:Fallback>
                <p:oleObj name="" r:id="rId9" imgW="1015365" imgH="393700" progId="Equation.DSMT4">
                  <p:embed/>
                  <p:pic>
                    <p:nvPicPr>
                      <p:cNvPr id="0" name="对象 40244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2362200"/>
                        <a:ext cx="22098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2447" name="直接连接符 402446"/>
          <p:cNvSpPr>
            <a:spLocks noChangeShapeType="1"/>
          </p:cNvSpPr>
          <p:nvPr/>
        </p:nvSpPr>
        <p:spPr bwMode="auto">
          <a:xfrm flipV="1">
            <a:off x="7239000" y="2362200"/>
            <a:ext cx="45720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1" name="矩形 402448"/>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2448" name="对象 402447"/>
          <p:cNvGraphicFramePr/>
          <p:nvPr/>
        </p:nvGraphicFramePr>
        <p:xfrm>
          <a:off x="5867400" y="3505200"/>
          <a:ext cx="1447800" cy="344488"/>
        </p:xfrm>
        <a:graphic>
          <a:graphicData uri="http://schemas.openxmlformats.org/presentationml/2006/ole">
            <mc:AlternateContent xmlns:mc="http://schemas.openxmlformats.org/markup-compatibility/2006">
              <mc:Choice xmlns:v="urn:schemas-microsoft-com:vml" Requires="v">
                <p:oleObj spid="_x0000_s76044" name="" r:id="rId11" imgW="761365" imgH="177800" progId="Equation.DSMT4">
                  <p:embed/>
                </p:oleObj>
              </mc:Choice>
              <mc:Fallback>
                <p:oleObj name="" r:id="rId11" imgW="761365" imgH="177800" progId="Equation.DSMT4">
                  <p:embed/>
                  <p:pic>
                    <p:nvPicPr>
                      <p:cNvPr id="0" name="对象 40244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3505200"/>
                        <a:ext cx="14478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13" name="矩形 40245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2450" name="对象 402449"/>
          <p:cNvGraphicFramePr/>
          <p:nvPr/>
        </p:nvGraphicFramePr>
        <p:xfrm>
          <a:off x="5867400" y="4049713"/>
          <a:ext cx="1524000" cy="522287"/>
        </p:xfrm>
        <a:graphic>
          <a:graphicData uri="http://schemas.openxmlformats.org/presentationml/2006/ole">
            <mc:AlternateContent xmlns:mc="http://schemas.openxmlformats.org/markup-compatibility/2006">
              <mc:Choice xmlns:v="urn:schemas-microsoft-com:vml" Requires="v">
                <p:oleObj spid="_x0000_s76045" name="" r:id="rId13" imgW="698500" imgH="241300" progId="Equation.DSMT4">
                  <p:embed/>
                </p:oleObj>
              </mc:Choice>
              <mc:Fallback>
                <p:oleObj name="" r:id="rId13" imgW="698500" imgH="241300" progId="Equation.DSMT4">
                  <p:embed/>
                  <p:pic>
                    <p:nvPicPr>
                      <p:cNvPr id="0" name="对象 40244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7400" y="4049713"/>
                        <a:ext cx="15240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15" name="矩形 40245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2452" name="对象 402451"/>
          <p:cNvGraphicFramePr/>
          <p:nvPr/>
        </p:nvGraphicFramePr>
        <p:xfrm>
          <a:off x="5562600" y="4800600"/>
          <a:ext cx="1981200" cy="968375"/>
        </p:xfrm>
        <a:graphic>
          <a:graphicData uri="http://schemas.openxmlformats.org/presentationml/2006/ole">
            <mc:AlternateContent xmlns:mc="http://schemas.openxmlformats.org/markup-compatibility/2006">
              <mc:Choice xmlns:v="urn:schemas-microsoft-com:vml" Requires="v">
                <p:oleObj spid="_x0000_s76046" name="" r:id="rId15" imgW="876300" imgH="431800" progId="Equation.DSMT4">
                  <p:embed/>
                </p:oleObj>
              </mc:Choice>
              <mc:Fallback>
                <p:oleObj name="" r:id="rId15" imgW="876300" imgH="431800" progId="Equation.DSMT4">
                  <p:embed/>
                  <p:pic>
                    <p:nvPicPr>
                      <p:cNvPr id="0" name="对象 40245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62600" y="4800600"/>
                        <a:ext cx="19812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17" name="矩形 40245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1218" name="对象 402453"/>
          <p:cNvGraphicFramePr/>
          <p:nvPr/>
        </p:nvGraphicFramePr>
        <p:xfrm>
          <a:off x="914400" y="5410200"/>
          <a:ext cx="3048000" cy="782638"/>
        </p:xfrm>
        <a:graphic>
          <a:graphicData uri="http://schemas.openxmlformats.org/presentationml/2006/ole">
            <mc:AlternateContent xmlns:mc="http://schemas.openxmlformats.org/markup-compatibility/2006">
              <mc:Choice xmlns:v="urn:schemas-microsoft-com:vml" Requires="v">
                <p:oleObj spid="_x0000_s76047" name="" r:id="rId17" imgW="1663700" imgH="431800" progId="Equation.DSMT4">
                  <p:embed/>
                </p:oleObj>
              </mc:Choice>
              <mc:Fallback>
                <p:oleObj name="" r:id="rId17" imgW="1663700" imgH="431800" progId="Equation.DSMT4">
                  <p:embed/>
                  <p:pic>
                    <p:nvPicPr>
                      <p:cNvPr id="0" name="对象 40245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4400" y="5410200"/>
                        <a:ext cx="3048000"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19" name="直接连接符 402455"/>
          <p:cNvSpPr>
            <a:spLocks noChangeShapeType="1"/>
          </p:cNvSpPr>
          <p:nvPr/>
        </p:nvSpPr>
        <p:spPr bwMode="auto">
          <a:xfrm>
            <a:off x="4648200" y="457200"/>
            <a:ext cx="0" cy="5943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ustDataLst>
      <p:tags r:id="rId19"/>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2443"/>
                                        </p:tgtEl>
                                        <p:attrNameLst>
                                          <p:attrName>style.visibility</p:attrName>
                                        </p:attrNameLst>
                                      </p:cBhvr>
                                      <p:to>
                                        <p:strVal val="visible"/>
                                      </p:to>
                                    </p:set>
                                    <p:animEffect transition="in" filter="blinds(horizontal)">
                                      <p:cBhvr>
                                        <p:cTn id="7" dur="500"/>
                                        <p:tgtEl>
                                          <p:spTgt spid="402443"/>
                                        </p:tgtEl>
                                      </p:cBhvr>
                                    </p:animEffect>
                                  </p:childTnLst>
                                </p:cTn>
                              </p:par>
                              <p:par>
                                <p:cTn id="8" presetID="3" presetClass="entr" presetSubtype="10" fill="hold" nodeType="withEffect">
                                  <p:stCondLst>
                                    <p:cond delay="0"/>
                                  </p:stCondLst>
                                  <p:childTnLst>
                                    <p:set>
                                      <p:cBhvr>
                                        <p:cTn id="9" dur="1" fill="hold">
                                          <p:stCondLst>
                                            <p:cond delay="0"/>
                                          </p:stCondLst>
                                        </p:cTn>
                                        <p:tgtEl>
                                          <p:spTgt spid="402444"/>
                                        </p:tgtEl>
                                        <p:attrNameLst>
                                          <p:attrName>style.visibility</p:attrName>
                                        </p:attrNameLst>
                                      </p:cBhvr>
                                      <p:to>
                                        <p:strVal val="visible"/>
                                      </p:to>
                                    </p:set>
                                    <p:animEffect transition="in" filter="blinds(horizontal)">
                                      <p:cBhvr>
                                        <p:cTn id="10" dur="500"/>
                                        <p:tgtEl>
                                          <p:spTgt spid="402444"/>
                                        </p:tgtEl>
                                      </p:cBhvr>
                                    </p:animEffect>
                                  </p:childTnLst>
                                </p:cTn>
                              </p:par>
                              <p:par>
                                <p:cTn id="11" presetID="3" presetClass="entr" presetSubtype="10" fill="hold" nodeType="withEffect">
                                  <p:stCondLst>
                                    <p:cond delay="0"/>
                                  </p:stCondLst>
                                  <p:childTnLst>
                                    <p:set>
                                      <p:cBhvr>
                                        <p:cTn id="12" dur="1" fill="hold">
                                          <p:stCondLst>
                                            <p:cond delay="0"/>
                                          </p:stCondLst>
                                        </p:cTn>
                                        <p:tgtEl>
                                          <p:spTgt spid="402446"/>
                                        </p:tgtEl>
                                        <p:attrNameLst>
                                          <p:attrName>style.visibility</p:attrName>
                                        </p:attrNameLst>
                                      </p:cBhvr>
                                      <p:to>
                                        <p:strVal val="visible"/>
                                      </p:to>
                                    </p:set>
                                    <p:animEffect transition="in" filter="blinds(horizontal)">
                                      <p:cBhvr>
                                        <p:cTn id="13" dur="500"/>
                                        <p:tgtEl>
                                          <p:spTgt spid="402446"/>
                                        </p:tgtEl>
                                      </p:cBhvr>
                                    </p:animEffect>
                                  </p:childTnLst>
                                </p:cTn>
                              </p:par>
                              <p:par>
                                <p:cTn id="14" presetID="3" presetClass="entr" presetSubtype="10" fill="hold" nodeType="withEffect">
                                  <p:stCondLst>
                                    <p:cond delay="0"/>
                                  </p:stCondLst>
                                  <p:childTnLst>
                                    <p:set>
                                      <p:cBhvr>
                                        <p:cTn id="15" dur="1" fill="hold">
                                          <p:stCondLst>
                                            <p:cond delay="0"/>
                                          </p:stCondLst>
                                        </p:cTn>
                                        <p:tgtEl>
                                          <p:spTgt spid="402447"/>
                                        </p:tgtEl>
                                        <p:attrNameLst>
                                          <p:attrName>style.visibility</p:attrName>
                                        </p:attrNameLst>
                                      </p:cBhvr>
                                      <p:to>
                                        <p:strVal val="visible"/>
                                      </p:to>
                                    </p:set>
                                    <p:animEffect transition="in" filter="blinds(horizontal)">
                                      <p:cBhvr>
                                        <p:cTn id="16" dur="500"/>
                                        <p:tgtEl>
                                          <p:spTgt spid="402447"/>
                                        </p:tgtEl>
                                      </p:cBhvr>
                                    </p:animEffect>
                                  </p:childTnLst>
                                </p:cTn>
                              </p:par>
                              <p:par>
                                <p:cTn id="17" presetID="3" presetClass="entr" presetSubtype="10" fill="hold" nodeType="withEffect">
                                  <p:stCondLst>
                                    <p:cond delay="0"/>
                                  </p:stCondLst>
                                  <p:childTnLst>
                                    <p:set>
                                      <p:cBhvr>
                                        <p:cTn id="18" dur="1" fill="hold">
                                          <p:stCondLst>
                                            <p:cond delay="0"/>
                                          </p:stCondLst>
                                        </p:cTn>
                                        <p:tgtEl>
                                          <p:spTgt spid="402448"/>
                                        </p:tgtEl>
                                        <p:attrNameLst>
                                          <p:attrName>style.visibility</p:attrName>
                                        </p:attrNameLst>
                                      </p:cBhvr>
                                      <p:to>
                                        <p:strVal val="visible"/>
                                      </p:to>
                                    </p:set>
                                    <p:animEffect transition="in" filter="blinds(horizontal)">
                                      <p:cBhvr>
                                        <p:cTn id="19" dur="500"/>
                                        <p:tgtEl>
                                          <p:spTgt spid="402448"/>
                                        </p:tgtEl>
                                      </p:cBhvr>
                                    </p:animEffect>
                                  </p:childTnLst>
                                </p:cTn>
                              </p:par>
                              <p:par>
                                <p:cTn id="20" presetID="3" presetClass="entr" presetSubtype="10" fill="hold" nodeType="withEffect">
                                  <p:stCondLst>
                                    <p:cond delay="0"/>
                                  </p:stCondLst>
                                  <p:childTnLst>
                                    <p:set>
                                      <p:cBhvr>
                                        <p:cTn id="21" dur="1" fill="hold">
                                          <p:stCondLst>
                                            <p:cond delay="0"/>
                                          </p:stCondLst>
                                        </p:cTn>
                                        <p:tgtEl>
                                          <p:spTgt spid="402450"/>
                                        </p:tgtEl>
                                        <p:attrNameLst>
                                          <p:attrName>style.visibility</p:attrName>
                                        </p:attrNameLst>
                                      </p:cBhvr>
                                      <p:to>
                                        <p:strVal val="visible"/>
                                      </p:to>
                                    </p:set>
                                    <p:animEffect transition="in" filter="blinds(horizontal)">
                                      <p:cBhvr>
                                        <p:cTn id="22" dur="500"/>
                                        <p:tgtEl>
                                          <p:spTgt spid="402450"/>
                                        </p:tgtEl>
                                      </p:cBhvr>
                                    </p:animEffect>
                                  </p:childTnLst>
                                </p:cTn>
                              </p:par>
                              <p:par>
                                <p:cTn id="23" presetID="3" presetClass="entr" presetSubtype="10" fill="hold" nodeType="withEffect">
                                  <p:stCondLst>
                                    <p:cond delay="0"/>
                                  </p:stCondLst>
                                  <p:childTnLst>
                                    <p:set>
                                      <p:cBhvr>
                                        <p:cTn id="24" dur="1" fill="hold">
                                          <p:stCondLst>
                                            <p:cond delay="0"/>
                                          </p:stCondLst>
                                        </p:cTn>
                                        <p:tgtEl>
                                          <p:spTgt spid="402452"/>
                                        </p:tgtEl>
                                        <p:attrNameLst>
                                          <p:attrName>style.visibility</p:attrName>
                                        </p:attrNameLst>
                                      </p:cBhvr>
                                      <p:to>
                                        <p:strVal val="visible"/>
                                      </p:to>
                                    </p:set>
                                    <p:animEffect transition="in" filter="blinds(horizontal)">
                                      <p:cBhvr>
                                        <p:cTn id="25" dur="500"/>
                                        <p:tgtEl>
                                          <p:spTgt spid="402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4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文本框 403459"/>
          <p:cNvSpPr txBox="1">
            <a:spLocks noChangeArrowheads="1"/>
          </p:cNvSpPr>
          <p:nvPr/>
        </p:nvSpPr>
        <p:spPr bwMode="auto">
          <a:xfrm>
            <a:off x="1524000" y="381000"/>
            <a:ext cx="647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SzPct val="145000"/>
              <a:buFont typeface="Wingdings" panose="05000000000000000000" pitchFamily="2" charset="2"/>
              <a:buNone/>
            </a:pPr>
            <a:r>
              <a:rPr lang="en-US" altLang="zh-CN" sz="3200" b="1" baseline="0">
                <a:latin typeface="黑体" panose="02010609060101010101" pitchFamily="49" charset="-122"/>
                <a:ea typeface="黑体" panose="02010609060101010101" pitchFamily="49" charset="-122"/>
              </a:rPr>
              <a:t>3</a:t>
            </a:r>
            <a:r>
              <a:rPr lang="zh-CN" altLang="en-US" sz="3200" b="1" baseline="0">
                <a:latin typeface="黑体" panose="02010609060101010101" pitchFamily="49" charset="-122"/>
                <a:ea typeface="黑体" panose="02010609060101010101" pitchFamily="49" charset="-122"/>
              </a:rPr>
              <a:t>、（恒温）热源或冷源的熵变</a:t>
            </a:r>
            <a:endParaRPr lang="zh-CN" altLang="en-US" sz="3200" b="1" baseline="0">
              <a:latin typeface="黑体" panose="02010609060101010101" pitchFamily="49" charset="-122"/>
              <a:ea typeface="黑体" panose="02010609060101010101" pitchFamily="49" charset="-122"/>
            </a:endParaRPr>
          </a:p>
        </p:txBody>
      </p:sp>
      <p:sp>
        <p:nvSpPr>
          <p:cNvPr id="52226" name="矩形 403463"/>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27" name="矩形 403467"/>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28" name="矩形 403471"/>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52229" name="图片 403473" descr="BobastroReservoir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00800" y="4525010"/>
            <a:ext cx="2590165" cy="194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图片 403474" descr="1210_14_23---manhattan-skyline-new-york-city_web"/>
          <p:cNvPicPr>
            <a:picLocks noChangeAspect="1" noChangeArrowheads="1"/>
          </p:cNvPicPr>
          <p:nvPr/>
        </p:nvPicPr>
        <p:blipFill>
          <a:blip r:embed="rId2">
            <a:extLst>
              <a:ext uri="{28A0092B-C50C-407E-A947-70E740481C1C}">
                <a14:useLocalDpi xmlns:a14="http://schemas.microsoft.com/office/drawing/2010/main" val="0"/>
              </a:ext>
            </a:extLst>
          </a:blip>
          <a:srcRect b="8346"/>
          <a:stretch>
            <a:fillRect/>
          </a:stretch>
        </p:blipFill>
        <p:spPr bwMode="auto">
          <a:xfrm>
            <a:off x="6400800" y="2797175"/>
            <a:ext cx="2590800" cy="158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矩形 403475"/>
          <p:cNvSpPr>
            <a:spLocks noChangeArrowheads="1"/>
          </p:cNvSpPr>
          <p:nvPr/>
        </p:nvSpPr>
        <p:spPr bwMode="auto">
          <a:xfrm>
            <a:off x="609600" y="1295400"/>
            <a:ext cx="8001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zh-CN" altLang="en-US" sz="2000" b="1" baseline="0" dirty="0">
                <a:ea typeface="楷体_GB2312" pitchFamily="49" charset="-122"/>
              </a:rPr>
              <a:t>热源（或冷源）在放出（或吸收）热量后内部能够很快地达到平衡以保持内部的温度始终不变且处处相同，此为准平衡过程，其内部不存在有限温差传热导致的耗散效应和其它耗散效应</a:t>
            </a:r>
            <a:endParaRPr lang="zh-CN" altLang="en-US" sz="2000" b="1" baseline="0" dirty="0">
              <a:ea typeface="楷体_GB2312" pitchFamily="49" charset="-122"/>
            </a:endParaRPr>
          </a:p>
          <a:p>
            <a:pPr>
              <a:spcBef>
                <a:spcPct val="20000"/>
              </a:spcBef>
            </a:pPr>
            <a:r>
              <a:rPr lang="zh-CN" altLang="en-US" sz="2000" b="1" baseline="0" dirty="0">
                <a:ea typeface="楷体_GB2312" pitchFamily="49" charset="-122"/>
              </a:rPr>
              <a:t>恒温热源（或冷源）在提供（或吸收）热量时为</a:t>
            </a:r>
            <a:r>
              <a:rPr lang="zh-CN" altLang="en-US" sz="2000" b="1" baseline="0" dirty="0">
                <a:solidFill>
                  <a:srgbClr val="FF0000"/>
                </a:solidFill>
                <a:ea typeface="楷体_GB2312" pitchFamily="49" charset="-122"/>
              </a:rPr>
              <a:t>内可逆过程</a:t>
            </a:r>
            <a:r>
              <a:rPr lang="zh-CN" altLang="en-US" sz="2000" b="1" baseline="0" dirty="0">
                <a:ea typeface="楷体_GB2312" pitchFamily="49" charset="-122"/>
              </a:rPr>
              <a:t>。</a:t>
            </a:r>
            <a:endParaRPr lang="zh-CN" altLang="en-US" sz="2000" b="1" baseline="0" dirty="0">
              <a:ea typeface="楷体_GB2312" pitchFamily="49" charset="-122"/>
            </a:endParaRPr>
          </a:p>
        </p:txBody>
      </p:sp>
      <p:sp>
        <p:nvSpPr>
          <p:cNvPr id="52232" name="矩形 40347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3477" name="对象 403476"/>
          <p:cNvGraphicFramePr/>
          <p:nvPr/>
        </p:nvGraphicFramePr>
        <p:xfrm>
          <a:off x="2743200" y="3200400"/>
          <a:ext cx="2209800" cy="1038225"/>
        </p:xfrm>
        <a:graphic>
          <a:graphicData uri="http://schemas.openxmlformats.org/presentationml/2006/ole">
            <mc:AlternateContent xmlns:mc="http://schemas.openxmlformats.org/markup-compatibility/2006">
              <mc:Choice xmlns:v="urn:schemas-microsoft-com:vml" Requires="v">
                <p:oleObj spid="_x0000_s76860" name="" r:id="rId3" imgW="951865" imgH="444500" progId="Equation.DSMT4">
                  <p:embed/>
                </p:oleObj>
              </mc:Choice>
              <mc:Fallback>
                <p:oleObj name="" r:id="rId3" imgW="951865" imgH="444500" progId="Equation.DSMT4">
                  <p:embed/>
                  <p:pic>
                    <p:nvPicPr>
                      <p:cNvPr id="0" name="对象 40347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200400"/>
                        <a:ext cx="22098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3479" name="文本框 403478"/>
          <p:cNvSpPr txBox="1">
            <a:spLocks noChangeArrowheads="1"/>
          </p:cNvSpPr>
          <p:nvPr/>
        </p:nvSpPr>
        <p:spPr bwMode="auto">
          <a:xfrm>
            <a:off x="762000" y="3327400"/>
            <a:ext cx="365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SzPct val="145000"/>
              <a:buFont typeface="Wingdings" panose="05000000000000000000" pitchFamily="2" charset="2"/>
              <a:buNone/>
            </a:pPr>
            <a:r>
              <a:rPr lang="zh-CN" altLang="en-US" sz="3200" baseline="0">
                <a:latin typeface="黑体" panose="02010609060101010101" pitchFamily="49" charset="-122"/>
                <a:ea typeface="黑体" panose="02010609060101010101" pitchFamily="49" charset="-122"/>
              </a:rPr>
              <a:t>直接利用</a:t>
            </a:r>
            <a:endParaRPr lang="zh-CN" altLang="en-US" sz="3200" b="1" baseline="0">
              <a:latin typeface="黑体" panose="02010609060101010101" pitchFamily="49" charset="-122"/>
              <a:ea typeface="黑体" panose="02010609060101010101" pitchFamily="49" charset="-122"/>
            </a:endParaRPr>
          </a:p>
        </p:txBody>
      </p:sp>
      <p:sp>
        <p:nvSpPr>
          <p:cNvPr id="52235" name="矩形 403480"/>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3480" name="对象 403479"/>
          <p:cNvGraphicFramePr/>
          <p:nvPr/>
        </p:nvGraphicFramePr>
        <p:xfrm>
          <a:off x="228600" y="4724400"/>
          <a:ext cx="5791200" cy="906463"/>
        </p:xfrm>
        <a:graphic>
          <a:graphicData uri="http://schemas.openxmlformats.org/presentationml/2006/ole">
            <mc:AlternateContent xmlns:mc="http://schemas.openxmlformats.org/markup-compatibility/2006">
              <mc:Choice xmlns:v="urn:schemas-microsoft-com:vml" Requires="v">
                <p:oleObj spid="_x0000_s76861" name="" r:id="rId5" imgW="3162300" imgH="495300" progId="Equation.DSMT4">
                  <p:embed/>
                </p:oleObj>
              </mc:Choice>
              <mc:Fallback>
                <p:oleObj name="" r:id="rId5" imgW="3162300" imgH="495300" progId="Equation.DSMT4">
                  <p:embed/>
                  <p:pic>
                    <p:nvPicPr>
                      <p:cNvPr id="0" name="对象 40347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4724400"/>
                        <a:ext cx="57912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7"/>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3477"/>
                                        </p:tgtEl>
                                        <p:attrNameLst>
                                          <p:attrName>style.visibility</p:attrName>
                                        </p:attrNameLst>
                                      </p:cBhvr>
                                      <p:to>
                                        <p:strVal val="visible"/>
                                      </p:to>
                                    </p:set>
                                    <p:animEffect transition="in" filter="blinds(horizontal)">
                                      <p:cBhvr>
                                        <p:cTn id="7" dur="500"/>
                                        <p:tgtEl>
                                          <p:spTgt spid="40347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3479"/>
                                        </p:tgtEl>
                                        <p:attrNameLst>
                                          <p:attrName>style.visibility</p:attrName>
                                        </p:attrNameLst>
                                      </p:cBhvr>
                                      <p:to>
                                        <p:strVal val="visible"/>
                                      </p:to>
                                    </p:set>
                                    <p:animEffect transition="in" filter="blinds(horizontal)">
                                      <p:cBhvr>
                                        <p:cTn id="10" dur="500"/>
                                        <p:tgtEl>
                                          <p:spTgt spid="403479"/>
                                        </p:tgtEl>
                                      </p:cBhvr>
                                    </p:animEffect>
                                  </p:childTnLst>
                                </p:cTn>
                              </p:par>
                              <p:par>
                                <p:cTn id="11" presetID="3" presetClass="entr" presetSubtype="10" fill="hold" nodeType="withEffect">
                                  <p:stCondLst>
                                    <p:cond delay="0"/>
                                  </p:stCondLst>
                                  <p:childTnLst>
                                    <p:set>
                                      <p:cBhvr>
                                        <p:cTn id="12" dur="1" fill="hold">
                                          <p:stCondLst>
                                            <p:cond delay="0"/>
                                          </p:stCondLst>
                                        </p:cTn>
                                        <p:tgtEl>
                                          <p:spTgt spid="403480"/>
                                        </p:tgtEl>
                                        <p:attrNameLst>
                                          <p:attrName>style.visibility</p:attrName>
                                        </p:attrNameLst>
                                      </p:cBhvr>
                                      <p:to>
                                        <p:strVal val="visible"/>
                                      </p:to>
                                    </p:set>
                                    <p:animEffect transition="in" filter="blinds(horizontal)">
                                      <p:cBhvr>
                                        <p:cTn id="13" dur="500"/>
                                        <p:tgtEl>
                                          <p:spTgt spid="403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7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文本框 404481"/>
          <p:cNvSpPr txBox="1">
            <a:spLocks noChangeArrowheads="1"/>
          </p:cNvSpPr>
          <p:nvPr/>
        </p:nvSpPr>
        <p:spPr bwMode="auto">
          <a:xfrm>
            <a:off x="1828800" y="381000"/>
            <a:ext cx="5410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Clr>
                <a:schemeClr val="accent1"/>
              </a:buClr>
              <a:buSzPct val="145000"/>
              <a:buFont typeface="Wingdings" panose="05000000000000000000" pitchFamily="2" charset="2"/>
              <a:buNone/>
            </a:pPr>
            <a:r>
              <a:rPr lang="en-US" altLang="zh-CN" sz="3600" b="1" baseline="0" dirty="0">
                <a:latin typeface="黑体" panose="02010609060101010101" pitchFamily="49" charset="-122"/>
                <a:ea typeface="黑体" panose="02010609060101010101" pitchFamily="49" charset="-122"/>
              </a:rPr>
              <a:t>4</a:t>
            </a:r>
            <a:r>
              <a:rPr lang="zh-CN" altLang="en-US" sz="3600" b="1" baseline="0" dirty="0">
                <a:latin typeface="黑体" panose="02010609060101010101" pitchFamily="49" charset="-122"/>
                <a:ea typeface="黑体" panose="02010609060101010101" pitchFamily="49" charset="-122"/>
              </a:rPr>
              <a:t>、相变</a:t>
            </a:r>
            <a:r>
              <a:rPr lang="zh-CN" altLang="en-US" sz="3600" b="1" baseline="0" dirty="0" smtClean="0">
                <a:latin typeface="黑体" panose="02010609060101010101" pitchFamily="49" charset="-122"/>
                <a:ea typeface="黑体" panose="02010609060101010101" pitchFamily="49" charset="-122"/>
              </a:rPr>
              <a:t>过程系统的</a:t>
            </a:r>
            <a:r>
              <a:rPr lang="zh-CN" altLang="en-US" sz="3600" b="1" baseline="0" dirty="0">
                <a:latin typeface="黑体" panose="02010609060101010101" pitchFamily="49" charset="-122"/>
                <a:ea typeface="黑体" panose="02010609060101010101" pitchFamily="49" charset="-122"/>
              </a:rPr>
              <a:t>熵变</a:t>
            </a:r>
            <a:endParaRPr lang="zh-CN" altLang="en-US" sz="3600" b="1" baseline="0" dirty="0">
              <a:latin typeface="黑体" panose="02010609060101010101" pitchFamily="49" charset="-122"/>
              <a:ea typeface="黑体" panose="02010609060101010101" pitchFamily="49" charset="-122"/>
            </a:endParaRPr>
          </a:p>
        </p:txBody>
      </p:sp>
      <p:sp>
        <p:nvSpPr>
          <p:cNvPr id="53250" name="矩形 40448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1" name="矩形 404487"/>
          <p:cNvSpPr>
            <a:spLocks noChangeArrowheads="1"/>
          </p:cNvSpPr>
          <p:nvPr/>
        </p:nvSpPr>
        <p:spPr bwMode="auto">
          <a:xfrm>
            <a:off x="800100" y="5404703"/>
            <a:ext cx="8001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pP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r</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ea typeface="黑体" panose="02010609060101010101" pitchFamily="49" charset="-122"/>
              </a:rPr>
              <a:t>相变潜热，是单位质量的系统在整个相变过程中吸收（或放出）的总热量，单位</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J/kg</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kJ/kg</a:t>
            </a:r>
            <a:endParaRPr lang="zh-CN" altLang="en-US" sz="2400" b="1" baseline="0" dirty="0">
              <a:latin typeface="Times New Roman" panose="02020603050405020304" pitchFamily="18" charset="0"/>
              <a:ea typeface="楷体_GB2312" pitchFamily="49" charset="-122"/>
              <a:cs typeface="Times New Roman" panose="02020603050405020304" pitchFamily="18" charset="0"/>
            </a:endParaRPr>
          </a:p>
        </p:txBody>
      </p:sp>
      <p:sp>
        <p:nvSpPr>
          <p:cNvPr id="53252" name="矩形 40448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3253" name="对象 404489"/>
          <p:cNvGraphicFramePr/>
          <p:nvPr/>
        </p:nvGraphicFramePr>
        <p:xfrm>
          <a:off x="3810000" y="2716212"/>
          <a:ext cx="1981200" cy="930275"/>
        </p:xfrm>
        <a:graphic>
          <a:graphicData uri="http://schemas.openxmlformats.org/presentationml/2006/ole">
            <mc:AlternateContent xmlns:mc="http://schemas.openxmlformats.org/markup-compatibility/2006">
              <mc:Choice xmlns:v="urn:schemas-microsoft-com:vml" Requires="v">
                <p:oleObj spid="_x0000_s77884" name="" r:id="rId1" imgW="951865" imgH="444500" progId="Equation.DSMT4">
                  <p:embed/>
                </p:oleObj>
              </mc:Choice>
              <mc:Fallback>
                <p:oleObj name="" r:id="rId1" imgW="951865" imgH="444500" progId="Equation.DSMT4">
                  <p:embed/>
                  <p:pic>
                    <p:nvPicPr>
                      <p:cNvPr id="0" name="对象 40448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716212"/>
                        <a:ext cx="19812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4" name="文本框 404490"/>
          <p:cNvSpPr txBox="1">
            <a:spLocks noChangeArrowheads="1"/>
          </p:cNvSpPr>
          <p:nvPr/>
        </p:nvSpPr>
        <p:spPr bwMode="auto">
          <a:xfrm>
            <a:off x="1944757" y="2809021"/>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accent1"/>
              </a:buClr>
              <a:buSzPct val="145000"/>
              <a:buFont typeface="Wingdings" panose="05000000000000000000" pitchFamily="2" charset="2"/>
              <a:buNone/>
            </a:pPr>
            <a:r>
              <a:rPr lang="zh-CN" altLang="en-US" sz="2800" baseline="0">
                <a:latin typeface="黑体" panose="02010609060101010101" pitchFamily="49" charset="-122"/>
                <a:ea typeface="黑体" panose="02010609060101010101" pitchFamily="49" charset="-122"/>
              </a:rPr>
              <a:t>直接利用</a:t>
            </a:r>
            <a:endParaRPr lang="zh-CN" altLang="en-US" sz="2800" b="1" baseline="0">
              <a:latin typeface="黑体" panose="02010609060101010101" pitchFamily="49" charset="-122"/>
              <a:ea typeface="黑体" panose="02010609060101010101" pitchFamily="49" charset="-122"/>
            </a:endParaRPr>
          </a:p>
        </p:txBody>
      </p:sp>
      <p:sp>
        <p:nvSpPr>
          <p:cNvPr id="53255" name="矩形 404491"/>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6" name="矩形 404494"/>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3257" name="对象 404493"/>
          <p:cNvGraphicFramePr/>
          <p:nvPr/>
        </p:nvGraphicFramePr>
        <p:xfrm>
          <a:off x="1364973" y="3760472"/>
          <a:ext cx="5791200" cy="1101725"/>
        </p:xfrm>
        <a:graphic>
          <a:graphicData uri="http://schemas.openxmlformats.org/presentationml/2006/ole">
            <mc:AlternateContent xmlns:mc="http://schemas.openxmlformats.org/markup-compatibility/2006">
              <mc:Choice xmlns:v="urn:schemas-microsoft-com:vml" Requires="v">
                <p:oleObj spid="_x0000_s77885" name="" r:id="rId3" imgW="2349500" imgH="444500" progId="Equation.DSMT4">
                  <p:embed/>
                </p:oleObj>
              </mc:Choice>
              <mc:Fallback>
                <p:oleObj name="" r:id="rId3" imgW="2349500" imgH="444500" progId="Equation.DSMT4">
                  <p:embed/>
                  <p:pic>
                    <p:nvPicPr>
                      <p:cNvPr id="0" name="对象 40449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973" y="3760472"/>
                        <a:ext cx="57912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矩形 404487"/>
          <p:cNvSpPr>
            <a:spLocks noChangeArrowheads="1"/>
          </p:cNvSpPr>
          <p:nvPr/>
        </p:nvSpPr>
        <p:spPr bwMode="auto">
          <a:xfrm>
            <a:off x="723900" y="1375647"/>
            <a:ext cx="8001000" cy="104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spcBef>
                <a:spcPct val="20000"/>
              </a:spcBef>
              <a:buFont typeface="Arial" panose="020B0604020202020204" pitchFamily="34" charset="0"/>
              <a:buChar char="•"/>
            </a:pPr>
            <a:r>
              <a:rPr lang="zh-CN" altLang="en-US" sz="2800" b="1" baseline="0" dirty="0" smtClean="0">
                <a:ea typeface="黑体" panose="02010609060101010101" pitchFamily="49" charset="-122"/>
              </a:rPr>
              <a:t>在相变过程中，系统的温度</a:t>
            </a:r>
            <a:r>
              <a:rPr lang="en-US" altLang="zh-CN" sz="2800" b="1" i="1" baseline="0" dirty="0" smtClean="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baseline="0" dirty="0" smtClean="0">
                <a:ea typeface="黑体" panose="02010609060101010101" pitchFamily="49" charset="-122"/>
              </a:rPr>
              <a:t>保持不变</a:t>
            </a:r>
            <a:endParaRPr lang="en-US" altLang="zh-CN" sz="2800" b="1" baseline="0" dirty="0" smtClean="0">
              <a:ea typeface="黑体" panose="02010609060101010101" pitchFamily="49" charset="-122"/>
            </a:endParaRPr>
          </a:p>
          <a:p>
            <a:pPr marL="457200" indent="-457200">
              <a:spcBef>
                <a:spcPct val="20000"/>
              </a:spcBef>
              <a:buFont typeface="Arial" panose="020B0604020202020204" pitchFamily="34" charset="0"/>
              <a:buChar char="•"/>
            </a:pPr>
            <a:r>
              <a:rPr lang="zh-CN" altLang="en-US" sz="2800" b="1" dirty="0" smtClean="0">
                <a:ea typeface="黑体" panose="02010609060101010101" pitchFamily="49" charset="-122"/>
              </a:rPr>
              <a:t>发生相变</a:t>
            </a:r>
            <a:r>
              <a:rPr lang="zh-CN" altLang="en-US" sz="2800" b="1" baseline="0" dirty="0" smtClean="0">
                <a:ea typeface="黑体" panose="02010609060101010101" pitchFamily="49" charset="-122"/>
              </a:rPr>
              <a:t>的</a:t>
            </a:r>
            <a:r>
              <a:rPr lang="zh-CN" altLang="en-US" sz="2800" b="1" baseline="0" dirty="0">
                <a:ea typeface="黑体" panose="02010609060101010101" pitchFamily="49" charset="-122"/>
              </a:rPr>
              <a:t>系统可视为恒温热源或冷源</a:t>
            </a:r>
            <a:r>
              <a:rPr lang="zh-CN" altLang="en-US" sz="2800" b="1" baseline="0" dirty="0">
                <a:ea typeface="楷体_GB2312" pitchFamily="49" charset="-122"/>
              </a:rPr>
              <a:t> </a:t>
            </a:r>
            <a:endParaRPr lang="zh-CN" altLang="en-US" sz="2800" b="1" baseline="0" dirty="0">
              <a:ea typeface="楷体_GB2312" pitchFamily="49" charset="-122"/>
            </a:endParaRPr>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文本框 524291"/>
          <p:cNvSpPr txBox="1">
            <a:spLocks noChangeArrowheads="1"/>
          </p:cNvSpPr>
          <p:nvPr/>
        </p:nvSpPr>
        <p:spPr bwMode="auto">
          <a:xfrm>
            <a:off x="1905000" y="762000"/>
            <a:ext cx="5410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Clr>
                <a:schemeClr val="accent1"/>
              </a:buClr>
              <a:buSzPct val="145000"/>
              <a:buFont typeface="Wingdings" panose="05000000000000000000" pitchFamily="2" charset="2"/>
              <a:buNone/>
            </a:pPr>
            <a:r>
              <a:rPr lang="en-US" altLang="zh-CN" sz="3600" b="1" baseline="0" dirty="0">
                <a:latin typeface="黑体" panose="02010609060101010101" pitchFamily="49" charset="-122"/>
                <a:ea typeface="黑体" panose="02010609060101010101" pitchFamily="49" charset="-122"/>
              </a:rPr>
              <a:t>5</a:t>
            </a:r>
            <a:r>
              <a:rPr lang="zh-CN" altLang="en-US" sz="3600" b="1" baseline="0" dirty="0">
                <a:latin typeface="黑体" panose="02010609060101010101" pitchFamily="49" charset="-122"/>
                <a:ea typeface="黑体" panose="02010609060101010101" pitchFamily="49" charset="-122"/>
              </a:rPr>
              <a:t>、</a:t>
            </a:r>
            <a:r>
              <a:rPr lang="zh-CN" altLang="en-US" sz="3600" b="1" baseline="0" dirty="0" smtClean="0">
                <a:latin typeface="黑体" panose="02010609060101010101" pitchFamily="49" charset="-122"/>
                <a:ea typeface="黑体" panose="02010609060101010101" pitchFamily="49" charset="-122"/>
              </a:rPr>
              <a:t>孤立系的</a:t>
            </a:r>
            <a:r>
              <a:rPr lang="zh-CN" altLang="en-US" sz="3600" b="1" baseline="0" dirty="0">
                <a:latin typeface="黑体" panose="02010609060101010101" pitchFamily="49" charset="-122"/>
                <a:ea typeface="黑体" panose="02010609060101010101" pitchFamily="49" charset="-122"/>
              </a:rPr>
              <a:t>熵变</a:t>
            </a:r>
            <a:endParaRPr lang="zh-CN" altLang="en-US" sz="3600" b="1" baseline="0" dirty="0">
              <a:latin typeface="黑体" panose="02010609060101010101" pitchFamily="49" charset="-122"/>
              <a:ea typeface="黑体" panose="02010609060101010101" pitchFamily="49" charset="-122"/>
            </a:endParaRPr>
          </a:p>
        </p:txBody>
      </p:sp>
      <p:graphicFrame>
        <p:nvGraphicFramePr>
          <p:cNvPr id="524293" name="对象 524292"/>
          <p:cNvGraphicFramePr/>
          <p:nvPr/>
        </p:nvGraphicFramePr>
        <p:xfrm>
          <a:off x="3048000" y="2362200"/>
          <a:ext cx="2514600" cy="974725"/>
        </p:xfrm>
        <a:graphic>
          <a:graphicData uri="http://schemas.openxmlformats.org/presentationml/2006/ole">
            <mc:AlternateContent xmlns:mc="http://schemas.openxmlformats.org/markup-compatibility/2006">
              <mc:Choice xmlns:v="urn:schemas-microsoft-com:vml" Requires="v">
                <p:oleObj spid="_x0000_s78879" name="" r:id="rId1" imgW="888365" imgH="342900" progId="Equation.DSMT4">
                  <p:embed/>
                </p:oleObj>
              </mc:Choice>
              <mc:Fallback>
                <p:oleObj name="" r:id="rId1" imgW="888365" imgH="342900" progId="Equation.DSMT4">
                  <p:embed/>
                  <p:pic>
                    <p:nvPicPr>
                      <p:cNvPr id="0" name="对象 52429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362200"/>
                        <a:ext cx="25146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4293"/>
                                        </p:tgtEl>
                                        <p:attrNameLst>
                                          <p:attrName>style.visibility</p:attrName>
                                        </p:attrNameLst>
                                      </p:cBhvr>
                                      <p:to>
                                        <p:strVal val="visible"/>
                                      </p:to>
                                    </p:set>
                                    <p:animEffect transition="in" filter="blinds(horizontal)">
                                      <p:cBhvr>
                                        <p:cTn id="7" dur="500"/>
                                        <p:tgtEl>
                                          <p:spTgt spid="524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509953"/>
          <p:cNvSpPr>
            <a:spLocks noChangeArrowheads="1"/>
          </p:cNvSpPr>
          <p:nvPr/>
        </p:nvSpPr>
        <p:spPr bwMode="auto">
          <a:xfrm>
            <a:off x="609600" y="17526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baseline="0" dirty="0">
                <a:latin typeface="黑体" panose="02010609060101010101" pitchFamily="49" charset="-122"/>
                <a:ea typeface="黑体" panose="02010609060101010101" pitchFamily="49" charset="-122"/>
              </a:rPr>
              <a:t>6</a:t>
            </a:r>
            <a:r>
              <a:rPr lang="zh-CN" altLang="en-US" sz="4400" b="1" baseline="0" dirty="0">
                <a:latin typeface="黑体" panose="02010609060101010101" pitchFamily="49" charset="-122"/>
                <a:ea typeface="黑体" panose="02010609060101010101" pitchFamily="49" charset="-122"/>
              </a:rPr>
              <a:t>－</a:t>
            </a:r>
            <a:r>
              <a:rPr lang="en-US" altLang="zh-CN" sz="4400" b="1" baseline="0" dirty="0">
                <a:latin typeface="黑体" panose="02010609060101010101" pitchFamily="49" charset="-122"/>
                <a:ea typeface="黑体" panose="02010609060101010101" pitchFamily="49" charset="-122"/>
              </a:rPr>
              <a:t>4</a:t>
            </a:r>
            <a:r>
              <a:rPr lang="zh-CN" altLang="en-US" sz="4400" b="1" baseline="0" dirty="0">
                <a:latin typeface="黑体" panose="02010609060101010101" pitchFamily="49" charset="-122"/>
                <a:ea typeface="黑体" panose="02010609060101010101" pitchFamily="49" charset="-122"/>
              </a:rPr>
              <a:t>　熵平衡方程</a:t>
            </a:r>
            <a:endParaRPr lang="zh-CN" altLang="en-US" sz="4400" b="1" baseline="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35" name="文本框 586767"/>
          <p:cNvSpPr txBox="1">
            <a:spLocks noChangeArrowheads="1"/>
          </p:cNvSpPr>
          <p:nvPr/>
        </p:nvSpPr>
        <p:spPr bwMode="auto">
          <a:xfrm>
            <a:off x="6477000" y="5334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baseline="0">
                <a:ea typeface="黑体" panose="02010609060101010101" pitchFamily="49" charset="-122"/>
              </a:rPr>
              <a:t>能量收支情况</a:t>
            </a:r>
            <a:endParaRPr lang="zh-CN" altLang="en-US" b="1" baseline="0">
              <a:ea typeface="黑体" panose="02010609060101010101" pitchFamily="49" charset="-122"/>
            </a:endParaRPr>
          </a:p>
        </p:txBody>
      </p:sp>
      <p:sp>
        <p:nvSpPr>
          <p:cNvPr id="56336" name="文本框 586768"/>
          <p:cNvSpPr txBox="1">
            <a:spLocks noChangeArrowheads="1"/>
          </p:cNvSpPr>
          <p:nvPr/>
        </p:nvSpPr>
        <p:spPr bwMode="auto">
          <a:xfrm>
            <a:off x="6324600" y="11430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水得到热量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graphicFrame>
        <p:nvGraphicFramePr>
          <p:cNvPr id="56337" name="对象 586769"/>
          <p:cNvGraphicFramePr/>
          <p:nvPr/>
        </p:nvGraphicFramePr>
        <p:xfrm>
          <a:off x="469900" y="2971800"/>
          <a:ext cx="2792413" cy="496888"/>
        </p:xfrm>
        <a:graphic>
          <a:graphicData uri="http://schemas.openxmlformats.org/presentationml/2006/ole">
            <mc:AlternateContent xmlns:mc="http://schemas.openxmlformats.org/markup-compatibility/2006">
              <mc:Choice xmlns:v="urn:schemas-microsoft-com:vml" Requires="v">
                <p:oleObj spid="_x0000_s80004" name="" r:id="rId1" imgW="1282700" imgH="228600" progId="Equation.DSMT4">
                  <p:embed/>
                </p:oleObj>
              </mc:Choice>
              <mc:Fallback>
                <p:oleObj name="" r:id="rId1" imgW="1282700" imgH="228600" progId="Equation.DSMT4">
                  <p:embed/>
                  <p:pic>
                    <p:nvPicPr>
                      <p:cNvPr id="0" name="对象 58676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900" y="2971800"/>
                        <a:ext cx="27924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38" name="对象 586770"/>
          <p:cNvGraphicFramePr/>
          <p:nvPr/>
        </p:nvGraphicFramePr>
        <p:xfrm>
          <a:off x="4133850" y="2971800"/>
          <a:ext cx="3084513" cy="512763"/>
        </p:xfrm>
        <a:graphic>
          <a:graphicData uri="http://schemas.openxmlformats.org/presentationml/2006/ole">
            <mc:AlternateContent xmlns:mc="http://schemas.openxmlformats.org/markup-compatibility/2006">
              <mc:Choice xmlns:v="urn:schemas-microsoft-com:vml" Requires="v">
                <p:oleObj spid="_x0000_s80005" name="" r:id="rId3" imgW="1434465" imgH="241300" progId="Equation.DSMT4">
                  <p:embed/>
                </p:oleObj>
              </mc:Choice>
              <mc:Fallback>
                <p:oleObj name="" r:id="rId3" imgW="1434465" imgH="241300" progId="Equation.DSMT4">
                  <p:embed/>
                  <p:pic>
                    <p:nvPicPr>
                      <p:cNvPr id="0" name="对象 58677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3850" y="2971800"/>
                        <a:ext cx="308451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39" name="文本框 586771"/>
          <p:cNvSpPr txBox="1">
            <a:spLocks noChangeArrowheads="1"/>
          </p:cNvSpPr>
          <p:nvPr/>
        </p:nvSpPr>
        <p:spPr bwMode="auto">
          <a:xfrm>
            <a:off x="6324600" y="16764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铅放出热量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56340" name="文本框 586772"/>
          <p:cNvSpPr txBox="1">
            <a:spLocks noChangeArrowheads="1"/>
          </p:cNvSpPr>
          <p:nvPr/>
        </p:nvSpPr>
        <p:spPr bwMode="auto">
          <a:xfrm>
            <a:off x="6324600" y="216376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满足能量守恒定律</a:t>
            </a:r>
            <a:endParaRPr lang="zh-CN" altLang="en-US" sz="2200" b="1" baseline="0">
              <a:solidFill>
                <a:srgbClr val="FF0000"/>
              </a:solidFill>
              <a:ea typeface="黑体" panose="02010609060101010101" pitchFamily="49" charset="-122"/>
            </a:endParaRPr>
          </a:p>
        </p:txBody>
      </p:sp>
      <p:sp>
        <p:nvSpPr>
          <p:cNvPr id="56343" name="文本框 586776"/>
          <p:cNvSpPr txBox="1">
            <a:spLocks noChangeArrowheads="1"/>
          </p:cNvSpPr>
          <p:nvPr/>
        </p:nvSpPr>
        <p:spPr bwMode="auto">
          <a:xfrm>
            <a:off x="6477000" y="37338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baseline="0">
                <a:ea typeface="黑体" panose="02010609060101010101" pitchFamily="49" charset="-122"/>
              </a:rPr>
              <a:t>能量收支情况</a:t>
            </a:r>
            <a:endParaRPr lang="zh-CN" altLang="en-US" b="1" baseline="0">
              <a:ea typeface="黑体" panose="02010609060101010101" pitchFamily="49" charset="-122"/>
            </a:endParaRPr>
          </a:p>
        </p:txBody>
      </p:sp>
      <p:sp>
        <p:nvSpPr>
          <p:cNvPr id="56344" name="文本框 586777"/>
          <p:cNvSpPr txBox="1">
            <a:spLocks noChangeArrowheads="1"/>
          </p:cNvSpPr>
          <p:nvPr/>
        </p:nvSpPr>
        <p:spPr bwMode="auto">
          <a:xfrm>
            <a:off x="6324600" y="42672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水放出热量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56345" name="文本框 586778"/>
          <p:cNvSpPr txBox="1">
            <a:spLocks noChangeArrowheads="1"/>
          </p:cNvSpPr>
          <p:nvPr/>
        </p:nvSpPr>
        <p:spPr bwMode="auto">
          <a:xfrm>
            <a:off x="6324600" y="475456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铅得到热量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56346" name="文本框 586779"/>
          <p:cNvSpPr txBox="1">
            <a:spLocks noChangeArrowheads="1"/>
          </p:cNvSpPr>
          <p:nvPr/>
        </p:nvSpPr>
        <p:spPr bwMode="auto">
          <a:xfrm>
            <a:off x="6248400" y="5334000"/>
            <a:ext cx="2895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也满足能量守恒定律</a:t>
            </a:r>
            <a:endParaRPr lang="zh-CN" altLang="en-US" sz="2200" b="1" baseline="0">
              <a:solidFill>
                <a:srgbClr val="FF0000"/>
              </a:solidFill>
              <a:ea typeface="黑体" panose="02010609060101010101" pitchFamily="49" charset="-122"/>
            </a:endParaRPr>
          </a:p>
        </p:txBody>
      </p:sp>
      <p:sp>
        <p:nvSpPr>
          <p:cNvPr id="56354" name="文本框 586787"/>
          <p:cNvSpPr txBox="1">
            <a:spLocks noChangeArrowheads="1"/>
          </p:cNvSpPr>
          <p:nvPr/>
        </p:nvSpPr>
        <p:spPr bwMode="auto">
          <a:xfrm>
            <a:off x="762000" y="61722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baseline="0" dirty="0">
                <a:ea typeface="黑体" panose="02010609060101010101" pitchFamily="49" charset="-122"/>
              </a:rPr>
              <a:t> </a:t>
            </a:r>
            <a:r>
              <a:rPr lang="zh-CN" altLang="en-US" sz="2400" b="1" baseline="0" dirty="0">
                <a:ea typeface="黑体" panose="02010609060101010101" pitchFamily="49" charset="-122"/>
              </a:rPr>
              <a:t>这说明能量守恒定律在判断过程能否实现时“</a:t>
            </a:r>
            <a:r>
              <a:rPr lang="zh-CN" altLang="en-US" sz="2400" b="1" baseline="0" dirty="0">
                <a:solidFill>
                  <a:srgbClr val="FF0000"/>
                </a:solidFill>
                <a:ea typeface="黑体" panose="02010609060101010101" pitchFamily="49" charset="-122"/>
              </a:rPr>
              <a:t>失效</a:t>
            </a:r>
            <a:r>
              <a:rPr lang="zh-CN" altLang="en-US" sz="2400" b="1" baseline="0" dirty="0">
                <a:ea typeface="黑体" panose="02010609060101010101" pitchFamily="49" charset="-122"/>
              </a:rPr>
              <a:t>”了</a:t>
            </a:r>
            <a:r>
              <a:rPr lang="en-US" altLang="zh-CN" sz="2400" b="1" baseline="0" dirty="0">
                <a:ea typeface="黑体" panose="02010609060101010101" pitchFamily="49" charset="-122"/>
              </a:rPr>
              <a:t>!</a:t>
            </a:r>
            <a:endParaRPr lang="en-US" altLang="zh-CN" sz="2400" b="1" baseline="0" dirty="0">
              <a:solidFill>
                <a:srgbClr val="FF0000"/>
              </a:solidFill>
              <a:ea typeface="黑体" panose="02010609060101010101" pitchFamily="49" charset="-122"/>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110" y="470716"/>
            <a:ext cx="5962405" cy="2310584"/>
          </a:xfrm>
          <a:prstGeom prst="rect">
            <a:avLst/>
          </a:prstGeom>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7809" y="3447498"/>
            <a:ext cx="5986791" cy="2493480"/>
          </a:xfrm>
          <a:prstGeom prst="rect">
            <a:avLst/>
          </a:prstGeom>
        </p:spPr>
      </p:pic>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框 587777"/>
          <p:cNvSpPr txBox="1">
            <a:spLocks noChangeArrowheads="1"/>
          </p:cNvSpPr>
          <p:nvPr/>
        </p:nvSpPr>
        <p:spPr bwMode="auto">
          <a:xfrm>
            <a:off x="381000" y="381000"/>
            <a:ext cx="807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a:ea typeface="黑体" panose="02010609060101010101" pitchFamily="49" charset="-122"/>
              </a:rPr>
              <a:t>如何判断一个热力学过程能不能实现？</a:t>
            </a:r>
            <a:endParaRPr lang="zh-CN" altLang="en-US" sz="3200" b="1" baseline="0">
              <a:solidFill>
                <a:srgbClr val="FF0000"/>
              </a:solidFill>
              <a:ea typeface="黑体" panose="02010609060101010101" pitchFamily="49" charset="-122"/>
            </a:endParaRPr>
          </a:p>
        </p:txBody>
      </p:sp>
      <p:sp>
        <p:nvSpPr>
          <p:cNvPr id="57346" name="文本框 587778"/>
          <p:cNvSpPr txBox="1">
            <a:spLocks noChangeArrowheads="1"/>
          </p:cNvSpPr>
          <p:nvPr/>
        </p:nvSpPr>
        <p:spPr bwMode="auto">
          <a:xfrm>
            <a:off x="381000" y="1344406"/>
            <a:ext cx="96243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baseline="0" dirty="0">
                <a:solidFill>
                  <a:srgbClr val="0000CC"/>
                </a:solidFill>
                <a:ea typeface="黑体" panose="02010609060101010101" pitchFamily="49" charset="-122"/>
              </a:rPr>
              <a:t>守恒的量</a:t>
            </a:r>
            <a:r>
              <a:rPr lang="zh-CN" altLang="en-US" sz="2800" b="1" baseline="0" dirty="0">
                <a:ea typeface="黑体" panose="02010609060101010101" pitchFamily="49" charset="-122"/>
              </a:rPr>
              <a:t>（能量）在判断过程能否实现时“</a:t>
            </a:r>
            <a:r>
              <a:rPr lang="zh-CN" altLang="en-US" sz="2800" b="1" baseline="0" dirty="0">
                <a:solidFill>
                  <a:srgbClr val="0000CC"/>
                </a:solidFill>
                <a:ea typeface="黑体" panose="02010609060101010101" pitchFamily="49" charset="-122"/>
              </a:rPr>
              <a:t>失效</a:t>
            </a:r>
            <a:r>
              <a:rPr lang="zh-CN" altLang="en-US" sz="2800" b="1" baseline="0" dirty="0">
                <a:ea typeface="黑体" panose="02010609060101010101" pitchFamily="49" charset="-122"/>
              </a:rPr>
              <a:t>”了！</a:t>
            </a:r>
            <a:endParaRPr lang="zh-CN" altLang="en-US" sz="2800" b="1" baseline="0" dirty="0">
              <a:solidFill>
                <a:srgbClr val="FF0000"/>
              </a:solidFill>
              <a:ea typeface="黑体" panose="02010609060101010101" pitchFamily="49" charset="-122"/>
            </a:endParaRPr>
          </a:p>
        </p:txBody>
      </p:sp>
      <p:sp>
        <p:nvSpPr>
          <p:cNvPr id="587780" name="矩形 587779"/>
          <p:cNvSpPr>
            <a:spLocks noChangeArrowheads="1"/>
          </p:cNvSpPr>
          <p:nvPr/>
        </p:nvSpPr>
        <p:spPr bwMode="auto">
          <a:xfrm>
            <a:off x="2514600" y="2514600"/>
            <a:ext cx="7162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baseline="0">
                <a:latin typeface="黑体" panose="02010609060101010101" pitchFamily="49" charset="-122"/>
                <a:ea typeface="黑体" panose="02010609060101010101" pitchFamily="49" charset="-122"/>
              </a:rPr>
              <a:t>去找</a:t>
            </a:r>
            <a:r>
              <a:rPr lang="zh-CN" altLang="en-US" sz="3600" b="1" baseline="0">
                <a:solidFill>
                  <a:srgbClr val="FF0000"/>
                </a:solidFill>
                <a:latin typeface="黑体" panose="02010609060101010101" pitchFamily="49" charset="-122"/>
                <a:ea typeface="黑体" panose="02010609060101010101" pitchFamily="49" charset="-122"/>
              </a:rPr>
              <a:t>不守恒</a:t>
            </a:r>
            <a:r>
              <a:rPr lang="zh-CN" altLang="en-US" sz="3600" b="1" baseline="0">
                <a:latin typeface="黑体" panose="02010609060101010101" pitchFamily="49" charset="-122"/>
                <a:ea typeface="黑体" panose="02010609060101010101" pitchFamily="49" charset="-122"/>
              </a:rPr>
              <a:t>的物理量！</a:t>
            </a:r>
            <a:endParaRPr lang="zh-CN" altLang="en-US" sz="3600" b="1" baseline="0">
              <a:latin typeface="黑体" panose="02010609060101010101" pitchFamily="49" charset="-122"/>
              <a:ea typeface="黑体" panose="02010609060101010101" pitchFamily="49" charset="-122"/>
            </a:endParaRPr>
          </a:p>
        </p:txBody>
      </p:sp>
      <p:sp>
        <p:nvSpPr>
          <p:cNvPr id="587781" name="文本框 587780"/>
          <p:cNvSpPr txBox="1">
            <a:spLocks noChangeArrowheads="1"/>
          </p:cNvSpPr>
          <p:nvPr/>
        </p:nvSpPr>
        <p:spPr bwMode="auto">
          <a:xfrm>
            <a:off x="132522" y="5611086"/>
            <a:ext cx="2994991"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5000"/>
              </a:lnSpc>
              <a:spcBef>
                <a:spcPct val="50000"/>
              </a:spcBef>
              <a:buClr>
                <a:srgbClr val="0000FF"/>
              </a:buClr>
              <a:buSzPct val="65000"/>
              <a:buFont typeface="Wingdings" panose="05000000000000000000" pitchFamily="2" charset="2"/>
              <a:buNone/>
            </a:pPr>
            <a:r>
              <a:rPr lang="en-US" altLang="zh-CN" sz="1800" baseline="0" dirty="0" err="1">
                <a:latin typeface="Times New Roman" panose="02020603050405020304" pitchFamily="18" charset="0"/>
                <a:cs typeface="Times New Roman" panose="02020603050405020304" pitchFamily="18" charset="0"/>
              </a:rPr>
              <a:t>Rudolff</a:t>
            </a:r>
            <a:r>
              <a:rPr lang="en-US" altLang="zh-CN" sz="1800" baseline="0" dirty="0">
                <a:latin typeface="Times New Roman" panose="02020603050405020304" pitchFamily="18" charset="0"/>
                <a:cs typeface="Times New Roman" panose="02020603050405020304" pitchFamily="18" charset="0"/>
              </a:rPr>
              <a:t> </a:t>
            </a:r>
            <a:r>
              <a:rPr lang="en-US" altLang="zh-CN" sz="1800" baseline="0" dirty="0" err="1">
                <a:latin typeface="Times New Roman" panose="02020603050405020304" pitchFamily="18" charset="0"/>
                <a:cs typeface="Times New Roman" panose="02020603050405020304" pitchFamily="18" charset="0"/>
              </a:rPr>
              <a:t>Clausius</a:t>
            </a:r>
            <a:r>
              <a:rPr lang="en-US" altLang="zh-CN" sz="1800" baseline="0" dirty="0">
                <a:latin typeface="Times New Roman" panose="02020603050405020304" pitchFamily="18" charset="0"/>
                <a:cs typeface="Times New Roman" panose="02020603050405020304" pitchFamily="18" charset="0"/>
              </a:rPr>
              <a:t>(1822-1888)</a:t>
            </a:r>
            <a:endParaRPr lang="en-US" altLang="zh-CN" sz="2800" b="1" baseline="0" dirty="0">
              <a:solidFill>
                <a:srgbClr val="0033CC"/>
              </a:solidFill>
              <a:latin typeface="Times New Roman" panose="02020603050405020304" pitchFamily="18" charset="0"/>
              <a:cs typeface="Times New Roman" panose="02020603050405020304" pitchFamily="18" charset="0"/>
            </a:endParaRPr>
          </a:p>
        </p:txBody>
      </p:sp>
      <p:graphicFrame>
        <p:nvGraphicFramePr>
          <p:cNvPr id="587782" name="对象 587781"/>
          <p:cNvGraphicFramePr/>
          <p:nvPr/>
        </p:nvGraphicFramePr>
        <p:xfrm>
          <a:off x="685800" y="3810000"/>
          <a:ext cx="1450975" cy="1712913"/>
        </p:xfrm>
        <a:graphic>
          <a:graphicData uri="http://schemas.openxmlformats.org/presentationml/2006/ole">
            <mc:AlternateContent xmlns:mc="http://schemas.openxmlformats.org/markup-compatibility/2006">
              <mc:Choice xmlns:v="urn:schemas-microsoft-com:vml" Requires="v">
                <p:oleObj spid="_x0000_s80927" name="" r:id="rId1" imgW="880110" imgH="1043940" progId="Visio.Drawing.11">
                  <p:embed/>
                </p:oleObj>
              </mc:Choice>
              <mc:Fallback>
                <p:oleObj name="" r:id="rId1" imgW="880110" imgH="1043940" progId="Visio.Drawing.11">
                  <p:embed/>
                  <p:pic>
                    <p:nvPicPr>
                      <p:cNvPr id="0" name="对象 58778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10000"/>
                        <a:ext cx="1450975"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7783" name="矩形 587782"/>
          <p:cNvSpPr>
            <a:spLocks noChangeArrowheads="1"/>
          </p:cNvSpPr>
          <p:nvPr/>
        </p:nvSpPr>
        <p:spPr bwMode="auto">
          <a:xfrm>
            <a:off x="2514600" y="3581400"/>
            <a:ext cx="5791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baseline="0" dirty="0">
                <a:latin typeface="黑体" panose="02010609060101010101" pitchFamily="49" charset="-122"/>
                <a:ea typeface="黑体" panose="02010609060101010101" pitchFamily="49" charset="-122"/>
              </a:rPr>
              <a:t>在</a:t>
            </a:r>
            <a:r>
              <a:rPr lang="en-US" altLang="zh-CN" sz="3600" b="1" baseline="0" dirty="0">
                <a:latin typeface="黑体" panose="02010609060101010101" pitchFamily="49" charset="-122"/>
                <a:ea typeface="黑体" panose="02010609060101010101" pitchFamily="49" charset="-122"/>
              </a:rPr>
              <a:t>1865</a:t>
            </a:r>
            <a:r>
              <a:rPr lang="zh-CN" altLang="en-US" sz="3600" b="1" baseline="0" dirty="0">
                <a:latin typeface="黑体" panose="02010609060101010101" pitchFamily="49" charset="-122"/>
                <a:ea typeface="黑体" panose="02010609060101010101" pitchFamily="49" charset="-122"/>
              </a:rPr>
              <a:t>年终于找到了</a:t>
            </a:r>
            <a:endParaRPr lang="zh-CN" altLang="en-US" sz="3600" b="1" baseline="0" dirty="0">
              <a:latin typeface="黑体" panose="02010609060101010101" pitchFamily="49" charset="-122"/>
              <a:ea typeface="黑体" panose="02010609060101010101" pitchFamily="49" charset="-122"/>
            </a:endParaRPr>
          </a:p>
        </p:txBody>
      </p:sp>
      <p:sp>
        <p:nvSpPr>
          <p:cNvPr id="587784" name="矩形 587783"/>
          <p:cNvSpPr>
            <a:spLocks noChangeArrowheads="1"/>
          </p:cNvSpPr>
          <p:nvPr/>
        </p:nvSpPr>
        <p:spPr bwMode="auto">
          <a:xfrm>
            <a:off x="6934200" y="3505200"/>
            <a:ext cx="7445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4400" b="1" baseline="0">
                <a:solidFill>
                  <a:srgbClr val="FF0000"/>
                </a:solidFill>
                <a:latin typeface="黑体" panose="02010609060101010101" pitchFamily="49" charset="-122"/>
                <a:ea typeface="黑体" panose="02010609060101010101" pitchFamily="49" charset="-122"/>
              </a:rPr>
              <a:t>熵</a:t>
            </a:r>
            <a:endParaRPr lang="zh-CN" altLang="en-US" sz="4400" b="1" baseline="0">
              <a:solidFill>
                <a:srgbClr val="FF0000"/>
              </a:solidFill>
              <a:latin typeface="黑体" panose="02010609060101010101" pitchFamily="49" charset="-122"/>
              <a:ea typeface="黑体" panose="02010609060101010101" pitchFamily="49" charset="-122"/>
            </a:endParaRPr>
          </a:p>
        </p:txBody>
      </p:sp>
      <p:sp>
        <p:nvSpPr>
          <p:cNvPr id="587785" name="矩形 587784"/>
          <p:cNvSpPr>
            <a:spLocks noChangeArrowheads="1"/>
          </p:cNvSpPr>
          <p:nvPr/>
        </p:nvSpPr>
        <p:spPr bwMode="auto">
          <a:xfrm>
            <a:off x="2286000" y="4648200"/>
            <a:ext cx="8001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baseline="0" dirty="0">
                <a:latin typeface="黑体" panose="02010609060101010101" pitchFamily="49" charset="-122"/>
                <a:ea typeface="黑体" panose="02010609060101010101" pitchFamily="49" charset="-122"/>
              </a:rPr>
              <a:t>用</a:t>
            </a:r>
            <a:r>
              <a:rPr lang="zh-CN" altLang="en-US" sz="3600" b="1" baseline="0" dirty="0">
                <a:solidFill>
                  <a:srgbClr val="FF0000"/>
                </a:solidFill>
                <a:latin typeface="黑体" panose="02010609060101010101" pitchFamily="49" charset="-122"/>
                <a:ea typeface="黑体" panose="02010609060101010101" pitchFamily="49" charset="-122"/>
              </a:rPr>
              <a:t>熵平衡方程</a:t>
            </a:r>
            <a:r>
              <a:rPr lang="zh-CN" altLang="en-US" sz="3600" b="1" baseline="0" dirty="0">
                <a:latin typeface="黑体" panose="02010609060101010101" pitchFamily="49" charset="-122"/>
                <a:ea typeface="黑体" panose="02010609060101010101" pitchFamily="49" charset="-122"/>
              </a:rPr>
              <a:t>判断过程能否实现</a:t>
            </a:r>
            <a:endParaRPr lang="zh-CN" altLang="en-US" sz="3600" b="1" baseline="0" dirty="0">
              <a:latin typeface="黑体" panose="02010609060101010101" pitchFamily="49" charset="-122"/>
              <a:ea typeface="黑体" panose="02010609060101010101" pitchFamily="49" charset="-122"/>
            </a:endParaRPr>
          </a:p>
        </p:txBody>
      </p:sp>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7780"/>
                                        </p:tgtEl>
                                        <p:attrNameLst>
                                          <p:attrName>style.visibility</p:attrName>
                                        </p:attrNameLst>
                                      </p:cBhvr>
                                      <p:to>
                                        <p:strVal val="visible"/>
                                      </p:to>
                                    </p:set>
                                    <p:animEffect transition="in" filter="blinds(horizontal)">
                                      <p:cBhvr>
                                        <p:cTn id="7" dur="500"/>
                                        <p:tgtEl>
                                          <p:spTgt spid="5877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87781"/>
                                        </p:tgtEl>
                                        <p:attrNameLst>
                                          <p:attrName>style.visibility</p:attrName>
                                        </p:attrNameLst>
                                      </p:cBhvr>
                                      <p:to>
                                        <p:strVal val="visible"/>
                                      </p:to>
                                    </p:set>
                                    <p:animEffect transition="in" filter="blinds(horizontal)">
                                      <p:cBhvr>
                                        <p:cTn id="12" dur="500"/>
                                        <p:tgtEl>
                                          <p:spTgt spid="587781"/>
                                        </p:tgtEl>
                                      </p:cBhvr>
                                    </p:animEffect>
                                  </p:childTnLst>
                                </p:cTn>
                              </p:par>
                              <p:par>
                                <p:cTn id="13" presetID="3" presetClass="entr" presetSubtype="10" fill="hold" nodeType="withEffect">
                                  <p:stCondLst>
                                    <p:cond delay="0"/>
                                  </p:stCondLst>
                                  <p:childTnLst>
                                    <p:set>
                                      <p:cBhvr>
                                        <p:cTn id="14" dur="1" fill="hold">
                                          <p:stCondLst>
                                            <p:cond delay="0"/>
                                          </p:stCondLst>
                                        </p:cTn>
                                        <p:tgtEl>
                                          <p:spTgt spid="587782"/>
                                        </p:tgtEl>
                                        <p:attrNameLst>
                                          <p:attrName>style.visibility</p:attrName>
                                        </p:attrNameLst>
                                      </p:cBhvr>
                                      <p:to>
                                        <p:strVal val="visible"/>
                                      </p:to>
                                    </p:set>
                                    <p:animEffect transition="in" filter="blinds(horizontal)">
                                      <p:cBhvr>
                                        <p:cTn id="15" dur="500"/>
                                        <p:tgtEl>
                                          <p:spTgt spid="58778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87783"/>
                                        </p:tgtEl>
                                        <p:attrNameLst>
                                          <p:attrName>style.visibility</p:attrName>
                                        </p:attrNameLst>
                                      </p:cBhvr>
                                      <p:to>
                                        <p:strVal val="visible"/>
                                      </p:to>
                                    </p:set>
                                    <p:animEffect transition="in" filter="blinds(horizontal)">
                                      <p:cBhvr>
                                        <p:cTn id="18" dur="500"/>
                                        <p:tgtEl>
                                          <p:spTgt spid="58778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87784"/>
                                        </p:tgtEl>
                                        <p:attrNameLst>
                                          <p:attrName>style.visibility</p:attrName>
                                        </p:attrNameLst>
                                      </p:cBhvr>
                                      <p:to>
                                        <p:strVal val="visible"/>
                                      </p:to>
                                    </p:set>
                                    <p:animEffect transition="in" filter="blinds(horizontal)">
                                      <p:cBhvr>
                                        <p:cTn id="23" dur="500"/>
                                        <p:tgtEl>
                                          <p:spTgt spid="58778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87785"/>
                                        </p:tgtEl>
                                        <p:attrNameLst>
                                          <p:attrName>style.visibility</p:attrName>
                                        </p:attrNameLst>
                                      </p:cBhvr>
                                      <p:to>
                                        <p:strVal val="visible"/>
                                      </p:to>
                                    </p:set>
                                    <p:animEffect transition="in" filter="blinds(horizontal)">
                                      <p:cBhvr>
                                        <p:cTn id="28" dur="500"/>
                                        <p:tgtEl>
                                          <p:spTgt spid="587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0" grpId="0"/>
      <p:bldP spid="587781" grpId="0"/>
      <p:bldP spid="587783" grpId="0"/>
      <p:bldP spid="587784" grpId="0"/>
      <p:bldP spid="58778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588805"/>
          <p:cNvSpPr txBox="1"/>
          <p:nvPr/>
        </p:nvSpPr>
        <p:spPr>
          <a:xfrm>
            <a:off x="457200" y="990600"/>
            <a:ext cx="74676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latin typeface="Arial" panose="020B0604020202020204" pitchFamily="34" charset="0"/>
                <a:ea typeface="黑体" panose="02010609060101010101" pitchFamily="49" charset="-122"/>
              </a:rPr>
              <a:t>一、熵平衡方程一般形式</a:t>
            </a:r>
            <a:endParaRPr lang="zh-CN" altLang="en-US" sz="3200" b="1" baseline="0" dirty="0">
              <a:latin typeface="Arial" panose="020B0604020202020204" pitchFamily="34" charset="0"/>
              <a:ea typeface="黑体" panose="02010609060101010101" pitchFamily="49" charset="-122"/>
            </a:endParaRPr>
          </a:p>
        </p:txBody>
      </p:sp>
      <p:sp>
        <p:nvSpPr>
          <p:cNvPr id="3" name="文本框 588810"/>
          <p:cNvSpPr txBox="1"/>
          <p:nvPr/>
        </p:nvSpPr>
        <p:spPr>
          <a:xfrm>
            <a:off x="1436204" y="5271052"/>
            <a:ext cx="6813274" cy="584775"/>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smtClean="0">
                <a:latin typeface="Arial" panose="020B0604020202020204" pitchFamily="34" charset="0"/>
                <a:ea typeface="黑体" panose="02010609060101010101" pitchFamily="49" charset="-122"/>
              </a:rPr>
              <a:t>下面分别介绍各项的具体表达式</a:t>
            </a:r>
            <a:endParaRPr lang="zh-CN" altLang="en-US" sz="3200" b="1" baseline="0" dirty="0">
              <a:latin typeface="Arial" panose="020B0604020202020204" pitchFamily="34" charset="0"/>
              <a:ea typeface="黑体" panose="02010609060101010101" pitchFamily="49" charset="-122"/>
            </a:endParaRPr>
          </a:p>
        </p:txBody>
      </p:sp>
      <p:sp>
        <p:nvSpPr>
          <p:cNvPr id="4" name="文本框 588805"/>
          <p:cNvSpPr txBox="1"/>
          <p:nvPr/>
        </p:nvSpPr>
        <p:spPr>
          <a:xfrm>
            <a:off x="381000" y="2133600"/>
            <a:ext cx="8458200" cy="10668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solidFill>
                  <a:srgbClr val="000000"/>
                </a:solidFill>
                <a:latin typeface="黑体" panose="02010609060101010101" pitchFamily="49" charset="-122"/>
                <a:ea typeface="黑体" panose="02010609060101010101" pitchFamily="49" charset="-122"/>
              </a:rPr>
              <a:t>系统熵的变化</a:t>
            </a:r>
            <a:r>
              <a:rPr lang="en-US" altLang="zh-CN" sz="3200" b="1" baseline="0">
                <a:solidFill>
                  <a:srgbClr val="000000"/>
                </a:solidFill>
                <a:latin typeface="黑体" panose="02010609060101010101" pitchFamily="49" charset="-122"/>
                <a:ea typeface="黑体" panose="02010609060101010101" pitchFamily="49" charset="-122"/>
              </a:rPr>
              <a:t>=</a:t>
            </a:r>
            <a:endParaRPr lang="en-US" altLang="zh-CN" sz="3200" b="1" baseline="0">
              <a:solidFill>
                <a:srgbClr val="000000"/>
              </a:solidFill>
              <a:latin typeface="黑体" panose="02010609060101010101" pitchFamily="49" charset="-122"/>
              <a:ea typeface="黑体" panose="02010609060101010101" pitchFamily="49" charset="-122"/>
            </a:endParaRPr>
          </a:p>
          <a:p>
            <a:r>
              <a:rPr lang="zh-CN" altLang="en-US" sz="3200" b="1" baseline="0" dirty="0">
                <a:solidFill>
                  <a:srgbClr val="000000"/>
                </a:solidFill>
                <a:latin typeface="黑体" panose="02010609060101010101" pitchFamily="49" charset="-122"/>
                <a:ea typeface="黑体" panose="02010609060101010101" pitchFamily="49" charset="-122"/>
              </a:rPr>
              <a:t>进入系统的熵量 </a:t>
            </a:r>
            <a:r>
              <a:rPr lang="en-US" altLang="zh-CN" sz="3200" b="1" baseline="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离开系统的熵量 </a:t>
            </a:r>
            <a:r>
              <a:rPr lang="en-US" altLang="zh-CN" sz="3200" b="1" baseline="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熵产</a:t>
            </a:r>
            <a:r>
              <a:rPr lang="zh-CN" altLang="en-US" sz="3200" b="1" baseline="0" dirty="0">
                <a:latin typeface="黑体" panose="02010609060101010101" pitchFamily="49" charset="-122"/>
                <a:ea typeface="黑体" panose="02010609060101010101" pitchFamily="49" charset="-122"/>
              </a:rPr>
              <a:t> </a:t>
            </a:r>
            <a:endParaRPr lang="zh-CN" altLang="en-US" sz="3200" b="1" baseline="0">
              <a:latin typeface="黑体" panose="02010609060101010101" pitchFamily="49" charset="-122"/>
              <a:ea typeface="黑体" panose="02010609060101010101" pitchFamily="49" charset="-122"/>
            </a:endParaRPr>
          </a:p>
        </p:txBody>
      </p:sp>
      <p:sp>
        <p:nvSpPr>
          <p:cNvPr id="5" name="直接连接符 4"/>
          <p:cNvSpPr/>
          <p:nvPr/>
        </p:nvSpPr>
        <p:spPr>
          <a:xfrm flipV="1">
            <a:off x="7391400" y="3352800"/>
            <a:ext cx="304800" cy="457200"/>
          </a:xfrm>
          <a:prstGeom prst="line">
            <a:avLst/>
          </a:prstGeom>
          <a:ln w="9525" cap="flat" cmpd="sng">
            <a:solidFill>
              <a:schemeClr val="tx1"/>
            </a:solidFill>
            <a:prstDash val="solid"/>
            <a:round/>
            <a:headEnd type="none" w="med" len="med"/>
            <a:tailEnd type="triangle" w="med" len="med"/>
          </a:ln>
        </p:spPr>
      </p:sp>
      <p:sp>
        <p:nvSpPr>
          <p:cNvPr id="7" name="矩形 6"/>
          <p:cNvSpPr/>
          <p:nvPr/>
        </p:nvSpPr>
        <p:spPr>
          <a:xfrm>
            <a:off x="304800" y="1981200"/>
            <a:ext cx="8077200" cy="1295400"/>
          </a:xfrm>
          <a:prstGeom prst="rect">
            <a:avLst/>
          </a:prstGeom>
          <a:noFill/>
          <a:ln w="31750" cap="flat" cmpd="sng">
            <a:solidFill>
              <a:schemeClr val="folHlink"/>
            </a:solidFill>
            <a:prstDash val="solid"/>
            <a:miter/>
            <a:headEnd type="none" w="med" len="med"/>
            <a:tailEnd type="none" w="med" len="med"/>
          </a:ln>
        </p:spPr>
        <p:txBody>
          <a:bodyPr wrap="none"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lgn="ctr"/>
            <a:endParaRPr lang="en-US" altLang="zh-CN">
              <a:latin typeface="Arial" panose="020B0604020202020204" pitchFamily="34" charset="0"/>
              <a:ea typeface="宋体" panose="02010600030101010101" pitchFamily="2" charset="-122"/>
            </a:endParaRPr>
          </a:p>
        </p:txBody>
      </p:sp>
      <p:sp>
        <p:nvSpPr>
          <p:cNvPr id="8" name="文本框 588810"/>
          <p:cNvSpPr txBox="1"/>
          <p:nvPr/>
        </p:nvSpPr>
        <p:spPr>
          <a:xfrm>
            <a:off x="5257800" y="3886200"/>
            <a:ext cx="35052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latin typeface="Arial" panose="020B0604020202020204" pitchFamily="34" charset="0"/>
                <a:ea typeface="黑体" panose="02010609060101010101" pitchFamily="49" charset="-122"/>
              </a:rPr>
              <a:t>此项体现不守恒！</a:t>
            </a:r>
            <a:endParaRPr lang="zh-CN" altLang="en-US" sz="3200" b="1" baseline="0" dirty="0">
              <a:latin typeface="Arial" panose="020B0604020202020204" pitchFamily="34"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589827"/>
          <p:cNvSpPr txBox="1"/>
          <p:nvPr/>
        </p:nvSpPr>
        <p:spPr>
          <a:xfrm>
            <a:off x="952500" y="3642519"/>
            <a:ext cx="3657600" cy="4572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buClr>
                <a:schemeClr val="accent1"/>
              </a:buClr>
              <a:buSzPct val="145000"/>
              <a:buFont typeface="Wingdings" panose="05000000000000000000" pitchFamily="2" charset="2"/>
            </a:pPr>
            <a:r>
              <a:rPr lang="zh-CN" altLang="en-US" sz="2400" b="1" dirty="0">
                <a:latin typeface="黑体" panose="02010609060101010101" pitchFamily="49" charset="-122"/>
                <a:ea typeface="黑体" panose="02010609060101010101" pitchFamily="49" charset="-122"/>
              </a:rPr>
              <a:t>理想气体</a:t>
            </a:r>
            <a:endParaRPr lang="zh-CN" altLang="en-US" sz="2400" b="1" dirty="0">
              <a:latin typeface="黑体" panose="02010609060101010101" pitchFamily="49" charset="-122"/>
              <a:ea typeface="黑体" panose="02010609060101010101" pitchFamily="49" charset="-122"/>
            </a:endParaRPr>
          </a:p>
        </p:txBody>
      </p:sp>
      <p:pic>
        <p:nvPicPr>
          <p:cNvPr id="3" name="对象 589828"/>
          <p:cNvPicPr/>
          <p:nvPr/>
        </p:nvPicPr>
        <p:blipFill>
          <a:blip r:embed="rId1"/>
          <a:stretch>
            <a:fillRect/>
          </a:stretch>
        </p:blipFill>
        <p:spPr>
          <a:xfrm>
            <a:off x="3771900" y="3590131"/>
            <a:ext cx="4038600" cy="539750"/>
          </a:xfrm>
          <a:prstGeom prst="rect">
            <a:avLst/>
          </a:prstGeom>
          <a:noFill/>
          <a:ln w="38100">
            <a:noFill/>
            <a:miter/>
          </a:ln>
        </p:spPr>
      </p:pic>
      <p:sp>
        <p:nvSpPr>
          <p:cNvPr id="4" name="文本框 589829"/>
          <p:cNvSpPr txBox="1"/>
          <p:nvPr/>
        </p:nvSpPr>
        <p:spPr>
          <a:xfrm>
            <a:off x="952500" y="4328319"/>
            <a:ext cx="3657600" cy="4572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buClr>
                <a:schemeClr val="accent1"/>
              </a:buClr>
              <a:buSzPct val="145000"/>
              <a:buFont typeface="Wingdings" panose="05000000000000000000" pitchFamily="2" charset="2"/>
            </a:pPr>
            <a:r>
              <a:rPr lang="zh-CN" altLang="en-US" sz="2400" b="1" dirty="0">
                <a:latin typeface="黑体" panose="02010609060101010101" pitchFamily="49" charset="-122"/>
                <a:ea typeface="黑体" panose="02010609060101010101" pitchFamily="49" charset="-122"/>
              </a:rPr>
              <a:t>固体或液体</a:t>
            </a:r>
            <a:endParaRPr lang="zh-CN" altLang="en-US" sz="2400" b="1" dirty="0">
              <a:latin typeface="黑体" panose="02010609060101010101" pitchFamily="49" charset="-122"/>
              <a:ea typeface="黑体" panose="02010609060101010101" pitchFamily="49" charset="-122"/>
            </a:endParaRPr>
          </a:p>
        </p:txBody>
      </p:sp>
      <p:pic>
        <p:nvPicPr>
          <p:cNvPr id="5" name="对象 589830"/>
          <p:cNvPicPr/>
          <p:nvPr/>
        </p:nvPicPr>
        <p:blipFill>
          <a:blip r:embed="rId2"/>
          <a:stretch>
            <a:fillRect/>
          </a:stretch>
        </p:blipFill>
        <p:spPr>
          <a:xfrm>
            <a:off x="3771900" y="4301331"/>
            <a:ext cx="1752600" cy="544513"/>
          </a:xfrm>
          <a:prstGeom prst="rect">
            <a:avLst/>
          </a:prstGeom>
          <a:noFill/>
          <a:ln w="38100">
            <a:noFill/>
            <a:miter/>
          </a:ln>
        </p:spPr>
      </p:pic>
      <p:sp>
        <p:nvSpPr>
          <p:cNvPr id="6" name="文本框 589831"/>
          <p:cNvSpPr txBox="1"/>
          <p:nvPr/>
        </p:nvSpPr>
        <p:spPr>
          <a:xfrm>
            <a:off x="952500" y="5014119"/>
            <a:ext cx="5410200" cy="4572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buClr>
                <a:schemeClr val="accent1"/>
              </a:buClr>
              <a:buSzPct val="145000"/>
              <a:buFont typeface="Wingdings" panose="05000000000000000000" pitchFamily="2" charset="2"/>
            </a:pPr>
            <a:r>
              <a:rPr lang="zh-CN" altLang="en-US" sz="2400" b="1" dirty="0">
                <a:latin typeface="黑体" panose="02010609060101010101" pitchFamily="49" charset="-122"/>
                <a:ea typeface="黑体" panose="02010609060101010101" pitchFamily="49" charset="-122"/>
              </a:rPr>
              <a:t>恒温热源或冷源</a:t>
            </a:r>
            <a:endParaRPr lang="zh-CN" altLang="en-US" sz="2400" b="1" dirty="0">
              <a:latin typeface="黑体" panose="02010609060101010101" pitchFamily="49" charset="-122"/>
              <a:ea typeface="黑体" panose="02010609060101010101" pitchFamily="49" charset="-122"/>
            </a:endParaRPr>
          </a:p>
        </p:txBody>
      </p:sp>
      <p:pic>
        <p:nvPicPr>
          <p:cNvPr id="7" name="对象 589832"/>
          <p:cNvPicPr/>
          <p:nvPr/>
        </p:nvPicPr>
        <p:blipFill>
          <a:blip r:embed="rId3"/>
          <a:stretch>
            <a:fillRect/>
          </a:stretch>
        </p:blipFill>
        <p:spPr>
          <a:xfrm>
            <a:off x="3825875" y="5025231"/>
            <a:ext cx="708025" cy="473075"/>
          </a:xfrm>
          <a:prstGeom prst="rect">
            <a:avLst/>
          </a:prstGeom>
          <a:noFill/>
          <a:ln w="38100">
            <a:noFill/>
            <a:miter/>
          </a:ln>
        </p:spPr>
      </p:pic>
      <p:sp>
        <p:nvSpPr>
          <p:cNvPr id="8" name="文本框 589833"/>
          <p:cNvSpPr txBox="1"/>
          <p:nvPr/>
        </p:nvSpPr>
        <p:spPr>
          <a:xfrm>
            <a:off x="952500" y="5623719"/>
            <a:ext cx="5410200" cy="4572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buClr>
                <a:schemeClr val="accent1"/>
              </a:buClr>
              <a:buSzPct val="145000"/>
              <a:buFont typeface="Wingdings" panose="05000000000000000000" pitchFamily="2" charset="2"/>
            </a:pPr>
            <a:r>
              <a:rPr lang="zh-CN" altLang="en-US" sz="2400" b="1" dirty="0">
                <a:latin typeface="黑体" panose="02010609060101010101" pitchFamily="49" charset="-122"/>
                <a:ea typeface="黑体" panose="02010609060101010101" pitchFamily="49" charset="-122"/>
              </a:rPr>
              <a:t>相变系统</a:t>
            </a:r>
            <a:endParaRPr lang="zh-CN" altLang="en-US" sz="2400" b="1" dirty="0">
              <a:latin typeface="黑体" panose="02010609060101010101" pitchFamily="49" charset="-122"/>
              <a:ea typeface="黑体" panose="02010609060101010101" pitchFamily="49" charset="-122"/>
            </a:endParaRPr>
          </a:p>
        </p:txBody>
      </p:sp>
      <p:pic>
        <p:nvPicPr>
          <p:cNvPr id="9" name="对象 589834"/>
          <p:cNvPicPr/>
          <p:nvPr/>
        </p:nvPicPr>
        <p:blipFill>
          <a:blip r:embed="rId4"/>
          <a:stretch>
            <a:fillRect/>
          </a:stretch>
        </p:blipFill>
        <p:spPr>
          <a:xfrm>
            <a:off x="3771900" y="5655469"/>
            <a:ext cx="795338" cy="454025"/>
          </a:xfrm>
          <a:prstGeom prst="rect">
            <a:avLst/>
          </a:prstGeom>
          <a:noFill/>
          <a:ln w="38100">
            <a:noFill/>
            <a:miter/>
          </a:ln>
        </p:spPr>
      </p:pic>
      <p:sp>
        <p:nvSpPr>
          <p:cNvPr id="10" name="直接连接符 9"/>
          <p:cNvSpPr/>
          <p:nvPr/>
        </p:nvSpPr>
        <p:spPr>
          <a:xfrm>
            <a:off x="800100" y="2804319"/>
            <a:ext cx="7315200" cy="0"/>
          </a:xfrm>
          <a:prstGeom prst="line">
            <a:avLst/>
          </a:prstGeom>
          <a:ln w="19050" cap="flat" cmpd="sng">
            <a:solidFill>
              <a:srgbClr val="3366FF"/>
            </a:solidFill>
            <a:prstDash val="solid"/>
            <a:round/>
            <a:headEnd type="none" w="med" len="med"/>
            <a:tailEnd type="none" w="med" len="med"/>
          </a:ln>
        </p:spPr>
      </p:sp>
      <p:sp>
        <p:nvSpPr>
          <p:cNvPr id="11" name="直接连接符 10"/>
          <p:cNvSpPr/>
          <p:nvPr/>
        </p:nvSpPr>
        <p:spPr>
          <a:xfrm>
            <a:off x="800100" y="3413919"/>
            <a:ext cx="7315200" cy="0"/>
          </a:xfrm>
          <a:prstGeom prst="line">
            <a:avLst/>
          </a:prstGeom>
          <a:ln w="19050" cap="flat" cmpd="sng">
            <a:solidFill>
              <a:srgbClr val="3366FF"/>
            </a:solidFill>
            <a:prstDash val="solid"/>
            <a:round/>
            <a:headEnd type="none" w="med" len="med"/>
            <a:tailEnd type="none" w="med" len="med"/>
          </a:ln>
        </p:spPr>
      </p:sp>
      <p:sp>
        <p:nvSpPr>
          <p:cNvPr id="12" name="直接连接符 11"/>
          <p:cNvSpPr/>
          <p:nvPr/>
        </p:nvSpPr>
        <p:spPr>
          <a:xfrm>
            <a:off x="800100" y="6233319"/>
            <a:ext cx="7315200" cy="0"/>
          </a:xfrm>
          <a:prstGeom prst="line">
            <a:avLst/>
          </a:prstGeom>
          <a:ln w="19050" cap="flat" cmpd="sng">
            <a:solidFill>
              <a:srgbClr val="3366FF"/>
            </a:solidFill>
            <a:prstDash val="solid"/>
            <a:round/>
            <a:headEnd type="none" w="med" len="med"/>
            <a:tailEnd type="none" w="med" len="med"/>
          </a:ln>
        </p:spPr>
      </p:sp>
      <p:sp>
        <p:nvSpPr>
          <p:cNvPr id="13" name="直接连接符 12"/>
          <p:cNvSpPr/>
          <p:nvPr/>
        </p:nvSpPr>
        <p:spPr>
          <a:xfrm>
            <a:off x="3467100" y="2804319"/>
            <a:ext cx="0" cy="3429000"/>
          </a:xfrm>
          <a:prstGeom prst="line">
            <a:avLst/>
          </a:prstGeom>
          <a:ln w="19050" cap="flat" cmpd="sng">
            <a:solidFill>
              <a:srgbClr val="3366FF"/>
            </a:solidFill>
            <a:prstDash val="solid"/>
            <a:round/>
            <a:headEnd type="none" w="med" len="med"/>
            <a:tailEnd type="none" w="med" len="med"/>
          </a:ln>
        </p:spPr>
      </p:sp>
      <p:pic>
        <p:nvPicPr>
          <p:cNvPr id="14" name="对象 589839"/>
          <p:cNvPicPr/>
          <p:nvPr/>
        </p:nvPicPr>
        <p:blipFill>
          <a:blip r:embed="rId5"/>
          <a:stretch>
            <a:fillRect/>
          </a:stretch>
        </p:blipFill>
        <p:spPr>
          <a:xfrm>
            <a:off x="4044950" y="2905919"/>
            <a:ext cx="519113" cy="403225"/>
          </a:xfrm>
          <a:prstGeom prst="rect">
            <a:avLst/>
          </a:prstGeom>
          <a:noFill/>
          <a:ln w="38100">
            <a:noFill/>
            <a:miter/>
          </a:ln>
        </p:spPr>
      </p:pic>
      <p:sp>
        <p:nvSpPr>
          <p:cNvPr id="15" name="文本框 589840"/>
          <p:cNvSpPr txBox="1"/>
          <p:nvPr/>
        </p:nvSpPr>
        <p:spPr>
          <a:xfrm>
            <a:off x="952500" y="2910681"/>
            <a:ext cx="3657600" cy="4572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buClr>
                <a:schemeClr val="accent1"/>
              </a:buClr>
              <a:buSzPct val="145000"/>
              <a:buFont typeface="Wingdings" panose="05000000000000000000" pitchFamily="2" charset="2"/>
            </a:pPr>
            <a:r>
              <a:rPr lang="zh-CN" altLang="en-US" sz="2400" b="1" baseline="0" dirty="0">
                <a:latin typeface="黑体" panose="02010609060101010101" pitchFamily="49" charset="-122"/>
                <a:ea typeface="黑体" panose="02010609060101010101" pitchFamily="49" charset="-122"/>
              </a:rPr>
              <a:t>所研究的系统</a:t>
            </a:r>
            <a:endParaRPr lang="zh-CN" altLang="en-US" sz="2400" b="1" baseline="0" dirty="0">
              <a:latin typeface="黑体" panose="02010609060101010101" pitchFamily="49" charset="-122"/>
              <a:ea typeface="黑体" panose="02010609060101010101" pitchFamily="49" charset="-122"/>
            </a:endParaRPr>
          </a:p>
        </p:txBody>
      </p:sp>
      <p:sp>
        <p:nvSpPr>
          <p:cNvPr id="16" name="文本框 589845"/>
          <p:cNvSpPr txBox="1"/>
          <p:nvPr/>
        </p:nvSpPr>
        <p:spPr>
          <a:xfrm>
            <a:off x="452230" y="1628310"/>
            <a:ext cx="8915400" cy="52322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Arial" panose="020B0604020202020204" pitchFamily="34" charset="0"/>
                <a:ea typeface="黑体" panose="02010609060101010101" pitchFamily="49" charset="-122"/>
              </a:rPr>
              <a:t>此项的计算已在</a:t>
            </a:r>
            <a:r>
              <a:rPr lang="en-US" altLang="zh-CN" sz="2800" b="1" baseline="0" dirty="0">
                <a:latin typeface="Arial" panose="020B0604020202020204" pitchFamily="34" charset="0"/>
                <a:ea typeface="黑体" panose="02010609060101010101" pitchFamily="49" charset="-122"/>
              </a:rPr>
              <a:t>6-3</a:t>
            </a:r>
            <a:r>
              <a:rPr lang="zh-CN" altLang="en-US" sz="2800" b="1" baseline="0" dirty="0">
                <a:latin typeface="Arial" panose="020B0604020202020204" pitchFamily="34" charset="0"/>
                <a:ea typeface="黑体" panose="02010609060101010101" pitchFamily="49" charset="-122"/>
              </a:rPr>
              <a:t>节讨论过，“对号入座”即可</a:t>
            </a:r>
            <a:endParaRPr lang="zh-CN" altLang="en-US" sz="2800" b="1" baseline="0" dirty="0">
              <a:latin typeface="Arial" panose="020B0604020202020204" pitchFamily="34" charset="0"/>
              <a:ea typeface="黑体" panose="02010609060101010101" pitchFamily="49" charset="-122"/>
            </a:endParaRPr>
          </a:p>
        </p:txBody>
      </p:sp>
      <p:sp>
        <p:nvSpPr>
          <p:cNvPr id="17" name="矩形 16"/>
          <p:cNvSpPr/>
          <p:nvPr/>
        </p:nvSpPr>
        <p:spPr>
          <a:xfrm>
            <a:off x="342900" y="624681"/>
            <a:ext cx="75438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en-US" altLang="zh-CN" sz="3200" b="1" baseline="0">
                <a:latin typeface="黑体" panose="02010609060101010101" pitchFamily="49" charset="-122"/>
                <a:ea typeface="黑体" panose="02010609060101010101" pitchFamily="49" charset="-122"/>
              </a:rPr>
              <a:t>1</a:t>
            </a:r>
            <a:r>
              <a:rPr lang="zh-CN" altLang="en-US" sz="3200" b="1" baseline="0" dirty="0">
                <a:latin typeface="黑体" panose="02010609060101010101" pitchFamily="49" charset="-122"/>
                <a:ea typeface="黑体" panose="02010609060101010101" pitchFamily="49" charset="-122"/>
              </a:rPr>
              <a:t>、系统熵的变化（简称熵变）</a:t>
            </a:r>
            <a:endParaRPr lang="zh-CN" altLang="en-US" sz="3200" b="1" baseline="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86055"/>
          <p:cNvSpPr txBox="1"/>
          <p:nvPr/>
        </p:nvSpPr>
        <p:spPr>
          <a:xfrm>
            <a:off x="495300" y="5607843"/>
            <a:ext cx="8153400" cy="519113"/>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Arial" panose="020B0604020202020204" pitchFamily="34" charset="0"/>
                <a:ea typeface="宋体" panose="02010600030101010101" pitchFamily="2" charset="-122"/>
              </a:rPr>
              <a:t>熵量是不是也通过这三种方式进入或离开系统呢？</a:t>
            </a:r>
            <a:endParaRPr lang="zh-CN" altLang="en-US" sz="2800" b="1" baseline="0" dirty="0">
              <a:latin typeface="Arial" panose="020B0604020202020204" pitchFamily="34" charset="0"/>
              <a:ea typeface="宋体" panose="02010600030101010101" pitchFamily="2" charset="-122"/>
            </a:endParaRPr>
          </a:p>
        </p:txBody>
      </p:sp>
      <p:grpSp>
        <p:nvGrpSpPr>
          <p:cNvPr id="3" name="组合 2"/>
          <p:cNvGrpSpPr/>
          <p:nvPr/>
        </p:nvGrpSpPr>
        <p:grpSpPr>
          <a:xfrm>
            <a:off x="495300" y="1874043"/>
            <a:ext cx="8229600" cy="3048001"/>
            <a:chOff x="336" y="1488"/>
            <a:chExt cx="5184" cy="1920"/>
          </a:xfrm>
        </p:grpSpPr>
        <p:pic>
          <p:nvPicPr>
            <p:cNvPr id="6" name="图片 5"/>
            <p:cNvPicPr>
              <a:picLocks noChangeAspect="1"/>
            </p:cNvPicPr>
            <p:nvPr/>
          </p:nvPicPr>
          <p:blipFill>
            <a:blip r:embed="rId1"/>
            <a:stretch>
              <a:fillRect/>
            </a:stretch>
          </p:blipFill>
          <p:spPr>
            <a:xfrm>
              <a:off x="336" y="1488"/>
              <a:ext cx="2880" cy="1897"/>
            </a:xfrm>
            <a:prstGeom prst="rect">
              <a:avLst/>
            </a:prstGeom>
            <a:noFill/>
            <a:ln w="9525">
              <a:noFill/>
            </a:ln>
          </p:spPr>
        </p:pic>
        <p:sp>
          <p:nvSpPr>
            <p:cNvPr id="7" name="文本框 386060"/>
            <p:cNvSpPr txBox="1"/>
            <p:nvPr/>
          </p:nvSpPr>
          <p:spPr>
            <a:xfrm>
              <a:off x="2976" y="1632"/>
              <a:ext cx="2544" cy="596"/>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Arial" panose="020B0604020202020204" pitchFamily="34" charset="0"/>
                  <a:ea typeface="宋体" panose="02010600030101010101" pitchFamily="2" charset="-122"/>
                </a:rPr>
                <a:t>能量有几种方式进入或离开系统？</a:t>
              </a:r>
              <a:endParaRPr lang="zh-CN" altLang="en-US" sz="2800" b="1" baseline="0" dirty="0">
                <a:latin typeface="Arial" panose="020B0604020202020204" pitchFamily="34" charset="0"/>
                <a:ea typeface="宋体" panose="02010600030101010101" pitchFamily="2" charset="-122"/>
              </a:endParaRPr>
            </a:p>
          </p:txBody>
        </p:sp>
        <p:sp>
          <p:nvSpPr>
            <p:cNvPr id="8" name="矩形 7"/>
            <p:cNvSpPr/>
            <p:nvPr/>
          </p:nvSpPr>
          <p:spPr>
            <a:xfrm>
              <a:off x="432" y="1584"/>
              <a:ext cx="4944" cy="1824"/>
            </a:xfrm>
            <a:prstGeom prst="rect">
              <a:avLst/>
            </a:prstGeom>
            <a:noFill/>
            <a:ln w="25400" cap="flat" cmpd="sng">
              <a:solidFill>
                <a:schemeClr val="folHlink"/>
              </a:solidFill>
              <a:prstDash val="solid"/>
              <a:miter/>
              <a:headEnd type="none" w="med" len="med"/>
              <a:tailEnd type="none" w="med" len="med"/>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a typeface="宋体" panose="02010600030101010101" pitchFamily="2" charset="-122"/>
              </a:endParaRPr>
            </a:p>
          </p:txBody>
        </p:sp>
      </p:grpSp>
      <p:sp>
        <p:nvSpPr>
          <p:cNvPr id="4" name="矩形 3"/>
          <p:cNvSpPr/>
          <p:nvPr/>
        </p:nvSpPr>
        <p:spPr>
          <a:xfrm>
            <a:off x="4686300" y="3321843"/>
            <a:ext cx="3886200" cy="519113"/>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solidFill>
                  <a:srgbClr val="0000CC"/>
                </a:solidFill>
                <a:latin typeface="Arial" panose="020B0604020202020204" pitchFamily="34" charset="0"/>
                <a:ea typeface="宋体" panose="02010600030101010101" pitchFamily="2" charset="-122"/>
              </a:rPr>
              <a:t>传热、作功、质量携带</a:t>
            </a:r>
            <a:endParaRPr lang="zh-CN" altLang="en-US" sz="2800" b="1" baseline="0" dirty="0">
              <a:solidFill>
                <a:srgbClr val="0000CC"/>
              </a:solidFill>
              <a:latin typeface="Arial" panose="020B0604020202020204" pitchFamily="34" charset="0"/>
              <a:ea typeface="宋体" panose="02010600030101010101" pitchFamily="2" charset="-122"/>
            </a:endParaRPr>
          </a:p>
        </p:txBody>
      </p:sp>
      <p:sp>
        <p:nvSpPr>
          <p:cNvPr id="5" name="矩形 4"/>
          <p:cNvSpPr/>
          <p:nvPr/>
        </p:nvSpPr>
        <p:spPr>
          <a:xfrm>
            <a:off x="419100" y="731043"/>
            <a:ext cx="75438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en-US" altLang="zh-CN" sz="3200" b="1" baseline="0">
                <a:latin typeface="黑体" panose="02010609060101010101" pitchFamily="49" charset="-122"/>
                <a:ea typeface="黑体" panose="02010609060101010101" pitchFamily="49" charset="-122"/>
              </a:rPr>
              <a:t>2</a:t>
            </a:r>
            <a:r>
              <a:rPr lang="zh-CN" altLang="en-US" sz="3200" b="1" baseline="0" dirty="0">
                <a:latin typeface="黑体" panose="02010609060101010101" pitchFamily="49" charset="-122"/>
                <a:ea typeface="黑体" panose="02010609060101010101" pitchFamily="49" charset="-122"/>
              </a:rPr>
              <a:t>、进入和离开系统的熵</a:t>
            </a:r>
            <a:endParaRPr lang="zh-CN" altLang="en-US" sz="3200" b="1" baseline="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87073"/>
          <p:cNvSpPr>
            <a:spLocks noGrp="1"/>
          </p:cNvSpPr>
          <p:nvPr/>
        </p:nvSpPr>
        <p:spPr>
          <a:xfrm>
            <a:off x="361122" y="514212"/>
            <a:ext cx="8229600" cy="114300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zh-CN" altLang="en-US" sz="2800"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800"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800"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）伴随热量传递而传递的熵</a:t>
            </a:r>
            <a:r>
              <a:rPr lang="zh-CN" altLang="en-US" sz="2800" b="1" dirty="0" smtClean="0">
                <a:solidFill>
                  <a:schemeClr val="tx1"/>
                </a:solidFill>
                <a:latin typeface="黑体" panose="02010609060101010101" pitchFamily="49" charset="-122"/>
                <a:ea typeface="黑体" panose="02010609060101010101" pitchFamily="49" charset="-122"/>
                <a:cs typeface="Times New Roman" panose="02020603050405020304" pitchFamily="18" charset="0"/>
              </a:rPr>
              <a:t>量</a:t>
            </a:r>
            <a:r>
              <a:rPr lang="en-US" altLang="zh-CN" sz="2800"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b="1" dirty="0" smtClean="0">
                <a:solidFill>
                  <a:srgbClr val="FF0000"/>
                </a:solidFill>
                <a:latin typeface="黑体" panose="02010609060101010101" pitchFamily="49" charset="-122"/>
                <a:ea typeface="黑体" panose="02010609060101010101" pitchFamily="49" charset="-122"/>
                <a:cs typeface="Times New Roman" panose="02020603050405020304" pitchFamily="18" charset="0"/>
              </a:rPr>
              <a:t>热熵流</a:t>
            </a:r>
            <a:br>
              <a:rPr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br>
            <a:r>
              <a:rPr lang="zh-CN" altLang="en-US" sz="2800" b="1" dirty="0">
                <a:solidFill>
                  <a:schemeClr val="tx1"/>
                </a:solidFill>
              </a:rPr>
              <a:t>（</a:t>
            </a:r>
            <a:r>
              <a:rPr lang="en-US" altLang="zh-CN" sz="2800" b="1" dirty="0">
                <a:solidFill>
                  <a:schemeClr val="tx1"/>
                </a:solidFill>
                <a:latin typeface="Times New Roman" panose="02020603050405020304" pitchFamily="18" charset="0"/>
                <a:cs typeface="Times New Roman" panose="02020603050405020304" pitchFamily="18" charset="0"/>
              </a:rPr>
              <a:t>Entropy Transfer by Heat Transfer</a:t>
            </a:r>
            <a:r>
              <a:rPr lang="zh-CN" altLang="en-US" sz="2800" b="1" dirty="0">
                <a:solidFill>
                  <a:schemeClr val="tx1"/>
                </a:solidFill>
              </a:rPr>
              <a:t>）</a:t>
            </a:r>
            <a:r>
              <a:rPr lang="zh-CN" altLang="en-US" sz="4000" dirty="0">
                <a:solidFill>
                  <a:schemeClr val="tx1"/>
                </a:solidFill>
              </a:rPr>
              <a:t> </a:t>
            </a:r>
            <a:endParaRPr lang="zh-CN" altLang="en-US" sz="4000" dirty="0">
              <a:solidFill>
                <a:schemeClr val="tx1"/>
              </a:solidFill>
            </a:endParaRPr>
          </a:p>
        </p:txBody>
      </p:sp>
      <p:pic>
        <p:nvPicPr>
          <p:cNvPr id="3" name="对象 1"/>
          <p:cNvPicPr/>
          <p:nvPr/>
        </p:nvPicPr>
        <p:blipFill>
          <a:blip r:embed="rId1"/>
          <a:stretch>
            <a:fillRect/>
          </a:stretch>
        </p:blipFill>
        <p:spPr>
          <a:xfrm>
            <a:off x="818322" y="3135174"/>
            <a:ext cx="2062163" cy="946150"/>
          </a:xfrm>
          <a:prstGeom prst="rect">
            <a:avLst/>
          </a:prstGeom>
          <a:noFill/>
          <a:ln w="38100">
            <a:noFill/>
            <a:miter/>
          </a:ln>
        </p:spPr>
      </p:pic>
      <p:sp>
        <p:nvSpPr>
          <p:cNvPr id="4" name="直接连接符 3"/>
          <p:cNvSpPr/>
          <p:nvPr/>
        </p:nvSpPr>
        <p:spPr>
          <a:xfrm flipH="1">
            <a:off x="2799522" y="2373174"/>
            <a:ext cx="1066800" cy="914400"/>
          </a:xfrm>
          <a:prstGeom prst="line">
            <a:avLst/>
          </a:prstGeom>
          <a:ln w="9525" cap="flat" cmpd="sng">
            <a:solidFill>
              <a:schemeClr val="tx1"/>
            </a:solidFill>
            <a:prstDash val="solid"/>
            <a:round/>
            <a:headEnd type="none" w="med" len="med"/>
            <a:tailEnd type="triangle" w="med" len="med"/>
          </a:ln>
        </p:spPr>
      </p:sp>
      <p:sp>
        <p:nvSpPr>
          <p:cNvPr id="5" name="矩形 4"/>
          <p:cNvSpPr/>
          <p:nvPr/>
        </p:nvSpPr>
        <p:spPr>
          <a:xfrm>
            <a:off x="3866322" y="1915974"/>
            <a:ext cx="3756025" cy="519113"/>
          </a:xfrm>
          <a:prstGeom prst="rect">
            <a:avLst/>
          </a:prstGeom>
          <a:noFill/>
          <a:ln w="9525">
            <a:noFill/>
          </a:ln>
        </p:spPr>
        <p:txBody>
          <a:bodyPr wrap="non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系统与外界交换的热量</a:t>
            </a:r>
            <a:endParaRPr lang="zh-CN" altLang="en-US" sz="2800" b="1" baseline="0" dirty="0">
              <a:latin typeface="黑体" panose="02010609060101010101" pitchFamily="49" charset="-122"/>
              <a:ea typeface="黑体" panose="02010609060101010101" pitchFamily="49" charset="-122"/>
            </a:endParaRPr>
          </a:p>
        </p:txBody>
      </p:sp>
      <p:sp>
        <p:nvSpPr>
          <p:cNvPr id="6" name="矩形 5"/>
          <p:cNvSpPr/>
          <p:nvPr/>
        </p:nvSpPr>
        <p:spPr>
          <a:xfrm>
            <a:off x="3866322" y="2754174"/>
            <a:ext cx="4800600" cy="137318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系统边界处的温度（这里的“边界处” 是指发生了热量交换的那部分边界）</a:t>
            </a:r>
            <a:endParaRPr lang="zh-CN" altLang="en-US" sz="2800" b="1" baseline="0" dirty="0">
              <a:latin typeface="黑体" panose="02010609060101010101" pitchFamily="49" charset="-122"/>
              <a:ea typeface="黑体" panose="02010609060101010101" pitchFamily="49" charset="-122"/>
            </a:endParaRPr>
          </a:p>
        </p:txBody>
      </p:sp>
      <p:sp>
        <p:nvSpPr>
          <p:cNvPr id="7" name="直接连接符 6"/>
          <p:cNvSpPr/>
          <p:nvPr/>
        </p:nvSpPr>
        <p:spPr>
          <a:xfrm flipH="1">
            <a:off x="2799522" y="3516174"/>
            <a:ext cx="990600" cy="381000"/>
          </a:xfrm>
          <a:prstGeom prst="line">
            <a:avLst/>
          </a:prstGeom>
          <a:ln w="9525" cap="flat" cmpd="sng">
            <a:solidFill>
              <a:schemeClr val="tx1"/>
            </a:solidFill>
            <a:prstDash val="solid"/>
            <a:round/>
            <a:headEnd type="none" w="med" len="med"/>
            <a:tailEnd type="triangle" w="med" len="med"/>
          </a:ln>
        </p:spPr>
      </p:sp>
      <p:sp>
        <p:nvSpPr>
          <p:cNvPr id="8" name="矩形 7"/>
          <p:cNvSpPr/>
          <p:nvPr/>
        </p:nvSpPr>
        <p:spPr>
          <a:xfrm>
            <a:off x="3924300" y="4537730"/>
            <a:ext cx="4800600" cy="137318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若系统处于平衡状态，则系统边界处的温度就是系统整体的温度</a:t>
            </a:r>
            <a:endParaRPr lang="zh-CN" altLang="en-US" sz="2800" b="1" baseline="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对象 4"/>
          <p:cNvPicPr/>
          <p:nvPr/>
        </p:nvPicPr>
        <p:blipFill>
          <a:blip r:embed="rId1"/>
          <a:stretch>
            <a:fillRect/>
          </a:stretch>
        </p:blipFill>
        <p:spPr>
          <a:xfrm>
            <a:off x="2542676" y="3779837"/>
            <a:ext cx="4673600" cy="2455863"/>
          </a:xfrm>
          <a:prstGeom prst="rect">
            <a:avLst/>
          </a:prstGeom>
          <a:noFill/>
          <a:ln w="38100">
            <a:noFill/>
            <a:miter/>
          </a:ln>
        </p:spPr>
      </p:pic>
      <p:sp>
        <p:nvSpPr>
          <p:cNvPr id="6" name="矩形 5"/>
          <p:cNvSpPr/>
          <p:nvPr/>
        </p:nvSpPr>
        <p:spPr>
          <a:xfrm>
            <a:off x="327439" y="1242114"/>
            <a:ext cx="8397461" cy="12192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smtClean="0">
                <a:latin typeface="Times New Roman" panose="02020603050405020304" pitchFamily="18" charset="0"/>
                <a:ea typeface="黑体" panose="02010609060101010101" pitchFamily="49" charset="-122"/>
                <a:cs typeface="Times New Roman" panose="02020603050405020304" pitchFamily="18" charset="0"/>
              </a:rPr>
              <a:t>若系统与外界交换热量</a:t>
            </a:r>
            <a:r>
              <a:rPr lang="en-US" altLang="zh-CN" sz="2800" b="1" i="1" baseline="0" dirty="0" smtClean="0">
                <a:latin typeface="Times New Roman" panose="02020603050405020304" pitchFamily="18" charset="0"/>
                <a:ea typeface="黑体" panose="02010609060101010101" pitchFamily="49" charset="-122"/>
                <a:cs typeface="Times New Roman" panose="02020603050405020304" pitchFamily="18" charset="0"/>
              </a:rPr>
              <a:t>Q</a:t>
            </a:r>
            <a:r>
              <a:rPr lang="zh-CN" altLang="en-US" sz="2800" b="1" baseline="0" dirty="0" smtClean="0">
                <a:latin typeface="Times New Roman" panose="02020603050405020304" pitchFamily="18" charset="0"/>
                <a:ea typeface="黑体" panose="02010609060101010101" pitchFamily="49" charset="-122"/>
                <a:cs typeface="Times New Roman" panose="02020603050405020304" pitchFamily="18" charset="0"/>
              </a:rPr>
              <a:t>的过程中，</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baseline="0" dirty="0" smtClean="0">
                <a:latin typeface="Times New Roman" panose="02020603050405020304" pitchFamily="18" charset="0"/>
                <a:ea typeface="黑体" panose="02010609060101010101" pitchFamily="49" charset="-122"/>
                <a:cs typeface="Times New Roman" panose="02020603050405020304" pitchFamily="18" charset="0"/>
              </a:rPr>
              <a:t>始终不变，则</a:t>
            </a:r>
            <a:endParaRPr lang="zh-CN" altLang="en-US" sz="2800" baseline="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 name="对象 1"/>
          <p:cNvPicPr/>
          <p:nvPr/>
        </p:nvPicPr>
        <p:blipFill>
          <a:blip r:embed="rId2"/>
          <a:stretch>
            <a:fillRect/>
          </a:stretch>
        </p:blipFill>
        <p:spPr>
          <a:xfrm>
            <a:off x="3096418" y="393985"/>
            <a:ext cx="2062163" cy="946150"/>
          </a:xfrm>
          <a:prstGeom prst="rect">
            <a:avLst/>
          </a:prstGeom>
          <a:noFill/>
          <a:ln w="38100">
            <a:noFill/>
            <a:miter/>
          </a:ln>
        </p:spPr>
      </p:pic>
      <p:graphicFrame>
        <p:nvGraphicFramePr>
          <p:cNvPr id="9" name="对象 8"/>
          <p:cNvGraphicFramePr>
            <a:graphicFrameLocks noChangeAspect="1"/>
          </p:cNvGraphicFramePr>
          <p:nvPr/>
        </p:nvGraphicFramePr>
        <p:xfrm>
          <a:off x="3557363" y="2384305"/>
          <a:ext cx="1428130" cy="983823"/>
        </p:xfrm>
        <a:graphic>
          <a:graphicData uri="http://schemas.openxmlformats.org/presentationml/2006/ole">
            <mc:AlternateContent xmlns:mc="http://schemas.openxmlformats.org/markup-compatibility/2006">
              <mc:Choice xmlns:v="urn:schemas-microsoft-com:vml" Requires="v">
                <p:oleObj spid="_x0000_s81951" name="Equation" r:id="rId3" imgW="571500" imgH="393700" progId="Equation.DSMT4">
                  <p:embed/>
                </p:oleObj>
              </mc:Choice>
              <mc:Fallback>
                <p:oleObj name="Equation" r:id="rId3" imgW="571500" imgH="3937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7363" y="2384305"/>
                        <a:ext cx="1428130" cy="983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99697" y="2710953"/>
            <a:ext cx="8047346" cy="12192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solidFill>
                  <a:srgbClr val="0000CC"/>
                </a:solidFill>
                <a:latin typeface="黑体" panose="02010609060101010101" pitchFamily="49" charset="-122"/>
                <a:ea typeface="黑体" panose="02010609060101010101" pitchFamily="49" charset="-122"/>
              </a:rPr>
              <a:t>系统</a:t>
            </a:r>
            <a:r>
              <a:rPr lang="zh-CN" altLang="en-US" sz="2800" b="1" baseline="0" dirty="0" smtClean="0">
                <a:solidFill>
                  <a:srgbClr val="0000CC"/>
                </a:solidFill>
                <a:latin typeface="黑体" panose="02010609060101010101" pitchFamily="49" charset="-122"/>
                <a:ea typeface="黑体" panose="02010609060101010101" pitchFamily="49" charset="-122"/>
              </a:rPr>
              <a:t>吸热时，</a:t>
            </a:r>
            <a:r>
              <a:rPr lang="en-US" altLang="zh-CN" sz="2800" b="1" i="1"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baseline="-25000"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1" baseline="-25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i="1" baseline="-25000"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Q</a:t>
            </a:r>
            <a:r>
              <a:rPr lang="zh-CN" altLang="en-US" sz="2800" b="1" dirty="0" smtClean="0">
                <a:solidFill>
                  <a:srgbClr val="0000CC"/>
                </a:solidFill>
                <a:latin typeface="黑体" panose="02010609060101010101" pitchFamily="49" charset="-122"/>
                <a:ea typeface="黑体" panose="02010609060101010101" pitchFamily="49" charset="-122"/>
              </a:rPr>
              <a:t>为正，此时</a:t>
            </a:r>
            <a:r>
              <a:rPr lang="zh-CN" altLang="en-US" sz="2800" b="1" baseline="0" dirty="0" smtClean="0">
                <a:solidFill>
                  <a:srgbClr val="0000CC"/>
                </a:solidFill>
                <a:latin typeface="黑体" panose="02010609060101010101" pitchFamily="49" charset="-122"/>
                <a:ea typeface="黑体" panose="02010609060101010101" pitchFamily="49" charset="-122"/>
              </a:rPr>
              <a:t>熵量伴随</a:t>
            </a:r>
            <a:r>
              <a:rPr lang="zh-CN" altLang="en-US" sz="2800" b="1" baseline="0" dirty="0">
                <a:solidFill>
                  <a:srgbClr val="0000CC"/>
                </a:solidFill>
                <a:latin typeface="黑体" panose="02010609060101010101" pitchFamily="49" charset="-122"/>
                <a:ea typeface="黑体" panose="02010609060101010101" pitchFamily="49" charset="-122"/>
              </a:rPr>
              <a:t>着</a:t>
            </a:r>
            <a:r>
              <a:rPr lang="zh-CN" altLang="en-US" sz="2800" b="1" baseline="0" dirty="0" smtClean="0">
                <a:solidFill>
                  <a:srgbClr val="0000CC"/>
                </a:solidFill>
                <a:latin typeface="黑体" panose="02010609060101010101" pitchFamily="49" charset="-122"/>
                <a:ea typeface="黑体" panose="02010609060101010101" pitchFamily="49" charset="-122"/>
              </a:rPr>
              <a:t>热量进入</a:t>
            </a:r>
            <a:r>
              <a:rPr lang="zh-CN" altLang="en-US" sz="2800" b="1" baseline="0" dirty="0">
                <a:solidFill>
                  <a:srgbClr val="0000CC"/>
                </a:solidFill>
                <a:latin typeface="黑体" panose="02010609060101010101" pitchFamily="49" charset="-122"/>
                <a:ea typeface="黑体" panose="02010609060101010101" pitchFamily="49" charset="-122"/>
              </a:rPr>
              <a:t>系统；</a:t>
            </a:r>
            <a:br>
              <a:rPr lang="zh-CN" altLang="en-US" sz="2800" b="1" baseline="0" dirty="0">
                <a:solidFill>
                  <a:srgbClr val="0000CC"/>
                </a:solidFill>
                <a:latin typeface="Arial" panose="020B0604020202020204" pitchFamily="34" charset="0"/>
                <a:ea typeface="宋体" panose="02010600030101010101" pitchFamily="2" charset="-122"/>
              </a:rPr>
            </a:br>
            <a:endParaRPr lang="zh-CN" altLang="en-US" sz="2800" baseline="0" dirty="0">
              <a:solidFill>
                <a:srgbClr val="0000CC"/>
              </a:solidFill>
              <a:latin typeface="Arial" panose="020B0604020202020204" pitchFamily="34" charset="0"/>
              <a:ea typeface="宋体" panose="02010600030101010101" pitchFamily="2" charset="-122"/>
            </a:endParaRPr>
          </a:p>
        </p:txBody>
      </p:sp>
      <p:pic>
        <p:nvPicPr>
          <p:cNvPr id="5" name="对象 1"/>
          <p:cNvPicPr/>
          <p:nvPr/>
        </p:nvPicPr>
        <p:blipFill>
          <a:blip r:embed="rId1"/>
          <a:stretch>
            <a:fillRect/>
          </a:stretch>
        </p:blipFill>
        <p:spPr>
          <a:xfrm>
            <a:off x="3096418" y="393985"/>
            <a:ext cx="2062163" cy="946150"/>
          </a:xfrm>
          <a:prstGeom prst="rect">
            <a:avLst/>
          </a:prstGeom>
          <a:noFill/>
          <a:ln w="38100">
            <a:noFill/>
            <a:miter/>
          </a:ln>
        </p:spPr>
      </p:pic>
      <p:sp>
        <p:nvSpPr>
          <p:cNvPr id="6" name="矩形 5"/>
          <p:cNvSpPr/>
          <p:nvPr/>
        </p:nvSpPr>
        <p:spPr>
          <a:xfrm>
            <a:off x="634863" y="1313041"/>
            <a:ext cx="8397461" cy="12192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smtClean="0">
                <a:latin typeface="Times New Roman" panose="02020603050405020304" pitchFamily="18" charset="0"/>
                <a:ea typeface="黑体" panose="02010609060101010101" pitchFamily="49" charset="-122"/>
                <a:cs typeface="Times New Roman" panose="02020603050405020304" pitchFamily="18" charset="0"/>
              </a:rPr>
              <a:t>由于</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总是大于</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，所以热熵流与热流的方向一致</a:t>
            </a:r>
            <a:endParaRPr lang="zh-CN" altLang="en-US" sz="2800" baseline="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矩形 7"/>
          <p:cNvSpPr/>
          <p:nvPr/>
        </p:nvSpPr>
        <p:spPr>
          <a:xfrm>
            <a:off x="634863" y="3930153"/>
            <a:ext cx="8012180" cy="1384995"/>
          </a:xfrm>
          <a:prstGeom prst="rect">
            <a:avLst/>
          </a:prstGeom>
        </p:spPr>
        <p:txBody>
          <a:bodyPr wrap="square">
            <a:spAutoFit/>
          </a:bodyPr>
          <a:lstStyle/>
          <a:p>
            <a:pPr lvl="0"/>
            <a:r>
              <a:rPr lang="zh-CN" altLang="en-US" sz="2800" b="1" dirty="0">
                <a:solidFill>
                  <a:srgbClr val="0000CC"/>
                </a:solidFill>
                <a:latin typeface="黑体" panose="02010609060101010101" pitchFamily="49" charset="-122"/>
                <a:ea typeface="黑体" panose="02010609060101010101" pitchFamily="49" charset="-122"/>
              </a:rPr>
              <a:t>系统放热时，</a:t>
            </a:r>
            <a:r>
              <a:rPr lang="en-US" altLang="zh-CN" sz="2800" b="1"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baseline="-25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1" i="1" baseline="-25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Q</a:t>
            </a:r>
            <a:r>
              <a:rPr lang="zh-CN" altLang="en-US" sz="2800" b="1" dirty="0">
                <a:solidFill>
                  <a:srgbClr val="0000CC"/>
                </a:solidFill>
                <a:latin typeface="黑体" panose="02010609060101010101" pitchFamily="49" charset="-122"/>
                <a:ea typeface="黑体" panose="02010609060101010101" pitchFamily="49" charset="-122"/>
              </a:rPr>
              <a:t>为负，此时熵量伴随着热量离开系统；</a:t>
            </a:r>
            <a:br>
              <a:rPr lang="zh-CN" altLang="en-US" sz="2800" b="1" dirty="0">
                <a:solidFill>
                  <a:srgbClr val="0000CC"/>
                </a:solidFill>
                <a:latin typeface="Arial" panose="020B0604020202020204" pitchFamily="34" charset="0"/>
                <a:ea typeface="宋体" panose="02010600030101010101" pitchFamily="2" charset="-122"/>
              </a:rPr>
            </a:br>
            <a:endParaRPr lang="zh-CN" altLang="en-US" sz="2800" dirty="0">
              <a:solidFill>
                <a:srgbClr val="0000CC"/>
              </a:solidFill>
              <a:latin typeface="Arial" panose="020B0604020202020204" pitchFamily="34" charset="0"/>
              <a:ea typeface="宋体" panose="02010600030101010101" pitchFamily="2" charset="-122"/>
            </a:endParaRPr>
          </a:p>
        </p:txBody>
      </p:sp>
      <p:sp>
        <p:nvSpPr>
          <p:cNvPr id="9" name="矩形 8"/>
          <p:cNvSpPr/>
          <p:nvPr/>
        </p:nvSpPr>
        <p:spPr>
          <a:xfrm>
            <a:off x="634863" y="5149353"/>
            <a:ext cx="8012180" cy="954107"/>
          </a:xfrm>
          <a:prstGeom prst="rect">
            <a:avLst/>
          </a:prstGeom>
        </p:spPr>
        <p:txBody>
          <a:bodyPr wrap="square">
            <a:spAutoFit/>
          </a:bodyPr>
          <a:lstStyle/>
          <a:p>
            <a:pPr lvl="0"/>
            <a:r>
              <a:rPr lang="zh-CN" altLang="en-US" sz="2800" b="1" dirty="0">
                <a:solidFill>
                  <a:srgbClr val="0000CC"/>
                </a:solidFill>
                <a:latin typeface="黑体" panose="02010609060101010101" pitchFamily="49" charset="-122"/>
                <a:ea typeface="黑体" panose="02010609060101010101" pitchFamily="49" charset="-122"/>
              </a:rPr>
              <a:t>系统绝热时，</a:t>
            </a:r>
            <a:r>
              <a:rPr lang="en-US" altLang="zh-CN" sz="2800" b="1" i="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baseline="-25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1" i="1" baseline="-25000"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Q</a:t>
            </a:r>
            <a:r>
              <a:rPr lang="zh-CN" altLang="en-US" sz="2800" b="1" dirty="0">
                <a:solidFill>
                  <a:srgbClr val="0000CC"/>
                </a:solidFill>
                <a:latin typeface="黑体" panose="02010609060101010101" pitchFamily="49" charset="-122"/>
                <a:ea typeface="黑体" panose="02010609060101010101" pitchFamily="49" charset="-122"/>
              </a:rPr>
              <a:t>为</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0</a:t>
            </a:r>
            <a:br>
              <a:rPr lang="zh-CN" altLang="en-US"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br>
            <a:endParaRPr lang="zh-CN" altLang="en-US"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389121"/>
          <p:cNvSpPr>
            <a:spLocks noGrp="1" noChangeArrowheads="1"/>
          </p:cNvSpPr>
          <p:nvPr>
            <p:ph type="title"/>
          </p:nvPr>
        </p:nvSpPr>
        <p:spPr/>
        <p:txBody>
          <a:bodyPr/>
          <a:lstStyle/>
          <a:p>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a:t>
            </a:r>
            <a:r>
              <a:rPr lang="zh-CN" altLang="en-US" sz="2800" b="1" dirty="0" smtClean="0">
                <a:latin typeface="黑体" panose="02010609060101010101" pitchFamily="49" charset="-122"/>
                <a:ea typeface="黑体" panose="02010609060101010101" pitchFamily="49" charset="-122"/>
              </a:rPr>
              <a:t>伴随功量传递而传递的熵量</a:t>
            </a:r>
            <a:br>
              <a:rPr lang="zh-CN" altLang="en-US" sz="2800" b="1" dirty="0" smtClean="0">
                <a:latin typeface="黑体" panose="02010609060101010101" pitchFamily="49" charset="-122"/>
                <a:ea typeface="黑体" panose="02010609060101010101" pitchFamily="49" charset="-122"/>
              </a:rPr>
            </a:b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Entropy Transfer by Work Transfer</a:t>
            </a:r>
            <a:r>
              <a:rPr lang="zh-CN" altLang="en-US" sz="2800" b="1" dirty="0" smtClean="0">
                <a:latin typeface="Times New Roman" panose="02020603050405020304" pitchFamily="18" charset="0"/>
                <a:cs typeface="Times New Roman" panose="02020603050405020304" pitchFamily="18" charset="0"/>
              </a:rPr>
              <a:t>）</a:t>
            </a:r>
            <a:r>
              <a:rPr lang="zh-CN" altLang="en-US" sz="4000" dirty="0" smtClean="0">
                <a:latin typeface="Times New Roman" panose="02020603050405020304" pitchFamily="18" charset="0"/>
                <a:cs typeface="Times New Roman" panose="02020603050405020304" pitchFamily="18" charset="0"/>
              </a:rPr>
              <a:t> </a:t>
            </a:r>
            <a:endParaRPr lang="zh-CN" altLang="en-US" sz="4000" dirty="0" smtClean="0">
              <a:latin typeface="Times New Roman" panose="02020603050405020304" pitchFamily="18" charset="0"/>
              <a:cs typeface="Times New Roman" panose="02020603050405020304" pitchFamily="18" charset="0"/>
            </a:endParaRPr>
          </a:p>
        </p:txBody>
      </p:sp>
      <p:graphicFrame>
        <p:nvGraphicFramePr>
          <p:cNvPr id="389134" name="对象 389133"/>
          <p:cNvGraphicFramePr/>
          <p:nvPr/>
        </p:nvGraphicFramePr>
        <p:xfrm>
          <a:off x="791818" y="2826022"/>
          <a:ext cx="1828800" cy="473075"/>
        </p:xfrm>
        <a:graphic>
          <a:graphicData uri="http://schemas.openxmlformats.org/presentationml/2006/ole">
            <mc:AlternateContent xmlns:mc="http://schemas.openxmlformats.org/markup-compatibility/2006">
              <mc:Choice xmlns:v="urn:schemas-microsoft-com:vml" Requires="v">
                <p:oleObj spid="_x0000_s83004" name="" r:id="rId1" imgW="774065" imgH="203200" progId="Equation.DSMT4">
                  <p:embed/>
                </p:oleObj>
              </mc:Choice>
              <mc:Fallback>
                <p:oleObj name="" r:id="rId1" imgW="774065" imgH="203200" progId="Equation.DSMT4">
                  <p:embed/>
                  <p:pic>
                    <p:nvPicPr>
                      <p:cNvPr id="0" name="对象 38913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818" y="2826022"/>
                        <a:ext cx="18288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36" name="矩形 389135"/>
          <p:cNvSpPr>
            <a:spLocks noChangeArrowheads="1"/>
          </p:cNvSpPr>
          <p:nvPr/>
        </p:nvSpPr>
        <p:spPr bwMode="auto">
          <a:xfrm>
            <a:off x="2971800" y="2741280"/>
            <a:ext cx="5562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latin typeface="黑体" panose="02010609060101010101" pitchFamily="49" charset="-122"/>
                <a:ea typeface="黑体" panose="02010609060101010101" pitchFamily="49" charset="-122"/>
              </a:rPr>
              <a:t>无论是传递</a:t>
            </a:r>
            <a:r>
              <a:rPr lang="en-US" altLang="zh-CN" sz="2400" b="1" baseline="0" dirty="0">
                <a:latin typeface="黑体" panose="02010609060101010101" pitchFamily="49" charset="-122"/>
                <a:ea typeface="黑体" panose="02010609060101010101" pitchFamily="49" charset="-122"/>
              </a:rPr>
              <a:t>5J</a:t>
            </a:r>
            <a:r>
              <a:rPr lang="zh-CN" altLang="en-US" sz="2400" b="1" baseline="0" dirty="0">
                <a:latin typeface="黑体" panose="02010609060101010101" pitchFamily="49" charset="-122"/>
                <a:ea typeface="黑体" panose="02010609060101010101" pitchFamily="49" charset="-122"/>
              </a:rPr>
              <a:t>的热量或是传递</a:t>
            </a:r>
            <a:r>
              <a:rPr lang="en-US" altLang="zh-CN" sz="2400" b="1" baseline="0" dirty="0">
                <a:latin typeface="黑体" panose="02010609060101010101" pitchFamily="49" charset="-122"/>
                <a:ea typeface="黑体" panose="02010609060101010101" pitchFamily="49" charset="-122"/>
              </a:rPr>
              <a:t>5J</a:t>
            </a:r>
            <a:r>
              <a:rPr lang="zh-CN" altLang="en-US" sz="2400" b="1" baseline="0" dirty="0">
                <a:latin typeface="黑体" panose="02010609060101010101" pitchFamily="49" charset="-122"/>
                <a:ea typeface="黑体" panose="02010609060101010101" pitchFamily="49" charset="-122"/>
              </a:rPr>
              <a:t>的功量都会使系统的能量变化</a:t>
            </a:r>
            <a:r>
              <a:rPr lang="en-US" altLang="zh-CN" sz="2400" b="1" baseline="0" dirty="0">
                <a:latin typeface="黑体" panose="02010609060101010101" pitchFamily="49" charset="-122"/>
                <a:ea typeface="黑体" panose="02010609060101010101" pitchFamily="49" charset="-122"/>
              </a:rPr>
              <a:t>5J</a:t>
            </a:r>
            <a:r>
              <a:rPr lang="zh-CN" altLang="en-US" sz="2400" b="1" baseline="0" dirty="0">
                <a:latin typeface="黑体" panose="02010609060101010101" pitchFamily="49" charset="-122"/>
                <a:ea typeface="黑体" panose="02010609060101010101" pitchFamily="49" charset="-122"/>
              </a:rPr>
              <a:t>。</a:t>
            </a:r>
            <a:endParaRPr lang="zh-CN" altLang="en-US" sz="2400" b="1" baseline="0" dirty="0">
              <a:latin typeface="黑体" panose="02010609060101010101" pitchFamily="49" charset="-122"/>
              <a:ea typeface="黑体" panose="02010609060101010101" pitchFamily="49" charset="-122"/>
            </a:endParaRPr>
          </a:p>
          <a:p>
            <a:r>
              <a:rPr lang="zh-CN" altLang="en-US" sz="2400" b="1" baseline="0" dirty="0">
                <a:latin typeface="黑体" panose="02010609060101010101" pitchFamily="49" charset="-122"/>
                <a:ea typeface="黑体" panose="02010609060101010101" pitchFamily="49" charset="-122"/>
              </a:rPr>
              <a:t>因此从能量“数量”的等价性来讲，不需要区分热量和功 </a:t>
            </a:r>
            <a:endParaRPr lang="zh-CN" altLang="en-US" sz="2400" b="1" baseline="0" dirty="0">
              <a:latin typeface="黑体" panose="02010609060101010101" pitchFamily="49" charset="-122"/>
              <a:ea typeface="黑体" panose="02010609060101010101" pitchFamily="49" charset="-122"/>
            </a:endParaRPr>
          </a:p>
        </p:txBody>
      </p:sp>
      <p:graphicFrame>
        <p:nvGraphicFramePr>
          <p:cNvPr id="389137" name="对象 389136"/>
          <p:cNvGraphicFramePr/>
          <p:nvPr/>
        </p:nvGraphicFramePr>
        <p:xfrm>
          <a:off x="628650" y="4535144"/>
          <a:ext cx="1828800" cy="525463"/>
        </p:xfrm>
        <a:graphic>
          <a:graphicData uri="http://schemas.openxmlformats.org/presentationml/2006/ole">
            <mc:AlternateContent xmlns:mc="http://schemas.openxmlformats.org/markup-compatibility/2006">
              <mc:Choice xmlns:v="urn:schemas-microsoft-com:vml" Requires="v">
                <p:oleObj spid="_x0000_s83005" name="" r:id="rId3" imgW="825500" imgH="241300" progId="Equation.DSMT4">
                  <p:embed/>
                </p:oleObj>
              </mc:Choice>
              <mc:Fallback>
                <p:oleObj name="" r:id="rId3" imgW="825500" imgH="241300" progId="Equation.DSMT4">
                  <p:embed/>
                  <p:pic>
                    <p:nvPicPr>
                      <p:cNvPr id="0" name="对象 38913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4535144"/>
                        <a:ext cx="18288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42" name="矩形 389141"/>
          <p:cNvSpPr>
            <a:spLocks noChangeArrowheads="1"/>
          </p:cNvSpPr>
          <p:nvPr/>
        </p:nvSpPr>
        <p:spPr bwMode="auto">
          <a:xfrm>
            <a:off x="337514" y="3440119"/>
            <a:ext cx="133433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baseline="0" dirty="0" smtClean="0">
                <a:solidFill>
                  <a:srgbClr val="0000CC"/>
                </a:solidFill>
                <a:ea typeface="黑体" panose="02010609060101010101" pitchFamily="49" charset="-122"/>
              </a:rPr>
              <a:t>似乎可写为更简单的形式</a:t>
            </a:r>
            <a:endParaRPr lang="zh-CN" altLang="en-US" sz="2000" baseline="0" dirty="0">
              <a:solidFill>
                <a:srgbClr val="0000CC"/>
              </a:solidFill>
              <a:ea typeface="黑体" panose="02010609060101010101" pitchFamily="49" charset="-122"/>
            </a:endParaRPr>
          </a:p>
        </p:txBody>
      </p:sp>
      <p:sp>
        <p:nvSpPr>
          <p:cNvPr id="389143" name="矩形 389142"/>
          <p:cNvSpPr>
            <a:spLocks noChangeArrowheads="1"/>
          </p:cNvSpPr>
          <p:nvPr/>
        </p:nvSpPr>
        <p:spPr bwMode="auto">
          <a:xfrm>
            <a:off x="508555" y="5254950"/>
            <a:ext cx="8077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传递</a:t>
            </a:r>
            <a:r>
              <a:rPr lang="en-US" altLang="zh-CN" sz="2400" b="1" baseline="0" dirty="0">
                <a:latin typeface="Times New Roman" panose="02020603050405020304" pitchFamily="18" charset="0"/>
                <a:ea typeface="黑体" panose="02010609060101010101" pitchFamily="49" charset="-122"/>
                <a:cs typeface="Times New Roman" panose="02020603050405020304" pitchFamily="18" charset="0"/>
              </a:rPr>
              <a:t>5 J</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的热量和传递</a:t>
            </a:r>
            <a:r>
              <a:rPr lang="en-US" altLang="zh-CN" sz="2400" b="1" baseline="0" dirty="0">
                <a:latin typeface="Times New Roman" panose="02020603050405020304" pitchFamily="18" charset="0"/>
                <a:ea typeface="黑体" panose="02010609060101010101" pitchFamily="49" charset="-122"/>
                <a:cs typeface="Times New Roman" panose="02020603050405020304" pitchFamily="18" charset="0"/>
              </a:rPr>
              <a:t>5J</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的功量对系统熵的变化所起的作用却不相同：前者伴有熵的传递，后者不会。热量和功量属性的不同（本质上说是“品位”或“质量”的不同）</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矩形 1"/>
          <p:cNvSpPr>
            <a:spLocks noChangeArrowheads="1"/>
          </p:cNvSpPr>
          <p:nvPr/>
        </p:nvSpPr>
        <p:spPr bwMode="auto">
          <a:xfrm>
            <a:off x="1277800" y="1614365"/>
            <a:ext cx="556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solidFill>
                  <a:srgbClr val="FF0000"/>
                </a:solidFill>
                <a:ea typeface="黑体" panose="02010609060101010101" pitchFamily="49" charset="-122"/>
              </a:rPr>
              <a:t>伴随功量传递没有</a:t>
            </a:r>
            <a:r>
              <a:rPr lang="zh-CN" altLang="en-US" sz="2800" b="1" baseline="0" dirty="0" smtClean="0">
                <a:solidFill>
                  <a:srgbClr val="FF0000"/>
                </a:solidFill>
                <a:ea typeface="黑体" panose="02010609060101010101" pitchFamily="49" charset="-122"/>
              </a:rPr>
              <a:t>熵量的</a:t>
            </a:r>
            <a:r>
              <a:rPr lang="zh-CN" altLang="en-US" sz="2800" b="1" baseline="0" dirty="0">
                <a:solidFill>
                  <a:srgbClr val="FF0000"/>
                </a:solidFill>
                <a:ea typeface="黑体" panose="02010609060101010101" pitchFamily="49" charset="-122"/>
              </a:rPr>
              <a:t>传递</a:t>
            </a:r>
            <a:endParaRPr lang="zh-CN" altLang="en-US" sz="2800" b="1" baseline="0" dirty="0">
              <a:solidFill>
                <a:srgbClr val="FF0000"/>
              </a:solidFill>
              <a:ea typeface="黑体" panose="02010609060101010101" pitchFamily="49" charset="-122"/>
            </a:endParaRPr>
          </a:p>
        </p:txBody>
      </p:sp>
      <p:cxnSp>
        <p:nvCxnSpPr>
          <p:cNvPr id="5" name="直接连接符 4"/>
          <p:cNvCxnSpPr/>
          <p:nvPr/>
        </p:nvCxnSpPr>
        <p:spPr>
          <a:xfrm flipV="1">
            <a:off x="192156" y="2216947"/>
            <a:ext cx="8735944" cy="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2892290" y="2216947"/>
            <a:ext cx="33097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en-US" altLang="zh-CN" sz="2000" b="1" dirty="0" smtClean="0">
                <a:solidFill>
                  <a:srgbClr val="0070C0"/>
                </a:solidFill>
                <a:latin typeface="黑体" panose="02010609060101010101" pitchFamily="49" charset="-122"/>
                <a:ea typeface="黑体" panose="02010609060101010101" pitchFamily="49" charset="-122"/>
              </a:rPr>
              <a:t>-</a:t>
            </a:r>
            <a:r>
              <a:rPr lang="zh-CN" altLang="en-US" sz="2000" b="1" dirty="0" smtClean="0">
                <a:solidFill>
                  <a:srgbClr val="0070C0"/>
                </a:solidFill>
                <a:latin typeface="黑体" panose="02010609060101010101" pitchFamily="49" charset="-122"/>
                <a:ea typeface="黑体" panose="02010609060101010101" pitchFamily="49" charset="-122"/>
              </a:rPr>
              <a:t>蓝线以下为扩展内容</a:t>
            </a:r>
            <a:r>
              <a:rPr lang="en-US" altLang="zh-CN" sz="2000" b="1" dirty="0" smtClean="0">
                <a:solidFill>
                  <a:srgbClr val="0070C0"/>
                </a:solidFill>
                <a:latin typeface="黑体" panose="02010609060101010101" pitchFamily="49" charset="-122"/>
                <a:ea typeface="黑体" panose="02010609060101010101" pitchFamily="49" charset="-122"/>
              </a:rPr>
              <a:t>-</a:t>
            </a:r>
            <a:endParaRPr lang="zh-CN" altLang="en-US" sz="2000" b="1" baseline="0" dirty="0">
              <a:solidFill>
                <a:srgbClr val="0070C0"/>
              </a:solidFill>
              <a:latin typeface="黑体" panose="02010609060101010101" pitchFamily="49" charset="-122"/>
              <a:ea typeface="黑体" panose="02010609060101010101" pitchFamily="49" charset="-122"/>
            </a:endParaRPr>
          </a:p>
        </p:txBody>
      </p:sp>
      <p:sp>
        <p:nvSpPr>
          <p:cNvPr id="20" name="矩形 19"/>
          <p:cNvSpPr>
            <a:spLocks noChangeArrowheads="1"/>
          </p:cNvSpPr>
          <p:nvPr/>
        </p:nvSpPr>
        <p:spPr bwMode="auto">
          <a:xfrm>
            <a:off x="2971800" y="4541495"/>
            <a:ext cx="5562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aseline="0" dirty="0">
                <a:solidFill>
                  <a:srgbClr val="0000CC"/>
                </a:solidFill>
                <a:ea typeface="黑体" panose="02010609060101010101" pitchFamily="49" charset="-122"/>
              </a:rPr>
              <a:t>为什么要分开表示呢？</a:t>
            </a:r>
            <a:endParaRPr lang="zh-CN" altLang="en-US" sz="2800" baseline="0" dirty="0">
              <a:solidFill>
                <a:srgbClr val="0000CC"/>
              </a:solidFill>
              <a:ea typeface="黑体" panose="02010609060101010101" pitchFamily="49" charset="-122"/>
            </a:endParaRPr>
          </a:p>
        </p:txBody>
      </p:sp>
      <p:sp>
        <p:nvSpPr>
          <p:cNvPr id="9" name="下箭头 8"/>
          <p:cNvSpPr/>
          <p:nvPr/>
        </p:nvSpPr>
        <p:spPr>
          <a:xfrm>
            <a:off x="1484244" y="3316976"/>
            <a:ext cx="221974" cy="12619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9134"/>
                                        </p:tgtEl>
                                        <p:attrNameLst>
                                          <p:attrName>style.visibility</p:attrName>
                                        </p:attrNameLst>
                                      </p:cBhvr>
                                      <p:to>
                                        <p:strVal val="visible"/>
                                      </p:to>
                                    </p:set>
                                    <p:animEffect transition="in" filter="blinds(horizontal)">
                                      <p:cBhvr>
                                        <p:cTn id="22" dur="500"/>
                                        <p:tgtEl>
                                          <p:spTgt spid="38913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89136"/>
                                        </p:tgtEl>
                                        <p:attrNameLst>
                                          <p:attrName>style.visibility</p:attrName>
                                        </p:attrNameLst>
                                      </p:cBhvr>
                                      <p:to>
                                        <p:strVal val="visible"/>
                                      </p:to>
                                    </p:set>
                                    <p:animEffect transition="in" filter="blinds(horizontal)">
                                      <p:cBhvr>
                                        <p:cTn id="27" dur="500"/>
                                        <p:tgtEl>
                                          <p:spTgt spid="38913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9142"/>
                                        </p:tgtEl>
                                        <p:attrNameLst>
                                          <p:attrName>style.visibility</p:attrName>
                                        </p:attrNameLst>
                                      </p:cBhvr>
                                      <p:to>
                                        <p:strVal val="visible"/>
                                      </p:to>
                                    </p:set>
                                    <p:animEffect transition="in" filter="blinds(horizontal)">
                                      <p:cBhvr>
                                        <p:cTn id="32" dur="500"/>
                                        <p:tgtEl>
                                          <p:spTgt spid="3891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up)">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9137"/>
                                        </p:tgtEl>
                                        <p:attrNameLst>
                                          <p:attrName>style.visibility</p:attrName>
                                        </p:attrNameLst>
                                      </p:cBhvr>
                                      <p:to>
                                        <p:strVal val="visible"/>
                                      </p:to>
                                    </p:set>
                                    <p:animEffect transition="in" filter="blinds(horizontal)">
                                      <p:cBhvr>
                                        <p:cTn id="42" dur="500"/>
                                        <p:tgtEl>
                                          <p:spTgt spid="38913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89143"/>
                                        </p:tgtEl>
                                        <p:attrNameLst>
                                          <p:attrName>style.visibility</p:attrName>
                                        </p:attrNameLst>
                                      </p:cBhvr>
                                      <p:to>
                                        <p:strVal val="visible"/>
                                      </p:to>
                                    </p:set>
                                    <p:animEffect transition="in" filter="blinds(horizontal)">
                                      <p:cBhvr>
                                        <p:cTn id="52" dur="500"/>
                                        <p:tgtEl>
                                          <p:spTgt spid="38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36" grpId="0"/>
      <p:bldP spid="389142" grpId="0"/>
      <p:bldP spid="389143" grpId="0"/>
      <p:bldP spid="2" grpId="0"/>
      <p:bldP spid="16" grpId="0"/>
      <p:bldP spid="20" grpId="0"/>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393218"/>
          <p:cNvSpPr>
            <a:spLocks noChangeArrowheads="1"/>
          </p:cNvSpPr>
          <p:nvPr/>
        </p:nvSpPr>
        <p:spPr bwMode="auto">
          <a:xfrm>
            <a:off x="0" y="2462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35" name="矩形 393219"/>
          <p:cNvSpPr>
            <a:spLocks noChangeArrowheads="1"/>
          </p:cNvSpPr>
          <p:nvPr/>
        </p:nvSpPr>
        <p:spPr bwMode="auto">
          <a:xfrm>
            <a:off x="0" y="2798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37" name="矩形 393224"/>
          <p:cNvSpPr>
            <a:spLocks noChangeArrowheads="1"/>
          </p:cNvSpPr>
          <p:nvPr/>
        </p:nvSpPr>
        <p:spPr bwMode="auto">
          <a:xfrm>
            <a:off x="0" y="2798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38" name="矩形 393231"/>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41" name="矩形 39323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43" name="矩形 39323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 name="标题 393217"/>
          <p:cNvSpPr>
            <a:spLocks noGrp="1"/>
          </p:cNvSpPr>
          <p:nvPr/>
        </p:nvSpPr>
        <p:spPr>
          <a:xfrm>
            <a:off x="495300" y="523081"/>
            <a:ext cx="8229600" cy="114300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zh-CN" altLang="en-US" sz="2800" b="1" dirty="0">
                <a:solidFill>
                  <a:schemeClr val="tx1"/>
                </a:solidFill>
                <a:latin typeface="黑体" panose="02010609060101010101" pitchFamily="49" charset="-122"/>
                <a:ea typeface="黑体" panose="02010609060101010101" pitchFamily="49" charset="-122"/>
              </a:rPr>
              <a:t>（</a:t>
            </a:r>
            <a:r>
              <a:rPr lang="en-US" altLang="zh-CN" sz="2800" b="1" dirty="0">
                <a:solidFill>
                  <a:schemeClr val="tx1"/>
                </a:solidFill>
                <a:latin typeface="黑体" panose="02010609060101010101" pitchFamily="49" charset="-122"/>
                <a:ea typeface="黑体" panose="02010609060101010101" pitchFamily="49" charset="-122"/>
              </a:rPr>
              <a:t>3</a:t>
            </a:r>
            <a:r>
              <a:rPr lang="zh-CN" altLang="en-US" sz="2800" b="1" dirty="0">
                <a:solidFill>
                  <a:schemeClr val="tx1"/>
                </a:solidFill>
                <a:latin typeface="黑体" panose="02010609060101010101" pitchFamily="49" charset="-122"/>
                <a:ea typeface="黑体" panose="02010609060101010101" pitchFamily="49" charset="-122"/>
              </a:rPr>
              <a:t>）伴随质量传递而传递的熵</a:t>
            </a:r>
            <a:r>
              <a:rPr lang="zh-CN" altLang="en-US" sz="2800" b="1" dirty="0" smtClean="0">
                <a:solidFill>
                  <a:schemeClr val="tx1"/>
                </a:solidFill>
                <a:latin typeface="黑体" panose="02010609060101010101" pitchFamily="49" charset="-122"/>
                <a:ea typeface="黑体" panose="02010609060101010101" pitchFamily="49" charset="-122"/>
              </a:rPr>
              <a:t>量</a:t>
            </a:r>
            <a:r>
              <a:rPr lang="en-US" altLang="zh-CN" sz="2800" b="1" dirty="0" smtClean="0">
                <a:solidFill>
                  <a:schemeClr val="tx1"/>
                </a:solidFill>
                <a:latin typeface="黑体" panose="02010609060101010101" pitchFamily="49" charset="-122"/>
                <a:ea typeface="黑体" panose="02010609060101010101" pitchFamily="49" charset="-122"/>
              </a:rPr>
              <a:t>——</a:t>
            </a:r>
            <a:r>
              <a:rPr lang="zh-CN" altLang="en-US" sz="2800" b="1" dirty="0" smtClean="0">
                <a:solidFill>
                  <a:srgbClr val="FF0000"/>
                </a:solidFill>
                <a:latin typeface="黑体" panose="02010609060101010101" pitchFamily="49" charset="-122"/>
                <a:ea typeface="黑体" panose="02010609060101010101" pitchFamily="49" charset="-122"/>
              </a:rPr>
              <a:t>质熵流</a:t>
            </a:r>
            <a:br>
              <a:rPr lang="zh-CN" altLang="en-US" sz="2800" b="1" dirty="0">
                <a:solidFill>
                  <a:srgbClr val="FF0000"/>
                </a:solidFill>
              </a:rPr>
            </a:br>
            <a:r>
              <a:rPr lang="zh-CN" altLang="en-US" sz="2800" b="1" dirty="0">
                <a:solidFill>
                  <a:schemeClr val="tx1"/>
                </a:solidFill>
                <a:latin typeface="Times New Roman" panose="02020603050405020304" pitchFamily="18" charset="0"/>
                <a:cs typeface="Times New Roman" panose="02020603050405020304" pitchFamily="18" charset="0"/>
              </a:rPr>
              <a:t>（</a:t>
            </a:r>
            <a:r>
              <a:rPr lang="en-US" altLang="zh-CN" sz="2800" b="1" dirty="0">
                <a:solidFill>
                  <a:schemeClr val="tx1"/>
                </a:solidFill>
                <a:latin typeface="Times New Roman" panose="02020603050405020304" pitchFamily="18" charset="0"/>
                <a:cs typeface="Times New Roman" panose="02020603050405020304" pitchFamily="18" charset="0"/>
              </a:rPr>
              <a:t>Entropy Transfer by Mass Transfer</a:t>
            </a:r>
            <a:r>
              <a:rPr lang="zh-CN" altLang="en-US" sz="2800" b="1" dirty="0">
                <a:solidFill>
                  <a:schemeClr val="tx1"/>
                </a:solidFill>
                <a:latin typeface="Times New Roman" panose="02020603050405020304" pitchFamily="18" charset="0"/>
                <a:cs typeface="Times New Roman" panose="02020603050405020304" pitchFamily="18" charset="0"/>
              </a:rPr>
              <a:t>）</a:t>
            </a:r>
            <a:r>
              <a:rPr lang="zh-CN" altLang="en-US" sz="4000" dirty="0">
                <a:solidFill>
                  <a:schemeClr val="tx1"/>
                </a:solidFill>
                <a:latin typeface="Times New Roman" panose="02020603050405020304" pitchFamily="18" charset="0"/>
                <a:cs typeface="Times New Roman" panose="02020603050405020304" pitchFamily="18" charset="0"/>
              </a:rPr>
              <a:t> </a:t>
            </a:r>
            <a:endParaRPr lang="zh-CN" altLang="en-US" sz="4000" dirty="0">
              <a:solidFill>
                <a:schemeClr val="tx1"/>
              </a:solidFill>
              <a:latin typeface="Times New Roman" panose="02020603050405020304" pitchFamily="18" charset="0"/>
              <a:cs typeface="Times New Roman" panose="02020603050405020304" pitchFamily="18" charset="0"/>
            </a:endParaRPr>
          </a:p>
        </p:txBody>
      </p:sp>
      <p:pic>
        <p:nvPicPr>
          <p:cNvPr id="16" name="对象 393230"/>
          <p:cNvPicPr/>
          <p:nvPr/>
        </p:nvPicPr>
        <p:blipFill>
          <a:blip r:embed="rId1"/>
          <a:stretch>
            <a:fillRect/>
          </a:stretch>
        </p:blipFill>
        <p:spPr>
          <a:xfrm>
            <a:off x="419100" y="3525043"/>
            <a:ext cx="4876800" cy="2809875"/>
          </a:xfrm>
          <a:prstGeom prst="rect">
            <a:avLst/>
          </a:prstGeom>
          <a:noFill/>
          <a:ln w="38100">
            <a:noFill/>
            <a:miter/>
          </a:ln>
        </p:spPr>
      </p:pic>
      <p:pic>
        <p:nvPicPr>
          <p:cNvPr id="17" name="对象 393232"/>
          <p:cNvPicPr>
            <a:picLocks noChangeAspect="1"/>
          </p:cNvPicPr>
          <p:nvPr/>
        </p:nvPicPr>
        <p:blipFill>
          <a:blip r:embed="rId2"/>
          <a:stretch>
            <a:fillRect/>
          </a:stretch>
        </p:blipFill>
        <p:spPr>
          <a:xfrm>
            <a:off x="3695217" y="1874844"/>
            <a:ext cx="1523700" cy="603000"/>
          </a:xfrm>
          <a:prstGeom prst="rect">
            <a:avLst/>
          </a:prstGeom>
          <a:noFill/>
          <a:ln w="38100">
            <a:noFill/>
            <a:miter/>
          </a:ln>
        </p:spPr>
      </p:pic>
      <p:pic>
        <p:nvPicPr>
          <p:cNvPr id="18" name="对象 393234"/>
          <p:cNvPicPr>
            <a:picLocks noChangeAspect="1"/>
          </p:cNvPicPr>
          <p:nvPr/>
        </p:nvPicPr>
        <p:blipFill>
          <a:blip r:embed="rId3"/>
          <a:stretch>
            <a:fillRect/>
          </a:stretch>
        </p:blipFill>
        <p:spPr>
          <a:xfrm>
            <a:off x="3678055" y="2686607"/>
            <a:ext cx="1617845" cy="634450"/>
          </a:xfrm>
          <a:prstGeom prst="rect">
            <a:avLst/>
          </a:prstGeom>
          <a:noFill/>
          <a:ln w="38100">
            <a:noFill/>
            <a:miter/>
          </a:ln>
        </p:spPr>
      </p:pic>
      <p:sp>
        <p:nvSpPr>
          <p:cNvPr id="19" name="矩形 18"/>
          <p:cNvSpPr/>
          <p:nvPr/>
        </p:nvSpPr>
        <p:spPr>
          <a:xfrm>
            <a:off x="4686300" y="4133056"/>
            <a:ext cx="4038600" cy="522287"/>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solidFill>
                  <a:srgbClr val="FF0000"/>
                </a:solidFill>
                <a:latin typeface="Arial" panose="020B0604020202020204" pitchFamily="34" charset="0"/>
                <a:ea typeface="黑体" panose="02010609060101010101" pitchFamily="49" charset="-122"/>
              </a:rPr>
              <a:t>对于闭口系，无此项</a:t>
            </a:r>
            <a:endParaRPr lang="zh-CN" altLang="en-US" sz="2800" b="1" baseline="0" dirty="0">
              <a:solidFill>
                <a:srgbClr val="FF0000"/>
              </a:solidFill>
              <a:latin typeface="Arial" panose="020B0604020202020204" pitchFamily="34" charset="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对象 593921"/>
          <p:cNvPicPr/>
          <p:nvPr/>
        </p:nvPicPr>
        <p:blipFill>
          <a:blip r:embed="rId1"/>
          <a:stretch>
            <a:fillRect/>
          </a:stretch>
        </p:blipFill>
        <p:spPr>
          <a:xfrm>
            <a:off x="3162300" y="3719512"/>
            <a:ext cx="3714750" cy="2466975"/>
          </a:xfrm>
          <a:prstGeom prst="rect">
            <a:avLst/>
          </a:prstGeom>
          <a:noFill/>
          <a:ln w="38100">
            <a:noFill/>
            <a:miter/>
          </a:ln>
        </p:spPr>
      </p:pic>
      <p:sp>
        <p:nvSpPr>
          <p:cNvPr id="5" name="矩形 4"/>
          <p:cNvSpPr/>
          <p:nvPr/>
        </p:nvSpPr>
        <p:spPr>
          <a:xfrm>
            <a:off x="1485900" y="1966912"/>
            <a:ext cx="2362200" cy="52322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对于闭口系</a:t>
            </a:r>
            <a:endParaRPr lang="zh-CN" altLang="en-US" sz="2800" b="1" baseline="0" dirty="0">
              <a:latin typeface="黑体" panose="02010609060101010101" pitchFamily="49" charset="-122"/>
              <a:ea typeface="黑体" panose="02010609060101010101" pitchFamily="49" charset="-122"/>
            </a:endParaRPr>
          </a:p>
        </p:txBody>
      </p:sp>
      <p:pic>
        <p:nvPicPr>
          <p:cNvPr id="6" name="对象 593930"/>
          <p:cNvPicPr/>
          <p:nvPr/>
        </p:nvPicPr>
        <p:blipFill>
          <a:blip r:embed="rId2"/>
          <a:stretch>
            <a:fillRect/>
          </a:stretch>
        </p:blipFill>
        <p:spPr>
          <a:xfrm>
            <a:off x="1943100" y="2576512"/>
            <a:ext cx="914400" cy="438150"/>
          </a:xfrm>
          <a:prstGeom prst="rect">
            <a:avLst/>
          </a:prstGeom>
          <a:noFill/>
          <a:ln w="38100">
            <a:noFill/>
            <a:miter/>
          </a:ln>
        </p:spPr>
      </p:pic>
      <p:sp>
        <p:nvSpPr>
          <p:cNvPr id="7" name="矩形 6"/>
          <p:cNvSpPr/>
          <p:nvPr/>
        </p:nvSpPr>
        <p:spPr>
          <a:xfrm>
            <a:off x="1409700" y="1966912"/>
            <a:ext cx="2362200" cy="1143000"/>
          </a:xfrm>
          <a:prstGeom prst="rect">
            <a:avLst/>
          </a:prstGeom>
          <a:noFill/>
          <a:ln w="25400" cap="flat" cmpd="sng">
            <a:solidFill>
              <a:srgbClr val="77AE26"/>
            </a:solidFill>
            <a:prstDash val="solid"/>
            <a:miter/>
            <a:headEnd type="none" w="med" len="med"/>
            <a:tailEnd type="none" w="med" len="med"/>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a typeface="宋体" panose="02010600030101010101" pitchFamily="2" charset="-122"/>
            </a:endParaRPr>
          </a:p>
        </p:txBody>
      </p:sp>
      <p:sp>
        <p:nvSpPr>
          <p:cNvPr id="8" name="矩形 7"/>
          <p:cNvSpPr/>
          <p:nvPr/>
        </p:nvSpPr>
        <p:spPr>
          <a:xfrm>
            <a:off x="4381500" y="1966912"/>
            <a:ext cx="2362200" cy="52322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对于开口系</a:t>
            </a:r>
            <a:endParaRPr lang="zh-CN" altLang="en-US" sz="2800" b="1" baseline="0" dirty="0">
              <a:latin typeface="黑体" panose="02010609060101010101" pitchFamily="49" charset="-122"/>
              <a:ea typeface="黑体" panose="02010609060101010101" pitchFamily="49" charset="-122"/>
            </a:endParaRPr>
          </a:p>
        </p:txBody>
      </p:sp>
      <p:pic>
        <p:nvPicPr>
          <p:cNvPr id="9" name="对象 593933"/>
          <p:cNvPicPr/>
          <p:nvPr/>
        </p:nvPicPr>
        <p:blipFill>
          <a:blip r:embed="rId3"/>
          <a:stretch>
            <a:fillRect/>
          </a:stretch>
        </p:blipFill>
        <p:spPr>
          <a:xfrm>
            <a:off x="4457700" y="2576512"/>
            <a:ext cx="3132138" cy="493713"/>
          </a:xfrm>
          <a:prstGeom prst="rect">
            <a:avLst/>
          </a:prstGeom>
          <a:noFill/>
          <a:ln w="38100">
            <a:noFill/>
            <a:miter/>
          </a:ln>
        </p:spPr>
      </p:pic>
      <p:sp>
        <p:nvSpPr>
          <p:cNvPr id="10" name="矩形 9"/>
          <p:cNvSpPr/>
          <p:nvPr/>
        </p:nvSpPr>
        <p:spPr>
          <a:xfrm>
            <a:off x="4305300" y="1966912"/>
            <a:ext cx="3352800" cy="1143000"/>
          </a:xfrm>
          <a:prstGeom prst="rect">
            <a:avLst/>
          </a:prstGeom>
          <a:noFill/>
          <a:ln w="25400" cap="flat" cmpd="sng">
            <a:solidFill>
              <a:srgbClr val="77AE26"/>
            </a:solidFill>
            <a:prstDash val="solid"/>
            <a:miter/>
            <a:headEnd type="none" w="med" len="med"/>
            <a:tailEnd type="none" w="med" len="med"/>
          </a:ln>
        </p:spPr>
        <p:txBody>
          <a:bodyPr anchor="t"/>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Arial" panose="020B0604020202020204" pitchFamily="34" charset="0"/>
              <a:ea typeface="宋体" panose="02010600030101010101" pitchFamily="2" charset="-122"/>
            </a:endParaRPr>
          </a:p>
        </p:txBody>
      </p:sp>
      <p:sp>
        <p:nvSpPr>
          <p:cNvPr id="11" name="直接连接符 10"/>
          <p:cNvSpPr/>
          <p:nvPr/>
        </p:nvSpPr>
        <p:spPr>
          <a:xfrm>
            <a:off x="3200400" y="4329112"/>
            <a:ext cx="0" cy="609600"/>
          </a:xfrm>
          <a:prstGeom prst="line">
            <a:avLst/>
          </a:prstGeom>
          <a:ln w="38100" cap="flat" cmpd="sng">
            <a:solidFill>
              <a:schemeClr val="tx1"/>
            </a:solidFill>
            <a:prstDash val="solid"/>
            <a:round/>
            <a:headEnd type="none" w="med" len="med"/>
            <a:tailEnd type="none" w="med" len="med"/>
          </a:ln>
        </p:spPr>
      </p:sp>
      <p:sp>
        <p:nvSpPr>
          <p:cNvPr id="12" name="直接连接符 11"/>
          <p:cNvSpPr/>
          <p:nvPr/>
        </p:nvSpPr>
        <p:spPr>
          <a:xfrm>
            <a:off x="5913438" y="5424487"/>
            <a:ext cx="0" cy="552450"/>
          </a:xfrm>
          <a:prstGeom prst="line">
            <a:avLst/>
          </a:prstGeom>
          <a:ln w="38100" cap="flat" cmpd="sng">
            <a:solidFill>
              <a:schemeClr val="tx1"/>
            </a:solidFill>
            <a:prstDash val="solid"/>
            <a:round/>
            <a:headEnd type="none" w="med" len="med"/>
            <a:tailEnd type="none" w="med" len="med"/>
          </a:ln>
        </p:spPr>
      </p:sp>
      <p:pic>
        <p:nvPicPr>
          <p:cNvPr id="13" name="对象 593937"/>
          <p:cNvPicPr/>
          <p:nvPr/>
        </p:nvPicPr>
        <p:blipFill>
          <a:blip r:embed="rId4"/>
          <a:stretch>
            <a:fillRect/>
          </a:stretch>
        </p:blipFill>
        <p:spPr>
          <a:xfrm>
            <a:off x="1493838" y="4510087"/>
            <a:ext cx="1954212" cy="374650"/>
          </a:xfrm>
          <a:prstGeom prst="rect">
            <a:avLst/>
          </a:prstGeom>
          <a:noFill/>
          <a:ln w="38100">
            <a:noFill/>
            <a:miter/>
          </a:ln>
        </p:spPr>
      </p:pic>
      <p:pic>
        <p:nvPicPr>
          <p:cNvPr id="14" name="对象 593938"/>
          <p:cNvPicPr/>
          <p:nvPr/>
        </p:nvPicPr>
        <p:blipFill>
          <a:blip r:embed="rId5"/>
          <a:stretch>
            <a:fillRect/>
          </a:stretch>
        </p:blipFill>
        <p:spPr>
          <a:xfrm>
            <a:off x="5456238" y="5576887"/>
            <a:ext cx="2403475" cy="414338"/>
          </a:xfrm>
          <a:prstGeom prst="rect">
            <a:avLst/>
          </a:prstGeom>
          <a:noFill/>
          <a:ln w="38100">
            <a:noFill/>
            <a:miter/>
          </a:ln>
        </p:spPr>
      </p:pic>
      <p:sp>
        <p:nvSpPr>
          <p:cNvPr id="15" name="矩形 14"/>
          <p:cNvSpPr/>
          <p:nvPr/>
        </p:nvSpPr>
        <p:spPr>
          <a:xfrm>
            <a:off x="800100" y="671512"/>
            <a:ext cx="75438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latin typeface="黑体" panose="02010609060101010101" pitchFamily="49" charset="-122"/>
                <a:ea typeface="黑体" panose="02010609060101010101" pitchFamily="49" charset="-122"/>
              </a:rPr>
              <a:t>进入和离开系统的</a:t>
            </a:r>
            <a:r>
              <a:rPr lang="zh-CN" altLang="en-US" sz="3200" b="1" baseline="0" dirty="0" smtClean="0">
                <a:latin typeface="黑体" panose="02010609060101010101" pitchFamily="49" charset="-122"/>
                <a:ea typeface="黑体" panose="02010609060101010101" pitchFamily="49" charset="-122"/>
              </a:rPr>
              <a:t>熵</a:t>
            </a:r>
            <a:r>
              <a:rPr lang="zh-CN" altLang="en-US" sz="3200" b="1" dirty="0">
                <a:latin typeface="黑体" panose="02010609060101010101" pitchFamily="49" charset="-122"/>
                <a:ea typeface="黑体" panose="02010609060101010101" pitchFamily="49" charset="-122"/>
              </a:rPr>
              <a:t>量</a:t>
            </a:r>
            <a:r>
              <a:rPr lang="zh-CN" altLang="en-US" sz="3200" b="1" baseline="0" dirty="0" smtClean="0">
                <a:latin typeface="黑体" panose="02010609060101010101" pitchFamily="49" charset="-122"/>
                <a:ea typeface="黑体" panose="02010609060101010101" pitchFamily="49" charset="-122"/>
              </a:rPr>
              <a:t>小结</a:t>
            </a:r>
            <a:endParaRPr lang="zh-CN" altLang="en-US" sz="3200" b="1" baseline="0" dirty="0">
              <a:latin typeface="黑体" panose="02010609060101010101" pitchFamily="49" charset="-122"/>
              <a:ea typeface="黑体" panose="02010609060101010101" pitchFamily="49" charset="-122"/>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2"/>
                                        </p:tgtEl>
                                        <p:attrNameLst>
                                          <p:attrName>ppt_x</p:attrName>
                                        </p:attrNameLst>
                                      </p:cBhvr>
                                      <p:tavLst>
                                        <p:tav tm="0">
                                          <p:val>
                                            <p:strVal val="ppt_x"/>
                                          </p:val>
                                        </p:tav>
                                        <p:tav tm="100000">
                                          <p:val>
                                            <p:strVal val="ppt_x"/>
                                          </p:val>
                                        </p:tav>
                                      </p:tavLst>
                                    </p:anim>
                                    <p:anim calcmode="lin" valueType="num">
                                      <p:cBhvr additive="base">
                                        <p:cTn id="13" dur="500"/>
                                        <p:tgtEl>
                                          <p:spTgt spid="12"/>
                                        </p:tgtEl>
                                        <p:attrNameLst>
                                          <p:attrName>ppt_y</p:attrName>
                                        </p:attrNameLst>
                                      </p:cBhvr>
                                      <p:tavLst>
                                        <p:tav tm="0">
                                          <p:val>
                                            <p:strVal val="ppt_y"/>
                                          </p:val>
                                        </p:tav>
                                        <p:tav tm="100000">
                                          <p:val>
                                            <p:strVal val="1+ppt_h/2"/>
                                          </p:val>
                                        </p:tav>
                                      </p:tavLst>
                                    </p:anim>
                                    <p:set>
                                      <p:cBhvr>
                                        <p:cTn id="14" dur="1" fill="hold">
                                          <p:stCondLst>
                                            <p:cond delay="499"/>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00878" y="497128"/>
            <a:ext cx="75438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en-US" altLang="zh-CN" sz="3200" b="1" baseline="0" dirty="0">
                <a:latin typeface="黑体" panose="02010609060101010101" pitchFamily="49" charset="-122"/>
                <a:ea typeface="黑体" panose="02010609060101010101" pitchFamily="49" charset="-122"/>
              </a:rPr>
              <a:t>3</a:t>
            </a:r>
            <a:r>
              <a:rPr lang="zh-CN" altLang="en-US" sz="3200" b="1" baseline="0" dirty="0">
                <a:latin typeface="黑体" panose="02010609060101010101" pitchFamily="49" charset="-122"/>
                <a:ea typeface="黑体" panose="02010609060101010101" pitchFamily="49" charset="-122"/>
              </a:rPr>
              <a:t>、熵产</a:t>
            </a:r>
            <a:endParaRPr lang="en-US" altLang="zh-CN" sz="3200" b="1" baseline="0" dirty="0">
              <a:latin typeface="黑体" panose="02010609060101010101" pitchFamily="49" charset="-122"/>
              <a:ea typeface="黑体" panose="02010609060101010101" pitchFamily="49" charset="-122"/>
            </a:endParaRPr>
          </a:p>
        </p:txBody>
      </p:sp>
      <p:sp>
        <p:nvSpPr>
          <p:cNvPr id="5" name="文本框 588805"/>
          <p:cNvSpPr txBox="1"/>
          <p:nvPr/>
        </p:nvSpPr>
        <p:spPr>
          <a:xfrm>
            <a:off x="477078" y="1411528"/>
            <a:ext cx="8458200" cy="10668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solidFill>
                  <a:srgbClr val="000000"/>
                </a:solidFill>
                <a:latin typeface="黑体" panose="02010609060101010101" pitchFamily="49" charset="-122"/>
                <a:ea typeface="黑体" panose="02010609060101010101" pitchFamily="49" charset="-122"/>
              </a:rPr>
              <a:t>系统熵的变化</a:t>
            </a:r>
            <a:r>
              <a:rPr lang="en-US" altLang="zh-CN" sz="3200" b="1" baseline="0">
                <a:solidFill>
                  <a:srgbClr val="000000"/>
                </a:solidFill>
                <a:latin typeface="黑体" panose="02010609060101010101" pitchFamily="49" charset="-122"/>
                <a:ea typeface="黑体" panose="02010609060101010101" pitchFamily="49" charset="-122"/>
              </a:rPr>
              <a:t>=</a:t>
            </a:r>
            <a:endParaRPr lang="en-US" altLang="zh-CN" sz="3200" b="1" baseline="0">
              <a:solidFill>
                <a:srgbClr val="000000"/>
              </a:solidFill>
              <a:latin typeface="黑体" panose="02010609060101010101" pitchFamily="49" charset="-122"/>
              <a:ea typeface="黑体" panose="02010609060101010101" pitchFamily="49" charset="-122"/>
            </a:endParaRPr>
          </a:p>
          <a:p>
            <a:r>
              <a:rPr lang="zh-CN" altLang="en-US" sz="3200" b="1" baseline="0" dirty="0">
                <a:solidFill>
                  <a:srgbClr val="000000"/>
                </a:solidFill>
                <a:latin typeface="黑体" panose="02010609060101010101" pitchFamily="49" charset="-122"/>
                <a:ea typeface="黑体" panose="02010609060101010101" pitchFamily="49" charset="-122"/>
              </a:rPr>
              <a:t>进入系统的熵量 </a:t>
            </a:r>
            <a:r>
              <a:rPr lang="en-US" altLang="zh-CN" sz="3200" b="1" baseline="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离开系统的熵量 </a:t>
            </a:r>
            <a:r>
              <a:rPr lang="en-US" altLang="zh-CN" sz="3200" b="1" baseline="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熵产</a:t>
            </a:r>
            <a:r>
              <a:rPr lang="zh-CN" altLang="en-US" sz="3200" b="1" baseline="0" dirty="0">
                <a:latin typeface="黑体" panose="02010609060101010101" pitchFamily="49" charset="-122"/>
                <a:ea typeface="黑体" panose="02010609060101010101" pitchFamily="49" charset="-122"/>
              </a:rPr>
              <a:t> </a:t>
            </a:r>
            <a:endParaRPr lang="zh-CN" altLang="en-US" sz="3200" b="1" baseline="0">
              <a:latin typeface="黑体" panose="02010609060101010101" pitchFamily="49" charset="-122"/>
              <a:ea typeface="黑体" panose="02010609060101010101" pitchFamily="49" charset="-122"/>
            </a:endParaRPr>
          </a:p>
        </p:txBody>
      </p:sp>
      <p:sp>
        <p:nvSpPr>
          <p:cNvPr id="6" name="矩形 5"/>
          <p:cNvSpPr/>
          <p:nvPr/>
        </p:nvSpPr>
        <p:spPr>
          <a:xfrm>
            <a:off x="400878" y="1335328"/>
            <a:ext cx="8077200" cy="1295400"/>
          </a:xfrm>
          <a:prstGeom prst="rect">
            <a:avLst/>
          </a:prstGeom>
          <a:noFill/>
          <a:ln w="31750" cap="flat" cmpd="sng">
            <a:solidFill>
              <a:schemeClr val="folHlink"/>
            </a:solidFill>
            <a:prstDash val="solid"/>
            <a:miter/>
            <a:headEnd type="none" w="med" len="med"/>
            <a:tailEnd type="none" w="med" len="med"/>
          </a:ln>
        </p:spPr>
        <p:txBody>
          <a:bodyPr wrap="none"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lgn="ctr"/>
            <a:endParaRPr lang="en-US" altLang="zh-CN">
              <a:latin typeface="Arial" panose="020B0604020202020204" pitchFamily="34" charset="0"/>
              <a:ea typeface="宋体" panose="02010600030101010101" pitchFamily="2" charset="-122"/>
            </a:endParaRPr>
          </a:p>
        </p:txBody>
      </p:sp>
      <p:sp>
        <p:nvSpPr>
          <p:cNvPr id="7" name="矩形 6"/>
          <p:cNvSpPr/>
          <p:nvPr/>
        </p:nvSpPr>
        <p:spPr>
          <a:xfrm>
            <a:off x="1543878" y="3011728"/>
            <a:ext cx="7543800" cy="57943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latin typeface="黑体" panose="02010609060101010101" pitchFamily="49" charset="-122"/>
                <a:ea typeface="黑体" panose="02010609060101010101" pitchFamily="49" charset="-122"/>
              </a:rPr>
              <a:t>熵产由方程中其它项相减得到</a:t>
            </a:r>
            <a:endParaRPr lang="en-US" altLang="zh-CN" sz="3200" b="1" baseline="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42859" y="1503825"/>
            <a:ext cx="6857968" cy="523220"/>
          </a:xfrm>
          <a:prstGeom prst="rect">
            <a:avLst/>
          </a:prstGeom>
          <a:noFill/>
          <a:ln w="9525">
            <a:noFill/>
          </a:ln>
        </p:spPr>
        <p:txBody>
          <a:bodyPr wrap="non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smtClean="0">
                <a:solidFill>
                  <a:srgbClr val="0070C0"/>
                </a:solidFill>
                <a:latin typeface="黑体" panose="02010609060101010101" pitchFamily="49" charset="-122"/>
                <a:ea typeface="黑体" panose="02010609060101010101" pitchFamily="49" charset="-122"/>
              </a:rPr>
              <a:t>可正、可负或为</a:t>
            </a:r>
            <a:r>
              <a:rPr lang="en-US" altLang="zh-CN" sz="2800" b="1" baseline="0" dirty="0" smtClean="0">
                <a:solidFill>
                  <a:srgbClr val="0070C0"/>
                </a:solidFill>
                <a:latin typeface="黑体" panose="02010609060101010101" pitchFamily="49" charset="-122"/>
                <a:ea typeface="黑体" panose="02010609060101010101" pitchFamily="49" charset="-122"/>
              </a:rPr>
              <a:t>0</a:t>
            </a:r>
            <a:r>
              <a:rPr lang="zh-CN" altLang="en-US" sz="2800" b="1" baseline="0" dirty="0" smtClean="0">
                <a:solidFill>
                  <a:srgbClr val="0070C0"/>
                </a:solidFill>
                <a:latin typeface="黑体" panose="02010609060101010101" pitchFamily="49" charset="-122"/>
                <a:ea typeface="黑体" panose="02010609060101010101" pitchFamily="49" charset="-122"/>
              </a:rPr>
              <a:t>，取决于系统的状态变化</a:t>
            </a:r>
            <a:endParaRPr lang="en-US" altLang="zh-CN" sz="2800" b="1" baseline="0" dirty="0">
              <a:solidFill>
                <a:srgbClr val="0070C0"/>
              </a:solidFill>
              <a:latin typeface="黑体" panose="02010609060101010101" pitchFamily="49" charset="-122"/>
              <a:ea typeface="黑体" panose="02010609060101010101" pitchFamily="49" charset="-122"/>
            </a:endParaRPr>
          </a:p>
        </p:txBody>
      </p:sp>
      <p:grpSp>
        <p:nvGrpSpPr>
          <p:cNvPr id="26" name="组合 25"/>
          <p:cNvGrpSpPr/>
          <p:nvPr/>
        </p:nvGrpSpPr>
        <p:grpSpPr>
          <a:xfrm>
            <a:off x="520148" y="2687050"/>
            <a:ext cx="8534400" cy="1295400"/>
            <a:chOff x="520148" y="2687050"/>
            <a:chExt cx="8534400" cy="1295400"/>
          </a:xfrm>
        </p:grpSpPr>
        <p:sp>
          <p:nvSpPr>
            <p:cNvPr id="6" name="文本框 588805"/>
            <p:cNvSpPr txBox="1"/>
            <p:nvPr/>
          </p:nvSpPr>
          <p:spPr>
            <a:xfrm>
              <a:off x="596348" y="2763250"/>
              <a:ext cx="8458200" cy="10668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solidFill>
                    <a:srgbClr val="000000"/>
                  </a:solidFill>
                  <a:latin typeface="黑体" panose="02010609060101010101" pitchFamily="49" charset="-122"/>
                  <a:ea typeface="黑体" panose="02010609060101010101" pitchFamily="49" charset="-122"/>
                </a:rPr>
                <a:t>系统熵的变化</a:t>
              </a:r>
              <a:r>
                <a:rPr lang="en-US" altLang="zh-CN" sz="3200" b="1" baseline="0" dirty="0">
                  <a:solidFill>
                    <a:srgbClr val="000000"/>
                  </a:solidFill>
                  <a:latin typeface="黑体" panose="02010609060101010101" pitchFamily="49" charset="-122"/>
                  <a:ea typeface="黑体" panose="02010609060101010101" pitchFamily="49" charset="-122"/>
                </a:rPr>
                <a:t>=</a:t>
              </a:r>
              <a:endParaRPr lang="en-US" altLang="zh-CN" sz="3200" b="1" baseline="0" dirty="0">
                <a:solidFill>
                  <a:srgbClr val="000000"/>
                </a:solidFill>
                <a:latin typeface="黑体" panose="02010609060101010101" pitchFamily="49" charset="-122"/>
                <a:ea typeface="黑体" panose="02010609060101010101" pitchFamily="49" charset="-122"/>
              </a:endParaRPr>
            </a:p>
            <a:p>
              <a:r>
                <a:rPr lang="zh-CN" altLang="en-US" sz="3200" b="1" baseline="0" dirty="0">
                  <a:solidFill>
                    <a:srgbClr val="000000"/>
                  </a:solidFill>
                  <a:latin typeface="黑体" panose="02010609060101010101" pitchFamily="49" charset="-122"/>
                  <a:ea typeface="黑体" panose="02010609060101010101" pitchFamily="49" charset="-122"/>
                </a:rPr>
                <a:t>进入系统的熵量 </a:t>
              </a:r>
              <a:r>
                <a:rPr lang="en-US" altLang="zh-CN" sz="3200" b="1" baseline="0" dirty="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离开系统的熵量 </a:t>
              </a:r>
              <a:r>
                <a:rPr lang="en-US" altLang="zh-CN" sz="3200" b="1" baseline="0" dirty="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熵产</a:t>
              </a:r>
              <a:r>
                <a:rPr lang="zh-CN" altLang="en-US" sz="3200" b="1" baseline="0" dirty="0">
                  <a:latin typeface="黑体" panose="02010609060101010101" pitchFamily="49" charset="-122"/>
                  <a:ea typeface="黑体" panose="02010609060101010101" pitchFamily="49" charset="-122"/>
                </a:rPr>
                <a:t> </a:t>
              </a:r>
              <a:endParaRPr lang="zh-CN" altLang="en-US" sz="3200" b="1" baseline="0" dirty="0">
                <a:latin typeface="黑体" panose="02010609060101010101" pitchFamily="49" charset="-122"/>
                <a:ea typeface="黑体" panose="02010609060101010101" pitchFamily="49" charset="-122"/>
              </a:endParaRPr>
            </a:p>
          </p:txBody>
        </p:sp>
        <p:sp>
          <p:nvSpPr>
            <p:cNvPr id="7" name="矩形 6"/>
            <p:cNvSpPr/>
            <p:nvPr/>
          </p:nvSpPr>
          <p:spPr>
            <a:xfrm>
              <a:off x="520148" y="2687050"/>
              <a:ext cx="8077200" cy="1295400"/>
            </a:xfrm>
            <a:prstGeom prst="rect">
              <a:avLst/>
            </a:prstGeom>
            <a:noFill/>
            <a:ln w="31750" cap="flat" cmpd="sng">
              <a:solidFill>
                <a:schemeClr val="folHlink"/>
              </a:solidFill>
              <a:prstDash val="solid"/>
              <a:miter/>
              <a:headEnd type="none" w="med" len="med"/>
              <a:tailEnd type="none" w="med" len="med"/>
            </a:ln>
          </p:spPr>
          <p:txBody>
            <a:bodyPr wrap="none"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lgn="ctr"/>
              <a:endParaRPr lang="en-US" altLang="zh-CN">
                <a:latin typeface="Arial" panose="020B0604020202020204" pitchFamily="34" charset="0"/>
                <a:ea typeface="宋体" panose="02010600030101010101" pitchFamily="2" charset="-122"/>
              </a:endParaRPr>
            </a:p>
          </p:txBody>
        </p:sp>
      </p:grpSp>
      <p:sp>
        <p:nvSpPr>
          <p:cNvPr id="9" name="矩形 8"/>
          <p:cNvSpPr/>
          <p:nvPr/>
        </p:nvSpPr>
        <p:spPr>
          <a:xfrm>
            <a:off x="681279" y="433785"/>
            <a:ext cx="7754938" cy="641350"/>
          </a:xfrm>
          <a:prstGeom prst="rect">
            <a:avLst/>
          </a:prstGeom>
          <a:noFill/>
          <a:ln w="9525">
            <a:noFill/>
          </a:ln>
        </p:spPr>
        <p:txBody>
          <a:bodyPr wrap="non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600" b="1" baseline="0" dirty="0">
                <a:latin typeface="黑体" panose="02010609060101010101" pitchFamily="49" charset="-122"/>
                <a:ea typeface="黑体" panose="02010609060101010101" pitchFamily="49" charset="-122"/>
              </a:rPr>
              <a:t>如何用熵平衡方程判断过程能否实现</a:t>
            </a:r>
            <a:r>
              <a:rPr lang="en-US" altLang="zh-CN" sz="3600" b="1" baseline="0" dirty="0">
                <a:latin typeface="黑体" panose="02010609060101010101" pitchFamily="49" charset="-122"/>
                <a:ea typeface="黑体" panose="02010609060101010101" pitchFamily="49" charset="-122"/>
              </a:rPr>
              <a:t>?</a:t>
            </a:r>
            <a:endParaRPr lang="en-US" altLang="zh-CN" sz="3600" b="1" baseline="0" dirty="0">
              <a:latin typeface="黑体" panose="02010609060101010101" pitchFamily="49" charset="-122"/>
              <a:ea typeface="黑体" panose="02010609060101010101" pitchFamily="49" charset="-122"/>
            </a:endParaRPr>
          </a:p>
        </p:txBody>
      </p:sp>
      <p:sp>
        <p:nvSpPr>
          <p:cNvPr id="10" name="矩形 9"/>
          <p:cNvSpPr/>
          <p:nvPr/>
        </p:nvSpPr>
        <p:spPr>
          <a:xfrm>
            <a:off x="84704" y="4728513"/>
            <a:ext cx="8121133" cy="1384995"/>
          </a:xfrm>
          <a:prstGeom prst="rect">
            <a:avLst/>
          </a:prstGeom>
          <a:noFill/>
          <a:ln w="9525">
            <a:noFill/>
          </a:ln>
        </p:spPr>
        <p:txBody>
          <a:bodyPr wrap="non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lgn="ctr"/>
            <a:r>
              <a:rPr lang="zh-CN" altLang="en-US" sz="2800" b="1" baseline="0" dirty="0" smtClean="0">
                <a:solidFill>
                  <a:srgbClr val="0070C0"/>
                </a:solidFill>
                <a:latin typeface="黑体" panose="02010609060101010101" pitchFamily="49" charset="-122"/>
                <a:ea typeface="黑体" panose="02010609060101010101" pitchFamily="49" charset="-122"/>
              </a:rPr>
              <a:t>热熵流</a:t>
            </a:r>
            <a:r>
              <a:rPr lang="en-US" altLang="zh-CN" sz="2800" b="1" baseline="0" dirty="0" smtClean="0">
                <a:solidFill>
                  <a:srgbClr val="0070C0"/>
                </a:solidFill>
                <a:latin typeface="黑体" panose="02010609060101010101" pitchFamily="49" charset="-122"/>
                <a:ea typeface="黑体" panose="02010609060101010101" pitchFamily="49" charset="-122"/>
              </a:rPr>
              <a:t>+</a:t>
            </a:r>
            <a:r>
              <a:rPr lang="zh-CN" altLang="en-US" sz="2800" b="1" baseline="0" dirty="0" smtClean="0">
                <a:solidFill>
                  <a:srgbClr val="0070C0"/>
                </a:solidFill>
                <a:latin typeface="黑体" panose="02010609060101010101" pitchFamily="49" charset="-122"/>
                <a:ea typeface="黑体" panose="02010609060101010101" pitchFamily="49" charset="-122"/>
              </a:rPr>
              <a:t>质熵流</a:t>
            </a:r>
            <a:endParaRPr lang="en-US" altLang="zh-CN" sz="2800" b="1" baseline="0" dirty="0" smtClean="0">
              <a:solidFill>
                <a:srgbClr val="0070C0"/>
              </a:solidFill>
              <a:latin typeface="黑体" panose="02010609060101010101" pitchFamily="49" charset="-122"/>
              <a:ea typeface="黑体" panose="02010609060101010101" pitchFamily="49" charset="-122"/>
            </a:endParaRPr>
          </a:p>
          <a:p>
            <a:pPr algn="ctr"/>
            <a:r>
              <a:rPr lang="zh-CN" altLang="en-US" sz="2800" b="1" dirty="0">
                <a:solidFill>
                  <a:srgbClr val="0070C0"/>
                </a:solidFill>
                <a:latin typeface="黑体" panose="02010609060101010101" pitchFamily="49" charset="-122"/>
                <a:ea typeface="黑体" panose="02010609060101010101" pitchFamily="49" charset="-122"/>
              </a:rPr>
              <a:t>热</a:t>
            </a:r>
            <a:r>
              <a:rPr lang="zh-CN" altLang="en-US" sz="2800" b="1" dirty="0" smtClean="0">
                <a:solidFill>
                  <a:srgbClr val="0070C0"/>
                </a:solidFill>
                <a:latin typeface="黑体" panose="02010609060101010101" pitchFamily="49" charset="-122"/>
                <a:ea typeface="黑体" panose="02010609060101010101" pitchFamily="49" charset="-122"/>
              </a:rPr>
              <a:t>熵流：可正可负或为</a:t>
            </a:r>
            <a:r>
              <a:rPr lang="en-US" altLang="zh-CN" sz="2800" b="1" dirty="0" smtClean="0">
                <a:solidFill>
                  <a:srgbClr val="0070C0"/>
                </a:solidFill>
                <a:latin typeface="黑体" panose="02010609060101010101" pitchFamily="49" charset="-122"/>
                <a:ea typeface="黑体" panose="02010609060101010101" pitchFamily="49" charset="-122"/>
              </a:rPr>
              <a:t>0</a:t>
            </a:r>
            <a:r>
              <a:rPr lang="zh-CN" altLang="en-US" sz="2800" b="1" dirty="0" smtClean="0">
                <a:solidFill>
                  <a:srgbClr val="0070C0"/>
                </a:solidFill>
                <a:latin typeface="黑体" panose="02010609060101010101" pitchFamily="49" charset="-122"/>
                <a:ea typeface="黑体" panose="02010609060101010101" pitchFamily="49" charset="-122"/>
              </a:rPr>
              <a:t>，取决于吸热</a:t>
            </a:r>
            <a:r>
              <a:rPr lang="en-US" altLang="zh-CN" sz="2800" b="1" dirty="0" smtClean="0">
                <a:solidFill>
                  <a:srgbClr val="0070C0"/>
                </a:solidFill>
                <a:latin typeface="黑体" panose="02010609060101010101" pitchFamily="49" charset="-122"/>
                <a:ea typeface="黑体" panose="02010609060101010101" pitchFamily="49" charset="-122"/>
              </a:rPr>
              <a:t>/</a:t>
            </a:r>
            <a:r>
              <a:rPr lang="zh-CN" altLang="en-US" sz="2800" b="1" dirty="0" smtClean="0">
                <a:solidFill>
                  <a:srgbClr val="0070C0"/>
                </a:solidFill>
                <a:latin typeface="黑体" panose="02010609060101010101" pitchFamily="49" charset="-122"/>
                <a:ea typeface="黑体" panose="02010609060101010101" pitchFamily="49" charset="-122"/>
              </a:rPr>
              <a:t>放热</a:t>
            </a:r>
            <a:r>
              <a:rPr lang="en-US" altLang="zh-CN" sz="2800" b="1" dirty="0" smtClean="0">
                <a:solidFill>
                  <a:srgbClr val="0070C0"/>
                </a:solidFill>
                <a:latin typeface="黑体" panose="02010609060101010101" pitchFamily="49" charset="-122"/>
                <a:ea typeface="黑体" panose="02010609060101010101" pitchFamily="49" charset="-122"/>
              </a:rPr>
              <a:t>/</a:t>
            </a:r>
            <a:r>
              <a:rPr lang="zh-CN" altLang="en-US" sz="2800" b="1" dirty="0" smtClean="0">
                <a:solidFill>
                  <a:srgbClr val="0070C0"/>
                </a:solidFill>
                <a:latin typeface="黑体" panose="02010609060101010101" pitchFamily="49" charset="-122"/>
                <a:ea typeface="黑体" panose="02010609060101010101" pitchFamily="49" charset="-122"/>
              </a:rPr>
              <a:t>绝热</a:t>
            </a:r>
            <a:endParaRPr lang="en-US" altLang="zh-CN" sz="2800" b="1" dirty="0" smtClean="0">
              <a:solidFill>
                <a:srgbClr val="0070C0"/>
              </a:solidFill>
              <a:latin typeface="黑体" panose="02010609060101010101" pitchFamily="49" charset="-122"/>
              <a:ea typeface="黑体" panose="02010609060101010101" pitchFamily="49" charset="-122"/>
            </a:endParaRPr>
          </a:p>
          <a:p>
            <a:pPr algn="ctr"/>
            <a:r>
              <a:rPr lang="zh-CN" altLang="en-US" sz="2800" b="1" baseline="0" dirty="0" smtClean="0">
                <a:solidFill>
                  <a:srgbClr val="0070C0"/>
                </a:solidFill>
                <a:latin typeface="黑体" panose="02010609060101010101" pitchFamily="49" charset="-122"/>
                <a:ea typeface="黑体" panose="02010609060101010101" pitchFamily="49" charset="-122"/>
              </a:rPr>
              <a:t>质熵流：</a:t>
            </a:r>
            <a:r>
              <a:rPr lang="zh-CN" altLang="en-US" sz="2800" b="1" dirty="0">
                <a:solidFill>
                  <a:srgbClr val="0070C0"/>
                </a:solidFill>
                <a:latin typeface="黑体" panose="02010609060101010101" pitchFamily="49" charset="-122"/>
                <a:ea typeface="黑体" panose="02010609060101010101" pitchFamily="49" charset="-122"/>
              </a:rPr>
              <a:t>可正可负或为</a:t>
            </a:r>
            <a:r>
              <a:rPr lang="en-US" altLang="zh-CN" sz="2800" b="1" dirty="0">
                <a:solidFill>
                  <a:srgbClr val="0070C0"/>
                </a:solidFill>
                <a:latin typeface="黑体" panose="02010609060101010101" pitchFamily="49" charset="-122"/>
                <a:ea typeface="黑体" panose="02010609060101010101" pitchFamily="49" charset="-122"/>
              </a:rPr>
              <a:t>0</a:t>
            </a:r>
            <a:r>
              <a:rPr lang="zh-CN" altLang="en-US" sz="2800" b="1" dirty="0">
                <a:solidFill>
                  <a:srgbClr val="0070C0"/>
                </a:solidFill>
                <a:latin typeface="黑体" panose="02010609060101010101" pitchFamily="49" charset="-122"/>
                <a:ea typeface="黑体" panose="02010609060101010101" pitchFamily="49" charset="-122"/>
              </a:rPr>
              <a:t>，</a:t>
            </a:r>
            <a:r>
              <a:rPr lang="zh-CN" altLang="en-US" sz="2800" b="1" dirty="0" smtClean="0">
                <a:solidFill>
                  <a:srgbClr val="0070C0"/>
                </a:solidFill>
                <a:latin typeface="黑体" panose="02010609060101010101" pitchFamily="49" charset="-122"/>
                <a:ea typeface="黑体" panose="02010609060101010101" pitchFamily="49" charset="-122"/>
              </a:rPr>
              <a:t>取决于质量流入</a:t>
            </a:r>
            <a:r>
              <a:rPr lang="en-US" altLang="zh-CN" sz="2800" b="1" dirty="0" smtClean="0">
                <a:solidFill>
                  <a:srgbClr val="0070C0"/>
                </a:solidFill>
                <a:latin typeface="黑体" panose="02010609060101010101" pitchFamily="49" charset="-122"/>
                <a:ea typeface="黑体" panose="02010609060101010101" pitchFamily="49" charset="-122"/>
              </a:rPr>
              <a:t>/</a:t>
            </a:r>
            <a:r>
              <a:rPr lang="zh-CN" altLang="en-US" sz="2800" b="1" dirty="0" smtClean="0">
                <a:solidFill>
                  <a:srgbClr val="0070C0"/>
                </a:solidFill>
                <a:latin typeface="黑体" panose="02010609060101010101" pitchFamily="49" charset="-122"/>
                <a:ea typeface="黑体" panose="02010609060101010101" pitchFamily="49" charset="-122"/>
              </a:rPr>
              <a:t>流出</a:t>
            </a:r>
            <a:endParaRPr lang="en-US" altLang="zh-CN" sz="2800" b="1" dirty="0">
              <a:solidFill>
                <a:srgbClr val="0070C0"/>
              </a:solidFill>
              <a:latin typeface="黑体" panose="02010609060101010101" pitchFamily="49" charset="-122"/>
              <a:ea typeface="黑体" panose="02010609060101010101" pitchFamily="49" charset="-122"/>
            </a:endParaRPr>
          </a:p>
        </p:txBody>
      </p:sp>
      <p:sp>
        <p:nvSpPr>
          <p:cNvPr id="11" name="右大括号 10"/>
          <p:cNvSpPr/>
          <p:nvPr/>
        </p:nvSpPr>
        <p:spPr>
          <a:xfrm rot="5400000">
            <a:off x="3955618" y="2819440"/>
            <a:ext cx="379307" cy="3061561"/>
          </a:xfrm>
          <a:prstGeom prst="rightBrace">
            <a:avLst>
              <a:gd name="adj1" fmla="val 8333"/>
              <a:gd name="adj2" fmla="val 50885"/>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 name="肘形连接符 14"/>
          <p:cNvCxnSpPr/>
          <p:nvPr/>
        </p:nvCxnSpPr>
        <p:spPr>
          <a:xfrm rot="5400000" flipH="1" flipV="1">
            <a:off x="1629123" y="2102987"/>
            <a:ext cx="690610" cy="629917"/>
          </a:xfrm>
          <a:prstGeom prst="bentConnector3">
            <a:avLst/>
          </a:prstGeom>
          <a:ln w="34925">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6524688" y="3830050"/>
            <a:ext cx="2529860" cy="1066800"/>
            <a:chOff x="6524688" y="3830050"/>
            <a:chExt cx="2529860" cy="1066800"/>
          </a:xfrm>
        </p:grpSpPr>
        <p:cxnSp>
          <p:nvCxnSpPr>
            <p:cNvPr id="22" name="直接箭头连接符 21"/>
            <p:cNvCxnSpPr/>
            <p:nvPr/>
          </p:nvCxnSpPr>
          <p:spPr>
            <a:xfrm flipH="1">
              <a:off x="7931573" y="3830050"/>
              <a:ext cx="6774" cy="47101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524688" y="4373630"/>
              <a:ext cx="2529860" cy="523220"/>
            </a:xfrm>
            <a:prstGeom prst="rect">
              <a:avLst/>
            </a:prstGeom>
          </p:spPr>
          <p:txBody>
            <a:bodyPr wrap="none">
              <a:spAutoFit/>
            </a:bodyPr>
            <a:lstStyle/>
            <a:p>
              <a:r>
                <a:rPr lang="zh-CN" altLang="en-US" sz="2800" b="1" dirty="0" smtClean="0">
                  <a:solidFill>
                    <a:srgbClr val="FF0000"/>
                  </a:solidFill>
                  <a:latin typeface="黑体" panose="02010609060101010101" pitchFamily="49" charset="-122"/>
                  <a:ea typeface="黑体" panose="02010609060101010101" pitchFamily="49" charset="-122"/>
                </a:rPr>
                <a:t>总是大于等于</a:t>
              </a:r>
              <a:r>
                <a:rPr lang="en-US" altLang="zh-CN" sz="2800" b="1" dirty="0" smtClean="0">
                  <a:solidFill>
                    <a:srgbClr val="FF0000"/>
                  </a:solidFill>
                  <a:latin typeface="黑体" panose="02010609060101010101" pitchFamily="49" charset="-122"/>
                  <a:ea typeface="黑体" panose="02010609060101010101" pitchFamily="49" charset="-122"/>
                </a:rPr>
                <a:t>0</a:t>
              </a:r>
              <a:endParaRPr lang="zh-CN" altLang="en-US" dirty="0">
                <a:solidFill>
                  <a:srgbClr val="FF0000"/>
                </a:solidFill>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up)">
                                      <p:cBhvr>
                                        <p:cTn id="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594952"/>
          <p:cNvSpPr txBox="1"/>
          <p:nvPr/>
        </p:nvSpPr>
        <p:spPr>
          <a:xfrm>
            <a:off x="1868077" y="1682131"/>
            <a:ext cx="7162800" cy="2287588"/>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pPr>
              <a:lnSpc>
                <a:spcPct val="150000"/>
              </a:lnSpc>
            </a:pPr>
            <a:r>
              <a:rPr lang="en-US" altLang="zh-CN" sz="3200" b="1" i="1" baseline="0" dirty="0">
                <a:latin typeface="Times New Roman" panose="02020603050405020304" pitchFamily="18" charset="0"/>
                <a:ea typeface="宋体" panose="02010600030101010101" pitchFamily="2" charset="-122"/>
              </a:rPr>
              <a:t>S</a:t>
            </a:r>
            <a:r>
              <a:rPr lang="en-US" altLang="zh-CN" sz="3200" b="1" baseline="-25000" dirty="0">
                <a:latin typeface="Times New Roman" panose="02020603050405020304" pitchFamily="18" charset="0"/>
                <a:ea typeface="宋体" panose="02010600030101010101" pitchFamily="2" charset="-122"/>
              </a:rPr>
              <a:t>g</a:t>
            </a:r>
            <a:r>
              <a:rPr lang="zh-CN" altLang="en-US" sz="3200" b="1" baseline="0" dirty="0">
                <a:latin typeface="Times New Roman" panose="02020603050405020304" pitchFamily="18" charset="0"/>
                <a:ea typeface="宋体" panose="02010600030101010101" pitchFamily="2" charset="-122"/>
              </a:rPr>
              <a:t>＜</a:t>
            </a:r>
            <a:r>
              <a:rPr lang="en-US" altLang="zh-CN" sz="3200" b="1" baseline="0" dirty="0">
                <a:latin typeface="Times New Roman" panose="02020603050405020304" pitchFamily="18" charset="0"/>
                <a:ea typeface="宋体" panose="02010600030101010101" pitchFamily="2" charset="-122"/>
              </a:rPr>
              <a:t>0</a:t>
            </a:r>
            <a:r>
              <a:rPr lang="zh-CN" altLang="en-US" sz="3200" b="1" baseline="0" dirty="0">
                <a:latin typeface="Times New Roman" panose="02020603050405020304" pitchFamily="18" charset="0"/>
                <a:ea typeface="宋体" panose="02010600030101010101" pitchFamily="2" charset="-122"/>
              </a:rPr>
              <a:t>，</a:t>
            </a:r>
            <a:r>
              <a:rPr lang="zh-CN" altLang="en-US" sz="3200" b="1" baseline="0" dirty="0">
                <a:latin typeface="Arial" panose="020B0604020202020204" pitchFamily="34" charset="0"/>
                <a:ea typeface="黑体" panose="02010609060101010101" pitchFamily="49" charset="-122"/>
              </a:rPr>
              <a:t>过程不能实现 </a:t>
            </a:r>
            <a:r>
              <a:rPr lang="en-US" altLang="zh-CN" sz="3200" b="1" baseline="0" dirty="0">
                <a:latin typeface="Arial" panose="020B0604020202020204" pitchFamily="34" charset="0"/>
                <a:ea typeface="黑体" panose="02010609060101010101" pitchFamily="49" charset="-122"/>
                <a:sym typeface="Wingdings" panose="05000000000000000000" pitchFamily="2" charset="2"/>
              </a:rPr>
              <a:t></a:t>
            </a:r>
            <a:r>
              <a:rPr lang="en-US" altLang="zh-CN" sz="3200" b="1" i="1" baseline="0" dirty="0">
                <a:latin typeface="Times New Roman" panose="02020603050405020304" pitchFamily="18" charset="0"/>
                <a:ea typeface="宋体" panose="02010600030101010101" pitchFamily="2" charset="-122"/>
              </a:rPr>
              <a:t> </a:t>
            </a:r>
            <a:endParaRPr lang="en-US" altLang="zh-CN" sz="3200" b="1" i="1" baseline="0" dirty="0">
              <a:latin typeface="Times New Roman" panose="02020603050405020304" pitchFamily="18" charset="0"/>
              <a:ea typeface="宋体" panose="02010600030101010101" pitchFamily="2" charset="-122"/>
            </a:endParaRPr>
          </a:p>
          <a:p>
            <a:pPr>
              <a:lnSpc>
                <a:spcPct val="150000"/>
              </a:lnSpc>
            </a:pPr>
            <a:r>
              <a:rPr lang="en-US" altLang="zh-CN" sz="3200" b="1" i="1" baseline="0" dirty="0">
                <a:latin typeface="Times New Roman" panose="02020603050405020304" pitchFamily="18" charset="0"/>
                <a:ea typeface="宋体" panose="02010600030101010101" pitchFamily="2" charset="-122"/>
              </a:rPr>
              <a:t>S</a:t>
            </a:r>
            <a:r>
              <a:rPr lang="en-US" altLang="zh-CN" sz="3200" b="1" baseline="-25000" dirty="0">
                <a:latin typeface="Times New Roman" panose="02020603050405020304" pitchFamily="18" charset="0"/>
                <a:ea typeface="宋体" panose="02010600030101010101" pitchFamily="2" charset="-122"/>
              </a:rPr>
              <a:t>g</a:t>
            </a:r>
            <a:r>
              <a:rPr lang="zh-CN" altLang="zh-CN" sz="3200" b="1" baseline="0" dirty="0">
                <a:latin typeface="Times New Roman" panose="02020603050405020304" pitchFamily="18" charset="0"/>
                <a:ea typeface="宋体" panose="02010600030101010101" pitchFamily="2" charset="-122"/>
              </a:rPr>
              <a:t>≥</a:t>
            </a:r>
            <a:r>
              <a:rPr lang="en-US" altLang="zh-CN" sz="3200" b="1" baseline="0" dirty="0">
                <a:latin typeface="Times New Roman" panose="02020603050405020304" pitchFamily="18" charset="0"/>
                <a:ea typeface="宋体" panose="02010600030101010101" pitchFamily="2" charset="-122"/>
              </a:rPr>
              <a:t>0</a:t>
            </a:r>
            <a:r>
              <a:rPr lang="zh-CN" altLang="en-US" sz="3200" b="1" baseline="0" dirty="0">
                <a:latin typeface="Times New Roman" panose="02020603050405020304" pitchFamily="18" charset="0"/>
                <a:ea typeface="宋体" panose="02010600030101010101" pitchFamily="2" charset="-122"/>
              </a:rPr>
              <a:t>，</a:t>
            </a:r>
            <a:r>
              <a:rPr lang="zh-CN" altLang="en-US" sz="3200" b="1" baseline="0" dirty="0">
                <a:latin typeface="Arial" panose="020B0604020202020204" pitchFamily="34" charset="0"/>
                <a:ea typeface="黑体" panose="02010609060101010101" pitchFamily="49" charset="-122"/>
              </a:rPr>
              <a:t>过程可以实现 </a:t>
            </a:r>
            <a:r>
              <a:rPr lang="en-US" altLang="zh-CN" sz="3200" b="1" baseline="0" dirty="0">
                <a:latin typeface="Arial" panose="020B0604020202020204" pitchFamily="34" charset="0"/>
                <a:ea typeface="黑体" panose="02010609060101010101" pitchFamily="49" charset="-122"/>
                <a:sym typeface="Wingdings" panose="05000000000000000000" pitchFamily="2" charset="2"/>
              </a:rPr>
              <a:t></a:t>
            </a:r>
            <a:endParaRPr lang="en-US" altLang="zh-CN" sz="3200" b="1" baseline="0" dirty="0">
              <a:latin typeface="Arial" panose="020B0604020202020204" pitchFamily="34" charset="0"/>
              <a:ea typeface="黑体" panose="02010609060101010101" pitchFamily="49" charset="-122"/>
            </a:endParaRPr>
          </a:p>
          <a:p>
            <a:pPr>
              <a:lnSpc>
                <a:spcPct val="150000"/>
              </a:lnSpc>
            </a:pPr>
            <a:endParaRPr lang="en-US" altLang="zh-CN" sz="3200" b="1" baseline="0" dirty="0">
              <a:latin typeface="Arial" panose="020B0604020202020204" pitchFamily="34" charset="0"/>
              <a:ea typeface="黑体" panose="02010609060101010101" pitchFamily="49" charset="-122"/>
            </a:endParaRPr>
          </a:p>
        </p:txBody>
      </p:sp>
      <p:sp>
        <p:nvSpPr>
          <p:cNvPr id="5" name="矩形 4"/>
          <p:cNvSpPr/>
          <p:nvPr/>
        </p:nvSpPr>
        <p:spPr>
          <a:xfrm>
            <a:off x="559425" y="888381"/>
            <a:ext cx="7754938" cy="641350"/>
          </a:xfrm>
          <a:prstGeom prst="rect">
            <a:avLst/>
          </a:prstGeom>
          <a:noFill/>
          <a:ln w="9525">
            <a:noFill/>
          </a:ln>
        </p:spPr>
        <p:txBody>
          <a:bodyPr wrap="non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600" b="1" baseline="0" dirty="0">
                <a:latin typeface="黑体" panose="02010609060101010101" pitchFamily="49" charset="-122"/>
                <a:ea typeface="黑体" panose="02010609060101010101" pitchFamily="49" charset="-122"/>
              </a:rPr>
              <a:t>如何用</a:t>
            </a:r>
            <a:r>
              <a:rPr lang="zh-CN" altLang="en-US" sz="3600" b="1" baseline="0" dirty="0">
                <a:solidFill>
                  <a:srgbClr val="FF0000"/>
                </a:solidFill>
                <a:latin typeface="黑体" panose="02010609060101010101" pitchFamily="49" charset="-122"/>
                <a:ea typeface="黑体" panose="02010609060101010101" pitchFamily="49" charset="-122"/>
              </a:rPr>
              <a:t>熵平衡方程</a:t>
            </a:r>
            <a:r>
              <a:rPr lang="zh-CN" altLang="en-US" sz="3600" b="1" baseline="0" dirty="0">
                <a:latin typeface="黑体" panose="02010609060101010101" pitchFamily="49" charset="-122"/>
                <a:ea typeface="黑体" panose="02010609060101010101" pitchFamily="49" charset="-122"/>
              </a:rPr>
              <a:t>判断过程能否实现</a:t>
            </a:r>
            <a:r>
              <a:rPr lang="en-US" altLang="zh-CN" sz="3600" b="1" baseline="0" dirty="0">
                <a:latin typeface="黑体" panose="02010609060101010101" pitchFamily="49" charset="-122"/>
                <a:ea typeface="黑体" panose="02010609060101010101" pitchFamily="49" charset="-122"/>
              </a:rPr>
              <a:t>?</a:t>
            </a:r>
            <a:endParaRPr lang="en-US" altLang="zh-CN" sz="3600" b="1" baseline="0" dirty="0">
              <a:latin typeface="黑体" panose="02010609060101010101" pitchFamily="49" charset="-122"/>
              <a:ea typeface="黑体" panose="02010609060101010101" pitchFamily="49" charset="-122"/>
            </a:endParaRPr>
          </a:p>
        </p:txBody>
      </p:sp>
      <p:sp>
        <p:nvSpPr>
          <p:cNvPr id="6" name="矩形 5"/>
          <p:cNvSpPr/>
          <p:nvPr/>
        </p:nvSpPr>
        <p:spPr>
          <a:xfrm>
            <a:off x="674519" y="3649044"/>
            <a:ext cx="7524750" cy="641350"/>
          </a:xfrm>
          <a:prstGeom prst="rect">
            <a:avLst/>
          </a:prstGeom>
          <a:noFill/>
          <a:ln w="9525">
            <a:noFill/>
          </a:ln>
        </p:spPr>
        <p:txBody>
          <a:bodyPr wrap="non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600" b="1" baseline="0" dirty="0">
                <a:latin typeface="黑体" panose="02010609060101010101" pitchFamily="49" charset="-122"/>
                <a:ea typeface="黑体" panose="02010609060101010101" pitchFamily="49" charset="-122"/>
              </a:rPr>
              <a:t>热力学第二定律的</a:t>
            </a:r>
            <a:r>
              <a:rPr lang="zh-CN" altLang="en-US" sz="3600" b="1" baseline="0" dirty="0">
                <a:solidFill>
                  <a:srgbClr val="0000CC"/>
                </a:solidFill>
                <a:latin typeface="黑体" panose="02010609060101010101" pitchFamily="49" charset="-122"/>
                <a:ea typeface="黑体" panose="02010609060101010101" pitchFamily="49" charset="-122"/>
              </a:rPr>
              <a:t>第四种数学表达式</a:t>
            </a:r>
            <a:endParaRPr lang="zh-CN" altLang="en-US" sz="3600" b="1" baseline="0" dirty="0">
              <a:solidFill>
                <a:srgbClr val="0000CC"/>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矩形 592899"/>
          <p:cNvSpPr>
            <a:spLocks noChangeArrowheads="1"/>
          </p:cNvSpPr>
          <p:nvPr/>
        </p:nvSpPr>
        <p:spPr bwMode="auto">
          <a:xfrm>
            <a:off x="533400" y="76200"/>
            <a:ext cx="81534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a:latin typeface="黑体" panose="02010609060101010101" pitchFamily="49" charset="-122"/>
                <a:ea typeface="黑体" panose="02010609060101010101" pitchFamily="49" charset="-122"/>
              </a:rPr>
              <a:t>系统内部的任何不可逆因素，如摩擦、混合、有限温差的传热、自由膨胀等均会引起系统熵的增加。</a:t>
            </a:r>
            <a:r>
              <a:rPr lang="zh-CN" altLang="en-US" sz="3200" b="1" baseline="0">
                <a:solidFill>
                  <a:srgbClr val="FF0000"/>
                </a:solidFill>
                <a:latin typeface="黑体" panose="02010609060101010101" pitchFamily="49" charset="-122"/>
                <a:ea typeface="黑体" panose="02010609060101010101" pitchFamily="49" charset="-122"/>
              </a:rPr>
              <a:t>由不可逆性因素引起的熵的增加用熵产来量度</a:t>
            </a:r>
            <a:r>
              <a:rPr lang="zh-CN" altLang="en-US" sz="3200" b="1" baseline="0">
                <a:latin typeface="黑体" panose="02010609060101010101" pitchFamily="49" charset="-122"/>
                <a:ea typeface="黑体" panose="02010609060101010101" pitchFamily="49" charset="-122"/>
              </a:rPr>
              <a:t>。 </a:t>
            </a:r>
            <a:endParaRPr lang="zh-CN" altLang="en-US" sz="3200" b="1" baseline="0">
              <a:latin typeface="黑体" panose="02010609060101010101" pitchFamily="49" charset="-122"/>
              <a:ea typeface="黑体" panose="02010609060101010101" pitchFamily="49" charset="-122"/>
            </a:endParaRPr>
          </a:p>
        </p:txBody>
      </p:sp>
      <p:pic>
        <p:nvPicPr>
          <p:cNvPr id="592901" name="图片 592900" descr="diffus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81600" y="1676400"/>
            <a:ext cx="22098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2902" name="图片 592901" descr="370750_la_10_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3810000"/>
            <a:ext cx="3048000" cy="288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2903" name="图片 5929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5410200"/>
            <a:ext cx="38862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2904" name="图片 592903" descr="Movi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209800"/>
            <a:ext cx="2413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2904"/>
                                        </p:tgtEl>
                                        <p:attrNameLst>
                                          <p:attrName>style.visibility</p:attrName>
                                        </p:attrNameLst>
                                      </p:cBhvr>
                                      <p:to>
                                        <p:strVal val="visible"/>
                                      </p:to>
                                    </p:set>
                                    <p:animEffect transition="in" filter="blinds(horizontal)">
                                      <p:cBhvr>
                                        <p:cTn id="7" dur="500"/>
                                        <p:tgtEl>
                                          <p:spTgt spid="5929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92901"/>
                                        </p:tgtEl>
                                        <p:attrNameLst>
                                          <p:attrName>style.visibility</p:attrName>
                                        </p:attrNameLst>
                                      </p:cBhvr>
                                      <p:to>
                                        <p:strVal val="visible"/>
                                      </p:to>
                                    </p:set>
                                    <p:animEffect transition="in" filter="blinds(horizontal)">
                                      <p:cBhvr>
                                        <p:cTn id="12" dur="500"/>
                                        <p:tgtEl>
                                          <p:spTgt spid="59290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2903"/>
                                        </p:tgtEl>
                                        <p:attrNameLst>
                                          <p:attrName>style.visibility</p:attrName>
                                        </p:attrNameLst>
                                      </p:cBhvr>
                                      <p:to>
                                        <p:strVal val="visible"/>
                                      </p:to>
                                    </p:set>
                                    <p:animEffect transition="in" filter="blinds(horizontal)">
                                      <p:cBhvr>
                                        <p:cTn id="17" dur="500"/>
                                        <p:tgtEl>
                                          <p:spTgt spid="59290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92902"/>
                                        </p:tgtEl>
                                        <p:attrNameLst>
                                          <p:attrName>style.visibility</p:attrName>
                                        </p:attrNameLst>
                                      </p:cBhvr>
                                      <p:to>
                                        <p:strVal val="visible"/>
                                      </p:to>
                                    </p:set>
                                    <p:animEffect transition="in" filter="blinds(horizontal)">
                                      <p:cBhvr>
                                        <p:cTn id="22" dur="500"/>
                                        <p:tgtEl>
                                          <p:spTgt spid="592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69232" y="429677"/>
            <a:ext cx="8113713" cy="1076325"/>
          </a:xfrm>
          <a:prstGeom prst="rect">
            <a:avLst/>
          </a:prstGeom>
          <a:noFill/>
          <a:ln w="9525">
            <a:noFill/>
          </a:ln>
        </p:spPr>
        <p:txBody>
          <a:bodyPr wrap="squar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solidFill>
                  <a:srgbClr val="FF0000"/>
                </a:solidFill>
                <a:latin typeface="Arial" panose="020B0604020202020204" pitchFamily="34" charset="0"/>
                <a:ea typeface="黑体" panose="02010609060101010101" pitchFamily="49" charset="-122"/>
              </a:rPr>
              <a:t>当过程可逆时，熵产为0</a:t>
            </a:r>
            <a:r>
              <a:rPr lang="zh-CN" altLang="en-US" sz="3200" b="1" baseline="0" dirty="0">
                <a:latin typeface="Arial" panose="020B0604020202020204" pitchFamily="34" charset="0"/>
                <a:ea typeface="黑体" panose="02010609060101010101" pitchFamily="49" charset="-122"/>
              </a:rPr>
              <a:t>，此时的熵平衡方程蜕化为熵守恒方程</a:t>
            </a:r>
            <a:endParaRPr lang="zh-CN" altLang="en-US" sz="3200" b="1" baseline="0" dirty="0">
              <a:latin typeface="Arial" panose="020B0604020202020204" pitchFamily="34" charset="0"/>
              <a:ea typeface="黑体" panose="02010609060101010101" pitchFamily="49" charset="-122"/>
            </a:endParaRPr>
          </a:p>
        </p:txBody>
      </p:sp>
      <p:sp>
        <p:nvSpPr>
          <p:cNvPr id="19" name="矩形 18"/>
          <p:cNvSpPr/>
          <p:nvPr/>
        </p:nvSpPr>
        <p:spPr>
          <a:xfrm>
            <a:off x="442464" y="5067095"/>
            <a:ext cx="8384968" cy="1077218"/>
          </a:xfrm>
          <a:prstGeom prst="rect">
            <a:avLst/>
          </a:prstGeom>
          <a:noFill/>
          <a:ln w="9525">
            <a:noFill/>
          </a:ln>
        </p:spPr>
        <p:txBody>
          <a:bodyPr wrap="squar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smtClean="0">
                <a:latin typeface="Arial" panose="020B0604020202020204" pitchFamily="34" charset="0"/>
                <a:ea typeface="黑体" panose="02010609060101010101" pitchFamily="49" charset="-122"/>
              </a:rPr>
              <a:t>这说明，</a:t>
            </a:r>
            <a:r>
              <a:rPr lang="zh-CN" altLang="en-US" sz="3200" b="1" baseline="0" dirty="0" smtClean="0">
                <a:solidFill>
                  <a:srgbClr val="FF0000"/>
                </a:solidFill>
                <a:latin typeface="Arial" panose="020B0604020202020204" pitchFamily="34" charset="0"/>
                <a:ea typeface="黑体" panose="02010609060101010101" pitchFamily="49" charset="-122"/>
              </a:rPr>
              <a:t>能量</a:t>
            </a:r>
            <a:r>
              <a:rPr lang="zh-CN" altLang="en-US" sz="3200" b="1" baseline="0" dirty="0">
                <a:solidFill>
                  <a:srgbClr val="FF0000"/>
                </a:solidFill>
                <a:latin typeface="Arial" panose="020B0604020202020204" pitchFamily="34" charset="0"/>
                <a:ea typeface="黑体" panose="02010609060101010101" pitchFamily="49" charset="-122"/>
              </a:rPr>
              <a:t>在任何过程中都是守恒的，而熵只在可逆过程中守恒 </a:t>
            </a:r>
            <a:endParaRPr lang="zh-CN" altLang="en-US" sz="3200" b="1" baseline="0" dirty="0">
              <a:solidFill>
                <a:srgbClr val="FF0000"/>
              </a:solidFill>
              <a:latin typeface="Arial" panose="020B0604020202020204" pitchFamily="34" charset="0"/>
              <a:ea typeface="黑体" panose="02010609060101010101" pitchFamily="49" charset="-122"/>
            </a:endParaRPr>
          </a:p>
        </p:txBody>
      </p:sp>
      <p:sp>
        <p:nvSpPr>
          <p:cNvPr id="20" name="文本框 588805"/>
          <p:cNvSpPr txBox="1"/>
          <p:nvPr/>
        </p:nvSpPr>
        <p:spPr>
          <a:xfrm>
            <a:off x="442464" y="3460113"/>
            <a:ext cx="8458200" cy="507831"/>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700" b="1" baseline="0" dirty="0" smtClean="0">
                <a:solidFill>
                  <a:srgbClr val="0070C0"/>
                </a:solidFill>
                <a:latin typeface="黑体" panose="02010609060101010101" pitchFamily="49" charset="-122"/>
                <a:ea typeface="黑体" panose="02010609060101010101" pitchFamily="49" charset="-122"/>
              </a:rPr>
              <a:t>系统总能的</a:t>
            </a:r>
            <a:r>
              <a:rPr lang="zh-CN" altLang="en-US" sz="2700" b="1" baseline="0" dirty="0">
                <a:solidFill>
                  <a:srgbClr val="0070C0"/>
                </a:solidFill>
                <a:latin typeface="黑体" panose="02010609060101010101" pitchFamily="49" charset="-122"/>
                <a:ea typeface="黑体" panose="02010609060101010101" pitchFamily="49" charset="-122"/>
              </a:rPr>
              <a:t>变化 </a:t>
            </a:r>
            <a:r>
              <a:rPr lang="en-US" altLang="zh-CN" sz="2700" b="1" baseline="0" dirty="0">
                <a:solidFill>
                  <a:srgbClr val="0070C0"/>
                </a:solidFill>
                <a:latin typeface="黑体" panose="02010609060101010101" pitchFamily="49" charset="-122"/>
                <a:ea typeface="黑体" panose="02010609060101010101" pitchFamily="49" charset="-122"/>
              </a:rPr>
              <a:t>= </a:t>
            </a:r>
            <a:r>
              <a:rPr lang="zh-CN" altLang="en-US" sz="2700" b="1" baseline="0" dirty="0">
                <a:solidFill>
                  <a:srgbClr val="0070C0"/>
                </a:solidFill>
                <a:latin typeface="黑体" panose="02010609060101010101" pitchFamily="49" charset="-122"/>
                <a:ea typeface="黑体" panose="02010609060101010101" pitchFamily="49" charset="-122"/>
              </a:rPr>
              <a:t>进入系统</a:t>
            </a:r>
            <a:r>
              <a:rPr lang="zh-CN" altLang="en-US" sz="2700" b="1" baseline="0" dirty="0" smtClean="0">
                <a:solidFill>
                  <a:srgbClr val="0070C0"/>
                </a:solidFill>
                <a:latin typeface="黑体" panose="02010609060101010101" pitchFamily="49" charset="-122"/>
                <a:ea typeface="黑体" panose="02010609060101010101" pitchFamily="49" charset="-122"/>
              </a:rPr>
              <a:t>的能量 </a:t>
            </a:r>
            <a:r>
              <a:rPr lang="en-US" altLang="zh-CN" sz="2700" b="1" baseline="0" dirty="0">
                <a:solidFill>
                  <a:srgbClr val="0070C0"/>
                </a:solidFill>
                <a:latin typeface="黑体" panose="02010609060101010101" pitchFamily="49" charset="-122"/>
                <a:ea typeface="黑体" panose="02010609060101010101" pitchFamily="49" charset="-122"/>
              </a:rPr>
              <a:t>- </a:t>
            </a:r>
            <a:r>
              <a:rPr lang="zh-CN" altLang="en-US" sz="2700" b="1" baseline="0" dirty="0">
                <a:solidFill>
                  <a:srgbClr val="0070C0"/>
                </a:solidFill>
                <a:latin typeface="黑体" panose="02010609060101010101" pitchFamily="49" charset="-122"/>
                <a:ea typeface="黑体" panose="02010609060101010101" pitchFamily="49" charset="-122"/>
              </a:rPr>
              <a:t>离开系统</a:t>
            </a:r>
            <a:r>
              <a:rPr lang="zh-CN" altLang="en-US" sz="2700" b="1" baseline="0" dirty="0" smtClean="0">
                <a:solidFill>
                  <a:srgbClr val="0070C0"/>
                </a:solidFill>
                <a:latin typeface="黑体" panose="02010609060101010101" pitchFamily="49" charset="-122"/>
                <a:ea typeface="黑体" panose="02010609060101010101" pitchFamily="49" charset="-122"/>
              </a:rPr>
              <a:t>的能量  </a:t>
            </a:r>
            <a:endParaRPr lang="zh-CN" altLang="en-US" sz="2700" b="1" baseline="0" dirty="0">
              <a:solidFill>
                <a:srgbClr val="0070C0"/>
              </a:solidFill>
              <a:latin typeface="黑体" panose="02010609060101010101" pitchFamily="49" charset="-122"/>
              <a:ea typeface="黑体" panose="02010609060101010101" pitchFamily="49" charset="-122"/>
            </a:endParaRPr>
          </a:p>
        </p:txBody>
      </p:sp>
      <p:sp>
        <p:nvSpPr>
          <p:cNvPr id="26" name="矩形 25"/>
          <p:cNvSpPr/>
          <p:nvPr/>
        </p:nvSpPr>
        <p:spPr>
          <a:xfrm>
            <a:off x="442464" y="2642815"/>
            <a:ext cx="8113713" cy="584775"/>
          </a:xfrm>
          <a:prstGeom prst="rect">
            <a:avLst/>
          </a:prstGeom>
          <a:noFill/>
          <a:ln w="9525">
            <a:noFill/>
          </a:ln>
        </p:spPr>
        <p:txBody>
          <a:bodyPr wrap="squar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dirty="0" smtClean="0">
                <a:latin typeface="Arial" panose="020B0604020202020204" pitchFamily="34" charset="0"/>
                <a:ea typeface="黑体" panose="02010609060101010101" pitchFamily="49" charset="-122"/>
              </a:rPr>
              <a:t>此式与</a:t>
            </a:r>
            <a:endParaRPr lang="zh-CN" altLang="en-US" sz="3200" b="1" baseline="0" dirty="0">
              <a:latin typeface="Arial" panose="020B0604020202020204" pitchFamily="34" charset="0"/>
              <a:ea typeface="黑体" panose="02010609060101010101" pitchFamily="49" charset="-122"/>
            </a:endParaRPr>
          </a:p>
        </p:txBody>
      </p:sp>
      <p:sp>
        <p:nvSpPr>
          <p:cNvPr id="27" name="文本框 588805"/>
          <p:cNvSpPr txBox="1"/>
          <p:nvPr/>
        </p:nvSpPr>
        <p:spPr>
          <a:xfrm>
            <a:off x="521632" y="1905137"/>
            <a:ext cx="8458200" cy="582613"/>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solidFill>
                  <a:srgbClr val="0070C0"/>
                </a:solidFill>
                <a:latin typeface="黑体" panose="02010609060101010101" pitchFamily="49" charset="-122"/>
                <a:ea typeface="黑体" panose="02010609060101010101" pitchFamily="49" charset="-122"/>
              </a:rPr>
              <a:t>系统熵的变化 </a:t>
            </a:r>
            <a:r>
              <a:rPr lang="en-US" altLang="zh-CN" sz="2800" b="1" baseline="0" dirty="0">
                <a:solidFill>
                  <a:srgbClr val="0070C0"/>
                </a:solidFill>
                <a:latin typeface="黑体" panose="02010609060101010101" pitchFamily="49" charset="-122"/>
                <a:ea typeface="黑体" panose="02010609060101010101" pitchFamily="49" charset="-122"/>
              </a:rPr>
              <a:t>= </a:t>
            </a:r>
            <a:r>
              <a:rPr lang="zh-CN" altLang="en-US" sz="2800" b="1" baseline="0" dirty="0">
                <a:solidFill>
                  <a:srgbClr val="0070C0"/>
                </a:solidFill>
                <a:latin typeface="黑体" panose="02010609060101010101" pitchFamily="49" charset="-122"/>
                <a:ea typeface="黑体" panose="02010609060101010101" pitchFamily="49" charset="-122"/>
              </a:rPr>
              <a:t>进入系统的熵量 </a:t>
            </a:r>
            <a:r>
              <a:rPr lang="en-US" altLang="zh-CN" sz="2800" b="1" baseline="0" dirty="0">
                <a:solidFill>
                  <a:srgbClr val="0070C0"/>
                </a:solidFill>
                <a:latin typeface="黑体" panose="02010609060101010101" pitchFamily="49" charset="-122"/>
                <a:ea typeface="黑体" panose="02010609060101010101" pitchFamily="49" charset="-122"/>
              </a:rPr>
              <a:t>- </a:t>
            </a:r>
            <a:r>
              <a:rPr lang="zh-CN" altLang="en-US" sz="2800" b="1" baseline="0" dirty="0">
                <a:solidFill>
                  <a:srgbClr val="0070C0"/>
                </a:solidFill>
                <a:latin typeface="黑体" panose="02010609060101010101" pitchFamily="49" charset="-122"/>
                <a:ea typeface="黑体" panose="02010609060101010101" pitchFamily="49" charset="-122"/>
              </a:rPr>
              <a:t>离开系统的熵量</a:t>
            </a:r>
            <a:r>
              <a:rPr lang="zh-CN" altLang="en-US" sz="3200" b="1" baseline="0" dirty="0">
                <a:solidFill>
                  <a:srgbClr val="0070C0"/>
                </a:solidFill>
                <a:latin typeface="黑体" panose="02010609060101010101" pitchFamily="49" charset="-122"/>
                <a:ea typeface="黑体" panose="02010609060101010101" pitchFamily="49" charset="-122"/>
              </a:rPr>
              <a:t>  </a:t>
            </a:r>
            <a:endParaRPr lang="zh-CN" altLang="en-US" sz="3200" b="1" baseline="0" dirty="0">
              <a:solidFill>
                <a:srgbClr val="0070C0"/>
              </a:solidFill>
              <a:latin typeface="黑体" panose="02010609060101010101" pitchFamily="49" charset="-122"/>
              <a:ea typeface="黑体" panose="02010609060101010101" pitchFamily="49" charset="-122"/>
            </a:endParaRPr>
          </a:p>
        </p:txBody>
      </p:sp>
      <p:sp>
        <p:nvSpPr>
          <p:cNvPr id="28" name="矩形 27"/>
          <p:cNvSpPr/>
          <p:nvPr/>
        </p:nvSpPr>
        <p:spPr>
          <a:xfrm>
            <a:off x="521632" y="4243819"/>
            <a:ext cx="8113713" cy="584775"/>
          </a:xfrm>
          <a:prstGeom prst="rect">
            <a:avLst/>
          </a:prstGeom>
          <a:noFill/>
          <a:ln w="9525">
            <a:noFill/>
          </a:ln>
        </p:spPr>
        <p:txBody>
          <a:bodyPr wrap="squar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dirty="0" smtClean="0">
                <a:latin typeface="Arial" panose="020B0604020202020204" pitchFamily="34" charset="0"/>
                <a:ea typeface="黑体" panose="02010609060101010101" pitchFamily="49" charset="-122"/>
              </a:rPr>
              <a:t>形式一致</a:t>
            </a:r>
            <a:endParaRPr lang="zh-CN" altLang="en-US" sz="3200" b="1" baseline="0" dirty="0">
              <a:latin typeface="Arial" panose="020B0604020202020204" pitchFamily="34" charset="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8824" y="573294"/>
            <a:ext cx="4038600" cy="520700"/>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aseline="0" dirty="0">
                <a:solidFill>
                  <a:srgbClr val="0000CC"/>
                </a:solidFill>
                <a:latin typeface="Arial" panose="020B0604020202020204" pitchFamily="34" charset="0"/>
                <a:ea typeface="黑体" panose="02010609060101010101" pitchFamily="49" charset="-122"/>
              </a:rPr>
              <a:t>对于孤立系</a:t>
            </a:r>
            <a:endParaRPr lang="zh-CN" altLang="en-US" sz="2800" baseline="0" dirty="0">
              <a:solidFill>
                <a:srgbClr val="0000CC"/>
              </a:solidFill>
              <a:latin typeface="Arial" panose="020B0604020202020204" pitchFamily="34" charset="0"/>
              <a:ea typeface="黑体" panose="02010609060101010101" pitchFamily="49" charset="-122"/>
            </a:endParaRPr>
          </a:p>
        </p:txBody>
      </p:sp>
      <p:pic>
        <p:nvPicPr>
          <p:cNvPr id="3" name="对象 394252"/>
          <p:cNvPicPr>
            <a:picLocks noChangeAspect="1"/>
          </p:cNvPicPr>
          <p:nvPr/>
        </p:nvPicPr>
        <p:blipFill>
          <a:blip r:embed="rId1"/>
          <a:stretch>
            <a:fillRect/>
          </a:stretch>
        </p:blipFill>
        <p:spPr>
          <a:xfrm>
            <a:off x="998537" y="2667206"/>
            <a:ext cx="2158063" cy="602988"/>
          </a:xfrm>
          <a:prstGeom prst="rect">
            <a:avLst/>
          </a:prstGeom>
          <a:noFill/>
          <a:ln w="38100">
            <a:noFill/>
            <a:miter/>
          </a:ln>
        </p:spPr>
      </p:pic>
      <p:sp>
        <p:nvSpPr>
          <p:cNvPr id="4" name="矩形 3"/>
          <p:cNvSpPr/>
          <p:nvPr/>
        </p:nvSpPr>
        <p:spPr>
          <a:xfrm>
            <a:off x="3886200" y="2694194"/>
            <a:ext cx="4038600" cy="522288"/>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aseline="0" dirty="0">
                <a:solidFill>
                  <a:srgbClr val="0000CC"/>
                </a:solidFill>
                <a:latin typeface="Arial" panose="020B0604020202020204" pitchFamily="34" charset="0"/>
                <a:ea typeface="黑体" panose="02010609060101010101" pitchFamily="49" charset="-122"/>
              </a:rPr>
              <a:t>孤立系熵增原理</a:t>
            </a:r>
            <a:endParaRPr lang="zh-CN" altLang="en-US" sz="2800" baseline="0" dirty="0">
              <a:solidFill>
                <a:srgbClr val="0000CC"/>
              </a:solidFill>
              <a:latin typeface="Arial" panose="020B0604020202020204" pitchFamily="34" charset="0"/>
              <a:ea typeface="黑体" panose="02010609060101010101" pitchFamily="49" charset="-122"/>
            </a:endParaRPr>
          </a:p>
        </p:txBody>
      </p:sp>
      <p:sp>
        <p:nvSpPr>
          <p:cNvPr id="5" name="文本框 588805"/>
          <p:cNvSpPr txBox="1"/>
          <p:nvPr/>
        </p:nvSpPr>
        <p:spPr>
          <a:xfrm>
            <a:off x="469900" y="1360694"/>
            <a:ext cx="8458200" cy="1066800"/>
          </a:xfrm>
          <a:prstGeom prst="rect">
            <a:avLst/>
          </a:prstGeom>
          <a:noFill/>
          <a:ln w="9525">
            <a:noFill/>
          </a:ln>
        </p:spPr>
        <p:txBody>
          <a:bodyPr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solidFill>
                  <a:srgbClr val="000000"/>
                </a:solidFill>
                <a:latin typeface="黑体" panose="02010609060101010101" pitchFamily="49" charset="-122"/>
                <a:ea typeface="黑体" panose="02010609060101010101" pitchFamily="49" charset="-122"/>
              </a:rPr>
              <a:t>系统熵的变化</a:t>
            </a:r>
            <a:r>
              <a:rPr lang="en-US" altLang="zh-CN" sz="3200" b="1" baseline="0" dirty="0">
                <a:solidFill>
                  <a:srgbClr val="000000"/>
                </a:solidFill>
                <a:latin typeface="黑体" panose="02010609060101010101" pitchFamily="49" charset="-122"/>
                <a:ea typeface="黑体" panose="02010609060101010101" pitchFamily="49" charset="-122"/>
              </a:rPr>
              <a:t>=</a:t>
            </a:r>
            <a:endParaRPr lang="en-US" altLang="zh-CN" sz="3200" b="1" baseline="0" dirty="0">
              <a:solidFill>
                <a:srgbClr val="000000"/>
              </a:solidFill>
              <a:latin typeface="黑体" panose="02010609060101010101" pitchFamily="49" charset="-122"/>
              <a:ea typeface="黑体" panose="02010609060101010101" pitchFamily="49" charset="-122"/>
            </a:endParaRPr>
          </a:p>
          <a:p>
            <a:r>
              <a:rPr lang="zh-CN" altLang="en-US" sz="3200" b="1" baseline="0" dirty="0">
                <a:solidFill>
                  <a:srgbClr val="000000"/>
                </a:solidFill>
                <a:latin typeface="黑体" panose="02010609060101010101" pitchFamily="49" charset="-122"/>
                <a:ea typeface="黑体" panose="02010609060101010101" pitchFamily="49" charset="-122"/>
              </a:rPr>
              <a:t>进入系统的熵量 </a:t>
            </a:r>
            <a:r>
              <a:rPr lang="en-US" altLang="zh-CN" sz="3200" b="1" baseline="0" dirty="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离开系统的熵量 </a:t>
            </a:r>
            <a:r>
              <a:rPr lang="en-US" altLang="zh-CN" sz="3200" b="1" baseline="0" dirty="0">
                <a:solidFill>
                  <a:srgbClr val="000000"/>
                </a:solidFill>
                <a:latin typeface="黑体" panose="02010609060101010101" pitchFamily="49" charset="-122"/>
                <a:ea typeface="黑体" panose="02010609060101010101" pitchFamily="49" charset="-122"/>
              </a:rPr>
              <a:t>+ </a:t>
            </a:r>
            <a:r>
              <a:rPr lang="zh-CN" altLang="en-US" sz="3200" b="1" baseline="0" dirty="0">
                <a:solidFill>
                  <a:srgbClr val="000000"/>
                </a:solidFill>
                <a:latin typeface="黑体" panose="02010609060101010101" pitchFamily="49" charset="-122"/>
                <a:ea typeface="黑体" panose="02010609060101010101" pitchFamily="49" charset="-122"/>
              </a:rPr>
              <a:t>熵产</a:t>
            </a:r>
            <a:r>
              <a:rPr lang="zh-CN" altLang="en-US" sz="3200" b="1" baseline="0" dirty="0">
                <a:latin typeface="黑体" panose="02010609060101010101" pitchFamily="49" charset="-122"/>
                <a:ea typeface="黑体" panose="02010609060101010101" pitchFamily="49" charset="-122"/>
              </a:rPr>
              <a:t> </a:t>
            </a:r>
            <a:endParaRPr lang="zh-CN" altLang="en-US" sz="3200" b="1" baseline="0" dirty="0">
              <a:latin typeface="黑体" panose="02010609060101010101" pitchFamily="49" charset="-122"/>
              <a:ea typeface="黑体" panose="02010609060101010101" pitchFamily="49" charset="-122"/>
            </a:endParaRPr>
          </a:p>
        </p:txBody>
      </p:sp>
      <p:sp>
        <p:nvSpPr>
          <p:cNvPr id="6" name="右箭头 5"/>
          <p:cNvSpPr/>
          <p:nvPr/>
        </p:nvSpPr>
        <p:spPr>
          <a:xfrm>
            <a:off x="588824" y="2087631"/>
            <a:ext cx="2902226" cy="1590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a:off x="4087398" y="2108751"/>
            <a:ext cx="2902226" cy="1590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642707" y="1144660"/>
            <a:ext cx="7401385" cy="461665"/>
          </a:xfrm>
          <a:prstGeom prst="rect">
            <a:avLst/>
          </a:prstGeom>
          <a:noFill/>
          <a:ln w="9525">
            <a:noFill/>
          </a:ln>
        </p:spPr>
        <p:txBody>
          <a:bodyPr wrap="non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400" b="1" baseline="0" dirty="0">
                <a:latin typeface="Arial" panose="020B0604020202020204" pitchFamily="34" charset="0"/>
                <a:ea typeface="黑体" panose="02010609060101010101" pitchFamily="49" charset="-122"/>
              </a:rPr>
              <a:t>方程中的</a:t>
            </a:r>
            <a:r>
              <a:rPr lang="en-US" altLang="zh-CN" sz="2400" b="1" i="1" baseline="0" dirty="0">
                <a:latin typeface="Times New Roman" panose="02020603050405020304" pitchFamily="18" charset="0"/>
                <a:ea typeface="黑体" panose="02010609060101010101" pitchFamily="49" charset="-122"/>
              </a:rPr>
              <a:t>S</a:t>
            </a:r>
            <a:r>
              <a:rPr lang="en-US" altLang="zh-CN" sz="2400" b="1" baseline="-25000" dirty="0">
                <a:latin typeface="Times New Roman" panose="02020603050405020304" pitchFamily="18" charset="0"/>
                <a:ea typeface="黑体" panose="02010609060101010101" pitchFamily="49" charset="-122"/>
              </a:rPr>
              <a:t>g</a:t>
            </a:r>
            <a:r>
              <a:rPr lang="zh-CN" altLang="en-US" sz="2400" b="1" baseline="0" dirty="0">
                <a:latin typeface="Arial" panose="020B0604020202020204" pitchFamily="34" charset="0"/>
                <a:ea typeface="黑体" panose="02010609060101010101" pitchFamily="49" charset="-122"/>
              </a:rPr>
              <a:t>表示由系统</a:t>
            </a:r>
            <a:r>
              <a:rPr lang="zh-CN" altLang="en-US" sz="2400" b="1" baseline="0" dirty="0">
                <a:solidFill>
                  <a:srgbClr val="FF0000"/>
                </a:solidFill>
                <a:latin typeface="Arial" panose="020B0604020202020204" pitchFamily="34" charset="0"/>
                <a:ea typeface="黑体" panose="02010609060101010101" pitchFamily="49" charset="-122"/>
              </a:rPr>
              <a:t>内不可逆</a:t>
            </a:r>
            <a:r>
              <a:rPr lang="zh-CN" altLang="en-US" sz="2400" b="1" baseline="0" dirty="0">
                <a:latin typeface="Arial" panose="020B0604020202020204" pitchFamily="34" charset="0"/>
                <a:ea typeface="黑体" panose="02010609060101010101" pitchFamily="49" charset="-122"/>
              </a:rPr>
              <a:t>因素引起的</a:t>
            </a:r>
            <a:r>
              <a:rPr lang="zh-CN" altLang="en-US" sz="2400" b="1" baseline="0" dirty="0">
                <a:solidFill>
                  <a:srgbClr val="FF0000"/>
                </a:solidFill>
                <a:latin typeface="Arial" panose="020B0604020202020204" pitchFamily="34" charset="0"/>
                <a:ea typeface="黑体" panose="02010609060101010101" pitchFamily="49" charset="-122"/>
              </a:rPr>
              <a:t>内部</a:t>
            </a:r>
            <a:r>
              <a:rPr lang="zh-CN" altLang="en-US" sz="2400" b="1" baseline="0" dirty="0">
                <a:latin typeface="Arial" panose="020B0604020202020204" pitchFamily="34" charset="0"/>
                <a:ea typeface="黑体" panose="02010609060101010101" pitchFamily="49" charset="-122"/>
              </a:rPr>
              <a:t>熵产</a:t>
            </a:r>
            <a:r>
              <a:rPr lang="zh-CN" altLang="en-US" sz="2400" b="1" baseline="0" dirty="0">
                <a:latin typeface="Arial" panose="020B0604020202020204" pitchFamily="34" charset="0"/>
                <a:ea typeface="宋体" panose="02010600030101010101" pitchFamily="2" charset="-122"/>
              </a:rPr>
              <a:t> </a:t>
            </a:r>
            <a:endParaRPr lang="zh-CN" altLang="en-US" sz="2400" b="1" baseline="0" dirty="0">
              <a:latin typeface="Arial" panose="020B0604020202020204" pitchFamily="34" charset="0"/>
              <a:ea typeface="宋体" panose="02010600030101010101" pitchFamily="2" charset="-122"/>
            </a:endParaRPr>
          </a:p>
        </p:txBody>
      </p:sp>
      <p:sp>
        <p:nvSpPr>
          <p:cNvPr id="12" name="矩形 11"/>
          <p:cNvSpPr/>
          <p:nvPr/>
        </p:nvSpPr>
        <p:spPr>
          <a:xfrm>
            <a:off x="647700" y="1739098"/>
            <a:ext cx="7924800" cy="830997"/>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400" b="1" baseline="0" dirty="0">
                <a:latin typeface="黑体" panose="02010609060101010101" pitchFamily="49" charset="-122"/>
                <a:ea typeface="黑体" panose="02010609060101010101" pitchFamily="49" charset="-122"/>
              </a:rPr>
              <a:t>一个热力过程的内部熵产为</a:t>
            </a:r>
            <a:r>
              <a:rPr lang="en-US" altLang="zh-CN" sz="2400" b="1" baseline="0" dirty="0">
                <a:latin typeface="黑体" panose="02010609060101010101" pitchFamily="49" charset="-122"/>
                <a:ea typeface="黑体" panose="02010609060101010101" pitchFamily="49" charset="-122"/>
              </a:rPr>
              <a:t>0</a:t>
            </a:r>
            <a:r>
              <a:rPr lang="zh-CN" altLang="en-US" sz="2400" b="1" baseline="0" dirty="0">
                <a:latin typeface="黑体" panose="02010609060101010101" pitchFamily="49" charset="-122"/>
                <a:ea typeface="黑体" panose="02010609060101010101" pitchFamily="49" charset="-122"/>
              </a:rPr>
              <a:t>，并不代表过程是完全可逆的，它可能存在着由外不可逆性引起的</a:t>
            </a:r>
            <a:r>
              <a:rPr lang="zh-CN" altLang="en-US" sz="2400" b="1" baseline="0" dirty="0">
                <a:solidFill>
                  <a:srgbClr val="0000CC"/>
                </a:solidFill>
                <a:latin typeface="黑体" panose="02010609060101010101" pitchFamily="49" charset="-122"/>
                <a:ea typeface="黑体" panose="02010609060101010101" pitchFamily="49" charset="-122"/>
              </a:rPr>
              <a:t>外部熵产</a:t>
            </a:r>
            <a:r>
              <a:rPr lang="zh-CN" altLang="en-US" sz="2400" b="1" baseline="0" dirty="0">
                <a:latin typeface="黑体" panose="02010609060101010101" pitchFamily="49" charset="-122"/>
                <a:ea typeface="黑体" panose="02010609060101010101" pitchFamily="49" charset="-122"/>
              </a:rPr>
              <a:t> </a:t>
            </a:r>
            <a:endParaRPr lang="zh-CN" altLang="en-US" sz="2400" b="1" baseline="0" dirty="0">
              <a:latin typeface="黑体" panose="02010609060101010101" pitchFamily="49" charset="-122"/>
              <a:ea typeface="黑体" panose="02010609060101010101" pitchFamily="49" charset="-122"/>
            </a:endParaRPr>
          </a:p>
        </p:txBody>
      </p:sp>
      <p:pic>
        <p:nvPicPr>
          <p:cNvPr id="13" name="对象 395271"/>
          <p:cNvPicPr/>
          <p:nvPr/>
        </p:nvPicPr>
        <p:blipFill>
          <a:blip r:embed="rId1"/>
          <a:srcRect r="4868"/>
          <a:stretch>
            <a:fillRect/>
          </a:stretch>
        </p:blipFill>
        <p:spPr>
          <a:xfrm>
            <a:off x="3162300" y="2933700"/>
            <a:ext cx="3124200" cy="3095625"/>
          </a:xfrm>
          <a:prstGeom prst="rect">
            <a:avLst/>
          </a:prstGeom>
          <a:noFill/>
          <a:ln w="38100">
            <a:noFill/>
            <a:miter/>
          </a:ln>
        </p:spPr>
      </p:pic>
      <p:pic>
        <p:nvPicPr>
          <p:cNvPr id="14" name="图片 13" descr="ANd9GcTrHBrND7FZ54dDlOu7xvEtbWkrmFTqkqW9bEEZqL7Jsa9s5TQxdw"/>
          <p:cNvPicPr>
            <a:picLocks noChangeAspect="1"/>
          </p:cNvPicPr>
          <p:nvPr/>
        </p:nvPicPr>
        <p:blipFill>
          <a:blip r:embed="rId2"/>
          <a:stretch>
            <a:fillRect/>
          </a:stretch>
        </p:blipFill>
        <p:spPr>
          <a:xfrm>
            <a:off x="647700" y="5676900"/>
            <a:ext cx="838200" cy="774700"/>
          </a:xfrm>
          <a:prstGeom prst="rect">
            <a:avLst/>
          </a:prstGeom>
          <a:noFill/>
          <a:ln w="9525">
            <a:noFill/>
          </a:ln>
        </p:spPr>
      </p:pic>
      <p:sp>
        <p:nvSpPr>
          <p:cNvPr id="15" name="矩形 14"/>
          <p:cNvSpPr/>
          <p:nvPr/>
        </p:nvSpPr>
        <p:spPr>
          <a:xfrm>
            <a:off x="1866900" y="6057900"/>
            <a:ext cx="6705600" cy="457200"/>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400" b="1" baseline="0" dirty="0">
                <a:latin typeface="黑体" panose="02010609060101010101" pitchFamily="49" charset="-122"/>
                <a:ea typeface="黑体" panose="02010609060101010101" pitchFamily="49" charset="-122"/>
              </a:rPr>
              <a:t>如何获得描述外不可逆性的外部熵产？ </a:t>
            </a:r>
            <a:endParaRPr lang="zh-CN" altLang="en-US" sz="2400" b="1" baseline="0" dirty="0">
              <a:latin typeface="黑体" panose="02010609060101010101" pitchFamily="49" charset="-122"/>
              <a:ea typeface="黑体" panose="02010609060101010101" pitchFamily="49" charset="-122"/>
            </a:endParaRPr>
          </a:p>
        </p:txBody>
      </p:sp>
      <p:sp>
        <p:nvSpPr>
          <p:cNvPr id="16" name="文本框 588805"/>
          <p:cNvSpPr txBox="1"/>
          <p:nvPr/>
        </p:nvSpPr>
        <p:spPr>
          <a:xfrm>
            <a:off x="506895" y="363263"/>
            <a:ext cx="8882270" cy="461665"/>
          </a:xfrm>
          <a:prstGeom prst="rect">
            <a:avLst/>
          </a:prstGeom>
          <a:noFill/>
          <a:ln w="9525">
            <a:noFill/>
          </a:ln>
        </p:spPr>
        <p:txBody>
          <a:bodyPr wrap="square" anchor="t">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400" b="1" baseline="0" dirty="0">
                <a:solidFill>
                  <a:srgbClr val="000000"/>
                </a:solidFill>
                <a:latin typeface="黑体" panose="02010609060101010101" pitchFamily="49" charset="-122"/>
                <a:ea typeface="黑体" panose="02010609060101010101" pitchFamily="49" charset="-122"/>
              </a:rPr>
              <a:t>系统熵的变化</a:t>
            </a:r>
            <a:r>
              <a:rPr lang="en-US" altLang="zh-CN" sz="2400" b="1" baseline="0" dirty="0" smtClean="0">
                <a:solidFill>
                  <a:srgbClr val="000000"/>
                </a:solidFill>
                <a:latin typeface="黑体" panose="02010609060101010101" pitchFamily="49" charset="-122"/>
                <a:ea typeface="黑体" panose="02010609060101010101" pitchFamily="49" charset="-122"/>
              </a:rPr>
              <a:t>=</a:t>
            </a:r>
            <a:r>
              <a:rPr lang="zh-CN" altLang="en-US" sz="2400" b="1" baseline="0" dirty="0" smtClean="0">
                <a:solidFill>
                  <a:srgbClr val="000000"/>
                </a:solidFill>
                <a:latin typeface="黑体" panose="02010609060101010101" pitchFamily="49" charset="-122"/>
                <a:ea typeface="黑体" panose="02010609060101010101" pitchFamily="49" charset="-122"/>
              </a:rPr>
              <a:t>进入</a:t>
            </a:r>
            <a:r>
              <a:rPr lang="zh-CN" altLang="en-US" sz="2400" b="1" baseline="0" dirty="0">
                <a:solidFill>
                  <a:srgbClr val="000000"/>
                </a:solidFill>
                <a:latin typeface="黑体" panose="02010609060101010101" pitchFamily="49" charset="-122"/>
                <a:ea typeface="黑体" panose="02010609060101010101" pitchFamily="49" charset="-122"/>
              </a:rPr>
              <a:t>系统的熵量 </a:t>
            </a:r>
            <a:r>
              <a:rPr lang="en-US" altLang="zh-CN" sz="2400" b="1" baseline="0" dirty="0">
                <a:solidFill>
                  <a:srgbClr val="000000"/>
                </a:solidFill>
                <a:latin typeface="黑体" panose="02010609060101010101" pitchFamily="49" charset="-122"/>
                <a:ea typeface="黑体" panose="02010609060101010101" pitchFamily="49" charset="-122"/>
              </a:rPr>
              <a:t>- </a:t>
            </a:r>
            <a:r>
              <a:rPr lang="zh-CN" altLang="en-US" sz="2400" b="1" baseline="0" dirty="0">
                <a:solidFill>
                  <a:srgbClr val="000000"/>
                </a:solidFill>
                <a:latin typeface="黑体" panose="02010609060101010101" pitchFamily="49" charset="-122"/>
                <a:ea typeface="黑体" panose="02010609060101010101" pitchFamily="49" charset="-122"/>
              </a:rPr>
              <a:t>离开系统的熵量 </a:t>
            </a:r>
            <a:r>
              <a:rPr lang="en-US" altLang="zh-CN" sz="2400" b="1" baseline="0" dirty="0">
                <a:solidFill>
                  <a:srgbClr val="000000"/>
                </a:solidFill>
                <a:latin typeface="黑体" panose="02010609060101010101" pitchFamily="49" charset="-122"/>
                <a:ea typeface="黑体" panose="02010609060101010101" pitchFamily="49" charset="-122"/>
              </a:rPr>
              <a:t>+ </a:t>
            </a:r>
            <a:r>
              <a:rPr lang="zh-CN" altLang="en-US" sz="2400" b="1" baseline="0" dirty="0">
                <a:solidFill>
                  <a:srgbClr val="000000"/>
                </a:solidFill>
                <a:latin typeface="黑体" panose="02010609060101010101" pitchFamily="49" charset="-122"/>
                <a:ea typeface="黑体" panose="02010609060101010101" pitchFamily="49" charset="-122"/>
              </a:rPr>
              <a:t>熵</a:t>
            </a:r>
            <a:r>
              <a:rPr lang="zh-CN" altLang="en-US" sz="2400" b="1" baseline="0" dirty="0" smtClean="0">
                <a:solidFill>
                  <a:srgbClr val="000000"/>
                </a:solidFill>
                <a:latin typeface="黑体" panose="02010609060101010101" pitchFamily="49" charset="-122"/>
                <a:ea typeface="黑体" panose="02010609060101010101" pitchFamily="49" charset="-122"/>
              </a:rPr>
              <a:t>产</a:t>
            </a:r>
            <a:r>
              <a:rPr lang="en-US" altLang="zh-CN" sz="2400" b="1" i="1" dirty="0" err="1" smtClean="0">
                <a:latin typeface="Times New Roman" panose="02020603050405020304" pitchFamily="18" charset="0"/>
                <a:ea typeface="黑体" panose="02010609060101010101" pitchFamily="49" charset="-122"/>
              </a:rPr>
              <a:t>S</a:t>
            </a:r>
            <a:r>
              <a:rPr lang="en-US" altLang="zh-CN" sz="2400" b="1" baseline="-25000" dirty="0" err="1" smtClean="0">
                <a:latin typeface="Times New Roman" panose="02020603050405020304" pitchFamily="18" charset="0"/>
                <a:ea typeface="黑体" panose="02010609060101010101" pitchFamily="49" charset="-122"/>
              </a:rPr>
              <a:t>g,in</a:t>
            </a:r>
            <a:endParaRPr lang="zh-CN" altLang="en-US" sz="2400" b="1" baseline="0" dirty="0">
              <a:latin typeface="黑体" panose="02010609060101010101" pitchFamily="49" charset="-122"/>
              <a:ea typeface="黑体" panose="02010609060101010101" pitchFamily="49" charset="-122"/>
            </a:endParaRPr>
          </a:p>
        </p:txBody>
      </p:sp>
      <p:sp>
        <p:nvSpPr>
          <p:cNvPr id="4" name="矩形 3"/>
          <p:cNvSpPr/>
          <p:nvPr/>
        </p:nvSpPr>
        <p:spPr>
          <a:xfrm>
            <a:off x="4805934" y="3604847"/>
            <a:ext cx="2773425" cy="707886"/>
          </a:xfrm>
          <a:prstGeom prst="rect">
            <a:avLst/>
          </a:prstGeom>
        </p:spPr>
        <p:txBody>
          <a:bodyPr wrap="square">
            <a:spAutoFit/>
          </a:bodyPr>
          <a:lstStyle/>
          <a:p>
            <a:pPr lvl="0"/>
            <a:r>
              <a:rPr lang="zh-CN" altLang="en-US" sz="2000" b="1" dirty="0" smtClean="0">
                <a:solidFill>
                  <a:srgbClr val="0000CC"/>
                </a:solidFill>
                <a:latin typeface="黑体" panose="02010609060101010101" pitchFamily="49" charset="-122"/>
                <a:ea typeface="黑体" panose="02010609060101010101" pitchFamily="49" charset="-122"/>
              </a:rPr>
              <a:t>热源和系统之间的有限温差传热引起外部</a:t>
            </a:r>
            <a:r>
              <a:rPr lang="zh-CN" altLang="en-US" sz="2000" b="1" dirty="0">
                <a:solidFill>
                  <a:srgbClr val="0000CC"/>
                </a:solidFill>
                <a:latin typeface="黑体" panose="02010609060101010101" pitchFamily="49" charset="-122"/>
                <a:ea typeface="黑体" panose="02010609060101010101" pitchFamily="49" charset="-122"/>
              </a:rPr>
              <a:t>熵产</a:t>
            </a:r>
            <a:r>
              <a:rPr lang="zh-CN" altLang="en-US" sz="2000" b="1" dirty="0">
                <a:solidFill>
                  <a:prstClr val="black"/>
                </a:solidFill>
                <a:latin typeface="黑体" panose="02010609060101010101" pitchFamily="49" charset="-122"/>
                <a:ea typeface="黑体" panose="02010609060101010101" pitchFamily="49" charset="-122"/>
              </a:rPr>
              <a:t> </a:t>
            </a:r>
            <a:endParaRPr lang="zh-CN" altLang="en-US" sz="2000" b="1" dirty="0">
              <a:solidFill>
                <a:prstClr val="black"/>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396292"/>
          <p:cNvSpPr>
            <a:spLocks noChangeArrowheads="1"/>
          </p:cNvSpPr>
          <p:nvPr/>
        </p:nvSpPr>
        <p:spPr bwMode="auto">
          <a:xfrm>
            <a:off x="457200" y="296258"/>
            <a:ext cx="8229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latin typeface="黑体" panose="02010609060101010101" pitchFamily="49" charset="-122"/>
                <a:ea typeface="黑体" panose="02010609060101010101" pitchFamily="49" charset="-122"/>
              </a:rPr>
              <a:t>为了获得某热力过程的总熵产（</a:t>
            </a:r>
            <a:r>
              <a:rPr lang="zh-CN" altLang="en-US" sz="2400" b="1" baseline="0" dirty="0">
                <a:solidFill>
                  <a:srgbClr val="FF0000"/>
                </a:solidFill>
                <a:latin typeface="黑体" panose="02010609060101010101" pitchFamily="49" charset="-122"/>
                <a:ea typeface="黑体" panose="02010609060101010101" pitchFamily="49" charset="-122"/>
              </a:rPr>
              <a:t>包括内部和外部熵产</a:t>
            </a:r>
            <a:r>
              <a:rPr lang="zh-CN" altLang="en-US" sz="2400" b="1" baseline="0" dirty="0">
                <a:latin typeface="黑体" panose="02010609060101010101" pitchFamily="49" charset="-122"/>
                <a:ea typeface="黑体" panose="02010609060101010101" pitchFamily="49" charset="-122"/>
              </a:rPr>
              <a:t>），可将熵平衡方程用于</a:t>
            </a:r>
            <a:r>
              <a:rPr lang="zh-CN" altLang="en-US" sz="2400" b="1" baseline="0" dirty="0">
                <a:solidFill>
                  <a:srgbClr val="FF0000"/>
                </a:solidFill>
                <a:latin typeface="黑体" panose="02010609060101010101" pitchFamily="49" charset="-122"/>
                <a:ea typeface="黑体" panose="02010609060101010101" pitchFamily="49" charset="-122"/>
              </a:rPr>
              <a:t>扩展系统</a:t>
            </a:r>
            <a:r>
              <a:rPr lang="zh-CN" altLang="en-US" sz="2400" b="1" baseline="0" dirty="0">
                <a:latin typeface="黑体" panose="02010609060101010101" pitchFamily="49" charset="-122"/>
                <a:ea typeface="黑体" panose="02010609060101010101" pitchFamily="49" charset="-122"/>
              </a:rPr>
              <a:t>（</a:t>
            </a:r>
            <a:r>
              <a:rPr lang="en-US" altLang="zh-CN" sz="2400" b="1" baseline="0" dirty="0">
                <a:latin typeface="Times New Roman" panose="02020603050405020304" pitchFamily="18" charset="0"/>
                <a:ea typeface="黑体" panose="02010609060101010101" pitchFamily="49" charset="-122"/>
                <a:cs typeface="Times New Roman" panose="02020603050405020304" pitchFamily="18" charset="0"/>
              </a:rPr>
              <a:t>extended system</a:t>
            </a:r>
            <a:r>
              <a:rPr lang="zh-CN" altLang="en-US" sz="2400" b="1" baseline="0" dirty="0">
                <a:latin typeface="黑体" panose="02010609060101010101" pitchFamily="49" charset="-122"/>
                <a:ea typeface="黑体" panose="02010609060101010101" pitchFamily="49" charset="-122"/>
              </a:rPr>
              <a:t>）</a:t>
            </a:r>
            <a:r>
              <a:rPr lang="en-US" altLang="zh-CN" sz="2400" b="1" baseline="0" dirty="0">
                <a:latin typeface="黑体" panose="02010609060101010101" pitchFamily="49" charset="-122"/>
                <a:ea typeface="黑体" panose="02010609060101010101" pitchFamily="49" charset="-122"/>
              </a:rPr>
              <a:t>——</a:t>
            </a:r>
            <a:r>
              <a:rPr lang="zh-CN" altLang="en-US" sz="2400" b="1" baseline="0" dirty="0">
                <a:solidFill>
                  <a:srgbClr val="FF0000"/>
                </a:solidFill>
                <a:latin typeface="黑体" panose="02010609060101010101" pitchFamily="49" charset="-122"/>
                <a:ea typeface="黑体" panose="02010609060101010101" pitchFamily="49" charset="-122"/>
              </a:rPr>
              <a:t>包括热力系统本身以及与该热力系有相互作用的部分外界</a:t>
            </a:r>
            <a:r>
              <a:rPr lang="zh-CN" altLang="en-US" sz="2400" b="1" baseline="0" dirty="0">
                <a:latin typeface="黑体" panose="02010609060101010101" pitchFamily="49" charset="-122"/>
                <a:ea typeface="黑体" panose="02010609060101010101" pitchFamily="49" charset="-122"/>
              </a:rPr>
              <a:t>。</a:t>
            </a:r>
            <a:endParaRPr lang="zh-CN" altLang="en-US" sz="2400" b="1" baseline="0" dirty="0">
              <a:latin typeface="黑体" panose="02010609060101010101" pitchFamily="49" charset="-122"/>
              <a:ea typeface="黑体" panose="02010609060101010101" pitchFamily="49" charset="-122"/>
            </a:endParaRPr>
          </a:p>
          <a:p>
            <a:r>
              <a:rPr lang="zh-CN" altLang="en-US" sz="2400" b="1" baseline="0" dirty="0">
                <a:latin typeface="黑体" panose="02010609060101010101" pitchFamily="49" charset="-122"/>
                <a:ea typeface="黑体" panose="02010609060101010101" pitchFamily="49" charset="-122"/>
              </a:rPr>
              <a:t>目的：把外部的不可逆性包括在扩展系统之中。</a:t>
            </a:r>
            <a:endParaRPr lang="zh-CN" altLang="en-US" sz="2400" b="1" baseline="0" dirty="0">
              <a:latin typeface="黑体" panose="02010609060101010101" pitchFamily="49" charset="-122"/>
              <a:ea typeface="黑体" panose="02010609060101010101" pitchFamily="49" charset="-122"/>
            </a:endParaRPr>
          </a:p>
        </p:txBody>
      </p:sp>
      <p:sp>
        <p:nvSpPr>
          <p:cNvPr id="75778" name="矩形 396294"/>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1" name="矩形 396297"/>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7" name="图片 6"/>
          <p:cNvPicPr>
            <a:picLocks noChangeAspect="1"/>
          </p:cNvPicPr>
          <p:nvPr/>
        </p:nvPicPr>
        <p:blipFill>
          <a:blip r:embed="rId1"/>
          <a:stretch>
            <a:fillRect/>
          </a:stretch>
        </p:blipFill>
        <p:spPr>
          <a:xfrm>
            <a:off x="313365" y="2633985"/>
            <a:ext cx="2508379" cy="2482978"/>
          </a:xfrm>
          <a:prstGeom prst="rect">
            <a:avLst/>
          </a:prstGeom>
        </p:spPr>
      </p:pic>
      <p:pic>
        <p:nvPicPr>
          <p:cNvPr id="8" name="图片 7"/>
          <p:cNvPicPr>
            <a:picLocks noChangeAspect="1"/>
          </p:cNvPicPr>
          <p:nvPr/>
        </p:nvPicPr>
        <p:blipFill>
          <a:blip r:embed="rId2"/>
          <a:stretch>
            <a:fillRect/>
          </a:stretch>
        </p:blipFill>
        <p:spPr>
          <a:xfrm>
            <a:off x="2086184" y="2495550"/>
            <a:ext cx="4432528" cy="2648086"/>
          </a:xfrm>
          <a:prstGeom prst="rect">
            <a:avLst/>
          </a:prstGeom>
        </p:spPr>
      </p:pic>
      <p:sp>
        <p:nvSpPr>
          <p:cNvPr id="9" name="矩形 8"/>
          <p:cNvSpPr/>
          <p:nvPr/>
        </p:nvSpPr>
        <p:spPr>
          <a:xfrm>
            <a:off x="211769" y="2444607"/>
            <a:ext cx="1772818" cy="2749973"/>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611700" y="5111880"/>
            <a:ext cx="1008609" cy="584775"/>
          </a:xfrm>
          <a:prstGeom prst="rect">
            <a:avLst/>
          </a:prstGeom>
        </p:spPr>
        <p:txBody>
          <a:bodyPr wrap="none">
            <a:spAutoFit/>
          </a:bodyPr>
          <a:lstStyle/>
          <a:p>
            <a:r>
              <a:rPr lang="zh-CN" altLang="en-US" sz="3200" b="1" dirty="0" smtClean="0">
                <a:solidFill>
                  <a:srgbClr val="FF0000"/>
                </a:solidFill>
                <a:latin typeface="黑体" panose="02010609060101010101" pitchFamily="49" charset="-122"/>
                <a:ea typeface="黑体" panose="02010609060101010101" pitchFamily="49" charset="-122"/>
              </a:rPr>
              <a:t>或者</a:t>
            </a:r>
            <a:endParaRPr lang="zh-CN" altLang="en-US" sz="3200" dirty="0"/>
          </a:p>
        </p:txBody>
      </p:sp>
      <p:pic>
        <p:nvPicPr>
          <p:cNvPr id="11" name="图片 10"/>
          <p:cNvPicPr>
            <a:picLocks noChangeAspect="1"/>
          </p:cNvPicPr>
          <p:nvPr/>
        </p:nvPicPr>
        <p:blipFill>
          <a:blip r:embed="rId3"/>
          <a:stretch>
            <a:fillRect/>
          </a:stretch>
        </p:blipFill>
        <p:spPr>
          <a:xfrm>
            <a:off x="5400113" y="2533650"/>
            <a:ext cx="4369025" cy="2540131"/>
          </a:xfrm>
          <a:prstGeom prst="rect">
            <a:avLst/>
          </a:prstGeom>
        </p:spPr>
      </p:pic>
    </p:spTree>
    <p:custDataLst>
      <p:tags r:id="rId4"/>
    </p:custDataLst>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513025"/>
          <p:cNvSpPr>
            <a:spLocks noGrp="1" noChangeArrowheads="1"/>
          </p:cNvSpPr>
          <p:nvPr>
            <p:ph type="title" idx="4294967295"/>
          </p:nvPr>
        </p:nvSpPr>
        <p:spPr>
          <a:xfrm>
            <a:off x="304800" y="173831"/>
            <a:ext cx="8229600" cy="1143000"/>
          </a:xfrm>
        </p:spPr>
        <p:txBody>
          <a:bodyPr/>
          <a:lstStyle/>
          <a:p>
            <a:r>
              <a:rPr lang="zh-CN" altLang="en-US" b="1" dirty="0" smtClean="0">
                <a:latin typeface="黑体" panose="02010609060101010101" pitchFamily="49" charset="-122"/>
                <a:ea typeface="黑体" panose="02010609060101010101" pitchFamily="49" charset="-122"/>
              </a:rPr>
              <a:t>二、闭口系的熵平衡方程</a:t>
            </a:r>
            <a:endParaRPr lang="zh-CN" altLang="en-US" b="1" dirty="0" smtClean="0">
              <a:latin typeface="黑体" panose="02010609060101010101" pitchFamily="49" charset="-122"/>
              <a:ea typeface="黑体" panose="02010609060101010101" pitchFamily="49" charset="-122"/>
            </a:endParaRPr>
          </a:p>
        </p:txBody>
      </p:sp>
      <p:sp>
        <p:nvSpPr>
          <p:cNvPr id="76802" name="矩形 51302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6803" name="对象 513027"/>
          <p:cNvGraphicFramePr>
            <a:graphicFrameLocks noChangeAspect="1"/>
          </p:cNvGraphicFramePr>
          <p:nvPr/>
        </p:nvGraphicFramePr>
        <p:xfrm>
          <a:off x="2768600" y="1447800"/>
          <a:ext cx="3164112" cy="675360"/>
        </p:xfrm>
        <a:graphic>
          <a:graphicData uri="http://schemas.openxmlformats.org/presentationml/2006/ole">
            <mc:AlternateContent xmlns:mc="http://schemas.openxmlformats.org/markup-compatibility/2006">
              <mc:Choice xmlns:v="urn:schemas-microsoft-com:vml" Requires="v">
                <p:oleObj spid="_x0000_s85078" name="" r:id="rId1" imgW="1130300" imgH="241300" progId="Equation.DSMT4">
                  <p:embed/>
                </p:oleObj>
              </mc:Choice>
              <mc:Fallback>
                <p:oleObj name="" r:id="rId1" imgW="1130300" imgH="241300" progId="Equation.DSMT4">
                  <p:embed/>
                  <p:pic>
                    <p:nvPicPr>
                      <p:cNvPr id="0" name="对象 5130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600" y="1447800"/>
                        <a:ext cx="3164112" cy="67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04" name="对象 513029"/>
          <p:cNvGraphicFramePr>
            <a:graphicFrameLocks noChangeAspect="1"/>
          </p:cNvGraphicFramePr>
          <p:nvPr/>
        </p:nvGraphicFramePr>
        <p:xfrm>
          <a:off x="2647950" y="3047999"/>
          <a:ext cx="3448368" cy="1101744"/>
        </p:xfrm>
        <a:graphic>
          <a:graphicData uri="http://schemas.openxmlformats.org/presentationml/2006/ole">
            <mc:AlternateContent xmlns:mc="http://schemas.openxmlformats.org/markup-compatibility/2006">
              <mc:Choice xmlns:v="urn:schemas-microsoft-com:vml" Requires="v">
                <p:oleObj spid="_x0000_s85079" name="" r:id="rId3" imgW="1231265" imgH="393700" progId="Equation.DSMT4">
                  <p:embed/>
                </p:oleObj>
              </mc:Choice>
              <mc:Fallback>
                <p:oleObj name="" r:id="rId3" imgW="1231265" imgH="393700" progId="Equation.DSMT4">
                  <p:embed/>
                  <p:pic>
                    <p:nvPicPr>
                      <p:cNvPr id="0" name="对象 5130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7950" y="3047999"/>
                        <a:ext cx="3448368" cy="110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05" name="对象 513032"/>
          <p:cNvGraphicFramePr>
            <a:graphicFrameLocks noChangeAspect="1"/>
          </p:cNvGraphicFramePr>
          <p:nvPr/>
        </p:nvGraphicFramePr>
        <p:xfrm>
          <a:off x="3717925" y="4572000"/>
          <a:ext cx="2524032" cy="1101744"/>
        </p:xfrm>
        <a:graphic>
          <a:graphicData uri="http://schemas.openxmlformats.org/presentationml/2006/ole">
            <mc:AlternateContent xmlns:mc="http://schemas.openxmlformats.org/markup-compatibility/2006">
              <mc:Choice xmlns:v="urn:schemas-microsoft-com:vml" Requires="v">
                <p:oleObj spid="_x0000_s85080" name="" r:id="rId5" imgW="901700" imgH="393700" progId="Equation.DSMT4">
                  <p:embed/>
                </p:oleObj>
              </mc:Choice>
              <mc:Fallback>
                <p:oleObj name="" r:id="rId5" imgW="901700" imgH="393700" progId="Equation.DSMT4">
                  <p:embed/>
                  <p:pic>
                    <p:nvPicPr>
                      <p:cNvPr id="0" name="对象 51303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7925" y="4572000"/>
                        <a:ext cx="2524032" cy="110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06" name="矩形 513034"/>
          <p:cNvSpPr>
            <a:spLocks noChangeArrowheads="1"/>
          </p:cNvSpPr>
          <p:nvPr/>
        </p:nvSpPr>
        <p:spPr bwMode="auto">
          <a:xfrm>
            <a:off x="1143000" y="4724400"/>
            <a:ext cx="213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微分形式 </a:t>
            </a:r>
            <a:endParaRPr lang="zh-CN" altLang="en-US" sz="3200" b="1" baseline="0" dirty="0">
              <a:latin typeface="黑体" panose="02010609060101010101" pitchFamily="49" charset="-122"/>
              <a:ea typeface="黑体" panose="02010609060101010101" pitchFamily="49" charset="-122"/>
            </a:endParaRPr>
          </a:p>
        </p:txBody>
      </p:sp>
      <p:sp>
        <p:nvSpPr>
          <p:cNvPr id="76807" name="下箭头 513035"/>
          <p:cNvSpPr>
            <a:spLocks noChangeArrowheads="1"/>
          </p:cNvSpPr>
          <p:nvPr/>
        </p:nvSpPr>
        <p:spPr bwMode="auto">
          <a:xfrm>
            <a:off x="4114800" y="2209800"/>
            <a:ext cx="304800" cy="685800"/>
          </a:xfrm>
          <a:prstGeom prst="downArrow">
            <a:avLst>
              <a:gd name="adj1" fmla="val 50000"/>
              <a:gd name="adj2" fmla="val 56250"/>
            </a:avLst>
          </a:prstGeom>
          <a:solidFill>
            <a:schemeClr val="accent1"/>
          </a:solidFill>
          <a:ln w="9525">
            <a:solidFill>
              <a:schemeClr val="tx1"/>
            </a:solidFill>
            <a:miter lim="800000"/>
          </a:ln>
        </p:spPr>
        <p:txBody>
          <a:bodyPr/>
          <a:lstStyle/>
          <a:p>
            <a:endParaRPr lang="zh-CN" altLang="en-US"/>
          </a:p>
        </p:txBody>
      </p:sp>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514052"/>
          <p:cNvSpPr>
            <a:spLocks noChangeArrowheads="1"/>
          </p:cNvSpPr>
          <p:nvPr/>
        </p:nvSpPr>
        <p:spPr bwMode="auto">
          <a:xfrm>
            <a:off x="0" y="2409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7" name="矩形 514054"/>
          <p:cNvSpPr>
            <a:spLocks noChangeArrowheads="1"/>
          </p:cNvSpPr>
          <p:nvPr/>
        </p:nvSpPr>
        <p:spPr bwMode="auto">
          <a:xfrm>
            <a:off x="914400" y="5023991"/>
            <a:ext cx="706913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b="1" baseline="0" dirty="0">
                <a:latin typeface="黑体" panose="02010609060101010101" pitchFamily="49" charset="-122"/>
                <a:ea typeface="黑体" panose="02010609060101010101" pitchFamily="49" charset="-122"/>
              </a:rPr>
              <a:t>系统吸热，热量为</a:t>
            </a:r>
            <a:r>
              <a:rPr lang="zh-CN" altLang="en-US" sz="3200" b="1" baseline="0" dirty="0" smtClean="0">
                <a:latin typeface="黑体" panose="02010609060101010101" pitchFamily="49" charset="-122"/>
                <a:ea typeface="黑体" panose="02010609060101010101" pitchFamily="49" charset="-122"/>
              </a:rPr>
              <a:t>正</a:t>
            </a:r>
            <a:r>
              <a:rPr lang="zh-CN" altLang="en-US" sz="3200" b="1" dirty="0" smtClean="0">
                <a:latin typeface="黑体" panose="02010609060101010101" pitchFamily="49" charset="-122"/>
                <a:ea typeface="黑体" panose="02010609060101010101" pitchFamily="49" charset="-122"/>
              </a:rPr>
              <a:t>，热熵流为正</a:t>
            </a:r>
            <a:r>
              <a:rPr lang="zh-CN" altLang="en-US" sz="3200" b="1" baseline="0" dirty="0" smtClean="0">
                <a:latin typeface="黑体" panose="02010609060101010101" pitchFamily="49" charset="-122"/>
                <a:ea typeface="黑体" panose="02010609060101010101" pitchFamily="49" charset="-122"/>
              </a:rPr>
              <a:t>；</a:t>
            </a:r>
            <a:endParaRPr lang="zh-CN" altLang="en-US" sz="3200" b="1" baseline="0" dirty="0">
              <a:latin typeface="黑体" panose="02010609060101010101" pitchFamily="49" charset="-122"/>
              <a:ea typeface="黑体" panose="02010609060101010101" pitchFamily="49" charset="-122"/>
            </a:endParaRPr>
          </a:p>
          <a:p>
            <a:r>
              <a:rPr lang="zh-CN" altLang="en-US" sz="3200" b="1" baseline="0" dirty="0">
                <a:latin typeface="黑体" panose="02010609060101010101" pitchFamily="49" charset="-122"/>
                <a:ea typeface="黑体" panose="02010609060101010101" pitchFamily="49" charset="-122"/>
              </a:rPr>
              <a:t>系统放热，热量为</a:t>
            </a:r>
            <a:r>
              <a:rPr lang="zh-CN" altLang="en-US" sz="3200" b="1" baseline="0" dirty="0" smtClean="0">
                <a:latin typeface="黑体" panose="02010609060101010101" pitchFamily="49" charset="-122"/>
                <a:ea typeface="黑体" panose="02010609060101010101" pitchFamily="49" charset="-122"/>
              </a:rPr>
              <a:t>负，热熵流为负</a:t>
            </a:r>
            <a:endParaRPr lang="zh-CN" altLang="en-US" sz="3200" b="1" baseline="0" dirty="0">
              <a:latin typeface="黑体" panose="02010609060101010101" pitchFamily="49" charset="-122"/>
              <a:ea typeface="黑体" panose="02010609060101010101" pitchFamily="49" charset="-122"/>
            </a:endParaRPr>
          </a:p>
        </p:txBody>
      </p:sp>
      <p:sp>
        <p:nvSpPr>
          <p:cNvPr id="77828" name="矩形 51405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2694" y="386783"/>
            <a:ext cx="7992549" cy="4176122"/>
          </a:xfrm>
          <a:prstGeom prst="rect">
            <a:avLst/>
          </a:prstGeom>
        </p:spPr>
      </p:pic>
    </p:spTree>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49" name="对象 515075"/>
          <p:cNvGraphicFramePr/>
          <p:nvPr/>
        </p:nvGraphicFramePr>
        <p:xfrm>
          <a:off x="1884363" y="990600"/>
          <a:ext cx="4765675" cy="1025525"/>
        </p:xfrm>
        <a:graphic>
          <a:graphicData uri="http://schemas.openxmlformats.org/presentationml/2006/ole">
            <mc:AlternateContent xmlns:mc="http://schemas.openxmlformats.org/markup-compatibility/2006">
              <mc:Choice xmlns:v="urn:schemas-microsoft-com:vml" Requires="v">
                <p:oleObj spid="_x0000_s87098" name="" r:id="rId1" imgW="1816100" imgH="393700" progId="Equation.DSMT4">
                  <p:embed/>
                </p:oleObj>
              </mc:Choice>
              <mc:Fallback>
                <p:oleObj name="" r:id="rId1" imgW="1816100" imgH="393700" progId="Equation.DSMT4">
                  <p:embed/>
                  <p:pic>
                    <p:nvPicPr>
                      <p:cNvPr id="0" name="对象 51507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4363" y="990600"/>
                        <a:ext cx="476567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8850" name="对象 515076"/>
          <p:cNvGraphicFramePr/>
          <p:nvPr/>
        </p:nvGraphicFramePr>
        <p:xfrm>
          <a:off x="2971800" y="2971800"/>
          <a:ext cx="2514600" cy="1030288"/>
        </p:xfrm>
        <a:graphic>
          <a:graphicData uri="http://schemas.openxmlformats.org/presentationml/2006/ole">
            <mc:AlternateContent xmlns:mc="http://schemas.openxmlformats.org/markup-compatibility/2006">
              <mc:Choice xmlns:v="urn:schemas-microsoft-com:vml" Requires="v">
                <p:oleObj spid="_x0000_s87099" name="" r:id="rId3" imgW="951865" imgH="393700" progId="Equation.DSMT4">
                  <p:embed/>
                </p:oleObj>
              </mc:Choice>
              <mc:Fallback>
                <p:oleObj name="" r:id="rId3" imgW="951865" imgH="393700" progId="Equation.DSMT4">
                  <p:embed/>
                  <p:pic>
                    <p:nvPicPr>
                      <p:cNvPr id="0" name="对象 51507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971800"/>
                        <a:ext cx="25146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8851" name="矩形 515077"/>
          <p:cNvSpPr>
            <a:spLocks noChangeArrowheads="1"/>
          </p:cNvSpPr>
          <p:nvPr/>
        </p:nvSpPr>
        <p:spPr bwMode="auto">
          <a:xfrm>
            <a:off x="762000" y="457200"/>
            <a:ext cx="419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熵平衡方程 </a:t>
            </a:r>
            <a:endParaRPr lang="zh-CN" altLang="en-US" sz="3200" b="1" baseline="0" dirty="0">
              <a:latin typeface="黑体" panose="02010609060101010101" pitchFamily="49" charset="-122"/>
              <a:ea typeface="黑体" panose="02010609060101010101" pitchFamily="49" charset="-122"/>
            </a:endParaRPr>
          </a:p>
        </p:txBody>
      </p:sp>
      <p:sp>
        <p:nvSpPr>
          <p:cNvPr id="78852" name="矩形 515078"/>
          <p:cNvSpPr>
            <a:spLocks noChangeArrowheads="1"/>
          </p:cNvSpPr>
          <p:nvPr/>
        </p:nvSpPr>
        <p:spPr bwMode="auto">
          <a:xfrm>
            <a:off x="685800" y="2286000"/>
            <a:ext cx="7086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与热力学第二定律的数学表达式</a:t>
            </a:r>
            <a:endParaRPr lang="zh-CN" altLang="en-US" sz="3200" b="1" baseline="0" dirty="0">
              <a:latin typeface="黑体" panose="02010609060101010101" pitchFamily="49" charset="-122"/>
              <a:ea typeface="黑体" panose="02010609060101010101" pitchFamily="49" charset="-122"/>
            </a:endParaRPr>
          </a:p>
        </p:txBody>
      </p:sp>
      <p:sp>
        <p:nvSpPr>
          <p:cNvPr id="78853" name="矩形 515079"/>
          <p:cNvSpPr>
            <a:spLocks noChangeArrowheads="1"/>
          </p:cNvSpPr>
          <p:nvPr/>
        </p:nvSpPr>
        <p:spPr bwMode="auto">
          <a:xfrm>
            <a:off x="762000" y="4114800"/>
            <a:ext cx="8077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是一致的，后者不等号两边相减，并将差值表示为熵产，即可得前者</a:t>
            </a:r>
            <a:endParaRPr lang="zh-CN" altLang="en-US" sz="3200" b="1" baseline="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矩形 516099"/>
          <p:cNvSpPr>
            <a:spLocks noChangeArrowheads="1"/>
          </p:cNvSpPr>
          <p:nvPr/>
        </p:nvSpPr>
        <p:spPr bwMode="auto">
          <a:xfrm>
            <a:off x="473765" y="289961"/>
            <a:ext cx="8196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b="1" baseline="0" dirty="0">
                <a:solidFill>
                  <a:srgbClr val="FF0000"/>
                </a:solidFill>
                <a:latin typeface="黑体" panose="02010609060101010101" pitchFamily="49" charset="-122"/>
                <a:ea typeface="黑体" panose="02010609060101010101" pitchFamily="49" charset="-122"/>
              </a:rPr>
              <a:t>熵增</a:t>
            </a:r>
            <a:r>
              <a:rPr lang="zh-CN" altLang="en-US" sz="3200" b="1" baseline="0" dirty="0">
                <a:latin typeface="黑体" panose="02010609060101010101" pitchFamily="49" charset="-122"/>
                <a:ea typeface="黑体" panose="02010609060101010101" pitchFamily="49" charset="-122"/>
              </a:rPr>
              <a:t>和</a:t>
            </a:r>
            <a:r>
              <a:rPr lang="zh-CN" altLang="en-US" sz="3200" b="1" baseline="0" dirty="0">
                <a:solidFill>
                  <a:srgbClr val="FF0000"/>
                </a:solidFill>
                <a:latin typeface="黑体" panose="02010609060101010101" pitchFamily="49" charset="-122"/>
                <a:ea typeface="黑体" panose="02010609060101010101" pitchFamily="49" charset="-122"/>
              </a:rPr>
              <a:t>熵</a:t>
            </a:r>
            <a:r>
              <a:rPr lang="zh-CN" altLang="en-US" sz="3200" b="1" baseline="0" dirty="0" smtClean="0">
                <a:solidFill>
                  <a:srgbClr val="FF0000"/>
                </a:solidFill>
                <a:latin typeface="黑体" panose="02010609060101010101" pitchFamily="49" charset="-122"/>
                <a:ea typeface="黑体" panose="02010609060101010101" pitchFamily="49" charset="-122"/>
              </a:rPr>
              <a:t>产</a:t>
            </a:r>
            <a:r>
              <a:rPr lang="zh-CN" altLang="en-US" sz="3200" b="1" baseline="0" dirty="0" smtClean="0">
                <a:latin typeface="黑体" panose="02010609060101010101" pitchFamily="49" charset="-122"/>
                <a:ea typeface="黑体" panose="02010609060101010101" pitchFamily="49" charset="-122"/>
              </a:rPr>
              <a:t>是两个不同的概念，不可混淆</a:t>
            </a:r>
            <a:endParaRPr lang="zh-CN" altLang="en-US" sz="3200" b="1" baseline="0" dirty="0">
              <a:latin typeface="黑体" panose="02010609060101010101" pitchFamily="49" charset="-122"/>
              <a:ea typeface="黑体" panose="02010609060101010101" pitchFamily="49" charset="-122"/>
            </a:endParaRPr>
          </a:p>
        </p:txBody>
      </p:sp>
      <p:sp>
        <p:nvSpPr>
          <p:cNvPr id="79874" name="矩形 516100"/>
          <p:cNvSpPr>
            <a:spLocks noChangeArrowheads="1"/>
          </p:cNvSpPr>
          <p:nvPr/>
        </p:nvSpPr>
        <p:spPr bwMode="auto">
          <a:xfrm>
            <a:off x="685800" y="1156424"/>
            <a:ext cx="777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、熵增意味着</a:t>
            </a:r>
            <a:r>
              <a:rPr lang="en-US" altLang="zh-CN" sz="3200" b="1" i="1" baseline="0"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en-US" altLang="zh-CN" sz="3200" b="1" baseline="0" dirty="0" smtClean="0">
                <a:latin typeface="Times New Roman" panose="02020603050405020304" pitchFamily="18" charset="0"/>
                <a:ea typeface="黑体" panose="02010609060101010101" pitchFamily="49" charset="-122"/>
                <a:cs typeface="Times New Roman" panose="02020603050405020304" pitchFamily="18" charset="0"/>
              </a:rPr>
              <a:t>&gt;</a:t>
            </a:r>
            <a:r>
              <a:rPr lang="en-US" altLang="zh-CN" sz="3200" b="1" i="1" baseline="0"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b="1" baseline="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熵产意味着</a:t>
            </a:r>
            <a:r>
              <a:rPr lang="en-US" altLang="zh-CN" sz="3200" b="1" i="1" baseline="0"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smtClean="0">
                <a:latin typeface="Times New Roman" panose="02020603050405020304" pitchFamily="18" charset="0"/>
                <a:ea typeface="黑体" panose="02010609060101010101" pitchFamily="49" charset="-122"/>
                <a:cs typeface="Times New Roman" panose="02020603050405020304" pitchFamily="18" charset="0"/>
              </a:rPr>
              <a:t>g</a:t>
            </a:r>
            <a:r>
              <a:rPr lang="en-US" altLang="zh-CN" sz="3200" b="1" baseline="0" dirty="0" smtClean="0">
                <a:latin typeface="Times New Roman" panose="02020603050405020304" pitchFamily="18" charset="0"/>
                <a:ea typeface="黑体" panose="02010609060101010101" pitchFamily="49" charset="-122"/>
                <a:cs typeface="Times New Roman" panose="02020603050405020304" pitchFamily="18" charset="0"/>
              </a:rPr>
              <a:t>&gt;0</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9875" name="矩形 516101"/>
          <p:cNvSpPr>
            <a:spLocks noChangeArrowheads="1"/>
          </p:cNvSpPr>
          <p:nvPr/>
        </p:nvSpPr>
        <p:spPr bwMode="auto">
          <a:xfrm>
            <a:off x="685800" y="2073965"/>
            <a:ext cx="7772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baseline="0" dirty="0">
                <a:latin typeface="黑体" panose="02010609060101010101" pitchFamily="49" charset="-122"/>
                <a:ea typeface="黑体" panose="02010609060101010101" pitchFamily="49" charset="-122"/>
              </a:rPr>
              <a:t>任意系统的任意过程，均</a:t>
            </a:r>
            <a:r>
              <a:rPr lang="zh-CN" altLang="en-US" sz="3200" b="1" baseline="0" dirty="0" smtClean="0">
                <a:latin typeface="黑体" panose="02010609060101010101" pitchFamily="49" charset="-122"/>
                <a:ea typeface="黑体" panose="02010609060101010101" pitchFamily="49" charset="-122"/>
              </a:rPr>
              <a:t>有</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g</a:t>
            </a:r>
            <a:r>
              <a:rPr lang="en-US" altLang="zh-CN" sz="3200" b="1" baseline="0" dirty="0" smtClean="0">
                <a:latin typeface="Times New Roman" panose="02020603050405020304" pitchFamily="18" charset="0"/>
              </a:rPr>
              <a:t>&gt;0</a:t>
            </a:r>
            <a:r>
              <a:rPr lang="zh-CN" altLang="en-US" sz="3200" b="1" baseline="0" dirty="0">
                <a:latin typeface="黑体" panose="02010609060101010101" pitchFamily="49" charset="-122"/>
                <a:ea typeface="黑体" panose="02010609060101010101" pitchFamily="49" charset="-122"/>
              </a:rPr>
              <a:t>，但不一定</a:t>
            </a:r>
            <a:r>
              <a:rPr lang="zh-CN" altLang="en-US" sz="3200" b="1" baseline="0" dirty="0" smtClean="0">
                <a:latin typeface="黑体" panose="02010609060101010101" pitchFamily="49" charset="-122"/>
                <a:ea typeface="黑体" panose="02010609060101010101" pitchFamily="49" charset="-122"/>
              </a:rPr>
              <a:t>有</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&gt;</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3200" b="1" dirty="0">
              <a:latin typeface="Times New Roman" panose="02020603050405020304" pitchFamily="18" charset="0"/>
            </a:endParaRPr>
          </a:p>
        </p:txBody>
      </p:sp>
      <p:sp>
        <p:nvSpPr>
          <p:cNvPr id="79876" name="矩形 516102"/>
          <p:cNvSpPr>
            <a:spLocks noChangeArrowheads="1"/>
          </p:cNvSpPr>
          <p:nvPr/>
        </p:nvSpPr>
        <p:spPr bwMode="auto">
          <a:xfrm>
            <a:off x="639417" y="3422453"/>
            <a:ext cx="77724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baseline="0" dirty="0">
                <a:latin typeface="Times New Roman" panose="02020603050405020304" pitchFamily="18" charset="0"/>
              </a:rPr>
              <a:t>3</a:t>
            </a:r>
            <a:r>
              <a:rPr lang="zh-CN" altLang="en-US" sz="3200" b="1" baseline="0" dirty="0">
                <a:latin typeface="宋体" panose="02010600030101010101" pitchFamily="2" charset="-122"/>
              </a:rPr>
              <a:t>、</a:t>
            </a:r>
            <a:r>
              <a:rPr lang="zh-CN" altLang="en-US" sz="3200" b="1" baseline="0" dirty="0">
                <a:latin typeface="黑体" panose="02010609060101010101" pitchFamily="49" charset="-122"/>
                <a:ea typeface="黑体" panose="02010609060101010101" pitchFamily="49" charset="-122"/>
              </a:rPr>
              <a:t>当系统的初态和终态给定时</a:t>
            </a:r>
            <a:r>
              <a:rPr lang="zh-CN" altLang="en-US" sz="3200" b="1" baseline="0" dirty="0" smtClean="0">
                <a:latin typeface="黑体" panose="02010609060101010101" pitchFamily="49" charset="-122"/>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3200" b="1" baseline="0" dirty="0" smtClean="0">
                <a:latin typeface="黑体" panose="02010609060101010101" pitchFamily="49" charset="-122"/>
                <a:ea typeface="黑体" panose="02010609060101010101" pitchFamily="49" charset="-122"/>
              </a:rPr>
              <a:t>为</a:t>
            </a:r>
            <a:r>
              <a:rPr lang="zh-CN" altLang="en-US" sz="3200" b="1" baseline="0" dirty="0">
                <a:latin typeface="黑体" panose="02010609060101010101" pitchFamily="49" charset="-122"/>
                <a:ea typeface="黑体" panose="02010609060101010101" pitchFamily="49" charset="-122"/>
              </a:rPr>
              <a:t>定值，与具体过程无关；</a:t>
            </a:r>
            <a:r>
              <a:rPr lang="zh-CN" altLang="en-US" sz="3200" b="1" baseline="0" dirty="0" smtClean="0">
                <a:latin typeface="黑体" panose="02010609060101010101" pitchFamily="49" charset="-122"/>
                <a:ea typeface="黑体" panose="02010609060101010101" pitchFamily="49" charset="-122"/>
              </a:rPr>
              <a:t>但</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g</a:t>
            </a:r>
            <a:r>
              <a:rPr lang="zh-CN" altLang="en-US" sz="3200" b="1" baseline="0" dirty="0" smtClean="0">
                <a:latin typeface="黑体" panose="02010609060101010101" pitchFamily="49" charset="-122"/>
                <a:ea typeface="黑体" panose="02010609060101010101" pitchFamily="49" charset="-122"/>
              </a:rPr>
              <a:t>的</a:t>
            </a:r>
            <a:r>
              <a:rPr lang="zh-CN" altLang="en-US" sz="3200" b="1" baseline="0" dirty="0">
                <a:latin typeface="黑体" panose="02010609060101010101" pitchFamily="49" charset="-122"/>
                <a:ea typeface="黑体" panose="02010609060101010101" pitchFamily="49" charset="-122"/>
              </a:rPr>
              <a:t>值可以任意，与具体过程相关。例如，系统经历一循环过程</a:t>
            </a:r>
            <a:r>
              <a:rPr lang="zh-CN" altLang="en-US" sz="3200" b="1" baseline="0" dirty="0" smtClean="0">
                <a:latin typeface="黑体" panose="02010609060101010101" pitchFamily="49" charset="-122"/>
                <a:ea typeface="黑体" panose="02010609060101010101" pitchFamily="49" charset="-122"/>
              </a:rPr>
              <a:t>，</a:t>
            </a:r>
            <a:r>
              <a:rPr lang="en-US" altLang="zh-CN" sz="3200" b="1" i="1" dirty="0">
                <a:latin typeface="黑体" panose="02010609060101010101" pitchFamily="49" charset="-122"/>
                <a:ea typeface="黑体" panose="02010609060101010101" pitchFamily="49" charset="-122"/>
                <a:cs typeface="Times New Roman" panose="02020603050405020304" pitchFamily="18" charset="0"/>
              </a:rPr>
              <a:t> </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1 </a:t>
            </a:r>
            <a:r>
              <a:rPr lang="en-US" altLang="zh-CN" sz="3200" b="1" baseline="0" dirty="0" smtClean="0">
                <a:latin typeface="Times New Roman" panose="02020603050405020304" pitchFamily="18" charset="0"/>
              </a:rPr>
              <a:t>=</a:t>
            </a:r>
            <a:r>
              <a:rPr lang="en-US" altLang="zh-CN" sz="3200" b="1" baseline="0" dirty="0">
                <a:latin typeface="Times New Roman" panose="02020603050405020304" pitchFamily="18" charset="0"/>
              </a:rPr>
              <a:t>0 </a:t>
            </a:r>
            <a:r>
              <a:rPr lang="zh-CN" altLang="en-US" sz="3200" b="1" baseline="0" dirty="0">
                <a:latin typeface="黑体" panose="02010609060101010101" pitchFamily="49" charset="-122"/>
                <a:ea typeface="黑体" panose="02010609060101010101" pitchFamily="49" charset="-122"/>
              </a:rPr>
              <a:t>，</a:t>
            </a:r>
            <a:r>
              <a:rPr lang="zh-CN" altLang="en-US" sz="3200" b="1" baseline="0" dirty="0" smtClean="0">
                <a:latin typeface="黑体" panose="02010609060101010101" pitchFamily="49" charset="-122"/>
                <a:ea typeface="黑体" panose="02010609060101010101" pitchFamily="49" charset="-122"/>
              </a:rPr>
              <a:t>但</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g</a:t>
            </a:r>
            <a:r>
              <a:rPr lang="zh-CN" altLang="en-US" sz="3200" b="1" baseline="0" dirty="0" smtClean="0">
                <a:latin typeface="黑体" panose="02010609060101010101" pitchFamily="49" charset="-122"/>
                <a:ea typeface="黑体" panose="02010609060101010101" pitchFamily="49" charset="-122"/>
              </a:rPr>
              <a:t>可以</a:t>
            </a:r>
            <a:r>
              <a:rPr lang="zh-CN" altLang="en-US" sz="3200" b="1" baseline="0" dirty="0">
                <a:latin typeface="黑体" panose="02010609060101010101" pitchFamily="49" charset="-122"/>
                <a:ea typeface="黑体" panose="02010609060101010101" pitchFamily="49" charset="-122"/>
              </a:rPr>
              <a:t>为大于</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3200" b="1" baseline="0" dirty="0">
                <a:latin typeface="黑体" panose="02010609060101010101" pitchFamily="49" charset="-122"/>
                <a:ea typeface="黑体" panose="02010609060101010101" pitchFamily="49" charset="-122"/>
              </a:rPr>
              <a:t>的任意值，且不可逆性越大</a:t>
            </a:r>
            <a:r>
              <a:rPr lang="zh-CN" altLang="en-US" sz="3200" b="1" baseline="0" dirty="0" smtClean="0">
                <a:latin typeface="黑体" panose="02010609060101010101" pitchFamily="49" charset="-122"/>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en-US" altLang="zh-CN" sz="3200" b="1" baseline="-25000" dirty="0" smtClean="0">
                <a:latin typeface="Times New Roman" panose="02020603050405020304" pitchFamily="18" charset="0"/>
                <a:ea typeface="黑体" panose="02010609060101010101" pitchFamily="49" charset="-122"/>
                <a:cs typeface="Times New Roman" panose="02020603050405020304" pitchFamily="18" charset="0"/>
              </a:rPr>
              <a:t>g</a:t>
            </a:r>
            <a:r>
              <a:rPr lang="zh-CN" altLang="en-US" sz="3200" b="1" baseline="0" dirty="0" smtClean="0">
                <a:latin typeface="黑体" panose="02010609060101010101" pitchFamily="49" charset="-122"/>
                <a:ea typeface="黑体" panose="02010609060101010101" pitchFamily="49" charset="-122"/>
              </a:rPr>
              <a:t>越</a:t>
            </a:r>
            <a:r>
              <a:rPr lang="zh-CN" altLang="en-US" sz="3200" b="1" baseline="0" dirty="0">
                <a:latin typeface="黑体" panose="02010609060101010101" pitchFamily="49" charset="-122"/>
                <a:ea typeface="黑体" panose="02010609060101010101" pitchFamily="49" charset="-122"/>
              </a:rPr>
              <a:t>大。</a:t>
            </a:r>
            <a:endParaRPr lang="zh-CN" altLang="en-US" sz="3200" b="1" baseline="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2" name="文本框 595974"/>
          <p:cNvSpPr txBox="1">
            <a:spLocks noChangeArrowheads="1"/>
          </p:cNvSpPr>
          <p:nvPr/>
        </p:nvSpPr>
        <p:spPr bwMode="auto">
          <a:xfrm>
            <a:off x="6477000" y="246063"/>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baseline="0" dirty="0">
                <a:ea typeface="黑体" panose="02010609060101010101" pitchFamily="49" charset="-122"/>
              </a:rPr>
              <a:t>能量收支情况</a:t>
            </a:r>
            <a:endParaRPr lang="zh-CN" altLang="en-US" b="1" baseline="0" dirty="0">
              <a:ea typeface="黑体" panose="02010609060101010101" pitchFamily="49" charset="-122"/>
            </a:endParaRPr>
          </a:p>
        </p:txBody>
      </p:sp>
      <p:sp>
        <p:nvSpPr>
          <p:cNvPr id="80903" name="文本框 595975"/>
          <p:cNvSpPr txBox="1">
            <a:spLocks noChangeArrowheads="1"/>
          </p:cNvSpPr>
          <p:nvPr/>
        </p:nvSpPr>
        <p:spPr bwMode="auto">
          <a:xfrm>
            <a:off x="6324600" y="77946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水放出热量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80904" name="文本框 595976"/>
          <p:cNvSpPr txBox="1">
            <a:spLocks noChangeArrowheads="1"/>
          </p:cNvSpPr>
          <p:nvPr/>
        </p:nvSpPr>
        <p:spPr bwMode="auto">
          <a:xfrm>
            <a:off x="6324600" y="1266825"/>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铅得到热量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80905" name="文本框 595977"/>
          <p:cNvSpPr txBox="1">
            <a:spLocks noChangeArrowheads="1"/>
          </p:cNvSpPr>
          <p:nvPr/>
        </p:nvSpPr>
        <p:spPr bwMode="auto">
          <a:xfrm>
            <a:off x="6324600" y="1846263"/>
            <a:ext cx="2667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满足能量守恒定律</a:t>
            </a:r>
            <a:endParaRPr lang="zh-CN" altLang="en-US" sz="2200" b="1" baseline="0">
              <a:solidFill>
                <a:srgbClr val="FF0000"/>
              </a:solidFill>
              <a:ea typeface="黑体" panose="02010609060101010101" pitchFamily="49" charset="-122"/>
            </a:endParaRPr>
          </a:p>
        </p:txBody>
      </p:sp>
      <p:sp>
        <p:nvSpPr>
          <p:cNvPr id="80912" name="文本框 595984"/>
          <p:cNvSpPr txBox="1">
            <a:spLocks noChangeArrowheads="1"/>
          </p:cNvSpPr>
          <p:nvPr/>
        </p:nvSpPr>
        <p:spPr bwMode="auto">
          <a:xfrm>
            <a:off x="609600" y="2590800"/>
            <a:ext cx="8077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dirty="0">
                <a:ea typeface="黑体" panose="02010609060101010101" pitchFamily="49" charset="-122"/>
              </a:rPr>
              <a:t>能量守恒定律在判断过程能否实现时“</a:t>
            </a:r>
            <a:r>
              <a:rPr lang="zh-CN" altLang="en-US" sz="2200" b="1" baseline="0" dirty="0">
                <a:solidFill>
                  <a:srgbClr val="FF0000"/>
                </a:solidFill>
                <a:ea typeface="黑体" panose="02010609060101010101" pitchFamily="49" charset="-122"/>
              </a:rPr>
              <a:t>失效</a:t>
            </a:r>
            <a:r>
              <a:rPr lang="zh-CN" altLang="en-US" sz="2200" b="1" baseline="0" dirty="0">
                <a:ea typeface="黑体" panose="02010609060101010101" pitchFamily="49" charset="-122"/>
              </a:rPr>
              <a:t>”了</a:t>
            </a:r>
            <a:r>
              <a:rPr lang="zh-CN" altLang="en-US" sz="2200" b="1" baseline="0" dirty="0" smtClean="0">
                <a:ea typeface="黑体" panose="02010609060101010101" pitchFamily="49" charset="-122"/>
              </a:rPr>
              <a:t>，一些复杂问题光</a:t>
            </a:r>
            <a:r>
              <a:rPr lang="zh-CN" altLang="en-US" sz="2200" b="1" baseline="0" dirty="0">
                <a:ea typeface="黑体" panose="02010609060101010101" pitchFamily="49" charset="-122"/>
              </a:rPr>
              <a:t>凭</a:t>
            </a:r>
            <a:r>
              <a:rPr lang="zh-CN" altLang="en-US" sz="2200" b="1" baseline="0" dirty="0" smtClean="0">
                <a:ea typeface="黑体" panose="02010609060101010101" pitchFamily="49" charset="-122"/>
              </a:rPr>
              <a:t>经验也无法判断，怎么办？</a:t>
            </a:r>
            <a:endParaRPr lang="zh-CN" altLang="en-US" sz="2200" b="1" baseline="0" dirty="0">
              <a:solidFill>
                <a:srgbClr val="FF0000"/>
              </a:solidFill>
              <a:ea typeface="黑体" panose="02010609060101010101" pitchFamily="49" charset="-122"/>
            </a:endParaRPr>
          </a:p>
        </p:txBody>
      </p:sp>
      <p:sp>
        <p:nvSpPr>
          <p:cNvPr id="595986" name="文本框 595985"/>
          <p:cNvSpPr txBox="1">
            <a:spLocks noChangeArrowheads="1"/>
          </p:cNvSpPr>
          <p:nvPr/>
        </p:nvSpPr>
        <p:spPr bwMode="auto">
          <a:xfrm>
            <a:off x="2057400" y="3368973"/>
            <a:ext cx="5181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baseline="0" dirty="0">
                <a:solidFill>
                  <a:srgbClr val="FF0000"/>
                </a:solidFill>
                <a:ea typeface="黑体" panose="02010609060101010101" pitchFamily="49" charset="-122"/>
              </a:rPr>
              <a:t>用熵</a:t>
            </a:r>
            <a:r>
              <a:rPr lang="zh-CN" altLang="en-US" sz="2400" b="1" baseline="0" dirty="0" smtClean="0">
                <a:solidFill>
                  <a:srgbClr val="FF0000"/>
                </a:solidFill>
                <a:ea typeface="黑体" panose="02010609060101010101" pitchFamily="49" charset="-122"/>
              </a:rPr>
              <a:t>平衡方程来判断！ </a:t>
            </a:r>
            <a:r>
              <a:rPr lang="zh-CN" altLang="en-US" sz="2400" b="1" baseline="0" dirty="0">
                <a:solidFill>
                  <a:srgbClr val="FF0000"/>
                </a:solidFill>
                <a:ea typeface="黑体" panose="02010609060101010101" pitchFamily="49" charset="-122"/>
              </a:rPr>
              <a:t>看</a:t>
            </a:r>
            <a:r>
              <a:rPr lang="en-US" altLang="zh-CN" sz="2400" b="1" i="1" baseline="0"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g</a:t>
            </a:r>
            <a:r>
              <a:rPr lang="en-US" altLang="zh-CN"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b="1" baseline="0" dirty="0">
                <a:latin typeface="Times New Roman" panose="02020603050405020304" pitchFamily="18" charset="0"/>
                <a:cs typeface="Times New Roman" panose="02020603050405020304" pitchFamily="18" charset="0"/>
              </a:rPr>
              <a:t>≥</a:t>
            </a:r>
            <a:r>
              <a:rPr lang="en-US" altLang="zh-CN" sz="24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0?</a:t>
            </a:r>
            <a:endParaRPr lang="en-US" altLang="zh-CN" sz="24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95987" name="文本框 595986"/>
          <p:cNvSpPr txBox="1">
            <a:spLocks noChangeArrowheads="1"/>
          </p:cNvSpPr>
          <p:nvPr/>
        </p:nvSpPr>
        <p:spPr bwMode="auto">
          <a:xfrm>
            <a:off x="685800" y="3886200"/>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baseline="0" dirty="0">
                <a:solidFill>
                  <a:srgbClr val="FF0000"/>
                </a:solidFill>
                <a:ea typeface="黑体" panose="02010609060101010101" pitchFamily="49" charset="-122"/>
              </a:rPr>
              <a:t>以水和铅块整体作为研究对象</a:t>
            </a:r>
            <a:r>
              <a:rPr lang="zh-CN" altLang="en-US" sz="2400" b="1" baseline="0" dirty="0">
                <a:ea typeface="黑体" panose="02010609060101010101" pitchFamily="49" charset="-122"/>
              </a:rPr>
              <a:t>，列熵平衡方程：</a:t>
            </a:r>
            <a:endParaRPr lang="zh-CN" altLang="en-US" sz="2400" b="1" baseline="0" dirty="0">
              <a:ea typeface="黑体" panose="02010609060101010101" pitchFamily="49" charset="-122"/>
            </a:endParaRPr>
          </a:p>
        </p:txBody>
      </p:sp>
      <p:graphicFrame>
        <p:nvGraphicFramePr>
          <p:cNvPr id="595988" name="对象 595987"/>
          <p:cNvGraphicFramePr/>
          <p:nvPr/>
        </p:nvGraphicFramePr>
        <p:xfrm>
          <a:off x="3384550" y="4370388"/>
          <a:ext cx="3594100" cy="728662"/>
        </p:xfrm>
        <a:graphic>
          <a:graphicData uri="http://schemas.openxmlformats.org/presentationml/2006/ole">
            <mc:AlternateContent xmlns:mc="http://schemas.openxmlformats.org/markup-compatibility/2006">
              <mc:Choice xmlns:v="urn:schemas-microsoft-com:vml" Requires="v">
                <p:oleObj spid="_x0000_s88262" name="Equation" r:id="rId1" imgW="32613600" imgH="6705600" progId="Equation.DSMT4">
                  <p:embed/>
                </p:oleObj>
              </mc:Choice>
              <mc:Fallback>
                <p:oleObj name="Equation" r:id="rId1" imgW="32613600" imgH="6705600" progId="Equation.DSMT4">
                  <p:embed/>
                  <p:pic>
                    <p:nvPicPr>
                      <p:cNvPr id="0" name="对象 595987"/>
                      <p:cNvPicPr>
                        <a:picLocks noChangeArrowheads="1"/>
                      </p:cNvPicPr>
                      <p:nvPr/>
                    </p:nvPicPr>
                    <p:blipFill>
                      <a:blip r:embed="rId2"/>
                      <a:srcRect/>
                      <a:stretch>
                        <a:fillRect/>
                      </a:stretch>
                    </p:blipFill>
                    <p:spPr bwMode="auto">
                      <a:xfrm>
                        <a:off x="3384550" y="4370388"/>
                        <a:ext cx="3594100"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5989" name="下箭头 595988"/>
          <p:cNvSpPr>
            <a:spLocks noChangeArrowheads="1"/>
          </p:cNvSpPr>
          <p:nvPr/>
        </p:nvSpPr>
        <p:spPr bwMode="auto">
          <a:xfrm>
            <a:off x="4572000" y="5062538"/>
            <a:ext cx="228600" cy="609600"/>
          </a:xfrm>
          <a:prstGeom prst="downArrow">
            <a:avLst>
              <a:gd name="adj1" fmla="val 50000"/>
              <a:gd name="adj2" fmla="val 66617"/>
            </a:avLst>
          </a:prstGeom>
          <a:solidFill>
            <a:schemeClr val="accent1"/>
          </a:solidFill>
          <a:ln w="9525">
            <a:solidFill>
              <a:schemeClr val="tx1"/>
            </a:solidFill>
            <a:miter lim="800000"/>
          </a:ln>
        </p:spPr>
        <p:txBody>
          <a:bodyPr/>
          <a:lstStyle/>
          <a:p>
            <a:endParaRPr lang="zh-CN" altLang="en-US"/>
          </a:p>
        </p:txBody>
      </p:sp>
      <p:graphicFrame>
        <p:nvGraphicFramePr>
          <p:cNvPr id="595990" name="对象 595989"/>
          <p:cNvGraphicFramePr/>
          <p:nvPr/>
        </p:nvGraphicFramePr>
        <p:xfrm>
          <a:off x="2625725" y="5638800"/>
          <a:ext cx="3492500" cy="728663"/>
        </p:xfrm>
        <a:graphic>
          <a:graphicData uri="http://schemas.openxmlformats.org/presentationml/2006/ole">
            <mc:AlternateContent xmlns:mc="http://schemas.openxmlformats.org/markup-compatibility/2006">
              <mc:Choice xmlns:v="urn:schemas-microsoft-com:vml" Requires="v">
                <p:oleObj spid="_x0000_s88263" name="" r:id="rId3" imgW="1320165" imgH="279400" progId="Equation.DSMT4">
                  <p:embed/>
                </p:oleObj>
              </mc:Choice>
              <mc:Fallback>
                <p:oleObj name="" r:id="rId3" imgW="1320165" imgH="279400" progId="Equation.DSMT4">
                  <p:embed/>
                  <p:pic>
                    <p:nvPicPr>
                      <p:cNvPr id="0" name="对象 59598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5725" y="5638800"/>
                        <a:ext cx="3492500"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5991" name="直接连接符 595990"/>
          <p:cNvSpPr>
            <a:spLocks noChangeShapeType="1"/>
          </p:cNvSpPr>
          <p:nvPr/>
        </p:nvSpPr>
        <p:spPr bwMode="auto">
          <a:xfrm flipV="1">
            <a:off x="4038600" y="5748338"/>
            <a:ext cx="1371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5992" name="对象 595991"/>
          <p:cNvGraphicFramePr/>
          <p:nvPr/>
        </p:nvGraphicFramePr>
        <p:xfrm>
          <a:off x="228600" y="5257800"/>
          <a:ext cx="2489200" cy="495300"/>
        </p:xfrm>
        <a:graphic>
          <a:graphicData uri="http://schemas.openxmlformats.org/presentationml/2006/ole">
            <mc:AlternateContent xmlns:mc="http://schemas.openxmlformats.org/markup-compatibility/2006">
              <mc:Choice xmlns:v="urn:schemas-microsoft-com:vml" Requires="v">
                <p:oleObj spid="_x0000_s88264" name="" r:id="rId5" imgW="1143000" imgH="228600" progId="Equation.DSMT4">
                  <p:embed/>
                </p:oleObj>
              </mc:Choice>
              <mc:Fallback>
                <p:oleObj name="" r:id="rId5" imgW="1143000" imgH="228600" progId="Equation.DSMT4">
                  <p:embed/>
                  <p:pic>
                    <p:nvPicPr>
                      <p:cNvPr id="0" name="对象 59599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5257800"/>
                        <a:ext cx="2489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5993" name="对象 595992"/>
          <p:cNvGraphicFramePr/>
          <p:nvPr/>
        </p:nvGraphicFramePr>
        <p:xfrm>
          <a:off x="152400" y="4724400"/>
          <a:ext cx="2516188" cy="492125"/>
        </p:xfrm>
        <a:graphic>
          <a:graphicData uri="http://schemas.openxmlformats.org/presentationml/2006/ole">
            <mc:AlternateContent xmlns:mc="http://schemas.openxmlformats.org/markup-compatibility/2006">
              <mc:Choice xmlns:v="urn:schemas-microsoft-com:vml" Requires="v">
                <p:oleObj spid="_x0000_s88265" name="" r:id="rId7" imgW="1231265" imgH="241300" progId="Equation.DSMT4">
                  <p:embed/>
                </p:oleObj>
              </mc:Choice>
              <mc:Fallback>
                <p:oleObj name="" r:id="rId7" imgW="1231265" imgH="241300" progId="Equation.DSMT4">
                  <p:embed/>
                  <p:pic>
                    <p:nvPicPr>
                      <p:cNvPr id="0" name="对象 59599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4724400"/>
                        <a:ext cx="25161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5995" name="矩形 595994"/>
          <p:cNvSpPr>
            <a:spLocks noChangeArrowheads="1"/>
          </p:cNvSpPr>
          <p:nvPr/>
        </p:nvSpPr>
        <p:spPr bwMode="auto">
          <a:xfrm>
            <a:off x="152400" y="4648200"/>
            <a:ext cx="2590800" cy="114300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595996" name="对象 595995"/>
          <p:cNvGraphicFramePr/>
          <p:nvPr/>
        </p:nvGraphicFramePr>
        <p:xfrm>
          <a:off x="6172200" y="5715000"/>
          <a:ext cx="2828925" cy="558800"/>
        </p:xfrm>
        <a:graphic>
          <a:graphicData uri="http://schemas.openxmlformats.org/presentationml/2006/ole">
            <mc:AlternateContent xmlns:mc="http://schemas.openxmlformats.org/markup-compatibility/2006">
              <mc:Choice xmlns:v="urn:schemas-microsoft-com:vml" Requires="v">
                <p:oleObj spid="_x0000_s88266" name="" r:id="rId9" imgW="1028065" imgH="203200" progId="Equation.DSMT4">
                  <p:embed/>
                </p:oleObj>
              </mc:Choice>
              <mc:Fallback>
                <p:oleObj name="" r:id="rId9" imgW="1028065" imgH="203200" progId="Equation.DSMT4">
                  <p:embed/>
                  <p:pic>
                    <p:nvPicPr>
                      <p:cNvPr id="0" name="对象 59599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72200" y="5715000"/>
                        <a:ext cx="28289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95997" name="组合 595996"/>
          <p:cNvGrpSpPr/>
          <p:nvPr/>
        </p:nvGrpSpPr>
        <p:grpSpPr bwMode="auto">
          <a:xfrm>
            <a:off x="2743200" y="5291138"/>
            <a:ext cx="457200" cy="457200"/>
            <a:chOff x="4608" y="3312"/>
            <a:chExt cx="480" cy="288"/>
          </a:xfrm>
        </p:grpSpPr>
        <p:sp>
          <p:nvSpPr>
            <p:cNvPr id="80925" name="直接连接符 595997"/>
            <p:cNvSpPr>
              <a:spLocks noChangeShapeType="1"/>
            </p:cNvSpPr>
            <p:nvPr/>
          </p:nvSpPr>
          <p:spPr bwMode="auto">
            <a:xfrm>
              <a:off x="4608" y="3312"/>
              <a:ext cx="288"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926" name="直接连接符 595998"/>
            <p:cNvSpPr>
              <a:spLocks noChangeShapeType="1"/>
            </p:cNvSpPr>
            <p:nvPr/>
          </p:nvSpPr>
          <p:spPr bwMode="auto">
            <a:xfrm>
              <a:off x="4896" y="3312"/>
              <a:ext cx="192" cy="2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pic>
        <p:nvPicPr>
          <p:cNvPr id="4" name="图片 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8600" y="212564"/>
            <a:ext cx="5986791" cy="2328874"/>
          </a:xfrm>
          <a:prstGeom prst="rect">
            <a:avLst/>
          </a:prstGeom>
        </p:spPr>
      </p:pic>
    </p:spTree>
    <p:custDataLst>
      <p:tags r:id="rId1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5986"/>
                                        </p:tgtEl>
                                        <p:attrNameLst>
                                          <p:attrName>style.visibility</p:attrName>
                                        </p:attrNameLst>
                                      </p:cBhvr>
                                      <p:to>
                                        <p:strVal val="visible"/>
                                      </p:to>
                                    </p:set>
                                    <p:animEffect transition="in" filter="blinds(horizontal)">
                                      <p:cBhvr>
                                        <p:cTn id="7" dur="500"/>
                                        <p:tgtEl>
                                          <p:spTgt spid="5959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5987"/>
                                        </p:tgtEl>
                                        <p:attrNameLst>
                                          <p:attrName>style.visibility</p:attrName>
                                        </p:attrNameLst>
                                      </p:cBhvr>
                                      <p:to>
                                        <p:strVal val="visible"/>
                                      </p:to>
                                    </p:set>
                                    <p:animEffect transition="in" filter="blinds(horizontal)">
                                      <p:cBhvr>
                                        <p:cTn id="12" dur="500"/>
                                        <p:tgtEl>
                                          <p:spTgt spid="59598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5988"/>
                                        </p:tgtEl>
                                        <p:attrNameLst>
                                          <p:attrName>style.visibility</p:attrName>
                                        </p:attrNameLst>
                                      </p:cBhvr>
                                      <p:to>
                                        <p:strVal val="visible"/>
                                      </p:to>
                                    </p:set>
                                    <p:animEffect transition="in" filter="blinds(horizontal)">
                                      <p:cBhvr>
                                        <p:cTn id="17" dur="500"/>
                                        <p:tgtEl>
                                          <p:spTgt spid="59598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95989"/>
                                        </p:tgtEl>
                                        <p:attrNameLst>
                                          <p:attrName>style.visibility</p:attrName>
                                        </p:attrNameLst>
                                      </p:cBhvr>
                                      <p:to>
                                        <p:strVal val="visible"/>
                                      </p:to>
                                    </p:set>
                                    <p:animEffect transition="in" filter="blinds(horizontal)">
                                      <p:cBhvr>
                                        <p:cTn id="22" dur="500"/>
                                        <p:tgtEl>
                                          <p:spTgt spid="595989"/>
                                        </p:tgtEl>
                                      </p:cBhvr>
                                    </p:animEffect>
                                  </p:childTnLst>
                                </p:cTn>
                              </p:par>
                              <p:par>
                                <p:cTn id="23" presetID="3" presetClass="entr" presetSubtype="10" fill="hold" nodeType="withEffect">
                                  <p:stCondLst>
                                    <p:cond delay="0"/>
                                  </p:stCondLst>
                                  <p:childTnLst>
                                    <p:set>
                                      <p:cBhvr>
                                        <p:cTn id="24" dur="1" fill="hold">
                                          <p:stCondLst>
                                            <p:cond delay="0"/>
                                          </p:stCondLst>
                                        </p:cTn>
                                        <p:tgtEl>
                                          <p:spTgt spid="595990"/>
                                        </p:tgtEl>
                                        <p:attrNameLst>
                                          <p:attrName>style.visibility</p:attrName>
                                        </p:attrNameLst>
                                      </p:cBhvr>
                                      <p:to>
                                        <p:strVal val="visible"/>
                                      </p:to>
                                    </p:set>
                                    <p:animEffect transition="in" filter="blinds(horizontal)">
                                      <p:cBhvr>
                                        <p:cTn id="25" dur="500"/>
                                        <p:tgtEl>
                                          <p:spTgt spid="59599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95991"/>
                                        </p:tgtEl>
                                        <p:attrNameLst>
                                          <p:attrName>style.visibility</p:attrName>
                                        </p:attrNameLst>
                                      </p:cBhvr>
                                      <p:to>
                                        <p:strVal val="visible"/>
                                      </p:to>
                                    </p:set>
                                    <p:animEffect transition="in" filter="wipe(down)">
                                      <p:cBhvr>
                                        <p:cTn id="30" dur="500"/>
                                        <p:tgtEl>
                                          <p:spTgt spid="59599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95992"/>
                                        </p:tgtEl>
                                        <p:attrNameLst>
                                          <p:attrName>style.visibility</p:attrName>
                                        </p:attrNameLst>
                                      </p:cBhvr>
                                      <p:to>
                                        <p:strVal val="visible"/>
                                      </p:to>
                                    </p:set>
                                    <p:animEffect transition="in" filter="blinds(horizontal)">
                                      <p:cBhvr>
                                        <p:cTn id="35" dur="500"/>
                                        <p:tgtEl>
                                          <p:spTgt spid="595992"/>
                                        </p:tgtEl>
                                      </p:cBhvr>
                                    </p:animEffect>
                                  </p:childTnLst>
                                </p:cTn>
                              </p:par>
                              <p:par>
                                <p:cTn id="36" presetID="3" presetClass="entr" presetSubtype="10" fill="hold" nodeType="withEffect">
                                  <p:stCondLst>
                                    <p:cond delay="0"/>
                                  </p:stCondLst>
                                  <p:childTnLst>
                                    <p:set>
                                      <p:cBhvr>
                                        <p:cTn id="37" dur="1" fill="hold">
                                          <p:stCondLst>
                                            <p:cond delay="0"/>
                                          </p:stCondLst>
                                        </p:cTn>
                                        <p:tgtEl>
                                          <p:spTgt spid="595993"/>
                                        </p:tgtEl>
                                        <p:attrNameLst>
                                          <p:attrName>style.visibility</p:attrName>
                                        </p:attrNameLst>
                                      </p:cBhvr>
                                      <p:to>
                                        <p:strVal val="visible"/>
                                      </p:to>
                                    </p:set>
                                    <p:animEffect transition="in" filter="blinds(horizontal)">
                                      <p:cBhvr>
                                        <p:cTn id="38" dur="500"/>
                                        <p:tgtEl>
                                          <p:spTgt spid="595993"/>
                                        </p:tgtEl>
                                      </p:cBhvr>
                                    </p:animEffect>
                                  </p:childTnLst>
                                </p:cTn>
                              </p:par>
                              <p:par>
                                <p:cTn id="39" presetID="3" presetClass="entr" presetSubtype="10" fill="hold" nodeType="withEffect">
                                  <p:stCondLst>
                                    <p:cond delay="0"/>
                                  </p:stCondLst>
                                  <p:childTnLst>
                                    <p:set>
                                      <p:cBhvr>
                                        <p:cTn id="40" dur="1" fill="hold">
                                          <p:stCondLst>
                                            <p:cond delay="0"/>
                                          </p:stCondLst>
                                        </p:cTn>
                                        <p:tgtEl>
                                          <p:spTgt spid="595995"/>
                                        </p:tgtEl>
                                        <p:attrNameLst>
                                          <p:attrName>style.visibility</p:attrName>
                                        </p:attrNameLst>
                                      </p:cBhvr>
                                      <p:to>
                                        <p:strVal val="visible"/>
                                      </p:to>
                                    </p:set>
                                    <p:animEffect transition="in" filter="blinds(horizontal)">
                                      <p:cBhvr>
                                        <p:cTn id="41" dur="500"/>
                                        <p:tgtEl>
                                          <p:spTgt spid="5959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95997"/>
                                        </p:tgtEl>
                                        <p:attrNameLst>
                                          <p:attrName>style.visibility</p:attrName>
                                        </p:attrNameLst>
                                      </p:cBhvr>
                                      <p:to>
                                        <p:strVal val="visible"/>
                                      </p:to>
                                    </p:set>
                                    <p:animEffect transition="in" filter="wipe(up)">
                                      <p:cBhvr>
                                        <p:cTn id="46" dur="500"/>
                                        <p:tgtEl>
                                          <p:spTgt spid="59599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595996"/>
                                        </p:tgtEl>
                                        <p:attrNameLst>
                                          <p:attrName>style.visibility</p:attrName>
                                        </p:attrNameLst>
                                      </p:cBhvr>
                                      <p:to>
                                        <p:strVal val="visible"/>
                                      </p:to>
                                    </p:set>
                                    <p:animEffect transition="in" filter="blinds(horizontal)">
                                      <p:cBhvr>
                                        <p:cTn id="51" dur="500"/>
                                        <p:tgtEl>
                                          <p:spTgt spid="595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86" grpId="0"/>
      <p:bldP spid="59598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1" name="文本框 597003"/>
          <p:cNvSpPr txBox="1">
            <a:spLocks noChangeArrowheads="1"/>
          </p:cNvSpPr>
          <p:nvPr/>
        </p:nvSpPr>
        <p:spPr bwMode="auto">
          <a:xfrm>
            <a:off x="6477000" y="5334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baseline="0">
                <a:ea typeface="黑体" panose="02010609060101010101" pitchFamily="49" charset="-122"/>
              </a:rPr>
              <a:t>能量收支情况</a:t>
            </a:r>
            <a:endParaRPr lang="zh-CN" altLang="en-US" b="1" baseline="0">
              <a:ea typeface="黑体" panose="02010609060101010101" pitchFamily="49" charset="-122"/>
            </a:endParaRPr>
          </a:p>
        </p:txBody>
      </p:sp>
      <p:sp>
        <p:nvSpPr>
          <p:cNvPr id="81932" name="文本框 597004"/>
          <p:cNvSpPr txBox="1">
            <a:spLocks noChangeArrowheads="1"/>
          </p:cNvSpPr>
          <p:nvPr/>
        </p:nvSpPr>
        <p:spPr bwMode="auto">
          <a:xfrm>
            <a:off x="6324600" y="11430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水得到热量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81933" name="文本框 597005"/>
          <p:cNvSpPr txBox="1">
            <a:spLocks noChangeArrowheads="1"/>
          </p:cNvSpPr>
          <p:nvPr/>
        </p:nvSpPr>
        <p:spPr bwMode="auto">
          <a:xfrm>
            <a:off x="6324600" y="1676400"/>
            <a:ext cx="25146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铅放出热量 </a:t>
            </a:r>
            <a:r>
              <a:rPr lang="en-US" altLang="zh-CN" sz="2200" b="1" baseline="0">
                <a:solidFill>
                  <a:srgbClr val="FF0000"/>
                </a:solidFill>
                <a:ea typeface="黑体" panose="02010609060101010101" pitchFamily="49" charset="-122"/>
              </a:rPr>
              <a:t>73kJ</a:t>
            </a:r>
            <a:endParaRPr lang="en-US" altLang="zh-CN" sz="2200" b="1" baseline="0">
              <a:solidFill>
                <a:srgbClr val="FF0000"/>
              </a:solidFill>
              <a:ea typeface="黑体" panose="02010609060101010101" pitchFamily="49" charset="-122"/>
            </a:endParaRPr>
          </a:p>
        </p:txBody>
      </p:sp>
      <p:sp>
        <p:nvSpPr>
          <p:cNvPr id="81934" name="文本框 597006"/>
          <p:cNvSpPr txBox="1">
            <a:spLocks noChangeArrowheads="1"/>
          </p:cNvSpPr>
          <p:nvPr/>
        </p:nvSpPr>
        <p:spPr bwMode="auto">
          <a:xfrm>
            <a:off x="6324600" y="2163763"/>
            <a:ext cx="2514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ea typeface="黑体" panose="02010609060101010101" pitchFamily="49" charset="-122"/>
              </a:rPr>
              <a:t>满足能量守恒定律</a:t>
            </a:r>
            <a:endParaRPr lang="zh-CN" altLang="en-US" sz="2200" b="1" baseline="0">
              <a:solidFill>
                <a:srgbClr val="FF0000"/>
              </a:solidFill>
              <a:ea typeface="黑体" panose="02010609060101010101" pitchFamily="49" charset="-122"/>
            </a:endParaRPr>
          </a:p>
        </p:txBody>
      </p:sp>
      <p:graphicFrame>
        <p:nvGraphicFramePr>
          <p:cNvPr id="81937" name="对象 597009"/>
          <p:cNvGraphicFramePr/>
          <p:nvPr/>
        </p:nvGraphicFramePr>
        <p:xfrm>
          <a:off x="2332038" y="4038600"/>
          <a:ext cx="3946525" cy="762000"/>
        </p:xfrm>
        <a:graphic>
          <a:graphicData uri="http://schemas.openxmlformats.org/presentationml/2006/ole">
            <mc:AlternateContent xmlns:mc="http://schemas.openxmlformats.org/markup-compatibility/2006">
              <mc:Choice xmlns:v="urn:schemas-microsoft-com:vml" Requires="v">
                <p:oleObj spid="_x0000_s89182" name="" r:id="rId1" imgW="1231265" imgH="241300" progId="Equation.DSMT4">
                  <p:embed/>
                </p:oleObj>
              </mc:Choice>
              <mc:Fallback>
                <p:oleObj name="" r:id="rId1" imgW="1231265" imgH="241300" progId="Equation.DSMT4">
                  <p:embed/>
                  <p:pic>
                    <p:nvPicPr>
                      <p:cNvPr id="0" name="对象 59700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2038" y="4038600"/>
                        <a:ext cx="39465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38" name="文本框 597010"/>
          <p:cNvSpPr txBox="1">
            <a:spLocks noChangeArrowheads="1"/>
          </p:cNvSpPr>
          <p:nvPr/>
        </p:nvSpPr>
        <p:spPr bwMode="auto">
          <a:xfrm>
            <a:off x="2667000" y="4953000"/>
            <a:ext cx="4114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baseline="0">
                <a:ea typeface="黑体" panose="02010609060101010101" pitchFamily="49" charset="-122"/>
              </a:rPr>
              <a:t>过程可以实现！</a:t>
            </a:r>
            <a:endParaRPr lang="zh-CN" altLang="en-US" sz="3600" b="1" baseline="0">
              <a:ea typeface="黑体" panose="02010609060101010101" pitchFamily="49"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670" y="496524"/>
            <a:ext cx="5962405" cy="2310584"/>
          </a:xfrm>
          <a:prstGeom prst="rect">
            <a:avLst/>
          </a:prstGeom>
        </p:spPr>
      </p:pic>
    </p:spTree>
  </p:cSld>
  <p:clrMapOvr>
    <a:masterClrMapping/>
  </p:clrMapOvr>
  <p:transition spd="slow"/>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517121"/>
          <p:cNvSpPr>
            <a:spLocks noGrp="1" noChangeArrowheads="1"/>
          </p:cNvSpPr>
          <p:nvPr>
            <p:ph type="title" idx="4294967295"/>
          </p:nvPr>
        </p:nvSpPr>
        <p:spPr>
          <a:xfrm>
            <a:off x="224942" y="109539"/>
            <a:ext cx="8229600" cy="1143000"/>
          </a:xfrm>
        </p:spPr>
        <p:txBody>
          <a:bodyPr/>
          <a:lstStyle/>
          <a:p>
            <a:r>
              <a:rPr lang="zh-CN" altLang="en-US" b="1" dirty="0" smtClean="0">
                <a:latin typeface="黑体" panose="02010609060101010101" pitchFamily="49" charset="-122"/>
                <a:ea typeface="黑体" panose="02010609060101010101" pitchFamily="49" charset="-122"/>
              </a:rPr>
              <a:t>三、开口系的熵平衡方程</a:t>
            </a:r>
            <a:endParaRPr lang="zh-CN" altLang="en-US" b="1" dirty="0" smtClean="0">
              <a:latin typeface="黑体" panose="02010609060101010101" pitchFamily="49" charset="-122"/>
              <a:ea typeface="黑体" panose="02010609060101010101" pitchFamily="49" charset="-122"/>
            </a:endParaRPr>
          </a:p>
        </p:txBody>
      </p:sp>
      <p:sp>
        <p:nvSpPr>
          <p:cNvPr id="82946" name="矩形 51712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7" name="矩形 51712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矩形 51713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49" name="对象 517129"/>
          <p:cNvGraphicFramePr/>
          <p:nvPr/>
        </p:nvGraphicFramePr>
        <p:xfrm>
          <a:off x="3119438" y="1371600"/>
          <a:ext cx="4124325" cy="708025"/>
        </p:xfrm>
        <a:graphic>
          <a:graphicData uri="http://schemas.openxmlformats.org/presentationml/2006/ole">
            <mc:AlternateContent xmlns:mc="http://schemas.openxmlformats.org/markup-compatibility/2006">
              <mc:Choice xmlns:v="urn:schemas-microsoft-com:vml" Requires="v">
                <p:oleObj spid="_x0000_s90186" name="" r:id="rId1" imgW="1384300" imgH="241300" progId="Equation.DSMT4">
                  <p:embed/>
                </p:oleObj>
              </mc:Choice>
              <mc:Fallback>
                <p:oleObj name="" r:id="rId1" imgW="1384300" imgH="241300" progId="Equation.DSMT4">
                  <p:embed/>
                  <p:pic>
                    <p:nvPicPr>
                      <p:cNvPr id="0" name="对象 51712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9438" y="1371600"/>
                        <a:ext cx="41243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0" name="矩形 51713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51" name="对象 517131"/>
          <p:cNvGraphicFramePr/>
          <p:nvPr/>
        </p:nvGraphicFramePr>
        <p:xfrm>
          <a:off x="1125538" y="2133600"/>
          <a:ext cx="6130925" cy="1143000"/>
        </p:xfrm>
        <a:graphic>
          <a:graphicData uri="http://schemas.openxmlformats.org/presentationml/2006/ole">
            <mc:AlternateContent xmlns:mc="http://schemas.openxmlformats.org/markup-compatibility/2006">
              <mc:Choice xmlns:v="urn:schemas-microsoft-com:vml" Requires="v">
                <p:oleObj spid="_x0000_s90187" name="" r:id="rId3" imgW="2298700" imgH="431800" progId="Equation.DSMT4">
                  <p:embed/>
                </p:oleObj>
              </mc:Choice>
              <mc:Fallback>
                <p:oleObj name="" r:id="rId3" imgW="2298700" imgH="431800" progId="Equation.DSMT4">
                  <p:embed/>
                  <p:pic>
                    <p:nvPicPr>
                      <p:cNvPr id="0" name="对象 5171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538" y="2133600"/>
                        <a:ext cx="61309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2" name="矩形 51713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54" name="矩形 517138"/>
          <p:cNvSpPr>
            <a:spLocks noChangeArrowheads="1"/>
          </p:cNvSpPr>
          <p:nvPr/>
        </p:nvSpPr>
        <p:spPr bwMode="auto">
          <a:xfrm>
            <a:off x="381000" y="1295400"/>
            <a:ext cx="2019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600" b="1" baseline="0" dirty="0">
                <a:latin typeface="黑体" panose="02010609060101010101" pitchFamily="49" charset="-122"/>
                <a:ea typeface="黑体" panose="02010609060101010101" pitchFamily="49" charset="-122"/>
              </a:rPr>
              <a:t>一般形式</a:t>
            </a:r>
            <a:endParaRPr lang="zh-CN" altLang="en-US" sz="3600" b="1" baseline="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65971" y="3473450"/>
            <a:ext cx="5175953" cy="2987299"/>
          </a:xfrm>
          <a:prstGeom prst="rect">
            <a:avLst/>
          </a:prstGeom>
        </p:spPr>
      </p:pic>
    </p:spTree>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矩形 518148"/>
          <p:cNvSpPr>
            <a:spLocks noChangeArrowheads="1"/>
          </p:cNvSpPr>
          <p:nvPr/>
        </p:nvSpPr>
        <p:spPr bwMode="auto">
          <a:xfrm>
            <a:off x="838200" y="1828800"/>
            <a:ext cx="213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微分形式 </a:t>
            </a:r>
            <a:endParaRPr lang="zh-CN" altLang="en-US" sz="3200" b="1" baseline="0" dirty="0">
              <a:latin typeface="黑体" panose="02010609060101010101" pitchFamily="49" charset="-122"/>
              <a:ea typeface="黑体" panose="02010609060101010101" pitchFamily="49" charset="-122"/>
            </a:endParaRPr>
          </a:p>
        </p:txBody>
      </p:sp>
      <p:sp>
        <p:nvSpPr>
          <p:cNvPr id="83970" name="矩形 518151"/>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1" name="对象 518150"/>
          <p:cNvGraphicFramePr/>
          <p:nvPr/>
        </p:nvGraphicFramePr>
        <p:xfrm>
          <a:off x="1282700" y="2667000"/>
          <a:ext cx="6426200" cy="1179513"/>
        </p:xfrm>
        <a:graphic>
          <a:graphicData uri="http://schemas.openxmlformats.org/presentationml/2006/ole">
            <mc:AlternateContent xmlns:mc="http://schemas.openxmlformats.org/markup-compatibility/2006">
              <mc:Choice xmlns:v="urn:schemas-microsoft-com:vml" Requires="v">
                <p:oleObj spid="_x0000_s91222" name="" r:id="rId1" imgW="2336800" imgH="431800" progId="Equation.DSMT4">
                  <p:embed/>
                </p:oleObj>
              </mc:Choice>
              <mc:Fallback>
                <p:oleObj name="" r:id="rId1" imgW="2336800" imgH="431800" progId="Equation.DSMT4">
                  <p:embed/>
                  <p:pic>
                    <p:nvPicPr>
                      <p:cNvPr id="0" name="对象 51815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2667000"/>
                        <a:ext cx="6426200"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2" name="矩形 518153"/>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974" name="矩形 518154"/>
          <p:cNvSpPr>
            <a:spLocks noChangeArrowheads="1"/>
          </p:cNvSpPr>
          <p:nvPr/>
        </p:nvSpPr>
        <p:spPr bwMode="auto">
          <a:xfrm>
            <a:off x="990600" y="4038600"/>
            <a:ext cx="213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单位时间</a:t>
            </a:r>
            <a:endParaRPr lang="zh-CN" altLang="en-US" sz="3200" b="1" baseline="0" dirty="0">
              <a:latin typeface="黑体" panose="02010609060101010101" pitchFamily="49" charset="-122"/>
              <a:ea typeface="黑体" panose="02010609060101010101" pitchFamily="49" charset="-122"/>
            </a:endParaRPr>
          </a:p>
        </p:txBody>
      </p:sp>
      <p:graphicFrame>
        <p:nvGraphicFramePr>
          <p:cNvPr id="83975" name="对象 517131"/>
          <p:cNvGraphicFramePr>
            <a:graphicFrameLocks noChangeAspect="1"/>
          </p:cNvGraphicFramePr>
          <p:nvPr/>
        </p:nvGraphicFramePr>
        <p:xfrm>
          <a:off x="1506537" y="498475"/>
          <a:ext cx="6275178" cy="1178377"/>
        </p:xfrm>
        <a:graphic>
          <a:graphicData uri="http://schemas.openxmlformats.org/presentationml/2006/ole">
            <mc:AlternateContent xmlns:mc="http://schemas.openxmlformats.org/markup-compatibility/2006">
              <mc:Choice xmlns:v="urn:schemas-microsoft-com:vml" Requires="v">
                <p:oleObj spid="_x0000_s91223" name="" r:id="rId3" imgW="2298700" imgH="431800" progId="Equation.DSMT4">
                  <p:embed/>
                </p:oleObj>
              </mc:Choice>
              <mc:Fallback>
                <p:oleObj name="" r:id="rId3" imgW="2298700" imgH="431800" progId="Equation.DSMT4">
                  <p:embed/>
                  <p:pic>
                    <p:nvPicPr>
                      <p:cNvPr id="0" name="对象 5171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537" y="498475"/>
                        <a:ext cx="6275178" cy="1178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1319213" y="4870450"/>
          <a:ext cx="6621462" cy="1143000"/>
        </p:xfrm>
        <a:graphic>
          <a:graphicData uri="http://schemas.openxmlformats.org/presentationml/2006/ole">
            <mc:AlternateContent xmlns:mc="http://schemas.openxmlformats.org/markup-compatibility/2006">
              <mc:Choice xmlns:v="urn:schemas-microsoft-com:vml" Requires="v">
                <p:oleObj spid="_x0000_s91224" name="Equation" r:id="rId5" imgW="58216800" imgH="10058400" progId="Equation.DSMT4">
                  <p:embed/>
                </p:oleObj>
              </mc:Choice>
              <mc:Fallback>
                <p:oleObj name="Equation" r:id="rId5" imgW="58216800" imgH="10058400" progId="Equation.DSMT4">
                  <p:embed/>
                  <p:pic>
                    <p:nvPicPr>
                      <p:cNvPr id="0" name="对象 4"/>
                      <p:cNvPicPr>
                        <a:picLocks noChangeAspect="1" noChangeArrowheads="1"/>
                      </p:cNvPicPr>
                      <p:nvPr/>
                    </p:nvPicPr>
                    <p:blipFill>
                      <a:blip r:embed="rId6"/>
                      <a:srcRect/>
                      <a:stretch>
                        <a:fillRect/>
                      </a:stretch>
                    </p:blipFill>
                    <p:spPr bwMode="auto">
                      <a:xfrm>
                        <a:off x="1319213" y="4870450"/>
                        <a:ext cx="6621462"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519173"/>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997" name="矩形 519175"/>
          <p:cNvSpPr>
            <a:spLocks noChangeArrowheads="1"/>
          </p:cNvSpPr>
          <p:nvPr/>
        </p:nvSpPr>
        <p:spPr bwMode="auto">
          <a:xfrm>
            <a:off x="685800" y="4405313"/>
            <a:ext cx="7620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solidFill>
                  <a:srgbClr val="FF0000"/>
                </a:solidFill>
                <a:latin typeface="黑体" panose="02010609060101010101" pitchFamily="49" charset="-122"/>
                <a:ea typeface="黑体" panose="02010609060101010101" pitchFamily="49" charset="-122"/>
              </a:rPr>
              <a:t>稳定流动</a:t>
            </a:r>
            <a:r>
              <a:rPr lang="zh-CN" altLang="en-US" sz="3200" b="1" baseline="0" dirty="0">
                <a:latin typeface="黑体" panose="02010609060101010101" pitchFamily="49" charset="-122"/>
                <a:ea typeface="黑体" panose="02010609060101010101" pitchFamily="49" charset="-122"/>
              </a:rPr>
              <a:t>（燃气轮机、压气机、喷管、扩压管、换热器等）</a:t>
            </a:r>
            <a:r>
              <a:rPr lang="zh-CN" altLang="en-US" dirty="0">
                <a:latin typeface="黑体" panose="02010609060101010101" pitchFamily="49" charset="-122"/>
                <a:ea typeface="黑体" panose="02010609060101010101" pitchFamily="49" charset="-122"/>
              </a:rPr>
              <a:t> </a:t>
            </a:r>
            <a:r>
              <a:rPr lang="zh-CN" altLang="en-US" sz="3200" b="1" baseline="0" dirty="0">
                <a:latin typeface="黑体" panose="02010609060101010101" pitchFamily="49" charset="-122"/>
                <a:ea typeface="黑体" panose="02010609060101010101" pitchFamily="49" charset="-122"/>
              </a:rPr>
              <a:t>： </a:t>
            </a:r>
            <a:endParaRPr lang="zh-CN" altLang="en-US" sz="3200" b="1" baseline="0" dirty="0">
              <a:latin typeface="黑体" panose="02010609060101010101" pitchFamily="49" charset="-122"/>
              <a:ea typeface="黑体" panose="02010609060101010101" pitchFamily="49" charset="-122"/>
            </a:endParaRPr>
          </a:p>
        </p:txBody>
      </p:sp>
      <p:sp>
        <p:nvSpPr>
          <p:cNvPr id="84999" name="直接连接符 519178"/>
          <p:cNvSpPr>
            <a:spLocks noChangeShapeType="1"/>
          </p:cNvSpPr>
          <p:nvPr/>
        </p:nvSpPr>
        <p:spPr bwMode="auto">
          <a:xfrm flipV="1">
            <a:off x="990600" y="3505200"/>
            <a:ext cx="1295400" cy="76200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Rectangle 9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1528762" y="5472112"/>
          <a:ext cx="5492700" cy="1047600"/>
        </p:xfrm>
        <a:graphic>
          <a:graphicData uri="http://schemas.openxmlformats.org/presentationml/2006/ole">
            <mc:AlternateContent xmlns:mc="http://schemas.openxmlformats.org/markup-compatibility/2006">
              <mc:Choice xmlns:v="urn:schemas-microsoft-com:vml" Requires="v">
                <p:oleObj spid="_x0000_s92235" name="Equation" r:id="rId1" imgW="52730400" imgH="10058400" progId="Equation.DSMT4">
                  <p:embed/>
                </p:oleObj>
              </mc:Choice>
              <mc:Fallback>
                <p:oleObj name="Equation" r:id="rId1" imgW="52730400" imgH="10058400" progId="Equation.DSMT4">
                  <p:embed/>
                  <p:pic>
                    <p:nvPicPr>
                      <p:cNvPr id="0" name="对象 4"/>
                      <p:cNvPicPr>
                        <a:picLocks noChangeAspect="1" noChangeArrowheads="1"/>
                      </p:cNvPicPr>
                      <p:nvPr/>
                    </p:nvPicPr>
                    <p:blipFill>
                      <a:blip r:embed="rId2"/>
                      <a:srcRect/>
                      <a:stretch>
                        <a:fillRect/>
                      </a:stretch>
                    </p:blipFill>
                    <p:spPr bwMode="auto">
                      <a:xfrm>
                        <a:off x="1528762" y="5472112"/>
                        <a:ext cx="5492700" cy="104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nvGraphicFramePr>
        <p:xfrm>
          <a:off x="1358971" y="3290093"/>
          <a:ext cx="6064200" cy="1047600"/>
        </p:xfrm>
        <a:graphic>
          <a:graphicData uri="http://schemas.openxmlformats.org/presentationml/2006/ole">
            <mc:AlternateContent xmlns:mc="http://schemas.openxmlformats.org/markup-compatibility/2006">
              <mc:Choice xmlns:v="urn:schemas-microsoft-com:vml" Requires="v">
                <p:oleObj spid="_x0000_s92236" name="Equation" r:id="rId3" imgW="58216800" imgH="10058400" progId="Equation.DSMT4">
                  <p:embed/>
                </p:oleObj>
              </mc:Choice>
              <mc:Fallback>
                <p:oleObj name="Equation" r:id="rId3" imgW="58216800" imgH="10058400" progId="Equation.DSMT4">
                  <p:embed/>
                  <p:pic>
                    <p:nvPicPr>
                      <p:cNvPr id="0" name="对象 13"/>
                      <p:cNvPicPr>
                        <a:picLocks noChangeAspect="1" noChangeArrowheads="1"/>
                      </p:cNvPicPr>
                      <p:nvPr/>
                    </p:nvPicPr>
                    <p:blipFill>
                      <a:blip r:embed="rId4"/>
                      <a:srcRect/>
                      <a:stretch>
                        <a:fillRect/>
                      </a:stretch>
                    </p:blipFill>
                    <p:spPr bwMode="auto">
                      <a:xfrm>
                        <a:off x="1358971" y="3290093"/>
                        <a:ext cx="6064200" cy="104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5159" y="213100"/>
            <a:ext cx="5169856" cy="2987299"/>
          </a:xfrm>
          <a:prstGeom prst="rect">
            <a:avLst/>
          </a:prstGeom>
        </p:spPr>
      </p:pic>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矩形 520198"/>
          <p:cNvSpPr>
            <a:spLocks noChangeArrowheads="1"/>
          </p:cNvSpPr>
          <p:nvPr/>
        </p:nvSpPr>
        <p:spPr bwMode="auto">
          <a:xfrm>
            <a:off x="457200" y="1749932"/>
            <a:ext cx="78069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a:latin typeface="黑体" panose="02010609060101010101" pitchFamily="49" charset="-122"/>
                <a:ea typeface="黑体" panose="02010609060101010101" pitchFamily="49" charset="-122"/>
              </a:rPr>
              <a:t>只有单股流体进、出的稳定流动开口系统</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p:txBody>
      </p:sp>
      <p:sp>
        <p:nvSpPr>
          <p:cNvPr id="86021" name="矩形 520202"/>
          <p:cNvSpPr>
            <a:spLocks noChangeArrowheads="1"/>
          </p:cNvSpPr>
          <p:nvPr/>
        </p:nvSpPr>
        <p:spPr bwMode="auto">
          <a:xfrm>
            <a:off x="589722" y="4870819"/>
            <a:ext cx="49231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a:latin typeface="黑体" panose="02010609060101010101" pitchFamily="49" charset="-122"/>
                <a:ea typeface="黑体" panose="02010609060101010101" pitchFamily="49" charset="-122"/>
              </a:rPr>
              <a:t>考虑单位质量的流动工质</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p:txBody>
      </p:sp>
      <p:graphicFrame>
        <p:nvGraphicFramePr>
          <p:cNvPr id="86022" name="对象 520203"/>
          <p:cNvGraphicFramePr/>
          <p:nvPr/>
        </p:nvGraphicFramePr>
        <p:xfrm>
          <a:off x="2789238" y="5562600"/>
          <a:ext cx="3565525" cy="947738"/>
        </p:xfrm>
        <a:graphic>
          <a:graphicData uri="http://schemas.openxmlformats.org/presentationml/2006/ole">
            <mc:AlternateContent xmlns:mc="http://schemas.openxmlformats.org/markup-compatibility/2006">
              <mc:Choice xmlns:v="urn:schemas-microsoft-com:vml" Requires="v">
                <p:oleObj spid="_x0000_s93298" name="Equation" r:id="rId1" imgW="35356800" imgH="9448800" progId="Equation.DSMT4">
                  <p:embed/>
                </p:oleObj>
              </mc:Choice>
              <mc:Fallback>
                <p:oleObj name="Equation" r:id="rId1" imgW="35356800" imgH="9448800" progId="Equation.DSMT4">
                  <p:embed/>
                  <p:pic>
                    <p:nvPicPr>
                      <p:cNvPr id="0" name="对象 520203"/>
                      <p:cNvPicPr>
                        <a:picLocks noChangeArrowheads="1"/>
                      </p:cNvPicPr>
                      <p:nvPr/>
                    </p:nvPicPr>
                    <p:blipFill>
                      <a:blip r:embed="rId2"/>
                      <a:srcRect/>
                      <a:stretch>
                        <a:fillRect/>
                      </a:stretch>
                    </p:blipFill>
                    <p:spPr bwMode="auto">
                      <a:xfrm>
                        <a:off x="2789238" y="5562600"/>
                        <a:ext cx="3565525"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1825650" y="324507"/>
          <a:ext cx="5492700" cy="1047600"/>
        </p:xfrm>
        <a:graphic>
          <a:graphicData uri="http://schemas.openxmlformats.org/presentationml/2006/ole">
            <mc:AlternateContent xmlns:mc="http://schemas.openxmlformats.org/markup-compatibility/2006">
              <mc:Choice xmlns:v="urn:schemas-microsoft-com:vml" Requires="v">
                <p:oleObj spid="_x0000_s93299" name="Equation" r:id="rId3" imgW="52730400" imgH="10058400" progId="Equation.DSMT4">
                  <p:embed/>
                </p:oleObj>
              </mc:Choice>
              <mc:Fallback>
                <p:oleObj name="Equation" r:id="rId3" imgW="52730400" imgH="10058400" progId="Equation.DSMT4">
                  <p:embed/>
                  <p:pic>
                    <p:nvPicPr>
                      <p:cNvPr id="0" name="对象 8"/>
                      <p:cNvPicPr>
                        <a:picLocks noChangeAspect="1" noChangeArrowheads="1"/>
                      </p:cNvPicPr>
                      <p:nvPr/>
                    </p:nvPicPr>
                    <p:blipFill>
                      <a:blip r:embed="rId4"/>
                      <a:srcRect/>
                      <a:stretch>
                        <a:fillRect/>
                      </a:stretch>
                    </p:blipFill>
                    <p:spPr bwMode="auto">
                      <a:xfrm>
                        <a:off x="1825650" y="324507"/>
                        <a:ext cx="5492700" cy="104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2444750" y="2477829"/>
          <a:ext cx="4254500" cy="1047750"/>
        </p:xfrm>
        <a:graphic>
          <a:graphicData uri="http://schemas.openxmlformats.org/presentationml/2006/ole">
            <mc:AlternateContent xmlns:mc="http://schemas.openxmlformats.org/markup-compatibility/2006">
              <mc:Choice xmlns:v="urn:schemas-microsoft-com:vml" Requires="v">
                <p:oleObj spid="_x0000_s93300" name="Equation" r:id="rId5" imgW="1701800" imgH="419100" progId="Equation.DSMT4">
                  <p:embed/>
                </p:oleObj>
              </mc:Choice>
              <mc:Fallback>
                <p:oleObj name="Equation" r:id="rId5" imgW="1701800" imgH="4191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4750" y="2477829"/>
                        <a:ext cx="425450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2509145" y="3668701"/>
          <a:ext cx="4125710" cy="983823"/>
        </p:xfrm>
        <a:graphic>
          <a:graphicData uri="http://schemas.openxmlformats.org/presentationml/2006/ole">
            <mc:AlternateContent xmlns:mc="http://schemas.openxmlformats.org/markup-compatibility/2006">
              <mc:Choice xmlns:v="urn:schemas-microsoft-com:vml" Requires="v">
                <p:oleObj spid="_x0000_s93301" name="Equation" r:id="rId7" imgW="1650365" imgH="393700" progId="Equation.DSMT4">
                  <p:embed/>
                </p:oleObj>
              </mc:Choice>
              <mc:Fallback>
                <p:oleObj name="Equation" r:id="rId7" imgW="1650365" imgH="393700" progId="Equation.DSMT4">
                  <p:embed/>
                  <p:pic>
                    <p:nvPicPr>
                      <p:cNvPr id="0"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9145" y="3668701"/>
                        <a:ext cx="4125710" cy="983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矩形 521219"/>
          <p:cNvSpPr>
            <a:spLocks noChangeArrowheads="1"/>
          </p:cNvSpPr>
          <p:nvPr/>
        </p:nvSpPr>
        <p:spPr bwMode="auto">
          <a:xfrm>
            <a:off x="762000" y="1600200"/>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单股流</a:t>
            </a:r>
            <a:r>
              <a:rPr lang="zh-CN" altLang="en-US" sz="3200" b="1" baseline="0" dirty="0">
                <a:solidFill>
                  <a:srgbClr val="FF0000"/>
                </a:solidFill>
                <a:latin typeface="黑体" panose="02010609060101010101" pitchFamily="49" charset="-122"/>
                <a:ea typeface="黑体" panose="02010609060101010101" pitchFamily="49" charset="-122"/>
              </a:rPr>
              <a:t>绝热</a:t>
            </a:r>
            <a:r>
              <a:rPr lang="zh-CN" altLang="en-US" sz="3200" b="1" baseline="0" dirty="0">
                <a:latin typeface="黑体" panose="02010609060101010101" pitchFamily="49" charset="-122"/>
                <a:ea typeface="黑体" panose="02010609060101010101" pitchFamily="49" charset="-122"/>
              </a:rPr>
              <a:t>稳定流动过程 </a:t>
            </a:r>
            <a:endParaRPr lang="zh-CN" altLang="en-US" sz="3200" b="1" baseline="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87043" name="矩形 52122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5" name="矩形 52122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7046" name="对象 521224"/>
          <p:cNvGraphicFramePr/>
          <p:nvPr/>
        </p:nvGraphicFramePr>
        <p:xfrm>
          <a:off x="2493963" y="2612715"/>
          <a:ext cx="2482850" cy="669925"/>
        </p:xfrm>
        <a:graphic>
          <a:graphicData uri="http://schemas.openxmlformats.org/presentationml/2006/ole">
            <mc:AlternateContent xmlns:mc="http://schemas.openxmlformats.org/markup-compatibility/2006">
              <mc:Choice xmlns:v="urn:schemas-microsoft-com:vml" Requires="v">
                <p:oleObj spid="_x0000_s94312" name="Equation" r:id="rId1" imgW="22860000" imgH="6096000" progId="Equation.DSMT4">
                  <p:embed/>
                </p:oleObj>
              </mc:Choice>
              <mc:Fallback>
                <p:oleObj name="Equation" r:id="rId1" imgW="22860000" imgH="6096000" progId="Equation.DSMT4">
                  <p:embed/>
                  <p:pic>
                    <p:nvPicPr>
                      <p:cNvPr id="0" name="对象 521224"/>
                      <p:cNvPicPr>
                        <a:picLocks noChangeArrowheads="1"/>
                      </p:cNvPicPr>
                      <p:nvPr/>
                    </p:nvPicPr>
                    <p:blipFill>
                      <a:blip r:embed="rId2"/>
                      <a:srcRect/>
                      <a:stretch>
                        <a:fillRect/>
                      </a:stretch>
                    </p:blipFill>
                    <p:spPr bwMode="auto">
                      <a:xfrm>
                        <a:off x="2493963" y="2612715"/>
                        <a:ext cx="248285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8" name="矩形 521228"/>
          <p:cNvSpPr>
            <a:spLocks noChangeArrowheads="1"/>
          </p:cNvSpPr>
          <p:nvPr/>
        </p:nvSpPr>
        <p:spPr bwMode="auto">
          <a:xfrm>
            <a:off x="762000" y="3492499"/>
            <a:ext cx="434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若流动过程可逆 </a:t>
            </a:r>
            <a:endParaRPr lang="zh-CN" altLang="en-US" sz="3200" b="1" dirty="0">
              <a:latin typeface="黑体" panose="02010609060101010101" pitchFamily="49" charset="-122"/>
              <a:ea typeface="黑体" panose="02010609060101010101" pitchFamily="49" charset="-122"/>
            </a:endParaRPr>
          </a:p>
        </p:txBody>
      </p:sp>
      <p:sp>
        <p:nvSpPr>
          <p:cNvPr id="87049" name="矩形 521230"/>
          <p:cNvSpPr>
            <a:spLocks noChangeArrowheads="1"/>
          </p:cNvSpPr>
          <p:nvPr/>
        </p:nvSpPr>
        <p:spPr bwMode="auto">
          <a:xfrm>
            <a:off x="0" y="2190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7051" name="对象 521231"/>
          <p:cNvGraphicFramePr/>
          <p:nvPr/>
        </p:nvGraphicFramePr>
        <p:xfrm>
          <a:off x="2662238" y="4264025"/>
          <a:ext cx="1235075" cy="681038"/>
        </p:xfrm>
        <a:graphic>
          <a:graphicData uri="http://schemas.openxmlformats.org/presentationml/2006/ole">
            <mc:AlternateContent xmlns:mc="http://schemas.openxmlformats.org/markup-compatibility/2006">
              <mc:Choice xmlns:v="urn:schemas-microsoft-com:vml" Requires="v">
                <p:oleObj spid="_x0000_s94313" name="Equation" r:id="rId3" imgW="10058400" imgH="5486400" progId="Equation.DSMT4">
                  <p:embed/>
                </p:oleObj>
              </mc:Choice>
              <mc:Fallback>
                <p:oleObj name="Equation" r:id="rId3" imgW="10058400" imgH="5486400" progId="Equation.DSMT4">
                  <p:embed/>
                  <p:pic>
                    <p:nvPicPr>
                      <p:cNvPr id="0" name="对象 521231"/>
                      <p:cNvPicPr>
                        <a:picLocks noChangeArrowheads="1"/>
                      </p:cNvPicPr>
                      <p:nvPr/>
                    </p:nvPicPr>
                    <p:blipFill>
                      <a:blip r:embed="rId4"/>
                      <a:srcRect/>
                      <a:stretch>
                        <a:fillRect/>
                      </a:stretch>
                    </p:blipFill>
                    <p:spPr bwMode="auto">
                      <a:xfrm>
                        <a:off x="2662238" y="4264025"/>
                        <a:ext cx="1235075"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2436259" y="296331"/>
          <a:ext cx="4125710" cy="983823"/>
        </p:xfrm>
        <a:graphic>
          <a:graphicData uri="http://schemas.openxmlformats.org/presentationml/2006/ole">
            <mc:AlternateContent xmlns:mc="http://schemas.openxmlformats.org/markup-compatibility/2006">
              <mc:Choice xmlns:v="urn:schemas-microsoft-com:vml" Requires="v">
                <p:oleObj spid="_x0000_s94314" name="Equation" r:id="rId5" imgW="1650365" imgH="393700" progId="Equation.DSMT4">
                  <p:embed/>
                </p:oleObj>
              </mc:Choice>
              <mc:Fallback>
                <p:oleObj name="Equation" r:id="rId5" imgW="1650365" imgH="393700" progId="Equation.DSMT4">
                  <p:embed/>
                  <p:pic>
                    <p:nvPicPr>
                      <p:cNvPr id="0"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6259" y="296331"/>
                        <a:ext cx="4125710" cy="983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59378" y="2499684"/>
            <a:ext cx="3316511" cy="4121253"/>
          </a:xfrm>
          <a:prstGeom prst="rect">
            <a:avLst/>
          </a:prstGeom>
        </p:spPr>
      </p:pic>
    </p:spTree>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509953"/>
          <p:cNvSpPr>
            <a:spLocks noChangeArrowheads="1"/>
          </p:cNvSpPr>
          <p:nvPr/>
        </p:nvSpPr>
        <p:spPr bwMode="auto">
          <a:xfrm>
            <a:off x="609600" y="1752600"/>
            <a:ext cx="77724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baseline="0" dirty="0">
                <a:latin typeface="黑体" panose="02010609060101010101" pitchFamily="49" charset="-122"/>
                <a:ea typeface="黑体" panose="02010609060101010101" pitchFamily="49" charset="-122"/>
              </a:rPr>
              <a:t>6</a:t>
            </a:r>
            <a:r>
              <a:rPr lang="zh-CN" altLang="en-US" sz="4400" b="1" baseline="0" dirty="0">
                <a:latin typeface="黑体" panose="02010609060101010101" pitchFamily="49" charset="-122"/>
                <a:ea typeface="黑体" panose="02010609060101010101" pitchFamily="49" charset="-122"/>
              </a:rPr>
              <a:t>－</a:t>
            </a:r>
            <a:r>
              <a:rPr lang="en-US" altLang="zh-CN" sz="4400" b="1" baseline="0" dirty="0">
                <a:latin typeface="黑体" panose="02010609060101010101" pitchFamily="49" charset="-122"/>
                <a:ea typeface="黑体" panose="02010609060101010101" pitchFamily="49" charset="-122"/>
              </a:rPr>
              <a:t>5</a:t>
            </a:r>
            <a:r>
              <a:rPr lang="zh-CN" altLang="en-US" sz="4400" b="1" baseline="0" dirty="0">
                <a:latin typeface="黑体" panose="02010609060101010101" pitchFamily="49" charset="-122"/>
                <a:ea typeface="黑体" panose="02010609060101010101" pitchFamily="49" charset="-122"/>
              </a:rPr>
              <a:t>　熵分析举例</a:t>
            </a:r>
            <a:endParaRPr lang="zh-CN" altLang="en-US" sz="4400" b="1" baseline="0"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矩形 123905"/>
          <p:cNvSpPr>
            <a:spLocks noChangeArrowheads="1"/>
          </p:cNvSpPr>
          <p:nvPr/>
        </p:nvSpPr>
        <p:spPr bwMode="auto">
          <a:xfrm>
            <a:off x="457200" y="897444"/>
            <a:ext cx="77724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b="1" baseline="0" dirty="0"/>
              <a:t>        </a:t>
            </a:r>
            <a:r>
              <a:rPr lang="zh-CN" altLang="en-US" sz="2400" b="1" baseline="0" dirty="0" smtClean="0">
                <a:latin typeface="Times New Roman" panose="02020603050405020304" pitchFamily="18" charset="0"/>
                <a:cs typeface="Times New Roman" panose="02020603050405020304" pitchFamily="18" charset="0"/>
              </a:rPr>
              <a:t>某天室外的温度为</a:t>
            </a:r>
            <a:r>
              <a:rPr lang="en-US" altLang="zh-CN" sz="2400" b="1" baseline="0" dirty="0" smtClean="0">
                <a:latin typeface="Times New Roman" panose="02020603050405020304" pitchFamily="18" charset="0"/>
                <a:cs typeface="Times New Roman" panose="02020603050405020304" pitchFamily="18" charset="0"/>
              </a:rPr>
              <a:t>0 ℃</a:t>
            </a:r>
            <a:r>
              <a:rPr lang="zh-CN" altLang="en-US" sz="2400" b="1" baseline="0" dirty="0" smtClean="0">
                <a:latin typeface="Times New Roman" panose="02020603050405020304" pitchFamily="18" charset="0"/>
                <a:cs typeface="Times New Roman" panose="02020603050405020304" pitchFamily="18" charset="0"/>
              </a:rPr>
              <a:t>，而室内温度保持在</a:t>
            </a:r>
            <a:r>
              <a:rPr lang="en-US" altLang="zh-CN" sz="2400" b="1" baseline="0" dirty="0" smtClean="0">
                <a:latin typeface="Times New Roman" panose="02020603050405020304" pitchFamily="18" charset="0"/>
                <a:cs typeface="Times New Roman" panose="02020603050405020304" pitchFamily="18" charset="0"/>
              </a:rPr>
              <a:t>27 ℃</a:t>
            </a:r>
            <a:r>
              <a:rPr lang="zh-CN" altLang="en-US" sz="2400" b="1" baseline="0" dirty="0" smtClean="0">
                <a:latin typeface="Times New Roman" panose="02020603050405020304" pitchFamily="18" charset="0"/>
                <a:cs typeface="Times New Roman" panose="02020603050405020304" pitchFamily="18" charset="0"/>
              </a:rPr>
              <a:t>。单位时间内通过房子的砖墙从室内传向室外的热量为</a:t>
            </a:r>
            <a:r>
              <a:rPr lang="en-US" altLang="zh-CN" sz="2400" b="1" baseline="0" dirty="0" smtClean="0">
                <a:latin typeface="Times New Roman" panose="02020603050405020304" pitchFamily="18" charset="0"/>
                <a:cs typeface="Times New Roman" panose="02020603050405020304" pitchFamily="18" charset="0"/>
              </a:rPr>
              <a:t>1035 J</a:t>
            </a:r>
            <a:r>
              <a:rPr lang="zh-CN" altLang="en-US" sz="2400" b="1" baseline="0" dirty="0" smtClean="0">
                <a:latin typeface="Times New Roman" panose="02020603050405020304" pitchFamily="18" charset="0"/>
                <a:cs typeface="Times New Roman" panose="02020603050405020304" pitchFamily="18" charset="0"/>
              </a:rPr>
              <a:t>。墙壁的内表面（室内一侧）和外表面（室外一侧）温度分别保持在</a:t>
            </a:r>
            <a:r>
              <a:rPr lang="en-US" altLang="zh-CN" sz="2400" b="1" baseline="0" dirty="0" smtClean="0">
                <a:latin typeface="Times New Roman" panose="02020603050405020304" pitchFamily="18" charset="0"/>
                <a:cs typeface="Times New Roman" panose="02020603050405020304" pitchFamily="18" charset="0"/>
              </a:rPr>
              <a:t>20 ℃</a:t>
            </a:r>
            <a:r>
              <a:rPr lang="zh-CN" altLang="en-US" sz="2400" b="1" baseline="0" dirty="0" smtClean="0">
                <a:latin typeface="Times New Roman" panose="02020603050405020304" pitchFamily="18" charset="0"/>
                <a:cs typeface="Times New Roman" panose="02020603050405020304" pitchFamily="18" charset="0"/>
              </a:rPr>
              <a:t>和</a:t>
            </a:r>
            <a:r>
              <a:rPr lang="en-US" altLang="zh-CN" sz="2400" b="1" baseline="0" dirty="0" smtClean="0">
                <a:latin typeface="Times New Roman" panose="02020603050405020304" pitchFamily="18" charset="0"/>
                <a:cs typeface="Times New Roman" panose="02020603050405020304" pitchFamily="18" charset="0"/>
              </a:rPr>
              <a:t>5 ℃</a:t>
            </a:r>
            <a:r>
              <a:rPr lang="zh-CN" altLang="en-US" sz="2400" b="1" baseline="0" dirty="0" smtClean="0">
                <a:latin typeface="Times New Roman" panose="02020603050405020304" pitchFamily="18" charset="0"/>
                <a:cs typeface="Times New Roman" panose="02020603050405020304" pitchFamily="18" charset="0"/>
              </a:rPr>
              <a:t>。求单位时间墙壁内部的熵产以及传热过程引起的总熵产。</a:t>
            </a:r>
            <a:endParaRPr lang="zh-CN" altLang="en-US" sz="2400" b="1" baseline="0" dirty="0" smtClean="0">
              <a:latin typeface="Times New Roman" panose="02020603050405020304" pitchFamily="18" charset="0"/>
              <a:cs typeface="Times New Roman" panose="02020603050405020304" pitchFamily="18" charset="0"/>
            </a:endParaRPr>
          </a:p>
          <a:p>
            <a:r>
              <a:rPr lang="zh-CN" altLang="en-US" sz="2400" b="1" baseline="0" dirty="0" smtClean="0">
                <a:solidFill>
                  <a:srgbClr val="0000CC"/>
                </a:solidFill>
                <a:latin typeface="Times New Roman" panose="02020603050405020304" pitchFamily="18" charset="0"/>
                <a:cs typeface="Times New Roman" panose="02020603050405020304" pitchFamily="18" charset="0"/>
              </a:rPr>
              <a:t>假设此过程为稳态传热过程，墙壁任意点的状态不随时间变化；砖墙高</a:t>
            </a:r>
            <a:r>
              <a:rPr lang="en-US" altLang="zh-CN" sz="2400" b="1" baseline="0" dirty="0" smtClean="0">
                <a:solidFill>
                  <a:srgbClr val="0000CC"/>
                </a:solidFill>
                <a:latin typeface="Times New Roman" panose="02020603050405020304" pitchFamily="18" charset="0"/>
                <a:cs typeface="Times New Roman" panose="02020603050405020304" pitchFamily="18" charset="0"/>
              </a:rPr>
              <a:t>6</a:t>
            </a:r>
            <a:r>
              <a:rPr lang="zh-CN" altLang="en-US" sz="2400" b="1" baseline="0" dirty="0" smtClean="0">
                <a:solidFill>
                  <a:srgbClr val="0000CC"/>
                </a:solidFill>
                <a:latin typeface="Times New Roman" panose="02020603050405020304" pitchFamily="18" charset="0"/>
                <a:cs typeface="Times New Roman" panose="02020603050405020304" pitchFamily="18" charset="0"/>
              </a:rPr>
              <a:t>米，长</a:t>
            </a:r>
            <a:r>
              <a:rPr lang="en-US" altLang="zh-CN" sz="2400" b="1" baseline="0" dirty="0" smtClean="0">
                <a:solidFill>
                  <a:srgbClr val="0000CC"/>
                </a:solidFill>
                <a:latin typeface="Times New Roman" panose="02020603050405020304" pitchFamily="18" charset="0"/>
                <a:cs typeface="Times New Roman" panose="02020603050405020304" pitchFamily="18" charset="0"/>
              </a:rPr>
              <a:t>5</a:t>
            </a:r>
            <a:r>
              <a:rPr lang="zh-CN" altLang="en-US" sz="2400" b="1" baseline="0" dirty="0" smtClean="0">
                <a:solidFill>
                  <a:srgbClr val="0000CC"/>
                </a:solidFill>
                <a:latin typeface="Times New Roman" panose="02020603050405020304" pitchFamily="18" charset="0"/>
                <a:cs typeface="Times New Roman" panose="02020603050405020304" pitchFamily="18" charset="0"/>
              </a:rPr>
              <a:t>米，厚度为</a:t>
            </a:r>
            <a:r>
              <a:rPr lang="en-US" altLang="zh-CN" sz="2400" b="1" baseline="0" dirty="0" smtClean="0">
                <a:solidFill>
                  <a:srgbClr val="0000CC"/>
                </a:solidFill>
                <a:latin typeface="Times New Roman" panose="02020603050405020304" pitchFamily="18" charset="0"/>
                <a:cs typeface="Times New Roman" panose="02020603050405020304" pitchFamily="18" charset="0"/>
              </a:rPr>
              <a:t>30</a:t>
            </a:r>
            <a:r>
              <a:rPr lang="zh-CN" altLang="en-US" sz="2400" b="1" baseline="0" dirty="0" smtClean="0">
                <a:solidFill>
                  <a:srgbClr val="0000CC"/>
                </a:solidFill>
                <a:latin typeface="Times New Roman" panose="02020603050405020304" pitchFamily="18" charset="0"/>
                <a:cs typeface="Times New Roman" panose="02020603050405020304" pitchFamily="18" charset="0"/>
              </a:rPr>
              <a:t>厘米，视为一维导热过程。</a:t>
            </a:r>
            <a:r>
              <a:rPr lang="zh-CN" altLang="en-US" sz="2400" b="1" baseline="0" dirty="0" smtClean="0">
                <a:latin typeface="Times New Roman" panose="02020603050405020304" pitchFamily="18" charset="0"/>
                <a:cs typeface="Times New Roman" panose="02020603050405020304" pitchFamily="18" charset="0"/>
              </a:rPr>
              <a:t> </a:t>
            </a:r>
            <a:endParaRPr lang="zh-CN" altLang="en-US" sz="2400" b="1" baseline="0" dirty="0">
              <a:latin typeface="Times New Roman" panose="02020603050405020304" pitchFamily="18" charset="0"/>
              <a:cs typeface="Times New Roman" panose="02020603050405020304" pitchFamily="18" charset="0"/>
            </a:endParaRPr>
          </a:p>
        </p:txBody>
      </p:sp>
      <p:sp>
        <p:nvSpPr>
          <p:cNvPr id="78850" name="矩形 123906"/>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矩形 123908"/>
          <p:cNvSpPr>
            <a:spLocks noChangeArrowheads="1"/>
          </p:cNvSpPr>
          <p:nvPr/>
        </p:nvSpPr>
        <p:spPr bwMode="auto">
          <a:xfrm>
            <a:off x="457200" y="228600"/>
            <a:ext cx="37861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a:latin typeface="黑体" panose="02010609060101010101" pitchFamily="49" charset="-122"/>
                <a:ea typeface="黑体" panose="02010609060101010101" pitchFamily="49" charset="-122"/>
              </a:rPr>
              <a:t>例</a:t>
            </a:r>
            <a:r>
              <a:rPr lang="en-US" altLang="zh-CN" sz="3200" b="1" baseline="0">
                <a:latin typeface="黑体" panose="02010609060101010101" pitchFamily="49" charset="-122"/>
                <a:ea typeface="黑体" panose="02010609060101010101" pitchFamily="49" charset="-122"/>
              </a:rPr>
              <a:t>1</a:t>
            </a:r>
            <a:r>
              <a:rPr lang="zh-CN" altLang="en-US" sz="3200" b="1" baseline="0">
                <a:latin typeface="黑体" panose="02010609060101010101" pitchFamily="49" charset="-122"/>
                <a:ea typeface="黑体" panose="02010609060101010101" pitchFamily="49" charset="-122"/>
              </a:rPr>
              <a:t>：墙壁内的熵产</a:t>
            </a:r>
            <a:r>
              <a:rPr lang="zh-CN" altLang="en-US" sz="3200">
                <a:latin typeface="黑体" panose="02010609060101010101" pitchFamily="49" charset="-122"/>
                <a:ea typeface="黑体" panose="02010609060101010101" pitchFamily="49" charset="-122"/>
              </a:rPr>
              <a:t> </a:t>
            </a:r>
            <a:endParaRPr lang="zh-CN" altLang="en-US" sz="320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95618" y="3767612"/>
            <a:ext cx="4340728" cy="2609314"/>
          </a:xfrm>
          <a:prstGeom prst="rect">
            <a:avLst/>
          </a:prstGeom>
        </p:spPr>
      </p:pic>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124930"/>
          <p:cNvSpPr>
            <a:spLocks noChangeArrowheads="1"/>
          </p:cNvSpPr>
          <p:nvPr/>
        </p:nvSpPr>
        <p:spPr bwMode="auto">
          <a:xfrm>
            <a:off x="685800" y="2606675"/>
            <a:ext cx="6705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baseline="0" dirty="0">
                <a:latin typeface="黑体" panose="02010609060101010101" pitchFamily="49" charset="-122"/>
                <a:ea typeface="黑体" panose="02010609060101010101" pitchFamily="49" charset="-122"/>
              </a:rPr>
              <a:t>（</a:t>
            </a:r>
            <a:r>
              <a:rPr lang="en-US" altLang="zh-CN" sz="2400" b="1" baseline="0" dirty="0">
                <a:latin typeface="黑体" panose="02010609060101010101" pitchFamily="49" charset="-122"/>
                <a:ea typeface="黑体" panose="02010609060101010101" pitchFamily="49" charset="-122"/>
              </a:rPr>
              <a:t>1</a:t>
            </a:r>
            <a:r>
              <a:rPr lang="zh-CN" altLang="en-US" sz="2400" b="1" baseline="0" dirty="0">
                <a:latin typeface="黑体" panose="02010609060101010101" pitchFamily="49" charset="-122"/>
                <a:ea typeface="黑体" panose="02010609060101010101" pitchFamily="49" charset="-122"/>
              </a:rPr>
              <a:t>）求单位时间墙壁内部的熵产</a:t>
            </a:r>
            <a:endParaRPr lang="zh-CN" altLang="en-US" sz="2400" b="1" baseline="0" dirty="0">
              <a:latin typeface="黑体" panose="02010609060101010101" pitchFamily="49" charset="-122"/>
              <a:ea typeface="黑体" panose="02010609060101010101" pitchFamily="49" charset="-122"/>
            </a:endParaRPr>
          </a:p>
        </p:txBody>
      </p:sp>
      <p:sp>
        <p:nvSpPr>
          <p:cNvPr id="79875" name="矩形 124931"/>
          <p:cNvSpPr>
            <a:spLocks noChangeArrowheads="1"/>
          </p:cNvSpPr>
          <p:nvPr/>
        </p:nvSpPr>
        <p:spPr bwMode="auto">
          <a:xfrm>
            <a:off x="496888" y="3104267"/>
            <a:ext cx="818991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latin typeface="黑体" panose="02010609060101010101" pitchFamily="49" charset="-122"/>
                <a:ea typeface="黑体" panose="02010609060101010101" pitchFamily="49" charset="-122"/>
              </a:rPr>
              <a:t>由于与外界无质量交换，研究系统为闭口系。由于为稳态传热过程，墙壁的熵不变。热量从墙壁内表面流入，再从墙壁外表面流出。</a:t>
            </a:r>
            <a:r>
              <a:rPr lang="zh-CN" altLang="en-US" sz="2400" baseline="0" dirty="0">
                <a:latin typeface="黑体" panose="02010609060101010101" pitchFamily="49" charset="-122"/>
                <a:ea typeface="黑体" panose="02010609060101010101" pitchFamily="49" charset="-122"/>
              </a:rPr>
              <a:t> </a:t>
            </a:r>
            <a:endParaRPr lang="zh-CN" altLang="en-US" sz="2400" baseline="0" dirty="0">
              <a:latin typeface="黑体" panose="02010609060101010101" pitchFamily="49" charset="-122"/>
              <a:ea typeface="黑体" panose="02010609060101010101" pitchFamily="49" charset="-122"/>
            </a:endParaRPr>
          </a:p>
        </p:txBody>
      </p:sp>
      <p:sp>
        <p:nvSpPr>
          <p:cNvPr id="79876" name="矩形 124932"/>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9877" name="对象 124933"/>
          <p:cNvGraphicFramePr/>
          <p:nvPr/>
        </p:nvGraphicFramePr>
        <p:xfrm>
          <a:off x="1219200" y="4495800"/>
          <a:ext cx="2673350" cy="574675"/>
        </p:xfrm>
        <a:graphic>
          <a:graphicData uri="http://schemas.openxmlformats.org/presentationml/2006/ole">
            <mc:AlternateContent xmlns:mc="http://schemas.openxmlformats.org/markup-compatibility/2006">
              <mc:Choice xmlns:v="urn:schemas-microsoft-com:vml" Requires="v">
                <p:oleObj spid="_x0000_s95274" name="" r:id="rId1" imgW="1370965" imgH="292100" progId="Equation.DSMT4">
                  <p:embed/>
                </p:oleObj>
              </mc:Choice>
              <mc:Fallback>
                <p:oleObj name="" r:id="rId1" imgW="1370965" imgH="292100" progId="Equation.DSMT4">
                  <p:embed/>
                  <p:pic>
                    <p:nvPicPr>
                      <p:cNvPr id="0" name="对象 12493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495800"/>
                        <a:ext cx="26733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78" name="矩形 124934"/>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9879" name="对象 124935"/>
          <p:cNvGraphicFramePr/>
          <p:nvPr/>
        </p:nvGraphicFramePr>
        <p:xfrm>
          <a:off x="1252538" y="5410200"/>
          <a:ext cx="2905125" cy="854075"/>
        </p:xfrm>
        <a:graphic>
          <a:graphicData uri="http://schemas.openxmlformats.org/presentationml/2006/ole">
            <mc:AlternateContent xmlns:mc="http://schemas.openxmlformats.org/markup-compatibility/2006">
              <mc:Choice xmlns:v="urn:schemas-microsoft-com:vml" Requires="v">
                <p:oleObj spid="_x0000_s95275" name="" r:id="rId3" imgW="1523365" imgH="444500" progId="Equation.DSMT4">
                  <p:embed/>
                </p:oleObj>
              </mc:Choice>
              <mc:Fallback>
                <p:oleObj name="" r:id="rId3" imgW="1523365" imgH="444500" progId="Equation.DSMT4">
                  <p:embed/>
                  <p:pic>
                    <p:nvPicPr>
                      <p:cNvPr id="0" name="对象 12493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2538" y="5410200"/>
                        <a:ext cx="29051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4937" name="右大括号 124936"/>
          <p:cNvSpPr/>
          <p:nvPr/>
        </p:nvSpPr>
        <p:spPr bwMode="auto">
          <a:xfrm>
            <a:off x="4343400" y="4800600"/>
            <a:ext cx="228600" cy="1143000"/>
          </a:xfrm>
          <a:prstGeom prst="rightBrace">
            <a:avLst>
              <a:gd name="adj1" fmla="val 4155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881" name="矩形 12493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4939" name="对象 124938"/>
          <p:cNvGraphicFramePr/>
          <p:nvPr/>
        </p:nvGraphicFramePr>
        <p:xfrm>
          <a:off x="4800600" y="4267200"/>
          <a:ext cx="3200400" cy="769938"/>
        </p:xfrm>
        <a:graphic>
          <a:graphicData uri="http://schemas.openxmlformats.org/presentationml/2006/ole">
            <mc:AlternateContent xmlns:mc="http://schemas.openxmlformats.org/markup-compatibility/2006">
              <mc:Choice xmlns:v="urn:schemas-microsoft-com:vml" Requires="v">
                <p:oleObj spid="_x0000_s95276" name="" r:id="rId5" imgW="1854200" imgH="444500" progId="Equation.DSMT4">
                  <p:embed/>
                </p:oleObj>
              </mc:Choice>
              <mc:Fallback>
                <p:oleObj name="" r:id="rId5" imgW="1854200" imgH="444500" progId="Equation.DSMT4">
                  <p:embed/>
                  <p:pic>
                    <p:nvPicPr>
                      <p:cNvPr id="0" name="对象 12493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4267200"/>
                        <a:ext cx="32004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83" name="矩形 12493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4941" name="对象 124940"/>
          <p:cNvGraphicFramePr/>
          <p:nvPr/>
        </p:nvGraphicFramePr>
        <p:xfrm>
          <a:off x="4876800" y="5181600"/>
          <a:ext cx="2971800" cy="763588"/>
        </p:xfrm>
        <a:graphic>
          <a:graphicData uri="http://schemas.openxmlformats.org/presentationml/2006/ole">
            <mc:AlternateContent xmlns:mc="http://schemas.openxmlformats.org/markup-compatibility/2006">
              <mc:Choice xmlns:v="urn:schemas-microsoft-com:vml" Requires="v">
                <p:oleObj spid="_x0000_s95277" name="" r:id="rId7" imgW="1663700" imgH="431800" progId="Equation.DSMT4">
                  <p:embed/>
                </p:oleObj>
              </mc:Choice>
              <mc:Fallback>
                <p:oleObj name="" r:id="rId7" imgW="1663700" imgH="431800" progId="Equation.DSMT4">
                  <p:embed/>
                  <p:pic>
                    <p:nvPicPr>
                      <p:cNvPr id="0" name="对象 12494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5181600"/>
                        <a:ext cx="29718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85" name="矩形 124941"/>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4943" name="对象 124942"/>
          <p:cNvGraphicFramePr/>
          <p:nvPr/>
        </p:nvGraphicFramePr>
        <p:xfrm>
          <a:off x="5181600" y="6019800"/>
          <a:ext cx="1981200" cy="427038"/>
        </p:xfrm>
        <a:graphic>
          <a:graphicData uri="http://schemas.openxmlformats.org/presentationml/2006/ole">
            <mc:AlternateContent xmlns:mc="http://schemas.openxmlformats.org/markup-compatibility/2006">
              <mc:Choice xmlns:v="urn:schemas-microsoft-com:vml" Requires="v">
                <p:oleObj spid="_x0000_s95278" name="" r:id="rId9" imgW="1104900" imgH="241300" progId="Equation.DSMT4">
                  <p:embed/>
                </p:oleObj>
              </mc:Choice>
              <mc:Fallback>
                <p:oleObj name="" r:id="rId9" imgW="1104900" imgH="241300" progId="Equation.DSMT4">
                  <p:embed/>
                  <p:pic>
                    <p:nvPicPr>
                      <p:cNvPr id="0" name="对象 12494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1600" y="6019800"/>
                        <a:ext cx="1981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87" name="矩形 124943"/>
          <p:cNvSpPr>
            <a:spLocks noChangeArrowheads="1"/>
          </p:cNvSpPr>
          <p:nvPr/>
        </p:nvSpPr>
        <p:spPr bwMode="auto">
          <a:xfrm>
            <a:off x="5715000" y="1524000"/>
            <a:ext cx="9605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200" b="1" baseline="0" dirty="0">
                <a:latin typeface="Times New Roman" panose="02020603050405020304" pitchFamily="18" charset="0"/>
                <a:cs typeface="Times New Roman" panose="02020603050405020304" pitchFamily="18" charset="0"/>
              </a:rPr>
              <a:t>1035 J</a:t>
            </a:r>
            <a:endParaRPr lang="en-US" altLang="zh-CN" sz="2200" b="1" baseline="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82669" y="358998"/>
            <a:ext cx="3578662" cy="215207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4937"/>
                                        </p:tgtEl>
                                        <p:attrNameLst>
                                          <p:attrName>style.visibility</p:attrName>
                                        </p:attrNameLst>
                                      </p:cBhvr>
                                      <p:to>
                                        <p:strVal val="visible"/>
                                      </p:to>
                                    </p:set>
                                    <p:animEffect transition="in" filter="wipe(left)">
                                      <p:cBhvr>
                                        <p:cTn id="7" dur="500"/>
                                        <p:tgtEl>
                                          <p:spTgt spid="1249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4939"/>
                                        </p:tgtEl>
                                        <p:attrNameLst>
                                          <p:attrName>style.visibility</p:attrName>
                                        </p:attrNameLst>
                                      </p:cBhvr>
                                      <p:to>
                                        <p:strVal val="visible"/>
                                      </p:to>
                                    </p:set>
                                    <p:animEffect transition="in" filter="blinds(horizontal)">
                                      <p:cBhvr>
                                        <p:cTn id="12" dur="500"/>
                                        <p:tgtEl>
                                          <p:spTgt spid="1249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4941"/>
                                        </p:tgtEl>
                                        <p:attrNameLst>
                                          <p:attrName>style.visibility</p:attrName>
                                        </p:attrNameLst>
                                      </p:cBhvr>
                                      <p:to>
                                        <p:strVal val="visible"/>
                                      </p:to>
                                    </p:set>
                                    <p:animEffect transition="in" filter="blinds(horizontal)">
                                      <p:cBhvr>
                                        <p:cTn id="17" dur="500"/>
                                        <p:tgtEl>
                                          <p:spTgt spid="1249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4943"/>
                                        </p:tgtEl>
                                        <p:attrNameLst>
                                          <p:attrName>style.visibility</p:attrName>
                                        </p:attrNameLst>
                                      </p:cBhvr>
                                      <p:to>
                                        <p:strVal val="visible"/>
                                      </p:to>
                                    </p:set>
                                    <p:animEffect transition="in" filter="blinds(horizontal)">
                                      <p:cBhvr>
                                        <p:cTn id="22" dur="500"/>
                                        <p:tgtEl>
                                          <p:spTgt spid="124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矩形 125953"/>
          <p:cNvSpPr>
            <a:spLocks noChangeArrowheads="1"/>
          </p:cNvSpPr>
          <p:nvPr/>
        </p:nvSpPr>
        <p:spPr bwMode="auto">
          <a:xfrm>
            <a:off x="0" y="2433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899" name="矩形 125955"/>
          <p:cNvSpPr>
            <a:spLocks noChangeArrowheads="1"/>
          </p:cNvSpPr>
          <p:nvPr/>
        </p:nvSpPr>
        <p:spPr bwMode="auto">
          <a:xfrm>
            <a:off x="2590800" y="224284"/>
            <a:ext cx="4114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baseline="0" dirty="0"/>
              <a:t>传热过程引起的总熵产</a:t>
            </a:r>
            <a:endParaRPr lang="zh-CN" altLang="en-US" sz="2400" b="1" baseline="0" dirty="0"/>
          </a:p>
        </p:txBody>
      </p:sp>
      <p:sp>
        <p:nvSpPr>
          <p:cNvPr id="80901" name="右箭头 125957"/>
          <p:cNvSpPr>
            <a:spLocks noChangeArrowheads="1"/>
          </p:cNvSpPr>
          <p:nvPr/>
        </p:nvSpPr>
        <p:spPr bwMode="auto">
          <a:xfrm>
            <a:off x="4191000" y="2057400"/>
            <a:ext cx="685800" cy="228600"/>
          </a:xfrm>
          <a:prstGeom prst="rightArrow">
            <a:avLst>
              <a:gd name="adj1" fmla="val 50000"/>
              <a:gd name="adj2" fmla="val 75000"/>
            </a:avLst>
          </a:prstGeom>
          <a:solidFill>
            <a:schemeClr val="accent1"/>
          </a:solidFill>
          <a:ln w="9525">
            <a:solidFill>
              <a:schemeClr val="tx1"/>
            </a:solidFill>
            <a:miter lim="800000"/>
          </a:ln>
        </p:spPr>
        <p:txBody>
          <a:bodyPr/>
          <a:lstStyle/>
          <a:p>
            <a:endParaRPr lang="zh-CN" altLang="en-US"/>
          </a:p>
        </p:txBody>
      </p:sp>
      <p:sp>
        <p:nvSpPr>
          <p:cNvPr id="80902" name="矩形 125958"/>
          <p:cNvSpPr>
            <a:spLocks noChangeArrowheads="1"/>
          </p:cNvSpPr>
          <p:nvPr/>
        </p:nvSpPr>
        <p:spPr bwMode="auto">
          <a:xfrm>
            <a:off x="4130675" y="1600200"/>
            <a:ext cx="9747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a:t>扩展</a:t>
            </a:r>
            <a:endParaRPr lang="zh-CN" altLang="en-US" sz="2200" b="1" baseline="0"/>
          </a:p>
        </p:txBody>
      </p:sp>
      <p:sp>
        <p:nvSpPr>
          <p:cNvPr id="80903" name="矩形 12595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0904" name="对象 125960"/>
          <p:cNvGraphicFramePr/>
          <p:nvPr/>
        </p:nvGraphicFramePr>
        <p:xfrm>
          <a:off x="4648200" y="3886200"/>
          <a:ext cx="2743200" cy="701675"/>
        </p:xfrm>
        <a:graphic>
          <a:graphicData uri="http://schemas.openxmlformats.org/presentationml/2006/ole">
            <mc:AlternateContent xmlns:mc="http://schemas.openxmlformats.org/markup-compatibility/2006">
              <mc:Choice xmlns:v="urn:schemas-microsoft-com:vml" Requires="v">
                <p:oleObj spid="_x0000_s96298" name="" r:id="rId1" imgW="1676400" imgH="431800" progId="Equation.DSMT4">
                  <p:embed/>
                </p:oleObj>
              </mc:Choice>
              <mc:Fallback>
                <p:oleObj name="" r:id="rId1" imgW="1676400" imgH="431800" progId="Equation.DSMT4">
                  <p:embed/>
                  <p:pic>
                    <p:nvPicPr>
                      <p:cNvPr id="0" name="对象 12596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886200"/>
                        <a:ext cx="274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5" name="对象 125961"/>
          <p:cNvGraphicFramePr/>
          <p:nvPr/>
        </p:nvGraphicFramePr>
        <p:xfrm>
          <a:off x="1243013" y="3657600"/>
          <a:ext cx="2411412" cy="519113"/>
        </p:xfrm>
        <a:graphic>
          <a:graphicData uri="http://schemas.openxmlformats.org/presentationml/2006/ole">
            <mc:AlternateContent xmlns:mc="http://schemas.openxmlformats.org/markup-compatibility/2006">
              <mc:Choice xmlns:v="urn:schemas-microsoft-com:vml" Requires="v">
                <p:oleObj spid="_x0000_s96299" name="" r:id="rId3" imgW="1370965" imgH="292100" progId="Equation.DSMT4">
                  <p:embed/>
                </p:oleObj>
              </mc:Choice>
              <mc:Fallback>
                <p:oleObj name="" r:id="rId3" imgW="1370965" imgH="292100" progId="Equation.DSMT4">
                  <p:embed/>
                  <p:pic>
                    <p:nvPicPr>
                      <p:cNvPr id="0" name="对象 12596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3013" y="3657600"/>
                        <a:ext cx="24114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6" name="对象 125962"/>
          <p:cNvGraphicFramePr/>
          <p:nvPr/>
        </p:nvGraphicFramePr>
        <p:xfrm>
          <a:off x="1241425" y="4572000"/>
          <a:ext cx="2622550" cy="771525"/>
        </p:xfrm>
        <a:graphic>
          <a:graphicData uri="http://schemas.openxmlformats.org/presentationml/2006/ole">
            <mc:AlternateContent xmlns:mc="http://schemas.openxmlformats.org/markup-compatibility/2006">
              <mc:Choice xmlns:v="urn:schemas-microsoft-com:vml" Requires="v">
                <p:oleObj spid="_x0000_s96300" name="" r:id="rId5" imgW="1523365" imgH="444500" progId="Equation.DSMT4">
                  <p:embed/>
                </p:oleObj>
              </mc:Choice>
              <mc:Fallback>
                <p:oleObj name="" r:id="rId5" imgW="1523365" imgH="444500" progId="Equation.DSMT4">
                  <p:embed/>
                  <p:pic>
                    <p:nvPicPr>
                      <p:cNvPr id="0" name="对象 12596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1425" y="4572000"/>
                        <a:ext cx="2622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7" name="右大括号 125963"/>
          <p:cNvSpPr/>
          <p:nvPr/>
        </p:nvSpPr>
        <p:spPr bwMode="auto">
          <a:xfrm>
            <a:off x="4114800" y="3962400"/>
            <a:ext cx="228600" cy="1143000"/>
          </a:xfrm>
          <a:prstGeom prst="rightBrace">
            <a:avLst>
              <a:gd name="adj1" fmla="val 4155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8" name="矩形 12596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0909" name="对象 125965"/>
          <p:cNvGraphicFramePr/>
          <p:nvPr/>
        </p:nvGraphicFramePr>
        <p:xfrm>
          <a:off x="4724400" y="4800600"/>
          <a:ext cx="1828800" cy="393700"/>
        </p:xfrm>
        <a:graphic>
          <a:graphicData uri="http://schemas.openxmlformats.org/presentationml/2006/ole">
            <mc:AlternateContent xmlns:mc="http://schemas.openxmlformats.org/markup-compatibility/2006">
              <mc:Choice xmlns:v="urn:schemas-microsoft-com:vml" Requires="v">
                <p:oleObj spid="_x0000_s96301" name="" r:id="rId7" imgW="1104900" imgH="241300" progId="Equation.DSMT4">
                  <p:embed/>
                </p:oleObj>
              </mc:Choice>
              <mc:Fallback>
                <p:oleObj name="" r:id="rId7" imgW="1104900" imgH="241300" progId="Equation.DSMT4">
                  <p:embed/>
                  <p:pic>
                    <p:nvPicPr>
                      <p:cNvPr id="0" name="对象 12596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4400" y="4800600"/>
                        <a:ext cx="18288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5967" name="对象 125966"/>
          <p:cNvGraphicFramePr/>
          <p:nvPr/>
        </p:nvGraphicFramePr>
        <p:xfrm>
          <a:off x="4692650" y="5489575"/>
          <a:ext cx="2627313" cy="393700"/>
        </p:xfrm>
        <a:graphic>
          <a:graphicData uri="http://schemas.openxmlformats.org/presentationml/2006/ole">
            <mc:AlternateContent xmlns:mc="http://schemas.openxmlformats.org/markup-compatibility/2006">
              <mc:Choice xmlns:v="urn:schemas-microsoft-com:vml" Requires="v">
                <p:oleObj spid="_x0000_s96302" name="" r:id="rId9" imgW="1586865" imgH="241300" progId="Equation.DSMT4">
                  <p:embed/>
                </p:oleObj>
              </mc:Choice>
              <mc:Fallback>
                <p:oleObj name="" r:id="rId9" imgW="1586865" imgH="241300" progId="Equation.DSMT4">
                  <p:embed/>
                  <p:pic>
                    <p:nvPicPr>
                      <p:cNvPr id="0" name="对象 12596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2650" y="5489575"/>
                        <a:ext cx="26273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5968" name="矩形 125967"/>
          <p:cNvSpPr>
            <a:spLocks noChangeArrowheads="1"/>
          </p:cNvSpPr>
          <p:nvPr/>
        </p:nvSpPr>
        <p:spPr bwMode="auto">
          <a:xfrm>
            <a:off x="4495800" y="5943600"/>
            <a:ext cx="3065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000" b="1" baseline="0"/>
              <a:t>墙壁两侧空气层内的熵产 </a:t>
            </a:r>
            <a:endParaRPr lang="zh-CN" altLang="en-US" sz="2000" b="1" baseline="0"/>
          </a:p>
        </p:txBody>
      </p:sp>
      <p:sp>
        <p:nvSpPr>
          <p:cNvPr id="125969" name="圆角矩形 125968"/>
          <p:cNvSpPr>
            <a:spLocks noChangeArrowheads="1"/>
          </p:cNvSpPr>
          <p:nvPr/>
        </p:nvSpPr>
        <p:spPr bwMode="auto">
          <a:xfrm>
            <a:off x="4419600" y="5410200"/>
            <a:ext cx="3200400" cy="1066800"/>
          </a:xfrm>
          <a:prstGeom prst="roundRect">
            <a:avLst>
              <a:gd name="adj" fmla="val 16667"/>
            </a:avLst>
          </a:prstGeom>
          <a:noFill/>
          <a:ln w="254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2013" y="1146244"/>
            <a:ext cx="3578662" cy="2152075"/>
          </a:xfrm>
          <a:prstGeom prst="rect">
            <a:avLst/>
          </a:prstGeom>
        </p:spPr>
      </p:pic>
      <p:pic>
        <p:nvPicPr>
          <p:cNvPr id="3" name="图片 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270900" y="1068128"/>
            <a:ext cx="3505504" cy="2316681"/>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5967"/>
                                        </p:tgtEl>
                                        <p:attrNameLst>
                                          <p:attrName>style.visibility</p:attrName>
                                        </p:attrNameLst>
                                      </p:cBhvr>
                                      <p:to>
                                        <p:strVal val="visible"/>
                                      </p:to>
                                    </p:set>
                                    <p:animEffect transition="in" filter="blinds(horizontal)">
                                      <p:cBhvr>
                                        <p:cTn id="7" dur="500"/>
                                        <p:tgtEl>
                                          <p:spTgt spid="12596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5968"/>
                                        </p:tgtEl>
                                        <p:attrNameLst>
                                          <p:attrName>style.visibility</p:attrName>
                                        </p:attrNameLst>
                                      </p:cBhvr>
                                      <p:to>
                                        <p:strVal val="visible"/>
                                      </p:to>
                                    </p:set>
                                    <p:animEffect transition="in" filter="blinds(horizontal)">
                                      <p:cBhvr>
                                        <p:cTn id="10" dur="500"/>
                                        <p:tgtEl>
                                          <p:spTgt spid="125968"/>
                                        </p:tgtEl>
                                      </p:cBhvr>
                                    </p:animEffect>
                                  </p:childTnLst>
                                </p:cTn>
                              </p:par>
                              <p:par>
                                <p:cTn id="11" presetID="3" presetClass="entr" presetSubtype="10" fill="hold" nodeType="withEffect">
                                  <p:stCondLst>
                                    <p:cond delay="0"/>
                                  </p:stCondLst>
                                  <p:childTnLst>
                                    <p:set>
                                      <p:cBhvr>
                                        <p:cTn id="12" dur="1" fill="hold">
                                          <p:stCondLst>
                                            <p:cond delay="0"/>
                                          </p:stCondLst>
                                        </p:cTn>
                                        <p:tgtEl>
                                          <p:spTgt spid="125969"/>
                                        </p:tgtEl>
                                        <p:attrNameLst>
                                          <p:attrName>style.visibility</p:attrName>
                                        </p:attrNameLst>
                                      </p:cBhvr>
                                      <p:to>
                                        <p:strVal val="visible"/>
                                      </p:to>
                                    </p:set>
                                    <p:animEffect transition="in" filter="blinds(horizontal)">
                                      <p:cBhvr>
                                        <p:cTn id="13" dur="500"/>
                                        <p:tgtEl>
                                          <p:spTgt spid="125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矩形 126977"/>
          <p:cNvSpPr>
            <a:spLocks noChangeArrowheads="1"/>
          </p:cNvSpPr>
          <p:nvPr/>
        </p:nvSpPr>
        <p:spPr bwMode="auto">
          <a:xfrm>
            <a:off x="381000" y="152400"/>
            <a:ext cx="807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a:latin typeface="黑体" panose="02010609060101010101" pitchFamily="49" charset="-122"/>
                <a:ea typeface="黑体" panose="02010609060101010101" pitchFamily="49" charset="-122"/>
              </a:rPr>
              <a:t>例</a:t>
            </a:r>
            <a:r>
              <a:rPr lang="en-US" altLang="zh-CN" sz="3200" b="1" baseline="0">
                <a:latin typeface="黑体" panose="02010609060101010101" pitchFamily="49" charset="-122"/>
                <a:ea typeface="黑体" panose="02010609060101010101" pitchFamily="49" charset="-122"/>
              </a:rPr>
              <a:t>2</a:t>
            </a:r>
            <a:r>
              <a:rPr lang="zh-CN" altLang="en-US" sz="3200" b="1" baseline="0">
                <a:latin typeface="黑体" panose="02010609060101010101" pitchFamily="49" charset="-122"/>
                <a:ea typeface="黑体" panose="02010609060101010101" pitchFamily="49" charset="-122"/>
              </a:rPr>
              <a:t>：非准静态膨胀</a:t>
            </a:r>
            <a:endParaRPr lang="zh-CN" altLang="en-US" sz="3200">
              <a:latin typeface="黑体" panose="02010609060101010101" pitchFamily="49" charset="-122"/>
              <a:ea typeface="黑体" panose="02010609060101010101" pitchFamily="49" charset="-122"/>
            </a:endParaRPr>
          </a:p>
        </p:txBody>
      </p:sp>
      <p:sp>
        <p:nvSpPr>
          <p:cNvPr id="81922" name="矩形 126978"/>
          <p:cNvSpPr>
            <a:spLocks noChangeArrowheads="1"/>
          </p:cNvSpPr>
          <p:nvPr/>
        </p:nvSpPr>
        <p:spPr bwMode="auto">
          <a:xfrm>
            <a:off x="0" y="233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4" name="矩形 126980"/>
          <p:cNvSpPr>
            <a:spLocks noChangeArrowheads="1"/>
          </p:cNvSpPr>
          <p:nvPr/>
        </p:nvSpPr>
        <p:spPr bwMode="auto">
          <a:xfrm>
            <a:off x="381000" y="1151304"/>
            <a:ext cx="83820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aseline="0" dirty="0"/>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气缸内充以空气，活塞及负载重</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195 kg</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，缸壁充分导热，取走</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100 kg</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负载，不计活塞和气缸壁之间的摩擦，空气视为理想气体。大气环境压力</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=105Pa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，温度</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=300K</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。求过程的熵产。</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1925" name="矩形 126981"/>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6" name="矩形 12698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05706" y="2710603"/>
            <a:ext cx="3962743" cy="2987299"/>
          </a:xfrm>
          <a:prstGeom prst="rect">
            <a:avLst/>
          </a:prstGeom>
        </p:spPr>
      </p:pic>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矩形 128001"/>
          <p:cNvSpPr>
            <a:spLocks noChangeArrowheads="1"/>
          </p:cNvSpPr>
          <p:nvPr/>
        </p:nvSpPr>
        <p:spPr bwMode="auto">
          <a:xfrm>
            <a:off x="533400" y="2971800"/>
            <a:ext cx="80772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黑体" panose="02010609060101010101" pitchFamily="49" charset="-122"/>
                <a:ea typeface="黑体" panose="02010609060101010101" pitchFamily="49" charset="-122"/>
              </a:rPr>
              <a:t>突然取走</a:t>
            </a:r>
            <a:r>
              <a:rPr lang="en-US" altLang="zh-CN" sz="2800" b="1" baseline="0" dirty="0">
                <a:latin typeface="Times New Roman" panose="02020603050405020304" pitchFamily="18" charset="0"/>
                <a:ea typeface="黑体" panose="02010609060101010101" pitchFamily="49" charset="-122"/>
                <a:cs typeface="Times New Roman" panose="02020603050405020304" pitchFamily="18" charset="0"/>
              </a:rPr>
              <a:t>100 kg</a:t>
            </a:r>
            <a:r>
              <a:rPr lang="zh-CN" altLang="en-US" sz="2800" b="1" baseline="0" dirty="0">
                <a:latin typeface="黑体" panose="02010609060101010101" pitchFamily="49" charset="-122"/>
                <a:ea typeface="黑体" panose="02010609060101010101" pitchFamily="49" charset="-122"/>
              </a:rPr>
              <a:t>负载，气体失去平衡，最终建立新的平衡；</a:t>
            </a:r>
            <a:endParaRPr lang="zh-CN" altLang="en-US" sz="2800" b="1" baseline="0" dirty="0">
              <a:latin typeface="黑体" panose="02010609060101010101" pitchFamily="49" charset="-122"/>
              <a:ea typeface="黑体" panose="02010609060101010101" pitchFamily="49" charset="-122"/>
            </a:endParaRPr>
          </a:p>
          <a:p>
            <a:r>
              <a:rPr lang="zh-CN" altLang="en-US" sz="2800" b="1" baseline="0" dirty="0">
                <a:latin typeface="黑体" panose="02010609060101010101" pitchFamily="49" charset="-122"/>
                <a:ea typeface="黑体" panose="02010609060101010101" pitchFamily="49" charset="-122"/>
              </a:rPr>
              <a:t>在这之间，气体经历一</a:t>
            </a:r>
            <a:r>
              <a:rPr lang="zh-CN" altLang="en-US" sz="2800" b="1" baseline="0" dirty="0">
                <a:solidFill>
                  <a:srgbClr val="FF0000"/>
                </a:solidFill>
                <a:latin typeface="黑体" panose="02010609060101010101" pitchFamily="49" charset="-122"/>
                <a:ea typeface="黑体" panose="02010609060101010101" pitchFamily="49" charset="-122"/>
              </a:rPr>
              <a:t>非平衡等温过程</a:t>
            </a:r>
            <a:r>
              <a:rPr lang="zh-CN" altLang="en-US" sz="2800" b="1" baseline="0" dirty="0">
                <a:latin typeface="黑体" panose="02010609060101010101" pitchFamily="49" charset="-122"/>
                <a:ea typeface="黑体" panose="02010609060101010101" pitchFamily="49" charset="-122"/>
              </a:rPr>
              <a:t>；</a:t>
            </a:r>
            <a:endParaRPr lang="zh-CN" altLang="en-US" sz="2800" b="1" baseline="0" dirty="0">
              <a:latin typeface="黑体" panose="02010609060101010101" pitchFamily="49" charset="-122"/>
              <a:ea typeface="黑体" panose="02010609060101010101" pitchFamily="49" charset="-122"/>
            </a:endParaRPr>
          </a:p>
          <a:p>
            <a:r>
              <a:rPr lang="zh-CN" altLang="en-US" sz="2800" b="1" baseline="0" dirty="0">
                <a:latin typeface="黑体" panose="02010609060101010101" pitchFamily="49" charset="-122"/>
                <a:ea typeface="黑体" panose="02010609060101010101" pitchFamily="49" charset="-122"/>
              </a:rPr>
              <a:t>取缸内气体为研究系统，由于不计活塞和气缸壁之间的摩擦，且气体与大气环境温度始终相同（不存在有限温差传热引起的不可逆性），因此该过程是</a:t>
            </a:r>
            <a:r>
              <a:rPr lang="zh-CN" altLang="en-US" sz="2800" b="1" baseline="0" dirty="0">
                <a:solidFill>
                  <a:srgbClr val="FF0000"/>
                </a:solidFill>
                <a:latin typeface="黑体" panose="02010609060101010101" pitchFamily="49" charset="-122"/>
                <a:ea typeface="黑体" panose="02010609060101010101" pitchFamily="49" charset="-122"/>
              </a:rPr>
              <a:t>内不可逆而外可逆的</a:t>
            </a:r>
            <a:r>
              <a:rPr lang="zh-CN" altLang="en-US" sz="2800" b="1" baseline="0" dirty="0">
                <a:latin typeface="黑体" panose="02010609060101010101" pitchFamily="49" charset="-122"/>
                <a:ea typeface="黑体" panose="02010609060101010101" pitchFamily="49" charset="-122"/>
              </a:rPr>
              <a:t>；</a:t>
            </a:r>
            <a:endParaRPr lang="zh-CN" altLang="en-US" sz="2800" b="1" baseline="0" dirty="0">
              <a:latin typeface="黑体" panose="02010609060101010101" pitchFamily="49" charset="-122"/>
              <a:ea typeface="黑体" panose="02010609060101010101" pitchFamily="49" charset="-122"/>
            </a:endParaRPr>
          </a:p>
          <a:p>
            <a:r>
              <a:rPr lang="zh-CN" altLang="en-US" sz="2800" b="1" baseline="0" dirty="0">
                <a:latin typeface="黑体" panose="02010609060101010101" pitchFamily="49" charset="-122"/>
                <a:ea typeface="黑体" panose="02010609060101010101" pitchFamily="49" charset="-122"/>
              </a:rPr>
              <a:t>内不可逆性由</a:t>
            </a:r>
            <a:r>
              <a:rPr lang="zh-CN" altLang="en-US" sz="2800" b="1" baseline="0" dirty="0">
                <a:solidFill>
                  <a:srgbClr val="FF0000"/>
                </a:solidFill>
                <a:latin typeface="黑体" panose="02010609060101010101" pitchFamily="49" charset="-122"/>
                <a:ea typeface="黑体" panose="02010609060101010101" pitchFamily="49" charset="-122"/>
              </a:rPr>
              <a:t>非准静态膨胀</a:t>
            </a:r>
            <a:r>
              <a:rPr lang="zh-CN" altLang="en-US" sz="2800" b="1" baseline="0" dirty="0">
                <a:latin typeface="黑体" panose="02010609060101010101" pitchFamily="49" charset="-122"/>
                <a:ea typeface="黑体" panose="02010609060101010101" pitchFamily="49" charset="-122"/>
              </a:rPr>
              <a:t>引起。 </a:t>
            </a:r>
            <a:endParaRPr lang="zh-CN" altLang="en-US" sz="2800" b="1" baseline="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57382" y="137175"/>
            <a:ext cx="3578662" cy="2700762"/>
          </a:xfrm>
          <a:prstGeom prst="rect">
            <a:avLst/>
          </a:prstGeom>
        </p:spPr>
      </p:pic>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矩形 129025"/>
          <p:cNvSpPr>
            <a:spLocks noChangeArrowheads="1"/>
          </p:cNvSpPr>
          <p:nvPr/>
        </p:nvSpPr>
        <p:spPr bwMode="auto">
          <a:xfrm>
            <a:off x="533400" y="347990"/>
            <a:ext cx="70070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baseline="0" dirty="0">
                <a:latin typeface="黑体" panose="02010609060101010101" pitchFamily="49" charset="-122"/>
                <a:ea typeface="黑体" panose="02010609060101010101" pitchFamily="49" charset="-122"/>
              </a:rPr>
              <a:t>以气缸内气体为研究系统，</a:t>
            </a:r>
            <a:r>
              <a:rPr lang="zh-CN" altLang="en-US" sz="2800" b="1" baseline="0" dirty="0">
                <a:solidFill>
                  <a:srgbClr val="000000"/>
                </a:solidFill>
                <a:latin typeface="黑体" panose="02010609060101010101" pitchFamily="49" charset="-122"/>
                <a:ea typeface="黑体" panose="02010609060101010101" pitchFamily="49" charset="-122"/>
              </a:rPr>
              <a:t>气体的熵变为</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sp>
        <p:nvSpPr>
          <p:cNvPr id="83970" name="矩形 12902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1" name="对象 129027"/>
          <p:cNvGraphicFramePr/>
          <p:nvPr/>
        </p:nvGraphicFramePr>
        <p:xfrm>
          <a:off x="1905000" y="1219200"/>
          <a:ext cx="4419600" cy="801688"/>
        </p:xfrm>
        <a:graphic>
          <a:graphicData uri="http://schemas.openxmlformats.org/presentationml/2006/ole">
            <mc:AlternateContent xmlns:mc="http://schemas.openxmlformats.org/markup-compatibility/2006">
              <mc:Choice xmlns:v="urn:schemas-microsoft-com:vml" Requires="v">
                <p:oleObj spid="_x0000_s97330" name="" r:id="rId1" imgW="2362200" imgH="431800" progId="Equation.DSMT4">
                  <p:embed/>
                </p:oleObj>
              </mc:Choice>
              <mc:Fallback>
                <p:oleObj name="" r:id="rId1" imgW="2362200" imgH="431800" progId="Equation.DSMT4">
                  <p:embed/>
                  <p:pic>
                    <p:nvPicPr>
                      <p:cNvPr id="0" name="对象 1290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19200"/>
                        <a:ext cx="44196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2" name="矩形 129028"/>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3" name="对象 129029"/>
          <p:cNvGraphicFramePr/>
          <p:nvPr/>
        </p:nvGraphicFramePr>
        <p:xfrm>
          <a:off x="1447800" y="2286000"/>
          <a:ext cx="6096000" cy="728663"/>
        </p:xfrm>
        <a:graphic>
          <a:graphicData uri="http://schemas.openxmlformats.org/presentationml/2006/ole">
            <mc:AlternateContent xmlns:mc="http://schemas.openxmlformats.org/markup-compatibility/2006">
              <mc:Choice xmlns:v="urn:schemas-microsoft-com:vml" Requires="v">
                <p:oleObj spid="_x0000_s97331" name="" r:id="rId3" imgW="3263900" imgH="393700" progId="Equation.DSMT4">
                  <p:embed/>
                </p:oleObj>
              </mc:Choice>
              <mc:Fallback>
                <p:oleObj name="" r:id="rId3" imgW="3263900" imgH="393700" progId="Equation.DSMT4">
                  <p:embed/>
                  <p:pic>
                    <p:nvPicPr>
                      <p:cNvPr id="0" name="对象 1290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286000"/>
                        <a:ext cx="6096000"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4" name="矩形 12903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5" name="对象 129031"/>
          <p:cNvGraphicFramePr/>
          <p:nvPr/>
        </p:nvGraphicFramePr>
        <p:xfrm>
          <a:off x="1447800" y="3352800"/>
          <a:ext cx="3810000" cy="468313"/>
        </p:xfrm>
        <a:graphic>
          <a:graphicData uri="http://schemas.openxmlformats.org/presentationml/2006/ole">
            <mc:AlternateContent xmlns:mc="http://schemas.openxmlformats.org/markup-compatibility/2006">
              <mc:Choice xmlns:v="urn:schemas-microsoft-com:vml" Requires="v">
                <p:oleObj spid="_x0000_s97332" name="" r:id="rId5" imgW="1930400" imgH="241300" progId="Equation.DSMT4">
                  <p:embed/>
                </p:oleObj>
              </mc:Choice>
              <mc:Fallback>
                <p:oleObj name="" r:id="rId5" imgW="1930400" imgH="241300" progId="Equation.DSMT4">
                  <p:embed/>
                  <p:pic>
                    <p:nvPicPr>
                      <p:cNvPr id="0" name="对象 12903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352800"/>
                        <a:ext cx="38100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6" name="矩形 129032"/>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7" name="对象 129033"/>
          <p:cNvGraphicFramePr/>
          <p:nvPr/>
        </p:nvGraphicFramePr>
        <p:xfrm>
          <a:off x="1371600" y="4038600"/>
          <a:ext cx="5867400" cy="700088"/>
        </p:xfrm>
        <a:graphic>
          <a:graphicData uri="http://schemas.openxmlformats.org/presentationml/2006/ole">
            <mc:AlternateContent xmlns:mc="http://schemas.openxmlformats.org/markup-compatibility/2006">
              <mc:Choice xmlns:v="urn:schemas-microsoft-com:vml" Requires="v">
                <p:oleObj spid="_x0000_s97333" name="" r:id="rId7" imgW="3276600" imgH="393700" progId="Equation.DSMT4">
                  <p:embed/>
                </p:oleObj>
              </mc:Choice>
              <mc:Fallback>
                <p:oleObj name="" r:id="rId7" imgW="3276600" imgH="393700" progId="Equation.DSMT4">
                  <p:embed/>
                  <p:pic>
                    <p:nvPicPr>
                      <p:cNvPr id="0" name="对象 12903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4038600"/>
                        <a:ext cx="586740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8" name="矩形 12903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9" name="对象 129035"/>
          <p:cNvGraphicFramePr/>
          <p:nvPr/>
        </p:nvGraphicFramePr>
        <p:xfrm>
          <a:off x="3352800" y="5029200"/>
          <a:ext cx="2667000" cy="487363"/>
        </p:xfrm>
        <a:graphic>
          <a:graphicData uri="http://schemas.openxmlformats.org/presentationml/2006/ole">
            <mc:AlternateContent xmlns:mc="http://schemas.openxmlformats.org/markup-compatibility/2006">
              <mc:Choice xmlns:v="urn:schemas-microsoft-com:vml" Requires="v">
                <p:oleObj spid="_x0000_s97334" name="" r:id="rId9" imgW="1244600" imgH="228600" progId="Equation.DSMT4">
                  <p:embed/>
                </p:oleObj>
              </mc:Choice>
              <mc:Fallback>
                <p:oleObj name="" r:id="rId9" imgW="1244600" imgH="228600" progId="Equation.DSMT4">
                  <p:embed/>
                  <p:pic>
                    <p:nvPicPr>
                      <p:cNvPr id="0" name="对象 12903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5029200"/>
                        <a:ext cx="2667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80" name="矩形 129036"/>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81" name="对象 129037"/>
          <p:cNvGraphicFramePr/>
          <p:nvPr/>
        </p:nvGraphicFramePr>
        <p:xfrm>
          <a:off x="3352800" y="5715000"/>
          <a:ext cx="2438400" cy="498475"/>
        </p:xfrm>
        <a:graphic>
          <a:graphicData uri="http://schemas.openxmlformats.org/presentationml/2006/ole">
            <mc:AlternateContent xmlns:mc="http://schemas.openxmlformats.org/markup-compatibility/2006">
              <mc:Choice xmlns:v="urn:schemas-microsoft-com:vml" Requires="v">
                <p:oleObj spid="_x0000_s97335" name="" r:id="rId11" imgW="977265" imgH="203200" progId="Equation.DSMT4">
                  <p:embed/>
                </p:oleObj>
              </mc:Choice>
              <mc:Fallback>
                <p:oleObj name="" r:id="rId11" imgW="977265" imgH="203200" progId="Equation.DSMT4">
                  <p:embed/>
                  <p:pic>
                    <p:nvPicPr>
                      <p:cNvPr id="0" name="对象 12903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2800" y="5715000"/>
                        <a:ext cx="2438400" cy="49847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3" name="对象 133121"/>
          <p:cNvGraphicFramePr/>
          <p:nvPr/>
        </p:nvGraphicFramePr>
        <p:xfrm>
          <a:off x="2819400" y="381000"/>
          <a:ext cx="2895600" cy="609600"/>
        </p:xfrm>
        <a:graphic>
          <a:graphicData uri="http://schemas.openxmlformats.org/presentationml/2006/ole">
            <mc:AlternateContent xmlns:mc="http://schemas.openxmlformats.org/markup-compatibility/2006">
              <mc:Choice xmlns:v="urn:schemas-microsoft-com:vml" Requires="v">
                <p:oleObj spid="_x0000_s98370" name="Equation" r:id="rId1" imgW="964565" imgH="203200" progId="Equation.DSMT4">
                  <p:embed/>
                </p:oleObj>
              </mc:Choice>
              <mc:Fallback>
                <p:oleObj name="Equation" r:id="rId1" imgW="964565" imgH="203200" progId="Equation.DSMT4">
                  <p:embed/>
                  <p:pic>
                    <p:nvPicPr>
                      <p:cNvPr id="0" name="对象 1331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81000"/>
                        <a:ext cx="2895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4994" name="对象 133122"/>
          <p:cNvGraphicFramePr/>
          <p:nvPr/>
        </p:nvGraphicFramePr>
        <p:xfrm>
          <a:off x="1524000" y="1295400"/>
          <a:ext cx="6096000" cy="728663"/>
        </p:xfrm>
        <a:graphic>
          <a:graphicData uri="http://schemas.openxmlformats.org/presentationml/2006/ole">
            <mc:AlternateContent xmlns:mc="http://schemas.openxmlformats.org/markup-compatibility/2006">
              <mc:Choice xmlns:v="urn:schemas-microsoft-com:vml" Requires="v">
                <p:oleObj spid="_x0000_s98371" name="" r:id="rId3" imgW="3263900" imgH="393700" progId="Equation.DSMT4">
                  <p:embed/>
                </p:oleObj>
              </mc:Choice>
              <mc:Fallback>
                <p:oleObj name="" r:id="rId3" imgW="3263900" imgH="393700" progId="Equation.DSMT4">
                  <p:embed/>
                  <p:pic>
                    <p:nvPicPr>
                      <p:cNvPr id="0" name="对象 13312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95400"/>
                        <a:ext cx="6096000"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4995" name="对象 133123"/>
          <p:cNvGraphicFramePr/>
          <p:nvPr/>
        </p:nvGraphicFramePr>
        <p:xfrm>
          <a:off x="1524000" y="2362200"/>
          <a:ext cx="3810000" cy="468313"/>
        </p:xfrm>
        <a:graphic>
          <a:graphicData uri="http://schemas.openxmlformats.org/presentationml/2006/ole">
            <mc:AlternateContent xmlns:mc="http://schemas.openxmlformats.org/markup-compatibility/2006">
              <mc:Choice xmlns:v="urn:schemas-microsoft-com:vml" Requires="v">
                <p:oleObj spid="_x0000_s98372" name="" r:id="rId5" imgW="1930400" imgH="241300" progId="Equation.DSMT4">
                  <p:embed/>
                </p:oleObj>
              </mc:Choice>
              <mc:Fallback>
                <p:oleObj name="" r:id="rId5" imgW="1930400" imgH="241300" progId="Equation.DSMT4">
                  <p:embed/>
                  <p:pic>
                    <p:nvPicPr>
                      <p:cNvPr id="0" name="对象 13312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2362200"/>
                        <a:ext cx="38100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4996" name="对象 133124"/>
          <p:cNvGraphicFramePr/>
          <p:nvPr/>
        </p:nvGraphicFramePr>
        <p:xfrm>
          <a:off x="1447800" y="3048000"/>
          <a:ext cx="5867400" cy="700088"/>
        </p:xfrm>
        <a:graphic>
          <a:graphicData uri="http://schemas.openxmlformats.org/presentationml/2006/ole">
            <mc:AlternateContent xmlns:mc="http://schemas.openxmlformats.org/markup-compatibility/2006">
              <mc:Choice xmlns:v="urn:schemas-microsoft-com:vml" Requires="v">
                <p:oleObj spid="_x0000_s98373" name="" r:id="rId7" imgW="3276600" imgH="393700" progId="Equation.DSMT4">
                  <p:embed/>
                </p:oleObj>
              </mc:Choice>
              <mc:Fallback>
                <p:oleObj name="" r:id="rId7" imgW="3276600" imgH="393700" progId="Equation.DSMT4">
                  <p:embed/>
                  <p:pic>
                    <p:nvPicPr>
                      <p:cNvPr id="0" name="对象 13312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3048000"/>
                        <a:ext cx="586740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4997" name="对象 133125"/>
          <p:cNvGraphicFramePr/>
          <p:nvPr/>
        </p:nvGraphicFramePr>
        <p:xfrm>
          <a:off x="1524000" y="4724400"/>
          <a:ext cx="2667000" cy="487363"/>
        </p:xfrm>
        <a:graphic>
          <a:graphicData uri="http://schemas.openxmlformats.org/presentationml/2006/ole">
            <mc:AlternateContent xmlns:mc="http://schemas.openxmlformats.org/markup-compatibility/2006">
              <mc:Choice xmlns:v="urn:schemas-microsoft-com:vml" Requires="v">
                <p:oleObj spid="_x0000_s98374" name="" r:id="rId9" imgW="1244600" imgH="228600" progId="Equation.DSMT4">
                  <p:embed/>
                </p:oleObj>
              </mc:Choice>
              <mc:Fallback>
                <p:oleObj name="" r:id="rId9" imgW="1244600" imgH="228600" progId="Equation.DSMT4">
                  <p:embed/>
                  <p:pic>
                    <p:nvPicPr>
                      <p:cNvPr id="0" name="对象 13312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4724400"/>
                        <a:ext cx="2667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4998" name="矩形 13312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4999" name="对象 133127"/>
          <p:cNvGraphicFramePr/>
          <p:nvPr/>
        </p:nvGraphicFramePr>
        <p:xfrm>
          <a:off x="1600200" y="4038600"/>
          <a:ext cx="4267200" cy="496888"/>
        </p:xfrm>
        <a:graphic>
          <a:graphicData uri="http://schemas.openxmlformats.org/presentationml/2006/ole">
            <mc:AlternateContent xmlns:mc="http://schemas.openxmlformats.org/markup-compatibility/2006">
              <mc:Choice xmlns:v="urn:schemas-microsoft-com:vml" Requires="v">
                <p:oleObj spid="_x0000_s98375" name="" r:id="rId11" imgW="2209800" imgH="254000" progId="Equation.DSMT4">
                  <p:embed/>
                </p:oleObj>
              </mc:Choice>
              <mc:Fallback>
                <p:oleObj name="" r:id="rId11" imgW="2209800" imgH="254000" progId="Equation.DSMT4">
                  <p:embed/>
                  <p:pic>
                    <p:nvPicPr>
                      <p:cNvPr id="0" name="对象 13312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0200" y="4038600"/>
                        <a:ext cx="42672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5000" name="矩形 13312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5001" name="对象 133129"/>
          <p:cNvGraphicFramePr/>
          <p:nvPr/>
        </p:nvGraphicFramePr>
        <p:xfrm>
          <a:off x="1371600" y="5486400"/>
          <a:ext cx="2590800" cy="822325"/>
        </p:xfrm>
        <a:graphic>
          <a:graphicData uri="http://schemas.openxmlformats.org/presentationml/2006/ole">
            <mc:AlternateContent xmlns:mc="http://schemas.openxmlformats.org/markup-compatibility/2006">
              <mc:Choice xmlns:v="urn:schemas-microsoft-com:vml" Requires="v">
                <p:oleObj spid="_x0000_s98376" name="" r:id="rId13" imgW="1409065" imgH="444500" progId="Equation.DSMT4">
                  <p:embed/>
                </p:oleObj>
              </mc:Choice>
              <mc:Fallback>
                <p:oleObj name="" r:id="rId13" imgW="1409065" imgH="444500" progId="Equation.DSMT4">
                  <p:embed/>
                  <p:pic>
                    <p:nvPicPr>
                      <p:cNvPr id="0" name="对象 13312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71600" y="5486400"/>
                        <a:ext cx="2590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5002" name="矩形 133130"/>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5003" name="对象 133131"/>
          <p:cNvGraphicFramePr/>
          <p:nvPr/>
        </p:nvGraphicFramePr>
        <p:xfrm>
          <a:off x="4800600" y="5638800"/>
          <a:ext cx="2743200" cy="446088"/>
        </p:xfrm>
        <a:graphic>
          <a:graphicData uri="http://schemas.openxmlformats.org/presentationml/2006/ole">
            <mc:AlternateContent xmlns:mc="http://schemas.openxmlformats.org/markup-compatibility/2006">
              <mc:Choice xmlns:v="urn:schemas-microsoft-com:vml" Requires="v">
                <p:oleObj spid="_x0000_s98377" name="" r:id="rId15" imgW="1231265" imgH="203200" progId="Equation.DSMT4">
                  <p:embed/>
                </p:oleObj>
              </mc:Choice>
              <mc:Fallback>
                <p:oleObj name="" r:id="rId15" imgW="1231265" imgH="203200" progId="Equation.DSMT4">
                  <p:embed/>
                  <p:pic>
                    <p:nvPicPr>
                      <p:cNvPr id="0" name="对象 13313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0600" y="5638800"/>
                        <a:ext cx="27432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5004" name="右箭头 133132"/>
          <p:cNvSpPr>
            <a:spLocks noChangeArrowheads="1"/>
          </p:cNvSpPr>
          <p:nvPr/>
        </p:nvSpPr>
        <p:spPr bwMode="auto">
          <a:xfrm>
            <a:off x="4114800" y="5791200"/>
            <a:ext cx="609600" cy="152400"/>
          </a:xfrm>
          <a:prstGeom prst="rightArrow">
            <a:avLst>
              <a:gd name="adj1" fmla="val 50000"/>
              <a:gd name="adj2" fmla="val 100000"/>
            </a:avLst>
          </a:prstGeom>
          <a:solidFill>
            <a:schemeClr val="accent1"/>
          </a:solidFill>
          <a:ln w="9525">
            <a:solidFill>
              <a:schemeClr val="tx1"/>
            </a:solidFill>
            <a:miter lim="800000"/>
          </a:ln>
        </p:spPr>
        <p:txBody>
          <a:bodyPr/>
          <a:lstStyle/>
          <a:p>
            <a:endParaRPr lang="zh-CN" altLang="en-US"/>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矩形 130053"/>
          <p:cNvSpPr>
            <a:spLocks noChangeArrowheads="1"/>
          </p:cNvSpPr>
          <p:nvPr/>
        </p:nvSpPr>
        <p:spPr bwMode="auto">
          <a:xfrm>
            <a:off x="685800" y="424190"/>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solidFill>
                  <a:srgbClr val="FF0000"/>
                </a:solidFill>
                <a:latin typeface="黑体" panose="02010609060101010101" pitchFamily="49" charset="-122"/>
                <a:ea typeface="黑体" panose="02010609060101010101" pitchFamily="49" charset="-122"/>
              </a:rPr>
              <a:t>定温过程</a:t>
            </a:r>
            <a:endParaRPr lang="zh-CN" altLang="en-US" sz="2800" b="1" dirty="0">
              <a:solidFill>
                <a:srgbClr val="FF0000"/>
              </a:solidFill>
              <a:latin typeface="黑体" panose="02010609060101010101" pitchFamily="49" charset="-122"/>
              <a:ea typeface="黑体" panose="02010609060101010101" pitchFamily="49" charset="-122"/>
            </a:endParaRPr>
          </a:p>
        </p:txBody>
      </p:sp>
      <p:graphicFrame>
        <p:nvGraphicFramePr>
          <p:cNvPr id="86018" name="对象 130054"/>
          <p:cNvGraphicFramePr/>
          <p:nvPr/>
        </p:nvGraphicFramePr>
        <p:xfrm>
          <a:off x="2286000" y="481013"/>
          <a:ext cx="2878138" cy="533400"/>
        </p:xfrm>
        <a:graphic>
          <a:graphicData uri="http://schemas.openxmlformats.org/presentationml/2006/ole">
            <mc:AlternateContent xmlns:mc="http://schemas.openxmlformats.org/markup-compatibility/2006">
              <mc:Choice xmlns:v="urn:schemas-microsoft-com:vml" Requires="v">
                <p:oleObj spid="_x0000_s99354" name="" r:id="rId1" imgW="1078865" imgH="203200" progId="Equation.DSMT4">
                  <p:embed/>
                </p:oleObj>
              </mc:Choice>
              <mc:Fallback>
                <p:oleObj name="" r:id="rId1" imgW="1078865" imgH="203200" progId="Equation.DSMT4">
                  <p:embed/>
                  <p:pic>
                    <p:nvPicPr>
                      <p:cNvPr id="0" name="对象 13005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81013"/>
                        <a:ext cx="28781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19" name="矩形 130055"/>
          <p:cNvSpPr>
            <a:spLocks noChangeArrowheads="1"/>
          </p:cNvSpPr>
          <p:nvPr/>
        </p:nvSpPr>
        <p:spPr bwMode="auto">
          <a:xfrm>
            <a:off x="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矩形 130056"/>
          <p:cNvSpPr>
            <a:spLocks noChangeArrowheads="1"/>
          </p:cNvSpPr>
          <p:nvPr/>
        </p:nvSpPr>
        <p:spPr bwMode="auto">
          <a:xfrm>
            <a:off x="533400" y="1166813"/>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非准静态过程，不能用式</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err="1">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dirty="0">
                <a:latin typeface="黑体" panose="02010609060101010101" pitchFamily="49" charset="-122"/>
                <a:ea typeface="黑体" panose="02010609060101010101" pitchFamily="49" charset="-122"/>
              </a:rPr>
              <a:t>来求气体的体积变化功，而需要用外部参数进行计算</a:t>
            </a:r>
            <a:endParaRPr lang="zh-CN" altLang="en-US" sz="2800" b="1" dirty="0">
              <a:latin typeface="黑体" panose="02010609060101010101" pitchFamily="49" charset="-122"/>
              <a:ea typeface="黑体" panose="02010609060101010101" pitchFamily="49" charset="-122"/>
            </a:endParaRPr>
          </a:p>
        </p:txBody>
      </p:sp>
      <p:graphicFrame>
        <p:nvGraphicFramePr>
          <p:cNvPr id="86021" name="对象 130057"/>
          <p:cNvGraphicFramePr/>
          <p:nvPr/>
        </p:nvGraphicFramePr>
        <p:xfrm>
          <a:off x="762000" y="2362200"/>
          <a:ext cx="7467600" cy="1382713"/>
        </p:xfrm>
        <a:graphic>
          <a:graphicData uri="http://schemas.openxmlformats.org/presentationml/2006/ole">
            <mc:AlternateContent xmlns:mc="http://schemas.openxmlformats.org/markup-compatibility/2006">
              <mc:Choice xmlns:v="urn:schemas-microsoft-com:vml" Requires="v">
                <p:oleObj spid="_x0000_s99355" name="" r:id="rId3" imgW="3708400" imgH="685800" progId="Equation.DSMT4">
                  <p:embed/>
                </p:oleObj>
              </mc:Choice>
              <mc:Fallback>
                <p:oleObj name="" r:id="rId3" imgW="3708400" imgH="685800" progId="Equation.DSMT4">
                  <p:embed/>
                  <p:pic>
                    <p:nvPicPr>
                      <p:cNvPr id="0" name="对象 1300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362200"/>
                        <a:ext cx="7467600" cy="1382713"/>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22" name="矩形 130058"/>
          <p:cNvSpPr>
            <a:spLocks noChangeArrowheads="1"/>
          </p:cNvSpPr>
          <p:nvPr/>
        </p:nvSpPr>
        <p:spPr bwMode="auto">
          <a:xfrm>
            <a:off x="685800" y="4036547"/>
            <a:ext cx="41520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伴随热量而传递的熵量：</a:t>
            </a:r>
            <a:endParaRPr lang="zh-CN" altLang="en-US" sz="2800" b="1" dirty="0">
              <a:latin typeface="黑体" panose="02010609060101010101" pitchFamily="49" charset="-122"/>
              <a:ea typeface="黑体" panose="02010609060101010101" pitchFamily="49" charset="-122"/>
            </a:endParaRPr>
          </a:p>
        </p:txBody>
      </p:sp>
      <p:graphicFrame>
        <p:nvGraphicFramePr>
          <p:cNvPr id="130061" name="对象 130060"/>
          <p:cNvGraphicFramePr/>
          <p:nvPr/>
        </p:nvGraphicFramePr>
        <p:xfrm>
          <a:off x="2667000" y="4953000"/>
          <a:ext cx="3048000" cy="850900"/>
        </p:xfrm>
        <a:graphic>
          <a:graphicData uri="http://schemas.openxmlformats.org/presentationml/2006/ole">
            <mc:AlternateContent xmlns:mc="http://schemas.openxmlformats.org/markup-compatibility/2006">
              <mc:Choice xmlns:v="urn:schemas-microsoft-com:vml" Requires="v">
                <p:oleObj spid="_x0000_s99356" name="" r:id="rId5" imgW="1536065" imgH="431800" progId="Equation.DSMT4">
                  <p:embed/>
                </p:oleObj>
              </mc:Choice>
              <mc:Fallback>
                <p:oleObj name="" r:id="rId5" imgW="1536065" imgH="431800" progId="Equation.DSMT4">
                  <p:embed/>
                  <p:pic>
                    <p:nvPicPr>
                      <p:cNvPr id="0" name="对象 13006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4953000"/>
                        <a:ext cx="3048000" cy="8509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0061"/>
                                        </p:tgtEl>
                                        <p:attrNameLst>
                                          <p:attrName>style.visibility</p:attrName>
                                        </p:attrNameLst>
                                      </p:cBhvr>
                                      <p:to>
                                        <p:strVal val="visible"/>
                                      </p:to>
                                    </p:set>
                                    <p:animEffect transition="in" filter="blinds(horizontal)">
                                      <p:cBhvr>
                                        <p:cTn id="7" dur="500"/>
                                        <p:tgtEl>
                                          <p:spTgt spid="130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1" name="对象 134145"/>
          <p:cNvGraphicFramePr/>
          <p:nvPr/>
        </p:nvGraphicFramePr>
        <p:xfrm>
          <a:off x="2057400" y="1600200"/>
          <a:ext cx="3973513" cy="985838"/>
        </p:xfrm>
        <a:graphic>
          <a:graphicData uri="http://schemas.openxmlformats.org/presentationml/2006/ole">
            <mc:AlternateContent xmlns:mc="http://schemas.openxmlformats.org/markup-compatibility/2006">
              <mc:Choice xmlns:v="urn:schemas-microsoft-com:vml" Requires="v">
                <p:oleObj spid="_x0000_s100386" name="" r:id="rId1" imgW="1574165" imgH="393700" progId="Equation.DSMT4">
                  <p:embed/>
                </p:oleObj>
              </mc:Choice>
              <mc:Fallback>
                <p:oleObj name="" r:id="rId1" imgW="1574165" imgH="393700" progId="Equation.DSMT4">
                  <p:embed/>
                  <p:pic>
                    <p:nvPicPr>
                      <p:cNvPr id="0" name="对象 13414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00200"/>
                        <a:ext cx="3973513"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042" name="对象 134147"/>
          <p:cNvGraphicFramePr/>
          <p:nvPr/>
        </p:nvGraphicFramePr>
        <p:xfrm>
          <a:off x="914400" y="3592513"/>
          <a:ext cx="2286000" cy="466725"/>
        </p:xfrm>
        <a:graphic>
          <a:graphicData uri="http://schemas.openxmlformats.org/presentationml/2006/ole">
            <mc:AlternateContent xmlns:mc="http://schemas.openxmlformats.org/markup-compatibility/2006">
              <mc:Choice xmlns:v="urn:schemas-microsoft-com:vml" Requires="v">
                <p:oleObj spid="_x0000_s100387" name="" r:id="rId3" imgW="977265" imgH="203200" progId="Equation.DSMT4">
                  <p:embed/>
                </p:oleObj>
              </mc:Choice>
              <mc:Fallback>
                <p:oleObj name="" r:id="rId3" imgW="977265" imgH="203200" progId="Equation.DSMT4">
                  <p:embed/>
                  <p:pic>
                    <p:nvPicPr>
                      <p:cNvPr id="0" name="对象 13414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592513"/>
                        <a:ext cx="2286000" cy="46672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43" name="对象 134148"/>
          <p:cNvGraphicFramePr/>
          <p:nvPr/>
        </p:nvGraphicFramePr>
        <p:xfrm>
          <a:off x="4114800" y="3287713"/>
          <a:ext cx="3505200" cy="979487"/>
        </p:xfrm>
        <a:graphic>
          <a:graphicData uri="http://schemas.openxmlformats.org/presentationml/2006/ole">
            <mc:AlternateContent xmlns:mc="http://schemas.openxmlformats.org/markup-compatibility/2006">
              <mc:Choice xmlns:v="urn:schemas-microsoft-com:vml" Requires="v">
                <p:oleObj spid="_x0000_s100388" name="" r:id="rId5" imgW="1536065" imgH="431800" progId="Equation.DSMT4">
                  <p:embed/>
                </p:oleObj>
              </mc:Choice>
              <mc:Fallback>
                <p:oleObj name="" r:id="rId5" imgW="1536065" imgH="431800" progId="Equation.DSMT4">
                  <p:embed/>
                  <p:pic>
                    <p:nvPicPr>
                      <p:cNvPr id="0" name="对象 13414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287713"/>
                        <a:ext cx="3505200" cy="97948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44" name="对象 134149"/>
          <p:cNvGraphicFramePr/>
          <p:nvPr/>
        </p:nvGraphicFramePr>
        <p:xfrm>
          <a:off x="1066800" y="4953000"/>
          <a:ext cx="6780213" cy="874713"/>
        </p:xfrm>
        <a:graphic>
          <a:graphicData uri="http://schemas.openxmlformats.org/presentationml/2006/ole">
            <mc:AlternateContent xmlns:mc="http://schemas.openxmlformats.org/markup-compatibility/2006">
              <mc:Choice xmlns:v="urn:schemas-microsoft-com:vml" Requires="v">
                <p:oleObj spid="_x0000_s100389" name="" r:id="rId7" imgW="3008630" imgH="393700" progId="Equation.DSMT4">
                  <p:embed/>
                </p:oleObj>
              </mc:Choice>
              <mc:Fallback>
                <p:oleObj name="" r:id="rId7" imgW="3008630" imgH="393700" progId="Equation.DSMT4">
                  <p:embed/>
                  <p:pic>
                    <p:nvPicPr>
                      <p:cNvPr id="0" name="对象 13414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953000"/>
                        <a:ext cx="6780213"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5" name="直接连接符 134150"/>
          <p:cNvSpPr>
            <a:spLocks noChangeShapeType="1"/>
          </p:cNvSpPr>
          <p:nvPr/>
        </p:nvSpPr>
        <p:spPr bwMode="auto">
          <a:xfrm flipV="1">
            <a:off x="1981200" y="2362200"/>
            <a:ext cx="381000" cy="1143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46" name="直接连接符 134151"/>
          <p:cNvSpPr>
            <a:spLocks noChangeShapeType="1"/>
          </p:cNvSpPr>
          <p:nvPr/>
        </p:nvSpPr>
        <p:spPr bwMode="auto">
          <a:xfrm flipV="1">
            <a:off x="4953000" y="2590800"/>
            <a:ext cx="1524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7047" name="矩形 134152"/>
          <p:cNvSpPr>
            <a:spLocks noChangeArrowheads="1"/>
          </p:cNvSpPr>
          <p:nvPr/>
        </p:nvSpPr>
        <p:spPr bwMode="auto">
          <a:xfrm>
            <a:off x="4038600" y="881390"/>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solidFill>
                  <a:srgbClr val="FF0000"/>
                </a:solidFill>
                <a:latin typeface="黑体" panose="02010609060101010101" pitchFamily="49" charset="-122"/>
                <a:ea typeface="黑体" panose="02010609060101010101" pitchFamily="49" charset="-122"/>
              </a:rPr>
              <a:t>定温过程</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87048" name="下箭头 134154"/>
          <p:cNvSpPr>
            <a:spLocks noChangeArrowheads="1"/>
          </p:cNvSpPr>
          <p:nvPr/>
        </p:nvSpPr>
        <p:spPr bwMode="auto">
          <a:xfrm>
            <a:off x="4724400" y="1371600"/>
            <a:ext cx="76200" cy="533400"/>
          </a:xfrm>
          <a:prstGeom prst="downArrow">
            <a:avLst>
              <a:gd name="adj1" fmla="val 50000"/>
              <a:gd name="adj2" fmla="val 175000"/>
            </a:avLst>
          </a:prstGeom>
          <a:solidFill>
            <a:schemeClr val="accent1"/>
          </a:solidFill>
          <a:ln w="9525">
            <a:solidFill>
              <a:schemeClr val="tx1"/>
            </a:solidFill>
            <a:miter lim="800000"/>
          </a:ln>
        </p:spPr>
        <p:txBody>
          <a:bodyPr/>
          <a:lstStyle/>
          <a:p>
            <a:endParaRPr lang="zh-CN" altLang="en-US"/>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矩形 135169"/>
          <p:cNvSpPr>
            <a:spLocks noChangeArrowheads="1"/>
          </p:cNvSpPr>
          <p:nvPr/>
        </p:nvSpPr>
        <p:spPr bwMode="auto">
          <a:xfrm>
            <a:off x="0" y="2190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6" name="矩形 135171"/>
          <p:cNvSpPr>
            <a:spLocks noChangeArrowheads="1"/>
          </p:cNvSpPr>
          <p:nvPr/>
        </p:nvSpPr>
        <p:spPr bwMode="auto">
          <a:xfrm>
            <a:off x="602003" y="5416946"/>
            <a:ext cx="79399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以理想气体为研究对象的熵量传递和熵变示意图 </a:t>
            </a:r>
            <a:endParaRPr lang="zh-CN" altLang="en-US" sz="2800" b="1" dirty="0">
              <a:latin typeface="黑体" panose="02010609060101010101" pitchFamily="49" charset="-122"/>
              <a:ea typeface="黑体" panose="02010609060101010101" pitchFamily="49" charset="-122"/>
            </a:endParaRPr>
          </a:p>
        </p:txBody>
      </p:sp>
      <p:sp>
        <p:nvSpPr>
          <p:cNvPr id="88067" name="矩形 135173"/>
          <p:cNvSpPr>
            <a:spLocks noChangeArrowheads="1"/>
          </p:cNvSpPr>
          <p:nvPr/>
        </p:nvSpPr>
        <p:spPr bwMode="auto">
          <a:xfrm>
            <a:off x="0" y="2128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2482" y="823704"/>
            <a:ext cx="4724809" cy="4243184"/>
          </a:xfrm>
          <a:prstGeom prst="rect">
            <a:avLst/>
          </a:prstGeom>
        </p:spPr>
      </p:pic>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矩形 136193"/>
          <p:cNvSpPr>
            <a:spLocks noChangeArrowheads="1"/>
          </p:cNvSpPr>
          <p:nvPr/>
        </p:nvSpPr>
        <p:spPr bwMode="auto">
          <a:xfrm>
            <a:off x="381000" y="152400"/>
            <a:ext cx="3857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a:latin typeface="黑体" panose="02010609060101010101" pitchFamily="49" charset="-122"/>
                <a:ea typeface="黑体" panose="02010609060101010101" pitchFamily="49" charset="-122"/>
              </a:rPr>
              <a:t>例</a:t>
            </a:r>
            <a:r>
              <a:rPr lang="en-US" altLang="zh-CN" sz="3200" b="1" baseline="0">
                <a:latin typeface="黑体" panose="02010609060101010101" pitchFamily="49" charset="-122"/>
                <a:ea typeface="黑体" panose="02010609060101010101" pitchFamily="49" charset="-122"/>
              </a:rPr>
              <a:t>3</a:t>
            </a:r>
            <a:r>
              <a:rPr lang="zh-CN" altLang="en-US" sz="3200" b="1" baseline="0">
                <a:latin typeface="黑体" panose="02010609060101010101" pitchFamily="49" charset="-122"/>
                <a:ea typeface="黑体" panose="02010609060101010101" pitchFamily="49" charset="-122"/>
              </a:rPr>
              <a:t>：气体压缩过程 </a:t>
            </a:r>
            <a:endParaRPr lang="zh-CN" altLang="en-US" sz="3200" b="1" baseline="0">
              <a:latin typeface="黑体" panose="02010609060101010101" pitchFamily="49" charset="-122"/>
              <a:ea typeface="黑体" panose="02010609060101010101" pitchFamily="49" charset="-122"/>
            </a:endParaRPr>
          </a:p>
        </p:txBody>
      </p:sp>
      <p:sp>
        <p:nvSpPr>
          <p:cNvPr id="89090" name="矩形 136194"/>
          <p:cNvSpPr>
            <a:spLocks noChangeArrowheads="1"/>
          </p:cNvSpPr>
          <p:nvPr/>
        </p:nvSpPr>
        <p:spPr bwMode="auto">
          <a:xfrm>
            <a:off x="457200" y="905858"/>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latin typeface="Times New Roman" panose="02020603050405020304" pitchFamily="18" charset="0"/>
                <a:cs typeface="Times New Roman" panose="02020603050405020304" pitchFamily="18" charset="0"/>
              </a:rPr>
              <a:t>单位质量的气体在气缸中被压缩，其熵和热力学能的变化分别为</a:t>
            </a:r>
            <a:r>
              <a:rPr lang="en-US" altLang="zh-CN" sz="2400" b="1" baseline="0" dirty="0">
                <a:latin typeface="Times New Roman" panose="02020603050405020304" pitchFamily="18" charset="0"/>
                <a:cs typeface="Times New Roman" panose="02020603050405020304" pitchFamily="18" charset="0"/>
              </a:rPr>
              <a:t>-0.298 kJ/ K</a:t>
            </a:r>
            <a:r>
              <a:rPr lang="zh-CN" altLang="en-US" sz="2400" b="1" baseline="0" dirty="0">
                <a:latin typeface="Times New Roman" panose="02020603050405020304" pitchFamily="18" charset="0"/>
                <a:cs typeface="Times New Roman" panose="02020603050405020304" pitchFamily="18" charset="0"/>
              </a:rPr>
              <a:t>和</a:t>
            </a:r>
            <a:r>
              <a:rPr lang="en-US" altLang="zh-CN" sz="2400" b="1" baseline="0" dirty="0">
                <a:latin typeface="Times New Roman" panose="02020603050405020304" pitchFamily="18" charset="0"/>
                <a:cs typeface="Times New Roman" panose="02020603050405020304" pitchFamily="18" charset="0"/>
              </a:rPr>
              <a:t>45 kJ</a:t>
            </a:r>
            <a:r>
              <a:rPr lang="zh-CN" altLang="en-US" sz="2400" b="1" baseline="0" dirty="0">
                <a:latin typeface="Times New Roman" panose="02020603050405020304" pitchFamily="18" charset="0"/>
                <a:cs typeface="Times New Roman" panose="02020603050405020304" pitchFamily="18" charset="0"/>
              </a:rPr>
              <a:t>，外界对气体作功</a:t>
            </a:r>
            <a:r>
              <a:rPr lang="en-US" altLang="zh-CN" sz="2400" b="1" baseline="0" dirty="0">
                <a:latin typeface="Times New Roman" panose="02020603050405020304" pitchFamily="18" charset="0"/>
                <a:cs typeface="Times New Roman" panose="02020603050405020304" pitchFamily="18" charset="0"/>
              </a:rPr>
              <a:t>165 kJ</a:t>
            </a:r>
            <a:r>
              <a:rPr lang="zh-CN" altLang="en-US" sz="2400" b="1" baseline="0" dirty="0">
                <a:latin typeface="Times New Roman" panose="02020603050405020304" pitchFamily="18" charset="0"/>
                <a:cs typeface="Times New Roman" panose="02020603050405020304" pitchFamily="18" charset="0"/>
              </a:rPr>
              <a:t>。过程中气体只与环境大气交换热量，环境温度为</a:t>
            </a:r>
            <a:r>
              <a:rPr lang="en-US" altLang="zh-CN" sz="2400" b="1" baseline="0" dirty="0">
                <a:latin typeface="Times New Roman" panose="02020603050405020304" pitchFamily="18" charset="0"/>
                <a:cs typeface="Times New Roman" panose="02020603050405020304" pitchFamily="18" charset="0"/>
              </a:rPr>
              <a:t>300 K</a:t>
            </a:r>
            <a:r>
              <a:rPr lang="zh-CN" altLang="en-US" sz="2400" b="1" baseline="0" dirty="0">
                <a:latin typeface="Times New Roman" panose="02020603050405020304" pitchFamily="18" charset="0"/>
                <a:cs typeface="Times New Roman" panose="02020603050405020304" pitchFamily="18" charset="0"/>
              </a:rPr>
              <a:t>，问该过程是否能够实现？ </a:t>
            </a:r>
            <a:endParaRPr lang="zh-CN" altLang="en-US" sz="2400" b="1" baseline="0" dirty="0">
              <a:latin typeface="Times New Roman" panose="02020603050405020304" pitchFamily="18" charset="0"/>
              <a:cs typeface="Times New Roman" panose="02020603050405020304" pitchFamily="18" charset="0"/>
            </a:endParaRPr>
          </a:p>
        </p:txBody>
      </p:sp>
      <p:sp>
        <p:nvSpPr>
          <p:cNvPr id="89091" name="矩形 136195"/>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4548" y="2924116"/>
            <a:ext cx="3200677" cy="2822693"/>
          </a:xfrm>
          <a:prstGeom prst="rect">
            <a:avLst/>
          </a:prstGeom>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矩形 137217"/>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5" name="矩形 137219"/>
          <p:cNvSpPr>
            <a:spLocks noChangeArrowheads="1"/>
          </p:cNvSpPr>
          <p:nvPr/>
        </p:nvSpPr>
        <p:spPr bwMode="auto">
          <a:xfrm>
            <a:off x="3239293" y="580795"/>
            <a:ext cx="4493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baseline="0" dirty="0" smtClean="0">
                <a:latin typeface="Times New Roman" panose="02020603050405020304" pitchFamily="18" charset="0"/>
              </a:rPr>
              <a:t>若以</a:t>
            </a:r>
            <a:r>
              <a:rPr lang="zh-CN" altLang="en-US" sz="2800" b="1" baseline="0" dirty="0">
                <a:latin typeface="Times New Roman" panose="02020603050405020304" pitchFamily="18" charset="0"/>
              </a:rPr>
              <a:t>气缸内气体为研究系统</a:t>
            </a:r>
            <a:endParaRPr lang="zh-CN" altLang="en-US" sz="2800" dirty="0"/>
          </a:p>
        </p:txBody>
      </p:sp>
      <p:sp>
        <p:nvSpPr>
          <p:cNvPr id="90116" name="矩形 137220"/>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8" name="矩形 13722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0119" name="对象 137223"/>
          <p:cNvGraphicFramePr/>
          <p:nvPr/>
        </p:nvGraphicFramePr>
        <p:xfrm>
          <a:off x="3239293" y="1510978"/>
          <a:ext cx="5257800" cy="515938"/>
        </p:xfrm>
        <a:graphic>
          <a:graphicData uri="http://schemas.openxmlformats.org/presentationml/2006/ole">
            <mc:AlternateContent xmlns:mc="http://schemas.openxmlformats.org/markup-compatibility/2006">
              <mc:Choice xmlns:v="urn:schemas-microsoft-com:vml" Requires="v">
                <p:oleObj spid="_x0000_s101402" name="" r:id="rId1" imgW="2616200" imgH="254000" progId="Equation.DSMT4">
                  <p:embed/>
                </p:oleObj>
              </mc:Choice>
              <mc:Fallback>
                <p:oleObj name="" r:id="rId1" imgW="2616200" imgH="254000" progId="Equation.DSMT4">
                  <p:embed/>
                  <p:pic>
                    <p:nvPicPr>
                      <p:cNvPr id="0" name="对象 1372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9293" y="1510978"/>
                        <a:ext cx="525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0120" name="对象 137224"/>
          <p:cNvGraphicFramePr/>
          <p:nvPr/>
        </p:nvGraphicFramePr>
        <p:xfrm>
          <a:off x="4269129" y="2987387"/>
          <a:ext cx="2120900" cy="825500"/>
        </p:xfrm>
        <a:graphic>
          <a:graphicData uri="http://schemas.openxmlformats.org/presentationml/2006/ole">
            <mc:AlternateContent xmlns:mc="http://schemas.openxmlformats.org/markup-compatibility/2006">
              <mc:Choice xmlns:v="urn:schemas-microsoft-com:vml" Requires="v">
                <p:oleObj spid="_x0000_s101403" name="" r:id="rId3" imgW="1002665" imgH="393700" progId="Equation.DSMT4">
                  <p:embed/>
                </p:oleObj>
              </mc:Choice>
              <mc:Fallback>
                <p:oleObj name="" r:id="rId3" imgW="1002665" imgH="393700" progId="Equation.DSMT4">
                  <p:embed/>
                  <p:pic>
                    <p:nvPicPr>
                      <p:cNvPr id="0" name="对象 1372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9129" y="2987387"/>
                        <a:ext cx="21209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1" name="矩形 137225"/>
          <p:cNvSpPr>
            <a:spLocks noChangeArrowheads="1"/>
          </p:cNvSpPr>
          <p:nvPr/>
        </p:nvSpPr>
        <p:spPr bwMode="auto">
          <a:xfrm>
            <a:off x="3718867" y="2320866"/>
            <a:ext cx="37240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baseline="0" dirty="0">
                <a:latin typeface="黑体" panose="02010609060101010101" pitchFamily="49" charset="-122"/>
                <a:ea typeface="黑体" panose="02010609060101010101" pitchFamily="49" charset="-122"/>
              </a:rPr>
              <a:t>负号表示气体向环境放热</a:t>
            </a:r>
            <a:r>
              <a:rPr lang="zh-CN" altLang="en-US" sz="2400" b="1" dirty="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sp>
        <p:nvSpPr>
          <p:cNvPr id="90122" name="矩形 137226"/>
          <p:cNvSpPr>
            <a:spLocks noChangeArrowheads="1"/>
          </p:cNvSpPr>
          <p:nvPr/>
        </p:nvSpPr>
        <p:spPr bwMode="auto">
          <a:xfrm>
            <a:off x="3814421" y="4067176"/>
            <a:ext cx="15151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baseline="0" dirty="0">
                <a:latin typeface="Times New Roman" panose="02020603050405020304" pitchFamily="18" charset="0"/>
              </a:rPr>
              <a:t>-0.298 kJ/ K</a:t>
            </a:r>
            <a:endParaRPr lang="en-US" altLang="zh-CN" sz="2000" b="1" baseline="0" dirty="0">
              <a:latin typeface="Times New Roman" panose="02020603050405020304" pitchFamily="18" charset="0"/>
            </a:endParaRPr>
          </a:p>
        </p:txBody>
      </p:sp>
      <p:sp>
        <p:nvSpPr>
          <p:cNvPr id="90124" name="矩形 137228"/>
          <p:cNvSpPr>
            <a:spLocks noChangeArrowheads="1"/>
          </p:cNvSpPr>
          <p:nvPr/>
        </p:nvSpPr>
        <p:spPr bwMode="auto">
          <a:xfrm>
            <a:off x="457200" y="4717961"/>
            <a:ext cx="822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latin typeface="黑体" panose="02010609060101010101" pitchFamily="49" charset="-122"/>
                <a:ea typeface="黑体" panose="02010609060101010101" pitchFamily="49" charset="-122"/>
              </a:rPr>
              <a:t>过程能否实现取决于过程的熵产是否大于</a:t>
            </a:r>
            <a:r>
              <a:rPr lang="en-US" altLang="zh-CN" sz="2400" b="1" baseline="0" dirty="0">
                <a:latin typeface="黑体" panose="02010609060101010101" pitchFamily="49" charset="-122"/>
                <a:ea typeface="黑体" panose="02010609060101010101" pitchFamily="49" charset="-122"/>
              </a:rPr>
              <a:t>0</a:t>
            </a:r>
            <a:r>
              <a:rPr lang="zh-CN" altLang="en-US" sz="2400" b="1" baseline="0" dirty="0">
                <a:latin typeface="黑体" panose="02010609060101010101" pitchFamily="49" charset="-122"/>
                <a:ea typeface="黑体" panose="02010609060101010101" pitchFamily="49" charset="-122"/>
              </a:rPr>
              <a:t>。如果将气缸中的气体作为研究系统，由于题目中气体的温度和温度变化情况未知，则无法求解伴随热量而传递的熵量     </a:t>
            </a:r>
            <a:r>
              <a:rPr lang="zh-CN" altLang="en-US" sz="2400" b="1" dirty="0" smtClean="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graphicFrame>
        <p:nvGraphicFramePr>
          <p:cNvPr id="90125" name="对象 137229"/>
          <p:cNvGraphicFramePr/>
          <p:nvPr/>
        </p:nvGraphicFramePr>
        <p:xfrm>
          <a:off x="6450495" y="5456237"/>
          <a:ext cx="660400" cy="639763"/>
        </p:xfrm>
        <a:graphic>
          <a:graphicData uri="http://schemas.openxmlformats.org/presentationml/2006/ole">
            <mc:AlternateContent xmlns:mc="http://schemas.openxmlformats.org/markup-compatibility/2006">
              <mc:Choice xmlns:v="urn:schemas-microsoft-com:vml" Requires="v">
                <p:oleObj spid="_x0000_s101404" name="" r:id="rId5" imgW="405765" imgH="393065" progId="Equation.DSMT4">
                  <p:embed/>
                </p:oleObj>
              </mc:Choice>
              <mc:Fallback>
                <p:oleObj name="" r:id="rId5" imgW="405765" imgH="393065" progId="Equation.DSMT4">
                  <p:embed/>
                  <p:pic>
                    <p:nvPicPr>
                      <p:cNvPr id="0" name="对象 1372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0495" y="5456237"/>
                        <a:ext cx="660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6" name="矩形 137230"/>
          <p:cNvSpPr>
            <a:spLocks noChangeArrowheads="1"/>
          </p:cNvSpPr>
          <p:nvPr/>
        </p:nvSpPr>
        <p:spPr bwMode="auto">
          <a:xfrm>
            <a:off x="763044" y="6096000"/>
            <a:ext cx="73661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smtClean="0">
                <a:latin typeface="Times New Roman" panose="02020603050405020304" pitchFamily="18" charset="0"/>
              </a:rPr>
              <a:t>需要</a:t>
            </a:r>
            <a:r>
              <a:rPr lang="zh-CN" altLang="en-US" sz="2800" b="1" dirty="0">
                <a:latin typeface="Times New Roman" panose="02020603050405020304" pitchFamily="18" charset="0"/>
              </a:rPr>
              <a:t>选取扩展系为研究系统，有两种选取方法</a:t>
            </a:r>
            <a:endParaRPr lang="zh-CN" altLang="en-US" sz="2800" b="1" dirty="0">
              <a:latin typeface="Times New Roman" panose="02020603050405020304" pitchFamily="18" charset="0"/>
            </a:endParaRPr>
          </a:p>
        </p:txBody>
      </p:sp>
      <p:sp>
        <p:nvSpPr>
          <p:cNvPr id="2" name="上箭头 1"/>
          <p:cNvSpPr/>
          <p:nvPr/>
        </p:nvSpPr>
        <p:spPr>
          <a:xfrm>
            <a:off x="4446104" y="3636951"/>
            <a:ext cx="125896" cy="30928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9999" y="875389"/>
            <a:ext cx="3200677" cy="2822693"/>
          </a:xfrm>
          <a:prstGeom prst="rect">
            <a:avLst/>
          </a:prstGeom>
        </p:spPr>
      </p:pic>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矩形 138241"/>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39" name="矩形 138243"/>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41" name="矩形 138245"/>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1142" name="对象 138246"/>
          <p:cNvGraphicFramePr/>
          <p:nvPr/>
        </p:nvGraphicFramePr>
        <p:xfrm>
          <a:off x="776288" y="3124200"/>
          <a:ext cx="3398837" cy="715963"/>
        </p:xfrm>
        <a:graphic>
          <a:graphicData uri="http://schemas.openxmlformats.org/presentationml/2006/ole">
            <mc:AlternateContent xmlns:mc="http://schemas.openxmlformats.org/markup-compatibility/2006">
              <mc:Choice xmlns:v="urn:schemas-microsoft-com:vml" Requires="v">
                <p:oleObj spid="_x0000_s102450" name="" r:id="rId1" imgW="2120265" imgH="444500" progId="Equation.DSMT4">
                  <p:embed/>
                </p:oleObj>
              </mc:Choice>
              <mc:Fallback>
                <p:oleObj name="" r:id="rId1" imgW="2120265" imgH="444500" progId="Equation.DSMT4">
                  <p:embed/>
                  <p:pic>
                    <p:nvPicPr>
                      <p:cNvPr id="0" name="对象 13824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8" y="3124200"/>
                        <a:ext cx="3398837"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3" name="矩形 138247"/>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1144" name="对象 138248"/>
          <p:cNvGraphicFramePr/>
          <p:nvPr/>
        </p:nvGraphicFramePr>
        <p:xfrm>
          <a:off x="1066800" y="4038600"/>
          <a:ext cx="2362200" cy="447675"/>
        </p:xfrm>
        <a:graphic>
          <a:graphicData uri="http://schemas.openxmlformats.org/presentationml/2006/ole">
            <mc:AlternateContent xmlns:mc="http://schemas.openxmlformats.org/markup-compatibility/2006">
              <mc:Choice xmlns:v="urn:schemas-microsoft-com:vml" Requires="v">
                <p:oleObj spid="_x0000_s102451" name="" r:id="rId3" imgW="1257300" imgH="241300" progId="Equation.DSMT4">
                  <p:embed/>
                </p:oleObj>
              </mc:Choice>
              <mc:Fallback>
                <p:oleObj name="" r:id="rId3" imgW="1257300" imgH="241300" progId="Equation.DSMT4">
                  <p:embed/>
                  <p:pic>
                    <p:nvPicPr>
                      <p:cNvPr id="0" name="对象 13824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038600"/>
                        <a:ext cx="23622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5" name="矩形 13824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1146" name="对象 138250"/>
          <p:cNvGraphicFramePr/>
          <p:nvPr/>
        </p:nvGraphicFramePr>
        <p:xfrm>
          <a:off x="838200" y="4724400"/>
          <a:ext cx="3124200" cy="733425"/>
        </p:xfrm>
        <a:graphic>
          <a:graphicData uri="http://schemas.openxmlformats.org/presentationml/2006/ole">
            <mc:AlternateContent xmlns:mc="http://schemas.openxmlformats.org/markup-compatibility/2006">
              <mc:Choice xmlns:v="urn:schemas-microsoft-com:vml" Requires="v">
                <p:oleObj spid="_x0000_s102452" name="" r:id="rId5" imgW="1828800" imgH="431800" progId="Equation.DSMT4">
                  <p:embed/>
                </p:oleObj>
              </mc:Choice>
              <mc:Fallback>
                <p:oleObj name="" r:id="rId5" imgW="1828800" imgH="431800" progId="Equation.DSMT4">
                  <p:embed/>
                  <p:pic>
                    <p:nvPicPr>
                      <p:cNvPr id="0" name="对象 13825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724400"/>
                        <a:ext cx="3124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7" name="矩形 138251"/>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1148" name="对象 138252"/>
          <p:cNvGraphicFramePr/>
          <p:nvPr/>
        </p:nvGraphicFramePr>
        <p:xfrm>
          <a:off x="862013" y="5562600"/>
          <a:ext cx="3151187" cy="895350"/>
        </p:xfrm>
        <a:graphic>
          <a:graphicData uri="http://schemas.openxmlformats.org/presentationml/2006/ole">
            <mc:AlternateContent xmlns:mc="http://schemas.openxmlformats.org/markup-compatibility/2006">
              <mc:Choice xmlns:v="urn:schemas-microsoft-com:vml" Requires="v">
                <p:oleObj spid="_x0000_s102453" name="" r:id="rId7" imgW="1587500" imgH="457200" progId="Equation.DSMT4">
                  <p:embed/>
                </p:oleObj>
              </mc:Choice>
              <mc:Fallback>
                <p:oleObj name="" r:id="rId7" imgW="1587500" imgH="457200" progId="Equation.DSMT4">
                  <p:embed/>
                  <p:pic>
                    <p:nvPicPr>
                      <p:cNvPr id="0" name="对象 13825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2013" y="5562600"/>
                        <a:ext cx="31511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9" name="直接连接符 138253"/>
          <p:cNvSpPr>
            <a:spLocks noChangeShapeType="1"/>
          </p:cNvSpPr>
          <p:nvPr/>
        </p:nvSpPr>
        <p:spPr bwMode="auto">
          <a:xfrm>
            <a:off x="4572000" y="1143000"/>
            <a:ext cx="0" cy="5257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150" name="矩形 13825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1151" name="对象 138255"/>
          <p:cNvGraphicFramePr/>
          <p:nvPr/>
        </p:nvGraphicFramePr>
        <p:xfrm>
          <a:off x="5275263" y="3124200"/>
          <a:ext cx="3165475" cy="788988"/>
        </p:xfrm>
        <a:graphic>
          <a:graphicData uri="http://schemas.openxmlformats.org/presentationml/2006/ole">
            <mc:AlternateContent xmlns:mc="http://schemas.openxmlformats.org/markup-compatibility/2006">
              <mc:Choice xmlns:v="urn:schemas-microsoft-com:vml" Requires="v">
                <p:oleObj spid="_x0000_s102454" name="" r:id="rId9" imgW="1713865" imgH="431800" progId="Equation.DSMT4">
                  <p:embed/>
                </p:oleObj>
              </mc:Choice>
              <mc:Fallback>
                <p:oleObj name="" r:id="rId9" imgW="1713865" imgH="431800" progId="Equation.DSMT4">
                  <p:embed/>
                  <p:pic>
                    <p:nvPicPr>
                      <p:cNvPr id="0" name="对象 13825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75263" y="3124200"/>
                        <a:ext cx="3165475"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52" name="矩形 13825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1153" name="对象 138257"/>
          <p:cNvGraphicFramePr/>
          <p:nvPr/>
        </p:nvGraphicFramePr>
        <p:xfrm>
          <a:off x="5283200" y="4191000"/>
          <a:ext cx="3355975" cy="1208088"/>
        </p:xfrm>
        <a:graphic>
          <a:graphicData uri="http://schemas.openxmlformats.org/presentationml/2006/ole">
            <mc:AlternateContent xmlns:mc="http://schemas.openxmlformats.org/markup-compatibility/2006">
              <mc:Choice xmlns:v="urn:schemas-microsoft-com:vml" Requires="v">
                <p:oleObj spid="_x0000_s102455" name="" r:id="rId11" imgW="1892300" imgH="685800" progId="Equation.DSMT4">
                  <p:embed/>
                </p:oleObj>
              </mc:Choice>
              <mc:Fallback>
                <p:oleObj name="" r:id="rId11" imgW="1892300" imgH="685800" progId="Equation.DSMT4">
                  <p:embed/>
                  <p:pic>
                    <p:nvPicPr>
                      <p:cNvPr id="0" name="对象 13825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3200" y="4191000"/>
                        <a:ext cx="3355975"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54" name="矩形 138258"/>
          <p:cNvSpPr>
            <a:spLocks noChangeArrowheads="1"/>
          </p:cNvSpPr>
          <p:nvPr/>
        </p:nvSpPr>
        <p:spPr bwMode="auto">
          <a:xfrm>
            <a:off x="4572000" y="5715000"/>
            <a:ext cx="447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baseline="0" dirty="0">
                <a:latin typeface="黑体" panose="02010609060101010101" pitchFamily="49" charset="-122"/>
                <a:ea typeface="黑体" panose="02010609060101010101" pitchFamily="49" charset="-122"/>
              </a:rPr>
              <a:t>更简单，因为不用计算热源熵变</a:t>
            </a:r>
            <a:endParaRPr lang="zh-CN" altLang="en-US" sz="2400" b="1" baseline="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65001" y="354915"/>
            <a:ext cx="4041998" cy="2408129"/>
          </a:xfrm>
          <a:prstGeom prst="rect">
            <a:avLst/>
          </a:prstGeom>
        </p:spPr>
      </p:pic>
      <p:pic>
        <p:nvPicPr>
          <p:cNvPr id="3" name="图片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687649" y="456947"/>
            <a:ext cx="4035902" cy="2383743"/>
          </a:xfrm>
          <a:prstGeom prst="rect">
            <a:avLst/>
          </a:prstGeom>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矩形 112641"/>
          <p:cNvSpPr>
            <a:spLocks noChangeArrowheads="1"/>
          </p:cNvSpPr>
          <p:nvPr/>
        </p:nvSpPr>
        <p:spPr bwMode="auto">
          <a:xfrm>
            <a:off x="381000" y="152400"/>
            <a:ext cx="50815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a:latin typeface="黑体" panose="02010609060101010101" pitchFamily="49" charset="-122"/>
                <a:ea typeface="黑体" panose="02010609060101010101" pitchFamily="49" charset="-122"/>
              </a:rPr>
              <a:t>例</a:t>
            </a:r>
            <a:r>
              <a:rPr lang="en-US" altLang="zh-CN" sz="3200" b="1" baseline="0" dirty="0">
                <a:latin typeface="黑体" panose="02010609060101010101" pitchFamily="49" charset="-122"/>
                <a:ea typeface="黑体" panose="02010609060101010101" pitchFamily="49" charset="-122"/>
              </a:rPr>
              <a:t>4</a:t>
            </a:r>
            <a:r>
              <a:rPr lang="zh-CN" altLang="en-US" sz="3200" b="1" baseline="0" dirty="0">
                <a:latin typeface="黑体" panose="02010609060101010101" pitchFamily="49" charset="-122"/>
                <a:ea typeface="黑体" panose="02010609060101010101" pitchFamily="49" charset="-122"/>
              </a:rPr>
              <a:t>：节流过程（开口系） </a:t>
            </a:r>
            <a:endParaRPr lang="zh-CN" altLang="en-US" sz="3200" b="1" baseline="0" dirty="0">
              <a:latin typeface="黑体" panose="02010609060101010101" pitchFamily="49" charset="-122"/>
              <a:ea typeface="黑体" panose="02010609060101010101" pitchFamily="49" charset="-122"/>
            </a:endParaRPr>
          </a:p>
        </p:txBody>
      </p:sp>
      <p:sp>
        <p:nvSpPr>
          <p:cNvPr id="92162" name="矩形 112642"/>
          <p:cNvSpPr>
            <a:spLocks noChangeArrowheads="1"/>
          </p:cNvSpPr>
          <p:nvPr/>
        </p:nvSpPr>
        <p:spPr bwMode="auto">
          <a:xfrm>
            <a:off x="457200" y="953999"/>
            <a:ext cx="8153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7 MPa</a:t>
            </a:r>
            <a:r>
              <a:rPr lang="zh-CN" altLang="en-US" sz="24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450℃</a:t>
            </a:r>
            <a:r>
              <a:rPr lang="zh-CN" altLang="en-US" sz="24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的理想气体稳定地流经节流阀，压力降为</a:t>
            </a:r>
            <a:r>
              <a:rPr lang="en-US" altLang="zh-CN" sz="24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 MPa</a:t>
            </a:r>
            <a:r>
              <a:rPr lang="zh-CN" altLang="en-US" sz="2400" b="1" baseline="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。求单位质量的流体流经节流阀引起的熵产</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 。已知气体</a:t>
            </a:r>
            <a:endPar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63" name="矩形 112643"/>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2164" name="对象 112644"/>
          <p:cNvGraphicFramePr/>
          <p:nvPr/>
        </p:nvGraphicFramePr>
        <p:xfrm>
          <a:off x="914400" y="1752600"/>
          <a:ext cx="2590800" cy="446088"/>
        </p:xfrm>
        <a:graphic>
          <a:graphicData uri="http://schemas.openxmlformats.org/presentationml/2006/ole">
            <mc:AlternateContent xmlns:mc="http://schemas.openxmlformats.org/markup-compatibility/2006">
              <mc:Choice xmlns:v="urn:schemas-microsoft-com:vml" Requires="v">
                <p:oleObj spid="_x0000_s103434" name="" r:id="rId1" imgW="1384300" imgH="241300" progId="Equation.DSMT4">
                  <p:embed/>
                </p:oleObj>
              </mc:Choice>
              <mc:Fallback>
                <p:oleObj name="" r:id="rId1" imgW="1384300" imgH="241300" progId="Equation.DSMT4">
                  <p:embed/>
                  <p:pic>
                    <p:nvPicPr>
                      <p:cNvPr id="0" name="对象 11264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752600"/>
                        <a:ext cx="25908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66" name="矩形 112646"/>
          <p:cNvSpPr>
            <a:spLocks noChangeArrowheads="1"/>
          </p:cNvSpPr>
          <p:nvPr/>
        </p:nvSpPr>
        <p:spPr bwMode="auto">
          <a:xfrm>
            <a:off x="0" y="2824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8" name="矩形 112648"/>
          <p:cNvSpPr>
            <a:spLocks noChangeArrowheads="1"/>
          </p:cNvSpPr>
          <p:nvPr/>
        </p:nvSpPr>
        <p:spPr bwMode="auto">
          <a:xfrm>
            <a:off x="6705600" y="5105400"/>
            <a:ext cx="167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baseline="0" dirty="0">
                <a:solidFill>
                  <a:srgbClr val="000000"/>
                </a:solidFill>
                <a:latin typeface="黑体" panose="02010609060101010101" pitchFamily="49" charset="-122"/>
                <a:ea typeface="黑体" panose="02010609060101010101" pitchFamily="49" charset="-122"/>
              </a:rPr>
              <a:t>取虚线内为开口系</a:t>
            </a:r>
            <a:endParaRPr lang="zh-CN" altLang="en-US" sz="2400" b="1" baseline="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0213" y="2362107"/>
            <a:ext cx="3383573" cy="2133785"/>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4316" y="4703671"/>
            <a:ext cx="4804064" cy="1743607"/>
          </a:xfrm>
          <a:prstGeom prst="rect">
            <a:avLst/>
          </a:prstGeom>
        </p:spPr>
      </p:pic>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矩形 113669"/>
          <p:cNvSpPr>
            <a:spLocks noChangeArrowheads="1"/>
          </p:cNvSpPr>
          <p:nvPr/>
        </p:nvSpPr>
        <p:spPr bwMode="auto">
          <a:xfrm>
            <a:off x="838200" y="19812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00000"/>
                </a:solidFill>
                <a:latin typeface="黑体" panose="02010609060101010101" pitchFamily="49" charset="-122"/>
                <a:ea typeface="黑体" panose="02010609060101010101" pitchFamily="49" charset="-122"/>
              </a:rPr>
              <a:t>质量守恒</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93186" name="矩形 113670"/>
          <p:cNvSpPr>
            <a:spLocks noChangeArrowheads="1"/>
          </p:cNvSpPr>
          <p:nvPr/>
        </p:nvSpPr>
        <p:spPr bwMode="auto">
          <a:xfrm>
            <a:off x="838200" y="26670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00000"/>
                </a:solidFill>
                <a:latin typeface="黑体" panose="02010609060101010101" pitchFamily="49" charset="-122"/>
                <a:ea typeface="黑体" panose="02010609060101010101" pitchFamily="49" charset="-122"/>
              </a:rPr>
              <a:t>稳定流动</a:t>
            </a:r>
            <a:endParaRPr lang="zh-CN" altLang="en-US" sz="2400" b="1" dirty="0">
              <a:solidFill>
                <a:srgbClr val="000000"/>
              </a:solidFill>
              <a:latin typeface="黑体" panose="02010609060101010101" pitchFamily="49" charset="-122"/>
              <a:ea typeface="黑体" panose="02010609060101010101" pitchFamily="49" charset="-122"/>
            </a:endParaRPr>
          </a:p>
        </p:txBody>
      </p:sp>
      <p:graphicFrame>
        <p:nvGraphicFramePr>
          <p:cNvPr id="93187" name="对象 113671"/>
          <p:cNvGraphicFramePr/>
          <p:nvPr/>
        </p:nvGraphicFramePr>
        <p:xfrm>
          <a:off x="3291681" y="3513152"/>
          <a:ext cx="4186238" cy="963613"/>
        </p:xfrm>
        <a:graphic>
          <a:graphicData uri="http://schemas.openxmlformats.org/presentationml/2006/ole">
            <mc:AlternateContent xmlns:mc="http://schemas.openxmlformats.org/markup-compatibility/2006">
              <mc:Choice xmlns:v="urn:schemas-microsoft-com:vml" Requires="v">
                <p:oleObj spid="_x0000_s104482" name="" r:id="rId1" imgW="2032000" imgH="469900" progId="Equation.DSMT4">
                  <p:embed/>
                </p:oleObj>
              </mc:Choice>
              <mc:Fallback>
                <p:oleObj name="" r:id="rId1" imgW="2032000" imgH="469900" progId="Equation.DSMT4">
                  <p:embed/>
                  <p:pic>
                    <p:nvPicPr>
                      <p:cNvPr id="0" name="对象 11367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1681" y="3513152"/>
                        <a:ext cx="4186238"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88" name="矩形 113672"/>
          <p:cNvSpPr>
            <a:spLocks noChangeArrowheads="1"/>
          </p:cNvSpPr>
          <p:nvPr/>
        </p:nvSpPr>
        <p:spPr bwMode="auto">
          <a:xfrm>
            <a:off x="838200" y="3806838"/>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00000"/>
                </a:solidFill>
                <a:latin typeface="黑体" panose="02010609060101010101" pitchFamily="49" charset="-122"/>
                <a:ea typeface="黑体" panose="02010609060101010101" pitchFamily="49" charset="-122"/>
              </a:rPr>
              <a:t>不计热量交换</a:t>
            </a:r>
            <a:endParaRPr lang="zh-CN" altLang="en-US" sz="2400" b="1" dirty="0">
              <a:solidFill>
                <a:srgbClr val="000000"/>
              </a:solidFill>
              <a:latin typeface="黑体" panose="02010609060101010101" pitchFamily="49" charset="-122"/>
              <a:ea typeface="黑体" panose="02010609060101010101" pitchFamily="49" charset="-122"/>
            </a:endParaRPr>
          </a:p>
        </p:txBody>
      </p:sp>
      <p:graphicFrame>
        <p:nvGraphicFramePr>
          <p:cNvPr id="93189" name="对象 113673"/>
          <p:cNvGraphicFramePr/>
          <p:nvPr/>
        </p:nvGraphicFramePr>
        <p:xfrm>
          <a:off x="3962400" y="4740289"/>
          <a:ext cx="2006600" cy="514350"/>
        </p:xfrm>
        <a:graphic>
          <a:graphicData uri="http://schemas.openxmlformats.org/presentationml/2006/ole">
            <mc:AlternateContent xmlns:mc="http://schemas.openxmlformats.org/markup-compatibility/2006">
              <mc:Choice xmlns:v="urn:schemas-microsoft-com:vml" Requires="v">
                <p:oleObj spid="_x0000_s104483" name="" r:id="rId3" imgW="1002665" imgH="254000" progId="Equation.DSMT4">
                  <p:embed/>
                </p:oleObj>
              </mc:Choice>
              <mc:Fallback>
                <p:oleObj name="" r:id="rId3" imgW="1002665" imgH="254000" progId="Equation.DSMT4">
                  <p:embed/>
                  <p:pic>
                    <p:nvPicPr>
                      <p:cNvPr id="0" name="对象 11367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4740289"/>
                        <a:ext cx="20066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90" name="矩形 113674"/>
          <p:cNvSpPr>
            <a:spLocks noChangeArrowheads="1"/>
          </p:cNvSpPr>
          <p:nvPr/>
        </p:nvSpPr>
        <p:spPr bwMode="auto">
          <a:xfrm>
            <a:off x="867723" y="5518163"/>
            <a:ext cx="702755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en-US" altLang="zh-CN" sz="2400" b="1" i="1" baseline="0"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i="1" baseline="0"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400" b="1" baseline="0" dirty="0">
                <a:latin typeface="Times New Roman" panose="02020603050405020304" pitchFamily="18" charset="0"/>
                <a:ea typeface="黑体" panose="02010609060101010101" pitchFamily="49" charset="-122"/>
                <a:cs typeface="Times New Roman" panose="02020603050405020304" pitchFamily="18" charset="0"/>
              </a:rPr>
              <a:t>1-1</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截面流入系统的比熵和从</a:t>
            </a:r>
            <a:r>
              <a:rPr lang="en-US" altLang="zh-CN" sz="2400" b="1" baseline="0" dirty="0">
                <a:latin typeface="Times New Roman" panose="02020603050405020304" pitchFamily="18" charset="0"/>
                <a:ea typeface="黑体" panose="02010609060101010101" pitchFamily="49" charset="-122"/>
                <a:cs typeface="Times New Roman" panose="02020603050405020304" pitchFamily="18" charset="0"/>
              </a:rPr>
              <a:t>2-2</a:t>
            </a:r>
            <a:r>
              <a:rPr lang="zh-CN" altLang="en-US" sz="2400" b="1" baseline="0" dirty="0">
                <a:latin typeface="Times New Roman" panose="02020603050405020304" pitchFamily="18" charset="0"/>
                <a:ea typeface="黑体" panose="02010609060101010101" pitchFamily="49" charset="-122"/>
                <a:cs typeface="Times New Roman" panose="02020603050405020304" pitchFamily="18" charset="0"/>
              </a:rPr>
              <a:t>截面流出系统的比熵</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3193" name="矩形 11367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3194" name="对象 113677"/>
          <p:cNvGraphicFramePr/>
          <p:nvPr/>
        </p:nvGraphicFramePr>
        <p:xfrm>
          <a:off x="2743200" y="1905000"/>
          <a:ext cx="2438400" cy="544513"/>
        </p:xfrm>
        <a:graphic>
          <a:graphicData uri="http://schemas.openxmlformats.org/presentationml/2006/ole">
            <mc:AlternateContent xmlns:mc="http://schemas.openxmlformats.org/markup-compatibility/2006">
              <mc:Choice xmlns:v="urn:schemas-microsoft-com:vml" Requires="v">
                <p:oleObj spid="_x0000_s104484" name="" r:id="rId5" imgW="1066800" imgH="241300" progId="Equation.DSMT4">
                  <p:embed/>
                </p:oleObj>
              </mc:Choice>
              <mc:Fallback>
                <p:oleObj name="" r:id="rId5" imgW="1066800" imgH="241300" progId="Equation.DSMT4">
                  <p:embed/>
                  <p:pic>
                    <p:nvPicPr>
                      <p:cNvPr id="0" name="对象 11367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1905000"/>
                        <a:ext cx="24384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95" name="矩形 113680"/>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3196" name="对象 113679"/>
          <p:cNvGraphicFramePr/>
          <p:nvPr/>
        </p:nvGraphicFramePr>
        <p:xfrm>
          <a:off x="2743200" y="2590800"/>
          <a:ext cx="1077913" cy="700088"/>
        </p:xfrm>
        <a:graphic>
          <a:graphicData uri="http://schemas.openxmlformats.org/presentationml/2006/ole">
            <mc:AlternateContent xmlns:mc="http://schemas.openxmlformats.org/markup-compatibility/2006">
              <mc:Choice xmlns:v="urn:schemas-microsoft-com:vml" Requires="v">
                <p:oleObj spid="_x0000_s104485" name="" r:id="rId7" imgW="596900" imgH="393700" progId="Equation.DSMT4">
                  <p:embed/>
                </p:oleObj>
              </mc:Choice>
              <mc:Fallback>
                <p:oleObj name="" r:id="rId7" imgW="596900" imgH="393700" progId="Equation.DSMT4">
                  <p:embed/>
                  <p:pic>
                    <p:nvPicPr>
                      <p:cNvPr id="0" name="对象 11367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2590800"/>
                        <a:ext cx="1077913"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右箭头 1"/>
          <p:cNvSpPr/>
          <p:nvPr/>
        </p:nvSpPr>
        <p:spPr>
          <a:xfrm>
            <a:off x="3364568" y="4891446"/>
            <a:ext cx="529432" cy="212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15742" y="240891"/>
            <a:ext cx="4323658" cy="1569246"/>
          </a:xfrm>
          <a:prstGeom prst="rect">
            <a:avLst/>
          </a:prstGeom>
        </p:spPr>
      </p:pic>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矩形 114690"/>
          <p:cNvSpPr>
            <a:spLocks noChangeArrowheads="1"/>
          </p:cNvSpPr>
          <p:nvPr/>
        </p:nvSpPr>
        <p:spPr bwMode="auto">
          <a:xfrm>
            <a:off x="-1625600" y="2925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4211" name="矩形 114691"/>
          <p:cNvSpPr>
            <a:spLocks noChangeArrowheads="1"/>
          </p:cNvSpPr>
          <p:nvPr/>
        </p:nvSpPr>
        <p:spPr bwMode="auto">
          <a:xfrm>
            <a:off x="685800" y="2034054"/>
            <a:ext cx="7696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的大小可以通过查气体状态参数表获得，例如水蒸气热力性质表。</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对于理想气体，焓仅为温度的函数（详见</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4-3</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节），根据能量守恒关系式，节流过程流体的焓不变，因此气体在</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1-1</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截面和</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2-2</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截面的温度相等。 </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4212" name="矩形 114692"/>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13" name="对象 114693"/>
          <p:cNvGraphicFramePr/>
          <p:nvPr/>
        </p:nvGraphicFramePr>
        <p:xfrm>
          <a:off x="2590800" y="4114800"/>
          <a:ext cx="3505200" cy="1016000"/>
        </p:xfrm>
        <a:graphic>
          <a:graphicData uri="http://schemas.openxmlformats.org/presentationml/2006/ole">
            <mc:AlternateContent xmlns:mc="http://schemas.openxmlformats.org/markup-compatibility/2006">
              <mc:Choice xmlns:v="urn:schemas-microsoft-com:vml" Requires="v">
                <p:oleObj spid="_x0000_s105490" name="" r:id="rId1" imgW="1676400" imgH="482600" progId="Equation.DSMT4">
                  <p:embed/>
                </p:oleObj>
              </mc:Choice>
              <mc:Fallback>
                <p:oleObj name="" r:id="rId1" imgW="1676400" imgH="482600" progId="Equation.DSMT4">
                  <p:embed/>
                  <p:pic>
                    <p:nvPicPr>
                      <p:cNvPr id="0" name="对象 11469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114800"/>
                        <a:ext cx="3505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4" name="矩形 11469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15" name="对象 114695"/>
          <p:cNvGraphicFramePr/>
          <p:nvPr/>
        </p:nvGraphicFramePr>
        <p:xfrm>
          <a:off x="2543175" y="5486400"/>
          <a:ext cx="3829050" cy="527050"/>
        </p:xfrm>
        <a:graphic>
          <a:graphicData uri="http://schemas.openxmlformats.org/presentationml/2006/ole">
            <mc:AlternateContent xmlns:mc="http://schemas.openxmlformats.org/markup-compatibility/2006">
              <mc:Choice xmlns:v="urn:schemas-microsoft-com:vml" Requires="v">
                <p:oleObj spid="_x0000_s105491" name="" r:id="rId3" imgW="1864995" imgH="254000" progId="Equation.DSMT4">
                  <p:embed/>
                </p:oleObj>
              </mc:Choice>
              <mc:Fallback>
                <p:oleObj name="" r:id="rId3" imgW="1864995" imgH="254000" progId="Equation.DSMT4">
                  <p:embed/>
                  <p:pic>
                    <p:nvPicPr>
                      <p:cNvPr id="0" name="对象 11469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3175" y="5486400"/>
                        <a:ext cx="3829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15742" y="240891"/>
            <a:ext cx="4323658" cy="1569246"/>
          </a:xfrm>
          <a:prstGeom prst="rect">
            <a:avLst/>
          </a:prstGeom>
        </p:spPr>
      </p:pic>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矩形 139265"/>
          <p:cNvSpPr>
            <a:spLocks noChangeArrowheads="1"/>
          </p:cNvSpPr>
          <p:nvPr/>
        </p:nvSpPr>
        <p:spPr bwMode="auto">
          <a:xfrm>
            <a:off x="381000" y="152400"/>
            <a:ext cx="34496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a:latin typeface="黑体" panose="02010609060101010101" pitchFamily="49" charset="-122"/>
                <a:ea typeface="黑体" panose="02010609060101010101" pitchFamily="49" charset="-122"/>
              </a:rPr>
              <a:t>例</a:t>
            </a:r>
            <a:r>
              <a:rPr lang="en-US" altLang="zh-CN" sz="3200" b="1" baseline="0" dirty="0">
                <a:latin typeface="黑体" panose="02010609060101010101" pitchFamily="49" charset="-122"/>
                <a:ea typeface="黑体" panose="02010609060101010101" pitchFamily="49" charset="-122"/>
              </a:rPr>
              <a:t>5</a:t>
            </a:r>
            <a:r>
              <a:rPr lang="zh-CN" altLang="en-US" sz="3200" b="1" baseline="0" dirty="0">
                <a:latin typeface="黑体" panose="02010609060101010101" pitchFamily="49" charset="-122"/>
                <a:ea typeface="黑体" panose="02010609060101010101" pitchFamily="49" charset="-122"/>
              </a:rPr>
              <a:t>：热转换为功 </a:t>
            </a:r>
            <a:endParaRPr lang="zh-CN" altLang="en-US" sz="3200" b="1" baseline="0" dirty="0">
              <a:latin typeface="黑体" panose="02010609060101010101" pitchFamily="49" charset="-122"/>
              <a:ea typeface="黑体" panose="02010609060101010101" pitchFamily="49" charset="-122"/>
            </a:endParaRPr>
          </a:p>
        </p:txBody>
      </p:sp>
      <p:sp>
        <p:nvSpPr>
          <p:cNvPr id="95234" name="矩形 139266"/>
          <p:cNvSpPr>
            <a:spLocks noChangeArrowheads="1"/>
          </p:cNvSpPr>
          <p:nvPr/>
        </p:nvSpPr>
        <p:spPr bwMode="auto">
          <a:xfrm>
            <a:off x="457200" y="953999"/>
            <a:ext cx="8153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热力学第二定律告诉我们，热机必须工作在两个温度不同的热源之间才能实现热能转化为功。如何通过数学表达式对此进行解释呢？ </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235" name="矩形 139267"/>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6" name="矩形 13926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7" name="矩形 139269"/>
          <p:cNvSpPr>
            <a:spLocks noChangeArrowheads="1"/>
          </p:cNvSpPr>
          <p:nvPr/>
        </p:nvSpPr>
        <p:spPr bwMode="auto">
          <a:xfrm>
            <a:off x="0" y="2824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8" name="矩形 139270"/>
          <p:cNvSpPr>
            <a:spLocks noChangeArrowheads="1"/>
          </p:cNvSpPr>
          <p:nvPr/>
        </p:nvSpPr>
        <p:spPr bwMode="auto">
          <a:xfrm>
            <a:off x="0" y="2647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40" name="矩形 139272"/>
          <p:cNvSpPr>
            <a:spLocks noChangeArrowheads="1"/>
          </p:cNvSpPr>
          <p:nvPr/>
        </p:nvSpPr>
        <p:spPr bwMode="auto">
          <a:xfrm>
            <a:off x="3352800" y="1974761"/>
            <a:ext cx="5105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从单一热源取热</a:t>
            </a:r>
            <a:r>
              <a:rPr lang="zh-CN" altLang="en-US" sz="24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而做功</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的热机。选取虚线框中的扩展系统为研究对象，工质的熵平衡方程： </a:t>
            </a:r>
            <a:endPar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241" name="矩形 139273"/>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5242" name="对象 139274"/>
          <p:cNvGraphicFramePr/>
          <p:nvPr/>
        </p:nvGraphicFramePr>
        <p:xfrm>
          <a:off x="4854575" y="3276600"/>
          <a:ext cx="2254250" cy="889000"/>
        </p:xfrm>
        <a:graphic>
          <a:graphicData uri="http://schemas.openxmlformats.org/presentationml/2006/ole">
            <mc:AlternateContent xmlns:mc="http://schemas.openxmlformats.org/markup-compatibility/2006">
              <mc:Choice xmlns:v="urn:schemas-microsoft-com:vml" Requires="v">
                <p:oleObj spid="_x0000_s106514" name="" r:id="rId1" imgW="989965" imgH="393700" progId="Equation.DSMT4">
                  <p:embed/>
                </p:oleObj>
              </mc:Choice>
              <mc:Fallback>
                <p:oleObj name="" r:id="rId1" imgW="989965" imgH="393700" progId="Equation.DSMT4">
                  <p:embed/>
                  <p:pic>
                    <p:nvPicPr>
                      <p:cNvPr id="0" name="对象 13927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4575" y="3276600"/>
                        <a:ext cx="225425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43" name="矩形 13927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5244" name="对象 139276"/>
          <p:cNvGraphicFramePr/>
          <p:nvPr/>
        </p:nvGraphicFramePr>
        <p:xfrm>
          <a:off x="4186238" y="4724400"/>
          <a:ext cx="3817937" cy="892175"/>
        </p:xfrm>
        <a:graphic>
          <a:graphicData uri="http://schemas.openxmlformats.org/presentationml/2006/ole">
            <mc:AlternateContent xmlns:mc="http://schemas.openxmlformats.org/markup-compatibility/2006">
              <mc:Choice xmlns:v="urn:schemas-microsoft-com:vml" Requires="v">
                <p:oleObj spid="_x0000_s106515" name="" r:id="rId3" imgW="1828165" imgH="431800" progId="Equation.DSMT4">
                  <p:embed/>
                </p:oleObj>
              </mc:Choice>
              <mc:Fallback>
                <p:oleObj name="" r:id="rId3" imgW="1828165" imgH="431800" progId="Equation.DSMT4">
                  <p:embed/>
                  <p:pic>
                    <p:nvPicPr>
                      <p:cNvPr id="0" name="对象 13927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4724400"/>
                        <a:ext cx="3817937"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45" name="矩形 139277"/>
          <p:cNvSpPr>
            <a:spLocks noChangeArrowheads="1"/>
          </p:cNvSpPr>
          <p:nvPr/>
        </p:nvSpPr>
        <p:spPr bwMode="auto">
          <a:xfrm>
            <a:off x="4343400" y="4191000"/>
            <a:ext cx="340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工质完成循环，熵变为</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5246" name="矩形 139278"/>
          <p:cNvSpPr>
            <a:spLocks noChangeArrowheads="1"/>
          </p:cNvSpPr>
          <p:nvPr/>
        </p:nvSpPr>
        <p:spPr bwMode="auto">
          <a:xfrm>
            <a:off x="1531143" y="5905739"/>
            <a:ext cx="6215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说明单一热源取热</a:t>
            </a:r>
            <a:r>
              <a:rPr lang="zh-CN" altLang="en-US"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而做功</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的热机是无法实现</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603" y="2574925"/>
            <a:ext cx="3737172" cy="2889754"/>
          </a:xfrm>
          <a:prstGeom prst="rect">
            <a:avLst/>
          </a:prstGeom>
        </p:spPr>
      </p:pic>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140289"/>
          <p:cNvSpPr>
            <a:spLocks noChangeArrowheads="1"/>
          </p:cNvSpPr>
          <p:nvPr/>
        </p:nvSpPr>
        <p:spPr bwMode="auto">
          <a:xfrm>
            <a:off x="0" y="2266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59" name="矩形 140291"/>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6260" name="对象 140292"/>
          <p:cNvGraphicFramePr/>
          <p:nvPr/>
        </p:nvGraphicFramePr>
        <p:xfrm>
          <a:off x="4229100" y="381000"/>
          <a:ext cx="1981200" cy="781050"/>
        </p:xfrm>
        <a:graphic>
          <a:graphicData uri="http://schemas.openxmlformats.org/presentationml/2006/ole">
            <mc:AlternateContent xmlns:mc="http://schemas.openxmlformats.org/markup-compatibility/2006">
              <mc:Choice xmlns:v="urn:schemas-microsoft-com:vml" Requires="v">
                <p:oleObj spid="_x0000_s107562" name="" r:id="rId1" imgW="989965" imgH="393700" progId="Equation.DSMT4">
                  <p:embed/>
                </p:oleObj>
              </mc:Choice>
              <mc:Fallback>
                <p:oleObj name="" r:id="rId1" imgW="989965" imgH="393700" progId="Equation.DSMT4">
                  <p:embed/>
                  <p:pic>
                    <p:nvPicPr>
                      <p:cNvPr id="0" name="对象 14029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100" y="381000"/>
                        <a:ext cx="19812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1" name="矩形 140293"/>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6262" name="对象 140294"/>
          <p:cNvGraphicFramePr/>
          <p:nvPr/>
        </p:nvGraphicFramePr>
        <p:xfrm>
          <a:off x="3806825" y="1447800"/>
          <a:ext cx="4481513" cy="895350"/>
        </p:xfrm>
        <a:graphic>
          <a:graphicData uri="http://schemas.openxmlformats.org/presentationml/2006/ole">
            <mc:AlternateContent xmlns:mc="http://schemas.openxmlformats.org/markup-compatibility/2006">
              <mc:Choice xmlns:v="urn:schemas-microsoft-com:vml" Requires="v">
                <p:oleObj spid="_x0000_s107563" name="" r:id="rId3" imgW="2145665" imgH="431800" progId="Equation.DSMT4">
                  <p:embed/>
                </p:oleObj>
              </mc:Choice>
              <mc:Fallback>
                <p:oleObj name="" r:id="rId3" imgW="2145665" imgH="431800" progId="Equation.DSMT4">
                  <p:embed/>
                  <p:pic>
                    <p:nvPicPr>
                      <p:cNvPr id="0" name="对象 14029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6825" y="1447800"/>
                        <a:ext cx="4481513"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3" name="矩形 140295"/>
          <p:cNvSpPr>
            <a:spLocks noChangeArrowheads="1"/>
          </p:cNvSpPr>
          <p:nvPr/>
        </p:nvSpPr>
        <p:spPr bwMode="auto">
          <a:xfrm>
            <a:off x="3273839" y="2550319"/>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热机进行可逆循环时：</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6264" name="矩形 140296"/>
          <p:cNvSpPr>
            <a:spLocks noChangeArrowheads="1"/>
          </p:cNvSpPr>
          <p:nvPr/>
        </p:nvSpPr>
        <p:spPr bwMode="auto">
          <a:xfrm>
            <a:off x="3276600" y="3274368"/>
            <a:ext cx="27366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根据卡诺定理，有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6265" name="矩形 14029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6266" name="对象 140298"/>
          <p:cNvGraphicFramePr/>
          <p:nvPr/>
        </p:nvGraphicFramePr>
        <p:xfrm>
          <a:off x="6126163" y="3200400"/>
          <a:ext cx="2074862" cy="795338"/>
        </p:xfrm>
        <a:graphic>
          <a:graphicData uri="http://schemas.openxmlformats.org/presentationml/2006/ole">
            <mc:AlternateContent xmlns:mc="http://schemas.openxmlformats.org/markup-compatibility/2006">
              <mc:Choice xmlns:v="urn:schemas-microsoft-com:vml" Requires="v">
                <p:oleObj spid="_x0000_s107564" name="" r:id="rId5" imgW="1116965" imgH="431800" progId="Equation.DSMT4">
                  <p:embed/>
                </p:oleObj>
              </mc:Choice>
              <mc:Fallback>
                <p:oleObj name="" r:id="rId5" imgW="1116965" imgH="431800" progId="Equation.DSMT4">
                  <p:embed/>
                  <p:pic>
                    <p:nvPicPr>
                      <p:cNvPr id="0" name="对象 14029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6163" y="3200400"/>
                        <a:ext cx="2074862"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7" name="矩形 140299"/>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8" name="矩形 140300"/>
          <p:cNvSpPr>
            <a:spLocks noChangeArrowheads="1"/>
          </p:cNvSpPr>
          <p:nvPr/>
        </p:nvSpPr>
        <p:spPr bwMode="auto">
          <a:xfrm>
            <a:off x="685800" y="4267200"/>
            <a:ext cx="631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热机进行不可逆循环时，效率低于卡诺效率：</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6269" name="矩形 140301"/>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6270" name="对象 140302"/>
          <p:cNvGraphicFramePr/>
          <p:nvPr/>
        </p:nvGraphicFramePr>
        <p:xfrm>
          <a:off x="2819400" y="4953000"/>
          <a:ext cx="1828800" cy="866775"/>
        </p:xfrm>
        <a:graphic>
          <a:graphicData uri="http://schemas.openxmlformats.org/presentationml/2006/ole">
            <mc:AlternateContent xmlns:mc="http://schemas.openxmlformats.org/markup-compatibility/2006">
              <mc:Choice xmlns:v="urn:schemas-microsoft-com:vml" Requires="v">
                <p:oleObj spid="_x0000_s107565" name="" r:id="rId7" imgW="901065" imgH="431800" progId="Equation.DSMT4">
                  <p:embed/>
                </p:oleObj>
              </mc:Choice>
              <mc:Fallback>
                <p:oleObj name="" r:id="rId7" imgW="901065" imgH="431800" progId="Equation.DSMT4">
                  <p:embed/>
                  <p:pic>
                    <p:nvPicPr>
                      <p:cNvPr id="0" name="对象 14030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4953000"/>
                        <a:ext cx="1828800"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6271" name="对象 140303"/>
          <p:cNvGraphicFramePr/>
          <p:nvPr/>
        </p:nvGraphicFramePr>
        <p:xfrm>
          <a:off x="3176588" y="5943600"/>
          <a:ext cx="1343025" cy="542925"/>
        </p:xfrm>
        <a:graphic>
          <a:graphicData uri="http://schemas.openxmlformats.org/presentationml/2006/ole">
            <mc:AlternateContent xmlns:mc="http://schemas.openxmlformats.org/markup-compatibility/2006">
              <mc:Choice xmlns:v="urn:schemas-microsoft-com:vml" Requires="v">
                <p:oleObj spid="_x0000_s107566" name="" r:id="rId9" imgW="596900" imgH="241300" progId="Equation.DSMT4">
                  <p:embed/>
                </p:oleObj>
              </mc:Choice>
              <mc:Fallback>
                <p:oleObj name="" r:id="rId9" imgW="596900" imgH="241300" progId="Equation.DSMT4">
                  <p:embed/>
                  <p:pic>
                    <p:nvPicPr>
                      <p:cNvPr id="0" name="对象 14030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6588" y="5943600"/>
                        <a:ext cx="13430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72" name="矩形 140304"/>
          <p:cNvSpPr>
            <a:spLocks noChangeArrowheads="1"/>
          </p:cNvSpPr>
          <p:nvPr/>
        </p:nvSpPr>
        <p:spPr bwMode="auto">
          <a:xfrm>
            <a:off x="5105400" y="5022761"/>
            <a:ext cx="3581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说明工作在两个温度不同的热源之间的热机是可以实现的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5800" y="365791"/>
            <a:ext cx="2725148" cy="3603048"/>
          </a:xfrm>
          <a:prstGeom prst="rect">
            <a:avLst/>
          </a:prstGeom>
        </p:spPr>
      </p:pic>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矩形 115713"/>
          <p:cNvSpPr>
            <a:spLocks noChangeArrowheads="1"/>
          </p:cNvSpPr>
          <p:nvPr/>
        </p:nvSpPr>
        <p:spPr bwMode="auto">
          <a:xfrm>
            <a:off x="443948" y="743159"/>
            <a:ext cx="80010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一个垂直放置的气缸、活塞装置内装有</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2 kg</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气体，初始温度为</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300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。活塞具有一定的重量，使气缸内气体的压力维持在</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0.2 MPa</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。现通过以下三种方式使气体的温度升高至</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350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）仅从外部热源吸热，热源温度</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400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）仅通过气缸内的电加热器加热；（</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）仅通过轴输入搅拌功。计算每种方式输入的能量，并比较各种方式的熵产。  </a:t>
            </a:r>
            <a:endPar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7282" name="矩形 115714"/>
          <p:cNvSpPr>
            <a:spLocks noChangeArrowheads="1"/>
          </p:cNvSpPr>
          <p:nvPr/>
        </p:nvSpPr>
        <p:spPr bwMode="auto">
          <a:xfrm>
            <a:off x="0" y="2524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3" name="矩形 115715"/>
          <p:cNvSpPr>
            <a:spLocks noChangeArrowheads="1"/>
          </p:cNvSpPr>
          <p:nvPr/>
        </p:nvSpPr>
        <p:spPr bwMode="auto">
          <a:xfrm>
            <a:off x="381000" y="107376"/>
            <a:ext cx="34804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a:latin typeface="黑体" panose="02010609060101010101" pitchFamily="49" charset="-122"/>
                <a:ea typeface="黑体" panose="02010609060101010101" pitchFamily="49" charset="-122"/>
              </a:rPr>
              <a:t>例</a:t>
            </a:r>
            <a:r>
              <a:rPr lang="en-US" altLang="zh-CN" sz="3200" b="1" baseline="0" dirty="0">
                <a:latin typeface="黑体" panose="02010609060101010101" pitchFamily="49" charset="-122"/>
                <a:ea typeface="黑体" panose="02010609060101010101" pitchFamily="49" charset="-122"/>
              </a:rPr>
              <a:t>6</a:t>
            </a:r>
            <a:r>
              <a:rPr lang="zh-CN" altLang="en-US" sz="3200" b="1" baseline="0" dirty="0">
                <a:latin typeface="黑体" panose="02010609060101010101" pitchFamily="49" charset="-122"/>
                <a:ea typeface="黑体" panose="02010609060101010101" pitchFamily="49" charset="-122"/>
              </a:rPr>
              <a:t>：熵产的比较</a:t>
            </a:r>
            <a:r>
              <a:rPr lang="zh-CN" altLang="en-US" sz="3200" dirty="0">
                <a:latin typeface="黑体" panose="02010609060101010101" pitchFamily="49" charset="-122"/>
                <a:ea typeface="黑体" panose="02010609060101010101" pitchFamily="49" charset="-122"/>
              </a:rPr>
              <a:t> </a:t>
            </a:r>
            <a:endParaRPr lang="zh-CN" altLang="en-US" sz="3200" dirty="0">
              <a:latin typeface="黑体" panose="02010609060101010101" pitchFamily="49" charset="-122"/>
              <a:ea typeface="黑体" panose="02010609060101010101" pitchFamily="49" charset="-122"/>
            </a:endParaRPr>
          </a:p>
        </p:txBody>
      </p:sp>
      <p:sp>
        <p:nvSpPr>
          <p:cNvPr id="97284" name="矩形 115716"/>
          <p:cNvSpPr>
            <a:spLocks noChangeArrowheads="1"/>
          </p:cNvSpPr>
          <p:nvPr/>
        </p:nvSpPr>
        <p:spPr bwMode="auto">
          <a:xfrm>
            <a:off x="0" y="1804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6" name="矩形 115718"/>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8" name="矩形 115720"/>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4885" y="3044528"/>
            <a:ext cx="8132769" cy="3657917"/>
          </a:xfrm>
          <a:prstGeom prst="rect">
            <a:avLst/>
          </a:prstGeom>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矩形 116737"/>
          <p:cNvSpPr>
            <a:spLocks noChangeArrowheads="1"/>
          </p:cNvSpPr>
          <p:nvPr/>
        </p:nvSpPr>
        <p:spPr bwMode="auto">
          <a:xfrm>
            <a:off x="2971800" y="304800"/>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每种方式输入的能量</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8307" name="矩形 116739"/>
          <p:cNvSpPr>
            <a:spLocks noChangeArrowheads="1"/>
          </p:cNvSpPr>
          <p:nvPr/>
        </p:nvSpPr>
        <p:spPr bwMode="auto">
          <a:xfrm>
            <a:off x="0" y="3024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8308" name="对象 116740"/>
          <p:cNvGraphicFramePr/>
          <p:nvPr/>
        </p:nvGraphicFramePr>
        <p:xfrm>
          <a:off x="3200400" y="1981200"/>
          <a:ext cx="5257800" cy="1349375"/>
        </p:xfrm>
        <a:graphic>
          <a:graphicData uri="http://schemas.openxmlformats.org/presentationml/2006/ole">
            <mc:AlternateContent xmlns:mc="http://schemas.openxmlformats.org/markup-compatibility/2006">
              <mc:Choice xmlns:v="urn:schemas-microsoft-com:vml" Requires="v">
                <p:oleObj spid="_x0000_s108562" name="" r:id="rId1" imgW="3149600" imgH="812800" progId="Equation.DSMT4">
                  <p:embed/>
                </p:oleObj>
              </mc:Choice>
              <mc:Fallback>
                <p:oleObj name="" r:id="rId1" imgW="3149600" imgH="812800" progId="Equation.DSMT4">
                  <p:embed/>
                  <p:pic>
                    <p:nvPicPr>
                      <p:cNvPr id="0" name="对象 11674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981200"/>
                        <a:ext cx="5257800"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309" name="矩形 116741"/>
          <p:cNvSpPr>
            <a:spLocks noChangeArrowheads="1"/>
          </p:cNvSpPr>
          <p:nvPr/>
        </p:nvSpPr>
        <p:spPr bwMode="auto">
          <a:xfrm>
            <a:off x="0" y="3024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16743" name="对象 116742"/>
          <p:cNvGraphicFramePr/>
          <p:nvPr/>
        </p:nvGraphicFramePr>
        <p:xfrm>
          <a:off x="3200400" y="3962400"/>
          <a:ext cx="4419600" cy="1282700"/>
        </p:xfrm>
        <a:graphic>
          <a:graphicData uri="http://schemas.openxmlformats.org/presentationml/2006/ole">
            <mc:AlternateContent xmlns:mc="http://schemas.openxmlformats.org/markup-compatibility/2006">
              <mc:Choice xmlns:v="urn:schemas-microsoft-com:vml" Requires="v">
                <p:oleObj spid="_x0000_s108563" name="" r:id="rId3" imgW="2794000" imgH="812800" progId="Equation.DSMT4">
                  <p:embed/>
                </p:oleObj>
              </mc:Choice>
              <mc:Fallback>
                <p:oleObj name="" r:id="rId3" imgW="2794000" imgH="812800" progId="Equation.DSMT4">
                  <p:embed/>
                  <p:pic>
                    <p:nvPicPr>
                      <p:cNvPr id="0" name="对象 1167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962400"/>
                        <a:ext cx="44196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311" name="矩形 116743"/>
          <p:cNvSpPr>
            <a:spLocks noChangeArrowheads="1"/>
          </p:cNvSpPr>
          <p:nvPr/>
        </p:nvSpPr>
        <p:spPr bwMode="auto">
          <a:xfrm>
            <a:off x="990600" y="1066800"/>
            <a:ext cx="34050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）仅从外部热源吸热</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4453" y="1686037"/>
            <a:ext cx="1938696" cy="3883489"/>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6743"/>
                                        </p:tgtEl>
                                        <p:attrNameLst>
                                          <p:attrName>style.visibility</p:attrName>
                                        </p:attrNameLst>
                                      </p:cBhvr>
                                      <p:to>
                                        <p:strVal val="visible"/>
                                      </p:to>
                                    </p:set>
                                    <p:animEffect transition="in" filter="blinds(horizontal)">
                                      <p:cBhvr>
                                        <p:cTn id="7" dur="500"/>
                                        <p:tgtEl>
                                          <p:spTgt spid="116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矩形 117761"/>
          <p:cNvSpPr>
            <a:spLocks noChangeArrowheads="1"/>
          </p:cNvSpPr>
          <p:nvPr/>
        </p:nvSpPr>
        <p:spPr bwMode="auto">
          <a:xfrm>
            <a:off x="914400" y="457200"/>
            <a:ext cx="4979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）仅通过气缸内的电加热器加热</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9331" name="矩形 117763"/>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9332" name="对象 117764"/>
          <p:cNvGraphicFramePr/>
          <p:nvPr/>
        </p:nvGraphicFramePr>
        <p:xfrm>
          <a:off x="3048000" y="4133850"/>
          <a:ext cx="2514600" cy="514350"/>
        </p:xfrm>
        <a:graphic>
          <a:graphicData uri="http://schemas.openxmlformats.org/presentationml/2006/ole">
            <mc:AlternateContent xmlns:mc="http://schemas.openxmlformats.org/markup-compatibility/2006">
              <mc:Choice xmlns:v="urn:schemas-microsoft-com:vml" Requires="v">
                <p:oleObj spid="_x0000_s109586" name="" r:id="rId1" imgW="1307465" imgH="266700" progId="Equation.DSMT4">
                  <p:embed/>
                </p:oleObj>
              </mc:Choice>
              <mc:Fallback>
                <p:oleObj name="" r:id="rId1" imgW="1307465" imgH="266700" progId="Equation.DSMT4">
                  <p:embed/>
                  <p:pic>
                    <p:nvPicPr>
                      <p:cNvPr id="0" name="对象 11776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133850"/>
                        <a:ext cx="25146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9333" name="对象 117765"/>
          <p:cNvGraphicFramePr/>
          <p:nvPr/>
        </p:nvGraphicFramePr>
        <p:xfrm>
          <a:off x="762000" y="4876800"/>
          <a:ext cx="7799388" cy="852488"/>
        </p:xfrm>
        <a:graphic>
          <a:graphicData uri="http://schemas.openxmlformats.org/presentationml/2006/ole">
            <mc:AlternateContent xmlns:mc="http://schemas.openxmlformats.org/markup-compatibility/2006">
              <mc:Choice xmlns:v="urn:schemas-microsoft-com:vml" Requires="v">
                <p:oleObj spid="_x0000_s109587" name="" r:id="rId3" imgW="4417695" imgH="482600" progId="Equation.DSMT4">
                  <p:embed/>
                </p:oleObj>
              </mc:Choice>
              <mc:Fallback>
                <p:oleObj name="" r:id="rId3" imgW="4417695" imgH="482600" progId="Equation.DSMT4">
                  <p:embed/>
                  <p:pic>
                    <p:nvPicPr>
                      <p:cNvPr id="0" name="对象 11776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876800"/>
                        <a:ext cx="7799388"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9334" name="矩形 117766"/>
          <p:cNvSpPr>
            <a:spLocks noChangeArrowheads="1"/>
          </p:cNvSpPr>
          <p:nvPr/>
        </p:nvSpPr>
        <p:spPr bwMode="auto">
          <a:xfrm>
            <a:off x="838200" y="5926287"/>
            <a:ext cx="33554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负号表示外界输入电功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1355" y="1115864"/>
            <a:ext cx="3200677" cy="2682472"/>
          </a:xfrm>
          <a:prstGeom prst="rect">
            <a:avLst/>
          </a:prstGeom>
        </p:spPr>
      </p:pic>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矩形 118785"/>
          <p:cNvSpPr>
            <a:spLocks noChangeArrowheads="1"/>
          </p:cNvSpPr>
          <p:nvPr/>
        </p:nvSpPr>
        <p:spPr bwMode="auto">
          <a:xfrm>
            <a:off x="1676400" y="304800"/>
            <a:ext cx="3741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）仅通过轴输入搅拌功</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0355" name="矩形 118787"/>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0356" name="对象 118788"/>
          <p:cNvGraphicFramePr/>
          <p:nvPr/>
        </p:nvGraphicFramePr>
        <p:xfrm>
          <a:off x="754063" y="3810000"/>
          <a:ext cx="2681287" cy="550863"/>
        </p:xfrm>
        <a:graphic>
          <a:graphicData uri="http://schemas.openxmlformats.org/presentationml/2006/ole">
            <mc:AlternateContent xmlns:mc="http://schemas.openxmlformats.org/markup-compatibility/2006">
              <mc:Choice xmlns:v="urn:schemas-microsoft-com:vml" Requires="v">
                <p:oleObj spid="_x0000_s110610" name="" r:id="rId1" imgW="1293495" imgH="266065" progId="Equation.DSMT4">
                  <p:embed/>
                </p:oleObj>
              </mc:Choice>
              <mc:Fallback>
                <p:oleObj name="" r:id="rId1" imgW="1293495" imgH="266065" progId="Equation.DSMT4">
                  <p:embed/>
                  <p:pic>
                    <p:nvPicPr>
                      <p:cNvPr id="0" name="对象 11878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63" y="3810000"/>
                        <a:ext cx="2681287"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0357" name="对象 118789"/>
          <p:cNvGraphicFramePr/>
          <p:nvPr/>
        </p:nvGraphicFramePr>
        <p:xfrm>
          <a:off x="762000" y="4648200"/>
          <a:ext cx="7799388" cy="852488"/>
        </p:xfrm>
        <a:graphic>
          <a:graphicData uri="http://schemas.openxmlformats.org/presentationml/2006/ole">
            <mc:AlternateContent xmlns:mc="http://schemas.openxmlformats.org/markup-compatibility/2006">
              <mc:Choice xmlns:v="urn:schemas-microsoft-com:vml" Requires="v">
                <p:oleObj spid="_x0000_s110611" name="" r:id="rId3" imgW="4417695" imgH="482600" progId="Equation.DSMT4">
                  <p:embed/>
                </p:oleObj>
              </mc:Choice>
              <mc:Fallback>
                <p:oleObj name="" r:id="rId3" imgW="4417695" imgH="482600" progId="Equation.DSMT4">
                  <p:embed/>
                  <p:pic>
                    <p:nvPicPr>
                      <p:cNvPr id="0" name="对象 11878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648200"/>
                        <a:ext cx="7799388"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0358" name="矩形 118790"/>
          <p:cNvSpPr>
            <a:spLocks noChangeArrowheads="1"/>
          </p:cNvSpPr>
          <p:nvPr/>
        </p:nvSpPr>
        <p:spPr bwMode="auto">
          <a:xfrm>
            <a:off x="762000" y="5773887"/>
            <a:ext cx="36647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负号表示外界输入搅拌功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92" name="矩形 118791"/>
          <p:cNvSpPr>
            <a:spLocks noChangeArrowheads="1"/>
          </p:cNvSpPr>
          <p:nvPr/>
        </p:nvSpPr>
        <p:spPr bwMode="auto">
          <a:xfrm>
            <a:off x="4114800" y="1637457"/>
            <a:ext cx="4572000" cy="2308324"/>
          </a:xfrm>
          <a:prstGeom prst="rect">
            <a:avLst/>
          </a:prstGeom>
          <a:noFill/>
          <a:ln w="57150" cmpd="thinThick">
            <a:solidFill>
              <a:schemeClr val="accent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无论是何种方式，外界输入的能量均等于气体焓的增加。</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但每种方式输入的能量形式不同。第一种方式输入</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100.4 kJ</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的热量，第二和第三种方式分别输入</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100.4kJ</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的电功和机械功。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0034" y="1039664"/>
            <a:ext cx="2969009" cy="2609314"/>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792"/>
                                        </p:tgtEl>
                                        <p:attrNameLst>
                                          <p:attrName>style.visibility</p:attrName>
                                        </p:attrNameLst>
                                      </p:cBhvr>
                                      <p:to>
                                        <p:strVal val="visible"/>
                                      </p:to>
                                    </p:set>
                                    <p:animEffect transition="in" filter="blinds(horizontal)">
                                      <p:cBhvr>
                                        <p:cTn id="7" dur="500"/>
                                        <p:tgtEl>
                                          <p:spTgt spid="118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矩形 119809"/>
          <p:cNvSpPr>
            <a:spLocks noChangeArrowheads="1"/>
          </p:cNvSpPr>
          <p:nvPr/>
        </p:nvSpPr>
        <p:spPr bwMode="auto">
          <a:xfrm>
            <a:off x="495300" y="1290696"/>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在三种方式下，气缸内气体的状态变化情况相同，都是在定压条件下温度从</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300 K</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上升至</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350 K</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，因此气体的熵变均为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1378" name="矩形 119810"/>
          <p:cNvSpPr>
            <a:spLocks noChangeArrowheads="1"/>
          </p:cNvSpPr>
          <p:nvPr/>
        </p:nvSpPr>
        <p:spPr bwMode="auto">
          <a:xfrm>
            <a:off x="2319130" y="454745"/>
            <a:ext cx="43043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每种方式下气体的熵变</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1379" name="矩形 119811"/>
          <p:cNvSpPr>
            <a:spLocks noChangeArrowheads="1"/>
          </p:cNvSpPr>
          <p:nvPr/>
        </p:nvSpPr>
        <p:spPr bwMode="auto">
          <a:xfrm>
            <a:off x="0"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1380" name="对象 119812"/>
          <p:cNvGraphicFramePr/>
          <p:nvPr/>
        </p:nvGraphicFramePr>
        <p:xfrm>
          <a:off x="2133600" y="2362200"/>
          <a:ext cx="4191000" cy="1944688"/>
        </p:xfrm>
        <a:graphic>
          <a:graphicData uri="http://schemas.openxmlformats.org/presentationml/2006/ole">
            <mc:AlternateContent xmlns:mc="http://schemas.openxmlformats.org/markup-compatibility/2006">
              <mc:Choice xmlns:v="urn:schemas-microsoft-com:vml" Requires="v">
                <p:oleObj spid="_x0000_s111626" name="" r:id="rId1" imgW="2527300" imgH="1168400" progId="Equation.DSMT4">
                  <p:embed/>
                </p:oleObj>
              </mc:Choice>
              <mc:Fallback>
                <p:oleObj name="" r:id="rId1" imgW="2527300" imgH="1168400" progId="Equation.DSMT4">
                  <p:embed/>
                  <p:pic>
                    <p:nvPicPr>
                      <p:cNvPr id="0" name="对象 1198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362200"/>
                        <a:ext cx="41910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9814" name="矩形 119813"/>
          <p:cNvSpPr>
            <a:spLocks noChangeArrowheads="1"/>
          </p:cNvSpPr>
          <p:nvPr/>
        </p:nvSpPr>
        <p:spPr bwMode="auto">
          <a:xfrm>
            <a:off x="762000" y="4720064"/>
            <a:ext cx="730039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三种方式虽然</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输入的能量相同</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，气体的</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熵变也相同</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但</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熵产却不同 </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14"/>
                                        </p:tgtEl>
                                        <p:attrNameLst>
                                          <p:attrName>style.visibility</p:attrName>
                                        </p:attrNameLst>
                                      </p:cBhvr>
                                      <p:to>
                                        <p:strVal val="visible"/>
                                      </p:to>
                                    </p:set>
                                    <p:animEffect transition="in" filter="blinds(horizontal)">
                                      <p:cBhvr>
                                        <p:cTn id="7" dur="500"/>
                                        <p:tgtEl>
                                          <p:spTgt spid="119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矩形 120833"/>
          <p:cNvSpPr>
            <a:spLocks noChangeArrowheads="1"/>
          </p:cNvSpPr>
          <p:nvPr/>
        </p:nvSpPr>
        <p:spPr bwMode="auto">
          <a:xfrm>
            <a:off x="2971800" y="3048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每种方式的熵产</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03" name="矩形 120835"/>
          <p:cNvSpPr>
            <a:spLocks noChangeArrowheads="1"/>
          </p:cNvSpPr>
          <p:nvPr/>
        </p:nvSpPr>
        <p:spPr bwMode="auto">
          <a:xfrm>
            <a:off x="0" y="3024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4" name="矩形 120836"/>
          <p:cNvSpPr>
            <a:spLocks noChangeArrowheads="1"/>
          </p:cNvSpPr>
          <p:nvPr/>
        </p:nvSpPr>
        <p:spPr bwMode="auto">
          <a:xfrm>
            <a:off x="0" y="3024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5" name="矩形 120837"/>
          <p:cNvSpPr>
            <a:spLocks noChangeArrowheads="1"/>
          </p:cNvSpPr>
          <p:nvPr/>
        </p:nvSpPr>
        <p:spPr bwMode="auto">
          <a:xfrm>
            <a:off x="990600" y="1066800"/>
            <a:ext cx="3432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）仅从外部热源吸热</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06" name="矩形 12083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2407" name="对象 120839"/>
          <p:cNvGraphicFramePr/>
          <p:nvPr/>
        </p:nvGraphicFramePr>
        <p:xfrm>
          <a:off x="4616450" y="1905000"/>
          <a:ext cx="1944688" cy="736600"/>
        </p:xfrm>
        <a:graphic>
          <a:graphicData uri="http://schemas.openxmlformats.org/presentationml/2006/ole">
            <mc:AlternateContent xmlns:mc="http://schemas.openxmlformats.org/markup-compatibility/2006">
              <mc:Choice xmlns:v="urn:schemas-microsoft-com:vml" Requires="v">
                <p:oleObj spid="_x0000_s112666" name="" r:id="rId1" imgW="1129665" imgH="431800" progId="Equation.DSMT4">
                  <p:embed/>
                </p:oleObj>
              </mc:Choice>
              <mc:Fallback>
                <p:oleObj name="" r:id="rId1" imgW="1129665" imgH="431800" progId="Equation.DSMT4">
                  <p:embed/>
                  <p:pic>
                    <p:nvPicPr>
                      <p:cNvPr id="0" name="对象 12083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6450" y="1905000"/>
                        <a:ext cx="194468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08" name="矩形 120840"/>
          <p:cNvSpPr>
            <a:spLocks noChangeArrowheads="1"/>
          </p:cNvSpPr>
          <p:nvPr/>
        </p:nvSpPr>
        <p:spPr bwMode="auto">
          <a:xfrm>
            <a:off x="3657600" y="2878287"/>
            <a:ext cx="27366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热源温度恒定，有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409" name="矩形 120841"/>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2410" name="对象 120842"/>
          <p:cNvGraphicFramePr/>
          <p:nvPr/>
        </p:nvGraphicFramePr>
        <p:xfrm>
          <a:off x="4521200" y="3581400"/>
          <a:ext cx="1625600" cy="762000"/>
        </p:xfrm>
        <a:graphic>
          <a:graphicData uri="http://schemas.openxmlformats.org/presentationml/2006/ole">
            <mc:AlternateContent xmlns:mc="http://schemas.openxmlformats.org/markup-compatibility/2006">
              <mc:Choice xmlns:v="urn:schemas-microsoft-com:vml" Requires="v">
                <p:oleObj spid="_x0000_s112667" name="" r:id="rId3" imgW="913765" imgH="431800" progId="Equation.DSMT4">
                  <p:embed/>
                </p:oleObj>
              </mc:Choice>
              <mc:Fallback>
                <p:oleObj name="" r:id="rId3" imgW="913765" imgH="431800" progId="Equation.DSMT4">
                  <p:embed/>
                  <p:pic>
                    <p:nvPicPr>
                      <p:cNvPr id="0" name="对象 1208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3581400"/>
                        <a:ext cx="1625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411" name="矩形 120843"/>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2412" name="对象 120844"/>
          <p:cNvGraphicFramePr/>
          <p:nvPr/>
        </p:nvGraphicFramePr>
        <p:xfrm>
          <a:off x="3459163" y="4724400"/>
          <a:ext cx="5121275" cy="725488"/>
        </p:xfrm>
        <a:graphic>
          <a:graphicData uri="http://schemas.openxmlformats.org/presentationml/2006/ole">
            <mc:AlternateContent xmlns:mc="http://schemas.openxmlformats.org/markup-compatibility/2006">
              <mc:Choice xmlns:v="urn:schemas-microsoft-com:vml" Requires="v">
                <p:oleObj spid="_x0000_s112668" name="" r:id="rId5" imgW="3021330" imgH="431800" progId="Equation.DSMT4">
                  <p:embed/>
                </p:oleObj>
              </mc:Choice>
              <mc:Fallback>
                <p:oleObj name="" r:id="rId5" imgW="3021330" imgH="431800" progId="Equation.DSMT4">
                  <p:embed/>
                  <p:pic>
                    <p:nvPicPr>
                      <p:cNvPr id="0" name="对象 12084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9163" y="4724400"/>
                        <a:ext cx="5121275"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4" name="图片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9452" y="1705690"/>
            <a:ext cx="1938696" cy="3883489"/>
          </a:xfrm>
          <a:prstGeom prst="rect">
            <a:avLst/>
          </a:prstGeom>
        </p:spPr>
      </p:pic>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矩形 121857"/>
          <p:cNvSpPr>
            <a:spLocks noChangeArrowheads="1"/>
          </p:cNvSpPr>
          <p:nvPr/>
        </p:nvSpPr>
        <p:spPr bwMode="auto">
          <a:xfrm>
            <a:off x="53009" y="362914"/>
            <a:ext cx="49519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）仅通过气缸内的电加热器加热</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427" name="矩形 121859"/>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8" name="矩形 12186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9" name="矩形 121861"/>
          <p:cNvSpPr>
            <a:spLocks noChangeArrowheads="1"/>
          </p:cNvSpPr>
          <p:nvPr/>
        </p:nvSpPr>
        <p:spPr bwMode="auto">
          <a:xfrm>
            <a:off x="5140256" y="350043"/>
            <a:ext cx="3741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）仅通过轴输入搅拌功</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3431" name="矩形 121863"/>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3432" name="对象 121864"/>
          <p:cNvGraphicFramePr/>
          <p:nvPr/>
        </p:nvGraphicFramePr>
        <p:xfrm>
          <a:off x="3395663" y="3810000"/>
          <a:ext cx="2027237" cy="766763"/>
        </p:xfrm>
        <a:graphic>
          <a:graphicData uri="http://schemas.openxmlformats.org/presentationml/2006/ole">
            <mc:AlternateContent xmlns:mc="http://schemas.openxmlformats.org/markup-compatibility/2006">
              <mc:Choice xmlns:v="urn:schemas-microsoft-com:vml" Requires="v">
                <p:oleObj spid="_x0000_s113682" name="" r:id="rId1" imgW="1180465" imgH="444500" progId="Equation.DSMT4">
                  <p:embed/>
                </p:oleObj>
              </mc:Choice>
              <mc:Fallback>
                <p:oleObj name="" r:id="rId1" imgW="1180465" imgH="444500" progId="Equation.DSMT4">
                  <p:embed/>
                  <p:pic>
                    <p:nvPicPr>
                      <p:cNvPr id="0" name="对象 12186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663" y="3810000"/>
                        <a:ext cx="2027237"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433" name="矩形 12186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3434" name="对象 121866"/>
          <p:cNvGraphicFramePr/>
          <p:nvPr/>
        </p:nvGraphicFramePr>
        <p:xfrm>
          <a:off x="3081338" y="4800600"/>
          <a:ext cx="2905125" cy="457200"/>
        </p:xfrm>
        <a:graphic>
          <a:graphicData uri="http://schemas.openxmlformats.org/presentationml/2006/ole">
            <mc:AlternateContent xmlns:mc="http://schemas.openxmlformats.org/markup-compatibility/2006">
              <mc:Choice xmlns:v="urn:schemas-microsoft-com:vml" Requires="v">
                <p:oleObj spid="_x0000_s113683" name="" r:id="rId3" imgW="1510665" imgH="241300" progId="Equation.DSMT4">
                  <p:embed/>
                </p:oleObj>
              </mc:Choice>
              <mc:Fallback>
                <p:oleObj name="" r:id="rId3" imgW="1510665" imgH="241300" progId="Equation.DSMT4">
                  <p:embed/>
                  <p:pic>
                    <p:nvPicPr>
                      <p:cNvPr id="0" name="对象 12186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1338" y="4800600"/>
                        <a:ext cx="2905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4" name="图片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1323" y="1092603"/>
            <a:ext cx="3200677" cy="2682472"/>
          </a:xfrm>
          <a:prstGeom prst="rect">
            <a:avLst/>
          </a:prstGeom>
        </p:spPr>
      </p:pic>
      <p:pic>
        <p:nvPicPr>
          <p:cNvPr id="15" name="图片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2147" y="1134844"/>
            <a:ext cx="2969009" cy="2609314"/>
          </a:xfrm>
          <a:prstGeom prst="rect">
            <a:avLst/>
          </a:prstGeom>
        </p:spPr>
      </p:pic>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矩形 122881"/>
          <p:cNvSpPr>
            <a:spLocks noChangeArrowheads="1"/>
          </p:cNvSpPr>
          <p:nvPr/>
        </p:nvSpPr>
        <p:spPr bwMode="auto">
          <a:xfrm>
            <a:off x="685800" y="3185547"/>
            <a:ext cx="78486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在传热方式下，增加外部热源和气体的温差，将使熵产随之增加。</a:t>
            </a:r>
            <a:endParaRPr lang="zh-CN" altLang="en-US" sz="2400" b="1"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但是，根据熵平衡方程，无论如何增加外部热源和气体的温差，</a:t>
            </a:r>
            <a:r>
              <a:rPr lang="zh-CN" altLang="en-US" sz="2400" b="1" dirty="0">
                <a:solidFill>
                  <a:srgbClr val="FF0000"/>
                </a:solidFill>
                <a:latin typeface="黑体" panose="02010609060101010101" pitchFamily="49" charset="-122"/>
                <a:ea typeface="黑体" panose="02010609060101010101" pitchFamily="49" charset="-122"/>
              </a:rPr>
              <a:t>传热方式引起的熵产总是小于输入轴功或电功方式引起的熵产</a:t>
            </a:r>
            <a:r>
              <a:rPr lang="zh-CN" altLang="en-US"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因此，仅从熵产的角度看，传热方式更好。在达到同样目标的前提下，尽量选择传热而非作功方式。 </a:t>
            </a:r>
            <a:endParaRPr lang="zh-CN" altLang="en-US" sz="2400" b="1" dirty="0">
              <a:latin typeface="黑体" panose="02010609060101010101" pitchFamily="49" charset="-122"/>
              <a:ea typeface="黑体" panose="02010609060101010101" pitchFamily="49" charset="-122"/>
            </a:endParaRPr>
          </a:p>
        </p:txBody>
      </p:sp>
      <p:sp>
        <p:nvSpPr>
          <p:cNvPr id="104450" name="矩形 122882"/>
          <p:cNvSpPr>
            <a:spLocks noChangeArrowheads="1"/>
          </p:cNvSpPr>
          <p:nvPr/>
        </p:nvSpPr>
        <p:spPr bwMode="auto">
          <a:xfrm>
            <a:off x="685800" y="609600"/>
            <a:ext cx="34339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baseline="0" dirty="0">
                <a:latin typeface="黑体" panose="02010609060101010101" pitchFamily="49" charset="-122"/>
                <a:ea typeface="黑体" panose="02010609060101010101" pitchFamily="49" charset="-122"/>
              </a:rPr>
              <a:t>（</a:t>
            </a:r>
            <a:r>
              <a:rPr lang="en-US" altLang="zh-CN" sz="2400" b="1" baseline="0" dirty="0">
                <a:latin typeface="黑体" panose="02010609060101010101" pitchFamily="49" charset="-122"/>
                <a:ea typeface="黑体" panose="02010609060101010101" pitchFamily="49" charset="-122"/>
              </a:rPr>
              <a:t>1</a:t>
            </a:r>
            <a:r>
              <a:rPr lang="zh-CN" altLang="en-US" sz="2400" b="1" baseline="0" dirty="0">
                <a:latin typeface="黑体" panose="02010609060101010101" pitchFamily="49" charset="-122"/>
                <a:ea typeface="黑体" panose="02010609060101010101" pitchFamily="49" charset="-122"/>
              </a:rPr>
              <a:t>）仅从外部热源吸热</a:t>
            </a:r>
            <a:endParaRPr lang="zh-CN" altLang="en-US" sz="2400" b="1" baseline="0" dirty="0">
              <a:latin typeface="黑体" panose="02010609060101010101" pitchFamily="49" charset="-122"/>
              <a:ea typeface="黑体" panose="02010609060101010101" pitchFamily="49" charset="-122"/>
            </a:endParaRPr>
          </a:p>
        </p:txBody>
      </p:sp>
      <p:graphicFrame>
        <p:nvGraphicFramePr>
          <p:cNvPr id="104451" name="对象 122883"/>
          <p:cNvGraphicFramePr>
            <a:graphicFrameLocks noChangeAspect="1"/>
          </p:cNvGraphicFramePr>
          <p:nvPr/>
        </p:nvGraphicFramePr>
        <p:xfrm>
          <a:off x="4203080" y="670421"/>
          <a:ext cx="2001922" cy="458271"/>
        </p:xfrm>
        <a:graphic>
          <a:graphicData uri="http://schemas.openxmlformats.org/presentationml/2006/ole">
            <mc:AlternateContent xmlns:mc="http://schemas.openxmlformats.org/markup-compatibility/2006">
              <mc:Choice xmlns:v="urn:schemas-microsoft-com:vml" Requires="v">
                <p:oleObj spid="_x0000_s114706" name="" r:id="rId1" imgW="1053465" imgH="241300" progId="Equation.DSMT4">
                  <p:embed/>
                </p:oleObj>
              </mc:Choice>
              <mc:Fallback>
                <p:oleObj name="" r:id="rId1" imgW="1053465" imgH="241300" progId="Equation.DSMT4">
                  <p:embed/>
                  <p:pic>
                    <p:nvPicPr>
                      <p:cNvPr id="0" name="对象 1228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3080" y="670421"/>
                        <a:ext cx="2001922" cy="458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2" name="矩形 122884"/>
          <p:cNvSpPr>
            <a:spLocks noChangeArrowheads="1"/>
          </p:cNvSpPr>
          <p:nvPr/>
        </p:nvSpPr>
        <p:spPr bwMode="auto">
          <a:xfrm>
            <a:off x="762000" y="1325563"/>
            <a:ext cx="495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）仅通过气缸内的电加热器加热</a:t>
            </a:r>
            <a:endParaRPr lang="zh-CN" altLang="en-US" sz="2400" b="1" dirty="0">
              <a:latin typeface="黑体" panose="02010609060101010101" pitchFamily="49" charset="-122"/>
              <a:ea typeface="黑体" panose="02010609060101010101" pitchFamily="49" charset="-122"/>
            </a:endParaRPr>
          </a:p>
        </p:txBody>
      </p:sp>
      <p:sp>
        <p:nvSpPr>
          <p:cNvPr id="104453" name="矩形 122885"/>
          <p:cNvSpPr>
            <a:spLocks noChangeArrowheads="1"/>
          </p:cNvSpPr>
          <p:nvPr/>
        </p:nvSpPr>
        <p:spPr bwMode="auto">
          <a:xfrm>
            <a:off x="762000" y="2057400"/>
            <a:ext cx="371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3</a:t>
            </a:r>
            <a:r>
              <a:rPr lang="zh-CN" altLang="en-US" sz="2400" b="1" dirty="0">
                <a:latin typeface="黑体" panose="02010609060101010101" pitchFamily="49" charset="-122"/>
                <a:ea typeface="黑体" panose="02010609060101010101" pitchFamily="49" charset="-122"/>
              </a:rPr>
              <a:t>）仅通过轴输入搅拌功</a:t>
            </a:r>
            <a:endParaRPr lang="zh-CN" altLang="en-US" sz="2400" b="1" dirty="0">
              <a:latin typeface="黑体" panose="02010609060101010101" pitchFamily="49" charset="-122"/>
              <a:ea typeface="黑体" panose="02010609060101010101" pitchFamily="49" charset="-122"/>
            </a:endParaRPr>
          </a:p>
        </p:txBody>
      </p:sp>
      <p:sp>
        <p:nvSpPr>
          <p:cNvPr id="104454" name="右大括号 122886"/>
          <p:cNvSpPr/>
          <p:nvPr/>
        </p:nvSpPr>
        <p:spPr bwMode="auto">
          <a:xfrm>
            <a:off x="5659438" y="1539310"/>
            <a:ext cx="228600" cy="914400"/>
          </a:xfrm>
          <a:prstGeom prst="rightBrace">
            <a:avLst>
              <a:gd name="adj1" fmla="val 3324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04455" name="对象 122887"/>
          <p:cNvGraphicFramePr>
            <a:graphicFrameLocks noChangeAspect="1"/>
          </p:cNvGraphicFramePr>
          <p:nvPr/>
        </p:nvGraphicFramePr>
        <p:xfrm>
          <a:off x="5987430" y="1767910"/>
          <a:ext cx="2025650" cy="457200"/>
        </p:xfrm>
        <a:graphic>
          <a:graphicData uri="http://schemas.openxmlformats.org/presentationml/2006/ole">
            <mc:AlternateContent xmlns:mc="http://schemas.openxmlformats.org/markup-compatibility/2006">
              <mc:Choice xmlns:v="urn:schemas-microsoft-com:vml" Requires="v">
                <p:oleObj spid="_x0000_s114707" name="" r:id="rId3" imgW="1053465" imgH="241300" progId="Equation.DSMT4">
                  <p:embed/>
                </p:oleObj>
              </mc:Choice>
              <mc:Fallback>
                <p:oleObj name="" r:id="rId3" imgW="1053465" imgH="241300" progId="Equation.DSMT4">
                  <p:embed/>
                  <p:pic>
                    <p:nvPicPr>
                      <p:cNvPr id="0" name="对象 1228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7430" y="1767910"/>
                        <a:ext cx="2025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矩形 20481"/>
          <p:cNvSpPr>
            <a:spLocks noChangeArrowheads="1"/>
          </p:cNvSpPr>
          <p:nvPr/>
        </p:nvSpPr>
        <p:spPr bwMode="auto">
          <a:xfrm>
            <a:off x="458788" y="301785"/>
            <a:ext cx="7848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黑体" panose="02010609060101010101" pitchFamily="49" charset="-122"/>
                <a:ea typeface="黑体" panose="02010609060101010101" pitchFamily="49" charset="-122"/>
              </a:rPr>
              <a:t>可借助熵平衡方程分析产生上述结果的原因。将熵产表示为</a:t>
            </a:r>
            <a:endParaRPr lang="zh-CN" altLang="en-US" sz="2800" b="1" baseline="0" dirty="0">
              <a:latin typeface="黑体" panose="02010609060101010101" pitchFamily="49" charset="-122"/>
              <a:ea typeface="黑体" panose="02010609060101010101" pitchFamily="49" charset="-122"/>
            </a:endParaRPr>
          </a:p>
        </p:txBody>
      </p:sp>
      <p:graphicFrame>
        <p:nvGraphicFramePr>
          <p:cNvPr id="105474" name="对象 1"/>
          <p:cNvGraphicFramePr>
            <a:graphicFrameLocks noChangeAspect="1"/>
          </p:cNvGraphicFramePr>
          <p:nvPr/>
        </p:nvGraphicFramePr>
        <p:xfrm>
          <a:off x="3193705" y="1348638"/>
          <a:ext cx="2286000" cy="863280"/>
        </p:xfrm>
        <a:graphic>
          <a:graphicData uri="http://schemas.openxmlformats.org/presentationml/2006/ole">
            <mc:AlternateContent xmlns:mc="http://schemas.openxmlformats.org/markup-compatibility/2006">
              <mc:Choice xmlns:v="urn:schemas-microsoft-com:vml" Requires="v">
                <p:oleObj spid="_x0000_s115722" name="" r:id="rId1" imgW="1143000" imgH="431800" progId="Equation.DSMT4">
                  <p:embed/>
                </p:oleObj>
              </mc:Choice>
              <mc:Fallback>
                <p:oleObj name="" r:id="rId1" imgW="1143000" imgH="431800" progId="Equation.DSMT4">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705" y="1348638"/>
                        <a:ext cx="228600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5475" name="文本框 3"/>
          <p:cNvSpPr txBox="1">
            <a:spLocks noChangeArrowheads="1"/>
          </p:cNvSpPr>
          <p:nvPr/>
        </p:nvSpPr>
        <p:spPr bwMode="auto">
          <a:xfrm>
            <a:off x="515938" y="2448620"/>
            <a:ext cx="79724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 typeface="Arial" panose="020B0604020202020204" pitchFamily="34" charset="0"/>
              <a:buChar char="•"/>
            </a:pPr>
            <a:r>
              <a:rPr lang="zh-CN" altLang="en-US" sz="2400" b="1" baseline="0" dirty="0">
                <a:latin typeface="黑体" panose="02010609060101010101" pitchFamily="49" charset="-122"/>
                <a:ea typeface="黑体" panose="02010609060101010101" pitchFamily="49" charset="-122"/>
              </a:rPr>
              <a:t>右边第一项熵变项：在三种方式下是相同的（因气体的初、终状态相同</a:t>
            </a:r>
            <a:r>
              <a:rPr lang="zh-CN" altLang="en-US" sz="2400" b="1" baseline="0" dirty="0" smtClean="0">
                <a:latin typeface="黑体" panose="02010609060101010101" pitchFamily="49" charset="-122"/>
                <a:ea typeface="黑体" panose="02010609060101010101" pitchFamily="49" charset="-122"/>
              </a:rPr>
              <a:t>）</a:t>
            </a:r>
            <a:endParaRPr lang="en-US" altLang="zh-CN" sz="2400" b="1" baseline="0" dirty="0" smtClean="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右边第二项热熵流项：在传热方式下恒大于0（且外部热源温度</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r越大，此项越小</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；在输入轴功或电功方式下恒等于0</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endParaRPr lang="en-US" altLang="zh-CN" sz="2400" b="1" baseline="0" dirty="0" smtClean="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endParaRPr lang="zh-CN" altLang="en-US" sz="2400" b="1" baseline="0" dirty="0">
              <a:latin typeface="黑体" panose="02010609060101010101" pitchFamily="49" charset="-122"/>
              <a:ea typeface="黑体" panose="02010609060101010101" pitchFamily="49" charset="-122"/>
            </a:endParaRPr>
          </a:p>
        </p:txBody>
      </p:sp>
      <p:sp>
        <p:nvSpPr>
          <p:cNvPr id="105477" name="文本框 5"/>
          <p:cNvSpPr txBox="1">
            <a:spLocks noChangeArrowheads="1"/>
          </p:cNvSpPr>
          <p:nvPr/>
        </p:nvSpPr>
        <p:spPr bwMode="auto">
          <a:xfrm>
            <a:off x="666888" y="4934883"/>
            <a:ext cx="77660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baseline="0" dirty="0">
                <a:latin typeface="黑体" panose="02010609060101010101" pitchFamily="49" charset="-122"/>
                <a:ea typeface="黑体" panose="02010609060101010101" pitchFamily="49" charset="-122"/>
              </a:rPr>
              <a:t>因而，总是有传热方式引起的熵产小于输入轴功或电功方式引起的熵产</a:t>
            </a:r>
            <a:endParaRPr lang="zh-CN" altLang="en-US" sz="2800" b="1" baseline="0" dirty="0">
              <a:latin typeface="黑体" panose="02010609060101010101" pitchFamily="49" charset="-122"/>
              <a:ea typeface="黑体" panose="02010609060101010101" pitchFamily="49" charset="-122"/>
            </a:endParaRPr>
          </a:p>
        </p:txBody>
      </p:sp>
    </p:spTree>
  </p:cSld>
  <p:clrMapOvr>
    <a:masterClrMapping/>
  </p:clrMapOvr>
  <p:transition spd="slow"/>
</p:sld>
</file>

<file path=ppt/tags/tag1.xml><?xml version="1.0" encoding="utf-8"?>
<p:tagLst xmlns:p="http://schemas.openxmlformats.org/presentationml/2006/main">
  <p:tag name="TIMING" val="|5.3|23|29|18.6"/>
</p:tagLst>
</file>

<file path=ppt/tags/tag2.xml><?xml version="1.0" encoding="utf-8"?>
<p:tagLst xmlns:p="http://schemas.openxmlformats.org/presentationml/2006/main">
  <p:tag name="TIMING" val="|0.9|8.5|18.5|81.4"/>
</p:tagLst>
</file>

<file path=ppt/tags/tag3.xml><?xml version="1.0" encoding="utf-8"?>
<p:tagLst xmlns:p="http://schemas.openxmlformats.org/presentationml/2006/main">
  <p:tag name="TIMING" val="|16|5.6|55.5|1.3|15.7|1.5|0.9|15.6|11.6|17.5|4.9|36.3|52.5|1.3|13.6"/>
</p:tagLst>
</file>

<file path=ppt/tags/tag4.xml><?xml version="1.0" encoding="utf-8"?>
<p:tagLst xmlns:p="http://schemas.openxmlformats.org/presentationml/2006/main">
  <p:tag name="TIMING" val="|1.6"/>
</p:tagLst>
</file>

<file path=ppt/tags/tag5.xml><?xml version="1.0" encoding="utf-8"?>
<p:tagLst xmlns:p="http://schemas.openxmlformats.org/presentationml/2006/main">
  <p:tag name="TIMING" val="|39.9|75.4|4.6|96.3|6.5|44"/>
</p:tagLst>
</file>

<file path=ppt/tags/tag6.xml><?xml version="1.0" encoding="utf-8"?>
<p:tagLst xmlns:p="http://schemas.openxmlformats.org/presentationml/2006/main">
  <p:tag name="TIMING" val="|66.5|95.1|35|8.8|0.8"/>
</p:tagLst>
</file>

<file path=ppt/tags/tag7.xml><?xml version="1.0" encoding="utf-8"?>
<p:tagLst xmlns:p="http://schemas.openxmlformats.org/presentationml/2006/main">
  <p:tag name="TIMING" val="|115.9|74.1"/>
</p:tagLst>
</file>

<file path=ppt/tags/tag8.xml><?xml version="1.0" encoding="utf-8"?>
<p:tagLst xmlns:p="http://schemas.openxmlformats.org/presentationml/2006/main">
  <p:tag name="TIMING" val="|11.7|43|32"/>
</p:tagLst>
</file>

<file path=ppt/tags/tag9.xml><?xml version="1.0" encoding="utf-8"?>
<p:tagLst xmlns:p="http://schemas.openxmlformats.org/presentationml/2006/main">
  <p:tag name="TIMING" val="|2.1"/>
</p:tagLst>
</file>

<file path=ppt/tags/tag10.xml><?xml version="1.0" encoding="utf-8"?>
<p:tagLst xmlns:p="http://schemas.openxmlformats.org/presentationml/2006/main">
  <p:tag name="TIMING" val="|7.6|5.7"/>
</p:tagLst>
</file>

<file path=ppt/tags/tag11.xml><?xml version="1.0" encoding="utf-8"?>
<p:tagLst xmlns:p="http://schemas.openxmlformats.org/presentationml/2006/main">
  <p:tag name="TIMING" val="|9.8|0.7|1.8|9.4|7|21.4|21.1"/>
</p:tagLst>
</file>

<file path=ppt/tags/tag12.xml><?xml version="1.0" encoding="utf-8"?>
<p:tagLst xmlns:p="http://schemas.openxmlformats.org/presentationml/2006/main">
  <p:tag name="TIMING" val="|255.1"/>
</p:tagLst>
</file>

<file path=ppt/tags/tag13.xml><?xml version="1.0" encoding="utf-8"?>
<p:tagLst xmlns:p="http://schemas.openxmlformats.org/presentationml/2006/main">
  <p:tag name="TIMING" val="|78.7"/>
</p:tagLst>
</file>

<file path=ppt/tags/tag14.xml><?xml version="1.0" encoding="utf-8"?>
<p:tagLst xmlns:p="http://schemas.openxmlformats.org/presentationml/2006/main">
  <p:tag name="TIMING" val="|20.9"/>
</p:tagLst>
</file>

<file path=ppt/tags/tag15.xml><?xml version="1.0" encoding="utf-8"?>
<p:tagLst xmlns:p="http://schemas.openxmlformats.org/presentationml/2006/main">
  <p:tag name="TIMING" val="|12.1|4.8|11.3|5.6"/>
</p:tagLst>
</file>

<file path=ppt/tags/tag16.xml><?xml version="1.0" encoding="utf-8"?>
<p:tagLst xmlns:p="http://schemas.openxmlformats.org/presentationml/2006/main">
  <p:tag name="TIMING" val="|11.3|13|4.7|15.2|23.8|52.7|6|0.9|46.5|91.2"/>
</p:tagLst>
</file>

<file path=ppt/tags/tag17.xml><?xml version="1.0" encoding="utf-8"?>
<p:tagLst xmlns:p="http://schemas.openxmlformats.org/presentationml/2006/main">
  <p:tag name="TIMING" val="|37.8|0.9|20.1|1.9"/>
</p:tagLst>
</file>

<file path=ppt/tags/tag18.xml><?xml version="1.0" encoding="utf-8"?>
<p:tagLst xmlns:p="http://schemas.openxmlformats.org/presentationml/2006/main">
  <p:tag name="TIMING" val="|15.2|13.8|1.6|34.1|7.5|77"/>
</p:tagLst>
</file>

<file path=ppt/tags/tag19.xml><?xml version="1.0" encoding="utf-8"?>
<p:tagLst xmlns:p="http://schemas.openxmlformats.org/presentationml/2006/main">
  <p:tag name="TIMING" val="|19|12.3|3.7|9.9"/>
</p:tagLst>
</file>

<file path=ppt/tags/tag20.xml><?xml version="1.0" encoding="utf-8"?>
<p:tagLst xmlns:p="http://schemas.openxmlformats.org/presentationml/2006/main">
  <p:tag name="TIMING" val="|35.8|0.8|9.2|19.7"/>
</p:tagLst>
</file>

<file path=ppt/tags/tag21.xml><?xml version="1.0" encoding="utf-8"?>
<p:tagLst xmlns:p="http://schemas.openxmlformats.org/presentationml/2006/main">
  <p:tag name="TIMING" val="|49.1|13.8|25"/>
</p:tagLst>
</file>

<file path=ppt/tags/tag22.xml><?xml version="1.0" encoding="utf-8"?>
<p:tagLst xmlns:p="http://schemas.openxmlformats.org/presentationml/2006/main">
  <p:tag name="TIMING" val="|76.2|17.9|8.6|7|3.1|21.7|32|0.9|12.8"/>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7277</Words>
  <Application>WPS 演示</Application>
  <PresentationFormat>全屏显示(4:3)</PresentationFormat>
  <Paragraphs>612</Paragraphs>
  <Slides>97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155</vt:i4>
      </vt:variant>
      <vt:variant>
        <vt:lpstr>幻灯片标题</vt:lpstr>
      </vt:variant>
      <vt:variant>
        <vt:i4>97</vt:i4>
      </vt:variant>
    </vt:vector>
  </HeadingPairs>
  <TitlesOfParts>
    <vt:vector size="264" baseType="lpstr">
      <vt:lpstr>Arial</vt:lpstr>
      <vt:lpstr>宋体</vt:lpstr>
      <vt:lpstr>Wingdings</vt:lpstr>
      <vt:lpstr>黑体</vt:lpstr>
      <vt:lpstr>Times New Roman</vt:lpstr>
      <vt:lpstr>Tahoma</vt:lpstr>
      <vt:lpstr>微软雅黑</vt:lpstr>
      <vt:lpstr>Arial Unicode MS</vt:lpstr>
      <vt:lpstr>Calibri</vt:lpstr>
      <vt:lpstr>楷体_GB2312</vt:lpstr>
      <vt:lpstr>新宋体</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06   熵</vt:lpstr>
      <vt:lpstr>PowerPoint 演示文稿</vt:lpstr>
      <vt:lpstr>一、为什么需要熵？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三、有关熵的一些说明</vt:lpstr>
      <vt:lpstr>PowerPoint 演示文稿</vt:lpstr>
      <vt:lpstr>PowerPoint 演示文稿</vt:lpstr>
      <vt:lpstr>PowerPoint 演示文稿</vt:lpstr>
      <vt:lpstr>三、有关熵的一些说明（续）</vt:lpstr>
      <vt:lpstr>PowerPoint 演示文稿</vt:lpstr>
      <vt:lpstr>PowerPoint 演示文稿</vt:lpstr>
      <vt:lpstr>第一种：循环过程的热力学第二定律数学表达式 </vt:lpstr>
      <vt:lpstr>PowerPoint 演示文稿</vt:lpstr>
      <vt:lpstr>PowerPoint 演示文稿</vt:lpstr>
      <vt:lpstr>PowerPoint 演示文稿</vt:lpstr>
      <vt:lpstr>PowerPoint 演示文稿</vt:lpstr>
      <vt:lpstr>PowerPoint 演示文稿</vt:lpstr>
      <vt:lpstr>PowerPoint 演示文稿</vt:lpstr>
      <vt:lpstr>一、绝对熵和相对熵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（2）伴随功量传递而传递的熵量 （Entropy Transfer by Work Transfer）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二、闭口系的熵平衡方程</vt:lpstr>
      <vt:lpstr>PowerPoint 演示文稿</vt:lpstr>
      <vt:lpstr>PowerPoint 演示文稿</vt:lpstr>
      <vt:lpstr>PowerPoint 演示文稿</vt:lpstr>
      <vt:lpstr>PowerPoint 演示文稿</vt:lpstr>
      <vt:lpstr>PowerPoint 演示文稿</vt:lpstr>
      <vt:lpstr>三、开口系的熵平衡方程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熵</dc:title>
  <dc:creator>jing wu</dc:creator>
  <cp:lastModifiedBy>神力猹</cp:lastModifiedBy>
  <cp:revision>54</cp:revision>
  <dcterms:created xsi:type="dcterms:W3CDTF">2020-03-22T08:50:00Z</dcterms:created>
  <dcterms:modified xsi:type="dcterms:W3CDTF">2021-03-10T06:26:33Z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