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6"/>
  </p:notesMasterIdLst>
  <p:handoutMasterIdLst>
    <p:handoutMasterId r:id="rId37"/>
  </p:handoutMasterIdLst>
  <p:sldIdLst>
    <p:sldId id="256" r:id="rId2"/>
    <p:sldId id="402" r:id="rId3"/>
    <p:sldId id="434" r:id="rId4"/>
    <p:sldId id="433" r:id="rId5"/>
    <p:sldId id="436" r:id="rId6"/>
    <p:sldId id="473" r:id="rId7"/>
    <p:sldId id="438" r:id="rId8"/>
    <p:sldId id="439" r:id="rId9"/>
    <p:sldId id="440" r:id="rId10"/>
    <p:sldId id="435" r:id="rId11"/>
    <p:sldId id="472" r:id="rId12"/>
    <p:sldId id="443" r:id="rId13"/>
    <p:sldId id="444" r:id="rId14"/>
    <p:sldId id="445" r:id="rId15"/>
    <p:sldId id="446" r:id="rId16"/>
    <p:sldId id="450" r:id="rId17"/>
    <p:sldId id="451" r:id="rId18"/>
    <p:sldId id="452" r:id="rId19"/>
    <p:sldId id="453" r:id="rId20"/>
    <p:sldId id="416" r:id="rId21"/>
    <p:sldId id="455" r:id="rId22"/>
    <p:sldId id="456" r:id="rId23"/>
    <p:sldId id="457" r:id="rId24"/>
    <p:sldId id="458" r:id="rId25"/>
    <p:sldId id="462" r:id="rId26"/>
    <p:sldId id="463" r:id="rId27"/>
    <p:sldId id="464" r:id="rId28"/>
    <p:sldId id="465" r:id="rId29"/>
    <p:sldId id="466" r:id="rId30"/>
    <p:sldId id="467" r:id="rId31"/>
    <p:sldId id="468" r:id="rId32"/>
    <p:sldId id="469" r:id="rId33"/>
    <p:sldId id="471" r:id="rId34"/>
    <p:sldId id="470" r:id="rId35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orient="horz" pos="551">
          <p15:clr>
            <a:srgbClr val="A4A3A4"/>
          </p15:clr>
        </p15:guide>
        <p15:guide id="3" pos="4228">
          <p15:clr>
            <a:srgbClr val="A4A3A4"/>
          </p15:clr>
        </p15:guide>
        <p15:guide id="4" pos="22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99FF"/>
    <a:srgbClr val="66FFFF"/>
    <a:srgbClr val="0000FF"/>
    <a:srgbClr val="FF66FF"/>
    <a:srgbClr val="FFFF00"/>
    <a:srgbClr val="BDD7E5"/>
    <a:srgbClr val="FFFF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3" autoAdjust="0"/>
    <p:restoredTop sz="94625" autoAdjust="0"/>
  </p:normalViewPr>
  <p:slideViewPr>
    <p:cSldViewPr snapToGrid="0">
      <p:cViewPr varScale="1">
        <p:scale>
          <a:sx n="83" d="100"/>
          <a:sy n="83" d="100"/>
        </p:scale>
        <p:origin x="-1411" y="-58"/>
      </p:cViewPr>
      <p:guideLst>
        <p:guide orient="horz" pos="2160"/>
        <p:guide orient="horz" pos="551"/>
        <p:guide pos="4228"/>
        <p:guide pos="225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7.xml"/><Relationship Id="rId3" Type="http://schemas.openxmlformats.org/officeDocument/2006/relationships/slide" Target="slides/slide22.xml"/><Relationship Id="rId7" Type="http://schemas.openxmlformats.org/officeDocument/2006/relationships/slide" Target="slides/slide26.xml"/><Relationship Id="rId12" Type="http://schemas.openxmlformats.org/officeDocument/2006/relationships/slide" Target="slides/slide31.xml"/><Relationship Id="rId2" Type="http://schemas.openxmlformats.org/officeDocument/2006/relationships/slide" Target="slides/slide21.xml"/><Relationship Id="rId1" Type="http://schemas.openxmlformats.org/officeDocument/2006/relationships/slide" Target="slides/slide3.xml"/><Relationship Id="rId6" Type="http://schemas.openxmlformats.org/officeDocument/2006/relationships/slide" Target="slides/slide25.xml"/><Relationship Id="rId11" Type="http://schemas.openxmlformats.org/officeDocument/2006/relationships/slide" Target="slides/slide30.xml"/><Relationship Id="rId5" Type="http://schemas.openxmlformats.org/officeDocument/2006/relationships/slide" Target="slides/slide24.xml"/><Relationship Id="rId10" Type="http://schemas.openxmlformats.org/officeDocument/2006/relationships/slide" Target="slides/slide29.xml"/><Relationship Id="rId4" Type="http://schemas.openxmlformats.org/officeDocument/2006/relationships/slide" Target="slides/slide23.xml"/><Relationship Id="rId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25.wmf"/><Relationship Id="rId18" Type="http://schemas.openxmlformats.org/officeDocument/2006/relationships/image" Target="../media/image30.wmf"/><Relationship Id="rId3" Type="http://schemas.openxmlformats.org/officeDocument/2006/relationships/image" Target="../media/image15.wmf"/><Relationship Id="rId21" Type="http://schemas.openxmlformats.org/officeDocument/2006/relationships/image" Target="../media/image33.wmf"/><Relationship Id="rId7" Type="http://schemas.openxmlformats.org/officeDocument/2006/relationships/image" Target="../media/image19.wmf"/><Relationship Id="rId12" Type="http://schemas.openxmlformats.org/officeDocument/2006/relationships/image" Target="../media/image24.wmf"/><Relationship Id="rId17" Type="http://schemas.openxmlformats.org/officeDocument/2006/relationships/image" Target="../media/image29.wmf"/><Relationship Id="rId2" Type="http://schemas.openxmlformats.org/officeDocument/2006/relationships/image" Target="../media/image14.wmf"/><Relationship Id="rId16" Type="http://schemas.openxmlformats.org/officeDocument/2006/relationships/image" Target="../media/image28.wmf"/><Relationship Id="rId20" Type="http://schemas.openxmlformats.org/officeDocument/2006/relationships/image" Target="../media/image32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11" Type="http://schemas.openxmlformats.org/officeDocument/2006/relationships/image" Target="../media/image23.wmf"/><Relationship Id="rId5" Type="http://schemas.openxmlformats.org/officeDocument/2006/relationships/image" Target="../media/image17.wmf"/><Relationship Id="rId15" Type="http://schemas.openxmlformats.org/officeDocument/2006/relationships/image" Target="../media/image27.wmf"/><Relationship Id="rId10" Type="http://schemas.openxmlformats.org/officeDocument/2006/relationships/image" Target="../media/image22.wmf"/><Relationship Id="rId19" Type="http://schemas.openxmlformats.org/officeDocument/2006/relationships/image" Target="../media/image31.wmf"/><Relationship Id="rId4" Type="http://schemas.openxmlformats.org/officeDocument/2006/relationships/image" Target="../media/image16.wmf"/><Relationship Id="rId9" Type="http://schemas.openxmlformats.org/officeDocument/2006/relationships/image" Target="../media/image21.wmf"/><Relationship Id="rId14" Type="http://schemas.openxmlformats.org/officeDocument/2006/relationships/image" Target="../media/image2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image" Target="../media/image52.wmf"/><Relationship Id="rId18" Type="http://schemas.openxmlformats.org/officeDocument/2006/relationships/image" Target="../media/image57.wmf"/><Relationship Id="rId3" Type="http://schemas.openxmlformats.org/officeDocument/2006/relationships/image" Target="../media/image42.wmf"/><Relationship Id="rId21" Type="http://schemas.openxmlformats.org/officeDocument/2006/relationships/image" Target="../media/image60.wmf"/><Relationship Id="rId7" Type="http://schemas.openxmlformats.org/officeDocument/2006/relationships/image" Target="../media/image46.wmf"/><Relationship Id="rId12" Type="http://schemas.openxmlformats.org/officeDocument/2006/relationships/image" Target="../media/image51.wmf"/><Relationship Id="rId17" Type="http://schemas.openxmlformats.org/officeDocument/2006/relationships/image" Target="../media/image56.wmf"/><Relationship Id="rId2" Type="http://schemas.openxmlformats.org/officeDocument/2006/relationships/image" Target="../media/image41.wmf"/><Relationship Id="rId16" Type="http://schemas.openxmlformats.org/officeDocument/2006/relationships/image" Target="../media/image55.wmf"/><Relationship Id="rId20" Type="http://schemas.openxmlformats.org/officeDocument/2006/relationships/image" Target="../media/image59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11" Type="http://schemas.openxmlformats.org/officeDocument/2006/relationships/image" Target="../media/image50.wmf"/><Relationship Id="rId5" Type="http://schemas.openxmlformats.org/officeDocument/2006/relationships/image" Target="../media/image44.wmf"/><Relationship Id="rId15" Type="http://schemas.openxmlformats.org/officeDocument/2006/relationships/image" Target="../media/image54.wmf"/><Relationship Id="rId23" Type="http://schemas.openxmlformats.org/officeDocument/2006/relationships/image" Target="../media/image62.wmf"/><Relationship Id="rId10" Type="http://schemas.openxmlformats.org/officeDocument/2006/relationships/image" Target="../media/image49.wmf"/><Relationship Id="rId19" Type="http://schemas.openxmlformats.org/officeDocument/2006/relationships/image" Target="../media/image58.wmf"/><Relationship Id="rId4" Type="http://schemas.openxmlformats.org/officeDocument/2006/relationships/image" Target="../media/image43.wmf"/><Relationship Id="rId9" Type="http://schemas.openxmlformats.org/officeDocument/2006/relationships/image" Target="../media/image48.wmf"/><Relationship Id="rId14" Type="http://schemas.openxmlformats.org/officeDocument/2006/relationships/image" Target="../media/image53.wmf"/><Relationship Id="rId22" Type="http://schemas.openxmlformats.org/officeDocument/2006/relationships/image" Target="../media/image61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image" Target="../media/image65.wmf"/><Relationship Id="rId7" Type="http://schemas.openxmlformats.org/officeDocument/2006/relationships/image" Target="../media/image69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10" Type="http://schemas.openxmlformats.org/officeDocument/2006/relationships/image" Target="../media/image80.wmf"/><Relationship Id="rId4" Type="http://schemas.openxmlformats.org/officeDocument/2006/relationships/image" Target="../media/image74.wmf"/><Relationship Id="rId9" Type="http://schemas.openxmlformats.org/officeDocument/2006/relationships/image" Target="../media/image7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7" Type="http://schemas.openxmlformats.org/officeDocument/2006/relationships/image" Target="../media/image94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4" Type="http://schemas.openxmlformats.org/officeDocument/2006/relationships/image" Target="../media/image100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image" Target="../media/image104.wmf"/><Relationship Id="rId7" Type="http://schemas.openxmlformats.org/officeDocument/2006/relationships/image" Target="../media/image108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6" Type="http://schemas.openxmlformats.org/officeDocument/2006/relationships/image" Target="../media/image107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Relationship Id="rId9" Type="http://schemas.openxmlformats.org/officeDocument/2006/relationships/image" Target="../media/image11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6" Type="http://schemas.openxmlformats.org/officeDocument/2006/relationships/image" Target="../media/image116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Relationship Id="rId4" Type="http://schemas.openxmlformats.org/officeDocument/2006/relationships/image" Target="../media/image120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wmf"/><Relationship Id="rId1" Type="http://schemas.openxmlformats.org/officeDocument/2006/relationships/image" Target="../media/image121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image" Target="../media/image135.wmf"/><Relationship Id="rId18" Type="http://schemas.openxmlformats.org/officeDocument/2006/relationships/image" Target="../media/image140.wmf"/><Relationship Id="rId3" Type="http://schemas.openxmlformats.org/officeDocument/2006/relationships/image" Target="../media/image125.wmf"/><Relationship Id="rId21" Type="http://schemas.openxmlformats.org/officeDocument/2006/relationships/image" Target="../media/image143.wmf"/><Relationship Id="rId7" Type="http://schemas.openxmlformats.org/officeDocument/2006/relationships/image" Target="../media/image129.wmf"/><Relationship Id="rId12" Type="http://schemas.openxmlformats.org/officeDocument/2006/relationships/image" Target="../media/image134.wmf"/><Relationship Id="rId17" Type="http://schemas.openxmlformats.org/officeDocument/2006/relationships/image" Target="../media/image139.wmf"/><Relationship Id="rId2" Type="http://schemas.openxmlformats.org/officeDocument/2006/relationships/image" Target="../media/image124.wmf"/><Relationship Id="rId16" Type="http://schemas.openxmlformats.org/officeDocument/2006/relationships/image" Target="../media/image138.wmf"/><Relationship Id="rId20" Type="http://schemas.openxmlformats.org/officeDocument/2006/relationships/image" Target="../media/image142.wmf"/><Relationship Id="rId1" Type="http://schemas.openxmlformats.org/officeDocument/2006/relationships/image" Target="../media/image123.wmf"/><Relationship Id="rId6" Type="http://schemas.openxmlformats.org/officeDocument/2006/relationships/image" Target="../media/image128.wmf"/><Relationship Id="rId11" Type="http://schemas.openxmlformats.org/officeDocument/2006/relationships/image" Target="../media/image133.wmf"/><Relationship Id="rId5" Type="http://schemas.openxmlformats.org/officeDocument/2006/relationships/image" Target="../media/image127.wmf"/><Relationship Id="rId15" Type="http://schemas.openxmlformats.org/officeDocument/2006/relationships/image" Target="../media/image137.wmf"/><Relationship Id="rId10" Type="http://schemas.openxmlformats.org/officeDocument/2006/relationships/image" Target="../media/image132.wmf"/><Relationship Id="rId19" Type="http://schemas.openxmlformats.org/officeDocument/2006/relationships/image" Target="../media/image141.wmf"/><Relationship Id="rId4" Type="http://schemas.openxmlformats.org/officeDocument/2006/relationships/image" Target="../media/image126.wmf"/><Relationship Id="rId9" Type="http://schemas.openxmlformats.org/officeDocument/2006/relationships/image" Target="../media/image131.wmf"/><Relationship Id="rId14" Type="http://schemas.openxmlformats.org/officeDocument/2006/relationships/image" Target="../media/image13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490E5CE6-386E-4587-8AAA-51ACB529A2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5983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0488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>
              <a:defRPr kumimoji="0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90488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r">
              <a:defRPr kumimoji="0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5786438"/>
            <a:ext cx="5029200" cy="12271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69363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>
              <a:defRPr kumimoji="0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69363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200" b="0"/>
            </a:lvl1pPr>
          </a:lstStyle>
          <a:p>
            <a:pPr>
              <a:defRPr/>
            </a:pPr>
            <a:fld id="{3D63F5CD-53BE-466C-8806-470090A97C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5193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F375944-AB4E-4026-9ECA-4B3433FEC3EC}" type="slidenum">
              <a:rPr kumimoji="0" lang="en-US" altLang="zh-CN" smtClean="0"/>
              <a:pPr algn="r" eaLnBrk="1" hangingPunct="1">
                <a:spcBef>
                  <a:spcPct val="0"/>
                </a:spcBef>
              </a:pPr>
              <a:t>3</a:t>
            </a:fld>
            <a:endParaRPr kumimoji="0" lang="en-US" altLang="zh-CN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72213"/>
            <a:ext cx="5029200" cy="255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2147483647 w 4128"/>
              <a:gd name="T1" fmla="*/ 2147483647 h 479"/>
              <a:gd name="T2" fmla="*/ 2147483647 w 4128"/>
              <a:gd name="T3" fmla="*/ 2147483647 h 479"/>
              <a:gd name="T4" fmla="*/ 2147483647 w 4128"/>
              <a:gd name="T5" fmla="*/ 2147483647 h 479"/>
              <a:gd name="T6" fmla="*/ 0 w 4128"/>
              <a:gd name="T7" fmla="*/ 2147483647 h 479"/>
              <a:gd name="T8" fmla="*/ 2147483647 w 4128"/>
              <a:gd name="T9" fmla="*/ 2147483647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D28A2159-24D2-418C-A532-66688A2681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991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6A4EC7-F474-4AF9-9386-6EC671A691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774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C3F2CF-50F6-4D66-B225-079860A3F0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3378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65703E-59A7-4ACD-8E07-23D846771C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2217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B4DB6-3E0D-464C-A3F7-32BC4A6D2D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4829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F6E74-0222-4C32-9109-5F1964FC68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3215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7CB8B7-13F1-4B65-B821-6AAA278C2B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8250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2DD4F0-B384-4BC4-9852-ED1E78383A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7875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4D9656-2C10-4102-954E-1E5258D959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111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A661FA-5654-4325-8FCE-5FF9F0EE15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7287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797108-A49D-4D07-9D99-23FB78B147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999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 b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b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b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DD659EE-9AFC-49FA-9E09-51741EBB48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9.bin"/><Relationship Id="rId4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.bin"/><Relationship Id="rId18" Type="http://schemas.openxmlformats.org/officeDocument/2006/relationships/image" Target="../media/image20.wmf"/><Relationship Id="rId26" Type="http://schemas.openxmlformats.org/officeDocument/2006/relationships/image" Target="../media/image24.wmf"/><Relationship Id="rId39" Type="http://schemas.openxmlformats.org/officeDocument/2006/relationships/oleObject" Target="../embeddings/oleObject28.bin"/><Relationship Id="rId21" Type="http://schemas.openxmlformats.org/officeDocument/2006/relationships/oleObject" Target="../embeddings/oleObject19.bin"/><Relationship Id="rId34" Type="http://schemas.openxmlformats.org/officeDocument/2006/relationships/image" Target="../media/image28.wmf"/><Relationship Id="rId42" Type="http://schemas.openxmlformats.org/officeDocument/2006/relationships/image" Target="../media/image32.wmf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.wmf"/><Relationship Id="rId29" Type="http://schemas.openxmlformats.org/officeDocument/2006/relationships/oleObject" Target="../embeddings/oleObject23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4.bin"/><Relationship Id="rId24" Type="http://schemas.openxmlformats.org/officeDocument/2006/relationships/image" Target="../media/image23.wmf"/><Relationship Id="rId32" Type="http://schemas.openxmlformats.org/officeDocument/2006/relationships/image" Target="../media/image27.wmf"/><Relationship Id="rId37" Type="http://schemas.openxmlformats.org/officeDocument/2006/relationships/oleObject" Target="../embeddings/oleObject27.bin"/><Relationship Id="rId40" Type="http://schemas.openxmlformats.org/officeDocument/2006/relationships/image" Target="../media/image31.wmf"/><Relationship Id="rId45" Type="http://schemas.openxmlformats.org/officeDocument/2006/relationships/image" Target="../media/image1.jpeg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23" Type="http://schemas.openxmlformats.org/officeDocument/2006/relationships/oleObject" Target="../embeddings/oleObject20.bin"/><Relationship Id="rId28" Type="http://schemas.openxmlformats.org/officeDocument/2006/relationships/image" Target="../media/image25.wmf"/><Relationship Id="rId36" Type="http://schemas.openxmlformats.org/officeDocument/2006/relationships/image" Target="../media/image29.wmf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18.bin"/><Relationship Id="rId31" Type="http://schemas.openxmlformats.org/officeDocument/2006/relationships/oleObject" Target="../embeddings/oleObject24.bin"/><Relationship Id="rId44" Type="http://schemas.openxmlformats.org/officeDocument/2006/relationships/image" Target="../media/image33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8.wmf"/><Relationship Id="rId22" Type="http://schemas.openxmlformats.org/officeDocument/2006/relationships/image" Target="../media/image22.wmf"/><Relationship Id="rId27" Type="http://schemas.openxmlformats.org/officeDocument/2006/relationships/oleObject" Target="../embeddings/oleObject22.bin"/><Relationship Id="rId30" Type="http://schemas.openxmlformats.org/officeDocument/2006/relationships/image" Target="../media/image26.wmf"/><Relationship Id="rId35" Type="http://schemas.openxmlformats.org/officeDocument/2006/relationships/oleObject" Target="../embeddings/oleObject26.bin"/><Relationship Id="rId43" Type="http://schemas.openxmlformats.org/officeDocument/2006/relationships/oleObject" Target="../embeddings/oleObject30.bin"/><Relationship Id="rId8" Type="http://schemas.openxmlformats.org/officeDocument/2006/relationships/image" Target="../media/image15.wmf"/><Relationship Id="rId3" Type="http://schemas.openxmlformats.org/officeDocument/2006/relationships/oleObject" Target="../embeddings/oleObject10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17.bin"/><Relationship Id="rId25" Type="http://schemas.openxmlformats.org/officeDocument/2006/relationships/oleObject" Target="../embeddings/oleObject21.bin"/><Relationship Id="rId33" Type="http://schemas.openxmlformats.org/officeDocument/2006/relationships/oleObject" Target="../embeddings/oleObject25.bin"/><Relationship Id="rId38" Type="http://schemas.openxmlformats.org/officeDocument/2006/relationships/image" Target="../media/image30.wmf"/><Relationship Id="rId20" Type="http://schemas.openxmlformats.org/officeDocument/2006/relationships/image" Target="../media/image21.wmf"/><Relationship Id="rId41" Type="http://schemas.openxmlformats.org/officeDocument/2006/relationships/oleObject" Target="../embeddings/oleObject29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9.wmf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wmf"/><Relationship Id="rId18" Type="http://schemas.openxmlformats.org/officeDocument/2006/relationships/oleObject" Target="../embeddings/oleObject44.bin"/><Relationship Id="rId26" Type="http://schemas.openxmlformats.org/officeDocument/2006/relationships/oleObject" Target="../embeddings/oleObject48.bin"/><Relationship Id="rId39" Type="http://schemas.openxmlformats.org/officeDocument/2006/relationships/image" Target="../media/image57.wmf"/><Relationship Id="rId21" Type="http://schemas.openxmlformats.org/officeDocument/2006/relationships/image" Target="../media/image48.wmf"/><Relationship Id="rId34" Type="http://schemas.openxmlformats.org/officeDocument/2006/relationships/oleObject" Target="../embeddings/oleObject52.bin"/><Relationship Id="rId42" Type="http://schemas.openxmlformats.org/officeDocument/2006/relationships/oleObject" Target="../embeddings/oleObject56.bin"/><Relationship Id="rId47" Type="http://schemas.openxmlformats.org/officeDocument/2006/relationships/image" Target="../media/image61.wmf"/><Relationship Id="rId50" Type="http://schemas.openxmlformats.org/officeDocument/2006/relationships/oleObject" Target="../embeddings/oleObject61.bin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3.bin"/><Relationship Id="rId29" Type="http://schemas.openxmlformats.org/officeDocument/2006/relationships/image" Target="../media/image52.wmf"/><Relationship Id="rId11" Type="http://schemas.openxmlformats.org/officeDocument/2006/relationships/image" Target="../media/image43.wmf"/><Relationship Id="rId24" Type="http://schemas.openxmlformats.org/officeDocument/2006/relationships/oleObject" Target="../embeddings/oleObject47.bin"/><Relationship Id="rId32" Type="http://schemas.openxmlformats.org/officeDocument/2006/relationships/oleObject" Target="../embeddings/oleObject51.bin"/><Relationship Id="rId37" Type="http://schemas.openxmlformats.org/officeDocument/2006/relationships/image" Target="../media/image56.wmf"/><Relationship Id="rId40" Type="http://schemas.openxmlformats.org/officeDocument/2006/relationships/oleObject" Target="../embeddings/oleObject55.bin"/><Relationship Id="rId45" Type="http://schemas.openxmlformats.org/officeDocument/2006/relationships/image" Target="../media/image60.wmf"/><Relationship Id="rId5" Type="http://schemas.openxmlformats.org/officeDocument/2006/relationships/image" Target="../media/image40.wmf"/><Relationship Id="rId15" Type="http://schemas.openxmlformats.org/officeDocument/2006/relationships/image" Target="../media/image45.wmf"/><Relationship Id="rId23" Type="http://schemas.openxmlformats.org/officeDocument/2006/relationships/image" Target="../media/image49.wmf"/><Relationship Id="rId28" Type="http://schemas.openxmlformats.org/officeDocument/2006/relationships/oleObject" Target="../embeddings/oleObject49.bin"/><Relationship Id="rId36" Type="http://schemas.openxmlformats.org/officeDocument/2006/relationships/oleObject" Target="../embeddings/oleObject53.bin"/><Relationship Id="rId49" Type="http://schemas.openxmlformats.org/officeDocument/2006/relationships/oleObject" Target="../embeddings/oleObject60.bin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47.wmf"/><Relationship Id="rId31" Type="http://schemas.openxmlformats.org/officeDocument/2006/relationships/image" Target="../media/image53.wmf"/><Relationship Id="rId44" Type="http://schemas.openxmlformats.org/officeDocument/2006/relationships/oleObject" Target="../embeddings/oleObject57.bin"/><Relationship Id="rId52" Type="http://schemas.openxmlformats.org/officeDocument/2006/relationships/oleObject" Target="../embeddings/oleObject62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2.wmf"/><Relationship Id="rId14" Type="http://schemas.openxmlformats.org/officeDocument/2006/relationships/oleObject" Target="../embeddings/oleObject42.bin"/><Relationship Id="rId22" Type="http://schemas.openxmlformats.org/officeDocument/2006/relationships/oleObject" Target="../embeddings/oleObject46.bin"/><Relationship Id="rId27" Type="http://schemas.openxmlformats.org/officeDocument/2006/relationships/image" Target="../media/image51.wmf"/><Relationship Id="rId30" Type="http://schemas.openxmlformats.org/officeDocument/2006/relationships/oleObject" Target="../embeddings/oleObject50.bin"/><Relationship Id="rId35" Type="http://schemas.openxmlformats.org/officeDocument/2006/relationships/image" Target="../media/image55.wmf"/><Relationship Id="rId43" Type="http://schemas.openxmlformats.org/officeDocument/2006/relationships/image" Target="../media/image59.wmf"/><Relationship Id="rId48" Type="http://schemas.openxmlformats.org/officeDocument/2006/relationships/oleObject" Target="../embeddings/oleObject59.bin"/><Relationship Id="rId8" Type="http://schemas.openxmlformats.org/officeDocument/2006/relationships/oleObject" Target="../embeddings/oleObject39.bin"/><Relationship Id="rId51" Type="http://schemas.openxmlformats.org/officeDocument/2006/relationships/image" Target="../media/image62.wmf"/><Relationship Id="rId3" Type="http://schemas.openxmlformats.org/officeDocument/2006/relationships/image" Target="../media/image1.jpeg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46.wmf"/><Relationship Id="rId25" Type="http://schemas.openxmlformats.org/officeDocument/2006/relationships/image" Target="../media/image50.wmf"/><Relationship Id="rId33" Type="http://schemas.openxmlformats.org/officeDocument/2006/relationships/image" Target="../media/image54.wmf"/><Relationship Id="rId38" Type="http://schemas.openxmlformats.org/officeDocument/2006/relationships/oleObject" Target="../embeddings/oleObject54.bin"/><Relationship Id="rId46" Type="http://schemas.openxmlformats.org/officeDocument/2006/relationships/oleObject" Target="../embeddings/oleObject58.bin"/><Relationship Id="rId20" Type="http://schemas.openxmlformats.org/officeDocument/2006/relationships/oleObject" Target="../embeddings/oleObject45.bin"/><Relationship Id="rId41" Type="http://schemas.openxmlformats.org/officeDocument/2006/relationships/image" Target="../media/image58.wmf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8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68.bin"/><Relationship Id="rId18" Type="http://schemas.openxmlformats.org/officeDocument/2006/relationships/oleObject" Target="../embeddings/oleObject71.bin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67.wmf"/><Relationship Id="rId17" Type="http://schemas.openxmlformats.org/officeDocument/2006/relationships/image" Target="../media/image6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0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10" Type="http://schemas.openxmlformats.org/officeDocument/2006/relationships/image" Target="../media/image66.wmf"/><Relationship Id="rId19" Type="http://schemas.openxmlformats.org/officeDocument/2006/relationships/image" Target="../media/image70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68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75.wmf"/><Relationship Id="rId18" Type="http://schemas.openxmlformats.org/officeDocument/2006/relationships/oleObject" Target="../embeddings/oleObject79.bin"/><Relationship Id="rId3" Type="http://schemas.openxmlformats.org/officeDocument/2006/relationships/image" Target="../media/image1.jpeg"/><Relationship Id="rId21" Type="http://schemas.openxmlformats.org/officeDocument/2006/relationships/image" Target="../media/image79.wmf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76.bin"/><Relationship Id="rId17" Type="http://schemas.openxmlformats.org/officeDocument/2006/relationships/image" Target="../media/image7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8.bin"/><Relationship Id="rId20" Type="http://schemas.openxmlformats.org/officeDocument/2006/relationships/oleObject" Target="../embeddings/oleObject80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74.wmf"/><Relationship Id="rId5" Type="http://schemas.openxmlformats.org/officeDocument/2006/relationships/image" Target="../media/image71.wmf"/><Relationship Id="rId15" Type="http://schemas.openxmlformats.org/officeDocument/2006/relationships/image" Target="../media/image76.wmf"/><Relationship Id="rId23" Type="http://schemas.openxmlformats.org/officeDocument/2006/relationships/image" Target="../media/image80.wmf"/><Relationship Id="rId10" Type="http://schemas.openxmlformats.org/officeDocument/2006/relationships/oleObject" Target="../embeddings/oleObject75.bin"/><Relationship Id="rId19" Type="http://schemas.openxmlformats.org/officeDocument/2006/relationships/image" Target="../media/image78.wmf"/><Relationship Id="rId4" Type="http://schemas.openxmlformats.org/officeDocument/2006/relationships/oleObject" Target="../embeddings/oleObject72.bin"/><Relationship Id="rId9" Type="http://schemas.openxmlformats.org/officeDocument/2006/relationships/image" Target="../media/image73.wmf"/><Relationship Id="rId14" Type="http://schemas.openxmlformats.org/officeDocument/2006/relationships/oleObject" Target="../embeddings/oleObject77.bin"/><Relationship Id="rId22" Type="http://schemas.openxmlformats.org/officeDocument/2006/relationships/oleObject" Target="../embeddings/oleObject8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image" Target="../media/image85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oleObject" Target="../embeddings/oleObject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82.wmf"/><Relationship Id="rId11" Type="http://schemas.openxmlformats.org/officeDocument/2006/relationships/image" Target="../media/image87.png"/><Relationship Id="rId5" Type="http://schemas.openxmlformats.org/officeDocument/2006/relationships/oleObject" Target="../embeddings/oleObject83.bin"/><Relationship Id="rId15" Type="http://schemas.openxmlformats.org/officeDocument/2006/relationships/image" Target="../media/image86.wmf"/><Relationship Id="rId10" Type="http://schemas.openxmlformats.org/officeDocument/2006/relationships/image" Target="../media/image8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85.bin"/><Relationship Id="rId14" Type="http://schemas.openxmlformats.org/officeDocument/2006/relationships/oleObject" Target="../embeddings/oleObject87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93.bin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92.wmf"/><Relationship Id="rId17" Type="http://schemas.openxmlformats.org/officeDocument/2006/relationships/image" Target="../media/image9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5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5" Type="http://schemas.openxmlformats.org/officeDocument/2006/relationships/oleObject" Target="../embeddings/oleObject94.bin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93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95.wmf"/><Relationship Id="rId4" Type="http://schemas.openxmlformats.org/officeDocument/2006/relationships/oleObject" Target="../embeddings/oleObject96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3" Type="http://schemas.openxmlformats.org/officeDocument/2006/relationships/image" Target="../media/image101.png"/><Relationship Id="rId7" Type="http://schemas.openxmlformats.org/officeDocument/2006/relationships/image" Target="../media/image9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98.bin"/><Relationship Id="rId11" Type="http://schemas.openxmlformats.org/officeDocument/2006/relationships/image" Target="../media/image100.wmf"/><Relationship Id="rId5" Type="http://schemas.openxmlformats.org/officeDocument/2006/relationships/image" Target="../media/image97.wmf"/><Relationship Id="rId10" Type="http://schemas.openxmlformats.org/officeDocument/2006/relationships/oleObject" Target="../embeddings/oleObject100.bin"/><Relationship Id="rId4" Type="http://schemas.openxmlformats.org/officeDocument/2006/relationships/oleObject" Target="../embeddings/oleObject97.bin"/><Relationship Id="rId9" Type="http://schemas.openxmlformats.org/officeDocument/2006/relationships/image" Target="../media/image99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109.w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06.wmf"/><Relationship Id="rId17" Type="http://schemas.openxmlformats.org/officeDocument/2006/relationships/oleObject" Target="../embeddings/oleObject10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8.wmf"/><Relationship Id="rId20" Type="http://schemas.openxmlformats.org/officeDocument/2006/relationships/image" Target="../media/image110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10" Type="http://schemas.openxmlformats.org/officeDocument/2006/relationships/image" Target="../media/image105.wmf"/><Relationship Id="rId19" Type="http://schemas.openxmlformats.org/officeDocument/2006/relationships/oleObject" Target="../embeddings/oleObject109.bin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07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115.bin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1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0" Type="http://schemas.openxmlformats.org/officeDocument/2006/relationships/image" Target="../media/image114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16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3" Type="http://schemas.openxmlformats.org/officeDocument/2006/relationships/image" Target="../media/image87.png"/><Relationship Id="rId7" Type="http://schemas.openxmlformats.org/officeDocument/2006/relationships/image" Target="../media/image1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17.bin"/><Relationship Id="rId11" Type="http://schemas.openxmlformats.org/officeDocument/2006/relationships/image" Target="../media/image120.wmf"/><Relationship Id="rId5" Type="http://schemas.openxmlformats.org/officeDocument/2006/relationships/image" Target="../media/image117.wmf"/><Relationship Id="rId10" Type="http://schemas.openxmlformats.org/officeDocument/2006/relationships/oleObject" Target="../embeddings/oleObject119.bin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119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1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21.bin"/><Relationship Id="rId5" Type="http://schemas.openxmlformats.org/officeDocument/2006/relationships/image" Target="../media/image121.wmf"/><Relationship Id="rId4" Type="http://schemas.openxmlformats.org/officeDocument/2006/relationships/oleObject" Target="../embeddings/oleObject120.bin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7.wmf"/><Relationship Id="rId18" Type="http://schemas.openxmlformats.org/officeDocument/2006/relationships/oleObject" Target="../embeddings/oleObject129.bin"/><Relationship Id="rId26" Type="http://schemas.openxmlformats.org/officeDocument/2006/relationships/image" Target="../media/image133.wmf"/><Relationship Id="rId39" Type="http://schemas.openxmlformats.org/officeDocument/2006/relationships/oleObject" Target="../embeddings/oleObject140.bin"/><Relationship Id="rId21" Type="http://schemas.openxmlformats.org/officeDocument/2006/relationships/oleObject" Target="../embeddings/oleObject131.bin"/><Relationship Id="rId34" Type="http://schemas.openxmlformats.org/officeDocument/2006/relationships/image" Target="../media/image137.wmf"/><Relationship Id="rId42" Type="http://schemas.openxmlformats.org/officeDocument/2006/relationships/image" Target="../media/image141.wmf"/><Relationship Id="rId7" Type="http://schemas.openxmlformats.org/officeDocument/2006/relationships/image" Target="../media/image87.png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8.bin"/><Relationship Id="rId29" Type="http://schemas.openxmlformats.org/officeDocument/2006/relationships/oleObject" Target="../embeddings/oleObject135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24.wmf"/><Relationship Id="rId11" Type="http://schemas.openxmlformats.org/officeDocument/2006/relationships/image" Target="../media/image126.wmf"/><Relationship Id="rId24" Type="http://schemas.openxmlformats.org/officeDocument/2006/relationships/image" Target="../media/image132.wmf"/><Relationship Id="rId32" Type="http://schemas.openxmlformats.org/officeDocument/2006/relationships/image" Target="../media/image136.wmf"/><Relationship Id="rId37" Type="http://schemas.openxmlformats.org/officeDocument/2006/relationships/oleObject" Target="../embeddings/oleObject139.bin"/><Relationship Id="rId40" Type="http://schemas.openxmlformats.org/officeDocument/2006/relationships/image" Target="../media/image140.wmf"/><Relationship Id="rId45" Type="http://schemas.openxmlformats.org/officeDocument/2006/relationships/oleObject" Target="../embeddings/oleObject143.bin"/><Relationship Id="rId5" Type="http://schemas.openxmlformats.org/officeDocument/2006/relationships/oleObject" Target="../embeddings/oleObject123.bin"/><Relationship Id="rId15" Type="http://schemas.openxmlformats.org/officeDocument/2006/relationships/image" Target="../media/image128.wmf"/><Relationship Id="rId23" Type="http://schemas.openxmlformats.org/officeDocument/2006/relationships/oleObject" Target="../embeddings/oleObject132.bin"/><Relationship Id="rId28" Type="http://schemas.openxmlformats.org/officeDocument/2006/relationships/image" Target="../media/image134.wmf"/><Relationship Id="rId36" Type="http://schemas.openxmlformats.org/officeDocument/2006/relationships/image" Target="../media/image138.wmf"/><Relationship Id="rId10" Type="http://schemas.openxmlformats.org/officeDocument/2006/relationships/oleObject" Target="../embeddings/oleObject125.bin"/><Relationship Id="rId19" Type="http://schemas.openxmlformats.org/officeDocument/2006/relationships/oleObject" Target="../embeddings/oleObject130.bin"/><Relationship Id="rId31" Type="http://schemas.openxmlformats.org/officeDocument/2006/relationships/oleObject" Target="../embeddings/oleObject136.bin"/><Relationship Id="rId44" Type="http://schemas.openxmlformats.org/officeDocument/2006/relationships/image" Target="../media/image142.wmf"/><Relationship Id="rId4" Type="http://schemas.openxmlformats.org/officeDocument/2006/relationships/image" Target="../media/image123.wmf"/><Relationship Id="rId9" Type="http://schemas.openxmlformats.org/officeDocument/2006/relationships/image" Target="../media/image125.wmf"/><Relationship Id="rId14" Type="http://schemas.openxmlformats.org/officeDocument/2006/relationships/oleObject" Target="../embeddings/oleObject127.bin"/><Relationship Id="rId22" Type="http://schemas.openxmlformats.org/officeDocument/2006/relationships/image" Target="../media/image131.wmf"/><Relationship Id="rId27" Type="http://schemas.openxmlformats.org/officeDocument/2006/relationships/oleObject" Target="../embeddings/oleObject134.bin"/><Relationship Id="rId30" Type="http://schemas.openxmlformats.org/officeDocument/2006/relationships/image" Target="../media/image135.wmf"/><Relationship Id="rId35" Type="http://schemas.openxmlformats.org/officeDocument/2006/relationships/oleObject" Target="../embeddings/oleObject138.bin"/><Relationship Id="rId43" Type="http://schemas.openxmlformats.org/officeDocument/2006/relationships/oleObject" Target="../embeddings/oleObject142.bin"/><Relationship Id="rId8" Type="http://schemas.openxmlformats.org/officeDocument/2006/relationships/oleObject" Target="../embeddings/oleObject124.bin"/><Relationship Id="rId3" Type="http://schemas.openxmlformats.org/officeDocument/2006/relationships/oleObject" Target="../embeddings/oleObject122.bin"/><Relationship Id="rId12" Type="http://schemas.openxmlformats.org/officeDocument/2006/relationships/oleObject" Target="../embeddings/oleObject126.bin"/><Relationship Id="rId17" Type="http://schemas.openxmlformats.org/officeDocument/2006/relationships/image" Target="../media/image129.wmf"/><Relationship Id="rId25" Type="http://schemas.openxmlformats.org/officeDocument/2006/relationships/oleObject" Target="../embeddings/oleObject133.bin"/><Relationship Id="rId33" Type="http://schemas.openxmlformats.org/officeDocument/2006/relationships/oleObject" Target="../embeddings/oleObject137.bin"/><Relationship Id="rId38" Type="http://schemas.openxmlformats.org/officeDocument/2006/relationships/image" Target="../media/image139.wmf"/><Relationship Id="rId46" Type="http://schemas.openxmlformats.org/officeDocument/2006/relationships/image" Target="../media/image143.wmf"/><Relationship Id="rId20" Type="http://schemas.openxmlformats.org/officeDocument/2006/relationships/image" Target="../media/image130.wmf"/><Relationship Id="rId41" Type="http://schemas.openxmlformats.org/officeDocument/2006/relationships/oleObject" Target="../embeddings/oleObject141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FE7F3EE3-639E-43DE-9447-8CA55D44DF8F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47638"/>
            <a:ext cx="8359775" cy="8159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54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第</a:t>
            </a:r>
            <a:r>
              <a:rPr lang="en-US" altLang="zh-CN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12</a:t>
            </a:r>
            <a:r>
              <a:rPr lang="zh-CN" altLang="en-US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讲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尺寸标注基础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4911553" y="1465616"/>
            <a:ext cx="3032125" cy="912812"/>
          </a:xfrm>
          <a:prstGeom prst="rect">
            <a:avLst/>
          </a:prstGeom>
          <a:noFill/>
          <a:ln w="28575">
            <a:solidFill>
              <a:srgbClr val="FFFFFF">
                <a:alpha val="50195"/>
              </a:srgb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黑体" pitchFamily="2" charset="-122"/>
              </a:rPr>
              <a:t>复习：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  <a:sym typeface="Wingdings" pitchFamily="2" charset="2"/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  <a:sym typeface="Wingdings" pitchFamily="2" charset="2"/>
              </a:rPr>
              <a:t>P.244-262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4781026" y="3791303"/>
            <a:ext cx="3140075" cy="2246313"/>
          </a:xfrm>
          <a:prstGeom prst="rect">
            <a:avLst/>
          </a:prstGeom>
          <a:noFill/>
          <a:ln w="2857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作业：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P.49:1,2,3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P.50:4,5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P.51:1,2,3,4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P.52:5,6</a:t>
            </a:r>
          </a:p>
        </p:txBody>
      </p:sp>
      <p:sp>
        <p:nvSpPr>
          <p:cNvPr id="15366" name="Text Box 12"/>
          <p:cNvSpPr txBox="1">
            <a:spLocks noChangeArrowheads="1"/>
          </p:cNvSpPr>
          <p:nvPr/>
        </p:nvSpPr>
        <p:spPr bwMode="auto">
          <a:xfrm>
            <a:off x="0" y="1457325"/>
            <a:ext cx="4064000" cy="161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本讲内容：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尺寸的基本规则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基本体尺寸标注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3.</a:t>
            </a: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复杂形体尺寸标注</a:t>
            </a:r>
          </a:p>
        </p:txBody>
      </p:sp>
      <p:sp>
        <p:nvSpPr>
          <p:cNvPr id="2" name="矩形 1"/>
          <p:cNvSpPr/>
          <p:nvPr/>
        </p:nvSpPr>
        <p:spPr>
          <a:xfrm>
            <a:off x="258234" y="3879583"/>
            <a:ext cx="4528256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  本周作业不交，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下周课上集体批阅。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B87E61F3-8092-4729-8EF9-4E760517A134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166041" name="Rectangle 153"/>
          <p:cNvSpPr>
            <a:spLocks noChangeArrowheads="1"/>
          </p:cNvSpPr>
          <p:nvPr/>
        </p:nvSpPr>
        <p:spPr bwMode="auto">
          <a:xfrm>
            <a:off x="730250" y="1516063"/>
            <a:ext cx="8001000" cy="946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视图表示物体的形状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,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而其真实大小以所注的尺寸为依据。</a:t>
            </a:r>
          </a:p>
        </p:txBody>
      </p:sp>
      <p:grpSp>
        <p:nvGrpSpPr>
          <p:cNvPr id="2" name="Group 154"/>
          <p:cNvGrpSpPr>
            <a:grpSpLocks/>
          </p:cNvGrpSpPr>
          <p:nvPr/>
        </p:nvGrpSpPr>
        <p:grpSpPr bwMode="auto">
          <a:xfrm>
            <a:off x="2297113" y="2836863"/>
            <a:ext cx="4308475" cy="2867025"/>
            <a:chOff x="1447" y="1787"/>
            <a:chExt cx="2714" cy="1806"/>
          </a:xfrm>
        </p:grpSpPr>
        <p:grpSp>
          <p:nvGrpSpPr>
            <p:cNvPr id="17414" name="Group 155"/>
            <p:cNvGrpSpPr>
              <a:grpSpLocks/>
            </p:cNvGrpSpPr>
            <p:nvPr/>
          </p:nvGrpSpPr>
          <p:grpSpPr bwMode="auto">
            <a:xfrm>
              <a:off x="1447" y="1855"/>
              <a:ext cx="2714" cy="1738"/>
              <a:chOff x="1283" y="2055"/>
              <a:chExt cx="2714" cy="1738"/>
            </a:xfrm>
          </p:grpSpPr>
          <p:sp>
            <p:nvSpPr>
              <p:cNvPr id="17420" name="Line 156"/>
              <p:cNvSpPr>
                <a:spLocks noChangeShapeType="1"/>
              </p:cNvSpPr>
              <p:nvPr/>
            </p:nvSpPr>
            <p:spPr bwMode="auto">
              <a:xfrm flipH="1" flipV="1">
                <a:off x="2927" y="2209"/>
                <a:ext cx="0" cy="172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21" name="Line 157"/>
              <p:cNvSpPr>
                <a:spLocks noChangeShapeType="1"/>
              </p:cNvSpPr>
              <p:nvPr/>
            </p:nvSpPr>
            <p:spPr bwMode="auto">
              <a:xfrm>
                <a:off x="2298" y="2263"/>
                <a:ext cx="626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22" name="Line 158"/>
              <p:cNvSpPr>
                <a:spLocks noChangeShapeType="1"/>
              </p:cNvSpPr>
              <p:nvPr/>
            </p:nvSpPr>
            <p:spPr bwMode="auto">
              <a:xfrm flipV="1">
                <a:off x="1705" y="2976"/>
                <a:ext cx="0" cy="80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23" name="Line 159"/>
              <p:cNvSpPr>
                <a:spLocks noChangeShapeType="1"/>
              </p:cNvSpPr>
              <p:nvPr/>
            </p:nvSpPr>
            <p:spPr bwMode="auto">
              <a:xfrm>
                <a:off x="1712" y="3738"/>
                <a:ext cx="1791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24" name="Line 160"/>
              <p:cNvSpPr>
                <a:spLocks noChangeShapeType="1"/>
              </p:cNvSpPr>
              <p:nvPr/>
            </p:nvSpPr>
            <p:spPr bwMode="auto">
              <a:xfrm flipV="1">
                <a:off x="3511" y="2975"/>
                <a:ext cx="0" cy="811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25" name="Line 161"/>
              <p:cNvSpPr>
                <a:spLocks noChangeShapeType="1"/>
              </p:cNvSpPr>
              <p:nvPr/>
            </p:nvSpPr>
            <p:spPr bwMode="auto">
              <a:xfrm>
                <a:off x="3523" y="2404"/>
                <a:ext cx="465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26" name="Line 162"/>
              <p:cNvSpPr>
                <a:spLocks noChangeShapeType="1"/>
              </p:cNvSpPr>
              <p:nvPr/>
            </p:nvSpPr>
            <p:spPr bwMode="auto">
              <a:xfrm>
                <a:off x="3732" y="2395"/>
                <a:ext cx="0" cy="584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27" name="Line 163"/>
              <p:cNvSpPr>
                <a:spLocks noChangeShapeType="1"/>
              </p:cNvSpPr>
              <p:nvPr/>
            </p:nvSpPr>
            <p:spPr bwMode="auto">
              <a:xfrm>
                <a:off x="3936" y="2403"/>
                <a:ext cx="0" cy="94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28" name="Text Box 164"/>
              <p:cNvSpPr txBox="1">
                <a:spLocks noChangeArrowheads="1"/>
              </p:cNvSpPr>
              <p:nvPr/>
            </p:nvSpPr>
            <p:spPr bwMode="auto">
              <a:xfrm>
                <a:off x="2468" y="3543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A50021"/>
                    </a:solidFill>
                    <a:latin typeface="Albertus Extra Bold" pitchFamily="34" charset="0"/>
                  </a:rPr>
                  <a:t>60</a:t>
                </a:r>
              </a:p>
            </p:txBody>
          </p:sp>
          <p:sp>
            <p:nvSpPr>
              <p:cNvPr id="17429" name="Text Box 165"/>
              <p:cNvSpPr txBox="1">
                <a:spLocks noChangeArrowheads="1"/>
              </p:cNvSpPr>
              <p:nvPr/>
            </p:nvSpPr>
            <p:spPr bwMode="auto">
              <a:xfrm>
                <a:off x="2465" y="2055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A50021"/>
                    </a:solidFill>
                    <a:latin typeface="Albertus Extra Bold" pitchFamily="34" charset="0"/>
                  </a:rPr>
                  <a:t>20</a:t>
                </a:r>
              </a:p>
            </p:txBody>
          </p:sp>
          <p:sp>
            <p:nvSpPr>
              <p:cNvPr id="17430" name="Text Box 166"/>
              <p:cNvSpPr txBox="1">
                <a:spLocks noChangeArrowheads="1"/>
              </p:cNvSpPr>
              <p:nvPr/>
            </p:nvSpPr>
            <p:spPr bwMode="auto">
              <a:xfrm rot="-5400000">
                <a:off x="2987" y="2360"/>
                <a:ext cx="22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A50021"/>
                    </a:solidFill>
                    <a:latin typeface="Albertus Extra Bold" pitchFamily="34" charset="0"/>
                  </a:rPr>
                  <a:t>5</a:t>
                </a:r>
              </a:p>
            </p:txBody>
          </p:sp>
          <p:sp>
            <p:nvSpPr>
              <p:cNvPr id="17431" name="Text Box 167"/>
              <p:cNvSpPr txBox="1">
                <a:spLocks noChangeArrowheads="1"/>
              </p:cNvSpPr>
              <p:nvPr/>
            </p:nvSpPr>
            <p:spPr bwMode="auto">
              <a:xfrm rot="-5344930">
                <a:off x="3708" y="2738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A50021"/>
                    </a:solidFill>
                    <a:latin typeface="Albertus Extra Bold" pitchFamily="34" charset="0"/>
                  </a:rPr>
                  <a:t>30</a:t>
                </a:r>
              </a:p>
            </p:txBody>
          </p:sp>
          <p:sp>
            <p:nvSpPr>
              <p:cNvPr id="17432" name="Line 168"/>
              <p:cNvSpPr>
                <a:spLocks noChangeShapeType="1"/>
              </p:cNvSpPr>
              <p:nvPr/>
            </p:nvSpPr>
            <p:spPr bwMode="auto">
              <a:xfrm flipH="1">
                <a:off x="3583" y="2970"/>
                <a:ext cx="2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3" name="Line 169"/>
              <p:cNvSpPr>
                <a:spLocks noChangeShapeType="1"/>
              </p:cNvSpPr>
              <p:nvPr/>
            </p:nvSpPr>
            <p:spPr bwMode="auto">
              <a:xfrm>
                <a:off x="2946" y="2575"/>
                <a:ext cx="253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4" name="Line 170"/>
              <p:cNvSpPr>
                <a:spLocks noChangeShapeType="1"/>
              </p:cNvSpPr>
              <p:nvPr/>
            </p:nvSpPr>
            <p:spPr bwMode="auto">
              <a:xfrm flipH="1">
                <a:off x="2073" y="3336"/>
                <a:ext cx="1072" cy="0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5" name="Line 171"/>
              <p:cNvSpPr>
                <a:spLocks noChangeShapeType="1"/>
              </p:cNvSpPr>
              <p:nvPr/>
            </p:nvSpPr>
            <p:spPr bwMode="auto">
              <a:xfrm>
                <a:off x="2608" y="2337"/>
                <a:ext cx="0" cy="1075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6" name="Line 172"/>
              <p:cNvSpPr>
                <a:spLocks noChangeShapeType="1"/>
              </p:cNvSpPr>
              <p:nvPr/>
            </p:nvSpPr>
            <p:spPr bwMode="auto">
              <a:xfrm>
                <a:off x="3058" y="2970"/>
                <a:ext cx="512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7" name="Line 173"/>
              <p:cNvSpPr>
                <a:spLocks noChangeShapeType="1"/>
              </p:cNvSpPr>
              <p:nvPr/>
            </p:nvSpPr>
            <p:spPr bwMode="auto">
              <a:xfrm flipV="1">
                <a:off x="1710" y="2397"/>
                <a:ext cx="0" cy="571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8" name="Line 174"/>
              <p:cNvSpPr>
                <a:spLocks noChangeShapeType="1"/>
              </p:cNvSpPr>
              <p:nvPr/>
            </p:nvSpPr>
            <p:spPr bwMode="auto">
              <a:xfrm>
                <a:off x="2296" y="2401"/>
                <a:ext cx="0" cy="198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9" name="Line 175"/>
              <p:cNvSpPr>
                <a:spLocks noChangeShapeType="1"/>
              </p:cNvSpPr>
              <p:nvPr/>
            </p:nvSpPr>
            <p:spPr bwMode="auto">
              <a:xfrm>
                <a:off x="2287" y="2584"/>
                <a:ext cx="647" cy="0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0" name="Line 176"/>
              <p:cNvSpPr>
                <a:spLocks noChangeShapeType="1"/>
              </p:cNvSpPr>
              <p:nvPr/>
            </p:nvSpPr>
            <p:spPr bwMode="auto">
              <a:xfrm>
                <a:off x="2925" y="2403"/>
                <a:ext cx="592" cy="0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1" name="Line 177"/>
              <p:cNvSpPr>
                <a:spLocks noChangeShapeType="1"/>
              </p:cNvSpPr>
              <p:nvPr/>
            </p:nvSpPr>
            <p:spPr bwMode="auto">
              <a:xfrm>
                <a:off x="2930" y="2401"/>
                <a:ext cx="0" cy="193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2" name="Line 178"/>
              <p:cNvSpPr>
                <a:spLocks noChangeShapeType="1"/>
              </p:cNvSpPr>
              <p:nvPr/>
            </p:nvSpPr>
            <p:spPr bwMode="auto">
              <a:xfrm>
                <a:off x="1709" y="2403"/>
                <a:ext cx="586" cy="0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3" name="Line 179"/>
              <p:cNvSpPr>
                <a:spLocks noChangeShapeType="1"/>
              </p:cNvSpPr>
              <p:nvPr/>
            </p:nvSpPr>
            <p:spPr bwMode="auto">
              <a:xfrm flipV="1">
                <a:off x="3502" y="2399"/>
                <a:ext cx="0" cy="568"/>
              </a:xfrm>
              <a:prstGeom prst="line">
                <a:avLst/>
              </a:pr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4" name="Arc 180"/>
              <p:cNvSpPr>
                <a:spLocks/>
              </p:cNvSpPr>
              <p:nvPr/>
            </p:nvSpPr>
            <p:spPr bwMode="auto">
              <a:xfrm flipV="1">
                <a:off x="3132" y="2963"/>
                <a:ext cx="371" cy="37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5" name="Arc 181"/>
              <p:cNvSpPr>
                <a:spLocks/>
              </p:cNvSpPr>
              <p:nvPr/>
            </p:nvSpPr>
            <p:spPr bwMode="auto">
              <a:xfrm flipV="1">
                <a:off x="1713" y="2963"/>
                <a:ext cx="371" cy="371"/>
              </a:xfrm>
              <a:custGeom>
                <a:avLst/>
                <a:gdLst>
                  <a:gd name="T0" fmla="*/ 0 w 21589"/>
                  <a:gd name="T1" fmla="*/ 0 h 21600"/>
                  <a:gd name="T2" fmla="*/ 0 w 21589"/>
                  <a:gd name="T3" fmla="*/ 0 h 21600"/>
                  <a:gd name="T4" fmla="*/ 0 w 2158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589"/>
                  <a:gd name="T10" fmla="*/ 0 h 21600"/>
                  <a:gd name="T11" fmla="*/ 21589 w 2158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89" h="21600" fill="none" extrusionOk="0">
                    <a:moveTo>
                      <a:pt x="-1" y="20924"/>
                    </a:moveTo>
                    <a:cubicBezTo>
                      <a:pt x="363" y="9286"/>
                      <a:pt x="9887" y="30"/>
                      <a:pt x="21532" y="0"/>
                    </a:cubicBezTo>
                  </a:path>
                  <a:path w="21589" h="21600" stroke="0" extrusionOk="0">
                    <a:moveTo>
                      <a:pt x="-1" y="20924"/>
                    </a:moveTo>
                    <a:cubicBezTo>
                      <a:pt x="363" y="9286"/>
                      <a:pt x="9887" y="30"/>
                      <a:pt x="21532" y="0"/>
                    </a:cubicBezTo>
                    <a:lnTo>
                      <a:pt x="21589" y="21600"/>
                    </a:lnTo>
                    <a:lnTo>
                      <a:pt x="-1" y="20924"/>
                    </a:lnTo>
                    <a:close/>
                  </a:path>
                </a:pathLst>
              </a:custGeom>
              <a:noFill/>
              <a:ln w="38100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6" name="Line 182"/>
              <p:cNvSpPr>
                <a:spLocks noChangeShapeType="1"/>
              </p:cNvSpPr>
              <p:nvPr/>
            </p:nvSpPr>
            <p:spPr bwMode="auto">
              <a:xfrm flipH="1">
                <a:off x="1625" y="2970"/>
                <a:ext cx="537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7" name="Line 183"/>
              <p:cNvSpPr>
                <a:spLocks noChangeShapeType="1"/>
              </p:cNvSpPr>
              <p:nvPr/>
            </p:nvSpPr>
            <p:spPr bwMode="auto">
              <a:xfrm>
                <a:off x="2082" y="2918"/>
                <a:ext cx="0" cy="486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8" name="Line 184"/>
              <p:cNvSpPr>
                <a:spLocks noChangeShapeType="1"/>
              </p:cNvSpPr>
              <p:nvPr/>
            </p:nvSpPr>
            <p:spPr bwMode="auto">
              <a:xfrm>
                <a:off x="3138" y="2850"/>
                <a:ext cx="0" cy="564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9" name="Line 185"/>
              <p:cNvSpPr>
                <a:spLocks noChangeShapeType="1"/>
              </p:cNvSpPr>
              <p:nvPr/>
            </p:nvSpPr>
            <p:spPr bwMode="auto">
              <a:xfrm>
                <a:off x="3160" y="2199"/>
                <a:ext cx="4" cy="20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50" name="Line 186"/>
              <p:cNvSpPr>
                <a:spLocks noChangeShapeType="1"/>
              </p:cNvSpPr>
              <p:nvPr/>
            </p:nvSpPr>
            <p:spPr bwMode="auto">
              <a:xfrm>
                <a:off x="3163" y="2394"/>
                <a:ext cx="0" cy="178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51" name="Line 187"/>
              <p:cNvSpPr>
                <a:spLocks noChangeShapeType="1"/>
              </p:cNvSpPr>
              <p:nvPr/>
            </p:nvSpPr>
            <p:spPr bwMode="auto">
              <a:xfrm flipV="1">
                <a:off x="3165" y="2567"/>
                <a:ext cx="0" cy="16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52" name="Line 188"/>
              <p:cNvSpPr>
                <a:spLocks noChangeShapeType="1"/>
              </p:cNvSpPr>
              <p:nvPr/>
            </p:nvSpPr>
            <p:spPr bwMode="auto">
              <a:xfrm flipV="1">
                <a:off x="2296" y="2210"/>
                <a:ext cx="0" cy="176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7453" name="Group 189"/>
              <p:cNvGrpSpPr>
                <a:grpSpLocks/>
              </p:cNvGrpSpPr>
              <p:nvPr/>
            </p:nvGrpSpPr>
            <p:grpSpPr bwMode="auto">
              <a:xfrm>
                <a:off x="1826" y="2733"/>
                <a:ext cx="525" cy="474"/>
                <a:chOff x="1075" y="2656"/>
                <a:chExt cx="525" cy="474"/>
              </a:xfrm>
            </p:grpSpPr>
            <p:sp>
              <p:nvSpPr>
                <p:cNvPr id="17473" name="Oval 190"/>
                <p:cNvSpPr>
                  <a:spLocks noChangeArrowheads="1"/>
                </p:cNvSpPr>
                <p:nvPr/>
              </p:nvSpPr>
              <p:spPr bwMode="auto">
                <a:xfrm>
                  <a:off x="1171" y="2733"/>
                  <a:ext cx="320" cy="320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17474" name="Line 191"/>
                <p:cNvSpPr>
                  <a:spLocks noChangeShapeType="1"/>
                </p:cNvSpPr>
                <p:nvPr/>
              </p:nvSpPr>
              <p:spPr bwMode="auto">
                <a:xfrm>
                  <a:off x="1075" y="2893"/>
                  <a:ext cx="525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75" name="Line 192"/>
                <p:cNvSpPr>
                  <a:spLocks noChangeShapeType="1"/>
                </p:cNvSpPr>
                <p:nvPr/>
              </p:nvSpPr>
              <p:spPr bwMode="auto">
                <a:xfrm>
                  <a:off x="1331" y="2656"/>
                  <a:ext cx="0" cy="474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54" name="Group 193"/>
              <p:cNvGrpSpPr>
                <a:grpSpLocks/>
              </p:cNvGrpSpPr>
              <p:nvPr/>
            </p:nvGrpSpPr>
            <p:grpSpPr bwMode="auto">
              <a:xfrm>
                <a:off x="2869" y="2759"/>
                <a:ext cx="499" cy="480"/>
                <a:chOff x="2035" y="2682"/>
                <a:chExt cx="499" cy="480"/>
              </a:xfrm>
            </p:grpSpPr>
            <p:sp>
              <p:nvSpPr>
                <p:cNvPr id="17469" name="Oval 194"/>
                <p:cNvSpPr>
                  <a:spLocks noChangeArrowheads="1"/>
                </p:cNvSpPr>
                <p:nvPr/>
              </p:nvSpPr>
              <p:spPr bwMode="auto">
                <a:xfrm>
                  <a:off x="2144" y="2733"/>
                  <a:ext cx="320" cy="320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/>
                </a:p>
              </p:txBody>
            </p:sp>
            <p:grpSp>
              <p:nvGrpSpPr>
                <p:cNvPr id="17470" name="Group 195"/>
                <p:cNvGrpSpPr>
                  <a:grpSpLocks/>
                </p:cNvGrpSpPr>
                <p:nvPr/>
              </p:nvGrpSpPr>
              <p:grpSpPr bwMode="auto">
                <a:xfrm>
                  <a:off x="2035" y="2682"/>
                  <a:ext cx="499" cy="480"/>
                  <a:chOff x="2035" y="2682"/>
                  <a:chExt cx="499" cy="480"/>
                </a:xfrm>
              </p:grpSpPr>
              <p:sp>
                <p:nvSpPr>
                  <p:cNvPr id="17471" name="Line 196"/>
                  <p:cNvSpPr>
                    <a:spLocks noChangeShapeType="1"/>
                  </p:cNvSpPr>
                  <p:nvPr/>
                </p:nvSpPr>
                <p:spPr bwMode="auto">
                  <a:xfrm>
                    <a:off x="2035" y="2893"/>
                    <a:ext cx="499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prstDash val="lgDash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2" name="Line 197"/>
                  <p:cNvSpPr>
                    <a:spLocks noChangeShapeType="1"/>
                  </p:cNvSpPr>
                  <p:nvPr/>
                </p:nvSpPr>
                <p:spPr bwMode="auto">
                  <a:xfrm>
                    <a:off x="2304" y="2682"/>
                    <a:ext cx="0" cy="48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prstDash val="lgDash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7455" name="Line 198"/>
              <p:cNvSpPr>
                <a:spLocks noChangeShapeType="1"/>
              </p:cNvSpPr>
              <p:nvPr/>
            </p:nvSpPr>
            <p:spPr bwMode="auto">
              <a:xfrm>
                <a:off x="3210" y="3338"/>
                <a:ext cx="772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56" name="Rectangle 199"/>
              <p:cNvSpPr>
                <a:spLocks noChangeArrowheads="1"/>
              </p:cNvSpPr>
              <p:nvPr/>
            </p:nvSpPr>
            <p:spPr bwMode="auto">
              <a:xfrm rot="-5389933">
                <a:off x="3486" y="2539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A50021"/>
                    </a:solidFill>
                    <a:latin typeface="Albertus Extra Bold" pitchFamily="34" charset="0"/>
                  </a:rPr>
                  <a:t>18</a:t>
                </a:r>
              </a:p>
            </p:txBody>
          </p:sp>
          <p:sp>
            <p:nvSpPr>
              <p:cNvPr id="17457" name="Line 200"/>
              <p:cNvSpPr>
                <a:spLocks noChangeShapeType="1"/>
              </p:cNvSpPr>
              <p:nvPr/>
            </p:nvSpPr>
            <p:spPr bwMode="auto">
              <a:xfrm rot="9414433">
                <a:off x="3057" y="2838"/>
                <a:ext cx="161" cy="278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58" name="Rectangle 201"/>
              <p:cNvSpPr>
                <a:spLocks noChangeArrowheads="1"/>
              </p:cNvSpPr>
              <p:nvPr/>
            </p:nvSpPr>
            <p:spPr bwMode="auto">
              <a:xfrm>
                <a:off x="2344" y="2608"/>
                <a:ext cx="674" cy="25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solidFill>
                      <a:srgbClr val="A50021"/>
                    </a:solidFill>
                    <a:latin typeface="Albertus Extra Bold" pitchFamily="34" charset="0"/>
                  </a:rPr>
                  <a:t>2</a:t>
                </a:r>
                <a:r>
                  <a:rPr lang="zh-CN" altLang="en-US" sz="2000" dirty="0">
                    <a:solidFill>
                      <a:srgbClr val="A50021"/>
                    </a:solidFill>
                    <a:latin typeface="Albertus Extra Bold" pitchFamily="34" charset="0"/>
                  </a:rPr>
                  <a:t>×</a:t>
                </a:r>
                <a:r>
                  <a:rPr lang="en-US" altLang="zh-CN" sz="2000" dirty="0">
                    <a:solidFill>
                      <a:srgbClr val="A50021"/>
                    </a:solidFill>
                    <a:latin typeface="Albertus Extra Bold" pitchFamily="34" charset="0"/>
                    <a:sym typeface="SansSerif" pitchFamily="2" charset="2"/>
                  </a:rPr>
                  <a:t>10</a:t>
                </a:r>
              </a:p>
            </p:txBody>
          </p:sp>
          <p:sp>
            <p:nvSpPr>
              <p:cNvPr id="17459" name="Line 202"/>
              <p:cNvSpPr>
                <a:spLocks noChangeShapeType="1"/>
              </p:cNvSpPr>
              <p:nvPr/>
            </p:nvSpPr>
            <p:spPr bwMode="auto">
              <a:xfrm>
                <a:off x="2089" y="3384"/>
                <a:ext cx="0" cy="216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60" name="Line 203"/>
              <p:cNvSpPr>
                <a:spLocks noChangeShapeType="1"/>
              </p:cNvSpPr>
              <p:nvPr/>
            </p:nvSpPr>
            <p:spPr bwMode="auto">
              <a:xfrm>
                <a:off x="3136" y="3394"/>
                <a:ext cx="0" cy="216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61" name="Line 204"/>
              <p:cNvSpPr>
                <a:spLocks noChangeShapeType="1"/>
              </p:cNvSpPr>
              <p:nvPr/>
            </p:nvSpPr>
            <p:spPr bwMode="auto">
              <a:xfrm>
                <a:off x="2080" y="3547"/>
                <a:ext cx="1056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62" name="Rectangle 205"/>
              <p:cNvSpPr>
                <a:spLocks noChangeArrowheads="1"/>
              </p:cNvSpPr>
              <p:nvPr/>
            </p:nvSpPr>
            <p:spPr bwMode="auto">
              <a:xfrm>
                <a:off x="2454" y="3350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A50021"/>
                    </a:solidFill>
                    <a:latin typeface="Albertus Extra Bold" pitchFamily="34" charset="0"/>
                  </a:rPr>
                  <a:t>36</a:t>
                </a:r>
              </a:p>
            </p:txBody>
          </p:sp>
          <p:sp>
            <p:nvSpPr>
              <p:cNvPr id="17463" name="Rectangle 206"/>
              <p:cNvSpPr>
                <a:spLocks noChangeArrowheads="1"/>
              </p:cNvSpPr>
              <p:nvPr/>
            </p:nvSpPr>
            <p:spPr bwMode="auto">
              <a:xfrm>
                <a:off x="1283" y="3096"/>
                <a:ext cx="4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A50021"/>
                    </a:solidFill>
                    <a:latin typeface="Albertus Extra Bold" pitchFamily="34" charset="0"/>
                  </a:rPr>
                  <a:t>R12</a:t>
                </a:r>
              </a:p>
            </p:txBody>
          </p:sp>
          <p:sp>
            <p:nvSpPr>
              <p:cNvPr id="17464" name="Line 207"/>
              <p:cNvSpPr>
                <a:spLocks noChangeShapeType="1"/>
              </p:cNvSpPr>
              <p:nvPr/>
            </p:nvSpPr>
            <p:spPr bwMode="auto">
              <a:xfrm>
                <a:off x="2421" y="2821"/>
                <a:ext cx="523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65" name="Line 208"/>
              <p:cNvSpPr>
                <a:spLocks noChangeShapeType="1"/>
              </p:cNvSpPr>
              <p:nvPr/>
            </p:nvSpPr>
            <p:spPr bwMode="auto">
              <a:xfrm flipH="1" flipV="1">
                <a:off x="2934" y="2821"/>
                <a:ext cx="88" cy="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66" name="Line 209"/>
              <p:cNvSpPr>
                <a:spLocks noChangeShapeType="1"/>
              </p:cNvSpPr>
              <p:nvPr/>
            </p:nvSpPr>
            <p:spPr bwMode="auto">
              <a:xfrm flipH="1">
                <a:off x="1787" y="2971"/>
                <a:ext cx="293" cy="235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67" name="Line 210"/>
              <p:cNvSpPr>
                <a:spLocks noChangeShapeType="1"/>
              </p:cNvSpPr>
              <p:nvPr/>
            </p:nvSpPr>
            <p:spPr bwMode="auto">
              <a:xfrm flipH="1">
                <a:off x="1652" y="3202"/>
                <a:ext cx="135" cy="12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68" name="Line 211"/>
              <p:cNvSpPr>
                <a:spLocks noChangeShapeType="1"/>
              </p:cNvSpPr>
              <p:nvPr/>
            </p:nvSpPr>
            <p:spPr bwMode="auto">
              <a:xfrm flipH="1">
                <a:off x="1321" y="3312"/>
                <a:ext cx="331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415" name="Group 212"/>
            <p:cNvGrpSpPr>
              <a:grpSpLocks/>
            </p:cNvGrpSpPr>
            <p:nvPr/>
          </p:nvGrpSpPr>
          <p:grpSpPr bwMode="auto">
            <a:xfrm>
              <a:off x="1736" y="1787"/>
              <a:ext cx="329" cy="557"/>
              <a:chOff x="1736" y="1787"/>
              <a:chExt cx="329" cy="557"/>
            </a:xfrm>
          </p:grpSpPr>
          <p:sp>
            <p:nvSpPr>
              <p:cNvPr id="17416" name="Text Box 213"/>
              <p:cNvSpPr txBox="1">
                <a:spLocks noChangeArrowheads="1"/>
              </p:cNvSpPr>
              <p:nvPr/>
            </p:nvSpPr>
            <p:spPr bwMode="auto">
              <a:xfrm>
                <a:off x="1736" y="1787"/>
                <a:ext cx="32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A50021"/>
                    </a:solidFill>
                  </a:rPr>
                  <a:t>t10</a:t>
                </a:r>
              </a:p>
            </p:txBody>
          </p:sp>
          <p:sp>
            <p:nvSpPr>
              <p:cNvPr id="17417" name="Line 214"/>
              <p:cNvSpPr>
                <a:spLocks noChangeShapeType="1"/>
              </p:cNvSpPr>
              <p:nvPr/>
            </p:nvSpPr>
            <p:spPr bwMode="auto">
              <a:xfrm flipH="1" flipV="1">
                <a:off x="1784" y="1984"/>
                <a:ext cx="232" cy="328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18" name="Oval 215"/>
              <p:cNvSpPr>
                <a:spLocks noChangeArrowheads="1"/>
              </p:cNvSpPr>
              <p:nvPr/>
            </p:nvSpPr>
            <p:spPr bwMode="auto">
              <a:xfrm>
                <a:off x="2000" y="2297"/>
                <a:ext cx="47" cy="47"/>
              </a:xfrm>
              <a:prstGeom prst="ellipse">
                <a:avLst/>
              </a:prstGeom>
              <a:solidFill>
                <a:srgbClr val="A5002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7419" name="Line 216"/>
              <p:cNvSpPr>
                <a:spLocks noChangeShapeType="1"/>
              </p:cNvSpPr>
              <p:nvPr/>
            </p:nvSpPr>
            <p:spPr bwMode="auto">
              <a:xfrm>
                <a:off x="1784" y="1992"/>
                <a:ext cx="232" cy="0"/>
              </a:xfrm>
              <a:prstGeom prst="line">
                <a:avLst/>
              </a:pr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66105" name="Text Box 217" descr="紫色网格"/>
          <p:cNvSpPr txBox="1">
            <a:spLocks noChangeArrowheads="1"/>
          </p:cNvSpPr>
          <p:nvPr/>
        </p:nvSpPr>
        <p:spPr bwMode="auto">
          <a:xfrm>
            <a:off x="457200" y="404813"/>
            <a:ext cx="5422900" cy="70167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一  基本规则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6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041" grpId="0" animBg="1" autoUpdateAnimBg="0"/>
      <p:bldP spid="166105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98542637-1849-41F4-877C-464C9422328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3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14056" name="Rectangle 40"/>
          <p:cNvSpPr>
            <a:spLocks noChangeArrowheads="1"/>
          </p:cNvSpPr>
          <p:nvPr/>
        </p:nvSpPr>
        <p:spPr bwMode="auto">
          <a:xfrm>
            <a:off x="7072313" y="3433763"/>
            <a:ext cx="500062" cy="422275"/>
          </a:xfrm>
          <a:prstGeom prst="rect">
            <a:avLst/>
          </a:prstGeom>
          <a:solidFill>
            <a:srgbClr val="F313DE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14057" name="Rectangle 41"/>
          <p:cNvSpPr>
            <a:spLocks noChangeArrowheads="1"/>
          </p:cNvSpPr>
          <p:nvPr/>
        </p:nvSpPr>
        <p:spPr bwMode="auto">
          <a:xfrm>
            <a:off x="7042150" y="3386138"/>
            <a:ext cx="568325" cy="4921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14058" name="Rectangle 42"/>
          <p:cNvSpPr>
            <a:spLocks noChangeArrowheads="1"/>
          </p:cNvSpPr>
          <p:nvPr/>
        </p:nvSpPr>
        <p:spPr bwMode="auto">
          <a:xfrm>
            <a:off x="4373563" y="4114800"/>
            <a:ext cx="1363662" cy="371475"/>
          </a:xfrm>
          <a:prstGeom prst="rect">
            <a:avLst/>
          </a:prstGeom>
          <a:solidFill>
            <a:srgbClr val="F313DE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14059" name="Rectangle 43"/>
          <p:cNvSpPr>
            <a:spLocks noChangeArrowheads="1"/>
          </p:cNvSpPr>
          <p:nvPr/>
        </p:nvSpPr>
        <p:spPr bwMode="auto">
          <a:xfrm>
            <a:off x="4284663" y="4043363"/>
            <a:ext cx="1519237" cy="4921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aphicFrame>
        <p:nvGraphicFramePr>
          <p:cNvPr id="214060" name="Object 44"/>
          <p:cNvGraphicFramePr>
            <a:graphicFrameLocks noChangeAspect="1"/>
          </p:cNvGraphicFramePr>
          <p:nvPr/>
        </p:nvGraphicFramePr>
        <p:xfrm>
          <a:off x="174625" y="3960813"/>
          <a:ext cx="5984875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AutoCAD Drawing" r:id="rId4" imgW="11487150" imgH="7848600" progId="AutoCAD.Drawing.16">
                  <p:embed/>
                </p:oleObj>
              </mc:Choice>
              <mc:Fallback>
                <p:oleObj name="AutoCAD Drawing" r:id="rId4" imgW="11487150" imgH="7848600" progId="AutoCAD.Drawing.16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209" t="19296" b="42227"/>
                      <a:stretch>
                        <a:fillRect/>
                      </a:stretch>
                    </p:blipFill>
                    <p:spPr bwMode="auto">
                      <a:xfrm>
                        <a:off x="174625" y="3960813"/>
                        <a:ext cx="5984875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63" name="Text Box 47"/>
          <p:cNvSpPr txBox="1">
            <a:spLocks noChangeArrowheads="1"/>
          </p:cNvSpPr>
          <p:nvPr/>
        </p:nvSpPr>
        <p:spPr bwMode="auto">
          <a:xfrm>
            <a:off x="300038" y="579438"/>
            <a:ext cx="6670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比例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-  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是图样与实物大小的关系。</a:t>
            </a:r>
            <a:endParaRPr lang="zh-CN" altLang="en-US" sz="2400" b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4064" name="Text Box 48"/>
          <p:cNvSpPr txBox="1">
            <a:spLocks noChangeArrowheads="1"/>
          </p:cNvSpPr>
          <p:nvPr/>
        </p:nvSpPr>
        <p:spPr bwMode="auto">
          <a:xfrm>
            <a:off x="496888" y="1497013"/>
            <a:ext cx="5011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如：</a:t>
            </a:r>
            <a:r>
              <a:rPr lang="en-US" altLang="zh-CN" sz="2400" i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 </a:t>
            </a:r>
            <a:r>
              <a:rPr lang="zh-CN" altLang="en-US" sz="2400" i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i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按实物大小绘制</a:t>
            </a:r>
            <a:endParaRPr lang="zh-CN" altLang="en-US" sz="2400" b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4065" name="Text Box 49"/>
          <p:cNvSpPr txBox="1">
            <a:spLocks noChangeArrowheads="1"/>
          </p:cNvSpPr>
          <p:nvPr/>
        </p:nvSpPr>
        <p:spPr bwMode="auto">
          <a:xfrm>
            <a:off x="1100138" y="2287588"/>
            <a:ext cx="4435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2 </a:t>
            </a:r>
            <a:r>
              <a:rPr lang="zh-CN" altLang="en-US" sz="2400" i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i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400" b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为放大一倍绘制</a:t>
            </a:r>
            <a:endParaRPr lang="zh-CN" altLang="en-US" sz="2400" b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4066" name="AutoShape 50"/>
          <p:cNvSpPr>
            <a:spLocks noChangeArrowheads="1"/>
          </p:cNvSpPr>
          <p:nvPr/>
        </p:nvSpPr>
        <p:spPr bwMode="auto">
          <a:xfrm>
            <a:off x="1568450" y="3554413"/>
            <a:ext cx="1068388" cy="430212"/>
          </a:xfrm>
          <a:prstGeom prst="wedgeRoundRectCallout">
            <a:avLst>
              <a:gd name="adj1" fmla="val 51190"/>
              <a:gd name="adj2" fmla="val 88375"/>
              <a:gd name="adj3" fmla="val 16667"/>
            </a:avLst>
          </a:prstGeom>
          <a:noFill/>
          <a:ln w="19050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ea typeface="黑体" pitchFamily="2" charset="-122"/>
              </a:rPr>
              <a:t>标题栏</a:t>
            </a:r>
          </a:p>
        </p:txBody>
      </p:sp>
      <p:graphicFrame>
        <p:nvGraphicFramePr>
          <p:cNvPr id="214067" name="Object 51"/>
          <p:cNvGraphicFramePr>
            <a:graphicFrameLocks noChangeAspect="1"/>
          </p:cNvGraphicFramePr>
          <p:nvPr/>
        </p:nvGraphicFramePr>
        <p:xfrm>
          <a:off x="5975350" y="2479675"/>
          <a:ext cx="123825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AutoCAD Drawing" r:id="rId6" imgW="11487150" imgH="7848600" progId="AutoCAD.Drawing.16">
                  <p:embed/>
                </p:oleObj>
              </mc:Choice>
              <mc:Fallback>
                <p:oleObj name="AutoCAD Drawing" r:id="rId6" imgW="11487150" imgH="7848600" progId="AutoCAD.Drawing.16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5674" t="19531" r="53510" b="60898"/>
                      <a:stretch>
                        <a:fillRect/>
                      </a:stretch>
                    </p:blipFill>
                    <p:spPr bwMode="auto">
                      <a:xfrm>
                        <a:off x="5975350" y="2479675"/>
                        <a:ext cx="1238250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68" name="Object 52"/>
          <p:cNvGraphicFramePr>
            <a:graphicFrameLocks noChangeAspect="1"/>
          </p:cNvGraphicFramePr>
          <p:nvPr/>
        </p:nvGraphicFramePr>
        <p:xfrm>
          <a:off x="6199188" y="2647950"/>
          <a:ext cx="788987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AutoCAD Drawing" r:id="rId8" imgW="11487150" imgH="7848600" progId="AutoCAD.Drawing.16">
                  <p:embed/>
                </p:oleObj>
              </mc:Choice>
              <mc:Fallback>
                <p:oleObj name="AutoCAD Drawing" r:id="rId8" imgW="11487150" imgH="7848600" progId="AutoCAD.Drawing.16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9596" t="23788" r="57140" b="58360"/>
                      <a:stretch>
                        <a:fillRect/>
                      </a:stretch>
                    </p:blipFill>
                    <p:spPr bwMode="auto">
                      <a:xfrm>
                        <a:off x="6199188" y="2647950"/>
                        <a:ext cx="788987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69" name="Object 53"/>
          <p:cNvGraphicFramePr>
            <a:graphicFrameLocks noChangeAspect="1"/>
          </p:cNvGraphicFramePr>
          <p:nvPr/>
        </p:nvGraphicFramePr>
        <p:xfrm>
          <a:off x="6813550" y="2566988"/>
          <a:ext cx="4953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AutoCAD Drawing" r:id="rId10" imgW="11487150" imgH="7848600" progId="AutoCAD.Drawing.16">
                  <p:embed/>
                </p:oleObj>
              </mc:Choice>
              <mc:Fallback>
                <p:oleObj name="AutoCAD Drawing" r:id="rId10" imgW="11487150" imgH="7848600" progId="AutoCAD.Drawing.16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606" t="21640" r="52068" b="69220"/>
                      <a:stretch>
                        <a:fillRect/>
                      </a:stretch>
                    </p:blipFill>
                    <p:spPr bwMode="auto">
                      <a:xfrm>
                        <a:off x="6813550" y="2566988"/>
                        <a:ext cx="4953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70" name="Object 54"/>
          <p:cNvGraphicFramePr>
            <a:graphicFrameLocks noChangeAspect="1"/>
          </p:cNvGraphicFramePr>
          <p:nvPr/>
        </p:nvGraphicFramePr>
        <p:xfrm>
          <a:off x="6161088" y="4067175"/>
          <a:ext cx="230822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AutoCAD Drawing" r:id="rId12" imgW="11487150" imgH="7848600" progId="AutoCAD.Drawing.16">
                  <p:embed/>
                </p:oleObj>
              </mc:Choice>
              <mc:Fallback>
                <p:oleObj name="AutoCAD Drawing" r:id="rId12" imgW="11487150" imgH="7848600" progId="AutoCAD.Drawing.16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6403" t="44141" r="24792" b="32500"/>
                      <a:stretch>
                        <a:fillRect/>
                      </a:stretch>
                    </p:blipFill>
                    <p:spPr bwMode="auto">
                      <a:xfrm>
                        <a:off x="6161088" y="4067175"/>
                        <a:ext cx="2308225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71" name="Object 55"/>
          <p:cNvGraphicFramePr>
            <a:graphicFrameLocks noChangeAspect="1"/>
          </p:cNvGraphicFramePr>
          <p:nvPr/>
        </p:nvGraphicFramePr>
        <p:xfrm>
          <a:off x="6334125" y="3944938"/>
          <a:ext cx="2627313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AutoCAD Drawing" r:id="rId14" imgW="11487150" imgH="7848600" progId="AutoCAD.Drawing.16">
                  <p:embed/>
                </p:oleObj>
              </mc:Choice>
              <mc:Fallback>
                <p:oleObj name="AutoCAD Drawing" r:id="rId14" imgW="11487150" imgH="7848600" progId="AutoCAD.Drawing.16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285" t="40977" r="16547" b="18710"/>
                      <a:stretch>
                        <a:fillRect/>
                      </a:stretch>
                    </p:blipFill>
                    <p:spPr bwMode="auto">
                      <a:xfrm>
                        <a:off x="6334125" y="3944938"/>
                        <a:ext cx="2627313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72" name="Object 56"/>
          <p:cNvGraphicFramePr>
            <a:graphicFrameLocks noChangeAspect="1"/>
          </p:cNvGraphicFramePr>
          <p:nvPr/>
        </p:nvGraphicFramePr>
        <p:xfrm>
          <a:off x="7073900" y="3405188"/>
          <a:ext cx="496888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AutoCAD Drawing" r:id="rId16" imgW="11487150" imgH="7848600" progId="AutoCAD.Drawing.16">
                  <p:embed/>
                </p:oleObj>
              </mc:Choice>
              <mc:Fallback>
                <p:oleObj name="AutoCAD Drawing" r:id="rId16" imgW="11487150" imgH="7848600" progId="AutoCAD.Drawing.16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1189" t="30977" r="40459" b="58594"/>
                      <a:stretch>
                        <a:fillRect/>
                      </a:stretch>
                    </p:blipFill>
                    <p:spPr bwMode="auto">
                      <a:xfrm>
                        <a:off x="7073900" y="3405188"/>
                        <a:ext cx="496888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73" name="Text Box 57"/>
          <p:cNvSpPr txBox="1">
            <a:spLocks noChangeArrowheads="1"/>
          </p:cNvSpPr>
          <p:nvPr/>
        </p:nvSpPr>
        <p:spPr bwMode="auto">
          <a:xfrm>
            <a:off x="1773238" y="5657850"/>
            <a:ext cx="1462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整体放缩</a:t>
            </a:r>
            <a:endParaRPr lang="zh-CN" altLang="en-US" sz="2400" b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4074" name="Text Box 58"/>
          <p:cNvSpPr txBox="1">
            <a:spLocks noChangeArrowheads="1"/>
          </p:cNvSpPr>
          <p:nvPr/>
        </p:nvSpPr>
        <p:spPr bwMode="auto">
          <a:xfrm>
            <a:off x="6602413" y="5599113"/>
            <a:ext cx="1462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局部放大</a:t>
            </a:r>
            <a:endParaRPr lang="zh-CN" altLang="en-US" sz="2400" b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4075" name="Text Box 59"/>
          <p:cNvSpPr txBox="1">
            <a:spLocks noChangeArrowheads="1"/>
          </p:cNvSpPr>
          <p:nvPr/>
        </p:nvSpPr>
        <p:spPr bwMode="auto">
          <a:xfrm>
            <a:off x="1101725" y="1916113"/>
            <a:ext cx="456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 </a:t>
            </a:r>
            <a:r>
              <a:rPr lang="zh-CN" altLang="en-US" sz="2400" i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i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2     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为缩小一半绘制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4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4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4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1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4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4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4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4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4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1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0" dur="500"/>
                                        <p:tgtEl>
                                          <p:spTgt spid="21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4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14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14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4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1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21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1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1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56" grpId="0" animBg="1"/>
      <p:bldP spid="214057" grpId="0" animBg="1"/>
      <p:bldP spid="214058" grpId="0" animBg="1"/>
      <p:bldP spid="214059" grpId="0" animBg="1"/>
      <p:bldP spid="214063" grpId="0" autoUpdateAnimBg="0"/>
      <p:bldP spid="214064" grpId="0" autoUpdateAnimBg="0"/>
      <p:bldP spid="214065" grpId="0" autoUpdateAnimBg="0"/>
      <p:bldP spid="214066" grpId="0" animBg="1" autoUpdateAnimBg="0"/>
      <p:bldP spid="214073" grpId="0" autoUpdateAnimBg="0"/>
      <p:bldP spid="214074" grpId="0" autoUpdateAnimBg="0"/>
      <p:bldP spid="21407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BE72D8D0-AD0B-4D03-92AA-57AA696ECBF8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4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19459" name="Text Box 12"/>
          <p:cNvSpPr txBox="1">
            <a:spLocks noChangeArrowheads="1"/>
          </p:cNvSpPr>
          <p:nvPr/>
        </p:nvSpPr>
        <p:spPr bwMode="auto">
          <a:xfrm>
            <a:off x="549275" y="1144588"/>
            <a:ext cx="412273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国标规定的优先绘图比例</a:t>
            </a:r>
          </a:p>
        </p:txBody>
      </p:sp>
      <p:graphicFrame>
        <p:nvGraphicFramePr>
          <p:cNvPr id="213005" name="Object 13"/>
          <p:cNvGraphicFramePr>
            <a:graphicFrameLocks noChangeAspect="1"/>
          </p:cNvGraphicFramePr>
          <p:nvPr/>
        </p:nvGraphicFramePr>
        <p:xfrm>
          <a:off x="947738" y="1852613"/>
          <a:ext cx="5875337" cy="188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文档" r:id="rId3" imgW="6266688" imgH="3925824" progId="Word.Document.8">
                  <p:embed/>
                </p:oleObj>
              </mc:Choice>
              <mc:Fallback>
                <p:oleObj name="文档" r:id="rId3" imgW="6266688" imgH="3925824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5704" b="52527"/>
                      <a:stretch>
                        <a:fillRect/>
                      </a:stretch>
                    </p:blipFill>
                    <p:spPr bwMode="auto">
                      <a:xfrm>
                        <a:off x="947738" y="1852613"/>
                        <a:ext cx="5875337" cy="188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6" name="Object 14"/>
          <p:cNvGraphicFramePr>
            <a:graphicFrameLocks noChangeAspect="1"/>
          </p:cNvGraphicFramePr>
          <p:nvPr/>
        </p:nvGraphicFramePr>
        <p:xfrm>
          <a:off x="938213" y="4397375"/>
          <a:ext cx="5653087" cy="172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文档" r:id="rId5" imgW="6266688" imgH="3925824" progId="Word.Document.8">
                  <p:embed/>
                </p:oleObj>
              </mc:Choice>
              <mc:Fallback>
                <p:oleObj name="文档" r:id="rId5" imgW="6266688" imgH="3925824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52527" r="12923"/>
                      <a:stretch>
                        <a:fillRect/>
                      </a:stretch>
                    </p:blipFill>
                    <p:spPr bwMode="auto">
                      <a:xfrm>
                        <a:off x="938213" y="4397375"/>
                        <a:ext cx="5653087" cy="172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07" name="Text Box 15"/>
          <p:cNvSpPr txBox="1">
            <a:spLocks noChangeArrowheads="1"/>
          </p:cNvSpPr>
          <p:nvPr/>
        </p:nvSpPr>
        <p:spPr bwMode="auto">
          <a:xfrm>
            <a:off x="417513" y="3790950"/>
            <a:ext cx="4122737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必要时可选择的绘图比例</a:t>
            </a:r>
          </a:p>
        </p:txBody>
      </p:sp>
      <p:sp>
        <p:nvSpPr>
          <p:cNvPr id="213008" name="Text Box 16"/>
          <p:cNvSpPr txBox="1">
            <a:spLocks noChangeArrowheads="1"/>
          </p:cNvSpPr>
          <p:nvPr/>
        </p:nvSpPr>
        <p:spPr bwMode="auto">
          <a:xfrm>
            <a:off x="1270000" y="431800"/>
            <a:ext cx="1352550" cy="495300"/>
          </a:xfrm>
          <a:prstGeom prst="rect">
            <a:avLst/>
          </a:prstGeom>
          <a:noFill/>
          <a:ln w="38100">
            <a:solidFill>
              <a:srgbClr val="FF0066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solidFill>
                  <a:srgbClr val="0033CC"/>
                </a:solidFill>
                <a:ea typeface="黑体" pitchFamily="2" charset="-122"/>
              </a:rPr>
              <a:t>标注？</a:t>
            </a:r>
          </a:p>
        </p:txBody>
      </p:sp>
      <p:sp>
        <p:nvSpPr>
          <p:cNvPr id="213009" name="Text Box 17"/>
          <p:cNvSpPr txBox="1">
            <a:spLocks noChangeArrowheads="1"/>
          </p:cNvSpPr>
          <p:nvPr/>
        </p:nvSpPr>
        <p:spPr bwMode="auto">
          <a:xfrm>
            <a:off x="3043238" y="427038"/>
            <a:ext cx="1749425" cy="495300"/>
          </a:xfrm>
          <a:prstGeom prst="rect">
            <a:avLst/>
          </a:prstGeom>
          <a:noFill/>
          <a:ln w="38100">
            <a:solidFill>
              <a:srgbClr val="2010F6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solidFill>
                  <a:srgbClr val="F31313"/>
                </a:solidFill>
                <a:ea typeface="黑体" pitchFamily="2" charset="-122"/>
              </a:rPr>
              <a:t>实际尺寸</a:t>
            </a:r>
            <a:r>
              <a:rPr lang="en-US" altLang="zh-CN" sz="2400">
                <a:solidFill>
                  <a:srgbClr val="F31313"/>
                </a:solidFill>
                <a:ea typeface="黑体" pitchFamily="2" charset="-122"/>
              </a:rPr>
              <a:t>! !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2624138" y="544513"/>
            <a:ext cx="403225" cy="263525"/>
            <a:chOff x="3842" y="201"/>
            <a:chExt cx="254" cy="166"/>
          </a:xfrm>
        </p:grpSpPr>
        <p:sp>
          <p:nvSpPr>
            <p:cNvPr id="19466" name="AutoShape 19"/>
            <p:cNvSpPr>
              <a:spLocks noChangeArrowheads="1"/>
            </p:cNvSpPr>
            <p:nvPr/>
          </p:nvSpPr>
          <p:spPr bwMode="auto">
            <a:xfrm>
              <a:off x="3946" y="201"/>
              <a:ext cx="150" cy="16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2010F6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>
                <a:solidFill>
                  <a:srgbClr val="F31313"/>
                </a:solidFill>
              </a:endParaRPr>
            </a:p>
          </p:txBody>
        </p:sp>
        <p:sp>
          <p:nvSpPr>
            <p:cNvPr id="19467" name="Rectangle 20"/>
            <p:cNvSpPr>
              <a:spLocks noChangeArrowheads="1"/>
            </p:cNvSpPr>
            <p:nvPr/>
          </p:nvSpPr>
          <p:spPr bwMode="auto">
            <a:xfrm>
              <a:off x="3842" y="242"/>
              <a:ext cx="108" cy="84"/>
            </a:xfrm>
            <a:prstGeom prst="rect">
              <a:avLst/>
            </a:prstGeom>
            <a:solidFill>
              <a:srgbClr val="F31313"/>
            </a:solidFill>
            <a:ln w="0">
              <a:solidFill>
                <a:srgbClr val="F31313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3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3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1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0" fill="hold"/>
                                        <p:tgtEl>
                                          <p:spTgt spid="213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0" fill="hold"/>
                                        <p:tgtEl>
                                          <p:spTgt spid="213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21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007" grpId="0" autoUpdateAnimBg="0"/>
      <p:bldP spid="213008" grpId="0" animBg="1" autoUpdateAnimBg="0"/>
      <p:bldP spid="213009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943F54F5-C5EC-4EB8-8404-CEE3FA93466D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grpSp>
        <p:nvGrpSpPr>
          <p:cNvPr id="20483" name="Group 2"/>
          <p:cNvGrpSpPr>
            <a:grpSpLocks/>
          </p:cNvGrpSpPr>
          <p:nvPr/>
        </p:nvGrpSpPr>
        <p:grpSpPr bwMode="auto">
          <a:xfrm>
            <a:off x="382588" y="2708100"/>
            <a:ext cx="4308475" cy="2759075"/>
            <a:chOff x="252" y="1891"/>
            <a:chExt cx="2714" cy="1738"/>
          </a:xfrm>
        </p:grpSpPr>
        <p:sp>
          <p:nvSpPr>
            <p:cNvPr id="20512" name="Line 3"/>
            <p:cNvSpPr>
              <a:spLocks noChangeShapeType="1"/>
            </p:cNvSpPr>
            <p:nvPr/>
          </p:nvSpPr>
          <p:spPr bwMode="auto">
            <a:xfrm flipH="1" flipV="1">
              <a:off x="1896" y="2045"/>
              <a:ext cx="0" cy="172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3" name="Line 4"/>
            <p:cNvSpPr>
              <a:spLocks noChangeShapeType="1"/>
            </p:cNvSpPr>
            <p:nvPr/>
          </p:nvSpPr>
          <p:spPr bwMode="auto">
            <a:xfrm>
              <a:off x="1267" y="2099"/>
              <a:ext cx="626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4" name="Line 5"/>
            <p:cNvSpPr>
              <a:spLocks noChangeShapeType="1"/>
            </p:cNvSpPr>
            <p:nvPr/>
          </p:nvSpPr>
          <p:spPr bwMode="auto">
            <a:xfrm flipV="1">
              <a:off x="674" y="2812"/>
              <a:ext cx="0" cy="80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5" name="Line 6"/>
            <p:cNvSpPr>
              <a:spLocks noChangeShapeType="1"/>
            </p:cNvSpPr>
            <p:nvPr/>
          </p:nvSpPr>
          <p:spPr bwMode="auto">
            <a:xfrm>
              <a:off x="681" y="3574"/>
              <a:ext cx="1791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6" name="Line 7"/>
            <p:cNvSpPr>
              <a:spLocks noChangeShapeType="1"/>
            </p:cNvSpPr>
            <p:nvPr/>
          </p:nvSpPr>
          <p:spPr bwMode="auto">
            <a:xfrm flipV="1">
              <a:off x="2480" y="2811"/>
              <a:ext cx="0" cy="811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7" name="Line 8"/>
            <p:cNvSpPr>
              <a:spLocks noChangeShapeType="1"/>
            </p:cNvSpPr>
            <p:nvPr/>
          </p:nvSpPr>
          <p:spPr bwMode="auto">
            <a:xfrm>
              <a:off x="2492" y="2240"/>
              <a:ext cx="465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8" name="Line 9"/>
            <p:cNvSpPr>
              <a:spLocks noChangeShapeType="1"/>
            </p:cNvSpPr>
            <p:nvPr/>
          </p:nvSpPr>
          <p:spPr bwMode="auto">
            <a:xfrm>
              <a:off x="2701" y="2231"/>
              <a:ext cx="0" cy="584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9" name="Line 10"/>
            <p:cNvSpPr>
              <a:spLocks noChangeShapeType="1"/>
            </p:cNvSpPr>
            <p:nvPr/>
          </p:nvSpPr>
          <p:spPr bwMode="auto">
            <a:xfrm>
              <a:off x="2905" y="2233"/>
              <a:ext cx="0" cy="946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0" name="Text Box 11"/>
            <p:cNvSpPr txBox="1">
              <a:spLocks noChangeArrowheads="1"/>
            </p:cNvSpPr>
            <p:nvPr/>
          </p:nvSpPr>
          <p:spPr bwMode="auto">
            <a:xfrm>
              <a:off x="1437" y="3379"/>
              <a:ext cx="3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A50021"/>
                  </a:solidFill>
                  <a:latin typeface="Albertus Extra Bold" pitchFamily="34" charset="0"/>
                </a:rPr>
                <a:t>60</a:t>
              </a:r>
            </a:p>
          </p:txBody>
        </p:sp>
        <p:sp>
          <p:nvSpPr>
            <p:cNvPr id="20521" name="Text Box 12"/>
            <p:cNvSpPr txBox="1">
              <a:spLocks noChangeArrowheads="1"/>
            </p:cNvSpPr>
            <p:nvPr/>
          </p:nvSpPr>
          <p:spPr bwMode="auto">
            <a:xfrm>
              <a:off x="1434" y="1891"/>
              <a:ext cx="3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A50021"/>
                  </a:solidFill>
                  <a:latin typeface="Albertus Extra Bold" pitchFamily="34" charset="0"/>
                </a:rPr>
                <a:t>20</a:t>
              </a:r>
            </a:p>
          </p:txBody>
        </p:sp>
        <p:sp>
          <p:nvSpPr>
            <p:cNvPr id="20522" name="Text Box 13"/>
            <p:cNvSpPr txBox="1">
              <a:spLocks noChangeArrowheads="1"/>
            </p:cNvSpPr>
            <p:nvPr/>
          </p:nvSpPr>
          <p:spPr bwMode="auto">
            <a:xfrm rot="-5400000">
              <a:off x="1956" y="2196"/>
              <a:ext cx="22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A50021"/>
                  </a:solidFill>
                  <a:latin typeface="Albertus Extra Bold" pitchFamily="34" charset="0"/>
                </a:rPr>
                <a:t>5</a:t>
              </a:r>
            </a:p>
          </p:txBody>
        </p:sp>
        <p:sp>
          <p:nvSpPr>
            <p:cNvPr id="20523" name="Text Box 14"/>
            <p:cNvSpPr txBox="1">
              <a:spLocks noChangeArrowheads="1"/>
            </p:cNvSpPr>
            <p:nvPr/>
          </p:nvSpPr>
          <p:spPr bwMode="auto">
            <a:xfrm rot="-5344930">
              <a:off x="2677" y="2574"/>
              <a:ext cx="3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A50021"/>
                  </a:solidFill>
                  <a:latin typeface="Albertus Extra Bold" pitchFamily="34" charset="0"/>
                </a:rPr>
                <a:t>30</a:t>
              </a:r>
            </a:p>
          </p:txBody>
        </p:sp>
        <p:sp>
          <p:nvSpPr>
            <p:cNvPr id="20524" name="Line 15"/>
            <p:cNvSpPr>
              <a:spLocks noChangeShapeType="1"/>
            </p:cNvSpPr>
            <p:nvPr/>
          </p:nvSpPr>
          <p:spPr bwMode="auto">
            <a:xfrm flipH="1">
              <a:off x="2552" y="2806"/>
              <a:ext cx="2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5" name="Line 16"/>
            <p:cNvSpPr>
              <a:spLocks noChangeShapeType="1"/>
            </p:cNvSpPr>
            <p:nvPr/>
          </p:nvSpPr>
          <p:spPr bwMode="auto">
            <a:xfrm>
              <a:off x="1915" y="2411"/>
              <a:ext cx="253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6" name="Line 17"/>
            <p:cNvSpPr>
              <a:spLocks noChangeShapeType="1"/>
            </p:cNvSpPr>
            <p:nvPr/>
          </p:nvSpPr>
          <p:spPr bwMode="auto">
            <a:xfrm flipH="1">
              <a:off x="1042" y="3172"/>
              <a:ext cx="1072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7" name="Line 18"/>
            <p:cNvSpPr>
              <a:spLocks noChangeShapeType="1"/>
            </p:cNvSpPr>
            <p:nvPr/>
          </p:nvSpPr>
          <p:spPr bwMode="auto">
            <a:xfrm>
              <a:off x="1577" y="2173"/>
              <a:ext cx="0" cy="1075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8" name="Line 19"/>
            <p:cNvSpPr>
              <a:spLocks noChangeShapeType="1"/>
            </p:cNvSpPr>
            <p:nvPr/>
          </p:nvSpPr>
          <p:spPr bwMode="auto">
            <a:xfrm>
              <a:off x="2027" y="2806"/>
              <a:ext cx="512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9" name="Line 20"/>
            <p:cNvSpPr>
              <a:spLocks noChangeShapeType="1"/>
            </p:cNvSpPr>
            <p:nvPr/>
          </p:nvSpPr>
          <p:spPr bwMode="auto">
            <a:xfrm flipV="1">
              <a:off x="679" y="2233"/>
              <a:ext cx="0" cy="571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0" name="Line 21"/>
            <p:cNvSpPr>
              <a:spLocks noChangeShapeType="1"/>
            </p:cNvSpPr>
            <p:nvPr/>
          </p:nvSpPr>
          <p:spPr bwMode="auto">
            <a:xfrm>
              <a:off x="1265" y="2237"/>
              <a:ext cx="0" cy="198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1" name="Line 22"/>
            <p:cNvSpPr>
              <a:spLocks noChangeShapeType="1"/>
            </p:cNvSpPr>
            <p:nvPr/>
          </p:nvSpPr>
          <p:spPr bwMode="auto">
            <a:xfrm>
              <a:off x="1256" y="2420"/>
              <a:ext cx="647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2" name="Line 23"/>
            <p:cNvSpPr>
              <a:spLocks noChangeShapeType="1"/>
            </p:cNvSpPr>
            <p:nvPr/>
          </p:nvSpPr>
          <p:spPr bwMode="auto">
            <a:xfrm>
              <a:off x="1894" y="2239"/>
              <a:ext cx="592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3" name="Line 24"/>
            <p:cNvSpPr>
              <a:spLocks noChangeShapeType="1"/>
            </p:cNvSpPr>
            <p:nvPr/>
          </p:nvSpPr>
          <p:spPr bwMode="auto">
            <a:xfrm>
              <a:off x="1899" y="2237"/>
              <a:ext cx="0" cy="193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4" name="Line 25"/>
            <p:cNvSpPr>
              <a:spLocks noChangeShapeType="1"/>
            </p:cNvSpPr>
            <p:nvPr/>
          </p:nvSpPr>
          <p:spPr bwMode="auto">
            <a:xfrm>
              <a:off x="678" y="2239"/>
              <a:ext cx="586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5" name="Line 26"/>
            <p:cNvSpPr>
              <a:spLocks noChangeShapeType="1"/>
            </p:cNvSpPr>
            <p:nvPr/>
          </p:nvSpPr>
          <p:spPr bwMode="auto">
            <a:xfrm flipV="1">
              <a:off x="2471" y="2235"/>
              <a:ext cx="0" cy="568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6" name="Arc 27"/>
            <p:cNvSpPr>
              <a:spLocks/>
            </p:cNvSpPr>
            <p:nvPr/>
          </p:nvSpPr>
          <p:spPr bwMode="auto">
            <a:xfrm flipV="1">
              <a:off x="2101" y="2799"/>
              <a:ext cx="371" cy="37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7" name="Arc 28"/>
            <p:cNvSpPr>
              <a:spLocks/>
            </p:cNvSpPr>
            <p:nvPr/>
          </p:nvSpPr>
          <p:spPr bwMode="auto">
            <a:xfrm flipV="1">
              <a:off x="682" y="2799"/>
              <a:ext cx="371" cy="371"/>
            </a:xfrm>
            <a:custGeom>
              <a:avLst/>
              <a:gdLst>
                <a:gd name="T0" fmla="*/ 0 w 21589"/>
                <a:gd name="T1" fmla="*/ 0 h 21600"/>
                <a:gd name="T2" fmla="*/ 0 w 21589"/>
                <a:gd name="T3" fmla="*/ 0 h 21600"/>
                <a:gd name="T4" fmla="*/ 0 w 21589"/>
                <a:gd name="T5" fmla="*/ 0 h 21600"/>
                <a:gd name="T6" fmla="*/ 0 60000 65536"/>
                <a:gd name="T7" fmla="*/ 0 60000 65536"/>
                <a:gd name="T8" fmla="*/ 0 60000 65536"/>
                <a:gd name="T9" fmla="*/ 0 w 21589"/>
                <a:gd name="T10" fmla="*/ 0 h 21600"/>
                <a:gd name="T11" fmla="*/ 21589 w 2158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89" h="21600" fill="none" extrusionOk="0">
                  <a:moveTo>
                    <a:pt x="-1" y="20924"/>
                  </a:moveTo>
                  <a:cubicBezTo>
                    <a:pt x="363" y="9286"/>
                    <a:pt x="9887" y="30"/>
                    <a:pt x="21532" y="0"/>
                  </a:cubicBezTo>
                </a:path>
                <a:path w="21589" h="21600" stroke="0" extrusionOk="0">
                  <a:moveTo>
                    <a:pt x="-1" y="20924"/>
                  </a:moveTo>
                  <a:cubicBezTo>
                    <a:pt x="363" y="9286"/>
                    <a:pt x="9887" y="30"/>
                    <a:pt x="21532" y="0"/>
                  </a:cubicBezTo>
                  <a:lnTo>
                    <a:pt x="21589" y="21600"/>
                  </a:lnTo>
                  <a:lnTo>
                    <a:pt x="-1" y="20924"/>
                  </a:lnTo>
                  <a:close/>
                </a:path>
              </a:pathLst>
            </a:cu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8" name="Line 29"/>
            <p:cNvSpPr>
              <a:spLocks noChangeShapeType="1"/>
            </p:cNvSpPr>
            <p:nvPr/>
          </p:nvSpPr>
          <p:spPr bwMode="auto">
            <a:xfrm flipH="1">
              <a:off x="594" y="2806"/>
              <a:ext cx="537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9" name="Line 30"/>
            <p:cNvSpPr>
              <a:spLocks noChangeShapeType="1"/>
            </p:cNvSpPr>
            <p:nvPr/>
          </p:nvSpPr>
          <p:spPr bwMode="auto">
            <a:xfrm>
              <a:off x="1051" y="2754"/>
              <a:ext cx="0" cy="486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0" name="Line 31"/>
            <p:cNvSpPr>
              <a:spLocks noChangeShapeType="1"/>
            </p:cNvSpPr>
            <p:nvPr/>
          </p:nvSpPr>
          <p:spPr bwMode="auto">
            <a:xfrm>
              <a:off x="2107" y="2686"/>
              <a:ext cx="0" cy="564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1" name="Line 32"/>
            <p:cNvSpPr>
              <a:spLocks noChangeShapeType="1"/>
            </p:cNvSpPr>
            <p:nvPr/>
          </p:nvSpPr>
          <p:spPr bwMode="auto">
            <a:xfrm flipV="1">
              <a:off x="2134" y="2403"/>
              <a:ext cx="0" cy="16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2" name="Line 33"/>
            <p:cNvSpPr>
              <a:spLocks noChangeShapeType="1"/>
            </p:cNvSpPr>
            <p:nvPr/>
          </p:nvSpPr>
          <p:spPr bwMode="auto">
            <a:xfrm flipV="1">
              <a:off x="1265" y="2046"/>
              <a:ext cx="0" cy="176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543" name="Group 34"/>
            <p:cNvGrpSpPr>
              <a:grpSpLocks/>
            </p:cNvGrpSpPr>
            <p:nvPr/>
          </p:nvGrpSpPr>
          <p:grpSpPr bwMode="auto">
            <a:xfrm>
              <a:off x="795" y="2569"/>
              <a:ext cx="525" cy="474"/>
              <a:chOff x="1075" y="2656"/>
              <a:chExt cx="525" cy="474"/>
            </a:xfrm>
          </p:grpSpPr>
          <p:sp>
            <p:nvSpPr>
              <p:cNvPr id="20565" name="Oval 35"/>
              <p:cNvSpPr>
                <a:spLocks noChangeArrowheads="1"/>
              </p:cNvSpPr>
              <p:nvPr/>
            </p:nvSpPr>
            <p:spPr bwMode="auto">
              <a:xfrm>
                <a:off x="1171" y="2733"/>
                <a:ext cx="320" cy="32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566" name="Line 36"/>
              <p:cNvSpPr>
                <a:spLocks noChangeShapeType="1"/>
              </p:cNvSpPr>
              <p:nvPr/>
            </p:nvSpPr>
            <p:spPr bwMode="auto">
              <a:xfrm>
                <a:off x="1075" y="2893"/>
                <a:ext cx="525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67" name="Line 37"/>
              <p:cNvSpPr>
                <a:spLocks noChangeShapeType="1"/>
              </p:cNvSpPr>
              <p:nvPr/>
            </p:nvSpPr>
            <p:spPr bwMode="auto">
              <a:xfrm>
                <a:off x="1331" y="2656"/>
                <a:ext cx="0" cy="474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544" name="Group 38"/>
            <p:cNvGrpSpPr>
              <a:grpSpLocks/>
            </p:cNvGrpSpPr>
            <p:nvPr/>
          </p:nvGrpSpPr>
          <p:grpSpPr bwMode="auto">
            <a:xfrm>
              <a:off x="1838" y="2595"/>
              <a:ext cx="499" cy="480"/>
              <a:chOff x="2035" y="2682"/>
              <a:chExt cx="499" cy="480"/>
            </a:xfrm>
          </p:grpSpPr>
          <p:sp>
            <p:nvSpPr>
              <p:cNvPr id="20561" name="Oval 39"/>
              <p:cNvSpPr>
                <a:spLocks noChangeArrowheads="1"/>
              </p:cNvSpPr>
              <p:nvPr/>
            </p:nvSpPr>
            <p:spPr bwMode="auto">
              <a:xfrm>
                <a:off x="2144" y="2733"/>
                <a:ext cx="320" cy="32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grpSp>
            <p:nvGrpSpPr>
              <p:cNvPr id="20562" name="Group 40"/>
              <p:cNvGrpSpPr>
                <a:grpSpLocks/>
              </p:cNvGrpSpPr>
              <p:nvPr/>
            </p:nvGrpSpPr>
            <p:grpSpPr bwMode="auto">
              <a:xfrm>
                <a:off x="2035" y="2682"/>
                <a:ext cx="499" cy="480"/>
                <a:chOff x="2035" y="2682"/>
                <a:chExt cx="499" cy="480"/>
              </a:xfrm>
            </p:grpSpPr>
            <p:sp>
              <p:nvSpPr>
                <p:cNvPr id="20563" name="Line 41"/>
                <p:cNvSpPr>
                  <a:spLocks noChangeShapeType="1"/>
                </p:cNvSpPr>
                <p:nvPr/>
              </p:nvSpPr>
              <p:spPr bwMode="auto">
                <a:xfrm>
                  <a:off x="2035" y="2893"/>
                  <a:ext cx="499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564" name="Line 42"/>
                <p:cNvSpPr>
                  <a:spLocks noChangeShapeType="1"/>
                </p:cNvSpPr>
                <p:nvPr/>
              </p:nvSpPr>
              <p:spPr bwMode="auto">
                <a:xfrm>
                  <a:off x="2304" y="2682"/>
                  <a:ext cx="0" cy="48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0545" name="Line 43"/>
            <p:cNvSpPr>
              <a:spLocks noChangeShapeType="1"/>
            </p:cNvSpPr>
            <p:nvPr/>
          </p:nvSpPr>
          <p:spPr bwMode="auto">
            <a:xfrm>
              <a:off x="2179" y="3174"/>
              <a:ext cx="772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6" name="Rectangle 44"/>
            <p:cNvSpPr>
              <a:spLocks noChangeArrowheads="1"/>
            </p:cNvSpPr>
            <p:nvPr/>
          </p:nvSpPr>
          <p:spPr bwMode="auto">
            <a:xfrm rot="-5389933">
              <a:off x="2455" y="2375"/>
              <a:ext cx="3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A50021"/>
                  </a:solidFill>
                  <a:latin typeface="Albertus Extra Bold" pitchFamily="34" charset="0"/>
                </a:rPr>
                <a:t>18</a:t>
              </a:r>
            </a:p>
          </p:txBody>
        </p:sp>
        <p:sp>
          <p:nvSpPr>
            <p:cNvPr id="20547" name="Line 45"/>
            <p:cNvSpPr>
              <a:spLocks noChangeShapeType="1"/>
            </p:cNvSpPr>
            <p:nvPr/>
          </p:nvSpPr>
          <p:spPr bwMode="auto">
            <a:xfrm rot="9414433">
              <a:off x="2026" y="2674"/>
              <a:ext cx="161" cy="278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8" name="Rectangle 46"/>
            <p:cNvSpPr>
              <a:spLocks noChangeArrowheads="1"/>
            </p:cNvSpPr>
            <p:nvPr/>
          </p:nvSpPr>
          <p:spPr bwMode="auto">
            <a:xfrm>
              <a:off x="1313" y="2444"/>
              <a:ext cx="674" cy="2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A50021"/>
                  </a:solidFill>
                  <a:latin typeface="Albertus Extra Bold" pitchFamily="34" charset="0"/>
                </a:rPr>
                <a:t>2×</a:t>
              </a:r>
              <a:r>
                <a:rPr lang="en-US" altLang="zh-CN" sz="2000" dirty="0">
                  <a:solidFill>
                    <a:srgbClr val="A50021"/>
                  </a:solidFill>
                  <a:latin typeface="Albertus Extra Bold" pitchFamily="34" charset="0"/>
                  <a:sym typeface="SansSerif" pitchFamily="2" charset="2"/>
                </a:rPr>
                <a:t>10</a:t>
              </a:r>
            </a:p>
          </p:txBody>
        </p:sp>
        <p:sp>
          <p:nvSpPr>
            <p:cNvPr id="20549" name="Line 47"/>
            <p:cNvSpPr>
              <a:spLocks noChangeShapeType="1"/>
            </p:cNvSpPr>
            <p:nvPr/>
          </p:nvSpPr>
          <p:spPr bwMode="auto">
            <a:xfrm>
              <a:off x="1050" y="3220"/>
              <a:ext cx="0" cy="216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0" name="Line 48"/>
            <p:cNvSpPr>
              <a:spLocks noChangeShapeType="1"/>
            </p:cNvSpPr>
            <p:nvPr/>
          </p:nvSpPr>
          <p:spPr bwMode="auto">
            <a:xfrm>
              <a:off x="2105" y="3230"/>
              <a:ext cx="0" cy="216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1" name="Line 49"/>
            <p:cNvSpPr>
              <a:spLocks noChangeShapeType="1"/>
            </p:cNvSpPr>
            <p:nvPr/>
          </p:nvSpPr>
          <p:spPr bwMode="auto">
            <a:xfrm>
              <a:off x="1049" y="3383"/>
              <a:ext cx="1056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2" name="Rectangle 50"/>
            <p:cNvSpPr>
              <a:spLocks noChangeArrowheads="1"/>
            </p:cNvSpPr>
            <p:nvPr/>
          </p:nvSpPr>
          <p:spPr bwMode="auto">
            <a:xfrm>
              <a:off x="1423" y="3186"/>
              <a:ext cx="3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A50021"/>
                  </a:solidFill>
                  <a:latin typeface="Albertus Extra Bold" pitchFamily="34" charset="0"/>
                </a:rPr>
                <a:t>36</a:t>
              </a:r>
            </a:p>
          </p:txBody>
        </p:sp>
        <p:sp>
          <p:nvSpPr>
            <p:cNvPr id="20553" name="Rectangle 51"/>
            <p:cNvSpPr>
              <a:spLocks noChangeArrowheads="1"/>
            </p:cNvSpPr>
            <p:nvPr/>
          </p:nvSpPr>
          <p:spPr bwMode="auto">
            <a:xfrm>
              <a:off x="252" y="2932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A50021"/>
                  </a:solidFill>
                  <a:latin typeface="Albertus Extra Bold" pitchFamily="34" charset="0"/>
                </a:rPr>
                <a:t>R12</a:t>
              </a:r>
            </a:p>
          </p:txBody>
        </p:sp>
        <p:sp>
          <p:nvSpPr>
            <p:cNvPr id="20554" name="Line 52"/>
            <p:cNvSpPr>
              <a:spLocks noChangeShapeType="1"/>
            </p:cNvSpPr>
            <p:nvPr/>
          </p:nvSpPr>
          <p:spPr bwMode="auto">
            <a:xfrm>
              <a:off x="1390" y="2657"/>
              <a:ext cx="523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5" name="Line 53"/>
            <p:cNvSpPr>
              <a:spLocks noChangeShapeType="1"/>
            </p:cNvSpPr>
            <p:nvPr/>
          </p:nvSpPr>
          <p:spPr bwMode="auto">
            <a:xfrm flipH="1" flipV="1">
              <a:off x="1903" y="2657"/>
              <a:ext cx="88" cy="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6" name="Line 54"/>
            <p:cNvSpPr>
              <a:spLocks noChangeShapeType="1"/>
            </p:cNvSpPr>
            <p:nvPr/>
          </p:nvSpPr>
          <p:spPr bwMode="auto">
            <a:xfrm flipH="1">
              <a:off x="756" y="2807"/>
              <a:ext cx="293" cy="235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7" name="Line 55"/>
            <p:cNvSpPr>
              <a:spLocks noChangeShapeType="1"/>
            </p:cNvSpPr>
            <p:nvPr/>
          </p:nvSpPr>
          <p:spPr bwMode="auto">
            <a:xfrm flipH="1">
              <a:off x="624" y="3038"/>
              <a:ext cx="132" cy="108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8" name="Line 56"/>
            <p:cNvSpPr>
              <a:spLocks noChangeShapeType="1"/>
            </p:cNvSpPr>
            <p:nvPr/>
          </p:nvSpPr>
          <p:spPr bwMode="auto">
            <a:xfrm flipH="1">
              <a:off x="290" y="3148"/>
              <a:ext cx="331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9" name="Line 57"/>
            <p:cNvSpPr>
              <a:spLocks noChangeShapeType="1"/>
            </p:cNvSpPr>
            <p:nvPr/>
          </p:nvSpPr>
          <p:spPr bwMode="auto">
            <a:xfrm flipV="1">
              <a:off x="2133" y="2246"/>
              <a:ext cx="0" cy="16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0" name="Line 58"/>
            <p:cNvSpPr>
              <a:spLocks noChangeShapeType="1"/>
            </p:cNvSpPr>
            <p:nvPr/>
          </p:nvSpPr>
          <p:spPr bwMode="auto">
            <a:xfrm>
              <a:off x="2132" y="2053"/>
              <a:ext cx="0" cy="192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7147" name="Text Box 59"/>
          <p:cNvSpPr txBox="1">
            <a:spLocks noChangeArrowheads="1"/>
          </p:cNvSpPr>
          <p:nvPr/>
        </p:nvSpPr>
        <p:spPr bwMode="auto">
          <a:xfrm>
            <a:off x="1231016" y="105127"/>
            <a:ext cx="64246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66"/>
                </a:solidFill>
                <a:ea typeface="隶书" pitchFamily="49" charset="-122"/>
              </a:rPr>
              <a:t>尺寸标注的基本规则和内容</a:t>
            </a:r>
          </a:p>
        </p:txBody>
      </p:sp>
      <p:sp>
        <p:nvSpPr>
          <p:cNvPr id="217148" name="Line 60"/>
          <p:cNvSpPr>
            <a:spLocks noChangeShapeType="1"/>
          </p:cNvSpPr>
          <p:nvPr/>
        </p:nvSpPr>
        <p:spPr bwMode="auto">
          <a:xfrm flipH="1" flipV="1">
            <a:off x="1568450" y="1815925"/>
            <a:ext cx="663575" cy="1228725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49" name="Text Box 61" descr="紫色网格"/>
          <p:cNvSpPr txBox="1">
            <a:spLocks noChangeArrowheads="1"/>
          </p:cNvSpPr>
          <p:nvPr/>
        </p:nvSpPr>
        <p:spPr bwMode="auto">
          <a:xfrm>
            <a:off x="436563" y="1255537"/>
            <a:ext cx="1525587" cy="5794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bg1"/>
                </a:solidFill>
                <a:ea typeface="黑体" pitchFamily="2" charset="-122"/>
              </a:rPr>
              <a:t>尺寸线</a:t>
            </a:r>
          </a:p>
        </p:txBody>
      </p:sp>
      <p:sp>
        <p:nvSpPr>
          <p:cNvPr id="217150" name="Line 62"/>
          <p:cNvSpPr>
            <a:spLocks noChangeShapeType="1"/>
          </p:cNvSpPr>
          <p:nvPr/>
        </p:nvSpPr>
        <p:spPr bwMode="auto">
          <a:xfrm flipV="1">
            <a:off x="4119563" y="2650950"/>
            <a:ext cx="874712" cy="60325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51" name="Text Box 63" descr="紫色网格"/>
          <p:cNvSpPr txBox="1">
            <a:spLocks noChangeArrowheads="1"/>
          </p:cNvSpPr>
          <p:nvPr/>
        </p:nvSpPr>
        <p:spPr bwMode="auto">
          <a:xfrm>
            <a:off x="4765675" y="2206450"/>
            <a:ext cx="1897063" cy="57943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bg1"/>
                </a:solidFill>
                <a:ea typeface="黑体" pitchFamily="2" charset="-122"/>
              </a:rPr>
              <a:t>尺寸界线</a:t>
            </a:r>
          </a:p>
        </p:txBody>
      </p:sp>
      <p:sp>
        <p:nvSpPr>
          <p:cNvPr id="217154" name="Line 66"/>
          <p:cNvSpPr>
            <a:spLocks noChangeShapeType="1"/>
          </p:cNvSpPr>
          <p:nvPr/>
        </p:nvSpPr>
        <p:spPr bwMode="auto">
          <a:xfrm>
            <a:off x="2604294" y="5005213"/>
            <a:ext cx="475456" cy="795337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55" name="Text Box 67" descr="紫色网格"/>
          <p:cNvSpPr txBox="1">
            <a:spLocks noChangeArrowheads="1"/>
          </p:cNvSpPr>
          <p:nvPr/>
        </p:nvSpPr>
        <p:spPr bwMode="auto">
          <a:xfrm>
            <a:off x="2675292" y="5611108"/>
            <a:ext cx="1879600" cy="57943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bg1"/>
                </a:solidFill>
                <a:ea typeface="黑体" pitchFamily="2" charset="-122"/>
              </a:rPr>
              <a:t>尺寸数字</a:t>
            </a:r>
          </a:p>
        </p:txBody>
      </p:sp>
      <p:sp>
        <p:nvSpPr>
          <p:cNvPr id="217156" name="Text Box 68"/>
          <p:cNvSpPr txBox="1">
            <a:spLocks noChangeArrowheads="1"/>
          </p:cNvSpPr>
          <p:nvPr/>
        </p:nvSpPr>
        <p:spPr bwMode="auto">
          <a:xfrm>
            <a:off x="1914525" y="1028525"/>
            <a:ext cx="6764338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Marlett" pitchFamily="2" charset="2"/>
              </a:rPr>
              <a:t></a:t>
            </a:r>
            <a:r>
              <a:rPr lang="zh-CN" altLang="en-US" sz="2000" dirty="0">
                <a:sym typeface="Marlett" pitchFamily="2" charset="2"/>
              </a:rPr>
              <a:t>两端带有箭头的细实线，画至尺寸界线</a:t>
            </a:r>
            <a:r>
              <a:rPr lang="en-US" altLang="zh-CN" sz="2000" dirty="0">
                <a:sym typeface="Marlett" pitchFamily="2" charset="2"/>
              </a:rPr>
              <a:t>; </a:t>
            </a:r>
          </a:p>
          <a:p>
            <a:pPr algn="l">
              <a:defRPr/>
            </a:pPr>
            <a:r>
              <a:rPr lang="en-US" altLang="zh-CN" sz="2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Marlett" pitchFamily="2" charset="2"/>
              </a:rPr>
              <a:t></a:t>
            </a:r>
            <a:r>
              <a:rPr lang="zh-CN" altLang="en-US" sz="2000" dirty="0">
                <a:sym typeface="Marlett" pitchFamily="2" charset="2"/>
              </a:rPr>
              <a:t>平行所注线段</a:t>
            </a:r>
            <a:r>
              <a:rPr lang="en-US" altLang="zh-CN" sz="2000" dirty="0">
                <a:sym typeface="Marlett" pitchFamily="2" charset="2"/>
              </a:rPr>
              <a:t>;</a:t>
            </a:r>
          </a:p>
          <a:p>
            <a:pPr algn="l">
              <a:defRPr/>
            </a:pPr>
            <a:r>
              <a:rPr lang="en-US" altLang="zh-CN" sz="2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Marlett" pitchFamily="2" charset="2"/>
              </a:rPr>
              <a:t></a:t>
            </a:r>
            <a:r>
              <a:rPr lang="zh-CN" altLang="en-US" sz="2000" dirty="0">
                <a:sym typeface="Marlett" pitchFamily="2" charset="2"/>
              </a:rPr>
              <a:t>不能用其它线代替，或与其重合，或在其延长线上。</a:t>
            </a:r>
          </a:p>
        </p:txBody>
      </p:sp>
      <p:sp>
        <p:nvSpPr>
          <p:cNvPr id="217157" name="Text Box 69"/>
          <p:cNvSpPr txBox="1">
            <a:spLocks noChangeArrowheads="1"/>
          </p:cNvSpPr>
          <p:nvPr/>
        </p:nvSpPr>
        <p:spPr bwMode="auto">
          <a:xfrm>
            <a:off x="6623050" y="2162000"/>
            <a:ext cx="19716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Marlett" pitchFamily="2" charset="2"/>
              </a:rPr>
              <a:t></a:t>
            </a:r>
            <a:r>
              <a:rPr lang="zh-CN" altLang="en-US" sz="2000" dirty="0">
                <a:sym typeface="Marlett" pitchFamily="2" charset="2"/>
              </a:rPr>
              <a:t>细实线</a:t>
            </a:r>
            <a:r>
              <a:rPr lang="en-US" altLang="zh-CN" sz="2000" dirty="0">
                <a:sym typeface="Marlett" pitchFamily="2" charset="2"/>
              </a:rPr>
              <a:t>;</a:t>
            </a:r>
          </a:p>
          <a:p>
            <a:pPr algn="l">
              <a:defRPr/>
            </a:pPr>
            <a:r>
              <a:rPr lang="en-US" altLang="zh-CN" sz="2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Marlett" pitchFamily="2" charset="2"/>
              </a:rPr>
              <a:t></a:t>
            </a:r>
            <a:r>
              <a:rPr lang="zh-CN" altLang="en-US" sz="2000" dirty="0">
                <a:sym typeface="Marlett" pitchFamily="2" charset="2"/>
              </a:rPr>
              <a:t>垂直于尺寸线。</a:t>
            </a:r>
          </a:p>
        </p:txBody>
      </p:sp>
      <p:sp>
        <p:nvSpPr>
          <p:cNvPr id="217158" name="Arc 70"/>
          <p:cNvSpPr>
            <a:spLocks/>
          </p:cNvSpPr>
          <p:nvPr/>
        </p:nvSpPr>
        <p:spPr bwMode="auto">
          <a:xfrm flipV="1">
            <a:off x="2807919" y="2832628"/>
            <a:ext cx="339725" cy="339725"/>
          </a:xfrm>
          <a:custGeom>
            <a:avLst/>
            <a:gdLst>
              <a:gd name="T0" fmla="*/ 2147483647 w 43200"/>
              <a:gd name="T1" fmla="*/ 2147483647 h 43200"/>
              <a:gd name="T2" fmla="*/ 2147483647 w 43200"/>
              <a:gd name="T3" fmla="*/ 2147483647 h 43200"/>
              <a:gd name="T4" fmla="*/ 2147483647 w 43200"/>
              <a:gd name="T5" fmla="*/ 2147483647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41263" y="30537"/>
                </a:moveTo>
                <a:cubicBezTo>
                  <a:pt x="37758" y="38249"/>
                  <a:pt x="3007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43200" stroke="0" extrusionOk="0">
                <a:moveTo>
                  <a:pt x="41263" y="30537"/>
                </a:moveTo>
                <a:cubicBezTo>
                  <a:pt x="37758" y="38249"/>
                  <a:pt x="3007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41263" y="30537"/>
                </a:lnTo>
                <a:close/>
              </a:path>
            </a:pathLst>
          </a:cu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59" name="Line 71"/>
          <p:cNvSpPr>
            <a:spLocks noChangeShapeType="1"/>
          </p:cNvSpPr>
          <p:nvPr/>
        </p:nvSpPr>
        <p:spPr bwMode="auto">
          <a:xfrm flipH="1">
            <a:off x="3017822" y="2850267"/>
            <a:ext cx="420687" cy="15240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60" name="Text Box 72"/>
          <p:cNvSpPr txBox="1">
            <a:spLocks noChangeArrowheads="1"/>
          </p:cNvSpPr>
          <p:nvPr/>
        </p:nvSpPr>
        <p:spPr bwMode="auto">
          <a:xfrm>
            <a:off x="3412756" y="2603498"/>
            <a:ext cx="5699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2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2~3</a:t>
            </a:r>
            <a:endParaRPr lang="en-US" altLang="zh-CN" sz="2000" dirty="0">
              <a:solidFill>
                <a:srgbClr val="A50021"/>
              </a:solidFill>
            </a:endParaRPr>
          </a:p>
        </p:txBody>
      </p:sp>
      <p:sp>
        <p:nvSpPr>
          <p:cNvPr id="217162" name="Line 74"/>
          <p:cNvSpPr>
            <a:spLocks noChangeShapeType="1"/>
          </p:cNvSpPr>
          <p:nvPr/>
        </p:nvSpPr>
        <p:spPr bwMode="auto">
          <a:xfrm>
            <a:off x="6884634" y="1255537"/>
            <a:ext cx="466725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164" name="Text Box 76"/>
          <p:cNvSpPr txBox="1">
            <a:spLocks noChangeArrowheads="1"/>
          </p:cNvSpPr>
          <p:nvPr/>
        </p:nvSpPr>
        <p:spPr bwMode="auto">
          <a:xfrm>
            <a:off x="7407450" y="921631"/>
            <a:ext cx="1589794" cy="707886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/>
              <a:t>长</a:t>
            </a:r>
            <a:r>
              <a:rPr lang="en-US" altLang="zh-CN" sz="2000" dirty="0"/>
              <a:t>6</a:t>
            </a:r>
            <a:r>
              <a:rPr lang="zh-CN" altLang="en-US" sz="2000" dirty="0"/>
              <a:t>宽</a:t>
            </a:r>
            <a:r>
              <a:rPr lang="en-US" altLang="zh-CN" sz="2000" dirty="0"/>
              <a:t>1</a:t>
            </a:r>
            <a:r>
              <a:rPr lang="zh-CN" altLang="en-US" sz="2000" dirty="0"/>
              <a:t>的</a:t>
            </a:r>
            <a:endParaRPr lang="en-US" altLang="zh-CN" sz="20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/>
              <a:t>实心箭头</a:t>
            </a:r>
            <a:endParaRPr lang="en-US" altLang="zh-CN" sz="2000" dirty="0"/>
          </a:p>
        </p:txBody>
      </p:sp>
      <p:sp>
        <p:nvSpPr>
          <p:cNvPr id="217165" name="Text Box 77"/>
          <p:cNvSpPr txBox="1">
            <a:spLocks noChangeArrowheads="1"/>
          </p:cNvSpPr>
          <p:nvPr/>
        </p:nvSpPr>
        <p:spPr bwMode="auto">
          <a:xfrm>
            <a:off x="4505503" y="4658427"/>
            <a:ext cx="45847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Marlett" pitchFamily="2" charset="2"/>
              </a:rPr>
              <a:t></a:t>
            </a:r>
            <a:r>
              <a:rPr lang="en-US" altLang="zh-CN" sz="2000" dirty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Marlett" pitchFamily="2" charset="2"/>
              </a:rPr>
              <a:t> </a:t>
            </a:r>
            <a:r>
              <a:rPr lang="zh-CN" altLang="en-US" sz="2000" dirty="0">
                <a:sym typeface="Marlett" pitchFamily="2" charset="2"/>
              </a:rPr>
              <a:t>为物体的实际尺寸</a:t>
            </a:r>
            <a:r>
              <a:rPr lang="en-US" altLang="zh-CN" sz="2000" dirty="0">
                <a:sym typeface="Marlett" pitchFamily="2" charset="2"/>
              </a:rPr>
              <a:t>,</a:t>
            </a:r>
            <a:r>
              <a:rPr lang="zh-CN" altLang="en-US" sz="2000" dirty="0">
                <a:sym typeface="Marlett" pitchFamily="2" charset="2"/>
              </a:rPr>
              <a:t>与绘图比例无关</a:t>
            </a:r>
            <a:r>
              <a:rPr lang="en-US" altLang="zh-CN" sz="2000" dirty="0">
                <a:sym typeface="Marlett" pitchFamily="2" charset="2"/>
              </a:rPr>
              <a:t>;</a:t>
            </a:r>
          </a:p>
          <a:p>
            <a:pPr algn="l">
              <a:defRPr/>
            </a:pPr>
            <a:r>
              <a:rPr lang="en-US" altLang="zh-CN" sz="2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Marlett" pitchFamily="2" charset="2"/>
              </a:rPr>
              <a:t></a:t>
            </a:r>
            <a:r>
              <a:rPr lang="zh-CN" altLang="en-US" sz="2000" dirty="0"/>
              <a:t>单位</a:t>
            </a:r>
            <a:r>
              <a:rPr lang="en-US" altLang="zh-CN" sz="2000" dirty="0"/>
              <a:t>:mm</a:t>
            </a:r>
            <a:r>
              <a:rPr lang="zh-CN" altLang="en-US" sz="2000" dirty="0"/>
              <a:t>，不标注</a:t>
            </a:r>
            <a:r>
              <a:rPr lang="en-US" altLang="zh-CN" sz="2000" dirty="0"/>
              <a:t>;</a:t>
            </a:r>
          </a:p>
          <a:p>
            <a:pPr algn="l">
              <a:defRPr/>
            </a:pPr>
            <a:r>
              <a:rPr lang="en-US" altLang="zh-CN" sz="2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Marlett" pitchFamily="2" charset="2"/>
              </a:rPr>
              <a:t></a:t>
            </a:r>
            <a:r>
              <a:rPr lang="zh-CN" altLang="en-US" sz="2000" dirty="0"/>
              <a:t>工程字</a:t>
            </a:r>
            <a:r>
              <a:rPr lang="en-US" altLang="zh-CN" sz="2000" dirty="0"/>
              <a:t>:3.5</a:t>
            </a:r>
            <a:r>
              <a:rPr lang="zh-CN" altLang="en-US" sz="2000" dirty="0"/>
              <a:t>号，全图一致</a:t>
            </a:r>
            <a:r>
              <a:rPr lang="en-US" altLang="zh-CN" sz="2000" dirty="0"/>
              <a:t>;</a:t>
            </a:r>
          </a:p>
          <a:p>
            <a:pPr algn="l">
              <a:defRPr/>
            </a:pPr>
            <a:r>
              <a:rPr lang="en-US" altLang="zh-CN" sz="2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Marlett" pitchFamily="2" charset="2"/>
              </a:rPr>
              <a:t></a:t>
            </a:r>
            <a:r>
              <a:rPr lang="zh-CN" altLang="en-US" sz="2000" dirty="0">
                <a:solidFill>
                  <a:srgbClr val="FF0000"/>
                </a:solidFill>
              </a:rPr>
              <a:t>任何图线不能通过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algn="l">
              <a:defRPr/>
            </a:pPr>
            <a:r>
              <a:rPr lang="en-US" altLang="zh-CN" sz="2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Marlett" pitchFamily="2" charset="2"/>
              </a:rPr>
              <a:t></a:t>
            </a:r>
            <a:r>
              <a:rPr lang="zh-CN" altLang="en-US" sz="2000" dirty="0"/>
              <a:t>一般注写在尺寸线的上方；</a:t>
            </a:r>
            <a:endParaRPr lang="en-US" altLang="zh-CN" sz="2000" dirty="0"/>
          </a:p>
          <a:p>
            <a:pPr algn="l">
              <a:defRPr/>
            </a:pPr>
            <a:r>
              <a:rPr lang="en-US" altLang="zh-CN" sz="2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Marlett" pitchFamily="2" charset="2"/>
              </a:rPr>
              <a:t></a:t>
            </a:r>
            <a:r>
              <a:rPr lang="zh-CN" altLang="en-US" sz="2000" dirty="0"/>
              <a:t>允许注写在尺寸线的中断处。</a:t>
            </a:r>
          </a:p>
        </p:txBody>
      </p:sp>
      <p:grpSp>
        <p:nvGrpSpPr>
          <p:cNvPr id="6" name="Group 78"/>
          <p:cNvGrpSpPr>
            <a:grpSpLocks/>
          </p:cNvGrpSpPr>
          <p:nvPr/>
        </p:nvGrpSpPr>
        <p:grpSpPr bwMode="auto">
          <a:xfrm>
            <a:off x="1065213" y="3093862"/>
            <a:ext cx="2838450" cy="339725"/>
            <a:chOff x="1344" y="3240"/>
            <a:chExt cx="1788" cy="214"/>
          </a:xfrm>
        </p:grpSpPr>
        <p:sp>
          <p:nvSpPr>
            <p:cNvPr id="20509" name="Line 79"/>
            <p:cNvSpPr>
              <a:spLocks noChangeShapeType="1"/>
            </p:cNvSpPr>
            <p:nvPr/>
          </p:nvSpPr>
          <p:spPr bwMode="auto">
            <a:xfrm>
              <a:off x="1344" y="3344"/>
              <a:ext cx="178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0" name="Line 80"/>
            <p:cNvSpPr>
              <a:spLocks noChangeShapeType="1"/>
            </p:cNvSpPr>
            <p:nvPr/>
          </p:nvSpPr>
          <p:spPr bwMode="auto">
            <a:xfrm flipH="1">
              <a:off x="1960" y="3240"/>
              <a:ext cx="173" cy="21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1" name="Line 81"/>
            <p:cNvSpPr>
              <a:spLocks noChangeShapeType="1"/>
            </p:cNvSpPr>
            <p:nvPr/>
          </p:nvSpPr>
          <p:spPr bwMode="auto">
            <a:xfrm>
              <a:off x="1973" y="3240"/>
              <a:ext cx="160" cy="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7170" name="Rectangle 82"/>
          <p:cNvSpPr>
            <a:spLocks noChangeArrowheads="1"/>
          </p:cNvSpPr>
          <p:nvPr/>
        </p:nvSpPr>
        <p:spPr bwMode="auto">
          <a:xfrm>
            <a:off x="489653" y="290865"/>
            <a:ext cx="460375" cy="369887"/>
          </a:xfrm>
          <a:prstGeom prst="rect">
            <a:avLst/>
          </a:prstGeom>
          <a:gradFill rotWithShape="0">
            <a:gsLst>
              <a:gs pos="0">
                <a:srgbClr val="54292A"/>
              </a:gs>
              <a:gs pos="50000">
                <a:srgbClr val="FF7C80"/>
              </a:gs>
              <a:gs pos="100000">
                <a:srgbClr val="54292A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7" name="Group 83"/>
          <p:cNvGrpSpPr>
            <a:grpSpLocks/>
          </p:cNvGrpSpPr>
          <p:nvPr/>
        </p:nvGrpSpPr>
        <p:grpSpPr bwMode="auto">
          <a:xfrm>
            <a:off x="1066800" y="3090687"/>
            <a:ext cx="2838450" cy="339725"/>
            <a:chOff x="1344" y="3240"/>
            <a:chExt cx="1788" cy="214"/>
          </a:xfrm>
        </p:grpSpPr>
        <p:sp>
          <p:nvSpPr>
            <p:cNvPr id="20506" name="Line 84"/>
            <p:cNvSpPr>
              <a:spLocks noChangeShapeType="1"/>
            </p:cNvSpPr>
            <p:nvPr/>
          </p:nvSpPr>
          <p:spPr bwMode="auto">
            <a:xfrm>
              <a:off x="1344" y="3344"/>
              <a:ext cx="178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7" name="Line 85"/>
            <p:cNvSpPr>
              <a:spLocks noChangeShapeType="1"/>
            </p:cNvSpPr>
            <p:nvPr/>
          </p:nvSpPr>
          <p:spPr bwMode="auto">
            <a:xfrm flipH="1">
              <a:off x="1960" y="3240"/>
              <a:ext cx="173" cy="21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8" name="Line 86"/>
            <p:cNvSpPr>
              <a:spLocks noChangeShapeType="1"/>
            </p:cNvSpPr>
            <p:nvPr/>
          </p:nvSpPr>
          <p:spPr bwMode="auto">
            <a:xfrm>
              <a:off x="1973" y="3240"/>
              <a:ext cx="160" cy="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17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17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217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21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1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21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21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17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217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75"/>
                                        <p:tgtEl>
                                          <p:spTgt spid="21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1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1" dur="500"/>
                                        <p:tgtEl>
                                          <p:spTgt spid="21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75"/>
                                        <p:tgtEl>
                                          <p:spTgt spid="21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147" grpId="0" autoUpdateAnimBg="0"/>
      <p:bldP spid="217148" grpId="0" animBg="1"/>
      <p:bldP spid="217149" grpId="0" animBg="1" autoUpdateAnimBg="0"/>
      <p:bldP spid="217150" grpId="0" animBg="1"/>
      <p:bldP spid="217151" grpId="0" animBg="1" autoUpdateAnimBg="0"/>
      <p:bldP spid="217154" grpId="0" animBg="1"/>
      <p:bldP spid="217155" grpId="0" animBg="1" autoUpdateAnimBg="0"/>
      <p:bldP spid="217156" grpId="0" autoUpdateAnimBg="0"/>
      <p:bldP spid="217157" grpId="0" autoUpdateAnimBg="0"/>
      <p:bldP spid="217158" grpId="0" animBg="1"/>
      <p:bldP spid="217159" grpId="0" animBg="1"/>
      <p:bldP spid="217160" grpId="0" autoUpdateAnimBg="0"/>
      <p:bldP spid="217162" grpId="0" animBg="1"/>
      <p:bldP spid="217164" grpId="0" animBg="1" autoUpdateAnimBg="0"/>
      <p:bldP spid="217165" grpId="0" autoUpdateAnimBg="0"/>
      <p:bldP spid="21717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2288761C-5129-4242-8838-11F656A742CB}" type="slidenum">
              <a:rPr lang="en-US" altLang="zh-CN" sz="1400" smtClean="0">
                <a:solidFill>
                  <a:srgbClr val="578963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6</a:t>
            </a:fld>
            <a:endParaRPr lang="en-US" altLang="zh-CN" sz="1400">
              <a:solidFill>
                <a:srgbClr val="578963"/>
              </a:solidFill>
            </a:endParaRPr>
          </a:p>
        </p:txBody>
      </p:sp>
      <p:sp>
        <p:nvSpPr>
          <p:cNvPr id="221186" name="Freeform 2" descr="蓝色砂纸"/>
          <p:cNvSpPr>
            <a:spLocks/>
          </p:cNvSpPr>
          <p:nvPr/>
        </p:nvSpPr>
        <p:spPr bwMode="auto">
          <a:xfrm>
            <a:off x="5137150" y="4676775"/>
            <a:ext cx="808038" cy="865188"/>
          </a:xfrm>
          <a:custGeom>
            <a:avLst/>
            <a:gdLst>
              <a:gd name="T0" fmla="*/ 0 w 618"/>
              <a:gd name="T1" fmla="*/ 2147483647 h 473"/>
              <a:gd name="T2" fmla="*/ 2147483647 w 618"/>
              <a:gd name="T3" fmla="*/ 0 h 473"/>
              <a:gd name="T4" fmla="*/ 2147483647 w 618"/>
              <a:gd name="T5" fmla="*/ 2147483647 h 473"/>
              <a:gd name="T6" fmla="*/ 0 w 618"/>
              <a:gd name="T7" fmla="*/ 2147483647 h 47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18" h="473">
                <a:moveTo>
                  <a:pt x="0" y="473"/>
                </a:moveTo>
                <a:lnTo>
                  <a:pt x="618" y="0"/>
                </a:lnTo>
                <a:lnTo>
                  <a:pt x="164" y="455"/>
                </a:lnTo>
                <a:lnTo>
                  <a:pt x="0" y="473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bg2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>
              <a:solidFill>
                <a:srgbClr val="333333"/>
              </a:solidFill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03288" y="1903413"/>
            <a:ext cx="3398837" cy="2571750"/>
            <a:chOff x="605" y="928"/>
            <a:chExt cx="2141" cy="1620"/>
          </a:xfrm>
        </p:grpSpPr>
        <p:sp>
          <p:nvSpPr>
            <p:cNvPr id="21552" name="Line 4"/>
            <p:cNvSpPr>
              <a:spLocks noChangeShapeType="1"/>
            </p:cNvSpPr>
            <p:nvPr/>
          </p:nvSpPr>
          <p:spPr bwMode="auto">
            <a:xfrm>
              <a:off x="1199" y="1576"/>
              <a:ext cx="0" cy="319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53" name="Line 5"/>
            <p:cNvSpPr>
              <a:spLocks noChangeShapeType="1"/>
            </p:cNvSpPr>
            <p:nvPr/>
          </p:nvSpPr>
          <p:spPr bwMode="auto">
            <a:xfrm>
              <a:off x="1190" y="1900"/>
              <a:ext cx="667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54" name="Line 6"/>
            <p:cNvSpPr>
              <a:spLocks noChangeShapeType="1"/>
            </p:cNvSpPr>
            <p:nvPr/>
          </p:nvSpPr>
          <p:spPr bwMode="auto">
            <a:xfrm>
              <a:off x="1839" y="1584"/>
              <a:ext cx="581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55" name="Line 7"/>
            <p:cNvSpPr>
              <a:spLocks noChangeShapeType="1"/>
            </p:cNvSpPr>
            <p:nvPr/>
          </p:nvSpPr>
          <p:spPr bwMode="auto">
            <a:xfrm flipH="1">
              <a:off x="605" y="2396"/>
              <a:ext cx="1811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56" name="Line 8"/>
            <p:cNvSpPr>
              <a:spLocks noChangeShapeType="1"/>
            </p:cNvSpPr>
            <p:nvPr/>
          </p:nvSpPr>
          <p:spPr bwMode="auto">
            <a:xfrm flipV="1">
              <a:off x="613" y="1578"/>
              <a:ext cx="0" cy="82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57" name="Line 9"/>
            <p:cNvSpPr>
              <a:spLocks noChangeShapeType="1"/>
            </p:cNvSpPr>
            <p:nvPr/>
          </p:nvSpPr>
          <p:spPr bwMode="auto">
            <a:xfrm>
              <a:off x="1523" y="1473"/>
              <a:ext cx="0" cy="1075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58" name="Line 10"/>
            <p:cNvSpPr>
              <a:spLocks noChangeShapeType="1"/>
            </p:cNvSpPr>
            <p:nvPr/>
          </p:nvSpPr>
          <p:spPr bwMode="auto">
            <a:xfrm>
              <a:off x="608" y="1584"/>
              <a:ext cx="590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59" name="Line 11"/>
            <p:cNvSpPr>
              <a:spLocks noChangeShapeType="1"/>
            </p:cNvSpPr>
            <p:nvPr/>
          </p:nvSpPr>
          <p:spPr bwMode="auto">
            <a:xfrm flipV="1">
              <a:off x="2405" y="1586"/>
              <a:ext cx="0" cy="805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60" name="Line 12"/>
            <p:cNvSpPr>
              <a:spLocks noChangeShapeType="1"/>
            </p:cNvSpPr>
            <p:nvPr/>
          </p:nvSpPr>
          <p:spPr bwMode="auto">
            <a:xfrm flipV="1">
              <a:off x="1837" y="1299"/>
              <a:ext cx="0" cy="269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61" name="Line 13"/>
            <p:cNvSpPr>
              <a:spLocks noChangeShapeType="1"/>
            </p:cNvSpPr>
            <p:nvPr/>
          </p:nvSpPr>
          <p:spPr bwMode="auto">
            <a:xfrm>
              <a:off x="1197" y="1354"/>
              <a:ext cx="635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62" name="Line 14"/>
            <p:cNvSpPr>
              <a:spLocks noChangeShapeType="1"/>
            </p:cNvSpPr>
            <p:nvPr/>
          </p:nvSpPr>
          <p:spPr bwMode="auto">
            <a:xfrm>
              <a:off x="615" y="1122"/>
              <a:ext cx="1786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63" name="Line 15"/>
            <p:cNvSpPr>
              <a:spLocks noChangeShapeType="1"/>
            </p:cNvSpPr>
            <p:nvPr/>
          </p:nvSpPr>
          <p:spPr bwMode="auto">
            <a:xfrm flipV="1">
              <a:off x="2407" y="1052"/>
              <a:ext cx="0" cy="504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64" name="Line 16"/>
            <p:cNvSpPr>
              <a:spLocks noChangeShapeType="1"/>
            </p:cNvSpPr>
            <p:nvPr/>
          </p:nvSpPr>
          <p:spPr bwMode="auto">
            <a:xfrm>
              <a:off x="1857" y="1902"/>
              <a:ext cx="275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65" name="Line 17"/>
            <p:cNvSpPr>
              <a:spLocks noChangeShapeType="1"/>
            </p:cNvSpPr>
            <p:nvPr/>
          </p:nvSpPr>
          <p:spPr bwMode="auto">
            <a:xfrm>
              <a:off x="2426" y="2394"/>
              <a:ext cx="320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66" name="Line 18"/>
            <p:cNvSpPr>
              <a:spLocks noChangeShapeType="1"/>
            </p:cNvSpPr>
            <p:nvPr/>
          </p:nvSpPr>
          <p:spPr bwMode="auto">
            <a:xfrm>
              <a:off x="2068" y="1575"/>
              <a:ext cx="0" cy="333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67" name="Line 19"/>
            <p:cNvSpPr>
              <a:spLocks noChangeShapeType="1"/>
            </p:cNvSpPr>
            <p:nvPr/>
          </p:nvSpPr>
          <p:spPr bwMode="auto">
            <a:xfrm>
              <a:off x="2665" y="1575"/>
              <a:ext cx="0" cy="82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68" name="Text Box 20"/>
            <p:cNvSpPr txBox="1">
              <a:spLocks noChangeArrowheads="1"/>
            </p:cNvSpPr>
            <p:nvPr/>
          </p:nvSpPr>
          <p:spPr bwMode="auto">
            <a:xfrm>
              <a:off x="1330" y="928"/>
              <a:ext cx="3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A50021"/>
                  </a:solidFill>
                  <a:latin typeface="Albertus Extra Bold" pitchFamily="34" charset="0"/>
                </a:rPr>
                <a:t>25</a:t>
              </a:r>
            </a:p>
          </p:txBody>
        </p:sp>
        <p:sp>
          <p:nvSpPr>
            <p:cNvPr id="21569" name="Text Box 21"/>
            <p:cNvSpPr txBox="1">
              <a:spLocks noChangeArrowheads="1"/>
            </p:cNvSpPr>
            <p:nvPr/>
          </p:nvSpPr>
          <p:spPr bwMode="auto">
            <a:xfrm>
              <a:off x="1351" y="1163"/>
              <a:ext cx="3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A50021"/>
                  </a:solidFill>
                  <a:latin typeface="Albertus Extra Bold" pitchFamily="34" charset="0"/>
                </a:rPr>
                <a:t>10</a:t>
              </a:r>
            </a:p>
          </p:txBody>
        </p:sp>
        <p:sp>
          <p:nvSpPr>
            <p:cNvPr id="21570" name="Text Box 22"/>
            <p:cNvSpPr txBox="1">
              <a:spLocks noChangeArrowheads="1"/>
            </p:cNvSpPr>
            <p:nvPr/>
          </p:nvSpPr>
          <p:spPr bwMode="auto">
            <a:xfrm rot="-5400000">
              <a:off x="1885" y="1596"/>
              <a:ext cx="22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A50021"/>
                  </a:solidFill>
                  <a:latin typeface="Albertus Extra Bold" pitchFamily="34" charset="0"/>
                </a:rPr>
                <a:t>5</a:t>
              </a:r>
            </a:p>
          </p:txBody>
        </p:sp>
        <p:sp>
          <p:nvSpPr>
            <p:cNvPr id="21571" name="Text Box 23"/>
            <p:cNvSpPr txBox="1">
              <a:spLocks noChangeArrowheads="1"/>
            </p:cNvSpPr>
            <p:nvPr/>
          </p:nvSpPr>
          <p:spPr bwMode="auto">
            <a:xfrm rot="-5344930">
              <a:off x="2430" y="1876"/>
              <a:ext cx="3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A50021"/>
                  </a:solidFill>
                  <a:latin typeface="Albertus Extra Bold" pitchFamily="34" charset="0"/>
                </a:rPr>
                <a:t>12</a:t>
              </a:r>
            </a:p>
          </p:txBody>
        </p:sp>
        <p:sp>
          <p:nvSpPr>
            <p:cNvPr id="21572" name="Line 24"/>
            <p:cNvSpPr>
              <a:spLocks noChangeShapeType="1"/>
            </p:cNvSpPr>
            <p:nvPr/>
          </p:nvSpPr>
          <p:spPr bwMode="auto">
            <a:xfrm flipV="1">
              <a:off x="1842" y="1578"/>
              <a:ext cx="0" cy="324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73" name="Line 25"/>
            <p:cNvSpPr>
              <a:spLocks noChangeShapeType="1"/>
            </p:cNvSpPr>
            <p:nvPr/>
          </p:nvSpPr>
          <p:spPr bwMode="auto">
            <a:xfrm flipV="1">
              <a:off x="612" y="1056"/>
              <a:ext cx="0" cy="516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74" name="Line 26"/>
            <p:cNvSpPr>
              <a:spLocks noChangeShapeType="1"/>
            </p:cNvSpPr>
            <p:nvPr/>
          </p:nvSpPr>
          <p:spPr bwMode="auto">
            <a:xfrm flipV="1">
              <a:off x="1200" y="1284"/>
              <a:ext cx="0" cy="288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75" name="Line 27"/>
            <p:cNvSpPr>
              <a:spLocks noChangeShapeType="1"/>
            </p:cNvSpPr>
            <p:nvPr/>
          </p:nvSpPr>
          <p:spPr bwMode="auto">
            <a:xfrm>
              <a:off x="2418" y="1578"/>
              <a:ext cx="300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</p:grpSp>
      <p:sp>
        <p:nvSpPr>
          <p:cNvPr id="221212" name="Text Box 28"/>
          <p:cNvSpPr txBox="1">
            <a:spLocks noChangeArrowheads="1"/>
          </p:cNvSpPr>
          <p:nvPr/>
        </p:nvSpPr>
        <p:spPr bwMode="auto">
          <a:xfrm>
            <a:off x="1279525" y="274638"/>
            <a:ext cx="38528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solidFill>
                  <a:srgbClr val="333333"/>
                </a:solidFill>
                <a:ea typeface="黑体" pitchFamily="2" charset="-122"/>
              </a:rPr>
              <a:t>各种尺寸的注法</a:t>
            </a:r>
          </a:p>
        </p:txBody>
      </p:sp>
      <p:sp>
        <p:nvSpPr>
          <p:cNvPr id="221213" name="Text Box 29" descr="紫色网格"/>
          <p:cNvSpPr txBox="1">
            <a:spLocks noChangeArrowheads="1"/>
          </p:cNvSpPr>
          <p:nvPr/>
        </p:nvSpPr>
        <p:spPr bwMode="auto">
          <a:xfrm>
            <a:off x="692150" y="1103313"/>
            <a:ext cx="1887538" cy="579437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A9BDA9"/>
                </a:solidFill>
                <a:ea typeface="黑体" pitchFamily="2" charset="-122"/>
              </a:rPr>
              <a:t>线性尺寸</a:t>
            </a:r>
          </a:p>
        </p:txBody>
      </p:sp>
      <p:sp>
        <p:nvSpPr>
          <p:cNvPr id="221214" name="Line 30"/>
          <p:cNvSpPr>
            <a:spLocks noChangeShapeType="1"/>
          </p:cNvSpPr>
          <p:nvPr/>
        </p:nvSpPr>
        <p:spPr bwMode="auto">
          <a:xfrm>
            <a:off x="4894263" y="3608388"/>
            <a:ext cx="962025" cy="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221215" name="Text Box 31"/>
          <p:cNvSpPr txBox="1">
            <a:spLocks noChangeArrowheads="1"/>
          </p:cNvSpPr>
          <p:nvPr/>
        </p:nvSpPr>
        <p:spPr bwMode="auto">
          <a:xfrm>
            <a:off x="5080000" y="315595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</a:rPr>
              <a:t>20</a:t>
            </a:r>
          </a:p>
        </p:txBody>
      </p:sp>
      <p:sp>
        <p:nvSpPr>
          <p:cNvPr id="221216" name="Line 32"/>
          <p:cNvSpPr>
            <a:spLocks noChangeShapeType="1"/>
          </p:cNvSpPr>
          <p:nvPr/>
        </p:nvSpPr>
        <p:spPr bwMode="auto">
          <a:xfrm rot="-5400000">
            <a:off x="5629275" y="2701925"/>
            <a:ext cx="1004888" cy="1588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221217" name="Line 33"/>
          <p:cNvSpPr>
            <a:spLocks noChangeShapeType="1"/>
          </p:cNvSpPr>
          <p:nvPr/>
        </p:nvSpPr>
        <p:spPr bwMode="auto">
          <a:xfrm rot="-2648442">
            <a:off x="6346825" y="2928938"/>
            <a:ext cx="989013" cy="1587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221218" name="Line 34"/>
          <p:cNvSpPr>
            <a:spLocks noChangeShapeType="1"/>
          </p:cNvSpPr>
          <p:nvPr/>
        </p:nvSpPr>
        <p:spPr bwMode="auto">
          <a:xfrm>
            <a:off x="6564313" y="3605213"/>
            <a:ext cx="1076325" cy="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221219" name="Line 35"/>
          <p:cNvSpPr>
            <a:spLocks noChangeShapeType="1"/>
          </p:cNvSpPr>
          <p:nvPr/>
        </p:nvSpPr>
        <p:spPr bwMode="auto">
          <a:xfrm rot="5400000">
            <a:off x="5727700" y="4467225"/>
            <a:ext cx="992188" cy="1588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221220" name="Line 36"/>
          <p:cNvSpPr>
            <a:spLocks noChangeShapeType="1"/>
          </p:cNvSpPr>
          <p:nvPr/>
        </p:nvSpPr>
        <p:spPr bwMode="auto">
          <a:xfrm rot="2122547">
            <a:off x="4997450" y="2981325"/>
            <a:ext cx="985838" cy="96838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221221" name="Text Box 37"/>
          <p:cNvSpPr txBox="1">
            <a:spLocks noChangeArrowheads="1"/>
          </p:cNvSpPr>
          <p:nvPr/>
        </p:nvSpPr>
        <p:spPr bwMode="auto">
          <a:xfrm rot="-5420576">
            <a:off x="5687219" y="2383632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</a:rPr>
              <a:t>20</a:t>
            </a:r>
          </a:p>
        </p:txBody>
      </p:sp>
      <p:sp>
        <p:nvSpPr>
          <p:cNvPr id="221222" name="Text Box 38"/>
          <p:cNvSpPr txBox="1">
            <a:spLocks noChangeArrowheads="1"/>
          </p:cNvSpPr>
          <p:nvPr/>
        </p:nvSpPr>
        <p:spPr bwMode="auto">
          <a:xfrm rot="2344883">
            <a:off x="5322888" y="26082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</a:rPr>
              <a:t>20</a:t>
            </a:r>
          </a:p>
        </p:txBody>
      </p:sp>
      <p:sp>
        <p:nvSpPr>
          <p:cNvPr id="221223" name="Text Box 39"/>
          <p:cNvSpPr txBox="1">
            <a:spLocks noChangeArrowheads="1"/>
          </p:cNvSpPr>
          <p:nvPr/>
        </p:nvSpPr>
        <p:spPr bwMode="auto">
          <a:xfrm>
            <a:off x="6826250" y="317500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</a:rPr>
              <a:t>20</a:t>
            </a:r>
          </a:p>
        </p:txBody>
      </p:sp>
      <p:sp>
        <p:nvSpPr>
          <p:cNvPr id="221224" name="Text Box 40"/>
          <p:cNvSpPr txBox="1">
            <a:spLocks noChangeArrowheads="1"/>
          </p:cNvSpPr>
          <p:nvPr/>
        </p:nvSpPr>
        <p:spPr bwMode="auto">
          <a:xfrm rot="-2725263">
            <a:off x="6458744" y="2515394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</a:rPr>
              <a:t>20</a:t>
            </a:r>
          </a:p>
        </p:txBody>
      </p:sp>
      <p:sp>
        <p:nvSpPr>
          <p:cNvPr id="221225" name="Text Box 41"/>
          <p:cNvSpPr txBox="1">
            <a:spLocks noChangeArrowheads="1"/>
          </p:cNvSpPr>
          <p:nvPr/>
        </p:nvSpPr>
        <p:spPr bwMode="auto">
          <a:xfrm rot="2652817">
            <a:off x="6762750" y="391001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</a:rPr>
              <a:t>20</a:t>
            </a:r>
          </a:p>
        </p:txBody>
      </p:sp>
      <p:sp>
        <p:nvSpPr>
          <p:cNvPr id="221226" name="Text Box 42"/>
          <p:cNvSpPr txBox="1">
            <a:spLocks noChangeArrowheads="1"/>
          </p:cNvSpPr>
          <p:nvPr/>
        </p:nvSpPr>
        <p:spPr bwMode="auto">
          <a:xfrm rot="-2449074">
            <a:off x="5159375" y="384175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</a:rPr>
              <a:t>20</a:t>
            </a:r>
          </a:p>
        </p:txBody>
      </p:sp>
      <p:sp>
        <p:nvSpPr>
          <p:cNvPr id="221227" name="Line 43"/>
          <p:cNvSpPr>
            <a:spLocks noChangeShapeType="1"/>
          </p:cNvSpPr>
          <p:nvPr/>
        </p:nvSpPr>
        <p:spPr bwMode="auto">
          <a:xfrm rot="-2799368">
            <a:off x="5053013" y="4197350"/>
            <a:ext cx="1008062" cy="1588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221228" name="Line 44"/>
          <p:cNvSpPr>
            <a:spLocks noChangeShapeType="1"/>
          </p:cNvSpPr>
          <p:nvPr/>
        </p:nvSpPr>
        <p:spPr bwMode="auto">
          <a:xfrm rot="2501167">
            <a:off x="6411913" y="4259263"/>
            <a:ext cx="960437" cy="41275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221229" name="Text Box 45"/>
          <p:cNvSpPr txBox="1">
            <a:spLocks noChangeArrowheads="1"/>
          </p:cNvSpPr>
          <p:nvPr/>
        </p:nvSpPr>
        <p:spPr bwMode="auto">
          <a:xfrm rot="-5400000">
            <a:off x="5766594" y="4204494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</a:rPr>
              <a:t>20</a:t>
            </a:r>
          </a:p>
        </p:txBody>
      </p:sp>
      <p:sp>
        <p:nvSpPr>
          <p:cNvPr id="221230" name="Text Box 46" descr="紫色网格"/>
          <p:cNvSpPr txBox="1">
            <a:spLocks noChangeArrowheads="1"/>
          </p:cNvSpPr>
          <p:nvPr/>
        </p:nvSpPr>
        <p:spPr bwMode="auto">
          <a:xfrm>
            <a:off x="4160838" y="1214438"/>
            <a:ext cx="41941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280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注意尺寸数字注写方法</a:t>
            </a:r>
          </a:p>
        </p:txBody>
      </p:sp>
      <p:sp>
        <p:nvSpPr>
          <p:cNvPr id="221231" name="AutoShape 47" descr="蓝色砂纸"/>
          <p:cNvSpPr>
            <a:spLocks noChangeArrowheads="1"/>
          </p:cNvSpPr>
          <p:nvPr/>
        </p:nvSpPr>
        <p:spPr bwMode="auto">
          <a:xfrm>
            <a:off x="4422775" y="5132388"/>
            <a:ext cx="2752725" cy="979487"/>
          </a:xfrm>
          <a:prstGeom prst="wedgeRectCallout">
            <a:avLst>
              <a:gd name="adj1" fmla="val 27449"/>
              <a:gd name="adj2" fmla="val -14991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800">
              <a:solidFill>
                <a:srgbClr val="99CCFF"/>
              </a:solidFill>
              <a:ea typeface="黑体" pitchFamily="2" charset="-122"/>
            </a:endParaRPr>
          </a:p>
        </p:txBody>
      </p:sp>
      <p:sp>
        <p:nvSpPr>
          <p:cNvPr id="221232" name="Text Box 48"/>
          <p:cNvSpPr txBox="1">
            <a:spLocks noChangeArrowheads="1"/>
          </p:cNvSpPr>
          <p:nvPr/>
        </p:nvSpPr>
        <p:spPr bwMode="auto">
          <a:xfrm>
            <a:off x="4598988" y="5200650"/>
            <a:ext cx="24542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注在尺寸线左方</a:t>
            </a:r>
          </a:p>
          <a:p>
            <a:pPr algn="l">
              <a:defRPr/>
            </a:pPr>
            <a:r>
              <a:rPr lang="zh-CN" altLang="en-US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字头朝左</a:t>
            </a:r>
            <a:endParaRPr lang="zh-CN" altLang="en-US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21233" name="AutoShape 49" descr="蓝色砂纸"/>
          <p:cNvSpPr>
            <a:spLocks noChangeArrowheads="1"/>
          </p:cNvSpPr>
          <p:nvPr/>
        </p:nvSpPr>
        <p:spPr bwMode="auto">
          <a:xfrm>
            <a:off x="574675" y="5038725"/>
            <a:ext cx="2794000" cy="962025"/>
          </a:xfrm>
          <a:prstGeom prst="wedgeRectCallout">
            <a:avLst>
              <a:gd name="adj1" fmla="val 118523"/>
              <a:gd name="adj2" fmla="val -12475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800">
              <a:solidFill>
                <a:srgbClr val="333333"/>
              </a:solidFill>
            </a:endParaRPr>
          </a:p>
        </p:txBody>
      </p:sp>
      <p:sp>
        <p:nvSpPr>
          <p:cNvPr id="221234" name="Text Box 50"/>
          <p:cNvSpPr txBox="1">
            <a:spLocks noChangeArrowheads="1"/>
          </p:cNvSpPr>
          <p:nvPr/>
        </p:nvSpPr>
        <p:spPr bwMode="auto">
          <a:xfrm>
            <a:off x="619125" y="5097463"/>
            <a:ext cx="26955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注在尺寸线上方</a:t>
            </a:r>
          </a:p>
          <a:p>
            <a:pPr algn="l">
              <a:defRPr/>
            </a:pPr>
            <a:r>
              <a:rPr lang="zh-CN" altLang="en-US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字头朝上</a:t>
            </a:r>
            <a:endParaRPr lang="zh-CN" altLang="en-US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5510213" y="2084388"/>
            <a:ext cx="1389062" cy="2916237"/>
            <a:chOff x="3693" y="1147"/>
            <a:chExt cx="1041" cy="2186"/>
          </a:xfrm>
        </p:grpSpPr>
        <p:sp>
          <p:nvSpPr>
            <p:cNvPr id="21550" name="Freeform 52" descr="浅色下对角线"/>
            <p:cNvSpPr>
              <a:spLocks/>
            </p:cNvSpPr>
            <p:nvPr/>
          </p:nvSpPr>
          <p:spPr bwMode="auto">
            <a:xfrm>
              <a:off x="3693" y="1147"/>
              <a:ext cx="466" cy="987"/>
            </a:xfrm>
            <a:custGeom>
              <a:avLst/>
              <a:gdLst>
                <a:gd name="T0" fmla="*/ 466 w 466"/>
                <a:gd name="T1" fmla="*/ 66 h 987"/>
                <a:gd name="T2" fmla="*/ 466 w 466"/>
                <a:gd name="T3" fmla="*/ 987 h 987"/>
                <a:gd name="T4" fmla="*/ 0 w 466"/>
                <a:gd name="T5" fmla="*/ 160 h 987"/>
                <a:gd name="T6" fmla="*/ 93 w 466"/>
                <a:gd name="T7" fmla="*/ 53 h 987"/>
                <a:gd name="T8" fmla="*/ 186 w 466"/>
                <a:gd name="T9" fmla="*/ 40 h 987"/>
                <a:gd name="T10" fmla="*/ 280 w 466"/>
                <a:gd name="T11" fmla="*/ 0 h 987"/>
                <a:gd name="T12" fmla="*/ 373 w 466"/>
                <a:gd name="T13" fmla="*/ 13 h 987"/>
                <a:gd name="T14" fmla="*/ 466 w 466"/>
                <a:gd name="T15" fmla="*/ 66 h 9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66"/>
                <a:gd name="T25" fmla="*/ 0 h 987"/>
                <a:gd name="T26" fmla="*/ 466 w 466"/>
                <a:gd name="T27" fmla="*/ 987 h 98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66" h="987">
                  <a:moveTo>
                    <a:pt x="466" y="66"/>
                  </a:moveTo>
                  <a:cubicBezTo>
                    <a:pt x="456" y="380"/>
                    <a:pt x="466" y="672"/>
                    <a:pt x="466" y="987"/>
                  </a:cubicBezTo>
                  <a:lnTo>
                    <a:pt x="0" y="160"/>
                  </a:lnTo>
                  <a:lnTo>
                    <a:pt x="93" y="53"/>
                  </a:lnTo>
                  <a:lnTo>
                    <a:pt x="186" y="40"/>
                  </a:lnTo>
                  <a:lnTo>
                    <a:pt x="280" y="0"/>
                  </a:lnTo>
                  <a:cubicBezTo>
                    <a:pt x="346" y="16"/>
                    <a:pt x="315" y="13"/>
                    <a:pt x="373" y="13"/>
                  </a:cubicBezTo>
                  <a:lnTo>
                    <a:pt x="466" y="66"/>
                  </a:lnTo>
                  <a:close/>
                </a:path>
              </a:pathLst>
            </a:custGeom>
            <a:pattFill prst="ltDnDiag">
              <a:fgClr>
                <a:schemeClr val="accent2"/>
              </a:fgClr>
              <a:bgClr>
                <a:srgbClr val="FFFFFF"/>
              </a:bgClr>
            </a:patt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  <p:sp>
          <p:nvSpPr>
            <p:cNvPr id="21551" name="Freeform 53" descr="浅色下对角线"/>
            <p:cNvSpPr>
              <a:spLocks/>
            </p:cNvSpPr>
            <p:nvPr/>
          </p:nvSpPr>
          <p:spPr bwMode="auto">
            <a:xfrm>
              <a:off x="4228" y="2319"/>
              <a:ext cx="506" cy="1014"/>
            </a:xfrm>
            <a:custGeom>
              <a:avLst/>
              <a:gdLst>
                <a:gd name="T0" fmla="*/ 506 w 506"/>
                <a:gd name="T1" fmla="*/ 880 h 1014"/>
                <a:gd name="T2" fmla="*/ 0 w 506"/>
                <a:gd name="T3" fmla="*/ 0 h 1014"/>
                <a:gd name="T4" fmla="*/ 0 w 506"/>
                <a:gd name="T5" fmla="*/ 987 h 1014"/>
                <a:gd name="T6" fmla="*/ 106 w 506"/>
                <a:gd name="T7" fmla="*/ 1014 h 1014"/>
                <a:gd name="T8" fmla="*/ 226 w 506"/>
                <a:gd name="T9" fmla="*/ 1014 h 1014"/>
                <a:gd name="T10" fmla="*/ 346 w 506"/>
                <a:gd name="T11" fmla="*/ 974 h 1014"/>
                <a:gd name="T12" fmla="*/ 453 w 506"/>
                <a:gd name="T13" fmla="*/ 947 h 1014"/>
                <a:gd name="T14" fmla="*/ 506 w 506"/>
                <a:gd name="T15" fmla="*/ 880 h 10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6"/>
                <a:gd name="T25" fmla="*/ 0 h 1014"/>
                <a:gd name="T26" fmla="*/ 506 w 506"/>
                <a:gd name="T27" fmla="*/ 1014 h 101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6" h="1014">
                  <a:moveTo>
                    <a:pt x="506" y="880"/>
                  </a:moveTo>
                  <a:lnTo>
                    <a:pt x="0" y="0"/>
                  </a:lnTo>
                  <a:lnTo>
                    <a:pt x="0" y="987"/>
                  </a:lnTo>
                  <a:lnTo>
                    <a:pt x="106" y="1014"/>
                  </a:lnTo>
                  <a:lnTo>
                    <a:pt x="226" y="1014"/>
                  </a:lnTo>
                  <a:lnTo>
                    <a:pt x="346" y="974"/>
                  </a:lnTo>
                  <a:lnTo>
                    <a:pt x="453" y="947"/>
                  </a:lnTo>
                  <a:lnTo>
                    <a:pt x="506" y="880"/>
                  </a:lnTo>
                  <a:close/>
                </a:path>
              </a:pathLst>
            </a:custGeom>
            <a:pattFill prst="ltDnDiag">
              <a:fgClr>
                <a:schemeClr val="accent2"/>
              </a:fgClr>
              <a:bgClr>
                <a:srgbClr val="FFFFFF"/>
              </a:bgClr>
            </a:patt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333333"/>
                </a:solidFill>
              </a:endParaRPr>
            </a:p>
          </p:txBody>
        </p:sp>
      </p:grpSp>
      <p:sp>
        <p:nvSpPr>
          <p:cNvPr id="221238" name="Line 54"/>
          <p:cNvSpPr>
            <a:spLocks noChangeShapeType="1"/>
          </p:cNvSpPr>
          <p:nvPr/>
        </p:nvSpPr>
        <p:spPr bwMode="auto">
          <a:xfrm rot="4016875">
            <a:off x="7426326" y="2717800"/>
            <a:ext cx="868362" cy="1587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221239" name="Line 55"/>
          <p:cNvSpPr>
            <a:spLocks noChangeShapeType="1"/>
          </p:cNvSpPr>
          <p:nvPr/>
        </p:nvSpPr>
        <p:spPr bwMode="auto">
          <a:xfrm flipV="1">
            <a:off x="7872413" y="2482850"/>
            <a:ext cx="228600" cy="217488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221240" name="Line 56"/>
          <p:cNvSpPr>
            <a:spLocks noChangeShapeType="1"/>
          </p:cNvSpPr>
          <p:nvPr/>
        </p:nvSpPr>
        <p:spPr bwMode="auto">
          <a:xfrm>
            <a:off x="8088313" y="2493963"/>
            <a:ext cx="487362" cy="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221241" name="Text Box 57"/>
          <p:cNvSpPr txBox="1">
            <a:spLocks noChangeArrowheads="1"/>
          </p:cNvSpPr>
          <p:nvPr/>
        </p:nvSpPr>
        <p:spPr bwMode="auto">
          <a:xfrm>
            <a:off x="8039100" y="2046288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</a:rPr>
              <a:t>20</a:t>
            </a:r>
          </a:p>
        </p:txBody>
      </p:sp>
      <p:sp>
        <p:nvSpPr>
          <p:cNvPr id="221242" name="Text Box 58"/>
          <p:cNvSpPr txBox="1">
            <a:spLocks noChangeArrowheads="1"/>
          </p:cNvSpPr>
          <p:nvPr/>
        </p:nvSpPr>
        <p:spPr bwMode="auto">
          <a:xfrm rot="5400000">
            <a:off x="6044407" y="2388393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</a:rPr>
              <a:t>20</a:t>
            </a:r>
          </a:p>
        </p:txBody>
      </p:sp>
      <p:sp>
        <p:nvSpPr>
          <p:cNvPr id="221243" name="Line 59"/>
          <p:cNvSpPr>
            <a:spLocks noChangeShapeType="1"/>
          </p:cNvSpPr>
          <p:nvPr/>
        </p:nvSpPr>
        <p:spPr bwMode="auto">
          <a:xfrm flipH="1">
            <a:off x="6103938" y="2519363"/>
            <a:ext cx="338137" cy="33813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221244" name="Line 60"/>
          <p:cNvSpPr>
            <a:spLocks noChangeShapeType="1"/>
          </p:cNvSpPr>
          <p:nvPr/>
        </p:nvSpPr>
        <p:spPr bwMode="auto">
          <a:xfrm rot="16831549" flipH="1">
            <a:off x="6132513" y="2511425"/>
            <a:ext cx="338138" cy="33813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333333"/>
              </a:solidFill>
            </a:endParaRPr>
          </a:p>
        </p:txBody>
      </p:sp>
      <p:sp>
        <p:nvSpPr>
          <p:cNvPr id="221245" name="Rectangle 61"/>
          <p:cNvSpPr>
            <a:spLocks noChangeArrowheads="1"/>
          </p:cNvSpPr>
          <p:nvPr/>
        </p:nvSpPr>
        <p:spPr bwMode="auto">
          <a:xfrm>
            <a:off x="609600" y="447675"/>
            <a:ext cx="460375" cy="352425"/>
          </a:xfrm>
          <a:prstGeom prst="rect">
            <a:avLst/>
          </a:prstGeom>
          <a:gradFill rotWithShape="0">
            <a:gsLst>
              <a:gs pos="0">
                <a:srgbClr val="472324"/>
              </a:gs>
              <a:gs pos="50000">
                <a:srgbClr val="FF7C80"/>
              </a:gs>
              <a:gs pos="100000">
                <a:srgbClr val="472324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333333"/>
              </a:solidFill>
            </a:endParaRPr>
          </a:p>
        </p:txBody>
      </p:sp>
      <p:grpSp>
        <p:nvGrpSpPr>
          <p:cNvPr id="4" name="Group 62"/>
          <p:cNvGrpSpPr>
            <a:grpSpLocks/>
          </p:cNvGrpSpPr>
          <p:nvPr/>
        </p:nvGrpSpPr>
        <p:grpSpPr bwMode="auto">
          <a:xfrm>
            <a:off x="5514975" y="2082800"/>
            <a:ext cx="1370013" cy="2876550"/>
            <a:chOff x="3474" y="1312"/>
            <a:chExt cx="863" cy="1812"/>
          </a:xfrm>
        </p:grpSpPr>
        <p:grpSp>
          <p:nvGrpSpPr>
            <p:cNvPr id="21542" name="Group 63"/>
            <p:cNvGrpSpPr>
              <a:grpSpLocks/>
            </p:cNvGrpSpPr>
            <p:nvPr/>
          </p:nvGrpSpPr>
          <p:grpSpPr bwMode="auto">
            <a:xfrm>
              <a:off x="3474" y="1312"/>
              <a:ext cx="863" cy="1812"/>
              <a:chOff x="3693" y="1147"/>
              <a:chExt cx="1041" cy="2186"/>
            </a:xfrm>
          </p:grpSpPr>
          <p:sp>
            <p:nvSpPr>
              <p:cNvPr id="21548" name="Freeform 64" descr="浅色下对角线"/>
              <p:cNvSpPr>
                <a:spLocks/>
              </p:cNvSpPr>
              <p:nvPr/>
            </p:nvSpPr>
            <p:spPr bwMode="auto">
              <a:xfrm>
                <a:off x="3693" y="1147"/>
                <a:ext cx="466" cy="987"/>
              </a:xfrm>
              <a:custGeom>
                <a:avLst/>
                <a:gdLst>
                  <a:gd name="T0" fmla="*/ 466 w 466"/>
                  <a:gd name="T1" fmla="*/ 66 h 987"/>
                  <a:gd name="T2" fmla="*/ 466 w 466"/>
                  <a:gd name="T3" fmla="*/ 987 h 987"/>
                  <a:gd name="T4" fmla="*/ 0 w 466"/>
                  <a:gd name="T5" fmla="*/ 160 h 987"/>
                  <a:gd name="T6" fmla="*/ 93 w 466"/>
                  <a:gd name="T7" fmla="*/ 53 h 987"/>
                  <a:gd name="T8" fmla="*/ 186 w 466"/>
                  <a:gd name="T9" fmla="*/ 40 h 987"/>
                  <a:gd name="T10" fmla="*/ 280 w 466"/>
                  <a:gd name="T11" fmla="*/ 0 h 987"/>
                  <a:gd name="T12" fmla="*/ 373 w 466"/>
                  <a:gd name="T13" fmla="*/ 13 h 987"/>
                  <a:gd name="T14" fmla="*/ 466 w 466"/>
                  <a:gd name="T15" fmla="*/ 66 h 9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66"/>
                  <a:gd name="T25" fmla="*/ 0 h 987"/>
                  <a:gd name="T26" fmla="*/ 466 w 466"/>
                  <a:gd name="T27" fmla="*/ 987 h 9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66" h="987">
                    <a:moveTo>
                      <a:pt x="466" y="66"/>
                    </a:moveTo>
                    <a:cubicBezTo>
                      <a:pt x="456" y="380"/>
                      <a:pt x="466" y="672"/>
                      <a:pt x="466" y="987"/>
                    </a:cubicBezTo>
                    <a:lnTo>
                      <a:pt x="0" y="160"/>
                    </a:lnTo>
                    <a:lnTo>
                      <a:pt x="93" y="53"/>
                    </a:lnTo>
                    <a:lnTo>
                      <a:pt x="186" y="40"/>
                    </a:lnTo>
                    <a:lnTo>
                      <a:pt x="280" y="0"/>
                    </a:lnTo>
                    <a:cubicBezTo>
                      <a:pt x="346" y="16"/>
                      <a:pt x="315" y="13"/>
                      <a:pt x="373" y="13"/>
                    </a:cubicBezTo>
                    <a:lnTo>
                      <a:pt x="466" y="66"/>
                    </a:lnTo>
                    <a:close/>
                  </a:path>
                </a:pathLst>
              </a:custGeom>
              <a:pattFill prst="ltDnDiag">
                <a:fgClr>
                  <a:schemeClr val="accent2"/>
                </a:fgClr>
                <a:bgClr>
                  <a:srgbClr val="FFFFFF"/>
                </a:bgClr>
              </a:pattFill>
              <a:ln w="95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rgbClr val="333333"/>
                  </a:solidFill>
                </a:endParaRPr>
              </a:p>
            </p:txBody>
          </p:sp>
          <p:sp>
            <p:nvSpPr>
              <p:cNvPr id="21549" name="Freeform 65" descr="浅色下对角线"/>
              <p:cNvSpPr>
                <a:spLocks/>
              </p:cNvSpPr>
              <p:nvPr/>
            </p:nvSpPr>
            <p:spPr bwMode="auto">
              <a:xfrm>
                <a:off x="4228" y="2319"/>
                <a:ext cx="506" cy="1014"/>
              </a:xfrm>
              <a:custGeom>
                <a:avLst/>
                <a:gdLst>
                  <a:gd name="T0" fmla="*/ 506 w 506"/>
                  <a:gd name="T1" fmla="*/ 880 h 1014"/>
                  <a:gd name="T2" fmla="*/ 0 w 506"/>
                  <a:gd name="T3" fmla="*/ 0 h 1014"/>
                  <a:gd name="T4" fmla="*/ 0 w 506"/>
                  <a:gd name="T5" fmla="*/ 987 h 1014"/>
                  <a:gd name="T6" fmla="*/ 106 w 506"/>
                  <a:gd name="T7" fmla="*/ 1014 h 1014"/>
                  <a:gd name="T8" fmla="*/ 226 w 506"/>
                  <a:gd name="T9" fmla="*/ 1014 h 1014"/>
                  <a:gd name="T10" fmla="*/ 346 w 506"/>
                  <a:gd name="T11" fmla="*/ 974 h 1014"/>
                  <a:gd name="T12" fmla="*/ 453 w 506"/>
                  <a:gd name="T13" fmla="*/ 947 h 1014"/>
                  <a:gd name="T14" fmla="*/ 506 w 506"/>
                  <a:gd name="T15" fmla="*/ 880 h 101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06"/>
                  <a:gd name="T25" fmla="*/ 0 h 1014"/>
                  <a:gd name="T26" fmla="*/ 506 w 506"/>
                  <a:gd name="T27" fmla="*/ 1014 h 101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06" h="1014">
                    <a:moveTo>
                      <a:pt x="506" y="880"/>
                    </a:moveTo>
                    <a:lnTo>
                      <a:pt x="0" y="0"/>
                    </a:lnTo>
                    <a:lnTo>
                      <a:pt x="0" y="987"/>
                    </a:lnTo>
                    <a:lnTo>
                      <a:pt x="106" y="1014"/>
                    </a:lnTo>
                    <a:lnTo>
                      <a:pt x="226" y="1014"/>
                    </a:lnTo>
                    <a:lnTo>
                      <a:pt x="346" y="974"/>
                    </a:lnTo>
                    <a:lnTo>
                      <a:pt x="453" y="947"/>
                    </a:lnTo>
                    <a:lnTo>
                      <a:pt x="506" y="880"/>
                    </a:lnTo>
                    <a:close/>
                  </a:path>
                </a:pathLst>
              </a:custGeom>
              <a:pattFill prst="ltDnDiag">
                <a:fgClr>
                  <a:schemeClr val="accent2"/>
                </a:fgClr>
                <a:bgClr>
                  <a:srgbClr val="FFFFFF"/>
                </a:bgClr>
              </a:pattFill>
              <a:ln w="95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rgbClr val="333333"/>
                  </a:solidFill>
                </a:endParaRPr>
              </a:p>
            </p:txBody>
          </p:sp>
        </p:grpSp>
        <p:grpSp>
          <p:nvGrpSpPr>
            <p:cNvPr id="21543" name="Group 66"/>
            <p:cNvGrpSpPr>
              <a:grpSpLocks/>
            </p:cNvGrpSpPr>
            <p:nvPr/>
          </p:nvGrpSpPr>
          <p:grpSpPr bwMode="auto">
            <a:xfrm>
              <a:off x="3487" y="1317"/>
              <a:ext cx="566" cy="456"/>
              <a:chOff x="3487" y="1317"/>
              <a:chExt cx="566" cy="456"/>
            </a:xfrm>
          </p:grpSpPr>
          <p:sp>
            <p:nvSpPr>
              <p:cNvPr id="21544" name="Text Box 67"/>
              <p:cNvSpPr txBox="1">
                <a:spLocks noChangeArrowheads="1"/>
              </p:cNvSpPr>
              <p:nvPr/>
            </p:nvSpPr>
            <p:spPr bwMode="auto">
              <a:xfrm>
                <a:off x="3487" y="1317"/>
                <a:ext cx="56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solidFill>
                      <a:srgbClr val="333333"/>
                    </a:solidFill>
                  </a:rPr>
                  <a:t>30°</a:t>
                </a:r>
              </a:p>
            </p:txBody>
          </p:sp>
          <p:sp>
            <p:nvSpPr>
              <p:cNvPr id="21545" name="Arc 68"/>
              <p:cNvSpPr>
                <a:spLocks/>
              </p:cNvSpPr>
              <p:nvPr/>
            </p:nvSpPr>
            <p:spPr bwMode="auto">
              <a:xfrm flipV="1">
                <a:off x="3595" y="1575"/>
                <a:ext cx="265" cy="198"/>
              </a:xfrm>
              <a:custGeom>
                <a:avLst/>
                <a:gdLst>
                  <a:gd name="T0" fmla="*/ 0 w 28971"/>
                  <a:gd name="T1" fmla="*/ 0 h 21600"/>
                  <a:gd name="T2" fmla="*/ 0 w 28971"/>
                  <a:gd name="T3" fmla="*/ 0 h 21600"/>
                  <a:gd name="T4" fmla="*/ 0 w 2897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8971"/>
                  <a:gd name="T10" fmla="*/ 0 h 21600"/>
                  <a:gd name="T11" fmla="*/ 28971 w 2897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971" h="21600" fill="none" extrusionOk="0">
                    <a:moveTo>
                      <a:pt x="28970" y="18799"/>
                    </a:moveTo>
                    <a:cubicBezTo>
                      <a:pt x="25726" y="20635"/>
                      <a:pt x="2206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28971" h="21600" stroke="0" extrusionOk="0">
                    <a:moveTo>
                      <a:pt x="28970" y="18799"/>
                    </a:moveTo>
                    <a:cubicBezTo>
                      <a:pt x="25726" y="20635"/>
                      <a:pt x="2206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lnTo>
                      <a:pt x="28970" y="18799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333333"/>
                  </a:solidFill>
                </a:endParaRPr>
              </a:p>
            </p:txBody>
          </p:sp>
          <p:sp>
            <p:nvSpPr>
              <p:cNvPr id="21546" name="Freeform 69"/>
              <p:cNvSpPr>
                <a:spLocks/>
              </p:cNvSpPr>
              <p:nvPr/>
            </p:nvSpPr>
            <p:spPr bwMode="auto">
              <a:xfrm>
                <a:off x="3591" y="1614"/>
                <a:ext cx="45" cy="54"/>
              </a:xfrm>
              <a:custGeom>
                <a:avLst/>
                <a:gdLst>
                  <a:gd name="T0" fmla="*/ 0 w 45"/>
                  <a:gd name="T1" fmla="*/ 54 h 54"/>
                  <a:gd name="T2" fmla="*/ 30 w 45"/>
                  <a:gd name="T3" fmla="*/ 0 h 54"/>
                  <a:gd name="T4" fmla="*/ 45 w 45"/>
                  <a:gd name="T5" fmla="*/ 15 h 54"/>
                  <a:gd name="T6" fmla="*/ 0 w 45"/>
                  <a:gd name="T7" fmla="*/ 54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54"/>
                  <a:gd name="T14" fmla="*/ 45 w 45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54">
                    <a:moveTo>
                      <a:pt x="0" y="54"/>
                    </a:moveTo>
                    <a:lnTo>
                      <a:pt x="30" y="0"/>
                    </a:lnTo>
                    <a:lnTo>
                      <a:pt x="45" y="15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rgbClr val="333333"/>
                  </a:solidFill>
                </a:endParaRPr>
              </a:p>
            </p:txBody>
          </p:sp>
          <p:sp>
            <p:nvSpPr>
              <p:cNvPr id="21547" name="Freeform 70"/>
              <p:cNvSpPr>
                <a:spLocks/>
              </p:cNvSpPr>
              <p:nvPr/>
            </p:nvSpPr>
            <p:spPr bwMode="auto">
              <a:xfrm>
                <a:off x="3800" y="1566"/>
                <a:ext cx="58" cy="33"/>
              </a:xfrm>
              <a:custGeom>
                <a:avLst/>
                <a:gdLst>
                  <a:gd name="T0" fmla="*/ 58 w 58"/>
                  <a:gd name="T1" fmla="*/ 33 h 33"/>
                  <a:gd name="T2" fmla="*/ 9 w 58"/>
                  <a:gd name="T3" fmla="*/ 0 h 33"/>
                  <a:gd name="T4" fmla="*/ 0 w 58"/>
                  <a:gd name="T5" fmla="*/ 21 h 33"/>
                  <a:gd name="T6" fmla="*/ 58 w 58"/>
                  <a:gd name="T7" fmla="*/ 33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"/>
                  <a:gd name="T13" fmla="*/ 0 h 33"/>
                  <a:gd name="T14" fmla="*/ 58 w 58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" h="33">
                    <a:moveTo>
                      <a:pt x="58" y="33"/>
                    </a:moveTo>
                    <a:lnTo>
                      <a:pt x="9" y="0"/>
                    </a:lnTo>
                    <a:lnTo>
                      <a:pt x="0" y="21"/>
                    </a:lnTo>
                    <a:lnTo>
                      <a:pt x="58" y="33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rgbClr val="333333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84796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22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22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2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2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2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2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2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2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75"/>
                                        <p:tgtEl>
                                          <p:spTgt spid="22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2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2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2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2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2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2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22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22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2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22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2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75"/>
                                        <p:tgtEl>
                                          <p:spTgt spid="22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22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2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22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 animBg="1"/>
      <p:bldP spid="221212" grpId="0" autoUpdateAnimBg="0"/>
      <p:bldP spid="221213" grpId="0" animBg="1" autoUpdateAnimBg="0"/>
      <p:bldP spid="221214" grpId="0" animBg="1"/>
      <p:bldP spid="221215" grpId="0" autoUpdateAnimBg="0"/>
      <p:bldP spid="221216" grpId="0" animBg="1"/>
      <p:bldP spid="221217" grpId="0" animBg="1"/>
      <p:bldP spid="221218" grpId="0" animBg="1"/>
      <p:bldP spid="221219" grpId="0" animBg="1"/>
      <p:bldP spid="221220" grpId="0" animBg="1"/>
      <p:bldP spid="221221" grpId="0" autoUpdateAnimBg="0"/>
      <p:bldP spid="221222" grpId="0" autoUpdateAnimBg="0"/>
      <p:bldP spid="221223" grpId="0" autoUpdateAnimBg="0"/>
      <p:bldP spid="221224" grpId="0" autoUpdateAnimBg="0"/>
      <p:bldP spid="221225" grpId="0" autoUpdateAnimBg="0"/>
      <p:bldP spid="221226" grpId="0" autoUpdateAnimBg="0"/>
      <p:bldP spid="221227" grpId="0" animBg="1"/>
      <p:bldP spid="221228" grpId="0" animBg="1"/>
      <p:bldP spid="221229" grpId="0" autoUpdateAnimBg="0"/>
      <p:bldP spid="221230" grpId="0" autoUpdateAnimBg="0"/>
      <p:bldP spid="221231" grpId="0" animBg="1" autoUpdateAnimBg="0"/>
      <p:bldP spid="221232" grpId="0" autoUpdateAnimBg="0"/>
      <p:bldP spid="221233" grpId="0" animBg="1" autoUpdateAnimBg="0"/>
      <p:bldP spid="221234" grpId="0" autoUpdateAnimBg="0"/>
      <p:bldP spid="221238" grpId="0" animBg="1"/>
      <p:bldP spid="221239" grpId="0" animBg="1"/>
      <p:bldP spid="221240" grpId="0" animBg="1"/>
      <p:bldP spid="221241" grpId="0" autoUpdateAnimBg="0"/>
      <p:bldP spid="221242" grpId="0" autoUpdateAnimBg="0"/>
      <p:bldP spid="221243" grpId="0" animBg="1"/>
      <p:bldP spid="221244" grpId="0" animBg="1"/>
      <p:bldP spid="22124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A735E28D-5DE0-4774-9C2A-5652B352079B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7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grpSp>
        <p:nvGrpSpPr>
          <p:cNvPr id="2" name="Group 71"/>
          <p:cNvGrpSpPr>
            <a:grpSpLocks/>
          </p:cNvGrpSpPr>
          <p:nvPr/>
        </p:nvGrpSpPr>
        <p:grpSpPr bwMode="auto">
          <a:xfrm>
            <a:off x="6554788" y="2755900"/>
            <a:ext cx="2063750" cy="1960563"/>
            <a:chOff x="720" y="893"/>
            <a:chExt cx="1320" cy="1254"/>
          </a:xfrm>
        </p:grpSpPr>
        <p:sp>
          <p:nvSpPr>
            <p:cNvPr id="22563" name="Oval 72"/>
            <p:cNvSpPr>
              <a:spLocks noChangeArrowheads="1"/>
            </p:cNvSpPr>
            <p:nvPr/>
          </p:nvSpPr>
          <p:spPr bwMode="auto">
            <a:xfrm>
              <a:off x="933" y="1053"/>
              <a:ext cx="933" cy="933"/>
            </a:xfrm>
            <a:prstGeom prst="ellipse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2564" name="Line 73"/>
            <p:cNvSpPr>
              <a:spLocks noChangeShapeType="1"/>
            </p:cNvSpPr>
            <p:nvPr/>
          </p:nvSpPr>
          <p:spPr bwMode="auto">
            <a:xfrm>
              <a:off x="720" y="1520"/>
              <a:ext cx="1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5" name="Line 74"/>
            <p:cNvSpPr>
              <a:spLocks noChangeShapeType="1"/>
            </p:cNvSpPr>
            <p:nvPr/>
          </p:nvSpPr>
          <p:spPr bwMode="auto">
            <a:xfrm>
              <a:off x="1400" y="893"/>
              <a:ext cx="0" cy="1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0235" name="Text Box 75" descr="紫色网格"/>
          <p:cNvSpPr txBox="1">
            <a:spLocks noChangeArrowheads="1"/>
          </p:cNvSpPr>
          <p:nvPr/>
        </p:nvSpPr>
        <p:spPr bwMode="auto">
          <a:xfrm>
            <a:off x="750888" y="296863"/>
            <a:ext cx="2297112" cy="6413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36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径</a:t>
            </a:r>
            <a:r>
              <a:rPr lang="zh-CN" altLang="en-US" sz="36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向尺寸</a:t>
            </a:r>
          </a:p>
        </p:txBody>
      </p:sp>
      <p:grpSp>
        <p:nvGrpSpPr>
          <p:cNvPr id="3" name="Group 76"/>
          <p:cNvGrpSpPr>
            <a:grpSpLocks/>
          </p:cNvGrpSpPr>
          <p:nvPr/>
        </p:nvGrpSpPr>
        <p:grpSpPr bwMode="auto">
          <a:xfrm>
            <a:off x="971550" y="2632075"/>
            <a:ext cx="2325688" cy="2209800"/>
            <a:chOff x="720" y="893"/>
            <a:chExt cx="1320" cy="1254"/>
          </a:xfrm>
        </p:grpSpPr>
        <p:sp>
          <p:nvSpPr>
            <p:cNvPr id="22560" name="Oval 77"/>
            <p:cNvSpPr>
              <a:spLocks noChangeArrowheads="1"/>
            </p:cNvSpPr>
            <p:nvPr/>
          </p:nvSpPr>
          <p:spPr bwMode="auto">
            <a:xfrm>
              <a:off x="933" y="1053"/>
              <a:ext cx="933" cy="933"/>
            </a:xfrm>
            <a:prstGeom prst="ellipse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2561" name="Line 78"/>
            <p:cNvSpPr>
              <a:spLocks noChangeShapeType="1"/>
            </p:cNvSpPr>
            <p:nvPr/>
          </p:nvSpPr>
          <p:spPr bwMode="auto">
            <a:xfrm>
              <a:off x="720" y="1520"/>
              <a:ext cx="1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2" name="Line 79"/>
            <p:cNvSpPr>
              <a:spLocks noChangeShapeType="1"/>
            </p:cNvSpPr>
            <p:nvPr/>
          </p:nvSpPr>
          <p:spPr bwMode="auto">
            <a:xfrm>
              <a:off x="1400" y="893"/>
              <a:ext cx="0" cy="1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0240" name="Text Box 80"/>
          <p:cNvSpPr txBox="1">
            <a:spLocks noChangeArrowheads="1"/>
          </p:cNvSpPr>
          <p:nvPr/>
        </p:nvSpPr>
        <p:spPr bwMode="auto">
          <a:xfrm rot="-2237145">
            <a:off x="1592263" y="3267075"/>
            <a:ext cx="925512" cy="519113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  <a:latin typeface="ISOCPEUR" pitchFamily="34" charset="0"/>
                <a:ea typeface="黑体" pitchFamily="2" charset="-122"/>
                <a:sym typeface="Romantic" pitchFamily="2" charset="2"/>
              </a:rPr>
              <a:t></a:t>
            </a:r>
            <a:r>
              <a:rPr lang="en-US" altLang="zh-CN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Romantic" pitchFamily="2" charset="2"/>
              </a:rPr>
              <a:t>20</a:t>
            </a:r>
            <a:endParaRPr lang="en-US" altLang="zh-CN" sz="2800">
              <a:solidFill>
                <a:srgbClr val="A50021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4" name="Group 81"/>
          <p:cNvGrpSpPr>
            <a:grpSpLocks/>
          </p:cNvGrpSpPr>
          <p:nvPr/>
        </p:nvGrpSpPr>
        <p:grpSpPr bwMode="auto">
          <a:xfrm>
            <a:off x="3673475" y="3254375"/>
            <a:ext cx="1206500" cy="1122363"/>
            <a:chOff x="2547" y="1320"/>
            <a:chExt cx="760" cy="707"/>
          </a:xfrm>
        </p:grpSpPr>
        <p:sp>
          <p:nvSpPr>
            <p:cNvPr id="22556" name="Oval 82"/>
            <p:cNvSpPr>
              <a:spLocks noChangeArrowheads="1"/>
            </p:cNvSpPr>
            <p:nvPr/>
          </p:nvSpPr>
          <p:spPr bwMode="auto">
            <a:xfrm>
              <a:off x="2680" y="1387"/>
              <a:ext cx="480" cy="480"/>
            </a:xfrm>
            <a:prstGeom prst="ellipse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grpSp>
          <p:nvGrpSpPr>
            <p:cNvPr id="22557" name="Group 83"/>
            <p:cNvGrpSpPr>
              <a:grpSpLocks/>
            </p:cNvGrpSpPr>
            <p:nvPr/>
          </p:nvGrpSpPr>
          <p:grpSpPr bwMode="auto">
            <a:xfrm>
              <a:off x="2547" y="1320"/>
              <a:ext cx="760" cy="707"/>
              <a:chOff x="2547" y="1320"/>
              <a:chExt cx="760" cy="707"/>
            </a:xfrm>
          </p:grpSpPr>
          <p:sp>
            <p:nvSpPr>
              <p:cNvPr id="22558" name="Line 84"/>
              <p:cNvSpPr>
                <a:spLocks noChangeShapeType="1"/>
              </p:cNvSpPr>
              <p:nvPr/>
            </p:nvSpPr>
            <p:spPr bwMode="auto">
              <a:xfrm>
                <a:off x="2547" y="1627"/>
                <a:ext cx="7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59" name="Line 85"/>
              <p:cNvSpPr>
                <a:spLocks noChangeShapeType="1"/>
              </p:cNvSpPr>
              <p:nvPr/>
            </p:nvSpPr>
            <p:spPr bwMode="auto">
              <a:xfrm>
                <a:off x="2919" y="1320"/>
                <a:ext cx="0" cy="7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20246" name="Line 86"/>
          <p:cNvSpPr>
            <a:spLocks noChangeShapeType="1"/>
          </p:cNvSpPr>
          <p:nvPr/>
        </p:nvSpPr>
        <p:spPr bwMode="auto">
          <a:xfrm flipV="1">
            <a:off x="3973513" y="3502025"/>
            <a:ext cx="600075" cy="477838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247" name="Text Box 87"/>
          <p:cNvSpPr txBox="1">
            <a:spLocks noChangeArrowheads="1"/>
          </p:cNvSpPr>
          <p:nvPr/>
        </p:nvSpPr>
        <p:spPr bwMode="auto">
          <a:xfrm rot="-2359148">
            <a:off x="4346575" y="2800350"/>
            <a:ext cx="862013" cy="5191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Romantic" pitchFamily="2" charset="2"/>
              </a:rPr>
              <a:t>10</a:t>
            </a:r>
            <a:endParaRPr lang="en-US" altLang="zh-CN" sz="2800">
              <a:solidFill>
                <a:srgbClr val="A5002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20248" name="Line 88"/>
          <p:cNvSpPr>
            <a:spLocks noChangeShapeType="1"/>
          </p:cNvSpPr>
          <p:nvPr/>
        </p:nvSpPr>
        <p:spPr bwMode="auto">
          <a:xfrm flipV="1">
            <a:off x="4568825" y="3006725"/>
            <a:ext cx="585788" cy="493713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89"/>
          <p:cNvGrpSpPr>
            <a:grpSpLocks/>
          </p:cNvGrpSpPr>
          <p:nvPr/>
        </p:nvGrpSpPr>
        <p:grpSpPr bwMode="auto">
          <a:xfrm>
            <a:off x="5375275" y="3438525"/>
            <a:ext cx="588963" cy="611188"/>
            <a:chOff x="3502" y="1366"/>
            <a:chExt cx="371" cy="385"/>
          </a:xfrm>
        </p:grpSpPr>
        <p:sp>
          <p:nvSpPr>
            <p:cNvPr id="22553" name="Oval 90"/>
            <p:cNvSpPr>
              <a:spLocks noChangeArrowheads="1"/>
            </p:cNvSpPr>
            <p:nvPr/>
          </p:nvSpPr>
          <p:spPr bwMode="auto">
            <a:xfrm>
              <a:off x="3604" y="1472"/>
              <a:ext cx="179" cy="192"/>
            </a:xfrm>
            <a:prstGeom prst="ellipse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2554" name="Line 91"/>
            <p:cNvSpPr>
              <a:spLocks noChangeShapeType="1"/>
            </p:cNvSpPr>
            <p:nvPr/>
          </p:nvSpPr>
          <p:spPr bwMode="auto">
            <a:xfrm>
              <a:off x="3502" y="1568"/>
              <a:ext cx="3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5" name="Line 92"/>
            <p:cNvSpPr>
              <a:spLocks noChangeShapeType="1"/>
            </p:cNvSpPr>
            <p:nvPr/>
          </p:nvSpPr>
          <p:spPr bwMode="auto">
            <a:xfrm>
              <a:off x="3692" y="1366"/>
              <a:ext cx="0" cy="3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0253" name="Line 93"/>
          <p:cNvSpPr>
            <a:spLocks noChangeShapeType="1"/>
          </p:cNvSpPr>
          <p:nvPr/>
        </p:nvSpPr>
        <p:spPr bwMode="auto">
          <a:xfrm flipV="1">
            <a:off x="5392738" y="3862388"/>
            <a:ext cx="187325" cy="182562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254" name="Text Box 94"/>
          <p:cNvSpPr txBox="1">
            <a:spLocks noChangeArrowheads="1"/>
          </p:cNvSpPr>
          <p:nvPr/>
        </p:nvSpPr>
        <p:spPr bwMode="auto">
          <a:xfrm rot="-2359148">
            <a:off x="5619750" y="2930525"/>
            <a:ext cx="723900" cy="5191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Romantic" pitchFamily="2" charset="2"/>
              </a:rPr>
              <a:t>5</a:t>
            </a:r>
            <a:endParaRPr lang="en-US" altLang="zh-CN" sz="2800">
              <a:solidFill>
                <a:srgbClr val="A5002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20255" name="Line 95"/>
          <p:cNvSpPr>
            <a:spLocks noChangeShapeType="1"/>
          </p:cNvSpPr>
          <p:nvPr/>
        </p:nvSpPr>
        <p:spPr bwMode="auto">
          <a:xfrm flipH="1">
            <a:off x="5778500" y="3228975"/>
            <a:ext cx="430213" cy="433388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256" name="Line 96"/>
          <p:cNvSpPr>
            <a:spLocks noChangeShapeType="1"/>
          </p:cNvSpPr>
          <p:nvPr/>
        </p:nvSpPr>
        <p:spPr bwMode="auto">
          <a:xfrm flipV="1">
            <a:off x="5567363" y="3665538"/>
            <a:ext cx="209550" cy="207962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257" name="AutoShape 97" descr="蓝色砂纸"/>
          <p:cNvSpPr>
            <a:spLocks noChangeArrowheads="1"/>
          </p:cNvSpPr>
          <p:nvPr/>
        </p:nvSpPr>
        <p:spPr bwMode="auto">
          <a:xfrm>
            <a:off x="595313" y="5127625"/>
            <a:ext cx="3622675" cy="1228725"/>
          </a:xfrm>
          <a:prstGeom prst="wedgeRoundRectCallout">
            <a:avLst>
              <a:gd name="adj1" fmla="val -19500"/>
              <a:gd name="adj2" fmla="val -86565"/>
              <a:gd name="adj3" fmla="val 16667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8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20258" name="Text Box 98"/>
          <p:cNvSpPr txBox="1">
            <a:spLocks noChangeArrowheads="1"/>
          </p:cNvSpPr>
          <p:nvPr/>
        </p:nvSpPr>
        <p:spPr bwMode="auto">
          <a:xfrm>
            <a:off x="684213" y="5224463"/>
            <a:ext cx="33972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尺寸数字不可被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任何图线通过</a:t>
            </a:r>
          </a:p>
        </p:txBody>
      </p:sp>
      <p:sp>
        <p:nvSpPr>
          <p:cNvPr id="220259" name="Text Box 99"/>
          <p:cNvSpPr txBox="1">
            <a:spLocks noChangeArrowheads="1"/>
          </p:cNvSpPr>
          <p:nvPr/>
        </p:nvSpPr>
        <p:spPr bwMode="auto">
          <a:xfrm>
            <a:off x="604838" y="1193800"/>
            <a:ext cx="2638425" cy="641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36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Marlett" pitchFamily="2" charset="2"/>
              </a:rPr>
              <a:t></a:t>
            </a:r>
            <a:r>
              <a:rPr lang="zh-CN" altLang="en-US" sz="360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Marlett" pitchFamily="2" charset="2"/>
              </a:rPr>
              <a:t>圆的直径</a:t>
            </a:r>
            <a:endParaRPr lang="zh-CN" altLang="en-US" sz="360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20260" name="Text Box 100"/>
          <p:cNvSpPr txBox="1">
            <a:spLocks noChangeArrowheads="1"/>
          </p:cNvSpPr>
          <p:nvPr/>
        </p:nvSpPr>
        <p:spPr bwMode="auto">
          <a:xfrm rot="-115713">
            <a:off x="7134225" y="3265488"/>
            <a:ext cx="906463" cy="519112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Romantic" pitchFamily="2" charset="2"/>
              </a:rPr>
              <a:t>20</a:t>
            </a:r>
            <a:endParaRPr lang="en-US" altLang="zh-CN" sz="2800">
              <a:solidFill>
                <a:srgbClr val="A5002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20261" name="Line 101"/>
          <p:cNvSpPr>
            <a:spLocks noChangeShapeType="1"/>
          </p:cNvSpPr>
          <p:nvPr/>
        </p:nvSpPr>
        <p:spPr bwMode="auto">
          <a:xfrm flipV="1">
            <a:off x="1504950" y="3251200"/>
            <a:ext cx="1327150" cy="9398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262" name="Line 102"/>
          <p:cNvSpPr>
            <a:spLocks noChangeShapeType="1"/>
          </p:cNvSpPr>
          <p:nvPr/>
        </p:nvSpPr>
        <p:spPr bwMode="auto">
          <a:xfrm>
            <a:off x="6877050" y="3736975"/>
            <a:ext cx="1477963" cy="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263" name="Line 103"/>
          <p:cNvSpPr>
            <a:spLocks noChangeShapeType="1"/>
          </p:cNvSpPr>
          <p:nvPr/>
        </p:nvSpPr>
        <p:spPr bwMode="auto">
          <a:xfrm flipH="1">
            <a:off x="6773863" y="2963863"/>
            <a:ext cx="1501775" cy="16716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264" name="Line 104"/>
          <p:cNvSpPr>
            <a:spLocks noChangeShapeType="1"/>
          </p:cNvSpPr>
          <p:nvPr/>
        </p:nvSpPr>
        <p:spPr bwMode="auto">
          <a:xfrm>
            <a:off x="7004050" y="2887663"/>
            <a:ext cx="1290638" cy="1714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265" name="AutoShape 105" descr="蓝色砂纸"/>
          <p:cNvSpPr>
            <a:spLocks noChangeArrowheads="1"/>
          </p:cNvSpPr>
          <p:nvPr/>
        </p:nvSpPr>
        <p:spPr bwMode="auto">
          <a:xfrm>
            <a:off x="4048125" y="906463"/>
            <a:ext cx="4310063" cy="1249362"/>
          </a:xfrm>
          <a:prstGeom prst="plaque">
            <a:avLst>
              <a:gd name="adj" fmla="val 16667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尺寸数字前标 </a:t>
            </a:r>
            <a:r>
              <a:rPr lang="zh-CN" altLang="en-US">
                <a:solidFill>
                  <a:srgbClr val="000066"/>
                </a:solidFill>
                <a:ea typeface="黑体" pitchFamily="2" charset="-122"/>
              </a:rPr>
              <a:t>“</a:t>
            </a:r>
            <a:r>
              <a:rPr lang="zh-CN" altLang="en-US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>
                <a:solidFill>
                  <a:srgbClr val="000066"/>
                </a:solidFill>
                <a:ea typeface="黑体" pitchFamily="2" charset="-122"/>
              </a:rPr>
              <a:t>Ø</a:t>
            </a:r>
            <a:r>
              <a:rPr lang="en-US" altLang="zh-CN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>
                <a:solidFill>
                  <a:srgbClr val="000066"/>
                </a:solidFill>
                <a:ea typeface="黑体" pitchFamily="2" charset="-122"/>
              </a:rPr>
              <a:t>”</a:t>
            </a:r>
            <a:endParaRPr lang="en-US" altLang="zh-CN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尺寸线通过圆心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20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0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0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20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22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2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2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2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2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2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2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2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235" grpId="0" animBg="1" autoUpdateAnimBg="0"/>
      <p:bldP spid="220240" grpId="0" animBg="1" autoUpdateAnimBg="0"/>
      <p:bldP spid="220246" grpId="0" animBg="1"/>
      <p:bldP spid="220247" grpId="0" animBg="1" autoUpdateAnimBg="0"/>
      <p:bldP spid="220248" grpId="0" animBg="1"/>
      <p:bldP spid="220253" grpId="0" animBg="1"/>
      <p:bldP spid="220254" grpId="0" animBg="1" autoUpdateAnimBg="0"/>
      <p:bldP spid="220255" grpId="0" animBg="1"/>
      <p:bldP spid="220256" grpId="0" animBg="1"/>
      <p:bldP spid="220257" grpId="0" animBg="1" autoUpdateAnimBg="0"/>
      <p:bldP spid="220258" grpId="0" autoUpdateAnimBg="0"/>
      <p:bldP spid="220259" grpId="0" animBg="1" autoUpdateAnimBg="0"/>
      <p:bldP spid="220260" grpId="0" animBg="1" autoUpdateAnimBg="0"/>
      <p:bldP spid="220261" grpId="0" animBg="1"/>
      <p:bldP spid="220262" grpId="0" animBg="1"/>
      <p:bldP spid="220263" grpId="0" animBg="1"/>
      <p:bldP spid="220264" grpId="0" animBg="1"/>
      <p:bldP spid="220265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52DB63EC-F7D7-441F-9F45-CBFF13F5DE92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8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19138" name="Text Box 2"/>
          <p:cNvSpPr txBox="1">
            <a:spLocks noChangeArrowheads="1"/>
          </p:cNvSpPr>
          <p:nvPr/>
        </p:nvSpPr>
        <p:spPr bwMode="auto">
          <a:xfrm>
            <a:off x="473075" y="368300"/>
            <a:ext cx="3319463" cy="641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36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Marlett" pitchFamily="2" charset="2"/>
              </a:rPr>
              <a:t></a:t>
            </a:r>
            <a:r>
              <a:rPr lang="zh-CN" altLang="en-US" sz="360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圆弧半径</a:t>
            </a:r>
          </a:p>
        </p:txBody>
      </p:sp>
      <p:sp>
        <p:nvSpPr>
          <p:cNvPr id="219139" name="Line 3"/>
          <p:cNvSpPr>
            <a:spLocks noChangeShapeType="1"/>
          </p:cNvSpPr>
          <p:nvPr/>
        </p:nvSpPr>
        <p:spPr bwMode="auto">
          <a:xfrm flipV="1">
            <a:off x="3124200" y="4437063"/>
            <a:ext cx="958850" cy="620712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40" name="Text Box 4"/>
          <p:cNvSpPr txBox="1">
            <a:spLocks noChangeArrowheads="1"/>
          </p:cNvSpPr>
          <p:nvPr/>
        </p:nvSpPr>
        <p:spPr bwMode="auto">
          <a:xfrm rot="-1842091">
            <a:off x="3114675" y="4278313"/>
            <a:ext cx="81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R10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638425" y="3724275"/>
            <a:ext cx="1990725" cy="1641475"/>
            <a:chOff x="920" y="2667"/>
            <a:chExt cx="1254" cy="1034"/>
          </a:xfrm>
        </p:grpSpPr>
        <p:grpSp>
          <p:nvGrpSpPr>
            <p:cNvPr id="23570" name="Group 6"/>
            <p:cNvGrpSpPr>
              <a:grpSpLocks/>
            </p:cNvGrpSpPr>
            <p:nvPr/>
          </p:nvGrpSpPr>
          <p:grpSpPr bwMode="auto">
            <a:xfrm>
              <a:off x="920" y="2667"/>
              <a:ext cx="1254" cy="1027"/>
              <a:chOff x="920" y="2667"/>
              <a:chExt cx="1254" cy="1027"/>
            </a:xfrm>
          </p:grpSpPr>
          <p:sp>
            <p:nvSpPr>
              <p:cNvPr id="23573" name="Arc 7"/>
              <p:cNvSpPr>
                <a:spLocks/>
              </p:cNvSpPr>
              <p:nvPr/>
            </p:nvSpPr>
            <p:spPr bwMode="auto">
              <a:xfrm flipV="1">
                <a:off x="1214" y="2789"/>
                <a:ext cx="719" cy="716"/>
              </a:xfrm>
              <a:custGeom>
                <a:avLst/>
                <a:gdLst>
                  <a:gd name="T0" fmla="*/ 0 w 22412"/>
                  <a:gd name="T1" fmla="*/ 0 h 22327"/>
                  <a:gd name="T2" fmla="*/ 0 w 22412"/>
                  <a:gd name="T3" fmla="*/ 0 h 22327"/>
                  <a:gd name="T4" fmla="*/ 0 w 22412"/>
                  <a:gd name="T5" fmla="*/ 0 h 22327"/>
                  <a:gd name="T6" fmla="*/ 0 60000 65536"/>
                  <a:gd name="T7" fmla="*/ 0 60000 65536"/>
                  <a:gd name="T8" fmla="*/ 0 60000 65536"/>
                  <a:gd name="T9" fmla="*/ 0 w 22412"/>
                  <a:gd name="T10" fmla="*/ 0 h 22327"/>
                  <a:gd name="T11" fmla="*/ 22412 w 22412"/>
                  <a:gd name="T12" fmla="*/ 22327 h 223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412" h="22327" fill="none" extrusionOk="0">
                    <a:moveTo>
                      <a:pt x="22399" y="0"/>
                    </a:moveTo>
                    <a:cubicBezTo>
                      <a:pt x="22407" y="242"/>
                      <a:pt x="22412" y="484"/>
                      <a:pt x="22412" y="727"/>
                    </a:cubicBezTo>
                    <a:cubicBezTo>
                      <a:pt x="22412" y="12656"/>
                      <a:pt x="12741" y="22327"/>
                      <a:pt x="812" y="22327"/>
                    </a:cubicBezTo>
                    <a:cubicBezTo>
                      <a:pt x="541" y="22327"/>
                      <a:pt x="270" y="22321"/>
                      <a:pt x="0" y="22311"/>
                    </a:cubicBezTo>
                  </a:path>
                  <a:path w="22412" h="22327" stroke="0" extrusionOk="0">
                    <a:moveTo>
                      <a:pt x="22399" y="0"/>
                    </a:moveTo>
                    <a:cubicBezTo>
                      <a:pt x="22407" y="242"/>
                      <a:pt x="22412" y="484"/>
                      <a:pt x="22412" y="727"/>
                    </a:cubicBezTo>
                    <a:cubicBezTo>
                      <a:pt x="22412" y="12656"/>
                      <a:pt x="12741" y="22327"/>
                      <a:pt x="812" y="22327"/>
                    </a:cubicBezTo>
                    <a:cubicBezTo>
                      <a:pt x="541" y="22327"/>
                      <a:pt x="270" y="22321"/>
                      <a:pt x="0" y="22311"/>
                    </a:cubicBezTo>
                    <a:lnTo>
                      <a:pt x="812" y="727"/>
                    </a:lnTo>
                    <a:lnTo>
                      <a:pt x="22399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4" name="Line 8"/>
              <p:cNvSpPr>
                <a:spLocks noChangeShapeType="1"/>
              </p:cNvSpPr>
              <p:nvPr/>
            </p:nvSpPr>
            <p:spPr bwMode="auto">
              <a:xfrm>
                <a:off x="920" y="3507"/>
                <a:ext cx="12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5" name="Line 9"/>
              <p:cNvSpPr>
                <a:spLocks noChangeShapeType="1"/>
              </p:cNvSpPr>
              <p:nvPr/>
            </p:nvSpPr>
            <p:spPr bwMode="auto">
              <a:xfrm>
                <a:off x="1226" y="2667"/>
                <a:ext cx="0" cy="10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3571" name="Line 10"/>
            <p:cNvSpPr>
              <a:spLocks noChangeShapeType="1"/>
            </p:cNvSpPr>
            <p:nvPr/>
          </p:nvSpPr>
          <p:spPr bwMode="auto">
            <a:xfrm flipH="1">
              <a:off x="1027" y="2789"/>
              <a:ext cx="20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Line 11"/>
            <p:cNvSpPr>
              <a:spLocks noChangeShapeType="1"/>
            </p:cNvSpPr>
            <p:nvPr/>
          </p:nvSpPr>
          <p:spPr bwMode="auto">
            <a:xfrm>
              <a:off x="1934" y="3499"/>
              <a:ext cx="0" cy="2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9148" name="Line 12"/>
          <p:cNvSpPr>
            <a:spLocks noChangeShapeType="1"/>
          </p:cNvSpPr>
          <p:nvPr/>
        </p:nvSpPr>
        <p:spPr bwMode="auto">
          <a:xfrm flipH="1">
            <a:off x="6049963" y="4256088"/>
            <a:ext cx="428625" cy="404812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49" name="Text Box 13"/>
          <p:cNvSpPr txBox="1">
            <a:spLocks noChangeArrowheads="1"/>
          </p:cNvSpPr>
          <p:nvPr/>
        </p:nvSpPr>
        <p:spPr bwMode="auto">
          <a:xfrm rot="-2621766">
            <a:off x="5862638" y="3963988"/>
            <a:ext cx="663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R5</a:t>
            </a:r>
          </a:p>
        </p:txBody>
      </p:sp>
      <p:sp>
        <p:nvSpPr>
          <p:cNvPr id="219150" name="AutoShape 14" descr="蓝色砂纸"/>
          <p:cNvSpPr>
            <a:spLocks noChangeArrowheads="1"/>
          </p:cNvSpPr>
          <p:nvPr/>
        </p:nvSpPr>
        <p:spPr bwMode="auto">
          <a:xfrm>
            <a:off x="1946275" y="1331913"/>
            <a:ext cx="5818188" cy="1711325"/>
          </a:xfrm>
          <a:prstGeom prst="plaque">
            <a:avLst>
              <a:gd name="adj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en-US" altLang="zh-CN" sz="3600">
              <a:latin typeface="黑体" pitchFamily="2" charset="-122"/>
              <a:ea typeface="黑体" pitchFamily="2" charset="-122"/>
              <a:sym typeface="SansSerif" pitchFamily="2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360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9151" name="Rectangle 15"/>
          <p:cNvSpPr>
            <a:spLocks noChangeArrowheads="1"/>
          </p:cNvSpPr>
          <p:nvPr/>
        </p:nvSpPr>
        <p:spPr bwMode="auto">
          <a:xfrm>
            <a:off x="2605088" y="1381125"/>
            <a:ext cx="4824412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尺寸数字前标 </a:t>
            </a:r>
            <a:r>
              <a:rPr lang="zh-CN" altLang="en-US">
                <a:solidFill>
                  <a:srgbClr val="000066"/>
                </a:solidFill>
                <a:ea typeface="黑体" pitchFamily="2" charset="-122"/>
              </a:rPr>
              <a:t>“</a:t>
            </a:r>
            <a:r>
              <a:rPr lang="zh-CN" altLang="en-US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R </a:t>
            </a:r>
            <a:r>
              <a:rPr lang="en-US" altLang="zh-CN">
                <a:solidFill>
                  <a:srgbClr val="000066"/>
                </a:solidFill>
                <a:ea typeface="黑体" pitchFamily="2" charset="-122"/>
              </a:rPr>
              <a:t>”</a:t>
            </a:r>
            <a:endParaRPr lang="en-US" altLang="zh-CN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ansSerif" pitchFamily="2" charset="2"/>
              </a:rPr>
              <a:t>尺寸线终端只画一个箭头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ansSerif" pitchFamily="2" charset="2"/>
              </a:rPr>
              <a:t>并通过或指向圆心</a:t>
            </a:r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5391150" y="4373563"/>
            <a:ext cx="938213" cy="906462"/>
            <a:chOff x="3396" y="2755"/>
            <a:chExt cx="591" cy="571"/>
          </a:xfrm>
        </p:grpSpPr>
        <p:sp>
          <p:nvSpPr>
            <p:cNvPr id="23565" name="Arc 17"/>
            <p:cNvSpPr>
              <a:spLocks/>
            </p:cNvSpPr>
            <p:nvPr/>
          </p:nvSpPr>
          <p:spPr bwMode="auto">
            <a:xfrm flipH="1" flipV="1">
              <a:off x="3550" y="2837"/>
              <a:ext cx="353" cy="346"/>
            </a:xfrm>
            <a:custGeom>
              <a:avLst/>
              <a:gdLst>
                <a:gd name="T0" fmla="*/ 0 w 23512"/>
                <a:gd name="T1" fmla="*/ 0 h 23012"/>
                <a:gd name="T2" fmla="*/ 0 w 23512"/>
                <a:gd name="T3" fmla="*/ 0 h 23012"/>
                <a:gd name="T4" fmla="*/ 0 w 23512"/>
                <a:gd name="T5" fmla="*/ 0 h 23012"/>
                <a:gd name="T6" fmla="*/ 0 60000 65536"/>
                <a:gd name="T7" fmla="*/ 0 60000 65536"/>
                <a:gd name="T8" fmla="*/ 0 60000 65536"/>
                <a:gd name="T9" fmla="*/ 0 w 23512"/>
                <a:gd name="T10" fmla="*/ 0 h 23012"/>
                <a:gd name="T11" fmla="*/ 23512 w 23512"/>
                <a:gd name="T12" fmla="*/ 23012 h 230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12" h="23012" fill="none" extrusionOk="0">
                  <a:moveTo>
                    <a:pt x="23512" y="22927"/>
                  </a:moveTo>
                  <a:cubicBezTo>
                    <a:pt x="22876" y="22983"/>
                    <a:pt x="22238" y="23011"/>
                    <a:pt x="21600" y="23012"/>
                  </a:cubicBezTo>
                  <a:cubicBezTo>
                    <a:pt x="9670" y="23012"/>
                    <a:pt x="0" y="13341"/>
                    <a:pt x="0" y="1412"/>
                  </a:cubicBezTo>
                  <a:cubicBezTo>
                    <a:pt x="-1" y="940"/>
                    <a:pt x="15" y="470"/>
                    <a:pt x="46" y="0"/>
                  </a:cubicBezTo>
                </a:path>
                <a:path w="23512" h="23012" stroke="0" extrusionOk="0">
                  <a:moveTo>
                    <a:pt x="23512" y="22927"/>
                  </a:moveTo>
                  <a:cubicBezTo>
                    <a:pt x="22876" y="22983"/>
                    <a:pt x="22238" y="23011"/>
                    <a:pt x="21600" y="23012"/>
                  </a:cubicBezTo>
                  <a:cubicBezTo>
                    <a:pt x="9670" y="23012"/>
                    <a:pt x="0" y="13341"/>
                    <a:pt x="0" y="1412"/>
                  </a:cubicBezTo>
                  <a:cubicBezTo>
                    <a:pt x="-1" y="940"/>
                    <a:pt x="15" y="470"/>
                    <a:pt x="46" y="0"/>
                  </a:cubicBezTo>
                  <a:lnTo>
                    <a:pt x="21600" y="1412"/>
                  </a:lnTo>
                  <a:lnTo>
                    <a:pt x="23512" y="22927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6" name="Line 18"/>
            <p:cNvSpPr>
              <a:spLocks noChangeShapeType="1"/>
            </p:cNvSpPr>
            <p:nvPr/>
          </p:nvSpPr>
          <p:spPr bwMode="auto">
            <a:xfrm>
              <a:off x="3546" y="2755"/>
              <a:ext cx="0" cy="5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7" name="Line 19"/>
            <p:cNvSpPr>
              <a:spLocks noChangeShapeType="1"/>
            </p:cNvSpPr>
            <p:nvPr/>
          </p:nvSpPr>
          <p:spPr bwMode="auto">
            <a:xfrm flipH="1">
              <a:off x="3447" y="3182"/>
              <a:ext cx="5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8" name="Line 20"/>
            <p:cNvSpPr>
              <a:spLocks noChangeShapeType="1"/>
            </p:cNvSpPr>
            <p:nvPr/>
          </p:nvSpPr>
          <p:spPr bwMode="auto">
            <a:xfrm flipH="1">
              <a:off x="3396" y="2833"/>
              <a:ext cx="1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9" name="Line 21"/>
            <p:cNvSpPr>
              <a:spLocks noChangeShapeType="1"/>
            </p:cNvSpPr>
            <p:nvPr/>
          </p:nvSpPr>
          <p:spPr bwMode="auto">
            <a:xfrm>
              <a:off x="3902" y="3178"/>
              <a:ext cx="0" cy="1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9158" name="Text Box 22"/>
          <p:cNvSpPr txBox="1">
            <a:spLocks noChangeArrowheads="1"/>
          </p:cNvSpPr>
          <p:nvPr/>
        </p:nvSpPr>
        <p:spPr bwMode="auto">
          <a:xfrm>
            <a:off x="496888" y="5680075"/>
            <a:ext cx="8175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注意： 小于等于半圆的弧一般标注半径。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9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219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9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9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19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19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8" grpId="0" animBg="1" autoUpdateAnimBg="0"/>
      <p:bldP spid="219139" grpId="0" animBg="1"/>
      <p:bldP spid="219140" grpId="0" build="p" autoUpdateAnimBg="0"/>
      <p:bldP spid="219148" grpId="0" animBg="1"/>
      <p:bldP spid="219149" grpId="0" build="p" autoUpdateAnimBg="0"/>
      <p:bldP spid="219150" grpId="0" animBg="1" autoUpdateAnimBg="0"/>
      <p:bldP spid="219151" grpId="0" autoUpdateAnimBg="0"/>
      <p:bldP spid="21915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766E1823-6D19-4CE1-8B77-32B74E54B199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9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18114" name="Text Box 2"/>
          <p:cNvSpPr txBox="1">
            <a:spLocks noChangeArrowheads="1"/>
          </p:cNvSpPr>
          <p:nvPr/>
        </p:nvSpPr>
        <p:spPr bwMode="auto">
          <a:xfrm>
            <a:off x="468313" y="441325"/>
            <a:ext cx="4418012" cy="641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36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Marlett" pitchFamily="2" charset="2"/>
              </a:rPr>
              <a:t></a:t>
            </a:r>
            <a:r>
              <a:rPr lang="zh-CN" altLang="en-US" sz="360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Marlett" pitchFamily="2" charset="2"/>
              </a:rPr>
              <a:t>球的直径、</a:t>
            </a:r>
            <a:r>
              <a:rPr lang="zh-CN" altLang="en-US" sz="360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半径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536700" y="3798888"/>
            <a:ext cx="1881188" cy="1749425"/>
            <a:chOff x="2547" y="1320"/>
            <a:chExt cx="760" cy="707"/>
          </a:xfrm>
        </p:grpSpPr>
        <p:sp>
          <p:nvSpPr>
            <p:cNvPr id="24607" name="Oval 4"/>
            <p:cNvSpPr>
              <a:spLocks noChangeArrowheads="1"/>
            </p:cNvSpPr>
            <p:nvPr/>
          </p:nvSpPr>
          <p:spPr bwMode="auto">
            <a:xfrm>
              <a:off x="2680" y="1387"/>
              <a:ext cx="480" cy="480"/>
            </a:xfrm>
            <a:prstGeom prst="ellipse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grpSp>
          <p:nvGrpSpPr>
            <p:cNvPr id="24608" name="Group 5"/>
            <p:cNvGrpSpPr>
              <a:grpSpLocks/>
            </p:cNvGrpSpPr>
            <p:nvPr/>
          </p:nvGrpSpPr>
          <p:grpSpPr bwMode="auto">
            <a:xfrm>
              <a:off x="2547" y="1320"/>
              <a:ext cx="760" cy="707"/>
              <a:chOff x="2547" y="1320"/>
              <a:chExt cx="760" cy="707"/>
            </a:xfrm>
          </p:grpSpPr>
          <p:sp>
            <p:nvSpPr>
              <p:cNvPr id="24609" name="Line 6"/>
              <p:cNvSpPr>
                <a:spLocks noChangeShapeType="1"/>
              </p:cNvSpPr>
              <p:nvPr/>
            </p:nvSpPr>
            <p:spPr bwMode="auto">
              <a:xfrm>
                <a:off x="2547" y="1627"/>
                <a:ext cx="7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10" name="Line 7"/>
              <p:cNvSpPr>
                <a:spLocks noChangeShapeType="1"/>
              </p:cNvSpPr>
              <p:nvPr/>
            </p:nvSpPr>
            <p:spPr bwMode="auto">
              <a:xfrm>
                <a:off x="2919" y="1320"/>
                <a:ext cx="0" cy="7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18120" name="Line 8"/>
          <p:cNvSpPr>
            <a:spLocks noChangeShapeType="1"/>
          </p:cNvSpPr>
          <p:nvPr/>
        </p:nvSpPr>
        <p:spPr bwMode="auto">
          <a:xfrm flipV="1">
            <a:off x="1957388" y="4170363"/>
            <a:ext cx="973137" cy="773112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121" name="Line 9"/>
          <p:cNvSpPr>
            <a:spLocks noChangeShapeType="1"/>
          </p:cNvSpPr>
          <p:nvPr/>
        </p:nvSpPr>
        <p:spPr bwMode="auto">
          <a:xfrm flipV="1">
            <a:off x="2916238" y="3468688"/>
            <a:ext cx="838200" cy="703262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122" name="Rectangle 10"/>
          <p:cNvSpPr>
            <a:spLocks noChangeArrowheads="1"/>
          </p:cNvSpPr>
          <p:nvPr/>
        </p:nvSpPr>
        <p:spPr bwMode="auto">
          <a:xfrm rot="-2379845">
            <a:off x="2693988" y="3355975"/>
            <a:ext cx="1095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Romantic" pitchFamily="2" charset="2"/>
              </a:rPr>
              <a:t>S10</a:t>
            </a:r>
          </a:p>
        </p:txBody>
      </p: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5170488" y="3295650"/>
            <a:ext cx="1657350" cy="2011363"/>
            <a:chOff x="4129" y="2783"/>
            <a:chExt cx="1044" cy="1267"/>
          </a:xfrm>
        </p:grpSpPr>
        <p:sp>
          <p:nvSpPr>
            <p:cNvPr id="24590" name="Arc 12"/>
            <p:cNvSpPr>
              <a:spLocks/>
            </p:cNvSpPr>
            <p:nvPr/>
          </p:nvSpPr>
          <p:spPr bwMode="auto">
            <a:xfrm>
              <a:off x="4158" y="2799"/>
              <a:ext cx="768" cy="615"/>
            </a:xfrm>
            <a:custGeom>
              <a:avLst/>
              <a:gdLst>
                <a:gd name="T0" fmla="*/ 0 w 20699"/>
                <a:gd name="T1" fmla="*/ 0 h 13977"/>
                <a:gd name="T2" fmla="*/ 0 w 20699"/>
                <a:gd name="T3" fmla="*/ 0 h 13977"/>
                <a:gd name="T4" fmla="*/ 0 w 20699"/>
                <a:gd name="T5" fmla="*/ 0 h 13977"/>
                <a:gd name="T6" fmla="*/ 0 60000 65536"/>
                <a:gd name="T7" fmla="*/ 0 60000 65536"/>
                <a:gd name="T8" fmla="*/ 0 60000 65536"/>
                <a:gd name="T9" fmla="*/ 0 w 20699"/>
                <a:gd name="T10" fmla="*/ 0 h 13977"/>
                <a:gd name="T11" fmla="*/ 20699 w 20699"/>
                <a:gd name="T12" fmla="*/ 13977 h 139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99" h="13977" fill="none" extrusionOk="0">
                  <a:moveTo>
                    <a:pt x="16468" y="0"/>
                  </a:moveTo>
                  <a:cubicBezTo>
                    <a:pt x="18403" y="2280"/>
                    <a:pt x="19844" y="4937"/>
                    <a:pt x="20698" y="7803"/>
                  </a:cubicBezTo>
                </a:path>
                <a:path w="20699" h="13977" stroke="0" extrusionOk="0">
                  <a:moveTo>
                    <a:pt x="16468" y="0"/>
                  </a:moveTo>
                  <a:cubicBezTo>
                    <a:pt x="18403" y="2280"/>
                    <a:pt x="19844" y="4937"/>
                    <a:pt x="20698" y="7803"/>
                  </a:cubicBezTo>
                  <a:lnTo>
                    <a:pt x="0" y="13977"/>
                  </a:lnTo>
                  <a:lnTo>
                    <a:pt x="16468" y="0"/>
                  </a:lnTo>
                  <a:close/>
                </a:path>
              </a:pathLst>
            </a:cu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1" name="Arc 13"/>
            <p:cNvSpPr>
              <a:spLocks/>
            </p:cNvSpPr>
            <p:nvPr/>
          </p:nvSpPr>
          <p:spPr bwMode="auto">
            <a:xfrm>
              <a:off x="4159" y="3419"/>
              <a:ext cx="764" cy="615"/>
            </a:xfrm>
            <a:custGeom>
              <a:avLst/>
              <a:gdLst>
                <a:gd name="T0" fmla="*/ 0 w 20606"/>
                <a:gd name="T1" fmla="*/ 0 h 13963"/>
                <a:gd name="T2" fmla="*/ 0 w 20606"/>
                <a:gd name="T3" fmla="*/ 0 h 13963"/>
                <a:gd name="T4" fmla="*/ 0 w 20606"/>
                <a:gd name="T5" fmla="*/ 0 h 13963"/>
                <a:gd name="T6" fmla="*/ 0 60000 65536"/>
                <a:gd name="T7" fmla="*/ 0 60000 65536"/>
                <a:gd name="T8" fmla="*/ 0 60000 65536"/>
                <a:gd name="T9" fmla="*/ 0 w 20606"/>
                <a:gd name="T10" fmla="*/ 0 h 13963"/>
                <a:gd name="T11" fmla="*/ 20606 w 20606"/>
                <a:gd name="T12" fmla="*/ 13963 h 139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06" h="13963" fill="none" extrusionOk="0">
                  <a:moveTo>
                    <a:pt x="20606" y="6477"/>
                  </a:moveTo>
                  <a:cubicBezTo>
                    <a:pt x="19743" y="9222"/>
                    <a:pt x="18340" y="11767"/>
                    <a:pt x="16480" y="13963"/>
                  </a:cubicBezTo>
                </a:path>
                <a:path w="20606" h="13963" stroke="0" extrusionOk="0">
                  <a:moveTo>
                    <a:pt x="20606" y="6477"/>
                  </a:moveTo>
                  <a:cubicBezTo>
                    <a:pt x="19743" y="9222"/>
                    <a:pt x="18340" y="11767"/>
                    <a:pt x="16480" y="13963"/>
                  </a:cubicBezTo>
                  <a:lnTo>
                    <a:pt x="0" y="0"/>
                  </a:lnTo>
                  <a:lnTo>
                    <a:pt x="20606" y="6477"/>
                  </a:lnTo>
                  <a:close/>
                </a:path>
              </a:pathLst>
            </a:cu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2" name="Line 14"/>
            <p:cNvSpPr>
              <a:spLocks noChangeShapeType="1"/>
            </p:cNvSpPr>
            <p:nvPr/>
          </p:nvSpPr>
          <p:spPr bwMode="auto">
            <a:xfrm>
              <a:off x="4129" y="3409"/>
              <a:ext cx="1044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3" name="Line 15"/>
            <p:cNvSpPr>
              <a:spLocks noChangeShapeType="1"/>
            </p:cNvSpPr>
            <p:nvPr/>
          </p:nvSpPr>
          <p:spPr bwMode="auto">
            <a:xfrm>
              <a:off x="4760" y="2794"/>
              <a:ext cx="0" cy="1256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4" name="Line 16"/>
            <p:cNvSpPr>
              <a:spLocks noChangeShapeType="1"/>
            </p:cNvSpPr>
            <p:nvPr/>
          </p:nvSpPr>
          <p:spPr bwMode="auto">
            <a:xfrm>
              <a:off x="4767" y="4037"/>
              <a:ext cx="293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5" name="Line 17"/>
            <p:cNvSpPr>
              <a:spLocks noChangeShapeType="1"/>
            </p:cNvSpPr>
            <p:nvPr/>
          </p:nvSpPr>
          <p:spPr bwMode="auto">
            <a:xfrm flipV="1">
              <a:off x="5054" y="2783"/>
              <a:ext cx="0" cy="1241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6" name="Line 18"/>
            <p:cNvSpPr>
              <a:spLocks noChangeShapeType="1"/>
            </p:cNvSpPr>
            <p:nvPr/>
          </p:nvSpPr>
          <p:spPr bwMode="auto">
            <a:xfrm flipH="1">
              <a:off x="4747" y="2796"/>
              <a:ext cx="314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7" name="Line 19"/>
            <p:cNvSpPr>
              <a:spLocks noChangeShapeType="1"/>
            </p:cNvSpPr>
            <p:nvPr/>
          </p:nvSpPr>
          <p:spPr bwMode="auto">
            <a:xfrm>
              <a:off x="4922" y="3137"/>
              <a:ext cx="124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8" name="Line 20"/>
            <p:cNvSpPr>
              <a:spLocks noChangeShapeType="1"/>
            </p:cNvSpPr>
            <p:nvPr/>
          </p:nvSpPr>
          <p:spPr bwMode="auto">
            <a:xfrm>
              <a:off x="4915" y="3712"/>
              <a:ext cx="138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9" name="Line 21"/>
            <p:cNvSpPr>
              <a:spLocks noChangeShapeType="1"/>
            </p:cNvSpPr>
            <p:nvPr/>
          </p:nvSpPr>
          <p:spPr bwMode="auto">
            <a:xfrm>
              <a:off x="4922" y="3130"/>
              <a:ext cx="0" cy="582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0" name="Line 22"/>
            <p:cNvSpPr>
              <a:spLocks noChangeShapeType="1"/>
            </p:cNvSpPr>
            <p:nvPr/>
          </p:nvSpPr>
          <p:spPr bwMode="auto">
            <a:xfrm flipV="1">
              <a:off x="4824" y="2790"/>
              <a:ext cx="131" cy="12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1" name="Line 23"/>
            <p:cNvSpPr>
              <a:spLocks noChangeShapeType="1"/>
            </p:cNvSpPr>
            <p:nvPr/>
          </p:nvSpPr>
          <p:spPr bwMode="auto">
            <a:xfrm flipV="1">
              <a:off x="4882" y="2867"/>
              <a:ext cx="158" cy="154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2" name="Line 24"/>
            <p:cNvSpPr>
              <a:spLocks noChangeShapeType="1"/>
            </p:cNvSpPr>
            <p:nvPr/>
          </p:nvSpPr>
          <p:spPr bwMode="auto">
            <a:xfrm flipV="1">
              <a:off x="4934" y="3016"/>
              <a:ext cx="119" cy="116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3" name="Line 25"/>
            <p:cNvSpPr>
              <a:spLocks noChangeShapeType="1"/>
            </p:cNvSpPr>
            <p:nvPr/>
          </p:nvSpPr>
          <p:spPr bwMode="auto">
            <a:xfrm flipV="1">
              <a:off x="4856" y="3719"/>
              <a:ext cx="190" cy="185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4" name="Line 26"/>
            <p:cNvSpPr>
              <a:spLocks noChangeShapeType="1"/>
            </p:cNvSpPr>
            <p:nvPr/>
          </p:nvSpPr>
          <p:spPr bwMode="auto">
            <a:xfrm flipV="1">
              <a:off x="4863" y="3846"/>
              <a:ext cx="190" cy="186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5" name="Line 27"/>
            <p:cNvSpPr>
              <a:spLocks noChangeShapeType="1"/>
            </p:cNvSpPr>
            <p:nvPr/>
          </p:nvSpPr>
          <p:spPr bwMode="auto">
            <a:xfrm flipV="1">
              <a:off x="5000" y="3980"/>
              <a:ext cx="53" cy="5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6" name="Line 28"/>
            <p:cNvSpPr>
              <a:spLocks noChangeShapeType="1"/>
            </p:cNvSpPr>
            <p:nvPr/>
          </p:nvSpPr>
          <p:spPr bwMode="auto">
            <a:xfrm>
              <a:off x="4166" y="3342"/>
              <a:ext cx="0" cy="153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8141" name="Arc 29"/>
          <p:cNvSpPr>
            <a:spLocks/>
          </p:cNvSpPr>
          <p:nvPr/>
        </p:nvSpPr>
        <p:spPr bwMode="auto">
          <a:xfrm flipH="1" flipV="1">
            <a:off x="5203825" y="3084513"/>
            <a:ext cx="1011238" cy="1208087"/>
          </a:xfrm>
          <a:custGeom>
            <a:avLst/>
            <a:gdLst>
              <a:gd name="T0" fmla="*/ 2147483647 w 15723"/>
              <a:gd name="T1" fmla="*/ 2147483647 h 19496"/>
              <a:gd name="T2" fmla="*/ 0 w 15723"/>
              <a:gd name="T3" fmla="*/ 2147483647 h 19496"/>
              <a:gd name="T4" fmla="*/ 2147483647 w 15723"/>
              <a:gd name="T5" fmla="*/ 0 h 19496"/>
              <a:gd name="T6" fmla="*/ 0 60000 65536"/>
              <a:gd name="T7" fmla="*/ 0 60000 65536"/>
              <a:gd name="T8" fmla="*/ 0 60000 65536"/>
              <a:gd name="T9" fmla="*/ 0 w 15723"/>
              <a:gd name="T10" fmla="*/ 0 h 19496"/>
              <a:gd name="T11" fmla="*/ 15723 w 15723"/>
              <a:gd name="T12" fmla="*/ 19496 h 194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723" h="19496" fill="none" extrusionOk="0">
                <a:moveTo>
                  <a:pt x="6424" y="19495"/>
                </a:moveTo>
                <a:cubicBezTo>
                  <a:pt x="4011" y="18345"/>
                  <a:pt x="1833" y="16756"/>
                  <a:pt x="0" y="14810"/>
                </a:cubicBezTo>
              </a:path>
              <a:path w="15723" h="19496" stroke="0" extrusionOk="0">
                <a:moveTo>
                  <a:pt x="6424" y="19495"/>
                </a:moveTo>
                <a:cubicBezTo>
                  <a:pt x="4011" y="18345"/>
                  <a:pt x="1833" y="16756"/>
                  <a:pt x="0" y="14810"/>
                </a:cubicBezTo>
                <a:lnTo>
                  <a:pt x="15723" y="0"/>
                </a:lnTo>
                <a:lnTo>
                  <a:pt x="6424" y="19495"/>
                </a:lnTo>
                <a:close/>
              </a:path>
            </a:pathLst>
          </a:cu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142" name="Line 30"/>
          <p:cNvSpPr>
            <a:spLocks noChangeShapeType="1"/>
          </p:cNvSpPr>
          <p:nvPr/>
        </p:nvSpPr>
        <p:spPr bwMode="auto">
          <a:xfrm flipV="1">
            <a:off x="5229225" y="3148013"/>
            <a:ext cx="688975" cy="1144587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143" name="Rectangle 31"/>
          <p:cNvSpPr>
            <a:spLocks noChangeArrowheads="1"/>
          </p:cNvSpPr>
          <p:nvPr/>
        </p:nvSpPr>
        <p:spPr bwMode="auto">
          <a:xfrm rot="-3508045">
            <a:off x="4818856" y="3352007"/>
            <a:ext cx="1012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Romantic" pitchFamily="2" charset="2"/>
              </a:rPr>
              <a:t>SR30</a:t>
            </a:r>
          </a:p>
        </p:txBody>
      </p:sp>
      <p:sp>
        <p:nvSpPr>
          <p:cNvPr id="218144" name="AutoShape 32" descr="蓝色砂纸"/>
          <p:cNvSpPr>
            <a:spLocks noChangeArrowheads="1"/>
          </p:cNvSpPr>
          <p:nvPr/>
        </p:nvSpPr>
        <p:spPr bwMode="auto">
          <a:xfrm>
            <a:off x="1858963" y="1549400"/>
            <a:ext cx="4951412" cy="744538"/>
          </a:xfrm>
          <a:prstGeom prst="plaque">
            <a:avLst>
              <a:gd name="adj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  <a:endParaRPr lang="en-US" altLang="zh-CN" sz="3600">
              <a:latin typeface="黑体" pitchFamily="2" charset="-122"/>
              <a:ea typeface="黑体" pitchFamily="2" charset="-122"/>
              <a:sym typeface="SansSerif" pitchFamily="2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360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8145" name="Text Box 33"/>
          <p:cNvSpPr txBox="1">
            <a:spLocks noChangeArrowheads="1"/>
          </p:cNvSpPr>
          <p:nvPr/>
        </p:nvSpPr>
        <p:spPr bwMode="auto">
          <a:xfrm>
            <a:off x="2187575" y="1590675"/>
            <a:ext cx="44307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320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PanRoman" pitchFamily="2" charset="2"/>
              </a:rPr>
              <a:t>在 、</a:t>
            </a:r>
            <a:r>
              <a:rPr lang="en-US" altLang="zh-CN" sz="320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PanRoman" pitchFamily="2" charset="2"/>
              </a:rPr>
              <a:t>R </a:t>
            </a:r>
            <a:r>
              <a:rPr lang="zh-CN" altLang="en-US" sz="320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前面加 </a:t>
            </a:r>
            <a:r>
              <a:rPr lang="zh-CN" altLang="en-US" sz="3200">
                <a:solidFill>
                  <a:srgbClr val="000066"/>
                </a:solidFill>
                <a:latin typeface="Times New Roman"/>
                <a:ea typeface="黑体" pitchFamily="2" charset="-122"/>
              </a:rPr>
              <a:t>“</a:t>
            </a:r>
            <a:r>
              <a:rPr lang="zh-CN" altLang="en-US" sz="320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32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SansSerif" pitchFamily="2" charset="2"/>
              </a:rPr>
              <a:t>S</a:t>
            </a:r>
            <a:r>
              <a:rPr lang="en-US" altLang="zh-CN" sz="320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ansSerif" pitchFamily="2" charset="2"/>
              </a:rPr>
              <a:t> </a:t>
            </a:r>
            <a:r>
              <a:rPr lang="en-US" altLang="zh-CN" sz="3200">
                <a:solidFill>
                  <a:srgbClr val="000066"/>
                </a:solidFill>
                <a:latin typeface="Times New Roman"/>
                <a:ea typeface="黑体" pitchFamily="2" charset="-122"/>
                <a:sym typeface="SansSerif" pitchFamily="2" charset="2"/>
              </a:rPr>
              <a:t>”</a:t>
            </a:r>
            <a:endParaRPr lang="en-US" altLang="zh-CN" sz="3200">
              <a:solidFill>
                <a:srgbClr val="000066"/>
              </a:solidFill>
              <a:latin typeface="黑体" pitchFamily="2" charset="-122"/>
              <a:ea typeface="黑体" pitchFamily="2" charset="-122"/>
              <a:sym typeface="SansSerif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21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8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8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18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1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1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1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4" grpId="0" animBg="1" autoUpdateAnimBg="0"/>
      <p:bldP spid="218120" grpId="0" animBg="1"/>
      <p:bldP spid="218121" grpId="0" animBg="1"/>
      <p:bldP spid="218122" grpId="0" build="p" autoUpdateAnimBg="0"/>
      <p:bldP spid="218141" grpId="0" animBg="1"/>
      <p:bldP spid="218142" grpId="0" animBg="1"/>
      <p:bldP spid="218143" grpId="0" autoUpdateAnimBg="0"/>
      <p:bldP spid="218144" grpId="0" animBg="1" autoUpdateAnimBg="0"/>
      <p:bldP spid="21814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42CADFC3-6CD1-453C-A9AF-2FA3A648CAF5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10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16076" name="AutoShape 12" descr="蓝色砂纸"/>
          <p:cNvSpPr>
            <a:spLocks noChangeArrowheads="1"/>
          </p:cNvSpPr>
          <p:nvPr/>
        </p:nvSpPr>
        <p:spPr bwMode="auto">
          <a:xfrm>
            <a:off x="576263" y="3662363"/>
            <a:ext cx="7908925" cy="2798762"/>
          </a:xfrm>
          <a:prstGeom prst="plaque">
            <a:avLst>
              <a:gd name="adj" fmla="val 10241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16077" name="Text Box 13" descr="紫色网格"/>
          <p:cNvSpPr txBox="1">
            <a:spLocks noChangeArrowheads="1"/>
          </p:cNvSpPr>
          <p:nvPr/>
        </p:nvSpPr>
        <p:spPr bwMode="auto">
          <a:xfrm>
            <a:off x="492125" y="533400"/>
            <a:ext cx="2144713" cy="6413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角度尺寸</a:t>
            </a:r>
          </a:p>
        </p:txBody>
      </p:sp>
      <p:sp>
        <p:nvSpPr>
          <p:cNvPr id="216078" name="Text Box 14"/>
          <p:cNvSpPr txBox="1">
            <a:spLocks noChangeArrowheads="1"/>
          </p:cNvSpPr>
          <p:nvPr/>
        </p:nvSpPr>
        <p:spPr bwMode="auto">
          <a:xfrm>
            <a:off x="741363" y="4811713"/>
            <a:ext cx="764381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Marlett" pitchFamily="2" charset="2"/>
              </a:rPr>
              <a:t></a:t>
            </a:r>
            <a:r>
              <a:rPr lang="zh-CN" altLang="en-US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Marlett" pitchFamily="2" charset="2"/>
              </a:rPr>
              <a:t>角度数字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sym typeface="Marlett" pitchFamily="2" charset="2"/>
              </a:rPr>
              <a:t>一律水平书写</a:t>
            </a:r>
            <a:r>
              <a:rPr lang="zh-CN" altLang="en-US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Marlett" pitchFamily="2" charset="2"/>
              </a:rPr>
              <a:t>，一般注写在尺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Marlett" pitchFamily="2" charset="2"/>
              </a:rPr>
              <a:t>  寸线的中断处。</a:t>
            </a:r>
          </a:p>
        </p:txBody>
      </p:sp>
      <p:sp>
        <p:nvSpPr>
          <p:cNvPr id="216079" name="Rectangle 15"/>
          <p:cNvSpPr>
            <a:spLocks noChangeArrowheads="1"/>
          </p:cNvSpPr>
          <p:nvPr/>
        </p:nvSpPr>
        <p:spPr bwMode="auto">
          <a:xfrm>
            <a:off x="739775" y="3708400"/>
            <a:ext cx="7597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Marlett" pitchFamily="2" charset="2"/>
              </a:rPr>
              <a:t></a:t>
            </a:r>
            <a:r>
              <a:rPr lang="zh-CN" altLang="en-US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Marlett" pitchFamily="2" charset="2"/>
              </a:rPr>
              <a:t>尺寸线为圆弧，其圆心为该角的顶点；</a:t>
            </a:r>
          </a:p>
        </p:txBody>
      </p:sp>
      <p:sp>
        <p:nvSpPr>
          <p:cNvPr id="216080" name="Rectangle 16"/>
          <p:cNvSpPr>
            <a:spLocks noChangeArrowheads="1"/>
          </p:cNvSpPr>
          <p:nvPr/>
        </p:nvSpPr>
        <p:spPr bwMode="auto">
          <a:xfrm>
            <a:off x="752475" y="4256088"/>
            <a:ext cx="72802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Marlett" pitchFamily="2" charset="2"/>
              </a:rPr>
              <a:t></a:t>
            </a:r>
            <a:r>
              <a:rPr lang="zh-CN" altLang="en-US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Marlett" pitchFamily="2" charset="2"/>
              </a:rPr>
              <a:t>尺寸界线沿径向引出；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2794000" y="1152525"/>
            <a:ext cx="3602038" cy="2184400"/>
            <a:chOff x="1760" y="726"/>
            <a:chExt cx="2269" cy="1376"/>
          </a:xfrm>
        </p:grpSpPr>
        <p:sp>
          <p:nvSpPr>
            <p:cNvPr id="25610" name="Line 18"/>
            <p:cNvSpPr>
              <a:spLocks noChangeShapeType="1"/>
            </p:cNvSpPr>
            <p:nvPr/>
          </p:nvSpPr>
          <p:spPr bwMode="auto">
            <a:xfrm>
              <a:off x="1760" y="1778"/>
              <a:ext cx="17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1" name="Line 19"/>
            <p:cNvSpPr>
              <a:spLocks noChangeShapeType="1"/>
            </p:cNvSpPr>
            <p:nvPr/>
          </p:nvSpPr>
          <p:spPr bwMode="auto">
            <a:xfrm flipV="1">
              <a:off x="2632" y="1538"/>
              <a:ext cx="88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2" name="Line 20"/>
            <p:cNvSpPr>
              <a:spLocks noChangeShapeType="1"/>
            </p:cNvSpPr>
            <p:nvPr/>
          </p:nvSpPr>
          <p:spPr bwMode="auto">
            <a:xfrm flipV="1">
              <a:off x="2635" y="967"/>
              <a:ext cx="466" cy="8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3" name="Arc 21"/>
            <p:cNvSpPr>
              <a:spLocks/>
            </p:cNvSpPr>
            <p:nvPr/>
          </p:nvSpPr>
          <p:spPr bwMode="auto">
            <a:xfrm flipV="1">
              <a:off x="2133" y="942"/>
              <a:ext cx="1060" cy="828"/>
            </a:xfrm>
            <a:custGeom>
              <a:avLst/>
              <a:gdLst>
                <a:gd name="T0" fmla="*/ 0 w 27622"/>
                <a:gd name="T1" fmla="*/ 0 h 21600"/>
                <a:gd name="T2" fmla="*/ 0 w 27622"/>
                <a:gd name="T3" fmla="*/ 0 h 21600"/>
                <a:gd name="T4" fmla="*/ 0 w 27622"/>
                <a:gd name="T5" fmla="*/ 0 h 21600"/>
                <a:gd name="T6" fmla="*/ 0 60000 65536"/>
                <a:gd name="T7" fmla="*/ 0 60000 65536"/>
                <a:gd name="T8" fmla="*/ 0 60000 65536"/>
                <a:gd name="T9" fmla="*/ 0 w 27622"/>
                <a:gd name="T10" fmla="*/ 0 h 21600"/>
                <a:gd name="T11" fmla="*/ 27622 w 2762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622" h="21600" fill="none" extrusionOk="0">
                  <a:moveTo>
                    <a:pt x="27622" y="16129"/>
                  </a:moveTo>
                  <a:cubicBezTo>
                    <a:pt x="23666" y="19652"/>
                    <a:pt x="18552" y="21599"/>
                    <a:pt x="13255" y="21600"/>
                  </a:cubicBezTo>
                  <a:cubicBezTo>
                    <a:pt x="8454" y="21600"/>
                    <a:pt x="3790" y="20000"/>
                    <a:pt x="0" y="17054"/>
                  </a:cubicBezTo>
                </a:path>
                <a:path w="27622" h="21600" stroke="0" extrusionOk="0">
                  <a:moveTo>
                    <a:pt x="27622" y="16129"/>
                  </a:moveTo>
                  <a:cubicBezTo>
                    <a:pt x="23666" y="19652"/>
                    <a:pt x="18552" y="21599"/>
                    <a:pt x="13255" y="21600"/>
                  </a:cubicBezTo>
                  <a:cubicBezTo>
                    <a:pt x="8454" y="21600"/>
                    <a:pt x="3790" y="20000"/>
                    <a:pt x="0" y="17054"/>
                  </a:cubicBezTo>
                  <a:lnTo>
                    <a:pt x="13255" y="0"/>
                  </a:lnTo>
                  <a:lnTo>
                    <a:pt x="27622" y="16129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4" name="Freeform 22"/>
            <p:cNvSpPr>
              <a:spLocks/>
            </p:cNvSpPr>
            <p:nvPr/>
          </p:nvSpPr>
          <p:spPr bwMode="auto">
            <a:xfrm>
              <a:off x="3449" y="1776"/>
              <a:ext cx="31" cy="115"/>
            </a:xfrm>
            <a:custGeom>
              <a:avLst/>
              <a:gdLst>
                <a:gd name="T0" fmla="*/ 22 w 31"/>
                <a:gd name="T1" fmla="*/ 0 h 115"/>
                <a:gd name="T2" fmla="*/ 0 w 31"/>
                <a:gd name="T3" fmla="*/ 115 h 115"/>
                <a:gd name="T4" fmla="*/ 31 w 31"/>
                <a:gd name="T5" fmla="*/ 115 h 115"/>
                <a:gd name="T6" fmla="*/ 22 w 31"/>
                <a:gd name="T7" fmla="*/ 0 h 1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"/>
                <a:gd name="T13" fmla="*/ 0 h 115"/>
                <a:gd name="T14" fmla="*/ 31 w 31"/>
                <a:gd name="T15" fmla="*/ 115 h 1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" h="115">
                  <a:moveTo>
                    <a:pt x="22" y="0"/>
                  </a:moveTo>
                  <a:lnTo>
                    <a:pt x="0" y="115"/>
                  </a:lnTo>
                  <a:lnTo>
                    <a:pt x="31" y="11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A50021"/>
            </a:solidFill>
            <a:ln w="952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5" name="Freeform 23"/>
            <p:cNvSpPr>
              <a:spLocks/>
            </p:cNvSpPr>
            <p:nvPr/>
          </p:nvSpPr>
          <p:spPr bwMode="auto">
            <a:xfrm>
              <a:off x="3394" y="1438"/>
              <a:ext cx="47" cy="108"/>
            </a:xfrm>
            <a:custGeom>
              <a:avLst/>
              <a:gdLst>
                <a:gd name="T0" fmla="*/ 47 w 47"/>
                <a:gd name="T1" fmla="*/ 108 h 108"/>
                <a:gd name="T2" fmla="*/ 0 w 47"/>
                <a:gd name="T3" fmla="*/ 14 h 108"/>
                <a:gd name="T4" fmla="*/ 26 w 47"/>
                <a:gd name="T5" fmla="*/ 0 h 108"/>
                <a:gd name="T6" fmla="*/ 47 w 47"/>
                <a:gd name="T7" fmla="*/ 108 h 1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"/>
                <a:gd name="T13" fmla="*/ 0 h 108"/>
                <a:gd name="T14" fmla="*/ 47 w 47"/>
                <a:gd name="T15" fmla="*/ 108 h 1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" h="108">
                  <a:moveTo>
                    <a:pt x="47" y="108"/>
                  </a:moveTo>
                  <a:lnTo>
                    <a:pt x="0" y="14"/>
                  </a:lnTo>
                  <a:lnTo>
                    <a:pt x="26" y="0"/>
                  </a:lnTo>
                  <a:lnTo>
                    <a:pt x="47" y="108"/>
                  </a:lnTo>
                  <a:close/>
                </a:path>
              </a:pathLst>
            </a:custGeom>
            <a:solidFill>
              <a:srgbClr val="A50021"/>
            </a:solidFill>
            <a:ln w="952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6" name="Freeform 24"/>
            <p:cNvSpPr>
              <a:spLocks/>
            </p:cNvSpPr>
            <p:nvPr/>
          </p:nvSpPr>
          <p:spPr bwMode="auto">
            <a:xfrm>
              <a:off x="3055" y="1048"/>
              <a:ext cx="85" cy="64"/>
            </a:xfrm>
            <a:custGeom>
              <a:avLst/>
              <a:gdLst>
                <a:gd name="T0" fmla="*/ 0 w 85"/>
                <a:gd name="T1" fmla="*/ 0 h 64"/>
                <a:gd name="T2" fmla="*/ 66 w 85"/>
                <a:gd name="T3" fmla="*/ 64 h 64"/>
                <a:gd name="T4" fmla="*/ 85 w 85"/>
                <a:gd name="T5" fmla="*/ 35 h 64"/>
                <a:gd name="T6" fmla="*/ 0 w 85"/>
                <a:gd name="T7" fmla="*/ 0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"/>
                <a:gd name="T13" fmla="*/ 0 h 64"/>
                <a:gd name="T14" fmla="*/ 85 w 85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" h="64">
                  <a:moveTo>
                    <a:pt x="0" y="0"/>
                  </a:moveTo>
                  <a:lnTo>
                    <a:pt x="66" y="64"/>
                  </a:lnTo>
                  <a:lnTo>
                    <a:pt x="85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021"/>
            </a:solidFill>
            <a:ln w="952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7" name="Freeform 25"/>
            <p:cNvSpPr>
              <a:spLocks/>
            </p:cNvSpPr>
            <p:nvPr/>
          </p:nvSpPr>
          <p:spPr bwMode="auto">
            <a:xfrm>
              <a:off x="2954" y="988"/>
              <a:ext cx="102" cy="62"/>
            </a:xfrm>
            <a:custGeom>
              <a:avLst/>
              <a:gdLst>
                <a:gd name="T0" fmla="*/ 102 w 102"/>
                <a:gd name="T1" fmla="*/ 62 h 62"/>
                <a:gd name="T2" fmla="*/ 4 w 102"/>
                <a:gd name="T3" fmla="*/ 32 h 62"/>
                <a:gd name="T4" fmla="*/ 0 w 102"/>
                <a:gd name="T5" fmla="*/ 33 h 62"/>
                <a:gd name="T6" fmla="*/ 16 w 102"/>
                <a:gd name="T7" fmla="*/ 0 h 62"/>
                <a:gd name="T8" fmla="*/ 102 w 102"/>
                <a:gd name="T9" fmla="*/ 62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"/>
                <a:gd name="T16" fmla="*/ 0 h 62"/>
                <a:gd name="T17" fmla="*/ 102 w 102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" h="62">
                  <a:moveTo>
                    <a:pt x="102" y="62"/>
                  </a:moveTo>
                  <a:lnTo>
                    <a:pt x="4" y="32"/>
                  </a:lnTo>
                  <a:lnTo>
                    <a:pt x="0" y="33"/>
                  </a:lnTo>
                  <a:lnTo>
                    <a:pt x="16" y="0"/>
                  </a:lnTo>
                  <a:lnTo>
                    <a:pt x="102" y="62"/>
                  </a:lnTo>
                  <a:close/>
                </a:path>
              </a:pathLst>
            </a:custGeom>
            <a:solidFill>
              <a:srgbClr val="A50021"/>
            </a:solidFill>
            <a:ln w="952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8" name="Freeform 26"/>
            <p:cNvSpPr>
              <a:spLocks/>
            </p:cNvSpPr>
            <p:nvPr/>
          </p:nvSpPr>
          <p:spPr bwMode="auto">
            <a:xfrm rot="-69459">
              <a:off x="1809" y="1664"/>
              <a:ext cx="32" cy="115"/>
            </a:xfrm>
            <a:custGeom>
              <a:avLst/>
              <a:gdLst>
                <a:gd name="T0" fmla="*/ 1 w 32"/>
                <a:gd name="T1" fmla="*/ 115 h 115"/>
                <a:gd name="T2" fmla="*/ 32 w 32"/>
                <a:gd name="T3" fmla="*/ 4 h 115"/>
                <a:gd name="T4" fmla="*/ 0 w 32"/>
                <a:gd name="T5" fmla="*/ 0 h 115"/>
                <a:gd name="T6" fmla="*/ 1 w 32"/>
                <a:gd name="T7" fmla="*/ 115 h 1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"/>
                <a:gd name="T13" fmla="*/ 0 h 115"/>
                <a:gd name="T14" fmla="*/ 32 w 32"/>
                <a:gd name="T15" fmla="*/ 115 h 1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" h="115">
                  <a:moveTo>
                    <a:pt x="1" y="115"/>
                  </a:moveTo>
                  <a:lnTo>
                    <a:pt x="32" y="4"/>
                  </a:lnTo>
                  <a:lnTo>
                    <a:pt x="0" y="0"/>
                  </a:lnTo>
                  <a:lnTo>
                    <a:pt x="1" y="115"/>
                  </a:lnTo>
                  <a:close/>
                </a:path>
              </a:pathLst>
            </a:custGeom>
            <a:solidFill>
              <a:srgbClr val="A50021"/>
            </a:solidFill>
            <a:ln w="952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9" name="Freeform 27"/>
            <p:cNvSpPr>
              <a:spLocks/>
            </p:cNvSpPr>
            <p:nvPr/>
          </p:nvSpPr>
          <p:spPr bwMode="auto">
            <a:xfrm>
              <a:off x="2527" y="934"/>
              <a:ext cx="109" cy="36"/>
            </a:xfrm>
            <a:custGeom>
              <a:avLst/>
              <a:gdLst>
                <a:gd name="T0" fmla="*/ 109 w 109"/>
                <a:gd name="T1" fmla="*/ 4 h 36"/>
                <a:gd name="T2" fmla="*/ 5 w 109"/>
                <a:gd name="T3" fmla="*/ 36 h 36"/>
                <a:gd name="T4" fmla="*/ 0 w 109"/>
                <a:gd name="T5" fmla="*/ 0 h 36"/>
                <a:gd name="T6" fmla="*/ 109 w 109"/>
                <a:gd name="T7" fmla="*/ 4 h 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"/>
                <a:gd name="T13" fmla="*/ 0 h 36"/>
                <a:gd name="T14" fmla="*/ 109 w 109"/>
                <a:gd name="T15" fmla="*/ 36 h 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" h="36">
                  <a:moveTo>
                    <a:pt x="109" y="4"/>
                  </a:moveTo>
                  <a:lnTo>
                    <a:pt x="5" y="36"/>
                  </a:lnTo>
                  <a:lnTo>
                    <a:pt x="0" y="0"/>
                  </a:lnTo>
                  <a:lnTo>
                    <a:pt x="109" y="4"/>
                  </a:lnTo>
                  <a:close/>
                </a:path>
              </a:pathLst>
            </a:custGeom>
            <a:solidFill>
              <a:srgbClr val="A50021"/>
            </a:solidFill>
            <a:ln w="952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0" name="Freeform 28"/>
            <p:cNvSpPr>
              <a:spLocks/>
            </p:cNvSpPr>
            <p:nvPr/>
          </p:nvSpPr>
          <p:spPr bwMode="auto">
            <a:xfrm>
              <a:off x="2630" y="934"/>
              <a:ext cx="115" cy="32"/>
            </a:xfrm>
            <a:custGeom>
              <a:avLst/>
              <a:gdLst>
                <a:gd name="T0" fmla="*/ 0 w 115"/>
                <a:gd name="T1" fmla="*/ 5 h 32"/>
                <a:gd name="T2" fmla="*/ 112 w 115"/>
                <a:gd name="T3" fmla="*/ 32 h 32"/>
                <a:gd name="T4" fmla="*/ 115 w 115"/>
                <a:gd name="T5" fmla="*/ 0 h 32"/>
                <a:gd name="T6" fmla="*/ 0 w 115"/>
                <a:gd name="T7" fmla="*/ 5 h 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"/>
                <a:gd name="T13" fmla="*/ 0 h 32"/>
                <a:gd name="T14" fmla="*/ 115 w 115"/>
                <a:gd name="T15" fmla="*/ 32 h 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" h="32">
                  <a:moveTo>
                    <a:pt x="0" y="5"/>
                  </a:moveTo>
                  <a:lnTo>
                    <a:pt x="112" y="32"/>
                  </a:lnTo>
                  <a:lnTo>
                    <a:pt x="115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A50021"/>
            </a:solidFill>
            <a:ln w="9525">
              <a:solidFill>
                <a:srgbClr val="A5002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1" name="Text Box 29"/>
            <p:cNvSpPr txBox="1">
              <a:spLocks noChangeArrowheads="1"/>
            </p:cNvSpPr>
            <p:nvPr/>
          </p:nvSpPr>
          <p:spPr bwMode="auto">
            <a:xfrm>
              <a:off x="3111" y="1115"/>
              <a:ext cx="3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A50021"/>
                  </a:solidFill>
                  <a:latin typeface="黑体" pitchFamily="2" charset="-122"/>
                  <a:ea typeface="黑体" pitchFamily="2" charset="-122"/>
                </a:rPr>
                <a:t>45</a:t>
              </a:r>
              <a:r>
                <a:rPr lang="en-US" altLang="zh-CN" sz="2400">
                  <a:solidFill>
                    <a:srgbClr val="A50021"/>
                  </a:solidFill>
                  <a:latin typeface="黑体" pitchFamily="2" charset="-122"/>
                  <a:ea typeface="黑体" pitchFamily="2" charset="-122"/>
                  <a:sym typeface="Romantic" pitchFamily="2" charset="2"/>
                </a:rPr>
                <a:t></a:t>
              </a:r>
            </a:p>
          </p:txBody>
        </p:sp>
        <p:sp>
          <p:nvSpPr>
            <p:cNvPr id="25622" name="Rectangle 30"/>
            <p:cNvSpPr>
              <a:spLocks noChangeArrowheads="1"/>
            </p:cNvSpPr>
            <p:nvPr/>
          </p:nvSpPr>
          <p:spPr bwMode="auto">
            <a:xfrm>
              <a:off x="2709" y="726"/>
              <a:ext cx="3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A50021"/>
                  </a:solidFill>
                  <a:latin typeface="黑体" pitchFamily="2" charset="-122"/>
                  <a:ea typeface="黑体" pitchFamily="2" charset="-122"/>
                  <a:sym typeface="Romantic" pitchFamily="2" charset="2"/>
                </a:rPr>
                <a:t>30</a:t>
              </a:r>
            </a:p>
          </p:txBody>
        </p:sp>
        <p:sp>
          <p:nvSpPr>
            <p:cNvPr id="25623" name="Rectangle 31"/>
            <p:cNvSpPr>
              <a:spLocks noChangeArrowheads="1"/>
            </p:cNvSpPr>
            <p:nvPr/>
          </p:nvSpPr>
          <p:spPr bwMode="auto">
            <a:xfrm>
              <a:off x="3630" y="1316"/>
              <a:ext cx="3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A50021"/>
                  </a:solidFill>
                  <a:latin typeface="黑体" pitchFamily="2" charset="-122"/>
                  <a:ea typeface="黑体" pitchFamily="2" charset="-122"/>
                  <a:sym typeface="Romantic" pitchFamily="2" charset="2"/>
                </a:rPr>
                <a:t>15</a:t>
              </a:r>
            </a:p>
          </p:txBody>
        </p:sp>
        <p:sp>
          <p:nvSpPr>
            <p:cNvPr id="25624" name="Line 32"/>
            <p:cNvSpPr>
              <a:spLocks noChangeShapeType="1"/>
            </p:cNvSpPr>
            <p:nvPr/>
          </p:nvSpPr>
          <p:spPr bwMode="auto">
            <a:xfrm flipV="1">
              <a:off x="3464" y="1563"/>
              <a:ext cx="251" cy="13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5" name="Line 33"/>
            <p:cNvSpPr>
              <a:spLocks noChangeShapeType="1"/>
            </p:cNvSpPr>
            <p:nvPr/>
          </p:nvSpPr>
          <p:spPr bwMode="auto">
            <a:xfrm>
              <a:off x="3722" y="1566"/>
              <a:ext cx="307" cy="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6" name="Arc 34"/>
            <p:cNvSpPr>
              <a:spLocks/>
            </p:cNvSpPr>
            <p:nvPr/>
          </p:nvSpPr>
          <p:spPr bwMode="auto">
            <a:xfrm flipV="1">
              <a:off x="1813" y="1410"/>
              <a:ext cx="829" cy="376"/>
            </a:xfrm>
            <a:custGeom>
              <a:avLst/>
              <a:gdLst>
                <a:gd name="T0" fmla="*/ 0 w 21600"/>
                <a:gd name="T1" fmla="*/ 0 h 9803"/>
                <a:gd name="T2" fmla="*/ 0 w 21600"/>
                <a:gd name="T3" fmla="*/ 0 h 9803"/>
                <a:gd name="T4" fmla="*/ 0 w 21600"/>
                <a:gd name="T5" fmla="*/ 0 h 98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9803"/>
                <a:gd name="T11" fmla="*/ 21600 w 21600"/>
                <a:gd name="T12" fmla="*/ 9803 h 98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9803" fill="none" extrusionOk="0">
                  <a:moveTo>
                    <a:pt x="2346" y="9802"/>
                  </a:moveTo>
                  <a:cubicBezTo>
                    <a:pt x="803" y="6769"/>
                    <a:pt x="0" y="3415"/>
                    <a:pt x="0" y="13"/>
                  </a:cubicBezTo>
                  <a:cubicBezTo>
                    <a:pt x="-1" y="8"/>
                    <a:pt x="0" y="4"/>
                    <a:pt x="0" y="0"/>
                  </a:cubicBezTo>
                </a:path>
                <a:path w="21600" h="9803" stroke="0" extrusionOk="0">
                  <a:moveTo>
                    <a:pt x="2346" y="9802"/>
                  </a:moveTo>
                  <a:cubicBezTo>
                    <a:pt x="803" y="6769"/>
                    <a:pt x="0" y="3415"/>
                    <a:pt x="0" y="13"/>
                  </a:cubicBezTo>
                  <a:cubicBezTo>
                    <a:pt x="-1" y="8"/>
                    <a:pt x="0" y="4"/>
                    <a:pt x="0" y="0"/>
                  </a:cubicBezTo>
                  <a:lnTo>
                    <a:pt x="21600" y="13"/>
                  </a:lnTo>
                  <a:lnTo>
                    <a:pt x="2346" y="9802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7" name="Rectangle 35"/>
            <p:cNvSpPr>
              <a:spLocks noChangeArrowheads="1"/>
            </p:cNvSpPr>
            <p:nvPr/>
          </p:nvSpPr>
          <p:spPr bwMode="auto">
            <a:xfrm>
              <a:off x="1795" y="1112"/>
              <a:ext cx="3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A50021"/>
                  </a:solidFill>
                  <a:latin typeface="黑体" pitchFamily="2" charset="-122"/>
                  <a:ea typeface="黑体" pitchFamily="2" charset="-122"/>
                  <a:sym typeface="Romantic" pitchFamily="2" charset="2"/>
                </a:rPr>
                <a:t>90</a:t>
              </a:r>
            </a:p>
          </p:txBody>
        </p:sp>
        <p:sp>
          <p:nvSpPr>
            <p:cNvPr id="25628" name="Arc 36"/>
            <p:cNvSpPr>
              <a:spLocks/>
            </p:cNvSpPr>
            <p:nvPr/>
          </p:nvSpPr>
          <p:spPr bwMode="auto">
            <a:xfrm flipV="1">
              <a:off x="2645" y="1350"/>
              <a:ext cx="829" cy="752"/>
            </a:xfrm>
            <a:custGeom>
              <a:avLst/>
              <a:gdLst>
                <a:gd name="T0" fmla="*/ 0 w 21600"/>
                <a:gd name="T1" fmla="*/ 0 h 19608"/>
                <a:gd name="T2" fmla="*/ 0 w 21600"/>
                <a:gd name="T3" fmla="*/ 0 h 19608"/>
                <a:gd name="T4" fmla="*/ 0 w 21600"/>
                <a:gd name="T5" fmla="*/ 0 h 19608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608"/>
                <a:gd name="T11" fmla="*/ 21600 w 21600"/>
                <a:gd name="T12" fmla="*/ 19608 h 196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608" fill="none" extrusionOk="0">
                  <a:moveTo>
                    <a:pt x="19745" y="0"/>
                  </a:moveTo>
                  <a:cubicBezTo>
                    <a:pt x="20968" y="2757"/>
                    <a:pt x="21600" y="5739"/>
                    <a:pt x="21600" y="8756"/>
                  </a:cubicBezTo>
                  <a:cubicBezTo>
                    <a:pt x="21600" y="12567"/>
                    <a:pt x="20591" y="16312"/>
                    <a:pt x="18676" y="19608"/>
                  </a:cubicBezTo>
                </a:path>
                <a:path w="21600" h="19608" stroke="0" extrusionOk="0">
                  <a:moveTo>
                    <a:pt x="19745" y="0"/>
                  </a:moveTo>
                  <a:cubicBezTo>
                    <a:pt x="20968" y="2757"/>
                    <a:pt x="21600" y="5739"/>
                    <a:pt x="21600" y="8756"/>
                  </a:cubicBezTo>
                  <a:cubicBezTo>
                    <a:pt x="21600" y="12567"/>
                    <a:pt x="20591" y="16312"/>
                    <a:pt x="18676" y="19608"/>
                  </a:cubicBezTo>
                  <a:lnTo>
                    <a:pt x="0" y="8756"/>
                  </a:lnTo>
                  <a:lnTo>
                    <a:pt x="19745" y="0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9" name="Line 37"/>
            <p:cNvSpPr>
              <a:spLocks noChangeShapeType="1"/>
            </p:cNvSpPr>
            <p:nvPr/>
          </p:nvSpPr>
          <p:spPr bwMode="auto">
            <a:xfrm flipV="1">
              <a:off x="2640" y="85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6102" name="Rectangle 38"/>
          <p:cNvSpPr>
            <a:spLocks noChangeArrowheads="1"/>
          </p:cNvSpPr>
          <p:nvPr/>
        </p:nvSpPr>
        <p:spPr bwMode="auto">
          <a:xfrm>
            <a:off x="744538" y="5853113"/>
            <a:ext cx="51181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Marlett" pitchFamily="2" charset="2"/>
              </a:rPr>
              <a:t></a:t>
            </a:r>
            <a:r>
              <a:rPr lang="zh-CN" altLang="en-US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Marlett" pitchFamily="2" charset="2"/>
              </a:rPr>
              <a:t>特殊情况，如图标注。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1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"/>
                                        <p:tgtEl>
                                          <p:spTgt spid="21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5"/>
                                        <p:tgtEl>
                                          <p:spTgt spid="21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75"/>
                                        <p:tgtEl>
                                          <p:spTgt spid="21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5"/>
                                        <p:tgtEl>
                                          <p:spTgt spid="21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76" grpId="0" animBg="1"/>
      <p:bldP spid="216077" grpId="0" animBg="1" autoUpdateAnimBg="0"/>
      <p:bldP spid="216078" grpId="0" autoUpdateAnimBg="0"/>
      <p:bldP spid="216079" grpId="0" autoUpdateAnimBg="0"/>
      <p:bldP spid="216080" grpId="0" autoUpdateAnimBg="0"/>
      <p:bldP spid="21610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2288761C-5129-4242-8838-11F656A742CB}" type="slidenum">
              <a:rPr lang="en-US" altLang="zh-CN" sz="1400" smtClean="0">
                <a:solidFill>
                  <a:srgbClr val="578963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11</a:t>
            </a:fld>
            <a:endParaRPr lang="en-US" altLang="zh-CN" sz="1400">
              <a:solidFill>
                <a:srgbClr val="578963"/>
              </a:solidFill>
            </a:endParaRPr>
          </a:p>
        </p:txBody>
      </p:sp>
      <p:sp>
        <p:nvSpPr>
          <p:cNvPr id="221213" name="Text Box 29" descr="紫色网格"/>
          <p:cNvSpPr txBox="1">
            <a:spLocks noChangeArrowheads="1"/>
          </p:cNvSpPr>
          <p:nvPr/>
        </p:nvSpPr>
        <p:spPr bwMode="auto">
          <a:xfrm>
            <a:off x="263168" y="64725"/>
            <a:ext cx="1887538" cy="58477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A9BDA9"/>
                </a:solidFill>
                <a:ea typeface="黑体" pitchFamily="2" charset="-122"/>
              </a:rPr>
              <a:t>几点说明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57" t="40212" r="39375" b="51086"/>
          <a:stretch/>
        </p:blipFill>
        <p:spPr>
          <a:xfrm>
            <a:off x="232271" y="1317766"/>
            <a:ext cx="2806731" cy="172020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25" t="53930" r="38450" b="35993"/>
          <a:stretch/>
        </p:blipFill>
        <p:spPr>
          <a:xfrm>
            <a:off x="3352241" y="1291555"/>
            <a:ext cx="2551818" cy="1815078"/>
          </a:xfrm>
          <a:prstGeom prst="rect">
            <a:avLst/>
          </a:prstGeom>
        </p:spPr>
      </p:pic>
      <p:sp>
        <p:nvSpPr>
          <p:cNvPr id="74" name="Text Box 12"/>
          <p:cNvSpPr txBox="1">
            <a:spLocks noChangeArrowheads="1"/>
          </p:cNvSpPr>
          <p:nvPr/>
        </p:nvSpPr>
        <p:spPr bwMode="auto">
          <a:xfrm>
            <a:off x="134230" y="784599"/>
            <a:ext cx="89081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尺寸数字可注写在尺寸线中断处</a:t>
            </a: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可水平注写，也可上方注写。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50" t="16011" r="21067" b="77942"/>
          <a:stretch/>
        </p:blipFill>
        <p:spPr>
          <a:xfrm>
            <a:off x="6141153" y="1509864"/>
            <a:ext cx="2798866" cy="146037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03" t="37531" r="10444" b="48477"/>
          <a:stretch/>
        </p:blipFill>
        <p:spPr>
          <a:xfrm>
            <a:off x="6028238" y="2970235"/>
            <a:ext cx="2881986" cy="1975556"/>
          </a:xfrm>
          <a:prstGeom prst="rect">
            <a:avLst/>
          </a:prstGeom>
        </p:spPr>
      </p:pic>
      <p:sp>
        <p:nvSpPr>
          <p:cNvPr id="73" name="Text Box 10"/>
          <p:cNvSpPr txBox="1">
            <a:spLocks noChangeArrowheads="1"/>
          </p:cNvSpPr>
          <p:nvPr/>
        </p:nvSpPr>
        <p:spPr bwMode="auto">
          <a:xfrm>
            <a:off x="89782" y="3467259"/>
            <a:ext cx="539661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尺寸界线可以是轮廓线、轴线</a:t>
            </a:r>
            <a:endParaRPr lang="en-US" altLang="zh-CN" sz="2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或对称中心线，及它们的延长线，</a:t>
            </a:r>
            <a:endParaRPr lang="en-US" altLang="zh-CN" sz="2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但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不能是虚线</a:t>
            </a: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51" t="47078" r="17657" b="42925"/>
          <a:stretch/>
        </p:blipFill>
        <p:spPr>
          <a:xfrm>
            <a:off x="201860" y="4727723"/>
            <a:ext cx="4637632" cy="170694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25" t="30288" r="14632" b="56848"/>
          <a:stretch/>
        </p:blipFill>
        <p:spPr>
          <a:xfrm>
            <a:off x="4876795" y="4530073"/>
            <a:ext cx="2321458" cy="208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9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2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213" grpId="0" animBg="1" autoUpdateAnimBg="0"/>
      <p:bldP spid="74" grpId="0"/>
      <p:bldP spid="7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59730B53-2D7C-44EA-98D0-B48F2304F7A8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12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25282" name="Text Box 2" descr="蓝色砂纸"/>
          <p:cNvSpPr txBox="1">
            <a:spLocks noChangeArrowheads="1"/>
          </p:cNvSpPr>
          <p:nvPr/>
        </p:nvSpPr>
        <p:spPr bwMode="auto">
          <a:xfrm>
            <a:off x="366713" y="996950"/>
            <a:ext cx="7716837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500">
                <a:solidFill>
                  <a:srgbClr val="000000"/>
                </a:solidFill>
                <a:ea typeface="黑体" pitchFamily="2" charset="-122"/>
              </a:rPr>
              <a:t>        </a:t>
            </a:r>
            <a:r>
              <a:rPr lang="zh-CN" altLang="en-US" sz="2500">
                <a:solidFill>
                  <a:srgbClr val="000000"/>
                </a:solidFill>
                <a:ea typeface="黑体" pitchFamily="2" charset="-122"/>
              </a:rPr>
              <a:t>为保证基本体的形状、大小唯一确定，必须标注长、宽、高三个方向大小的尺寸。</a:t>
            </a:r>
          </a:p>
        </p:txBody>
      </p:sp>
      <p:graphicFrame>
        <p:nvGraphicFramePr>
          <p:cNvPr id="225284" name="Object 4"/>
          <p:cNvGraphicFramePr>
            <a:graphicFrameLocks noChangeAspect="1"/>
          </p:cNvGraphicFramePr>
          <p:nvPr/>
        </p:nvGraphicFramePr>
        <p:xfrm>
          <a:off x="511175" y="2009775"/>
          <a:ext cx="985838" cy="192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AutoCAD Drawing" r:id="rId3" imgW="11487150" imgH="7848600" progId="AutoCAD.Drawing.16">
                  <p:embed/>
                </p:oleObj>
              </mc:Choice>
              <mc:Fallback>
                <p:oleObj name="AutoCAD Drawing" r:id="rId3" imgW="11487150" imgH="7848600" progId="AutoCAD.Drawing.1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9183" t="4495" r="78568" b="60591"/>
                      <a:stretch>
                        <a:fillRect/>
                      </a:stretch>
                    </p:blipFill>
                    <p:spPr bwMode="auto">
                      <a:xfrm>
                        <a:off x="511175" y="2009775"/>
                        <a:ext cx="985838" cy="192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5" name="Object 5"/>
          <p:cNvGraphicFramePr>
            <a:graphicFrameLocks noChangeAspect="1"/>
          </p:cNvGraphicFramePr>
          <p:nvPr/>
        </p:nvGraphicFramePr>
        <p:xfrm>
          <a:off x="515938" y="2740025"/>
          <a:ext cx="9429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AutoCAD Drawing" r:id="rId5" imgW="11487150" imgH="7848600" progId="AutoCAD.Drawing.16">
                  <p:embed/>
                </p:oleObj>
              </mc:Choice>
              <mc:Fallback>
                <p:oleObj name="AutoCAD Drawing" r:id="rId5" imgW="11487150" imgH="7848600" progId="AutoCAD.Drawing.1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9276" t="17888" r="79005" b="75406"/>
                      <a:stretch>
                        <a:fillRect/>
                      </a:stretch>
                    </p:blipFill>
                    <p:spPr bwMode="auto">
                      <a:xfrm>
                        <a:off x="515938" y="2740025"/>
                        <a:ext cx="94297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6" name="Object 6"/>
          <p:cNvGraphicFramePr>
            <a:graphicFrameLocks noChangeAspect="1"/>
          </p:cNvGraphicFramePr>
          <p:nvPr/>
        </p:nvGraphicFramePr>
        <p:xfrm>
          <a:off x="1335088" y="3021013"/>
          <a:ext cx="46831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AutoCAD Drawing" r:id="rId7" imgW="11487150" imgH="7848600" progId="AutoCAD.Drawing.16">
                  <p:embed/>
                </p:oleObj>
              </mc:Choice>
              <mc:Fallback>
                <p:oleObj name="AutoCAD Drawing" r:id="rId7" imgW="11487150" imgH="7848600" progId="AutoCAD.Drawing.1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9868" t="22566" r="74306" b="60728"/>
                      <a:stretch>
                        <a:fillRect/>
                      </a:stretch>
                    </p:blipFill>
                    <p:spPr bwMode="auto">
                      <a:xfrm>
                        <a:off x="1335088" y="3021013"/>
                        <a:ext cx="46831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7" name="Object 7"/>
          <p:cNvGraphicFramePr>
            <a:graphicFrameLocks noChangeAspect="1"/>
          </p:cNvGraphicFramePr>
          <p:nvPr/>
        </p:nvGraphicFramePr>
        <p:xfrm>
          <a:off x="1346200" y="2011363"/>
          <a:ext cx="446088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AutoCAD Drawing" r:id="rId9" imgW="11487150" imgH="7848600" progId="AutoCAD.Drawing.16">
                  <p:embed/>
                </p:oleObj>
              </mc:Choice>
              <mc:Fallback>
                <p:oleObj name="AutoCAD Drawing" r:id="rId9" imgW="11487150" imgH="7848600" progId="AutoCAD.Drawing.1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9995" t="4312" r="74431" b="85176"/>
                      <a:stretch>
                        <a:fillRect/>
                      </a:stretch>
                    </p:blipFill>
                    <p:spPr bwMode="auto">
                      <a:xfrm>
                        <a:off x="1346200" y="2011363"/>
                        <a:ext cx="446088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8" name="Object 8"/>
          <p:cNvGraphicFramePr>
            <a:graphicFrameLocks noChangeAspect="1"/>
          </p:cNvGraphicFramePr>
          <p:nvPr/>
        </p:nvGraphicFramePr>
        <p:xfrm>
          <a:off x="2462213" y="1941513"/>
          <a:ext cx="1109662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AutoCAD Drawing" r:id="rId11" imgW="11487150" imgH="7848600" progId="AutoCAD.Drawing.16">
                  <p:embed/>
                </p:oleObj>
              </mc:Choice>
              <mc:Fallback>
                <p:oleObj name="AutoCAD Drawing" r:id="rId11" imgW="11487150" imgH="7848600" progId="AutoCAD.Drawing.1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8271" t="2089" r="57870" b="60429"/>
                      <a:stretch>
                        <a:fillRect/>
                      </a:stretch>
                    </p:blipFill>
                    <p:spPr bwMode="auto">
                      <a:xfrm>
                        <a:off x="2462213" y="1941513"/>
                        <a:ext cx="1109662" cy="205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9" name="Object 9"/>
          <p:cNvGraphicFramePr>
            <a:graphicFrameLocks noChangeAspect="1"/>
          </p:cNvGraphicFramePr>
          <p:nvPr/>
        </p:nvGraphicFramePr>
        <p:xfrm>
          <a:off x="2532063" y="2938463"/>
          <a:ext cx="993775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AutoCAD Drawing" r:id="rId13" imgW="11487150" imgH="7848600" progId="AutoCAD.Drawing.16">
                  <p:embed/>
                </p:oleObj>
              </mc:Choice>
              <mc:Fallback>
                <p:oleObj name="AutoCAD Drawing" r:id="rId13" imgW="11487150" imgH="7848600" progId="AutoCAD.Drawing.16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9262" t="20284" r="58327" b="67267"/>
                      <a:stretch>
                        <a:fillRect/>
                      </a:stretch>
                    </p:blipFill>
                    <p:spPr bwMode="auto">
                      <a:xfrm>
                        <a:off x="2532063" y="2938463"/>
                        <a:ext cx="993775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0" name="Object 10"/>
          <p:cNvGraphicFramePr>
            <a:graphicFrameLocks noChangeAspect="1"/>
          </p:cNvGraphicFramePr>
          <p:nvPr/>
        </p:nvGraphicFramePr>
        <p:xfrm>
          <a:off x="3397250" y="2041525"/>
          <a:ext cx="41592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AutoCAD Drawing" r:id="rId15" imgW="11487150" imgH="7848600" progId="AutoCAD.Drawing.16">
                  <p:embed/>
                </p:oleObj>
              </mc:Choice>
              <mc:Fallback>
                <p:oleObj name="AutoCAD Drawing" r:id="rId15" imgW="11487150" imgH="7848600" progId="AutoCAD.Drawing.16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909" t="3888" r="54897" b="80093"/>
                      <a:stretch>
                        <a:fillRect/>
                      </a:stretch>
                    </p:blipFill>
                    <p:spPr bwMode="auto">
                      <a:xfrm>
                        <a:off x="3397250" y="2041525"/>
                        <a:ext cx="41592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6" name="Object 16"/>
          <p:cNvGraphicFramePr>
            <a:graphicFrameLocks noChangeAspect="1"/>
          </p:cNvGraphicFramePr>
          <p:nvPr/>
        </p:nvGraphicFramePr>
        <p:xfrm>
          <a:off x="4927600" y="2044700"/>
          <a:ext cx="984250" cy="191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AutoCAD Drawing" r:id="rId17" imgW="11487150" imgH="7848600" progId="AutoCAD.Drawing.16">
                  <p:embed/>
                </p:oleObj>
              </mc:Choice>
              <mc:Fallback>
                <p:oleObj name="AutoCAD Drawing" r:id="rId17" imgW="11487150" imgH="7848600" progId="AutoCAD.Drawing.16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0776" t="5049" r="16931" b="59924"/>
                      <a:stretch>
                        <a:fillRect/>
                      </a:stretch>
                    </p:blipFill>
                    <p:spPr bwMode="auto">
                      <a:xfrm>
                        <a:off x="4927600" y="2044700"/>
                        <a:ext cx="984250" cy="191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7" name="Object 17"/>
          <p:cNvGraphicFramePr>
            <a:graphicFrameLocks noChangeAspect="1"/>
          </p:cNvGraphicFramePr>
          <p:nvPr/>
        </p:nvGraphicFramePr>
        <p:xfrm>
          <a:off x="4945063" y="2832100"/>
          <a:ext cx="94297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AutoCAD Drawing" r:id="rId19" imgW="11487150" imgH="7848600" progId="AutoCAD.Drawing.16">
                  <p:embed/>
                </p:oleObj>
              </mc:Choice>
              <mc:Fallback>
                <p:oleObj name="AutoCAD Drawing" r:id="rId19" imgW="11487150" imgH="7848600" progId="AutoCAD.Drawing.16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0995" t="20023" r="17229" b="69240"/>
                      <a:stretch>
                        <a:fillRect/>
                      </a:stretch>
                    </p:blipFill>
                    <p:spPr bwMode="auto">
                      <a:xfrm>
                        <a:off x="4945063" y="2832100"/>
                        <a:ext cx="942975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8" name="Object 18"/>
          <p:cNvGraphicFramePr>
            <a:graphicFrameLocks noChangeAspect="1"/>
          </p:cNvGraphicFramePr>
          <p:nvPr/>
        </p:nvGraphicFramePr>
        <p:xfrm>
          <a:off x="5641975" y="3217863"/>
          <a:ext cx="70167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AutoCAD Drawing" r:id="rId21" imgW="11487150" imgH="7848600" progId="AutoCAD.Drawing.16">
                  <p:embed/>
                </p:oleObj>
              </mc:Choice>
              <mc:Fallback>
                <p:oleObj name="AutoCAD Drawing" r:id="rId21" imgW="11487150" imgH="7848600" progId="AutoCAD.Drawing.16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9500" t="26494" r="11737" b="61028"/>
                      <a:stretch>
                        <a:fillRect/>
                      </a:stretch>
                    </p:blipFill>
                    <p:spPr bwMode="auto">
                      <a:xfrm>
                        <a:off x="5641975" y="3217863"/>
                        <a:ext cx="70167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9" name="Object 19"/>
          <p:cNvGraphicFramePr>
            <a:graphicFrameLocks noChangeAspect="1"/>
          </p:cNvGraphicFramePr>
          <p:nvPr/>
        </p:nvGraphicFramePr>
        <p:xfrm>
          <a:off x="5651500" y="2138363"/>
          <a:ext cx="4921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AutoCAD Drawing" r:id="rId23" imgW="11487150" imgH="7848600" progId="AutoCAD.Drawing.16">
                  <p:embed/>
                </p:oleObj>
              </mc:Choice>
              <mc:Fallback>
                <p:oleObj name="AutoCAD Drawing" r:id="rId23" imgW="11487150" imgH="7848600" progId="AutoCAD.Drawing.16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9619" t="6761" r="14235" b="83257"/>
                      <a:stretch>
                        <a:fillRect/>
                      </a:stretch>
                    </p:blipFill>
                    <p:spPr bwMode="auto">
                      <a:xfrm>
                        <a:off x="5651500" y="2138363"/>
                        <a:ext cx="49212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00" name="Object 20"/>
          <p:cNvGraphicFramePr>
            <a:graphicFrameLocks noChangeAspect="1"/>
          </p:cNvGraphicFramePr>
          <p:nvPr/>
        </p:nvGraphicFramePr>
        <p:xfrm>
          <a:off x="546100" y="4457700"/>
          <a:ext cx="985838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AutoCAD Drawing" r:id="rId25" imgW="11487150" imgH="7848600" progId="AutoCAD.Drawing.16">
                  <p:embed/>
                </p:oleObj>
              </mc:Choice>
              <mc:Fallback>
                <p:oleObj name="AutoCAD Drawing" r:id="rId25" imgW="11487150" imgH="7848600" progId="AutoCAD.Drawing.16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9160" t="55659" r="78529" b="26813"/>
                      <a:stretch>
                        <a:fillRect/>
                      </a:stretch>
                    </p:blipFill>
                    <p:spPr bwMode="auto">
                      <a:xfrm>
                        <a:off x="546100" y="4457700"/>
                        <a:ext cx="985838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579438" y="5310188"/>
            <a:ext cx="908050" cy="436562"/>
            <a:chOff x="495" y="3231"/>
            <a:chExt cx="572" cy="275"/>
          </a:xfrm>
        </p:grpSpPr>
        <p:sp>
          <p:nvSpPr>
            <p:cNvPr id="27694" name="Text Box 22"/>
            <p:cNvSpPr txBox="1">
              <a:spLocks noChangeArrowheads="1"/>
            </p:cNvSpPr>
            <p:nvPr/>
          </p:nvSpPr>
          <p:spPr bwMode="auto">
            <a:xfrm rot="-5400000">
              <a:off x="629" y="3285"/>
              <a:ext cx="260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500" b="0" i="1">
                  <a:solidFill>
                    <a:srgbClr val="FF33CC"/>
                  </a:solidFill>
                  <a:latin typeface="ISOCP" pitchFamily="2" charset="0"/>
                  <a:sym typeface="SansSerif" pitchFamily="2" charset="2"/>
                </a:rPr>
                <a:t></a:t>
              </a:r>
              <a:endParaRPr lang="en-US" altLang="zh-CN" sz="1500">
                <a:solidFill>
                  <a:srgbClr val="FF33CC"/>
                </a:solidFill>
              </a:endParaRPr>
            </a:p>
          </p:txBody>
        </p:sp>
        <p:graphicFrame>
          <p:nvGraphicFramePr>
            <p:cNvPr id="27695" name="Object 23"/>
            <p:cNvGraphicFramePr>
              <a:graphicFrameLocks noChangeAspect="1"/>
            </p:cNvGraphicFramePr>
            <p:nvPr/>
          </p:nvGraphicFramePr>
          <p:xfrm>
            <a:off x="495" y="3233"/>
            <a:ext cx="572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AutoCAD Drawing" r:id="rId27" imgW="11487150" imgH="7848600" progId="AutoCAD.Drawing.16">
                    <p:embed/>
                  </p:oleObj>
                </mc:Choice>
                <mc:Fallback>
                  <p:oleObj name="AutoCAD Drawing" r:id="rId27" imgW="11487150" imgH="7848600" progId="AutoCAD.Drawing.16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9576" t="70952" r="79083" b="21126"/>
                        <a:stretch>
                          <a:fillRect/>
                        </a:stretch>
                      </p:blipFill>
                      <p:spPr bwMode="auto">
                        <a:xfrm>
                          <a:off x="495" y="3233"/>
                          <a:ext cx="572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304" name="Object 24"/>
          <p:cNvGraphicFramePr>
            <a:graphicFrameLocks noChangeAspect="1"/>
          </p:cNvGraphicFramePr>
          <p:nvPr/>
        </p:nvGraphicFramePr>
        <p:xfrm>
          <a:off x="1438275" y="4554538"/>
          <a:ext cx="388938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AutoCAD Drawing" r:id="rId29" imgW="11487150" imgH="7848600" progId="AutoCAD.Drawing.16">
                  <p:embed/>
                </p:oleObj>
              </mc:Choice>
              <mc:Fallback>
                <p:oleObj name="AutoCAD Drawing" r:id="rId29" imgW="11487150" imgH="7848600" progId="AutoCAD.Drawing.16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0044" t="57401" r="75099" b="27597"/>
                      <a:stretch>
                        <a:fillRect/>
                      </a:stretch>
                    </p:blipFill>
                    <p:spPr bwMode="auto">
                      <a:xfrm>
                        <a:off x="1438275" y="4554538"/>
                        <a:ext cx="388938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05" name="Object 25"/>
          <p:cNvGraphicFramePr>
            <a:graphicFrameLocks noChangeAspect="1"/>
          </p:cNvGraphicFramePr>
          <p:nvPr/>
        </p:nvGraphicFramePr>
        <p:xfrm>
          <a:off x="2532063" y="4460875"/>
          <a:ext cx="985837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AutoCAD Drawing" r:id="rId31" imgW="11487150" imgH="7848600" progId="AutoCAD.Drawing.16">
                  <p:embed/>
                </p:oleObj>
              </mc:Choice>
              <mc:Fallback>
                <p:oleObj name="AutoCAD Drawing" r:id="rId31" imgW="11487150" imgH="7848600" progId="AutoCAD.Drawing.16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9401" t="55977" r="58287" b="26640"/>
                      <a:stretch>
                        <a:fillRect/>
                      </a:stretch>
                    </p:blipFill>
                    <p:spPr bwMode="auto">
                      <a:xfrm>
                        <a:off x="2532063" y="4460875"/>
                        <a:ext cx="985837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2559050" y="5305425"/>
            <a:ext cx="933450" cy="430213"/>
            <a:chOff x="1737" y="3223"/>
            <a:chExt cx="588" cy="271"/>
          </a:xfrm>
        </p:grpSpPr>
        <p:graphicFrame>
          <p:nvGraphicFramePr>
            <p:cNvPr id="27692" name="Object 27"/>
            <p:cNvGraphicFramePr>
              <a:graphicFrameLocks noChangeAspect="1"/>
            </p:cNvGraphicFramePr>
            <p:nvPr/>
          </p:nvGraphicFramePr>
          <p:xfrm>
            <a:off x="1737" y="3227"/>
            <a:ext cx="588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AutoCAD Drawing" r:id="rId33" imgW="11487150" imgH="7848600" progId="AutoCAD.Drawing.16">
                    <p:embed/>
                  </p:oleObj>
                </mc:Choice>
                <mc:Fallback>
                  <p:oleObj name="AutoCAD Drawing" r:id="rId33" imgW="11487150" imgH="7848600" progId="AutoCAD.Drawing.16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29738" t="71271" r="58604" b="20981"/>
                        <a:stretch>
                          <a:fillRect/>
                        </a:stretch>
                      </p:blipFill>
                      <p:spPr bwMode="auto">
                        <a:xfrm>
                          <a:off x="1737" y="3227"/>
                          <a:ext cx="588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93" name="Text Box 28"/>
            <p:cNvSpPr txBox="1">
              <a:spLocks noChangeArrowheads="1"/>
            </p:cNvSpPr>
            <p:nvPr/>
          </p:nvSpPr>
          <p:spPr bwMode="auto">
            <a:xfrm rot="-5400000">
              <a:off x="1888" y="3277"/>
              <a:ext cx="260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500" b="0" i="1">
                  <a:solidFill>
                    <a:srgbClr val="FF33CC"/>
                  </a:solidFill>
                  <a:latin typeface="ISOCP" pitchFamily="2" charset="0"/>
                  <a:sym typeface="SansSerif" pitchFamily="2" charset="2"/>
                </a:rPr>
                <a:t></a:t>
              </a:r>
              <a:endParaRPr lang="en-US" altLang="zh-CN" sz="1500">
                <a:solidFill>
                  <a:srgbClr val="FF33CC"/>
                </a:solidFill>
              </a:endParaRPr>
            </a:p>
          </p:txBody>
        </p:sp>
      </p:grpSp>
      <p:graphicFrame>
        <p:nvGraphicFramePr>
          <p:cNvPr id="225309" name="Object 29"/>
          <p:cNvGraphicFramePr>
            <a:graphicFrameLocks noChangeAspect="1"/>
          </p:cNvGraphicFramePr>
          <p:nvPr/>
        </p:nvGraphicFramePr>
        <p:xfrm>
          <a:off x="2968625" y="4532313"/>
          <a:ext cx="744538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AutoCAD Drawing" r:id="rId35" imgW="11487150" imgH="7848600" progId="AutoCAD.Drawing.16">
                  <p:embed/>
                </p:oleObj>
              </mc:Choice>
              <mc:Fallback>
                <p:oleObj name="AutoCAD Drawing" r:id="rId35" imgW="11487150" imgH="7848600" progId="AutoCAD.Drawing.16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4793" t="57399" r="55908" b="26959"/>
                      <a:stretch>
                        <a:fillRect/>
                      </a:stretch>
                    </p:blipFill>
                    <p:spPr bwMode="auto">
                      <a:xfrm>
                        <a:off x="2968625" y="4532313"/>
                        <a:ext cx="744538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0" name="Object 30"/>
          <p:cNvGraphicFramePr>
            <a:graphicFrameLocks noChangeAspect="1"/>
          </p:cNvGraphicFramePr>
          <p:nvPr/>
        </p:nvGraphicFramePr>
        <p:xfrm>
          <a:off x="4414838" y="4689475"/>
          <a:ext cx="9937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AutoCAD Drawing" r:id="rId37" imgW="11487150" imgH="7848600" progId="AutoCAD.Drawing.16">
                  <p:embed/>
                </p:oleObj>
              </mc:Choice>
              <mc:Fallback>
                <p:oleObj name="AutoCAD Drawing" r:id="rId37" imgW="11487150" imgH="7848600" progId="AutoCAD.Drawing.16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9028" t="60388" r="38560" b="26814"/>
                      <a:stretch>
                        <a:fillRect/>
                      </a:stretch>
                    </p:blipFill>
                    <p:spPr bwMode="auto">
                      <a:xfrm>
                        <a:off x="4414838" y="4689475"/>
                        <a:ext cx="99377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4460875" y="5289550"/>
            <a:ext cx="900113" cy="428625"/>
            <a:chOff x="2940" y="3078"/>
            <a:chExt cx="567" cy="270"/>
          </a:xfrm>
        </p:grpSpPr>
        <p:graphicFrame>
          <p:nvGraphicFramePr>
            <p:cNvPr id="27690" name="Object 32"/>
            <p:cNvGraphicFramePr>
              <a:graphicFrameLocks noChangeAspect="1"/>
            </p:cNvGraphicFramePr>
            <p:nvPr/>
          </p:nvGraphicFramePr>
          <p:xfrm>
            <a:off x="2940" y="3091"/>
            <a:ext cx="567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AutoCAD Drawing" r:id="rId39" imgW="11487150" imgH="7848600" progId="AutoCAD.Drawing.16">
                    <p:embed/>
                  </p:oleObj>
                </mc:Choice>
                <mc:Fallback>
                  <p:oleObj name="AutoCAD Drawing" r:id="rId39" imgW="11487150" imgH="7848600" progId="AutoCAD.Drawing.16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49544" t="71416" r="39215" b="21126"/>
                        <a:stretch>
                          <a:fillRect/>
                        </a:stretch>
                      </p:blipFill>
                      <p:spPr bwMode="auto">
                        <a:xfrm>
                          <a:off x="2940" y="3091"/>
                          <a:ext cx="567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91" name="Text Box 33"/>
            <p:cNvSpPr txBox="1">
              <a:spLocks noChangeArrowheads="1"/>
            </p:cNvSpPr>
            <p:nvPr/>
          </p:nvSpPr>
          <p:spPr bwMode="auto">
            <a:xfrm rot="-5400000">
              <a:off x="3083" y="3132"/>
              <a:ext cx="260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500" b="0" i="1">
                  <a:solidFill>
                    <a:srgbClr val="FF33CC"/>
                  </a:solidFill>
                  <a:latin typeface="ISOCP" pitchFamily="2" charset="0"/>
                  <a:sym typeface="SansSerif" pitchFamily="2" charset="2"/>
                </a:rPr>
                <a:t></a:t>
              </a:r>
              <a:endParaRPr lang="en-US" altLang="zh-CN" sz="1500">
                <a:solidFill>
                  <a:srgbClr val="FF33CC"/>
                </a:solidFill>
              </a:endParaRPr>
            </a:p>
          </p:txBody>
        </p:sp>
      </p:grp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4505325" y="4270375"/>
            <a:ext cx="804863" cy="547688"/>
            <a:chOff x="2968" y="2436"/>
            <a:chExt cx="507" cy="345"/>
          </a:xfrm>
        </p:grpSpPr>
        <p:graphicFrame>
          <p:nvGraphicFramePr>
            <p:cNvPr id="27688" name="Object 35"/>
            <p:cNvGraphicFramePr>
              <a:graphicFrameLocks noChangeAspect="1"/>
            </p:cNvGraphicFramePr>
            <p:nvPr/>
          </p:nvGraphicFramePr>
          <p:xfrm>
            <a:off x="2968" y="2557"/>
            <a:ext cx="507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AutoCAD Drawing" r:id="rId41" imgW="11487150" imgH="7848600" progId="AutoCAD.Drawing.16">
                    <p:embed/>
                  </p:oleObj>
                </mc:Choice>
                <mc:Fallback>
                  <p:oleObj name="AutoCAD Drawing" r:id="rId41" imgW="11487150" imgH="7848600" progId="AutoCAD.Drawing.16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50099" t="56442" r="39850" b="37057"/>
                        <a:stretch>
                          <a:fillRect/>
                        </a:stretch>
                      </p:blipFill>
                      <p:spPr bwMode="auto">
                        <a:xfrm>
                          <a:off x="2968" y="2557"/>
                          <a:ext cx="507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9" name="Text Box 36"/>
            <p:cNvSpPr txBox="1">
              <a:spLocks noChangeArrowheads="1"/>
            </p:cNvSpPr>
            <p:nvPr/>
          </p:nvSpPr>
          <p:spPr bwMode="auto">
            <a:xfrm rot="-5400000">
              <a:off x="3092" y="2490"/>
              <a:ext cx="260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500" b="0" i="1">
                  <a:solidFill>
                    <a:srgbClr val="FF33CC"/>
                  </a:solidFill>
                  <a:latin typeface="ISOCP" pitchFamily="2" charset="0"/>
                  <a:sym typeface="SansSerif" pitchFamily="2" charset="2"/>
                </a:rPr>
                <a:t></a:t>
              </a:r>
              <a:endParaRPr lang="en-US" altLang="zh-CN" sz="1500">
                <a:solidFill>
                  <a:srgbClr val="FF33CC"/>
                </a:solidFill>
              </a:endParaRPr>
            </a:p>
          </p:txBody>
        </p:sp>
      </p:grpSp>
      <p:graphicFrame>
        <p:nvGraphicFramePr>
          <p:cNvPr id="225317" name="Object 37"/>
          <p:cNvGraphicFramePr>
            <a:graphicFrameLocks noChangeAspect="1"/>
          </p:cNvGraphicFramePr>
          <p:nvPr/>
        </p:nvGraphicFramePr>
        <p:xfrm>
          <a:off x="5021263" y="4756150"/>
          <a:ext cx="5715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AutoCAD Drawing" r:id="rId43" imgW="11487150" imgH="7848600" progId="AutoCAD.Drawing.16">
                  <p:embed/>
                </p:oleObj>
              </mc:Choice>
              <mc:Fallback>
                <p:oleObj name="AutoCAD Drawing" r:id="rId43" imgW="11487150" imgH="7848600" progId="AutoCAD.Drawing.16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6444" t="61810" r="36420" b="27452"/>
                      <a:stretch>
                        <a:fillRect/>
                      </a:stretch>
                    </p:blipFill>
                    <p:spPr bwMode="auto">
                      <a:xfrm>
                        <a:off x="5021263" y="4756150"/>
                        <a:ext cx="5715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8" name="Text Box 38" descr="蓝色砂纸"/>
          <p:cNvSpPr txBox="1">
            <a:spLocks noChangeArrowheads="1"/>
          </p:cNvSpPr>
          <p:nvPr/>
        </p:nvSpPr>
        <p:spPr bwMode="auto">
          <a:xfrm>
            <a:off x="6372225" y="4557713"/>
            <a:ext cx="2038350" cy="1173162"/>
          </a:xfrm>
          <a:prstGeom prst="rect">
            <a:avLst/>
          </a:prstGeom>
          <a:noFill/>
          <a:ln w="28575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300">
                <a:solidFill>
                  <a:srgbClr val="000000"/>
                </a:solidFill>
                <a:ea typeface="黑体" pitchFamily="2" charset="-122"/>
              </a:rPr>
              <a:t>这些基本体的标注已经形成固定的模式。</a:t>
            </a:r>
          </a:p>
        </p:txBody>
      </p:sp>
      <p:sp>
        <p:nvSpPr>
          <p:cNvPr id="225319" name="Text Box 39" descr="紫色网格"/>
          <p:cNvSpPr txBox="1">
            <a:spLocks noChangeArrowheads="1"/>
          </p:cNvSpPr>
          <p:nvPr/>
        </p:nvSpPr>
        <p:spPr bwMode="auto">
          <a:xfrm>
            <a:off x="323850" y="209550"/>
            <a:ext cx="5986463" cy="701675"/>
          </a:xfrm>
          <a:prstGeom prst="rect">
            <a:avLst/>
          </a:prstGeom>
          <a:blipFill dpi="0" rotWithShape="0">
            <a:blip r:embed="rId4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二  基本体的尺寸标注</a:t>
            </a:r>
          </a:p>
        </p:txBody>
      </p:sp>
      <p:grpSp>
        <p:nvGrpSpPr>
          <p:cNvPr id="6" name="Group 54"/>
          <p:cNvGrpSpPr>
            <a:grpSpLocks/>
          </p:cNvGrpSpPr>
          <p:nvPr/>
        </p:nvGrpSpPr>
        <p:grpSpPr bwMode="auto">
          <a:xfrm>
            <a:off x="3235325" y="3122613"/>
            <a:ext cx="628650" cy="917575"/>
            <a:chOff x="2038" y="1974"/>
            <a:chExt cx="396" cy="578"/>
          </a:xfrm>
        </p:grpSpPr>
        <p:sp>
          <p:nvSpPr>
            <p:cNvPr id="27676" name="AutoShape 41"/>
            <p:cNvSpPr>
              <a:spLocks noChangeAspect="1" noChangeArrowheads="1" noTextEdit="1"/>
            </p:cNvSpPr>
            <p:nvPr/>
          </p:nvSpPr>
          <p:spPr bwMode="auto">
            <a:xfrm>
              <a:off x="2038" y="1974"/>
              <a:ext cx="295" cy="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7" name="Line 43"/>
            <p:cNvSpPr>
              <a:spLocks noChangeShapeType="1"/>
            </p:cNvSpPr>
            <p:nvPr/>
          </p:nvSpPr>
          <p:spPr bwMode="auto">
            <a:xfrm>
              <a:off x="2062" y="2012"/>
              <a:ext cx="352" cy="0"/>
            </a:xfrm>
            <a:prstGeom prst="line">
              <a:avLst/>
            </a:prstGeom>
            <a:noFill/>
            <a:ln w="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8" name="Line 44"/>
            <p:cNvSpPr>
              <a:spLocks noChangeShapeType="1"/>
            </p:cNvSpPr>
            <p:nvPr/>
          </p:nvSpPr>
          <p:spPr bwMode="auto">
            <a:xfrm>
              <a:off x="2048" y="2481"/>
              <a:ext cx="385" cy="0"/>
            </a:xfrm>
            <a:prstGeom prst="line">
              <a:avLst/>
            </a:prstGeom>
            <a:noFill/>
            <a:ln w="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9" name="Line 45"/>
            <p:cNvSpPr>
              <a:spLocks noChangeShapeType="1"/>
            </p:cNvSpPr>
            <p:nvPr/>
          </p:nvSpPr>
          <p:spPr bwMode="auto">
            <a:xfrm>
              <a:off x="2379" y="2068"/>
              <a:ext cx="0" cy="357"/>
            </a:xfrm>
            <a:prstGeom prst="line">
              <a:avLst/>
            </a:prstGeom>
            <a:noFill/>
            <a:ln w="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0" name="Freeform 46"/>
            <p:cNvSpPr>
              <a:spLocks/>
            </p:cNvSpPr>
            <p:nvPr/>
          </p:nvSpPr>
          <p:spPr bwMode="auto">
            <a:xfrm>
              <a:off x="2366" y="2012"/>
              <a:ext cx="26" cy="77"/>
            </a:xfrm>
            <a:custGeom>
              <a:avLst/>
              <a:gdLst>
                <a:gd name="T0" fmla="*/ 0 w 181"/>
                <a:gd name="T1" fmla="*/ 0 h 542"/>
                <a:gd name="T2" fmla="*/ 0 w 181"/>
                <a:gd name="T3" fmla="*/ 0 h 542"/>
                <a:gd name="T4" fmla="*/ 0 w 181"/>
                <a:gd name="T5" fmla="*/ 0 h 542"/>
                <a:gd name="T6" fmla="*/ 0 w 181"/>
                <a:gd name="T7" fmla="*/ 0 h 5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1"/>
                <a:gd name="T13" fmla="*/ 0 h 542"/>
                <a:gd name="T14" fmla="*/ 181 w 181"/>
                <a:gd name="T15" fmla="*/ 542 h 5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1" h="542">
                  <a:moveTo>
                    <a:pt x="0" y="542"/>
                  </a:moveTo>
                  <a:lnTo>
                    <a:pt x="181" y="542"/>
                  </a:lnTo>
                  <a:lnTo>
                    <a:pt x="91" y="0"/>
                  </a:lnTo>
                  <a:lnTo>
                    <a:pt x="0" y="542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1" name="Freeform 47"/>
            <p:cNvSpPr>
              <a:spLocks/>
            </p:cNvSpPr>
            <p:nvPr/>
          </p:nvSpPr>
          <p:spPr bwMode="auto">
            <a:xfrm>
              <a:off x="2366" y="2012"/>
              <a:ext cx="26" cy="77"/>
            </a:xfrm>
            <a:custGeom>
              <a:avLst/>
              <a:gdLst>
                <a:gd name="T0" fmla="*/ 0 w 181"/>
                <a:gd name="T1" fmla="*/ 0 h 542"/>
                <a:gd name="T2" fmla="*/ 0 w 181"/>
                <a:gd name="T3" fmla="*/ 0 h 542"/>
                <a:gd name="T4" fmla="*/ 0 w 181"/>
                <a:gd name="T5" fmla="*/ 0 h 542"/>
                <a:gd name="T6" fmla="*/ 0 w 181"/>
                <a:gd name="T7" fmla="*/ 0 h 5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1"/>
                <a:gd name="T13" fmla="*/ 0 h 542"/>
                <a:gd name="T14" fmla="*/ 181 w 181"/>
                <a:gd name="T15" fmla="*/ 542 h 5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1" h="542">
                  <a:moveTo>
                    <a:pt x="0" y="542"/>
                  </a:moveTo>
                  <a:lnTo>
                    <a:pt x="181" y="542"/>
                  </a:lnTo>
                  <a:lnTo>
                    <a:pt x="91" y="0"/>
                  </a:lnTo>
                  <a:lnTo>
                    <a:pt x="0" y="542"/>
                  </a:lnTo>
                  <a:close/>
                </a:path>
              </a:pathLst>
            </a:custGeom>
            <a:noFill/>
            <a:ln w="0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2" name="Freeform 48"/>
            <p:cNvSpPr>
              <a:spLocks/>
            </p:cNvSpPr>
            <p:nvPr/>
          </p:nvSpPr>
          <p:spPr bwMode="auto">
            <a:xfrm>
              <a:off x="2366" y="2404"/>
              <a:ext cx="26" cy="77"/>
            </a:xfrm>
            <a:custGeom>
              <a:avLst/>
              <a:gdLst>
                <a:gd name="T0" fmla="*/ 0 w 181"/>
                <a:gd name="T1" fmla="*/ 0 h 542"/>
                <a:gd name="T2" fmla="*/ 0 w 181"/>
                <a:gd name="T3" fmla="*/ 0 h 542"/>
                <a:gd name="T4" fmla="*/ 0 w 181"/>
                <a:gd name="T5" fmla="*/ 0 h 542"/>
                <a:gd name="T6" fmla="*/ 0 w 181"/>
                <a:gd name="T7" fmla="*/ 0 h 5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1"/>
                <a:gd name="T13" fmla="*/ 0 h 542"/>
                <a:gd name="T14" fmla="*/ 181 w 181"/>
                <a:gd name="T15" fmla="*/ 542 h 5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1" h="542">
                  <a:moveTo>
                    <a:pt x="0" y="0"/>
                  </a:moveTo>
                  <a:lnTo>
                    <a:pt x="181" y="0"/>
                  </a:lnTo>
                  <a:lnTo>
                    <a:pt x="91" y="5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3" name="Freeform 49"/>
            <p:cNvSpPr>
              <a:spLocks/>
            </p:cNvSpPr>
            <p:nvPr/>
          </p:nvSpPr>
          <p:spPr bwMode="auto">
            <a:xfrm>
              <a:off x="2366" y="2404"/>
              <a:ext cx="26" cy="77"/>
            </a:xfrm>
            <a:custGeom>
              <a:avLst/>
              <a:gdLst>
                <a:gd name="T0" fmla="*/ 0 w 181"/>
                <a:gd name="T1" fmla="*/ 0 h 542"/>
                <a:gd name="T2" fmla="*/ 0 w 181"/>
                <a:gd name="T3" fmla="*/ 0 h 542"/>
                <a:gd name="T4" fmla="*/ 0 w 181"/>
                <a:gd name="T5" fmla="*/ 0 h 542"/>
                <a:gd name="T6" fmla="*/ 0 w 181"/>
                <a:gd name="T7" fmla="*/ 0 h 5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1"/>
                <a:gd name="T13" fmla="*/ 0 h 542"/>
                <a:gd name="T14" fmla="*/ 181 w 181"/>
                <a:gd name="T15" fmla="*/ 542 h 5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1" h="542">
                  <a:moveTo>
                    <a:pt x="0" y="0"/>
                  </a:moveTo>
                  <a:lnTo>
                    <a:pt x="181" y="0"/>
                  </a:lnTo>
                  <a:lnTo>
                    <a:pt x="91" y="5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4" name="Line 50"/>
            <p:cNvSpPr>
              <a:spLocks noChangeShapeType="1"/>
            </p:cNvSpPr>
            <p:nvPr/>
          </p:nvSpPr>
          <p:spPr bwMode="auto">
            <a:xfrm>
              <a:off x="2069" y="2012"/>
              <a:ext cx="0" cy="0"/>
            </a:xfrm>
            <a:prstGeom prst="line">
              <a:avLst/>
            </a:prstGeom>
            <a:noFill/>
            <a:ln w="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5" name="Line 51"/>
            <p:cNvSpPr>
              <a:spLocks noChangeShapeType="1"/>
            </p:cNvSpPr>
            <p:nvPr/>
          </p:nvSpPr>
          <p:spPr bwMode="auto">
            <a:xfrm>
              <a:off x="2069" y="2523"/>
              <a:ext cx="0" cy="0"/>
            </a:xfrm>
            <a:prstGeom prst="line">
              <a:avLst/>
            </a:prstGeom>
            <a:noFill/>
            <a:ln w="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6" name="Line 52"/>
            <p:cNvSpPr>
              <a:spLocks noChangeShapeType="1"/>
            </p:cNvSpPr>
            <p:nvPr/>
          </p:nvSpPr>
          <p:spPr bwMode="auto">
            <a:xfrm>
              <a:off x="2379" y="2481"/>
              <a:ext cx="0" cy="0"/>
            </a:xfrm>
            <a:prstGeom prst="line">
              <a:avLst/>
            </a:prstGeom>
            <a:noFill/>
            <a:ln w="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7" name="Text Box 53"/>
            <p:cNvSpPr txBox="1">
              <a:spLocks noChangeArrowheads="1"/>
            </p:cNvSpPr>
            <p:nvPr/>
          </p:nvSpPr>
          <p:spPr bwMode="auto">
            <a:xfrm>
              <a:off x="2232" y="2050"/>
              <a:ext cx="202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vert="eaVert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900">
                  <a:solidFill>
                    <a:srgbClr val="FF66FF"/>
                  </a:solidFill>
                </a:rPr>
                <a:t>(       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2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2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25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225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5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2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2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2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2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2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0" dur="500"/>
                                        <p:tgtEl>
                                          <p:spTgt spid="22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22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2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2" grpId="0" autoUpdateAnimBg="0"/>
      <p:bldP spid="225318" grpId="0" animBg="1" autoUpdateAnimBg="0"/>
      <p:bldP spid="2253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10DA5CB0-3671-47B8-88A4-57D5A49B7079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13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24258" name="Text Box 2" descr="紫色网格"/>
          <p:cNvSpPr txBox="1">
            <a:spLocks noChangeArrowheads="1"/>
          </p:cNvSpPr>
          <p:nvPr/>
        </p:nvSpPr>
        <p:spPr bwMode="auto">
          <a:xfrm>
            <a:off x="541338" y="304800"/>
            <a:ext cx="6511925" cy="70167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三  复杂形体的尺寸标注</a:t>
            </a:r>
          </a:p>
        </p:txBody>
      </p:sp>
      <p:sp>
        <p:nvSpPr>
          <p:cNvPr id="224259" name="Text Box 3"/>
          <p:cNvSpPr txBox="1">
            <a:spLocks noChangeArrowheads="1"/>
          </p:cNvSpPr>
          <p:nvPr/>
        </p:nvSpPr>
        <p:spPr bwMode="auto">
          <a:xfrm>
            <a:off x="1431925" y="1484313"/>
            <a:ext cx="5975350" cy="701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尺寸标注的基本要求</a:t>
            </a:r>
          </a:p>
        </p:txBody>
      </p:sp>
      <p:sp>
        <p:nvSpPr>
          <p:cNvPr id="224269" name="Rectangle 13"/>
          <p:cNvSpPr>
            <a:spLocks noChangeArrowheads="1"/>
          </p:cNvSpPr>
          <p:nvPr/>
        </p:nvSpPr>
        <p:spPr bwMode="auto">
          <a:xfrm>
            <a:off x="769938" y="1668463"/>
            <a:ext cx="460375" cy="369887"/>
          </a:xfrm>
          <a:prstGeom prst="rect">
            <a:avLst/>
          </a:prstGeom>
          <a:gradFill rotWithShape="0">
            <a:gsLst>
              <a:gs pos="0">
                <a:srgbClr val="472324"/>
              </a:gs>
              <a:gs pos="50000">
                <a:srgbClr val="FF7C80"/>
              </a:gs>
              <a:gs pos="100000">
                <a:srgbClr val="472324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24276" name="Text Box 20"/>
          <p:cNvSpPr txBox="1">
            <a:spLocks noChangeArrowheads="1"/>
          </p:cNvSpPr>
          <p:nvPr/>
        </p:nvSpPr>
        <p:spPr bwMode="auto">
          <a:xfrm>
            <a:off x="723900" y="2743200"/>
            <a:ext cx="1323975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正确</a:t>
            </a:r>
            <a:endParaRPr lang="zh-CN" altLang="en-US" sz="2400" b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b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完全</a:t>
            </a:r>
            <a:endParaRPr lang="zh-CN" altLang="en-US" sz="2400" b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b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3.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清晰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b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4.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合理</a:t>
            </a:r>
          </a:p>
        </p:txBody>
      </p:sp>
      <p:sp>
        <p:nvSpPr>
          <p:cNvPr id="224277" name="Text Box 21"/>
          <p:cNvSpPr txBox="1">
            <a:spLocks noChangeArrowheads="1"/>
          </p:cNvSpPr>
          <p:nvPr/>
        </p:nvSpPr>
        <p:spPr bwMode="auto">
          <a:xfrm>
            <a:off x="1995488" y="2770188"/>
            <a:ext cx="668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- 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符合国家标准的规定（基本规则）</a:t>
            </a:r>
          </a:p>
        </p:txBody>
      </p:sp>
      <p:sp>
        <p:nvSpPr>
          <p:cNvPr id="224278" name="Text Box 22"/>
          <p:cNvSpPr txBox="1">
            <a:spLocks noChangeArrowheads="1"/>
          </p:cNvSpPr>
          <p:nvPr/>
        </p:nvSpPr>
        <p:spPr bwMode="auto">
          <a:xfrm>
            <a:off x="2027238" y="3455988"/>
            <a:ext cx="6708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- 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注写齐全，不遗漏，不重复</a:t>
            </a:r>
          </a:p>
        </p:txBody>
      </p:sp>
      <p:sp>
        <p:nvSpPr>
          <p:cNvPr id="224279" name="Text Box 23"/>
          <p:cNvSpPr txBox="1">
            <a:spLocks noChangeArrowheads="1"/>
          </p:cNvSpPr>
          <p:nvPr/>
        </p:nvSpPr>
        <p:spPr bwMode="auto">
          <a:xfrm>
            <a:off x="1997075" y="4083050"/>
            <a:ext cx="4330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- 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排列整齐，便于读图</a:t>
            </a:r>
          </a:p>
        </p:txBody>
      </p:sp>
      <p:sp>
        <p:nvSpPr>
          <p:cNvPr id="224280" name="Text Box 24"/>
          <p:cNvSpPr txBox="1">
            <a:spLocks noChangeArrowheads="1"/>
          </p:cNvSpPr>
          <p:nvPr/>
        </p:nvSpPr>
        <p:spPr bwMode="auto">
          <a:xfrm>
            <a:off x="1997075" y="4787900"/>
            <a:ext cx="66849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200" b="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- </a:t>
            </a:r>
            <a:r>
              <a:rPr lang="zh-CN" altLang="en-US" sz="22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保证设计要求，加工、装配和测量方便 </a:t>
            </a:r>
            <a:r>
              <a:rPr lang="en-US" altLang="zh-CN" sz="22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2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略</a:t>
            </a:r>
            <a:r>
              <a:rPr lang="en-US" altLang="zh-CN" sz="22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)</a:t>
            </a:r>
          </a:p>
        </p:txBody>
      </p:sp>
      <p:sp>
        <p:nvSpPr>
          <p:cNvPr id="11" name="Text Box 24"/>
          <p:cNvSpPr txBox="1">
            <a:spLocks noChangeArrowheads="1"/>
          </p:cNvSpPr>
          <p:nvPr/>
        </p:nvSpPr>
        <p:spPr bwMode="auto">
          <a:xfrm>
            <a:off x="715772" y="5572484"/>
            <a:ext cx="790735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基本要求：</a:t>
            </a:r>
            <a:endParaRPr lang="en-US" altLang="zh-CN" sz="2200" b="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按照国标，一个也不能少，而且一个也不能多地注写尺寸。</a:t>
            </a:r>
            <a:endParaRPr lang="en-US" altLang="zh-CN" sz="220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4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8" grpId="0" animBg="1" autoUpdateAnimBg="0"/>
      <p:bldP spid="224259" grpId="0" animBg="1" autoUpdateAnimBg="0"/>
      <p:bldP spid="224269" grpId="0" animBg="1"/>
      <p:bldP spid="224276" grpId="0" autoUpdateAnimBg="0"/>
      <p:bldP spid="224277" grpId="0" autoUpdateAnimBg="0"/>
      <p:bldP spid="224278" grpId="0" autoUpdateAnimBg="0"/>
      <p:bldP spid="224279" grpId="0" autoUpdateAnimBg="0"/>
      <p:bldP spid="224280" grpId="0" autoUpdateAnimBg="0"/>
      <p:bldP spid="1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DB097D6A-8C7E-4074-AC28-A21C171154B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14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561138" y="182563"/>
            <a:ext cx="2347912" cy="3678237"/>
            <a:chOff x="4206" y="-20"/>
            <a:chExt cx="1479" cy="2317"/>
          </a:xfrm>
        </p:grpSpPr>
        <p:graphicFrame>
          <p:nvGraphicFramePr>
            <p:cNvPr id="29712" name="Object 3"/>
            <p:cNvGraphicFramePr>
              <a:graphicFrameLocks noChangeAspect="1"/>
            </p:cNvGraphicFramePr>
            <p:nvPr/>
          </p:nvGraphicFramePr>
          <p:xfrm>
            <a:off x="4206" y="30"/>
            <a:ext cx="1479" cy="2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" name="AutoCAD Drawing" r:id="rId3" imgW="11487150" imgH="7848600" progId="AutoCAD.Drawing.16">
                    <p:embed/>
                  </p:oleObj>
                </mc:Choice>
                <mc:Fallback>
                  <p:oleObj name="AutoCAD Drawing" r:id="rId3" imgW="11487150" imgH="7848600" progId="AutoCAD.Drawing.16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46384" t="15384" r="22519" b="14862"/>
                        <a:stretch>
                          <a:fillRect/>
                        </a:stretch>
                      </p:blipFill>
                      <p:spPr bwMode="auto">
                        <a:xfrm>
                          <a:off x="4206" y="30"/>
                          <a:ext cx="1479" cy="2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3" name="Text Box 4"/>
            <p:cNvSpPr txBox="1">
              <a:spLocks noChangeArrowheads="1"/>
            </p:cNvSpPr>
            <p:nvPr/>
          </p:nvSpPr>
          <p:spPr bwMode="auto">
            <a:xfrm rot="-839945">
              <a:off x="4581" y="-20"/>
              <a:ext cx="26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500">
                  <a:solidFill>
                    <a:srgbClr val="FF33CC"/>
                  </a:solidFill>
                  <a:latin typeface="ISOCPEUR" pitchFamily="34" charset="0"/>
                  <a:sym typeface="Symbol" pitchFamily="18" charset="2"/>
                </a:rPr>
                <a:t> </a:t>
              </a:r>
            </a:p>
          </p:txBody>
        </p:sp>
      </p:grpSp>
      <p:sp>
        <p:nvSpPr>
          <p:cNvPr id="29700" name="Text Box 5"/>
          <p:cNvSpPr txBox="1">
            <a:spLocks noChangeArrowheads="1"/>
          </p:cNvSpPr>
          <p:nvPr/>
        </p:nvSpPr>
        <p:spPr bwMode="auto">
          <a:xfrm>
            <a:off x="420688" y="295275"/>
            <a:ext cx="4851400" cy="701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四个基本概念</a:t>
            </a:r>
          </a:p>
        </p:txBody>
      </p:sp>
      <p:sp>
        <p:nvSpPr>
          <p:cNvPr id="223238" name="Text Box 6"/>
          <p:cNvSpPr txBox="1">
            <a:spLocks noChangeArrowheads="1"/>
          </p:cNvSpPr>
          <p:nvPr/>
        </p:nvSpPr>
        <p:spPr bwMode="auto">
          <a:xfrm>
            <a:off x="339725" y="1436688"/>
            <a:ext cx="224948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600" b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尺寸基准</a:t>
            </a:r>
            <a:endParaRPr lang="zh-CN" altLang="en-US" sz="2600" b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23239" name="Text Box 7"/>
          <p:cNvSpPr txBox="1">
            <a:spLocks noChangeArrowheads="1"/>
          </p:cNvSpPr>
          <p:nvPr/>
        </p:nvSpPr>
        <p:spPr bwMode="auto">
          <a:xfrm>
            <a:off x="855663" y="5343525"/>
            <a:ext cx="624363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确定组合体中各个基本体的形状、大小的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尺寸。包括长、宽、高三个方向的尺寸。</a:t>
            </a:r>
          </a:p>
        </p:txBody>
      </p:sp>
      <p:sp>
        <p:nvSpPr>
          <p:cNvPr id="223241" name="Text Box 9"/>
          <p:cNvSpPr txBox="1">
            <a:spLocks noChangeArrowheads="1"/>
          </p:cNvSpPr>
          <p:nvPr/>
        </p:nvSpPr>
        <p:spPr bwMode="auto">
          <a:xfrm>
            <a:off x="296863" y="2039938"/>
            <a:ext cx="6323012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标注尺寸的</a:t>
            </a:r>
            <a:r>
              <a:rPr lang="zh-CN" altLang="en-US" sz="2400">
                <a:solidFill>
                  <a:srgbClr val="000000"/>
                </a:solidFill>
                <a:ea typeface="黑体" pitchFamily="2" charset="-122"/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起点</a:t>
            </a:r>
            <a:r>
              <a:rPr lang="zh-CN" altLang="en-US" sz="2400">
                <a:solidFill>
                  <a:srgbClr val="000000"/>
                </a:solidFill>
                <a:ea typeface="黑体" pitchFamily="2" charset="-122"/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称为尺寸基准。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组合体应该有长、宽、高三个方向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的尺寸基准。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一般选取组合体</a:t>
            </a: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或基本形体</a:t>
            </a: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的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对称中心线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24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回转体的轴线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底面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或</a:t>
            </a:r>
            <a:r>
              <a:rPr lang="zh-CN" altLang="en-US" sz="24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重要端</a:t>
            </a:r>
            <a:r>
              <a:rPr lang="en-US" altLang="zh-CN" sz="24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4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侧</a:t>
            </a:r>
            <a:r>
              <a:rPr lang="en-US" altLang="zh-CN" sz="24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4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面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为尺寸基准。</a:t>
            </a:r>
          </a:p>
        </p:txBody>
      </p:sp>
      <p:sp>
        <p:nvSpPr>
          <p:cNvPr id="223242" name="Text Box 10"/>
          <p:cNvSpPr txBox="1">
            <a:spLocks noChangeArrowheads="1"/>
          </p:cNvSpPr>
          <p:nvPr/>
        </p:nvSpPr>
        <p:spPr bwMode="auto">
          <a:xfrm>
            <a:off x="414338" y="4725988"/>
            <a:ext cx="1947862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600" b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定形尺寸</a:t>
            </a:r>
            <a:endParaRPr lang="zh-CN" altLang="en-US" sz="2600" b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223243" name="Object 11"/>
          <p:cNvGraphicFramePr>
            <a:graphicFrameLocks noChangeAspect="1"/>
          </p:cNvGraphicFramePr>
          <p:nvPr/>
        </p:nvGraphicFramePr>
        <p:xfrm>
          <a:off x="6451600" y="558800"/>
          <a:ext cx="1744663" cy="288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AutoCAD Drawing" r:id="rId5" imgW="11487150" imgH="7848600" progId="AutoCAD.Drawing.16">
                  <p:embed/>
                </p:oleObj>
              </mc:Choice>
              <mc:Fallback>
                <p:oleObj name="AutoCAD Drawing" r:id="rId5" imgW="11487150" imgH="7848600" progId="AutoCAD.Drawing.16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5016" t="20738" r="31876" b="23416"/>
                      <a:stretch>
                        <a:fillRect/>
                      </a:stretch>
                    </p:blipFill>
                    <p:spPr bwMode="auto">
                      <a:xfrm>
                        <a:off x="6451600" y="558800"/>
                        <a:ext cx="1744663" cy="288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4" name="Object 12"/>
          <p:cNvGraphicFramePr>
            <a:graphicFrameLocks noChangeAspect="1"/>
          </p:cNvGraphicFramePr>
          <p:nvPr/>
        </p:nvGraphicFramePr>
        <p:xfrm>
          <a:off x="5918200" y="1598613"/>
          <a:ext cx="15462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AutoCAD Drawing" r:id="rId7" imgW="11487150" imgH="7848600" progId="AutoCAD.Drawing.16">
                  <p:embed/>
                </p:oleObj>
              </mc:Choice>
              <mc:Fallback>
                <p:oleObj name="AutoCAD Drawing" r:id="rId7" imgW="11487150" imgH="7848600" progId="AutoCAD.Drawing.16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8036" t="40770" r="41484" b="44461"/>
                      <a:stretch>
                        <a:fillRect/>
                      </a:stretch>
                    </p:blipFill>
                    <p:spPr bwMode="auto">
                      <a:xfrm>
                        <a:off x="5918200" y="1598613"/>
                        <a:ext cx="15462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5" name="Text Box 13"/>
          <p:cNvSpPr txBox="1">
            <a:spLocks noChangeArrowheads="1"/>
          </p:cNvSpPr>
          <p:nvPr/>
        </p:nvSpPr>
        <p:spPr bwMode="auto">
          <a:xfrm>
            <a:off x="5738813" y="1547813"/>
            <a:ext cx="1809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600" b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长度方向基准</a:t>
            </a:r>
          </a:p>
        </p:txBody>
      </p:sp>
      <p:graphicFrame>
        <p:nvGraphicFramePr>
          <p:cNvPr id="223246" name="Object 14"/>
          <p:cNvGraphicFramePr>
            <a:graphicFrameLocks noChangeAspect="1"/>
          </p:cNvGraphicFramePr>
          <p:nvPr/>
        </p:nvGraphicFramePr>
        <p:xfrm>
          <a:off x="5934075" y="2116138"/>
          <a:ext cx="127000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AutoCAD Drawing" r:id="rId9" imgW="11487150" imgH="7848600" progId="AutoCAD.Drawing.16">
                  <p:embed/>
                </p:oleObj>
              </mc:Choice>
              <mc:Fallback>
                <p:oleObj name="AutoCAD Drawing" r:id="rId9" imgW="11487150" imgH="7848600" progId="AutoCAD.Drawing.16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8857" t="51169" r="44322" b="33600"/>
                      <a:stretch>
                        <a:fillRect/>
                      </a:stretch>
                    </p:blipFill>
                    <p:spPr bwMode="auto">
                      <a:xfrm>
                        <a:off x="5934075" y="2116138"/>
                        <a:ext cx="1270000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7" name="Text Box 15"/>
          <p:cNvSpPr txBox="1">
            <a:spLocks noChangeArrowheads="1"/>
          </p:cNvSpPr>
          <p:nvPr/>
        </p:nvSpPr>
        <p:spPr bwMode="auto">
          <a:xfrm>
            <a:off x="5803900" y="1882775"/>
            <a:ext cx="1809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600" b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宽度方向基准</a:t>
            </a:r>
          </a:p>
        </p:txBody>
      </p:sp>
      <p:graphicFrame>
        <p:nvGraphicFramePr>
          <p:cNvPr id="223248" name="Object 16"/>
          <p:cNvGraphicFramePr>
            <a:graphicFrameLocks noChangeAspect="1"/>
          </p:cNvGraphicFramePr>
          <p:nvPr/>
        </p:nvGraphicFramePr>
        <p:xfrm>
          <a:off x="6540500" y="1443038"/>
          <a:ext cx="2320925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AutoCAD Drawing" r:id="rId11" imgW="11487150" imgH="7848600" progId="AutoCAD.Drawing.16">
                  <p:embed/>
                </p:oleObj>
              </mc:Choice>
              <mc:Fallback>
                <p:oleObj name="AutoCAD Drawing" r:id="rId11" imgW="11487150" imgH="7848600" progId="AutoCAD.Drawing.16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6173" t="37938" r="23087" b="46646"/>
                      <a:stretch>
                        <a:fillRect/>
                      </a:stretch>
                    </p:blipFill>
                    <p:spPr bwMode="auto">
                      <a:xfrm>
                        <a:off x="6540500" y="1443038"/>
                        <a:ext cx="2320925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9" name="Text Box 17"/>
          <p:cNvSpPr txBox="1">
            <a:spLocks noChangeArrowheads="1"/>
          </p:cNvSpPr>
          <p:nvPr/>
        </p:nvSpPr>
        <p:spPr bwMode="auto">
          <a:xfrm>
            <a:off x="7507288" y="1846263"/>
            <a:ext cx="1473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600" b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高度方向基准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23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3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223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22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3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3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8" grpId="0" autoUpdateAnimBg="0"/>
      <p:bldP spid="223239" grpId="0" autoUpdateAnimBg="0"/>
      <p:bldP spid="223241" grpId="0" autoUpdateAnimBg="0"/>
      <p:bldP spid="223242" grpId="0" autoUpdateAnimBg="0"/>
      <p:bldP spid="223245" grpId="0" autoUpdateAnimBg="0"/>
      <p:bldP spid="223247" grpId="0" autoUpdateAnimBg="0"/>
      <p:bldP spid="22324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6C2ABAA5-27CB-4BA3-91F4-B4D61A6654B2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15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29378" name="Rectangle 2"/>
          <p:cNvSpPr>
            <a:spLocks noChangeArrowheads="1"/>
          </p:cNvSpPr>
          <p:nvPr/>
        </p:nvSpPr>
        <p:spPr bwMode="auto">
          <a:xfrm>
            <a:off x="5999163" y="4448175"/>
            <a:ext cx="1260475" cy="241300"/>
          </a:xfrm>
          <a:prstGeom prst="rect">
            <a:avLst/>
          </a:prstGeom>
          <a:solidFill>
            <a:srgbClr val="00FFCC"/>
          </a:solidFill>
          <a:ln w="0">
            <a:solidFill>
              <a:srgbClr val="00FFCC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29379" name="Rectangle 3"/>
          <p:cNvSpPr>
            <a:spLocks noChangeArrowheads="1"/>
          </p:cNvSpPr>
          <p:nvPr/>
        </p:nvSpPr>
        <p:spPr bwMode="auto">
          <a:xfrm>
            <a:off x="7353300" y="4776788"/>
            <a:ext cx="311150" cy="896937"/>
          </a:xfrm>
          <a:prstGeom prst="rect">
            <a:avLst/>
          </a:prstGeom>
          <a:solidFill>
            <a:srgbClr val="00FFCC"/>
          </a:solidFill>
          <a:ln w="0">
            <a:solidFill>
              <a:srgbClr val="00FFCC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29380" name="Rectangle 4"/>
          <p:cNvSpPr>
            <a:spLocks noChangeArrowheads="1"/>
          </p:cNvSpPr>
          <p:nvPr/>
        </p:nvSpPr>
        <p:spPr bwMode="auto">
          <a:xfrm>
            <a:off x="7631113" y="3484563"/>
            <a:ext cx="249237" cy="741362"/>
          </a:xfrm>
          <a:prstGeom prst="rect">
            <a:avLst/>
          </a:prstGeom>
          <a:solidFill>
            <a:srgbClr val="00FFCC"/>
          </a:solidFill>
          <a:ln w="0">
            <a:solidFill>
              <a:srgbClr val="00FFCC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29381" name="Rectangle 5"/>
          <p:cNvSpPr>
            <a:spLocks noChangeArrowheads="1"/>
          </p:cNvSpPr>
          <p:nvPr/>
        </p:nvSpPr>
        <p:spPr bwMode="auto">
          <a:xfrm>
            <a:off x="5861050" y="3128963"/>
            <a:ext cx="2105025" cy="26828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29383" name="Text Box 7"/>
          <p:cNvSpPr txBox="1">
            <a:spLocks noChangeArrowheads="1"/>
          </p:cNvSpPr>
          <p:nvPr/>
        </p:nvSpPr>
        <p:spPr bwMode="auto">
          <a:xfrm>
            <a:off x="512763" y="768350"/>
            <a:ext cx="2062162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600" b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3.</a:t>
            </a:r>
            <a:r>
              <a:rPr lang="zh-CN" altLang="en-US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定位尺寸</a:t>
            </a:r>
          </a:p>
        </p:txBody>
      </p:sp>
      <p:sp>
        <p:nvSpPr>
          <p:cNvPr id="229384" name="Text Box 8"/>
          <p:cNvSpPr txBox="1">
            <a:spLocks noChangeArrowheads="1"/>
          </p:cNvSpPr>
          <p:nvPr/>
        </p:nvSpPr>
        <p:spPr bwMode="auto">
          <a:xfrm>
            <a:off x="1285875" y="1282700"/>
            <a:ext cx="382905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确定组合体中各基本形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体相互位置的尺寸。长、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宽、高各个方向均应有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定位尺寸。</a:t>
            </a:r>
          </a:p>
        </p:txBody>
      </p:sp>
      <p:sp>
        <p:nvSpPr>
          <p:cNvPr id="229385" name="Text Box 9"/>
          <p:cNvSpPr txBox="1">
            <a:spLocks noChangeArrowheads="1"/>
          </p:cNvSpPr>
          <p:nvPr/>
        </p:nvSpPr>
        <p:spPr bwMode="auto">
          <a:xfrm>
            <a:off x="1343025" y="4222750"/>
            <a:ext cx="38544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组合体的长、宽、高三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个方向的最大尺寸。</a:t>
            </a:r>
          </a:p>
        </p:txBody>
      </p:sp>
      <p:sp>
        <p:nvSpPr>
          <p:cNvPr id="229386" name="Text Box 10"/>
          <p:cNvSpPr txBox="1">
            <a:spLocks noChangeArrowheads="1"/>
          </p:cNvSpPr>
          <p:nvPr/>
        </p:nvSpPr>
        <p:spPr bwMode="auto">
          <a:xfrm>
            <a:off x="557213" y="3600450"/>
            <a:ext cx="2062162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600" b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总体尺寸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5916613" y="3054350"/>
            <a:ext cx="1966912" cy="2709863"/>
            <a:chOff x="3958" y="1442"/>
            <a:chExt cx="1239" cy="1707"/>
          </a:xfrm>
        </p:grpSpPr>
        <p:graphicFrame>
          <p:nvGraphicFramePr>
            <p:cNvPr id="30732" name="Object 12"/>
            <p:cNvGraphicFramePr>
              <a:graphicFrameLocks noChangeAspect="1"/>
            </p:cNvGraphicFramePr>
            <p:nvPr/>
          </p:nvGraphicFramePr>
          <p:xfrm>
            <a:off x="3958" y="1538"/>
            <a:ext cx="1239" cy="16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3" name="AutoCAD Drawing" r:id="rId3" imgW="11487150" imgH="7848600" progId="AutoCAD.Drawing.16">
                    <p:embed/>
                  </p:oleObj>
                </mc:Choice>
                <mc:Fallback>
                  <p:oleObj name="AutoCAD Drawing" r:id="rId3" imgW="11487150" imgH="7848600" progId="AutoCAD.Drawing.16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1029" t="31615" r="67003" b="26590"/>
                        <a:stretch>
                          <a:fillRect/>
                        </a:stretch>
                      </p:blipFill>
                      <p:spPr bwMode="auto">
                        <a:xfrm>
                          <a:off x="3958" y="1538"/>
                          <a:ext cx="1239" cy="16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3" name="Text Box 13"/>
            <p:cNvSpPr txBox="1">
              <a:spLocks noChangeArrowheads="1"/>
            </p:cNvSpPr>
            <p:nvPr/>
          </p:nvSpPr>
          <p:spPr bwMode="auto">
            <a:xfrm rot="-839945">
              <a:off x="4316" y="1442"/>
              <a:ext cx="26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500">
                  <a:solidFill>
                    <a:srgbClr val="FF33CC"/>
                  </a:solidFill>
                  <a:latin typeface="ISOCPEUR" pitchFamily="34" charset="0"/>
                  <a:sym typeface="Symbol" pitchFamily="18" charset="2"/>
                </a:rPr>
                <a:t>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9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2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229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9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8" grpId="0" animBg="1"/>
      <p:bldP spid="229379" grpId="0" animBg="1"/>
      <p:bldP spid="229380" grpId="0" animBg="1"/>
      <p:bldP spid="229381" grpId="0" animBg="1"/>
      <p:bldP spid="229383" grpId="0" autoUpdateAnimBg="0"/>
      <p:bldP spid="229384" grpId="0" autoUpdateAnimBg="0"/>
      <p:bldP spid="229385" grpId="0" autoUpdateAnimBg="0"/>
      <p:bldP spid="22938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2F10A022-8EE8-4B4A-85A5-BD08B94568E5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16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33510" name="Text Box 38" descr="紫色网格"/>
          <p:cNvSpPr txBox="1">
            <a:spLocks noChangeArrowheads="1"/>
          </p:cNvSpPr>
          <p:nvPr/>
        </p:nvSpPr>
        <p:spPr bwMode="auto">
          <a:xfrm>
            <a:off x="323850" y="209550"/>
            <a:ext cx="8450263" cy="701675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基本体截切和相贯时的尺寸标注</a:t>
            </a:r>
          </a:p>
        </p:txBody>
      </p:sp>
      <p:sp>
        <p:nvSpPr>
          <p:cNvPr id="233511" name="Text Box 39" descr="蓝色砂纸"/>
          <p:cNvSpPr txBox="1">
            <a:spLocks noChangeArrowheads="1"/>
          </p:cNvSpPr>
          <p:nvPr/>
        </p:nvSpPr>
        <p:spPr bwMode="auto">
          <a:xfrm>
            <a:off x="692150" y="1022350"/>
            <a:ext cx="7975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5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截切：标注基本体的尺寸，再标注</a:t>
            </a:r>
            <a:r>
              <a:rPr lang="zh-CN" altLang="en-US" sz="2500">
                <a:solidFill>
                  <a:srgbClr val="F31313"/>
                </a:solidFill>
                <a:latin typeface="黑体" pitchFamily="2" charset="-122"/>
                <a:ea typeface="黑体" pitchFamily="2" charset="-122"/>
              </a:rPr>
              <a:t>截平面</a:t>
            </a:r>
            <a:r>
              <a:rPr lang="zh-CN" altLang="en-US" sz="2500">
                <a:latin typeface="黑体" pitchFamily="2" charset="-122"/>
                <a:ea typeface="黑体" pitchFamily="2" charset="-122"/>
              </a:rPr>
              <a:t>的位置</a:t>
            </a:r>
            <a:r>
              <a:rPr lang="zh-CN" altLang="en-US" sz="25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5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   </a:t>
            </a:r>
            <a:r>
              <a:rPr lang="zh-CN" altLang="en-US" sz="25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不标注截交线的尺寸。</a:t>
            </a:r>
            <a:r>
              <a:rPr lang="zh-CN" altLang="en-US" sz="25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aphicFrame>
        <p:nvGraphicFramePr>
          <p:cNvPr id="233513" name="Object 41"/>
          <p:cNvGraphicFramePr>
            <a:graphicFrameLocks noChangeAspect="1"/>
          </p:cNvGraphicFramePr>
          <p:nvPr/>
        </p:nvGraphicFramePr>
        <p:xfrm>
          <a:off x="900113" y="2244725"/>
          <a:ext cx="1019175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AutoCAD Drawing" r:id="rId4" imgW="11487150" imgH="7848600" progId="AutoCAD.Drawing.16">
                  <p:embed/>
                </p:oleObj>
              </mc:Choice>
              <mc:Fallback>
                <p:oleObj name="AutoCAD Drawing" r:id="rId4" imgW="11487150" imgH="7848600" progId="AutoCAD.Drawing.16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4171" t="4369" r="72330" b="58708"/>
                      <a:stretch>
                        <a:fillRect/>
                      </a:stretch>
                    </p:blipFill>
                    <p:spPr bwMode="auto">
                      <a:xfrm>
                        <a:off x="900113" y="2244725"/>
                        <a:ext cx="1019175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14" name="Object 42"/>
          <p:cNvGraphicFramePr>
            <a:graphicFrameLocks noChangeAspect="1"/>
          </p:cNvGraphicFramePr>
          <p:nvPr/>
        </p:nvGraphicFramePr>
        <p:xfrm>
          <a:off x="966788" y="3119438"/>
          <a:ext cx="88265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AutoCAD Drawing" r:id="rId6" imgW="11487150" imgH="7848600" progId="AutoCAD.Drawing.16">
                  <p:embed/>
                </p:oleObj>
              </mc:Choice>
              <mc:Fallback>
                <p:oleObj name="AutoCAD Drawing" r:id="rId6" imgW="11487150" imgH="7848600" progId="AutoCAD.Drawing.16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076" t="21231" r="73235" b="66554"/>
                      <a:stretch>
                        <a:fillRect/>
                      </a:stretch>
                    </p:blipFill>
                    <p:spPr bwMode="auto">
                      <a:xfrm>
                        <a:off x="966788" y="3119438"/>
                        <a:ext cx="882650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15" name="Object 43"/>
          <p:cNvGraphicFramePr>
            <a:graphicFrameLocks noChangeAspect="1"/>
          </p:cNvGraphicFramePr>
          <p:nvPr/>
        </p:nvGraphicFramePr>
        <p:xfrm>
          <a:off x="1797050" y="2259013"/>
          <a:ext cx="373063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AutoCAD Drawing" r:id="rId8" imgW="11487150" imgH="7848600" progId="AutoCAD.Drawing.16">
                  <p:embed/>
                </p:oleObj>
              </mc:Choice>
              <mc:Fallback>
                <p:oleObj name="AutoCAD Drawing" r:id="rId8" imgW="11487150" imgH="7848600" progId="AutoCAD.Drawing.16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5716" t="4677" r="69344" b="80431"/>
                      <a:stretch>
                        <a:fillRect/>
                      </a:stretch>
                    </p:blipFill>
                    <p:spPr bwMode="auto">
                      <a:xfrm>
                        <a:off x="1797050" y="2259013"/>
                        <a:ext cx="373063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16" name="Object 44"/>
          <p:cNvGraphicFramePr>
            <a:graphicFrameLocks noChangeAspect="1"/>
          </p:cNvGraphicFramePr>
          <p:nvPr/>
        </p:nvGraphicFramePr>
        <p:xfrm>
          <a:off x="777875" y="2514600"/>
          <a:ext cx="2349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AutoCAD Drawing" r:id="rId10" imgW="11487150" imgH="7848600" progId="AutoCAD.Drawing.16">
                  <p:embed/>
                </p:oleObj>
              </mc:Choice>
              <mc:Fallback>
                <p:oleObj name="AutoCAD Drawing" r:id="rId10" imgW="11487150" imgH="7848600" progId="AutoCAD.Drawing.16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2805" t="9538" r="84084" b="76431"/>
                      <a:stretch>
                        <a:fillRect/>
                      </a:stretch>
                    </p:blipFill>
                    <p:spPr bwMode="auto">
                      <a:xfrm>
                        <a:off x="777875" y="2514600"/>
                        <a:ext cx="23495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17" name="Object 45"/>
          <p:cNvGraphicFramePr>
            <a:graphicFrameLocks noChangeAspect="1"/>
          </p:cNvGraphicFramePr>
          <p:nvPr/>
        </p:nvGraphicFramePr>
        <p:xfrm>
          <a:off x="2805113" y="2263775"/>
          <a:ext cx="915987" cy="181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6" name="AutoCAD Drawing" r:id="rId12" imgW="11487150" imgH="7848600" progId="AutoCAD.Drawing.16">
                  <p:embed/>
                </p:oleObj>
              </mc:Choice>
              <mc:Fallback>
                <p:oleObj name="AutoCAD Drawing" r:id="rId12" imgW="11487150" imgH="7848600" progId="AutoCAD.Drawing.16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0559" t="3847" r="47308" b="61046"/>
                      <a:stretch>
                        <a:fillRect/>
                      </a:stretch>
                    </p:blipFill>
                    <p:spPr bwMode="auto">
                      <a:xfrm>
                        <a:off x="2805113" y="2263775"/>
                        <a:ext cx="915987" cy="181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2838450" y="2295525"/>
            <a:ext cx="1149350" cy="1108075"/>
            <a:chOff x="1603" y="1319"/>
            <a:chExt cx="724" cy="698"/>
          </a:xfrm>
        </p:grpSpPr>
        <p:graphicFrame>
          <p:nvGraphicFramePr>
            <p:cNvPr id="31783" name="Object 47"/>
            <p:cNvGraphicFramePr>
              <a:graphicFrameLocks noChangeAspect="1"/>
            </p:cNvGraphicFramePr>
            <p:nvPr/>
          </p:nvGraphicFramePr>
          <p:xfrm>
            <a:off x="1603" y="1319"/>
            <a:ext cx="724" cy="6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7" name="AutoCAD Drawing" r:id="rId14" imgW="11487150" imgH="7848600" progId="AutoCAD.Drawing.16">
                    <p:embed/>
                  </p:oleObj>
                </mc:Choice>
                <mc:Fallback>
                  <p:oleObj name="AutoCAD Drawing" r:id="rId14" imgW="11487150" imgH="7848600" progId="AutoCAD.Drawing.16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41022" t="4338" r="43756" b="74400"/>
                        <a:stretch>
                          <a:fillRect/>
                        </a:stretch>
                      </p:blipFill>
                      <p:spPr bwMode="auto">
                        <a:xfrm>
                          <a:off x="1603" y="1319"/>
                          <a:ext cx="724" cy="6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4" name="Text Box 48"/>
            <p:cNvSpPr txBox="1">
              <a:spLocks noChangeArrowheads="1"/>
            </p:cNvSpPr>
            <p:nvPr/>
          </p:nvSpPr>
          <p:spPr bwMode="auto">
            <a:xfrm rot="-5400000">
              <a:off x="1743" y="1811"/>
              <a:ext cx="260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500" b="0" i="1">
                  <a:solidFill>
                    <a:srgbClr val="FF33CC"/>
                  </a:solidFill>
                  <a:latin typeface="ISOCP" pitchFamily="2" charset="0"/>
                  <a:sym typeface="SansSerif" pitchFamily="2" charset="2"/>
                </a:rPr>
                <a:t></a:t>
              </a:r>
              <a:endParaRPr lang="en-US" altLang="zh-CN" sz="1500" b="0" i="1">
                <a:solidFill>
                  <a:srgbClr val="FF33CC"/>
                </a:solidFill>
              </a:endParaRPr>
            </a:p>
          </p:txBody>
        </p:sp>
      </p:grpSp>
      <p:graphicFrame>
        <p:nvGraphicFramePr>
          <p:cNvPr id="233521" name="Object 49"/>
          <p:cNvGraphicFramePr>
            <a:graphicFrameLocks noChangeAspect="1"/>
          </p:cNvGraphicFramePr>
          <p:nvPr/>
        </p:nvGraphicFramePr>
        <p:xfrm>
          <a:off x="3557588" y="3505200"/>
          <a:ext cx="4413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8" name="AutoCAD Drawing" r:id="rId16" imgW="11487150" imgH="7848600" progId="AutoCAD.Drawing.16">
                  <p:embed/>
                </p:oleObj>
              </mc:Choice>
              <mc:Fallback>
                <p:oleObj name="AutoCAD Drawing" r:id="rId16" imgW="11487150" imgH="7848600" progId="AutoCAD.Drawing.16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0273" t="27939" r="43881" b="61539"/>
                      <a:stretch>
                        <a:fillRect/>
                      </a:stretch>
                    </p:blipFill>
                    <p:spPr bwMode="auto">
                      <a:xfrm>
                        <a:off x="3557588" y="3505200"/>
                        <a:ext cx="4413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22" name="Object 50"/>
          <p:cNvGraphicFramePr>
            <a:graphicFrameLocks noChangeAspect="1"/>
          </p:cNvGraphicFramePr>
          <p:nvPr/>
        </p:nvGraphicFramePr>
        <p:xfrm>
          <a:off x="4638675" y="2247900"/>
          <a:ext cx="1028700" cy="189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9" name="AutoCAD Drawing" r:id="rId18" imgW="11487150" imgH="7848600" progId="AutoCAD.Drawing.16">
                  <p:embed/>
                </p:oleObj>
              </mc:Choice>
              <mc:Fallback>
                <p:oleObj name="AutoCAD Drawing" r:id="rId18" imgW="11487150" imgH="7848600" progId="AutoCAD.Drawing.16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6716" t="5508" r="19659" b="57846"/>
                      <a:stretch>
                        <a:fillRect/>
                      </a:stretch>
                    </p:blipFill>
                    <p:spPr bwMode="auto">
                      <a:xfrm>
                        <a:off x="4638675" y="2247900"/>
                        <a:ext cx="1028700" cy="189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4703763" y="2305050"/>
            <a:ext cx="1287462" cy="904875"/>
            <a:chOff x="2818" y="1325"/>
            <a:chExt cx="811" cy="570"/>
          </a:xfrm>
        </p:grpSpPr>
        <p:graphicFrame>
          <p:nvGraphicFramePr>
            <p:cNvPr id="31781" name="Object 52"/>
            <p:cNvGraphicFramePr>
              <a:graphicFrameLocks noChangeAspect="1"/>
            </p:cNvGraphicFramePr>
            <p:nvPr/>
          </p:nvGraphicFramePr>
          <p:xfrm>
            <a:off x="2818" y="1325"/>
            <a:ext cx="811" cy="5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0" name="AutoCAD Drawing" r:id="rId20" imgW="11487150" imgH="7848600" progId="AutoCAD.Drawing.16">
                    <p:embed/>
                  </p:oleObj>
                </mc:Choice>
                <mc:Fallback>
                  <p:oleObj name="AutoCAD Drawing" r:id="rId20" imgW="11487150" imgH="7848600" progId="AutoCAD.Drawing.16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67641" t="6523" r="15308" b="76401"/>
                        <a:stretch>
                          <a:fillRect/>
                        </a:stretch>
                      </p:blipFill>
                      <p:spPr bwMode="auto">
                        <a:xfrm>
                          <a:off x="2818" y="1325"/>
                          <a:ext cx="811" cy="5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2" name="Text Box 53"/>
            <p:cNvSpPr txBox="1">
              <a:spLocks noChangeArrowheads="1"/>
            </p:cNvSpPr>
            <p:nvPr/>
          </p:nvSpPr>
          <p:spPr bwMode="auto">
            <a:xfrm rot="-5400000">
              <a:off x="2966" y="1689"/>
              <a:ext cx="260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500" b="0" i="1">
                  <a:solidFill>
                    <a:srgbClr val="FF33CC"/>
                  </a:solidFill>
                  <a:latin typeface="ISOCP" pitchFamily="2" charset="0"/>
                  <a:sym typeface="SansSerif" pitchFamily="2" charset="2"/>
                </a:rPr>
                <a:t></a:t>
              </a:r>
              <a:endParaRPr lang="en-US" altLang="zh-CN" sz="1500" b="0" i="1">
                <a:solidFill>
                  <a:srgbClr val="FF33CC"/>
                </a:solidFill>
              </a:endParaRPr>
            </a:p>
          </p:txBody>
        </p:sp>
      </p:grpSp>
      <p:graphicFrame>
        <p:nvGraphicFramePr>
          <p:cNvPr id="233526" name="Object 54"/>
          <p:cNvGraphicFramePr>
            <a:graphicFrameLocks noChangeAspect="1"/>
          </p:cNvGraphicFramePr>
          <p:nvPr/>
        </p:nvGraphicFramePr>
        <p:xfrm>
          <a:off x="5278438" y="2295525"/>
          <a:ext cx="5461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1" name="AutoCAD Drawing" r:id="rId22" imgW="11487150" imgH="7848600" progId="AutoCAD.Drawing.16">
                  <p:embed/>
                </p:oleObj>
              </mc:Choice>
              <mc:Fallback>
                <p:oleObj name="AutoCAD Drawing" r:id="rId22" imgW="11487150" imgH="7848600" progId="AutoCAD.Drawing.16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5294" t="6369" r="17473" b="87108"/>
                      <a:stretch>
                        <a:fillRect/>
                      </a:stretch>
                    </p:blipFill>
                    <p:spPr bwMode="auto">
                      <a:xfrm>
                        <a:off x="5278438" y="2295525"/>
                        <a:ext cx="5461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27" name="Object 55"/>
          <p:cNvGraphicFramePr>
            <a:graphicFrameLocks noChangeAspect="1"/>
          </p:cNvGraphicFramePr>
          <p:nvPr/>
        </p:nvGraphicFramePr>
        <p:xfrm>
          <a:off x="4941888" y="2057400"/>
          <a:ext cx="398462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2" name="AutoCAD Drawing" r:id="rId24" imgW="11487150" imgH="7848600" progId="AutoCAD.Drawing.16">
                  <p:embed/>
                </p:oleObj>
              </mc:Choice>
              <mc:Fallback>
                <p:oleObj name="AutoCAD Drawing" r:id="rId24" imgW="11487150" imgH="7848600" progId="AutoCAD.Drawing.16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0836" t="1846" r="23886" b="92461"/>
                      <a:stretch>
                        <a:fillRect/>
                      </a:stretch>
                    </p:blipFill>
                    <p:spPr bwMode="auto">
                      <a:xfrm>
                        <a:off x="4941888" y="2057400"/>
                        <a:ext cx="398462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28" name="Object 56"/>
          <p:cNvGraphicFramePr>
            <a:graphicFrameLocks noChangeAspect="1"/>
          </p:cNvGraphicFramePr>
          <p:nvPr/>
        </p:nvGraphicFramePr>
        <p:xfrm>
          <a:off x="6551613" y="2046288"/>
          <a:ext cx="1019175" cy="199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3" name="AutoCAD Drawing" r:id="rId26" imgW="11487150" imgH="7848600" progId="AutoCAD.Drawing.16">
                  <p:embed/>
                </p:oleObj>
              </mc:Choice>
              <mc:Fallback>
                <p:oleObj name="AutoCAD Drawing" r:id="rId26" imgW="11487150" imgH="7848600" progId="AutoCAD.Drawing.16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835" t="52676" r="72665" b="8678"/>
                      <a:stretch>
                        <a:fillRect/>
                      </a:stretch>
                    </p:blipFill>
                    <p:spPr bwMode="auto">
                      <a:xfrm>
                        <a:off x="6551613" y="2046288"/>
                        <a:ext cx="1019175" cy="199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57"/>
          <p:cNvGrpSpPr>
            <a:grpSpLocks/>
          </p:cNvGrpSpPr>
          <p:nvPr/>
        </p:nvGrpSpPr>
        <p:grpSpPr bwMode="auto">
          <a:xfrm>
            <a:off x="6627813" y="2097088"/>
            <a:ext cx="1166812" cy="1011237"/>
            <a:chOff x="3940" y="1299"/>
            <a:chExt cx="735" cy="637"/>
          </a:xfrm>
        </p:grpSpPr>
        <p:graphicFrame>
          <p:nvGraphicFramePr>
            <p:cNvPr id="31779" name="Object 58"/>
            <p:cNvGraphicFramePr>
              <a:graphicFrameLocks noChangeAspect="1"/>
            </p:cNvGraphicFramePr>
            <p:nvPr/>
          </p:nvGraphicFramePr>
          <p:xfrm>
            <a:off x="3940" y="1299"/>
            <a:ext cx="735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4" name="AutoCAD Drawing" r:id="rId28" imgW="11487150" imgH="7848600" progId="AutoCAD.Drawing.16">
                    <p:embed/>
                  </p:oleObj>
                </mc:Choice>
                <mc:Fallback>
                  <p:oleObj name="AutoCAD Drawing" r:id="rId28" imgW="11487150" imgH="7848600" progId="AutoCAD.Drawing.16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4740" t="53662" r="69806" b="26738"/>
                        <a:stretch>
                          <a:fillRect/>
                        </a:stretch>
                      </p:blipFill>
                      <p:spPr bwMode="auto">
                        <a:xfrm>
                          <a:off x="3940" y="1299"/>
                          <a:ext cx="735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0" name="Text Box 59"/>
            <p:cNvSpPr txBox="1">
              <a:spLocks noChangeArrowheads="1"/>
            </p:cNvSpPr>
            <p:nvPr/>
          </p:nvSpPr>
          <p:spPr bwMode="auto">
            <a:xfrm rot="-5400000">
              <a:off x="4074" y="1730"/>
              <a:ext cx="260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500" b="0" i="1">
                  <a:solidFill>
                    <a:srgbClr val="FF33CC"/>
                  </a:solidFill>
                  <a:latin typeface="ISOCP" pitchFamily="2" charset="0"/>
                  <a:sym typeface="SansSerif" pitchFamily="2" charset="2"/>
                </a:rPr>
                <a:t></a:t>
              </a:r>
              <a:endParaRPr lang="en-US" altLang="zh-CN" sz="1500" b="0" i="1">
                <a:solidFill>
                  <a:srgbClr val="FF33CC"/>
                </a:solidFill>
              </a:endParaRPr>
            </a:p>
          </p:txBody>
        </p:sp>
      </p:grpSp>
      <p:graphicFrame>
        <p:nvGraphicFramePr>
          <p:cNvPr id="233532" name="Object 60"/>
          <p:cNvGraphicFramePr>
            <a:graphicFrameLocks noChangeAspect="1"/>
          </p:cNvGraphicFramePr>
          <p:nvPr/>
        </p:nvGraphicFramePr>
        <p:xfrm>
          <a:off x="7038975" y="3124200"/>
          <a:ext cx="78740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" name="AutoCAD Drawing" r:id="rId30" imgW="11487150" imgH="7848600" progId="AutoCAD.Drawing.16">
                  <p:embed/>
                </p:oleObj>
              </mc:Choice>
              <mc:Fallback>
                <p:oleObj name="AutoCAD Drawing" r:id="rId30" imgW="11487150" imgH="7848600" progId="AutoCAD.Drawing.16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9995" t="73569" r="69576" b="11385"/>
                      <a:stretch>
                        <a:fillRect/>
                      </a:stretch>
                    </p:blipFill>
                    <p:spPr bwMode="auto">
                      <a:xfrm>
                        <a:off x="7038975" y="3124200"/>
                        <a:ext cx="787400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33" name="Object 61"/>
          <p:cNvGraphicFramePr>
            <a:graphicFrameLocks noChangeAspect="1"/>
          </p:cNvGraphicFramePr>
          <p:nvPr/>
        </p:nvGraphicFramePr>
        <p:xfrm>
          <a:off x="6707188" y="3935413"/>
          <a:ext cx="727075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6" name="AutoCAD Drawing" r:id="rId32" imgW="11487150" imgH="7848600" progId="AutoCAD.Drawing.16">
                  <p:embed/>
                </p:oleObj>
              </mc:Choice>
              <mc:Fallback>
                <p:oleObj name="AutoCAD Drawing" r:id="rId32" imgW="11487150" imgH="7848600" progId="AutoCAD.Drawing.16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770" t="89137" r="74600" b="5354"/>
                      <a:stretch>
                        <a:fillRect/>
                      </a:stretch>
                    </p:blipFill>
                    <p:spPr bwMode="auto">
                      <a:xfrm>
                        <a:off x="6707188" y="3935413"/>
                        <a:ext cx="727075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34" name="Object 62"/>
          <p:cNvGraphicFramePr>
            <a:graphicFrameLocks noChangeAspect="1"/>
          </p:cNvGraphicFramePr>
          <p:nvPr/>
        </p:nvGraphicFramePr>
        <p:xfrm>
          <a:off x="1758950" y="4333875"/>
          <a:ext cx="1038225" cy="202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7" name="AutoCAD Drawing" r:id="rId34" imgW="11487150" imgH="7848600" progId="AutoCAD.Drawing.16">
                  <p:embed/>
                </p:oleObj>
              </mc:Choice>
              <mc:Fallback>
                <p:oleObj name="AutoCAD Drawing" r:id="rId34" imgW="11487150" imgH="7848600" progId="AutoCAD.Drawing.16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403" t="52338" r="46846" b="8369"/>
                      <a:stretch>
                        <a:fillRect/>
                      </a:stretch>
                    </p:blipFill>
                    <p:spPr bwMode="auto">
                      <a:xfrm>
                        <a:off x="1758950" y="4333875"/>
                        <a:ext cx="1038225" cy="202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1536700" y="4557713"/>
            <a:ext cx="1122363" cy="625475"/>
            <a:chOff x="1463" y="2847"/>
            <a:chExt cx="707" cy="394"/>
          </a:xfrm>
        </p:grpSpPr>
        <p:graphicFrame>
          <p:nvGraphicFramePr>
            <p:cNvPr id="31777" name="Object 64"/>
            <p:cNvGraphicFramePr>
              <a:graphicFrameLocks noChangeAspect="1"/>
            </p:cNvGraphicFramePr>
            <p:nvPr/>
          </p:nvGraphicFramePr>
          <p:xfrm>
            <a:off x="1506" y="2847"/>
            <a:ext cx="664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8" name="AutoCAD Drawing" r:id="rId36" imgW="11487150" imgH="7848600" progId="AutoCAD.Drawing.16">
                    <p:embed/>
                  </p:oleObj>
                </mc:Choice>
                <mc:Fallback>
                  <p:oleObj name="AutoCAD Drawing" r:id="rId36" imgW="11487150" imgH="7848600" progId="AutoCAD.Drawing.16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37259" t="56676" r="48779" b="32585"/>
                        <a:stretch>
                          <a:fillRect/>
                        </a:stretch>
                      </p:blipFill>
                      <p:spPr bwMode="auto">
                        <a:xfrm>
                          <a:off x="1506" y="2847"/>
                          <a:ext cx="664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8" name="Text Box 65"/>
            <p:cNvSpPr txBox="1">
              <a:spLocks noChangeArrowheads="1"/>
            </p:cNvSpPr>
            <p:nvPr/>
          </p:nvSpPr>
          <p:spPr bwMode="auto">
            <a:xfrm rot="-5400000">
              <a:off x="1439" y="3005"/>
              <a:ext cx="260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500" b="0" i="1">
                  <a:solidFill>
                    <a:srgbClr val="FF33CC"/>
                  </a:solidFill>
                  <a:sym typeface="SansSerif" pitchFamily="2" charset="2"/>
                </a:rPr>
                <a:t>S</a:t>
              </a:r>
              <a:r>
                <a:rPr lang="en-US" altLang="zh-CN" sz="1500" b="0" i="1">
                  <a:solidFill>
                    <a:srgbClr val="FF33CC"/>
                  </a:solidFill>
                  <a:latin typeface="ISOCP" pitchFamily="2" charset="0"/>
                  <a:sym typeface="SansSerif" pitchFamily="2" charset="2"/>
                </a:rPr>
                <a:t></a:t>
              </a:r>
              <a:endParaRPr lang="en-US" altLang="zh-CN" sz="1500" b="0" i="1">
                <a:solidFill>
                  <a:srgbClr val="FF33CC"/>
                </a:solidFill>
              </a:endParaRPr>
            </a:p>
          </p:txBody>
        </p:sp>
      </p:grpSp>
      <p:graphicFrame>
        <p:nvGraphicFramePr>
          <p:cNvPr id="233538" name="Object 66"/>
          <p:cNvGraphicFramePr>
            <a:graphicFrameLocks noChangeAspect="1"/>
          </p:cNvGraphicFramePr>
          <p:nvPr/>
        </p:nvGraphicFramePr>
        <p:xfrm>
          <a:off x="2281238" y="4465638"/>
          <a:ext cx="690562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9" name="AutoCAD Drawing" r:id="rId38" imgW="11487150" imgH="7848600" progId="AutoCAD.Drawing.16">
                  <p:embed/>
                </p:oleObj>
              </mc:Choice>
              <mc:Fallback>
                <p:oleObj name="AutoCAD Drawing" r:id="rId38" imgW="11487150" imgH="7848600" progId="AutoCAD.Drawing.16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5943" t="54831" r="44911" b="30431"/>
                      <a:stretch>
                        <a:fillRect/>
                      </a:stretch>
                    </p:blipFill>
                    <p:spPr bwMode="auto">
                      <a:xfrm>
                        <a:off x="2281238" y="4465638"/>
                        <a:ext cx="690562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39" name="Object 67"/>
          <p:cNvGraphicFramePr>
            <a:graphicFrameLocks noChangeAspect="1"/>
          </p:cNvGraphicFramePr>
          <p:nvPr/>
        </p:nvGraphicFramePr>
        <p:xfrm>
          <a:off x="3732213" y="4451350"/>
          <a:ext cx="1252537" cy="189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0" name="AutoCAD Drawing" r:id="rId40" imgW="11487150" imgH="7848600" progId="AutoCAD.Drawing.16">
                  <p:embed/>
                </p:oleObj>
              </mc:Choice>
              <mc:Fallback>
                <p:oleObj name="AutoCAD Drawing" r:id="rId40" imgW="11487150" imgH="7848600" progId="AutoCAD.Drawing.16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5349" t="55661" r="18062" b="7692"/>
                      <a:stretch>
                        <a:fillRect/>
                      </a:stretch>
                    </p:blipFill>
                    <p:spPr bwMode="auto">
                      <a:xfrm>
                        <a:off x="3732213" y="4451350"/>
                        <a:ext cx="1252537" cy="189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8"/>
          <p:cNvGrpSpPr>
            <a:grpSpLocks/>
          </p:cNvGrpSpPr>
          <p:nvPr/>
        </p:nvGrpSpPr>
        <p:grpSpPr bwMode="auto">
          <a:xfrm>
            <a:off x="3536950" y="4303713"/>
            <a:ext cx="835025" cy="679450"/>
            <a:chOff x="3072" y="2504"/>
            <a:chExt cx="526" cy="428"/>
          </a:xfrm>
        </p:grpSpPr>
        <p:sp>
          <p:nvSpPr>
            <p:cNvPr id="31775" name="Text Box 69"/>
            <p:cNvSpPr txBox="1">
              <a:spLocks noChangeArrowheads="1"/>
            </p:cNvSpPr>
            <p:nvPr/>
          </p:nvSpPr>
          <p:spPr bwMode="auto">
            <a:xfrm rot="-5400000">
              <a:off x="3038" y="2538"/>
              <a:ext cx="26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500" b="0" i="1">
                  <a:solidFill>
                    <a:srgbClr val="FF33CC"/>
                  </a:solidFill>
                  <a:sym typeface="SansSerif" pitchFamily="2" charset="2"/>
                </a:rPr>
                <a:t>SR</a:t>
              </a:r>
              <a:endParaRPr lang="en-US" altLang="zh-CN" sz="1500" b="0" i="1">
                <a:solidFill>
                  <a:srgbClr val="FF33CC"/>
                </a:solidFill>
              </a:endParaRPr>
            </a:p>
          </p:txBody>
        </p:sp>
        <p:graphicFrame>
          <p:nvGraphicFramePr>
            <p:cNvPr id="31776" name="Object 70"/>
            <p:cNvGraphicFramePr>
              <a:graphicFrameLocks noChangeAspect="1"/>
            </p:cNvGraphicFramePr>
            <p:nvPr/>
          </p:nvGraphicFramePr>
          <p:xfrm>
            <a:off x="3118" y="2682"/>
            <a:ext cx="480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1" name="AutoCAD Drawing" r:id="rId42" imgW="11487150" imgH="7848600" progId="AutoCAD.Drawing.16">
                    <p:embed/>
                  </p:oleObj>
                </mc:Choice>
                <mc:Fallback>
                  <p:oleObj name="AutoCAD Drawing" r:id="rId42" imgW="11487150" imgH="7848600" progId="AutoCAD.Drawing.16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63751" t="58369" r="26157" b="33939"/>
                        <a:stretch>
                          <a:fillRect/>
                        </a:stretch>
                      </p:blipFill>
                      <p:spPr bwMode="auto">
                        <a:xfrm>
                          <a:off x="3118" y="2682"/>
                          <a:ext cx="480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3543" name="Object 71"/>
          <p:cNvGraphicFramePr>
            <a:graphicFrameLocks noChangeAspect="1"/>
          </p:cNvGraphicFramePr>
          <p:nvPr/>
        </p:nvGraphicFramePr>
        <p:xfrm>
          <a:off x="4521200" y="4578350"/>
          <a:ext cx="6064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" name="AutoCAD Drawing" r:id="rId44" imgW="11487150" imgH="7848600" progId="AutoCAD.Drawing.16">
                  <p:embed/>
                </p:oleObj>
              </mc:Choice>
              <mc:Fallback>
                <p:oleObj name="AutoCAD Drawing" r:id="rId44" imgW="11487150" imgH="7848600" progId="AutoCAD.Drawing.16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5525" t="58185" r="16443" b="33939"/>
                      <a:stretch>
                        <a:fillRect/>
                      </a:stretch>
                    </p:blipFill>
                    <p:spPr bwMode="auto">
                      <a:xfrm>
                        <a:off x="4521200" y="4578350"/>
                        <a:ext cx="6064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44" name="Object 72"/>
          <p:cNvGraphicFramePr>
            <a:graphicFrameLocks noChangeAspect="1"/>
          </p:cNvGraphicFramePr>
          <p:nvPr/>
        </p:nvGraphicFramePr>
        <p:xfrm>
          <a:off x="4148138" y="4265613"/>
          <a:ext cx="415925" cy="24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AutoCAD Drawing" r:id="rId46" imgW="11487150" imgH="7848600" progId="AutoCAD.Drawing.16">
                  <p:embed/>
                </p:oleObj>
              </mc:Choice>
              <mc:Fallback>
                <p:oleObj name="AutoCAD Drawing" r:id="rId46" imgW="11487150" imgH="7848600" progId="AutoCAD.Drawing.16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0837" t="52647" r="23654" b="42645"/>
                      <a:stretch>
                        <a:fillRect/>
                      </a:stretch>
                    </p:blipFill>
                    <p:spPr bwMode="auto">
                      <a:xfrm>
                        <a:off x="4148138" y="4265613"/>
                        <a:ext cx="415925" cy="24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45" name="Object 73"/>
          <p:cNvGraphicFramePr>
            <a:graphicFrameLocks noChangeAspect="1"/>
          </p:cNvGraphicFramePr>
          <p:nvPr/>
        </p:nvGraphicFramePr>
        <p:xfrm>
          <a:off x="5916613" y="5226050"/>
          <a:ext cx="88265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" name="AutoCAD Drawing" r:id="rId48" imgW="11487150" imgH="7848600" progId="AutoCAD.Drawing.16">
                  <p:embed/>
                </p:oleObj>
              </mc:Choice>
              <mc:Fallback>
                <p:oleObj name="AutoCAD Drawing" r:id="rId48" imgW="11487150" imgH="7848600" progId="AutoCAD.Drawing.16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076" t="21231" r="73235" b="66554"/>
                      <a:stretch>
                        <a:fillRect/>
                      </a:stretch>
                    </p:blipFill>
                    <p:spPr bwMode="auto">
                      <a:xfrm>
                        <a:off x="5916613" y="5226050"/>
                        <a:ext cx="882650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46" name="Object 74"/>
          <p:cNvGraphicFramePr>
            <a:graphicFrameLocks noChangeAspect="1"/>
          </p:cNvGraphicFramePr>
          <p:nvPr/>
        </p:nvGraphicFramePr>
        <p:xfrm>
          <a:off x="6738938" y="4378325"/>
          <a:ext cx="373062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5" name="AutoCAD Drawing" r:id="rId49" imgW="11487150" imgH="7848600" progId="AutoCAD.Drawing.16">
                  <p:embed/>
                </p:oleObj>
              </mc:Choice>
              <mc:Fallback>
                <p:oleObj name="AutoCAD Drawing" r:id="rId49" imgW="11487150" imgH="7848600" progId="AutoCAD.Drawing.16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5716" t="4677" r="69344" b="80431"/>
                      <a:stretch>
                        <a:fillRect/>
                      </a:stretch>
                    </p:blipFill>
                    <p:spPr bwMode="auto">
                      <a:xfrm>
                        <a:off x="6738938" y="4378325"/>
                        <a:ext cx="373062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47" name="Object 75"/>
          <p:cNvGraphicFramePr>
            <a:graphicFrameLocks noChangeAspect="1"/>
          </p:cNvGraphicFramePr>
          <p:nvPr/>
        </p:nvGraphicFramePr>
        <p:xfrm>
          <a:off x="6105525" y="4338638"/>
          <a:ext cx="67310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6" name="AutoCAD Drawing" r:id="rId50" imgW="11487150" imgH="7848600" progId="AutoCAD.Drawing.16">
                  <p:embed/>
                </p:oleObj>
              </mc:Choice>
              <mc:Fallback>
                <p:oleObj name="AutoCAD Drawing" r:id="rId50" imgW="11487150" imgH="7848600" progId="AutoCAD.Drawing.16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725" t="3999" r="73360" b="88277"/>
                      <a:stretch>
                        <a:fillRect/>
                      </a:stretch>
                    </p:blipFill>
                    <p:spPr bwMode="auto">
                      <a:xfrm>
                        <a:off x="6105525" y="4338638"/>
                        <a:ext cx="673100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48" name="Object 76"/>
          <p:cNvGraphicFramePr>
            <a:graphicFrameLocks noChangeAspect="1"/>
          </p:cNvGraphicFramePr>
          <p:nvPr/>
        </p:nvGraphicFramePr>
        <p:xfrm>
          <a:off x="5840413" y="4359275"/>
          <a:ext cx="1019175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7" name="AutoCAD Drawing" r:id="rId52" imgW="11487150" imgH="7848600" progId="AutoCAD.Drawing.16">
                  <p:embed/>
                </p:oleObj>
              </mc:Choice>
              <mc:Fallback>
                <p:oleObj name="AutoCAD Drawing" r:id="rId52" imgW="11487150" imgH="7848600" progId="AutoCAD.Drawing.16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4171" t="4369" r="72330" b="58708"/>
                      <a:stretch>
                        <a:fillRect/>
                      </a:stretch>
                    </p:blipFill>
                    <p:spPr bwMode="auto">
                      <a:xfrm>
                        <a:off x="5840413" y="4359275"/>
                        <a:ext cx="1019175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3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33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33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33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3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33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233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33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3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33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3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5" dur="500"/>
                                        <p:tgtEl>
                                          <p:spTgt spid="23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33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3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3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5" dur="500"/>
                                        <p:tgtEl>
                                          <p:spTgt spid="23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233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23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33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33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33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33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23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2" dur="500"/>
                                        <p:tgtEl>
                                          <p:spTgt spid="23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510" grpId="0" animBg="1"/>
      <p:bldP spid="233511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98C67DD8-074D-4155-B06F-E54A03E12DF6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17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34536" name="Rectangle 40"/>
          <p:cNvSpPr>
            <a:spLocks noChangeArrowheads="1"/>
          </p:cNvSpPr>
          <p:nvPr/>
        </p:nvSpPr>
        <p:spPr bwMode="auto">
          <a:xfrm>
            <a:off x="5511800" y="2865438"/>
            <a:ext cx="328613" cy="223837"/>
          </a:xfrm>
          <a:prstGeom prst="rect">
            <a:avLst/>
          </a:prstGeom>
          <a:solidFill>
            <a:srgbClr val="00FFCC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34537" name="Rectangle 41"/>
          <p:cNvSpPr>
            <a:spLocks noChangeArrowheads="1"/>
          </p:cNvSpPr>
          <p:nvPr/>
        </p:nvSpPr>
        <p:spPr bwMode="auto">
          <a:xfrm>
            <a:off x="5081588" y="2062163"/>
            <a:ext cx="681037" cy="215900"/>
          </a:xfrm>
          <a:prstGeom prst="rect">
            <a:avLst/>
          </a:prstGeom>
          <a:solidFill>
            <a:srgbClr val="00FFCC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34538" name="Rectangle 42"/>
          <p:cNvSpPr>
            <a:spLocks noChangeArrowheads="1"/>
          </p:cNvSpPr>
          <p:nvPr/>
        </p:nvSpPr>
        <p:spPr bwMode="auto">
          <a:xfrm>
            <a:off x="7453313" y="2105025"/>
            <a:ext cx="223837" cy="844550"/>
          </a:xfrm>
          <a:prstGeom prst="rect">
            <a:avLst/>
          </a:prstGeom>
          <a:solidFill>
            <a:srgbClr val="00FFCC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34539" name="Rectangle 43"/>
          <p:cNvSpPr>
            <a:spLocks noChangeArrowheads="1"/>
          </p:cNvSpPr>
          <p:nvPr/>
        </p:nvSpPr>
        <p:spPr bwMode="auto">
          <a:xfrm>
            <a:off x="4873625" y="1897063"/>
            <a:ext cx="2881313" cy="1338262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34540" name="Text Box 44" descr="蓝色砂纸"/>
          <p:cNvSpPr txBox="1">
            <a:spLocks noChangeArrowheads="1"/>
          </p:cNvSpPr>
          <p:nvPr/>
        </p:nvSpPr>
        <p:spPr bwMode="auto">
          <a:xfrm>
            <a:off x="487363" y="527050"/>
            <a:ext cx="7975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5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相贯：标注各基本形体的定形尺寸及其相对位置尺寸，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5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   </a:t>
            </a:r>
            <a:r>
              <a:rPr lang="zh-CN" altLang="en-US" sz="25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不标注相贯线的尺寸</a:t>
            </a:r>
            <a:r>
              <a:rPr lang="zh-CN" altLang="en-US" sz="25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。 </a:t>
            </a:r>
          </a:p>
        </p:txBody>
      </p:sp>
      <p:graphicFrame>
        <p:nvGraphicFramePr>
          <p:cNvPr id="234542" name="Object 46"/>
          <p:cNvGraphicFramePr>
            <a:graphicFrameLocks noChangeAspect="1"/>
          </p:cNvGraphicFramePr>
          <p:nvPr/>
        </p:nvGraphicFramePr>
        <p:xfrm>
          <a:off x="1208088" y="2328863"/>
          <a:ext cx="2251075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AutoCAD Drawing" r:id="rId3" imgW="11487150" imgH="7848600" progId="AutoCAD.Drawing.16">
                  <p:embed/>
                </p:oleObj>
              </mc:Choice>
              <mc:Fallback>
                <p:oleObj name="AutoCAD Drawing" r:id="rId3" imgW="11487150" imgH="7848600" progId="AutoCAD.Drawing.16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8084" t="17238" r="47319" b="56563"/>
                      <a:stretch>
                        <a:fillRect/>
                      </a:stretch>
                    </p:blipFill>
                    <p:spPr bwMode="auto">
                      <a:xfrm>
                        <a:off x="1208088" y="2328863"/>
                        <a:ext cx="2251075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43" name="Object 47"/>
          <p:cNvGraphicFramePr>
            <a:graphicFrameLocks noChangeAspect="1"/>
          </p:cNvGraphicFramePr>
          <p:nvPr/>
        </p:nvGraphicFramePr>
        <p:xfrm>
          <a:off x="1262063" y="3884613"/>
          <a:ext cx="973137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AutoCAD Drawing" r:id="rId5" imgW="11487150" imgH="7848600" progId="AutoCAD.Drawing.16">
                  <p:embed/>
                </p:oleObj>
              </mc:Choice>
              <mc:Fallback>
                <p:oleObj name="AutoCAD Drawing" r:id="rId5" imgW="11487150" imgH="7848600" progId="AutoCAD.Drawing.16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8656" t="41940" r="60712" b="52423"/>
                      <a:stretch>
                        <a:fillRect/>
                      </a:stretch>
                    </p:blipFill>
                    <p:spPr bwMode="auto">
                      <a:xfrm>
                        <a:off x="1262063" y="3884613"/>
                        <a:ext cx="973137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44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136187"/>
              </p:ext>
            </p:extLst>
          </p:nvPr>
        </p:nvGraphicFramePr>
        <p:xfrm>
          <a:off x="909638" y="2367139"/>
          <a:ext cx="104457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AutoCAD Drawing" r:id="rId7" imgW="11487150" imgH="7848600" progId="AutoCAD.Drawing.16">
                  <p:embed/>
                </p:oleObj>
              </mc:Choice>
              <mc:Fallback>
                <p:oleObj name="AutoCAD Drawing" r:id="rId7" imgW="11487150" imgH="7848600" progId="AutoCAD.Drawing.16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4875" t="17796" r="63712" b="66336"/>
                      <a:stretch>
                        <a:fillRect/>
                      </a:stretch>
                    </p:blipFill>
                    <p:spPr bwMode="auto">
                      <a:xfrm>
                        <a:off x="909638" y="2367139"/>
                        <a:ext cx="1044575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45" name="Object 49"/>
          <p:cNvGraphicFramePr>
            <a:graphicFrameLocks noChangeAspect="1"/>
          </p:cNvGraphicFramePr>
          <p:nvPr/>
        </p:nvGraphicFramePr>
        <p:xfrm>
          <a:off x="1279525" y="3841750"/>
          <a:ext cx="20447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AutoCAD Drawing" r:id="rId9" imgW="11487150" imgH="7848600" progId="AutoCAD.Drawing.16">
                  <p:embed/>
                </p:oleObj>
              </mc:Choice>
              <mc:Fallback>
                <p:oleObj name="AutoCAD Drawing" r:id="rId9" imgW="11487150" imgH="7848600" progId="AutoCAD.Drawing.16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8847" t="40974" r="48811" b="47881"/>
                      <a:stretch>
                        <a:fillRect/>
                      </a:stretch>
                    </p:blipFill>
                    <p:spPr bwMode="auto">
                      <a:xfrm>
                        <a:off x="1279525" y="3841750"/>
                        <a:ext cx="2044700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3292475" y="2743200"/>
            <a:ext cx="584200" cy="1146175"/>
            <a:chOff x="2094" y="1668"/>
            <a:chExt cx="368" cy="722"/>
          </a:xfrm>
        </p:grpSpPr>
        <p:graphicFrame>
          <p:nvGraphicFramePr>
            <p:cNvPr id="32795" name="Object 51"/>
            <p:cNvGraphicFramePr>
              <a:graphicFrameLocks noChangeAspect="1"/>
            </p:cNvGraphicFramePr>
            <p:nvPr/>
          </p:nvGraphicFramePr>
          <p:xfrm>
            <a:off x="2094" y="1668"/>
            <a:ext cx="368" cy="7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3" name="AutoCAD Drawing" r:id="rId11" imgW="11487150" imgH="7848600" progId="AutoCAD.Drawing.16">
                    <p:embed/>
                  </p:oleObj>
                </mc:Choice>
                <mc:Fallback>
                  <p:oleObj name="AutoCAD Drawing" r:id="rId11" imgW="11487150" imgH="7848600" progId="AutoCAD.Drawing.16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50529" t="23737" r="43088" b="57933"/>
                        <a:stretch>
                          <a:fillRect/>
                        </a:stretch>
                      </p:blipFill>
                      <p:spPr bwMode="auto">
                        <a:xfrm>
                          <a:off x="2094" y="1668"/>
                          <a:ext cx="368" cy="7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6" name="Text Box 52"/>
            <p:cNvSpPr txBox="1">
              <a:spLocks noChangeArrowheads="1"/>
            </p:cNvSpPr>
            <p:nvPr/>
          </p:nvSpPr>
          <p:spPr bwMode="auto">
            <a:xfrm rot="-5400000">
              <a:off x="2181" y="1931"/>
              <a:ext cx="2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0" i="1">
                  <a:solidFill>
                    <a:srgbClr val="FF3399"/>
                  </a:solidFill>
                  <a:sym typeface="SansSerif" pitchFamily="2" charset="2"/>
                </a:rPr>
                <a:t></a:t>
              </a:r>
              <a:endParaRPr lang="en-US" altLang="zh-CN" sz="2000">
                <a:solidFill>
                  <a:srgbClr val="FF3399"/>
                </a:solidFill>
              </a:endParaRPr>
            </a:p>
          </p:txBody>
        </p:sp>
      </p:grpSp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1858963" y="1824038"/>
            <a:ext cx="654050" cy="590550"/>
            <a:chOff x="1191" y="1089"/>
            <a:chExt cx="412" cy="372"/>
          </a:xfrm>
        </p:grpSpPr>
        <p:graphicFrame>
          <p:nvGraphicFramePr>
            <p:cNvPr id="32793" name="Object 54"/>
            <p:cNvGraphicFramePr>
              <a:graphicFrameLocks noChangeAspect="1"/>
            </p:cNvGraphicFramePr>
            <p:nvPr/>
          </p:nvGraphicFramePr>
          <p:xfrm>
            <a:off x="1191" y="1234"/>
            <a:ext cx="41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4" name="AutoCAD Drawing" r:id="rId13" imgW="11487150" imgH="7848600" progId="AutoCAD.Drawing.16">
                    <p:embed/>
                  </p:oleObj>
                </mc:Choice>
                <mc:Fallback>
                  <p:oleObj name="AutoCAD Drawing" r:id="rId13" imgW="11487150" imgH="7848600" progId="AutoCAD.Drawing.16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35161" t="13252" r="57692" b="80984"/>
                        <a:stretch>
                          <a:fillRect/>
                        </a:stretch>
                      </p:blipFill>
                      <p:spPr bwMode="auto">
                        <a:xfrm>
                          <a:off x="1191" y="1234"/>
                          <a:ext cx="41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4" name="Text Box 55"/>
            <p:cNvSpPr txBox="1">
              <a:spLocks noChangeArrowheads="1"/>
            </p:cNvSpPr>
            <p:nvPr/>
          </p:nvSpPr>
          <p:spPr bwMode="auto">
            <a:xfrm rot="-5400000">
              <a:off x="1265" y="1145"/>
              <a:ext cx="270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0" i="1">
                  <a:solidFill>
                    <a:srgbClr val="FF3399"/>
                  </a:solidFill>
                  <a:sym typeface="SansSerif" pitchFamily="2" charset="2"/>
                </a:rPr>
                <a:t></a:t>
              </a:r>
              <a:endParaRPr lang="en-US" altLang="zh-CN" sz="2000">
                <a:solidFill>
                  <a:srgbClr val="FF3399"/>
                </a:solidFill>
              </a:endParaRPr>
            </a:p>
          </p:txBody>
        </p:sp>
      </p:grpSp>
      <p:graphicFrame>
        <p:nvGraphicFramePr>
          <p:cNvPr id="234552" name="Object 56"/>
          <p:cNvGraphicFramePr>
            <a:graphicFrameLocks noChangeAspect="1"/>
          </p:cNvGraphicFramePr>
          <p:nvPr/>
        </p:nvGraphicFramePr>
        <p:xfrm>
          <a:off x="5035550" y="2319338"/>
          <a:ext cx="2251075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AutoCAD Drawing" r:id="rId15" imgW="11487150" imgH="7848600" progId="AutoCAD.Drawing.16">
                  <p:embed/>
                </p:oleObj>
              </mc:Choice>
              <mc:Fallback>
                <p:oleObj name="AutoCAD Drawing" r:id="rId15" imgW="11487150" imgH="7848600" progId="AutoCAD.Drawing.16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8084" t="17238" r="47319" b="56563"/>
                      <a:stretch>
                        <a:fillRect/>
                      </a:stretch>
                    </p:blipFill>
                    <p:spPr bwMode="auto">
                      <a:xfrm>
                        <a:off x="5035550" y="2319338"/>
                        <a:ext cx="2251075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57"/>
          <p:cNvGrpSpPr>
            <a:grpSpLocks/>
          </p:cNvGrpSpPr>
          <p:nvPr/>
        </p:nvGrpSpPr>
        <p:grpSpPr bwMode="auto">
          <a:xfrm>
            <a:off x="5105400" y="1836738"/>
            <a:ext cx="2579688" cy="1257300"/>
            <a:chOff x="3216" y="1157"/>
            <a:chExt cx="1625" cy="792"/>
          </a:xfrm>
        </p:grpSpPr>
        <p:sp>
          <p:nvSpPr>
            <p:cNvPr id="32791" name="Text Box 58"/>
            <p:cNvSpPr txBox="1">
              <a:spLocks noChangeArrowheads="1"/>
            </p:cNvSpPr>
            <p:nvPr/>
          </p:nvSpPr>
          <p:spPr bwMode="auto">
            <a:xfrm rot="-5400000">
              <a:off x="3647" y="1213"/>
              <a:ext cx="270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0" i="1">
                  <a:solidFill>
                    <a:srgbClr val="FF3399"/>
                  </a:solidFill>
                  <a:sym typeface="SansSerif" pitchFamily="2" charset="2"/>
                </a:rPr>
                <a:t></a:t>
              </a:r>
              <a:endParaRPr lang="en-US" altLang="zh-CN" sz="2000">
                <a:solidFill>
                  <a:srgbClr val="FF3399"/>
                </a:solidFill>
              </a:endParaRPr>
            </a:p>
          </p:txBody>
        </p:sp>
        <p:graphicFrame>
          <p:nvGraphicFramePr>
            <p:cNvPr id="32792" name="Object 59"/>
            <p:cNvGraphicFramePr>
              <a:graphicFrameLocks noChangeAspect="1"/>
            </p:cNvGraphicFramePr>
            <p:nvPr/>
          </p:nvGraphicFramePr>
          <p:xfrm>
            <a:off x="3216" y="1281"/>
            <a:ext cx="1625" cy="6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6" name="AutoCAD Drawing" r:id="rId16" imgW="11487150" imgH="7848600" progId="AutoCAD.Drawing.16">
                    <p:embed/>
                  </p:oleObj>
                </mc:Choice>
                <mc:Fallback>
                  <p:oleObj name="AutoCAD Drawing" r:id="rId16" imgW="11487150" imgH="7848600" progId="AutoCAD.Drawing.16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28743" t="54912" r="43069" b="28130"/>
                        <a:stretch>
                          <a:fillRect/>
                        </a:stretch>
                      </p:blipFill>
                      <p:spPr bwMode="auto">
                        <a:xfrm>
                          <a:off x="3216" y="1281"/>
                          <a:ext cx="1625" cy="6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5087938" y="2678113"/>
            <a:ext cx="2597150" cy="1612900"/>
            <a:chOff x="3205" y="1687"/>
            <a:chExt cx="1636" cy="1016"/>
          </a:xfrm>
        </p:grpSpPr>
        <p:sp>
          <p:nvSpPr>
            <p:cNvPr id="32789" name="Text Box 61"/>
            <p:cNvSpPr txBox="1">
              <a:spLocks noChangeArrowheads="1"/>
            </p:cNvSpPr>
            <p:nvPr/>
          </p:nvSpPr>
          <p:spPr bwMode="auto">
            <a:xfrm rot="-5400000">
              <a:off x="4569" y="1971"/>
              <a:ext cx="2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0" i="1">
                  <a:solidFill>
                    <a:srgbClr val="FF3399"/>
                  </a:solidFill>
                  <a:sym typeface="SansSerif" pitchFamily="2" charset="2"/>
                </a:rPr>
                <a:t></a:t>
              </a:r>
              <a:endParaRPr lang="en-US" altLang="zh-CN" sz="2000">
                <a:solidFill>
                  <a:srgbClr val="FF3399"/>
                </a:solidFill>
              </a:endParaRPr>
            </a:p>
          </p:txBody>
        </p:sp>
        <p:graphicFrame>
          <p:nvGraphicFramePr>
            <p:cNvPr id="32790" name="Object 62"/>
            <p:cNvGraphicFramePr>
              <a:graphicFrameLocks noChangeAspect="1"/>
            </p:cNvGraphicFramePr>
            <p:nvPr/>
          </p:nvGraphicFramePr>
          <p:xfrm>
            <a:off x="3205" y="1687"/>
            <a:ext cx="1636" cy="10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7" name="AutoCAD Drawing" r:id="rId18" imgW="11487150" imgH="7848600" progId="AutoCAD.Drawing.16">
                    <p:embed/>
                  </p:oleObj>
                </mc:Choice>
                <mc:Fallback>
                  <p:oleObj name="AutoCAD Drawing" r:id="rId18" imgW="11487150" imgH="7848600" progId="AutoCAD.Drawing.16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28552" t="65245" r="43069" b="8961"/>
                        <a:stretch>
                          <a:fillRect/>
                        </a:stretch>
                      </p:blipFill>
                      <p:spPr bwMode="auto">
                        <a:xfrm>
                          <a:off x="3205" y="1687"/>
                          <a:ext cx="1636" cy="10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63"/>
          <p:cNvGrpSpPr>
            <a:grpSpLocks/>
          </p:cNvGrpSpPr>
          <p:nvPr/>
        </p:nvGrpSpPr>
        <p:grpSpPr bwMode="auto">
          <a:xfrm>
            <a:off x="5511800" y="2268538"/>
            <a:ext cx="1233488" cy="1250950"/>
            <a:chOff x="2538" y="2766"/>
            <a:chExt cx="777" cy="788"/>
          </a:xfrm>
        </p:grpSpPr>
        <p:sp>
          <p:nvSpPr>
            <p:cNvPr id="32787" name="Line 64"/>
            <p:cNvSpPr>
              <a:spLocks noChangeShapeType="1"/>
            </p:cNvSpPr>
            <p:nvPr/>
          </p:nvSpPr>
          <p:spPr bwMode="auto">
            <a:xfrm>
              <a:off x="2538" y="2766"/>
              <a:ext cx="777" cy="77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8" name="Line 65"/>
            <p:cNvSpPr>
              <a:spLocks noChangeShapeType="1"/>
            </p:cNvSpPr>
            <p:nvPr/>
          </p:nvSpPr>
          <p:spPr bwMode="auto">
            <a:xfrm flipH="1">
              <a:off x="2549" y="2788"/>
              <a:ext cx="766" cy="76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62" name="Text Box 66"/>
          <p:cNvSpPr txBox="1">
            <a:spLocks noChangeArrowheads="1"/>
          </p:cNvSpPr>
          <p:nvPr/>
        </p:nvSpPr>
        <p:spPr bwMode="auto">
          <a:xfrm>
            <a:off x="682625" y="4956175"/>
            <a:ext cx="631666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600">
                <a:solidFill>
                  <a:schemeClr val="tx2"/>
                </a:solidFill>
                <a:ea typeface="黑体" pitchFamily="2" charset="-122"/>
              </a:rPr>
              <a:t>其他一些典型形体的尺寸标注，见图</a:t>
            </a:r>
            <a:r>
              <a:rPr lang="en-US" altLang="zh-CN" sz="2600">
                <a:solidFill>
                  <a:schemeClr val="tx2"/>
                </a:solidFill>
                <a:ea typeface="黑体" pitchFamily="2" charset="-122"/>
              </a:rPr>
              <a:t>13-11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4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34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4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4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3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3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4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34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34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4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36" grpId="0" animBg="1"/>
      <p:bldP spid="234537" grpId="0" animBg="1"/>
      <p:bldP spid="234538" grpId="0" animBg="1"/>
      <p:bldP spid="234539" grpId="0" animBg="1"/>
      <p:bldP spid="234540" grpId="0" autoUpdateAnimBg="0"/>
      <p:bldP spid="23456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26261307-A6BF-4868-9FF2-B7E4BAB3C1F0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18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960688" y="4008083"/>
            <a:ext cx="1924050" cy="1220787"/>
            <a:chOff x="3780" y="1368"/>
            <a:chExt cx="1212" cy="769"/>
          </a:xfrm>
        </p:grpSpPr>
        <p:sp>
          <p:nvSpPr>
            <p:cNvPr id="33863" name="Line 7"/>
            <p:cNvSpPr>
              <a:spLocks noChangeShapeType="1"/>
            </p:cNvSpPr>
            <p:nvPr/>
          </p:nvSpPr>
          <p:spPr bwMode="auto">
            <a:xfrm>
              <a:off x="3780" y="1743"/>
              <a:ext cx="12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64" name="Line 8"/>
            <p:cNvSpPr>
              <a:spLocks noChangeShapeType="1"/>
            </p:cNvSpPr>
            <p:nvPr/>
          </p:nvSpPr>
          <p:spPr bwMode="auto">
            <a:xfrm>
              <a:off x="4386" y="1368"/>
              <a:ext cx="0" cy="7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65" name="Oval 9"/>
            <p:cNvSpPr>
              <a:spLocks noChangeArrowheads="1"/>
            </p:cNvSpPr>
            <p:nvPr/>
          </p:nvSpPr>
          <p:spPr bwMode="auto">
            <a:xfrm>
              <a:off x="4205" y="1560"/>
              <a:ext cx="366" cy="366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3866" name="Line 10"/>
            <p:cNvSpPr>
              <a:spLocks noChangeShapeType="1"/>
            </p:cNvSpPr>
            <p:nvPr/>
          </p:nvSpPr>
          <p:spPr bwMode="auto">
            <a:xfrm flipV="1">
              <a:off x="3902" y="1440"/>
              <a:ext cx="358" cy="18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67" name="Line 11"/>
            <p:cNvSpPr>
              <a:spLocks noChangeShapeType="1"/>
            </p:cNvSpPr>
            <p:nvPr/>
          </p:nvSpPr>
          <p:spPr bwMode="auto">
            <a:xfrm flipV="1">
              <a:off x="4519" y="1862"/>
              <a:ext cx="351" cy="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68" name="Line 12"/>
            <p:cNvSpPr>
              <a:spLocks noChangeShapeType="1"/>
            </p:cNvSpPr>
            <p:nvPr/>
          </p:nvSpPr>
          <p:spPr bwMode="auto">
            <a:xfrm>
              <a:off x="4528" y="1448"/>
              <a:ext cx="336" cy="1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69" name="Line 13"/>
            <p:cNvSpPr>
              <a:spLocks noChangeShapeType="1"/>
            </p:cNvSpPr>
            <p:nvPr/>
          </p:nvSpPr>
          <p:spPr bwMode="auto">
            <a:xfrm>
              <a:off x="3908" y="1864"/>
              <a:ext cx="344" cy="17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70" name="Arc 14"/>
            <p:cNvSpPr>
              <a:spLocks/>
            </p:cNvSpPr>
            <p:nvPr/>
          </p:nvSpPr>
          <p:spPr bwMode="auto">
            <a:xfrm>
              <a:off x="3838" y="1622"/>
              <a:ext cx="136" cy="245"/>
            </a:xfrm>
            <a:custGeom>
              <a:avLst/>
              <a:gdLst>
                <a:gd name="T0" fmla="*/ 0 w 21600"/>
                <a:gd name="T1" fmla="*/ 0 h 37864"/>
                <a:gd name="T2" fmla="*/ 0 w 21600"/>
                <a:gd name="T3" fmla="*/ 0 h 37864"/>
                <a:gd name="T4" fmla="*/ 0 w 21600"/>
                <a:gd name="T5" fmla="*/ 0 h 378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864"/>
                <a:gd name="T11" fmla="*/ 21600 w 21600"/>
                <a:gd name="T12" fmla="*/ 37864 h 37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864" fill="none" extrusionOk="0">
                  <a:moveTo>
                    <a:pt x="11499" y="37864"/>
                  </a:moveTo>
                  <a:cubicBezTo>
                    <a:pt x="4425" y="34121"/>
                    <a:pt x="0" y="26774"/>
                    <a:pt x="0" y="18771"/>
                  </a:cubicBezTo>
                  <a:cubicBezTo>
                    <a:pt x="-1" y="11007"/>
                    <a:pt x="4166" y="3841"/>
                    <a:pt x="10912" y="0"/>
                  </a:cubicBezTo>
                </a:path>
                <a:path w="21600" h="37864" stroke="0" extrusionOk="0">
                  <a:moveTo>
                    <a:pt x="11499" y="37864"/>
                  </a:moveTo>
                  <a:cubicBezTo>
                    <a:pt x="4425" y="34121"/>
                    <a:pt x="0" y="26774"/>
                    <a:pt x="0" y="18771"/>
                  </a:cubicBezTo>
                  <a:cubicBezTo>
                    <a:pt x="-1" y="11007"/>
                    <a:pt x="4166" y="3841"/>
                    <a:pt x="10912" y="0"/>
                  </a:cubicBezTo>
                  <a:lnTo>
                    <a:pt x="21600" y="18771"/>
                  </a:lnTo>
                  <a:lnTo>
                    <a:pt x="11499" y="37864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71" name="Line 15"/>
            <p:cNvSpPr>
              <a:spLocks noChangeShapeType="1"/>
            </p:cNvSpPr>
            <p:nvPr/>
          </p:nvSpPr>
          <p:spPr bwMode="auto">
            <a:xfrm>
              <a:off x="4800" y="1554"/>
              <a:ext cx="0" cy="3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72" name="Arc 16"/>
            <p:cNvSpPr>
              <a:spLocks/>
            </p:cNvSpPr>
            <p:nvPr/>
          </p:nvSpPr>
          <p:spPr bwMode="auto">
            <a:xfrm>
              <a:off x="4801" y="1619"/>
              <a:ext cx="136" cy="248"/>
            </a:xfrm>
            <a:custGeom>
              <a:avLst/>
              <a:gdLst>
                <a:gd name="T0" fmla="*/ 0 w 21600"/>
                <a:gd name="T1" fmla="*/ 0 h 38419"/>
                <a:gd name="T2" fmla="*/ 0 w 21600"/>
                <a:gd name="T3" fmla="*/ 0 h 38419"/>
                <a:gd name="T4" fmla="*/ 0 w 21600"/>
                <a:gd name="T5" fmla="*/ 0 h 38419"/>
                <a:gd name="T6" fmla="*/ 0 60000 65536"/>
                <a:gd name="T7" fmla="*/ 0 60000 65536"/>
                <a:gd name="T8" fmla="*/ 0 60000 65536"/>
                <a:gd name="T9" fmla="*/ 0 w 21600"/>
                <a:gd name="T10" fmla="*/ 0 h 38419"/>
                <a:gd name="T11" fmla="*/ 21600 w 21600"/>
                <a:gd name="T12" fmla="*/ 38419 h 384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8419" fill="none" extrusionOk="0">
                  <a:moveTo>
                    <a:pt x="9626" y="-1"/>
                  </a:moveTo>
                  <a:cubicBezTo>
                    <a:pt x="16962" y="3651"/>
                    <a:pt x="21600" y="11140"/>
                    <a:pt x="21600" y="19336"/>
                  </a:cubicBezTo>
                  <a:cubicBezTo>
                    <a:pt x="21600" y="27331"/>
                    <a:pt x="17183" y="34672"/>
                    <a:pt x="10119" y="38418"/>
                  </a:cubicBezTo>
                </a:path>
                <a:path w="21600" h="38419" stroke="0" extrusionOk="0">
                  <a:moveTo>
                    <a:pt x="9626" y="-1"/>
                  </a:moveTo>
                  <a:cubicBezTo>
                    <a:pt x="16962" y="3651"/>
                    <a:pt x="21600" y="11140"/>
                    <a:pt x="21600" y="19336"/>
                  </a:cubicBezTo>
                  <a:cubicBezTo>
                    <a:pt x="21600" y="27331"/>
                    <a:pt x="17183" y="34672"/>
                    <a:pt x="10119" y="38418"/>
                  </a:cubicBezTo>
                  <a:lnTo>
                    <a:pt x="0" y="19336"/>
                  </a:lnTo>
                  <a:lnTo>
                    <a:pt x="9626" y="-1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73" name="Arc 17"/>
            <p:cNvSpPr>
              <a:spLocks/>
            </p:cNvSpPr>
            <p:nvPr/>
          </p:nvSpPr>
          <p:spPr bwMode="auto">
            <a:xfrm>
              <a:off x="4232" y="1417"/>
              <a:ext cx="309" cy="328"/>
            </a:xfrm>
            <a:custGeom>
              <a:avLst/>
              <a:gdLst>
                <a:gd name="T0" fmla="*/ 0 w 19946"/>
                <a:gd name="T1" fmla="*/ 0 h 21600"/>
                <a:gd name="T2" fmla="*/ 0 w 19946"/>
                <a:gd name="T3" fmla="*/ 0 h 21600"/>
                <a:gd name="T4" fmla="*/ 0 w 19946"/>
                <a:gd name="T5" fmla="*/ 0 h 21600"/>
                <a:gd name="T6" fmla="*/ 0 60000 65536"/>
                <a:gd name="T7" fmla="*/ 0 60000 65536"/>
                <a:gd name="T8" fmla="*/ 0 60000 65536"/>
                <a:gd name="T9" fmla="*/ 0 w 19946"/>
                <a:gd name="T10" fmla="*/ 0 h 21600"/>
                <a:gd name="T11" fmla="*/ 19946 w 1994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946" h="21600" fill="none" extrusionOk="0">
                  <a:moveTo>
                    <a:pt x="0" y="2440"/>
                  </a:moveTo>
                  <a:cubicBezTo>
                    <a:pt x="3080" y="837"/>
                    <a:pt x="6501" y="-1"/>
                    <a:pt x="9974" y="0"/>
                  </a:cubicBezTo>
                  <a:cubicBezTo>
                    <a:pt x="13445" y="0"/>
                    <a:pt x="16866" y="836"/>
                    <a:pt x="19946" y="2439"/>
                  </a:cubicBezTo>
                </a:path>
                <a:path w="19946" h="21600" stroke="0" extrusionOk="0">
                  <a:moveTo>
                    <a:pt x="0" y="2440"/>
                  </a:moveTo>
                  <a:cubicBezTo>
                    <a:pt x="3080" y="837"/>
                    <a:pt x="6501" y="-1"/>
                    <a:pt x="9974" y="0"/>
                  </a:cubicBezTo>
                  <a:cubicBezTo>
                    <a:pt x="13445" y="0"/>
                    <a:pt x="16866" y="836"/>
                    <a:pt x="19946" y="2439"/>
                  </a:cubicBezTo>
                  <a:lnTo>
                    <a:pt x="9974" y="21600"/>
                  </a:lnTo>
                  <a:lnTo>
                    <a:pt x="0" y="244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74" name="Arc 18"/>
            <p:cNvSpPr>
              <a:spLocks/>
            </p:cNvSpPr>
            <p:nvPr/>
          </p:nvSpPr>
          <p:spPr bwMode="auto">
            <a:xfrm>
              <a:off x="4250" y="1748"/>
              <a:ext cx="271" cy="324"/>
            </a:xfrm>
            <a:custGeom>
              <a:avLst/>
              <a:gdLst>
                <a:gd name="T0" fmla="*/ 0 w 17743"/>
                <a:gd name="T1" fmla="*/ 0 h 21600"/>
                <a:gd name="T2" fmla="*/ 0 w 17743"/>
                <a:gd name="T3" fmla="*/ 0 h 21600"/>
                <a:gd name="T4" fmla="*/ 0 w 17743"/>
                <a:gd name="T5" fmla="*/ 0 h 21600"/>
                <a:gd name="T6" fmla="*/ 0 60000 65536"/>
                <a:gd name="T7" fmla="*/ 0 60000 65536"/>
                <a:gd name="T8" fmla="*/ 0 60000 65536"/>
                <a:gd name="T9" fmla="*/ 0 w 17743"/>
                <a:gd name="T10" fmla="*/ 0 h 21600"/>
                <a:gd name="T11" fmla="*/ 17743 w 1774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43" h="21600" fill="none" extrusionOk="0">
                  <a:moveTo>
                    <a:pt x="17743" y="19840"/>
                  </a:moveTo>
                  <a:cubicBezTo>
                    <a:pt x="15045" y="21001"/>
                    <a:pt x="12139" y="21599"/>
                    <a:pt x="9203" y="21600"/>
                  </a:cubicBezTo>
                  <a:cubicBezTo>
                    <a:pt x="6021" y="21600"/>
                    <a:pt x="2878" y="20897"/>
                    <a:pt x="0" y="19541"/>
                  </a:cubicBezTo>
                </a:path>
                <a:path w="17743" h="21600" stroke="0" extrusionOk="0">
                  <a:moveTo>
                    <a:pt x="17743" y="19840"/>
                  </a:moveTo>
                  <a:cubicBezTo>
                    <a:pt x="15045" y="21001"/>
                    <a:pt x="12139" y="21599"/>
                    <a:pt x="9203" y="21600"/>
                  </a:cubicBezTo>
                  <a:cubicBezTo>
                    <a:pt x="6021" y="21600"/>
                    <a:pt x="2878" y="20897"/>
                    <a:pt x="0" y="19541"/>
                  </a:cubicBezTo>
                  <a:lnTo>
                    <a:pt x="9203" y="0"/>
                  </a:lnTo>
                  <a:lnTo>
                    <a:pt x="17743" y="1984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75" name="Line 19"/>
            <p:cNvSpPr>
              <a:spLocks noChangeShapeType="1"/>
            </p:cNvSpPr>
            <p:nvPr/>
          </p:nvSpPr>
          <p:spPr bwMode="auto">
            <a:xfrm>
              <a:off x="3972" y="1550"/>
              <a:ext cx="0" cy="3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76" name="Oval 20"/>
            <p:cNvSpPr>
              <a:spLocks noChangeArrowheads="1"/>
            </p:cNvSpPr>
            <p:nvPr/>
          </p:nvSpPr>
          <p:spPr bwMode="auto">
            <a:xfrm>
              <a:off x="3900" y="1670"/>
              <a:ext cx="142" cy="142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3877" name="Oval 21"/>
            <p:cNvSpPr>
              <a:spLocks noChangeArrowheads="1"/>
            </p:cNvSpPr>
            <p:nvPr/>
          </p:nvSpPr>
          <p:spPr bwMode="auto">
            <a:xfrm>
              <a:off x="4728" y="1670"/>
              <a:ext cx="142" cy="142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33796" name="Text Box 22" descr="紫色网格"/>
          <p:cNvSpPr txBox="1">
            <a:spLocks noChangeArrowheads="1"/>
          </p:cNvSpPr>
          <p:nvPr/>
        </p:nvSpPr>
        <p:spPr bwMode="auto">
          <a:xfrm>
            <a:off x="285750" y="215900"/>
            <a:ext cx="5146675" cy="70167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平面图形的尺寸注法</a:t>
            </a:r>
          </a:p>
        </p:txBody>
      </p:sp>
      <p:sp>
        <p:nvSpPr>
          <p:cNvPr id="235543" name="Text Box 23"/>
          <p:cNvSpPr txBox="1">
            <a:spLocks noChangeArrowheads="1"/>
          </p:cNvSpPr>
          <p:nvPr/>
        </p:nvSpPr>
        <p:spPr bwMode="auto">
          <a:xfrm>
            <a:off x="274638" y="1131533"/>
            <a:ext cx="8869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） 对称图形 </a:t>
            </a:r>
          </a:p>
        </p:txBody>
      </p:sp>
      <p:sp>
        <p:nvSpPr>
          <p:cNvPr id="235544" name="Text Box 24"/>
          <p:cNvSpPr txBox="1">
            <a:spLocks noChangeArrowheads="1"/>
          </p:cNvSpPr>
          <p:nvPr/>
        </p:nvSpPr>
        <p:spPr bwMode="auto">
          <a:xfrm>
            <a:off x="358775" y="3452458"/>
            <a:ext cx="375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） 肾形板  </a:t>
            </a:r>
          </a:p>
        </p:txBody>
      </p: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3121025" y="1815745"/>
            <a:ext cx="1730375" cy="1246188"/>
            <a:chOff x="3845" y="300"/>
            <a:chExt cx="1090" cy="785"/>
          </a:xfrm>
        </p:grpSpPr>
        <p:sp>
          <p:nvSpPr>
            <p:cNvPr id="33847" name="Line 28"/>
            <p:cNvSpPr>
              <a:spLocks noChangeShapeType="1"/>
            </p:cNvSpPr>
            <p:nvPr/>
          </p:nvSpPr>
          <p:spPr bwMode="auto">
            <a:xfrm>
              <a:off x="4389" y="300"/>
              <a:ext cx="1" cy="7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48" name="Line 29"/>
            <p:cNvSpPr>
              <a:spLocks noChangeShapeType="1"/>
            </p:cNvSpPr>
            <p:nvPr/>
          </p:nvSpPr>
          <p:spPr bwMode="auto">
            <a:xfrm>
              <a:off x="3845" y="700"/>
              <a:ext cx="109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49" name="AutoShape 30"/>
            <p:cNvSpPr>
              <a:spLocks noChangeArrowheads="1"/>
            </p:cNvSpPr>
            <p:nvPr/>
          </p:nvSpPr>
          <p:spPr bwMode="auto">
            <a:xfrm>
              <a:off x="3889" y="370"/>
              <a:ext cx="989" cy="655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3850" name="Oval 31"/>
            <p:cNvSpPr>
              <a:spLocks noChangeArrowheads="1"/>
            </p:cNvSpPr>
            <p:nvPr/>
          </p:nvSpPr>
          <p:spPr bwMode="auto">
            <a:xfrm>
              <a:off x="4254" y="566"/>
              <a:ext cx="268" cy="26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3851" name="Line 32"/>
            <p:cNvSpPr>
              <a:spLocks noChangeShapeType="1"/>
            </p:cNvSpPr>
            <p:nvPr/>
          </p:nvSpPr>
          <p:spPr bwMode="auto">
            <a:xfrm>
              <a:off x="3957" y="49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52" name="Line 33"/>
            <p:cNvSpPr>
              <a:spLocks noChangeShapeType="1"/>
            </p:cNvSpPr>
            <p:nvPr/>
          </p:nvSpPr>
          <p:spPr bwMode="auto">
            <a:xfrm>
              <a:off x="4632" y="498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53" name="Line 34"/>
            <p:cNvSpPr>
              <a:spLocks noChangeShapeType="1"/>
            </p:cNvSpPr>
            <p:nvPr/>
          </p:nvSpPr>
          <p:spPr bwMode="auto">
            <a:xfrm>
              <a:off x="4647" y="903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54" name="Line 35"/>
            <p:cNvSpPr>
              <a:spLocks noChangeShapeType="1"/>
            </p:cNvSpPr>
            <p:nvPr/>
          </p:nvSpPr>
          <p:spPr bwMode="auto">
            <a:xfrm>
              <a:off x="3957" y="903"/>
              <a:ext cx="1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55" name="Line 36"/>
            <p:cNvSpPr>
              <a:spLocks noChangeShapeType="1"/>
            </p:cNvSpPr>
            <p:nvPr/>
          </p:nvSpPr>
          <p:spPr bwMode="auto">
            <a:xfrm>
              <a:off x="4038" y="408"/>
              <a:ext cx="0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56" name="Line 37"/>
            <p:cNvSpPr>
              <a:spLocks noChangeShapeType="1"/>
            </p:cNvSpPr>
            <p:nvPr/>
          </p:nvSpPr>
          <p:spPr bwMode="auto">
            <a:xfrm>
              <a:off x="4041" y="822"/>
              <a:ext cx="0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57" name="Line 38"/>
            <p:cNvSpPr>
              <a:spLocks noChangeShapeType="1"/>
            </p:cNvSpPr>
            <p:nvPr/>
          </p:nvSpPr>
          <p:spPr bwMode="auto">
            <a:xfrm>
              <a:off x="4737" y="423"/>
              <a:ext cx="0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58" name="Line 39"/>
            <p:cNvSpPr>
              <a:spLocks noChangeShapeType="1"/>
            </p:cNvSpPr>
            <p:nvPr/>
          </p:nvSpPr>
          <p:spPr bwMode="auto">
            <a:xfrm>
              <a:off x="4734" y="831"/>
              <a:ext cx="0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59" name="Oval 40"/>
            <p:cNvSpPr>
              <a:spLocks noChangeArrowheads="1"/>
            </p:cNvSpPr>
            <p:nvPr/>
          </p:nvSpPr>
          <p:spPr bwMode="auto">
            <a:xfrm>
              <a:off x="3989" y="450"/>
              <a:ext cx="96" cy="96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3860" name="Oval 41"/>
            <p:cNvSpPr>
              <a:spLocks noChangeArrowheads="1"/>
            </p:cNvSpPr>
            <p:nvPr/>
          </p:nvSpPr>
          <p:spPr bwMode="auto">
            <a:xfrm>
              <a:off x="4688" y="449"/>
              <a:ext cx="96" cy="96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3861" name="Oval 42"/>
            <p:cNvSpPr>
              <a:spLocks noChangeArrowheads="1"/>
            </p:cNvSpPr>
            <p:nvPr/>
          </p:nvSpPr>
          <p:spPr bwMode="auto">
            <a:xfrm>
              <a:off x="3993" y="855"/>
              <a:ext cx="96" cy="96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3862" name="Oval 43"/>
            <p:cNvSpPr>
              <a:spLocks noChangeArrowheads="1"/>
            </p:cNvSpPr>
            <p:nvPr/>
          </p:nvSpPr>
          <p:spPr bwMode="auto">
            <a:xfrm>
              <a:off x="4685" y="854"/>
              <a:ext cx="96" cy="96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3422650" y="1737958"/>
            <a:ext cx="1114425" cy="276225"/>
            <a:chOff x="4035" y="251"/>
            <a:chExt cx="702" cy="174"/>
          </a:xfrm>
        </p:grpSpPr>
        <p:sp>
          <p:nvSpPr>
            <p:cNvPr id="33844" name="Line 45"/>
            <p:cNvSpPr>
              <a:spLocks noChangeShapeType="1"/>
            </p:cNvSpPr>
            <p:nvPr/>
          </p:nvSpPr>
          <p:spPr bwMode="auto">
            <a:xfrm flipV="1">
              <a:off x="4035" y="251"/>
              <a:ext cx="0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45" name="Line 46"/>
            <p:cNvSpPr>
              <a:spLocks noChangeShapeType="1"/>
            </p:cNvSpPr>
            <p:nvPr/>
          </p:nvSpPr>
          <p:spPr bwMode="auto">
            <a:xfrm flipV="1">
              <a:off x="4737" y="266"/>
              <a:ext cx="0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46" name="Line 47"/>
            <p:cNvSpPr>
              <a:spLocks noChangeShapeType="1"/>
            </p:cNvSpPr>
            <p:nvPr/>
          </p:nvSpPr>
          <p:spPr bwMode="auto">
            <a:xfrm>
              <a:off x="4035" y="276"/>
              <a:ext cx="69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4660900" y="2125308"/>
            <a:ext cx="333375" cy="647700"/>
            <a:chOff x="4815" y="495"/>
            <a:chExt cx="210" cy="408"/>
          </a:xfrm>
        </p:grpSpPr>
        <p:sp>
          <p:nvSpPr>
            <p:cNvPr id="33841" name="Line 49"/>
            <p:cNvSpPr>
              <a:spLocks noChangeShapeType="1"/>
            </p:cNvSpPr>
            <p:nvPr/>
          </p:nvSpPr>
          <p:spPr bwMode="auto">
            <a:xfrm>
              <a:off x="4815" y="498"/>
              <a:ext cx="21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42" name="Line 50"/>
            <p:cNvSpPr>
              <a:spLocks noChangeShapeType="1"/>
            </p:cNvSpPr>
            <p:nvPr/>
          </p:nvSpPr>
          <p:spPr bwMode="auto">
            <a:xfrm>
              <a:off x="4833" y="903"/>
              <a:ext cx="1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43" name="Line 51"/>
            <p:cNvSpPr>
              <a:spLocks noChangeShapeType="1"/>
            </p:cNvSpPr>
            <p:nvPr/>
          </p:nvSpPr>
          <p:spPr bwMode="auto">
            <a:xfrm flipV="1">
              <a:off x="4998" y="495"/>
              <a:ext cx="0" cy="40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52"/>
          <p:cNvGrpSpPr>
            <a:grpSpLocks/>
          </p:cNvGrpSpPr>
          <p:nvPr/>
        </p:nvGrpSpPr>
        <p:grpSpPr bwMode="auto">
          <a:xfrm>
            <a:off x="3181350" y="2774595"/>
            <a:ext cx="1576388" cy="400050"/>
            <a:chOff x="3883" y="904"/>
            <a:chExt cx="993" cy="252"/>
          </a:xfrm>
        </p:grpSpPr>
        <p:sp>
          <p:nvSpPr>
            <p:cNvPr id="33838" name="Line 53"/>
            <p:cNvSpPr>
              <a:spLocks noChangeShapeType="1"/>
            </p:cNvSpPr>
            <p:nvPr/>
          </p:nvSpPr>
          <p:spPr bwMode="auto">
            <a:xfrm>
              <a:off x="4876" y="904"/>
              <a:ext cx="0" cy="2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9" name="Line 54"/>
            <p:cNvSpPr>
              <a:spLocks noChangeShapeType="1"/>
            </p:cNvSpPr>
            <p:nvPr/>
          </p:nvSpPr>
          <p:spPr bwMode="auto">
            <a:xfrm>
              <a:off x="3884" y="904"/>
              <a:ext cx="0" cy="2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40" name="Line 55"/>
            <p:cNvSpPr>
              <a:spLocks noChangeShapeType="1"/>
            </p:cNvSpPr>
            <p:nvPr/>
          </p:nvSpPr>
          <p:spPr bwMode="auto">
            <a:xfrm>
              <a:off x="3883" y="1113"/>
              <a:ext cx="99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56"/>
          <p:cNvGrpSpPr>
            <a:grpSpLocks/>
          </p:cNvGrpSpPr>
          <p:nvPr/>
        </p:nvGrpSpPr>
        <p:grpSpPr bwMode="auto">
          <a:xfrm>
            <a:off x="2941638" y="1922108"/>
            <a:ext cx="438150" cy="1047750"/>
            <a:chOff x="3732" y="367"/>
            <a:chExt cx="276" cy="660"/>
          </a:xfrm>
        </p:grpSpPr>
        <p:sp>
          <p:nvSpPr>
            <p:cNvPr id="33835" name="Line 57"/>
            <p:cNvSpPr>
              <a:spLocks noChangeShapeType="1"/>
            </p:cNvSpPr>
            <p:nvPr/>
          </p:nvSpPr>
          <p:spPr bwMode="auto">
            <a:xfrm flipH="1">
              <a:off x="3736" y="368"/>
              <a:ext cx="2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6" name="Line 58"/>
            <p:cNvSpPr>
              <a:spLocks noChangeShapeType="1"/>
            </p:cNvSpPr>
            <p:nvPr/>
          </p:nvSpPr>
          <p:spPr bwMode="auto">
            <a:xfrm flipH="1">
              <a:off x="3732" y="1024"/>
              <a:ext cx="2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7" name="Line 59"/>
            <p:cNvSpPr>
              <a:spLocks noChangeShapeType="1"/>
            </p:cNvSpPr>
            <p:nvPr/>
          </p:nvSpPr>
          <p:spPr bwMode="auto">
            <a:xfrm>
              <a:off x="3783" y="367"/>
              <a:ext cx="0" cy="6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60"/>
          <p:cNvGrpSpPr>
            <a:grpSpLocks/>
          </p:cNvGrpSpPr>
          <p:nvPr/>
        </p:nvGrpSpPr>
        <p:grpSpPr bwMode="auto">
          <a:xfrm>
            <a:off x="4618038" y="1536345"/>
            <a:ext cx="381000" cy="431800"/>
            <a:chOff x="3499" y="168"/>
            <a:chExt cx="240" cy="272"/>
          </a:xfrm>
        </p:grpSpPr>
        <p:sp>
          <p:nvSpPr>
            <p:cNvPr id="33833" name="Line 61"/>
            <p:cNvSpPr>
              <a:spLocks noChangeShapeType="1"/>
            </p:cNvSpPr>
            <p:nvPr/>
          </p:nvSpPr>
          <p:spPr bwMode="auto">
            <a:xfrm flipV="1">
              <a:off x="3551" y="252"/>
              <a:ext cx="188" cy="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4" name="Text Box 62"/>
            <p:cNvSpPr txBox="1">
              <a:spLocks noChangeArrowheads="1"/>
            </p:cNvSpPr>
            <p:nvPr/>
          </p:nvSpPr>
          <p:spPr bwMode="auto">
            <a:xfrm rot="-2760839">
              <a:off x="3483" y="184"/>
              <a:ext cx="22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 dirty="0">
                  <a:solidFill>
                    <a:srgbClr val="000000"/>
                  </a:solidFill>
                  <a:latin typeface="ISOCPEUR" pitchFamily="34" charset="0"/>
                </a:rPr>
                <a:t>R</a:t>
              </a:r>
              <a:endParaRPr lang="en-US" altLang="zh-CN" sz="2400" dirty="0">
                <a:solidFill>
                  <a:srgbClr val="000000"/>
                </a:solidFill>
                <a:latin typeface="ISOCPEUR" pitchFamily="34" charset="0"/>
              </a:endParaRPr>
            </a:p>
          </p:txBody>
        </p:sp>
      </p:grpSp>
      <p:grpSp>
        <p:nvGrpSpPr>
          <p:cNvPr id="9" name="Group 63"/>
          <p:cNvGrpSpPr>
            <a:grpSpLocks/>
          </p:cNvGrpSpPr>
          <p:nvPr/>
        </p:nvGrpSpPr>
        <p:grpSpPr bwMode="auto">
          <a:xfrm>
            <a:off x="3246438" y="2517420"/>
            <a:ext cx="371475" cy="481013"/>
            <a:chOff x="3924" y="750"/>
            <a:chExt cx="234" cy="303"/>
          </a:xfrm>
        </p:grpSpPr>
        <p:sp>
          <p:nvSpPr>
            <p:cNvPr id="33829" name="Line 64"/>
            <p:cNvSpPr>
              <a:spLocks noChangeShapeType="1"/>
            </p:cNvSpPr>
            <p:nvPr/>
          </p:nvSpPr>
          <p:spPr bwMode="auto">
            <a:xfrm flipH="1" flipV="1">
              <a:off x="4004" y="859"/>
              <a:ext cx="63" cy="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0" name="Line 65"/>
            <p:cNvSpPr>
              <a:spLocks noChangeShapeType="1"/>
            </p:cNvSpPr>
            <p:nvPr/>
          </p:nvSpPr>
          <p:spPr bwMode="auto">
            <a:xfrm flipH="1" flipV="1">
              <a:off x="4074" y="948"/>
              <a:ext cx="75" cy="1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1" name="Line 66"/>
            <p:cNvSpPr>
              <a:spLocks noChangeShapeType="1"/>
            </p:cNvSpPr>
            <p:nvPr/>
          </p:nvSpPr>
          <p:spPr bwMode="auto">
            <a:xfrm>
              <a:off x="3927" y="756"/>
              <a:ext cx="78" cy="1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2" name="Line 67"/>
            <p:cNvSpPr>
              <a:spLocks noChangeShapeType="1"/>
            </p:cNvSpPr>
            <p:nvPr/>
          </p:nvSpPr>
          <p:spPr bwMode="auto">
            <a:xfrm>
              <a:off x="3924" y="750"/>
              <a:ext cx="2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" name="Group 68"/>
          <p:cNvGrpSpPr>
            <a:grpSpLocks/>
          </p:cNvGrpSpPr>
          <p:nvPr/>
        </p:nvGrpSpPr>
        <p:grpSpPr bwMode="auto">
          <a:xfrm>
            <a:off x="3128963" y="2285645"/>
            <a:ext cx="669925" cy="304800"/>
            <a:chOff x="2561" y="640"/>
            <a:chExt cx="422" cy="192"/>
          </a:xfrm>
        </p:grpSpPr>
        <p:sp>
          <p:nvSpPr>
            <p:cNvPr id="33827" name="Rectangle 69"/>
            <p:cNvSpPr>
              <a:spLocks noChangeArrowheads="1"/>
            </p:cNvSpPr>
            <p:nvPr/>
          </p:nvSpPr>
          <p:spPr bwMode="auto">
            <a:xfrm>
              <a:off x="2632" y="698"/>
              <a:ext cx="261" cy="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3828" name="Text Box 70"/>
            <p:cNvSpPr txBox="1">
              <a:spLocks noChangeArrowheads="1"/>
            </p:cNvSpPr>
            <p:nvPr/>
          </p:nvSpPr>
          <p:spPr bwMode="auto">
            <a:xfrm>
              <a:off x="2561" y="640"/>
              <a:ext cx="42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 dirty="0">
                  <a:solidFill>
                    <a:srgbClr val="000000"/>
                  </a:solidFill>
                  <a:latin typeface="ISOCPEUR" pitchFamily="34" charset="0"/>
                </a:rPr>
                <a:t>4X</a:t>
              </a:r>
              <a:r>
                <a:rPr lang="en-US" altLang="zh-CN" sz="1400" i="1" dirty="0">
                  <a:solidFill>
                    <a:srgbClr val="000000"/>
                  </a:solidFill>
                  <a:latin typeface="ISOCPEUR" pitchFamily="34" charset="0"/>
                  <a:sym typeface="Romantic" pitchFamily="2" charset="2"/>
                </a:rPr>
                <a:t></a:t>
              </a:r>
              <a:endParaRPr lang="en-US" altLang="zh-CN" sz="1800" i="1" dirty="0">
                <a:solidFill>
                  <a:srgbClr val="000000"/>
                </a:solidFill>
                <a:latin typeface="ISOCPEUR" pitchFamily="34" charset="0"/>
                <a:sym typeface="Romantic" pitchFamily="2" charset="2"/>
              </a:endParaRPr>
            </a:p>
          </p:txBody>
        </p:sp>
      </p:grpSp>
      <p:sp>
        <p:nvSpPr>
          <p:cNvPr id="235591" name="Line 71"/>
          <p:cNvSpPr>
            <a:spLocks noChangeShapeType="1"/>
          </p:cNvSpPr>
          <p:nvPr/>
        </p:nvSpPr>
        <p:spPr bwMode="auto">
          <a:xfrm flipV="1">
            <a:off x="3811588" y="2311045"/>
            <a:ext cx="331787" cy="273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Group 72"/>
          <p:cNvGrpSpPr>
            <a:grpSpLocks/>
          </p:cNvGrpSpPr>
          <p:nvPr/>
        </p:nvGrpSpPr>
        <p:grpSpPr bwMode="auto">
          <a:xfrm>
            <a:off x="3756025" y="2223733"/>
            <a:ext cx="322263" cy="304800"/>
            <a:chOff x="2956" y="601"/>
            <a:chExt cx="203" cy="192"/>
          </a:xfrm>
        </p:grpSpPr>
        <p:sp>
          <p:nvSpPr>
            <p:cNvPr id="33825" name="Rectangle 73"/>
            <p:cNvSpPr>
              <a:spLocks noChangeArrowheads="1"/>
            </p:cNvSpPr>
            <p:nvPr/>
          </p:nvSpPr>
          <p:spPr bwMode="auto">
            <a:xfrm rot="-2448905">
              <a:off x="3006" y="654"/>
              <a:ext cx="100" cy="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3826" name="Text Box 74"/>
            <p:cNvSpPr txBox="1">
              <a:spLocks noChangeArrowheads="1"/>
            </p:cNvSpPr>
            <p:nvPr/>
          </p:nvSpPr>
          <p:spPr bwMode="auto">
            <a:xfrm rot="-2487774">
              <a:off x="2956" y="601"/>
              <a:ext cx="20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>
                  <a:solidFill>
                    <a:srgbClr val="000000"/>
                  </a:solidFill>
                  <a:latin typeface="ISOCPEUR" pitchFamily="34" charset="0"/>
                  <a:sym typeface="Romantic" pitchFamily="2" charset="2"/>
                </a:rPr>
                <a:t></a:t>
              </a:r>
              <a:endParaRPr lang="en-US" altLang="zh-CN" sz="1800" i="1">
                <a:solidFill>
                  <a:srgbClr val="000000"/>
                </a:solidFill>
                <a:latin typeface="ISOCPEUR" pitchFamily="34" charset="0"/>
                <a:sym typeface="Romantic" pitchFamily="2" charset="2"/>
              </a:endParaRPr>
            </a:p>
          </p:txBody>
        </p:sp>
      </p:grpSp>
      <p:grpSp>
        <p:nvGrpSpPr>
          <p:cNvPr id="12" name="Group 75"/>
          <p:cNvGrpSpPr>
            <a:grpSpLocks/>
          </p:cNvGrpSpPr>
          <p:nvPr/>
        </p:nvGrpSpPr>
        <p:grpSpPr bwMode="auto">
          <a:xfrm>
            <a:off x="3490913" y="4114445"/>
            <a:ext cx="838200" cy="993775"/>
            <a:chOff x="4114" y="1435"/>
            <a:chExt cx="528" cy="626"/>
          </a:xfrm>
        </p:grpSpPr>
        <p:sp>
          <p:nvSpPr>
            <p:cNvPr id="33822" name="Arc 76"/>
            <p:cNvSpPr>
              <a:spLocks/>
            </p:cNvSpPr>
            <p:nvPr/>
          </p:nvSpPr>
          <p:spPr bwMode="auto">
            <a:xfrm>
              <a:off x="4369" y="1435"/>
              <a:ext cx="273" cy="306"/>
            </a:xfrm>
            <a:custGeom>
              <a:avLst/>
              <a:gdLst>
                <a:gd name="T0" fmla="*/ 0 w 17610"/>
                <a:gd name="T1" fmla="*/ 0 h 20160"/>
                <a:gd name="T2" fmla="*/ 0 w 17610"/>
                <a:gd name="T3" fmla="*/ 0 h 20160"/>
                <a:gd name="T4" fmla="*/ 0 w 17610"/>
                <a:gd name="T5" fmla="*/ 0 h 20160"/>
                <a:gd name="T6" fmla="*/ 0 60000 65536"/>
                <a:gd name="T7" fmla="*/ 0 60000 65536"/>
                <a:gd name="T8" fmla="*/ 0 60000 65536"/>
                <a:gd name="T9" fmla="*/ 0 w 17610"/>
                <a:gd name="T10" fmla="*/ 0 h 20160"/>
                <a:gd name="T11" fmla="*/ 17610 w 17610"/>
                <a:gd name="T12" fmla="*/ 20160 h 201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10" h="20160" fill="none" extrusionOk="0">
                  <a:moveTo>
                    <a:pt x="7754" y="0"/>
                  </a:moveTo>
                  <a:cubicBezTo>
                    <a:pt x="11721" y="1525"/>
                    <a:pt x="15149" y="4187"/>
                    <a:pt x="17609" y="7652"/>
                  </a:cubicBezTo>
                </a:path>
                <a:path w="17610" h="20160" stroke="0" extrusionOk="0">
                  <a:moveTo>
                    <a:pt x="7754" y="0"/>
                  </a:moveTo>
                  <a:cubicBezTo>
                    <a:pt x="11721" y="1525"/>
                    <a:pt x="15149" y="4187"/>
                    <a:pt x="17609" y="7652"/>
                  </a:cubicBezTo>
                  <a:lnTo>
                    <a:pt x="0" y="20160"/>
                  </a:lnTo>
                  <a:lnTo>
                    <a:pt x="7754" y="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3" name="Arc 77"/>
            <p:cNvSpPr>
              <a:spLocks/>
            </p:cNvSpPr>
            <p:nvPr/>
          </p:nvSpPr>
          <p:spPr bwMode="auto">
            <a:xfrm>
              <a:off x="4114" y="1748"/>
              <a:ext cx="282" cy="313"/>
            </a:xfrm>
            <a:custGeom>
              <a:avLst/>
              <a:gdLst>
                <a:gd name="T0" fmla="*/ 0 w 18420"/>
                <a:gd name="T1" fmla="*/ 0 h 20882"/>
                <a:gd name="T2" fmla="*/ 0 w 18420"/>
                <a:gd name="T3" fmla="*/ 0 h 20882"/>
                <a:gd name="T4" fmla="*/ 0 w 18420"/>
                <a:gd name="T5" fmla="*/ 0 h 20882"/>
                <a:gd name="T6" fmla="*/ 0 60000 65536"/>
                <a:gd name="T7" fmla="*/ 0 60000 65536"/>
                <a:gd name="T8" fmla="*/ 0 60000 65536"/>
                <a:gd name="T9" fmla="*/ 0 w 18420"/>
                <a:gd name="T10" fmla="*/ 0 h 20882"/>
                <a:gd name="T11" fmla="*/ 18420 w 18420"/>
                <a:gd name="T12" fmla="*/ 20882 h 208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420" h="20882" fill="none" extrusionOk="0">
                  <a:moveTo>
                    <a:pt x="12895" y="20881"/>
                  </a:moveTo>
                  <a:cubicBezTo>
                    <a:pt x="7521" y="19459"/>
                    <a:pt x="2903" y="16021"/>
                    <a:pt x="0" y="11281"/>
                  </a:cubicBezTo>
                </a:path>
                <a:path w="18420" h="20882" stroke="0" extrusionOk="0">
                  <a:moveTo>
                    <a:pt x="12895" y="20881"/>
                  </a:moveTo>
                  <a:cubicBezTo>
                    <a:pt x="7521" y="19459"/>
                    <a:pt x="2903" y="16021"/>
                    <a:pt x="0" y="11281"/>
                  </a:cubicBezTo>
                  <a:lnTo>
                    <a:pt x="18420" y="0"/>
                  </a:lnTo>
                  <a:lnTo>
                    <a:pt x="12895" y="20881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4" name="Line 78"/>
            <p:cNvSpPr>
              <a:spLocks noChangeShapeType="1"/>
            </p:cNvSpPr>
            <p:nvPr/>
          </p:nvSpPr>
          <p:spPr bwMode="auto">
            <a:xfrm flipV="1">
              <a:off x="4144" y="1528"/>
              <a:ext cx="480" cy="4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79"/>
          <p:cNvGrpSpPr>
            <a:grpSpLocks/>
          </p:cNvGrpSpPr>
          <p:nvPr/>
        </p:nvGrpSpPr>
        <p:grpSpPr bwMode="auto">
          <a:xfrm>
            <a:off x="3260725" y="4803420"/>
            <a:ext cx="1323975" cy="488950"/>
            <a:chOff x="3969" y="1869"/>
            <a:chExt cx="834" cy="308"/>
          </a:xfrm>
        </p:grpSpPr>
        <p:sp>
          <p:nvSpPr>
            <p:cNvPr id="33819" name="Line 80"/>
            <p:cNvSpPr>
              <a:spLocks noChangeShapeType="1"/>
            </p:cNvSpPr>
            <p:nvPr/>
          </p:nvSpPr>
          <p:spPr bwMode="auto">
            <a:xfrm>
              <a:off x="3972" y="1869"/>
              <a:ext cx="0" cy="3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0" name="Line 81"/>
            <p:cNvSpPr>
              <a:spLocks noChangeShapeType="1"/>
            </p:cNvSpPr>
            <p:nvPr/>
          </p:nvSpPr>
          <p:spPr bwMode="auto">
            <a:xfrm>
              <a:off x="4800" y="1873"/>
              <a:ext cx="0" cy="3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1" name="Line 82"/>
            <p:cNvSpPr>
              <a:spLocks noChangeShapeType="1"/>
            </p:cNvSpPr>
            <p:nvPr/>
          </p:nvSpPr>
          <p:spPr bwMode="auto">
            <a:xfrm>
              <a:off x="3969" y="2157"/>
              <a:ext cx="83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83"/>
          <p:cNvGrpSpPr>
            <a:grpSpLocks/>
          </p:cNvGrpSpPr>
          <p:nvPr/>
        </p:nvGrpSpPr>
        <p:grpSpPr bwMode="auto">
          <a:xfrm>
            <a:off x="3683000" y="4366858"/>
            <a:ext cx="322263" cy="304800"/>
            <a:chOff x="4401" y="1394"/>
            <a:chExt cx="203" cy="192"/>
          </a:xfrm>
        </p:grpSpPr>
        <p:sp>
          <p:nvSpPr>
            <p:cNvPr id="33817" name="Rectangle 84"/>
            <p:cNvSpPr>
              <a:spLocks noChangeArrowheads="1"/>
            </p:cNvSpPr>
            <p:nvPr/>
          </p:nvSpPr>
          <p:spPr bwMode="auto">
            <a:xfrm rot="-2835877">
              <a:off x="4416" y="1442"/>
              <a:ext cx="161" cy="1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3818" name="Text Box 85"/>
            <p:cNvSpPr txBox="1">
              <a:spLocks noChangeArrowheads="1"/>
            </p:cNvSpPr>
            <p:nvPr/>
          </p:nvSpPr>
          <p:spPr bwMode="auto">
            <a:xfrm rot="-2335761">
              <a:off x="4401" y="1394"/>
              <a:ext cx="20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>
                  <a:solidFill>
                    <a:srgbClr val="000000"/>
                  </a:solidFill>
                  <a:latin typeface="ISOCP" pitchFamily="2" charset="0"/>
                  <a:sym typeface="Romantic" pitchFamily="2" charset="2"/>
                </a:rPr>
                <a:t></a:t>
              </a:r>
              <a:endParaRPr lang="en-US" altLang="zh-CN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15" name="Group 86"/>
          <p:cNvGrpSpPr>
            <a:grpSpLocks/>
          </p:cNvGrpSpPr>
          <p:nvPr/>
        </p:nvGrpSpPr>
        <p:grpSpPr bwMode="auto">
          <a:xfrm>
            <a:off x="4579938" y="4119208"/>
            <a:ext cx="533400" cy="482600"/>
            <a:chOff x="4966" y="1238"/>
            <a:chExt cx="336" cy="304"/>
          </a:xfrm>
        </p:grpSpPr>
        <p:grpSp>
          <p:nvGrpSpPr>
            <p:cNvPr id="33813" name="Group 87"/>
            <p:cNvGrpSpPr>
              <a:grpSpLocks/>
            </p:cNvGrpSpPr>
            <p:nvPr/>
          </p:nvGrpSpPr>
          <p:grpSpPr bwMode="auto">
            <a:xfrm>
              <a:off x="4966" y="1302"/>
              <a:ext cx="336" cy="240"/>
              <a:chOff x="4800" y="1502"/>
              <a:chExt cx="336" cy="240"/>
            </a:xfrm>
          </p:grpSpPr>
          <p:sp>
            <p:nvSpPr>
              <p:cNvPr id="33815" name="Line 88"/>
              <p:cNvSpPr>
                <a:spLocks noChangeShapeType="1"/>
              </p:cNvSpPr>
              <p:nvPr/>
            </p:nvSpPr>
            <p:spPr bwMode="auto">
              <a:xfrm flipV="1">
                <a:off x="4800" y="1662"/>
                <a:ext cx="112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lg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6" name="Line 89"/>
              <p:cNvSpPr>
                <a:spLocks noChangeShapeType="1"/>
              </p:cNvSpPr>
              <p:nvPr/>
            </p:nvSpPr>
            <p:spPr bwMode="auto">
              <a:xfrm flipH="1">
                <a:off x="4912" y="1502"/>
                <a:ext cx="224" cy="1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3814" name="Text Box 90"/>
            <p:cNvSpPr txBox="1">
              <a:spLocks noChangeArrowheads="1"/>
            </p:cNvSpPr>
            <p:nvPr/>
          </p:nvSpPr>
          <p:spPr bwMode="auto">
            <a:xfrm rot="-2265199">
              <a:off x="5057" y="1238"/>
              <a:ext cx="20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>
                  <a:solidFill>
                    <a:srgbClr val="000000"/>
                  </a:solidFill>
                  <a:latin typeface="ISOCPEUR" pitchFamily="34" charset="0"/>
                </a:rPr>
                <a:t>R</a:t>
              </a:r>
              <a:endParaRPr lang="en-US" altLang="zh-CN" sz="2400">
                <a:solidFill>
                  <a:srgbClr val="000000"/>
                </a:solidFill>
                <a:latin typeface="ISOCPEUR" pitchFamily="34" charset="0"/>
              </a:endParaRPr>
            </a:p>
          </p:txBody>
        </p:sp>
      </p:grpSp>
      <p:sp>
        <p:nvSpPr>
          <p:cNvPr id="86" name="Text Box 4"/>
          <p:cNvSpPr txBox="1">
            <a:spLocks noChangeArrowheads="1"/>
          </p:cNvSpPr>
          <p:nvPr/>
        </p:nvSpPr>
        <p:spPr bwMode="auto">
          <a:xfrm>
            <a:off x="829135" y="5607408"/>
            <a:ext cx="72649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注意</a:t>
            </a:r>
            <a:r>
              <a:rPr lang="en-US" altLang="zh-CN" sz="2400" i="1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R 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的注法</a:t>
            </a:r>
            <a:r>
              <a:rPr lang="en-US" altLang="zh-CN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: </a:t>
            </a: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不能标注 </a:t>
            </a:r>
            <a:r>
              <a:rPr lang="en-US" altLang="zh-CN" sz="2400" i="1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n </a:t>
            </a:r>
            <a:r>
              <a:rPr lang="en-US" altLang="zh-CN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X </a:t>
            </a:r>
            <a:r>
              <a:rPr lang="en-US" altLang="zh-CN" sz="2400" i="1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R</a:t>
            </a:r>
            <a:endParaRPr lang="zh-CN" altLang="en-US" sz="2400" i="1" dirty="0">
              <a:solidFill>
                <a:srgbClr val="C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7" name="Text Box 4"/>
          <p:cNvSpPr txBox="1">
            <a:spLocks noChangeArrowheads="1"/>
          </p:cNvSpPr>
          <p:nvPr/>
        </p:nvSpPr>
        <p:spPr bwMode="auto">
          <a:xfrm>
            <a:off x="812200" y="6042033"/>
            <a:ext cx="72649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提问：肾型板的长度？</a:t>
            </a:r>
            <a:endParaRPr lang="zh-CN" altLang="en-US" sz="2400" i="1" dirty="0">
              <a:solidFill>
                <a:srgbClr val="C0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3" grpId="0" autoUpdateAnimBg="0"/>
      <p:bldP spid="235544" grpId="0" autoUpdateAnimBg="0"/>
      <p:bldP spid="235591" grpId="0" animBg="1"/>
      <p:bldP spid="86" grpId="0" autoUpdateAnimBg="0"/>
      <p:bldP spid="8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1F5CCFA5-C322-4239-89F5-5C41356DA9B3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19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800350" y="5067483"/>
            <a:ext cx="1533525" cy="428625"/>
            <a:chOff x="2237" y="2634"/>
            <a:chExt cx="966" cy="270"/>
          </a:xfrm>
        </p:grpSpPr>
        <p:sp>
          <p:nvSpPr>
            <p:cNvPr id="34863" name="Line 3"/>
            <p:cNvSpPr>
              <a:spLocks noChangeShapeType="1"/>
            </p:cNvSpPr>
            <p:nvPr/>
          </p:nvSpPr>
          <p:spPr bwMode="auto">
            <a:xfrm>
              <a:off x="2244" y="2634"/>
              <a:ext cx="0" cy="26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4" name="Line 4"/>
            <p:cNvSpPr>
              <a:spLocks noChangeShapeType="1"/>
            </p:cNvSpPr>
            <p:nvPr/>
          </p:nvSpPr>
          <p:spPr bwMode="auto">
            <a:xfrm>
              <a:off x="3198" y="2640"/>
              <a:ext cx="0" cy="26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5" name="Line 5"/>
            <p:cNvSpPr>
              <a:spLocks noChangeShapeType="1"/>
            </p:cNvSpPr>
            <p:nvPr/>
          </p:nvSpPr>
          <p:spPr bwMode="auto">
            <a:xfrm>
              <a:off x="2237" y="2845"/>
              <a:ext cx="96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6569" name="Text Box 25"/>
          <p:cNvSpPr txBox="1">
            <a:spLocks noChangeArrowheads="1"/>
          </p:cNvSpPr>
          <p:nvPr/>
        </p:nvSpPr>
        <p:spPr bwMode="auto">
          <a:xfrm>
            <a:off x="274638" y="409575"/>
            <a:ext cx="8869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） 半圆头板  </a:t>
            </a:r>
          </a:p>
        </p:txBody>
      </p:sp>
      <p:sp>
        <p:nvSpPr>
          <p:cNvPr id="236570" name="Text Box 26"/>
          <p:cNvSpPr txBox="1">
            <a:spLocks noChangeArrowheads="1"/>
          </p:cNvSpPr>
          <p:nvPr/>
        </p:nvSpPr>
        <p:spPr bwMode="auto">
          <a:xfrm>
            <a:off x="274638" y="2067817"/>
            <a:ext cx="8869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） 均匀分布的孔</a:t>
            </a:r>
          </a:p>
        </p:txBody>
      </p:sp>
      <p:grpSp>
        <p:nvGrpSpPr>
          <p:cNvPr id="3" name="Group 91"/>
          <p:cNvGrpSpPr>
            <a:grpSpLocks/>
          </p:cNvGrpSpPr>
          <p:nvPr/>
        </p:nvGrpSpPr>
        <p:grpSpPr bwMode="auto">
          <a:xfrm>
            <a:off x="2689225" y="3452995"/>
            <a:ext cx="1781175" cy="1746250"/>
            <a:chOff x="2245" y="2200"/>
            <a:chExt cx="1122" cy="1100"/>
          </a:xfrm>
        </p:grpSpPr>
        <p:sp>
          <p:nvSpPr>
            <p:cNvPr id="34859" name="AutoShape 92"/>
            <p:cNvSpPr>
              <a:spLocks noChangeArrowheads="1"/>
            </p:cNvSpPr>
            <p:nvPr/>
          </p:nvSpPr>
          <p:spPr bwMode="auto">
            <a:xfrm rot="-5400000">
              <a:off x="2322" y="2278"/>
              <a:ext cx="955" cy="955"/>
            </a:xfrm>
            <a:prstGeom prst="flowChartDelay">
              <a:avLst/>
            </a:prstGeom>
            <a:noFill/>
            <a:ln w="28575">
              <a:solidFill>
                <a:srgbClr val="000000"/>
              </a:solidFill>
              <a:miter lim="800000"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4860" name="Line 93"/>
            <p:cNvSpPr>
              <a:spLocks noChangeShapeType="1"/>
            </p:cNvSpPr>
            <p:nvPr/>
          </p:nvSpPr>
          <p:spPr bwMode="auto">
            <a:xfrm>
              <a:off x="2245" y="2755"/>
              <a:ext cx="112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1" name="Line 94"/>
            <p:cNvSpPr>
              <a:spLocks noChangeShapeType="1"/>
            </p:cNvSpPr>
            <p:nvPr/>
          </p:nvSpPr>
          <p:spPr bwMode="auto">
            <a:xfrm>
              <a:off x="2800" y="2200"/>
              <a:ext cx="0" cy="1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2" name="Oval 95"/>
            <p:cNvSpPr>
              <a:spLocks noChangeArrowheads="1"/>
            </p:cNvSpPr>
            <p:nvPr/>
          </p:nvSpPr>
          <p:spPr bwMode="auto">
            <a:xfrm>
              <a:off x="2533" y="2490"/>
              <a:ext cx="534" cy="534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3570288" y="3548245"/>
            <a:ext cx="1365250" cy="787400"/>
            <a:chOff x="2800" y="2260"/>
            <a:chExt cx="860" cy="496"/>
          </a:xfrm>
        </p:grpSpPr>
        <p:sp>
          <p:nvSpPr>
            <p:cNvPr id="34857" name="Line 97"/>
            <p:cNvSpPr>
              <a:spLocks noChangeShapeType="1"/>
            </p:cNvSpPr>
            <p:nvPr/>
          </p:nvSpPr>
          <p:spPr bwMode="auto">
            <a:xfrm flipV="1">
              <a:off x="2800" y="2520"/>
              <a:ext cx="408" cy="2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8" name="Line 98"/>
            <p:cNvSpPr>
              <a:spLocks noChangeShapeType="1"/>
            </p:cNvSpPr>
            <p:nvPr/>
          </p:nvSpPr>
          <p:spPr bwMode="auto">
            <a:xfrm flipH="1">
              <a:off x="3212" y="2260"/>
              <a:ext cx="448" cy="2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99"/>
          <p:cNvGrpSpPr>
            <a:grpSpLocks/>
          </p:cNvGrpSpPr>
          <p:nvPr/>
        </p:nvGrpSpPr>
        <p:grpSpPr bwMode="auto">
          <a:xfrm>
            <a:off x="4313238" y="4321358"/>
            <a:ext cx="387350" cy="777875"/>
            <a:chOff x="3268" y="2748"/>
            <a:chExt cx="244" cy="484"/>
          </a:xfrm>
        </p:grpSpPr>
        <p:sp>
          <p:nvSpPr>
            <p:cNvPr id="34854" name="Line 100"/>
            <p:cNvSpPr>
              <a:spLocks noChangeShapeType="1"/>
            </p:cNvSpPr>
            <p:nvPr/>
          </p:nvSpPr>
          <p:spPr bwMode="auto">
            <a:xfrm>
              <a:off x="3272" y="2756"/>
              <a:ext cx="24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5" name="Line 101"/>
            <p:cNvSpPr>
              <a:spLocks noChangeShapeType="1"/>
            </p:cNvSpPr>
            <p:nvPr/>
          </p:nvSpPr>
          <p:spPr bwMode="auto">
            <a:xfrm>
              <a:off x="3268" y="3228"/>
              <a:ext cx="2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6" name="Line 102"/>
            <p:cNvSpPr>
              <a:spLocks noChangeShapeType="1"/>
            </p:cNvSpPr>
            <p:nvPr/>
          </p:nvSpPr>
          <p:spPr bwMode="auto">
            <a:xfrm flipV="1">
              <a:off x="3479" y="2748"/>
              <a:ext cx="0" cy="4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6647" name="Text Box 103"/>
          <p:cNvSpPr txBox="1">
            <a:spLocks noChangeArrowheads="1"/>
          </p:cNvSpPr>
          <p:nvPr/>
        </p:nvSpPr>
        <p:spPr bwMode="auto">
          <a:xfrm rot="-1738085">
            <a:off x="4337050" y="3522845"/>
            <a:ext cx="279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>
                <a:solidFill>
                  <a:srgbClr val="000000"/>
                </a:solidFill>
                <a:latin typeface="ISOCPEUR" pitchFamily="34" charset="0"/>
              </a:rPr>
              <a:t>R</a:t>
            </a:r>
            <a:endParaRPr lang="en-US" altLang="zh-CN" sz="1400">
              <a:solidFill>
                <a:srgbClr val="000000"/>
              </a:solidFill>
              <a:latin typeface="ISOCPEUR" pitchFamily="34" charset="0"/>
            </a:endParaRPr>
          </a:p>
        </p:txBody>
      </p:sp>
      <p:grpSp>
        <p:nvGrpSpPr>
          <p:cNvPr id="6" name="Group 104"/>
          <p:cNvGrpSpPr>
            <a:grpSpLocks/>
          </p:cNvGrpSpPr>
          <p:nvPr/>
        </p:nvGrpSpPr>
        <p:grpSpPr bwMode="auto">
          <a:xfrm>
            <a:off x="5121275" y="3246620"/>
            <a:ext cx="2432050" cy="2381250"/>
            <a:chOff x="3510" y="2504"/>
            <a:chExt cx="1532" cy="1500"/>
          </a:xfrm>
        </p:grpSpPr>
        <p:sp>
          <p:nvSpPr>
            <p:cNvPr id="34841" name="Line 105"/>
            <p:cNvSpPr>
              <a:spLocks noChangeShapeType="1"/>
            </p:cNvSpPr>
            <p:nvPr/>
          </p:nvSpPr>
          <p:spPr bwMode="auto">
            <a:xfrm>
              <a:off x="3510" y="3269"/>
              <a:ext cx="153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2" name="Line 106"/>
            <p:cNvSpPr>
              <a:spLocks noChangeShapeType="1"/>
            </p:cNvSpPr>
            <p:nvPr/>
          </p:nvSpPr>
          <p:spPr bwMode="auto">
            <a:xfrm>
              <a:off x="4276" y="2504"/>
              <a:ext cx="0" cy="15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3" name="Oval 107"/>
            <p:cNvSpPr>
              <a:spLocks noChangeArrowheads="1"/>
            </p:cNvSpPr>
            <p:nvPr/>
          </p:nvSpPr>
          <p:spPr bwMode="auto">
            <a:xfrm>
              <a:off x="3625" y="2597"/>
              <a:ext cx="1314" cy="134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4844" name="Oval 108"/>
            <p:cNvSpPr>
              <a:spLocks noChangeArrowheads="1"/>
            </p:cNvSpPr>
            <p:nvPr/>
          </p:nvSpPr>
          <p:spPr bwMode="auto">
            <a:xfrm>
              <a:off x="4114" y="3095"/>
              <a:ext cx="321" cy="33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4845" name="Oval 109"/>
            <p:cNvSpPr>
              <a:spLocks noChangeArrowheads="1"/>
            </p:cNvSpPr>
            <p:nvPr/>
          </p:nvSpPr>
          <p:spPr bwMode="auto">
            <a:xfrm>
              <a:off x="3827" y="2819"/>
              <a:ext cx="908" cy="897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4846" name="Oval 110"/>
            <p:cNvSpPr>
              <a:spLocks noChangeArrowheads="1"/>
            </p:cNvSpPr>
            <p:nvPr/>
          </p:nvSpPr>
          <p:spPr bwMode="auto">
            <a:xfrm>
              <a:off x="4212" y="2752"/>
              <a:ext cx="132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4847" name="Line 111"/>
            <p:cNvSpPr>
              <a:spLocks noChangeShapeType="1"/>
            </p:cNvSpPr>
            <p:nvPr/>
          </p:nvSpPr>
          <p:spPr bwMode="auto">
            <a:xfrm>
              <a:off x="3856" y="2840"/>
              <a:ext cx="208" cy="2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8" name="Line 112"/>
            <p:cNvSpPr>
              <a:spLocks noChangeShapeType="1"/>
            </p:cNvSpPr>
            <p:nvPr/>
          </p:nvSpPr>
          <p:spPr bwMode="auto">
            <a:xfrm flipH="1">
              <a:off x="4500" y="2856"/>
              <a:ext cx="180" cy="1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9" name="Line 113"/>
            <p:cNvSpPr>
              <a:spLocks noChangeShapeType="1"/>
            </p:cNvSpPr>
            <p:nvPr/>
          </p:nvSpPr>
          <p:spPr bwMode="auto">
            <a:xfrm flipH="1">
              <a:off x="3860" y="3496"/>
              <a:ext cx="180" cy="1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0" name="Line 114"/>
            <p:cNvSpPr>
              <a:spLocks noChangeShapeType="1"/>
            </p:cNvSpPr>
            <p:nvPr/>
          </p:nvSpPr>
          <p:spPr bwMode="auto">
            <a:xfrm>
              <a:off x="4484" y="3468"/>
              <a:ext cx="208" cy="2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1" name="Oval 115"/>
            <p:cNvSpPr>
              <a:spLocks noChangeArrowheads="1"/>
            </p:cNvSpPr>
            <p:nvPr/>
          </p:nvSpPr>
          <p:spPr bwMode="auto">
            <a:xfrm>
              <a:off x="4528" y="2868"/>
              <a:ext cx="132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4852" name="Oval 116"/>
            <p:cNvSpPr>
              <a:spLocks noChangeArrowheads="1"/>
            </p:cNvSpPr>
            <p:nvPr/>
          </p:nvSpPr>
          <p:spPr bwMode="auto">
            <a:xfrm>
              <a:off x="4672" y="3196"/>
              <a:ext cx="132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4853" name="Oval 117"/>
            <p:cNvSpPr>
              <a:spLocks noChangeArrowheads="1"/>
            </p:cNvSpPr>
            <p:nvPr/>
          </p:nvSpPr>
          <p:spPr bwMode="auto">
            <a:xfrm>
              <a:off x="4528" y="3512"/>
              <a:ext cx="132" cy="14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236662" name="Text Box 118"/>
          <p:cNvSpPr txBox="1">
            <a:spLocks noChangeArrowheads="1"/>
          </p:cNvSpPr>
          <p:nvPr/>
        </p:nvSpPr>
        <p:spPr bwMode="auto">
          <a:xfrm>
            <a:off x="7097713" y="3295833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>
                <a:solidFill>
                  <a:srgbClr val="000000"/>
                </a:solidFill>
                <a:latin typeface="ISOCPEUR" pitchFamily="34" charset="0"/>
              </a:rPr>
              <a:t>EQS</a:t>
            </a:r>
            <a:endParaRPr lang="en-US" altLang="zh-CN" sz="1400" b="0" i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236663" name="Text Box 119"/>
          <p:cNvSpPr txBox="1">
            <a:spLocks noChangeArrowheads="1"/>
          </p:cNvSpPr>
          <p:nvPr/>
        </p:nvSpPr>
        <p:spPr bwMode="auto">
          <a:xfrm>
            <a:off x="6977063" y="3064058"/>
            <a:ext cx="10366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>
                <a:solidFill>
                  <a:srgbClr val="000000"/>
                </a:solidFill>
                <a:latin typeface="ISOCPEUR" pitchFamily="34" charset="0"/>
              </a:rPr>
              <a:t>8X </a:t>
            </a:r>
            <a:r>
              <a:rPr lang="en-US" altLang="zh-CN" sz="1400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</a:t>
            </a:r>
            <a:r>
              <a:rPr lang="en-US" altLang="zh-CN" sz="1400" i="1">
                <a:solidFill>
                  <a:srgbClr val="000000"/>
                </a:solidFill>
                <a:latin typeface="ISOCPEUR" pitchFamily="34" charset="0"/>
                <a:sym typeface="Technic" pitchFamily="2" charset="2"/>
              </a:rPr>
              <a:t>14</a:t>
            </a:r>
          </a:p>
        </p:txBody>
      </p:sp>
      <p:grpSp>
        <p:nvGrpSpPr>
          <p:cNvPr id="7" name="Group 120"/>
          <p:cNvGrpSpPr>
            <a:grpSpLocks/>
          </p:cNvGrpSpPr>
          <p:nvPr/>
        </p:nvGrpSpPr>
        <p:grpSpPr bwMode="auto">
          <a:xfrm>
            <a:off x="6057900" y="3345045"/>
            <a:ext cx="1706563" cy="587375"/>
            <a:chOff x="4100" y="2566"/>
            <a:chExt cx="1075" cy="370"/>
          </a:xfrm>
        </p:grpSpPr>
        <p:sp>
          <p:nvSpPr>
            <p:cNvPr id="34836" name="Line 121"/>
            <p:cNvSpPr>
              <a:spLocks noChangeShapeType="1"/>
            </p:cNvSpPr>
            <p:nvPr/>
          </p:nvSpPr>
          <p:spPr bwMode="auto">
            <a:xfrm flipV="1">
              <a:off x="4660" y="2566"/>
              <a:ext cx="51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4837" name="Group 122"/>
            <p:cNvGrpSpPr>
              <a:grpSpLocks/>
            </p:cNvGrpSpPr>
            <p:nvPr/>
          </p:nvGrpSpPr>
          <p:grpSpPr bwMode="auto">
            <a:xfrm>
              <a:off x="4100" y="2566"/>
              <a:ext cx="560" cy="370"/>
              <a:chOff x="1530" y="966"/>
              <a:chExt cx="560" cy="370"/>
            </a:xfrm>
          </p:grpSpPr>
          <p:sp>
            <p:nvSpPr>
              <p:cNvPr id="34838" name="Line 123"/>
              <p:cNvSpPr>
                <a:spLocks noChangeShapeType="1"/>
              </p:cNvSpPr>
              <p:nvPr/>
            </p:nvSpPr>
            <p:spPr bwMode="auto">
              <a:xfrm flipV="1">
                <a:off x="1530" y="1260"/>
                <a:ext cx="112" cy="7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39" name="Line 124"/>
              <p:cNvSpPr>
                <a:spLocks noChangeShapeType="1"/>
              </p:cNvSpPr>
              <p:nvPr/>
            </p:nvSpPr>
            <p:spPr bwMode="auto">
              <a:xfrm flipH="1">
                <a:off x="1766" y="966"/>
                <a:ext cx="324" cy="21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40" name="Line 125"/>
              <p:cNvSpPr>
                <a:spLocks noChangeShapeType="1"/>
              </p:cNvSpPr>
              <p:nvPr/>
            </p:nvSpPr>
            <p:spPr bwMode="auto">
              <a:xfrm flipV="1">
                <a:off x="1604" y="1152"/>
                <a:ext cx="212" cy="13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lg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36670" name="Text Box 126"/>
          <p:cNvSpPr txBox="1">
            <a:spLocks noChangeArrowheads="1"/>
          </p:cNvSpPr>
          <p:nvPr/>
        </p:nvSpPr>
        <p:spPr bwMode="auto">
          <a:xfrm>
            <a:off x="304800" y="2611447"/>
            <a:ext cx="883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） 均匀厚度板</a:t>
            </a:r>
          </a:p>
        </p:txBody>
      </p:sp>
      <p:sp>
        <p:nvSpPr>
          <p:cNvPr id="236671" name="Text Box 127"/>
          <p:cNvSpPr txBox="1">
            <a:spLocks noChangeArrowheads="1"/>
          </p:cNvSpPr>
          <p:nvPr/>
        </p:nvSpPr>
        <p:spPr bwMode="auto">
          <a:xfrm>
            <a:off x="1871663" y="5334183"/>
            <a:ext cx="409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>
                <a:solidFill>
                  <a:srgbClr val="000000"/>
                </a:solidFill>
                <a:latin typeface="ISOCPEUR" pitchFamily="34" charset="0"/>
              </a:rPr>
              <a:t>t3 </a:t>
            </a:r>
          </a:p>
        </p:txBody>
      </p:sp>
      <p:grpSp>
        <p:nvGrpSpPr>
          <p:cNvPr id="9" name="Group 128"/>
          <p:cNvGrpSpPr>
            <a:grpSpLocks/>
          </p:cNvGrpSpPr>
          <p:nvPr/>
        </p:nvGrpSpPr>
        <p:grpSpPr bwMode="auto">
          <a:xfrm>
            <a:off x="1649413" y="4537258"/>
            <a:ext cx="1352550" cy="1228725"/>
            <a:chOff x="1512" y="2282"/>
            <a:chExt cx="852" cy="774"/>
          </a:xfrm>
        </p:grpSpPr>
        <p:sp>
          <p:nvSpPr>
            <p:cNvPr id="34833" name="Freeform 129"/>
            <p:cNvSpPr>
              <a:spLocks/>
            </p:cNvSpPr>
            <p:nvPr/>
          </p:nvSpPr>
          <p:spPr bwMode="auto">
            <a:xfrm>
              <a:off x="1551" y="2308"/>
              <a:ext cx="789" cy="662"/>
            </a:xfrm>
            <a:custGeom>
              <a:avLst/>
              <a:gdLst>
                <a:gd name="T0" fmla="*/ 501 w 884"/>
                <a:gd name="T1" fmla="*/ 0 h 892"/>
                <a:gd name="T2" fmla="*/ 228 w 884"/>
                <a:gd name="T3" fmla="*/ 200 h 892"/>
                <a:gd name="T4" fmla="*/ 0 w 884"/>
                <a:gd name="T5" fmla="*/ 200 h 892"/>
                <a:gd name="T6" fmla="*/ 0 60000 65536"/>
                <a:gd name="T7" fmla="*/ 0 60000 65536"/>
                <a:gd name="T8" fmla="*/ 0 60000 65536"/>
                <a:gd name="T9" fmla="*/ 0 w 884"/>
                <a:gd name="T10" fmla="*/ 0 h 892"/>
                <a:gd name="T11" fmla="*/ 884 w 884"/>
                <a:gd name="T12" fmla="*/ 892 h 8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84" h="892">
                  <a:moveTo>
                    <a:pt x="884" y="0"/>
                  </a:moveTo>
                  <a:lnTo>
                    <a:pt x="402" y="892"/>
                  </a:lnTo>
                  <a:lnTo>
                    <a:pt x="0" y="892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4" name="Oval 130"/>
            <p:cNvSpPr>
              <a:spLocks noChangeAspect="1" noChangeArrowheads="1"/>
            </p:cNvSpPr>
            <p:nvPr/>
          </p:nvSpPr>
          <p:spPr bwMode="auto">
            <a:xfrm>
              <a:off x="2326" y="2282"/>
              <a:ext cx="38" cy="38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34835" name="Rectangle 131"/>
            <p:cNvSpPr>
              <a:spLocks noChangeArrowheads="1"/>
            </p:cNvSpPr>
            <p:nvPr/>
          </p:nvSpPr>
          <p:spPr bwMode="auto">
            <a:xfrm>
              <a:off x="1512" y="2908"/>
              <a:ext cx="144" cy="148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51" name="Text Box 26"/>
          <p:cNvSpPr txBox="1">
            <a:spLocks noChangeArrowheads="1"/>
          </p:cNvSpPr>
          <p:nvPr/>
        </p:nvSpPr>
        <p:spPr bwMode="auto">
          <a:xfrm>
            <a:off x="912465" y="885653"/>
            <a:ext cx="73374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原则：对于回转面，</a:t>
            </a:r>
            <a:endParaRPr lang="en-US" altLang="zh-CN" sz="24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   </a:t>
            </a:r>
            <a:r>
              <a:rPr lang="zh-CN" altLang="en-US" sz="240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一般应标注回转面的定位尺寸和回转半径。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6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69" grpId="0" autoUpdateAnimBg="0"/>
      <p:bldP spid="236570" grpId="0" autoUpdateAnimBg="0"/>
      <p:bldP spid="236647" grpId="0" autoUpdateAnimBg="0"/>
      <p:bldP spid="236662" grpId="0" autoUpdateAnimBg="0"/>
      <p:bldP spid="236663" grpId="0" autoUpdateAnimBg="0"/>
      <p:bldP spid="236670" grpId="0" autoUpdateAnimBg="0"/>
      <p:bldP spid="236671" grpId="0" autoUpdateAnimBg="0"/>
      <p:bldP spid="5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9044E19B-5354-4697-851D-9BA25D82CEB1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20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35843" name="Text Box 36"/>
          <p:cNvSpPr txBox="1">
            <a:spLocks noChangeArrowheads="1"/>
          </p:cNvSpPr>
          <p:nvPr/>
        </p:nvSpPr>
        <p:spPr bwMode="auto">
          <a:xfrm>
            <a:off x="163513" y="873125"/>
            <a:ext cx="8980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6) 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尺寸线相互平行时，小尺寸在里，大尺寸在外。</a:t>
            </a:r>
          </a:p>
        </p:txBody>
      </p:sp>
      <p:sp>
        <p:nvSpPr>
          <p:cNvPr id="183357" name="Line 61"/>
          <p:cNvSpPr>
            <a:spLocks noChangeShapeType="1"/>
          </p:cNvSpPr>
          <p:nvPr/>
        </p:nvSpPr>
        <p:spPr bwMode="auto">
          <a:xfrm>
            <a:off x="2879725" y="3967163"/>
            <a:ext cx="1314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58" name="Freeform 62"/>
          <p:cNvSpPr>
            <a:spLocks/>
          </p:cNvSpPr>
          <p:nvPr/>
        </p:nvSpPr>
        <p:spPr bwMode="auto">
          <a:xfrm>
            <a:off x="555625" y="2273300"/>
            <a:ext cx="2328863" cy="1693863"/>
          </a:xfrm>
          <a:custGeom>
            <a:avLst/>
            <a:gdLst>
              <a:gd name="T0" fmla="*/ 0 w 1467"/>
              <a:gd name="T1" fmla="*/ 2147483647 h 1067"/>
              <a:gd name="T2" fmla="*/ 0 w 1467"/>
              <a:gd name="T3" fmla="*/ 0 h 1067"/>
              <a:gd name="T4" fmla="*/ 2147483647 w 1467"/>
              <a:gd name="T5" fmla="*/ 0 h 1067"/>
              <a:gd name="T6" fmla="*/ 2147483647 w 1467"/>
              <a:gd name="T7" fmla="*/ 2147483647 h 1067"/>
              <a:gd name="T8" fmla="*/ 2147483647 w 1467"/>
              <a:gd name="T9" fmla="*/ 2147483647 h 1067"/>
              <a:gd name="T10" fmla="*/ 2147483647 w 1467"/>
              <a:gd name="T11" fmla="*/ 2147483647 h 1067"/>
              <a:gd name="T12" fmla="*/ 2147483647 w 1467"/>
              <a:gd name="T13" fmla="*/ 2147483647 h 1067"/>
              <a:gd name="T14" fmla="*/ 2147483647 w 1467"/>
              <a:gd name="T15" fmla="*/ 2147483647 h 1067"/>
              <a:gd name="T16" fmla="*/ 0 w 1467"/>
              <a:gd name="T17" fmla="*/ 2147483647 h 106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467"/>
              <a:gd name="T28" fmla="*/ 0 h 1067"/>
              <a:gd name="T29" fmla="*/ 1467 w 1467"/>
              <a:gd name="T30" fmla="*/ 1067 h 106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467" h="1067">
                <a:moveTo>
                  <a:pt x="0" y="1067"/>
                </a:moveTo>
                <a:lnTo>
                  <a:pt x="0" y="0"/>
                </a:lnTo>
                <a:lnTo>
                  <a:pt x="623" y="0"/>
                </a:lnTo>
                <a:lnTo>
                  <a:pt x="623" y="333"/>
                </a:lnTo>
                <a:lnTo>
                  <a:pt x="1089" y="333"/>
                </a:lnTo>
                <a:lnTo>
                  <a:pt x="1089" y="533"/>
                </a:lnTo>
                <a:lnTo>
                  <a:pt x="1467" y="533"/>
                </a:lnTo>
                <a:lnTo>
                  <a:pt x="1467" y="1067"/>
                </a:lnTo>
                <a:lnTo>
                  <a:pt x="0" y="1067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59" name="Line 63"/>
          <p:cNvSpPr>
            <a:spLocks noChangeShapeType="1"/>
          </p:cNvSpPr>
          <p:nvPr/>
        </p:nvSpPr>
        <p:spPr bwMode="auto">
          <a:xfrm>
            <a:off x="2867025" y="3119438"/>
            <a:ext cx="617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60" name="Line 64"/>
          <p:cNvSpPr>
            <a:spLocks noChangeShapeType="1"/>
          </p:cNvSpPr>
          <p:nvPr/>
        </p:nvSpPr>
        <p:spPr bwMode="auto">
          <a:xfrm>
            <a:off x="2266950" y="2801938"/>
            <a:ext cx="1587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61" name="Line 65"/>
          <p:cNvSpPr>
            <a:spLocks noChangeShapeType="1"/>
          </p:cNvSpPr>
          <p:nvPr/>
        </p:nvSpPr>
        <p:spPr bwMode="auto">
          <a:xfrm>
            <a:off x="1525588" y="2274888"/>
            <a:ext cx="27003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62" name="Line 66"/>
          <p:cNvSpPr>
            <a:spLocks noChangeShapeType="1"/>
          </p:cNvSpPr>
          <p:nvPr/>
        </p:nvSpPr>
        <p:spPr bwMode="auto">
          <a:xfrm flipV="1">
            <a:off x="3328988" y="3122613"/>
            <a:ext cx="0" cy="8493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63" name="Line 67"/>
          <p:cNvSpPr>
            <a:spLocks noChangeShapeType="1"/>
          </p:cNvSpPr>
          <p:nvPr/>
        </p:nvSpPr>
        <p:spPr bwMode="auto">
          <a:xfrm flipV="1">
            <a:off x="3709988" y="2798763"/>
            <a:ext cx="0" cy="1173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64" name="Line 68"/>
          <p:cNvSpPr>
            <a:spLocks noChangeShapeType="1"/>
          </p:cNvSpPr>
          <p:nvPr/>
        </p:nvSpPr>
        <p:spPr bwMode="auto">
          <a:xfrm flipV="1">
            <a:off x="4098925" y="2273300"/>
            <a:ext cx="0" cy="1695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66" name="Text Box 70"/>
          <p:cNvSpPr txBox="1">
            <a:spLocks noChangeArrowheads="1"/>
          </p:cNvSpPr>
          <p:nvPr/>
        </p:nvSpPr>
        <p:spPr bwMode="auto">
          <a:xfrm rot="-5400000">
            <a:off x="2891632" y="3277394"/>
            <a:ext cx="601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ISOCPEUR" pitchFamily="34" charset="0"/>
              </a:rPr>
              <a:t>15</a:t>
            </a:r>
            <a:endParaRPr lang="en-US" altLang="zh-CN" sz="2400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83367" name="Text Box 71"/>
          <p:cNvSpPr txBox="1">
            <a:spLocks noChangeArrowheads="1"/>
          </p:cNvSpPr>
          <p:nvPr/>
        </p:nvSpPr>
        <p:spPr bwMode="auto">
          <a:xfrm rot="-5400000">
            <a:off x="3262312" y="3087688"/>
            <a:ext cx="606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ISOCPEUR" pitchFamily="34" charset="0"/>
              </a:rPr>
              <a:t>20</a:t>
            </a:r>
            <a:endParaRPr lang="en-US" altLang="zh-CN" sz="2400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83368" name="Text Box 72"/>
          <p:cNvSpPr txBox="1">
            <a:spLocks noChangeArrowheads="1"/>
          </p:cNvSpPr>
          <p:nvPr/>
        </p:nvSpPr>
        <p:spPr bwMode="auto">
          <a:xfrm rot="-5400000">
            <a:off x="3662362" y="2792413"/>
            <a:ext cx="549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ISOCPEUR" pitchFamily="34" charset="0"/>
              </a:rPr>
              <a:t>30</a:t>
            </a:r>
            <a:endParaRPr lang="en-US" altLang="zh-CN" sz="2400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83369" name="Line 73"/>
          <p:cNvSpPr>
            <a:spLocks noChangeShapeType="1"/>
          </p:cNvSpPr>
          <p:nvPr/>
        </p:nvSpPr>
        <p:spPr bwMode="auto">
          <a:xfrm>
            <a:off x="7061200" y="3967163"/>
            <a:ext cx="1314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70" name="Freeform 74"/>
          <p:cNvSpPr>
            <a:spLocks/>
          </p:cNvSpPr>
          <p:nvPr/>
        </p:nvSpPr>
        <p:spPr bwMode="auto">
          <a:xfrm>
            <a:off x="4737100" y="2273300"/>
            <a:ext cx="2328863" cy="1693863"/>
          </a:xfrm>
          <a:custGeom>
            <a:avLst/>
            <a:gdLst>
              <a:gd name="T0" fmla="*/ 0 w 1467"/>
              <a:gd name="T1" fmla="*/ 2147483647 h 1067"/>
              <a:gd name="T2" fmla="*/ 0 w 1467"/>
              <a:gd name="T3" fmla="*/ 0 h 1067"/>
              <a:gd name="T4" fmla="*/ 2147483647 w 1467"/>
              <a:gd name="T5" fmla="*/ 0 h 1067"/>
              <a:gd name="T6" fmla="*/ 2147483647 w 1467"/>
              <a:gd name="T7" fmla="*/ 2147483647 h 1067"/>
              <a:gd name="T8" fmla="*/ 2147483647 w 1467"/>
              <a:gd name="T9" fmla="*/ 2147483647 h 1067"/>
              <a:gd name="T10" fmla="*/ 2147483647 w 1467"/>
              <a:gd name="T11" fmla="*/ 2147483647 h 1067"/>
              <a:gd name="T12" fmla="*/ 2147483647 w 1467"/>
              <a:gd name="T13" fmla="*/ 2147483647 h 1067"/>
              <a:gd name="T14" fmla="*/ 2147483647 w 1467"/>
              <a:gd name="T15" fmla="*/ 2147483647 h 1067"/>
              <a:gd name="T16" fmla="*/ 0 w 1467"/>
              <a:gd name="T17" fmla="*/ 2147483647 h 106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467"/>
              <a:gd name="T28" fmla="*/ 0 h 1067"/>
              <a:gd name="T29" fmla="*/ 1467 w 1467"/>
              <a:gd name="T30" fmla="*/ 1067 h 106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467" h="1067">
                <a:moveTo>
                  <a:pt x="0" y="1067"/>
                </a:moveTo>
                <a:lnTo>
                  <a:pt x="0" y="0"/>
                </a:lnTo>
                <a:lnTo>
                  <a:pt x="623" y="0"/>
                </a:lnTo>
                <a:lnTo>
                  <a:pt x="623" y="333"/>
                </a:lnTo>
                <a:lnTo>
                  <a:pt x="1089" y="333"/>
                </a:lnTo>
                <a:lnTo>
                  <a:pt x="1089" y="533"/>
                </a:lnTo>
                <a:lnTo>
                  <a:pt x="1467" y="533"/>
                </a:lnTo>
                <a:lnTo>
                  <a:pt x="1467" y="1067"/>
                </a:lnTo>
                <a:lnTo>
                  <a:pt x="0" y="1067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71" name="Line 75"/>
          <p:cNvSpPr>
            <a:spLocks noChangeShapeType="1"/>
          </p:cNvSpPr>
          <p:nvPr/>
        </p:nvSpPr>
        <p:spPr bwMode="auto">
          <a:xfrm>
            <a:off x="7067550" y="3119438"/>
            <a:ext cx="13700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72" name="Line 76"/>
          <p:cNvSpPr>
            <a:spLocks noChangeShapeType="1"/>
          </p:cNvSpPr>
          <p:nvPr/>
        </p:nvSpPr>
        <p:spPr bwMode="auto">
          <a:xfrm>
            <a:off x="6448425" y="2801938"/>
            <a:ext cx="1587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73" name="Line 77"/>
          <p:cNvSpPr>
            <a:spLocks noChangeShapeType="1"/>
          </p:cNvSpPr>
          <p:nvPr/>
        </p:nvSpPr>
        <p:spPr bwMode="auto">
          <a:xfrm>
            <a:off x="5707063" y="2274888"/>
            <a:ext cx="19383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74" name="Line 78"/>
          <p:cNvSpPr>
            <a:spLocks noChangeShapeType="1"/>
          </p:cNvSpPr>
          <p:nvPr/>
        </p:nvSpPr>
        <p:spPr bwMode="auto">
          <a:xfrm flipV="1">
            <a:off x="8281988" y="3122613"/>
            <a:ext cx="0" cy="8493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75" name="Line 79"/>
          <p:cNvSpPr>
            <a:spLocks noChangeShapeType="1"/>
          </p:cNvSpPr>
          <p:nvPr/>
        </p:nvSpPr>
        <p:spPr bwMode="auto">
          <a:xfrm flipV="1">
            <a:off x="7891463" y="2798763"/>
            <a:ext cx="0" cy="1173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76" name="Line 80"/>
          <p:cNvSpPr>
            <a:spLocks noChangeShapeType="1"/>
          </p:cNvSpPr>
          <p:nvPr/>
        </p:nvSpPr>
        <p:spPr bwMode="auto">
          <a:xfrm flipV="1">
            <a:off x="7461250" y="2273300"/>
            <a:ext cx="0" cy="1695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77" name="Text Box 81"/>
          <p:cNvSpPr txBox="1">
            <a:spLocks noChangeArrowheads="1"/>
          </p:cNvSpPr>
          <p:nvPr/>
        </p:nvSpPr>
        <p:spPr bwMode="auto">
          <a:xfrm rot="-5400000">
            <a:off x="7844632" y="3277394"/>
            <a:ext cx="601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ISOCPEUR" pitchFamily="34" charset="0"/>
              </a:rPr>
              <a:t>15</a:t>
            </a:r>
            <a:endParaRPr lang="en-US" altLang="zh-CN" sz="2400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83378" name="Text Box 82"/>
          <p:cNvSpPr txBox="1">
            <a:spLocks noChangeArrowheads="1"/>
          </p:cNvSpPr>
          <p:nvPr/>
        </p:nvSpPr>
        <p:spPr bwMode="auto">
          <a:xfrm rot="-5400000">
            <a:off x="7443787" y="3087688"/>
            <a:ext cx="606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ISOCPEUR" pitchFamily="34" charset="0"/>
              </a:rPr>
              <a:t>20</a:t>
            </a:r>
            <a:endParaRPr lang="en-US" altLang="zh-CN" sz="2400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83379" name="Text Box 83"/>
          <p:cNvSpPr txBox="1">
            <a:spLocks noChangeArrowheads="1"/>
          </p:cNvSpPr>
          <p:nvPr/>
        </p:nvSpPr>
        <p:spPr bwMode="auto">
          <a:xfrm rot="-5400000">
            <a:off x="7024687" y="2792413"/>
            <a:ext cx="549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ISOCPEUR" pitchFamily="34" charset="0"/>
              </a:rPr>
              <a:t>30</a:t>
            </a:r>
            <a:endParaRPr lang="en-US" altLang="zh-CN" sz="2400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83380" name="Line 84"/>
          <p:cNvSpPr>
            <a:spLocks noChangeShapeType="1"/>
          </p:cNvSpPr>
          <p:nvPr/>
        </p:nvSpPr>
        <p:spPr bwMode="auto">
          <a:xfrm flipH="1">
            <a:off x="6815138" y="2055813"/>
            <a:ext cx="2066925" cy="2066925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81" name="Line 85"/>
          <p:cNvSpPr>
            <a:spLocks noChangeShapeType="1"/>
          </p:cNvSpPr>
          <p:nvPr/>
        </p:nvSpPr>
        <p:spPr bwMode="auto">
          <a:xfrm>
            <a:off x="6757988" y="2074863"/>
            <a:ext cx="2076450" cy="207645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3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3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3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8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8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8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8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8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83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83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8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83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8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83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8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8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8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57" grpId="0" animBg="1"/>
      <p:bldP spid="183358" grpId="0" animBg="1"/>
      <p:bldP spid="183359" grpId="0" animBg="1"/>
      <p:bldP spid="183360" grpId="0" animBg="1"/>
      <p:bldP spid="183361" grpId="0" animBg="1"/>
      <p:bldP spid="183362" grpId="0" animBg="1"/>
      <p:bldP spid="183363" grpId="0" animBg="1"/>
      <p:bldP spid="183364" grpId="0" animBg="1"/>
      <p:bldP spid="183366" grpId="0" autoUpdateAnimBg="0"/>
      <p:bldP spid="183367" grpId="0" autoUpdateAnimBg="0"/>
      <p:bldP spid="183368" grpId="0" autoUpdateAnimBg="0"/>
      <p:bldP spid="183369" grpId="0" animBg="1"/>
      <p:bldP spid="183370" grpId="0" animBg="1"/>
      <p:bldP spid="183371" grpId="0" animBg="1"/>
      <p:bldP spid="183372" grpId="0" animBg="1"/>
      <p:bldP spid="183373" grpId="0" animBg="1"/>
      <p:bldP spid="183374" grpId="0" animBg="1"/>
      <p:bldP spid="183375" grpId="0" animBg="1"/>
      <p:bldP spid="183376" grpId="0" animBg="1"/>
      <p:bldP spid="183377" grpId="0" autoUpdateAnimBg="0"/>
      <p:bldP spid="183378" grpId="0" autoUpdateAnimBg="0"/>
      <p:bldP spid="183379" grpId="0" autoUpdateAnimBg="0"/>
      <p:bldP spid="183380" grpId="0" animBg="1"/>
      <p:bldP spid="18338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EC180B39-7058-43B4-9327-6091215FB028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21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38594" name="Text Box 2"/>
          <p:cNvSpPr txBox="1">
            <a:spLocks noChangeArrowheads="1"/>
          </p:cNvSpPr>
          <p:nvPr/>
        </p:nvSpPr>
        <p:spPr bwMode="auto">
          <a:xfrm>
            <a:off x="4805363" y="2343150"/>
            <a:ext cx="1924050" cy="495300"/>
          </a:xfrm>
          <a:prstGeom prst="rect">
            <a:avLst/>
          </a:prstGeom>
          <a:noFill/>
          <a:ln w="38100">
            <a:solidFill>
              <a:srgbClr val="FF0066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solidFill>
                  <a:srgbClr val="0033CC"/>
                </a:solidFill>
                <a:ea typeface="黑体" pitchFamily="2" charset="-122"/>
              </a:rPr>
              <a:t>圆柱高度？</a:t>
            </a:r>
          </a:p>
        </p:txBody>
      </p:sp>
      <p:sp>
        <p:nvSpPr>
          <p:cNvPr id="238595" name="Line 3"/>
          <p:cNvSpPr>
            <a:spLocks noChangeShapeType="1"/>
          </p:cNvSpPr>
          <p:nvPr/>
        </p:nvSpPr>
        <p:spPr bwMode="auto">
          <a:xfrm>
            <a:off x="6702425" y="2824163"/>
            <a:ext cx="655638" cy="388937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 type="non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8596" name="Rectangle 4"/>
          <p:cNvSpPr>
            <a:spLocks noChangeArrowheads="1"/>
          </p:cNvSpPr>
          <p:nvPr/>
        </p:nvSpPr>
        <p:spPr bwMode="auto">
          <a:xfrm>
            <a:off x="4711700" y="2284413"/>
            <a:ext cx="2630488" cy="982662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38597" name="Rectangle 5"/>
          <p:cNvSpPr>
            <a:spLocks noChangeArrowheads="1"/>
          </p:cNvSpPr>
          <p:nvPr/>
        </p:nvSpPr>
        <p:spPr bwMode="auto">
          <a:xfrm>
            <a:off x="7056438" y="5046663"/>
            <a:ext cx="1112837" cy="276225"/>
          </a:xfrm>
          <a:prstGeom prst="rect">
            <a:avLst/>
          </a:prstGeom>
          <a:solidFill>
            <a:srgbClr val="00FFCC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38598" name="Rectangle 6"/>
          <p:cNvSpPr>
            <a:spLocks noChangeArrowheads="1"/>
          </p:cNvSpPr>
          <p:nvPr/>
        </p:nvSpPr>
        <p:spPr bwMode="auto">
          <a:xfrm>
            <a:off x="8229600" y="4122738"/>
            <a:ext cx="258763" cy="846137"/>
          </a:xfrm>
          <a:prstGeom prst="rect">
            <a:avLst/>
          </a:prstGeom>
          <a:solidFill>
            <a:srgbClr val="00FFCC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38599" name="Rectangle 7"/>
          <p:cNvSpPr>
            <a:spLocks noChangeArrowheads="1"/>
          </p:cNvSpPr>
          <p:nvPr/>
        </p:nvSpPr>
        <p:spPr bwMode="auto">
          <a:xfrm>
            <a:off x="6961188" y="3976688"/>
            <a:ext cx="1612900" cy="1466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38600" name="Text Box 8" descr="蓝色砂纸"/>
          <p:cNvSpPr txBox="1">
            <a:spLocks noChangeArrowheads="1"/>
          </p:cNvSpPr>
          <p:nvPr/>
        </p:nvSpPr>
        <p:spPr bwMode="auto">
          <a:xfrm>
            <a:off x="306388" y="1187450"/>
            <a:ext cx="2657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ea typeface="黑体" pitchFamily="2" charset="-122"/>
              </a:rPr>
              <a:t>基本形体：</a:t>
            </a:r>
          </a:p>
        </p:txBody>
      </p:sp>
      <p:sp>
        <p:nvSpPr>
          <p:cNvPr id="238601" name="Text Box 9" descr="蓝色砂纸"/>
          <p:cNvSpPr txBox="1">
            <a:spLocks noChangeArrowheads="1"/>
          </p:cNvSpPr>
          <p:nvPr/>
        </p:nvSpPr>
        <p:spPr bwMode="auto">
          <a:xfrm>
            <a:off x="358775" y="2830513"/>
            <a:ext cx="2325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ea typeface="黑体" pitchFamily="2" charset="-122"/>
              </a:rPr>
              <a:t>组合形体：</a:t>
            </a:r>
          </a:p>
        </p:txBody>
      </p:sp>
      <p:sp>
        <p:nvSpPr>
          <p:cNvPr id="238602" name="Text Box 10" descr="蓝色砂纸"/>
          <p:cNvSpPr txBox="1">
            <a:spLocks noChangeArrowheads="1"/>
          </p:cNvSpPr>
          <p:nvPr/>
        </p:nvSpPr>
        <p:spPr bwMode="auto">
          <a:xfrm>
            <a:off x="1854200" y="1774825"/>
            <a:ext cx="480853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ea typeface="黑体" pitchFamily="2" charset="-122"/>
              </a:rPr>
              <a:t>长、宽、高三个方向的尺寸</a:t>
            </a:r>
          </a:p>
        </p:txBody>
      </p:sp>
      <p:sp>
        <p:nvSpPr>
          <p:cNvPr id="238603" name="Text Box 11" descr="蓝色砂纸"/>
          <p:cNvSpPr txBox="1">
            <a:spLocks noChangeArrowheads="1"/>
          </p:cNvSpPr>
          <p:nvPr/>
        </p:nvSpPr>
        <p:spPr bwMode="auto">
          <a:xfrm>
            <a:off x="2640013" y="3016250"/>
            <a:ext cx="2168525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ea typeface="黑体" pitchFamily="2" charset="-122"/>
              </a:rPr>
              <a:t>定形尺寸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ea typeface="黑体" pitchFamily="2" charset="-122"/>
              </a:rPr>
              <a:t>定位尺寸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ea typeface="黑体" pitchFamily="2" charset="-122"/>
              </a:rPr>
              <a:t>总体尺寸</a:t>
            </a:r>
          </a:p>
        </p:txBody>
      </p:sp>
      <p:sp>
        <p:nvSpPr>
          <p:cNvPr id="37901" name="Text Box 12" descr="紫色网格"/>
          <p:cNvSpPr txBox="1">
            <a:spLocks noChangeArrowheads="1"/>
          </p:cNvSpPr>
          <p:nvPr/>
        </p:nvSpPr>
        <p:spPr bwMode="auto">
          <a:xfrm>
            <a:off x="288925" y="190500"/>
            <a:ext cx="4543425" cy="701675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尺寸标注的完整性</a:t>
            </a:r>
          </a:p>
        </p:txBody>
      </p:sp>
      <p:graphicFrame>
        <p:nvGraphicFramePr>
          <p:cNvPr id="238605" name="Object 13"/>
          <p:cNvGraphicFramePr>
            <a:graphicFrameLocks noChangeAspect="1"/>
          </p:cNvGraphicFramePr>
          <p:nvPr/>
        </p:nvGraphicFramePr>
        <p:xfrm>
          <a:off x="7065963" y="549275"/>
          <a:ext cx="1169987" cy="197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AutoCAD Drawing" r:id="rId4" imgW="11487150" imgH="7848600" progId="AutoCAD.Drawing.16">
                  <p:embed/>
                </p:oleObj>
              </mc:Choice>
              <mc:Fallback>
                <p:oleObj name="AutoCAD Drawing" r:id="rId4" imgW="11487150" imgH="7848600" progId="AutoCAD.Drawing.16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5228" t="26758" r="45103" b="24609"/>
                      <a:stretch>
                        <a:fillRect/>
                      </a:stretch>
                    </p:blipFill>
                    <p:spPr bwMode="auto">
                      <a:xfrm>
                        <a:off x="7065963" y="549275"/>
                        <a:ext cx="1169987" cy="197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06" name="Object 14"/>
          <p:cNvGraphicFramePr>
            <a:graphicFrameLocks noChangeAspect="1"/>
          </p:cNvGraphicFramePr>
          <p:nvPr/>
        </p:nvGraphicFramePr>
        <p:xfrm>
          <a:off x="7085013" y="1046163"/>
          <a:ext cx="10922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AutoCAD Drawing" r:id="rId6" imgW="11487150" imgH="7848600" progId="AutoCAD.Drawing.16">
                  <p:embed/>
                </p:oleObj>
              </mc:Choice>
              <mc:Fallback>
                <p:oleObj name="AutoCAD Drawing" r:id="rId6" imgW="11487150" imgH="7848600" progId="AutoCAD.Drawing.16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5522" t="38632" r="46117" b="50508"/>
                      <a:stretch>
                        <a:fillRect/>
                      </a:stretch>
                    </p:blipFill>
                    <p:spPr bwMode="auto">
                      <a:xfrm>
                        <a:off x="7085013" y="1046163"/>
                        <a:ext cx="10922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07" name="Object 15"/>
          <p:cNvGraphicFramePr>
            <a:graphicFrameLocks noChangeAspect="1"/>
          </p:cNvGraphicFramePr>
          <p:nvPr/>
        </p:nvGraphicFramePr>
        <p:xfrm>
          <a:off x="8069263" y="1504950"/>
          <a:ext cx="574675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AutoCAD Drawing" r:id="rId8" imgW="11487150" imgH="7848600" progId="AutoCAD.Drawing.16">
                  <p:embed/>
                </p:oleObj>
              </mc:Choice>
              <mc:Fallback>
                <p:oleObj name="AutoCAD Drawing" r:id="rId8" imgW="11487150" imgH="7848600" progId="AutoCAD.Drawing.16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1909" t="50313" r="38431" b="25038"/>
                      <a:stretch>
                        <a:fillRect/>
                      </a:stretch>
                    </p:blipFill>
                    <p:spPr bwMode="auto">
                      <a:xfrm>
                        <a:off x="8069263" y="1504950"/>
                        <a:ext cx="574675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08" name="Object 16"/>
          <p:cNvGraphicFramePr>
            <a:graphicFrameLocks noChangeAspect="1"/>
          </p:cNvGraphicFramePr>
          <p:nvPr/>
        </p:nvGraphicFramePr>
        <p:xfrm>
          <a:off x="8059738" y="549275"/>
          <a:ext cx="531812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AutoCAD Drawing" r:id="rId10" imgW="11487150" imgH="7848600" progId="AutoCAD.Drawing.16">
                  <p:embed/>
                </p:oleObj>
              </mc:Choice>
              <mc:Fallback>
                <p:oleObj name="AutoCAD Drawing" r:id="rId10" imgW="11487150" imgH="7848600" progId="AutoCAD.Drawing.16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1909" t="26720" r="39151" b="58163"/>
                      <a:stretch>
                        <a:fillRect/>
                      </a:stretch>
                    </p:blipFill>
                    <p:spPr bwMode="auto">
                      <a:xfrm>
                        <a:off x="8059738" y="549275"/>
                        <a:ext cx="531812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09" name="Object 17"/>
          <p:cNvGraphicFramePr>
            <a:graphicFrameLocks noChangeAspect="1"/>
          </p:cNvGraphicFramePr>
          <p:nvPr/>
        </p:nvGraphicFramePr>
        <p:xfrm>
          <a:off x="6945313" y="2976563"/>
          <a:ext cx="1236662" cy="202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AutoCAD Drawing" r:id="rId12" imgW="11487150" imgH="7848600" progId="AutoCAD.Drawing.16">
                  <p:embed/>
                </p:oleObj>
              </mc:Choice>
              <mc:Fallback>
                <p:oleObj name="AutoCAD Drawing" r:id="rId12" imgW="11487150" imgH="7848600" progId="AutoCAD.Drawing.16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6293" t="25078" r="12917" b="25078"/>
                      <a:stretch>
                        <a:fillRect/>
                      </a:stretch>
                    </p:blipFill>
                    <p:spPr bwMode="auto">
                      <a:xfrm>
                        <a:off x="6945313" y="2976563"/>
                        <a:ext cx="1236662" cy="202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10" name="Object 18"/>
          <p:cNvGraphicFramePr>
            <a:graphicFrameLocks noChangeAspect="1"/>
          </p:cNvGraphicFramePr>
          <p:nvPr/>
        </p:nvGraphicFramePr>
        <p:xfrm>
          <a:off x="8024813" y="4144963"/>
          <a:ext cx="498475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AutoCAD Drawing" r:id="rId14" imgW="11487150" imgH="7848600" progId="AutoCAD.Drawing.16">
                  <p:embed/>
                </p:oleObj>
              </mc:Choice>
              <mc:Fallback>
                <p:oleObj name="AutoCAD Drawing" r:id="rId14" imgW="11487150" imgH="7848600" progId="AutoCAD.Drawing.16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4682" t="53906" r="6938" b="25899"/>
                      <a:stretch>
                        <a:fillRect/>
                      </a:stretch>
                    </p:blipFill>
                    <p:spPr bwMode="auto">
                      <a:xfrm>
                        <a:off x="8024813" y="4144963"/>
                        <a:ext cx="498475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11" name="Object 19"/>
          <p:cNvGraphicFramePr>
            <a:graphicFrameLocks noChangeAspect="1"/>
          </p:cNvGraphicFramePr>
          <p:nvPr/>
        </p:nvGraphicFramePr>
        <p:xfrm>
          <a:off x="7067550" y="4824413"/>
          <a:ext cx="110807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AutoCAD Drawing" r:id="rId16" imgW="11487150" imgH="7848600" progId="AutoCAD.Drawing.16">
                  <p:embed/>
                </p:oleObj>
              </mc:Choice>
              <mc:Fallback>
                <p:oleObj name="AutoCAD Drawing" r:id="rId16" imgW="11487150" imgH="7848600" progId="AutoCAD.Drawing.16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8456" t="70703" r="12917" b="16757"/>
                      <a:stretch>
                        <a:fillRect/>
                      </a:stretch>
                    </p:blipFill>
                    <p:spPr bwMode="auto">
                      <a:xfrm>
                        <a:off x="7067550" y="4824413"/>
                        <a:ext cx="1108075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12" name="Object 20"/>
          <p:cNvGraphicFramePr>
            <a:graphicFrameLocks noChangeAspect="1"/>
          </p:cNvGraphicFramePr>
          <p:nvPr/>
        </p:nvGraphicFramePr>
        <p:xfrm>
          <a:off x="8045450" y="3105150"/>
          <a:ext cx="40005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AutoCAD Drawing" r:id="rId18" imgW="11487150" imgH="7848600" progId="AutoCAD.Drawing.16">
                  <p:embed/>
                </p:oleObj>
              </mc:Choice>
              <mc:Fallback>
                <p:oleObj name="AutoCAD Drawing" r:id="rId18" imgW="11487150" imgH="7848600" progId="AutoCAD.Drawing.16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4842" t="28203" r="8434" b="50078"/>
                      <a:stretch>
                        <a:fillRect/>
                      </a:stretch>
                    </p:blipFill>
                    <p:spPr bwMode="auto">
                      <a:xfrm>
                        <a:off x="8045450" y="3105150"/>
                        <a:ext cx="400050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13" name="Object 21"/>
          <p:cNvGraphicFramePr>
            <a:graphicFrameLocks noChangeAspect="1"/>
          </p:cNvGraphicFramePr>
          <p:nvPr/>
        </p:nvGraphicFramePr>
        <p:xfrm>
          <a:off x="7316788" y="2798763"/>
          <a:ext cx="6159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AutoCAD Drawing" r:id="rId20" imgW="11487150" imgH="7848600" progId="AutoCAD.Drawing.16">
                  <p:embed/>
                </p:oleObj>
              </mc:Choice>
              <mc:Fallback>
                <p:oleObj name="AutoCAD Drawing" r:id="rId20" imgW="11487150" imgH="7848600" progId="AutoCAD.Drawing.16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2511" t="20586" r="17134" b="71524"/>
                      <a:stretch>
                        <a:fillRect/>
                      </a:stretch>
                    </p:blipFill>
                    <p:spPr bwMode="auto">
                      <a:xfrm>
                        <a:off x="7316788" y="2798763"/>
                        <a:ext cx="61595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14" name="Object 22"/>
          <p:cNvGraphicFramePr>
            <a:graphicFrameLocks noChangeAspect="1"/>
          </p:cNvGraphicFramePr>
          <p:nvPr/>
        </p:nvGraphicFramePr>
        <p:xfrm>
          <a:off x="7808913" y="3019425"/>
          <a:ext cx="935037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name="AutoCAD Drawing" r:id="rId22" imgW="11487150" imgH="7848600" progId="AutoCAD.Drawing.16">
                  <p:embed/>
                </p:oleObj>
              </mc:Choice>
              <mc:Fallback>
                <p:oleObj name="AutoCAD Drawing" r:id="rId22" imgW="11487150" imgH="7848600" progId="AutoCAD.Drawing.16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0785" t="26094" r="3496" b="57304"/>
                      <a:stretch>
                        <a:fillRect/>
                      </a:stretch>
                    </p:blipFill>
                    <p:spPr bwMode="auto">
                      <a:xfrm>
                        <a:off x="7808913" y="3019425"/>
                        <a:ext cx="935037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615" name="Text Box 23"/>
          <p:cNvSpPr txBox="1">
            <a:spLocks noChangeArrowheads="1"/>
          </p:cNvSpPr>
          <p:nvPr/>
        </p:nvSpPr>
        <p:spPr bwMode="auto">
          <a:xfrm rot="-839945">
            <a:off x="7448550" y="2641600"/>
            <a:ext cx="414338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500">
                <a:solidFill>
                  <a:srgbClr val="FF33CC"/>
                </a:solidFill>
                <a:latin typeface="ISOCPEUR" pitchFamily="34" charset="0"/>
                <a:sym typeface="Symbol" pitchFamily="18" charset="2"/>
              </a:rPr>
              <a:t> </a:t>
            </a: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509588" y="5010150"/>
            <a:ext cx="6243637" cy="519113"/>
            <a:chOff x="407" y="2352"/>
            <a:chExt cx="3933" cy="327"/>
          </a:xfrm>
        </p:grpSpPr>
        <p:sp>
          <p:nvSpPr>
            <p:cNvPr id="37915" name="Text Box 29"/>
            <p:cNvSpPr txBox="1">
              <a:spLocks noChangeArrowheads="1"/>
            </p:cNvSpPr>
            <p:nvPr/>
          </p:nvSpPr>
          <p:spPr bwMode="auto">
            <a:xfrm>
              <a:off x="407" y="2352"/>
              <a:ext cx="39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313DE"/>
                  </a:solidFill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zh-CN" altLang="en-US" sz="2800">
                  <a:solidFill>
                    <a:srgbClr val="F313DE"/>
                  </a:solidFill>
                  <a:latin typeface="黑体" pitchFamily="2" charset="-122"/>
                  <a:ea typeface="黑体" pitchFamily="2" charset="-122"/>
                </a:rPr>
                <a:t>注意：</a:t>
              </a:r>
            </a:p>
          </p:txBody>
        </p:sp>
        <p:sp>
          <p:nvSpPr>
            <p:cNvPr id="37916" name="AutoShape 30"/>
            <p:cNvSpPr>
              <a:spLocks noChangeArrowheads="1"/>
            </p:cNvSpPr>
            <p:nvPr/>
          </p:nvSpPr>
          <p:spPr bwMode="auto">
            <a:xfrm>
              <a:off x="420" y="2470"/>
              <a:ext cx="95" cy="95"/>
            </a:xfrm>
            <a:prstGeom prst="flowChartConnector">
              <a:avLst/>
            </a:prstGeom>
            <a:solidFill>
              <a:srgbClr val="000000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>
                <a:solidFill>
                  <a:srgbClr val="F313DE"/>
                </a:solidFill>
              </a:endParaRPr>
            </a:p>
          </p:txBody>
        </p:sp>
      </p:grpSp>
      <p:sp>
        <p:nvSpPr>
          <p:cNvPr id="238623" name="Text Box 31"/>
          <p:cNvSpPr txBox="1">
            <a:spLocks noChangeArrowheads="1"/>
          </p:cNvSpPr>
          <p:nvPr/>
        </p:nvSpPr>
        <p:spPr bwMode="auto">
          <a:xfrm>
            <a:off x="803275" y="5535613"/>
            <a:ext cx="4992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1) 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三个尺寸可能重合。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3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3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3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3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3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23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6" presetClass="entr" presetSubtype="37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23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3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23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3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23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0" fill="hold"/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0" fill="hold"/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3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3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4" dur="500"/>
                                        <p:tgtEl>
                                          <p:spTgt spid="23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9" dur="500"/>
                                        <p:tgtEl>
                                          <p:spTgt spid="23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4" grpId="0" animBg="1" autoUpdateAnimBg="0"/>
      <p:bldP spid="238595" grpId="0" animBg="1"/>
      <p:bldP spid="238596" grpId="0" animBg="1"/>
      <p:bldP spid="238597" grpId="0" animBg="1"/>
      <p:bldP spid="238598" grpId="0" animBg="1"/>
      <p:bldP spid="238599" grpId="0" animBg="1"/>
      <p:bldP spid="238600" grpId="0" autoUpdateAnimBg="0"/>
      <p:bldP spid="238601" grpId="0" autoUpdateAnimBg="0"/>
      <p:bldP spid="238602" grpId="0" autoUpdateAnimBg="0"/>
      <p:bldP spid="238603" grpId="0" autoUpdateAnimBg="0"/>
      <p:bldP spid="238615" grpId="0" autoUpdateAnimBg="0"/>
      <p:bldP spid="23862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2719F6AC-5355-4D0F-B6EE-12193F960093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22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199313" y="3205163"/>
            <a:ext cx="496887" cy="477837"/>
            <a:chOff x="1102" y="3322"/>
            <a:chExt cx="391" cy="374"/>
          </a:xfrm>
        </p:grpSpPr>
        <p:sp>
          <p:nvSpPr>
            <p:cNvPr id="38943" name="Line 3"/>
            <p:cNvSpPr>
              <a:spLocks noChangeShapeType="1"/>
            </p:cNvSpPr>
            <p:nvPr/>
          </p:nvSpPr>
          <p:spPr bwMode="auto">
            <a:xfrm>
              <a:off x="1118" y="3322"/>
              <a:ext cx="375" cy="37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4" name="Line 4"/>
            <p:cNvSpPr>
              <a:spLocks noChangeShapeType="1"/>
            </p:cNvSpPr>
            <p:nvPr/>
          </p:nvSpPr>
          <p:spPr bwMode="auto">
            <a:xfrm flipH="1">
              <a:off x="1102" y="3322"/>
              <a:ext cx="374" cy="37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39621" name="Object 5"/>
          <p:cNvGraphicFramePr>
            <a:graphicFrameLocks noChangeAspect="1"/>
          </p:cNvGraphicFramePr>
          <p:nvPr/>
        </p:nvGraphicFramePr>
        <p:xfrm>
          <a:off x="6553200" y="3276600"/>
          <a:ext cx="1752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AutoCAD Drawing" r:id="rId3" imgW="11487150" imgH="7848600" progId="AutoCAD.Drawing.16">
                  <p:embed/>
                </p:oleObj>
              </mc:Choice>
              <mc:Fallback>
                <p:oleObj name="AutoCAD Drawing" r:id="rId3" imgW="11487150" imgH="7848600" progId="AutoCAD.Drawing.1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4906" t="18608" r="43396" b="71729"/>
                      <a:stretch>
                        <a:fillRect/>
                      </a:stretch>
                    </p:blipFill>
                    <p:spPr bwMode="auto">
                      <a:xfrm>
                        <a:off x="6553200" y="3276600"/>
                        <a:ext cx="1752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22" name="Rectangle 6"/>
          <p:cNvSpPr>
            <a:spLocks noChangeArrowheads="1"/>
          </p:cNvSpPr>
          <p:nvPr/>
        </p:nvSpPr>
        <p:spPr bwMode="auto">
          <a:xfrm>
            <a:off x="6594475" y="4229100"/>
            <a:ext cx="1217613" cy="258763"/>
          </a:xfrm>
          <a:prstGeom prst="rect">
            <a:avLst/>
          </a:prstGeom>
          <a:solidFill>
            <a:srgbClr val="00FFCC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39623" name="Rectangle 7"/>
          <p:cNvSpPr>
            <a:spLocks noChangeArrowheads="1"/>
          </p:cNvSpPr>
          <p:nvPr/>
        </p:nvSpPr>
        <p:spPr bwMode="auto">
          <a:xfrm>
            <a:off x="8256588" y="4581525"/>
            <a:ext cx="354012" cy="319088"/>
          </a:xfrm>
          <a:prstGeom prst="rect">
            <a:avLst/>
          </a:prstGeom>
          <a:solidFill>
            <a:srgbClr val="00FFCC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39624" name="Rectangle 8"/>
          <p:cNvSpPr>
            <a:spLocks noChangeArrowheads="1"/>
          </p:cNvSpPr>
          <p:nvPr/>
        </p:nvSpPr>
        <p:spPr bwMode="auto">
          <a:xfrm>
            <a:off x="6513513" y="3130550"/>
            <a:ext cx="2138362" cy="1906588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38920" name="Group 10"/>
          <p:cNvGrpSpPr>
            <a:grpSpLocks/>
          </p:cNvGrpSpPr>
          <p:nvPr/>
        </p:nvGrpSpPr>
        <p:grpSpPr bwMode="auto">
          <a:xfrm>
            <a:off x="403225" y="668338"/>
            <a:ext cx="6243638" cy="728662"/>
            <a:chOff x="407" y="2352"/>
            <a:chExt cx="3933" cy="459"/>
          </a:xfrm>
        </p:grpSpPr>
        <p:sp>
          <p:nvSpPr>
            <p:cNvPr id="38941" name="Text Box 11"/>
            <p:cNvSpPr txBox="1">
              <a:spLocks noChangeArrowheads="1"/>
            </p:cNvSpPr>
            <p:nvPr/>
          </p:nvSpPr>
          <p:spPr bwMode="auto">
            <a:xfrm>
              <a:off x="407" y="2352"/>
              <a:ext cx="39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313DE"/>
                  </a:solidFill>
                  <a:latin typeface="黑体" pitchFamily="2" charset="-122"/>
                  <a:ea typeface="黑体" pitchFamily="2" charset="-122"/>
                </a:rPr>
                <a:t>  </a:t>
              </a:r>
              <a:r>
                <a:rPr lang="zh-CN" altLang="en-US" sz="2800">
                  <a:solidFill>
                    <a:srgbClr val="F313DE"/>
                  </a:solidFill>
                  <a:latin typeface="黑体" pitchFamily="2" charset="-122"/>
                  <a:ea typeface="黑体" pitchFamily="2" charset="-122"/>
                </a:rPr>
                <a:t>注意：</a:t>
              </a:r>
            </a:p>
          </p:txBody>
        </p:sp>
        <p:sp>
          <p:nvSpPr>
            <p:cNvPr id="38942" name="AutoShape 12"/>
            <p:cNvSpPr>
              <a:spLocks noChangeArrowheads="1"/>
            </p:cNvSpPr>
            <p:nvPr/>
          </p:nvSpPr>
          <p:spPr bwMode="auto">
            <a:xfrm>
              <a:off x="409" y="2428"/>
              <a:ext cx="116" cy="383"/>
            </a:xfrm>
            <a:prstGeom prst="flowChartConnector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 type="none" w="sm" len="lg"/>
                  <a:tailEnd type="none" w="sm" len="lg"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>
                <a:solidFill>
                  <a:srgbClr val="F313DE"/>
                </a:solidFill>
                <a:latin typeface="黑体" pitchFamily="2" charset="-122"/>
                <a:ea typeface="黑体" pitchFamily="2" charset="-122"/>
              </a:endParaRPr>
            </a:p>
          </p:txBody>
        </p:sp>
      </p:grpSp>
      <p:sp>
        <p:nvSpPr>
          <p:cNvPr id="239629" name="Text Box 13"/>
          <p:cNvSpPr txBox="1">
            <a:spLocks noChangeArrowheads="1"/>
          </p:cNvSpPr>
          <p:nvPr/>
        </p:nvSpPr>
        <p:spPr bwMode="auto">
          <a:xfrm>
            <a:off x="935038" y="1487488"/>
            <a:ext cx="462915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ea typeface="楷体_GB2312" pitchFamily="49" charset="-122"/>
              </a:rPr>
              <a:t>②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出现多余尺寸时，应对尺寸进行适当调整。要标注某一方向的总体尺寸，就应减去同一方向上一个次要的定形尺寸，</a:t>
            </a:r>
            <a:r>
              <a:rPr lang="zh-CN" altLang="en-US" sz="2400">
                <a:solidFill>
                  <a:srgbClr val="F31313"/>
                </a:solidFill>
                <a:latin typeface="黑体" pitchFamily="2" charset="-122"/>
                <a:ea typeface="黑体" pitchFamily="2" charset="-122"/>
              </a:rPr>
              <a:t>避免封闭尺寸</a:t>
            </a:r>
            <a:r>
              <a:rPr lang="en-US" altLang="zh-CN" sz="2400">
                <a:solidFill>
                  <a:srgbClr val="F31313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400">
                <a:solidFill>
                  <a:srgbClr val="F31313"/>
                </a:solidFill>
                <a:latin typeface="黑体" pitchFamily="2" charset="-122"/>
                <a:ea typeface="黑体" pitchFamily="2" charset="-122"/>
              </a:rPr>
              <a:t>链</a:t>
            </a:r>
            <a:r>
              <a:rPr lang="en-US" altLang="zh-CN" sz="2400">
                <a:solidFill>
                  <a:srgbClr val="F31313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239630" name="Text Box 14"/>
          <p:cNvSpPr txBox="1">
            <a:spLocks noChangeArrowheads="1"/>
          </p:cNvSpPr>
          <p:nvPr/>
        </p:nvSpPr>
        <p:spPr bwMode="auto">
          <a:xfrm>
            <a:off x="935038" y="3535363"/>
            <a:ext cx="462915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楷体_GB2312" pitchFamily="49" charset="-122"/>
              </a:rPr>
              <a:t>③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如果在某一方向的端面为回转面，且已标注回转体的半径或者直径及其定位尺寸，该方向总体尺寸一般不必标出。</a:t>
            </a:r>
          </a:p>
        </p:txBody>
      </p:sp>
      <p:graphicFrame>
        <p:nvGraphicFramePr>
          <p:cNvPr id="239631" name="Object 15"/>
          <p:cNvGraphicFramePr>
            <a:graphicFrameLocks noChangeAspect="1"/>
          </p:cNvGraphicFramePr>
          <p:nvPr/>
        </p:nvGraphicFramePr>
        <p:xfrm>
          <a:off x="6459538" y="149225"/>
          <a:ext cx="2409825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AutoCAD Drawing" r:id="rId5" imgW="11487150" imgH="7848600" progId="AutoCAD.Drawing.16">
                  <p:embed/>
                </p:oleObj>
              </mc:Choice>
              <mc:Fallback>
                <p:oleObj name="AutoCAD Drawing" r:id="rId5" imgW="11487150" imgH="7848600" progId="AutoCAD.Drawing.16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9319" t="31113" r="66975" b="26649"/>
                      <a:stretch>
                        <a:fillRect/>
                      </a:stretch>
                    </p:blipFill>
                    <p:spPr bwMode="auto">
                      <a:xfrm>
                        <a:off x="6459538" y="149225"/>
                        <a:ext cx="2409825" cy="293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2" name="Object 16"/>
          <p:cNvGraphicFramePr>
            <a:graphicFrameLocks noChangeAspect="1"/>
          </p:cNvGraphicFramePr>
          <p:nvPr/>
        </p:nvGraphicFramePr>
        <p:xfrm>
          <a:off x="6459538" y="149225"/>
          <a:ext cx="2409825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AutoCAD Drawing" r:id="rId7" imgW="11487150" imgH="7848600" progId="AutoCAD.Drawing.16">
                  <p:embed/>
                </p:oleObj>
              </mc:Choice>
              <mc:Fallback>
                <p:oleObj name="AutoCAD Drawing" r:id="rId7" imgW="11487150" imgH="7848600" progId="AutoCAD.Drawing.16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9319" t="31113" r="66975" b="26649"/>
                      <a:stretch>
                        <a:fillRect/>
                      </a:stretch>
                    </p:blipFill>
                    <p:spPr bwMode="auto">
                      <a:xfrm>
                        <a:off x="6459538" y="149225"/>
                        <a:ext cx="2409825" cy="293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3" name="Object 17"/>
          <p:cNvGraphicFramePr>
            <a:graphicFrameLocks noChangeAspect="1"/>
          </p:cNvGraphicFramePr>
          <p:nvPr/>
        </p:nvGraphicFramePr>
        <p:xfrm>
          <a:off x="6459538" y="149225"/>
          <a:ext cx="2409825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AutoCAD Drawing" r:id="rId9" imgW="11487150" imgH="7848600" progId="AutoCAD.Drawing.16">
                  <p:embed/>
                </p:oleObj>
              </mc:Choice>
              <mc:Fallback>
                <p:oleObj name="AutoCAD Drawing" r:id="rId9" imgW="11487150" imgH="7848600" progId="AutoCAD.Drawing.16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9317" t="31113" r="66982" b="26649"/>
                      <a:stretch>
                        <a:fillRect/>
                      </a:stretch>
                    </p:blipFill>
                    <p:spPr bwMode="auto">
                      <a:xfrm>
                        <a:off x="6459538" y="149225"/>
                        <a:ext cx="2409825" cy="293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34" name="Text Box 18"/>
          <p:cNvSpPr txBox="1">
            <a:spLocks noChangeArrowheads="1"/>
          </p:cNvSpPr>
          <p:nvPr/>
        </p:nvSpPr>
        <p:spPr bwMode="auto">
          <a:xfrm>
            <a:off x="7239000" y="38100"/>
            <a:ext cx="381000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 i="1">
                <a:solidFill>
                  <a:srgbClr val="0000FF"/>
                </a:solidFill>
                <a:latin typeface="Symbol" pitchFamily="18" charset="2"/>
              </a:rPr>
              <a:t>F</a:t>
            </a:r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6400800" y="141288"/>
            <a:ext cx="685800" cy="1268412"/>
            <a:chOff x="4032" y="161"/>
            <a:chExt cx="432" cy="799"/>
          </a:xfrm>
        </p:grpSpPr>
        <p:pic>
          <p:nvPicPr>
            <p:cNvPr id="38939" name="Picture 20" descr="空白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2" y="161"/>
              <a:ext cx="432" cy="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40" name="Picture 21" descr="空白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6"/>
            <a:stretch>
              <a:fillRect/>
            </a:stretch>
          </p:blipFill>
          <p:spPr bwMode="auto">
            <a:xfrm>
              <a:off x="4080" y="449"/>
              <a:ext cx="192" cy="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6434138" y="495300"/>
            <a:ext cx="381000" cy="381000"/>
            <a:chOff x="4128" y="384"/>
            <a:chExt cx="240" cy="240"/>
          </a:xfrm>
        </p:grpSpPr>
        <p:sp>
          <p:nvSpPr>
            <p:cNvPr id="38937" name="Line 23"/>
            <p:cNvSpPr>
              <a:spLocks noChangeShapeType="1"/>
            </p:cNvSpPr>
            <p:nvPr/>
          </p:nvSpPr>
          <p:spPr bwMode="auto">
            <a:xfrm>
              <a:off x="4128" y="384"/>
              <a:ext cx="240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8" name="Line 24"/>
            <p:cNvSpPr>
              <a:spLocks noChangeShapeType="1"/>
            </p:cNvSpPr>
            <p:nvPr/>
          </p:nvSpPr>
          <p:spPr bwMode="auto">
            <a:xfrm flipH="1">
              <a:off x="4128" y="384"/>
              <a:ext cx="240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6372225" y="169863"/>
            <a:ext cx="685800" cy="1268412"/>
            <a:chOff x="4032" y="161"/>
            <a:chExt cx="432" cy="799"/>
          </a:xfrm>
        </p:grpSpPr>
        <p:pic>
          <p:nvPicPr>
            <p:cNvPr id="38935" name="Picture 26" descr="空白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2" y="161"/>
              <a:ext cx="432" cy="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36" name="Picture 27" descr="空白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6"/>
            <a:stretch>
              <a:fillRect/>
            </a:stretch>
          </p:blipFill>
          <p:spPr bwMode="auto">
            <a:xfrm>
              <a:off x="4080" y="449"/>
              <a:ext cx="192" cy="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9644" name="Text Box 28"/>
          <p:cNvSpPr txBox="1">
            <a:spLocks noChangeArrowheads="1"/>
          </p:cNvSpPr>
          <p:nvPr/>
        </p:nvSpPr>
        <p:spPr bwMode="auto">
          <a:xfrm>
            <a:off x="7239000" y="38100"/>
            <a:ext cx="381000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600" i="1">
                <a:solidFill>
                  <a:srgbClr val="FF3399"/>
                </a:solidFill>
                <a:latin typeface="Symbol" pitchFamily="18" charset="2"/>
              </a:rPr>
              <a:t>F</a:t>
            </a:r>
          </a:p>
        </p:txBody>
      </p:sp>
      <p:graphicFrame>
        <p:nvGraphicFramePr>
          <p:cNvPr id="239645" name="Object 29"/>
          <p:cNvGraphicFramePr>
            <a:graphicFrameLocks noChangeAspect="1"/>
          </p:cNvGraphicFramePr>
          <p:nvPr/>
        </p:nvGraphicFramePr>
        <p:xfrm>
          <a:off x="6096000" y="3276600"/>
          <a:ext cx="25908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AutoCAD Drawing" r:id="rId12" imgW="11487150" imgH="7848600" progId="AutoCAD.Drawing.16">
                  <p:embed/>
                </p:oleObj>
              </mc:Choice>
              <mc:Fallback>
                <p:oleObj name="AutoCAD Drawing" r:id="rId12" imgW="11487150" imgH="7848600" progId="AutoCAD.Drawing.16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9254" t="18608" r="38683" b="34454"/>
                      <a:stretch>
                        <a:fillRect/>
                      </a:stretch>
                    </p:blipFill>
                    <p:spPr bwMode="auto">
                      <a:xfrm>
                        <a:off x="6096000" y="3276600"/>
                        <a:ext cx="2590800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6096000" y="3276600"/>
            <a:ext cx="2590800" cy="2590800"/>
            <a:chOff x="3840" y="2064"/>
            <a:chExt cx="1632" cy="1632"/>
          </a:xfrm>
        </p:grpSpPr>
        <p:graphicFrame>
          <p:nvGraphicFramePr>
            <p:cNvPr id="38933" name="Object 31"/>
            <p:cNvGraphicFramePr>
              <a:graphicFrameLocks noChangeAspect="1"/>
            </p:cNvGraphicFramePr>
            <p:nvPr/>
          </p:nvGraphicFramePr>
          <p:xfrm>
            <a:off x="3840" y="2064"/>
            <a:ext cx="1632" cy="16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9" name="AutoCAD Drawing" r:id="rId14" imgW="11487150" imgH="7848600" progId="AutoCAD.Drawing.16">
                    <p:embed/>
                  </p:oleObj>
                </mc:Choice>
                <mc:Fallback>
                  <p:oleObj name="AutoCAD Drawing" r:id="rId14" imgW="11487150" imgH="7848600" progId="AutoCAD.Drawing.16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29254" t="18608" r="38683" b="34454"/>
                        <a:stretch>
                          <a:fillRect/>
                        </a:stretch>
                      </p:blipFill>
                      <p:spPr bwMode="auto">
                        <a:xfrm>
                          <a:off x="3840" y="2064"/>
                          <a:ext cx="1632" cy="16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4" name="Text Box 32"/>
            <p:cNvSpPr txBox="1">
              <a:spLocks noChangeArrowheads="1"/>
            </p:cNvSpPr>
            <p:nvPr/>
          </p:nvSpPr>
          <p:spPr bwMode="auto">
            <a:xfrm>
              <a:off x="5176" y="3353"/>
              <a:ext cx="240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FF3399"/>
                  </a:solidFill>
                  <a:latin typeface="Symbol" pitchFamily="18" charset="2"/>
                </a:rPr>
                <a:t>F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9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39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39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9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9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9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9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9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2" grpId="0" animBg="1"/>
      <p:bldP spid="239623" grpId="0" animBg="1"/>
      <p:bldP spid="239624" grpId="0" animBg="1"/>
      <p:bldP spid="239629" grpId="0" autoUpdateAnimBg="0"/>
      <p:bldP spid="239630" grpId="0" autoUpdateAnimBg="0"/>
      <p:bldP spid="239634" grpId="0" autoUpdateAnimBg="0"/>
      <p:bldP spid="239644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E8856330-67E0-4DD2-8C45-579672DE610C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23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39939" name="Text Box 2" descr="紫色网格"/>
          <p:cNvSpPr txBox="1">
            <a:spLocks noChangeArrowheads="1"/>
          </p:cNvSpPr>
          <p:nvPr/>
        </p:nvSpPr>
        <p:spPr bwMode="auto">
          <a:xfrm>
            <a:off x="288925" y="142875"/>
            <a:ext cx="5099050" cy="70167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尺寸标注的清晰性</a:t>
            </a:r>
          </a:p>
        </p:txBody>
      </p:sp>
      <p:sp>
        <p:nvSpPr>
          <p:cNvPr id="240643" name="Text Box 3"/>
          <p:cNvSpPr txBox="1">
            <a:spLocks noChangeArrowheads="1"/>
          </p:cNvSpPr>
          <p:nvPr/>
        </p:nvSpPr>
        <p:spPr bwMode="auto">
          <a:xfrm>
            <a:off x="711200" y="1544638"/>
            <a:ext cx="8012113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突出特征 </a:t>
            </a:r>
            <a:r>
              <a:rPr lang="en-US" altLang="zh-CN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- </a:t>
            </a:r>
            <a:r>
              <a:rPr lang="zh-CN" altLang="en-US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定形尺寸尽量标注在反映该部分形状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           特征最明显的视图上。 </a:t>
            </a:r>
          </a:p>
        </p:txBody>
      </p:sp>
      <p:sp>
        <p:nvSpPr>
          <p:cNvPr id="240644" name="Text Box 4"/>
          <p:cNvSpPr txBox="1">
            <a:spLocks noChangeArrowheads="1"/>
          </p:cNvSpPr>
          <p:nvPr/>
        </p:nvSpPr>
        <p:spPr bwMode="auto">
          <a:xfrm>
            <a:off x="711200" y="2849563"/>
            <a:ext cx="8012113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相对集中 </a:t>
            </a:r>
            <a:r>
              <a:rPr lang="en-US" altLang="zh-CN" sz="2600">
                <a:solidFill>
                  <a:srgbClr val="000000"/>
                </a:solidFill>
                <a:ea typeface="黑体" pitchFamily="2" charset="-122"/>
              </a:rPr>
              <a:t>–</a:t>
            </a:r>
            <a:r>
              <a:rPr lang="en-US" altLang="zh-CN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同一形体尺寸应尽量集中标注在一个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           视图上</a:t>
            </a:r>
            <a:r>
              <a:rPr lang="en-US" altLang="zh-CN" sz="2200" b="0" i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200" b="0" i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便于看图时查找</a:t>
            </a:r>
            <a:r>
              <a:rPr lang="en-US" altLang="zh-CN" sz="2200" b="0" i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240645" name="Text Box 5"/>
          <p:cNvSpPr txBox="1">
            <a:spLocks noChangeArrowheads="1"/>
          </p:cNvSpPr>
          <p:nvPr/>
        </p:nvSpPr>
        <p:spPr bwMode="auto">
          <a:xfrm>
            <a:off x="711200" y="4202113"/>
            <a:ext cx="8012113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3. </a:t>
            </a:r>
            <a:r>
              <a:rPr lang="zh-CN" altLang="en-US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布局整齐 </a:t>
            </a:r>
            <a:r>
              <a:rPr lang="en-US" altLang="zh-CN" sz="2600">
                <a:solidFill>
                  <a:srgbClr val="000000"/>
                </a:solidFill>
                <a:ea typeface="黑体" pitchFamily="2" charset="-122"/>
              </a:rPr>
              <a:t>–</a:t>
            </a:r>
            <a:r>
              <a:rPr lang="en-US" altLang="zh-CN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600">
                <a:solidFill>
                  <a:srgbClr val="000000"/>
                </a:solidFill>
                <a:latin typeface="宋体" pitchFamily="2" charset="-122"/>
                <a:ea typeface="黑体" pitchFamily="2" charset="-122"/>
              </a:rPr>
              <a:t>尺寸尽量布置在两视图之间，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宋体" pitchFamily="2" charset="-122"/>
                <a:ea typeface="黑体" pitchFamily="2" charset="-122"/>
              </a:rPr>
              <a:t>              便于对照。</a:t>
            </a:r>
            <a:endParaRPr lang="zh-CN" altLang="en-US" sz="260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0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0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3" grpId="0" autoUpdateAnimBg="0"/>
      <p:bldP spid="240644" grpId="0" autoUpdateAnimBg="0"/>
      <p:bldP spid="24064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45C0ECF3-7F69-4F6A-B72E-681B82B6EF31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24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41667" name="Text Box 3"/>
          <p:cNvSpPr txBox="1">
            <a:spLocks noChangeArrowheads="1"/>
          </p:cNvSpPr>
          <p:nvPr/>
        </p:nvSpPr>
        <p:spPr bwMode="auto">
          <a:xfrm>
            <a:off x="655638" y="430213"/>
            <a:ext cx="806767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4. </a:t>
            </a:r>
            <a:r>
              <a:rPr lang="zh-CN" altLang="en-US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直径尺寸尽量注在非圆视图上，半径尺寸一定标注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在圆弧视图上。 </a:t>
            </a:r>
          </a:p>
        </p:txBody>
      </p:sp>
      <p:sp>
        <p:nvSpPr>
          <p:cNvPr id="241668" name="Text Box 4"/>
          <p:cNvSpPr txBox="1">
            <a:spLocks noChangeArrowheads="1"/>
          </p:cNvSpPr>
          <p:nvPr/>
        </p:nvSpPr>
        <p:spPr bwMode="auto">
          <a:xfrm>
            <a:off x="622300" y="1576388"/>
            <a:ext cx="8374063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5. </a:t>
            </a:r>
            <a:r>
              <a:rPr lang="zh-CN" altLang="en-US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遵守尺寸注法国家标准的有关规定，注意尺寸排列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整齐。同一方向连续的几个尺寸尽量放在一条线上。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934200" y="2979738"/>
            <a:ext cx="817563" cy="808037"/>
            <a:chOff x="3685" y="3422"/>
            <a:chExt cx="515" cy="509"/>
          </a:xfrm>
        </p:grpSpPr>
        <p:sp>
          <p:nvSpPr>
            <p:cNvPr id="40978" name="Line 6"/>
            <p:cNvSpPr>
              <a:spLocks noChangeShapeType="1"/>
            </p:cNvSpPr>
            <p:nvPr/>
          </p:nvSpPr>
          <p:spPr bwMode="auto">
            <a:xfrm flipH="1">
              <a:off x="3685" y="3422"/>
              <a:ext cx="498" cy="49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9" name="Line 7"/>
            <p:cNvSpPr>
              <a:spLocks noChangeShapeType="1"/>
            </p:cNvSpPr>
            <p:nvPr/>
          </p:nvSpPr>
          <p:spPr bwMode="auto">
            <a:xfrm>
              <a:off x="3696" y="3428"/>
              <a:ext cx="504" cy="50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41672" name="Object 8"/>
          <p:cNvGraphicFramePr>
            <a:graphicFrameLocks noChangeAspect="1"/>
          </p:cNvGraphicFramePr>
          <p:nvPr/>
        </p:nvGraphicFramePr>
        <p:xfrm>
          <a:off x="461963" y="3236913"/>
          <a:ext cx="1570037" cy="183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AutoCAD Drawing" r:id="rId3" imgW="11487150" imgH="7848600" progId="AutoCAD.Drawing.16">
                  <p:embed/>
                </p:oleObj>
              </mc:Choice>
              <mc:Fallback>
                <p:oleObj name="AutoCAD Drawing" r:id="rId3" imgW="11487150" imgH="7848600" progId="AutoCAD.Drawing.1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0580" t="58594" r="33267" b="13770"/>
                      <a:stretch>
                        <a:fillRect/>
                      </a:stretch>
                    </p:blipFill>
                    <p:spPr bwMode="auto">
                      <a:xfrm>
                        <a:off x="461963" y="3236913"/>
                        <a:ext cx="1570037" cy="183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800100" y="2847975"/>
            <a:ext cx="498475" cy="484188"/>
            <a:chOff x="719" y="1794"/>
            <a:chExt cx="314" cy="305"/>
          </a:xfrm>
        </p:grpSpPr>
        <p:graphicFrame>
          <p:nvGraphicFramePr>
            <p:cNvPr id="40976" name="Object 10"/>
            <p:cNvGraphicFramePr>
              <a:graphicFrameLocks noChangeAspect="1"/>
            </p:cNvGraphicFramePr>
            <p:nvPr/>
          </p:nvGraphicFramePr>
          <p:xfrm>
            <a:off x="719" y="1921"/>
            <a:ext cx="314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1" name="AutoCAD Drawing" r:id="rId5" imgW="11487150" imgH="7848600" progId="AutoCAD.Drawing.16">
                    <p:embed/>
                  </p:oleObj>
                </mc:Choice>
                <mc:Fallback>
                  <p:oleObj name="AutoCAD Drawing" r:id="rId5" imgW="11487150" imgH="7848600" progId="AutoCAD.Drawing.16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54042" t="55869" r="40829" b="39876"/>
                        <a:stretch>
                          <a:fillRect/>
                        </a:stretch>
                      </p:blipFill>
                      <p:spPr bwMode="auto">
                        <a:xfrm>
                          <a:off x="719" y="1921"/>
                          <a:ext cx="314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7" name="Text Box 11"/>
            <p:cNvSpPr txBox="1">
              <a:spLocks noChangeArrowheads="1"/>
            </p:cNvSpPr>
            <p:nvPr/>
          </p:nvSpPr>
          <p:spPr bwMode="auto">
            <a:xfrm rot="-5400000">
              <a:off x="753" y="1848"/>
              <a:ext cx="260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500" b="0" i="1">
                  <a:solidFill>
                    <a:srgbClr val="FF33CC"/>
                  </a:solidFill>
                  <a:latin typeface="ISOCP" pitchFamily="2" charset="0"/>
                  <a:sym typeface="SansSerif" pitchFamily="2" charset="2"/>
                </a:rPr>
                <a:t></a:t>
              </a:r>
              <a:endParaRPr lang="en-US" altLang="zh-CN" sz="1500" b="0" i="1">
                <a:solidFill>
                  <a:srgbClr val="FF33CC"/>
                </a:solidFill>
              </a:endParaRP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309813" y="3133725"/>
            <a:ext cx="1878012" cy="1905000"/>
            <a:chOff x="1455" y="1974"/>
            <a:chExt cx="1183" cy="1200"/>
          </a:xfrm>
        </p:grpSpPr>
        <p:graphicFrame>
          <p:nvGraphicFramePr>
            <p:cNvPr id="40974" name="Object 13"/>
            <p:cNvGraphicFramePr>
              <a:graphicFrameLocks noChangeAspect="1"/>
            </p:cNvGraphicFramePr>
            <p:nvPr/>
          </p:nvGraphicFramePr>
          <p:xfrm>
            <a:off x="1455" y="1974"/>
            <a:ext cx="1183" cy="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2" name="AutoCAD Drawing" r:id="rId7" imgW="11487150" imgH="7848600" progId="AutoCAD.Drawing.16">
                    <p:embed/>
                  </p:oleObj>
                </mc:Choice>
                <mc:Fallback>
                  <p:oleObj name="AutoCAD Drawing" r:id="rId7" imgW="11487150" imgH="7848600" progId="AutoCAD.Drawing.16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59906" t="21300" r="20773" b="50012"/>
                        <a:stretch>
                          <a:fillRect/>
                        </a:stretch>
                      </p:blipFill>
                      <p:spPr bwMode="auto">
                        <a:xfrm>
                          <a:off x="1455" y="1974"/>
                          <a:ext cx="1183" cy="1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5" name="Text Box 14"/>
            <p:cNvSpPr txBox="1">
              <a:spLocks noChangeArrowheads="1"/>
            </p:cNvSpPr>
            <p:nvPr/>
          </p:nvSpPr>
          <p:spPr bwMode="auto">
            <a:xfrm rot="-5400000">
              <a:off x="2367" y="2870"/>
              <a:ext cx="260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500" b="0" i="1">
                  <a:latin typeface="ISOCP" pitchFamily="2" charset="0"/>
                  <a:sym typeface="SansSerif" pitchFamily="2" charset="2"/>
                </a:rPr>
                <a:t></a:t>
              </a:r>
              <a:endParaRPr lang="en-US" altLang="zh-CN" sz="1500" b="0" i="1"/>
            </a:p>
          </p:txBody>
        </p:sp>
      </p:grpSp>
      <p:graphicFrame>
        <p:nvGraphicFramePr>
          <p:cNvPr id="241679" name="Object 15"/>
          <p:cNvGraphicFramePr>
            <a:graphicFrameLocks noChangeAspect="1"/>
          </p:cNvGraphicFramePr>
          <p:nvPr/>
        </p:nvGraphicFramePr>
        <p:xfrm>
          <a:off x="3486150" y="4056063"/>
          <a:ext cx="63658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AutoCAD Drawing" r:id="rId9" imgW="11487150" imgH="7848600" progId="AutoCAD.Drawing.16">
                  <p:embed/>
                </p:oleObj>
              </mc:Choice>
              <mc:Fallback>
                <p:oleObj name="AutoCAD Drawing" r:id="rId9" imgW="11487150" imgH="7848600" progId="AutoCAD.Drawing.16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1974" t="35214" r="21477" b="57280"/>
                      <a:stretch>
                        <a:fillRect/>
                      </a:stretch>
                    </p:blipFill>
                    <p:spPr bwMode="auto">
                      <a:xfrm>
                        <a:off x="3486150" y="4056063"/>
                        <a:ext cx="636588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680" name="Object 16"/>
          <p:cNvGraphicFramePr>
            <a:graphicFrameLocks noChangeAspect="1"/>
          </p:cNvGraphicFramePr>
          <p:nvPr/>
        </p:nvGraphicFramePr>
        <p:xfrm>
          <a:off x="4443413" y="3589338"/>
          <a:ext cx="1897062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4" name="AutoCAD Drawing" r:id="rId11" imgW="11487150" imgH="7848600" progId="AutoCAD.Drawing.16">
                  <p:embed/>
                </p:oleObj>
              </mc:Choice>
              <mc:Fallback>
                <p:oleObj name="AutoCAD Drawing" r:id="rId11" imgW="11487150" imgH="7848600" progId="AutoCAD.Drawing.16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8266" t="29398" r="41005" b="51866"/>
                      <a:stretch>
                        <a:fillRect/>
                      </a:stretch>
                    </p:blipFill>
                    <p:spPr bwMode="auto">
                      <a:xfrm>
                        <a:off x="4443413" y="3589338"/>
                        <a:ext cx="1897062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681" name="Object 17"/>
          <p:cNvGraphicFramePr>
            <a:graphicFrameLocks noChangeAspect="1"/>
          </p:cNvGraphicFramePr>
          <p:nvPr/>
        </p:nvGraphicFramePr>
        <p:xfrm>
          <a:off x="4548188" y="3292475"/>
          <a:ext cx="16637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AutoCAD Drawing" r:id="rId13" imgW="11487150" imgH="7848600" progId="AutoCAD.Drawing.16">
                  <p:embed/>
                </p:oleObj>
              </mc:Choice>
              <mc:Fallback>
                <p:oleObj name="AutoCAD Drawing" r:id="rId13" imgW="11487150" imgH="7848600" progId="AutoCAD.Drawing.16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9394" t="24829" r="42429" b="68011"/>
                      <a:stretch>
                        <a:fillRect/>
                      </a:stretch>
                    </p:blipFill>
                    <p:spPr bwMode="auto">
                      <a:xfrm>
                        <a:off x="4548188" y="3292475"/>
                        <a:ext cx="16637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682" name="Object 18"/>
          <p:cNvGraphicFramePr>
            <a:graphicFrameLocks noChangeAspect="1"/>
          </p:cNvGraphicFramePr>
          <p:nvPr/>
        </p:nvGraphicFramePr>
        <p:xfrm>
          <a:off x="6445250" y="3590925"/>
          <a:ext cx="1897063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name="AutoCAD Drawing" r:id="rId15" imgW="11487150" imgH="7848600" progId="AutoCAD.Drawing.16">
                  <p:embed/>
                </p:oleObj>
              </mc:Choice>
              <mc:Fallback>
                <p:oleObj name="AutoCAD Drawing" r:id="rId15" imgW="11487150" imgH="7848600" progId="AutoCAD.Drawing.16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8266" t="29398" r="41005" b="51866"/>
                      <a:stretch>
                        <a:fillRect/>
                      </a:stretch>
                    </p:blipFill>
                    <p:spPr bwMode="auto">
                      <a:xfrm>
                        <a:off x="6445250" y="3590925"/>
                        <a:ext cx="1897063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683" name="Object 19"/>
          <p:cNvGraphicFramePr>
            <a:graphicFrameLocks noChangeAspect="1"/>
          </p:cNvGraphicFramePr>
          <p:nvPr/>
        </p:nvGraphicFramePr>
        <p:xfrm>
          <a:off x="6537325" y="3105150"/>
          <a:ext cx="163830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" name="AutoCAD Drawing" r:id="rId16" imgW="11487150" imgH="7848600" progId="AutoCAD.Drawing.16">
                  <p:embed/>
                </p:oleObj>
              </mc:Choice>
              <mc:Fallback>
                <p:oleObj name="AutoCAD Drawing" r:id="rId16" imgW="11487150" imgH="7848600" progId="AutoCAD.Drawing.16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155" t="21935" r="64943" b="67885"/>
                      <a:stretch>
                        <a:fillRect/>
                      </a:stretch>
                    </p:blipFill>
                    <p:spPr bwMode="auto">
                      <a:xfrm>
                        <a:off x="6537325" y="3105150"/>
                        <a:ext cx="1638300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41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1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41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1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1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7" grpId="0" autoUpdateAnimBg="0"/>
      <p:bldP spid="241668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9F98D57E-5C57-4A6E-B6B1-1041C4F6A11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25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41987" name="Text Box 2" descr="紫色网格"/>
          <p:cNvSpPr txBox="1">
            <a:spLocks noChangeArrowheads="1"/>
          </p:cNvSpPr>
          <p:nvPr/>
        </p:nvSpPr>
        <p:spPr bwMode="auto">
          <a:xfrm>
            <a:off x="346075" y="328613"/>
            <a:ext cx="4894263" cy="70167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组合形体的尺寸标注</a:t>
            </a:r>
          </a:p>
        </p:txBody>
      </p:sp>
      <p:sp>
        <p:nvSpPr>
          <p:cNvPr id="245763" name="Text Box 3" descr="蓝色砂纸"/>
          <p:cNvSpPr txBox="1">
            <a:spLocks noChangeArrowheads="1"/>
          </p:cNvSpPr>
          <p:nvPr/>
        </p:nvSpPr>
        <p:spPr bwMode="auto">
          <a:xfrm>
            <a:off x="725488" y="1220788"/>
            <a:ext cx="7975600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5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5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要完整标注组合体的尺寸，必须包括基本形体的定形尺寸、定位尺寸以及组合体的总体尺寸，能够完全确定组合体的形状和大小。 </a:t>
            </a:r>
          </a:p>
        </p:txBody>
      </p:sp>
      <p:sp>
        <p:nvSpPr>
          <p:cNvPr id="245764" name="AutoShape 4"/>
          <p:cNvSpPr>
            <a:spLocks noChangeArrowheads="1"/>
          </p:cNvSpPr>
          <p:nvPr/>
        </p:nvSpPr>
        <p:spPr bwMode="auto">
          <a:xfrm>
            <a:off x="817563" y="2657475"/>
            <a:ext cx="1571625" cy="474663"/>
          </a:xfrm>
          <a:prstGeom prst="flowChartProcess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形体分析</a:t>
            </a:r>
          </a:p>
        </p:txBody>
      </p:sp>
      <p:sp>
        <p:nvSpPr>
          <p:cNvPr id="245765" name="AutoShape 5"/>
          <p:cNvSpPr>
            <a:spLocks noChangeArrowheads="1"/>
          </p:cNvSpPr>
          <p:nvPr/>
        </p:nvSpPr>
        <p:spPr bwMode="auto">
          <a:xfrm>
            <a:off x="2886075" y="2655888"/>
            <a:ext cx="1571625" cy="474662"/>
          </a:xfrm>
          <a:prstGeom prst="flowChartProcess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尺寸基准</a:t>
            </a:r>
          </a:p>
        </p:txBody>
      </p:sp>
      <p:sp>
        <p:nvSpPr>
          <p:cNvPr id="245766" name="AutoShape 6"/>
          <p:cNvSpPr>
            <a:spLocks noChangeArrowheads="1"/>
          </p:cNvSpPr>
          <p:nvPr/>
        </p:nvSpPr>
        <p:spPr bwMode="auto">
          <a:xfrm>
            <a:off x="4976813" y="2662238"/>
            <a:ext cx="1571625" cy="474662"/>
          </a:xfrm>
          <a:prstGeom prst="flowChartProcess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定位尺寸</a:t>
            </a:r>
          </a:p>
        </p:txBody>
      </p:sp>
      <p:sp>
        <p:nvSpPr>
          <p:cNvPr id="245767" name="AutoShape 7"/>
          <p:cNvSpPr>
            <a:spLocks noChangeArrowheads="1"/>
          </p:cNvSpPr>
          <p:nvPr/>
        </p:nvSpPr>
        <p:spPr bwMode="auto">
          <a:xfrm>
            <a:off x="5000625" y="3567113"/>
            <a:ext cx="1571625" cy="474662"/>
          </a:xfrm>
          <a:prstGeom prst="flowChartProcess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定形尺寸</a:t>
            </a:r>
          </a:p>
        </p:txBody>
      </p:sp>
      <p:sp>
        <p:nvSpPr>
          <p:cNvPr id="245768" name="AutoShape 8"/>
          <p:cNvSpPr>
            <a:spLocks noChangeArrowheads="1"/>
          </p:cNvSpPr>
          <p:nvPr/>
        </p:nvSpPr>
        <p:spPr bwMode="auto">
          <a:xfrm>
            <a:off x="4475163" y="2776538"/>
            <a:ext cx="501650" cy="209550"/>
          </a:xfrm>
          <a:prstGeom prst="rightArrow">
            <a:avLst>
              <a:gd name="adj1" fmla="val 50000"/>
              <a:gd name="adj2" fmla="val 59848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45769" name="AutoShape 9"/>
          <p:cNvSpPr>
            <a:spLocks noChangeArrowheads="1"/>
          </p:cNvSpPr>
          <p:nvPr/>
        </p:nvSpPr>
        <p:spPr bwMode="auto">
          <a:xfrm>
            <a:off x="5651500" y="3159125"/>
            <a:ext cx="258763" cy="396875"/>
          </a:xfrm>
          <a:prstGeom prst="downArrow">
            <a:avLst>
              <a:gd name="adj1" fmla="val 50000"/>
              <a:gd name="adj2" fmla="val 38343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45770" name="AutoShape 10"/>
          <p:cNvSpPr>
            <a:spLocks noChangeArrowheads="1"/>
          </p:cNvSpPr>
          <p:nvPr/>
        </p:nvSpPr>
        <p:spPr bwMode="auto">
          <a:xfrm>
            <a:off x="2393950" y="2790825"/>
            <a:ext cx="501650" cy="209550"/>
          </a:xfrm>
          <a:prstGeom prst="rightArrow">
            <a:avLst>
              <a:gd name="adj1" fmla="val 50000"/>
              <a:gd name="adj2" fmla="val 59848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45771" name="AutoShape 11"/>
          <p:cNvSpPr>
            <a:spLocks noChangeArrowheads="1"/>
          </p:cNvSpPr>
          <p:nvPr/>
        </p:nvSpPr>
        <p:spPr bwMode="auto">
          <a:xfrm>
            <a:off x="6581775" y="3575050"/>
            <a:ext cx="715963" cy="2841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rgbClr val="FF000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772" name="Rectangle 12"/>
          <p:cNvSpPr>
            <a:spLocks noChangeArrowheads="1"/>
          </p:cNvSpPr>
          <p:nvPr/>
        </p:nvSpPr>
        <p:spPr bwMode="auto">
          <a:xfrm>
            <a:off x="7038975" y="2846388"/>
            <a:ext cx="111125" cy="733425"/>
          </a:xfrm>
          <a:prstGeom prst="rect">
            <a:avLst/>
          </a:prstGeom>
          <a:solidFill>
            <a:srgbClr val="FF0000"/>
          </a:solidFill>
          <a:ln w="0">
            <a:solidFill>
              <a:srgbClr val="FF0000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45773" name="AutoShape 13"/>
          <p:cNvSpPr>
            <a:spLocks noChangeArrowheads="1"/>
          </p:cNvSpPr>
          <p:nvPr/>
        </p:nvSpPr>
        <p:spPr bwMode="auto">
          <a:xfrm>
            <a:off x="6530975" y="2798763"/>
            <a:ext cx="620713" cy="198437"/>
          </a:xfrm>
          <a:prstGeom prst="leftArrow">
            <a:avLst>
              <a:gd name="adj1" fmla="val 50000"/>
              <a:gd name="adj2" fmla="val 78200"/>
            </a:avLst>
          </a:prstGeom>
          <a:solidFill>
            <a:srgbClr val="FF0000"/>
          </a:solidFill>
          <a:ln w="0">
            <a:solidFill>
              <a:srgbClr val="FF0000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45774" name="AutoShape 14"/>
          <p:cNvSpPr>
            <a:spLocks noChangeArrowheads="1"/>
          </p:cNvSpPr>
          <p:nvPr/>
        </p:nvSpPr>
        <p:spPr bwMode="auto">
          <a:xfrm>
            <a:off x="5002213" y="4457700"/>
            <a:ext cx="1571625" cy="474663"/>
          </a:xfrm>
          <a:prstGeom prst="flowChartProcess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总体尺寸</a:t>
            </a:r>
          </a:p>
        </p:txBody>
      </p:sp>
      <p:sp>
        <p:nvSpPr>
          <p:cNvPr id="245775" name="AutoShape 15"/>
          <p:cNvSpPr>
            <a:spLocks noChangeArrowheads="1"/>
          </p:cNvSpPr>
          <p:nvPr/>
        </p:nvSpPr>
        <p:spPr bwMode="auto">
          <a:xfrm>
            <a:off x="5653088" y="4057650"/>
            <a:ext cx="258762" cy="396875"/>
          </a:xfrm>
          <a:prstGeom prst="downArrow">
            <a:avLst>
              <a:gd name="adj1" fmla="val 50000"/>
              <a:gd name="adj2" fmla="val 38344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45776" name="AutoShape 16"/>
          <p:cNvSpPr>
            <a:spLocks noChangeArrowheads="1"/>
          </p:cNvSpPr>
          <p:nvPr/>
        </p:nvSpPr>
        <p:spPr bwMode="auto">
          <a:xfrm>
            <a:off x="5003800" y="5332413"/>
            <a:ext cx="1571625" cy="474662"/>
          </a:xfrm>
          <a:prstGeom prst="flowChartProcess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尺寸调整</a:t>
            </a:r>
          </a:p>
        </p:txBody>
      </p:sp>
      <p:sp>
        <p:nvSpPr>
          <p:cNvPr id="245777" name="AutoShape 17"/>
          <p:cNvSpPr>
            <a:spLocks noChangeArrowheads="1"/>
          </p:cNvSpPr>
          <p:nvPr/>
        </p:nvSpPr>
        <p:spPr bwMode="auto">
          <a:xfrm>
            <a:off x="5654675" y="4948238"/>
            <a:ext cx="258763" cy="396875"/>
          </a:xfrm>
          <a:prstGeom prst="downArrow">
            <a:avLst>
              <a:gd name="adj1" fmla="val 50000"/>
              <a:gd name="adj2" fmla="val 38343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45778" name="AutoShape 18"/>
          <p:cNvSpPr>
            <a:spLocks noChangeArrowheads="1"/>
          </p:cNvSpPr>
          <p:nvPr/>
        </p:nvSpPr>
        <p:spPr bwMode="auto">
          <a:xfrm>
            <a:off x="487363" y="3479800"/>
            <a:ext cx="3484562" cy="414338"/>
          </a:xfrm>
          <a:prstGeom prst="wedgeRoundRectCallout">
            <a:avLst>
              <a:gd name="adj1" fmla="val 43074"/>
              <a:gd name="adj2" fmla="val -134292"/>
              <a:gd name="adj3" fmla="val 16667"/>
            </a:avLst>
          </a:prstGeom>
          <a:solidFill>
            <a:srgbClr val="9999FF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对称面</a:t>
            </a:r>
            <a:r>
              <a:rPr lang="en-US" altLang="zh-CN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底面</a:t>
            </a:r>
            <a:r>
              <a:rPr lang="en-US" altLang="zh-CN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端面</a:t>
            </a:r>
            <a:r>
              <a:rPr lang="en-US" altLang="zh-CN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中心</a:t>
            </a:r>
          </a:p>
        </p:txBody>
      </p:sp>
      <p:sp>
        <p:nvSpPr>
          <p:cNvPr id="245779" name="AutoShape 19"/>
          <p:cNvSpPr>
            <a:spLocks noChangeArrowheads="1"/>
          </p:cNvSpPr>
          <p:nvPr/>
        </p:nvSpPr>
        <p:spPr bwMode="auto">
          <a:xfrm flipV="1">
            <a:off x="1960563" y="4651375"/>
            <a:ext cx="2638425" cy="447675"/>
          </a:xfrm>
          <a:prstGeom prst="wedgeRoundRectCallout">
            <a:avLst>
              <a:gd name="adj1" fmla="val 61731"/>
              <a:gd name="adj2" fmla="val 53542"/>
              <a:gd name="adj3" fmla="val 16667"/>
            </a:avLst>
          </a:prstGeom>
          <a:solidFill>
            <a:srgbClr val="9999FF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</p:spPr>
        <p:txBody>
          <a:bodyPr rot="10800000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总长、总高、总宽</a:t>
            </a:r>
          </a:p>
        </p:txBody>
      </p:sp>
      <p:sp>
        <p:nvSpPr>
          <p:cNvPr id="245780" name="AutoShape 20"/>
          <p:cNvSpPr>
            <a:spLocks noChangeArrowheads="1"/>
          </p:cNvSpPr>
          <p:nvPr/>
        </p:nvSpPr>
        <p:spPr bwMode="auto">
          <a:xfrm>
            <a:off x="7110413" y="5334000"/>
            <a:ext cx="854075" cy="473075"/>
          </a:xfrm>
          <a:prstGeom prst="flowChartTerminator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结束</a:t>
            </a:r>
          </a:p>
        </p:txBody>
      </p:sp>
      <p:sp>
        <p:nvSpPr>
          <p:cNvPr id="245781" name="AutoShape 21"/>
          <p:cNvSpPr>
            <a:spLocks noChangeArrowheads="1"/>
          </p:cNvSpPr>
          <p:nvPr/>
        </p:nvSpPr>
        <p:spPr bwMode="auto">
          <a:xfrm>
            <a:off x="6594475" y="5473700"/>
            <a:ext cx="501650" cy="209550"/>
          </a:xfrm>
          <a:prstGeom prst="rightArrow">
            <a:avLst>
              <a:gd name="adj1" fmla="val 50000"/>
              <a:gd name="adj2" fmla="val 59848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45782" name="AutoShape 22"/>
          <p:cNvSpPr>
            <a:spLocks noChangeArrowheads="1"/>
          </p:cNvSpPr>
          <p:nvPr/>
        </p:nvSpPr>
        <p:spPr bwMode="auto">
          <a:xfrm>
            <a:off x="1960563" y="5700713"/>
            <a:ext cx="2616200" cy="474662"/>
          </a:xfrm>
          <a:prstGeom prst="wedgeRoundRectCallout">
            <a:avLst>
              <a:gd name="adj1" fmla="val 64319"/>
              <a:gd name="adj2" fmla="val -107523"/>
              <a:gd name="adj3" fmla="val 16667"/>
            </a:avLst>
          </a:prstGeom>
          <a:solidFill>
            <a:srgbClr val="9999FF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避免出现多余尺寸</a:t>
            </a:r>
          </a:p>
        </p:txBody>
      </p:sp>
      <p:sp>
        <p:nvSpPr>
          <p:cNvPr id="245783" name="AutoShape 23"/>
          <p:cNvSpPr>
            <a:spLocks noChangeArrowheads="1"/>
          </p:cNvSpPr>
          <p:nvPr/>
        </p:nvSpPr>
        <p:spPr bwMode="auto">
          <a:xfrm>
            <a:off x="4973638" y="2662238"/>
            <a:ext cx="1571625" cy="474662"/>
          </a:xfrm>
          <a:prstGeom prst="flowChartProcess">
            <a:avLst/>
          </a:prstGeom>
          <a:solidFill>
            <a:srgbClr val="FF66FF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定位尺寸</a:t>
            </a:r>
          </a:p>
        </p:txBody>
      </p:sp>
      <p:sp>
        <p:nvSpPr>
          <p:cNvPr id="245784" name="AutoShape 24"/>
          <p:cNvSpPr>
            <a:spLocks noChangeArrowheads="1"/>
          </p:cNvSpPr>
          <p:nvPr/>
        </p:nvSpPr>
        <p:spPr bwMode="auto">
          <a:xfrm>
            <a:off x="4997450" y="3567113"/>
            <a:ext cx="1571625" cy="474662"/>
          </a:xfrm>
          <a:prstGeom prst="flowChartProcess">
            <a:avLst/>
          </a:prstGeom>
          <a:solidFill>
            <a:srgbClr val="FF66FF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定形尺寸</a:t>
            </a:r>
          </a:p>
        </p:txBody>
      </p:sp>
      <p:sp>
        <p:nvSpPr>
          <p:cNvPr id="245785" name="AutoShape 25"/>
          <p:cNvSpPr>
            <a:spLocks noChangeArrowheads="1"/>
          </p:cNvSpPr>
          <p:nvPr/>
        </p:nvSpPr>
        <p:spPr bwMode="auto">
          <a:xfrm>
            <a:off x="5648325" y="3159125"/>
            <a:ext cx="258763" cy="396875"/>
          </a:xfrm>
          <a:prstGeom prst="downArrow">
            <a:avLst>
              <a:gd name="adj1" fmla="val 50000"/>
              <a:gd name="adj2" fmla="val 38343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45786" name="AutoShape 26"/>
          <p:cNvSpPr>
            <a:spLocks noChangeArrowheads="1"/>
          </p:cNvSpPr>
          <p:nvPr/>
        </p:nvSpPr>
        <p:spPr bwMode="auto">
          <a:xfrm flipV="1">
            <a:off x="6840538" y="2127250"/>
            <a:ext cx="1733550" cy="369888"/>
          </a:xfrm>
          <a:prstGeom prst="wedgeRoundRectCallout">
            <a:avLst>
              <a:gd name="adj1" fmla="val -78023"/>
              <a:gd name="adj2" fmla="val -85625"/>
              <a:gd name="adj3" fmla="val 16667"/>
            </a:avLst>
          </a:prstGeom>
          <a:solidFill>
            <a:srgbClr val="9999FF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</p:spPr>
        <p:txBody>
          <a:bodyPr rot="10800000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容易漏掉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5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4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24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5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45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45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245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5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5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57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457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45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45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4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4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2" dur="500"/>
                                        <p:tgtEl>
                                          <p:spTgt spid="24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4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45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6" dur="500"/>
                                        <p:tgtEl>
                                          <p:spTgt spid="245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1" dur="500"/>
                                        <p:tgtEl>
                                          <p:spTgt spid="24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45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0" dur="500"/>
                                        <p:tgtEl>
                                          <p:spTgt spid="245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24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4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4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3" grpId="0" autoUpdateAnimBg="0"/>
      <p:bldP spid="245764" grpId="0" animBg="1" autoUpdateAnimBg="0"/>
      <p:bldP spid="245765" grpId="0" animBg="1" autoUpdateAnimBg="0"/>
      <p:bldP spid="245766" grpId="0" animBg="1" autoUpdateAnimBg="0"/>
      <p:bldP spid="245767" grpId="0" animBg="1" autoUpdateAnimBg="0"/>
      <p:bldP spid="245768" grpId="0" animBg="1"/>
      <p:bldP spid="245769" grpId="0" animBg="1"/>
      <p:bldP spid="245770" grpId="0" animBg="1"/>
      <p:bldP spid="245771" grpId="0" animBg="1"/>
      <p:bldP spid="245772" grpId="0" animBg="1"/>
      <p:bldP spid="245773" grpId="0" animBg="1"/>
      <p:bldP spid="245774" grpId="0" animBg="1" autoUpdateAnimBg="0"/>
      <p:bldP spid="245775" grpId="0" animBg="1"/>
      <p:bldP spid="245776" grpId="0" animBg="1" autoUpdateAnimBg="0"/>
      <p:bldP spid="245777" grpId="0" animBg="1"/>
      <p:bldP spid="245778" grpId="0" animBg="1" autoUpdateAnimBg="0"/>
      <p:bldP spid="245779" grpId="0" animBg="1" autoUpdateAnimBg="0"/>
      <p:bldP spid="245780" grpId="0" animBg="1" autoUpdateAnimBg="0"/>
      <p:bldP spid="245781" grpId="0" animBg="1"/>
      <p:bldP spid="245782" grpId="0" animBg="1" autoUpdateAnimBg="0"/>
      <p:bldP spid="245783" grpId="0" animBg="1" autoUpdateAnimBg="0"/>
      <p:bldP spid="245784" grpId="0" animBg="1" autoUpdateAnimBg="0"/>
      <p:bldP spid="245785" grpId="0" animBg="1"/>
      <p:bldP spid="245786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6E920A7E-0B42-40D8-AF9E-13E8C3428F5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26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pic>
        <p:nvPicPr>
          <p:cNvPr id="2467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20" t="14017" r="26985" b="12111"/>
          <a:stretch>
            <a:fillRect/>
          </a:stretch>
        </p:blipFill>
        <p:spPr bwMode="auto">
          <a:xfrm>
            <a:off x="5086350" y="1646238"/>
            <a:ext cx="3592513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</p:pic>
      <p:sp>
        <p:nvSpPr>
          <p:cNvPr id="246788" name="Text Box 4" descr="蓝色砂纸"/>
          <p:cNvSpPr txBox="1">
            <a:spLocks noChangeArrowheads="1"/>
          </p:cNvSpPr>
          <p:nvPr/>
        </p:nvSpPr>
        <p:spPr bwMode="auto">
          <a:xfrm>
            <a:off x="584200" y="293688"/>
            <a:ext cx="9017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例</a:t>
            </a:r>
          </a:p>
        </p:txBody>
      </p:sp>
      <p:sp>
        <p:nvSpPr>
          <p:cNvPr id="246789" name="AutoShape 5"/>
          <p:cNvSpPr>
            <a:spLocks noChangeArrowheads="1"/>
          </p:cNvSpPr>
          <p:nvPr/>
        </p:nvSpPr>
        <p:spPr bwMode="auto">
          <a:xfrm>
            <a:off x="6694488" y="361950"/>
            <a:ext cx="1571625" cy="474663"/>
          </a:xfrm>
          <a:prstGeom prst="flowChartProcess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形体分析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44488" y="1344613"/>
            <a:ext cx="1393825" cy="912812"/>
            <a:chOff x="282" y="817"/>
            <a:chExt cx="878" cy="575"/>
          </a:xfrm>
        </p:grpSpPr>
        <p:grpSp>
          <p:nvGrpSpPr>
            <p:cNvPr id="43026" name="Group 7"/>
            <p:cNvGrpSpPr>
              <a:grpSpLocks/>
            </p:cNvGrpSpPr>
            <p:nvPr/>
          </p:nvGrpSpPr>
          <p:grpSpPr bwMode="auto">
            <a:xfrm>
              <a:off x="282" y="817"/>
              <a:ext cx="830" cy="531"/>
              <a:chOff x="282" y="817"/>
              <a:chExt cx="830" cy="531"/>
            </a:xfrm>
          </p:grpSpPr>
          <p:sp>
            <p:nvSpPr>
              <p:cNvPr id="246792" name="Text Box 8"/>
              <p:cNvSpPr txBox="1">
                <a:spLocks noChangeArrowheads="1"/>
              </p:cNvSpPr>
              <p:nvPr/>
            </p:nvSpPr>
            <p:spPr bwMode="auto">
              <a:xfrm>
                <a:off x="282" y="81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3</a:t>
                </a:r>
              </a:p>
            </p:txBody>
          </p:sp>
          <p:sp>
            <p:nvSpPr>
              <p:cNvPr id="43029" name="Line 9"/>
              <p:cNvSpPr>
                <a:spLocks noChangeShapeType="1"/>
              </p:cNvSpPr>
              <p:nvPr/>
            </p:nvSpPr>
            <p:spPr bwMode="auto">
              <a:xfrm flipH="1" flipV="1">
                <a:off x="505" y="1079"/>
                <a:ext cx="607" cy="269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027" name="Oval 10"/>
            <p:cNvSpPr>
              <a:spLocks noChangeArrowheads="1"/>
            </p:cNvSpPr>
            <p:nvPr/>
          </p:nvSpPr>
          <p:spPr bwMode="auto">
            <a:xfrm>
              <a:off x="1087" y="132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355600" y="1881188"/>
            <a:ext cx="1647825" cy="893762"/>
            <a:chOff x="289" y="1220"/>
            <a:chExt cx="1038" cy="563"/>
          </a:xfrm>
        </p:grpSpPr>
        <p:grpSp>
          <p:nvGrpSpPr>
            <p:cNvPr id="43022" name="Group 12"/>
            <p:cNvGrpSpPr>
              <a:grpSpLocks/>
            </p:cNvGrpSpPr>
            <p:nvPr/>
          </p:nvGrpSpPr>
          <p:grpSpPr bwMode="auto">
            <a:xfrm>
              <a:off x="289" y="1220"/>
              <a:ext cx="1014" cy="526"/>
              <a:chOff x="289" y="1155"/>
              <a:chExt cx="1014" cy="526"/>
            </a:xfrm>
          </p:grpSpPr>
          <p:sp>
            <p:nvSpPr>
              <p:cNvPr id="43024" name="Line 13"/>
              <p:cNvSpPr>
                <a:spLocks noChangeShapeType="1"/>
              </p:cNvSpPr>
              <p:nvPr/>
            </p:nvSpPr>
            <p:spPr bwMode="auto">
              <a:xfrm flipH="1" flipV="1">
                <a:off x="507" y="1418"/>
                <a:ext cx="796" cy="263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798" name="Text Box 14"/>
              <p:cNvSpPr txBox="1">
                <a:spLocks noChangeArrowheads="1"/>
              </p:cNvSpPr>
              <p:nvPr/>
            </p:nvSpPr>
            <p:spPr bwMode="auto">
              <a:xfrm>
                <a:off x="289" y="1155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2</a:t>
                </a:r>
              </a:p>
            </p:txBody>
          </p:sp>
        </p:grpSp>
        <p:sp>
          <p:nvSpPr>
            <p:cNvPr id="43023" name="Oval 15"/>
            <p:cNvSpPr>
              <a:spLocks noChangeArrowheads="1"/>
            </p:cNvSpPr>
            <p:nvPr/>
          </p:nvSpPr>
          <p:spPr bwMode="auto">
            <a:xfrm>
              <a:off x="1254" y="1711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354013" y="2474913"/>
            <a:ext cx="1114425" cy="830262"/>
            <a:chOff x="288" y="1529"/>
            <a:chExt cx="702" cy="523"/>
          </a:xfrm>
        </p:grpSpPr>
        <p:grpSp>
          <p:nvGrpSpPr>
            <p:cNvPr id="43018" name="Group 17"/>
            <p:cNvGrpSpPr>
              <a:grpSpLocks/>
            </p:cNvGrpSpPr>
            <p:nvPr/>
          </p:nvGrpSpPr>
          <p:grpSpPr bwMode="auto">
            <a:xfrm>
              <a:off x="288" y="1529"/>
              <a:ext cx="671" cy="489"/>
              <a:chOff x="209" y="1227"/>
              <a:chExt cx="671" cy="489"/>
            </a:xfrm>
          </p:grpSpPr>
          <p:sp>
            <p:nvSpPr>
              <p:cNvPr id="43020" name="Line 18"/>
              <p:cNvSpPr>
                <a:spLocks noChangeShapeType="1"/>
              </p:cNvSpPr>
              <p:nvPr/>
            </p:nvSpPr>
            <p:spPr bwMode="auto">
              <a:xfrm flipH="1" flipV="1">
                <a:off x="387" y="1475"/>
                <a:ext cx="493" cy="241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803" name="Text Box 19"/>
              <p:cNvSpPr txBox="1">
                <a:spLocks noChangeArrowheads="1"/>
              </p:cNvSpPr>
              <p:nvPr/>
            </p:nvSpPr>
            <p:spPr bwMode="auto">
              <a:xfrm>
                <a:off x="209" y="122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1</a:t>
                </a:r>
              </a:p>
            </p:txBody>
          </p:sp>
        </p:grpSp>
        <p:sp>
          <p:nvSpPr>
            <p:cNvPr id="43019" name="Oval 20"/>
            <p:cNvSpPr>
              <a:spLocks noChangeArrowheads="1"/>
            </p:cNvSpPr>
            <p:nvPr/>
          </p:nvSpPr>
          <p:spPr bwMode="auto">
            <a:xfrm>
              <a:off x="917" y="198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aphicFrame>
        <p:nvGraphicFramePr>
          <p:cNvPr id="246805" name="Object 21"/>
          <p:cNvGraphicFramePr>
            <a:graphicFrameLocks noChangeAspect="1"/>
          </p:cNvGraphicFramePr>
          <p:nvPr/>
        </p:nvGraphicFramePr>
        <p:xfrm>
          <a:off x="809625" y="1092200"/>
          <a:ext cx="4381500" cy="429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AutoCAD Drawing" r:id="rId4" imgW="11487150" imgH="7848600" progId="AutoCAD.Drawing.16">
                  <p:embed/>
                </p:oleObj>
              </mc:Choice>
              <mc:Fallback>
                <p:oleObj name="AutoCAD Drawing" r:id="rId4" imgW="11487150" imgH="7848600" progId="AutoCAD.Drawing.16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051" r="23645" b="9140"/>
                      <a:stretch>
                        <a:fillRect/>
                      </a:stretch>
                    </p:blipFill>
                    <p:spPr bwMode="auto">
                      <a:xfrm>
                        <a:off x="809625" y="1092200"/>
                        <a:ext cx="4381500" cy="429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4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246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6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6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6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6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8" grpId="0" autoUpdateAnimBg="0"/>
      <p:bldP spid="246789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26AA08A6-638A-4F3A-B17C-93E427B762EC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27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pic>
        <p:nvPicPr>
          <p:cNvPr id="2478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8" t="23680" r="32745" b="20399"/>
          <a:stretch>
            <a:fillRect/>
          </a:stretch>
        </p:blipFill>
        <p:spPr bwMode="auto">
          <a:xfrm>
            <a:off x="4695825" y="1922463"/>
            <a:ext cx="3598863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</p:pic>
      <p:graphicFrame>
        <p:nvGraphicFramePr>
          <p:cNvPr id="44036" name="Object 3"/>
          <p:cNvGraphicFramePr>
            <a:graphicFrameLocks noChangeAspect="1"/>
          </p:cNvGraphicFramePr>
          <p:nvPr/>
        </p:nvGraphicFramePr>
        <p:xfrm>
          <a:off x="752475" y="1098550"/>
          <a:ext cx="4387850" cy="402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AutoCAD Drawing" r:id="rId4" imgW="11487150" imgH="7848600" progId="AutoCAD.Drawing.16">
                  <p:embed/>
                </p:oleObj>
              </mc:Choice>
              <mc:Fallback>
                <p:oleObj name="AutoCAD Drawing" r:id="rId4" imgW="11487150" imgH="7848600" progId="AutoCAD.Drawing.1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2891" t="859" r="13344"/>
                      <a:stretch>
                        <a:fillRect/>
                      </a:stretch>
                    </p:blipFill>
                    <p:spPr bwMode="auto">
                      <a:xfrm>
                        <a:off x="752475" y="1098550"/>
                        <a:ext cx="4387850" cy="402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AutoShape 5"/>
          <p:cNvSpPr>
            <a:spLocks noChangeArrowheads="1"/>
          </p:cNvSpPr>
          <p:nvPr/>
        </p:nvSpPr>
        <p:spPr bwMode="auto">
          <a:xfrm>
            <a:off x="6694488" y="361950"/>
            <a:ext cx="1571625" cy="474663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形体分析</a:t>
            </a:r>
          </a:p>
        </p:txBody>
      </p:sp>
      <p:sp>
        <p:nvSpPr>
          <p:cNvPr id="247814" name="AutoShape 6"/>
          <p:cNvSpPr>
            <a:spLocks noChangeArrowheads="1"/>
          </p:cNvSpPr>
          <p:nvPr/>
        </p:nvSpPr>
        <p:spPr bwMode="auto">
          <a:xfrm>
            <a:off x="6702425" y="1077913"/>
            <a:ext cx="1571625" cy="474662"/>
          </a:xfrm>
          <a:prstGeom prst="flowChartProcess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尺寸基准</a:t>
            </a:r>
          </a:p>
        </p:txBody>
      </p:sp>
      <p:sp>
        <p:nvSpPr>
          <p:cNvPr id="247815" name="AutoShape 7"/>
          <p:cNvSpPr>
            <a:spLocks noChangeArrowheads="1"/>
          </p:cNvSpPr>
          <p:nvPr/>
        </p:nvSpPr>
        <p:spPr bwMode="auto">
          <a:xfrm>
            <a:off x="7351713" y="847725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47816" name="Text Box 8"/>
          <p:cNvSpPr txBox="1">
            <a:spLocks noChangeArrowheads="1"/>
          </p:cNvSpPr>
          <p:nvPr/>
        </p:nvSpPr>
        <p:spPr bwMode="auto">
          <a:xfrm>
            <a:off x="4645025" y="1908175"/>
            <a:ext cx="1285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400">
                <a:solidFill>
                  <a:srgbClr val="0000FF"/>
                </a:solidFill>
                <a:ea typeface="黑体" pitchFamily="2" charset="-122"/>
              </a:rPr>
              <a:t>长度方向基准</a:t>
            </a:r>
          </a:p>
        </p:txBody>
      </p:sp>
      <p:sp>
        <p:nvSpPr>
          <p:cNvPr id="247817" name="Text Box 9"/>
          <p:cNvSpPr txBox="1">
            <a:spLocks noChangeArrowheads="1"/>
          </p:cNvSpPr>
          <p:nvPr/>
        </p:nvSpPr>
        <p:spPr bwMode="auto">
          <a:xfrm>
            <a:off x="7110413" y="5273675"/>
            <a:ext cx="1285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400">
                <a:solidFill>
                  <a:srgbClr val="00CCFF"/>
                </a:solidFill>
                <a:ea typeface="黑体" pitchFamily="2" charset="-122"/>
              </a:rPr>
              <a:t>高度方向基准</a:t>
            </a:r>
          </a:p>
        </p:txBody>
      </p:sp>
      <p:sp>
        <p:nvSpPr>
          <p:cNvPr id="247818" name="Text Box 10"/>
          <p:cNvSpPr txBox="1">
            <a:spLocks noChangeArrowheads="1"/>
          </p:cNvSpPr>
          <p:nvPr/>
        </p:nvSpPr>
        <p:spPr bwMode="auto">
          <a:xfrm>
            <a:off x="7867650" y="3543300"/>
            <a:ext cx="13033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400">
                <a:solidFill>
                  <a:srgbClr val="FF33CC"/>
                </a:solidFill>
                <a:ea typeface="黑体" pitchFamily="2" charset="-122"/>
              </a:rPr>
              <a:t>宽度方向基准</a:t>
            </a:r>
          </a:p>
        </p:txBody>
      </p:sp>
      <p:sp>
        <p:nvSpPr>
          <p:cNvPr id="247819" name="Text Box 11"/>
          <p:cNvSpPr txBox="1">
            <a:spLocks noChangeArrowheads="1"/>
          </p:cNvSpPr>
          <p:nvPr/>
        </p:nvSpPr>
        <p:spPr bwMode="auto">
          <a:xfrm>
            <a:off x="42863" y="3189288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400">
                <a:solidFill>
                  <a:srgbClr val="0000FF"/>
                </a:solidFill>
                <a:ea typeface="黑体" pitchFamily="2" charset="-122"/>
              </a:rPr>
              <a:t>长度方向基准</a:t>
            </a:r>
          </a:p>
        </p:txBody>
      </p:sp>
      <p:graphicFrame>
        <p:nvGraphicFramePr>
          <p:cNvPr id="247821" name="Object 13"/>
          <p:cNvGraphicFramePr>
            <a:graphicFrameLocks noChangeAspect="1"/>
          </p:cNvGraphicFramePr>
          <p:nvPr/>
        </p:nvGraphicFramePr>
        <p:xfrm>
          <a:off x="261938" y="1065213"/>
          <a:ext cx="16256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AutoCAD Drawing" r:id="rId6" imgW="11487150" imgH="7848600" progId="AutoCAD.Drawing.16">
                  <p:embed/>
                </p:oleObj>
              </mc:Choice>
              <mc:Fallback>
                <p:oleObj name="AutoCAD Drawing" r:id="rId6" imgW="11487150" imgH="7848600" progId="AutoCAD.Drawing.16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643" r="68028"/>
                      <a:stretch>
                        <a:fillRect/>
                      </a:stretch>
                    </p:blipFill>
                    <p:spPr bwMode="auto">
                      <a:xfrm>
                        <a:off x="261938" y="1065213"/>
                        <a:ext cx="16256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822" name="Text Box 14"/>
          <p:cNvSpPr txBox="1">
            <a:spLocks noChangeArrowheads="1"/>
          </p:cNvSpPr>
          <p:nvPr/>
        </p:nvSpPr>
        <p:spPr bwMode="auto">
          <a:xfrm>
            <a:off x="3709988" y="3397250"/>
            <a:ext cx="1285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400">
                <a:solidFill>
                  <a:srgbClr val="00CCFF"/>
                </a:solidFill>
                <a:ea typeface="黑体" pitchFamily="2" charset="-122"/>
              </a:rPr>
              <a:t>高度方向基准</a:t>
            </a:r>
          </a:p>
        </p:txBody>
      </p:sp>
      <p:graphicFrame>
        <p:nvGraphicFramePr>
          <p:cNvPr id="247823" name="Object 15"/>
          <p:cNvGraphicFramePr>
            <a:graphicFrameLocks noChangeAspect="1"/>
          </p:cNvGraphicFramePr>
          <p:nvPr/>
        </p:nvGraphicFramePr>
        <p:xfrm>
          <a:off x="790575" y="1149350"/>
          <a:ext cx="3195638" cy="274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AutoCAD Drawing" r:id="rId8" imgW="11487150" imgH="7848600" progId="AutoCAD.Drawing.16">
                  <p:embed/>
                </p:oleObj>
              </mc:Choice>
              <mc:Fallback>
                <p:oleObj name="AutoCAD Drawing" r:id="rId8" imgW="11487150" imgH="7848600" progId="AutoCAD.Drawing.16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504" t="2109" r="32773" b="30351"/>
                      <a:stretch>
                        <a:fillRect/>
                      </a:stretch>
                    </p:blipFill>
                    <p:spPr bwMode="auto">
                      <a:xfrm>
                        <a:off x="790575" y="1149350"/>
                        <a:ext cx="3195638" cy="274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824" name="Text Box 16"/>
          <p:cNvSpPr txBox="1">
            <a:spLocks noChangeArrowheads="1"/>
          </p:cNvSpPr>
          <p:nvPr/>
        </p:nvSpPr>
        <p:spPr bwMode="auto">
          <a:xfrm>
            <a:off x="2271713" y="2128838"/>
            <a:ext cx="13033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400">
                <a:solidFill>
                  <a:srgbClr val="FF66FF"/>
                </a:solidFill>
                <a:ea typeface="黑体" pitchFamily="2" charset="-122"/>
              </a:rPr>
              <a:t>宽度方向基准</a:t>
            </a:r>
          </a:p>
        </p:txBody>
      </p:sp>
      <p:sp>
        <p:nvSpPr>
          <p:cNvPr id="247825" name="Line 17"/>
          <p:cNvSpPr>
            <a:spLocks noChangeShapeType="1"/>
          </p:cNvSpPr>
          <p:nvPr/>
        </p:nvSpPr>
        <p:spPr bwMode="auto">
          <a:xfrm>
            <a:off x="5227638" y="2208213"/>
            <a:ext cx="258762" cy="53498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7826" name="Line 18"/>
          <p:cNvSpPr>
            <a:spLocks noChangeShapeType="1"/>
          </p:cNvSpPr>
          <p:nvPr/>
        </p:nvSpPr>
        <p:spPr bwMode="auto">
          <a:xfrm flipH="1" flipV="1">
            <a:off x="6711950" y="5175250"/>
            <a:ext cx="463550" cy="241300"/>
          </a:xfrm>
          <a:prstGeom prst="line">
            <a:avLst/>
          </a:prstGeom>
          <a:noFill/>
          <a:ln w="28575">
            <a:solidFill>
              <a:srgbClr val="00FF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7827" name="Line 19"/>
          <p:cNvSpPr>
            <a:spLocks noChangeShapeType="1"/>
          </p:cNvSpPr>
          <p:nvPr/>
        </p:nvSpPr>
        <p:spPr bwMode="auto">
          <a:xfrm flipH="1" flipV="1">
            <a:off x="7953375" y="3373438"/>
            <a:ext cx="346075" cy="214312"/>
          </a:xfrm>
          <a:prstGeom prst="line">
            <a:avLst/>
          </a:prstGeom>
          <a:noFill/>
          <a:ln w="28575">
            <a:solidFill>
              <a:srgbClr val="FF33CC"/>
            </a:solidFill>
            <a:round/>
            <a:headEnd type="none" w="sm" len="lg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7828" name="Object 20"/>
          <p:cNvGraphicFramePr>
            <a:graphicFrameLocks noChangeAspect="1"/>
          </p:cNvGraphicFramePr>
          <p:nvPr/>
        </p:nvGraphicFramePr>
        <p:xfrm>
          <a:off x="798513" y="3005138"/>
          <a:ext cx="434340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AutoCAD Drawing" r:id="rId10" imgW="11487150" imgH="7848600" progId="AutoCAD.Drawing.16">
                  <p:embed/>
                </p:oleObj>
              </mc:Choice>
              <mc:Fallback>
                <p:oleObj name="AutoCAD Drawing" r:id="rId10" imgW="11487150" imgH="7848600" progId="AutoCAD.Drawing.16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638" t="47774" r="13344" b="33749"/>
                      <a:stretch>
                        <a:fillRect/>
                      </a:stretch>
                    </p:blipFill>
                    <p:spPr bwMode="auto">
                      <a:xfrm>
                        <a:off x="798513" y="3005138"/>
                        <a:ext cx="4343400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7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47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7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7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7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7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247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7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47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7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7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47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47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24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47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4" grpId="0" animBg="1" autoUpdateAnimBg="0"/>
      <p:bldP spid="247815" grpId="0" animBg="1"/>
      <p:bldP spid="247816" grpId="0" autoUpdateAnimBg="0"/>
      <p:bldP spid="247817" grpId="0" autoUpdateAnimBg="0"/>
      <p:bldP spid="247818" grpId="0" autoUpdateAnimBg="0"/>
      <p:bldP spid="247819" grpId="0" autoUpdateAnimBg="0"/>
      <p:bldP spid="247822" grpId="0" autoUpdateAnimBg="0"/>
      <p:bldP spid="247824" grpId="0" autoUpdateAnimBg="0"/>
      <p:bldP spid="247825" grpId="0" animBg="1"/>
      <p:bldP spid="247826" grpId="0" animBg="1"/>
      <p:bldP spid="2478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4F1DEDC6-83E0-4BD3-A275-136C31142E8C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28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48834" name="Rectangle 2"/>
          <p:cNvSpPr>
            <a:spLocks noChangeArrowheads="1"/>
          </p:cNvSpPr>
          <p:nvPr/>
        </p:nvSpPr>
        <p:spPr bwMode="auto">
          <a:xfrm>
            <a:off x="3330575" y="4338638"/>
            <a:ext cx="334963" cy="1431925"/>
          </a:xfrm>
          <a:prstGeom prst="rect">
            <a:avLst/>
          </a:prstGeom>
          <a:solidFill>
            <a:srgbClr val="00FFFF"/>
          </a:solidFill>
          <a:ln w="0">
            <a:solidFill>
              <a:srgbClr val="00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48835" name="Rectangle 3"/>
          <p:cNvSpPr>
            <a:spLocks noChangeArrowheads="1"/>
          </p:cNvSpPr>
          <p:nvPr/>
        </p:nvSpPr>
        <p:spPr bwMode="auto">
          <a:xfrm>
            <a:off x="3303588" y="4305300"/>
            <a:ext cx="396875" cy="1492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48836" name="AutoShape 4"/>
          <p:cNvSpPr>
            <a:spLocks noChangeArrowheads="1"/>
          </p:cNvSpPr>
          <p:nvPr/>
        </p:nvSpPr>
        <p:spPr bwMode="auto">
          <a:xfrm>
            <a:off x="4919663" y="1181100"/>
            <a:ext cx="1604962" cy="404813"/>
          </a:xfrm>
          <a:prstGeom prst="wedgeRoundRectCallout">
            <a:avLst>
              <a:gd name="adj1" fmla="val 31505"/>
              <a:gd name="adj2" fmla="val 95884"/>
              <a:gd name="adj3" fmla="val 16667"/>
            </a:avLst>
          </a:prstGeom>
          <a:noFill/>
          <a:ln w="19050">
            <a:solidFill>
              <a:srgbClr val="FF3300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ea typeface="黑体" pitchFamily="2" charset="-122"/>
              </a:rPr>
              <a:t>无定位尺寸</a:t>
            </a:r>
          </a:p>
        </p:txBody>
      </p:sp>
      <p:sp>
        <p:nvSpPr>
          <p:cNvPr id="248837" name="Rectangle 5"/>
          <p:cNvSpPr>
            <a:spLocks noChangeArrowheads="1"/>
          </p:cNvSpPr>
          <p:nvPr/>
        </p:nvSpPr>
        <p:spPr bwMode="auto">
          <a:xfrm>
            <a:off x="4848225" y="1025525"/>
            <a:ext cx="1741488" cy="7588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45063" name="AutoShape 7"/>
          <p:cNvSpPr>
            <a:spLocks noChangeArrowheads="1"/>
          </p:cNvSpPr>
          <p:nvPr/>
        </p:nvSpPr>
        <p:spPr bwMode="auto">
          <a:xfrm>
            <a:off x="6694488" y="361950"/>
            <a:ext cx="1571625" cy="474663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形体分析</a:t>
            </a:r>
          </a:p>
        </p:txBody>
      </p:sp>
      <p:sp>
        <p:nvSpPr>
          <p:cNvPr id="45064" name="AutoShape 8"/>
          <p:cNvSpPr>
            <a:spLocks noChangeArrowheads="1"/>
          </p:cNvSpPr>
          <p:nvPr/>
        </p:nvSpPr>
        <p:spPr bwMode="auto">
          <a:xfrm>
            <a:off x="6702425" y="1077913"/>
            <a:ext cx="1571625" cy="474662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尺寸基准</a:t>
            </a:r>
          </a:p>
        </p:txBody>
      </p:sp>
      <p:sp>
        <p:nvSpPr>
          <p:cNvPr id="45065" name="AutoShape 9"/>
          <p:cNvSpPr>
            <a:spLocks noChangeArrowheads="1"/>
          </p:cNvSpPr>
          <p:nvPr/>
        </p:nvSpPr>
        <p:spPr bwMode="auto">
          <a:xfrm>
            <a:off x="7351713" y="847725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C0C0C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48842" name="AutoShape 10"/>
          <p:cNvSpPr>
            <a:spLocks noChangeArrowheads="1"/>
          </p:cNvSpPr>
          <p:nvPr/>
        </p:nvSpPr>
        <p:spPr bwMode="auto">
          <a:xfrm>
            <a:off x="6700838" y="1803400"/>
            <a:ext cx="1571625" cy="474663"/>
          </a:xfrm>
          <a:prstGeom prst="flowChartProcess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定位尺寸</a:t>
            </a:r>
          </a:p>
        </p:txBody>
      </p:sp>
      <p:sp>
        <p:nvSpPr>
          <p:cNvPr id="248843" name="AutoShape 11"/>
          <p:cNvSpPr>
            <a:spLocks noChangeArrowheads="1"/>
          </p:cNvSpPr>
          <p:nvPr/>
        </p:nvSpPr>
        <p:spPr bwMode="auto">
          <a:xfrm>
            <a:off x="7353300" y="1571625"/>
            <a:ext cx="258763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/>
          </a:p>
        </p:txBody>
      </p:sp>
      <p:sp>
        <p:nvSpPr>
          <p:cNvPr id="248844" name="AutoShape 12"/>
          <p:cNvSpPr>
            <a:spLocks noChangeArrowheads="1"/>
          </p:cNvSpPr>
          <p:nvPr/>
        </p:nvSpPr>
        <p:spPr bwMode="auto">
          <a:xfrm>
            <a:off x="6692900" y="2533650"/>
            <a:ext cx="1571625" cy="474663"/>
          </a:xfrm>
          <a:prstGeom prst="flowChartProcess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定形尺寸</a:t>
            </a:r>
          </a:p>
        </p:txBody>
      </p:sp>
      <p:sp>
        <p:nvSpPr>
          <p:cNvPr id="248845" name="AutoShape 13"/>
          <p:cNvSpPr>
            <a:spLocks noChangeArrowheads="1"/>
          </p:cNvSpPr>
          <p:nvPr/>
        </p:nvSpPr>
        <p:spPr bwMode="auto">
          <a:xfrm>
            <a:off x="7354888" y="2295525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/>
          </a:p>
        </p:txBody>
      </p:sp>
      <p:sp>
        <p:nvSpPr>
          <p:cNvPr id="248846" name="AutoShape 14"/>
          <p:cNvSpPr>
            <a:spLocks noChangeArrowheads="1"/>
          </p:cNvSpPr>
          <p:nvPr/>
        </p:nvSpPr>
        <p:spPr bwMode="auto">
          <a:xfrm>
            <a:off x="6002338" y="1822450"/>
            <a:ext cx="593725" cy="1208088"/>
          </a:xfrm>
          <a:prstGeom prst="rightArrowCallout">
            <a:avLst>
              <a:gd name="adj1" fmla="val 50869"/>
              <a:gd name="adj2" fmla="val 50869"/>
              <a:gd name="adj3" fmla="val 16667"/>
              <a:gd name="adj4" fmla="val 66667"/>
            </a:avLst>
          </a:prstGeom>
          <a:noFill/>
          <a:ln w="38100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latin typeface="黑体" pitchFamily="2" charset="-122"/>
                <a:ea typeface="黑体" pitchFamily="2" charset="-122"/>
              </a:rPr>
              <a:t>形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latin typeface="黑体" pitchFamily="2" charset="-122"/>
                <a:ea typeface="黑体" pitchFamily="2" charset="-122"/>
              </a:rPr>
              <a:t>体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FF0066"/>
                </a:solidFill>
              </a:rPr>
              <a:t>I</a:t>
            </a:r>
            <a:endParaRPr lang="en-US" altLang="zh-CN" sz="2400">
              <a:solidFill>
                <a:srgbClr val="FF0066"/>
              </a:solidFill>
              <a:ea typeface="黑体" pitchFamily="2" charset="-122"/>
            </a:endParaRPr>
          </a:p>
        </p:txBody>
      </p:sp>
      <p:sp>
        <p:nvSpPr>
          <p:cNvPr id="248847" name="AutoShape 15"/>
          <p:cNvSpPr>
            <a:spLocks noChangeArrowheads="1"/>
          </p:cNvSpPr>
          <p:nvPr/>
        </p:nvSpPr>
        <p:spPr bwMode="auto">
          <a:xfrm>
            <a:off x="5784850" y="3276600"/>
            <a:ext cx="811213" cy="706438"/>
          </a:xfrm>
          <a:prstGeom prst="flowChartMultidocumen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切口</a:t>
            </a:r>
          </a:p>
        </p:txBody>
      </p:sp>
      <p:sp>
        <p:nvSpPr>
          <p:cNvPr id="248848" name="AutoShape 16"/>
          <p:cNvSpPr>
            <a:spLocks noChangeArrowheads="1"/>
          </p:cNvSpPr>
          <p:nvPr/>
        </p:nvSpPr>
        <p:spPr bwMode="auto">
          <a:xfrm>
            <a:off x="6056313" y="3040063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2010F6"/>
          </a:solidFill>
          <a:ln w="0">
            <a:solidFill>
              <a:srgbClr val="0000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15888" y="2427288"/>
            <a:ext cx="1114425" cy="830262"/>
            <a:chOff x="288" y="1529"/>
            <a:chExt cx="702" cy="523"/>
          </a:xfrm>
        </p:grpSpPr>
        <p:grpSp>
          <p:nvGrpSpPr>
            <p:cNvPr id="45096" name="Group 18"/>
            <p:cNvGrpSpPr>
              <a:grpSpLocks/>
            </p:cNvGrpSpPr>
            <p:nvPr/>
          </p:nvGrpSpPr>
          <p:grpSpPr bwMode="auto">
            <a:xfrm>
              <a:off x="288" y="1529"/>
              <a:ext cx="671" cy="489"/>
              <a:chOff x="209" y="1227"/>
              <a:chExt cx="671" cy="489"/>
            </a:xfrm>
          </p:grpSpPr>
          <p:sp>
            <p:nvSpPr>
              <p:cNvPr id="45098" name="Line 19"/>
              <p:cNvSpPr>
                <a:spLocks noChangeShapeType="1"/>
              </p:cNvSpPr>
              <p:nvPr/>
            </p:nvSpPr>
            <p:spPr bwMode="auto">
              <a:xfrm flipH="1" flipV="1">
                <a:off x="387" y="1475"/>
                <a:ext cx="493" cy="241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8852" name="Text Box 20"/>
              <p:cNvSpPr txBox="1">
                <a:spLocks noChangeArrowheads="1"/>
              </p:cNvSpPr>
              <p:nvPr/>
            </p:nvSpPr>
            <p:spPr bwMode="auto">
              <a:xfrm>
                <a:off x="209" y="122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1</a:t>
                </a:r>
              </a:p>
            </p:txBody>
          </p:sp>
        </p:grpSp>
        <p:sp>
          <p:nvSpPr>
            <p:cNvPr id="45097" name="Oval 21"/>
            <p:cNvSpPr>
              <a:spLocks noChangeArrowheads="1"/>
            </p:cNvSpPr>
            <p:nvPr/>
          </p:nvSpPr>
          <p:spPr bwMode="auto">
            <a:xfrm>
              <a:off x="917" y="198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aphicFrame>
        <p:nvGraphicFramePr>
          <p:cNvPr id="248855" name="Object 23"/>
          <p:cNvGraphicFramePr>
            <a:graphicFrameLocks noChangeAspect="1"/>
          </p:cNvGraphicFramePr>
          <p:nvPr/>
        </p:nvGraphicFramePr>
        <p:xfrm>
          <a:off x="606425" y="3373438"/>
          <a:ext cx="2324100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name="AutoCAD Drawing" r:id="rId3" imgW="11487150" imgH="7848600" progId="AutoCAD.Drawing.16">
                  <p:embed/>
                </p:oleObj>
              </mc:Choice>
              <mc:Fallback>
                <p:oleObj name="AutoCAD Drawing" r:id="rId3" imgW="11487150" imgH="7848600" progId="AutoCAD.Drawing.16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9637" t="48222" r="50479" b="39139"/>
                      <a:stretch>
                        <a:fillRect/>
                      </a:stretch>
                    </p:blipFill>
                    <p:spPr bwMode="auto">
                      <a:xfrm>
                        <a:off x="606425" y="3373438"/>
                        <a:ext cx="2324100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56" name="Object 24"/>
          <p:cNvGraphicFramePr>
            <a:graphicFrameLocks noChangeAspect="1"/>
          </p:cNvGraphicFramePr>
          <p:nvPr/>
        </p:nvGraphicFramePr>
        <p:xfrm>
          <a:off x="2882900" y="4332288"/>
          <a:ext cx="746125" cy="143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AutoCAD Drawing" r:id="rId5" imgW="11487150" imgH="7848600" progId="AutoCAD.Drawing.16">
                  <p:embed/>
                </p:oleObj>
              </mc:Choice>
              <mc:Fallback>
                <p:oleObj name="AutoCAD Drawing" r:id="rId5" imgW="11487150" imgH="7848600" progId="AutoCAD.Drawing.16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8581" t="66747" r="41826" b="6334"/>
                      <a:stretch>
                        <a:fillRect/>
                      </a:stretch>
                    </p:blipFill>
                    <p:spPr bwMode="auto">
                      <a:xfrm>
                        <a:off x="2882900" y="4332288"/>
                        <a:ext cx="746125" cy="1430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57" name="Object 25"/>
          <p:cNvGraphicFramePr>
            <a:graphicFrameLocks noChangeAspect="1"/>
          </p:cNvGraphicFramePr>
          <p:nvPr/>
        </p:nvGraphicFramePr>
        <p:xfrm>
          <a:off x="2832100" y="2744788"/>
          <a:ext cx="48895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AutoCAD Drawing" r:id="rId7" imgW="11487150" imgH="7848600" progId="AutoCAD.Drawing.16">
                  <p:embed/>
                </p:oleObj>
              </mc:Choice>
              <mc:Fallback>
                <p:oleObj name="AutoCAD Drawing" r:id="rId7" imgW="11487150" imgH="7848600" progId="AutoCAD.Drawing.16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8030" t="36690" r="45683" b="44487"/>
                      <a:stretch>
                        <a:fillRect/>
                      </a:stretch>
                    </p:blipFill>
                    <p:spPr bwMode="auto">
                      <a:xfrm>
                        <a:off x="2832100" y="2744788"/>
                        <a:ext cx="48895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7" name="Object 26"/>
          <p:cNvGraphicFramePr>
            <a:graphicFrameLocks noChangeAspect="1"/>
          </p:cNvGraphicFramePr>
          <p:nvPr/>
        </p:nvGraphicFramePr>
        <p:xfrm>
          <a:off x="569913" y="936625"/>
          <a:ext cx="5160962" cy="497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AutoCAD Drawing" r:id="rId9" imgW="11487150" imgH="7848600" progId="AutoCAD.Drawing.16">
                  <p:embed/>
                </p:oleObj>
              </mc:Choice>
              <mc:Fallback>
                <p:oleObj name="AutoCAD Drawing" r:id="rId9" imgW="11487150" imgH="7848600" progId="AutoCAD.Drawing.16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9148" t="2753" r="14510" b="3624"/>
                      <a:stretch>
                        <a:fillRect/>
                      </a:stretch>
                    </p:blipFill>
                    <p:spPr bwMode="auto">
                      <a:xfrm>
                        <a:off x="569913" y="936625"/>
                        <a:ext cx="5160962" cy="497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59" name="Object 27"/>
          <p:cNvGraphicFramePr>
            <a:graphicFrameLocks noChangeAspect="1"/>
          </p:cNvGraphicFramePr>
          <p:nvPr/>
        </p:nvGraphicFramePr>
        <p:xfrm>
          <a:off x="1017588" y="3370263"/>
          <a:ext cx="1512887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name="AutoCAD Drawing" r:id="rId11" imgW="11487150" imgH="7848600" progId="AutoCAD.Drawing.16">
                  <p:embed/>
                </p:oleObj>
              </mc:Choice>
              <mc:Fallback>
                <p:oleObj name="AutoCAD Drawing" r:id="rId11" imgW="11487150" imgH="7848600" progId="AutoCAD.Drawing.16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4861" t="48880" r="55685" b="44159"/>
                      <a:stretch>
                        <a:fillRect/>
                      </a:stretch>
                    </p:blipFill>
                    <p:spPr bwMode="auto">
                      <a:xfrm>
                        <a:off x="1017588" y="3370263"/>
                        <a:ext cx="1512887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60" name="Object 28"/>
          <p:cNvGraphicFramePr>
            <a:graphicFrameLocks noChangeAspect="1"/>
          </p:cNvGraphicFramePr>
          <p:nvPr/>
        </p:nvGraphicFramePr>
        <p:xfrm>
          <a:off x="2030413" y="2892425"/>
          <a:ext cx="477837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AutoCAD Drawing" r:id="rId13" imgW="11487150" imgH="7848600" progId="AutoCAD.Drawing.16">
                  <p:embed/>
                </p:oleObj>
              </mc:Choice>
              <mc:Fallback>
                <p:oleObj name="AutoCAD Drawing" r:id="rId13" imgW="11487150" imgH="7848600" progId="AutoCAD.Drawing.16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8048" t="39288" r="55807" b="46281"/>
                      <a:stretch>
                        <a:fillRect/>
                      </a:stretch>
                    </p:blipFill>
                    <p:spPr bwMode="auto">
                      <a:xfrm>
                        <a:off x="2030413" y="2892425"/>
                        <a:ext cx="477837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61" name="AutoShape 29"/>
          <p:cNvSpPr>
            <a:spLocks noChangeArrowheads="1"/>
          </p:cNvSpPr>
          <p:nvPr/>
        </p:nvSpPr>
        <p:spPr bwMode="auto">
          <a:xfrm>
            <a:off x="6946900" y="3282950"/>
            <a:ext cx="811213" cy="706438"/>
          </a:xfrm>
          <a:prstGeom prst="flowChartMultidocumen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四孔</a:t>
            </a:r>
          </a:p>
        </p:txBody>
      </p:sp>
      <p:sp>
        <p:nvSpPr>
          <p:cNvPr id="248862" name="AutoShape 30"/>
          <p:cNvSpPr>
            <a:spLocks noChangeArrowheads="1"/>
          </p:cNvSpPr>
          <p:nvPr/>
        </p:nvSpPr>
        <p:spPr bwMode="auto">
          <a:xfrm flipH="1">
            <a:off x="6608763" y="3451225"/>
            <a:ext cx="336550" cy="241300"/>
          </a:xfrm>
          <a:prstGeom prst="leftArrow">
            <a:avLst>
              <a:gd name="adj1" fmla="val 50000"/>
              <a:gd name="adj2" fmla="val 34868"/>
            </a:avLst>
          </a:prstGeom>
          <a:solidFill>
            <a:srgbClr val="2010F6"/>
          </a:solidFill>
          <a:ln w="0">
            <a:solidFill>
              <a:srgbClr val="0000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6675438" y="4011613"/>
            <a:ext cx="1341437" cy="501650"/>
            <a:chOff x="4210" y="2527"/>
            <a:chExt cx="845" cy="316"/>
          </a:xfrm>
        </p:grpSpPr>
        <p:sp>
          <p:nvSpPr>
            <p:cNvPr id="45092" name="AutoShape 32"/>
            <p:cNvSpPr>
              <a:spLocks noChangeArrowheads="1"/>
            </p:cNvSpPr>
            <p:nvPr/>
          </p:nvSpPr>
          <p:spPr bwMode="auto">
            <a:xfrm>
              <a:off x="4539" y="2527"/>
              <a:ext cx="179" cy="158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45093" name="Rectangle 33"/>
            <p:cNvSpPr>
              <a:spLocks noChangeArrowheads="1"/>
            </p:cNvSpPr>
            <p:nvPr/>
          </p:nvSpPr>
          <p:spPr bwMode="auto">
            <a:xfrm>
              <a:off x="4255" y="2646"/>
              <a:ext cx="755" cy="76"/>
            </a:xfrm>
            <a:prstGeom prst="rect">
              <a:avLst/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45094" name="AutoShape 34"/>
            <p:cNvSpPr>
              <a:spLocks noChangeArrowheads="1"/>
            </p:cNvSpPr>
            <p:nvPr/>
          </p:nvSpPr>
          <p:spPr bwMode="auto">
            <a:xfrm>
              <a:off x="4210" y="2722"/>
              <a:ext cx="179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45095" name="AutoShape 35"/>
            <p:cNvSpPr>
              <a:spLocks noChangeArrowheads="1"/>
            </p:cNvSpPr>
            <p:nvPr/>
          </p:nvSpPr>
          <p:spPr bwMode="auto">
            <a:xfrm>
              <a:off x="4876" y="2723"/>
              <a:ext cx="179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248868" name="Rectangle 36"/>
          <p:cNvSpPr>
            <a:spLocks noChangeArrowheads="1"/>
          </p:cNvSpPr>
          <p:nvPr/>
        </p:nvSpPr>
        <p:spPr bwMode="auto">
          <a:xfrm>
            <a:off x="6592888" y="4521200"/>
            <a:ext cx="439737" cy="838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定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位</a:t>
            </a:r>
          </a:p>
        </p:txBody>
      </p:sp>
      <p:sp>
        <p:nvSpPr>
          <p:cNvPr id="248869" name="Rectangle 37"/>
          <p:cNvSpPr>
            <a:spLocks noChangeArrowheads="1"/>
          </p:cNvSpPr>
          <p:nvPr/>
        </p:nvSpPr>
        <p:spPr bwMode="auto">
          <a:xfrm>
            <a:off x="7658100" y="4522788"/>
            <a:ext cx="439738" cy="838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定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形</a:t>
            </a:r>
          </a:p>
        </p:txBody>
      </p:sp>
      <p:graphicFrame>
        <p:nvGraphicFramePr>
          <p:cNvPr id="248870" name="Object 38"/>
          <p:cNvGraphicFramePr>
            <a:graphicFrameLocks noChangeAspect="1"/>
          </p:cNvGraphicFramePr>
          <p:nvPr/>
        </p:nvGraphicFramePr>
        <p:xfrm>
          <a:off x="831850" y="3994150"/>
          <a:ext cx="185896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AutoCAD Drawing" r:id="rId15" imgW="11487150" imgH="7848600" progId="AutoCAD.Drawing.16">
                  <p:embed/>
                </p:oleObj>
              </mc:Choice>
              <mc:Fallback>
                <p:oleObj name="AutoCAD Drawing" r:id="rId15" imgW="11487150" imgH="7848600" progId="AutoCAD.Drawing.16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2514" t="60054" r="53583" b="30534"/>
                      <a:stretch>
                        <a:fillRect/>
                      </a:stretch>
                    </p:blipFill>
                    <p:spPr bwMode="auto">
                      <a:xfrm>
                        <a:off x="831850" y="3994150"/>
                        <a:ext cx="1858963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71" name="Object 39"/>
          <p:cNvGraphicFramePr>
            <a:graphicFrameLocks noChangeAspect="1"/>
          </p:cNvGraphicFramePr>
          <p:nvPr/>
        </p:nvGraphicFramePr>
        <p:xfrm>
          <a:off x="2782888" y="4016375"/>
          <a:ext cx="584200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AutoCAD Drawing" r:id="rId17" imgW="11487150" imgH="7848600" progId="AutoCAD.Drawing.16">
                  <p:embed/>
                </p:oleObj>
              </mc:Choice>
              <mc:Fallback>
                <p:oleObj name="AutoCAD Drawing" r:id="rId17" imgW="11487150" imgH="7848600" progId="AutoCAD.Drawing.16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7581" t="60890" r="44928" b="10397"/>
                      <a:stretch>
                        <a:fillRect/>
                      </a:stretch>
                    </p:blipFill>
                    <p:spPr bwMode="auto">
                      <a:xfrm>
                        <a:off x="2782888" y="4016375"/>
                        <a:ext cx="584200" cy="153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2322513" y="2298700"/>
            <a:ext cx="1503362" cy="835025"/>
            <a:chOff x="1463" y="1448"/>
            <a:chExt cx="947" cy="526"/>
          </a:xfrm>
        </p:grpSpPr>
        <p:grpSp>
          <p:nvGrpSpPr>
            <p:cNvPr id="45088" name="Group 41"/>
            <p:cNvGrpSpPr>
              <a:grpSpLocks/>
            </p:cNvGrpSpPr>
            <p:nvPr/>
          </p:nvGrpSpPr>
          <p:grpSpPr bwMode="auto">
            <a:xfrm>
              <a:off x="1463" y="1448"/>
              <a:ext cx="947" cy="192"/>
              <a:chOff x="3570" y="3314"/>
              <a:chExt cx="947" cy="192"/>
            </a:xfrm>
          </p:grpSpPr>
          <p:sp>
            <p:nvSpPr>
              <p:cNvPr id="45090" name="Text Box 42"/>
              <p:cNvSpPr txBox="1">
                <a:spLocks noChangeArrowheads="1"/>
              </p:cNvSpPr>
              <p:nvPr/>
            </p:nvSpPr>
            <p:spPr bwMode="auto">
              <a:xfrm>
                <a:off x="3570" y="3314"/>
                <a:ext cx="947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300" i="1">
                    <a:solidFill>
                      <a:srgbClr val="F31313"/>
                    </a:solidFill>
                    <a:latin typeface="ISOCPEUR" pitchFamily="34" charset="0"/>
                  </a:rPr>
                  <a:t>4X</a:t>
                </a:r>
                <a:r>
                  <a:rPr lang="en-US" altLang="zh-CN" sz="1300" b="0" i="1">
                    <a:solidFill>
                      <a:srgbClr val="F31313"/>
                    </a:solidFill>
                    <a:latin typeface="ISOCPEUR" pitchFamily="34" charset="0"/>
                  </a:rPr>
                  <a:t>   </a:t>
                </a:r>
                <a:r>
                  <a:rPr lang="en-US" altLang="zh-CN" sz="1300" i="1">
                    <a:solidFill>
                      <a:srgbClr val="F31313"/>
                    </a:solidFill>
                    <a:latin typeface="ISOCPEUR" pitchFamily="34" charset="0"/>
                    <a:sym typeface="Technic" pitchFamily="2" charset="2"/>
                  </a:rPr>
                  <a:t>2</a:t>
                </a:r>
              </a:p>
            </p:txBody>
          </p:sp>
          <p:sp>
            <p:nvSpPr>
              <p:cNvPr id="45091" name="Text Box 43"/>
              <p:cNvSpPr txBox="1">
                <a:spLocks noChangeArrowheads="1"/>
              </p:cNvSpPr>
              <p:nvPr/>
            </p:nvSpPr>
            <p:spPr bwMode="auto">
              <a:xfrm rot="-839945">
                <a:off x="3724" y="3323"/>
                <a:ext cx="242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300">
                    <a:solidFill>
                      <a:srgbClr val="F31313"/>
                    </a:solidFill>
                    <a:latin typeface="ISOCPEUR" pitchFamily="34" charset="0"/>
                    <a:sym typeface="Symbol" pitchFamily="18" charset="2"/>
                  </a:rPr>
                  <a:t> </a:t>
                </a:r>
              </a:p>
            </p:txBody>
          </p:sp>
        </p:grpSp>
        <p:graphicFrame>
          <p:nvGraphicFramePr>
            <p:cNvPr id="45089" name="Object 44"/>
            <p:cNvGraphicFramePr>
              <a:graphicFrameLocks noChangeAspect="1"/>
            </p:cNvGraphicFramePr>
            <p:nvPr/>
          </p:nvGraphicFramePr>
          <p:xfrm>
            <a:off x="1470" y="1596"/>
            <a:ext cx="419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1" name="AutoCAD Drawing" r:id="rId19" imgW="11487150" imgH="7848600" progId="AutoCAD.Drawing.16">
                    <p:embed/>
                  </p:oleObj>
                </mc:Choice>
                <mc:Fallback>
                  <p:oleObj name="AutoCAD Drawing" r:id="rId19" imgW="11487150" imgH="7848600" progId="AutoCAD.Drawing.16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41931" t="32841" r="49767" b="56187"/>
                        <a:stretch>
                          <a:fillRect/>
                        </a:stretch>
                      </p:blipFill>
                      <p:spPr bwMode="auto">
                        <a:xfrm>
                          <a:off x="1470" y="1596"/>
                          <a:ext cx="419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8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48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4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248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48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48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24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4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4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48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48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48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5" dur="500"/>
                                        <p:tgtEl>
                                          <p:spTgt spid="24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4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48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4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4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4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3" dur="500"/>
                                        <p:tgtEl>
                                          <p:spTgt spid="248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48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4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4" grpId="0" animBg="1"/>
      <p:bldP spid="248835" grpId="0" animBg="1"/>
      <p:bldP spid="248836" grpId="0" animBg="1" autoUpdateAnimBg="0"/>
      <p:bldP spid="248837" grpId="0" animBg="1"/>
      <p:bldP spid="248842" grpId="0" animBg="1" autoUpdateAnimBg="0"/>
      <p:bldP spid="248843" grpId="0" animBg="1" autoUpdateAnimBg="0"/>
      <p:bldP spid="248844" grpId="0" animBg="1" autoUpdateAnimBg="0"/>
      <p:bldP spid="248845" grpId="0" animBg="1" autoUpdateAnimBg="0"/>
      <p:bldP spid="248846" grpId="0" animBg="1" autoUpdateAnimBg="0"/>
      <p:bldP spid="248847" grpId="0" animBg="1" autoUpdateAnimBg="0"/>
      <p:bldP spid="248848" grpId="0" animBg="1"/>
      <p:bldP spid="248861" grpId="0" animBg="1" autoUpdateAnimBg="0"/>
      <p:bldP spid="248862" grpId="0" animBg="1"/>
      <p:bldP spid="248868" grpId="0" animBg="1" autoUpdateAnimBg="0"/>
      <p:bldP spid="248869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9B68C613-5787-4953-80C2-9C5F65BFC435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29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2941638" y="2751138"/>
            <a:ext cx="344487" cy="976312"/>
          </a:xfrm>
          <a:prstGeom prst="rect">
            <a:avLst/>
          </a:prstGeom>
          <a:solidFill>
            <a:srgbClr val="F313DE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2913063" y="2697163"/>
            <a:ext cx="438150" cy="1054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46085" name="AutoShape 5"/>
          <p:cNvSpPr>
            <a:spLocks noChangeArrowheads="1"/>
          </p:cNvSpPr>
          <p:nvPr/>
        </p:nvSpPr>
        <p:spPr bwMode="auto">
          <a:xfrm>
            <a:off x="6694488" y="361950"/>
            <a:ext cx="1571625" cy="474663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形体分析</a:t>
            </a:r>
          </a:p>
        </p:txBody>
      </p:sp>
      <p:sp>
        <p:nvSpPr>
          <p:cNvPr id="46086" name="AutoShape 6"/>
          <p:cNvSpPr>
            <a:spLocks noChangeArrowheads="1"/>
          </p:cNvSpPr>
          <p:nvPr/>
        </p:nvSpPr>
        <p:spPr bwMode="auto">
          <a:xfrm>
            <a:off x="6702425" y="1077913"/>
            <a:ext cx="1571625" cy="474662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尺寸基准</a:t>
            </a:r>
          </a:p>
        </p:txBody>
      </p:sp>
      <p:sp>
        <p:nvSpPr>
          <p:cNvPr id="46087" name="AutoShape 7"/>
          <p:cNvSpPr>
            <a:spLocks noChangeArrowheads="1"/>
          </p:cNvSpPr>
          <p:nvPr/>
        </p:nvSpPr>
        <p:spPr bwMode="auto">
          <a:xfrm>
            <a:off x="7351713" y="847725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C0C0C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46088" name="AutoShape 9"/>
          <p:cNvSpPr>
            <a:spLocks noChangeArrowheads="1"/>
          </p:cNvSpPr>
          <p:nvPr/>
        </p:nvSpPr>
        <p:spPr bwMode="auto">
          <a:xfrm>
            <a:off x="6700838" y="1803400"/>
            <a:ext cx="1571625" cy="474663"/>
          </a:xfrm>
          <a:prstGeom prst="flowChartProcess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定位尺寸</a:t>
            </a:r>
          </a:p>
        </p:txBody>
      </p:sp>
      <p:sp>
        <p:nvSpPr>
          <p:cNvPr id="46089" name="AutoShape 10"/>
          <p:cNvSpPr>
            <a:spLocks noChangeArrowheads="1"/>
          </p:cNvSpPr>
          <p:nvPr/>
        </p:nvSpPr>
        <p:spPr bwMode="auto">
          <a:xfrm>
            <a:off x="7353300" y="1571625"/>
            <a:ext cx="258763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46090" name="AutoShape 11"/>
          <p:cNvSpPr>
            <a:spLocks noChangeArrowheads="1"/>
          </p:cNvSpPr>
          <p:nvPr/>
        </p:nvSpPr>
        <p:spPr bwMode="auto">
          <a:xfrm>
            <a:off x="6692900" y="2533650"/>
            <a:ext cx="1571625" cy="474663"/>
          </a:xfrm>
          <a:prstGeom prst="flowChartProcess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定形尺寸</a:t>
            </a:r>
          </a:p>
        </p:txBody>
      </p:sp>
      <p:sp>
        <p:nvSpPr>
          <p:cNvPr id="46091" name="AutoShape 12"/>
          <p:cNvSpPr>
            <a:spLocks noChangeArrowheads="1"/>
          </p:cNvSpPr>
          <p:nvPr/>
        </p:nvSpPr>
        <p:spPr bwMode="auto">
          <a:xfrm>
            <a:off x="7354888" y="2295525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49869" name="AutoShape 13"/>
          <p:cNvSpPr>
            <a:spLocks noChangeArrowheads="1"/>
          </p:cNvSpPr>
          <p:nvPr/>
        </p:nvSpPr>
        <p:spPr bwMode="auto">
          <a:xfrm>
            <a:off x="6002338" y="1822450"/>
            <a:ext cx="593725" cy="1208088"/>
          </a:xfrm>
          <a:prstGeom prst="rightArrowCallout">
            <a:avLst>
              <a:gd name="adj1" fmla="val 50869"/>
              <a:gd name="adj2" fmla="val 50869"/>
              <a:gd name="adj3" fmla="val 16667"/>
              <a:gd name="adj4" fmla="val 66667"/>
            </a:avLst>
          </a:prstGeom>
          <a:noFill/>
          <a:ln w="38100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latin typeface="黑体" pitchFamily="2" charset="-122"/>
                <a:ea typeface="黑体" pitchFamily="2" charset="-122"/>
              </a:rPr>
              <a:t>形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latin typeface="黑体" pitchFamily="2" charset="-122"/>
                <a:ea typeface="黑体" pitchFamily="2" charset="-122"/>
              </a:rPr>
              <a:t>体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100">
                <a:solidFill>
                  <a:srgbClr val="FF0066"/>
                </a:solidFill>
              </a:rPr>
              <a:t>III</a:t>
            </a:r>
          </a:p>
        </p:txBody>
      </p:sp>
      <p:grpSp>
        <p:nvGrpSpPr>
          <p:cNvPr id="46093" name="Group 14"/>
          <p:cNvGrpSpPr>
            <a:grpSpLocks/>
          </p:cNvGrpSpPr>
          <p:nvPr/>
        </p:nvGrpSpPr>
        <p:grpSpPr bwMode="auto">
          <a:xfrm>
            <a:off x="115888" y="2427288"/>
            <a:ext cx="1114425" cy="830262"/>
            <a:chOff x="288" y="1529"/>
            <a:chExt cx="702" cy="523"/>
          </a:xfrm>
        </p:grpSpPr>
        <p:grpSp>
          <p:nvGrpSpPr>
            <p:cNvPr id="46129" name="Group 15"/>
            <p:cNvGrpSpPr>
              <a:grpSpLocks/>
            </p:cNvGrpSpPr>
            <p:nvPr/>
          </p:nvGrpSpPr>
          <p:grpSpPr bwMode="auto">
            <a:xfrm>
              <a:off x="288" y="1529"/>
              <a:ext cx="671" cy="489"/>
              <a:chOff x="209" y="1227"/>
              <a:chExt cx="671" cy="489"/>
            </a:xfrm>
          </p:grpSpPr>
          <p:sp>
            <p:nvSpPr>
              <p:cNvPr id="46131" name="Line 16"/>
              <p:cNvSpPr>
                <a:spLocks noChangeShapeType="1"/>
              </p:cNvSpPr>
              <p:nvPr/>
            </p:nvSpPr>
            <p:spPr bwMode="auto">
              <a:xfrm flipH="1" flipV="1">
                <a:off x="387" y="1475"/>
                <a:ext cx="493" cy="241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73" name="Text Box 17"/>
              <p:cNvSpPr txBox="1">
                <a:spLocks noChangeArrowheads="1"/>
              </p:cNvSpPr>
              <p:nvPr/>
            </p:nvSpPr>
            <p:spPr bwMode="auto">
              <a:xfrm>
                <a:off x="209" y="122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1</a:t>
                </a:r>
              </a:p>
            </p:txBody>
          </p:sp>
        </p:grpSp>
        <p:sp>
          <p:nvSpPr>
            <p:cNvPr id="46130" name="Oval 18"/>
            <p:cNvSpPr>
              <a:spLocks noChangeArrowheads="1"/>
            </p:cNvSpPr>
            <p:nvPr/>
          </p:nvSpPr>
          <p:spPr bwMode="auto">
            <a:xfrm>
              <a:off x="917" y="198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122238" y="1225550"/>
            <a:ext cx="1393825" cy="912813"/>
            <a:chOff x="282" y="817"/>
            <a:chExt cx="878" cy="575"/>
          </a:xfrm>
        </p:grpSpPr>
        <p:grpSp>
          <p:nvGrpSpPr>
            <p:cNvPr id="46125" name="Group 20"/>
            <p:cNvGrpSpPr>
              <a:grpSpLocks/>
            </p:cNvGrpSpPr>
            <p:nvPr/>
          </p:nvGrpSpPr>
          <p:grpSpPr bwMode="auto">
            <a:xfrm>
              <a:off x="282" y="817"/>
              <a:ext cx="830" cy="531"/>
              <a:chOff x="282" y="817"/>
              <a:chExt cx="830" cy="531"/>
            </a:xfrm>
          </p:grpSpPr>
          <p:sp>
            <p:nvSpPr>
              <p:cNvPr id="249877" name="Text Box 21"/>
              <p:cNvSpPr txBox="1">
                <a:spLocks noChangeArrowheads="1"/>
              </p:cNvSpPr>
              <p:nvPr/>
            </p:nvSpPr>
            <p:spPr bwMode="auto">
              <a:xfrm>
                <a:off x="282" y="81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3</a:t>
                </a:r>
              </a:p>
            </p:txBody>
          </p:sp>
          <p:sp>
            <p:nvSpPr>
              <p:cNvPr id="46128" name="Line 22"/>
              <p:cNvSpPr>
                <a:spLocks noChangeShapeType="1"/>
              </p:cNvSpPr>
              <p:nvPr/>
            </p:nvSpPr>
            <p:spPr bwMode="auto">
              <a:xfrm flipH="1" flipV="1">
                <a:off x="505" y="1079"/>
                <a:ext cx="607" cy="269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6126" name="Oval 23"/>
            <p:cNvSpPr>
              <a:spLocks noChangeArrowheads="1"/>
            </p:cNvSpPr>
            <p:nvPr/>
          </p:nvSpPr>
          <p:spPr bwMode="auto">
            <a:xfrm>
              <a:off x="1087" y="132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249880" name="AutoShape 24"/>
          <p:cNvSpPr>
            <a:spLocks noChangeArrowheads="1"/>
          </p:cNvSpPr>
          <p:nvPr/>
        </p:nvSpPr>
        <p:spPr bwMode="auto">
          <a:xfrm>
            <a:off x="6954838" y="3282950"/>
            <a:ext cx="811212" cy="706438"/>
          </a:xfrm>
          <a:prstGeom prst="flowChartMultidocumen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通孔</a:t>
            </a:r>
          </a:p>
        </p:txBody>
      </p:sp>
      <p:sp>
        <p:nvSpPr>
          <p:cNvPr id="249881" name="AutoShape 25"/>
          <p:cNvSpPr>
            <a:spLocks noChangeArrowheads="1"/>
          </p:cNvSpPr>
          <p:nvPr/>
        </p:nvSpPr>
        <p:spPr bwMode="auto">
          <a:xfrm flipH="1">
            <a:off x="6616700" y="3451225"/>
            <a:ext cx="336550" cy="241300"/>
          </a:xfrm>
          <a:prstGeom prst="leftArrow">
            <a:avLst>
              <a:gd name="adj1" fmla="val 50000"/>
              <a:gd name="adj2" fmla="val 34868"/>
            </a:avLst>
          </a:prstGeom>
          <a:solidFill>
            <a:srgbClr val="2010F6"/>
          </a:solidFill>
          <a:ln w="0">
            <a:solidFill>
              <a:srgbClr val="0000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49882" name="AutoShape 26"/>
          <p:cNvSpPr>
            <a:spLocks noChangeArrowheads="1"/>
          </p:cNvSpPr>
          <p:nvPr/>
        </p:nvSpPr>
        <p:spPr bwMode="auto">
          <a:xfrm>
            <a:off x="5784850" y="3276600"/>
            <a:ext cx="811213" cy="706438"/>
          </a:xfrm>
          <a:prstGeom prst="flowChartMultidocumen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竖板</a:t>
            </a:r>
          </a:p>
        </p:txBody>
      </p:sp>
      <p:sp>
        <p:nvSpPr>
          <p:cNvPr id="249883" name="AutoShape 27"/>
          <p:cNvSpPr>
            <a:spLocks noChangeArrowheads="1"/>
          </p:cNvSpPr>
          <p:nvPr/>
        </p:nvSpPr>
        <p:spPr bwMode="auto">
          <a:xfrm>
            <a:off x="6056313" y="3040063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FF"/>
          </a:solidFill>
          <a:ln w="0">
            <a:solidFill>
              <a:srgbClr val="0000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5627688" y="4011613"/>
            <a:ext cx="1063625" cy="355600"/>
            <a:chOff x="4210" y="2527"/>
            <a:chExt cx="845" cy="316"/>
          </a:xfrm>
        </p:grpSpPr>
        <p:sp>
          <p:nvSpPr>
            <p:cNvPr id="46121" name="AutoShape 29"/>
            <p:cNvSpPr>
              <a:spLocks noChangeArrowheads="1"/>
            </p:cNvSpPr>
            <p:nvPr/>
          </p:nvSpPr>
          <p:spPr bwMode="auto">
            <a:xfrm>
              <a:off x="4539" y="2527"/>
              <a:ext cx="179" cy="158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46122" name="Rectangle 30"/>
            <p:cNvSpPr>
              <a:spLocks noChangeArrowheads="1"/>
            </p:cNvSpPr>
            <p:nvPr/>
          </p:nvSpPr>
          <p:spPr bwMode="auto">
            <a:xfrm>
              <a:off x="4255" y="2646"/>
              <a:ext cx="755" cy="76"/>
            </a:xfrm>
            <a:prstGeom prst="rect">
              <a:avLst/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46123" name="AutoShape 31"/>
            <p:cNvSpPr>
              <a:spLocks noChangeArrowheads="1"/>
            </p:cNvSpPr>
            <p:nvPr/>
          </p:nvSpPr>
          <p:spPr bwMode="auto">
            <a:xfrm>
              <a:off x="4210" y="2722"/>
              <a:ext cx="179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46124" name="AutoShape 32"/>
            <p:cNvSpPr>
              <a:spLocks noChangeArrowheads="1"/>
            </p:cNvSpPr>
            <p:nvPr/>
          </p:nvSpPr>
          <p:spPr bwMode="auto">
            <a:xfrm>
              <a:off x="4876" y="2723"/>
              <a:ext cx="179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249889" name="Rectangle 33"/>
          <p:cNvSpPr>
            <a:spLocks noChangeArrowheads="1"/>
          </p:cNvSpPr>
          <p:nvPr/>
        </p:nvSpPr>
        <p:spPr bwMode="auto">
          <a:xfrm>
            <a:off x="5521325" y="4378325"/>
            <a:ext cx="439738" cy="838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定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位</a:t>
            </a:r>
          </a:p>
        </p:txBody>
      </p:sp>
      <p:sp>
        <p:nvSpPr>
          <p:cNvPr id="249890" name="Rectangle 34"/>
          <p:cNvSpPr>
            <a:spLocks noChangeArrowheads="1"/>
          </p:cNvSpPr>
          <p:nvPr/>
        </p:nvSpPr>
        <p:spPr bwMode="auto">
          <a:xfrm>
            <a:off x="6356350" y="4379913"/>
            <a:ext cx="439738" cy="838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定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形</a:t>
            </a:r>
          </a:p>
        </p:txBody>
      </p:sp>
      <p:grpSp>
        <p:nvGrpSpPr>
          <p:cNvPr id="7" name="Group 35"/>
          <p:cNvGrpSpPr>
            <a:grpSpLocks/>
          </p:cNvGrpSpPr>
          <p:nvPr/>
        </p:nvGrpSpPr>
        <p:grpSpPr bwMode="auto">
          <a:xfrm>
            <a:off x="7073900" y="4013200"/>
            <a:ext cx="1063625" cy="355600"/>
            <a:chOff x="4210" y="2527"/>
            <a:chExt cx="845" cy="316"/>
          </a:xfrm>
        </p:grpSpPr>
        <p:sp>
          <p:nvSpPr>
            <p:cNvPr id="46117" name="AutoShape 36"/>
            <p:cNvSpPr>
              <a:spLocks noChangeArrowheads="1"/>
            </p:cNvSpPr>
            <p:nvPr/>
          </p:nvSpPr>
          <p:spPr bwMode="auto">
            <a:xfrm>
              <a:off x="4539" y="2527"/>
              <a:ext cx="179" cy="158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46118" name="Rectangle 37"/>
            <p:cNvSpPr>
              <a:spLocks noChangeArrowheads="1"/>
            </p:cNvSpPr>
            <p:nvPr/>
          </p:nvSpPr>
          <p:spPr bwMode="auto">
            <a:xfrm>
              <a:off x="4255" y="2646"/>
              <a:ext cx="755" cy="76"/>
            </a:xfrm>
            <a:prstGeom prst="rect">
              <a:avLst/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46119" name="AutoShape 38"/>
            <p:cNvSpPr>
              <a:spLocks noChangeArrowheads="1"/>
            </p:cNvSpPr>
            <p:nvPr/>
          </p:nvSpPr>
          <p:spPr bwMode="auto">
            <a:xfrm>
              <a:off x="4210" y="2722"/>
              <a:ext cx="179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46120" name="AutoShape 39"/>
            <p:cNvSpPr>
              <a:spLocks noChangeArrowheads="1"/>
            </p:cNvSpPr>
            <p:nvPr/>
          </p:nvSpPr>
          <p:spPr bwMode="auto">
            <a:xfrm>
              <a:off x="4876" y="2723"/>
              <a:ext cx="179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249896" name="Rectangle 40"/>
          <p:cNvSpPr>
            <a:spLocks noChangeArrowheads="1"/>
          </p:cNvSpPr>
          <p:nvPr/>
        </p:nvSpPr>
        <p:spPr bwMode="auto">
          <a:xfrm>
            <a:off x="6967538" y="4379913"/>
            <a:ext cx="439737" cy="838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定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位</a:t>
            </a:r>
          </a:p>
        </p:txBody>
      </p:sp>
      <p:sp>
        <p:nvSpPr>
          <p:cNvPr id="249897" name="Rectangle 41"/>
          <p:cNvSpPr>
            <a:spLocks noChangeArrowheads="1"/>
          </p:cNvSpPr>
          <p:nvPr/>
        </p:nvSpPr>
        <p:spPr bwMode="auto">
          <a:xfrm>
            <a:off x="7802563" y="4381500"/>
            <a:ext cx="439737" cy="838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定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形</a:t>
            </a:r>
          </a:p>
        </p:txBody>
      </p:sp>
      <p:graphicFrame>
        <p:nvGraphicFramePr>
          <p:cNvPr id="249898" name="Object 42"/>
          <p:cNvGraphicFramePr>
            <a:graphicFrameLocks noChangeAspect="1"/>
          </p:cNvGraphicFramePr>
          <p:nvPr/>
        </p:nvGraphicFramePr>
        <p:xfrm>
          <a:off x="1689100" y="879475"/>
          <a:ext cx="111760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AutoCAD Drawing" r:id="rId3" imgW="11487150" imgH="7848600" progId="AutoCAD.Drawing.16">
                  <p:embed/>
                </p:oleObj>
              </mc:Choice>
              <mc:Fallback>
                <p:oleObj name="AutoCAD Drawing" r:id="rId3" imgW="11487150" imgH="7848600" progId="AutoCAD.Drawing.16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3618" t="1643" r="52011" b="81177"/>
                      <a:stretch>
                        <a:fillRect/>
                      </a:stretch>
                    </p:blipFill>
                    <p:spPr bwMode="auto">
                      <a:xfrm>
                        <a:off x="1689100" y="879475"/>
                        <a:ext cx="111760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99" name="Object 43"/>
          <p:cNvGraphicFramePr>
            <a:graphicFrameLocks noChangeAspect="1"/>
          </p:cNvGraphicFramePr>
          <p:nvPr/>
        </p:nvGraphicFramePr>
        <p:xfrm>
          <a:off x="3884613" y="790575"/>
          <a:ext cx="10223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AutoCAD Drawing" r:id="rId5" imgW="11487150" imgH="7848600" progId="AutoCAD.Drawing.16">
                  <p:embed/>
                </p:oleObj>
              </mc:Choice>
              <mc:Fallback>
                <p:oleObj name="AutoCAD Drawing" r:id="rId5" imgW="11487150" imgH="7848600" progId="AutoCAD.Drawing.16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1787" r="25067" b="92053"/>
                      <a:stretch>
                        <a:fillRect/>
                      </a:stretch>
                    </p:blipFill>
                    <p:spPr bwMode="auto">
                      <a:xfrm>
                        <a:off x="3884613" y="790575"/>
                        <a:ext cx="10223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3776663" y="1376363"/>
            <a:ext cx="488950" cy="741362"/>
            <a:chOff x="2379" y="867"/>
            <a:chExt cx="308" cy="467"/>
          </a:xfrm>
        </p:grpSpPr>
        <p:graphicFrame>
          <p:nvGraphicFramePr>
            <p:cNvPr id="46115" name="Object 45"/>
            <p:cNvGraphicFramePr>
              <a:graphicFrameLocks noChangeAspect="1"/>
            </p:cNvGraphicFramePr>
            <p:nvPr/>
          </p:nvGraphicFramePr>
          <p:xfrm>
            <a:off x="2466" y="867"/>
            <a:ext cx="221" cy="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6" name="AutoCAD Drawing" r:id="rId7" imgW="11487150" imgH="7848600" progId="AutoCAD.Drawing.16">
                    <p:embed/>
                  </p:oleObj>
                </mc:Choice>
                <mc:Fallback>
                  <p:oleObj name="AutoCAD Drawing" r:id="rId7" imgW="11487150" imgH="7848600" progId="AutoCAD.Drawing.16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62442" t="10875" r="33047" b="75172"/>
                        <a:stretch>
                          <a:fillRect/>
                        </a:stretch>
                      </p:blipFill>
                      <p:spPr bwMode="auto">
                        <a:xfrm>
                          <a:off x="2466" y="867"/>
                          <a:ext cx="221" cy="4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16" name="Text Box 46"/>
            <p:cNvSpPr txBox="1">
              <a:spLocks noChangeArrowheads="1"/>
            </p:cNvSpPr>
            <p:nvPr/>
          </p:nvSpPr>
          <p:spPr bwMode="auto">
            <a:xfrm rot="-5400000">
              <a:off x="2344" y="1008"/>
              <a:ext cx="27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500">
                  <a:solidFill>
                    <a:srgbClr val="F31313"/>
                  </a:solidFill>
                  <a:latin typeface="ISOCPEUR" pitchFamily="34" charset="0"/>
                  <a:sym typeface="Symbol" pitchFamily="18" charset="2"/>
                </a:rPr>
                <a:t></a:t>
              </a:r>
              <a:r>
                <a:rPr lang="en-US" altLang="zh-CN" sz="1500" i="1">
                  <a:solidFill>
                    <a:srgbClr val="F31313"/>
                  </a:solidFill>
                  <a:latin typeface="ISOCPEUR" pitchFamily="34" charset="0"/>
                </a:rPr>
                <a:t>5</a:t>
              </a:r>
              <a:endParaRPr lang="en-US" altLang="zh-CN" sz="1500">
                <a:solidFill>
                  <a:srgbClr val="F31313"/>
                </a:solidFill>
                <a:latin typeface="ISOCPEUR" pitchFamily="34" charset="0"/>
              </a:endParaRPr>
            </a:p>
          </p:txBody>
        </p:sp>
      </p:grpSp>
      <p:graphicFrame>
        <p:nvGraphicFramePr>
          <p:cNvPr id="249903" name="Object 47"/>
          <p:cNvGraphicFramePr>
            <a:graphicFrameLocks noChangeAspect="1"/>
          </p:cNvGraphicFramePr>
          <p:nvPr/>
        </p:nvGraphicFramePr>
        <p:xfrm>
          <a:off x="2295525" y="1682750"/>
          <a:ext cx="1333500" cy="176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name="AutoCAD Drawing" r:id="rId9" imgW="11487150" imgH="7848600" progId="AutoCAD.Drawing.16">
                  <p:embed/>
                </p:oleObj>
              </mc:Choice>
              <mc:Fallback>
                <p:oleObj name="AutoCAD Drawing" r:id="rId9" imgW="11487150" imgH="7848600" progId="AutoCAD.Drawing.16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1151" t="16731" r="41702" b="50015"/>
                      <a:stretch>
                        <a:fillRect/>
                      </a:stretch>
                    </p:blipFill>
                    <p:spPr bwMode="auto">
                      <a:xfrm>
                        <a:off x="2295525" y="1682750"/>
                        <a:ext cx="1333500" cy="176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904" name="Object 48"/>
          <p:cNvGraphicFramePr>
            <a:graphicFrameLocks noChangeAspect="1"/>
          </p:cNvGraphicFramePr>
          <p:nvPr/>
        </p:nvGraphicFramePr>
        <p:xfrm>
          <a:off x="2284413" y="1698625"/>
          <a:ext cx="1003300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AutoCAD Drawing" r:id="rId11" imgW="11487150" imgH="7848600" progId="AutoCAD.Drawing.16">
                  <p:embed/>
                </p:oleObj>
              </mc:Choice>
              <mc:Fallback>
                <p:oleObj name="AutoCAD Drawing" r:id="rId11" imgW="11487150" imgH="7848600" progId="AutoCAD.Drawing.16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1273" t="17030" r="45825" b="56020"/>
                      <a:stretch>
                        <a:fillRect/>
                      </a:stretch>
                    </p:blipFill>
                    <p:spPr bwMode="auto">
                      <a:xfrm>
                        <a:off x="2284413" y="1698625"/>
                        <a:ext cx="1003300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110" name="Group 49"/>
          <p:cNvGrpSpPr>
            <a:grpSpLocks/>
          </p:cNvGrpSpPr>
          <p:nvPr/>
        </p:nvGrpSpPr>
        <p:grpSpPr bwMode="auto">
          <a:xfrm>
            <a:off x="568325" y="1114425"/>
            <a:ext cx="5129213" cy="4994275"/>
            <a:chOff x="358" y="702"/>
            <a:chExt cx="3231" cy="3146"/>
          </a:xfrm>
        </p:grpSpPr>
        <p:graphicFrame>
          <p:nvGraphicFramePr>
            <p:cNvPr id="46111" name="Object 50"/>
            <p:cNvGraphicFramePr>
              <a:graphicFrameLocks noChangeAspect="1"/>
            </p:cNvGraphicFramePr>
            <p:nvPr/>
          </p:nvGraphicFramePr>
          <p:xfrm>
            <a:off x="358" y="702"/>
            <a:ext cx="3231" cy="3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9" name="AutoCAD Drawing" r:id="rId13" imgW="11487150" imgH="7848600" progId="AutoCAD.Drawing.16">
                    <p:embed/>
                  </p:oleObj>
                </mc:Choice>
                <mc:Fallback>
                  <p:oleObj name="AutoCAD Drawing" r:id="rId13" imgW="11487150" imgH="7848600" progId="AutoCAD.Drawing.16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9188" t="6006" r="14861"/>
                        <a:stretch>
                          <a:fillRect/>
                        </a:stretch>
                      </p:blipFill>
                      <p:spPr bwMode="auto">
                        <a:xfrm>
                          <a:off x="358" y="702"/>
                          <a:ext cx="3231" cy="3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6112" name="Group 51"/>
            <p:cNvGrpSpPr>
              <a:grpSpLocks/>
            </p:cNvGrpSpPr>
            <p:nvPr/>
          </p:nvGrpSpPr>
          <p:grpSpPr bwMode="auto">
            <a:xfrm>
              <a:off x="1482" y="1466"/>
              <a:ext cx="947" cy="192"/>
              <a:chOff x="3570" y="3314"/>
              <a:chExt cx="947" cy="192"/>
            </a:xfrm>
          </p:grpSpPr>
          <p:sp>
            <p:nvSpPr>
              <p:cNvPr id="46113" name="Text Box 52"/>
              <p:cNvSpPr txBox="1">
                <a:spLocks noChangeArrowheads="1"/>
              </p:cNvSpPr>
              <p:nvPr/>
            </p:nvSpPr>
            <p:spPr bwMode="auto">
              <a:xfrm>
                <a:off x="3570" y="3314"/>
                <a:ext cx="947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300" i="1">
                    <a:latin typeface="ISOCPEUR" pitchFamily="34" charset="0"/>
                  </a:rPr>
                  <a:t>4X</a:t>
                </a:r>
                <a:r>
                  <a:rPr lang="en-US" altLang="zh-CN" sz="1300" b="0" i="1">
                    <a:latin typeface="ISOCPEUR" pitchFamily="34" charset="0"/>
                  </a:rPr>
                  <a:t>   </a:t>
                </a:r>
                <a:r>
                  <a:rPr lang="en-US" altLang="zh-CN" sz="1300" i="1">
                    <a:latin typeface="ISOCPEUR" pitchFamily="34" charset="0"/>
                    <a:sym typeface="Technic" pitchFamily="2" charset="2"/>
                  </a:rPr>
                  <a:t>2</a:t>
                </a:r>
              </a:p>
            </p:txBody>
          </p:sp>
          <p:sp>
            <p:nvSpPr>
              <p:cNvPr id="46114" name="Text Box 53"/>
              <p:cNvSpPr txBox="1">
                <a:spLocks noChangeArrowheads="1"/>
              </p:cNvSpPr>
              <p:nvPr/>
            </p:nvSpPr>
            <p:spPr bwMode="auto">
              <a:xfrm rot="-839945">
                <a:off x="3724" y="3323"/>
                <a:ext cx="242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300">
                    <a:latin typeface="ISOCPEUR" pitchFamily="34" charset="0"/>
                    <a:sym typeface="Symbol" pitchFamily="18" charset="2"/>
                  </a:rPr>
                  <a:t> 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49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4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4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49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49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4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49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9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9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4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4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49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58" grpId="0" animBg="1"/>
      <p:bldP spid="249859" grpId="0" animBg="1"/>
      <p:bldP spid="249869" grpId="0" animBg="1" autoUpdateAnimBg="0"/>
      <p:bldP spid="249880" grpId="0" animBg="1" autoUpdateAnimBg="0"/>
      <p:bldP spid="249881" grpId="0" animBg="1"/>
      <p:bldP spid="249882" grpId="0" animBg="1" autoUpdateAnimBg="0"/>
      <p:bldP spid="249883" grpId="0" animBg="1"/>
      <p:bldP spid="249889" grpId="0" animBg="1" autoUpdateAnimBg="0"/>
      <p:bldP spid="249890" grpId="0" animBg="1" autoUpdateAnimBg="0"/>
      <p:bldP spid="249896" grpId="0" animBg="1" autoUpdateAnimBg="0"/>
      <p:bldP spid="249897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05A1C277-87B7-433D-9EEE-262103A96D24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30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50882" name="Rectangle 2"/>
          <p:cNvSpPr>
            <a:spLocks noChangeArrowheads="1"/>
          </p:cNvSpPr>
          <p:nvPr/>
        </p:nvSpPr>
        <p:spPr bwMode="auto">
          <a:xfrm>
            <a:off x="2959100" y="2828925"/>
            <a:ext cx="327025" cy="906463"/>
          </a:xfrm>
          <a:prstGeom prst="rect">
            <a:avLst/>
          </a:prstGeom>
          <a:solidFill>
            <a:srgbClr val="F313DE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0883" name="Rectangle 3"/>
          <p:cNvSpPr>
            <a:spLocks noChangeArrowheads="1"/>
          </p:cNvSpPr>
          <p:nvPr/>
        </p:nvSpPr>
        <p:spPr bwMode="auto">
          <a:xfrm>
            <a:off x="3908425" y="828675"/>
            <a:ext cx="1017588" cy="301625"/>
          </a:xfrm>
          <a:prstGeom prst="rect">
            <a:avLst/>
          </a:prstGeom>
          <a:solidFill>
            <a:srgbClr val="F313DE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0884" name="Rectangle 4"/>
          <p:cNvSpPr>
            <a:spLocks noChangeArrowheads="1"/>
          </p:cNvSpPr>
          <p:nvPr/>
        </p:nvSpPr>
        <p:spPr bwMode="auto">
          <a:xfrm>
            <a:off x="2873375" y="766763"/>
            <a:ext cx="2120900" cy="30035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0887" name="AutoShape 7"/>
          <p:cNvSpPr>
            <a:spLocks noChangeArrowheads="1"/>
          </p:cNvSpPr>
          <p:nvPr/>
        </p:nvSpPr>
        <p:spPr bwMode="auto">
          <a:xfrm>
            <a:off x="6200775" y="1822450"/>
            <a:ext cx="593725" cy="1208088"/>
          </a:xfrm>
          <a:prstGeom prst="rightArrowCallout">
            <a:avLst>
              <a:gd name="adj1" fmla="val 50869"/>
              <a:gd name="adj2" fmla="val 50869"/>
              <a:gd name="adj3" fmla="val 16667"/>
              <a:gd name="adj4" fmla="val 66667"/>
            </a:avLst>
          </a:prstGeom>
          <a:noFill/>
          <a:ln w="38100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latin typeface="黑体" pitchFamily="2" charset="-122"/>
                <a:ea typeface="黑体" pitchFamily="2" charset="-122"/>
              </a:rPr>
              <a:t>形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latin typeface="黑体" pitchFamily="2" charset="-122"/>
                <a:ea typeface="黑体" pitchFamily="2" charset="-122"/>
              </a:rPr>
              <a:t>体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FF0066"/>
                </a:solidFill>
              </a:rPr>
              <a:t>II</a:t>
            </a:r>
            <a:endParaRPr lang="en-US" altLang="zh-CN" sz="2400">
              <a:solidFill>
                <a:srgbClr val="FF0066"/>
              </a:solidFill>
              <a:ea typeface="黑体" pitchFamily="2" charset="-122"/>
            </a:endParaRPr>
          </a:p>
        </p:txBody>
      </p:sp>
      <p:grpSp>
        <p:nvGrpSpPr>
          <p:cNvPr id="47111" name="Group 8"/>
          <p:cNvGrpSpPr>
            <a:grpSpLocks/>
          </p:cNvGrpSpPr>
          <p:nvPr/>
        </p:nvGrpSpPr>
        <p:grpSpPr bwMode="auto">
          <a:xfrm>
            <a:off x="115888" y="2427288"/>
            <a:ext cx="1114425" cy="830262"/>
            <a:chOff x="288" y="1529"/>
            <a:chExt cx="702" cy="523"/>
          </a:xfrm>
        </p:grpSpPr>
        <p:grpSp>
          <p:nvGrpSpPr>
            <p:cNvPr id="47145" name="Group 9"/>
            <p:cNvGrpSpPr>
              <a:grpSpLocks/>
            </p:cNvGrpSpPr>
            <p:nvPr/>
          </p:nvGrpSpPr>
          <p:grpSpPr bwMode="auto">
            <a:xfrm>
              <a:off x="288" y="1529"/>
              <a:ext cx="671" cy="489"/>
              <a:chOff x="209" y="1227"/>
              <a:chExt cx="671" cy="489"/>
            </a:xfrm>
          </p:grpSpPr>
          <p:sp>
            <p:nvSpPr>
              <p:cNvPr id="47147" name="Line 10"/>
              <p:cNvSpPr>
                <a:spLocks noChangeShapeType="1"/>
              </p:cNvSpPr>
              <p:nvPr/>
            </p:nvSpPr>
            <p:spPr bwMode="auto">
              <a:xfrm flipH="1" flipV="1">
                <a:off x="387" y="1475"/>
                <a:ext cx="493" cy="241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0891" name="Text Box 11"/>
              <p:cNvSpPr txBox="1">
                <a:spLocks noChangeArrowheads="1"/>
              </p:cNvSpPr>
              <p:nvPr/>
            </p:nvSpPr>
            <p:spPr bwMode="auto">
              <a:xfrm>
                <a:off x="209" y="122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1</a:t>
                </a:r>
              </a:p>
            </p:txBody>
          </p:sp>
        </p:grpSp>
        <p:sp>
          <p:nvSpPr>
            <p:cNvPr id="47146" name="Oval 12"/>
            <p:cNvSpPr>
              <a:spLocks noChangeArrowheads="1"/>
            </p:cNvSpPr>
            <p:nvPr/>
          </p:nvSpPr>
          <p:spPr bwMode="auto">
            <a:xfrm>
              <a:off x="917" y="198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117475" y="1778000"/>
            <a:ext cx="1647825" cy="893763"/>
            <a:chOff x="289" y="1220"/>
            <a:chExt cx="1038" cy="563"/>
          </a:xfrm>
        </p:grpSpPr>
        <p:grpSp>
          <p:nvGrpSpPr>
            <p:cNvPr id="47141" name="Group 14"/>
            <p:cNvGrpSpPr>
              <a:grpSpLocks/>
            </p:cNvGrpSpPr>
            <p:nvPr/>
          </p:nvGrpSpPr>
          <p:grpSpPr bwMode="auto">
            <a:xfrm>
              <a:off x="289" y="1220"/>
              <a:ext cx="1014" cy="526"/>
              <a:chOff x="289" y="1155"/>
              <a:chExt cx="1014" cy="526"/>
            </a:xfrm>
          </p:grpSpPr>
          <p:sp>
            <p:nvSpPr>
              <p:cNvPr id="47143" name="Line 15"/>
              <p:cNvSpPr>
                <a:spLocks noChangeShapeType="1"/>
              </p:cNvSpPr>
              <p:nvPr/>
            </p:nvSpPr>
            <p:spPr bwMode="auto">
              <a:xfrm flipH="1" flipV="1">
                <a:off x="507" y="1418"/>
                <a:ext cx="796" cy="263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0896" name="Text Box 16"/>
              <p:cNvSpPr txBox="1">
                <a:spLocks noChangeArrowheads="1"/>
              </p:cNvSpPr>
              <p:nvPr/>
            </p:nvSpPr>
            <p:spPr bwMode="auto">
              <a:xfrm>
                <a:off x="289" y="1155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2</a:t>
                </a:r>
              </a:p>
            </p:txBody>
          </p:sp>
        </p:grpSp>
        <p:sp>
          <p:nvSpPr>
            <p:cNvPr id="47142" name="Oval 17"/>
            <p:cNvSpPr>
              <a:spLocks noChangeArrowheads="1"/>
            </p:cNvSpPr>
            <p:nvPr/>
          </p:nvSpPr>
          <p:spPr bwMode="auto">
            <a:xfrm>
              <a:off x="1254" y="1711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47113" name="AutoShape 18"/>
          <p:cNvSpPr>
            <a:spLocks noChangeArrowheads="1"/>
          </p:cNvSpPr>
          <p:nvPr/>
        </p:nvSpPr>
        <p:spPr bwMode="auto">
          <a:xfrm>
            <a:off x="6892925" y="361950"/>
            <a:ext cx="1571625" cy="474663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形体分析</a:t>
            </a:r>
          </a:p>
        </p:txBody>
      </p:sp>
      <p:sp>
        <p:nvSpPr>
          <p:cNvPr id="47114" name="AutoShape 19"/>
          <p:cNvSpPr>
            <a:spLocks noChangeArrowheads="1"/>
          </p:cNvSpPr>
          <p:nvPr/>
        </p:nvSpPr>
        <p:spPr bwMode="auto">
          <a:xfrm>
            <a:off x="6900863" y="1077913"/>
            <a:ext cx="1571625" cy="474662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尺寸基准</a:t>
            </a:r>
          </a:p>
        </p:txBody>
      </p:sp>
      <p:sp>
        <p:nvSpPr>
          <p:cNvPr id="47115" name="AutoShape 20"/>
          <p:cNvSpPr>
            <a:spLocks noChangeArrowheads="1"/>
          </p:cNvSpPr>
          <p:nvPr/>
        </p:nvSpPr>
        <p:spPr bwMode="auto">
          <a:xfrm>
            <a:off x="7550150" y="847725"/>
            <a:ext cx="258763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C0C0C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47116" name="AutoShape 21"/>
          <p:cNvSpPr>
            <a:spLocks noChangeArrowheads="1"/>
          </p:cNvSpPr>
          <p:nvPr/>
        </p:nvSpPr>
        <p:spPr bwMode="auto">
          <a:xfrm>
            <a:off x="6899275" y="1803400"/>
            <a:ext cx="1571625" cy="474663"/>
          </a:xfrm>
          <a:prstGeom prst="flowChartProcess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定位尺寸</a:t>
            </a:r>
          </a:p>
        </p:txBody>
      </p:sp>
      <p:sp>
        <p:nvSpPr>
          <p:cNvPr id="47117" name="AutoShape 22"/>
          <p:cNvSpPr>
            <a:spLocks noChangeArrowheads="1"/>
          </p:cNvSpPr>
          <p:nvPr/>
        </p:nvSpPr>
        <p:spPr bwMode="auto">
          <a:xfrm>
            <a:off x="7551738" y="1571625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47118" name="AutoShape 23"/>
          <p:cNvSpPr>
            <a:spLocks noChangeArrowheads="1"/>
          </p:cNvSpPr>
          <p:nvPr/>
        </p:nvSpPr>
        <p:spPr bwMode="auto">
          <a:xfrm>
            <a:off x="6891338" y="2533650"/>
            <a:ext cx="1571625" cy="474663"/>
          </a:xfrm>
          <a:prstGeom prst="flowChartProcess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定形尺寸</a:t>
            </a:r>
          </a:p>
        </p:txBody>
      </p:sp>
      <p:sp>
        <p:nvSpPr>
          <p:cNvPr id="47119" name="AutoShape 24"/>
          <p:cNvSpPr>
            <a:spLocks noChangeArrowheads="1"/>
          </p:cNvSpPr>
          <p:nvPr/>
        </p:nvSpPr>
        <p:spPr bwMode="auto">
          <a:xfrm>
            <a:off x="7553325" y="2295525"/>
            <a:ext cx="258763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47120" name="Group 25"/>
          <p:cNvGrpSpPr>
            <a:grpSpLocks/>
          </p:cNvGrpSpPr>
          <p:nvPr/>
        </p:nvGrpSpPr>
        <p:grpSpPr bwMode="auto">
          <a:xfrm>
            <a:off x="122238" y="1225550"/>
            <a:ext cx="1393825" cy="912813"/>
            <a:chOff x="282" y="817"/>
            <a:chExt cx="878" cy="575"/>
          </a:xfrm>
        </p:grpSpPr>
        <p:grpSp>
          <p:nvGrpSpPr>
            <p:cNvPr id="47137" name="Group 26"/>
            <p:cNvGrpSpPr>
              <a:grpSpLocks/>
            </p:cNvGrpSpPr>
            <p:nvPr/>
          </p:nvGrpSpPr>
          <p:grpSpPr bwMode="auto">
            <a:xfrm>
              <a:off x="282" y="817"/>
              <a:ext cx="830" cy="531"/>
              <a:chOff x="282" y="817"/>
              <a:chExt cx="830" cy="531"/>
            </a:xfrm>
          </p:grpSpPr>
          <p:sp>
            <p:nvSpPr>
              <p:cNvPr id="250907" name="Text Box 27"/>
              <p:cNvSpPr txBox="1">
                <a:spLocks noChangeArrowheads="1"/>
              </p:cNvSpPr>
              <p:nvPr/>
            </p:nvSpPr>
            <p:spPr bwMode="auto">
              <a:xfrm>
                <a:off x="282" y="81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3</a:t>
                </a:r>
              </a:p>
            </p:txBody>
          </p:sp>
          <p:sp>
            <p:nvSpPr>
              <p:cNvPr id="47140" name="Line 28"/>
              <p:cNvSpPr>
                <a:spLocks noChangeShapeType="1"/>
              </p:cNvSpPr>
              <p:nvPr/>
            </p:nvSpPr>
            <p:spPr bwMode="auto">
              <a:xfrm flipH="1" flipV="1">
                <a:off x="505" y="1079"/>
                <a:ext cx="607" cy="269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7138" name="Oval 29"/>
            <p:cNvSpPr>
              <a:spLocks noChangeArrowheads="1"/>
            </p:cNvSpPr>
            <p:nvPr/>
          </p:nvSpPr>
          <p:spPr bwMode="auto">
            <a:xfrm>
              <a:off x="1087" y="132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5865813" y="3035300"/>
            <a:ext cx="1063625" cy="355600"/>
            <a:chOff x="4210" y="2527"/>
            <a:chExt cx="845" cy="316"/>
          </a:xfrm>
        </p:grpSpPr>
        <p:sp>
          <p:nvSpPr>
            <p:cNvPr id="47133" name="AutoShape 31"/>
            <p:cNvSpPr>
              <a:spLocks noChangeArrowheads="1"/>
            </p:cNvSpPr>
            <p:nvPr/>
          </p:nvSpPr>
          <p:spPr bwMode="auto">
            <a:xfrm>
              <a:off x="4539" y="2527"/>
              <a:ext cx="179" cy="158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47134" name="Rectangle 32"/>
            <p:cNvSpPr>
              <a:spLocks noChangeArrowheads="1"/>
            </p:cNvSpPr>
            <p:nvPr/>
          </p:nvSpPr>
          <p:spPr bwMode="auto">
            <a:xfrm>
              <a:off x="4255" y="2646"/>
              <a:ext cx="755" cy="76"/>
            </a:xfrm>
            <a:prstGeom prst="rect">
              <a:avLst/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47135" name="AutoShape 33"/>
            <p:cNvSpPr>
              <a:spLocks noChangeArrowheads="1"/>
            </p:cNvSpPr>
            <p:nvPr/>
          </p:nvSpPr>
          <p:spPr bwMode="auto">
            <a:xfrm>
              <a:off x="4210" y="2722"/>
              <a:ext cx="179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47136" name="AutoShape 34"/>
            <p:cNvSpPr>
              <a:spLocks noChangeArrowheads="1"/>
            </p:cNvSpPr>
            <p:nvPr/>
          </p:nvSpPr>
          <p:spPr bwMode="auto">
            <a:xfrm>
              <a:off x="4876" y="2723"/>
              <a:ext cx="179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2010F6"/>
            </a:solidFill>
            <a:ln w="0">
              <a:solidFill>
                <a:srgbClr val="0000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250915" name="Rectangle 35"/>
          <p:cNvSpPr>
            <a:spLocks noChangeArrowheads="1"/>
          </p:cNvSpPr>
          <p:nvPr/>
        </p:nvSpPr>
        <p:spPr bwMode="auto">
          <a:xfrm>
            <a:off x="5759450" y="3409950"/>
            <a:ext cx="439738" cy="838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定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位</a:t>
            </a:r>
          </a:p>
        </p:txBody>
      </p:sp>
      <p:sp>
        <p:nvSpPr>
          <p:cNvPr id="250916" name="Rectangle 36"/>
          <p:cNvSpPr>
            <a:spLocks noChangeArrowheads="1"/>
          </p:cNvSpPr>
          <p:nvPr/>
        </p:nvSpPr>
        <p:spPr bwMode="auto">
          <a:xfrm>
            <a:off x="6594475" y="3411538"/>
            <a:ext cx="439738" cy="838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定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66"/>
                </a:solidFill>
                <a:ea typeface="黑体" pitchFamily="2" charset="-122"/>
              </a:rPr>
              <a:t>形</a:t>
            </a:r>
          </a:p>
        </p:txBody>
      </p:sp>
      <p:sp>
        <p:nvSpPr>
          <p:cNvPr id="47124" name="Text Box 38"/>
          <p:cNvSpPr txBox="1">
            <a:spLocks noChangeArrowheads="1"/>
          </p:cNvSpPr>
          <p:nvPr/>
        </p:nvSpPr>
        <p:spPr bwMode="auto">
          <a:xfrm>
            <a:off x="2368550" y="2317750"/>
            <a:ext cx="15033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i="1">
                <a:solidFill>
                  <a:srgbClr val="000000"/>
                </a:solidFill>
                <a:latin typeface="ISOCPEUR" pitchFamily="34" charset="0"/>
              </a:rPr>
              <a:t>4X</a:t>
            </a:r>
            <a:r>
              <a:rPr lang="en-US" altLang="zh-CN" sz="1400" b="0" i="1">
                <a:solidFill>
                  <a:srgbClr val="000000"/>
                </a:solidFill>
                <a:latin typeface="ISOCPEUR" pitchFamily="34" charset="0"/>
              </a:rPr>
              <a:t>   </a:t>
            </a:r>
            <a:r>
              <a:rPr lang="en-US" altLang="zh-CN" sz="1400" i="1">
                <a:solidFill>
                  <a:srgbClr val="000000"/>
                </a:solidFill>
                <a:latin typeface="ISOCPEUR" pitchFamily="34" charset="0"/>
                <a:sym typeface="Technic" pitchFamily="2" charset="2"/>
              </a:rPr>
              <a:t>2</a:t>
            </a:r>
          </a:p>
        </p:txBody>
      </p:sp>
      <p:sp>
        <p:nvSpPr>
          <p:cNvPr id="47125" name="Text Box 39"/>
          <p:cNvSpPr txBox="1">
            <a:spLocks noChangeArrowheads="1"/>
          </p:cNvSpPr>
          <p:nvPr/>
        </p:nvSpPr>
        <p:spPr bwMode="auto">
          <a:xfrm rot="-839945">
            <a:off x="2608263" y="2266950"/>
            <a:ext cx="419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</a:t>
            </a:r>
            <a:r>
              <a:rPr lang="en-US" altLang="zh-CN" sz="1800">
                <a:solidFill>
                  <a:srgbClr val="000000"/>
                </a:solidFill>
                <a:latin typeface="ISOCPEUR" pitchFamily="34" charset="0"/>
                <a:sym typeface="Symbol" pitchFamily="18" charset="2"/>
              </a:rPr>
              <a:t> </a:t>
            </a:r>
          </a:p>
        </p:txBody>
      </p:sp>
      <p:sp>
        <p:nvSpPr>
          <p:cNvPr id="250920" name="Text Box 40"/>
          <p:cNvSpPr txBox="1">
            <a:spLocks noChangeArrowheads="1"/>
          </p:cNvSpPr>
          <p:nvPr/>
        </p:nvSpPr>
        <p:spPr bwMode="auto">
          <a:xfrm rot="-5400000">
            <a:off x="3759995" y="1526381"/>
            <a:ext cx="430212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500">
                <a:latin typeface="ISOCPEUR" pitchFamily="34" charset="0"/>
                <a:sym typeface="Symbol" pitchFamily="18" charset="2"/>
              </a:rPr>
              <a:t></a:t>
            </a:r>
            <a:r>
              <a:rPr lang="en-US" altLang="zh-CN" sz="1500" i="1">
                <a:latin typeface="ISOCPEUR" pitchFamily="34" charset="0"/>
              </a:rPr>
              <a:t>5</a:t>
            </a:r>
            <a:endParaRPr lang="en-US" altLang="zh-CN" sz="1500">
              <a:latin typeface="ISOCPEUR" pitchFamily="34" charset="0"/>
            </a:endParaRPr>
          </a:p>
        </p:txBody>
      </p:sp>
      <p:grpSp>
        <p:nvGrpSpPr>
          <p:cNvPr id="9" name="Group 42"/>
          <p:cNvGrpSpPr>
            <a:grpSpLocks/>
          </p:cNvGrpSpPr>
          <p:nvPr/>
        </p:nvGrpSpPr>
        <p:grpSpPr bwMode="auto">
          <a:xfrm>
            <a:off x="1263650" y="2678113"/>
            <a:ext cx="1014413" cy="277812"/>
            <a:chOff x="796" y="1687"/>
            <a:chExt cx="639" cy="175"/>
          </a:xfrm>
        </p:grpSpPr>
        <p:pic>
          <p:nvPicPr>
            <p:cNvPr id="47131" name="Picture 43" descr="空白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6"/>
            <a:stretch>
              <a:fillRect/>
            </a:stretch>
          </p:blipFill>
          <p:spPr bwMode="auto">
            <a:xfrm>
              <a:off x="1038" y="1687"/>
              <a:ext cx="13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47132" name="Object 44"/>
            <p:cNvGraphicFramePr>
              <a:graphicFrameLocks noChangeAspect="1"/>
            </p:cNvGraphicFramePr>
            <p:nvPr/>
          </p:nvGraphicFramePr>
          <p:xfrm>
            <a:off x="796" y="1688"/>
            <a:ext cx="639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6" name="AutoCAD Drawing" r:id="rId4" imgW="11487150" imgH="7848600" progId="AutoCAD.Drawing.16">
                    <p:embed/>
                  </p:oleObj>
                </mc:Choice>
                <mc:Fallback>
                  <p:oleObj name="AutoCAD Drawing" r:id="rId4" imgW="11487150" imgH="7848600" progId="AutoCAD.Drawing.16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28067" t="31491" r="58890" b="63310"/>
                        <a:stretch>
                          <a:fillRect/>
                        </a:stretch>
                      </p:blipFill>
                      <p:spPr bwMode="auto">
                        <a:xfrm>
                          <a:off x="796" y="1688"/>
                          <a:ext cx="639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0925" name="Object 45"/>
          <p:cNvGraphicFramePr>
            <a:graphicFrameLocks noChangeAspect="1"/>
          </p:cNvGraphicFramePr>
          <p:nvPr/>
        </p:nvGraphicFramePr>
        <p:xfrm>
          <a:off x="3908425" y="2322513"/>
          <a:ext cx="720725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AutoCAD Drawing" r:id="rId6" imgW="11487150" imgH="7848600" progId="AutoCAD.Drawing.16">
                  <p:embed/>
                </p:oleObj>
              </mc:Choice>
              <mc:Fallback>
                <p:oleObj name="AutoCAD Drawing" r:id="rId6" imgW="11487150" imgH="7848600" progId="AutoCAD.Drawing.16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1891" t="28741" r="28842" b="56171"/>
                      <a:stretch>
                        <a:fillRect/>
                      </a:stretch>
                    </p:blipFill>
                    <p:spPr bwMode="auto">
                      <a:xfrm>
                        <a:off x="3908425" y="2322513"/>
                        <a:ext cx="720725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26" name="Object 46"/>
          <p:cNvGraphicFramePr>
            <a:graphicFrameLocks noChangeAspect="1"/>
          </p:cNvGraphicFramePr>
          <p:nvPr/>
        </p:nvGraphicFramePr>
        <p:xfrm>
          <a:off x="4564063" y="1979613"/>
          <a:ext cx="971550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AutoCAD Drawing" r:id="rId8" imgW="11487150" imgH="7848600" progId="AutoCAD.Drawing.16">
                  <p:embed/>
                </p:oleObj>
              </mc:Choice>
              <mc:Fallback>
                <p:oleObj name="AutoCAD Drawing" r:id="rId8" imgW="11487150" imgH="7848600" progId="AutoCAD.Drawing.16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0096" t="22885" r="17412" b="55513"/>
                      <a:stretch>
                        <a:fillRect/>
                      </a:stretch>
                    </p:blipFill>
                    <p:spPr bwMode="auto">
                      <a:xfrm>
                        <a:off x="4564063" y="1979613"/>
                        <a:ext cx="971550" cy="114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0" name="Object 47"/>
          <p:cNvGraphicFramePr>
            <a:graphicFrameLocks noChangeAspect="1"/>
          </p:cNvGraphicFramePr>
          <p:nvPr/>
        </p:nvGraphicFramePr>
        <p:xfrm>
          <a:off x="554038" y="841375"/>
          <a:ext cx="5167312" cy="504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AutoCAD Drawing" r:id="rId10" imgW="11487150" imgH="7848600" progId="AutoCAD.Drawing.16">
                  <p:embed/>
                </p:oleObj>
              </mc:Choice>
              <mc:Fallback>
                <p:oleObj name="AutoCAD Drawing" r:id="rId10" imgW="11487150" imgH="7848600" progId="AutoCAD.Drawing.16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961" t="1331" r="15074" b="4404"/>
                      <a:stretch>
                        <a:fillRect/>
                      </a:stretch>
                    </p:blipFill>
                    <p:spPr bwMode="auto">
                      <a:xfrm>
                        <a:off x="554038" y="841375"/>
                        <a:ext cx="5167312" cy="504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50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5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50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5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0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50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5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2" grpId="0" animBg="1"/>
      <p:bldP spid="250883" grpId="0" animBg="1"/>
      <p:bldP spid="250884" grpId="0" animBg="1"/>
      <p:bldP spid="250887" grpId="0" animBg="1" autoUpdateAnimBg="0"/>
      <p:bldP spid="250915" grpId="0" animBg="1" autoUpdateAnimBg="0"/>
      <p:bldP spid="250916" grpId="0" animBg="1" autoUpdateAnimBg="0"/>
      <p:bldP spid="25092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D7B1B8A4-CDF1-409A-A159-D88467592D28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31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51906" name="Rectangle 2"/>
          <p:cNvSpPr>
            <a:spLocks noChangeArrowheads="1"/>
          </p:cNvSpPr>
          <p:nvPr/>
        </p:nvSpPr>
        <p:spPr bwMode="auto">
          <a:xfrm>
            <a:off x="3286125" y="1690688"/>
            <a:ext cx="327025" cy="1733550"/>
          </a:xfrm>
          <a:prstGeom prst="rect">
            <a:avLst/>
          </a:prstGeom>
          <a:solidFill>
            <a:srgbClr val="F313DE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1907" name="Rectangle 3"/>
          <p:cNvSpPr>
            <a:spLocks noChangeArrowheads="1"/>
          </p:cNvSpPr>
          <p:nvPr/>
        </p:nvSpPr>
        <p:spPr bwMode="auto">
          <a:xfrm>
            <a:off x="2336800" y="895350"/>
            <a:ext cx="492125" cy="231775"/>
          </a:xfrm>
          <a:prstGeom prst="rect">
            <a:avLst/>
          </a:prstGeom>
          <a:solidFill>
            <a:srgbClr val="F313DE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1908" name="Rectangle 4"/>
          <p:cNvSpPr>
            <a:spLocks noChangeArrowheads="1"/>
          </p:cNvSpPr>
          <p:nvPr/>
        </p:nvSpPr>
        <p:spPr bwMode="auto">
          <a:xfrm>
            <a:off x="3330575" y="4346575"/>
            <a:ext cx="284163" cy="1404938"/>
          </a:xfrm>
          <a:prstGeom prst="rect">
            <a:avLst/>
          </a:prstGeom>
          <a:solidFill>
            <a:srgbClr val="F313DE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1909" name="Rectangle 5"/>
          <p:cNvSpPr>
            <a:spLocks noChangeArrowheads="1"/>
          </p:cNvSpPr>
          <p:nvPr/>
        </p:nvSpPr>
        <p:spPr bwMode="auto">
          <a:xfrm>
            <a:off x="603250" y="3722688"/>
            <a:ext cx="2346325" cy="233362"/>
          </a:xfrm>
          <a:prstGeom prst="rect">
            <a:avLst/>
          </a:prstGeom>
          <a:solidFill>
            <a:srgbClr val="F313DE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1910" name="Rectangle 6"/>
          <p:cNvSpPr>
            <a:spLocks noChangeArrowheads="1"/>
          </p:cNvSpPr>
          <p:nvPr/>
        </p:nvSpPr>
        <p:spPr bwMode="auto">
          <a:xfrm>
            <a:off x="577850" y="857250"/>
            <a:ext cx="3165475" cy="49942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48136" name="AutoShape 8"/>
          <p:cNvSpPr>
            <a:spLocks noChangeArrowheads="1"/>
          </p:cNvSpPr>
          <p:nvPr/>
        </p:nvSpPr>
        <p:spPr bwMode="auto">
          <a:xfrm>
            <a:off x="6883400" y="361950"/>
            <a:ext cx="1571625" cy="474663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形体分析</a:t>
            </a:r>
          </a:p>
        </p:txBody>
      </p:sp>
      <p:sp>
        <p:nvSpPr>
          <p:cNvPr id="48137" name="AutoShape 9"/>
          <p:cNvSpPr>
            <a:spLocks noChangeArrowheads="1"/>
          </p:cNvSpPr>
          <p:nvPr/>
        </p:nvSpPr>
        <p:spPr bwMode="auto">
          <a:xfrm>
            <a:off x="6891338" y="1077913"/>
            <a:ext cx="1571625" cy="474662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尺寸基准</a:t>
            </a:r>
          </a:p>
        </p:txBody>
      </p:sp>
      <p:sp>
        <p:nvSpPr>
          <p:cNvPr id="48138" name="AutoShape 10"/>
          <p:cNvSpPr>
            <a:spLocks noChangeArrowheads="1"/>
          </p:cNvSpPr>
          <p:nvPr/>
        </p:nvSpPr>
        <p:spPr bwMode="auto">
          <a:xfrm>
            <a:off x="7540625" y="847725"/>
            <a:ext cx="258763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C0C0C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48139" name="AutoShape 11"/>
          <p:cNvSpPr>
            <a:spLocks noChangeArrowheads="1"/>
          </p:cNvSpPr>
          <p:nvPr/>
        </p:nvSpPr>
        <p:spPr bwMode="auto">
          <a:xfrm>
            <a:off x="6889750" y="1811338"/>
            <a:ext cx="1571625" cy="474662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定位尺寸</a:t>
            </a:r>
          </a:p>
        </p:txBody>
      </p:sp>
      <p:sp>
        <p:nvSpPr>
          <p:cNvPr id="48140" name="AutoShape 12"/>
          <p:cNvSpPr>
            <a:spLocks noChangeArrowheads="1"/>
          </p:cNvSpPr>
          <p:nvPr/>
        </p:nvSpPr>
        <p:spPr bwMode="auto">
          <a:xfrm>
            <a:off x="6881813" y="2541588"/>
            <a:ext cx="1571625" cy="474662"/>
          </a:xfrm>
          <a:prstGeom prst="flowChartProcess">
            <a:avLst/>
          </a:prstGeom>
          <a:solidFill>
            <a:srgbClr val="C0C0C0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定形尺寸</a:t>
            </a:r>
          </a:p>
        </p:txBody>
      </p:sp>
      <p:sp>
        <p:nvSpPr>
          <p:cNvPr id="251917" name="AutoShape 13"/>
          <p:cNvSpPr>
            <a:spLocks noChangeArrowheads="1"/>
          </p:cNvSpPr>
          <p:nvPr/>
        </p:nvSpPr>
        <p:spPr bwMode="auto">
          <a:xfrm>
            <a:off x="6891338" y="3273425"/>
            <a:ext cx="1571625" cy="474663"/>
          </a:xfrm>
          <a:prstGeom prst="flowChartProcess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总体尺寸</a:t>
            </a:r>
          </a:p>
        </p:txBody>
      </p:sp>
      <p:sp>
        <p:nvSpPr>
          <p:cNvPr id="251918" name="AutoShape 14"/>
          <p:cNvSpPr>
            <a:spLocks noChangeArrowheads="1"/>
          </p:cNvSpPr>
          <p:nvPr/>
        </p:nvSpPr>
        <p:spPr bwMode="auto">
          <a:xfrm>
            <a:off x="6884988" y="3997325"/>
            <a:ext cx="1571625" cy="474663"/>
          </a:xfrm>
          <a:prstGeom prst="flowChartProcess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尺寸调整</a:t>
            </a:r>
          </a:p>
        </p:txBody>
      </p:sp>
      <p:sp>
        <p:nvSpPr>
          <p:cNvPr id="48143" name="AutoShape 15"/>
          <p:cNvSpPr>
            <a:spLocks noChangeArrowheads="1"/>
          </p:cNvSpPr>
          <p:nvPr/>
        </p:nvSpPr>
        <p:spPr bwMode="auto">
          <a:xfrm>
            <a:off x="7542213" y="1571625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C0C0C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48144" name="AutoShape 16"/>
          <p:cNvSpPr>
            <a:spLocks noChangeArrowheads="1"/>
          </p:cNvSpPr>
          <p:nvPr/>
        </p:nvSpPr>
        <p:spPr bwMode="auto">
          <a:xfrm>
            <a:off x="7543800" y="2303463"/>
            <a:ext cx="258763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C0C0C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1921" name="AutoShape 17"/>
          <p:cNvSpPr>
            <a:spLocks noChangeArrowheads="1"/>
          </p:cNvSpPr>
          <p:nvPr/>
        </p:nvSpPr>
        <p:spPr bwMode="auto">
          <a:xfrm>
            <a:off x="7545388" y="3027363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1922" name="AutoShape 18"/>
          <p:cNvSpPr>
            <a:spLocks noChangeArrowheads="1"/>
          </p:cNvSpPr>
          <p:nvPr/>
        </p:nvSpPr>
        <p:spPr bwMode="auto">
          <a:xfrm>
            <a:off x="7539038" y="3751263"/>
            <a:ext cx="258762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48147" name="Group 19"/>
          <p:cNvGrpSpPr>
            <a:grpSpLocks/>
          </p:cNvGrpSpPr>
          <p:nvPr/>
        </p:nvGrpSpPr>
        <p:grpSpPr bwMode="auto">
          <a:xfrm>
            <a:off x="119063" y="2413000"/>
            <a:ext cx="1114425" cy="830263"/>
            <a:chOff x="288" y="1529"/>
            <a:chExt cx="702" cy="523"/>
          </a:xfrm>
        </p:grpSpPr>
        <p:grpSp>
          <p:nvGrpSpPr>
            <p:cNvPr id="48183" name="Group 20"/>
            <p:cNvGrpSpPr>
              <a:grpSpLocks/>
            </p:cNvGrpSpPr>
            <p:nvPr/>
          </p:nvGrpSpPr>
          <p:grpSpPr bwMode="auto">
            <a:xfrm>
              <a:off x="288" y="1529"/>
              <a:ext cx="671" cy="489"/>
              <a:chOff x="209" y="1227"/>
              <a:chExt cx="671" cy="489"/>
            </a:xfrm>
          </p:grpSpPr>
          <p:sp>
            <p:nvSpPr>
              <p:cNvPr id="48185" name="Line 21"/>
              <p:cNvSpPr>
                <a:spLocks noChangeShapeType="1"/>
              </p:cNvSpPr>
              <p:nvPr/>
            </p:nvSpPr>
            <p:spPr bwMode="auto">
              <a:xfrm flipH="1" flipV="1">
                <a:off x="387" y="1475"/>
                <a:ext cx="493" cy="241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1926" name="Text Box 22"/>
              <p:cNvSpPr txBox="1">
                <a:spLocks noChangeArrowheads="1"/>
              </p:cNvSpPr>
              <p:nvPr/>
            </p:nvSpPr>
            <p:spPr bwMode="auto">
              <a:xfrm>
                <a:off x="209" y="122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1</a:t>
                </a:r>
              </a:p>
            </p:txBody>
          </p:sp>
        </p:grpSp>
        <p:sp>
          <p:nvSpPr>
            <p:cNvPr id="48184" name="Oval 23"/>
            <p:cNvSpPr>
              <a:spLocks noChangeArrowheads="1"/>
            </p:cNvSpPr>
            <p:nvPr/>
          </p:nvSpPr>
          <p:spPr bwMode="auto">
            <a:xfrm>
              <a:off x="917" y="198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48148" name="Group 24"/>
          <p:cNvGrpSpPr>
            <a:grpSpLocks/>
          </p:cNvGrpSpPr>
          <p:nvPr/>
        </p:nvGrpSpPr>
        <p:grpSpPr bwMode="auto">
          <a:xfrm>
            <a:off x="120650" y="1763713"/>
            <a:ext cx="1647825" cy="893762"/>
            <a:chOff x="289" y="1220"/>
            <a:chExt cx="1038" cy="563"/>
          </a:xfrm>
        </p:grpSpPr>
        <p:grpSp>
          <p:nvGrpSpPr>
            <p:cNvPr id="48179" name="Group 25"/>
            <p:cNvGrpSpPr>
              <a:grpSpLocks/>
            </p:cNvGrpSpPr>
            <p:nvPr/>
          </p:nvGrpSpPr>
          <p:grpSpPr bwMode="auto">
            <a:xfrm>
              <a:off x="289" y="1220"/>
              <a:ext cx="1014" cy="526"/>
              <a:chOff x="289" y="1155"/>
              <a:chExt cx="1014" cy="526"/>
            </a:xfrm>
          </p:grpSpPr>
          <p:sp>
            <p:nvSpPr>
              <p:cNvPr id="48181" name="Line 26"/>
              <p:cNvSpPr>
                <a:spLocks noChangeShapeType="1"/>
              </p:cNvSpPr>
              <p:nvPr/>
            </p:nvSpPr>
            <p:spPr bwMode="auto">
              <a:xfrm flipH="1" flipV="1">
                <a:off x="507" y="1418"/>
                <a:ext cx="796" cy="263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1931" name="Text Box 27"/>
              <p:cNvSpPr txBox="1">
                <a:spLocks noChangeArrowheads="1"/>
              </p:cNvSpPr>
              <p:nvPr/>
            </p:nvSpPr>
            <p:spPr bwMode="auto">
              <a:xfrm>
                <a:off x="289" y="1155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2</a:t>
                </a:r>
              </a:p>
            </p:txBody>
          </p:sp>
        </p:grpSp>
        <p:sp>
          <p:nvSpPr>
            <p:cNvPr id="48180" name="Oval 28"/>
            <p:cNvSpPr>
              <a:spLocks noChangeArrowheads="1"/>
            </p:cNvSpPr>
            <p:nvPr/>
          </p:nvSpPr>
          <p:spPr bwMode="auto">
            <a:xfrm>
              <a:off x="1254" y="1711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48149" name="Group 29"/>
          <p:cNvGrpSpPr>
            <a:grpSpLocks/>
          </p:cNvGrpSpPr>
          <p:nvPr/>
        </p:nvGrpSpPr>
        <p:grpSpPr bwMode="auto">
          <a:xfrm>
            <a:off x="125413" y="1211263"/>
            <a:ext cx="1393825" cy="912812"/>
            <a:chOff x="282" y="817"/>
            <a:chExt cx="878" cy="575"/>
          </a:xfrm>
        </p:grpSpPr>
        <p:grpSp>
          <p:nvGrpSpPr>
            <p:cNvPr id="48175" name="Group 30"/>
            <p:cNvGrpSpPr>
              <a:grpSpLocks/>
            </p:cNvGrpSpPr>
            <p:nvPr/>
          </p:nvGrpSpPr>
          <p:grpSpPr bwMode="auto">
            <a:xfrm>
              <a:off x="282" y="817"/>
              <a:ext cx="830" cy="531"/>
              <a:chOff x="282" y="817"/>
              <a:chExt cx="830" cy="531"/>
            </a:xfrm>
          </p:grpSpPr>
          <p:sp>
            <p:nvSpPr>
              <p:cNvPr id="251935" name="Text Box 31"/>
              <p:cNvSpPr txBox="1">
                <a:spLocks noChangeArrowheads="1"/>
              </p:cNvSpPr>
              <p:nvPr/>
            </p:nvSpPr>
            <p:spPr bwMode="auto">
              <a:xfrm>
                <a:off x="282" y="817"/>
                <a:ext cx="219" cy="294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en-US" altLang="zh-CN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黑体" pitchFamily="2" charset="-122"/>
                    <a:ea typeface="黑体" pitchFamily="2" charset="-122"/>
                  </a:rPr>
                  <a:t>3</a:t>
                </a:r>
              </a:p>
            </p:txBody>
          </p:sp>
          <p:sp>
            <p:nvSpPr>
              <p:cNvPr id="48178" name="Line 32"/>
              <p:cNvSpPr>
                <a:spLocks noChangeShapeType="1"/>
              </p:cNvSpPr>
              <p:nvPr/>
            </p:nvSpPr>
            <p:spPr bwMode="auto">
              <a:xfrm flipH="1" flipV="1">
                <a:off x="505" y="1079"/>
                <a:ext cx="607" cy="269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8176" name="Oval 33"/>
            <p:cNvSpPr>
              <a:spLocks noChangeArrowheads="1"/>
            </p:cNvSpPr>
            <p:nvPr/>
          </p:nvSpPr>
          <p:spPr bwMode="auto">
            <a:xfrm>
              <a:off x="1087" y="1320"/>
              <a:ext cx="73" cy="72"/>
            </a:xfrm>
            <a:prstGeom prst="ellipse">
              <a:avLst/>
            </a:prstGeom>
            <a:solidFill>
              <a:srgbClr val="0000FF"/>
            </a:solidFill>
            <a:ln w="0">
              <a:solidFill>
                <a:srgbClr val="0000FF"/>
              </a:solidFill>
              <a:round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251939" name="AutoShape 35"/>
          <p:cNvSpPr>
            <a:spLocks noChangeArrowheads="1"/>
          </p:cNvSpPr>
          <p:nvPr/>
        </p:nvSpPr>
        <p:spPr bwMode="auto">
          <a:xfrm>
            <a:off x="7250113" y="4714875"/>
            <a:ext cx="854075" cy="473075"/>
          </a:xfrm>
          <a:prstGeom prst="flowChartTerminator">
            <a:avLst/>
          </a:prstGeom>
          <a:solidFill>
            <a:schemeClr val="folHlink"/>
          </a:solidFill>
          <a:ln w="0">
            <a:solidFill>
              <a:srgbClr val="000000"/>
            </a:solidFill>
            <a:miter lim="800000"/>
            <a:headEnd type="none" w="sm" len="lg"/>
            <a:tailEnd type="none" w="sm" len="lg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结束</a:t>
            </a:r>
          </a:p>
        </p:txBody>
      </p:sp>
      <p:sp>
        <p:nvSpPr>
          <p:cNvPr id="251940" name="AutoShape 36"/>
          <p:cNvSpPr>
            <a:spLocks noChangeArrowheads="1"/>
          </p:cNvSpPr>
          <p:nvPr/>
        </p:nvSpPr>
        <p:spPr bwMode="auto">
          <a:xfrm>
            <a:off x="7540625" y="4483100"/>
            <a:ext cx="258763" cy="2317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0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pic>
        <p:nvPicPr>
          <p:cNvPr id="251941" name="Picture 37" descr="空白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56"/>
          <a:stretch>
            <a:fillRect/>
          </a:stretch>
        </p:blipFill>
        <p:spPr bwMode="auto">
          <a:xfrm>
            <a:off x="6872288" y="3024188"/>
            <a:ext cx="1658937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6891338" y="3027363"/>
            <a:ext cx="1571625" cy="720725"/>
            <a:chOff x="4222" y="1912"/>
            <a:chExt cx="990" cy="454"/>
          </a:xfrm>
        </p:grpSpPr>
        <p:sp>
          <p:nvSpPr>
            <p:cNvPr id="48173" name="AutoShape 39"/>
            <p:cNvSpPr>
              <a:spLocks noChangeArrowheads="1"/>
            </p:cNvSpPr>
            <p:nvPr/>
          </p:nvSpPr>
          <p:spPr bwMode="auto">
            <a:xfrm>
              <a:off x="4222" y="2067"/>
              <a:ext cx="990" cy="299"/>
            </a:xfrm>
            <a:prstGeom prst="flowChartProcess">
              <a:avLst/>
            </a:prstGeom>
            <a:solidFill>
              <a:srgbClr val="C0C0C0"/>
            </a:solidFill>
            <a:ln w="0">
              <a:solidFill>
                <a:srgbClr val="000000"/>
              </a:solidFill>
              <a:miter lim="800000"/>
              <a:headEnd type="none" w="sm" len="lg"/>
              <a:tailEnd type="none" w="sm" len="lg"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黑体" pitchFamily="2" charset="-122"/>
                </a:rPr>
                <a:t>总体尺寸</a:t>
              </a:r>
            </a:p>
          </p:txBody>
        </p:sp>
        <p:sp>
          <p:nvSpPr>
            <p:cNvPr id="48174" name="AutoShape 40"/>
            <p:cNvSpPr>
              <a:spLocks noChangeArrowheads="1"/>
            </p:cNvSpPr>
            <p:nvPr/>
          </p:nvSpPr>
          <p:spPr bwMode="auto">
            <a:xfrm>
              <a:off x="4634" y="1912"/>
              <a:ext cx="163" cy="146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C0C0C0"/>
            </a:solidFill>
            <a:ln w="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pic>
        <p:nvPicPr>
          <p:cNvPr id="251945" name="Picture 41" descr="空白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56"/>
          <a:stretch>
            <a:fillRect/>
          </a:stretch>
        </p:blipFill>
        <p:spPr bwMode="auto">
          <a:xfrm>
            <a:off x="6862763" y="3749675"/>
            <a:ext cx="1658937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1946" name="Picture 42" descr="空白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56"/>
          <a:stretch>
            <a:fillRect/>
          </a:stretch>
        </p:blipFill>
        <p:spPr bwMode="auto">
          <a:xfrm>
            <a:off x="6853238" y="4498975"/>
            <a:ext cx="1658937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43"/>
          <p:cNvGrpSpPr>
            <a:grpSpLocks/>
          </p:cNvGrpSpPr>
          <p:nvPr/>
        </p:nvGrpSpPr>
        <p:grpSpPr bwMode="auto">
          <a:xfrm>
            <a:off x="7250113" y="4483100"/>
            <a:ext cx="854075" cy="704850"/>
            <a:chOff x="4448" y="2834"/>
            <a:chExt cx="538" cy="444"/>
          </a:xfrm>
        </p:grpSpPr>
        <p:sp>
          <p:nvSpPr>
            <p:cNvPr id="48171" name="AutoShape 44"/>
            <p:cNvSpPr>
              <a:spLocks noChangeArrowheads="1"/>
            </p:cNvSpPr>
            <p:nvPr/>
          </p:nvSpPr>
          <p:spPr bwMode="auto">
            <a:xfrm>
              <a:off x="4448" y="2980"/>
              <a:ext cx="538" cy="298"/>
            </a:xfrm>
            <a:prstGeom prst="flowChartTerminator">
              <a:avLst/>
            </a:prstGeom>
            <a:solidFill>
              <a:srgbClr val="C0C0C0"/>
            </a:solidFill>
            <a:ln w="0">
              <a:solidFill>
                <a:srgbClr val="000000"/>
              </a:solidFill>
              <a:miter lim="800000"/>
              <a:headEnd type="none" w="sm" len="lg"/>
              <a:tailEnd type="none" w="sm" len="lg"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黑体" pitchFamily="2" charset="-122"/>
                </a:rPr>
                <a:t>结束</a:t>
              </a:r>
            </a:p>
          </p:txBody>
        </p:sp>
        <p:sp>
          <p:nvSpPr>
            <p:cNvPr id="48172" name="AutoShape 45"/>
            <p:cNvSpPr>
              <a:spLocks noChangeArrowheads="1"/>
            </p:cNvSpPr>
            <p:nvPr/>
          </p:nvSpPr>
          <p:spPr bwMode="auto">
            <a:xfrm>
              <a:off x="4631" y="2834"/>
              <a:ext cx="163" cy="146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C0C0C0"/>
            </a:solidFill>
            <a:ln w="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10" name="Group 46"/>
          <p:cNvGrpSpPr>
            <a:grpSpLocks/>
          </p:cNvGrpSpPr>
          <p:nvPr/>
        </p:nvGrpSpPr>
        <p:grpSpPr bwMode="auto">
          <a:xfrm>
            <a:off x="6884988" y="3751263"/>
            <a:ext cx="1571625" cy="720725"/>
            <a:chOff x="4218" y="2373"/>
            <a:chExt cx="990" cy="454"/>
          </a:xfrm>
        </p:grpSpPr>
        <p:sp>
          <p:nvSpPr>
            <p:cNvPr id="48169" name="AutoShape 47"/>
            <p:cNvSpPr>
              <a:spLocks noChangeArrowheads="1"/>
            </p:cNvSpPr>
            <p:nvPr/>
          </p:nvSpPr>
          <p:spPr bwMode="auto">
            <a:xfrm>
              <a:off x="4218" y="2528"/>
              <a:ext cx="990" cy="299"/>
            </a:xfrm>
            <a:prstGeom prst="flowChartProcess">
              <a:avLst/>
            </a:prstGeom>
            <a:solidFill>
              <a:srgbClr val="C0C0C0"/>
            </a:solidFill>
            <a:ln w="0">
              <a:solidFill>
                <a:srgbClr val="000000"/>
              </a:solidFill>
              <a:miter lim="800000"/>
              <a:headEnd type="none" w="sm" len="lg"/>
              <a:tailEnd type="none" w="sm" len="lg"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黑体" pitchFamily="2" charset="-122"/>
                </a:rPr>
                <a:t>尺寸调整</a:t>
              </a:r>
            </a:p>
          </p:txBody>
        </p:sp>
        <p:sp>
          <p:nvSpPr>
            <p:cNvPr id="48170" name="AutoShape 48"/>
            <p:cNvSpPr>
              <a:spLocks noChangeArrowheads="1"/>
            </p:cNvSpPr>
            <p:nvPr/>
          </p:nvSpPr>
          <p:spPr bwMode="auto">
            <a:xfrm>
              <a:off x="4630" y="2373"/>
              <a:ext cx="163" cy="146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C0C0C0"/>
            </a:solidFill>
            <a:ln w="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251953" name="Oval 49"/>
          <p:cNvSpPr>
            <a:spLocks noChangeArrowheads="1"/>
          </p:cNvSpPr>
          <p:nvPr/>
        </p:nvSpPr>
        <p:spPr bwMode="auto">
          <a:xfrm>
            <a:off x="2844800" y="1530350"/>
            <a:ext cx="887413" cy="2198688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11" name="Group 50"/>
          <p:cNvGrpSpPr>
            <a:grpSpLocks/>
          </p:cNvGrpSpPr>
          <p:nvPr/>
        </p:nvGrpSpPr>
        <p:grpSpPr bwMode="auto">
          <a:xfrm>
            <a:off x="2968625" y="2297113"/>
            <a:ext cx="350838" cy="376237"/>
            <a:chOff x="3685" y="3422"/>
            <a:chExt cx="515" cy="509"/>
          </a:xfrm>
        </p:grpSpPr>
        <p:sp>
          <p:nvSpPr>
            <p:cNvPr id="48167" name="Line 51"/>
            <p:cNvSpPr>
              <a:spLocks noChangeShapeType="1"/>
            </p:cNvSpPr>
            <p:nvPr/>
          </p:nvSpPr>
          <p:spPr bwMode="auto">
            <a:xfrm flipH="1">
              <a:off x="3685" y="3422"/>
              <a:ext cx="498" cy="49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68" name="Line 52"/>
            <p:cNvSpPr>
              <a:spLocks noChangeShapeType="1"/>
            </p:cNvSpPr>
            <p:nvPr/>
          </p:nvSpPr>
          <p:spPr bwMode="auto">
            <a:xfrm>
              <a:off x="3696" y="3428"/>
              <a:ext cx="504" cy="50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8160" name="Object 53"/>
          <p:cNvGraphicFramePr>
            <a:graphicFrameLocks noChangeAspect="1"/>
          </p:cNvGraphicFramePr>
          <p:nvPr/>
        </p:nvGraphicFramePr>
        <p:xfrm>
          <a:off x="2955925" y="1719263"/>
          <a:ext cx="296863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AutoCAD Drawing" r:id="rId4" imgW="11487150" imgH="7848600" progId="AutoCAD.Drawing.16">
                  <p:embed/>
                </p:oleObj>
              </mc:Choice>
              <mc:Fallback>
                <p:oleObj name="AutoCAD Drawing" r:id="rId4" imgW="11487150" imgH="7848600" progId="AutoCAD.Drawing.16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9704" t="17538" r="46478" b="56169"/>
                      <a:stretch>
                        <a:fillRect/>
                      </a:stretch>
                    </p:blipFill>
                    <p:spPr bwMode="auto">
                      <a:xfrm>
                        <a:off x="2955925" y="1719263"/>
                        <a:ext cx="296863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1958" name="Rectangle 54"/>
          <p:cNvSpPr>
            <a:spLocks noChangeArrowheads="1"/>
          </p:cNvSpPr>
          <p:nvPr/>
        </p:nvSpPr>
        <p:spPr bwMode="auto">
          <a:xfrm>
            <a:off x="0" y="1116013"/>
            <a:ext cx="3871913" cy="4381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48162" name="Group 55"/>
          <p:cNvGrpSpPr>
            <a:grpSpLocks/>
          </p:cNvGrpSpPr>
          <p:nvPr/>
        </p:nvGrpSpPr>
        <p:grpSpPr bwMode="auto">
          <a:xfrm>
            <a:off x="2349500" y="2254250"/>
            <a:ext cx="1503363" cy="366713"/>
            <a:chOff x="3570" y="3282"/>
            <a:chExt cx="947" cy="231"/>
          </a:xfrm>
        </p:grpSpPr>
        <p:sp>
          <p:nvSpPr>
            <p:cNvPr id="48165" name="Text Box 56"/>
            <p:cNvSpPr txBox="1">
              <a:spLocks noChangeArrowheads="1"/>
            </p:cNvSpPr>
            <p:nvPr/>
          </p:nvSpPr>
          <p:spPr bwMode="auto">
            <a:xfrm>
              <a:off x="3570" y="3314"/>
              <a:ext cx="94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i="1">
                  <a:solidFill>
                    <a:srgbClr val="000000"/>
                  </a:solidFill>
                  <a:latin typeface="ISOCPEUR" pitchFamily="34" charset="0"/>
                </a:rPr>
                <a:t>4X</a:t>
              </a:r>
              <a:r>
                <a:rPr lang="en-US" altLang="zh-CN" sz="1400" b="0" i="1">
                  <a:solidFill>
                    <a:srgbClr val="000000"/>
                  </a:solidFill>
                  <a:latin typeface="ISOCPEUR" pitchFamily="34" charset="0"/>
                </a:rPr>
                <a:t>   </a:t>
              </a:r>
              <a:r>
                <a:rPr lang="en-US" altLang="zh-CN" sz="1400" i="1">
                  <a:solidFill>
                    <a:srgbClr val="000000"/>
                  </a:solidFill>
                  <a:latin typeface="ISOCPEUR" pitchFamily="34" charset="0"/>
                  <a:sym typeface="Technic" pitchFamily="2" charset="2"/>
                </a:rPr>
                <a:t>2</a:t>
              </a:r>
            </a:p>
          </p:txBody>
        </p:sp>
        <p:sp>
          <p:nvSpPr>
            <p:cNvPr id="48166" name="Text Box 57"/>
            <p:cNvSpPr txBox="1">
              <a:spLocks noChangeArrowheads="1"/>
            </p:cNvSpPr>
            <p:nvPr/>
          </p:nvSpPr>
          <p:spPr bwMode="auto">
            <a:xfrm rot="-839945">
              <a:off x="3721" y="3282"/>
              <a:ext cx="2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ISOCPEUR" pitchFamily="34" charset="0"/>
                  <a:sym typeface="Symbol" pitchFamily="18" charset="2"/>
                </a:rPr>
                <a:t></a:t>
              </a:r>
              <a:r>
                <a:rPr lang="en-US" altLang="zh-CN" sz="1800">
                  <a:solidFill>
                    <a:srgbClr val="000000"/>
                  </a:solidFill>
                  <a:latin typeface="ISOCPEUR" pitchFamily="34" charset="0"/>
                  <a:sym typeface="Symbol" pitchFamily="18" charset="2"/>
                </a:rPr>
                <a:t> </a:t>
              </a:r>
            </a:p>
          </p:txBody>
        </p:sp>
      </p:grpSp>
      <p:sp>
        <p:nvSpPr>
          <p:cNvPr id="48163" name="Text Box 59"/>
          <p:cNvSpPr txBox="1">
            <a:spLocks noChangeArrowheads="1"/>
          </p:cNvSpPr>
          <p:nvPr/>
        </p:nvSpPr>
        <p:spPr bwMode="auto">
          <a:xfrm rot="-5400000">
            <a:off x="3742532" y="1599406"/>
            <a:ext cx="430212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500">
                <a:latin typeface="ISOCPEUR" pitchFamily="34" charset="0"/>
                <a:sym typeface="Symbol" pitchFamily="18" charset="2"/>
              </a:rPr>
              <a:t></a:t>
            </a:r>
            <a:r>
              <a:rPr lang="en-US" altLang="zh-CN" sz="1500" i="1">
                <a:latin typeface="ISOCPEUR" pitchFamily="34" charset="0"/>
              </a:rPr>
              <a:t>5</a:t>
            </a:r>
            <a:endParaRPr lang="en-US" altLang="zh-CN" sz="1500">
              <a:latin typeface="ISOCPEUR" pitchFamily="34" charset="0"/>
            </a:endParaRPr>
          </a:p>
        </p:txBody>
      </p:sp>
      <p:graphicFrame>
        <p:nvGraphicFramePr>
          <p:cNvPr id="48164" name="Object 60"/>
          <p:cNvGraphicFramePr>
            <a:graphicFrameLocks noChangeAspect="1"/>
          </p:cNvGraphicFramePr>
          <p:nvPr/>
        </p:nvGraphicFramePr>
        <p:xfrm>
          <a:off x="576263" y="838200"/>
          <a:ext cx="5119687" cy="505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AutoCAD Drawing" r:id="rId6" imgW="11487150" imgH="7848600" progId="AutoCAD.Drawing.16">
                  <p:embed/>
                </p:oleObj>
              </mc:Choice>
              <mc:Fallback>
                <p:oleObj name="AutoCAD Drawing" r:id="rId6" imgW="11487150" imgH="7848600" progId="AutoCAD.Drawing.16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9086" t="957" r="15085" b="3883"/>
                      <a:stretch>
                        <a:fillRect/>
                      </a:stretch>
                    </p:blipFill>
                    <p:spPr bwMode="auto">
                      <a:xfrm>
                        <a:off x="576263" y="838200"/>
                        <a:ext cx="5119687" cy="5056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1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25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1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5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5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5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500"/>
                                        <p:tgtEl>
                                          <p:spTgt spid="25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5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251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19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19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1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51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5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5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0" fill="hold"/>
                                        <p:tgtEl>
                                          <p:spTgt spid="251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0" fill="hold"/>
                                        <p:tgtEl>
                                          <p:spTgt spid="251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6" grpId="0" animBg="1"/>
      <p:bldP spid="251907" grpId="0" animBg="1"/>
      <p:bldP spid="251908" grpId="0" animBg="1"/>
      <p:bldP spid="251909" grpId="0" animBg="1"/>
      <p:bldP spid="251910" grpId="0" animBg="1"/>
      <p:bldP spid="251917" grpId="0" animBg="1" autoUpdateAnimBg="0"/>
      <p:bldP spid="251918" grpId="0" animBg="1" autoUpdateAnimBg="0"/>
      <p:bldP spid="251921" grpId="0" animBg="1"/>
      <p:bldP spid="251922" grpId="0" animBg="1"/>
      <p:bldP spid="251939" grpId="0" animBg="1" autoUpdateAnimBg="0"/>
      <p:bldP spid="251940" grpId="0" animBg="1"/>
      <p:bldP spid="251953" grpId="0" animBg="1"/>
      <p:bldP spid="25195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28243CEE-BF53-47F2-9FE9-1CF6DCB56823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32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52930" name="Rectangle 2"/>
          <p:cNvSpPr>
            <a:spLocks noChangeArrowheads="1"/>
          </p:cNvSpPr>
          <p:nvPr/>
        </p:nvSpPr>
        <p:spPr bwMode="auto">
          <a:xfrm>
            <a:off x="4338638" y="2130425"/>
            <a:ext cx="241300" cy="1052513"/>
          </a:xfrm>
          <a:prstGeom prst="rect">
            <a:avLst/>
          </a:prstGeom>
          <a:solidFill>
            <a:srgbClr val="00FFFF"/>
          </a:solidFill>
          <a:ln w="0">
            <a:solidFill>
              <a:srgbClr val="00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2931" name="Rectangle 3"/>
          <p:cNvSpPr>
            <a:spLocks noChangeArrowheads="1"/>
          </p:cNvSpPr>
          <p:nvPr/>
        </p:nvSpPr>
        <p:spPr bwMode="auto">
          <a:xfrm>
            <a:off x="4618038" y="2139950"/>
            <a:ext cx="344487" cy="733425"/>
          </a:xfrm>
          <a:prstGeom prst="rect">
            <a:avLst/>
          </a:prstGeom>
          <a:solidFill>
            <a:srgbClr val="00FFFF"/>
          </a:solidFill>
          <a:ln w="0">
            <a:solidFill>
              <a:srgbClr val="00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aphicFrame>
        <p:nvGraphicFramePr>
          <p:cNvPr id="252932" name="Object 4"/>
          <p:cNvGraphicFramePr>
            <a:graphicFrameLocks noChangeAspect="1"/>
          </p:cNvGraphicFramePr>
          <p:nvPr/>
        </p:nvGraphicFramePr>
        <p:xfrm>
          <a:off x="4606925" y="2132013"/>
          <a:ext cx="13335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2" name="AutoCAD Drawing" r:id="rId3" imgW="11487150" imgH="7848600" progId="AutoCAD.Drawing.16">
                  <p:embed/>
                </p:oleObj>
              </mc:Choice>
              <mc:Fallback>
                <p:oleObj name="AutoCAD Drawing" r:id="rId3" imgW="11487150" imgH="7848600" progId="AutoCAD.Drawing.1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6300" t="21040" r="28159" b="66666"/>
                      <a:stretch>
                        <a:fillRect/>
                      </a:stretch>
                    </p:blipFill>
                    <p:spPr bwMode="auto">
                      <a:xfrm>
                        <a:off x="4606925" y="2132013"/>
                        <a:ext cx="13335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549775" y="2105025"/>
            <a:ext cx="1376363" cy="784225"/>
            <a:chOff x="2866" y="1326"/>
            <a:chExt cx="867" cy="494"/>
          </a:xfrm>
        </p:grpSpPr>
        <p:sp>
          <p:nvSpPr>
            <p:cNvPr id="49286" name="Rectangle 6"/>
            <p:cNvSpPr>
              <a:spLocks noChangeArrowheads="1"/>
            </p:cNvSpPr>
            <p:nvPr/>
          </p:nvSpPr>
          <p:spPr bwMode="auto">
            <a:xfrm>
              <a:off x="2866" y="1326"/>
              <a:ext cx="543" cy="494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49287" name="Rectangle 7"/>
            <p:cNvSpPr>
              <a:spLocks noChangeArrowheads="1"/>
            </p:cNvSpPr>
            <p:nvPr/>
          </p:nvSpPr>
          <p:spPr bwMode="auto">
            <a:xfrm>
              <a:off x="3190" y="1341"/>
              <a:ext cx="543" cy="48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aphicFrame>
        <p:nvGraphicFramePr>
          <p:cNvPr id="252936" name="Object 8"/>
          <p:cNvGraphicFramePr>
            <a:graphicFrameLocks noChangeAspect="1"/>
          </p:cNvGraphicFramePr>
          <p:nvPr/>
        </p:nvGraphicFramePr>
        <p:xfrm>
          <a:off x="4656138" y="1476375"/>
          <a:ext cx="128270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3" name="AutoCAD Drawing" r:id="rId5" imgW="11487150" imgH="7848600" progId="AutoCAD.Drawing.16">
                  <p:embed/>
                </p:oleObj>
              </mc:Choice>
              <mc:Fallback>
                <p:oleObj name="AutoCAD Drawing" r:id="rId5" imgW="11487150" imgH="7848600" progId="AutoCAD.Drawing.1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6892" t="9857" r="28159" b="72542"/>
                      <a:stretch>
                        <a:fillRect/>
                      </a:stretch>
                    </p:blipFill>
                    <p:spPr bwMode="auto">
                      <a:xfrm>
                        <a:off x="4656138" y="1476375"/>
                        <a:ext cx="1282700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7" name="Rectangle 9"/>
          <p:cNvSpPr>
            <a:spLocks noChangeArrowheads="1"/>
          </p:cNvSpPr>
          <p:nvPr/>
        </p:nvSpPr>
        <p:spPr bwMode="auto">
          <a:xfrm>
            <a:off x="4667250" y="1522413"/>
            <a:ext cx="1227138" cy="968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2938" name="Rectangle 10"/>
          <p:cNvSpPr>
            <a:spLocks noChangeArrowheads="1"/>
          </p:cNvSpPr>
          <p:nvPr/>
        </p:nvSpPr>
        <p:spPr bwMode="auto">
          <a:xfrm>
            <a:off x="4616450" y="2838450"/>
            <a:ext cx="188913" cy="336550"/>
          </a:xfrm>
          <a:prstGeom prst="rect">
            <a:avLst/>
          </a:prstGeom>
          <a:solidFill>
            <a:srgbClr val="00FFFF"/>
          </a:solidFill>
          <a:ln w="0">
            <a:solidFill>
              <a:srgbClr val="00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2939" name="Rectangle 11"/>
          <p:cNvSpPr>
            <a:spLocks noChangeArrowheads="1"/>
          </p:cNvSpPr>
          <p:nvPr/>
        </p:nvSpPr>
        <p:spPr bwMode="auto">
          <a:xfrm>
            <a:off x="4597400" y="2820988"/>
            <a:ext cx="215900" cy="3714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2940" name="Rectangle 12"/>
          <p:cNvSpPr>
            <a:spLocks noChangeArrowheads="1"/>
          </p:cNvSpPr>
          <p:nvPr/>
        </p:nvSpPr>
        <p:spPr bwMode="auto">
          <a:xfrm>
            <a:off x="6167438" y="4657725"/>
            <a:ext cx="439737" cy="371475"/>
          </a:xfrm>
          <a:prstGeom prst="rect">
            <a:avLst/>
          </a:prstGeom>
          <a:solidFill>
            <a:srgbClr val="00FFFF"/>
          </a:solidFill>
          <a:ln w="0">
            <a:solidFill>
              <a:srgbClr val="00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2941" name="Rectangle 13"/>
          <p:cNvSpPr>
            <a:spLocks noChangeArrowheads="1"/>
          </p:cNvSpPr>
          <p:nvPr/>
        </p:nvSpPr>
        <p:spPr bwMode="auto">
          <a:xfrm>
            <a:off x="6107113" y="4624388"/>
            <a:ext cx="55245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2942" name="Rectangle 14"/>
          <p:cNvSpPr>
            <a:spLocks noChangeArrowheads="1"/>
          </p:cNvSpPr>
          <p:nvPr/>
        </p:nvSpPr>
        <p:spPr bwMode="auto">
          <a:xfrm>
            <a:off x="7953375" y="4330700"/>
            <a:ext cx="301625" cy="223838"/>
          </a:xfrm>
          <a:prstGeom prst="rect">
            <a:avLst/>
          </a:prstGeom>
          <a:solidFill>
            <a:srgbClr val="00FFFF"/>
          </a:solidFill>
          <a:ln w="0">
            <a:solidFill>
              <a:srgbClr val="00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2943" name="Rectangle 15"/>
          <p:cNvSpPr>
            <a:spLocks noChangeArrowheads="1"/>
          </p:cNvSpPr>
          <p:nvPr/>
        </p:nvSpPr>
        <p:spPr bwMode="auto">
          <a:xfrm>
            <a:off x="7902575" y="4297363"/>
            <a:ext cx="387350" cy="2921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2944" name="Rectangle 16"/>
          <p:cNvSpPr>
            <a:spLocks noChangeArrowheads="1"/>
          </p:cNvSpPr>
          <p:nvPr/>
        </p:nvSpPr>
        <p:spPr bwMode="auto">
          <a:xfrm>
            <a:off x="5322888" y="3759200"/>
            <a:ext cx="2268537" cy="301625"/>
          </a:xfrm>
          <a:prstGeom prst="rect">
            <a:avLst/>
          </a:prstGeom>
          <a:solidFill>
            <a:srgbClr val="00FFFF"/>
          </a:solidFill>
          <a:ln w="0">
            <a:solidFill>
              <a:srgbClr val="00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2945" name="Rectangle 17"/>
          <p:cNvSpPr>
            <a:spLocks noChangeArrowheads="1"/>
          </p:cNvSpPr>
          <p:nvPr/>
        </p:nvSpPr>
        <p:spPr bwMode="auto">
          <a:xfrm>
            <a:off x="5262563" y="3716338"/>
            <a:ext cx="2362200" cy="388937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2946" name="Rectangle 18"/>
          <p:cNvSpPr>
            <a:spLocks noChangeArrowheads="1"/>
          </p:cNvSpPr>
          <p:nvPr/>
        </p:nvSpPr>
        <p:spPr bwMode="auto">
          <a:xfrm>
            <a:off x="5457825" y="2346325"/>
            <a:ext cx="276225" cy="820738"/>
          </a:xfrm>
          <a:prstGeom prst="rect">
            <a:avLst/>
          </a:prstGeom>
          <a:solidFill>
            <a:srgbClr val="00FFFF"/>
          </a:solidFill>
          <a:ln w="0">
            <a:solidFill>
              <a:srgbClr val="00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5448300" y="2347913"/>
            <a:ext cx="1031875" cy="842962"/>
            <a:chOff x="3517" y="1479"/>
            <a:chExt cx="650" cy="531"/>
          </a:xfrm>
        </p:grpSpPr>
        <p:pic>
          <p:nvPicPr>
            <p:cNvPr id="49284" name="Picture 20" descr="空白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7" y="1695"/>
              <a:ext cx="116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49285" name="Object 21"/>
            <p:cNvGraphicFramePr>
              <a:graphicFrameLocks noChangeAspect="1"/>
            </p:cNvGraphicFramePr>
            <p:nvPr/>
          </p:nvGraphicFramePr>
          <p:xfrm>
            <a:off x="3517" y="1479"/>
            <a:ext cx="650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4" name="AutoCAD Drawing" r:id="rId8" imgW="11487150" imgH="7848600" progId="AutoCAD.Drawing.16">
                    <p:embed/>
                  </p:oleObj>
                </mc:Choice>
                <mc:Fallback>
                  <p:oleObj name="AutoCAD Drawing" r:id="rId8" imgW="11487150" imgH="7848600" progId="AutoCAD.Drawing.16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66457" t="24722" r="21518" b="60899"/>
                        <a:stretch>
                          <a:fillRect/>
                        </a:stretch>
                      </p:blipFill>
                      <p:spPr bwMode="auto">
                        <a:xfrm>
                          <a:off x="3517" y="1479"/>
                          <a:ext cx="650" cy="5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2950" name="Rectangle 22"/>
          <p:cNvSpPr>
            <a:spLocks noChangeArrowheads="1"/>
          </p:cNvSpPr>
          <p:nvPr/>
        </p:nvSpPr>
        <p:spPr bwMode="auto">
          <a:xfrm>
            <a:off x="5437188" y="2330450"/>
            <a:ext cx="1069975" cy="862013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7142163" y="4606925"/>
            <a:ext cx="1501775" cy="611188"/>
            <a:chOff x="4588" y="2902"/>
            <a:chExt cx="946" cy="385"/>
          </a:xfrm>
        </p:grpSpPr>
        <p:graphicFrame>
          <p:nvGraphicFramePr>
            <p:cNvPr id="49280" name="Object 24"/>
            <p:cNvGraphicFramePr>
              <a:graphicFrameLocks noChangeAspect="1"/>
            </p:cNvGraphicFramePr>
            <p:nvPr/>
          </p:nvGraphicFramePr>
          <p:xfrm>
            <a:off x="4588" y="2902"/>
            <a:ext cx="78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5" name="AutoCAD Drawing" r:id="rId10" imgW="11487150" imgH="7848600" progId="AutoCAD.Drawing.16">
                    <p:embed/>
                  </p:oleObj>
                </mc:Choice>
                <mc:Fallback>
                  <p:oleObj name="AutoCAD Drawing" r:id="rId10" imgW="11487150" imgH="7848600" progId="AutoCAD.Drawing.16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29768" t="86353" r="55800" b="3250"/>
                        <a:stretch>
                          <a:fillRect/>
                        </a:stretch>
                      </p:blipFill>
                      <p:spPr bwMode="auto">
                        <a:xfrm>
                          <a:off x="4588" y="2902"/>
                          <a:ext cx="78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9281" name="Group 25"/>
            <p:cNvGrpSpPr>
              <a:grpSpLocks/>
            </p:cNvGrpSpPr>
            <p:nvPr/>
          </p:nvGrpSpPr>
          <p:grpSpPr bwMode="auto">
            <a:xfrm>
              <a:off x="4995" y="3057"/>
              <a:ext cx="539" cy="230"/>
              <a:chOff x="4175" y="3476"/>
              <a:chExt cx="539" cy="230"/>
            </a:xfrm>
          </p:grpSpPr>
          <p:sp>
            <p:nvSpPr>
              <p:cNvPr id="49282" name="Text Box 26"/>
              <p:cNvSpPr txBox="1">
                <a:spLocks noChangeArrowheads="1"/>
              </p:cNvSpPr>
              <p:nvPr/>
            </p:nvSpPr>
            <p:spPr bwMode="auto">
              <a:xfrm>
                <a:off x="4175" y="3494"/>
                <a:ext cx="53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b="0" i="1">
                    <a:solidFill>
                      <a:srgbClr val="0000FF"/>
                    </a:solidFill>
                    <a:latin typeface="ISOCPEUR" pitchFamily="34" charset="0"/>
                  </a:rPr>
                  <a:t>2X   </a:t>
                </a:r>
                <a:r>
                  <a:rPr lang="en-US" altLang="zh-CN" sz="1600" b="0" i="1">
                    <a:solidFill>
                      <a:srgbClr val="0000FF"/>
                    </a:solidFill>
                    <a:latin typeface="ISOCPEUR" pitchFamily="34" charset="0"/>
                    <a:sym typeface="Technic" pitchFamily="2" charset="2"/>
                  </a:rPr>
                  <a:t>8</a:t>
                </a:r>
              </a:p>
            </p:txBody>
          </p:sp>
          <p:sp>
            <p:nvSpPr>
              <p:cNvPr id="49283" name="Text Box 27"/>
              <p:cNvSpPr txBox="1">
                <a:spLocks noChangeArrowheads="1"/>
              </p:cNvSpPr>
              <p:nvPr/>
            </p:nvSpPr>
            <p:spPr bwMode="auto">
              <a:xfrm rot="-839945">
                <a:off x="4326" y="3476"/>
                <a:ext cx="27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b="0">
                    <a:solidFill>
                      <a:srgbClr val="0000FF"/>
                    </a:solidFill>
                    <a:latin typeface="ISOCPEUR" pitchFamily="34" charset="0"/>
                    <a:sym typeface="Symbol" pitchFamily="18" charset="2"/>
                  </a:rPr>
                  <a:t> </a:t>
                </a:r>
              </a:p>
            </p:txBody>
          </p:sp>
        </p:grpSp>
      </p:grpSp>
      <p:sp>
        <p:nvSpPr>
          <p:cNvPr id="252956" name="Rectangle 28"/>
          <p:cNvSpPr>
            <a:spLocks noChangeArrowheads="1"/>
          </p:cNvSpPr>
          <p:nvPr/>
        </p:nvSpPr>
        <p:spPr bwMode="auto">
          <a:xfrm>
            <a:off x="7172325" y="4572000"/>
            <a:ext cx="1354138" cy="715963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2957" name="Rectangle 29"/>
          <p:cNvSpPr>
            <a:spLocks noChangeArrowheads="1"/>
          </p:cNvSpPr>
          <p:nvPr/>
        </p:nvSpPr>
        <p:spPr bwMode="auto">
          <a:xfrm>
            <a:off x="5326063" y="3752850"/>
            <a:ext cx="2268537" cy="301625"/>
          </a:xfrm>
          <a:prstGeom prst="rect">
            <a:avLst/>
          </a:prstGeom>
          <a:solidFill>
            <a:srgbClr val="00FFFF"/>
          </a:solidFill>
          <a:ln w="0">
            <a:solidFill>
              <a:srgbClr val="00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2958" name="Rectangle 30"/>
          <p:cNvSpPr>
            <a:spLocks noChangeArrowheads="1"/>
          </p:cNvSpPr>
          <p:nvPr/>
        </p:nvSpPr>
        <p:spPr bwMode="auto">
          <a:xfrm>
            <a:off x="5283200" y="3717925"/>
            <a:ext cx="2362200" cy="388938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2959" name="Line 31"/>
          <p:cNvSpPr>
            <a:spLocks noChangeShapeType="1"/>
          </p:cNvSpPr>
          <p:nvPr/>
        </p:nvSpPr>
        <p:spPr bwMode="auto">
          <a:xfrm>
            <a:off x="1112838" y="4327525"/>
            <a:ext cx="327025" cy="587375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non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2960" name="Text Box 32"/>
          <p:cNvSpPr txBox="1">
            <a:spLocks noChangeArrowheads="1"/>
          </p:cNvSpPr>
          <p:nvPr/>
        </p:nvSpPr>
        <p:spPr bwMode="auto">
          <a:xfrm>
            <a:off x="339725" y="4019550"/>
            <a:ext cx="15097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600">
                <a:solidFill>
                  <a:srgbClr val="FF3399"/>
                </a:solidFill>
                <a:ea typeface="黑体" pitchFamily="2" charset="-122"/>
              </a:rPr>
              <a:t>宽度方向基准</a:t>
            </a:r>
          </a:p>
        </p:txBody>
      </p:sp>
      <p:grpSp>
        <p:nvGrpSpPr>
          <p:cNvPr id="6" name="Group 33"/>
          <p:cNvGrpSpPr>
            <a:grpSpLocks/>
          </p:cNvGrpSpPr>
          <p:nvPr/>
        </p:nvGrpSpPr>
        <p:grpSpPr bwMode="auto">
          <a:xfrm>
            <a:off x="2295525" y="3062288"/>
            <a:ext cx="1958975" cy="1095375"/>
            <a:chOff x="1456" y="1929"/>
            <a:chExt cx="1234" cy="690"/>
          </a:xfrm>
        </p:grpSpPr>
        <p:grpSp>
          <p:nvGrpSpPr>
            <p:cNvPr id="49275" name="Group 34"/>
            <p:cNvGrpSpPr>
              <a:grpSpLocks/>
            </p:cNvGrpSpPr>
            <p:nvPr/>
          </p:nvGrpSpPr>
          <p:grpSpPr bwMode="auto">
            <a:xfrm>
              <a:off x="1456" y="1929"/>
              <a:ext cx="1136" cy="690"/>
              <a:chOff x="1456" y="1929"/>
              <a:chExt cx="1136" cy="690"/>
            </a:xfrm>
          </p:grpSpPr>
          <p:sp>
            <p:nvSpPr>
              <p:cNvPr id="49277" name="Line 35"/>
              <p:cNvSpPr>
                <a:spLocks noChangeShapeType="1"/>
              </p:cNvSpPr>
              <p:nvPr/>
            </p:nvSpPr>
            <p:spPr bwMode="auto">
              <a:xfrm flipH="1" flipV="1">
                <a:off x="1456" y="1929"/>
                <a:ext cx="348" cy="315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 type="non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278" name="Line 36"/>
              <p:cNvSpPr>
                <a:spLocks noChangeShapeType="1"/>
              </p:cNvSpPr>
              <p:nvPr/>
            </p:nvSpPr>
            <p:spPr bwMode="auto">
              <a:xfrm flipH="1">
                <a:off x="1456" y="2239"/>
                <a:ext cx="348" cy="38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 type="non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279" name="Line 37"/>
              <p:cNvSpPr>
                <a:spLocks noChangeShapeType="1"/>
              </p:cNvSpPr>
              <p:nvPr/>
            </p:nvSpPr>
            <p:spPr bwMode="auto">
              <a:xfrm>
                <a:off x="1804" y="2244"/>
                <a:ext cx="788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 type="none" w="sm" len="lg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9276" name="Text Box 38"/>
            <p:cNvSpPr txBox="1">
              <a:spLocks noChangeArrowheads="1"/>
            </p:cNvSpPr>
            <p:nvPr/>
          </p:nvSpPr>
          <p:spPr bwMode="auto">
            <a:xfrm>
              <a:off x="1739" y="2041"/>
              <a:ext cx="95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600">
                  <a:solidFill>
                    <a:srgbClr val="00FFFF"/>
                  </a:solidFill>
                  <a:ea typeface="黑体" pitchFamily="2" charset="-122"/>
                </a:rPr>
                <a:t>长度方向基准</a:t>
              </a:r>
            </a:p>
          </p:txBody>
        </p:sp>
      </p:grpSp>
      <p:sp>
        <p:nvSpPr>
          <p:cNvPr id="252967" name="Line 39"/>
          <p:cNvSpPr>
            <a:spLocks noChangeShapeType="1"/>
          </p:cNvSpPr>
          <p:nvPr/>
        </p:nvSpPr>
        <p:spPr bwMode="auto">
          <a:xfrm flipV="1">
            <a:off x="587375" y="3192463"/>
            <a:ext cx="412750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2968" name="Text Box 40"/>
          <p:cNvSpPr txBox="1">
            <a:spLocks noChangeArrowheads="1"/>
          </p:cNvSpPr>
          <p:nvPr/>
        </p:nvSpPr>
        <p:spPr bwMode="auto">
          <a:xfrm>
            <a:off x="31750" y="3584575"/>
            <a:ext cx="15097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600">
                <a:solidFill>
                  <a:srgbClr val="FF3300"/>
                </a:solidFill>
                <a:ea typeface="黑体" pitchFamily="2" charset="-122"/>
              </a:rPr>
              <a:t>高度方向基准</a:t>
            </a:r>
          </a:p>
        </p:txBody>
      </p:sp>
      <p:sp>
        <p:nvSpPr>
          <p:cNvPr id="252969" name="Rectangle 41"/>
          <p:cNvSpPr>
            <a:spLocks noChangeArrowheads="1"/>
          </p:cNvSpPr>
          <p:nvPr/>
        </p:nvSpPr>
        <p:spPr bwMode="auto">
          <a:xfrm>
            <a:off x="112713" y="3019425"/>
            <a:ext cx="4122737" cy="1906588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49182" name="Text Box 42" descr="蓝色砂纸"/>
          <p:cNvSpPr txBox="1">
            <a:spLocks noChangeArrowheads="1"/>
          </p:cNvSpPr>
          <p:nvPr/>
        </p:nvSpPr>
        <p:spPr bwMode="auto">
          <a:xfrm>
            <a:off x="404813" y="155575"/>
            <a:ext cx="7986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改错</a:t>
            </a:r>
          </a:p>
        </p:txBody>
      </p:sp>
      <p:grpSp>
        <p:nvGrpSpPr>
          <p:cNvPr id="49183" name="Group 43"/>
          <p:cNvGrpSpPr>
            <a:grpSpLocks/>
          </p:cNvGrpSpPr>
          <p:nvPr/>
        </p:nvGrpSpPr>
        <p:grpSpPr bwMode="auto">
          <a:xfrm>
            <a:off x="463550" y="1039813"/>
            <a:ext cx="3749675" cy="4643437"/>
            <a:chOff x="292" y="655"/>
            <a:chExt cx="2362" cy="2925"/>
          </a:xfrm>
        </p:grpSpPr>
        <p:graphicFrame>
          <p:nvGraphicFramePr>
            <p:cNvPr id="49266" name="Object 44"/>
            <p:cNvGraphicFramePr>
              <a:graphicFrameLocks noChangeAspect="1"/>
            </p:cNvGraphicFramePr>
            <p:nvPr/>
          </p:nvGraphicFramePr>
          <p:xfrm>
            <a:off x="514" y="1104"/>
            <a:ext cx="1867" cy="2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6" name="AutoCAD Drawing" r:id="rId12" imgW="11487150" imgH="7848600" progId="AutoCAD.Drawing.16">
                    <p:embed/>
                  </p:oleObj>
                </mc:Choice>
                <mc:Fallback>
                  <p:oleObj name="AutoCAD Drawing" r:id="rId12" imgW="11487150" imgH="7848600" progId="AutoCAD.Drawing.16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4422" t="14406" r="61037" b="18549"/>
                        <a:stretch>
                          <a:fillRect/>
                        </a:stretch>
                      </p:blipFill>
                      <p:spPr bwMode="auto">
                        <a:xfrm>
                          <a:off x="514" y="1104"/>
                          <a:ext cx="1867" cy="24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267" name="Object 45"/>
            <p:cNvGraphicFramePr>
              <a:graphicFrameLocks noChangeAspect="1"/>
            </p:cNvGraphicFramePr>
            <p:nvPr/>
          </p:nvGraphicFramePr>
          <p:xfrm>
            <a:off x="292" y="762"/>
            <a:ext cx="2362" cy="27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7" name="AutoCAD Drawing" r:id="rId14" imgW="11487150" imgH="7848600" progId="AutoCAD.Drawing.16">
                    <p:embed/>
                  </p:oleObj>
                </mc:Choice>
                <mc:Fallback>
                  <p:oleObj name="AutoCAD Drawing" r:id="rId14" imgW="11487150" imgH="7848600" progId="AutoCAD.Drawing.16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296" t="5145" r="56004" b="19415"/>
                        <a:stretch>
                          <a:fillRect/>
                        </a:stretch>
                      </p:blipFill>
                      <p:spPr bwMode="auto">
                        <a:xfrm>
                          <a:off x="292" y="762"/>
                          <a:ext cx="2362" cy="27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268" name="Object 46"/>
            <p:cNvGraphicFramePr>
              <a:graphicFrameLocks noChangeAspect="1"/>
            </p:cNvGraphicFramePr>
            <p:nvPr/>
          </p:nvGraphicFramePr>
          <p:xfrm>
            <a:off x="643" y="1721"/>
            <a:ext cx="221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8" name="AutoCAD Drawing" r:id="rId16" imgW="11487150" imgH="7848600" progId="AutoCAD.Drawing.16">
                    <p:embed/>
                  </p:oleObj>
                </mc:Choice>
                <mc:Fallback>
                  <p:oleObj name="AutoCAD Drawing" r:id="rId16" imgW="11487150" imgH="7848600" progId="AutoCAD.Drawing.16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6827" t="31194" r="89084" b="59438"/>
                        <a:stretch>
                          <a:fillRect/>
                        </a:stretch>
                      </p:blipFill>
                      <p:spPr bwMode="auto">
                        <a:xfrm>
                          <a:off x="643" y="1721"/>
                          <a:ext cx="221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9269" name="Group 47"/>
            <p:cNvGrpSpPr>
              <a:grpSpLocks/>
            </p:cNvGrpSpPr>
            <p:nvPr/>
          </p:nvGrpSpPr>
          <p:grpSpPr bwMode="auto">
            <a:xfrm>
              <a:off x="860" y="2019"/>
              <a:ext cx="947" cy="230"/>
              <a:chOff x="3570" y="3296"/>
              <a:chExt cx="947" cy="230"/>
            </a:xfrm>
          </p:grpSpPr>
          <p:sp>
            <p:nvSpPr>
              <p:cNvPr id="49273" name="Text Box 48"/>
              <p:cNvSpPr txBox="1">
                <a:spLocks noChangeArrowheads="1"/>
              </p:cNvSpPr>
              <p:nvPr/>
            </p:nvSpPr>
            <p:spPr bwMode="auto">
              <a:xfrm>
                <a:off x="3570" y="3314"/>
                <a:ext cx="94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b="0" i="1">
                    <a:solidFill>
                      <a:srgbClr val="0000FF"/>
                    </a:solidFill>
                    <a:latin typeface="ISOCPEUR" pitchFamily="34" charset="0"/>
                  </a:rPr>
                  <a:t>2X   </a:t>
                </a:r>
                <a:r>
                  <a:rPr lang="en-US" altLang="zh-CN" sz="1600" b="0" i="1">
                    <a:solidFill>
                      <a:srgbClr val="0000FF"/>
                    </a:solidFill>
                    <a:latin typeface="ISOCPEUR" pitchFamily="34" charset="0"/>
                    <a:sym typeface="Technic" pitchFamily="2" charset="2"/>
                  </a:rPr>
                  <a:t>8</a:t>
                </a:r>
              </a:p>
            </p:txBody>
          </p:sp>
          <p:sp>
            <p:nvSpPr>
              <p:cNvPr id="49274" name="Text Box 49"/>
              <p:cNvSpPr txBox="1">
                <a:spLocks noChangeArrowheads="1"/>
              </p:cNvSpPr>
              <p:nvPr/>
            </p:nvSpPr>
            <p:spPr bwMode="auto">
              <a:xfrm rot="-839945">
                <a:off x="3721" y="3296"/>
                <a:ext cx="27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b="0">
                    <a:solidFill>
                      <a:srgbClr val="0000FF"/>
                    </a:solidFill>
                    <a:latin typeface="ISOCPEUR" pitchFamily="34" charset="0"/>
                    <a:sym typeface="Symbol" pitchFamily="18" charset="2"/>
                  </a:rPr>
                  <a:t> </a:t>
                </a:r>
              </a:p>
            </p:txBody>
          </p:sp>
        </p:grpSp>
        <p:sp>
          <p:nvSpPr>
            <p:cNvPr id="49270" name="Text Box 50"/>
            <p:cNvSpPr txBox="1">
              <a:spLocks noChangeArrowheads="1"/>
            </p:cNvSpPr>
            <p:nvPr/>
          </p:nvSpPr>
          <p:spPr bwMode="auto">
            <a:xfrm>
              <a:off x="1274" y="655"/>
              <a:ext cx="45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700" b="0" i="1">
                  <a:solidFill>
                    <a:srgbClr val="0000FF"/>
                  </a:solidFill>
                  <a:latin typeface="ISOCPEUR" pitchFamily="34" charset="0"/>
                  <a:sym typeface="Romantic" pitchFamily="2" charset="2"/>
                </a:rPr>
                <a:t>36</a:t>
              </a:r>
            </a:p>
          </p:txBody>
        </p:sp>
        <p:sp>
          <p:nvSpPr>
            <p:cNvPr id="49271" name="Text Box 51"/>
            <p:cNvSpPr txBox="1">
              <a:spLocks noChangeArrowheads="1"/>
            </p:cNvSpPr>
            <p:nvPr/>
          </p:nvSpPr>
          <p:spPr bwMode="auto">
            <a:xfrm>
              <a:off x="1281" y="829"/>
              <a:ext cx="45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700" b="0" i="1">
                  <a:solidFill>
                    <a:srgbClr val="0000FF"/>
                  </a:solidFill>
                  <a:latin typeface="ISOCPEUR" pitchFamily="34" charset="0"/>
                  <a:sym typeface="Romantic" pitchFamily="2" charset="2"/>
                </a:rPr>
                <a:t>20</a:t>
              </a:r>
            </a:p>
          </p:txBody>
        </p:sp>
        <p:sp>
          <p:nvSpPr>
            <p:cNvPr id="49272" name="Text Box 52"/>
            <p:cNvSpPr txBox="1">
              <a:spLocks noChangeArrowheads="1"/>
            </p:cNvSpPr>
            <p:nvPr/>
          </p:nvSpPr>
          <p:spPr bwMode="auto">
            <a:xfrm>
              <a:off x="1258" y="1491"/>
              <a:ext cx="45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700" b="0" i="1">
                  <a:solidFill>
                    <a:srgbClr val="0000FF"/>
                  </a:solidFill>
                  <a:latin typeface="ISOCPEUR" pitchFamily="34" charset="0"/>
                  <a:sym typeface="Romantic" pitchFamily="2" charset="2"/>
                </a:rPr>
                <a:t>32</a:t>
              </a:r>
            </a:p>
          </p:txBody>
        </p:sp>
      </p:grpSp>
      <p:graphicFrame>
        <p:nvGraphicFramePr>
          <p:cNvPr id="252981" name="Object 53"/>
          <p:cNvGraphicFramePr>
            <a:graphicFrameLocks noChangeAspect="1"/>
          </p:cNvGraphicFramePr>
          <p:nvPr/>
        </p:nvGraphicFramePr>
        <p:xfrm>
          <a:off x="4970463" y="1739900"/>
          <a:ext cx="2963862" cy="393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" name="AutoCAD Drawing" r:id="rId18" imgW="11487150" imgH="7848600" progId="AutoCAD.Drawing.16">
                  <p:embed/>
                </p:oleObj>
              </mc:Choice>
              <mc:Fallback>
                <p:oleObj name="AutoCAD Drawing" r:id="rId18" imgW="11487150" imgH="7848600" progId="AutoCAD.Drawing.16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422" t="14406" r="61037" b="18549"/>
                      <a:stretch>
                        <a:fillRect/>
                      </a:stretch>
                    </p:blipFill>
                    <p:spPr bwMode="auto">
                      <a:xfrm>
                        <a:off x="4970463" y="1739900"/>
                        <a:ext cx="2963862" cy="393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82" name="Object 54"/>
          <p:cNvGraphicFramePr>
            <a:graphicFrameLocks noChangeAspect="1"/>
          </p:cNvGraphicFramePr>
          <p:nvPr/>
        </p:nvGraphicFramePr>
        <p:xfrm>
          <a:off x="5326063" y="3733800"/>
          <a:ext cx="2265362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0" name="AutoCAD Drawing" r:id="rId19" imgW="11487150" imgH="7848600" progId="AutoCAD.Drawing.16">
                  <p:embed/>
                </p:oleObj>
              </mc:Choice>
              <mc:Fallback>
                <p:oleObj name="AutoCAD Drawing" r:id="rId19" imgW="11487150" imgH="7848600" progId="AutoCAD.Drawing.16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847" t="48686" r="8751" b="36069"/>
                      <a:stretch>
                        <a:fillRect/>
                      </a:stretch>
                    </p:blipFill>
                    <p:spPr bwMode="auto">
                      <a:xfrm>
                        <a:off x="5326063" y="3733800"/>
                        <a:ext cx="2265362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83" name="Rectangle 55"/>
          <p:cNvSpPr>
            <a:spLocks noChangeArrowheads="1"/>
          </p:cNvSpPr>
          <p:nvPr/>
        </p:nvSpPr>
        <p:spPr bwMode="auto">
          <a:xfrm>
            <a:off x="2670175" y="647700"/>
            <a:ext cx="1190625" cy="327025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100">
                <a:ea typeface="黑体" pitchFamily="2" charset="-122"/>
              </a:rPr>
              <a:t>形体分析</a:t>
            </a:r>
          </a:p>
        </p:txBody>
      </p:sp>
      <p:sp>
        <p:nvSpPr>
          <p:cNvPr id="252984" name="Rectangle 56"/>
          <p:cNvSpPr>
            <a:spLocks noChangeArrowheads="1"/>
          </p:cNvSpPr>
          <p:nvPr/>
        </p:nvSpPr>
        <p:spPr bwMode="auto">
          <a:xfrm>
            <a:off x="4114800" y="646113"/>
            <a:ext cx="1190625" cy="327025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100">
                <a:ea typeface="黑体" pitchFamily="2" charset="-122"/>
              </a:rPr>
              <a:t>尺寸基准</a:t>
            </a:r>
          </a:p>
        </p:txBody>
      </p:sp>
      <p:sp>
        <p:nvSpPr>
          <p:cNvPr id="252985" name="AutoShape 57"/>
          <p:cNvSpPr>
            <a:spLocks noChangeArrowheads="1"/>
          </p:cNvSpPr>
          <p:nvPr/>
        </p:nvSpPr>
        <p:spPr bwMode="auto">
          <a:xfrm>
            <a:off x="3852863" y="703263"/>
            <a:ext cx="258762" cy="207962"/>
          </a:xfrm>
          <a:prstGeom prst="rightArrow">
            <a:avLst>
              <a:gd name="adj1" fmla="val 50000"/>
              <a:gd name="adj2" fmla="val 31107"/>
            </a:avLst>
          </a:prstGeom>
          <a:solidFill>
            <a:srgbClr val="FF3300"/>
          </a:solidFill>
          <a:ln w="0">
            <a:solidFill>
              <a:srgbClr val="FF3300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2986" name="Rectangle 58"/>
          <p:cNvSpPr>
            <a:spLocks noChangeArrowheads="1"/>
          </p:cNvSpPr>
          <p:nvPr/>
        </p:nvSpPr>
        <p:spPr bwMode="auto">
          <a:xfrm>
            <a:off x="5561013" y="647700"/>
            <a:ext cx="2028825" cy="327025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100">
                <a:ea typeface="黑体" pitchFamily="2" charset="-122"/>
              </a:rPr>
              <a:t>定位、定形尺寸</a:t>
            </a:r>
          </a:p>
        </p:txBody>
      </p:sp>
      <p:sp>
        <p:nvSpPr>
          <p:cNvPr id="252987" name="AutoShape 59"/>
          <p:cNvSpPr>
            <a:spLocks noChangeArrowheads="1"/>
          </p:cNvSpPr>
          <p:nvPr/>
        </p:nvSpPr>
        <p:spPr bwMode="auto">
          <a:xfrm>
            <a:off x="5299075" y="704850"/>
            <a:ext cx="258763" cy="207963"/>
          </a:xfrm>
          <a:prstGeom prst="rightArrow">
            <a:avLst>
              <a:gd name="adj1" fmla="val 50000"/>
              <a:gd name="adj2" fmla="val 31107"/>
            </a:avLst>
          </a:prstGeom>
          <a:solidFill>
            <a:srgbClr val="FF3300"/>
          </a:solidFill>
          <a:ln w="0">
            <a:solidFill>
              <a:srgbClr val="FF3300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2988" name="Rectangle 60"/>
          <p:cNvSpPr>
            <a:spLocks noChangeArrowheads="1"/>
          </p:cNvSpPr>
          <p:nvPr/>
        </p:nvSpPr>
        <p:spPr bwMode="auto">
          <a:xfrm>
            <a:off x="7858125" y="642938"/>
            <a:ext cx="1190625" cy="327025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100">
                <a:ea typeface="黑体" pitchFamily="2" charset="-122"/>
              </a:rPr>
              <a:t>总体尺寸</a:t>
            </a:r>
          </a:p>
        </p:txBody>
      </p:sp>
      <p:sp>
        <p:nvSpPr>
          <p:cNvPr id="252989" name="AutoShape 61"/>
          <p:cNvSpPr>
            <a:spLocks noChangeArrowheads="1"/>
          </p:cNvSpPr>
          <p:nvPr/>
        </p:nvSpPr>
        <p:spPr bwMode="auto">
          <a:xfrm>
            <a:off x="7596188" y="700088"/>
            <a:ext cx="258762" cy="207962"/>
          </a:xfrm>
          <a:prstGeom prst="rightArrow">
            <a:avLst>
              <a:gd name="adj1" fmla="val 50000"/>
              <a:gd name="adj2" fmla="val 31107"/>
            </a:avLst>
          </a:prstGeom>
          <a:solidFill>
            <a:srgbClr val="FF3300"/>
          </a:solidFill>
          <a:ln w="0">
            <a:solidFill>
              <a:srgbClr val="FF3300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2990" name="AutoShape 62"/>
          <p:cNvSpPr>
            <a:spLocks noChangeArrowheads="1"/>
          </p:cNvSpPr>
          <p:nvPr/>
        </p:nvSpPr>
        <p:spPr bwMode="auto">
          <a:xfrm>
            <a:off x="8559800" y="966788"/>
            <a:ext cx="239713" cy="241300"/>
          </a:xfrm>
          <a:prstGeom prst="downArrow">
            <a:avLst>
              <a:gd name="adj1" fmla="val 50000"/>
              <a:gd name="adj2" fmla="val 25166"/>
            </a:avLst>
          </a:prstGeom>
          <a:solidFill>
            <a:srgbClr val="FF3300"/>
          </a:solidFill>
          <a:ln w="0">
            <a:solidFill>
              <a:srgbClr val="FF3300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2991" name="Rectangle 63"/>
          <p:cNvSpPr>
            <a:spLocks noChangeArrowheads="1"/>
          </p:cNvSpPr>
          <p:nvPr/>
        </p:nvSpPr>
        <p:spPr bwMode="auto">
          <a:xfrm>
            <a:off x="8497888" y="1214438"/>
            <a:ext cx="371475" cy="1284287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100">
                <a:ea typeface="黑体" pitchFamily="2" charset="-122"/>
              </a:rPr>
              <a:t>尺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100">
                <a:ea typeface="黑体" pitchFamily="2" charset="-122"/>
              </a:rPr>
              <a:t>寸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100">
                <a:ea typeface="黑体" pitchFamily="2" charset="-122"/>
              </a:rPr>
              <a:t>调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100">
                <a:ea typeface="黑体" pitchFamily="2" charset="-122"/>
              </a:rPr>
              <a:t>整</a:t>
            </a:r>
          </a:p>
        </p:txBody>
      </p:sp>
      <p:sp>
        <p:nvSpPr>
          <p:cNvPr id="252992" name="AutoShape 64"/>
          <p:cNvSpPr>
            <a:spLocks noChangeArrowheads="1"/>
          </p:cNvSpPr>
          <p:nvPr/>
        </p:nvSpPr>
        <p:spPr bwMode="auto">
          <a:xfrm>
            <a:off x="960438" y="5799138"/>
            <a:ext cx="2690812" cy="131762"/>
          </a:xfrm>
          <a:prstGeom prst="leftRightArrow">
            <a:avLst>
              <a:gd name="adj1" fmla="val 50000"/>
              <a:gd name="adj2" fmla="val 408435"/>
            </a:avLst>
          </a:prstGeom>
          <a:solidFill>
            <a:srgbClr val="FF0066"/>
          </a:solidFill>
          <a:ln w="0">
            <a:solidFill>
              <a:srgbClr val="FF3300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10" name="Group 65"/>
          <p:cNvGrpSpPr>
            <a:grpSpLocks/>
          </p:cNvGrpSpPr>
          <p:nvPr/>
        </p:nvGrpSpPr>
        <p:grpSpPr bwMode="auto">
          <a:xfrm>
            <a:off x="6116638" y="4673600"/>
            <a:ext cx="533400" cy="336550"/>
            <a:chOff x="3938" y="2944"/>
            <a:chExt cx="336" cy="212"/>
          </a:xfrm>
        </p:grpSpPr>
        <p:pic>
          <p:nvPicPr>
            <p:cNvPr id="49263" name="Picture 66" descr="空白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" y="2957"/>
              <a:ext cx="2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264" name="Picture 67" descr="空白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2" y="3064"/>
              <a:ext cx="138" cy="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65" name="Rectangle 68"/>
            <p:cNvSpPr>
              <a:spLocks noChangeArrowheads="1"/>
            </p:cNvSpPr>
            <p:nvPr/>
          </p:nvSpPr>
          <p:spPr bwMode="auto">
            <a:xfrm rot="-2379845">
              <a:off x="3938" y="2944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0" i="1">
                  <a:latin typeface="ISOCPEUR" pitchFamily="34" charset="0"/>
                  <a:sym typeface="Romantic" pitchFamily="2" charset="2"/>
                </a:rPr>
                <a:t></a:t>
              </a:r>
              <a:r>
                <a:rPr lang="en-US" altLang="zh-CN" sz="1600" i="1">
                  <a:latin typeface="ISOCPEUR" pitchFamily="34" charset="0"/>
                  <a:sym typeface="Romantic" pitchFamily="2" charset="2"/>
                </a:rPr>
                <a:t>64</a:t>
              </a:r>
              <a:endParaRPr lang="en-US" altLang="zh-CN" sz="1600">
                <a:latin typeface="ISOCPEUR" pitchFamily="34" charset="0"/>
                <a:sym typeface="Romantic" pitchFamily="2" charset="2"/>
              </a:endParaRPr>
            </a:p>
          </p:txBody>
        </p:sp>
      </p:grpSp>
      <p:sp>
        <p:nvSpPr>
          <p:cNvPr id="252997" name="Rectangle 69"/>
          <p:cNvSpPr>
            <a:spLocks noChangeArrowheads="1"/>
          </p:cNvSpPr>
          <p:nvPr/>
        </p:nvSpPr>
        <p:spPr bwMode="auto">
          <a:xfrm>
            <a:off x="3821113" y="4202113"/>
            <a:ext cx="336550" cy="1414462"/>
          </a:xfrm>
          <a:prstGeom prst="rect">
            <a:avLst/>
          </a:prstGeom>
          <a:solidFill>
            <a:srgbClr val="FF0066"/>
          </a:solidFill>
          <a:ln w="0">
            <a:solidFill>
              <a:srgbClr val="FF0066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aphicFrame>
        <p:nvGraphicFramePr>
          <p:cNvPr id="252998" name="Object 70"/>
          <p:cNvGraphicFramePr>
            <a:graphicFrameLocks noChangeAspect="1"/>
          </p:cNvGraphicFramePr>
          <p:nvPr/>
        </p:nvGraphicFramePr>
        <p:xfrm>
          <a:off x="5903913" y="4243388"/>
          <a:ext cx="1101725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1" name="AutoCAD Drawing" r:id="rId21" imgW="11487150" imgH="7848600" progId="AutoCAD.Drawing.16">
                  <p:embed/>
                </p:oleObj>
              </mc:Choice>
              <mc:Fallback>
                <p:oleObj name="AutoCAD Drawing" r:id="rId21" imgW="11487150" imgH="7848600" progId="AutoCAD.Drawing.16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1582" t="57108" r="15578" b="20905"/>
                      <a:stretch>
                        <a:fillRect/>
                      </a:stretch>
                    </p:blipFill>
                    <p:spPr bwMode="auto">
                      <a:xfrm>
                        <a:off x="5903913" y="4243388"/>
                        <a:ext cx="1101725" cy="128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99" name="Rectangle 71"/>
          <p:cNvSpPr>
            <a:spLocks noChangeArrowheads="1"/>
          </p:cNvSpPr>
          <p:nvPr/>
        </p:nvSpPr>
        <p:spPr bwMode="auto">
          <a:xfrm>
            <a:off x="3114675" y="2416175"/>
            <a:ext cx="854075" cy="319088"/>
          </a:xfrm>
          <a:prstGeom prst="rect">
            <a:avLst/>
          </a:prstGeom>
          <a:solidFill>
            <a:srgbClr val="FF0066"/>
          </a:solidFill>
          <a:ln w="0">
            <a:solidFill>
              <a:srgbClr val="FF3300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aphicFrame>
        <p:nvGraphicFramePr>
          <p:cNvPr id="253000" name="Object 72"/>
          <p:cNvGraphicFramePr>
            <a:graphicFrameLocks noChangeAspect="1"/>
          </p:cNvGraphicFramePr>
          <p:nvPr/>
        </p:nvGraphicFramePr>
        <p:xfrm>
          <a:off x="7518400" y="4333875"/>
          <a:ext cx="8255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2" name="AutoCAD Drawing" r:id="rId23" imgW="11487150" imgH="7848600" progId="AutoCAD.Drawing.16">
                  <p:embed/>
                </p:oleObj>
              </mc:Choice>
              <mc:Fallback>
                <p:oleObj name="AutoCAD Drawing" r:id="rId23" imgW="11487150" imgH="7848600" progId="AutoCAD.Drawing.16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90379" t="58705" b="31032"/>
                      <a:stretch>
                        <a:fillRect/>
                      </a:stretch>
                    </p:blipFill>
                    <p:spPr bwMode="auto">
                      <a:xfrm>
                        <a:off x="7518400" y="4333875"/>
                        <a:ext cx="82550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001" name="Rectangle 73"/>
          <p:cNvSpPr>
            <a:spLocks noChangeArrowheads="1"/>
          </p:cNvSpPr>
          <p:nvPr/>
        </p:nvSpPr>
        <p:spPr bwMode="auto">
          <a:xfrm>
            <a:off x="1287463" y="3278188"/>
            <a:ext cx="755650" cy="354012"/>
          </a:xfrm>
          <a:prstGeom prst="rect">
            <a:avLst/>
          </a:prstGeom>
          <a:solidFill>
            <a:srgbClr val="FF0066"/>
          </a:solidFill>
          <a:ln w="0">
            <a:solidFill>
              <a:srgbClr val="FF3399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11" name="Group 74"/>
          <p:cNvGrpSpPr>
            <a:grpSpLocks/>
          </p:cNvGrpSpPr>
          <p:nvPr/>
        </p:nvGrpSpPr>
        <p:grpSpPr bwMode="auto">
          <a:xfrm>
            <a:off x="7113588" y="3152775"/>
            <a:ext cx="1508125" cy="496888"/>
            <a:chOff x="4566" y="1986"/>
            <a:chExt cx="950" cy="313"/>
          </a:xfrm>
        </p:grpSpPr>
        <p:graphicFrame>
          <p:nvGraphicFramePr>
            <p:cNvPr id="49259" name="Object 75"/>
            <p:cNvGraphicFramePr>
              <a:graphicFrameLocks noChangeAspect="1"/>
            </p:cNvGraphicFramePr>
            <p:nvPr/>
          </p:nvGraphicFramePr>
          <p:xfrm>
            <a:off x="4566" y="1986"/>
            <a:ext cx="775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3" name="AutoCAD Drawing" r:id="rId25" imgW="11487150" imgH="7848600" progId="AutoCAD.Drawing.16">
                    <p:embed/>
                  </p:oleObj>
                </mc:Choice>
                <mc:Fallback>
                  <p:oleObj name="AutoCAD Drawing" r:id="rId25" imgW="11487150" imgH="7848600" progId="AutoCAD.Drawing.16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85661" t="38397" b="53128"/>
                        <a:stretch>
                          <a:fillRect/>
                        </a:stretch>
                      </p:blipFill>
                      <p:spPr bwMode="auto">
                        <a:xfrm>
                          <a:off x="4566" y="1986"/>
                          <a:ext cx="775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9260" name="Group 76"/>
            <p:cNvGrpSpPr>
              <a:grpSpLocks/>
            </p:cNvGrpSpPr>
            <p:nvPr/>
          </p:nvGrpSpPr>
          <p:grpSpPr bwMode="auto">
            <a:xfrm>
              <a:off x="4944" y="1987"/>
              <a:ext cx="572" cy="230"/>
              <a:chOff x="4944" y="1987"/>
              <a:chExt cx="572" cy="230"/>
            </a:xfrm>
          </p:grpSpPr>
          <p:sp>
            <p:nvSpPr>
              <p:cNvPr id="49261" name="Text Box 77"/>
              <p:cNvSpPr txBox="1">
                <a:spLocks noChangeArrowheads="1"/>
              </p:cNvSpPr>
              <p:nvPr/>
            </p:nvSpPr>
            <p:spPr bwMode="auto">
              <a:xfrm>
                <a:off x="4944" y="2005"/>
                <a:ext cx="57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b="0" i="1">
                    <a:latin typeface="ISOCPEUR" pitchFamily="34" charset="0"/>
                  </a:rPr>
                  <a:t>2X   </a:t>
                </a:r>
                <a:r>
                  <a:rPr lang="en-US" altLang="zh-CN" sz="1600" b="0" i="1">
                    <a:latin typeface="ISOCPEUR" pitchFamily="34" charset="0"/>
                    <a:sym typeface="Technic" pitchFamily="2" charset="2"/>
                  </a:rPr>
                  <a:t>8</a:t>
                </a:r>
              </a:p>
            </p:txBody>
          </p:sp>
          <p:sp>
            <p:nvSpPr>
              <p:cNvPr id="49262" name="Text Box 78"/>
              <p:cNvSpPr txBox="1">
                <a:spLocks noChangeArrowheads="1"/>
              </p:cNvSpPr>
              <p:nvPr/>
            </p:nvSpPr>
            <p:spPr bwMode="auto">
              <a:xfrm rot="-839945">
                <a:off x="5095" y="1987"/>
                <a:ext cx="27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b="0">
                    <a:latin typeface="ISOCPEUR" pitchFamily="34" charset="0"/>
                    <a:sym typeface="Symbol" pitchFamily="18" charset="2"/>
                  </a:rPr>
                  <a:t> </a:t>
                </a:r>
              </a:p>
            </p:txBody>
          </p:sp>
        </p:grpSp>
      </p:grpSp>
      <p:sp>
        <p:nvSpPr>
          <p:cNvPr id="253007" name="Rectangle 79"/>
          <p:cNvSpPr>
            <a:spLocks noChangeArrowheads="1"/>
          </p:cNvSpPr>
          <p:nvPr/>
        </p:nvSpPr>
        <p:spPr bwMode="auto">
          <a:xfrm>
            <a:off x="2079625" y="2459038"/>
            <a:ext cx="379413" cy="171450"/>
          </a:xfrm>
          <a:prstGeom prst="rect">
            <a:avLst/>
          </a:prstGeom>
          <a:solidFill>
            <a:srgbClr val="FF0066"/>
          </a:solidFill>
          <a:ln w="0">
            <a:solidFill>
              <a:srgbClr val="FF0066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3008" name="Rectangle 80"/>
          <p:cNvSpPr>
            <a:spLocks noChangeArrowheads="1"/>
          </p:cNvSpPr>
          <p:nvPr/>
        </p:nvSpPr>
        <p:spPr bwMode="auto">
          <a:xfrm>
            <a:off x="741363" y="2190750"/>
            <a:ext cx="276225" cy="630238"/>
          </a:xfrm>
          <a:prstGeom prst="rect">
            <a:avLst/>
          </a:prstGeom>
          <a:solidFill>
            <a:srgbClr val="FF0066"/>
          </a:solidFill>
          <a:ln w="0">
            <a:solidFill>
              <a:srgbClr val="FF0066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13" name="Group 81"/>
          <p:cNvGrpSpPr>
            <a:grpSpLocks/>
          </p:cNvGrpSpPr>
          <p:nvPr/>
        </p:nvGrpSpPr>
        <p:grpSpPr bwMode="auto">
          <a:xfrm>
            <a:off x="5919788" y="2363788"/>
            <a:ext cx="1076325" cy="349250"/>
            <a:chOff x="3814" y="1489"/>
            <a:chExt cx="678" cy="220"/>
          </a:xfrm>
        </p:grpSpPr>
        <p:graphicFrame>
          <p:nvGraphicFramePr>
            <p:cNvPr id="49255" name="Object 82"/>
            <p:cNvGraphicFramePr>
              <a:graphicFrameLocks noChangeAspect="1"/>
            </p:cNvGraphicFramePr>
            <p:nvPr/>
          </p:nvGraphicFramePr>
          <p:xfrm>
            <a:off x="3814" y="1633"/>
            <a:ext cx="678" cy="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4" name="AutoCAD Drawing" r:id="rId27" imgW="11487150" imgH="7848600" progId="AutoCAD.Drawing.16">
                    <p:embed/>
                  </p:oleObj>
                </mc:Choice>
                <mc:Fallback>
                  <p:oleObj name="AutoCAD Drawing" r:id="rId27" imgW="11487150" imgH="7848600" progId="AutoCAD.Drawing.16">
                    <p:embed/>
                    <p:pic>
                      <p:nvPicPr>
                        <p:cNvPr id="0" name="Object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71767" t="28973" r="15689" b="69293"/>
                        <a:stretch>
                          <a:fillRect/>
                        </a:stretch>
                      </p:blipFill>
                      <p:spPr bwMode="auto">
                        <a:xfrm>
                          <a:off x="3814" y="1633"/>
                          <a:ext cx="678" cy="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9256" name="Group 83"/>
            <p:cNvGrpSpPr>
              <a:grpSpLocks/>
            </p:cNvGrpSpPr>
            <p:nvPr/>
          </p:nvGrpSpPr>
          <p:grpSpPr bwMode="auto">
            <a:xfrm>
              <a:off x="3974" y="1489"/>
              <a:ext cx="451" cy="220"/>
              <a:chOff x="3974" y="1489"/>
              <a:chExt cx="451" cy="220"/>
            </a:xfrm>
          </p:grpSpPr>
          <p:pic>
            <p:nvPicPr>
              <p:cNvPr id="49257" name="Picture 84" descr="空白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79" y="1528"/>
                <a:ext cx="147" cy="1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258" name="Text Box 85"/>
              <p:cNvSpPr txBox="1">
                <a:spLocks noChangeArrowheads="1"/>
              </p:cNvSpPr>
              <p:nvPr/>
            </p:nvSpPr>
            <p:spPr bwMode="auto">
              <a:xfrm>
                <a:off x="3974" y="1489"/>
                <a:ext cx="451" cy="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 type="none" w="sm" len="lg"/>
                    <a:tailEnd type="none" w="sm" len="lg"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700" b="0" i="1">
                    <a:latin typeface="ISOCPEUR" pitchFamily="34" charset="0"/>
                    <a:sym typeface="Romantic" pitchFamily="2" charset="2"/>
                  </a:rPr>
                  <a:t>32</a:t>
                </a:r>
              </a:p>
            </p:txBody>
          </p:sp>
        </p:grpSp>
      </p:grpSp>
      <p:graphicFrame>
        <p:nvGraphicFramePr>
          <p:cNvPr id="253014" name="Object 86"/>
          <p:cNvGraphicFramePr>
            <a:graphicFrameLocks noChangeAspect="1"/>
          </p:cNvGraphicFramePr>
          <p:nvPr/>
        </p:nvGraphicFramePr>
        <p:xfrm>
          <a:off x="4584700" y="2524125"/>
          <a:ext cx="54927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5" name="AutoCAD Drawing" r:id="rId29" imgW="11487150" imgH="7848600" progId="AutoCAD.Drawing.16">
                  <p:embed/>
                </p:oleObj>
              </mc:Choice>
              <mc:Fallback>
                <p:oleObj name="AutoCAD Drawing" r:id="rId29" imgW="11487150" imgH="7848600" progId="AutoCAD.Drawing.16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6096" t="27673" r="37503" b="55754"/>
                      <a:stretch>
                        <a:fillRect/>
                      </a:stretch>
                    </p:blipFill>
                    <p:spPr bwMode="auto">
                      <a:xfrm>
                        <a:off x="4584700" y="2524125"/>
                        <a:ext cx="54927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87"/>
          <p:cNvGrpSpPr>
            <a:grpSpLocks/>
          </p:cNvGrpSpPr>
          <p:nvPr/>
        </p:nvGrpSpPr>
        <p:grpSpPr bwMode="auto">
          <a:xfrm>
            <a:off x="5864225" y="1017588"/>
            <a:ext cx="1195388" cy="938212"/>
            <a:chOff x="3779" y="641"/>
            <a:chExt cx="753" cy="591"/>
          </a:xfrm>
        </p:grpSpPr>
        <p:graphicFrame>
          <p:nvGraphicFramePr>
            <p:cNvPr id="49253" name="Object 88"/>
            <p:cNvGraphicFramePr>
              <a:graphicFrameLocks noChangeAspect="1"/>
            </p:cNvGraphicFramePr>
            <p:nvPr/>
          </p:nvGraphicFramePr>
          <p:xfrm>
            <a:off x="3779" y="755"/>
            <a:ext cx="753" cy="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6" name="AutoCAD Drawing" r:id="rId31" imgW="11487150" imgH="7848600" progId="AutoCAD.Drawing.16">
                    <p:embed/>
                  </p:oleObj>
                </mc:Choice>
                <mc:Fallback>
                  <p:oleObj name="AutoCAD Drawing" r:id="rId31" imgW="11487150" imgH="7848600" progId="AutoCAD.Drawing.16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71083" t="5145" r="14986" b="81938"/>
                        <a:stretch>
                          <a:fillRect/>
                        </a:stretch>
                      </p:blipFill>
                      <p:spPr bwMode="auto">
                        <a:xfrm>
                          <a:off x="3779" y="755"/>
                          <a:ext cx="753" cy="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254" name="Text Box 89"/>
            <p:cNvSpPr txBox="1">
              <a:spLocks noChangeArrowheads="1"/>
            </p:cNvSpPr>
            <p:nvPr/>
          </p:nvSpPr>
          <p:spPr bwMode="auto">
            <a:xfrm>
              <a:off x="3961" y="641"/>
              <a:ext cx="45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700" b="0" i="1">
                  <a:latin typeface="ISOCPEUR" pitchFamily="34" charset="0"/>
                  <a:sym typeface="Romantic" pitchFamily="2" charset="2"/>
                </a:rPr>
                <a:t>36</a:t>
              </a:r>
            </a:p>
          </p:txBody>
        </p:sp>
      </p:grpSp>
      <p:sp>
        <p:nvSpPr>
          <p:cNvPr id="253018" name="Rectangle 90"/>
          <p:cNvSpPr>
            <a:spLocks noChangeArrowheads="1"/>
          </p:cNvSpPr>
          <p:nvPr/>
        </p:nvSpPr>
        <p:spPr bwMode="auto">
          <a:xfrm>
            <a:off x="974725" y="1544638"/>
            <a:ext cx="301625" cy="939800"/>
          </a:xfrm>
          <a:prstGeom prst="rect">
            <a:avLst/>
          </a:prstGeom>
          <a:solidFill>
            <a:srgbClr val="FF0066"/>
          </a:solidFill>
          <a:ln w="0">
            <a:solidFill>
              <a:srgbClr val="FF0066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16" name="Group 91"/>
          <p:cNvGrpSpPr>
            <a:grpSpLocks/>
          </p:cNvGrpSpPr>
          <p:nvPr/>
        </p:nvGrpSpPr>
        <p:grpSpPr bwMode="auto">
          <a:xfrm>
            <a:off x="6164263" y="1293813"/>
            <a:ext cx="715962" cy="596900"/>
            <a:chOff x="3968" y="815"/>
            <a:chExt cx="451" cy="376"/>
          </a:xfrm>
        </p:grpSpPr>
        <p:sp>
          <p:nvSpPr>
            <p:cNvPr id="49251" name="Text Box 92"/>
            <p:cNvSpPr txBox="1">
              <a:spLocks noChangeArrowheads="1"/>
            </p:cNvSpPr>
            <p:nvPr/>
          </p:nvSpPr>
          <p:spPr bwMode="auto">
            <a:xfrm>
              <a:off x="3968" y="815"/>
              <a:ext cx="45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700" b="0" i="1">
                  <a:latin typeface="ISOCPEUR" pitchFamily="34" charset="0"/>
                  <a:sym typeface="Romantic" pitchFamily="2" charset="2"/>
                </a:rPr>
                <a:t>20</a:t>
              </a:r>
            </a:p>
          </p:txBody>
        </p:sp>
        <p:graphicFrame>
          <p:nvGraphicFramePr>
            <p:cNvPr id="49252" name="Object 93"/>
            <p:cNvGraphicFramePr>
              <a:graphicFrameLocks noChangeAspect="1"/>
            </p:cNvGraphicFramePr>
            <p:nvPr/>
          </p:nvGraphicFramePr>
          <p:xfrm>
            <a:off x="4010" y="917"/>
            <a:ext cx="389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7" name="AutoCAD Drawing" r:id="rId33" imgW="11487150" imgH="7848600" progId="AutoCAD.Drawing.16">
                    <p:embed/>
                  </p:oleObj>
                </mc:Choice>
                <mc:Fallback>
                  <p:oleObj name="AutoCAD Drawing" r:id="rId33" imgW="11487150" imgH="7848600" progId="AutoCAD.Drawing.16">
                    <p:embed/>
                    <p:pic>
                      <p:nvPicPr>
                        <p:cNvPr id="0" name="Object 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75412" t="9586" r="17390" b="82996"/>
                        <a:stretch>
                          <a:fillRect/>
                        </a:stretch>
                      </p:blipFill>
                      <p:spPr bwMode="auto">
                        <a:xfrm>
                          <a:off x="4010" y="917"/>
                          <a:ext cx="389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3022" name="Rectangle 94"/>
          <p:cNvSpPr>
            <a:spLocks noChangeArrowheads="1"/>
          </p:cNvSpPr>
          <p:nvPr/>
        </p:nvSpPr>
        <p:spPr bwMode="auto">
          <a:xfrm>
            <a:off x="2079625" y="3313113"/>
            <a:ext cx="396875" cy="180975"/>
          </a:xfrm>
          <a:prstGeom prst="rect">
            <a:avLst/>
          </a:prstGeom>
          <a:solidFill>
            <a:srgbClr val="FF0066"/>
          </a:solidFill>
          <a:ln w="0">
            <a:solidFill>
              <a:srgbClr val="FF0066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3023" name="Rectangle 95"/>
          <p:cNvSpPr>
            <a:spLocks noChangeArrowheads="1"/>
          </p:cNvSpPr>
          <p:nvPr/>
        </p:nvSpPr>
        <p:spPr bwMode="auto">
          <a:xfrm>
            <a:off x="4019550" y="2371725"/>
            <a:ext cx="173038" cy="258763"/>
          </a:xfrm>
          <a:prstGeom prst="rect">
            <a:avLst/>
          </a:prstGeom>
          <a:solidFill>
            <a:srgbClr val="FF0066"/>
          </a:solidFill>
          <a:ln w="0">
            <a:solidFill>
              <a:srgbClr val="FF0066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17" name="Group 96"/>
          <p:cNvGrpSpPr>
            <a:grpSpLocks/>
          </p:cNvGrpSpPr>
          <p:nvPr/>
        </p:nvGrpSpPr>
        <p:grpSpPr bwMode="auto">
          <a:xfrm>
            <a:off x="6167438" y="3152775"/>
            <a:ext cx="590550" cy="471488"/>
            <a:chOff x="3970" y="1986"/>
            <a:chExt cx="372" cy="297"/>
          </a:xfrm>
        </p:grpSpPr>
        <p:graphicFrame>
          <p:nvGraphicFramePr>
            <p:cNvPr id="49249" name="Object 97"/>
            <p:cNvGraphicFramePr>
              <a:graphicFrameLocks noChangeAspect="1"/>
            </p:cNvGraphicFramePr>
            <p:nvPr/>
          </p:nvGraphicFramePr>
          <p:xfrm>
            <a:off x="3985" y="1986"/>
            <a:ext cx="357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8" name="AutoCAD Drawing" r:id="rId35" imgW="11487150" imgH="7848600" progId="AutoCAD.Drawing.16">
                    <p:embed/>
                  </p:oleObj>
                </mc:Choice>
                <mc:Fallback>
                  <p:oleObj name="AutoCAD Drawing" r:id="rId35" imgW="11487150" imgH="7848600" progId="AutoCAD.Drawing.16">
                    <p:embed/>
                    <p:pic>
                      <p:nvPicPr>
                        <p:cNvPr id="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74893" t="38397" r="18501" b="53561"/>
                        <a:stretch>
                          <a:fillRect/>
                        </a:stretch>
                      </p:blipFill>
                      <p:spPr bwMode="auto">
                        <a:xfrm>
                          <a:off x="3985" y="1986"/>
                          <a:ext cx="357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250" name="Text Box 98"/>
            <p:cNvSpPr txBox="1">
              <a:spLocks noChangeArrowheads="1"/>
            </p:cNvSpPr>
            <p:nvPr/>
          </p:nvSpPr>
          <p:spPr bwMode="auto">
            <a:xfrm>
              <a:off x="3970" y="2025"/>
              <a:ext cx="337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700" b="0" i="1">
                  <a:latin typeface="ISOCPEUR" pitchFamily="34" charset="0"/>
                  <a:sym typeface="Romantic" pitchFamily="2" charset="2"/>
                </a:rPr>
                <a:t>16</a:t>
              </a:r>
            </a:p>
          </p:txBody>
        </p:sp>
      </p:grpSp>
      <p:grpSp>
        <p:nvGrpSpPr>
          <p:cNvPr id="18" name="Group 99"/>
          <p:cNvGrpSpPr>
            <a:grpSpLocks/>
          </p:cNvGrpSpPr>
          <p:nvPr/>
        </p:nvGrpSpPr>
        <p:grpSpPr bwMode="auto">
          <a:xfrm flipV="1">
            <a:off x="1982788" y="2717800"/>
            <a:ext cx="293687" cy="447675"/>
            <a:chOff x="875" y="1375"/>
            <a:chExt cx="201" cy="277"/>
          </a:xfrm>
        </p:grpSpPr>
        <p:sp>
          <p:nvSpPr>
            <p:cNvPr id="49247" name="Line 100"/>
            <p:cNvSpPr>
              <a:spLocks noChangeShapeType="1"/>
            </p:cNvSpPr>
            <p:nvPr/>
          </p:nvSpPr>
          <p:spPr bwMode="auto">
            <a:xfrm>
              <a:off x="875" y="1375"/>
              <a:ext cx="201" cy="0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248" name="AutoShape 101"/>
            <p:cNvSpPr>
              <a:spLocks noChangeArrowheads="1"/>
            </p:cNvSpPr>
            <p:nvPr/>
          </p:nvSpPr>
          <p:spPr bwMode="auto">
            <a:xfrm>
              <a:off x="931" y="1380"/>
              <a:ext cx="88" cy="272"/>
            </a:xfrm>
            <a:prstGeom prst="downArrow">
              <a:avLst>
                <a:gd name="adj1" fmla="val 50000"/>
                <a:gd name="adj2" fmla="val 77273"/>
              </a:avLst>
            </a:prstGeom>
            <a:solidFill>
              <a:srgbClr val="FF0066"/>
            </a:solidFill>
            <a:ln w="0">
              <a:solidFill>
                <a:srgbClr val="FF0066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19" name="Group 102"/>
          <p:cNvGrpSpPr>
            <a:grpSpLocks/>
          </p:cNvGrpSpPr>
          <p:nvPr/>
        </p:nvGrpSpPr>
        <p:grpSpPr bwMode="auto">
          <a:xfrm flipV="1">
            <a:off x="2333625" y="1936750"/>
            <a:ext cx="293688" cy="447675"/>
            <a:chOff x="875" y="1375"/>
            <a:chExt cx="201" cy="277"/>
          </a:xfrm>
        </p:grpSpPr>
        <p:sp>
          <p:nvSpPr>
            <p:cNvPr id="49245" name="Line 103"/>
            <p:cNvSpPr>
              <a:spLocks noChangeShapeType="1"/>
            </p:cNvSpPr>
            <p:nvPr/>
          </p:nvSpPr>
          <p:spPr bwMode="auto">
            <a:xfrm>
              <a:off x="875" y="1375"/>
              <a:ext cx="201" cy="0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246" name="AutoShape 104"/>
            <p:cNvSpPr>
              <a:spLocks noChangeArrowheads="1"/>
            </p:cNvSpPr>
            <p:nvPr/>
          </p:nvSpPr>
          <p:spPr bwMode="auto">
            <a:xfrm>
              <a:off x="931" y="1380"/>
              <a:ext cx="88" cy="272"/>
            </a:xfrm>
            <a:prstGeom prst="downArrow">
              <a:avLst>
                <a:gd name="adj1" fmla="val 50000"/>
                <a:gd name="adj2" fmla="val 77273"/>
              </a:avLst>
            </a:prstGeom>
            <a:solidFill>
              <a:srgbClr val="FF0066"/>
            </a:solidFill>
            <a:ln w="0">
              <a:solidFill>
                <a:srgbClr val="FF0066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aphicFrame>
        <p:nvGraphicFramePr>
          <p:cNvPr id="253033" name="Object 105"/>
          <p:cNvGraphicFramePr>
            <a:graphicFrameLocks noChangeAspect="1"/>
          </p:cNvGraphicFramePr>
          <p:nvPr/>
        </p:nvGraphicFramePr>
        <p:xfrm>
          <a:off x="6832600" y="1519238"/>
          <a:ext cx="765175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9" name="AutoCAD Drawing" r:id="rId37" imgW="11487150" imgH="7848600" progId="AutoCAD.Drawing.16">
                  <p:embed/>
                </p:oleObj>
              </mc:Choice>
              <mc:Fallback>
                <p:oleObj name="AutoCAD Drawing" r:id="rId37" imgW="11487150" imgH="7848600" progId="AutoCAD.Drawing.16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2239" t="10588" r="8844" b="69023"/>
                      <a:stretch>
                        <a:fillRect/>
                      </a:stretch>
                    </p:blipFill>
                    <p:spPr bwMode="auto">
                      <a:xfrm>
                        <a:off x="6832600" y="1519238"/>
                        <a:ext cx="765175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034" name="Rectangle 106"/>
          <p:cNvSpPr>
            <a:spLocks noChangeArrowheads="1"/>
          </p:cNvSpPr>
          <p:nvPr/>
        </p:nvSpPr>
        <p:spPr bwMode="auto">
          <a:xfrm>
            <a:off x="3519488" y="1157288"/>
            <a:ext cx="776287" cy="404812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>
                <a:solidFill>
                  <a:srgbClr val="FF3399"/>
                </a:solidFill>
                <a:ea typeface="黑体" pitchFamily="2" charset="-122"/>
              </a:rPr>
              <a:t>底 板</a:t>
            </a:r>
          </a:p>
        </p:txBody>
      </p:sp>
      <p:sp>
        <p:nvSpPr>
          <p:cNvPr id="253035" name="Rectangle 107"/>
          <p:cNvSpPr>
            <a:spLocks noChangeArrowheads="1"/>
          </p:cNvSpPr>
          <p:nvPr/>
        </p:nvSpPr>
        <p:spPr bwMode="auto">
          <a:xfrm>
            <a:off x="3390900" y="1095375"/>
            <a:ext cx="1000125" cy="5270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3036" name="Rectangle 108"/>
          <p:cNvSpPr>
            <a:spLocks noChangeArrowheads="1"/>
          </p:cNvSpPr>
          <p:nvPr/>
        </p:nvSpPr>
        <p:spPr bwMode="auto">
          <a:xfrm>
            <a:off x="3271838" y="1200150"/>
            <a:ext cx="1346200" cy="36195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3399"/>
                </a:solidFill>
              </a:rPr>
              <a:t>小径圆柱</a:t>
            </a:r>
          </a:p>
        </p:txBody>
      </p:sp>
      <p:sp>
        <p:nvSpPr>
          <p:cNvPr id="253037" name="Rectangle 109"/>
          <p:cNvSpPr>
            <a:spLocks noChangeArrowheads="1"/>
          </p:cNvSpPr>
          <p:nvPr/>
        </p:nvSpPr>
        <p:spPr bwMode="auto">
          <a:xfrm>
            <a:off x="3208338" y="1138238"/>
            <a:ext cx="1466850" cy="484187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3038" name="Rectangle 110"/>
          <p:cNvSpPr>
            <a:spLocks noChangeArrowheads="1"/>
          </p:cNvSpPr>
          <p:nvPr/>
        </p:nvSpPr>
        <p:spPr bwMode="auto">
          <a:xfrm>
            <a:off x="3268663" y="1187450"/>
            <a:ext cx="1346200" cy="36195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3399"/>
                </a:solidFill>
              </a:rPr>
              <a:t>大径圆柱</a:t>
            </a:r>
          </a:p>
        </p:txBody>
      </p:sp>
      <p:sp>
        <p:nvSpPr>
          <p:cNvPr id="253039" name="Rectangle 111"/>
          <p:cNvSpPr>
            <a:spLocks noChangeArrowheads="1"/>
          </p:cNvSpPr>
          <p:nvPr/>
        </p:nvSpPr>
        <p:spPr bwMode="auto">
          <a:xfrm>
            <a:off x="3208338" y="1138238"/>
            <a:ext cx="146685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3040" name="Rectangle 112"/>
          <p:cNvSpPr>
            <a:spLocks noChangeArrowheads="1"/>
          </p:cNvSpPr>
          <p:nvPr/>
        </p:nvSpPr>
        <p:spPr bwMode="auto">
          <a:xfrm>
            <a:off x="3489325" y="1190625"/>
            <a:ext cx="803275" cy="354013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3399"/>
                </a:solidFill>
              </a:rPr>
              <a:t>通 孔</a:t>
            </a:r>
          </a:p>
        </p:txBody>
      </p:sp>
      <p:sp>
        <p:nvSpPr>
          <p:cNvPr id="253041" name="Rectangle 113"/>
          <p:cNvSpPr>
            <a:spLocks noChangeArrowheads="1"/>
          </p:cNvSpPr>
          <p:nvPr/>
        </p:nvSpPr>
        <p:spPr bwMode="auto">
          <a:xfrm>
            <a:off x="3170238" y="1127125"/>
            <a:ext cx="146685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aphicFrame>
        <p:nvGraphicFramePr>
          <p:cNvPr id="253042" name="Object 114"/>
          <p:cNvGraphicFramePr>
            <a:graphicFrameLocks noChangeAspect="1"/>
          </p:cNvGraphicFramePr>
          <p:nvPr/>
        </p:nvGraphicFramePr>
        <p:xfrm>
          <a:off x="6940550" y="1811338"/>
          <a:ext cx="1308100" cy="138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0" name="AutoCAD Drawing" r:id="rId39" imgW="11487150" imgH="7848600" progId="AutoCAD.Drawing.16">
                  <p:embed/>
                </p:oleObj>
              </mc:Choice>
              <mc:Fallback>
                <p:oleObj name="AutoCAD Drawing" r:id="rId39" imgW="11487150" imgH="7848600" progId="AutoCAD.Drawing.16">
                  <p:embed/>
                  <p:pic>
                    <p:nvPicPr>
                      <p:cNvPr id="0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4163" t="15598" r="592" b="60764"/>
                      <a:stretch>
                        <a:fillRect/>
                      </a:stretch>
                    </p:blipFill>
                    <p:spPr bwMode="auto">
                      <a:xfrm>
                        <a:off x="6940550" y="1811338"/>
                        <a:ext cx="1308100" cy="138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043" name="Rectangle 115"/>
          <p:cNvSpPr>
            <a:spLocks noChangeArrowheads="1"/>
          </p:cNvSpPr>
          <p:nvPr/>
        </p:nvSpPr>
        <p:spPr bwMode="auto">
          <a:xfrm>
            <a:off x="3519488" y="1173163"/>
            <a:ext cx="776287" cy="38735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>
                <a:solidFill>
                  <a:srgbClr val="FF3399"/>
                </a:solidFill>
                <a:ea typeface="黑体" pitchFamily="2" charset="-122"/>
              </a:rPr>
              <a:t>长 度</a:t>
            </a:r>
          </a:p>
        </p:txBody>
      </p:sp>
      <p:sp>
        <p:nvSpPr>
          <p:cNvPr id="253044" name="Rectangle 116"/>
          <p:cNvSpPr>
            <a:spLocks noChangeArrowheads="1"/>
          </p:cNvSpPr>
          <p:nvPr/>
        </p:nvSpPr>
        <p:spPr bwMode="auto">
          <a:xfrm>
            <a:off x="3451225" y="1130300"/>
            <a:ext cx="904875" cy="474663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3045" name="Rectangle 117"/>
          <p:cNvSpPr>
            <a:spLocks noChangeArrowheads="1"/>
          </p:cNvSpPr>
          <p:nvPr/>
        </p:nvSpPr>
        <p:spPr bwMode="auto">
          <a:xfrm>
            <a:off x="3527425" y="1162050"/>
            <a:ext cx="776288" cy="38735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>
                <a:solidFill>
                  <a:srgbClr val="FF3399"/>
                </a:solidFill>
                <a:ea typeface="黑体" pitchFamily="2" charset="-122"/>
              </a:rPr>
              <a:t>宽 度</a:t>
            </a:r>
          </a:p>
        </p:txBody>
      </p:sp>
      <p:sp>
        <p:nvSpPr>
          <p:cNvPr id="253046" name="Rectangle 118"/>
          <p:cNvSpPr>
            <a:spLocks noChangeArrowheads="1"/>
          </p:cNvSpPr>
          <p:nvPr/>
        </p:nvSpPr>
        <p:spPr bwMode="auto">
          <a:xfrm>
            <a:off x="3451225" y="1112838"/>
            <a:ext cx="914400" cy="474662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3047" name="Rectangle 119"/>
          <p:cNvSpPr>
            <a:spLocks noChangeArrowheads="1"/>
          </p:cNvSpPr>
          <p:nvPr/>
        </p:nvSpPr>
        <p:spPr bwMode="auto">
          <a:xfrm>
            <a:off x="3527425" y="1168400"/>
            <a:ext cx="776288" cy="38735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>
                <a:solidFill>
                  <a:srgbClr val="FF3399"/>
                </a:solidFill>
                <a:ea typeface="黑体" pitchFamily="2" charset="-122"/>
              </a:rPr>
              <a:t>高 度</a:t>
            </a:r>
          </a:p>
        </p:txBody>
      </p:sp>
      <p:sp>
        <p:nvSpPr>
          <p:cNvPr id="253048" name="Rectangle 120"/>
          <p:cNvSpPr>
            <a:spLocks noChangeArrowheads="1"/>
          </p:cNvSpPr>
          <p:nvPr/>
        </p:nvSpPr>
        <p:spPr bwMode="auto">
          <a:xfrm>
            <a:off x="3433763" y="1104900"/>
            <a:ext cx="947737" cy="50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3049" name="AutoShape 121"/>
          <p:cNvSpPr>
            <a:spLocks noChangeArrowheads="1"/>
          </p:cNvSpPr>
          <p:nvPr/>
        </p:nvSpPr>
        <p:spPr bwMode="auto">
          <a:xfrm>
            <a:off x="8558213" y="2508250"/>
            <a:ext cx="239712" cy="241300"/>
          </a:xfrm>
          <a:prstGeom prst="downArrow">
            <a:avLst>
              <a:gd name="adj1" fmla="val 50000"/>
              <a:gd name="adj2" fmla="val 25166"/>
            </a:avLst>
          </a:prstGeom>
          <a:solidFill>
            <a:srgbClr val="FF3300"/>
          </a:solidFill>
          <a:ln w="0">
            <a:solidFill>
              <a:srgbClr val="FF3300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3050" name="AutoShape 122"/>
          <p:cNvSpPr>
            <a:spLocks noChangeArrowheads="1"/>
          </p:cNvSpPr>
          <p:nvPr/>
        </p:nvSpPr>
        <p:spPr bwMode="auto">
          <a:xfrm>
            <a:off x="8348663" y="2760663"/>
            <a:ext cx="655637" cy="327025"/>
          </a:xfrm>
          <a:prstGeom prst="flowChartTerminator">
            <a:avLst/>
          </a:prstGeom>
          <a:noFill/>
          <a:ln w="28575">
            <a:solidFill>
              <a:srgbClr val="FF3300"/>
            </a:solidFill>
            <a:miter lim="800000"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ea typeface="黑体" pitchFamily="2" charset="-122"/>
              </a:rPr>
              <a:t>结束</a:t>
            </a:r>
          </a:p>
        </p:txBody>
      </p:sp>
      <p:graphicFrame>
        <p:nvGraphicFramePr>
          <p:cNvPr id="253051" name="Object 123"/>
          <p:cNvGraphicFramePr>
            <a:graphicFrameLocks noChangeAspect="1"/>
          </p:cNvGraphicFramePr>
          <p:nvPr/>
        </p:nvGraphicFramePr>
        <p:xfrm>
          <a:off x="4357688" y="3470275"/>
          <a:ext cx="619125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1" name="AutoCAD Drawing" r:id="rId41" imgW="11487150" imgH="7848600" progId="AutoCAD.Drawing.16">
                  <p:embed/>
                </p:oleObj>
              </mc:Choice>
              <mc:Fallback>
                <p:oleObj name="AutoCAD Drawing" r:id="rId41" imgW="11487150" imgH="7848600" progId="AutoCAD.Drawing.16">
                  <p:embed/>
                  <p:pic>
                    <p:nvPicPr>
                      <p:cNvPr id="0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847" t="21338" r="28548" b="57838"/>
                      <a:stretch>
                        <a:fillRect/>
                      </a:stretch>
                    </p:blipFill>
                    <p:spPr bwMode="auto">
                      <a:xfrm>
                        <a:off x="4357688" y="3470275"/>
                        <a:ext cx="619125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052" name="Line 124"/>
          <p:cNvSpPr>
            <a:spLocks noChangeShapeType="1"/>
          </p:cNvSpPr>
          <p:nvPr/>
        </p:nvSpPr>
        <p:spPr bwMode="auto">
          <a:xfrm flipH="1">
            <a:off x="4899025" y="3217863"/>
            <a:ext cx="700088" cy="5524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" name="Group 125"/>
          <p:cNvGrpSpPr>
            <a:grpSpLocks/>
          </p:cNvGrpSpPr>
          <p:nvPr/>
        </p:nvGrpSpPr>
        <p:grpSpPr bwMode="auto">
          <a:xfrm>
            <a:off x="4376738" y="3217863"/>
            <a:ext cx="1222375" cy="1608137"/>
            <a:chOff x="2757" y="2027"/>
            <a:chExt cx="770" cy="1013"/>
          </a:xfrm>
        </p:grpSpPr>
        <p:pic>
          <p:nvPicPr>
            <p:cNvPr id="49243" name="Picture 126" descr="空白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7" y="2202"/>
              <a:ext cx="375" cy="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44" name="Line 127"/>
            <p:cNvSpPr>
              <a:spLocks noChangeShapeType="1"/>
            </p:cNvSpPr>
            <p:nvPr/>
          </p:nvSpPr>
          <p:spPr bwMode="auto">
            <a:xfrm flipH="1">
              <a:off x="3037" y="2027"/>
              <a:ext cx="490" cy="397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53056" name="Object 128"/>
          <p:cNvGraphicFramePr>
            <a:graphicFrameLocks noChangeAspect="1"/>
          </p:cNvGraphicFramePr>
          <p:nvPr/>
        </p:nvGraphicFramePr>
        <p:xfrm>
          <a:off x="4310063" y="2147888"/>
          <a:ext cx="547687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2" name="AutoCAD Drawing" r:id="rId43" imgW="11487150" imgH="7848600" progId="AutoCAD.Drawing.16">
                  <p:embed/>
                </p:oleObj>
              </mc:Choice>
              <mc:Fallback>
                <p:oleObj name="AutoCAD Drawing" r:id="rId43" imgW="11487150" imgH="7848600" progId="AutoCAD.Drawing.16">
                  <p:embed/>
                  <p:pic>
                    <p:nvPicPr>
                      <p:cNvPr id="0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2988" t="21338" r="40630" b="60925"/>
                      <a:stretch>
                        <a:fillRect/>
                      </a:stretch>
                    </p:blipFill>
                    <p:spPr bwMode="auto">
                      <a:xfrm>
                        <a:off x="4310063" y="2147888"/>
                        <a:ext cx="547687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129"/>
          <p:cNvGrpSpPr>
            <a:grpSpLocks/>
          </p:cNvGrpSpPr>
          <p:nvPr/>
        </p:nvGrpSpPr>
        <p:grpSpPr bwMode="auto">
          <a:xfrm>
            <a:off x="4311650" y="2105025"/>
            <a:ext cx="415925" cy="1095375"/>
            <a:chOff x="2722" y="1326"/>
            <a:chExt cx="262" cy="690"/>
          </a:xfrm>
        </p:grpSpPr>
        <p:sp>
          <p:nvSpPr>
            <p:cNvPr id="49240" name="Rectangle 130"/>
            <p:cNvSpPr>
              <a:spLocks noChangeArrowheads="1"/>
            </p:cNvSpPr>
            <p:nvPr/>
          </p:nvSpPr>
          <p:spPr bwMode="auto">
            <a:xfrm>
              <a:off x="2722" y="1326"/>
              <a:ext cx="174" cy="69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49241" name="Line 131"/>
            <p:cNvSpPr>
              <a:spLocks noChangeShapeType="1"/>
            </p:cNvSpPr>
            <p:nvPr/>
          </p:nvSpPr>
          <p:spPr bwMode="auto">
            <a:xfrm flipH="1">
              <a:off x="2892" y="1373"/>
              <a:ext cx="92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242" name="Line 132"/>
            <p:cNvSpPr>
              <a:spLocks noChangeShapeType="1"/>
            </p:cNvSpPr>
            <p:nvPr/>
          </p:nvSpPr>
          <p:spPr bwMode="auto">
            <a:xfrm flipH="1">
              <a:off x="2890" y="1999"/>
              <a:ext cx="92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3061" name="Line 133"/>
          <p:cNvSpPr>
            <a:spLocks noChangeShapeType="1"/>
          </p:cNvSpPr>
          <p:nvPr/>
        </p:nvSpPr>
        <p:spPr bwMode="auto">
          <a:xfrm>
            <a:off x="4729163" y="2176463"/>
            <a:ext cx="109537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3062" name="Object 134"/>
          <p:cNvGraphicFramePr>
            <a:graphicFrameLocks noChangeAspect="1"/>
          </p:cNvGraphicFramePr>
          <p:nvPr/>
        </p:nvGraphicFramePr>
        <p:xfrm>
          <a:off x="5376863" y="1501775"/>
          <a:ext cx="525462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3" name="AutoCAD Drawing" r:id="rId45" imgW="11487150" imgH="7848600" progId="AutoCAD.Drawing.16">
                  <p:embed/>
                </p:oleObj>
              </mc:Choice>
              <mc:Fallback>
                <p:oleObj name="AutoCAD Drawing" r:id="rId45" imgW="11487150" imgH="7848600" progId="AutoCAD.Drawing.16">
                  <p:embed/>
                  <p:pic>
                    <p:nvPicPr>
                      <p:cNvPr id="0" name="Object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5735" t="10316" r="28142" b="72244"/>
                      <a:stretch>
                        <a:fillRect/>
                      </a:stretch>
                    </p:blipFill>
                    <p:spPr bwMode="auto">
                      <a:xfrm>
                        <a:off x="5376863" y="1501775"/>
                        <a:ext cx="525462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2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2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5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25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5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252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5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2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5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3" dur="500"/>
                                        <p:tgtEl>
                                          <p:spTgt spid="252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8" dur="500"/>
                                        <p:tgtEl>
                                          <p:spTgt spid="252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252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8" dur="500"/>
                                        <p:tgtEl>
                                          <p:spTgt spid="25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5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8" dur="500"/>
                                        <p:tgtEl>
                                          <p:spTgt spid="25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3" dur="500"/>
                                        <p:tgtEl>
                                          <p:spTgt spid="25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5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7" dur="500"/>
                                        <p:tgtEl>
                                          <p:spTgt spid="252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2" dur="500"/>
                                        <p:tgtEl>
                                          <p:spTgt spid="252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25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5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6" dur="500"/>
                                        <p:tgtEl>
                                          <p:spTgt spid="25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0" dur="500"/>
                                        <p:tgtEl>
                                          <p:spTgt spid="25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25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52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5" dur="500"/>
                                        <p:tgtEl>
                                          <p:spTgt spid="253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253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25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5" dur="500"/>
                                        <p:tgtEl>
                                          <p:spTgt spid="25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9" dur="500"/>
                                        <p:tgtEl>
                                          <p:spTgt spid="25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253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25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25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4" dur="500"/>
                                        <p:tgtEl>
                                          <p:spTgt spid="25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25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8" dur="500"/>
                                        <p:tgtEl>
                                          <p:spTgt spid="25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500"/>
                                        <p:tgtEl>
                                          <p:spTgt spid="253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253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253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25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 nodeType="clickPar">
                      <p:stCondLst>
                        <p:cond delay="indefinite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3" dur="500"/>
                                        <p:tgtEl>
                                          <p:spTgt spid="253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52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1" dur="500"/>
                                        <p:tgtEl>
                                          <p:spTgt spid="252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6" dur="500"/>
                                        <p:tgtEl>
                                          <p:spTgt spid="25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 nodeType="clickPar">
                      <p:stCondLst>
                        <p:cond delay="indefinite"/>
                      </p:stCondLst>
                      <p:childTnLst>
                        <p:par>
                          <p:cTn id="2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1" dur="500"/>
                                        <p:tgtEl>
                                          <p:spTgt spid="25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5" dur="500"/>
                                        <p:tgtEl>
                                          <p:spTgt spid="252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0" dur="500"/>
                                        <p:tgtEl>
                                          <p:spTgt spid="25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4" dur="500"/>
                                        <p:tgtEl>
                                          <p:spTgt spid="252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 nodeType="clickPar">
                      <p:stCondLst>
                        <p:cond delay="indefinite"/>
                      </p:stCondLst>
                      <p:childTnLst>
                        <p:par>
                          <p:cTn id="2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253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500" fill="hold"/>
                                        <p:tgtEl>
                                          <p:spTgt spid="253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4" dur="500"/>
                                        <p:tgtEl>
                                          <p:spTgt spid="25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 nodeType="clickPar">
                      <p:stCondLst>
                        <p:cond delay="indefinite"/>
                      </p:stCondLst>
                      <p:childTnLst>
                        <p:par>
                          <p:cTn id="3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9" dur="500" fill="hold"/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500" fill="hold"/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 nodeType="clickPar">
                      <p:stCondLst>
                        <p:cond delay="indefinite"/>
                      </p:stCondLst>
                      <p:childTnLst>
                        <p:par>
                          <p:cTn id="3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5" dur="500"/>
                                        <p:tgtEl>
                                          <p:spTgt spid="252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 nodeType="clickPar">
                      <p:stCondLst>
                        <p:cond delay="indefinite"/>
                      </p:stCondLst>
                      <p:childTnLst>
                        <p:par>
                          <p:cTn id="3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0" dur="500"/>
                                        <p:tgtEl>
                                          <p:spTgt spid="25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2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4" dur="500" fill="hold"/>
                                        <p:tgtEl>
                                          <p:spTgt spid="253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500" fill="hold"/>
                                        <p:tgtEl>
                                          <p:spTgt spid="253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500" fill="hold"/>
                                        <p:tgtEl>
                                          <p:spTgt spid="253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500" fill="hold"/>
                                        <p:tgtEl>
                                          <p:spTgt spid="253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 nodeType="clickPar">
                      <p:stCondLst>
                        <p:cond delay="indefinite"/>
                      </p:stCondLst>
                      <p:childTnLst>
                        <p:par>
                          <p:cTn id="3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2" dur="500"/>
                                        <p:tgtEl>
                                          <p:spTgt spid="25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 nodeType="clickPar">
                      <p:stCondLst>
                        <p:cond delay="indefinite"/>
                      </p:stCondLst>
                      <p:childTnLst>
                        <p:par>
                          <p:cTn id="3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7" dur="500"/>
                                        <p:tgtEl>
                                          <p:spTgt spid="25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 nodeType="clickPar">
                      <p:stCondLst>
                        <p:cond delay="indefinite"/>
                      </p:stCondLst>
                      <p:childTnLst>
                        <p:par>
                          <p:cTn id="3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253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500" fill="hold"/>
                                        <p:tgtEl>
                                          <p:spTgt spid="253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00" fill="hold"/>
                                        <p:tgtEl>
                                          <p:spTgt spid="253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500" fill="hold"/>
                                        <p:tgtEl>
                                          <p:spTgt spid="253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9" dur="500"/>
                                        <p:tgtEl>
                                          <p:spTgt spid="252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3" dur="500"/>
                                        <p:tgtEl>
                                          <p:spTgt spid="25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 nodeType="clickPar">
                      <p:stCondLst>
                        <p:cond delay="indefinite"/>
                      </p:stCondLst>
                      <p:childTnLst>
                        <p:par>
                          <p:cTn id="3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8" dur="500"/>
                                        <p:tgtEl>
                                          <p:spTgt spid="25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 nodeType="clickPar">
                      <p:stCondLst>
                        <p:cond delay="indefinite"/>
                      </p:stCondLst>
                      <p:childTnLst>
                        <p:par>
                          <p:cTn id="3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 nodeType="clickPar">
                      <p:stCondLst>
                        <p:cond delay="indefinite"/>
                      </p:stCondLst>
                      <p:childTnLst>
                        <p:par>
                          <p:cTn id="3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8" dur="500"/>
                                        <p:tgtEl>
                                          <p:spTgt spid="25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 nodeType="clickPar">
                      <p:stCondLst>
                        <p:cond delay="indefinite"/>
                      </p:stCondLst>
                      <p:childTnLst>
                        <p:par>
                          <p:cTn id="3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 nodeType="clickPar">
                      <p:stCondLst>
                        <p:cond delay="indefinite"/>
                      </p:stCondLst>
                      <p:childTnLst>
                        <p:par>
                          <p:cTn id="3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8" dur="500"/>
                                        <p:tgtEl>
                                          <p:spTgt spid="25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 nodeType="clickPar">
                      <p:stCondLst>
                        <p:cond delay="indefinite"/>
                      </p:stCondLst>
                      <p:childTnLst>
                        <p:par>
                          <p:cTn id="3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3" dur="500"/>
                                        <p:tgtEl>
                                          <p:spTgt spid="25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 nodeType="clickPar">
                      <p:stCondLst>
                        <p:cond delay="indefinite"/>
                      </p:stCondLst>
                      <p:childTnLst>
                        <p:par>
                          <p:cTn id="3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8" dur="500"/>
                                        <p:tgtEl>
                                          <p:spTgt spid="25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5" dur="500"/>
                                        <p:tgtEl>
                                          <p:spTgt spid="25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 nodeType="clickPar">
                      <p:stCondLst>
                        <p:cond delay="indefinite"/>
                      </p:stCondLst>
                      <p:childTnLst>
                        <p:par>
                          <p:cTn id="3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0" dur="500"/>
                                        <p:tgtEl>
                                          <p:spTgt spid="25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4" dur="500"/>
                                        <p:tgtEl>
                                          <p:spTgt spid="253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0" grpId="0" animBg="1"/>
      <p:bldP spid="252931" grpId="0" animBg="1"/>
      <p:bldP spid="252937" grpId="0" animBg="1"/>
      <p:bldP spid="252938" grpId="0" animBg="1"/>
      <p:bldP spid="252939" grpId="0" animBg="1"/>
      <p:bldP spid="252940" grpId="0" animBg="1"/>
      <p:bldP spid="252941" grpId="0" animBg="1"/>
      <p:bldP spid="252942" grpId="0" animBg="1"/>
      <p:bldP spid="252943" grpId="0" animBg="1"/>
      <p:bldP spid="252944" grpId="0" animBg="1"/>
      <p:bldP spid="252945" grpId="0" animBg="1"/>
      <p:bldP spid="252946" grpId="0" animBg="1"/>
      <p:bldP spid="252950" grpId="0" animBg="1"/>
      <p:bldP spid="252956" grpId="0" animBg="1"/>
      <p:bldP spid="252957" grpId="0" animBg="1"/>
      <p:bldP spid="252958" grpId="0" animBg="1"/>
      <p:bldP spid="252959" grpId="0" animBg="1"/>
      <p:bldP spid="252960" grpId="0" autoUpdateAnimBg="0"/>
      <p:bldP spid="252967" grpId="0" animBg="1"/>
      <p:bldP spid="252968" grpId="0" autoUpdateAnimBg="0"/>
      <p:bldP spid="252969" grpId="0" animBg="1"/>
      <p:bldP spid="252983" grpId="0" animBg="1" autoUpdateAnimBg="0"/>
      <p:bldP spid="252984" grpId="0" animBg="1" autoUpdateAnimBg="0"/>
      <p:bldP spid="252985" grpId="0" animBg="1"/>
      <p:bldP spid="252986" grpId="0" animBg="1" autoUpdateAnimBg="0"/>
      <p:bldP spid="252987" grpId="0" animBg="1"/>
      <p:bldP spid="252988" grpId="0" animBg="1" autoUpdateAnimBg="0"/>
      <p:bldP spid="252989" grpId="0" animBg="1"/>
      <p:bldP spid="252990" grpId="0" animBg="1"/>
      <p:bldP spid="252991" grpId="0" animBg="1" autoUpdateAnimBg="0"/>
      <p:bldP spid="252992" grpId="0" animBg="1"/>
      <p:bldP spid="252997" grpId="0" animBg="1"/>
      <p:bldP spid="252999" grpId="0" animBg="1"/>
      <p:bldP spid="253001" grpId="0" animBg="1"/>
      <p:bldP spid="253007" grpId="0" animBg="1"/>
      <p:bldP spid="253008" grpId="0" animBg="1"/>
      <p:bldP spid="253018" grpId="0" animBg="1"/>
      <p:bldP spid="253022" grpId="0" animBg="1"/>
      <p:bldP spid="253023" grpId="0" animBg="1"/>
      <p:bldP spid="253034" grpId="0" animBg="1" autoUpdateAnimBg="0"/>
      <p:bldP spid="253035" grpId="0" animBg="1"/>
      <p:bldP spid="253036" grpId="0" animBg="1" autoUpdateAnimBg="0"/>
      <p:bldP spid="253037" grpId="0" animBg="1"/>
      <p:bldP spid="253038" grpId="0" animBg="1" autoUpdateAnimBg="0"/>
      <p:bldP spid="253039" grpId="0" animBg="1"/>
      <p:bldP spid="253040" grpId="0" animBg="1" autoUpdateAnimBg="0"/>
      <p:bldP spid="253041" grpId="0" animBg="1"/>
      <p:bldP spid="253043" grpId="0" animBg="1" autoUpdateAnimBg="0"/>
      <p:bldP spid="253044" grpId="0" animBg="1"/>
      <p:bldP spid="253045" grpId="0" animBg="1" autoUpdateAnimBg="0"/>
      <p:bldP spid="253046" grpId="0" animBg="1"/>
      <p:bldP spid="253047" grpId="0" animBg="1" autoUpdateAnimBg="0"/>
      <p:bldP spid="253048" grpId="0" animBg="1"/>
      <p:bldP spid="253049" grpId="0" animBg="1"/>
      <p:bldP spid="253050" grpId="0" animBg="1" autoUpdateAnimBg="0"/>
      <p:bldP spid="253052" grpId="0" animBg="1"/>
      <p:bldP spid="25306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418263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8273EB57-8BEA-46D6-BB5C-A367127D5761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33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pic>
        <p:nvPicPr>
          <p:cNvPr id="2549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463" y="2846388"/>
            <a:ext cx="2492375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4979" name="Arc 3"/>
          <p:cNvSpPr>
            <a:spLocks/>
          </p:cNvSpPr>
          <p:nvPr/>
        </p:nvSpPr>
        <p:spPr bwMode="auto">
          <a:xfrm>
            <a:off x="6489700" y="3776663"/>
            <a:ext cx="1008063" cy="833437"/>
          </a:xfrm>
          <a:custGeom>
            <a:avLst/>
            <a:gdLst>
              <a:gd name="T0" fmla="*/ 2147483647 w 21600"/>
              <a:gd name="T1" fmla="*/ 2147483647 h 17878"/>
              <a:gd name="T2" fmla="*/ 0 w 21600"/>
              <a:gd name="T3" fmla="*/ 0 h 17878"/>
              <a:gd name="T4" fmla="*/ 2147483647 w 21600"/>
              <a:gd name="T5" fmla="*/ 2147483647 h 17878"/>
              <a:gd name="T6" fmla="*/ 0 60000 65536"/>
              <a:gd name="T7" fmla="*/ 0 60000 65536"/>
              <a:gd name="T8" fmla="*/ 0 60000 65536"/>
              <a:gd name="T9" fmla="*/ 0 w 21600"/>
              <a:gd name="T10" fmla="*/ 0 h 17878"/>
              <a:gd name="T11" fmla="*/ 21600 w 21600"/>
              <a:gd name="T12" fmla="*/ 17878 h 178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7878" fill="none" extrusionOk="0">
                <a:moveTo>
                  <a:pt x="9428" y="17877"/>
                </a:moveTo>
                <a:cubicBezTo>
                  <a:pt x="3529" y="13853"/>
                  <a:pt x="0" y="7174"/>
                  <a:pt x="0" y="34"/>
                </a:cubicBezTo>
                <a:cubicBezTo>
                  <a:pt x="-1" y="22"/>
                  <a:pt x="0" y="11"/>
                  <a:pt x="0" y="0"/>
                </a:cubicBezTo>
              </a:path>
              <a:path w="21600" h="17878" stroke="0" extrusionOk="0">
                <a:moveTo>
                  <a:pt x="9428" y="17877"/>
                </a:moveTo>
                <a:cubicBezTo>
                  <a:pt x="3529" y="13853"/>
                  <a:pt x="0" y="7174"/>
                  <a:pt x="0" y="34"/>
                </a:cubicBezTo>
                <a:cubicBezTo>
                  <a:pt x="-1" y="22"/>
                  <a:pt x="0" y="11"/>
                  <a:pt x="0" y="0"/>
                </a:cubicBezTo>
                <a:lnTo>
                  <a:pt x="21600" y="34"/>
                </a:lnTo>
                <a:lnTo>
                  <a:pt x="9428" y="17877"/>
                </a:lnTo>
                <a:close/>
              </a:path>
            </a:pathLst>
          </a:custGeom>
          <a:noFill/>
          <a:ln w="31750">
            <a:solidFill>
              <a:srgbClr val="0000FF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80" name="Arc 4"/>
          <p:cNvSpPr>
            <a:spLocks/>
          </p:cNvSpPr>
          <p:nvPr/>
        </p:nvSpPr>
        <p:spPr bwMode="auto">
          <a:xfrm flipH="1">
            <a:off x="6991350" y="3603625"/>
            <a:ext cx="676275" cy="596900"/>
          </a:xfrm>
          <a:custGeom>
            <a:avLst/>
            <a:gdLst>
              <a:gd name="T0" fmla="*/ 2147483647 w 21600"/>
              <a:gd name="T1" fmla="*/ 0 h 18616"/>
              <a:gd name="T2" fmla="*/ 2147483647 w 21600"/>
              <a:gd name="T3" fmla="*/ 2147483647 h 18616"/>
              <a:gd name="T4" fmla="*/ 0 w 21600"/>
              <a:gd name="T5" fmla="*/ 2147483647 h 18616"/>
              <a:gd name="T6" fmla="*/ 0 60000 65536"/>
              <a:gd name="T7" fmla="*/ 0 60000 65536"/>
              <a:gd name="T8" fmla="*/ 0 60000 65536"/>
              <a:gd name="T9" fmla="*/ 0 w 21600"/>
              <a:gd name="T10" fmla="*/ 0 h 18616"/>
              <a:gd name="T11" fmla="*/ 21600 w 21600"/>
              <a:gd name="T12" fmla="*/ 18616 h 186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8616" fill="none" extrusionOk="0">
                <a:moveTo>
                  <a:pt x="21597" y="-1"/>
                </a:moveTo>
                <a:cubicBezTo>
                  <a:pt x="21599" y="114"/>
                  <a:pt x="21600" y="229"/>
                  <a:pt x="21600" y="345"/>
                </a:cubicBezTo>
                <a:cubicBezTo>
                  <a:pt x="21600" y="7762"/>
                  <a:pt x="17794" y="14660"/>
                  <a:pt x="11520" y="18616"/>
                </a:cubicBezTo>
              </a:path>
              <a:path w="21600" h="18616" stroke="0" extrusionOk="0">
                <a:moveTo>
                  <a:pt x="21597" y="-1"/>
                </a:moveTo>
                <a:cubicBezTo>
                  <a:pt x="21599" y="114"/>
                  <a:pt x="21600" y="229"/>
                  <a:pt x="21600" y="345"/>
                </a:cubicBezTo>
                <a:cubicBezTo>
                  <a:pt x="21600" y="7762"/>
                  <a:pt x="17794" y="14660"/>
                  <a:pt x="11520" y="18616"/>
                </a:cubicBezTo>
                <a:lnTo>
                  <a:pt x="0" y="345"/>
                </a:lnTo>
                <a:lnTo>
                  <a:pt x="21597" y="-1"/>
                </a:lnTo>
                <a:close/>
              </a:path>
            </a:pathLst>
          </a:custGeom>
          <a:noFill/>
          <a:ln w="31750">
            <a:solidFill>
              <a:srgbClr val="0000FF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2" name="Text Box 5"/>
          <p:cNvSpPr txBox="1">
            <a:spLocks noChangeArrowheads="1"/>
          </p:cNvSpPr>
          <p:nvPr/>
        </p:nvSpPr>
        <p:spPr bwMode="auto">
          <a:xfrm>
            <a:off x="261938" y="122238"/>
            <a:ext cx="83978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圆弧连接的尺寸标注</a:t>
            </a:r>
          </a:p>
        </p:txBody>
      </p:sp>
      <p:sp>
        <p:nvSpPr>
          <p:cNvPr id="254982" name="Text Box 6"/>
          <p:cNvSpPr txBox="1">
            <a:spLocks noChangeArrowheads="1"/>
          </p:cNvSpPr>
          <p:nvPr/>
        </p:nvSpPr>
        <p:spPr bwMode="auto">
          <a:xfrm>
            <a:off x="268288" y="1081088"/>
            <a:ext cx="8875712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由图形的特点及设计要求确定其圆弧的性质：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00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已知圆弧：已知</a:t>
            </a: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及圆心（</a:t>
            </a: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lang="en-US" altLang="zh-CN" sz="2400">
                <a:solidFill>
                  <a:srgbClr val="000000"/>
                </a:solidFill>
                <a:ea typeface="黑体" pitchFamily="2" charset="-122"/>
              </a:rPr>
              <a:t>……………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标注</a:t>
            </a: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Y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及</a:t>
            </a: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R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中间圆弧：已知</a:t>
            </a:r>
            <a:r>
              <a:rPr lang="en-US" altLang="zh-CN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及圆心的一个方向的坐标</a:t>
            </a:r>
            <a:r>
              <a:rPr lang="en-US" altLang="zh-CN" sz="2400">
                <a:solidFill>
                  <a:srgbClr val="FF0000"/>
                </a:solidFill>
                <a:ea typeface="黑体" pitchFamily="2" charset="-122"/>
              </a:rPr>
              <a:t>…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标注</a:t>
            </a:r>
            <a:r>
              <a:rPr lang="en-US" altLang="zh-CN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X(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或 </a:t>
            </a:r>
            <a:r>
              <a:rPr lang="en-US" altLang="zh-CN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Y)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及</a:t>
            </a:r>
            <a:r>
              <a:rPr lang="en-US" altLang="zh-CN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R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连接圆弧：已知</a:t>
            </a:r>
            <a:r>
              <a:rPr lang="en-US" altLang="zh-CN" sz="240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en-US" altLang="zh-CN" sz="2400">
                <a:solidFill>
                  <a:srgbClr val="0000FF"/>
                </a:solidFill>
                <a:ea typeface="黑体" pitchFamily="2" charset="-122"/>
              </a:rPr>
              <a:t>………………………………</a:t>
            </a:r>
            <a:r>
              <a:rPr lang="zh-CN" altLang="en-US" sz="240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标注 </a:t>
            </a:r>
            <a:r>
              <a:rPr lang="en-US" altLang="zh-CN" sz="240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R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743700" y="2794000"/>
            <a:ext cx="0" cy="2671763"/>
            <a:chOff x="3288" y="1461"/>
            <a:chExt cx="0" cy="1683"/>
          </a:xfrm>
        </p:grpSpPr>
        <p:sp>
          <p:nvSpPr>
            <p:cNvPr id="50226" name="Line 9"/>
            <p:cNvSpPr>
              <a:spLocks noChangeShapeType="1"/>
            </p:cNvSpPr>
            <p:nvPr/>
          </p:nvSpPr>
          <p:spPr bwMode="auto">
            <a:xfrm>
              <a:off x="3288" y="1461"/>
              <a:ext cx="0" cy="6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7" name="Line 10"/>
            <p:cNvSpPr>
              <a:spLocks noChangeShapeType="1"/>
            </p:cNvSpPr>
            <p:nvPr/>
          </p:nvSpPr>
          <p:spPr bwMode="auto">
            <a:xfrm>
              <a:off x="3288" y="2178"/>
              <a:ext cx="0" cy="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8" name="Line 11"/>
            <p:cNvSpPr>
              <a:spLocks noChangeShapeType="1"/>
            </p:cNvSpPr>
            <p:nvPr/>
          </p:nvSpPr>
          <p:spPr bwMode="auto">
            <a:xfrm>
              <a:off x="3288" y="2238"/>
              <a:ext cx="0" cy="3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9" name="Line 12"/>
            <p:cNvSpPr>
              <a:spLocks noChangeShapeType="1"/>
            </p:cNvSpPr>
            <p:nvPr/>
          </p:nvSpPr>
          <p:spPr bwMode="auto">
            <a:xfrm>
              <a:off x="3288" y="2610"/>
              <a:ext cx="0" cy="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30" name="Line 13"/>
            <p:cNvSpPr>
              <a:spLocks noChangeShapeType="1"/>
            </p:cNvSpPr>
            <p:nvPr/>
          </p:nvSpPr>
          <p:spPr bwMode="auto">
            <a:xfrm>
              <a:off x="3288" y="2664"/>
              <a:ext cx="0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6889750" y="4767263"/>
            <a:ext cx="0" cy="1009650"/>
            <a:chOff x="3380" y="2704"/>
            <a:chExt cx="0" cy="636"/>
          </a:xfrm>
        </p:grpSpPr>
        <p:sp>
          <p:nvSpPr>
            <p:cNvPr id="50223" name="Line 15"/>
            <p:cNvSpPr>
              <a:spLocks noChangeShapeType="1"/>
            </p:cNvSpPr>
            <p:nvPr/>
          </p:nvSpPr>
          <p:spPr bwMode="auto">
            <a:xfrm>
              <a:off x="3380" y="2704"/>
              <a:ext cx="0" cy="1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4" name="Line 16"/>
            <p:cNvSpPr>
              <a:spLocks noChangeShapeType="1"/>
            </p:cNvSpPr>
            <p:nvPr/>
          </p:nvSpPr>
          <p:spPr bwMode="auto">
            <a:xfrm>
              <a:off x="3380" y="2876"/>
              <a:ext cx="0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5" name="Line 17"/>
            <p:cNvSpPr>
              <a:spLocks noChangeShapeType="1"/>
            </p:cNvSpPr>
            <p:nvPr/>
          </p:nvSpPr>
          <p:spPr bwMode="auto">
            <a:xfrm>
              <a:off x="3380" y="2922"/>
              <a:ext cx="0" cy="4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6475413" y="2881313"/>
            <a:ext cx="528637" cy="514350"/>
            <a:chOff x="3119" y="1516"/>
            <a:chExt cx="333" cy="324"/>
          </a:xfrm>
        </p:grpSpPr>
        <p:sp>
          <p:nvSpPr>
            <p:cNvPr id="50219" name="Line 19"/>
            <p:cNvSpPr>
              <a:spLocks noChangeShapeType="1"/>
            </p:cNvSpPr>
            <p:nvPr/>
          </p:nvSpPr>
          <p:spPr bwMode="auto">
            <a:xfrm>
              <a:off x="3158" y="1520"/>
              <a:ext cx="256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0" name="Line 20"/>
            <p:cNvSpPr>
              <a:spLocks noChangeShapeType="1"/>
            </p:cNvSpPr>
            <p:nvPr/>
          </p:nvSpPr>
          <p:spPr bwMode="auto">
            <a:xfrm>
              <a:off x="3168" y="1520"/>
              <a:ext cx="0" cy="32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1" name="Line 21"/>
            <p:cNvSpPr>
              <a:spLocks noChangeShapeType="1"/>
            </p:cNvSpPr>
            <p:nvPr/>
          </p:nvSpPr>
          <p:spPr bwMode="auto">
            <a:xfrm>
              <a:off x="3404" y="1516"/>
              <a:ext cx="0" cy="32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2" name="Line 22"/>
            <p:cNvSpPr>
              <a:spLocks noChangeShapeType="1"/>
            </p:cNvSpPr>
            <p:nvPr/>
          </p:nvSpPr>
          <p:spPr bwMode="auto">
            <a:xfrm>
              <a:off x="3119" y="1840"/>
              <a:ext cx="333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4999" name="Line 23"/>
          <p:cNvSpPr>
            <a:spLocks noChangeShapeType="1"/>
          </p:cNvSpPr>
          <p:nvPr/>
        </p:nvSpPr>
        <p:spPr bwMode="auto">
          <a:xfrm>
            <a:off x="6489700" y="3389313"/>
            <a:ext cx="0" cy="38735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00" name="Line 24"/>
          <p:cNvSpPr>
            <a:spLocks noChangeShapeType="1"/>
          </p:cNvSpPr>
          <p:nvPr/>
        </p:nvSpPr>
        <p:spPr bwMode="auto">
          <a:xfrm>
            <a:off x="6991350" y="3382963"/>
            <a:ext cx="0" cy="22860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01" name="Arc 25"/>
          <p:cNvSpPr>
            <a:spLocks/>
          </p:cNvSpPr>
          <p:nvPr/>
        </p:nvSpPr>
        <p:spPr bwMode="auto">
          <a:xfrm flipV="1">
            <a:off x="6096000" y="4200525"/>
            <a:ext cx="1590675" cy="1489075"/>
          </a:xfrm>
          <a:custGeom>
            <a:avLst/>
            <a:gdLst>
              <a:gd name="T0" fmla="*/ 2147483647 w 43200"/>
              <a:gd name="T1" fmla="*/ 2147483647 h 39998"/>
              <a:gd name="T2" fmla="*/ 2147483647 w 43200"/>
              <a:gd name="T3" fmla="*/ 2147483647 h 39998"/>
              <a:gd name="T4" fmla="*/ 2147483647 w 43200"/>
              <a:gd name="T5" fmla="*/ 2147483647 h 39998"/>
              <a:gd name="T6" fmla="*/ 0 60000 65536"/>
              <a:gd name="T7" fmla="*/ 0 60000 65536"/>
              <a:gd name="T8" fmla="*/ 0 60000 65536"/>
              <a:gd name="T9" fmla="*/ 0 w 43200"/>
              <a:gd name="T10" fmla="*/ 0 h 39998"/>
              <a:gd name="T11" fmla="*/ 43200 w 43200"/>
              <a:gd name="T12" fmla="*/ 39998 h 399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39998" fill="none" extrusionOk="0">
                <a:moveTo>
                  <a:pt x="0" y="21799"/>
                </a:moveTo>
                <a:cubicBezTo>
                  <a:pt x="0" y="21732"/>
                  <a:pt x="0" y="2166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9102"/>
                  <a:pt x="39307" y="36067"/>
                  <a:pt x="32916" y="39997"/>
                </a:cubicBezTo>
              </a:path>
              <a:path w="43200" h="39998" stroke="0" extrusionOk="0">
                <a:moveTo>
                  <a:pt x="0" y="21799"/>
                </a:moveTo>
                <a:cubicBezTo>
                  <a:pt x="0" y="21732"/>
                  <a:pt x="0" y="2166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9102"/>
                  <a:pt x="39307" y="36067"/>
                  <a:pt x="32916" y="39997"/>
                </a:cubicBezTo>
                <a:lnTo>
                  <a:pt x="21600" y="21600"/>
                </a:lnTo>
                <a:lnTo>
                  <a:pt x="0" y="21799"/>
                </a:lnTo>
                <a:close/>
              </a:path>
            </a:pathLst>
          </a:custGeom>
          <a:noFill/>
          <a:ln w="31750">
            <a:solidFill>
              <a:srgbClr val="00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02" name="Arc 26"/>
          <p:cNvSpPr>
            <a:spLocks/>
          </p:cNvSpPr>
          <p:nvPr/>
        </p:nvSpPr>
        <p:spPr bwMode="auto">
          <a:xfrm flipV="1">
            <a:off x="6411913" y="4610100"/>
            <a:ext cx="668337" cy="617538"/>
          </a:xfrm>
          <a:custGeom>
            <a:avLst/>
            <a:gdLst>
              <a:gd name="T0" fmla="*/ 0 w 42622"/>
              <a:gd name="T1" fmla="*/ 2147483647 h 39534"/>
              <a:gd name="T2" fmla="*/ 2147483647 w 42622"/>
              <a:gd name="T3" fmla="*/ 2147483647 h 39534"/>
              <a:gd name="T4" fmla="*/ 2147483647 w 42622"/>
              <a:gd name="T5" fmla="*/ 2147483647 h 39534"/>
              <a:gd name="T6" fmla="*/ 0 60000 65536"/>
              <a:gd name="T7" fmla="*/ 0 60000 65536"/>
              <a:gd name="T8" fmla="*/ 0 60000 65536"/>
              <a:gd name="T9" fmla="*/ 0 w 42622"/>
              <a:gd name="T10" fmla="*/ 0 h 39534"/>
              <a:gd name="T11" fmla="*/ 42622 w 42622"/>
              <a:gd name="T12" fmla="*/ 39534 h 395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622" h="39534" fill="none" extrusionOk="0">
                <a:moveTo>
                  <a:pt x="0" y="16635"/>
                </a:moveTo>
                <a:cubicBezTo>
                  <a:pt x="2302" y="6886"/>
                  <a:pt x="11005" y="-1"/>
                  <a:pt x="21022" y="0"/>
                </a:cubicBezTo>
                <a:cubicBezTo>
                  <a:pt x="32951" y="0"/>
                  <a:pt x="42622" y="9670"/>
                  <a:pt x="42622" y="21600"/>
                </a:cubicBezTo>
                <a:cubicBezTo>
                  <a:pt x="42622" y="28797"/>
                  <a:pt x="39036" y="35522"/>
                  <a:pt x="33060" y="39534"/>
                </a:cubicBezTo>
              </a:path>
              <a:path w="42622" h="39534" stroke="0" extrusionOk="0">
                <a:moveTo>
                  <a:pt x="0" y="16635"/>
                </a:moveTo>
                <a:cubicBezTo>
                  <a:pt x="2302" y="6886"/>
                  <a:pt x="11005" y="-1"/>
                  <a:pt x="21022" y="0"/>
                </a:cubicBezTo>
                <a:cubicBezTo>
                  <a:pt x="32951" y="0"/>
                  <a:pt x="42622" y="9670"/>
                  <a:pt x="42622" y="21600"/>
                </a:cubicBezTo>
                <a:cubicBezTo>
                  <a:pt x="42622" y="28797"/>
                  <a:pt x="39036" y="35522"/>
                  <a:pt x="33060" y="39534"/>
                </a:cubicBezTo>
                <a:lnTo>
                  <a:pt x="21022" y="21600"/>
                </a:lnTo>
                <a:lnTo>
                  <a:pt x="0" y="16635"/>
                </a:lnTo>
                <a:close/>
              </a:path>
            </a:pathLst>
          </a:custGeom>
          <a:noFill/>
          <a:ln w="31750">
            <a:solidFill>
              <a:srgbClr val="00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03" name="Arc 27"/>
          <p:cNvSpPr>
            <a:spLocks/>
          </p:cNvSpPr>
          <p:nvPr/>
        </p:nvSpPr>
        <p:spPr bwMode="auto">
          <a:xfrm>
            <a:off x="6034088" y="4589463"/>
            <a:ext cx="120650" cy="117475"/>
          </a:xfrm>
          <a:custGeom>
            <a:avLst/>
            <a:gdLst>
              <a:gd name="T0" fmla="*/ 5547221 w 34630"/>
              <a:gd name="T1" fmla="*/ 69740319 h 32752"/>
              <a:gd name="T2" fmla="*/ 61930004 w 34630"/>
              <a:gd name="T3" fmla="*/ 9309757 h 32752"/>
              <a:gd name="T4" fmla="*/ 38628162 w 34630"/>
              <a:gd name="T5" fmla="*/ 45993919 h 32752"/>
              <a:gd name="T6" fmla="*/ 0 60000 65536"/>
              <a:gd name="T7" fmla="*/ 0 60000 65536"/>
              <a:gd name="T8" fmla="*/ 0 60000 65536"/>
              <a:gd name="T9" fmla="*/ 0 w 34630"/>
              <a:gd name="T10" fmla="*/ 0 h 32752"/>
              <a:gd name="T11" fmla="*/ 34630 w 34630"/>
              <a:gd name="T12" fmla="*/ 32752 h 327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630" h="32752" fill="none" extrusionOk="0">
                <a:moveTo>
                  <a:pt x="3101" y="32752"/>
                </a:moveTo>
                <a:cubicBezTo>
                  <a:pt x="1072" y="29386"/>
                  <a:pt x="0" y="2553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303" y="-1"/>
                  <a:pt x="30878" y="1535"/>
                  <a:pt x="34629" y="4372"/>
                </a:cubicBezTo>
              </a:path>
              <a:path w="34630" h="32752" stroke="0" extrusionOk="0">
                <a:moveTo>
                  <a:pt x="3101" y="32752"/>
                </a:moveTo>
                <a:cubicBezTo>
                  <a:pt x="1072" y="29386"/>
                  <a:pt x="0" y="2553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303" y="-1"/>
                  <a:pt x="30878" y="1535"/>
                  <a:pt x="34629" y="4372"/>
                </a:cubicBezTo>
                <a:lnTo>
                  <a:pt x="21600" y="21600"/>
                </a:lnTo>
                <a:lnTo>
                  <a:pt x="3101" y="32752"/>
                </a:lnTo>
                <a:close/>
              </a:path>
            </a:pathLst>
          </a:custGeom>
          <a:noFill/>
          <a:ln w="31750">
            <a:solidFill>
              <a:srgbClr val="0000FF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04" name="Arc 28"/>
          <p:cNvSpPr>
            <a:spLocks/>
          </p:cNvSpPr>
          <p:nvPr/>
        </p:nvSpPr>
        <p:spPr bwMode="auto">
          <a:xfrm flipV="1">
            <a:off x="5740400" y="4706938"/>
            <a:ext cx="355600" cy="184150"/>
          </a:xfrm>
          <a:custGeom>
            <a:avLst/>
            <a:gdLst>
              <a:gd name="T0" fmla="*/ 2147483647 w 21600"/>
              <a:gd name="T1" fmla="*/ 0 h 11220"/>
              <a:gd name="T2" fmla="*/ 2147483647 w 21600"/>
              <a:gd name="T3" fmla="*/ 2147483647 h 11220"/>
              <a:gd name="T4" fmla="*/ 0 w 21600"/>
              <a:gd name="T5" fmla="*/ 78586193 h 11220"/>
              <a:gd name="T6" fmla="*/ 0 60000 65536"/>
              <a:gd name="T7" fmla="*/ 0 60000 65536"/>
              <a:gd name="T8" fmla="*/ 0 60000 65536"/>
              <a:gd name="T9" fmla="*/ 0 w 21600"/>
              <a:gd name="T10" fmla="*/ 0 h 11220"/>
              <a:gd name="T11" fmla="*/ 21600 w 21600"/>
              <a:gd name="T12" fmla="*/ 11220 h 112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1220" fill="none" extrusionOk="0">
                <a:moveTo>
                  <a:pt x="21599" y="0"/>
                </a:moveTo>
                <a:cubicBezTo>
                  <a:pt x="21599" y="1"/>
                  <a:pt x="21600" y="2"/>
                  <a:pt x="21600" y="4"/>
                </a:cubicBezTo>
                <a:cubicBezTo>
                  <a:pt x="21600" y="3959"/>
                  <a:pt x="20513" y="7839"/>
                  <a:pt x="18459" y="11219"/>
                </a:cubicBezTo>
              </a:path>
              <a:path w="21600" h="11220" stroke="0" extrusionOk="0">
                <a:moveTo>
                  <a:pt x="21599" y="0"/>
                </a:moveTo>
                <a:cubicBezTo>
                  <a:pt x="21599" y="1"/>
                  <a:pt x="21600" y="2"/>
                  <a:pt x="21600" y="4"/>
                </a:cubicBezTo>
                <a:cubicBezTo>
                  <a:pt x="21600" y="3959"/>
                  <a:pt x="20513" y="7839"/>
                  <a:pt x="18459" y="11219"/>
                </a:cubicBezTo>
                <a:lnTo>
                  <a:pt x="0" y="4"/>
                </a:lnTo>
                <a:lnTo>
                  <a:pt x="21599" y="0"/>
                </a:lnTo>
                <a:close/>
              </a:path>
            </a:pathLst>
          </a:custGeom>
          <a:noFill/>
          <a:ln w="31750">
            <a:solidFill>
              <a:srgbClr val="FF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05" name="Arc 29"/>
          <p:cNvSpPr>
            <a:spLocks/>
          </p:cNvSpPr>
          <p:nvPr/>
        </p:nvSpPr>
        <p:spPr bwMode="auto">
          <a:xfrm flipV="1">
            <a:off x="5773738" y="4603750"/>
            <a:ext cx="639762" cy="512763"/>
          </a:xfrm>
          <a:custGeom>
            <a:avLst/>
            <a:gdLst>
              <a:gd name="T0" fmla="*/ 2147483647 w 20995"/>
              <a:gd name="T1" fmla="*/ 2147483647 h 17641"/>
              <a:gd name="T2" fmla="*/ 2147483647 w 20995"/>
              <a:gd name="T3" fmla="*/ 2147483647 h 17641"/>
              <a:gd name="T4" fmla="*/ 0 w 20995"/>
              <a:gd name="T5" fmla="*/ 0 h 17641"/>
              <a:gd name="T6" fmla="*/ 0 60000 65536"/>
              <a:gd name="T7" fmla="*/ 0 60000 65536"/>
              <a:gd name="T8" fmla="*/ 0 60000 65536"/>
              <a:gd name="T9" fmla="*/ 0 w 20995"/>
              <a:gd name="T10" fmla="*/ 0 h 17641"/>
              <a:gd name="T11" fmla="*/ 20995 w 20995"/>
              <a:gd name="T12" fmla="*/ 17641 h 176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95" h="17641" fill="none" extrusionOk="0">
                <a:moveTo>
                  <a:pt x="20995" y="5076"/>
                </a:moveTo>
                <a:cubicBezTo>
                  <a:pt x="19766" y="10158"/>
                  <a:pt x="16734" y="14623"/>
                  <a:pt x="12464" y="17641"/>
                </a:cubicBezTo>
              </a:path>
              <a:path w="20995" h="17641" stroke="0" extrusionOk="0">
                <a:moveTo>
                  <a:pt x="20995" y="5076"/>
                </a:moveTo>
                <a:cubicBezTo>
                  <a:pt x="19766" y="10158"/>
                  <a:pt x="16734" y="14623"/>
                  <a:pt x="12464" y="17641"/>
                </a:cubicBezTo>
                <a:lnTo>
                  <a:pt x="0" y="0"/>
                </a:lnTo>
                <a:lnTo>
                  <a:pt x="20995" y="5076"/>
                </a:lnTo>
                <a:close/>
              </a:path>
            </a:pathLst>
          </a:custGeom>
          <a:noFill/>
          <a:ln w="31750">
            <a:solidFill>
              <a:srgbClr val="FF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5668963" y="4886325"/>
            <a:ext cx="2090737" cy="1588"/>
            <a:chOff x="2611" y="2779"/>
            <a:chExt cx="1317" cy="1"/>
          </a:xfrm>
        </p:grpSpPr>
        <p:sp>
          <p:nvSpPr>
            <p:cNvPr id="50214" name="Line 31"/>
            <p:cNvSpPr>
              <a:spLocks noChangeShapeType="1"/>
            </p:cNvSpPr>
            <p:nvPr/>
          </p:nvSpPr>
          <p:spPr bwMode="auto">
            <a:xfrm>
              <a:off x="2611" y="2779"/>
              <a:ext cx="52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5" name="Line 32"/>
            <p:cNvSpPr>
              <a:spLocks noChangeShapeType="1"/>
            </p:cNvSpPr>
            <p:nvPr/>
          </p:nvSpPr>
          <p:spPr bwMode="auto">
            <a:xfrm>
              <a:off x="3154" y="2780"/>
              <a:ext cx="2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6" name="Line 33"/>
            <p:cNvSpPr>
              <a:spLocks noChangeShapeType="1"/>
            </p:cNvSpPr>
            <p:nvPr/>
          </p:nvSpPr>
          <p:spPr bwMode="auto">
            <a:xfrm>
              <a:off x="3200" y="2780"/>
              <a:ext cx="3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7" name="Line 34"/>
            <p:cNvSpPr>
              <a:spLocks noChangeShapeType="1"/>
            </p:cNvSpPr>
            <p:nvPr/>
          </p:nvSpPr>
          <p:spPr bwMode="auto">
            <a:xfrm>
              <a:off x="3612" y="2780"/>
              <a:ext cx="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8" name="Line 35"/>
            <p:cNvSpPr>
              <a:spLocks noChangeShapeType="1"/>
            </p:cNvSpPr>
            <p:nvPr/>
          </p:nvSpPr>
          <p:spPr bwMode="auto">
            <a:xfrm>
              <a:off x="3656" y="2780"/>
              <a:ext cx="2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5012" name="Line 36"/>
          <p:cNvSpPr>
            <a:spLocks noChangeShapeType="1"/>
          </p:cNvSpPr>
          <p:nvPr/>
        </p:nvSpPr>
        <p:spPr bwMode="auto">
          <a:xfrm flipH="1">
            <a:off x="5694363" y="5119688"/>
            <a:ext cx="14922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13" name="Line 37"/>
          <p:cNvSpPr>
            <a:spLocks noChangeShapeType="1"/>
          </p:cNvSpPr>
          <p:nvPr/>
        </p:nvSpPr>
        <p:spPr bwMode="auto">
          <a:xfrm>
            <a:off x="5715000" y="4811713"/>
            <a:ext cx="0" cy="1460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14" name="Line 38"/>
          <p:cNvSpPr>
            <a:spLocks noChangeShapeType="1"/>
          </p:cNvSpPr>
          <p:nvPr/>
        </p:nvSpPr>
        <p:spPr bwMode="auto">
          <a:xfrm flipH="1">
            <a:off x="5770563" y="4889500"/>
            <a:ext cx="973137" cy="231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15" name="Line 39"/>
          <p:cNvSpPr>
            <a:spLocks noChangeShapeType="1"/>
          </p:cNvSpPr>
          <p:nvPr/>
        </p:nvSpPr>
        <p:spPr bwMode="auto">
          <a:xfrm flipH="1">
            <a:off x="6889750" y="3611563"/>
            <a:ext cx="781050" cy="1274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16" name="Line 40"/>
          <p:cNvSpPr>
            <a:spLocks noChangeShapeType="1"/>
          </p:cNvSpPr>
          <p:nvPr/>
        </p:nvSpPr>
        <p:spPr bwMode="auto">
          <a:xfrm flipH="1">
            <a:off x="6411913" y="3779838"/>
            <a:ext cx="1073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17" name="Line 41"/>
          <p:cNvSpPr>
            <a:spLocks noChangeShapeType="1"/>
          </p:cNvSpPr>
          <p:nvPr/>
        </p:nvSpPr>
        <p:spPr bwMode="auto">
          <a:xfrm flipV="1">
            <a:off x="7486650" y="3670300"/>
            <a:ext cx="0" cy="1905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18" name="Line 42"/>
          <p:cNvSpPr>
            <a:spLocks noChangeShapeType="1"/>
          </p:cNvSpPr>
          <p:nvPr/>
        </p:nvSpPr>
        <p:spPr bwMode="auto">
          <a:xfrm flipH="1">
            <a:off x="6743700" y="3783013"/>
            <a:ext cx="742950" cy="11033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19" name="Line 43"/>
          <p:cNvSpPr>
            <a:spLocks noChangeShapeType="1"/>
          </p:cNvSpPr>
          <p:nvPr/>
        </p:nvSpPr>
        <p:spPr bwMode="auto">
          <a:xfrm flipH="1">
            <a:off x="6889750" y="3609975"/>
            <a:ext cx="781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20" name="Line 44"/>
          <p:cNvSpPr>
            <a:spLocks noChangeShapeType="1"/>
          </p:cNvSpPr>
          <p:nvPr/>
        </p:nvSpPr>
        <p:spPr bwMode="auto">
          <a:xfrm flipV="1">
            <a:off x="7672388" y="3344863"/>
            <a:ext cx="0" cy="325437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21" name="Arc 45"/>
          <p:cNvSpPr>
            <a:spLocks noChangeAspect="1"/>
          </p:cNvSpPr>
          <p:nvPr/>
        </p:nvSpPr>
        <p:spPr bwMode="auto">
          <a:xfrm flipV="1">
            <a:off x="5711825" y="4481513"/>
            <a:ext cx="450850" cy="404812"/>
          </a:xfrm>
          <a:custGeom>
            <a:avLst/>
            <a:gdLst>
              <a:gd name="T0" fmla="*/ 2147483647 w 21386"/>
              <a:gd name="T1" fmla="*/ 2147483647 h 19146"/>
              <a:gd name="T2" fmla="*/ 2147483647 w 21386"/>
              <a:gd name="T3" fmla="*/ 2147483647 h 19146"/>
              <a:gd name="T4" fmla="*/ 0 w 21386"/>
              <a:gd name="T5" fmla="*/ 0 h 19146"/>
              <a:gd name="T6" fmla="*/ 0 60000 65536"/>
              <a:gd name="T7" fmla="*/ 0 60000 65536"/>
              <a:gd name="T8" fmla="*/ 0 60000 65536"/>
              <a:gd name="T9" fmla="*/ 0 w 21386"/>
              <a:gd name="T10" fmla="*/ 0 h 19146"/>
              <a:gd name="T11" fmla="*/ 21386 w 21386"/>
              <a:gd name="T12" fmla="*/ 19146 h 191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86" h="19146" fill="none" extrusionOk="0">
                <a:moveTo>
                  <a:pt x="21385" y="3032"/>
                </a:moveTo>
                <a:cubicBezTo>
                  <a:pt x="20408" y="9924"/>
                  <a:pt x="16169" y="15923"/>
                  <a:pt x="9999" y="19145"/>
                </a:cubicBezTo>
              </a:path>
              <a:path w="21386" h="19146" stroke="0" extrusionOk="0">
                <a:moveTo>
                  <a:pt x="21385" y="3032"/>
                </a:moveTo>
                <a:cubicBezTo>
                  <a:pt x="20408" y="9924"/>
                  <a:pt x="16169" y="15923"/>
                  <a:pt x="9999" y="19145"/>
                </a:cubicBezTo>
                <a:lnTo>
                  <a:pt x="0" y="0"/>
                </a:lnTo>
                <a:lnTo>
                  <a:pt x="21385" y="3032"/>
                </a:lnTo>
                <a:close/>
              </a:path>
            </a:pathLst>
          </a:custGeom>
          <a:noFill/>
          <a:ln w="9525">
            <a:solidFill>
              <a:srgbClr val="0000FF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22" name="Arc 46"/>
          <p:cNvSpPr>
            <a:spLocks noChangeAspect="1"/>
          </p:cNvSpPr>
          <p:nvPr/>
        </p:nvSpPr>
        <p:spPr bwMode="auto">
          <a:xfrm flipV="1">
            <a:off x="5713413" y="4572000"/>
            <a:ext cx="492125" cy="549275"/>
          </a:xfrm>
          <a:custGeom>
            <a:avLst/>
            <a:gdLst>
              <a:gd name="T0" fmla="*/ 2147483647 w 17663"/>
              <a:gd name="T1" fmla="*/ 2147483647 h 19688"/>
              <a:gd name="T2" fmla="*/ 2147483647 w 17663"/>
              <a:gd name="T3" fmla="*/ 2147483647 h 19688"/>
              <a:gd name="T4" fmla="*/ 0 w 17663"/>
              <a:gd name="T5" fmla="*/ 0 h 19688"/>
              <a:gd name="T6" fmla="*/ 0 60000 65536"/>
              <a:gd name="T7" fmla="*/ 0 60000 65536"/>
              <a:gd name="T8" fmla="*/ 0 60000 65536"/>
              <a:gd name="T9" fmla="*/ 0 w 17663"/>
              <a:gd name="T10" fmla="*/ 0 h 19688"/>
              <a:gd name="T11" fmla="*/ 17663 w 17663"/>
              <a:gd name="T12" fmla="*/ 19688 h 196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63" h="19688" fill="none" extrusionOk="0">
                <a:moveTo>
                  <a:pt x="17662" y="12433"/>
                </a:moveTo>
                <a:cubicBezTo>
                  <a:pt x="15438" y="15593"/>
                  <a:pt x="12407" y="18098"/>
                  <a:pt x="8884" y="19687"/>
                </a:cubicBezTo>
              </a:path>
              <a:path w="17663" h="19688" stroke="0" extrusionOk="0">
                <a:moveTo>
                  <a:pt x="17662" y="12433"/>
                </a:moveTo>
                <a:cubicBezTo>
                  <a:pt x="15438" y="15593"/>
                  <a:pt x="12407" y="18098"/>
                  <a:pt x="8884" y="19687"/>
                </a:cubicBezTo>
                <a:lnTo>
                  <a:pt x="0" y="0"/>
                </a:lnTo>
                <a:lnTo>
                  <a:pt x="17662" y="12433"/>
                </a:lnTo>
                <a:close/>
              </a:path>
            </a:pathLst>
          </a:custGeom>
          <a:noFill/>
          <a:ln w="9525">
            <a:solidFill>
              <a:srgbClr val="0000FF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23" name="Line 47"/>
          <p:cNvSpPr>
            <a:spLocks noChangeShapeType="1"/>
          </p:cNvSpPr>
          <p:nvPr/>
        </p:nvSpPr>
        <p:spPr bwMode="auto">
          <a:xfrm flipV="1">
            <a:off x="5710238" y="4668838"/>
            <a:ext cx="400050" cy="219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24" name="Line 48"/>
          <p:cNvSpPr>
            <a:spLocks noChangeShapeType="1"/>
          </p:cNvSpPr>
          <p:nvPr/>
        </p:nvSpPr>
        <p:spPr bwMode="auto">
          <a:xfrm flipV="1">
            <a:off x="5772150" y="4541838"/>
            <a:ext cx="427038" cy="5810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25" name="Arc 49"/>
          <p:cNvSpPr>
            <a:spLocks noChangeAspect="1"/>
          </p:cNvSpPr>
          <p:nvPr/>
        </p:nvSpPr>
        <p:spPr bwMode="auto">
          <a:xfrm flipV="1">
            <a:off x="6886575" y="3513138"/>
            <a:ext cx="1047750" cy="1376362"/>
          </a:xfrm>
          <a:custGeom>
            <a:avLst/>
            <a:gdLst>
              <a:gd name="T0" fmla="*/ 2147483647 w 15143"/>
              <a:gd name="T1" fmla="*/ 2147483647 h 19749"/>
              <a:gd name="T2" fmla="*/ 2147483647 w 15143"/>
              <a:gd name="T3" fmla="*/ 2147483647 h 19749"/>
              <a:gd name="T4" fmla="*/ 0 w 15143"/>
              <a:gd name="T5" fmla="*/ 0 h 19749"/>
              <a:gd name="T6" fmla="*/ 0 60000 65536"/>
              <a:gd name="T7" fmla="*/ 0 60000 65536"/>
              <a:gd name="T8" fmla="*/ 0 60000 65536"/>
              <a:gd name="T9" fmla="*/ 0 w 15143"/>
              <a:gd name="T10" fmla="*/ 0 h 19749"/>
              <a:gd name="T11" fmla="*/ 15143 w 15143"/>
              <a:gd name="T12" fmla="*/ 19749 h 1974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143" h="19749" fill="none" extrusionOk="0">
                <a:moveTo>
                  <a:pt x="15142" y="15402"/>
                </a:moveTo>
                <a:cubicBezTo>
                  <a:pt x="13290" y="17224"/>
                  <a:pt x="11124" y="18696"/>
                  <a:pt x="8748" y="19748"/>
                </a:cubicBezTo>
              </a:path>
              <a:path w="15143" h="19749" stroke="0" extrusionOk="0">
                <a:moveTo>
                  <a:pt x="15142" y="15402"/>
                </a:moveTo>
                <a:cubicBezTo>
                  <a:pt x="13290" y="17224"/>
                  <a:pt x="11124" y="18696"/>
                  <a:pt x="8748" y="19748"/>
                </a:cubicBezTo>
                <a:lnTo>
                  <a:pt x="0" y="0"/>
                </a:lnTo>
                <a:lnTo>
                  <a:pt x="15142" y="15402"/>
                </a:lnTo>
                <a:close/>
              </a:path>
            </a:pathLst>
          </a:custGeom>
          <a:noFill/>
          <a:ln w="9525">
            <a:solidFill>
              <a:srgbClr val="0000FF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26" name="Arc 50"/>
          <p:cNvSpPr>
            <a:spLocks noChangeAspect="1"/>
          </p:cNvSpPr>
          <p:nvPr/>
        </p:nvSpPr>
        <p:spPr bwMode="auto">
          <a:xfrm flipV="1">
            <a:off x="6734175" y="3667125"/>
            <a:ext cx="939800" cy="1220788"/>
          </a:xfrm>
          <a:custGeom>
            <a:avLst/>
            <a:gdLst>
              <a:gd name="T0" fmla="*/ 2147483647 w 15193"/>
              <a:gd name="T1" fmla="*/ 2147483647 h 19629"/>
              <a:gd name="T2" fmla="*/ 2147483647 w 15193"/>
              <a:gd name="T3" fmla="*/ 2147483647 h 19629"/>
              <a:gd name="T4" fmla="*/ 0 w 15193"/>
              <a:gd name="T5" fmla="*/ 0 h 19629"/>
              <a:gd name="T6" fmla="*/ 0 60000 65536"/>
              <a:gd name="T7" fmla="*/ 0 60000 65536"/>
              <a:gd name="T8" fmla="*/ 0 60000 65536"/>
              <a:gd name="T9" fmla="*/ 0 w 15193"/>
              <a:gd name="T10" fmla="*/ 0 h 19629"/>
              <a:gd name="T11" fmla="*/ 15193 w 15193"/>
              <a:gd name="T12" fmla="*/ 19629 h 1962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193" h="19629" fill="none" extrusionOk="0">
                <a:moveTo>
                  <a:pt x="15192" y="15353"/>
                </a:moveTo>
                <a:cubicBezTo>
                  <a:pt x="13398" y="17128"/>
                  <a:pt x="11307" y="18575"/>
                  <a:pt x="9014" y="19629"/>
                </a:cubicBezTo>
              </a:path>
              <a:path w="15193" h="19629" stroke="0" extrusionOk="0">
                <a:moveTo>
                  <a:pt x="15192" y="15353"/>
                </a:moveTo>
                <a:cubicBezTo>
                  <a:pt x="13398" y="17128"/>
                  <a:pt x="11307" y="18575"/>
                  <a:pt x="9014" y="19629"/>
                </a:cubicBezTo>
                <a:lnTo>
                  <a:pt x="0" y="0"/>
                </a:lnTo>
                <a:lnTo>
                  <a:pt x="15192" y="15353"/>
                </a:lnTo>
                <a:close/>
              </a:path>
            </a:pathLst>
          </a:custGeom>
          <a:noFill/>
          <a:ln w="9525">
            <a:solidFill>
              <a:srgbClr val="0000FF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27" name="Text Box 51"/>
          <p:cNvSpPr txBox="1">
            <a:spLocks noChangeArrowheads="1"/>
          </p:cNvSpPr>
          <p:nvPr/>
        </p:nvSpPr>
        <p:spPr bwMode="auto">
          <a:xfrm>
            <a:off x="5632450" y="2708275"/>
            <a:ext cx="3511550" cy="181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作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图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过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程</a:t>
            </a:r>
          </a:p>
        </p:txBody>
      </p:sp>
      <p:sp>
        <p:nvSpPr>
          <p:cNvPr id="255028" name="Arc 52"/>
          <p:cNvSpPr>
            <a:spLocks noChangeAspect="1"/>
          </p:cNvSpPr>
          <p:nvPr/>
        </p:nvSpPr>
        <p:spPr bwMode="auto">
          <a:xfrm flipH="1">
            <a:off x="5748338" y="4883150"/>
            <a:ext cx="987425" cy="422275"/>
          </a:xfrm>
          <a:custGeom>
            <a:avLst/>
            <a:gdLst>
              <a:gd name="T0" fmla="*/ 2147483647 w 21498"/>
              <a:gd name="T1" fmla="*/ 2147483647 h 9164"/>
              <a:gd name="T2" fmla="*/ 2147483647 w 21498"/>
              <a:gd name="T3" fmla="*/ 2147483647 h 9164"/>
              <a:gd name="T4" fmla="*/ 0 w 21498"/>
              <a:gd name="T5" fmla="*/ 0 h 9164"/>
              <a:gd name="T6" fmla="*/ 0 60000 65536"/>
              <a:gd name="T7" fmla="*/ 0 60000 65536"/>
              <a:gd name="T8" fmla="*/ 0 60000 65536"/>
              <a:gd name="T9" fmla="*/ 0 w 21498"/>
              <a:gd name="T10" fmla="*/ 0 h 9164"/>
              <a:gd name="T11" fmla="*/ 21498 w 21498"/>
              <a:gd name="T12" fmla="*/ 9164 h 91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498" h="9164" fill="none" extrusionOk="0">
                <a:moveTo>
                  <a:pt x="21497" y="2096"/>
                </a:moveTo>
                <a:cubicBezTo>
                  <a:pt x="21259" y="4545"/>
                  <a:pt x="20603" y="6935"/>
                  <a:pt x="19559" y="9163"/>
                </a:cubicBezTo>
              </a:path>
              <a:path w="21498" h="9164" stroke="0" extrusionOk="0">
                <a:moveTo>
                  <a:pt x="21497" y="2096"/>
                </a:moveTo>
                <a:cubicBezTo>
                  <a:pt x="21259" y="4545"/>
                  <a:pt x="20603" y="6935"/>
                  <a:pt x="19559" y="9163"/>
                </a:cubicBezTo>
                <a:lnTo>
                  <a:pt x="0" y="0"/>
                </a:lnTo>
                <a:lnTo>
                  <a:pt x="21497" y="2096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29" name="Text Box 53"/>
          <p:cNvSpPr txBox="1">
            <a:spLocks noChangeArrowheads="1"/>
          </p:cNvSpPr>
          <p:nvPr/>
        </p:nvSpPr>
        <p:spPr bwMode="auto">
          <a:xfrm>
            <a:off x="4810125" y="107950"/>
            <a:ext cx="29495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36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自学</a:t>
            </a:r>
            <a:r>
              <a:rPr lang="en-US" altLang="zh-CN" sz="36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)</a:t>
            </a:r>
            <a:endParaRPr lang="zh-CN" altLang="en-US" sz="360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5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5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5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25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2000"/>
                                        <p:tgtEl>
                                          <p:spTgt spid="25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5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55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255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5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5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5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5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25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25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25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25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25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5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255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5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25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25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25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255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255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25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9" grpId="0" animBg="1"/>
      <p:bldP spid="254980" grpId="0" animBg="1"/>
      <p:bldP spid="254982" grpId="0" build="p" autoUpdateAnimBg="0"/>
      <p:bldP spid="254999" grpId="0" animBg="1"/>
      <p:bldP spid="255000" grpId="0" animBg="1"/>
      <p:bldP spid="255001" grpId="0" animBg="1"/>
      <p:bldP spid="255002" grpId="0" animBg="1"/>
      <p:bldP spid="255003" grpId="0" animBg="1"/>
      <p:bldP spid="255004" grpId="0" animBg="1"/>
      <p:bldP spid="255005" grpId="0" animBg="1"/>
      <p:bldP spid="255012" grpId="0" animBg="1"/>
      <p:bldP spid="255013" grpId="0" animBg="1"/>
      <p:bldP spid="255014" grpId="0" animBg="1"/>
      <p:bldP spid="255015" grpId="0" animBg="1"/>
      <p:bldP spid="255016" grpId="0" animBg="1"/>
      <p:bldP spid="255017" grpId="0" animBg="1"/>
      <p:bldP spid="255018" grpId="0" animBg="1"/>
      <p:bldP spid="255019" grpId="0" animBg="1"/>
      <p:bldP spid="255020" grpId="0" animBg="1"/>
      <p:bldP spid="255021" grpId="0" animBg="1"/>
      <p:bldP spid="255022" grpId="0" animBg="1"/>
      <p:bldP spid="255023" grpId="0" animBg="1"/>
      <p:bldP spid="255024" grpId="0" animBg="1"/>
      <p:bldP spid="255025" grpId="0" animBg="1"/>
      <p:bldP spid="255026" grpId="0" animBg="1"/>
      <p:bldP spid="255027" grpId="0" autoUpdateAnimBg="0"/>
      <p:bldP spid="255028" grpId="0" animBg="1"/>
      <p:bldP spid="2550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F111A581-EBA3-420A-BDC0-D8A23F4DD4F5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34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51203" name="AutoShape 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actionButtonBlank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53955" name="Text Box 3"/>
          <p:cNvSpPr txBox="1">
            <a:spLocks noChangeArrowheads="1"/>
          </p:cNvSpPr>
          <p:nvPr/>
        </p:nvSpPr>
        <p:spPr bwMode="auto">
          <a:xfrm>
            <a:off x="841375" y="1358900"/>
            <a:ext cx="73660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If you can measure that of which you speak, and can express it by a number, you know something about your subject;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but if you cannot measure it, your knowledge is meagre and unsatisfactory.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                                          Kelvin </a:t>
            </a:r>
            <a:r>
              <a:rPr lang="zh-CN" altLang="en-US" sz="2800"/>
              <a:t>（</a:t>
            </a:r>
            <a:r>
              <a:rPr lang="en-US" altLang="zh-CN" sz="2800"/>
              <a:t>1842-1907</a:t>
            </a:r>
            <a:r>
              <a:rPr lang="zh-CN" altLang="en-US" sz="2800"/>
              <a:t>）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80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/>
              <a:t>                                    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5" grpId="0"/>
    </p:bldLst>
  </p:timing>
</p:sld>
</file>

<file path=ppt/theme/theme1.xml><?xml version="1.0" encoding="utf-8"?>
<a:theme xmlns:a="http://schemas.openxmlformats.org/drawingml/2006/main" name="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0000"/>
          </a:solidFill>
          <a:prstDash val="solid"/>
          <a:round/>
          <a:headEnd type="none" w="sm" len="lg"/>
          <a:tailEnd type="none" w="sm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0000"/>
          </a:solidFill>
          <a:prstDash val="solid"/>
          <a:round/>
          <a:headEnd type="none" w="sm" len="lg"/>
          <a:tailEnd type="none" w="sm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Office\Templates\演示文稿设计\场景型模板.pot</Template>
  <TotalTime>12226</TotalTime>
  <Words>1666</Words>
  <Application>Microsoft Office PowerPoint</Application>
  <PresentationFormat>全屏显示(4:3)</PresentationFormat>
  <Paragraphs>429</Paragraphs>
  <Slides>34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场景型模板</vt:lpstr>
      <vt:lpstr>AutoCAD Drawing</vt:lpstr>
      <vt:lpstr>文档</vt:lpstr>
      <vt:lpstr> 第12讲  尺寸标注基础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ENGINEERING GRAPHICS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第九讲            1999.11.24</dc:title>
  <dc:creator>TSINGHUA UNIVERSITY</dc:creator>
  <cp:lastModifiedBy>Li Tiemin</cp:lastModifiedBy>
  <cp:revision>353</cp:revision>
  <dcterms:created xsi:type="dcterms:W3CDTF">1999-11-23T23:15:47Z</dcterms:created>
  <dcterms:modified xsi:type="dcterms:W3CDTF">2023-12-17T09:00:42Z</dcterms:modified>
</cp:coreProperties>
</file>