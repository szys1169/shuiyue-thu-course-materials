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64" r:id="rId2"/>
    <p:sldId id="441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446" r:id="rId11"/>
    <p:sldId id="445" r:id="rId12"/>
    <p:sldId id="287" r:id="rId13"/>
    <p:sldId id="288" r:id="rId14"/>
    <p:sldId id="439" r:id="rId15"/>
    <p:sldId id="442" r:id="rId16"/>
    <p:sldId id="444" r:id="rId17"/>
    <p:sldId id="443" r:id="rId18"/>
    <p:sldId id="448" r:id="rId19"/>
    <p:sldId id="450" r:id="rId20"/>
    <p:sldId id="452" r:id="rId21"/>
    <p:sldId id="454" r:id="rId22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CCFF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08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-1541" y="-58"/>
      </p:cViewPr>
      <p:guideLst>
        <p:guide orient="horz" pos="2160"/>
        <p:guide orient="horz" pos="119"/>
        <p:guide orient="horz" pos="4201"/>
        <p:guide orient="horz" pos="663"/>
        <p:guide orient="horz" pos="3657"/>
        <p:guide pos="2880"/>
        <p:guide pos="1383"/>
        <p:guide pos="4377"/>
        <p:guide pos="839"/>
        <p:guide pos="4921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ea typeface="宋体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097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097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53A0D290-83E2-4A39-9AA3-52A3848B24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676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67677-8183-4289-A21C-03E283E5E9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015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2317F6-54FC-4337-9E36-002C83F653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7255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BF87E7-D2EF-4340-9EC1-764B765175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1706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F066AD-6756-400E-BFE2-1171F2951B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49877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8906CB-C462-422B-A95C-55D0B1DD45E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4186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DA438F-F5B2-4D66-AFC3-F344B9B2F6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3523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6E346-DC48-4C75-9E66-AF4073CB95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6053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811CB7-3C53-44D7-BBA9-3F0FCDF962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9016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1700D2-B81D-4A68-9E09-570974B3F9D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5750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80FDB-9F59-4BC0-AD7E-46C1AA6C19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59545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/>
            <a:endParaRPr kumimoji="1" lang="zh-CN" altLang="zh-CN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994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94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9F2D970-C538-46E0-A772-1175104461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CCFF"/>
            </a:gs>
            <a:gs pos="100000">
              <a:srgbClr val="765E76"/>
            </a:gs>
          </a:gsLst>
          <a:path path="rect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ChangeArrowheads="1"/>
          </p:cNvSpPr>
          <p:nvPr/>
        </p:nvSpPr>
        <p:spPr bwMode="auto">
          <a:xfrm>
            <a:off x="0" y="741363"/>
            <a:ext cx="9144000" cy="283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 dirty="0" smtClean="0">
                <a:latin typeface="Arial" charset="0"/>
                <a:ea typeface="隶书" pitchFamily="49" charset="-122"/>
              </a:rPr>
              <a:t>第四讲</a:t>
            </a:r>
            <a:r>
              <a:rPr lang="zh-CN" altLang="en-US" sz="6000" b="1" dirty="0">
                <a:latin typeface="Arial" charset="0"/>
                <a:ea typeface="隶书" pitchFamily="49" charset="-122"/>
              </a:rPr>
              <a:t>习题答案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 dirty="0">
                <a:latin typeface="Arial" charset="0"/>
                <a:ea typeface="隶书" pitchFamily="49" charset="-122"/>
              </a:rPr>
              <a:t> 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6000" b="1" dirty="0">
                <a:latin typeface="Arial" charset="0"/>
                <a:ea typeface="黑体" pitchFamily="2" charset="-122"/>
              </a:rPr>
              <a:t>基本体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960" name="Text Box 48"/>
          <p:cNvSpPr txBox="1">
            <a:spLocks noChangeArrowheads="1"/>
          </p:cNvSpPr>
          <p:nvPr/>
        </p:nvSpPr>
        <p:spPr bwMode="auto">
          <a:xfrm>
            <a:off x="1379898" y="1016000"/>
            <a:ext cx="658479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ISOCPEUR" pitchFamily="34" charset="0"/>
                <a:ea typeface="黑体" pitchFamily="2" charset="-122"/>
              </a:rPr>
              <a:t>1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. </a:t>
            </a:r>
            <a:r>
              <a:rPr lang="zh-CN" altLang="en-US" sz="2800" dirty="0">
                <a:latin typeface="ISOCPEUR" pitchFamily="34" charset="0"/>
                <a:ea typeface="黑体" pitchFamily="2" charset="-122"/>
              </a:rPr>
              <a:t>投影轴和</a:t>
            </a:r>
            <a:r>
              <a:rPr lang="en-US" altLang="zh-CN" sz="2800" dirty="0">
                <a:latin typeface="ISOCPEUR" pitchFamily="34" charset="0"/>
                <a:ea typeface="黑体" pitchFamily="2" charset="-122"/>
              </a:rPr>
              <a:t>45</a:t>
            </a:r>
            <a:r>
              <a:rPr lang="zh-CN" altLang="en-US" sz="2800" dirty="0">
                <a:latin typeface="ISOCPEUR" pitchFamily="34" charset="0"/>
                <a:ea typeface="黑体" pitchFamily="2" charset="-122"/>
              </a:rPr>
              <a:t>度线； 用圆规或直尺量取。</a:t>
            </a:r>
            <a:endParaRPr lang="zh-CN" altLang="en-US" sz="2800" b="1" dirty="0">
              <a:solidFill>
                <a:schemeClr val="hlink"/>
              </a:solidFill>
              <a:latin typeface="ISOCPEUR" pitchFamily="34" charset="0"/>
              <a:ea typeface="黑体" pitchFamily="2" charset="-122"/>
            </a:endParaRPr>
          </a:p>
        </p:txBody>
      </p:sp>
      <p:sp>
        <p:nvSpPr>
          <p:cNvPr id="422961" name="Text Box 49"/>
          <p:cNvSpPr txBox="1">
            <a:spLocks noChangeArrowheads="1"/>
          </p:cNvSpPr>
          <p:nvPr/>
        </p:nvSpPr>
        <p:spPr bwMode="auto">
          <a:xfrm>
            <a:off x="1344972" y="2006600"/>
            <a:ext cx="7799028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线段重合画法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等级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)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：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               粗实线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&gt;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虚线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&gt;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点画线</a:t>
            </a:r>
            <a:r>
              <a:rPr lang="en-US" altLang="zh-CN" sz="2800" dirty="0">
                <a:latin typeface="黑体" pitchFamily="2" charset="-122"/>
                <a:ea typeface="黑体" pitchFamily="2" charset="-122"/>
              </a:rPr>
              <a:t>&gt;</a:t>
            </a:r>
            <a:r>
              <a:rPr lang="zh-CN" altLang="en-US" sz="2800" dirty="0">
                <a:latin typeface="黑体" pitchFamily="2" charset="-122"/>
                <a:ea typeface="黑体" pitchFamily="2" charset="-122"/>
              </a:rPr>
              <a:t>细实线</a:t>
            </a:r>
          </a:p>
        </p:txBody>
      </p:sp>
      <p:sp>
        <p:nvSpPr>
          <p:cNvPr id="422962" name="Text Box 50"/>
          <p:cNvSpPr txBox="1">
            <a:spLocks noChangeArrowheads="1"/>
          </p:cNvSpPr>
          <p:nvPr/>
        </p:nvSpPr>
        <p:spPr bwMode="auto">
          <a:xfrm>
            <a:off x="231775" y="138113"/>
            <a:ext cx="41481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>
                <a:latin typeface="黑体" pitchFamily="2" charset="-122"/>
                <a:ea typeface="黑体" pitchFamily="2" charset="-122"/>
              </a:rPr>
              <a:t>说明</a:t>
            </a:r>
          </a:p>
        </p:txBody>
      </p:sp>
      <p:sp>
        <p:nvSpPr>
          <p:cNvPr id="422963" name="Text Box 51"/>
          <p:cNvSpPr txBox="1">
            <a:spLocks noChangeArrowheads="1"/>
          </p:cNvSpPr>
          <p:nvPr/>
        </p:nvSpPr>
        <p:spPr bwMode="auto">
          <a:xfrm>
            <a:off x="1329097" y="3276600"/>
            <a:ext cx="7799028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黑体" pitchFamily="2" charset="-122"/>
                <a:ea typeface="黑体" pitchFamily="2" charset="-122"/>
              </a:rPr>
              <a:t>3. </a:t>
            </a:r>
            <a:r>
              <a:rPr lang="zh-CN" altLang="en-US" sz="2800">
                <a:latin typeface="黑体" pitchFamily="2" charset="-122"/>
                <a:ea typeface="黑体" pitchFamily="2" charset="-122"/>
              </a:rPr>
              <a:t>点画线：表示对称中心线时，可不画。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黑体" pitchFamily="2" charset="-122"/>
                <a:ea typeface="黑体" pitchFamily="2" charset="-122"/>
              </a:rPr>
              <a:t>           表示轴线时，必须画。          </a:t>
            </a:r>
          </a:p>
        </p:txBody>
      </p:sp>
      <p:pic>
        <p:nvPicPr>
          <p:cNvPr id="422965" name="Picture 5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85" t="26660" r="71628" b="38103"/>
          <a:stretch>
            <a:fillRect/>
          </a:stretch>
        </p:blipFill>
        <p:spPr bwMode="auto">
          <a:xfrm>
            <a:off x="2522897" y="4608513"/>
            <a:ext cx="1033386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2966" name="Picture 5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51" t="34196" r="44804" b="29720"/>
          <a:stretch>
            <a:fillRect/>
          </a:stretch>
        </p:blipFill>
        <p:spPr bwMode="auto">
          <a:xfrm>
            <a:off x="4043722" y="4570413"/>
            <a:ext cx="1059221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2967" name="Picture 5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26221" r="53893" b="34375"/>
          <a:stretch>
            <a:fillRect/>
          </a:stretch>
        </p:blipFill>
        <p:spPr bwMode="auto">
          <a:xfrm>
            <a:off x="5740759" y="4608513"/>
            <a:ext cx="1860096" cy="182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229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3000"/>
                                        <p:tgtEl>
                                          <p:spTgt spid="4229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22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22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22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22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22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60" grpId="0"/>
      <p:bldP spid="42296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7"/>
          <a:stretch>
            <a:fillRect/>
          </a:stretch>
        </p:blipFill>
        <p:spPr bwMode="auto">
          <a:xfrm>
            <a:off x="2195513" y="446088"/>
            <a:ext cx="4760912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3-1-1-1  </a:t>
            </a:r>
            <a:r>
              <a:rPr lang="zh-CN" altLang="en-US" sz="1600" b="1">
                <a:latin typeface="宋体" pitchFamily="2" charset="-122"/>
              </a:rPr>
              <a:t>求作第三视图，并标出平面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（所给投影为可见）的其余两个投影。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939800" y="446088"/>
            <a:ext cx="477837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 Box 4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3-1-1-2  </a:t>
            </a:r>
            <a:r>
              <a:rPr lang="zh-CN" altLang="en-US" sz="1600" b="1">
                <a:latin typeface="宋体" pitchFamily="2" charset="-122"/>
              </a:rPr>
              <a:t>求作第三视图，并标出平面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（所给投影为可见）的其余两个投影。</a:t>
            </a:r>
          </a:p>
        </p:txBody>
      </p:sp>
      <p:sp>
        <p:nvSpPr>
          <p:cNvPr id="6149" name="Oval 6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1843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0" r="-438"/>
          <a:stretch>
            <a:fillRect/>
          </a:stretch>
        </p:blipFill>
        <p:spPr bwMode="auto">
          <a:xfrm>
            <a:off x="5210175" y="3097213"/>
            <a:ext cx="2909888" cy="29987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958850" y="446088"/>
            <a:ext cx="4776788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3-1-1-3  </a:t>
            </a:r>
            <a:r>
              <a:rPr lang="zh-CN" altLang="en-US" sz="1600" b="1">
                <a:latin typeface="宋体" pitchFamily="2" charset="-122"/>
              </a:rPr>
              <a:t>求作第三视图，并标出平面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（所给投影为可见）的其余两个投影。</a:t>
            </a:r>
          </a:p>
        </p:txBody>
      </p:sp>
      <p:sp>
        <p:nvSpPr>
          <p:cNvPr id="7172" name="Oval 6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59" r="-6607"/>
          <a:stretch>
            <a:fillRect/>
          </a:stretch>
        </p:blipFill>
        <p:spPr bwMode="auto">
          <a:xfrm>
            <a:off x="5227638" y="3228975"/>
            <a:ext cx="3157537" cy="2930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830762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3-1-1-4  </a:t>
            </a:r>
            <a:r>
              <a:rPr lang="zh-CN" altLang="en-US" sz="1600" b="1">
                <a:latin typeface="宋体" pitchFamily="2" charset="-122"/>
              </a:rPr>
              <a:t>求作第三视图，并标出平面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（所给投影为可见）的其余两个投影。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78375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3-1-2-1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3163888" y="4084638"/>
            <a:ext cx="461962" cy="323850"/>
          </a:xfrm>
          <a:prstGeom prst="ellips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9221" name="Oval 5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3-1-2-2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sp>
        <p:nvSpPr>
          <p:cNvPr id="10243" name="Oval 5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1024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3" t="19368" r="14961" b="36833"/>
          <a:stretch>
            <a:fillRect/>
          </a:stretch>
        </p:blipFill>
        <p:spPr bwMode="auto">
          <a:xfrm>
            <a:off x="461963" y="1392238"/>
            <a:ext cx="8039100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1312355" y="4276662"/>
            <a:ext cx="461962" cy="405066"/>
          </a:xfrm>
          <a:prstGeom prst="ellips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3-1-2-3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graphicFrame>
        <p:nvGraphicFramePr>
          <p:cNvPr id="11267" name="Object 4"/>
          <p:cNvGraphicFramePr>
            <a:graphicFrameLocks noChangeAspect="1"/>
          </p:cNvGraphicFramePr>
          <p:nvPr/>
        </p:nvGraphicFramePr>
        <p:xfrm>
          <a:off x="0" y="730250"/>
          <a:ext cx="9144000" cy="457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Image" r:id="rId3" imgW="12901587" imgH="6450794" progId="Photoshop.Image.6">
                  <p:embed/>
                </p:oleObj>
              </mc:Choice>
              <mc:Fallback>
                <p:oleObj name="Image" r:id="rId3" imgW="12901587" imgH="6450794" progId="Photoshop.Image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730250"/>
                        <a:ext cx="9144000" cy="457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Oval 6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3383344" y="1743774"/>
            <a:ext cx="594296" cy="423354"/>
          </a:xfrm>
          <a:prstGeom prst="ellips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3-1-2-4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8" t="22380" r="26321" b="21068"/>
          <a:stretch>
            <a:fillRect/>
          </a:stretch>
        </p:blipFill>
        <p:spPr bwMode="auto">
          <a:xfrm>
            <a:off x="1806575" y="1465263"/>
            <a:ext cx="7104063" cy="5132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Oval 4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3-1-2-4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graphicFrame>
        <p:nvGraphicFramePr>
          <p:cNvPr id="13315" name="Object 5"/>
          <p:cNvGraphicFramePr>
            <a:graphicFrameLocks noChangeAspect="1"/>
          </p:cNvGraphicFramePr>
          <p:nvPr/>
        </p:nvGraphicFramePr>
        <p:xfrm>
          <a:off x="1538288" y="974725"/>
          <a:ext cx="5818187" cy="4852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1" name="Image" r:id="rId3" imgW="7644444" imgH="6374603" progId="Photoshop.Image.6">
                  <p:embed/>
                </p:oleObj>
              </mc:Choice>
              <mc:Fallback>
                <p:oleObj name="Image" r:id="rId3" imgW="7644444" imgH="6374603" progId="Photoshop.Image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8288" y="974725"/>
                        <a:ext cx="5818187" cy="4852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Oval 6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3-1-2-4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1433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12" t="29866" r="36966" b="22412"/>
          <a:stretch>
            <a:fillRect/>
          </a:stretch>
        </p:blipFill>
        <p:spPr bwMode="auto">
          <a:xfrm>
            <a:off x="166688" y="936625"/>
            <a:ext cx="5745162" cy="465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Oval 9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78858" name="Oval 10"/>
          <p:cNvSpPr>
            <a:spLocks noChangeArrowheads="1"/>
          </p:cNvSpPr>
          <p:nvPr/>
        </p:nvSpPr>
        <p:spPr bwMode="auto">
          <a:xfrm>
            <a:off x="4513263" y="1917700"/>
            <a:ext cx="520700" cy="312738"/>
          </a:xfrm>
          <a:prstGeom prst="ellips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7885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71" r="-2226"/>
          <a:stretch>
            <a:fillRect/>
          </a:stretch>
        </p:blipFill>
        <p:spPr bwMode="auto">
          <a:xfrm>
            <a:off x="5175250" y="3792538"/>
            <a:ext cx="3968750" cy="284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10"/>
          <p:cNvSpPr>
            <a:spLocks noChangeArrowheads="1"/>
          </p:cNvSpPr>
          <p:nvPr/>
        </p:nvSpPr>
        <p:spPr bwMode="auto">
          <a:xfrm>
            <a:off x="4400932" y="2267014"/>
            <a:ext cx="372681" cy="312738"/>
          </a:xfrm>
          <a:prstGeom prst="ellips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" name="Oval 10"/>
          <p:cNvSpPr>
            <a:spLocks noChangeArrowheads="1"/>
          </p:cNvSpPr>
          <p:nvPr/>
        </p:nvSpPr>
        <p:spPr bwMode="auto">
          <a:xfrm>
            <a:off x="5015675" y="1429747"/>
            <a:ext cx="520700" cy="444914"/>
          </a:xfrm>
          <a:prstGeom prst="ellips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9" name="Oval 10"/>
          <p:cNvSpPr>
            <a:spLocks noChangeArrowheads="1"/>
          </p:cNvSpPr>
          <p:nvPr/>
        </p:nvSpPr>
        <p:spPr bwMode="auto">
          <a:xfrm>
            <a:off x="5226431" y="2200926"/>
            <a:ext cx="520700" cy="444914"/>
          </a:xfrm>
          <a:prstGeom prst="ellips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8" grpId="0" animBg="1"/>
      <p:bldP spid="7" grpId="0" animBg="1"/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2195513" y="446088"/>
            <a:ext cx="4794250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3-1-2-5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sp>
        <p:nvSpPr>
          <p:cNvPr id="77832" name="Line 8"/>
          <p:cNvSpPr>
            <a:spLocks noChangeShapeType="1"/>
          </p:cNvSpPr>
          <p:nvPr/>
        </p:nvSpPr>
        <p:spPr bwMode="auto">
          <a:xfrm flipV="1">
            <a:off x="963613" y="4510088"/>
            <a:ext cx="2462212" cy="121602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4" name="Text Box 10"/>
          <p:cNvSpPr txBox="1">
            <a:spLocks noChangeArrowheads="1"/>
          </p:cNvSpPr>
          <p:nvPr/>
        </p:nvSpPr>
        <p:spPr bwMode="auto">
          <a:xfrm>
            <a:off x="477838" y="5864225"/>
            <a:ext cx="1225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chemeClr val="hlink"/>
                </a:solidFill>
              </a:rPr>
              <a:t>圆环面</a:t>
            </a:r>
          </a:p>
        </p:txBody>
      </p:sp>
      <p:sp>
        <p:nvSpPr>
          <p:cNvPr id="15366" name="Oval 11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15367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308" r="-2675"/>
          <a:stretch>
            <a:fillRect/>
          </a:stretch>
        </p:blipFill>
        <p:spPr bwMode="auto">
          <a:xfrm>
            <a:off x="5540375" y="3852863"/>
            <a:ext cx="3459163" cy="2816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2" grpId="0" animBg="1"/>
      <p:bldP spid="7783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3-1-2-6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graphicFrame>
        <p:nvGraphicFramePr>
          <p:cNvPr id="16387" name="Object 9"/>
          <p:cNvGraphicFramePr>
            <a:graphicFrameLocks noChangeAspect="1"/>
          </p:cNvGraphicFramePr>
          <p:nvPr/>
        </p:nvGraphicFramePr>
        <p:xfrm>
          <a:off x="603250" y="819150"/>
          <a:ext cx="6034088" cy="530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name="Image" r:id="rId3" imgW="6425397" imgH="5650794" progId="Photoshop.Image.6">
                  <p:embed/>
                </p:oleObj>
              </mc:Choice>
              <mc:Fallback>
                <p:oleObj name="Image" r:id="rId3" imgW="6425397" imgH="5650794" progId="Photoshop.Image.6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250" y="819150"/>
                        <a:ext cx="6034088" cy="530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5642" name="Line 10"/>
          <p:cNvSpPr>
            <a:spLocks noChangeShapeType="1"/>
          </p:cNvSpPr>
          <p:nvPr/>
        </p:nvSpPr>
        <p:spPr bwMode="auto">
          <a:xfrm>
            <a:off x="4362450" y="4352925"/>
            <a:ext cx="979488" cy="1262063"/>
          </a:xfrm>
          <a:prstGeom prst="line">
            <a:avLst/>
          </a:prstGeom>
          <a:noFill/>
          <a:ln w="1270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5643" name="Line 11"/>
          <p:cNvSpPr>
            <a:spLocks noChangeShapeType="1"/>
          </p:cNvSpPr>
          <p:nvPr/>
        </p:nvSpPr>
        <p:spPr bwMode="auto">
          <a:xfrm flipH="1">
            <a:off x="4267200" y="4398963"/>
            <a:ext cx="1169988" cy="1220787"/>
          </a:xfrm>
          <a:prstGeom prst="line">
            <a:avLst/>
          </a:prstGeom>
          <a:noFill/>
          <a:ln w="1270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90" name="Oval 12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325645" name="Text Box 13"/>
          <p:cNvSpPr txBox="1">
            <a:spLocks noChangeArrowheads="1"/>
          </p:cNvSpPr>
          <p:nvPr/>
        </p:nvSpPr>
        <p:spPr bwMode="auto">
          <a:xfrm>
            <a:off x="5759450" y="4148138"/>
            <a:ext cx="3259138" cy="197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注意：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b="1">
              <a:latin typeface="宋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任何情况下，几何作图可以精确绘制和借助的图形只有</a:t>
            </a:r>
            <a:r>
              <a:rPr lang="zh-CN" altLang="en-US" sz="2400" b="1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直线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和</a:t>
            </a:r>
            <a:r>
              <a:rPr lang="zh-CN" altLang="en-US" sz="2400" b="1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圆弧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25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25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42" grpId="0" animBg="1"/>
      <p:bldP spid="325643" grpId="0" animBg="1"/>
      <p:bldP spid="32564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3-1-2-6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27249"/>
              </p:ext>
            </p:extLst>
          </p:nvPr>
        </p:nvGraphicFramePr>
        <p:xfrm>
          <a:off x="1673225" y="1067686"/>
          <a:ext cx="5815013" cy="572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" name="Image" r:id="rId3" imgW="7314286" imgH="7200000" progId="Photoshop.Image.6">
                  <p:embed/>
                </p:oleObj>
              </mc:Choice>
              <mc:Fallback>
                <p:oleObj name="Image" r:id="rId3" imgW="7314286" imgH="7200000" progId="Photoshop.Image.6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225" y="1067686"/>
                        <a:ext cx="5815013" cy="572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3940" name="Text Box 4"/>
          <p:cNvSpPr txBox="1">
            <a:spLocks noChangeArrowheads="1"/>
          </p:cNvSpPr>
          <p:nvPr/>
        </p:nvSpPr>
        <p:spPr bwMode="auto">
          <a:xfrm rot="17602319">
            <a:off x="7280275" y="1863023"/>
            <a:ext cx="415925" cy="3651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latin typeface="ISOCPEUR" pitchFamily="34" charset="0"/>
                <a:ea typeface="黑体" pitchFamily="2" charset="-122"/>
              </a:rPr>
              <a:t>左</a:t>
            </a:r>
          </a:p>
        </p:txBody>
      </p:sp>
      <p:sp>
        <p:nvSpPr>
          <p:cNvPr id="423941" name="Text Box 5"/>
          <p:cNvSpPr txBox="1">
            <a:spLocks noChangeArrowheads="1"/>
          </p:cNvSpPr>
          <p:nvPr/>
        </p:nvSpPr>
        <p:spPr bwMode="auto">
          <a:xfrm rot="17602319">
            <a:off x="6911975" y="2569461"/>
            <a:ext cx="415925" cy="3651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latin typeface="ISOCPEUR" pitchFamily="34" charset="0"/>
                <a:ea typeface="黑体" pitchFamily="2" charset="-122"/>
              </a:rPr>
              <a:t>右</a:t>
            </a:r>
          </a:p>
        </p:txBody>
      </p:sp>
      <p:sp>
        <p:nvSpPr>
          <p:cNvPr id="423942" name="Text Box 6"/>
          <p:cNvSpPr txBox="1">
            <a:spLocks noChangeArrowheads="1"/>
          </p:cNvSpPr>
          <p:nvPr/>
        </p:nvSpPr>
        <p:spPr bwMode="auto">
          <a:xfrm>
            <a:off x="2352675" y="1456623"/>
            <a:ext cx="415925" cy="3651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latin typeface="ISOCPEUR" pitchFamily="34" charset="0"/>
                <a:ea typeface="黑体" pitchFamily="2" charset="-122"/>
              </a:rPr>
              <a:t>左</a:t>
            </a:r>
          </a:p>
        </p:txBody>
      </p:sp>
      <p:sp>
        <p:nvSpPr>
          <p:cNvPr id="423943" name="Text Box 7"/>
          <p:cNvSpPr txBox="1">
            <a:spLocks noChangeArrowheads="1"/>
          </p:cNvSpPr>
          <p:nvPr/>
        </p:nvSpPr>
        <p:spPr bwMode="auto">
          <a:xfrm>
            <a:off x="3357563" y="1472498"/>
            <a:ext cx="415925" cy="365125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b="1">
                <a:latin typeface="ISOCPEUR" pitchFamily="34" charset="0"/>
                <a:ea typeface="黑体" pitchFamily="2" charset="-122"/>
              </a:rPr>
              <a:t>右</a:t>
            </a:r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9" name="Line 47"/>
          <p:cNvSpPr>
            <a:spLocks noChangeShapeType="1"/>
          </p:cNvSpPr>
          <p:nvPr/>
        </p:nvSpPr>
        <p:spPr bwMode="auto">
          <a:xfrm>
            <a:off x="3274492" y="1345670"/>
            <a:ext cx="0" cy="44741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0" name="Text Box 59"/>
          <p:cNvSpPr txBox="1">
            <a:spLocks noChangeArrowheads="1"/>
          </p:cNvSpPr>
          <p:nvPr/>
        </p:nvSpPr>
        <p:spPr bwMode="auto">
          <a:xfrm>
            <a:off x="2906635" y="1146825"/>
            <a:ext cx="5484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1" dirty="0" smtClean="0">
                <a:latin typeface="黑体" pitchFamily="2" charset="-122"/>
                <a:ea typeface="黑体" pitchFamily="2" charset="-122"/>
              </a:rPr>
              <a:t>P</a:t>
            </a:r>
            <a:r>
              <a:rPr kumimoji="0" lang="en-US" altLang="zh-CN" sz="2000" b="1" baseline="-25000" dirty="0" smtClean="0">
                <a:latin typeface="黑体" pitchFamily="2" charset="-122"/>
                <a:ea typeface="黑体" pitchFamily="2" charset="-122"/>
              </a:rPr>
              <a:t>V</a:t>
            </a:r>
          </a:p>
        </p:txBody>
      </p:sp>
      <p:sp>
        <p:nvSpPr>
          <p:cNvPr id="11" name="Line 47"/>
          <p:cNvSpPr>
            <a:spLocks noChangeShapeType="1"/>
          </p:cNvSpPr>
          <p:nvPr/>
        </p:nvSpPr>
        <p:spPr bwMode="auto">
          <a:xfrm>
            <a:off x="4696178" y="1256568"/>
            <a:ext cx="406397" cy="24507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12" name="Text Box 59"/>
          <p:cNvSpPr txBox="1">
            <a:spLocks noChangeArrowheads="1"/>
          </p:cNvSpPr>
          <p:nvPr/>
        </p:nvSpPr>
        <p:spPr bwMode="auto">
          <a:xfrm>
            <a:off x="4805763" y="1039466"/>
            <a:ext cx="5484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1" dirty="0" smtClean="0">
                <a:latin typeface="黑体" pitchFamily="2" charset="-122"/>
                <a:ea typeface="黑体" pitchFamily="2" charset="-122"/>
              </a:rPr>
              <a:t>P</a:t>
            </a:r>
            <a:r>
              <a:rPr kumimoji="0" lang="en-US" altLang="zh-CN" sz="2000" b="1" baseline="-25000" dirty="0" smtClean="0">
                <a:latin typeface="黑体" pitchFamily="2" charset="-122"/>
                <a:ea typeface="黑体" pitchFamily="2" charset="-122"/>
              </a:rPr>
              <a:t>1</a:t>
            </a:r>
          </a:p>
        </p:txBody>
      </p:sp>
      <p:sp>
        <p:nvSpPr>
          <p:cNvPr id="13" name="Text Box 59"/>
          <p:cNvSpPr txBox="1">
            <a:spLocks noChangeArrowheads="1"/>
          </p:cNvSpPr>
          <p:nvPr/>
        </p:nvSpPr>
        <p:spPr bwMode="auto">
          <a:xfrm>
            <a:off x="2961635" y="837499"/>
            <a:ext cx="237797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0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左右方位基准面</a:t>
            </a:r>
            <a:endParaRPr kumimoji="0" lang="zh-CN" altLang="en-US" sz="2000" b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" name="等腰三角形 1"/>
          <p:cNvSpPr/>
          <p:nvPr/>
        </p:nvSpPr>
        <p:spPr>
          <a:xfrm>
            <a:off x="6186365" y="1670736"/>
            <a:ext cx="179035" cy="15804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3940" grpId="0" animBg="1"/>
      <p:bldP spid="423941" grpId="0" animBg="1"/>
      <p:bldP spid="423942" grpId="0" animBg="1"/>
      <p:bldP spid="423943" grpId="0" animBg="1"/>
      <p:bldP spid="9" grpId="0" animBg="1"/>
      <p:bldP spid="10" grpId="0" autoUpdateAnimBg="0"/>
      <p:bldP spid="11" grpId="0" animBg="1"/>
      <p:bldP spid="12" grpId="0" autoUpdateAnimBg="0"/>
      <p:bldP spid="13" grpId="0" autoUpdateAnimBg="0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3-1-2-6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graphicFrame>
        <p:nvGraphicFramePr>
          <p:cNvPr id="18435" name="Object 8"/>
          <p:cNvGraphicFramePr>
            <a:graphicFrameLocks noChangeAspect="1"/>
          </p:cNvGraphicFramePr>
          <p:nvPr/>
        </p:nvGraphicFramePr>
        <p:xfrm>
          <a:off x="0" y="857250"/>
          <a:ext cx="7678738" cy="544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" name="Image" r:id="rId3" imgW="8711111" imgH="6171429" progId="Photoshop.Image.6">
                  <p:embed/>
                </p:oleObj>
              </mc:Choice>
              <mc:Fallback>
                <p:oleObj name="Image" r:id="rId3" imgW="8711111" imgH="6171429" progId="Photoshop.Image.6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857250"/>
                        <a:ext cx="7678738" cy="544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Oval 9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18437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132" r="-2968"/>
          <a:stretch>
            <a:fillRect/>
          </a:stretch>
        </p:blipFill>
        <p:spPr bwMode="auto">
          <a:xfrm>
            <a:off x="6083300" y="446088"/>
            <a:ext cx="2925763" cy="31702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5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03" t="26221" r="53893" b="50913"/>
          <a:stretch/>
        </p:blipFill>
        <p:spPr bwMode="auto">
          <a:xfrm>
            <a:off x="6961209" y="4010202"/>
            <a:ext cx="1821547" cy="2073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直接连接符 2"/>
          <p:cNvCxnSpPr/>
          <p:nvPr/>
        </p:nvCxnSpPr>
        <p:spPr>
          <a:xfrm>
            <a:off x="7642571" y="4278489"/>
            <a:ext cx="0" cy="126435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>
            <a:off x="7564342" y="5113854"/>
            <a:ext cx="179035" cy="158044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7720799" y="4842954"/>
            <a:ext cx="113683" cy="1241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 flipH="1">
            <a:off x="8529547" y="164403"/>
            <a:ext cx="323533" cy="52308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3-1-2-6  </a:t>
            </a:r>
            <a:r>
              <a:rPr lang="zh-CN" altLang="en-US" sz="1600" b="1">
                <a:latin typeface="宋体" pitchFamily="2" charset="-122"/>
              </a:rPr>
              <a:t>求作第三视图，并标出曲面上点</a:t>
            </a:r>
            <a:r>
              <a:rPr lang="en-US" altLang="zh-CN" sz="1600" b="1">
                <a:latin typeface="宋体" pitchFamily="2" charset="-122"/>
              </a:rPr>
              <a:t>A</a:t>
            </a:r>
            <a:r>
              <a:rPr lang="zh-CN" altLang="en-US" sz="1600" b="1">
                <a:latin typeface="宋体" pitchFamily="2" charset="-122"/>
              </a:rPr>
              <a:t>、</a:t>
            </a:r>
            <a:r>
              <a:rPr lang="en-US" altLang="zh-CN" sz="1600" b="1">
                <a:latin typeface="宋体" pitchFamily="2" charset="-122"/>
              </a:rPr>
              <a:t>B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graphicFrame>
        <p:nvGraphicFramePr>
          <p:cNvPr id="19459" name="Object 4"/>
          <p:cNvGraphicFramePr>
            <a:graphicFrameLocks noChangeAspect="1"/>
          </p:cNvGraphicFramePr>
          <p:nvPr/>
        </p:nvGraphicFramePr>
        <p:xfrm>
          <a:off x="2432050" y="654050"/>
          <a:ext cx="5629275" cy="581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6" name="Image" r:id="rId3" imgW="7504762" imgH="7758730" progId="Photoshop.Image.6">
                  <p:embed/>
                </p:oleObj>
              </mc:Choice>
              <mc:Fallback>
                <p:oleObj name="Image" r:id="rId3" imgW="7504762" imgH="7758730" progId="Photoshop.Image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654050"/>
                        <a:ext cx="5629275" cy="581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4965" name="Text Box 5"/>
          <p:cNvSpPr txBox="1">
            <a:spLocks noChangeArrowheads="1"/>
          </p:cNvSpPr>
          <p:nvPr/>
        </p:nvSpPr>
        <p:spPr bwMode="auto">
          <a:xfrm>
            <a:off x="6057900" y="5850290"/>
            <a:ext cx="2711450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hlink"/>
                </a:solidFill>
              </a:rPr>
              <a:t>不符合换面法的原则</a:t>
            </a:r>
            <a:r>
              <a:rPr lang="zh-CN" altLang="en-US" sz="1800" b="1" dirty="0" smtClean="0">
                <a:solidFill>
                  <a:schemeClr val="hlink"/>
                </a:solidFill>
              </a:rPr>
              <a:t>！</a:t>
            </a:r>
            <a:endParaRPr lang="en-US" altLang="zh-CN" sz="1800" b="1" dirty="0" smtClean="0">
              <a:solidFill>
                <a:schemeClr val="hlink"/>
              </a:solidFill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 dirty="0">
                <a:solidFill>
                  <a:schemeClr val="hlink"/>
                </a:solidFill>
              </a:rPr>
              <a:t>不</a:t>
            </a:r>
            <a:r>
              <a:rPr lang="zh-CN" altLang="en-US" sz="1800" b="1" dirty="0" smtClean="0">
                <a:solidFill>
                  <a:schemeClr val="hlink"/>
                </a:solidFill>
              </a:rPr>
              <a:t>规范！</a:t>
            </a:r>
            <a:endParaRPr lang="zh-CN" altLang="en-US" sz="1800" b="1" dirty="0">
              <a:solidFill>
                <a:schemeClr val="hlink"/>
              </a:solidFill>
            </a:endParaRPr>
          </a:p>
        </p:txBody>
      </p:sp>
      <p:sp>
        <p:nvSpPr>
          <p:cNvPr id="19461" name="Oval 6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4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1354138" y="446088"/>
            <a:ext cx="4794250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3-2-1-1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30085" name="Oval 5"/>
          <p:cNvSpPr>
            <a:spLocks noChangeArrowheads="1"/>
          </p:cNvSpPr>
          <p:nvPr/>
        </p:nvSpPr>
        <p:spPr bwMode="auto">
          <a:xfrm>
            <a:off x="4386263" y="2017713"/>
            <a:ext cx="644525" cy="373062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30086" name="Oval 6"/>
          <p:cNvSpPr>
            <a:spLocks noChangeArrowheads="1"/>
          </p:cNvSpPr>
          <p:nvPr/>
        </p:nvSpPr>
        <p:spPr bwMode="auto">
          <a:xfrm>
            <a:off x="3943350" y="1854200"/>
            <a:ext cx="390525" cy="373063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30087" name="Oval 7"/>
          <p:cNvSpPr>
            <a:spLocks noChangeArrowheads="1"/>
          </p:cNvSpPr>
          <p:nvPr/>
        </p:nvSpPr>
        <p:spPr bwMode="auto">
          <a:xfrm>
            <a:off x="5129213" y="1882775"/>
            <a:ext cx="390525" cy="373063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30088" name="Text Box 8"/>
          <p:cNvSpPr txBox="1">
            <a:spLocks noChangeArrowheads="1"/>
          </p:cNvSpPr>
          <p:nvPr/>
        </p:nvSpPr>
        <p:spPr bwMode="auto">
          <a:xfrm>
            <a:off x="620713" y="5106988"/>
            <a:ext cx="5051425" cy="112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宋体" pitchFamily="2" charset="-122"/>
              </a:rPr>
              <a:t>注意：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宋体" pitchFamily="2" charset="-122"/>
              </a:rPr>
              <a:t>1. </a:t>
            </a:r>
            <a:r>
              <a:rPr lang="zh-CN" altLang="en-US" sz="2000" b="1" dirty="0">
                <a:latin typeface="宋体" pitchFamily="2" charset="-122"/>
              </a:rPr>
              <a:t>类似形。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宋体" pitchFamily="2" charset="-122"/>
              </a:rPr>
              <a:t>2. </a:t>
            </a:r>
            <a:r>
              <a:rPr lang="zh-CN" altLang="en-US" sz="2000" b="1" dirty="0">
                <a:latin typeface="宋体" pitchFamily="2" charset="-122"/>
              </a:rPr>
              <a:t>截断面</a:t>
            </a:r>
            <a:r>
              <a:rPr lang="zh-CN" altLang="en-US" sz="2000" b="1" dirty="0" smtClean="0">
                <a:latin typeface="宋体" pitchFamily="2" charset="-122"/>
              </a:rPr>
              <a:t>上</a:t>
            </a:r>
            <a:r>
              <a:rPr lang="zh-CN" altLang="en-US" sz="2000" b="1" dirty="0">
                <a:latin typeface="宋体" pitchFamily="2" charset="-122"/>
              </a:rPr>
              <a:t>的顶点一定有直线与其连接。</a:t>
            </a:r>
          </a:p>
        </p:txBody>
      </p:sp>
      <p:pic>
        <p:nvPicPr>
          <p:cNvPr id="20489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636" t="10706" r="13525" b="53894"/>
          <a:stretch>
            <a:fillRect/>
          </a:stretch>
        </p:blipFill>
        <p:spPr bwMode="auto">
          <a:xfrm>
            <a:off x="6089650" y="3089275"/>
            <a:ext cx="2887663" cy="34274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0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0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300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300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300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085" grpId="0" animBg="1"/>
      <p:bldP spid="430086" grpId="0" animBg="1"/>
      <p:bldP spid="43008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419100" y="635000"/>
            <a:ext cx="4792663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3-2-1-2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sp>
        <p:nvSpPr>
          <p:cNvPr id="21508" name="Oval 5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2150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54" t="12282" r="25488" b="32133"/>
          <a:stretch>
            <a:fillRect/>
          </a:stretch>
        </p:blipFill>
        <p:spPr bwMode="auto">
          <a:xfrm>
            <a:off x="5662613" y="2789238"/>
            <a:ext cx="3159125" cy="357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9"/>
          <a:stretch>
            <a:fillRect/>
          </a:stretch>
        </p:blipFill>
        <p:spPr bwMode="auto">
          <a:xfrm>
            <a:off x="490538" y="446088"/>
            <a:ext cx="4792662" cy="622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3-2-1-3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sp>
        <p:nvSpPr>
          <p:cNvPr id="434181" name="Oval 5"/>
          <p:cNvSpPr>
            <a:spLocks noChangeArrowheads="1"/>
          </p:cNvSpPr>
          <p:nvPr/>
        </p:nvSpPr>
        <p:spPr bwMode="auto">
          <a:xfrm>
            <a:off x="1974850" y="3576638"/>
            <a:ext cx="644525" cy="268287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34182" name="Oval 6"/>
          <p:cNvSpPr>
            <a:spLocks noChangeArrowheads="1"/>
          </p:cNvSpPr>
          <p:nvPr/>
        </p:nvSpPr>
        <p:spPr bwMode="auto">
          <a:xfrm>
            <a:off x="1987550" y="4087813"/>
            <a:ext cx="644525" cy="268287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22534" name="Oval 7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2253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1" r="401"/>
          <a:stretch>
            <a:fillRect/>
          </a:stretch>
        </p:blipFill>
        <p:spPr bwMode="auto">
          <a:xfrm>
            <a:off x="5641975" y="3576638"/>
            <a:ext cx="3159125" cy="29892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4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34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81" grpId="0" animBg="1"/>
      <p:bldP spid="43418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0" y="109538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宋体" pitchFamily="2" charset="-122"/>
              </a:rPr>
              <a:t>3-2-1-4  </a:t>
            </a:r>
            <a:r>
              <a:rPr lang="zh-CN" altLang="en-US" sz="1600" b="1">
                <a:latin typeface="宋体" pitchFamily="2" charset="-122"/>
              </a:rPr>
              <a:t>画出第三视图，并标出面</a:t>
            </a:r>
            <a:r>
              <a:rPr lang="en-US" altLang="zh-CN" sz="1600" b="1">
                <a:latin typeface="宋体" pitchFamily="2" charset="-122"/>
              </a:rPr>
              <a:t>P</a:t>
            </a:r>
            <a:r>
              <a:rPr lang="zh-CN" altLang="en-US" sz="1600" b="1">
                <a:latin typeface="宋体" pitchFamily="2" charset="-122"/>
              </a:rPr>
              <a:t>的其余两个投影。</a:t>
            </a:r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3" y="819150"/>
            <a:ext cx="4994275" cy="510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6" name="Oval 5"/>
          <p:cNvSpPr>
            <a:spLocks noChangeArrowheads="1"/>
          </p:cNvSpPr>
          <p:nvPr/>
        </p:nvSpPr>
        <p:spPr bwMode="auto">
          <a:xfrm>
            <a:off x="166688" y="446088"/>
            <a:ext cx="644525" cy="37306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hlink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36230" name="Oval 6"/>
          <p:cNvSpPr>
            <a:spLocks noChangeArrowheads="1"/>
          </p:cNvSpPr>
          <p:nvPr/>
        </p:nvSpPr>
        <p:spPr bwMode="auto">
          <a:xfrm>
            <a:off x="1538288" y="1873250"/>
            <a:ext cx="788987" cy="268288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pic>
        <p:nvPicPr>
          <p:cNvPr id="23558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" r="-2885"/>
          <a:stretch>
            <a:fillRect/>
          </a:stretch>
        </p:blipFill>
        <p:spPr bwMode="auto">
          <a:xfrm>
            <a:off x="5870575" y="3394075"/>
            <a:ext cx="3159125" cy="31718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925259" y="1895571"/>
            <a:ext cx="320547" cy="268288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" name="Oval 6"/>
          <p:cNvSpPr>
            <a:spLocks noChangeArrowheads="1"/>
          </p:cNvSpPr>
          <p:nvPr/>
        </p:nvSpPr>
        <p:spPr bwMode="auto">
          <a:xfrm>
            <a:off x="3711131" y="1910811"/>
            <a:ext cx="320547" cy="268288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9" name="Oval 6"/>
          <p:cNvSpPr>
            <a:spLocks noChangeArrowheads="1"/>
          </p:cNvSpPr>
          <p:nvPr/>
        </p:nvSpPr>
        <p:spPr bwMode="auto">
          <a:xfrm>
            <a:off x="876491" y="4068795"/>
            <a:ext cx="320547" cy="268288"/>
          </a:xfrm>
          <a:prstGeom prst="ellipse">
            <a:avLst/>
          </a:prstGeom>
          <a:noFill/>
          <a:ln w="254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6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6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230" grpId="0" animBg="1"/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6692</TotalTime>
  <Words>519</Words>
  <Application>Microsoft Office PowerPoint</Application>
  <PresentationFormat>全屏显示(4:3)</PresentationFormat>
  <Paragraphs>44</Paragraphs>
  <Slides>21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3" baseType="lpstr">
      <vt:lpstr>Blends</vt:lpstr>
      <vt:lpstr>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MC SYSTEM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MC SYSTEM</dc:creator>
  <cp:lastModifiedBy>Li Tiemin</cp:lastModifiedBy>
  <cp:revision>311</cp:revision>
  <dcterms:created xsi:type="dcterms:W3CDTF">2006-04-04T11:38:05Z</dcterms:created>
  <dcterms:modified xsi:type="dcterms:W3CDTF">2023-10-21T09:04:24Z</dcterms:modified>
</cp:coreProperties>
</file>