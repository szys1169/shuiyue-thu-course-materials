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2" r:id="rId6"/>
    <p:sldId id="260" r:id="rId7"/>
    <p:sldId id="265" r:id="rId8"/>
    <p:sldId id="261" r:id="rId9"/>
    <p:sldId id="263" r:id="rId10"/>
    <p:sldId id="264" r:id="rId11"/>
    <p:sldId id="266" r:id="rId12"/>
    <p:sldId id="267" r:id="rId13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23" Type="http://schemas.openxmlformats.org/officeDocument/2006/relationships/image" Target="../media/image23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Relationship Id="rId22" Type="http://schemas.openxmlformats.org/officeDocument/2006/relationships/image" Target="../media/image2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37.w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12" Type="http://schemas.openxmlformats.org/officeDocument/2006/relationships/image" Target="../media/image36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11" Type="http://schemas.openxmlformats.org/officeDocument/2006/relationships/image" Target="../media/image35.wmf"/><Relationship Id="rId5" Type="http://schemas.openxmlformats.org/officeDocument/2006/relationships/image" Target="../media/image29.wmf"/><Relationship Id="rId15" Type="http://schemas.openxmlformats.org/officeDocument/2006/relationships/image" Target="../media/image39.wmf"/><Relationship Id="rId10" Type="http://schemas.openxmlformats.org/officeDocument/2006/relationships/image" Target="../media/image34.wmf"/><Relationship Id="rId4" Type="http://schemas.openxmlformats.org/officeDocument/2006/relationships/image" Target="../media/image28.wmf"/><Relationship Id="rId9" Type="http://schemas.openxmlformats.org/officeDocument/2006/relationships/image" Target="../media/image33.wmf"/><Relationship Id="rId14" Type="http://schemas.openxmlformats.org/officeDocument/2006/relationships/image" Target="../media/image3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image" Target="../media/image53.wmf"/><Relationship Id="rId18" Type="http://schemas.openxmlformats.org/officeDocument/2006/relationships/image" Target="../media/image58.wmf"/><Relationship Id="rId3" Type="http://schemas.openxmlformats.org/officeDocument/2006/relationships/image" Target="../media/image43.wmf"/><Relationship Id="rId21" Type="http://schemas.openxmlformats.org/officeDocument/2006/relationships/image" Target="../media/image61.wmf"/><Relationship Id="rId7" Type="http://schemas.openxmlformats.org/officeDocument/2006/relationships/image" Target="../media/image47.wmf"/><Relationship Id="rId12" Type="http://schemas.openxmlformats.org/officeDocument/2006/relationships/image" Target="../media/image52.wmf"/><Relationship Id="rId17" Type="http://schemas.openxmlformats.org/officeDocument/2006/relationships/image" Target="../media/image57.wmf"/><Relationship Id="rId2" Type="http://schemas.openxmlformats.org/officeDocument/2006/relationships/image" Target="../media/image42.wmf"/><Relationship Id="rId16" Type="http://schemas.openxmlformats.org/officeDocument/2006/relationships/image" Target="../media/image56.wmf"/><Relationship Id="rId20" Type="http://schemas.openxmlformats.org/officeDocument/2006/relationships/image" Target="../media/image60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11" Type="http://schemas.openxmlformats.org/officeDocument/2006/relationships/image" Target="../media/image51.wmf"/><Relationship Id="rId24" Type="http://schemas.openxmlformats.org/officeDocument/2006/relationships/image" Target="../media/image64.wmf"/><Relationship Id="rId5" Type="http://schemas.openxmlformats.org/officeDocument/2006/relationships/image" Target="../media/image45.wmf"/><Relationship Id="rId15" Type="http://schemas.openxmlformats.org/officeDocument/2006/relationships/image" Target="../media/image55.wmf"/><Relationship Id="rId23" Type="http://schemas.openxmlformats.org/officeDocument/2006/relationships/image" Target="../media/image63.wmf"/><Relationship Id="rId10" Type="http://schemas.openxmlformats.org/officeDocument/2006/relationships/image" Target="../media/image50.wmf"/><Relationship Id="rId19" Type="http://schemas.openxmlformats.org/officeDocument/2006/relationships/image" Target="../media/image59.wmf"/><Relationship Id="rId4" Type="http://schemas.openxmlformats.org/officeDocument/2006/relationships/image" Target="../media/image44.wmf"/><Relationship Id="rId9" Type="http://schemas.openxmlformats.org/officeDocument/2006/relationships/image" Target="../media/image49.wmf"/><Relationship Id="rId14" Type="http://schemas.openxmlformats.org/officeDocument/2006/relationships/image" Target="../media/image54.wmf"/><Relationship Id="rId22" Type="http://schemas.openxmlformats.org/officeDocument/2006/relationships/image" Target="../media/image6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image" Target="../media/image78.wmf"/><Relationship Id="rId18" Type="http://schemas.openxmlformats.org/officeDocument/2006/relationships/image" Target="../media/image83.wmf"/><Relationship Id="rId3" Type="http://schemas.openxmlformats.org/officeDocument/2006/relationships/image" Target="../media/image68.wmf"/><Relationship Id="rId7" Type="http://schemas.openxmlformats.org/officeDocument/2006/relationships/image" Target="../media/image72.wmf"/><Relationship Id="rId12" Type="http://schemas.openxmlformats.org/officeDocument/2006/relationships/image" Target="../media/image77.wmf"/><Relationship Id="rId17" Type="http://schemas.openxmlformats.org/officeDocument/2006/relationships/image" Target="../media/image82.wmf"/><Relationship Id="rId2" Type="http://schemas.openxmlformats.org/officeDocument/2006/relationships/image" Target="../media/image67.wmf"/><Relationship Id="rId16" Type="http://schemas.openxmlformats.org/officeDocument/2006/relationships/image" Target="../media/image81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11" Type="http://schemas.openxmlformats.org/officeDocument/2006/relationships/image" Target="../media/image76.wmf"/><Relationship Id="rId5" Type="http://schemas.openxmlformats.org/officeDocument/2006/relationships/image" Target="../media/image70.wmf"/><Relationship Id="rId15" Type="http://schemas.openxmlformats.org/officeDocument/2006/relationships/image" Target="../media/image80.wmf"/><Relationship Id="rId10" Type="http://schemas.openxmlformats.org/officeDocument/2006/relationships/image" Target="../media/image75.wmf"/><Relationship Id="rId19" Type="http://schemas.openxmlformats.org/officeDocument/2006/relationships/image" Target="../media/image84.wmf"/><Relationship Id="rId4" Type="http://schemas.openxmlformats.org/officeDocument/2006/relationships/image" Target="../media/image69.wmf"/><Relationship Id="rId9" Type="http://schemas.openxmlformats.org/officeDocument/2006/relationships/image" Target="../media/image74.wmf"/><Relationship Id="rId14" Type="http://schemas.openxmlformats.org/officeDocument/2006/relationships/image" Target="../media/image79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image" Target="../media/image87.wmf"/><Relationship Id="rId7" Type="http://schemas.openxmlformats.org/officeDocument/2006/relationships/image" Target="../media/image91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11" Type="http://schemas.openxmlformats.org/officeDocument/2006/relationships/image" Target="../media/image95.wmf"/><Relationship Id="rId5" Type="http://schemas.openxmlformats.org/officeDocument/2006/relationships/image" Target="../media/image89.wmf"/><Relationship Id="rId10" Type="http://schemas.openxmlformats.org/officeDocument/2006/relationships/image" Target="../media/image94.wmf"/><Relationship Id="rId4" Type="http://schemas.openxmlformats.org/officeDocument/2006/relationships/image" Target="../media/image88.wmf"/><Relationship Id="rId9" Type="http://schemas.openxmlformats.org/officeDocument/2006/relationships/image" Target="../media/image93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image" Target="../media/image103.wmf"/><Relationship Id="rId7" Type="http://schemas.openxmlformats.org/officeDocument/2006/relationships/image" Target="../media/image107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10" Type="http://schemas.openxmlformats.org/officeDocument/2006/relationships/image" Target="../media/image110.wmf"/><Relationship Id="rId4" Type="http://schemas.openxmlformats.org/officeDocument/2006/relationships/image" Target="../media/image104.wmf"/><Relationship Id="rId9" Type="http://schemas.openxmlformats.org/officeDocument/2006/relationships/image" Target="../media/image10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wmf"/><Relationship Id="rId1" Type="http://schemas.openxmlformats.org/officeDocument/2006/relationships/image" Target="../media/image11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3" Type="http://schemas.openxmlformats.org/officeDocument/2006/relationships/image" Target="../media/image117.wmf"/><Relationship Id="rId7" Type="http://schemas.openxmlformats.org/officeDocument/2006/relationships/image" Target="../media/image121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Relationship Id="rId6" Type="http://schemas.openxmlformats.org/officeDocument/2006/relationships/image" Target="../media/image120.wmf"/><Relationship Id="rId5" Type="http://schemas.openxmlformats.org/officeDocument/2006/relationships/image" Target="../media/image119.wmf"/><Relationship Id="rId10" Type="http://schemas.openxmlformats.org/officeDocument/2006/relationships/image" Target="../media/image124.wmf"/><Relationship Id="rId4" Type="http://schemas.openxmlformats.org/officeDocument/2006/relationships/image" Target="../media/image118.wmf"/><Relationship Id="rId9" Type="http://schemas.openxmlformats.org/officeDocument/2006/relationships/image" Target="../media/image12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4" Type="http://schemas.openxmlformats.org/officeDocument/2006/relationships/image" Target="../media/image128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image" Target="../media/image141.wmf"/><Relationship Id="rId3" Type="http://schemas.openxmlformats.org/officeDocument/2006/relationships/image" Target="../media/image131.wmf"/><Relationship Id="rId7" Type="http://schemas.openxmlformats.org/officeDocument/2006/relationships/image" Target="../media/image135.wmf"/><Relationship Id="rId12" Type="http://schemas.openxmlformats.org/officeDocument/2006/relationships/image" Target="../media/image140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6" Type="http://schemas.openxmlformats.org/officeDocument/2006/relationships/image" Target="../media/image134.wmf"/><Relationship Id="rId11" Type="http://schemas.openxmlformats.org/officeDocument/2006/relationships/image" Target="../media/image139.wmf"/><Relationship Id="rId5" Type="http://schemas.openxmlformats.org/officeDocument/2006/relationships/image" Target="../media/image133.wmf"/><Relationship Id="rId10" Type="http://schemas.openxmlformats.org/officeDocument/2006/relationships/image" Target="../media/image138.wmf"/><Relationship Id="rId4" Type="http://schemas.openxmlformats.org/officeDocument/2006/relationships/image" Target="../media/image132.wmf"/><Relationship Id="rId9" Type="http://schemas.openxmlformats.org/officeDocument/2006/relationships/image" Target="../media/image13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6E9BA-9FDA-4BCD-BFC7-3538D7472C02}" type="datetimeFigureOut">
              <a:rPr lang="zh-CN" altLang="en-US" smtClean="0"/>
              <a:t>2019/1/6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6C285-8F60-4E85-B5EC-553C2AF05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1766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80AB9-850F-4DFA-819D-8CA586930CC0}" type="datetimeFigureOut">
              <a:rPr lang="zh-CN" altLang="en-US" smtClean="0"/>
              <a:t>2019/1/6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0242B-2A85-43CA-BB8E-011FAC052B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841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80242B-2A85-43CA-BB8E-011FAC052B4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761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80242B-2A85-43CA-BB8E-011FAC052B4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756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80242B-2A85-43CA-BB8E-011FAC052B4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683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80242B-2A85-43CA-BB8E-011FAC052B4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837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80242B-2A85-43CA-BB8E-011FAC052B4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011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80242B-2A85-43CA-BB8E-011FAC052B4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155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80242B-2A85-43CA-BB8E-011FAC052B4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535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80242B-2A85-43CA-BB8E-011FAC052B4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795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2019/1/6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31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2019/1/6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913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2019/1/6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2019/1/6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773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2019/1/6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874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2019/1/6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863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2019/1/6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847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2019/1/6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109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2019/1/6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509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2019/1/6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833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2019/1/6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219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C5D92-A840-4BDB-9514-80A984FA25FD}" type="datetimeFigureOut">
              <a:rPr lang="zh-CN" altLang="en-US" smtClean="0"/>
              <a:t>2019/1/6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896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9" Type="http://schemas.openxmlformats.org/officeDocument/2006/relationships/oleObject" Target="../embeddings/oleObject19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6.wmf"/><Relationship Id="rId42" Type="http://schemas.openxmlformats.org/officeDocument/2006/relationships/image" Target="../media/image20.wmf"/><Relationship Id="rId47" Type="http://schemas.openxmlformats.org/officeDocument/2006/relationships/image" Target="../media/image22.wmf"/><Relationship Id="rId50" Type="http://schemas.openxmlformats.org/officeDocument/2006/relationships/image" Target="../media/image24.png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7.wmf"/><Relationship Id="rId29" Type="http://schemas.openxmlformats.org/officeDocument/2006/relationships/oleObject" Target="../embeddings/oleObject14.bin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37" Type="http://schemas.openxmlformats.org/officeDocument/2006/relationships/oleObject" Target="../embeddings/oleObject18.bin"/><Relationship Id="rId40" Type="http://schemas.openxmlformats.org/officeDocument/2006/relationships/image" Target="../media/image19.wmf"/><Relationship Id="rId45" Type="http://schemas.openxmlformats.org/officeDocument/2006/relationships/image" Target="../media/image21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36" Type="http://schemas.openxmlformats.org/officeDocument/2006/relationships/image" Target="../media/image17.wmf"/><Relationship Id="rId49" Type="http://schemas.openxmlformats.org/officeDocument/2006/relationships/image" Target="../media/image23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4" Type="http://schemas.openxmlformats.org/officeDocument/2006/relationships/oleObject" Target="../embeddings/oleObject22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Relationship Id="rId35" Type="http://schemas.openxmlformats.org/officeDocument/2006/relationships/oleObject" Target="../embeddings/oleObject17.bin"/><Relationship Id="rId43" Type="http://schemas.openxmlformats.org/officeDocument/2006/relationships/oleObject" Target="../embeddings/oleObject21.bin"/><Relationship Id="rId48" Type="http://schemas.openxmlformats.org/officeDocument/2006/relationships/oleObject" Target="../embeddings/oleObject24.bin"/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18.wmf"/><Relationship Id="rId46" Type="http://schemas.openxmlformats.org/officeDocument/2006/relationships/oleObject" Target="../embeddings/oleObject23.bin"/><Relationship Id="rId20" Type="http://schemas.openxmlformats.org/officeDocument/2006/relationships/image" Target="../media/image9.wmf"/><Relationship Id="rId41" Type="http://schemas.openxmlformats.org/officeDocument/2006/relationships/oleObject" Target="../embeddings/oleObject20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wmf"/><Relationship Id="rId18" Type="http://schemas.openxmlformats.org/officeDocument/2006/relationships/oleObject" Target="../embeddings/oleObject32.bin"/><Relationship Id="rId26" Type="http://schemas.openxmlformats.org/officeDocument/2006/relationships/oleObject" Target="../embeddings/oleObject36.bin"/><Relationship Id="rId3" Type="http://schemas.openxmlformats.org/officeDocument/2006/relationships/oleObject" Target="../embeddings/oleObject25.bin"/><Relationship Id="rId21" Type="http://schemas.openxmlformats.org/officeDocument/2006/relationships/image" Target="../media/image33.wmf"/><Relationship Id="rId7" Type="http://schemas.openxmlformats.org/officeDocument/2006/relationships/image" Target="../media/image40.png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31.wmf"/><Relationship Id="rId25" Type="http://schemas.openxmlformats.org/officeDocument/2006/relationships/image" Target="../media/image35.wmf"/><Relationship Id="rId33" Type="http://schemas.openxmlformats.org/officeDocument/2006/relationships/image" Target="../media/image39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3.bin"/><Relationship Id="rId29" Type="http://schemas.openxmlformats.org/officeDocument/2006/relationships/image" Target="../media/image37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26.wmf"/><Relationship Id="rId11" Type="http://schemas.openxmlformats.org/officeDocument/2006/relationships/image" Target="../media/image28.wmf"/><Relationship Id="rId24" Type="http://schemas.openxmlformats.org/officeDocument/2006/relationships/oleObject" Target="../embeddings/oleObject35.bin"/><Relationship Id="rId32" Type="http://schemas.openxmlformats.org/officeDocument/2006/relationships/oleObject" Target="../embeddings/oleObject39.bin"/><Relationship Id="rId5" Type="http://schemas.openxmlformats.org/officeDocument/2006/relationships/oleObject" Target="../embeddings/oleObject26.bin"/><Relationship Id="rId15" Type="http://schemas.openxmlformats.org/officeDocument/2006/relationships/image" Target="../media/image30.wmf"/><Relationship Id="rId23" Type="http://schemas.openxmlformats.org/officeDocument/2006/relationships/image" Target="../media/image34.wmf"/><Relationship Id="rId28" Type="http://schemas.openxmlformats.org/officeDocument/2006/relationships/oleObject" Target="../embeddings/oleObject37.bin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32.wmf"/><Relationship Id="rId31" Type="http://schemas.openxmlformats.org/officeDocument/2006/relationships/image" Target="../media/image38.wmf"/><Relationship Id="rId4" Type="http://schemas.openxmlformats.org/officeDocument/2006/relationships/image" Target="../media/image25.wmf"/><Relationship Id="rId9" Type="http://schemas.openxmlformats.org/officeDocument/2006/relationships/image" Target="../media/image27.wmf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4.bin"/><Relationship Id="rId27" Type="http://schemas.openxmlformats.org/officeDocument/2006/relationships/image" Target="../media/image36.wmf"/><Relationship Id="rId30" Type="http://schemas.openxmlformats.org/officeDocument/2006/relationships/oleObject" Target="../embeddings/oleObject38.bin"/><Relationship Id="rId8" Type="http://schemas.openxmlformats.org/officeDocument/2006/relationships/oleObject" Target="../embeddings/oleObject27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wmf"/><Relationship Id="rId18" Type="http://schemas.openxmlformats.org/officeDocument/2006/relationships/oleObject" Target="../embeddings/oleObject47.bin"/><Relationship Id="rId26" Type="http://schemas.openxmlformats.org/officeDocument/2006/relationships/oleObject" Target="../embeddings/oleObject51.bin"/><Relationship Id="rId39" Type="http://schemas.openxmlformats.org/officeDocument/2006/relationships/image" Target="../media/image58.wmf"/><Relationship Id="rId21" Type="http://schemas.openxmlformats.org/officeDocument/2006/relationships/image" Target="../media/image49.wmf"/><Relationship Id="rId34" Type="http://schemas.openxmlformats.org/officeDocument/2006/relationships/oleObject" Target="../embeddings/oleObject55.bin"/><Relationship Id="rId42" Type="http://schemas.openxmlformats.org/officeDocument/2006/relationships/oleObject" Target="../embeddings/oleObject59.bin"/><Relationship Id="rId47" Type="http://schemas.openxmlformats.org/officeDocument/2006/relationships/image" Target="../media/image62.wmf"/><Relationship Id="rId50" Type="http://schemas.openxmlformats.org/officeDocument/2006/relationships/oleObject" Target="../embeddings/oleObject63.bin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6.bin"/><Relationship Id="rId29" Type="http://schemas.openxmlformats.org/officeDocument/2006/relationships/image" Target="../media/image53.wmf"/><Relationship Id="rId11" Type="http://schemas.openxmlformats.org/officeDocument/2006/relationships/image" Target="../media/image44.wmf"/><Relationship Id="rId24" Type="http://schemas.openxmlformats.org/officeDocument/2006/relationships/oleObject" Target="../embeddings/oleObject50.bin"/><Relationship Id="rId32" Type="http://schemas.openxmlformats.org/officeDocument/2006/relationships/oleObject" Target="../embeddings/oleObject54.bin"/><Relationship Id="rId37" Type="http://schemas.openxmlformats.org/officeDocument/2006/relationships/image" Target="../media/image57.wmf"/><Relationship Id="rId40" Type="http://schemas.openxmlformats.org/officeDocument/2006/relationships/oleObject" Target="../embeddings/oleObject58.bin"/><Relationship Id="rId45" Type="http://schemas.openxmlformats.org/officeDocument/2006/relationships/image" Target="../media/image61.wmf"/><Relationship Id="rId5" Type="http://schemas.openxmlformats.org/officeDocument/2006/relationships/image" Target="../media/image41.wmf"/><Relationship Id="rId15" Type="http://schemas.openxmlformats.org/officeDocument/2006/relationships/image" Target="../media/image46.wmf"/><Relationship Id="rId23" Type="http://schemas.openxmlformats.org/officeDocument/2006/relationships/image" Target="../media/image50.wmf"/><Relationship Id="rId28" Type="http://schemas.openxmlformats.org/officeDocument/2006/relationships/oleObject" Target="../embeddings/oleObject52.bin"/><Relationship Id="rId36" Type="http://schemas.openxmlformats.org/officeDocument/2006/relationships/oleObject" Target="../embeddings/oleObject56.bin"/><Relationship Id="rId49" Type="http://schemas.openxmlformats.org/officeDocument/2006/relationships/image" Target="../media/image63.wmf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48.wmf"/><Relationship Id="rId31" Type="http://schemas.openxmlformats.org/officeDocument/2006/relationships/image" Target="../media/image54.wmf"/><Relationship Id="rId44" Type="http://schemas.openxmlformats.org/officeDocument/2006/relationships/oleObject" Target="../embeddings/oleObject60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45.bin"/><Relationship Id="rId22" Type="http://schemas.openxmlformats.org/officeDocument/2006/relationships/oleObject" Target="../embeddings/oleObject49.bin"/><Relationship Id="rId27" Type="http://schemas.openxmlformats.org/officeDocument/2006/relationships/image" Target="../media/image52.wmf"/><Relationship Id="rId30" Type="http://schemas.openxmlformats.org/officeDocument/2006/relationships/oleObject" Target="../embeddings/oleObject53.bin"/><Relationship Id="rId35" Type="http://schemas.openxmlformats.org/officeDocument/2006/relationships/image" Target="../media/image56.wmf"/><Relationship Id="rId43" Type="http://schemas.openxmlformats.org/officeDocument/2006/relationships/image" Target="../media/image60.wmf"/><Relationship Id="rId48" Type="http://schemas.openxmlformats.org/officeDocument/2006/relationships/oleObject" Target="../embeddings/oleObject62.bin"/><Relationship Id="rId8" Type="http://schemas.openxmlformats.org/officeDocument/2006/relationships/oleObject" Target="../embeddings/oleObject42.bin"/><Relationship Id="rId51" Type="http://schemas.openxmlformats.org/officeDocument/2006/relationships/image" Target="../media/image64.wmf"/><Relationship Id="rId3" Type="http://schemas.openxmlformats.org/officeDocument/2006/relationships/image" Target="../media/image65.png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47.wmf"/><Relationship Id="rId25" Type="http://schemas.openxmlformats.org/officeDocument/2006/relationships/image" Target="../media/image51.wmf"/><Relationship Id="rId33" Type="http://schemas.openxmlformats.org/officeDocument/2006/relationships/image" Target="../media/image55.wmf"/><Relationship Id="rId38" Type="http://schemas.openxmlformats.org/officeDocument/2006/relationships/oleObject" Target="../embeddings/oleObject57.bin"/><Relationship Id="rId46" Type="http://schemas.openxmlformats.org/officeDocument/2006/relationships/oleObject" Target="../embeddings/oleObject61.bin"/><Relationship Id="rId20" Type="http://schemas.openxmlformats.org/officeDocument/2006/relationships/oleObject" Target="../embeddings/oleObject48.bin"/><Relationship Id="rId41" Type="http://schemas.openxmlformats.org/officeDocument/2006/relationships/image" Target="../media/image59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1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9.bin"/><Relationship Id="rId18" Type="http://schemas.openxmlformats.org/officeDocument/2006/relationships/image" Target="../media/image73.wmf"/><Relationship Id="rId26" Type="http://schemas.openxmlformats.org/officeDocument/2006/relationships/image" Target="../media/image77.wmf"/><Relationship Id="rId39" Type="http://schemas.openxmlformats.org/officeDocument/2006/relationships/oleObject" Target="../embeddings/oleObject82.bin"/><Relationship Id="rId21" Type="http://schemas.openxmlformats.org/officeDocument/2006/relationships/oleObject" Target="../embeddings/oleObject73.bin"/><Relationship Id="rId34" Type="http://schemas.openxmlformats.org/officeDocument/2006/relationships/image" Target="../media/image81.wmf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70.wmf"/><Relationship Id="rId17" Type="http://schemas.openxmlformats.org/officeDocument/2006/relationships/oleObject" Target="../embeddings/oleObject71.bin"/><Relationship Id="rId25" Type="http://schemas.openxmlformats.org/officeDocument/2006/relationships/oleObject" Target="../embeddings/oleObject75.bin"/><Relationship Id="rId33" Type="http://schemas.openxmlformats.org/officeDocument/2006/relationships/oleObject" Target="../embeddings/oleObject79.bin"/><Relationship Id="rId38" Type="http://schemas.openxmlformats.org/officeDocument/2006/relationships/image" Target="../media/image83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72.wmf"/><Relationship Id="rId20" Type="http://schemas.openxmlformats.org/officeDocument/2006/relationships/image" Target="../media/image74.wmf"/><Relationship Id="rId29" Type="http://schemas.openxmlformats.org/officeDocument/2006/relationships/oleObject" Target="../embeddings/oleObject77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68.bin"/><Relationship Id="rId24" Type="http://schemas.openxmlformats.org/officeDocument/2006/relationships/image" Target="../media/image76.wmf"/><Relationship Id="rId32" Type="http://schemas.openxmlformats.org/officeDocument/2006/relationships/image" Target="../media/image80.wmf"/><Relationship Id="rId37" Type="http://schemas.openxmlformats.org/officeDocument/2006/relationships/oleObject" Target="../embeddings/oleObject81.bin"/><Relationship Id="rId40" Type="http://schemas.openxmlformats.org/officeDocument/2006/relationships/image" Target="../media/image84.wmf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23" Type="http://schemas.openxmlformats.org/officeDocument/2006/relationships/oleObject" Target="../embeddings/oleObject74.bin"/><Relationship Id="rId28" Type="http://schemas.openxmlformats.org/officeDocument/2006/relationships/image" Target="../media/image78.wmf"/><Relationship Id="rId36" Type="http://schemas.openxmlformats.org/officeDocument/2006/relationships/image" Target="../media/image82.wmf"/><Relationship Id="rId10" Type="http://schemas.openxmlformats.org/officeDocument/2006/relationships/image" Target="../media/image69.wmf"/><Relationship Id="rId19" Type="http://schemas.openxmlformats.org/officeDocument/2006/relationships/oleObject" Target="../embeddings/oleObject72.bin"/><Relationship Id="rId31" Type="http://schemas.openxmlformats.org/officeDocument/2006/relationships/oleObject" Target="../embeddings/oleObject78.bin"/><Relationship Id="rId4" Type="http://schemas.openxmlformats.org/officeDocument/2006/relationships/image" Target="../media/image66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71.wmf"/><Relationship Id="rId22" Type="http://schemas.openxmlformats.org/officeDocument/2006/relationships/image" Target="../media/image75.wmf"/><Relationship Id="rId27" Type="http://schemas.openxmlformats.org/officeDocument/2006/relationships/oleObject" Target="../embeddings/oleObject76.bin"/><Relationship Id="rId30" Type="http://schemas.openxmlformats.org/officeDocument/2006/relationships/image" Target="../media/image79.wmf"/><Relationship Id="rId35" Type="http://schemas.openxmlformats.org/officeDocument/2006/relationships/oleObject" Target="../embeddings/oleObject80.bin"/><Relationship Id="rId8" Type="http://schemas.openxmlformats.org/officeDocument/2006/relationships/image" Target="../media/image68.wmf"/><Relationship Id="rId3" Type="http://schemas.openxmlformats.org/officeDocument/2006/relationships/oleObject" Target="../embeddings/oleObject6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89.wmf"/><Relationship Id="rId18" Type="http://schemas.openxmlformats.org/officeDocument/2006/relationships/oleObject" Target="../embeddings/oleObject90.bin"/><Relationship Id="rId26" Type="http://schemas.openxmlformats.org/officeDocument/2006/relationships/image" Target="../media/image93.wmf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97.png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91.wmf"/><Relationship Id="rId25" Type="http://schemas.openxmlformats.org/officeDocument/2006/relationships/oleObject" Target="../embeddings/oleObject91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89.bin"/><Relationship Id="rId20" Type="http://schemas.openxmlformats.org/officeDocument/2006/relationships/image" Target="../media/image96.png"/><Relationship Id="rId29" Type="http://schemas.openxmlformats.org/officeDocument/2006/relationships/oleObject" Target="../embeddings/oleObject93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88.wmf"/><Relationship Id="rId24" Type="http://schemas.openxmlformats.org/officeDocument/2006/relationships/image" Target="../media/image100.png"/><Relationship Id="rId5" Type="http://schemas.openxmlformats.org/officeDocument/2006/relationships/image" Target="../media/image85.wmf"/><Relationship Id="rId15" Type="http://schemas.openxmlformats.org/officeDocument/2006/relationships/image" Target="../media/image90.wmf"/><Relationship Id="rId23" Type="http://schemas.openxmlformats.org/officeDocument/2006/relationships/image" Target="../media/image99.png"/><Relationship Id="rId28" Type="http://schemas.openxmlformats.org/officeDocument/2006/relationships/image" Target="../media/image94.wmf"/><Relationship Id="rId10" Type="http://schemas.openxmlformats.org/officeDocument/2006/relationships/oleObject" Target="../embeddings/oleObject86.bin"/><Relationship Id="rId19" Type="http://schemas.openxmlformats.org/officeDocument/2006/relationships/image" Target="../media/image92.wmf"/><Relationship Id="rId4" Type="http://schemas.openxmlformats.org/officeDocument/2006/relationships/oleObject" Target="../embeddings/oleObject83.bin"/><Relationship Id="rId9" Type="http://schemas.openxmlformats.org/officeDocument/2006/relationships/image" Target="../media/image87.wmf"/><Relationship Id="rId14" Type="http://schemas.openxmlformats.org/officeDocument/2006/relationships/oleObject" Target="../embeddings/oleObject88.bin"/><Relationship Id="rId22" Type="http://schemas.openxmlformats.org/officeDocument/2006/relationships/image" Target="../media/image98.png"/><Relationship Id="rId27" Type="http://schemas.openxmlformats.org/officeDocument/2006/relationships/oleObject" Target="../embeddings/oleObject92.bin"/><Relationship Id="rId30" Type="http://schemas.openxmlformats.org/officeDocument/2006/relationships/image" Target="../media/image9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98.bin"/><Relationship Id="rId18" Type="http://schemas.openxmlformats.org/officeDocument/2006/relationships/oleObject" Target="../embeddings/oleObject100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108.wmf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104.wmf"/><Relationship Id="rId17" Type="http://schemas.openxmlformats.org/officeDocument/2006/relationships/image" Target="../media/image112.emf"/><Relationship Id="rId25" Type="http://schemas.openxmlformats.org/officeDocument/2006/relationships/image" Target="../media/image110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06.wmf"/><Relationship Id="rId20" Type="http://schemas.openxmlformats.org/officeDocument/2006/relationships/oleObject" Target="../embeddings/oleObject101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97.bin"/><Relationship Id="rId24" Type="http://schemas.openxmlformats.org/officeDocument/2006/relationships/oleObject" Target="../embeddings/oleObject103.bin"/><Relationship Id="rId5" Type="http://schemas.openxmlformats.org/officeDocument/2006/relationships/oleObject" Target="../embeddings/oleObject94.bin"/><Relationship Id="rId15" Type="http://schemas.openxmlformats.org/officeDocument/2006/relationships/oleObject" Target="../embeddings/oleObject99.bin"/><Relationship Id="rId23" Type="http://schemas.openxmlformats.org/officeDocument/2006/relationships/image" Target="../media/image109.wmf"/><Relationship Id="rId10" Type="http://schemas.openxmlformats.org/officeDocument/2006/relationships/image" Target="../media/image103.wmf"/><Relationship Id="rId19" Type="http://schemas.openxmlformats.org/officeDocument/2006/relationships/image" Target="../media/image107.wmf"/><Relationship Id="rId4" Type="http://schemas.openxmlformats.org/officeDocument/2006/relationships/image" Target="../media/image111.png"/><Relationship Id="rId9" Type="http://schemas.openxmlformats.org/officeDocument/2006/relationships/oleObject" Target="../embeddings/oleObject96.bin"/><Relationship Id="rId14" Type="http://schemas.openxmlformats.org/officeDocument/2006/relationships/image" Target="../media/image105.wmf"/><Relationship Id="rId22" Type="http://schemas.openxmlformats.org/officeDocument/2006/relationships/oleObject" Target="../embeddings/oleObject10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14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5.bin"/><Relationship Id="rId5" Type="http://schemas.openxmlformats.org/officeDocument/2006/relationships/image" Target="../media/image113.wmf"/><Relationship Id="rId4" Type="http://schemas.openxmlformats.org/officeDocument/2006/relationships/oleObject" Target="../embeddings/oleObject10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119.wmf"/><Relationship Id="rId18" Type="http://schemas.openxmlformats.org/officeDocument/2006/relationships/oleObject" Target="../embeddings/oleObject113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123.wmf"/><Relationship Id="rId7" Type="http://schemas.openxmlformats.org/officeDocument/2006/relationships/image" Target="../media/image116.wmf"/><Relationship Id="rId12" Type="http://schemas.openxmlformats.org/officeDocument/2006/relationships/oleObject" Target="../embeddings/oleObject110.bin"/><Relationship Id="rId17" Type="http://schemas.openxmlformats.org/officeDocument/2006/relationships/image" Target="../media/image121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12.bin"/><Relationship Id="rId20" Type="http://schemas.openxmlformats.org/officeDocument/2006/relationships/oleObject" Target="../embeddings/oleObject114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18.wmf"/><Relationship Id="rId24" Type="http://schemas.openxmlformats.org/officeDocument/2006/relationships/image" Target="../media/image124.wmf"/><Relationship Id="rId5" Type="http://schemas.openxmlformats.org/officeDocument/2006/relationships/image" Target="../media/image115.wmf"/><Relationship Id="rId15" Type="http://schemas.openxmlformats.org/officeDocument/2006/relationships/image" Target="../media/image120.wmf"/><Relationship Id="rId23" Type="http://schemas.openxmlformats.org/officeDocument/2006/relationships/oleObject" Target="../embeddings/oleObject116.bin"/><Relationship Id="rId10" Type="http://schemas.openxmlformats.org/officeDocument/2006/relationships/oleObject" Target="../embeddings/oleObject109.bin"/><Relationship Id="rId19" Type="http://schemas.openxmlformats.org/officeDocument/2006/relationships/image" Target="../media/image122.wmf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17.wmf"/><Relationship Id="rId14" Type="http://schemas.openxmlformats.org/officeDocument/2006/relationships/oleObject" Target="../embeddings/oleObject111.bin"/><Relationship Id="rId22" Type="http://schemas.openxmlformats.org/officeDocument/2006/relationships/oleObject" Target="../embeddings/oleObject11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2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18.bin"/><Relationship Id="rId11" Type="http://schemas.openxmlformats.org/officeDocument/2006/relationships/image" Target="../media/image128.wmf"/><Relationship Id="rId5" Type="http://schemas.openxmlformats.org/officeDocument/2006/relationships/image" Target="../media/image125.wmf"/><Relationship Id="rId10" Type="http://schemas.openxmlformats.org/officeDocument/2006/relationships/oleObject" Target="../embeddings/oleObject120.bin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2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13" Type="http://schemas.openxmlformats.org/officeDocument/2006/relationships/image" Target="../media/image133.wmf"/><Relationship Id="rId18" Type="http://schemas.openxmlformats.org/officeDocument/2006/relationships/oleObject" Target="../embeddings/oleObject128.bin"/><Relationship Id="rId26" Type="http://schemas.openxmlformats.org/officeDocument/2006/relationships/image" Target="../media/image142.png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137.wmf"/><Relationship Id="rId7" Type="http://schemas.openxmlformats.org/officeDocument/2006/relationships/image" Target="../media/image130.wmf"/><Relationship Id="rId12" Type="http://schemas.openxmlformats.org/officeDocument/2006/relationships/oleObject" Target="../embeddings/oleObject125.bin"/><Relationship Id="rId17" Type="http://schemas.openxmlformats.org/officeDocument/2006/relationships/image" Target="../media/image135.wmf"/><Relationship Id="rId25" Type="http://schemas.openxmlformats.org/officeDocument/2006/relationships/image" Target="../media/image139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27.bin"/><Relationship Id="rId20" Type="http://schemas.openxmlformats.org/officeDocument/2006/relationships/oleObject" Target="../embeddings/oleObject129.bin"/><Relationship Id="rId29" Type="http://schemas.openxmlformats.org/officeDocument/2006/relationships/image" Target="../media/image140.w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22.bin"/><Relationship Id="rId11" Type="http://schemas.openxmlformats.org/officeDocument/2006/relationships/image" Target="../media/image132.wmf"/><Relationship Id="rId24" Type="http://schemas.openxmlformats.org/officeDocument/2006/relationships/oleObject" Target="../embeddings/oleObject131.bin"/><Relationship Id="rId5" Type="http://schemas.openxmlformats.org/officeDocument/2006/relationships/image" Target="../media/image129.wmf"/><Relationship Id="rId15" Type="http://schemas.openxmlformats.org/officeDocument/2006/relationships/image" Target="../media/image134.wmf"/><Relationship Id="rId23" Type="http://schemas.openxmlformats.org/officeDocument/2006/relationships/image" Target="../media/image138.wmf"/><Relationship Id="rId28" Type="http://schemas.openxmlformats.org/officeDocument/2006/relationships/oleObject" Target="../embeddings/oleObject132.bin"/><Relationship Id="rId10" Type="http://schemas.openxmlformats.org/officeDocument/2006/relationships/oleObject" Target="../embeddings/oleObject124.bin"/><Relationship Id="rId19" Type="http://schemas.openxmlformats.org/officeDocument/2006/relationships/image" Target="../media/image136.wmf"/><Relationship Id="rId31" Type="http://schemas.openxmlformats.org/officeDocument/2006/relationships/image" Target="../media/image141.wmf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31.wmf"/><Relationship Id="rId14" Type="http://schemas.openxmlformats.org/officeDocument/2006/relationships/oleObject" Target="../embeddings/oleObject126.bin"/><Relationship Id="rId22" Type="http://schemas.openxmlformats.org/officeDocument/2006/relationships/oleObject" Target="../embeddings/oleObject130.bin"/><Relationship Id="rId27" Type="http://schemas.openxmlformats.org/officeDocument/2006/relationships/image" Target="../media/image143.png"/><Relationship Id="rId30" Type="http://schemas.openxmlformats.org/officeDocument/2006/relationships/oleObject" Target="../embeddings/oleObject13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46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45.png"/><Relationship Id="rId5" Type="http://schemas.openxmlformats.org/officeDocument/2006/relationships/image" Target="../media/image144.wmf"/><Relationship Id="rId4" Type="http://schemas.openxmlformats.org/officeDocument/2006/relationships/oleObject" Target="../embeddings/oleObject134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10568" y="35955"/>
            <a:ext cx="43851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开普勒轨道</a:t>
            </a:r>
          </a:p>
          <a:p>
            <a:r>
              <a:rPr lang="zh-CN" altLang="en-US" sz="1600" dirty="0">
                <a:solidFill>
                  <a:srgbClr val="FF0000"/>
                </a:solidFill>
              </a:rPr>
              <a:t>椭圆定律：</a:t>
            </a:r>
            <a:r>
              <a:rPr lang="zh-CN" altLang="en-US" sz="1600" dirty="0"/>
              <a:t>航天器绕地球运动的轨道为一</a:t>
            </a:r>
            <a:r>
              <a:rPr lang="zh-CN" altLang="en-US" sz="1600" dirty="0">
                <a:solidFill>
                  <a:srgbClr val="FF0000"/>
                </a:solidFill>
              </a:rPr>
              <a:t>椭圆</a:t>
            </a:r>
            <a:r>
              <a:rPr lang="zh-CN" altLang="en-US" sz="1600" dirty="0"/>
              <a:t>，地球位于椭圆的一个焦点上。</a:t>
            </a:r>
            <a:r>
              <a:rPr lang="zh-CN" altLang="en-US" sz="1600" dirty="0">
                <a:solidFill>
                  <a:srgbClr val="FF0000"/>
                </a:solidFill>
              </a:rPr>
              <a:t>面积定律：</a:t>
            </a:r>
            <a:r>
              <a:rPr lang="zh-CN" altLang="en-US" sz="1600" dirty="0"/>
              <a:t>航天器与地球中心的连线在相同的时间内扫过的面积相等。</a:t>
            </a:r>
            <a:r>
              <a:rPr lang="zh-CN" altLang="en-US" sz="1600" dirty="0">
                <a:solidFill>
                  <a:srgbClr val="FF0000"/>
                </a:solidFill>
              </a:rPr>
              <a:t>谐和定律：</a:t>
            </a:r>
            <a:r>
              <a:rPr lang="zh-CN" altLang="en-US" sz="1600" dirty="0"/>
              <a:t>航天器轨道半长轴的三次方同轨道周期的平方成正比。        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0824" y="1600866"/>
            <a:ext cx="4233576" cy="661390"/>
            <a:chOff x="827089" y="4581524"/>
            <a:chExt cx="7443597" cy="1006767"/>
          </a:xfrm>
        </p:grpSpPr>
        <p:sp>
          <p:nvSpPr>
            <p:cNvPr id="7" name="Rectangle 29"/>
            <p:cNvSpPr>
              <a:spLocks noChangeArrowheads="1"/>
            </p:cNvSpPr>
            <p:nvPr/>
          </p:nvSpPr>
          <p:spPr bwMode="auto">
            <a:xfrm>
              <a:off x="6064621" y="4640996"/>
              <a:ext cx="2151039" cy="456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350" dirty="0">
                  <a:solidFill>
                    <a:schemeClr val="accent2"/>
                  </a:solidFill>
                </a:rPr>
                <a:t>万有引力常数</a:t>
              </a:r>
              <a:endParaRPr lang="zh-CN" altLang="en-US" sz="1350" dirty="0"/>
            </a:p>
          </p:txBody>
        </p:sp>
        <p:graphicFrame>
          <p:nvGraphicFramePr>
            <p:cNvPr id="8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6442981"/>
                </p:ext>
              </p:extLst>
            </p:nvPr>
          </p:nvGraphicFramePr>
          <p:xfrm>
            <a:off x="2628223" y="4581524"/>
            <a:ext cx="3124200" cy="404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1" name="公式" r:id="rId3" imgW="3124080" imgH="406080" progId="Equation.3">
                    <p:embed/>
                  </p:oleObj>
                </mc:Choice>
                <mc:Fallback>
                  <p:oleObj name="公式" r:id="rId3" imgW="312408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8223" y="4581524"/>
                          <a:ext cx="3124200" cy="404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9843807"/>
                </p:ext>
              </p:extLst>
            </p:nvPr>
          </p:nvGraphicFramePr>
          <p:xfrm>
            <a:off x="827089" y="4581524"/>
            <a:ext cx="1693983" cy="917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2" name="Equation" r:id="rId5" imgW="774360" imgH="419040" progId="Equation.DSMT4">
                    <p:embed/>
                  </p:oleObj>
                </mc:Choice>
                <mc:Fallback>
                  <p:oleObj name="Equation" r:id="rId5" imgW="77436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7089" y="4581524"/>
                          <a:ext cx="1693983" cy="91757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2734928"/>
                </p:ext>
              </p:extLst>
            </p:nvPr>
          </p:nvGraphicFramePr>
          <p:xfrm>
            <a:off x="2610225" y="5138954"/>
            <a:ext cx="3454399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3" name="公式" r:id="rId7" imgW="3454200" imgH="419040" progId="Equation.3">
                    <p:embed/>
                  </p:oleObj>
                </mc:Choice>
                <mc:Fallback>
                  <p:oleObj name="公式" r:id="rId7" imgW="345420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0225" y="5138954"/>
                          <a:ext cx="3454399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38"/>
            <p:cNvSpPr>
              <a:spLocks noChangeArrowheads="1"/>
            </p:cNvSpPr>
            <p:nvPr/>
          </p:nvSpPr>
          <p:spPr bwMode="auto">
            <a:xfrm>
              <a:off x="6119647" y="5131507"/>
              <a:ext cx="2151039" cy="456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350" dirty="0">
                  <a:solidFill>
                    <a:schemeClr val="accent2"/>
                  </a:solidFill>
                </a:rPr>
                <a:t>地心引力常数</a:t>
              </a:r>
              <a:endParaRPr lang="zh-CN" altLang="en-US" sz="1350" dirty="0"/>
            </a:p>
          </p:txBody>
        </p:sp>
      </p:grpSp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681127"/>
              </p:ext>
            </p:extLst>
          </p:nvPr>
        </p:nvGraphicFramePr>
        <p:xfrm>
          <a:off x="1980130" y="2391904"/>
          <a:ext cx="2206248" cy="554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" name="公式" r:id="rId9" imgW="1841400" imgH="723600" progId="Equation.3">
                  <p:embed/>
                </p:oleObj>
              </mc:Choice>
              <mc:Fallback>
                <p:oleObj name="公式" r:id="rId9" imgW="1841400" imgH="72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130" y="2391904"/>
                        <a:ext cx="2206248" cy="5545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277822"/>
              </p:ext>
            </p:extLst>
          </p:nvPr>
        </p:nvGraphicFramePr>
        <p:xfrm>
          <a:off x="2057151" y="2940525"/>
          <a:ext cx="1279718" cy="549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5" name="Equation" r:id="rId11" imgW="1371600" imgH="723600" progId="Equation.DSMT4">
                  <p:embed/>
                </p:oleObj>
              </mc:Choice>
              <mc:Fallback>
                <p:oleObj name="Equation" r:id="rId11" imgW="137160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151" y="2940525"/>
                        <a:ext cx="1279718" cy="549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1" y="4372731"/>
            <a:ext cx="5763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400" dirty="0"/>
              <a:t>物理意义：航天器单位质量的</a:t>
            </a:r>
            <a:r>
              <a:rPr lang="zh-CN" altLang="en-US" sz="1400" dirty="0">
                <a:solidFill>
                  <a:schemeClr val="accent2"/>
                </a:solidFill>
              </a:rPr>
              <a:t>机械能守恒</a:t>
            </a:r>
            <a:r>
              <a:rPr lang="zh-CN" altLang="en-US" sz="1400" dirty="0" smtClean="0"/>
              <a:t>。确定轨道类型</a:t>
            </a:r>
            <a:endParaRPr lang="zh-CN" altLang="en-US" sz="1400" dirty="0"/>
          </a:p>
        </p:txBody>
      </p:sp>
      <p:grpSp>
        <p:nvGrpSpPr>
          <p:cNvPr id="17" name="Group 7"/>
          <p:cNvGrpSpPr>
            <a:grpSpLocks/>
          </p:cNvGrpSpPr>
          <p:nvPr/>
        </p:nvGrpSpPr>
        <p:grpSpPr bwMode="auto">
          <a:xfrm>
            <a:off x="20320" y="2500388"/>
            <a:ext cx="2014619" cy="307395"/>
            <a:chOff x="2181" y="2596"/>
            <a:chExt cx="1507" cy="297"/>
          </a:xfrm>
        </p:grpSpPr>
        <p:graphicFrame>
          <p:nvGraphicFramePr>
            <p:cNvPr id="1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9566570"/>
                </p:ext>
              </p:extLst>
            </p:nvPr>
          </p:nvGraphicFramePr>
          <p:xfrm>
            <a:off x="3126" y="2622"/>
            <a:ext cx="562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6" name="公式" r:id="rId13" imgW="634680" imgH="253800" progId="Equation.3">
                    <p:embed/>
                  </p:oleObj>
                </mc:Choice>
                <mc:Fallback>
                  <p:oleObj name="公式" r:id="rId13" imgW="6346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6" y="2622"/>
                          <a:ext cx="562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2181" y="2596"/>
              <a:ext cx="146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dirty="0"/>
                <a:t>方程两边点乘</a:t>
              </a:r>
            </a:p>
          </p:txBody>
        </p:sp>
      </p:grpSp>
      <p:grpSp>
        <p:nvGrpSpPr>
          <p:cNvPr id="20" name="Group 36"/>
          <p:cNvGrpSpPr>
            <a:grpSpLocks/>
          </p:cNvGrpSpPr>
          <p:nvPr/>
        </p:nvGrpSpPr>
        <p:grpSpPr bwMode="auto">
          <a:xfrm>
            <a:off x="70895" y="3007176"/>
            <a:ext cx="1727101" cy="330164"/>
            <a:chOff x="540" y="1794"/>
            <a:chExt cx="1322" cy="319"/>
          </a:xfrm>
        </p:grpSpPr>
        <p:graphicFrame>
          <p:nvGraphicFramePr>
            <p:cNvPr id="21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5856672"/>
                </p:ext>
              </p:extLst>
            </p:nvPr>
          </p:nvGraphicFramePr>
          <p:xfrm>
            <a:off x="902" y="1794"/>
            <a:ext cx="96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7" name="Equation" r:id="rId15" imgW="545760" imgH="164880" progId="Equation.DSMT4">
                    <p:embed/>
                  </p:oleObj>
                </mc:Choice>
                <mc:Fallback>
                  <p:oleObj name="Equation" r:id="rId15" imgW="54576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2" y="1794"/>
                          <a:ext cx="96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ectangle 13"/>
            <p:cNvSpPr>
              <a:spLocks noChangeArrowheads="1"/>
            </p:cNvSpPr>
            <p:nvPr/>
          </p:nvSpPr>
          <p:spPr bwMode="auto">
            <a:xfrm>
              <a:off x="540" y="1845"/>
              <a:ext cx="566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200" dirty="0"/>
                <a:t>利用</a:t>
              </a:r>
            </a:p>
          </p:txBody>
        </p:sp>
      </p:grpSp>
      <p:grpSp>
        <p:nvGrpSpPr>
          <p:cNvPr id="23" name="Group 14"/>
          <p:cNvGrpSpPr>
            <a:grpSpLocks/>
          </p:cNvGrpSpPr>
          <p:nvPr/>
        </p:nvGrpSpPr>
        <p:grpSpPr bwMode="auto">
          <a:xfrm>
            <a:off x="124505" y="3367354"/>
            <a:ext cx="2099855" cy="496799"/>
            <a:chOff x="618" y="2164"/>
            <a:chExt cx="1654" cy="480"/>
          </a:xfrm>
        </p:grpSpPr>
        <p:graphicFrame>
          <p:nvGraphicFramePr>
            <p:cNvPr id="24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8731798"/>
                </p:ext>
              </p:extLst>
            </p:nvPr>
          </p:nvGraphicFramePr>
          <p:xfrm>
            <a:off x="1328" y="2164"/>
            <a:ext cx="944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8" name="公式" r:id="rId17" imgW="1498320" imgH="761760" progId="Equation.3">
                    <p:embed/>
                  </p:oleObj>
                </mc:Choice>
                <mc:Fallback>
                  <p:oleObj name="公式" r:id="rId17" imgW="1498320" imgH="7617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8" y="2164"/>
                          <a:ext cx="944" cy="48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Rectangle 16"/>
            <p:cNvSpPr>
              <a:spLocks noChangeArrowheads="1"/>
            </p:cNvSpPr>
            <p:nvPr/>
          </p:nvSpPr>
          <p:spPr bwMode="auto">
            <a:xfrm>
              <a:off x="618" y="2233"/>
              <a:ext cx="630" cy="26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200" dirty="0"/>
                <a:t>积分后为</a:t>
              </a:r>
            </a:p>
          </p:txBody>
        </p:sp>
      </p:grpSp>
      <p:grpSp>
        <p:nvGrpSpPr>
          <p:cNvPr id="26" name="Group 17"/>
          <p:cNvGrpSpPr>
            <a:grpSpLocks/>
          </p:cNvGrpSpPr>
          <p:nvPr/>
        </p:nvGrpSpPr>
        <p:grpSpPr bwMode="auto">
          <a:xfrm>
            <a:off x="4144247" y="4540121"/>
            <a:ext cx="1628863" cy="1325628"/>
            <a:chOff x="3840" y="45"/>
            <a:chExt cx="1344" cy="1443"/>
          </a:xfrm>
        </p:grpSpPr>
        <p:graphicFrame>
          <p:nvGraphicFramePr>
            <p:cNvPr id="27" name="Object 18"/>
            <p:cNvGraphicFramePr>
              <a:graphicFrameLocks noChangeAspect="1"/>
            </p:cNvGraphicFramePr>
            <p:nvPr/>
          </p:nvGraphicFramePr>
          <p:xfrm>
            <a:off x="3840" y="384"/>
            <a:ext cx="358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9" name="公式" r:id="rId19" imgW="355320" imgH="330120" progId="Equation.3">
                    <p:embed/>
                  </p:oleObj>
                </mc:Choice>
                <mc:Fallback>
                  <p:oleObj name="公式" r:id="rId19" imgW="355320" imgH="3301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384"/>
                          <a:ext cx="358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19"/>
            <p:cNvGraphicFramePr>
              <a:graphicFrameLocks noChangeAspect="1"/>
            </p:cNvGraphicFramePr>
            <p:nvPr/>
          </p:nvGraphicFramePr>
          <p:xfrm>
            <a:off x="4944" y="576"/>
            <a:ext cx="177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0" name="公式" r:id="rId21" imgW="177480" imgH="241200" progId="Equation.3">
                    <p:embed/>
                  </p:oleObj>
                </mc:Choice>
                <mc:Fallback>
                  <p:oleObj name="公式" r:id="rId21" imgW="1774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576"/>
                          <a:ext cx="177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" name="Group 20"/>
            <p:cNvGrpSpPr>
              <a:grpSpLocks/>
            </p:cNvGrpSpPr>
            <p:nvPr/>
          </p:nvGrpSpPr>
          <p:grpSpPr bwMode="auto">
            <a:xfrm>
              <a:off x="3936" y="336"/>
              <a:ext cx="1248" cy="1152"/>
              <a:chOff x="4128" y="2160"/>
              <a:chExt cx="1248" cy="1152"/>
            </a:xfrm>
          </p:grpSpPr>
          <p:sp>
            <p:nvSpPr>
              <p:cNvPr id="31" name="Line 21"/>
              <p:cNvSpPr>
                <a:spLocks noChangeShapeType="1"/>
              </p:cNvSpPr>
              <p:nvPr/>
            </p:nvSpPr>
            <p:spPr bwMode="auto">
              <a:xfrm flipH="1" flipV="1">
                <a:off x="4656" y="2160"/>
                <a:ext cx="144" cy="67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2" name="Line 22"/>
              <p:cNvSpPr>
                <a:spLocks noChangeShapeType="1"/>
              </p:cNvSpPr>
              <p:nvPr/>
            </p:nvSpPr>
            <p:spPr bwMode="auto">
              <a:xfrm flipV="1">
                <a:off x="4128" y="2784"/>
                <a:ext cx="720" cy="52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3" name="Line 23"/>
              <p:cNvSpPr>
                <a:spLocks noChangeShapeType="1"/>
              </p:cNvSpPr>
              <p:nvPr/>
            </p:nvSpPr>
            <p:spPr bwMode="auto">
              <a:xfrm flipV="1">
                <a:off x="4848" y="2592"/>
                <a:ext cx="288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4" name="Line 24"/>
              <p:cNvSpPr>
                <a:spLocks noChangeShapeType="1"/>
              </p:cNvSpPr>
              <p:nvPr/>
            </p:nvSpPr>
            <p:spPr bwMode="auto">
              <a:xfrm flipH="1" flipV="1">
                <a:off x="4416" y="2352"/>
                <a:ext cx="384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5" name="Line 25"/>
              <p:cNvSpPr>
                <a:spLocks noChangeShapeType="1"/>
              </p:cNvSpPr>
              <p:nvPr/>
            </p:nvSpPr>
            <p:spPr bwMode="auto">
              <a:xfrm>
                <a:off x="4128" y="3312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6" name="Line 26"/>
              <p:cNvSpPr>
                <a:spLocks noChangeShapeType="1"/>
              </p:cNvSpPr>
              <p:nvPr/>
            </p:nvSpPr>
            <p:spPr bwMode="auto">
              <a:xfrm flipH="1" flipV="1">
                <a:off x="4416" y="3120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7" name="Text Box 27"/>
              <p:cNvSpPr txBox="1">
                <a:spLocks noChangeArrowheads="1"/>
              </p:cNvSpPr>
              <p:nvPr/>
            </p:nvSpPr>
            <p:spPr bwMode="auto">
              <a:xfrm>
                <a:off x="4344" y="2707"/>
                <a:ext cx="229" cy="4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i="1"/>
                  <a:t>r</a:t>
                </a:r>
                <a:endParaRPr lang="en-US" altLang="zh-CN" sz="2400"/>
              </a:p>
            </p:txBody>
          </p:sp>
          <p:graphicFrame>
            <p:nvGraphicFramePr>
              <p:cNvPr id="38" name="Object 28"/>
              <p:cNvGraphicFramePr>
                <a:graphicFrameLocks noChangeAspect="1"/>
              </p:cNvGraphicFramePr>
              <p:nvPr/>
            </p:nvGraphicFramePr>
            <p:xfrm>
              <a:off x="4512" y="3088"/>
              <a:ext cx="127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91" name="公式" r:id="rId23" imgW="203040" imgH="279360" progId="Equation.3">
                      <p:embed/>
                    </p:oleObj>
                  </mc:Choice>
                  <mc:Fallback>
                    <p:oleObj name="公式" r:id="rId23" imgW="203040" imgH="2793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12" y="3088"/>
                            <a:ext cx="127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" name="Line 29"/>
              <p:cNvSpPr>
                <a:spLocks noChangeShapeType="1"/>
              </p:cNvSpPr>
              <p:nvPr/>
            </p:nvSpPr>
            <p:spPr bwMode="auto">
              <a:xfrm flipV="1">
                <a:off x="4416" y="2160"/>
                <a:ext cx="24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40" name="Line 30"/>
              <p:cNvSpPr>
                <a:spLocks noChangeShapeType="1"/>
              </p:cNvSpPr>
              <p:nvPr/>
            </p:nvSpPr>
            <p:spPr bwMode="auto">
              <a:xfrm flipH="1" flipV="1">
                <a:off x="4704" y="2160"/>
                <a:ext cx="38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aphicFrame>
          <p:nvGraphicFramePr>
            <p:cNvPr id="30" name="Object 31"/>
            <p:cNvGraphicFramePr>
              <a:graphicFrameLocks noChangeAspect="1"/>
            </p:cNvGraphicFramePr>
            <p:nvPr/>
          </p:nvGraphicFramePr>
          <p:xfrm>
            <a:off x="4416" y="45"/>
            <a:ext cx="179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2" name="公式" r:id="rId25" imgW="177480" imgH="241200" progId="Equation.3">
                    <p:embed/>
                  </p:oleObj>
                </mc:Choice>
                <mc:Fallback>
                  <p:oleObj name="公式" r:id="rId25" imgW="1774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45"/>
                          <a:ext cx="179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" name="Text Box 32"/>
          <p:cNvSpPr txBox="1">
            <a:spLocks noChangeArrowheads="1"/>
          </p:cNvSpPr>
          <p:nvPr/>
        </p:nvSpPr>
        <p:spPr bwMode="auto">
          <a:xfrm>
            <a:off x="824287" y="4116469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dirty="0"/>
              <a:t>动能</a:t>
            </a:r>
          </a:p>
        </p:txBody>
      </p:sp>
      <p:sp>
        <p:nvSpPr>
          <p:cNvPr id="42" name="Text Box 33"/>
          <p:cNvSpPr txBox="1">
            <a:spLocks noChangeArrowheads="1"/>
          </p:cNvSpPr>
          <p:nvPr/>
        </p:nvSpPr>
        <p:spPr bwMode="auto">
          <a:xfrm>
            <a:off x="1377012" y="4108663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dirty="0"/>
              <a:t>势能</a:t>
            </a:r>
          </a:p>
        </p:txBody>
      </p:sp>
      <p:sp>
        <p:nvSpPr>
          <p:cNvPr id="43" name="AutoShape 34"/>
          <p:cNvSpPr>
            <a:spLocks noChangeArrowheads="1"/>
          </p:cNvSpPr>
          <p:nvPr/>
        </p:nvSpPr>
        <p:spPr bwMode="auto">
          <a:xfrm>
            <a:off x="1068191" y="3876763"/>
            <a:ext cx="60939" cy="198719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 sz="1350"/>
          </a:p>
        </p:txBody>
      </p:sp>
      <p:sp>
        <p:nvSpPr>
          <p:cNvPr id="44" name="AutoShape 35"/>
          <p:cNvSpPr>
            <a:spLocks noChangeArrowheads="1"/>
          </p:cNvSpPr>
          <p:nvPr/>
        </p:nvSpPr>
        <p:spPr bwMode="auto">
          <a:xfrm>
            <a:off x="1550336" y="3883597"/>
            <a:ext cx="60939" cy="198719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 sz="1350"/>
          </a:p>
        </p:txBody>
      </p:sp>
      <p:sp>
        <p:nvSpPr>
          <p:cNvPr id="46" name="矩形 45"/>
          <p:cNvSpPr/>
          <p:nvPr/>
        </p:nvSpPr>
        <p:spPr>
          <a:xfrm>
            <a:off x="99367" y="2285569"/>
            <a:ext cx="944917" cy="2300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350" dirty="0"/>
              <a:t>能量积分</a:t>
            </a:r>
          </a:p>
        </p:txBody>
      </p:sp>
      <p:grpSp>
        <p:nvGrpSpPr>
          <p:cNvPr id="74" name="组合 73"/>
          <p:cNvGrpSpPr/>
          <p:nvPr/>
        </p:nvGrpSpPr>
        <p:grpSpPr>
          <a:xfrm>
            <a:off x="-24394" y="4632310"/>
            <a:ext cx="3992591" cy="1599366"/>
            <a:chOff x="103188" y="2144715"/>
            <a:chExt cx="5310830" cy="2132486"/>
          </a:xfrm>
        </p:grpSpPr>
        <p:sp>
          <p:nvSpPr>
            <p:cNvPr id="47" name="Rectangle 3"/>
            <p:cNvSpPr>
              <a:spLocks noChangeArrowheads="1"/>
            </p:cNvSpPr>
            <p:nvPr/>
          </p:nvSpPr>
          <p:spPr bwMode="auto">
            <a:xfrm>
              <a:off x="160203" y="3579575"/>
              <a:ext cx="5253815" cy="6976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400" dirty="0"/>
                <a:t>物理意义：航天器对地球中心的</a:t>
              </a:r>
              <a:r>
                <a:rPr lang="zh-CN" altLang="en-US" sz="1400" dirty="0">
                  <a:solidFill>
                    <a:schemeClr val="accent2"/>
                  </a:solidFill>
                </a:rPr>
                <a:t>动量矩守恒</a:t>
              </a:r>
              <a:r>
                <a:rPr lang="zh-CN" altLang="en-US" sz="1400" dirty="0" smtClean="0"/>
                <a:t>。</a:t>
              </a:r>
              <a:endParaRPr lang="en-US" altLang="zh-CN" sz="1400" dirty="0" smtClean="0"/>
            </a:p>
            <a:p>
              <a:r>
                <a:rPr lang="zh-CN" altLang="en-US" sz="1400" dirty="0" smtClean="0"/>
                <a:t>方向确定轨道空间方位，大小确定轨道的大小。</a:t>
              </a:r>
              <a:endParaRPr lang="zh-CN" altLang="en-US" sz="1400" dirty="0"/>
            </a:p>
          </p:txBody>
        </p:sp>
        <p:grpSp>
          <p:nvGrpSpPr>
            <p:cNvPr id="49" name="Group 5"/>
            <p:cNvGrpSpPr>
              <a:grpSpLocks/>
            </p:cNvGrpSpPr>
            <p:nvPr/>
          </p:nvGrpSpPr>
          <p:grpSpPr bwMode="auto">
            <a:xfrm>
              <a:off x="103188" y="2144715"/>
              <a:ext cx="3589338" cy="466726"/>
              <a:chOff x="65" y="1351"/>
              <a:chExt cx="2261" cy="294"/>
            </a:xfrm>
          </p:grpSpPr>
          <p:sp>
            <p:nvSpPr>
              <p:cNvPr id="50" name="Rectangle 6"/>
              <p:cNvSpPr>
                <a:spLocks noChangeArrowheads="1"/>
              </p:cNvSpPr>
              <p:nvPr/>
            </p:nvSpPr>
            <p:spPr bwMode="auto">
              <a:xfrm>
                <a:off x="65" y="1387"/>
                <a:ext cx="1292" cy="2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/>
                  <a:t>方程两边叉乘 </a:t>
                </a:r>
                <a:r>
                  <a:rPr lang="en-US" altLang="zh-CN" sz="1400" i="1" dirty="0"/>
                  <a:t>r</a:t>
                </a:r>
                <a:r>
                  <a:rPr lang="zh-CN" altLang="en-US" sz="1400" dirty="0"/>
                  <a:t>：</a:t>
                </a:r>
              </a:p>
            </p:txBody>
          </p:sp>
          <p:graphicFrame>
            <p:nvGraphicFramePr>
              <p:cNvPr id="51" name="Object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46260921"/>
                  </p:ext>
                </p:extLst>
              </p:nvPr>
            </p:nvGraphicFramePr>
            <p:xfrm>
              <a:off x="1225" y="1351"/>
              <a:ext cx="1101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93" name="公式" r:id="rId27" imgW="698400" imgH="164880" progId="Equation.3">
                      <p:embed/>
                    </p:oleObj>
                  </mc:Choice>
                  <mc:Fallback>
                    <p:oleObj name="公式" r:id="rId27" imgW="69840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25" y="1351"/>
                            <a:ext cx="1101" cy="2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2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3489759"/>
                </p:ext>
              </p:extLst>
            </p:nvPr>
          </p:nvGraphicFramePr>
          <p:xfrm>
            <a:off x="419448" y="3035758"/>
            <a:ext cx="3827731" cy="526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4" name="Equation" r:id="rId29" imgW="3327120" imgH="457200" progId="Equation.DSMT4">
                    <p:embed/>
                  </p:oleObj>
                </mc:Choice>
                <mc:Fallback>
                  <p:oleObj name="Equation" r:id="rId29" imgW="332712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448" y="3035758"/>
                          <a:ext cx="3827731" cy="526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3" name="Group 9"/>
            <p:cNvGrpSpPr>
              <a:grpSpLocks/>
            </p:cNvGrpSpPr>
            <p:nvPr/>
          </p:nvGrpSpPr>
          <p:grpSpPr bwMode="auto">
            <a:xfrm>
              <a:off x="768350" y="2597145"/>
              <a:ext cx="2203450" cy="400049"/>
              <a:chOff x="484" y="1727"/>
              <a:chExt cx="1388" cy="252"/>
            </a:xfrm>
          </p:grpSpPr>
          <p:graphicFrame>
            <p:nvGraphicFramePr>
              <p:cNvPr id="54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79895823"/>
                  </p:ext>
                </p:extLst>
              </p:nvPr>
            </p:nvGraphicFramePr>
            <p:xfrm>
              <a:off x="1216" y="1735"/>
              <a:ext cx="656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95" name="公式" r:id="rId31" imgW="1041120" imgH="279360" progId="Equation.3">
                      <p:embed/>
                    </p:oleObj>
                  </mc:Choice>
                  <mc:Fallback>
                    <p:oleObj name="公式" r:id="rId31" imgW="1041120" imgH="2793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16" y="1735"/>
                            <a:ext cx="656" cy="176"/>
                          </a:xfrm>
                          <a:prstGeom prst="rect">
                            <a:avLst/>
                          </a:prstGeom>
                          <a:solidFill>
                            <a:srgbClr val="FFFF66"/>
                          </a:solidFill>
                          <a:ln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5" name="Rectangle 11"/>
              <p:cNvSpPr>
                <a:spLocks noChangeArrowheads="1"/>
              </p:cNvSpPr>
              <p:nvPr/>
            </p:nvSpPr>
            <p:spPr bwMode="auto">
              <a:xfrm>
                <a:off x="484" y="1727"/>
                <a:ext cx="73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1350" dirty="0"/>
                  <a:t>积分后为</a:t>
                </a:r>
              </a:p>
            </p:txBody>
          </p:sp>
        </p:grpSp>
      </p:grpSp>
      <p:sp>
        <p:nvSpPr>
          <p:cNvPr id="75" name="矩形 74"/>
          <p:cNvSpPr/>
          <p:nvPr/>
        </p:nvSpPr>
        <p:spPr>
          <a:xfrm>
            <a:off x="2303429" y="4990275"/>
            <a:ext cx="1098731" cy="218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350" dirty="0"/>
              <a:t>动量矩积分</a:t>
            </a:r>
          </a:p>
        </p:txBody>
      </p:sp>
      <p:grpSp>
        <p:nvGrpSpPr>
          <p:cNvPr id="101" name="组合 100"/>
          <p:cNvGrpSpPr/>
          <p:nvPr/>
        </p:nvGrpSpPr>
        <p:grpSpPr>
          <a:xfrm>
            <a:off x="4345695" y="307079"/>
            <a:ext cx="4688507" cy="1863354"/>
            <a:chOff x="381000" y="1892753"/>
            <a:chExt cx="6251343" cy="2484471"/>
          </a:xfrm>
        </p:grpSpPr>
        <p:graphicFrame>
          <p:nvGraphicFramePr>
            <p:cNvPr id="89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3152403"/>
                </p:ext>
              </p:extLst>
            </p:nvPr>
          </p:nvGraphicFramePr>
          <p:xfrm>
            <a:off x="3058433" y="1892753"/>
            <a:ext cx="3573910" cy="700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6" name="Equation" r:id="rId33" imgW="2006280" imgH="393480" progId="Equation.DSMT4">
                    <p:embed/>
                  </p:oleObj>
                </mc:Choice>
                <mc:Fallback>
                  <p:oleObj name="Equation" r:id="rId33" imgW="200628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8433" y="1892753"/>
                          <a:ext cx="3573910" cy="700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9005399"/>
                </p:ext>
              </p:extLst>
            </p:nvPr>
          </p:nvGraphicFramePr>
          <p:xfrm>
            <a:off x="506665" y="2916243"/>
            <a:ext cx="3973260" cy="8098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7" name="Equation" r:id="rId35" imgW="3543120" imgH="723600" progId="Equation.DSMT4">
                    <p:embed/>
                  </p:oleObj>
                </mc:Choice>
                <mc:Fallback>
                  <p:oleObj name="Equation" r:id="rId35" imgW="3543120" imgH="723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665" y="2916243"/>
                          <a:ext cx="3973260" cy="8098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9624484"/>
                </p:ext>
              </p:extLst>
            </p:nvPr>
          </p:nvGraphicFramePr>
          <p:xfrm>
            <a:off x="3703628" y="3610374"/>
            <a:ext cx="2912480" cy="766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8" name="公式" r:id="rId37" imgW="2743200" imgH="723600" progId="Equation.3">
                    <p:embed/>
                  </p:oleObj>
                </mc:Choice>
                <mc:Fallback>
                  <p:oleObj name="公式" r:id="rId37" imgW="2743200" imgH="723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3628" y="3610374"/>
                          <a:ext cx="2912480" cy="766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" name="Group 25"/>
            <p:cNvGrpSpPr>
              <a:grpSpLocks/>
            </p:cNvGrpSpPr>
            <p:nvPr/>
          </p:nvGrpSpPr>
          <p:grpSpPr bwMode="auto">
            <a:xfrm>
              <a:off x="381000" y="1987552"/>
              <a:ext cx="2379382" cy="458788"/>
              <a:chOff x="352" y="827"/>
              <a:chExt cx="1456" cy="289"/>
            </a:xfrm>
          </p:grpSpPr>
          <p:sp>
            <p:nvSpPr>
              <p:cNvPr id="93" name="Rectangle 9"/>
              <p:cNvSpPr>
                <a:spLocks noChangeArrowheads="1"/>
              </p:cNvSpPr>
              <p:nvPr/>
            </p:nvSpPr>
            <p:spPr bwMode="auto">
              <a:xfrm>
                <a:off x="352" y="864"/>
                <a:ext cx="101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1350" dirty="0"/>
                  <a:t>两边叉乘</a:t>
                </a:r>
              </a:p>
            </p:txBody>
          </p:sp>
          <p:graphicFrame>
            <p:nvGraphicFramePr>
              <p:cNvPr id="94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48193996"/>
                  </p:ext>
                </p:extLst>
              </p:nvPr>
            </p:nvGraphicFramePr>
            <p:xfrm>
              <a:off x="1057" y="827"/>
              <a:ext cx="751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99" name="Equation" r:id="rId39" imgW="545760" imgH="177480" progId="Equation.DSMT4">
                      <p:embed/>
                    </p:oleObj>
                  </mc:Choice>
                  <mc:Fallback>
                    <p:oleObj name="Equation" r:id="rId39" imgW="54576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7" y="827"/>
                            <a:ext cx="751" cy="2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5" name="Group 14"/>
            <p:cNvGrpSpPr>
              <a:grpSpLocks/>
            </p:cNvGrpSpPr>
            <p:nvPr/>
          </p:nvGrpSpPr>
          <p:grpSpPr bwMode="auto">
            <a:xfrm>
              <a:off x="403225" y="2501896"/>
              <a:ext cx="4076700" cy="400050"/>
              <a:chOff x="590" y="1452"/>
              <a:chExt cx="2568" cy="252"/>
            </a:xfrm>
          </p:grpSpPr>
          <p:graphicFrame>
            <p:nvGraphicFramePr>
              <p:cNvPr id="96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32379399"/>
                  </p:ext>
                </p:extLst>
              </p:nvPr>
            </p:nvGraphicFramePr>
            <p:xfrm>
              <a:off x="1022" y="1463"/>
              <a:ext cx="2136" cy="2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00" name="公式" r:id="rId41" imgW="3390840" imgH="342720" progId="Equation.3">
                      <p:embed/>
                    </p:oleObj>
                  </mc:Choice>
                  <mc:Fallback>
                    <p:oleObj name="公式" r:id="rId41" imgW="3390840" imgH="34272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22" y="1463"/>
                            <a:ext cx="2136" cy="2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7" name="Text Box 16"/>
              <p:cNvSpPr txBox="1">
                <a:spLocks noChangeArrowheads="1"/>
              </p:cNvSpPr>
              <p:nvPr/>
            </p:nvSpPr>
            <p:spPr bwMode="auto">
              <a:xfrm>
                <a:off x="590" y="1452"/>
                <a:ext cx="68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66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1350" dirty="0"/>
                  <a:t>利用</a:t>
                </a:r>
              </a:p>
            </p:txBody>
          </p:sp>
        </p:grpSp>
        <p:grpSp>
          <p:nvGrpSpPr>
            <p:cNvPr id="98" name="Group 26"/>
            <p:cNvGrpSpPr>
              <a:grpSpLocks/>
            </p:cNvGrpSpPr>
            <p:nvPr/>
          </p:nvGrpSpPr>
          <p:grpSpPr bwMode="auto">
            <a:xfrm>
              <a:off x="1157813" y="3743333"/>
              <a:ext cx="2248443" cy="498476"/>
              <a:chOff x="1130" y="1363"/>
              <a:chExt cx="1337" cy="314"/>
            </a:xfrm>
          </p:grpSpPr>
          <p:graphicFrame>
            <p:nvGraphicFramePr>
              <p:cNvPr id="99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16681938"/>
                  </p:ext>
                </p:extLst>
              </p:nvPr>
            </p:nvGraphicFramePr>
            <p:xfrm>
              <a:off x="1603" y="1363"/>
              <a:ext cx="864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01" name="Equation" r:id="rId43" imgW="545760" imgH="164880" progId="Equation.DSMT4">
                      <p:embed/>
                    </p:oleObj>
                  </mc:Choice>
                  <mc:Fallback>
                    <p:oleObj name="Equation" r:id="rId43" imgW="54576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03" y="1363"/>
                            <a:ext cx="864" cy="2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0" name="Rectangle 28"/>
              <p:cNvSpPr>
                <a:spLocks noChangeArrowheads="1"/>
              </p:cNvSpPr>
              <p:nvPr/>
            </p:nvSpPr>
            <p:spPr bwMode="auto">
              <a:xfrm>
                <a:off x="1130" y="1425"/>
                <a:ext cx="633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1350" dirty="0"/>
                  <a:t>利用</a:t>
                </a:r>
              </a:p>
            </p:txBody>
          </p:sp>
        </p:grpSp>
      </p:grpSp>
      <p:grpSp>
        <p:nvGrpSpPr>
          <p:cNvPr id="115" name="组合 114"/>
          <p:cNvGrpSpPr/>
          <p:nvPr/>
        </p:nvGrpSpPr>
        <p:grpSpPr>
          <a:xfrm>
            <a:off x="4290128" y="2051640"/>
            <a:ext cx="3844508" cy="880098"/>
            <a:chOff x="508592" y="1621162"/>
            <a:chExt cx="5126011" cy="1173464"/>
          </a:xfrm>
        </p:grpSpPr>
        <p:graphicFrame>
          <p:nvGraphicFramePr>
            <p:cNvPr id="103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1111648"/>
                </p:ext>
              </p:extLst>
            </p:nvPr>
          </p:nvGraphicFramePr>
          <p:xfrm>
            <a:off x="834829" y="2028358"/>
            <a:ext cx="2075383" cy="6917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02" name="公式" r:id="rId44" imgW="2361960" imgH="787320" progId="Equation.3">
                    <p:embed/>
                  </p:oleObj>
                </mc:Choice>
                <mc:Fallback>
                  <p:oleObj name="公式" r:id="rId44" imgW="2361960" imgH="7873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4829" y="2028358"/>
                          <a:ext cx="2075383" cy="691794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" name="Rectangle 5"/>
            <p:cNvSpPr>
              <a:spLocks noChangeArrowheads="1"/>
            </p:cNvSpPr>
            <p:nvPr/>
          </p:nvSpPr>
          <p:spPr bwMode="auto">
            <a:xfrm>
              <a:off x="508592" y="1621162"/>
              <a:ext cx="1169551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350" dirty="0"/>
                <a:t>积分后为</a:t>
              </a:r>
            </a:p>
          </p:txBody>
        </p:sp>
        <p:graphicFrame>
          <p:nvGraphicFramePr>
            <p:cNvPr id="106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237861"/>
                </p:ext>
              </p:extLst>
            </p:nvPr>
          </p:nvGraphicFramePr>
          <p:xfrm>
            <a:off x="3226196" y="1905158"/>
            <a:ext cx="2408407" cy="889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03" name="Equation" r:id="rId46" imgW="1206360" imgH="444240" progId="Equation.DSMT4">
                    <p:embed/>
                  </p:oleObj>
                </mc:Choice>
                <mc:Fallback>
                  <p:oleObj name="Equation" r:id="rId46" imgW="120636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6196" y="1905158"/>
                          <a:ext cx="2408407" cy="8894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6" name="矩形 115"/>
          <p:cNvSpPr/>
          <p:nvPr/>
        </p:nvSpPr>
        <p:spPr>
          <a:xfrm>
            <a:off x="4443822" y="131958"/>
            <a:ext cx="1266353" cy="1556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350" dirty="0"/>
              <a:t>拉普拉斯积分</a:t>
            </a:r>
          </a:p>
        </p:txBody>
      </p:sp>
      <p:sp>
        <p:nvSpPr>
          <p:cNvPr id="82" name="矩形 81"/>
          <p:cNvSpPr/>
          <p:nvPr/>
        </p:nvSpPr>
        <p:spPr>
          <a:xfrm>
            <a:off x="4455714" y="2970679"/>
            <a:ext cx="1098731" cy="218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350" dirty="0"/>
              <a:t>时间</a:t>
            </a:r>
            <a:r>
              <a:rPr lang="zh-CN" altLang="en-US" sz="1350" dirty="0" smtClean="0"/>
              <a:t>积分</a:t>
            </a:r>
            <a:endParaRPr lang="zh-CN" altLang="en-US" sz="1350" dirty="0"/>
          </a:p>
        </p:txBody>
      </p:sp>
      <p:graphicFrame>
        <p:nvGraphicFramePr>
          <p:cNvPr id="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208174"/>
              </p:ext>
            </p:extLst>
          </p:nvPr>
        </p:nvGraphicFramePr>
        <p:xfrm>
          <a:off x="5899231" y="2973158"/>
          <a:ext cx="2235405" cy="537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4" name="公式" r:id="rId48" imgW="3225600" imgH="863280" progId="Equation.3">
                  <p:embed/>
                </p:oleObj>
              </mc:Choice>
              <mc:Fallback>
                <p:oleObj name="公式" r:id="rId48" imgW="322560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9231" y="2973158"/>
                        <a:ext cx="2235405" cy="537656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Rectangle 14"/>
          <p:cNvSpPr>
            <a:spLocks noChangeArrowheads="1"/>
          </p:cNvSpPr>
          <p:nvPr/>
        </p:nvSpPr>
        <p:spPr bwMode="auto">
          <a:xfrm>
            <a:off x="4361186" y="3600956"/>
            <a:ext cx="35976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1400" dirty="0">
                <a:effectLst/>
              </a:rPr>
              <a:t>物理</a:t>
            </a:r>
            <a:r>
              <a:rPr lang="zh-CN" altLang="en-US" sz="1400" dirty="0" smtClean="0">
                <a:effectLst/>
              </a:rPr>
              <a:t>意义</a:t>
            </a:r>
            <a:r>
              <a:rPr lang="zh-CN" altLang="en-US" sz="1400" dirty="0" smtClean="0"/>
              <a:t>：</a:t>
            </a:r>
            <a:r>
              <a:rPr lang="en-US" altLang="zh-CN" sz="1400" dirty="0" smtClean="0"/>
              <a:t>τ</a:t>
            </a:r>
            <a:r>
              <a:rPr lang="zh-CN" altLang="en-US" sz="1400" dirty="0" smtClean="0">
                <a:effectLst/>
              </a:rPr>
              <a:t>为</a:t>
            </a:r>
            <a:r>
              <a:rPr lang="zh-CN" altLang="en-US" sz="1400" dirty="0">
                <a:effectLst/>
              </a:rPr>
              <a:t>积分常数，</a:t>
            </a:r>
            <a:r>
              <a:rPr lang="zh-CN" altLang="en-US" sz="1400" dirty="0" smtClean="0">
                <a:effectLst/>
              </a:rPr>
              <a:t>表示矢</a:t>
            </a:r>
            <a:r>
              <a:rPr lang="zh-CN" altLang="en-US" sz="1400" dirty="0">
                <a:effectLst/>
              </a:rPr>
              <a:t>径 </a:t>
            </a:r>
            <a:r>
              <a:rPr lang="en-US" altLang="zh-CN" sz="1400" i="1" dirty="0" smtClean="0">
                <a:effectLst/>
              </a:rPr>
              <a:t>r</a:t>
            </a:r>
          </a:p>
          <a:p>
            <a:r>
              <a:rPr lang="zh-CN" altLang="en-US" sz="1400" dirty="0" smtClean="0">
                <a:effectLst/>
              </a:rPr>
              <a:t>与 </a:t>
            </a:r>
            <a:r>
              <a:rPr lang="en-US" altLang="zh-CN" sz="1400" i="1" dirty="0">
                <a:effectLst/>
              </a:rPr>
              <a:t>e </a:t>
            </a:r>
            <a:r>
              <a:rPr lang="zh-CN" altLang="en-US" sz="1400" dirty="0" smtClean="0">
                <a:effectLst/>
              </a:rPr>
              <a:t>重合</a:t>
            </a:r>
            <a:r>
              <a:rPr lang="zh-CN" altLang="en-US" sz="1400" dirty="0">
                <a:effectLst/>
              </a:rPr>
              <a:t>的时刻，称为</a:t>
            </a:r>
            <a:r>
              <a:rPr lang="zh-CN" altLang="en-US" sz="1400" dirty="0">
                <a:solidFill>
                  <a:srgbClr val="0000FF"/>
                </a:solidFill>
                <a:effectLst/>
              </a:rPr>
              <a:t>过近地点时间</a:t>
            </a:r>
            <a:r>
              <a:rPr lang="zh-CN" altLang="en-US" sz="1400" dirty="0">
                <a:effectLst/>
              </a:rPr>
              <a:t>。</a:t>
            </a:r>
          </a:p>
        </p:txBody>
      </p:sp>
      <p:sp>
        <p:nvSpPr>
          <p:cNvPr id="102" name="Rectangle 21"/>
          <p:cNvSpPr>
            <a:spLocks noChangeArrowheads="1"/>
          </p:cNvSpPr>
          <p:nvPr/>
        </p:nvSpPr>
        <p:spPr bwMode="auto">
          <a:xfrm>
            <a:off x="5710175" y="69779"/>
            <a:ext cx="144142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dirty="0" smtClean="0">
                <a:solidFill>
                  <a:srgbClr val="0000FF"/>
                </a:solidFill>
                <a:effectLst/>
              </a:rPr>
              <a:t>确定轨道的形状</a:t>
            </a:r>
            <a:endParaRPr lang="zh-CN" altLang="en-US" sz="1400" dirty="0">
              <a:solidFill>
                <a:srgbClr val="0000FF"/>
              </a:solidFill>
              <a:effectLst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1792" y="6259458"/>
            <a:ext cx="883630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/>
              <a:t>考虑两个质点组成的封闭系统，</a:t>
            </a:r>
            <a:r>
              <a:rPr lang="zh-CN" altLang="en-US" sz="1400" dirty="0" smtClean="0"/>
              <a:t>相互以</a:t>
            </a:r>
            <a:r>
              <a:rPr lang="zh-CN" altLang="en-US" sz="1400" dirty="0"/>
              <a:t>万有引力吸引，称为</a:t>
            </a:r>
            <a:r>
              <a:rPr lang="zh-CN" altLang="en-US" sz="1400" dirty="0">
                <a:solidFill>
                  <a:srgbClr val="FF0000"/>
                </a:solidFill>
              </a:rPr>
              <a:t>二体系统</a:t>
            </a:r>
            <a:r>
              <a:rPr lang="zh-CN" altLang="en-US" sz="1400" dirty="0" smtClean="0"/>
              <a:t>。</a:t>
            </a:r>
            <a:r>
              <a:rPr lang="zh-CN" altLang="en-US" sz="1400" dirty="0"/>
              <a:t>假设航天器在地球的中心引力场中运动。</a:t>
            </a:r>
            <a:r>
              <a:rPr lang="zh-CN" altLang="en-US" sz="1400" dirty="0" smtClean="0"/>
              <a:t>忽略太阳</a:t>
            </a:r>
            <a:r>
              <a:rPr lang="zh-CN" altLang="en-US" sz="1400" dirty="0"/>
              <a:t>、月球的引力，不考虑其它干扰因素。在这种假设下，航天器相对地球的运动轨道</a:t>
            </a:r>
            <a:r>
              <a:rPr lang="zh-CN" altLang="en-US" sz="1400" dirty="0" smtClean="0"/>
              <a:t>称为</a:t>
            </a:r>
            <a:r>
              <a:rPr lang="zh-CN" altLang="en-US" sz="1400" dirty="0">
                <a:solidFill>
                  <a:srgbClr val="FF0000"/>
                </a:solidFill>
              </a:rPr>
              <a:t>二体轨道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endParaRPr lang="zh-CN" altLang="en-US" sz="1400" dirty="0"/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042367" y="4082316"/>
            <a:ext cx="2401961" cy="220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49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地球赤道</a:t>
            </a:r>
            <a:r>
              <a:rPr lang="zh-CN" altLang="en-US" sz="1600" dirty="0" smtClean="0"/>
              <a:t>惯性坐标系：</a:t>
            </a:r>
            <a:r>
              <a:rPr lang="en-US" altLang="zh-CN" sz="1600" dirty="0"/>
              <a:t> O</a:t>
            </a:r>
            <a:r>
              <a:rPr lang="zh-CN" altLang="en-US" sz="1600" dirty="0"/>
              <a:t>在地球中心，</a:t>
            </a:r>
            <a:r>
              <a:rPr lang="en-US" altLang="zh-CN" sz="1600" dirty="0"/>
              <a:t>X</a:t>
            </a:r>
            <a:r>
              <a:rPr lang="zh-CN" altLang="en-US" sz="1600" dirty="0"/>
              <a:t>轴沿地球赤道面与黄道面的交线，</a:t>
            </a:r>
            <a:r>
              <a:rPr lang="en-US" altLang="zh-CN" sz="1600" dirty="0"/>
              <a:t>Z</a:t>
            </a:r>
            <a:r>
              <a:rPr lang="zh-CN" altLang="en-US" sz="1600" dirty="0"/>
              <a:t>轴指向北极星。 </a:t>
            </a:r>
            <a:r>
              <a:rPr lang="en-US" altLang="zh-CN" sz="1600" dirty="0"/>
              <a:t> </a:t>
            </a:r>
            <a:r>
              <a:rPr lang="en-US" altLang="zh-CN" sz="1600" i="1" dirty="0" err="1">
                <a:solidFill>
                  <a:srgbClr val="FF0000"/>
                </a:solidFill>
              </a:rPr>
              <a:t>i</a:t>
            </a:r>
            <a:r>
              <a:rPr lang="en-US" altLang="zh-CN" sz="1600" i="1" dirty="0">
                <a:solidFill>
                  <a:srgbClr val="FF0000"/>
                </a:solidFill>
              </a:rPr>
              <a:t> </a:t>
            </a:r>
            <a:r>
              <a:rPr lang="zh-CN" altLang="en-US" sz="1600" dirty="0"/>
              <a:t>表示</a:t>
            </a:r>
            <a:r>
              <a:rPr lang="zh-CN" altLang="en-US" sz="1600" dirty="0">
                <a:solidFill>
                  <a:schemeClr val="accent2"/>
                </a:solidFill>
              </a:rPr>
              <a:t>轨道顷角，</a:t>
            </a:r>
            <a:r>
              <a:rPr lang="zh-CN" altLang="en-US" sz="1600" dirty="0"/>
              <a:t>动量矩</a:t>
            </a:r>
            <a:r>
              <a:rPr lang="en-US" altLang="zh-CN" sz="1600" dirty="0"/>
              <a:t>h</a:t>
            </a:r>
            <a:r>
              <a:rPr lang="zh-CN" altLang="en-US" sz="1600" dirty="0"/>
              <a:t>与</a:t>
            </a:r>
            <a:r>
              <a:rPr lang="en-US" altLang="zh-CN" sz="1600" dirty="0"/>
              <a:t>Z</a:t>
            </a:r>
            <a:r>
              <a:rPr lang="zh-CN" altLang="en-US" sz="1600" dirty="0"/>
              <a:t>轴的夹角 </a:t>
            </a:r>
            <a:r>
              <a:rPr lang="zh-CN" altLang="en-US" sz="1600" dirty="0" smtClean="0"/>
              <a:t>。</a:t>
            </a:r>
            <a:r>
              <a:rPr lang="en-US" altLang="zh-CN" sz="1600" dirty="0"/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ON</a:t>
            </a:r>
            <a:r>
              <a:rPr lang="en-US" altLang="zh-CN" sz="1600" dirty="0"/>
              <a:t> </a:t>
            </a:r>
            <a:r>
              <a:rPr lang="zh-CN" altLang="zh-CN" sz="1600" dirty="0"/>
              <a:t>表示</a:t>
            </a:r>
            <a:r>
              <a:rPr lang="zh-CN" altLang="en-US" sz="1600" dirty="0">
                <a:solidFill>
                  <a:schemeClr val="accent2"/>
                </a:solidFill>
              </a:rPr>
              <a:t>节线</a:t>
            </a:r>
            <a:r>
              <a:rPr lang="zh-CN" altLang="en-US" sz="1600" dirty="0"/>
              <a:t>，是轨道平面与地球赤道平面的交线</a:t>
            </a:r>
            <a:r>
              <a:rPr lang="zh-CN" altLang="en-US" sz="1600" dirty="0" smtClean="0"/>
              <a:t>。</a:t>
            </a:r>
            <a:r>
              <a:rPr lang="en-US" altLang="zh-CN" sz="1600" i="1" dirty="0">
                <a:solidFill>
                  <a:srgbClr val="FF0000"/>
                </a:solidFill>
                <a:latin typeface="宋体" panose="02010600030101010101" pitchFamily="2" charset="-122"/>
              </a:rPr>
              <a:t>Ω</a:t>
            </a:r>
            <a:r>
              <a:rPr lang="en-US" altLang="zh-CN" sz="1600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1600" dirty="0"/>
              <a:t>表示</a:t>
            </a:r>
            <a:r>
              <a:rPr lang="zh-CN" altLang="en-US" sz="1600" dirty="0">
                <a:solidFill>
                  <a:schemeClr val="accent2"/>
                </a:solidFill>
              </a:rPr>
              <a:t>升交点赤径</a:t>
            </a:r>
            <a:r>
              <a:rPr lang="zh-CN" altLang="en-US" sz="1600" dirty="0"/>
              <a:t>，节线</a:t>
            </a:r>
            <a:r>
              <a:rPr lang="en-US" altLang="zh-CN" sz="1600" dirty="0"/>
              <a:t>ON</a:t>
            </a:r>
            <a:r>
              <a:rPr lang="zh-CN" altLang="en-US" sz="1600" dirty="0"/>
              <a:t>与</a:t>
            </a:r>
            <a:r>
              <a:rPr lang="en-US" altLang="zh-CN" sz="1600" dirty="0"/>
              <a:t>X</a:t>
            </a:r>
            <a:r>
              <a:rPr lang="zh-CN" altLang="en-US" sz="1600" dirty="0"/>
              <a:t>轴的夹角</a:t>
            </a:r>
            <a:r>
              <a:rPr lang="zh-CN" altLang="en-US" sz="1600" dirty="0" smtClean="0"/>
              <a:t>。</a:t>
            </a:r>
            <a:r>
              <a:rPr lang="en-US" altLang="zh-CN" sz="1600" i="1" dirty="0">
                <a:solidFill>
                  <a:srgbClr val="FF0000"/>
                </a:solidFill>
                <a:latin typeface="宋体" panose="02010600030101010101" pitchFamily="2" charset="-122"/>
              </a:rPr>
              <a:t>ω </a:t>
            </a:r>
            <a:r>
              <a:rPr lang="zh-CN" altLang="en-US" sz="1600" dirty="0"/>
              <a:t>表示</a:t>
            </a:r>
            <a:r>
              <a:rPr lang="zh-CN" altLang="en-US" sz="1600" dirty="0">
                <a:solidFill>
                  <a:schemeClr val="accent2"/>
                </a:solidFill>
              </a:rPr>
              <a:t>近地点幅角</a:t>
            </a:r>
            <a:r>
              <a:rPr lang="zh-CN" altLang="en-US" sz="1600" dirty="0"/>
              <a:t>，节线</a:t>
            </a:r>
            <a:r>
              <a:rPr lang="en-US" altLang="zh-CN" sz="1600" dirty="0"/>
              <a:t>ON</a:t>
            </a:r>
            <a:r>
              <a:rPr lang="zh-CN" altLang="en-US" sz="1600" dirty="0"/>
              <a:t>与 </a:t>
            </a:r>
            <a:r>
              <a:rPr lang="en-US" altLang="zh-CN" sz="1600" i="1" dirty="0"/>
              <a:t>e </a:t>
            </a:r>
            <a:r>
              <a:rPr lang="zh-CN" altLang="en-US" sz="1600" dirty="0"/>
              <a:t>的夹角</a:t>
            </a:r>
            <a:r>
              <a:rPr lang="zh-CN" altLang="en-US" sz="1600" dirty="0" smtClean="0"/>
              <a:t>。</a:t>
            </a:r>
            <a:r>
              <a:rPr lang="zh-CN" altLang="en-US" sz="1600" dirty="0" smtClean="0">
                <a:effectLst/>
              </a:rPr>
              <a:t>轨道</a:t>
            </a:r>
            <a:r>
              <a:rPr lang="zh-CN" altLang="en-US" sz="1600" dirty="0" smtClean="0">
                <a:effectLst/>
              </a:rPr>
              <a:t>顷角</a:t>
            </a:r>
            <a:r>
              <a:rPr lang="zh-CN" altLang="en-US" sz="1600" b="1" dirty="0" smtClean="0">
                <a:effectLst/>
              </a:rPr>
              <a:t> </a:t>
            </a:r>
            <a:r>
              <a:rPr lang="en-US" altLang="zh-CN" sz="1600" b="1" i="1" dirty="0" err="1" smtClean="0">
                <a:solidFill>
                  <a:srgbClr val="FF0000"/>
                </a:solidFill>
                <a:effectLst/>
              </a:rPr>
              <a:t>i</a:t>
            </a:r>
            <a:r>
              <a:rPr lang="en-US" altLang="zh-CN" sz="1600" b="1" dirty="0" smtClean="0">
                <a:solidFill>
                  <a:srgbClr val="FF0000"/>
                </a:solidFill>
                <a:effectLst/>
              </a:rPr>
              <a:t> </a:t>
            </a:r>
            <a:r>
              <a:rPr lang="zh-CN" altLang="en-US" sz="1600" dirty="0" smtClean="0">
                <a:solidFill>
                  <a:srgbClr val="000000"/>
                </a:solidFill>
                <a:effectLst/>
              </a:rPr>
              <a:t>和</a:t>
            </a:r>
            <a:r>
              <a:rPr lang="zh-CN" altLang="en-US" sz="1600" dirty="0" smtClean="0">
                <a:effectLst/>
              </a:rPr>
              <a:t>升交点赤径</a:t>
            </a:r>
            <a:r>
              <a:rPr lang="en-US" altLang="zh-CN" sz="1600" b="1" i="1" dirty="0" smtClean="0">
                <a:solidFill>
                  <a:srgbClr val="FF0000"/>
                </a:solidFill>
                <a:effectLst/>
                <a:latin typeface="宋体" panose="02010600030101010101" pitchFamily="2" charset="-122"/>
              </a:rPr>
              <a:t>Ω </a:t>
            </a:r>
            <a:r>
              <a:rPr lang="zh-CN" altLang="en-US" sz="1600" dirty="0" smtClean="0">
                <a:effectLst/>
              </a:rPr>
              <a:t>表示了轨道平面在空间中的方位</a:t>
            </a:r>
            <a:r>
              <a:rPr lang="zh-CN" altLang="en-US" sz="1600" dirty="0" smtClean="0">
                <a:effectLst/>
              </a:rPr>
              <a:t>；近地点</a:t>
            </a:r>
            <a:r>
              <a:rPr lang="zh-CN" altLang="en-US" sz="1600" dirty="0" smtClean="0">
                <a:effectLst/>
              </a:rPr>
              <a:t>幅角</a:t>
            </a:r>
            <a:r>
              <a:rPr lang="en-US" altLang="zh-CN" sz="1600" b="1" i="1" dirty="0" smtClean="0">
                <a:solidFill>
                  <a:srgbClr val="FF0000"/>
                </a:solidFill>
                <a:effectLst/>
                <a:latin typeface="宋体" panose="02010600030101010101" pitchFamily="2" charset="-122"/>
              </a:rPr>
              <a:t>ω</a:t>
            </a:r>
            <a:r>
              <a:rPr lang="zh-CN" altLang="en-US" sz="1600" dirty="0" smtClean="0">
                <a:effectLst/>
              </a:rPr>
              <a:t>表示了轨道的长轴方向</a:t>
            </a:r>
            <a:r>
              <a:rPr lang="zh-CN" altLang="en-US" sz="1600" dirty="0" smtClean="0">
                <a:effectLst/>
              </a:rPr>
              <a:t>；半</a:t>
            </a:r>
            <a:r>
              <a:rPr lang="zh-CN" altLang="en-US" sz="1600" dirty="0" smtClean="0">
                <a:effectLst/>
              </a:rPr>
              <a:t>通经 </a:t>
            </a:r>
            <a:r>
              <a:rPr lang="en-US" altLang="zh-CN" sz="1600" b="1" i="1" dirty="0" smtClean="0">
                <a:solidFill>
                  <a:srgbClr val="FF0000"/>
                </a:solidFill>
                <a:effectLst/>
              </a:rPr>
              <a:t>p</a:t>
            </a:r>
            <a:r>
              <a:rPr lang="en-US" altLang="zh-CN" sz="1600" b="1" dirty="0" smtClean="0">
                <a:solidFill>
                  <a:srgbClr val="FF0000"/>
                </a:solidFill>
                <a:effectLst/>
              </a:rPr>
              <a:t> </a:t>
            </a:r>
            <a:r>
              <a:rPr lang="zh-CN" altLang="en-US" sz="1600" dirty="0" smtClean="0">
                <a:effectLst/>
              </a:rPr>
              <a:t>和偏心率 </a:t>
            </a:r>
            <a:r>
              <a:rPr lang="en-US" altLang="zh-CN" sz="1600" b="1" i="1" dirty="0" smtClean="0">
                <a:solidFill>
                  <a:srgbClr val="FF0000"/>
                </a:solidFill>
                <a:effectLst/>
              </a:rPr>
              <a:t>e</a:t>
            </a:r>
            <a:r>
              <a:rPr lang="en-US" altLang="zh-CN" sz="1600" dirty="0" smtClean="0">
                <a:solidFill>
                  <a:srgbClr val="FF0000"/>
                </a:solidFill>
                <a:effectLst/>
              </a:rPr>
              <a:t> </a:t>
            </a:r>
            <a:r>
              <a:rPr lang="zh-CN" altLang="en-US" sz="1600" dirty="0" smtClean="0">
                <a:effectLst/>
              </a:rPr>
              <a:t>表示了椭圆轨道的大小及形状</a:t>
            </a:r>
            <a:r>
              <a:rPr lang="zh-CN" altLang="en-US" sz="1600" dirty="0" smtClean="0">
                <a:effectLst/>
              </a:rPr>
              <a:t>；过</a:t>
            </a:r>
            <a:r>
              <a:rPr lang="zh-CN" altLang="en-US" sz="1600" dirty="0" smtClean="0">
                <a:effectLst/>
              </a:rPr>
              <a:t>近地点时刻</a:t>
            </a:r>
            <a:r>
              <a:rPr lang="en-US" altLang="zh-CN" sz="1600" b="1" i="1" dirty="0" smtClean="0">
                <a:solidFill>
                  <a:srgbClr val="FF0000"/>
                </a:solidFill>
                <a:effectLst/>
                <a:latin typeface="宋体" panose="02010600030101010101" pitchFamily="2" charset="-122"/>
              </a:rPr>
              <a:t>τ</a:t>
            </a:r>
            <a:r>
              <a:rPr lang="en-US" altLang="zh-CN" sz="1600" i="1" dirty="0" smtClean="0">
                <a:solidFill>
                  <a:srgbClr val="FF0000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1600" dirty="0" smtClean="0">
                <a:effectLst/>
              </a:rPr>
              <a:t>表示了航天器在轨道中的相对位置。</a:t>
            </a:r>
          </a:p>
          <a:p>
            <a:endParaRPr lang="zh-CN" altLang="en-US" sz="1600" dirty="0">
              <a:effectLst/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357885"/>
              </p:ext>
            </p:extLst>
          </p:nvPr>
        </p:nvGraphicFramePr>
        <p:xfrm>
          <a:off x="4775820" y="2109918"/>
          <a:ext cx="1680461" cy="584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" name="Equation" r:id="rId3" imgW="1193800" imgH="419100" progId="Equation.DSMT4">
                  <p:embed/>
                </p:oleObj>
              </mc:Choice>
              <mc:Fallback>
                <p:oleObj name="Equation" r:id="rId3" imgW="11938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820" y="2109918"/>
                        <a:ext cx="1680461" cy="584633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454719"/>
              </p:ext>
            </p:extLst>
          </p:nvPr>
        </p:nvGraphicFramePr>
        <p:xfrm>
          <a:off x="4862391" y="1330494"/>
          <a:ext cx="1530497" cy="584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2" name="Equation" r:id="rId5" imgW="888614" imgH="444307" progId="Equation.DSMT4">
                  <p:embed/>
                </p:oleObj>
              </mc:Choice>
              <mc:Fallback>
                <p:oleObj name="Equation" r:id="rId5" imgW="888614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391" y="1330494"/>
                        <a:ext cx="1530497" cy="584633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4" y="1182984"/>
            <a:ext cx="2751112" cy="217486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21802" y="1352956"/>
            <a:ext cx="45747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/>
              <a:t> </a:t>
            </a:r>
            <a:r>
              <a:rPr lang="en-US" altLang="zh-CN" sz="1600" i="1" dirty="0" smtClean="0"/>
              <a:t>f </a:t>
            </a:r>
            <a:r>
              <a:rPr lang="zh-CN" altLang="en-US" sz="1600" dirty="0" smtClean="0"/>
              <a:t>是</a:t>
            </a:r>
            <a:r>
              <a:rPr lang="zh-CN" altLang="en-US" sz="1600" dirty="0" smtClean="0">
                <a:solidFill>
                  <a:srgbClr val="FF0000"/>
                </a:solidFill>
              </a:rPr>
              <a:t>真近点角：</a:t>
            </a:r>
            <a:r>
              <a:rPr lang="zh-CN" altLang="en-US" sz="1600" dirty="0" smtClean="0"/>
              <a:t>航天器相对于椭圆长轴的极角</a:t>
            </a:r>
            <a:r>
              <a:rPr lang="zh-CN" altLang="en-US" sz="1600" dirty="0"/>
              <a:t>。真近点角 </a:t>
            </a:r>
            <a:r>
              <a:rPr lang="en-US" altLang="zh-CN" sz="1600" dirty="0"/>
              <a:t>f </a:t>
            </a:r>
            <a:r>
              <a:rPr lang="zh-CN" altLang="en-US" sz="1600" dirty="0"/>
              <a:t>的变化就是航天器的</a:t>
            </a:r>
            <a:r>
              <a:rPr lang="zh-CN" altLang="en-US" sz="1600" dirty="0" smtClean="0"/>
              <a:t>轨道角速度。</a:t>
            </a:r>
            <a:endParaRPr lang="zh-CN" altLang="en-US" sz="1600" dirty="0"/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603981"/>
              </p:ext>
            </p:extLst>
          </p:nvPr>
        </p:nvGraphicFramePr>
        <p:xfrm>
          <a:off x="32467" y="2552437"/>
          <a:ext cx="1147926" cy="7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" name="Equation" r:id="rId8" imgW="736600" imgH="482600" progId="Equation.DSMT4">
                  <p:embed/>
                </p:oleObj>
              </mc:Choice>
              <mc:Fallback>
                <p:oleObj name="Equation" r:id="rId8" imgW="7366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7" y="2552437"/>
                        <a:ext cx="1147926" cy="7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415563"/>
              </p:ext>
            </p:extLst>
          </p:nvPr>
        </p:nvGraphicFramePr>
        <p:xfrm>
          <a:off x="32467" y="1928954"/>
          <a:ext cx="1419840" cy="60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" name="Equation" r:id="rId10" imgW="914400" imgH="393700" progId="Equation.DSMT4">
                  <p:embed/>
                </p:oleObj>
              </mc:Choice>
              <mc:Fallback>
                <p:oleObj name="Equation" r:id="rId10" imgW="9144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7" y="1928954"/>
                        <a:ext cx="1419840" cy="60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205566"/>
              </p:ext>
            </p:extLst>
          </p:nvPr>
        </p:nvGraphicFramePr>
        <p:xfrm>
          <a:off x="1560235" y="1942642"/>
          <a:ext cx="660614" cy="618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5" name="Equation" r:id="rId12" imgW="469696" imgH="444307" progId="Equation.DSMT4">
                  <p:embed/>
                </p:oleObj>
              </mc:Choice>
              <mc:Fallback>
                <p:oleObj name="Equation" r:id="rId12" imgW="469696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0235" y="1942642"/>
                        <a:ext cx="660614" cy="618179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687385"/>
              </p:ext>
            </p:extLst>
          </p:nvPr>
        </p:nvGraphicFramePr>
        <p:xfrm>
          <a:off x="2687232" y="1915943"/>
          <a:ext cx="1363698" cy="703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" name="Equation" r:id="rId14" imgW="850531" imgH="444307" progId="Equation.DSMT4">
                  <p:embed/>
                </p:oleObj>
              </mc:Choice>
              <mc:Fallback>
                <p:oleObj name="Equation" r:id="rId14" imgW="850531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232" y="1915943"/>
                        <a:ext cx="1363698" cy="703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AutoShape 11"/>
          <p:cNvSpPr>
            <a:spLocks noChangeArrowheads="1"/>
          </p:cNvSpPr>
          <p:nvPr/>
        </p:nvSpPr>
        <p:spPr bwMode="auto">
          <a:xfrm>
            <a:off x="2331037" y="2069719"/>
            <a:ext cx="304800" cy="230699"/>
          </a:xfrm>
          <a:prstGeom prst="righ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8858305"/>
              </p:ext>
            </p:extLst>
          </p:nvPr>
        </p:nvGraphicFramePr>
        <p:xfrm>
          <a:off x="2747814" y="2616564"/>
          <a:ext cx="1892786" cy="720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" name="Equation" r:id="rId16" imgW="1155199" imgH="444307" progId="Equation.DSMT4">
                  <p:embed/>
                </p:oleObj>
              </mc:Choice>
              <mc:Fallback>
                <p:oleObj name="Equation" r:id="rId16" imgW="1155199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814" y="2616564"/>
                        <a:ext cx="1892786" cy="7203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1183378" y="2807474"/>
            <a:ext cx="214838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0" dirty="0" smtClean="0"/>
              <a:t>平均</a:t>
            </a:r>
            <a:r>
              <a:rPr lang="zh-CN" altLang="en-US" sz="1600" b="0" dirty="0"/>
              <a:t>角速度 </a:t>
            </a:r>
            <a:r>
              <a:rPr lang="en-US" altLang="zh-CN" sz="1600" b="0" i="1" dirty="0" smtClean="0"/>
              <a:t>n</a:t>
            </a:r>
            <a:r>
              <a:rPr lang="zh-CN" altLang="en-US" sz="1600" b="0" dirty="0" smtClean="0"/>
              <a:t>为</a:t>
            </a:r>
            <a:r>
              <a:rPr lang="zh-CN" altLang="en-US" sz="1600" b="0" dirty="0"/>
              <a:t>：</a:t>
            </a:r>
          </a:p>
        </p:txBody>
      </p:sp>
      <p:sp>
        <p:nvSpPr>
          <p:cNvPr id="20" name="矩形 19"/>
          <p:cNvSpPr/>
          <p:nvPr/>
        </p:nvSpPr>
        <p:spPr>
          <a:xfrm>
            <a:off x="0" y="3357094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平近点角</a:t>
            </a:r>
            <a:r>
              <a:rPr lang="en-US" altLang="zh-CN" sz="1600" i="1" dirty="0" smtClean="0"/>
              <a:t>M</a:t>
            </a:r>
            <a:r>
              <a:rPr lang="en-US" altLang="zh-CN" sz="1600" dirty="0" smtClean="0">
                <a:latin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</a:rPr>
              <a:t>：航天器从近地点开始按平均角速度 </a:t>
            </a:r>
            <a:r>
              <a:rPr lang="en-US" altLang="zh-CN" sz="1600" i="1" dirty="0" smtClean="0"/>
              <a:t>n </a:t>
            </a:r>
            <a:r>
              <a:rPr lang="zh-CN" altLang="en-US" sz="1600" dirty="0" smtClean="0">
                <a:latin typeface="宋体" panose="02010600030101010101" pitchFamily="2" charset="-122"/>
              </a:rPr>
              <a:t>转过的角度。</a:t>
            </a:r>
            <a:endParaRPr lang="zh-CN" altLang="en-US" sz="1600" dirty="0"/>
          </a:p>
        </p:txBody>
      </p:sp>
      <p:graphicFrame>
        <p:nvGraphicFramePr>
          <p:cNvPr id="21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961381"/>
              </p:ext>
            </p:extLst>
          </p:nvPr>
        </p:nvGraphicFramePr>
        <p:xfrm>
          <a:off x="32468" y="4016155"/>
          <a:ext cx="2603369" cy="645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8" name="Equation" r:id="rId18" imgW="1586811" imgH="444307" progId="Equation.DSMT4">
                  <p:embed/>
                </p:oleObj>
              </mc:Choice>
              <mc:Fallback>
                <p:oleObj name="Equation" r:id="rId18" imgW="1586811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8" y="4016155"/>
                        <a:ext cx="2603369" cy="64501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6"/>
          <p:cNvSpPr>
            <a:spLocks noChangeArrowheads="1"/>
          </p:cNvSpPr>
          <p:nvPr/>
        </p:nvSpPr>
        <p:spPr bwMode="auto">
          <a:xfrm>
            <a:off x="-43502" y="4808201"/>
            <a:ext cx="468410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0" dirty="0">
                <a:solidFill>
                  <a:srgbClr val="FF0000"/>
                </a:solidFill>
                <a:latin typeface="宋体" panose="02010600030101010101" pitchFamily="2" charset="-122"/>
              </a:rPr>
              <a:t>偏近点角</a:t>
            </a:r>
            <a:r>
              <a:rPr lang="zh-CN" altLang="en-US" sz="1600" b="0" dirty="0"/>
              <a:t> </a:t>
            </a:r>
            <a:r>
              <a:rPr lang="en-US" altLang="zh-CN" sz="1600" b="0" i="1" dirty="0"/>
              <a:t>E</a:t>
            </a:r>
            <a:r>
              <a:rPr lang="en-US" altLang="zh-CN" sz="1600" b="0" dirty="0"/>
              <a:t> </a:t>
            </a:r>
            <a:r>
              <a:rPr lang="zh-CN" altLang="en-US" sz="1600" b="0" dirty="0"/>
              <a:t>：椭圆轨道存在内、外接圆，航天器</a:t>
            </a:r>
            <a:r>
              <a:rPr lang="zh-CN" altLang="en-US" sz="1600" b="0" dirty="0" smtClean="0"/>
              <a:t>在</a:t>
            </a:r>
            <a:endParaRPr lang="en-US" altLang="zh-CN" sz="1600" b="0" dirty="0" smtClean="0"/>
          </a:p>
          <a:p>
            <a:pPr eaLnBrk="1" hangingPunct="1"/>
            <a:r>
              <a:rPr lang="zh-CN" altLang="en-US" sz="1600" b="0" dirty="0" smtClean="0"/>
              <a:t>内</a:t>
            </a:r>
            <a:r>
              <a:rPr lang="zh-CN" altLang="en-US" sz="1600" b="0" dirty="0"/>
              <a:t>、外接圆上的投影点与椭圆中心对应的夹角</a:t>
            </a:r>
            <a:r>
              <a:rPr lang="zh-CN" altLang="en-US" sz="1600" b="0" dirty="0" smtClean="0"/>
              <a:t>。</a:t>
            </a:r>
            <a:endParaRPr lang="zh-CN" altLang="en-US" sz="1600" b="0" dirty="0"/>
          </a:p>
        </p:txBody>
      </p:sp>
      <p:graphicFrame>
        <p:nvGraphicFramePr>
          <p:cNvPr id="2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500326"/>
              </p:ext>
            </p:extLst>
          </p:nvPr>
        </p:nvGraphicFramePr>
        <p:xfrm>
          <a:off x="95479" y="5459083"/>
          <a:ext cx="1828571" cy="330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9" r:id="rId20" imgW="1002865" imgH="177723" progId="Equation.DSMT4">
                  <p:embed/>
                </p:oleObj>
              </mc:Choice>
              <mc:Fallback>
                <p:oleObj r:id="rId20" imgW="1002865" imgH="1777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79" y="5459083"/>
                        <a:ext cx="1828571" cy="33095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523057"/>
              </p:ext>
            </p:extLst>
          </p:nvPr>
        </p:nvGraphicFramePr>
        <p:xfrm>
          <a:off x="96433" y="6000639"/>
          <a:ext cx="1827618" cy="609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0" r:id="rId22" imgW="1167893" imgH="393529" progId="Equation.DSMT4">
                  <p:embed/>
                </p:oleObj>
              </mc:Choice>
              <mc:Fallback>
                <p:oleObj r:id="rId22" imgW="1167893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433" y="6000639"/>
                        <a:ext cx="1827618" cy="609206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256389"/>
              </p:ext>
            </p:extLst>
          </p:nvPr>
        </p:nvGraphicFramePr>
        <p:xfrm>
          <a:off x="2796015" y="3995009"/>
          <a:ext cx="1433085" cy="666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1" name="Equation" r:id="rId24" imgW="965200" imgH="444500" progId="Equation.DSMT4">
                  <p:embed/>
                </p:oleObj>
              </mc:Choice>
              <mc:Fallback>
                <p:oleObj name="Equation" r:id="rId24" imgW="9652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6015" y="3995009"/>
                        <a:ext cx="1433085" cy="66615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99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221366"/>
              </p:ext>
            </p:extLst>
          </p:nvPr>
        </p:nvGraphicFramePr>
        <p:xfrm>
          <a:off x="4831517" y="3326022"/>
          <a:ext cx="2445583" cy="493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2" name="Equation" r:id="rId26" imgW="1371600" imgH="279400" progId="Equation.DSMT4">
                  <p:embed/>
                </p:oleObj>
              </mc:Choice>
              <mc:Fallback>
                <p:oleObj name="Equation" r:id="rId26" imgW="13716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1517" y="3326022"/>
                        <a:ext cx="2445583" cy="49327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99FF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745417"/>
              </p:ext>
            </p:extLst>
          </p:nvPr>
        </p:nvGraphicFramePr>
        <p:xfrm>
          <a:off x="4852021" y="3846619"/>
          <a:ext cx="3263280" cy="766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3" name="Equation" r:id="rId28" imgW="1981200" imgH="469900" progId="Equation.DSMT4">
                  <p:embed/>
                </p:oleObj>
              </mc:Choice>
              <mc:Fallback>
                <p:oleObj name="Equation" r:id="rId28" imgW="19812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2021" y="3846619"/>
                        <a:ext cx="3263280" cy="76663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99FF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624330"/>
              </p:ext>
            </p:extLst>
          </p:nvPr>
        </p:nvGraphicFramePr>
        <p:xfrm>
          <a:off x="4869799" y="4602372"/>
          <a:ext cx="2769251" cy="818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4" name="Equation" r:id="rId30" imgW="1574800" imgH="469900" progId="Equation.DSMT4">
                  <p:embed/>
                </p:oleObj>
              </mc:Choice>
              <mc:Fallback>
                <p:oleObj name="Equation" r:id="rId30" imgW="15748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9799" y="4602372"/>
                        <a:ext cx="2769251" cy="818819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99FF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矩形 29"/>
          <p:cNvSpPr/>
          <p:nvPr/>
        </p:nvSpPr>
        <p:spPr>
          <a:xfrm>
            <a:off x="4703019" y="5571359"/>
            <a:ext cx="425048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宋体" panose="02010600030101010101" pitchFamily="2" charset="-122"/>
              </a:rPr>
              <a:t>迭代法：</a:t>
            </a:r>
            <a:r>
              <a:rPr lang="zh-CN" altLang="en-US" sz="1600" dirty="0">
                <a:latin typeface="宋体" panose="02010600030101010101" pitchFamily="2" charset="-122"/>
              </a:rPr>
              <a:t>令</a:t>
            </a:r>
            <a:r>
              <a:rPr lang="en-US" altLang="zh-CN" sz="1600" dirty="0">
                <a:latin typeface="宋体" panose="02010600030101010101" pitchFamily="2" charset="-122"/>
              </a:rPr>
              <a:t>E(1)=M</a:t>
            </a:r>
            <a:r>
              <a:rPr lang="zh-CN" altLang="en-US" sz="1600" dirty="0">
                <a:latin typeface="宋体" panose="02010600030101010101" pitchFamily="2" charset="-122"/>
              </a:rPr>
              <a:t>，代入方程右边得</a:t>
            </a:r>
            <a:r>
              <a:rPr lang="en-US" altLang="zh-CN" sz="1600" dirty="0">
                <a:latin typeface="宋体" panose="02010600030101010101" pitchFamily="2" charset="-122"/>
              </a:rPr>
              <a:t>E(2);</a:t>
            </a:r>
            <a:r>
              <a:rPr lang="zh-CN" altLang="en-US" sz="1600" dirty="0">
                <a:latin typeface="宋体" panose="02010600030101010101" pitchFamily="2" charset="-122"/>
              </a:rPr>
              <a:t>再把 </a:t>
            </a:r>
            <a:r>
              <a:rPr lang="en-US" altLang="zh-CN" sz="1600" dirty="0">
                <a:latin typeface="宋体" panose="02010600030101010101" pitchFamily="2" charset="-122"/>
              </a:rPr>
              <a:t>E(2)</a:t>
            </a:r>
            <a:r>
              <a:rPr lang="zh-CN" altLang="en-US" sz="1600" dirty="0">
                <a:latin typeface="宋体" panose="02010600030101010101" pitchFamily="2" charset="-122"/>
              </a:rPr>
              <a:t>代入得</a:t>
            </a:r>
            <a:r>
              <a:rPr lang="en-US" altLang="zh-CN" sz="1600" dirty="0">
                <a:latin typeface="宋体" panose="02010600030101010101" pitchFamily="2" charset="-122"/>
              </a:rPr>
              <a:t>E(3)</a:t>
            </a:r>
            <a:r>
              <a:rPr lang="zh-CN" altLang="en-US" sz="1600" dirty="0">
                <a:latin typeface="宋体" panose="02010600030101010101" pitchFamily="2" charset="-122"/>
              </a:rPr>
              <a:t>，</a:t>
            </a:r>
            <a:r>
              <a:rPr lang="en-US" altLang="zh-CN" sz="1600" dirty="0">
                <a:latin typeface="宋体" panose="02010600030101010101" pitchFamily="2" charset="-122"/>
              </a:rPr>
              <a:t>…</a:t>
            </a:r>
            <a:r>
              <a:rPr lang="zh-CN" altLang="en-US" sz="1600" dirty="0">
                <a:latin typeface="宋体" panose="02010600030101010101" pitchFamily="2" charset="-122"/>
              </a:rPr>
              <a:t>，直到</a:t>
            </a:r>
            <a:r>
              <a:rPr lang="en-US" altLang="zh-CN" sz="1600" dirty="0">
                <a:latin typeface="宋体" panose="02010600030101010101" pitchFamily="2" charset="-122"/>
              </a:rPr>
              <a:t>E(n)</a:t>
            </a:r>
            <a:r>
              <a:rPr lang="zh-CN" altLang="en-US" sz="1600" dirty="0">
                <a:latin typeface="宋体" panose="02010600030101010101" pitchFamily="2" charset="-122"/>
              </a:rPr>
              <a:t>与</a:t>
            </a:r>
            <a:r>
              <a:rPr lang="en-US" altLang="zh-CN" sz="1600" dirty="0">
                <a:latin typeface="宋体" panose="02010600030101010101" pitchFamily="2" charset="-122"/>
              </a:rPr>
              <a:t>E(n-1) </a:t>
            </a:r>
            <a:r>
              <a:rPr lang="zh-CN" altLang="en-US" sz="1600" dirty="0">
                <a:latin typeface="宋体" panose="02010600030101010101" pitchFamily="2" charset="-122"/>
              </a:rPr>
              <a:t>之差小于给定误差。</a:t>
            </a:r>
          </a:p>
          <a:p>
            <a:endParaRPr lang="zh-CN" altLang="en-US" sz="1600" dirty="0"/>
          </a:p>
        </p:txBody>
      </p:sp>
      <p:graphicFrame>
        <p:nvGraphicFramePr>
          <p:cNvPr id="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785551"/>
              </p:ext>
            </p:extLst>
          </p:nvPr>
        </p:nvGraphicFramePr>
        <p:xfrm>
          <a:off x="2517622" y="5714594"/>
          <a:ext cx="1880597" cy="344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5" name="Equation" r:id="rId32" imgW="990360" imgH="177480" progId="Equation.DSMT4">
                  <p:embed/>
                </p:oleObj>
              </mc:Choice>
              <mc:Fallback>
                <p:oleObj name="Equation" r:id="rId32" imgW="9903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622" y="5714594"/>
                        <a:ext cx="1880597" cy="34463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866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utoUpdateAnimBg="0"/>
      <p:bldP spid="2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5517" y="33486"/>
            <a:ext cx="3290861" cy="63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600" dirty="0" smtClean="0">
                <a:solidFill>
                  <a:schemeClr val="accent2"/>
                </a:solidFill>
              </a:rPr>
              <a:t>定轨问题</a:t>
            </a:r>
            <a:r>
              <a:rPr lang="zh-CN" altLang="en-US" sz="1600" dirty="0" smtClean="0"/>
              <a:t>：由已知时刻</a:t>
            </a:r>
            <a:r>
              <a:rPr lang="en-US" altLang="zh-CN" sz="1600" dirty="0" smtClean="0"/>
              <a:t>(</a:t>
            </a:r>
            <a:r>
              <a:rPr lang="en-US" altLang="zh-CN" sz="1600" i="1" dirty="0" smtClean="0"/>
              <a:t>t</a:t>
            </a:r>
            <a:r>
              <a:rPr lang="en-US" altLang="zh-CN" sz="1600" dirty="0" smtClean="0"/>
              <a:t>)</a:t>
            </a:r>
            <a:r>
              <a:rPr lang="zh-CN" altLang="en-US" sz="1600" dirty="0" smtClean="0"/>
              <a:t>航天器的位置 </a:t>
            </a:r>
            <a:r>
              <a:rPr lang="en-US" altLang="zh-CN" sz="1600" i="1" dirty="0" smtClean="0"/>
              <a:t>r </a:t>
            </a:r>
            <a:r>
              <a:rPr lang="zh-CN" altLang="en-US" sz="1600" dirty="0" smtClean="0"/>
              <a:t>和速度 </a:t>
            </a:r>
            <a:r>
              <a:rPr lang="en-US" altLang="zh-CN" sz="1600" i="1" dirty="0" smtClean="0"/>
              <a:t>v </a:t>
            </a:r>
            <a:r>
              <a:rPr lang="zh-CN" altLang="en-US" sz="1600" dirty="0" smtClean="0"/>
              <a:t>来确定其轨道要素。 </a:t>
            </a:r>
            <a:endParaRPr lang="zh-CN" altLang="en-US" sz="16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213" y="4251465"/>
            <a:ext cx="2929354" cy="2686739"/>
          </a:xfrm>
          <a:prstGeom prst="rect">
            <a:avLst/>
          </a:prstGeom>
        </p:spPr>
      </p:pic>
      <p:graphicFrame>
        <p:nvGraphicFramePr>
          <p:cNvPr id="9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977950"/>
              </p:ext>
            </p:extLst>
          </p:nvPr>
        </p:nvGraphicFramePr>
        <p:xfrm>
          <a:off x="126167" y="1765091"/>
          <a:ext cx="1259382" cy="337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3" name="Equation" r:id="rId4" imgW="1040948" imgH="279279" progId="Equation.DSMT4">
                  <p:embed/>
                </p:oleObj>
              </mc:Choice>
              <mc:Fallback>
                <p:oleObj name="Equation" r:id="rId4" imgW="1040948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67" y="1765091"/>
                        <a:ext cx="1259382" cy="3373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883388"/>
              </p:ext>
            </p:extLst>
          </p:nvPr>
        </p:nvGraphicFramePr>
        <p:xfrm>
          <a:off x="75654" y="2054410"/>
          <a:ext cx="2109006" cy="756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4" name="Equation" r:id="rId6" imgW="1168400" imgH="419100" progId="Equation.DSMT4">
                  <p:embed/>
                </p:oleObj>
              </mc:Choice>
              <mc:Fallback>
                <p:oleObj name="Equation" r:id="rId6" imgW="1168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54" y="2054410"/>
                        <a:ext cx="2109006" cy="7563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610108"/>
              </p:ext>
            </p:extLst>
          </p:nvPr>
        </p:nvGraphicFramePr>
        <p:xfrm>
          <a:off x="128695" y="2827450"/>
          <a:ext cx="1905567" cy="677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" name="公式" r:id="rId8" imgW="2032000" imgH="723900" progId="Equation.3">
                  <p:embed/>
                </p:oleObj>
              </mc:Choice>
              <mc:Fallback>
                <p:oleObj name="公式" r:id="rId8" imgW="2032000" imgH="723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695" y="2827450"/>
                        <a:ext cx="1905567" cy="677369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113180"/>
              </p:ext>
            </p:extLst>
          </p:nvPr>
        </p:nvGraphicFramePr>
        <p:xfrm>
          <a:off x="126167" y="3593219"/>
          <a:ext cx="1891488" cy="31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6" name="Equation" r:id="rId10" imgW="2324100" imgH="381000" progId="Equation.DSMT4">
                  <p:embed/>
                </p:oleObj>
              </mc:Choice>
              <mc:Fallback>
                <p:oleObj name="Equation" r:id="rId10" imgW="23241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67" y="3593219"/>
                        <a:ext cx="1891488" cy="31008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3756015"/>
              </p:ext>
            </p:extLst>
          </p:nvPr>
        </p:nvGraphicFramePr>
        <p:xfrm>
          <a:off x="75654" y="4073531"/>
          <a:ext cx="2297164" cy="344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7" name="公式" r:id="rId12" imgW="2616200" imgH="393700" progId="Equation.3">
                  <p:embed/>
                </p:oleObj>
              </mc:Choice>
              <mc:Fallback>
                <p:oleObj name="公式" r:id="rId12" imgW="2616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54" y="4073531"/>
                        <a:ext cx="2297164" cy="3442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770434"/>
              </p:ext>
            </p:extLst>
          </p:nvPr>
        </p:nvGraphicFramePr>
        <p:xfrm>
          <a:off x="75654" y="4425217"/>
          <a:ext cx="12065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8" name="公式" r:id="rId14" imgW="1205977" imgH="406224" progId="Equation.3">
                  <p:embed/>
                </p:oleObj>
              </mc:Choice>
              <mc:Fallback>
                <p:oleObj name="公式" r:id="rId14" imgW="120597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54" y="4425217"/>
                        <a:ext cx="12065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824025"/>
              </p:ext>
            </p:extLst>
          </p:nvPr>
        </p:nvGraphicFramePr>
        <p:xfrm>
          <a:off x="126167" y="4939745"/>
          <a:ext cx="955312" cy="624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" name="公式" r:id="rId16" imgW="1104900" imgH="723900" progId="Equation.3">
                  <p:embed/>
                </p:oleObj>
              </mc:Choice>
              <mc:Fallback>
                <p:oleObj name="公式" r:id="rId16" imgW="1104900" imgH="723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67" y="4939745"/>
                        <a:ext cx="955312" cy="62452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9361629"/>
              </p:ext>
            </p:extLst>
          </p:nvPr>
        </p:nvGraphicFramePr>
        <p:xfrm>
          <a:off x="1154099" y="4939745"/>
          <a:ext cx="1051279" cy="624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0" name="公式" r:id="rId18" imgW="1282700" imgH="762000" progId="Equation.3">
                  <p:embed/>
                </p:oleObj>
              </mc:Choice>
              <mc:Fallback>
                <p:oleObj name="公式" r:id="rId18" imgW="12827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099" y="4939745"/>
                        <a:ext cx="1051279" cy="62452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8228303"/>
              </p:ext>
            </p:extLst>
          </p:nvPr>
        </p:nvGraphicFramePr>
        <p:xfrm>
          <a:off x="126167" y="5608759"/>
          <a:ext cx="3586024" cy="618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1" name="Equation" r:id="rId20" imgW="3848100" imgH="723900" progId="Equation.DSMT4">
                  <p:embed/>
                </p:oleObj>
              </mc:Choice>
              <mc:Fallback>
                <p:oleObj name="Equation" r:id="rId20" imgW="38481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67" y="5608759"/>
                        <a:ext cx="3586024" cy="61849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126167" y="663069"/>
            <a:ext cx="1240852" cy="347752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dirty="0"/>
              <a:t>第一种方法</a:t>
            </a:r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5517" y="1071985"/>
            <a:ext cx="292649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="0" dirty="0"/>
              <a:t>设地心惯性坐标系</a:t>
            </a:r>
            <a:r>
              <a:rPr lang="en-US" altLang="zh-CN" sz="1600" b="0" dirty="0"/>
              <a:t>X</a:t>
            </a:r>
            <a:r>
              <a:rPr lang="zh-CN" altLang="en-US" sz="1600" b="0" dirty="0"/>
              <a:t>、</a:t>
            </a:r>
            <a:r>
              <a:rPr lang="en-US" altLang="zh-CN" sz="1600" b="0" dirty="0"/>
              <a:t>Y</a:t>
            </a:r>
            <a:r>
              <a:rPr lang="zh-CN" altLang="en-US" sz="1600" b="0" dirty="0"/>
              <a:t>、</a:t>
            </a:r>
            <a:r>
              <a:rPr lang="en-US" altLang="zh-CN" sz="1600" b="0" dirty="0"/>
              <a:t>Z</a:t>
            </a:r>
            <a:r>
              <a:rPr lang="zh-CN" altLang="en-US" sz="1600" b="0" dirty="0" smtClean="0"/>
              <a:t>轴</a:t>
            </a:r>
            <a:endParaRPr lang="en-US" altLang="zh-CN" sz="1600" b="0" dirty="0" smtClean="0"/>
          </a:p>
          <a:p>
            <a:r>
              <a:rPr lang="zh-CN" altLang="en-US" sz="1600" b="0" dirty="0" smtClean="0"/>
              <a:t>的</a:t>
            </a:r>
            <a:r>
              <a:rPr lang="zh-CN" altLang="en-US" sz="1600" b="0" dirty="0"/>
              <a:t>单位矢量为</a:t>
            </a:r>
            <a:r>
              <a:rPr lang="zh-CN" altLang="en-US" sz="1600" b="0" dirty="0" smtClean="0"/>
              <a:t>：</a:t>
            </a:r>
            <a:r>
              <a:rPr lang="en-US" altLang="zh-CN" sz="1800" b="0" i="1" dirty="0" err="1"/>
              <a:t>u</a:t>
            </a:r>
            <a:r>
              <a:rPr lang="en-US" altLang="zh-CN" sz="1800" b="0" baseline="-25000" dirty="0" err="1"/>
              <a:t>x</a:t>
            </a:r>
            <a:r>
              <a:rPr lang="zh-CN" altLang="en-US" sz="1800" b="0" dirty="0"/>
              <a:t>、</a:t>
            </a:r>
            <a:r>
              <a:rPr lang="en-US" altLang="zh-CN" sz="1800" b="0" i="1" dirty="0" err="1"/>
              <a:t>u</a:t>
            </a:r>
            <a:r>
              <a:rPr lang="en-US" altLang="zh-CN" sz="1800" b="0" baseline="-25000" dirty="0" err="1"/>
              <a:t>y</a:t>
            </a:r>
            <a:r>
              <a:rPr lang="zh-CN" altLang="en-US" sz="1800" b="0" dirty="0"/>
              <a:t>、</a:t>
            </a:r>
            <a:r>
              <a:rPr lang="en-US" altLang="zh-CN" sz="1800" b="0" i="1" dirty="0" err="1"/>
              <a:t>u</a:t>
            </a:r>
            <a:r>
              <a:rPr lang="en-US" altLang="zh-CN" sz="1800" b="0" baseline="-25000" dirty="0" err="1"/>
              <a:t>z</a:t>
            </a:r>
            <a:r>
              <a:rPr lang="zh-CN" altLang="en-US" sz="1600" b="0" dirty="0"/>
              <a:t>。</a:t>
            </a:r>
          </a:p>
          <a:p>
            <a:endParaRPr lang="zh-CN" altLang="en-US" sz="1600" b="0" dirty="0"/>
          </a:p>
        </p:txBody>
      </p:sp>
      <p:graphicFrame>
        <p:nvGraphicFramePr>
          <p:cNvPr id="19" name="对象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3360723"/>
              </p:ext>
            </p:extLst>
          </p:nvPr>
        </p:nvGraphicFramePr>
        <p:xfrm>
          <a:off x="1558012" y="4497298"/>
          <a:ext cx="952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2" r:id="rId22" imgW="952087" imgH="279279" progId="Equation.3">
                  <p:embed/>
                </p:oleObj>
              </mc:Choice>
              <mc:Fallback>
                <p:oleObj r:id="rId22" imgW="952087" imgH="279279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012" y="4497298"/>
                        <a:ext cx="952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01377"/>
          <p:cNvSpPr txBox="1">
            <a:spLocks noChangeArrowheads="1"/>
          </p:cNvSpPr>
          <p:nvPr/>
        </p:nvSpPr>
        <p:spPr bwMode="auto">
          <a:xfrm>
            <a:off x="3328989" y="12700"/>
            <a:ext cx="1395412" cy="338554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dirty="0"/>
              <a:t>第二种方法：</a:t>
            </a:r>
          </a:p>
        </p:txBody>
      </p:sp>
      <p:graphicFrame>
        <p:nvGraphicFramePr>
          <p:cNvPr id="21" name="对象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4933854"/>
              </p:ext>
            </p:extLst>
          </p:nvPr>
        </p:nvGraphicFramePr>
        <p:xfrm>
          <a:off x="3417028" y="386844"/>
          <a:ext cx="2526572" cy="457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3" r:id="rId24" imgW="1244600" imgH="241300" progId="Equation.DSMT4">
                  <p:embed/>
                </p:oleObj>
              </mc:Choice>
              <mc:Fallback>
                <p:oleObj r:id="rId24" imgW="1244600" imgH="2413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028" y="386844"/>
                        <a:ext cx="2526572" cy="457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4950988"/>
              </p:ext>
            </p:extLst>
          </p:nvPr>
        </p:nvGraphicFramePr>
        <p:xfrm>
          <a:off x="6186904" y="353956"/>
          <a:ext cx="2438400" cy="490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" r:id="rId26" imgW="1244600" imgH="241300" progId="Equation.3">
                  <p:embed/>
                </p:oleObj>
              </mc:Choice>
              <mc:Fallback>
                <p:oleObj r:id="rId26" imgW="1244600" imgH="2413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6904" y="353956"/>
                        <a:ext cx="2438400" cy="490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9287207"/>
              </p:ext>
            </p:extLst>
          </p:nvPr>
        </p:nvGraphicFramePr>
        <p:xfrm>
          <a:off x="3417028" y="835994"/>
          <a:ext cx="1852611" cy="815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5" r:id="rId28" imgW="850531" imgH="431613" progId="Equation.3">
                  <p:embed/>
                </p:oleObj>
              </mc:Choice>
              <mc:Fallback>
                <p:oleObj r:id="rId28" imgW="850531" imgH="431613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028" y="835994"/>
                        <a:ext cx="1852611" cy="815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7605582"/>
              </p:ext>
            </p:extLst>
          </p:nvPr>
        </p:nvGraphicFramePr>
        <p:xfrm>
          <a:off x="5339148" y="851566"/>
          <a:ext cx="3355870" cy="872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6" r:id="rId30" imgW="1905000" imgH="469900" progId="Equation.3">
                  <p:embed/>
                </p:oleObj>
              </mc:Choice>
              <mc:Fallback>
                <p:oleObj r:id="rId30" imgW="1905000" imgH="4699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9148" y="851566"/>
                        <a:ext cx="3355870" cy="8725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2040492"/>
              </p:ext>
            </p:extLst>
          </p:nvPr>
        </p:nvGraphicFramePr>
        <p:xfrm>
          <a:off x="3417028" y="1451941"/>
          <a:ext cx="1834081" cy="72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7" r:id="rId32" imgW="914400" imgH="393700" progId="Equation.3">
                  <p:embed/>
                </p:oleObj>
              </mc:Choice>
              <mc:Fallback>
                <p:oleObj r:id="rId32" imgW="914400" imgH="3937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028" y="1451941"/>
                        <a:ext cx="1834081" cy="72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379244"/>
              </p:ext>
            </p:extLst>
          </p:nvPr>
        </p:nvGraphicFramePr>
        <p:xfrm>
          <a:off x="3446776" y="2002110"/>
          <a:ext cx="2526572" cy="857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8" r:id="rId34" imgW="1574800" imgH="482600" progId="Equation.3">
                  <p:embed/>
                </p:oleObj>
              </mc:Choice>
              <mc:Fallback>
                <p:oleObj r:id="rId34" imgW="1574800" imgH="4826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776" y="2002110"/>
                        <a:ext cx="2526572" cy="8571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6607931"/>
              </p:ext>
            </p:extLst>
          </p:nvPr>
        </p:nvGraphicFramePr>
        <p:xfrm>
          <a:off x="6186904" y="1752124"/>
          <a:ext cx="1583831" cy="842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9" r:id="rId36" imgW="1028254" imgH="444307" progId="Equation.DSMT4">
                  <p:embed/>
                </p:oleObj>
              </mc:Choice>
              <mc:Fallback>
                <p:oleObj r:id="rId36" imgW="1028254" imgH="444307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6904" y="1752124"/>
                        <a:ext cx="1583831" cy="842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10035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9255582"/>
              </p:ext>
            </p:extLst>
          </p:nvPr>
        </p:nvGraphicFramePr>
        <p:xfrm>
          <a:off x="3404009" y="2823604"/>
          <a:ext cx="2201752" cy="861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0" r:id="rId38" imgW="1231366" imgH="495085" progId="Equation.3">
                  <p:embed/>
                </p:oleObj>
              </mc:Choice>
              <mc:Fallback>
                <p:oleObj r:id="rId38" imgW="1231366" imgH="495085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4009" y="2823604"/>
                        <a:ext cx="2201752" cy="8610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10035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00479"/>
              </p:ext>
            </p:extLst>
          </p:nvPr>
        </p:nvGraphicFramePr>
        <p:xfrm>
          <a:off x="5940853" y="2622768"/>
          <a:ext cx="2555433" cy="785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1" r:id="rId40" imgW="1562100" imgH="495300" progId="Equation.3">
                  <p:embed/>
                </p:oleObj>
              </mc:Choice>
              <mc:Fallback>
                <p:oleObj r:id="rId40" imgW="1562100" imgH="4953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853" y="2622768"/>
                        <a:ext cx="2555433" cy="785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10035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9809413"/>
              </p:ext>
            </p:extLst>
          </p:nvPr>
        </p:nvGraphicFramePr>
        <p:xfrm>
          <a:off x="5940853" y="3420366"/>
          <a:ext cx="2555433" cy="800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2" r:id="rId42" imgW="1586811" imgH="495085" progId="Equation.3">
                  <p:embed/>
                </p:oleObj>
              </mc:Choice>
              <mc:Fallback>
                <p:oleObj r:id="rId42" imgW="1586811" imgH="495085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853" y="3420366"/>
                        <a:ext cx="2555433" cy="8005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10035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7322250"/>
              </p:ext>
            </p:extLst>
          </p:nvPr>
        </p:nvGraphicFramePr>
        <p:xfrm>
          <a:off x="3386746" y="3676496"/>
          <a:ext cx="2434376" cy="713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3" r:id="rId44" imgW="1320227" imgH="444307" progId="Equation.3">
                  <p:embed/>
                </p:oleObj>
              </mc:Choice>
              <mc:Fallback>
                <p:oleObj r:id="rId44" imgW="1320227" imgH="444307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6746" y="3676496"/>
                        <a:ext cx="2434376" cy="713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10035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0814227"/>
              </p:ext>
            </p:extLst>
          </p:nvPr>
        </p:nvGraphicFramePr>
        <p:xfrm>
          <a:off x="3404009" y="4318901"/>
          <a:ext cx="1835809" cy="712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4" r:id="rId46" imgW="837836" imgH="393529" progId="Equation.DSMT4">
                  <p:embed/>
                </p:oleObj>
              </mc:Choice>
              <mc:Fallback>
                <p:oleObj r:id="rId46" imgW="837836" imgH="393529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4009" y="4318901"/>
                        <a:ext cx="1835809" cy="712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10035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0693273"/>
              </p:ext>
            </p:extLst>
          </p:nvPr>
        </p:nvGraphicFramePr>
        <p:xfrm>
          <a:off x="5466709" y="4441499"/>
          <a:ext cx="1353255" cy="398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5" r:id="rId48" imgW="634449" imgH="203024" progId="Equation.DSMT4">
                  <p:embed/>
                </p:oleObj>
              </mc:Choice>
              <mc:Fallback>
                <p:oleObj r:id="rId48" imgW="634449" imgH="203024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6709" y="4441499"/>
                        <a:ext cx="1353255" cy="3988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>
            <a:stCxn id="7" idx="3"/>
          </p:cNvCxnSpPr>
          <p:nvPr/>
        </p:nvCxnSpPr>
        <p:spPr>
          <a:xfrm>
            <a:off x="3296378" y="350496"/>
            <a:ext cx="32611" cy="521377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40" name="对象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7107147"/>
              </p:ext>
            </p:extLst>
          </p:nvPr>
        </p:nvGraphicFramePr>
        <p:xfrm>
          <a:off x="75654" y="6303599"/>
          <a:ext cx="2434858" cy="47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6" r:id="rId50" imgW="1103942" imgH="203024" progId="Equation.DSMT4">
                  <p:embed/>
                </p:oleObj>
              </mc:Choice>
              <mc:Fallback>
                <p:oleObj r:id="rId50" imgW="1103942" imgH="203024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54" y="6303599"/>
                        <a:ext cx="2434858" cy="479638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矩形 40"/>
          <p:cNvSpPr/>
          <p:nvPr/>
        </p:nvSpPr>
        <p:spPr>
          <a:xfrm>
            <a:off x="2510512" y="6273471"/>
            <a:ext cx="379299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/>
              <a:t>发射场纬度和发射方位角对轨道倾角的</a:t>
            </a:r>
            <a:r>
              <a:rPr lang="zh-CN" altLang="en-US" sz="1600" dirty="0" smtClean="0"/>
              <a:t>影响：</a:t>
            </a:r>
            <a:r>
              <a:rPr lang="zh-CN" altLang="en-US" sz="1600" dirty="0"/>
              <a:t>发射场纬度</a:t>
            </a:r>
            <a:r>
              <a:rPr lang="en-US" altLang="zh-CN" sz="1600" dirty="0"/>
              <a:t>:</a:t>
            </a:r>
            <a:r>
              <a:rPr lang="en-US" altLang="zh-CN" sz="1600" i="1" dirty="0" smtClean="0">
                <a:sym typeface="Symbol" panose="05050102010706020507" pitchFamily="18" charset="2"/>
              </a:rPr>
              <a:t>       </a:t>
            </a:r>
            <a:r>
              <a:rPr lang="zh-CN" altLang="en-US" sz="1600" dirty="0" smtClean="0"/>
              <a:t>发射</a:t>
            </a:r>
            <a:r>
              <a:rPr lang="zh-CN" altLang="en-US" sz="1600" dirty="0"/>
              <a:t>方位角</a:t>
            </a:r>
            <a:r>
              <a:rPr lang="en-US" altLang="zh-CN" sz="1600" dirty="0"/>
              <a:t>: </a:t>
            </a:r>
            <a:r>
              <a:rPr lang="en-US" altLang="zh-CN" sz="1600" i="1" dirty="0">
                <a:sym typeface="Symbol" panose="05050102010706020507" pitchFamily="18" charset="2"/>
              </a:rPr>
              <a:t></a:t>
            </a:r>
            <a:endParaRPr lang="en-US" altLang="zh-CN" sz="1600" i="1" dirty="0"/>
          </a:p>
          <a:p>
            <a:pPr>
              <a:spcBef>
                <a:spcPct val="50000"/>
              </a:spcBef>
            </a:pPr>
            <a:endParaRPr lang="en-US" altLang="zh-CN" sz="1600" i="1" dirty="0"/>
          </a:p>
          <a:p>
            <a:pPr>
              <a:spcBef>
                <a:spcPct val="50000"/>
              </a:spcBef>
            </a:pP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145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385698"/>
              </p:ext>
            </p:extLst>
          </p:nvPr>
        </p:nvGraphicFramePr>
        <p:xfrm>
          <a:off x="59404" y="2695345"/>
          <a:ext cx="3752755" cy="385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3" name="Equation" r:id="rId3" imgW="3695700" imgH="381000" progId="Equation.DSMT4">
                  <p:embed/>
                </p:oleObj>
              </mc:Choice>
              <mc:Fallback>
                <p:oleObj name="Equation" r:id="rId3" imgW="36957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" y="2695345"/>
                        <a:ext cx="3752755" cy="3859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6330669" y="86643"/>
            <a:ext cx="2506520" cy="2515599"/>
            <a:chOff x="2653" y="1211"/>
            <a:chExt cx="2918" cy="2980"/>
          </a:xfrm>
        </p:grpSpPr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2653" y="1211"/>
              <a:ext cx="2918" cy="2980"/>
              <a:chOff x="2653" y="1211"/>
              <a:chExt cx="2918" cy="2980"/>
            </a:xfrm>
          </p:grpSpPr>
          <p:grpSp>
            <p:nvGrpSpPr>
              <p:cNvPr id="14" name="Group 6"/>
              <p:cNvGrpSpPr>
                <a:grpSpLocks/>
              </p:cNvGrpSpPr>
              <p:nvPr/>
            </p:nvGrpSpPr>
            <p:grpSpPr bwMode="auto">
              <a:xfrm>
                <a:off x="2653" y="1211"/>
                <a:ext cx="2918" cy="2980"/>
                <a:chOff x="2653" y="1207"/>
                <a:chExt cx="2918" cy="2980"/>
              </a:xfrm>
            </p:grpSpPr>
            <p:sp>
              <p:nvSpPr>
                <p:cNvPr id="29" name="Oval 7"/>
                <p:cNvSpPr>
                  <a:spLocks noChangeArrowheads="1"/>
                </p:cNvSpPr>
                <p:nvPr/>
              </p:nvSpPr>
              <p:spPr bwMode="auto">
                <a:xfrm>
                  <a:off x="2653" y="1207"/>
                  <a:ext cx="2880" cy="2935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0" name="Freeform 8"/>
                <p:cNvSpPr>
                  <a:spLocks/>
                </p:cNvSpPr>
                <p:nvPr/>
              </p:nvSpPr>
              <p:spPr bwMode="auto">
                <a:xfrm>
                  <a:off x="4107" y="1207"/>
                  <a:ext cx="611" cy="2967"/>
                </a:xfrm>
                <a:custGeom>
                  <a:avLst/>
                  <a:gdLst>
                    <a:gd name="T0" fmla="*/ 0 w 231"/>
                    <a:gd name="T1" fmla="*/ 23 h 1945"/>
                    <a:gd name="T2" fmla="*/ 241 w 231"/>
                    <a:gd name="T3" fmla="*/ 92 h 1945"/>
                    <a:gd name="T4" fmla="*/ 479 w 231"/>
                    <a:gd name="T5" fmla="*/ 577 h 1945"/>
                    <a:gd name="T6" fmla="*/ 600 w 231"/>
                    <a:gd name="T7" fmla="*/ 1199 h 1945"/>
                    <a:gd name="T8" fmla="*/ 537 w 231"/>
                    <a:gd name="T9" fmla="*/ 2126 h 1945"/>
                    <a:gd name="T10" fmla="*/ 286 w 231"/>
                    <a:gd name="T11" fmla="*/ 2833 h 1945"/>
                    <a:gd name="T12" fmla="*/ 119 w 231"/>
                    <a:gd name="T13" fmla="*/ 2929 h 19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31" h="1945">
                      <a:moveTo>
                        <a:pt x="0" y="15"/>
                      </a:moveTo>
                      <a:cubicBezTo>
                        <a:pt x="30" y="7"/>
                        <a:pt x="61" y="0"/>
                        <a:pt x="91" y="60"/>
                      </a:cubicBezTo>
                      <a:cubicBezTo>
                        <a:pt x="121" y="120"/>
                        <a:pt x="158" y="257"/>
                        <a:pt x="181" y="378"/>
                      </a:cubicBezTo>
                      <a:cubicBezTo>
                        <a:pt x="204" y="499"/>
                        <a:pt x="223" y="617"/>
                        <a:pt x="227" y="786"/>
                      </a:cubicBezTo>
                      <a:cubicBezTo>
                        <a:pt x="231" y="955"/>
                        <a:pt x="223" y="1216"/>
                        <a:pt x="203" y="1394"/>
                      </a:cubicBezTo>
                      <a:cubicBezTo>
                        <a:pt x="183" y="1572"/>
                        <a:pt x="134" y="1769"/>
                        <a:pt x="108" y="1857"/>
                      </a:cubicBezTo>
                      <a:cubicBezTo>
                        <a:pt x="82" y="1945"/>
                        <a:pt x="58" y="1907"/>
                        <a:pt x="45" y="192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" name="Freeform 9"/>
                <p:cNvSpPr>
                  <a:spLocks/>
                </p:cNvSpPr>
                <p:nvPr/>
              </p:nvSpPr>
              <p:spPr bwMode="auto">
                <a:xfrm rot="5277356" flipV="1">
                  <a:off x="3878" y="1465"/>
                  <a:ext cx="471" cy="2914"/>
                </a:xfrm>
                <a:custGeom>
                  <a:avLst/>
                  <a:gdLst>
                    <a:gd name="T0" fmla="*/ 0 w 231"/>
                    <a:gd name="T1" fmla="*/ 22 h 1945"/>
                    <a:gd name="T2" fmla="*/ 186 w 231"/>
                    <a:gd name="T3" fmla="*/ 90 h 1945"/>
                    <a:gd name="T4" fmla="*/ 369 w 231"/>
                    <a:gd name="T5" fmla="*/ 566 h 1945"/>
                    <a:gd name="T6" fmla="*/ 463 w 231"/>
                    <a:gd name="T7" fmla="*/ 1178 h 1945"/>
                    <a:gd name="T8" fmla="*/ 414 w 231"/>
                    <a:gd name="T9" fmla="*/ 2088 h 1945"/>
                    <a:gd name="T10" fmla="*/ 220 w 231"/>
                    <a:gd name="T11" fmla="*/ 2782 h 1945"/>
                    <a:gd name="T12" fmla="*/ 92 w 231"/>
                    <a:gd name="T13" fmla="*/ 2877 h 19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31" h="1945">
                      <a:moveTo>
                        <a:pt x="0" y="15"/>
                      </a:moveTo>
                      <a:cubicBezTo>
                        <a:pt x="30" y="7"/>
                        <a:pt x="61" y="0"/>
                        <a:pt x="91" y="60"/>
                      </a:cubicBezTo>
                      <a:cubicBezTo>
                        <a:pt x="121" y="120"/>
                        <a:pt x="158" y="257"/>
                        <a:pt x="181" y="378"/>
                      </a:cubicBezTo>
                      <a:cubicBezTo>
                        <a:pt x="204" y="499"/>
                        <a:pt x="223" y="617"/>
                        <a:pt x="227" y="786"/>
                      </a:cubicBezTo>
                      <a:cubicBezTo>
                        <a:pt x="231" y="955"/>
                        <a:pt x="223" y="1216"/>
                        <a:pt x="203" y="1394"/>
                      </a:cubicBezTo>
                      <a:cubicBezTo>
                        <a:pt x="183" y="1572"/>
                        <a:pt x="134" y="1769"/>
                        <a:pt x="108" y="1857"/>
                      </a:cubicBezTo>
                      <a:cubicBezTo>
                        <a:pt x="82" y="1945"/>
                        <a:pt x="58" y="1907"/>
                        <a:pt x="45" y="192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Freeform 10"/>
                <p:cNvSpPr>
                  <a:spLocks/>
                </p:cNvSpPr>
                <p:nvPr/>
              </p:nvSpPr>
              <p:spPr bwMode="auto">
                <a:xfrm rot="2042005">
                  <a:off x="3935" y="1228"/>
                  <a:ext cx="358" cy="2959"/>
                </a:xfrm>
                <a:custGeom>
                  <a:avLst/>
                  <a:gdLst>
                    <a:gd name="T0" fmla="*/ 0 w 231"/>
                    <a:gd name="T1" fmla="*/ 23 h 1945"/>
                    <a:gd name="T2" fmla="*/ 141 w 231"/>
                    <a:gd name="T3" fmla="*/ 91 h 1945"/>
                    <a:gd name="T4" fmla="*/ 281 w 231"/>
                    <a:gd name="T5" fmla="*/ 575 h 1945"/>
                    <a:gd name="T6" fmla="*/ 352 w 231"/>
                    <a:gd name="T7" fmla="*/ 1196 h 1945"/>
                    <a:gd name="T8" fmla="*/ 315 w 231"/>
                    <a:gd name="T9" fmla="*/ 2121 h 1945"/>
                    <a:gd name="T10" fmla="*/ 167 w 231"/>
                    <a:gd name="T11" fmla="*/ 2825 h 1945"/>
                    <a:gd name="T12" fmla="*/ 70 w 231"/>
                    <a:gd name="T13" fmla="*/ 2921 h 19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31" h="1945">
                      <a:moveTo>
                        <a:pt x="0" y="15"/>
                      </a:moveTo>
                      <a:cubicBezTo>
                        <a:pt x="30" y="7"/>
                        <a:pt x="61" y="0"/>
                        <a:pt x="91" y="60"/>
                      </a:cubicBezTo>
                      <a:cubicBezTo>
                        <a:pt x="121" y="120"/>
                        <a:pt x="158" y="257"/>
                        <a:pt x="181" y="378"/>
                      </a:cubicBezTo>
                      <a:cubicBezTo>
                        <a:pt x="204" y="499"/>
                        <a:pt x="223" y="617"/>
                        <a:pt x="227" y="786"/>
                      </a:cubicBezTo>
                      <a:cubicBezTo>
                        <a:pt x="231" y="955"/>
                        <a:pt x="223" y="1216"/>
                        <a:pt x="203" y="1394"/>
                      </a:cubicBezTo>
                      <a:cubicBezTo>
                        <a:pt x="183" y="1572"/>
                        <a:pt x="134" y="1769"/>
                        <a:pt x="108" y="1857"/>
                      </a:cubicBezTo>
                      <a:cubicBezTo>
                        <a:pt x="82" y="1945"/>
                        <a:pt x="58" y="1907"/>
                        <a:pt x="45" y="1920"/>
                      </a:cubicBezTo>
                    </a:path>
                  </a:pathLst>
                </a:custGeom>
                <a:noFill/>
                <a:ln w="28575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1"/>
                <p:cNvSpPr>
                  <a:spLocks/>
                </p:cNvSpPr>
                <p:nvPr/>
              </p:nvSpPr>
              <p:spPr bwMode="auto">
                <a:xfrm rot="-5400000">
                  <a:off x="3868" y="1097"/>
                  <a:ext cx="484" cy="2913"/>
                </a:xfrm>
                <a:custGeom>
                  <a:avLst/>
                  <a:gdLst>
                    <a:gd name="T0" fmla="*/ 0 w 231"/>
                    <a:gd name="T1" fmla="*/ 22 h 1945"/>
                    <a:gd name="T2" fmla="*/ 191 w 231"/>
                    <a:gd name="T3" fmla="*/ 90 h 1945"/>
                    <a:gd name="T4" fmla="*/ 379 w 231"/>
                    <a:gd name="T5" fmla="*/ 566 h 1945"/>
                    <a:gd name="T6" fmla="*/ 476 w 231"/>
                    <a:gd name="T7" fmla="*/ 1177 h 1945"/>
                    <a:gd name="T8" fmla="*/ 425 w 231"/>
                    <a:gd name="T9" fmla="*/ 2088 h 1945"/>
                    <a:gd name="T10" fmla="*/ 226 w 231"/>
                    <a:gd name="T11" fmla="*/ 2781 h 1945"/>
                    <a:gd name="T12" fmla="*/ 94 w 231"/>
                    <a:gd name="T13" fmla="*/ 2876 h 19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31" h="1945">
                      <a:moveTo>
                        <a:pt x="0" y="15"/>
                      </a:moveTo>
                      <a:cubicBezTo>
                        <a:pt x="30" y="7"/>
                        <a:pt x="61" y="0"/>
                        <a:pt x="91" y="60"/>
                      </a:cubicBezTo>
                      <a:cubicBezTo>
                        <a:pt x="121" y="120"/>
                        <a:pt x="158" y="257"/>
                        <a:pt x="181" y="378"/>
                      </a:cubicBezTo>
                      <a:cubicBezTo>
                        <a:pt x="204" y="499"/>
                        <a:pt x="223" y="617"/>
                        <a:pt x="227" y="786"/>
                      </a:cubicBezTo>
                      <a:cubicBezTo>
                        <a:pt x="231" y="955"/>
                        <a:pt x="223" y="1216"/>
                        <a:pt x="203" y="1394"/>
                      </a:cubicBezTo>
                      <a:cubicBezTo>
                        <a:pt x="183" y="1572"/>
                        <a:pt x="134" y="1769"/>
                        <a:pt x="108" y="1857"/>
                      </a:cubicBezTo>
                      <a:cubicBezTo>
                        <a:pt x="82" y="1945"/>
                        <a:pt x="58" y="1907"/>
                        <a:pt x="45" y="1920"/>
                      </a:cubicBezTo>
                    </a:path>
                  </a:pathLst>
                </a:custGeom>
                <a:noFill/>
                <a:ln w="9525" cap="flat">
                  <a:solidFill>
                    <a:schemeClr val="tx1"/>
                  </a:solidFill>
                  <a:prstDash val="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" name="Line 12"/>
                <p:cNvSpPr>
                  <a:spLocks noChangeShapeType="1"/>
                </p:cNvSpPr>
                <p:nvPr/>
              </p:nvSpPr>
              <p:spPr bwMode="auto">
                <a:xfrm flipH="1">
                  <a:off x="3969" y="2704"/>
                  <a:ext cx="115" cy="45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4105" y="2115"/>
                  <a:ext cx="589" cy="58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3288" y="2704"/>
                  <a:ext cx="817" cy="3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4105" y="1251"/>
                  <a:ext cx="0" cy="145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" name="Line 16"/>
                <p:cNvSpPr>
                  <a:spLocks noChangeShapeType="1"/>
                </p:cNvSpPr>
                <p:nvPr/>
              </p:nvSpPr>
              <p:spPr bwMode="auto">
                <a:xfrm>
                  <a:off x="4105" y="2704"/>
                  <a:ext cx="1361" cy="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5" name="Object 17"/>
              <p:cNvGraphicFramePr>
                <a:graphicFrameLocks noChangeAspect="1"/>
              </p:cNvGraphicFramePr>
              <p:nvPr/>
            </p:nvGraphicFramePr>
            <p:xfrm>
              <a:off x="3833" y="2844"/>
              <a:ext cx="16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54" name="Equation" r:id="rId5" imgW="253890" imgH="241195" progId="Equation.DSMT4">
                      <p:embed/>
                    </p:oleObj>
                  </mc:Choice>
                  <mc:Fallback>
                    <p:oleObj name="Equation" r:id="rId5" imgW="253890" imgH="24119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33" y="2844"/>
                            <a:ext cx="16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Line 18"/>
              <p:cNvSpPr>
                <a:spLocks noChangeShapeType="1"/>
              </p:cNvSpPr>
              <p:nvPr/>
            </p:nvSpPr>
            <p:spPr bwMode="auto">
              <a:xfrm flipV="1">
                <a:off x="4105" y="2704"/>
                <a:ext cx="227" cy="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7" name="Object 19"/>
              <p:cNvGraphicFramePr>
                <a:graphicFrameLocks noChangeAspect="1"/>
              </p:cNvGraphicFramePr>
              <p:nvPr/>
            </p:nvGraphicFramePr>
            <p:xfrm>
              <a:off x="4050" y="2754"/>
              <a:ext cx="144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55" name="Equation" r:id="rId7" imgW="228501" imgH="203112" progId="Equation.DSMT4">
                      <p:embed/>
                    </p:oleObj>
                  </mc:Choice>
                  <mc:Fallback>
                    <p:oleObj name="Equation" r:id="rId7" imgW="228501" imgH="20311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0" y="2754"/>
                            <a:ext cx="144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Object 20"/>
              <p:cNvGraphicFramePr>
                <a:graphicFrameLocks noChangeAspect="1"/>
              </p:cNvGraphicFramePr>
              <p:nvPr/>
            </p:nvGraphicFramePr>
            <p:xfrm>
              <a:off x="4241" y="2478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56" name="Equation" r:id="rId9" imgW="241091" imgH="317225" progId="Equation.DSMT4">
                      <p:embed/>
                    </p:oleObj>
                  </mc:Choice>
                  <mc:Fallback>
                    <p:oleObj name="Equation" r:id="rId9" imgW="241091" imgH="31722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41" y="2478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" name="Text Box 21"/>
              <p:cNvSpPr txBox="1">
                <a:spLocks noChangeArrowheads="1"/>
              </p:cNvSpPr>
              <p:nvPr/>
            </p:nvSpPr>
            <p:spPr bwMode="auto">
              <a:xfrm>
                <a:off x="3152" y="3139"/>
                <a:ext cx="26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1200" b="0">
                    <a:latin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20" name="Text Box 22"/>
              <p:cNvSpPr txBox="1">
                <a:spLocks noChangeArrowheads="1"/>
              </p:cNvSpPr>
              <p:nvPr/>
            </p:nvSpPr>
            <p:spPr bwMode="auto">
              <a:xfrm>
                <a:off x="3878" y="1276"/>
                <a:ext cx="256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1200" b="0">
                    <a:latin typeface="Arial" panose="020B0604020202020204" pitchFamily="34" charset="0"/>
                  </a:rPr>
                  <a:t>Z</a:t>
                </a:r>
              </a:p>
            </p:txBody>
          </p:sp>
          <p:sp>
            <p:nvSpPr>
              <p:cNvPr id="21" name="Text Box 23"/>
              <p:cNvSpPr txBox="1">
                <a:spLocks noChangeArrowheads="1"/>
              </p:cNvSpPr>
              <p:nvPr/>
            </p:nvSpPr>
            <p:spPr bwMode="auto">
              <a:xfrm>
                <a:off x="4739" y="2050"/>
                <a:ext cx="26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1200" b="0">
                    <a:latin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22" name="Oval 24"/>
              <p:cNvSpPr>
                <a:spLocks noChangeArrowheads="1"/>
              </p:cNvSpPr>
              <p:nvPr/>
            </p:nvSpPr>
            <p:spPr bwMode="auto">
              <a:xfrm>
                <a:off x="4649" y="2091"/>
                <a:ext cx="45" cy="4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" name="Text Box 25"/>
              <p:cNvSpPr txBox="1">
                <a:spLocks noChangeArrowheads="1"/>
              </p:cNvSpPr>
              <p:nvPr/>
            </p:nvSpPr>
            <p:spPr bwMode="auto">
              <a:xfrm>
                <a:off x="3923" y="3230"/>
                <a:ext cx="271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1200" b="0"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24" name="Text Box 26"/>
              <p:cNvSpPr txBox="1">
                <a:spLocks noChangeArrowheads="1"/>
              </p:cNvSpPr>
              <p:nvPr/>
            </p:nvSpPr>
            <p:spPr bwMode="auto">
              <a:xfrm>
                <a:off x="4331" y="2726"/>
                <a:ext cx="26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1200" b="0">
                    <a:latin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25" name="Text Box 27"/>
              <p:cNvSpPr txBox="1">
                <a:spLocks noChangeArrowheads="1"/>
              </p:cNvSpPr>
              <p:nvPr/>
            </p:nvSpPr>
            <p:spPr bwMode="auto">
              <a:xfrm>
                <a:off x="4065" y="3017"/>
                <a:ext cx="209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1200">
                    <a:latin typeface="Arial" panose="020B0604020202020204" pitchFamily="34" charset="0"/>
                  </a:rPr>
                  <a:t>i</a:t>
                </a:r>
              </a:p>
            </p:txBody>
          </p:sp>
          <p:sp>
            <p:nvSpPr>
              <p:cNvPr id="26" name="Text Box 28"/>
              <p:cNvSpPr txBox="1">
                <a:spLocks noChangeArrowheads="1"/>
              </p:cNvSpPr>
              <p:nvPr/>
            </p:nvSpPr>
            <p:spPr bwMode="auto">
              <a:xfrm>
                <a:off x="4859" y="2037"/>
                <a:ext cx="55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1200" b="0">
                    <a:latin typeface="Arial" panose="020B0604020202020204" pitchFamily="34" charset="0"/>
                  </a:rPr>
                  <a:t>(x y z)</a:t>
                </a:r>
              </a:p>
            </p:txBody>
          </p:sp>
          <p:sp>
            <p:nvSpPr>
              <p:cNvPr id="27" name="Text Box 29"/>
              <p:cNvSpPr txBox="1">
                <a:spLocks noChangeArrowheads="1"/>
              </p:cNvSpPr>
              <p:nvPr/>
            </p:nvSpPr>
            <p:spPr bwMode="auto">
              <a:xfrm>
                <a:off x="4684" y="3148"/>
                <a:ext cx="270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1200" b="0">
                    <a:latin typeface="Arial" panose="020B0604020202020204" pitchFamily="34" charset="0"/>
                  </a:rPr>
                  <a:t>D</a:t>
                </a:r>
              </a:p>
            </p:txBody>
          </p:sp>
          <p:sp>
            <p:nvSpPr>
              <p:cNvPr id="28" name="Text Box 30"/>
              <p:cNvSpPr txBox="1">
                <a:spLocks noChangeArrowheads="1"/>
              </p:cNvSpPr>
              <p:nvPr/>
            </p:nvSpPr>
            <p:spPr bwMode="auto">
              <a:xfrm>
                <a:off x="3877" y="2591"/>
                <a:ext cx="279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1200" b="0">
                    <a:latin typeface="Arial" panose="020B0604020202020204" pitchFamily="34" charset="0"/>
                  </a:rPr>
                  <a:t>O</a:t>
                </a:r>
              </a:p>
            </p:txBody>
          </p:sp>
        </p:grpSp>
        <p:grpSp>
          <p:nvGrpSpPr>
            <p:cNvPr id="8" name="Group 31"/>
            <p:cNvGrpSpPr>
              <a:grpSpLocks/>
            </p:cNvGrpSpPr>
            <p:nvPr/>
          </p:nvGrpSpPr>
          <p:grpSpPr bwMode="auto">
            <a:xfrm>
              <a:off x="3288" y="3113"/>
              <a:ext cx="1405" cy="216"/>
              <a:chOff x="3279" y="3115"/>
              <a:chExt cx="1405" cy="216"/>
            </a:xfrm>
          </p:grpSpPr>
          <p:sp>
            <p:nvSpPr>
              <p:cNvPr id="12" name="Freeform 32"/>
              <p:cNvSpPr>
                <a:spLocks/>
              </p:cNvSpPr>
              <p:nvPr/>
            </p:nvSpPr>
            <p:spPr bwMode="auto">
              <a:xfrm>
                <a:off x="3279" y="3115"/>
                <a:ext cx="1405" cy="70"/>
              </a:xfrm>
              <a:custGeom>
                <a:avLst/>
                <a:gdLst>
                  <a:gd name="T0" fmla="*/ 0 w 1405"/>
                  <a:gd name="T1" fmla="*/ 13 h 135"/>
                  <a:gd name="T2" fmla="*/ 300 w 1405"/>
                  <a:gd name="T3" fmla="*/ 54 h 135"/>
                  <a:gd name="T4" fmla="*/ 650 w 1405"/>
                  <a:gd name="T5" fmla="*/ 68 h 135"/>
                  <a:gd name="T6" fmla="*/ 971 w 1405"/>
                  <a:gd name="T7" fmla="*/ 59 h 135"/>
                  <a:gd name="T8" fmla="*/ 1405 w 1405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5" h="135">
                    <a:moveTo>
                      <a:pt x="0" y="25"/>
                    </a:moveTo>
                    <a:cubicBezTo>
                      <a:pt x="50" y="38"/>
                      <a:pt x="192" y="86"/>
                      <a:pt x="300" y="104"/>
                    </a:cubicBezTo>
                    <a:cubicBezTo>
                      <a:pt x="408" y="122"/>
                      <a:pt x="538" y="131"/>
                      <a:pt x="650" y="132"/>
                    </a:cubicBezTo>
                    <a:cubicBezTo>
                      <a:pt x="762" y="133"/>
                      <a:pt x="845" y="135"/>
                      <a:pt x="971" y="113"/>
                    </a:cubicBezTo>
                    <a:cubicBezTo>
                      <a:pt x="1097" y="91"/>
                      <a:pt x="1315" y="24"/>
                      <a:pt x="1405" y="0"/>
                    </a:cubicBez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3" name="Object 33"/>
              <p:cNvGraphicFramePr>
                <a:graphicFrameLocks noChangeAspect="1"/>
              </p:cNvGraphicFramePr>
              <p:nvPr/>
            </p:nvGraphicFramePr>
            <p:xfrm>
              <a:off x="4332" y="3203"/>
              <a:ext cx="144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57" name="Equation" r:id="rId11" imgW="228501" imgH="203112" progId="Equation.DSMT4">
                      <p:embed/>
                    </p:oleObj>
                  </mc:Choice>
                  <mc:Fallback>
                    <p:oleObj name="Equation" r:id="rId11" imgW="228501" imgH="20311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2" y="3203"/>
                            <a:ext cx="144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" name="Group 34"/>
            <p:cNvGrpSpPr>
              <a:grpSpLocks/>
            </p:cNvGrpSpPr>
            <p:nvPr/>
          </p:nvGrpSpPr>
          <p:grpSpPr bwMode="auto">
            <a:xfrm>
              <a:off x="4694" y="2115"/>
              <a:ext cx="219" cy="972"/>
              <a:chOff x="4694" y="2125"/>
              <a:chExt cx="219" cy="972"/>
            </a:xfrm>
          </p:grpSpPr>
          <p:sp>
            <p:nvSpPr>
              <p:cNvPr id="10" name="Freeform 35"/>
              <p:cNvSpPr>
                <a:spLocks/>
              </p:cNvSpPr>
              <p:nvPr/>
            </p:nvSpPr>
            <p:spPr bwMode="auto">
              <a:xfrm>
                <a:off x="4694" y="2125"/>
                <a:ext cx="36" cy="972"/>
              </a:xfrm>
              <a:custGeom>
                <a:avLst/>
                <a:gdLst>
                  <a:gd name="T0" fmla="*/ 0 w 78"/>
                  <a:gd name="T1" fmla="*/ 0 h 972"/>
                  <a:gd name="T2" fmla="*/ 26 w 78"/>
                  <a:gd name="T3" fmla="*/ 170 h 972"/>
                  <a:gd name="T4" fmla="*/ 35 w 78"/>
                  <a:gd name="T5" fmla="*/ 425 h 972"/>
                  <a:gd name="T6" fmla="*/ 31 w 78"/>
                  <a:gd name="T7" fmla="*/ 604 h 972"/>
                  <a:gd name="T8" fmla="*/ 22 w 78"/>
                  <a:gd name="T9" fmla="*/ 783 h 972"/>
                  <a:gd name="T10" fmla="*/ 0 w 78"/>
                  <a:gd name="T11" fmla="*/ 972 h 9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8" h="972">
                    <a:moveTo>
                      <a:pt x="0" y="0"/>
                    </a:moveTo>
                    <a:cubicBezTo>
                      <a:pt x="9" y="28"/>
                      <a:pt x="44" y="99"/>
                      <a:pt x="57" y="170"/>
                    </a:cubicBezTo>
                    <a:cubicBezTo>
                      <a:pt x="70" y="241"/>
                      <a:pt x="74" y="353"/>
                      <a:pt x="76" y="425"/>
                    </a:cubicBezTo>
                    <a:cubicBezTo>
                      <a:pt x="78" y="497"/>
                      <a:pt x="72" y="544"/>
                      <a:pt x="67" y="604"/>
                    </a:cubicBezTo>
                    <a:cubicBezTo>
                      <a:pt x="62" y="664"/>
                      <a:pt x="59" y="722"/>
                      <a:pt x="48" y="783"/>
                    </a:cubicBezTo>
                    <a:cubicBezTo>
                      <a:pt x="37" y="844"/>
                      <a:pt x="10" y="933"/>
                      <a:pt x="0" y="972"/>
                    </a:cubicBez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1" name="Object 36"/>
              <p:cNvGraphicFramePr>
                <a:graphicFrameLocks noChangeAspect="1"/>
              </p:cNvGraphicFramePr>
              <p:nvPr/>
            </p:nvGraphicFramePr>
            <p:xfrm>
              <a:off x="4785" y="2659"/>
              <a:ext cx="128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58" name="Equation" r:id="rId13" imgW="203024" imgH="266469" progId="Equation.DSMT4">
                      <p:embed/>
                    </p:oleObj>
                  </mc:Choice>
                  <mc:Fallback>
                    <p:oleObj name="Equation" r:id="rId13" imgW="203024" imgH="266469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85" y="2659"/>
                            <a:ext cx="128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9" name="Group 37"/>
          <p:cNvGrpSpPr>
            <a:grpSpLocks/>
          </p:cNvGrpSpPr>
          <p:nvPr/>
        </p:nvGrpSpPr>
        <p:grpSpPr bwMode="auto">
          <a:xfrm>
            <a:off x="3597967" y="-106143"/>
            <a:ext cx="2270437" cy="2144852"/>
            <a:chOff x="227" y="1752"/>
            <a:chExt cx="1999" cy="2138"/>
          </a:xfrm>
        </p:grpSpPr>
        <p:sp>
          <p:nvSpPr>
            <p:cNvPr id="40" name="Line 38"/>
            <p:cNvSpPr>
              <a:spLocks noChangeShapeType="1"/>
            </p:cNvSpPr>
            <p:nvPr/>
          </p:nvSpPr>
          <p:spPr bwMode="auto">
            <a:xfrm>
              <a:off x="793" y="2568"/>
              <a:ext cx="1225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 flipH="1">
              <a:off x="567" y="2568"/>
              <a:ext cx="226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>
              <a:off x="227" y="3437"/>
              <a:ext cx="1822" cy="256"/>
            </a:xfrm>
            <a:custGeom>
              <a:avLst/>
              <a:gdLst>
                <a:gd name="T0" fmla="*/ 0 w 1822"/>
                <a:gd name="T1" fmla="*/ 198 h 256"/>
                <a:gd name="T2" fmla="*/ 595 w 1822"/>
                <a:gd name="T3" fmla="*/ 256 h 256"/>
                <a:gd name="T4" fmla="*/ 1274 w 1822"/>
                <a:gd name="T5" fmla="*/ 200 h 256"/>
                <a:gd name="T6" fmla="*/ 1822 w 1822"/>
                <a:gd name="T7" fmla="*/ 0 h 2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22" h="256">
                  <a:moveTo>
                    <a:pt x="0" y="198"/>
                  </a:moveTo>
                  <a:cubicBezTo>
                    <a:pt x="99" y="211"/>
                    <a:pt x="383" y="256"/>
                    <a:pt x="595" y="256"/>
                  </a:cubicBezTo>
                  <a:cubicBezTo>
                    <a:pt x="807" y="256"/>
                    <a:pt x="1070" y="242"/>
                    <a:pt x="1274" y="200"/>
                  </a:cubicBezTo>
                  <a:cubicBezTo>
                    <a:pt x="1478" y="157"/>
                    <a:pt x="1708" y="42"/>
                    <a:pt x="182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 flipV="1">
              <a:off x="793" y="2069"/>
              <a:ext cx="862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42"/>
            <p:cNvSpPr>
              <a:spLocks/>
            </p:cNvSpPr>
            <p:nvPr/>
          </p:nvSpPr>
          <p:spPr bwMode="auto">
            <a:xfrm>
              <a:off x="1579" y="1979"/>
              <a:ext cx="503" cy="1590"/>
            </a:xfrm>
            <a:custGeom>
              <a:avLst/>
              <a:gdLst>
                <a:gd name="T0" fmla="*/ 0 w 503"/>
                <a:gd name="T1" fmla="*/ 0 h 1590"/>
                <a:gd name="T2" fmla="*/ 179 w 503"/>
                <a:gd name="T3" fmla="*/ 181 h 1590"/>
                <a:gd name="T4" fmla="*/ 413 w 503"/>
                <a:gd name="T5" fmla="*/ 618 h 1590"/>
                <a:gd name="T6" fmla="*/ 498 w 503"/>
                <a:gd name="T7" fmla="*/ 1118 h 1590"/>
                <a:gd name="T8" fmla="*/ 442 w 503"/>
                <a:gd name="T9" fmla="*/ 1590 h 15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3" h="1590">
                  <a:moveTo>
                    <a:pt x="0" y="0"/>
                  </a:moveTo>
                  <a:cubicBezTo>
                    <a:pt x="30" y="30"/>
                    <a:pt x="110" y="78"/>
                    <a:pt x="179" y="181"/>
                  </a:cubicBezTo>
                  <a:cubicBezTo>
                    <a:pt x="248" y="284"/>
                    <a:pt x="360" y="462"/>
                    <a:pt x="413" y="618"/>
                  </a:cubicBezTo>
                  <a:cubicBezTo>
                    <a:pt x="466" y="774"/>
                    <a:pt x="493" y="956"/>
                    <a:pt x="498" y="1118"/>
                  </a:cubicBezTo>
                  <a:cubicBezTo>
                    <a:pt x="503" y="1280"/>
                    <a:pt x="454" y="1492"/>
                    <a:pt x="442" y="159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auto">
            <a:xfrm>
              <a:off x="283" y="1752"/>
              <a:ext cx="1463" cy="2138"/>
            </a:xfrm>
            <a:custGeom>
              <a:avLst/>
              <a:gdLst>
                <a:gd name="T0" fmla="*/ 0 w 1463"/>
                <a:gd name="T1" fmla="*/ 2138 h 2138"/>
                <a:gd name="T2" fmla="*/ 567 w 1463"/>
                <a:gd name="T3" fmla="*/ 1713 h 2138"/>
                <a:gd name="T4" fmla="*/ 1011 w 1463"/>
                <a:gd name="T5" fmla="*/ 1194 h 2138"/>
                <a:gd name="T6" fmla="*/ 1301 w 1463"/>
                <a:gd name="T7" fmla="*/ 571 h 2138"/>
                <a:gd name="T8" fmla="*/ 1463 w 1463"/>
                <a:gd name="T9" fmla="*/ 0 h 21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63" h="2138">
                  <a:moveTo>
                    <a:pt x="0" y="2138"/>
                  </a:moveTo>
                  <a:cubicBezTo>
                    <a:pt x="94" y="2067"/>
                    <a:pt x="399" y="1870"/>
                    <a:pt x="567" y="1713"/>
                  </a:cubicBezTo>
                  <a:cubicBezTo>
                    <a:pt x="735" y="1556"/>
                    <a:pt x="889" y="1384"/>
                    <a:pt x="1011" y="1194"/>
                  </a:cubicBezTo>
                  <a:cubicBezTo>
                    <a:pt x="1133" y="1004"/>
                    <a:pt x="1226" y="770"/>
                    <a:pt x="1301" y="571"/>
                  </a:cubicBezTo>
                  <a:cubicBezTo>
                    <a:pt x="1376" y="372"/>
                    <a:pt x="1423" y="187"/>
                    <a:pt x="1463" y="0"/>
                  </a:cubicBez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4"/>
            <p:cNvSpPr>
              <a:spLocks noChangeShapeType="1"/>
            </p:cNvSpPr>
            <p:nvPr/>
          </p:nvSpPr>
          <p:spPr bwMode="auto">
            <a:xfrm>
              <a:off x="1655" y="2069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5"/>
            <p:cNvSpPr>
              <a:spLocks noChangeShapeType="1"/>
            </p:cNvSpPr>
            <p:nvPr/>
          </p:nvSpPr>
          <p:spPr bwMode="auto">
            <a:xfrm flipH="1">
              <a:off x="657" y="2069"/>
              <a:ext cx="998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6"/>
            <p:cNvSpPr>
              <a:spLocks noChangeShapeType="1"/>
            </p:cNvSpPr>
            <p:nvPr/>
          </p:nvSpPr>
          <p:spPr bwMode="auto">
            <a:xfrm flipV="1">
              <a:off x="657" y="3158"/>
              <a:ext cx="9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 Box 47"/>
            <p:cNvSpPr txBox="1">
              <a:spLocks noChangeArrowheads="1"/>
            </p:cNvSpPr>
            <p:nvPr/>
          </p:nvSpPr>
          <p:spPr bwMode="auto">
            <a:xfrm>
              <a:off x="567" y="2387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b="0">
                  <a:latin typeface="Arial" panose="020B0604020202020204" pitchFamily="34" charset="0"/>
                </a:rPr>
                <a:t>O</a:t>
              </a:r>
            </a:p>
          </p:txBody>
        </p:sp>
        <p:sp>
          <p:nvSpPr>
            <p:cNvPr id="50" name="Text Box 48"/>
            <p:cNvSpPr txBox="1">
              <a:spLocks noChangeArrowheads="1"/>
            </p:cNvSpPr>
            <p:nvPr/>
          </p:nvSpPr>
          <p:spPr bwMode="auto">
            <a:xfrm>
              <a:off x="2006" y="3443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b="0"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51" name="Text Box 49"/>
            <p:cNvSpPr txBox="1">
              <a:spLocks noChangeArrowheads="1"/>
            </p:cNvSpPr>
            <p:nvPr/>
          </p:nvSpPr>
          <p:spPr bwMode="auto">
            <a:xfrm>
              <a:off x="567" y="3657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b="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52" name="Text Box 50"/>
            <p:cNvSpPr txBox="1">
              <a:spLocks noChangeArrowheads="1"/>
            </p:cNvSpPr>
            <p:nvPr/>
          </p:nvSpPr>
          <p:spPr bwMode="auto">
            <a:xfrm>
              <a:off x="1688" y="1900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b="0"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53" name="Text Box 51"/>
            <p:cNvSpPr txBox="1">
              <a:spLocks noChangeArrowheads="1"/>
            </p:cNvSpPr>
            <p:nvPr/>
          </p:nvSpPr>
          <p:spPr bwMode="auto">
            <a:xfrm>
              <a:off x="431" y="3067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b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54" name="Text Box 52"/>
            <p:cNvSpPr txBox="1">
              <a:spLocks noChangeArrowheads="1"/>
            </p:cNvSpPr>
            <p:nvPr/>
          </p:nvSpPr>
          <p:spPr bwMode="auto">
            <a:xfrm>
              <a:off x="1565" y="3158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b="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55" name="Text Box 53"/>
            <p:cNvSpPr txBox="1">
              <a:spLocks noChangeArrowheads="1"/>
            </p:cNvSpPr>
            <p:nvPr/>
          </p:nvSpPr>
          <p:spPr bwMode="auto">
            <a:xfrm>
              <a:off x="839" y="2931"/>
              <a:ext cx="1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latin typeface="Arial" panose="020B0604020202020204" pitchFamily="34" charset="0"/>
                </a:rPr>
                <a:t>i</a:t>
              </a:r>
            </a:p>
          </p:txBody>
        </p:sp>
        <p:sp>
          <p:nvSpPr>
            <p:cNvPr id="56" name="Text Box 54"/>
            <p:cNvSpPr txBox="1">
              <a:spLocks noChangeArrowheads="1"/>
            </p:cNvSpPr>
            <p:nvPr/>
          </p:nvSpPr>
          <p:spPr bwMode="auto">
            <a:xfrm>
              <a:off x="839" y="2473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l-GR" altLang="zh-CN" sz="1800">
                  <a:latin typeface="宋体" panose="02010600030101010101" pitchFamily="2" charset="-122"/>
                </a:rPr>
                <a:t>δ</a:t>
              </a:r>
            </a:p>
          </p:txBody>
        </p:sp>
      </p:grpSp>
      <p:graphicFrame>
        <p:nvGraphicFramePr>
          <p:cNvPr id="57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349504"/>
              </p:ext>
            </p:extLst>
          </p:nvPr>
        </p:nvGraphicFramePr>
        <p:xfrm>
          <a:off x="133419" y="495918"/>
          <a:ext cx="743143" cy="246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9" name="Equation" r:id="rId15" imgW="799753" imgH="266584" progId="Equation.DSMT4">
                  <p:embed/>
                </p:oleObj>
              </mc:Choice>
              <mc:Fallback>
                <p:oleObj name="Equation" r:id="rId15" imgW="799753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419" y="495918"/>
                        <a:ext cx="743143" cy="2462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071886"/>
              </p:ext>
            </p:extLst>
          </p:nvPr>
        </p:nvGraphicFramePr>
        <p:xfrm>
          <a:off x="1089460" y="459863"/>
          <a:ext cx="1946441" cy="31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0" name="Equation" r:id="rId17" imgW="1981200" imgH="317500" progId="Equation.DSMT4">
                  <p:embed/>
                </p:oleObj>
              </mc:Choice>
              <mc:Fallback>
                <p:oleObj name="Equation" r:id="rId17" imgW="19812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9460" y="459863"/>
                        <a:ext cx="1946441" cy="310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470812"/>
              </p:ext>
            </p:extLst>
          </p:nvPr>
        </p:nvGraphicFramePr>
        <p:xfrm>
          <a:off x="81119" y="858755"/>
          <a:ext cx="2044994" cy="311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1" name="Equation" r:id="rId19" imgW="2070100" imgH="317500" progId="Equation.DSMT4">
                  <p:embed/>
                </p:oleObj>
              </mc:Choice>
              <mc:Fallback>
                <p:oleObj name="Equation" r:id="rId19" imgW="20701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19" y="858755"/>
                        <a:ext cx="2044994" cy="3119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602248"/>
              </p:ext>
            </p:extLst>
          </p:nvPr>
        </p:nvGraphicFramePr>
        <p:xfrm>
          <a:off x="62912" y="1284867"/>
          <a:ext cx="1613488" cy="276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2" name="Equation" r:id="rId21" imgW="1548728" imgH="266584" progId="Equation.DSMT4">
                  <p:embed/>
                </p:oleObj>
              </mc:Choice>
              <mc:Fallback>
                <p:oleObj name="Equation" r:id="rId21" imgW="1548728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12" y="1284867"/>
                        <a:ext cx="1613488" cy="276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931995"/>
              </p:ext>
            </p:extLst>
          </p:nvPr>
        </p:nvGraphicFramePr>
        <p:xfrm>
          <a:off x="59404" y="1637653"/>
          <a:ext cx="1579386" cy="281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3" name="Equation" r:id="rId23" imgW="1485255" imgH="266584" progId="Equation.DSMT4">
                  <p:embed/>
                </p:oleObj>
              </mc:Choice>
              <mc:Fallback>
                <p:oleObj name="Equation" r:id="rId23" imgW="1485255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" y="1637653"/>
                        <a:ext cx="1579386" cy="2818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 Box 60"/>
          <p:cNvSpPr txBox="1">
            <a:spLocks noChangeArrowheads="1"/>
          </p:cNvSpPr>
          <p:nvPr/>
        </p:nvSpPr>
        <p:spPr bwMode="auto">
          <a:xfrm>
            <a:off x="59404" y="1972393"/>
            <a:ext cx="14253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1600" b="0" dirty="0">
                <a:latin typeface="Arial" panose="020B0604020202020204" pitchFamily="34" charset="0"/>
              </a:rPr>
              <a:t>由此可以得到</a:t>
            </a:r>
          </a:p>
        </p:txBody>
      </p:sp>
      <p:graphicFrame>
        <p:nvGraphicFramePr>
          <p:cNvPr id="63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947083"/>
              </p:ext>
            </p:extLst>
          </p:nvPr>
        </p:nvGraphicFramePr>
        <p:xfrm>
          <a:off x="144011" y="2279892"/>
          <a:ext cx="3528825" cy="362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4" name="Equation" r:id="rId25" imgW="3073400" imgH="317500" progId="Equation.DSMT4">
                  <p:embed/>
                </p:oleObj>
              </mc:Choice>
              <mc:Fallback>
                <p:oleObj name="Equation" r:id="rId25" imgW="30734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011" y="2279892"/>
                        <a:ext cx="3528825" cy="362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文本框 116739"/>
          <p:cNvSpPr txBox="1">
            <a:spLocks noChangeArrowheads="1"/>
          </p:cNvSpPr>
          <p:nvPr/>
        </p:nvSpPr>
        <p:spPr bwMode="auto">
          <a:xfrm>
            <a:off x="65552" y="94013"/>
            <a:ext cx="41829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="0" dirty="0">
                <a:solidFill>
                  <a:srgbClr val="FF0000"/>
                </a:solidFill>
                <a:latin typeface="Arial" panose="020B0604020202020204" pitchFamily="34" charset="0"/>
              </a:rPr>
              <a:t>星下点轨迹</a:t>
            </a:r>
            <a:r>
              <a:rPr lang="zh-CN" altLang="en-US" sz="1600" b="0" dirty="0">
                <a:latin typeface="Arial" panose="020B0604020202020204" pitchFamily="34" charset="0"/>
              </a:rPr>
              <a:t>，是航天器在地球表面的投影点。</a:t>
            </a:r>
          </a:p>
        </p:txBody>
      </p:sp>
      <p:sp>
        <p:nvSpPr>
          <p:cNvPr id="71" name="文本框 119809"/>
          <p:cNvSpPr txBox="1">
            <a:spLocks noChangeArrowheads="1"/>
          </p:cNvSpPr>
          <p:nvPr/>
        </p:nvSpPr>
        <p:spPr bwMode="auto">
          <a:xfrm>
            <a:off x="0" y="3105020"/>
            <a:ext cx="360534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="0" dirty="0">
                <a:latin typeface="Arial" panose="020B0604020202020204" pitchFamily="34" charset="0"/>
              </a:rPr>
              <a:t>考虑地球自转时，卫星的</a:t>
            </a:r>
            <a:r>
              <a:rPr lang="zh-CN" altLang="en-US" sz="1600" b="0" dirty="0">
                <a:solidFill>
                  <a:srgbClr val="FF0000"/>
                </a:solidFill>
                <a:latin typeface="Arial" panose="020B0604020202020204" pitchFamily="34" charset="0"/>
              </a:rPr>
              <a:t>地心经度</a:t>
            </a:r>
            <a:r>
              <a:rPr lang="zh-CN" altLang="en-US" sz="1600" b="0" dirty="0">
                <a:latin typeface="宋体" panose="02010600030101010101" pitchFamily="2" charset="-122"/>
              </a:rPr>
              <a:t>为：</a:t>
            </a:r>
            <a:endParaRPr lang="zh-CN" altLang="el-GR" sz="1600" b="0" dirty="0">
              <a:latin typeface="宋体" panose="02010600030101010101" pitchFamily="2" charset="-122"/>
            </a:endParaRPr>
          </a:p>
        </p:txBody>
      </p:sp>
      <p:graphicFrame>
        <p:nvGraphicFramePr>
          <p:cNvPr id="72" name="对象 1198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9363146"/>
              </p:ext>
            </p:extLst>
          </p:nvPr>
        </p:nvGraphicFramePr>
        <p:xfrm>
          <a:off x="3522539" y="3126870"/>
          <a:ext cx="2877830" cy="363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5" name="Equation" r:id="rId27" imgW="2615065" imgH="342751" progId="Equation.DSMT4">
                  <p:embed/>
                </p:oleObj>
              </mc:Choice>
              <mc:Fallback>
                <p:oleObj name="Equation" r:id="rId27" imgW="2615065" imgH="342751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539" y="3126870"/>
                        <a:ext cx="2877830" cy="363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文本框 83"/>
          <p:cNvSpPr txBox="1">
            <a:spLocks noChangeArrowheads="1"/>
          </p:cNvSpPr>
          <p:nvPr/>
        </p:nvSpPr>
        <p:spPr bwMode="auto">
          <a:xfrm>
            <a:off x="2570445" y="3484196"/>
            <a:ext cx="24593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="0" dirty="0">
                <a:latin typeface="Arial" panose="020B0604020202020204" pitchFamily="34" charset="0"/>
              </a:rPr>
              <a:t>如果考虑地球是椭球，有</a:t>
            </a:r>
          </a:p>
        </p:txBody>
      </p:sp>
      <p:graphicFrame>
        <p:nvGraphicFramePr>
          <p:cNvPr id="85" name="对象 8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2596044"/>
              </p:ext>
            </p:extLst>
          </p:nvPr>
        </p:nvGraphicFramePr>
        <p:xfrm>
          <a:off x="4968741" y="3407773"/>
          <a:ext cx="2081254" cy="419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6" r:id="rId29" imgW="2373870" imgH="444307" progId="Equation.DSMT4">
                  <p:embed/>
                </p:oleObj>
              </mc:Choice>
              <mc:Fallback>
                <p:oleObj r:id="rId29" imgW="2373870" imgH="444307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741" y="3407773"/>
                        <a:ext cx="2081254" cy="4191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对象 8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8028807"/>
              </p:ext>
            </p:extLst>
          </p:nvPr>
        </p:nvGraphicFramePr>
        <p:xfrm>
          <a:off x="7421581" y="2993006"/>
          <a:ext cx="1429258" cy="770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7" r:id="rId31" imgW="1244600" imgH="736600" progId="Equation.DSMT4">
                  <p:embed/>
                </p:oleObj>
              </mc:Choice>
              <mc:Fallback>
                <p:oleObj r:id="rId31" imgW="1244600" imgH="7366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1581" y="2993006"/>
                        <a:ext cx="1429258" cy="770074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对象 8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8643048"/>
              </p:ext>
            </p:extLst>
          </p:nvPr>
        </p:nvGraphicFramePr>
        <p:xfrm>
          <a:off x="4353650" y="2115246"/>
          <a:ext cx="2116342" cy="865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8" name="Equation" r:id="rId33" imgW="2031118" imgH="774364" progId="Equation.DSMT4">
                  <p:embed/>
                </p:oleObj>
              </mc:Choice>
              <mc:Fallback>
                <p:oleObj name="Equation" r:id="rId33" imgW="2031118" imgH="774364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3650" y="2115246"/>
                        <a:ext cx="2116342" cy="86587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文本框 87"/>
          <p:cNvSpPr txBox="1">
            <a:spLocks noChangeArrowheads="1"/>
          </p:cNvSpPr>
          <p:nvPr/>
        </p:nvSpPr>
        <p:spPr bwMode="auto">
          <a:xfrm>
            <a:off x="-19628" y="3479860"/>
            <a:ext cx="18389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="0" dirty="0">
                <a:latin typeface="Arial" panose="020B0604020202020204" pitchFamily="34" charset="0"/>
              </a:rPr>
              <a:t>卫星的地心纬度为</a:t>
            </a:r>
            <a:endParaRPr lang="el-GR" altLang="zh-CN" sz="1600" b="0" i="1" dirty="0"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graphicFrame>
        <p:nvGraphicFramePr>
          <p:cNvPr id="89" name="对象 8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3771090"/>
              </p:ext>
            </p:extLst>
          </p:nvPr>
        </p:nvGraphicFramePr>
        <p:xfrm>
          <a:off x="1848092" y="3483150"/>
          <a:ext cx="587056" cy="323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9" r:id="rId35" imgW="647138" imgH="317225" progId="Equation.DSMT4">
                  <p:embed/>
                </p:oleObj>
              </mc:Choice>
              <mc:Fallback>
                <p:oleObj r:id="rId35" imgW="647138" imgH="317225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8092" y="3483150"/>
                        <a:ext cx="587056" cy="323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文本框 89"/>
          <p:cNvSpPr txBox="1">
            <a:spLocks noChangeArrowheads="1"/>
          </p:cNvSpPr>
          <p:nvPr/>
        </p:nvSpPr>
        <p:spPr bwMode="auto">
          <a:xfrm>
            <a:off x="59404" y="3902979"/>
            <a:ext cx="823127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="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低</a:t>
            </a:r>
            <a:r>
              <a:rPr lang="zh-CN" altLang="en-US" sz="1600" b="0" dirty="0">
                <a:solidFill>
                  <a:srgbClr val="FF0000"/>
                </a:solidFill>
                <a:latin typeface="宋体" panose="02010600030101010101" pitchFamily="2" charset="-122"/>
              </a:rPr>
              <a:t>轨道</a:t>
            </a:r>
            <a:r>
              <a:rPr lang="en-US" altLang="zh-CN" sz="1600" b="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LEO</a:t>
            </a:r>
            <a:r>
              <a:rPr lang="zh-CN" altLang="en-US" sz="1600" b="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：距</a:t>
            </a:r>
            <a:r>
              <a:rPr lang="zh-CN" altLang="en-US" sz="1600" b="0" dirty="0">
                <a:solidFill>
                  <a:srgbClr val="000000"/>
                </a:solidFill>
                <a:latin typeface="宋体" panose="02010600030101010101" pitchFamily="2" charset="-122"/>
              </a:rPr>
              <a:t>地面</a:t>
            </a:r>
            <a:r>
              <a:rPr lang="zh-CN" altLang="en-US" sz="1600" b="0" dirty="0">
                <a:solidFill>
                  <a:srgbClr val="FF0000"/>
                </a:solidFill>
                <a:latin typeface="宋体" panose="02010600030101010101" pitchFamily="2" charset="-122"/>
              </a:rPr>
              <a:t>数百公里至</a:t>
            </a:r>
            <a:r>
              <a:rPr lang="en-US" altLang="zh-CN" sz="1600" b="0" dirty="0">
                <a:solidFill>
                  <a:srgbClr val="FF0000"/>
                </a:solidFill>
                <a:latin typeface="宋体" panose="02010600030101010101" pitchFamily="2" charset="-122"/>
              </a:rPr>
              <a:t>5000</a:t>
            </a:r>
            <a:r>
              <a:rPr lang="zh-CN" altLang="en-US" sz="1600" b="0" dirty="0">
                <a:solidFill>
                  <a:srgbClr val="FF0000"/>
                </a:solidFill>
                <a:latin typeface="宋体" panose="02010600030101010101" pitchFamily="2" charset="-122"/>
              </a:rPr>
              <a:t>公里</a:t>
            </a:r>
            <a:r>
              <a:rPr lang="zh-CN" altLang="en-US" sz="1600" b="0" dirty="0">
                <a:solidFill>
                  <a:srgbClr val="000000"/>
                </a:solidFill>
                <a:latin typeface="宋体" panose="02010600030101010101" pitchFamily="2" charset="-122"/>
              </a:rPr>
              <a:t>，运行周期为</a:t>
            </a:r>
            <a:r>
              <a:rPr lang="en-US" altLang="zh-CN" sz="1600" b="0" dirty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1600" b="0" dirty="0">
                <a:solidFill>
                  <a:srgbClr val="000000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sz="1600" b="0" dirty="0">
                <a:solidFill>
                  <a:srgbClr val="000000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1600" b="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小时</a:t>
            </a:r>
            <a:r>
              <a:rPr lang="zh-CN" altLang="en-US" sz="1600" b="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en-US" sz="1600" b="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中</a:t>
            </a:r>
            <a:r>
              <a:rPr lang="zh-CN" altLang="en-US" sz="1600" b="0" dirty="0">
                <a:solidFill>
                  <a:srgbClr val="FF0000"/>
                </a:solidFill>
                <a:latin typeface="宋体" panose="02010600030101010101" pitchFamily="2" charset="-122"/>
              </a:rPr>
              <a:t>轨道</a:t>
            </a:r>
            <a:r>
              <a:rPr lang="en-US" altLang="zh-CN" sz="1600" b="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MEO</a:t>
            </a:r>
            <a:r>
              <a:rPr lang="zh-CN" altLang="en-US" sz="1600" b="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：距</a:t>
            </a:r>
            <a:r>
              <a:rPr lang="zh-CN" altLang="en-US" sz="1600" b="0" dirty="0">
                <a:solidFill>
                  <a:srgbClr val="000000"/>
                </a:solidFill>
                <a:latin typeface="宋体" panose="02010600030101010101" pitchFamily="2" charset="-122"/>
              </a:rPr>
              <a:t>地面</a:t>
            </a:r>
            <a:r>
              <a:rPr lang="en-US" altLang="zh-CN" sz="1600" b="0" dirty="0">
                <a:solidFill>
                  <a:srgbClr val="FF0000"/>
                </a:solidFill>
                <a:latin typeface="宋体" panose="02010600030101010101" pitchFamily="2" charset="-122"/>
              </a:rPr>
              <a:t>5000</a:t>
            </a:r>
            <a:r>
              <a:rPr lang="zh-CN" altLang="en-US" sz="1600" b="0" dirty="0">
                <a:solidFill>
                  <a:srgbClr val="FF0000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sz="1600" b="0" dirty="0">
                <a:solidFill>
                  <a:srgbClr val="FF0000"/>
                </a:solidFill>
                <a:latin typeface="宋体" panose="02010600030101010101" pitchFamily="2" charset="-122"/>
              </a:rPr>
              <a:t>20000</a:t>
            </a:r>
            <a:r>
              <a:rPr lang="zh-CN" altLang="en-US" sz="1600" b="0" dirty="0">
                <a:solidFill>
                  <a:srgbClr val="FF0000"/>
                </a:solidFill>
                <a:latin typeface="宋体" panose="02010600030101010101" pitchFamily="2" charset="-122"/>
              </a:rPr>
              <a:t>公里</a:t>
            </a:r>
            <a:r>
              <a:rPr lang="zh-CN" altLang="en-US" sz="1600" b="0" dirty="0">
                <a:solidFill>
                  <a:srgbClr val="000000"/>
                </a:solidFill>
                <a:latin typeface="宋体" panose="02010600030101010101" pitchFamily="2" charset="-122"/>
              </a:rPr>
              <a:t>，运行周期</a:t>
            </a:r>
            <a:r>
              <a:rPr lang="en-US" altLang="zh-CN" sz="1600" b="0" dirty="0">
                <a:solidFill>
                  <a:srgbClr val="000000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1600" b="0" dirty="0">
                <a:solidFill>
                  <a:srgbClr val="000000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sz="1600" b="0" dirty="0">
                <a:solidFill>
                  <a:srgbClr val="000000"/>
                </a:solidFill>
                <a:latin typeface="宋体" panose="02010600030101010101" pitchFamily="2" charset="-122"/>
              </a:rPr>
              <a:t>12</a:t>
            </a:r>
            <a:r>
              <a:rPr lang="zh-CN" altLang="en-US" sz="1600" b="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小时</a:t>
            </a:r>
            <a:r>
              <a:rPr lang="zh-CN" altLang="en-US" sz="1600" b="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en-US" sz="1600" b="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高</a:t>
            </a:r>
            <a:r>
              <a:rPr lang="zh-CN" altLang="en-US" sz="1600" b="0" dirty="0">
                <a:solidFill>
                  <a:srgbClr val="FF0000"/>
                </a:solidFill>
                <a:latin typeface="宋体" panose="02010600030101010101" pitchFamily="2" charset="-122"/>
              </a:rPr>
              <a:t>轨道</a:t>
            </a:r>
            <a:r>
              <a:rPr lang="en-US" altLang="zh-CN" sz="1600" b="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GEO</a:t>
            </a:r>
            <a:r>
              <a:rPr lang="zh-CN" altLang="en-US" sz="1600" b="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：距</a:t>
            </a:r>
            <a:r>
              <a:rPr lang="zh-CN" altLang="en-US" sz="1600" b="0" dirty="0">
                <a:solidFill>
                  <a:srgbClr val="000000"/>
                </a:solidFill>
                <a:latin typeface="宋体" panose="02010600030101010101" pitchFamily="2" charset="-122"/>
              </a:rPr>
              <a:t>地面</a:t>
            </a:r>
            <a:r>
              <a:rPr lang="en-US" altLang="zh-CN" sz="1600" b="0" dirty="0">
                <a:solidFill>
                  <a:srgbClr val="FF0000"/>
                </a:solidFill>
                <a:latin typeface="宋体" panose="02010600030101010101" pitchFamily="2" charset="-122"/>
              </a:rPr>
              <a:t>35800</a:t>
            </a:r>
            <a:r>
              <a:rPr lang="zh-CN" altLang="en-US" sz="1600" b="0" dirty="0">
                <a:solidFill>
                  <a:srgbClr val="FF0000"/>
                </a:solidFill>
                <a:latin typeface="宋体" panose="02010600030101010101" pitchFamily="2" charset="-122"/>
              </a:rPr>
              <a:t>公里</a:t>
            </a:r>
            <a:r>
              <a:rPr lang="zh-CN" altLang="en-US" sz="1600" b="0" dirty="0">
                <a:solidFill>
                  <a:srgbClr val="000000"/>
                </a:solidFill>
                <a:latin typeface="宋体" panose="02010600030101010101" pitchFamily="2" charset="-122"/>
              </a:rPr>
              <a:t>，运行周期</a:t>
            </a:r>
            <a:r>
              <a:rPr lang="en-US" altLang="zh-CN" sz="1600" b="0" dirty="0">
                <a:solidFill>
                  <a:srgbClr val="000000"/>
                </a:solidFill>
                <a:latin typeface="宋体" panose="02010600030101010101" pitchFamily="2" charset="-122"/>
              </a:rPr>
              <a:t>24</a:t>
            </a:r>
            <a:r>
              <a:rPr lang="zh-CN" altLang="en-US" sz="1600" b="0" dirty="0">
                <a:solidFill>
                  <a:srgbClr val="000000"/>
                </a:solidFill>
                <a:latin typeface="宋体" panose="02010600030101010101" pitchFamily="2" charset="-122"/>
              </a:rPr>
              <a:t>小时　</a:t>
            </a:r>
            <a:endParaRPr lang="zh-CN" altLang="en-US" sz="1600" b="0" dirty="0"/>
          </a:p>
        </p:txBody>
      </p:sp>
      <p:sp>
        <p:nvSpPr>
          <p:cNvPr id="91" name="文本框 90"/>
          <p:cNvSpPr txBox="1">
            <a:spLocks noChangeArrowheads="1"/>
          </p:cNvSpPr>
          <p:nvPr/>
        </p:nvSpPr>
        <p:spPr bwMode="auto">
          <a:xfrm>
            <a:off x="110857" y="4471117"/>
            <a:ext cx="873998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="0" dirty="0" smtClean="0">
                <a:latin typeface="宋体" panose="02010600030101010101" pitchFamily="2" charset="-122"/>
              </a:rPr>
              <a:t>在</a:t>
            </a:r>
            <a:r>
              <a:rPr lang="zh-CN" altLang="en-US" sz="1600" b="0" dirty="0">
                <a:latin typeface="宋体" panose="02010600030101010101" pitchFamily="2" charset="-122"/>
              </a:rPr>
              <a:t>北极向下看，如果轨道的运动是逆时针运动的，则称之为顺行轨道，反之为逆行轨道</a:t>
            </a:r>
            <a:r>
              <a:rPr lang="zh-CN" altLang="en-US" sz="1600" b="0" dirty="0" smtClean="0">
                <a:latin typeface="宋体" panose="02010600030101010101" pitchFamily="2" charset="-122"/>
              </a:rPr>
              <a:t>。顺行</a:t>
            </a:r>
            <a:r>
              <a:rPr lang="zh-CN" altLang="en-US" sz="1600" b="0" dirty="0">
                <a:latin typeface="宋体" panose="02010600030101010101" pitchFamily="2" charset="-122"/>
              </a:rPr>
              <a:t>轨道的倾角值在</a:t>
            </a:r>
            <a:r>
              <a:rPr lang="en-US" altLang="zh-CN" sz="1600" b="0" dirty="0"/>
              <a:t>0º~90º</a:t>
            </a:r>
            <a:r>
              <a:rPr lang="zh-CN" altLang="en-US" sz="1600" b="0" dirty="0" smtClean="0">
                <a:latin typeface="宋体" panose="02010600030101010101" pitchFamily="2" charset="-122"/>
              </a:rPr>
              <a:t>之间（</a:t>
            </a:r>
            <a:r>
              <a:rPr lang="zh-CN" altLang="en-US" sz="1600" b="0" dirty="0">
                <a:solidFill>
                  <a:srgbClr val="000000"/>
                </a:solidFill>
                <a:latin typeface="宋体" panose="02010600030101010101" pitchFamily="2" charset="-122"/>
              </a:rPr>
              <a:t>把航天器送入顺行轨道，运载火箭要朝东方向</a:t>
            </a:r>
            <a:r>
              <a:rPr lang="zh-CN" altLang="en-US" sz="1600" b="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发射</a:t>
            </a:r>
            <a:r>
              <a:rPr lang="zh-CN" altLang="en-US" sz="1600" b="0" dirty="0" smtClean="0">
                <a:latin typeface="宋体" panose="02010600030101010101" pitchFamily="2" charset="-122"/>
              </a:rPr>
              <a:t>）逆行</a:t>
            </a:r>
            <a:r>
              <a:rPr lang="zh-CN" altLang="en-US" sz="1600" b="0" dirty="0">
                <a:latin typeface="宋体" panose="02010600030101010101" pitchFamily="2" charset="-122"/>
              </a:rPr>
              <a:t>轨道的倾角值在</a:t>
            </a:r>
            <a:r>
              <a:rPr lang="en-US" altLang="zh-CN" sz="1600" b="0" dirty="0"/>
              <a:t>90º~180º</a:t>
            </a:r>
            <a:r>
              <a:rPr lang="zh-CN" altLang="en-US" sz="1600" b="0" dirty="0" smtClean="0">
                <a:latin typeface="宋体" panose="02010600030101010101" pitchFamily="2" charset="-122"/>
              </a:rPr>
              <a:t>之间（</a:t>
            </a:r>
            <a:r>
              <a:rPr lang="zh-CN" altLang="en-US" sz="1600" b="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朝西方向发射，耗能，一般不用</a:t>
            </a:r>
            <a:r>
              <a:rPr lang="zh-CN" altLang="en-US" sz="1600" b="0" dirty="0" smtClean="0">
                <a:latin typeface="宋体" panose="02010600030101010101" pitchFamily="2" charset="-122"/>
              </a:rPr>
              <a:t>）轨道倾角</a:t>
            </a:r>
            <a:r>
              <a:rPr lang="zh-CN" altLang="en-US" sz="1600" b="0" dirty="0">
                <a:latin typeface="宋体" panose="02010600030101010101" pitchFamily="2" charset="-122"/>
              </a:rPr>
              <a:t>值为</a:t>
            </a:r>
            <a:r>
              <a:rPr lang="en-US" altLang="zh-CN" sz="1600" b="0" dirty="0"/>
              <a:t>90º</a:t>
            </a:r>
            <a:r>
              <a:rPr lang="zh-CN" altLang="en-US" sz="1600" b="0" dirty="0">
                <a:latin typeface="宋体" panose="02010600030101010101" pitchFamily="2" charset="-122"/>
              </a:rPr>
              <a:t>，称为极地轨道</a:t>
            </a:r>
            <a:r>
              <a:rPr lang="zh-CN" altLang="en-US" sz="1600" b="0" dirty="0"/>
              <a:t> </a:t>
            </a:r>
          </a:p>
        </p:txBody>
      </p:sp>
      <p:sp>
        <p:nvSpPr>
          <p:cNvPr id="92" name="文本框 91"/>
          <p:cNvSpPr txBox="1">
            <a:spLocks noChangeArrowheads="1"/>
          </p:cNvSpPr>
          <p:nvPr/>
        </p:nvSpPr>
        <p:spPr bwMode="auto">
          <a:xfrm>
            <a:off x="110857" y="5302114"/>
            <a:ext cx="873998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b="0" dirty="0" smtClean="0">
                <a:latin typeface="宋体" panose="02010600030101010101" pitchFamily="2" charset="-122"/>
              </a:rPr>
              <a:t>轨道倾角</a:t>
            </a:r>
            <a:r>
              <a:rPr lang="en-US" altLang="zh-CN" sz="1600" b="0" dirty="0" err="1" smtClean="0">
                <a:latin typeface="宋体" panose="02010600030101010101" pitchFamily="2" charset="-122"/>
              </a:rPr>
              <a:t>i</a:t>
            </a:r>
            <a:r>
              <a:rPr lang="zh-CN" altLang="en-US" sz="1600" b="0" dirty="0" smtClean="0">
                <a:latin typeface="宋体" panose="02010600030101010101" pitchFamily="2" charset="-122"/>
              </a:rPr>
              <a:t>在</a:t>
            </a:r>
            <a:r>
              <a:rPr lang="en-US" altLang="zh-CN" sz="1600" b="0" dirty="0" smtClean="0">
                <a:latin typeface="宋体" panose="02010600030101010101" pitchFamily="2" charset="-122"/>
              </a:rPr>
              <a:t>0°</a:t>
            </a:r>
            <a:r>
              <a:rPr lang="zh-CN" altLang="en-US" sz="1600" b="0" dirty="0" smtClean="0">
                <a:latin typeface="宋体" panose="02010600030101010101" pitchFamily="2" charset="-122"/>
              </a:rPr>
              <a:t>－</a:t>
            </a:r>
            <a:r>
              <a:rPr lang="en-US" altLang="zh-CN" sz="1600" b="0" dirty="0" smtClean="0">
                <a:latin typeface="宋体" panose="02010600030101010101" pitchFamily="2" charset="-122"/>
              </a:rPr>
              <a:t>90°</a:t>
            </a:r>
            <a:r>
              <a:rPr lang="zh-CN" altLang="en-US" sz="1600" b="0" dirty="0">
                <a:latin typeface="宋体" panose="02010600030101010101" pitchFamily="2" charset="-122"/>
              </a:rPr>
              <a:t>的轨道一般都称为倾斜轨道。这是最常见的轨道</a:t>
            </a:r>
            <a:r>
              <a:rPr lang="zh-CN" altLang="en-US" sz="1600" b="0" dirty="0" smtClean="0">
                <a:latin typeface="宋体" panose="02010600030101010101" pitchFamily="2" charset="-122"/>
              </a:rPr>
              <a:t>。</a:t>
            </a:r>
            <a:endParaRPr lang="zh-CN" altLang="en-US" sz="1600" b="0" dirty="0">
              <a:latin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6618" y="5746695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</a:rPr>
              <a:t>地球同步轨道</a:t>
            </a:r>
            <a:endParaRPr lang="zh-CN" altLang="en-US" sz="1600" dirty="0">
              <a:latin typeface="宋体" panose="02010600030101010101" pitchFamily="2" charset="-122"/>
            </a:endParaRPr>
          </a:p>
        </p:txBody>
      </p:sp>
      <p:graphicFrame>
        <p:nvGraphicFramePr>
          <p:cNvPr id="93" name="对象 9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6688007"/>
              </p:ext>
            </p:extLst>
          </p:nvPr>
        </p:nvGraphicFramePr>
        <p:xfrm>
          <a:off x="1542390" y="5621904"/>
          <a:ext cx="1656860" cy="397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0" name="Equation" r:id="rId37" imgW="736560" imgH="177480" progId="Equation.DSMT4">
                  <p:embed/>
                </p:oleObj>
              </mc:Choice>
              <mc:Fallback>
                <p:oleObj name="Equation" r:id="rId37" imgW="736560" imgH="1774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2390" y="5621904"/>
                        <a:ext cx="1656860" cy="3971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对象 9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7223178"/>
              </p:ext>
            </p:extLst>
          </p:nvPr>
        </p:nvGraphicFramePr>
        <p:xfrm>
          <a:off x="3259183" y="5636394"/>
          <a:ext cx="2743200" cy="367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1" r:id="rId39" imgW="2019300" imgH="279400" progId="Equation.3">
                  <p:embed/>
                </p:oleObj>
              </mc:Choice>
              <mc:Fallback>
                <p:oleObj r:id="rId39" imgW="2019300" imgH="279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9183" y="5636394"/>
                        <a:ext cx="2743200" cy="367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/>
          <p:cNvSpPr txBox="1">
            <a:spLocks noChangeArrowheads="1"/>
          </p:cNvSpPr>
          <p:nvPr/>
        </p:nvSpPr>
        <p:spPr bwMode="auto">
          <a:xfrm>
            <a:off x="-382377" y="6126499"/>
            <a:ext cx="879444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600" b="0" dirty="0"/>
              <a:t>         </a:t>
            </a:r>
            <a:r>
              <a:rPr lang="zh-CN" altLang="en-US" sz="1600" b="0" dirty="0" smtClean="0">
                <a:solidFill>
                  <a:srgbClr val="FF0000"/>
                </a:solidFill>
              </a:rPr>
              <a:t>“太阳</a:t>
            </a:r>
            <a:r>
              <a:rPr lang="zh-CN" altLang="en-US" sz="1600" b="0" dirty="0" smtClean="0">
                <a:solidFill>
                  <a:srgbClr val="7030A0"/>
                </a:solidFill>
              </a:rPr>
              <a:t>（恒星）</a:t>
            </a:r>
            <a:r>
              <a:rPr lang="zh-CN" altLang="en-US" sz="1600" b="0" dirty="0" smtClean="0">
                <a:solidFill>
                  <a:srgbClr val="FF0000"/>
                </a:solidFill>
              </a:rPr>
              <a:t>日”</a:t>
            </a:r>
            <a:r>
              <a:rPr lang="zh-CN" altLang="en-US" sz="1600" b="0" dirty="0"/>
              <a:t>：即</a:t>
            </a:r>
            <a:r>
              <a:rPr lang="zh-CN" altLang="en-US" sz="1600" b="0" dirty="0" smtClean="0"/>
              <a:t>太阳</a:t>
            </a:r>
            <a:r>
              <a:rPr lang="zh-CN" altLang="en-US" sz="1600" b="0" dirty="0" smtClean="0">
                <a:solidFill>
                  <a:srgbClr val="7030A0"/>
                </a:solidFill>
              </a:rPr>
              <a:t>（恒星）</a:t>
            </a:r>
            <a:r>
              <a:rPr lang="zh-CN" altLang="en-US" sz="1600" b="0" dirty="0" smtClean="0"/>
              <a:t>连续</a:t>
            </a:r>
            <a:r>
              <a:rPr lang="zh-CN" altLang="en-US" sz="1600" b="0" dirty="0"/>
              <a:t>两次上中天的时间间隔</a:t>
            </a:r>
            <a:r>
              <a:rPr lang="zh-CN" altLang="en-US" sz="1600" b="0" dirty="0" smtClean="0"/>
              <a:t>。即</a:t>
            </a:r>
            <a:r>
              <a:rPr lang="en-US" altLang="zh-CN" sz="1600" b="0" dirty="0" smtClean="0"/>
              <a:t>24h</a:t>
            </a:r>
            <a:r>
              <a:rPr lang="zh-CN" altLang="en-US" sz="1600" b="0" dirty="0" smtClean="0">
                <a:solidFill>
                  <a:srgbClr val="7030A0"/>
                </a:solidFill>
              </a:rPr>
              <a:t>（</a:t>
            </a:r>
            <a:r>
              <a:rPr lang="en-US" altLang="zh-CN" sz="1600" b="0" dirty="0" smtClean="0">
                <a:solidFill>
                  <a:srgbClr val="7030A0"/>
                </a:solidFill>
              </a:rPr>
              <a:t>86164s</a:t>
            </a:r>
            <a:r>
              <a:rPr lang="zh-CN" altLang="en-US" sz="1600" b="0" dirty="0" smtClean="0">
                <a:solidFill>
                  <a:srgbClr val="7030A0"/>
                </a:solidFill>
              </a:rPr>
              <a:t>）</a:t>
            </a:r>
            <a:endParaRPr lang="zh-CN" altLang="en-US" sz="1600" b="0" dirty="0">
              <a:solidFill>
                <a:srgbClr val="7030A0"/>
              </a:solidFill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6148105" y="5595479"/>
            <a:ext cx="2492990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静止</a:t>
            </a:r>
            <a:r>
              <a:rPr lang="zh-CN" altLang="en-US" dirty="0" smtClean="0">
                <a:latin typeface="宋体" panose="02010600030101010101" pitchFamily="2" charset="-122"/>
              </a:rPr>
              <a:t>轨道：同步</a:t>
            </a:r>
            <a:r>
              <a:rPr lang="en-US" altLang="zh-CN" dirty="0" smtClean="0">
                <a:latin typeface="宋体" panose="02010600030101010101" pitchFamily="2" charset="-122"/>
              </a:rPr>
              <a:t>+</a:t>
            </a:r>
            <a:r>
              <a:rPr lang="en-US" altLang="zh-CN" dirty="0" err="1" smtClean="0">
                <a:latin typeface="宋体" panose="02010600030101010101" pitchFamily="2" charset="-122"/>
              </a:rPr>
              <a:t>e,i</a:t>
            </a:r>
            <a:r>
              <a:rPr lang="en-US" altLang="zh-CN" dirty="0" smtClean="0">
                <a:latin typeface="宋体" panose="02010600030101010101" pitchFamily="2" charset="-122"/>
              </a:rPr>
              <a:t>=0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26618" y="6432495"/>
            <a:ext cx="75713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太阳同步</a:t>
            </a:r>
            <a:r>
              <a:rPr lang="zh-CN" altLang="en-US" dirty="0" smtClean="0">
                <a:latin typeface="宋体" panose="02010600030101010101" pitchFamily="2" charset="-122"/>
              </a:rPr>
              <a:t>轨道：轨道</a:t>
            </a:r>
            <a:r>
              <a:rPr lang="zh-CN" altLang="en-US" dirty="0">
                <a:latin typeface="宋体" panose="02010600030101010101" pitchFamily="2" charset="-122"/>
              </a:rPr>
              <a:t>的进动方向和速率，与地球绕太阳的方向和速率</a:t>
            </a:r>
            <a:r>
              <a:rPr lang="zh-CN" altLang="en-US" dirty="0" smtClean="0">
                <a:latin typeface="宋体" panose="02010600030101010101" pitchFamily="2" charset="-122"/>
              </a:rPr>
              <a:t>相同</a:t>
            </a:r>
            <a:endParaRPr lang="zh-CN" altLang="en-US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85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88" grpId="0"/>
      <p:bldP spid="90" grpId="0" build="p"/>
      <p:bldP spid="91" grpId="0" build="p"/>
      <p:bldP spid="92" grpId="0" build="p"/>
      <p:bldP spid="9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813845"/>
              </p:ext>
            </p:extLst>
          </p:nvPr>
        </p:nvGraphicFramePr>
        <p:xfrm>
          <a:off x="-142" y="733351"/>
          <a:ext cx="2562367" cy="1039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9" name="公式" r:id="rId4" imgW="1752600" imgH="711200" progId="Equation.3">
                  <p:embed/>
                </p:oleObj>
              </mc:Choice>
              <mc:Fallback>
                <p:oleObj name="公式" r:id="rId4" imgW="17526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42" y="733351"/>
                        <a:ext cx="2562367" cy="1039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848838"/>
              </p:ext>
            </p:extLst>
          </p:nvPr>
        </p:nvGraphicFramePr>
        <p:xfrm>
          <a:off x="2687824" y="686138"/>
          <a:ext cx="2637430" cy="110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0" name="公式" r:id="rId6" imgW="1688367" imgH="710891" progId="Equation.3">
                  <p:embed/>
                </p:oleObj>
              </mc:Choice>
              <mc:Fallback>
                <p:oleObj name="公式" r:id="rId6" imgW="1688367" imgH="7108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824" y="686138"/>
                        <a:ext cx="2637430" cy="110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337581"/>
              </p:ext>
            </p:extLst>
          </p:nvPr>
        </p:nvGraphicFramePr>
        <p:xfrm>
          <a:off x="5450853" y="698417"/>
          <a:ext cx="2679083" cy="110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1" name="Equation" r:id="rId8" imgW="1714500" imgH="711200" progId="Equation.DSMT4">
                  <p:embed/>
                </p:oleObj>
              </mc:Choice>
              <mc:Fallback>
                <p:oleObj name="Equation" r:id="rId8" imgW="17145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0853" y="698417"/>
                        <a:ext cx="2679083" cy="110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881491"/>
              </p:ext>
            </p:extLst>
          </p:nvPr>
        </p:nvGraphicFramePr>
        <p:xfrm>
          <a:off x="2497650" y="3302863"/>
          <a:ext cx="1837743" cy="1300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2" name="Equation" r:id="rId10" imgW="1002865" imgH="710891" progId="Equation.DSMT4">
                  <p:embed/>
                </p:oleObj>
              </mc:Choice>
              <mc:Fallback>
                <p:oleObj name="Equation" r:id="rId10" imgW="1002865" imgH="7108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650" y="3302863"/>
                        <a:ext cx="1837743" cy="130091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381440"/>
              </p:ext>
            </p:extLst>
          </p:nvPr>
        </p:nvGraphicFramePr>
        <p:xfrm>
          <a:off x="287057" y="4641429"/>
          <a:ext cx="3129464" cy="446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3" name="Equation" r:id="rId12" imgW="1333500" imgH="190500" progId="Equation.DSMT4">
                  <p:embed/>
                </p:oleObj>
              </mc:Choice>
              <mc:Fallback>
                <p:oleObj name="Equation" r:id="rId12" imgW="1333500" imgH="190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57" y="4641429"/>
                        <a:ext cx="3129464" cy="44667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/>
          <p:cNvSpPr/>
          <p:nvPr/>
        </p:nvSpPr>
        <p:spPr>
          <a:xfrm>
            <a:off x="100482" y="3334334"/>
            <a:ext cx="22831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dirty="0" smtClean="0">
                <a:latin typeface="Times New Roman" panose="02020603050405020304" pitchFamily="18" charset="0"/>
              </a:rPr>
              <a:t>已知轨道根数，把</a:t>
            </a:r>
            <a:r>
              <a:rPr kumimoji="1" lang="zh-CN" altLang="en-US" dirty="0">
                <a:latin typeface="Times New Roman" panose="02020603050405020304" pitchFamily="18" charset="0"/>
              </a:rPr>
              <a:t>轨道平面内卫星轨道坐标系中的曲线转化到惯性坐标系中</a:t>
            </a:r>
            <a:endParaRPr lang="zh-CN" altLang="en-US" dirty="0"/>
          </a:p>
        </p:txBody>
      </p:sp>
      <p:graphicFrame>
        <p:nvGraphicFramePr>
          <p:cNvPr id="2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6552352"/>
              </p:ext>
            </p:extLst>
          </p:nvPr>
        </p:nvGraphicFramePr>
        <p:xfrm>
          <a:off x="6706143" y="3142790"/>
          <a:ext cx="2190022" cy="1376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4" name="Equation" r:id="rId14" imgW="1129810" imgH="710891" progId="Equation.DSMT4">
                  <p:embed/>
                </p:oleObj>
              </mc:Choice>
              <mc:Fallback>
                <p:oleObj name="Equation" r:id="rId14" imgW="1129810" imgH="7108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6143" y="3142790"/>
                        <a:ext cx="2190022" cy="137619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>
          <a:xfrm>
            <a:off x="4845221" y="3092221"/>
            <a:ext cx="1860922" cy="1477328"/>
          </a:xfrm>
          <a:prstGeom prst="rect">
            <a:avLst/>
          </a:prstGeom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kumimoji="1" lang="zh-CN" altLang="en-US" dirty="0" smtClean="0">
                <a:latin typeface="Times New Roman" panose="02020603050405020304" pitchFamily="18" charset="0"/>
              </a:rPr>
              <a:t>已知初始位置和速度，把</a:t>
            </a:r>
            <a:r>
              <a:rPr kumimoji="1" lang="zh-CN" altLang="en-US" dirty="0">
                <a:latin typeface="Times New Roman" panose="02020603050405020304" pitchFamily="18" charset="0"/>
              </a:rPr>
              <a:t>惯性坐标系中的曲线转化到了轨道平面内的极坐标中</a:t>
            </a:r>
          </a:p>
        </p:txBody>
      </p:sp>
      <p:graphicFrame>
        <p:nvGraphicFramePr>
          <p:cNvPr id="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087043"/>
              </p:ext>
            </p:extLst>
          </p:nvPr>
        </p:nvGraphicFramePr>
        <p:xfrm>
          <a:off x="4957306" y="4599221"/>
          <a:ext cx="296703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5" name="Equation" r:id="rId16" imgW="1104900" imgH="190500" progId="Equation.DSMT4">
                  <p:embed/>
                </p:oleObj>
              </mc:Choice>
              <mc:Fallback>
                <p:oleObj name="Equation" r:id="rId16" imgW="1104900" imgH="190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306" y="4599221"/>
                        <a:ext cx="2967037" cy="5111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341404"/>
              </p:ext>
            </p:extLst>
          </p:nvPr>
        </p:nvGraphicFramePr>
        <p:xfrm>
          <a:off x="41787" y="57908"/>
          <a:ext cx="2455863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6" name="Equation" r:id="rId18" imgW="1028520" imgH="190440" progId="Equation.DSMT4">
                  <p:embed/>
                </p:oleObj>
              </mc:Choice>
              <mc:Fallback>
                <p:oleObj name="Equation" r:id="rId18" imgW="102852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7" y="57908"/>
                        <a:ext cx="2455863" cy="6048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48"/>
          <p:cNvSpPr txBox="1">
            <a:spLocks noChangeArrowheads="1"/>
          </p:cNvSpPr>
          <p:nvPr/>
        </p:nvSpPr>
        <p:spPr bwMode="auto">
          <a:xfrm>
            <a:off x="2562225" y="21772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</a:rPr>
              <a:t>极坐标系</a:t>
            </a:r>
          </a:p>
        </p:txBody>
      </p:sp>
      <p:sp>
        <p:nvSpPr>
          <p:cNvPr id="30" name="Text Box 49"/>
          <p:cNvSpPr txBox="1">
            <a:spLocks noChangeArrowheads="1"/>
          </p:cNvSpPr>
          <p:nvPr/>
        </p:nvSpPr>
        <p:spPr bwMode="auto">
          <a:xfrm>
            <a:off x="2509614" y="323608"/>
            <a:ext cx="12105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</a:rPr>
              <a:t>结体坐标系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3477286" y="-12195"/>
                <a:ext cx="19289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286" y="-12195"/>
                <a:ext cx="1928990" cy="369332"/>
              </a:xfrm>
              <a:prstGeom prst="rect">
                <a:avLst/>
              </a:prstGeom>
              <a:blipFill rotWithShape="0">
                <a:blip r:embed="rId2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矩形 30"/>
              <p:cNvSpPr/>
              <p:nvPr/>
            </p:nvSpPr>
            <p:spPr>
              <a:xfrm>
                <a:off x="3567628" y="302979"/>
                <a:ext cx="20620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𝜓</m:t>
                    </m:r>
                    <m:r>
                      <m:rPr>
                        <m:nor/>
                      </m:rPr>
                      <a:rPr lang="zh-CN" alt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𝛺</m:t>
                    </m:r>
                    <m:r>
                      <a:rPr lang="zh-CN" altLang="en-US" i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m:rPr>
                        <m:nor/>
                      </m:rPr>
                      <a:rPr lang="zh-CN" alt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zh-CN" altLang="en-US" i="1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zh-CN" alt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m:rPr>
                        <m:nor/>
                      </m:rPr>
                      <a:rPr lang="zh-CN" alt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dirty="0" smtClean="0"/>
                  <a:t>+f</a:t>
                </a:r>
                <a:endParaRPr lang="zh-CN" altLang="en-US" dirty="0"/>
              </a:p>
            </p:txBody>
          </p:sp>
        </mc:Choice>
        <mc:Fallback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628" y="302979"/>
                <a:ext cx="2062039" cy="369332"/>
              </a:xfrm>
              <a:prstGeom prst="rect">
                <a:avLst/>
              </a:prstGeom>
              <a:blipFill rotWithShape="0">
                <a:blip r:embed="rId21"/>
                <a:stretch>
                  <a:fillRect l="-885" t="-10000" r="-177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-142" y="1881798"/>
                <a:ext cx="2383794" cy="338554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600" dirty="0" smtClean="0">
                    <a:latin typeface="Times New Roman" panose="02020603050405020304" pitchFamily="18" charset="0"/>
                  </a:rPr>
                  <a:t>地球的</a:t>
                </a:r>
                <a:r>
                  <a:rPr kumimoji="1"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岁差</a:t>
                </a:r>
                <a:r>
                  <a:rPr kumimoji="1" lang="zh-CN" altLang="en-US" sz="1600" dirty="0">
                    <a:latin typeface="Times New Roman" panose="02020603050405020304" pitchFamily="18" charset="0"/>
                  </a:rPr>
                  <a:t>也就是</a:t>
                </a:r>
                <a:r>
                  <a:rPr kumimoji="1" lang="zh-CN" altLang="en-US" sz="16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进动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2" y="1881798"/>
                <a:ext cx="2383794" cy="338554"/>
              </a:xfrm>
              <a:prstGeom prst="rect">
                <a:avLst/>
              </a:prstGeom>
              <a:blipFill rotWithShape="0">
                <a:blip r:embed="rId22"/>
                <a:stretch>
                  <a:fillRect l="-1272" t="-7018" b="-17544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矩形 32"/>
              <p:cNvSpPr/>
              <p:nvPr/>
            </p:nvSpPr>
            <p:spPr>
              <a:xfrm>
                <a:off x="2497650" y="1843266"/>
                <a:ext cx="6436799" cy="584775"/>
              </a:xfrm>
              <a:prstGeom prst="rect">
                <a:avLst/>
              </a:prstGeom>
              <a:ln>
                <a:solidFill>
                  <a:srgbClr val="00B0F0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0" smtClean="0">
                          <a:latin typeface="Cambria Math" panose="02040503050406030204" pitchFamily="18" charset="0"/>
                        </a:rPr>
                        <m:t>地轴的</m:t>
                      </m:r>
                      <m:r>
                        <a:rPr lang="zh-CN" altLang="en-US" sz="1600" i="0" smtClean="0">
                          <a:latin typeface="Cambria Math" panose="02040503050406030204" pitchFamily="18" charset="0"/>
                        </a:rPr>
                        <m:t>“</m:t>
                      </m:r>
                      <m:r>
                        <a:rPr lang="zh-CN" altLang="en-US" sz="1600" i="0" smtClean="0">
                          <a:latin typeface="Cambria Math" panose="02040503050406030204" pitchFamily="18" charset="0"/>
                        </a:rPr>
                        <m:t>点头</m:t>
                      </m:r>
                      <m:r>
                        <a:rPr lang="zh-CN" altLang="en-US" sz="1600" i="0" smtClean="0">
                          <a:latin typeface="Cambria Math" panose="02040503050406030204" pitchFamily="18" charset="0"/>
                        </a:rPr>
                        <m:t>”</m:t>
                      </m:r>
                      <m:r>
                        <a:rPr lang="zh-CN" altLang="en-US" sz="1600" i="0" smtClean="0">
                          <a:latin typeface="Cambria Math" panose="02040503050406030204" pitchFamily="18" charset="0"/>
                        </a:rPr>
                        <m:t>运动的周期为</m:t>
                      </m:r>
                      <m:r>
                        <a:rPr lang="en-US" altLang="zh-CN" sz="1600" i="0">
                          <a:latin typeface="Cambria Math" panose="02040503050406030204" pitchFamily="18" charset="0"/>
                        </a:rPr>
                        <m:t>18.6</m:t>
                      </m:r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年，约为</m:t>
                      </m:r>
                      <m:r>
                        <a:rPr lang="en-US" altLang="zh-CN" sz="1600" i="0">
                          <a:latin typeface="Cambria Math" panose="02040503050406030204" pitchFamily="18" charset="0"/>
                        </a:rPr>
                        <m:t>19</m:t>
                      </m:r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年</m:t>
                      </m:r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。</m:t>
                      </m:r>
                      <m:r>
                        <a:rPr lang="zh-CN" altLang="en-US" sz="1600" i="0">
                          <a:latin typeface="Cambria Math" panose="02040503050406030204" pitchFamily="18" charset="0"/>
                        </a:rPr>
                        <m:t>而在中国古代历法中，</m:t>
                      </m:r>
                    </m:oMath>
                  </m:oMathPara>
                </a14:m>
                <a:endParaRPr lang="en-US" altLang="zh-CN" sz="1600" dirty="0" smtClean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zh-CN" altLang="en-US" sz="1600" i="0">
                        <a:latin typeface="Cambria Math" panose="02040503050406030204" pitchFamily="18" charset="0"/>
                      </a:rPr>
                      <m:t>每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19</m:t>
                    </m:r>
                    <m:r>
                      <a:rPr lang="zh-CN" altLang="en-US" sz="1600" i="0">
                        <a:latin typeface="Cambria Math" panose="02040503050406030204" pitchFamily="18" charset="0"/>
                      </a:rPr>
                      <m:t>年为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1600" i="0">
                        <a:latin typeface="Cambria Math" panose="02040503050406030204" pitchFamily="18" charset="0"/>
                      </a:rPr>
                      <m:t>章，因此地轴的这种周期运动就叫</m:t>
                    </m:r>
                    <m:r>
                      <a:rPr lang="zh-CN" altLang="en-US" sz="1600" i="0">
                        <a:latin typeface="Cambria Math" panose="02040503050406030204" pitchFamily="18" charset="0"/>
                      </a:rPr>
                      <m:t>“</m:t>
                    </m:r>
                    <m:r>
                      <a:rPr lang="zh-CN" altLang="en-US" sz="1600" i="0">
                        <a:latin typeface="Cambria Math" panose="02040503050406030204" pitchFamily="18" charset="0"/>
                      </a:rPr>
                      <m:t>章动</m:t>
                    </m:r>
                    <m:r>
                      <a:rPr lang="zh-CN" altLang="en-US" sz="1600" i="0">
                        <a:latin typeface="Cambria Math" panose="02040503050406030204" pitchFamily="18" charset="0"/>
                      </a:rPr>
                      <m:t>”</m:t>
                    </m:r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θ</a:t>
                </a:r>
                <a:r>
                  <a:rPr lang="zh-CN" altLang="en-US" sz="1600" dirty="0" smtClean="0"/>
                  <a:t>。（十九年七闰）</a:t>
                </a:r>
                <a:endParaRPr lang="zh-CN" altLang="en-US" sz="1600" dirty="0"/>
              </a:p>
            </p:txBody>
          </p:sp>
        </mc:Choice>
        <mc:Fallback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650" y="1843266"/>
                <a:ext cx="6436799" cy="584775"/>
              </a:xfrm>
              <a:prstGeom prst="rect">
                <a:avLst/>
              </a:prstGeom>
              <a:blipFill rotWithShape="0">
                <a:blip r:embed="rId23"/>
                <a:stretch>
                  <a:fillRect r="-3592" b="-1224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 Box 5"/>
          <p:cNvSpPr txBox="1">
            <a:spLocks noChangeArrowheads="1"/>
          </p:cNvSpPr>
          <p:nvPr/>
        </p:nvSpPr>
        <p:spPr bwMode="auto">
          <a:xfrm>
            <a:off x="100483" y="2465689"/>
            <a:ext cx="4700117" cy="830997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</a:rPr>
              <a:t>绕体轴“</a:t>
            </a:r>
            <a:r>
              <a:rPr kumimoji="1" lang="en-US" altLang="zh-CN" sz="1600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1600" dirty="0">
                <a:latin typeface="Times New Roman" panose="02020603050405020304" pitchFamily="18" charset="0"/>
              </a:rPr>
              <a:t>－</a:t>
            </a:r>
            <a:r>
              <a:rPr kumimoji="1" lang="en-US" altLang="zh-CN" sz="1600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1600" dirty="0">
                <a:latin typeface="Times New Roman" panose="02020603050405020304" pitchFamily="18" charset="0"/>
              </a:rPr>
              <a:t>－</a:t>
            </a:r>
            <a:r>
              <a:rPr kumimoji="1" lang="en-US" altLang="zh-CN" sz="1600" dirty="0">
                <a:latin typeface="Times New Roman" panose="02020603050405020304" pitchFamily="18" charset="0"/>
              </a:rPr>
              <a:t>3”</a:t>
            </a:r>
            <a:r>
              <a:rPr kumimoji="1" lang="zh-CN" altLang="en-US" sz="1600" dirty="0">
                <a:latin typeface="Times New Roman" panose="02020603050405020304" pitchFamily="18" charset="0"/>
              </a:rPr>
              <a:t>为</a:t>
            </a:r>
            <a:r>
              <a:rPr kumimoji="1"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</a:rPr>
              <a:t>欧拉角</a:t>
            </a:r>
            <a:r>
              <a:rPr kumimoji="1" lang="zh-CN" altLang="en-US" sz="1600" dirty="0">
                <a:latin typeface="Times New Roman" panose="02020603050405020304" pitchFamily="18" charset="0"/>
              </a:rPr>
              <a:t>，多用于刚体定点运动。</a:t>
            </a:r>
          </a:p>
          <a:p>
            <a:r>
              <a:rPr kumimoji="1" lang="zh-CN" altLang="en-US" sz="1600" dirty="0">
                <a:latin typeface="Times New Roman" panose="02020603050405020304" pitchFamily="18" charset="0"/>
              </a:rPr>
              <a:t>绕体轴“</a:t>
            </a:r>
            <a:r>
              <a:rPr kumimoji="1" lang="en-US" altLang="zh-CN" sz="1600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1600" dirty="0">
                <a:latin typeface="Times New Roman" panose="02020603050405020304" pitchFamily="18" charset="0"/>
              </a:rPr>
              <a:t>－</a:t>
            </a:r>
            <a:r>
              <a:rPr kumimoji="1" lang="en-US" altLang="zh-CN" sz="1600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1600" dirty="0">
                <a:latin typeface="Times New Roman" panose="02020603050405020304" pitchFamily="18" charset="0"/>
              </a:rPr>
              <a:t>－</a:t>
            </a:r>
            <a:r>
              <a:rPr kumimoji="1" lang="en-US" altLang="zh-CN" sz="1600" dirty="0">
                <a:latin typeface="Times New Roman" panose="02020603050405020304" pitchFamily="18" charset="0"/>
              </a:rPr>
              <a:t>3”</a:t>
            </a:r>
            <a:r>
              <a:rPr kumimoji="1" lang="zh-CN" altLang="en-US" sz="1600" dirty="0">
                <a:latin typeface="Times New Roman" panose="02020603050405020304" pitchFamily="18" charset="0"/>
              </a:rPr>
              <a:t>为</a:t>
            </a:r>
            <a:r>
              <a:rPr kumimoji="1"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</a:rPr>
              <a:t>卡尔丹角</a:t>
            </a:r>
            <a:r>
              <a:rPr kumimoji="1" lang="zh-CN" altLang="en-US" sz="1600" dirty="0">
                <a:latin typeface="Times New Roman" panose="02020603050405020304" pitchFamily="18" charset="0"/>
              </a:rPr>
              <a:t>，多用于陀螺仪转子。</a:t>
            </a:r>
          </a:p>
          <a:p>
            <a:r>
              <a:rPr kumimoji="1" lang="zh-CN" altLang="en-US" sz="1600" dirty="0">
                <a:latin typeface="Times New Roman" panose="02020603050405020304" pitchFamily="18" charset="0"/>
              </a:rPr>
              <a:t>绕体轴“</a:t>
            </a:r>
            <a:r>
              <a:rPr kumimoji="1" lang="en-US" altLang="zh-CN" sz="1600" dirty="0">
                <a:latin typeface="Times New Roman" panose="02020603050405020304" pitchFamily="18" charset="0"/>
              </a:rPr>
              <a:t>3</a:t>
            </a:r>
            <a:r>
              <a:rPr kumimoji="1" lang="zh-CN" altLang="en-US" sz="1600" dirty="0">
                <a:latin typeface="Times New Roman" panose="02020603050405020304" pitchFamily="18" charset="0"/>
              </a:rPr>
              <a:t>－</a:t>
            </a:r>
            <a:r>
              <a:rPr kumimoji="1" lang="en-US" altLang="zh-CN" sz="1600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1600" dirty="0">
                <a:latin typeface="Times New Roman" panose="02020603050405020304" pitchFamily="18" charset="0"/>
              </a:rPr>
              <a:t>－</a:t>
            </a:r>
            <a:r>
              <a:rPr kumimoji="1" lang="en-US" altLang="zh-CN" sz="1600" dirty="0">
                <a:latin typeface="Times New Roman" panose="02020603050405020304" pitchFamily="18" charset="0"/>
              </a:rPr>
              <a:t>2”</a:t>
            </a:r>
            <a:r>
              <a:rPr kumimoji="1" lang="zh-CN" altLang="en-US" sz="1600" dirty="0">
                <a:latin typeface="Times New Roman" panose="02020603050405020304" pitchFamily="18" charset="0"/>
              </a:rPr>
              <a:t>为</a:t>
            </a:r>
            <a:r>
              <a:rPr kumimoji="1"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</a:rPr>
              <a:t>姿态角</a:t>
            </a:r>
            <a:r>
              <a:rPr kumimoji="1" lang="zh-CN" altLang="en-US" sz="1600" dirty="0">
                <a:latin typeface="Times New Roman" panose="02020603050405020304" pitchFamily="18" charset="0"/>
              </a:rPr>
              <a:t>，多用于飞行器。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矩形 38"/>
              <p:cNvSpPr/>
              <p:nvPr/>
            </p:nvSpPr>
            <p:spPr>
              <a:xfrm>
                <a:off x="30287" y="5125747"/>
                <a:ext cx="9243236" cy="338554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16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进动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：自转轴转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动，在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太阳和月球的引力作用下，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地球自转轴在空间描绘出一个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圆锥面。</m:t>
                    </m:r>
                  </m:oMath>
                </a14:m>
                <a:r>
                  <a:rPr lang="en-US" altLang="zh-CN" sz="1600" dirty="0" smtClean="0"/>
                  <a:t>T=25600Y</a:t>
                </a:r>
                <a:endParaRPr lang="zh-CN" altLang="en-US" sz="1600" dirty="0"/>
              </a:p>
            </p:txBody>
          </p:sp>
        </mc:Choice>
        <mc:Fallback>
          <p:sp>
            <p:nvSpPr>
              <p:cNvPr id="39" name="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7" y="5125747"/>
                <a:ext cx="9243236" cy="338554"/>
              </a:xfrm>
              <a:prstGeom prst="rect">
                <a:avLst/>
              </a:prstGeom>
              <a:blipFill rotWithShape="0">
                <a:blip r:embed="rId24"/>
                <a:stretch>
                  <a:fillRect l="-329" t="-7018" b="-2280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矩形 39"/>
          <p:cNvSpPr/>
          <p:nvPr/>
        </p:nvSpPr>
        <p:spPr>
          <a:xfrm>
            <a:off x="4800600" y="2479792"/>
            <a:ext cx="4133849" cy="584775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章动变化就是地球自转轴与共转 轴之间的夹角在23.5度的基础上 有微小的“点头”运动。</a:t>
            </a:r>
          </a:p>
        </p:txBody>
      </p:sp>
      <p:graphicFrame>
        <p:nvGraphicFramePr>
          <p:cNvPr id="4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2872789"/>
              </p:ext>
            </p:extLst>
          </p:nvPr>
        </p:nvGraphicFramePr>
        <p:xfrm>
          <a:off x="242921" y="5694866"/>
          <a:ext cx="2397168" cy="693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7" name="Equation" r:id="rId25" imgW="2844720" imgH="825480" progId="Equation.DSMT4">
                  <p:embed/>
                </p:oleObj>
              </mc:Choice>
              <mc:Fallback>
                <p:oleObj name="Equation" r:id="rId25" imgW="2844720" imgH="825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921" y="5694866"/>
                        <a:ext cx="2397168" cy="693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800167"/>
              </p:ext>
            </p:extLst>
          </p:nvPr>
        </p:nvGraphicFramePr>
        <p:xfrm>
          <a:off x="2804575" y="5501949"/>
          <a:ext cx="2868289" cy="949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8" name="Equation" r:id="rId27" imgW="1498320" imgH="495000" progId="Equation.DSMT4">
                  <p:embed/>
                </p:oleObj>
              </mc:Choice>
              <mc:Fallback>
                <p:oleObj name="Equation" r:id="rId27" imgW="149832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4575" y="5501949"/>
                        <a:ext cx="2868289" cy="9494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446825"/>
              </p:ext>
            </p:extLst>
          </p:nvPr>
        </p:nvGraphicFramePr>
        <p:xfrm>
          <a:off x="5882242" y="5501949"/>
          <a:ext cx="2808288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9" name="Equation" r:id="rId29" imgW="1091880" imgH="393480" progId="Equation.DSMT4">
                  <p:embed/>
                </p:oleObj>
              </mc:Choice>
              <mc:Fallback>
                <p:oleObj name="Equation" r:id="rId29" imgW="1091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2242" y="5501949"/>
                        <a:ext cx="2808288" cy="1012825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矩形 43"/>
          <p:cNvSpPr/>
          <p:nvPr/>
        </p:nvSpPr>
        <p:spPr>
          <a:xfrm>
            <a:off x="611784" y="648866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太阳同步轨道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3308260" y="642376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轨道摄动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022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185" y="1182587"/>
            <a:ext cx="2921811" cy="2770803"/>
          </a:xfrm>
          <a:prstGeom prst="rect">
            <a:avLst/>
          </a:prstGeom>
        </p:spPr>
      </p:pic>
      <p:graphicFrame>
        <p:nvGraphicFramePr>
          <p:cNvPr id="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978767"/>
              </p:ext>
            </p:extLst>
          </p:nvPr>
        </p:nvGraphicFramePr>
        <p:xfrm>
          <a:off x="32270" y="522784"/>
          <a:ext cx="1651379" cy="859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8" name="公式" r:id="rId5" imgW="876240" imgH="457200" progId="Equation.3">
                  <p:embed/>
                </p:oleObj>
              </mc:Choice>
              <mc:Fallback>
                <p:oleObj name="公式" r:id="rId5" imgW="8762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0" y="522784"/>
                        <a:ext cx="1651379" cy="859809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61164"/>
              </p:ext>
            </p:extLst>
          </p:nvPr>
        </p:nvGraphicFramePr>
        <p:xfrm>
          <a:off x="32270" y="1578633"/>
          <a:ext cx="2731401" cy="798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9" name="公式" r:id="rId7" imgW="1511280" imgH="444240" progId="Equation.3">
                  <p:embed/>
                </p:oleObj>
              </mc:Choice>
              <mc:Fallback>
                <p:oleObj name="公式" r:id="rId7" imgW="15112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0" y="1578633"/>
                        <a:ext cx="2731401" cy="798796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002491"/>
              </p:ext>
            </p:extLst>
          </p:nvPr>
        </p:nvGraphicFramePr>
        <p:xfrm>
          <a:off x="1774209" y="509926"/>
          <a:ext cx="4727874" cy="951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0" name="Equation" r:id="rId9" imgW="2641320" imgH="533160" progId="Equation.DSMT4">
                  <p:embed/>
                </p:oleObj>
              </mc:Choice>
              <mc:Fallback>
                <p:oleObj name="Equation" r:id="rId9" imgW="264132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209" y="509926"/>
                        <a:ext cx="4727874" cy="95198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248002"/>
              </p:ext>
            </p:extLst>
          </p:nvPr>
        </p:nvGraphicFramePr>
        <p:xfrm>
          <a:off x="2823305" y="1562671"/>
          <a:ext cx="3077518" cy="830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1" name="Equation" r:id="rId11" imgW="1688760" imgH="457200" progId="Equation.DSMT4">
                  <p:embed/>
                </p:oleObj>
              </mc:Choice>
              <mc:Fallback>
                <p:oleObj name="Equation" r:id="rId11" imgW="16887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3305" y="1562671"/>
                        <a:ext cx="3077518" cy="83072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-18295" y="59634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单脉冲变轨</a:t>
            </a:r>
            <a:endParaRPr lang="zh-CN" altLang="en-US" dirty="0"/>
          </a:p>
        </p:txBody>
      </p:sp>
      <p:graphicFrame>
        <p:nvGraphicFramePr>
          <p:cNvPr id="13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227401"/>
              </p:ext>
            </p:extLst>
          </p:nvPr>
        </p:nvGraphicFramePr>
        <p:xfrm>
          <a:off x="1222931" y="-3195"/>
          <a:ext cx="3508094" cy="508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2" name="Equation" r:id="rId13" imgW="1574640" imgH="228600" progId="Equation.DSMT4">
                  <p:embed/>
                </p:oleObj>
              </mc:Choice>
              <mc:Fallback>
                <p:oleObj name="Equation" r:id="rId13" imgW="1574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931" y="-3195"/>
                        <a:ext cx="3508094" cy="50845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48"/>
          <p:cNvSpPr>
            <a:spLocks noChangeArrowheads="1"/>
          </p:cNvSpPr>
          <p:nvPr/>
        </p:nvSpPr>
        <p:spPr bwMode="auto">
          <a:xfrm>
            <a:off x="4731025" y="79834"/>
            <a:ext cx="456407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 dirty="0"/>
              <a:t>飞行角</a:t>
            </a:r>
            <a:r>
              <a:rPr lang="zh-CN" altLang="en-US" sz="1600" dirty="0">
                <a:solidFill>
                  <a:srgbClr val="FF0000"/>
                </a:solidFill>
              </a:rPr>
              <a:t> </a:t>
            </a:r>
            <a:r>
              <a:rPr lang="zh-CN" altLang="en-US" sz="1600" i="1" dirty="0">
                <a:solidFill>
                  <a:srgbClr val="FF0000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160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zh-CN" altLang="en-US" sz="1600" dirty="0">
                <a:sym typeface="Symbol" panose="05050102010706020507" pitchFamily="18" charset="2"/>
              </a:rPr>
              <a:t>：卫星飞行速度 </a:t>
            </a:r>
            <a:r>
              <a:rPr lang="en-US" altLang="zh-CN" sz="1600" i="1" dirty="0">
                <a:sym typeface="Symbol" panose="05050102010706020507" pitchFamily="18" charset="2"/>
              </a:rPr>
              <a:t>v</a:t>
            </a:r>
            <a:r>
              <a:rPr lang="en-US" altLang="zh-CN" sz="1600" baseline="-25000" dirty="0">
                <a:sym typeface="Symbol" panose="05050102010706020507" pitchFamily="18" charset="2"/>
              </a:rPr>
              <a:t>1</a:t>
            </a:r>
            <a:r>
              <a:rPr lang="en-US" altLang="zh-CN" sz="1600" dirty="0">
                <a:sym typeface="Symbol" panose="05050102010706020507" pitchFamily="18" charset="2"/>
              </a:rPr>
              <a:t> </a:t>
            </a:r>
            <a:r>
              <a:rPr lang="zh-CN" altLang="en-US" sz="1600" dirty="0">
                <a:sym typeface="Symbol" panose="05050102010706020507" pitchFamily="18" charset="2"/>
              </a:rPr>
              <a:t>与当地水平线的</a:t>
            </a:r>
            <a:r>
              <a:rPr lang="zh-CN" altLang="en-US" sz="1600" dirty="0" smtClean="0">
                <a:sym typeface="Symbol" panose="05050102010706020507" pitchFamily="18" charset="2"/>
              </a:rPr>
              <a:t>夹角</a:t>
            </a:r>
            <a:endParaRPr lang="zh-CN" altLang="en-US" sz="1600" dirty="0">
              <a:sym typeface="Symbol" panose="05050102010706020507" pitchFamily="18" charset="2"/>
            </a:endParaRPr>
          </a:p>
        </p:txBody>
      </p:sp>
      <p:graphicFrame>
        <p:nvGraphicFramePr>
          <p:cNvPr id="2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342905"/>
              </p:ext>
            </p:extLst>
          </p:nvPr>
        </p:nvGraphicFramePr>
        <p:xfrm>
          <a:off x="6592643" y="475635"/>
          <a:ext cx="2423353" cy="906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3" name="公式" r:id="rId15" imgW="1218960" imgH="457200" progId="Equation.3">
                  <p:embed/>
                </p:oleObj>
              </mc:Choice>
              <mc:Fallback>
                <p:oleObj name="公式" r:id="rId15" imgW="12189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2643" y="475635"/>
                        <a:ext cx="2423353" cy="90695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2270" y="2432431"/>
            <a:ext cx="48414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）调整轨道半长轴（周期</a:t>
            </a:r>
            <a:r>
              <a:rPr lang="zh-CN" altLang="zh-CN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），且</a:t>
            </a:r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不改变轨道的偏心率</a:t>
            </a:r>
            <a:r>
              <a:rPr lang="zh-CN" altLang="zh-CN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  <a:r>
              <a:rPr lang="zh-CN" altLang="zh-CN" dirty="0"/>
              <a:t>近地点速度最大，</a:t>
            </a:r>
            <a:r>
              <a:rPr lang="zh-CN" altLang="zh-CN" dirty="0" smtClean="0"/>
              <a:t>在</a:t>
            </a:r>
            <a:r>
              <a:rPr lang="en-US" altLang="zh-CN" dirty="0" smtClean="0"/>
              <a:t>a</a:t>
            </a:r>
            <a:r>
              <a:rPr lang="zh-CN" altLang="zh-CN" dirty="0"/>
              <a:t>一定的情况下，在近地点修正轨道所需的脉冲速度最小</a:t>
            </a:r>
            <a:endParaRPr lang="zh-CN" altLang="en-US" dirty="0"/>
          </a:p>
        </p:txBody>
      </p:sp>
      <p:pic>
        <p:nvPicPr>
          <p:cNvPr id="25" name="图片 24"/>
          <p:cNvPicPr/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978" y="2376025"/>
            <a:ext cx="1405255" cy="7625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-25267" y="4187280"/>
            <a:ext cx="28937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zh-CN" altLang="zh-CN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仅仅</a:t>
            </a:r>
            <a:r>
              <a:rPr lang="zh-CN" altLang="zh-CN" dirty="0">
                <a:latin typeface="Calibri" panose="020F0502020204030204" pitchFamily="34" charset="0"/>
                <a:cs typeface="Times New Roman" panose="02020603050405020304" pitchFamily="18" charset="0"/>
              </a:rPr>
              <a:t>改变轨道倾角</a:t>
            </a:r>
            <a:r>
              <a:rPr lang="en-US" altLang="zh-CN" dirty="0" err="1" smtClean="0">
                <a:latin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zh-CN" altLang="en-US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endParaRPr lang="zh-CN" altLang="en-US" dirty="0"/>
          </a:p>
        </p:txBody>
      </p:sp>
      <p:sp>
        <p:nvSpPr>
          <p:cNvPr id="5" name="Rectangle 79"/>
          <p:cNvSpPr>
            <a:spLocks noChangeArrowheads="1"/>
          </p:cNvSpPr>
          <p:nvPr/>
        </p:nvSpPr>
        <p:spPr bwMode="auto">
          <a:xfrm flipV="1">
            <a:off x="-725033" y="4252714"/>
            <a:ext cx="8457676" cy="111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2270" y="330724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 smtClean="0"/>
              <a:t>（</a:t>
            </a:r>
            <a:r>
              <a:rPr lang="en-US" altLang="zh-CN" dirty="0"/>
              <a:t>2</a:t>
            </a:r>
            <a:r>
              <a:rPr lang="zh-CN" altLang="en-US" dirty="0" smtClean="0"/>
              <a:t>）椭圆</a:t>
            </a:r>
            <a:r>
              <a:rPr lang="zh-CN" altLang="en-US" dirty="0"/>
              <a:t>轨道要变扁，在近地点变轨可使速度增量为最小。椭圆轨道要变圆，在远地点变轨效率最高。</a:t>
            </a:r>
            <a:endParaRPr lang="zh-CN" altLang="en-US" dirty="0"/>
          </a:p>
        </p:txBody>
      </p:sp>
      <p:graphicFrame>
        <p:nvGraphicFramePr>
          <p:cNvPr id="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896956"/>
              </p:ext>
            </p:extLst>
          </p:nvPr>
        </p:nvGraphicFramePr>
        <p:xfrm>
          <a:off x="4534046" y="3397357"/>
          <a:ext cx="1581187" cy="56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4" name="公式" r:id="rId18" imgW="1104840" imgH="393480" progId="Equation.3">
                  <p:embed/>
                </p:oleObj>
              </mc:Choice>
              <mc:Fallback>
                <p:oleObj name="公式" r:id="rId18" imgW="11048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4046" y="3397357"/>
                        <a:ext cx="1581187" cy="5615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338463"/>
              </p:ext>
            </p:extLst>
          </p:nvPr>
        </p:nvGraphicFramePr>
        <p:xfrm>
          <a:off x="2703407" y="4056164"/>
          <a:ext cx="3494363" cy="566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5" name="Equation" r:id="rId20" imgW="1790640" imgH="291960" progId="Equation.DSMT4">
                  <p:embed/>
                </p:oleObj>
              </mc:Choice>
              <mc:Fallback>
                <p:oleObj name="Equation" r:id="rId20" imgW="17906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407" y="4056164"/>
                        <a:ext cx="3494363" cy="566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32270" y="4630376"/>
            <a:ext cx="8907547" cy="92333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 </a:t>
            </a:r>
            <a:r>
              <a:rPr lang="zh-CN" altLang="en-US" dirty="0">
                <a:solidFill>
                  <a:srgbClr val="000066"/>
                </a:solidFill>
              </a:rPr>
              <a:t>双脉冲变轨可以使新的轨道完全脱离原有轨道</a:t>
            </a:r>
            <a:r>
              <a:rPr lang="zh-CN" altLang="en-US" dirty="0" smtClean="0">
                <a:solidFill>
                  <a:srgbClr val="000066"/>
                </a:solidFill>
              </a:rPr>
              <a:t>。</a:t>
            </a:r>
            <a:r>
              <a:rPr lang="zh-CN" altLang="en-US" dirty="0" smtClean="0"/>
              <a:t>在</a:t>
            </a:r>
            <a:r>
              <a:rPr lang="zh-CN" altLang="en-US" dirty="0"/>
              <a:t>两个共面圆轨道之间的最佳变轨方式为霍曼变轨；在两个圆轨道之间的最佳过渡轨道是霍曼椭圆，此椭圆分别与两个圆轨道相切，切点就是过渡轨道的近地点和远地点。</a:t>
            </a:r>
          </a:p>
        </p:txBody>
      </p:sp>
      <p:sp>
        <p:nvSpPr>
          <p:cNvPr id="9" name="矩形 8"/>
          <p:cNvSpPr/>
          <p:nvPr/>
        </p:nvSpPr>
        <p:spPr>
          <a:xfrm>
            <a:off x="32270" y="5722720"/>
            <a:ext cx="4025380" cy="92333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霍曼变轨的</a:t>
            </a:r>
            <a:r>
              <a:rPr lang="zh-CN" altLang="en-US" dirty="0">
                <a:solidFill>
                  <a:srgbClr val="FF0000"/>
                </a:solidFill>
              </a:rPr>
              <a:t>特点</a:t>
            </a:r>
            <a:r>
              <a:rPr lang="zh-CN" altLang="en-US" dirty="0"/>
              <a:t>是：两次都是切向变轨，不含径向分量。第一次变轨将圆变为椭圆；第二次变轨将椭圆变为圆。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057650" y="5646520"/>
            <a:ext cx="5032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两次脉冲速度增量分别</a:t>
            </a:r>
            <a:r>
              <a:rPr lang="zh-CN" altLang="en-US" dirty="0" smtClean="0"/>
              <a:t>为：两者之和为特征速度</a:t>
            </a:r>
            <a:endParaRPr lang="zh-CN" altLang="en-US" dirty="0"/>
          </a:p>
        </p:txBody>
      </p:sp>
      <p:graphicFrame>
        <p:nvGraphicFramePr>
          <p:cNvPr id="2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526156"/>
              </p:ext>
            </p:extLst>
          </p:nvPr>
        </p:nvGraphicFramePr>
        <p:xfrm>
          <a:off x="4138146" y="6026173"/>
          <a:ext cx="2185653" cy="75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6" name="公式" r:id="rId22" imgW="1790640" imgH="558720" progId="Equation.3">
                  <p:embed/>
                </p:oleObj>
              </mc:Choice>
              <mc:Fallback>
                <p:oleObj name="公式" r:id="rId22" imgW="179064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8146" y="6026173"/>
                        <a:ext cx="2185653" cy="75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99085"/>
              </p:ext>
            </p:extLst>
          </p:nvPr>
        </p:nvGraphicFramePr>
        <p:xfrm>
          <a:off x="6592643" y="5978057"/>
          <a:ext cx="2372924" cy="812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7" name="公式" r:id="rId24" imgW="1815840" imgH="558720" progId="Equation.3">
                  <p:embed/>
                </p:oleObj>
              </mc:Choice>
              <mc:Fallback>
                <p:oleObj name="公式" r:id="rId24" imgW="181584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2643" y="5978057"/>
                        <a:ext cx="2372924" cy="8128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196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58782"/>
            <a:ext cx="90868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霍曼</a:t>
            </a:r>
            <a:r>
              <a:rPr lang="zh-CN" altLang="en-US" dirty="0"/>
              <a:t>转移轨道虽然</a:t>
            </a:r>
            <a:r>
              <a:rPr lang="zh-CN" altLang="en-US" dirty="0">
                <a:solidFill>
                  <a:srgbClr val="FF0000"/>
                </a:solidFill>
              </a:rPr>
              <a:t>节省能源</a:t>
            </a:r>
            <a:r>
              <a:rPr lang="zh-CN" altLang="en-US" dirty="0"/>
              <a:t>，但完成轨道</a:t>
            </a:r>
            <a:r>
              <a:rPr lang="zh-CN" altLang="en-US" dirty="0" smtClean="0"/>
              <a:t>转移所</a:t>
            </a:r>
            <a:endParaRPr lang="en-US" altLang="zh-CN" dirty="0" smtClean="0"/>
          </a:p>
          <a:p>
            <a:r>
              <a:rPr lang="zh-CN" altLang="en-US" dirty="0" smtClean="0"/>
              <a:t>需要的</a:t>
            </a:r>
            <a:r>
              <a:rPr lang="zh-CN" altLang="en-US" dirty="0">
                <a:solidFill>
                  <a:srgbClr val="FF0000"/>
                </a:solidFill>
              </a:rPr>
              <a:t>时间最长</a:t>
            </a:r>
            <a:r>
              <a:rPr lang="zh-CN" altLang="en-US" dirty="0"/>
              <a:t>，至少为转移轨道周期的一半，为</a:t>
            </a:r>
            <a:r>
              <a:rPr lang="zh-CN" altLang="en-US" dirty="0" smtClean="0"/>
              <a:t>：</a:t>
            </a:r>
            <a:endParaRPr lang="en-US" altLang="zh-CN" dirty="0" smtClean="0"/>
          </a:p>
        </p:txBody>
      </p:sp>
      <p:graphicFrame>
        <p:nvGraphicFramePr>
          <p:cNvPr id="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101000"/>
              </p:ext>
            </p:extLst>
          </p:nvPr>
        </p:nvGraphicFramePr>
        <p:xfrm>
          <a:off x="5461619" y="17832"/>
          <a:ext cx="2927350" cy="955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Equation" r:id="rId4" imgW="1511280" imgH="495000" progId="Equation.DSMT4">
                  <p:embed/>
                </p:oleObj>
              </mc:Choice>
              <mc:Fallback>
                <p:oleObj name="Equation" r:id="rId4" imgW="151128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619" y="17832"/>
                        <a:ext cx="2927350" cy="9556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0" y="808167"/>
            <a:ext cx="61531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如果轨道无交点，且为椭圆</a:t>
            </a:r>
            <a:r>
              <a:rPr lang="zh-CN" altLang="en-US" dirty="0" smtClean="0"/>
              <a:t>轨道</a:t>
            </a:r>
            <a:r>
              <a:rPr lang="en-US" altLang="zh-CN" dirty="0" smtClean="0"/>
              <a:t>—</a:t>
            </a:r>
            <a:r>
              <a:rPr lang="zh-CN" altLang="en-US" dirty="0" smtClean="0"/>
              <a:t>采用双</a:t>
            </a:r>
            <a:r>
              <a:rPr lang="zh-CN" altLang="en-US" dirty="0"/>
              <a:t>脉冲</a:t>
            </a:r>
            <a:r>
              <a:rPr lang="zh-CN" altLang="en-US" dirty="0" smtClean="0"/>
              <a:t>拱线变轨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1177499"/>
            <a:ext cx="87439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同向双脉冲：</a:t>
            </a:r>
            <a:r>
              <a:rPr lang="zh-CN" altLang="en-US" dirty="0"/>
              <a:t>过渡轨道半长轴在</a:t>
            </a:r>
            <a:r>
              <a:rPr lang="zh-CN" altLang="en-US" dirty="0" smtClean="0"/>
              <a:t>两目标</a:t>
            </a:r>
            <a:r>
              <a:rPr lang="zh-CN" altLang="en-US" dirty="0"/>
              <a:t>轨道之间。第一次加速，第二次也加速。</a:t>
            </a:r>
          </a:p>
          <a:p>
            <a:r>
              <a:rPr lang="zh-CN" altLang="en-US" dirty="0"/>
              <a:t>反向双脉冲：过渡轨道半长轴大于</a:t>
            </a:r>
            <a:r>
              <a:rPr lang="zh-CN" altLang="en-US" dirty="0" smtClean="0"/>
              <a:t>两目标</a:t>
            </a:r>
            <a:r>
              <a:rPr lang="zh-CN" altLang="en-US" dirty="0"/>
              <a:t>轨道。第一次加速，第二次减速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0" y="1823830"/>
            <a:ext cx="87439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卫星从发射到成为静止卫星，要经过几个阶段</a:t>
            </a:r>
            <a:r>
              <a:rPr lang="zh-CN" altLang="en-US" dirty="0" smtClean="0"/>
              <a:t>：</a:t>
            </a:r>
            <a:r>
              <a:rPr lang="zh-CN" altLang="en-US" dirty="0">
                <a:solidFill>
                  <a:schemeClr val="accent2"/>
                </a:solidFill>
              </a:rPr>
              <a:t>上升段动力</a:t>
            </a:r>
            <a:r>
              <a:rPr lang="zh-CN" altLang="en-US" dirty="0" smtClean="0">
                <a:solidFill>
                  <a:schemeClr val="accent2"/>
                </a:solidFill>
              </a:rPr>
              <a:t>飞行、沿</a:t>
            </a:r>
            <a:r>
              <a:rPr lang="zh-CN" altLang="en-US" dirty="0">
                <a:solidFill>
                  <a:schemeClr val="accent2"/>
                </a:solidFill>
              </a:rPr>
              <a:t>驻留轨道</a:t>
            </a:r>
            <a:r>
              <a:rPr lang="zh-CN" altLang="en-US" dirty="0" smtClean="0">
                <a:solidFill>
                  <a:schemeClr val="accent2"/>
                </a:solidFill>
              </a:rPr>
              <a:t>滑行、在</a:t>
            </a:r>
            <a:r>
              <a:rPr lang="zh-CN" altLang="en-US" dirty="0">
                <a:solidFill>
                  <a:schemeClr val="accent2"/>
                </a:solidFill>
              </a:rPr>
              <a:t>近地点</a:t>
            </a:r>
            <a:r>
              <a:rPr lang="zh-CN" altLang="en-US" dirty="0" smtClean="0">
                <a:solidFill>
                  <a:schemeClr val="accent2"/>
                </a:solidFill>
              </a:rPr>
              <a:t>射入、在</a:t>
            </a:r>
            <a:r>
              <a:rPr lang="zh-CN" altLang="en-US" dirty="0">
                <a:solidFill>
                  <a:schemeClr val="accent2"/>
                </a:solidFill>
              </a:rPr>
              <a:t>过渡轨道上</a:t>
            </a:r>
            <a:r>
              <a:rPr lang="zh-CN" altLang="en-US" dirty="0" smtClean="0">
                <a:solidFill>
                  <a:schemeClr val="accent2"/>
                </a:solidFill>
              </a:rPr>
              <a:t>运行、远地点射入、在</a:t>
            </a:r>
            <a:r>
              <a:rPr lang="zh-CN" altLang="en-US" dirty="0">
                <a:solidFill>
                  <a:schemeClr val="accent2"/>
                </a:solidFill>
              </a:rPr>
              <a:t>准同步轨道上</a:t>
            </a:r>
            <a:r>
              <a:rPr lang="zh-CN" altLang="en-US" dirty="0" smtClean="0">
                <a:solidFill>
                  <a:schemeClr val="accent2"/>
                </a:solidFill>
              </a:rPr>
              <a:t>漂移、定点</a:t>
            </a:r>
            <a:r>
              <a:rPr lang="zh-CN" altLang="en-US" dirty="0">
                <a:solidFill>
                  <a:schemeClr val="accent2"/>
                </a:solidFill>
              </a:rPr>
              <a:t>置</a:t>
            </a:r>
            <a:r>
              <a:rPr lang="zh-CN" altLang="en-US" dirty="0" smtClean="0">
                <a:solidFill>
                  <a:schemeClr val="accent2"/>
                </a:solidFill>
              </a:rPr>
              <a:t>入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948859"/>
              </p:ext>
            </p:extLst>
          </p:nvPr>
        </p:nvGraphicFramePr>
        <p:xfrm>
          <a:off x="2362993" y="2423732"/>
          <a:ext cx="5865813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Equation" r:id="rId6" imgW="2286000" imgH="203040" progId="Equation.DSMT4">
                  <p:embed/>
                </p:oleObj>
              </mc:Choice>
              <mc:Fallback>
                <p:oleObj name="Equation" r:id="rId6" imgW="2286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993" y="2423732"/>
                        <a:ext cx="5865813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28574" y="2492645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气动力长期摄动</a:t>
            </a:r>
            <a:r>
              <a:rPr lang="zh-CN" altLang="en-US" dirty="0" smtClean="0">
                <a:solidFill>
                  <a:srgbClr val="FF0000"/>
                </a:solidFill>
              </a:rPr>
              <a:t>影响：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2868538"/>
            <a:ext cx="69252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这</a:t>
            </a:r>
            <a:r>
              <a:rPr lang="zh-CN" altLang="en-US" dirty="0"/>
              <a:t>表明：大气阻力不影响轨道的方位，只影响轨道的大小和形状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即轨道高度</a:t>
            </a:r>
            <a:r>
              <a:rPr lang="zh-CN" altLang="en-US" dirty="0"/>
              <a:t>越来越小，轨道形状逐渐变圆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28575" y="3514868"/>
            <a:ext cx="6677026" cy="36933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 smtClean="0"/>
              <a:t>在天体力学中，三个质点在万有引力作用下的运 动称为</a:t>
            </a:r>
            <a:r>
              <a:rPr lang="zh-CN" altLang="en-US" dirty="0" smtClean="0">
                <a:solidFill>
                  <a:srgbClr val="FF0000"/>
                </a:solidFill>
              </a:rPr>
              <a:t>三体问题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8574" y="3913246"/>
            <a:ext cx="8982075" cy="120032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三个质量为m1，m2，m的质点构成三体系统，</a:t>
            </a:r>
            <a:r>
              <a:rPr lang="zh-CN" altLang="en-US" dirty="0" smtClean="0"/>
              <a:t>如果</a:t>
            </a:r>
            <a:r>
              <a:rPr lang="zh-CN" altLang="en-US" dirty="0"/>
              <a:t>m远远小于m1，m2 ，则可以忽略m对m</a:t>
            </a:r>
            <a:r>
              <a:rPr lang="zh-CN" altLang="en-US" dirty="0" smtClean="0"/>
              <a:t>1，m</a:t>
            </a:r>
            <a:r>
              <a:rPr lang="zh-CN" altLang="en-US" dirty="0"/>
              <a:t>2的万 有</a:t>
            </a:r>
            <a:r>
              <a:rPr lang="zh-CN" altLang="en-US" dirty="0" smtClean="0"/>
              <a:t>引力作用</a:t>
            </a:r>
            <a:r>
              <a:rPr lang="zh-CN" altLang="en-US" dirty="0"/>
              <a:t>，</a:t>
            </a:r>
            <a:r>
              <a:rPr lang="zh-CN" altLang="en-US" dirty="0" smtClean="0"/>
              <a:t>研究</a:t>
            </a:r>
            <a:r>
              <a:rPr lang="zh-CN" altLang="en-US" dirty="0"/>
              <a:t>m在m1，m2的万有引力作用下</a:t>
            </a:r>
            <a:r>
              <a:rPr lang="zh-CN" altLang="en-US" dirty="0" smtClean="0"/>
              <a:t>的运动</a:t>
            </a:r>
            <a:r>
              <a:rPr lang="zh-CN" altLang="en-US" dirty="0"/>
              <a:t>，称为</a:t>
            </a:r>
            <a:r>
              <a:rPr lang="zh-CN" altLang="en-US" dirty="0">
                <a:solidFill>
                  <a:srgbClr val="FF0000"/>
                </a:solidFill>
              </a:rPr>
              <a:t>限制性三体问题</a:t>
            </a:r>
            <a:r>
              <a:rPr lang="zh-CN" altLang="en-US" dirty="0" smtClean="0">
                <a:solidFill>
                  <a:srgbClr val="FF0000"/>
                </a:solidFill>
              </a:rPr>
              <a:t>。</a:t>
            </a:r>
            <a:r>
              <a:rPr lang="zh-CN" altLang="en-US" dirty="0"/>
              <a:t>如果m2相对m1 的运动轨道是圆，则m1和m2相对O 的运动轨道也是圆。这种称为</a:t>
            </a:r>
            <a:r>
              <a:rPr lang="zh-CN" altLang="en-US" dirty="0">
                <a:solidFill>
                  <a:srgbClr val="FF0000"/>
                </a:solidFill>
              </a:rPr>
              <a:t>圆形</a:t>
            </a:r>
            <a:r>
              <a:rPr lang="zh-CN" altLang="en-US" dirty="0" smtClean="0">
                <a:solidFill>
                  <a:srgbClr val="FF0000"/>
                </a:solidFill>
              </a:rPr>
              <a:t>限制性三体问题。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9842" y="5160647"/>
            <a:ext cx="9067007" cy="92333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如果选择初始 状态满足一定条件，可以使 ，得到绕平衡 位置的椭圆轨道，称为Lyapunov轨道。如果这个面内 轨道周期与面外振动周期可约，则得到绕平衡位置的 三维封闭轨道，称为Lissajous轨道。特别地，两个周 期相等，称为Halo(晕)轨道。</a:t>
            </a:r>
          </a:p>
        </p:txBody>
      </p:sp>
    </p:spTree>
    <p:extLst>
      <p:ext uri="{BB962C8B-B14F-4D97-AF65-F5344CB8AC3E}">
        <p14:creationId xmlns:p14="http://schemas.microsoft.com/office/powerpoint/2010/main" val="2588187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7615360"/>
              </p:ext>
            </p:extLst>
          </p:nvPr>
        </p:nvGraphicFramePr>
        <p:xfrm>
          <a:off x="1918447" y="361420"/>
          <a:ext cx="4932529" cy="873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1" name="Equation" r:id="rId4" imgW="2654280" imgH="469800" progId="Equation.DSMT4">
                  <p:embed/>
                </p:oleObj>
              </mc:Choice>
              <mc:Fallback>
                <p:oleObj name="Equation" r:id="rId4" imgW="26542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8447" y="361420"/>
                        <a:ext cx="4932529" cy="87300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017972"/>
              </p:ext>
            </p:extLst>
          </p:nvPr>
        </p:nvGraphicFramePr>
        <p:xfrm>
          <a:off x="7040563" y="58858"/>
          <a:ext cx="2103437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2" name="Equation" r:id="rId6" imgW="888840" imgH="469800" progId="Equation.DSMT4">
                  <p:embed/>
                </p:oleObj>
              </mc:Choice>
              <mc:Fallback>
                <p:oleObj name="Equation" r:id="rId6" imgW="8888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0563" y="58858"/>
                        <a:ext cx="2103437" cy="11112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237929"/>
              </p:ext>
            </p:extLst>
          </p:nvPr>
        </p:nvGraphicFramePr>
        <p:xfrm>
          <a:off x="130790" y="1418933"/>
          <a:ext cx="6188123" cy="796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3" name="Equation" r:id="rId8" imgW="3657600" imgH="469800" progId="Equation.DSMT4">
                  <p:embed/>
                </p:oleObj>
              </mc:Choice>
              <mc:Fallback>
                <p:oleObj name="Equation" r:id="rId8" imgW="36576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790" y="1418933"/>
                        <a:ext cx="6188123" cy="796926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413866"/>
              </p:ext>
            </p:extLst>
          </p:nvPr>
        </p:nvGraphicFramePr>
        <p:xfrm>
          <a:off x="130790" y="394839"/>
          <a:ext cx="1656867" cy="806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4" name="Equation" r:id="rId10" imgW="914400" imgH="444240" progId="Equation.DSMT4">
                  <p:embed/>
                </p:oleObj>
              </mc:Choice>
              <mc:Fallback>
                <p:oleObj name="Equation" r:id="rId10" imgW="914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790" y="394839"/>
                        <a:ext cx="1656867" cy="80616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9471796"/>
              </p:ext>
            </p:extLst>
          </p:nvPr>
        </p:nvGraphicFramePr>
        <p:xfrm>
          <a:off x="6469038" y="1253039"/>
          <a:ext cx="2564811" cy="962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5" name="Equation" r:id="rId12" imgW="1180800" imgH="444240" progId="Equation.DSMT4">
                  <p:embed/>
                </p:oleObj>
              </mc:Choice>
              <mc:Fallback>
                <p:oleObj name="Equation" r:id="rId12" imgW="1180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9038" y="1253039"/>
                        <a:ext cx="2564811" cy="96282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0" y="22723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轨道根数摄动方程组：</a:t>
            </a:r>
          </a:p>
        </p:txBody>
      </p:sp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360365"/>
              </p:ext>
            </p:extLst>
          </p:nvPr>
        </p:nvGraphicFramePr>
        <p:xfrm>
          <a:off x="130790" y="2607230"/>
          <a:ext cx="2873975" cy="193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6" name="Equation" r:id="rId14" imgW="1904760" imgH="1282680" progId="Equation.DSMT4">
                  <p:embed/>
                </p:oleObj>
              </mc:Choice>
              <mc:Fallback>
                <p:oleObj name="Equation" r:id="rId14" imgW="1904760" imgH="1282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790" y="2607230"/>
                        <a:ext cx="2873975" cy="19347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C00CC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602975"/>
              </p:ext>
            </p:extLst>
          </p:nvPr>
        </p:nvGraphicFramePr>
        <p:xfrm>
          <a:off x="3117727" y="2257072"/>
          <a:ext cx="2873641" cy="780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7" name="Equation" r:id="rId16" imgW="1587240" imgH="431640" progId="Equation.DSMT4">
                  <p:embed/>
                </p:oleObj>
              </mc:Choice>
              <mc:Fallback>
                <p:oleObj name="Equation" r:id="rId16" imgW="15872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727" y="2257072"/>
                        <a:ext cx="2873641" cy="780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1546197"/>
              </p:ext>
            </p:extLst>
          </p:nvPr>
        </p:nvGraphicFramePr>
        <p:xfrm>
          <a:off x="50613" y="5053223"/>
          <a:ext cx="2735240" cy="1785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8" name="Equation" r:id="rId18" imgW="1688760" imgH="1104840" progId="Equation.DSMT4">
                  <p:embed/>
                </p:oleObj>
              </mc:Choice>
              <mc:Fallback>
                <p:oleObj name="Equation" r:id="rId18" imgW="1688760" imgH="1104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13" y="5053223"/>
                        <a:ext cx="2735240" cy="1785276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0" y="4685526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大气阻力</a:t>
            </a:r>
          </a:p>
        </p:txBody>
      </p:sp>
      <p:graphicFrame>
        <p:nvGraphicFramePr>
          <p:cNvPr id="1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3142144"/>
              </p:ext>
            </p:extLst>
          </p:nvPr>
        </p:nvGraphicFramePr>
        <p:xfrm>
          <a:off x="2830775" y="6204929"/>
          <a:ext cx="1154372" cy="68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9" name="公式" r:id="rId20" imgW="660240" imgH="393480" progId="Equation.3">
                  <p:embed/>
                </p:oleObj>
              </mc:Choice>
              <mc:Fallback>
                <p:oleObj name="公式" r:id="rId20" imgW="6602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775" y="6204929"/>
                        <a:ext cx="1154372" cy="68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4080682" y="6470802"/>
            <a:ext cx="44903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i="1" dirty="0" smtClean="0"/>
              <a:t>C</a:t>
            </a:r>
            <a:r>
              <a:rPr lang="en-US" altLang="zh-CN" sz="1600" baseline="-25000" dirty="0" smtClean="0"/>
              <a:t>D</a:t>
            </a:r>
            <a:r>
              <a:rPr lang="zh-CN" altLang="en-US" sz="1600" dirty="0" smtClean="0"/>
              <a:t>为阻力系数，</a:t>
            </a:r>
            <a:r>
              <a:rPr lang="en-US" altLang="zh-CN" sz="1600" i="1" dirty="0"/>
              <a:t>S</a:t>
            </a:r>
            <a:r>
              <a:rPr lang="en-US" altLang="zh-CN" sz="1600" baseline="-25000" dirty="0"/>
              <a:t>0</a:t>
            </a:r>
            <a:r>
              <a:rPr lang="zh-CN" altLang="en-US" sz="1600" dirty="0"/>
              <a:t>为特征面积，一般为截面积</a:t>
            </a:r>
            <a:r>
              <a:rPr lang="zh-CN" altLang="en-US" sz="1600" dirty="0" smtClean="0"/>
              <a:t>。</a:t>
            </a:r>
            <a:endParaRPr lang="zh-CN" alt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68160" y="2237898"/>
            <a:ext cx="187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地球引力场</a:t>
            </a:r>
            <a:endParaRPr lang="zh-CN" altLang="en-US" dirty="0"/>
          </a:p>
        </p:txBody>
      </p:sp>
      <p:graphicFrame>
        <p:nvGraphicFramePr>
          <p:cNvPr id="1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296552"/>
              </p:ext>
            </p:extLst>
          </p:nvPr>
        </p:nvGraphicFramePr>
        <p:xfrm>
          <a:off x="3117727" y="3079111"/>
          <a:ext cx="5204335" cy="921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0" name="Equation" r:id="rId22" imgW="2654280" imgH="469800" progId="Equation.DSMT4">
                  <p:embed/>
                </p:oleObj>
              </mc:Choice>
              <mc:Fallback>
                <p:oleObj name="Equation" r:id="rId22" imgW="26542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727" y="3079111"/>
                        <a:ext cx="5204335" cy="92111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989732"/>
              </p:ext>
            </p:extLst>
          </p:nvPr>
        </p:nvGraphicFramePr>
        <p:xfrm>
          <a:off x="3224852" y="4108993"/>
          <a:ext cx="3094062" cy="2040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1" name="Equation" r:id="rId23" imgW="1866600" imgH="1231560" progId="Equation.DSMT4">
                  <p:embed/>
                </p:oleObj>
              </mc:Choice>
              <mc:Fallback>
                <p:oleObj name="Equation" r:id="rId23" imgW="1866600" imgH="1231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852" y="4108993"/>
                        <a:ext cx="3094062" cy="2040927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9525">
                        <a:solidFill>
                          <a:srgbClr val="FFFF66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6388869" y="4541942"/>
            <a:ext cx="2558387" cy="14773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 err="1"/>
              <a:t>i</a:t>
            </a:r>
            <a:r>
              <a:rPr lang="en-US" altLang="zh-CN" dirty="0"/>
              <a:t>=63.4349</a:t>
            </a:r>
            <a:r>
              <a:rPr lang="en-US" altLang="zh-CN" dirty="0">
                <a:cs typeface="Times New Roman" panose="02020603050405020304" pitchFamily="18" charset="0"/>
              </a:rPr>
              <a:t>˚</a:t>
            </a:r>
            <a:r>
              <a:rPr lang="zh-CN" altLang="en-US" dirty="0"/>
              <a:t>时，</a:t>
            </a:r>
            <a:r>
              <a:rPr lang="el-GR" altLang="zh-CN" dirty="0">
                <a:cs typeface="Times New Roman" panose="02020603050405020304" pitchFamily="18" charset="0"/>
              </a:rPr>
              <a:t>Δω</a:t>
            </a:r>
            <a:r>
              <a:rPr lang="zh-CN" altLang="en-US" dirty="0"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cs typeface="Times New Roman" panose="02020603050405020304" pitchFamily="18" charset="0"/>
              </a:rPr>
              <a:t>0</a:t>
            </a:r>
          </a:p>
          <a:p>
            <a:r>
              <a:rPr lang="zh-CN" altLang="en-US" dirty="0" smtClean="0">
                <a:cs typeface="Times New Roman" panose="02020603050405020304" pitchFamily="18" charset="0"/>
              </a:rPr>
              <a:t>这样的倾角称为“临界倾角”，轨道称为</a:t>
            </a:r>
            <a:r>
              <a:rPr lang="zh-CN" altLang="en-US" dirty="0">
                <a:cs typeface="Times New Roman" panose="02020603050405020304" pitchFamily="18" charset="0"/>
              </a:rPr>
              <a:t>“临界轨道”，临界轨道的长轴（拱线）不转动</a:t>
            </a:r>
            <a:r>
              <a:rPr lang="zh-CN" altLang="en-US" dirty="0" smtClean="0">
                <a:cs typeface="Times New Roman" panose="02020603050405020304" pitchFamily="18" charset="0"/>
              </a:rPr>
              <a:t>。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233764" y="4107462"/>
            <a:ext cx="247054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dirty="0"/>
              <a:t>平均化过程</a:t>
            </a:r>
            <a:r>
              <a:rPr lang="en-US" altLang="zh-CN" dirty="0"/>
              <a:t>—</a:t>
            </a:r>
            <a:r>
              <a:rPr lang="zh-CN" altLang="en-US" dirty="0"/>
              <a:t>长期摄动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950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34035"/>
            <a:ext cx="88963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两个航天器要在轨道上交会和对接，进行机动飞行的航天器叫追踪航天器，被追踪的航天器叫目标航天器</a:t>
            </a:r>
            <a:r>
              <a:rPr lang="zh-CN" altLang="en-US" dirty="0" smtClean="0"/>
              <a:t>。交会对接的程序，分为</a:t>
            </a:r>
            <a:r>
              <a:rPr lang="zh-CN" altLang="en-US" dirty="0" smtClean="0">
                <a:solidFill>
                  <a:srgbClr val="FF0000"/>
                </a:solidFill>
              </a:rPr>
              <a:t>地面引导、自动导的、接近和停靠、对接合拢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个阶段。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1057365"/>
            <a:ext cx="4424363" cy="120032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Hill</a:t>
            </a:r>
            <a:r>
              <a:rPr lang="zh-CN" altLang="en-US" dirty="0" smtClean="0">
                <a:solidFill>
                  <a:srgbClr val="FF0000"/>
                </a:solidFill>
              </a:rPr>
              <a:t>方程：</a:t>
            </a:r>
            <a:r>
              <a:rPr lang="en-US" altLang="zh-CN" b="1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o</a:t>
            </a:r>
            <a:r>
              <a:rPr lang="zh-CN" altLang="en-US" dirty="0">
                <a:solidFill>
                  <a:srgbClr val="000000"/>
                </a:solidFill>
              </a:rPr>
              <a:t>为地球球心，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zh-CN" altLang="en-US" dirty="0">
                <a:solidFill>
                  <a:srgbClr val="000000"/>
                </a:solidFill>
              </a:rPr>
              <a:t>方向由地球指向太阳，</a:t>
            </a:r>
            <a:r>
              <a:rPr lang="en-US" altLang="zh-CN" i="1" dirty="0">
                <a:solidFill>
                  <a:srgbClr val="000000"/>
                </a:solidFill>
              </a:rPr>
              <a:t>y</a:t>
            </a:r>
            <a:r>
              <a:rPr lang="zh-CN" altLang="en-US" dirty="0">
                <a:solidFill>
                  <a:srgbClr val="000000"/>
                </a:solidFill>
              </a:rPr>
              <a:t>与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zh-CN" altLang="en-US" dirty="0">
                <a:solidFill>
                  <a:srgbClr val="000000"/>
                </a:solidFill>
              </a:rPr>
              <a:t>垂直且指向太阳前进方向，</a:t>
            </a:r>
            <a:r>
              <a:rPr lang="en-US" altLang="zh-CN" i="1" dirty="0">
                <a:solidFill>
                  <a:srgbClr val="000000"/>
                </a:solidFill>
              </a:rPr>
              <a:t>z</a:t>
            </a:r>
            <a:r>
              <a:rPr lang="zh-CN" altLang="en-US" dirty="0">
                <a:solidFill>
                  <a:srgbClr val="000000"/>
                </a:solidFill>
              </a:rPr>
              <a:t>垂直</a:t>
            </a:r>
            <a:r>
              <a:rPr lang="zh-CN" altLang="en-US" dirty="0" smtClean="0">
                <a:solidFill>
                  <a:srgbClr val="000000"/>
                </a:solidFill>
              </a:rPr>
              <a:t>于太阳</a:t>
            </a:r>
            <a:r>
              <a:rPr lang="zh-CN" altLang="en-US" dirty="0">
                <a:solidFill>
                  <a:srgbClr val="000000"/>
                </a:solidFill>
              </a:rPr>
              <a:t>相对地球运动的平面，月球相对地球的矢</a:t>
            </a:r>
            <a:r>
              <a:rPr lang="zh-CN" altLang="en-US" dirty="0" smtClean="0">
                <a:solidFill>
                  <a:srgbClr val="000000"/>
                </a:solidFill>
              </a:rPr>
              <a:t>径在坐</a:t>
            </a:r>
            <a:r>
              <a:rPr lang="zh-CN" altLang="en-US" dirty="0">
                <a:solidFill>
                  <a:srgbClr val="000000"/>
                </a:solidFill>
              </a:rPr>
              <a:t>标系</a:t>
            </a:r>
            <a:r>
              <a:rPr lang="en-US" altLang="zh-CN" dirty="0" err="1">
                <a:solidFill>
                  <a:srgbClr val="000000"/>
                </a:solidFill>
              </a:rPr>
              <a:t>oxyz</a:t>
            </a:r>
            <a:r>
              <a:rPr lang="zh-CN" altLang="en-US" dirty="0">
                <a:solidFill>
                  <a:srgbClr val="000000"/>
                </a:solidFill>
              </a:rPr>
              <a:t>中投影为（</a:t>
            </a:r>
            <a:r>
              <a:rPr lang="en-US" altLang="zh-CN" dirty="0" err="1">
                <a:solidFill>
                  <a:srgbClr val="000000"/>
                </a:solidFill>
              </a:rPr>
              <a:t>x,y,z</a:t>
            </a:r>
            <a:r>
              <a:rPr lang="zh-CN" altLang="en-US" dirty="0" smtClean="0">
                <a:solidFill>
                  <a:srgbClr val="000000"/>
                </a:solidFill>
              </a:rPr>
              <a:t>）</a:t>
            </a:r>
            <a:endParaRPr lang="zh-CN" altLang="en-US" dirty="0"/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724167"/>
              </p:ext>
            </p:extLst>
          </p:nvPr>
        </p:nvGraphicFramePr>
        <p:xfrm>
          <a:off x="178905" y="2488526"/>
          <a:ext cx="3637722" cy="1708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" name="Equation" r:id="rId4" imgW="2057400" imgH="965160" progId="Equation.DSMT4">
                  <p:embed/>
                </p:oleObj>
              </mc:Choice>
              <mc:Fallback>
                <p:oleObj name="Equation" r:id="rId4" imgW="2057400" imgH="965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05" y="2488526"/>
                        <a:ext cx="3637722" cy="17088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3158381"/>
              </p:ext>
            </p:extLst>
          </p:nvPr>
        </p:nvGraphicFramePr>
        <p:xfrm>
          <a:off x="4400551" y="2857858"/>
          <a:ext cx="2599072" cy="167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" name="Equation" r:id="rId6" imgW="1346040" imgH="863280" progId="Equation.DSMT4">
                  <p:embed/>
                </p:oleObj>
              </mc:Choice>
              <mc:Fallback>
                <p:oleObj name="Equation" r:id="rId6" imgW="1346040" imgH="863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551" y="2857858"/>
                        <a:ext cx="2599072" cy="167698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4424363" y="826533"/>
            <a:ext cx="4448175" cy="203132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C-W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方程：</a:t>
            </a:r>
            <a:r>
              <a:rPr lang="zh-CN" altLang="en-US" dirty="0">
                <a:solidFill>
                  <a:srgbClr val="000000"/>
                </a:solidFill>
              </a:rPr>
              <a:t>建立主航天器的轨道坐标系</a:t>
            </a:r>
            <a:r>
              <a:rPr lang="en-US" altLang="zh-CN" i="1" dirty="0" err="1">
                <a:solidFill>
                  <a:srgbClr val="000000"/>
                </a:solidFill>
              </a:rPr>
              <a:t>oxyz</a:t>
            </a:r>
            <a:r>
              <a:rPr lang="zh-CN" altLang="en-US" dirty="0" smtClean="0">
                <a:solidFill>
                  <a:srgbClr val="000000"/>
                </a:solidFill>
              </a:rPr>
              <a:t>，</a:t>
            </a:r>
            <a:endParaRPr lang="en-US" altLang="zh-CN" dirty="0" smtClean="0">
              <a:solidFill>
                <a:srgbClr val="000000"/>
              </a:solidFill>
            </a:endParaRPr>
          </a:p>
          <a:p>
            <a:r>
              <a:rPr lang="zh-CN" altLang="en-US" dirty="0" smtClean="0">
                <a:solidFill>
                  <a:srgbClr val="000000"/>
                </a:solidFill>
              </a:rPr>
              <a:t>其中</a:t>
            </a:r>
            <a:r>
              <a:rPr lang="en-US" altLang="zh-CN" i="1" dirty="0">
                <a:solidFill>
                  <a:srgbClr val="000000"/>
                </a:solidFill>
              </a:rPr>
              <a:t>o</a:t>
            </a:r>
            <a:r>
              <a:rPr lang="zh-CN" altLang="en-US" dirty="0">
                <a:solidFill>
                  <a:srgbClr val="000000"/>
                </a:solidFill>
              </a:rPr>
              <a:t>为主航天器的质心，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zh-CN" altLang="en-US" dirty="0">
                <a:solidFill>
                  <a:srgbClr val="000000"/>
                </a:solidFill>
              </a:rPr>
              <a:t>方向由地心</a:t>
            </a:r>
            <a:r>
              <a:rPr lang="zh-CN" altLang="en-US" dirty="0" smtClean="0">
                <a:solidFill>
                  <a:srgbClr val="000000"/>
                </a:solidFill>
              </a:rPr>
              <a:t>指向主</a:t>
            </a:r>
            <a:r>
              <a:rPr lang="zh-CN" altLang="en-US" dirty="0">
                <a:solidFill>
                  <a:srgbClr val="000000"/>
                </a:solidFill>
              </a:rPr>
              <a:t>航天器的质心，</a:t>
            </a:r>
            <a:r>
              <a:rPr lang="en-US" altLang="zh-CN" i="1" dirty="0">
                <a:solidFill>
                  <a:srgbClr val="000000"/>
                </a:solidFill>
              </a:rPr>
              <a:t>y</a:t>
            </a:r>
            <a:r>
              <a:rPr lang="zh-CN" altLang="en-US" dirty="0">
                <a:solidFill>
                  <a:srgbClr val="000000"/>
                </a:solidFill>
              </a:rPr>
              <a:t>与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zh-CN" altLang="en-US" dirty="0">
                <a:solidFill>
                  <a:srgbClr val="000000"/>
                </a:solidFill>
              </a:rPr>
              <a:t>垂直且指向主</a:t>
            </a:r>
            <a:r>
              <a:rPr lang="zh-CN" altLang="en-US" dirty="0" smtClean="0">
                <a:solidFill>
                  <a:srgbClr val="000000"/>
                </a:solidFill>
              </a:rPr>
              <a:t>航天器的</a:t>
            </a:r>
            <a:r>
              <a:rPr lang="zh-CN" altLang="en-US" dirty="0">
                <a:solidFill>
                  <a:srgbClr val="000000"/>
                </a:solidFill>
              </a:rPr>
              <a:t>前进方向，</a:t>
            </a:r>
            <a:r>
              <a:rPr lang="en-US" altLang="zh-CN" i="1" dirty="0">
                <a:solidFill>
                  <a:srgbClr val="000000"/>
                </a:solidFill>
              </a:rPr>
              <a:t>z</a:t>
            </a:r>
            <a:r>
              <a:rPr lang="zh-CN" altLang="en-US" dirty="0">
                <a:solidFill>
                  <a:srgbClr val="000000"/>
                </a:solidFill>
              </a:rPr>
              <a:t>垂直于主航天器的相对</a:t>
            </a:r>
            <a:r>
              <a:rPr lang="zh-CN" altLang="en-US" dirty="0" smtClean="0">
                <a:solidFill>
                  <a:srgbClr val="000000"/>
                </a:solidFill>
              </a:rPr>
              <a:t>地球</a:t>
            </a:r>
            <a:r>
              <a:rPr lang="zh-CN" altLang="en-US" dirty="0">
                <a:solidFill>
                  <a:srgbClr val="000000"/>
                </a:solidFill>
              </a:rPr>
              <a:t>运动的平面，当主航天器为圆轨道，且近距离时，得到航天器近距离相对运动的线性化</a:t>
            </a:r>
            <a:r>
              <a:rPr lang="zh-CN" altLang="en-US" dirty="0" smtClean="0">
                <a:solidFill>
                  <a:srgbClr val="000000"/>
                </a:solidFill>
              </a:rPr>
              <a:t>方程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7023435" y="3077897"/>
            <a:ext cx="1872915" cy="1200329"/>
          </a:xfrm>
          <a:prstGeom prst="rect">
            <a:avLst/>
          </a:prstGeom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000000"/>
                </a:solidFill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为主航天器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的轨道角速度。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f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是主动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控制力或摄动力的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分量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22" name="矩形 21"/>
          <p:cNvSpPr/>
          <p:nvPr/>
        </p:nvSpPr>
        <p:spPr>
          <a:xfrm>
            <a:off x="0" y="4534845"/>
            <a:ext cx="914400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卫星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编队</a:t>
            </a:r>
            <a:r>
              <a:rPr lang="zh-CN" altLang="en-US" dirty="0" smtClean="0">
                <a:latin typeface="宋体" panose="02010600030101010101" pitchFamily="2" charset="-122"/>
              </a:rPr>
              <a:t>是</a:t>
            </a:r>
            <a:r>
              <a:rPr lang="zh-CN" altLang="en-US" dirty="0">
                <a:latin typeface="宋体" panose="02010600030101010101" pitchFamily="2" charset="-122"/>
              </a:rPr>
              <a:t>在近距离范围内（从几十米到几十千米），多颗卫星构成一定的几何形状，相互间可以通讯协作，在整体上相当于一颗巨大的</a:t>
            </a:r>
            <a:r>
              <a:rPr lang="zh-CN" altLang="en-US" dirty="0"/>
              <a:t>“</a:t>
            </a:r>
            <a:r>
              <a:rPr lang="zh-CN" altLang="en-US" dirty="0">
                <a:latin typeface="宋体" panose="02010600030101010101" pitchFamily="2" charset="-122"/>
              </a:rPr>
              <a:t>虚拟卫星</a:t>
            </a:r>
            <a:r>
              <a:rPr lang="zh-CN" altLang="en-US" dirty="0"/>
              <a:t>”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0" y="5398671"/>
            <a:ext cx="33762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C-W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方程无控制编队飞行的条件</a:t>
            </a:r>
            <a:endParaRPr lang="zh-CN" altLang="en-US" dirty="0"/>
          </a:p>
        </p:txBody>
      </p:sp>
      <p:graphicFrame>
        <p:nvGraphicFramePr>
          <p:cNvPr id="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23653"/>
              </p:ext>
            </p:extLst>
          </p:nvPr>
        </p:nvGraphicFramePr>
        <p:xfrm>
          <a:off x="3314700" y="5313462"/>
          <a:ext cx="1638300" cy="581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r:id="rId8" imgW="723586" imgH="253890" progId="Equation.DSMT4">
                  <p:embed/>
                </p:oleObj>
              </mc:Choice>
              <mc:Fallback>
                <p:oleObj r:id="rId8" imgW="723586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5313462"/>
                        <a:ext cx="1638300" cy="58149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/>
          <p:nvPr/>
        </p:nvSpPr>
        <p:spPr>
          <a:xfrm>
            <a:off x="4983772" y="5260171"/>
            <a:ext cx="4129455" cy="646331"/>
          </a:xfrm>
          <a:prstGeom prst="rect">
            <a:avLst/>
          </a:prstGeom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 smtClean="0"/>
              <a:t>两</a:t>
            </a:r>
            <a:r>
              <a:rPr lang="zh-CN" altLang="en-US" dirty="0"/>
              <a:t>卫星运行周期相同时，不必施加主动控制卫星就可能长期保持近距离编队。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0" y="5944614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如果两卫星的运行</a:t>
            </a:r>
            <a:r>
              <a:rPr lang="zh-CN" altLang="en-US" dirty="0">
                <a:solidFill>
                  <a:srgbClr val="FF0000"/>
                </a:solidFill>
              </a:rPr>
              <a:t>周期相同</a:t>
            </a:r>
            <a:r>
              <a:rPr lang="zh-CN" altLang="en-US" dirty="0"/>
              <a:t>，则可保证</a:t>
            </a:r>
            <a:r>
              <a:rPr lang="zh-CN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</a:t>
            </a:r>
            <a:r>
              <a:rPr lang="zh-CN" altLang="en-US" dirty="0"/>
              <a:t>始终为小量，方程不必受时间限制。此时可得简化的相对运动方程为：</a:t>
            </a:r>
            <a:endParaRPr lang="zh-CN" altLang="en-US" dirty="0"/>
          </a:p>
        </p:txBody>
      </p:sp>
      <p:graphicFrame>
        <p:nvGraphicFramePr>
          <p:cNvPr id="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811498"/>
              </p:ext>
            </p:extLst>
          </p:nvPr>
        </p:nvGraphicFramePr>
        <p:xfrm>
          <a:off x="2571749" y="6335338"/>
          <a:ext cx="2381251" cy="54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Equation" r:id="rId10" imgW="3124080" imgH="711000" progId="Equation.DSMT4">
                  <p:embed/>
                </p:oleObj>
              </mc:Choice>
              <mc:Fallback>
                <p:oleObj name="Equation" r:id="rId10" imgW="312408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49" y="6335338"/>
                        <a:ext cx="2381251" cy="542563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653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对象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2724588"/>
              </p:ext>
            </p:extLst>
          </p:nvPr>
        </p:nvGraphicFramePr>
        <p:xfrm>
          <a:off x="0" y="0"/>
          <a:ext cx="245745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4" name="Equation" r:id="rId4" imgW="1079032" imgH="710891" progId="Equation.DSMT4">
                  <p:embed/>
                </p:oleObj>
              </mc:Choice>
              <mc:Fallback>
                <p:oleObj name="Equation" r:id="rId4" imgW="1079032" imgH="710891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457450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2457450" y="0"/>
            <a:ext cx="40991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/>
              <a:t>A</a:t>
            </a:r>
            <a:r>
              <a:rPr lang="zh-CN" altLang="en-US" dirty="0"/>
              <a:t>、</a:t>
            </a:r>
            <a:r>
              <a:rPr lang="en-US" altLang="zh-CN" i="1" dirty="0"/>
              <a:t>B</a:t>
            </a:r>
            <a:r>
              <a:rPr lang="zh-CN" altLang="en-US" dirty="0"/>
              <a:t>、</a:t>
            </a:r>
            <a:r>
              <a:rPr lang="en-US" altLang="zh-CN" i="1" dirty="0"/>
              <a:t>C</a:t>
            </a:r>
            <a:r>
              <a:rPr lang="zh-CN" altLang="en-US" dirty="0"/>
              <a:t>称为</a:t>
            </a:r>
            <a:r>
              <a:rPr lang="zh-CN" altLang="en-US" dirty="0" smtClean="0">
                <a:solidFill>
                  <a:srgbClr val="FF0000"/>
                </a:solidFill>
              </a:rPr>
              <a:t>主转动惯量</a:t>
            </a:r>
            <a:r>
              <a:rPr lang="zh-CN" altLang="en-US" dirty="0" smtClean="0"/>
              <a:t>，</a:t>
            </a:r>
            <a:r>
              <a:rPr lang="en-US" altLang="zh-CN" dirty="0" smtClean="0"/>
              <a:t>J</a:t>
            </a:r>
            <a:r>
              <a:rPr lang="zh-CN" altLang="en-US" dirty="0" smtClean="0"/>
              <a:t>为惯量张量</a:t>
            </a:r>
            <a:endParaRPr lang="zh-CN" altLang="en-US" dirty="0"/>
          </a:p>
        </p:txBody>
      </p:sp>
      <p:graphicFrame>
        <p:nvGraphicFramePr>
          <p:cNvPr id="25" name="对象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6404824"/>
              </p:ext>
            </p:extLst>
          </p:nvPr>
        </p:nvGraphicFramePr>
        <p:xfrm>
          <a:off x="2457450" y="310356"/>
          <a:ext cx="4099199" cy="56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5" r:id="rId6" imgW="2195194" imgH="253780" progId="Equation.3">
                  <p:embed/>
                </p:oleObj>
              </mc:Choice>
              <mc:Fallback>
                <p:oleObj r:id="rId6" imgW="2195194" imgH="2537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310356"/>
                        <a:ext cx="4099199" cy="56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1484513"/>
              </p:ext>
            </p:extLst>
          </p:nvPr>
        </p:nvGraphicFramePr>
        <p:xfrm>
          <a:off x="5280299" y="730488"/>
          <a:ext cx="25527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6" name="Equation" r:id="rId8" imgW="990360" imgH="241200" progId="Equation.DSMT4">
                  <p:embed/>
                </p:oleObj>
              </mc:Choice>
              <mc:Fallback>
                <p:oleObj name="Equation" r:id="rId8" imgW="990360" imgH="2412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0299" y="730488"/>
                        <a:ext cx="25527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5644610"/>
              </p:ext>
            </p:extLst>
          </p:nvPr>
        </p:nvGraphicFramePr>
        <p:xfrm>
          <a:off x="2428875" y="815974"/>
          <a:ext cx="2692399" cy="504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7" name="Equation" r:id="rId10" imgW="1104900" imgH="228600" progId="Equation.DSMT4">
                  <p:embed/>
                </p:oleObj>
              </mc:Choice>
              <mc:Fallback>
                <p:oleObj name="Equation" r:id="rId10" imgW="1104900" imgH="2286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815974"/>
                        <a:ext cx="2692399" cy="504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0" y="1318290"/>
            <a:ext cx="3875596" cy="544512"/>
            <a:chOff x="480" y="2696"/>
            <a:chExt cx="2951" cy="370"/>
          </a:xfrm>
        </p:grpSpPr>
        <p:sp>
          <p:nvSpPr>
            <p:cNvPr id="31" name="文本框 225286"/>
            <p:cNvSpPr txBox="1">
              <a:spLocks noChangeArrowheads="1"/>
            </p:cNvSpPr>
            <p:nvPr/>
          </p:nvSpPr>
          <p:spPr bwMode="auto">
            <a:xfrm>
              <a:off x="480" y="2736"/>
              <a:ext cx="754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b="0" dirty="0" smtClean="0"/>
                <a:t>四元数</a:t>
              </a:r>
              <a:endParaRPr lang="zh-CN" altLang="en-US" sz="1800" b="0" dirty="0"/>
            </a:p>
          </p:txBody>
        </p:sp>
        <p:graphicFrame>
          <p:nvGraphicFramePr>
            <p:cNvPr id="32" name="对象 22528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93039743"/>
                </p:ext>
              </p:extLst>
            </p:nvPr>
          </p:nvGraphicFramePr>
          <p:xfrm>
            <a:off x="1107" y="2696"/>
            <a:ext cx="2324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98" r:id="rId12" imgW="1435100" imgH="228600" progId="Equation.3">
                    <p:embed/>
                  </p:oleObj>
                </mc:Choice>
                <mc:Fallback>
                  <p:oleObj r:id="rId12" imgW="1435100" imgH="228600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7" y="2696"/>
                          <a:ext cx="2324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对象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3649880"/>
              </p:ext>
            </p:extLst>
          </p:nvPr>
        </p:nvGraphicFramePr>
        <p:xfrm>
          <a:off x="5280299" y="1377156"/>
          <a:ext cx="3770123" cy="500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9" r:id="rId14" imgW="2247900" imgH="228600" progId="Equation.3">
                  <p:embed/>
                </p:oleObj>
              </mc:Choice>
              <mc:Fallback>
                <p:oleObj r:id="rId14" imgW="2247900" imgH="2286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0299" y="1377156"/>
                        <a:ext cx="3770123" cy="5008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225286"/>
          <p:cNvSpPr txBox="1">
            <a:spLocks noChangeArrowheads="1"/>
          </p:cNvSpPr>
          <p:nvPr/>
        </p:nvSpPr>
        <p:spPr bwMode="auto">
          <a:xfrm>
            <a:off x="3917146" y="1398110"/>
            <a:ext cx="13631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b="0" dirty="0" smtClean="0"/>
              <a:t>四元数乘法</a:t>
            </a:r>
            <a:endParaRPr lang="zh-CN" altLang="en-US" sz="1800" b="0" dirty="0"/>
          </a:p>
        </p:txBody>
      </p:sp>
      <p:sp>
        <p:nvSpPr>
          <p:cNvPr id="35" name="文本框 34"/>
          <p:cNvSpPr txBox="1">
            <a:spLocks noChangeArrowheads="1"/>
          </p:cNvSpPr>
          <p:nvPr/>
        </p:nvSpPr>
        <p:spPr bwMode="auto">
          <a:xfrm>
            <a:off x="-92218" y="1858594"/>
            <a:ext cx="1569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b="0" dirty="0"/>
              <a:t>矢量矩阵描述</a:t>
            </a: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3105660" y="1917301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b="0" dirty="0"/>
              <a:t>欧拉角描述</a:t>
            </a:r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-92218" y="2286633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b="0" dirty="0"/>
              <a:t>四元数描述</a:t>
            </a:r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5436236" y="1917301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b="0" dirty="0"/>
              <a:t>欧拉转动</a:t>
            </a:r>
          </a:p>
        </p:txBody>
      </p:sp>
      <p:graphicFrame>
        <p:nvGraphicFramePr>
          <p:cNvPr id="39" name="对象 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6731818"/>
              </p:ext>
            </p:extLst>
          </p:nvPr>
        </p:nvGraphicFramePr>
        <p:xfrm>
          <a:off x="1305104" y="1775763"/>
          <a:ext cx="1577042" cy="589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0" r:id="rId16" imgW="685205" imgH="253780" progId="Equation.3">
                  <p:embed/>
                </p:oleObj>
              </mc:Choice>
              <mc:Fallback>
                <p:oleObj r:id="rId16" imgW="685205" imgH="2537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5104" y="1775763"/>
                        <a:ext cx="1577042" cy="5893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2973580"/>
              </p:ext>
            </p:extLst>
          </p:nvPr>
        </p:nvGraphicFramePr>
        <p:xfrm>
          <a:off x="4331494" y="1865152"/>
          <a:ext cx="986904" cy="459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1" r:id="rId18" imgW="444114" imgH="203024" progId="Equation.3">
                  <p:embed/>
                </p:oleObj>
              </mc:Choice>
              <mc:Fallback>
                <p:oleObj r:id="rId18" imgW="444114" imgH="203024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1494" y="1865152"/>
                        <a:ext cx="986904" cy="4595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9218180"/>
              </p:ext>
            </p:extLst>
          </p:nvPr>
        </p:nvGraphicFramePr>
        <p:xfrm>
          <a:off x="6510073" y="1905634"/>
          <a:ext cx="7477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2" name="Equation" r:id="rId20" imgW="291720" imgH="164885" progId="Equation.DSMT4">
                  <p:embed/>
                </p:oleObj>
              </mc:Choice>
              <mc:Fallback>
                <p:oleObj name="Equation" r:id="rId20" imgW="291720" imgH="164885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0073" y="1905634"/>
                        <a:ext cx="7477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7932954"/>
              </p:ext>
            </p:extLst>
          </p:nvPr>
        </p:nvGraphicFramePr>
        <p:xfrm>
          <a:off x="1184646" y="2294017"/>
          <a:ext cx="3259842" cy="504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3" r:id="rId22" imgW="1346200" imgH="228600" progId="Equation.3">
                  <p:embed/>
                </p:oleObj>
              </mc:Choice>
              <mc:Fallback>
                <p:oleObj r:id="rId22" imgW="1346200" imgH="2286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4646" y="2294017"/>
                        <a:ext cx="3259842" cy="504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矩形 42"/>
          <p:cNvSpPr>
            <a:spLocks noChangeArrowheads="1"/>
          </p:cNvSpPr>
          <p:nvPr/>
        </p:nvSpPr>
        <p:spPr bwMode="auto">
          <a:xfrm>
            <a:off x="4384291" y="2332118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b="0" dirty="0"/>
              <a:t>动量矩定理</a:t>
            </a:r>
          </a:p>
        </p:txBody>
      </p:sp>
      <p:graphicFrame>
        <p:nvGraphicFramePr>
          <p:cNvPr id="44" name="对象 4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6178899"/>
              </p:ext>
            </p:extLst>
          </p:nvPr>
        </p:nvGraphicFramePr>
        <p:xfrm>
          <a:off x="5721353" y="2294017"/>
          <a:ext cx="2946398" cy="504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4" name="Equation" r:id="rId24" imgW="1459866" imgH="228501" progId="Equation.DSMT4">
                  <p:embed/>
                </p:oleObj>
              </mc:Choice>
              <mc:Fallback>
                <p:oleObj name="Equation" r:id="rId24" imgW="1459866" imgH="228501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1353" y="2294017"/>
                        <a:ext cx="2946398" cy="50498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矩形 44"/>
          <p:cNvSpPr/>
          <p:nvPr/>
        </p:nvSpPr>
        <p:spPr>
          <a:xfrm>
            <a:off x="-12570" y="2781981"/>
            <a:ext cx="9120141" cy="203132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航天器的</a:t>
            </a:r>
            <a:r>
              <a:rPr lang="zh-CN" altLang="en-US" dirty="0" smtClean="0"/>
              <a:t>姿态控制：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）外力矩控制</a:t>
            </a:r>
            <a:r>
              <a:rPr lang="zh-CN" altLang="en-US" dirty="0" smtClean="0"/>
              <a:t>法     ：</a:t>
            </a:r>
            <a:r>
              <a:rPr lang="en-US" altLang="zh-CN" dirty="0"/>
              <a:t>(a)</a:t>
            </a:r>
            <a:r>
              <a:rPr lang="zh-CN" altLang="en-US" dirty="0"/>
              <a:t>环境力矩－－重力矩、磁力矩等</a:t>
            </a:r>
            <a:r>
              <a:rPr lang="zh-CN" altLang="en-US" dirty="0" smtClean="0"/>
              <a:t>。</a:t>
            </a:r>
            <a:r>
              <a:rPr lang="zh-CN" altLang="en-US" dirty="0"/>
              <a:t>不需要能量，工作寿命长，机动性差</a:t>
            </a:r>
            <a:r>
              <a:rPr lang="zh-CN" altLang="en-US" dirty="0" smtClean="0"/>
              <a:t>。</a:t>
            </a:r>
            <a:r>
              <a:rPr lang="en-US" altLang="zh-CN" dirty="0"/>
              <a:t>(b)</a:t>
            </a:r>
            <a:r>
              <a:rPr lang="zh-CN" altLang="en-US" dirty="0"/>
              <a:t>主动控制力矩－－喷气</a:t>
            </a:r>
            <a:r>
              <a:rPr lang="zh-CN" altLang="en-US" dirty="0" smtClean="0"/>
              <a:t>。</a:t>
            </a:r>
            <a:r>
              <a:rPr lang="zh-CN" altLang="en-US" dirty="0"/>
              <a:t>需要能量，机动性好。       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）高速自旋</a:t>
            </a:r>
            <a:r>
              <a:rPr lang="zh-CN" altLang="en-US" dirty="0" smtClean="0"/>
              <a:t>法    ：</a:t>
            </a:r>
            <a:r>
              <a:rPr lang="en-US" altLang="zh-CN" dirty="0"/>
              <a:t>(a)</a:t>
            </a:r>
            <a:r>
              <a:rPr lang="zh-CN" altLang="en-US" dirty="0"/>
              <a:t>单</a:t>
            </a:r>
            <a:r>
              <a:rPr lang="zh-CN" altLang="en-US" dirty="0" smtClean="0"/>
              <a:t>自旋</a:t>
            </a:r>
            <a:r>
              <a:rPr lang="en-US" altLang="zh-CN" dirty="0" smtClean="0"/>
              <a:t>--</a:t>
            </a:r>
            <a:r>
              <a:rPr lang="zh-CN" altLang="en-US" dirty="0"/>
              <a:t>简单，对非刚体不一定适合。 </a:t>
            </a:r>
            <a:r>
              <a:rPr lang="en-US" altLang="zh-CN" dirty="0"/>
              <a:t>(b)</a:t>
            </a:r>
            <a:r>
              <a:rPr lang="zh-CN" altLang="en-US" dirty="0"/>
              <a:t>双</a:t>
            </a:r>
            <a:r>
              <a:rPr lang="zh-CN" altLang="en-US" dirty="0" smtClean="0"/>
              <a:t>自旋</a:t>
            </a:r>
            <a:r>
              <a:rPr lang="en-US" altLang="zh-CN" dirty="0" smtClean="0"/>
              <a:t>--</a:t>
            </a:r>
            <a:r>
              <a:rPr lang="zh-CN" altLang="en-US" dirty="0"/>
              <a:t>复杂，效果较好</a:t>
            </a:r>
            <a:r>
              <a:rPr lang="zh-CN" altLang="en-US" dirty="0" smtClean="0"/>
              <a:t>。</a:t>
            </a: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）部分动量矩改变</a:t>
            </a:r>
            <a:r>
              <a:rPr lang="zh-CN" altLang="en-US" dirty="0" smtClean="0"/>
              <a:t>法：</a:t>
            </a:r>
            <a:r>
              <a:rPr lang="zh-CN" altLang="en-US" dirty="0"/>
              <a:t>一般采用飞轮系统</a:t>
            </a:r>
            <a:r>
              <a:rPr lang="zh-CN" altLang="en-US" dirty="0" smtClean="0"/>
              <a:t>。</a:t>
            </a:r>
            <a:r>
              <a:rPr lang="zh-CN" altLang="en-US" dirty="0"/>
              <a:t>所需能量少，但对转轴要求高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重力梯度稳定：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采用重力梯度稳定的卫星，应是低轨道、主转动惯量差尽量大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cxnSp>
        <p:nvCxnSpPr>
          <p:cNvPr id="47" name="直接连接符 46"/>
          <p:cNvCxnSpPr/>
          <p:nvPr/>
        </p:nvCxnSpPr>
        <p:spPr>
          <a:xfrm flipV="1">
            <a:off x="0" y="2765720"/>
            <a:ext cx="9144000" cy="3327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 48"/>
              <p:cNvSpPr/>
              <p:nvPr/>
            </p:nvSpPr>
            <p:spPr>
              <a:xfrm>
                <a:off x="3917146" y="2806382"/>
                <a:ext cx="4800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>
                              <a:latin typeface="Cambria Math" panose="02040503050406030204" pitchFamily="18" charset="0"/>
                            </a:rPr>
                            <m:t>𝐋</m:t>
                          </m:r>
                        </m:e>
                        <m:sub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9" name="矩形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146" y="2806382"/>
                <a:ext cx="480067" cy="369332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矩形 49"/>
              <p:cNvSpPr/>
              <p:nvPr/>
            </p:nvSpPr>
            <p:spPr>
              <a:xfrm>
                <a:off x="1643260" y="3355473"/>
                <a:ext cx="4235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>
                          <a:latin typeface="Cambria Math" panose="02040503050406030204" pitchFamily="18" charset="0"/>
                        </a:rPr>
                        <m:t>𝛚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0" name="矩形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3260" y="3355473"/>
                <a:ext cx="423514" cy="369332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对象 5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1912396"/>
              </p:ext>
            </p:extLst>
          </p:nvPr>
        </p:nvGraphicFramePr>
        <p:xfrm>
          <a:off x="1643260" y="3883951"/>
          <a:ext cx="5462390" cy="597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5" r:id="rId28" imgW="3313262" imgH="393529" progId="Equation.DSMT4">
                  <p:embed/>
                </p:oleObj>
              </mc:Choice>
              <mc:Fallback>
                <p:oleObj r:id="rId28" imgW="3313262" imgH="393529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260" y="3883951"/>
                        <a:ext cx="5462390" cy="59775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3203241"/>
              </p:ext>
            </p:extLst>
          </p:nvPr>
        </p:nvGraphicFramePr>
        <p:xfrm>
          <a:off x="89177" y="5167290"/>
          <a:ext cx="4520690" cy="1398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6" r:id="rId30" imgW="2209800" imgH="736600" progId="Equation.DSMT4">
                  <p:embed/>
                </p:oleObj>
              </mc:Choice>
              <mc:Fallback>
                <p:oleObj r:id="rId30" imgW="2209800" imgH="7366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77" y="5167290"/>
                        <a:ext cx="4520690" cy="1398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矩形 52"/>
          <p:cNvSpPr/>
          <p:nvPr/>
        </p:nvSpPr>
        <p:spPr>
          <a:xfrm>
            <a:off x="4552135" y="4940826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在一般情况下， </a:t>
            </a:r>
            <a:r>
              <a:rPr lang="en-US" altLang="zh-CN" i="1" dirty="0"/>
              <a:t>A</a:t>
            </a:r>
            <a:r>
              <a:rPr lang="zh-CN" altLang="en-US" dirty="0"/>
              <a:t>、</a:t>
            </a:r>
            <a:r>
              <a:rPr lang="en-US" altLang="zh-CN" i="1" dirty="0"/>
              <a:t>B</a:t>
            </a:r>
            <a:r>
              <a:rPr lang="zh-CN" altLang="en-US" dirty="0"/>
              <a:t>、</a:t>
            </a:r>
            <a:r>
              <a:rPr lang="en-US" altLang="zh-CN" i="1" dirty="0"/>
              <a:t>C</a:t>
            </a:r>
            <a:r>
              <a:rPr lang="zh-CN" altLang="en-US" dirty="0"/>
              <a:t>不全等，所以刚体定点运动时</a:t>
            </a:r>
            <a:r>
              <a:rPr lang="en-US" altLang="zh-CN" i="1" dirty="0">
                <a:solidFill>
                  <a:srgbClr val="FF0000"/>
                </a:solidFill>
              </a:rPr>
              <a:t>H</a:t>
            </a:r>
            <a:r>
              <a:rPr lang="en-US" altLang="zh-CN" i="1" baseline="-25000" dirty="0">
                <a:solidFill>
                  <a:srgbClr val="FF0000"/>
                </a:solidFill>
              </a:rPr>
              <a:t>o</a:t>
            </a:r>
            <a:r>
              <a:rPr lang="zh-CN" altLang="en-US" dirty="0"/>
              <a:t>与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</a:t>
            </a:r>
            <a:r>
              <a:rPr lang="zh-CN" altLang="en-US" dirty="0">
                <a:solidFill>
                  <a:schemeClr val="tx2"/>
                </a:solidFill>
                <a:sym typeface="Symbol" panose="05050102010706020507" pitchFamily="18" charset="2"/>
              </a:rPr>
              <a:t>可能</a:t>
            </a:r>
            <a:r>
              <a:rPr lang="zh-CN" altLang="en-US" dirty="0">
                <a:sym typeface="Symbol" panose="05050102010706020507" pitchFamily="18" charset="2"/>
              </a:rPr>
              <a:t>不平行</a:t>
            </a:r>
            <a:r>
              <a:rPr lang="zh-CN" altLang="en-US" dirty="0" smtClean="0">
                <a:sym typeface="Symbol" panose="05050102010706020507" pitchFamily="18" charset="2"/>
              </a:rPr>
              <a:t>。可能出现：</a:t>
            </a:r>
            <a:r>
              <a:rPr lang="zh-CN" altLang="en-US" dirty="0">
                <a:sym typeface="Symbol" panose="05050102010706020507" pitchFamily="18" charset="2"/>
              </a:rPr>
              <a:t>（</a:t>
            </a:r>
            <a:r>
              <a:rPr lang="en-US" altLang="zh-CN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）有约束， 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 </a:t>
            </a:r>
            <a:r>
              <a:rPr lang="zh-CN" altLang="en-US" dirty="0">
                <a:sym typeface="Symbol" panose="05050102010706020507" pitchFamily="18" charset="2"/>
              </a:rPr>
              <a:t>不变但</a:t>
            </a:r>
            <a:r>
              <a:rPr lang="en-US" altLang="zh-CN" i="1" dirty="0">
                <a:solidFill>
                  <a:srgbClr val="FF0000"/>
                </a:solidFill>
              </a:rPr>
              <a:t>Ho</a:t>
            </a:r>
            <a:r>
              <a:rPr lang="zh-CN" altLang="en-US" dirty="0">
                <a:solidFill>
                  <a:schemeClr val="tx2"/>
                </a:solidFill>
                <a:sym typeface="Symbol" panose="05050102010706020507" pitchFamily="18" charset="2"/>
              </a:rPr>
              <a:t>变化</a:t>
            </a:r>
          </a:p>
          <a:p>
            <a:r>
              <a:rPr lang="zh-CN" altLang="en-US" dirty="0">
                <a:solidFill>
                  <a:schemeClr val="tx2"/>
                </a:solidFill>
                <a:sym typeface="Symbol" panose="05050102010706020507" pitchFamily="18" charset="2"/>
              </a:rPr>
              <a:t>（</a:t>
            </a:r>
            <a:r>
              <a:rPr lang="en-US" altLang="zh-CN" dirty="0">
                <a:solidFill>
                  <a:schemeClr val="tx2"/>
                </a:solidFill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chemeClr val="tx2"/>
                </a:solidFill>
                <a:sym typeface="Symbol" panose="05050102010706020507" pitchFamily="18" charset="2"/>
              </a:rPr>
              <a:t>）无约束， </a:t>
            </a:r>
            <a:r>
              <a:rPr lang="en-US" altLang="zh-CN" i="1" dirty="0">
                <a:solidFill>
                  <a:srgbClr val="FF0000"/>
                </a:solidFill>
              </a:rPr>
              <a:t>Ho</a:t>
            </a:r>
            <a:r>
              <a:rPr lang="en-US" altLang="zh-CN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不变但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</a:t>
            </a:r>
            <a:r>
              <a:rPr lang="zh-CN" altLang="en-US" dirty="0">
                <a:solidFill>
                  <a:schemeClr val="tx2"/>
                </a:solidFill>
                <a:sym typeface="Symbol" panose="05050102010706020507" pitchFamily="18" charset="2"/>
              </a:rPr>
              <a:t>变化</a:t>
            </a:r>
          </a:p>
          <a:p>
            <a:r>
              <a:rPr lang="zh-CN" altLang="en-US" dirty="0"/>
              <a:t>因此，要使</a:t>
            </a:r>
            <a:r>
              <a:rPr lang="en-US" altLang="zh-CN" i="1" dirty="0">
                <a:solidFill>
                  <a:srgbClr val="FF0000"/>
                </a:solidFill>
              </a:rPr>
              <a:t>H</a:t>
            </a:r>
            <a:r>
              <a:rPr lang="en-US" altLang="zh-CN" i="1" baseline="-25000" dirty="0">
                <a:solidFill>
                  <a:srgbClr val="FF0000"/>
                </a:solidFill>
              </a:rPr>
              <a:t>o</a:t>
            </a:r>
            <a:r>
              <a:rPr lang="zh-CN" altLang="en-US" dirty="0">
                <a:solidFill>
                  <a:schemeClr val="tx2"/>
                </a:solidFill>
                <a:sym typeface="Symbol" panose="05050102010706020507" pitchFamily="18" charset="2"/>
              </a:rPr>
              <a:t>和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</a:t>
            </a:r>
            <a:r>
              <a:rPr lang="zh-CN" altLang="en-US" dirty="0"/>
              <a:t>方向都保持不变，必须让</a:t>
            </a:r>
            <a:r>
              <a:rPr lang="en-US" altLang="zh-CN" i="1" dirty="0">
                <a:solidFill>
                  <a:srgbClr val="FF0000"/>
                </a:solidFill>
              </a:rPr>
              <a:t>H</a:t>
            </a:r>
            <a:r>
              <a:rPr lang="en-US" altLang="zh-CN" i="1" baseline="-25000" dirty="0">
                <a:solidFill>
                  <a:srgbClr val="FF0000"/>
                </a:solidFill>
              </a:rPr>
              <a:t>o</a:t>
            </a:r>
            <a:r>
              <a:rPr lang="zh-CN" altLang="en-US" dirty="0"/>
              <a:t>与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</a:t>
            </a:r>
            <a:r>
              <a:rPr lang="zh-CN" altLang="en-US" dirty="0">
                <a:sym typeface="Symbol" panose="05050102010706020507" pitchFamily="18" charset="2"/>
              </a:rPr>
              <a:t>平行。</a:t>
            </a:r>
          </a:p>
          <a:p>
            <a:endParaRPr lang="zh-CN" altLang="en-US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4949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34035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）当</a:t>
            </a:r>
            <a:r>
              <a:rPr lang="en-US" altLang="zh-CN" i="1" dirty="0"/>
              <a:t>A</a:t>
            </a:r>
            <a:r>
              <a:rPr lang="zh-CN" altLang="en-US" dirty="0"/>
              <a:t>＝</a:t>
            </a:r>
            <a:r>
              <a:rPr lang="en-US" altLang="zh-CN" i="1" dirty="0"/>
              <a:t>B</a:t>
            </a:r>
            <a:r>
              <a:rPr lang="zh-CN" altLang="en-US" dirty="0"/>
              <a:t>＝</a:t>
            </a:r>
            <a:r>
              <a:rPr lang="en-US" altLang="zh-CN" i="1" dirty="0"/>
              <a:t>C</a:t>
            </a:r>
            <a:r>
              <a:rPr lang="zh-CN" altLang="en-US" dirty="0"/>
              <a:t>时</a:t>
            </a:r>
            <a:r>
              <a:rPr lang="zh-CN" altLang="en-US" i="1" dirty="0"/>
              <a:t>，</a:t>
            </a:r>
            <a:r>
              <a:rPr lang="zh-CN" altLang="en-US" dirty="0"/>
              <a:t>对任意转轴，</a:t>
            </a:r>
            <a:r>
              <a:rPr lang="zh-CN" altLang="en-US" i="1" dirty="0"/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H</a:t>
            </a:r>
            <a:r>
              <a:rPr lang="en-US" altLang="zh-CN" i="1" baseline="-25000" dirty="0">
                <a:solidFill>
                  <a:srgbClr val="FF0000"/>
                </a:solidFill>
              </a:rPr>
              <a:t>o</a:t>
            </a:r>
            <a:r>
              <a:rPr lang="zh-CN" altLang="en-US" dirty="0"/>
              <a:t>与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</a:t>
            </a:r>
            <a:r>
              <a:rPr lang="zh-CN" altLang="en-US" dirty="0">
                <a:sym typeface="Symbol" panose="05050102010706020507" pitchFamily="18" charset="2"/>
              </a:rPr>
              <a:t>平行</a:t>
            </a:r>
            <a:r>
              <a:rPr lang="zh-CN" altLang="en-US" dirty="0" smtClean="0"/>
              <a:t>。</a:t>
            </a:r>
            <a:r>
              <a:rPr lang="zh-CN" altLang="en-US" dirty="0"/>
              <a:t>任意转轴均可定向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）当</a:t>
            </a:r>
            <a:r>
              <a:rPr lang="en-US" altLang="zh-CN" i="1" dirty="0"/>
              <a:t>A</a:t>
            </a:r>
            <a:r>
              <a:rPr lang="zh-CN" altLang="en-US" i="1" dirty="0"/>
              <a:t>＝</a:t>
            </a:r>
            <a:r>
              <a:rPr lang="zh-CN" altLang="en-US" dirty="0"/>
              <a:t> 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</a:t>
            </a:r>
            <a:r>
              <a:rPr lang="en-US" altLang="zh-CN" i="1" dirty="0"/>
              <a:t>C</a:t>
            </a:r>
            <a:r>
              <a:rPr lang="zh-CN" altLang="en-US" dirty="0"/>
              <a:t>时</a:t>
            </a:r>
            <a:r>
              <a:rPr lang="zh-CN" altLang="en-US" i="1" dirty="0"/>
              <a:t>， </a:t>
            </a:r>
            <a:r>
              <a:rPr lang="zh-CN" altLang="en-US" dirty="0"/>
              <a:t>若绕</a:t>
            </a:r>
            <a:r>
              <a:rPr lang="en-US" altLang="zh-CN" i="1" dirty="0"/>
              <a:t>z</a:t>
            </a:r>
            <a:r>
              <a:rPr lang="zh-CN" altLang="en-US" dirty="0"/>
              <a:t>轴转动</a:t>
            </a:r>
            <a:r>
              <a:rPr lang="zh-CN" altLang="en-US" dirty="0" smtClean="0"/>
              <a:t>，</a:t>
            </a:r>
            <a:r>
              <a:rPr lang="en-US" altLang="zh-CN" i="1" dirty="0" smtClean="0"/>
              <a:t>z</a:t>
            </a:r>
            <a:r>
              <a:rPr lang="zh-CN" altLang="en-US" dirty="0"/>
              <a:t>轴可定向，或绕</a:t>
            </a:r>
            <a:r>
              <a:rPr lang="en-US" altLang="zh-CN" i="1" dirty="0"/>
              <a:t>x</a:t>
            </a:r>
            <a:r>
              <a:rPr lang="zh-CN" altLang="en-US" dirty="0"/>
              <a:t>轴、</a:t>
            </a:r>
            <a:r>
              <a:rPr lang="en-US" altLang="zh-CN" i="1" dirty="0"/>
              <a:t>y</a:t>
            </a:r>
            <a:r>
              <a:rPr lang="zh-CN" altLang="en-US" dirty="0"/>
              <a:t>轴均可定向。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46" name="对象 1925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3987425"/>
              </p:ext>
            </p:extLst>
          </p:nvPr>
        </p:nvGraphicFramePr>
        <p:xfrm>
          <a:off x="166689" y="796995"/>
          <a:ext cx="3757609" cy="917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r:id="rId4" imgW="1675673" imgH="393529" progId="Equation.3">
                  <p:embed/>
                </p:oleObj>
              </mc:Choice>
              <mc:Fallback>
                <p:oleObj r:id="rId4" imgW="1675673" imgH="393529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9" y="796995"/>
                        <a:ext cx="3757609" cy="91750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924301" y="796995"/>
            <a:ext cx="4376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mtClean="0"/>
              <a:t>（</a:t>
            </a:r>
            <a:r>
              <a:rPr lang="en-US" altLang="zh-CN" smtClean="0"/>
              <a:t>1</a:t>
            </a:r>
            <a:r>
              <a:rPr lang="zh-CN" altLang="en-US" smtClean="0"/>
              <a:t>）</a:t>
            </a:r>
            <a:r>
              <a:rPr lang="en-US" altLang="zh-CN" smtClean="0"/>
              <a:t>C&gt;A</a:t>
            </a:r>
            <a:r>
              <a:rPr lang="zh-CN" altLang="en-US" smtClean="0"/>
              <a:t>，</a:t>
            </a:r>
            <a:r>
              <a:rPr lang="en-US" altLang="zh-CN" smtClean="0"/>
              <a:t>C&gt;B</a:t>
            </a:r>
            <a:r>
              <a:rPr lang="zh-CN" altLang="en-US" smtClean="0"/>
              <a:t>。即</a:t>
            </a:r>
            <a:r>
              <a:rPr lang="en-US" altLang="zh-CN" i="1" smtClean="0"/>
              <a:t>Z</a:t>
            </a:r>
            <a:r>
              <a:rPr lang="zh-CN" altLang="en-US" smtClean="0"/>
              <a:t>轴为最大惯性主轴。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24300" y="1166327"/>
            <a:ext cx="4376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C&lt;A</a:t>
            </a:r>
            <a:r>
              <a:rPr lang="zh-CN" altLang="en-US" dirty="0"/>
              <a:t>，</a:t>
            </a:r>
            <a:r>
              <a:rPr lang="en-US" altLang="zh-CN" dirty="0"/>
              <a:t>C&lt;B</a:t>
            </a:r>
            <a:r>
              <a:rPr lang="zh-CN" altLang="en-US" dirty="0"/>
              <a:t>。即</a:t>
            </a:r>
            <a:r>
              <a:rPr lang="en-US" altLang="zh-CN" i="1" dirty="0"/>
              <a:t>Z</a:t>
            </a:r>
            <a:r>
              <a:rPr lang="zh-CN" altLang="en-US" dirty="0"/>
              <a:t>轴为最小惯性主轴。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24299" y="1535659"/>
            <a:ext cx="4376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C&lt;A</a:t>
            </a:r>
            <a:r>
              <a:rPr lang="zh-CN" altLang="en-US" dirty="0"/>
              <a:t>，</a:t>
            </a:r>
            <a:r>
              <a:rPr lang="en-US" altLang="zh-CN" dirty="0"/>
              <a:t>C&gt;B</a:t>
            </a:r>
            <a:r>
              <a:rPr lang="zh-CN" altLang="en-US" dirty="0"/>
              <a:t>。即</a:t>
            </a:r>
            <a:r>
              <a:rPr lang="en-US" altLang="zh-CN" i="1" dirty="0"/>
              <a:t>Z</a:t>
            </a:r>
            <a:r>
              <a:rPr lang="zh-CN" altLang="en-US" dirty="0"/>
              <a:t>轴为中间惯性主轴。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1823462"/>
            <a:ext cx="83008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经过分析，发现“最大或最小惯性主轴为稳定转动轴”对刚体成立，对非刚体，存在能量耗散，则</a:t>
            </a:r>
            <a:r>
              <a:rPr lang="zh-CN" altLang="en-US" dirty="0">
                <a:solidFill>
                  <a:srgbClr val="FF0000"/>
                </a:solidFill>
              </a:rPr>
              <a:t>最小惯性主轴不是稳定转动轴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0" y="2394089"/>
            <a:ext cx="87296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ym typeface="Symbol" panose="05050102010706020507" pitchFamily="18" charset="2"/>
              </a:rPr>
              <a:t>（</a:t>
            </a:r>
            <a:r>
              <a:rPr lang="en-US" altLang="zh-CN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）在刚体情况下，最大、最小轴稳定。但有能量耗散时，只有最大轴稳定，且能量耗散有利于稳定</a:t>
            </a:r>
            <a:r>
              <a:rPr lang="zh-CN" altLang="en-US" dirty="0" smtClean="0">
                <a:sym typeface="Symbol" panose="05050102010706020507" pitchFamily="18" charset="2"/>
              </a:rPr>
              <a:t>。（</a:t>
            </a:r>
            <a:r>
              <a:rPr lang="en-US" altLang="zh-CN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）因此可以在卫星中有意增加章动阻尼器，提高精度。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sp>
        <p:nvSpPr>
          <p:cNvPr id="54" name="文本框 53"/>
          <p:cNvSpPr txBox="1">
            <a:spLocks noChangeArrowheads="1"/>
          </p:cNvSpPr>
          <p:nvPr/>
        </p:nvSpPr>
        <p:spPr bwMode="auto">
          <a:xfrm>
            <a:off x="-1" y="3040420"/>
            <a:ext cx="8729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b="0" dirty="0" smtClean="0">
                <a:solidFill>
                  <a:srgbClr val="0000FF"/>
                </a:solidFill>
              </a:rPr>
              <a:t>刚体：</a:t>
            </a:r>
            <a:r>
              <a:rPr lang="zh-CN" altLang="en-US" sz="1800" b="0" dirty="0">
                <a:solidFill>
                  <a:srgbClr val="0000FF"/>
                </a:solidFill>
              </a:rPr>
              <a:t>绕主轴转动</a:t>
            </a:r>
            <a:r>
              <a:rPr lang="zh-CN" altLang="en-US" sz="1800" b="0" dirty="0" smtClean="0">
                <a:solidFill>
                  <a:srgbClr val="0000FF"/>
                </a:solidFill>
              </a:rPr>
              <a:t>稳定，</a:t>
            </a:r>
            <a:r>
              <a:rPr lang="zh-CN" altLang="en-US" sz="1800" b="0" dirty="0">
                <a:solidFill>
                  <a:srgbClr val="0000FF"/>
                </a:solidFill>
              </a:rPr>
              <a:t>绕最大、最小主轴转动</a:t>
            </a:r>
            <a:r>
              <a:rPr lang="zh-CN" altLang="en-US" sz="1800" b="0" dirty="0" smtClean="0">
                <a:solidFill>
                  <a:srgbClr val="0000FF"/>
                </a:solidFill>
              </a:rPr>
              <a:t>稳定；准刚体：绕最大主轴转动稳定</a:t>
            </a:r>
          </a:p>
          <a:p>
            <a:r>
              <a:rPr lang="zh-CN" altLang="en-US" sz="1800" b="0" dirty="0" smtClean="0">
                <a:solidFill>
                  <a:srgbClr val="0000FF"/>
                </a:solidFill>
              </a:rPr>
              <a:t>多刚体：</a:t>
            </a:r>
            <a:r>
              <a:rPr lang="zh-CN" altLang="en-US" sz="1800" b="0" dirty="0">
                <a:solidFill>
                  <a:srgbClr val="0000FF"/>
                </a:solidFill>
              </a:rPr>
              <a:t>绕最大、最小主轴转动均可以</a:t>
            </a:r>
            <a:r>
              <a:rPr lang="zh-CN" altLang="en-US" sz="1800" b="0" dirty="0" smtClean="0">
                <a:solidFill>
                  <a:srgbClr val="0000FF"/>
                </a:solidFill>
              </a:rPr>
              <a:t>稳定</a:t>
            </a:r>
          </a:p>
        </p:txBody>
      </p:sp>
      <p:sp>
        <p:nvSpPr>
          <p:cNvPr id="8" name="矩形 7"/>
          <p:cNvSpPr/>
          <p:nvPr/>
        </p:nvSpPr>
        <p:spPr>
          <a:xfrm>
            <a:off x="-1" y="3611047"/>
            <a:ext cx="9038005" cy="120032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 smtClean="0"/>
              <a:t>雅可比积分为 </a:t>
            </a:r>
            <a:endParaRPr lang="en-US" altLang="zh-CN" dirty="0" smtClean="0"/>
          </a:p>
          <a:p>
            <a:r>
              <a:rPr lang="zh-CN" altLang="en-US" dirty="0" smtClean="0"/>
              <a:t>若</a:t>
            </a:r>
            <a:r>
              <a:rPr lang="zh-CN" altLang="en-US" dirty="0"/>
              <a:t>初始广义能量E&gt;0，则 恒为正值，m的运动 范围不受限制。若初始广义能量E&lt;0，则可能存在 </a:t>
            </a:r>
            <a:r>
              <a:rPr lang="zh-CN" altLang="en-US" dirty="0" smtClean="0"/>
              <a:t>                为</a:t>
            </a:r>
            <a:r>
              <a:rPr lang="zh-CN" altLang="en-US" dirty="0"/>
              <a:t>负值的区域，即m不能到达的禁区。禁区的边界由 </a:t>
            </a:r>
            <a:r>
              <a:rPr lang="zh-CN" altLang="en-US" dirty="0" smtClean="0"/>
              <a:t>                         或</a:t>
            </a:r>
            <a:r>
              <a:rPr lang="zh-CN" altLang="en-US" dirty="0"/>
              <a:t>v＝0确定，称为零速度面或者Hill曲面。 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1489440" y="3587716"/>
                <a:ext cx="18217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=2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（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𝛺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440" y="3587716"/>
                <a:ext cx="1821716" cy="369332"/>
              </a:xfrm>
              <a:prstGeom prst="rect">
                <a:avLst/>
              </a:prstGeom>
              <a:blipFill rotWithShape="0">
                <a:blip r:embed="rId6"/>
                <a:stretch>
                  <a:fillRect t="-121667" r="-27759" b="-18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715228" y="4162606"/>
                <a:ext cx="10214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（"/>
                          <m:endChr m:val="）"/>
                          <m:ctrlPr>
                            <a:rPr lang="zh-CN" altLang="en-US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𝛺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228" y="4162606"/>
                <a:ext cx="1021497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6714294" y="4160644"/>
                <a:ext cx="15865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294" y="4160644"/>
                <a:ext cx="1586524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430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9144000" cy="147732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 smtClean="0"/>
              <a:t>（</a:t>
            </a:r>
            <a:r>
              <a:rPr lang="zh-CN" altLang="en-US" dirty="0"/>
              <a:t>1）它有一个很好的冷环境，对设备和实验有利 （2）对地球，太阳或地球，月亮的相对几何位置几乎 是恒定的，使得观测和通讯变得相对简单，廉价。 （3）节省能量。两方面的原因，一是利用通往平衡点 的空间不变流形（借助自然引力）来设计发射转移轨 道，可以使得轨道转移能量特别省，降低发射费用。 二是在轨道保持方面，可以利用太阳能，卫星总是朝 太阳。 （4）是空间对接的好场所，因为在拉格朗日点附近相 对速度很小。</a:t>
            </a:r>
          </a:p>
        </p:txBody>
      </p:sp>
      <p:sp>
        <p:nvSpPr>
          <p:cNvPr id="15" name="矩形 14"/>
          <p:cNvSpPr/>
          <p:nvPr/>
        </p:nvSpPr>
        <p:spPr>
          <a:xfrm>
            <a:off x="0" y="1477328"/>
            <a:ext cx="89344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对于天体m2、天体m1和航天器m，满足 m2&gt;&gt;m1&gt;&gt;m。 </a:t>
            </a:r>
            <a:r>
              <a:rPr lang="en-US" altLang="zh-CN" dirty="0"/>
              <a:t>m1</a:t>
            </a:r>
            <a:r>
              <a:rPr lang="zh-CN" altLang="en-US" dirty="0"/>
              <a:t>和</a:t>
            </a:r>
            <a:r>
              <a:rPr lang="en-US" altLang="zh-CN" dirty="0"/>
              <a:t>m2</a:t>
            </a:r>
            <a:r>
              <a:rPr lang="zh-CN" altLang="en-US" dirty="0"/>
              <a:t>对航天器的引力分别为</a:t>
            </a:r>
            <a:r>
              <a:rPr lang="en-US" altLang="zh-CN" dirty="0"/>
              <a:t>F1</a:t>
            </a:r>
            <a:r>
              <a:rPr lang="zh-CN" altLang="en-US" dirty="0"/>
              <a:t>和</a:t>
            </a:r>
            <a:r>
              <a:rPr lang="en-US" altLang="zh-CN" dirty="0"/>
              <a:t>F2</a:t>
            </a:r>
            <a:r>
              <a:rPr lang="zh-CN" altLang="en-US" dirty="0"/>
              <a:t>。对 于</a:t>
            </a:r>
            <a:r>
              <a:rPr lang="en-US" altLang="zh-CN" dirty="0"/>
              <a:t>F1&gt;F2</a:t>
            </a:r>
            <a:r>
              <a:rPr lang="zh-CN" altLang="en-US" dirty="0"/>
              <a:t>的区域，定义为天体</a:t>
            </a:r>
            <a:r>
              <a:rPr lang="en-US" altLang="zh-CN" dirty="0"/>
              <a:t>m1</a:t>
            </a:r>
            <a:r>
              <a:rPr lang="zh-CN" altLang="en-US" dirty="0"/>
              <a:t>相对天体</a:t>
            </a:r>
            <a:r>
              <a:rPr lang="en-US" altLang="zh-CN" dirty="0"/>
              <a:t>m2</a:t>
            </a:r>
            <a:r>
              <a:rPr lang="zh-CN" altLang="en-US" dirty="0"/>
              <a:t>的 引力球。其边界满足</a:t>
            </a:r>
            <a:r>
              <a:rPr lang="en-US" altLang="zh-CN" dirty="0"/>
              <a:t>F1=F2</a:t>
            </a:r>
            <a:r>
              <a:rPr lang="en-US" altLang="zh-CN" dirty="0" smtClean="0"/>
              <a:t>.</a:t>
            </a:r>
            <a:endParaRPr lang="en-US" altLang="zh-CN" dirty="0"/>
          </a:p>
        </p:txBody>
      </p:sp>
      <p:sp>
        <p:nvSpPr>
          <p:cNvPr id="16" name="矩形 15"/>
          <p:cNvSpPr/>
          <p:nvPr/>
        </p:nvSpPr>
        <p:spPr>
          <a:xfrm>
            <a:off x="0" y="221599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天体</a:t>
            </a:r>
            <a:r>
              <a:rPr lang="zh-CN" altLang="en-US" dirty="0"/>
              <a:t>m1 的影响球的条件</a:t>
            </a:r>
            <a:r>
              <a:rPr lang="zh-CN" altLang="en-US" dirty="0" smtClean="0"/>
              <a:t>是</a:t>
            </a:r>
            <a:r>
              <a:rPr lang="en-US" altLang="zh-CN" dirty="0" smtClean="0"/>
              <a:t>:                   ,</a:t>
            </a:r>
            <a:r>
              <a:rPr lang="zh-CN" altLang="en-US" dirty="0"/>
              <a:t>其中</a:t>
            </a:r>
            <a:r>
              <a:rPr lang="en-US" altLang="zh-CN" dirty="0"/>
              <a:t>α2 </a:t>
            </a:r>
            <a:r>
              <a:rPr lang="zh-CN" altLang="en-US" dirty="0"/>
              <a:t>是天体 </a:t>
            </a:r>
            <a:r>
              <a:rPr lang="en-US" altLang="zh-CN" dirty="0"/>
              <a:t>m2</a:t>
            </a:r>
            <a:r>
              <a:rPr lang="zh-CN" altLang="en-US" dirty="0"/>
              <a:t>引起的主要加速度， </a:t>
            </a:r>
            <a:r>
              <a:rPr lang="en-US" altLang="zh-CN" dirty="0"/>
              <a:t>Φ2 </a:t>
            </a:r>
            <a:r>
              <a:rPr lang="zh-CN" altLang="en-US" dirty="0"/>
              <a:t>是由天体</a:t>
            </a:r>
            <a:r>
              <a:rPr lang="en-US" altLang="zh-CN" dirty="0"/>
              <a:t>m1 </a:t>
            </a:r>
            <a:r>
              <a:rPr lang="zh-CN" altLang="en-US" dirty="0"/>
              <a:t>引起的摄动加速度。</a:t>
            </a:r>
          </a:p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/>
              <p:nvPr/>
            </p:nvSpPr>
            <p:spPr>
              <a:xfrm>
                <a:off x="2758580" y="2072555"/>
                <a:ext cx="1074140" cy="656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𝛷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𝛷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580" y="2072555"/>
                <a:ext cx="1074140" cy="65620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0" y="2954656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引力</a:t>
            </a:r>
            <a:r>
              <a:rPr lang="zh-CN" altLang="en-US" dirty="0" smtClean="0"/>
              <a:t>加速、甩摆技术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5506" y="3392034"/>
            <a:ext cx="8861794" cy="220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000"/>
              </a:lnSpc>
            </a:pP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拉格朗日点</a:t>
            </a:r>
            <a:r>
              <a:rPr lang="zh-CN" alt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（天平动</a:t>
            </a:r>
            <a:r>
              <a:rPr lang="zh-CN" altLang="en-US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点）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指受两大物体引力作用下，能够使小物体稳定的点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  <a:endParaRPr lang="en-US" altLang="zh-CN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2389" y="3612607"/>
            <a:ext cx="85629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Halo</a:t>
            </a:r>
            <a:r>
              <a:rPr lang="zh-CN" altLang="en-US" dirty="0"/>
              <a:t>轨道：航天器</a:t>
            </a:r>
            <a:r>
              <a:rPr lang="zh-CN" altLang="en-US" dirty="0" smtClean="0"/>
              <a:t>围绕天平动</a:t>
            </a:r>
            <a:r>
              <a:rPr lang="zh-CN" altLang="en-US" dirty="0"/>
              <a:t>点运动的轨迹，从地球上看，在晕轨道上运行的航天器呈现为围绕太阳或月球的视运动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693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494</TotalTime>
  <Words>2714</Words>
  <Application>Microsoft Office PowerPoint</Application>
  <PresentationFormat>全屏显示(4:3)</PresentationFormat>
  <Paragraphs>168</Paragraphs>
  <Slides>12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华文行楷</vt:lpstr>
      <vt:lpstr>宋体</vt:lpstr>
      <vt:lpstr>Arial</vt:lpstr>
      <vt:lpstr>Calibri</vt:lpstr>
      <vt:lpstr>Calibri Light</vt:lpstr>
      <vt:lpstr>Cambria Math</vt:lpstr>
      <vt:lpstr>Symbol</vt:lpstr>
      <vt:lpstr>Times New Roman</vt:lpstr>
      <vt:lpstr>Office 主题</vt:lpstr>
      <vt:lpstr>公式</vt:lpstr>
      <vt:lpstr>Equation</vt:lpstr>
      <vt:lpstr>MathType 6.0 Equation</vt:lpstr>
      <vt:lpstr>Microsoft Equation 3.0</vt:lpstr>
      <vt:lpstr>MathType 5.0 Equation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杨 鑫</cp:lastModifiedBy>
  <cp:revision>54</cp:revision>
  <cp:lastPrinted>2019-01-06T03:27:34Z</cp:lastPrinted>
  <dcterms:created xsi:type="dcterms:W3CDTF">2015-01-15T08:21:41Z</dcterms:created>
  <dcterms:modified xsi:type="dcterms:W3CDTF">2019-01-06T06:31:11Z</dcterms:modified>
</cp:coreProperties>
</file>