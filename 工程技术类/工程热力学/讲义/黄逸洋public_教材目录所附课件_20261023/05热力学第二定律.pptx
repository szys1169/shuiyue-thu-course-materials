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sldIdLst>
    <p:sldId id="257" r:id="rId2"/>
    <p:sldId id="258" r:id="rId3"/>
    <p:sldId id="259" r:id="rId4"/>
    <p:sldId id="260" r:id="rId5"/>
    <p:sldId id="261" r:id="rId6"/>
    <p:sldId id="262" r:id="rId7"/>
    <p:sldId id="263" r:id="rId8"/>
    <p:sldId id="264" r:id="rId9"/>
    <p:sldId id="266" r:id="rId10"/>
    <p:sldId id="271" r:id="rId11"/>
    <p:sldId id="272" r:id="rId12"/>
    <p:sldId id="327" r:id="rId13"/>
    <p:sldId id="328" r:id="rId14"/>
    <p:sldId id="329" r:id="rId15"/>
    <p:sldId id="274" r:id="rId16"/>
    <p:sldId id="330" r:id="rId17"/>
    <p:sldId id="346" r:id="rId18"/>
    <p:sldId id="332" r:id="rId19"/>
    <p:sldId id="333" r:id="rId20"/>
    <p:sldId id="334" r:id="rId21"/>
    <p:sldId id="335" r:id="rId22"/>
    <p:sldId id="336" r:id="rId23"/>
    <p:sldId id="337" r:id="rId24"/>
    <p:sldId id="338" r:id="rId25"/>
    <p:sldId id="339" r:id="rId26"/>
    <p:sldId id="341"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43" r:id="rId55"/>
    <p:sldId id="342" r:id="rId56"/>
    <p:sldId id="315" r:id="rId57"/>
    <p:sldId id="316" r:id="rId58"/>
    <p:sldId id="317" r:id="rId59"/>
    <p:sldId id="344" r:id="rId60"/>
    <p:sldId id="319" r:id="rId61"/>
    <p:sldId id="320" r:id="rId62"/>
    <p:sldId id="321" r:id="rId63"/>
    <p:sldId id="322" r:id="rId64"/>
    <p:sldId id="340" r:id="rId65"/>
    <p:sldId id="324" r:id="rId66"/>
    <p:sldId id="325" r:id="rId67"/>
    <p:sldId id="345" r:id="rId6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6" d="100"/>
          <a:sy n="96" d="100"/>
        </p:scale>
        <p:origin x="8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 Id="rId4"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image" Target="../media/image62.wmf"/><Relationship Id="rId7" Type="http://schemas.openxmlformats.org/officeDocument/2006/relationships/image" Target="../media/image65.wmf"/><Relationship Id="rId2" Type="http://schemas.openxmlformats.org/officeDocument/2006/relationships/image" Target="../media/image61.wmf"/><Relationship Id="rId1" Type="http://schemas.openxmlformats.org/officeDocument/2006/relationships/image" Target="../media/image60.wmf"/><Relationship Id="rId6" Type="http://schemas.openxmlformats.org/officeDocument/2006/relationships/image" Target="../media/image64.wmf"/><Relationship Id="rId5" Type="http://schemas.openxmlformats.org/officeDocument/2006/relationships/image" Target="../media/image63.wmf"/><Relationship Id="rId4" Type="http://schemas.openxmlformats.org/officeDocument/2006/relationships/image" Target="../media/image5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6.wmf"/><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2.wmf"/><Relationship Id="rId1" Type="http://schemas.openxmlformats.org/officeDocument/2006/relationships/image" Target="../media/image7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6.wmf"/><Relationship Id="rId1" Type="http://schemas.openxmlformats.org/officeDocument/2006/relationships/image" Target="../media/image8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5AD6E0-8C69-4120-BC5C-7E3096FC8BCD}" type="datetimeFigureOut">
              <a:rPr lang="zh-CN" altLang="en-US" smtClean="0"/>
              <a:t>2020/10/6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D08507-B3DD-462D-A14C-7F13A6F410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ChangeArrowheads="1"/>
          </p:cNvSpPr>
          <p:nvPr>
            <p:ph type="sldImg" idx="4294967295"/>
          </p:nvPr>
        </p:nvSpPr>
        <p:spPr>
          <a:ln>
            <a:miter lim="800000"/>
          </a:ln>
        </p:spPr>
      </p:sp>
      <p:sp>
        <p:nvSpPr>
          <p:cNvPr id="15362"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1027"/>
          <p:cNvSpPr>
            <a:spLocks noGrp="1"/>
          </p:cNvSpPr>
          <p:nvPr>
            <p:ph type="dt" sz="half" idx="10"/>
          </p:nvPr>
        </p:nvSpPr>
        <p:spPr/>
        <p:txBody>
          <a:bodyPr/>
          <a:lstStyle>
            <a:lvl1pPr>
              <a:defRPr/>
            </a:lvl1pPr>
          </a:lstStyle>
          <a:p>
            <a:fld id="{BB962C8B-B14F-4D97-AF65-F5344CB8AC3E}" type="datetime1">
              <a:rPr lang="zh-CN" altLang="en-US"/>
              <a:t>2020/10/6</a:t>
            </a:fld>
            <a:endParaRPr lang="zh-CN" altLang="en-US"/>
          </a:p>
        </p:txBody>
      </p:sp>
      <p:sp>
        <p:nvSpPr>
          <p:cNvPr id="6" name="页脚占位符 1028"/>
          <p:cNvSpPr>
            <a:spLocks noGrp="1"/>
          </p:cNvSpPr>
          <p:nvPr>
            <p:ph type="ftr" sz="quarter" idx="11"/>
          </p:nvPr>
        </p:nvSpPr>
        <p:spPr/>
        <p:txBody>
          <a:bodyPr/>
          <a:lstStyle>
            <a:lvl1pPr>
              <a:defRPr/>
            </a:lvl1pPr>
          </a:lstStyle>
          <a:p>
            <a:endParaRPr lang="zh-CN" altLang="en-US"/>
          </a:p>
        </p:txBody>
      </p:sp>
      <p:sp>
        <p:nvSpPr>
          <p:cNvPr id="7" name="灯片编号占位符 1029"/>
          <p:cNvSpPr>
            <a:spLocks noGrp="1"/>
          </p:cNvSpPr>
          <p:nvPr>
            <p:ph type="sldNum" sz="quarter" idx="12"/>
          </p:nvPr>
        </p:nvSpPr>
        <p:spPr/>
        <p:txBody>
          <a:bodyPr/>
          <a:lstStyle>
            <a:lvl1pPr>
              <a:defRPr/>
            </a:lvl1pPr>
          </a:lstStyle>
          <a:p>
            <a:fld id="{E87A441C-ECE5-483C-AEE2-AA85FD87FFF3}" type="slidenum">
              <a:rPr lang="zh-CN" altLang="en-US"/>
              <a:t>‹#›</a:t>
            </a:fld>
            <a:endParaRPr lang="zh-CN" altLang="en-US"/>
          </a:p>
        </p:txBody>
      </p:sp>
    </p:spTree>
    <p:extLst>
      <p:ext uri="{BB962C8B-B14F-4D97-AF65-F5344CB8AC3E}">
        <p14:creationId xmlns:p14="http://schemas.microsoft.com/office/powerpoint/2010/main" val="4239038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日期占位符 1027"/>
          <p:cNvSpPr>
            <a:spLocks noGrp="1"/>
          </p:cNvSpPr>
          <p:nvPr>
            <p:ph type="dt" sz="half" idx="10"/>
          </p:nvPr>
        </p:nvSpPr>
        <p:spPr/>
        <p:txBody>
          <a:bodyPr/>
          <a:lstStyle>
            <a:lvl1pPr>
              <a:defRPr/>
            </a:lvl1pPr>
          </a:lstStyle>
          <a:p>
            <a:fld id="{BB962C8B-B14F-4D97-AF65-F5344CB8AC3E}" type="datetime1">
              <a:rPr lang="zh-CN" altLang="en-US"/>
              <a:t>2020/10/6</a:t>
            </a:fld>
            <a:endParaRPr lang="zh-CN" altLang="en-US"/>
          </a:p>
        </p:txBody>
      </p:sp>
      <p:sp>
        <p:nvSpPr>
          <p:cNvPr id="7" name="页脚占位符 1028"/>
          <p:cNvSpPr>
            <a:spLocks noGrp="1"/>
          </p:cNvSpPr>
          <p:nvPr>
            <p:ph type="ftr" sz="quarter" idx="11"/>
          </p:nvPr>
        </p:nvSpPr>
        <p:spPr/>
        <p:txBody>
          <a:bodyPr/>
          <a:lstStyle>
            <a:lvl1pPr>
              <a:defRPr/>
            </a:lvl1pPr>
          </a:lstStyle>
          <a:p>
            <a:endParaRPr lang="zh-CN" altLang="en-US"/>
          </a:p>
        </p:txBody>
      </p:sp>
      <p:sp>
        <p:nvSpPr>
          <p:cNvPr id="8" name="灯片编号占位符 1029"/>
          <p:cNvSpPr>
            <a:spLocks noGrp="1"/>
          </p:cNvSpPr>
          <p:nvPr>
            <p:ph type="sldNum" sz="quarter" idx="12"/>
          </p:nvPr>
        </p:nvSpPr>
        <p:spPr/>
        <p:txBody>
          <a:bodyPr/>
          <a:lstStyle>
            <a:lvl1pPr>
              <a:defRPr/>
            </a:lvl1pPr>
          </a:lstStyle>
          <a:p>
            <a:fld id="{EB9FDDE8-1B84-4681-815E-FA507A4747B6}" type="slidenum">
              <a:rPr lang="zh-CN" altLang="en-US"/>
              <a:t>‹#›</a:t>
            </a:fld>
            <a:endParaRPr lang="zh-CN" altLang="en-US"/>
          </a:p>
        </p:txBody>
      </p:sp>
    </p:spTree>
    <p:extLst>
      <p:ext uri="{BB962C8B-B14F-4D97-AF65-F5344CB8AC3E}">
        <p14:creationId xmlns:p14="http://schemas.microsoft.com/office/powerpoint/2010/main" val="3394333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t>2020/10/6</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wmf"/><Relationship Id="rId13" Type="http://schemas.openxmlformats.org/officeDocument/2006/relationships/image" Target="../media/image3.emf"/><Relationship Id="rId3" Type="http://schemas.openxmlformats.org/officeDocument/2006/relationships/slideLayout" Target="../slideLayouts/slideLayout7.xml"/><Relationship Id="rId7" Type="http://schemas.openxmlformats.org/officeDocument/2006/relationships/oleObject" Target="../embeddings/oleObject1.bin"/><Relationship Id="rId12" Type="http://schemas.openxmlformats.org/officeDocument/2006/relationships/oleObject" Target="../embeddings/oleObject3.bin"/><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6.png"/><Relationship Id="rId11" Type="http://schemas.openxmlformats.org/officeDocument/2006/relationships/image" Target="../media/image7.png"/><Relationship Id="rId5" Type="http://schemas.openxmlformats.org/officeDocument/2006/relationships/image" Target="../media/image5.png"/><Relationship Id="rId10" Type="http://schemas.openxmlformats.org/officeDocument/2006/relationships/image" Target="../media/image2.wmf"/><Relationship Id="rId4" Type="http://schemas.openxmlformats.org/officeDocument/2006/relationships/image" Target="../media/image4.png"/><Relationship Id="rId9" Type="http://schemas.openxmlformats.org/officeDocument/2006/relationships/oleObject" Target="../embeddings/oleObject2.bin"/><Relationship Id="rId1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9.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7.xml"/><Relationship Id="rId7" Type="http://schemas.openxmlformats.org/officeDocument/2006/relationships/image" Target="../media/image11.wmf"/><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10.wmf"/><Relationship Id="rId10" Type="http://schemas.openxmlformats.org/officeDocument/2006/relationships/image" Target="../media/image14.png"/><Relationship Id="rId4" Type="http://schemas.openxmlformats.org/officeDocument/2006/relationships/oleObject" Target="../embeddings/oleObject4.bin"/><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8.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0.wmf"/><Relationship Id="rId5" Type="http://schemas.openxmlformats.org/officeDocument/2006/relationships/oleObject" Target="../embeddings/oleObject8.bin"/><Relationship Id="rId4" Type="http://schemas.openxmlformats.org/officeDocument/2006/relationships/image" Target="../media/image19.wmf"/></Relationships>
</file>

<file path=ppt/slides/_rels/slide13.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23.wmf"/><Relationship Id="rId5" Type="http://schemas.openxmlformats.org/officeDocument/2006/relationships/oleObject" Target="../embeddings/oleObject10.bin"/><Relationship Id="rId4" Type="http://schemas.openxmlformats.org/officeDocument/2006/relationships/image" Target="../media/image22.wmf"/><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7.wmf"/><Relationship Id="rId5" Type="http://schemas.openxmlformats.org/officeDocument/2006/relationships/oleObject" Target="../embeddings/oleObject13.bin"/><Relationship Id="rId4" Type="http://schemas.openxmlformats.org/officeDocument/2006/relationships/image" Target="../media/image26.wmf"/><Relationship Id="rId9"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vmlDrawing" Target="../drawings/vmlDrawing7.vml"/><Relationship Id="rId6" Type="http://schemas.openxmlformats.org/officeDocument/2006/relationships/image" Target="../media/image32.png"/><Relationship Id="rId5" Type="http://schemas.openxmlformats.org/officeDocument/2006/relationships/image" Target="../media/image31.wmf"/><Relationship Id="rId4" Type="http://schemas.openxmlformats.org/officeDocument/2006/relationships/oleObject" Target="../embeddings/oleObject15.bin"/></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slideLayout" Target="../slideLayouts/slideLayout7.xml"/><Relationship Id="rId1" Type="http://schemas.openxmlformats.org/officeDocument/2006/relationships/tags" Target="../tags/tag10.xml"/><Relationship Id="rId5" Type="http://schemas.openxmlformats.org/officeDocument/2006/relationships/image" Target="../media/image35.png"/><Relationship Id="rId4" Type="http://schemas.openxmlformats.org/officeDocument/2006/relationships/image" Target="../media/image29.jpe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12.xml"/><Relationship Id="rId1" Type="http://schemas.openxmlformats.org/officeDocument/2006/relationships/tags" Target="../tags/tag11.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7.xml"/><Relationship Id="rId1" Type="http://schemas.openxmlformats.org/officeDocument/2006/relationships/tags" Target="../tags/tag13.xml"/><Relationship Id="rId4" Type="http://schemas.openxmlformats.org/officeDocument/2006/relationships/image" Target="../media/image39.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41.png"/><Relationship Id="rId4" Type="http://schemas.openxmlformats.org/officeDocument/2006/relationships/image" Target="../media/image40.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slideLayout" Target="../slideLayouts/slideLayout7.xml"/><Relationship Id="rId7" Type="http://schemas.openxmlformats.org/officeDocument/2006/relationships/image" Target="../media/image43.wmf"/><Relationship Id="rId2" Type="http://schemas.openxmlformats.org/officeDocument/2006/relationships/tags" Target="../tags/tag16.xml"/><Relationship Id="rId1" Type="http://schemas.openxmlformats.org/officeDocument/2006/relationships/vmlDrawing" Target="../drawings/vmlDrawing9.vml"/><Relationship Id="rId6" Type="http://schemas.openxmlformats.org/officeDocument/2006/relationships/oleObject" Target="../embeddings/oleObject18.bin"/><Relationship Id="rId11" Type="http://schemas.openxmlformats.org/officeDocument/2006/relationships/image" Target="../media/image45.png"/><Relationship Id="rId5" Type="http://schemas.openxmlformats.org/officeDocument/2006/relationships/image" Target="../media/image42.wmf"/><Relationship Id="rId10" Type="http://schemas.openxmlformats.org/officeDocument/2006/relationships/image" Target="../media/image41.png"/><Relationship Id="rId4" Type="http://schemas.openxmlformats.org/officeDocument/2006/relationships/oleObject" Target="../embeddings/oleObject17.bin"/><Relationship Id="rId9" Type="http://schemas.openxmlformats.org/officeDocument/2006/relationships/image" Target="../media/image44.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7.wmf"/><Relationship Id="rId5" Type="http://schemas.openxmlformats.org/officeDocument/2006/relationships/oleObject" Target="../embeddings/oleObject21.bin"/><Relationship Id="rId4" Type="http://schemas.openxmlformats.org/officeDocument/2006/relationships/image" Target="../media/image46.wmf"/><Relationship Id="rId9"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1.png"/><Relationship Id="rId2" Type="http://schemas.openxmlformats.org/officeDocument/2006/relationships/tags" Target="../tags/tag17.xml"/><Relationship Id="rId1" Type="http://schemas.openxmlformats.org/officeDocument/2006/relationships/vmlDrawing" Target="../drawings/vmlDrawing11.vml"/><Relationship Id="rId6" Type="http://schemas.openxmlformats.org/officeDocument/2006/relationships/image" Target="../media/image49.png"/><Relationship Id="rId5" Type="http://schemas.openxmlformats.org/officeDocument/2006/relationships/image" Target="../media/image50.wmf"/><Relationship Id="rId4" Type="http://schemas.openxmlformats.org/officeDocument/2006/relationships/oleObject" Target="../embeddings/oleObject23.bin"/></Relationships>
</file>

<file path=ppt/slides/_rels/slide3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slideLayout" Target="../slideLayouts/slideLayout7.xml"/><Relationship Id="rId7" Type="http://schemas.openxmlformats.org/officeDocument/2006/relationships/image" Target="../media/image53.wmf"/><Relationship Id="rId2" Type="http://schemas.openxmlformats.org/officeDocument/2006/relationships/tags" Target="../tags/tag18.xml"/><Relationship Id="rId1" Type="http://schemas.openxmlformats.org/officeDocument/2006/relationships/vmlDrawing" Target="../drawings/vmlDrawing12.vml"/><Relationship Id="rId6" Type="http://schemas.openxmlformats.org/officeDocument/2006/relationships/oleObject" Target="../embeddings/oleObject25.bin"/><Relationship Id="rId5" Type="http://schemas.openxmlformats.org/officeDocument/2006/relationships/image" Target="../media/image52.wmf"/><Relationship Id="rId4" Type="http://schemas.openxmlformats.org/officeDocument/2006/relationships/oleObject" Target="../embeddings/oleObject24.bin"/><Relationship Id="rId9" Type="http://schemas.openxmlformats.org/officeDocument/2006/relationships/image" Target="../media/image5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56.wmf"/></Relationships>
</file>

<file path=ppt/slides/_rels/slide44.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7.wmf"/><Relationship Id="rId5" Type="http://schemas.openxmlformats.org/officeDocument/2006/relationships/oleObject" Target="../embeddings/oleObject28.bin"/><Relationship Id="rId10" Type="http://schemas.openxmlformats.org/officeDocument/2006/relationships/image" Target="../media/image59.wmf"/><Relationship Id="rId4" Type="http://schemas.openxmlformats.org/officeDocument/2006/relationships/image" Target="../media/image56.wmf"/><Relationship Id="rId9" Type="http://schemas.openxmlformats.org/officeDocument/2006/relationships/oleObject" Target="../embeddings/oleObject30.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63.wmf"/><Relationship Id="rId18" Type="http://schemas.openxmlformats.org/officeDocument/2006/relationships/oleObject" Target="../embeddings/oleObject38.bin"/><Relationship Id="rId3" Type="http://schemas.openxmlformats.org/officeDocument/2006/relationships/slideLayout" Target="../slideLayouts/slideLayout7.xml"/><Relationship Id="rId7" Type="http://schemas.openxmlformats.org/officeDocument/2006/relationships/image" Target="../media/image61.wmf"/><Relationship Id="rId12" Type="http://schemas.openxmlformats.org/officeDocument/2006/relationships/oleObject" Target="../embeddings/oleObject35.bin"/><Relationship Id="rId17" Type="http://schemas.openxmlformats.org/officeDocument/2006/relationships/image" Target="../media/image65.wmf"/><Relationship Id="rId2" Type="http://schemas.openxmlformats.org/officeDocument/2006/relationships/tags" Target="../tags/tag22.xml"/><Relationship Id="rId16" Type="http://schemas.openxmlformats.org/officeDocument/2006/relationships/oleObject" Target="../embeddings/oleObject37.bin"/><Relationship Id="rId20" Type="http://schemas.openxmlformats.org/officeDocument/2006/relationships/image" Target="../media/image67.png"/><Relationship Id="rId1" Type="http://schemas.openxmlformats.org/officeDocument/2006/relationships/vmlDrawing" Target="../drawings/vmlDrawing15.vml"/><Relationship Id="rId6" Type="http://schemas.openxmlformats.org/officeDocument/2006/relationships/oleObject" Target="../embeddings/oleObject32.bin"/><Relationship Id="rId11" Type="http://schemas.openxmlformats.org/officeDocument/2006/relationships/image" Target="../media/image58.wmf"/><Relationship Id="rId5" Type="http://schemas.openxmlformats.org/officeDocument/2006/relationships/image" Target="../media/image60.wmf"/><Relationship Id="rId15" Type="http://schemas.openxmlformats.org/officeDocument/2006/relationships/image" Target="../media/image64.wmf"/><Relationship Id="rId10" Type="http://schemas.openxmlformats.org/officeDocument/2006/relationships/oleObject" Target="../embeddings/oleObject34.bin"/><Relationship Id="rId19" Type="http://schemas.openxmlformats.org/officeDocument/2006/relationships/image" Target="../media/image66.wmf"/><Relationship Id="rId4" Type="http://schemas.openxmlformats.org/officeDocument/2006/relationships/oleObject" Target="../embeddings/oleObject31.bin"/><Relationship Id="rId9" Type="http://schemas.openxmlformats.org/officeDocument/2006/relationships/image" Target="../media/image62.wmf"/><Relationship Id="rId14" Type="http://schemas.openxmlformats.org/officeDocument/2006/relationships/oleObject" Target="../embeddings/oleObject36.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71.wmf"/><Relationship Id="rId3" Type="http://schemas.openxmlformats.org/officeDocument/2006/relationships/slideLayout" Target="../slideLayouts/slideLayout7.xml"/><Relationship Id="rId7" Type="http://schemas.openxmlformats.org/officeDocument/2006/relationships/image" Target="../media/image68.wmf"/><Relationship Id="rId12" Type="http://schemas.openxmlformats.org/officeDocument/2006/relationships/oleObject" Target="../embeddings/oleObject43.bin"/><Relationship Id="rId2" Type="http://schemas.openxmlformats.org/officeDocument/2006/relationships/tags" Target="../tags/tag23.xml"/><Relationship Id="rId1" Type="http://schemas.openxmlformats.org/officeDocument/2006/relationships/vmlDrawing" Target="../drawings/vmlDrawing16.vml"/><Relationship Id="rId6" Type="http://schemas.openxmlformats.org/officeDocument/2006/relationships/oleObject" Target="../embeddings/oleObject40.bin"/><Relationship Id="rId11" Type="http://schemas.openxmlformats.org/officeDocument/2006/relationships/image" Target="../media/image70.wmf"/><Relationship Id="rId5" Type="http://schemas.openxmlformats.org/officeDocument/2006/relationships/image" Target="../media/image66.wmf"/><Relationship Id="rId15" Type="http://schemas.openxmlformats.org/officeDocument/2006/relationships/image" Target="../media/image72.wmf"/><Relationship Id="rId10" Type="http://schemas.openxmlformats.org/officeDocument/2006/relationships/oleObject" Target="../embeddings/oleObject42.bin"/><Relationship Id="rId4" Type="http://schemas.openxmlformats.org/officeDocument/2006/relationships/oleObject" Target="../embeddings/oleObject39.bin"/><Relationship Id="rId9" Type="http://schemas.openxmlformats.org/officeDocument/2006/relationships/image" Target="../media/image69.wmf"/><Relationship Id="rId14" Type="http://schemas.openxmlformats.org/officeDocument/2006/relationships/oleObject" Target="../embeddings/oleObject44.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72.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72.wmf"/></Relationships>
</file>

<file path=ppt/slides/_rels/slide4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slideLayout" Target="../slideLayouts/slideLayout7.xml"/><Relationship Id="rId7" Type="http://schemas.openxmlformats.org/officeDocument/2006/relationships/image" Target="../media/image72.wmf"/><Relationship Id="rId2" Type="http://schemas.openxmlformats.org/officeDocument/2006/relationships/tags" Target="../tags/tag24.xml"/><Relationship Id="rId1" Type="http://schemas.openxmlformats.org/officeDocument/2006/relationships/vmlDrawing" Target="../drawings/vmlDrawing19.vml"/><Relationship Id="rId6" Type="http://schemas.openxmlformats.org/officeDocument/2006/relationships/oleObject" Target="../embeddings/oleObject48.bin"/><Relationship Id="rId5" Type="http://schemas.openxmlformats.org/officeDocument/2006/relationships/image" Target="../media/image74.wmf"/><Relationship Id="rId4" Type="http://schemas.openxmlformats.org/officeDocument/2006/relationships/oleObject" Target="../embeddings/oleObject47.bin"/><Relationship Id="rId9" Type="http://schemas.openxmlformats.org/officeDocument/2006/relationships/image" Target="../media/image75.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75.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5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slideLayout" Target="../slideLayouts/slideLayout7.xml"/><Relationship Id="rId7" Type="http://schemas.openxmlformats.org/officeDocument/2006/relationships/image" Target="../media/image80.wmf"/><Relationship Id="rId2" Type="http://schemas.openxmlformats.org/officeDocument/2006/relationships/tags" Target="../tags/tag27.xml"/><Relationship Id="rId1" Type="http://schemas.openxmlformats.org/officeDocument/2006/relationships/vmlDrawing" Target="../drawings/vmlDrawing21.vml"/><Relationship Id="rId6" Type="http://schemas.openxmlformats.org/officeDocument/2006/relationships/oleObject" Target="../embeddings/oleObject52.bin"/><Relationship Id="rId5" Type="http://schemas.openxmlformats.org/officeDocument/2006/relationships/image" Target="../media/image79.wmf"/><Relationship Id="rId4" Type="http://schemas.openxmlformats.org/officeDocument/2006/relationships/oleObject" Target="../embeddings/oleObject51.bin"/><Relationship Id="rId9" Type="http://schemas.openxmlformats.org/officeDocument/2006/relationships/image" Target="../media/image81.wmf"/></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slideLayout" Target="../slideLayouts/slideLayout7.xml"/><Relationship Id="rId1" Type="http://schemas.openxmlformats.org/officeDocument/2006/relationships/tags" Target="../tags/tag28.xml"/><Relationship Id="rId4" Type="http://schemas.openxmlformats.org/officeDocument/2006/relationships/image" Target="../media/image82.png"/></Relationships>
</file>

<file path=ppt/slides/_rels/slide6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83.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23.vml"/><Relationship Id="rId4" Type="http://schemas.openxmlformats.org/officeDocument/2006/relationships/image" Target="../media/image83.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83.wmf"/></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6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59.bin"/><Relationship Id="rId3" Type="http://schemas.openxmlformats.org/officeDocument/2006/relationships/slideLayout" Target="../slideLayouts/slideLayout2.xml"/><Relationship Id="rId7" Type="http://schemas.openxmlformats.org/officeDocument/2006/relationships/image" Target="../media/image86.wmf"/><Relationship Id="rId2" Type="http://schemas.openxmlformats.org/officeDocument/2006/relationships/tags" Target="../tags/tag30.xml"/><Relationship Id="rId1" Type="http://schemas.openxmlformats.org/officeDocument/2006/relationships/vmlDrawing" Target="../drawings/vmlDrawing25.vml"/><Relationship Id="rId6" Type="http://schemas.openxmlformats.org/officeDocument/2006/relationships/oleObject" Target="../embeddings/oleObject58.bin"/><Relationship Id="rId11" Type="http://schemas.openxmlformats.org/officeDocument/2006/relationships/image" Target="../media/image88.png"/><Relationship Id="rId5" Type="http://schemas.openxmlformats.org/officeDocument/2006/relationships/image" Target="../media/image85.wmf"/><Relationship Id="rId10" Type="http://schemas.openxmlformats.org/officeDocument/2006/relationships/image" Target="../media/image87.png"/><Relationship Id="rId4" Type="http://schemas.openxmlformats.org/officeDocument/2006/relationships/oleObject" Target="../embeddings/oleObject57.bin"/><Relationship Id="rId9" Type="http://schemas.openxmlformats.org/officeDocument/2006/relationships/image" Target="../media/image81.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4097"/>
          <p:cNvSpPr>
            <a:spLocks noGrp="1" noChangeArrowheads="1"/>
          </p:cNvSpPr>
          <p:nvPr>
            <p:ph type="ctrTitle"/>
          </p:nvPr>
        </p:nvSpPr>
        <p:spPr>
          <a:xfrm>
            <a:off x="586409" y="1938130"/>
            <a:ext cx="7772400" cy="1470025"/>
          </a:xfrm>
        </p:spPr>
        <p:txBody>
          <a:bodyPr anchor="ctr"/>
          <a:lstStyle/>
          <a:p>
            <a:r>
              <a:rPr lang="en-US" altLang="zh-CN" sz="4600" b="1" dirty="0" smtClean="0">
                <a:solidFill>
                  <a:schemeClr val="tx1"/>
                </a:solidFill>
                <a:latin typeface="黑体" panose="02010609060101010101" pitchFamily="49" charset="-122"/>
                <a:ea typeface="黑体" panose="02010609060101010101" pitchFamily="49" charset="-122"/>
              </a:rPr>
              <a:t>05</a:t>
            </a:r>
            <a:r>
              <a:rPr lang="zh-CN" altLang="en-US" sz="4600" b="1" dirty="0" smtClean="0">
                <a:solidFill>
                  <a:schemeClr val="tx1"/>
                </a:solidFill>
                <a:latin typeface="黑体" panose="02010609060101010101" pitchFamily="49" charset="-122"/>
                <a:ea typeface="黑体" panose="02010609060101010101" pitchFamily="49" charset="-122"/>
              </a:rPr>
              <a:t> 热力学第二定律</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53606"/>
          <p:cNvSpPr>
            <a:spLocks noGrp="1" noChangeArrowheads="1"/>
          </p:cNvSpPr>
          <p:nvPr>
            <p:ph type="ctrTitle"/>
          </p:nvPr>
        </p:nvSpPr>
        <p:spPr>
          <a:xfrm>
            <a:off x="468313" y="2133600"/>
            <a:ext cx="8278812" cy="1470025"/>
          </a:xfrm>
        </p:spPr>
        <p:txBody>
          <a:bodyPr anchor="ctr"/>
          <a:lstStyle/>
          <a:p>
            <a:pPr>
              <a:buFontTx/>
              <a:buChar char="§"/>
            </a:pPr>
            <a:r>
              <a:rPr lang="en-US" altLang="zh-CN" sz="3600" b="1" smtClean="0">
                <a:solidFill>
                  <a:schemeClr val="tx1"/>
                </a:solidFill>
                <a:latin typeface="黑体" panose="02010609060101010101" pitchFamily="49" charset="-122"/>
                <a:ea typeface="黑体" panose="02010609060101010101" pitchFamily="49" charset="-122"/>
              </a:rPr>
              <a:t>5</a:t>
            </a:r>
            <a:r>
              <a:rPr lang="zh-CN" altLang="en-US" sz="3600" b="1" smtClean="0">
                <a:solidFill>
                  <a:schemeClr val="tx1"/>
                </a:solidFill>
                <a:latin typeface="黑体" panose="02010609060101010101" pitchFamily="49" charset="-122"/>
                <a:ea typeface="黑体" panose="02010609060101010101" pitchFamily="49" charset="-122"/>
              </a:rPr>
              <a:t>－</a:t>
            </a:r>
            <a:r>
              <a:rPr lang="en-US" altLang="zh-CN" sz="3600" b="1" smtClean="0">
                <a:solidFill>
                  <a:schemeClr val="tx1"/>
                </a:solidFill>
                <a:latin typeface="黑体" panose="02010609060101010101" pitchFamily="49" charset="-122"/>
                <a:ea typeface="黑体" panose="02010609060101010101" pitchFamily="49" charset="-122"/>
              </a:rPr>
              <a:t>1</a:t>
            </a:r>
            <a:r>
              <a:rPr lang="zh-CN" altLang="en-US" sz="3600" b="1" smtClean="0">
                <a:solidFill>
                  <a:schemeClr val="tx1"/>
                </a:solidFill>
                <a:latin typeface="黑体" panose="02010609060101010101" pitchFamily="49" charset="-122"/>
                <a:ea typeface="黑体" panose="02010609060101010101" pitchFamily="49" charset="-122"/>
              </a:rPr>
              <a:t>　为什么需要热力学第二定律？</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258311" y="3600398"/>
            <a:ext cx="2280102" cy="2280102"/>
            <a:chOff x="258311" y="3600398"/>
            <a:chExt cx="2280102" cy="2280102"/>
          </a:xfrm>
        </p:grpSpPr>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311" y="3600398"/>
              <a:ext cx="2280102" cy="2280102"/>
            </a:xfrm>
            <a:prstGeom prst="rect">
              <a:avLst/>
            </a:prstGeom>
          </p:spPr>
        </p:pic>
        <p:sp>
          <p:nvSpPr>
            <p:cNvPr id="154656" name="矩形 154655"/>
            <p:cNvSpPr>
              <a:spLocks noChangeArrowheads="1"/>
            </p:cNvSpPr>
            <p:nvPr/>
          </p:nvSpPr>
          <p:spPr bwMode="auto">
            <a:xfrm>
              <a:off x="517525" y="4167188"/>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rgbClr val="0000CC"/>
                  </a:solidFill>
                </a:rPr>
                <a:t>19.36℃</a:t>
              </a:r>
            </a:p>
          </p:txBody>
        </p:sp>
        <p:sp>
          <p:nvSpPr>
            <p:cNvPr id="154657" name="文本框 154656"/>
            <p:cNvSpPr txBox="1">
              <a:spLocks noChangeArrowheads="1"/>
            </p:cNvSpPr>
            <p:nvPr/>
          </p:nvSpPr>
          <p:spPr bwMode="auto">
            <a:xfrm>
              <a:off x="517525" y="3862388"/>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t>4kg </a:t>
              </a:r>
              <a:r>
                <a:rPr lang="zh-CN" altLang="en-US" sz="2400" dirty="0"/>
                <a:t>水</a:t>
              </a:r>
            </a:p>
          </p:txBody>
        </p:sp>
      </p:gr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5074" y="518307"/>
            <a:ext cx="2310584" cy="2310584"/>
          </a:xfrm>
          <a:prstGeom prst="rect">
            <a:avLst/>
          </a:prstGeom>
        </p:spPr>
      </p:pic>
      <p:sp>
        <p:nvSpPr>
          <p:cNvPr id="16386" name="文本框 154626"/>
          <p:cNvSpPr txBox="1">
            <a:spLocks noChangeArrowheads="1"/>
          </p:cNvSpPr>
          <p:nvPr/>
        </p:nvSpPr>
        <p:spPr bwMode="auto">
          <a:xfrm>
            <a:off x="509588" y="762000"/>
            <a:ext cx="1752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t>4kg </a:t>
            </a:r>
            <a:r>
              <a:rPr lang="zh-CN" altLang="en-US" sz="2400" dirty="0"/>
              <a:t>水 </a:t>
            </a:r>
            <a:r>
              <a:rPr lang="en-US" altLang="zh-CN" sz="2400" b="1" dirty="0">
                <a:solidFill>
                  <a:srgbClr val="0000CC"/>
                </a:solidFill>
              </a:rPr>
              <a:t>15℃</a:t>
            </a:r>
          </a:p>
        </p:txBody>
      </p:sp>
      <p:sp>
        <p:nvSpPr>
          <p:cNvPr id="154630" name="任意多边形 154629"/>
          <p:cNvSpPr>
            <a:spLocks noChangeArrowheads="1"/>
          </p:cNvSpPr>
          <p:nvPr/>
        </p:nvSpPr>
        <p:spPr bwMode="auto">
          <a:xfrm>
            <a:off x="2667000" y="1844675"/>
            <a:ext cx="1219200" cy="4572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576869"/>
              </a:gs>
              <a:gs pos="100000">
                <a:schemeClr val="accent1"/>
              </a:gs>
            </a:gsLst>
            <a:lin ang="0" scaled="1"/>
          </a:gradFill>
          <a:ln w="9525">
            <a:solidFill>
              <a:schemeClr val="tx1"/>
            </a:solidFill>
            <a:miter lim="800000"/>
          </a:ln>
        </p:spPr>
        <p:txBody>
          <a:bodyPr/>
          <a:lstStyle/>
          <a:p>
            <a:endParaRPr lang="zh-CN" altLang="en-US"/>
          </a:p>
        </p:txBody>
      </p:sp>
      <p:grpSp>
        <p:nvGrpSpPr>
          <p:cNvPr id="15" name="组合 14"/>
          <p:cNvGrpSpPr/>
          <p:nvPr/>
        </p:nvGrpSpPr>
        <p:grpSpPr>
          <a:xfrm>
            <a:off x="4015961" y="3609595"/>
            <a:ext cx="2310584" cy="2310584"/>
            <a:chOff x="4015961" y="3609595"/>
            <a:chExt cx="2310584" cy="2310584"/>
          </a:xfrm>
        </p:grpSpPr>
        <p:pic>
          <p:nvPicPr>
            <p:cNvPr id="6" name="图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15961" y="3609595"/>
              <a:ext cx="2310584" cy="2310584"/>
            </a:xfrm>
            <a:prstGeom prst="rect">
              <a:avLst/>
            </a:prstGeom>
          </p:spPr>
        </p:pic>
        <p:sp>
          <p:nvSpPr>
            <p:cNvPr id="154632" name="文本框 154631"/>
            <p:cNvSpPr txBox="1">
              <a:spLocks noChangeArrowheads="1"/>
            </p:cNvSpPr>
            <p:nvPr/>
          </p:nvSpPr>
          <p:spPr bwMode="auto">
            <a:xfrm>
              <a:off x="4191000" y="3886200"/>
              <a:ext cx="1752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t>4kg </a:t>
              </a:r>
              <a:r>
                <a:rPr lang="zh-CN" altLang="en-US" sz="2400"/>
                <a:t>水 </a:t>
              </a:r>
              <a:r>
                <a:rPr lang="en-US" altLang="zh-CN" sz="2400" b="1">
                  <a:solidFill>
                    <a:srgbClr val="0000CC"/>
                  </a:solidFill>
                </a:rPr>
                <a:t>15℃</a:t>
              </a:r>
            </a:p>
          </p:txBody>
        </p:sp>
        <p:sp>
          <p:nvSpPr>
            <p:cNvPr id="154634" name="文本框 154633"/>
            <p:cNvSpPr txBox="1">
              <a:spLocks noChangeArrowheads="1"/>
            </p:cNvSpPr>
            <p:nvPr/>
          </p:nvSpPr>
          <p:spPr bwMode="auto">
            <a:xfrm>
              <a:off x="4572000" y="4800600"/>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t>2kg </a:t>
              </a:r>
              <a:r>
                <a:rPr lang="zh-CN" altLang="en-US" sz="2400" dirty="0"/>
                <a:t>铅块 </a:t>
              </a:r>
              <a:r>
                <a:rPr lang="en-US" altLang="zh-CN" sz="2400" b="1" dirty="0">
                  <a:solidFill>
                    <a:srgbClr val="0000CC"/>
                  </a:solidFill>
                </a:rPr>
                <a:t>300℃</a:t>
              </a:r>
            </a:p>
          </p:txBody>
        </p:sp>
      </p:grpSp>
      <p:sp>
        <p:nvSpPr>
          <p:cNvPr id="154640" name="文本框 154639"/>
          <p:cNvSpPr txBox="1">
            <a:spLocks noChangeArrowheads="1"/>
          </p:cNvSpPr>
          <p:nvPr/>
        </p:nvSpPr>
        <p:spPr bwMode="auto">
          <a:xfrm>
            <a:off x="6477000" y="5334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ea typeface="黑体" panose="02010609060101010101" pitchFamily="49" charset="-122"/>
              </a:rPr>
              <a:t>能量收支情况</a:t>
            </a:r>
          </a:p>
        </p:txBody>
      </p:sp>
      <p:sp>
        <p:nvSpPr>
          <p:cNvPr id="154641" name="文本框 154640"/>
          <p:cNvSpPr txBox="1">
            <a:spLocks noChangeArrowheads="1"/>
          </p:cNvSpPr>
          <p:nvPr/>
        </p:nvSpPr>
        <p:spPr bwMode="auto">
          <a:xfrm>
            <a:off x="6324600" y="1143000"/>
            <a:ext cx="2514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dirty="0">
                <a:ea typeface="黑体" panose="02010609060101010101" pitchFamily="49" charset="-122"/>
              </a:rPr>
              <a:t>水得到热量 </a:t>
            </a:r>
            <a:r>
              <a:rPr lang="en-US" altLang="zh-CN" sz="2200" b="1" dirty="0">
                <a:solidFill>
                  <a:srgbClr val="FF0000"/>
                </a:solidFill>
                <a:ea typeface="黑体" panose="02010609060101010101" pitchFamily="49" charset="-122"/>
              </a:rPr>
              <a:t>73kJ</a:t>
            </a:r>
          </a:p>
        </p:txBody>
      </p:sp>
      <p:grpSp>
        <p:nvGrpSpPr>
          <p:cNvPr id="11" name="组合 10"/>
          <p:cNvGrpSpPr/>
          <p:nvPr/>
        </p:nvGrpSpPr>
        <p:grpSpPr>
          <a:xfrm>
            <a:off x="469900" y="2971800"/>
            <a:ext cx="6748463" cy="512763"/>
            <a:chOff x="469900" y="2971800"/>
            <a:chExt cx="6748463" cy="512763"/>
          </a:xfrm>
        </p:grpSpPr>
        <p:graphicFrame>
          <p:nvGraphicFramePr>
            <p:cNvPr id="154642" name="对象 154641"/>
            <p:cNvGraphicFramePr/>
            <p:nvPr/>
          </p:nvGraphicFramePr>
          <p:xfrm>
            <a:off x="469900" y="2971800"/>
            <a:ext cx="2792413" cy="496888"/>
          </p:xfrm>
          <a:graphic>
            <a:graphicData uri="http://schemas.openxmlformats.org/presentationml/2006/ole">
              <mc:AlternateContent xmlns:mc="http://schemas.openxmlformats.org/markup-compatibility/2006">
                <mc:Choice xmlns:v="urn:schemas-microsoft-com:vml" Requires="v">
                  <p:oleObj spid="_x0000_s1202" r:id="rId7" imgW="1282700" imgH="228600" progId="Equation.DSMT4">
                    <p:embed/>
                  </p:oleObj>
                </mc:Choice>
                <mc:Fallback>
                  <p:oleObj r:id="rId7" imgW="1282700" imgH="228600" progId="Equation.DSMT4">
                    <p:embed/>
                    <p:pic>
                      <p:nvPicPr>
                        <p:cNvPr id="0" name="对象 15464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9900" y="2971800"/>
                          <a:ext cx="27924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4643" name="对象 154642"/>
            <p:cNvGraphicFramePr/>
            <p:nvPr/>
          </p:nvGraphicFramePr>
          <p:xfrm>
            <a:off x="4133850" y="2971800"/>
            <a:ext cx="3084513" cy="512763"/>
          </p:xfrm>
          <a:graphic>
            <a:graphicData uri="http://schemas.openxmlformats.org/presentationml/2006/ole">
              <mc:AlternateContent xmlns:mc="http://schemas.openxmlformats.org/markup-compatibility/2006">
                <mc:Choice xmlns:v="urn:schemas-microsoft-com:vml" Requires="v">
                  <p:oleObj spid="_x0000_s1203" r:id="rId9" imgW="1434465" imgH="241300" progId="Equation.DSMT4">
                    <p:embed/>
                  </p:oleObj>
                </mc:Choice>
                <mc:Fallback>
                  <p:oleObj r:id="rId9" imgW="1434465" imgH="241300" progId="Equation.DSMT4">
                    <p:embed/>
                    <p:pic>
                      <p:nvPicPr>
                        <p:cNvPr id="0" name="对象 15464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33850" y="2971800"/>
                          <a:ext cx="308451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54644" name="文本框 154643"/>
          <p:cNvSpPr txBox="1">
            <a:spLocks noChangeArrowheads="1"/>
          </p:cNvSpPr>
          <p:nvPr/>
        </p:nvSpPr>
        <p:spPr bwMode="auto">
          <a:xfrm>
            <a:off x="6324600" y="1676400"/>
            <a:ext cx="2514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dirty="0">
                <a:ea typeface="黑体" panose="02010609060101010101" pitchFamily="49" charset="-122"/>
              </a:rPr>
              <a:t>铅放出热量 </a:t>
            </a:r>
            <a:r>
              <a:rPr lang="en-US" altLang="zh-CN" sz="2200" b="1" dirty="0">
                <a:solidFill>
                  <a:srgbClr val="FF0000"/>
                </a:solidFill>
                <a:ea typeface="黑体" panose="02010609060101010101" pitchFamily="49" charset="-122"/>
              </a:rPr>
              <a:t>73kJ</a:t>
            </a:r>
          </a:p>
        </p:txBody>
      </p:sp>
      <p:sp>
        <p:nvSpPr>
          <p:cNvPr id="154645" name="文本框 154644"/>
          <p:cNvSpPr txBox="1">
            <a:spLocks noChangeArrowheads="1"/>
          </p:cNvSpPr>
          <p:nvPr/>
        </p:nvSpPr>
        <p:spPr bwMode="auto">
          <a:xfrm>
            <a:off x="6324600" y="2163763"/>
            <a:ext cx="2514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dirty="0">
                <a:ea typeface="黑体" panose="02010609060101010101" pitchFamily="49" charset="-122"/>
              </a:rPr>
              <a:t>满足能量守恒定律</a:t>
            </a:r>
            <a:endParaRPr lang="zh-CN" altLang="en-US" sz="2200" b="1" dirty="0">
              <a:solidFill>
                <a:srgbClr val="FF0000"/>
              </a:solidFill>
              <a:ea typeface="黑体" panose="02010609060101010101" pitchFamily="49" charset="-122"/>
            </a:endParaRPr>
          </a:p>
        </p:txBody>
      </p:sp>
      <p:sp>
        <p:nvSpPr>
          <p:cNvPr id="154646" name="文本框 154645"/>
          <p:cNvSpPr txBox="1">
            <a:spLocks noChangeArrowheads="1"/>
          </p:cNvSpPr>
          <p:nvPr/>
        </p:nvSpPr>
        <p:spPr bwMode="auto">
          <a:xfrm>
            <a:off x="2514600" y="1371600"/>
            <a:ext cx="1752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ea typeface="黑体" panose="02010609060101010101" pitchFamily="49" charset="-122"/>
              </a:rPr>
              <a:t>自然发生</a:t>
            </a:r>
          </a:p>
          <a:p>
            <a:endParaRPr lang="zh-CN" altLang="en-US" sz="2400" b="1" dirty="0">
              <a:ea typeface="黑体" panose="02010609060101010101" pitchFamily="49" charset="-122"/>
            </a:endParaRPr>
          </a:p>
        </p:txBody>
      </p:sp>
      <p:grpSp>
        <p:nvGrpSpPr>
          <p:cNvPr id="16" name="组合 15"/>
          <p:cNvGrpSpPr/>
          <p:nvPr/>
        </p:nvGrpSpPr>
        <p:grpSpPr>
          <a:xfrm>
            <a:off x="2667000" y="3810000"/>
            <a:ext cx="1219200" cy="1589088"/>
            <a:chOff x="2667000" y="3810000"/>
            <a:chExt cx="1219200" cy="1589088"/>
          </a:xfrm>
        </p:grpSpPr>
        <p:sp>
          <p:nvSpPr>
            <p:cNvPr id="154647" name="任意多边形 154646"/>
            <p:cNvSpPr>
              <a:spLocks noChangeArrowheads="1"/>
            </p:cNvSpPr>
            <p:nvPr/>
          </p:nvSpPr>
          <p:spPr bwMode="auto">
            <a:xfrm>
              <a:off x="2667000" y="4941888"/>
              <a:ext cx="1219200" cy="4572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576869"/>
                </a:gs>
                <a:gs pos="100000">
                  <a:schemeClr val="accent1"/>
                </a:gs>
              </a:gsLst>
              <a:lin ang="0" scaled="1"/>
            </a:gradFill>
            <a:ln w="9525">
              <a:solidFill>
                <a:schemeClr val="tx1"/>
              </a:solidFill>
              <a:miter lim="800000"/>
            </a:ln>
          </p:spPr>
          <p:txBody>
            <a:bodyPr/>
            <a:lstStyle/>
            <a:p>
              <a:endParaRPr lang="zh-CN" altLang="en-US"/>
            </a:p>
          </p:txBody>
        </p:sp>
        <p:sp>
          <p:nvSpPr>
            <p:cNvPr id="154648" name="矩形 154647"/>
            <p:cNvSpPr>
              <a:spLocks noChangeArrowheads="1"/>
            </p:cNvSpPr>
            <p:nvPr/>
          </p:nvSpPr>
          <p:spPr bwMode="auto">
            <a:xfrm>
              <a:off x="2819400" y="3810000"/>
              <a:ext cx="1066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5400" b="1" i="1" dirty="0">
                  <a:ea typeface="黑体" panose="02010609060101010101" pitchFamily="49" charset="-122"/>
                </a:rPr>
                <a:t>？</a:t>
              </a:r>
            </a:p>
          </p:txBody>
        </p:sp>
      </p:grpSp>
      <p:sp>
        <p:nvSpPr>
          <p:cNvPr id="154649" name="文本框 154648"/>
          <p:cNvSpPr txBox="1">
            <a:spLocks noChangeArrowheads="1"/>
          </p:cNvSpPr>
          <p:nvPr/>
        </p:nvSpPr>
        <p:spPr bwMode="auto">
          <a:xfrm>
            <a:off x="6477000" y="37338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ea typeface="黑体" panose="02010609060101010101" pitchFamily="49" charset="-122"/>
              </a:rPr>
              <a:t>能量收支情况</a:t>
            </a:r>
          </a:p>
        </p:txBody>
      </p:sp>
      <p:sp>
        <p:nvSpPr>
          <p:cNvPr id="154650" name="文本框 154649"/>
          <p:cNvSpPr txBox="1">
            <a:spLocks noChangeArrowheads="1"/>
          </p:cNvSpPr>
          <p:nvPr/>
        </p:nvSpPr>
        <p:spPr bwMode="auto">
          <a:xfrm>
            <a:off x="6324600" y="4267200"/>
            <a:ext cx="2514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dirty="0">
                <a:ea typeface="黑体" panose="02010609060101010101" pitchFamily="49" charset="-122"/>
              </a:rPr>
              <a:t>水放出热量 </a:t>
            </a:r>
            <a:r>
              <a:rPr lang="en-US" altLang="zh-CN" sz="2200" b="1" dirty="0">
                <a:solidFill>
                  <a:srgbClr val="FF0000"/>
                </a:solidFill>
                <a:ea typeface="黑体" panose="02010609060101010101" pitchFamily="49" charset="-122"/>
              </a:rPr>
              <a:t>73kJ</a:t>
            </a:r>
          </a:p>
        </p:txBody>
      </p:sp>
      <p:sp>
        <p:nvSpPr>
          <p:cNvPr id="154651" name="文本框 154650"/>
          <p:cNvSpPr txBox="1">
            <a:spLocks noChangeArrowheads="1"/>
          </p:cNvSpPr>
          <p:nvPr/>
        </p:nvSpPr>
        <p:spPr bwMode="auto">
          <a:xfrm>
            <a:off x="6324600" y="4754563"/>
            <a:ext cx="2514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dirty="0">
                <a:ea typeface="黑体" panose="02010609060101010101" pitchFamily="49" charset="-122"/>
              </a:rPr>
              <a:t>铅得到热量 </a:t>
            </a:r>
            <a:r>
              <a:rPr lang="en-US" altLang="zh-CN" sz="2200" b="1" dirty="0">
                <a:solidFill>
                  <a:srgbClr val="FF0000"/>
                </a:solidFill>
                <a:ea typeface="黑体" panose="02010609060101010101" pitchFamily="49" charset="-122"/>
              </a:rPr>
              <a:t>73kJ</a:t>
            </a:r>
          </a:p>
        </p:txBody>
      </p:sp>
      <p:sp>
        <p:nvSpPr>
          <p:cNvPr id="154652" name="文本框 154651"/>
          <p:cNvSpPr txBox="1">
            <a:spLocks noChangeArrowheads="1"/>
          </p:cNvSpPr>
          <p:nvPr/>
        </p:nvSpPr>
        <p:spPr bwMode="auto">
          <a:xfrm>
            <a:off x="6248400" y="5334000"/>
            <a:ext cx="2895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dirty="0">
                <a:ea typeface="黑体" panose="02010609060101010101" pitchFamily="49" charset="-122"/>
              </a:rPr>
              <a:t>也满足能量守恒定律</a:t>
            </a:r>
            <a:endParaRPr lang="zh-CN" altLang="en-US" sz="2200" b="1" dirty="0">
              <a:solidFill>
                <a:srgbClr val="FF0000"/>
              </a:solidFill>
              <a:ea typeface="黑体" panose="02010609060101010101" pitchFamily="49" charset="-122"/>
            </a:endParaRPr>
          </a:p>
        </p:txBody>
      </p:sp>
      <p:grpSp>
        <p:nvGrpSpPr>
          <p:cNvPr id="10" name="组合 9"/>
          <p:cNvGrpSpPr/>
          <p:nvPr/>
        </p:nvGrpSpPr>
        <p:grpSpPr>
          <a:xfrm>
            <a:off x="3920623" y="568667"/>
            <a:ext cx="2280102" cy="2280102"/>
            <a:chOff x="3920623" y="568667"/>
            <a:chExt cx="2280102" cy="2280102"/>
          </a:xfrm>
        </p:grpSpPr>
        <p:pic>
          <p:nvPicPr>
            <p:cNvPr id="4" name="图片 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20623" y="568667"/>
              <a:ext cx="2280102" cy="2280102"/>
            </a:xfrm>
            <a:prstGeom prst="rect">
              <a:avLst/>
            </a:prstGeom>
          </p:spPr>
        </p:pic>
        <p:sp>
          <p:nvSpPr>
            <p:cNvPr id="154637" name="矩形 154636"/>
            <p:cNvSpPr>
              <a:spLocks noChangeArrowheads="1"/>
            </p:cNvSpPr>
            <p:nvPr/>
          </p:nvSpPr>
          <p:spPr bwMode="auto">
            <a:xfrm>
              <a:off x="4191000" y="10668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rgbClr val="0000CC"/>
                  </a:solidFill>
                </a:rPr>
                <a:t>19.36℃</a:t>
              </a:r>
            </a:p>
          </p:txBody>
        </p:sp>
        <p:sp>
          <p:nvSpPr>
            <p:cNvPr id="154638" name="文本框 154637"/>
            <p:cNvSpPr txBox="1">
              <a:spLocks noChangeArrowheads="1"/>
            </p:cNvSpPr>
            <p:nvPr/>
          </p:nvSpPr>
          <p:spPr bwMode="auto">
            <a:xfrm>
              <a:off x="4191000" y="762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t>4kg </a:t>
              </a:r>
              <a:r>
                <a:rPr lang="zh-CN" altLang="en-US" sz="2400"/>
                <a:t>水</a:t>
              </a:r>
            </a:p>
          </p:txBody>
        </p:sp>
        <p:sp>
          <p:nvSpPr>
            <p:cNvPr id="154639" name="文本框 154638"/>
            <p:cNvSpPr txBox="1">
              <a:spLocks noChangeArrowheads="1"/>
            </p:cNvSpPr>
            <p:nvPr/>
          </p:nvSpPr>
          <p:spPr bwMode="auto">
            <a:xfrm>
              <a:off x="4495800" y="16002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t>2kg </a:t>
              </a:r>
              <a:r>
                <a:rPr lang="zh-CN" altLang="en-US" sz="2400"/>
                <a:t>铅块</a:t>
              </a:r>
            </a:p>
          </p:txBody>
        </p:sp>
        <p:sp>
          <p:nvSpPr>
            <p:cNvPr id="154653" name="矩形 154652"/>
            <p:cNvSpPr>
              <a:spLocks noChangeArrowheads="1"/>
            </p:cNvSpPr>
            <p:nvPr/>
          </p:nvSpPr>
          <p:spPr bwMode="auto">
            <a:xfrm>
              <a:off x="4267200" y="19812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000CC"/>
                  </a:solidFill>
                </a:rPr>
                <a:t>19.36℃</a:t>
              </a:r>
            </a:p>
          </p:txBody>
        </p:sp>
      </p:grpSp>
      <p:grpSp>
        <p:nvGrpSpPr>
          <p:cNvPr id="14" name="组合 13"/>
          <p:cNvGrpSpPr/>
          <p:nvPr/>
        </p:nvGrpSpPr>
        <p:grpSpPr>
          <a:xfrm>
            <a:off x="593725" y="4700588"/>
            <a:ext cx="1752600" cy="946150"/>
            <a:chOff x="593725" y="4700588"/>
            <a:chExt cx="1752600" cy="946150"/>
          </a:xfrm>
        </p:grpSpPr>
        <p:graphicFrame>
          <p:nvGraphicFramePr>
            <p:cNvPr id="154655" name="对象 154654"/>
            <p:cNvGraphicFramePr/>
            <p:nvPr/>
          </p:nvGraphicFramePr>
          <p:xfrm>
            <a:off x="1736725" y="5087938"/>
            <a:ext cx="542925" cy="558800"/>
          </p:xfrm>
          <a:graphic>
            <a:graphicData uri="http://schemas.openxmlformats.org/presentationml/2006/ole">
              <mc:AlternateContent xmlns:mc="http://schemas.openxmlformats.org/markup-compatibility/2006">
                <mc:Choice xmlns:v="urn:schemas-microsoft-com:vml" Requires="v">
                  <p:oleObj spid="_x0000_s1204" r:id="rId12" imgW="500380" imgH="517525" progId="Visio.Drawing.11">
                    <p:embed/>
                  </p:oleObj>
                </mc:Choice>
                <mc:Fallback>
                  <p:oleObj r:id="rId12" imgW="500380" imgH="517525" progId="Visio.Drawing.11">
                    <p:embed/>
                    <p:pic>
                      <p:nvPicPr>
                        <p:cNvPr id="0" name="对象 15465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36725" y="5087938"/>
                          <a:ext cx="54292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4658" name="文本框 154657"/>
            <p:cNvSpPr txBox="1">
              <a:spLocks noChangeArrowheads="1"/>
            </p:cNvSpPr>
            <p:nvPr/>
          </p:nvSpPr>
          <p:spPr bwMode="auto">
            <a:xfrm>
              <a:off x="822325" y="4700588"/>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t>2kg </a:t>
              </a:r>
              <a:r>
                <a:rPr lang="zh-CN" altLang="en-US" sz="2400" dirty="0"/>
                <a:t>铅块</a:t>
              </a:r>
            </a:p>
          </p:txBody>
        </p:sp>
        <p:sp>
          <p:nvSpPr>
            <p:cNvPr id="154659" name="矩形 154658"/>
            <p:cNvSpPr>
              <a:spLocks noChangeArrowheads="1"/>
            </p:cNvSpPr>
            <p:nvPr/>
          </p:nvSpPr>
          <p:spPr bwMode="auto">
            <a:xfrm>
              <a:off x="593725" y="5081588"/>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000CC"/>
                  </a:solidFill>
                </a:rPr>
                <a:t>19.36℃</a:t>
              </a:r>
            </a:p>
          </p:txBody>
        </p:sp>
      </p:grpSp>
      <p:sp>
        <p:nvSpPr>
          <p:cNvPr id="154660" name="文本框 154659"/>
          <p:cNvSpPr txBox="1">
            <a:spLocks noChangeArrowheads="1"/>
          </p:cNvSpPr>
          <p:nvPr/>
        </p:nvSpPr>
        <p:spPr bwMode="auto">
          <a:xfrm>
            <a:off x="509588" y="6165850"/>
            <a:ext cx="807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ea typeface="黑体" panose="02010609060101010101" pitchFamily="49" charset="-122"/>
              </a:rPr>
              <a:t> 这说明热力学第一定律在判断过程能否实现时“</a:t>
            </a:r>
            <a:r>
              <a:rPr lang="zh-CN" altLang="en-US" sz="2400" b="1" dirty="0">
                <a:solidFill>
                  <a:srgbClr val="FF0000"/>
                </a:solidFill>
                <a:ea typeface="黑体" panose="02010609060101010101" pitchFamily="49" charset="-122"/>
              </a:rPr>
              <a:t>失效</a:t>
            </a:r>
            <a:r>
              <a:rPr lang="zh-CN" altLang="en-US" sz="2400" b="1" dirty="0">
                <a:ea typeface="黑体" panose="02010609060101010101" pitchFamily="49" charset="-122"/>
              </a:rPr>
              <a:t>”了</a:t>
            </a:r>
            <a:r>
              <a:rPr lang="en-US" altLang="zh-CN" sz="2400" b="1" dirty="0">
                <a:ea typeface="黑体" panose="02010609060101010101" pitchFamily="49" charset="-122"/>
              </a:rPr>
              <a:t>!</a:t>
            </a:r>
            <a:endParaRPr lang="en-US" altLang="zh-CN" sz="2400" b="1" dirty="0">
              <a:solidFill>
                <a:srgbClr val="FF0000"/>
              </a:solidFill>
              <a:ea typeface="黑体" panose="02010609060101010101" pitchFamily="49" charset="-122"/>
            </a:endParaRPr>
          </a:p>
        </p:txBody>
      </p:sp>
      <p:sp>
        <p:nvSpPr>
          <p:cNvPr id="154661" name="文本框 154660"/>
          <p:cNvSpPr txBox="1">
            <a:spLocks noChangeArrowheads="1"/>
          </p:cNvSpPr>
          <p:nvPr/>
        </p:nvSpPr>
        <p:spPr bwMode="auto">
          <a:xfrm>
            <a:off x="2616073" y="3484563"/>
            <a:ext cx="1447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rgbClr val="FF0000"/>
                </a:solidFill>
                <a:ea typeface="黑体" panose="02010609060101010101" pitchFamily="49" charset="-122"/>
              </a:rPr>
              <a:t>经验告诉我们过程不能自然发生</a:t>
            </a:r>
          </a:p>
        </p:txBody>
      </p:sp>
      <p:grpSp>
        <p:nvGrpSpPr>
          <p:cNvPr id="9" name="组合 8"/>
          <p:cNvGrpSpPr/>
          <p:nvPr/>
        </p:nvGrpSpPr>
        <p:grpSpPr>
          <a:xfrm>
            <a:off x="890588" y="1676400"/>
            <a:ext cx="1552450" cy="888180"/>
            <a:chOff x="890588" y="1676400"/>
            <a:chExt cx="1552450" cy="888180"/>
          </a:xfrm>
        </p:grpSpPr>
        <p:sp>
          <p:nvSpPr>
            <p:cNvPr id="154629" name="文本框 154628"/>
            <p:cNvSpPr txBox="1">
              <a:spLocks noChangeArrowheads="1"/>
            </p:cNvSpPr>
            <p:nvPr/>
          </p:nvSpPr>
          <p:spPr bwMode="auto">
            <a:xfrm>
              <a:off x="890588" y="1676400"/>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t>2kg </a:t>
              </a:r>
              <a:r>
                <a:rPr lang="zh-CN" altLang="en-US" sz="2400" dirty="0"/>
                <a:t>铅块 </a:t>
              </a:r>
              <a:r>
                <a:rPr lang="en-US" altLang="zh-CN" sz="2400" b="1" dirty="0">
                  <a:solidFill>
                    <a:srgbClr val="0000CC"/>
                  </a:solidFill>
                </a:rPr>
                <a:t>300℃</a:t>
              </a:r>
            </a:p>
          </p:txBody>
        </p:sp>
        <p:pic>
          <p:nvPicPr>
            <p:cNvPr id="8" name="图片 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900447" y="2009796"/>
              <a:ext cx="542591" cy="554784"/>
            </a:xfrm>
            <a:prstGeom prst="rect">
              <a:avLst/>
            </a:prstGeom>
          </p:spPr>
        </p:pic>
      </p:grpSp>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54630"/>
                                        </p:tgtEl>
                                        <p:attrNameLst>
                                          <p:attrName>style.visibility</p:attrName>
                                        </p:attrNameLst>
                                      </p:cBhvr>
                                      <p:to>
                                        <p:strVal val="visible"/>
                                      </p:to>
                                    </p:set>
                                    <p:animEffect transition="in" filter="wipe(left)">
                                      <p:cBhvr>
                                        <p:cTn id="14" dur="500"/>
                                        <p:tgtEl>
                                          <p:spTgt spid="15463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46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46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46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46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464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1000"/>
                                        <p:tgtEl>
                                          <p:spTgt spid="14"/>
                                        </p:tgtEl>
                                      </p:cBhvr>
                                    </p:animEffect>
                                    <p:anim calcmode="lin" valueType="num">
                                      <p:cBhvr>
                                        <p:cTn id="52" dur="1000" fill="hold"/>
                                        <p:tgtEl>
                                          <p:spTgt spid="14"/>
                                        </p:tgtEl>
                                        <p:attrNameLst>
                                          <p:attrName>ppt_x</p:attrName>
                                        </p:attrNameLst>
                                      </p:cBhvr>
                                      <p:tavLst>
                                        <p:tav tm="0">
                                          <p:val>
                                            <p:strVal val="#ppt_x"/>
                                          </p:val>
                                        </p:tav>
                                        <p:tav tm="100000">
                                          <p:val>
                                            <p:strVal val="#ppt_x"/>
                                          </p:val>
                                        </p:tav>
                                      </p:tavLst>
                                    </p:anim>
                                    <p:anim calcmode="lin" valueType="num">
                                      <p:cBhvr>
                                        <p:cTn id="5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wipe(left)">
                                      <p:cBhvr>
                                        <p:cTn id="58" dur="500"/>
                                        <p:tgtEl>
                                          <p:spTgt spid="16"/>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464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5465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465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5465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grpId="0" nodeType="clickEffect">
                                  <p:stCondLst>
                                    <p:cond delay="0"/>
                                  </p:stCondLst>
                                  <p:childTnLst>
                                    <p:set>
                                      <p:cBhvr>
                                        <p:cTn id="82" dur="1" fill="hold">
                                          <p:stCondLst>
                                            <p:cond delay="0"/>
                                          </p:stCondLst>
                                        </p:cTn>
                                        <p:tgtEl>
                                          <p:spTgt spid="154661"/>
                                        </p:tgtEl>
                                        <p:attrNameLst>
                                          <p:attrName>style.visibility</p:attrName>
                                        </p:attrNameLst>
                                      </p:cBhvr>
                                      <p:to>
                                        <p:strVal val="visible"/>
                                      </p:to>
                                    </p:set>
                                    <p:animEffect transition="in" filter="barn(inVertical)">
                                      <p:cBhvr>
                                        <p:cTn id="83" dur="500"/>
                                        <p:tgtEl>
                                          <p:spTgt spid="154661"/>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154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30" grpId="0" animBg="1"/>
      <p:bldP spid="154640" grpId="0"/>
      <p:bldP spid="154641" grpId="0"/>
      <p:bldP spid="154644" grpId="0"/>
      <p:bldP spid="154645" grpId="0"/>
      <p:bldP spid="154646" grpId="0"/>
      <p:bldP spid="154649" grpId="0"/>
      <p:bldP spid="154650" grpId="0"/>
      <p:bldP spid="154651" grpId="0"/>
      <p:bldP spid="154652" grpId="0"/>
      <p:bldP spid="154660" grpId="0"/>
      <p:bldP spid="15466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2646" y="645887"/>
            <a:ext cx="2310584" cy="2310584"/>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428" y="645887"/>
            <a:ext cx="2280102" cy="2280102"/>
          </a:xfrm>
          <a:prstGeom prst="rect">
            <a:avLst/>
          </a:prstGeom>
        </p:spPr>
      </p:pic>
      <p:sp>
        <p:nvSpPr>
          <p:cNvPr id="17409" name="矩形 55307"/>
          <p:cNvSpPr>
            <a:spLocks noChangeArrowheads="1"/>
          </p:cNvSpPr>
          <p:nvPr/>
        </p:nvSpPr>
        <p:spPr bwMode="auto">
          <a:xfrm>
            <a:off x="468313" y="3429000"/>
            <a:ext cx="8170862"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ea typeface="黑体" panose="02010609060101010101" pitchFamily="49" charset="-122"/>
              </a:rPr>
              <a:t>从热力学第一定律中找不到判断此过程不能实现的依据！</a:t>
            </a:r>
            <a:r>
              <a:rPr lang="zh-CN" altLang="en-US" sz="2400" b="1" dirty="0">
                <a:ea typeface="楷体_GB2312" pitchFamily="49" charset="-122"/>
              </a:rPr>
              <a:t> </a:t>
            </a:r>
          </a:p>
        </p:txBody>
      </p:sp>
      <p:sp>
        <p:nvSpPr>
          <p:cNvPr id="55309" name="矩形 55308"/>
          <p:cNvSpPr>
            <a:spLocks noChangeArrowheads="1"/>
          </p:cNvSpPr>
          <p:nvPr/>
        </p:nvSpPr>
        <p:spPr bwMode="auto">
          <a:xfrm>
            <a:off x="755650" y="4868863"/>
            <a:ext cx="77755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a:solidFill>
                  <a:srgbClr val="FF0000"/>
                </a:solidFill>
                <a:latin typeface="黑体" panose="02010609060101010101" pitchFamily="49" charset="-122"/>
                <a:ea typeface="黑体" panose="02010609060101010101" pitchFamily="49" charset="-122"/>
              </a:rPr>
              <a:t>需要另外的定律来确定过程进行的方向性</a:t>
            </a:r>
            <a:r>
              <a:rPr lang="zh-CN" altLang="en-US" sz="3200" b="1">
                <a:latin typeface="黑体" panose="02010609060101010101" pitchFamily="49" charset="-122"/>
                <a:ea typeface="黑体" panose="02010609060101010101" pitchFamily="49" charset="-122"/>
              </a:rPr>
              <a:t> </a:t>
            </a:r>
          </a:p>
        </p:txBody>
      </p:sp>
      <p:sp>
        <p:nvSpPr>
          <p:cNvPr id="55310" name="矩形 55309"/>
          <p:cNvSpPr>
            <a:spLocks noChangeArrowheads="1"/>
          </p:cNvSpPr>
          <p:nvPr/>
        </p:nvSpPr>
        <p:spPr bwMode="auto">
          <a:xfrm>
            <a:off x="2484438" y="5805488"/>
            <a:ext cx="54721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a:latin typeface="黑体" panose="02010609060101010101" pitchFamily="49" charset="-122"/>
                <a:ea typeface="黑体" panose="02010609060101010101" pitchFamily="49" charset="-122"/>
              </a:rPr>
              <a:t>热力学第二定律！</a:t>
            </a:r>
          </a:p>
        </p:txBody>
      </p:sp>
      <p:sp>
        <p:nvSpPr>
          <p:cNvPr id="17413" name="文本框 55313"/>
          <p:cNvSpPr txBox="1">
            <a:spLocks noChangeArrowheads="1"/>
          </p:cNvSpPr>
          <p:nvPr/>
        </p:nvSpPr>
        <p:spPr bwMode="auto">
          <a:xfrm>
            <a:off x="4191000" y="849313"/>
            <a:ext cx="1752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t>4kg </a:t>
            </a:r>
            <a:r>
              <a:rPr lang="zh-CN" altLang="en-US" sz="2400"/>
              <a:t>水 </a:t>
            </a:r>
            <a:r>
              <a:rPr lang="en-US" altLang="zh-CN" sz="2400" b="1">
                <a:solidFill>
                  <a:srgbClr val="0000CC"/>
                </a:solidFill>
              </a:rPr>
              <a:t>15℃</a:t>
            </a:r>
          </a:p>
        </p:txBody>
      </p:sp>
      <p:sp>
        <p:nvSpPr>
          <p:cNvPr id="17415" name="文本框 55315"/>
          <p:cNvSpPr txBox="1">
            <a:spLocks noChangeArrowheads="1"/>
          </p:cNvSpPr>
          <p:nvPr/>
        </p:nvSpPr>
        <p:spPr bwMode="auto">
          <a:xfrm>
            <a:off x="4572000" y="1763713"/>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t>2kg </a:t>
            </a:r>
            <a:r>
              <a:rPr lang="zh-CN" altLang="en-US" sz="2400" dirty="0"/>
              <a:t>铅块 </a:t>
            </a:r>
            <a:r>
              <a:rPr lang="en-US" altLang="zh-CN" sz="2400" b="1" dirty="0">
                <a:solidFill>
                  <a:srgbClr val="0000CC"/>
                </a:solidFill>
              </a:rPr>
              <a:t>300℃</a:t>
            </a:r>
          </a:p>
        </p:txBody>
      </p:sp>
      <p:sp>
        <p:nvSpPr>
          <p:cNvPr id="17416" name="任意多边形 55316"/>
          <p:cNvSpPr>
            <a:spLocks noChangeArrowheads="1"/>
          </p:cNvSpPr>
          <p:nvPr/>
        </p:nvSpPr>
        <p:spPr bwMode="auto">
          <a:xfrm>
            <a:off x="2667000" y="1535113"/>
            <a:ext cx="1219200" cy="4572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576869"/>
              </a:gs>
              <a:gs pos="100000">
                <a:schemeClr val="accent1"/>
              </a:gs>
            </a:gsLst>
            <a:lin ang="0" scaled="1"/>
          </a:gradFill>
          <a:ln w="9525">
            <a:solidFill>
              <a:schemeClr val="tx1"/>
            </a:solidFill>
            <a:miter lim="800000"/>
          </a:ln>
        </p:spPr>
        <p:txBody>
          <a:bodyPr/>
          <a:lstStyle/>
          <a:p>
            <a:endParaRPr lang="zh-CN" altLang="en-US"/>
          </a:p>
        </p:txBody>
      </p:sp>
      <p:sp>
        <p:nvSpPr>
          <p:cNvPr id="17417" name="文本框 55318"/>
          <p:cNvSpPr txBox="1">
            <a:spLocks noChangeArrowheads="1"/>
          </p:cNvSpPr>
          <p:nvPr/>
        </p:nvSpPr>
        <p:spPr bwMode="auto">
          <a:xfrm>
            <a:off x="6477000" y="696913"/>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ea typeface="黑体" panose="02010609060101010101" pitchFamily="49" charset="-122"/>
              </a:rPr>
              <a:t>能量收支情况</a:t>
            </a:r>
          </a:p>
        </p:txBody>
      </p:sp>
      <p:sp>
        <p:nvSpPr>
          <p:cNvPr id="17418" name="文本框 55319"/>
          <p:cNvSpPr txBox="1">
            <a:spLocks noChangeArrowheads="1"/>
          </p:cNvSpPr>
          <p:nvPr/>
        </p:nvSpPr>
        <p:spPr bwMode="auto">
          <a:xfrm>
            <a:off x="6324600" y="1230313"/>
            <a:ext cx="2514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a:ea typeface="黑体" panose="02010609060101010101" pitchFamily="49" charset="-122"/>
              </a:rPr>
              <a:t>水放出热量 </a:t>
            </a:r>
            <a:r>
              <a:rPr lang="en-US" altLang="zh-CN" sz="2200" b="1">
                <a:solidFill>
                  <a:srgbClr val="FF0000"/>
                </a:solidFill>
                <a:ea typeface="黑体" panose="02010609060101010101" pitchFamily="49" charset="-122"/>
              </a:rPr>
              <a:t>73kJ</a:t>
            </a:r>
          </a:p>
        </p:txBody>
      </p:sp>
      <p:sp>
        <p:nvSpPr>
          <p:cNvPr id="17419" name="文本框 55320"/>
          <p:cNvSpPr txBox="1">
            <a:spLocks noChangeArrowheads="1"/>
          </p:cNvSpPr>
          <p:nvPr/>
        </p:nvSpPr>
        <p:spPr bwMode="auto">
          <a:xfrm>
            <a:off x="6324600" y="1717675"/>
            <a:ext cx="2514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a:ea typeface="黑体" panose="02010609060101010101" pitchFamily="49" charset="-122"/>
              </a:rPr>
              <a:t>铅得到热量 </a:t>
            </a:r>
            <a:r>
              <a:rPr lang="en-US" altLang="zh-CN" sz="2200" b="1">
                <a:solidFill>
                  <a:srgbClr val="FF0000"/>
                </a:solidFill>
                <a:ea typeface="黑体" panose="02010609060101010101" pitchFamily="49" charset="-122"/>
              </a:rPr>
              <a:t>73kJ</a:t>
            </a:r>
          </a:p>
        </p:txBody>
      </p:sp>
      <p:sp>
        <p:nvSpPr>
          <p:cNvPr id="17420" name="文本框 55321"/>
          <p:cNvSpPr txBox="1">
            <a:spLocks noChangeArrowheads="1"/>
          </p:cNvSpPr>
          <p:nvPr/>
        </p:nvSpPr>
        <p:spPr bwMode="auto">
          <a:xfrm>
            <a:off x="6248400" y="2297113"/>
            <a:ext cx="2895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a:ea typeface="黑体" panose="02010609060101010101" pitchFamily="49" charset="-122"/>
              </a:rPr>
              <a:t>也满足能量守恒定律</a:t>
            </a:r>
            <a:endParaRPr lang="zh-CN" altLang="en-US" sz="2200" b="1">
              <a:solidFill>
                <a:srgbClr val="FF0000"/>
              </a:solidFill>
              <a:ea typeface="黑体" panose="02010609060101010101" pitchFamily="49" charset="-122"/>
            </a:endParaRPr>
          </a:p>
        </p:txBody>
      </p:sp>
      <p:sp>
        <p:nvSpPr>
          <p:cNvPr id="17423" name="矩形 55324"/>
          <p:cNvSpPr>
            <a:spLocks noChangeArrowheads="1"/>
          </p:cNvSpPr>
          <p:nvPr/>
        </p:nvSpPr>
        <p:spPr bwMode="auto">
          <a:xfrm>
            <a:off x="517525" y="11303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000CC"/>
                </a:solidFill>
              </a:rPr>
              <a:t>19.36℃</a:t>
            </a:r>
          </a:p>
        </p:txBody>
      </p:sp>
      <p:sp>
        <p:nvSpPr>
          <p:cNvPr id="17424" name="文本框 55325"/>
          <p:cNvSpPr txBox="1">
            <a:spLocks noChangeArrowheads="1"/>
          </p:cNvSpPr>
          <p:nvPr/>
        </p:nvSpPr>
        <p:spPr bwMode="auto">
          <a:xfrm>
            <a:off x="517525" y="8255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t>4kg </a:t>
            </a:r>
            <a:r>
              <a:rPr lang="zh-CN" altLang="en-US" sz="2400"/>
              <a:t>水</a:t>
            </a:r>
          </a:p>
        </p:txBody>
      </p:sp>
      <p:sp>
        <p:nvSpPr>
          <p:cNvPr id="17425" name="文本框 55326"/>
          <p:cNvSpPr txBox="1">
            <a:spLocks noChangeArrowheads="1"/>
          </p:cNvSpPr>
          <p:nvPr/>
        </p:nvSpPr>
        <p:spPr bwMode="auto">
          <a:xfrm>
            <a:off x="822325" y="16637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t>2kg </a:t>
            </a:r>
            <a:r>
              <a:rPr lang="zh-CN" altLang="en-US" sz="2400"/>
              <a:t>铅块</a:t>
            </a:r>
          </a:p>
        </p:txBody>
      </p:sp>
      <p:sp>
        <p:nvSpPr>
          <p:cNvPr id="17426" name="矩形 55327"/>
          <p:cNvSpPr>
            <a:spLocks noChangeArrowheads="1"/>
          </p:cNvSpPr>
          <p:nvPr/>
        </p:nvSpPr>
        <p:spPr bwMode="auto">
          <a:xfrm>
            <a:off x="593725" y="20447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000CC"/>
                </a:solidFill>
              </a:rPr>
              <a:t>19.36℃</a:t>
            </a:r>
          </a:p>
        </p:txBody>
      </p:sp>
      <p:sp>
        <p:nvSpPr>
          <p:cNvPr id="17427" name="文本框 55328"/>
          <p:cNvSpPr txBox="1">
            <a:spLocks noChangeArrowheads="1"/>
          </p:cNvSpPr>
          <p:nvPr/>
        </p:nvSpPr>
        <p:spPr bwMode="auto">
          <a:xfrm>
            <a:off x="2555875" y="590550"/>
            <a:ext cx="1447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FF0000"/>
                </a:solidFill>
                <a:ea typeface="黑体" panose="02010609060101010101" pitchFamily="49" charset="-122"/>
              </a:rPr>
              <a:t>过程不能自然发生</a:t>
            </a:r>
          </a:p>
        </p:txBody>
      </p:sp>
      <p:sp>
        <p:nvSpPr>
          <p:cNvPr id="17428" name="上弧形箭头 55329"/>
          <p:cNvSpPr>
            <a:spLocks noChangeArrowheads="1"/>
          </p:cNvSpPr>
          <p:nvPr/>
        </p:nvSpPr>
        <p:spPr bwMode="auto">
          <a:xfrm>
            <a:off x="2987675" y="1916113"/>
            <a:ext cx="649288" cy="1223962"/>
          </a:xfrm>
          <a:prstGeom prst="curvedDownArrow">
            <a:avLst>
              <a:gd name="adj1" fmla="val 20000"/>
              <a:gd name="adj2" fmla="val 40000"/>
              <a:gd name="adj3" fmla="val 62819"/>
            </a:avLst>
          </a:prstGeom>
          <a:solidFill>
            <a:schemeClr val="accent1"/>
          </a:solidFill>
          <a:ln w="9525">
            <a:solidFill>
              <a:schemeClr val="tx1"/>
            </a:solidFill>
            <a:miter lim="800000"/>
          </a:ln>
        </p:spPr>
        <p:txBody>
          <a:bodyPr/>
          <a:lstStyle/>
          <a:p>
            <a:endParaRPr lang="zh-CN" altLang="en-US"/>
          </a:p>
        </p:txBody>
      </p:sp>
      <p:pic>
        <p:nvPicPr>
          <p:cNvPr id="5" name="图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5137" y="2120900"/>
            <a:ext cx="542591" cy="560881"/>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309"/>
                                        </p:tgtEl>
                                        <p:attrNameLst>
                                          <p:attrName>style.visibility</p:attrName>
                                        </p:attrNameLst>
                                      </p:cBhvr>
                                      <p:to>
                                        <p:strVal val="visible"/>
                                      </p:to>
                                    </p:set>
                                    <p:animEffect transition="in" filter="blinds(horizontal)">
                                      <p:cBhvr>
                                        <p:cTn id="7" dur="500"/>
                                        <p:tgtEl>
                                          <p:spTgt spid="5530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310"/>
                                        </p:tgtEl>
                                        <p:attrNameLst>
                                          <p:attrName>style.visibility</p:attrName>
                                        </p:attrNameLst>
                                      </p:cBhvr>
                                      <p:to>
                                        <p:strVal val="visible"/>
                                      </p:to>
                                    </p:set>
                                    <p:animEffect transition="in" filter="blinds(horizontal)">
                                      <p:cBhvr>
                                        <p:cTn id="12" dur="500"/>
                                        <p:tgtEl>
                                          <p:spTgt spid="55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9" grpId="0"/>
      <p:bldP spid="553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矩形 56323"/>
          <p:cNvSpPr>
            <a:spLocks noChangeArrowheads="1"/>
          </p:cNvSpPr>
          <p:nvPr/>
        </p:nvSpPr>
        <p:spPr bwMode="auto">
          <a:xfrm>
            <a:off x="395288" y="1125538"/>
            <a:ext cx="8280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600" b="1" dirty="0">
                <a:ea typeface="黑体" panose="02010609060101010101" pitchFamily="49" charset="-122"/>
              </a:rPr>
              <a:t>一个热力过程，只有</a:t>
            </a:r>
            <a:r>
              <a:rPr lang="zh-CN" altLang="en-US" sz="3600" b="1" dirty="0">
                <a:solidFill>
                  <a:srgbClr val="FF0000"/>
                </a:solidFill>
                <a:ea typeface="黑体" panose="02010609060101010101" pitchFamily="49" charset="-122"/>
              </a:rPr>
              <a:t>同时满足热力学第一和第二定律</a:t>
            </a:r>
            <a:r>
              <a:rPr lang="zh-CN" altLang="en-US" sz="3600" b="1" dirty="0">
                <a:ea typeface="黑体" panose="02010609060101010101" pitchFamily="49" charset="-122"/>
              </a:rPr>
              <a:t>才能够真实地</a:t>
            </a:r>
            <a:r>
              <a:rPr lang="zh-CN" altLang="en-US" sz="3600" b="1" dirty="0" smtClean="0">
                <a:ea typeface="黑体" panose="02010609060101010101" pitchFamily="49" charset="-122"/>
              </a:rPr>
              <a:t>发生。</a:t>
            </a:r>
            <a:endParaRPr lang="zh-CN" altLang="en-US" sz="3600" b="1" dirty="0">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矩形 57347"/>
          <p:cNvSpPr>
            <a:spLocks noChangeArrowheads="1"/>
          </p:cNvSpPr>
          <p:nvPr/>
        </p:nvSpPr>
        <p:spPr bwMode="auto">
          <a:xfrm>
            <a:off x="755650" y="2060575"/>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3600" b="1">
                <a:latin typeface="黑体" panose="02010609060101010101" pitchFamily="49" charset="-122"/>
                <a:ea typeface="黑体" panose="02010609060101010101" pitchFamily="49" charset="-122"/>
              </a:rPr>
              <a:t>5</a:t>
            </a:r>
            <a:r>
              <a:rPr lang="zh-CN" altLang="en-US" sz="3600" b="1">
                <a:latin typeface="黑体" panose="02010609060101010101" pitchFamily="49" charset="-122"/>
                <a:ea typeface="黑体" panose="02010609060101010101" pitchFamily="49" charset="-122"/>
              </a:rPr>
              <a:t>－</a:t>
            </a:r>
            <a:r>
              <a:rPr lang="en-US" altLang="zh-CN" sz="3600" b="1">
                <a:latin typeface="黑体" panose="02010609060101010101" pitchFamily="49" charset="-122"/>
                <a:ea typeface="黑体" panose="02010609060101010101" pitchFamily="49" charset="-122"/>
              </a:rPr>
              <a:t>2</a:t>
            </a:r>
            <a:r>
              <a:rPr lang="zh-CN" altLang="en-US" sz="3600" b="1">
                <a:latin typeface="黑体" panose="02010609060101010101" pitchFamily="49" charset="-122"/>
                <a:ea typeface="黑体" panose="02010609060101010101" pitchFamily="49" charset="-122"/>
              </a:rPr>
              <a:t>　热机、制冷机和热泵</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矩形 140289"/>
          <p:cNvSpPr>
            <a:spLocks noChangeArrowheads="1"/>
          </p:cNvSpPr>
          <p:nvPr/>
        </p:nvSpPr>
        <p:spPr bwMode="auto">
          <a:xfrm>
            <a:off x="395288" y="978406"/>
            <a:ext cx="87487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latin typeface="黑体" panose="02010609060101010101" pitchFamily="49" charset="-122"/>
                <a:ea typeface="黑体" panose="02010609060101010101" pitchFamily="49" charset="-122"/>
              </a:rPr>
              <a:t>将</a:t>
            </a:r>
            <a:r>
              <a:rPr lang="zh-CN" altLang="en-US" sz="3200" b="1" dirty="0" smtClean="0">
                <a:latin typeface="黑体" panose="02010609060101010101" pitchFamily="49" charset="-122"/>
                <a:ea typeface="黑体" panose="02010609060101010101" pitchFamily="49" charset="-122"/>
              </a:rPr>
              <a:t>热量转换</a:t>
            </a:r>
            <a:r>
              <a:rPr lang="zh-CN" altLang="en-US" sz="3200" b="1" dirty="0">
                <a:latin typeface="黑体" panose="02010609060101010101" pitchFamily="49" charset="-122"/>
                <a:ea typeface="黑体" panose="02010609060101010101" pitchFamily="49" charset="-122"/>
              </a:rPr>
              <a:t>为功的装置称为热机（</a:t>
            </a:r>
            <a:r>
              <a:rPr lang="en-US" altLang="zh-CN" sz="3200" b="1" dirty="0">
                <a:latin typeface="Times New Roman" panose="02020603050405020304" pitchFamily="18" charset="0"/>
                <a:ea typeface="黑体" panose="02010609060101010101" pitchFamily="49" charset="-122"/>
              </a:rPr>
              <a:t>heat engine</a:t>
            </a:r>
            <a:r>
              <a:rPr lang="zh-CN" altLang="en-US" sz="3200" b="1" dirty="0">
                <a:latin typeface="黑体" panose="02010609060101010101" pitchFamily="49" charset="-122"/>
                <a:ea typeface="黑体" panose="02010609060101010101" pitchFamily="49" charset="-122"/>
              </a:rPr>
              <a:t>）</a:t>
            </a:r>
          </a:p>
        </p:txBody>
      </p:sp>
      <p:sp>
        <p:nvSpPr>
          <p:cNvPr id="20482" name="矩形 140290"/>
          <p:cNvSpPr>
            <a:spLocks noChangeArrowheads="1"/>
          </p:cNvSpPr>
          <p:nvPr/>
        </p:nvSpPr>
        <p:spPr bwMode="auto">
          <a:xfrm>
            <a:off x="395288" y="3284538"/>
            <a:ext cx="9001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a:solidFill>
                  <a:srgbClr val="0000FF"/>
                </a:solidFill>
                <a:latin typeface="黑体" panose="02010609060101010101" pitchFamily="49" charset="-122"/>
                <a:ea typeface="黑体" panose="02010609060101010101" pitchFamily="49" charset="-122"/>
              </a:rPr>
              <a:t>热机种类不同，工质也各种各样，但具有相同特征：</a:t>
            </a:r>
          </a:p>
        </p:txBody>
      </p:sp>
      <p:sp>
        <p:nvSpPr>
          <p:cNvPr id="20483" name="矩形 140291"/>
          <p:cNvSpPr>
            <a:spLocks noChangeArrowheads="1"/>
          </p:cNvSpPr>
          <p:nvPr/>
        </p:nvSpPr>
        <p:spPr bwMode="auto">
          <a:xfrm>
            <a:off x="611188" y="188913"/>
            <a:ext cx="6985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a:latin typeface="黑体" panose="02010609060101010101" pitchFamily="49" charset="-122"/>
                <a:ea typeface="黑体" panose="02010609060101010101" pitchFamily="49" charset="-122"/>
              </a:rPr>
              <a:t>一、定义</a:t>
            </a:r>
          </a:p>
        </p:txBody>
      </p:sp>
      <p:sp>
        <p:nvSpPr>
          <p:cNvPr id="20484" name="矩形 140292"/>
          <p:cNvSpPr>
            <a:spLocks noChangeArrowheads="1"/>
          </p:cNvSpPr>
          <p:nvPr/>
        </p:nvSpPr>
        <p:spPr bwMode="auto">
          <a:xfrm>
            <a:off x="395288" y="1844675"/>
            <a:ext cx="8424862"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latin typeface="Times New Roman" panose="02020603050405020304" pitchFamily="18" charset="0"/>
                <a:ea typeface="黑体" panose="02010609060101010101" pitchFamily="49" charset="-122"/>
              </a:rPr>
              <a:t>在热机中实现转换过程的工作流体称为工质（</a:t>
            </a:r>
            <a:r>
              <a:rPr lang="en-US" altLang="zh-CN" sz="3200" b="1">
                <a:latin typeface="Times New Roman" panose="02020603050405020304" pitchFamily="18" charset="0"/>
                <a:ea typeface="黑体" panose="02010609060101010101" pitchFamily="49" charset="-122"/>
              </a:rPr>
              <a:t>working fluid</a:t>
            </a:r>
            <a:r>
              <a:rPr lang="zh-CN" altLang="en-US" sz="3200" b="1">
                <a:latin typeface="Times New Roman" panose="02020603050405020304" pitchFamily="18" charset="0"/>
                <a:ea typeface="黑体" panose="02010609060101010101" pitchFamily="49" charset="-122"/>
              </a:rPr>
              <a:t>）</a:t>
            </a:r>
          </a:p>
        </p:txBody>
      </p:sp>
      <p:sp>
        <p:nvSpPr>
          <p:cNvPr id="20485" name="矩形 140293"/>
          <p:cNvSpPr>
            <a:spLocks noChangeArrowheads="1"/>
          </p:cNvSpPr>
          <p:nvPr/>
        </p:nvSpPr>
        <p:spPr bwMode="auto">
          <a:xfrm>
            <a:off x="539750" y="4076700"/>
            <a:ext cx="8208963"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工质在热机中循环运行，在每个循环中，工质从热源</a:t>
            </a:r>
            <a:r>
              <a:rPr lang="zh-CN" altLang="en-US" sz="2400" b="1" dirty="0">
                <a:latin typeface="黑体" panose="02010609060101010101" pitchFamily="49" charset="-122"/>
                <a:ea typeface="黑体" panose="02010609060101010101" pitchFamily="49" charset="-122"/>
              </a:rPr>
              <a:t>（</a:t>
            </a:r>
            <a:r>
              <a:rPr lang="zh-CN" altLang="en-US" sz="2400" b="1" dirty="0">
                <a:solidFill>
                  <a:srgbClr val="FF00FF"/>
                </a:solidFill>
                <a:latin typeface="黑体" panose="02010609060101010101" pitchFamily="49" charset="-122"/>
                <a:ea typeface="黑体" panose="02010609060101010101" pitchFamily="49" charset="-122"/>
              </a:rPr>
              <a:t>如太阳能、锅炉、燃烧室、核反应堆等</a:t>
            </a:r>
            <a:r>
              <a:rPr lang="zh-CN" altLang="en-US" sz="24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吸收热量，将其中一部分</a:t>
            </a:r>
            <a:r>
              <a:rPr lang="zh-CN" altLang="en-US" sz="2800" b="1" dirty="0" smtClean="0">
                <a:latin typeface="黑体" panose="02010609060101010101" pitchFamily="49" charset="-122"/>
                <a:ea typeface="黑体" panose="02010609060101010101" pitchFamily="49" charset="-122"/>
              </a:rPr>
              <a:t>转换为</a:t>
            </a:r>
            <a:r>
              <a:rPr lang="zh-CN" altLang="en-US" sz="2800" b="1" dirty="0">
                <a:latin typeface="黑体" panose="02010609060101010101" pitchFamily="49" charset="-122"/>
                <a:ea typeface="黑体" panose="02010609060101010101" pitchFamily="49" charset="-122"/>
              </a:rPr>
              <a:t>功（一般以轴功或膨胀功的形式输出），剩余的热量排放给冷源</a:t>
            </a:r>
            <a:r>
              <a:rPr lang="zh-CN" altLang="en-US" sz="2400" b="1" dirty="0">
                <a:latin typeface="黑体" panose="02010609060101010101" pitchFamily="49" charset="-122"/>
                <a:ea typeface="黑体" panose="02010609060101010101" pitchFamily="49" charset="-122"/>
              </a:rPr>
              <a:t>（</a:t>
            </a:r>
            <a:r>
              <a:rPr lang="zh-CN" altLang="en-US" sz="2400" b="1" dirty="0">
                <a:solidFill>
                  <a:srgbClr val="FF00FF"/>
                </a:solidFill>
                <a:latin typeface="黑体" panose="02010609060101010101" pitchFamily="49" charset="-122"/>
                <a:ea typeface="黑体" panose="02010609060101010101" pitchFamily="49" charset="-122"/>
              </a:rPr>
              <a:t>如环境大气、河流等</a:t>
            </a:r>
            <a:r>
              <a:rPr lang="zh-CN" altLang="en-US" sz="2400" b="1" dirty="0">
                <a:latin typeface="黑体" panose="02010609060101010101" pitchFamily="49" charset="-122"/>
                <a:ea typeface="黑体" panose="02010609060101010101"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59396"/>
          <p:cNvSpPr>
            <a:spLocks noChangeArrowheads="1"/>
          </p:cNvSpPr>
          <p:nvPr/>
        </p:nvSpPr>
        <p:spPr bwMode="auto">
          <a:xfrm>
            <a:off x="0" y="2019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07" name="矩形 59397"/>
          <p:cNvSpPr>
            <a:spLocks noChangeArrowheads="1"/>
          </p:cNvSpPr>
          <p:nvPr/>
        </p:nvSpPr>
        <p:spPr bwMode="auto">
          <a:xfrm>
            <a:off x="179388" y="260350"/>
            <a:ext cx="14398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1"/>
              <a:t>蒸汽轮机示意图</a:t>
            </a:r>
            <a:r>
              <a:rPr lang="zh-CN" altLang="en-US"/>
              <a:t> </a:t>
            </a:r>
          </a:p>
        </p:txBody>
      </p:sp>
      <p:sp>
        <p:nvSpPr>
          <p:cNvPr id="59399" name="矩形 59398"/>
          <p:cNvSpPr>
            <a:spLocks noChangeArrowheads="1"/>
          </p:cNvSpPr>
          <p:nvPr/>
        </p:nvSpPr>
        <p:spPr bwMode="auto">
          <a:xfrm>
            <a:off x="611188" y="4076700"/>
            <a:ext cx="79216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a:ea typeface="黑体" panose="02010609060101010101" pitchFamily="49" charset="-122"/>
              </a:rPr>
              <a:t>为了表示起来方便，把锅炉、汽轮机、泵和冷凝器设备等设备全部放在一个“黑箱子”中！</a:t>
            </a:r>
          </a:p>
        </p:txBody>
      </p:sp>
      <p:sp>
        <p:nvSpPr>
          <p:cNvPr id="21509" name="矩形 59400"/>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402" name="矩形 59401"/>
          <p:cNvSpPr>
            <a:spLocks noChangeArrowheads="1"/>
          </p:cNvSpPr>
          <p:nvPr/>
        </p:nvSpPr>
        <p:spPr bwMode="auto">
          <a:xfrm>
            <a:off x="682625" y="4911725"/>
            <a:ext cx="79930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a:latin typeface="黑体" panose="02010609060101010101" pitchFamily="49" charset="-122"/>
                <a:ea typeface="黑体" panose="02010609060101010101" pitchFamily="49" charset="-122"/>
              </a:rPr>
              <a:t>只表示出工质与热源和冷源的</a:t>
            </a:r>
            <a:r>
              <a:rPr lang="zh-CN" altLang="en-US" sz="2400" b="1">
                <a:solidFill>
                  <a:srgbClr val="FF0000"/>
                </a:solidFill>
                <a:latin typeface="黑体" panose="02010609060101010101" pitchFamily="49" charset="-122"/>
                <a:ea typeface="黑体" panose="02010609060101010101" pitchFamily="49" charset="-122"/>
              </a:rPr>
              <a:t>热量交换情况</a:t>
            </a:r>
            <a:r>
              <a:rPr lang="zh-CN" altLang="en-US" sz="2400" b="1">
                <a:latin typeface="黑体" panose="02010609060101010101" pitchFamily="49" charset="-122"/>
                <a:ea typeface="黑体" panose="02010609060101010101" pitchFamily="49" charset="-122"/>
              </a:rPr>
              <a:t>，以及工质与外界</a:t>
            </a:r>
            <a:r>
              <a:rPr lang="zh-CN" altLang="en-US" sz="2400" b="1">
                <a:solidFill>
                  <a:srgbClr val="FF0000"/>
                </a:solidFill>
                <a:latin typeface="黑体" panose="02010609060101010101" pitchFamily="49" charset="-122"/>
                <a:ea typeface="黑体" panose="02010609060101010101" pitchFamily="49" charset="-122"/>
              </a:rPr>
              <a:t>交换净功的情况</a:t>
            </a:r>
            <a:r>
              <a:rPr lang="zh-CN" altLang="en-US">
                <a:solidFill>
                  <a:srgbClr val="FF0000"/>
                </a:solidFill>
                <a:latin typeface="黑体" panose="02010609060101010101" pitchFamily="49" charset="-122"/>
                <a:ea typeface="黑体" panose="02010609060101010101" pitchFamily="49" charset="-122"/>
              </a:rPr>
              <a:t> </a:t>
            </a:r>
          </a:p>
        </p:txBody>
      </p:sp>
      <p:sp>
        <p:nvSpPr>
          <p:cNvPr id="21512" name="矩形 59403"/>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14" name="矩形 5940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16" name="矩形 59407"/>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21517" name="对象 59406"/>
          <p:cNvGraphicFramePr/>
          <p:nvPr/>
        </p:nvGraphicFramePr>
        <p:xfrm>
          <a:off x="1243013" y="3500438"/>
          <a:ext cx="2120900" cy="415925"/>
        </p:xfrm>
        <a:graphic>
          <a:graphicData uri="http://schemas.openxmlformats.org/presentationml/2006/ole">
            <mc:AlternateContent xmlns:mc="http://schemas.openxmlformats.org/markup-compatibility/2006">
              <mc:Choice xmlns:v="urn:schemas-microsoft-com:vml" Requires="v">
                <p:oleObj spid="_x0000_s3186" name="Equation" r:id="rId4" imgW="28041600" imgH="5486400" progId="Equation.DSMT4">
                  <p:embed/>
                </p:oleObj>
              </mc:Choice>
              <mc:Fallback>
                <p:oleObj name="Equation" r:id="rId4" imgW="28041600" imgH="5486400" progId="Equation.DSMT4">
                  <p:embed/>
                  <p:pic>
                    <p:nvPicPr>
                      <p:cNvPr id="0" name="对象 59406"/>
                      <p:cNvPicPr>
                        <a:picLocks noChangeArrowheads="1"/>
                      </p:cNvPicPr>
                      <p:nvPr/>
                    </p:nvPicPr>
                    <p:blipFill>
                      <a:blip r:embed="rId5"/>
                      <a:srcRect/>
                      <a:stretch>
                        <a:fillRect/>
                      </a:stretch>
                    </p:blipFill>
                    <p:spPr bwMode="auto">
                      <a:xfrm>
                        <a:off x="1243013" y="3500438"/>
                        <a:ext cx="21209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19" name="矩形 5941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21" name="矩形 5941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9412" name="对象 59411"/>
          <p:cNvGraphicFramePr/>
          <p:nvPr/>
        </p:nvGraphicFramePr>
        <p:xfrm>
          <a:off x="2872478" y="5919235"/>
          <a:ext cx="2315749" cy="480391"/>
        </p:xfrm>
        <a:graphic>
          <a:graphicData uri="http://schemas.openxmlformats.org/presentationml/2006/ole">
            <mc:AlternateContent xmlns:mc="http://schemas.openxmlformats.org/markup-compatibility/2006">
              <mc:Choice xmlns:v="urn:schemas-microsoft-com:vml" Requires="v">
                <p:oleObj spid="_x0000_s3187" r:id="rId6" imgW="914400" imgH="228600" progId="Equation.DSMT4">
                  <p:embed/>
                </p:oleObj>
              </mc:Choice>
              <mc:Fallback>
                <p:oleObj r:id="rId6" imgW="914400" imgH="228600" progId="Equation.DSMT4">
                  <p:embed/>
                  <p:pic>
                    <p:nvPicPr>
                      <p:cNvPr id="0" name="对象 594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2478" y="5919235"/>
                        <a:ext cx="2315749" cy="480391"/>
                      </a:xfrm>
                      <a:prstGeom prst="rect">
                        <a:avLst/>
                      </a:prstGeom>
                      <a:noFill/>
                      <a:ln>
                        <a:noFill/>
                      </a:ln>
                    </p:spPr>
                  </p:pic>
                </p:oleObj>
              </mc:Fallback>
            </mc:AlternateContent>
          </a:graphicData>
        </a:graphic>
      </p:graphicFrame>
      <p:sp>
        <p:nvSpPr>
          <p:cNvPr id="59416" name="椭圆 59415"/>
          <p:cNvSpPr>
            <a:spLocks noChangeArrowheads="1"/>
          </p:cNvSpPr>
          <p:nvPr/>
        </p:nvSpPr>
        <p:spPr bwMode="auto">
          <a:xfrm>
            <a:off x="539750" y="908050"/>
            <a:ext cx="3240088" cy="1800225"/>
          </a:xfrm>
          <a:prstGeom prst="ellipse">
            <a:avLst/>
          </a:pr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2" name="图片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0291" y="195807"/>
            <a:ext cx="4176122" cy="3139712"/>
          </a:xfrm>
          <a:prstGeom prst="rect">
            <a:avLst/>
          </a:prstGeom>
        </p:spPr>
      </p:pic>
      <p:pic>
        <p:nvPicPr>
          <p:cNvPr id="3" name="图片 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78353" y="404813"/>
            <a:ext cx="2292295" cy="3237257"/>
          </a:xfrm>
          <a:prstGeom prst="rect">
            <a:avLst/>
          </a:prstGeom>
        </p:spPr>
      </p:pic>
      <p:pic>
        <p:nvPicPr>
          <p:cNvPr id="4" name="图片 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779830" y="426656"/>
            <a:ext cx="2278640" cy="3215414"/>
          </a:xfrm>
          <a:prstGeom prst="rect">
            <a:avLst/>
          </a:prstGeom>
        </p:spPr>
      </p:pic>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416"/>
                                        </p:tgtEl>
                                        <p:attrNameLst>
                                          <p:attrName>style.visibility</p:attrName>
                                        </p:attrNameLst>
                                      </p:cBhvr>
                                      <p:to>
                                        <p:strVal val="visible"/>
                                      </p:to>
                                    </p:set>
                                    <p:animEffect transition="in" filter="blinds(horizontal)">
                                      <p:cBhvr>
                                        <p:cTn id="7" dur="500"/>
                                        <p:tgtEl>
                                          <p:spTgt spid="594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399"/>
                                        </p:tgtEl>
                                        <p:attrNameLst>
                                          <p:attrName>style.visibility</p:attrName>
                                        </p:attrNameLst>
                                      </p:cBhvr>
                                      <p:to>
                                        <p:strVal val="visible"/>
                                      </p:to>
                                    </p:set>
                                    <p:animEffect transition="in" filter="blinds(horizontal)">
                                      <p:cBhvr>
                                        <p:cTn id="12" dur="500"/>
                                        <p:tgtEl>
                                          <p:spTgt spid="5939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9402"/>
                                        </p:tgtEl>
                                        <p:attrNameLst>
                                          <p:attrName>style.visibility</p:attrName>
                                        </p:attrNameLst>
                                      </p:cBhvr>
                                      <p:to>
                                        <p:strVal val="visible"/>
                                      </p:to>
                                    </p:set>
                                    <p:animEffect transition="in" filter="blinds(horizontal)">
                                      <p:cBhvr>
                                        <p:cTn id="15" dur="500"/>
                                        <p:tgtEl>
                                          <p:spTgt spid="5940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9412"/>
                                        </p:tgtEl>
                                        <p:attrNameLst>
                                          <p:attrName>style.visibility</p:attrName>
                                        </p:attrNameLst>
                                      </p:cBhvr>
                                      <p:to>
                                        <p:strVal val="visible"/>
                                      </p:to>
                                    </p:set>
                                    <p:animEffect transition="in" filter="wipe(left)">
                                      <p:cBhvr>
                                        <p:cTn id="28" dur="500"/>
                                        <p:tgtEl>
                                          <p:spTgt spid="59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9" grpId="0"/>
      <p:bldP spid="5940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矩形 60419"/>
          <p:cNvSpPr>
            <a:spLocks noChangeArrowheads="1"/>
          </p:cNvSpPr>
          <p:nvPr/>
        </p:nvSpPr>
        <p:spPr bwMode="auto">
          <a:xfrm>
            <a:off x="373063" y="256602"/>
            <a:ext cx="835183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rPr>
              <a:t>热量可自发地从高温物体传向低温物体，而反过程却无法自发地进行。为了使该反过程进行，就需要</a:t>
            </a:r>
            <a:r>
              <a:rPr lang="zh-CN" altLang="en-US" sz="2800" b="1" dirty="0">
                <a:solidFill>
                  <a:srgbClr val="FF0000"/>
                </a:solidFill>
                <a:latin typeface="黑体" panose="02010609060101010101" pitchFamily="49" charset="-122"/>
                <a:ea typeface="黑体" panose="02010609060101010101" pitchFamily="49" charset="-122"/>
              </a:rPr>
              <a:t>制冷机或</a:t>
            </a:r>
            <a:r>
              <a:rPr lang="zh-CN" altLang="en-US" sz="2800" b="1" dirty="0" smtClean="0">
                <a:solidFill>
                  <a:srgbClr val="FF0000"/>
                </a:solidFill>
                <a:latin typeface="黑体" panose="02010609060101010101" pitchFamily="49" charset="-122"/>
                <a:ea typeface="黑体" panose="02010609060101010101" pitchFamily="49" charset="-122"/>
              </a:rPr>
              <a:t>热泵</a:t>
            </a:r>
            <a:endParaRPr lang="en-US" altLang="zh-CN" sz="2800" b="1" dirty="0" smtClean="0">
              <a:solidFill>
                <a:srgbClr val="FF0000"/>
              </a:solidFill>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工质在制冷机和热泵中作逆向循环，其中制冷机中的工质也称为</a:t>
            </a:r>
            <a:r>
              <a:rPr lang="zh-CN" altLang="en-US" sz="2800" b="1" dirty="0" smtClean="0">
                <a:solidFill>
                  <a:srgbClr val="FF0000"/>
                </a:solidFill>
                <a:latin typeface="黑体" panose="02010609060101010101" pitchFamily="49" charset="-122"/>
                <a:ea typeface="黑体" panose="02010609060101010101" pitchFamily="49" charset="-122"/>
              </a:rPr>
              <a:t>制冷剂 </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23554" name="矩形 60421"/>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 name="矩形 10"/>
          <p:cNvSpPr>
            <a:spLocks noChangeArrowheads="1"/>
          </p:cNvSpPr>
          <p:nvPr/>
        </p:nvSpPr>
        <p:spPr bwMode="auto">
          <a:xfrm>
            <a:off x="3123856" y="3168991"/>
            <a:ext cx="5631966"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buFont typeface="Wingdings" panose="05000000000000000000" pitchFamily="2" charset="2"/>
              <a:buChar char="Ø"/>
            </a:pPr>
            <a:r>
              <a:rPr lang="zh-CN" altLang="en-US" sz="2800" b="1" dirty="0" smtClean="0">
                <a:ea typeface="黑体" panose="02010609060101010101" pitchFamily="49" charset="-122"/>
              </a:rPr>
              <a:t>制冷机和热泵的</a:t>
            </a:r>
            <a:r>
              <a:rPr lang="zh-CN" altLang="en-US" sz="2800" b="1" dirty="0">
                <a:solidFill>
                  <a:srgbClr val="FF0000"/>
                </a:solidFill>
                <a:ea typeface="黑体" panose="02010609060101010101" pitchFamily="49" charset="-122"/>
              </a:rPr>
              <a:t>热力学原理</a:t>
            </a:r>
            <a:r>
              <a:rPr lang="zh-CN" altLang="en-US" sz="2800" b="1" dirty="0" smtClean="0">
                <a:solidFill>
                  <a:srgbClr val="FF0000"/>
                </a:solidFill>
                <a:ea typeface="黑体" panose="02010609060101010101" pitchFamily="49" charset="-122"/>
              </a:rPr>
              <a:t>相同</a:t>
            </a:r>
            <a:r>
              <a:rPr lang="zh-CN" altLang="en-US" sz="2800" b="1" dirty="0" smtClean="0">
                <a:ea typeface="黑体" panose="02010609060101010101" pitchFamily="49" charset="-122"/>
              </a:rPr>
              <a:t>，在每个循环中：</a:t>
            </a:r>
            <a:endParaRPr lang="en-US" altLang="zh-CN" sz="2800" b="1" dirty="0" smtClean="0">
              <a:ea typeface="黑体" panose="02010609060101010101" pitchFamily="49" charset="-122"/>
            </a:endParaRPr>
          </a:p>
          <a:p>
            <a:pPr marL="342900" indent="-342900">
              <a:buFont typeface="Arial" panose="020B0604020202020204" pitchFamily="34" charset="0"/>
              <a:buChar char="•"/>
            </a:pPr>
            <a:r>
              <a:rPr lang="zh-CN" altLang="en-US" sz="2800" b="1" dirty="0" smtClean="0">
                <a:ea typeface="黑体" panose="02010609060101010101" pitchFamily="49" charset="-122"/>
              </a:rPr>
              <a:t>外界向工质输入功量</a:t>
            </a:r>
            <a:endParaRPr lang="en-US" altLang="zh-CN" sz="2800" b="1" dirty="0" smtClean="0">
              <a:ea typeface="黑体" panose="02010609060101010101" pitchFamily="49" charset="-122"/>
            </a:endParaRPr>
          </a:p>
          <a:p>
            <a:pPr marL="342900" indent="-342900">
              <a:buFont typeface="Arial" panose="020B0604020202020204" pitchFamily="34" charset="0"/>
              <a:buChar char="•"/>
            </a:pPr>
            <a:r>
              <a:rPr lang="zh-CN" altLang="en-US" sz="2800" b="1" dirty="0" smtClean="0">
                <a:ea typeface="黑体" panose="02010609060101010101" pitchFamily="49" charset="-122"/>
              </a:rPr>
              <a:t>工质从冷源吸收热量</a:t>
            </a:r>
            <a:endParaRPr lang="en-US" altLang="zh-CN" sz="2800" b="1" dirty="0" smtClean="0">
              <a:ea typeface="黑体" panose="02010609060101010101" pitchFamily="49" charset="-122"/>
            </a:endParaRPr>
          </a:p>
          <a:p>
            <a:pPr marL="342900" indent="-342900">
              <a:buFont typeface="Arial" panose="020B0604020202020204" pitchFamily="34" charset="0"/>
              <a:buChar char="•"/>
            </a:pPr>
            <a:r>
              <a:rPr lang="zh-CN" altLang="en-US" sz="2800" b="1" dirty="0" smtClean="0">
                <a:ea typeface="黑体" panose="02010609060101010101" pitchFamily="49" charset="-122"/>
              </a:rPr>
              <a:t>向热源放出热量</a:t>
            </a:r>
            <a:endParaRPr lang="en-US" altLang="zh-CN" sz="2800" b="1" dirty="0" smtClean="0">
              <a:ea typeface="黑体" panose="02010609060101010101" pitchFamily="49" charset="-122"/>
            </a:endParaRPr>
          </a:p>
          <a:p>
            <a:pPr marL="342900" indent="-342900">
              <a:buFont typeface="Arial" panose="020B0604020202020204" pitchFamily="34" charset="0"/>
              <a:buChar char="•"/>
            </a:pPr>
            <a:endParaRPr lang="zh-CN" altLang="en-US" sz="2400" b="1" dirty="0">
              <a:ea typeface="黑体" panose="02010609060101010101" pitchFamily="49"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219" y="2678565"/>
            <a:ext cx="2633700" cy="3596952"/>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60421"/>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0423" name="图片 60422" descr="图片1"/>
          <p:cNvPicPr>
            <a:picLocks noChangeAspect="1" noChangeArrowheads="1"/>
          </p:cNvPicPr>
          <p:nvPr/>
        </p:nvPicPr>
        <p:blipFill>
          <a:blip r:embed="rId3">
            <a:extLst>
              <a:ext uri="{28A0092B-C50C-407E-A947-70E740481C1C}">
                <a14:useLocalDpi xmlns:a14="http://schemas.microsoft.com/office/drawing/2010/main" val="0"/>
              </a:ext>
            </a:extLst>
          </a:blip>
          <a:srcRect l="24269" r="23976"/>
          <a:stretch>
            <a:fillRect/>
          </a:stretch>
        </p:blipFill>
        <p:spPr bwMode="auto">
          <a:xfrm>
            <a:off x="1362214" y="3664897"/>
            <a:ext cx="2035558" cy="293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4" name="图片 60423" descr="图片4"/>
          <p:cNvPicPr>
            <a:picLocks noChangeAspect="1" noChangeArrowheads="1"/>
          </p:cNvPicPr>
          <p:nvPr/>
        </p:nvPicPr>
        <p:blipFill>
          <a:blip r:embed="rId4" cstate="print">
            <a:extLst>
              <a:ext uri="{28A0092B-C50C-407E-A947-70E740481C1C}">
                <a14:useLocalDpi xmlns:a14="http://schemas.microsoft.com/office/drawing/2010/main" val="0"/>
              </a:ext>
            </a:extLst>
          </a:blip>
          <a:srcRect t="11433" b="12106"/>
          <a:stretch>
            <a:fillRect/>
          </a:stretch>
        </p:blipFill>
        <p:spPr bwMode="auto">
          <a:xfrm>
            <a:off x="4200939" y="4171391"/>
            <a:ext cx="30861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a:spLocks noChangeArrowheads="1"/>
          </p:cNvSpPr>
          <p:nvPr/>
        </p:nvSpPr>
        <p:spPr bwMode="auto">
          <a:xfrm>
            <a:off x="584371" y="221069"/>
            <a:ext cx="754583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buFont typeface="Wingdings" panose="05000000000000000000" pitchFamily="2" charset="2"/>
              <a:buChar char="Ø"/>
            </a:pPr>
            <a:r>
              <a:rPr lang="zh-CN" altLang="en-US" sz="2800" b="1" dirty="0" smtClean="0">
                <a:ea typeface="黑体" panose="02010609060101010101" pitchFamily="49" charset="-122"/>
              </a:rPr>
              <a:t>制冷机和热泵装置的用途不同：</a:t>
            </a:r>
            <a:endParaRPr lang="en-US" altLang="zh-CN" sz="2800" b="1" dirty="0" smtClean="0">
              <a:ea typeface="黑体" panose="02010609060101010101" pitchFamily="49" charset="-122"/>
            </a:endParaRPr>
          </a:p>
          <a:p>
            <a:pPr marL="342900" indent="-342900">
              <a:buFont typeface="Arial" panose="020B0604020202020204" pitchFamily="34" charset="0"/>
              <a:buChar char="•"/>
            </a:pPr>
            <a:r>
              <a:rPr lang="zh-CN" altLang="en-US" sz="2800" b="1" dirty="0" smtClean="0">
                <a:solidFill>
                  <a:srgbClr val="0070C0"/>
                </a:solidFill>
                <a:ea typeface="黑体" panose="02010609060101010101" pitchFamily="49" charset="-122"/>
              </a:rPr>
              <a:t>制冷机</a:t>
            </a:r>
            <a:r>
              <a:rPr lang="en-US" altLang="zh-CN" sz="2800" b="1" dirty="0" smtClean="0">
                <a:solidFill>
                  <a:srgbClr val="0070C0"/>
                </a:solidFill>
                <a:ea typeface="黑体" panose="02010609060101010101" pitchFamily="49" charset="-122"/>
              </a:rPr>
              <a:t>——</a:t>
            </a:r>
            <a:r>
              <a:rPr lang="zh-CN" altLang="en-US" sz="2800" b="1" dirty="0" smtClean="0">
                <a:solidFill>
                  <a:srgbClr val="0070C0"/>
                </a:solidFill>
                <a:ea typeface="黑体" panose="02010609060101010101" pitchFamily="49" charset="-122"/>
              </a:rPr>
              <a:t>制冷（</a:t>
            </a:r>
            <a:r>
              <a:rPr lang="zh-CN" altLang="en-US" sz="2800" b="1" dirty="0">
                <a:solidFill>
                  <a:srgbClr val="0070C0"/>
                </a:solidFill>
                <a:ea typeface="黑体" panose="02010609060101010101" pitchFamily="49" charset="-122"/>
              </a:rPr>
              <a:t>如冰箱或夏天用空调</a:t>
            </a:r>
            <a:r>
              <a:rPr lang="zh-CN" altLang="en-US" sz="2800" b="1" dirty="0" smtClean="0">
                <a:solidFill>
                  <a:srgbClr val="0070C0"/>
                </a:solidFill>
                <a:ea typeface="黑体" panose="02010609060101010101" pitchFamily="49" charset="-122"/>
              </a:rPr>
              <a:t>）</a:t>
            </a:r>
            <a:endParaRPr lang="en-US" altLang="zh-CN" sz="2800" b="1" dirty="0" smtClean="0">
              <a:solidFill>
                <a:srgbClr val="0070C0"/>
              </a:solidFill>
              <a:ea typeface="黑体" panose="02010609060101010101" pitchFamily="49" charset="-122"/>
            </a:endParaRPr>
          </a:p>
          <a:p>
            <a:pPr marL="342900" indent="-342900">
              <a:buFont typeface="Arial" panose="020B0604020202020204" pitchFamily="34" charset="0"/>
              <a:buChar char="•"/>
            </a:pPr>
            <a:r>
              <a:rPr lang="zh-CN" altLang="en-US" sz="2800" b="1" dirty="0">
                <a:solidFill>
                  <a:schemeClr val="accent2"/>
                </a:solidFill>
                <a:ea typeface="黑体" panose="02010609060101010101" pitchFamily="49" charset="-122"/>
              </a:rPr>
              <a:t>热泵</a:t>
            </a:r>
            <a:r>
              <a:rPr lang="en-US" altLang="zh-CN" sz="2800" b="1" dirty="0">
                <a:solidFill>
                  <a:schemeClr val="accent2"/>
                </a:solidFill>
                <a:ea typeface="黑体" panose="02010609060101010101" pitchFamily="49" charset="-122"/>
              </a:rPr>
              <a:t>——</a:t>
            </a:r>
            <a:r>
              <a:rPr lang="zh-CN" altLang="en-US" sz="2800" b="1" dirty="0">
                <a:solidFill>
                  <a:schemeClr val="accent2"/>
                </a:solidFill>
                <a:ea typeface="黑体" panose="02010609060101010101" pitchFamily="49" charset="-122"/>
              </a:rPr>
              <a:t>制热</a:t>
            </a:r>
            <a:r>
              <a:rPr lang="zh-CN" altLang="en-US" sz="2800" b="1" dirty="0" smtClean="0">
                <a:solidFill>
                  <a:schemeClr val="accent2"/>
                </a:solidFill>
                <a:ea typeface="黑体" panose="02010609060101010101" pitchFamily="49" charset="-122"/>
              </a:rPr>
              <a:t>（如</a:t>
            </a:r>
            <a:r>
              <a:rPr lang="zh-CN" altLang="en-US" sz="2800" b="1" dirty="0">
                <a:solidFill>
                  <a:schemeClr val="accent2"/>
                </a:solidFill>
                <a:ea typeface="黑体" panose="02010609060101010101" pitchFamily="49" charset="-122"/>
              </a:rPr>
              <a:t>冬天用空调</a:t>
            </a:r>
            <a:r>
              <a:rPr lang="zh-CN" altLang="en-US" sz="2800" b="1" dirty="0" smtClean="0">
                <a:solidFill>
                  <a:schemeClr val="accent2"/>
                </a:solidFill>
                <a:ea typeface="黑体" panose="02010609060101010101" pitchFamily="49" charset="-122"/>
              </a:rPr>
              <a:t>）</a:t>
            </a:r>
            <a:endParaRPr lang="zh-CN" altLang="en-US" sz="2800" b="1" dirty="0">
              <a:ea typeface="黑体" panose="02010609060101010101" pitchFamily="49" charset="-122"/>
            </a:endParaRPr>
          </a:p>
        </p:txBody>
      </p:sp>
      <p:sp>
        <p:nvSpPr>
          <p:cNvPr id="11" name="矩形 10"/>
          <p:cNvSpPr>
            <a:spLocks noChangeArrowheads="1"/>
          </p:cNvSpPr>
          <p:nvPr/>
        </p:nvSpPr>
        <p:spPr bwMode="auto">
          <a:xfrm>
            <a:off x="584371" y="1788429"/>
            <a:ext cx="7937329"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buFont typeface="Wingdings" panose="05000000000000000000" pitchFamily="2" charset="2"/>
              <a:buChar char="Ø"/>
            </a:pPr>
            <a:r>
              <a:rPr lang="zh-CN" altLang="en-US" sz="2800" b="1" dirty="0" smtClean="0">
                <a:ea typeface="黑体" panose="02010609060101010101" pitchFamily="49" charset="-122"/>
              </a:rPr>
              <a:t>制冷机和热泵装置的热源和冷源不同：</a:t>
            </a:r>
            <a:endParaRPr lang="en-US" altLang="zh-CN" sz="2800" b="1" dirty="0" smtClean="0">
              <a:ea typeface="黑体" panose="02010609060101010101" pitchFamily="49" charset="-122"/>
            </a:endParaRPr>
          </a:p>
          <a:p>
            <a:pPr marL="342900" indent="-342900">
              <a:buFont typeface="Arial" panose="020B0604020202020204" pitchFamily="34" charset="0"/>
              <a:buChar char="•"/>
            </a:pPr>
            <a:r>
              <a:rPr lang="zh-CN" altLang="en-US" sz="2800" b="1" dirty="0" smtClean="0">
                <a:solidFill>
                  <a:srgbClr val="0070C0"/>
                </a:solidFill>
                <a:ea typeface="黑体" panose="02010609060101010101" pitchFamily="49" charset="-122"/>
              </a:rPr>
              <a:t>制冷机的冷源是低温冷库，热源是环境大气</a:t>
            </a:r>
            <a:endParaRPr lang="en-US" altLang="zh-CN" sz="2800" b="1" dirty="0" smtClean="0">
              <a:solidFill>
                <a:srgbClr val="0070C0"/>
              </a:solidFill>
              <a:ea typeface="黑体" panose="02010609060101010101" pitchFamily="49" charset="-122"/>
            </a:endParaRPr>
          </a:p>
          <a:p>
            <a:pPr marL="342900" indent="-342900">
              <a:buFont typeface="Arial" panose="020B0604020202020204" pitchFamily="34" charset="0"/>
              <a:buChar char="•"/>
            </a:pPr>
            <a:r>
              <a:rPr lang="zh-CN" altLang="en-US" sz="2800" b="1" dirty="0" smtClean="0">
                <a:solidFill>
                  <a:schemeClr val="accent2"/>
                </a:solidFill>
                <a:ea typeface="黑体" panose="02010609060101010101" pitchFamily="49" charset="-122"/>
              </a:rPr>
              <a:t>热泵的冷源是环境大气，热源为高于环境温度的暖房（如冬天的暖房）</a:t>
            </a:r>
            <a:endParaRPr lang="zh-CN" altLang="en-US" sz="2800" b="1" dirty="0">
              <a:ea typeface="黑体" panose="02010609060101010101"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0423"/>
                                        </p:tgtEl>
                                        <p:attrNameLst>
                                          <p:attrName>style.visibility</p:attrName>
                                        </p:attrNameLst>
                                      </p:cBhvr>
                                      <p:to>
                                        <p:strVal val="visible"/>
                                      </p:to>
                                    </p:set>
                                    <p:animEffect transition="in" filter="blinds(horizontal)">
                                      <p:cBhvr>
                                        <p:cTn id="12" dur="500"/>
                                        <p:tgtEl>
                                          <p:spTgt spid="604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0424"/>
                                        </p:tgtEl>
                                        <p:attrNameLst>
                                          <p:attrName>style.visibility</p:attrName>
                                        </p:attrNameLst>
                                      </p:cBhvr>
                                      <p:to>
                                        <p:strVal val="visible"/>
                                      </p:to>
                                    </p:set>
                                    <p:animEffect transition="in" filter="blinds(horizontal)">
                                      <p:cBhvr>
                                        <p:cTn id="17" dur="500"/>
                                        <p:tgtEl>
                                          <p:spTgt spid="60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1443"/>
          <p:cNvSpPr>
            <a:spLocks noChangeArrowheads="1"/>
          </p:cNvSpPr>
          <p:nvPr/>
        </p:nvSpPr>
        <p:spPr bwMode="auto">
          <a:xfrm>
            <a:off x="468313" y="281677"/>
            <a:ext cx="6985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二、经济性</a:t>
            </a:r>
            <a:r>
              <a:rPr lang="zh-CN" altLang="en-US" sz="3200" b="1" dirty="0" smtClean="0">
                <a:latin typeface="黑体" panose="02010609060101010101" pitchFamily="49" charset="-122"/>
                <a:ea typeface="黑体" panose="02010609060101010101" pitchFamily="49" charset="-122"/>
              </a:rPr>
              <a:t>指标</a:t>
            </a:r>
            <a:endParaRPr lang="en-US" altLang="zh-CN" sz="3200" b="1" dirty="0">
              <a:latin typeface="黑体" panose="02010609060101010101" pitchFamily="49" charset="-122"/>
              <a:ea typeface="黑体" panose="02010609060101010101" pitchFamily="49" charset="-122"/>
            </a:endParaRPr>
          </a:p>
        </p:txBody>
      </p:sp>
      <p:graphicFrame>
        <p:nvGraphicFramePr>
          <p:cNvPr id="3" name="对象 61444"/>
          <p:cNvGraphicFramePr/>
          <p:nvPr/>
        </p:nvGraphicFramePr>
        <p:xfrm>
          <a:off x="1691446" y="2092117"/>
          <a:ext cx="4870450" cy="1160462"/>
        </p:xfrm>
        <a:graphic>
          <a:graphicData uri="http://schemas.openxmlformats.org/presentationml/2006/ole">
            <mc:AlternateContent xmlns:mc="http://schemas.openxmlformats.org/markup-compatibility/2006">
              <mc:Choice xmlns:v="urn:schemas-microsoft-com:vml" Requires="v">
                <p:oleObj spid="_x0000_s9245" name="公式" r:id="rId3" imgW="42367200" imgH="10058400" progId="Equation.3">
                  <p:embed/>
                </p:oleObj>
              </mc:Choice>
              <mc:Fallback>
                <p:oleObj name="公式" r:id="rId3" imgW="42367200" imgH="10058400" progId="Equation.3">
                  <p:embed/>
                  <p:pic>
                    <p:nvPicPr>
                      <p:cNvPr id="0" name="对象 61444"/>
                      <p:cNvPicPr>
                        <a:picLocks noChangeArrowheads="1"/>
                      </p:cNvPicPr>
                      <p:nvPr/>
                    </p:nvPicPr>
                    <p:blipFill>
                      <a:blip r:embed="rId4"/>
                      <a:srcRect/>
                      <a:stretch>
                        <a:fillRect/>
                      </a:stretch>
                    </p:blipFill>
                    <p:spPr bwMode="auto">
                      <a:xfrm>
                        <a:off x="1691446" y="2092117"/>
                        <a:ext cx="487045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矩形 6144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25605" name="对象 61447"/>
          <p:cNvGraphicFramePr>
            <a:graphicFrameLocks/>
          </p:cNvGraphicFramePr>
          <p:nvPr>
            <p:extLst/>
          </p:nvPr>
        </p:nvGraphicFramePr>
        <p:xfrm>
          <a:off x="4714875" y="1912938"/>
          <a:ext cx="1439862" cy="1136650"/>
        </p:xfrm>
        <a:graphic>
          <a:graphicData uri="http://schemas.openxmlformats.org/presentationml/2006/ole">
            <mc:AlternateContent xmlns:mc="http://schemas.openxmlformats.org/markup-compatibility/2006">
              <mc:Choice xmlns:v="urn:schemas-microsoft-com:vml" Requires="v">
                <p:oleObj spid="_x0000_s42002" r:id="rId3" imgW="545863" imgH="431613" progId="Equation.DSMT4">
                  <p:embed/>
                </p:oleObj>
              </mc:Choice>
              <mc:Fallback>
                <p:oleObj r:id="rId3" imgW="545863" imgH="431613" progId="Equation.DSMT4">
                  <p:embed/>
                  <p:pic>
                    <p:nvPicPr>
                      <p:cNvPr id="25605" name="对象 6144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75" y="1912938"/>
                        <a:ext cx="1439862"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6" name="对象 61449"/>
          <p:cNvGraphicFramePr>
            <a:graphicFrameLocks/>
          </p:cNvGraphicFramePr>
          <p:nvPr>
            <p:extLst/>
          </p:nvPr>
        </p:nvGraphicFramePr>
        <p:xfrm>
          <a:off x="4985544" y="3721894"/>
          <a:ext cx="2060575" cy="1003300"/>
        </p:xfrm>
        <a:graphic>
          <a:graphicData uri="http://schemas.openxmlformats.org/presentationml/2006/ole">
            <mc:AlternateContent xmlns:mc="http://schemas.openxmlformats.org/markup-compatibility/2006">
              <mc:Choice xmlns:v="urn:schemas-microsoft-com:vml" Requires="v">
                <p:oleObj spid="_x0000_s42003" r:id="rId5" imgW="875920" imgH="431613" progId="Equation.DSMT4">
                  <p:embed/>
                </p:oleObj>
              </mc:Choice>
              <mc:Fallback>
                <p:oleObj r:id="rId5" imgW="875920" imgH="431613" progId="Equation.DSMT4">
                  <p:embed/>
                  <p:pic>
                    <p:nvPicPr>
                      <p:cNvPr id="25606" name="对象 6144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5544" y="3721894"/>
                        <a:ext cx="20605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7" name="矩形 61451"/>
          <p:cNvSpPr>
            <a:spLocks noChangeArrowheads="1"/>
          </p:cNvSpPr>
          <p:nvPr/>
        </p:nvSpPr>
        <p:spPr bwMode="auto">
          <a:xfrm>
            <a:off x="4361344" y="3946526"/>
            <a:ext cx="541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ea typeface="黑体" panose="02010609060101010101" pitchFamily="49" charset="-122"/>
              </a:rPr>
              <a:t>或</a:t>
            </a:r>
          </a:p>
        </p:txBody>
      </p:sp>
      <p:sp>
        <p:nvSpPr>
          <p:cNvPr id="6" name="矩形 5"/>
          <p:cNvSpPr/>
          <p:nvPr/>
        </p:nvSpPr>
        <p:spPr>
          <a:xfrm>
            <a:off x="661364" y="582039"/>
            <a:ext cx="8482636" cy="584775"/>
          </a:xfrm>
          <a:prstGeom prst="rect">
            <a:avLst/>
          </a:prstGeom>
        </p:spPr>
        <p:txBody>
          <a:bodyPr wrap="square">
            <a:spAutoFit/>
          </a:bodyPr>
          <a:lstStyle/>
          <a:p>
            <a:r>
              <a:rPr lang="en-US" altLang="zh-CN" sz="3200" b="1" dirty="0" smtClean="0">
                <a:solidFill>
                  <a:prstClr val="black"/>
                </a:solidFill>
                <a:latin typeface="黑体" panose="02010609060101010101" pitchFamily="49" charset="-122"/>
                <a:ea typeface="黑体" panose="02010609060101010101" pitchFamily="49" charset="-122"/>
              </a:rPr>
              <a:t>1</a:t>
            </a:r>
            <a:r>
              <a:rPr lang="zh-CN" altLang="en-US" sz="3200" b="1" dirty="0" smtClean="0">
                <a:solidFill>
                  <a:prstClr val="black"/>
                </a:solidFill>
                <a:latin typeface="黑体" panose="02010609060101010101" pitchFamily="49" charset="-122"/>
                <a:ea typeface="黑体" panose="02010609060101010101" pitchFamily="49" charset="-122"/>
              </a:rPr>
              <a:t>、</a:t>
            </a:r>
            <a:r>
              <a:rPr lang="zh-CN" altLang="en-US" sz="3200" b="1" dirty="0">
                <a:solidFill>
                  <a:prstClr val="black"/>
                </a:solidFill>
                <a:latin typeface="黑体" panose="02010609060101010101" pitchFamily="49" charset="-122"/>
                <a:ea typeface="黑体" panose="02010609060101010101" pitchFamily="49" charset="-122"/>
              </a:rPr>
              <a:t>正向循环的经济性</a:t>
            </a:r>
            <a:r>
              <a:rPr lang="zh-CN" altLang="en-US" sz="3200" b="1" dirty="0" smtClean="0">
                <a:solidFill>
                  <a:prstClr val="black"/>
                </a:solidFill>
                <a:latin typeface="黑体" panose="02010609060101010101" pitchFamily="49" charset="-122"/>
                <a:ea typeface="黑体" panose="02010609060101010101" pitchFamily="49" charset="-122"/>
              </a:rPr>
              <a:t>指标</a:t>
            </a:r>
            <a:r>
              <a:rPr lang="en-US" altLang="zh-CN" sz="3200" b="1" dirty="0" smtClean="0">
                <a:solidFill>
                  <a:prstClr val="black"/>
                </a:solidFill>
                <a:latin typeface="黑体" panose="02010609060101010101" pitchFamily="49" charset="-122"/>
                <a:ea typeface="黑体" panose="02010609060101010101" pitchFamily="49" charset="-122"/>
              </a:rPr>
              <a:t>——</a:t>
            </a:r>
            <a:r>
              <a:rPr lang="zh-CN" altLang="en-US" sz="3200" b="1" dirty="0" smtClean="0">
                <a:solidFill>
                  <a:prstClr val="black"/>
                </a:solidFill>
                <a:latin typeface="黑体" panose="02010609060101010101" pitchFamily="49" charset="-122"/>
                <a:ea typeface="黑体" panose="02010609060101010101" pitchFamily="49" charset="-122"/>
              </a:rPr>
              <a:t>热效率</a:t>
            </a:r>
            <a:endParaRPr lang="en-US" altLang="zh-CN" sz="3200" b="1" dirty="0">
              <a:solidFill>
                <a:prstClr val="black"/>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08476" y="1550067"/>
            <a:ext cx="2804403" cy="3956647"/>
          </a:xfrm>
          <a:prstGeom prst="rect">
            <a:avLst/>
          </a:prstGeom>
        </p:spPr>
      </p:pic>
    </p:spTree>
    <p:extLst>
      <p:ext uri="{BB962C8B-B14F-4D97-AF65-F5344CB8AC3E}">
        <p14:creationId xmlns:p14="http://schemas.microsoft.com/office/powerpoint/2010/main" val="38475443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矩形 64513"/>
          <p:cNvSpPr>
            <a:spLocks noChangeArrowheads="1"/>
          </p:cNvSpPr>
          <p:nvPr/>
        </p:nvSpPr>
        <p:spPr bwMode="auto">
          <a:xfrm>
            <a:off x="279883" y="215454"/>
            <a:ext cx="7848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dirty="0" smtClean="0">
                <a:latin typeface="黑体" panose="02010609060101010101" pitchFamily="49" charset="-122"/>
                <a:ea typeface="黑体" panose="02010609060101010101" pitchFamily="49" charset="-122"/>
              </a:rPr>
              <a:t>2</a:t>
            </a:r>
            <a:r>
              <a:rPr lang="zh-CN" altLang="en-US" sz="3200" b="1" dirty="0" smtClean="0">
                <a:latin typeface="黑体" panose="02010609060101010101" pitchFamily="49" charset="-122"/>
                <a:ea typeface="黑体" panose="02010609060101010101" pitchFamily="49" charset="-122"/>
              </a:rPr>
              <a:t>、逆向循环的经济性指标</a:t>
            </a:r>
            <a:r>
              <a:rPr lang="en-US" altLang="zh-CN" sz="3200" b="1" dirty="0" smtClean="0">
                <a:latin typeface="黑体" panose="02010609060101010101" pitchFamily="49" charset="-122"/>
                <a:ea typeface="黑体" panose="02010609060101010101" pitchFamily="49" charset="-122"/>
              </a:rPr>
              <a:t>——</a:t>
            </a:r>
            <a:r>
              <a:rPr lang="zh-CN" altLang="en-US" sz="3200" b="1" dirty="0" smtClean="0">
                <a:latin typeface="黑体" panose="02010609060101010101" pitchFamily="49" charset="-122"/>
                <a:ea typeface="黑体" panose="02010609060101010101" pitchFamily="49" charset="-122"/>
              </a:rPr>
              <a:t>制冷系数</a:t>
            </a:r>
            <a:endParaRPr lang="en-US" altLang="zh-CN" sz="3200" b="1" dirty="0">
              <a:latin typeface="黑体" panose="02010609060101010101" pitchFamily="49" charset="-122"/>
              <a:ea typeface="黑体" panose="02010609060101010101" pitchFamily="49" charset="-122"/>
            </a:endParaRPr>
          </a:p>
        </p:txBody>
      </p:sp>
      <p:graphicFrame>
        <p:nvGraphicFramePr>
          <p:cNvPr id="26626" name="对象 64514"/>
          <p:cNvGraphicFramePr>
            <a:graphicFrameLocks/>
          </p:cNvGraphicFramePr>
          <p:nvPr>
            <p:extLst/>
          </p:nvPr>
        </p:nvGraphicFramePr>
        <p:xfrm>
          <a:off x="2444750" y="1157288"/>
          <a:ext cx="4870450" cy="1160462"/>
        </p:xfrm>
        <a:graphic>
          <a:graphicData uri="http://schemas.openxmlformats.org/presentationml/2006/ole">
            <mc:AlternateContent xmlns:mc="http://schemas.openxmlformats.org/markup-compatibility/2006">
              <mc:Choice xmlns:v="urn:schemas-microsoft-com:vml" Requires="v">
                <p:oleObj spid="_x0000_s43034" name="公式" r:id="rId3" imgW="1765080" imgH="419040" progId="Equation.3">
                  <p:embed/>
                </p:oleObj>
              </mc:Choice>
              <mc:Fallback>
                <p:oleObj name="公式" r:id="rId3" imgW="1765080" imgH="419040" progId="Equation.3">
                  <p:embed/>
                  <p:pic>
                    <p:nvPicPr>
                      <p:cNvPr id="26626" name="对象 64514"/>
                      <p:cNvPicPr>
                        <a:picLocks noChangeArrowheads="1"/>
                      </p:cNvPicPr>
                      <p:nvPr/>
                    </p:nvPicPr>
                    <p:blipFill>
                      <a:blip r:embed="rId4"/>
                      <a:srcRect/>
                      <a:stretch>
                        <a:fillRect/>
                      </a:stretch>
                    </p:blipFill>
                    <p:spPr bwMode="auto">
                      <a:xfrm>
                        <a:off x="2444750" y="1157288"/>
                        <a:ext cx="487045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27" name="矩形 6451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8" name="矩形 6451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9" name="矩形 6452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26630" name="对象 64521"/>
          <p:cNvGraphicFramePr>
            <a:graphicFrameLocks/>
          </p:cNvGraphicFramePr>
          <p:nvPr>
            <p:extLst/>
          </p:nvPr>
        </p:nvGraphicFramePr>
        <p:xfrm>
          <a:off x="5120792" y="3334617"/>
          <a:ext cx="1081087" cy="854075"/>
        </p:xfrm>
        <a:graphic>
          <a:graphicData uri="http://schemas.openxmlformats.org/presentationml/2006/ole">
            <mc:AlternateContent xmlns:mc="http://schemas.openxmlformats.org/markup-compatibility/2006">
              <mc:Choice xmlns:v="urn:schemas-microsoft-com:vml" Requires="v">
                <p:oleObj spid="_x0000_s43035" r:id="rId5" imgW="545863" imgH="431613" progId="Equation.DSMT4">
                  <p:embed/>
                </p:oleObj>
              </mc:Choice>
              <mc:Fallback>
                <p:oleObj r:id="rId5" imgW="545863" imgH="431613" progId="Equation.DSMT4">
                  <p:embed/>
                  <p:pic>
                    <p:nvPicPr>
                      <p:cNvPr id="26630" name="对象 6452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0792" y="3334617"/>
                        <a:ext cx="1081087"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31" name="矩形 64524"/>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26632" name="对象 64523"/>
          <p:cNvGraphicFramePr>
            <a:graphicFrameLocks/>
          </p:cNvGraphicFramePr>
          <p:nvPr>
            <p:extLst/>
          </p:nvPr>
        </p:nvGraphicFramePr>
        <p:xfrm>
          <a:off x="4996967" y="4423641"/>
          <a:ext cx="1439862" cy="781050"/>
        </p:xfrm>
        <a:graphic>
          <a:graphicData uri="http://schemas.openxmlformats.org/presentationml/2006/ole">
            <mc:AlternateContent xmlns:mc="http://schemas.openxmlformats.org/markup-compatibility/2006">
              <mc:Choice xmlns:v="urn:schemas-microsoft-com:vml" Requires="v">
                <p:oleObj spid="_x0000_s43036" r:id="rId7" imgW="787400" imgH="431800" progId="Equation.DSMT4">
                  <p:embed/>
                </p:oleObj>
              </mc:Choice>
              <mc:Fallback>
                <p:oleObj r:id="rId7" imgW="787400" imgH="431800" progId="Equation.DSMT4">
                  <p:embed/>
                  <p:pic>
                    <p:nvPicPr>
                      <p:cNvPr id="26632" name="对象 6452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96967" y="4423641"/>
                        <a:ext cx="1439862"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34" name="矩形 64526"/>
          <p:cNvSpPr>
            <a:spLocks noChangeArrowheads="1"/>
          </p:cNvSpPr>
          <p:nvPr/>
        </p:nvSpPr>
        <p:spPr bwMode="auto">
          <a:xfrm>
            <a:off x="4204804" y="4495079"/>
            <a:ext cx="541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ea typeface="黑体" panose="02010609060101010101" pitchFamily="49" charset="-122"/>
              </a:rPr>
              <a:t>或</a:t>
            </a:r>
          </a:p>
        </p:txBody>
      </p:sp>
      <p:sp>
        <p:nvSpPr>
          <p:cNvPr id="26635" name="矩形 64527"/>
          <p:cNvSpPr>
            <a:spLocks noChangeArrowheads="1"/>
          </p:cNvSpPr>
          <p:nvPr/>
        </p:nvSpPr>
        <p:spPr bwMode="auto">
          <a:xfrm>
            <a:off x="2640297" y="5469082"/>
            <a:ext cx="650370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ea typeface="黑体" panose="02010609060101010101" pitchFamily="49" charset="-122"/>
              </a:rPr>
              <a:t>可以大于</a:t>
            </a:r>
            <a:r>
              <a:rPr lang="en-US" altLang="zh-CN" sz="2800" b="1" dirty="0">
                <a:ea typeface="黑体" panose="02010609060101010101" pitchFamily="49" charset="-122"/>
              </a:rPr>
              <a:t>1</a:t>
            </a:r>
            <a:r>
              <a:rPr lang="zh-CN" altLang="en-US" sz="2800" b="1" dirty="0">
                <a:ea typeface="黑体" panose="02010609060101010101" pitchFamily="49" charset="-122"/>
              </a:rPr>
              <a:t>，也可以小于</a:t>
            </a:r>
            <a:r>
              <a:rPr lang="en-US" altLang="zh-CN" sz="2800" b="1" dirty="0" smtClean="0">
                <a:ea typeface="黑体" panose="02010609060101010101" pitchFamily="49" charset="-122"/>
              </a:rPr>
              <a:t>1</a:t>
            </a:r>
            <a:r>
              <a:rPr lang="zh-CN" altLang="en-US" sz="2800" b="1" dirty="0" smtClean="0">
                <a:ea typeface="黑体" panose="02010609060101010101" pitchFamily="49" charset="-122"/>
              </a:rPr>
              <a:t>，还可以等于</a:t>
            </a:r>
            <a:r>
              <a:rPr lang="en-US" altLang="zh-CN" sz="2800" b="1" dirty="0" smtClean="0">
                <a:ea typeface="黑体" panose="02010609060101010101" pitchFamily="49" charset="-122"/>
              </a:rPr>
              <a:t>1</a:t>
            </a:r>
            <a:endParaRPr lang="en-US" altLang="zh-CN" sz="2800" b="1" dirty="0">
              <a:ea typeface="黑体" panose="02010609060101010101" pitchFamily="49" charset="-122"/>
            </a:endParaRPr>
          </a:p>
        </p:txBody>
      </p:sp>
      <p:sp>
        <p:nvSpPr>
          <p:cNvPr id="4" name="矩形 3"/>
          <p:cNvSpPr/>
          <p:nvPr/>
        </p:nvSpPr>
        <p:spPr>
          <a:xfrm>
            <a:off x="4676141" y="2674537"/>
            <a:ext cx="1832553" cy="584775"/>
          </a:xfrm>
          <a:prstGeom prst="rect">
            <a:avLst/>
          </a:prstGeom>
        </p:spPr>
        <p:txBody>
          <a:bodyPr wrap="none">
            <a:spAutoFit/>
          </a:bodyPr>
          <a:lstStyle/>
          <a:p>
            <a:r>
              <a:rPr lang="zh-CN" altLang="en-US" sz="3200" b="1" dirty="0">
                <a:solidFill>
                  <a:srgbClr val="0070C0"/>
                </a:solidFill>
                <a:latin typeface="黑体" panose="02010609060101010101" pitchFamily="49" charset="-122"/>
                <a:ea typeface="黑体" panose="02010609060101010101" pitchFamily="49" charset="-122"/>
              </a:rPr>
              <a:t>制冷系数</a:t>
            </a:r>
            <a:endParaRPr lang="zh-CN" altLang="en-US" dirty="0">
              <a:solidFill>
                <a:srgbClr val="0070C0"/>
              </a:solidFill>
            </a:endParaRPr>
          </a:p>
        </p:txBody>
      </p:sp>
      <p:pic>
        <p:nvPicPr>
          <p:cNvPr id="2" name="图片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7927" y="1960130"/>
            <a:ext cx="2639797" cy="3603048"/>
          </a:xfrm>
          <a:prstGeom prst="rect">
            <a:avLst/>
          </a:prstGeom>
        </p:spPr>
      </p:pic>
    </p:spTree>
    <p:extLst>
      <p:ext uri="{BB962C8B-B14F-4D97-AF65-F5344CB8AC3E}">
        <p14:creationId xmlns:p14="http://schemas.microsoft.com/office/powerpoint/2010/main" val="39140156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矩形 64513"/>
          <p:cNvSpPr>
            <a:spLocks noChangeArrowheads="1"/>
          </p:cNvSpPr>
          <p:nvPr/>
        </p:nvSpPr>
        <p:spPr bwMode="auto">
          <a:xfrm>
            <a:off x="279883" y="215454"/>
            <a:ext cx="7848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dirty="0" smtClean="0">
                <a:latin typeface="黑体" panose="02010609060101010101" pitchFamily="49" charset="-122"/>
                <a:ea typeface="黑体" panose="02010609060101010101" pitchFamily="49" charset="-122"/>
              </a:rPr>
              <a:t>3</a:t>
            </a:r>
            <a:r>
              <a:rPr lang="zh-CN" altLang="en-US" sz="3200" b="1" dirty="0" smtClean="0">
                <a:latin typeface="黑体" panose="02010609060101010101" pitchFamily="49" charset="-122"/>
                <a:ea typeface="黑体" panose="02010609060101010101" pitchFamily="49" charset="-122"/>
              </a:rPr>
              <a:t>、逆向循环的经济性指标</a:t>
            </a:r>
            <a:r>
              <a:rPr lang="en-US" altLang="zh-CN" sz="3200" b="1" dirty="0" smtClean="0">
                <a:latin typeface="黑体" panose="02010609060101010101" pitchFamily="49" charset="-122"/>
                <a:ea typeface="黑体" panose="02010609060101010101" pitchFamily="49" charset="-122"/>
              </a:rPr>
              <a:t>——</a:t>
            </a:r>
            <a:r>
              <a:rPr lang="zh-CN" altLang="en-US" sz="3200" b="1" dirty="0" smtClean="0">
                <a:latin typeface="黑体" panose="02010609060101010101" pitchFamily="49" charset="-122"/>
                <a:ea typeface="黑体" panose="02010609060101010101" pitchFamily="49" charset="-122"/>
              </a:rPr>
              <a:t>供暖系数</a:t>
            </a:r>
            <a:endParaRPr lang="en-US" altLang="zh-CN" sz="3200" b="1" dirty="0">
              <a:latin typeface="黑体" panose="02010609060101010101" pitchFamily="49" charset="-122"/>
              <a:ea typeface="黑体" panose="02010609060101010101" pitchFamily="49" charset="-122"/>
            </a:endParaRPr>
          </a:p>
        </p:txBody>
      </p:sp>
      <p:graphicFrame>
        <p:nvGraphicFramePr>
          <p:cNvPr id="26626" name="对象 64514"/>
          <p:cNvGraphicFramePr>
            <a:graphicFrameLocks/>
          </p:cNvGraphicFramePr>
          <p:nvPr>
            <p:extLst/>
          </p:nvPr>
        </p:nvGraphicFramePr>
        <p:xfrm>
          <a:off x="2444750" y="1157288"/>
          <a:ext cx="4870450" cy="1160462"/>
        </p:xfrm>
        <a:graphic>
          <a:graphicData uri="http://schemas.openxmlformats.org/presentationml/2006/ole">
            <mc:AlternateContent xmlns:mc="http://schemas.openxmlformats.org/markup-compatibility/2006">
              <mc:Choice xmlns:v="urn:schemas-microsoft-com:vml" Requires="v">
                <p:oleObj spid="_x0000_s44058" name="公式" r:id="rId3" imgW="1765080" imgH="419040" progId="Equation.3">
                  <p:embed/>
                </p:oleObj>
              </mc:Choice>
              <mc:Fallback>
                <p:oleObj name="公式" r:id="rId3" imgW="1765080" imgH="419040" progId="Equation.3">
                  <p:embed/>
                  <p:pic>
                    <p:nvPicPr>
                      <p:cNvPr id="26626" name="对象 64514"/>
                      <p:cNvPicPr>
                        <a:picLocks noChangeArrowheads="1"/>
                      </p:cNvPicPr>
                      <p:nvPr/>
                    </p:nvPicPr>
                    <p:blipFill>
                      <a:blip r:embed="rId4"/>
                      <a:srcRect/>
                      <a:stretch>
                        <a:fillRect/>
                      </a:stretch>
                    </p:blipFill>
                    <p:spPr bwMode="auto">
                      <a:xfrm>
                        <a:off x="2444750" y="1157288"/>
                        <a:ext cx="487045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27" name="矩形 6451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8" name="矩形 6451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9" name="矩形 6452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31" name="矩形 64524"/>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34" name="矩形 64526"/>
          <p:cNvSpPr>
            <a:spLocks noChangeArrowheads="1"/>
          </p:cNvSpPr>
          <p:nvPr/>
        </p:nvSpPr>
        <p:spPr bwMode="auto">
          <a:xfrm>
            <a:off x="4204804" y="4495079"/>
            <a:ext cx="541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ea typeface="黑体" panose="02010609060101010101" pitchFamily="49" charset="-122"/>
              </a:rPr>
              <a:t>或</a:t>
            </a:r>
          </a:p>
        </p:txBody>
      </p:sp>
      <p:sp>
        <p:nvSpPr>
          <p:cNvPr id="26635" name="矩形 64527"/>
          <p:cNvSpPr>
            <a:spLocks noChangeArrowheads="1"/>
          </p:cNvSpPr>
          <p:nvPr/>
        </p:nvSpPr>
        <p:spPr bwMode="auto">
          <a:xfrm>
            <a:off x="4687360" y="5496257"/>
            <a:ext cx="18101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smtClean="0">
                <a:ea typeface="黑体" panose="02010609060101010101" pitchFamily="49" charset="-122"/>
              </a:rPr>
              <a:t>总是大于</a:t>
            </a:r>
            <a:r>
              <a:rPr lang="en-US" altLang="zh-CN" sz="2800" b="1" dirty="0" smtClean="0">
                <a:ea typeface="黑体" panose="02010609060101010101" pitchFamily="49" charset="-122"/>
              </a:rPr>
              <a:t>1</a:t>
            </a:r>
            <a:endParaRPr lang="en-US" altLang="zh-CN" sz="2800" b="1" dirty="0">
              <a:ea typeface="黑体" panose="02010609060101010101" pitchFamily="49" charset="-122"/>
            </a:endParaRPr>
          </a:p>
        </p:txBody>
      </p:sp>
      <p:sp>
        <p:nvSpPr>
          <p:cNvPr id="4" name="矩形 3"/>
          <p:cNvSpPr/>
          <p:nvPr/>
        </p:nvSpPr>
        <p:spPr>
          <a:xfrm>
            <a:off x="4676141" y="2674537"/>
            <a:ext cx="1832553" cy="584775"/>
          </a:xfrm>
          <a:prstGeom prst="rect">
            <a:avLst/>
          </a:prstGeom>
        </p:spPr>
        <p:txBody>
          <a:bodyPr wrap="none">
            <a:spAutoFit/>
          </a:bodyPr>
          <a:lstStyle/>
          <a:p>
            <a:r>
              <a:rPr lang="zh-CN" altLang="en-US" sz="3200" b="1" dirty="0" smtClean="0">
                <a:solidFill>
                  <a:srgbClr val="0070C0"/>
                </a:solidFill>
                <a:latin typeface="黑体" panose="02010609060101010101" pitchFamily="49" charset="-122"/>
                <a:ea typeface="黑体" panose="02010609060101010101" pitchFamily="49" charset="-122"/>
              </a:rPr>
              <a:t>供暖系数</a:t>
            </a:r>
            <a:endParaRPr lang="zh-CN" altLang="en-US" dirty="0">
              <a:solidFill>
                <a:srgbClr val="0070C0"/>
              </a:solidFill>
            </a:endParaRPr>
          </a:p>
        </p:txBody>
      </p:sp>
      <p:graphicFrame>
        <p:nvGraphicFramePr>
          <p:cNvPr id="15" name="对象 65547"/>
          <p:cNvGraphicFramePr>
            <a:graphicFrameLocks/>
          </p:cNvGraphicFramePr>
          <p:nvPr>
            <p:extLst/>
          </p:nvPr>
        </p:nvGraphicFramePr>
        <p:xfrm>
          <a:off x="5051873" y="3449277"/>
          <a:ext cx="1081087" cy="811213"/>
        </p:xfrm>
        <a:graphic>
          <a:graphicData uri="http://schemas.openxmlformats.org/presentationml/2006/ole">
            <mc:AlternateContent xmlns:mc="http://schemas.openxmlformats.org/markup-compatibility/2006">
              <mc:Choice xmlns:v="urn:schemas-microsoft-com:vml" Requires="v">
                <p:oleObj spid="_x0000_s44059" r:id="rId5" imgW="571252" imgH="431613" progId="Equation.DSMT4">
                  <p:embed/>
                </p:oleObj>
              </mc:Choice>
              <mc:Fallback>
                <p:oleObj r:id="rId5" imgW="571252" imgH="431613" progId="Equation.DSMT4">
                  <p:embed/>
                  <p:pic>
                    <p:nvPicPr>
                      <p:cNvPr id="15" name="对象 6554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51873" y="3449277"/>
                        <a:ext cx="1081087"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对象 65549"/>
          <p:cNvGraphicFramePr>
            <a:graphicFrameLocks/>
          </p:cNvGraphicFramePr>
          <p:nvPr>
            <p:extLst/>
          </p:nvPr>
        </p:nvGraphicFramePr>
        <p:xfrm>
          <a:off x="5051873" y="4398691"/>
          <a:ext cx="1512887" cy="782637"/>
        </p:xfrm>
        <a:graphic>
          <a:graphicData uri="http://schemas.openxmlformats.org/presentationml/2006/ole">
            <mc:AlternateContent xmlns:mc="http://schemas.openxmlformats.org/markup-compatibility/2006">
              <mc:Choice xmlns:v="urn:schemas-microsoft-com:vml" Requires="v">
                <p:oleObj spid="_x0000_s44060" r:id="rId7" imgW="825500" imgH="431800" progId="Equation.DSMT4">
                  <p:embed/>
                </p:oleObj>
              </mc:Choice>
              <mc:Fallback>
                <p:oleObj r:id="rId7" imgW="825500" imgH="431800" progId="Equation.DSMT4">
                  <p:embed/>
                  <p:pic>
                    <p:nvPicPr>
                      <p:cNvPr id="16" name="对象 6554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1873" y="4398691"/>
                        <a:ext cx="1512887"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17284" y="2154819"/>
            <a:ext cx="2639797" cy="3603048"/>
          </a:xfrm>
          <a:prstGeom prst="rect">
            <a:avLst/>
          </a:prstGeom>
        </p:spPr>
      </p:pic>
    </p:spTree>
    <p:extLst>
      <p:ext uri="{BB962C8B-B14F-4D97-AF65-F5344CB8AC3E}">
        <p14:creationId xmlns:p14="http://schemas.microsoft.com/office/powerpoint/2010/main" val="20932953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矩形 5121"/>
          <p:cNvSpPr>
            <a:spLocks noChangeArrowheads="1"/>
          </p:cNvSpPr>
          <p:nvPr/>
        </p:nvSpPr>
        <p:spPr bwMode="auto">
          <a:xfrm>
            <a:off x="684213" y="1728788"/>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3600" b="1" dirty="0">
                <a:latin typeface="黑体" panose="02010609060101010101" pitchFamily="49" charset="-122"/>
                <a:ea typeface="黑体" panose="02010609060101010101" pitchFamily="49" charset="-122"/>
              </a:rPr>
              <a:t>5</a:t>
            </a:r>
            <a:r>
              <a:rPr lang="zh-CN" altLang="en-US" sz="3600" b="1" dirty="0">
                <a:latin typeface="黑体" panose="02010609060101010101" pitchFamily="49" charset="-122"/>
                <a:ea typeface="黑体" panose="02010609060101010101" pitchFamily="49" charset="-122"/>
              </a:rPr>
              <a:t>－</a:t>
            </a:r>
            <a:r>
              <a:rPr lang="en-US" altLang="zh-CN" sz="3600" b="1" dirty="0">
                <a:latin typeface="黑体" panose="02010609060101010101" pitchFamily="49" charset="-122"/>
                <a:ea typeface="黑体" panose="02010609060101010101" pitchFamily="49" charset="-122"/>
              </a:rPr>
              <a:t>3</a:t>
            </a:r>
            <a:r>
              <a:rPr lang="zh-CN" altLang="en-US" sz="3600" b="1" dirty="0">
                <a:latin typeface="黑体" panose="02010609060101010101" pitchFamily="49" charset="-122"/>
                <a:ea typeface="黑体" panose="02010609060101010101" pitchFamily="49" charset="-122"/>
              </a:rPr>
              <a:t>　热力学第二定律的几种表述</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文本框 68609"/>
          <p:cNvSpPr txBox="1">
            <a:spLocks noChangeArrowheads="1"/>
          </p:cNvSpPr>
          <p:nvPr/>
        </p:nvSpPr>
        <p:spPr bwMode="auto">
          <a:xfrm>
            <a:off x="323850" y="188913"/>
            <a:ext cx="78454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4000" b="1">
                <a:latin typeface="黑体" panose="02010609060101010101" pitchFamily="49" charset="-122"/>
                <a:ea typeface="黑体" panose="02010609060101010101" pitchFamily="49" charset="-122"/>
              </a:rPr>
              <a:t>1.</a:t>
            </a:r>
            <a:r>
              <a:rPr lang="zh-CN" altLang="en-US" sz="4000" b="1">
                <a:latin typeface="黑体" panose="02010609060101010101" pitchFamily="49" charset="-122"/>
                <a:ea typeface="黑体" panose="02010609060101010101" pitchFamily="49" charset="-122"/>
              </a:rPr>
              <a:t>克劳修斯说法</a:t>
            </a:r>
          </a:p>
        </p:txBody>
      </p:sp>
      <p:sp>
        <p:nvSpPr>
          <p:cNvPr id="68611" name="文本框 68610"/>
          <p:cNvSpPr txBox="1">
            <a:spLocks noChangeArrowheads="1"/>
          </p:cNvSpPr>
          <p:nvPr/>
        </p:nvSpPr>
        <p:spPr bwMode="auto">
          <a:xfrm>
            <a:off x="611188" y="1196975"/>
            <a:ext cx="78454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dirty="0">
                <a:latin typeface="黑体" panose="02010609060101010101" pitchFamily="49" charset="-122"/>
                <a:ea typeface="黑体" panose="02010609060101010101" pitchFamily="49" charset="-122"/>
              </a:rPr>
              <a:t>不可能把热从低温物体传至高温物体而不引起</a:t>
            </a:r>
            <a:r>
              <a:rPr lang="zh-CN" altLang="en-US" sz="3600" b="1" dirty="0" smtClean="0">
                <a:latin typeface="黑体" panose="02010609060101010101" pitchFamily="49" charset="-122"/>
                <a:ea typeface="黑体" panose="02010609060101010101" pitchFamily="49" charset="-122"/>
              </a:rPr>
              <a:t>其他变化</a:t>
            </a:r>
            <a:r>
              <a:rPr lang="zh-CN" altLang="en-US" sz="3600" b="1" dirty="0">
                <a:latin typeface="黑体" panose="02010609060101010101" pitchFamily="49" charset="-122"/>
                <a:ea typeface="黑体" panose="02010609060101010101" pitchFamily="49" charset="-122"/>
              </a:rPr>
              <a:t>。</a:t>
            </a:r>
          </a:p>
        </p:txBody>
      </p:sp>
      <p:grpSp>
        <p:nvGrpSpPr>
          <p:cNvPr id="68612" name="组合 68611"/>
          <p:cNvGrpSpPr/>
          <p:nvPr/>
        </p:nvGrpSpPr>
        <p:grpSpPr bwMode="auto">
          <a:xfrm>
            <a:off x="4932369" y="2492375"/>
            <a:ext cx="2782890" cy="3662363"/>
            <a:chOff x="3918" y="1440"/>
            <a:chExt cx="1753" cy="2307"/>
          </a:xfrm>
        </p:grpSpPr>
        <p:pic>
          <p:nvPicPr>
            <p:cNvPr id="29700" name="图片 68612" descr="clausius_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8" y="1440"/>
              <a:ext cx="1650" cy="1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文本框 68613"/>
            <p:cNvSpPr txBox="1">
              <a:spLocks noChangeArrowheads="1"/>
            </p:cNvSpPr>
            <p:nvPr/>
          </p:nvSpPr>
          <p:spPr bwMode="auto">
            <a:xfrm>
              <a:off x="4048" y="3514"/>
              <a:ext cx="162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t>克劳修斯（</a:t>
              </a:r>
              <a:r>
                <a:rPr lang="en-US" altLang="zh-CN" dirty="0"/>
                <a:t>1822-1888</a:t>
              </a:r>
              <a:r>
                <a:rPr lang="zh-CN" altLang="en-US" dirty="0"/>
                <a:t>）</a:t>
              </a:r>
            </a:p>
          </p:txBody>
        </p:sp>
      </p:grpSp>
    </p:spTree>
    <p:custDataLst>
      <p:tags r:id="rId1"/>
    </p:custDataLst>
    <p:extLst>
      <p:ext uri="{BB962C8B-B14F-4D97-AF65-F5344CB8AC3E}">
        <p14:creationId xmlns:p14="http://schemas.microsoft.com/office/powerpoint/2010/main" val="17255458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68611">
                                            <p:txEl>
                                              <p:pRg st="0" end="0"/>
                                            </p:txEl>
                                          </p:spTgt>
                                        </p:tgtEl>
                                        <p:attrNameLst>
                                          <p:attrName>style.visibility</p:attrName>
                                        </p:attrNameLst>
                                      </p:cBhvr>
                                      <p:to>
                                        <p:strVal val="visible"/>
                                      </p:to>
                                    </p:set>
                                    <p:animEffect transition="in" filter="wipe(up)">
                                      <p:cBhvr>
                                        <p:cTn id="7" dur="75"/>
                                        <p:tgtEl>
                                          <p:spTgt spid="686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8612"/>
                                        </p:tgtEl>
                                        <p:attrNameLst>
                                          <p:attrName>style.visibility</p:attrName>
                                        </p:attrNameLst>
                                      </p:cBhvr>
                                      <p:to>
                                        <p:strVal val="visible"/>
                                      </p:to>
                                    </p:set>
                                    <p:animEffect transition="in" filter="blinds(horizontal)">
                                      <p:cBhvr>
                                        <p:cTn id="12" dur="500"/>
                                        <p:tgtEl>
                                          <p:spTgt spid="68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文本框 69633"/>
          <p:cNvSpPr txBox="1">
            <a:spLocks noChangeArrowheads="1"/>
          </p:cNvSpPr>
          <p:nvPr/>
        </p:nvSpPr>
        <p:spPr bwMode="auto">
          <a:xfrm>
            <a:off x="533400" y="188913"/>
            <a:ext cx="78454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4000" b="1">
                <a:latin typeface="黑体" panose="02010609060101010101" pitchFamily="49" charset="-122"/>
                <a:ea typeface="黑体" panose="02010609060101010101" pitchFamily="49" charset="-122"/>
              </a:rPr>
              <a:t>2.</a:t>
            </a:r>
            <a:r>
              <a:rPr lang="zh-CN" altLang="en-US" sz="4000" b="1">
                <a:latin typeface="黑体" panose="02010609060101010101" pitchFamily="49" charset="-122"/>
                <a:ea typeface="黑体" panose="02010609060101010101" pitchFamily="49" charset="-122"/>
              </a:rPr>
              <a:t>开尔文说法</a:t>
            </a:r>
          </a:p>
        </p:txBody>
      </p:sp>
      <p:sp>
        <p:nvSpPr>
          <p:cNvPr id="69635" name="文本框 69634"/>
          <p:cNvSpPr txBox="1">
            <a:spLocks noChangeArrowheads="1"/>
          </p:cNvSpPr>
          <p:nvPr/>
        </p:nvSpPr>
        <p:spPr bwMode="auto">
          <a:xfrm>
            <a:off x="3851275" y="1328738"/>
            <a:ext cx="489585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dirty="0">
                <a:latin typeface="黑体" panose="02010609060101010101" pitchFamily="49" charset="-122"/>
                <a:ea typeface="黑体" panose="02010609060101010101" pitchFamily="49" charset="-122"/>
              </a:rPr>
              <a:t>不可能从单一热源取热，使之</a:t>
            </a:r>
            <a:r>
              <a:rPr lang="zh-CN" altLang="en-US" sz="3600" b="1" dirty="0" smtClean="0">
                <a:latin typeface="黑体" panose="02010609060101010101" pitchFamily="49" charset="-122"/>
                <a:ea typeface="黑体" panose="02010609060101010101" pitchFamily="49" charset="-122"/>
              </a:rPr>
              <a:t>完全转换为功</a:t>
            </a:r>
            <a:r>
              <a:rPr lang="zh-CN" altLang="en-US" sz="3600" b="1" dirty="0">
                <a:latin typeface="黑体" panose="02010609060101010101" pitchFamily="49" charset="-122"/>
                <a:ea typeface="黑体" panose="02010609060101010101" pitchFamily="49" charset="-122"/>
              </a:rPr>
              <a:t>而不引起</a:t>
            </a:r>
            <a:r>
              <a:rPr lang="zh-CN" altLang="en-US" sz="3600" b="1" dirty="0" smtClean="0">
                <a:latin typeface="黑体" panose="02010609060101010101" pitchFamily="49" charset="-122"/>
                <a:ea typeface="黑体" panose="02010609060101010101" pitchFamily="49" charset="-122"/>
              </a:rPr>
              <a:t>其他变化</a:t>
            </a:r>
            <a:r>
              <a:rPr lang="zh-CN" altLang="en-US" sz="3600" b="1" dirty="0">
                <a:latin typeface="黑体" panose="02010609060101010101" pitchFamily="49" charset="-122"/>
                <a:ea typeface="黑体" panose="02010609060101010101" pitchFamily="49" charset="-122"/>
              </a:rPr>
              <a:t>。 </a:t>
            </a:r>
          </a:p>
        </p:txBody>
      </p:sp>
      <p:pic>
        <p:nvPicPr>
          <p:cNvPr id="69636" name="图片 69635" descr="lord_kelvin_photograp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1341438"/>
            <a:ext cx="2805113"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矩形 69636"/>
          <p:cNvSpPr>
            <a:spLocks noChangeArrowheads="1"/>
          </p:cNvSpPr>
          <p:nvPr/>
        </p:nvSpPr>
        <p:spPr bwMode="auto">
          <a:xfrm>
            <a:off x="3779838" y="3500438"/>
            <a:ext cx="47529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另一种形式是普朗克说法：不可能制造一部机器，它在循环动作中把一重物升高而同时使一热库冷却 </a:t>
            </a:r>
          </a:p>
        </p:txBody>
      </p:sp>
      <p:sp>
        <p:nvSpPr>
          <p:cNvPr id="69638" name="矩形 69637"/>
          <p:cNvSpPr>
            <a:spLocks noChangeArrowheads="1"/>
          </p:cNvSpPr>
          <p:nvPr/>
        </p:nvSpPr>
        <p:spPr bwMode="auto">
          <a:xfrm>
            <a:off x="1116013" y="5731997"/>
            <a:ext cx="61366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latin typeface="黑体" panose="02010609060101010101" pitchFamily="49" charset="-122"/>
                <a:ea typeface="黑体" panose="02010609060101010101" pitchFamily="49" charset="-122"/>
              </a:rPr>
              <a:t>此类说法统称为开尔文</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普朗克说法 </a:t>
            </a:r>
          </a:p>
        </p:txBody>
      </p:sp>
      <p:sp>
        <p:nvSpPr>
          <p:cNvPr id="8" name="文本框 68613"/>
          <p:cNvSpPr txBox="1">
            <a:spLocks noChangeArrowheads="1"/>
          </p:cNvSpPr>
          <p:nvPr/>
        </p:nvSpPr>
        <p:spPr bwMode="auto">
          <a:xfrm>
            <a:off x="878440" y="4928156"/>
            <a:ext cx="23455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t>开尔文（</a:t>
            </a:r>
            <a:r>
              <a:rPr lang="en-US" altLang="zh-CN" dirty="0" smtClean="0"/>
              <a:t>1824-1907</a:t>
            </a:r>
            <a:r>
              <a:rPr lang="zh-CN" altLang="en-US" dirty="0" smtClean="0"/>
              <a:t>）</a:t>
            </a:r>
            <a:endParaRPr lang="zh-CN" altLang="en-US" dirty="0"/>
          </a:p>
        </p:txBody>
      </p:sp>
    </p:spTree>
    <p:custDataLst>
      <p:tags r:id="rId1"/>
    </p:custDataLst>
    <p:extLst>
      <p:ext uri="{BB962C8B-B14F-4D97-AF65-F5344CB8AC3E}">
        <p14:creationId xmlns:p14="http://schemas.microsoft.com/office/powerpoint/2010/main" val="34004686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blinds(horizontal)">
                                      <p:cBhvr>
                                        <p:cTn id="7" dur="500"/>
                                        <p:tgtEl>
                                          <p:spTgt spid="69636"/>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5" presetClass="entr" presetSubtype="0" fill="hold" grpId="0" nodeType="clickEffect">
                                  <p:stCondLst>
                                    <p:cond delay="0"/>
                                  </p:stCondLst>
                                  <p:childTnLst>
                                    <p:set>
                                      <p:cBhvr>
                                        <p:cTn id="13" dur="1" fill="hold">
                                          <p:stCondLst>
                                            <p:cond delay="0"/>
                                          </p:stCondLst>
                                        </p:cTn>
                                        <p:tgtEl>
                                          <p:spTgt spid="69635"/>
                                        </p:tgtEl>
                                        <p:attrNameLst>
                                          <p:attrName>style.visibility</p:attrName>
                                        </p:attrNameLst>
                                      </p:cBhvr>
                                      <p:to>
                                        <p:strVal val="visible"/>
                                      </p:to>
                                    </p:set>
                                    <p:anim calcmode="lin" valueType="num">
                                      <p:cBhvr>
                                        <p:cTn id="14" dur="500" decel="50000" fill="hold">
                                          <p:stCondLst>
                                            <p:cond delay="0"/>
                                          </p:stCondLst>
                                        </p:cTn>
                                        <p:tgtEl>
                                          <p:spTgt spid="69635"/>
                                        </p:tgtEl>
                                        <p:attrNameLst>
                                          <p:attrName>style.rotation</p:attrName>
                                        </p:attrNameLst>
                                      </p:cBhvr>
                                      <p:tavLst>
                                        <p:tav tm="0">
                                          <p:val>
                                            <p:fltVal val="-90"/>
                                          </p:val>
                                        </p:tav>
                                        <p:tav tm="100000">
                                          <p:val>
                                            <p:fltVal val="0"/>
                                          </p:val>
                                        </p:tav>
                                      </p:tavLst>
                                    </p:anim>
                                    <p:anim calcmode="lin" valueType="num">
                                      <p:cBhvr>
                                        <p:cTn id="15" dur="500" decel="50000" fill="hold">
                                          <p:stCondLst>
                                            <p:cond delay="0"/>
                                          </p:stCondLst>
                                        </p:cTn>
                                        <p:tgtEl>
                                          <p:spTgt spid="69635"/>
                                        </p:tgtEl>
                                        <p:attrNameLst>
                                          <p:attrName>ppt_w</p:attrName>
                                        </p:attrNameLst>
                                      </p:cBhvr>
                                      <p:tavLst>
                                        <p:tav tm="0">
                                          <p:val>
                                            <p:strVal val="#ppt_w"/>
                                          </p:val>
                                        </p:tav>
                                        <p:tav tm="100000">
                                          <p:val>
                                            <p:strVal val="#ppt_w*.05"/>
                                          </p:val>
                                        </p:tav>
                                      </p:tavLst>
                                    </p:anim>
                                    <p:anim calcmode="lin" valueType="num">
                                      <p:cBhvr>
                                        <p:cTn id="16" dur="500" accel="50000" fill="hold">
                                          <p:stCondLst>
                                            <p:cond delay="500"/>
                                          </p:stCondLst>
                                        </p:cTn>
                                        <p:tgtEl>
                                          <p:spTgt spid="69635"/>
                                        </p:tgtEl>
                                        <p:attrNameLst>
                                          <p:attrName>ppt_w</p:attrName>
                                        </p:attrNameLst>
                                      </p:cBhvr>
                                      <p:tavLst>
                                        <p:tav tm="0">
                                          <p:val>
                                            <p:strVal val="#ppt_w*.05"/>
                                          </p:val>
                                        </p:tav>
                                        <p:tav tm="100000">
                                          <p:val>
                                            <p:strVal val="#ppt_w"/>
                                          </p:val>
                                        </p:tav>
                                      </p:tavLst>
                                    </p:anim>
                                    <p:anim calcmode="lin" valueType="num">
                                      <p:cBhvr>
                                        <p:cTn id="17" dur="1000" fill="hold"/>
                                        <p:tgtEl>
                                          <p:spTgt spid="69635"/>
                                        </p:tgtEl>
                                        <p:attrNameLst>
                                          <p:attrName>ppt_h</p:attrName>
                                        </p:attrNameLst>
                                      </p:cBhvr>
                                      <p:tavLst>
                                        <p:tav tm="0">
                                          <p:val>
                                            <p:strVal val="#ppt_h"/>
                                          </p:val>
                                        </p:tav>
                                        <p:tav tm="100000">
                                          <p:val>
                                            <p:strVal val="#ppt_h"/>
                                          </p:val>
                                        </p:tav>
                                      </p:tavLst>
                                    </p:anim>
                                    <p:anim calcmode="lin" valueType="num">
                                      <p:cBhvr>
                                        <p:cTn id="18" dur="500" decel="50000" fill="hold">
                                          <p:stCondLst>
                                            <p:cond delay="0"/>
                                          </p:stCondLst>
                                        </p:cTn>
                                        <p:tgtEl>
                                          <p:spTgt spid="69635"/>
                                        </p:tgtEl>
                                        <p:attrNameLst>
                                          <p:attrName>ppt_x</p:attrName>
                                        </p:attrNameLst>
                                      </p:cBhvr>
                                      <p:tavLst>
                                        <p:tav tm="0">
                                          <p:val>
                                            <p:strVal val="#ppt_x+.4"/>
                                          </p:val>
                                        </p:tav>
                                        <p:tav tm="100000">
                                          <p:val>
                                            <p:strVal val="#ppt_x"/>
                                          </p:val>
                                        </p:tav>
                                      </p:tavLst>
                                    </p:anim>
                                    <p:anim calcmode="lin" valueType="num">
                                      <p:cBhvr>
                                        <p:cTn id="19" dur="500" decel="50000" fill="hold">
                                          <p:stCondLst>
                                            <p:cond delay="0"/>
                                          </p:stCondLst>
                                        </p:cTn>
                                        <p:tgtEl>
                                          <p:spTgt spid="69635"/>
                                        </p:tgtEl>
                                        <p:attrNameLst>
                                          <p:attrName>ppt_y</p:attrName>
                                        </p:attrNameLst>
                                      </p:cBhvr>
                                      <p:tavLst>
                                        <p:tav tm="0">
                                          <p:val>
                                            <p:strVal val="#ppt_y-.2"/>
                                          </p:val>
                                        </p:tav>
                                        <p:tav tm="100000">
                                          <p:val>
                                            <p:strVal val="#ppt_y+.1"/>
                                          </p:val>
                                        </p:tav>
                                      </p:tavLst>
                                    </p:anim>
                                    <p:anim calcmode="lin" valueType="num">
                                      <p:cBhvr>
                                        <p:cTn id="20" dur="500" accel="50000" fill="hold">
                                          <p:stCondLst>
                                            <p:cond delay="500"/>
                                          </p:stCondLst>
                                        </p:cTn>
                                        <p:tgtEl>
                                          <p:spTgt spid="69635"/>
                                        </p:tgtEl>
                                        <p:attrNameLst>
                                          <p:attrName>ppt_y</p:attrName>
                                        </p:attrNameLst>
                                      </p:cBhvr>
                                      <p:tavLst>
                                        <p:tav tm="0">
                                          <p:val>
                                            <p:strVal val="#ppt_y+.1"/>
                                          </p:val>
                                        </p:tav>
                                        <p:tav tm="100000">
                                          <p:val>
                                            <p:strVal val="#ppt_y"/>
                                          </p:val>
                                        </p:tav>
                                      </p:tavLst>
                                    </p:anim>
                                    <p:animEffect transition="in" filter="fade">
                                      <p:cBhvr>
                                        <p:cTn id="21" dur="1000" decel="50000">
                                          <p:stCondLst>
                                            <p:cond delay="0"/>
                                          </p:stCondLst>
                                        </p:cTn>
                                        <p:tgtEl>
                                          <p:spTgt spid="6963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9637"/>
                                        </p:tgtEl>
                                        <p:attrNameLst>
                                          <p:attrName>style.visibility</p:attrName>
                                        </p:attrNameLst>
                                      </p:cBhvr>
                                      <p:to>
                                        <p:strVal val="visible"/>
                                      </p:to>
                                    </p:set>
                                    <p:animEffect transition="in" filter="blinds(horizontal)">
                                      <p:cBhvr>
                                        <p:cTn id="26" dur="500"/>
                                        <p:tgtEl>
                                          <p:spTgt spid="6963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9638"/>
                                        </p:tgtEl>
                                        <p:attrNameLst>
                                          <p:attrName>style.visibility</p:attrName>
                                        </p:attrNameLst>
                                      </p:cBhvr>
                                      <p:to>
                                        <p:strVal val="visible"/>
                                      </p:to>
                                    </p:set>
                                    <p:animEffect transition="in" filter="blinds(horizontal)">
                                      <p:cBhvr>
                                        <p:cTn id="31" dur="500"/>
                                        <p:tgtEl>
                                          <p:spTgt spid="69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p:bldP spid="69637" grpId="0"/>
      <p:bldP spid="69638"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文本框 141313"/>
          <p:cNvSpPr txBox="1">
            <a:spLocks noChangeArrowheads="1"/>
          </p:cNvSpPr>
          <p:nvPr/>
        </p:nvSpPr>
        <p:spPr bwMode="auto">
          <a:xfrm>
            <a:off x="533400" y="457200"/>
            <a:ext cx="7845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dirty="0">
                <a:latin typeface="黑体" panose="02010609060101010101" pitchFamily="49" charset="-122"/>
                <a:ea typeface="黑体" panose="02010609060101010101" pitchFamily="49" charset="-122"/>
              </a:rPr>
              <a:t>克氏说法和开氏说法的几点说明</a:t>
            </a:r>
            <a:endParaRPr lang="en-US" altLang="zh-CN" sz="3600" b="1" dirty="0">
              <a:latin typeface="黑体" panose="02010609060101010101" pitchFamily="49" charset="-122"/>
              <a:ea typeface="黑体" panose="02010609060101010101" pitchFamily="49" charset="-122"/>
            </a:endParaRPr>
          </a:p>
        </p:txBody>
      </p:sp>
      <p:sp>
        <p:nvSpPr>
          <p:cNvPr id="31746" name="矩形 141314"/>
          <p:cNvSpPr>
            <a:spLocks noChangeArrowheads="1"/>
          </p:cNvSpPr>
          <p:nvPr/>
        </p:nvSpPr>
        <p:spPr bwMode="auto">
          <a:xfrm>
            <a:off x="827088" y="1628775"/>
            <a:ext cx="76327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4000" b="1">
                <a:solidFill>
                  <a:srgbClr val="0000FF"/>
                </a:solidFill>
                <a:latin typeface="黑体" panose="02010609060101010101" pitchFamily="49" charset="-122"/>
                <a:ea typeface="黑体" panose="02010609060101010101" pitchFamily="49" charset="-122"/>
              </a:rPr>
              <a:t>1</a:t>
            </a:r>
            <a:r>
              <a:rPr lang="zh-CN" altLang="en-US" sz="4000" b="1">
                <a:solidFill>
                  <a:srgbClr val="0000FF"/>
                </a:solidFill>
                <a:latin typeface="黑体" panose="02010609060101010101" pitchFamily="49" charset="-122"/>
                <a:ea typeface="黑体" panose="02010609060101010101" pitchFamily="49" charset="-122"/>
              </a:rPr>
              <a:t>、什么是“单一热源” ？</a:t>
            </a:r>
            <a:endParaRPr lang="zh-CN" altLang="en-US" sz="4000" b="1">
              <a:solidFill>
                <a:srgbClr val="0000FF"/>
              </a:solidFill>
            </a:endParaRPr>
          </a:p>
        </p:txBody>
      </p:sp>
      <p:sp>
        <p:nvSpPr>
          <p:cNvPr id="31747" name="矩形 141315"/>
          <p:cNvSpPr>
            <a:spLocks noChangeArrowheads="1"/>
          </p:cNvSpPr>
          <p:nvPr/>
        </p:nvSpPr>
        <p:spPr bwMode="auto">
          <a:xfrm>
            <a:off x="611188" y="3033713"/>
            <a:ext cx="7993062"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温度均匀并且恒定不变的热源。</a:t>
            </a:r>
          </a:p>
          <a:p>
            <a:r>
              <a:rPr lang="zh-CN" altLang="en-US" sz="3200" b="1" dirty="0">
                <a:latin typeface="黑体" panose="02010609060101010101" pitchFamily="49" charset="-122"/>
                <a:ea typeface="黑体" panose="02010609060101010101" pitchFamily="49" charset="-122"/>
              </a:rPr>
              <a:t>否则，就相当于有若干个热源了，工作物质可由热源中温度较高的一部分吸热而向热源中温度较低的另一部分</a:t>
            </a:r>
            <a:r>
              <a:rPr lang="zh-CN" altLang="en-US" sz="3200" b="1" dirty="0" smtClean="0">
                <a:latin typeface="黑体" panose="02010609060101010101" pitchFamily="49" charset="-122"/>
                <a:ea typeface="黑体" panose="02010609060101010101" pitchFamily="49" charset="-122"/>
              </a:rPr>
              <a:t>放热</a:t>
            </a:r>
            <a:r>
              <a:rPr lang="zh-CN" altLang="en-US" sz="3200" b="1" dirty="0">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33763110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矩形 78851"/>
          <p:cNvSpPr>
            <a:spLocks noChangeArrowheads="1"/>
          </p:cNvSpPr>
          <p:nvPr/>
        </p:nvSpPr>
        <p:spPr bwMode="auto">
          <a:xfrm>
            <a:off x="827088" y="2606675"/>
            <a:ext cx="73453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3200" b="1" dirty="0">
                <a:solidFill>
                  <a:srgbClr val="0000FF"/>
                </a:solidFill>
                <a:latin typeface="黑体" panose="02010609060101010101" pitchFamily="49" charset="-122"/>
                <a:ea typeface="黑体" panose="02010609060101010101" pitchFamily="49" charset="-122"/>
              </a:rPr>
              <a:t>2</a:t>
            </a:r>
            <a:r>
              <a:rPr lang="zh-CN" altLang="en-US" sz="3200" b="1" dirty="0">
                <a:solidFill>
                  <a:srgbClr val="0000FF"/>
                </a:solidFill>
                <a:latin typeface="黑体" panose="02010609060101010101" pitchFamily="49" charset="-122"/>
                <a:ea typeface="黑体" panose="02010609060101010101" pitchFamily="49" charset="-122"/>
              </a:rPr>
              <a:t>、什么是</a:t>
            </a:r>
            <a:r>
              <a:rPr lang="zh-CN" altLang="en-US" sz="3200" b="1" dirty="0" smtClean="0">
                <a:solidFill>
                  <a:srgbClr val="0000FF"/>
                </a:solidFill>
                <a:latin typeface="黑体" panose="02010609060101010101" pitchFamily="49" charset="-122"/>
                <a:ea typeface="黑体" panose="02010609060101010101" pitchFamily="49" charset="-122"/>
              </a:rPr>
              <a:t>“其他变化” </a:t>
            </a:r>
            <a:r>
              <a:rPr lang="zh-CN" altLang="en-US" sz="3200" b="1" dirty="0">
                <a:solidFill>
                  <a:srgbClr val="0000FF"/>
                </a:solidFill>
                <a:latin typeface="黑体" panose="02010609060101010101" pitchFamily="49" charset="-122"/>
                <a:ea typeface="黑体" panose="02010609060101010101" pitchFamily="49" charset="-122"/>
              </a:rPr>
              <a:t>？</a:t>
            </a:r>
            <a:endParaRPr lang="zh-CN" altLang="en-US" sz="3200" b="1" dirty="0">
              <a:solidFill>
                <a:srgbClr val="0000FF"/>
              </a:solidFill>
            </a:endParaRPr>
          </a:p>
        </p:txBody>
      </p:sp>
      <p:sp>
        <p:nvSpPr>
          <p:cNvPr id="78853" name="矩形 78852"/>
          <p:cNvSpPr>
            <a:spLocks noChangeArrowheads="1"/>
          </p:cNvSpPr>
          <p:nvPr/>
        </p:nvSpPr>
        <p:spPr bwMode="auto">
          <a:xfrm>
            <a:off x="539750" y="3284538"/>
            <a:ext cx="79930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克氏说法中：</a:t>
            </a:r>
            <a:r>
              <a:rPr lang="zh-CN" altLang="en-US" sz="2400" b="1" dirty="0" smtClean="0">
                <a:latin typeface="黑体" panose="02010609060101010101" pitchFamily="49" charset="-122"/>
                <a:ea typeface="黑体" panose="02010609060101010101" pitchFamily="49" charset="-122"/>
              </a:rPr>
              <a:t>其他变化</a:t>
            </a:r>
            <a:r>
              <a:rPr lang="zh-CN" altLang="en-US" sz="2400" b="1" dirty="0">
                <a:latin typeface="黑体" panose="02010609060101010101" pitchFamily="49" charset="-122"/>
                <a:ea typeface="黑体" panose="02010609060101010101" pitchFamily="49" charset="-122"/>
              </a:rPr>
              <a:t>是指</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除了“热量从低温物体传向高温物体</a:t>
            </a:r>
            <a:r>
              <a:rPr lang="zh-CN" altLang="en-US"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”这一变化以外的</a:t>
            </a:r>
            <a:r>
              <a:rPr lang="zh-CN" altLang="en-US" sz="2400" b="1" dirty="0" smtClean="0">
                <a:latin typeface="黑体" panose="02010609060101010101" pitchFamily="49" charset="-122"/>
                <a:ea typeface="黑体" panose="02010609060101010101" pitchFamily="49" charset="-122"/>
              </a:rPr>
              <a:t>其他任何</a:t>
            </a:r>
            <a:r>
              <a:rPr lang="zh-CN" altLang="en-US" sz="2400" b="1" dirty="0">
                <a:latin typeface="黑体" panose="02010609060101010101" pitchFamily="49" charset="-122"/>
                <a:ea typeface="黑体" panose="02010609060101010101" pitchFamily="49" charset="-122"/>
              </a:rPr>
              <a:t>（包括系统与外界）变化  </a:t>
            </a:r>
          </a:p>
        </p:txBody>
      </p:sp>
      <p:sp>
        <p:nvSpPr>
          <p:cNvPr id="32771" name="文本框 78854"/>
          <p:cNvSpPr txBox="1">
            <a:spLocks noChangeArrowheads="1"/>
          </p:cNvSpPr>
          <p:nvPr/>
        </p:nvSpPr>
        <p:spPr bwMode="auto">
          <a:xfrm>
            <a:off x="395288" y="260350"/>
            <a:ext cx="81375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imes New Roman" panose="02020603050405020304" pitchFamily="18" charset="0"/>
                <a:ea typeface="黑体" panose="02010609060101010101" pitchFamily="49" charset="-122"/>
              </a:rPr>
              <a:t>不可能把热从低温物体传至高温物体而不引起</a:t>
            </a:r>
            <a:r>
              <a:rPr lang="zh-CN" altLang="en-US" sz="2800" b="1" dirty="0" smtClean="0">
                <a:solidFill>
                  <a:srgbClr val="FF0000"/>
                </a:solidFill>
                <a:latin typeface="Times New Roman" panose="02020603050405020304" pitchFamily="18" charset="0"/>
                <a:ea typeface="黑体" panose="02010609060101010101" pitchFamily="49" charset="-122"/>
              </a:rPr>
              <a:t>其他变化</a:t>
            </a:r>
            <a:r>
              <a:rPr lang="zh-CN" altLang="en-US" sz="2800" b="1" dirty="0">
                <a:latin typeface="Times New Roman" panose="02020603050405020304" pitchFamily="18" charset="0"/>
                <a:ea typeface="黑体" panose="02010609060101010101" pitchFamily="49" charset="-122"/>
              </a:rPr>
              <a:t>。</a:t>
            </a:r>
          </a:p>
        </p:txBody>
      </p:sp>
      <p:sp>
        <p:nvSpPr>
          <p:cNvPr id="32772" name="文本框 78856"/>
          <p:cNvSpPr txBox="1">
            <a:spLocks noChangeArrowheads="1"/>
          </p:cNvSpPr>
          <p:nvPr/>
        </p:nvSpPr>
        <p:spPr bwMode="auto">
          <a:xfrm>
            <a:off x="395288" y="1341438"/>
            <a:ext cx="80645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不可能从单一热源取热，使之完全</a:t>
            </a:r>
            <a:r>
              <a:rPr lang="zh-CN" altLang="en-US" sz="2800" b="1" dirty="0" smtClean="0">
                <a:latin typeface="黑体" panose="02010609060101010101" pitchFamily="49" charset="-122"/>
                <a:ea typeface="黑体" panose="02010609060101010101" pitchFamily="49" charset="-122"/>
              </a:rPr>
              <a:t>变为功</a:t>
            </a:r>
            <a:r>
              <a:rPr lang="zh-CN" altLang="en-US" sz="2800" b="1" dirty="0">
                <a:latin typeface="黑体" panose="02010609060101010101" pitchFamily="49" charset="-122"/>
                <a:ea typeface="黑体" panose="02010609060101010101" pitchFamily="49" charset="-122"/>
              </a:rPr>
              <a:t>而不引起</a:t>
            </a:r>
            <a:r>
              <a:rPr lang="zh-CN" altLang="en-US" sz="2800" b="1" dirty="0" smtClean="0">
                <a:solidFill>
                  <a:srgbClr val="FF0000"/>
                </a:solidFill>
                <a:latin typeface="黑体" panose="02010609060101010101" pitchFamily="49" charset="-122"/>
                <a:ea typeface="黑体" panose="02010609060101010101" pitchFamily="49" charset="-122"/>
              </a:rPr>
              <a:t>其他变化</a:t>
            </a:r>
            <a:r>
              <a:rPr lang="zh-CN" altLang="en-US" sz="2800" b="1" dirty="0">
                <a:latin typeface="黑体" panose="02010609060101010101" pitchFamily="49" charset="-122"/>
                <a:ea typeface="黑体" panose="02010609060101010101" pitchFamily="49" charset="-122"/>
              </a:rPr>
              <a:t>。 </a:t>
            </a:r>
          </a:p>
        </p:txBody>
      </p:sp>
      <p:sp>
        <p:nvSpPr>
          <p:cNvPr id="78858" name="矩形 78857"/>
          <p:cNvSpPr>
            <a:spLocks noChangeArrowheads="1"/>
          </p:cNvSpPr>
          <p:nvPr/>
        </p:nvSpPr>
        <p:spPr bwMode="auto">
          <a:xfrm>
            <a:off x="611188" y="4618038"/>
            <a:ext cx="79930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开氏说法中：</a:t>
            </a:r>
            <a:r>
              <a:rPr lang="zh-CN" altLang="en-US" sz="2400" b="1" dirty="0" smtClean="0">
                <a:latin typeface="黑体" panose="02010609060101010101" pitchFamily="49" charset="-122"/>
                <a:ea typeface="黑体" panose="02010609060101010101" pitchFamily="49" charset="-122"/>
              </a:rPr>
              <a:t>其他变化</a:t>
            </a:r>
            <a:r>
              <a:rPr lang="zh-CN" altLang="en-US" sz="2400" b="1" dirty="0">
                <a:latin typeface="黑体" panose="02010609060101010101" pitchFamily="49" charset="-122"/>
                <a:ea typeface="黑体" panose="02010609060101010101" pitchFamily="49" charset="-122"/>
              </a:rPr>
              <a:t>是指</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除了“由单一</a:t>
            </a:r>
            <a:r>
              <a:rPr lang="zh-CN" altLang="en-US" sz="2400" b="1" dirty="0" smtClean="0">
                <a:latin typeface="黑体" panose="02010609060101010101" pitchFamily="49" charset="-122"/>
                <a:ea typeface="黑体" panose="02010609060101010101" pitchFamily="49" charset="-122"/>
              </a:rPr>
              <a:t>热源取热</a:t>
            </a:r>
            <a:r>
              <a:rPr lang="zh-CN" altLang="en-US" sz="2400" b="1" dirty="0">
                <a:latin typeface="黑体" panose="02010609060101010101" pitchFamily="49" charset="-122"/>
                <a:ea typeface="黑体" panose="02010609060101010101" pitchFamily="49" charset="-122"/>
              </a:rPr>
              <a:t>全部</a:t>
            </a:r>
            <a:r>
              <a:rPr lang="zh-CN" altLang="en-US" sz="2400" b="1" dirty="0" smtClean="0">
                <a:latin typeface="黑体" panose="02010609060101010101" pitchFamily="49" charset="-122"/>
                <a:ea typeface="黑体" panose="02010609060101010101" pitchFamily="49" charset="-122"/>
              </a:rPr>
              <a:t>转换为</a:t>
            </a:r>
            <a:r>
              <a:rPr lang="zh-CN" altLang="en-US" sz="2400" b="1" dirty="0">
                <a:latin typeface="黑体" panose="02010609060101010101" pitchFamily="49" charset="-122"/>
                <a:ea typeface="黑体" panose="02010609060101010101" pitchFamily="49" charset="-122"/>
              </a:rPr>
              <a:t>功”这一变化以外的</a:t>
            </a:r>
            <a:r>
              <a:rPr lang="zh-CN" altLang="en-US" sz="2400" b="1" dirty="0" smtClean="0">
                <a:latin typeface="黑体" panose="02010609060101010101" pitchFamily="49" charset="-122"/>
                <a:ea typeface="黑体" panose="02010609060101010101" pitchFamily="49" charset="-122"/>
              </a:rPr>
              <a:t>其他任何</a:t>
            </a:r>
            <a:r>
              <a:rPr lang="zh-CN" altLang="en-US" sz="2400" b="1" dirty="0">
                <a:latin typeface="黑体" panose="02010609060101010101" pitchFamily="49" charset="-122"/>
                <a:ea typeface="黑体" panose="02010609060101010101" pitchFamily="49" charset="-122"/>
              </a:rPr>
              <a:t>（包括系统与外界）变化  </a:t>
            </a:r>
          </a:p>
        </p:txBody>
      </p:sp>
      <p:sp>
        <p:nvSpPr>
          <p:cNvPr id="78859" name="矩形 78858"/>
          <p:cNvSpPr>
            <a:spLocks noChangeArrowheads="1"/>
          </p:cNvSpPr>
          <p:nvPr/>
        </p:nvSpPr>
        <p:spPr bwMode="auto">
          <a:xfrm>
            <a:off x="643332" y="5964417"/>
            <a:ext cx="79287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000" b="1" dirty="0" smtClean="0">
                <a:latin typeface="黑体" panose="02010609060101010101" pitchFamily="49" charset="-122"/>
                <a:ea typeface="黑体" panose="02010609060101010101" pitchFamily="49" charset="-122"/>
              </a:rPr>
              <a:t>在下面的第</a:t>
            </a:r>
            <a:r>
              <a:rPr lang="en-US" altLang="zh-CN" sz="2000" b="1" dirty="0">
                <a:latin typeface="黑体" panose="02010609060101010101" pitchFamily="49" charset="-122"/>
                <a:ea typeface="黑体" panose="02010609060101010101" pitchFamily="49" charset="-122"/>
              </a:rPr>
              <a:t>3</a:t>
            </a:r>
            <a:r>
              <a:rPr lang="zh-CN" altLang="en-US" sz="2000" b="1" dirty="0" smtClean="0">
                <a:latin typeface="黑体" panose="02010609060101010101" pitchFamily="49" charset="-122"/>
                <a:ea typeface="黑体" panose="02010609060101010101" pitchFamily="49" charset="-122"/>
              </a:rPr>
              <a:t>和第</a:t>
            </a:r>
            <a:r>
              <a:rPr lang="en-US" altLang="zh-CN" sz="2000" b="1" dirty="0" smtClean="0">
                <a:latin typeface="黑体" panose="02010609060101010101" pitchFamily="49" charset="-122"/>
                <a:ea typeface="黑体" panose="02010609060101010101" pitchFamily="49" charset="-122"/>
              </a:rPr>
              <a:t>4</a:t>
            </a:r>
            <a:r>
              <a:rPr lang="zh-CN" altLang="en-US" sz="2000" b="1" dirty="0" smtClean="0">
                <a:latin typeface="黑体" panose="02010609060101010101" pitchFamily="49" charset="-122"/>
                <a:ea typeface="黑体" panose="02010609060101010101" pitchFamily="49" charset="-122"/>
              </a:rPr>
              <a:t>点说明中会通过例子对“其他变化”做进一步</a:t>
            </a:r>
            <a:r>
              <a:rPr lang="zh-CN" altLang="en-US" sz="2000" b="1" dirty="0">
                <a:latin typeface="黑体" panose="02010609060101010101" pitchFamily="49" charset="-122"/>
                <a:ea typeface="黑体" panose="02010609060101010101" pitchFamily="49" charset="-122"/>
              </a:rPr>
              <a:t>解释</a:t>
            </a:r>
            <a:endParaRPr lang="zh-CN" altLang="en-US" sz="2000" b="1" dirty="0"/>
          </a:p>
        </p:txBody>
      </p:sp>
    </p:spTree>
    <p:custDataLst>
      <p:tags r:id="rId1"/>
    </p:custDataLst>
    <p:extLst>
      <p:ext uri="{BB962C8B-B14F-4D97-AF65-F5344CB8AC3E}">
        <p14:creationId xmlns:p14="http://schemas.microsoft.com/office/powerpoint/2010/main" val="18907517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852"/>
                                        </p:tgtEl>
                                        <p:attrNameLst>
                                          <p:attrName>style.visibility</p:attrName>
                                        </p:attrNameLst>
                                      </p:cBhvr>
                                      <p:to>
                                        <p:strVal val="visible"/>
                                      </p:to>
                                    </p:set>
                                    <p:animEffect transition="in" filter="blinds(horizontal)">
                                      <p:cBhvr>
                                        <p:cTn id="7" dur="500"/>
                                        <p:tgtEl>
                                          <p:spTgt spid="788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8853"/>
                                        </p:tgtEl>
                                        <p:attrNameLst>
                                          <p:attrName>style.visibility</p:attrName>
                                        </p:attrNameLst>
                                      </p:cBhvr>
                                      <p:to>
                                        <p:strVal val="visible"/>
                                      </p:to>
                                    </p:set>
                                    <p:animEffect transition="in" filter="blinds(horizontal)">
                                      <p:cBhvr>
                                        <p:cTn id="12" dur="500"/>
                                        <p:tgtEl>
                                          <p:spTgt spid="78853"/>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8858"/>
                                        </p:tgtEl>
                                        <p:attrNameLst>
                                          <p:attrName>style.visibility</p:attrName>
                                        </p:attrNameLst>
                                      </p:cBhvr>
                                      <p:to>
                                        <p:strVal val="visible"/>
                                      </p:to>
                                    </p:set>
                                    <p:animEffect transition="in" filter="blinds(horizontal)">
                                      <p:cBhvr>
                                        <p:cTn id="15" dur="500"/>
                                        <p:tgtEl>
                                          <p:spTgt spid="7885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8859"/>
                                        </p:tgtEl>
                                        <p:attrNameLst>
                                          <p:attrName>style.visibility</p:attrName>
                                        </p:attrNameLst>
                                      </p:cBhvr>
                                      <p:to>
                                        <p:strVal val="visible"/>
                                      </p:to>
                                    </p:set>
                                    <p:animEffect transition="in" filter="blinds(horizontal)">
                                      <p:cBhvr>
                                        <p:cTn id="18" dur="500"/>
                                        <p:tgtEl>
                                          <p:spTgt spid="78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p:bldP spid="78853" grpId="0"/>
      <p:bldP spid="78858" grpId="0"/>
      <p:bldP spid="7885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矩形 142337"/>
          <p:cNvSpPr>
            <a:spLocks noChangeArrowheads="1"/>
          </p:cNvSpPr>
          <p:nvPr/>
        </p:nvSpPr>
        <p:spPr bwMode="auto">
          <a:xfrm>
            <a:off x="395288" y="303213"/>
            <a:ext cx="85693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3200" b="1">
                <a:solidFill>
                  <a:srgbClr val="0000FF"/>
                </a:solidFill>
                <a:latin typeface="黑体" panose="02010609060101010101" pitchFamily="49" charset="-122"/>
                <a:ea typeface="黑体" panose="02010609060101010101" pitchFamily="49" charset="-122"/>
              </a:rPr>
              <a:t>3</a:t>
            </a:r>
            <a:r>
              <a:rPr lang="zh-CN" altLang="en-US" sz="3200" b="1">
                <a:solidFill>
                  <a:srgbClr val="0000FF"/>
                </a:solidFill>
                <a:latin typeface="黑体" panose="02010609060101010101" pitchFamily="49" charset="-122"/>
                <a:ea typeface="黑体" panose="02010609060101010101" pitchFamily="49" charset="-122"/>
              </a:rPr>
              <a:t>、开氏说法是否就是“热不能完全变为功”？</a:t>
            </a:r>
            <a:r>
              <a:rPr lang="zh-CN" altLang="en-US" sz="3200">
                <a:solidFill>
                  <a:srgbClr val="0000FF"/>
                </a:solidFill>
              </a:rPr>
              <a:t> </a:t>
            </a:r>
          </a:p>
        </p:txBody>
      </p:sp>
      <p:sp>
        <p:nvSpPr>
          <p:cNvPr id="33794" name="文本框 142338"/>
          <p:cNvSpPr txBox="1">
            <a:spLocks noChangeArrowheads="1"/>
          </p:cNvSpPr>
          <p:nvPr/>
        </p:nvSpPr>
        <p:spPr bwMode="auto">
          <a:xfrm>
            <a:off x="4300607" y="1866900"/>
            <a:ext cx="389241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3200" b="1" dirty="0" smtClean="0">
                <a:latin typeface="黑体" panose="02010609060101010101" pitchFamily="49" charset="-122"/>
                <a:ea typeface="黑体" panose="02010609060101010101" pitchFamily="49" charset="-122"/>
              </a:rPr>
              <a:t>理想气体做定温</a:t>
            </a:r>
            <a:r>
              <a:rPr lang="zh-CN" altLang="en-US" sz="3200" b="1" dirty="0">
                <a:latin typeface="黑体" panose="02010609060101010101" pitchFamily="49" charset="-122"/>
                <a:ea typeface="黑体" panose="02010609060101010101" pitchFamily="49" charset="-122"/>
              </a:rPr>
              <a:t>膨胀</a:t>
            </a:r>
          </a:p>
        </p:txBody>
      </p:sp>
      <p:graphicFrame>
        <p:nvGraphicFramePr>
          <p:cNvPr id="33795" name="对象 142339"/>
          <p:cNvGraphicFramePr/>
          <p:nvPr/>
        </p:nvGraphicFramePr>
        <p:xfrm>
          <a:off x="5364163" y="2781300"/>
          <a:ext cx="1757362" cy="790575"/>
        </p:xfrm>
        <a:graphic>
          <a:graphicData uri="http://schemas.openxmlformats.org/presentationml/2006/ole">
            <mc:AlternateContent xmlns:mc="http://schemas.openxmlformats.org/markup-compatibility/2006">
              <mc:Choice xmlns:v="urn:schemas-microsoft-com:vml" Requires="v">
                <p:oleObj spid="_x0000_s45066" name="Equation" r:id="rId4" imgW="12192000" imgH="5486400" progId="Equation.DSMT4">
                  <p:embed/>
                </p:oleObj>
              </mc:Choice>
              <mc:Fallback>
                <p:oleObj name="Equation" r:id="rId4" imgW="12192000" imgH="5486400" progId="Equation.DSMT4">
                  <p:embed/>
                  <p:pic>
                    <p:nvPicPr>
                      <p:cNvPr id="33795" name="对象 142339"/>
                      <p:cNvPicPr>
                        <a:picLocks noChangeArrowheads="1"/>
                      </p:cNvPicPr>
                      <p:nvPr/>
                    </p:nvPicPr>
                    <p:blipFill>
                      <a:blip r:embed="rId5"/>
                      <a:srcRect/>
                      <a:stretch>
                        <a:fillRect/>
                      </a:stretch>
                    </p:blipFill>
                    <p:spPr bwMode="auto">
                      <a:xfrm>
                        <a:off x="5364163" y="2781300"/>
                        <a:ext cx="17573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3796" name="图片 1423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1341438"/>
            <a:ext cx="335280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2" name="矩形 142341"/>
          <p:cNvSpPr>
            <a:spLocks noChangeArrowheads="1"/>
          </p:cNvSpPr>
          <p:nvPr/>
        </p:nvSpPr>
        <p:spPr bwMode="auto">
          <a:xfrm>
            <a:off x="468313" y="4149725"/>
            <a:ext cx="792003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除了“由单一热源吸热全部</a:t>
            </a:r>
            <a:r>
              <a:rPr lang="zh-CN" altLang="en-US" sz="3200" b="1" dirty="0" smtClean="0">
                <a:latin typeface="黑体" panose="02010609060101010101" pitchFamily="49" charset="-122"/>
                <a:ea typeface="黑体" panose="02010609060101010101" pitchFamily="49" charset="-122"/>
              </a:rPr>
              <a:t>转换为</a:t>
            </a:r>
            <a:r>
              <a:rPr lang="zh-CN" altLang="en-US" sz="3200" b="1" dirty="0">
                <a:latin typeface="黑体" panose="02010609060101010101" pitchFamily="49" charset="-122"/>
                <a:ea typeface="黑体" panose="02010609060101010101" pitchFamily="49" charset="-122"/>
              </a:rPr>
              <a:t>功”这一变化以外，还将引起其它变化：系统（理想气体）的体积增加了，压力减小了。</a:t>
            </a:r>
          </a:p>
        </p:txBody>
      </p:sp>
    </p:spTree>
    <p:custDataLst>
      <p:tags r:id="rId2"/>
    </p:custDataLst>
    <p:extLst>
      <p:ext uri="{BB962C8B-B14F-4D97-AF65-F5344CB8AC3E}">
        <p14:creationId xmlns:p14="http://schemas.microsoft.com/office/powerpoint/2010/main" val="19796597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2342"/>
                                        </p:tgtEl>
                                        <p:attrNameLst>
                                          <p:attrName>style.visibility</p:attrName>
                                        </p:attrNameLst>
                                      </p:cBhvr>
                                      <p:to>
                                        <p:strVal val="visible"/>
                                      </p:to>
                                    </p:set>
                                    <p:animEffect transition="in" filter="blinds(horizontal)">
                                      <p:cBhvr>
                                        <p:cTn id="7" dur="500"/>
                                        <p:tgtEl>
                                          <p:spTgt spid="142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矩形 143361"/>
          <p:cNvSpPr>
            <a:spLocks noChangeArrowheads="1"/>
          </p:cNvSpPr>
          <p:nvPr/>
        </p:nvSpPr>
        <p:spPr bwMode="auto">
          <a:xfrm>
            <a:off x="395288" y="331788"/>
            <a:ext cx="8569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a:solidFill>
                  <a:srgbClr val="0000FF"/>
                </a:solidFill>
                <a:latin typeface="黑体" panose="02010609060101010101" pitchFamily="49" charset="-122"/>
                <a:ea typeface="黑体" panose="02010609060101010101" pitchFamily="49" charset="-122"/>
              </a:rPr>
              <a:t>4</a:t>
            </a:r>
            <a:r>
              <a:rPr lang="zh-CN" altLang="en-US" sz="2800" b="1">
                <a:solidFill>
                  <a:srgbClr val="0000FF"/>
                </a:solidFill>
                <a:latin typeface="黑体" panose="02010609060101010101" pitchFamily="49" charset="-122"/>
                <a:ea typeface="黑体" panose="02010609060101010101" pitchFamily="49" charset="-122"/>
              </a:rPr>
              <a:t>、克氏说法是否就是“热不能从低温传向高温”？</a:t>
            </a:r>
            <a:r>
              <a:rPr lang="zh-CN" altLang="en-US" sz="2800">
                <a:solidFill>
                  <a:srgbClr val="0000FF"/>
                </a:solidFill>
              </a:rPr>
              <a:t> </a:t>
            </a:r>
          </a:p>
        </p:txBody>
      </p:sp>
      <p:sp>
        <p:nvSpPr>
          <p:cNvPr id="34819" name="矩形 143363"/>
          <p:cNvSpPr>
            <a:spLocks noChangeArrowheads="1"/>
          </p:cNvSpPr>
          <p:nvPr/>
        </p:nvSpPr>
        <p:spPr bwMode="auto">
          <a:xfrm>
            <a:off x="3563938" y="1560384"/>
            <a:ext cx="511175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latin typeface="黑体" panose="02010609060101010101" pitchFamily="49" charset="-122"/>
                <a:ea typeface="黑体" panose="02010609060101010101" pitchFamily="49" charset="-122"/>
              </a:rPr>
              <a:t>在实现这一过程时，除了“热量从低温物体传向高温物体”这一变化以外，还将引起其它的变化：外界需要消耗一定数量的功</a:t>
            </a:r>
            <a:r>
              <a:rPr lang="zh-CN" altLang="en-US" sz="3200" dirty="0">
                <a:latin typeface="黑体" panose="02010609060101010101" pitchFamily="49" charset="-122"/>
                <a:ea typeface="黑体" panose="02010609060101010101" pitchFamily="49" charset="-122"/>
              </a:rPr>
              <a:t> </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174" y="1327015"/>
            <a:ext cx="3212870" cy="4389500"/>
          </a:xfrm>
          <a:prstGeom prst="rect">
            <a:avLst/>
          </a:prstGeom>
        </p:spPr>
      </p:pic>
    </p:spTree>
    <p:extLst>
      <p:ext uri="{BB962C8B-B14F-4D97-AF65-F5344CB8AC3E}">
        <p14:creationId xmlns:p14="http://schemas.microsoft.com/office/powerpoint/2010/main" val="41241314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1" name="组合 72705"/>
          <p:cNvGrpSpPr/>
          <p:nvPr/>
        </p:nvGrpSpPr>
        <p:grpSpPr bwMode="auto">
          <a:xfrm>
            <a:off x="228600" y="4724400"/>
            <a:ext cx="4038600" cy="1600200"/>
            <a:chOff x="144" y="2976"/>
            <a:chExt cx="2544" cy="1008"/>
          </a:xfrm>
        </p:grpSpPr>
        <p:sp>
          <p:nvSpPr>
            <p:cNvPr id="35842" name="上箭头 72706"/>
            <p:cNvSpPr>
              <a:spLocks noChangeArrowheads="1"/>
            </p:cNvSpPr>
            <p:nvPr/>
          </p:nvSpPr>
          <p:spPr bwMode="auto">
            <a:xfrm rot="10800000">
              <a:off x="1200" y="2976"/>
              <a:ext cx="336" cy="576"/>
            </a:xfrm>
            <a:prstGeom prst="upArrow">
              <a:avLst>
                <a:gd name="adj1" fmla="val 50000"/>
                <a:gd name="adj2" fmla="val 42841"/>
              </a:avLst>
            </a:prstGeom>
            <a:gradFill rotWithShape="1">
              <a:gsLst>
                <a:gs pos="0">
                  <a:srgbClr val="77AE26"/>
                </a:gs>
                <a:gs pos="100000">
                  <a:srgbClr val="BED998"/>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843" name="文本框 72707"/>
            <p:cNvSpPr txBox="1">
              <a:spLocks noChangeArrowheads="1"/>
            </p:cNvSpPr>
            <p:nvPr/>
          </p:nvSpPr>
          <p:spPr bwMode="auto">
            <a:xfrm>
              <a:off x="144" y="3696"/>
              <a:ext cx="2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ea typeface="黑体" panose="02010609060101010101" pitchFamily="49" charset="-122"/>
                </a:rPr>
                <a:t>从</a:t>
              </a:r>
              <a:r>
                <a:rPr lang="zh-CN" altLang="en-US" sz="2400" b="1">
                  <a:solidFill>
                    <a:srgbClr val="FF0000"/>
                  </a:solidFill>
                  <a:ea typeface="黑体" panose="02010609060101010101" pitchFamily="49" charset="-122"/>
                </a:rPr>
                <a:t>热量传递方向性</a:t>
              </a:r>
              <a:r>
                <a:rPr lang="zh-CN" altLang="en-US" sz="2400" b="1">
                  <a:ea typeface="黑体" panose="02010609060101010101" pitchFamily="49" charset="-122"/>
                </a:rPr>
                <a:t>角度描述</a:t>
              </a:r>
            </a:p>
          </p:txBody>
        </p:sp>
      </p:grpSp>
      <p:grpSp>
        <p:nvGrpSpPr>
          <p:cNvPr id="35844" name="组合 72708"/>
          <p:cNvGrpSpPr/>
          <p:nvPr/>
        </p:nvGrpSpPr>
        <p:grpSpPr bwMode="auto">
          <a:xfrm>
            <a:off x="5181600" y="4724400"/>
            <a:ext cx="3962400" cy="1600200"/>
            <a:chOff x="3264" y="2976"/>
            <a:chExt cx="2496" cy="1008"/>
          </a:xfrm>
        </p:grpSpPr>
        <p:sp>
          <p:nvSpPr>
            <p:cNvPr id="35845" name="上箭头 72709"/>
            <p:cNvSpPr>
              <a:spLocks noChangeArrowheads="1"/>
            </p:cNvSpPr>
            <p:nvPr/>
          </p:nvSpPr>
          <p:spPr bwMode="auto">
            <a:xfrm rot="10800000">
              <a:off x="4032" y="2976"/>
              <a:ext cx="336" cy="576"/>
            </a:xfrm>
            <a:prstGeom prst="upArrow">
              <a:avLst>
                <a:gd name="adj1" fmla="val 50000"/>
                <a:gd name="adj2" fmla="val 42841"/>
              </a:avLst>
            </a:prstGeom>
            <a:gradFill rotWithShape="1">
              <a:gsLst>
                <a:gs pos="0">
                  <a:srgbClr val="6E815B"/>
                </a:gs>
                <a:gs pos="100000">
                  <a:srgbClr val="C3CBBB"/>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846" name="文本框 72710"/>
            <p:cNvSpPr txBox="1">
              <a:spLocks noChangeArrowheads="1"/>
            </p:cNvSpPr>
            <p:nvPr/>
          </p:nvSpPr>
          <p:spPr bwMode="auto">
            <a:xfrm>
              <a:off x="3264" y="3696"/>
              <a:ext cx="24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ea typeface="黑体" panose="02010609060101010101" pitchFamily="49" charset="-122"/>
                </a:rPr>
                <a:t>从</a:t>
              </a:r>
              <a:r>
                <a:rPr lang="zh-CN" altLang="en-US" sz="2400" b="1">
                  <a:solidFill>
                    <a:srgbClr val="FF0000"/>
                  </a:solidFill>
                  <a:ea typeface="黑体" panose="02010609060101010101" pitchFamily="49" charset="-122"/>
                </a:rPr>
                <a:t>热功转换</a:t>
              </a:r>
              <a:r>
                <a:rPr lang="zh-CN" altLang="en-US" sz="2400" b="1">
                  <a:ea typeface="黑体" panose="02010609060101010101" pitchFamily="49" charset="-122"/>
                </a:rPr>
                <a:t>角度描述</a:t>
              </a:r>
            </a:p>
          </p:txBody>
        </p:sp>
      </p:grpSp>
      <p:sp>
        <p:nvSpPr>
          <p:cNvPr id="35847" name="矩形 72711"/>
          <p:cNvSpPr>
            <a:spLocks noChangeArrowheads="1"/>
          </p:cNvSpPr>
          <p:nvPr/>
        </p:nvSpPr>
        <p:spPr bwMode="auto">
          <a:xfrm>
            <a:off x="3657600" y="914400"/>
            <a:ext cx="1600200"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848" name="矩形 72712"/>
          <p:cNvSpPr>
            <a:spLocks noChangeArrowheads="1"/>
          </p:cNvSpPr>
          <p:nvPr/>
        </p:nvSpPr>
        <p:spPr bwMode="auto">
          <a:xfrm>
            <a:off x="381000" y="152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3200" b="1" dirty="0">
                <a:solidFill>
                  <a:schemeClr val="tx2"/>
                </a:solidFill>
                <a:latin typeface="黑体" panose="02010609060101010101" pitchFamily="49" charset="-122"/>
                <a:ea typeface="黑体" panose="02010609060101010101" pitchFamily="49" charset="-122"/>
              </a:rPr>
              <a:t>热力学第二定律的两种表述</a:t>
            </a:r>
          </a:p>
        </p:txBody>
      </p:sp>
      <p:sp>
        <p:nvSpPr>
          <p:cNvPr id="35849" name="矩形 72713"/>
          <p:cNvSpPr>
            <a:spLocks noChangeArrowheads="1"/>
          </p:cNvSpPr>
          <p:nvPr/>
        </p:nvSpPr>
        <p:spPr bwMode="auto">
          <a:xfrm>
            <a:off x="1752600" y="381000"/>
            <a:ext cx="5562600" cy="762000"/>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50" name="圆角矩形 72714"/>
          <p:cNvSpPr>
            <a:spLocks noChangeArrowheads="1"/>
          </p:cNvSpPr>
          <p:nvPr/>
        </p:nvSpPr>
        <p:spPr bwMode="auto">
          <a:xfrm>
            <a:off x="5486400" y="1785938"/>
            <a:ext cx="2438400" cy="2819400"/>
          </a:xfrm>
          <a:prstGeom prst="roundRect">
            <a:avLst>
              <a:gd name="adj" fmla="val 16667"/>
            </a:avLst>
          </a:prstGeom>
          <a:noFill/>
          <a:ln w="38100">
            <a:solidFill>
              <a:srgbClr val="003366"/>
            </a:solidFill>
            <a:rou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Verdana" panose="020B0604030504040204" pitchFamily="34" charset="0"/>
            </a:endParaRPr>
          </a:p>
        </p:txBody>
      </p:sp>
      <p:sp>
        <p:nvSpPr>
          <p:cNvPr id="35851" name="圆角矩形 72715"/>
          <p:cNvSpPr>
            <a:spLocks noChangeArrowheads="1"/>
          </p:cNvSpPr>
          <p:nvPr/>
        </p:nvSpPr>
        <p:spPr bwMode="auto">
          <a:xfrm>
            <a:off x="1143000" y="1785938"/>
            <a:ext cx="2209800" cy="2838450"/>
          </a:xfrm>
          <a:prstGeom prst="roundRect">
            <a:avLst>
              <a:gd name="adj" fmla="val 16667"/>
            </a:avLst>
          </a:prstGeom>
          <a:noFill/>
          <a:ln w="38100">
            <a:solidFill>
              <a:srgbClr val="003366"/>
            </a:solidFill>
            <a:rou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en-US">
              <a:latin typeface="Verdana" panose="020B0604030504040204" pitchFamily="34" charset="0"/>
            </a:endParaRPr>
          </a:p>
        </p:txBody>
      </p:sp>
      <p:sp>
        <p:nvSpPr>
          <p:cNvPr id="35852" name="任意多边形 72716"/>
          <p:cNvSpPr>
            <a:spLocks noChangeArrowheads="1"/>
          </p:cNvSpPr>
          <p:nvPr/>
        </p:nvSpPr>
        <p:spPr bwMode="auto">
          <a:xfrm>
            <a:off x="3124200" y="1328738"/>
            <a:ext cx="903288" cy="1241425"/>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77AE26"/>
              </a:gs>
              <a:gs pos="100000">
                <a:srgbClr val="A9CC75"/>
              </a:gs>
            </a:gsLst>
            <a:lin ang="0" scaled="1"/>
          </a:gradFill>
          <a:ln>
            <a:noFill/>
          </a:ln>
          <a:extLst>
            <a:ext uri="{91240B29-F687-4F45-9708-019B960494DF}">
              <a14:hiddenLine xmlns:a14="http://schemas.microsoft.com/office/drawing/2010/main" w="0">
                <a:solidFill>
                  <a:srgbClr val="000000"/>
                </a:solidFill>
                <a:round/>
              </a14:hiddenLine>
            </a:ext>
          </a:extLst>
        </p:spPr>
        <p:txBody>
          <a:bodyPr/>
          <a:lstStyle/>
          <a:p>
            <a:endParaRPr lang="zh-CN" altLang="en-US"/>
          </a:p>
        </p:txBody>
      </p:sp>
      <p:sp>
        <p:nvSpPr>
          <p:cNvPr id="35853" name="任意多边形 72717"/>
          <p:cNvSpPr>
            <a:spLocks noChangeArrowheads="1"/>
          </p:cNvSpPr>
          <p:nvPr/>
        </p:nvSpPr>
        <p:spPr bwMode="auto">
          <a:xfrm flipH="1">
            <a:off x="4735513" y="1328738"/>
            <a:ext cx="903287" cy="1273175"/>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6E815B"/>
              </a:gs>
              <a:gs pos="100000">
                <a:srgbClr val="D1D7CB"/>
              </a:gs>
            </a:gsLst>
            <a:lin ang="0" scaled="1"/>
          </a:gradFill>
          <a:ln>
            <a:noFill/>
          </a:ln>
          <a:extLst>
            <a:ext uri="{91240B29-F687-4F45-9708-019B960494DF}">
              <a14:hiddenLine xmlns:a14="http://schemas.microsoft.com/office/drawing/2010/main" w="0">
                <a:solidFill>
                  <a:srgbClr val="000000"/>
                </a:solidFill>
                <a:round/>
              </a14:hiddenLine>
            </a:ext>
          </a:extLst>
        </p:spPr>
        <p:txBody>
          <a:bodyPr/>
          <a:lstStyle/>
          <a:p>
            <a:endParaRPr lang="zh-CN" altLang="en-US"/>
          </a:p>
        </p:txBody>
      </p:sp>
      <p:sp>
        <p:nvSpPr>
          <p:cNvPr id="35854" name="文本框 72718"/>
          <p:cNvSpPr txBox="1">
            <a:spLocks noChangeArrowheads="1"/>
          </p:cNvSpPr>
          <p:nvPr/>
        </p:nvSpPr>
        <p:spPr bwMode="auto">
          <a:xfrm>
            <a:off x="1181101" y="2205038"/>
            <a:ext cx="21336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克劳修斯说法：不可能把热从低温物体传至高温物体而不引起其它变化</a:t>
            </a:r>
            <a:endParaRPr lang="en-US" altLang="zh-CN" sz="2400" b="1" dirty="0">
              <a:latin typeface="黑体" panose="02010609060101010101" pitchFamily="49" charset="-122"/>
              <a:ea typeface="黑体" panose="02010609060101010101" pitchFamily="49" charset="-122"/>
            </a:endParaRPr>
          </a:p>
          <a:p>
            <a:endParaRPr lang="zh-CN" altLang="en-US" sz="2400" b="1" dirty="0">
              <a:ea typeface="楷体_GB2312" pitchFamily="49" charset="-122"/>
            </a:endParaRPr>
          </a:p>
        </p:txBody>
      </p:sp>
      <p:sp>
        <p:nvSpPr>
          <p:cNvPr id="35855" name="文本框 72719"/>
          <p:cNvSpPr txBox="1">
            <a:spLocks noChangeArrowheads="1"/>
          </p:cNvSpPr>
          <p:nvPr/>
        </p:nvSpPr>
        <p:spPr bwMode="auto">
          <a:xfrm>
            <a:off x="5524500" y="2205038"/>
            <a:ext cx="23622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开尔文说法：不可能从单一热源取热，使之完全变为有用功而不引起其它变化</a:t>
            </a:r>
          </a:p>
        </p:txBody>
      </p:sp>
    </p:spTree>
    <p:extLst>
      <p:ext uri="{BB962C8B-B14F-4D97-AF65-F5344CB8AC3E}">
        <p14:creationId xmlns:p14="http://schemas.microsoft.com/office/powerpoint/2010/main" val="2016042041"/>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图片 73729" descr="bala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524000"/>
            <a:ext cx="3333750"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6" name="文本框 73730"/>
          <p:cNvSpPr txBox="1">
            <a:spLocks noChangeArrowheads="1"/>
          </p:cNvSpPr>
          <p:nvPr/>
        </p:nvSpPr>
        <p:spPr bwMode="auto">
          <a:xfrm>
            <a:off x="0" y="228600"/>
            <a:ext cx="8915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3600" b="1">
                <a:latin typeface="黑体" panose="02010609060101010101" pitchFamily="49" charset="-122"/>
                <a:ea typeface="黑体" panose="02010609060101010101" pitchFamily="49" charset="-122"/>
              </a:rPr>
              <a:t>克劳修斯说法和开尔文说法</a:t>
            </a:r>
          </a:p>
          <a:p>
            <a:pPr algn="ctr"/>
            <a:r>
              <a:rPr lang="zh-CN" altLang="en-US" sz="3600" b="1">
                <a:latin typeface="黑体" panose="02010609060101010101" pitchFamily="49" charset="-122"/>
                <a:ea typeface="黑体" panose="02010609060101010101" pitchFamily="49" charset="-122"/>
              </a:rPr>
              <a:t>是什么关系呢</a:t>
            </a:r>
            <a:r>
              <a:rPr lang="en-US" altLang="zh-CN" sz="3600" b="1">
                <a:latin typeface="黑体" panose="02010609060101010101" pitchFamily="49" charset="-122"/>
                <a:ea typeface="黑体" panose="02010609060101010101" pitchFamily="49" charset="-122"/>
              </a:rPr>
              <a:t>?</a:t>
            </a:r>
          </a:p>
        </p:txBody>
      </p:sp>
      <p:sp>
        <p:nvSpPr>
          <p:cNvPr id="73732" name="文本框 73731"/>
          <p:cNvSpPr txBox="1">
            <a:spLocks noChangeArrowheads="1"/>
          </p:cNvSpPr>
          <p:nvPr/>
        </p:nvSpPr>
        <p:spPr bwMode="auto">
          <a:xfrm>
            <a:off x="76200" y="5851525"/>
            <a:ext cx="8915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4000" b="1">
                <a:latin typeface="黑体" panose="02010609060101010101" pitchFamily="49" charset="-122"/>
                <a:ea typeface="黑体" panose="02010609060101010101" pitchFamily="49" charset="-122"/>
              </a:rPr>
              <a:t>这两种说法是</a:t>
            </a:r>
            <a:r>
              <a:rPr lang="zh-CN" altLang="en-US" sz="4000" b="1">
                <a:solidFill>
                  <a:srgbClr val="FF0000"/>
                </a:solidFill>
                <a:latin typeface="黑体" panose="02010609060101010101" pitchFamily="49" charset="-122"/>
                <a:ea typeface="黑体" panose="02010609060101010101" pitchFamily="49" charset="-122"/>
              </a:rPr>
              <a:t>等效的</a:t>
            </a:r>
          </a:p>
        </p:txBody>
      </p:sp>
      <p:pic>
        <p:nvPicPr>
          <p:cNvPr id="36868" name="图片 73732" descr="clausius_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124200"/>
            <a:ext cx="115728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图片 7373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24000" y="3124200"/>
            <a:ext cx="116681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4409415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animEffect transition="in" filter="blinds(horizontal)">
                                      <p:cBhvr>
                                        <p:cTn id="7" dur="500"/>
                                        <p:tgtEl>
                                          <p:spTgt spid="73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74753"/>
          <p:cNvSpPr>
            <a:spLocks noGrp="1" noChangeArrowheads="1"/>
          </p:cNvSpPr>
          <p:nvPr>
            <p:ph type="title"/>
          </p:nvPr>
        </p:nvSpPr>
        <p:spPr>
          <a:xfrm>
            <a:off x="457200" y="44450"/>
            <a:ext cx="8229600" cy="1143000"/>
          </a:xfrm>
        </p:spPr>
        <p:txBody>
          <a:bodyPr/>
          <a:lstStyle/>
          <a:p>
            <a:r>
              <a:rPr lang="zh-CN" altLang="en-US" sz="3200" b="1" smtClean="0">
                <a:ea typeface="黑体" panose="02010609060101010101" pitchFamily="49" charset="-122"/>
              </a:rPr>
              <a:t>克氏说法和开氏说法的等效性证明</a:t>
            </a:r>
          </a:p>
        </p:txBody>
      </p:sp>
      <p:sp>
        <p:nvSpPr>
          <p:cNvPr id="37890" name="文本占位符 74754"/>
          <p:cNvSpPr>
            <a:spLocks noGrp="1" noChangeArrowheads="1"/>
          </p:cNvSpPr>
          <p:nvPr>
            <p:ph type="body" sz="half" idx="1"/>
          </p:nvPr>
        </p:nvSpPr>
        <p:spPr>
          <a:xfrm>
            <a:off x="611188" y="1125538"/>
            <a:ext cx="7786687" cy="1036637"/>
          </a:xfrm>
        </p:spPr>
        <p:txBody>
          <a:bodyPr/>
          <a:lstStyle/>
          <a:p>
            <a:pPr>
              <a:buFontTx/>
              <a:buNone/>
            </a:pPr>
            <a:r>
              <a:rPr lang="zh-CN" altLang="en-US" sz="2400" b="1" dirty="0" smtClean="0">
                <a:latin typeface="黑体" panose="02010609060101010101" pitchFamily="49" charset="-122"/>
                <a:ea typeface="黑体" panose="02010609060101010101" pitchFamily="49" charset="-122"/>
              </a:rPr>
              <a:t>证明一：如果开氏说法成立，则克氏说法必成立。</a:t>
            </a:r>
          </a:p>
        </p:txBody>
      </p:sp>
      <p:sp>
        <p:nvSpPr>
          <p:cNvPr id="74756" name="文本框 74755"/>
          <p:cNvSpPr txBox="1">
            <a:spLocks noChangeArrowheads="1"/>
          </p:cNvSpPr>
          <p:nvPr/>
        </p:nvSpPr>
        <p:spPr bwMode="auto">
          <a:xfrm>
            <a:off x="611188" y="1773238"/>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采用</a:t>
            </a:r>
            <a:r>
              <a:rPr lang="zh-CN" altLang="en-US" sz="2400" b="1" dirty="0">
                <a:solidFill>
                  <a:srgbClr val="FF0000"/>
                </a:solidFill>
                <a:latin typeface="黑体" panose="02010609060101010101" pitchFamily="49" charset="-122"/>
                <a:ea typeface="黑体" panose="02010609060101010101" pitchFamily="49" charset="-122"/>
              </a:rPr>
              <a:t>反证法</a:t>
            </a:r>
            <a:r>
              <a:rPr lang="zh-CN" altLang="en-US" sz="2400" b="1" dirty="0">
                <a:latin typeface="黑体" panose="02010609060101010101" pitchFamily="49" charset="-122"/>
                <a:ea typeface="黑体" panose="02010609060101010101" pitchFamily="49" charset="-122"/>
              </a:rPr>
              <a:t>，假定开氏说法成立，而克氏说法不成立。</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74758" name="文本框 74757"/>
          <p:cNvSpPr txBox="1">
            <a:spLocks noChangeArrowheads="1"/>
          </p:cNvSpPr>
          <p:nvPr/>
        </p:nvSpPr>
        <p:spPr bwMode="auto">
          <a:xfrm>
            <a:off x="3619500" y="2420938"/>
            <a:ext cx="4876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一热机按开氏说法条件，工作在</a:t>
            </a:r>
            <a:b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b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之间，有</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net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74759" name="文本框 74758"/>
          <p:cNvSpPr txBox="1">
            <a:spLocks noChangeArrowheads="1"/>
          </p:cNvSpPr>
          <p:nvPr/>
        </p:nvSpPr>
        <p:spPr bwMode="auto">
          <a:xfrm>
            <a:off x="3521765" y="3379976"/>
            <a:ext cx="525938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按假定，克氏说法不成立，热可自发从</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低温物体传</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向高温物体</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。因此，热机完成循环后我们让</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冷</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源和热源接触，使热量</a:t>
            </a:r>
            <a:r>
              <a:rPr lang="en-US" altLang="zh-CN" sz="2400" i="1" dirty="0" smtClean="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aseline="-25000" dirty="0" smtClean="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自发地从冷源传向热源</a:t>
            </a:r>
            <a:endParaRPr lang="zh-CN" altLang="en-US" sz="2400"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4760" name="文本框 74759"/>
          <p:cNvSpPr txBox="1">
            <a:spLocks noChangeArrowheads="1"/>
          </p:cNvSpPr>
          <p:nvPr/>
        </p:nvSpPr>
        <p:spPr bwMode="auto">
          <a:xfrm>
            <a:off x="3521765" y="5039259"/>
            <a:ext cx="5105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总效果</a:t>
            </a:r>
            <a:r>
              <a:rPr lang="zh-CN" altLang="en-US" sz="2400" b="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：热源</a:t>
            </a:r>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放热</a:t>
            </a:r>
            <a:r>
              <a:rPr lang="en-US" altLang="zh-CN" sz="2400" b="1" i="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，热机完成功</a:t>
            </a:r>
            <a:r>
              <a:rPr lang="en-US" altLang="zh-CN" sz="2400" b="1" i="1" dirty="0" err="1"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err="1"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net</a:t>
            </a:r>
            <a:r>
              <a:rPr lang="zh-CN" altLang="en-US" sz="2400" b="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，冷源</a:t>
            </a:r>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无变化。即从单一热源取热，使之完全变为有用功。违反了开氏说法。</a:t>
            </a:r>
            <a:endParaRPr lang="zh-CN" altLang="en-US" sz="2400" b="1" baseline="-250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4763" name="矩形 74762"/>
          <p:cNvSpPr>
            <a:spLocks noChangeArrowheads="1"/>
          </p:cNvSpPr>
          <p:nvPr/>
        </p:nvSpPr>
        <p:spPr bwMode="auto">
          <a:xfrm>
            <a:off x="250825" y="3644900"/>
            <a:ext cx="2089150" cy="1439863"/>
          </a:xfrm>
          <a:prstGeom prst="rect">
            <a:avLst/>
          </a:prstGeom>
          <a:noFill/>
          <a:ln w="25400">
            <a:solidFill>
              <a:srgbClr val="FF00FF"/>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4771" name="组合 74770"/>
          <p:cNvGrpSpPr>
            <a:grpSpLocks/>
          </p:cNvGrpSpPr>
          <p:nvPr/>
        </p:nvGrpSpPr>
        <p:grpSpPr bwMode="auto">
          <a:xfrm>
            <a:off x="323850" y="3429000"/>
            <a:ext cx="719138" cy="1800225"/>
            <a:chOff x="204" y="2160"/>
            <a:chExt cx="453" cy="1134"/>
          </a:xfrm>
        </p:grpSpPr>
        <p:sp>
          <p:nvSpPr>
            <p:cNvPr id="37898" name="上箭头 74766"/>
            <p:cNvSpPr>
              <a:spLocks noChangeArrowheads="1"/>
            </p:cNvSpPr>
            <p:nvPr/>
          </p:nvSpPr>
          <p:spPr bwMode="auto">
            <a:xfrm>
              <a:off x="476" y="2160"/>
              <a:ext cx="181" cy="1134"/>
            </a:xfrm>
            <a:prstGeom prst="upArrow">
              <a:avLst>
                <a:gd name="adj1" fmla="val 50000"/>
                <a:gd name="adj2" fmla="val 156572"/>
              </a:avLst>
            </a:prstGeom>
            <a:solidFill>
              <a:schemeClr val="accent1"/>
            </a:solidFill>
            <a:ln w="9525">
              <a:solidFill>
                <a:schemeClr val="tx1"/>
              </a:solidFill>
              <a:miter lim="800000"/>
              <a:headEnd/>
              <a:tailEnd/>
            </a:ln>
          </p:spPr>
          <p:txBody>
            <a:bodyPr/>
            <a:lstStyle/>
            <a:p>
              <a:endParaRPr lang="zh-CN" altLang="en-US"/>
            </a:p>
          </p:txBody>
        </p:sp>
        <p:sp>
          <p:nvSpPr>
            <p:cNvPr id="37899" name="矩形 74769"/>
            <p:cNvSpPr>
              <a:spLocks noChangeArrowheads="1"/>
            </p:cNvSpPr>
            <p:nvPr/>
          </p:nvSpPr>
          <p:spPr bwMode="auto">
            <a:xfrm>
              <a:off x="204" y="2660"/>
              <a:ext cx="2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i="1">
                  <a:latin typeface="Times New Roman" panose="02020603050405020304" pitchFamily="18" charset="0"/>
                </a:rPr>
                <a:t>Q</a:t>
              </a:r>
              <a:r>
                <a:rPr lang="en-US" altLang="zh-CN" baseline="-25000">
                  <a:latin typeface="Times New Roman" panose="02020603050405020304" pitchFamily="18" charset="0"/>
                </a:rPr>
                <a:t>2</a:t>
              </a:r>
              <a:endParaRPr lang="zh-CN" altLang="en-US" baseline="-25000">
                <a:latin typeface="Times New Roman" panose="02020603050405020304" pitchFamily="18" charset="0"/>
              </a:endParaRPr>
            </a:p>
          </p:txBody>
        </p:sp>
      </p:gr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75" y="2909878"/>
            <a:ext cx="2560542" cy="2877561"/>
          </a:xfrm>
          <a:prstGeom prst="rect">
            <a:avLst/>
          </a:prstGeom>
        </p:spPr>
      </p:pic>
    </p:spTree>
    <p:custDataLst>
      <p:tags r:id="rId1"/>
    </p:custDataLst>
    <p:extLst>
      <p:ext uri="{BB962C8B-B14F-4D97-AF65-F5344CB8AC3E}">
        <p14:creationId xmlns:p14="http://schemas.microsoft.com/office/powerpoint/2010/main" val="2022077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756"/>
                                        </p:tgtEl>
                                        <p:attrNameLst>
                                          <p:attrName>style.visibility</p:attrName>
                                        </p:attrNameLst>
                                      </p:cBhvr>
                                      <p:to>
                                        <p:strVal val="visible"/>
                                      </p:to>
                                    </p:set>
                                    <p:animEffect transition="in" filter="blinds(horizontal)">
                                      <p:cBhvr>
                                        <p:cTn id="7" dur="500"/>
                                        <p:tgtEl>
                                          <p:spTgt spid="747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4758"/>
                                        </p:tgtEl>
                                        <p:attrNameLst>
                                          <p:attrName>style.visibility</p:attrName>
                                        </p:attrNameLst>
                                      </p:cBhvr>
                                      <p:to>
                                        <p:strVal val="visible"/>
                                      </p:to>
                                    </p:set>
                                    <p:animEffect transition="in" filter="blinds(horizontal)">
                                      <p:cBhvr>
                                        <p:cTn id="16" dur="500"/>
                                        <p:tgtEl>
                                          <p:spTgt spid="7475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74759"/>
                                        </p:tgtEl>
                                        <p:attrNameLst>
                                          <p:attrName>style.visibility</p:attrName>
                                        </p:attrNameLst>
                                      </p:cBhvr>
                                      <p:to>
                                        <p:strVal val="visible"/>
                                      </p:to>
                                    </p:set>
                                    <p:animEffect transition="in" filter="blinds(horizontal)">
                                      <p:cBhvr>
                                        <p:cTn id="21" dur="500"/>
                                        <p:tgtEl>
                                          <p:spTgt spid="7475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74771"/>
                                        </p:tgtEl>
                                        <p:attrNameLst>
                                          <p:attrName>style.visibility</p:attrName>
                                        </p:attrNameLst>
                                      </p:cBhvr>
                                      <p:to>
                                        <p:strVal val="visible"/>
                                      </p:to>
                                    </p:set>
                                    <p:animEffect transition="in" filter="wipe(down)">
                                      <p:cBhvr>
                                        <p:cTn id="26" dur="500"/>
                                        <p:tgtEl>
                                          <p:spTgt spid="74771"/>
                                        </p:tgtEl>
                                      </p:cBhvr>
                                    </p:animEffect>
                                  </p:childTnLst>
                                </p:cTn>
                              </p:par>
                            </p:childTnLst>
                          </p:cTn>
                        </p:par>
                      </p:childTnLst>
                    </p:cTn>
                  </p:par>
                  <p:par>
                    <p:cTn id="27" fill="hold">
                      <p:stCondLst>
                        <p:cond delay="indefinite"/>
                      </p:stCondLst>
                      <p:childTnLst>
                        <p:par>
                          <p:cTn id="28" fill="hold">
                            <p:stCondLst>
                              <p:cond delay="0"/>
                            </p:stCondLst>
                            <p:childTnLst>
                              <p:par>
                                <p:cTn id="29" presetID="19" presetClass="entr" presetSubtype="10" fill="hold" nodeType="clickEffect">
                                  <p:stCondLst>
                                    <p:cond delay="0"/>
                                  </p:stCondLst>
                                  <p:childTnLst>
                                    <p:set>
                                      <p:cBhvr>
                                        <p:cTn id="30" dur="1" fill="hold">
                                          <p:stCondLst>
                                            <p:cond delay="0"/>
                                          </p:stCondLst>
                                        </p:cTn>
                                        <p:tgtEl>
                                          <p:spTgt spid="74763"/>
                                        </p:tgtEl>
                                        <p:attrNameLst>
                                          <p:attrName>style.visibility</p:attrName>
                                        </p:attrNameLst>
                                      </p:cBhvr>
                                      <p:to>
                                        <p:strVal val="visible"/>
                                      </p:to>
                                    </p:set>
                                    <p:anim calcmode="lin" valueType="num">
                                      <p:cBhvr>
                                        <p:cTn id="31" dur="3000" fill="hold"/>
                                        <p:tgtEl>
                                          <p:spTgt spid="74763"/>
                                        </p:tgtEl>
                                        <p:attrNameLst>
                                          <p:attrName>ppt_w</p:attrName>
                                        </p:attrNameLst>
                                      </p:cBhvr>
                                      <p:tavLst>
                                        <p:tav tm="0" fmla="#ppt_w*sin(2.5*pi*$)">
                                          <p:val>
                                            <p:fltVal val="0"/>
                                          </p:val>
                                        </p:tav>
                                        <p:tav tm="100000">
                                          <p:val>
                                            <p:fltVal val="1"/>
                                          </p:val>
                                        </p:tav>
                                      </p:tavLst>
                                    </p:anim>
                                    <p:anim calcmode="lin" valueType="num">
                                      <p:cBhvr>
                                        <p:cTn id="32" dur="3000" fill="hold"/>
                                        <p:tgtEl>
                                          <p:spTgt spid="74763"/>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4760"/>
                                        </p:tgtEl>
                                        <p:attrNameLst>
                                          <p:attrName>style.visibility</p:attrName>
                                        </p:attrNameLst>
                                      </p:cBhvr>
                                      <p:to>
                                        <p:strVal val="visible"/>
                                      </p:to>
                                    </p:set>
                                    <p:animEffect transition="in" filter="blinds(horizontal)">
                                      <p:cBhvr>
                                        <p:cTn id="37" dur="500"/>
                                        <p:tgtEl>
                                          <p:spTgt spid="74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p:bldP spid="74758" grpId="0"/>
      <p:bldP spid="74759" grpId="0"/>
      <p:bldP spid="74760" grpId="0"/>
    </p:bldLst>
  </p:timing>
  <p:extLst mod="1"/>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占位符 75777"/>
          <p:cNvSpPr>
            <a:spLocks noGrp="1" noChangeArrowheads="1"/>
          </p:cNvSpPr>
          <p:nvPr>
            <p:ph type="body" sz="half" idx="1"/>
          </p:nvPr>
        </p:nvSpPr>
        <p:spPr>
          <a:xfrm>
            <a:off x="457200" y="304800"/>
            <a:ext cx="8229600" cy="838200"/>
          </a:xfrm>
        </p:spPr>
        <p:txBody>
          <a:bodyPr/>
          <a:lstStyle/>
          <a:p>
            <a:pPr>
              <a:buFontTx/>
              <a:buNone/>
            </a:pPr>
            <a:r>
              <a:rPr lang="zh-CN" altLang="en-US" sz="2800" b="1" dirty="0" smtClean="0">
                <a:latin typeface="黑体" panose="02010609060101010101" pitchFamily="49" charset="-122"/>
                <a:ea typeface="黑体" panose="02010609060101010101" pitchFamily="49" charset="-122"/>
              </a:rPr>
              <a:t>证明二：如果克氏说法成立，则开氏说法必成立。</a:t>
            </a:r>
          </a:p>
        </p:txBody>
      </p:sp>
      <p:sp>
        <p:nvSpPr>
          <p:cNvPr id="75780" name="文本框 75779"/>
          <p:cNvSpPr txBox="1">
            <a:spLocks noChangeArrowheads="1"/>
          </p:cNvSpPr>
          <p:nvPr/>
        </p:nvSpPr>
        <p:spPr bwMode="auto">
          <a:xfrm>
            <a:off x="457200" y="12192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采用</a:t>
            </a:r>
            <a:r>
              <a:rPr lang="zh-CN" altLang="en-US" sz="2400" b="1" dirty="0">
                <a:solidFill>
                  <a:srgbClr val="FF0000"/>
                </a:solidFill>
                <a:latin typeface="黑体" panose="02010609060101010101" pitchFamily="49" charset="-122"/>
                <a:ea typeface="黑体" panose="02010609060101010101" pitchFamily="49" charset="-122"/>
              </a:rPr>
              <a:t>反证法</a:t>
            </a:r>
            <a:r>
              <a:rPr lang="zh-CN" altLang="en-US" sz="2400" b="1" dirty="0">
                <a:latin typeface="黑体" panose="02010609060101010101" pitchFamily="49" charset="-122"/>
                <a:ea typeface="黑体" panose="02010609060101010101" pitchFamily="49" charset="-122"/>
              </a:rPr>
              <a:t>，假定克氏说法成立，而开氏说法不成立。</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75781" name="文本框 75780"/>
          <p:cNvSpPr txBox="1">
            <a:spLocks noChangeArrowheads="1"/>
          </p:cNvSpPr>
          <p:nvPr/>
        </p:nvSpPr>
        <p:spPr bwMode="auto">
          <a:xfrm>
            <a:off x="3429000" y="2133600"/>
            <a:ext cx="5105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按克氏说法条件，热量从低温物体传向高温物体，需要输入功</a:t>
            </a:r>
            <a:r>
              <a:rPr lang="en-US" altLang="zh-CN" sz="2400" i="1" dirty="0" err="1">
                <a:latin typeface="Times New Roman" panose="02020603050405020304" pitchFamily="18" charset="0"/>
              </a:rPr>
              <a:t>W</a:t>
            </a:r>
            <a:r>
              <a:rPr lang="en-US" altLang="zh-CN" sz="2400" baseline="-25000" dirty="0" err="1">
                <a:latin typeface="Times New Roman" panose="02020603050405020304" pitchFamily="18" charset="0"/>
              </a:rPr>
              <a:t>net</a:t>
            </a:r>
            <a:r>
              <a:rPr lang="en-US" altLang="zh-CN" sz="2400" dirty="0">
                <a:latin typeface="Times New Roman" panose="02020603050405020304" pitchFamily="18" charset="0"/>
              </a:rPr>
              <a:t>=</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p>
        </p:txBody>
      </p:sp>
      <p:sp>
        <p:nvSpPr>
          <p:cNvPr id="75782" name="文本框 75781"/>
          <p:cNvSpPr txBox="1">
            <a:spLocks noChangeArrowheads="1"/>
          </p:cNvSpPr>
          <p:nvPr/>
        </p:nvSpPr>
        <p:spPr bwMode="auto">
          <a:xfrm>
            <a:off x="3429000" y="3276600"/>
            <a:ext cx="533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按假定，开氏说法不成立，能从单一热源取热使之完全</a:t>
            </a:r>
            <a:r>
              <a:rPr lang="zh-CN" altLang="en-US" sz="2400" b="1" dirty="0" smtClean="0">
                <a:latin typeface="黑体" panose="02010609060101010101" pitchFamily="49" charset="-122"/>
                <a:ea typeface="黑体" panose="02010609060101010101" pitchFamily="49" charset="-122"/>
              </a:rPr>
              <a:t>变为功</a:t>
            </a:r>
            <a:r>
              <a:rPr lang="zh-CN" altLang="en-US" sz="2400" b="1" dirty="0">
                <a:latin typeface="黑体" panose="02010609060101010101" pitchFamily="49" charset="-122"/>
                <a:ea typeface="黑体" panose="02010609060101010101" pitchFamily="49" charset="-122"/>
              </a:rPr>
              <a:t>，即</a:t>
            </a:r>
          </a:p>
          <a:p>
            <a:r>
              <a:rPr lang="en-US" altLang="zh-CN" sz="2400" i="1" dirty="0" smtClean="0">
                <a:latin typeface="Times New Roman" panose="02020603050405020304" pitchFamily="18" charset="0"/>
              </a:rPr>
              <a:t>Q</a:t>
            </a:r>
            <a:r>
              <a:rPr lang="en-US" altLang="zh-CN" sz="2400" baseline="-25000" dirty="0" smtClean="0">
                <a:latin typeface="Times New Roman" panose="02020603050405020304" pitchFamily="18" charset="0"/>
              </a:rPr>
              <a:t>1</a:t>
            </a:r>
            <a:r>
              <a:rPr lang="en-US" altLang="zh-CN" sz="2400" dirty="0" smtClean="0">
                <a:latin typeface="Times New Roman" panose="02020603050405020304" pitchFamily="18" charset="0"/>
              </a:rPr>
              <a:t>-</a:t>
            </a:r>
            <a:r>
              <a:rPr lang="en-US" altLang="zh-CN" sz="2400" i="1" dirty="0" smtClean="0">
                <a:latin typeface="Times New Roman" panose="02020603050405020304" pitchFamily="18" charset="0"/>
              </a:rPr>
              <a:t>Q</a:t>
            </a:r>
            <a:r>
              <a:rPr lang="en-US" altLang="zh-CN" sz="2400" baseline="-25000" dirty="0" smtClean="0">
                <a:latin typeface="Times New Roman" panose="02020603050405020304" pitchFamily="18" charset="0"/>
              </a:rPr>
              <a:t>2</a:t>
            </a:r>
            <a:r>
              <a:rPr lang="en-US" altLang="zh-CN" sz="2400" dirty="0" smtClean="0">
                <a:latin typeface="Times New Roman" panose="02020603050405020304" pitchFamily="18" charset="0"/>
                <a:ea typeface="楷体_GB2312" pitchFamily="49" charset="-122"/>
              </a:rPr>
              <a:t>=</a:t>
            </a:r>
            <a:r>
              <a:rPr lang="en-US" altLang="zh-CN" sz="2400" i="1" dirty="0" err="1" smtClean="0">
                <a:latin typeface="Times New Roman" panose="02020603050405020304" pitchFamily="18" charset="0"/>
                <a:ea typeface="楷体_GB2312" pitchFamily="49" charset="-122"/>
              </a:rPr>
              <a:t>W</a:t>
            </a:r>
            <a:r>
              <a:rPr lang="en-US" altLang="zh-CN" sz="2400" baseline="-25000" dirty="0" err="1" smtClean="0">
                <a:latin typeface="Times New Roman" panose="02020603050405020304" pitchFamily="18" charset="0"/>
                <a:ea typeface="楷体_GB2312" pitchFamily="49" charset="-122"/>
              </a:rPr>
              <a:t>net</a:t>
            </a:r>
            <a:endParaRPr lang="en-US" altLang="zh-CN" sz="2400" baseline="-25000" dirty="0">
              <a:latin typeface="Times New Roman" panose="02020603050405020304" pitchFamily="18" charset="0"/>
              <a:ea typeface="楷体_GB2312" pitchFamily="49" charset="-122"/>
            </a:endParaRPr>
          </a:p>
        </p:txBody>
      </p:sp>
      <p:sp>
        <p:nvSpPr>
          <p:cNvPr id="75783" name="文本框 75782"/>
          <p:cNvSpPr txBox="1">
            <a:spLocks noChangeArrowheads="1"/>
          </p:cNvSpPr>
          <p:nvPr/>
        </p:nvSpPr>
        <p:spPr bwMode="auto">
          <a:xfrm>
            <a:off x="3125856" y="4797604"/>
            <a:ext cx="571168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总效果</a:t>
            </a:r>
            <a:r>
              <a:rPr lang="zh-CN" altLang="en-US" sz="2400" b="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：冷源</a:t>
            </a:r>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放热</a:t>
            </a:r>
            <a:r>
              <a:rPr lang="en-US" altLang="zh-CN" sz="2400" b="1" i="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，热源</a:t>
            </a:r>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吸热</a:t>
            </a:r>
            <a:r>
              <a:rPr lang="en-US" altLang="zh-CN" sz="2400" b="1" i="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2400" b="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 Q</a:t>
            </a:r>
            <a:r>
              <a:rPr lang="en-US" altLang="zh-CN" sz="2400" b="1" baseline="-250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2 </a:t>
            </a:r>
            <a:r>
              <a:rPr lang="zh-CN" altLang="en-US" sz="2400" b="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2 </a:t>
            </a:r>
            <a:r>
              <a:rPr lang="zh-CN" altLang="en-US" sz="2400" b="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无其它变化。即热量从低温物体传向高温物体而无其它变化。违反了克氏说法。</a:t>
            </a:r>
            <a:endParaRPr lang="zh-CN" altLang="en-US" sz="2400" b="1" baseline="-250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5785" name="矩形 75784"/>
          <p:cNvSpPr>
            <a:spLocks noChangeArrowheads="1"/>
          </p:cNvSpPr>
          <p:nvPr/>
        </p:nvSpPr>
        <p:spPr bwMode="auto">
          <a:xfrm>
            <a:off x="337930" y="3332922"/>
            <a:ext cx="2433845" cy="1212574"/>
          </a:xfrm>
          <a:prstGeom prst="rect">
            <a:avLst/>
          </a:prstGeom>
          <a:noFill/>
          <a:ln w="25400">
            <a:solidFill>
              <a:srgbClr val="FF00FF"/>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20" name="矩形 75788"/>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508" y="2258135"/>
            <a:ext cx="2676376" cy="3237257"/>
          </a:xfrm>
          <a:prstGeom prst="rect">
            <a:avLst/>
          </a:prstGeom>
        </p:spPr>
      </p:pic>
    </p:spTree>
    <p:custDataLst>
      <p:tags r:id="rId1"/>
    </p:custDataLst>
    <p:extLst>
      <p:ext uri="{BB962C8B-B14F-4D97-AF65-F5344CB8AC3E}">
        <p14:creationId xmlns:p14="http://schemas.microsoft.com/office/powerpoint/2010/main" val="15484740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blinds(horizontal)">
                                      <p:cBhvr>
                                        <p:cTn id="7" dur="500"/>
                                        <p:tgtEl>
                                          <p:spTgt spid="757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5781"/>
                                        </p:tgtEl>
                                        <p:attrNameLst>
                                          <p:attrName>style.visibility</p:attrName>
                                        </p:attrNameLst>
                                      </p:cBhvr>
                                      <p:to>
                                        <p:strVal val="visible"/>
                                      </p:to>
                                    </p:set>
                                    <p:animEffect transition="in" filter="blinds(horizontal)">
                                      <p:cBhvr>
                                        <p:cTn id="16" dur="500"/>
                                        <p:tgtEl>
                                          <p:spTgt spid="7578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75782"/>
                                        </p:tgtEl>
                                        <p:attrNameLst>
                                          <p:attrName>style.visibility</p:attrName>
                                        </p:attrNameLst>
                                      </p:cBhvr>
                                      <p:to>
                                        <p:strVal val="visible"/>
                                      </p:to>
                                    </p:set>
                                    <p:animEffect transition="in" filter="blinds(horizontal)">
                                      <p:cBhvr>
                                        <p:cTn id="21" dur="500"/>
                                        <p:tgtEl>
                                          <p:spTgt spid="75782"/>
                                        </p:tgtEl>
                                      </p:cBhvr>
                                    </p:animEffect>
                                  </p:childTnLst>
                                </p:cTn>
                              </p:par>
                            </p:childTnLst>
                          </p:cTn>
                        </p:par>
                      </p:childTnLst>
                    </p:cTn>
                  </p:par>
                  <p:par>
                    <p:cTn id="22" fill="hold">
                      <p:stCondLst>
                        <p:cond delay="indefinite"/>
                      </p:stCondLst>
                      <p:childTnLst>
                        <p:par>
                          <p:cTn id="23" fill="hold">
                            <p:stCondLst>
                              <p:cond delay="0"/>
                            </p:stCondLst>
                            <p:childTnLst>
                              <p:par>
                                <p:cTn id="24" presetID="19" presetClass="entr" presetSubtype="10" fill="hold" nodeType="clickEffect">
                                  <p:stCondLst>
                                    <p:cond delay="0"/>
                                  </p:stCondLst>
                                  <p:childTnLst>
                                    <p:set>
                                      <p:cBhvr>
                                        <p:cTn id="25" dur="1" fill="hold">
                                          <p:stCondLst>
                                            <p:cond delay="0"/>
                                          </p:stCondLst>
                                        </p:cTn>
                                        <p:tgtEl>
                                          <p:spTgt spid="75785"/>
                                        </p:tgtEl>
                                        <p:attrNameLst>
                                          <p:attrName>style.visibility</p:attrName>
                                        </p:attrNameLst>
                                      </p:cBhvr>
                                      <p:to>
                                        <p:strVal val="visible"/>
                                      </p:to>
                                    </p:set>
                                    <p:anim calcmode="lin" valueType="num">
                                      <p:cBhvr>
                                        <p:cTn id="26" dur="3000" fill="hold"/>
                                        <p:tgtEl>
                                          <p:spTgt spid="75785"/>
                                        </p:tgtEl>
                                        <p:attrNameLst>
                                          <p:attrName>ppt_w</p:attrName>
                                        </p:attrNameLst>
                                      </p:cBhvr>
                                      <p:tavLst>
                                        <p:tav tm="0" fmla="#ppt_w*sin(2.5*pi*$)">
                                          <p:val>
                                            <p:fltVal val="0"/>
                                          </p:val>
                                        </p:tav>
                                        <p:tav tm="100000">
                                          <p:val>
                                            <p:fltVal val="1"/>
                                          </p:val>
                                        </p:tav>
                                      </p:tavLst>
                                    </p:anim>
                                    <p:anim calcmode="lin" valueType="num">
                                      <p:cBhvr>
                                        <p:cTn id="27" dur="3000" fill="hold"/>
                                        <p:tgtEl>
                                          <p:spTgt spid="75785"/>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5783"/>
                                        </p:tgtEl>
                                        <p:attrNameLst>
                                          <p:attrName>style.visibility</p:attrName>
                                        </p:attrNameLst>
                                      </p:cBhvr>
                                      <p:to>
                                        <p:strVal val="visible"/>
                                      </p:to>
                                    </p:set>
                                    <p:animEffect transition="in" filter="blinds(horizontal)">
                                      <p:cBhvr>
                                        <p:cTn id="32" dur="500"/>
                                        <p:tgtEl>
                                          <p:spTgt spid="75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p:bldP spid="75781" grpId="0"/>
      <p:bldP spid="75782" grpId="0"/>
      <p:bldP spid="75783" grpId="0"/>
    </p:bldLst>
  </p:timing>
  <p:extLst mod="1"/>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81921"/>
          <p:cNvSpPr>
            <a:spLocks noChangeArrowheads="1"/>
          </p:cNvSpPr>
          <p:nvPr/>
        </p:nvSpPr>
        <p:spPr bwMode="auto">
          <a:xfrm>
            <a:off x="120858" y="1036567"/>
            <a:ext cx="4823792"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3200" dirty="0" smtClean="0">
                <a:latin typeface="黑体" panose="02010609060101010101" pitchFamily="49" charset="-122"/>
                <a:ea typeface="黑体" panose="02010609060101010101" pitchFamily="49" charset="-122"/>
              </a:rPr>
              <a:t>能否设计一种热机（称为第二类永动机），可</a:t>
            </a:r>
            <a:r>
              <a:rPr lang="zh-CN" altLang="en-US" sz="3200" dirty="0">
                <a:latin typeface="黑体" panose="02010609060101010101" pitchFamily="49" charset="-122"/>
                <a:ea typeface="黑体" panose="02010609060101010101" pitchFamily="49" charset="-122"/>
              </a:rPr>
              <a:t>直接从</a:t>
            </a:r>
            <a:r>
              <a:rPr lang="zh-CN" altLang="en-US" sz="3200" dirty="0">
                <a:solidFill>
                  <a:srgbClr val="FF0000"/>
                </a:solidFill>
                <a:latin typeface="黑体" panose="02010609060101010101" pitchFamily="49" charset="-122"/>
                <a:ea typeface="黑体" panose="02010609060101010101" pitchFamily="49" charset="-122"/>
              </a:rPr>
              <a:t>海洋或大气</a:t>
            </a:r>
            <a:r>
              <a:rPr lang="zh-CN" altLang="en-US" sz="3200" dirty="0">
                <a:latin typeface="黑体" panose="02010609060101010101" pitchFamily="49" charset="-122"/>
                <a:ea typeface="黑体" panose="02010609060101010101" pitchFamily="49" charset="-122"/>
              </a:rPr>
              <a:t>中吸取热量使之</a:t>
            </a:r>
            <a:r>
              <a:rPr lang="zh-CN" altLang="en-US" sz="3200" dirty="0" smtClean="0">
                <a:latin typeface="黑体" panose="02010609060101010101" pitchFamily="49" charset="-122"/>
                <a:ea typeface="黑体" panose="02010609060101010101" pitchFamily="49" charset="-122"/>
              </a:rPr>
              <a:t>完全转换为功</a:t>
            </a:r>
            <a:r>
              <a:rPr lang="zh-CN" altLang="en-US" sz="3200" dirty="0">
                <a:latin typeface="黑体" panose="02010609060101010101" pitchFamily="49" charset="-122"/>
                <a:ea typeface="黑体" panose="02010609060101010101" pitchFamily="49" charset="-122"/>
              </a:rPr>
              <a:t>？</a:t>
            </a:r>
          </a:p>
          <a:p>
            <a:r>
              <a:rPr lang="zh-CN" altLang="en-US" sz="3200" dirty="0">
                <a:latin typeface="黑体" panose="02010609060101010101" pitchFamily="49" charset="-122"/>
                <a:ea typeface="黑体" panose="02010609060101010101" pitchFamily="49" charset="-122"/>
              </a:rPr>
              <a:t>由于海洋和大气的能量是</a:t>
            </a:r>
            <a:r>
              <a:rPr lang="zh-CN" altLang="en-US" sz="3200" dirty="0">
                <a:solidFill>
                  <a:srgbClr val="FF0000"/>
                </a:solidFill>
                <a:latin typeface="黑体" panose="02010609060101010101" pitchFamily="49" charset="-122"/>
                <a:ea typeface="黑体" panose="02010609060101010101" pitchFamily="49" charset="-122"/>
              </a:rPr>
              <a:t>取之不尽</a:t>
            </a:r>
            <a:r>
              <a:rPr lang="zh-CN" altLang="en-US" sz="3200" dirty="0">
                <a:latin typeface="黑体" panose="02010609060101010101" pitchFamily="49" charset="-122"/>
                <a:ea typeface="黑体" panose="02010609060101010101" pitchFamily="49" charset="-122"/>
              </a:rPr>
              <a:t>的，因而这种热机可</a:t>
            </a:r>
            <a:r>
              <a:rPr lang="zh-CN" altLang="en-US" sz="3200" dirty="0">
                <a:solidFill>
                  <a:srgbClr val="FF0000"/>
                </a:solidFill>
                <a:latin typeface="黑体" panose="02010609060101010101" pitchFamily="49" charset="-122"/>
                <a:ea typeface="黑体" panose="02010609060101010101" pitchFamily="49" charset="-122"/>
              </a:rPr>
              <a:t>永不停息</a:t>
            </a:r>
            <a:r>
              <a:rPr lang="zh-CN" altLang="en-US" sz="3200" dirty="0">
                <a:latin typeface="黑体" panose="02010609060101010101" pitchFamily="49" charset="-122"/>
                <a:ea typeface="黑体" panose="02010609060101010101" pitchFamily="49" charset="-122"/>
              </a:rPr>
              <a:t>地运转做功</a:t>
            </a:r>
            <a:r>
              <a:rPr lang="zh-CN" altLang="en-US" sz="3200" dirty="0" smtClean="0">
                <a:latin typeface="黑体" panose="02010609060101010101" pitchFamily="49" charset="-122"/>
                <a:ea typeface="黑体" panose="02010609060101010101" pitchFamily="49" charset="-122"/>
              </a:rPr>
              <a:t>。</a:t>
            </a:r>
            <a:endParaRPr lang="en-US" altLang="zh-CN" sz="3200" dirty="0" smtClean="0">
              <a:latin typeface="黑体" panose="02010609060101010101" pitchFamily="49" charset="-122"/>
              <a:ea typeface="黑体" panose="02010609060101010101" pitchFamily="49" charset="-122"/>
            </a:endParaRPr>
          </a:p>
          <a:p>
            <a:r>
              <a:rPr lang="zh-CN" altLang="en-US" sz="3200" dirty="0" smtClean="0">
                <a:latin typeface="黑体" panose="02010609060101010101" pitchFamily="49" charset="-122"/>
                <a:ea typeface="黑体" panose="02010609060101010101" pitchFamily="49" charset="-122"/>
              </a:rPr>
              <a:t>根据热力学第二定律，这种设想是不能实现的</a:t>
            </a:r>
            <a:endParaRPr lang="zh-CN" altLang="en-US" sz="3200" dirty="0">
              <a:latin typeface="黑体" panose="02010609060101010101" pitchFamily="49" charset="-122"/>
              <a:ea typeface="黑体" panose="02010609060101010101" pitchFamily="49" charset="-122"/>
            </a:endParaRPr>
          </a:p>
        </p:txBody>
      </p:sp>
      <p:sp>
        <p:nvSpPr>
          <p:cNvPr id="81923" name="矩形 81922"/>
          <p:cNvSpPr>
            <a:spLocks noChangeArrowheads="1"/>
          </p:cNvSpPr>
          <p:nvPr/>
        </p:nvSpPr>
        <p:spPr bwMode="auto">
          <a:xfrm>
            <a:off x="303213" y="205200"/>
            <a:ext cx="4953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dirty="0">
                <a:ea typeface="黑体" panose="02010609060101010101" pitchFamily="49" charset="-122"/>
              </a:rPr>
              <a:t>有人设想：</a:t>
            </a:r>
          </a:p>
        </p:txBody>
      </p:sp>
      <p:pic>
        <p:nvPicPr>
          <p:cNvPr id="81924" name="图片 81923" descr="104-cartoon-man-reading-book-standing-on-one-foot-sea-ship-sailing-public-doma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404813"/>
            <a:ext cx="2554288"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5" name="图片 81924" descr="subpix_joint_CNC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2674938"/>
            <a:ext cx="41910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933" name="组合 81932"/>
          <p:cNvGrpSpPr/>
          <p:nvPr/>
        </p:nvGrpSpPr>
        <p:grpSpPr bwMode="auto">
          <a:xfrm>
            <a:off x="6705600" y="4795838"/>
            <a:ext cx="1301750" cy="717550"/>
            <a:chOff x="4224" y="3360"/>
            <a:chExt cx="820" cy="452"/>
          </a:xfrm>
        </p:grpSpPr>
        <p:sp>
          <p:nvSpPr>
            <p:cNvPr id="39949" name="直接连接符 81933"/>
            <p:cNvSpPr>
              <a:spLocks noChangeShapeType="1"/>
            </p:cNvSpPr>
            <p:nvPr/>
          </p:nvSpPr>
          <p:spPr bwMode="auto">
            <a:xfrm flipH="1" flipV="1">
              <a:off x="4224" y="3360"/>
              <a:ext cx="528" cy="288"/>
            </a:xfrm>
            <a:prstGeom prst="line">
              <a:avLst/>
            </a:prstGeom>
            <a:noFill/>
            <a:ln w="635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50" name="矩形 81934"/>
            <p:cNvSpPr>
              <a:spLocks noChangeArrowheads="1"/>
            </p:cNvSpPr>
            <p:nvPr/>
          </p:nvSpPr>
          <p:spPr bwMode="auto">
            <a:xfrm>
              <a:off x="4704" y="3408"/>
              <a:ext cx="34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i="1">
                  <a:solidFill>
                    <a:srgbClr val="FF0000"/>
                  </a:solidFill>
                  <a:ea typeface="黑体" panose="02010609060101010101" pitchFamily="49" charset="-122"/>
                </a:rPr>
                <a:t>Q</a:t>
              </a:r>
            </a:p>
          </p:txBody>
        </p:sp>
      </p:grpSp>
      <p:sp>
        <p:nvSpPr>
          <p:cNvPr id="81936" name="矩形 81935"/>
          <p:cNvSpPr>
            <a:spLocks noChangeArrowheads="1"/>
          </p:cNvSpPr>
          <p:nvPr/>
        </p:nvSpPr>
        <p:spPr bwMode="auto">
          <a:xfrm>
            <a:off x="250825" y="6021388"/>
            <a:ext cx="8782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a:ea typeface="黑体" panose="02010609060101010101" pitchFamily="49" charset="-122"/>
              </a:rPr>
              <a:t>第二定律的开氏说法又可表述为：第二类永动机是不可能制成的</a:t>
            </a:r>
            <a:r>
              <a:rPr lang="zh-CN" altLang="en-US"/>
              <a:t> </a:t>
            </a:r>
          </a:p>
        </p:txBody>
      </p:sp>
    </p:spTree>
    <p:custDataLst>
      <p:tags r:id="rId1"/>
    </p:custDataLst>
    <p:extLst>
      <p:ext uri="{BB962C8B-B14F-4D97-AF65-F5344CB8AC3E}">
        <p14:creationId xmlns:p14="http://schemas.microsoft.com/office/powerpoint/2010/main" val="26470596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81924"/>
                                        </p:tgtEl>
                                        <p:attrNameLst>
                                          <p:attrName>style.visibility</p:attrName>
                                        </p:attrNameLst>
                                      </p:cBhvr>
                                      <p:to>
                                        <p:strVal val="visible"/>
                                      </p:to>
                                    </p:set>
                                    <p:anim calcmode="lin" valueType="num">
                                      <p:cBhvr>
                                        <p:cTn id="7" dur="500" decel="50000" fill="hold">
                                          <p:stCondLst>
                                            <p:cond delay="0"/>
                                          </p:stCondLst>
                                        </p:cTn>
                                        <p:tgtEl>
                                          <p:spTgt spid="8192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8192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81924"/>
                                        </p:tgtEl>
                                        <p:attrNameLst>
                                          <p:attrName>ppt_w</p:attrName>
                                        </p:attrNameLst>
                                      </p:cBhvr>
                                      <p:tavLst>
                                        <p:tav tm="0">
                                          <p:val>
                                            <p:strVal val="#ppt_w*.05"/>
                                          </p:val>
                                        </p:tav>
                                        <p:tav tm="100000">
                                          <p:val>
                                            <p:strVal val="#ppt_w"/>
                                          </p:val>
                                        </p:tav>
                                      </p:tavLst>
                                    </p:anim>
                                    <p:anim calcmode="lin" valueType="num">
                                      <p:cBhvr>
                                        <p:cTn id="10" dur="1000" fill="hold"/>
                                        <p:tgtEl>
                                          <p:spTgt spid="8192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8192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8192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8192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81924"/>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81923"/>
                                        </p:tgtEl>
                                        <p:attrNameLst>
                                          <p:attrName>style.visibility</p:attrName>
                                        </p:attrNameLst>
                                      </p:cBhvr>
                                      <p:to>
                                        <p:strVal val="visible"/>
                                      </p:to>
                                    </p:set>
                                    <p:animEffect transition="in" filter="blinds(horizontal)">
                                      <p:cBhvr>
                                        <p:cTn id="19" dur="500"/>
                                        <p:tgtEl>
                                          <p:spTgt spid="81923"/>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81922">
                                            <p:txEl>
                                              <p:pRg st="0" end="0"/>
                                            </p:txEl>
                                          </p:spTgt>
                                        </p:tgtEl>
                                        <p:attrNameLst>
                                          <p:attrName>style.visibility</p:attrName>
                                        </p:attrNameLst>
                                      </p:cBhvr>
                                      <p:to>
                                        <p:strVal val="visible"/>
                                      </p:to>
                                    </p:set>
                                    <p:animEffect transition="in" filter="blinds(horizontal)">
                                      <p:cBhvr>
                                        <p:cTn id="24" dur="500"/>
                                        <p:tgtEl>
                                          <p:spTgt spid="81922">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81925"/>
                                        </p:tgtEl>
                                        <p:attrNameLst>
                                          <p:attrName>style.visibility</p:attrName>
                                        </p:attrNameLst>
                                      </p:cBhvr>
                                      <p:to>
                                        <p:strVal val="visible"/>
                                      </p:to>
                                    </p:set>
                                    <p:animEffect transition="in" filter="blinds(horizontal)">
                                      <p:cBhvr>
                                        <p:cTn id="29" dur="500"/>
                                        <p:tgtEl>
                                          <p:spTgt spid="8192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81933"/>
                                        </p:tgtEl>
                                        <p:attrNameLst>
                                          <p:attrName>style.visibility</p:attrName>
                                        </p:attrNameLst>
                                      </p:cBhvr>
                                      <p:to>
                                        <p:strVal val="visible"/>
                                      </p:to>
                                    </p:set>
                                    <p:animEffect transition="in" filter="wipe(down)">
                                      <p:cBhvr>
                                        <p:cTn id="34" dur="500"/>
                                        <p:tgtEl>
                                          <p:spTgt spid="81933"/>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81922">
                                            <p:txEl>
                                              <p:pRg st="1" end="1"/>
                                            </p:txEl>
                                          </p:spTgt>
                                        </p:tgtEl>
                                        <p:attrNameLst>
                                          <p:attrName>style.visibility</p:attrName>
                                        </p:attrNameLst>
                                      </p:cBhvr>
                                      <p:to>
                                        <p:strVal val="visible"/>
                                      </p:to>
                                    </p:set>
                                    <p:anim calcmode="lin" valueType="num">
                                      <p:cBhvr>
                                        <p:cTn id="39" dur="1000" fill="hold"/>
                                        <p:tgtEl>
                                          <p:spTgt spid="81922">
                                            <p:txEl>
                                              <p:pRg st="1" end="1"/>
                                            </p:txEl>
                                          </p:spTgt>
                                        </p:tgtEl>
                                        <p:attrNameLst>
                                          <p:attrName>ppt_w</p:attrName>
                                        </p:attrNameLst>
                                      </p:cBhvr>
                                      <p:tavLst>
                                        <p:tav tm="0">
                                          <p:val>
                                            <p:strVal val="#ppt_w*0.70"/>
                                          </p:val>
                                        </p:tav>
                                        <p:tav tm="100000">
                                          <p:val>
                                            <p:strVal val="#ppt_w"/>
                                          </p:val>
                                        </p:tav>
                                      </p:tavLst>
                                    </p:anim>
                                    <p:anim calcmode="lin" valueType="num">
                                      <p:cBhvr>
                                        <p:cTn id="40" dur="1000" fill="hold"/>
                                        <p:tgtEl>
                                          <p:spTgt spid="81922">
                                            <p:txEl>
                                              <p:pRg st="1" end="1"/>
                                            </p:txEl>
                                          </p:spTgt>
                                        </p:tgtEl>
                                        <p:attrNameLst>
                                          <p:attrName>ppt_h</p:attrName>
                                        </p:attrNameLst>
                                      </p:cBhvr>
                                      <p:tavLst>
                                        <p:tav tm="0">
                                          <p:val>
                                            <p:strVal val="#ppt_h"/>
                                          </p:val>
                                        </p:tav>
                                        <p:tav tm="100000">
                                          <p:val>
                                            <p:strVal val="#ppt_h"/>
                                          </p:val>
                                        </p:tav>
                                      </p:tavLst>
                                    </p:anim>
                                    <p:animEffect transition="in" filter="fade">
                                      <p:cBhvr>
                                        <p:cTn id="41" dur="1000"/>
                                        <p:tgtEl>
                                          <p:spTgt spid="81922">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81922">
                                            <p:txEl>
                                              <p:pRg st="2" end="2"/>
                                            </p:txEl>
                                          </p:spTgt>
                                        </p:tgtEl>
                                        <p:attrNameLst>
                                          <p:attrName>style.visibility</p:attrName>
                                        </p:attrNameLst>
                                      </p:cBhvr>
                                      <p:to>
                                        <p:strVal val="visible"/>
                                      </p:to>
                                    </p:set>
                                    <p:anim calcmode="lin" valueType="num">
                                      <p:cBhvr>
                                        <p:cTn id="46" dur="1000" fill="hold"/>
                                        <p:tgtEl>
                                          <p:spTgt spid="81922">
                                            <p:txEl>
                                              <p:pRg st="2" end="2"/>
                                            </p:txEl>
                                          </p:spTgt>
                                        </p:tgtEl>
                                        <p:attrNameLst>
                                          <p:attrName>ppt_w</p:attrName>
                                        </p:attrNameLst>
                                      </p:cBhvr>
                                      <p:tavLst>
                                        <p:tav tm="0">
                                          <p:val>
                                            <p:strVal val="#ppt_w*0.70"/>
                                          </p:val>
                                        </p:tav>
                                        <p:tav tm="100000">
                                          <p:val>
                                            <p:strVal val="#ppt_w"/>
                                          </p:val>
                                        </p:tav>
                                      </p:tavLst>
                                    </p:anim>
                                    <p:anim calcmode="lin" valueType="num">
                                      <p:cBhvr>
                                        <p:cTn id="47" dur="1000" fill="hold"/>
                                        <p:tgtEl>
                                          <p:spTgt spid="81922">
                                            <p:txEl>
                                              <p:pRg st="2" end="2"/>
                                            </p:txEl>
                                          </p:spTgt>
                                        </p:tgtEl>
                                        <p:attrNameLst>
                                          <p:attrName>ppt_h</p:attrName>
                                        </p:attrNameLst>
                                      </p:cBhvr>
                                      <p:tavLst>
                                        <p:tav tm="0">
                                          <p:val>
                                            <p:strVal val="#ppt_h"/>
                                          </p:val>
                                        </p:tav>
                                        <p:tav tm="100000">
                                          <p:val>
                                            <p:strVal val="#ppt_h"/>
                                          </p:val>
                                        </p:tav>
                                      </p:tavLst>
                                    </p:anim>
                                    <p:animEffect transition="in" filter="fade">
                                      <p:cBhvr>
                                        <p:cTn id="48" dur="1000"/>
                                        <p:tgtEl>
                                          <p:spTgt spid="81922">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81936"/>
                                        </p:tgtEl>
                                        <p:attrNameLst>
                                          <p:attrName>style.visibility</p:attrName>
                                        </p:attrNameLst>
                                      </p:cBhvr>
                                      <p:to>
                                        <p:strVal val="visible"/>
                                      </p:to>
                                    </p:set>
                                    <p:animEffect transition="in" filter="blinds(horizontal)">
                                      <p:cBhvr>
                                        <p:cTn id="53" dur="500"/>
                                        <p:tgtEl>
                                          <p:spTgt spid="81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p:bldP spid="81936"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1" name="Rectangle 2"/>
          <p:cNvSpPr>
            <a:spLocks noGrp="1" noChangeArrowheads="1"/>
          </p:cNvSpPr>
          <p:nvPr>
            <p:ph type="body" idx="4294967295"/>
          </p:nvPr>
        </p:nvSpPr>
        <p:spPr>
          <a:xfrm>
            <a:off x="481565" y="986044"/>
            <a:ext cx="7704137" cy="685800"/>
          </a:xfrm>
        </p:spPr>
        <p:txBody>
          <a:bodyPr>
            <a:normAutofit/>
          </a:bodyPr>
          <a:lstStyle/>
          <a:p>
            <a:pPr algn="just">
              <a:lnSpc>
                <a:spcPct val="90000"/>
              </a:lnSpc>
              <a:buFontTx/>
              <a:buNone/>
            </a:pPr>
            <a:r>
              <a:rPr lang="zh-CN" altLang="en-US" sz="3200" b="1" dirty="0">
                <a:latin typeface="Times New Roman" panose="02020603050405020304" pitchFamily="18" charset="0"/>
                <a:ea typeface="黑体" panose="02010609060101010101" pitchFamily="49" charset="-122"/>
              </a:rPr>
              <a:t>热力学第一定律否定第一类永动机</a:t>
            </a:r>
          </a:p>
        </p:txBody>
      </p:sp>
      <p:sp>
        <p:nvSpPr>
          <p:cNvPr id="40963" name="AutoShape 5"/>
          <p:cNvSpPr>
            <a:spLocks noChangeArrowheads="1"/>
          </p:cNvSpPr>
          <p:nvPr/>
        </p:nvSpPr>
        <p:spPr bwMode="auto">
          <a:xfrm>
            <a:off x="2713590" y="2065544"/>
            <a:ext cx="1524000" cy="255588"/>
          </a:xfrm>
          <a:prstGeom prst="rightArrow">
            <a:avLst>
              <a:gd name="adj1" fmla="val 50000"/>
              <a:gd name="adj2" fmla="val 149013"/>
            </a:avLst>
          </a:prstGeom>
          <a:solidFill>
            <a:schemeClr val="accent1"/>
          </a:solidFill>
          <a:ln w="12700" cap="sq">
            <a:solidFill>
              <a:schemeClr val="tx1"/>
            </a:solidFill>
            <a:miter lim="800000"/>
            <a:headEnd type="none" w="sm" len="sm"/>
            <a:tailEnd type="none" w="sm" len="sm"/>
          </a:ln>
        </p:spPr>
        <p:txBody>
          <a:bodyPr wrap="none" anchor="ctr"/>
          <a:lstStyle/>
          <a:p>
            <a:endParaRPr lang="zh-CN" altLang="en-US"/>
          </a:p>
        </p:txBody>
      </p:sp>
      <p:sp>
        <p:nvSpPr>
          <p:cNvPr id="40964" name="Text Box 6"/>
          <p:cNvSpPr txBox="1">
            <a:spLocks noChangeArrowheads="1"/>
          </p:cNvSpPr>
          <p:nvPr/>
        </p:nvSpPr>
        <p:spPr bwMode="auto">
          <a:xfrm>
            <a:off x="4542390" y="1886157"/>
            <a:ext cx="2733675" cy="51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i="1" dirty="0" smtClean="0">
                <a:latin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sym typeface="Symbol" panose="05050102010706020507" pitchFamily="18" charset="2"/>
              </a:rPr>
              <a:t>&gt;</a:t>
            </a:r>
            <a:r>
              <a:rPr lang="en-US" altLang="zh-CN" sz="2800" b="1" dirty="0">
                <a:latin typeface="Times New Roman" panose="02020603050405020304" pitchFamily="18" charset="0"/>
              </a:rPr>
              <a:t>100</a:t>
            </a:r>
            <a:r>
              <a:rPr lang="zh-CN" altLang="en-US" sz="2800" b="1" dirty="0">
                <a:latin typeface="Times New Roman" panose="02020603050405020304" pitchFamily="18" charset="0"/>
              </a:rPr>
              <a:t>％不可能</a:t>
            </a:r>
          </a:p>
        </p:txBody>
      </p:sp>
      <p:sp>
        <p:nvSpPr>
          <p:cNvPr id="188423" name="Rectangle 7"/>
          <p:cNvSpPr>
            <a:spLocks noChangeArrowheads="1"/>
          </p:cNvSpPr>
          <p:nvPr/>
        </p:nvSpPr>
        <p:spPr bwMode="auto">
          <a:xfrm>
            <a:off x="622852" y="3337132"/>
            <a:ext cx="77073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20000"/>
              </a:spcBef>
              <a:buClr>
                <a:schemeClr val="accent1"/>
              </a:buClr>
            </a:pPr>
            <a:r>
              <a:rPr lang="zh-CN" altLang="en-US" sz="3200" b="1" dirty="0">
                <a:latin typeface="Times New Roman" panose="02020603050405020304" pitchFamily="18" charset="0"/>
                <a:ea typeface="黑体" panose="02010609060101010101" pitchFamily="49" charset="-122"/>
              </a:rPr>
              <a:t>热力学第二定律否定第二类永动机</a:t>
            </a:r>
          </a:p>
        </p:txBody>
      </p:sp>
      <p:sp>
        <p:nvSpPr>
          <p:cNvPr id="188424" name="AutoShape 8"/>
          <p:cNvSpPr>
            <a:spLocks noChangeArrowheads="1"/>
          </p:cNvSpPr>
          <p:nvPr/>
        </p:nvSpPr>
        <p:spPr bwMode="auto">
          <a:xfrm>
            <a:off x="2761215" y="4478544"/>
            <a:ext cx="1524000" cy="255588"/>
          </a:xfrm>
          <a:prstGeom prst="rightArrow">
            <a:avLst>
              <a:gd name="adj1" fmla="val 50000"/>
              <a:gd name="adj2" fmla="val 149013"/>
            </a:avLst>
          </a:prstGeom>
          <a:solidFill>
            <a:schemeClr val="accent1"/>
          </a:solidFill>
          <a:ln w="12700" cap="sq">
            <a:solidFill>
              <a:schemeClr val="tx1"/>
            </a:solidFill>
            <a:miter lim="800000"/>
            <a:headEnd type="none" w="sm" len="sm"/>
            <a:tailEnd type="none" w="sm" len="sm"/>
          </a:ln>
        </p:spPr>
        <p:txBody>
          <a:bodyPr wrap="none" anchor="ctr"/>
          <a:lstStyle/>
          <a:p>
            <a:endParaRPr lang="zh-CN" altLang="en-US"/>
          </a:p>
        </p:txBody>
      </p:sp>
      <p:sp>
        <p:nvSpPr>
          <p:cNvPr id="188425" name="Text Box 9"/>
          <p:cNvSpPr txBox="1">
            <a:spLocks noChangeArrowheads="1"/>
          </p:cNvSpPr>
          <p:nvPr/>
        </p:nvSpPr>
        <p:spPr bwMode="auto">
          <a:xfrm>
            <a:off x="4513815" y="4299157"/>
            <a:ext cx="2733675" cy="51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i="1" dirty="0" smtClean="0">
                <a:latin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100</a:t>
            </a:r>
            <a:r>
              <a:rPr lang="zh-CN" altLang="en-US" sz="2800" b="1" dirty="0">
                <a:latin typeface="Times New Roman" panose="02020603050405020304" pitchFamily="18" charset="0"/>
              </a:rPr>
              <a:t>％不可能</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8423"/>
                                        </p:tgtEl>
                                        <p:attrNameLst>
                                          <p:attrName>style.visibility</p:attrName>
                                        </p:attrNameLst>
                                      </p:cBhvr>
                                      <p:to>
                                        <p:strVal val="visible"/>
                                      </p:to>
                                    </p:set>
                                    <p:animEffect transition="in" filter="blinds(horizontal)">
                                      <p:cBhvr>
                                        <p:cTn id="7" dur="500"/>
                                        <p:tgtEl>
                                          <p:spTgt spid="18842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8424"/>
                                        </p:tgtEl>
                                        <p:attrNameLst>
                                          <p:attrName>style.visibility</p:attrName>
                                        </p:attrNameLst>
                                      </p:cBhvr>
                                      <p:to>
                                        <p:strVal val="visible"/>
                                      </p:to>
                                    </p:set>
                                    <p:animEffect transition="in" filter="blinds(horizontal)">
                                      <p:cBhvr>
                                        <p:cTn id="10" dur="500"/>
                                        <p:tgtEl>
                                          <p:spTgt spid="18842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8425"/>
                                        </p:tgtEl>
                                        <p:attrNameLst>
                                          <p:attrName>style.visibility</p:attrName>
                                        </p:attrNameLst>
                                      </p:cBhvr>
                                      <p:to>
                                        <p:strVal val="visible"/>
                                      </p:to>
                                    </p:set>
                                    <p:animEffect transition="in" filter="blinds(horizontal)">
                                      <p:cBhvr>
                                        <p:cTn id="13" dur="500"/>
                                        <p:tgtEl>
                                          <p:spTgt spid="188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3" grpId="0"/>
      <p:bldP spid="188424" grpId="0" animBg="1"/>
      <p:bldP spid="1884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矩形 93187"/>
          <p:cNvSpPr>
            <a:spLocks noChangeArrowheads="1"/>
          </p:cNvSpPr>
          <p:nvPr/>
        </p:nvSpPr>
        <p:spPr bwMode="auto">
          <a:xfrm>
            <a:off x="609600" y="1905000"/>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800" b="1" dirty="0">
                <a:latin typeface="黑体" panose="02010609060101010101" pitchFamily="49" charset="-122"/>
                <a:ea typeface="黑体" panose="02010609060101010101" pitchFamily="49" charset="-122"/>
              </a:rPr>
              <a:t>5</a:t>
            </a:r>
            <a:r>
              <a:rPr lang="zh-CN" altLang="en-US" sz="4800" b="1" dirty="0">
                <a:latin typeface="黑体" panose="02010609060101010101" pitchFamily="49" charset="-122"/>
                <a:ea typeface="黑体" panose="02010609060101010101" pitchFamily="49" charset="-122"/>
              </a:rPr>
              <a:t>－</a:t>
            </a:r>
            <a:r>
              <a:rPr lang="en-US" altLang="zh-CN" sz="4800" b="1" dirty="0">
                <a:latin typeface="黑体" panose="02010609060101010101" pitchFamily="49" charset="-122"/>
                <a:ea typeface="黑体" panose="02010609060101010101" pitchFamily="49" charset="-122"/>
              </a:rPr>
              <a:t>4 </a:t>
            </a:r>
            <a:r>
              <a:rPr lang="zh-CN" altLang="en-US" sz="4800" b="1" dirty="0">
                <a:latin typeface="黑体" panose="02010609060101010101" pitchFamily="49" charset="-122"/>
                <a:ea typeface="黑体" panose="02010609060101010101" pitchFamily="49" charset="-122"/>
              </a:rPr>
              <a:t>卡诺定理</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3" name="矩形 94212"/>
          <p:cNvSpPr>
            <a:spLocks noChangeArrowheads="1"/>
          </p:cNvSpPr>
          <p:nvPr/>
        </p:nvSpPr>
        <p:spPr bwMode="auto">
          <a:xfrm>
            <a:off x="611187" y="315852"/>
            <a:ext cx="6369119"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800" b="1" dirty="0">
                <a:ea typeface="黑体" panose="02010609060101010101" pitchFamily="49" charset="-122"/>
              </a:rPr>
              <a:t>在两个不同温度的热源之间，可以实现各种各样</a:t>
            </a:r>
            <a:r>
              <a:rPr lang="zh-CN" altLang="en-US" sz="2800" b="1" dirty="0" smtClean="0">
                <a:ea typeface="黑体" panose="02010609060101010101" pitchFamily="49" charset="-122"/>
              </a:rPr>
              <a:t>的动力循环</a:t>
            </a:r>
            <a:r>
              <a:rPr lang="zh-CN" altLang="en-US" sz="2800" b="1" dirty="0">
                <a:ea typeface="黑体" panose="02010609060101010101" pitchFamily="49" charset="-122"/>
              </a:rPr>
              <a:t>（</a:t>
            </a:r>
            <a:r>
              <a:rPr lang="zh-CN" altLang="en-US" sz="2800" b="1" dirty="0">
                <a:solidFill>
                  <a:srgbClr val="0000FF"/>
                </a:solidFill>
                <a:ea typeface="黑体" panose="02010609060101010101" pitchFamily="49" charset="-122"/>
              </a:rPr>
              <a:t>可逆</a:t>
            </a:r>
            <a:r>
              <a:rPr lang="en-US" altLang="zh-CN" sz="2800" b="1" dirty="0">
                <a:solidFill>
                  <a:srgbClr val="0000FF"/>
                </a:solidFill>
                <a:ea typeface="黑体" panose="02010609060101010101" pitchFamily="49" charset="-122"/>
              </a:rPr>
              <a:t>&amp;</a:t>
            </a:r>
            <a:r>
              <a:rPr lang="zh-CN" altLang="en-US" sz="2800" b="1" dirty="0">
                <a:solidFill>
                  <a:srgbClr val="0000FF"/>
                </a:solidFill>
                <a:ea typeface="黑体" panose="02010609060101010101" pitchFamily="49" charset="-122"/>
              </a:rPr>
              <a:t>不可逆</a:t>
            </a:r>
            <a:r>
              <a:rPr lang="zh-CN" altLang="en-US" sz="2800" b="1" dirty="0">
                <a:ea typeface="黑体" panose="02010609060101010101" pitchFamily="49" charset="-122"/>
              </a:rPr>
              <a:t>）</a:t>
            </a:r>
            <a:r>
              <a:rPr lang="zh-CN" altLang="en-US" sz="2800" dirty="0"/>
              <a:t> </a:t>
            </a:r>
          </a:p>
        </p:txBody>
      </p:sp>
      <p:sp>
        <p:nvSpPr>
          <p:cNvPr id="94217" name="矩形 94216"/>
          <p:cNvSpPr>
            <a:spLocks noChangeArrowheads="1"/>
          </p:cNvSpPr>
          <p:nvPr/>
        </p:nvSpPr>
        <p:spPr bwMode="auto">
          <a:xfrm>
            <a:off x="616020" y="1513025"/>
            <a:ext cx="5689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smtClean="0">
                <a:ea typeface="黑体" panose="02010609060101010101" pitchFamily="49" charset="-122"/>
              </a:rPr>
              <a:t>可逆循环中，工质</a:t>
            </a:r>
            <a:r>
              <a:rPr lang="zh-CN" altLang="en-US" sz="2800" b="1" dirty="0">
                <a:ea typeface="黑体" panose="02010609060101010101" pitchFamily="49" charset="-122"/>
              </a:rPr>
              <a:t>也可以多种多样</a:t>
            </a:r>
          </a:p>
        </p:txBody>
      </p:sp>
      <p:sp>
        <p:nvSpPr>
          <p:cNvPr id="94218" name="矩形 94217"/>
          <p:cNvSpPr>
            <a:spLocks noChangeArrowheads="1"/>
          </p:cNvSpPr>
          <p:nvPr/>
        </p:nvSpPr>
        <p:spPr bwMode="auto">
          <a:xfrm>
            <a:off x="611188" y="2387203"/>
            <a:ext cx="47529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rgbClr val="0000FF"/>
                </a:solidFill>
                <a:ea typeface="黑体" panose="02010609060101010101" pitchFamily="49" charset="-122"/>
              </a:rPr>
              <a:t>水、空气、氟利昂</a:t>
            </a:r>
            <a:r>
              <a:rPr lang="en-US" altLang="zh-CN" sz="2400" b="1" dirty="0">
                <a:solidFill>
                  <a:srgbClr val="0000FF"/>
                </a:solidFill>
                <a:ea typeface="黑体" panose="02010609060101010101" pitchFamily="49" charset="-122"/>
              </a:rPr>
              <a:t>……</a:t>
            </a:r>
          </a:p>
          <a:p>
            <a:r>
              <a:rPr lang="zh-CN" altLang="en-US" sz="2400" b="1" dirty="0">
                <a:solidFill>
                  <a:srgbClr val="0000FF"/>
                </a:solidFill>
                <a:ea typeface="黑体" panose="02010609060101010101" pitchFamily="49" charset="-122"/>
              </a:rPr>
              <a:t>纯净物、混合物</a:t>
            </a:r>
          </a:p>
          <a:p>
            <a:r>
              <a:rPr lang="zh-CN" altLang="en-US" sz="2400" b="1" dirty="0">
                <a:solidFill>
                  <a:srgbClr val="0000FF"/>
                </a:solidFill>
                <a:ea typeface="黑体" panose="02010609060101010101" pitchFamily="49" charset="-122"/>
              </a:rPr>
              <a:t>一部分是固体、液体、气体</a:t>
            </a:r>
          </a:p>
        </p:txBody>
      </p:sp>
      <p:sp>
        <p:nvSpPr>
          <p:cNvPr id="94219" name="矩形 94218"/>
          <p:cNvSpPr>
            <a:spLocks noChangeArrowheads="1"/>
          </p:cNvSpPr>
          <p:nvPr/>
        </p:nvSpPr>
        <p:spPr bwMode="auto">
          <a:xfrm>
            <a:off x="611188" y="4076700"/>
            <a:ext cx="7705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dirty="0">
                <a:ea typeface="黑体" panose="02010609060101010101" pitchFamily="49" charset="-122"/>
              </a:rPr>
              <a:t>1</a:t>
            </a:r>
            <a:r>
              <a:rPr lang="zh-CN" altLang="en-US" sz="3200" b="1" dirty="0">
                <a:ea typeface="黑体" panose="02010609060101010101" pitchFamily="49" charset="-122"/>
              </a:rPr>
              <a:t>、这么多</a:t>
            </a:r>
            <a:r>
              <a:rPr lang="zh-CN" altLang="en-US" sz="3200" b="1" dirty="0" smtClean="0">
                <a:ea typeface="黑体" panose="02010609060101010101" pitchFamily="49" charset="-122"/>
              </a:rPr>
              <a:t>种动力循环，</a:t>
            </a:r>
            <a:r>
              <a:rPr lang="zh-CN" altLang="en-US" sz="3200" b="1" dirty="0">
                <a:solidFill>
                  <a:srgbClr val="FF0000"/>
                </a:solidFill>
                <a:ea typeface="黑体" panose="02010609060101010101" pitchFamily="49" charset="-122"/>
              </a:rPr>
              <a:t>哪</a:t>
            </a:r>
            <a:r>
              <a:rPr lang="zh-CN" altLang="en-US" sz="3200" b="1" dirty="0" smtClean="0">
                <a:solidFill>
                  <a:srgbClr val="FF0000"/>
                </a:solidFill>
                <a:ea typeface="黑体" panose="02010609060101010101" pitchFamily="49" charset="-122"/>
              </a:rPr>
              <a:t>种热效率</a:t>
            </a:r>
            <a:r>
              <a:rPr lang="zh-CN" altLang="en-US" sz="3200" b="1" dirty="0">
                <a:solidFill>
                  <a:srgbClr val="FF0000"/>
                </a:solidFill>
                <a:ea typeface="黑体" panose="02010609060101010101" pitchFamily="49" charset="-122"/>
              </a:rPr>
              <a:t>最高？</a:t>
            </a:r>
          </a:p>
        </p:txBody>
      </p:sp>
      <p:sp>
        <p:nvSpPr>
          <p:cNvPr id="94220" name="矩形 94219"/>
          <p:cNvSpPr>
            <a:spLocks noChangeArrowheads="1"/>
          </p:cNvSpPr>
          <p:nvPr/>
        </p:nvSpPr>
        <p:spPr bwMode="auto">
          <a:xfrm>
            <a:off x="612775" y="4738688"/>
            <a:ext cx="8280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3200" b="1" dirty="0">
                <a:ea typeface="黑体" panose="02010609060101010101" pitchFamily="49" charset="-122"/>
              </a:rPr>
              <a:t>2</a:t>
            </a:r>
            <a:r>
              <a:rPr lang="zh-CN" altLang="en-US" sz="3200" b="1" dirty="0" smtClean="0">
                <a:ea typeface="黑体" panose="02010609060101010101" pitchFamily="49" charset="-122"/>
              </a:rPr>
              <a:t>、热效率</a:t>
            </a:r>
            <a:r>
              <a:rPr lang="zh-CN" altLang="en-US" sz="3200" b="1" dirty="0">
                <a:ea typeface="黑体" panose="02010609060101010101" pitchFamily="49" charset="-122"/>
              </a:rPr>
              <a:t>与</a:t>
            </a:r>
            <a:r>
              <a:rPr lang="zh-CN" altLang="en-US" sz="3200" b="1" dirty="0">
                <a:solidFill>
                  <a:srgbClr val="FF0000"/>
                </a:solidFill>
                <a:ea typeface="黑体" panose="02010609060101010101" pitchFamily="49" charset="-122"/>
              </a:rPr>
              <a:t>工质的性质</a:t>
            </a:r>
            <a:r>
              <a:rPr lang="zh-CN" altLang="en-US" sz="3200" b="1" dirty="0">
                <a:ea typeface="黑体" panose="02010609060101010101" pitchFamily="49" charset="-122"/>
              </a:rPr>
              <a:t>、</a:t>
            </a:r>
            <a:r>
              <a:rPr lang="zh-CN" altLang="en-US" sz="3200" b="1" dirty="0">
                <a:solidFill>
                  <a:srgbClr val="FF0000"/>
                </a:solidFill>
                <a:ea typeface="黑体" panose="02010609060101010101" pitchFamily="49" charset="-122"/>
              </a:rPr>
              <a:t>热机的结构</a:t>
            </a:r>
            <a:r>
              <a:rPr lang="zh-CN" altLang="en-US" sz="3200" b="1" dirty="0">
                <a:ea typeface="黑体" panose="02010609060101010101" pitchFamily="49" charset="-122"/>
              </a:rPr>
              <a:t>、工质吸收热量和作功的</a:t>
            </a:r>
            <a:r>
              <a:rPr lang="zh-CN" altLang="en-US" sz="3200" b="1" dirty="0">
                <a:solidFill>
                  <a:srgbClr val="FF0000"/>
                </a:solidFill>
                <a:ea typeface="黑体" panose="02010609060101010101" pitchFamily="49" charset="-122"/>
              </a:rPr>
              <a:t>具体数值</a:t>
            </a:r>
            <a:r>
              <a:rPr lang="zh-CN" altLang="en-US" sz="3200" b="1" dirty="0">
                <a:ea typeface="黑体" panose="02010609060101010101" pitchFamily="49" charset="-122"/>
              </a:rPr>
              <a:t>到底有没有关系？ </a:t>
            </a:r>
          </a:p>
        </p:txBody>
      </p:sp>
      <p:sp>
        <p:nvSpPr>
          <p:cNvPr id="94222" name="矩形 94221"/>
          <p:cNvSpPr>
            <a:spLocks noChangeArrowheads="1"/>
          </p:cNvSpPr>
          <p:nvPr/>
        </p:nvSpPr>
        <p:spPr bwMode="auto">
          <a:xfrm>
            <a:off x="2555875" y="5949950"/>
            <a:ext cx="3854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b="1">
                <a:latin typeface="黑体" panose="02010609060101010101" pitchFamily="49" charset="-122"/>
                <a:ea typeface="黑体" panose="02010609060101010101" pitchFamily="49" charset="-122"/>
              </a:rPr>
              <a:t>卡诺定理来回答！</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3929" y="487727"/>
            <a:ext cx="2194750" cy="3097036"/>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213"/>
                                        </p:tgtEl>
                                        <p:attrNameLst>
                                          <p:attrName>style.visibility</p:attrName>
                                        </p:attrNameLst>
                                      </p:cBhvr>
                                      <p:to>
                                        <p:strVal val="visible"/>
                                      </p:to>
                                    </p:set>
                                    <p:animEffect transition="in" filter="blinds(horizontal)">
                                      <p:cBhvr>
                                        <p:cTn id="7" dur="500"/>
                                        <p:tgtEl>
                                          <p:spTgt spid="942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4217"/>
                                        </p:tgtEl>
                                        <p:attrNameLst>
                                          <p:attrName>style.visibility</p:attrName>
                                        </p:attrNameLst>
                                      </p:cBhvr>
                                      <p:to>
                                        <p:strVal val="visible"/>
                                      </p:to>
                                    </p:set>
                                    <p:animEffect transition="in" filter="blinds(horizontal)">
                                      <p:cBhvr>
                                        <p:cTn id="12" dur="500"/>
                                        <p:tgtEl>
                                          <p:spTgt spid="9421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4218"/>
                                        </p:tgtEl>
                                        <p:attrNameLst>
                                          <p:attrName>style.visibility</p:attrName>
                                        </p:attrNameLst>
                                      </p:cBhvr>
                                      <p:to>
                                        <p:strVal val="visible"/>
                                      </p:to>
                                    </p:set>
                                    <p:animEffect transition="in" filter="blinds(horizontal)">
                                      <p:cBhvr>
                                        <p:cTn id="15" dur="500"/>
                                        <p:tgtEl>
                                          <p:spTgt spid="9421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4219"/>
                                        </p:tgtEl>
                                        <p:attrNameLst>
                                          <p:attrName>style.visibility</p:attrName>
                                        </p:attrNameLst>
                                      </p:cBhvr>
                                      <p:to>
                                        <p:strVal val="visible"/>
                                      </p:to>
                                    </p:set>
                                    <p:animEffect transition="in" filter="blinds(horizontal)">
                                      <p:cBhvr>
                                        <p:cTn id="20" dur="500"/>
                                        <p:tgtEl>
                                          <p:spTgt spid="9421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94220"/>
                                        </p:tgtEl>
                                        <p:attrNameLst>
                                          <p:attrName>style.visibility</p:attrName>
                                        </p:attrNameLst>
                                      </p:cBhvr>
                                      <p:to>
                                        <p:strVal val="visible"/>
                                      </p:to>
                                    </p:set>
                                    <p:animEffect transition="in" filter="blinds(horizontal)">
                                      <p:cBhvr>
                                        <p:cTn id="25" dur="500"/>
                                        <p:tgtEl>
                                          <p:spTgt spid="94220"/>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94222"/>
                                        </p:tgtEl>
                                        <p:attrNameLst>
                                          <p:attrName>style.visibility</p:attrName>
                                        </p:attrNameLst>
                                      </p:cBhvr>
                                      <p:to>
                                        <p:strVal val="visible"/>
                                      </p:to>
                                    </p:set>
                                    <p:animEffect transition="in" filter="blinds(horizontal)">
                                      <p:cBhvr>
                                        <p:cTn id="30" dur="500"/>
                                        <p:tgtEl>
                                          <p:spTgt spid="94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3" grpId="0"/>
      <p:bldP spid="94217" grpId="0"/>
      <p:bldP spid="94218" grpId="0"/>
      <p:bldP spid="94219" grpId="0"/>
      <p:bldP spid="94220" grpId="0"/>
      <p:bldP spid="9422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矩形 101385"/>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 name="矩形 8"/>
          <p:cNvSpPr/>
          <p:nvPr/>
        </p:nvSpPr>
        <p:spPr>
          <a:xfrm>
            <a:off x="381000" y="1838738"/>
            <a:ext cx="8140700" cy="200054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4000" b="1" dirty="0">
                <a:solidFill>
                  <a:srgbClr val="0070C0"/>
                </a:solidFill>
                <a:latin typeface="黑体" panose="02010609060101010101" pitchFamily="49" charset="-122"/>
                <a:ea typeface="黑体" panose="02010609060101010101" pitchFamily="49" charset="-122"/>
              </a:rPr>
              <a:t>卡诺定理一</a:t>
            </a:r>
            <a:r>
              <a:rPr lang="zh-CN" altLang="en-US" sz="2800" b="1" dirty="0">
                <a:latin typeface="黑体" panose="02010609060101010101" pitchFamily="49" charset="-122"/>
                <a:ea typeface="黑体" panose="02010609060101010101" pitchFamily="49" charset="-122"/>
              </a:rPr>
              <a:t>：在温度同</a:t>
            </a:r>
            <a:r>
              <a:rPr lang="zh-CN" altLang="en-US" sz="2800" b="1" dirty="0" smtClean="0">
                <a:latin typeface="黑体" panose="02010609060101010101" pitchFamily="49" charset="-122"/>
                <a:ea typeface="黑体" panose="02010609060101010101" pitchFamily="49" charset="-122"/>
              </a:rPr>
              <a:t>为</a:t>
            </a:r>
            <a:r>
              <a:rPr lang="en-US" altLang="zh-CN" sz="2800" b="1" i="1" dirty="0">
                <a:latin typeface="Times New Roman" panose="02020603050405020304" pitchFamily="18" charset="0"/>
                <a:ea typeface="黑体" panose="02010609060101010101" pitchFamily="49" charset="-122"/>
              </a:rPr>
              <a:t>T</a:t>
            </a:r>
            <a:r>
              <a:rPr lang="en-US" altLang="zh-CN" sz="2800" b="1" baseline="-25000" dirty="0">
                <a:latin typeface="Times New Roman" panose="02020603050405020304" pitchFamily="18" charset="0"/>
                <a:ea typeface="黑体" panose="02010609060101010101" pitchFamily="49" charset="-122"/>
              </a:rPr>
              <a:t>1</a:t>
            </a:r>
            <a:r>
              <a:rPr lang="zh-CN" altLang="en-US" sz="2800" b="1" dirty="0" smtClean="0">
                <a:latin typeface="黑体" panose="02010609060101010101" pitchFamily="49" charset="-122"/>
                <a:ea typeface="黑体" panose="02010609060101010101" pitchFamily="49" charset="-122"/>
              </a:rPr>
              <a:t>的</a:t>
            </a:r>
            <a:r>
              <a:rPr lang="zh-CN" altLang="en-US" sz="2800" b="1" dirty="0">
                <a:latin typeface="黑体" panose="02010609060101010101" pitchFamily="49" charset="-122"/>
                <a:ea typeface="黑体" panose="02010609060101010101" pitchFamily="49" charset="-122"/>
              </a:rPr>
              <a:t>高温热源和温度同</a:t>
            </a:r>
            <a:r>
              <a:rPr lang="zh-CN" altLang="en-US" sz="2800" b="1" dirty="0" smtClean="0">
                <a:latin typeface="黑体" panose="02010609060101010101" pitchFamily="49" charset="-122"/>
                <a:ea typeface="黑体" panose="02010609060101010101" pitchFamily="49" charset="-122"/>
              </a:rPr>
              <a:t>为</a:t>
            </a:r>
            <a:r>
              <a:rPr lang="en-US" altLang="zh-CN" sz="2800" b="1" i="1" dirty="0">
                <a:latin typeface="Times New Roman" panose="02020603050405020304" pitchFamily="18" charset="0"/>
                <a:ea typeface="黑体" panose="02010609060101010101" pitchFamily="49" charset="-122"/>
              </a:rPr>
              <a:t>T</a:t>
            </a:r>
            <a:r>
              <a:rPr lang="en-US" altLang="zh-CN" sz="2800" b="1" baseline="-25000" dirty="0">
                <a:latin typeface="Times New Roman" panose="02020603050405020304" pitchFamily="18" charset="0"/>
                <a:ea typeface="黑体" panose="02010609060101010101" pitchFamily="49" charset="-122"/>
              </a:rPr>
              <a:t>2</a:t>
            </a:r>
            <a:r>
              <a:rPr lang="zh-CN" altLang="en-US" sz="2800" b="1" dirty="0" smtClean="0">
                <a:latin typeface="黑体" panose="02010609060101010101" pitchFamily="49" charset="-122"/>
                <a:ea typeface="黑体" panose="02010609060101010101" pitchFamily="49" charset="-122"/>
              </a:rPr>
              <a:t>的</a:t>
            </a:r>
            <a:r>
              <a:rPr lang="zh-CN" altLang="en-US" sz="2800" b="1" dirty="0">
                <a:latin typeface="黑体" panose="02010609060101010101" pitchFamily="49" charset="-122"/>
                <a:ea typeface="黑体" panose="02010609060101010101" pitchFamily="49" charset="-122"/>
              </a:rPr>
              <a:t>低温热源之间工作的一切</a:t>
            </a:r>
            <a:r>
              <a:rPr lang="zh-CN" altLang="en-US" sz="2800" b="1" dirty="0">
                <a:solidFill>
                  <a:srgbClr val="FF0000"/>
                </a:solidFill>
                <a:latin typeface="黑体" panose="02010609060101010101" pitchFamily="49" charset="-122"/>
                <a:ea typeface="黑体" panose="02010609060101010101" pitchFamily="49" charset="-122"/>
              </a:rPr>
              <a:t>可逆循环</a:t>
            </a:r>
            <a:r>
              <a:rPr lang="zh-CN" altLang="en-US" sz="2800" b="1" dirty="0">
                <a:latin typeface="黑体" panose="02010609060101010101" pitchFamily="49" charset="-122"/>
                <a:ea typeface="黑体" panose="02010609060101010101" pitchFamily="49" charset="-122"/>
              </a:rPr>
              <a:t>，其</a:t>
            </a:r>
            <a:r>
              <a:rPr lang="zh-CN" altLang="en-US" sz="2800" b="1" dirty="0">
                <a:solidFill>
                  <a:srgbClr val="FF0000"/>
                </a:solidFill>
                <a:latin typeface="黑体" panose="02010609060101010101" pitchFamily="49" charset="-122"/>
                <a:ea typeface="黑体" panose="02010609060101010101" pitchFamily="49" charset="-122"/>
              </a:rPr>
              <a:t>热效率都相等</a:t>
            </a:r>
            <a:r>
              <a:rPr lang="zh-CN" altLang="en-US" sz="2800" b="1" dirty="0">
                <a:latin typeface="黑体" panose="02010609060101010101" pitchFamily="49" charset="-122"/>
                <a:ea typeface="黑体" panose="02010609060101010101" pitchFamily="49" charset="-122"/>
              </a:rPr>
              <a:t>，与可逆循环的种类无关，与采用哪一种工质也无关。 </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101380"/>
          <p:cNvGraphicFramePr/>
          <p:nvPr/>
        </p:nvGraphicFramePr>
        <p:xfrm>
          <a:off x="1497013" y="5467350"/>
          <a:ext cx="5772150" cy="768350"/>
        </p:xfrm>
        <a:graphic>
          <a:graphicData uri="http://schemas.openxmlformats.org/presentationml/2006/ole">
            <mc:AlternateContent xmlns:mc="http://schemas.openxmlformats.org/markup-compatibility/2006">
              <mc:Choice xmlns:v="urn:schemas-microsoft-com:vml" Requires="v">
                <p:oleObj spid="_x0000_s16418" name="Equation" r:id="rId3" imgW="41148000" imgH="5486400" progId="Equation.DSMT4">
                  <p:embed/>
                </p:oleObj>
              </mc:Choice>
              <mc:Fallback>
                <p:oleObj name="Equation" r:id="rId3" imgW="41148000" imgH="5486400" progId="Equation.DSMT4">
                  <p:embed/>
                  <p:pic>
                    <p:nvPicPr>
                      <p:cNvPr id="0" name="对象 101380"/>
                      <p:cNvPicPr>
                        <a:picLocks noChangeArrowheads="1"/>
                      </p:cNvPicPr>
                      <p:nvPr/>
                    </p:nvPicPr>
                    <p:blipFill>
                      <a:blip r:embed="rId4"/>
                      <a:srcRect/>
                      <a:stretch>
                        <a:fillRect/>
                      </a:stretch>
                    </p:blipFill>
                    <p:spPr bwMode="auto">
                      <a:xfrm>
                        <a:off x="1497013" y="5467350"/>
                        <a:ext cx="5772150" cy="768350"/>
                      </a:xfrm>
                      <a:prstGeom prst="rect">
                        <a:avLst/>
                      </a:prstGeom>
                      <a:solidFill>
                        <a:schemeClr val="accent1">
                          <a:lumMod val="40000"/>
                          <a:lumOff val="60000"/>
                        </a:schemeClr>
                      </a:solidFill>
                      <a:ln>
                        <a:noFill/>
                      </a:ln>
                    </p:spPr>
                  </p:pic>
                </p:oleObj>
              </mc:Fallback>
            </mc:AlternateContent>
          </a:graphicData>
        </a:graphic>
      </p:graphicFrame>
      <p:sp>
        <p:nvSpPr>
          <p:cNvPr id="4" name="矩形 3"/>
          <p:cNvSpPr/>
          <p:nvPr/>
        </p:nvSpPr>
        <p:spPr>
          <a:xfrm>
            <a:off x="1488764" y="314739"/>
            <a:ext cx="5266807" cy="646331"/>
          </a:xfrm>
          <a:prstGeom prst="rect">
            <a:avLst/>
          </a:prstGeom>
          <a:noFill/>
          <a:ln w="9525">
            <a:noFill/>
          </a:ln>
        </p:spPr>
        <p:txBody>
          <a:bodyPr wrap="squar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3600" b="1" dirty="0" smtClean="0">
                <a:latin typeface="黑体" panose="02010609060101010101" pitchFamily="49" charset="-122"/>
                <a:ea typeface="黑体" panose="02010609060101010101" pitchFamily="49" charset="-122"/>
              </a:rPr>
              <a:t>对卡诺定理一采用反证法</a:t>
            </a:r>
            <a:endParaRPr lang="zh-CN" altLang="en-US" sz="3600" b="1" dirty="0">
              <a:latin typeface="黑体" panose="02010609060101010101" pitchFamily="49" charset="-122"/>
              <a:ea typeface="黑体" panose="02010609060101010101" pitchFamily="49" charset="-122"/>
            </a:endParaRPr>
          </a:p>
        </p:txBody>
      </p:sp>
      <p:sp>
        <p:nvSpPr>
          <p:cNvPr id="5" name="文本框 101378"/>
          <p:cNvSpPr txBox="1">
            <a:spLocks noChangeArrowheads="1"/>
          </p:cNvSpPr>
          <p:nvPr/>
        </p:nvSpPr>
        <p:spPr bwMode="auto">
          <a:xfrm>
            <a:off x="4513608" y="1840395"/>
            <a:ext cx="38551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热机和</a:t>
            </a:r>
            <a:r>
              <a:rPr lang="en-US" altLang="zh-CN"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solidFill>
                  <a:srgbClr val="0000CC"/>
                </a:solidFill>
                <a:latin typeface="黑体" panose="02010609060101010101" pitchFamily="49" charset="-122"/>
                <a:ea typeface="黑体" panose="02010609060101010101" pitchFamily="49" charset="-122"/>
              </a:rPr>
              <a:t>热机是在两个热源间工作的任意可逆热机 </a:t>
            </a:r>
          </a:p>
        </p:txBody>
      </p:sp>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925" y="1377544"/>
            <a:ext cx="3816427" cy="34933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03" name="对象 102402"/>
          <p:cNvGraphicFramePr/>
          <p:nvPr/>
        </p:nvGraphicFramePr>
        <p:xfrm>
          <a:off x="685800" y="1524000"/>
          <a:ext cx="1295400" cy="596900"/>
        </p:xfrm>
        <a:graphic>
          <a:graphicData uri="http://schemas.openxmlformats.org/presentationml/2006/ole">
            <mc:AlternateContent xmlns:mc="http://schemas.openxmlformats.org/markup-compatibility/2006">
              <mc:Choice xmlns:v="urn:schemas-microsoft-com:vml" Requires="v">
                <p:oleObj spid="_x0000_s17495" name="Equation" r:id="rId4" imgW="11887200" imgH="5486400" progId="Equation.DSMT4">
                  <p:embed/>
                </p:oleObj>
              </mc:Choice>
              <mc:Fallback>
                <p:oleObj name="Equation" r:id="rId4" imgW="11887200" imgH="5486400" progId="Equation.DSMT4">
                  <p:embed/>
                  <p:pic>
                    <p:nvPicPr>
                      <p:cNvPr id="0" name="对象 102402"/>
                      <p:cNvPicPr>
                        <a:picLocks noChangeArrowheads="1"/>
                      </p:cNvPicPr>
                      <p:nvPr/>
                    </p:nvPicPr>
                    <p:blipFill>
                      <a:blip r:embed="rId5"/>
                      <a:srcRect/>
                      <a:stretch>
                        <a:fillRect/>
                      </a:stretch>
                    </p:blipFill>
                    <p:spPr bwMode="auto">
                      <a:xfrm>
                        <a:off x="685800" y="1524000"/>
                        <a:ext cx="12954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404" name="文本框 102403"/>
          <p:cNvSpPr txBox="1">
            <a:spLocks noChangeArrowheads="1"/>
          </p:cNvSpPr>
          <p:nvPr/>
        </p:nvSpPr>
        <p:spPr bwMode="auto">
          <a:xfrm>
            <a:off x="381000" y="381000"/>
            <a:ext cx="5562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dirty="0">
                <a:latin typeface="黑体" panose="02010609060101010101" pitchFamily="49" charset="-122"/>
                <a:ea typeface="黑体" panose="02010609060101010101" pitchFamily="49" charset="-122"/>
              </a:rPr>
              <a:t>采用反证法。</a:t>
            </a:r>
          </a:p>
          <a:p>
            <a:pPr>
              <a:spcBef>
                <a:spcPct val="50000"/>
              </a:spcBef>
            </a:pPr>
            <a:r>
              <a:rPr lang="zh-CN" altLang="en-US" sz="2400" b="1" dirty="0">
                <a:latin typeface="黑体" panose="02010609060101010101" pitchFamily="49" charset="-122"/>
                <a:ea typeface="黑体" panose="02010609060101010101" pitchFamily="49" charset="-122"/>
              </a:rPr>
              <a:t>假定</a:t>
            </a:r>
          </a:p>
        </p:txBody>
      </p:sp>
      <p:sp>
        <p:nvSpPr>
          <p:cNvPr id="102405" name="文本框 102404"/>
          <p:cNvSpPr txBox="1">
            <a:spLocks noChangeArrowheads="1"/>
          </p:cNvSpPr>
          <p:nvPr/>
        </p:nvSpPr>
        <p:spPr bwMode="auto">
          <a:xfrm>
            <a:off x="457200" y="3835400"/>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因为</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相等，所以</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及</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&lt;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406" name="文本框 102405"/>
          <p:cNvSpPr txBox="1">
            <a:spLocks noChangeArrowheads="1"/>
          </p:cNvSpPr>
          <p:nvPr/>
        </p:nvSpPr>
        <p:spPr bwMode="auto">
          <a:xfrm>
            <a:off x="457200" y="4478338"/>
            <a:ext cx="8229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让</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热机反向</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运行，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从</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吸热</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，向</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排热</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，消耗功</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由</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热机提供。</a:t>
            </a:r>
            <a:endPar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407" name="文本框 102406"/>
          <p:cNvSpPr txBox="1">
            <a:spLocks noChangeArrowheads="1"/>
          </p:cNvSpPr>
          <p:nvPr/>
        </p:nvSpPr>
        <p:spPr bwMode="auto">
          <a:xfrm>
            <a:off x="457200" y="5481638"/>
            <a:ext cx="8229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联合运行一个循环的结果：</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中工质回复原状，高温热源无得失，低温热源损失热量</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，复合系统输出功</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&gt;0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，违反热二开氏说法。</a:t>
            </a:r>
            <a:endPar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408" name="矩形 102407"/>
          <p:cNvSpPr>
            <a:spLocks noChangeArrowheads="1"/>
          </p:cNvSpPr>
          <p:nvPr/>
        </p:nvSpPr>
        <p:spPr bwMode="auto">
          <a:xfrm>
            <a:off x="6732588" y="1125538"/>
            <a:ext cx="2016125" cy="1236662"/>
          </a:xfrm>
          <a:prstGeom prst="rect">
            <a:avLst/>
          </a:prstGeom>
          <a:noFill/>
          <a:ln w="25400">
            <a:solidFill>
              <a:srgbClr val="FF00FF"/>
            </a:solidFill>
            <a:prstDash val="dash"/>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02410" name="对象 102409"/>
          <p:cNvGraphicFramePr/>
          <p:nvPr/>
        </p:nvGraphicFramePr>
        <p:xfrm>
          <a:off x="477838" y="2362200"/>
          <a:ext cx="1560512" cy="596900"/>
        </p:xfrm>
        <a:graphic>
          <a:graphicData uri="http://schemas.openxmlformats.org/presentationml/2006/ole">
            <mc:AlternateContent xmlns:mc="http://schemas.openxmlformats.org/markup-compatibility/2006">
              <mc:Choice xmlns:v="urn:schemas-microsoft-com:vml" Requires="v">
                <p:oleObj spid="_x0000_s17496" name="Equation" r:id="rId6" imgW="14325600" imgH="5486400" progId="Equation.DSMT4">
                  <p:embed/>
                </p:oleObj>
              </mc:Choice>
              <mc:Fallback>
                <p:oleObj name="Equation" r:id="rId6" imgW="14325600" imgH="5486400" progId="Equation.DSMT4">
                  <p:embed/>
                  <p:pic>
                    <p:nvPicPr>
                      <p:cNvPr id="0" name="对象 102409"/>
                      <p:cNvPicPr>
                        <a:picLocks noChangeArrowheads="1"/>
                      </p:cNvPicPr>
                      <p:nvPr/>
                    </p:nvPicPr>
                    <p:blipFill>
                      <a:blip r:embed="rId7"/>
                      <a:srcRect/>
                      <a:stretch>
                        <a:fillRect/>
                      </a:stretch>
                    </p:blipFill>
                    <p:spPr bwMode="auto">
                      <a:xfrm>
                        <a:off x="477838" y="2362200"/>
                        <a:ext cx="15605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2411" name="对象 102410"/>
          <p:cNvGraphicFramePr/>
          <p:nvPr/>
        </p:nvGraphicFramePr>
        <p:xfrm>
          <a:off x="6732588" y="3429000"/>
          <a:ext cx="1400175" cy="644525"/>
        </p:xfrm>
        <a:graphic>
          <a:graphicData uri="http://schemas.openxmlformats.org/presentationml/2006/ole">
            <mc:AlternateContent xmlns:mc="http://schemas.openxmlformats.org/markup-compatibility/2006">
              <mc:Choice xmlns:v="urn:schemas-microsoft-com:vml" Requires="v">
                <p:oleObj spid="_x0000_s17497" name="Equation" r:id="rId8" imgW="11887200" imgH="5486400" progId="Equation.DSMT4">
                  <p:embed/>
                </p:oleObj>
              </mc:Choice>
              <mc:Fallback>
                <p:oleObj name="Equation" r:id="rId8" imgW="11887200" imgH="5486400" progId="Equation.DSMT4">
                  <p:embed/>
                  <p:pic>
                    <p:nvPicPr>
                      <p:cNvPr id="0" name="对象 102410"/>
                      <p:cNvPicPr>
                        <a:picLocks noChangeArrowheads="1"/>
                      </p:cNvPicPr>
                      <p:nvPr/>
                    </p:nvPicPr>
                    <p:blipFill>
                      <a:blip r:embed="rId9"/>
                      <a:srcRect/>
                      <a:stretch>
                        <a:fillRect/>
                      </a:stretch>
                    </p:blipFill>
                    <p:spPr bwMode="auto">
                      <a:xfrm>
                        <a:off x="6732588" y="3429000"/>
                        <a:ext cx="1400175" cy="644525"/>
                      </a:xfrm>
                      <a:prstGeom prst="rect">
                        <a:avLst/>
                      </a:prstGeom>
                      <a:solidFill>
                        <a:schemeClr val="accent1">
                          <a:lumMod val="40000"/>
                          <a:lumOff val="60000"/>
                        </a:schemeClr>
                      </a:solidFill>
                      <a:ln>
                        <a:noFill/>
                      </a:ln>
                    </p:spPr>
                  </p:pic>
                </p:oleObj>
              </mc:Fallback>
            </mc:AlternateContent>
          </a:graphicData>
        </a:graphic>
      </p:graphicFrame>
      <p:sp>
        <p:nvSpPr>
          <p:cNvPr id="49162" name="矩形 102412"/>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64" name="矩形 102414"/>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16" name="矩形 102415"/>
          <p:cNvSpPr>
            <a:spLocks noChangeArrowheads="1"/>
          </p:cNvSpPr>
          <p:nvPr/>
        </p:nvSpPr>
        <p:spPr bwMode="auto">
          <a:xfrm>
            <a:off x="395288" y="3282306"/>
            <a:ext cx="66335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调节两台热机，使工质的循环吸热量均为</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 </a:t>
            </a:r>
          </a:p>
        </p:txBody>
      </p:sp>
      <p:pic>
        <p:nvPicPr>
          <p:cNvPr id="2" name="图片 1"/>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455384" y="230978"/>
            <a:ext cx="3305654" cy="3025782"/>
          </a:xfrm>
          <a:prstGeom prst="rect">
            <a:avLst/>
          </a:prstGeom>
        </p:spPr>
      </p:pic>
      <p:pic>
        <p:nvPicPr>
          <p:cNvPr id="3" name="图片 2"/>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086335" y="346041"/>
            <a:ext cx="2828789" cy="2877561"/>
          </a:xfrm>
          <a:prstGeom prst="rect">
            <a:avLst/>
          </a:prstGeom>
        </p:spPr>
      </p:pic>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04"/>
                                        </p:tgtEl>
                                        <p:attrNameLst>
                                          <p:attrName>style.visibility</p:attrName>
                                        </p:attrNameLst>
                                      </p:cBhvr>
                                      <p:to>
                                        <p:strVal val="visible"/>
                                      </p:to>
                                    </p:set>
                                    <p:animEffect transition="in" filter="blinds(horizontal)">
                                      <p:cBhvr>
                                        <p:cTn id="7" dur="500"/>
                                        <p:tgtEl>
                                          <p:spTgt spid="1024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03"/>
                                        </p:tgtEl>
                                        <p:attrNameLst>
                                          <p:attrName>style.visibility</p:attrName>
                                        </p:attrNameLst>
                                      </p:cBhvr>
                                      <p:to>
                                        <p:strVal val="visible"/>
                                      </p:to>
                                    </p:set>
                                    <p:animEffect transition="in" filter="blinds(horizontal)">
                                      <p:cBhvr>
                                        <p:cTn id="12" dur="500"/>
                                        <p:tgtEl>
                                          <p:spTgt spid="10240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416"/>
                                        </p:tgtEl>
                                        <p:attrNameLst>
                                          <p:attrName>style.visibility</p:attrName>
                                        </p:attrNameLst>
                                      </p:cBhvr>
                                      <p:to>
                                        <p:strVal val="visible"/>
                                      </p:to>
                                    </p:set>
                                    <p:animEffect transition="in" filter="blinds(horizontal)">
                                      <p:cBhvr>
                                        <p:cTn id="17" dur="500"/>
                                        <p:tgtEl>
                                          <p:spTgt spid="1024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2405"/>
                                        </p:tgtEl>
                                        <p:attrNameLst>
                                          <p:attrName>style.visibility</p:attrName>
                                        </p:attrNameLst>
                                      </p:cBhvr>
                                      <p:to>
                                        <p:strVal val="visible"/>
                                      </p:to>
                                    </p:set>
                                    <p:animEffect transition="in" filter="blinds(horizontal)">
                                      <p:cBhvr>
                                        <p:cTn id="22" dur="500"/>
                                        <p:tgtEl>
                                          <p:spTgt spid="10240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02406"/>
                                        </p:tgtEl>
                                        <p:attrNameLst>
                                          <p:attrName>style.visibility</p:attrName>
                                        </p:attrNameLst>
                                      </p:cBhvr>
                                      <p:to>
                                        <p:strVal val="visible"/>
                                      </p:to>
                                    </p:set>
                                    <p:animEffect transition="in" filter="blinds(horizontal)">
                                      <p:cBhvr>
                                        <p:cTn id="31" dur="500"/>
                                        <p:tgtEl>
                                          <p:spTgt spid="102406"/>
                                        </p:tgtEl>
                                      </p:cBhvr>
                                    </p:animEffect>
                                  </p:childTnLst>
                                </p:cTn>
                              </p:par>
                            </p:childTnLst>
                          </p:cTn>
                        </p:par>
                      </p:childTnLst>
                    </p:cTn>
                  </p:par>
                  <p:par>
                    <p:cTn id="32" fill="hold">
                      <p:stCondLst>
                        <p:cond delay="indefinite"/>
                      </p:stCondLst>
                      <p:childTnLst>
                        <p:par>
                          <p:cTn id="33" fill="hold">
                            <p:stCondLst>
                              <p:cond delay="0"/>
                            </p:stCondLst>
                            <p:childTnLst>
                              <p:par>
                                <p:cTn id="34" presetID="19" presetClass="entr" presetSubtype="10" fill="hold" nodeType="clickEffect">
                                  <p:stCondLst>
                                    <p:cond delay="0"/>
                                  </p:stCondLst>
                                  <p:childTnLst>
                                    <p:set>
                                      <p:cBhvr>
                                        <p:cTn id="35" dur="1" fill="hold">
                                          <p:stCondLst>
                                            <p:cond delay="0"/>
                                          </p:stCondLst>
                                        </p:cTn>
                                        <p:tgtEl>
                                          <p:spTgt spid="102408"/>
                                        </p:tgtEl>
                                        <p:attrNameLst>
                                          <p:attrName>style.visibility</p:attrName>
                                        </p:attrNameLst>
                                      </p:cBhvr>
                                      <p:to>
                                        <p:strVal val="visible"/>
                                      </p:to>
                                    </p:set>
                                    <p:anim calcmode="lin" valueType="num">
                                      <p:cBhvr>
                                        <p:cTn id="36" dur="3000" fill="hold"/>
                                        <p:tgtEl>
                                          <p:spTgt spid="102408"/>
                                        </p:tgtEl>
                                        <p:attrNameLst>
                                          <p:attrName>ppt_w</p:attrName>
                                        </p:attrNameLst>
                                      </p:cBhvr>
                                      <p:tavLst>
                                        <p:tav tm="0" fmla="#ppt_w*sin(2.5*pi*$)">
                                          <p:val>
                                            <p:fltVal val="0"/>
                                          </p:val>
                                        </p:tav>
                                        <p:tav tm="100000">
                                          <p:val>
                                            <p:fltVal val="1"/>
                                          </p:val>
                                        </p:tav>
                                      </p:tavLst>
                                    </p:anim>
                                    <p:anim calcmode="lin" valueType="num">
                                      <p:cBhvr>
                                        <p:cTn id="37" dur="3000" fill="hold"/>
                                        <p:tgtEl>
                                          <p:spTgt spid="102408"/>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2407"/>
                                        </p:tgtEl>
                                        <p:attrNameLst>
                                          <p:attrName>style.visibility</p:attrName>
                                        </p:attrNameLst>
                                      </p:cBhvr>
                                      <p:to>
                                        <p:strVal val="visible"/>
                                      </p:to>
                                    </p:set>
                                    <p:animEffect transition="in" filter="blinds(horizontal)">
                                      <p:cBhvr>
                                        <p:cTn id="42" dur="500"/>
                                        <p:tgtEl>
                                          <p:spTgt spid="10240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02410"/>
                                        </p:tgtEl>
                                        <p:attrNameLst>
                                          <p:attrName>style.visibility</p:attrName>
                                        </p:attrNameLst>
                                      </p:cBhvr>
                                      <p:to>
                                        <p:strVal val="visible"/>
                                      </p:to>
                                    </p:set>
                                    <p:animEffect transition="in" filter="blinds(horizontal)">
                                      <p:cBhvr>
                                        <p:cTn id="47" dur="500"/>
                                        <p:tgtEl>
                                          <p:spTgt spid="10241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02411"/>
                                        </p:tgtEl>
                                        <p:attrNameLst>
                                          <p:attrName>style.visibility</p:attrName>
                                        </p:attrNameLst>
                                      </p:cBhvr>
                                      <p:to>
                                        <p:strVal val="visible"/>
                                      </p:to>
                                    </p:set>
                                    <p:animEffect transition="in" filter="blinds(horizontal)">
                                      <p:cBhvr>
                                        <p:cTn id="52" dur="500"/>
                                        <p:tgtEl>
                                          <p:spTgt spid="102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p:bldP spid="102405" grpId="0"/>
      <p:bldP spid="102406" grpId="0"/>
      <p:bldP spid="102407" grpId="0"/>
      <p:bldP spid="1024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矩形 103425"/>
          <p:cNvSpPr>
            <a:spLocks noChangeArrowheads="1"/>
          </p:cNvSpPr>
          <p:nvPr/>
        </p:nvSpPr>
        <p:spPr bwMode="auto">
          <a:xfrm>
            <a:off x="381000" y="304800"/>
            <a:ext cx="8229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pPr>
            <a:endParaRPr lang="zh-CN" altLang="en-US" sz="3200"/>
          </a:p>
        </p:txBody>
      </p:sp>
      <p:sp>
        <p:nvSpPr>
          <p:cNvPr id="50183" name="矩形 103434"/>
          <p:cNvSpPr>
            <a:spLocks noChangeArrowheads="1"/>
          </p:cNvSpPr>
          <p:nvPr/>
        </p:nvSpPr>
        <p:spPr bwMode="auto">
          <a:xfrm>
            <a:off x="401638" y="1353654"/>
            <a:ext cx="820896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4000" b="1" dirty="0">
                <a:solidFill>
                  <a:srgbClr val="0070C0"/>
                </a:solidFill>
                <a:latin typeface="黑体" panose="02010609060101010101" pitchFamily="49" charset="-122"/>
                <a:ea typeface="黑体" panose="02010609060101010101" pitchFamily="49" charset="-122"/>
              </a:rPr>
              <a:t>卡诺定理二</a:t>
            </a:r>
            <a:r>
              <a:rPr lang="en-US" altLang="zh-CN" sz="2800" b="1" dirty="0" smtClean="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在温度同为</a:t>
            </a:r>
            <a:r>
              <a:rPr lang="en-US" altLang="zh-CN" sz="2800" b="1" i="1" dirty="0">
                <a:solidFill>
                  <a:srgbClr val="000000"/>
                </a:solidFill>
                <a:latin typeface="Times New Roman" panose="02020603050405020304" pitchFamily="18" charset="0"/>
                <a:ea typeface="黑体" panose="02010609060101010101" pitchFamily="49" charset="-122"/>
              </a:rPr>
              <a:t>T</a:t>
            </a:r>
            <a:r>
              <a:rPr lang="en-US" altLang="zh-CN" sz="2800" b="1" baseline="-25000" dirty="0">
                <a:solidFill>
                  <a:srgbClr val="000000"/>
                </a:solidFill>
                <a:latin typeface="Times New Roman" panose="02020603050405020304" pitchFamily="18" charset="0"/>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的高温热源和温度同为</a:t>
            </a:r>
            <a:r>
              <a:rPr lang="en-US" altLang="zh-CN" sz="2800" b="1" i="1" dirty="0">
                <a:solidFill>
                  <a:srgbClr val="000000"/>
                </a:solidFill>
                <a:latin typeface="Times New Roman" panose="02020603050405020304" pitchFamily="18" charset="0"/>
                <a:ea typeface="黑体" panose="02010609060101010101" pitchFamily="49" charset="-122"/>
              </a:rPr>
              <a:t>T</a:t>
            </a:r>
            <a:r>
              <a:rPr lang="en-US" altLang="zh-CN" sz="2800" b="1" baseline="-25000" dirty="0">
                <a:solidFill>
                  <a:srgbClr val="000000"/>
                </a:solidFill>
                <a:latin typeface="Times New Roman" panose="02020603050405020304" pitchFamily="18" charset="0"/>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的低温热源之间工作的一切</a:t>
            </a:r>
            <a:r>
              <a:rPr lang="zh-CN" altLang="en-US" sz="2800" b="1" dirty="0">
                <a:solidFill>
                  <a:srgbClr val="FF0000"/>
                </a:solidFill>
                <a:latin typeface="黑体" panose="02010609060101010101" pitchFamily="49" charset="-122"/>
                <a:ea typeface="黑体" panose="02010609060101010101" pitchFamily="49" charset="-122"/>
              </a:rPr>
              <a:t>不可逆循环</a:t>
            </a:r>
            <a:r>
              <a:rPr lang="zh-CN" altLang="en-US" sz="2800" b="1" dirty="0">
                <a:latin typeface="黑体" panose="02010609060101010101" pitchFamily="49" charset="-122"/>
                <a:ea typeface="黑体" panose="02010609060101010101" pitchFamily="49" charset="-122"/>
              </a:rPr>
              <a:t>，其热效率</a:t>
            </a:r>
            <a:r>
              <a:rPr lang="zh-CN" altLang="en-US" sz="2800" b="1" dirty="0">
                <a:solidFill>
                  <a:srgbClr val="FF0000"/>
                </a:solidFill>
                <a:latin typeface="黑体" panose="02010609060101010101" pitchFamily="49" charset="-122"/>
                <a:ea typeface="黑体" panose="02010609060101010101" pitchFamily="49" charset="-122"/>
              </a:rPr>
              <a:t>必小于可逆循环</a:t>
            </a:r>
            <a:r>
              <a:rPr lang="zh-CN" altLang="en-US" sz="2800" b="1" dirty="0">
                <a:latin typeface="黑体" panose="02010609060101010101" pitchFamily="49" charset="-122"/>
                <a:ea typeface="黑体" panose="02010609060101010101" pitchFamily="49" charset="-122"/>
              </a:rPr>
              <a:t>的热效率。</a:t>
            </a:r>
          </a:p>
        </p:txBody>
      </p:sp>
      <p:sp>
        <p:nvSpPr>
          <p:cNvPr id="50184" name="矩形 103436"/>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88764" y="314739"/>
            <a:ext cx="5266807" cy="646331"/>
          </a:xfrm>
          <a:prstGeom prst="rect">
            <a:avLst/>
          </a:prstGeom>
          <a:noFill/>
          <a:ln w="9525">
            <a:noFill/>
          </a:ln>
        </p:spPr>
        <p:txBody>
          <a:bodyPr wrap="squar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3600" b="1" dirty="0" smtClean="0">
                <a:latin typeface="黑体" panose="02010609060101010101" pitchFamily="49" charset="-122"/>
                <a:ea typeface="黑体" panose="02010609060101010101" pitchFamily="49" charset="-122"/>
              </a:rPr>
              <a:t>对卡诺定理二采用反证法</a:t>
            </a:r>
            <a:endParaRPr lang="zh-CN" altLang="en-US" sz="3600" b="1" dirty="0">
              <a:latin typeface="黑体" panose="02010609060101010101" pitchFamily="49" charset="-122"/>
              <a:ea typeface="黑体" panose="02010609060101010101" pitchFamily="49" charset="-122"/>
            </a:endParaRPr>
          </a:p>
        </p:txBody>
      </p:sp>
      <p:sp>
        <p:nvSpPr>
          <p:cNvPr id="8" name="文本框 103426"/>
          <p:cNvSpPr txBox="1">
            <a:spLocks noChangeArrowheads="1"/>
          </p:cNvSpPr>
          <p:nvPr/>
        </p:nvSpPr>
        <p:spPr bwMode="auto">
          <a:xfrm>
            <a:off x="3779838" y="2636838"/>
            <a:ext cx="556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热机：不可逆热机，热效率为</a:t>
            </a:r>
          </a:p>
        </p:txBody>
      </p:sp>
      <p:sp>
        <p:nvSpPr>
          <p:cNvPr id="9" name="文本框 103427"/>
          <p:cNvSpPr txBox="1">
            <a:spLocks noChangeArrowheads="1"/>
          </p:cNvSpPr>
          <p:nvPr/>
        </p:nvSpPr>
        <p:spPr bwMode="auto">
          <a:xfrm>
            <a:off x="3779838" y="3324225"/>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dirty="0">
                <a:solidFill>
                  <a:srgbClr val="0000CC"/>
                </a:solidFill>
                <a:latin typeface="Times New Roman" panose="02020603050405020304" pitchFamily="18" charset="0"/>
              </a:rPr>
              <a:t>B</a:t>
            </a:r>
            <a:r>
              <a:rPr lang="zh-CN" altLang="en-US" sz="2400" b="1" dirty="0">
                <a:solidFill>
                  <a:srgbClr val="0000CC"/>
                </a:solidFill>
                <a:latin typeface="黑体" panose="02010609060101010101" pitchFamily="49" charset="-122"/>
                <a:ea typeface="黑体" panose="02010609060101010101" pitchFamily="49" charset="-122"/>
              </a:rPr>
              <a:t>热机：可逆热机，热效率为</a:t>
            </a:r>
          </a:p>
        </p:txBody>
      </p:sp>
      <p:graphicFrame>
        <p:nvGraphicFramePr>
          <p:cNvPr id="10" name="对象 103431"/>
          <p:cNvGraphicFramePr>
            <a:graphicFrameLocks noChangeAspect="1"/>
          </p:cNvGraphicFramePr>
          <p:nvPr/>
        </p:nvGraphicFramePr>
        <p:xfrm>
          <a:off x="8101013" y="2565400"/>
          <a:ext cx="476100" cy="571500"/>
        </p:xfrm>
        <a:graphic>
          <a:graphicData uri="http://schemas.openxmlformats.org/presentationml/2006/ole">
            <mc:AlternateContent xmlns:mc="http://schemas.openxmlformats.org/markup-compatibility/2006">
              <mc:Choice xmlns:v="urn:schemas-microsoft-com:vml" Requires="v">
                <p:oleObj spid="_x0000_s18512" name="Equation" r:id="rId3" imgW="4572000" imgH="5486400" progId="Equation.DSMT4">
                  <p:embed/>
                </p:oleObj>
              </mc:Choice>
              <mc:Fallback>
                <p:oleObj name="Equation" r:id="rId3" imgW="4572000" imgH="5486400" progId="Equation.DSMT4">
                  <p:embed/>
                  <p:pic>
                    <p:nvPicPr>
                      <p:cNvPr id="0" name="对象 103431"/>
                      <p:cNvPicPr>
                        <a:picLocks noChangeArrowheads="1"/>
                      </p:cNvPicPr>
                      <p:nvPr/>
                    </p:nvPicPr>
                    <p:blipFill>
                      <a:blip r:embed="rId4"/>
                      <a:srcRect/>
                      <a:stretch>
                        <a:fillRect/>
                      </a:stretch>
                    </p:blipFill>
                    <p:spPr bwMode="auto">
                      <a:xfrm>
                        <a:off x="8101013" y="2565400"/>
                        <a:ext cx="476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对象 103432"/>
          <p:cNvGraphicFramePr>
            <a:graphicFrameLocks noChangeAspect="1"/>
          </p:cNvGraphicFramePr>
          <p:nvPr/>
        </p:nvGraphicFramePr>
        <p:xfrm>
          <a:off x="7966075" y="3281363"/>
          <a:ext cx="476100" cy="571500"/>
        </p:xfrm>
        <a:graphic>
          <a:graphicData uri="http://schemas.openxmlformats.org/presentationml/2006/ole">
            <mc:AlternateContent xmlns:mc="http://schemas.openxmlformats.org/markup-compatibility/2006">
              <mc:Choice xmlns:v="urn:schemas-microsoft-com:vml" Requires="v">
                <p:oleObj spid="_x0000_s18513" name="Equation" r:id="rId5" imgW="4572000" imgH="5486400" progId="Equation.DSMT4">
                  <p:embed/>
                </p:oleObj>
              </mc:Choice>
              <mc:Fallback>
                <p:oleObj name="Equation" r:id="rId5" imgW="4572000" imgH="5486400" progId="Equation.DSMT4">
                  <p:embed/>
                  <p:pic>
                    <p:nvPicPr>
                      <p:cNvPr id="0" name="对象 103432"/>
                      <p:cNvPicPr>
                        <a:picLocks noChangeArrowheads="1"/>
                      </p:cNvPicPr>
                      <p:nvPr/>
                    </p:nvPicPr>
                    <p:blipFill>
                      <a:blip r:embed="rId6"/>
                      <a:srcRect/>
                      <a:stretch>
                        <a:fillRect/>
                      </a:stretch>
                    </p:blipFill>
                    <p:spPr bwMode="auto">
                      <a:xfrm>
                        <a:off x="7966075" y="3281363"/>
                        <a:ext cx="476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对象 103428"/>
          <p:cNvGraphicFramePr/>
          <p:nvPr/>
        </p:nvGraphicFramePr>
        <p:xfrm>
          <a:off x="1252538" y="5486400"/>
          <a:ext cx="6869112" cy="833438"/>
        </p:xfrm>
        <a:graphic>
          <a:graphicData uri="http://schemas.openxmlformats.org/presentationml/2006/ole">
            <mc:AlternateContent xmlns:mc="http://schemas.openxmlformats.org/markup-compatibility/2006">
              <mc:Choice xmlns:v="urn:schemas-microsoft-com:vml" Requires="v">
                <p:oleObj spid="_x0000_s18514" name="Equation" r:id="rId7" imgW="45110400" imgH="5486400" progId="Equation.DSMT4">
                  <p:embed/>
                </p:oleObj>
              </mc:Choice>
              <mc:Fallback>
                <p:oleObj name="Equation" r:id="rId7" imgW="45110400" imgH="5486400" progId="Equation.DSMT4">
                  <p:embed/>
                  <p:pic>
                    <p:nvPicPr>
                      <p:cNvPr id="0" name="对象 103428"/>
                      <p:cNvPicPr>
                        <a:picLocks noChangeArrowheads="1"/>
                      </p:cNvPicPr>
                      <p:nvPr/>
                    </p:nvPicPr>
                    <p:blipFill>
                      <a:blip r:embed="rId8"/>
                      <a:srcRect/>
                      <a:stretch>
                        <a:fillRect/>
                      </a:stretch>
                    </p:blipFill>
                    <p:spPr bwMode="auto">
                      <a:xfrm>
                        <a:off x="1252538" y="5486400"/>
                        <a:ext cx="6869112" cy="833438"/>
                      </a:xfrm>
                      <a:prstGeom prst="rect">
                        <a:avLst/>
                      </a:prstGeom>
                      <a:solidFill>
                        <a:schemeClr val="accent1">
                          <a:lumMod val="40000"/>
                          <a:lumOff val="60000"/>
                        </a:schemeClr>
                      </a:solidFill>
                      <a:ln>
                        <a:noFill/>
                      </a:ln>
                    </p:spPr>
                  </p:pic>
                </p:oleObj>
              </mc:Fallback>
            </mc:AlternateContent>
          </a:graphicData>
        </a:graphic>
      </p:graphicFrame>
      <p:pic>
        <p:nvPicPr>
          <p:cNvPr id="2" name="图片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2404" y="1613962"/>
            <a:ext cx="3627434" cy="33348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02" name="对象 104453"/>
          <p:cNvGraphicFramePr/>
          <p:nvPr/>
        </p:nvGraphicFramePr>
        <p:xfrm>
          <a:off x="1258888" y="981075"/>
          <a:ext cx="1295400" cy="596900"/>
        </p:xfrm>
        <a:graphic>
          <a:graphicData uri="http://schemas.openxmlformats.org/presentationml/2006/ole">
            <mc:AlternateContent xmlns:mc="http://schemas.openxmlformats.org/markup-compatibility/2006">
              <mc:Choice xmlns:v="urn:schemas-microsoft-com:vml" Requires="v">
                <p:oleObj spid="_x0000_s19497" name="Equation" r:id="rId4" imgW="11887200" imgH="5486400" progId="Equation.DSMT4">
                  <p:embed/>
                </p:oleObj>
              </mc:Choice>
              <mc:Fallback>
                <p:oleObj name="Equation" r:id="rId4" imgW="11887200" imgH="5486400" progId="Equation.DSMT4">
                  <p:embed/>
                  <p:pic>
                    <p:nvPicPr>
                      <p:cNvPr id="0" name="对象 104453"/>
                      <p:cNvPicPr>
                        <a:picLocks noChangeArrowheads="1"/>
                      </p:cNvPicPr>
                      <p:nvPr/>
                    </p:nvPicPr>
                    <p:blipFill>
                      <a:blip r:embed="rId5"/>
                      <a:srcRect/>
                      <a:stretch>
                        <a:fillRect/>
                      </a:stretch>
                    </p:blipFill>
                    <p:spPr bwMode="auto">
                      <a:xfrm>
                        <a:off x="1258888" y="981075"/>
                        <a:ext cx="12954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03" name="文本框 104454"/>
          <p:cNvSpPr txBox="1">
            <a:spLocks noChangeArrowheads="1"/>
          </p:cNvSpPr>
          <p:nvPr/>
        </p:nvSpPr>
        <p:spPr bwMode="auto">
          <a:xfrm>
            <a:off x="381000" y="381000"/>
            <a:ext cx="5562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dirty="0">
                <a:latin typeface="黑体" panose="02010609060101010101" pitchFamily="49" charset="-122"/>
                <a:ea typeface="黑体" panose="02010609060101010101" pitchFamily="49" charset="-122"/>
              </a:rPr>
              <a:t>采用反证法。</a:t>
            </a:r>
          </a:p>
          <a:p>
            <a:pPr>
              <a:spcBef>
                <a:spcPct val="50000"/>
              </a:spcBef>
            </a:pPr>
            <a:r>
              <a:rPr lang="zh-CN" altLang="en-US" sz="2400" b="1" dirty="0">
                <a:latin typeface="黑体" panose="02010609060101010101" pitchFamily="49" charset="-122"/>
                <a:ea typeface="黑体" panose="02010609060101010101" pitchFamily="49" charset="-122"/>
              </a:rPr>
              <a:t>假定</a:t>
            </a:r>
          </a:p>
        </p:txBody>
      </p:sp>
      <p:sp>
        <p:nvSpPr>
          <p:cNvPr id="104456" name="文本框 104455"/>
          <p:cNvSpPr txBox="1">
            <a:spLocks noChangeArrowheads="1"/>
          </p:cNvSpPr>
          <p:nvPr/>
        </p:nvSpPr>
        <p:spPr bwMode="auto">
          <a:xfrm>
            <a:off x="457200" y="3505200"/>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因为</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相等，所以</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及</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&lt;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4457" name="文本框 104456"/>
          <p:cNvSpPr txBox="1">
            <a:spLocks noChangeArrowheads="1"/>
          </p:cNvSpPr>
          <p:nvPr/>
        </p:nvSpPr>
        <p:spPr bwMode="auto">
          <a:xfrm>
            <a:off x="457200" y="4114800"/>
            <a:ext cx="8229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因为</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为可逆热机</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，让</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反向运行，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从</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吸热</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，向</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排热</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，消耗功</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由热机</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提供。</a:t>
            </a:r>
            <a:endPar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4458" name="文本框 104457"/>
          <p:cNvSpPr txBox="1">
            <a:spLocks noChangeArrowheads="1"/>
          </p:cNvSpPr>
          <p:nvPr/>
        </p:nvSpPr>
        <p:spPr bwMode="auto">
          <a:xfrm>
            <a:off x="457200" y="5197475"/>
            <a:ext cx="8229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联合运行一个循环的结果：</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中工质回复原状，高温热源无得失，低温热源损失热量</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，复合系统输出功</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&gt;0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，违反热二开氏说法。</a:t>
            </a:r>
            <a:endPar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4459" name="矩形 104458"/>
          <p:cNvSpPr>
            <a:spLocks noChangeArrowheads="1"/>
          </p:cNvSpPr>
          <p:nvPr/>
        </p:nvSpPr>
        <p:spPr bwMode="auto">
          <a:xfrm>
            <a:off x="6588125" y="1268413"/>
            <a:ext cx="2087563" cy="1223962"/>
          </a:xfrm>
          <a:prstGeom prst="rect">
            <a:avLst/>
          </a:prstGeom>
          <a:noFill/>
          <a:ln w="25400">
            <a:solidFill>
              <a:srgbClr val="FF00FF"/>
            </a:solidFill>
            <a:prstDash val="dash"/>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08" name="矩形 104463"/>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10" name="矩形 104465"/>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11" name="文本框 104466"/>
          <p:cNvSpPr txBox="1">
            <a:spLocks noChangeArrowheads="1"/>
          </p:cNvSpPr>
          <p:nvPr/>
        </p:nvSpPr>
        <p:spPr bwMode="auto">
          <a:xfrm>
            <a:off x="323850" y="2133600"/>
            <a:ext cx="38163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调节两台热机的容量，</a:t>
            </a:r>
          </a:p>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使得循环吸热量同为</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p>
        </p:txBody>
      </p:sp>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50566" y="523046"/>
            <a:ext cx="3027165" cy="2782957"/>
          </a:xfrm>
          <a:prstGeom prst="rect">
            <a:avLst/>
          </a:prstGeom>
        </p:spPr>
      </p:pic>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43600" y="496382"/>
            <a:ext cx="2828789" cy="2877561"/>
          </a:xfrm>
          <a:prstGeom prst="rect">
            <a:avLst/>
          </a:prstGeom>
        </p:spPr>
      </p:pic>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456"/>
                                        </p:tgtEl>
                                        <p:attrNameLst>
                                          <p:attrName>style.visibility</p:attrName>
                                        </p:attrNameLst>
                                      </p:cBhvr>
                                      <p:to>
                                        <p:strVal val="visible"/>
                                      </p:to>
                                    </p:set>
                                    <p:animEffect transition="in" filter="blinds(horizontal)">
                                      <p:cBhvr>
                                        <p:cTn id="7" dur="500"/>
                                        <p:tgtEl>
                                          <p:spTgt spid="10445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04457"/>
                                        </p:tgtEl>
                                        <p:attrNameLst>
                                          <p:attrName>style.visibility</p:attrName>
                                        </p:attrNameLst>
                                      </p:cBhvr>
                                      <p:to>
                                        <p:strVal val="visible"/>
                                      </p:to>
                                    </p:set>
                                    <p:animEffect transition="in" filter="blinds(horizontal)">
                                      <p:cBhvr>
                                        <p:cTn id="16" dur="500"/>
                                        <p:tgtEl>
                                          <p:spTgt spid="104457"/>
                                        </p:tgtEl>
                                      </p:cBhvr>
                                    </p:animEffect>
                                  </p:childTnLst>
                                </p:cTn>
                              </p:par>
                            </p:childTnLst>
                          </p:cTn>
                        </p:par>
                      </p:childTnLst>
                    </p:cTn>
                  </p:par>
                  <p:par>
                    <p:cTn id="17" fill="hold">
                      <p:stCondLst>
                        <p:cond delay="indefinite"/>
                      </p:stCondLst>
                      <p:childTnLst>
                        <p:par>
                          <p:cTn id="18" fill="hold">
                            <p:stCondLst>
                              <p:cond delay="0"/>
                            </p:stCondLst>
                            <p:childTnLst>
                              <p:par>
                                <p:cTn id="19" presetID="19" presetClass="entr" presetSubtype="10" fill="hold" nodeType="clickEffect">
                                  <p:stCondLst>
                                    <p:cond delay="0"/>
                                  </p:stCondLst>
                                  <p:childTnLst>
                                    <p:set>
                                      <p:cBhvr>
                                        <p:cTn id="20" dur="1" fill="hold">
                                          <p:stCondLst>
                                            <p:cond delay="0"/>
                                          </p:stCondLst>
                                        </p:cTn>
                                        <p:tgtEl>
                                          <p:spTgt spid="104459"/>
                                        </p:tgtEl>
                                        <p:attrNameLst>
                                          <p:attrName>style.visibility</p:attrName>
                                        </p:attrNameLst>
                                      </p:cBhvr>
                                      <p:to>
                                        <p:strVal val="visible"/>
                                      </p:to>
                                    </p:set>
                                    <p:anim calcmode="lin" valueType="num">
                                      <p:cBhvr>
                                        <p:cTn id="21" dur="3000" fill="hold"/>
                                        <p:tgtEl>
                                          <p:spTgt spid="104459"/>
                                        </p:tgtEl>
                                        <p:attrNameLst>
                                          <p:attrName>ppt_w</p:attrName>
                                        </p:attrNameLst>
                                      </p:cBhvr>
                                      <p:tavLst>
                                        <p:tav tm="0" fmla="#ppt_w*sin(2.5*pi*$)">
                                          <p:val>
                                            <p:fltVal val="0"/>
                                          </p:val>
                                        </p:tav>
                                        <p:tav tm="100000">
                                          <p:val>
                                            <p:fltVal val="1"/>
                                          </p:val>
                                        </p:tav>
                                      </p:tavLst>
                                    </p:anim>
                                    <p:anim calcmode="lin" valueType="num">
                                      <p:cBhvr>
                                        <p:cTn id="22" dur="3000" fill="hold"/>
                                        <p:tgtEl>
                                          <p:spTgt spid="104459"/>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4458"/>
                                        </p:tgtEl>
                                        <p:attrNameLst>
                                          <p:attrName>style.visibility</p:attrName>
                                        </p:attrNameLst>
                                      </p:cBhvr>
                                      <p:to>
                                        <p:strVal val="visible"/>
                                      </p:to>
                                    </p:set>
                                    <p:animEffect transition="in" filter="blinds(horizontal)">
                                      <p:cBhvr>
                                        <p:cTn id="27" dur="500"/>
                                        <p:tgtEl>
                                          <p:spTgt spid="104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6" grpId="0"/>
      <p:bldP spid="104457" grpId="0"/>
      <p:bldP spid="10445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5" name="对象 105474"/>
          <p:cNvGraphicFramePr/>
          <p:nvPr/>
        </p:nvGraphicFramePr>
        <p:xfrm>
          <a:off x="245269" y="1225619"/>
          <a:ext cx="1295400" cy="596900"/>
        </p:xfrm>
        <a:graphic>
          <a:graphicData uri="http://schemas.openxmlformats.org/presentationml/2006/ole">
            <mc:AlternateContent xmlns:mc="http://schemas.openxmlformats.org/markup-compatibility/2006">
              <mc:Choice xmlns:v="urn:schemas-microsoft-com:vml" Requires="v">
                <p:oleObj spid="_x0000_s20548" r:id="rId4" imgW="495300" imgH="228600" progId="Equation.DSMT4">
                  <p:embed/>
                </p:oleObj>
              </mc:Choice>
              <mc:Fallback>
                <p:oleObj r:id="rId4" imgW="495300" imgH="228600" progId="Equation.DSMT4">
                  <p:embed/>
                  <p:pic>
                    <p:nvPicPr>
                      <p:cNvPr id="0" name="对象 10547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269" y="1225619"/>
                        <a:ext cx="12954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5476" name="文本框 105475"/>
          <p:cNvSpPr txBox="1">
            <a:spLocks noChangeArrowheads="1"/>
          </p:cNvSpPr>
          <p:nvPr/>
        </p:nvSpPr>
        <p:spPr bwMode="auto">
          <a:xfrm>
            <a:off x="381000" y="381000"/>
            <a:ext cx="556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dirty="0">
                <a:latin typeface="黑体" panose="02010609060101010101" pitchFamily="49" charset="-122"/>
                <a:ea typeface="黑体" panose="02010609060101010101" pitchFamily="49" charset="-122"/>
              </a:rPr>
              <a:t>如果</a:t>
            </a:r>
          </a:p>
        </p:txBody>
      </p:sp>
      <p:sp>
        <p:nvSpPr>
          <p:cNvPr id="105477" name="文本框 105476"/>
          <p:cNvSpPr txBox="1">
            <a:spLocks noChangeArrowheads="1"/>
          </p:cNvSpPr>
          <p:nvPr/>
        </p:nvSpPr>
        <p:spPr bwMode="auto">
          <a:xfrm>
            <a:off x="457200" y="3248025"/>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因为</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相等，所以</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及</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5478" name="文本框 105477"/>
          <p:cNvSpPr txBox="1">
            <a:spLocks noChangeArrowheads="1"/>
          </p:cNvSpPr>
          <p:nvPr/>
        </p:nvSpPr>
        <p:spPr bwMode="auto">
          <a:xfrm>
            <a:off x="457200" y="3857625"/>
            <a:ext cx="8229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因为</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为可逆热机</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，让</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反向运行，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从</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吸热</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，向</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排热</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，消耗功</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由热机</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提供。</a:t>
            </a:r>
            <a:endPar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5479" name="文本框 105478"/>
          <p:cNvSpPr txBox="1">
            <a:spLocks noChangeArrowheads="1"/>
          </p:cNvSpPr>
          <p:nvPr/>
        </p:nvSpPr>
        <p:spPr bwMode="auto">
          <a:xfrm>
            <a:off x="457200" y="4772025"/>
            <a:ext cx="8229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联合运行一个循环的结果：</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中工质回复原状，高温热源无得失，低温热源损失热量</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，复合系统输出功</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。即所有物质恢复原状而不留下其它变化，与</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是不可逆热机矛盾。</a:t>
            </a:r>
            <a:endPar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5480" name="矩形 105479"/>
          <p:cNvSpPr>
            <a:spLocks noChangeArrowheads="1"/>
          </p:cNvSpPr>
          <p:nvPr/>
        </p:nvSpPr>
        <p:spPr bwMode="auto">
          <a:xfrm>
            <a:off x="6084888" y="1125538"/>
            <a:ext cx="2087562" cy="1223962"/>
          </a:xfrm>
          <a:prstGeom prst="rect">
            <a:avLst/>
          </a:prstGeom>
          <a:noFill/>
          <a:ln w="25400">
            <a:solidFill>
              <a:srgbClr val="FF00FF"/>
            </a:solidFill>
            <a:prstDash val="dash"/>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32" name="矩形 105481"/>
          <p:cNvSpPr>
            <a:spLocks noChangeArrowheads="1"/>
          </p:cNvSpPr>
          <p:nvPr/>
        </p:nvSpPr>
        <p:spPr bwMode="auto">
          <a:xfrm>
            <a:off x="0" y="199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234" name="矩形 105483"/>
          <p:cNvSpPr>
            <a:spLocks noChangeArrowheads="1"/>
          </p:cNvSpPr>
          <p:nvPr/>
        </p:nvSpPr>
        <p:spPr bwMode="auto">
          <a:xfrm>
            <a:off x="0" y="1985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 name="文本框 12"/>
          <p:cNvSpPr txBox="1">
            <a:spLocks noChangeArrowheads="1"/>
          </p:cNvSpPr>
          <p:nvPr/>
        </p:nvSpPr>
        <p:spPr bwMode="auto">
          <a:xfrm>
            <a:off x="1612106" y="1317144"/>
            <a:ext cx="556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dirty="0">
                <a:solidFill>
                  <a:srgbClr val="FF0000"/>
                </a:solidFill>
                <a:latin typeface="黑体" panose="02010609060101010101" pitchFamily="49" charset="-122"/>
                <a:ea typeface="黑体" panose="02010609060101010101" pitchFamily="49" charset="-122"/>
              </a:rPr>
              <a:t>不可能</a:t>
            </a:r>
          </a:p>
        </p:txBody>
      </p:sp>
      <p:graphicFrame>
        <p:nvGraphicFramePr>
          <p:cNvPr id="14" name="对象 103428"/>
          <p:cNvGraphicFramePr>
            <a:graphicFrameLocks noChangeAspect="1"/>
          </p:cNvGraphicFramePr>
          <p:nvPr/>
        </p:nvGraphicFramePr>
        <p:xfrm>
          <a:off x="918722" y="2147956"/>
          <a:ext cx="1237500" cy="571500"/>
        </p:xfrm>
        <a:graphic>
          <a:graphicData uri="http://schemas.openxmlformats.org/presentationml/2006/ole">
            <mc:AlternateContent xmlns:mc="http://schemas.openxmlformats.org/markup-compatibility/2006">
              <mc:Choice xmlns:v="urn:schemas-microsoft-com:vml" Requires="v">
                <p:oleObj spid="_x0000_s20549" name="Equation" r:id="rId6" imgW="11887200" imgH="5486400" progId="Equation.DSMT4">
                  <p:embed/>
                </p:oleObj>
              </mc:Choice>
              <mc:Fallback>
                <p:oleObj name="Equation" r:id="rId6" imgW="11887200" imgH="5486400" progId="Equation.DSMT4">
                  <p:embed/>
                  <p:pic>
                    <p:nvPicPr>
                      <p:cNvPr id="0" name="对象 103428"/>
                      <p:cNvPicPr>
                        <a:picLocks noChangeArrowheads="1"/>
                      </p:cNvPicPr>
                      <p:nvPr/>
                    </p:nvPicPr>
                    <p:blipFill>
                      <a:blip r:embed="rId7"/>
                      <a:srcRect/>
                      <a:stretch>
                        <a:fillRect/>
                      </a:stretch>
                    </p:blipFill>
                    <p:spPr bwMode="auto">
                      <a:xfrm>
                        <a:off x="918722" y="2147956"/>
                        <a:ext cx="1237500" cy="571500"/>
                      </a:xfrm>
                      <a:prstGeom prst="rect">
                        <a:avLst/>
                      </a:prstGeom>
                      <a:solidFill>
                        <a:schemeClr val="accent1">
                          <a:lumMod val="40000"/>
                          <a:lumOff val="60000"/>
                        </a:schemeClr>
                      </a:solidFill>
                      <a:ln>
                        <a:noFill/>
                      </a:ln>
                    </p:spPr>
                  </p:pic>
                </p:oleObj>
              </mc:Fallback>
            </mc:AlternateContent>
          </a:graphicData>
        </a:graphic>
      </p:graphicFrame>
      <p:pic>
        <p:nvPicPr>
          <p:cNvPr id="2" name="图片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20799" y="328762"/>
            <a:ext cx="3145809" cy="2877561"/>
          </a:xfrm>
          <a:prstGeom prst="rect">
            <a:avLst/>
          </a:prstGeom>
        </p:spPr>
      </p:pic>
      <p:pic>
        <p:nvPicPr>
          <p:cNvPr id="3" name="图片 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81240" y="314094"/>
            <a:ext cx="2103302" cy="2883658"/>
          </a:xfrm>
          <a:prstGeom prst="rect">
            <a:avLst/>
          </a:prstGeom>
        </p:spPr>
      </p:pic>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5476"/>
                                        </p:tgtEl>
                                        <p:attrNameLst>
                                          <p:attrName>style.visibility</p:attrName>
                                        </p:attrNameLst>
                                      </p:cBhvr>
                                      <p:to>
                                        <p:strVal val="visible"/>
                                      </p:to>
                                    </p:set>
                                    <p:animEffect transition="in" filter="blinds(horizontal)">
                                      <p:cBhvr>
                                        <p:cTn id="7" dur="500"/>
                                        <p:tgtEl>
                                          <p:spTgt spid="1054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5475"/>
                                        </p:tgtEl>
                                        <p:attrNameLst>
                                          <p:attrName>style.visibility</p:attrName>
                                        </p:attrNameLst>
                                      </p:cBhvr>
                                      <p:to>
                                        <p:strVal val="visible"/>
                                      </p:to>
                                    </p:set>
                                    <p:animEffect transition="in" filter="blinds(horizontal)">
                                      <p:cBhvr>
                                        <p:cTn id="12" dur="500"/>
                                        <p:tgtEl>
                                          <p:spTgt spid="10547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5477"/>
                                        </p:tgtEl>
                                        <p:attrNameLst>
                                          <p:attrName>style.visibility</p:attrName>
                                        </p:attrNameLst>
                                      </p:cBhvr>
                                      <p:to>
                                        <p:strVal val="visible"/>
                                      </p:to>
                                    </p:set>
                                    <p:animEffect transition="in" filter="blinds(horizontal)">
                                      <p:cBhvr>
                                        <p:cTn id="17" dur="500"/>
                                        <p:tgtEl>
                                          <p:spTgt spid="10547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05478"/>
                                        </p:tgtEl>
                                        <p:attrNameLst>
                                          <p:attrName>style.visibility</p:attrName>
                                        </p:attrNameLst>
                                      </p:cBhvr>
                                      <p:to>
                                        <p:strVal val="visible"/>
                                      </p:to>
                                    </p:set>
                                    <p:animEffect transition="in" filter="blinds(horizontal)">
                                      <p:cBhvr>
                                        <p:cTn id="26" dur="500"/>
                                        <p:tgtEl>
                                          <p:spTgt spid="105478"/>
                                        </p:tgtEl>
                                      </p:cBhvr>
                                    </p:animEffect>
                                  </p:childTnLst>
                                </p:cTn>
                              </p:par>
                            </p:childTnLst>
                          </p:cTn>
                        </p:par>
                      </p:childTnLst>
                    </p:cTn>
                  </p:par>
                  <p:par>
                    <p:cTn id="27" fill="hold">
                      <p:stCondLst>
                        <p:cond delay="indefinite"/>
                      </p:stCondLst>
                      <p:childTnLst>
                        <p:par>
                          <p:cTn id="28" fill="hold">
                            <p:stCondLst>
                              <p:cond delay="0"/>
                            </p:stCondLst>
                            <p:childTnLst>
                              <p:par>
                                <p:cTn id="29" presetID="19" presetClass="entr" presetSubtype="10" fill="hold" nodeType="clickEffect">
                                  <p:stCondLst>
                                    <p:cond delay="0"/>
                                  </p:stCondLst>
                                  <p:childTnLst>
                                    <p:set>
                                      <p:cBhvr>
                                        <p:cTn id="30" dur="1" fill="hold">
                                          <p:stCondLst>
                                            <p:cond delay="0"/>
                                          </p:stCondLst>
                                        </p:cTn>
                                        <p:tgtEl>
                                          <p:spTgt spid="105480"/>
                                        </p:tgtEl>
                                        <p:attrNameLst>
                                          <p:attrName>style.visibility</p:attrName>
                                        </p:attrNameLst>
                                      </p:cBhvr>
                                      <p:to>
                                        <p:strVal val="visible"/>
                                      </p:to>
                                    </p:set>
                                    <p:anim calcmode="lin" valueType="num">
                                      <p:cBhvr>
                                        <p:cTn id="31" dur="3000" fill="hold"/>
                                        <p:tgtEl>
                                          <p:spTgt spid="105480"/>
                                        </p:tgtEl>
                                        <p:attrNameLst>
                                          <p:attrName>ppt_w</p:attrName>
                                        </p:attrNameLst>
                                      </p:cBhvr>
                                      <p:tavLst>
                                        <p:tav tm="0" fmla="#ppt_w*sin(2.5*pi*$)">
                                          <p:val>
                                            <p:fltVal val="0"/>
                                          </p:val>
                                        </p:tav>
                                        <p:tav tm="100000">
                                          <p:val>
                                            <p:fltVal val="1"/>
                                          </p:val>
                                        </p:tav>
                                      </p:tavLst>
                                    </p:anim>
                                    <p:anim calcmode="lin" valueType="num">
                                      <p:cBhvr>
                                        <p:cTn id="32" dur="3000" fill="hold"/>
                                        <p:tgtEl>
                                          <p:spTgt spid="105480"/>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5479"/>
                                        </p:tgtEl>
                                        <p:attrNameLst>
                                          <p:attrName>style.visibility</p:attrName>
                                        </p:attrNameLst>
                                      </p:cBhvr>
                                      <p:to>
                                        <p:strVal val="visible"/>
                                      </p:to>
                                    </p:set>
                                    <p:animEffect transition="in" filter="blinds(horizontal)">
                                      <p:cBhvr>
                                        <p:cTn id="37" dur="500"/>
                                        <p:tgtEl>
                                          <p:spTgt spid="10547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linds(horizont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up)">
                                      <p:cBhvr>
                                        <p:cTn id="5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p:bldP spid="105477" grpId="0"/>
      <p:bldP spid="105478" grpId="0"/>
      <p:bldP spid="105479" grpId="0"/>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矩形 159745"/>
          <p:cNvSpPr>
            <a:spLocks noChangeArrowheads="1"/>
          </p:cNvSpPr>
          <p:nvPr/>
        </p:nvSpPr>
        <p:spPr bwMode="auto">
          <a:xfrm>
            <a:off x="609600" y="1905000"/>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000" b="1" dirty="0">
                <a:latin typeface="黑体" panose="02010609060101010101" pitchFamily="49" charset="-122"/>
                <a:ea typeface="黑体" panose="02010609060101010101" pitchFamily="49" charset="-122"/>
              </a:rPr>
              <a:t>5</a:t>
            </a:r>
            <a:r>
              <a:rPr lang="zh-CN" altLang="en-US" sz="4000" b="1" dirty="0">
                <a:latin typeface="黑体" panose="02010609060101010101" pitchFamily="49" charset="-122"/>
                <a:ea typeface="黑体" panose="02010609060101010101" pitchFamily="49" charset="-122"/>
              </a:rPr>
              <a:t>－</a:t>
            </a:r>
            <a:r>
              <a:rPr lang="en-US" altLang="zh-CN" sz="4000" b="1" dirty="0">
                <a:latin typeface="黑体" panose="02010609060101010101" pitchFamily="49" charset="-122"/>
                <a:ea typeface="黑体" panose="02010609060101010101" pitchFamily="49" charset="-122"/>
              </a:rPr>
              <a:t>5 </a:t>
            </a:r>
            <a:r>
              <a:rPr lang="zh-CN" altLang="en-US" sz="4000" b="1" dirty="0">
                <a:latin typeface="黑体" panose="02010609060101010101" pitchFamily="49" charset="-122"/>
                <a:ea typeface="黑体" panose="02010609060101010101" pitchFamily="49" charset="-122"/>
              </a:rPr>
              <a:t>热力学温标</a:t>
            </a:r>
            <a:r>
              <a:rPr lang="zh-CN" altLang="en-US" sz="4000" b="1" baseline="30000" dirty="0">
                <a:latin typeface="黑体" panose="02010609060101010101" pitchFamily="49" charset="-122"/>
                <a:ea typeface="黑体" panose="02010609060101010101"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文本占位符 169989"/>
          <p:cNvSpPr>
            <a:spLocks noGrp="1" noChangeArrowheads="1"/>
          </p:cNvSpPr>
          <p:nvPr>
            <p:ph idx="1"/>
          </p:nvPr>
        </p:nvSpPr>
        <p:spPr>
          <a:xfrm>
            <a:off x="395288" y="908050"/>
            <a:ext cx="8229600" cy="4525963"/>
          </a:xfrm>
        </p:spPr>
        <p:txBody>
          <a:bodyPr/>
          <a:lstStyle/>
          <a:p>
            <a:r>
              <a:rPr lang="zh-CN" altLang="en-US" sz="3600" b="1" dirty="0" smtClean="0">
                <a:latin typeface="黑体" panose="02010609060101010101" pitchFamily="49" charset="-122"/>
                <a:ea typeface="黑体" panose="02010609060101010101" pitchFamily="49" charset="-122"/>
              </a:rPr>
              <a:t>在热力学中，温度是系统的一个重要状态参数</a:t>
            </a:r>
          </a:p>
          <a:p>
            <a:r>
              <a:rPr lang="zh-CN" altLang="en-US" sz="3600" b="1" dirty="0" smtClean="0">
                <a:latin typeface="黑体" panose="02010609060101010101" pitchFamily="49" charset="-122"/>
                <a:ea typeface="黑体" panose="02010609060101010101" pitchFamily="49" charset="-122"/>
              </a:rPr>
              <a:t>热力学第一定律考察的是能量的守恒关系，在能量方程的数学表达式不直接出现温度这一物理量</a:t>
            </a:r>
          </a:p>
          <a:p>
            <a:r>
              <a:rPr lang="zh-CN" altLang="en-US" sz="3600" b="1" dirty="0" smtClean="0">
                <a:latin typeface="黑体" panose="02010609060101010101" pitchFamily="49" charset="-122"/>
                <a:ea typeface="黑体" panose="02010609060101010101" pitchFamily="49" charset="-122"/>
              </a:rPr>
              <a:t>但在热力学第二定律的数学表达式中</a:t>
            </a:r>
            <a:r>
              <a:rPr lang="zh-CN" altLang="en-US" sz="2800" b="1" dirty="0" smtClean="0">
                <a:solidFill>
                  <a:srgbClr val="0070C0"/>
                </a:solidFill>
                <a:latin typeface="黑体" panose="02010609060101010101" pitchFamily="49" charset="-122"/>
                <a:ea typeface="黑体" panose="02010609060101010101" pitchFamily="49" charset="-122"/>
              </a:rPr>
              <a:t>（下一章学习）</a:t>
            </a:r>
            <a:r>
              <a:rPr lang="zh-CN" altLang="en-US" sz="3600" b="1" dirty="0" smtClean="0">
                <a:latin typeface="黑体" panose="02010609060101010101" pitchFamily="49" charset="-122"/>
                <a:ea typeface="黑体" panose="02010609060101010101" pitchFamily="49" charset="-122"/>
              </a:rPr>
              <a:t>，会直接出现温度</a:t>
            </a:r>
          </a:p>
          <a:p>
            <a:endParaRPr lang="zh-CN" altLang="en-US" sz="36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矩形 172035"/>
          <p:cNvSpPr>
            <a:spLocks noChangeArrowheads="1"/>
          </p:cNvSpPr>
          <p:nvPr/>
        </p:nvSpPr>
        <p:spPr bwMode="auto">
          <a:xfrm>
            <a:off x="395288" y="908050"/>
            <a:ext cx="822960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3600" b="1" dirty="0">
                <a:latin typeface="黑体" panose="02010609060101010101" pitchFamily="49" charset="-122"/>
                <a:ea typeface="黑体" panose="02010609060101010101" pitchFamily="49" charset="-122"/>
              </a:rPr>
              <a:t>为了对温度进行定量度量，就需要确定温度标尺（表示温度高低的尺度，简称温标）</a:t>
            </a:r>
          </a:p>
          <a:p>
            <a:pPr>
              <a:spcBef>
                <a:spcPct val="20000"/>
              </a:spcBef>
              <a:buFontTx/>
              <a:buChar char="•"/>
            </a:pPr>
            <a:r>
              <a:rPr lang="zh-CN" altLang="en-US" sz="3600" b="1" dirty="0">
                <a:latin typeface="黑体" panose="02010609060101010101" pitchFamily="49" charset="-122"/>
                <a:ea typeface="黑体" panose="02010609060101010101" pitchFamily="49" charset="-122"/>
              </a:rPr>
              <a:t>任何一种温标的建立，除了选择一定的测温手段外，还需要确立两个</a:t>
            </a:r>
            <a:r>
              <a:rPr lang="zh-CN" altLang="en-US" sz="3600" b="1" dirty="0" smtClean="0">
                <a:latin typeface="黑体" panose="02010609060101010101" pitchFamily="49" charset="-122"/>
                <a:ea typeface="黑体" panose="02010609060101010101" pitchFamily="49" charset="-122"/>
              </a:rPr>
              <a:t>方面：</a:t>
            </a:r>
            <a:endParaRPr lang="zh-CN" altLang="en-US" sz="3600" b="1" dirty="0">
              <a:latin typeface="黑体" panose="02010609060101010101" pitchFamily="49" charset="-122"/>
              <a:ea typeface="黑体" panose="02010609060101010101" pitchFamily="49" charset="-122"/>
            </a:endParaRPr>
          </a:p>
          <a:p>
            <a:pPr>
              <a:spcBef>
                <a:spcPct val="20000"/>
              </a:spcBef>
            </a:pPr>
            <a:r>
              <a:rPr lang="zh-CN" altLang="en-US" sz="3600" b="1" dirty="0">
                <a:latin typeface="黑体" panose="02010609060101010101" pitchFamily="49" charset="-122"/>
                <a:ea typeface="黑体" panose="02010609060101010101" pitchFamily="49" charset="-122"/>
              </a:rPr>
              <a:t>     </a:t>
            </a:r>
            <a:r>
              <a:rPr lang="zh-CN" altLang="en-US" sz="3600" b="1" dirty="0">
                <a:solidFill>
                  <a:srgbClr val="FF0000"/>
                </a:solidFill>
                <a:latin typeface="黑体" panose="02010609060101010101" pitchFamily="49" charset="-122"/>
                <a:ea typeface="黑体" panose="02010609060101010101" pitchFamily="49" charset="-122"/>
              </a:rPr>
              <a:t>一、温标的基准点；</a:t>
            </a:r>
          </a:p>
          <a:p>
            <a:pPr>
              <a:spcBef>
                <a:spcPct val="20000"/>
              </a:spcBef>
            </a:pPr>
            <a:r>
              <a:rPr lang="zh-CN" altLang="en-US" sz="3600" b="1" dirty="0">
                <a:solidFill>
                  <a:srgbClr val="FF0000"/>
                </a:solidFill>
                <a:latin typeface="黑体" panose="02010609060101010101" pitchFamily="49" charset="-122"/>
                <a:ea typeface="黑体" panose="02010609060101010101" pitchFamily="49" charset="-122"/>
              </a:rPr>
              <a:t>     二、确定分度的方法。</a:t>
            </a:r>
          </a:p>
          <a:p>
            <a:pPr>
              <a:spcBef>
                <a:spcPct val="20000"/>
              </a:spcBef>
              <a:buFontTx/>
              <a:buChar char="•"/>
            </a:pPr>
            <a:endParaRPr lang="zh-CN" altLang="en-US" sz="3600" b="1" dirty="0">
              <a:solidFill>
                <a:srgbClr val="FF0000"/>
              </a:solidFill>
              <a:latin typeface="黑体" panose="02010609060101010101" pitchFamily="49" charset="-122"/>
              <a:ea typeface="黑体" panose="02010609060101010101" pitchFamily="49" charset="-122"/>
            </a:endParaRPr>
          </a:p>
        </p:txBody>
      </p:sp>
      <p:sp>
        <p:nvSpPr>
          <p:cNvPr id="4" name="矩形 3"/>
          <p:cNvSpPr/>
          <p:nvPr/>
        </p:nvSpPr>
        <p:spPr>
          <a:xfrm>
            <a:off x="2240887" y="5517931"/>
            <a:ext cx="4355680" cy="646331"/>
          </a:xfrm>
          <a:prstGeom prst="rect">
            <a:avLst/>
          </a:prstGeom>
        </p:spPr>
        <p:txBody>
          <a:bodyPr wrap="none">
            <a:spAutoFit/>
          </a:bodyPr>
          <a:lstStyle/>
          <a:p>
            <a:r>
              <a:rPr lang="zh-CN" altLang="en-US" sz="3600" b="1" dirty="0" smtClean="0">
                <a:solidFill>
                  <a:prstClr val="black"/>
                </a:solidFill>
                <a:latin typeface="黑体" panose="02010609060101010101" pitchFamily="49" charset="-122"/>
                <a:ea typeface="黑体" panose="02010609060101010101" pitchFamily="49" charset="-122"/>
              </a:rPr>
              <a:t>两者的选择是人为的</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矩形 160770"/>
          <p:cNvSpPr>
            <a:spLocks noChangeArrowheads="1"/>
          </p:cNvSpPr>
          <p:nvPr/>
        </p:nvSpPr>
        <p:spPr bwMode="auto">
          <a:xfrm>
            <a:off x="539750" y="620713"/>
            <a:ext cx="80645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a:solidFill>
                  <a:srgbClr val="0000FF"/>
                </a:solidFill>
                <a:latin typeface="黑体" panose="02010609060101010101" pitchFamily="49" charset="-122"/>
                <a:ea typeface="黑体" panose="02010609060101010101" pitchFamily="49" charset="-122"/>
              </a:rPr>
              <a:t>摄氏温标</a:t>
            </a:r>
            <a:r>
              <a:rPr lang="zh-CN" altLang="en-US" sz="3200" b="1">
                <a:latin typeface="黑体" panose="02010609060101010101" pitchFamily="49" charset="-122"/>
                <a:ea typeface="黑体" panose="02010609060101010101" pitchFamily="49" charset="-122"/>
              </a:rPr>
              <a:t>是取水在一个标准大气压下的冰点作为</a:t>
            </a:r>
            <a:r>
              <a:rPr lang="en-US" altLang="zh-CN" sz="3200" b="1">
                <a:latin typeface="黑体" panose="02010609060101010101" pitchFamily="49" charset="-122"/>
                <a:ea typeface="黑体" panose="02010609060101010101" pitchFamily="49" charset="-122"/>
              </a:rPr>
              <a:t>0</a:t>
            </a:r>
            <a:r>
              <a:rPr lang="zh-CN" altLang="en-US" sz="3200" b="1">
                <a:latin typeface="黑体" panose="02010609060101010101" pitchFamily="49" charset="-122"/>
                <a:ea typeface="黑体" panose="02010609060101010101" pitchFamily="49" charset="-122"/>
              </a:rPr>
              <a:t>度，沸点作为</a:t>
            </a:r>
            <a:r>
              <a:rPr lang="en-US" altLang="zh-CN" sz="3200" b="1">
                <a:latin typeface="黑体" panose="02010609060101010101" pitchFamily="49" charset="-122"/>
                <a:ea typeface="黑体" panose="02010609060101010101" pitchFamily="49" charset="-122"/>
              </a:rPr>
              <a:t>100</a:t>
            </a:r>
            <a:r>
              <a:rPr lang="zh-CN" altLang="en-US" sz="3200" b="1">
                <a:latin typeface="黑体" panose="02010609060101010101" pitchFamily="49" charset="-122"/>
                <a:ea typeface="黑体" panose="02010609060101010101" pitchFamily="49" charset="-122"/>
              </a:rPr>
              <a:t>度，其间分为</a:t>
            </a:r>
            <a:r>
              <a:rPr lang="en-US" altLang="zh-CN" sz="3200" b="1">
                <a:latin typeface="黑体" panose="02010609060101010101" pitchFamily="49" charset="-122"/>
                <a:ea typeface="黑体" panose="02010609060101010101" pitchFamily="49" charset="-122"/>
              </a:rPr>
              <a:t>100</a:t>
            </a:r>
            <a:r>
              <a:rPr lang="zh-CN" altLang="en-US" sz="3200" b="1">
                <a:latin typeface="黑体" panose="02010609060101010101" pitchFamily="49" charset="-122"/>
                <a:ea typeface="黑体" panose="02010609060101010101" pitchFamily="49" charset="-122"/>
              </a:rPr>
              <a:t>个分度，单位为℃；</a:t>
            </a:r>
          </a:p>
        </p:txBody>
      </p:sp>
      <p:sp>
        <p:nvSpPr>
          <p:cNvPr id="160772" name="矩形 160771"/>
          <p:cNvSpPr>
            <a:spLocks noChangeArrowheads="1"/>
          </p:cNvSpPr>
          <p:nvPr/>
        </p:nvSpPr>
        <p:spPr bwMode="auto">
          <a:xfrm>
            <a:off x="539750" y="2708275"/>
            <a:ext cx="7993063"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a:solidFill>
                  <a:srgbClr val="0000FF"/>
                </a:solidFill>
                <a:latin typeface="黑体" panose="02010609060101010101" pitchFamily="49" charset="-122"/>
                <a:ea typeface="黑体" panose="02010609060101010101" pitchFamily="49" charset="-122"/>
              </a:rPr>
              <a:t>华氏温标</a:t>
            </a:r>
            <a:r>
              <a:rPr lang="zh-CN" altLang="en-US" sz="3200" b="1">
                <a:latin typeface="黑体" panose="02010609060101010101" pitchFamily="49" charset="-122"/>
                <a:ea typeface="黑体" panose="02010609060101010101" pitchFamily="49" charset="-122"/>
              </a:rPr>
              <a:t>是取水在一个标准大气压下的冰点作为</a:t>
            </a:r>
            <a:r>
              <a:rPr lang="en-US" altLang="zh-CN" sz="3200" b="1">
                <a:latin typeface="黑体" panose="02010609060101010101" pitchFamily="49" charset="-122"/>
                <a:ea typeface="黑体" panose="02010609060101010101" pitchFamily="49" charset="-122"/>
              </a:rPr>
              <a:t>32</a:t>
            </a:r>
            <a:r>
              <a:rPr lang="zh-CN" altLang="en-US" sz="3200" b="1">
                <a:latin typeface="黑体" panose="02010609060101010101" pitchFamily="49" charset="-122"/>
                <a:ea typeface="黑体" panose="02010609060101010101" pitchFamily="49" charset="-122"/>
              </a:rPr>
              <a:t>度，沸点作为</a:t>
            </a:r>
            <a:r>
              <a:rPr lang="en-US" altLang="zh-CN" sz="3200" b="1">
                <a:latin typeface="黑体" panose="02010609060101010101" pitchFamily="49" charset="-122"/>
                <a:ea typeface="黑体" panose="02010609060101010101" pitchFamily="49" charset="-122"/>
              </a:rPr>
              <a:t>212</a:t>
            </a:r>
            <a:r>
              <a:rPr lang="zh-CN" altLang="en-US" sz="3200" b="1">
                <a:latin typeface="黑体" panose="02010609060101010101" pitchFamily="49" charset="-122"/>
                <a:ea typeface="黑体" panose="02010609060101010101" pitchFamily="49" charset="-122"/>
              </a:rPr>
              <a:t>度，其间分为</a:t>
            </a:r>
            <a:r>
              <a:rPr lang="en-US" altLang="zh-CN" sz="3200" b="1">
                <a:latin typeface="黑体" panose="02010609060101010101" pitchFamily="49" charset="-122"/>
                <a:ea typeface="黑体" panose="02010609060101010101" pitchFamily="49" charset="-122"/>
              </a:rPr>
              <a:t>180</a:t>
            </a:r>
            <a:r>
              <a:rPr lang="zh-CN" altLang="en-US" sz="3200" b="1">
                <a:latin typeface="黑体" panose="02010609060101010101" pitchFamily="49" charset="-122"/>
                <a:ea typeface="黑体" panose="02010609060101010101" pitchFamily="49" charset="-122"/>
              </a:rPr>
              <a:t>个分度，单位为</a:t>
            </a:r>
            <a:r>
              <a:rPr lang="en-US" altLang="zh-CN" sz="3200" b="1">
                <a:latin typeface="黑体" panose="02010609060101010101" pitchFamily="49" charset="-122"/>
                <a:ea typeface="黑体" panose="02010609060101010101" pitchFamily="49" charset="-122"/>
              </a:rPr>
              <a:t>°F</a:t>
            </a:r>
          </a:p>
        </p:txBody>
      </p:sp>
      <p:sp>
        <p:nvSpPr>
          <p:cNvPr id="56323" name="矩形 160773"/>
          <p:cNvSpPr>
            <a:spLocks noChangeArrowheads="1"/>
          </p:cNvSpPr>
          <p:nvPr/>
        </p:nvSpPr>
        <p:spPr bwMode="auto">
          <a:xfrm>
            <a:off x="611188" y="2781300"/>
            <a:ext cx="7993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sz="2400">
              <a:ea typeface="黑体" panose="02010609060101010101" pitchFamily="49" charset="-122"/>
            </a:endParaRPr>
          </a:p>
        </p:txBody>
      </p:sp>
      <p:sp>
        <p:nvSpPr>
          <p:cNvPr id="160776" name="矩形 160775"/>
          <p:cNvSpPr>
            <a:spLocks noChangeArrowheads="1"/>
          </p:cNvSpPr>
          <p:nvPr/>
        </p:nvSpPr>
        <p:spPr bwMode="auto">
          <a:xfrm>
            <a:off x="468313" y="4797425"/>
            <a:ext cx="82804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a:solidFill>
                  <a:srgbClr val="FF0000"/>
                </a:solidFill>
                <a:latin typeface="黑体" panose="02010609060101010101" pitchFamily="49" charset="-122"/>
                <a:ea typeface="黑体" panose="02010609060101010101" pitchFamily="49" charset="-122"/>
              </a:rPr>
              <a:t>这些温标都是利用测温物质在温度变化时某种特性的变化建立起来的，因此不可能摆脱测温物质性质的影响。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0772"/>
                                        </p:tgtEl>
                                        <p:attrNameLst>
                                          <p:attrName>style.visibility</p:attrName>
                                        </p:attrNameLst>
                                      </p:cBhvr>
                                      <p:to>
                                        <p:strVal val="visible"/>
                                      </p:to>
                                    </p:set>
                                    <p:animEffect transition="in" filter="blinds(horizontal)">
                                      <p:cBhvr>
                                        <p:cTn id="7" dur="500"/>
                                        <p:tgtEl>
                                          <p:spTgt spid="16077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0776"/>
                                        </p:tgtEl>
                                        <p:attrNameLst>
                                          <p:attrName>style.visibility</p:attrName>
                                        </p:attrNameLst>
                                      </p:cBhvr>
                                      <p:to>
                                        <p:strVal val="visible"/>
                                      </p:to>
                                    </p:set>
                                    <p:animEffect transition="in" filter="blinds(horizontal)">
                                      <p:cBhvr>
                                        <p:cTn id="12" dur="500"/>
                                        <p:tgtEl>
                                          <p:spTgt spid="160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p:bldP spid="16077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矩形 161794"/>
          <p:cNvSpPr>
            <a:spLocks noChangeArrowheads="1"/>
          </p:cNvSpPr>
          <p:nvPr/>
        </p:nvSpPr>
        <p:spPr bwMode="auto">
          <a:xfrm>
            <a:off x="539750" y="333375"/>
            <a:ext cx="81359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latin typeface="黑体" panose="02010609060101010101" pitchFamily="49" charset="-122"/>
                <a:ea typeface="黑体" panose="02010609060101010101" pitchFamily="49" charset="-122"/>
              </a:rPr>
              <a:t>为了摆脱测温物质性质的影响，一些人采用理想气体温标</a:t>
            </a:r>
          </a:p>
        </p:txBody>
      </p:sp>
      <p:sp>
        <p:nvSpPr>
          <p:cNvPr id="161796" name="矩形 161795"/>
          <p:cNvSpPr>
            <a:spLocks noChangeArrowheads="1"/>
          </p:cNvSpPr>
          <p:nvPr/>
        </p:nvSpPr>
        <p:spPr bwMode="auto">
          <a:xfrm>
            <a:off x="611188" y="1700213"/>
            <a:ext cx="8137525"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a:latin typeface="楷体_GB2312" pitchFamily="49" charset="-122"/>
                <a:ea typeface="楷体_GB2312" pitchFamily="49" charset="-122"/>
              </a:rPr>
              <a:t>玻意耳</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马略特定律：</a:t>
            </a:r>
          </a:p>
          <a:p>
            <a:r>
              <a:rPr lang="en-US" altLang="zh-CN" sz="2400" b="1">
                <a:latin typeface="楷体_GB2312" pitchFamily="49" charset="-122"/>
                <a:ea typeface="楷体_GB2312" pitchFamily="49" charset="-122"/>
              </a:rPr>
              <a:t>1</a:t>
            </a:r>
            <a:r>
              <a:rPr lang="zh-CN" altLang="en-US" sz="2400" b="1">
                <a:latin typeface="楷体_GB2312" pitchFamily="49" charset="-122"/>
                <a:ea typeface="楷体_GB2312" pitchFamily="49" charset="-122"/>
              </a:rPr>
              <a:t>、在体积不变的条件下，一定量气体的压力与温度成正比，因此可以通过压力测量来进行温度测量；</a:t>
            </a:r>
          </a:p>
          <a:p>
            <a:r>
              <a:rPr lang="en-US" altLang="zh-CN" sz="2400" b="1">
                <a:latin typeface="楷体_GB2312" pitchFamily="49" charset="-122"/>
                <a:ea typeface="楷体_GB2312" pitchFamily="49" charset="-122"/>
              </a:rPr>
              <a:t>2</a:t>
            </a:r>
            <a:r>
              <a:rPr lang="zh-CN" altLang="en-US" sz="2400" b="1">
                <a:latin typeface="楷体_GB2312" pitchFamily="49" charset="-122"/>
                <a:ea typeface="楷体_GB2312" pitchFamily="49" charset="-122"/>
              </a:rPr>
              <a:t>、在压力不变的条件下，一定量气体的体积与温度成正比，因此也可以通过体积测量来进行温度测量。</a:t>
            </a:r>
          </a:p>
        </p:txBody>
      </p:sp>
      <p:sp>
        <p:nvSpPr>
          <p:cNvPr id="161797" name="矩形 161796"/>
          <p:cNvSpPr>
            <a:spLocks noChangeArrowheads="1"/>
          </p:cNvSpPr>
          <p:nvPr/>
        </p:nvSpPr>
        <p:spPr bwMode="auto">
          <a:xfrm>
            <a:off x="611188" y="3789363"/>
            <a:ext cx="80645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a:solidFill>
                  <a:srgbClr val="0000FF"/>
                </a:solidFill>
                <a:latin typeface="黑体" panose="02010609060101010101" pitchFamily="49" charset="-122"/>
                <a:ea typeface="黑体" panose="02010609060101010101" pitchFamily="49" charset="-122"/>
              </a:rPr>
              <a:t>取水的三相点（固、液、气三相平衡共存的状态）温度作为</a:t>
            </a:r>
            <a:r>
              <a:rPr lang="en-US" altLang="zh-CN" sz="2800" b="1">
                <a:solidFill>
                  <a:srgbClr val="0000FF"/>
                </a:solidFill>
                <a:latin typeface="黑体" panose="02010609060101010101" pitchFamily="49" charset="-122"/>
                <a:ea typeface="黑体" panose="02010609060101010101" pitchFamily="49" charset="-122"/>
              </a:rPr>
              <a:t>273.16K</a:t>
            </a:r>
            <a:r>
              <a:rPr lang="zh-CN" altLang="en-US" sz="2800" b="1">
                <a:solidFill>
                  <a:srgbClr val="0000FF"/>
                </a:solidFill>
                <a:latin typeface="黑体" panose="02010609060101010101" pitchFamily="49" charset="-122"/>
                <a:ea typeface="黑体" panose="02010609060101010101" pitchFamily="49" charset="-122"/>
              </a:rPr>
              <a:t>，在零度与三相点温度之间分为</a:t>
            </a:r>
            <a:r>
              <a:rPr lang="en-US" altLang="zh-CN" sz="2800" b="1">
                <a:solidFill>
                  <a:srgbClr val="0000FF"/>
                </a:solidFill>
                <a:latin typeface="黑体" panose="02010609060101010101" pitchFamily="49" charset="-122"/>
                <a:ea typeface="黑体" panose="02010609060101010101" pitchFamily="49" charset="-122"/>
              </a:rPr>
              <a:t>273.16</a:t>
            </a:r>
            <a:r>
              <a:rPr lang="zh-CN" altLang="en-US" sz="2800" b="1">
                <a:solidFill>
                  <a:srgbClr val="0000FF"/>
                </a:solidFill>
                <a:latin typeface="黑体" panose="02010609060101010101" pitchFamily="49" charset="-122"/>
                <a:ea typeface="黑体" panose="02010609060101010101" pitchFamily="49" charset="-122"/>
              </a:rPr>
              <a:t>个分度。实验证明，理想气体温标不依赖于测温气体的种类。</a:t>
            </a:r>
          </a:p>
        </p:txBody>
      </p:sp>
      <p:sp>
        <p:nvSpPr>
          <p:cNvPr id="161798" name="矩形 161797"/>
          <p:cNvSpPr>
            <a:spLocks noChangeArrowheads="1"/>
          </p:cNvSpPr>
          <p:nvPr/>
        </p:nvSpPr>
        <p:spPr bwMode="auto">
          <a:xfrm>
            <a:off x="1979613" y="5876925"/>
            <a:ext cx="5832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rgbClr val="FF0000"/>
                </a:solidFill>
                <a:ea typeface="黑体" panose="02010609060101010101" pitchFamily="49" charset="-122"/>
              </a:rPr>
              <a:t>理想气体温标有没有问题呢？</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1796"/>
                                        </p:tgtEl>
                                        <p:attrNameLst>
                                          <p:attrName>style.visibility</p:attrName>
                                        </p:attrNameLst>
                                      </p:cBhvr>
                                      <p:to>
                                        <p:strVal val="visible"/>
                                      </p:to>
                                    </p:set>
                                    <p:animEffect transition="in" filter="blinds(horizontal)">
                                      <p:cBhvr>
                                        <p:cTn id="7" dur="500"/>
                                        <p:tgtEl>
                                          <p:spTgt spid="1617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1797"/>
                                        </p:tgtEl>
                                        <p:attrNameLst>
                                          <p:attrName>style.visibility</p:attrName>
                                        </p:attrNameLst>
                                      </p:cBhvr>
                                      <p:to>
                                        <p:strVal val="visible"/>
                                      </p:to>
                                    </p:set>
                                    <p:animEffect transition="in" filter="blinds(horizontal)">
                                      <p:cBhvr>
                                        <p:cTn id="12" dur="500"/>
                                        <p:tgtEl>
                                          <p:spTgt spid="16179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1798"/>
                                        </p:tgtEl>
                                        <p:attrNameLst>
                                          <p:attrName>style.visibility</p:attrName>
                                        </p:attrNameLst>
                                      </p:cBhvr>
                                      <p:to>
                                        <p:strVal val="visible"/>
                                      </p:to>
                                    </p:set>
                                    <p:animEffect transition="in" filter="blinds(horizontal)">
                                      <p:cBhvr>
                                        <p:cTn id="17" dur="500"/>
                                        <p:tgtEl>
                                          <p:spTgt spid="161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p:bldP spid="161797" grpId="0"/>
      <p:bldP spid="16179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矩形 162817"/>
          <p:cNvSpPr>
            <a:spLocks noChangeArrowheads="1"/>
          </p:cNvSpPr>
          <p:nvPr/>
        </p:nvSpPr>
        <p:spPr bwMode="auto">
          <a:xfrm>
            <a:off x="539750" y="595313"/>
            <a:ext cx="7993063"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latin typeface="黑体" panose="02010609060101010101" pitchFamily="49" charset="-122"/>
                <a:ea typeface="黑体" panose="02010609060101010101" pitchFamily="49" charset="-122"/>
              </a:rPr>
              <a:t>理想气体温标建立在理想气体假设之上，实际气体或多或少都和理想气体有些差别，并且在极高和极低的温度区域，这种差别更大，此时理想气体温标将失去作用。 </a:t>
            </a:r>
          </a:p>
        </p:txBody>
      </p:sp>
      <p:sp>
        <p:nvSpPr>
          <p:cNvPr id="162819" name="矩形 162818"/>
          <p:cNvSpPr>
            <a:spLocks noChangeArrowheads="1"/>
          </p:cNvSpPr>
          <p:nvPr/>
        </p:nvSpPr>
        <p:spPr bwMode="auto">
          <a:xfrm>
            <a:off x="157374" y="3372145"/>
            <a:ext cx="93410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solidFill>
                  <a:srgbClr val="FF0000"/>
                </a:solidFill>
                <a:ea typeface="黑体" panose="02010609060101010101" pitchFamily="49" charset="-122"/>
              </a:rPr>
              <a:t>能否找到一</a:t>
            </a:r>
            <a:r>
              <a:rPr lang="zh-CN" altLang="en-US" sz="3200" b="1" dirty="0" smtClean="0">
                <a:solidFill>
                  <a:srgbClr val="FF0000"/>
                </a:solidFill>
                <a:ea typeface="黑体" panose="02010609060101010101" pitchFamily="49" charset="-122"/>
              </a:rPr>
              <a:t>种完全不依赖于测温物质性质的温标</a:t>
            </a:r>
            <a:r>
              <a:rPr lang="zh-CN" altLang="en-US" sz="3200" b="1" dirty="0">
                <a:solidFill>
                  <a:srgbClr val="FF0000"/>
                </a:solidFill>
                <a:ea typeface="黑体" panose="02010609060101010101" pitchFamily="49" charset="-122"/>
              </a:rPr>
              <a:t>？</a:t>
            </a:r>
            <a:r>
              <a:rPr lang="zh-CN" altLang="en-US" sz="3200" dirty="0">
                <a:solidFill>
                  <a:srgbClr val="FF0000"/>
                </a:solidFill>
              </a:rPr>
              <a:t> </a:t>
            </a:r>
          </a:p>
        </p:txBody>
      </p:sp>
      <p:sp>
        <p:nvSpPr>
          <p:cNvPr id="162820" name="矩形 162819"/>
          <p:cNvSpPr>
            <a:spLocks noChangeArrowheads="1"/>
          </p:cNvSpPr>
          <p:nvPr/>
        </p:nvSpPr>
        <p:spPr bwMode="auto">
          <a:xfrm>
            <a:off x="758719" y="4623541"/>
            <a:ext cx="77041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dirty="0" smtClean="0">
                <a:latin typeface="黑体" panose="02010609060101010101" pitchFamily="49" charset="-122"/>
                <a:ea typeface="黑体" panose="02010609060101010101" pitchFamily="49" charset="-122"/>
              </a:rPr>
              <a:t>可以！这种温标称为热力学温标</a:t>
            </a:r>
            <a:endParaRPr lang="en-US" altLang="zh-CN" sz="3600" b="1" dirty="0" smtClean="0">
              <a:latin typeface="黑体" panose="02010609060101010101" pitchFamily="49" charset="-122"/>
              <a:ea typeface="黑体" panose="02010609060101010101" pitchFamily="49" charset="-122"/>
            </a:endParaRPr>
          </a:p>
          <a:p>
            <a:r>
              <a:rPr lang="zh-CN" altLang="en-US" sz="2400" b="1" dirty="0" smtClean="0">
                <a:solidFill>
                  <a:srgbClr val="0070C0"/>
                </a:solidFill>
                <a:latin typeface="黑体" panose="02010609060101010101" pitchFamily="49" charset="-122"/>
                <a:ea typeface="黑体" panose="02010609060101010101" pitchFamily="49" charset="-122"/>
              </a:rPr>
              <a:t>（以前也称热力学绝对温标）</a:t>
            </a:r>
            <a:endParaRPr lang="zh-CN" altLang="en-US" sz="2400" b="1" dirty="0">
              <a:solidFill>
                <a:srgbClr val="0070C0"/>
              </a:solidFill>
              <a:latin typeface="黑体" panose="02010609060101010101" pitchFamily="49" charset="-122"/>
              <a:ea typeface="黑体" panose="02010609060101010101"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2819"/>
                                        </p:tgtEl>
                                        <p:attrNameLst>
                                          <p:attrName>style.visibility</p:attrName>
                                        </p:attrNameLst>
                                      </p:cBhvr>
                                      <p:to>
                                        <p:strVal val="visible"/>
                                      </p:to>
                                    </p:set>
                                    <p:animEffect transition="in" filter="blinds(horizontal)">
                                      <p:cBhvr>
                                        <p:cTn id="7" dur="500"/>
                                        <p:tgtEl>
                                          <p:spTgt spid="1628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2820"/>
                                        </p:tgtEl>
                                        <p:attrNameLst>
                                          <p:attrName>style.visibility</p:attrName>
                                        </p:attrNameLst>
                                      </p:cBhvr>
                                      <p:to>
                                        <p:strVal val="visible"/>
                                      </p:to>
                                    </p:set>
                                    <p:animEffect transition="in" filter="blinds(horizontal)">
                                      <p:cBhvr>
                                        <p:cTn id="12" dur="500"/>
                                        <p:tgtEl>
                                          <p:spTgt spid="162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p:bldP spid="16282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矩形 163841"/>
          <p:cNvSpPr>
            <a:spLocks noChangeArrowheads="1"/>
          </p:cNvSpPr>
          <p:nvPr/>
        </p:nvSpPr>
        <p:spPr bwMode="auto">
          <a:xfrm>
            <a:off x="619125" y="647291"/>
            <a:ext cx="799306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buFont typeface="Arial" panose="020B0604020202020204" pitchFamily="34" charset="0"/>
              <a:buChar char="•"/>
            </a:pPr>
            <a:r>
              <a:rPr lang="zh-CN" altLang="en-US" sz="3000" b="1" dirty="0">
                <a:latin typeface="黑体" panose="02010609060101010101" pitchFamily="49" charset="-122"/>
                <a:ea typeface="黑体" panose="02010609060101010101" pitchFamily="49" charset="-122"/>
              </a:rPr>
              <a:t>根据卡诺定理一，在两个热源间工作的一切</a:t>
            </a:r>
            <a:r>
              <a:rPr lang="zh-CN" altLang="en-US" sz="3000" b="1" dirty="0" smtClean="0">
                <a:latin typeface="黑体" panose="02010609060101010101" pitchFamily="49" charset="-122"/>
                <a:ea typeface="黑体" panose="02010609060101010101" pitchFamily="49" charset="-122"/>
              </a:rPr>
              <a:t>可逆循环具有</a:t>
            </a:r>
            <a:r>
              <a:rPr lang="zh-CN" altLang="en-US" sz="3000" b="1" dirty="0">
                <a:latin typeface="黑体" panose="02010609060101010101" pitchFamily="49" charset="-122"/>
                <a:ea typeface="黑体" panose="02010609060101010101" pitchFamily="49" charset="-122"/>
              </a:rPr>
              <a:t>相同</a:t>
            </a:r>
            <a:r>
              <a:rPr lang="zh-CN" altLang="en-US" sz="3000" b="1" dirty="0" smtClean="0">
                <a:latin typeface="黑体" panose="02010609060101010101" pitchFamily="49" charset="-122"/>
                <a:ea typeface="黑体" panose="02010609060101010101" pitchFamily="49" charset="-122"/>
              </a:rPr>
              <a:t>的热效率</a:t>
            </a:r>
            <a:r>
              <a:rPr lang="zh-CN" altLang="en-US" sz="3000" b="1" dirty="0">
                <a:latin typeface="黑体" panose="02010609060101010101" pitchFamily="49" charset="-122"/>
                <a:ea typeface="黑体" panose="02010609060101010101" pitchFamily="49" charset="-122"/>
              </a:rPr>
              <a:t>，</a:t>
            </a:r>
            <a:r>
              <a:rPr lang="zh-CN" altLang="en-US" sz="3000" b="1" dirty="0" smtClean="0">
                <a:latin typeface="黑体" panose="02010609060101010101" pitchFamily="49" charset="-122"/>
                <a:ea typeface="黑体" panose="02010609060101010101" pitchFamily="49" charset="-122"/>
              </a:rPr>
              <a:t>与循环工质</a:t>
            </a:r>
            <a:r>
              <a:rPr lang="zh-CN" altLang="en-US" sz="3000" b="1" dirty="0">
                <a:latin typeface="黑体" panose="02010609060101010101" pitchFamily="49" charset="-122"/>
                <a:ea typeface="黑体" panose="02010609060101010101" pitchFamily="49" charset="-122"/>
              </a:rPr>
              <a:t>的性质、热机的结构、工质吸收热量和作功的具体数值等因素</a:t>
            </a:r>
            <a:r>
              <a:rPr lang="zh-CN" altLang="en-US" sz="3000" b="1" dirty="0" smtClean="0">
                <a:latin typeface="黑体" panose="02010609060101010101" pitchFamily="49" charset="-122"/>
                <a:ea typeface="黑体" panose="02010609060101010101" pitchFamily="49" charset="-122"/>
              </a:rPr>
              <a:t>无关</a:t>
            </a:r>
            <a:endParaRPr lang="en-US" altLang="zh-CN" sz="3000" b="1" dirty="0" smtClean="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3000" b="1" dirty="0">
                <a:latin typeface="黑体" panose="02010609060101010101" pitchFamily="49" charset="-122"/>
                <a:ea typeface="黑体" panose="02010609060101010101" pitchFamily="49" charset="-122"/>
              </a:rPr>
              <a:t>这</a:t>
            </a:r>
            <a:r>
              <a:rPr lang="zh-CN" altLang="en-US" sz="3000" b="1" dirty="0" smtClean="0">
                <a:latin typeface="黑体" panose="02010609060101010101" pitchFamily="49" charset="-122"/>
                <a:ea typeface="黑体" panose="02010609060101010101" pitchFamily="49" charset="-122"/>
              </a:rPr>
              <a:t>意味着，可逆循环的热效率只与两个热源</a:t>
            </a:r>
            <a:r>
              <a:rPr lang="zh-CN" altLang="en-US" sz="3000" b="1" dirty="0">
                <a:latin typeface="黑体" panose="02010609060101010101" pitchFamily="49" charset="-122"/>
                <a:ea typeface="黑体" panose="02010609060101010101" pitchFamily="49" charset="-122"/>
              </a:rPr>
              <a:t>的温度有关</a:t>
            </a:r>
          </a:p>
        </p:txBody>
      </p:sp>
      <p:graphicFrame>
        <p:nvGraphicFramePr>
          <p:cNvPr id="59396" name="对象 163844"/>
          <p:cNvGraphicFramePr>
            <a:graphicFrameLocks noChangeAspect="1"/>
          </p:cNvGraphicFramePr>
          <p:nvPr/>
        </p:nvGraphicFramePr>
        <p:xfrm>
          <a:off x="2887180" y="3940175"/>
          <a:ext cx="2158063" cy="634725"/>
        </p:xfrm>
        <a:graphic>
          <a:graphicData uri="http://schemas.openxmlformats.org/presentationml/2006/ole">
            <mc:AlternateContent xmlns:mc="http://schemas.openxmlformats.org/markup-compatibility/2006">
              <mc:Choice xmlns:v="urn:schemas-microsoft-com:vml" Requires="v">
                <p:oleObj spid="_x0000_s21531" r:id="rId3" imgW="862965" imgH="254000" progId="Equation.DSMT4">
                  <p:embed/>
                </p:oleObj>
              </mc:Choice>
              <mc:Fallback>
                <p:oleObj r:id="rId3" imgW="862965" imgH="254000" progId="Equation.DSMT4">
                  <p:embed/>
                  <p:pic>
                    <p:nvPicPr>
                      <p:cNvPr id="0" name="对象 16384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7180" y="3940175"/>
                        <a:ext cx="2158063" cy="634725"/>
                      </a:xfrm>
                      <a:prstGeom prst="rect">
                        <a:avLst/>
                      </a:prstGeom>
                      <a:noFill/>
                      <a:ln>
                        <a:noFill/>
                      </a:ln>
                    </p:spPr>
                  </p:pic>
                </p:oleObj>
              </mc:Fallback>
            </mc:AlternateContent>
          </a:graphicData>
        </a:graphic>
      </p:graphicFrame>
      <p:sp>
        <p:nvSpPr>
          <p:cNvPr id="59397" name="矩形 163845"/>
          <p:cNvSpPr>
            <a:spLocks noChangeArrowheads="1"/>
          </p:cNvSpPr>
          <p:nvPr/>
        </p:nvSpPr>
        <p:spPr bwMode="auto">
          <a:xfrm>
            <a:off x="619125" y="5196394"/>
            <a:ext cx="80121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3200" b="1" i="1" dirty="0">
                <a:solidFill>
                  <a:srgbClr val="FF0000"/>
                </a:solidFill>
                <a:latin typeface="Times New Roman" panose="02020603050405020304" pitchFamily="18" charset="0"/>
                <a:ea typeface="黑体" panose="02010609060101010101" pitchFamily="49" charset="-122"/>
              </a:rPr>
              <a:t>g</a:t>
            </a:r>
            <a:r>
              <a:rPr lang="en-US" altLang="zh-CN" sz="3200" b="1" dirty="0">
                <a:solidFill>
                  <a:srgbClr val="FF0000"/>
                </a:solidFill>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普适函数，与工质、热机结构等因素无关</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矩形 16486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0418" name="对象 164866"/>
          <p:cNvGraphicFramePr/>
          <p:nvPr/>
        </p:nvGraphicFramePr>
        <p:xfrm>
          <a:off x="1116013" y="530225"/>
          <a:ext cx="2952750" cy="876300"/>
        </p:xfrm>
        <a:graphic>
          <a:graphicData uri="http://schemas.openxmlformats.org/presentationml/2006/ole">
            <mc:AlternateContent xmlns:mc="http://schemas.openxmlformats.org/markup-compatibility/2006">
              <mc:Choice xmlns:v="urn:schemas-microsoft-com:vml" Requires="v">
                <p:oleObj spid="_x0000_s22624" r:id="rId3" imgW="862965" imgH="254000" progId="Equation.DSMT4">
                  <p:embed/>
                </p:oleObj>
              </mc:Choice>
              <mc:Fallback>
                <p:oleObj r:id="rId3" imgW="862965" imgH="254000" progId="Equation.DSMT4">
                  <p:embed/>
                  <p:pic>
                    <p:nvPicPr>
                      <p:cNvPr id="0" name="对象 16486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530225"/>
                        <a:ext cx="29527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419" name="对象 164867"/>
          <p:cNvGraphicFramePr/>
          <p:nvPr/>
        </p:nvGraphicFramePr>
        <p:xfrm>
          <a:off x="5076825" y="333375"/>
          <a:ext cx="2103438" cy="1346200"/>
        </p:xfrm>
        <a:graphic>
          <a:graphicData uri="http://schemas.openxmlformats.org/presentationml/2006/ole">
            <mc:AlternateContent xmlns:mc="http://schemas.openxmlformats.org/markup-compatibility/2006">
              <mc:Choice xmlns:v="urn:schemas-microsoft-com:vml" Requires="v">
                <p:oleObj spid="_x0000_s22625" r:id="rId5" imgW="673100" imgH="431800" progId="Equation.DSMT4">
                  <p:embed/>
                </p:oleObj>
              </mc:Choice>
              <mc:Fallback>
                <p:oleObj r:id="rId5" imgW="673100" imgH="431800" progId="Equation.DSMT4">
                  <p:embed/>
                  <p:pic>
                    <p:nvPicPr>
                      <p:cNvPr id="0" name="对象 16486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333375"/>
                        <a:ext cx="2103438"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0420" name="左箭头 164868"/>
          <p:cNvSpPr>
            <a:spLocks noChangeArrowheads="1"/>
          </p:cNvSpPr>
          <p:nvPr/>
        </p:nvSpPr>
        <p:spPr bwMode="auto">
          <a:xfrm>
            <a:off x="4067175" y="1052513"/>
            <a:ext cx="649288" cy="144462"/>
          </a:xfrm>
          <a:prstGeom prst="leftArrow">
            <a:avLst>
              <a:gd name="adj1" fmla="val 50000"/>
              <a:gd name="adj2" fmla="val 112321"/>
            </a:avLst>
          </a:prstGeom>
          <a:solidFill>
            <a:schemeClr val="accent1"/>
          </a:solidFill>
          <a:ln w="9525">
            <a:solidFill>
              <a:schemeClr val="tx1"/>
            </a:solidFill>
            <a:miter lim="800000"/>
          </a:ln>
        </p:spPr>
        <p:txBody>
          <a:bodyPr/>
          <a:lstStyle/>
          <a:p>
            <a:endParaRPr lang="zh-CN" altLang="en-US"/>
          </a:p>
        </p:txBody>
      </p:sp>
      <p:sp>
        <p:nvSpPr>
          <p:cNvPr id="60421" name="下箭头 164869"/>
          <p:cNvSpPr>
            <a:spLocks noChangeArrowheads="1"/>
          </p:cNvSpPr>
          <p:nvPr/>
        </p:nvSpPr>
        <p:spPr bwMode="auto">
          <a:xfrm>
            <a:off x="2987675" y="1557338"/>
            <a:ext cx="144463" cy="576262"/>
          </a:xfrm>
          <a:prstGeom prst="downArrow">
            <a:avLst>
              <a:gd name="adj1" fmla="val 50000"/>
              <a:gd name="adj2" fmla="val 99688"/>
            </a:avLst>
          </a:prstGeom>
          <a:solidFill>
            <a:schemeClr val="accent1"/>
          </a:solidFill>
          <a:ln w="9525">
            <a:solidFill>
              <a:schemeClr val="tx1"/>
            </a:solidFill>
            <a:miter lim="800000"/>
          </a:ln>
        </p:spPr>
        <p:txBody>
          <a:bodyPr/>
          <a:lstStyle/>
          <a:p>
            <a:endParaRPr lang="zh-CN" altLang="en-US"/>
          </a:p>
        </p:txBody>
      </p:sp>
      <p:sp>
        <p:nvSpPr>
          <p:cNvPr id="60422" name="矩形 16487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0423" name="对象 164871"/>
          <p:cNvGraphicFramePr/>
          <p:nvPr/>
        </p:nvGraphicFramePr>
        <p:xfrm>
          <a:off x="1835150" y="2060575"/>
          <a:ext cx="2952750" cy="1277938"/>
        </p:xfrm>
        <a:graphic>
          <a:graphicData uri="http://schemas.openxmlformats.org/presentationml/2006/ole">
            <mc:AlternateContent xmlns:mc="http://schemas.openxmlformats.org/markup-compatibility/2006">
              <mc:Choice xmlns:v="urn:schemas-microsoft-com:vml" Requires="v">
                <p:oleObj spid="_x0000_s22626" r:id="rId7" imgW="989965" imgH="431800" progId="Equation.DSMT4">
                  <p:embed/>
                </p:oleObj>
              </mc:Choice>
              <mc:Fallback>
                <p:oleObj r:id="rId7" imgW="989965" imgH="431800" progId="Equation.DSMT4">
                  <p:embed/>
                  <p:pic>
                    <p:nvPicPr>
                      <p:cNvPr id="0" name="对象 16487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5150" y="2060575"/>
                        <a:ext cx="2952750"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0424" name="矩形 164872"/>
          <p:cNvSpPr>
            <a:spLocks noChangeArrowheads="1"/>
          </p:cNvSpPr>
          <p:nvPr/>
        </p:nvSpPr>
        <p:spPr bwMode="auto">
          <a:xfrm>
            <a:off x="539750" y="3573463"/>
            <a:ext cx="82089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a:latin typeface="黑体" panose="02010609060101010101" pitchFamily="49" charset="-122"/>
                <a:ea typeface="黑体" panose="02010609060101010101" pitchFamily="49" charset="-122"/>
              </a:rPr>
              <a:t>这里，</a:t>
            </a:r>
            <a:r>
              <a:rPr lang="en-US" altLang="zh-CN" sz="3200" b="1" i="1">
                <a:latin typeface="Times New Roman" panose="02020603050405020304" pitchFamily="18" charset="0"/>
                <a:ea typeface="黑体" panose="02010609060101010101" pitchFamily="49" charset="-122"/>
              </a:rPr>
              <a:t>T</a:t>
            </a:r>
            <a:r>
              <a:rPr lang="en-US" altLang="zh-CN" sz="3200" b="1" baseline="-25000">
                <a:latin typeface="Times New Roman" panose="02020603050405020304" pitchFamily="18" charset="0"/>
                <a:ea typeface="黑体" panose="02010609060101010101" pitchFamily="49" charset="-122"/>
              </a:rPr>
              <a:t>H</a:t>
            </a:r>
            <a:r>
              <a:rPr lang="zh-CN" altLang="en-US" sz="3200" b="1">
                <a:latin typeface="Times New Roman" panose="02020603050405020304" pitchFamily="18" charset="0"/>
                <a:ea typeface="黑体" panose="02010609060101010101" pitchFamily="49" charset="-122"/>
              </a:rPr>
              <a:t>和</a:t>
            </a:r>
            <a:r>
              <a:rPr lang="en-US" altLang="zh-CN" sz="3200" b="1" i="1">
                <a:latin typeface="Times New Roman" panose="02020603050405020304" pitchFamily="18" charset="0"/>
                <a:ea typeface="黑体" panose="02010609060101010101" pitchFamily="49" charset="-122"/>
              </a:rPr>
              <a:t>T</a:t>
            </a:r>
            <a:r>
              <a:rPr lang="en-US" altLang="zh-CN" sz="3200" b="1" baseline="-25000">
                <a:latin typeface="Times New Roman" panose="02020603050405020304" pitchFamily="18" charset="0"/>
                <a:ea typeface="黑体" panose="02010609060101010101" pitchFamily="49" charset="-122"/>
              </a:rPr>
              <a:t>L</a:t>
            </a:r>
            <a:r>
              <a:rPr lang="zh-CN" altLang="en-US" sz="3200" b="1">
                <a:latin typeface="黑体" panose="02010609060101010101" pitchFamily="49" charset="-122"/>
                <a:ea typeface="黑体" panose="02010609060101010101" pitchFamily="49" charset="-122"/>
              </a:rPr>
              <a:t>只是一个定性的含义，并未选定任何标尺</a:t>
            </a:r>
            <a:r>
              <a:rPr lang="zh-CN" altLang="en-US" sz="2400" b="1">
                <a:latin typeface="黑体" panose="02010609060101010101" pitchFamily="49" charset="-122"/>
                <a:ea typeface="黑体" panose="02010609060101010101" pitchFamily="49" charset="-122"/>
              </a:rPr>
              <a:t> </a:t>
            </a:r>
          </a:p>
        </p:txBody>
      </p:sp>
      <p:sp>
        <p:nvSpPr>
          <p:cNvPr id="60425" name="矩形 164873"/>
          <p:cNvSpPr>
            <a:spLocks noChangeArrowheads="1"/>
          </p:cNvSpPr>
          <p:nvPr/>
        </p:nvSpPr>
        <p:spPr bwMode="auto">
          <a:xfrm>
            <a:off x="3203575" y="5124450"/>
            <a:ext cx="3856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a:solidFill>
                  <a:srgbClr val="FF0000"/>
                </a:solidFill>
                <a:latin typeface="黑体" panose="02010609060101010101" pitchFamily="49" charset="-122"/>
                <a:ea typeface="黑体" panose="02010609060101010101" pitchFamily="49" charset="-122"/>
              </a:rPr>
              <a:t>的表达式如何确定？</a:t>
            </a:r>
          </a:p>
        </p:txBody>
      </p:sp>
      <p:graphicFrame>
        <p:nvGraphicFramePr>
          <p:cNvPr id="60426" name="对象 164874"/>
          <p:cNvGraphicFramePr/>
          <p:nvPr/>
        </p:nvGraphicFramePr>
        <p:xfrm>
          <a:off x="971550" y="5084763"/>
          <a:ext cx="2087563" cy="830262"/>
        </p:xfrm>
        <a:graphic>
          <a:graphicData uri="http://schemas.openxmlformats.org/presentationml/2006/ole">
            <mc:AlternateContent xmlns:mc="http://schemas.openxmlformats.org/markup-compatibility/2006">
              <mc:Choice xmlns:v="urn:schemas-microsoft-com:vml" Requires="v">
                <p:oleObj spid="_x0000_s22627" r:id="rId9" imgW="634365" imgH="254000" progId="Equation.DSMT4">
                  <p:embed/>
                </p:oleObj>
              </mc:Choice>
              <mc:Fallback>
                <p:oleObj r:id="rId9" imgW="634365" imgH="254000" progId="Equation.DSMT4">
                  <p:embed/>
                  <p:pic>
                    <p:nvPicPr>
                      <p:cNvPr id="0" name="对象 16487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5084763"/>
                        <a:ext cx="20875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矩形 165889"/>
          <p:cNvSpPr>
            <a:spLocks noChangeArrowheads="1"/>
          </p:cNvSpPr>
          <p:nvPr/>
        </p:nvSpPr>
        <p:spPr bwMode="auto">
          <a:xfrm>
            <a:off x="0" y="1700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442" name="矩形 165890"/>
          <p:cNvSpPr>
            <a:spLocks noChangeArrowheads="1"/>
          </p:cNvSpPr>
          <p:nvPr/>
        </p:nvSpPr>
        <p:spPr bwMode="auto">
          <a:xfrm>
            <a:off x="395288" y="5440789"/>
            <a:ext cx="276710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一起构成一个</a:t>
            </a:r>
          </a:p>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可逆联合热机</a:t>
            </a:r>
          </a:p>
        </p:txBody>
      </p:sp>
      <p:sp>
        <p:nvSpPr>
          <p:cNvPr id="165892" name="矩形 165891"/>
          <p:cNvSpPr>
            <a:spLocks noChangeArrowheads="1"/>
          </p:cNvSpPr>
          <p:nvPr/>
        </p:nvSpPr>
        <p:spPr bwMode="auto">
          <a:xfrm>
            <a:off x="3348038" y="398374"/>
            <a:ext cx="51117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根据卡诺定理一，在</a:t>
            </a:r>
            <a:r>
              <a:rPr lang="en-US" altLang="zh-CN" sz="2400" b="1" i="1" dirty="0">
                <a:latin typeface="Times New Roman" panose="02020603050405020304" pitchFamily="18" charset="0"/>
                <a:ea typeface="黑体" panose="02010609060101010101" pitchFamily="49" charset="-122"/>
              </a:rPr>
              <a:t>T</a:t>
            </a:r>
            <a:r>
              <a:rPr lang="en-US" altLang="zh-CN" sz="2400" b="1" baseline="-25000" dirty="0">
                <a:latin typeface="Times New Roman" panose="02020603050405020304" pitchFamily="18" charset="0"/>
                <a:ea typeface="黑体" panose="02010609060101010101" pitchFamily="49" charset="-122"/>
              </a:rPr>
              <a:t>1</a:t>
            </a:r>
            <a:r>
              <a:rPr lang="zh-CN" altLang="en-US" sz="2400" b="1" dirty="0">
                <a:latin typeface="Times New Roman" panose="02020603050405020304" pitchFamily="18" charset="0"/>
                <a:ea typeface="黑体" panose="02010609060101010101" pitchFamily="49" charset="-122"/>
              </a:rPr>
              <a:t>、</a:t>
            </a:r>
            <a:r>
              <a:rPr lang="en-US" altLang="zh-CN" sz="2400" b="1" i="1" dirty="0">
                <a:latin typeface="Times New Roman" panose="02020603050405020304" pitchFamily="18" charset="0"/>
                <a:ea typeface="黑体" panose="02010609060101010101" pitchFamily="49" charset="-122"/>
              </a:rPr>
              <a:t>T</a:t>
            </a:r>
            <a:r>
              <a:rPr lang="en-US" altLang="zh-CN" sz="2400" b="1" baseline="-25000" dirty="0">
                <a:latin typeface="Times New Roman" panose="02020603050405020304" pitchFamily="18" charset="0"/>
                <a:ea typeface="黑体" panose="02010609060101010101" pitchFamily="49" charset="-122"/>
              </a:rPr>
              <a:t>3</a:t>
            </a:r>
            <a:r>
              <a:rPr lang="zh-CN" altLang="en-US" sz="2400" b="1" dirty="0">
                <a:latin typeface="Times New Roman" panose="02020603050405020304" pitchFamily="18" charset="0"/>
                <a:ea typeface="黑体" panose="02010609060101010101" pitchFamily="49" charset="-122"/>
              </a:rPr>
              <a:t>间工作的一切可逆热机</a:t>
            </a:r>
            <a:r>
              <a:rPr lang="zh-CN" altLang="en-US" sz="2400" b="1" dirty="0" smtClean="0">
                <a:latin typeface="Times New Roman" panose="02020603050405020304" pitchFamily="18" charset="0"/>
                <a:ea typeface="黑体" panose="02010609060101010101" pitchFamily="49" charset="-122"/>
              </a:rPr>
              <a:t>的</a:t>
            </a:r>
            <a:r>
              <a:rPr lang="zh-CN" altLang="en-US" sz="2400" b="1" dirty="0">
                <a:latin typeface="Times New Roman" panose="02020603050405020304" pitchFamily="18" charset="0"/>
                <a:ea typeface="黑体" panose="02010609060101010101" pitchFamily="49" charset="-122"/>
              </a:rPr>
              <a:t>热</a:t>
            </a:r>
            <a:r>
              <a:rPr lang="zh-CN" altLang="en-US" sz="2400" b="1" dirty="0" smtClean="0">
                <a:latin typeface="Times New Roman" panose="02020603050405020304" pitchFamily="18" charset="0"/>
                <a:ea typeface="黑体" panose="02010609060101010101" pitchFamily="49" charset="-122"/>
              </a:rPr>
              <a:t>效率</a:t>
            </a:r>
            <a:r>
              <a:rPr lang="zh-CN" altLang="en-US" sz="2400" b="1" dirty="0">
                <a:latin typeface="Times New Roman" panose="02020603050405020304" pitchFamily="18" charset="0"/>
                <a:ea typeface="黑体" panose="02010609060101010101" pitchFamily="49" charset="-122"/>
              </a:rPr>
              <a:t>相等，因此联合热机应与热机</a:t>
            </a:r>
            <a:r>
              <a:rPr lang="en-US" altLang="zh-CN" sz="2400" b="1" dirty="0">
                <a:latin typeface="Times New Roman" panose="02020603050405020304" pitchFamily="18" charset="0"/>
                <a:ea typeface="黑体" panose="02010609060101010101" pitchFamily="49" charset="-122"/>
              </a:rPr>
              <a:t>C</a:t>
            </a:r>
            <a:r>
              <a:rPr lang="zh-CN" altLang="en-US" sz="2400" b="1" dirty="0">
                <a:latin typeface="Times New Roman" panose="02020603050405020304" pitchFamily="18" charset="0"/>
                <a:ea typeface="黑体" panose="02010609060101010101" pitchFamily="49" charset="-122"/>
              </a:rPr>
              <a:t>具有相同</a:t>
            </a:r>
            <a:r>
              <a:rPr lang="zh-CN" altLang="en-US" sz="2400" b="1" dirty="0" smtClean="0">
                <a:latin typeface="Times New Roman" panose="02020603050405020304" pitchFamily="18" charset="0"/>
                <a:ea typeface="黑体" panose="02010609060101010101" pitchFamily="49" charset="-122"/>
              </a:rPr>
              <a:t>的热效率</a:t>
            </a:r>
            <a:r>
              <a:rPr lang="zh-CN" altLang="en-US" sz="2400" b="1" dirty="0">
                <a:latin typeface="Times New Roman" panose="02020603050405020304" pitchFamily="18" charset="0"/>
                <a:ea typeface="黑体" panose="02010609060101010101" pitchFamily="49" charset="-122"/>
              </a:rPr>
              <a:t>。 </a:t>
            </a:r>
          </a:p>
        </p:txBody>
      </p:sp>
      <p:sp>
        <p:nvSpPr>
          <p:cNvPr id="61444" name="矩形 16589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65894" name="对象 165893"/>
          <p:cNvGraphicFramePr/>
          <p:nvPr/>
        </p:nvGraphicFramePr>
        <p:xfrm>
          <a:off x="5508625" y="1844675"/>
          <a:ext cx="1223963" cy="458788"/>
        </p:xfrm>
        <a:graphic>
          <a:graphicData uri="http://schemas.openxmlformats.org/presentationml/2006/ole">
            <mc:AlternateContent xmlns:mc="http://schemas.openxmlformats.org/markup-compatibility/2006">
              <mc:Choice xmlns:v="urn:schemas-microsoft-com:vml" Requires="v">
                <p:oleObj spid="_x0000_s23750" r:id="rId4" imgW="609600" imgH="228600" progId="Equation.DSMT4">
                  <p:embed/>
                </p:oleObj>
              </mc:Choice>
              <mc:Fallback>
                <p:oleObj r:id="rId4" imgW="609600" imgH="228600" progId="Equation.DSMT4">
                  <p:embed/>
                  <p:pic>
                    <p:nvPicPr>
                      <p:cNvPr id="0" name="对象 16589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1844675"/>
                        <a:ext cx="122396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46" name="矩形 16589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65896" name="对象 165895"/>
          <p:cNvGraphicFramePr/>
          <p:nvPr/>
        </p:nvGraphicFramePr>
        <p:xfrm>
          <a:off x="5364163" y="2549525"/>
          <a:ext cx="1223962" cy="458788"/>
        </p:xfrm>
        <a:graphic>
          <a:graphicData uri="http://schemas.openxmlformats.org/presentationml/2006/ole">
            <mc:AlternateContent xmlns:mc="http://schemas.openxmlformats.org/markup-compatibility/2006">
              <mc:Choice xmlns:v="urn:schemas-microsoft-com:vml" Requires="v">
                <p:oleObj spid="_x0000_s23751" r:id="rId6" imgW="609600" imgH="228600" progId="Equation.DSMT4">
                  <p:embed/>
                </p:oleObj>
              </mc:Choice>
              <mc:Fallback>
                <p:oleObj r:id="rId6" imgW="609600" imgH="228600" progId="Equation.DSMT4">
                  <p:embed/>
                  <p:pic>
                    <p:nvPicPr>
                      <p:cNvPr id="0" name="对象 16589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4163" y="2549525"/>
                        <a:ext cx="122396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5897" name="矩形 165896"/>
          <p:cNvSpPr>
            <a:spLocks noChangeArrowheads="1"/>
          </p:cNvSpPr>
          <p:nvPr/>
        </p:nvSpPr>
        <p:spPr bwMode="auto">
          <a:xfrm>
            <a:off x="3348038" y="1804988"/>
            <a:ext cx="316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黑体" panose="02010609060101010101" pitchFamily="49" charset="-122"/>
              </a:rPr>
              <a:t>联合</a:t>
            </a:r>
            <a:r>
              <a:rPr lang="zh-CN" altLang="en-US" sz="2400" b="1" dirty="0" smtClean="0">
                <a:latin typeface="Times New Roman" panose="02020603050405020304" pitchFamily="18" charset="0"/>
                <a:ea typeface="黑体" panose="02010609060101010101" pitchFamily="49" charset="-122"/>
              </a:rPr>
              <a:t>热机热效率</a:t>
            </a:r>
            <a:endParaRPr lang="zh-CN" altLang="en-US" sz="2400" b="1" dirty="0">
              <a:latin typeface="Times New Roman" panose="02020603050405020304" pitchFamily="18" charset="0"/>
              <a:ea typeface="黑体" panose="02010609060101010101" pitchFamily="49" charset="-122"/>
            </a:endParaRPr>
          </a:p>
        </p:txBody>
      </p:sp>
      <p:sp>
        <p:nvSpPr>
          <p:cNvPr id="165898" name="矩形 165897"/>
          <p:cNvSpPr>
            <a:spLocks noChangeArrowheads="1"/>
          </p:cNvSpPr>
          <p:nvPr/>
        </p:nvSpPr>
        <p:spPr bwMode="auto">
          <a:xfrm>
            <a:off x="3492500" y="2525713"/>
            <a:ext cx="3167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黑体" panose="02010609060101010101" pitchFamily="49" charset="-122"/>
              </a:rPr>
              <a:t>热机</a:t>
            </a:r>
            <a:r>
              <a:rPr lang="en-US" altLang="zh-CN" sz="2400" b="1" dirty="0" smtClean="0">
                <a:latin typeface="Times New Roman" panose="02020603050405020304" pitchFamily="18" charset="0"/>
                <a:ea typeface="黑体" panose="02010609060101010101" pitchFamily="49" charset="-122"/>
              </a:rPr>
              <a:t>C</a:t>
            </a:r>
            <a:r>
              <a:rPr lang="zh-CN" altLang="en-US" sz="2400" b="1" dirty="0" smtClean="0">
                <a:latin typeface="Times New Roman" panose="02020603050405020304" pitchFamily="18" charset="0"/>
                <a:ea typeface="黑体" panose="02010609060101010101" pitchFamily="49" charset="-122"/>
              </a:rPr>
              <a:t>热效率</a:t>
            </a:r>
            <a:endParaRPr lang="zh-CN" altLang="en-US" sz="2400" b="1" dirty="0">
              <a:latin typeface="Times New Roman" panose="02020603050405020304" pitchFamily="18" charset="0"/>
              <a:ea typeface="黑体" panose="02010609060101010101" pitchFamily="49" charset="-122"/>
            </a:endParaRPr>
          </a:p>
        </p:txBody>
      </p:sp>
      <p:sp>
        <p:nvSpPr>
          <p:cNvPr id="61450" name="矩形 165898"/>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65900" name="对象 165899"/>
          <p:cNvGraphicFramePr/>
          <p:nvPr/>
        </p:nvGraphicFramePr>
        <p:xfrm>
          <a:off x="7812088" y="2205038"/>
          <a:ext cx="1079500" cy="498475"/>
        </p:xfrm>
        <a:graphic>
          <a:graphicData uri="http://schemas.openxmlformats.org/presentationml/2006/ole">
            <mc:AlternateContent xmlns:mc="http://schemas.openxmlformats.org/markup-compatibility/2006">
              <mc:Choice xmlns:v="urn:schemas-microsoft-com:vml" Requires="v">
                <p:oleObj spid="_x0000_s23752" r:id="rId8" imgW="495300" imgH="228600" progId="Equation.DSMT4">
                  <p:embed/>
                </p:oleObj>
              </mc:Choice>
              <mc:Fallback>
                <p:oleObj r:id="rId8" imgW="495300" imgH="228600" progId="Equation.DSMT4">
                  <p:embed/>
                  <p:pic>
                    <p:nvPicPr>
                      <p:cNvPr id="0" name="对象 16589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12088" y="2205038"/>
                        <a:ext cx="10795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5901" name="矩形 165900"/>
          <p:cNvSpPr>
            <a:spLocks noChangeArrowheads="1"/>
          </p:cNvSpPr>
          <p:nvPr/>
        </p:nvSpPr>
        <p:spPr bwMode="auto">
          <a:xfrm rot="-5400000">
            <a:off x="4068763" y="2165350"/>
            <a:ext cx="35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FF0000"/>
                </a:solidFill>
                <a:latin typeface="Times New Roman" panose="02020603050405020304" pitchFamily="18" charset="0"/>
                <a:ea typeface="黑体" panose="02010609060101010101" pitchFamily="49" charset="-122"/>
              </a:rPr>
              <a:t>=</a:t>
            </a:r>
          </a:p>
        </p:txBody>
      </p:sp>
      <p:sp>
        <p:nvSpPr>
          <p:cNvPr id="165902" name="右箭头 165901"/>
          <p:cNvSpPr>
            <a:spLocks noChangeArrowheads="1"/>
          </p:cNvSpPr>
          <p:nvPr/>
        </p:nvSpPr>
        <p:spPr bwMode="auto">
          <a:xfrm>
            <a:off x="6877050" y="2420938"/>
            <a:ext cx="792163" cy="142875"/>
          </a:xfrm>
          <a:prstGeom prst="rightArrow">
            <a:avLst>
              <a:gd name="adj1" fmla="val 50000"/>
              <a:gd name="adj2" fmla="val 138560"/>
            </a:avLst>
          </a:prstGeom>
          <a:solidFill>
            <a:schemeClr val="accent1"/>
          </a:solidFill>
          <a:ln w="9525">
            <a:solidFill>
              <a:schemeClr val="tx1"/>
            </a:solidFill>
            <a:miter lim="800000"/>
          </a:ln>
        </p:spPr>
        <p:txBody>
          <a:bodyPr/>
          <a:lstStyle/>
          <a:p>
            <a:endParaRPr lang="zh-CN" altLang="en-US"/>
          </a:p>
        </p:txBody>
      </p:sp>
      <p:graphicFrame>
        <p:nvGraphicFramePr>
          <p:cNvPr id="165903" name="对象 165902"/>
          <p:cNvGraphicFramePr/>
          <p:nvPr/>
        </p:nvGraphicFramePr>
        <p:xfrm>
          <a:off x="3924300" y="3140075"/>
          <a:ext cx="1944688" cy="841375"/>
        </p:xfrm>
        <a:graphic>
          <a:graphicData uri="http://schemas.openxmlformats.org/presentationml/2006/ole">
            <mc:AlternateContent xmlns:mc="http://schemas.openxmlformats.org/markup-compatibility/2006">
              <mc:Choice xmlns:v="urn:schemas-microsoft-com:vml" Requires="v">
                <p:oleObj spid="_x0000_s23753" r:id="rId10" imgW="989965" imgH="431800" progId="Equation.DSMT4">
                  <p:embed/>
                </p:oleObj>
              </mc:Choice>
              <mc:Fallback>
                <p:oleObj r:id="rId10" imgW="989965" imgH="431800" progId="Equation.DSMT4">
                  <p:embed/>
                  <p:pic>
                    <p:nvPicPr>
                      <p:cNvPr id="0" name="对象 16590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24300" y="3140075"/>
                        <a:ext cx="1944688"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5904" name="矩形 165903"/>
          <p:cNvSpPr>
            <a:spLocks noChangeArrowheads="1"/>
          </p:cNvSpPr>
          <p:nvPr/>
        </p:nvSpPr>
        <p:spPr bwMode="auto">
          <a:xfrm>
            <a:off x="3490913" y="3263900"/>
            <a:ext cx="1296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imes New Roman" panose="02020603050405020304" pitchFamily="18" charset="0"/>
                <a:ea typeface="黑体" panose="02010609060101010101" pitchFamily="49" charset="-122"/>
              </a:rPr>
              <a:t>将</a:t>
            </a:r>
          </a:p>
        </p:txBody>
      </p:sp>
      <p:sp>
        <p:nvSpPr>
          <p:cNvPr id="165905" name="矩形 165904"/>
          <p:cNvSpPr>
            <a:spLocks noChangeArrowheads="1"/>
          </p:cNvSpPr>
          <p:nvPr/>
        </p:nvSpPr>
        <p:spPr bwMode="auto">
          <a:xfrm>
            <a:off x="5795963" y="3284538"/>
            <a:ext cx="352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imes New Roman" panose="02020603050405020304" pitchFamily="18" charset="0"/>
                <a:ea typeface="黑体" panose="02010609060101010101" pitchFamily="49" charset="-122"/>
              </a:rPr>
              <a:t>分别用于三个热机</a:t>
            </a:r>
          </a:p>
        </p:txBody>
      </p:sp>
      <p:sp>
        <p:nvSpPr>
          <p:cNvPr id="61457" name="矩形 165905"/>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65907" name="对象 165906"/>
          <p:cNvGraphicFramePr/>
          <p:nvPr/>
        </p:nvGraphicFramePr>
        <p:xfrm>
          <a:off x="3492500" y="4149725"/>
          <a:ext cx="1728788" cy="801688"/>
        </p:xfrm>
        <a:graphic>
          <a:graphicData uri="http://schemas.openxmlformats.org/presentationml/2006/ole">
            <mc:AlternateContent xmlns:mc="http://schemas.openxmlformats.org/markup-compatibility/2006">
              <mc:Choice xmlns:v="urn:schemas-microsoft-com:vml" Requires="v">
                <p:oleObj spid="_x0000_s23754" r:id="rId12" imgW="927100" imgH="431800" progId="Equation.DSMT4">
                  <p:embed/>
                </p:oleObj>
              </mc:Choice>
              <mc:Fallback>
                <p:oleObj r:id="rId12" imgW="927100" imgH="431800" progId="Equation.DSMT4">
                  <p:embed/>
                  <p:pic>
                    <p:nvPicPr>
                      <p:cNvPr id="0" name="对象 16590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92500" y="4149725"/>
                        <a:ext cx="172878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59" name="矩形 165907"/>
          <p:cNvSpPr>
            <a:spLocks noChangeArrowheads="1"/>
          </p:cNvSpPr>
          <p:nvPr/>
        </p:nvSpPr>
        <p:spPr bwMode="auto">
          <a:xfrm>
            <a:off x="0" y="1466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460" name="矩形 16590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65910" name="对象 165909"/>
          <p:cNvGraphicFramePr/>
          <p:nvPr/>
        </p:nvGraphicFramePr>
        <p:xfrm>
          <a:off x="3492500" y="4941888"/>
          <a:ext cx="1800225" cy="835025"/>
        </p:xfrm>
        <a:graphic>
          <a:graphicData uri="http://schemas.openxmlformats.org/presentationml/2006/ole">
            <mc:AlternateContent xmlns:mc="http://schemas.openxmlformats.org/markup-compatibility/2006">
              <mc:Choice xmlns:v="urn:schemas-microsoft-com:vml" Requires="v">
                <p:oleObj spid="_x0000_s23755" r:id="rId14" imgW="927100" imgH="431800" progId="Equation.DSMT4">
                  <p:embed/>
                </p:oleObj>
              </mc:Choice>
              <mc:Fallback>
                <p:oleObj r:id="rId14" imgW="927100" imgH="431800" progId="Equation.DSMT4">
                  <p:embed/>
                  <p:pic>
                    <p:nvPicPr>
                      <p:cNvPr id="0" name="对象 16590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92500" y="4941888"/>
                        <a:ext cx="1800225"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62" name="矩形 16591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65912" name="对象 165911"/>
          <p:cNvGraphicFramePr/>
          <p:nvPr/>
        </p:nvGraphicFramePr>
        <p:xfrm>
          <a:off x="3492500" y="5805488"/>
          <a:ext cx="1727200" cy="809625"/>
        </p:xfrm>
        <a:graphic>
          <a:graphicData uri="http://schemas.openxmlformats.org/presentationml/2006/ole">
            <mc:AlternateContent xmlns:mc="http://schemas.openxmlformats.org/markup-compatibility/2006">
              <mc:Choice xmlns:v="urn:schemas-microsoft-com:vml" Requires="v">
                <p:oleObj spid="_x0000_s23756" r:id="rId16" imgW="914400" imgH="431800" progId="Equation.DSMT4">
                  <p:embed/>
                </p:oleObj>
              </mc:Choice>
              <mc:Fallback>
                <p:oleObj r:id="rId16" imgW="914400" imgH="431800" progId="Equation.DSMT4">
                  <p:embed/>
                  <p:pic>
                    <p:nvPicPr>
                      <p:cNvPr id="0" name="对象 165911"/>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92500" y="5805488"/>
                        <a:ext cx="17272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64" name="矩形 165912"/>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65914" name="对象 165913"/>
          <p:cNvGraphicFramePr/>
          <p:nvPr/>
        </p:nvGraphicFramePr>
        <p:xfrm>
          <a:off x="5940425" y="4941888"/>
          <a:ext cx="2232025" cy="798512"/>
        </p:xfrm>
        <a:graphic>
          <a:graphicData uri="http://schemas.openxmlformats.org/presentationml/2006/ole">
            <mc:AlternateContent xmlns:mc="http://schemas.openxmlformats.org/markup-compatibility/2006">
              <mc:Choice xmlns:v="urn:schemas-microsoft-com:vml" Requires="v">
                <p:oleObj spid="_x0000_s23757" r:id="rId18" imgW="1308100" imgH="469900" progId="Equation.DSMT4">
                  <p:embed/>
                </p:oleObj>
              </mc:Choice>
              <mc:Fallback>
                <p:oleObj r:id="rId18" imgW="1308100" imgH="469900" progId="Equation.DSMT4">
                  <p:embed/>
                  <p:pic>
                    <p:nvPicPr>
                      <p:cNvPr id="0" name="对象 165913"/>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940425" y="4941888"/>
                        <a:ext cx="2232025"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5915" name="右大括号 165914"/>
          <p:cNvSpPr/>
          <p:nvPr/>
        </p:nvSpPr>
        <p:spPr bwMode="auto">
          <a:xfrm>
            <a:off x="5364163" y="4437063"/>
            <a:ext cx="360362" cy="1871662"/>
          </a:xfrm>
          <a:prstGeom prst="rightBrace">
            <a:avLst>
              <a:gd name="adj1" fmla="val 4323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7" name="矩形 165915"/>
          <p:cNvSpPr>
            <a:spLocks noChangeArrowheads="1"/>
          </p:cNvSpPr>
          <p:nvPr/>
        </p:nvSpPr>
        <p:spPr bwMode="auto">
          <a:xfrm>
            <a:off x="0" y="1347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469" name="直接连接符 165917"/>
          <p:cNvSpPr>
            <a:spLocks noChangeShapeType="1"/>
          </p:cNvSpPr>
          <p:nvPr/>
        </p:nvSpPr>
        <p:spPr bwMode="auto">
          <a:xfrm>
            <a:off x="3203575" y="188913"/>
            <a:ext cx="0" cy="6408737"/>
          </a:xfrm>
          <a:prstGeom prst="line">
            <a:avLst/>
          </a:prstGeom>
          <a:noFill/>
          <a:ln w="2540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2" name="图片 1"/>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452699" y="601052"/>
            <a:ext cx="2761727" cy="4608975"/>
          </a:xfrm>
          <a:prstGeom prst="rect">
            <a:avLst/>
          </a:prstGeom>
        </p:spPr>
      </p:pic>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5892"/>
                                        </p:tgtEl>
                                        <p:attrNameLst>
                                          <p:attrName>style.visibility</p:attrName>
                                        </p:attrNameLst>
                                      </p:cBhvr>
                                      <p:to>
                                        <p:strVal val="visible"/>
                                      </p:to>
                                    </p:set>
                                    <p:animEffect transition="in" filter="blinds(horizontal)">
                                      <p:cBhvr>
                                        <p:cTn id="7" dur="500"/>
                                        <p:tgtEl>
                                          <p:spTgt spid="16589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5897"/>
                                        </p:tgtEl>
                                        <p:attrNameLst>
                                          <p:attrName>style.visibility</p:attrName>
                                        </p:attrNameLst>
                                      </p:cBhvr>
                                      <p:to>
                                        <p:strVal val="visible"/>
                                      </p:to>
                                    </p:set>
                                    <p:animEffect transition="in" filter="blinds(horizontal)">
                                      <p:cBhvr>
                                        <p:cTn id="12" dur="500"/>
                                        <p:tgtEl>
                                          <p:spTgt spid="165897"/>
                                        </p:tgtEl>
                                      </p:cBhvr>
                                    </p:animEffect>
                                  </p:childTnLst>
                                </p:cTn>
                              </p:par>
                              <p:par>
                                <p:cTn id="13" presetID="3" presetClass="entr" presetSubtype="10" fill="hold" nodeType="withEffect">
                                  <p:stCondLst>
                                    <p:cond delay="0"/>
                                  </p:stCondLst>
                                  <p:childTnLst>
                                    <p:set>
                                      <p:cBhvr>
                                        <p:cTn id="14" dur="1" fill="hold">
                                          <p:stCondLst>
                                            <p:cond delay="0"/>
                                          </p:stCondLst>
                                        </p:cTn>
                                        <p:tgtEl>
                                          <p:spTgt spid="165894"/>
                                        </p:tgtEl>
                                        <p:attrNameLst>
                                          <p:attrName>style.visibility</p:attrName>
                                        </p:attrNameLst>
                                      </p:cBhvr>
                                      <p:to>
                                        <p:strVal val="visible"/>
                                      </p:to>
                                    </p:set>
                                    <p:animEffect transition="in" filter="blinds(horizontal)">
                                      <p:cBhvr>
                                        <p:cTn id="15" dur="500"/>
                                        <p:tgtEl>
                                          <p:spTgt spid="16589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65898"/>
                                        </p:tgtEl>
                                        <p:attrNameLst>
                                          <p:attrName>style.visibility</p:attrName>
                                        </p:attrNameLst>
                                      </p:cBhvr>
                                      <p:to>
                                        <p:strVal val="visible"/>
                                      </p:to>
                                    </p:set>
                                    <p:animEffect transition="in" filter="blinds(horizontal)">
                                      <p:cBhvr>
                                        <p:cTn id="20" dur="500"/>
                                        <p:tgtEl>
                                          <p:spTgt spid="165898"/>
                                        </p:tgtEl>
                                      </p:cBhvr>
                                    </p:animEffect>
                                  </p:childTnLst>
                                </p:cTn>
                              </p:par>
                              <p:par>
                                <p:cTn id="21" presetID="3" presetClass="entr" presetSubtype="10" fill="hold" nodeType="withEffect">
                                  <p:stCondLst>
                                    <p:cond delay="0"/>
                                  </p:stCondLst>
                                  <p:childTnLst>
                                    <p:set>
                                      <p:cBhvr>
                                        <p:cTn id="22" dur="1" fill="hold">
                                          <p:stCondLst>
                                            <p:cond delay="0"/>
                                          </p:stCondLst>
                                        </p:cTn>
                                        <p:tgtEl>
                                          <p:spTgt spid="165896"/>
                                        </p:tgtEl>
                                        <p:attrNameLst>
                                          <p:attrName>style.visibility</p:attrName>
                                        </p:attrNameLst>
                                      </p:cBhvr>
                                      <p:to>
                                        <p:strVal val="visible"/>
                                      </p:to>
                                    </p:set>
                                    <p:animEffect transition="in" filter="blinds(horizontal)">
                                      <p:cBhvr>
                                        <p:cTn id="23" dur="500"/>
                                        <p:tgtEl>
                                          <p:spTgt spid="165896"/>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grpId="0" nodeType="clickEffect">
                                  <p:stCondLst>
                                    <p:cond delay="0"/>
                                  </p:stCondLst>
                                  <p:iterate type="lt">
                                    <p:tmPct val="5000"/>
                                  </p:iterate>
                                  <p:childTnLst>
                                    <p:set>
                                      <p:cBhvr>
                                        <p:cTn id="27" dur="1" fill="hold">
                                          <p:stCondLst>
                                            <p:cond delay="0"/>
                                          </p:stCondLst>
                                        </p:cTn>
                                        <p:tgtEl>
                                          <p:spTgt spid="165901"/>
                                        </p:tgtEl>
                                        <p:attrNameLst>
                                          <p:attrName>style.visibility</p:attrName>
                                        </p:attrNameLst>
                                      </p:cBhvr>
                                      <p:to>
                                        <p:strVal val="visible"/>
                                      </p:to>
                                    </p:set>
                                    <p:anim calcmode="lin" valueType="num">
                                      <p:cBhvr>
                                        <p:cTn id="28" dur="500" fill="hold"/>
                                        <p:tgtEl>
                                          <p:spTgt spid="165901"/>
                                        </p:tgtEl>
                                        <p:attrNameLst>
                                          <p:attrName>ppt_w</p:attrName>
                                        </p:attrNameLst>
                                      </p:cBhvr>
                                      <p:tavLst>
                                        <p:tav tm="0">
                                          <p:val>
                                            <p:fltVal val="0"/>
                                          </p:val>
                                        </p:tav>
                                        <p:tav tm="100000">
                                          <p:val>
                                            <p:strVal val="#ppt_w"/>
                                          </p:val>
                                        </p:tav>
                                      </p:tavLst>
                                    </p:anim>
                                    <p:anim calcmode="lin" valueType="num">
                                      <p:cBhvr>
                                        <p:cTn id="29" dur="500" fill="hold"/>
                                        <p:tgtEl>
                                          <p:spTgt spid="165901"/>
                                        </p:tgtEl>
                                        <p:attrNameLst>
                                          <p:attrName>ppt_h</p:attrName>
                                        </p:attrNameLst>
                                      </p:cBhvr>
                                      <p:tavLst>
                                        <p:tav tm="0">
                                          <p:val>
                                            <p:fltVal val="0"/>
                                          </p:val>
                                        </p:tav>
                                        <p:tav tm="100000">
                                          <p:val>
                                            <p:strVal val="#ppt_h"/>
                                          </p:val>
                                        </p:tav>
                                      </p:tavLst>
                                    </p:anim>
                                    <p:anim calcmode="lin" valueType="num">
                                      <p:cBhvr>
                                        <p:cTn id="30" dur="500" fill="hold"/>
                                        <p:tgtEl>
                                          <p:spTgt spid="165901"/>
                                        </p:tgtEl>
                                        <p:attrNameLst>
                                          <p:attrName>style.rotation</p:attrName>
                                        </p:attrNameLst>
                                      </p:cBhvr>
                                      <p:tavLst>
                                        <p:tav tm="0">
                                          <p:val>
                                            <p:fltVal val="90"/>
                                          </p:val>
                                        </p:tav>
                                        <p:tav tm="100000">
                                          <p:val>
                                            <p:fltVal val="0"/>
                                          </p:val>
                                        </p:tav>
                                      </p:tavLst>
                                    </p:anim>
                                    <p:animEffect transition="in" filter="fade">
                                      <p:cBhvr>
                                        <p:cTn id="31" dur="500"/>
                                        <p:tgtEl>
                                          <p:spTgt spid="16590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65902"/>
                                        </p:tgtEl>
                                        <p:attrNameLst>
                                          <p:attrName>style.visibility</p:attrName>
                                        </p:attrNameLst>
                                      </p:cBhvr>
                                      <p:to>
                                        <p:strVal val="visible"/>
                                      </p:to>
                                    </p:set>
                                    <p:animEffect transition="in" filter="wipe(left)">
                                      <p:cBhvr>
                                        <p:cTn id="36" dur="500"/>
                                        <p:tgtEl>
                                          <p:spTgt spid="165902"/>
                                        </p:tgtEl>
                                      </p:cBhvr>
                                    </p:animEffect>
                                  </p:childTnLst>
                                </p:cTn>
                              </p:par>
                              <p:par>
                                <p:cTn id="37" presetID="22" presetClass="entr" presetSubtype="8" fill="hold" nodeType="withEffect">
                                  <p:stCondLst>
                                    <p:cond delay="0"/>
                                  </p:stCondLst>
                                  <p:childTnLst>
                                    <p:set>
                                      <p:cBhvr>
                                        <p:cTn id="38" dur="1" fill="hold">
                                          <p:stCondLst>
                                            <p:cond delay="0"/>
                                          </p:stCondLst>
                                        </p:cTn>
                                        <p:tgtEl>
                                          <p:spTgt spid="165900"/>
                                        </p:tgtEl>
                                        <p:attrNameLst>
                                          <p:attrName>style.visibility</p:attrName>
                                        </p:attrNameLst>
                                      </p:cBhvr>
                                      <p:to>
                                        <p:strVal val="visible"/>
                                      </p:to>
                                    </p:set>
                                    <p:animEffect transition="in" filter="wipe(left)">
                                      <p:cBhvr>
                                        <p:cTn id="39" dur="500"/>
                                        <p:tgtEl>
                                          <p:spTgt spid="165900"/>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65903"/>
                                        </p:tgtEl>
                                        <p:attrNameLst>
                                          <p:attrName>style.visibility</p:attrName>
                                        </p:attrNameLst>
                                      </p:cBhvr>
                                      <p:to>
                                        <p:strVal val="visible"/>
                                      </p:to>
                                    </p:set>
                                    <p:animEffect transition="in" filter="blinds(horizontal)">
                                      <p:cBhvr>
                                        <p:cTn id="44" dur="500"/>
                                        <p:tgtEl>
                                          <p:spTgt spid="165903"/>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165904"/>
                                        </p:tgtEl>
                                        <p:attrNameLst>
                                          <p:attrName>style.visibility</p:attrName>
                                        </p:attrNameLst>
                                      </p:cBhvr>
                                      <p:to>
                                        <p:strVal val="visible"/>
                                      </p:to>
                                    </p:set>
                                    <p:animEffect transition="in" filter="blinds(horizontal)">
                                      <p:cBhvr>
                                        <p:cTn id="47" dur="500"/>
                                        <p:tgtEl>
                                          <p:spTgt spid="165904"/>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65905"/>
                                        </p:tgtEl>
                                        <p:attrNameLst>
                                          <p:attrName>style.visibility</p:attrName>
                                        </p:attrNameLst>
                                      </p:cBhvr>
                                      <p:to>
                                        <p:strVal val="visible"/>
                                      </p:to>
                                    </p:set>
                                    <p:animEffect transition="in" filter="blinds(horizontal)">
                                      <p:cBhvr>
                                        <p:cTn id="50" dur="500"/>
                                        <p:tgtEl>
                                          <p:spTgt spid="165905"/>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590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6591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6591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65915"/>
                                        </p:tgtEl>
                                        <p:attrNameLst>
                                          <p:attrName>style.visibility</p:attrName>
                                        </p:attrNameLst>
                                      </p:cBhvr>
                                      <p:to>
                                        <p:strVal val="visible"/>
                                      </p:to>
                                    </p:set>
                                    <p:animEffect transition="in" filter="wipe(left)">
                                      <p:cBhvr>
                                        <p:cTn id="63" dur="500"/>
                                        <p:tgtEl>
                                          <p:spTgt spid="165915"/>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65914"/>
                                        </p:tgtEl>
                                        <p:attrNameLst>
                                          <p:attrName>style.visibility</p:attrName>
                                        </p:attrNameLst>
                                      </p:cBhvr>
                                      <p:to>
                                        <p:strVal val="visible"/>
                                      </p:to>
                                    </p:set>
                                    <p:animEffect transition="in" filter="blinds(horizontal)">
                                      <p:cBhvr>
                                        <p:cTn id="68" dur="500"/>
                                        <p:tgtEl>
                                          <p:spTgt spid="165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p:bldP spid="165897" grpId="0"/>
      <p:bldP spid="165898" grpId="0"/>
      <p:bldP spid="165901" grpId="0"/>
      <p:bldP spid="165904" grpId="0"/>
      <p:bldP spid="16590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465" name="对象 166913"/>
          <p:cNvGraphicFramePr/>
          <p:nvPr/>
        </p:nvGraphicFramePr>
        <p:xfrm>
          <a:off x="3059113" y="404813"/>
          <a:ext cx="2232025" cy="798512"/>
        </p:xfrm>
        <a:graphic>
          <a:graphicData uri="http://schemas.openxmlformats.org/presentationml/2006/ole">
            <mc:AlternateContent xmlns:mc="http://schemas.openxmlformats.org/markup-compatibility/2006">
              <mc:Choice xmlns:v="urn:schemas-microsoft-com:vml" Requires="v">
                <p:oleObj spid="_x0000_s24718" r:id="rId4" imgW="1308100" imgH="469900" progId="Equation.DSMT4">
                  <p:embed/>
                </p:oleObj>
              </mc:Choice>
              <mc:Fallback>
                <p:oleObj r:id="rId4" imgW="1308100" imgH="469900" progId="Equation.DSMT4">
                  <p:embed/>
                  <p:pic>
                    <p:nvPicPr>
                      <p:cNvPr id="0" name="对象 16691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113" y="404813"/>
                        <a:ext cx="2232025"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6915" name="矩形 166914"/>
          <p:cNvSpPr>
            <a:spLocks noChangeArrowheads="1"/>
          </p:cNvSpPr>
          <p:nvPr/>
        </p:nvSpPr>
        <p:spPr bwMode="auto">
          <a:xfrm>
            <a:off x="2339975" y="1582093"/>
            <a:ext cx="14590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不包含</a:t>
            </a:r>
            <a:r>
              <a:rPr lang="en-US" altLang="zh-CN" sz="2400"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aseline="-25000" dirty="0">
                <a:latin typeface="Times New Roman" panose="02020603050405020304" pitchFamily="18" charset="0"/>
                <a:ea typeface="黑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p>
        </p:txBody>
      </p:sp>
      <p:sp>
        <p:nvSpPr>
          <p:cNvPr id="166916" name="直接连接符 166915"/>
          <p:cNvSpPr>
            <a:spLocks noChangeShapeType="1"/>
          </p:cNvSpPr>
          <p:nvPr/>
        </p:nvSpPr>
        <p:spPr bwMode="auto">
          <a:xfrm flipH="1">
            <a:off x="2987675" y="1196975"/>
            <a:ext cx="360363" cy="360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6917" name="矩形 166916"/>
          <p:cNvSpPr>
            <a:spLocks noChangeArrowheads="1"/>
          </p:cNvSpPr>
          <p:nvPr/>
        </p:nvSpPr>
        <p:spPr bwMode="auto">
          <a:xfrm>
            <a:off x="3995738" y="1584325"/>
            <a:ext cx="3275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dirty="0">
                <a:latin typeface="黑体" panose="02010609060101010101" pitchFamily="49" charset="-122"/>
                <a:ea typeface="黑体" panose="02010609060101010101" pitchFamily="49" charset="-122"/>
              </a:rPr>
              <a:t>分子和分母中均含有</a:t>
            </a:r>
            <a:r>
              <a:rPr lang="en-US" altLang="zh-CN" sz="2400" i="1" dirty="0">
                <a:latin typeface="Times New Roman" panose="02020603050405020304" pitchFamily="18" charset="0"/>
              </a:rPr>
              <a:t>T</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 </a:t>
            </a:r>
          </a:p>
        </p:txBody>
      </p:sp>
      <p:sp>
        <p:nvSpPr>
          <p:cNvPr id="166918" name="直接连接符 166917"/>
          <p:cNvSpPr>
            <a:spLocks noChangeShapeType="1"/>
          </p:cNvSpPr>
          <p:nvPr/>
        </p:nvSpPr>
        <p:spPr bwMode="auto">
          <a:xfrm>
            <a:off x="4572000" y="1196975"/>
            <a:ext cx="215900" cy="431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6919" name="矩形 166918"/>
          <p:cNvSpPr>
            <a:spLocks noChangeArrowheads="1"/>
          </p:cNvSpPr>
          <p:nvPr/>
        </p:nvSpPr>
        <p:spPr bwMode="auto">
          <a:xfrm>
            <a:off x="1443038" y="2779068"/>
            <a:ext cx="58448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400" i="1" dirty="0">
                <a:latin typeface="Times New Roman" panose="02020603050405020304" pitchFamily="18" charset="0"/>
              </a:rPr>
              <a:t>T</a:t>
            </a:r>
            <a:r>
              <a:rPr lang="en-US" altLang="zh-CN" sz="2400" baseline="-25000" dirty="0">
                <a:latin typeface="Times New Roman" panose="02020603050405020304" pitchFamily="18" charset="0"/>
              </a:rPr>
              <a:t>3</a:t>
            </a:r>
            <a:r>
              <a:rPr lang="zh-CN" altLang="en-US" sz="2400" dirty="0">
                <a:latin typeface="黑体" panose="02010609060101010101" pitchFamily="49" charset="-122"/>
                <a:ea typeface="黑体" panose="02010609060101010101" pitchFamily="49" charset="-122"/>
              </a:rPr>
              <a:t>必定可以在右端的分子分母中相互消去 </a:t>
            </a:r>
          </a:p>
        </p:txBody>
      </p:sp>
      <p:sp>
        <p:nvSpPr>
          <p:cNvPr id="166920" name="下箭头 166919"/>
          <p:cNvSpPr>
            <a:spLocks noChangeArrowheads="1"/>
          </p:cNvSpPr>
          <p:nvPr/>
        </p:nvSpPr>
        <p:spPr bwMode="auto">
          <a:xfrm>
            <a:off x="4140200" y="2060575"/>
            <a:ext cx="144463" cy="576263"/>
          </a:xfrm>
          <a:prstGeom prst="downArrow">
            <a:avLst>
              <a:gd name="adj1" fmla="val 50000"/>
              <a:gd name="adj2" fmla="val 99688"/>
            </a:avLst>
          </a:prstGeom>
          <a:solidFill>
            <a:schemeClr val="accent1"/>
          </a:solidFill>
          <a:ln w="9525">
            <a:solidFill>
              <a:schemeClr val="tx1"/>
            </a:solidFill>
            <a:miter lim="800000"/>
          </a:ln>
        </p:spPr>
        <p:txBody>
          <a:bodyPr/>
          <a:lstStyle/>
          <a:p>
            <a:endParaRPr lang="zh-CN" altLang="en-US"/>
          </a:p>
        </p:txBody>
      </p:sp>
      <p:sp>
        <p:nvSpPr>
          <p:cNvPr id="62472" name="矩形 166920"/>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66922" name="对象 166921"/>
          <p:cNvGraphicFramePr/>
          <p:nvPr/>
        </p:nvGraphicFramePr>
        <p:xfrm>
          <a:off x="3276600" y="3357563"/>
          <a:ext cx="2159000" cy="912812"/>
        </p:xfrm>
        <a:graphic>
          <a:graphicData uri="http://schemas.openxmlformats.org/presentationml/2006/ole">
            <mc:AlternateContent xmlns:mc="http://schemas.openxmlformats.org/markup-compatibility/2006">
              <mc:Choice xmlns:v="urn:schemas-microsoft-com:vml" Requires="v">
                <p:oleObj spid="_x0000_s24719" r:id="rId6" imgW="1104900" imgH="469900" progId="Equation.DSMT4">
                  <p:embed/>
                </p:oleObj>
              </mc:Choice>
              <mc:Fallback>
                <p:oleObj r:id="rId6" imgW="1104900" imgH="469900" progId="Equation.DSMT4">
                  <p:embed/>
                  <p:pic>
                    <p:nvPicPr>
                      <p:cNvPr id="0" name="对象 16692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3357563"/>
                        <a:ext cx="215900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2474" name="矩形 166924"/>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66926" name="对象 166925"/>
          <p:cNvGraphicFramePr/>
          <p:nvPr/>
        </p:nvGraphicFramePr>
        <p:xfrm>
          <a:off x="3492500" y="4724400"/>
          <a:ext cx="1512888" cy="938213"/>
        </p:xfrm>
        <a:graphic>
          <a:graphicData uri="http://schemas.openxmlformats.org/presentationml/2006/ole">
            <mc:AlternateContent xmlns:mc="http://schemas.openxmlformats.org/markup-compatibility/2006">
              <mc:Choice xmlns:v="urn:schemas-microsoft-com:vml" Requires="v">
                <p:oleObj spid="_x0000_s24720" r:id="rId8" imgW="749300" imgH="469900" progId="Equation.DSMT4">
                  <p:embed/>
                </p:oleObj>
              </mc:Choice>
              <mc:Fallback>
                <p:oleObj r:id="rId8" imgW="749300" imgH="469900" progId="Equation.DSMT4">
                  <p:embed/>
                  <p:pic>
                    <p:nvPicPr>
                      <p:cNvPr id="0" name="对象 16692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92500" y="4724400"/>
                        <a:ext cx="1512888"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6927" name="下箭头 166926"/>
          <p:cNvSpPr>
            <a:spLocks noChangeArrowheads="1"/>
          </p:cNvSpPr>
          <p:nvPr/>
        </p:nvSpPr>
        <p:spPr bwMode="auto">
          <a:xfrm>
            <a:off x="4140200" y="4148138"/>
            <a:ext cx="144463" cy="576262"/>
          </a:xfrm>
          <a:prstGeom prst="downArrow">
            <a:avLst>
              <a:gd name="adj1" fmla="val 50000"/>
              <a:gd name="adj2" fmla="val 99688"/>
            </a:avLst>
          </a:prstGeom>
          <a:solidFill>
            <a:schemeClr val="accent1"/>
          </a:solidFill>
          <a:ln w="9525">
            <a:solidFill>
              <a:schemeClr val="tx1"/>
            </a:solidFill>
            <a:miter lim="800000"/>
          </a:ln>
        </p:spPr>
        <p:txBody>
          <a:bodyPr/>
          <a:lstStyle/>
          <a:p>
            <a:endParaRPr lang="zh-CN" altLang="en-US"/>
          </a:p>
        </p:txBody>
      </p:sp>
      <p:sp>
        <p:nvSpPr>
          <p:cNvPr id="166928" name="矩形 166927"/>
          <p:cNvSpPr>
            <a:spLocks noChangeArrowheads="1"/>
          </p:cNvSpPr>
          <p:nvPr/>
        </p:nvSpPr>
        <p:spPr bwMode="auto">
          <a:xfrm>
            <a:off x="1835150" y="5924550"/>
            <a:ext cx="720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dirty="0"/>
              <a:t>：</a:t>
            </a:r>
            <a:r>
              <a:rPr lang="en-US" altLang="zh-CN" sz="2400" i="1" dirty="0">
                <a:latin typeface="Times New Roman" panose="02020603050405020304" pitchFamily="18" charset="0"/>
              </a:rPr>
              <a:t>T</a:t>
            </a:r>
            <a:r>
              <a:rPr lang="zh-CN" altLang="en-US" sz="2400" dirty="0">
                <a:latin typeface="黑体" panose="02010609060101010101" pitchFamily="49" charset="-122"/>
                <a:ea typeface="黑体" panose="02010609060101010101" pitchFamily="49" charset="-122"/>
              </a:rPr>
              <a:t>的普适函数，与工质种类、热机结构等无关</a:t>
            </a:r>
            <a:endParaRPr lang="en-US" altLang="zh-CN" sz="2400" dirty="0">
              <a:latin typeface="黑体" panose="02010609060101010101" pitchFamily="49" charset="-122"/>
              <a:ea typeface="黑体" panose="02010609060101010101" pitchFamily="49" charset="-122"/>
            </a:endParaRPr>
          </a:p>
        </p:txBody>
      </p:sp>
      <p:graphicFrame>
        <p:nvGraphicFramePr>
          <p:cNvPr id="166929" name="对象 166928"/>
          <p:cNvGraphicFramePr/>
          <p:nvPr/>
        </p:nvGraphicFramePr>
        <p:xfrm>
          <a:off x="1023938" y="5876925"/>
          <a:ext cx="739775" cy="528638"/>
        </p:xfrm>
        <a:graphic>
          <a:graphicData uri="http://schemas.openxmlformats.org/presentationml/2006/ole">
            <mc:AlternateContent xmlns:mc="http://schemas.openxmlformats.org/markup-compatibility/2006">
              <mc:Choice xmlns:v="urn:schemas-microsoft-com:vml" Requires="v">
                <p:oleObj spid="_x0000_s24721" r:id="rId10" imgW="355600" imgH="254000" progId="Equation.DSMT4">
                  <p:embed/>
                </p:oleObj>
              </mc:Choice>
              <mc:Fallback>
                <p:oleObj r:id="rId10" imgW="355600" imgH="254000" progId="Equation.DSMT4">
                  <p:embed/>
                  <p:pic>
                    <p:nvPicPr>
                      <p:cNvPr id="0" name="对象 16692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23938" y="5876925"/>
                        <a:ext cx="73977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6930" name="对象 166929"/>
          <p:cNvGraphicFramePr/>
          <p:nvPr/>
        </p:nvGraphicFramePr>
        <p:xfrm>
          <a:off x="6877050" y="4076700"/>
          <a:ext cx="1152525" cy="485775"/>
        </p:xfrm>
        <a:graphic>
          <a:graphicData uri="http://schemas.openxmlformats.org/presentationml/2006/ole">
            <mc:AlternateContent xmlns:mc="http://schemas.openxmlformats.org/markup-compatibility/2006">
              <mc:Choice xmlns:v="urn:schemas-microsoft-com:vml" Requires="v">
                <p:oleObj spid="_x0000_s24722" r:id="rId12" imgW="609600" imgH="254000" progId="Equation.DSMT4">
                  <p:embed/>
                </p:oleObj>
              </mc:Choice>
              <mc:Fallback>
                <p:oleObj r:id="rId12" imgW="609600" imgH="254000" progId="Equation.DSMT4">
                  <p:embed/>
                  <p:pic>
                    <p:nvPicPr>
                      <p:cNvPr id="0" name="对象 16692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77050" y="4076700"/>
                        <a:ext cx="115252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6931" name="矩形 166930"/>
          <p:cNvSpPr>
            <a:spLocks noChangeArrowheads="1"/>
          </p:cNvSpPr>
          <p:nvPr/>
        </p:nvSpPr>
        <p:spPr bwMode="auto">
          <a:xfrm>
            <a:off x="6300788" y="3429000"/>
            <a:ext cx="2374900" cy="2376488"/>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6932" name="矩形 166931"/>
          <p:cNvSpPr>
            <a:spLocks noChangeArrowheads="1"/>
          </p:cNvSpPr>
          <p:nvPr/>
        </p:nvSpPr>
        <p:spPr bwMode="auto">
          <a:xfrm>
            <a:off x="6588125" y="3500438"/>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latin typeface="黑体" panose="02010609060101010101" pitchFamily="49" charset="-122"/>
                <a:ea typeface="黑体" panose="02010609060101010101" pitchFamily="49" charset="-122"/>
              </a:rPr>
              <a:t>开尔文提出</a:t>
            </a:r>
          </a:p>
        </p:txBody>
      </p:sp>
      <p:sp>
        <p:nvSpPr>
          <p:cNvPr id="62482" name="矩形 16693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66934" name="对象 166933"/>
          <p:cNvGraphicFramePr/>
          <p:nvPr/>
        </p:nvGraphicFramePr>
        <p:xfrm>
          <a:off x="6948488" y="4652963"/>
          <a:ext cx="1079500" cy="866775"/>
        </p:xfrm>
        <a:graphic>
          <a:graphicData uri="http://schemas.openxmlformats.org/presentationml/2006/ole">
            <mc:AlternateContent xmlns:mc="http://schemas.openxmlformats.org/markup-compatibility/2006">
              <mc:Choice xmlns:v="urn:schemas-microsoft-com:vml" Requires="v">
                <p:oleObj spid="_x0000_s24723" r:id="rId14" imgW="533400" imgH="431800" progId="Equation.DSMT4">
                  <p:embed/>
                </p:oleObj>
              </mc:Choice>
              <mc:Fallback>
                <p:oleObj r:id="rId14" imgW="533400" imgH="431800" progId="Equation.DSMT4">
                  <p:embed/>
                  <p:pic>
                    <p:nvPicPr>
                      <p:cNvPr id="0" name="对象 16693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48488" y="4652963"/>
                        <a:ext cx="1079500"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6916"/>
                                        </p:tgtEl>
                                        <p:attrNameLst>
                                          <p:attrName>style.visibility</p:attrName>
                                        </p:attrNameLst>
                                      </p:cBhvr>
                                      <p:to>
                                        <p:strVal val="visible"/>
                                      </p:to>
                                    </p:set>
                                    <p:animEffect transition="in" filter="wipe(up)">
                                      <p:cBhvr>
                                        <p:cTn id="7" dur="500"/>
                                        <p:tgtEl>
                                          <p:spTgt spid="16691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66915"/>
                                        </p:tgtEl>
                                        <p:attrNameLst>
                                          <p:attrName>style.visibility</p:attrName>
                                        </p:attrNameLst>
                                      </p:cBhvr>
                                      <p:to>
                                        <p:strVal val="visible"/>
                                      </p:to>
                                    </p:set>
                                    <p:animEffect transition="in" filter="wipe(up)">
                                      <p:cBhvr>
                                        <p:cTn id="10" dur="500"/>
                                        <p:tgtEl>
                                          <p:spTgt spid="16691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66918"/>
                                        </p:tgtEl>
                                        <p:attrNameLst>
                                          <p:attrName>style.visibility</p:attrName>
                                        </p:attrNameLst>
                                      </p:cBhvr>
                                      <p:to>
                                        <p:strVal val="visible"/>
                                      </p:to>
                                    </p:set>
                                    <p:animEffect transition="in" filter="wipe(up)">
                                      <p:cBhvr>
                                        <p:cTn id="15" dur="500"/>
                                        <p:tgtEl>
                                          <p:spTgt spid="166918"/>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66917"/>
                                        </p:tgtEl>
                                        <p:attrNameLst>
                                          <p:attrName>style.visibility</p:attrName>
                                        </p:attrNameLst>
                                      </p:cBhvr>
                                      <p:to>
                                        <p:strVal val="visible"/>
                                      </p:to>
                                    </p:set>
                                    <p:animEffect transition="in" filter="wipe(up)">
                                      <p:cBhvr>
                                        <p:cTn id="18" dur="500"/>
                                        <p:tgtEl>
                                          <p:spTgt spid="16691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66920"/>
                                        </p:tgtEl>
                                        <p:attrNameLst>
                                          <p:attrName>style.visibility</p:attrName>
                                        </p:attrNameLst>
                                      </p:cBhvr>
                                      <p:to>
                                        <p:strVal val="visible"/>
                                      </p:to>
                                    </p:set>
                                    <p:animEffect transition="in" filter="wipe(up)">
                                      <p:cBhvr>
                                        <p:cTn id="23" dur="500"/>
                                        <p:tgtEl>
                                          <p:spTgt spid="166920"/>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66919"/>
                                        </p:tgtEl>
                                        <p:attrNameLst>
                                          <p:attrName>style.visibility</p:attrName>
                                        </p:attrNameLst>
                                      </p:cBhvr>
                                      <p:to>
                                        <p:strVal val="visible"/>
                                      </p:to>
                                    </p:set>
                                    <p:animEffect transition="in" filter="wipe(up)">
                                      <p:cBhvr>
                                        <p:cTn id="26" dur="500"/>
                                        <p:tgtEl>
                                          <p:spTgt spid="166919"/>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66922"/>
                                        </p:tgtEl>
                                        <p:attrNameLst>
                                          <p:attrName>style.visibility</p:attrName>
                                        </p:attrNameLst>
                                      </p:cBhvr>
                                      <p:to>
                                        <p:strVal val="visible"/>
                                      </p:to>
                                    </p:set>
                                    <p:animEffect transition="in" filter="blinds(horizontal)">
                                      <p:cBhvr>
                                        <p:cTn id="31" dur="500"/>
                                        <p:tgtEl>
                                          <p:spTgt spid="16692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166927"/>
                                        </p:tgtEl>
                                        <p:attrNameLst>
                                          <p:attrName>style.visibility</p:attrName>
                                        </p:attrNameLst>
                                      </p:cBhvr>
                                      <p:to>
                                        <p:strVal val="visible"/>
                                      </p:to>
                                    </p:set>
                                    <p:animEffect transition="in" filter="wipe(up)">
                                      <p:cBhvr>
                                        <p:cTn id="36" dur="500"/>
                                        <p:tgtEl>
                                          <p:spTgt spid="166927"/>
                                        </p:tgtEl>
                                      </p:cBhvr>
                                    </p:animEffect>
                                  </p:childTnLst>
                                </p:cTn>
                              </p:par>
                              <p:par>
                                <p:cTn id="37" presetID="22" presetClass="entr" presetSubtype="1" fill="hold" nodeType="withEffect">
                                  <p:stCondLst>
                                    <p:cond delay="0"/>
                                  </p:stCondLst>
                                  <p:childTnLst>
                                    <p:set>
                                      <p:cBhvr>
                                        <p:cTn id="38" dur="1" fill="hold">
                                          <p:stCondLst>
                                            <p:cond delay="0"/>
                                          </p:stCondLst>
                                        </p:cTn>
                                        <p:tgtEl>
                                          <p:spTgt spid="166926"/>
                                        </p:tgtEl>
                                        <p:attrNameLst>
                                          <p:attrName>style.visibility</p:attrName>
                                        </p:attrNameLst>
                                      </p:cBhvr>
                                      <p:to>
                                        <p:strVal val="visible"/>
                                      </p:to>
                                    </p:set>
                                    <p:animEffect transition="in" filter="wipe(up)">
                                      <p:cBhvr>
                                        <p:cTn id="39" dur="500"/>
                                        <p:tgtEl>
                                          <p:spTgt spid="166926"/>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66928"/>
                                        </p:tgtEl>
                                        <p:attrNameLst>
                                          <p:attrName>style.visibility</p:attrName>
                                        </p:attrNameLst>
                                      </p:cBhvr>
                                      <p:to>
                                        <p:strVal val="visible"/>
                                      </p:to>
                                    </p:set>
                                    <p:animEffect transition="in" filter="blinds(horizontal)">
                                      <p:cBhvr>
                                        <p:cTn id="44" dur="500"/>
                                        <p:tgtEl>
                                          <p:spTgt spid="166928"/>
                                        </p:tgtEl>
                                      </p:cBhvr>
                                    </p:animEffect>
                                  </p:childTnLst>
                                </p:cTn>
                              </p:par>
                              <p:par>
                                <p:cTn id="45" presetID="3" presetClass="entr" presetSubtype="10" fill="hold" nodeType="withEffect">
                                  <p:stCondLst>
                                    <p:cond delay="0"/>
                                  </p:stCondLst>
                                  <p:childTnLst>
                                    <p:set>
                                      <p:cBhvr>
                                        <p:cTn id="46" dur="1" fill="hold">
                                          <p:stCondLst>
                                            <p:cond delay="0"/>
                                          </p:stCondLst>
                                        </p:cTn>
                                        <p:tgtEl>
                                          <p:spTgt spid="166929"/>
                                        </p:tgtEl>
                                        <p:attrNameLst>
                                          <p:attrName>style.visibility</p:attrName>
                                        </p:attrNameLst>
                                      </p:cBhvr>
                                      <p:to>
                                        <p:strVal val="visible"/>
                                      </p:to>
                                    </p:set>
                                    <p:animEffect transition="in" filter="blinds(horizontal)">
                                      <p:cBhvr>
                                        <p:cTn id="47" dur="500"/>
                                        <p:tgtEl>
                                          <p:spTgt spid="16692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66930"/>
                                        </p:tgtEl>
                                        <p:attrNameLst>
                                          <p:attrName>style.visibility</p:attrName>
                                        </p:attrNameLst>
                                      </p:cBhvr>
                                      <p:to>
                                        <p:strVal val="visible"/>
                                      </p:to>
                                    </p:set>
                                    <p:animEffect transition="in" filter="blinds(horizontal)">
                                      <p:cBhvr>
                                        <p:cTn id="52" dur="500"/>
                                        <p:tgtEl>
                                          <p:spTgt spid="166930"/>
                                        </p:tgtEl>
                                      </p:cBhvr>
                                    </p:animEffect>
                                  </p:childTnLst>
                                </p:cTn>
                              </p:par>
                              <p:par>
                                <p:cTn id="53" presetID="3" presetClass="entr" presetSubtype="10" fill="hold" nodeType="withEffect">
                                  <p:stCondLst>
                                    <p:cond delay="0"/>
                                  </p:stCondLst>
                                  <p:childTnLst>
                                    <p:set>
                                      <p:cBhvr>
                                        <p:cTn id="54" dur="1" fill="hold">
                                          <p:stCondLst>
                                            <p:cond delay="0"/>
                                          </p:stCondLst>
                                        </p:cTn>
                                        <p:tgtEl>
                                          <p:spTgt spid="166931"/>
                                        </p:tgtEl>
                                        <p:attrNameLst>
                                          <p:attrName>style.visibility</p:attrName>
                                        </p:attrNameLst>
                                      </p:cBhvr>
                                      <p:to>
                                        <p:strVal val="visible"/>
                                      </p:to>
                                    </p:set>
                                    <p:animEffect transition="in" filter="blinds(horizontal)">
                                      <p:cBhvr>
                                        <p:cTn id="55" dur="500"/>
                                        <p:tgtEl>
                                          <p:spTgt spid="166931"/>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166932"/>
                                        </p:tgtEl>
                                        <p:attrNameLst>
                                          <p:attrName>style.visibility</p:attrName>
                                        </p:attrNameLst>
                                      </p:cBhvr>
                                      <p:to>
                                        <p:strVal val="visible"/>
                                      </p:to>
                                    </p:set>
                                    <p:animEffect transition="in" filter="blinds(horizontal)">
                                      <p:cBhvr>
                                        <p:cTn id="58" dur="500"/>
                                        <p:tgtEl>
                                          <p:spTgt spid="166932"/>
                                        </p:tgtEl>
                                      </p:cBhvr>
                                    </p:animEffect>
                                  </p:childTnLst>
                                </p:cTn>
                              </p:par>
                              <p:par>
                                <p:cTn id="59" presetID="3" presetClass="entr" presetSubtype="10" fill="hold" nodeType="withEffect">
                                  <p:stCondLst>
                                    <p:cond delay="0"/>
                                  </p:stCondLst>
                                  <p:childTnLst>
                                    <p:set>
                                      <p:cBhvr>
                                        <p:cTn id="60" dur="1" fill="hold">
                                          <p:stCondLst>
                                            <p:cond delay="0"/>
                                          </p:stCondLst>
                                        </p:cTn>
                                        <p:tgtEl>
                                          <p:spTgt spid="166934"/>
                                        </p:tgtEl>
                                        <p:attrNameLst>
                                          <p:attrName>style.visibility</p:attrName>
                                        </p:attrNameLst>
                                      </p:cBhvr>
                                      <p:to>
                                        <p:strVal val="visible"/>
                                      </p:to>
                                    </p:set>
                                    <p:animEffect transition="in" filter="blinds(horizontal)">
                                      <p:cBhvr>
                                        <p:cTn id="61" dur="500"/>
                                        <p:tgtEl>
                                          <p:spTgt spid="166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p:bldP spid="166917" grpId="0"/>
      <p:bldP spid="166919" grpId="0"/>
      <p:bldP spid="166928" grpId="0"/>
      <p:bldP spid="16693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89" name="对象 167937"/>
          <p:cNvGraphicFramePr>
            <a:graphicFrameLocks noChangeAspect="1"/>
          </p:cNvGraphicFramePr>
          <p:nvPr/>
        </p:nvGraphicFramePr>
        <p:xfrm>
          <a:off x="3728278" y="729996"/>
          <a:ext cx="1332923" cy="1079033"/>
        </p:xfrm>
        <a:graphic>
          <a:graphicData uri="http://schemas.openxmlformats.org/presentationml/2006/ole">
            <mc:AlternateContent xmlns:mc="http://schemas.openxmlformats.org/markup-compatibility/2006">
              <mc:Choice xmlns:v="urn:schemas-microsoft-com:vml" Requires="v">
                <p:oleObj spid="_x0000_s25627" r:id="rId3" imgW="533400" imgH="431800" progId="Equation.DSMT4">
                  <p:embed/>
                </p:oleObj>
              </mc:Choice>
              <mc:Fallback>
                <p:oleObj r:id="rId3" imgW="533400" imgH="431800" progId="Equation.DSMT4">
                  <p:embed/>
                  <p:pic>
                    <p:nvPicPr>
                      <p:cNvPr id="0" name="对象 16793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8278" y="729996"/>
                        <a:ext cx="1332923" cy="1079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3490" name="矩形 167938"/>
          <p:cNvSpPr>
            <a:spLocks noChangeArrowheads="1"/>
          </p:cNvSpPr>
          <p:nvPr/>
        </p:nvSpPr>
        <p:spPr bwMode="auto">
          <a:xfrm>
            <a:off x="601663" y="2468582"/>
            <a:ext cx="7920037"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rPr>
              <a:t>以上式建立的温标</a:t>
            </a:r>
            <a:r>
              <a:rPr lang="zh-CN" altLang="en-US" sz="2800" b="1" dirty="0" smtClean="0">
                <a:latin typeface="黑体" panose="02010609060101010101" pitchFamily="49" charset="-122"/>
                <a:ea typeface="黑体" panose="02010609060101010101" pitchFamily="49" charset="-122"/>
              </a:rPr>
              <a:t>称为</a:t>
            </a:r>
            <a:r>
              <a:rPr lang="zh-CN" altLang="en-US" sz="2800" b="1" dirty="0" smtClean="0">
                <a:solidFill>
                  <a:srgbClr val="FF0000"/>
                </a:solidFill>
                <a:latin typeface="黑体" panose="02010609060101010101" pitchFamily="49" charset="-122"/>
                <a:ea typeface="黑体" panose="02010609060101010101" pitchFamily="49" charset="-122"/>
              </a:rPr>
              <a:t>热力学温标</a:t>
            </a:r>
            <a:r>
              <a:rPr lang="zh-CN" altLang="en-US" sz="2800" b="1" dirty="0">
                <a:latin typeface="黑体" panose="02010609060101010101" pitchFamily="49" charset="-122"/>
                <a:ea typeface="黑体" panose="02010609060101010101" pitchFamily="49" charset="-122"/>
              </a:rPr>
              <a:t>，在此温标基础上度量的温度</a:t>
            </a:r>
            <a:r>
              <a:rPr lang="zh-CN" altLang="en-US" sz="2800" b="1" dirty="0" smtClean="0">
                <a:latin typeface="黑体" panose="02010609060101010101" pitchFamily="49" charset="-122"/>
                <a:ea typeface="黑体" panose="02010609060101010101" pitchFamily="49" charset="-122"/>
              </a:rPr>
              <a:t>称为</a:t>
            </a:r>
            <a:r>
              <a:rPr lang="zh-CN" altLang="en-US" sz="2800" b="1" dirty="0" smtClean="0">
                <a:solidFill>
                  <a:srgbClr val="FF0000"/>
                </a:solidFill>
                <a:latin typeface="黑体" panose="02010609060101010101" pitchFamily="49" charset="-122"/>
                <a:ea typeface="黑体" panose="02010609060101010101" pitchFamily="49" charset="-122"/>
              </a:rPr>
              <a:t>热力学温度</a:t>
            </a:r>
            <a:r>
              <a:rPr lang="zh-CN" altLang="en-US" sz="2800" b="1" dirty="0" smtClean="0">
                <a:latin typeface="黑体" panose="02010609060101010101" pitchFamily="49" charset="-122"/>
                <a:ea typeface="黑体" panose="02010609060101010101" pitchFamily="49" charset="-122"/>
              </a:rPr>
              <a:t>，单位为开尔文，符号为</a:t>
            </a:r>
            <a:r>
              <a:rPr lang="en-US" altLang="zh-CN" sz="2800" b="1" dirty="0" smtClean="0">
                <a:latin typeface="黑体" panose="02010609060101010101" pitchFamily="49" charset="-122"/>
                <a:ea typeface="黑体" panose="02010609060101010101" pitchFamily="49" charset="-122"/>
              </a:rPr>
              <a:t>K</a:t>
            </a:r>
          </a:p>
          <a:p>
            <a:pPr marL="457200" indent="-457200">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根据上式，两</a:t>
            </a:r>
            <a:r>
              <a:rPr lang="zh-CN" altLang="en-US" sz="2800" b="1" dirty="0">
                <a:latin typeface="黑体" panose="02010609060101010101" pitchFamily="49" charset="-122"/>
                <a:ea typeface="黑体" panose="02010609060101010101" pitchFamily="49" charset="-122"/>
              </a:rPr>
              <a:t>个温度的比值仅与可逆热机与两个热源间交换的热量的比值相关，而与工质性质无关。因此，热力学温标是</a:t>
            </a:r>
            <a:r>
              <a:rPr lang="zh-CN" altLang="en-US" sz="2800" b="1" dirty="0">
                <a:solidFill>
                  <a:srgbClr val="FF0000"/>
                </a:solidFill>
                <a:latin typeface="黑体" panose="02010609060101010101" pitchFamily="49" charset="-122"/>
                <a:ea typeface="黑体" panose="02010609060101010101" pitchFamily="49" charset="-122"/>
              </a:rPr>
              <a:t>独立于工质属性</a:t>
            </a:r>
            <a:r>
              <a:rPr lang="zh-CN" altLang="en-US" sz="2800" b="1" dirty="0">
                <a:latin typeface="黑体" panose="02010609060101010101" pitchFamily="49" charset="-122"/>
                <a:ea typeface="黑体" panose="02010609060101010101" pitchFamily="49" charset="-122"/>
              </a:rPr>
              <a:t>的。 </a:t>
            </a:r>
          </a:p>
          <a:p>
            <a:endParaRPr lang="en-US" altLang="zh-CN" sz="2800" b="1" dirty="0" smtClean="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167937"/>
          <p:cNvGraphicFramePr>
            <a:graphicFrameLocks noChangeAspect="1"/>
          </p:cNvGraphicFramePr>
          <p:nvPr/>
        </p:nvGraphicFramePr>
        <p:xfrm>
          <a:off x="3728278" y="729996"/>
          <a:ext cx="1332923" cy="1079033"/>
        </p:xfrm>
        <a:graphic>
          <a:graphicData uri="http://schemas.openxmlformats.org/presentationml/2006/ole">
            <mc:AlternateContent xmlns:mc="http://schemas.openxmlformats.org/markup-compatibility/2006">
              <mc:Choice xmlns:v="urn:schemas-microsoft-com:vml" Requires="v">
                <p:oleObj spid="_x0000_s26651" r:id="rId3" imgW="533400" imgH="431800" progId="Equation.DSMT4">
                  <p:embed/>
                </p:oleObj>
              </mc:Choice>
              <mc:Fallback>
                <p:oleObj r:id="rId3" imgW="533400" imgH="431800" progId="Equation.DSMT4">
                  <p:embed/>
                  <p:pic>
                    <p:nvPicPr>
                      <p:cNvPr id="0" name="对象 16793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8278" y="729996"/>
                        <a:ext cx="1332923" cy="1079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矩形 167938"/>
          <p:cNvSpPr>
            <a:spLocks noChangeArrowheads="1"/>
          </p:cNvSpPr>
          <p:nvPr/>
        </p:nvSpPr>
        <p:spPr bwMode="auto">
          <a:xfrm>
            <a:off x="619264" y="2661375"/>
            <a:ext cx="7920037"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rPr>
              <a:t>仅确定</a:t>
            </a:r>
            <a:r>
              <a:rPr lang="zh-CN" altLang="en-US" sz="2800" b="1" dirty="0" smtClean="0">
                <a:latin typeface="黑体" panose="02010609060101010101" pitchFamily="49" charset="-122"/>
                <a:ea typeface="黑体" panose="02010609060101010101" pitchFamily="49" charset="-122"/>
              </a:rPr>
              <a:t>了热力学温度</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smtClean="0">
                <a:latin typeface="黑体" panose="02010609060101010101" pitchFamily="49" charset="-122"/>
                <a:ea typeface="黑体" panose="02010609060101010101" pitchFamily="49" charset="-122"/>
              </a:rPr>
              <a:t>和</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smtClean="0">
                <a:latin typeface="黑体" panose="02010609060101010101" pitchFamily="49" charset="-122"/>
                <a:ea typeface="黑体" panose="02010609060101010101" pitchFamily="49" charset="-122"/>
              </a:rPr>
              <a:t>的</a:t>
            </a:r>
            <a:r>
              <a:rPr lang="zh-CN" altLang="en-US" sz="2800" b="1" dirty="0">
                <a:latin typeface="黑体" panose="02010609060101010101" pitchFamily="49" charset="-122"/>
                <a:ea typeface="黑体" panose="02010609060101010101" pitchFamily="49" charset="-122"/>
              </a:rPr>
              <a:t>比值，还不能</a:t>
            </a:r>
            <a:r>
              <a:rPr lang="zh-CN" altLang="en-US" sz="2800" b="1" dirty="0" smtClean="0">
                <a:latin typeface="黑体" panose="02010609060101010101" pitchFamily="49" charset="-122"/>
                <a:ea typeface="黑体" panose="02010609060101010101" pitchFamily="49" charset="-122"/>
              </a:rPr>
              <a:t>确定热力学温度</a:t>
            </a:r>
            <a:r>
              <a:rPr lang="zh-CN" altLang="en-US" sz="2800" b="1" dirty="0">
                <a:latin typeface="黑体" panose="02010609060101010101" pitchFamily="49" charset="-122"/>
                <a:ea typeface="黑体" panose="02010609060101010101" pitchFamily="49" charset="-122"/>
              </a:rPr>
              <a:t>的数值，</a:t>
            </a:r>
            <a:r>
              <a:rPr lang="zh-CN" altLang="en-US" sz="2800" b="1" dirty="0" smtClean="0">
                <a:latin typeface="黑体" panose="02010609060101010101" pitchFamily="49" charset="-122"/>
                <a:ea typeface="黑体" panose="02010609060101010101" pitchFamily="49" charset="-122"/>
              </a:rPr>
              <a:t>我们</a:t>
            </a:r>
            <a:r>
              <a:rPr lang="zh-CN" altLang="en-US" sz="2800" b="1" dirty="0">
                <a:latin typeface="黑体" panose="02010609060101010101" pitchFamily="49" charset="-122"/>
                <a:ea typeface="黑体" panose="02010609060101010101" pitchFamily="49" charset="-122"/>
              </a:rPr>
              <a:t>还需要知道</a:t>
            </a:r>
            <a:r>
              <a:rPr lang="en-US" altLang="zh-CN" sz="2800" b="1" dirty="0">
                <a:latin typeface="黑体" panose="02010609060101010101" pitchFamily="49" charset="-122"/>
                <a:ea typeface="黑体" panose="02010609060101010101" pitchFamily="49" charset="-122"/>
              </a:rPr>
              <a:t>1K</a:t>
            </a:r>
            <a:r>
              <a:rPr lang="zh-CN" altLang="en-US" sz="2800" b="1" dirty="0">
                <a:latin typeface="黑体" panose="02010609060101010101" pitchFamily="49" charset="-122"/>
                <a:ea typeface="黑体" panose="02010609060101010101" pitchFamily="49" charset="-122"/>
              </a:rPr>
              <a:t>的具体</a:t>
            </a:r>
            <a:r>
              <a:rPr lang="zh-CN" altLang="en-US" sz="2800" b="1" dirty="0" smtClean="0">
                <a:latin typeface="黑体" panose="02010609060101010101" pitchFamily="49" charset="-122"/>
                <a:ea typeface="黑体" panose="02010609060101010101" pitchFamily="49" charset="-122"/>
              </a:rPr>
              <a:t>大小</a:t>
            </a:r>
            <a:endParaRPr lang="en-US" altLang="zh-CN" sz="2800" b="1" dirty="0" smtClean="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1954</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年国际计量大会</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规定</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水</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的三相点温度定为</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273.16 K</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 K</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的大小是水的</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三相点温度</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的</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1/273.16</a:t>
            </a:r>
            <a:endPar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buFont typeface="Arial" panose="020B0604020202020204" pitchFamily="34" charset="0"/>
              <a:buChar char="•"/>
            </a:pPr>
            <a:endParaRPr lang="en-US" altLang="zh-CN" sz="28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矩形 168961"/>
          <p:cNvSpPr>
            <a:spLocks noChangeArrowheads="1"/>
          </p:cNvSpPr>
          <p:nvPr/>
        </p:nvSpPr>
        <p:spPr bwMode="auto">
          <a:xfrm>
            <a:off x="0" y="2828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516" name="矩形 168964"/>
          <p:cNvSpPr>
            <a:spLocks noChangeArrowheads="1"/>
          </p:cNvSpPr>
          <p:nvPr/>
        </p:nvSpPr>
        <p:spPr bwMode="auto">
          <a:xfrm>
            <a:off x="323056" y="3518402"/>
            <a:ext cx="8497888"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smtClean="0">
                <a:latin typeface="黑体" panose="02010609060101010101" pitchFamily="49" charset="-122"/>
                <a:ea typeface="黑体" panose="02010609060101010101" pitchFamily="49" charset="-122"/>
              </a:rPr>
              <a:t>选择</a:t>
            </a:r>
            <a:r>
              <a:rPr lang="zh-CN" altLang="en-US" sz="3200" b="1" dirty="0">
                <a:latin typeface="黑体" panose="02010609060101010101" pitchFamily="49" charset="-122"/>
                <a:ea typeface="黑体" panose="02010609060101010101" pitchFamily="49" charset="-122"/>
              </a:rPr>
              <a:t>水的</a:t>
            </a:r>
            <a:r>
              <a:rPr lang="zh-CN" altLang="en-US" sz="3200" b="1" dirty="0" smtClean="0">
                <a:latin typeface="黑体" panose="02010609060101010101" pitchFamily="49" charset="-122"/>
                <a:ea typeface="黑体" panose="02010609060101010101" pitchFamily="49" charset="-122"/>
              </a:rPr>
              <a:t>三相点作为建立温标的基准点，比选用水的</a:t>
            </a:r>
            <a:r>
              <a:rPr lang="zh-CN" altLang="en-US" sz="3200" b="1" dirty="0" smtClean="0">
                <a:ea typeface="黑体" panose="02010609060101010101" pitchFamily="49" charset="-122"/>
              </a:rPr>
              <a:t>沸点、冰点的</a:t>
            </a:r>
            <a:r>
              <a:rPr lang="zh-CN" altLang="en-US" sz="3200" b="1" dirty="0" smtClean="0">
                <a:solidFill>
                  <a:srgbClr val="FF0000"/>
                </a:solidFill>
                <a:ea typeface="黑体" panose="02010609060101010101" pitchFamily="49" charset="-122"/>
              </a:rPr>
              <a:t>好处</a:t>
            </a:r>
            <a:r>
              <a:rPr lang="zh-CN" altLang="en-US" sz="3200" b="1" dirty="0">
                <a:solidFill>
                  <a:srgbClr val="FF0000"/>
                </a:solidFill>
                <a:ea typeface="黑体" panose="02010609060101010101" pitchFamily="49" charset="-122"/>
              </a:rPr>
              <a:t>在于</a:t>
            </a:r>
            <a:r>
              <a:rPr lang="zh-CN" altLang="en-US" sz="3200" b="1" dirty="0">
                <a:ea typeface="黑体" panose="02010609060101010101" pitchFamily="49" charset="-122"/>
              </a:rPr>
              <a:t>：水的沸点、冰点的温度与压力有关，而三相点的温度是确定的，不依赖于压力的大小，只要密闭容器内使水的三相达到平衡共存，则其温度即为三相点温度 </a:t>
            </a:r>
          </a:p>
        </p:txBody>
      </p:sp>
      <p:sp>
        <p:nvSpPr>
          <p:cNvPr id="64517" name="矩形 168966"/>
          <p:cNvSpPr>
            <a:spLocks noChangeArrowheads="1"/>
          </p:cNvSpPr>
          <p:nvPr/>
        </p:nvSpPr>
        <p:spPr bwMode="auto">
          <a:xfrm>
            <a:off x="3860551" y="1004082"/>
            <a:ext cx="325906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200" b="1" dirty="0">
                <a:solidFill>
                  <a:srgbClr val="0000FF"/>
                </a:solidFill>
                <a:latin typeface="黑体" panose="02010609060101010101" pitchFamily="49" charset="-122"/>
                <a:ea typeface="黑体" panose="02010609060101010101" pitchFamily="49" charset="-122"/>
              </a:rPr>
              <a:t>三相点：气、液、固三相可以平衡共存的状态</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3612" y="403136"/>
            <a:ext cx="1579001" cy="2950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67937"/>
          <p:cNvGraphicFramePr>
            <a:graphicFrameLocks noChangeAspect="1"/>
          </p:cNvGraphicFramePr>
          <p:nvPr/>
        </p:nvGraphicFramePr>
        <p:xfrm>
          <a:off x="5337457" y="1035677"/>
          <a:ext cx="1492250" cy="1109662"/>
        </p:xfrm>
        <a:graphic>
          <a:graphicData uri="http://schemas.openxmlformats.org/presentationml/2006/ole">
            <mc:AlternateContent xmlns:mc="http://schemas.openxmlformats.org/markup-compatibility/2006">
              <mc:Choice xmlns:v="urn:schemas-microsoft-com:vml" Requires="v">
                <p:oleObj spid="_x0000_s28745" name="Equation" r:id="rId4" imgW="14325600" imgH="10668000" progId="Equation.DSMT4">
                  <p:embed/>
                </p:oleObj>
              </mc:Choice>
              <mc:Fallback>
                <p:oleObj name="Equation" r:id="rId4" imgW="14325600" imgH="10668000" progId="Equation.DSMT4">
                  <p:embed/>
                  <p:pic>
                    <p:nvPicPr>
                      <p:cNvPr id="0" name="对象 167937"/>
                      <p:cNvPicPr>
                        <a:picLocks noChangeArrowheads="1"/>
                      </p:cNvPicPr>
                      <p:nvPr/>
                    </p:nvPicPr>
                    <p:blipFill>
                      <a:blip r:embed="rId5"/>
                      <a:srcRect/>
                      <a:stretch>
                        <a:fillRect/>
                      </a:stretch>
                    </p:blipFill>
                    <p:spPr bwMode="auto">
                      <a:xfrm>
                        <a:off x="5337457" y="1035677"/>
                        <a:ext cx="1492250"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矩形 3"/>
          <p:cNvSpPr/>
          <p:nvPr/>
        </p:nvSpPr>
        <p:spPr>
          <a:xfrm>
            <a:off x="434784" y="218951"/>
            <a:ext cx="8510350" cy="584775"/>
          </a:xfrm>
          <a:prstGeom prst="rect">
            <a:avLst/>
          </a:prstGeom>
        </p:spPr>
        <p:txBody>
          <a:bodyPr wrap="square">
            <a:spAutoFit/>
          </a:bodyPr>
          <a:lstStyle/>
          <a:p>
            <a:r>
              <a:rPr lang="zh-CN" altLang="en-US" sz="3200" b="1" dirty="0" smtClean="0">
                <a:solidFill>
                  <a:prstClr val="black"/>
                </a:solidFill>
                <a:latin typeface="黑体" panose="02010609060101010101" pitchFamily="49" charset="-122"/>
                <a:ea typeface="黑体" panose="02010609060101010101" pitchFamily="49" charset="-122"/>
              </a:rPr>
              <a:t>将任意温度</a:t>
            </a:r>
            <a:r>
              <a:rPr lang="en-US" altLang="zh-CN" sz="3200" b="1" i="1" dirty="0"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T</a:t>
            </a:r>
            <a:r>
              <a:rPr lang="zh-CN" altLang="en-US" sz="3200" b="1" dirty="0" smtClean="0">
                <a:solidFill>
                  <a:prstClr val="black"/>
                </a:solidFill>
                <a:latin typeface="黑体" panose="02010609060101010101" pitchFamily="49" charset="-122"/>
                <a:ea typeface="黑体" panose="02010609060101010101" pitchFamily="49" charset="-122"/>
              </a:rPr>
              <a:t>和水</a:t>
            </a:r>
            <a:r>
              <a:rPr lang="zh-CN" altLang="en-US" sz="3200" b="1" dirty="0">
                <a:solidFill>
                  <a:prstClr val="black"/>
                </a:solidFill>
                <a:latin typeface="黑体" panose="02010609060101010101" pitchFamily="49" charset="-122"/>
                <a:ea typeface="黑体" panose="02010609060101010101" pitchFamily="49" charset="-122"/>
              </a:rPr>
              <a:t>的</a:t>
            </a:r>
            <a:r>
              <a:rPr lang="zh-CN" altLang="en-US" sz="3200" b="1" dirty="0" smtClean="0">
                <a:solidFill>
                  <a:prstClr val="black"/>
                </a:solidFill>
                <a:latin typeface="黑体" panose="02010609060101010101" pitchFamily="49" charset="-122"/>
                <a:ea typeface="黑体" panose="02010609060101010101" pitchFamily="49" charset="-122"/>
              </a:rPr>
              <a:t>三相点温度</a:t>
            </a:r>
            <a:r>
              <a:rPr lang="en-US" altLang="zh-CN" sz="3200" b="1" i="1" dirty="0" err="1"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T</a:t>
            </a:r>
            <a:r>
              <a:rPr lang="en-US" altLang="zh-CN" sz="3200" b="1" baseline="-25000" dirty="0" err="1"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tp</a:t>
            </a:r>
            <a:r>
              <a:rPr lang="zh-CN" altLang="en-US" sz="3200" b="1" dirty="0" smtClean="0">
                <a:solidFill>
                  <a:prstClr val="black"/>
                </a:solidFill>
                <a:latin typeface="黑体" panose="02010609060101010101" pitchFamily="49" charset="-122"/>
                <a:ea typeface="黑体" panose="02010609060101010101" pitchFamily="49" charset="-122"/>
              </a:rPr>
              <a:t>代入，得到</a:t>
            </a:r>
            <a:endParaRPr lang="zh-CN" altLang="en-US" dirty="0"/>
          </a:p>
        </p:txBody>
      </p:sp>
      <p:graphicFrame>
        <p:nvGraphicFramePr>
          <p:cNvPr id="5" name="对象 167937"/>
          <p:cNvGraphicFramePr>
            <a:graphicFrameLocks noChangeAspect="1"/>
          </p:cNvGraphicFramePr>
          <p:nvPr/>
        </p:nvGraphicFramePr>
        <p:xfrm>
          <a:off x="2216794" y="1066306"/>
          <a:ext cx="1332923" cy="1079033"/>
        </p:xfrm>
        <a:graphic>
          <a:graphicData uri="http://schemas.openxmlformats.org/presentationml/2006/ole">
            <mc:AlternateContent xmlns:mc="http://schemas.openxmlformats.org/markup-compatibility/2006">
              <mc:Choice xmlns:v="urn:schemas-microsoft-com:vml" Requires="v">
                <p:oleObj spid="_x0000_s28746" r:id="rId6" imgW="533400" imgH="431800" progId="Equation.DSMT4">
                  <p:embed/>
                </p:oleObj>
              </mc:Choice>
              <mc:Fallback>
                <p:oleObj r:id="rId6" imgW="533400" imgH="431800" progId="Equation.DSMT4">
                  <p:embed/>
                  <p:pic>
                    <p:nvPicPr>
                      <p:cNvPr id="0" name="对象 16793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6794" y="1066306"/>
                        <a:ext cx="1332923" cy="1079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左箭头 164868"/>
          <p:cNvSpPr>
            <a:spLocks noChangeArrowheads="1"/>
          </p:cNvSpPr>
          <p:nvPr/>
        </p:nvSpPr>
        <p:spPr bwMode="auto">
          <a:xfrm rot="10800000">
            <a:off x="3974410" y="1475516"/>
            <a:ext cx="649288" cy="144462"/>
          </a:xfrm>
          <a:prstGeom prst="leftArrow">
            <a:avLst>
              <a:gd name="adj1" fmla="val 50000"/>
              <a:gd name="adj2" fmla="val 112321"/>
            </a:avLst>
          </a:prstGeom>
          <a:solidFill>
            <a:schemeClr val="accent1"/>
          </a:solidFill>
          <a:ln w="9525">
            <a:solidFill>
              <a:schemeClr val="tx1"/>
            </a:solidFill>
            <a:miter lim="800000"/>
          </a:ln>
        </p:spPr>
        <p:txBody>
          <a:bodyPr/>
          <a:lstStyle/>
          <a:p>
            <a:endParaRPr lang="zh-CN" altLang="en-US"/>
          </a:p>
        </p:txBody>
      </p:sp>
      <p:sp>
        <p:nvSpPr>
          <p:cNvPr id="7" name="下箭头 6"/>
          <p:cNvSpPr>
            <a:spLocks noChangeArrowheads="1"/>
          </p:cNvSpPr>
          <p:nvPr/>
        </p:nvSpPr>
        <p:spPr bwMode="auto">
          <a:xfrm>
            <a:off x="6011350" y="2281320"/>
            <a:ext cx="144463" cy="576262"/>
          </a:xfrm>
          <a:prstGeom prst="downArrow">
            <a:avLst>
              <a:gd name="adj1" fmla="val 50000"/>
              <a:gd name="adj2" fmla="val 99688"/>
            </a:avLst>
          </a:prstGeom>
          <a:solidFill>
            <a:schemeClr val="accent1"/>
          </a:solidFill>
          <a:ln w="9525">
            <a:solidFill>
              <a:schemeClr val="tx1"/>
            </a:solidFill>
            <a:miter lim="800000"/>
          </a:ln>
        </p:spPr>
        <p:txBody>
          <a:bodyPr/>
          <a:lstStyle/>
          <a:p>
            <a:endParaRPr lang="zh-CN" altLang="en-US"/>
          </a:p>
        </p:txBody>
      </p:sp>
      <p:graphicFrame>
        <p:nvGraphicFramePr>
          <p:cNvPr id="9" name="对象 8"/>
          <p:cNvGraphicFramePr>
            <a:graphicFrameLocks noChangeAspect="1"/>
          </p:cNvGraphicFramePr>
          <p:nvPr/>
        </p:nvGraphicFramePr>
        <p:xfrm>
          <a:off x="3859839" y="2776331"/>
          <a:ext cx="3713138" cy="1110768"/>
        </p:xfrm>
        <a:graphic>
          <a:graphicData uri="http://schemas.openxmlformats.org/presentationml/2006/ole">
            <mc:AlternateContent xmlns:mc="http://schemas.openxmlformats.org/markup-compatibility/2006">
              <mc:Choice xmlns:v="urn:schemas-microsoft-com:vml" Requires="v">
                <p:oleObj spid="_x0000_s28747" name="Equation" r:id="rId8" imgW="1485265" imgH="444500" progId="Equation.DSMT4">
                  <p:embed/>
                </p:oleObj>
              </mc:Choice>
              <mc:Fallback>
                <p:oleObj name="Equation" r:id="rId8" imgW="1485265" imgH="444500" progId="Equation.DSMT4">
                  <p:embed/>
                  <p:pic>
                    <p:nvPicPr>
                      <p:cNvPr id="0"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9839" y="2776331"/>
                        <a:ext cx="3713138" cy="11107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235959" y="4466709"/>
            <a:ext cx="8775477" cy="2062103"/>
          </a:xfrm>
          <a:prstGeom prst="rect">
            <a:avLst/>
          </a:prstGeom>
        </p:spPr>
        <p:txBody>
          <a:bodyPr wrap="square">
            <a:spAutoFit/>
          </a:bodyPr>
          <a:lstStyle/>
          <a:p>
            <a:pPr marL="457200" indent="-457200">
              <a:buFont typeface="Arial" panose="020B0604020202020204" pitchFamily="34" charset="0"/>
              <a:buChar char="•"/>
            </a:pPr>
            <a:r>
              <a:rPr lang="zh-CN" altLang="en-US" sz="3200" b="1" dirty="0">
                <a:solidFill>
                  <a:prstClr val="black"/>
                </a:solidFill>
                <a:latin typeface="黑体" panose="02010609060101010101" pitchFamily="49" charset="-122"/>
                <a:ea typeface="黑体" panose="02010609060101010101" pitchFamily="49" charset="-122"/>
              </a:rPr>
              <a:t>只需</a:t>
            </a:r>
            <a:r>
              <a:rPr lang="zh-CN" altLang="en-US" sz="3200" b="1" dirty="0" smtClean="0">
                <a:solidFill>
                  <a:prstClr val="black"/>
                </a:solidFill>
                <a:latin typeface="黑体" panose="02010609060101010101" pitchFamily="49" charset="-122"/>
                <a:ea typeface="黑体" panose="02010609060101010101" pitchFamily="49" charset="-122"/>
              </a:rPr>
              <a:t>要测量工作于恒温热源</a:t>
            </a:r>
            <a:r>
              <a:rPr lang="en-US" altLang="zh-CN" sz="32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T</a:t>
            </a:r>
            <a:r>
              <a:rPr lang="zh-CN" altLang="en-US" sz="3200" b="1" dirty="0" smtClean="0">
                <a:solidFill>
                  <a:prstClr val="black"/>
                </a:solidFill>
                <a:latin typeface="黑体" panose="02010609060101010101" pitchFamily="49" charset="-122"/>
                <a:ea typeface="黑体" panose="02010609060101010101" pitchFamily="49" charset="-122"/>
              </a:rPr>
              <a:t>和</a:t>
            </a:r>
            <a:r>
              <a:rPr lang="en-US" altLang="zh-CN" sz="3200" b="1" i="1"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T</a:t>
            </a:r>
            <a:r>
              <a:rPr lang="en-US" altLang="zh-CN" sz="3200" b="1" baseline="-250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tp</a:t>
            </a:r>
            <a:r>
              <a:rPr lang="en-US" altLang="zh-CN" sz="3200" b="1" baseline="-250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(=273.16K</a:t>
            </a:r>
            <a:r>
              <a:rPr lang="en-US" altLang="zh-CN" sz="32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1" dirty="0" smtClean="0">
                <a:solidFill>
                  <a:prstClr val="black"/>
                </a:solidFill>
                <a:latin typeface="黑体" panose="02010609060101010101" pitchFamily="49" charset="-122"/>
                <a:ea typeface="黑体" panose="02010609060101010101" pitchFamily="49" charset="-122"/>
              </a:rPr>
              <a:t>间可逆热机的吸热量</a:t>
            </a:r>
            <a:r>
              <a:rPr lang="en-US" altLang="zh-CN" sz="32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en-US" sz="3200" b="1" dirty="0" smtClean="0">
                <a:solidFill>
                  <a:prstClr val="black"/>
                </a:solidFill>
                <a:latin typeface="黑体" panose="02010609060101010101" pitchFamily="49" charset="-122"/>
                <a:ea typeface="黑体" panose="02010609060101010101" pitchFamily="49" charset="-122"/>
              </a:rPr>
              <a:t>和放热量</a:t>
            </a:r>
            <a:r>
              <a:rPr lang="en-US" altLang="zh-CN" sz="3200" b="1" i="1" dirty="0" err="1"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Q</a:t>
            </a:r>
            <a:r>
              <a:rPr lang="en-US" altLang="zh-CN" sz="3200" b="1" baseline="-250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tp</a:t>
            </a:r>
            <a:r>
              <a:rPr lang="en-US" altLang="zh-CN" sz="3200" b="1" i="1" dirty="0"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b="1" dirty="0" smtClean="0">
                <a:solidFill>
                  <a:prstClr val="black"/>
                </a:solidFill>
                <a:latin typeface="黑体" panose="02010609060101010101" pitchFamily="49" charset="-122"/>
                <a:ea typeface="黑体" panose="02010609060101010101" pitchFamily="49" charset="-122"/>
              </a:rPr>
              <a:t>，理论上任意未知温度</a:t>
            </a:r>
            <a:r>
              <a:rPr lang="en-US" altLang="zh-CN" sz="3200" b="1" i="1" dirty="0"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T</a:t>
            </a:r>
            <a:r>
              <a:rPr lang="zh-CN" altLang="en-US" sz="3200" b="1" dirty="0" smtClean="0">
                <a:solidFill>
                  <a:prstClr val="black"/>
                </a:solidFill>
                <a:latin typeface="黑体" panose="02010609060101010101" pitchFamily="49" charset="-122"/>
                <a:ea typeface="黑体" panose="02010609060101010101" pitchFamily="49" charset="-122"/>
              </a:rPr>
              <a:t>都可以测定</a:t>
            </a:r>
            <a:endParaRPr lang="en-US" altLang="zh-CN" sz="3200" b="1" dirty="0" smtClean="0">
              <a:solidFill>
                <a:prstClr val="black"/>
              </a:solidFill>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3200" b="1" dirty="0" smtClean="0">
                <a:solidFill>
                  <a:prstClr val="black"/>
                </a:solidFill>
                <a:latin typeface="黑体" panose="02010609060101010101" pitchFamily="49" charset="-122"/>
                <a:ea typeface="黑体" panose="02010609060101010101" pitchFamily="49" charset="-122"/>
              </a:rPr>
              <a:t>至此，在原理上完成了热力学温标的建立</a:t>
            </a:r>
            <a:endParaRPr lang="zh-CN" altLang="en-US" dirty="0"/>
          </a:p>
        </p:txBody>
      </p:sp>
      <p:sp>
        <p:nvSpPr>
          <p:cNvPr id="11" name="下箭头 10"/>
          <p:cNvSpPr>
            <a:spLocks noChangeArrowheads="1"/>
          </p:cNvSpPr>
          <p:nvPr/>
        </p:nvSpPr>
        <p:spPr bwMode="auto">
          <a:xfrm>
            <a:off x="6011349" y="3725804"/>
            <a:ext cx="144463" cy="576262"/>
          </a:xfrm>
          <a:prstGeom prst="downArrow">
            <a:avLst>
              <a:gd name="adj1" fmla="val 50000"/>
              <a:gd name="adj2" fmla="val 99688"/>
            </a:avLst>
          </a:prstGeom>
          <a:solidFill>
            <a:schemeClr val="accent1"/>
          </a:solidFill>
          <a:ln w="9525">
            <a:solidFill>
              <a:schemeClr val="tx1"/>
            </a:solidFill>
            <a:miter lim="800000"/>
          </a:ln>
        </p:spPr>
        <p:txBody>
          <a:bodyPr/>
          <a:lstStyle/>
          <a:p>
            <a:endParaRPr lang="zh-CN" altLang="en-US"/>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5837" y="1829527"/>
            <a:ext cx="8775477" cy="4031873"/>
          </a:xfrm>
          <a:prstGeom prst="rect">
            <a:avLst/>
          </a:prstGeom>
        </p:spPr>
        <p:txBody>
          <a:bodyPr wrap="square">
            <a:spAutoFit/>
          </a:bodyPr>
          <a:lstStyle/>
          <a:p>
            <a:pPr marL="457200" indent="-457200">
              <a:buFont typeface="Arial" panose="020B0604020202020204" pitchFamily="34" charset="0"/>
              <a:buChar char="•"/>
            </a:pPr>
            <a:r>
              <a:rPr lang="zh-CN" altLang="en-US" sz="3200" b="1" dirty="0" smtClean="0">
                <a:solidFill>
                  <a:prstClr val="black"/>
                </a:solidFill>
                <a:latin typeface="黑体" panose="02010609060101010101" pitchFamily="49" charset="-122"/>
                <a:ea typeface="黑体" panose="02010609060101010101" pitchFamily="49" charset="-122"/>
              </a:rPr>
              <a:t>实际中，可逆循环难以实现</a:t>
            </a:r>
            <a:endParaRPr lang="en-US" altLang="zh-CN" sz="3200" b="1" dirty="0" smtClean="0">
              <a:solidFill>
                <a:prstClr val="black"/>
              </a:solidFill>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3200" b="1" dirty="0" smtClean="0">
                <a:solidFill>
                  <a:prstClr val="black"/>
                </a:solidFill>
                <a:latin typeface="黑体" panose="02010609060101010101" pitchFamily="49" charset="-122"/>
                <a:ea typeface="黑体" panose="02010609060101010101" pitchFamily="49" charset="-122"/>
              </a:rPr>
              <a:t>精确测量</a:t>
            </a:r>
            <a:r>
              <a:rPr lang="en-US" altLang="zh-CN" sz="32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en-US" sz="3200" b="1" dirty="0" smtClean="0">
                <a:solidFill>
                  <a:prstClr val="black"/>
                </a:solidFill>
                <a:latin typeface="黑体" panose="02010609060101010101" pitchFamily="49" charset="-122"/>
                <a:ea typeface="黑体" panose="02010609060101010101" pitchFamily="49" charset="-122"/>
              </a:rPr>
              <a:t>和</a:t>
            </a:r>
            <a:r>
              <a:rPr lang="en-US" altLang="zh-CN" sz="3200" b="1" i="1" dirty="0" err="1"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Q</a:t>
            </a:r>
            <a:r>
              <a:rPr lang="en-US" altLang="zh-CN" sz="3200" b="1" baseline="-25000" dirty="0" err="1"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tp</a:t>
            </a:r>
            <a:r>
              <a:rPr lang="zh-CN" altLang="en-US" sz="3200" b="1" dirty="0" smtClean="0">
                <a:solidFill>
                  <a:prstClr val="black"/>
                </a:solidFill>
                <a:latin typeface="黑体" panose="02010609060101010101" pitchFamily="49" charset="-122"/>
                <a:ea typeface="黑体" panose="02010609060101010101" pitchFamily="49" charset="-122"/>
              </a:rPr>
              <a:t>也并不容易，所以热力学温标无法直接实施</a:t>
            </a:r>
            <a:endParaRPr lang="en-US" altLang="zh-CN" sz="3200" b="1" dirty="0" smtClean="0">
              <a:solidFill>
                <a:prstClr val="black"/>
              </a:solidFill>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3200" b="1" dirty="0" smtClean="0">
                <a:solidFill>
                  <a:prstClr val="black"/>
                </a:solidFill>
                <a:latin typeface="黑体" panose="02010609060101010101" pitchFamily="49" charset="-122"/>
                <a:ea typeface="黑体" panose="02010609060101010101" pitchFamily="49" charset="-122"/>
              </a:rPr>
              <a:t>尽管如此，热力学温标的建立有着深远的理论意义，它提供了一种独立于工质属性并在全部温度范围内都适用的温度定义方法</a:t>
            </a:r>
            <a:endParaRPr lang="en-US" altLang="zh-CN" sz="3200" b="1" dirty="0" smtClean="0">
              <a:solidFill>
                <a:prstClr val="black"/>
              </a:solidFill>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3200" b="1" dirty="0">
                <a:solidFill>
                  <a:prstClr val="black"/>
                </a:solidFill>
                <a:latin typeface="黑体" panose="02010609060101010101" pitchFamily="49" charset="-122"/>
                <a:ea typeface="黑体" panose="02010609060101010101" pitchFamily="49" charset="-122"/>
              </a:rPr>
              <a:t>实际</a:t>
            </a:r>
            <a:r>
              <a:rPr lang="zh-CN" altLang="en-US" sz="3200" b="1" dirty="0" smtClean="0">
                <a:solidFill>
                  <a:prstClr val="black"/>
                </a:solidFill>
                <a:latin typeface="黑体" panose="02010609060101010101" pitchFamily="49" charset="-122"/>
                <a:ea typeface="黑体" panose="02010609060101010101" pitchFamily="49" charset="-122"/>
              </a:rPr>
              <a:t>问题中，可选用理想气体温标或其他温度测量方法</a:t>
            </a:r>
            <a:endParaRPr lang="zh-CN" altLang="en-US" dirty="0"/>
          </a:p>
        </p:txBody>
      </p:sp>
      <p:graphicFrame>
        <p:nvGraphicFramePr>
          <p:cNvPr id="3" name="对象 2"/>
          <p:cNvGraphicFramePr>
            <a:graphicFrameLocks noChangeAspect="1"/>
          </p:cNvGraphicFramePr>
          <p:nvPr/>
        </p:nvGraphicFramePr>
        <p:xfrm>
          <a:off x="2574378" y="377687"/>
          <a:ext cx="3713138" cy="1110768"/>
        </p:xfrm>
        <a:graphic>
          <a:graphicData uri="http://schemas.openxmlformats.org/presentationml/2006/ole">
            <mc:AlternateContent xmlns:mc="http://schemas.openxmlformats.org/markup-compatibility/2006">
              <mc:Choice xmlns:v="urn:schemas-microsoft-com:vml" Requires="v">
                <p:oleObj spid="_x0000_s29723" name="Equation" r:id="rId3" imgW="1485265" imgH="444500" progId="Equation.DSMT4">
                  <p:embed/>
                </p:oleObj>
              </mc:Choice>
              <mc:Fallback>
                <p:oleObj name="Equation" r:id="rId3" imgW="1485265" imgH="444500"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4378" y="377687"/>
                        <a:ext cx="3713138" cy="11107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矩形 122881"/>
          <p:cNvSpPr>
            <a:spLocks noChangeArrowheads="1"/>
          </p:cNvSpPr>
          <p:nvPr/>
        </p:nvSpPr>
        <p:spPr bwMode="auto">
          <a:xfrm>
            <a:off x="609600" y="1905000"/>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400" b="1">
                <a:latin typeface="黑体" panose="02010609060101010101" pitchFamily="49" charset="-122"/>
                <a:ea typeface="黑体" panose="02010609060101010101" pitchFamily="49" charset="-122"/>
              </a:rPr>
              <a:t>5</a:t>
            </a:r>
            <a:r>
              <a:rPr lang="zh-CN" altLang="en-US" sz="4400" b="1">
                <a:latin typeface="黑体" panose="02010609060101010101" pitchFamily="49" charset="-122"/>
                <a:ea typeface="黑体" panose="02010609060101010101" pitchFamily="49" charset="-122"/>
              </a:rPr>
              <a:t>－</a:t>
            </a:r>
            <a:r>
              <a:rPr lang="en-US" altLang="zh-CN" sz="4400" b="1">
                <a:latin typeface="黑体" panose="02010609060101010101" pitchFamily="49" charset="-122"/>
                <a:ea typeface="黑体" panose="02010609060101010101" pitchFamily="49" charset="-122"/>
              </a:rPr>
              <a:t>6 </a:t>
            </a:r>
            <a:r>
              <a:rPr lang="zh-CN" altLang="en-US" sz="4400" b="1">
                <a:latin typeface="黑体" panose="02010609060101010101" pitchFamily="49" charset="-122"/>
                <a:ea typeface="黑体" panose="02010609060101010101" pitchFamily="49" charset="-122"/>
              </a:rPr>
              <a:t>卡诺循环</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矩形 121859"/>
          <p:cNvSpPr>
            <a:spLocks noChangeArrowheads="1"/>
          </p:cNvSpPr>
          <p:nvPr/>
        </p:nvSpPr>
        <p:spPr bwMode="auto">
          <a:xfrm>
            <a:off x="416649" y="1676231"/>
            <a:ext cx="8208963"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buFont typeface="Arial" panose="020B0604020202020204" pitchFamily="34" charset="0"/>
              <a:buChar char="•"/>
            </a:pPr>
            <a:r>
              <a:rPr lang="zh-CN" altLang="en-US" sz="3200" b="1" dirty="0">
                <a:ea typeface="黑体" panose="02010609060101010101" pitchFamily="49" charset="-122"/>
              </a:rPr>
              <a:t>由卡诺定理可知，工作在两个温度不等的热源间的一切</a:t>
            </a:r>
            <a:r>
              <a:rPr lang="zh-CN" altLang="en-US" sz="3200" b="1" dirty="0" smtClean="0">
                <a:ea typeface="黑体" panose="02010609060101010101" pitchFamily="49" charset="-122"/>
              </a:rPr>
              <a:t>可逆循环，</a:t>
            </a:r>
            <a:r>
              <a:rPr lang="zh-CN" altLang="en-US" sz="3200" b="1" dirty="0">
                <a:ea typeface="黑体" panose="02010609060101010101" pitchFamily="49" charset="-122"/>
              </a:rPr>
              <a:t>它们</a:t>
            </a:r>
            <a:r>
              <a:rPr lang="zh-CN" altLang="en-US" sz="3200" b="1" dirty="0" smtClean="0">
                <a:ea typeface="黑体" panose="02010609060101010101" pitchFamily="49" charset="-122"/>
              </a:rPr>
              <a:t>的热效率</a:t>
            </a:r>
            <a:r>
              <a:rPr lang="zh-CN" altLang="en-US" sz="3200" b="1" dirty="0">
                <a:ea typeface="黑体" panose="02010609060101010101" pitchFamily="49" charset="-122"/>
              </a:rPr>
              <a:t>都相同，而且是</a:t>
            </a:r>
            <a:r>
              <a:rPr lang="zh-CN" altLang="en-US" sz="3200" b="1" dirty="0" smtClean="0">
                <a:ea typeface="黑体" panose="02010609060101010101" pitchFamily="49" charset="-122"/>
              </a:rPr>
              <a:t>最高的热效率</a:t>
            </a:r>
            <a:endParaRPr lang="en-US" altLang="zh-CN" sz="3200" b="1" dirty="0" smtClean="0">
              <a:ea typeface="黑体" panose="02010609060101010101" pitchFamily="49" charset="-122"/>
            </a:endParaRPr>
          </a:p>
          <a:p>
            <a:pPr marL="457200" indent="-457200">
              <a:buFont typeface="Arial" panose="020B0604020202020204" pitchFamily="34" charset="0"/>
              <a:buChar char="•"/>
            </a:pPr>
            <a:r>
              <a:rPr lang="zh-CN" altLang="en-US" sz="3200" b="1" dirty="0">
                <a:ea typeface="黑体" panose="02010609060101010101" pitchFamily="49" charset="-122"/>
              </a:rPr>
              <a:t>热力学第二定律告诉我们，即便是</a:t>
            </a:r>
            <a:r>
              <a:rPr lang="zh-CN" altLang="en-US" sz="3200" b="1" dirty="0" smtClean="0">
                <a:ea typeface="黑体" panose="02010609060101010101" pitchFamily="49" charset="-122"/>
              </a:rPr>
              <a:t>最高的热效率</a:t>
            </a:r>
            <a:r>
              <a:rPr lang="zh-CN" altLang="en-US" sz="3200" b="1" dirty="0">
                <a:ea typeface="黑体" panose="02010609060101010101" pitchFamily="49" charset="-122"/>
              </a:rPr>
              <a:t>，也不可能达到</a:t>
            </a:r>
            <a:r>
              <a:rPr lang="en-US" altLang="zh-CN" sz="3200" b="1" dirty="0">
                <a:ea typeface="黑体" panose="02010609060101010101" pitchFamily="49" charset="-122"/>
              </a:rPr>
              <a:t>100</a:t>
            </a:r>
            <a:r>
              <a:rPr lang="en-US" altLang="zh-CN" sz="3200" b="1" dirty="0" smtClean="0">
                <a:ea typeface="黑体" panose="02010609060101010101" pitchFamily="49" charset="-122"/>
              </a:rPr>
              <a:t>%</a:t>
            </a:r>
          </a:p>
          <a:p>
            <a:pPr marL="457200" indent="-457200">
              <a:buFont typeface="Arial" panose="020B0604020202020204" pitchFamily="34" charset="0"/>
              <a:buChar char="•"/>
            </a:pPr>
            <a:r>
              <a:rPr lang="zh-CN" altLang="en-US" sz="3200" b="1" dirty="0" smtClean="0">
                <a:ea typeface="黑体" panose="02010609060101010101" pitchFamily="49" charset="-122"/>
              </a:rPr>
              <a:t>热效率</a:t>
            </a:r>
            <a:r>
              <a:rPr lang="zh-CN" altLang="en-US" sz="3200" b="1" dirty="0">
                <a:ea typeface="黑体" panose="02010609060101010101" pitchFamily="49" charset="-122"/>
              </a:rPr>
              <a:t>最高</a:t>
            </a:r>
            <a:r>
              <a:rPr lang="zh-CN" altLang="en-US" sz="3200" b="1" dirty="0" smtClean="0">
                <a:ea typeface="黑体" panose="02010609060101010101" pitchFamily="49" charset="-122"/>
              </a:rPr>
              <a:t>能</a:t>
            </a:r>
            <a:r>
              <a:rPr lang="zh-CN" altLang="en-US" sz="3200" b="1" dirty="0">
                <a:ea typeface="黑体" panose="02010609060101010101" pitchFamily="49" charset="-122"/>
              </a:rPr>
              <a:t>达到多少？影响其大小的因素又是什么</a:t>
            </a:r>
            <a:r>
              <a:rPr lang="zh-CN" altLang="en-US" sz="3200" b="1" dirty="0" smtClean="0">
                <a:ea typeface="黑体" panose="02010609060101010101" pitchFamily="49" charset="-122"/>
              </a:rPr>
              <a:t>？</a:t>
            </a:r>
            <a:r>
              <a:rPr lang="zh-CN" altLang="en-US" sz="3200" b="1" dirty="0" smtClean="0">
                <a:solidFill>
                  <a:srgbClr val="FF0000"/>
                </a:solidFill>
                <a:ea typeface="黑体" panose="02010609060101010101" pitchFamily="49" charset="-122"/>
              </a:rPr>
              <a:t>这些</a:t>
            </a:r>
            <a:r>
              <a:rPr lang="zh-CN" altLang="en-US" sz="3200" b="1" dirty="0">
                <a:solidFill>
                  <a:srgbClr val="FF0000"/>
                </a:solidFill>
                <a:ea typeface="黑体" panose="02010609060101010101" pitchFamily="49" charset="-122"/>
              </a:rPr>
              <a:t>问题由卡诺循环来回答</a:t>
            </a:r>
            <a:endParaRPr lang="zh-CN" altLang="en-US" sz="3200" b="1" dirty="0">
              <a:ea typeface="黑体" panose="02010609060101010101" pitchFamily="49" charset="-122"/>
            </a:endParaRPr>
          </a:p>
        </p:txBody>
      </p:sp>
      <p:sp>
        <p:nvSpPr>
          <p:cNvPr id="5" name="矩形 123908"/>
          <p:cNvSpPr>
            <a:spLocks noChangeArrowheads="1"/>
          </p:cNvSpPr>
          <p:nvPr/>
        </p:nvSpPr>
        <p:spPr bwMode="auto">
          <a:xfrm>
            <a:off x="492056" y="486878"/>
            <a:ext cx="29642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600" b="1" dirty="0" smtClean="0">
                <a:latin typeface="黑体" panose="02010609060101010101" pitchFamily="49" charset="-122"/>
                <a:ea typeface="黑体" panose="02010609060101010101" pitchFamily="49" charset="-122"/>
              </a:rPr>
              <a:t>一、卡诺循环</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矩形 123908"/>
          <p:cNvSpPr>
            <a:spLocks noChangeArrowheads="1"/>
          </p:cNvSpPr>
          <p:nvPr/>
        </p:nvSpPr>
        <p:spPr bwMode="auto">
          <a:xfrm>
            <a:off x="684213" y="4508500"/>
            <a:ext cx="8058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latin typeface="黑体" panose="02010609060101010101" pitchFamily="49" charset="-122"/>
                <a:ea typeface="黑体" panose="02010609060101010101" pitchFamily="49" charset="-122"/>
              </a:rPr>
              <a:t>如何设计工作在两个热源之间的可逆循环？</a:t>
            </a:r>
            <a:r>
              <a:rPr lang="zh-CN" altLang="en-US" sz="2400" b="1" dirty="0">
                <a:latin typeface="黑体" panose="02010609060101010101" pitchFamily="49" charset="-122"/>
                <a:ea typeface="黑体" panose="02010609060101010101" pitchFamily="49" charset="-122"/>
              </a:rPr>
              <a:t> </a:t>
            </a:r>
          </a:p>
        </p:txBody>
      </p:sp>
      <p:sp>
        <p:nvSpPr>
          <p:cNvPr id="67587" name="矩形 123910"/>
          <p:cNvSpPr>
            <a:spLocks noChangeArrowheads="1"/>
          </p:cNvSpPr>
          <p:nvPr/>
        </p:nvSpPr>
        <p:spPr bwMode="auto">
          <a:xfrm>
            <a:off x="0" y="2309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589" name="矩形 123911"/>
          <p:cNvSpPr>
            <a:spLocks noChangeArrowheads="1"/>
          </p:cNvSpPr>
          <p:nvPr/>
        </p:nvSpPr>
        <p:spPr bwMode="auto">
          <a:xfrm>
            <a:off x="611188" y="5314950"/>
            <a:ext cx="76327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a:latin typeface="黑体" panose="02010609060101010101" pitchFamily="49" charset="-122"/>
                <a:ea typeface="黑体" panose="02010609060101010101" pitchFamily="49" charset="-122"/>
              </a:rPr>
              <a:t>或者说，卡诺循环为什么由两个定温和两个绝热过程组成？ </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512" y="416841"/>
            <a:ext cx="2682472" cy="3785944"/>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7219" y="496096"/>
            <a:ext cx="4535817" cy="3627434"/>
          </a:xfrm>
          <a:prstGeom prst="rect">
            <a:avLst/>
          </a:prstGeom>
        </p:spPr>
      </p:pic>
      <p:sp>
        <p:nvSpPr>
          <p:cNvPr id="7" name="矩形 6"/>
          <p:cNvSpPr/>
          <p:nvPr/>
        </p:nvSpPr>
        <p:spPr>
          <a:xfrm>
            <a:off x="1841010" y="396963"/>
            <a:ext cx="445956" cy="369332"/>
          </a:xfrm>
          <a:prstGeom prst="rect">
            <a:avLst/>
          </a:prstGeom>
        </p:spPr>
        <p:txBody>
          <a:bodyPr wrap="none">
            <a:spAutoFit/>
          </a:bodyPr>
          <a:lstStyle/>
          <a:p>
            <a:r>
              <a:rPr lang="en-US" altLang="zh-CN" b="1" i="1" dirty="0">
                <a:solidFill>
                  <a:srgbClr val="FF0000"/>
                </a:solidFill>
                <a:latin typeface="Times New Roman" panose="02020603050405020304" pitchFamily="18" charset="0"/>
                <a:ea typeface="黑体" panose="02010609060101010101" pitchFamily="49" charset="-122"/>
              </a:rPr>
              <a:t>T</a:t>
            </a:r>
            <a:r>
              <a:rPr lang="en-US" altLang="zh-CN" b="1" baseline="-25000" dirty="0">
                <a:solidFill>
                  <a:srgbClr val="FF0000"/>
                </a:solidFill>
                <a:latin typeface="Times New Roman" panose="02020603050405020304" pitchFamily="18" charset="0"/>
                <a:ea typeface="黑体" panose="02010609060101010101" pitchFamily="49" charset="-122"/>
              </a:rPr>
              <a:t>H</a:t>
            </a:r>
            <a:endParaRPr lang="zh-CN" altLang="en-US" b="1" dirty="0"/>
          </a:p>
        </p:txBody>
      </p:sp>
      <p:sp>
        <p:nvSpPr>
          <p:cNvPr id="8" name="矩形 7"/>
          <p:cNvSpPr/>
          <p:nvPr/>
        </p:nvSpPr>
        <p:spPr>
          <a:xfrm>
            <a:off x="1858644" y="3586765"/>
            <a:ext cx="428322" cy="369332"/>
          </a:xfrm>
          <a:prstGeom prst="rect">
            <a:avLst/>
          </a:prstGeom>
        </p:spPr>
        <p:txBody>
          <a:bodyPr wrap="none">
            <a:spAutoFit/>
          </a:bodyPr>
          <a:lstStyle/>
          <a:p>
            <a:r>
              <a:rPr lang="en-US" altLang="zh-CN" b="1" i="1" dirty="0">
                <a:solidFill>
                  <a:srgbClr val="0000FF"/>
                </a:solidFill>
                <a:latin typeface="Times New Roman" panose="02020603050405020304" pitchFamily="18" charset="0"/>
                <a:ea typeface="黑体" panose="02010609060101010101" pitchFamily="49" charset="-122"/>
              </a:rPr>
              <a:t>T</a:t>
            </a:r>
            <a:r>
              <a:rPr lang="en-US" altLang="zh-CN" b="1" baseline="-25000" dirty="0">
                <a:solidFill>
                  <a:srgbClr val="0000FF"/>
                </a:solidFill>
                <a:latin typeface="Times New Roman" panose="02020603050405020304" pitchFamily="18" charset="0"/>
                <a:ea typeface="黑体" panose="02010609060101010101" pitchFamily="49" charset="-122"/>
              </a:rPr>
              <a:t>L</a:t>
            </a:r>
            <a:endParaRPr lang="zh-CN" altLang="en-US" b="1" dirty="0"/>
          </a:p>
        </p:txBody>
      </p:sp>
    </p:spTree>
    <p:extLst>
      <p:ext uri="{BB962C8B-B14F-4D97-AF65-F5344CB8AC3E}">
        <p14:creationId xmlns:p14="http://schemas.microsoft.com/office/powerpoint/2010/main" val="29138160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791" y="269316"/>
            <a:ext cx="2898367" cy="4090650"/>
          </a:xfrm>
          <a:prstGeom prst="rect">
            <a:avLst/>
          </a:prstGeom>
        </p:spPr>
      </p:pic>
      <p:sp>
        <p:nvSpPr>
          <p:cNvPr id="68610" name="矩形 125957"/>
          <p:cNvSpPr>
            <a:spLocks noChangeArrowheads="1"/>
          </p:cNvSpPr>
          <p:nvPr/>
        </p:nvSpPr>
        <p:spPr bwMode="auto">
          <a:xfrm>
            <a:off x="2451308" y="1000953"/>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latin typeface="黑体" panose="02010609060101010101" pitchFamily="49" charset="-122"/>
                <a:ea typeface="黑体" panose="02010609060101010101" pitchFamily="49" charset="-122"/>
              </a:rPr>
              <a:t>可逆吸热</a:t>
            </a:r>
          </a:p>
        </p:txBody>
      </p:sp>
      <p:sp>
        <p:nvSpPr>
          <p:cNvPr id="68611" name="矩形 125958"/>
          <p:cNvSpPr>
            <a:spLocks noChangeArrowheads="1"/>
          </p:cNvSpPr>
          <p:nvPr/>
        </p:nvSpPr>
        <p:spPr bwMode="auto">
          <a:xfrm>
            <a:off x="2451308" y="2986364"/>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latin typeface="黑体" panose="02010609060101010101" pitchFamily="49" charset="-122"/>
                <a:ea typeface="黑体" panose="02010609060101010101" pitchFamily="49" charset="-122"/>
              </a:rPr>
              <a:t>可逆放热</a:t>
            </a:r>
          </a:p>
        </p:txBody>
      </p:sp>
      <p:sp>
        <p:nvSpPr>
          <p:cNvPr id="68612" name="矩形 125959"/>
          <p:cNvSpPr>
            <a:spLocks noChangeArrowheads="1"/>
          </p:cNvSpPr>
          <p:nvPr/>
        </p:nvSpPr>
        <p:spPr bwMode="auto">
          <a:xfrm>
            <a:off x="539750" y="4724400"/>
            <a:ext cx="80645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ea typeface="黑体" panose="02010609060101010101" pitchFamily="49" charset="-122"/>
              </a:rPr>
              <a:t>如何保证可逆？需要工质与热源在进行热量交换时没有温差</a:t>
            </a:r>
          </a:p>
        </p:txBody>
      </p:sp>
      <p:sp>
        <p:nvSpPr>
          <p:cNvPr id="125962" name="矩形 125961"/>
          <p:cNvSpPr>
            <a:spLocks noChangeArrowheads="1"/>
          </p:cNvSpPr>
          <p:nvPr/>
        </p:nvSpPr>
        <p:spPr bwMode="auto">
          <a:xfrm>
            <a:off x="4211638" y="765175"/>
            <a:ext cx="417671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solidFill>
                  <a:srgbClr val="FF0000"/>
                </a:solidFill>
                <a:latin typeface="黑体" panose="02010609060101010101" pitchFamily="49" charset="-122"/>
                <a:ea typeface="黑体" panose="02010609060101010101" pitchFamily="49" charset="-122"/>
              </a:rPr>
              <a:t>工质只有在温度</a:t>
            </a:r>
            <a:r>
              <a:rPr lang="en-US" altLang="zh-CN" sz="3200" b="1" i="1" dirty="0">
                <a:solidFill>
                  <a:srgbClr val="FF0000"/>
                </a:solidFill>
                <a:latin typeface="Times New Roman" panose="02020603050405020304" pitchFamily="18" charset="0"/>
                <a:ea typeface="黑体" panose="02010609060101010101" pitchFamily="49" charset="-122"/>
              </a:rPr>
              <a:t>T</a:t>
            </a:r>
            <a:r>
              <a:rPr lang="en-US" altLang="zh-CN" sz="3200" b="1" baseline="-25000" dirty="0">
                <a:solidFill>
                  <a:srgbClr val="FF0000"/>
                </a:solidFill>
                <a:latin typeface="Times New Roman" panose="02020603050405020304" pitchFamily="18" charset="0"/>
                <a:ea typeface="黑体" panose="02010609060101010101" pitchFamily="49" charset="-122"/>
              </a:rPr>
              <a:t>H</a:t>
            </a:r>
            <a:r>
              <a:rPr lang="zh-CN" altLang="en-US" sz="3200" b="1" dirty="0">
                <a:solidFill>
                  <a:srgbClr val="FF0000"/>
                </a:solidFill>
                <a:latin typeface="黑体" panose="02010609060101010101" pitchFamily="49" charset="-122"/>
                <a:ea typeface="黑体" panose="02010609060101010101" pitchFamily="49" charset="-122"/>
              </a:rPr>
              <a:t>的时候，才可以与热源交换热量</a:t>
            </a:r>
          </a:p>
        </p:txBody>
      </p:sp>
      <p:sp>
        <p:nvSpPr>
          <p:cNvPr id="125964" name="矩形 125963"/>
          <p:cNvSpPr>
            <a:spLocks noChangeArrowheads="1"/>
          </p:cNvSpPr>
          <p:nvPr/>
        </p:nvSpPr>
        <p:spPr bwMode="auto">
          <a:xfrm>
            <a:off x="4140200" y="2781300"/>
            <a:ext cx="43211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solidFill>
                  <a:srgbClr val="0000FF"/>
                </a:solidFill>
                <a:latin typeface="黑体" panose="02010609060101010101" pitchFamily="49" charset="-122"/>
                <a:ea typeface="黑体" panose="02010609060101010101" pitchFamily="49" charset="-122"/>
              </a:rPr>
              <a:t>工质只有在温度</a:t>
            </a:r>
            <a:r>
              <a:rPr lang="en-US" altLang="zh-CN" sz="3200" b="1" i="1" dirty="0">
                <a:solidFill>
                  <a:srgbClr val="0000FF"/>
                </a:solidFill>
                <a:latin typeface="Times New Roman" panose="02020603050405020304" pitchFamily="18" charset="0"/>
                <a:ea typeface="黑体" panose="02010609060101010101" pitchFamily="49" charset="-122"/>
              </a:rPr>
              <a:t>T</a:t>
            </a:r>
            <a:r>
              <a:rPr lang="en-US" altLang="zh-CN" sz="3200" b="1" baseline="-25000" dirty="0">
                <a:solidFill>
                  <a:srgbClr val="0000FF"/>
                </a:solidFill>
                <a:latin typeface="Times New Roman" panose="02020603050405020304" pitchFamily="18" charset="0"/>
                <a:ea typeface="黑体" panose="02010609060101010101" pitchFamily="49" charset="-122"/>
              </a:rPr>
              <a:t>L</a:t>
            </a:r>
            <a:r>
              <a:rPr lang="zh-CN" altLang="en-US" sz="3200" b="1" dirty="0">
                <a:solidFill>
                  <a:srgbClr val="0000FF"/>
                </a:solidFill>
                <a:latin typeface="黑体" panose="02010609060101010101" pitchFamily="49" charset="-122"/>
                <a:ea typeface="黑体" panose="02010609060101010101" pitchFamily="49" charset="-122"/>
              </a:rPr>
              <a:t>的时候，才可以与冷源交换热量</a:t>
            </a:r>
          </a:p>
        </p:txBody>
      </p:sp>
      <p:sp>
        <p:nvSpPr>
          <p:cNvPr id="125966" name="矩形 125965"/>
          <p:cNvSpPr>
            <a:spLocks noChangeArrowheads="1"/>
          </p:cNvSpPr>
          <p:nvPr/>
        </p:nvSpPr>
        <p:spPr bwMode="auto">
          <a:xfrm>
            <a:off x="3059113" y="5876925"/>
            <a:ext cx="4465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solidFill>
                  <a:srgbClr val="0000FF"/>
                </a:solidFill>
                <a:latin typeface="黑体" panose="02010609060101010101" pitchFamily="49" charset="-122"/>
                <a:ea typeface="黑体" panose="02010609060101010101" pitchFamily="49" charset="-122"/>
              </a:rPr>
              <a:t>安排两个定温过程！</a:t>
            </a:r>
          </a:p>
        </p:txBody>
      </p:sp>
      <p:sp>
        <p:nvSpPr>
          <p:cNvPr id="3" name="矩形 2"/>
          <p:cNvSpPr/>
          <p:nvPr/>
        </p:nvSpPr>
        <p:spPr>
          <a:xfrm>
            <a:off x="1894018" y="260336"/>
            <a:ext cx="445956" cy="369332"/>
          </a:xfrm>
          <a:prstGeom prst="rect">
            <a:avLst/>
          </a:prstGeom>
        </p:spPr>
        <p:txBody>
          <a:bodyPr wrap="none">
            <a:spAutoFit/>
          </a:bodyPr>
          <a:lstStyle/>
          <a:p>
            <a:r>
              <a:rPr lang="en-US" altLang="zh-CN" b="1" i="1" dirty="0">
                <a:solidFill>
                  <a:srgbClr val="FF0000"/>
                </a:solidFill>
                <a:latin typeface="Times New Roman" panose="02020603050405020304" pitchFamily="18" charset="0"/>
                <a:ea typeface="黑体" panose="02010609060101010101" pitchFamily="49" charset="-122"/>
              </a:rPr>
              <a:t>T</a:t>
            </a:r>
            <a:r>
              <a:rPr lang="en-US" altLang="zh-CN" b="1" baseline="-25000" dirty="0">
                <a:solidFill>
                  <a:srgbClr val="FF0000"/>
                </a:solidFill>
                <a:latin typeface="Times New Roman" panose="02020603050405020304" pitchFamily="18" charset="0"/>
                <a:ea typeface="黑体" panose="02010609060101010101" pitchFamily="49" charset="-122"/>
              </a:rPr>
              <a:t>H</a:t>
            </a:r>
            <a:endParaRPr lang="zh-CN" altLang="en-US" b="1" dirty="0"/>
          </a:p>
        </p:txBody>
      </p:sp>
      <p:sp>
        <p:nvSpPr>
          <p:cNvPr id="4" name="矩形 3"/>
          <p:cNvSpPr/>
          <p:nvPr/>
        </p:nvSpPr>
        <p:spPr>
          <a:xfrm>
            <a:off x="1902835" y="3711249"/>
            <a:ext cx="428322" cy="369332"/>
          </a:xfrm>
          <a:prstGeom prst="rect">
            <a:avLst/>
          </a:prstGeom>
        </p:spPr>
        <p:txBody>
          <a:bodyPr wrap="none">
            <a:spAutoFit/>
          </a:bodyPr>
          <a:lstStyle/>
          <a:p>
            <a:r>
              <a:rPr lang="en-US" altLang="zh-CN" b="1" i="1" dirty="0">
                <a:solidFill>
                  <a:srgbClr val="0000FF"/>
                </a:solidFill>
                <a:latin typeface="Times New Roman" panose="02020603050405020304" pitchFamily="18" charset="0"/>
                <a:ea typeface="黑体" panose="02010609060101010101" pitchFamily="49" charset="-122"/>
              </a:rPr>
              <a:t>T</a:t>
            </a:r>
            <a:r>
              <a:rPr lang="en-US" altLang="zh-CN" b="1" baseline="-25000" dirty="0">
                <a:solidFill>
                  <a:srgbClr val="0000FF"/>
                </a:solidFill>
                <a:latin typeface="Times New Roman" panose="02020603050405020304" pitchFamily="18" charset="0"/>
                <a:ea typeface="黑体" panose="02010609060101010101" pitchFamily="49" charset="-122"/>
              </a:rPr>
              <a:t>L</a:t>
            </a:r>
            <a:endParaRPr lang="zh-CN" altLang="en-US" b="1" dirty="0"/>
          </a:p>
        </p:txBody>
      </p:sp>
    </p:spTree>
    <p:custDataLst>
      <p:tags r:id="rId1"/>
    </p:custDataLst>
    <p:extLst>
      <p:ext uri="{BB962C8B-B14F-4D97-AF65-F5344CB8AC3E}">
        <p14:creationId xmlns:p14="http://schemas.microsoft.com/office/powerpoint/2010/main" val="42709914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5962"/>
                                        </p:tgtEl>
                                        <p:attrNameLst>
                                          <p:attrName>style.visibility</p:attrName>
                                        </p:attrNameLst>
                                      </p:cBhvr>
                                      <p:to>
                                        <p:strVal val="visible"/>
                                      </p:to>
                                    </p:set>
                                    <p:animEffect transition="in" filter="blinds(horizontal)">
                                      <p:cBhvr>
                                        <p:cTn id="7" dur="500"/>
                                        <p:tgtEl>
                                          <p:spTgt spid="125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5964"/>
                                        </p:tgtEl>
                                        <p:attrNameLst>
                                          <p:attrName>style.visibility</p:attrName>
                                        </p:attrNameLst>
                                      </p:cBhvr>
                                      <p:to>
                                        <p:strVal val="visible"/>
                                      </p:to>
                                    </p:set>
                                    <p:animEffect transition="in" filter="blinds(horizontal)">
                                      <p:cBhvr>
                                        <p:cTn id="12" dur="500"/>
                                        <p:tgtEl>
                                          <p:spTgt spid="1259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5966"/>
                                        </p:tgtEl>
                                        <p:attrNameLst>
                                          <p:attrName>style.visibility</p:attrName>
                                        </p:attrNameLst>
                                      </p:cBhvr>
                                      <p:to>
                                        <p:strVal val="visible"/>
                                      </p:to>
                                    </p:set>
                                    <p:animEffect transition="in" filter="blinds(horizontal)">
                                      <p:cBhvr>
                                        <p:cTn id="17" dur="500"/>
                                        <p:tgtEl>
                                          <p:spTgt spid="125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2" grpId="0"/>
      <p:bldP spid="125964" grpId="0"/>
      <p:bldP spid="125966" grpId="0"/>
    </p:bldLst>
  </p:timing>
  <p:extLst mod="1"/>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1" name="矩形 126980"/>
          <p:cNvSpPr>
            <a:spLocks noChangeArrowheads="1"/>
          </p:cNvSpPr>
          <p:nvPr/>
        </p:nvSpPr>
        <p:spPr bwMode="auto">
          <a:xfrm>
            <a:off x="539750" y="2928938"/>
            <a:ext cx="80645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a:latin typeface="黑体" panose="02010609060101010101" pitchFamily="49" charset="-122"/>
                <a:ea typeface="黑体" panose="02010609060101010101" pitchFamily="49" charset="-122"/>
              </a:rPr>
              <a:t>两条定温线无法相交，如何使工质能够进行循环？</a:t>
            </a:r>
          </a:p>
          <a:p>
            <a:endParaRPr lang="zh-CN" altLang="en-US" sz="2800" b="1">
              <a:latin typeface="黑体" panose="02010609060101010101" pitchFamily="49" charset="-122"/>
              <a:ea typeface="黑体" panose="02010609060101010101" pitchFamily="49" charset="-122"/>
            </a:endParaRPr>
          </a:p>
          <a:p>
            <a:r>
              <a:rPr lang="zh-CN" altLang="en-US" sz="2800" b="1">
                <a:latin typeface="黑体" panose="02010609060101010101" pitchFamily="49" charset="-122"/>
                <a:ea typeface="黑体" panose="02010609060101010101" pitchFamily="49" charset="-122"/>
              </a:rPr>
              <a:t>显然，这时工质的温度必然介于</a:t>
            </a:r>
            <a:r>
              <a:rPr lang="en-US" altLang="zh-CN" sz="2800" b="1" i="1">
                <a:latin typeface="Times New Roman" panose="02020603050405020304" pitchFamily="18" charset="0"/>
                <a:ea typeface="黑体" panose="02010609060101010101" pitchFamily="49" charset="-122"/>
              </a:rPr>
              <a:t>T</a:t>
            </a:r>
            <a:r>
              <a:rPr lang="en-US" altLang="zh-CN" sz="2800" b="1" baseline="-25000">
                <a:latin typeface="Times New Roman" panose="02020603050405020304" pitchFamily="18" charset="0"/>
                <a:ea typeface="黑体" panose="02010609060101010101" pitchFamily="49" charset="-122"/>
              </a:rPr>
              <a:t>H</a:t>
            </a:r>
            <a:r>
              <a:rPr lang="zh-CN" altLang="en-US" sz="2800" b="1">
                <a:latin typeface="Times New Roman" panose="02020603050405020304" pitchFamily="18" charset="0"/>
                <a:ea typeface="黑体" panose="02010609060101010101" pitchFamily="49" charset="-122"/>
              </a:rPr>
              <a:t>和</a:t>
            </a:r>
            <a:r>
              <a:rPr lang="en-US" altLang="zh-CN" sz="2800" b="1" i="1">
                <a:latin typeface="Times New Roman" panose="02020603050405020304" pitchFamily="18" charset="0"/>
                <a:ea typeface="黑体" panose="02010609060101010101" pitchFamily="49" charset="-122"/>
              </a:rPr>
              <a:t>T</a:t>
            </a:r>
            <a:r>
              <a:rPr lang="en-US" altLang="zh-CN" sz="2800" b="1" baseline="-25000">
                <a:latin typeface="Times New Roman" panose="02020603050405020304" pitchFamily="18" charset="0"/>
                <a:ea typeface="黑体" panose="02010609060101010101" pitchFamily="49" charset="-122"/>
              </a:rPr>
              <a:t>L</a:t>
            </a:r>
            <a:r>
              <a:rPr lang="zh-CN" altLang="en-US" sz="2800" b="1">
                <a:latin typeface="黑体" panose="02010609060101010101" pitchFamily="49" charset="-122"/>
                <a:ea typeface="黑体" panose="02010609060101010101" pitchFamily="49" charset="-122"/>
              </a:rPr>
              <a:t>之间。</a:t>
            </a:r>
          </a:p>
          <a:p>
            <a:r>
              <a:rPr lang="zh-CN" altLang="en-US" sz="2800" b="1">
                <a:latin typeface="黑体" panose="02010609060101010101" pitchFamily="49" charset="-122"/>
                <a:ea typeface="黑体" panose="02010609060101010101" pitchFamily="49" charset="-122"/>
              </a:rPr>
              <a:t>为满足可逆条件，工质不能再与热源和冷源有热量交换了，因为这将导致有限温差传热而使过程不可逆。</a:t>
            </a:r>
          </a:p>
        </p:txBody>
      </p:sp>
      <p:sp>
        <p:nvSpPr>
          <p:cNvPr id="126982" name="矩形 126981"/>
          <p:cNvSpPr>
            <a:spLocks noChangeArrowheads="1"/>
          </p:cNvSpPr>
          <p:nvPr/>
        </p:nvSpPr>
        <p:spPr bwMode="auto">
          <a:xfrm>
            <a:off x="1619250" y="5589588"/>
            <a:ext cx="61483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b="1">
                <a:solidFill>
                  <a:srgbClr val="0000FF"/>
                </a:solidFill>
                <a:latin typeface="黑体" panose="02010609060101010101" pitchFamily="49" charset="-122"/>
                <a:ea typeface="黑体" panose="02010609060101010101" pitchFamily="49" charset="-122"/>
              </a:rPr>
              <a:t>此时需要安排两个绝热过程！</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0916" y="182226"/>
            <a:ext cx="3529890" cy="2822693"/>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6981">
                                            <p:txEl>
                                              <p:pRg st="2" end="2"/>
                                            </p:txEl>
                                          </p:spTgt>
                                        </p:tgtEl>
                                        <p:attrNameLst>
                                          <p:attrName>style.visibility</p:attrName>
                                        </p:attrNameLst>
                                      </p:cBhvr>
                                      <p:to>
                                        <p:strVal val="visible"/>
                                      </p:to>
                                    </p:set>
                                    <p:animEffect transition="in" filter="blinds(horizontal)">
                                      <p:cBhvr>
                                        <p:cTn id="7" dur="500"/>
                                        <p:tgtEl>
                                          <p:spTgt spid="12698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6981">
                                            <p:txEl>
                                              <p:pRg st="3" end="3"/>
                                            </p:txEl>
                                          </p:spTgt>
                                        </p:tgtEl>
                                        <p:attrNameLst>
                                          <p:attrName>style.visibility</p:attrName>
                                        </p:attrNameLst>
                                      </p:cBhvr>
                                      <p:to>
                                        <p:strVal val="visible"/>
                                      </p:to>
                                    </p:set>
                                    <p:animEffect transition="in" filter="blinds(horizontal)">
                                      <p:cBhvr>
                                        <p:cTn id="10" dur="500"/>
                                        <p:tgtEl>
                                          <p:spTgt spid="12698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6982"/>
                                        </p:tgtEl>
                                        <p:attrNameLst>
                                          <p:attrName>style.visibility</p:attrName>
                                        </p:attrNameLst>
                                      </p:cBhvr>
                                      <p:to>
                                        <p:strVal val="visible"/>
                                      </p:to>
                                    </p:set>
                                    <p:animEffect transition="in" filter="blinds(horizontal)">
                                      <p:cBhvr>
                                        <p:cTn id="15" dur="500"/>
                                        <p:tgtEl>
                                          <p:spTgt spid="126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21859"/>
          <p:cNvSpPr>
            <a:spLocks noChangeArrowheads="1"/>
          </p:cNvSpPr>
          <p:nvPr/>
        </p:nvSpPr>
        <p:spPr bwMode="auto">
          <a:xfrm>
            <a:off x="450222" y="892047"/>
            <a:ext cx="8208963"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buFont typeface="Arial" panose="020B0604020202020204" pitchFamily="34" charset="0"/>
              <a:buChar char="•"/>
            </a:pPr>
            <a:r>
              <a:rPr lang="zh-CN" altLang="en-US" sz="3200" b="1" dirty="0" smtClean="0">
                <a:ea typeface="黑体" panose="02010609060101010101" pitchFamily="49" charset="-122"/>
              </a:rPr>
              <a:t>由以上分析可知，两个热源之间的可逆循环可以由两个可逆定温过程与两个可逆绝热过程合并而成</a:t>
            </a:r>
            <a:endParaRPr lang="en-US" altLang="zh-CN" sz="3200" b="1" dirty="0" smtClean="0">
              <a:ea typeface="黑体" panose="02010609060101010101" pitchFamily="49" charset="-122"/>
            </a:endParaRPr>
          </a:p>
          <a:p>
            <a:pPr marL="457200" indent="-457200">
              <a:buFont typeface="Arial" panose="020B0604020202020204" pitchFamily="34" charset="0"/>
              <a:buChar char="•"/>
            </a:pPr>
            <a:r>
              <a:rPr lang="zh-CN" altLang="en-US" sz="3200" b="1" dirty="0" smtClean="0">
                <a:ea typeface="黑体" panose="02010609060101010101" pitchFamily="49" charset="-122"/>
              </a:rPr>
              <a:t>这种可逆循环称为</a:t>
            </a:r>
            <a:r>
              <a:rPr lang="zh-CN" altLang="en-US" sz="3200" b="1" dirty="0" smtClean="0">
                <a:solidFill>
                  <a:srgbClr val="FF0000"/>
                </a:solidFill>
                <a:ea typeface="黑体" panose="02010609060101010101" pitchFamily="49" charset="-122"/>
              </a:rPr>
              <a:t>卡诺循环</a:t>
            </a:r>
            <a:r>
              <a:rPr lang="zh-CN" altLang="en-US" sz="3200" b="1" dirty="0" smtClean="0">
                <a:ea typeface="黑体" panose="02010609060101010101" pitchFamily="49" charset="-122"/>
              </a:rPr>
              <a:t>，由卡诺在</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1824</a:t>
            </a:r>
            <a:r>
              <a:rPr lang="zh-CN" altLang="en-US" sz="3200" b="1" dirty="0" smtClean="0">
                <a:ea typeface="黑体" panose="02010609060101010101" pitchFamily="49" charset="-122"/>
              </a:rPr>
              <a:t>年提出</a:t>
            </a:r>
            <a:endParaRPr lang="zh-CN" altLang="en-US" sz="3200" b="1" dirty="0">
              <a:ea typeface="黑体" panose="02010609060101010101" pitchFamily="49" charset="-122"/>
            </a:endParaRPr>
          </a:p>
        </p:txBody>
      </p:sp>
      <p:sp>
        <p:nvSpPr>
          <p:cNvPr id="9" name="矩形 121859"/>
          <p:cNvSpPr>
            <a:spLocks noChangeArrowheads="1"/>
          </p:cNvSpPr>
          <p:nvPr/>
        </p:nvSpPr>
        <p:spPr bwMode="auto">
          <a:xfrm>
            <a:off x="542400" y="4292250"/>
            <a:ext cx="8208963"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smtClean="0">
                <a:ea typeface="黑体" panose="02010609060101010101" pitchFamily="49" charset="-122"/>
              </a:rPr>
              <a:t>提醒注意：工作在两个热源间的可逆循环，除卡诺循环之外，还可以是概括性卡诺循环</a:t>
            </a:r>
            <a:r>
              <a:rPr lang="zh-CN" altLang="en-US" sz="2400" b="1" dirty="0" smtClean="0">
                <a:solidFill>
                  <a:srgbClr val="0070C0"/>
                </a:solidFill>
                <a:ea typeface="黑体" panose="02010609060101010101" pitchFamily="49" charset="-122"/>
              </a:rPr>
              <a:t>（涉及到多变过程、回热等概念）</a:t>
            </a:r>
            <a:r>
              <a:rPr lang="zh-CN" altLang="en-US" sz="2800" b="1" dirty="0" smtClean="0">
                <a:ea typeface="黑体" panose="02010609060101010101" pitchFamily="49" charset="-122"/>
              </a:rPr>
              <a:t>，在第</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12</a:t>
            </a:r>
            <a:r>
              <a:rPr lang="zh-CN" altLang="en-US" sz="2800" b="1" dirty="0" smtClean="0">
                <a:ea typeface="黑体" panose="02010609060101010101" pitchFamily="49" charset="-122"/>
              </a:rPr>
              <a:t>章介绍。</a:t>
            </a:r>
            <a:endParaRPr lang="zh-CN" altLang="en-US" sz="2800" b="1" dirty="0">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矩形 124934"/>
          <p:cNvSpPr>
            <a:spLocks noChangeArrowheads="1"/>
          </p:cNvSpPr>
          <p:nvPr/>
        </p:nvSpPr>
        <p:spPr bwMode="auto">
          <a:xfrm>
            <a:off x="2608077" y="485906"/>
            <a:ext cx="4967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dirty="0">
                <a:latin typeface="黑体" panose="02010609060101010101" pitchFamily="49" charset="-122"/>
                <a:ea typeface="黑体" panose="02010609060101010101" pitchFamily="49" charset="-122"/>
              </a:rPr>
              <a:t>卡诺循环</a:t>
            </a:r>
            <a:r>
              <a:rPr lang="zh-CN" altLang="en-US" sz="3600" b="1" dirty="0" smtClean="0">
                <a:latin typeface="黑体" panose="02010609060101010101" pitchFamily="49" charset="-122"/>
                <a:ea typeface="黑体" panose="02010609060101010101" pitchFamily="49" charset="-122"/>
              </a:rPr>
              <a:t>的</a:t>
            </a:r>
            <a:r>
              <a:rPr lang="zh-CN" altLang="en-US" sz="3600" b="1" dirty="0">
                <a:latin typeface="黑体" panose="02010609060101010101" pitchFamily="49" charset="-122"/>
                <a:ea typeface="黑体" panose="02010609060101010101" pitchFamily="49" charset="-122"/>
              </a:rPr>
              <a:t>热</a:t>
            </a:r>
            <a:r>
              <a:rPr lang="zh-CN" altLang="en-US" sz="3600" b="1" dirty="0" smtClean="0">
                <a:latin typeface="黑体" panose="02010609060101010101" pitchFamily="49" charset="-122"/>
                <a:ea typeface="黑体" panose="02010609060101010101" pitchFamily="49" charset="-122"/>
              </a:rPr>
              <a:t>效率</a:t>
            </a:r>
            <a:endParaRPr lang="zh-CN" altLang="en-US" sz="3600" b="1" dirty="0">
              <a:latin typeface="黑体" panose="02010609060101010101" pitchFamily="49" charset="-122"/>
              <a:ea typeface="黑体" panose="02010609060101010101" pitchFamily="49" charset="-122"/>
            </a:endParaRPr>
          </a:p>
        </p:txBody>
      </p:sp>
      <p:graphicFrame>
        <p:nvGraphicFramePr>
          <p:cNvPr id="70659" name="对象 124936"/>
          <p:cNvGraphicFramePr/>
          <p:nvPr/>
        </p:nvGraphicFramePr>
        <p:xfrm>
          <a:off x="2432400" y="1531647"/>
          <a:ext cx="2808288" cy="1044575"/>
        </p:xfrm>
        <a:graphic>
          <a:graphicData uri="http://schemas.openxmlformats.org/presentationml/2006/ole">
            <mc:AlternateContent xmlns:mc="http://schemas.openxmlformats.org/markup-compatibility/2006">
              <mc:Choice xmlns:v="urn:schemas-microsoft-com:vml" Requires="v">
                <p:oleObj spid="_x0000_s33865" name="Equation" r:id="rId4" imgW="27736800" imgH="10363200" progId="Equation.DSMT4">
                  <p:embed/>
                </p:oleObj>
              </mc:Choice>
              <mc:Fallback>
                <p:oleObj name="Equation" r:id="rId4" imgW="27736800" imgH="10363200" progId="Equation.DSMT4">
                  <p:embed/>
                  <p:pic>
                    <p:nvPicPr>
                      <p:cNvPr id="0" name="对象 124936"/>
                      <p:cNvPicPr>
                        <a:picLocks noChangeArrowheads="1"/>
                      </p:cNvPicPr>
                      <p:nvPr/>
                    </p:nvPicPr>
                    <p:blipFill>
                      <a:blip r:embed="rId5"/>
                      <a:srcRect/>
                      <a:stretch>
                        <a:fillRect/>
                      </a:stretch>
                    </p:blipFill>
                    <p:spPr bwMode="auto">
                      <a:xfrm>
                        <a:off x="2432400" y="1531647"/>
                        <a:ext cx="2808288"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4940" name="矩形 124939"/>
          <p:cNvSpPr>
            <a:spLocks noChangeArrowheads="1"/>
          </p:cNvSpPr>
          <p:nvPr/>
        </p:nvSpPr>
        <p:spPr bwMode="auto">
          <a:xfrm>
            <a:off x="1073280" y="3300504"/>
            <a:ext cx="401844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ea typeface="黑体" panose="02010609060101010101" pitchFamily="49" charset="-122"/>
              </a:rPr>
              <a:t>利用</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5-5</a:t>
            </a:r>
            <a:r>
              <a:rPr lang="zh-CN" altLang="en-US" sz="2800" b="1" dirty="0" smtClean="0">
                <a:ea typeface="黑体" panose="02010609060101010101" pitchFamily="49" charset="-122"/>
              </a:rPr>
              <a:t>节“热力学温标”中所讲内容</a:t>
            </a:r>
            <a:endParaRPr lang="zh-CN" altLang="en-US" sz="2800" dirty="0">
              <a:ea typeface="黑体" panose="02010609060101010101" pitchFamily="49" charset="-122"/>
            </a:endParaRPr>
          </a:p>
        </p:txBody>
      </p:sp>
      <p:graphicFrame>
        <p:nvGraphicFramePr>
          <p:cNvPr id="124941" name="对象 124940"/>
          <p:cNvGraphicFramePr/>
          <p:nvPr/>
        </p:nvGraphicFramePr>
        <p:xfrm>
          <a:off x="5351398" y="1470528"/>
          <a:ext cx="1422400" cy="1166812"/>
        </p:xfrm>
        <a:graphic>
          <a:graphicData uri="http://schemas.openxmlformats.org/presentationml/2006/ole">
            <mc:AlternateContent xmlns:mc="http://schemas.openxmlformats.org/markup-compatibility/2006">
              <mc:Choice xmlns:v="urn:schemas-microsoft-com:vml" Requires="v">
                <p:oleObj spid="_x0000_s33866" name="Equation" r:id="rId6" imgW="12496800" imgH="10363200" progId="Equation.DSMT4">
                  <p:embed/>
                </p:oleObj>
              </mc:Choice>
              <mc:Fallback>
                <p:oleObj name="Equation" r:id="rId6" imgW="12496800" imgH="10363200" progId="Equation.DSMT4">
                  <p:embed/>
                  <p:pic>
                    <p:nvPicPr>
                      <p:cNvPr id="0" name="对象 124940"/>
                      <p:cNvPicPr>
                        <a:picLocks noChangeArrowheads="1"/>
                      </p:cNvPicPr>
                      <p:nvPr/>
                    </p:nvPicPr>
                    <p:blipFill>
                      <a:blip r:embed="rId7"/>
                      <a:srcRect/>
                      <a:stretch>
                        <a:fillRect/>
                      </a:stretch>
                    </p:blipFill>
                    <p:spPr bwMode="auto">
                      <a:xfrm>
                        <a:off x="5351398" y="1470528"/>
                        <a:ext cx="1422400"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4939" name="对象 124938"/>
          <p:cNvGraphicFramePr>
            <a:graphicFrameLocks noChangeAspect="1"/>
          </p:cNvGraphicFramePr>
          <p:nvPr/>
        </p:nvGraphicFramePr>
        <p:xfrm>
          <a:off x="1877827" y="4409938"/>
          <a:ext cx="1460500" cy="1079500"/>
        </p:xfrm>
        <a:graphic>
          <a:graphicData uri="http://schemas.openxmlformats.org/presentationml/2006/ole">
            <mc:AlternateContent xmlns:mc="http://schemas.openxmlformats.org/markup-compatibility/2006">
              <mc:Choice xmlns:v="urn:schemas-microsoft-com:vml" Requires="v">
                <p:oleObj spid="_x0000_s33867" name="Equation" r:id="rId8" imgW="14020800" imgH="10363200" progId="Equation.DSMT4">
                  <p:embed/>
                </p:oleObj>
              </mc:Choice>
              <mc:Fallback>
                <p:oleObj name="Equation" r:id="rId8" imgW="14020800" imgH="10363200" progId="Equation.DSMT4">
                  <p:embed/>
                  <p:pic>
                    <p:nvPicPr>
                      <p:cNvPr id="0" name="对象 124938"/>
                      <p:cNvPicPr>
                        <a:picLocks noChangeArrowheads="1"/>
                      </p:cNvPicPr>
                      <p:nvPr/>
                    </p:nvPicPr>
                    <p:blipFill>
                      <a:blip r:embed="rId9"/>
                      <a:srcRect/>
                      <a:stretch>
                        <a:fillRect/>
                      </a:stretch>
                    </p:blipFill>
                    <p:spPr bwMode="auto">
                      <a:xfrm>
                        <a:off x="1877827" y="4409938"/>
                        <a:ext cx="14605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13" name="肘形连接符 12"/>
          <p:cNvCxnSpPr/>
          <p:nvPr/>
        </p:nvCxnSpPr>
        <p:spPr>
          <a:xfrm rot="5400000" flipH="1" flipV="1">
            <a:off x="3260035" y="2650436"/>
            <a:ext cx="2557669" cy="2040834"/>
          </a:xfrm>
          <a:prstGeom prst="bentConnector3">
            <a:avLst>
              <a:gd name="adj1" fmla="val 259"/>
            </a:avLst>
          </a:prstGeom>
          <a:ln w="25400">
            <a:tailEnd type="triangle"/>
          </a:ln>
        </p:spPr>
        <p:style>
          <a:lnRef idx="1">
            <a:schemeClr val="accent1"/>
          </a:lnRef>
          <a:fillRef idx="0">
            <a:schemeClr val="accent1"/>
          </a:fillRef>
          <a:effectRef idx="0">
            <a:schemeClr val="accent1"/>
          </a:effectRef>
          <a:fontRef idx="minor">
            <a:schemeClr val="tx1"/>
          </a:fontRef>
        </p:style>
      </p:cxn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4940"/>
                                        </p:tgtEl>
                                        <p:attrNameLst>
                                          <p:attrName>style.visibility</p:attrName>
                                        </p:attrNameLst>
                                      </p:cBhvr>
                                      <p:to>
                                        <p:strVal val="visible"/>
                                      </p:to>
                                    </p:set>
                                    <p:animEffect transition="in" filter="blinds(horizontal)">
                                      <p:cBhvr>
                                        <p:cTn id="7" dur="500"/>
                                        <p:tgtEl>
                                          <p:spTgt spid="1249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4939"/>
                                        </p:tgtEl>
                                        <p:attrNameLst>
                                          <p:attrName>style.visibility</p:attrName>
                                        </p:attrNameLst>
                                      </p:cBhvr>
                                      <p:to>
                                        <p:strVal val="visible"/>
                                      </p:to>
                                    </p:set>
                                    <p:animEffect transition="in" filter="wipe(left)">
                                      <p:cBhvr>
                                        <p:cTn id="12" dur="500"/>
                                        <p:tgtEl>
                                          <p:spTgt spid="1249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4941"/>
                                        </p:tgtEl>
                                        <p:attrNameLst>
                                          <p:attrName>style.visibility</p:attrName>
                                        </p:attrNameLst>
                                      </p:cBhvr>
                                      <p:to>
                                        <p:strVal val="visible"/>
                                      </p:to>
                                    </p:set>
                                    <p:animEffect transition="in" filter="wipe(left)">
                                      <p:cBhvr>
                                        <p:cTn id="22" dur="500"/>
                                        <p:tgtEl>
                                          <p:spTgt spid="124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4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49794" y="3698490"/>
            <a:ext cx="3331361" cy="830997"/>
          </a:xfrm>
          <a:prstGeom prst="rect">
            <a:avLst/>
          </a:prstGeom>
        </p:spPr>
        <p:txBody>
          <a:bodyPr wrap="none">
            <a:spAutoFit/>
          </a:bodyPr>
          <a:lstStyle/>
          <a:p>
            <a:r>
              <a:rPr lang="zh-CN" altLang="en-US" sz="2400" b="1" dirty="0" smtClean="0">
                <a:ea typeface="黑体" panose="02010609060101010101" pitchFamily="49" charset="-122"/>
              </a:rPr>
              <a:t>工作在</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2400" b="1" dirty="0" smtClean="0">
                <a:ea typeface="黑体" panose="02010609060101010101" pitchFamily="49" charset="-122"/>
              </a:rPr>
              <a:t>和</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L</a:t>
            </a:r>
            <a:r>
              <a:rPr lang="zh-CN" altLang="en-US" sz="2400" b="1" dirty="0" smtClean="0">
                <a:ea typeface="黑体" panose="02010609060101010101" pitchFamily="49" charset="-122"/>
              </a:rPr>
              <a:t>两个热源</a:t>
            </a:r>
            <a:endParaRPr lang="en-US" altLang="zh-CN" sz="2400" b="1" dirty="0" smtClean="0">
              <a:ea typeface="黑体" panose="02010609060101010101" pitchFamily="49" charset="-122"/>
            </a:endParaRPr>
          </a:p>
          <a:p>
            <a:r>
              <a:rPr lang="zh-CN" altLang="en-US" sz="2400" b="1" dirty="0" smtClean="0">
                <a:ea typeface="黑体" panose="02010609060101010101" pitchFamily="49" charset="-122"/>
              </a:rPr>
              <a:t>间的</a:t>
            </a:r>
            <a:r>
              <a:rPr lang="zh-CN" altLang="en-US" sz="2400" b="1" dirty="0" smtClean="0">
                <a:solidFill>
                  <a:srgbClr val="FF0000"/>
                </a:solidFill>
                <a:ea typeface="黑体" panose="02010609060101010101" pitchFamily="49" charset="-122"/>
              </a:rPr>
              <a:t>一个</a:t>
            </a:r>
            <a:r>
              <a:rPr lang="zh-CN" altLang="en-US" sz="2400" b="1" dirty="0" smtClean="0">
                <a:ea typeface="黑体" panose="02010609060101010101" pitchFamily="49" charset="-122"/>
              </a:rPr>
              <a:t>卡诺循环</a:t>
            </a:r>
            <a:endParaRPr lang="zh-CN" altLang="en-US" sz="2400" dirty="0"/>
          </a:p>
        </p:txBody>
      </p:sp>
      <p:sp>
        <p:nvSpPr>
          <p:cNvPr id="7" name="下弧形箭头 6"/>
          <p:cNvSpPr/>
          <p:nvPr/>
        </p:nvSpPr>
        <p:spPr>
          <a:xfrm>
            <a:off x="1551094" y="4725957"/>
            <a:ext cx="5343308" cy="1033669"/>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1" name="矩形 10"/>
          <p:cNvSpPr/>
          <p:nvPr/>
        </p:nvSpPr>
        <p:spPr>
          <a:xfrm>
            <a:off x="2963180" y="4637565"/>
            <a:ext cx="2799621" cy="830997"/>
          </a:xfrm>
          <a:prstGeom prst="rect">
            <a:avLst/>
          </a:prstGeom>
        </p:spPr>
        <p:txBody>
          <a:bodyPr wrap="square">
            <a:spAutoFit/>
          </a:bodyPr>
          <a:lstStyle/>
          <a:p>
            <a:r>
              <a:rPr lang="zh-CN" altLang="en-US" sz="2400" b="1" dirty="0" smtClean="0">
                <a:ea typeface="黑体" panose="02010609060101010101" pitchFamily="49" charset="-122"/>
              </a:rPr>
              <a:t>两条绝热线在两条定温线之间滑动</a:t>
            </a:r>
            <a:endParaRPr lang="zh-CN" altLang="en-US" sz="2400" dirty="0"/>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638" y="679327"/>
            <a:ext cx="3529890" cy="2822693"/>
          </a:xfrm>
          <a:prstGeom prst="rect">
            <a:avLst/>
          </a:prstGeom>
        </p:spPr>
      </p:pic>
      <p:grpSp>
        <p:nvGrpSpPr>
          <p:cNvPr id="2" name="组合 1"/>
          <p:cNvGrpSpPr/>
          <p:nvPr/>
        </p:nvGrpSpPr>
        <p:grpSpPr>
          <a:xfrm>
            <a:off x="4912690" y="679327"/>
            <a:ext cx="3572566" cy="3850160"/>
            <a:chOff x="4912690" y="679327"/>
            <a:chExt cx="3572566" cy="3850160"/>
          </a:xfrm>
        </p:grpSpPr>
        <p:sp>
          <p:nvSpPr>
            <p:cNvPr id="6" name="矩形 5"/>
            <p:cNvSpPr/>
            <p:nvPr/>
          </p:nvSpPr>
          <p:spPr>
            <a:xfrm>
              <a:off x="5106818" y="3698490"/>
              <a:ext cx="3331361" cy="830997"/>
            </a:xfrm>
            <a:prstGeom prst="rect">
              <a:avLst/>
            </a:prstGeom>
          </p:spPr>
          <p:txBody>
            <a:bodyPr wrap="none">
              <a:spAutoFit/>
            </a:bodyPr>
            <a:lstStyle/>
            <a:p>
              <a:r>
                <a:rPr lang="zh-CN" altLang="en-US" sz="2400" b="1" dirty="0" smtClean="0">
                  <a:ea typeface="黑体" panose="02010609060101010101" pitchFamily="49" charset="-122"/>
                </a:rPr>
                <a:t>工作在</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2400" b="1" dirty="0" smtClean="0">
                  <a:ea typeface="黑体" panose="02010609060101010101" pitchFamily="49" charset="-122"/>
                </a:rPr>
                <a:t>和</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L</a:t>
              </a:r>
              <a:r>
                <a:rPr lang="zh-CN" altLang="en-US" sz="2400" b="1" dirty="0" smtClean="0">
                  <a:ea typeface="黑体" panose="02010609060101010101" pitchFamily="49" charset="-122"/>
                </a:rPr>
                <a:t>两个热源</a:t>
              </a:r>
              <a:endParaRPr lang="en-US" altLang="zh-CN" sz="2400" b="1" dirty="0" smtClean="0">
                <a:ea typeface="黑体" panose="02010609060101010101" pitchFamily="49" charset="-122"/>
              </a:endParaRPr>
            </a:p>
            <a:p>
              <a:r>
                <a:rPr lang="zh-CN" altLang="en-US" sz="2400" b="1" dirty="0" smtClean="0">
                  <a:ea typeface="黑体" panose="02010609060101010101" pitchFamily="49" charset="-122"/>
                </a:rPr>
                <a:t>间的</a:t>
              </a:r>
              <a:r>
                <a:rPr lang="zh-CN" altLang="en-US" sz="2400" b="1" dirty="0" smtClean="0">
                  <a:solidFill>
                    <a:srgbClr val="FF0000"/>
                  </a:solidFill>
                  <a:ea typeface="黑体" panose="02010609060101010101" pitchFamily="49" charset="-122"/>
                </a:rPr>
                <a:t>无穷多个</a:t>
              </a:r>
              <a:r>
                <a:rPr lang="zh-CN" altLang="en-US" sz="2400" b="1" dirty="0" smtClean="0">
                  <a:ea typeface="黑体" panose="02010609060101010101" pitchFamily="49" charset="-122"/>
                </a:rPr>
                <a:t>卡诺循环</a:t>
              </a:r>
              <a:endParaRPr lang="zh-CN" altLang="en-US" sz="2400" dirty="0"/>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2690" y="679327"/>
              <a:ext cx="3572566" cy="2853175"/>
            </a:xfrm>
            <a:prstGeom prst="rect">
              <a:avLst/>
            </a:prstGeom>
          </p:spPr>
        </p:pic>
      </p:grpSp>
      <p:sp>
        <p:nvSpPr>
          <p:cNvPr id="8" name="矩形 7"/>
          <p:cNvSpPr/>
          <p:nvPr/>
        </p:nvSpPr>
        <p:spPr>
          <a:xfrm>
            <a:off x="2215474" y="6042235"/>
            <a:ext cx="5381106" cy="461665"/>
          </a:xfrm>
          <a:prstGeom prst="rect">
            <a:avLst/>
          </a:prstGeom>
        </p:spPr>
        <p:txBody>
          <a:bodyPr wrap="square">
            <a:spAutoFit/>
          </a:bodyPr>
          <a:lstStyle/>
          <a:p>
            <a:r>
              <a:rPr lang="zh-CN" altLang="en-US" sz="2400" b="1" dirty="0" smtClean="0">
                <a:ea typeface="黑体" panose="02010609060101010101" pitchFamily="49" charset="-122"/>
              </a:rPr>
              <a:t>这些卡诺循环的热效率均为</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1-</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L</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H</a:t>
            </a:r>
            <a:endParaRPr lang="zh-CN" altLang="en-US" sz="24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82507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p:bldP spid="8" grpId="0"/>
    </p:bldLst>
  </p:timing>
  <p:extLst mod="1"/>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21859"/>
          <p:cNvSpPr>
            <a:spLocks noChangeArrowheads="1"/>
          </p:cNvSpPr>
          <p:nvPr/>
        </p:nvSpPr>
        <p:spPr bwMode="auto">
          <a:xfrm>
            <a:off x="537374" y="3940917"/>
            <a:ext cx="8208963"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smtClean="0">
                <a:ea typeface="黑体" panose="02010609060101010101" pitchFamily="49" charset="-122"/>
              </a:rPr>
              <a:t>提醒注意：以上坐标图中的四条过程线是基于理想气体工质的假设得到的</a:t>
            </a:r>
            <a:r>
              <a:rPr lang="zh-CN" altLang="en-US" sz="2400" b="1" dirty="0" smtClean="0">
                <a:solidFill>
                  <a:srgbClr val="0070C0"/>
                </a:solidFill>
                <a:ea typeface="黑体" panose="02010609060101010101" pitchFamily="49" charset="-122"/>
              </a:rPr>
              <a:t>（第</a:t>
            </a:r>
            <a:r>
              <a:rPr lang="en-US" altLang="zh-CN" sz="24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8</a:t>
            </a:r>
            <a:r>
              <a:rPr lang="zh-CN" altLang="en-US" sz="2400" b="1" dirty="0" smtClean="0">
                <a:solidFill>
                  <a:srgbClr val="0070C0"/>
                </a:solidFill>
                <a:ea typeface="黑体" panose="02010609060101010101" pitchFamily="49" charset="-122"/>
              </a:rPr>
              <a:t>章介绍如何将理想气体的定温和绝热过程表示在</a:t>
            </a:r>
            <a:r>
              <a:rPr lang="en-US" altLang="zh-CN" sz="2400" b="1" i="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p-V</a:t>
            </a:r>
            <a:r>
              <a:rPr lang="zh-CN" altLang="en-US" sz="2400" b="1" dirty="0" smtClean="0">
                <a:solidFill>
                  <a:srgbClr val="0070C0"/>
                </a:solidFill>
                <a:ea typeface="黑体" panose="02010609060101010101" pitchFamily="49" charset="-122"/>
              </a:rPr>
              <a:t>图上）</a:t>
            </a:r>
            <a:r>
              <a:rPr lang="zh-CN" altLang="en-US" sz="2800" b="1" dirty="0" smtClean="0">
                <a:ea typeface="黑体" panose="02010609060101010101" pitchFamily="49" charset="-122"/>
              </a:rPr>
              <a:t>，若卡诺循环的工质为非理想气体，则这四条过程</a:t>
            </a:r>
            <a:r>
              <a:rPr lang="zh-CN" altLang="en-US" sz="2800" b="1" dirty="0">
                <a:ea typeface="黑体" panose="02010609060101010101" pitchFamily="49" charset="-122"/>
              </a:rPr>
              <a:t>线</a:t>
            </a:r>
            <a:r>
              <a:rPr lang="zh-CN" altLang="en-US" sz="2800" b="1" dirty="0" smtClean="0">
                <a:ea typeface="黑体" panose="02010609060101010101" pitchFamily="49" charset="-122"/>
              </a:rPr>
              <a:t>在</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p-V</a:t>
            </a:r>
            <a:r>
              <a:rPr lang="zh-CN" altLang="en-US" sz="2800" b="1" dirty="0" smtClean="0">
                <a:ea typeface="黑体" panose="02010609060101010101" pitchFamily="49" charset="-122"/>
              </a:rPr>
              <a:t>图上的形状可能会有所不同</a:t>
            </a:r>
            <a:endParaRPr lang="zh-CN" altLang="en-US" sz="2800" b="1" dirty="0">
              <a:ea typeface="黑体" panose="02010609060101010101" pitchFamily="49" charset="-122"/>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664" y="533409"/>
            <a:ext cx="3529890" cy="282269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矩形 134147"/>
          <p:cNvSpPr>
            <a:spLocks noChangeArrowheads="1"/>
          </p:cNvSpPr>
          <p:nvPr/>
        </p:nvSpPr>
        <p:spPr bwMode="auto">
          <a:xfrm>
            <a:off x="398251" y="382965"/>
            <a:ext cx="826473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3200" b="1" dirty="0" smtClean="0">
                <a:latin typeface="黑体" panose="02010609060101010101" pitchFamily="49" charset="-122"/>
                <a:ea typeface="黑体" panose="02010609060101010101" pitchFamily="49" charset="-122"/>
              </a:rPr>
              <a:t>分析卡诺循环热效率的公式，可以得到以下几点重要结论： </a:t>
            </a:r>
            <a:endParaRPr lang="zh-CN" altLang="en-US" sz="3200" b="1" dirty="0">
              <a:latin typeface="黑体" panose="02010609060101010101" pitchFamily="49" charset="-122"/>
              <a:ea typeface="黑体" panose="02010609060101010101" pitchFamily="49" charset="-122"/>
            </a:endParaRPr>
          </a:p>
        </p:txBody>
      </p:sp>
      <p:sp>
        <p:nvSpPr>
          <p:cNvPr id="72706" name="矩形 134148"/>
          <p:cNvSpPr>
            <a:spLocks noChangeArrowheads="1"/>
          </p:cNvSpPr>
          <p:nvPr/>
        </p:nvSpPr>
        <p:spPr bwMode="auto">
          <a:xfrm>
            <a:off x="606319" y="3358138"/>
            <a:ext cx="78486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、卡诺循环的热效率仅与热源及冷源的温度有关，而与采用何种工质、热机的结构、工质吸热量和作功量的具体数值等因素无关 </a:t>
            </a:r>
          </a:p>
        </p:txBody>
      </p:sp>
      <p:graphicFrame>
        <p:nvGraphicFramePr>
          <p:cNvPr id="8" name="对象 7"/>
          <p:cNvGraphicFramePr/>
          <p:nvPr/>
        </p:nvGraphicFramePr>
        <p:xfrm>
          <a:off x="3123608" y="1825754"/>
          <a:ext cx="1943100" cy="1166813"/>
        </p:xfrm>
        <a:graphic>
          <a:graphicData uri="http://schemas.openxmlformats.org/presentationml/2006/ole">
            <mc:AlternateContent xmlns:mc="http://schemas.openxmlformats.org/markup-compatibility/2006">
              <mc:Choice xmlns:v="urn:schemas-microsoft-com:vml" Requires="v">
                <p:oleObj spid="_x0000_s36891" name="Equation" r:id="rId3" imgW="17068800" imgH="10363200" progId="Equation.DSMT4">
                  <p:embed/>
                </p:oleObj>
              </mc:Choice>
              <mc:Fallback>
                <p:oleObj name="Equation" r:id="rId3" imgW="17068800" imgH="10363200" progId="Equation.DSMT4">
                  <p:embed/>
                  <p:pic>
                    <p:nvPicPr>
                      <p:cNvPr id="0" name="对象 7"/>
                      <p:cNvPicPr>
                        <a:picLocks noChangeArrowheads="1"/>
                      </p:cNvPicPr>
                      <p:nvPr/>
                    </p:nvPicPr>
                    <p:blipFill>
                      <a:blip r:embed="rId4"/>
                      <a:srcRect/>
                      <a:stretch>
                        <a:fillRect/>
                      </a:stretch>
                    </p:blipFill>
                    <p:spPr bwMode="auto">
                      <a:xfrm>
                        <a:off x="3123608" y="1825754"/>
                        <a:ext cx="1943100" cy="1166813"/>
                      </a:xfrm>
                      <a:prstGeom prst="rect">
                        <a:avLst/>
                      </a:prstGeom>
                      <a:noFill/>
                      <a:ln>
                        <a:noFill/>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3295886" y="578153"/>
          <a:ext cx="1943100" cy="1166813"/>
        </p:xfrm>
        <a:graphic>
          <a:graphicData uri="http://schemas.openxmlformats.org/presentationml/2006/ole">
            <mc:AlternateContent xmlns:mc="http://schemas.openxmlformats.org/markup-compatibility/2006">
              <mc:Choice xmlns:v="urn:schemas-microsoft-com:vml" Requires="v">
                <p:oleObj spid="_x0000_s37915" name="Equation" r:id="rId3" imgW="17068800" imgH="10363200" progId="Equation.DSMT4">
                  <p:embed/>
                </p:oleObj>
              </mc:Choice>
              <mc:Fallback>
                <p:oleObj name="Equation" r:id="rId3" imgW="17068800" imgH="10363200" progId="Equation.DSMT4">
                  <p:embed/>
                  <p:pic>
                    <p:nvPicPr>
                      <p:cNvPr id="0" name="对象 1"/>
                      <p:cNvPicPr>
                        <a:picLocks noChangeArrowheads="1"/>
                      </p:cNvPicPr>
                      <p:nvPr/>
                    </p:nvPicPr>
                    <p:blipFill>
                      <a:blip r:embed="rId4"/>
                      <a:srcRect/>
                      <a:stretch>
                        <a:fillRect/>
                      </a:stretch>
                    </p:blipFill>
                    <p:spPr bwMode="auto">
                      <a:xfrm>
                        <a:off x="3295886" y="578153"/>
                        <a:ext cx="1943100" cy="1166813"/>
                      </a:xfrm>
                      <a:prstGeom prst="rect">
                        <a:avLst/>
                      </a:prstGeom>
                      <a:noFill/>
                      <a:ln>
                        <a:noFill/>
                      </a:ln>
                    </p:spPr>
                  </p:pic>
                </p:oleObj>
              </mc:Fallback>
            </mc:AlternateContent>
          </a:graphicData>
        </a:graphic>
      </p:graphicFrame>
      <p:sp>
        <p:nvSpPr>
          <p:cNvPr id="3" name="文本框 2"/>
          <p:cNvSpPr txBox="1">
            <a:spLocks noChangeArrowheads="1"/>
          </p:cNvSpPr>
          <p:nvPr/>
        </p:nvSpPr>
        <p:spPr bwMode="auto">
          <a:xfrm>
            <a:off x="861029" y="2445247"/>
            <a:ext cx="76200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、为了提高卡诺循环的热效率，应尽可能地</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提高</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H</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，降低</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L</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。但是，</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不可能增至无限大（受限于材料），</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 T</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L</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也不可能降至零（受限于环境温度），因而卡诺循环热效率不可能等于</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而只可能小于</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。这意味着，任何热机也不可能把从热源吸收的热量全部转换为功。</a:t>
            </a:r>
            <a:endPar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3295886" y="392623"/>
          <a:ext cx="1943100" cy="1166813"/>
        </p:xfrm>
        <a:graphic>
          <a:graphicData uri="http://schemas.openxmlformats.org/presentationml/2006/ole">
            <mc:AlternateContent xmlns:mc="http://schemas.openxmlformats.org/markup-compatibility/2006">
              <mc:Choice xmlns:v="urn:schemas-microsoft-com:vml" Requires="v">
                <p:oleObj spid="_x0000_s38940" name="Equation" r:id="rId3" imgW="17068800" imgH="10363200" progId="Equation.DSMT4">
                  <p:embed/>
                </p:oleObj>
              </mc:Choice>
              <mc:Fallback>
                <p:oleObj name="Equation" r:id="rId3" imgW="17068800" imgH="10363200" progId="Equation.DSMT4">
                  <p:embed/>
                  <p:pic>
                    <p:nvPicPr>
                      <p:cNvPr id="0" name="对象 1"/>
                      <p:cNvPicPr>
                        <a:picLocks noChangeArrowheads="1"/>
                      </p:cNvPicPr>
                      <p:nvPr/>
                    </p:nvPicPr>
                    <p:blipFill>
                      <a:blip r:embed="rId4"/>
                      <a:srcRect/>
                      <a:stretch>
                        <a:fillRect/>
                      </a:stretch>
                    </p:blipFill>
                    <p:spPr bwMode="auto">
                      <a:xfrm>
                        <a:off x="3295886" y="392623"/>
                        <a:ext cx="1943100" cy="1166813"/>
                      </a:xfrm>
                      <a:prstGeom prst="rect">
                        <a:avLst/>
                      </a:prstGeom>
                      <a:noFill/>
                      <a:ln>
                        <a:noFill/>
                      </a:ln>
                    </p:spPr>
                  </p:pic>
                </p:oleObj>
              </mc:Fallback>
            </mc:AlternateContent>
          </a:graphicData>
        </a:graphic>
      </p:graphicFrame>
      <p:sp>
        <p:nvSpPr>
          <p:cNvPr id="4" name="文本框 130050"/>
          <p:cNvSpPr txBox="1">
            <a:spLocks noChangeArrowheads="1"/>
          </p:cNvSpPr>
          <p:nvPr/>
        </p:nvSpPr>
        <p:spPr bwMode="auto">
          <a:xfrm>
            <a:off x="636104" y="1600418"/>
            <a:ext cx="80010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、当</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L</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等于</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H</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时，卡诺循环的热效率</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等于</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，这说明，如果冷、热源之间没有温差，是不可能作功的。事实上，若冷热源间没有温差，就是同一个热源了。</a:t>
            </a:r>
            <a:endParaRPr lang="zh-CN" altLang="en-US" sz="28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5" name="组合 130052"/>
          <p:cNvGrpSpPr/>
          <p:nvPr/>
        </p:nvGrpSpPr>
        <p:grpSpPr bwMode="auto">
          <a:xfrm>
            <a:off x="2120900" y="3505200"/>
            <a:ext cx="2120900" cy="2962275"/>
            <a:chOff x="3288" y="1122"/>
            <a:chExt cx="1336" cy="1866"/>
          </a:xfrm>
        </p:grpSpPr>
        <p:sp>
          <p:nvSpPr>
            <p:cNvPr id="6" name="矩形 130053"/>
            <p:cNvSpPr>
              <a:spLocks noChangeArrowheads="1"/>
            </p:cNvSpPr>
            <p:nvPr/>
          </p:nvSpPr>
          <p:spPr bwMode="auto">
            <a:xfrm>
              <a:off x="3288" y="1122"/>
              <a:ext cx="1044" cy="300"/>
            </a:xfrm>
            <a:prstGeom prst="rect">
              <a:avLst/>
            </a:prstGeom>
            <a:solidFill>
              <a:srgbClr val="FF0066"/>
            </a:solidFill>
            <a:ln w="12700">
              <a:solidFill>
                <a:schemeClr val="bg2"/>
              </a:solidFill>
              <a:miter lim="800000"/>
            </a:ln>
          </p:spPr>
          <p:txBody>
            <a:bodyPr/>
            <a:lstStyle/>
            <a:p>
              <a:endParaRPr lang="zh-CN" altLang="en-US"/>
            </a:p>
          </p:txBody>
        </p:sp>
        <p:sp>
          <p:nvSpPr>
            <p:cNvPr id="7" name="矩形 130054"/>
            <p:cNvSpPr>
              <a:spLocks noChangeArrowheads="1"/>
            </p:cNvSpPr>
            <p:nvPr/>
          </p:nvSpPr>
          <p:spPr bwMode="auto">
            <a:xfrm>
              <a:off x="3294" y="2688"/>
              <a:ext cx="1044" cy="300"/>
            </a:xfrm>
            <a:prstGeom prst="rect">
              <a:avLst/>
            </a:prstGeom>
            <a:solidFill>
              <a:schemeClr val="accent2"/>
            </a:solidFill>
            <a:ln w="12700">
              <a:solidFill>
                <a:schemeClr val="bg2"/>
              </a:solidFill>
              <a:miter lim="800000"/>
            </a:ln>
          </p:spPr>
          <p:txBody>
            <a:bodyPr/>
            <a:lstStyle/>
            <a:p>
              <a:endParaRPr lang="zh-CN" altLang="en-US"/>
            </a:p>
          </p:txBody>
        </p:sp>
        <p:sp>
          <p:nvSpPr>
            <p:cNvPr id="8" name="文本框 130055"/>
            <p:cNvSpPr txBox="1">
              <a:spLocks noChangeArrowheads="1"/>
            </p:cNvSpPr>
            <p:nvPr/>
          </p:nvSpPr>
          <p:spPr bwMode="auto">
            <a:xfrm>
              <a:off x="3662" y="1157"/>
              <a:ext cx="4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90000"/>
                </a:lnSpc>
                <a:spcBef>
                  <a:spcPct val="50000"/>
                </a:spcBef>
                <a:buClr>
                  <a:schemeClr val="accent1"/>
                </a:buClr>
                <a:buSzPct val="75000"/>
                <a:buFont typeface="Monotype Sorts" pitchFamily="2" charset="2"/>
                <a:buNone/>
              </a:pPr>
              <a:r>
                <a:rPr lang="en-US" altLang="zh-CN" b="1" i="1" dirty="0" smtClean="0">
                  <a:latin typeface="Times New Roman" panose="02020603050405020304" pitchFamily="18" charset="0"/>
                  <a:cs typeface="Times New Roman" panose="02020603050405020304" pitchFamily="18" charset="0"/>
                </a:rPr>
                <a:t>T</a:t>
              </a:r>
              <a:r>
                <a:rPr lang="en-US" altLang="zh-CN" b="1" baseline="-25000" dirty="0" smtClean="0">
                  <a:latin typeface="Times New Roman" panose="02020603050405020304" pitchFamily="18" charset="0"/>
                  <a:cs typeface="Times New Roman" panose="02020603050405020304" pitchFamily="18" charset="0"/>
                </a:rPr>
                <a:t>H</a:t>
              </a:r>
              <a:endParaRPr lang="en-US" altLang="zh-CN" b="1" dirty="0">
                <a:latin typeface="Times New Roman" panose="02020603050405020304" pitchFamily="18" charset="0"/>
                <a:cs typeface="Times New Roman" panose="02020603050405020304" pitchFamily="18" charset="0"/>
              </a:endParaRPr>
            </a:p>
          </p:txBody>
        </p:sp>
        <p:sp>
          <p:nvSpPr>
            <p:cNvPr id="9" name="文本框 130056"/>
            <p:cNvSpPr txBox="1">
              <a:spLocks noChangeArrowheads="1"/>
            </p:cNvSpPr>
            <p:nvPr/>
          </p:nvSpPr>
          <p:spPr bwMode="auto">
            <a:xfrm>
              <a:off x="3602" y="2736"/>
              <a:ext cx="4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90000"/>
                </a:lnSpc>
                <a:spcBef>
                  <a:spcPct val="50000"/>
                </a:spcBef>
                <a:buClr>
                  <a:schemeClr val="accent1"/>
                </a:buClr>
                <a:buSzPct val="75000"/>
                <a:buFont typeface="Monotype Sorts" pitchFamily="2" charset="2"/>
                <a:buNone/>
              </a:pPr>
              <a:r>
                <a:rPr lang="en-US" altLang="zh-CN" b="1" i="1" dirty="0" smtClean="0">
                  <a:solidFill>
                    <a:schemeClr val="bg1"/>
                  </a:solidFill>
                  <a:latin typeface="Times New Roman" panose="02020603050405020304" pitchFamily="18" charset="0"/>
                  <a:cs typeface="Times New Roman" panose="02020603050405020304" pitchFamily="18" charset="0"/>
                </a:rPr>
                <a:t>T</a:t>
              </a:r>
              <a:r>
                <a:rPr lang="en-US" altLang="zh-CN" b="1" baseline="-25000" dirty="0" smtClean="0">
                  <a:solidFill>
                    <a:schemeClr val="bg1"/>
                  </a:solidFill>
                  <a:latin typeface="Times New Roman" panose="02020603050405020304" pitchFamily="18" charset="0"/>
                  <a:cs typeface="Times New Roman" panose="02020603050405020304" pitchFamily="18" charset="0"/>
                </a:rPr>
                <a:t>L</a:t>
              </a:r>
              <a:endParaRPr lang="en-US" altLang="zh-CN" b="1" dirty="0">
                <a:solidFill>
                  <a:schemeClr val="bg1"/>
                </a:solidFill>
                <a:latin typeface="Times New Roman" panose="02020603050405020304" pitchFamily="18" charset="0"/>
                <a:cs typeface="Times New Roman" panose="02020603050405020304" pitchFamily="18" charset="0"/>
              </a:endParaRPr>
            </a:p>
          </p:txBody>
        </p:sp>
        <p:sp>
          <p:nvSpPr>
            <p:cNvPr id="10" name="椭圆 130057"/>
            <p:cNvSpPr>
              <a:spLocks noChangeArrowheads="1"/>
            </p:cNvSpPr>
            <p:nvPr/>
          </p:nvSpPr>
          <p:spPr bwMode="auto">
            <a:xfrm>
              <a:off x="3546" y="1800"/>
              <a:ext cx="486" cy="504"/>
            </a:xfrm>
            <a:prstGeom prst="ellipse">
              <a:avLst/>
            </a:prstGeom>
            <a:solidFill>
              <a:schemeClr val="accent1"/>
            </a:solidFill>
            <a:ln w="12700">
              <a:solidFill>
                <a:schemeClr val="bg2"/>
              </a:solidFill>
              <a:round/>
            </a:ln>
          </p:spPr>
          <p:txBody>
            <a:bodyPr/>
            <a:lstStyle/>
            <a:p>
              <a:endParaRPr lang="zh-CN" altLang="en-US"/>
            </a:p>
          </p:txBody>
        </p:sp>
        <p:sp>
          <p:nvSpPr>
            <p:cNvPr id="11" name="下箭头 130058"/>
            <p:cNvSpPr>
              <a:spLocks noChangeArrowheads="1"/>
            </p:cNvSpPr>
            <p:nvPr/>
          </p:nvSpPr>
          <p:spPr bwMode="auto">
            <a:xfrm>
              <a:off x="3636" y="1416"/>
              <a:ext cx="306" cy="390"/>
            </a:xfrm>
            <a:prstGeom prst="downArrow">
              <a:avLst>
                <a:gd name="adj1" fmla="val 50000"/>
                <a:gd name="adj2" fmla="val 31851"/>
              </a:avLst>
            </a:prstGeom>
            <a:solidFill>
              <a:schemeClr val="tx2"/>
            </a:solidFill>
            <a:ln w="12700">
              <a:solidFill>
                <a:schemeClr val="bg2"/>
              </a:solidFill>
              <a:miter lim="800000"/>
            </a:ln>
          </p:spPr>
          <p:txBody>
            <a:bodyPr/>
            <a:lstStyle/>
            <a:p>
              <a:endParaRPr lang="zh-CN" altLang="en-US"/>
            </a:p>
          </p:txBody>
        </p:sp>
        <p:sp>
          <p:nvSpPr>
            <p:cNvPr id="12" name="下箭头 130059"/>
            <p:cNvSpPr>
              <a:spLocks noChangeArrowheads="1"/>
            </p:cNvSpPr>
            <p:nvPr/>
          </p:nvSpPr>
          <p:spPr bwMode="auto">
            <a:xfrm>
              <a:off x="3696" y="2298"/>
              <a:ext cx="186" cy="390"/>
            </a:xfrm>
            <a:prstGeom prst="downArrow">
              <a:avLst>
                <a:gd name="adj1" fmla="val 50000"/>
                <a:gd name="adj2" fmla="val 52400"/>
              </a:avLst>
            </a:prstGeom>
            <a:solidFill>
              <a:schemeClr val="tx2"/>
            </a:solidFill>
            <a:ln w="12700">
              <a:solidFill>
                <a:schemeClr val="bg2"/>
              </a:solidFill>
              <a:miter lim="800000"/>
            </a:ln>
          </p:spPr>
          <p:txBody>
            <a:bodyPr/>
            <a:lstStyle/>
            <a:p>
              <a:endParaRPr lang="zh-CN" altLang="en-US"/>
            </a:p>
          </p:txBody>
        </p:sp>
        <p:sp>
          <p:nvSpPr>
            <p:cNvPr id="13" name="右箭头 130060"/>
            <p:cNvSpPr>
              <a:spLocks noChangeArrowheads="1"/>
            </p:cNvSpPr>
            <p:nvPr/>
          </p:nvSpPr>
          <p:spPr bwMode="auto">
            <a:xfrm>
              <a:off x="4020" y="1956"/>
              <a:ext cx="552" cy="162"/>
            </a:xfrm>
            <a:prstGeom prst="rightArrow">
              <a:avLst>
                <a:gd name="adj1" fmla="val 50000"/>
                <a:gd name="adj2" fmla="val 85154"/>
              </a:avLst>
            </a:prstGeom>
            <a:solidFill>
              <a:schemeClr val="tx2"/>
            </a:solidFill>
            <a:ln w="12700">
              <a:solidFill>
                <a:schemeClr val="bg2"/>
              </a:solidFill>
              <a:miter lim="800000"/>
            </a:ln>
          </p:spPr>
          <p:txBody>
            <a:bodyPr/>
            <a:lstStyle/>
            <a:p>
              <a:endParaRPr lang="zh-CN" altLang="en-US"/>
            </a:p>
          </p:txBody>
        </p:sp>
        <p:sp>
          <p:nvSpPr>
            <p:cNvPr id="14" name="文本框 130061"/>
            <p:cNvSpPr txBox="1">
              <a:spLocks noChangeArrowheads="1"/>
            </p:cNvSpPr>
            <p:nvPr/>
          </p:nvSpPr>
          <p:spPr bwMode="auto">
            <a:xfrm>
              <a:off x="3356" y="1518"/>
              <a:ext cx="4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90000"/>
                </a:lnSpc>
                <a:spcBef>
                  <a:spcPct val="50000"/>
                </a:spcBef>
                <a:buClr>
                  <a:schemeClr val="accent1"/>
                </a:buClr>
                <a:buSzPct val="75000"/>
                <a:buFont typeface="Monotype Sorts" pitchFamily="2" charset="2"/>
                <a:buNone/>
              </a:pPr>
              <a:r>
                <a:rPr lang="en-US" altLang="zh-CN" b="1" i="1" dirty="0" smtClean="0">
                  <a:solidFill>
                    <a:schemeClr val="tx2"/>
                  </a:solidFill>
                  <a:latin typeface="Times New Roman" panose="02020603050405020304" pitchFamily="18" charset="0"/>
                  <a:cs typeface="Times New Roman" panose="02020603050405020304" pitchFamily="18" charset="0"/>
                </a:rPr>
                <a:t>Q</a:t>
              </a:r>
              <a:r>
                <a:rPr lang="en-US" altLang="zh-CN" b="1" baseline="-25000" dirty="0" smtClean="0">
                  <a:solidFill>
                    <a:schemeClr val="tx2"/>
                  </a:solidFill>
                  <a:latin typeface="Times New Roman" panose="02020603050405020304" pitchFamily="18" charset="0"/>
                  <a:cs typeface="Times New Roman" panose="02020603050405020304" pitchFamily="18" charset="0"/>
                </a:rPr>
                <a:t>H</a:t>
              </a:r>
              <a:endParaRPr lang="en-US" altLang="zh-CN" b="1" dirty="0">
                <a:solidFill>
                  <a:schemeClr val="tx2"/>
                </a:solidFill>
                <a:latin typeface="Times New Roman" panose="02020603050405020304" pitchFamily="18" charset="0"/>
                <a:cs typeface="Times New Roman" panose="02020603050405020304" pitchFamily="18" charset="0"/>
              </a:endParaRPr>
            </a:p>
          </p:txBody>
        </p:sp>
        <p:sp>
          <p:nvSpPr>
            <p:cNvPr id="15" name="文本框 130062"/>
            <p:cNvSpPr txBox="1">
              <a:spLocks noChangeArrowheads="1"/>
            </p:cNvSpPr>
            <p:nvPr/>
          </p:nvSpPr>
          <p:spPr bwMode="auto">
            <a:xfrm>
              <a:off x="3422" y="2352"/>
              <a:ext cx="4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90000"/>
                </a:lnSpc>
                <a:spcBef>
                  <a:spcPct val="50000"/>
                </a:spcBef>
                <a:buClr>
                  <a:schemeClr val="accent1"/>
                </a:buClr>
                <a:buSzPct val="75000"/>
                <a:buFont typeface="Monotype Sorts" pitchFamily="2" charset="2"/>
                <a:buNone/>
              </a:pPr>
              <a:r>
                <a:rPr lang="en-US" altLang="zh-CN" b="1" i="1" dirty="0" smtClean="0">
                  <a:solidFill>
                    <a:schemeClr val="tx2"/>
                  </a:solidFill>
                  <a:latin typeface="Times New Roman" panose="02020603050405020304" pitchFamily="18" charset="0"/>
                  <a:cs typeface="Times New Roman" panose="02020603050405020304" pitchFamily="18" charset="0"/>
                </a:rPr>
                <a:t>Q</a:t>
              </a:r>
              <a:r>
                <a:rPr lang="en-US" altLang="zh-CN" b="1" baseline="-25000" dirty="0" smtClean="0">
                  <a:solidFill>
                    <a:schemeClr val="tx2"/>
                  </a:solidFill>
                  <a:latin typeface="Times New Roman" panose="02020603050405020304" pitchFamily="18" charset="0"/>
                  <a:cs typeface="Times New Roman" panose="02020603050405020304" pitchFamily="18" charset="0"/>
                </a:rPr>
                <a:t>L</a:t>
              </a:r>
              <a:endParaRPr lang="en-US" altLang="zh-CN" b="1" dirty="0">
                <a:solidFill>
                  <a:schemeClr val="tx2"/>
                </a:solidFill>
                <a:latin typeface="Times New Roman" panose="02020603050405020304" pitchFamily="18" charset="0"/>
                <a:cs typeface="Times New Roman" panose="02020603050405020304" pitchFamily="18" charset="0"/>
              </a:endParaRPr>
            </a:p>
          </p:txBody>
        </p:sp>
        <p:sp>
          <p:nvSpPr>
            <p:cNvPr id="16" name="文本框 130063"/>
            <p:cNvSpPr txBox="1">
              <a:spLocks noChangeArrowheads="1"/>
            </p:cNvSpPr>
            <p:nvPr/>
          </p:nvSpPr>
          <p:spPr bwMode="auto">
            <a:xfrm>
              <a:off x="4102" y="2094"/>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eaLnBrk="0" hangingPunct="0">
                <a:lnSpc>
                  <a:spcPct val="90000"/>
                </a:lnSpc>
                <a:spcBef>
                  <a:spcPct val="50000"/>
                </a:spcBef>
                <a:buClr>
                  <a:schemeClr val="accent1"/>
                </a:buClr>
                <a:buSzPct val="75000"/>
                <a:buFont typeface="Monotype Sorts" pitchFamily="2" charset="2"/>
                <a:buNone/>
              </a:pPr>
              <a:r>
                <a:rPr lang="en-US" altLang="zh-CN" b="1" i="1" dirty="0" err="1" smtClean="0">
                  <a:solidFill>
                    <a:schemeClr val="tx2"/>
                  </a:solidFill>
                  <a:latin typeface="Times New Roman" panose="02020603050405020304" pitchFamily="18" charset="0"/>
                  <a:cs typeface="Times New Roman" panose="02020603050405020304" pitchFamily="18" charset="0"/>
                </a:rPr>
                <a:t>W</a:t>
              </a:r>
              <a:r>
                <a:rPr lang="en-US" altLang="zh-CN" b="1" baseline="-25000" dirty="0" err="1" smtClean="0">
                  <a:solidFill>
                    <a:schemeClr val="tx2"/>
                  </a:solidFill>
                  <a:latin typeface="Times New Roman" panose="02020603050405020304" pitchFamily="18" charset="0"/>
                  <a:cs typeface="Times New Roman" panose="02020603050405020304" pitchFamily="18" charset="0"/>
                </a:rPr>
                <a:t>net</a:t>
              </a:r>
              <a:endParaRPr lang="en-US" altLang="zh-CN" b="1" baseline="-25000" dirty="0">
                <a:solidFill>
                  <a:schemeClr val="tx2"/>
                </a:solidFill>
                <a:latin typeface="Times New Roman" panose="02020603050405020304" pitchFamily="18" charset="0"/>
                <a:cs typeface="Times New Roman" panose="02020603050405020304" pitchFamily="18" charset="0"/>
              </a:endParaRPr>
            </a:p>
          </p:txBody>
        </p:sp>
      </p:grpSp>
      <p:grpSp>
        <p:nvGrpSpPr>
          <p:cNvPr id="17" name="组合 130065"/>
          <p:cNvGrpSpPr/>
          <p:nvPr/>
        </p:nvGrpSpPr>
        <p:grpSpPr bwMode="auto">
          <a:xfrm>
            <a:off x="5016500" y="3505201"/>
            <a:ext cx="2070100" cy="2017713"/>
            <a:chOff x="3648" y="2016"/>
            <a:chExt cx="1304" cy="1271"/>
          </a:xfrm>
        </p:grpSpPr>
        <p:sp>
          <p:nvSpPr>
            <p:cNvPr id="18" name="矩形 130066"/>
            <p:cNvSpPr>
              <a:spLocks noChangeArrowheads="1"/>
            </p:cNvSpPr>
            <p:nvPr/>
          </p:nvSpPr>
          <p:spPr bwMode="auto">
            <a:xfrm>
              <a:off x="3648" y="2016"/>
              <a:ext cx="1044" cy="300"/>
            </a:xfrm>
            <a:prstGeom prst="rect">
              <a:avLst/>
            </a:prstGeom>
            <a:solidFill>
              <a:srgbClr val="FF0066"/>
            </a:solidFill>
            <a:ln w="12700">
              <a:solidFill>
                <a:schemeClr val="bg2"/>
              </a:solidFill>
              <a:miter lim="800000"/>
            </a:ln>
          </p:spPr>
          <p:txBody>
            <a:bodyPr/>
            <a:lstStyle/>
            <a:p>
              <a:endParaRPr lang="zh-CN" altLang="en-US"/>
            </a:p>
          </p:txBody>
        </p:sp>
        <p:sp>
          <p:nvSpPr>
            <p:cNvPr id="19" name="文本框 130067"/>
            <p:cNvSpPr txBox="1">
              <a:spLocks noChangeArrowheads="1"/>
            </p:cNvSpPr>
            <p:nvPr/>
          </p:nvSpPr>
          <p:spPr bwMode="auto">
            <a:xfrm>
              <a:off x="3950" y="2046"/>
              <a:ext cx="4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90000"/>
                </a:lnSpc>
                <a:spcBef>
                  <a:spcPct val="50000"/>
                </a:spcBef>
                <a:buClr>
                  <a:schemeClr val="accent1"/>
                </a:buClr>
                <a:buSzPct val="75000"/>
                <a:buFont typeface="Monotype Sorts" pitchFamily="2" charset="2"/>
                <a:buNone/>
              </a:pPr>
              <a:r>
                <a:rPr lang="en-US" altLang="zh-CN" b="1" i="1" dirty="0">
                  <a:latin typeface="Times New Roman" panose="02020603050405020304" pitchFamily="18" charset="0"/>
                  <a:cs typeface="Times New Roman" panose="02020603050405020304" pitchFamily="18" charset="0"/>
                </a:rPr>
                <a:t>T</a:t>
              </a:r>
              <a:r>
                <a:rPr lang="en-US" altLang="zh-CN" b="1" baseline="-25000" dirty="0">
                  <a:latin typeface="Times New Roman" panose="02020603050405020304" pitchFamily="18" charset="0"/>
                  <a:cs typeface="Times New Roman" panose="02020603050405020304" pitchFamily="18" charset="0"/>
                </a:rPr>
                <a:t>H</a:t>
              </a:r>
              <a:endParaRPr lang="en-US" altLang="zh-CN" b="1" dirty="0">
                <a:latin typeface="Times New Roman" panose="02020603050405020304" pitchFamily="18" charset="0"/>
                <a:cs typeface="Times New Roman" panose="02020603050405020304" pitchFamily="18" charset="0"/>
              </a:endParaRPr>
            </a:p>
          </p:txBody>
        </p:sp>
        <p:sp>
          <p:nvSpPr>
            <p:cNvPr id="20" name="下箭头 130068"/>
            <p:cNvSpPr>
              <a:spLocks noChangeArrowheads="1"/>
            </p:cNvSpPr>
            <p:nvPr/>
          </p:nvSpPr>
          <p:spPr bwMode="auto">
            <a:xfrm>
              <a:off x="3996" y="2310"/>
              <a:ext cx="306" cy="390"/>
            </a:xfrm>
            <a:prstGeom prst="downArrow">
              <a:avLst>
                <a:gd name="adj1" fmla="val 50000"/>
                <a:gd name="adj2" fmla="val 31851"/>
              </a:avLst>
            </a:prstGeom>
            <a:solidFill>
              <a:schemeClr val="tx2"/>
            </a:solidFill>
            <a:ln w="12700">
              <a:solidFill>
                <a:schemeClr val="bg2"/>
              </a:solidFill>
              <a:miter lim="800000"/>
            </a:ln>
          </p:spPr>
          <p:txBody>
            <a:bodyPr/>
            <a:lstStyle/>
            <a:p>
              <a:endParaRPr lang="zh-CN" altLang="en-US"/>
            </a:p>
          </p:txBody>
        </p:sp>
        <p:sp>
          <p:nvSpPr>
            <p:cNvPr id="21" name="文本框 130069"/>
            <p:cNvSpPr txBox="1">
              <a:spLocks noChangeArrowheads="1"/>
            </p:cNvSpPr>
            <p:nvPr/>
          </p:nvSpPr>
          <p:spPr bwMode="auto">
            <a:xfrm>
              <a:off x="3716" y="2412"/>
              <a:ext cx="4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lnSpc>
                  <a:spcPct val="90000"/>
                </a:lnSpc>
                <a:spcBef>
                  <a:spcPct val="50000"/>
                </a:spcBef>
                <a:buClr>
                  <a:schemeClr val="accent1"/>
                </a:buClr>
                <a:buSzPct val="75000"/>
                <a:buFont typeface="Monotype Sorts" pitchFamily="2" charset="2"/>
                <a:buNone/>
              </a:pPr>
              <a:r>
                <a:rPr lang="en-US" altLang="zh-CN" b="1" i="1" dirty="0">
                  <a:solidFill>
                    <a:schemeClr val="tx2"/>
                  </a:solidFill>
                  <a:latin typeface="Times New Roman" panose="02020603050405020304" pitchFamily="18" charset="0"/>
                  <a:cs typeface="Times New Roman" panose="02020603050405020304" pitchFamily="18" charset="0"/>
                </a:rPr>
                <a:t>Q</a:t>
              </a:r>
              <a:r>
                <a:rPr lang="en-US" altLang="zh-CN" b="1" baseline="-25000" dirty="0">
                  <a:solidFill>
                    <a:schemeClr val="tx2"/>
                  </a:solidFill>
                  <a:latin typeface="Times New Roman" panose="02020603050405020304" pitchFamily="18" charset="0"/>
                  <a:cs typeface="Times New Roman" panose="02020603050405020304" pitchFamily="18" charset="0"/>
                </a:rPr>
                <a:t>H</a:t>
              </a:r>
              <a:endParaRPr lang="en-US" altLang="zh-CN" b="1" dirty="0">
                <a:solidFill>
                  <a:schemeClr val="tx2"/>
                </a:solidFill>
                <a:latin typeface="Times New Roman" panose="02020603050405020304" pitchFamily="18" charset="0"/>
                <a:cs typeface="Times New Roman" panose="02020603050405020304" pitchFamily="18" charset="0"/>
              </a:endParaRPr>
            </a:p>
          </p:txBody>
        </p:sp>
        <p:sp>
          <p:nvSpPr>
            <p:cNvPr id="22" name="文本框 130070"/>
            <p:cNvSpPr txBox="1">
              <a:spLocks noChangeArrowheads="1"/>
            </p:cNvSpPr>
            <p:nvPr/>
          </p:nvSpPr>
          <p:spPr bwMode="auto">
            <a:xfrm>
              <a:off x="4449" y="3072"/>
              <a:ext cx="503"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eaLnBrk="0" hangingPunct="0">
                <a:lnSpc>
                  <a:spcPct val="90000"/>
                </a:lnSpc>
                <a:spcBef>
                  <a:spcPct val="50000"/>
                </a:spcBef>
                <a:buClr>
                  <a:schemeClr val="accent1"/>
                </a:buClr>
                <a:buSzPct val="75000"/>
                <a:buFont typeface="Monotype Sorts" pitchFamily="2" charset="2"/>
                <a:buNone/>
              </a:pPr>
              <a:r>
                <a:rPr lang="en-US" altLang="zh-CN" b="1" i="1" dirty="0" err="1">
                  <a:solidFill>
                    <a:schemeClr val="tx2"/>
                  </a:solidFill>
                  <a:latin typeface="Times New Roman" panose="02020603050405020304" pitchFamily="18" charset="0"/>
                  <a:cs typeface="Times New Roman" panose="02020603050405020304" pitchFamily="18" charset="0"/>
                </a:rPr>
                <a:t>W</a:t>
              </a:r>
              <a:r>
                <a:rPr lang="en-US" altLang="zh-CN" b="1" baseline="-25000" dirty="0" err="1">
                  <a:solidFill>
                    <a:schemeClr val="tx2"/>
                  </a:solidFill>
                  <a:latin typeface="Times New Roman" panose="02020603050405020304" pitchFamily="18" charset="0"/>
                  <a:cs typeface="Times New Roman" panose="02020603050405020304" pitchFamily="18" charset="0"/>
                </a:rPr>
                <a:t>net</a:t>
              </a:r>
              <a:endParaRPr lang="en-US" altLang="zh-CN" b="1" baseline="-25000" dirty="0">
                <a:solidFill>
                  <a:schemeClr val="tx2"/>
                </a:solidFill>
                <a:latin typeface="Times New Roman" panose="02020603050405020304" pitchFamily="18" charset="0"/>
                <a:cs typeface="Times New Roman" panose="02020603050405020304" pitchFamily="18" charset="0"/>
              </a:endParaRPr>
            </a:p>
          </p:txBody>
        </p:sp>
        <p:sp>
          <p:nvSpPr>
            <p:cNvPr id="23" name="下箭头 130071"/>
            <p:cNvSpPr>
              <a:spLocks noChangeArrowheads="1"/>
            </p:cNvSpPr>
            <p:nvPr/>
          </p:nvSpPr>
          <p:spPr bwMode="auto">
            <a:xfrm rot="-5400000">
              <a:off x="4476" y="2676"/>
              <a:ext cx="306" cy="522"/>
            </a:xfrm>
            <a:prstGeom prst="downArrow">
              <a:avLst>
                <a:gd name="adj1" fmla="val 50000"/>
                <a:gd name="adj2" fmla="val 42631"/>
              </a:avLst>
            </a:prstGeom>
            <a:solidFill>
              <a:schemeClr val="tx2"/>
            </a:solidFill>
            <a:ln w="12700">
              <a:solidFill>
                <a:schemeClr val="bg2"/>
              </a:solidFill>
              <a:miter lim="800000"/>
            </a:ln>
          </p:spPr>
          <p:txBody>
            <a:bodyPr/>
            <a:lstStyle/>
            <a:p>
              <a:endParaRPr lang="zh-CN" altLang="en-US"/>
            </a:p>
          </p:txBody>
        </p:sp>
        <p:sp>
          <p:nvSpPr>
            <p:cNvPr id="24" name="椭圆 130072"/>
            <p:cNvSpPr>
              <a:spLocks noChangeArrowheads="1"/>
            </p:cNvSpPr>
            <p:nvPr/>
          </p:nvSpPr>
          <p:spPr bwMode="auto">
            <a:xfrm>
              <a:off x="3906" y="2694"/>
              <a:ext cx="486" cy="504"/>
            </a:xfrm>
            <a:prstGeom prst="ellipse">
              <a:avLst/>
            </a:prstGeom>
            <a:solidFill>
              <a:schemeClr val="accent1"/>
            </a:solidFill>
            <a:ln w="12700">
              <a:solidFill>
                <a:schemeClr val="bg2"/>
              </a:solidFill>
              <a:round/>
            </a:ln>
          </p:spPr>
          <p:txBody>
            <a:bodyPr/>
            <a:lstStyle/>
            <a:p>
              <a:endParaRPr lang="zh-CN" altLang="en-US"/>
            </a:p>
          </p:txBody>
        </p:sp>
      </p:grpSp>
      <p:cxnSp>
        <p:nvCxnSpPr>
          <p:cNvPr id="25" name="直接连接符 24"/>
          <p:cNvCxnSpPr/>
          <p:nvPr/>
        </p:nvCxnSpPr>
        <p:spPr>
          <a:xfrm flipH="1">
            <a:off x="5595178" y="5906673"/>
            <a:ext cx="625475" cy="50047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595178" y="5906673"/>
            <a:ext cx="625475" cy="50047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135171"/>
          <p:cNvSpPr txBox="1"/>
          <p:nvPr/>
        </p:nvSpPr>
        <p:spPr>
          <a:xfrm>
            <a:off x="333857" y="561423"/>
            <a:ext cx="8351838" cy="106680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3200" b="1" dirty="0">
                <a:latin typeface="黑体" panose="02010609060101010101" pitchFamily="49" charset="-122"/>
                <a:ea typeface="黑体" panose="02010609060101010101" pitchFamily="49" charset="-122"/>
              </a:rPr>
              <a:t>实际循环</a:t>
            </a:r>
            <a:r>
              <a:rPr lang="zh-CN" altLang="en-US" sz="3200" b="1" dirty="0">
                <a:solidFill>
                  <a:srgbClr val="FF0000"/>
                </a:solidFill>
                <a:latin typeface="黑体" panose="02010609060101010101" pitchFamily="49" charset="-122"/>
                <a:ea typeface="黑体" panose="02010609060101010101" pitchFamily="49" charset="-122"/>
              </a:rPr>
              <a:t>不可能实现</a:t>
            </a:r>
            <a:r>
              <a:rPr lang="zh-CN" altLang="en-US" sz="3200" b="1" dirty="0">
                <a:latin typeface="黑体" panose="02010609060101010101" pitchFamily="49" charset="-122"/>
                <a:ea typeface="黑体" panose="02010609060101010101" pitchFamily="49" charset="-122"/>
              </a:rPr>
              <a:t>卡诺循环，但卡诺循环及卡诺效率在热力学发展中具有重要</a:t>
            </a:r>
            <a:r>
              <a:rPr lang="zh-CN" altLang="en-US" sz="3200" b="1" dirty="0" smtClean="0">
                <a:latin typeface="黑体" panose="02010609060101010101" pitchFamily="49" charset="-122"/>
                <a:ea typeface="黑体" panose="02010609060101010101" pitchFamily="49" charset="-122"/>
              </a:rPr>
              <a:t>意义： </a:t>
            </a:r>
            <a:endParaRPr lang="zh-CN" altLang="en-US" sz="3200" b="1" dirty="0">
              <a:latin typeface="黑体" panose="02010609060101010101" pitchFamily="49" charset="-122"/>
              <a:ea typeface="黑体" panose="02010609060101010101" pitchFamily="49" charset="-122"/>
            </a:endParaRPr>
          </a:p>
        </p:txBody>
      </p:sp>
      <p:sp>
        <p:nvSpPr>
          <p:cNvPr id="10" name="文本框 135171"/>
          <p:cNvSpPr txBox="1"/>
          <p:nvPr/>
        </p:nvSpPr>
        <p:spPr>
          <a:xfrm>
            <a:off x="398669" y="1945516"/>
            <a:ext cx="8351837" cy="2554545"/>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en-US" altLang="zh-CN" sz="3200" b="1" dirty="0">
                <a:latin typeface="黑体" panose="02010609060101010101" pitchFamily="49" charset="-122"/>
                <a:ea typeface="黑体" panose="02010609060101010101" pitchFamily="49" charset="-122"/>
              </a:rPr>
              <a:t>1</a:t>
            </a:r>
            <a:r>
              <a:rPr lang="zh-CN" altLang="en-US" sz="3200" b="1" dirty="0">
                <a:latin typeface="黑体" panose="02010609060101010101" pitchFamily="49" charset="-122"/>
                <a:ea typeface="黑体" panose="02010609060101010101" pitchFamily="49" charset="-122"/>
              </a:rPr>
              <a:t>、它给出了工作在两个热源间的任意热机热效率的</a:t>
            </a:r>
            <a:r>
              <a:rPr lang="zh-CN" altLang="en-US" sz="3200" b="1" dirty="0" smtClean="0">
                <a:latin typeface="黑体" panose="02010609060101010101" pitchFamily="49" charset="-122"/>
                <a:ea typeface="黑体" panose="02010609060101010101" pitchFamily="49" charset="-122"/>
              </a:rPr>
              <a:t>上限；</a:t>
            </a:r>
            <a:endParaRPr lang="zh-CN" altLang="en-US" sz="3200" b="1" dirty="0">
              <a:latin typeface="黑体" panose="02010609060101010101" pitchFamily="49" charset="-122"/>
              <a:ea typeface="黑体" panose="02010609060101010101" pitchFamily="49" charset="-122"/>
            </a:endParaRPr>
          </a:p>
          <a:p>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、为提高各种热机的热效率指出了方向，即尽可能提高工质的吸热温度；尽可能降低工质的放热</a:t>
            </a:r>
            <a:r>
              <a:rPr lang="zh-CN" altLang="en-US" sz="3200" b="1" dirty="0" smtClean="0">
                <a:latin typeface="黑体" panose="02010609060101010101" pitchFamily="49" charset="-122"/>
                <a:ea typeface="黑体" panose="02010609060101010101" pitchFamily="49" charset="-122"/>
              </a:rPr>
              <a:t>温度。</a:t>
            </a:r>
            <a:endParaRPr lang="zh-CN" altLang="en-US" sz="3200" b="1" dirty="0">
              <a:latin typeface="黑体" panose="02010609060101010101" pitchFamily="49" charset="-122"/>
              <a:ea typeface="黑体" panose="02010609060101010101" pitchFamily="49" charset="-122"/>
            </a:endParaRPr>
          </a:p>
        </p:txBody>
      </p:sp>
    </p:spTree>
    <p:custDataLst>
      <p:tags r:id="rId1"/>
    </p:custDataLst>
    <p:extLst>
      <p:ext uri="{BB962C8B-B14F-4D97-AF65-F5344CB8AC3E}">
        <p14:creationId xmlns:p14="http://schemas.microsoft.com/office/powerpoint/2010/main" val="2341205909"/>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136196"/>
          <p:cNvSpPr>
            <a:spLocks noChangeArrowheads="1"/>
          </p:cNvSpPr>
          <p:nvPr/>
        </p:nvSpPr>
        <p:spPr bwMode="auto">
          <a:xfrm>
            <a:off x="0" y="2309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877" name="矩形 13620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 name="矩形 123908"/>
          <p:cNvSpPr>
            <a:spLocks noChangeArrowheads="1"/>
          </p:cNvSpPr>
          <p:nvPr/>
        </p:nvSpPr>
        <p:spPr bwMode="auto">
          <a:xfrm>
            <a:off x="432421" y="261000"/>
            <a:ext cx="342754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600" b="1" dirty="0" smtClean="0">
                <a:latin typeface="黑体" panose="02010609060101010101" pitchFamily="49" charset="-122"/>
                <a:ea typeface="黑体" panose="02010609060101010101" pitchFamily="49" charset="-122"/>
              </a:rPr>
              <a:t>二、逆卡诺循环</a:t>
            </a:r>
            <a:endParaRPr lang="zh-CN" altLang="en-US" sz="3600" b="1" dirty="0">
              <a:latin typeface="黑体" panose="02010609060101010101" pitchFamily="49" charset="-122"/>
              <a:ea typeface="黑体" panose="02010609060101010101" pitchFamily="49" charset="-122"/>
            </a:endParaRPr>
          </a:p>
        </p:txBody>
      </p:sp>
      <p:sp>
        <p:nvSpPr>
          <p:cNvPr id="15" name="文本框 135171"/>
          <p:cNvSpPr txBox="1">
            <a:spLocks noChangeArrowheads="1"/>
          </p:cNvSpPr>
          <p:nvPr/>
        </p:nvSpPr>
        <p:spPr bwMode="auto">
          <a:xfrm>
            <a:off x="361528" y="4645512"/>
            <a:ext cx="8220286"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latin typeface="黑体" panose="02010609060101010101" pitchFamily="49" charset="-122"/>
                <a:ea typeface="黑体" panose="02010609060101010101" pitchFamily="49" charset="-122"/>
              </a:rPr>
              <a:t>如果</a:t>
            </a:r>
            <a:r>
              <a:rPr lang="zh-CN" altLang="en-US" sz="2800" b="1" dirty="0" smtClean="0">
                <a:latin typeface="黑体" panose="02010609060101010101" pitchFamily="49" charset="-122"/>
                <a:ea typeface="黑体" panose="02010609060101010101" pitchFamily="49" charset="-122"/>
              </a:rPr>
              <a:t>卡诺循环沿反方向运行，如图所示，即外界对工质做净功</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W</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net</a:t>
            </a:r>
            <a:r>
              <a:rPr lang="zh-CN" altLang="en-US" sz="2800" b="1" dirty="0" smtClean="0">
                <a:latin typeface="黑体" panose="02010609060101010101" pitchFamily="49" charset="-122"/>
                <a:ea typeface="黑体" panose="02010609060101010101" pitchFamily="49" charset="-122"/>
              </a:rPr>
              <a:t>，使得热量</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Q</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L</a:t>
            </a:r>
            <a:r>
              <a:rPr lang="zh-CN" altLang="en-US" sz="2800" b="1" dirty="0" smtClean="0">
                <a:latin typeface="黑体" panose="02010609060101010101" pitchFamily="49" charset="-122"/>
                <a:ea typeface="黑体" panose="02010609060101010101" pitchFamily="49" charset="-122"/>
              </a:rPr>
              <a:t>从温度为</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L</a:t>
            </a:r>
            <a:r>
              <a:rPr lang="zh-CN" altLang="en-US" sz="2800" b="1" dirty="0" smtClean="0">
                <a:latin typeface="黑体" panose="02010609060101010101" pitchFamily="49" charset="-122"/>
                <a:ea typeface="黑体" panose="02010609060101010101" pitchFamily="49" charset="-122"/>
              </a:rPr>
              <a:t>的冷源传至温度为</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2800" b="1" dirty="0" smtClean="0">
                <a:latin typeface="黑体" panose="02010609060101010101" pitchFamily="49" charset="-122"/>
                <a:ea typeface="黑体" panose="02010609060101010101" pitchFamily="49" charset="-122"/>
              </a:rPr>
              <a:t>的热源，则所构成的循环称为逆卡诺循环（</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reversed Carnot cycle</a:t>
            </a:r>
            <a:r>
              <a:rPr lang="zh-CN" altLang="en-US" sz="2800" b="1" dirty="0" smtClean="0">
                <a:latin typeface="黑体" panose="02010609060101010101" pitchFamily="49" charset="-122"/>
                <a:ea typeface="黑体" panose="02010609060101010101" pitchFamily="49" charset="-122"/>
              </a:rPr>
              <a:t>）。</a:t>
            </a:r>
            <a:endParaRPr lang="zh-CN" altLang="en-US" sz="2400" b="1" dirty="0">
              <a:solidFill>
                <a:srgbClr val="FF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6878" y="1231654"/>
            <a:ext cx="3889585" cy="310922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36193"/>
          <p:cNvSpPr>
            <a:spLocks noGrp="1" noChangeArrowheads="1"/>
          </p:cNvSpPr>
          <p:nvPr>
            <p:ph type="title"/>
          </p:nvPr>
        </p:nvSpPr>
        <p:spPr>
          <a:xfrm>
            <a:off x="637347" y="269544"/>
            <a:ext cx="8229600" cy="1143000"/>
          </a:xfrm>
        </p:spPr>
        <p:txBody>
          <a:bodyPr>
            <a:normAutofit/>
          </a:bodyPr>
          <a:lstStyle/>
          <a:p>
            <a:r>
              <a:rPr lang="zh-CN" altLang="en-US" sz="2800" b="1" dirty="0" smtClean="0">
                <a:ea typeface="黑体" panose="02010609060101010101" pitchFamily="49" charset="-122"/>
              </a:rPr>
              <a:t>实施逆卡诺循环的制冷机或热泵称为卡诺制冷机或卡诺热泵</a:t>
            </a:r>
          </a:p>
        </p:txBody>
      </p:sp>
      <p:sp>
        <p:nvSpPr>
          <p:cNvPr id="79874" name="矩形 136196"/>
          <p:cNvSpPr>
            <a:spLocks noChangeArrowheads="1"/>
          </p:cNvSpPr>
          <p:nvPr/>
        </p:nvSpPr>
        <p:spPr bwMode="auto">
          <a:xfrm>
            <a:off x="0" y="2309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877" name="矩形 13620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9" name="组合 8"/>
          <p:cNvGrpSpPr/>
          <p:nvPr/>
        </p:nvGrpSpPr>
        <p:grpSpPr>
          <a:xfrm>
            <a:off x="428310" y="5382004"/>
            <a:ext cx="3168770" cy="917575"/>
            <a:chOff x="428310" y="5382004"/>
            <a:chExt cx="3168770" cy="917575"/>
          </a:xfrm>
        </p:grpSpPr>
        <p:graphicFrame>
          <p:nvGraphicFramePr>
            <p:cNvPr id="79878" name="对象 136199"/>
            <p:cNvGraphicFramePr/>
            <p:nvPr/>
          </p:nvGraphicFramePr>
          <p:xfrm>
            <a:off x="1904805" y="5382004"/>
            <a:ext cx="1692275" cy="917575"/>
          </p:xfrm>
          <a:graphic>
            <a:graphicData uri="http://schemas.openxmlformats.org/presentationml/2006/ole">
              <mc:AlternateContent xmlns:mc="http://schemas.openxmlformats.org/markup-compatibility/2006">
                <mc:Choice xmlns:v="urn:schemas-microsoft-com:vml" Requires="v">
                  <p:oleObj spid="_x0000_s41059" r:id="rId4" imgW="787400" imgH="431800" progId="Equation.DSMT4">
                    <p:embed/>
                  </p:oleObj>
                </mc:Choice>
                <mc:Fallback>
                  <p:oleObj r:id="rId4" imgW="787400" imgH="431800" progId="Equation.DSMT4">
                    <p:embed/>
                    <p:pic>
                      <p:nvPicPr>
                        <p:cNvPr id="0" name="对象 13619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4805" y="5382004"/>
                          <a:ext cx="169227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79" name="矩形 136201"/>
            <p:cNvSpPr>
              <a:spLocks noChangeArrowheads="1"/>
            </p:cNvSpPr>
            <p:nvPr/>
          </p:nvSpPr>
          <p:spPr bwMode="auto">
            <a:xfrm>
              <a:off x="428310" y="5591172"/>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smtClean="0">
                  <a:latin typeface="黑体" panose="02010609060101010101" pitchFamily="49" charset="-122"/>
                  <a:ea typeface="黑体" panose="02010609060101010101" pitchFamily="49" charset="-122"/>
                </a:rPr>
                <a:t>制冷系数</a:t>
              </a:r>
              <a:endParaRPr lang="zh-CN" altLang="en-US" sz="2400" b="1" dirty="0">
                <a:latin typeface="黑体" panose="02010609060101010101" pitchFamily="49" charset="-122"/>
                <a:ea typeface="黑体" panose="02010609060101010101" pitchFamily="49" charset="-122"/>
              </a:endParaRPr>
            </a:p>
          </p:txBody>
        </p:sp>
      </p:grpSp>
      <p:sp>
        <p:nvSpPr>
          <p:cNvPr id="79881" name="矩形 136205"/>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10" name="组合 9"/>
          <p:cNvGrpSpPr/>
          <p:nvPr/>
        </p:nvGrpSpPr>
        <p:grpSpPr>
          <a:xfrm>
            <a:off x="5361678" y="5388870"/>
            <a:ext cx="3195222" cy="860425"/>
            <a:chOff x="5262288" y="5309358"/>
            <a:chExt cx="3195222" cy="860425"/>
          </a:xfrm>
        </p:grpSpPr>
        <p:sp>
          <p:nvSpPr>
            <p:cNvPr id="79880" name="矩形 136203"/>
            <p:cNvSpPr>
              <a:spLocks noChangeArrowheads="1"/>
            </p:cNvSpPr>
            <p:nvPr/>
          </p:nvSpPr>
          <p:spPr bwMode="auto">
            <a:xfrm>
              <a:off x="5262288" y="5508739"/>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smtClean="0">
                  <a:latin typeface="黑体" panose="02010609060101010101" pitchFamily="49" charset="-122"/>
                  <a:ea typeface="黑体" panose="02010609060101010101" pitchFamily="49" charset="-122"/>
                </a:rPr>
                <a:t>供暖系数</a:t>
              </a:r>
              <a:endParaRPr lang="zh-CN" altLang="en-US" sz="2400" b="1" dirty="0">
                <a:latin typeface="黑体" panose="02010609060101010101" pitchFamily="49" charset="-122"/>
                <a:ea typeface="黑体" panose="02010609060101010101" pitchFamily="49" charset="-122"/>
              </a:endParaRPr>
            </a:p>
          </p:txBody>
        </p:sp>
        <p:graphicFrame>
          <p:nvGraphicFramePr>
            <p:cNvPr id="79882" name="对象 136204"/>
            <p:cNvGraphicFramePr/>
            <p:nvPr/>
          </p:nvGraphicFramePr>
          <p:xfrm>
            <a:off x="6873185" y="5309358"/>
            <a:ext cx="1584325" cy="860425"/>
          </p:xfrm>
          <a:graphic>
            <a:graphicData uri="http://schemas.openxmlformats.org/presentationml/2006/ole">
              <mc:AlternateContent xmlns:mc="http://schemas.openxmlformats.org/markup-compatibility/2006">
                <mc:Choice xmlns:v="urn:schemas-microsoft-com:vml" Requires="v">
                  <p:oleObj spid="_x0000_s41060" r:id="rId6" imgW="787400" imgH="431800" progId="Equation.DSMT4">
                    <p:embed/>
                  </p:oleObj>
                </mc:Choice>
                <mc:Fallback>
                  <p:oleObj r:id="rId6" imgW="787400" imgH="431800" progId="Equation.DSMT4">
                    <p:embed/>
                    <p:pic>
                      <p:nvPicPr>
                        <p:cNvPr id="0" name="对象 13620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73185" y="5309358"/>
                          <a:ext cx="158432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5" name="组合 4"/>
          <p:cNvGrpSpPr/>
          <p:nvPr/>
        </p:nvGrpSpPr>
        <p:grpSpPr>
          <a:xfrm>
            <a:off x="3574574" y="2994991"/>
            <a:ext cx="1848824" cy="2160105"/>
            <a:chOff x="3574574" y="2994991"/>
            <a:chExt cx="1848824" cy="2160105"/>
          </a:xfrm>
        </p:grpSpPr>
        <p:sp>
          <p:nvSpPr>
            <p:cNvPr id="19" name="矩形 18"/>
            <p:cNvSpPr>
              <a:spLocks noChangeArrowheads="1"/>
            </p:cNvSpPr>
            <p:nvPr/>
          </p:nvSpPr>
          <p:spPr bwMode="auto">
            <a:xfrm>
              <a:off x="3574574" y="3136166"/>
              <a:ext cx="184882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ea typeface="黑体" panose="02010609060101010101" pitchFamily="49" charset="-122"/>
                </a:rPr>
                <a:t>利用</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5-5</a:t>
              </a:r>
              <a:r>
                <a:rPr lang="zh-CN" altLang="en-US" sz="2800" b="1" dirty="0" smtClean="0">
                  <a:ea typeface="黑体" panose="02010609060101010101" pitchFamily="49" charset="-122"/>
                </a:rPr>
                <a:t>节所讲内容</a:t>
              </a:r>
              <a:endParaRPr lang="zh-CN" altLang="en-US" sz="2800" dirty="0">
                <a:ea typeface="黑体" panose="02010609060101010101" pitchFamily="49" charset="-122"/>
              </a:endParaRPr>
            </a:p>
          </p:txBody>
        </p:sp>
        <p:graphicFrame>
          <p:nvGraphicFramePr>
            <p:cNvPr id="20" name="对象 19"/>
            <p:cNvGraphicFramePr>
              <a:graphicFrameLocks noChangeAspect="1"/>
            </p:cNvGraphicFramePr>
            <p:nvPr/>
          </p:nvGraphicFramePr>
          <p:xfrm>
            <a:off x="3853874" y="4149714"/>
            <a:ext cx="1167840" cy="863280"/>
          </p:xfrm>
          <a:graphic>
            <a:graphicData uri="http://schemas.openxmlformats.org/presentationml/2006/ole">
              <mc:AlternateContent xmlns:mc="http://schemas.openxmlformats.org/markup-compatibility/2006">
                <mc:Choice xmlns:v="urn:schemas-microsoft-com:vml" Requires="v">
                  <p:oleObj spid="_x0000_s41061" name="Equation" r:id="rId8" imgW="14020800" imgH="10363200" progId="Equation.DSMT4">
                    <p:embed/>
                  </p:oleObj>
                </mc:Choice>
                <mc:Fallback>
                  <p:oleObj name="Equation" r:id="rId8" imgW="14020800" imgH="10363200" progId="Equation.DSMT4">
                    <p:embed/>
                    <p:pic>
                      <p:nvPicPr>
                        <p:cNvPr id="0" name="对象 19"/>
                        <p:cNvPicPr>
                          <a:picLocks noChangeArrowheads="1"/>
                        </p:cNvPicPr>
                        <p:nvPr/>
                      </p:nvPicPr>
                      <p:blipFill>
                        <a:blip r:embed="rId9"/>
                        <a:srcRect/>
                        <a:stretch>
                          <a:fillRect/>
                        </a:stretch>
                      </p:blipFill>
                      <p:spPr bwMode="auto">
                        <a:xfrm>
                          <a:off x="3853874" y="4149714"/>
                          <a:ext cx="1167840" cy="86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矩形 3"/>
            <p:cNvSpPr/>
            <p:nvPr/>
          </p:nvSpPr>
          <p:spPr>
            <a:xfrm>
              <a:off x="3574574" y="2994991"/>
              <a:ext cx="1848824" cy="21601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下箭头 5"/>
          <p:cNvSpPr/>
          <p:nvPr/>
        </p:nvSpPr>
        <p:spPr>
          <a:xfrm rot="1887417">
            <a:off x="3624827" y="5172525"/>
            <a:ext cx="283716" cy="6724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下箭头 23"/>
          <p:cNvSpPr/>
          <p:nvPr/>
        </p:nvSpPr>
        <p:spPr>
          <a:xfrm rot="20333318">
            <a:off x="5001606" y="5176120"/>
            <a:ext cx="283716" cy="6724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7283" y="1412544"/>
            <a:ext cx="2639797" cy="3596952"/>
          </a:xfrm>
          <a:prstGeom prst="rect">
            <a:avLst/>
          </a:prstGeom>
        </p:spPr>
      </p:pic>
      <p:pic>
        <p:nvPicPr>
          <p:cNvPr id="7" name="图片 6"/>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830060" y="1412544"/>
            <a:ext cx="2633700" cy="3596952"/>
          </a:xfrm>
          <a:prstGeom prst="rect">
            <a:avLst/>
          </a:prstGeom>
        </p:spPr>
      </p:pic>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up)">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136196"/>
          <p:cNvSpPr>
            <a:spLocks noChangeArrowheads="1"/>
          </p:cNvSpPr>
          <p:nvPr/>
        </p:nvSpPr>
        <p:spPr bwMode="auto">
          <a:xfrm>
            <a:off x="0" y="2309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877" name="矩形 13620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881" name="矩形 136205"/>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 name="文本框 135171"/>
          <p:cNvSpPr txBox="1">
            <a:spLocks noChangeArrowheads="1"/>
          </p:cNvSpPr>
          <p:nvPr/>
        </p:nvSpPr>
        <p:spPr bwMode="auto">
          <a:xfrm>
            <a:off x="461857" y="1548825"/>
            <a:ext cx="8220286"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spcBef>
                <a:spcPts val="600"/>
              </a:spcBef>
              <a:buFont typeface="Arial" panose="020B0604020202020204" pitchFamily="34" charset="0"/>
              <a:buChar char="•"/>
            </a:pPr>
            <a:r>
              <a:rPr lang="zh-CN" altLang="en-US" sz="2800" b="1" dirty="0" smtClean="0">
                <a:ea typeface="黑体" panose="02010609060101010101" pitchFamily="49" charset="-122"/>
              </a:rPr>
              <a:t>卡诺循环</a:t>
            </a:r>
            <a:r>
              <a:rPr lang="zh-CN" altLang="en-US" sz="2800" b="1" dirty="0">
                <a:ea typeface="黑体" panose="02010609060101010101" pitchFamily="49" charset="-122"/>
              </a:rPr>
              <a:t>的热效率是工作在相同的热源和相同的冷源间的一切</a:t>
            </a:r>
            <a:r>
              <a:rPr lang="zh-CN" altLang="en-US" sz="2800" b="1" dirty="0" smtClean="0">
                <a:ea typeface="黑体" panose="02010609060101010101" pitchFamily="49" charset="-122"/>
              </a:rPr>
              <a:t>正向</a:t>
            </a:r>
            <a:r>
              <a:rPr lang="zh-CN" altLang="en-US" sz="2800" b="1" dirty="0">
                <a:ea typeface="黑体" panose="02010609060101010101" pitchFamily="49" charset="-122"/>
              </a:rPr>
              <a:t>循环</a:t>
            </a:r>
            <a:r>
              <a:rPr lang="zh-CN" altLang="en-US" sz="2800" b="1" dirty="0" smtClean="0">
                <a:ea typeface="黑体" panose="02010609060101010101" pitchFamily="49" charset="-122"/>
              </a:rPr>
              <a:t>的</a:t>
            </a:r>
            <a:r>
              <a:rPr lang="zh-CN" altLang="en-US" sz="2800" b="1" dirty="0">
                <a:ea typeface="黑体" panose="02010609060101010101" pitchFamily="49" charset="-122"/>
              </a:rPr>
              <a:t>最高热</a:t>
            </a:r>
            <a:r>
              <a:rPr lang="zh-CN" altLang="en-US" sz="2800" b="1" dirty="0" smtClean="0">
                <a:ea typeface="黑体" panose="02010609060101010101" pitchFamily="49" charset="-122"/>
              </a:rPr>
              <a:t>效率</a:t>
            </a:r>
            <a:endParaRPr lang="en-US" altLang="zh-CN" sz="2800" b="1" dirty="0" smtClean="0">
              <a:ea typeface="黑体" panose="02010609060101010101" pitchFamily="49" charset="-122"/>
            </a:endParaRPr>
          </a:p>
          <a:p>
            <a:pPr marL="457200" indent="-457200">
              <a:spcBef>
                <a:spcPts val="600"/>
              </a:spcBef>
              <a:buFont typeface="Arial" panose="020B0604020202020204" pitchFamily="34" charset="0"/>
              <a:buChar char="•"/>
            </a:pPr>
            <a:r>
              <a:rPr lang="zh-CN" altLang="en-US" sz="2800" b="1" dirty="0">
                <a:ea typeface="黑体" panose="02010609060101010101" pitchFamily="49" charset="-122"/>
              </a:rPr>
              <a:t>逆卡诺循环的制冷系数和供暖系数也是工作在相同的热源和相同的冷源间的一切逆向循环的</a:t>
            </a:r>
            <a:r>
              <a:rPr lang="zh-CN" altLang="en-US" sz="2800" b="1" dirty="0">
                <a:solidFill>
                  <a:srgbClr val="FF0000"/>
                </a:solidFill>
                <a:ea typeface="黑体" panose="02010609060101010101" pitchFamily="49" charset="-122"/>
              </a:rPr>
              <a:t>最高制冷系数</a:t>
            </a:r>
            <a:r>
              <a:rPr lang="zh-CN" altLang="en-US" sz="2800" b="1" dirty="0">
                <a:ea typeface="黑体" panose="02010609060101010101" pitchFamily="49" charset="-122"/>
              </a:rPr>
              <a:t>和</a:t>
            </a:r>
            <a:r>
              <a:rPr lang="zh-CN" altLang="en-US" sz="2800" b="1" dirty="0">
                <a:solidFill>
                  <a:srgbClr val="FF0000"/>
                </a:solidFill>
                <a:ea typeface="黑体" panose="02010609060101010101" pitchFamily="49" charset="-122"/>
              </a:rPr>
              <a:t>最高供暖系数</a:t>
            </a:r>
            <a:r>
              <a:rPr lang="zh-CN" altLang="en-US" sz="2400" b="1" dirty="0">
                <a:solidFill>
                  <a:srgbClr val="0070C0"/>
                </a:solidFill>
                <a:ea typeface="黑体" panose="02010609060101010101" pitchFamily="49" charset="-122"/>
              </a:rPr>
              <a:t>（第</a:t>
            </a:r>
            <a:r>
              <a:rPr lang="en-US" altLang="zh-CN" sz="24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14</a:t>
            </a:r>
            <a:r>
              <a:rPr lang="zh-CN" altLang="en-US" sz="2400" b="1" dirty="0" smtClean="0">
                <a:solidFill>
                  <a:srgbClr val="0070C0"/>
                </a:solidFill>
                <a:ea typeface="黑体" panose="02010609060101010101" pitchFamily="49" charset="-122"/>
              </a:rPr>
              <a:t>章详细</a:t>
            </a:r>
            <a:r>
              <a:rPr lang="zh-CN" altLang="en-US" sz="2400" b="1" dirty="0">
                <a:solidFill>
                  <a:srgbClr val="0070C0"/>
                </a:solidFill>
                <a:ea typeface="黑体" panose="02010609060101010101" pitchFamily="49" charset="-122"/>
              </a:rPr>
              <a:t>说明）</a:t>
            </a:r>
          </a:p>
          <a:p>
            <a:pPr marL="457200" indent="-457200">
              <a:spcBef>
                <a:spcPts val="600"/>
              </a:spcBef>
              <a:buFont typeface="Arial" panose="020B0604020202020204" pitchFamily="34" charset="0"/>
              <a:buChar char="•"/>
            </a:pPr>
            <a:r>
              <a:rPr lang="zh-CN" altLang="en-US" sz="2800" b="1" dirty="0">
                <a:ea typeface="黑体" panose="02010609060101010101" pitchFamily="49" charset="-122"/>
              </a:rPr>
              <a:t>逆</a:t>
            </a:r>
            <a:r>
              <a:rPr lang="zh-CN" altLang="en-US" sz="2800" b="1" dirty="0" smtClean="0">
                <a:ea typeface="黑体" panose="02010609060101010101" pitchFamily="49" charset="-122"/>
              </a:rPr>
              <a:t>卡诺循环在现实</a:t>
            </a:r>
            <a:r>
              <a:rPr lang="zh-CN" altLang="en-US" sz="2800" b="1" dirty="0">
                <a:ea typeface="黑体" panose="02010609060101010101" pitchFamily="49" charset="-122"/>
              </a:rPr>
              <a:t>中不存在，但它们的研究为提高</a:t>
            </a:r>
            <a:r>
              <a:rPr lang="zh-CN" altLang="en-US" sz="2800" b="1" dirty="0" smtClean="0">
                <a:ea typeface="黑体" panose="02010609060101010101" pitchFamily="49" charset="-122"/>
              </a:rPr>
              <a:t>各种逆向循环的制冷系数和供暖系数指出</a:t>
            </a:r>
            <a:r>
              <a:rPr lang="zh-CN" altLang="en-US" sz="2800" b="1" dirty="0">
                <a:ea typeface="黑体" panose="02010609060101010101" pitchFamily="49" charset="-122"/>
              </a:rPr>
              <a:t>了</a:t>
            </a:r>
            <a:r>
              <a:rPr lang="zh-CN" altLang="en-US" sz="2800" b="1" dirty="0" smtClean="0">
                <a:ea typeface="黑体" panose="02010609060101010101" pitchFamily="49" charset="-122"/>
              </a:rPr>
              <a:t>方向</a:t>
            </a:r>
            <a:endParaRPr lang="zh-CN" altLang="en-US" sz="2800" b="1" dirty="0">
              <a:solidFill>
                <a:srgbClr val="0070C0"/>
              </a:solidFill>
              <a:ea typeface="黑体" panose="02010609060101010101" pitchFamily="49" charset="-122"/>
            </a:endParaRPr>
          </a:p>
        </p:txBody>
      </p:sp>
    </p:spTree>
    <p:extLst>
      <p:ext uri="{BB962C8B-B14F-4D97-AF65-F5344CB8AC3E}">
        <p14:creationId xmlns:p14="http://schemas.microsoft.com/office/powerpoint/2010/main" val="9538911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tags/tag1.xml><?xml version="1.0" encoding="utf-8"?>
<p:tagLst xmlns:a="http://schemas.openxmlformats.org/drawingml/2006/main" xmlns:r="http://schemas.openxmlformats.org/officeDocument/2006/relationships" xmlns:p="http://schemas.openxmlformats.org/presentationml/2006/main">
  <p:tag name="TIMING" val="|8.5|12.5|12.3|11.7|6|5.5|4.8|8.8|6.7|16.4|11.3|7.8|3.6|11"/>
</p:tagLst>
</file>

<file path=ppt/tags/tag2.xml><?xml version="1.0" encoding="utf-8"?>
<p:tagLst xmlns:a="http://schemas.openxmlformats.org/drawingml/2006/main" xmlns:r="http://schemas.openxmlformats.org/officeDocument/2006/relationships" xmlns:p="http://schemas.openxmlformats.org/presentationml/2006/main">
  <p:tag name="TIMING" val="|13.4|7.5"/>
</p:tagLst>
</file>

<file path=ppt/tags/tag3.xml><?xml version="1.0" encoding="utf-8"?>
<p:tagLst xmlns:a="http://schemas.openxmlformats.org/drawingml/2006/main" xmlns:r="http://schemas.openxmlformats.org/officeDocument/2006/relationships" xmlns:p="http://schemas.openxmlformats.org/presentationml/2006/main">
  <p:tag name="TIMING" val="|99.4|0.8|0.7|0.5"/>
</p:tagLst>
</file>

<file path=ppt/tags/tag4.xml><?xml version="1.0" encoding="utf-8"?>
<p:tagLst xmlns:a="http://schemas.openxmlformats.org/drawingml/2006/main" xmlns:r="http://schemas.openxmlformats.org/officeDocument/2006/relationships" xmlns:p="http://schemas.openxmlformats.org/presentationml/2006/main">
  <p:tag name="TIMING" val="|56.9"/>
</p:tagLst>
</file>

<file path=ppt/tags/tag5.xml><?xml version="1.0" encoding="utf-8"?>
<p:tagLst xmlns:a="http://schemas.openxmlformats.org/drawingml/2006/main" xmlns:r="http://schemas.openxmlformats.org/officeDocument/2006/relationships" xmlns:p="http://schemas.openxmlformats.org/presentationml/2006/main">
  <p:tag name="TIMING" val="|38.8|21.4|56"/>
</p:tagLst>
</file>

<file path=ppt/tags/tag6.xml><?xml version="1.0" encoding="utf-8"?>
<p:tagLst xmlns:a="http://schemas.openxmlformats.org/drawingml/2006/main" xmlns:r="http://schemas.openxmlformats.org/officeDocument/2006/relationships" xmlns:p="http://schemas.openxmlformats.org/presentationml/2006/main">
  <p:tag name="TIMING" val="|6.5|9.2"/>
</p:tagLst>
</file>

<file path=ppt/tags/tag7.xml><?xml version="1.0" encoding="utf-8"?>
<p:tagLst xmlns:a="http://schemas.openxmlformats.org/drawingml/2006/main" xmlns:r="http://schemas.openxmlformats.org/officeDocument/2006/relationships" xmlns:p="http://schemas.openxmlformats.org/presentationml/2006/main">
  <p:tag name="TIMING" val="|7.2|11.6|0.9|12.4"/>
</p:tagLst>
</file>

<file path=ppt/tags/tag8.xml><?xml version="1.0" encoding="utf-8"?>
<p:tagLst xmlns:a="http://schemas.openxmlformats.org/drawingml/2006/main" xmlns:r="http://schemas.openxmlformats.org/officeDocument/2006/relationships" xmlns:p="http://schemas.openxmlformats.org/presentationml/2006/main">
  <p:tag name="TIMING" val="|2.1|16.1"/>
</p:tagLst>
</file>

<file path=ppt/tags/tag9.xml><?xml version="1.0" encoding="utf-8"?>
<p:tagLst xmlns:a="http://schemas.openxmlformats.org/drawingml/2006/main" xmlns:r="http://schemas.openxmlformats.org/officeDocument/2006/relationships" xmlns:p="http://schemas.openxmlformats.org/presentationml/2006/main">
  <p:tag name="TIMING" val="|112.2"/>
</p:tagLst>
</file>

<file path=ppt/tags/tag10.xml><?xml version="1.0" encoding="utf-8"?>
<p:tagLst xmlns:a="http://schemas.openxmlformats.org/drawingml/2006/main" xmlns:r="http://schemas.openxmlformats.org/officeDocument/2006/relationships" xmlns:p="http://schemas.openxmlformats.org/presentationml/2006/main">
  <p:tag name="TIMING" val="|22.5"/>
</p:tagLst>
</file>

<file path=ppt/tags/tag11.xml><?xml version="1.0" encoding="utf-8"?>
<p:tagLst xmlns:a="http://schemas.openxmlformats.org/drawingml/2006/main" xmlns:r="http://schemas.openxmlformats.org/officeDocument/2006/relationships" xmlns:p="http://schemas.openxmlformats.org/presentationml/2006/main">
  <p:tag name="TIMING" val="|23.3|31.2|37.8|23|3.5|5.3"/>
</p:tagLst>
</file>

<file path=ppt/tags/tag12.xml><?xml version="1.0" encoding="utf-8"?>
<p:tagLst xmlns:a="http://schemas.openxmlformats.org/drawingml/2006/main" xmlns:r="http://schemas.openxmlformats.org/officeDocument/2006/relationships" xmlns:p="http://schemas.openxmlformats.org/presentationml/2006/main">
  <p:tag name="TIMING" val="|7.9|10.9|20.7|28|4.4"/>
</p:tagLst>
</file>

<file path=ppt/tags/tag13.xml><?xml version="1.0" encoding="utf-8"?>
<p:tagLst xmlns:a="http://schemas.openxmlformats.org/drawingml/2006/main" xmlns:r="http://schemas.openxmlformats.org/officeDocument/2006/relationships" xmlns:p="http://schemas.openxmlformats.org/presentationml/2006/main">
  <p:tag name="TIMING" val="|41.1|1.7|0.5|8.1|0.9|0.9|13.7|29.8"/>
</p:tagLst>
</file>

<file path=ppt/tags/tag14.xml><?xml version="1.0" encoding="utf-8"?>
<p:tagLst xmlns:a="http://schemas.openxmlformats.org/drawingml/2006/main" xmlns:r="http://schemas.openxmlformats.org/officeDocument/2006/relationships" xmlns:p="http://schemas.openxmlformats.org/presentationml/2006/main">
  <p:tag name="TIMING" val="|12.8"/>
</p:tagLst>
</file>

<file path=ppt/tags/tag15.xml><?xml version="1.0" encoding="utf-8"?>
<p:tagLst xmlns:a="http://schemas.openxmlformats.org/drawingml/2006/main" xmlns:r="http://schemas.openxmlformats.org/officeDocument/2006/relationships" xmlns:p="http://schemas.openxmlformats.org/presentationml/2006/main">
  <p:tag name="TIMING" val="|4|13.4|23.7|7.5|11.5"/>
</p:tagLst>
</file>

<file path=ppt/tags/tag16.xml><?xml version="1.0" encoding="utf-8"?>
<p:tagLst xmlns:a="http://schemas.openxmlformats.org/drawingml/2006/main" xmlns:r="http://schemas.openxmlformats.org/officeDocument/2006/relationships" xmlns:p="http://schemas.openxmlformats.org/presentationml/2006/main">
  <p:tag name="TIMING" val="|1.7|4.1|3|9.7|51.9|51.5|1.2|138.8|83.1"/>
</p:tagLst>
</file>

<file path=ppt/tags/tag17.xml><?xml version="1.0" encoding="utf-8"?>
<p:tagLst xmlns:a="http://schemas.openxmlformats.org/drawingml/2006/main" xmlns:r="http://schemas.openxmlformats.org/officeDocument/2006/relationships" xmlns:p="http://schemas.openxmlformats.org/presentationml/2006/main">
  <p:tag name="TIMING" val="|33.9|25|41.5|1.9"/>
</p:tagLst>
</file>

<file path=ppt/tags/tag18.xml><?xml version="1.0" encoding="utf-8"?>
<p:tagLst xmlns:a="http://schemas.openxmlformats.org/drawingml/2006/main" xmlns:r="http://schemas.openxmlformats.org/officeDocument/2006/relationships" xmlns:p="http://schemas.openxmlformats.org/presentationml/2006/main">
  <p:tag name="TIMING" val="|2.2|0.5|9.5|11.8|38.8|3.7|103.5|1.4|0.6"/>
</p:tagLst>
</file>

<file path=ppt/tags/tag19.xml><?xml version="1.0" encoding="utf-8"?>
<p:tagLst xmlns:a="http://schemas.openxmlformats.org/drawingml/2006/main" xmlns:r="http://schemas.openxmlformats.org/officeDocument/2006/relationships" xmlns:p="http://schemas.openxmlformats.org/presentationml/2006/main">
  <p:tag name="TIMING" val="|16.7|16.4"/>
</p:tagLst>
</file>

<file path=ppt/tags/tag20.xml><?xml version="1.0" encoding="utf-8"?>
<p:tagLst xmlns:a="http://schemas.openxmlformats.org/drawingml/2006/main" xmlns:r="http://schemas.openxmlformats.org/officeDocument/2006/relationships" xmlns:p="http://schemas.openxmlformats.org/presentationml/2006/main">
  <p:tag name="TIMING" val="|10.2|25.2|30.8"/>
</p:tagLst>
</file>

<file path=ppt/tags/tag21.xml><?xml version="1.0" encoding="utf-8"?>
<p:tagLst xmlns:a="http://schemas.openxmlformats.org/drawingml/2006/main" xmlns:r="http://schemas.openxmlformats.org/officeDocument/2006/relationships" xmlns:p="http://schemas.openxmlformats.org/presentationml/2006/main">
  <p:tag name="TIMING" val="|22.2|6.3"/>
</p:tagLst>
</file>

<file path=ppt/tags/tag22.xml><?xml version="1.0" encoding="utf-8"?>
<p:tagLst xmlns:a="http://schemas.openxmlformats.org/drawingml/2006/main" xmlns:r="http://schemas.openxmlformats.org/officeDocument/2006/relationships" xmlns:p="http://schemas.openxmlformats.org/presentationml/2006/main">
  <p:tag name="TIMING" val="|72.7|21.7|13.5|9.3|1.3|8.2|12.4|36.5|0.9"/>
</p:tagLst>
</file>

<file path=ppt/tags/tag23.xml><?xml version="1.0" encoding="utf-8"?>
<p:tagLst xmlns:a="http://schemas.openxmlformats.org/drawingml/2006/main" xmlns:r="http://schemas.openxmlformats.org/officeDocument/2006/relationships" xmlns:p="http://schemas.openxmlformats.org/presentationml/2006/main">
  <p:tag name="TIMING" val="|3.2|11.1|15|16.3|24.7|15.9|27.4"/>
</p:tagLst>
</file>

<file path=ppt/tags/tag24.xml><?xml version="1.0" encoding="utf-8"?>
<p:tagLst xmlns:a="http://schemas.openxmlformats.org/drawingml/2006/main" xmlns:r="http://schemas.openxmlformats.org/officeDocument/2006/relationships" xmlns:p="http://schemas.openxmlformats.org/presentationml/2006/main">
  <p:tag name="TIMING" val="|49.9|0.8"/>
</p:tagLst>
</file>

<file path=ppt/tags/tag25.xml><?xml version="1.0" encoding="utf-8"?>
<p:tagLst xmlns:a="http://schemas.openxmlformats.org/drawingml/2006/main" xmlns:r="http://schemas.openxmlformats.org/officeDocument/2006/relationships" xmlns:p="http://schemas.openxmlformats.org/presentationml/2006/main">
  <p:tag name="TIMING" val="|68.7|18.6|30.9"/>
</p:tagLst>
</file>

<file path=ppt/tags/tag26.xml><?xml version="1.0" encoding="utf-8"?>
<p:tagLst xmlns:a="http://schemas.openxmlformats.org/drawingml/2006/main" xmlns:r="http://schemas.openxmlformats.org/officeDocument/2006/relationships" xmlns:p="http://schemas.openxmlformats.org/presentationml/2006/main">
  <p:tag name="TIMING" val="|77.4|53.9"/>
</p:tagLst>
</file>

<file path=ppt/tags/tag27.xml><?xml version="1.0" encoding="utf-8"?>
<p:tagLst xmlns:a="http://schemas.openxmlformats.org/drawingml/2006/main" xmlns:r="http://schemas.openxmlformats.org/officeDocument/2006/relationships" xmlns:p="http://schemas.openxmlformats.org/presentationml/2006/main">
  <p:tag name="TIMING" val="|52.4|5.7|9.1|5"/>
</p:tagLst>
</file>

<file path=ppt/tags/tag28.xml><?xml version="1.0" encoding="utf-8"?>
<p:tagLst xmlns:a="http://schemas.openxmlformats.org/drawingml/2006/main" xmlns:r="http://schemas.openxmlformats.org/officeDocument/2006/relationships" xmlns:p="http://schemas.openxmlformats.org/presentationml/2006/main">
  <p:tag name="TIMING" val="|36.4|5.9|1.1|4.5"/>
</p:tagLst>
</file>

<file path=ppt/tags/tag29.xml><?xml version="1.0" encoding="utf-8"?>
<p:tagLst xmlns:a="http://schemas.openxmlformats.org/drawingml/2006/main" xmlns:r="http://schemas.openxmlformats.org/officeDocument/2006/relationships" xmlns:p="http://schemas.openxmlformats.org/presentationml/2006/main">
  <p:tag name="TIMING" val="|18.7|47.2"/>
</p:tagLst>
</file>

<file path=ppt/tags/tag30.xml><?xml version="1.0" encoding="utf-8"?>
<p:tagLst xmlns:a="http://schemas.openxmlformats.org/drawingml/2006/main" xmlns:r="http://schemas.openxmlformats.org/officeDocument/2006/relationships" xmlns:p="http://schemas.openxmlformats.org/presentationml/2006/main">
  <p:tag name="TIMING" val="|37.8|7.7|1.1|25.8|3.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485</TotalTime>
  <Words>3556</Words>
  <Application>Microsoft Office PowerPoint</Application>
  <PresentationFormat>全屏显示(4:3)</PresentationFormat>
  <Paragraphs>273</Paragraphs>
  <Slides>67</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67</vt:i4>
      </vt:variant>
    </vt:vector>
  </HeadingPairs>
  <TitlesOfParts>
    <vt:vector size="84" baseType="lpstr">
      <vt:lpstr>Monotype Sorts</vt:lpstr>
      <vt:lpstr>等线</vt:lpstr>
      <vt:lpstr>黑体</vt:lpstr>
      <vt:lpstr>楷体_GB2312</vt:lpstr>
      <vt:lpstr>宋体</vt:lpstr>
      <vt:lpstr>微软雅黑</vt:lpstr>
      <vt:lpstr>Arial</vt:lpstr>
      <vt:lpstr>Calibri</vt:lpstr>
      <vt:lpstr>Symbol</vt:lpstr>
      <vt:lpstr>Times New Roman</vt:lpstr>
      <vt:lpstr>Verdana</vt:lpstr>
      <vt:lpstr>Wingdings</vt:lpstr>
      <vt:lpstr>Office 主题</vt:lpstr>
      <vt:lpstr>MathType 5.0 Equation</vt:lpstr>
      <vt:lpstr>Microsoft Visio 绘图</vt:lpstr>
      <vt:lpstr>Equation</vt:lpstr>
      <vt:lpstr>公式</vt:lpstr>
      <vt:lpstr>05 热力学第二定律</vt:lpstr>
      <vt:lpstr>5－1　为什么需要热力学第二定律？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克氏说法和开氏说法的等效性证明</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实施逆卡诺循环的制冷机或热泵称为卡诺制冷机或卡诺热泵</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热力学第二定律</dc:title>
  <dc:creator>jing wu</dc:creator>
  <cp:lastModifiedBy>jingwu</cp:lastModifiedBy>
  <cp:revision>41</cp:revision>
  <dcterms:created xsi:type="dcterms:W3CDTF">2020-03-15T03:40:00Z</dcterms:created>
  <dcterms:modified xsi:type="dcterms:W3CDTF">2020-10-05T16:26:45Z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