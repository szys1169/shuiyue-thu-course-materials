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71" r:id="rId4"/>
    <p:sldId id="273" r:id="rId5"/>
    <p:sldId id="275" r:id="rId6"/>
    <p:sldId id="283" r:id="rId7"/>
    <p:sldId id="284" r:id="rId8"/>
    <p:sldId id="286" r:id="rId9"/>
    <p:sldId id="287" r:id="rId10"/>
    <p:sldId id="288" r:id="rId11"/>
    <p:sldId id="282" r:id="rId1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466" autoAdjust="0"/>
    <p:restoredTop sz="88435" autoAdjust="0"/>
  </p:normalViewPr>
  <p:slideViewPr>
    <p:cSldViewPr>
      <p:cViewPr varScale="1">
        <p:scale>
          <a:sx n="43" d="100"/>
          <a:sy n="43" d="100"/>
        </p:scale>
        <p:origin x="-1332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199A1C-55F9-49C0-93E4-E89B2E5E6136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60AA2-BC85-455B-ABC6-8F54C3AB3F37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60AA2-BC85-455B-ABC6-8F54C3AB3F37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60AA2-BC85-455B-ABC6-8F54C3AB3F37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860AA2-BC85-455B-ABC6-8F54C3AB3F37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D7F8A8-E294-4140-9236-5B808E34FD33}" type="datetimeFigureOut">
              <a:rPr lang="zh-CN" altLang="en-US" smtClean="0"/>
              <a:pPr/>
              <a:t>2012/4/26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1417E2-B03F-4560-B122-F2FE95EFAF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5.emf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85926"/>
            <a:ext cx="7772400" cy="1470025"/>
          </a:xfrm>
        </p:spPr>
        <p:txBody>
          <a:bodyPr>
            <a:normAutofit/>
          </a:bodyPr>
          <a:lstStyle/>
          <a:p>
            <a:r>
              <a:rPr lang="zh-CN" altLang="zh-CN" sz="3600" dirty="0" smtClean="0">
                <a:latin typeface="微软雅黑" pitchFamily="34" charset="-122"/>
                <a:ea typeface="微软雅黑" pitchFamily="34" charset="-122"/>
              </a:rPr>
              <a:t>实</a:t>
            </a: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验三</a:t>
            </a:r>
            <a: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  <a:t/>
            </a:r>
            <a:br>
              <a:rPr lang="en-US" altLang="zh-CN" sz="3600" dirty="0" smtClean="0"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驱动桥</a:t>
            </a:r>
            <a:r>
              <a:rPr lang="zh-CN" altLang="zh-CN" sz="3600" dirty="0" smtClean="0">
                <a:latin typeface="微软雅黑" pitchFamily="34" charset="-122"/>
                <a:ea typeface="微软雅黑" pitchFamily="34" charset="-122"/>
              </a:rPr>
              <a:t>认识与拆装分析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714752"/>
            <a:ext cx="6400800" cy="264320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000" dirty="0" smtClean="0">
                <a:solidFill>
                  <a:schemeClr val="tx1"/>
                </a:solidFill>
                <a:latin typeface="仿宋_GB2312" pitchFamily="49" charset="-122"/>
                <a:ea typeface="仿宋_GB2312" pitchFamily="49" charset="-122"/>
              </a:rPr>
              <a:t>黄锦川  李富英</a:t>
            </a:r>
            <a:endParaRPr lang="en-US" altLang="zh-CN" sz="3000" dirty="0" smtClean="0">
              <a:solidFill>
                <a:schemeClr val="tx1"/>
              </a:solidFill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                   </a:t>
            </a:r>
            <a:endParaRPr lang="en-US" altLang="zh-CN" sz="22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2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200" dirty="0" smtClean="0"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2200" dirty="0" smtClean="0">
              <a:latin typeface="微软雅黑" pitchFamily="34" charset="-122"/>
              <a:ea typeface="微软雅黑" pitchFamily="34" charset="-122"/>
            </a:endParaRPr>
          </a:p>
          <a:p>
            <a:fld id="{EC276731-E343-4A66-A553-6154B32AFC8E}" type="datetime2">
              <a:rPr lang="zh-CN" altLang="en-US" sz="2200" smtClean="0">
                <a:latin typeface="微软雅黑" pitchFamily="34" charset="-122"/>
                <a:ea typeface="微软雅黑" pitchFamily="34" charset="-122"/>
              </a:rPr>
              <a:pPr/>
              <a:t>2012年4月26日</a:t>
            </a:fld>
            <a:endParaRPr lang="en-US" altLang="zh-CN" sz="22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714348" y="428605"/>
            <a:ext cx="7772400" cy="1143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zh-CN" altLang="en-US" sz="3000" dirty="0" smtClean="0">
                <a:latin typeface="仿宋_GB2312" pitchFamily="49" charset="-122"/>
                <a:ea typeface="仿宋_GB2312" pitchFamily="49" charset="-122"/>
              </a:rPr>
              <a:t>汽车系结构教学实验室</a:t>
            </a:r>
            <a:endParaRPr lang="en-US" altLang="zh-CN" sz="3000" dirty="0" smtClean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本实验教学过程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43510"/>
          </a:xfrm>
        </p:spPr>
        <p:txBody>
          <a:bodyPr>
            <a:normAutofit/>
          </a:bodyPr>
          <a:lstStyle/>
          <a:p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1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、集中讲解：在实车上</a:t>
            </a:r>
            <a:r>
              <a:rPr lang="zh-CN" altLang="zh-CN" sz="2400" dirty="0" smtClean="0">
                <a:latin typeface="仿宋_GB2312" pitchFamily="49" charset="-122"/>
                <a:ea typeface="仿宋_GB2312" pitchFamily="49" charset="-122"/>
              </a:rPr>
              <a:t>认识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驱动桥            （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10min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）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dirty="0">
              <a:latin typeface="仿宋_GB2312" pitchFamily="49" charset="-122"/>
              <a:ea typeface="仿宋_GB2312" pitchFamily="49" charset="-122"/>
            </a:endParaRPr>
          </a:p>
          <a:p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2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、分组拆装：半浮式驱动桥构造              （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25min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）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dirty="0">
              <a:latin typeface="仿宋_GB2312" pitchFamily="49" charset="-122"/>
              <a:ea typeface="仿宋_GB2312" pitchFamily="49" charset="-122"/>
            </a:endParaRPr>
          </a:p>
          <a:p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3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、集中点评：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1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、主减速器轴承预紧和齿轮调整 （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35min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）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               2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、行星齿轮差速器结构原理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>
              <a:buNone/>
            </a:pPr>
            <a:r>
              <a:rPr lang="en-US" altLang="zh-CN" sz="2400" dirty="0">
                <a:latin typeface="仿宋_GB2312" pitchFamily="49" charset="-122"/>
                <a:ea typeface="仿宋_GB2312" pitchFamily="49" charset="-122"/>
              </a:rPr>
              <a:t>	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		   3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、半轴支承结构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>
              <a:buNone/>
            </a:pP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               4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、驱动桥的润滑、密封、通气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>
              <a:buNone/>
            </a:pP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4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、分组讨论：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1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、对照实验指导书观察、讨论   （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25min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）</a:t>
            </a:r>
          </a:p>
          <a:p>
            <a:pPr>
              <a:buNone/>
            </a:pP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			   2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、组装驱动桥，整理现场</a:t>
            </a:r>
            <a:endParaRPr lang="en-US" altLang="zh-CN" sz="2400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858280" y="6572272"/>
            <a:ext cx="285720" cy="285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2518192"/>
            <a:ext cx="7500958" cy="4339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4" descr="fg11_0010a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00065"/>
            <a:ext cx="5479628" cy="321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驱动桥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ph idx="1"/>
          </p:nvPr>
        </p:nvSpPr>
        <p:spPr>
          <a:xfrm>
            <a:off x="5715008" y="357167"/>
            <a:ext cx="3428992" cy="2286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驱动桥的主要功能部件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主减速器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差速器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半轴</a:t>
            </a:r>
            <a:endParaRPr lang="en-US" altLang="zh-CN" sz="2400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 descr="未标题-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84032" y="417742"/>
            <a:ext cx="3060000" cy="17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6" name="Picture 4" descr="未标题-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60858"/>
            <a:ext cx="3060000" cy="17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7" name="Picture 5" descr="未标题-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12198" y="2560858"/>
            <a:ext cx="3060000" cy="17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8" name="Picture 6" descr="未标题-6副本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72198" y="2560858"/>
            <a:ext cx="3060000" cy="1725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9" name="Picture 7" descr="IMG_019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0" y="4703998"/>
            <a:ext cx="3060000" cy="1725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0" name="Picture 8" descr="IMG_020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71802" y="4703998"/>
            <a:ext cx="3060000" cy="1719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61" name="Picture 9" descr="IMG_020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084000" y="4703998"/>
            <a:ext cx="3060000" cy="1719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4" name="Picture 2" descr="未标题-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071802" y="417742"/>
            <a:ext cx="3060000" cy="17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3" name="Picture 1" descr="D:\My Lab\My Lab\汽车构造拆装实验指导书\att\驱动桥1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1802" y="417742"/>
            <a:ext cx="3060000" cy="1721250"/>
          </a:xfrm>
          <a:prstGeom prst="rect">
            <a:avLst/>
          </a:prstGeom>
          <a:noFill/>
        </p:spPr>
      </p:pic>
      <p:sp>
        <p:nvSpPr>
          <p:cNvPr id="20" name="TextBox 19"/>
          <p:cNvSpPr txBox="1"/>
          <p:nvPr/>
        </p:nvSpPr>
        <p:spPr>
          <a:xfrm>
            <a:off x="2786050" y="1703602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0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86446" y="1703602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1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86842" y="1703602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2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86050" y="3846742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3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86446" y="3846742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4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786842" y="3846742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5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86050" y="5989882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6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786446" y="5989882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7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786842" y="5989882"/>
            <a:ext cx="214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8</a:t>
            </a:r>
            <a:endParaRPr lang="zh-CN" altLang="en-US" sz="20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858280" y="6572272"/>
            <a:ext cx="285720" cy="28572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1803" y="1000108"/>
            <a:ext cx="6072198" cy="45800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 descr="fg11_0080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24000" y="1136707"/>
            <a:ext cx="6120000" cy="5292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主减速器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28736"/>
            <a:ext cx="9144000" cy="5429264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齿轮布置与齿形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齿轮轴线空间异面交叉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双曲面齿轮（优缺点）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轴承布置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主动齿轮悬臂支撑在外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对称布置的圆锥滚子轴承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注意轴承的圆锥朝向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圆锥轴承的预紧</a:t>
            </a:r>
            <a:endParaRPr lang="en-US" altLang="zh-CN" sz="2400" dirty="0" smtClean="0">
              <a:solidFill>
                <a:srgbClr val="C00000"/>
              </a:solidFill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保证齿轮支承刚度</a:t>
            </a:r>
            <a:endParaRPr lang="en-US" altLang="zh-CN" sz="2000" dirty="0" smtClean="0">
              <a:solidFill>
                <a:srgbClr val="C00000"/>
              </a:solidFill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传递大转矩时齿轮不错位</a:t>
            </a:r>
            <a:endParaRPr lang="en-US" altLang="zh-CN" sz="2000" dirty="0" smtClean="0">
              <a:solidFill>
                <a:srgbClr val="C00000"/>
              </a:solidFill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合适的预紧度：过松</a:t>
            </a:r>
            <a:r>
              <a:rPr lang="en-US" altLang="zh-CN" sz="20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——</a:t>
            </a:r>
            <a:r>
              <a:rPr lang="zh-CN" altLang="en-US" sz="20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变形大</a:t>
            </a:r>
            <a:endParaRPr lang="en-US" altLang="zh-CN" sz="2000" dirty="0" smtClean="0">
              <a:solidFill>
                <a:srgbClr val="C00000"/>
              </a:solidFill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en-US" altLang="zh-CN" sz="20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              </a:t>
            </a:r>
            <a:r>
              <a:rPr lang="zh-CN" altLang="en-US" sz="20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过紧</a:t>
            </a:r>
            <a:r>
              <a:rPr lang="en-US" altLang="zh-CN" sz="20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——</a:t>
            </a:r>
            <a:r>
              <a:rPr lang="zh-CN" altLang="en-US" sz="20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摩擦发热严重</a:t>
            </a:r>
            <a:endParaRPr lang="en-US" altLang="zh-CN" sz="2000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b="1" dirty="0" smtClean="0">
                <a:latin typeface="微软雅黑" pitchFamily="34" charset="-122"/>
                <a:ea typeface="微软雅黑" pitchFamily="34" charset="-122"/>
              </a:rPr>
              <a:t>主减速器轴承预紧调整</a:t>
            </a:r>
            <a:endParaRPr lang="zh-CN" altLang="en-US" sz="3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28736"/>
            <a:ext cx="3357554" cy="4697427"/>
          </a:xfrm>
        </p:spPr>
        <p:txBody>
          <a:bodyPr>
            <a:normAutofit/>
          </a:bodyPr>
          <a:lstStyle/>
          <a:p>
            <a:r>
              <a:rPr lang="zh-CN" altLang="en-US" sz="2400" b="1" dirty="0" smtClean="0">
                <a:latin typeface="仿宋_GB2312" pitchFamily="49" charset="-122"/>
                <a:ea typeface="仿宋_GB2312" pitchFamily="49" charset="-122"/>
              </a:rPr>
              <a:t>主动齿轮预紧</a:t>
            </a:r>
            <a:endParaRPr lang="en-US" altLang="zh-CN" sz="2400" b="1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b="1" dirty="0" smtClean="0">
                <a:latin typeface="仿宋_GB2312" pitchFamily="49" charset="-122"/>
                <a:ea typeface="仿宋_GB2312" pitchFamily="49" charset="-122"/>
              </a:rPr>
              <a:t>刚性套筒</a:t>
            </a:r>
            <a:r>
              <a:rPr lang="en-US" altLang="zh-CN" sz="2000" b="1" dirty="0" smtClean="0">
                <a:latin typeface="仿宋_GB2312" pitchFamily="49" charset="-122"/>
                <a:ea typeface="仿宋_GB2312" pitchFamily="49" charset="-122"/>
              </a:rPr>
              <a:t>+</a:t>
            </a:r>
            <a:r>
              <a:rPr lang="zh-CN" altLang="en-US" sz="2000" b="1" dirty="0" smtClean="0">
                <a:latin typeface="仿宋_GB2312" pitchFamily="49" charset="-122"/>
                <a:ea typeface="仿宋_GB2312" pitchFamily="49" charset="-122"/>
              </a:rPr>
              <a:t>调整垫片</a:t>
            </a:r>
            <a:endParaRPr lang="en-US" altLang="zh-CN" sz="2000" b="1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b="1" dirty="0" smtClean="0">
                <a:latin typeface="仿宋_GB2312" pitchFamily="49" charset="-122"/>
                <a:ea typeface="仿宋_GB2312" pitchFamily="49" charset="-122"/>
              </a:rPr>
              <a:t>波形弹性套筒</a:t>
            </a:r>
            <a:endParaRPr lang="en-US" altLang="zh-CN" sz="2000" b="1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b="1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b="1" dirty="0" smtClean="0">
                <a:latin typeface="仿宋_GB2312" pitchFamily="49" charset="-122"/>
                <a:ea typeface="仿宋_GB2312" pitchFamily="49" charset="-122"/>
              </a:rPr>
              <a:t>从动齿轮预紧</a:t>
            </a:r>
            <a:endParaRPr lang="en-US" altLang="zh-CN" sz="2400" b="1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b="1" dirty="0" smtClean="0">
                <a:latin typeface="仿宋_GB2312" pitchFamily="49" charset="-122"/>
                <a:ea typeface="仿宋_GB2312" pitchFamily="49" charset="-122"/>
              </a:rPr>
              <a:t>调整螺母预紧</a:t>
            </a:r>
            <a:endParaRPr lang="en-US" altLang="zh-CN" sz="2000" b="1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b="1" dirty="0" smtClean="0">
                <a:latin typeface="仿宋_GB2312" pitchFamily="49" charset="-122"/>
                <a:ea typeface="仿宋_GB2312" pitchFamily="49" charset="-122"/>
              </a:rPr>
              <a:t>垫片预紧</a:t>
            </a:r>
            <a:endParaRPr lang="en-US" altLang="zh-CN" sz="2000" b="1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en-US" altLang="zh-CN" sz="2000" b="1" dirty="0">
              <a:latin typeface="仿宋_GB2312" pitchFamily="49" charset="-122"/>
              <a:ea typeface="仿宋_GB2312" pitchFamily="49" charset="-122"/>
            </a:endParaRPr>
          </a:p>
        </p:txBody>
      </p:sp>
      <p:pic>
        <p:nvPicPr>
          <p:cNvPr id="24578" name="Picture 2" descr="轴承预紧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24000" y="1142984"/>
            <a:ext cx="6120000" cy="5289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79" name="Picture 3" descr="D:\My Lab\My Lab\汽车构造拆装实验指导书\att\波形套筒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fg12_0880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2039056"/>
            <a:ext cx="6429388" cy="4818944"/>
          </a:xfrm>
          <a:prstGeom prst="rect">
            <a:avLst/>
          </a:prstGeom>
          <a:noFill/>
        </p:spPr>
      </p:pic>
      <p:pic>
        <p:nvPicPr>
          <p:cNvPr id="7" name="Picture 6" descr="fg12_0870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05100" y="2054225"/>
            <a:ext cx="6438900" cy="4803775"/>
          </a:xfrm>
          <a:prstGeom prst="rect">
            <a:avLst/>
          </a:prstGeom>
          <a:noFill/>
        </p:spPr>
      </p:pic>
      <p:pic>
        <p:nvPicPr>
          <p:cNvPr id="6" name="Picture 6" descr="fg12_0890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54375" y="2054225"/>
            <a:ext cx="5889625" cy="4803775"/>
          </a:xfrm>
          <a:prstGeom prst="rect">
            <a:avLst/>
          </a:prstGeom>
          <a:noFill/>
        </p:spPr>
      </p:pic>
      <p:pic>
        <p:nvPicPr>
          <p:cNvPr id="9" name="Picture 4" descr="fg12_0790a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687637" y="2054225"/>
            <a:ext cx="6456363" cy="4803775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主减速器齿轮啮合调整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Picture 7" descr="fg11_0140a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86050" y="1428736"/>
            <a:ext cx="6357950" cy="5294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2" name="Picture 2" descr="齿轮调整副本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488" y="1285860"/>
            <a:ext cx="6215106" cy="5463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28736"/>
            <a:ext cx="5572132" cy="5429264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调整啮合的目的：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正确的啮合痕迹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有限的啮合间隙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调整方法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齿轮沿轴线的平动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主动齿轮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垫片调节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从动齿轮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垫片调节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螺母调节</a:t>
            </a:r>
            <a:endParaRPr lang="en-US" altLang="zh-CN" sz="2000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圆锥行星齿轮差速器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" name="Picture 9" descr="70643-23-0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0"/>
            <a:ext cx="3600000" cy="2994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86380" y="3000372"/>
            <a:ext cx="3676650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14876" y="3214686"/>
            <a:ext cx="4429124" cy="3245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285852" y="5500702"/>
          <a:ext cx="2428892" cy="702331"/>
        </p:xfrm>
        <a:graphic>
          <a:graphicData uri="http://schemas.openxmlformats.org/presentationml/2006/ole">
            <p:oleObj spid="_x0000_s26628" name="Equation" r:id="rId6" imgW="787400" imgH="228600" progId="">
              <p:embed/>
            </p:oleObj>
          </a:graphicData>
        </a:graphic>
      </p:graphicFrame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28736"/>
            <a:ext cx="5072066" cy="5429264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曲线行驶工况客观上要求左右两侧驱动轮转速存在一定差异。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核心原理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: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行星轮</a:t>
            </a:r>
            <a:r>
              <a:rPr lang="zh-CN" altLang="en-US" sz="2400" u="sng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公转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和</a:t>
            </a:r>
            <a:r>
              <a:rPr lang="zh-CN" altLang="en-US" sz="2400" u="sng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自转</a:t>
            </a:r>
            <a:endParaRPr lang="en-US" altLang="zh-CN" sz="2400" u="sng" dirty="0" smtClean="0">
              <a:solidFill>
                <a:srgbClr val="C00000"/>
              </a:solidFill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只公转不自转：两侧半轴转速相同，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仿宋_GB2312" pitchFamily="49" charset="-122"/>
                <a:ea typeface="仿宋_GB2312" pitchFamily="49" charset="-122"/>
              </a:rPr>
              <a:t>                 </a:t>
            </a:r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转矩平均分配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仿宋_GB2312" pitchFamily="49" charset="-122"/>
                <a:ea typeface="仿宋_GB2312" pitchFamily="49" charset="-122"/>
              </a:rPr>
              <a:t> </a:t>
            </a: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既公转又自转：两侧半轴有转速差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运动学上的恒等式：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托森差速器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——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寻找行星齿轮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半轴的支承结构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95436" y="1500174"/>
            <a:ext cx="5748564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28736"/>
            <a:ext cx="5572132" cy="5429264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半浮式半轴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——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轻型车辆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既传递扭矩又承受弯矩的半轴。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zh-CN" altLang="en-US" sz="20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四分之三浮式半轴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既传递扭矩又承受较小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>
              <a:buNone/>
            </a:pPr>
            <a:r>
              <a:rPr lang="en-US" altLang="zh-CN" sz="2000" dirty="0" smtClean="0">
                <a:latin typeface="仿宋_GB2312" pitchFamily="49" charset="-122"/>
                <a:ea typeface="仿宋_GB2312" pitchFamily="49" charset="-122"/>
              </a:rPr>
              <a:t>  </a:t>
            </a:r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弯矩的半轴。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全浮式半轴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——</a:t>
            </a:r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中、重型载重车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只传递扭矩的半轴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区分标准</a:t>
            </a:r>
            <a:r>
              <a:rPr lang="en-US" altLang="zh-CN" sz="2400" dirty="0" smtClean="0">
                <a:latin typeface="仿宋_GB2312" pitchFamily="49" charset="-122"/>
                <a:ea typeface="仿宋_GB2312" pitchFamily="49" charset="-122"/>
              </a:rPr>
              <a:t>——</a:t>
            </a:r>
            <a:r>
              <a:rPr lang="zh-CN" altLang="en-US" sz="2400" dirty="0" smtClean="0">
                <a:solidFill>
                  <a:srgbClr val="C00000"/>
                </a:solidFill>
                <a:latin typeface="仿宋_GB2312" pitchFamily="49" charset="-122"/>
                <a:ea typeface="仿宋_GB2312" pitchFamily="49" charset="-122"/>
              </a:rPr>
              <a:t>半轴根部是否受弯矩</a:t>
            </a:r>
            <a:endParaRPr lang="zh-CN" altLang="en-US" sz="2400" dirty="0">
              <a:solidFill>
                <a:srgbClr val="C00000"/>
              </a:solidFill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驱动桥的润滑和密封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28736"/>
            <a:ext cx="3857620" cy="5429264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润滑油的排放与添加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加油孔和排油孔位置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液面位置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润滑油类型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双曲线齿轮专用润滑油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zh-CN" altLang="en-US" sz="20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润滑方式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浸油润滑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飞溅润滑（内部油道）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密封方式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静密封</a:t>
            </a:r>
            <a:r>
              <a:rPr lang="en-US" altLang="zh-CN" sz="2000" dirty="0" smtClean="0">
                <a:latin typeface="仿宋_GB2312" pitchFamily="49" charset="-122"/>
                <a:ea typeface="仿宋_GB2312" pitchFamily="49" charset="-122"/>
              </a:rPr>
              <a:t>—</a:t>
            </a:r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密封垫、密封胶</a:t>
            </a:r>
            <a:endParaRPr lang="en-US" altLang="zh-CN" sz="2000" dirty="0" smtClean="0">
              <a:latin typeface="仿宋_GB2312" pitchFamily="49" charset="-122"/>
              <a:ea typeface="仿宋_GB2312" pitchFamily="49" charset="-122"/>
            </a:endParaRPr>
          </a:p>
          <a:p>
            <a:pPr lvl="1"/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旋转动密封</a:t>
            </a:r>
            <a:r>
              <a:rPr lang="en-US" altLang="zh-CN" sz="2000" dirty="0" smtClean="0">
                <a:latin typeface="仿宋_GB2312" pitchFamily="49" charset="-122"/>
                <a:ea typeface="仿宋_GB2312" pitchFamily="49" charset="-122"/>
              </a:rPr>
              <a:t>—</a:t>
            </a:r>
            <a:r>
              <a:rPr lang="zh-CN" altLang="en-US" sz="2000" dirty="0" smtClean="0">
                <a:latin typeface="仿宋_GB2312" pitchFamily="49" charset="-122"/>
                <a:ea typeface="仿宋_GB2312" pitchFamily="49" charset="-122"/>
              </a:rPr>
              <a:t>橡胶唇口</a:t>
            </a:r>
            <a:endParaRPr lang="zh-CN" altLang="en-US" sz="2000" dirty="0"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0" y="0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Picture 3" descr="fg12_002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39013" y="2214554"/>
            <a:ext cx="4804987" cy="2533637"/>
          </a:xfrm>
          <a:prstGeom prst="rect">
            <a:avLst/>
          </a:prstGeom>
          <a:noFill/>
        </p:spPr>
      </p:pic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40" y="1785926"/>
            <a:ext cx="5000660" cy="349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600" dirty="0" smtClean="0">
                <a:latin typeface="微软雅黑" pitchFamily="34" charset="-122"/>
                <a:ea typeface="微软雅黑" pitchFamily="34" charset="-122"/>
              </a:rPr>
              <a:t>课后作业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画出所拆驱动桥的结构简图（制动部分从略），注明各零件名称。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0"/>
            <a:endParaRPr lang="zh-CN" altLang="en-US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0"/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画出所拆行星齿轮差速器结构简图，分析其差速原理。</a:t>
            </a:r>
            <a:endParaRPr lang="en-US" altLang="zh-CN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0"/>
            <a:endParaRPr lang="zh-CN" altLang="en-US" sz="2400" dirty="0" smtClean="0">
              <a:latin typeface="仿宋_GB2312" pitchFamily="49" charset="-122"/>
              <a:ea typeface="仿宋_GB2312" pitchFamily="49" charset="-122"/>
            </a:endParaRPr>
          </a:p>
          <a:p>
            <a:pPr lvl="0"/>
            <a:r>
              <a:rPr lang="zh-CN" altLang="en-US" sz="2400" dirty="0" smtClean="0">
                <a:latin typeface="仿宋_GB2312" pitchFamily="49" charset="-122"/>
                <a:ea typeface="仿宋_GB2312" pitchFamily="49" charset="-122"/>
              </a:rPr>
              <a:t>观察实验室驱动桥实物模型，画出全浮、半浮两种半轴支承形式的结构简图。</a:t>
            </a:r>
            <a:endParaRPr lang="zh-CN" altLang="en-US" sz="2400" dirty="0">
              <a:latin typeface="仿宋_GB2312" pitchFamily="49" charset="-122"/>
              <a:ea typeface="仿宋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2133</TotalTime>
  <Words>462</Words>
  <Application>Microsoft Office PowerPoint</Application>
  <PresentationFormat>全屏显示(4:3)</PresentationFormat>
  <Paragraphs>122</Paragraphs>
  <Slides>11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Office 主题</vt:lpstr>
      <vt:lpstr>Equation</vt:lpstr>
      <vt:lpstr>实验三 驱动桥认识与拆装分析</vt:lpstr>
      <vt:lpstr>本实验教学过程</vt:lpstr>
      <vt:lpstr>驱动桥</vt:lpstr>
      <vt:lpstr>幻灯片 4</vt:lpstr>
      <vt:lpstr>主减速器</vt:lpstr>
      <vt:lpstr>主减速器轴承预紧调整</vt:lpstr>
      <vt:lpstr>主减速器齿轮啮合调整</vt:lpstr>
      <vt:lpstr>圆锥行星齿轮差速器</vt:lpstr>
      <vt:lpstr>半轴的支承结构</vt:lpstr>
      <vt:lpstr>驱动桥的润滑和密封</vt:lpstr>
      <vt:lpstr>课后作业</vt:lpstr>
    </vt:vector>
  </TitlesOfParts>
  <Company>DAE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实习一   汽车离合器认识与拆装分析</dc:title>
  <dc:creator>HJC</dc:creator>
  <cp:lastModifiedBy>ThinkPad</cp:lastModifiedBy>
  <cp:revision>829</cp:revision>
  <dcterms:created xsi:type="dcterms:W3CDTF">2011-03-01T05:09:48Z</dcterms:created>
  <dcterms:modified xsi:type="dcterms:W3CDTF">2012-04-26T07:16:14Z</dcterms:modified>
</cp:coreProperties>
</file>