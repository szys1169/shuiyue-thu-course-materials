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handoutMasterIdLst>
    <p:handoutMasterId r:id="rId58"/>
  </p:handoutMasterIdLst>
  <p:sldIdLst>
    <p:sldId id="406" r:id="rId2"/>
    <p:sldId id="407" r:id="rId3"/>
    <p:sldId id="408" r:id="rId4"/>
    <p:sldId id="415" r:id="rId5"/>
    <p:sldId id="416" r:id="rId6"/>
    <p:sldId id="417" r:id="rId7"/>
    <p:sldId id="418" r:id="rId8"/>
    <p:sldId id="419" r:id="rId9"/>
    <p:sldId id="420" r:id="rId10"/>
    <p:sldId id="412" r:id="rId11"/>
    <p:sldId id="411" r:id="rId12"/>
    <p:sldId id="410" r:id="rId13"/>
    <p:sldId id="414" r:id="rId14"/>
    <p:sldId id="403" r:id="rId15"/>
    <p:sldId id="404" r:id="rId16"/>
    <p:sldId id="405" r:id="rId17"/>
    <p:sldId id="364" r:id="rId18"/>
    <p:sldId id="365" r:id="rId19"/>
    <p:sldId id="366" r:id="rId20"/>
    <p:sldId id="367" r:id="rId21"/>
    <p:sldId id="371" r:id="rId22"/>
    <p:sldId id="372" r:id="rId23"/>
    <p:sldId id="374" r:id="rId24"/>
    <p:sldId id="375" r:id="rId25"/>
    <p:sldId id="373" r:id="rId26"/>
    <p:sldId id="369" r:id="rId27"/>
    <p:sldId id="370" r:id="rId28"/>
    <p:sldId id="376" r:id="rId29"/>
    <p:sldId id="368" r:id="rId30"/>
    <p:sldId id="377" r:id="rId31"/>
    <p:sldId id="378" r:id="rId32"/>
    <p:sldId id="379" r:id="rId33"/>
    <p:sldId id="380" r:id="rId34"/>
    <p:sldId id="381" r:id="rId35"/>
    <p:sldId id="382" r:id="rId36"/>
    <p:sldId id="394" r:id="rId37"/>
    <p:sldId id="395" r:id="rId38"/>
    <p:sldId id="383" r:id="rId39"/>
    <p:sldId id="396" r:id="rId40"/>
    <p:sldId id="397" r:id="rId41"/>
    <p:sldId id="398" r:id="rId42"/>
    <p:sldId id="399" r:id="rId43"/>
    <p:sldId id="400" r:id="rId44"/>
    <p:sldId id="387" r:id="rId45"/>
    <p:sldId id="388" r:id="rId46"/>
    <p:sldId id="389" r:id="rId47"/>
    <p:sldId id="390" r:id="rId48"/>
    <p:sldId id="384" r:id="rId49"/>
    <p:sldId id="385" r:id="rId50"/>
    <p:sldId id="402" r:id="rId51"/>
    <p:sldId id="393" r:id="rId52"/>
    <p:sldId id="391" r:id="rId53"/>
    <p:sldId id="386" r:id="rId54"/>
    <p:sldId id="409" r:id="rId55"/>
    <p:sldId id="392" r:id="rId56"/>
  </p:sldIdLst>
  <p:sldSz cx="9144000" cy="6858000" type="screen4x3"/>
  <p:notesSz cx="7099300" cy="10234613"/>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accent2"/>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FDAFD"/>
    <a:srgbClr val="FFFFFF"/>
    <a:srgbClr val="CCECFF"/>
    <a:srgbClr val="40BFD9"/>
    <a:srgbClr val="7BC3F7"/>
    <a:srgbClr val="F4BA4A"/>
    <a:srgbClr val="CD5134"/>
    <a:srgbClr val="8000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7"/>
    <p:restoredTop sz="92281"/>
  </p:normalViewPr>
  <p:slideViewPr>
    <p:cSldViewPr snapToGrid="0" snapToObjects="1" showGuides="1">
      <p:cViewPr varScale="1">
        <p:scale>
          <a:sx n="90" d="100"/>
          <a:sy n="90" d="100"/>
        </p:scale>
        <p:origin x="420" y="96"/>
      </p:cViewPr>
      <p:guideLst>
        <p:guide orient="horz" pos="2160"/>
        <p:guide pos="2880"/>
      </p:guideLst>
    </p:cSldViewPr>
  </p:slideViewPr>
  <p:outlineViewPr>
    <p:cViewPr>
      <p:scale>
        <a:sx n="35" d="100"/>
        <a:sy n="35"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spcBef>
                <a:spcPct val="0"/>
              </a:spcBef>
              <a:defRPr kumimoji="0" sz="1300">
                <a:solidFill>
                  <a:schemeClr val="tx1"/>
                </a:solidFill>
                <a:latin typeface="Times" pitchFamily="18" charset="0"/>
              </a:defRPr>
            </a:lvl1pPr>
          </a:lstStyle>
          <a:p>
            <a:pPr marL="0" marR="0" lvl="0" indent="0" algn="l" defTabSz="9906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spcBef>
                <a:spcPct val="0"/>
              </a:spcBef>
              <a:defRPr kumimoji="0" sz="1300">
                <a:solidFill>
                  <a:schemeClr val="tx1"/>
                </a:solidFill>
                <a:latin typeface="Times" pitchFamily="18" charset="0"/>
              </a:defRPr>
            </a:lvl1pPr>
          </a:lstStyle>
          <a:p>
            <a:pPr marL="0" marR="0" lvl="0" indent="0" algn="r" defTabSz="9906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spcBef>
                <a:spcPct val="0"/>
              </a:spcBef>
              <a:defRPr kumimoji="0" sz="1300">
                <a:solidFill>
                  <a:schemeClr val="tx1"/>
                </a:solidFill>
                <a:latin typeface="Times" pitchFamily="18" charset="0"/>
              </a:defRPr>
            </a:lvl1pPr>
          </a:lstStyle>
          <a:p>
            <a:pPr marL="0" marR="0" lvl="0" indent="0" algn="l" defTabSz="9906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eaLnBrk="0" hangingPunct="0">
              <a:spcBef>
                <a:spcPct val="0"/>
              </a:spcBef>
              <a:defRPr kumimoji="0" sz="1300">
                <a:solidFill>
                  <a:schemeClr val="tx1"/>
                </a:solidFill>
                <a:latin typeface="Times" pitchFamily="18" charset="0"/>
              </a:defRPr>
            </a:lvl1pPr>
          </a:lstStyle>
          <a:p>
            <a:pPr marL="0" marR="0" lvl="0" indent="0" algn="r" defTabSz="990600" rtl="0" eaLnBrk="0" fontAlgn="base" latinLnBrk="0" hangingPunct="0">
              <a:lnSpc>
                <a:spcPct val="100000"/>
              </a:lnSpc>
              <a:spcBef>
                <a:spcPct val="0"/>
              </a:spcBef>
              <a:spcAft>
                <a:spcPct val="0"/>
              </a:spcAft>
              <a:buClrTx/>
              <a:buSzTx/>
              <a:buFontTx/>
              <a:buNone/>
              <a:defRPr/>
            </a:pPr>
            <a:fld id="{BBBCE7D4-085A-43AD-9841-2AE9A53B5D77}" type="slidenum">
              <a:rPr kumimoji="0" lang="zh-CN" altLang="en-US"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spcBef>
                <a:spcPct val="0"/>
              </a:spcBef>
              <a:defRPr kumimoji="0" sz="1300">
                <a:solidFill>
                  <a:schemeClr val="tx1"/>
                </a:solidFill>
                <a:latin typeface="Times" pitchFamily="18" charset="0"/>
              </a:defRPr>
            </a:lvl1pPr>
          </a:lstStyle>
          <a:p>
            <a:pPr marL="0" marR="0" lvl="0" indent="0" algn="l" defTabSz="9906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spcBef>
                <a:spcPct val="0"/>
              </a:spcBef>
              <a:defRPr kumimoji="0" sz="1300">
                <a:solidFill>
                  <a:schemeClr val="tx1"/>
                </a:solidFill>
                <a:latin typeface="Times" pitchFamily="18" charset="0"/>
              </a:defRPr>
            </a:lvl1pPr>
          </a:lstStyle>
          <a:p>
            <a:pPr marL="0" marR="0" lvl="0" indent="0" algn="r" defTabSz="9906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37" tIns="49519" rIns="99037" bIns="49519"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spcBef>
                <a:spcPct val="0"/>
              </a:spcBef>
              <a:defRPr kumimoji="0" sz="1300">
                <a:solidFill>
                  <a:schemeClr val="tx1"/>
                </a:solidFill>
                <a:latin typeface="Times" pitchFamily="18" charset="0"/>
              </a:defRPr>
            </a:lvl1pPr>
          </a:lstStyle>
          <a:p>
            <a:pPr marL="0" marR="0" lvl="0" indent="0" algn="l" defTabSz="9906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eaLnBrk="0" hangingPunct="0">
              <a:spcBef>
                <a:spcPct val="0"/>
              </a:spcBef>
              <a:defRPr kumimoji="0" sz="1300">
                <a:solidFill>
                  <a:schemeClr val="tx1"/>
                </a:solidFill>
                <a:latin typeface="Times" pitchFamily="18" charset="0"/>
              </a:defRPr>
            </a:lvl1pPr>
          </a:lstStyle>
          <a:p>
            <a:pPr marL="0" marR="0" lvl="0" indent="0" algn="r" defTabSz="990600" rtl="0" eaLnBrk="0" fontAlgn="base" latinLnBrk="0" hangingPunct="0">
              <a:lnSpc>
                <a:spcPct val="100000"/>
              </a:lnSpc>
              <a:spcBef>
                <a:spcPct val="0"/>
              </a:spcBef>
              <a:spcAft>
                <a:spcPct val="0"/>
              </a:spcAft>
              <a:buClrTx/>
              <a:buSzTx/>
              <a:buFontTx/>
              <a:buNone/>
              <a:defRPr/>
            </a:pPr>
            <a:fld id="{E3693689-407D-4CF3-A28B-5B2063FB9C8A}" type="slidenum">
              <a:rPr kumimoji="0" lang="zh-CN" altLang="en-US"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Times"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tx1"/>
        </a:soli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pitchFamily="18" charset="0"/>
              <a:ea typeface="宋体" panose="02010600030101010101" pitchFamily="2" charset="-122"/>
              <a:cs typeface="+mn-cs"/>
            </a:endParaRPr>
          </a:p>
        </p:txBody>
      </p:sp>
      <p:sp>
        <p:nvSpPr>
          <p:cNvPr id="9" name="Rectangle 5"/>
          <p:cNvSpPr>
            <a:spLocks noChangeArrowheads="1"/>
          </p:cNvSpPr>
          <p:nvPr/>
        </p:nvSpPr>
        <p:spPr bwMode="auto">
          <a:xfrm>
            <a:off x="0" y="6400800"/>
            <a:ext cx="9144000" cy="45720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pitchFamily="18" charset="0"/>
              <a:ea typeface="宋体" panose="02010600030101010101" pitchFamily="2" charset="-122"/>
              <a:cs typeface="+mn-cs"/>
            </a:endParaRPr>
          </a:p>
        </p:txBody>
      </p:sp>
      <p:sp>
        <p:nvSpPr>
          <p:cNvPr id="10" name="Rectangle 10"/>
          <p:cNvSpPr>
            <a:spLocks noChangeArrowheads="1"/>
          </p:cNvSpPr>
          <p:nvPr/>
        </p:nvSpPr>
        <p:spPr bwMode="auto">
          <a:xfrm>
            <a:off x="0" y="0"/>
            <a:ext cx="9144000" cy="725488"/>
          </a:xfrm>
          <a:prstGeom prst="rect">
            <a:avLst/>
          </a:prstGeom>
          <a:solidFill>
            <a:srgbClr val="990000"/>
          </a:solidFill>
          <a:ln w="9525">
            <a:solidFill>
              <a:srgbClr val="990000"/>
            </a:solidFill>
            <a:miter lim="800000"/>
          </a:ln>
        </p:spPr>
        <p:txBody>
          <a:bodyPr wrap="none" anchor="ct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smtClean="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1" name="Rectangle 14"/>
          <p:cNvSpPr>
            <a:spLocks noChangeArrowheads="1"/>
          </p:cNvSpPr>
          <p:nvPr/>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pitchFamily="18" charset="0"/>
              <a:ea typeface="宋体" panose="02010600030101010101" pitchFamily="2" charset="-122"/>
              <a:cs typeface="+mn-cs"/>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smtClean="0">
              <a:ln>
                <a:noFill/>
              </a:ln>
              <a:solidFill>
                <a:srgbClr val="000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540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2700"/>
            <a:ext cx="6705600" cy="65405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0" y="1346200"/>
            <a:ext cx="9144000" cy="52070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600" b="1" i="0" u="none" strike="noStrike" kern="0" cap="none" spc="0" normalizeH="0" baseline="0" noProof="0" smtClean="0">
              <a:ln>
                <a:noFill/>
              </a:ln>
              <a:solidFill>
                <a:srgbClr val="000000"/>
              </a:solidFill>
              <a:effectLst/>
              <a:uLnTx/>
              <a:uFillTx/>
              <a:latin typeface="+mn-lt"/>
              <a:ea typeface="+mn-ea"/>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3"/>
          <p:cNvSpPr>
            <a:spLocks noGrp="1"/>
          </p:cNvSpPr>
          <p:nvPr>
            <p:ph type="body" idx="1"/>
          </p:nvPr>
        </p:nvSpPr>
        <p:spPr>
          <a:xfrm>
            <a:off x="0" y="1346200"/>
            <a:ext cx="9144000" cy="5207000"/>
          </a:xfrm>
          <a:prstGeom prst="rect">
            <a:avLst/>
          </a:prstGeom>
          <a:solidFill>
            <a:srgbClr val="FFFFFF"/>
          </a:solid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7" name="Rectangle 7"/>
          <p:cNvSpPr>
            <a:spLocks noChangeArrowheads="1"/>
          </p:cNvSpPr>
          <p:nvPr/>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pitchFamily="18" charset="0"/>
              <a:ea typeface="宋体" panose="02010600030101010101" pitchFamily="2" charset="-122"/>
              <a:cs typeface="+mn-cs"/>
            </a:endParaRPr>
          </a:p>
        </p:txBody>
      </p:sp>
      <p:sp>
        <p:nvSpPr>
          <p:cNvPr id="1028" name="Rectangle 11"/>
          <p:cNvSpPr>
            <a:spLocks noChangeArrowheads="1"/>
          </p:cNvSpPr>
          <p:nvPr/>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pitchFamily="18" charset="0"/>
              <a:ea typeface="宋体" panose="02010600030101010101" pitchFamily="2" charset="-122"/>
              <a:cs typeface="+mn-cs"/>
            </a:endParaRPr>
          </a:p>
        </p:txBody>
      </p:sp>
      <p:sp>
        <p:nvSpPr>
          <p:cNvPr id="1029" name="Rectangle 14"/>
          <p:cNvSpPr>
            <a:spLocks noChangeArrowheads="1"/>
          </p:cNvSpPr>
          <p:nvPr/>
        </p:nvSpPr>
        <p:spPr bwMode="auto">
          <a:xfrm>
            <a:off x="-12700" y="1193800"/>
            <a:ext cx="9144000" cy="152400"/>
          </a:xfrm>
          <a:prstGeom prst="rect">
            <a:avLst/>
          </a:prstGeom>
          <a:solidFill>
            <a:srgbClr val="800000"/>
          </a:solidFill>
          <a:ln w="9525">
            <a:solidFill>
              <a:srgbClr val="800000"/>
            </a:solidFill>
            <a:miter lim="800000"/>
          </a:ln>
        </p:spPr>
        <p:txBody>
          <a:bodyPr wrap="none" anchor="ct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smtClean="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16"/>
          <p:cNvSpPr>
            <a:spLocks noChangeArrowheads="1"/>
          </p:cNvSpPr>
          <p:nvPr/>
        </p:nvSpPr>
        <p:spPr bwMode="auto">
          <a:xfrm>
            <a:off x="-15875" y="12700"/>
            <a:ext cx="9144000" cy="1193800"/>
          </a:xfrm>
          <a:prstGeom prst="rect">
            <a:avLst/>
          </a:prstGeom>
          <a:solidFill>
            <a:schemeClr val="tx1"/>
          </a:solidFill>
          <a:ln w="9525">
            <a:solidFill>
              <a:schemeClr val="tx1"/>
            </a:solidFill>
            <a:miter lim="800000"/>
          </a:ln>
        </p:spPr>
        <p:txBody>
          <a:bodyPr wrap="none" anchor="ctr"/>
          <a:lstStyle>
            <a:lvl1pPr>
              <a:spcBef>
                <a:spcPct val="50000"/>
              </a:spcBef>
              <a:defRPr kumimoji="1" sz="2400">
                <a:solidFill>
                  <a:schemeClr val="accent2"/>
                </a:solidFill>
                <a:latin typeface="Times New Roman" panose="02020603050405020304" pitchFamily="18" charset="0"/>
                <a:ea typeface="宋体" panose="02010600030101010101" pitchFamily="2" charset="-122"/>
              </a:defRPr>
            </a:lvl1pPr>
            <a:lvl2pPr marL="742950" indent="-285750">
              <a:spcBef>
                <a:spcPct val="50000"/>
              </a:spcBef>
              <a:defRPr kumimoji="1" sz="2400">
                <a:solidFill>
                  <a:schemeClr val="accent2"/>
                </a:solidFill>
                <a:latin typeface="Times New Roman" panose="02020603050405020304" pitchFamily="18" charset="0"/>
                <a:ea typeface="宋体" panose="02010600030101010101" pitchFamily="2" charset="-122"/>
              </a:defRPr>
            </a:lvl2pPr>
            <a:lvl3pPr marL="11430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3pPr>
            <a:lvl4pPr marL="16002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4pPr>
            <a:lvl5pPr marL="2057400" indent="-228600">
              <a:spcBef>
                <a:spcPct val="50000"/>
              </a:spcBef>
              <a:defRPr kumimoji="1" sz="24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accent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smtClean="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1" name="Rectangle 2"/>
          <p:cNvSpPr>
            <a:spLocks noGrp="1"/>
          </p:cNvSpPr>
          <p:nvPr>
            <p:ph type="title"/>
          </p:nvPr>
        </p:nvSpPr>
        <p:spPr>
          <a:xfrm>
            <a:off x="282575" y="12700"/>
            <a:ext cx="8178800" cy="1181100"/>
          </a:xfrm>
          <a:prstGeom prst="rect">
            <a:avLst/>
          </a:prstGeom>
          <a:solidFill>
            <a:schemeClr val="tx2"/>
          </a:solidFill>
          <a:ln w="9525">
            <a:noFill/>
          </a:ln>
        </p:spPr>
        <p:txBody>
          <a:bodyPr anchor="ctr"/>
          <a:lstStyle/>
          <a:p>
            <a:pPr lvl="0"/>
            <a:r>
              <a:rPr lang="en-US" altLang="zh-CN" dirty="0"/>
              <a:t>Click to edit Master title style</a:t>
            </a: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sldNum="0" hdr="0" ftr="0" dt="0"/>
  <p:txStyles>
    <p:titleStyle>
      <a:lvl1pPr algn="l" rtl="0" eaLnBrk="0" fontAlgn="base" hangingPunct="0">
        <a:spcBef>
          <a:spcPct val="0"/>
        </a:spcBef>
        <a:spcAft>
          <a:spcPct val="0"/>
        </a:spcAft>
        <a:defRPr sz="4400" b="1">
          <a:solidFill>
            <a:srgbClr val="990000"/>
          </a:solidFill>
          <a:latin typeface="+mj-lt"/>
          <a:ea typeface="+mj-ea"/>
          <a:cs typeface="+mj-cs"/>
        </a:defRPr>
      </a:lvl1pPr>
      <a:lvl2pPr algn="l" rtl="0" eaLnBrk="0" fontAlgn="base" hangingPunct="0">
        <a:spcBef>
          <a:spcPct val="0"/>
        </a:spcBef>
        <a:spcAft>
          <a:spcPct val="0"/>
        </a:spcAft>
        <a:defRPr sz="4400" b="1">
          <a:solidFill>
            <a:srgbClr val="990000"/>
          </a:solidFill>
          <a:latin typeface="Arial" panose="020B0604020202020204" pitchFamily="34" charset="0"/>
          <a:ea typeface="楷体_GB2312" pitchFamily="49" charset="-122"/>
        </a:defRPr>
      </a:lvl2pPr>
      <a:lvl3pPr algn="l" rtl="0" eaLnBrk="0" fontAlgn="base" hangingPunct="0">
        <a:spcBef>
          <a:spcPct val="0"/>
        </a:spcBef>
        <a:spcAft>
          <a:spcPct val="0"/>
        </a:spcAft>
        <a:defRPr sz="4400" b="1">
          <a:solidFill>
            <a:srgbClr val="990000"/>
          </a:solidFill>
          <a:latin typeface="Arial" panose="020B0604020202020204" pitchFamily="34" charset="0"/>
          <a:ea typeface="楷体_GB2312" pitchFamily="49" charset="-122"/>
        </a:defRPr>
      </a:lvl3pPr>
      <a:lvl4pPr algn="l" rtl="0" eaLnBrk="0" fontAlgn="base" hangingPunct="0">
        <a:spcBef>
          <a:spcPct val="0"/>
        </a:spcBef>
        <a:spcAft>
          <a:spcPct val="0"/>
        </a:spcAft>
        <a:defRPr sz="4400" b="1">
          <a:solidFill>
            <a:srgbClr val="990000"/>
          </a:solidFill>
          <a:latin typeface="Arial" panose="020B0604020202020204" pitchFamily="34" charset="0"/>
          <a:ea typeface="楷体_GB2312" pitchFamily="49" charset="-122"/>
        </a:defRPr>
      </a:lvl4pPr>
      <a:lvl5pPr algn="l" rtl="0" eaLnBrk="0" fontAlgn="base" hangingPunct="0">
        <a:spcBef>
          <a:spcPct val="0"/>
        </a:spcBef>
        <a:spcAft>
          <a:spcPct val="0"/>
        </a:spcAft>
        <a:defRPr sz="4400" b="1">
          <a:solidFill>
            <a:srgbClr val="990000"/>
          </a:solidFill>
          <a:latin typeface="Arial" panose="020B0604020202020204" pitchFamily="34" charset="0"/>
          <a:ea typeface="楷体_GB2312" pitchFamily="49" charset="-122"/>
        </a:defRPr>
      </a:lvl5pPr>
      <a:lvl6pPr marL="457200" algn="l" rtl="0" fontAlgn="base">
        <a:spcBef>
          <a:spcPct val="0"/>
        </a:spcBef>
        <a:spcAft>
          <a:spcPct val="0"/>
        </a:spcAft>
        <a:defRPr sz="4400" b="1">
          <a:solidFill>
            <a:srgbClr val="990000"/>
          </a:solidFill>
          <a:latin typeface="Arial" panose="020B0604020202020204" pitchFamily="34" charset="0"/>
          <a:ea typeface="楷体_GB2312" pitchFamily="49" charset="-122"/>
        </a:defRPr>
      </a:lvl6pPr>
      <a:lvl7pPr marL="914400" algn="l" rtl="0" fontAlgn="base">
        <a:spcBef>
          <a:spcPct val="0"/>
        </a:spcBef>
        <a:spcAft>
          <a:spcPct val="0"/>
        </a:spcAft>
        <a:defRPr sz="4400" b="1">
          <a:solidFill>
            <a:srgbClr val="990000"/>
          </a:solidFill>
          <a:latin typeface="Arial" panose="020B0604020202020204" pitchFamily="34" charset="0"/>
          <a:ea typeface="楷体_GB2312" pitchFamily="49" charset="-122"/>
        </a:defRPr>
      </a:lvl7pPr>
      <a:lvl8pPr marL="1371600" algn="l" rtl="0" fontAlgn="base">
        <a:spcBef>
          <a:spcPct val="0"/>
        </a:spcBef>
        <a:spcAft>
          <a:spcPct val="0"/>
        </a:spcAft>
        <a:defRPr sz="4400" b="1">
          <a:solidFill>
            <a:srgbClr val="990000"/>
          </a:solidFill>
          <a:latin typeface="Arial" panose="020B0604020202020204" pitchFamily="34" charset="0"/>
          <a:ea typeface="楷体_GB2312" pitchFamily="49" charset="-122"/>
        </a:defRPr>
      </a:lvl8pPr>
      <a:lvl9pPr marL="1828800" algn="l" rtl="0" fontAlgn="base">
        <a:spcBef>
          <a:spcPct val="0"/>
        </a:spcBef>
        <a:spcAft>
          <a:spcPct val="0"/>
        </a:spcAft>
        <a:defRPr sz="4400" b="1">
          <a:solidFill>
            <a:srgbClr val="990000"/>
          </a:solidFill>
          <a:latin typeface="Arial" panose="020B0604020202020204" pitchFamily="34" charset="0"/>
          <a:ea typeface="楷体_GB2312" pitchFamily="49" charset="-122"/>
        </a:defRPr>
      </a:lvl9pPr>
    </p:titleStyle>
    <p:body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ln/>
        </p:spPr>
        <p:txBody>
          <a:bodyPr vert="horz" wrap="square" lIns="91440" tIns="45720" rIns="91440" bIns="45720" anchor="ctr"/>
          <a:lstStyle/>
          <a:p>
            <a:pPr eaLnBrk="1" hangingPunct="1"/>
            <a:r>
              <a:rPr lang="zh-CN" altLang="en-US" dirty="0"/>
              <a:t>回顾：</a:t>
            </a:r>
            <a:r>
              <a:rPr lang="en-US" altLang="zh-CN" dirty="0"/>
              <a:t>Concepts of cost</a:t>
            </a:r>
            <a:endParaRPr lang="zh-CN" altLang="en-US" dirty="0"/>
          </a:p>
        </p:txBody>
      </p:sp>
      <p:sp>
        <p:nvSpPr>
          <p:cNvPr id="5123" name="Rectangle 3"/>
          <p:cNvSpPr>
            <a:spLocks noGrp="1"/>
          </p:cNvSpPr>
          <p:nvPr>
            <p:ph idx="1"/>
          </p:nvPr>
        </p:nvSpPr>
        <p:spPr>
          <a:ln/>
        </p:spPr>
        <p:txBody>
          <a:bodyPr vert="horz" wrap="square" lIns="91440" tIns="45720" rIns="91440" bIns="45720" anchor="t"/>
          <a:lstStyle/>
          <a:p>
            <a:pPr eaLnBrk="1" hangingPunct="1">
              <a:lnSpc>
                <a:spcPct val="90000"/>
              </a:lnSpc>
            </a:pPr>
            <a:r>
              <a:rPr lang="en-US" altLang="zh-CN" sz="3200" b="0" dirty="0"/>
              <a:t>Tangible costs or benefits</a:t>
            </a:r>
          </a:p>
          <a:p>
            <a:pPr eaLnBrk="1" hangingPunct="1">
              <a:lnSpc>
                <a:spcPct val="90000"/>
              </a:lnSpc>
            </a:pPr>
            <a:r>
              <a:rPr lang="en-US" altLang="zh-CN" sz="3200" b="0" dirty="0"/>
              <a:t>Intangible costs or benefits </a:t>
            </a:r>
          </a:p>
          <a:p>
            <a:pPr eaLnBrk="1" hangingPunct="1">
              <a:lnSpc>
                <a:spcPct val="90000"/>
              </a:lnSpc>
            </a:pPr>
            <a:r>
              <a:rPr lang="en-US" altLang="zh-CN" sz="3200" b="0" dirty="0"/>
              <a:t>Fixed costs</a:t>
            </a:r>
          </a:p>
          <a:p>
            <a:pPr eaLnBrk="1" hangingPunct="1">
              <a:lnSpc>
                <a:spcPct val="90000"/>
              </a:lnSpc>
            </a:pPr>
            <a:r>
              <a:rPr lang="en-US" altLang="zh-CN" sz="3200" b="0" dirty="0"/>
              <a:t>Variable costs</a:t>
            </a:r>
          </a:p>
          <a:p>
            <a:pPr eaLnBrk="1" hangingPunct="1">
              <a:lnSpc>
                <a:spcPct val="90000"/>
              </a:lnSpc>
            </a:pPr>
            <a:r>
              <a:rPr lang="en-US" altLang="zh-CN" sz="3200" b="0" dirty="0"/>
              <a:t>Direct costs </a:t>
            </a:r>
          </a:p>
          <a:p>
            <a:pPr eaLnBrk="1" hangingPunct="1">
              <a:lnSpc>
                <a:spcPct val="90000"/>
              </a:lnSpc>
            </a:pPr>
            <a:r>
              <a:rPr lang="en-US" altLang="zh-CN" sz="3200" b="0" dirty="0"/>
              <a:t>Indirect costs </a:t>
            </a:r>
          </a:p>
          <a:p>
            <a:pPr eaLnBrk="1" hangingPunct="1">
              <a:lnSpc>
                <a:spcPct val="90000"/>
              </a:lnSpc>
            </a:pPr>
            <a:r>
              <a:rPr lang="en-US" altLang="zh-CN" sz="3200" b="0" dirty="0"/>
              <a:t>Sunk cost</a:t>
            </a:r>
          </a:p>
          <a:p>
            <a:pPr eaLnBrk="1" hangingPunct="1">
              <a:lnSpc>
                <a:spcPct val="90000"/>
              </a:lnSpc>
            </a:pPr>
            <a:r>
              <a:rPr lang="en-US" altLang="zh-CN" sz="3200" b="0" dirty="0"/>
              <a:t>Opportunity Cost</a:t>
            </a:r>
          </a:p>
          <a:p>
            <a:pPr eaLnBrk="1" hangingPunct="1">
              <a:lnSpc>
                <a:spcPct val="90000"/>
              </a:lnSpc>
            </a:pPr>
            <a:r>
              <a:rPr lang="en-US" altLang="zh-CN" sz="3200" b="0" dirty="0"/>
              <a:t>Life Cycle Costs</a:t>
            </a:r>
          </a:p>
          <a:p>
            <a:pPr eaLnBrk="1" hangingPunct="1">
              <a:lnSpc>
                <a:spcPct val="90000"/>
              </a:lnSpc>
            </a:pPr>
            <a:endParaRPr lang="zh-CN" altLang="en-US" sz="3200"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ln/>
        </p:spPr>
        <p:txBody>
          <a:bodyPr vert="horz" wrap="square" lIns="91440" tIns="45720" rIns="91440" bIns="45720" anchor="ctr"/>
          <a:lstStyle/>
          <a:p>
            <a:pPr eaLnBrk="1" hangingPunct="1"/>
            <a:r>
              <a:rPr lang="zh-CN" altLang="en-US" dirty="0"/>
              <a:t>成本视角</a:t>
            </a:r>
          </a:p>
        </p:txBody>
      </p:sp>
      <p:sp>
        <p:nvSpPr>
          <p:cNvPr id="6147" name="Rectangle 3"/>
          <p:cNvSpPr>
            <a:spLocks noGrp="1"/>
          </p:cNvSpPr>
          <p:nvPr>
            <p:ph idx="1"/>
          </p:nvPr>
        </p:nvSpPr>
        <p:spPr>
          <a:ln/>
        </p:spPr>
        <p:txBody>
          <a:bodyPr vert="horz" wrap="square" lIns="91440" tIns="45720" rIns="91440" bIns="45720" anchor="t"/>
          <a:lstStyle/>
          <a:p>
            <a:pPr eaLnBrk="1" hangingPunct="1">
              <a:lnSpc>
                <a:spcPct val="90000"/>
              </a:lnSpc>
            </a:pPr>
            <a:r>
              <a:rPr lang="zh-CN" altLang="en-US" sz="4000" dirty="0"/>
              <a:t>会计学  </a:t>
            </a:r>
            <a:r>
              <a:rPr lang="en-US" altLang="zh-CN" sz="4000" dirty="0"/>
              <a:t>Accounting</a:t>
            </a:r>
          </a:p>
          <a:p>
            <a:pPr lvl="1" eaLnBrk="1" hangingPunct="1">
              <a:lnSpc>
                <a:spcPct val="90000"/>
              </a:lnSpc>
            </a:pPr>
            <a:r>
              <a:rPr lang="zh-CN" altLang="en-US" dirty="0"/>
              <a:t>主要功能是详细记录</a:t>
            </a:r>
          </a:p>
          <a:p>
            <a:pPr lvl="1" eaLnBrk="1" hangingPunct="1">
              <a:lnSpc>
                <a:spcPct val="90000"/>
              </a:lnSpc>
            </a:pPr>
            <a:r>
              <a:rPr lang="zh-CN" altLang="en-US" dirty="0"/>
              <a:t>将各项费用和各项生产活动对应起来</a:t>
            </a:r>
          </a:p>
          <a:p>
            <a:pPr lvl="1" eaLnBrk="1" hangingPunct="1">
              <a:lnSpc>
                <a:spcPct val="90000"/>
              </a:lnSpc>
            </a:pPr>
            <a:r>
              <a:rPr lang="zh-CN" altLang="en-US" dirty="0"/>
              <a:t>“向后看” </a:t>
            </a:r>
            <a:r>
              <a:rPr lang="en-US" altLang="zh-CN" dirty="0"/>
              <a:t>(backward-looking)</a:t>
            </a:r>
          </a:p>
          <a:p>
            <a:pPr lvl="1" eaLnBrk="1" hangingPunct="1">
              <a:lnSpc>
                <a:spcPct val="90000"/>
              </a:lnSpc>
            </a:pPr>
            <a:endParaRPr lang="en-US" altLang="zh-CN" dirty="0"/>
          </a:p>
          <a:p>
            <a:pPr eaLnBrk="1" hangingPunct="1">
              <a:lnSpc>
                <a:spcPct val="90000"/>
              </a:lnSpc>
            </a:pPr>
            <a:r>
              <a:rPr lang="zh-CN" altLang="en-US" sz="4000" dirty="0"/>
              <a:t>工程经济学  </a:t>
            </a:r>
            <a:r>
              <a:rPr lang="en-US" altLang="zh-CN" sz="4000" dirty="0"/>
              <a:t>Engineering Economics</a:t>
            </a:r>
          </a:p>
          <a:p>
            <a:pPr lvl="1" eaLnBrk="1" hangingPunct="1">
              <a:lnSpc>
                <a:spcPct val="90000"/>
              </a:lnSpc>
            </a:pPr>
            <a:r>
              <a:rPr lang="zh-CN" altLang="en-US" dirty="0"/>
              <a:t>对项目未来的成本进行预测</a:t>
            </a:r>
          </a:p>
          <a:p>
            <a:pPr lvl="1" eaLnBrk="1" hangingPunct="1">
              <a:lnSpc>
                <a:spcPct val="90000"/>
              </a:lnSpc>
            </a:pPr>
            <a:r>
              <a:rPr lang="zh-CN" altLang="en-US" dirty="0"/>
              <a:t>利用预测的成本和收益进行项目可行性评价</a:t>
            </a:r>
          </a:p>
          <a:p>
            <a:pPr lvl="1" eaLnBrk="1" hangingPunct="1">
              <a:lnSpc>
                <a:spcPct val="90000"/>
              </a:lnSpc>
            </a:pPr>
            <a:r>
              <a:rPr lang="zh-CN" altLang="en-US" dirty="0"/>
              <a:t>“向前看” </a:t>
            </a:r>
            <a:r>
              <a:rPr lang="en-US" altLang="zh-CN" dirty="0"/>
              <a:t>(forward-looking)</a:t>
            </a:r>
          </a:p>
          <a:p>
            <a:pPr eaLnBrk="1" hangingPunct="1">
              <a:lnSpc>
                <a:spcPct val="90000"/>
              </a:lnSpc>
            </a:pPr>
            <a:endParaRPr lang="zh-CN" alt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p:nvPr/>
        </p:nvSpPr>
        <p:spPr>
          <a:xfrm>
            <a:off x="0" y="798513"/>
            <a:ext cx="9186863" cy="3163887"/>
          </a:xfrm>
          <a:prstGeom prst="rect">
            <a:avLst/>
          </a:prstGeom>
          <a:noFill/>
          <a:ln w="9525">
            <a:noFill/>
          </a:ln>
        </p:spPr>
        <p:txBody>
          <a:bodyPr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7200" dirty="0"/>
              <a:t>工程经济学</a:t>
            </a:r>
            <a:r>
              <a:rPr lang="zh-CN" altLang="en-US" sz="6600" dirty="0"/>
              <a:t/>
            </a:r>
            <a:br>
              <a:rPr lang="zh-CN" altLang="en-US" sz="6600" dirty="0"/>
            </a:br>
            <a:r>
              <a:rPr lang="zh-CN" altLang="en-US" sz="4400" dirty="0"/>
              <a:t/>
            </a:r>
            <a:br>
              <a:rPr lang="zh-CN" altLang="en-US" sz="4400" dirty="0"/>
            </a:br>
            <a:r>
              <a:rPr lang="zh-CN" altLang="en-US" sz="5400" dirty="0">
                <a:solidFill>
                  <a:srgbClr val="800000"/>
                </a:solidFill>
              </a:rPr>
              <a:t>成本估算</a:t>
            </a:r>
          </a:p>
        </p:txBody>
      </p:sp>
      <p:sp>
        <p:nvSpPr>
          <p:cNvPr id="7171" name="Rectangle 5"/>
          <p:cNvSpPr/>
          <p:nvPr/>
        </p:nvSpPr>
        <p:spPr>
          <a:xfrm>
            <a:off x="725488" y="4368800"/>
            <a:ext cx="7634287" cy="1944688"/>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342900" lvl="0" indent="-342900" algn="ctr" eaLnBrk="1" hangingPunct="1">
              <a:lnSpc>
                <a:spcPct val="90000"/>
              </a:lnSpc>
              <a:buNone/>
            </a:pPr>
            <a:r>
              <a:rPr lang="zh-CN" altLang="en-US" dirty="0">
                <a:solidFill>
                  <a:srgbClr val="800000"/>
                </a:solidFill>
              </a:rPr>
              <a:t>唐文哲 所长</a:t>
            </a:r>
            <a:r>
              <a:rPr lang="en-US" altLang="zh-CN" dirty="0">
                <a:solidFill>
                  <a:srgbClr val="800000"/>
                </a:solidFill>
              </a:rPr>
              <a:t>/</a:t>
            </a:r>
            <a:r>
              <a:rPr lang="zh-CN" altLang="en-US" dirty="0">
                <a:solidFill>
                  <a:srgbClr val="800000"/>
                </a:solidFill>
              </a:rPr>
              <a:t>博导</a:t>
            </a:r>
          </a:p>
          <a:p>
            <a:pPr marL="342900" lvl="0" indent="-342900" algn="ctr" eaLnBrk="1" hangingPunct="1">
              <a:lnSpc>
                <a:spcPct val="90000"/>
              </a:lnSpc>
              <a:buNone/>
            </a:pPr>
            <a:r>
              <a:rPr lang="zh-CN" altLang="en-US" b="0" dirty="0"/>
              <a:t>清华大学项目管理与建设技术研究所</a:t>
            </a:r>
          </a:p>
          <a:p>
            <a:pPr marL="342900" lvl="0" indent="-342900" algn="ctr" eaLnBrk="1" hangingPunct="1">
              <a:lnSpc>
                <a:spcPct val="90000"/>
              </a:lnSpc>
              <a:buNone/>
            </a:pPr>
            <a:r>
              <a:rPr lang="en-US" altLang="zh-CN" b="0" dirty="0">
                <a:latin typeface="楷体_GB2312" pitchFamily="49" charset="-122"/>
              </a:rPr>
              <a:t>2019</a:t>
            </a:r>
            <a:r>
              <a:rPr lang="zh-CN" altLang="en-US" b="0" dirty="0">
                <a:latin typeface="楷体_GB2312" pitchFamily="49" charset="-122"/>
              </a:rPr>
              <a:t>年</a:t>
            </a:r>
            <a:r>
              <a:rPr lang="en-US" altLang="zh-CN" b="0" dirty="0">
                <a:latin typeface="楷体_GB2312" pitchFamily="49" charset="-122"/>
              </a:rPr>
              <a:t>9</a:t>
            </a:r>
            <a:r>
              <a:rPr lang="zh-CN" altLang="en-US" b="0" dirty="0">
                <a:latin typeface="楷体_GB2312" pitchFamily="49" charset="-122"/>
              </a:rPr>
              <a:t>月</a:t>
            </a:r>
            <a:r>
              <a:rPr lang="en-US" altLang="zh-CN" b="0" dirty="0">
                <a:latin typeface="楷体_GB2312" pitchFamily="49" charset="-122"/>
              </a:rPr>
              <a:t>19</a:t>
            </a:r>
            <a:r>
              <a:rPr lang="zh-CN" altLang="en-US" b="0" dirty="0">
                <a:latin typeface="楷体_GB2312" pitchFamily="49" charset="-122"/>
              </a:rPr>
              <a:t>日</a:t>
            </a:r>
          </a:p>
          <a:p>
            <a:pPr marL="342900" lvl="0" indent="-342900" eaLnBrk="1" hangingPunct="1">
              <a:lnSpc>
                <a:spcPct val="90000"/>
              </a:lnSpc>
              <a:buNone/>
            </a:pPr>
            <a:endParaRPr lang="zh-CN" altLang="en-US" sz="4000" b="0" dirty="0">
              <a:latin typeface="楷体_GB2312" pitchFamily="49"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693706443"/>
              </p:ext>
            </p:extLst>
          </p:nvPr>
        </p:nvGraphicFramePr>
        <p:xfrm>
          <a:off x="982995" y="1573619"/>
          <a:ext cx="7478380" cy="4511040"/>
        </p:xfrm>
        <a:graphic>
          <a:graphicData uri="http://schemas.openxmlformats.org/drawingml/2006/table">
            <a:tbl>
              <a:tblPr firstRow="1" bandRow="1">
                <a:tableStyleId>{93296810-A885-4BE3-A3E7-6D5BEEA58F35}</a:tableStyleId>
              </a:tblPr>
              <a:tblGrid>
                <a:gridCol w="2163578">
                  <a:extLst>
                    <a:ext uri="{9D8B030D-6E8A-4147-A177-3AD203B41FA5}">
                      <a16:colId xmlns:a16="http://schemas.microsoft.com/office/drawing/2014/main" val="691172044"/>
                    </a:ext>
                  </a:extLst>
                </a:gridCol>
                <a:gridCol w="5314802">
                  <a:extLst>
                    <a:ext uri="{9D8B030D-6E8A-4147-A177-3AD203B41FA5}">
                      <a16:colId xmlns:a16="http://schemas.microsoft.com/office/drawing/2014/main" val="4145385634"/>
                    </a:ext>
                  </a:extLst>
                </a:gridCol>
              </a:tblGrid>
              <a:tr h="370840">
                <a:tc>
                  <a:txBody>
                    <a:bodyPr/>
                    <a:lstStyle/>
                    <a:p>
                      <a:pPr algn="ctr"/>
                      <a:r>
                        <a:rPr lang="zh-CN" altLang="en-US" sz="2000" dirty="0" smtClean="0">
                          <a:solidFill>
                            <a:srgbClr val="000000"/>
                          </a:solidFill>
                        </a:rPr>
                        <a:t>时间</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2000" dirty="0" smtClean="0">
                          <a:solidFill>
                            <a:srgbClr val="000000"/>
                          </a:solidFill>
                        </a:rPr>
                        <a:t>内容</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0859219"/>
                  </a:ext>
                </a:extLst>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1</a:t>
                      </a:r>
                      <a:r>
                        <a:rPr lang="zh-CN" altLang="en-US" sz="2000" dirty="0" smtClean="0">
                          <a:solidFill>
                            <a:srgbClr val="000000"/>
                          </a:solidFill>
                        </a:rPr>
                        <a:t>月</a:t>
                      </a:r>
                      <a:r>
                        <a:rPr lang="en-US" altLang="zh-CN" sz="2000" dirty="0" smtClean="0">
                          <a:solidFill>
                            <a:srgbClr val="000000"/>
                          </a:solidFill>
                        </a:rPr>
                        <a:t>22</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2000" dirty="0" smtClean="0">
                          <a:solidFill>
                            <a:srgbClr val="000000"/>
                          </a:solidFill>
                        </a:rPr>
                        <a:t>特朗普批准对所有进口洗衣机和太阳能电池板征收关税，不限于中国商品。</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8170950"/>
                  </a:ext>
                </a:extLst>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3</a:t>
                      </a:r>
                      <a:r>
                        <a:rPr lang="zh-CN" altLang="en-US" sz="2000" dirty="0" smtClean="0">
                          <a:solidFill>
                            <a:srgbClr val="000000"/>
                          </a:solidFill>
                        </a:rPr>
                        <a:t>月</a:t>
                      </a:r>
                      <a:r>
                        <a:rPr lang="en-US" altLang="zh-CN" sz="2000" dirty="0" smtClean="0">
                          <a:solidFill>
                            <a:srgbClr val="000000"/>
                          </a:solidFill>
                        </a:rPr>
                        <a:t>8</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smtClean="0">
                          <a:solidFill>
                            <a:srgbClr val="000000"/>
                          </a:solidFill>
                        </a:rPr>
                        <a:t>特朗普正式签署命令对美国进口的所有钢铁和铝分别征收</a:t>
                      </a:r>
                      <a:r>
                        <a:rPr lang="en-US" altLang="zh-CN" sz="2000" dirty="0" smtClean="0">
                          <a:solidFill>
                            <a:srgbClr val="000000"/>
                          </a:solidFill>
                        </a:rPr>
                        <a:t>25%</a:t>
                      </a:r>
                      <a:r>
                        <a:rPr lang="zh-CN" altLang="en-US" sz="2000" dirty="0" smtClean="0">
                          <a:solidFill>
                            <a:srgbClr val="000000"/>
                          </a:solidFill>
                        </a:rPr>
                        <a:t>和</a:t>
                      </a:r>
                      <a:r>
                        <a:rPr lang="en-US" altLang="zh-CN" sz="2000" dirty="0" smtClean="0">
                          <a:solidFill>
                            <a:srgbClr val="000000"/>
                          </a:solidFill>
                        </a:rPr>
                        <a:t>10%</a:t>
                      </a:r>
                      <a:r>
                        <a:rPr lang="zh-CN" altLang="en-US" sz="2000" dirty="0" smtClean="0">
                          <a:solidFill>
                            <a:srgbClr val="000000"/>
                          </a:solidFill>
                        </a:rPr>
                        <a:t>的关税，不仅针对中国。</a:t>
                      </a:r>
                      <a:endParaRPr lang="en-US" altLang="zh-CN" sz="2000" dirty="0" smtClean="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9258763"/>
                  </a:ext>
                </a:extLst>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4</a:t>
                      </a:r>
                      <a:r>
                        <a:rPr lang="zh-CN" altLang="en-US" sz="2000" dirty="0" smtClean="0">
                          <a:solidFill>
                            <a:srgbClr val="000000"/>
                          </a:solidFill>
                        </a:rPr>
                        <a:t>月</a:t>
                      </a:r>
                      <a:r>
                        <a:rPr lang="en-US" altLang="zh-CN" sz="2000" dirty="0" smtClean="0">
                          <a:solidFill>
                            <a:srgbClr val="000000"/>
                          </a:solidFill>
                        </a:rPr>
                        <a:t>2</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smtClean="0">
                          <a:solidFill>
                            <a:srgbClr val="000000"/>
                          </a:solidFill>
                        </a:rPr>
                        <a:t>中国决定对</a:t>
                      </a:r>
                      <a:r>
                        <a:rPr lang="en-US" altLang="zh-CN" sz="2000" dirty="0" smtClean="0">
                          <a:solidFill>
                            <a:srgbClr val="000000"/>
                          </a:solidFill>
                        </a:rPr>
                        <a:t>128</a:t>
                      </a:r>
                      <a:r>
                        <a:rPr lang="zh-CN" altLang="en-US" sz="2000" dirty="0" smtClean="0">
                          <a:solidFill>
                            <a:srgbClr val="000000"/>
                          </a:solidFill>
                        </a:rPr>
                        <a:t>种美国产品征收</a:t>
                      </a:r>
                      <a:r>
                        <a:rPr lang="en-US" altLang="zh-CN" sz="2000" dirty="0" smtClean="0">
                          <a:solidFill>
                            <a:srgbClr val="000000"/>
                          </a:solidFill>
                        </a:rPr>
                        <a:t>25%</a:t>
                      </a:r>
                      <a:r>
                        <a:rPr lang="zh-CN" altLang="en-US" sz="2000" dirty="0" smtClean="0">
                          <a:solidFill>
                            <a:srgbClr val="000000"/>
                          </a:solidFill>
                        </a:rPr>
                        <a:t>关税。</a:t>
                      </a:r>
                      <a:endParaRPr lang="en-US" altLang="zh-CN" sz="2000" dirty="0" smtClean="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5412362"/>
                  </a:ext>
                </a:extLst>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6</a:t>
                      </a:r>
                      <a:r>
                        <a:rPr lang="zh-CN" altLang="en-US" sz="2000" dirty="0" smtClean="0">
                          <a:solidFill>
                            <a:srgbClr val="000000"/>
                          </a:solidFill>
                        </a:rPr>
                        <a:t>月</a:t>
                      </a:r>
                      <a:r>
                        <a:rPr lang="en-US" altLang="zh-CN" sz="2000" dirty="0" smtClean="0">
                          <a:solidFill>
                            <a:srgbClr val="000000"/>
                          </a:solidFill>
                        </a:rPr>
                        <a:t>15</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2000" dirty="0" smtClean="0">
                          <a:solidFill>
                            <a:srgbClr val="000000"/>
                          </a:solidFill>
                        </a:rPr>
                        <a:t>美国决定自</a:t>
                      </a:r>
                      <a:r>
                        <a:rPr lang="en-US" altLang="zh-CN" sz="2000" dirty="0" smtClean="0">
                          <a:solidFill>
                            <a:srgbClr val="000000"/>
                          </a:solidFill>
                        </a:rPr>
                        <a:t>7</a:t>
                      </a:r>
                      <a:r>
                        <a:rPr lang="zh-CN" altLang="en-US" sz="2000" dirty="0" smtClean="0">
                          <a:solidFill>
                            <a:srgbClr val="000000"/>
                          </a:solidFill>
                        </a:rPr>
                        <a:t>月</a:t>
                      </a:r>
                      <a:r>
                        <a:rPr lang="en-US" altLang="zh-CN" sz="2000" dirty="0" smtClean="0">
                          <a:solidFill>
                            <a:srgbClr val="000000"/>
                          </a:solidFill>
                        </a:rPr>
                        <a:t>6</a:t>
                      </a:r>
                      <a:r>
                        <a:rPr lang="zh-CN" altLang="en-US" sz="2000" dirty="0" smtClean="0">
                          <a:solidFill>
                            <a:srgbClr val="000000"/>
                          </a:solidFill>
                        </a:rPr>
                        <a:t>日起对中国进口的</a:t>
                      </a:r>
                      <a:r>
                        <a:rPr lang="en-US" altLang="zh-CN" sz="2000" dirty="0" smtClean="0">
                          <a:solidFill>
                            <a:srgbClr val="000000"/>
                          </a:solidFill>
                        </a:rPr>
                        <a:t>340</a:t>
                      </a:r>
                      <a:r>
                        <a:rPr lang="zh-CN" altLang="en-US" sz="2000" dirty="0" smtClean="0">
                          <a:solidFill>
                            <a:srgbClr val="000000"/>
                          </a:solidFill>
                        </a:rPr>
                        <a:t>亿美元商品征收</a:t>
                      </a:r>
                      <a:r>
                        <a:rPr lang="en-US" altLang="zh-CN" sz="2000" dirty="0" smtClean="0">
                          <a:solidFill>
                            <a:srgbClr val="000000"/>
                          </a:solidFill>
                        </a:rPr>
                        <a:t>25%</a:t>
                      </a:r>
                      <a:r>
                        <a:rPr lang="zh-CN" altLang="en-US" sz="2000" dirty="0" smtClean="0">
                          <a:solidFill>
                            <a:srgbClr val="000000"/>
                          </a:solidFill>
                        </a:rPr>
                        <a:t>关税，同时对另外</a:t>
                      </a:r>
                      <a:r>
                        <a:rPr lang="en-US" altLang="zh-CN" sz="2000" dirty="0" smtClean="0">
                          <a:solidFill>
                            <a:srgbClr val="000000"/>
                          </a:solidFill>
                        </a:rPr>
                        <a:t>160</a:t>
                      </a:r>
                      <a:r>
                        <a:rPr lang="zh-CN" altLang="en-US" sz="2000" dirty="0" smtClean="0">
                          <a:solidFill>
                            <a:srgbClr val="000000"/>
                          </a:solidFill>
                        </a:rPr>
                        <a:t>亿美元商品加征关税开始征求公众意见。作为反击，中国宣布对</a:t>
                      </a:r>
                      <a:r>
                        <a:rPr lang="en-US" altLang="zh-CN" sz="2000" dirty="0" smtClean="0">
                          <a:solidFill>
                            <a:srgbClr val="000000"/>
                          </a:solidFill>
                        </a:rPr>
                        <a:t>340</a:t>
                      </a:r>
                      <a:r>
                        <a:rPr lang="zh-CN" altLang="en-US" sz="2000" dirty="0" smtClean="0">
                          <a:solidFill>
                            <a:srgbClr val="000000"/>
                          </a:solidFill>
                        </a:rPr>
                        <a:t>亿美元美国商品征收关税。</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8427161"/>
                  </a:ext>
                </a:extLst>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8</a:t>
                      </a:r>
                      <a:r>
                        <a:rPr lang="zh-CN" altLang="en-US" sz="2000" dirty="0" smtClean="0">
                          <a:solidFill>
                            <a:srgbClr val="000000"/>
                          </a:solidFill>
                        </a:rPr>
                        <a:t>月</a:t>
                      </a:r>
                      <a:r>
                        <a:rPr lang="en-US" altLang="zh-CN" sz="2000" dirty="0" smtClean="0">
                          <a:solidFill>
                            <a:srgbClr val="000000"/>
                          </a:solidFill>
                        </a:rPr>
                        <a:t>7</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smtClean="0">
                          <a:solidFill>
                            <a:srgbClr val="000000"/>
                          </a:solidFill>
                        </a:rPr>
                        <a:t>美国公布计划征收</a:t>
                      </a:r>
                      <a:r>
                        <a:rPr lang="en-US" altLang="zh-CN" sz="2000" dirty="0" smtClean="0">
                          <a:solidFill>
                            <a:srgbClr val="000000"/>
                          </a:solidFill>
                        </a:rPr>
                        <a:t>25%</a:t>
                      </a:r>
                      <a:r>
                        <a:rPr lang="zh-CN" altLang="en-US" sz="2000" dirty="0" smtClean="0">
                          <a:solidFill>
                            <a:srgbClr val="000000"/>
                          </a:solidFill>
                        </a:rPr>
                        <a:t>关税的</a:t>
                      </a:r>
                      <a:r>
                        <a:rPr lang="en-US" altLang="zh-CN" sz="2000" dirty="0" smtClean="0">
                          <a:solidFill>
                            <a:srgbClr val="000000"/>
                          </a:solidFill>
                        </a:rPr>
                        <a:t>160</a:t>
                      </a:r>
                      <a:r>
                        <a:rPr lang="zh-CN" altLang="en-US" sz="2000" dirty="0" smtClean="0">
                          <a:solidFill>
                            <a:srgbClr val="000000"/>
                          </a:solidFill>
                        </a:rPr>
                        <a:t>亿美元中国商品清单。对此，中国对</a:t>
                      </a:r>
                      <a:r>
                        <a:rPr lang="en-US" altLang="zh-CN" sz="2000" dirty="0" smtClean="0">
                          <a:solidFill>
                            <a:srgbClr val="000000"/>
                          </a:solidFill>
                        </a:rPr>
                        <a:t>160</a:t>
                      </a:r>
                      <a:r>
                        <a:rPr lang="zh-CN" altLang="en-US" sz="2000" dirty="0" smtClean="0">
                          <a:solidFill>
                            <a:srgbClr val="000000"/>
                          </a:solidFill>
                        </a:rPr>
                        <a:t>亿美元的美国商品征收</a:t>
                      </a:r>
                      <a:r>
                        <a:rPr lang="en-US" altLang="zh-CN" sz="2000" dirty="0" smtClean="0">
                          <a:solidFill>
                            <a:srgbClr val="000000"/>
                          </a:solidFill>
                        </a:rPr>
                        <a:t>25%</a:t>
                      </a:r>
                      <a:r>
                        <a:rPr lang="zh-CN" altLang="en-US" sz="2000" dirty="0" smtClean="0">
                          <a:solidFill>
                            <a:srgbClr val="000000"/>
                          </a:solidFill>
                        </a:rPr>
                        <a:t>的关税。</a:t>
                      </a:r>
                      <a:endParaRPr lang="en-US" altLang="zh-CN" sz="2000" dirty="0" smtClean="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9132599"/>
                  </a:ext>
                </a:extLst>
              </a:tr>
            </a:tbl>
          </a:graphicData>
        </a:graphic>
      </p:graphicFrame>
    </p:spTree>
    <p:extLst>
      <p:ext uri="{BB962C8B-B14F-4D97-AF65-F5344CB8AC3E}">
        <p14:creationId xmlns:p14="http://schemas.microsoft.com/office/powerpoint/2010/main" val="424166761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1491518594"/>
              </p:ext>
            </p:extLst>
          </p:nvPr>
        </p:nvGraphicFramePr>
        <p:xfrm>
          <a:off x="903766" y="1520456"/>
          <a:ext cx="7634177" cy="4724400"/>
        </p:xfrm>
        <a:graphic>
          <a:graphicData uri="http://schemas.openxmlformats.org/drawingml/2006/table">
            <a:tbl>
              <a:tblPr firstRow="1" bandRow="1">
                <a:tableStyleId>{5C22544A-7EE6-4342-B048-85BDC9FD1C3A}</a:tableStyleId>
              </a:tblPr>
              <a:tblGrid>
                <a:gridCol w="1945760">
                  <a:extLst>
                    <a:ext uri="{9D8B030D-6E8A-4147-A177-3AD203B41FA5}">
                      <a16:colId xmlns:a16="http://schemas.microsoft.com/office/drawing/2014/main" val="691172044"/>
                    </a:ext>
                  </a:extLst>
                </a:gridCol>
                <a:gridCol w="5688417">
                  <a:extLst>
                    <a:ext uri="{9D8B030D-6E8A-4147-A177-3AD203B41FA5}">
                      <a16:colId xmlns:a16="http://schemas.microsoft.com/office/drawing/2014/main" val="4145385634"/>
                    </a:ext>
                  </a:extLst>
                </a:gridCol>
              </a:tblGrid>
              <a:tr h="370840">
                <a:tc>
                  <a:txBody>
                    <a:bodyPr/>
                    <a:lstStyle/>
                    <a:p>
                      <a:pPr algn="ctr"/>
                      <a:r>
                        <a:rPr lang="zh-CN" altLang="en-US" sz="2000" dirty="0" smtClean="0">
                          <a:solidFill>
                            <a:srgbClr val="000000"/>
                          </a:solidFill>
                        </a:rPr>
                        <a:t>时间</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zh-CN" altLang="en-US" sz="2000" dirty="0" smtClean="0">
                          <a:solidFill>
                            <a:srgbClr val="000000"/>
                          </a:solidFill>
                        </a:rPr>
                        <a:t>内容</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0859219"/>
                  </a:ext>
                </a:extLst>
              </a:tr>
              <a:tr h="370840">
                <a:tc>
                  <a:txBody>
                    <a:bodyPr/>
                    <a:lstStyle/>
                    <a:p>
                      <a:r>
                        <a:rPr lang="en-US" altLang="zh-CN" sz="2000" dirty="0" smtClean="0">
                          <a:solidFill>
                            <a:srgbClr val="000000"/>
                          </a:solidFill>
                        </a:rPr>
                        <a:t>2018</a:t>
                      </a:r>
                      <a:r>
                        <a:rPr lang="zh-CN" altLang="en-US" sz="2000" dirty="0" smtClean="0">
                          <a:solidFill>
                            <a:srgbClr val="000000"/>
                          </a:solidFill>
                        </a:rPr>
                        <a:t>年</a:t>
                      </a:r>
                      <a:r>
                        <a:rPr lang="en-US" altLang="zh-CN" sz="2000" dirty="0" smtClean="0">
                          <a:solidFill>
                            <a:srgbClr val="000000"/>
                          </a:solidFill>
                        </a:rPr>
                        <a:t>9</a:t>
                      </a:r>
                      <a:r>
                        <a:rPr lang="zh-CN" altLang="en-US" sz="2000" dirty="0" smtClean="0">
                          <a:solidFill>
                            <a:srgbClr val="000000"/>
                          </a:solidFill>
                        </a:rPr>
                        <a:t>月</a:t>
                      </a:r>
                      <a:r>
                        <a:rPr lang="en-US" altLang="zh-CN" sz="2000" dirty="0" smtClean="0">
                          <a:solidFill>
                            <a:srgbClr val="000000"/>
                          </a:solidFill>
                        </a:rPr>
                        <a:t>24</a:t>
                      </a:r>
                      <a:r>
                        <a:rPr lang="zh-CN" altLang="en-US" sz="2000" dirty="0" smtClean="0">
                          <a:solidFill>
                            <a:srgbClr val="000000"/>
                          </a:solidFill>
                        </a:rPr>
                        <a:t>日</a:t>
                      </a:r>
                      <a:endParaRPr lang="zh-CN" altLang="en-US" sz="2000" dirty="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smtClean="0">
                          <a:solidFill>
                            <a:srgbClr val="000000"/>
                          </a:solidFill>
                        </a:rPr>
                        <a:t>美国正式对</a:t>
                      </a:r>
                      <a:r>
                        <a:rPr lang="en-US" altLang="zh-CN" sz="2000" dirty="0" smtClean="0">
                          <a:solidFill>
                            <a:srgbClr val="000000"/>
                          </a:solidFill>
                        </a:rPr>
                        <a:t>2000</a:t>
                      </a:r>
                      <a:r>
                        <a:rPr lang="zh-CN" altLang="en-US" sz="2000" dirty="0" smtClean="0">
                          <a:solidFill>
                            <a:srgbClr val="000000"/>
                          </a:solidFill>
                        </a:rPr>
                        <a:t>亿美元的中国进口商品征收</a:t>
                      </a:r>
                      <a:r>
                        <a:rPr lang="en-US" altLang="zh-CN" sz="2000" dirty="0" smtClean="0">
                          <a:solidFill>
                            <a:srgbClr val="000000"/>
                          </a:solidFill>
                        </a:rPr>
                        <a:t>10%</a:t>
                      </a:r>
                      <a:r>
                        <a:rPr lang="zh-CN" altLang="en-US" sz="2000" dirty="0" smtClean="0">
                          <a:solidFill>
                            <a:srgbClr val="000000"/>
                          </a:solidFill>
                        </a:rPr>
                        <a:t>的关税，并表示这一比例将在</a:t>
                      </a:r>
                      <a:r>
                        <a:rPr lang="en-US" altLang="zh-CN" sz="2000" dirty="0" smtClean="0">
                          <a:solidFill>
                            <a:srgbClr val="000000"/>
                          </a:solidFill>
                        </a:rPr>
                        <a:t>2019</a:t>
                      </a:r>
                      <a:r>
                        <a:rPr lang="zh-CN" altLang="en-US" sz="2000" dirty="0" smtClean="0">
                          <a:solidFill>
                            <a:srgbClr val="000000"/>
                          </a:solidFill>
                        </a:rPr>
                        <a:t>年</a:t>
                      </a:r>
                      <a:r>
                        <a:rPr lang="en-US" altLang="zh-CN" sz="2000" dirty="0" smtClean="0">
                          <a:solidFill>
                            <a:srgbClr val="000000"/>
                          </a:solidFill>
                        </a:rPr>
                        <a:t>1</a:t>
                      </a:r>
                      <a:r>
                        <a:rPr lang="zh-CN" altLang="en-US" sz="2000" dirty="0" smtClean="0">
                          <a:solidFill>
                            <a:srgbClr val="000000"/>
                          </a:solidFill>
                        </a:rPr>
                        <a:t>月</a:t>
                      </a:r>
                      <a:r>
                        <a:rPr lang="en-US" altLang="zh-CN" sz="2000" dirty="0" smtClean="0">
                          <a:solidFill>
                            <a:srgbClr val="000000"/>
                          </a:solidFill>
                        </a:rPr>
                        <a:t>1</a:t>
                      </a:r>
                      <a:r>
                        <a:rPr lang="zh-CN" altLang="en-US" sz="2000" dirty="0" smtClean="0">
                          <a:solidFill>
                            <a:srgbClr val="000000"/>
                          </a:solidFill>
                        </a:rPr>
                        <a:t>日上调至</a:t>
                      </a:r>
                      <a:r>
                        <a:rPr lang="en-US" altLang="zh-CN" sz="2000" dirty="0" smtClean="0">
                          <a:solidFill>
                            <a:srgbClr val="000000"/>
                          </a:solidFill>
                        </a:rPr>
                        <a:t>25</a:t>
                      </a:r>
                      <a:r>
                        <a:rPr lang="zh-CN" altLang="en-US" sz="2000" dirty="0" smtClean="0">
                          <a:solidFill>
                            <a:srgbClr val="000000"/>
                          </a:solidFill>
                        </a:rPr>
                        <a:t>％。作为回应，中国决定对</a:t>
                      </a:r>
                      <a:r>
                        <a:rPr lang="en-US" altLang="zh-CN" sz="2000" dirty="0" smtClean="0">
                          <a:solidFill>
                            <a:srgbClr val="000000"/>
                          </a:solidFill>
                        </a:rPr>
                        <a:t>600</a:t>
                      </a:r>
                      <a:r>
                        <a:rPr lang="zh-CN" altLang="en-US" sz="2000" dirty="0" smtClean="0">
                          <a:solidFill>
                            <a:srgbClr val="000000"/>
                          </a:solidFill>
                        </a:rPr>
                        <a:t>亿美元美国商品征收关税。</a:t>
                      </a:r>
                      <a:endParaRPr lang="en-US" altLang="zh-CN" sz="2000" dirty="0" smtClean="0">
                        <a:solidFill>
                          <a:srgbClr val="000000"/>
                        </a:solidFill>
                        <a:latin typeface="宋体" panose="02010600030101010101" pitchFamily="2" charset="-122"/>
                        <a:ea typeface="宋体" panose="02010600030101010101" pitchFamily="2" charset="-122"/>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6666337"/>
                  </a:ext>
                </a:extLst>
              </a:tr>
              <a:tr h="370840">
                <a:tc>
                  <a:txBody>
                    <a:bodyPr/>
                    <a:lstStyle/>
                    <a:p>
                      <a:r>
                        <a:rPr lang="en-US" altLang="zh-CN" sz="2000" dirty="0" smtClean="0">
                          <a:solidFill>
                            <a:srgbClr val="000000"/>
                          </a:solidFill>
                        </a:rPr>
                        <a:t>2019</a:t>
                      </a:r>
                      <a:r>
                        <a:rPr lang="zh-CN" altLang="en-US" sz="2000" dirty="0" smtClean="0">
                          <a:solidFill>
                            <a:srgbClr val="000000"/>
                          </a:solidFill>
                        </a:rPr>
                        <a:t>年</a:t>
                      </a:r>
                      <a:r>
                        <a:rPr lang="en-US" altLang="zh-CN" sz="2000" dirty="0" smtClean="0">
                          <a:solidFill>
                            <a:srgbClr val="000000"/>
                          </a:solidFill>
                        </a:rPr>
                        <a:t>5</a:t>
                      </a:r>
                      <a:r>
                        <a:rPr lang="zh-CN" altLang="en-US" sz="2000" dirty="0" smtClean="0">
                          <a:solidFill>
                            <a:srgbClr val="000000"/>
                          </a:solidFill>
                        </a:rPr>
                        <a:t>月</a:t>
                      </a:r>
                      <a:r>
                        <a:rPr lang="en-US" altLang="zh-CN" sz="2000" dirty="0" smtClean="0">
                          <a:solidFill>
                            <a:srgbClr val="000000"/>
                          </a:solidFill>
                        </a:rPr>
                        <a:t>8</a:t>
                      </a:r>
                      <a:r>
                        <a:rPr lang="zh-CN" altLang="en-US" sz="2000" dirty="0" smtClean="0">
                          <a:solidFill>
                            <a:srgbClr val="000000"/>
                          </a:solidFill>
                        </a:rPr>
                        <a:t>日</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smtClean="0">
                          <a:solidFill>
                            <a:srgbClr val="000000"/>
                          </a:solidFill>
                        </a:rPr>
                        <a:t>美国政府正式宣布，从</a:t>
                      </a:r>
                      <a:r>
                        <a:rPr lang="en-US" altLang="zh-CN" sz="2000" dirty="0" smtClean="0">
                          <a:solidFill>
                            <a:srgbClr val="000000"/>
                          </a:solidFill>
                        </a:rPr>
                        <a:t>5</a:t>
                      </a:r>
                      <a:r>
                        <a:rPr lang="zh-CN" altLang="en-US" sz="2000" dirty="0" smtClean="0">
                          <a:solidFill>
                            <a:srgbClr val="000000"/>
                          </a:solidFill>
                        </a:rPr>
                        <a:t>月</a:t>
                      </a:r>
                      <a:r>
                        <a:rPr lang="en-US" altLang="zh-CN" sz="2000" dirty="0" smtClean="0">
                          <a:solidFill>
                            <a:srgbClr val="000000"/>
                          </a:solidFill>
                        </a:rPr>
                        <a:t>10</a:t>
                      </a:r>
                      <a:r>
                        <a:rPr lang="zh-CN" altLang="en-US" sz="2000" dirty="0" smtClean="0">
                          <a:solidFill>
                            <a:srgbClr val="000000"/>
                          </a:solidFill>
                        </a:rPr>
                        <a:t>日起，将对</a:t>
                      </a:r>
                      <a:r>
                        <a:rPr lang="en-US" altLang="zh-CN" sz="2000" dirty="0" smtClean="0">
                          <a:solidFill>
                            <a:srgbClr val="000000"/>
                          </a:solidFill>
                        </a:rPr>
                        <a:t>2000</a:t>
                      </a:r>
                      <a:r>
                        <a:rPr lang="zh-CN" altLang="en-US" sz="2000" dirty="0" smtClean="0">
                          <a:solidFill>
                            <a:srgbClr val="000000"/>
                          </a:solidFill>
                        </a:rPr>
                        <a:t>亿美元中 国进口商品征收的关税从</a:t>
                      </a:r>
                      <a:r>
                        <a:rPr lang="en-US" altLang="zh-CN" sz="2000" dirty="0" smtClean="0">
                          <a:solidFill>
                            <a:srgbClr val="000000"/>
                          </a:solidFill>
                        </a:rPr>
                        <a:t>10%</a:t>
                      </a:r>
                      <a:r>
                        <a:rPr lang="zh-CN" altLang="en-US" sz="2000" dirty="0" smtClean="0">
                          <a:solidFill>
                            <a:srgbClr val="000000"/>
                          </a:solidFill>
                        </a:rPr>
                        <a:t>提高到</a:t>
                      </a:r>
                      <a:r>
                        <a:rPr lang="en-US" altLang="zh-CN" sz="2000" dirty="0" smtClean="0">
                          <a:solidFill>
                            <a:srgbClr val="000000"/>
                          </a:solidFill>
                        </a:rPr>
                        <a:t>25%</a:t>
                      </a:r>
                      <a:r>
                        <a:rPr lang="zh-CN" altLang="en-US" sz="2000" dirty="0" smtClean="0">
                          <a:solidFill>
                            <a:srgbClr val="000000"/>
                          </a:solidFill>
                        </a:rPr>
                        <a:t>。</a:t>
                      </a:r>
                      <a:endParaRPr lang="en-US" altLang="zh-CN" sz="2000" dirty="0" smtClean="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49546"/>
                  </a:ext>
                </a:extLst>
              </a:tr>
              <a:tr h="370840">
                <a:tc>
                  <a:txBody>
                    <a:bodyPr/>
                    <a:lstStyle/>
                    <a:p>
                      <a:r>
                        <a:rPr lang="en-US" altLang="zh-CN" sz="2000" dirty="0" smtClean="0">
                          <a:solidFill>
                            <a:srgbClr val="000000"/>
                          </a:solidFill>
                        </a:rPr>
                        <a:t>2019</a:t>
                      </a:r>
                      <a:r>
                        <a:rPr lang="zh-CN" altLang="en-US" sz="2000" dirty="0" smtClean="0">
                          <a:solidFill>
                            <a:srgbClr val="000000"/>
                          </a:solidFill>
                        </a:rPr>
                        <a:t>年</a:t>
                      </a:r>
                      <a:r>
                        <a:rPr lang="en-US" altLang="zh-CN" sz="2000" dirty="0" smtClean="0">
                          <a:solidFill>
                            <a:srgbClr val="000000"/>
                          </a:solidFill>
                        </a:rPr>
                        <a:t>6</a:t>
                      </a:r>
                      <a:r>
                        <a:rPr lang="zh-CN" altLang="en-US" sz="2000" dirty="0" smtClean="0">
                          <a:solidFill>
                            <a:srgbClr val="000000"/>
                          </a:solidFill>
                        </a:rPr>
                        <a:t>月</a:t>
                      </a:r>
                      <a:r>
                        <a:rPr lang="en-US" altLang="zh-CN" sz="2000" dirty="0" smtClean="0">
                          <a:solidFill>
                            <a:srgbClr val="000000"/>
                          </a:solidFill>
                        </a:rPr>
                        <a:t>1</a:t>
                      </a:r>
                      <a:r>
                        <a:rPr lang="zh-CN" altLang="en-US" sz="2000" dirty="0" smtClean="0">
                          <a:solidFill>
                            <a:srgbClr val="000000"/>
                          </a:solidFill>
                        </a:rPr>
                        <a:t>日</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smtClean="0">
                          <a:solidFill>
                            <a:srgbClr val="000000"/>
                          </a:solidFill>
                        </a:rPr>
                        <a:t>中国对原产于美国的部分进口商品提高加征关税税率。对原产于美国约</a:t>
                      </a:r>
                      <a:r>
                        <a:rPr lang="en-US" altLang="zh-CN" sz="2000" dirty="0" smtClean="0">
                          <a:solidFill>
                            <a:srgbClr val="000000"/>
                          </a:solidFill>
                        </a:rPr>
                        <a:t>600</a:t>
                      </a:r>
                      <a:r>
                        <a:rPr lang="zh-CN" altLang="en-US" sz="2000" dirty="0" smtClean="0">
                          <a:solidFill>
                            <a:srgbClr val="000000"/>
                          </a:solidFill>
                        </a:rPr>
                        <a:t>亿美元进口商品清单中的部分商品，分别实施加征</a:t>
                      </a:r>
                      <a:r>
                        <a:rPr lang="en-US" altLang="zh-CN" sz="2000" dirty="0" smtClean="0">
                          <a:solidFill>
                            <a:srgbClr val="000000"/>
                          </a:solidFill>
                        </a:rPr>
                        <a:t>25%</a:t>
                      </a:r>
                      <a:r>
                        <a:rPr lang="zh-CN" altLang="en-US" sz="2000" dirty="0" smtClean="0">
                          <a:solidFill>
                            <a:srgbClr val="000000"/>
                          </a:solidFill>
                        </a:rPr>
                        <a:t>、</a:t>
                      </a:r>
                      <a:r>
                        <a:rPr lang="en-US" altLang="zh-CN" sz="2000" dirty="0" smtClean="0">
                          <a:solidFill>
                            <a:srgbClr val="000000"/>
                          </a:solidFill>
                        </a:rPr>
                        <a:t>20%</a:t>
                      </a:r>
                      <a:r>
                        <a:rPr lang="zh-CN" altLang="en-US" sz="2000" dirty="0" smtClean="0">
                          <a:solidFill>
                            <a:srgbClr val="000000"/>
                          </a:solidFill>
                        </a:rPr>
                        <a:t>、</a:t>
                      </a:r>
                      <a:r>
                        <a:rPr lang="en-US" altLang="zh-CN" sz="2000" dirty="0" smtClean="0">
                          <a:solidFill>
                            <a:srgbClr val="000000"/>
                          </a:solidFill>
                        </a:rPr>
                        <a:t>10%</a:t>
                      </a:r>
                      <a:r>
                        <a:rPr lang="zh-CN" altLang="en-US" sz="2000" dirty="0" smtClean="0">
                          <a:solidFill>
                            <a:srgbClr val="000000"/>
                          </a:solidFill>
                        </a:rPr>
                        <a:t>的关税。 对之前加征</a:t>
                      </a:r>
                      <a:r>
                        <a:rPr lang="en-US" altLang="zh-CN" sz="2000" dirty="0" smtClean="0">
                          <a:solidFill>
                            <a:srgbClr val="000000"/>
                          </a:solidFill>
                        </a:rPr>
                        <a:t>5%</a:t>
                      </a:r>
                      <a:r>
                        <a:rPr lang="zh-CN" altLang="en-US" sz="2000" dirty="0" smtClean="0">
                          <a:solidFill>
                            <a:srgbClr val="000000"/>
                          </a:solidFill>
                        </a:rPr>
                        <a:t>关税的税目商品，仍实施加征 </a:t>
                      </a:r>
                      <a:r>
                        <a:rPr lang="en-US" altLang="zh-CN" sz="2000" dirty="0" smtClean="0">
                          <a:solidFill>
                            <a:srgbClr val="000000"/>
                          </a:solidFill>
                        </a:rPr>
                        <a:t>5%</a:t>
                      </a:r>
                      <a:r>
                        <a:rPr lang="zh-CN" altLang="en-US" sz="2000" dirty="0" smtClean="0">
                          <a:solidFill>
                            <a:srgbClr val="000000"/>
                          </a:solidFill>
                        </a:rPr>
                        <a:t>的关税。</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4895700"/>
                  </a:ext>
                </a:extLst>
              </a:tr>
              <a:tr h="370840">
                <a:tc>
                  <a:txBody>
                    <a:bodyPr/>
                    <a:lstStyle/>
                    <a:p>
                      <a:r>
                        <a:rPr lang="en-US" altLang="zh-CN" sz="2000" dirty="0" smtClean="0">
                          <a:solidFill>
                            <a:srgbClr val="000000"/>
                          </a:solidFill>
                        </a:rPr>
                        <a:t>2019</a:t>
                      </a:r>
                      <a:r>
                        <a:rPr lang="zh-CN" altLang="en-US" sz="2000" dirty="0" smtClean="0">
                          <a:solidFill>
                            <a:srgbClr val="000000"/>
                          </a:solidFill>
                        </a:rPr>
                        <a:t>年</a:t>
                      </a:r>
                      <a:r>
                        <a:rPr lang="en-US" altLang="zh-CN" sz="2000" dirty="0" smtClean="0">
                          <a:solidFill>
                            <a:srgbClr val="000000"/>
                          </a:solidFill>
                        </a:rPr>
                        <a:t>9</a:t>
                      </a:r>
                      <a:r>
                        <a:rPr lang="zh-CN" altLang="en-US" sz="2000" dirty="0" smtClean="0">
                          <a:solidFill>
                            <a:srgbClr val="000000"/>
                          </a:solidFill>
                        </a:rPr>
                        <a:t>月</a:t>
                      </a:r>
                      <a:r>
                        <a:rPr lang="en-US" altLang="zh-CN" sz="2000" dirty="0" smtClean="0">
                          <a:solidFill>
                            <a:srgbClr val="000000"/>
                          </a:solidFill>
                        </a:rPr>
                        <a:t>11</a:t>
                      </a:r>
                      <a:r>
                        <a:rPr lang="zh-CN" altLang="en-US" sz="2000" dirty="0" smtClean="0">
                          <a:solidFill>
                            <a:srgbClr val="000000"/>
                          </a:solidFill>
                        </a:rPr>
                        <a:t>日</a:t>
                      </a:r>
                      <a:endParaRPr lang="zh-CN" altLang="en-US" sz="20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zh-CN" altLang="en-US" sz="2000" dirty="0" smtClean="0">
                          <a:solidFill>
                            <a:srgbClr val="000000"/>
                          </a:solidFill>
                        </a:rPr>
                        <a:t>国务院关税税则委员会公布第一批对美加征关税商品第一次排除清单。</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3909441"/>
                  </a:ext>
                </a:extLst>
              </a:tr>
            </a:tbl>
          </a:graphicData>
        </a:graphic>
      </p:graphicFrame>
    </p:spTree>
    <p:extLst>
      <p:ext uri="{BB962C8B-B14F-4D97-AF65-F5344CB8AC3E}">
        <p14:creationId xmlns:p14="http://schemas.microsoft.com/office/powerpoint/2010/main" val="2879081666"/>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sp>
        <p:nvSpPr>
          <p:cNvPr id="4" name="内容占位符 2"/>
          <p:cNvSpPr>
            <a:spLocks noGrp="1" noChangeArrowheads="1"/>
          </p:cNvSpPr>
          <p:nvPr>
            <p:ph idx="1"/>
          </p:nvPr>
        </p:nvSpPr>
        <p:spPr>
          <a:xfrm>
            <a:off x="632101" y="3603993"/>
            <a:ext cx="4258875" cy="3953627"/>
          </a:xfrm>
          <a:noFill/>
        </p:spPr>
        <p:txBody>
          <a:bodyPr/>
          <a:lstStyle/>
          <a:p>
            <a:pPr marL="0" indent="0">
              <a:buNone/>
            </a:pPr>
            <a:endParaRPr lang="en-US" altLang="zh-CN" sz="2550" dirty="0"/>
          </a:p>
          <a:p>
            <a:r>
              <a:rPr lang="zh-CN" altLang="en-US" sz="2000" dirty="0" smtClean="0"/>
              <a:t>美国</a:t>
            </a:r>
            <a:r>
              <a:rPr lang="zh-CN" altLang="en-US" sz="2000" dirty="0"/>
              <a:t>对华出口量则缩水达</a:t>
            </a:r>
            <a:r>
              <a:rPr lang="en-US" altLang="zh-CN" sz="2000" dirty="0"/>
              <a:t>38%</a:t>
            </a:r>
            <a:r>
              <a:rPr lang="zh-CN" altLang="en-US" sz="2000" dirty="0"/>
              <a:t>，贸易额减少</a:t>
            </a:r>
            <a:r>
              <a:rPr lang="en-US" altLang="zh-CN" sz="2000" dirty="0">
                <a:solidFill>
                  <a:srgbClr val="C00000"/>
                </a:solidFill>
              </a:rPr>
              <a:t>230</a:t>
            </a:r>
            <a:r>
              <a:rPr lang="zh-CN" altLang="en-US" sz="2000" dirty="0">
                <a:solidFill>
                  <a:srgbClr val="C00000"/>
                </a:solidFill>
              </a:rPr>
              <a:t>亿美元</a:t>
            </a:r>
            <a:r>
              <a:rPr lang="zh-CN" altLang="en-US" sz="2000" dirty="0"/>
              <a:t>。至今，近半中国对美出口以及</a:t>
            </a:r>
            <a:r>
              <a:rPr lang="en-US" altLang="zh-CN" sz="2000" dirty="0"/>
              <a:t>70%</a:t>
            </a:r>
            <a:r>
              <a:rPr lang="zh-CN" altLang="en-US" sz="2000" dirty="0"/>
              <a:t>美国对华出口被加征关税</a:t>
            </a:r>
            <a:r>
              <a:rPr lang="zh-CN" altLang="en-US" sz="2000" dirty="0" smtClean="0"/>
              <a:t>。</a:t>
            </a:r>
            <a:endParaRPr lang="en-US" altLang="zh-CN" sz="2000" dirty="0" smtClean="0"/>
          </a:p>
        </p:txBody>
      </p:sp>
      <p:sp>
        <p:nvSpPr>
          <p:cNvPr id="2" name="矩形 1"/>
          <p:cNvSpPr/>
          <p:nvPr/>
        </p:nvSpPr>
        <p:spPr>
          <a:xfrm>
            <a:off x="776177" y="1584273"/>
            <a:ext cx="6953692" cy="877163"/>
          </a:xfrm>
          <a:prstGeom prst="rect">
            <a:avLst/>
          </a:prstGeom>
        </p:spPr>
        <p:txBody>
          <a:bodyPr wrap="square">
            <a:spAutoFit/>
          </a:bodyPr>
          <a:lstStyle/>
          <a:p>
            <a:r>
              <a:rPr lang="zh-CN" altLang="en-US" sz="2550" b="1" dirty="0" smtClean="0">
                <a:solidFill>
                  <a:srgbClr val="000000"/>
                </a:solidFill>
                <a:latin typeface="+mn-lt"/>
                <a:ea typeface="+mn-ea"/>
              </a:rPr>
              <a:t>从</a:t>
            </a:r>
            <a:r>
              <a:rPr lang="en-US" altLang="zh-CN" sz="2550" b="1" dirty="0">
                <a:solidFill>
                  <a:srgbClr val="000000"/>
                </a:solidFill>
                <a:latin typeface="+mn-lt"/>
                <a:ea typeface="+mn-ea"/>
              </a:rPr>
              <a:t>2018</a:t>
            </a:r>
            <a:r>
              <a:rPr lang="zh-CN" altLang="en-US" sz="2550" b="1" dirty="0">
                <a:solidFill>
                  <a:srgbClr val="000000"/>
                </a:solidFill>
                <a:latin typeface="+mn-lt"/>
                <a:ea typeface="+mn-ea"/>
              </a:rPr>
              <a:t>年</a:t>
            </a:r>
            <a:r>
              <a:rPr lang="en-US" altLang="zh-CN" sz="2550" b="1" dirty="0">
                <a:solidFill>
                  <a:srgbClr val="000000"/>
                </a:solidFill>
                <a:latin typeface="+mn-lt"/>
                <a:ea typeface="+mn-ea"/>
              </a:rPr>
              <a:t>7</a:t>
            </a:r>
            <a:r>
              <a:rPr lang="zh-CN" altLang="en-US" sz="2550" b="1" dirty="0">
                <a:solidFill>
                  <a:srgbClr val="000000"/>
                </a:solidFill>
                <a:latin typeface="+mn-lt"/>
                <a:ea typeface="+mn-ea"/>
              </a:rPr>
              <a:t>月</a:t>
            </a:r>
            <a:r>
              <a:rPr lang="en-US" altLang="zh-CN" sz="2550" b="1" dirty="0">
                <a:solidFill>
                  <a:srgbClr val="000000"/>
                </a:solidFill>
                <a:latin typeface="+mn-lt"/>
                <a:ea typeface="+mn-ea"/>
              </a:rPr>
              <a:t>6</a:t>
            </a:r>
            <a:r>
              <a:rPr lang="zh-CN" altLang="en-US" sz="2550" b="1" dirty="0">
                <a:solidFill>
                  <a:srgbClr val="000000"/>
                </a:solidFill>
                <a:latin typeface="+mn-lt"/>
                <a:ea typeface="+mn-ea"/>
              </a:rPr>
              <a:t>日至</a:t>
            </a:r>
            <a:r>
              <a:rPr lang="en-US" altLang="zh-CN" sz="2550" b="1" dirty="0">
                <a:solidFill>
                  <a:srgbClr val="000000"/>
                </a:solidFill>
                <a:latin typeface="+mn-lt"/>
                <a:ea typeface="+mn-ea"/>
              </a:rPr>
              <a:t>2019</a:t>
            </a:r>
            <a:r>
              <a:rPr lang="zh-CN" altLang="en-US" sz="2550" b="1" dirty="0">
                <a:solidFill>
                  <a:srgbClr val="000000"/>
                </a:solidFill>
                <a:latin typeface="+mn-lt"/>
                <a:ea typeface="+mn-ea"/>
              </a:rPr>
              <a:t>年</a:t>
            </a:r>
            <a:r>
              <a:rPr lang="en-US" altLang="zh-CN" sz="2550" b="1" dirty="0">
                <a:solidFill>
                  <a:srgbClr val="000000"/>
                </a:solidFill>
                <a:latin typeface="+mn-lt"/>
                <a:ea typeface="+mn-ea"/>
              </a:rPr>
              <a:t>4</a:t>
            </a:r>
            <a:r>
              <a:rPr lang="zh-CN" altLang="en-US" sz="2550" b="1" dirty="0">
                <a:solidFill>
                  <a:srgbClr val="000000"/>
                </a:solidFill>
                <a:latin typeface="+mn-lt"/>
                <a:ea typeface="+mn-ea"/>
              </a:rPr>
              <a:t>月底，中美贸易额各减少多少？</a:t>
            </a:r>
            <a:endParaRPr lang="en-US" altLang="zh-CN" sz="2550" b="1" dirty="0">
              <a:solidFill>
                <a:srgbClr val="000000"/>
              </a:solidFill>
              <a:latin typeface="+mn-lt"/>
              <a:ea typeface="+mn-ea"/>
            </a:endParaRPr>
          </a:p>
        </p:txBody>
      </p:sp>
      <p:sp>
        <p:nvSpPr>
          <p:cNvPr id="5" name="矩形 4"/>
          <p:cNvSpPr/>
          <p:nvPr/>
        </p:nvSpPr>
        <p:spPr>
          <a:xfrm rot="609033">
            <a:off x="7536010" y="1313556"/>
            <a:ext cx="1420582" cy="1569660"/>
          </a:xfrm>
          <a:prstGeom prst="rect">
            <a:avLst/>
          </a:prstGeom>
        </p:spPr>
        <p:txBody>
          <a:bodyPr wrap="none">
            <a:spAutoFit/>
          </a:bodyPr>
          <a:lstStyle/>
          <a:p>
            <a:r>
              <a:rPr lang="zh-CN" altLang="en-US" sz="9600" b="1" dirty="0">
                <a:solidFill>
                  <a:srgbClr val="C00000"/>
                </a:solidFill>
              </a:rPr>
              <a:t>？</a:t>
            </a:r>
            <a:endParaRPr lang="en-US" altLang="zh-CN" sz="9600" b="1" dirty="0">
              <a:solidFill>
                <a:srgbClr val="C00000"/>
              </a:solidFill>
            </a:endParaRPr>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b="11767"/>
          <a:stretch/>
        </p:blipFill>
        <p:spPr>
          <a:xfrm>
            <a:off x="5077066" y="3858804"/>
            <a:ext cx="3761266" cy="2074163"/>
          </a:xfrm>
          <a:prstGeom prst="rect">
            <a:avLst/>
          </a:prstGeom>
        </p:spPr>
      </p:pic>
      <p:sp>
        <p:nvSpPr>
          <p:cNvPr id="7" name="矩形 6"/>
          <p:cNvSpPr/>
          <p:nvPr/>
        </p:nvSpPr>
        <p:spPr>
          <a:xfrm>
            <a:off x="632102" y="2808896"/>
            <a:ext cx="7241842" cy="1015663"/>
          </a:xfrm>
          <a:prstGeom prst="rect">
            <a:avLst/>
          </a:prstGeom>
        </p:spPr>
        <p:txBody>
          <a:bodyPr wrap="square">
            <a:spAutoFit/>
          </a:bodyPr>
          <a:lstStyle/>
          <a:p>
            <a:pPr marL="342900" indent="-342900">
              <a:spcBef>
                <a:spcPct val="20000"/>
              </a:spcBef>
              <a:buChar char="•"/>
            </a:pPr>
            <a:r>
              <a:rPr lang="en-US" altLang="zh-CN" sz="2000" b="1" dirty="0">
                <a:solidFill>
                  <a:srgbClr val="000000"/>
                </a:solidFill>
                <a:latin typeface="+mn-lt"/>
                <a:ea typeface="+mn-ea"/>
              </a:rPr>
              <a:t>《</a:t>
            </a:r>
            <a:r>
              <a:rPr lang="zh-CN" altLang="en-US" sz="2000" b="1" dirty="0">
                <a:solidFill>
                  <a:srgbClr val="000000"/>
                </a:solidFill>
                <a:latin typeface="+mn-lt"/>
                <a:ea typeface="+mn-ea"/>
              </a:rPr>
              <a:t>日本经济新闻</a:t>
            </a:r>
            <a:r>
              <a:rPr lang="en-US" altLang="zh-CN" sz="2000" b="1" dirty="0">
                <a:solidFill>
                  <a:srgbClr val="000000"/>
                </a:solidFill>
                <a:latin typeface="+mn-lt"/>
                <a:ea typeface="+mn-ea"/>
              </a:rPr>
              <a:t>》</a:t>
            </a:r>
            <a:r>
              <a:rPr lang="zh-CN" altLang="en-US" sz="2000" b="1" dirty="0">
                <a:solidFill>
                  <a:srgbClr val="000000"/>
                </a:solidFill>
                <a:latin typeface="+mn-lt"/>
                <a:ea typeface="+mn-ea"/>
              </a:rPr>
              <a:t>分析数据显示，被加征关税的中国商品对美出口量下降</a:t>
            </a:r>
            <a:r>
              <a:rPr lang="en-US" altLang="zh-CN" sz="2000" b="1" dirty="0">
                <a:solidFill>
                  <a:srgbClr val="000000"/>
                </a:solidFill>
                <a:latin typeface="+mn-lt"/>
                <a:ea typeface="+mn-ea"/>
              </a:rPr>
              <a:t>14%</a:t>
            </a:r>
            <a:r>
              <a:rPr lang="zh-CN" altLang="en-US" sz="2000" b="1" dirty="0">
                <a:solidFill>
                  <a:srgbClr val="000000"/>
                </a:solidFill>
                <a:latin typeface="+mn-lt"/>
                <a:ea typeface="+mn-ea"/>
              </a:rPr>
              <a:t>，贸易额减少</a:t>
            </a:r>
            <a:r>
              <a:rPr lang="en-US" altLang="zh-CN" sz="2000" b="1" dirty="0">
                <a:solidFill>
                  <a:srgbClr val="000000"/>
                </a:solidFill>
                <a:latin typeface="+mn-lt"/>
                <a:ea typeface="+mn-ea"/>
              </a:rPr>
              <a:t>180</a:t>
            </a:r>
            <a:r>
              <a:rPr lang="zh-CN" altLang="en-US" sz="2000" b="1" dirty="0">
                <a:solidFill>
                  <a:srgbClr val="000000"/>
                </a:solidFill>
                <a:latin typeface="+mn-lt"/>
                <a:ea typeface="+mn-ea"/>
              </a:rPr>
              <a:t>亿美元，占对美出口全年贸易额的</a:t>
            </a:r>
            <a:r>
              <a:rPr lang="en-US" altLang="zh-CN" sz="2000" b="1" dirty="0">
                <a:solidFill>
                  <a:srgbClr val="000000"/>
                </a:solidFill>
                <a:latin typeface="+mn-lt"/>
                <a:ea typeface="+mn-ea"/>
              </a:rPr>
              <a:t>3%</a:t>
            </a:r>
            <a:r>
              <a:rPr lang="zh-CN" altLang="en-US" sz="2000" b="1" dirty="0">
                <a:solidFill>
                  <a:srgbClr val="000000"/>
                </a:solidFill>
                <a:latin typeface="+mn-lt"/>
                <a:ea typeface="+mn-ea"/>
              </a:rPr>
              <a:t>。</a:t>
            </a:r>
            <a:endParaRPr lang="en-US" altLang="zh-CN" sz="2000" b="1" dirty="0">
              <a:solidFill>
                <a:srgbClr val="000000"/>
              </a:solidFill>
              <a:latin typeface="+mn-lt"/>
              <a:ea typeface="+mn-ea"/>
            </a:endParaRPr>
          </a:p>
        </p:txBody>
      </p:sp>
    </p:spTree>
    <p:extLst>
      <p:ext uri="{BB962C8B-B14F-4D97-AF65-F5344CB8AC3E}">
        <p14:creationId xmlns:p14="http://schemas.microsoft.com/office/powerpoint/2010/main" val="21647909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p:bldP spid="5"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graphicFrame>
        <p:nvGraphicFramePr>
          <p:cNvPr id="11" name="内容占位符 10"/>
          <p:cNvGraphicFramePr>
            <a:graphicFrameLocks noGrp="1"/>
          </p:cNvGraphicFramePr>
          <p:nvPr>
            <p:ph idx="1"/>
            <p:extLst>
              <p:ext uri="{D42A27DB-BD31-4B8C-83A1-F6EECF244321}">
                <p14:modId xmlns:p14="http://schemas.microsoft.com/office/powerpoint/2010/main" val="2136787746"/>
              </p:ext>
            </p:extLst>
          </p:nvPr>
        </p:nvGraphicFramePr>
        <p:xfrm>
          <a:off x="960836" y="3379723"/>
          <a:ext cx="7098044" cy="2595880"/>
        </p:xfrm>
        <a:graphic>
          <a:graphicData uri="http://schemas.openxmlformats.org/drawingml/2006/table">
            <a:tbl>
              <a:tblPr firstRow="1" bandRow="1">
                <a:tableStyleId>{5C22544A-7EE6-4342-B048-85BDC9FD1C3A}</a:tableStyleId>
              </a:tblPr>
              <a:tblGrid>
                <a:gridCol w="1774511">
                  <a:extLst>
                    <a:ext uri="{9D8B030D-6E8A-4147-A177-3AD203B41FA5}">
                      <a16:colId xmlns:a16="http://schemas.microsoft.com/office/drawing/2014/main" val="1419386185"/>
                    </a:ext>
                  </a:extLst>
                </a:gridCol>
                <a:gridCol w="1774511">
                  <a:extLst>
                    <a:ext uri="{9D8B030D-6E8A-4147-A177-3AD203B41FA5}">
                      <a16:colId xmlns:a16="http://schemas.microsoft.com/office/drawing/2014/main" val="3436692388"/>
                    </a:ext>
                  </a:extLst>
                </a:gridCol>
                <a:gridCol w="1774511">
                  <a:extLst>
                    <a:ext uri="{9D8B030D-6E8A-4147-A177-3AD203B41FA5}">
                      <a16:colId xmlns:a16="http://schemas.microsoft.com/office/drawing/2014/main" val="1417319626"/>
                    </a:ext>
                  </a:extLst>
                </a:gridCol>
                <a:gridCol w="1774511">
                  <a:extLst>
                    <a:ext uri="{9D8B030D-6E8A-4147-A177-3AD203B41FA5}">
                      <a16:colId xmlns:a16="http://schemas.microsoft.com/office/drawing/2014/main" val="3125599651"/>
                    </a:ext>
                  </a:extLst>
                </a:gridCol>
              </a:tblGrid>
              <a:tr h="370840">
                <a:tc>
                  <a:txBody>
                    <a:bodyPr/>
                    <a:lstStyle/>
                    <a:p>
                      <a:endParaRPr lang="zh-CN" altLang="en-US" dirty="0"/>
                    </a:p>
                  </a:txBody>
                  <a:tcPr/>
                </a:tc>
                <a:tc>
                  <a:txBody>
                    <a:bodyPr/>
                    <a:lstStyle/>
                    <a:p>
                      <a:r>
                        <a:rPr lang="zh-CN" altLang="en-US" dirty="0" smtClean="0"/>
                        <a:t>运动鞋</a:t>
                      </a:r>
                      <a:endParaRPr lang="zh-CN" altLang="en-US" dirty="0"/>
                    </a:p>
                  </a:txBody>
                  <a:tcPr/>
                </a:tc>
                <a:tc>
                  <a:txBody>
                    <a:bodyPr/>
                    <a:lstStyle/>
                    <a:p>
                      <a:r>
                        <a:rPr lang="zh-CN" altLang="en-US" dirty="0" smtClean="0"/>
                        <a:t>靴子</a:t>
                      </a:r>
                      <a:endParaRPr lang="zh-CN" altLang="en-US" dirty="0"/>
                    </a:p>
                  </a:txBody>
                  <a:tcPr/>
                </a:tc>
                <a:tc>
                  <a:txBody>
                    <a:bodyPr/>
                    <a:lstStyle/>
                    <a:p>
                      <a:r>
                        <a:rPr lang="zh-CN" altLang="en-US" dirty="0" smtClean="0"/>
                        <a:t>童鞋</a:t>
                      </a:r>
                      <a:endParaRPr lang="zh-CN" altLang="en-US" dirty="0"/>
                    </a:p>
                  </a:txBody>
                  <a:tcPr/>
                </a:tc>
                <a:extLst>
                  <a:ext uri="{0D108BD9-81ED-4DB2-BD59-A6C34878D82A}">
                    <a16:rowId xmlns:a16="http://schemas.microsoft.com/office/drawing/2014/main" val="1116408414"/>
                  </a:ext>
                </a:extLst>
              </a:tr>
              <a:tr h="370840">
                <a:tc>
                  <a:txBody>
                    <a:bodyPr/>
                    <a:lstStyle/>
                    <a:p>
                      <a:r>
                        <a:rPr lang="zh-CN" altLang="en-US" dirty="0" smtClean="0"/>
                        <a:t>落地成本</a:t>
                      </a:r>
                      <a:endParaRPr lang="zh-CN" altLang="en-US" dirty="0"/>
                    </a:p>
                  </a:txBody>
                  <a:tcPr/>
                </a:tc>
                <a:tc>
                  <a:txBody>
                    <a:bodyPr/>
                    <a:lstStyle/>
                    <a:p>
                      <a:r>
                        <a:rPr lang="en-US" altLang="zh-CN" dirty="0" smtClean="0"/>
                        <a:t>14.60</a:t>
                      </a:r>
                      <a:r>
                        <a:rPr lang="zh-CN" altLang="en-US" dirty="0" smtClean="0"/>
                        <a:t>美元</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16.18</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4.25</a:t>
                      </a:r>
                      <a:r>
                        <a:rPr lang="zh-CN" altLang="en-US" dirty="0" smtClean="0"/>
                        <a:t>美元</a:t>
                      </a:r>
                    </a:p>
                  </a:txBody>
                  <a:tcPr/>
                </a:tc>
                <a:extLst>
                  <a:ext uri="{0D108BD9-81ED-4DB2-BD59-A6C34878D82A}">
                    <a16:rowId xmlns:a16="http://schemas.microsoft.com/office/drawing/2014/main" val="688169204"/>
                  </a:ext>
                </a:extLst>
              </a:tr>
              <a:tr h="370840">
                <a:tc>
                  <a:txBody>
                    <a:bodyPr/>
                    <a:lstStyle/>
                    <a:p>
                      <a:r>
                        <a:rPr lang="zh-CN" altLang="en-US" dirty="0" smtClean="0"/>
                        <a:t>现行税率</a:t>
                      </a:r>
                      <a:endParaRPr lang="zh-CN" altLang="en-US" dirty="0"/>
                    </a:p>
                  </a:txBody>
                  <a:tcPr/>
                </a:tc>
                <a:tc>
                  <a:txBody>
                    <a:bodyPr/>
                    <a:lstStyle/>
                    <a:p>
                      <a:r>
                        <a:rPr lang="en-US" altLang="zh-CN" dirty="0" smtClean="0"/>
                        <a:t>14.1%</a:t>
                      </a:r>
                      <a:endParaRPr lang="zh-CN" altLang="en-US" dirty="0"/>
                    </a:p>
                  </a:txBody>
                  <a:tcPr/>
                </a:tc>
                <a:tc>
                  <a:txBody>
                    <a:bodyPr/>
                    <a:lstStyle/>
                    <a:p>
                      <a:r>
                        <a:rPr lang="en-US" altLang="zh-CN" dirty="0" smtClean="0"/>
                        <a:t>37.5%</a:t>
                      </a:r>
                      <a:endParaRPr lang="zh-CN" altLang="en-US" dirty="0"/>
                    </a:p>
                  </a:txBody>
                  <a:tcPr/>
                </a:tc>
                <a:tc>
                  <a:txBody>
                    <a:bodyPr/>
                    <a:lstStyle/>
                    <a:p>
                      <a:r>
                        <a:rPr lang="en-US" altLang="zh-CN" dirty="0" smtClean="0"/>
                        <a:t>9.52%</a:t>
                      </a:r>
                      <a:endParaRPr lang="zh-CN" altLang="en-US" dirty="0"/>
                    </a:p>
                  </a:txBody>
                  <a:tcPr/>
                </a:tc>
                <a:extLst>
                  <a:ext uri="{0D108BD9-81ED-4DB2-BD59-A6C34878D82A}">
                    <a16:rowId xmlns:a16="http://schemas.microsoft.com/office/drawing/2014/main" val="3824690955"/>
                  </a:ext>
                </a:extLst>
              </a:tr>
              <a:tr h="370840">
                <a:tc>
                  <a:txBody>
                    <a:bodyPr/>
                    <a:lstStyle/>
                    <a:p>
                      <a:r>
                        <a:rPr lang="zh-CN" altLang="en-US" dirty="0" smtClean="0"/>
                        <a:t>关税</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2.06</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6.07</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0.40</a:t>
                      </a:r>
                      <a:r>
                        <a:rPr lang="zh-CN" altLang="en-US" dirty="0" smtClean="0"/>
                        <a:t>美元</a:t>
                      </a:r>
                    </a:p>
                  </a:txBody>
                  <a:tcPr/>
                </a:tc>
                <a:extLst>
                  <a:ext uri="{0D108BD9-81ED-4DB2-BD59-A6C34878D82A}">
                    <a16:rowId xmlns:a16="http://schemas.microsoft.com/office/drawing/2014/main" val="48145362"/>
                  </a:ext>
                </a:extLst>
              </a:tr>
              <a:tr h="370840">
                <a:tc>
                  <a:txBody>
                    <a:bodyPr/>
                    <a:lstStyle/>
                    <a:p>
                      <a:r>
                        <a:rPr lang="zh-CN" altLang="en-US" dirty="0" smtClean="0"/>
                        <a:t>最终进口价</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16.06</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22.25</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4.65</a:t>
                      </a:r>
                      <a:r>
                        <a:rPr lang="zh-CN" altLang="en-US" dirty="0" smtClean="0"/>
                        <a:t>美元</a:t>
                      </a:r>
                    </a:p>
                  </a:txBody>
                  <a:tcPr/>
                </a:tc>
                <a:extLst>
                  <a:ext uri="{0D108BD9-81ED-4DB2-BD59-A6C34878D82A}">
                    <a16:rowId xmlns:a16="http://schemas.microsoft.com/office/drawing/2014/main" val="1622285946"/>
                  </a:ext>
                </a:extLst>
              </a:tr>
              <a:tr h="370840">
                <a:tc>
                  <a:txBody>
                    <a:bodyPr/>
                    <a:lstStyle/>
                    <a:p>
                      <a:r>
                        <a:rPr lang="zh-CN" altLang="en-US" dirty="0" smtClean="0"/>
                        <a:t>标准零售涨幅</a:t>
                      </a:r>
                      <a:endParaRPr lang="zh-CN" altLang="en-US" dirty="0"/>
                    </a:p>
                  </a:txBody>
                  <a:tcPr/>
                </a:tc>
                <a:tc>
                  <a:txBody>
                    <a:bodyPr/>
                    <a:lstStyle/>
                    <a:p>
                      <a:r>
                        <a:rPr lang="en-US" altLang="zh-CN" dirty="0" smtClean="0"/>
                        <a:t>3x</a:t>
                      </a:r>
                      <a:endParaRPr lang="zh-CN" altLang="en-US" dirty="0"/>
                    </a:p>
                  </a:txBody>
                  <a:tcPr/>
                </a:tc>
                <a:tc>
                  <a:txBody>
                    <a:bodyPr/>
                    <a:lstStyle/>
                    <a:p>
                      <a:r>
                        <a:rPr lang="en-US" altLang="zh-CN" dirty="0" smtClean="0"/>
                        <a:t>3x</a:t>
                      </a:r>
                      <a:endParaRPr lang="zh-CN" altLang="en-US" dirty="0"/>
                    </a:p>
                  </a:txBody>
                  <a:tcPr/>
                </a:tc>
                <a:tc>
                  <a:txBody>
                    <a:bodyPr/>
                    <a:lstStyle/>
                    <a:p>
                      <a:r>
                        <a:rPr lang="en-US" altLang="zh-CN" dirty="0" smtClean="0"/>
                        <a:t>3x</a:t>
                      </a:r>
                      <a:endParaRPr lang="zh-CN" altLang="en-US" dirty="0"/>
                    </a:p>
                  </a:txBody>
                  <a:tcPr/>
                </a:tc>
                <a:extLst>
                  <a:ext uri="{0D108BD9-81ED-4DB2-BD59-A6C34878D82A}">
                    <a16:rowId xmlns:a16="http://schemas.microsoft.com/office/drawing/2014/main" val="152132410"/>
                  </a:ext>
                </a:extLst>
              </a:tr>
              <a:tr h="370840">
                <a:tc>
                  <a:txBody>
                    <a:bodyPr/>
                    <a:lstStyle/>
                    <a:p>
                      <a:r>
                        <a:rPr lang="zh-CN" altLang="en-US" dirty="0" smtClean="0"/>
                        <a:t>最终零售价</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48.18</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66.74</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13.96</a:t>
                      </a:r>
                      <a:r>
                        <a:rPr lang="zh-CN" altLang="en-US" dirty="0" smtClean="0"/>
                        <a:t>美元</a:t>
                      </a:r>
                    </a:p>
                  </a:txBody>
                  <a:tcPr/>
                </a:tc>
                <a:extLst>
                  <a:ext uri="{0D108BD9-81ED-4DB2-BD59-A6C34878D82A}">
                    <a16:rowId xmlns:a16="http://schemas.microsoft.com/office/drawing/2014/main" val="2702357361"/>
                  </a:ext>
                </a:extLst>
              </a:tr>
            </a:tbl>
          </a:graphicData>
        </a:graphic>
      </p:graphicFrame>
      <p:sp>
        <p:nvSpPr>
          <p:cNvPr id="2" name="矩形 1"/>
          <p:cNvSpPr/>
          <p:nvPr/>
        </p:nvSpPr>
        <p:spPr>
          <a:xfrm>
            <a:off x="776177" y="1584273"/>
            <a:ext cx="6953692" cy="877163"/>
          </a:xfrm>
          <a:prstGeom prst="rect">
            <a:avLst/>
          </a:prstGeom>
        </p:spPr>
        <p:txBody>
          <a:bodyPr wrap="square">
            <a:spAutoFit/>
          </a:bodyPr>
          <a:lstStyle/>
          <a:p>
            <a:r>
              <a:rPr lang="zh-CN" altLang="en-US" sz="2550" b="1" dirty="0">
                <a:solidFill>
                  <a:srgbClr val="000000"/>
                </a:solidFill>
                <a:latin typeface="+mn-lt"/>
                <a:ea typeface="+mn-ea"/>
              </a:rPr>
              <a:t>美国加征</a:t>
            </a:r>
            <a:r>
              <a:rPr lang="en-US" altLang="zh-CN" sz="2550" b="1" dirty="0">
                <a:solidFill>
                  <a:srgbClr val="000000"/>
                </a:solidFill>
                <a:latin typeface="+mn-lt"/>
                <a:ea typeface="+mn-ea"/>
              </a:rPr>
              <a:t>25%</a:t>
            </a:r>
            <a:r>
              <a:rPr lang="zh-CN" altLang="en-US" sz="2550" b="1" dirty="0">
                <a:solidFill>
                  <a:srgbClr val="000000"/>
                </a:solidFill>
                <a:latin typeface="+mn-lt"/>
                <a:ea typeface="+mn-ea"/>
              </a:rPr>
              <a:t>关税将需要美国消费者额外承担多少</a:t>
            </a:r>
            <a:r>
              <a:rPr lang="zh-CN" altLang="en-US" sz="2550" b="1" dirty="0" smtClean="0">
                <a:solidFill>
                  <a:srgbClr val="000000"/>
                </a:solidFill>
                <a:latin typeface="+mn-lt"/>
                <a:ea typeface="+mn-ea"/>
              </a:rPr>
              <a:t>成本？</a:t>
            </a:r>
            <a:endParaRPr lang="en-US" altLang="zh-CN" sz="2550" b="1" dirty="0">
              <a:solidFill>
                <a:srgbClr val="000000"/>
              </a:solidFill>
              <a:latin typeface="+mn-lt"/>
              <a:ea typeface="+mn-ea"/>
            </a:endParaRPr>
          </a:p>
        </p:txBody>
      </p:sp>
      <p:sp>
        <p:nvSpPr>
          <p:cNvPr id="5" name="矩形 4"/>
          <p:cNvSpPr/>
          <p:nvPr/>
        </p:nvSpPr>
        <p:spPr>
          <a:xfrm rot="609033">
            <a:off x="7536010" y="1313556"/>
            <a:ext cx="1420582" cy="1569660"/>
          </a:xfrm>
          <a:prstGeom prst="rect">
            <a:avLst/>
          </a:prstGeom>
        </p:spPr>
        <p:txBody>
          <a:bodyPr wrap="none">
            <a:spAutoFit/>
          </a:bodyPr>
          <a:lstStyle/>
          <a:p>
            <a:r>
              <a:rPr lang="zh-CN" altLang="en-US" sz="9600" b="1" dirty="0">
                <a:solidFill>
                  <a:srgbClr val="C00000"/>
                </a:solidFill>
              </a:rPr>
              <a:t>？</a:t>
            </a:r>
            <a:endParaRPr lang="en-US" altLang="zh-CN" sz="9600" b="1" dirty="0">
              <a:solidFill>
                <a:srgbClr val="C00000"/>
              </a:solidFill>
            </a:endParaRPr>
          </a:p>
        </p:txBody>
      </p:sp>
      <p:sp>
        <p:nvSpPr>
          <p:cNvPr id="7" name="矩形 6"/>
          <p:cNvSpPr/>
          <p:nvPr/>
        </p:nvSpPr>
        <p:spPr>
          <a:xfrm>
            <a:off x="632102" y="2586260"/>
            <a:ext cx="7241842" cy="707886"/>
          </a:xfrm>
          <a:prstGeom prst="rect">
            <a:avLst/>
          </a:prstGeom>
        </p:spPr>
        <p:txBody>
          <a:bodyPr wrap="square">
            <a:spAutoFit/>
          </a:bodyPr>
          <a:lstStyle/>
          <a:p>
            <a:pPr marL="342900" indent="-342900">
              <a:spcBef>
                <a:spcPct val="20000"/>
              </a:spcBef>
              <a:buChar char="•"/>
            </a:pPr>
            <a:r>
              <a:rPr lang="zh-CN" altLang="en-US" sz="2000" b="1" dirty="0">
                <a:solidFill>
                  <a:srgbClr val="000000"/>
                </a:solidFill>
                <a:latin typeface="+mn-lt"/>
                <a:ea typeface="+mn-ea"/>
              </a:rPr>
              <a:t>美国鞋业贸易组织</a:t>
            </a:r>
            <a:r>
              <a:rPr lang="en-US" altLang="zh-CN" sz="2000" b="1" dirty="0" smtClean="0">
                <a:solidFill>
                  <a:srgbClr val="000000"/>
                </a:solidFill>
                <a:latin typeface="+mn-lt"/>
                <a:ea typeface="+mn-ea"/>
              </a:rPr>
              <a:t>FDRA</a:t>
            </a:r>
            <a:r>
              <a:rPr lang="zh-CN" altLang="en-US" sz="2000" b="1" dirty="0" smtClean="0">
                <a:solidFill>
                  <a:srgbClr val="000000"/>
                </a:solidFill>
                <a:latin typeface="+mn-lt"/>
                <a:ea typeface="+mn-ea"/>
              </a:rPr>
              <a:t>对此进行</a:t>
            </a:r>
            <a:r>
              <a:rPr lang="zh-CN" altLang="en-US" sz="2000" b="1" dirty="0">
                <a:solidFill>
                  <a:srgbClr val="000000"/>
                </a:solidFill>
                <a:latin typeface="+mn-lt"/>
                <a:ea typeface="+mn-ea"/>
              </a:rPr>
              <a:t>了详细的估算，下表是目前一双进口运动鞋、靴子和童鞋的成本：</a:t>
            </a:r>
            <a:endParaRPr lang="en-US" altLang="zh-CN" sz="2000" b="1" dirty="0">
              <a:solidFill>
                <a:srgbClr val="000000"/>
              </a:solidFill>
              <a:latin typeface="+mn-lt"/>
              <a:ea typeface="+mn-ea"/>
            </a:endParaRPr>
          </a:p>
        </p:txBody>
      </p:sp>
    </p:spTree>
    <p:extLst>
      <p:ext uri="{BB962C8B-B14F-4D97-AF65-F5344CB8AC3E}">
        <p14:creationId xmlns:p14="http://schemas.microsoft.com/office/powerpoint/2010/main" val="30790162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sp>
        <p:nvSpPr>
          <p:cNvPr id="2" name="矩形 1"/>
          <p:cNvSpPr/>
          <p:nvPr/>
        </p:nvSpPr>
        <p:spPr>
          <a:xfrm>
            <a:off x="776177" y="1446490"/>
            <a:ext cx="6953692" cy="877163"/>
          </a:xfrm>
          <a:prstGeom prst="rect">
            <a:avLst/>
          </a:prstGeom>
        </p:spPr>
        <p:txBody>
          <a:bodyPr wrap="square">
            <a:spAutoFit/>
          </a:bodyPr>
          <a:lstStyle/>
          <a:p>
            <a:r>
              <a:rPr lang="zh-CN" altLang="en-US" sz="2550" b="1" dirty="0">
                <a:solidFill>
                  <a:srgbClr val="000000"/>
                </a:solidFill>
                <a:latin typeface="+mn-lt"/>
                <a:ea typeface="+mn-ea"/>
              </a:rPr>
              <a:t>美国加征</a:t>
            </a:r>
            <a:r>
              <a:rPr lang="en-US" altLang="zh-CN" sz="2550" b="1" dirty="0">
                <a:solidFill>
                  <a:srgbClr val="000000"/>
                </a:solidFill>
                <a:latin typeface="+mn-lt"/>
                <a:ea typeface="+mn-ea"/>
              </a:rPr>
              <a:t>25%</a:t>
            </a:r>
            <a:r>
              <a:rPr lang="zh-CN" altLang="en-US" sz="2550" b="1" dirty="0">
                <a:solidFill>
                  <a:srgbClr val="000000"/>
                </a:solidFill>
                <a:latin typeface="+mn-lt"/>
                <a:ea typeface="+mn-ea"/>
              </a:rPr>
              <a:t>关税将需要美国消费者额外承担多少</a:t>
            </a:r>
            <a:r>
              <a:rPr lang="zh-CN" altLang="en-US" sz="2550" b="1" dirty="0" smtClean="0">
                <a:solidFill>
                  <a:srgbClr val="000000"/>
                </a:solidFill>
                <a:latin typeface="+mn-lt"/>
                <a:ea typeface="+mn-ea"/>
              </a:rPr>
              <a:t>成本？</a:t>
            </a:r>
            <a:endParaRPr lang="en-US" altLang="zh-CN" sz="2550" b="1" dirty="0">
              <a:solidFill>
                <a:srgbClr val="000000"/>
              </a:solidFill>
              <a:latin typeface="+mn-lt"/>
              <a:ea typeface="+mn-ea"/>
            </a:endParaRPr>
          </a:p>
        </p:txBody>
      </p:sp>
      <p:sp>
        <p:nvSpPr>
          <p:cNvPr id="5" name="矩形 4"/>
          <p:cNvSpPr/>
          <p:nvPr/>
        </p:nvSpPr>
        <p:spPr>
          <a:xfrm rot="609033">
            <a:off x="7677323" y="1179071"/>
            <a:ext cx="1420582" cy="1569660"/>
          </a:xfrm>
          <a:prstGeom prst="rect">
            <a:avLst/>
          </a:prstGeom>
        </p:spPr>
        <p:txBody>
          <a:bodyPr wrap="none">
            <a:spAutoFit/>
          </a:bodyPr>
          <a:lstStyle/>
          <a:p>
            <a:r>
              <a:rPr lang="zh-CN" altLang="en-US" sz="9600" b="1" dirty="0">
                <a:solidFill>
                  <a:srgbClr val="C00000"/>
                </a:solidFill>
              </a:rPr>
              <a:t>？</a:t>
            </a:r>
            <a:endParaRPr lang="en-US" altLang="zh-CN" sz="9600" b="1" dirty="0">
              <a:solidFill>
                <a:srgbClr val="C00000"/>
              </a:solidFill>
            </a:endParaRPr>
          </a:p>
        </p:txBody>
      </p:sp>
      <p:sp>
        <p:nvSpPr>
          <p:cNvPr id="7" name="矩形 6"/>
          <p:cNvSpPr/>
          <p:nvPr/>
        </p:nvSpPr>
        <p:spPr>
          <a:xfrm>
            <a:off x="632102" y="2284106"/>
            <a:ext cx="7241842" cy="400110"/>
          </a:xfrm>
          <a:prstGeom prst="rect">
            <a:avLst/>
          </a:prstGeom>
        </p:spPr>
        <p:txBody>
          <a:bodyPr wrap="square">
            <a:spAutoFit/>
          </a:bodyPr>
          <a:lstStyle/>
          <a:p>
            <a:pPr marL="342900" indent="-342900">
              <a:spcBef>
                <a:spcPct val="20000"/>
              </a:spcBef>
              <a:buChar char="•"/>
            </a:pPr>
            <a:r>
              <a:rPr lang="zh-CN" altLang="en-US" sz="2000" b="1" dirty="0" smtClean="0">
                <a:solidFill>
                  <a:srgbClr val="000000"/>
                </a:solidFill>
                <a:latin typeface="+mn-lt"/>
                <a:ea typeface="+mn-ea"/>
              </a:rPr>
              <a:t>额外征收</a:t>
            </a:r>
            <a:r>
              <a:rPr lang="en-US" altLang="zh-CN" sz="2000" b="1" dirty="0" smtClean="0">
                <a:solidFill>
                  <a:srgbClr val="000000"/>
                </a:solidFill>
                <a:latin typeface="+mn-lt"/>
                <a:ea typeface="+mn-ea"/>
              </a:rPr>
              <a:t>25%</a:t>
            </a:r>
            <a:r>
              <a:rPr lang="zh-CN" altLang="en-US" sz="2000" b="1" dirty="0" smtClean="0">
                <a:solidFill>
                  <a:srgbClr val="000000"/>
                </a:solidFill>
                <a:latin typeface="+mn-lt"/>
                <a:ea typeface="+mn-ea"/>
              </a:rPr>
              <a:t>关税后的成本为：</a:t>
            </a:r>
            <a:endParaRPr lang="en-US" altLang="zh-CN" sz="2000" b="1" dirty="0">
              <a:solidFill>
                <a:srgbClr val="000000"/>
              </a:solidFill>
              <a:latin typeface="+mn-lt"/>
              <a:ea typeface="+mn-ea"/>
            </a:endParaRPr>
          </a:p>
        </p:txBody>
      </p:sp>
      <p:graphicFrame>
        <p:nvGraphicFramePr>
          <p:cNvPr id="8" name="内容占位符 10"/>
          <p:cNvGraphicFramePr>
            <a:graphicFrameLocks/>
          </p:cNvGraphicFramePr>
          <p:nvPr>
            <p:extLst>
              <p:ext uri="{D42A27DB-BD31-4B8C-83A1-F6EECF244321}">
                <p14:modId xmlns:p14="http://schemas.microsoft.com/office/powerpoint/2010/main" val="914665223"/>
              </p:ext>
            </p:extLst>
          </p:nvPr>
        </p:nvGraphicFramePr>
        <p:xfrm>
          <a:off x="1045896" y="2684216"/>
          <a:ext cx="7098044" cy="3708400"/>
        </p:xfrm>
        <a:graphic>
          <a:graphicData uri="http://schemas.openxmlformats.org/drawingml/2006/table">
            <a:tbl>
              <a:tblPr firstRow="1" bandRow="1">
                <a:tableStyleId>{5C22544A-7EE6-4342-B048-85BDC9FD1C3A}</a:tableStyleId>
              </a:tblPr>
              <a:tblGrid>
                <a:gridCol w="1774511">
                  <a:extLst>
                    <a:ext uri="{9D8B030D-6E8A-4147-A177-3AD203B41FA5}">
                      <a16:colId xmlns:a16="http://schemas.microsoft.com/office/drawing/2014/main" val="1419386185"/>
                    </a:ext>
                  </a:extLst>
                </a:gridCol>
                <a:gridCol w="1774511">
                  <a:extLst>
                    <a:ext uri="{9D8B030D-6E8A-4147-A177-3AD203B41FA5}">
                      <a16:colId xmlns:a16="http://schemas.microsoft.com/office/drawing/2014/main" val="3436692388"/>
                    </a:ext>
                  </a:extLst>
                </a:gridCol>
                <a:gridCol w="1774511">
                  <a:extLst>
                    <a:ext uri="{9D8B030D-6E8A-4147-A177-3AD203B41FA5}">
                      <a16:colId xmlns:a16="http://schemas.microsoft.com/office/drawing/2014/main" val="1417319626"/>
                    </a:ext>
                  </a:extLst>
                </a:gridCol>
                <a:gridCol w="1774511">
                  <a:extLst>
                    <a:ext uri="{9D8B030D-6E8A-4147-A177-3AD203B41FA5}">
                      <a16:colId xmlns:a16="http://schemas.microsoft.com/office/drawing/2014/main" val="3125599651"/>
                    </a:ext>
                  </a:extLst>
                </a:gridCol>
              </a:tblGrid>
              <a:tr h="370840">
                <a:tc>
                  <a:txBody>
                    <a:bodyPr/>
                    <a:lstStyle/>
                    <a:p>
                      <a:endParaRPr lang="zh-CN" altLang="en-US" dirty="0"/>
                    </a:p>
                  </a:txBody>
                  <a:tcPr/>
                </a:tc>
                <a:tc>
                  <a:txBody>
                    <a:bodyPr/>
                    <a:lstStyle/>
                    <a:p>
                      <a:r>
                        <a:rPr lang="zh-CN" altLang="en-US" dirty="0" smtClean="0"/>
                        <a:t>运动鞋</a:t>
                      </a:r>
                      <a:endParaRPr lang="zh-CN" altLang="en-US" dirty="0"/>
                    </a:p>
                  </a:txBody>
                  <a:tcPr/>
                </a:tc>
                <a:tc>
                  <a:txBody>
                    <a:bodyPr/>
                    <a:lstStyle/>
                    <a:p>
                      <a:r>
                        <a:rPr lang="zh-CN" altLang="en-US" dirty="0" smtClean="0"/>
                        <a:t>靴子</a:t>
                      </a:r>
                      <a:endParaRPr lang="zh-CN" altLang="en-US" dirty="0"/>
                    </a:p>
                  </a:txBody>
                  <a:tcPr/>
                </a:tc>
                <a:tc>
                  <a:txBody>
                    <a:bodyPr/>
                    <a:lstStyle/>
                    <a:p>
                      <a:r>
                        <a:rPr lang="zh-CN" altLang="en-US" dirty="0" smtClean="0"/>
                        <a:t>童鞋</a:t>
                      </a:r>
                      <a:endParaRPr lang="zh-CN" altLang="en-US" dirty="0"/>
                    </a:p>
                  </a:txBody>
                  <a:tcPr/>
                </a:tc>
                <a:extLst>
                  <a:ext uri="{0D108BD9-81ED-4DB2-BD59-A6C34878D82A}">
                    <a16:rowId xmlns:a16="http://schemas.microsoft.com/office/drawing/2014/main" val="1116408414"/>
                  </a:ext>
                </a:extLst>
              </a:tr>
              <a:tr h="370840">
                <a:tc>
                  <a:txBody>
                    <a:bodyPr/>
                    <a:lstStyle/>
                    <a:p>
                      <a:r>
                        <a:rPr lang="zh-CN" altLang="en-US" dirty="0" smtClean="0"/>
                        <a:t>落地成本</a:t>
                      </a:r>
                      <a:endParaRPr lang="zh-CN" altLang="en-US" dirty="0"/>
                    </a:p>
                  </a:txBody>
                  <a:tcPr/>
                </a:tc>
                <a:tc>
                  <a:txBody>
                    <a:bodyPr/>
                    <a:lstStyle/>
                    <a:p>
                      <a:r>
                        <a:rPr lang="en-US" altLang="zh-CN" dirty="0" smtClean="0"/>
                        <a:t>14.60</a:t>
                      </a:r>
                      <a:r>
                        <a:rPr lang="zh-CN" altLang="en-US" dirty="0" smtClean="0"/>
                        <a:t>美元</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16.18</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4.25</a:t>
                      </a:r>
                      <a:r>
                        <a:rPr lang="zh-CN" altLang="en-US" dirty="0" smtClean="0"/>
                        <a:t>美元</a:t>
                      </a:r>
                    </a:p>
                  </a:txBody>
                  <a:tcPr/>
                </a:tc>
                <a:extLst>
                  <a:ext uri="{0D108BD9-81ED-4DB2-BD59-A6C34878D82A}">
                    <a16:rowId xmlns:a16="http://schemas.microsoft.com/office/drawing/2014/main" val="688169204"/>
                  </a:ext>
                </a:extLst>
              </a:tr>
              <a:tr h="370840">
                <a:tc>
                  <a:txBody>
                    <a:bodyPr/>
                    <a:lstStyle/>
                    <a:p>
                      <a:r>
                        <a:rPr lang="zh-CN" altLang="en-US" dirty="0" smtClean="0"/>
                        <a:t>现行税率</a:t>
                      </a:r>
                      <a:endParaRPr lang="zh-CN" altLang="en-US" dirty="0"/>
                    </a:p>
                  </a:txBody>
                  <a:tcPr/>
                </a:tc>
                <a:tc>
                  <a:txBody>
                    <a:bodyPr/>
                    <a:lstStyle/>
                    <a:p>
                      <a:r>
                        <a:rPr lang="en-US" altLang="zh-CN" dirty="0" smtClean="0"/>
                        <a:t>14.1%</a:t>
                      </a:r>
                      <a:endParaRPr lang="zh-CN" altLang="en-US" dirty="0"/>
                    </a:p>
                  </a:txBody>
                  <a:tcPr/>
                </a:tc>
                <a:tc>
                  <a:txBody>
                    <a:bodyPr/>
                    <a:lstStyle/>
                    <a:p>
                      <a:r>
                        <a:rPr lang="en-US" altLang="zh-CN" dirty="0" smtClean="0"/>
                        <a:t>37.5%</a:t>
                      </a:r>
                      <a:endParaRPr lang="zh-CN" altLang="en-US" dirty="0"/>
                    </a:p>
                  </a:txBody>
                  <a:tcPr/>
                </a:tc>
                <a:tc>
                  <a:txBody>
                    <a:bodyPr/>
                    <a:lstStyle/>
                    <a:p>
                      <a:r>
                        <a:rPr lang="en-US" altLang="zh-CN" dirty="0" smtClean="0"/>
                        <a:t>9.52%</a:t>
                      </a:r>
                      <a:endParaRPr lang="zh-CN" altLang="en-US" dirty="0"/>
                    </a:p>
                  </a:txBody>
                  <a:tcPr/>
                </a:tc>
                <a:extLst>
                  <a:ext uri="{0D108BD9-81ED-4DB2-BD59-A6C34878D82A}">
                    <a16:rowId xmlns:a16="http://schemas.microsoft.com/office/drawing/2014/main" val="3824690955"/>
                  </a:ext>
                </a:extLst>
              </a:tr>
              <a:tr h="370840">
                <a:tc>
                  <a:txBody>
                    <a:bodyPr/>
                    <a:lstStyle/>
                    <a:p>
                      <a:r>
                        <a:rPr lang="zh-CN" altLang="en-US" dirty="0" smtClean="0"/>
                        <a:t>关税</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2.06</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6.07</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0.40</a:t>
                      </a:r>
                      <a:r>
                        <a:rPr lang="zh-CN" altLang="en-US" dirty="0" smtClean="0"/>
                        <a:t>美元</a:t>
                      </a:r>
                    </a:p>
                  </a:txBody>
                  <a:tcPr/>
                </a:tc>
                <a:extLst>
                  <a:ext uri="{0D108BD9-81ED-4DB2-BD59-A6C34878D82A}">
                    <a16:rowId xmlns:a16="http://schemas.microsoft.com/office/drawing/2014/main" val="48145362"/>
                  </a:ext>
                </a:extLst>
              </a:tr>
              <a:tr h="370840">
                <a:tc>
                  <a:txBody>
                    <a:bodyPr/>
                    <a:lstStyle/>
                    <a:p>
                      <a:r>
                        <a:rPr lang="zh-CN" altLang="en-US" dirty="0" smtClean="0"/>
                        <a:t>附加税</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25%</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25%</a:t>
                      </a:r>
                      <a:endParaRPr lang="zh-CN" alt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25%</a:t>
                      </a:r>
                      <a:endParaRPr lang="zh-CN" altLang="en-US" dirty="0" smtClean="0"/>
                    </a:p>
                  </a:txBody>
                  <a:tcPr/>
                </a:tc>
                <a:extLst>
                  <a:ext uri="{0D108BD9-81ED-4DB2-BD59-A6C34878D82A}">
                    <a16:rowId xmlns:a16="http://schemas.microsoft.com/office/drawing/2014/main" val="3342431129"/>
                  </a:ext>
                </a:extLst>
              </a:tr>
              <a:tr h="370840">
                <a:tc>
                  <a:txBody>
                    <a:bodyPr/>
                    <a:lstStyle/>
                    <a:p>
                      <a:r>
                        <a:rPr lang="zh-CN" altLang="en-US" dirty="0" smtClean="0"/>
                        <a:t>新关税</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5.71</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10.11</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1.87</a:t>
                      </a:r>
                      <a:r>
                        <a:rPr lang="zh-CN" altLang="en-US" dirty="0" smtClean="0"/>
                        <a:t>美元</a:t>
                      </a:r>
                    </a:p>
                  </a:txBody>
                  <a:tcPr/>
                </a:tc>
                <a:extLst>
                  <a:ext uri="{0D108BD9-81ED-4DB2-BD59-A6C34878D82A}">
                    <a16:rowId xmlns:a16="http://schemas.microsoft.com/office/drawing/2014/main" val="3022659509"/>
                  </a:ext>
                </a:extLst>
              </a:tr>
              <a:tr h="370840">
                <a:tc>
                  <a:txBody>
                    <a:bodyPr/>
                    <a:lstStyle/>
                    <a:p>
                      <a:r>
                        <a:rPr lang="zh-CN" altLang="en-US" dirty="0" smtClean="0"/>
                        <a:t>最终进口价</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20.31</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32.36</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6.12</a:t>
                      </a:r>
                      <a:r>
                        <a:rPr lang="zh-CN" altLang="en-US" dirty="0" smtClean="0"/>
                        <a:t>美元</a:t>
                      </a:r>
                    </a:p>
                  </a:txBody>
                  <a:tcPr/>
                </a:tc>
                <a:extLst>
                  <a:ext uri="{0D108BD9-81ED-4DB2-BD59-A6C34878D82A}">
                    <a16:rowId xmlns:a16="http://schemas.microsoft.com/office/drawing/2014/main" val="1622285946"/>
                  </a:ext>
                </a:extLst>
              </a:tr>
              <a:tr h="370840">
                <a:tc>
                  <a:txBody>
                    <a:bodyPr/>
                    <a:lstStyle/>
                    <a:p>
                      <a:r>
                        <a:rPr lang="zh-CN" altLang="en-US" dirty="0" smtClean="0"/>
                        <a:t>标准零售涨幅</a:t>
                      </a:r>
                      <a:endParaRPr lang="zh-CN" altLang="en-US" dirty="0"/>
                    </a:p>
                  </a:txBody>
                  <a:tcPr/>
                </a:tc>
                <a:tc>
                  <a:txBody>
                    <a:bodyPr/>
                    <a:lstStyle/>
                    <a:p>
                      <a:r>
                        <a:rPr lang="en-US" altLang="zh-CN" dirty="0" smtClean="0"/>
                        <a:t>3x</a:t>
                      </a:r>
                      <a:endParaRPr lang="zh-CN" altLang="en-US" dirty="0"/>
                    </a:p>
                  </a:txBody>
                  <a:tcPr/>
                </a:tc>
                <a:tc>
                  <a:txBody>
                    <a:bodyPr/>
                    <a:lstStyle/>
                    <a:p>
                      <a:r>
                        <a:rPr lang="en-US" altLang="zh-CN" dirty="0" smtClean="0"/>
                        <a:t>3x</a:t>
                      </a:r>
                      <a:endParaRPr lang="zh-CN" altLang="en-US" dirty="0"/>
                    </a:p>
                  </a:txBody>
                  <a:tcPr/>
                </a:tc>
                <a:tc>
                  <a:txBody>
                    <a:bodyPr/>
                    <a:lstStyle/>
                    <a:p>
                      <a:r>
                        <a:rPr lang="en-US" altLang="zh-CN" dirty="0" smtClean="0"/>
                        <a:t>3x</a:t>
                      </a:r>
                      <a:endParaRPr lang="zh-CN" altLang="en-US" dirty="0"/>
                    </a:p>
                  </a:txBody>
                  <a:tcPr/>
                </a:tc>
                <a:extLst>
                  <a:ext uri="{0D108BD9-81ED-4DB2-BD59-A6C34878D82A}">
                    <a16:rowId xmlns:a16="http://schemas.microsoft.com/office/drawing/2014/main" val="152132410"/>
                  </a:ext>
                </a:extLst>
              </a:tr>
              <a:tr h="370840">
                <a:tc>
                  <a:txBody>
                    <a:bodyPr/>
                    <a:lstStyle/>
                    <a:p>
                      <a:r>
                        <a:rPr lang="zh-CN" altLang="en-US" b="1" dirty="0" smtClean="0"/>
                        <a:t>最终零售价</a:t>
                      </a:r>
                      <a:endParaRPr lang="zh-CN" altLang="en-US"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60.93</a:t>
                      </a:r>
                      <a:r>
                        <a:rPr lang="zh-CN" altLang="en-US" b="1"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97.08</a:t>
                      </a:r>
                      <a:r>
                        <a:rPr lang="zh-CN" altLang="en-US" b="1"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18.36</a:t>
                      </a:r>
                      <a:r>
                        <a:rPr lang="zh-CN" altLang="en-US" b="1" dirty="0" smtClean="0"/>
                        <a:t>美元</a:t>
                      </a:r>
                    </a:p>
                  </a:txBody>
                  <a:tcPr/>
                </a:tc>
                <a:extLst>
                  <a:ext uri="{0D108BD9-81ED-4DB2-BD59-A6C34878D82A}">
                    <a16:rowId xmlns:a16="http://schemas.microsoft.com/office/drawing/2014/main" val="2702357361"/>
                  </a:ext>
                </a:extLst>
              </a:tr>
              <a:tr h="370840">
                <a:tc>
                  <a:txBody>
                    <a:bodyPr/>
                    <a:lstStyle/>
                    <a:p>
                      <a:r>
                        <a:rPr lang="zh-CN" altLang="en-US" dirty="0" smtClean="0"/>
                        <a:t>原零售价</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48.18</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66.74</a:t>
                      </a:r>
                      <a:r>
                        <a:rPr lang="zh-CN" altLang="en-US" dirty="0" smtClean="0"/>
                        <a:t>美元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13.96</a:t>
                      </a:r>
                      <a:r>
                        <a:rPr lang="zh-CN" altLang="en-US" dirty="0" smtClean="0"/>
                        <a:t>美元</a:t>
                      </a:r>
                    </a:p>
                  </a:txBody>
                  <a:tcPr/>
                </a:tc>
                <a:extLst>
                  <a:ext uri="{0D108BD9-81ED-4DB2-BD59-A6C34878D82A}">
                    <a16:rowId xmlns:a16="http://schemas.microsoft.com/office/drawing/2014/main" val="607259705"/>
                  </a:ext>
                </a:extLst>
              </a:tr>
            </a:tbl>
          </a:graphicData>
        </a:graphic>
      </p:graphicFrame>
    </p:spTree>
    <p:extLst>
      <p:ext uri="{BB962C8B-B14F-4D97-AF65-F5344CB8AC3E}">
        <p14:creationId xmlns:p14="http://schemas.microsoft.com/office/powerpoint/2010/main" val="3520970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smtClean="0"/>
              <a:t>中美贸易战</a:t>
            </a:r>
            <a:endParaRPr lang="zh-CN" altLang="en-US" dirty="0"/>
          </a:p>
        </p:txBody>
      </p:sp>
      <p:sp>
        <p:nvSpPr>
          <p:cNvPr id="2" name="矩形 1"/>
          <p:cNvSpPr/>
          <p:nvPr/>
        </p:nvSpPr>
        <p:spPr>
          <a:xfrm>
            <a:off x="363367" y="1645803"/>
            <a:ext cx="4692296" cy="3170099"/>
          </a:xfrm>
          <a:prstGeom prst="rect">
            <a:avLst/>
          </a:prstGeom>
        </p:spPr>
        <p:txBody>
          <a:bodyPr wrap="square">
            <a:spAutoFit/>
          </a:bodyPr>
          <a:lstStyle/>
          <a:p>
            <a:pPr marL="342900" indent="-342900">
              <a:buFont typeface="Arial" panose="020B0604020202020204" pitchFamily="34" charset="0"/>
              <a:buChar char="•"/>
            </a:pPr>
            <a:r>
              <a:rPr lang="zh-CN" altLang="en-US" sz="2000" b="1" dirty="0">
                <a:solidFill>
                  <a:srgbClr val="000000"/>
                </a:solidFill>
              </a:rPr>
              <a:t>根据</a:t>
            </a:r>
            <a:r>
              <a:rPr lang="en-US" altLang="zh-CN" sz="2000" b="1" dirty="0">
                <a:solidFill>
                  <a:srgbClr val="000000"/>
                </a:solidFill>
              </a:rPr>
              <a:t>FDRA</a:t>
            </a:r>
            <a:r>
              <a:rPr lang="zh-CN" altLang="en-US" sz="2000" b="1" dirty="0">
                <a:solidFill>
                  <a:srgbClr val="000000"/>
                </a:solidFill>
              </a:rPr>
              <a:t>估计，高关税下某一品牌的运动鞋售价会从 </a:t>
            </a:r>
            <a:r>
              <a:rPr lang="en-US" altLang="zh-CN" sz="2000" b="1" dirty="0">
                <a:solidFill>
                  <a:srgbClr val="000000"/>
                </a:solidFill>
              </a:rPr>
              <a:t>150 </a:t>
            </a:r>
            <a:r>
              <a:rPr lang="zh-CN" altLang="en-US" sz="2000" b="1" dirty="0">
                <a:solidFill>
                  <a:srgbClr val="000000"/>
                </a:solidFill>
              </a:rPr>
              <a:t>美元增加到 </a:t>
            </a:r>
            <a:r>
              <a:rPr lang="en-US" altLang="zh-CN" sz="2000" b="1" dirty="0">
                <a:solidFill>
                  <a:srgbClr val="000000"/>
                </a:solidFill>
              </a:rPr>
              <a:t>206 </a:t>
            </a:r>
            <a:r>
              <a:rPr lang="zh-CN" altLang="en-US" sz="2000" b="1" dirty="0">
                <a:solidFill>
                  <a:srgbClr val="000000"/>
                </a:solidFill>
              </a:rPr>
              <a:t>美元，其他种类的鞋子售价亦会有类似的涨幅。当鞋子的生产成本提升后，涨价</a:t>
            </a:r>
            <a:r>
              <a:rPr lang="zh-CN" altLang="en-US" sz="2000" b="1" dirty="0" smtClean="0">
                <a:solidFill>
                  <a:srgbClr val="000000"/>
                </a:solidFill>
              </a:rPr>
              <a:t>就不可避免。</a:t>
            </a:r>
            <a:endParaRPr lang="en-US" altLang="zh-CN" sz="2000" b="1" dirty="0" smtClean="0">
              <a:solidFill>
                <a:srgbClr val="000000"/>
              </a:solidFill>
            </a:endParaRPr>
          </a:p>
          <a:p>
            <a:pPr marL="342900" indent="-342900">
              <a:buFont typeface="Arial" panose="020B0604020202020204" pitchFamily="34" charset="0"/>
              <a:buChar char="•"/>
            </a:pPr>
            <a:endParaRPr lang="en-US" altLang="zh-CN" sz="2000" b="1" dirty="0">
              <a:solidFill>
                <a:srgbClr val="000000"/>
              </a:solidFill>
            </a:endParaRPr>
          </a:p>
          <a:p>
            <a:pPr marL="342900" indent="-342900">
              <a:buFont typeface="Arial" panose="020B0604020202020204" pitchFamily="34" charset="0"/>
              <a:buChar char="•"/>
            </a:pPr>
            <a:r>
              <a:rPr lang="zh-CN" altLang="en-US" sz="2000" b="1" dirty="0" smtClean="0">
                <a:solidFill>
                  <a:srgbClr val="000000"/>
                </a:solidFill>
                <a:latin typeface="+mn-lt"/>
                <a:ea typeface="+mn-ea"/>
              </a:rPr>
              <a:t>对于</a:t>
            </a:r>
            <a:r>
              <a:rPr lang="zh-CN" altLang="en-US" sz="2000" b="1" dirty="0">
                <a:solidFill>
                  <a:srgbClr val="000000"/>
                </a:solidFill>
                <a:latin typeface="+mn-lt"/>
                <a:ea typeface="+mn-ea"/>
              </a:rPr>
              <a:t>美国 </a:t>
            </a:r>
            <a:r>
              <a:rPr lang="en-US" altLang="zh-CN" sz="2000" b="1" dirty="0" err="1">
                <a:solidFill>
                  <a:srgbClr val="000000"/>
                </a:solidFill>
                <a:latin typeface="+mn-lt"/>
                <a:ea typeface="+mn-ea"/>
              </a:rPr>
              <a:t>Sneakerhead</a:t>
            </a:r>
            <a:r>
              <a:rPr lang="en-US" altLang="zh-CN" sz="2000" b="1" dirty="0">
                <a:solidFill>
                  <a:srgbClr val="000000"/>
                </a:solidFill>
                <a:latin typeface="+mn-lt"/>
                <a:ea typeface="+mn-ea"/>
              </a:rPr>
              <a:t> </a:t>
            </a:r>
            <a:r>
              <a:rPr lang="zh-CN" altLang="en-US" sz="2000" b="1" dirty="0">
                <a:solidFill>
                  <a:srgbClr val="000000"/>
                </a:solidFill>
                <a:latin typeface="+mn-lt"/>
                <a:ea typeface="+mn-ea"/>
              </a:rPr>
              <a:t>而言，原先只需要 </a:t>
            </a:r>
            <a:r>
              <a:rPr lang="en-US" altLang="zh-CN" sz="2000" b="1" dirty="0">
                <a:solidFill>
                  <a:srgbClr val="000000"/>
                </a:solidFill>
                <a:latin typeface="+mn-lt"/>
                <a:ea typeface="+mn-ea"/>
              </a:rPr>
              <a:t>$160 </a:t>
            </a:r>
            <a:r>
              <a:rPr lang="zh-CN" altLang="en-US" sz="2000" b="1" dirty="0">
                <a:solidFill>
                  <a:srgbClr val="000000"/>
                </a:solidFill>
                <a:latin typeface="+mn-lt"/>
                <a:ea typeface="+mn-ea"/>
              </a:rPr>
              <a:t>美元的发售价就可以购买到一双 </a:t>
            </a:r>
            <a:r>
              <a:rPr lang="en-US" altLang="zh-CN" sz="2000" b="1" dirty="0">
                <a:solidFill>
                  <a:srgbClr val="000000"/>
                </a:solidFill>
                <a:latin typeface="+mn-lt"/>
                <a:ea typeface="+mn-ea"/>
              </a:rPr>
              <a:t>Air Jordan 1 </a:t>
            </a:r>
            <a:r>
              <a:rPr lang="zh-CN" altLang="en-US" sz="2000" b="1" dirty="0">
                <a:solidFill>
                  <a:srgbClr val="000000"/>
                </a:solidFill>
                <a:latin typeface="+mn-lt"/>
                <a:ea typeface="+mn-ea"/>
              </a:rPr>
              <a:t>，现在或许要多花 </a:t>
            </a:r>
            <a:r>
              <a:rPr lang="en-US" altLang="zh-CN" sz="2000" b="1" dirty="0">
                <a:solidFill>
                  <a:srgbClr val="000000"/>
                </a:solidFill>
                <a:latin typeface="+mn-lt"/>
                <a:ea typeface="+mn-ea"/>
              </a:rPr>
              <a:t>$40 </a:t>
            </a:r>
            <a:r>
              <a:rPr lang="zh-CN" altLang="en-US" sz="2000" b="1" dirty="0" smtClean="0">
                <a:solidFill>
                  <a:srgbClr val="000000"/>
                </a:solidFill>
                <a:latin typeface="+mn-lt"/>
                <a:ea typeface="+mn-ea"/>
              </a:rPr>
              <a:t>美元。</a:t>
            </a:r>
            <a:endParaRPr lang="en-US" altLang="zh-CN" sz="2000" b="1" dirty="0">
              <a:solidFill>
                <a:srgbClr val="000000"/>
              </a:solidFill>
              <a:latin typeface="+mn-lt"/>
              <a:ea typeface="+mn-ea"/>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1218" y="1533084"/>
            <a:ext cx="3583173" cy="3282818"/>
          </a:xfrm>
          <a:prstGeom prst="rect">
            <a:avLst/>
          </a:prstGeom>
        </p:spPr>
      </p:pic>
      <p:sp>
        <p:nvSpPr>
          <p:cNvPr id="6" name="矩形 5"/>
          <p:cNvSpPr/>
          <p:nvPr/>
        </p:nvSpPr>
        <p:spPr>
          <a:xfrm>
            <a:off x="363367" y="4994385"/>
            <a:ext cx="8302167" cy="1015663"/>
          </a:xfrm>
          <a:prstGeom prst="rect">
            <a:avLst/>
          </a:prstGeom>
        </p:spPr>
        <p:txBody>
          <a:bodyPr wrap="square">
            <a:spAutoFit/>
          </a:bodyPr>
          <a:lstStyle/>
          <a:p>
            <a:pPr marL="342900" indent="-342900">
              <a:buFont typeface="Arial" panose="020B0604020202020204" pitchFamily="34" charset="0"/>
              <a:buChar char="•"/>
            </a:pPr>
            <a:r>
              <a:rPr lang="zh-CN" altLang="en-US" sz="2000" b="1" dirty="0">
                <a:solidFill>
                  <a:srgbClr val="000000"/>
                </a:solidFill>
              </a:rPr>
              <a:t>据美国服装和鞋类协会估算，加征</a:t>
            </a:r>
            <a:r>
              <a:rPr lang="en-US" altLang="zh-CN" sz="2000" b="1" dirty="0">
                <a:solidFill>
                  <a:srgbClr val="000000"/>
                </a:solidFill>
              </a:rPr>
              <a:t>25</a:t>
            </a:r>
            <a:r>
              <a:rPr lang="zh-CN" altLang="en-US" sz="2000" b="1" dirty="0">
                <a:solidFill>
                  <a:srgbClr val="000000"/>
                </a:solidFill>
              </a:rPr>
              <a:t>％关税可能会让一个美国四口之家每年要额外支付</a:t>
            </a:r>
            <a:r>
              <a:rPr lang="en-US" altLang="zh-CN" sz="2000" b="1" dirty="0">
                <a:solidFill>
                  <a:srgbClr val="C00000"/>
                </a:solidFill>
              </a:rPr>
              <a:t>500</a:t>
            </a:r>
            <a:r>
              <a:rPr lang="zh-CN" altLang="en-US" sz="2000" b="1" dirty="0">
                <a:solidFill>
                  <a:srgbClr val="C00000"/>
                </a:solidFill>
              </a:rPr>
              <a:t>美元</a:t>
            </a:r>
            <a:r>
              <a:rPr lang="zh-CN" altLang="en-US" sz="2000" b="1" dirty="0">
                <a:solidFill>
                  <a:srgbClr val="000000"/>
                </a:solidFill>
              </a:rPr>
              <a:t>的鞋服费用，保守估计美国消费者每年可能要损失</a:t>
            </a:r>
            <a:r>
              <a:rPr lang="en-US" altLang="zh-CN" sz="2000" b="1" dirty="0">
                <a:solidFill>
                  <a:srgbClr val="C00000"/>
                </a:solidFill>
              </a:rPr>
              <a:t>70</a:t>
            </a:r>
            <a:r>
              <a:rPr lang="zh-CN" altLang="en-US" sz="2000" b="1" dirty="0">
                <a:solidFill>
                  <a:srgbClr val="C00000"/>
                </a:solidFill>
              </a:rPr>
              <a:t>多亿美元</a:t>
            </a:r>
            <a:r>
              <a:rPr lang="zh-CN" altLang="en-US" sz="2000" b="1" dirty="0">
                <a:solidFill>
                  <a:srgbClr val="000000"/>
                </a:solidFill>
              </a:rPr>
              <a:t>。</a:t>
            </a:r>
            <a:endParaRPr lang="en-US" altLang="zh-CN" sz="2000" b="1" dirty="0">
              <a:solidFill>
                <a:srgbClr val="000000"/>
              </a:solidFill>
            </a:endParaRPr>
          </a:p>
        </p:txBody>
      </p:sp>
    </p:spTree>
    <p:extLst>
      <p:ext uri="{BB962C8B-B14F-4D97-AF65-F5344CB8AC3E}">
        <p14:creationId xmlns:p14="http://schemas.microsoft.com/office/powerpoint/2010/main" val="772720355"/>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8"/>
          <p:cNvSpPr>
            <a:spLocks noRot="1"/>
          </p:cNvSpPr>
          <p:nvPr/>
        </p:nvSpPr>
        <p:spPr>
          <a:xfrm>
            <a:off x="2268538" y="188913"/>
            <a:ext cx="4175125" cy="998537"/>
          </a:xfrm>
          <a:prstGeom prst="rect">
            <a:avLst/>
          </a:prstGeom>
          <a:noFill/>
          <a:ln w="9525">
            <a:noFill/>
          </a:ln>
        </p:spPr>
        <p:txBody>
          <a:bodyPr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dist" eaLnBrk="1" hangingPunct="1">
              <a:spcBef>
                <a:spcPct val="50000"/>
              </a:spcBef>
              <a:buNone/>
            </a:pPr>
            <a:r>
              <a:rPr lang="zh-CN" altLang="en-US" sz="4800" dirty="0">
                <a:solidFill>
                  <a:srgbClr val="990000"/>
                </a:solidFill>
                <a:latin typeface="方正舒体" pitchFamily="2" charset="-122"/>
                <a:ea typeface="方正舒体" pitchFamily="2" charset="-122"/>
              </a:rPr>
              <a:t>点击时事</a:t>
            </a:r>
            <a:endParaRPr lang="en-US" altLang="zh-CN" sz="4800" dirty="0">
              <a:solidFill>
                <a:srgbClr val="990000"/>
              </a:solidFill>
              <a:latin typeface="方正舒体" pitchFamily="2" charset="-122"/>
              <a:ea typeface="方正舒体" pitchFamily="2" charset="-122"/>
            </a:endParaRPr>
          </a:p>
        </p:txBody>
      </p:sp>
      <p:sp>
        <p:nvSpPr>
          <p:cNvPr id="3" name="Rectangle 9"/>
          <p:cNvSpPr txBox="1">
            <a:spLocks noRot="1" noChangeArrowheads="1"/>
          </p:cNvSpPr>
          <p:nvPr/>
        </p:nvSpPr>
        <p:spPr>
          <a:xfrm>
            <a:off x="214313" y="1428750"/>
            <a:ext cx="8785225" cy="587375"/>
          </a:xfrm>
          <a:prstGeom prst="rect">
            <a:avLst/>
          </a:prstGeom>
          <a:noFill/>
        </p:spPr>
        <p:txBody>
          <a:bodyPr/>
          <a:lstStyle/>
          <a:p>
            <a:pPr marL="342900" marR="0" indent="-342900" defTabSz="914400">
              <a:spcBef>
                <a:spcPct val="20000"/>
              </a:spcBef>
              <a:buClrTx/>
              <a:buSzTx/>
              <a:buFont typeface="Wingdings" panose="05000000000000000000" pitchFamily="2" charset="2"/>
              <a:buChar char="l"/>
              <a:defRPr/>
            </a:pPr>
            <a:r>
              <a:rPr kumimoji="0" lang="zh-CN" altLang="en-US" sz="3200" b="1" kern="0" cap="none" spc="0" normalizeH="0" baseline="0" noProof="0">
                <a:solidFill>
                  <a:srgbClr val="000000"/>
                </a:solidFill>
                <a:latin typeface="+mn-lt"/>
                <a:ea typeface="+mn-ea"/>
                <a:cs typeface="+mn-cs"/>
              </a:rPr>
              <a:t>中国第一艘航空母舰“辽宁舰”在按计划完成建造和试验试航工作后，于</a:t>
            </a:r>
            <a:r>
              <a:rPr kumimoji="0" lang="en-US" altLang="zh-CN" sz="3200" b="1" kern="0" cap="none" spc="0" normalizeH="0" baseline="0" noProof="0">
                <a:solidFill>
                  <a:srgbClr val="000000"/>
                </a:solidFill>
                <a:latin typeface="+mn-lt"/>
                <a:ea typeface="+mn-ea"/>
                <a:cs typeface="+mn-cs"/>
              </a:rPr>
              <a:t>9</a:t>
            </a:r>
            <a:r>
              <a:rPr kumimoji="0" lang="zh-CN" altLang="en-US" sz="3200" b="1" kern="0" cap="none" spc="0" normalizeH="0" baseline="0" noProof="0">
                <a:solidFill>
                  <a:srgbClr val="000000"/>
                </a:solidFill>
                <a:latin typeface="+mn-lt"/>
                <a:ea typeface="+mn-ea"/>
                <a:cs typeface="+mn-cs"/>
              </a:rPr>
              <a:t>月</a:t>
            </a:r>
            <a:r>
              <a:rPr kumimoji="0" lang="en-US" altLang="zh-CN" sz="3200" b="1" kern="0" cap="none" spc="0" normalizeH="0" baseline="0" noProof="0">
                <a:solidFill>
                  <a:srgbClr val="000000"/>
                </a:solidFill>
                <a:latin typeface="+mn-lt"/>
                <a:ea typeface="+mn-ea"/>
                <a:cs typeface="+mn-cs"/>
              </a:rPr>
              <a:t>25</a:t>
            </a:r>
            <a:r>
              <a:rPr kumimoji="0" lang="zh-CN" altLang="en-US" sz="3200" b="1" kern="0" cap="none" spc="0" normalizeH="0" baseline="0" noProof="0">
                <a:solidFill>
                  <a:srgbClr val="000000"/>
                </a:solidFill>
                <a:latin typeface="+mn-lt"/>
                <a:ea typeface="+mn-ea"/>
                <a:cs typeface="+mn-cs"/>
              </a:rPr>
              <a:t>日正式交接入列</a:t>
            </a:r>
            <a:endParaRPr kumimoji="0" lang="en-US" altLang="zh-CN" sz="3200" b="1" kern="0" cap="none" spc="0" normalizeH="0" baseline="0" noProof="0">
              <a:solidFill>
                <a:srgbClr val="000000"/>
              </a:solidFill>
              <a:latin typeface="+mn-lt"/>
              <a:ea typeface="+mn-ea"/>
              <a:cs typeface="+mn-cs"/>
            </a:endParaRPr>
          </a:p>
          <a:p>
            <a:pPr marL="342900" marR="0" indent="-342900" defTabSz="914400">
              <a:spcBef>
                <a:spcPct val="20000"/>
              </a:spcBef>
              <a:buClrTx/>
              <a:buSzTx/>
              <a:buFont typeface="Wingdings" panose="05000000000000000000" pitchFamily="2" charset="2"/>
              <a:buChar char="l"/>
              <a:defRPr/>
            </a:pPr>
            <a:r>
              <a:rPr kumimoji="0" lang="zh-CN" altLang="en-US" sz="3200" b="1" kern="0" cap="none" spc="0" normalizeH="0" baseline="0" noProof="0">
                <a:solidFill>
                  <a:srgbClr val="000000"/>
                </a:solidFill>
                <a:latin typeface="+mn-lt"/>
                <a:ea typeface="+mn-ea"/>
                <a:cs typeface="+mn-cs"/>
              </a:rPr>
              <a:t>这是人民军队历史上的第一艘航空母舰</a:t>
            </a:r>
            <a:endParaRPr kumimoji="0" lang="en-US" altLang="zh-CN" sz="3200" b="1" kern="0" cap="none" spc="0" normalizeH="0" baseline="0" noProof="0">
              <a:solidFill>
                <a:srgbClr val="000000"/>
              </a:solidFill>
              <a:latin typeface="+mn-lt"/>
              <a:ea typeface="+mn-ea"/>
              <a:cs typeface="+mn-cs"/>
            </a:endParaRPr>
          </a:p>
          <a:p>
            <a:pPr marL="342900" marR="0" indent="-342900" defTabSz="914400">
              <a:spcBef>
                <a:spcPct val="20000"/>
              </a:spcBef>
              <a:buClrTx/>
              <a:buSzTx/>
              <a:buFont typeface="Wingdings" panose="05000000000000000000" pitchFamily="2" charset="2"/>
              <a:buChar char="l"/>
              <a:defRPr/>
            </a:pPr>
            <a:r>
              <a:rPr kumimoji="0" lang="zh-CN" altLang="en-US" sz="3200" b="1" kern="0" cap="none" spc="0" normalizeH="0" baseline="0" noProof="0">
                <a:solidFill>
                  <a:srgbClr val="000000"/>
                </a:solidFill>
                <a:latin typeface="+mn-lt"/>
                <a:ea typeface="+mn-ea"/>
                <a:cs typeface="+mn-cs"/>
              </a:rPr>
              <a:t>“辽宁舰”由海军接管，首先将做军方测试，测试完成后将进行武器安装及实验，包括舰载机实验，之后将和航母编队的各个舰艇进行战术训练</a:t>
            </a:r>
            <a:r>
              <a:rPr kumimoji="0" lang="en-US" altLang="zh-CN" sz="3200" b="1" kern="0" cap="none" spc="0" normalizeH="0" baseline="0" noProof="0">
                <a:solidFill>
                  <a:srgbClr val="000000"/>
                </a:solidFill>
                <a:latin typeface="+mn-lt"/>
                <a:ea typeface="+mn-ea"/>
                <a:cs typeface="+mn-cs"/>
              </a:rPr>
              <a:t>,</a:t>
            </a:r>
            <a:r>
              <a:rPr kumimoji="0" lang="zh-CN" altLang="en-US" sz="3200" b="1" kern="0" cap="none" spc="0" normalizeH="0" baseline="0" noProof="0">
                <a:solidFill>
                  <a:srgbClr val="000000"/>
                </a:solidFill>
                <a:latin typeface="+mn-lt"/>
                <a:ea typeface="+mn-ea"/>
                <a:cs typeface="+mn-cs"/>
              </a:rPr>
              <a:t>距离正式投入军事使用最快要</a:t>
            </a:r>
            <a:r>
              <a:rPr kumimoji="0" lang="en-US" altLang="zh-CN" sz="3200" b="1" kern="0" cap="none" spc="0" normalizeH="0" baseline="0" noProof="0">
                <a:solidFill>
                  <a:srgbClr val="000000"/>
                </a:solidFill>
                <a:latin typeface="+mn-lt"/>
                <a:ea typeface="+mn-ea"/>
                <a:cs typeface="+mn-cs"/>
              </a:rPr>
              <a:t>3</a:t>
            </a:r>
            <a:r>
              <a:rPr kumimoji="0" lang="zh-CN" altLang="en-US" sz="3200" b="1" kern="0" cap="none" spc="0" normalizeH="0" baseline="0" noProof="0">
                <a:solidFill>
                  <a:srgbClr val="000000"/>
                </a:solidFill>
                <a:latin typeface="+mn-lt"/>
                <a:ea typeface="+mn-ea"/>
                <a:cs typeface="+mn-cs"/>
              </a:rPr>
              <a:t>至</a:t>
            </a:r>
            <a:r>
              <a:rPr kumimoji="0" lang="en-US" altLang="zh-CN" sz="3200" b="1" kern="0" cap="none" spc="0" normalizeH="0" baseline="0" noProof="0">
                <a:solidFill>
                  <a:srgbClr val="000000"/>
                </a:solidFill>
                <a:latin typeface="+mn-lt"/>
                <a:ea typeface="+mn-ea"/>
                <a:cs typeface="+mn-cs"/>
              </a:rPr>
              <a:t>5</a:t>
            </a:r>
            <a:r>
              <a:rPr kumimoji="0" lang="zh-CN" altLang="en-US" sz="3200" b="1" kern="0" cap="none" spc="0" normalizeH="0" baseline="0" noProof="0">
                <a:solidFill>
                  <a:srgbClr val="000000"/>
                </a:solidFill>
                <a:latin typeface="+mn-lt"/>
                <a:ea typeface="+mn-ea"/>
                <a:cs typeface="+mn-cs"/>
              </a:rPr>
              <a:t>年</a:t>
            </a:r>
          </a:p>
        </p:txBody>
      </p:sp>
      <p:pic>
        <p:nvPicPr>
          <p:cNvPr id="4" name="图片 3" descr="506313c1c4cc11ccdc1b19.jpg"/>
          <p:cNvPicPr>
            <a:picLocks noChangeAspect="1"/>
          </p:cNvPicPr>
          <p:nvPr/>
        </p:nvPicPr>
        <p:blipFill>
          <a:blip r:embed="rId2"/>
          <a:stretch>
            <a:fillRect/>
          </a:stretch>
        </p:blipFill>
        <p:spPr>
          <a:xfrm>
            <a:off x="1952625" y="1881188"/>
            <a:ext cx="5238750" cy="3095625"/>
          </a:xfrm>
          <a:prstGeom prst="rect">
            <a:avLst/>
          </a:prstGeom>
          <a:noFill/>
          <a:ln w="9525">
            <a:noFill/>
          </a:ln>
        </p:spPr>
      </p:pic>
      <p:pic>
        <p:nvPicPr>
          <p:cNvPr id="5" name="图片 4" descr="134V1cZX0-25055.jpg"/>
          <p:cNvPicPr>
            <a:picLocks noChangeAspect="1"/>
          </p:cNvPicPr>
          <p:nvPr/>
        </p:nvPicPr>
        <p:blipFill>
          <a:blip r:embed="rId3"/>
          <a:stretch>
            <a:fillRect/>
          </a:stretch>
        </p:blipFill>
        <p:spPr>
          <a:xfrm>
            <a:off x="2643188" y="2214563"/>
            <a:ext cx="4778375" cy="318293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p:cNvSpPr txBox="1">
            <a:spLocks noRot="1" noChangeArrowheads="1"/>
          </p:cNvSpPr>
          <p:nvPr/>
        </p:nvSpPr>
        <p:spPr bwMode="auto">
          <a:xfrm>
            <a:off x="358775" y="1571625"/>
            <a:ext cx="8785225" cy="587375"/>
          </a:xfrm>
          <a:prstGeom prst="rect">
            <a:avLst/>
          </a:prstGeom>
          <a:noFill/>
          <a:ln w="9525">
            <a:noFill/>
            <a:miter lim="800000"/>
          </a:ln>
        </p:spPr>
        <p:txBody>
          <a:bodyPr/>
          <a:lstStyle/>
          <a:p>
            <a:pPr marL="342900" marR="0" indent="-342900" defTabSz="914400">
              <a:spcBef>
                <a:spcPct val="20000"/>
              </a:spcBef>
              <a:buClrTx/>
              <a:buSzTx/>
              <a:buFont typeface="Wingdings" panose="05000000000000000000" pitchFamily="2" charset="2"/>
              <a:buChar char="l"/>
              <a:defRPr/>
            </a:pPr>
            <a:r>
              <a:rPr kumimoji="1" lang="zh-CN" altLang="en-US" sz="3200" b="1" kern="0" cap="none" spc="0" normalizeH="0" baseline="0" noProof="0" dirty="0">
                <a:solidFill>
                  <a:srgbClr val="000000"/>
                </a:solidFill>
                <a:latin typeface="+mn-lt"/>
                <a:ea typeface="+mn-ea"/>
                <a:cs typeface="+mn-cs"/>
              </a:rPr>
              <a:t>航母花费高昂（以美国为例）</a:t>
            </a:r>
          </a:p>
        </p:txBody>
      </p:sp>
      <p:sp>
        <p:nvSpPr>
          <p:cNvPr id="9219" name="矩形 8"/>
          <p:cNvSpPr/>
          <p:nvPr/>
        </p:nvSpPr>
        <p:spPr>
          <a:xfrm>
            <a:off x="358775" y="2143125"/>
            <a:ext cx="8785225" cy="39401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Font typeface="Wingdings" panose="05000000000000000000" pitchFamily="2" charset="2"/>
              <a:buChar char="Ø"/>
            </a:pPr>
            <a:r>
              <a:rPr lang="zh-CN" altLang="en-US" sz="2000" b="0" dirty="0">
                <a:solidFill>
                  <a:schemeClr val="bg2"/>
                </a:solidFill>
                <a:latin typeface="方正姚体" pitchFamily="2" charset="-122"/>
                <a:ea typeface="方正姚体" pitchFamily="2" charset="-122"/>
              </a:rPr>
              <a:t>一艘航母就如同一座科技城，仅电缆总长就达</a:t>
            </a:r>
            <a:r>
              <a:rPr lang="en-US" altLang="zh-CN" sz="2000" b="0" dirty="0">
                <a:solidFill>
                  <a:srgbClr val="FF0000"/>
                </a:solidFill>
                <a:latin typeface="方正姚体" pitchFamily="2" charset="-122"/>
                <a:ea typeface="方正姚体" pitchFamily="2" charset="-122"/>
              </a:rPr>
              <a:t>1000</a:t>
            </a:r>
            <a:r>
              <a:rPr lang="zh-CN" altLang="en-US" sz="2000" b="0" dirty="0">
                <a:solidFill>
                  <a:srgbClr val="FF0000"/>
                </a:solidFill>
                <a:latin typeface="方正姚体" pitchFamily="2" charset="-122"/>
                <a:ea typeface="方正姚体" pitchFamily="2" charset="-122"/>
              </a:rPr>
              <a:t>多</a:t>
            </a:r>
            <a:r>
              <a:rPr lang="zh-CN" altLang="en-US" sz="2000" b="0" dirty="0">
                <a:solidFill>
                  <a:schemeClr val="bg2"/>
                </a:solidFill>
                <a:latin typeface="方正姚体" pitchFamily="2" charset="-122"/>
                <a:ea typeface="方正姚体" pitchFamily="2" charset="-122"/>
              </a:rPr>
              <a:t>公里、电话近</a:t>
            </a:r>
            <a:r>
              <a:rPr lang="en-US" altLang="zh-CN" sz="2000" b="0" dirty="0">
                <a:solidFill>
                  <a:srgbClr val="FF0000"/>
                </a:solidFill>
                <a:latin typeface="方正姚体" pitchFamily="2" charset="-122"/>
                <a:ea typeface="方正姚体" pitchFamily="2" charset="-122"/>
              </a:rPr>
              <a:t>2000</a:t>
            </a:r>
            <a:r>
              <a:rPr lang="zh-CN" altLang="en-US" sz="2000" b="0" dirty="0">
                <a:solidFill>
                  <a:srgbClr val="FF0000"/>
                </a:solidFill>
                <a:latin typeface="方正姚体" pitchFamily="2" charset="-122"/>
                <a:ea typeface="方正姚体" pitchFamily="2" charset="-122"/>
              </a:rPr>
              <a:t>多</a:t>
            </a:r>
            <a:r>
              <a:rPr lang="zh-CN" altLang="en-US" sz="2000" b="0" dirty="0">
                <a:solidFill>
                  <a:schemeClr val="bg2"/>
                </a:solidFill>
                <a:latin typeface="方正姚体" pitchFamily="2" charset="-122"/>
                <a:ea typeface="方正姚体" pitchFamily="2" charset="-122"/>
              </a:rPr>
              <a:t>部、雷达发射机</a:t>
            </a:r>
            <a:r>
              <a:rPr lang="en-US" altLang="zh-CN" sz="2000" b="0" dirty="0">
                <a:solidFill>
                  <a:srgbClr val="FF0000"/>
                </a:solidFill>
                <a:latin typeface="方正姚体" pitchFamily="2" charset="-122"/>
                <a:ea typeface="方正姚体" pitchFamily="2" charset="-122"/>
              </a:rPr>
              <a:t>80</a:t>
            </a:r>
            <a:r>
              <a:rPr lang="zh-CN" altLang="en-US" sz="2000" b="0" dirty="0">
                <a:solidFill>
                  <a:srgbClr val="FF0000"/>
                </a:solidFill>
                <a:latin typeface="方正姚体" pitchFamily="2" charset="-122"/>
                <a:ea typeface="方正姚体" pitchFamily="2" charset="-122"/>
              </a:rPr>
              <a:t>多部</a:t>
            </a:r>
            <a:r>
              <a:rPr lang="zh-CN" altLang="en-US" sz="2000" b="0" dirty="0">
                <a:solidFill>
                  <a:schemeClr val="bg2"/>
                </a:solidFill>
                <a:latin typeface="方正姚体" pitchFamily="2" charset="-122"/>
                <a:ea typeface="方正姚体" pitchFamily="2" charset="-122"/>
              </a:rPr>
              <a:t>、接收机</a:t>
            </a:r>
            <a:r>
              <a:rPr lang="en-US" altLang="zh-CN" sz="2000" b="0" dirty="0">
                <a:solidFill>
                  <a:srgbClr val="FF0000"/>
                </a:solidFill>
                <a:latin typeface="方正姚体" pitchFamily="2" charset="-122"/>
                <a:ea typeface="方正姚体" pitchFamily="2" charset="-122"/>
              </a:rPr>
              <a:t>150</a:t>
            </a:r>
            <a:r>
              <a:rPr lang="zh-CN" altLang="en-US" sz="2000" b="0" dirty="0">
                <a:solidFill>
                  <a:srgbClr val="FF0000"/>
                </a:solidFill>
                <a:latin typeface="方正姚体" pitchFamily="2" charset="-122"/>
                <a:ea typeface="方正姚体" pitchFamily="2" charset="-122"/>
              </a:rPr>
              <a:t>多</a:t>
            </a:r>
            <a:r>
              <a:rPr lang="zh-CN" altLang="en-US" sz="2000" b="0" dirty="0">
                <a:solidFill>
                  <a:schemeClr val="bg2"/>
                </a:solidFill>
                <a:latin typeface="方正姚体" pitchFamily="2" charset="-122"/>
                <a:ea typeface="方正姚体" pitchFamily="2" charset="-122"/>
              </a:rPr>
              <a:t>部、雷达天线</a:t>
            </a:r>
            <a:r>
              <a:rPr lang="en-US" altLang="zh-CN" sz="2000" b="0" dirty="0">
                <a:solidFill>
                  <a:srgbClr val="FF0000"/>
                </a:solidFill>
                <a:latin typeface="方正姚体" pitchFamily="2" charset="-122"/>
                <a:ea typeface="方正姚体" pitchFamily="2" charset="-122"/>
              </a:rPr>
              <a:t>70</a:t>
            </a:r>
            <a:r>
              <a:rPr lang="zh-CN" altLang="en-US" sz="2000" b="0" dirty="0">
                <a:solidFill>
                  <a:srgbClr val="FF0000"/>
                </a:solidFill>
                <a:latin typeface="方正姚体" pitchFamily="2" charset="-122"/>
                <a:ea typeface="方正姚体" pitchFamily="2" charset="-122"/>
              </a:rPr>
              <a:t>多个</a:t>
            </a:r>
            <a:r>
              <a:rPr lang="en-US" altLang="zh-CN" sz="2000" b="0" dirty="0">
                <a:solidFill>
                  <a:schemeClr val="bg2"/>
                </a:solidFill>
                <a:latin typeface="方正姚体" pitchFamily="2" charset="-122"/>
                <a:ea typeface="方正姚体" pitchFamily="2" charset="-122"/>
              </a:rPr>
              <a:t>……</a:t>
            </a:r>
            <a:r>
              <a:rPr lang="zh-CN" altLang="en-US" sz="2000" b="0" dirty="0">
                <a:solidFill>
                  <a:schemeClr val="bg2"/>
                </a:solidFill>
                <a:latin typeface="方正姚体" pitchFamily="2" charset="-122"/>
                <a:ea typeface="方正姚体" pitchFamily="2" charset="-122"/>
              </a:rPr>
              <a:t>耗费钢材</a:t>
            </a:r>
            <a:r>
              <a:rPr lang="en-US" altLang="zh-CN" sz="2000" b="0" dirty="0">
                <a:solidFill>
                  <a:schemeClr val="bg2"/>
                </a:solidFill>
                <a:latin typeface="方正姚体" pitchFamily="2" charset="-122"/>
                <a:ea typeface="方正姚体" pitchFamily="2" charset="-122"/>
              </a:rPr>
              <a:t>7</a:t>
            </a:r>
            <a:r>
              <a:rPr lang="zh-CN" altLang="en-US" sz="2000" b="0" dirty="0">
                <a:solidFill>
                  <a:schemeClr val="bg2"/>
                </a:solidFill>
                <a:latin typeface="方正姚体" pitchFamily="2" charset="-122"/>
                <a:ea typeface="方正姚体" pitchFamily="2" charset="-122"/>
              </a:rPr>
              <a:t>万多吨</a:t>
            </a:r>
            <a:endParaRPr lang="en-US" altLang="zh-CN" sz="2000" b="0" dirty="0">
              <a:solidFill>
                <a:schemeClr val="bg2"/>
              </a:solidFill>
              <a:latin typeface="方正姚体" pitchFamily="2" charset="-122"/>
              <a:ea typeface="方正姚体" pitchFamily="2" charset="-122"/>
            </a:endParaRPr>
          </a:p>
          <a:p>
            <a:pPr marL="0" lvl="0" indent="0" eaLnBrk="1" hangingPunct="1">
              <a:spcBef>
                <a:spcPct val="50000"/>
              </a:spcBef>
              <a:buFont typeface="Wingdings" panose="05000000000000000000" pitchFamily="2" charset="2"/>
              <a:buChar char="Ø"/>
            </a:pPr>
            <a:r>
              <a:rPr lang="zh-CN" altLang="en-US" sz="2000" b="0" dirty="0">
                <a:solidFill>
                  <a:schemeClr val="bg2"/>
                </a:solidFill>
                <a:latin typeface="方正姚体" pitchFamily="2" charset="-122"/>
                <a:ea typeface="方正姚体" pitchFamily="2" charset="-122"/>
              </a:rPr>
              <a:t>航母是一个庞大的武器库。主要的进攻武器是各型</a:t>
            </a:r>
            <a:r>
              <a:rPr lang="zh-CN" altLang="en-US" sz="2000" b="0" dirty="0">
                <a:solidFill>
                  <a:srgbClr val="FF0000"/>
                </a:solidFill>
                <a:latin typeface="方正姚体" pitchFamily="2" charset="-122"/>
                <a:ea typeface="方正姚体" pitchFamily="2" charset="-122"/>
              </a:rPr>
              <a:t>舰载作战飞机</a:t>
            </a:r>
            <a:r>
              <a:rPr lang="zh-CN" altLang="en-US" sz="2000" b="0" dirty="0">
                <a:solidFill>
                  <a:schemeClr val="bg2"/>
                </a:solidFill>
                <a:latin typeface="方正姚体" pitchFamily="2" charset="-122"/>
                <a:ea typeface="方正姚体" pitchFamily="2" charset="-122"/>
              </a:rPr>
              <a:t>，有以打击空中目标为主要任务的</a:t>
            </a:r>
            <a:r>
              <a:rPr lang="zh-CN" altLang="en-US" sz="2000" b="0" dirty="0">
                <a:solidFill>
                  <a:srgbClr val="FF0000"/>
                </a:solidFill>
                <a:latin typeface="方正姚体" pitchFamily="2" charset="-122"/>
                <a:ea typeface="方正姚体" pitchFamily="2" charset="-122"/>
              </a:rPr>
              <a:t>舰载歼击机</a:t>
            </a:r>
            <a:r>
              <a:rPr lang="zh-CN" altLang="en-US" sz="2000" b="0" dirty="0">
                <a:solidFill>
                  <a:schemeClr val="bg2"/>
                </a:solidFill>
                <a:latin typeface="方正姚体" pitchFamily="2" charset="-122"/>
                <a:ea typeface="方正姚体" pitchFamily="2" charset="-122"/>
              </a:rPr>
              <a:t>；以打击水面舰艇和地面目标为主要任务的</a:t>
            </a:r>
            <a:r>
              <a:rPr lang="zh-CN" altLang="en-US" sz="2000" b="0" dirty="0">
                <a:solidFill>
                  <a:srgbClr val="FF0000"/>
                </a:solidFill>
                <a:latin typeface="方正姚体" pitchFamily="2" charset="-122"/>
                <a:ea typeface="方正姚体" pitchFamily="2" charset="-122"/>
              </a:rPr>
              <a:t>舰载攻击机</a:t>
            </a:r>
            <a:r>
              <a:rPr lang="zh-CN" altLang="en-US" sz="2000" b="0" dirty="0">
                <a:solidFill>
                  <a:schemeClr val="bg2"/>
                </a:solidFill>
                <a:latin typeface="方正姚体" pitchFamily="2" charset="-122"/>
                <a:ea typeface="方正姚体" pitchFamily="2" charset="-122"/>
              </a:rPr>
              <a:t>；以攻击敌方潜艇为主要任务的</a:t>
            </a:r>
            <a:r>
              <a:rPr lang="zh-CN" altLang="en-US" sz="2000" b="0" dirty="0">
                <a:solidFill>
                  <a:srgbClr val="FF0000"/>
                </a:solidFill>
                <a:latin typeface="方正姚体" pitchFamily="2" charset="-122"/>
                <a:ea typeface="方正姚体" pitchFamily="2" charset="-122"/>
              </a:rPr>
              <a:t>舰载反潜机</a:t>
            </a:r>
            <a:r>
              <a:rPr lang="zh-CN" altLang="en-US" sz="2000" b="0" dirty="0">
                <a:solidFill>
                  <a:schemeClr val="bg2"/>
                </a:solidFill>
                <a:latin typeface="方正姚体" pitchFamily="2" charset="-122"/>
                <a:ea typeface="方正姚体" pitchFamily="2" charset="-122"/>
              </a:rPr>
              <a:t>；还有多种勤务</a:t>
            </a:r>
            <a:r>
              <a:rPr lang="zh-CN" altLang="en-US" sz="2000" b="0" dirty="0">
                <a:solidFill>
                  <a:srgbClr val="FF0000"/>
                </a:solidFill>
                <a:latin typeface="方正姚体" pitchFamily="2" charset="-122"/>
                <a:ea typeface="方正姚体" pitchFamily="2" charset="-122"/>
              </a:rPr>
              <a:t>保障飞机</a:t>
            </a:r>
            <a:r>
              <a:rPr lang="zh-CN" altLang="en-US" sz="2000" b="0" dirty="0">
                <a:solidFill>
                  <a:schemeClr val="bg2"/>
                </a:solidFill>
                <a:latin typeface="方正姚体" pitchFamily="2" charset="-122"/>
                <a:ea typeface="方正姚体" pitchFamily="2" charset="-122"/>
              </a:rPr>
              <a:t>，如预警机、侦察机、加油机、救援机等，少则</a:t>
            </a:r>
            <a:r>
              <a:rPr lang="en-US" altLang="zh-CN" sz="2000" b="0" dirty="0">
                <a:solidFill>
                  <a:schemeClr val="bg2"/>
                </a:solidFill>
                <a:latin typeface="方正姚体" pitchFamily="2" charset="-122"/>
                <a:ea typeface="方正姚体" pitchFamily="2" charset="-122"/>
              </a:rPr>
              <a:t>40</a:t>
            </a:r>
            <a:r>
              <a:rPr lang="zh-CN" altLang="en-US" sz="2000" b="0" dirty="0">
                <a:solidFill>
                  <a:schemeClr val="bg2"/>
                </a:solidFill>
                <a:latin typeface="方正姚体" pitchFamily="2" charset="-122"/>
                <a:ea typeface="方正姚体" pitchFamily="2" charset="-122"/>
              </a:rPr>
              <a:t>多架，多的近</a:t>
            </a:r>
            <a:r>
              <a:rPr lang="en-US" altLang="zh-CN" sz="2000" b="0" dirty="0">
                <a:solidFill>
                  <a:schemeClr val="bg2"/>
                </a:solidFill>
                <a:latin typeface="方正姚体" pitchFamily="2" charset="-122"/>
                <a:ea typeface="方正姚体" pitchFamily="2" charset="-122"/>
              </a:rPr>
              <a:t>100</a:t>
            </a:r>
            <a:r>
              <a:rPr lang="zh-CN" altLang="en-US" sz="2000" b="0" dirty="0">
                <a:solidFill>
                  <a:schemeClr val="bg2"/>
                </a:solidFill>
                <a:latin typeface="方正姚体" pitchFamily="2" charset="-122"/>
                <a:ea typeface="方正姚体" pitchFamily="2" charset="-122"/>
              </a:rPr>
              <a:t>架。</a:t>
            </a:r>
            <a:endParaRPr lang="en-US" altLang="zh-CN" sz="2000" b="0" dirty="0">
              <a:solidFill>
                <a:schemeClr val="bg2"/>
              </a:solidFill>
              <a:latin typeface="方正姚体" pitchFamily="2" charset="-122"/>
              <a:ea typeface="方正姚体" pitchFamily="2" charset="-122"/>
            </a:endParaRPr>
          </a:p>
          <a:p>
            <a:pPr marL="0" lvl="0" indent="0" eaLnBrk="1" hangingPunct="1">
              <a:spcBef>
                <a:spcPct val="50000"/>
              </a:spcBef>
              <a:buFont typeface="Wingdings" panose="05000000000000000000" pitchFamily="2" charset="2"/>
              <a:buChar char="Ø"/>
            </a:pPr>
            <a:r>
              <a:rPr lang="zh-CN" altLang="en-US" sz="2000" b="0" dirty="0">
                <a:solidFill>
                  <a:schemeClr val="bg2"/>
                </a:solidFill>
                <a:latin typeface="方正姚体" pitchFamily="2" charset="-122"/>
                <a:ea typeface="方正姚体" pitchFamily="2" charset="-122"/>
              </a:rPr>
              <a:t>以美国现役“尼米兹”级最后两艘航母为例，该级第</a:t>
            </a:r>
            <a:r>
              <a:rPr lang="en-US" altLang="zh-CN" sz="2000" b="0" dirty="0">
                <a:solidFill>
                  <a:schemeClr val="bg2"/>
                </a:solidFill>
                <a:latin typeface="方正姚体" pitchFamily="2" charset="-122"/>
                <a:ea typeface="方正姚体" pitchFamily="2" charset="-122"/>
              </a:rPr>
              <a:t>9</a:t>
            </a:r>
            <a:r>
              <a:rPr lang="zh-CN" altLang="en-US" sz="2000" b="0" dirty="0">
                <a:solidFill>
                  <a:schemeClr val="bg2"/>
                </a:solidFill>
                <a:latin typeface="方正姚体" pitchFamily="2" charset="-122"/>
                <a:ea typeface="方正姚体" pitchFamily="2" charset="-122"/>
              </a:rPr>
              <a:t>艘“里根”号核动力航母的建造费用约为</a:t>
            </a:r>
            <a:r>
              <a:rPr lang="en-US" altLang="zh-CN" sz="2000" b="0" dirty="0">
                <a:solidFill>
                  <a:srgbClr val="FF0000"/>
                </a:solidFill>
                <a:latin typeface="方正姚体" pitchFamily="2" charset="-122"/>
                <a:ea typeface="方正姚体" pitchFamily="2" charset="-122"/>
              </a:rPr>
              <a:t>45</a:t>
            </a:r>
            <a:r>
              <a:rPr lang="zh-CN" altLang="en-US" sz="2000" b="0" dirty="0">
                <a:solidFill>
                  <a:srgbClr val="FF0000"/>
                </a:solidFill>
                <a:latin typeface="方正姚体" pitchFamily="2" charset="-122"/>
                <a:ea typeface="方正姚体" pitchFamily="2" charset="-122"/>
              </a:rPr>
              <a:t>亿</a:t>
            </a:r>
            <a:r>
              <a:rPr lang="zh-CN" altLang="en-US" sz="2000" b="0" dirty="0">
                <a:solidFill>
                  <a:schemeClr val="bg2"/>
                </a:solidFill>
                <a:latin typeface="方正姚体" pitchFamily="2" charset="-122"/>
                <a:ea typeface="方正姚体" pitchFamily="2" charset="-122"/>
              </a:rPr>
              <a:t>美元，而第</a:t>
            </a:r>
            <a:r>
              <a:rPr lang="en-US" altLang="zh-CN" sz="2000" b="0" dirty="0">
                <a:solidFill>
                  <a:schemeClr val="bg2"/>
                </a:solidFill>
                <a:latin typeface="方正姚体" pitchFamily="2" charset="-122"/>
                <a:ea typeface="方正姚体" pitchFamily="2" charset="-122"/>
              </a:rPr>
              <a:t>10</a:t>
            </a:r>
            <a:r>
              <a:rPr lang="zh-CN" altLang="en-US" sz="2000" b="0" dirty="0">
                <a:solidFill>
                  <a:schemeClr val="bg2"/>
                </a:solidFill>
                <a:latin typeface="方正姚体" pitchFamily="2" charset="-122"/>
                <a:ea typeface="方正姚体" pitchFamily="2" charset="-122"/>
              </a:rPr>
              <a:t>艘“布什”号则涨至</a:t>
            </a:r>
            <a:r>
              <a:rPr lang="en-US" altLang="zh-CN" sz="2000" b="0" dirty="0">
                <a:solidFill>
                  <a:srgbClr val="FF0000"/>
                </a:solidFill>
                <a:latin typeface="方正姚体" pitchFamily="2" charset="-122"/>
                <a:ea typeface="方正姚体" pitchFamily="2" charset="-122"/>
              </a:rPr>
              <a:t>62</a:t>
            </a:r>
            <a:r>
              <a:rPr lang="zh-CN" altLang="en-US" sz="2000" b="0" dirty="0">
                <a:solidFill>
                  <a:srgbClr val="FF0000"/>
                </a:solidFill>
                <a:latin typeface="方正姚体" pitchFamily="2" charset="-122"/>
                <a:ea typeface="方正姚体" pitchFamily="2" charset="-122"/>
              </a:rPr>
              <a:t>亿</a:t>
            </a:r>
            <a:r>
              <a:rPr lang="zh-CN" altLang="en-US" sz="2000" b="0" dirty="0">
                <a:solidFill>
                  <a:schemeClr val="bg2"/>
                </a:solidFill>
                <a:latin typeface="方正姚体" pitchFamily="2" charset="-122"/>
                <a:ea typeface="方正姚体" pitchFamily="2" charset="-122"/>
              </a:rPr>
              <a:t>美元。新一代“福特”级航母的建造预算已超过</a:t>
            </a:r>
            <a:r>
              <a:rPr lang="en-US" altLang="zh-CN" sz="2000" b="0" dirty="0">
                <a:solidFill>
                  <a:srgbClr val="FF0000"/>
                </a:solidFill>
                <a:latin typeface="方正姚体" pitchFamily="2" charset="-122"/>
                <a:ea typeface="方正姚体" pitchFamily="2" charset="-122"/>
              </a:rPr>
              <a:t>105</a:t>
            </a:r>
            <a:r>
              <a:rPr lang="zh-CN" altLang="en-US" sz="2000" b="0" dirty="0">
                <a:solidFill>
                  <a:srgbClr val="FF0000"/>
                </a:solidFill>
                <a:latin typeface="方正姚体" pitchFamily="2" charset="-122"/>
                <a:ea typeface="方正姚体" pitchFamily="2" charset="-122"/>
              </a:rPr>
              <a:t>亿</a:t>
            </a:r>
            <a:r>
              <a:rPr lang="zh-CN" altLang="en-US" sz="2000" b="0" dirty="0">
                <a:solidFill>
                  <a:schemeClr val="bg2"/>
                </a:solidFill>
                <a:latin typeface="方正姚体" pitchFamily="2" charset="-122"/>
                <a:ea typeface="方正姚体" pitchFamily="2" charset="-122"/>
              </a:rPr>
              <a:t>美元</a:t>
            </a:r>
            <a:endParaRPr lang="en-US" altLang="zh-CN" sz="2000" b="0" dirty="0">
              <a:solidFill>
                <a:schemeClr val="bg2"/>
              </a:solidFill>
              <a:latin typeface="方正姚体" pitchFamily="2" charset="-122"/>
              <a:ea typeface="方正姚体" pitchFamily="2" charset="-122"/>
            </a:endParaRPr>
          </a:p>
          <a:p>
            <a:pPr marL="0" lvl="0" indent="0" eaLnBrk="1" hangingPunct="1">
              <a:spcBef>
                <a:spcPct val="50000"/>
              </a:spcBef>
              <a:buFont typeface="Wingdings" panose="05000000000000000000" pitchFamily="2" charset="2"/>
              <a:buChar char="Ø"/>
            </a:pPr>
            <a:r>
              <a:rPr lang="zh-CN" altLang="en-US" sz="2000" b="0" dirty="0">
                <a:solidFill>
                  <a:schemeClr val="bg2"/>
                </a:solidFill>
                <a:latin typeface="方正姚体" pitchFamily="2" charset="-122"/>
                <a:ea typeface="方正姚体" pitchFamily="2" charset="-122"/>
              </a:rPr>
              <a:t>按照全寿命期</a:t>
            </a:r>
            <a:r>
              <a:rPr lang="en-US" altLang="zh-CN" sz="2000" b="0" dirty="0">
                <a:solidFill>
                  <a:schemeClr val="bg2"/>
                </a:solidFill>
                <a:latin typeface="方正姚体" pitchFamily="2" charset="-122"/>
                <a:ea typeface="方正姚体" pitchFamily="2" charset="-122"/>
              </a:rPr>
              <a:t>5-8</a:t>
            </a:r>
            <a:r>
              <a:rPr lang="zh-CN" altLang="en-US" sz="2000" b="0" dirty="0">
                <a:solidFill>
                  <a:schemeClr val="bg2"/>
                </a:solidFill>
                <a:latin typeface="方正姚体" pitchFamily="2" charset="-122"/>
                <a:ea typeface="方正姚体" pitchFamily="2" charset="-122"/>
              </a:rPr>
              <a:t>倍来计算，整个航母“一生”的全部费用将超过</a:t>
            </a:r>
            <a:r>
              <a:rPr lang="en-US" altLang="zh-CN" sz="2000" b="0" dirty="0">
                <a:solidFill>
                  <a:srgbClr val="FF0000"/>
                </a:solidFill>
                <a:latin typeface="方正姚体" pitchFamily="2" charset="-122"/>
                <a:ea typeface="方正姚体" pitchFamily="2" charset="-122"/>
              </a:rPr>
              <a:t>1000</a:t>
            </a:r>
            <a:r>
              <a:rPr lang="zh-CN" altLang="en-US" sz="2000" b="0" dirty="0">
                <a:solidFill>
                  <a:srgbClr val="FF0000"/>
                </a:solidFill>
                <a:latin typeface="方正姚体" pitchFamily="2" charset="-122"/>
                <a:ea typeface="方正姚体" pitchFamily="2" charset="-122"/>
              </a:rPr>
              <a:t>亿美元</a:t>
            </a:r>
            <a:r>
              <a:rPr lang="zh-CN" altLang="en-US" sz="2000" b="0" dirty="0">
                <a:solidFill>
                  <a:schemeClr val="bg2"/>
                </a:solidFill>
                <a:latin typeface="方正姚体" pitchFamily="2" charset="-122"/>
                <a:ea typeface="方正姚体" pitchFamily="2" charset="-122"/>
              </a:rPr>
              <a:t>。中小国家是无法承担如此高额的开支的。</a:t>
            </a:r>
          </a:p>
        </p:txBody>
      </p:sp>
      <p:pic>
        <p:nvPicPr>
          <p:cNvPr id="5" name="图片 4" descr="53458624.jpg"/>
          <p:cNvPicPr>
            <a:picLocks noChangeAspect="1"/>
          </p:cNvPicPr>
          <p:nvPr/>
        </p:nvPicPr>
        <p:blipFill>
          <a:blip r:embed="rId2"/>
          <a:stretch>
            <a:fillRect/>
          </a:stretch>
        </p:blipFill>
        <p:spPr>
          <a:xfrm>
            <a:off x="2976563" y="1927225"/>
            <a:ext cx="5487987" cy="3917950"/>
          </a:xfrm>
          <a:prstGeom prst="rect">
            <a:avLst/>
          </a:prstGeom>
          <a:noFill/>
          <a:ln w="9525">
            <a:noFill/>
          </a:ln>
        </p:spPr>
      </p:pic>
      <p:pic>
        <p:nvPicPr>
          <p:cNvPr id="6" name="图片 5" descr="201051165856tupianzhongguo.jpg"/>
          <p:cNvPicPr>
            <a:picLocks noChangeAspect="1"/>
          </p:cNvPicPr>
          <p:nvPr/>
        </p:nvPicPr>
        <p:blipFill>
          <a:blip r:embed="rId3"/>
          <a:stretch>
            <a:fillRect/>
          </a:stretch>
        </p:blipFill>
        <p:spPr>
          <a:xfrm>
            <a:off x="2095500" y="1571625"/>
            <a:ext cx="5549900" cy="4054475"/>
          </a:xfrm>
          <a:prstGeom prst="rect">
            <a:avLst/>
          </a:prstGeom>
          <a:noFill/>
          <a:ln w="9525">
            <a:noFill/>
          </a:ln>
        </p:spPr>
      </p:pic>
      <p:pic>
        <p:nvPicPr>
          <p:cNvPr id="7" name="图片 6" descr="094AML4-1.jpg"/>
          <p:cNvPicPr>
            <a:picLocks noChangeAspect="1"/>
          </p:cNvPicPr>
          <p:nvPr/>
        </p:nvPicPr>
        <p:blipFill>
          <a:blip r:embed="rId4"/>
          <a:stretch>
            <a:fillRect/>
          </a:stretch>
        </p:blipFill>
        <p:spPr>
          <a:xfrm>
            <a:off x="3325813" y="2143125"/>
            <a:ext cx="5334000" cy="40005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Rot="1" noChangeArrowheads="1"/>
          </p:cNvSpPr>
          <p:nvPr/>
        </p:nvSpPr>
        <p:spPr bwMode="auto">
          <a:xfrm>
            <a:off x="2268538" y="188913"/>
            <a:ext cx="4175125" cy="998538"/>
          </a:xfrm>
          <a:prstGeom prst="rect">
            <a:avLst/>
          </a:prstGeom>
          <a:noFill/>
          <a:ln w="9525">
            <a:noFill/>
            <a:miter lim="800000"/>
          </a:ln>
        </p:spPr>
        <p:txBody>
          <a:bodyPr anchor="ctr"/>
          <a:lstStyle/>
          <a:p>
            <a:pPr marL="0" marR="0" lvl="0" indent="0" algn="dist" defTabSz="914400" rtl="0" eaLnBrk="1" fontAlgn="base" latinLnBrk="0" hangingPunct="1">
              <a:lnSpc>
                <a:spcPct val="100000"/>
              </a:lnSpc>
              <a:spcBef>
                <a:spcPct val="50000"/>
              </a:spcBef>
              <a:spcAft>
                <a:spcPct val="0"/>
              </a:spcAft>
              <a:buClrTx/>
              <a:buSzTx/>
              <a:buFontTx/>
              <a:buNone/>
              <a:defRPr/>
            </a:pPr>
            <a:r>
              <a:rPr kumimoji="0" lang="zh-CN" altLang="en-US" sz="4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“天宫一号”</a:t>
            </a:r>
            <a:endParaRPr kumimoji="1" lang="en-US" altLang="zh-CN" sz="4800" b="1" i="0" u="none" strike="noStrike" kern="1200" cap="none" spc="0" normalizeH="0" baseline="0" noProof="0" dirty="0">
              <a:ln>
                <a:noFill/>
              </a:ln>
              <a:solidFill>
                <a:srgbClr val="990000"/>
              </a:solidFill>
              <a:effectLst/>
              <a:uLnTx/>
              <a:uFillTx/>
              <a:latin typeface="方正舒体" pitchFamily="2" charset="-122"/>
              <a:ea typeface="方正舒体" pitchFamily="2" charset="-122"/>
              <a:cs typeface="+mn-cs"/>
            </a:endParaRPr>
          </a:p>
        </p:txBody>
      </p:sp>
      <p:sp>
        <p:nvSpPr>
          <p:cNvPr id="5" name="矩形 4"/>
          <p:cNvSpPr/>
          <p:nvPr/>
        </p:nvSpPr>
        <p:spPr>
          <a:xfrm>
            <a:off x="146050" y="1539875"/>
            <a:ext cx="8712200" cy="1206500"/>
          </a:xfrm>
          <a:prstGeom prst="rect">
            <a:avLst/>
          </a:prstGeom>
        </p:spPr>
        <p:txBody>
          <a:bodyPr>
            <a:spAutoFit/>
          </a:bodyPr>
          <a:lstStyle/>
          <a:p>
            <a:pPr marL="182880" marR="0" lvl="0" indent="354330" algn="l" defTabSz="914400" rtl="0" eaLnBrk="1" fontAlgn="auto" latinLnBrk="0" hangingPunct="1">
              <a:lnSpc>
                <a:spcPts val="2500"/>
              </a:lnSpc>
              <a:spcBef>
                <a:spcPts val="600"/>
              </a:spcBef>
              <a:spcAft>
                <a:spcPts val="0"/>
              </a:spcAft>
              <a:buClrTx/>
              <a:buSzTx/>
              <a:buFont typeface="Arial" panose="020B0604020202020204" pitchFamily="34" charset="0"/>
              <a:buChar char="•"/>
              <a:defRPr/>
            </a:pPr>
            <a:r>
              <a:rPr kumimoji="1" lang="zh-CN" altLang="en-US"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神八、神九、神十飞船将分别与天宫一号空间交会对接</a:t>
            </a:r>
            <a:endParaRPr kumimoji="1" lang="en-US" altLang="zh-CN"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endParaRPr>
          </a:p>
          <a:p>
            <a:pPr marL="182880" marR="0" lvl="0" indent="354330" algn="l" defTabSz="914400" rtl="0" eaLnBrk="1" fontAlgn="auto" latinLnBrk="0" hangingPunct="1">
              <a:lnSpc>
                <a:spcPts val="2500"/>
              </a:lnSpc>
              <a:spcBef>
                <a:spcPts val="600"/>
              </a:spcBef>
              <a:spcAft>
                <a:spcPts val="0"/>
              </a:spcAft>
              <a:buClrTx/>
              <a:buSzTx/>
              <a:buFont typeface="Arial" panose="020B0604020202020204" pitchFamily="34" charset="0"/>
              <a:buChar char="•"/>
              <a:defRPr/>
            </a:pPr>
            <a:r>
              <a:rPr kumimoji="1" lang="zh-CN" altLang="en-US"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我国将继美、俄后第三个独立掌握航天交会对接技术</a:t>
            </a:r>
            <a:endParaRPr kumimoji="1" lang="en-US" altLang="zh-CN"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endParaRPr>
          </a:p>
          <a:p>
            <a:pPr marL="182880" marR="0" lvl="0" indent="354330" algn="l" defTabSz="914400" rtl="0" eaLnBrk="1" fontAlgn="auto" latinLnBrk="0" hangingPunct="1">
              <a:lnSpc>
                <a:spcPts val="2500"/>
              </a:lnSpc>
              <a:spcBef>
                <a:spcPts val="600"/>
              </a:spcBef>
              <a:spcAft>
                <a:spcPts val="0"/>
              </a:spcAft>
              <a:buClrTx/>
              <a:buSzTx/>
              <a:buFont typeface="Arial" panose="020B0604020202020204" pitchFamily="34" charset="0"/>
              <a:buChar char="•"/>
              <a:defRPr/>
            </a:pPr>
            <a:r>
              <a:rPr kumimoji="1" lang="en-US" altLang="zh-CN"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2020</a:t>
            </a:r>
            <a:r>
              <a:rPr kumimoji="1" lang="zh-CN" altLang="en-US"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年前后建成真正的载人空间站</a:t>
            </a:r>
          </a:p>
        </p:txBody>
      </p:sp>
      <p:pic>
        <p:nvPicPr>
          <p:cNvPr id="7" name="Picture 3" descr="D:\学习\工程经济学助教\2011秋工程经济学\点击时事\天宫一号模型.jpg"/>
          <p:cNvPicPr>
            <a:picLocks noChangeAspect="1"/>
          </p:cNvPicPr>
          <p:nvPr/>
        </p:nvPicPr>
        <p:blipFill>
          <a:blip r:embed="rId2"/>
          <a:stretch>
            <a:fillRect/>
          </a:stretch>
        </p:blipFill>
        <p:spPr>
          <a:xfrm>
            <a:off x="146050" y="3098798"/>
            <a:ext cx="4552771" cy="3017837"/>
          </a:xfrm>
          <a:prstGeom prst="rect">
            <a:avLst/>
          </a:prstGeom>
          <a:noFill/>
          <a:ln w="9525">
            <a:noFill/>
          </a:ln>
        </p:spPr>
      </p:pic>
      <p:pic>
        <p:nvPicPr>
          <p:cNvPr id="8" name="Picture 4" descr="D:\学习\工程经济学助教\2011秋工程经济学\点击时事\天宫一号空间实验室实体（部分）.jpg"/>
          <p:cNvPicPr>
            <a:picLocks noChangeAspect="1"/>
          </p:cNvPicPr>
          <p:nvPr/>
        </p:nvPicPr>
        <p:blipFill>
          <a:blip r:embed="rId3"/>
          <a:srcRect t="10304" r="7748"/>
          <a:stretch>
            <a:fillRect/>
          </a:stretch>
        </p:blipFill>
        <p:spPr>
          <a:xfrm>
            <a:off x="4785859" y="3098799"/>
            <a:ext cx="4194175" cy="301783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Rot="1" noChangeArrowheads="1"/>
          </p:cNvSpPr>
          <p:nvPr/>
        </p:nvSpPr>
        <p:spPr bwMode="auto">
          <a:xfrm>
            <a:off x="2268538" y="188913"/>
            <a:ext cx="4175125" cy="998538"/>
          </a:xfrm>
          <a:prstGeom prst="rect">
            <a:avLst/>
          </a:prstGeom>
          <a:noFill/>
          <a:ln w="9525">
            <a:noFill/>
            <a:miter lim="800000"/>
          </a:ln>
        </p:spPr>
        <p:txBody>
          <a:bodyPr anchor="ctr"/>
          <a:lstStyle/>
          <a:p>
            <a:pPr marL="0" marR="0" lvl="0" indent="0" algn="dist" defTabSz="914400" rtl="0" eaLnBrk="1" fontAlgn="base" latinLnBrk="0" hangingPunct="1">
              <a:lnSpc>
                <a:spcPct val="100000"/>
              </a:lnSpc>
              <a:spcBef>
                <a:spcPct val="50000"/>
              </a:spcBef>
              <a:spcAft>
                <a:spcPct val="0"/>
              </a:spcAft>
              <a:buClrTx/>
              <a:buSzTx/>
              <a:buFontTx/>
              <a:buNone/>
              <a:defRPr/>
            </a:pPr>
            <a:r>
              <a:rPr kumimoji="0" lang="zh-CN" altLang="en-US" sz="4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“天宫一号”</a:t>
            </a:r>
            <a:endParaRPr kumimoji="1" lang="en-US" altLang="zh-CN" sz="4800" b="1" i="0" u="none" strike="noStrike" kern="1200" cap="none" spc="0" normalizeH="0" baseline="0" noProof="0" dirty="0">
              <a:ln>
                <a:noFill/>
              </a:ln>
              <a:solidFill>
                <a:srgbClr val="990000"/>
              </a:solidFill>
              <a:effectLst/>
              <a:uLnTx/>
              <a:uFillTx/>
              <a:latin typeface="方正舒体" pitchFamily="2" charset="-122"/>
              <a:ea typeface="方正舒体" pitchFamily="2" charset="-122"/>
              <a:cs typeface="+mn-cs"/>
            </a:endParaRPr>
          </a:p>
        </p:txBody>
      </p:sp>
      <p:sp>
        <p:nvSpPr>
          <p:cNvPr id="6" name="矩形 5"/>
          <p:cNvSpPr/>
          <p:nvPr/>
        </p:nvSpPr>
        <p:spPr>
          <a:xfrm>
            <a:off x="265793" y="1533072"/>
            <a:ext cx="9001125" cy="1208088"/>
          </a:xfrm>
          <a:prstGeom prst="rect">
            <a:avLst/>
          </a:prstGeom>
        </p:spPr>
        <p:txBody>
          <a:bodyPr>
            <a:spAutoFit/>
          </a:bodyPr>
          <a:lstStyle/>
          <a:p>
            <a:pPr marL="0" marR="0" lvl="0" indent="354330" algn="l" defTabSz="914400" rtl="0" eaLnBrk="1" fontAlgn="auto" latinLnBrk="0" hangingPunct="1">
              <a:lnSpc>
                <a:spcPts val="2500"/>
              </a:lnSpc>
              <a:spcBef>
                <a:spcPts val="600"/>
              </a:spcBef>
              <a:spcAft>
                <a:spcPts val="0"/>
              </a:spcAft>
              <a:buClrTx/>
              <a:buSzTx/>
              <a:buFont typeface="Wingdings" panose="05000000000000000000" pitchFamily="2" charset="2"/>
              <a:buChar char="Ø"/>
              <a:defRPr/>
            </a:pPr>
            <a:r>
              <a:rPr kumimoji="1" lang="zh-CN" altLang="en-US"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天宫一号造价几何？</a:t>
            </a:r>
            <a:endParaRPr kumimoji="1" lang="en-US" altLang="zh-CN"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endParaRPr>
          </a:p>
          <a:p>
            <a:pPr marL="182880" marR="0" lvl="0" indent="263525" algn="l" defTabSz="914400" rtl="0" eaLnBrk="1" fontAlgn="auto" latinLnBrk="0" hangingPunct="1">
              <a:lnSpc>
                <a:spcPts val="2500"/>
              </a:lnSpc>
              <a:spcBef>
                <a:spcPts val="600"/>
              </a:spcBef>
              <a:spcAft>
                <a:spcPts val="0"/>
              </a:spcAft>
              <a:buClrTx/>
              <a:buSzTx/>
              <a:buFont typeface="Arial" panose="020B0604020202020204" pitchFamily="34" charset="0"/>
              <a:buChar char="•"/>
              <a:defRPr/>
            </a:pPr>
            <a:r>
              <a:rPr kumimoji="1" lang="zh-CN" altLang="en-US"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目前没有公布。任务完成后，相关部门会做出说明</a:t>
            </a:r>
            <a:endParaRPr kumimoji="1" lang="en-US" altLang="zh-CN"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endParaRPr>
          </a:p>
          <a:p>
            <a:pPr marL="182880" marR="0" lvl="0" indent="263525" algn="l" defTabSz="914400" rtl="0" eaLnBrk="1" fontAlgn="auto" latinLnBrk="0" hangingPunct="1">
              <a:lnSpc>
                <a:spcPts val="2500"/>
              </a:lnSpc>
              <a:spcBef>
                <a:spcPts val="600"/>
              </a:spcBef>
              <a:spcAft>
                <a:spcPts val="0"/>
              </a:spcAft>
              <a:buClrTx/>
              <a:buSzTx/>
              <a:buFont typeface="Arial" panose="020B0604020202020204" pitchFamily="34" charset="0"/>
              <a:buChar char="•"/>
              <a:defRPr/>
            </a:pPr>
            <a:r>
              <a:rPr kumimoji="1" lang="zh-CN" altLang="en-US"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国际空间站：</a:t>
            </a:r>
            <a:r>
              <a:rPr kumimoji="1" lang="en-US" altLang="zh-CN"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13</a:t>
            </a:r>
            <a:r>
              <a:rPr kumimoji="1" lang="zh-CN" altLang="en-US"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个舱，</a:t>
            </a:r>
            <a:r>
              <a:rPr kumimoji="1" lang="en-US" altLang="zh-CN"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1</a:t>
            </a:r>
            <a:r>
              <a:rPr kumimoji="1" lang="zh-CN" altLang="en-US"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千亿美元，运营费用</a:t>
            </a:r>
            <a:r>
              <a:rPr kumimoji="1" lang="en-US" altLang="zh-CN"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10</a:t>
            </a:r>
            <a:r>
              <a:rPr kumimoji="1" lang="zh-CN" altLang="en-US"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亿美元</a:t>
            </a:r>
            <a:r>
              <a:rPr kumimoji="1" lang="en-US" altLang="zh-CN"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a:t>
            </a:r>
            <a:r>
              <a:rPr kumimoji="1" lang="zh-CN" altLang="en-US" sz="26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年</a:t>
            </a:r>
          </a:p>
        </p:txBody>
      </p:sp>
      <p:pic>
        <p:nvPicPr>
          <p:cNvPr id="10" name="Picture 5" descr="D:\学习\工程经济学助教\2011秋工程经济学\点击时事\天宫一号模拟对接.jpg"/>
          <p:cNvPicPr>
            <a:picLocks noChangeAspect="1"/>
          </p:cNvPicPr>
          <p:nvPr/>
        </p:nvPicPr>
        <p:blipFill>
          <a:blip r:embed="rId2"/>
          <a:srcRect t="12857" b="8571"/>
          <a:stretch>
            <a:fillRect/>
          </a:stretch>
        </p:blipFill>
        <p:spPr>
          <a:xfrm>
            <a:off x="362176" y="2741160"/>
            <a:ext cx="4404179" cy="3460426"/>
          </a:xfrm>
          <a:prstGeom prst="rect">
            <a:avLst/>
          </a:prstGeom>
          <a:noFill/>
          <a:ln w="9525">
            <a:noFill/>
          </a:ln>
        </p:spPr>
      </p:pic>
      <p:pic>
        <p:nvPicPr>
          <p:cNvPr id="11" name="Picture 6" descr="D:\学习\工程经济学助教\2011秋工程经济学\点击时事\天宫神八.jpg"/>
          <p:cNvPicPr>
            <a:picLocks noChangeAspect="1"/>
          </p:cNvPicPr>
          <p:nvPr/>
        </p:nvPicPr>
        <p:blipFill>
          <a:blip r:embed="rId3"/>
          <a:stretch>
            <a:fillRect/>
          </a:stretch>
        </p:blipFill>
        <p:spPr>
          <a:xfrm>
            <a:off x="2418782" y="3286352"/>
            <a:ext cx="6500813" cy="2174875"/>
          </a:xfrm>
          <a:prstGeom prst="rect">
            <a:avLst/>
          </a:prstGeom>
          <a:noFill/>
          <a:ln w="9525">
            <a:noFill/>
          </a:ln>
        </p:spPr>
      </p:pic>
      <p:pic>
        <p:nvPicPr>
          <p:cNvPr id="6157" name="Picture 13" descr="http://t3.baidu.com/it/u=1739842008,792868406&amp;fm=23&amp;gp=0.jpg"/>
          <p:cNvPicPr>
            <a:picLocks noChangeAspect="1"/>
          </p:cNvPicPr>
          <p:nvPr/>
        </p:nvPicPr>
        <p:blipFill>
          <a:blip r:embed="rId4"/>
          <a:stretch>
            <a:fillRect/>
          </a:stretch>
        </p:blipFill>
        <p:spPr>
          <a:xfrm>
            <a:off x="3994371" y="2741160"/>
            <a:ext cx="4925224" cy="3460426"/>
          </a:xfrm>
          <a:prstGeom prst="rect">
            <a:avLst/>
          </a:prstGeom>
          <a:noFill/>
          <a:ln w="9525">
            <a:noFill/>
          </a:ln>
        </p:spPr>
      </p:pic>
    </p:spTree>
    <p:extLst>
      <p:ext uri="{BB962C8B-B14F-4D97-AF65-F5344CB8AC3E}">
        <p14:creationId xmlns:p14="http://schemas.microsoft.com/office/powerpoint/2010/main" val="23561237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157"/>
                                        </p:tgtEl>
                                        <p:attrNameLst>
                                          <p:attrName>style.visibility</p:attrName>
                                        </p:attrNameLst>
                                      </p:cBhvr>
                                      <p:to>
                                        <p:strVal val="visible"/>
                                      </p:to>
                                    </p:set>
                                    <p:animEffect transition="in" filter="blinds(horizontal)">
                                      <p:cBhvr>
                                        <p:cTn id="21" dur="500"/>
                                        <p:tgtEl>
                                          <p:spTgt spid="6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9"/>
          <p:cNvSpPr>
            <a:spLocks noRot="1"/>
          </p:cNvSpPr>
          <p:nvPr/>
        </p:nvSpPr>
        <p:spPr>
          <a:xfrm>
            <a:off x="304800" y="1566863"/>
            <a:ext cx="8540750" cy="709612"/>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1143000" lvl="2" indent="-614045" eaLnBrk="1" hangingPunct="1">
              <a:lnSpc>
                <a:spcPct val="80000"/>
              </a:lnSpc>
              <a:buFont typeface="Wingdings" panose="05000000000000000000" pitchFamily="2" charset="2"/>
              <a:buChar char="l"/>
            </a:pPr>
            <a:r>
              <a:rPr lang="zh-CN" altLang="en-US" sz="3200" dirty="0"/>
              <a:t>嫦娥二号探月</a:t>
            </a:r>
            <a:endParaRPr lang="en-US" altLang="zh-CN" sz="3200" dirty="0"/>
          </a:p>
          <a:p>
            <a:pPr marL="342900" lvl="0" indent="-342900" algn="r" eaLnBrk="1" hangingPunct="1">
              <a:lnSpc>
                <a:spcPct val="80000"/>
              </a:lnSpc>
              <a:buNone/>
            </a:pPr>
            <a:r>
              <a:rPr lang="en-US" altLang="zh-CN" sz="3200" b="0" dirty="0">
                <a:latin typeface="方正舒体" pitchFamily="2" charset="-122"/>
                <a:ea typeface="方正舒体" pitchFamily="2" charset="-122"/>
              </a:rPr>
              <a:t>——</a:t>
            </a:r>
            <a:r>
              <a:rPr lang="zh-CN" altLang="en-US" sz="3200" b="0" dirty="0">
                <a:latin typeface="方正舒体" pitchFamily="2" charset="-122"/>
                <a:ea typeface="方正舒体" pitchFamily="2" charset="-122"/>
              </a:rPr>
              <a:t>中国人与月球的第二次亲密接触</a:t>
            </a:r>
            <a:endParaRPr lang="en-US" altLang="zh-CN" sz="3200" dirty="0">
              <a:latin typeface="方正舒体" pitchFamily="2" charset="-122"/>
              <a:ea typeface="方正舒体" pitchFamily="2" charset="-122"/>
            </a:endParaRPr>
          </a:p>
        </p:txBody>
      </p:sp>
      <p:sp>
        <p:nvSpPr>
          <p:cNvPr id="4" name="Rectangle 9"/>
          <p:cNvSpPr txBox="1">
            <a:spLocks noRot="1"/>
          </p:cNvSpPr>
          <p:nvPr/>
        </p:nvSpPr>
        <p:spPr>
          <a:xfrm>
            <a:off x="250825" y="2574925"/>
            <a:ext cx="3097213" cy="1069975"/>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342900" lvl="0" indent="-342900" eaLnBrk="1" hangingPunct="1">
              <a:lnSpc>
                <a:spcPct val="80000"/>
              </a:lnSpc>
              <a:buFont typeface="Wingdings" panose="05000000000000000000" pitchFamily="2" charset="2"/>
              <a:buChar char="Ø"/>
            </a:pPr>
            <a:r>
              <a:rPr lang="en-US" altLang="zh-CN" sz="2800" b="0" dirty="0">
                <a:latin typeface="华文新魏" pitchFamily="2" charset="-122"/>
                <a:ea typeface="华文新魏" pitchFamily="2" charset="-122"/>
              </a:rPr>
              <a:t>2010</a:t>
            </a:r>
            <a:r>
              <a:rPr lang="zh-CN" altLang="en-US" sz="2800" b="0" dirty="0">
                <a:latin typeface="华文新魏" pitchFamily="2" charset="-122"/>
                <a:ea typeface="华文新魏" pitchFamily="2" charset="-122"/>
              </a:rPr>
              <a:t>年十一，嫦娥二号发射。</a:t>
            </a:r>
          </a:p>
        </p:txBody>
      </p:sp>
      <p:sp>
        <p:nvSpPr>
          <p:cNvPr id="7" name="矩形 6"/>
          <p:cNvSpPr/>
          <p:nvPr/>
        </p:nvSpPr>
        <p:spPr>
          <a:xfrm>
            <a:off x="179388" y="3357563"/>
            <a:ext cx="3384550" cy="881063"/>
          </a:xfrm>
          <a:prstGeom prst="rect">
            <a:avLst/>
          </a:prstGeom>
        </p:spPr>
        <p:txBody>
          <a:bodyPr>
            <a:spAutoFit/>
          </a:bodyPr>
          <a:lstStyle/>
          <a:p>
            <a:pPr marL="342900" marR="0" lvl="0" indent="-342900" algn="l" defTabSz="914400" rtl="0" eaLnBrk="1" fontAlgn="base" latinLnBrk="0" hangingPunct="1">
              <a:lnSpc>
                <a:spcPct val="80000"/>
              </a:lnSpc>
              <a:spcBef>
                <a:spcPct val="20000"/>
              </a:spcBef>
              <a:spcAft>
                <a:spcPct val="0"/>
              </a:spcAft>
              <a:buClrTx/>
              <a:buSzTx/>
              <a:buFont typeface="Wingdings" panose="05000000000000000000" pitchFamily="2" charset="2"/>
              <a:buChar char="Ø"/>
              <a:defRPr/>
            </a:pPr>
            <a:r>
              <a:rPr kumimoji="0" lang="en-US" altLang="zh-CN"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10</a:t>
            </a:r>
            <a:r>
              <a:rPr kumimoji="0" lang="zh-CN" altLang="en-US"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月</a:t>
            </a:r>
            <a:r>
              <a:rPr kumimoji="0" lang="en-US" altLang="zh-CN"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6</a:t>
            </a:r>
            <a:r>
              <a:rPr kumimoji="0" lang="zh-CN" altLang="en-US"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日</a:t>
            </a:r>
            <a:endParaRPr kumimoji="0" lang="en-US" altLang="zh-CN"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   </a:t>
            </a:r>
            <a:r>
              <a:rPr kumimoji="0" lang="zh-CN" altLang="en-US"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第一次近月制动</a:t>
            </a:r>
            <a:endParaRPr kumimoji="0" lang="en-US" altLang="zh-CN"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endParaRPr>
          </a:p>
        </p:txBody>
      </p:sp>
      <p:sp>
        <p:nvSpPr>
          <p:cNvPr id="8" name="矩形 7"/>
          <p:cNvSpPr/>
          <p:nvPr/>
        </p:nvSpPr>
        <p:spPr>
          <a:xfrm>
            <a:off x="179388" y="4292600"/>
            <a:ext cx="3384550" cy="882650"/>
          </a:xfrm>
          <a:prstGeom prst="rect">
            <a:avLst/>
          </a:prstGeom>
        </p:spPr>
        <p:txBody>
          <a:bodyPr>
            <a:spAutoFit/>
          </a:bodyPr>
          <a:lstStyle/>
          <a:p>
            <a:pPr marL="342900" marR="0" lvl="0" indent="-342900" algn="l" defTabSz="914400" rtl="0" eaLnBrk="1" fontAlgn="base" latinLnBrk="0" hangingPunct="1">
              <a:lnSpc>
                <a:spcPct val="80000"/>
              </a:lnSpc>
              <a:spcBef>
                <a:spcPct val="20000"/>
              </a:spcBef>
              <a:spcAft>
                <a:spcPct val="0"/>
              </a:spcAft>
              <a:buClrTx/>
              <a:buSzTx/>
              <a:buFont typeface="Wingdings" panose="05000000000000000000" pitchFamily="2" charset="2"/>
              <a:buChar char="Ø"/>
              <a:defRPr/>
            </a:pPr>
            <a:r>
              <a:rPr kumimoji="0" lang="en-US" altLang="zh-CN"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10</a:t>
            </a:r>
            <a:r>
              <a:rPr kumimoji="0" lang="zh-CN" altLang="en-US"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月</a:t>
            </a:r>
            <a:r>
              <a:rPr kumimoji="0" lang="en-US" altLang="zh-CN"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7</a:t>
            </a:r>
            <a:r>
              <a:rPr kumimoji="0" lang="zh-CN" altLang="en-US"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日</a:t>
            </a:r>
            <a:endParaRPr kumimoji="0" lang="en-US" altLang="zh-CN"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    </a:t>
            </a:r>
            <a:r>
              <a:rPr kumimoji="0" lang="zh-CN" altLang="en-US"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rPr>
              <a:t>轨道面机动</a:t>
            </a:r>
            <a:endParaRPr kumimoji="0" lang="en-US" altLang="zh-CN" sz="2800" b="0" i="0" u="none" strike="noStrike" kern="0" cap="none" spc="0" normalizeH="0" baseline="0" noProof="0" dirty="0">
              <a:ln>
                <a:noFill/>
              </a:ln>
              <a:solidFill>
                <a:srgbClr val="000000"/>
              </a:solidFill>
              <a:effectLst/>
              <a:uLnTx/>
              <a:uFillTx/>
              <a:latin typeface="华文新魏" pitchFamily="2" charset="-122"/>
              <a:ea typeface="华文新魏" pitchFamily="2" charset="-122"/>
              <a:cs typeface="+mn-cs"/>
            </a:endParaRPr>
          </a:p>
        </p:txBody>
      </p:sp>
      <p:pic>
        <p:nvPicPr>
          <p:cNvPr id="1026" name="Picture 2" descr="D:\研究生\工程经济学助教\ppt\嫦娥二号发射.jpg"/>
          <p:cNvPicPr>
            <a:picLocks noChangeAspect="1"/>
          </p:cNvPicPr>
          <p:nvPr/>
        </p:nvPicPr>
        <p:blipFill>
          <a:blip r:embed="rId2"/>
          <a:stretch>
            <a:fillRect/>
          </a:stretch>
        </p:blipFill>
        <p:spPr>
          <a:xfrm>
            <a:off x="3324225" y="4763"/>
            <a:ext cx="5819775" cy="6808787"/>
          </a:xfrm>
          <a:prstGeom prst="rect">
            <a:avLst/>
          </a:prstGeom>
          <a:noFill/>
          <a:ln w="9525">
            <a:noFill/>
          </a:ln>
        </p:spPr>
      </p:pic>
      <p:sp>
        <p:nvSpPr>
          <p:cNvPr id="9" name="矩形 8"/>
          <p:cNvSpPr/>
          <p:nvPr/>
        </p:nvSpPr>
        <p:spPr>
          <a:xfrm>
            <a:off x="179388" y="5229225"/>
            <a:ext cx="3049587" cy="968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342900" lvl="0" indent="-342900" eaLnBrk="1" hangingPunct="1">
              <a:lnSpc>
                <a:spcPct val="80000"/>
              </a:lnSpc>
              <a:buFont typeface="Wingdings" panose="05000000000000000000" pitchFamily="2" charset="2"/>
              <a:buChar char="Ø"/>
            </a:pPr>
            <a:r>
              <a:rPr lang="en-US" altLang="zh-CN" sz="2400" b="0" dirty="0">
                <a:solidFill>
                  <a:srgbClr val="CD5134"/>
                </a:solidFill>
                <a:latin typeface="Times New Roman" panose="02020603050405020304" pitchFamily="18" charset="0"/>
                <a:ea typeface="宋体" panose="02010600030101010101" pitchFamily="2" charset="-122"/>
              </a:rPr>
              <a:t>2004</a:t>
            </a:r>
            <a:r>
              <a:rPr lang="zh-CN" altLang="en-US" sz="2400" b="0" dirty="0">
                <a:solidFill>
                  <a:srgbClr val="CD5134"/>
                </a:solidFill>
                <a:latin typeface="Times New Roman" panose="02020603050405020304" pitchFamily="18" charset="0"/>
                <a:ea typeface="宋体" panose="02010600030101010101" pitchFamily="2" charset="-122"/>
              </a:rPr>
              <a:t>年</a:t>
            </a:r>
            <a:r>
              <a:rPr lang="zh-CN" altLang="en-US" sz="2400" dirty="0">
                <a:solidFill>
                  <a:srgbClr val="CD5134"/>
                </a:solidFill>
                <a:latin typeface="Times New Roman" panose="02020603050405020304" pitchFamily="18" charset="0"/>
                <a:ea typeface="宋体" panose="02010600030101010101" pitchFamily="2" charset="-122"/>
              </a:rPr>
              <a:t>中国绕月探测工程的立项，资金预计</a:t>
            </a:r>
            <a:r>
              <a:rPr lang="en-US" altLang="zh-CN" sz="2400" dirty="0">
                <a:solidFill>
                  <a:srgbClr val="CD5134"/>
                </a:solidFill>
                <a:latin typeface="Times New Roman" panose="02020603050405020304" pitchFamily="18" charset="0"/>
                <a:ea typeface="宋体" panose="02010600030101010101" pitchFamily="2" charset="-122"/>
              </a:rPr>
              <a:t>14</a:t>
            </a:r>
            <a:r>
              <a:rPr lang="zh-CN" altLang="en-US" sz="2400" dirty="0">
                <a:solidFill>
                  <a:srgbClr val="CD5134"/>
                </a:solidFill>
                <a:latin typeface="Times New Roman" panose="02020603050405020304" pitchFamily="18" charset="0"/>
                <a:ea typeface="宋体" panose="02010600030101010101" pitchFamily="2" charset="-122"/>
              </a:rPr>
              <a:t>亿人民币</a:t>
            </a:r>
            <a:r>
              <a:rPr lang="zh-CN" altLang="en-US" sz="2400" b="0" dirty="0">
                <a:solidFill>
                  <a:schemeClr val="accent2"/>
                </a:solidFill>
                <a:latin typeface="Times New Roman" panose="02020603050405020304" pitchFamily="18" charset="0"/>
                <a:ea typeface="宋体" panose="02010600030101010101" pitchFamily="2" charset="-122"/>
              </a:rPr>
              <a:t> </a:t>
            </a:r>
            <a:endParaRPr lang="en-US" altLang="zh-CN" sz="2400" b="0" dirty="0">
              <a:solidFill>
                <a:schemeClr val="accent2"/>
              </a:solidFill>
              <a:latin typeface="Times New Roman" panose="02020603050405020304" pitchFamily="18" charset="0"/>
              <a:ea typeface="宋体" panose="02010600030101010101" pitchFamily="2" charset="-122"/>
            </a:endParaRPr>
          </a:p>
        </p:txBody>
      </p:sp>
      <p:pic>
        <p:nvPicPr>
          <p:cNvPr id="1027" name="Picture 3" descr="D:\研究生\工程经济学助教\ppt\嫦娥二号第一次近月制动.jpg"/>
          <p:cNvPicPr>
            <a:picLocks noChangeAspect="1"/>
          </p:cNvPicPr>
          <p:nvPr/>
        </p:nvPicPr>
        <p:blipFill>
          <a:blip r:embed="rId3"/>
          <a:stretch>
            <a:fillRect/>
          </a:stretch>
        </p:blipFill>
        <p:spPr>
          <a:xfrm>
            <a:off x="3275013" y="2311400"/>
            <a:ext cx="5868987" cy="3902075"/>
          </a:xfrm>
          <a:prstGeom prst="rect">
            <a:avLst/>
          </a:prstGeom>
          <a:noFill/>
          <a:ln w="9525">
            <a:noFill/>
          </a:ln>
        </p:spPr>
      </p:pic>
      <p:pic>
        <p:nvPicPr>
          <p:cNvPr id="1028" name="Picture 4" descr="D:\研究生\工程经济学助教\ppt\嫦娥二号117min环月轨道.jpg"/>
          <p:cNvPicPr>
            <a:picLocks noChangeAspect="1"/>
          </p:cNvPicPr>
          <p:nvPr/>
        </p:nvPicPr>
        <p:blipFill>
          <a:blip r:embed="rId4"/>
          <a:stretch>
            <a:fillRect/>
          </a:stretch>
        </p:blipFill>
        <p:spPr>
          <a:xfrm>
            <a:off x="3228975" y="2736850"/>
            <a:ext cx="5915025" cy="393223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xit" presetSubtype="1" fill="hold" nodeType="clickEffect">
                                  <p:stCondLst>
                                    <p:cond delay="0"/>
                                  </p:stCondLst>
                                  <p:childTnLst>
                                    <p:anim calcmode="lin" valueType="num">
                                      <p:cBhvr additive="base">
                                        <p:cTn id="14" dur="500"/>
                                        <p:tgtEl>
                                          <p:spTgt spid="1026"/>
                                        </p:tgtEl>
                                        <p:attrNameLst>
                                          <p:attrName>ppt_x</p:attrName>
                                        </p:attrNameLst>
                                      </p:cBhvr>
                                      <p:tavLst>
                                        <p:tav tm="0">
                                          <p:val>
                                            <p:strVal val="ppt_x"/>
                                          </p:val>
                                        </p:tav>
                                        <p:tav tm="100000">
                                          <p:val>
                                            <p:strVal val="ppt_x"/>
                                          </p:val>
                                        </p:tav>
                                      </p:tavLst>
                                    </p:anim>
                                    <p:anim calcmode="lin" valueType="num">
                                      <p:cBhvr additive="base">
                                        <p:cTn id="15" dur="500"/>
                                        <p:tgtEl>
                                          <p:spTgt spid="1026"/>
                                        </p:tgtEl>
                                        <p:attrNameLst>
                                          <p:attrName>ppt_y</p:attrName>
                                        </p:attrNameLst>
                                      </p:cBhvr>
                                      <p:tavLst>
                                        <p:tav tm="0">
                                          <p:val>
                                            <p:strVal val="ppt_y"/>
                                          </p:val>
                                        </p:tav>
                                        <p:tav tm="100000">
                                          <p:val>
                                            <p:strVal val="0-ppt_h/2"/>
                                          </p:val>
                                        </p:tav>
                                      </p:tavLst>
                                    </p:anim>
                                    <p:set>
                                      <p:cBhvr>
                                        <p:cTn id="16" dur="1" fill="hold">
                                          <p:stCondLst>
                                            <p:cond delay="499"/>
                                          </p:stCondLst>
                                        </p:cTn>
                                        <p:tgtEl>
                                          <p:spTgt spid="1026"/>
                                        </p:tgtEl>
                                        <p:attrNameLst>
                                          <p:attrName>style.visibility</p:attrName>
                                        </p:attrNameLst>
                                      </p:cBhvr>
                                      <p:to>
                                        <p:strVal val="hidden"/>
                                      </p:to>
                                    </p:set>
                                  </p:childTnLst>
                                </p:cTn>
                              </p:par>
                            </p:childTnLst>
                          </p:cTn>
                        </p:par>
                        <p:par>
                          <p:cTn id="17" fill="hold">
                            <p:stCondLst>
                              <p:cond delay="500"/>
                            </p:stCondLst>
                            <p:childTnLst>
                              <p:par>
                                <p:cTn id="18" presetID="2" presetClass="entr" presetSubtype="8" fill="hold" nodeType="afterEffect">
                                  <p:stCondLst>
                                    <p:cond delay="0"/>
                                  </p:stCondLst>
                                  <p:childTnLst>
                                    <p:set>
                                      <p:cBhvr>
                                        <p:cTn id="19" dur="1" fill="hold">
                                          <p:stCondLst>
                                            <p:cond delay="0"/>
                                          </p:stCondLst>
                                        </p:cTn>
                                        <p:tgtEl>
                                          <p:spTgt spid="1027"/>
                                        </p:tgtEl>
                                        <p:attrNameLst>
                                          <p:attrName>style.visibility</p:attrName>
                                        </p:attrNameLst>
                                      </p:cBhvr>
                                      <p:to>
                                        <p:strVal val="visible"/>
                                      </p:to>
                                    </p:set>
                                    <p:anim calcmode="lin" valueType="num">
                                      <p:cBhvr additive="base">
                                        <p:cTn id="20" dur="500" fill="hold"/>
                                        <p:tgtEl>
                                          <p:spTgt spid="1027"/>
                                        </p:tgtEl>
                                        <p:attrNameLst>
                                          <p:attrName>ppt_x</p:attrName>
                                        </p:attrNameLst>
                                      </p:cBhvr>
                                      <p:tavLst>
                                        <p:tav tm="0">
                                          <p:val>
                                            <p:strVal val="0-#ppt_w/2"/>
                                          </p:val>
                                        </p:tav>
                                        <p:tav tm="100000">
                                          <p:val>
                                            <p:strVal val="#ppt_x"/>
                                          </p:val>
                                        </p:tav>
                                      </p:tavLst>
                                    </p:anim>
                                    <p:anim calcmode="lin" valueType="num">
                                      <p:cBhvr additive="base">
                                        <p:cTn id="21" dur="500" fill="hold"/>
                                        <p:tgtEl>
                                          <p:spTgt spid="1027"/>
                                        </p:tgtEl>
                                        <p:attrNameLst>
                                          <p:attrName>ppt_y</p:attrName>
                                        </p:attrNameLst>
                                      </p:cBhvr>
                                      <p:tavLst>
                                        <p:tav tm="0">
                                          <p:val>
                                            <p:strVal val="#ppt_y"/>
                                          </p:val>
                                        </p:tav>
                                        <p:tav tm="100000">
                                          <p:val>
                                            <p:strVal val="#ppt_y"/>
                                          </p:val>
                                        </p:tav>
                                      </p:tavLst>
                                    </p:anim>
                                  </p:childTnLst>
                                </p:cTn>
                              </p:par>
                              <p:par>
                                <p:cTn id="22" presetID="1"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childTnLst>
                                </p:cTn>
                              </p:par>
                              <p:par>
                                <p:cTn id="30" presetID="2" presetClass="exit" presetSubtype="2" fill="hold" nodeType="withEffect">
                                  <p:stCondLst>
                                    <p:cond delay="0"/>
                                  </p:stCondLst>
                                  <p:childTnLst>
                                    <p:anim calcmode="lin" valueType="num">
                                      <p:cBhvr additive="base">
                                        <p:cTn id="31" dur="500"/>
                                        <p:tgtEl>
                                          <p:spTgt spid="1027"/>
                                        </p:tgtEl>
                                        <p:attrNameLst>
                                          <p:attrName>ppt_x</p:attrName>
                                        </p:attrNameLst>
                                      </p:cBhvr>
                                      <p:tavLst>
                                        <p:tav tm="0">
                                          <p:val>
                                            <p:strVal val="ppt_x"/>
                                          </p:val>
                                        </p:tav>
                                        <p:tav tm="100000">
                                          <p:val>
                                            <p:strVal val="1+ppt_w/2"/>
                                          </p:val>
                                        </p:tav>
                                      </p:tavLst>
                                    </p:anim>
                                    <p:anim calcmode="lin" valueType="num">
                                      <p:cBhvr additive="base">
                                        <p:cTn id="32" dur="500"/>
                                        <p:tgtEl>
                                          <p:spTgt spid="1027"/>
                                        </p:tgtEl>
                                        <p:attrNameLst>
                                          <p:attrName>ppt_y</p:attrName>
                                        </p:attrNameLst>
                                      </p:cBhvr>
                                      <p:tavLst>
                                        <p:tav tm="0">
                                          <p:val>
                                            <p:strVal val="ppt_y"/>
                                          </p:val>
                                        </p:tav>
                                        <p:tav tm="100000">
                                          <p:val>
                                            <p:strVal val="ppt_y"/>
                                          </p:val>
                                        </p:tav>
                                      </p:tavLst>
                                    </p:anim>
                                    <p:set>
                                      <p:cBhvr>
                                        <p:cTn id="33" dur="1" fill="hold">
                                          <p:stCondLst>
                                            <p:cond delay="499"/>
                                          </p:stCondLst>
                                        </p:cTn>
                                        <p:tgtEl>
                                          <p:spTgt spid="1027"/>
                                        </p:tgtEl>
                                        <p:attrNameLst>
                                          <p:attrName>style.visibility</p:attrName>
                                        </p:attrNameLst>
                                      </p:cBhvr>
                                      <p:to>
                                        <p:strVal val="hidden"/>
                                      </p:to>
                                    </p:set>
                                  </p:childTnLst>
                                </p:cTn>
                              </p:par>
                            </p:childTnLst>
                          </p:cTn>
                        </p:par>
                        <p:par>
                          <p:cTn id="34" fill="hold">
                            <p:stCondLst>
                              <p:cond delay="0"/>
                            </p:stCondLst>
                            <p:childTnLst>
                              <p:par>
                                <p:cTn id="35" presetID="3" presetClass="entr" presetSubtype="10" fill="hold" nodeType="afterEffect">
                                  <p:stCondLst>
                                    <p:cond delay="0"/>
                                  </p:stCondLst>
                                  <p:childTnLst>
                                    <p:set>
                                      <p:cBhvr>
                                        <p:cTn id="36" dur="1" fill="hold">
                                          <p:stCondLst>
                                            <p:cond delay="0"/>
                                          </p:stCondLst>
                                        </p:cTn>
                                        <p:tgtEl>
                                          <p:spTgt spid="1028"/>
                                        </p:tgtEl>
                                        <p:attrNameLst>
                                          <p:attrName>style.visibility</p:attrName>
                                        </p:attrNameLst>
                                      </p:cBhvr>
                                      <p:to>
                                        <p:strVal val="visible"/>
                                      </p:to>
                                    </p:set>
                                    <p:animEffect transition="in" filter="blinds(horizontal)">
                                      <p:cBhvr>
                                        <p:cTn id="3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8" name="Rectangle 8"/>
          <p:cNvSpPr>
            <a:spLocks noRot="1" noChangeArrowheads="1"/>
          </p:cNvSpPr>
          <p:nvPr/>
        </p:nvSpPr>
        <p:spPr bwMode="auto">
          <a:xfrm>
            <a:off x="1547813" y="188913"/>
            <a:ext cx="6408738" cy="998538"/>
          </a:xfrm>
          <a:prstGeom prst="rect">
            <a:avLst/>
          </a:prstGeom>
          <a:noFill/>
          <a:ln w="9525">
            <a:noFill/>
            <a:miter lim="800000"/>
          </a:ln>
          <a:effectLst/>
        </p:spPr>
        <p:txBody>
          <a:bodyPr anchor="ct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000" b="1" i="0" u="none" strike="noStrike" kern="1200" cap="none" spc="0" normalizeH="0" baseline="0" noProof="0" dirty="0">
                <a:ln>
                  <a:noFill/>
                </a:ln>
                <a:solidFill>
                  <a:schemeClr val="accent4">
                    <a:lumMod val="10000"/>
                  </a:schemeClr>
                </a:solidFill>
                <a:effectLst/>
                <a:uLnTx/>
                <a:uFillTx/>
                <a:latin typeface="华文新魏" pitchFamily="2" charset="-122"/>
                <a:ea typeface="华文新魏" pitchFamily="2" charset="-122"/>
                <a:cs typeface="+mn-cs"/>
              </a:rPr>
              <a:t>回顾：“阿波罗”登月计划</a:t>
            </a:r>
            <a:endParaRPr kumimoji="0" lang="en-US" altLang="zh-CN" sz="4000" b="1" i="0" u="none" strike="noStrike" kern="1200" cap="none" spc="0" normalizeH="0" baseline="0" noProof="0" dirty="0">
              <a:ln>
                <a:noFill/>
              </a:ln>
              <a:solidFill>
                <a:schemeClr val="accent4">
                  <a:lumMod val="10000"/>
                </a:schemeClr>
              </a:solidFill>
              <a:effectLst/>
              <a:uLnTx/>
              <a:uFillTx/>
              <a:latin typeface="华文新魏" pitchFamily="2" charset="-122"/>
              <a:ea typeface="华文新魏" pitchFamily="2" charset="-122"/>
              <a:cs typeface="+mn-cs"/>
            </a:endParaRPr>
          </a:p>
        </p:txBody>
      </p:sp>
      <p:sp>
        <p:nvSpPr>
          <p:cNvPr id="12291" name="Rectangle 9"/>
          <p:cNvSpPr txBox="1">
            <a:spLocks noRot="1"/>
          </p:cNvSpPr>
          <p:nvPr/>
        </p:nvSpPr>
        <p:spPr>
          <a:xfrm>
            <a:off x="250825" y="1484313"/>
            <a:ext cx="8642350" cy="1008062"/>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lnSpc>
                <a:spcPct val="80000"/>
              </a:lnSpc>
              <a:buFont typeface="Wingdings" panose="05000000000000000000" pitchFamily="2" charset="2"/>
              <a:buChar char="l"/>
            </a:pPr>
            <a:r>
              <a:rPr lang="en-US" altLang="zh-CN" sz="2800" b="0" dirty="0">
                <a:latin typeface="华文新魏" pitchFamily="2" charset="-122"/>
                <a:ea typeface="华文新魏" pitchFamily="2" charset="-122"/>
              </a:rPr>
              <a:t>  1972</a:t>
            </a:r>
            <a:r>
              <a:rPr lang="zh-CN" altLang="en-US" sz="2800" b="0" dirty="0">
                <a:latin typeface="华文新魏" pitchFamily="2" charset="-122"/>
                <a:ea typeface="华文新魏" pitchFamily="2" charset="-122"/>
              </a:rPr>
              <a:t>年</a:t>
            </a:r>
            <a:r>
              <a:rPr lang="en-US" altLang="zh-CN" sz="2800" b="0" dirty="0">
                <a:latin typeface="华文新魏" pitchFamily="2" charset="-122"/>
                <a:ea typeface="华文新魏" pitchFamily="2" charset="-122"/>
              </a:rPr>
              <a:t>12</a:t>
            </a:r>
            <a:r>
              <a:rPr lang="zh-CN" altLang="en-US" sz="2800" b="0" dirty="0">
                <a:latin typeface="华文新魏" pitchFamily="2" charset="-122"/>
                <a:ea typeface="华文新魏" pitchFamily="2" charset="-122"/>
              </a:rPr>
              <a:t>月</a:t>
            </a:r>
            <a:r>
              <a:rPr lang="en-US" altLang="zh-CN" sz="2800" b="0" dirty="0">
                <a:latin typeface="华文新魏" pitchFamily="2" charset="-122"/>
                <a:ea typeface="华文新魏" pitchFamily="2" charset="-122"/>
              </a:rPr>
              <a:t>19</a:t>
            </a:r>
            <a:r>
              <a:rPr lang="zh-CN" altLang="en-US" sz="2800" b="0" dirty="0">
                <a:latin typeface="华文新魏" pitchFamily="2" charset="-122"/>
                <a:ea typeface="华文新魏" pitchFamily="2" charset="-122"/>
              </a:rPr>
              <a:t>日，“阿波罗</a:t>
            </a:r>
            <a:r>
              <a:rPr lang="en-US" altLang="zh-CN" sz="2800" b="0" dirty="0">
                <a:latin typeface="华文新魏" pitchFamily="2" charset="-122"/>
                <a:ea typeface="华文新魏" pitchFamily="2" charset="-122"/>
              </a:rPr>
              <a:t>17</a:t>
            </a:r>
            <a:r>
              <a:rPr lang="zh-CN" altLang="en-US" sz="2800" b="0" dirty="0">
                <a:latin typeface="华文新魏" pitchFamily="2" charset="-122"/>
                <a:ea typeface="华文新魏" pitchFamily="2" charset="-122"/>
              </a:rPr>
              <a:t>号”飞船溅落太平洋，美国“阿波罗”登月计划全部结束。</a:t>
            </a:r>
            <a:endParaRPr lang="zh-CN" altLang="en-US" sz="2800" b="0" dirty="0">
              <a:solidFill>
                <a:srgbClr val="800000"/>
              </a:solidFill>
              <a:latin typeface="华文新魏" pitchFamily="2" charset="-122"/>
              <a:ea typeface="华文新魏" pitchFamily="2" charset="-122"/>
            </a:endParaRPr>
          </a:p>
        </p:txBody>
      </p:sp>
      <p:pic>
        <p:nvPicPr>
          <p:cNvPr id="9" name="图片 8" descr="http://img.022net.com/ImgFile/20100930/46/12403753872953658758.jpg"/>
          <p:cNvPicPr>
            <a:picLocks noChangeAspect="1"/>
          </p:cNvPicPr>
          <p:nvPr/>
        </p:nvPicPr>
        <p:blipFill>
          <a:blip r:embed="rId2"/>
          <a:srcRect b="12000"/>
          <a:stretch>
            <a:fillRect/>
          </a:stretch>
        </p:blipFill>
        <p:spPr>
          <a:xfrm>
            <a:off x="3492500" y="2205038"/>
            <a:ext cx="5651500" cy="4652962"/>
          </a:xfrm>
          <a:prstGeom prst="rect">
            <a:avLst/>
          </a:prstGeom>
          <a:noFill/>
          <a:ln w="9525">
            <a:noFill/>
          </a:ln>
        </p:spPr>
      </p:pic>
      <p:sp>
        <p:nvSpPr>
          <p:cNvPr id="12" name="Rectangle 9"/>
          <p:cNvSpPr txBox="1">
            <a:spLocks noRot="1" noChangeArrowheads="1"/>
          </p:cNvSpPr>
          <p:nvPr/>
        </p:nvSpPr>
        <p:spPr bwMode="auto">
          <a:xfrm>
            <a:off x="250825" y="4652963"/>
            <a:ext cx="3025775" cy="1728788"/>
          </a:xfrm>
          <a:prstGeom prst="rect">
            <a:avLst/>
          </a:prstGeom>
          <a:noFill/>
          <a:ln w="9525">
            <a:noFill/>
            <a:miter lim="800000"/>
          </a:ln>
          <a:effectLst/>
        </p:spPr>
        <p:txBody>
          <a:bodyPr/>
          <a:lstStyle/>
          <a:p>
            <a:pPr marR="0" defTabSz="914400" eaLnBrk="1" hangingPunct="1">
              <a:lnSpc>
                <a:spcPct val="80000"/>
              </a:lnSpc>
              <a:spcBef>
                <a:spcPct val="20000"/>
              </a:spcBef>
              <a:buClrTx/>
              <a:buSzTx/>
              <a:buFont typeface="Wingdings" panose="05000000000000000000" pitchFamily="2" charset="2"/>
              <a:buChar char="l"/>
              <a:defRPr/>
            </a:pPr>
            <a:r>
              <a:rPr kumimoji="0" lang="zh-CN" altLang="en-US" sz="2800" kern="0" cap="none" spc="0" normalizeH="0" baseline="0" noProof="0" dirty="0">
                <a:solidFill>
                  <a:srgbClr val="000000"/>
                </a:solidFill>
                <a:latin typeface="华文新魏" pitchFamily="2" charset="-122"/>
                <a:ea typeface="华文新魏" pitchFamily="2" charset="-122"/>
                <a:cs typeface="+mn-cs"/>
              </a:rPr>
              <a:t>“阿波罗”计划耗资</a:t>
            </a:r>
            <a:r>
              <a:rPr kumimoji="0" lang="en-US" altLang="zh-CN" sz="2800" u="sng" kern="0" cap="none" spc="0" normalizeH="0" baseline="0" noProof="0" dirty="0">
                <a:solidFill>
                  <a:srgbClr val="000000"/>
                </a:solidFill>
                <a:latin typeface="华文新魏" pitchFamily="2" charset="-122"/>
                <a:ea typeface="华文新魏" pitchFamily="2" charset="-122"/>
                <a:cs typeface="+mn-cs"/>
              </a:rPr>
              <a:t>250</a:t>
            </a:r>
            <a:r>
              <a:rPr kumimoji="0" lang="zh-CN" altLang="en-US" sz="2800" u="sng" kern="0" cap="none" spc="0" normalizeH="0" baseline="0" noProof="0" dirty="0">
                <a:solidFill>
                  <a:srgbClr val="000000"/>
                </a:solidFill>
                <a:latin typeface="华文新魏" pitchFamily="2" charset="-122"/>
                <a:ea typeface="华文新魏" pitchFamily="2" charset="-122"/>
                <a:cs typeface="+mn-cs"/>
              </a:rPr>
              <a:t>亿美元</a:t>
            </a:r>
            <a:r>
              <a:rPr kumimoji="0" lang="zh-CN" altLang="en-US" sz="2800" kern="0" cap="none" spc="0" normalizeH="0" baseline="0" noProof="0" dirty="0">
                <a:solidFill>
                  <a:srgbClr val="000000"/>
                </a:solidFill>
                <a:latin typeface="华文新魏" pitchFamily="2" charset="-122"/>
                <a:ea typeface="华文新魏" pitchFamily="2" charset="-122"/>
                <a:cs typeface="+mn-cs"/>
              </a:rPr>
              <a:t>，共进行了</a:t>
            </a:r>
            <a:r>
              <a:rPr kumimoji="0" lang="en-US" altLang="zh-CN" sz="2800" kern="0" cap="none" spc="0" normalizeH="0" baseline="0" noProof="0" dirty="0">
                <a:solidFill>
                  <a:srgbClr val="000000"/>
                </a:solidFill>
                <a:latin typeface="华文新魏" pitchFamily="2" charset="-122"/>
                <a:ea typeface="华文新魏" pitchFamily="2" charset="-122"/>
                <a:cs typeface="+mn-cs"/>
              </a:rPr>
              <a:t>16</a:t>
            </a:r>
            <a:r>
              <a:rPr kumimoji="0" lang="zh-CN" altLang="en-US" sz="2800" kern="0" cap="none" spc="0" normalizeH="0" baseline="0" noProof="0" dirty="0">
                <a:solidFill>
                  <a:srgbClr val="000000"/>
                </a:solidFill>
                <a:latin typeface="华文新魏" pitchFamily="2" charset="-122"/>
                <a:ea typeface="华文新魏" pitchFamily="2" charset="-122"/>
                <a:cs typeface="+mn-cs"/>
              </a:rPr>
              <a:t>次载人飞往月球的飞行。</a:t>
            </a:r>
          </a:p>
        </p:txBody>
      </p:sp>
      <p:sp>
        <p:nvSpPr>
          <p:cNvPr id="13" name="Rectangle 9"/>
          <p:cNvSpPr txBox="1">
            <a:spLocks noRot="1"/>
          </p:cNvSpPr>
          <p:nvPr/>
        </p:nvSpPr>
        <p:spPr>
          <a:xfrm>
            <a:off x="250825" y="2565400"/>
            <a:ext cx="3097213" cy="1800225"/>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lnSpc>
                <a:spcPct val="80000"/>
              </a:lnSpc>
              <a:buFont typeface="Wingdings" panose="05000000000000000000" pitchFamily="2" charset="2"/>
              <a:buChar char="l"/>
            </a:pPr>
            <a:r>
              <a:rPr lang="zh-CN" altLang="en-US" sz="2800" b="0" dirty="0">
                <a:latin typeface="华文新魏" pitchFamily="2" charset="-122"/>
                <a:ea typeface="华文新魏" pitchFamily="2" charset="-122"/>
              </a:rPr>
              <a:t>图为美国宇航员尤金</a:t>
            </a:r>
            <a:r>
              <a:rPr lang="en-US" altLang="zh-CN" sz="2800" b="0" dirty="0">
                <a:latin typeface="华文新魏" pitchFamily="2" charset="-122"/>
                <a:ea typeface="华文新魏" pitchFamily="2" charset="-122"/>
              </a:rPr>
              <a:t>·</a:t>
            </a:r>
            <a:r>
              <a:rPr lang="zh-CN" altLang="en-US" sz="2800" b="0" dirty="0">
                <a:latin typeface="华文新魏" pitchFamily="2" charset="-122"/>
                <a:ea typeface="华文新魏" pitchFamily="2" charset="-122"/>
              </a:rPr>
              <a:t>塞尔南于</a:t>
            </a:r>
            <a:r>
              <a:rPr lang="en-US" altLang="zh-CN" sz="2800" b="0" dirty="0">
                <a:latin typeface="华文新魏" pitchFamily="2" charset="-122"/>
                <a:ea typeface="华文新魏" pitchFamily="2" charset="-122"/>
              </a:rPr>
              <a:t>1972</a:t>
            </a:r>
            <a:r>
              <a:rPr lang="zh-CN" altLang="en-US" sz="2800" b="0" dirty="0">
                <a:latin typeface="华文新魏" pitchFamily="2" charset="-122"/>
                <a:ea typeface="华文新魏" pitchFamily="2" charset="-122"/>
              </a:rPr>
              <a:t>年</a:t>
            </a:r>
            <a:r>
              <a:rPr lang="en-US" altLang="zh-CN" sz="2800" b="0" dirty="0">
                <a:latin typeface="华文新魏" pitchFamily="2" charset="-122"/>
                <a:ea typeface="华文新魏" pitchFamily="2" charset="-122"/>
              </a:rPr>
              <a:t>12</a:t>
            </a:r>
            <a:r>
              <a:rPr lang="zh-CN" altLang="en-US" sz="2800" b="0" dirty="0">
                <a:latin typeface="华文新魏" pitchFamily="2" charset="-122"/>
                <a:ea typeface="华文新魏" pitchFamily="2" charset="-122"/>
              </a:rPr>
              <a:t>月乘“阿波罗</a:t>
            </a:r>
            <a:r>
              <a:rPr lang="en-US" altLang="zh-CN" sz="2800" b="0" dirty="0">
                <a:latin typeface="华文新魏" pitchFamily="2" charset="-122"/>
                <a:ea typeface="华文新魏" pitchFamily="2" charset="-122"/>
              </a:rPr>
              <a:t>17</a:t>
            </a:r>
            <a:r>
              <a:rPr lang="zh-CN" altLang="en-US" sz="2800" b="0" dirty="0">
                <a:latin typeface="华文新魏" pitchFamily="2" charset="-122"/>
                <a:ea typeface="华文新魏" pitchFamily="2" charset="-122"/>
              </a:rPr>
              <a:t>号” 登月后，在月球上行走。</a:t>
            </a:r>
            <a:r>
              <a:rPr lang="zh-CN" altLang="en-US" sz="2800" b="0" dirty="0">
                <a:solidFill>
                  <a:srgbClr val="800000"/>
                </a:solidFill>
                <a:latin typeface="华文新魏" pitchFamily="2" charset="-122"/>
                <a:ea typeface="华文新魏"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8" name="Rectangle 8"/>
          <p:cNvSpPr>
            <a:spLocks noRot="1" noChangeArrowheads="1"/>
          </p:cNvSpPr>
          <p:nvPr/>
        </p:nvSpPr>
        <p:spPr bwMode="auto">
          <a:xfrm>
            <a:off x="1403350" y="188913"/>
            <a:ext cx="6624638" cy="998538"/>
          </a:xfrm>
          <a:prstGeom prst="rect">
            <a:avLst/>
          </a:prstGeom>
          <a:noFill/>
          <a:ln w="9525">
            <a:noFill/>
            <a:miter lim="800000"/>
          </a:ln>
          <a:effectLst/>
        </p:spPr>
        <p:txBody>
          <a:bodyPr anchor="ct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4">
                    <a:lumMod val="10000"/>
                  </a:schemeClr>
                </a:solidFill>
                <a:effectLst/>
                <a:uLnTx/>
                <a:uFillTx/>
                <a:latin typeface="华文新魏" pitchFamily="2" charset="-122"/>
                <a:ea typeface="华文新魏" pitchFamily="2" charset="-122"/>
                <a:cs typeface="+mn-cs"/>
              </a:rPr>
              <a:t>美国“发现”号航天飞机将退役</a:t>
            </a:r>
            <a:endParaRPr kumimoji="0" lang="en-US" altLang="zh-CN" sz="3600" b="1" i="0" u="none" strike="noStrike" kern="1200" cap="none" spc="0" normalizeH="0" baseline="0" noProof="0" dirty="0">
              <a:ln>
                <a:noFill/>
              </a:ln>
              <a:solidFill>
                <a:schemeClr val="accent4">
                  <a:lumMod val="10000"/>
                </a:schemeClr>
              </a:solidFill>
              <a:effectLst/>
              <a:uLnTx/>
              <a:uFillTx/>
              <a:latin typeface="华文新魏" pitchFamily="2" charset="-122"/>
              <a:ea typeface="华文新魏" pitchFamily="2" charset="-122"/>
              <a:cs typeface="+mn-cs"/>
            </a:endParaRPr>
          </a:p>
        </p:txBody>
      </p:sp>
      <p:sp>
        <p:nvSpPr>
          <p:cNvPr id="13315" name="Rectangle 9"/>
          <p:cNvSpPr txBox="1">
            <a:spLocks noRot="1"/>
          </p:cNvSpPr>
          <p:nvPr/>
        </p:nvSpPr>
        <p:spPr>
          <a:xfrm>
            <a:off x="2987675" y="1700213"/>
            <a:ext cx="5832475" cy="1152525"/>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lnSpc>
                <a:spcPct val="80000"/>
              </a:lnSpc>
              <a:buFont typeface="Wingdings" panose="05000000000000000000" pitchFamily="2" charset="2"/>
              <a:buChar char="l"/>
            </a:pPr>
            <a:r>
              <a:rPr lang="zh-CN" altLang="en-US" sz="2400" dirty="0">
                <a:latin typeface="Times New Roman" panose="02020603050405020304" pitchFamily="18" charset="0"/>
              </a:rPr>
              <a:t>“奋进”号执行完最后一次飞行任务后，美国航天飞机将全部退役。</a:t>
            </a:r>
            <a:r>
              <a:rPr lang="zh-CN" altLang="en-US" sz="2400" dirty="0">
                <a:solidFill>
                  <a:srgbClr val="800000"/>
                </a:solidFill>
                <a:latin typeface="Times New Roman" panose="02020603050405020304" pitchFamily="18" charset="0"/>
              </a:rPr>
              <a:t>？</a:t>
            </a:r>
            <a:endParaRPr lang="zh-CN" altLang="en-US" sz="2800" dirty="0">
              <a:solidFill>
                <a:srgbClr val="800000"/>
              </a:solidFill>
              <a:latin typeface="华文新魏" pitchFamily="2" charset="-122"/>
            </a:endParaRPr>
          </a:p>
          <a:p>
            <a:pPr marL="0" lvl="0" indent="0" eaLnBrk="1" hangingPunct="1">
              <a:lnSpc>
                <a:spcPct val="80000"/>
              </a:lnSpc>
              <a:buNone/>
            </a:pPr>
            <a:endParaRPr lang="zh-CN" altLang="en-US" sz="2400" b="0" dirty="0">
              <a:latin typeface="华文楷体" pitchFamily="2" charset="-122"/>
              <a:ea typeface="华文楷体" pitchFamily="2" charset="-122"/>
            </a:endParaRPr>
          </a:p>
          <a:p>
            <a:pPr marL="0" lvl="0" indent="0" eaLnBrk="1" hangingPunct="1">
              <a:lnSpc>
                <a:spcPct val="80000"/>
              </a:lnSpc>
              <a:buFont typeface="Wingdings" panose="05000000000000000000" pitchFamily="2" charset="2"/>
              <a:buChar char="l"/>
            </a:pPr>
            <a:endParaRPr lang="zh-CN" altLang="en-US" sz="2800" b="0" dirty="0">
              <a:latin typeface="华文新魏" pitchFamily="2" charset="-122"/>
              <a:ea typeface="华文新魏" pitchFamily="2" charset="-122"/>
            </a:endParaRPr>
          </a:p>
        </p:txBody>
      </p:sp>
      <p:pic>
        <p:nvPicPr>
          <p:cNvPr id="13316" name="图片 6" descr="D:\研究生\工程经济学助教\ppt\“发现”号航天飞机发射.jpg"/>
          <p:cNvPicPr>
            <a:picLocks noChangeAspect="1"/>
          </p:cNvPicPr>
          <p:nvPr/>
        </p:nvPicPr>
        <p:blipFill>
          <a:blip r:embed="rId2"/>
          <a:srcRect l="22935" t="6281" r="36070"/>
          <a:stretch>
            <a:fillRect/>
          </a:stretch>
        </p:blipFill>
        <p:spPr>
          <a:xfrm>
            <a:off x="34925" y="1412875"/>
            <a:ext cx="2736850" cy="4537075"/>
          </a:xfrm>
          <a:prstGeom prst="rect">
            <a:avLst/>
          </a:prstGeom>
          <a:noFill/>
          <a:ln w="9525">
            <a:noFill/>
          </a:ln>
        </p:spPr>
      </p:pic>
      <p:pic>
        <p:nvPicPr>
          <p:cNvPr id="13317" name="图片 7" descr="D:\研究生\工程经济学助教\ppt\“发现”号航天飞机着陆.jpg"/>
          <p:cNvPicPr>
            <a:picLocks noChangeAspect="1"/>
          </p:cNvPicPr>
          <p:nvPr/>
        </p:nvPicPr>
        <p:blipFill>
          <a:blip r:embed="rId3"/>
          <a:srcRect t="4166" r="14484" b="33035"/>
          <a:stretch>
            <a:fillRect/>
          </a:stretch>
        </p:blipFill>
        <p:spPr>
          <a:xfrm>
            <a:off x="2886075" y="3860800"/>
            <a:ext cx="5688013" cy="2492375"/>
          </a:xfrm>
          <a:prstGeom prst="rect">
            <a:avLst/>
          </a:prstGeom>
          <a:noFill/>
          <a:ln w="9525">
            <a:noFill/>
          </a:ln>
        </p:spPr>
      </p:pic>
      <p:sp>
        <p:nvSpPr>
          <p:cNvPr id="10" name="矩形 9"/>
          <p:cNvSpPr/>
          <p:nvPr/>
        </p:nvSpPr>
        <p:spPr>
          <a:xfrm>
            <a:off x="8574088" y="4292600"/>
            <a:ext cx="461963" cy="2500313"/>
          </a:xfrm>
          <a:prstGeom prst="rect">
            <a:avLst/>
          </a:prstGeom>
        </p:spPr>
        <p:txBody>
          <a:bodyPr vert="eaVe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10000"/>
                  </a:schemeClr>
                </a:solidFill>
                <a:effectLst/>
                <a:uLnTx/>
                <a:uFillTx/>
                <a:latin typeface="黑体" panose="02010609060101010101" pitchFamily="49" charset="-122"/>
                <a:ea typeface="黑体" panose="02010609060101010101" pitchFamily="49" charset="-122"/>
                <a:cs typeface="+mn-cs"/>
              </a:rPr>
              <a:t>“发现”号着陆</a:t>
            </a:r>
          </a:p>
        </p:txBody>
      </p:sp>
      <p:sp>
        <p:nvSpPr>
          <p:cNvPr id="11" name="矩形 10"/>
          <p:cNvSpPr/>
          <p:nvPr/>
        </p:nvSpPr>
        <p:spPr>
          <a:xfrm>
            <a:off x="250825" y="5949950"/>
            <a:ext cx="2376488" cy="368300"/>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10000"/>
                  </a:schemeClr>
                </a:solidFill>
                <a:effectLst/>
                <a:uLnTx/>
                <a:uFillTx/>
                <a:latin typeface="黑体" panose="02010609060101010101" pitchFamily="49" charset="-122"/>
                <a:ea typeface="黑体" panose="02010609060101010101" pitchFamily="49" charset="-122"/>
                <a:cs typeface="+mn-cs"/>
              </a:rPr>
              <a:t>“发现”号发射升空</a:t>
            </a:r>
          </a:p>
        </p:txBody>
      </p:sp>
      <p:sp>
        <p:nvSpPr>
          <p:cNvPr id="14" name="Rectangle 9"/>
          <p:cNvSpPr txBox="1">
            <a:spLocks noRot="1"/>
          </p:cNvSpPr>
          <p:nvPr/>
        </p:nvSpPr>
        <p:spPr>
          <a:xfrm>
            <a:off x="2987675" y="2363788"/>
            <a:ext cx="5184775" cy="647700"/>
          </a:xfrm>
          <a:prstGeom prst="rect">
            <a:avLst/>
          </a:prstGeom>
          <a:noFill/>
          <a:ln w="9525">
            <a:noFill/>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lnSpc>
                <a:spcPct val="80000"/>
              </a:lnSpc>
              <a:buFont typeface="Wingdings" panose="05000000000000000000" pitchFamily="2" charset="2"/>
              <a:buChar char="l"/>
            </a:pPr>
            <a:r>
              <a:rPr lang="zh-CN" altLang="en-US" sz="2400" dirty="0">
                <a:latin typeface="楷体_GB2312" pitchFamily="49" charset="-122"/>
              </a:rPr>
              <a:t> 研发预计</a:t>
            </a:r>
            <a:r>
              <a:rPr lang="en-US" altLang="zh-CN" sz="2400" dirty="0">
                <a:latin typeface="Times New Roman" panose="02020603050405020304" pitchFamily="18" charset="0"/>
                <a:ea typeface="宋体" panose="02010600030101010101" pitchFamily="2" charset="-122"/>
              </a:rPr>
              <a:t>60</a:t>
            </a:r>
            <a:r>
              <a:rPr lang="zh-CN" altLang="en-US" sz="2400" dirty="0">
                <a:latin typeface="Times New Roman" panose="02020603050405020304" pitchFamily="18" charset="0"/>
                <a:ea typeface="宋体" panose="02010600030101010101" pitchFamily="2" charset="-122"/>
              </a:rPr>
              <a:t>亿美元，实际</a:t>
            </a:r>
            <a:r>
              <a:rPr lang="en-US" altLang="zh-CN" sz="2400" dirty="0">
                <a:latin typeface="Times New Roman" panose="02020603050405020304" pitchFamily="18" charset="0"/>
                <a:ea typeface="宋体" panose="02010600030101010101" pitchFamily="2" charset="-122"/>
              </a:rPr>
              <a:t>89</a:t>
            </a:r>
            <a:r>
              <a:rPr lang="zh-CN" altLang="en-US" sz="2400" dirty="0">
                <a:latin typeface="Times New Roman" panose="02020603050405020304" pitchFamily="18" charset="0"/>
                <a:ea typeface="宋体" panose="02010600030101010101" pitchFamily="2" charset="-122"/>
              </a:rPr>
              <a:t>亿美元</a:t>
            </a:r>
          </a:p>
          <a:p>
            <a:pPr marL="0" lvl="0" indent="0" eaLnBrk="1" hangingPunct="1">
              <a:lnSpc>
                <a:spcPct val="80000"/>
              </a:lnSpc>
              <a:buFont typeface="Wingdings" panose="05000000000000000000" pitchFamily="2" charset="2"/>
              <a:buChar char="l"/>
            </a:pPr>
            <a:r>
              <a:rPr lang="zh-CN" altLang="en-US" sz="2400" dirty="0">
                <a:latin typeface="楷体_GB2312" pitchFamily="49" charset="-122"/>
              </a:rPr>
              <a:t>发射费用</a:t>
            </a:r>
            <a:r>
              <a:rPr lang="en-US" altLang="zh-CN" sz="2400" dirty="0">
                <a:latin typeface="楷体_GB2312" pitchFamily="49" charset="-122"/>
              </a:rPr>
              <a:t>2</a:t>
            </a:r>
            <a:r>
              <a:rPr lang="zh-CN" altLang="en-US" sz="2400" dirty="0">
                <a:latin typeface="楷体_GB2312" pitchFamily="49" charset="-122"/>
              </a:rPr>
              <a:t>亿美元，而最高补偿仅为</a:t>
            </a:r>
            <a:r>
              <a:rPr lang="en-US" altLang="zh-CN" sz="2400" dirty="0">
                <a:latin typeface="楷体_GB2312" pitchFamily="49" charset="-122"/>
              </a:rPr>
              <a:t>7100</a:t>
            </a:r>
            <a:r>
              <a:rPr lang="zh-CN" altLang="en-US" sz="2400" dirty="0">
                <a:latin typeface="楷体_GB2312" pitchFamily="49" charset="-122"/>
              </a:rPr>
              <a:t>万美元 </a:t>
            </a:r>
          </a:p>
          <a:p>
            <a:pPr marL="0" lvl="0" indent="0" eaLnBrk="1" hangingPunct="1">
              <a:lnSpc>
                <a:spcPct val="80000"/>
              </a:lnSpc>
              <a:buNone/>
            </a:pPr>
            <a:endParaRPr lang="zh-CN" altLang="en-US" sz="2400" dirty="0">
              <a:latin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ln/>
        </p:spPr>
        <p:txBody>
          <a:bodyPr vert="horz" wrap="square" lIns="91440" tIns="45720" rIns="91440" bIns="45720" anchor="ctr"/>
          <a:lstStyle/>
          <a:p>
            <a:pPr eaLnBrk="1" hangingPunct="1"/>
            <a:r>
              <a:rPr lang="zh-CN" altLang="en-US" dirty="0"/>
              <a:t>成本估算技术</a:t>
            </a:r>
          </a:p>
        </p:txBody>
      </p:sp>
      <p:sp>
        <p:nvSpPr>
          <p:cNvPr id="14339" name="Rectangle 3"/>
          <p:cNvSpPr>
            <a:spLocks noGrp="1"/>
          </p:cNvSpPr>
          <p:nvPr>
            <p:ph idx="1"/>
          </p:nvPr>
        </p:nvSpPr>
        <p:spPr>
          <a:ln/>
        </p:spPr>
        <p:txBody>
          <a:bodyPr vert="horz" wrap="square" lIns="91440" tIns="45720" rIns="91440" bIns="45720" anchor="t"/>
          <a:lstStyle/>
          <a:p>
            <a:pPr eaLnBrk="1" hangingPunct="1">
              <a:buNone/>
            </a:pPr>
            <a:r>
              <a:rPr lang="en-US" altLang="zh-CN" dirty="0"/>
              <a:t>1.Work breakdown structure (WBS)</a:t>
            </a:r>
          </a:p>
          <a:p>
            <a:pPr eaLnBrk="1" hangingPunct="1">
              <a:buNone/>
            </a:pPr>
            <a:r>
              <a:rPr lang="en-US" altLang="zh-CN" dirty="0"/>
              <a:t>2.</a:t>
            </a:r>
            <a:r>
              <a:rPr lang="zh-CN" altLang="en-US" dirty="0"/>
              <a:t>成本收入分类</a:t>
            </a:r>
          </a:p>
          <a:p>
            <a:pPr eaLnBrk="1" hangingPunct="1">
              <a:buNone/>
            </a:pPr>
            <a:r>
              <a:rPr lang="en-US" altLang="zh-CN" dirty="0"/>
              <a:t>3.</a:t>
            </a:r>
            <a:r>
              <a:rPr lang="zh-CN" altLang="en-US" dirty="0"/>
              <a:t>估算方法</a:t>
            </a:r>
            <a:r>
              <a:rPr lang="en-US" altLang="zh-CN" dirty="0"/>
              <a:t>(</a:t>
            </a:r>
            <a:r>
              <a:rPr lang="zh-CN" altLang="en-US" dirty="0"/>
              <a:t>模型</a:t>
            </a:r>
            <a:r>
              <a:rPr lang="en-US" altLang="zh-CN" dirty="0"/>
              <a:t>)</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ln/>
        </p:spPr>
        <p:txBody>
          <a:bodyPr vert="horz" wrap="square" lIns="91440" tIns="45720" rIns="91440" bIns="45720" anchor="ctr"/>
          <a:lstStyle/>
          <a:p>
            <a:pPr eaLnBrk="1" hangingPunct="1"/>
            <a:r>
              <a:rPr lang="en-AU" altLang="zh-CN" sz="4000" dirty="0"/>
              <a:t>1.Work Breakdown Structure (WBS)</a:t>
            </a:r>
            <a:endParaRPr lang="zh-CN" altLang="en-US" sz="4000" dirty="0"/>
          </a:p>
        </p:txBody>
      </p:sp>
      <p:sp>
        <p:nvSpPr>
          <p:cNvPr id="15363" name="Rectangle 3"/>
          <p:cNvSpPr>
            <a:spLocks noGrp="1"/>
          </p:cNvSpPr>
          <p:nvPr>
            <p:ph idx="1"/>
          </p:nvPr>
        </p:nvSpPr>
        <p:spPr>
          <a:ln/>
        </p:spPr>
        <p:txBody>
          <a:bodyPr vert="horz" wrap="square" lIns="91440" tIns="45720" rIns="91440" bIns="45720" anchor="t"/>
          <a:lstStyle/>
          <a:p>
            <a:pPr eaLnBrk="1" hangingPunct="1"/>
            <a:r>
              <a:rPr lang="en-US" altLang="zh-CN" dirty="0"/>
              <a:t>Subdividing the major project deliverables and project work into smaller, more manageable components</a:t>
            </a:r>
          </a:p>
          <a:p>
            <a:pPr eaLnBrk="1" hangingPunct="1"/>
            <a:r>
              <a:rPr lang="zh-CN" altLang="en-US" dirty="0"/>
              <a:t>将整个项目划分为相对独立的</a:t>
            </a:r>
            <a:r>
              <a:rPr lang="en-US" altLang="zh-CN" dirty="0"/>
              <a:t>,</a:t>
            </a:r>
            <a:r>
              <a:rPr lang="zh-CN" altLang="en-US" dirty="0"/>
              <a:t>易于管理的较小工作或活动对每一工作或活动做出较为详细的时间</a:t>
            </a:r>
            <a:r>
              <a:rPr lang="en-US" altLang="zh-CN" dirty="0"/>
              <a:t>,</a:t>
            </a:r>
            <a:r>
              <a:rPr lang="zh-CN" altLang="en-US" dirty="0"/>
              <a:t>费用估计</a:t>
            </a:r>
            <a:r>
              <a:rPr lang="en-US" altLang="zh-CN" dirty="0"/>
              <a:t>,</a:t>
            </a:r>
            <a:r>
              <a:rPr lang="zh-CN" altLang="en-US" dirty="0"/>
              <a:t>并进行资源分配</a:t>
            </a:r>
            <a:r>
              <a:rPr lang="en-US" altLang="zh-CN" dirty="0"/>
              <a:t>, </a:t>
            </a:r>
            <a:r>
              <a:rPr lang="zh-CN" altLang="en-US" dirty="0"/>
              <a:t>形成进度目标和费用目标</a:t>
            </a:r>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ln/>
        </p:spPr>
        <p:txBody>
          <a:bodyPr vert="horz" wrap="square" lIns="91440" tIns="45720" rIns="91440" bIns="45720" anchor="ctr"/>
          <a:lstStyle/>
          <a:p>
            <a:pPr eaLnBrk="1" hangingPunct="1"/>
            <a:r>
              <a:rPr lang="en-US" altLang="zh-CN" dirty="0"/>
              <a:t>WBS involving the activities</a:t>
            </a:r>
            <a:endParaRPr lang="zh-CN" altLang="en-US" dirty="0"/>
          </a:p>
        </p:txBody>
      </p:sp>
      <p:sp>
        <p:nvSpPr>
          <p:cNvPr id="16387" name="Rectangle 3"/>
          <p:cNvSpPr>
            <a:spLocks noGrp="1"/>
          </p:cNvSpPr>
          <p:nvPr>
            <p:ph idx="1"/>
          </p:nvPr>
        </p:nvSpPr>
        <p:spPr>
          <a:ln/>
        </p:spPr>
        <p:txBody>
          <a:bodyPr vert="horz" wrap="square" lIns="91440" tIns="45720" rIns="91440" bIns="45720" anchor="t"/>
          <a:lstStyle/>
          <a:p>
            <a:pPr eaLnBrk="1" hangingPunct="1"/>
            <a:r>
              <a:rPr lang="en-US" altLang="zh-CN" sz="3200" dirty="0"/>
              <a:t>Identifying the deliverables and related work</a:t>
            </a:r>
          </a:p>
          <a:p>
            <a:pPr eaLnBrk="1" hangingPunct="1"/>
            <a:r>
              <a:rPr lang="en-US" altLang="zh-CN" sz="3200" dirty="0"/>
              <a:t>Structuring and organizing the WBS</a:t>
            </a:r>
          </a:p>
          <a:p>
            <a:pPr eaLnBrk="1" hangingPunct="1"/>
            <a:r>
              <a:rPr lang="en-US" altLang="zh-CN" sz="3200" dirty="0"/>
              <a:t>Decomposing the upper WBS levels into lower level detailed components</a:t>
            </a:r>
          </a:p>
          <a:p>
            <a:pPr eaLnBrk="1" hangingPunct="1"/>
            <a:r>
              <a:rPr lang="en-US" altLang="zh-CN" sz="3200" dirty="0"/>
              <a:t>Developing and assigning identification codes to the WBS components</a:t>
            </a:r>
          </a:p>
          <a:p>
            <a:pPr eaLnBrk="1" hangingPunct="1"/>
            <a:r>
              <a:rPr lang="en-US" altLang="zh-CN" sz="3200" dirty="0"/>
              <a:t>Verifying that the degree of decomposition of the work is necessary and sufficient</a:t>
            </a:r>
          </a:p>
          <a:p>
            <a:pPr eaLnBrk="1" hangingPunct="1"/>
            <a:endParaRPr lang="zh-CN" altLang="en-US" sz="3200"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ln/>
        </p:spPr>
        <p:txBody>
          <a:bodyPr vert="horz" wrap="square" lIns="91440" tIns="45720" rIns="91440" bIns="45720" anchor="ctr"/>
          <a:lstStyle/>
          <a:p>
            <a:pPr eaLnBrk="1" hangingPunct="1"/>
            <a:endParaRPr lang="zh-CN" altLang="en-US" dirty="0"/>
          </a:p>
        </p:txBody>
      </p:sp>
      <p:sp>
        <p:nvSpPr>
          <p:cNvPr id="17411" name="Rectangle 3"/>
          <p:cNvSpPr>
            <a:spLocks noGrp="1"/>
          </p:cNvSpPr>
          <p:nvPr>
            <p:ph idx="1"/>
          </p:nvPr>
        </p:nvSpPr>
        <p:spPr>
          <a:ln/>
        </p:spPr>
        <p:txBody>
          <a:bodyPr vert="horz" wrap="square" lIns="91440" tIns="45720" rIns="91440" bIns="45720" anchor="t"/>
          <a:lstStyle/>
          <a:p>
            <a:pPr eaLnBrk="1" hangingPunct="1"/>
            <a:endParaRPr lang="zh-CN" altLang="en-US" dirty="0"/>
          </a:p>
        </p:txBody>
      </p:sp>
      <p:pic>
        <p:nvPicPr>
          <p:cNvPr id="17412" name="Picture 4" descr="eng work package"/>
          <p:cNvPicPr>
            <a:picLocks noChangeAspect="1"/>
          </p:cNvPicPr>
          <p:nvPr/>
        </p:nvPicPr>
        <p:blipFill>
          <a:blip r:embed="rId2"/>
          <a:stretch>
            <a:fillRect/>
          </a:stretch>
        </p:blipFill>
        <p:spPr>
          <a:xfrm>
            <a:off x="446088" y="0"/>
            <a:ext cx="8697912" cy="6272213"/>
          </a:xfrm>
          <a:prstGeom prst="rect">
            <a:avLst/>
          </a:prstGeom>
          <a:noFill/>
          <a:ln w="9525">
            <a:noFill/>
          </a:ln>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ln/>
        </p:spPr>
        <p:txBody>
          <a:bodyPr vert="horz" wrap="square" lIns="91440" tIns="45720" rIns="91440" bIns="45720" anchor="ctr"/>
          <a:lstStyle/>
          <a:p>
            <a:pPr eaLnBrk="1" hangingPunct="1"/>
            <a:endParaRPr lang="zh-CN" altLang="en-US" dirty="0"/>
          </a:p>
        </p:txBody>
      </p:sp>
      <p:sp>
        <p:nvSpPr>
          <p:cNvPr id="18435" name="Rectangle 3"/>
          <p:cNvSpPr>
            <a:spLocks noGrp="1"/>
          </p:cNvSpPr>
          <p:nvPr>
            <p:ph idx="1"/>
          </p:nvPr>
        </p:nvSpPr>
        <p:spPr>
          <a:ln/>
        </p:spPr>
        <p:txBody>
          <a:bodyPr vert="horz" wrap="square" lIns="91440" tIns="45720" rIns="91440" bIns="45720" anchor="t"/>
          <a:lstStyle/>
          <a:p>
            <a:pPr eaLnBrk="1" hangingPunct="1"/>
            <a:endParaRPr lang="zh-CN" altLang="en-US" dirty="0"/>
          </a:p>
        </p:txBody>
      </p:sp>
      <p:pic>
        <p:nvPicPr>
          <p:cNvPr id="18436" name="Picture 4"/>
          <p:cNvPicPr>
            <a:picLocks noChangeAspect="1"/>
          </p:cNvPicPr>
          <p:nvPr/>
        </p:nvPicPr>
        <p:blipFill>
          <a:blip r:embed="rId2"/>
          <a:srcRect l="10052" t="15010" r="8450" b="8643"/>
          <a:stretch>
            <a:fillRect/>
          </a:stretch>
        </p:blipFill>
        <p:spPr>
          <a:xfrm>
            <a:off x="0" y="0"/>
            <a:ext cx="9936163" cy="6858000"/>
          </a:xfrm>
          <a:prstGeom prst="rect">
            <a:avLst/>
          </a:prstGeom>
          <a:noFill/>
          <a:ln w="12700">
            <a:noFill/>
          </a:ln>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4"/>
          <p:cNvGrpSpPr/>
          <p:nvPr/>
        </p:nvGrpSpPr>
        <p:grpSpPr>
          <a:xfrm>
            <a:off x="914400" y="685800"/>
            <a:ext cx="7086600" cy="5588000"/>
            <a:chOff x="576" y="432"/>
            <a:chExt cx="4464" cy="3520"/>
          </a:xfrm>
        </p:grpSpPr>
        <p:sp>
          <p:nvSpPr>
            <p:cNvPr id="19459" name="Text Box 5"/>
            <p:cNvSpPr txBox="1"/>
            <p:nvPr/>
          </p:nvSpPr>
          <p:spPr>
            <a:xfrm>
              <a:off x="2177" y="432"/>
              <a:ext cx="1019"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1800" dirty="0">
                  <a:latin typeface="Times New Roman" panose="02020603050405020304" pitchFamily="18" charset="0"/>
                  <a:ea typeface="宋体" panose="02010600030101010101" pitchFamily="2" charset="-122"/>
                </a:rPr>
                <a:t>软件产品</a:t>
              </a:r>
            </a:p>
          </p:txBody>
        </p:sp>
        <p:sp>
          <p:nvSpPr>
            <p:cNvPr id="19460" name="Text Box 6"/>
            <p:cNvSpPr txBox="1"/>
            <p:nvPr/>
          </p:nvSpPr>
          <p:spPr>
            <a:xfrm>
              <a:off x="576" y="1056"/>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项目</a:t>
              </a:r>
            </a:p>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管理</a:t>
              </a:r>
            </a:p>
          </p:txBody>
        </p:sp>
        <p:sp>
          <p:nvSpPr>
            <p:cNvPr id="19461" name="Text Box 7"/>
            <p:cNvSpPr txBox="1"/>
            <p:nvPr/>
          </p:nvSpPr>
          <p:spPr>
            <a:xfrm>
              <a:off x="1401" y="1056"/>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需求调查</a:t>
              </a:r>
            </a:p>
          </p:txBody>
        </p:sp>
        <p:sp>
          <p:nvSpPr>
            <p:cNvPr id="19462" name="Text Box 8"/>
            <p:cNvSpPr txBox="1"/>
            <p:nvPr/>
          </p:nvSpPr>
          <p:spPr>
            <a:xfrm>
              <a:off x="2323" y="1056"/>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系统设计</a:t>
              </a:r>
            </a:p>
          </p:txBody>
        </p:sp>
        <p:sp>
          <p:nvSpPr>
            <p:cNvPr id="19463" name="Text Box 9"/>
            <p:cNvSpPr txBox="1"/>
            <p:nvPr/>
          </p:nvSpPr>
          <p:spPr>
            <a:xfrm>
              <a:off x="4215" y="1056"/>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培训转轨</a:t>
              </a:r>
            </a:p>
          </p:txBody>
        </p:sp>
        <p:sp>
          <p:nvSpPr>
            <p:cNvPr id="19464" name="Text Box 10"/>
            <p:cNvSpPr txBox="1"/>
            <p:nvPr/>
          </p:nvSpPr>
          <p:spPr>
            <a:xfrm>
              <a:off x="3293" y="1056"/>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制作</a:t>
              </a:r>
              <a:r>
                <a:rPr lang="en-US" altLang="zh-CN"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rPr>
                <a:t>测验</a:t>
              </a:r>
            </a:p>
          </p:txBody>
        </p:sp>
        <p:sp>
          <p:nvSpPr>
            <p:cNvPr id="19465" name="Text Box 11"/>
            <p:cNvSpPr txBox="1"/>
            <p:nvPr/>
          </p:nvSpPr>
          <p:spPr>
            <a:xfrm>
              <a:off x="673" y="1680"/>
              <a:ext cx="485"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工期</a:t>
              </a:r>
            </a:p>
          </p:txBody>
        </p:sp>
        <p:sp>
          <p:nvSpPr>
            <p:cNvPr id="19466" name="Text Box 12"/>
            <p:cNvSpPr txBox="1"/>
            <p:nvPr/>
          </p:nvSpPr>
          <p:spPr>
            <a:xfrm>
              <a:off x="673" y="2160"/>
              <a:ext cx="485"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质量</a:t>
              </a:r>
            </a:p>
          </p:txBody>
        </p:sp>
        <p:sp>
          <p:nvSpPr>
            <p:cNvPr id="19467" name="Text Box 13"/>
            <p:cNvSpPr txBox="1"/>
            <p:nvPr/>
          </p:nvSpPr>
          <p:spPr>
            <a:xfrm>
              <a:off x="672" y="2640"/>
              <a:ext cx="485"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成本</a:t>
              </a:r>
            </a:p>
          </p:txBody>
        </p:sp>
        <p:sp>
          <p:nvSpPr>
            <p:cNvPr id="19468" name="Text Box 14"/>
            <p:cNvSpPr txBox="1"/>
            <p:nvPr/>
          </p:nvSpPr>
          <p:spPr>
            <a:xfrm>
              <a:off x="1498" y="172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业主调查</a:t>
              </a:r>
            </a:p>
          </p:txBody>
        </p:sp>
        <p:sp>
          <p:nvSpPr>
            <p:cNvPr id="19469" name="Text Box 15"/>
            <p:cNvSpPr txBox="1"/>
            <p:nvPr/>
          </p:nvSpPr>
          <p:spPr>
            <a:xfrm>
              <a:off x="1498" y="220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用户调查</a:t>
              </a:r>
            </a:p>
          </p:txBody>
        </p:sp>
        <p:sp>
          <p:nvSpPr>
            <p:cNvPr id="19470" name="Text Box 16"/>
            <p:cNvSpPr txBox="1"/>
            <p:nvPr/>
          </p:nvSpPr>
          <p:spPr>
            <a:xfrm>
              <a:off x="1498" y="268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结果分析</a:t>
              </a:r>
            </a:p>
          </p:txBody>
        </p:sp>
        <p:sp>
          <p:nvSpPr>
            <p:cNvPr id="19471" name="Text Box 17"/>
            <p:cNvSpPr txBox="1"/>
            <p:nvPr/>
          </p:nvSpPr>
          <p:spPr>
            <a:xfrm>
              <a:off x="2420" y="172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逻辑设计</a:t>
              </a:r>
            </a:p>
          </p:txBody>
        </p:sp>
        <p:sp>
          <p:nvSpPr>
            <p:cNvPr id="19472" name="Text Box 18"/>
            <p:cNvSpPr txBox="1"/>
            <p:nvPr/>
          </p:nvSpPr>
          <p:spPr>
            <a:xfrm>
              <a:off x="2420" y="220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物理设计</a:t>
              </a:r>
            </a:p>
          </p:txBody>
        </p:sp>
        <p:sp>
          <p:nvSpPr>
            <p:cNvPr id="19473" name="Text Box 19"/>
            <p:cNvSpPr txBox="1"/>
            <p:nvPr/>
          </p:nvSpPr>
          <p:spPr>
            <a:xfrm>
              <a:off x="2420" y="268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总体设计</a:t>
              </a:r>
            </a:p>
          </p:txBody>
        </p:sp>
        <p:sp>
          <p:nvSpPr>
            <p:cNvPr id="19474" name="Text Box 20"/>
            <p:cNvSpPr txBox="1"/>
            <p:nvPr/>
          </p:nvSpPr>
          <p:spPr>
            <a:xfrm>
              <a:off x="3439" y="172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模块编程</a:t>
              </a:r>
            </a:p>
          </p:txBody>
        </p:sp>
        <p:sp>
          <p:nvSpPr>
            <p:cNvPr id="19475" name="Text Box 21"/>
            <p:cNvSpPr txBox="1"/>
            <p:nvPr/>
          </p:nvSpPr>
          <p:spPr>
            <a:xfrm>
              <a:off x="3439" y="220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系统集成</a:t>
              </a:r>
            </a:p>
          </p:txBody>
        </p:sp>
        <p:sp>
          <p:nvSpPr>
            <p:cNvPr id="19476" name="Text Box 22"/>
            <p:cNvSpPr txBox="1"/>
            <p:nvPr/>
          </p:nvSpPr>
          <p:spPr>
            <a:xfrm>
              <a:off x="3439" y="268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各种测试</a:t>
              </a:r>
            </a:p>
          </p:txBody>
        </p:sp>
        <p:sp>
          <p:nvSpPr>
            <p:cNvPr id="19477" name="Text Box 23"/>
            <p:cNvSpPr txBox="1"/>
            <p:nvPr/>
          </p:nvSpPr>
          <p:spPr>
            <a:xfrm>
              <a:off x="4312" y="172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软件手册</a:t>
              </a:r>
            </a:p>
          </p:txBody>
        </p:sp>
        <p:sp>
          <p:nvSpPr>
            <p:cNvPr id="19478" name="Text Box 24"/>
            <p:cNvSpPr txBox="1"/>
            <p:nvPr/>
          </p:nvSpPr>
          <p:spPr>
            <a:xfrm>
              <a:off x="4312" y="220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用户文件</a:t>
              </a:r>
            </a:p>
          </p:txBody>
        </p:sp>
        <p:sp>
          <p:nvSpPr>
            <p:cNvPr id="19479" name="Text Box 25"/>
            <p:cNvSpPr txBox="1"/>
            <p:nvPr/>
          </p:nvSpPr>
          <p:spPr>
            <a:xfrm>
              <a:off x="4312" y="2688"/>
              <a:ext cx="485" cy="410"/>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培训转轨</a:t>
              </a:r>
            </a:p>
          </p:txBody>
        </p:sp>
        <p:sp>
          <p:nvSpPr>
            <p:cNvPr id="19480" name="Line 26"/>
            <p:cNvSpPr/>
            <p:nvPr/>
          </p:nvSpPr>
          <p:spPr>
            <a:xfrm>
              <a:off x="2565" y="672"/>
              <a:ext cx="0" cy="384"/>
            </a:xfrm>
            <a:prstGeom prst="line">
              <a:avLst/>
            </a:prstGeom>
            <a:ln w="9525" cap="flat" cmpd="sng">
              <a:solidFill>
                <a:srgbClr val="000000"/>
              </a:solidFill>
              <a:prstDash val="solid"/>
              <a:headEnd type="none" w="med" len="med"/>
              <a:tailEnd type="none" w="med" len="med"/>
            </a:ln>
          </p:spPr>
        </p:sp>
        <p:sp>
          <p:nvSpPr>
            <p:cNvPr id="19481" name="Line 27"/>
            <p:cNvSpPr/>
            <p:nvPr/>
          </p:nvSpPr>
          <p:spPr>
            <a:xfrm flipV="1">
              <a:off x="819" y="912"/>
              <a:ext cx="0" cy="144"/>
            </a:xfrm>
            <a:prstGeom prst="line">
              <a:avLst/>
            </a:prstGeom>
            <a:ln w="9525" cap="flat" cmpd="sng">
              <a:solidFill>
                <a:srgbClr val="000000"/>
              </a:solidFill>
              <a:prstDash val="solid"/>
              <a:headEnd type="none" w="med" len="med"/>
              <a:tailEnd type="none" w="med" len="med"/>
            </a:ln>
          </p:spPr>
        </p:sp>
        <p:sp>
          <p:nvSpPr>
            <p:cNvPr id="19482" name="Line 28"/>
            <p:cNvSpPr/>
            <p:nvPr/>
          </p:nvSpPr>
          <p:spPr>
            <a:xfrm>
              <a:off x="819" y="912"/>
              <a:ext cx="3638" cy="0"/>
            </a:xfrm>
            <a:prstGeom prst="line">
              <a:avLst/>
            </a:prstGeom>
            <a:ln w="9525" cap="flat" cmpd="sng">
              <a:solidFill>
                <a:srgbClr val="000000"/>
              </a:solidFill>
              <a:prstDash val="solid"/>
              <a:headEnd type="none" w="med" len="med"/>
              <a:tailEnd type="none" w="med" len="med"/>
            </a:ln>
          </p:spPr>
        </p:sp>
        <p:sp>
          <p:nvSpPr>
            <p:cNvPr id="19483" name="Line 29"/>
            <p:cNvSpPr/>
            <p:nvPr/>
          </p:nvSpPr>
          <p:spPr>
            <a:xfrm>
              <a:off x="4457" y="912"/>
              <a:ext cx="0" cy="144"/>
            </a:xfrm>
            <a:prstGeom prst="line">
              <a:avLst/>
            </a:prstGeom>
            <a:ln w="9525" cap="flat" cmpd="sng">
              <a:solidFill>
                <a:srgbClr val="000000"/>
              </a:solidFill>
              <a:prstDash val="solid"/>
              <a:headEnd type="none" w="med" len="med"/>
              <a:tailEnd type="none" w="med" len="med"/>
            </a:ln>
          </p:spPr>
        </p:sp>
        <p:sp>
          <p:nvSpPr>
            <p:cNvPr id="19484" name="Line 30"/>
            <p:cNvSpPr/>
            <p:nvPr/>
          </p:nvSpPr>
          <p:spPr>
            <a:xfrm>
              <a:off x="1643" y="912"/>
              <a:ext cx="0" cy="144"/>
            </a:xfrm>
            <a:prstGeom prst="line">
              <a:avLst/>
            </a:prstGeom>
            <a:ln w="9525" cap="flat" cmpd="sng">
              <a:solidFill>
                <a:srgbClr val="000000"/>
              </a:solidFill>
              <a:prstDash val="solid"/>
              <a:headEnd type="none" w="med" len="med"/>
              <a:tailEnd type="none" w="med" len="med"/>
            </a:ln>
          </p:spPr>
        </p:sp>
        <p:sp>
          <p:nvSpPr>
            <p:cNvPr id="19485" name="Line 31"/>
            <p:cNvSpPr/>
            <p:nvPr/>
          </p:nvSpPr>
          <p:spPr>
            <a:xfrm>
              <a:off x="3536" y="912"/>
              <a:ext cx="0" cy="144"/>
            </a:xfrm>
            <a:prstGeom prst="line">
              <a:avLst/>
            </a:prstGeom>
            <a:ln w="9525" cap="flat" cmpd="sng">
              <a:solidFill>
                <a:srgbClr val="000000"/>
              </a:solidFill>
              <a:prstDash val="solid"/>
              <a:headEnd type="none" w="med" len="med"/>
              <a:tailEnd type="none" w="med" len="med"/>
            </a:ln>
          </p:spPr>
        </p:sp>
        <p:sp>
          <p:nvSpPr>
            <p:cNvPr id="19486" name="Line 32"/>
            <p:cNvSpPr/>
            <p:nvPr/>
          </p:nvSpPr>
          <p:spPr>
            <a:xfrm>
              <a:off x="576" y="1440"/>
              <a:ext cx="0" cy="1680"/>
            </a:xfrm>
            <a:prstGeom prst="line">
              <a:avLst/>
            </a:prstGeom>
            <a:ln w="9525" cap="flat" cmpd="sng">
              <a:solidFill>
                <a:srgbClr val="000000"/>
              </a:solidFill>
              <a:prstDash val="solid"/>
              <a:headEnd type="none" w="med" len="med"/>
              <a:tailEnd type="none" w="med" len="med"/>
            </a:ln>
          </p:spPr>
        </p:sp>
        <p:sp>
          <p:nvSpPr>
            <p:cNvPr id="19487" name="Line 33"/>
            <p:cNvSpPr/>
            <p:nvPr/>
          </p:nvSpPr>
          <p:spPr>
            <a:xfrm>
              <a:off x="576" y="2736"/>
              <a:ext cx="97" cy="0"/>
            </a:xfrm>
            <a:prstGeom prst="line">
              <a:avLst/>
            </a:prstGeom>
            <a:ln w="9525" cap="flat" cmpd="sng">
              <a:solidFill>
                <a:srgbClr val="000000"/>
              </a:solidFill>
              <a:prstDash val="solid"/>
              <a:headEnd type="none" w="med" len="med"/>
              <a:tailEnd type="none" w="med" len="med"/>
            </a:ln>
          </p:spPr>
        </p:sp>
        <p:sp>
          <p:nvSpPr>
            <p:cNvPr id="19488" name="Line 34"/>
            <p:cNvSpPr/>
            <p:nvPr/>
          </p:nvSpPr>
          <p:spPr>
            <a:xfrm>
              <a:off x="576" y="2304"/>
              <a:ext cx="97" cy="0"/>
            </a:xfrm>
            <a:prstGeom prst="line">
              <a:avLst/>
            </a:prstGeom>
            <a:ln w="9525" cap="flat" cmpd="sng">
              <a:solidFill>
                <a:srgbClr val="000000"/>
              </a:solidFill>
              <a:prstDash val="solid"/>
              <a:headEnd type="none" w="med" len="med"/>
              <a:tailEnd type="none" w="med" len="med"/>
            </a:ln>
          </p:spPr>
        </p:sp>
        <p:sp>
          <p:nvSpPr>
            <p:cNvPr id="19489" name="Line 35"/>
            <p:cNvSpPr/>
            <p:nvPr/>
          </p:nvSpPr>
          <p:spPr>
            <a:xfrm>
              <a:off x="576" y="1824"/>
              <a:ext cx="97" cy="0"/>
            </a:xfrm>
            <a:prstGeom prst="line">
              <a:avLst/>
            </a:prstGeom>
            <a:ln w="9525" cap="flat" cmpd="sng">
              <a:solidFill>
                <a:srgbClr val="000000"/>
              </a:solidFill>
              <a:prstDash val="solid"/>
              <a:headEnd type="none" w="med" len="med"/>
              <a:tailEnd type="none" w="med" len="med"/>
            </a:ln>
          </p:spPr>
        </p:sp>
        <p:sp>
          <p:nvSpPr>
            <p:cNvPr id="19490" name="Line 36"/>
            <p:cNvSpPr/>
            <p:nvPr/>
          </p:nvSpPr>
          <p:spPr>
            <a:xfrm>
              <a:off x="1401" y="1440"/>
              <a:ext cx="0" cy="1296"/>
            </a:xfrm>
            <a:prstGeom prst="line">
              <a:avLst/>
            </a:prstGeom>
            <a:ln w="9525" cap="flat" cmpd="sng">
              <a:solidFill>
                <a:srgbClr val="000000"/>
              </a:solidFill>
              <a:prstDash val="solid"/>
              <a:headEnd type="none" w="med" len="med"/>
              <a:tailEnd type="none" w="med" len="med"/>
            </a:ln>
          </p:spPr>
        </p:sp>
        <p:sp>
          <p:nvSpPr>
            <p:cNvPr id="19491" name="Line 37"/>
            <p:cNvSpPr/>
            <p:nvPr/>
          </p:nvSpPr>
          <p:spPr>
            <a:xfrm>
              <a:off x="1401" y="2736"/>
              <a:ext cx="97" cy="0"/>
            </a:xfrm>
            <a:prstGeom prst="line">
              <a:avLst/>
            </a:prstGeom>
            <a:ln w="9525" cap="flat" cmpd="sng">
              <a:solidFill>
                <a:srgbClr val="000000"/>
              </a:solidFill>
              <a:prstDash val="solid"/>
              <a:headEnd type="none" w="med" len="med"/>
              <a:tailEnd type="none" w="med" len="med"/>
            </a:ln>
          </p:spPr>
        </p:sp>
        <p:sp>
          <p:nvSpPr>
            <p:cNvPr id="19492" name="Line 38"/>
            <p:cNvSpPr/>
            <p:nvPr/>
          </p:nvSpPr>
          <p:spPr>
            <a:xfrm>
              <a:off x="1401" y="2304"/>
              <a:ext cx="97" cy="0"/>
            </a:xfrm>
            <a:prstGeom prst="line">
              <a:avLst/>
            </a:prstGeom>
            <a:ln w="9525" cap="flat" cmpd="sng">
              <a:solidFill>
                <a:srgbClr val="000000"/>
              </a:solidFill>
              <a:prstDash val="solid"/>
              <a:headEnd type="none" w="med" len="med"/>
              <a:tailEnd type="none" w="med" len="med"/>
            </a:ln>
          </p:spPr>
        </p:sp>
        <p:sp>
          <p:nvSpPr>
            <p:cNvPr id="19493" name="Line 39"/>
            <p:cNvSpPr/>
            <p:nvPr/>
          </p:nvSpPr>
          <p:spPr>
            <a:xfrm>
              <a:off x="1401" y="1824"/>
              <a:ext cx="97" cy="0"/>
            </a:xfrm>
            <a:prstGeom prst="line">
              <a:avLst/>
            </a:prstGeom>
            <a:ln w="9525" cap="flat" cmpd="sng">
              <a:solidFill>
                <a:srgbClr val="000000"/>
              </a:solidFill>
              <a:prstDash val="solid"/>
              <a:headEnd type="none" w="med" len="med"/>
              <a:tailEnd type="none" w="med" len="med"/>
            </a:ln>
          </p:spPr>
        </p:sp>
        <p:sp>
          <p:nvSpPr>
            <p:cNvPr id="19494" name="Line 40"/>
            <p:cNvSpPr/>
            <p:nvPr/>
          </p:nvSpPr>
          <p:spPr>
            <a:xfrm>
              <a:off x="2323" y="1440"/>
              <a:ext cx="0" cy="1344"/>
            </a:xfrm>
            <a:prstGeom prst="line">
              <a:avLst/>
            </a:prstGeom>
            <a:ln w="9525" cap="flat" cmpd="sng">
              <a:solidFill>
                <a:srgbClr val="000000"/>
              </a:solidFill>
              <a:prstDash val="solid"/>
              <a:headEnd type="none" w="med" len="med"/>
              <a:tailEnd type="none" w="med" len="med"/>
            </a:ln>
          </p:spPr>
        </p:sp>
        <p:sp>
          <p:nvSpPr>
            <p:cNvPr id="19495" name="Line 41"/>
            <p:cNvSpPr/>
            <p:nvPr/>
          </p:nvSpPr>
          <p:spPr>
            <a:xfrm>
              <a:off x="2323" y="2784"/>
              <a:ext cx="97" cy="0"/>
            </a:xfrm>
            <a:prstGeom prst="line">
              <a:avLst/>
            </a:prstGeom>
            <a:ln w="9525" cap="flat" cmpd="sng">
              <a:solidFill>
                <a:srgbClr val="000000"/>
              </a:solidFill>
              <a:prstDash val="solid"/>
              <a:headEnd type="none" w="med" len="med"/>
              <a:tailEnd type="none" w="med" len="med"/>
            </a:ln>
          </p:spPr>
        </p:sp>
        <p:sp>
          <p:nvSpPr>
            <p:cNvPr id="19496" name="Line 42"/>
            <p:cNvSpPr/>
            <p:nvPr/>
          </p:nvSpPr>
          <p:spPr>
            <a:xfrm>
              <a:off x="2323" y="2304"/>
              <a:ext cx="97" cy="0"/>
            </a:xfrm>
            <a:prstGeom prst="line">
              <a:avLst/>
            </a:prstGeom>
            <a:ln w="9525" cap="flat" cmpd="sng">
              <a:solidFill>
                <a:srgbClr val="000000"/>
              </a:solidFill>
              <a:prstDash val="solid"/>
              <a:headEnd type="none" w="med" len="med"/>
              <a:tailEnd type="none" w="med" len="med"/>
            </a:ln>
          </p:spPr>
        </p:sp>
        <p:sp>
          <p:nvSpPr>
            <p:cNvPr id="19497" name="Line 43"/>
            <p:cNvSpPr/>
            <p:nvPr/>
          </p:nvSpPr>
          <p:spPr>
            <a:xfrm>
              <a:off x="2323" y="1824"/>
              <a:ext cx="97" cy="0"/>
            </a:xfrm>
            <a:prstGeom prst="line">
              <a:avLst/>
            </a:prstGeom>
            <a:ln w="9525" cap="flat" cmpd="sng">
              <a:solidFill>
                <a:srgbClr val="000000"/>
              </a:solidFill>
              <a:prstDash val="solid"/>
              <a:headEnd type="none" w="med" len="med"/>
              <a:tailEnd type="none" w="med" len="med"/>
            </a:ln>
          </p:spPr>
        </p:sp>
        <p:sp>
          <p:nvSpPr>
            <p:cNvPr id="19498" name="Line 44"/>
            <p:cNvSpPr/>
            <p:nvPr/>
          </p:nvSpPr>
          <p:spPr>
            <a:xfrm>
              <a:off x="3293" y="1296"/>
              <a:ext cx="0" cy="1536"/>
            </a:xfrm>
            <a:prstGeom prst="line">
              <a:avLst/>
            </a:prstGeom>
            <a:ln w="9525" cap="flat" cmpd="sng">
              <a:solidFill>
                <a:srgbClr val="000000"/>
              </a:solidFill>
              <a:prstDash val="solid"/>
              <a:headEnd type="none" w="med" len="med"/>
              <a:tailEnd type="none" w="med" len="med"/>
            </a:ln>
          </p:spPr>
        </p:sp>
        <p:sp>
          <p:nvSpPr>
            <p:cNvPr id="19499" name="Line 45"/>
            <p:cNvSpPr/>
            <p:nvPr/>
          </p:nvSpPr>
          <p:spPr>
            <a:xfrm>
              <a:off x="3293" y="1824"/>
              <a:ext cx="146" cy="0"/>
            </a:xfrm>
            <a:prstGeom prst="line">
              <a:avLst/>
            </a:prstGeom>
            <a:ln w="9525" cap="flat" cmpd="sng">
              <a:solidFill>
                <a:srgbClr val="000000"/>
              </a:solidFill>
              <a:prstDash val="solid"/>
              <a:headEnd type="none" w="med" len="med"/>
              <a:tailEnd type="none" w="med" len="med"/>
            </a:ln>
          </p:spPr>
        </p:sp>
        <p:sp>
          <p:nvSpPr>
            <p:cNvPr id="19500" name="Line 46"/>
            <p:cNvSpPr/>
            <p:nvPr/>
          </p:nvSpPr>
          <p:spPr>
            <a:xfrm>
              <a:off x="3293" y="2304"/>
              <a:ext cx="146" cy="0"/>
            </a:xfrm>
            <a:prstGeom prst="line">
              <a:avLst/>
            </a:prstGeom>
            <a:ln w="9525" cap="flat" cmpd="sng">
              <a:solidFill>
                <a:srgbClr val="000000"/>
              </a:solidFill>
              <a:prstDash val="solid"/>
              <a:headEnd type="none" w="med" len="med"/>
              <a:tailEnd type="none" w="med" len="med"/>
            </a:ln>
          </p:spPr>
        </p:sp>
        <p:sp>
          <p:nvSpPr>
            <p:cNvPr id="19501" name="Line 47"/>
            <p:cNvSpPr/>
            <p:nvPr/>
          </p:nvSpPr>
          <p:spPr>
            <a:xfrm>
              <a:off x="4215" y="1440"/>
              <a:ext cx="0" cy="1344"/>
            </a:xfrm>
            <a:prstGeom prst="line">
              <a:avLst/>
            </a:prstGeom>
            <a:ln w="9525" cap="flat" cmpd="sng">
              <a:solidFill>
                <a:srgbClr val="000000"/>
              </a:solidFill>
              <a:prstDash val="solid"/>
              <a:headEnd type="none" w="med" len="med"/>
              <a:tailEnd type="none" w="med" len="med"/>
            </a:ln>
          </p:spPr>
        </p:sp>
        <p:sp>
          <p:nvSpPr>
            <p:cNvPr id="19502" name="Line 48"/>
            <p:cNvSpPr/>
            <p:nvPr/>
          </p:nvSpPr>
          <p:spPr>
            <a:xfrm>
              <a:off x="4215" y="2304"/>
              <a:ext cx="97" cy="0"/>
            </a:xfrm>
            <a:prstGeom prst="line">
              <a:avLst/>
            </a:prstGeom>
            <a:ln w="9525" cap="flat" cmpd="sng">
              <a:solidFill>
                <a:srgbClr val="000000"/>
              </a:solidFill>
              <a:prstDash val="solid"/>
              <a:headEnd type="none" w="med" len="med"/>
              <a:tailEnd type="none" w="med" len="med"/>
            </a:ln>
          </p:spPr>
        </p:sp>
        <p:sp>
          <p:nvSpPr>
            <p:cNvPr id="19503" name="Line 49"/>
            <p:cNvSpPr/>
            <p:nvPr/>
          </p:nvSpPr>
          <p:spPr>
            <a:xfrm>
              <a:off x="4215" y="1824"/>
              <a:ext cx="97" cy="0"/>
            </a:xfrm>
            <a:prstGeom prst="line">
              <a:avLst/>
            </a:prstGeom>
            <a:ln w="9525" cap="flat" cmpd="sng">
              <a:solidFill>
                <a:srgbClr val="000000"/>
              </a:solidFill>
              <a:prstDash val="solid"/>
              <a:headEnd type="none" w="med" len="med"/>
              <a:tailEnd type="none" w="med" len="med"/>
            </a:ln>
          </p:spPr>
        </p:sp>
        <p:sp>
          <p:nvSpPr>
            <p:cNvPr id="19504" name="Line 50"/>
            <p:cNvSpPr/>
            <p:nvPr/>
          </p:nvSpPr>
          <p:spPr>
            <a:xfrm>
              <a:off x="4215" y="2784"/>
              <a:ext cx="97" cy="0"/>
            </a:xfrm>
            <a:prstGeom prst="line">
              <a:avLst/>
            </a:prstGeom>
            <a:ln w="9525" cap="flat" cmpd="sng">
              <a:solidFill>
                <a:srgbClr val="000000"/>
              </a:solidFill>
              <a:prstDash val="solid"/>
              <a:headEnd type="none" w="med" len="med"/>
              <a:tailEnd type="none" w="med" len="med"/>
            </a:ln>
          </p:spPr>
        </p:sp>
        <p:sp>
          <p:nvSpPr>
            <p:cNvPr id="19505" name="Line 51"/>
            <p:cNvSpPr/>
            <p:nvPr/>
          </p:nvSpPr>
          <p:spPr>
            <a:xfrm>
              <a:off x="3293" y="2784"/>
              <a:ext cx="146" cy="0"/>
            </a:xfrm>
            <a:prstGeom prst="line">
              <a:avLst/>
            </a:prstGeom>
            <a:ln w="9525" cap="flat" cmpd="sng">
              <a:solidFill>
                <a:srgbClr val="000000"/>
              </a:solidFill>
              <a:prstDash val="solid"/>
              <a:headEnd type="none" w="med" len="med"/>
              <a:tailEnd type="none" w="med" len="med"/>
            </a:ln>
          </p:spPr>
        </p:sp>
        <p:sp>
          <p:nvSpPr>
            <p:cNvPr id="19506" name="Text Box 52"/>
            <p:cNvSpPr txBox="1"/>
            <p:nvPr/>
          </p:nvSpPr>
          <p:spPr>
            <a:xfrm>
              <a:off x="867" y="3504"/>
              <a:ext cx="4173" cy="448"/>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2000" dirty="0">
                  <a:latin typeface="Times New Roman" panose="02020603050405020304" pitchFamily="18" charset="0"/>
                  <a:ea typeface="宋体" panose="02010600030101010101" pitchFamily="2" charset="-122"/>
                </a:rPr>
                <a:t>使用工作分解结构模板编制的项目工作分解结构实例</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戚安邦</a:t>
              </a:r>
              <a:r>
                <a:rPr lang="en-US" altLang="zh-CN" sz="2000" dirty="0">
                  <a:latin typeface="Times New Roman" panose="02020603050405020304" pitchFamily="18" charset="0"/>
                  <a:ea typeface="宋体" panose="02010600030101010101" pitchFamily="2" charset="-122"/>
                </a:rPr>
                <a:t>2008)</a:t>
              </a:r>
            </a:p>
          </p:txBody>
        </p:sp>
        <p:sp>
          <p:nvSpPr>
            <p:cNvPr id="19507" name="Text Box 53"/>
            <p:cNvSpPr txBox="1"/>
            <p:nvPr/>
          </p:nvSpPr>
          <p:spPr>
            <a:xfrm>
              <a:off x="672" y="3072"/>
              <a:ext cx="485"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集成</a:t>
              </a:r>
            </a:p>
          </p:txBody>
        </p:sp>
        <p:sp>
          <p:nvSpPr>
            <p:cNvPr id="19508" name="Line 54"/>
            <p:cNvSpPr/>
            <p:nvPr/>
          </p:nvSpPr>
          <p:spPr>
            <a:xfrm>
              <a:off x="576" y="3120"/>
              <a:ext cx="97" cy="0"/>
            </a:xfrm>
            <a:prstGeom prst="line">
              <a:avLst/>
            </a:prstGeom>
            <a:ln w="9525" cap="flat" cmpd="sng">
              <a:solidFill>
                <a:srgbClr val="000000"/>
              </a:solidFill>
              <a:prstDash val="solid"/>
              <a:headEnd type="none" w="med" len="med"/>
              <a:tailEnd type="none" w="med" len="med"/>
            </a:ln>
          </p:spPr>
        </p:sp>
      </p:gr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4"/>
          <p:cNvGrpSpPr/>
          <p:nvPr/>
        </p:nvGrpSpPr>
        <p:grpSpPr>
          <a:xfrm>
            <a:off x="590550" y="381000"/>
            <a:ext cx="8096250" cy="6121400"/>
            <a:chOff x="372" y="240"/>
            <a:chExt cx="5100" cy="3856"/>
          </a:xfrm>
        </p:grpSpPr>
        <p:sp>
          <p:nvSpPr>
            <p:cNvPr id="20483" name="Text Box 5"/>
            <p:cNvSpPr txBox="1"/>
            <p:nvPr/>
          </p:nvSpPr>
          <p:spPr>
            <a:xfrm>
              <a:off x="2196" y="240"/>
              <a:ext cx="1020"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1800" dirty="0">
                  <a:latin typeface="Times New Roman" panose="02020603050405020304" pitchFamily="18" charset="0"/>
                  <a:ea typeface="宋体" panose="02010600030101010101" pitchFamily="2" charset="-122"/>
                </a:rPr>
                <a:t>工厂建设</a:t>
              </a:r>
            </a:p>
          </p:txBody>
        </p:sp>
        <p:sp>
          <p:nvSpPr>
            <p:cNvPr id="20484" name="Text Box 6"/>
            <p:cNvSpPr txBox="1"/>
            <p:nvPr/>
          </p:nvSpPr>
          <p:spPr>
            <a:xfrm>
              <a:off x="4452" y="1488"/>
              <a:ext cx="1020"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建造项目管理</a:t>
              </a:r>
            </a:p>
          </p:txBody>
        </p:sp>
        <p:sp>
          <p:nvSpPr>
            <p:cNvPr id="20485" name="Text Box 7"/>
            <p:cNvSpPr txBox="1"/>
            <p:nvPr/>
          </p:nvSpPr>
          <p:spPr>
            <a:xfrm>
              <a:off x="4696" y="2208"/>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范围管理</a:t>
              </a:r>
            </a:p>
          </p:txBody>
        </p:sp>
        <p:sp>
          <p:nvSpPr>
            <p:cNvPr id="20486" name="Text Box 8"/>
            <p:cNvSpPr txBox="1"/>
            <p:nvPr/>
          </p:nvSpPr>
          <p:spPr>
            <a:xfrm>
              <a:off x="4696" y="2544"/>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时间管理</a:t>
              </a:r>
            </a:p>
          </p:txBody>
        </p:sp>
        <p:sp>
          <p:nvSpPr>
            <p:cNvPr id="20487" name="Text Box 9"/>
            <p:cNvSpPr txBox="1"/>
            <p:nvPr/>
          </p:nvSpPr>
          <p:spPr>
            <a:xfrm>
              <a:off x="4695" y="2880"/>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成本管理</a:t>
              </a:r>
            </a:p>
          </p:txBody>
        </p:sp>
        <p:sp>
          <p:nvSpPr>
            <p:cNvPr id="20488" name="Line 10"/>
            <p:cNvSpPr/>
            <p:nvPr/>
          </p:nvSpPr>
          <p:spPr>
            <a:xfrm>
              <a:off x="2592" y="480"/>
              <a:ext cx="1" cy="240"/>
            </a:xfrm>
            <a:prstGeom prst="line">
              <a:avLst/>
            </a:prstGeom>
            <a:ln w="9525" cap="flat" cmpd="sng">
              <a:solidFill>
                <a:srgbClr val="000000"/>
              </a:solidFill>
              <a:prstDash val="solid"/>
              <a:headEnd type="none" w="med" len="med"/>
              <a:tailEnd type="none" w="med" len="med"/>
            </a:ln>
          </p:spPr>
        </p:sp>
        <p:sp>
          <p:nvSpPr>
            <p:cNvPr id="20489" name="Line 11"/>
            <p:cNvSpPr/>
            <p:nvPr/>
          </p:nvSpPr>
          <p:spPr>
            <a:xfrm flipV="1">
              <a:off x="1248" y="720"/>
              <a:ext cx="1" cy="192"/>
            </a:xfrm>
            <a:prstGeom prst="line">
              <a:avLst/>
            </a:prstGeom>
            <a:ln w="9525" cap="flat" cmpd="sng">
              <a:solidFill>
                <a:srgbClr val="000000"/>
              </a:solidFill>
              <a:prstDash val="solid"/>
              <a:headEnd type="none" w="med" len="med"/>
              <a:tailEnd type="none" w="med" len="med"/>
            </a:ln>
          </p:spPr>
        </p:sp>
        <p:sp>
          <p:nvSpPr>
            <p:cNvPr id="20490" name="Line 12"/>
            <p:cNvSpPr/>
            <p:nvPr/>
          </p:nvSpPr>
          <p:spPr>
            <a:xfrm>
              <a:off x="1214" y="720"/>
              <a:ext cx="2962" cy="1"/>
            </a:xfrm>
            <a:prstGeom prst="line">
              <a:avLst/>
            </a:prstGeom>
            <a:ln w="9525" cap="flat" cmpd="sng">
              <a:solidFill>
                <a:srgbClr val="000000"/>
              </a:solidFill>
              <a:prstDash val="solid"/>
              <a:headEnd type="none" w="med" len="med"/>
              <a:tailEnd type="none" w="med" len="med"/>
            </a:ln>
          </p:spPr>
        </p:sp>
        <p:sp>
          <p:nvSpPr>
            <p:cNvPr id="20491" name="Line 13"/>
            <p:cNvSpPr/>
            <p:nvPr/>
          </p:nvSpPr>
          <p:spPr>
            <a:xfrm>
              <a:off x="4176" y="720"/>
              <a:ext cx="1" cy="144"/>
            </a:xfrm>
            <a:prstGeom prst="line">
              <a:avLst/>
            </a:prstGeom>
            <a:ln w="9525" cap="flat" cmpd="sng">
              <a:solidFill>
                <a:srgbClr val="000000"/>
              </a:solidFill>
              <a:prstDash val="solid"/>
              <a:headEnd type="none" w="med" len="med"/>
              <a:tailEnd type="none" w="med" len="med"/>
            </a:ln>
          </p:spPr>
        </p:sp>
        <p:sp>
          <p:nvSpPr>
            <p:cNvPr id="20492" name="Line 14"/>
            <p:cNvSpPr/>
            <p:nvPr/>
          </p:nvSpPr>
          <p:spPr>
            <a:xfrm>
              <a:off x="4608" y="1728"/>
              <a:ext cx="1" cy="1632"/>
            </a:xfrm>
            <a:prstGeom prst="line">
              <a:avLst/>
            </a:prstGeom>
            <a:ln w="9525" cap="flat" cmpd="sng">
              <a:solidFill>
                <a:srgbClr val="000000"/>
              </a:solidFill>
              <a:prstDash val="solid"/>
              <a:headEnd type="none" w="med" len="med"/>
              <a:tailEnd type="none" w="med" len="med"/>
            </a:ln>
          </p:spPr>
        </p:sp>
        <p:sp>
          <p:nvSpPr>
            <p:cNvPr id="20493" name="Text Box 15"/>
            <p:cNvSpPr txBox="1"/>
            <p:nvPr/>
          </p:nvSpPr>
          <p:spPr>
            <a:xfrm>
              <a:off x="816" y="3648"/>
              <a:ext cx="4176" cy="448"/>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2000" dirty="0">
                  <a:latin typeface="Times New Roman" panose="02020603050405020304" pitchFamily="18" charset="0"/>
                  <a:ea typeface="宋体" panose="02010600030101010101" pitchFamily="2" charset="-122"/>
                </a:rPr>
                <a:t>使用产出物分解技术得到的工厂建设项目工作分解结构</a:t>
              </a:r>
              <a:r>
                <a:rPr lang="en-US" altLang="zh-CN" sz="2000" dirty="0">
                  <a:ea typeface="宋体" panose="02010600030101010101" pitchFamily="2" charset="-122"/>
                </a:rPr>
                <a:t>(</a:t>
              </a:r>
              <a:r>
                <a:rPr lang="zh-CN" altLang="en-US" sz="2000" dirty="0">
                  <a:ea typeface="宋体" panose="02010600030101010101" pitchFamily="2" charset="-122"/>
                </a:rPr>
                <a:t>戚安邦</a:t>
              </a:r>
              <a:r>
                <a:rPr lang="en-US" altLang="zh-CN" sz="2000" dirty="0">
                  <a:ea typeface="宋体" panose="02010600030101010101" pitchFamily="2" charset="-122"/>
                </a:rPr>
                <a:t>2008)</a:t>
              </a:r>
              <a:endParaRPr lang="zh-CN" altLang="en-US" sz="2000" dirty="0">
                <a:latin typeface="Times New Roman" panose="02020603050405020304" pitchFamily="18" charset="0"/>
                <a:ea typeface="宋体" panose="02010600030101010101" pitchFamily="2" charset="-122"/>
              </a:endParaRPr>
            </a:p>
          </p:txBody>
        </p:sp>
        <p:sp>
          <p:nvSpPr>
            <p:cNvPr id="20494" name="Text Box 16"/>
            <p:cNvSpPr txBox="1"/>
            <p:nvPr/>
          </p:nvSpPr>
          <p:spPr>
            <a:xfrm>
              <a:off x="806" y="912"/>
              <a:ext cx="874"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1800" dirty="0">
                  <a:latin typeface="Times New Roman" panose="02020603050405020304" pitchFamily="18" charset="0"/>
                  <a:ea typeface="宋体" panose="02010600030101010101" pitchFamily="2" charset="-122"/>
                </a:rPr>
                <a:t>工厂设计</a:t>
              </a:r>
              <a:endParaRPr lang="zh-CN" altLang="en-US" sz="2400" dirty="0">
                <a:latin typeface="Times New Roman" panose="02020603050405020304" pitchFamily="18" charset="0"/>
                <a:ea typeface="宋体" panose="02010600030101010101" pitchFamily="2" charset="-122"/>
              </a:endParaRPr>
            </a:p>
          </p:txBody>
        </p:sp>
        <p:sp>
          <p:nvSpPr>
            <p:cNvPr id="20495" name="Text Box 17"/>
            <p:cNvSpPr txBox="1"/>
            <p:nvPr/>
          </p:nvSpPr>
          <p:spPr>
            <a:xfrm>
              <a:off x="3782" y="864"/>
              <a:ext cx="874"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50000"/>
                </a:spcBef>
                <a:buNone/>
              </a:pPr>
              <a:r>
                <a:rPr lang="zh-CN" altLang="en-US" sz="1800" dirty="0">
                  <a:latin typeface="Times New Roman" panose="02020603050405020304" pitchFamily="18" charset="0"/>
                  <a:ea typeface="宋体" panose="02010600030101010101" pitchFamily="2" charset="-122"/>
                </a:rPr>
                <a:t>工厂建造</a:t>
              </a:r>
              <a:endParaRPr lang="zh-CN" altLang="en-US" sz="2400" dirty="0">
                <a:latin typeface="Times New Roman" panose="02020603050405020304" pitchFamily="18" charset="0"/>
                <a:ea typeface="宋体" panose="02010600030101010101" pitchFamily="2" charset="-122"/>
              </a:endParaRPr>
            </a:p>
          </p:txBody>
        </p:sp>
        <p:sp>
          <p:nvSpPr>
            <p:cNvPr id="20496" name="Text Box 18"/>
            <p:cNvSpPr txBox="1"/>
            <p:nvPr/>
          </p:nvSpPr>
          <p:spPr>
            <a:xfrm>
              <a:off x="4696" y="1824"/>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集成管理</a:t>
              </a:r>
            </a:p>
          </p:txBody>
        </p:sp>
        <p:sp>
          <p:nvSpPr>
            <p:cNvPr id="20497" name="Text Box 19"/>
            <p:cNvSpPr txBox="1"/>
            <p:nvPr/>
          </p:nvSpPr>
          <p:spPr>
            <a:xfrm>
              <a:off x="3108" y="1488"/>
              <a:ext cx="1020"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建造项目工作</a:t>
              </a:r>
            </a:p>
          </p:txBody>
        </p:sp>
        <p:sp>
          <p:nvSpPr>
            <p:cNvPr id="20498" name="Text Box 20"/>
            <p:cNvSpPr txBox="1"/>
            <p:nvPr/>
          </p:nvSpPr>
          <p:spPr>
            <a:xfrm>
              <a:off x="4695" y="3216"/>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en-US" altLang="zh-CN" sz="1800" dirty="0">
                  <a:latin typeface="Times New Roman" panose="02020603050405020304" pitchFamily="18" charset="0"/>
                  <a:ea typeface="宋体" panose="02010600030101010101" pitchFamily="2" charset="-122"/>
                </a:rPr>
                <a:t>·····</a:t>
              </a:r>
            </a:p>
          </p:txBody>
        </p:sp>
        <p:sp>
          <p:nvSpPr>
            <p:cNvPr id="20499" name="Line 21"/>
            <p:cNvSpPr/>
            <p:nvPr/>
          </p:nvSpPr>
          <p:spPr>
            <a:xfrm>
              <a:off x="4607" y="1920"/>
              <a:ext cx="97" cy="1"/>
            </a:xfrm>
            <a:prstGeom prst="line">
              <a:avLst/>
            </a:prstGeom>
            <a:ln w="9525" cap="flat" cmpd="sng">
              <a:solidFill>
                <a:srgbClr val="000000"/>
              </a:solidFill>
              <a:prstDash val="solid"/>
              <a:headEnd type="none" w="med" len="med"/>
              <a:tailEnd type="none" w="med" len="med"/>
            </a:ln>
          </p:spPr>
        </p:sp>
        <p:sp>
          <p:nvSpPr>
            <p:cNvPr id="20500" name="Line 22"/>
            <p:cNvSpPr/>
            <p:nvPr/>
          </p:nvSpPr>
          <p:spPr>
            <a:xfrm>
              <a:off x="4607" y="2352"/>
              <a:ext cx="97" cy="1"/>
            </a:xfrm>
            <a:prstGeom prst="line">
              <a:avLst/>
            </a:prstGeom>
            <a:ln w="9525" cap="flat" cmpd="sng">
              <a:solidFill>
                <a:srgbClr val="000000"/>
              </a:solidFill>
              <a:prstDash val="solid"/>
              <a:headEnd type="none" w="med" len="med"/>
              <a:tailEnd type="none" w="med" len="med"/>
            </a:ln>
          </p:spPr>
        </p:sp>
        <p:sp>
          <p:nvSpPr>
            <p:cNvPr id="20501" name="Line 23"/>
            <p:cNvSpPr/>
            <p:nvPr/>
          </p:nvSpPr>
          <p:spPr>
            <a:xfrm>
              <a:off x="4607" y="2640"/>
              <a:ext cx="97" cy="1"/>
            </a:xfrm>
            <a:prstGeom prst="line">
              <a:avLst/>
            </a:prstGeom>
            <a:ln w="9525" cap="flat" cmpd="sng">
              <a:solidFill>
                <a:srgbClr val="000000"/>
              </a:solidFill>
              <a:prstDash val="solid"/>
              <a:headEnd type="none" w="med" len="med"/>
              <a:tailEnd type="none" w="med" len="med"/>
            </a:ln>
          </p:spPr>
        </p:sp>
        <p:sp>
          <p:nvSpPr>
            <p:cNvPr id="20502" name="Line 24"/>
            <p:cNvSpPr/>
            <p:nvPr/>
          </p:nvSpPr>
          <p:spPr>
            <a:xfrm>
              <a:off x="3983" y="2112"/>
              <a:ext cx="97" cy="1"/>
            </a:xfrm>
            <a:prstGeom prst="line">
              <a:avLst/>
            </a:prstGeom>
            <a:ln w="9525" cap="flat" cmpd="sng">
              <a:solidFill>
                <a:srgbClr val="000000"/>
              </a:solidFill>
              <a:prstDash val="solid"/>
              <a:headEnd type="none" w="med" len="med"/>
              <a:tailEnd type="none" w="med" len="med"/>
            </a:ln>
          </p:spPr>
        </p:sp>
        <p:sp>
          <p:nvSpPr>
            <p:cNvPr id="20503" name="Line 25"/>
            <p:cNvSpPr/>
            <p:nvPr/>
          </p:nvSpPr>
          <p:spPr>
            <a:xfrm flipV="1">
              <a:off x="4607" y="2976"/>
              <a:ext cx="97" cy="1"/>
            </a:xfrm>
            <a:prstGeom prst="line">
              <a:avLst/>
            </a:prstGeom>
            <a:ln w="9525" cap="flat" cmpd="sng">
              <a:solidFill>
                <a:srgbClr val="000000"/>
              </a:solidFill>
              <a:prstDash val="solid"/>
              <a:headEnd type="none" w="med" len="med"/>
              <a:tailEnd type="none" w="med" len="med"/>
            </a:ln>
          </p:spPr>
        </p:sp>
        <p:sp>
          <p:nvSpPr>
            <p:cNvPr id="20504" name="Text Box 26"/>
            <p:cNvSpPr txBox="1"/>
            <p:nvPr/>
          </p:nvSpPr>
          <p:spPr>
            <a:xfrm>
              <a:off x="3400" y="2256"/>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土建施工</a:t>
              </a:r>
            </a:p>
          </p:txBody>
        </p:sp>
        <p:sp>
          <p:nvSpPr>
            <p:cNvPr id="20505" name="Text Box 27"/>
            <p:cNvSpPr txBox="1"/>
            <p:nvPr/>
          </p:nvSpPr>
          <p:spPr>
            <a:xfrm>
              <a:off x="3400" y="2592"/>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安装施工</a:t>
              </a:r>
            </a:p>
          </p:txBody>
        </p:sp>
        <p:sp>
          <p:nvSpPr>
            <p:cNvPr id="20506" name="Text Box 28"/>
            <p:cNvSpPr txBox="1"/>
            <p:nvPr/>
          </p:nvSpPr>
          <p:spPr>
            <a:xfrm>
              <a:off x="3399" y="2928"/>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验收交工</a:t>
              </a:r>
            </a:p>
          </p:txBody>
        </p:sp>
        <p:sp>
          <p:nvSpPr>
            <p:cNvPr id="20507" name="Text Box 29"/>
            <p:cNvSpPr txBox="1"/>
            <p:nvPr/>
          </p:nvSpPr>
          <p:spPr>
            <a:xfrm>
              <a:off x="3400" y="1872"/>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三通一平</a:t>
              </a:r>
            </a:p>
          </p:txBody>
        </p:sp>
        <p:sp>
          <p:nvSpPr>
            <p:cNvPr id="20508" name="Line 30"/>
            <p:cNvSpPr/>
            <p:nvPr/>
          </p:nvSpPr>
          <p:spPr>
            <a:xfrm>
              <a:off x="3312" y="1728"/>
              <a:ext cx="1" cy="1296"/>
            </a:xfrm>
            <a:prstGeom prst="line">
              <a:avLst/>
            </a:prstGeom>
            <a:ln w="9525" cap="flat" cmpd="sng">
              <a:solidFill>
                <a:srgbClr val="000000"/>
              </a:solidFill>
              <a:prstDash val="solid"/>
              <a:headEnd type="none" w="med" len="med"/>
              <a:tailEnd type="none" w="med" len="med"/>
            </a:ln>
          </p:spPr>
        </p:sp>
        <p:sp>
          <p:nvSpPr>
            <p:cNvPr id="20509" name="Line 31"/>
            <p:cNvSpPr/>
            <p:nvPr/>
          </p:nvSpPr>
          <p:spPr>
            <a:xfrm>
              <a:off x="3311" y="1920"/>
              <a:ext cx="97" cy="1"/>
            </a:xfrm>
            <a:prstGeom prst="line">
              <a:avLst/>
            </a:prstGeom>
            <a:ln w="9525" cap="flat" cmpd="sng">
              <a:solidFill>
                <a:srgbClr val="000000"/>
              </a:solidFill>
              <a:prstDash val="solid"/>
              <a:headEnd type="none" w="med" len="med"/>
              <a:tailEnd type="none" w="med" len="med"/>
            </a:ln>
          </p:spPr>
        </p:sp>
        <p:sp>
          <p:nvSpPr>
            <p:cNvPr id="20510" name="Line 32"/>
            <p:cNvSpPr/>
            <p:nvPr/>
          </p:nvSpPr>
          <p:spPr>
            <a:xfrm>
              <a:off x="3311" y="2352"/>
              <a:ext cx="97" cy="1"/>
            </a:xfrm>
            <a:prstGeom prst="line">
              <a:avLst/>
            </a:prstGeom>
            <a:ln w="9525" cap="flat" cmpd="sng">
              <a:solidFill>
                <a:srgbClr val="000000"/>
              </a:solidFill>
              <a:prstDash val="solid"/>
              <a:headEnd type="none" w="med" len="med"/>
              <a:tailEnd type="none" w="med" len="med"/>
            </a:ln>
          </p:spPr>
        </p:sp>
        <p:sp>
          <p:nvSpPr>
            <p:cNvPr id="20511" name="Line 33"/>
            <p:cNvSpPr/>
            <p:nvPr/>
          </p:nvSpPr>
          <p:spPr>
            <a:xfrm>
              <a:off x="3311" y="2688"/>
              <a:ext cx="97" cy="1"/>
            </a:xfrm>
            <a:prstGeom prst="line">
              <a:avLst/>
            </a:prstGeom>
            <a:ln w="9525" cap="flat" cmpd="sng">
              <a:solidFill>
                <a:srgbClr val="000000"/>
              </a:solidFill>
              <a:prstDash val="solid"/>
              <a:headEnd type="none" w="med" len="med"/>
              <a:tailEnd type="none" w="med" len="med"/>
            </a:ln>
          </p:spPr>
        </p:sp>
        <p:sp>
          <p:nvSpPr>
            <p:cNvPr id="20512" name="Line 34"/>
            <p:cNvSpPr/>
            <p:nvPr/>
          </p:nvSpPr>
          <p:spPr>
            <a:xfrm>
              <a:off x="3311" y="3024"/>
              <a:ext cx="97" cy="1"/>
            </a:xfrm>
            <a:prstGeom prst="line">
              <a:avLst/>
            </a:prstGeom>
            <a:ln w="9525" cap="flat" cmpd="sng">
              <a:solidFill>
                <a:srgbClr val="000000"/>
              </a:solidFill>
              <a:prstDash val="solid"/>
              <a:headEnd type="none" w="med" len="med"/>
              <a:tailEnd type="none" w="med" len="med"/>
            </a:ln>
          </p:spPr>
        </p:sp>
        <p:sp>
          <p:nvSpPr>
            <p:cNvPr id="20513" name="Line 35"/>
            <p:cNvSpPr/>
            <p:nvPr/>
          </p:nvSpPr>
          <p:spPr>
            <a:xfrm>
              <a:off x="3600" y="1296"/>
              <a:ext cx="1" cy="96"/>
            </a:xfrm>
            <a:prstGeom prst="line">
              <a:avLst/>
            </a:prstGeom>
            <a:ln w="9525" cap="flat" cmpd="sng">
              <a:solidFill>
                <a:srgbClr val="000000"/>
              </a:solidFill>
              <a:prstDash val="solid"/>
              <a:headEnd type="none" w="med" len="med"/>
              <a:tailEnd type="none" w="med" len="med"/>
            </a:ln>
          </p:spPr>
        </p:sp>
        <p:sp>
          <p:nvSpPr>
            <p:cNvPr id="20514" name="Line 36"/>
            <p:cNvSpPr/>
            <p:nvPr/>
          </p:nvSpPr>
          <p:spPr>
            <a:xfrm>
              <a:off x="3585" y="1248"/>
              <a:ext cx="1311" cy="1"/>
            </a:xfrm>
            <a:prstGeom prst="line">
              <a:avLst/>
            </a:prstGeom>
            <a:ln w="9525" cap="flat" cmpd="sng">
              <a:solidFill>
                <a:srgbClr val="000000"/>
              </a:solidFill>
              <a:prstDash val="solid"/>
              <a:headEnd type="none" w="med" len="med"/>
              <a:tailEnd type="none" w="med" len="med"/>
            </a:ln>
          </p:spPr>
        </p:sp>
        <p:sp>
          <p:nvSpPr>
            <p:cNvPr id="20515" name="Line 37"/>
            <p:cNvSpPr/>
            <p:nvPr/>
          </p:nvSpPr>
          <p:spPr>
            <a:xfrm>
              <a:off x="4896" y="1248"/>
              <a:ext cx="1" cy="240"/>
            </a:xfrm>
            <a:prstGeom prst="line">
              <a:avLst/>
            </a:prstGeom>
            <a:ln w="9525" cap="flat" cmpd="sng">
              <a:solidFill>
                <a:srgbClr val="000000"/>
              </a:solidFill>
              <a:prstDash val="solid"/>
              <a:headEnd type="none" w="med" len="med"/>
              <a:tailEnd type="none" w="med" len="med"/>
            </a:ln>
          </p:spPr>
        </p:sp>
        <p:sp>
          <p:nvSpPr>
            <p:cNvPr id="20516" name="Line 38"/>
            <p:cNvSpPr/>
            <p:nvPr/>
          </p:nvSpPr>
          <p:spPr>
            <a:xfrm>
              <a:off x="3600" y="1248"/>
              <a:ext cx="1" cy="240"/>
            </a:xfrm>
            <a:prstGeom prst="line">
              <a:avLst/>
            </a:prstGeom>
            <a:ln w="9525" cap="flat" cmpd="sng">
              <a:solidFill>
                <a:srgbClr val="000000"/>
              </a:solidFill>
              <a:prstDash val="solid"/>
              <a:headEnd type="none" w="med" len="med"/>
              <a:tailEnd type="none" w="med" len="med"/>
            </a:ln>
          </p:spPr>
        </p:sp>
        <p:sp>
          <p:nvSpPr>
            <p:cNvPr id="20517" name="Text Box 39"/>
            <p:cNvSpPr txBox="1"/>
            <p:nvPr/>
          </p:nvSpPr>
          <p:spPr>
            <a:xfrm>
              <a:off x="372" y="1488"/>
              <a:ext cx="1020"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设计项目管理</a:t>
              </a:r>
            </a:p>
          </p:txBody>
        </p:sp>
        <p:sp>
          <p:nvSpPr>
            <p:cNvPr id="20518" name="Text Box 40"/>
            <p:cNvSpPr txBox="1"/>
            <p:nvPr/>
          </p:nvSpPr>
          <p:spPr>
            <a:xfrm>
              <a:off x="616" y="2208"/>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范围管理</a:t>
              </a:r>
            </a:p>
          </p:txBody>
        </p:sp>
        <p:sp>
          <p:nvSpPr>
            <p:cNvPr id="20519" name="Text Box 41"/>
            <p:cNvSpPr txBox="1"/>
            <p:nvPr/>
          </p:nvSpPr>
          <p:spPr>
            <a:xfrm>
              <a:off x="616" y="2544"/>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时间管理</a:t>
              </a:r>
            </a:p>
          </p:txBody>
        </p:sp>
        <p:sp>
          <p:nvSpPr>
            <p:cNvPr id="20520" name="Text Box 42"/>
            <p:cNvSpPr txBox="1"/>
            <p:nvPr/>
          </p:nvSpPr>
          <p:spPr>
            <a:xfrm>
              <a:off x="615" y="2880"/>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成本管理</a:t>
              </a:r>
            </a:p>
          </p:txBody>
        </p:sp>
        <p:sp>
          <p:nvSpPr>
            <p:cNvPr id="20521" name="Line 43"/>
            <p:cNvSpPr/>
            <p:nvPr/>
          </p:nvSpPr>
          <p:spPr>
            <a:xfrm>
              <a:off x="528" y="1728"/>
              <a:ext cx="1" cy="1632"/>
            </a:xfrm>
            <a:prstGeom prst="line">
              <a:avLst/>
            </a:prstGeom>
            <a:ln w="9525" cap="flat" cmpd="sng">
              <a:solidFill>
                <a:srgbClr val="000000"/>
              </a:solidFill>
              <a:prstDash val="solid"/>
              <a:headEnd type="none" w="med" len="med"/>
              <a:tailEnd type="none" w="med" len="med"/>
            </a:ln>
          </p:spPr>
        </p:sp>
        <p:sp>
          <p:nvSpPr>
            <p:cNvPr id="20522" name="Text Box 44"/>
            <p:cNvSpPr txBox="1"/>
            <p:nvPr/>
          </p:nvSpPr>
          <p:spPr>
            <a:xfrm>
              <a:off x="616" y="1824"/>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集成管理</a:t>
              </a:r>
            </a:p>
          </p:txBody>
        </p:sp>
        <p:sp>
          <p:nvSpPr>
            <p:cNvPr id="20523" name="Text Box 45"/>
            <p:cNvSpPr txBox="1"/>
            <p:nvPr/>
          </p:nvSpPr>
          <p:spPr>
            <a:xfrm>
              <a:off x="1620" y="1488"/>
              <a:ext cx="1020"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设计项目工作</a:t>
              </a:r>
            </a:p>
          </p:txBody>
        </p:sp>
        <p:sp>
          <p:nvSpPr>
            <p:cNvPr id="20524" name="Text Box 46"/>
            <p:cNvSpPr txBox="1"/>
            <p:nvPr/>
          </p:nvSpPr>
          <p:spPr>
            <a:xfrm>
              <a:off x="615" y="3216"/>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en-US" altLang="zh-CN" sz="1800" dirty="0">
                  <a:latin typeface="Times New Roman" panose="02020603050405020304" pitchFamily="18" charset="0"/>
                  <a:ea typeface="宋体" panose="02010600030101010101" pitchFamily="2" charset="-122"/>
                </a:rPr>
                <a:t>·····</a:t>
              </a:r>
            </a:p>
          </p:txBody>
        </p:sp>
        <p:sp>
          <p:nvSpPr>
            <p:cNvPr id="20525" name="Line 47"/>
            <p:cNvSpPr/>
            <p:nvPr/>
          </p:nvSpPr>
          <p:spPr>
            <a:xfrm>
              <a:off x="527" y="1920"/>
              <a:ext cx="97" cy="1"/>
            </a:xfrm>
            <a:prstGeom prst="line">
              <a:avLst/>
            </a:prstGeom>
            <a:ln w="9525" cap="flat" cmpd="sng">
              <a:solidFill>
                <a:srgbClr val="000000"/>
              </a:solidFill>
              <a:prstDash val="solid"/>
              <a:headEnd type="none" w="med" len="med"/>
              <a:tailEnd type="none" w="med" len="med"/>
            </a:ln>
          </p:spPr>
        </p:sp>
        <p:sp>
          <p:nvSpPr>
            <p:cNvPr id="20526" name="Line 48"/>
            <p:cNvSpPr/>
            <p:nvPr/>
          </p:nvSpPr>
          <p:spPr>
            <a:xfrm>
              <a:off x="527" y="2352"/>
              <a:ext cx="97" cy="1"/>
            </a:xfrm>
            <a:prstGeom prst="line">
              <a:avLst/>
            </a:prstGeom>
            <a:ln w="9525" cap="flat" cmpd="sng">
              <a:solidFill>
                <a:srgbClr val="000000"/>
              </a:solidFill>
              <a:prstDash val="solid"/>
              <a:headEnd type="none" w="med" len="med"/>
              <a:tailEnd type="none" w="med" len="med"/>
            </a:ln>
          </p:spPr>
        </p:sp>
        <p:sp>
          <p:nvSpPr>
            <p:cNvPr id="20527" name="Line 49"/>
            <p:cNvSpPr/>
            <p:nvPr/>
          </p:nvSpPr>
          <p:spPr>
            <a:xfrm>
              <a:off x="527" y="2688"/>
              <a:ext cx="97" cy="1"/>
            </a:xfrm>
            <a:prstGeom prst="line">
              <a:avLst/>
            </a:prstGeom>
            <a:ln w="9525" cap="flat" cmpd="sng">
              <a:solidFill>
                <a:srgbClr val="000000"/>
              </a:solidFill>
              <a:prstDash val="solid"/>
              <a:headEnd type="none" w="med" len="med"/>
              <a:tailEnd type="none" w="med" len="med"/>
            </a:ln>
          </p:spPr>
        </p:sp>
        <p:sp>
          <p:nvSpPr>
            <p:cNvPr id="20528" name="Line 50"/>
            <p:cNvSpPr/>
            <p:nvPr/>
          </p:nvSpPr>
          <p:spPr>
            <a:xfrm>
              <a:off x="527" y="3024"/>
              <a:ext cx="97" cy="1"/>
            </a:xfrm>
            <a:prstGeom prst="line">
              <a:avLst/>
            </a:prstGeom>
            <a:ln w="9525" cap="flat" cmpd="sng">
              <a:solidFill>
                <a:srgbClr val="000000"/>
              </a:solidFill>
              <a:prstDash val="solid"/>
              <a:headEnd type="none" w="med" len="med"/>
              <a:tailEnd type="none" w="med" len="med"/>
            </a:ln>
          </p:spPr>
        </p:sp>
        <p:sp>
          <p:nvSpPr>
            <p:cNvPr id="20529" name="Line 51"/>
            <p:cNvSpPr/>
            <p:nvPr/>
          </p:nvSpPr>
          <p:spPr>
            <a:xfrm flipV="1">
              <a:off x="527" y="3360"/>
              <a:ext cx="97" cy="1"/>
            </a:xfrm>
            <a:prstGeom prst="line">
              <a:avLst/>
            </a:prstGeom>
            <a:ln w="9525" cap="flat" cmpd="sng">
              <a:solidFill>
                <a:srgbClr val="000000"/>
              </a:solidFill>
              <a:prstDash val="solid"/>
              <a:headEnd type="none" w="med" len="med"/>
              <a:tailEnd type="none" w="med" len="med"/>
            </a:ln>
          </p:spPr>
        </p:sp>
        <p:sp>
          <p:nvSpPr>
            <p:cNvPr id="20530" name="Text Box 52"/>
            <p:cNvSpPr txBox="1"/>
            <p:nvPr/>
          </p:nvSpPr>
          <p:spPr>
            <a:xfrm>
              <a:off x="1912" y="2256"/>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结构图纸</a:t>
              </a:r>
            </a:p>
          </p:txBody>
        </p:sp>
        <p:sp>
          <p:nvSpPr>
            <p:cNvPr id="20531" name="Text Box 53"/>
            <p:cNvSpPr txBox="1"/>
            <p:nvPr/>
          </p:nvSpPr>
          <p:spPr>
            <a:xfrm>
              <a:off x="1912" y="2592"/>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施工图纸</a:t>
              </a:r>
            </a:p>
          </p:txBody>
        </p:sp>
        <p:sp>
          <p:nvSpPr>
            <p:cNvPr id="20532" name="Text Box 54"/>
            <p:cNvSpPr txBox="1"/>
            <p:nvPr/>
          </p:nvSpPr>
          <p:spPr>
            <a:xfrm>
              <a:off x="1911" y="2928"/>
              <a:ext cx="777"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安装图纸</a:t>
              </a:r>
            </a:p>
          </p:txBody>
        </p:sp>
        <p:sp>
          <p:nvSpPr>
            <p:cNvPr id="20533" name="Text Box 55"/>
            <p:cNvSpPr txBox="1"/>
            <p:nvPr/>
          </p:nvSpPr>
          <p:spPr>
            <a:xfrm>
              <a:off x="1912" y="1872"/>
              <a:ext cx="728" cy="237"/>
            </a:xfrm>
            <a:prstGeom prst="rect">
              <a:avLst/>
            </a:prstGeom>
            <a:solidFill>
              <a:srgbClr val="FF99FF"/>
            </a:solid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eaLnBrk="1" hangingPunct="1">
                <a:spcBef>
                  <a:spcPct val="0"/>
                </a:spcBef>
                <a:buNone/>
              </a:pPr>
              <a:r>
                <a:rPr lang="zh-CN" altLang="en-US" sz="1800" dirty="0">
                  <a:latin typeface="Times New Roman" panose="02020603050405020304" pitchFamily="18" charset="0"/>
                  <a:ea typeface="宋体" panose="02010600030101010101" pitchFamily="2" charset="-122"/>
                </a:rPr>
                <a:t>建筑图纸</a:t>
              </a:r>
            </a:p>
          </p:txBody>
        </p:sp>
        <p:sp>
          <p:nvSpPr>
            <p:cNvPr id="20534" name="Line 56"/>
            <p:cNvSpPr/>
            <p:nvPr/>
          </p:nvSpPr>
          <p:spPr>
            <a:xfrm>
              <a:off x="1824" y="1728"/>
              <a:ext cx="1" cy="1296"/>
            </a:xfrm>
            <a:prstGeom prst="line">
              <a:avLst/>
            </a:prstGeom>
            <a:ln w="9525" cap="flat" cmpd="sng">
              <a:solidFill>
                <a:srgbClr val="000000"/>
              </a:solidFill>
              <a:prstDash val="solid"/>
              <a:headEnd type="none" w="med" len="med"/>
              <a:tailEnd type="none" w="med" len="med"/>
            </a:ln>
          </p:spPr>
        </p:sp>
        <p:sp>
          <p:nvSpPr>
            <p:cNvPr id="20535" name="Line 57"/>
            <p:cNvSpPr/>
            <p:nvPr/>
          </p:nvSpPr>
          <p:spPr>
            <a:xfrm>
              <a:off x="1823" y="1920"/>
              <a:ext cx="97" cy="1"/>
            </a:xfrm>
            <a:prstGeom prst="line">
              <a:avLst/>
            </a:prstGeom>
            <a:ln w="9525" cap="flat" cmpd="sng">
              <a:solidFill>
                <a:srgbClr val="000000"/>
              </a:solidFill>
              <a:prstDash val="solid"/>
              <a:headEnd type="none" w="med" len="med"/>
              <a:tailEnd type="none" w="med" len="med"/>
            </a:ln>
          </p:spPr>
        </p:sp>
        <p:sp>
          <p:nvSpPr>
            <p:cNvPr id="20536" name="Line 58"/>
            <p:cNvSpPr/>
            <p:nvPr/>
          </p:nvSpPr>
          <p:spPr>
            <a:xfrm>
              <a:off x="1823" y="2352"/>
              <a:ext cx="97" cy="1"/>
            </a:xfrm>
            <a:prstGeom prst="line">
              <a:avLst/>
            </a:prstGeom>
            <a:ln w="9525" cap="flat" cmpd="sng">
              <a:solidFill>
                <a:srgbClr val="000000"/>
              </a:solidFill>
              <a:prstDash val="solid"/>
              <a:headEnd type="none" w="med" len="med"/>
              <a:tailEnd type="none" w="med" len="med"/>
            </a:ln>
          </p:spPr>
        </p:sp>
        <p:sp>
          <p:nvSpPr>
            <p:cNvPr id="20537" name="Line 59"/>
            <p:cNvSpPr/>
            <p:nvPr/>
          </p:nvSpPr>
          <p:spPr>
            <a:xfrm>
              <a:off x="1823" y="2688"/>
              <a:ext cx="97" cy="1"/>
            </a:xfrm>
            <a:prstGeom prst="line">
              <a:avLst/>
            </a:prstGeom>
            <a:ln w="9525" cap="flat" cmpd="sng">
              <a:solidFill>
                <a:srgbClr val="000000"/>
              </a:solidFill>
              <a:prstDash val="solid"/>
              <a:headEnd type="none" w="med" len="med"/>
              <a:tailEnd type="none" w="med" len="med"/>
            </a:ln>
          </p:spPr>
        </p:sp>
        <p:sp>
          <p:nvSpPr>
            <p:cNvPr id="20538" name="Line 60"/>
            <p:cNvSpPr/>
            <p:nvPr/>
          </p:nvSpPr>
          <p:spPr>
            <a:xfrm>
              <a:off x="1823" y="3024"/>
              <a:ext cx="97" cy="1"/>
            </a:xfrm>
            <a:prstGeom prst="line">
              <a:avLst/>
            </a:prstGeom>
            <a:ln w="9525" cap="flat" cmpd="sng">
              <a:solidFill>
                <a:srgbClr val="000000"/>
              </a:solidFill>
              <a:prstDash val="solid"/>
              <a:headEnd type="none" w="med" len="med"/>
              <a:tailEnd type="none" w="med" len="med"/>
            </a:ln>
          </p:spPr>
        </p:sp>
        <p:sp>
          <p:nvSpPr>
            <p:cNvPr id="20539" name="Line 61"/>
            <p:cNvSpPr/>
            <p:nvPr/>
          </p:nvSpPr>
          <p:spPr>
            <a:xfrm>
              <a:off x="1200" y="1152"/>
              <a:ext cx="1" cy="96"/>
            </a:xfrm>
            <a:prstGeom prst="line">
              <a:avLst/>
            </a:prstGeom>
            <a:ln w="9525" cap="flat" cmpd="sng">
              <a:solidFill>
                <a:srgbClr val="000000"/>
              </a:solidFill>
              <a:prstDash val="solid"/>
              <a:headEnd type="none" w="med" len="med"/>
              <a:tailEnd type="none" w="med" len="med"/>
            </a:ln>
          </p:spPr>
        </p:sp>
        <p:sp>
          <p:nvSpPr>
            <p:cNvPr id="20540" name="Line 62"/>
            <p:cNvSpPr/>
            <p:nvPr/>
          </p:nvSpPr>
          <p:spPr>
            <a:xfrm>
              <a:off x="801" y="1248"/>
              <a:ext cx="1311" cy="1"/>
            </a:xfrm>
            <a:prstGeom prst="line">
              <a:avLst/>
            </a:prstGeom>
            <a:ln w="9525" cap="flat" cmpd="sng">
              <a:solidFill>
                <a:srgbClr val="000000"/>
              </a:solidFill>
              <a:prstDash val="solid"/>
              <a:headEnd type="none" w="med" len="med"/>
              <a:tailEnd type="none" w="med" len="med"/>
            </a:ln>
          </p:spPr>
        </p:sp>
        <p:sp>
          <p:nvSpPr>
            <p:cNvPr id="20541" name="Line 63"/>
            <p:cNvSpPr/>
            <p:nvPr/>
          </p:nvSpPr>
          <p:spPr>
            <a:xfrm>
              <a:off x="816" y="1248"/>
              <a:ext cx="1" cy="240"/>
            </a:xfrm>
            <a:prstGeom prst="line">
              <a:avLst/>
            </a:prstGeom>
            <a:ln w="9525" cap="flat" cmpd="sng">
              <a:solidFill>
                <a:srgbClr val="000000"/>
              </a:solidFill>
              <a:prstDash val="solid"/>
              <a:headEnd type="none" w="med" len="med"/>
              <a:tailEnd type="none" w="med" len="med"/>
            </a:ln>
          </p:spPr>
        </p:sp>
        <p:sp>
          <p:nvSpPr>
            <p:cNvPr id="20542" name="Line 64"/>
            <p:cNvSpPr/>
            <p:nvPr/>
          </p:nvSpPr>
          <p:spPr>
            <a:xfrm>
              <a:off x="2112" y="1248"/>
              <a:ext cx="1" cy="240"/>
            </a:xfrm>
            <a:prstGeom prst="line">
              <a:avLst/>
            </a:prstGeom>
            <a:ln w="9525" cap="flat" cmpd="sng">
              <a:solidFill>
                <a:srgbClr val="000000"/>
              </a:solidFill>
              <a:prstDash val="solid"/>
              <a:headEnd type="none" w="med" len="med"/>
              <a:tailEnd type="none" w="med" len="med"/>
            </a:ln>
          </p:spPr>
        </p:sp>
        <p:sp>
          <p:nvSpPr>
            <p:cNvPr id="20543" name="Line 65"/>
            <p:cNvSpPr/>
            <p:nvPr/>
          </p:nvSpPr>
          <p:spPr>
            <a:xfrm flipV="1">
              <a:off x="4607" y="3360"/>
              <a:ext cx="97" cy="1"/>
            </a:xfrm>
            <a:prstGeom prst="line">
              <a:avLst/>
            </a:prstGeom>
            <a:ln w="9525" cap="flat" cmpd="sng">
              <a:solidFill>
                <a:srgbClr val="000000"/>
              </a:solidFill>
              <a:prstDash val="solid"/>
              <a:headEnd type="none" w="med" len="med"/>
              <a:tailEnd type="none" w="med" len="med"/>
            </a:ln>
          </p:spPr>
        </p:sp>
        <p:sp>
          <p:nvSpPr>
            <p:cNvPr id="20544" name="Line 66"/>
            <p:cNvSpPr/>
            <p:nvPr/>
          </p:nvSpPr>
          <p:spPr>
            <a:xfrm>
              <a:off x="4176" y="1104"/>
              <a:ext cx="1" cy="144"/>
            </a:xfrm>
            <a:prstGeom prst="line">
              <a:avLst/>
            </a:prstGeom>
            <a:ln w="9525" cap="flat" cmpd="sng">
              <a:solidFill>
                <a:srgbClr val="000000"/>
              </a:solidFill>
              <a:prstDash val="solid"/>
              <a:headEnd type="none" w="med" len="med"/>
              <a:tailEnd type="none" w="med" len="med"/>
            </a:ln>
          </p:spPr>
        </p:sp>
      </p:gr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ln/>
        </p:spPr>
        <p:txBody>
          <a:bodyPr vert="horz" wrap="square" lIns="91440" tIns="45720" rIns="91440" bIns="45720" anchor="ctr"/>
          <a:lstStyle/>
          <a:p>
            <a:pPr eaLnBrk="1" hangingPunct="1"/>
            <a:endParaRPr lang="zh-CN" altLang="en-US" dirty="0"/>
          </a:p>
        </p:txBody>
      </p:sp>
      <p:sp>
        <p:nvSpPr>
          <p:cNvPr id="21507" name="Rectangle 3"/>
          <p:cNvSpPr>
            <a:spLocks noGrp="1"/>
          </p:cNvSpPr>
          <p:nvPr>
            <p:ph idx="1"/>
          </p:nvPr>
        </p:nvSpPr>
        <p:spPr>
          <a:ln/>
        </p:spPr>
        <p:txBody>
          <a:bodyPr vert="horz" wrap="square" lIns="91440" tIns="45720" rIns="91440" bIns="45720" anchor="t"/>
          <a:lstStyle/>
          <a:p>
            <a:pPr eaLnBrk="1" hangingPunct="1"/>
            <a:endParaRPr lang="zh-CN" altLang="en-US" dirty="0"/>
          </a:p>
        </p:txBody>
      </p:sp>
      <p:pic>
        <p:nvPicPr>
          <p:cNvPr id="21508" name="Picture 4" descr="项目分解"/>
          <p:cNvPicPr>
            <a:picLocks noChangeAspect="1"/>
          </p:cNvPicPr>
          <p:nvPr/>
        </p:nvPicPr>
        <p:blipFill>
          <a:blip r:embed="rId2"/>
          <a:srcRect l="15625" t="5194" r="14583" b="1299"/>
          <a:stretch>
            <a:fillRect/>
          </a:stretch>
        </p:blipFill>
        <p:spPr>
          <a:xfrm>
            <a:off x="0" y="188913"/>
            <a:ext cx="8893175" cy="6594475"/>
          </a:xfrm>
          <a:prstGeom prst="rect">
            <a:avLst/>
          </a:prstGeom>
          <a:noFill/>
          <a:ln w="9525">
            <a:noFill/>
          </a:ln>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ln/>
        </p:spPr>
        <p:txBody>
          <a:bodyPr vert="horz" wrap="square" lIns="91440" tIns="45720" rIns="91440" bIns="45720" anchor="ctr"/>
          <a:lstStyle/>
          <a:p>
            <a:pPr eaLnBrk="1" hangingPunct="1"/>
            <a:endParaRPr lang="zh-CN" altLang="en-US" dirty="0"/>
          </a:p>
        </p:txBody>
      </p:sp>
      <p:sp>
        <p:nvSpPr>
          <p:cNvPr id="22531" name="Rectangle 3"/>
          <p:cNvSpPr>
            <a:spLocks noGrp="1"/>
          </p:cNvSpPr>
          <p:nvPr>
            <p:ph idx="1"/>
          </p:nvPr>
        </p:nvSpPr>
        <p:spPr>
          <a:ln/>
        </p:spPr>
        <p:txBody>
          <a:bodyPr vert="horz" wrap="square" lIns="91440" tIns="45720" rIns="91440" bIns="45720" anchor="t"/>
          <a:lstStyle/>
          <a:p>
            <a:pPr eaLnBrk="1" hangingPunct="1"/>
            <a:endParaRPr lang="zh-CN" altLang="en-US" dirty="0"/>
          </a:p>
        </p:txBody>
      </p:sp>
      <p:pic>
        <p:nvPicPr>
          <p:cNvPr id="22532" name="Picture 4"/>
          <p:cNvPicPr>
            <a:picLocks noChangeAspect="1"/>
          </p:cNvPicPr>
          <p:nvPr/>
        </p:nvPicPr>
        <p:blipFill>
          <a:blip r:embed="rId2"/>
          <a:srcRect l="13594" t="23421" r="12578" b="7178"/>
          <a:stretch>
            <a:fillRect/>
          </a:stretch>
        </p:blipFill>
        <p:spPr>
          <a:xfrm>
            <a:off x="0" y="88900"/>
            <a:ext cx="9001125" cy="6769100"/>
          </a:xfrm>
          <a:prstGeom prst="rect">
            <a:avLst/>
          </a:prstGeom>
          <a:noFill/>
          <a:ln w="12700">
            <a:noFill/>
          </a:ln>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ln/>
        </p:spPr>
        <p:txBody>
          <a:bodyPr vert="horz" wrap="square" lIns="91440" tIns="45720" rIns="91440" bIns="45720" anchor="ctr"/>
          <a:lstStyle/>
          <a:p>
            <a:pPr eaLnBrk="1" hangingPunct="1"/>
            <a:r>
              <a:rPr lang="zh-CN" altLang="en-US" dirty="0"/>
              <a:t>讨论</a:t>
            </a:r>
          </a:p>
        </p:txBody>
      </p:sp>
      <p:sp>
        <p:nvSpPr>
          <p:cNvPr id="23555" name="Rectangle 3"/>
          <p:cNvSpPr>
            <a:spLocks noGrp="1"/>
          </p:cNvSpPr>
          <p:nvPr>
            <p:ph idx="1"/>
          </p:nvPr>
        </p:nvSpPr>
        <p:spPr>
          <a:ln/>
        </p:spPr>
        <p:txBody>
          <a:bodyPr vert="horz" wrap="square" lIns="91440" tIns="45720" rIns="91440" bIns="45720" anchor="t"/>
          <a:lstStyle/>
          <a:p>
            <a:pPr eaLnBrk="1" hangingPunct="1"/>
            <a:r>
              <a:rPr lang="zh-CN" altLang="en-US" sz="4000" dirty="0"/>
              <a:t>如何组织一个面向全国相关专业人员的会议</a:t>
            </a:r>
            <a:r>
              <a:rPr lang="en-US" altLang="zh-CN" sz="4000" dirty="0"/>
              <a:t>?</a:t>
            </a:r>
          </a:p>
          <a:p>
            <a:pPr eaLnBrk="1" hangingPunct="1"/>
            <a:r>
              <a:rPr lang="zh-CN" altLang="en-US" sz="4000" dirty="0"/>
              <a:t>如何写毕业论文？</a:t>
            </a:r>
          </a:p>
          <a:p>
            <a:pPr eaLnBrk="1" hangingPunct="1"/>
            <a:endParaRPr lang="zh-CN" altLang="en-US" sz="4000"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29"/>
          <p:cNvSpPr/>
          <p:nvPr/>
        </p:nvSpPr>
        <p:spPr>
          <a:xfrm>
            <a:off x="1828800" y="2667000"/>
            <a:ext cx="5029200" cy="22098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579" name="Rectangle 30"/>
          <p:cNvSpPr/>
          <p:nvPr/>
        </p:nvSpPr>
        <p:spPr>
          <a:xfrm>
            <a:off x="304800" y="0"/>
            <a:ext cx="8839200" cy="5334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342900" lvl="0" indent="-342900" algn="ctr" eaLnBrk="1" hangingPunct="1">
              <a:buNone/>
            </a:pPr>
            <a:r>
              <a:rPr lang="en-AU" altLang="zh-CN" b="0" dirty="0">
                <a:solidFill>
                  <a:srgbClr val="800000"/>
                </a:solidFill>
              </a:rPr>
              <a:t>Hierarchical Representation of A Conference Planning WBS</a:t>
            </a:r>
          </a:p>
        </p:txBody>
      </p:sp>
      <p:sp>
        <p:nvSpPr>
          <p:cNvPr id="24580" name="Rectangle 31"/>
          <p:cNvSpPr/>
          <p:nvPr/>
        </p:nvSpPr>
        <p:spPr>
          <a:xfrm>
            <a:off x="2670175" y="5915025"/>
            <a:ext cx="4745038" cy="4572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200" b="0" dirty="0">
                <a:solidFill>
                  <a:srgbClr val="800000"/>
                </a:solidFill>
                <a:latin typeface="Times New Roman" panose="02020603050405020304" pitchFamily="18" charset="0"/>
                <a:ea typeface="宋体" panose="02010600030101010101" pitchFamily="2" charset="-122"/>
              </a:rPr>
              <a:t>Source: Weiss &amp; Wysocki. </a:t>
            </a:r>
            <a:r>
              <a:rPr lang="en-AU" altLang="zh-CN" sz="1200" b="0" i="1" dirty="0">
                <a:solidFill>
                  <a:srgbClr val="800000"/>
                </a:solidFill>
                <a:latin typeface="Times New Roman" panose="02020603050405020304" pitchFamily="18" charset="0"/>
                <a:ea typeface="宋体" panose="02010600030101010101" pitchFamily="2" charset="-122"/>
              </a:rPr>
              <a:t>5-Phase Project Management</a:t>
            </a:r>
            <a:r>
              <a:rPr lang="en-AU" altLang="zh-CN" sz="1200" b="0" dirty="0">
                <a:solidFill>
                  <a:srgbClr val="800000"/>
                </a:solidFill>
                <a:latin typeface="Times New Roman" panose="02020603050405020304" pitchFamily="18" charset="0"/>
                <a:ea typeface="宋体" panose="02010600030101010101" pitchFamily="2" charset="-122"/>
              </a:rPr>
              <a:t>. 1992. pp. 27.</a:t>
            </a:r>
            <a:endParaRPr lang="en-AU" altLang="zh-CN" sz="1600" b="0" dirty="0">
              <a:solidFill>
                <a:srgbClr val="800000"/>
              </a:solidFill>
              <a:latin typeface="Times New Roman" panose="02020603050405020304" pitchFamily="18" charset="0"/>
              <a:ea typeface="宋体" panose="02010600030101010101" pitchFamily="2" charset="-122"/>
            </a:endParaRPr>
          </a:p>
        </p:txBody>
      </p:sp>
      <p:sp>
        <p:nvSpPr>
          <p:cNvPr id="24581" name="Rectangle 32"/>
          <p:cNvSpPr/>
          <p:nvPr/>
        </p:nvSpPr>
        <p:spPr>
          <a:xfrm>
            <a:off x="3124200" y="1905000"/>
            <a:ext cx="3048000" cy="4572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800" b="0" dirty="0">
                <a:solidFill>
                  <a:srgbClr val="800000"/>
                </a:solidFill>
                <a:latin typeface="Times New Roman" panose="02020603050405020304" pitchFamily="18" charset="0"/>
                <a:ea typeface="宋体" panose="02010600030101010101" pitchFamily="2" charset="-122"/>
              </a:rPr>
              <a:t>Conference Planning</a:t>
            </a:r>
          </a:p>
        </p:txBody>
      </p:sp>
      <p:sp>
        <p:nvSpPr>
          <p:cNvPr id="24582" name="Rectangle 33"/>
          <p:cNvSpPr/>
          <p:nvPr/>
        </p:nvSpPr>
        <p:spPr>
          <a:xfrm>
            <a:off x="1143000" y="2895600"/>
            <a:ext cx="1524000" cy="5334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800" b="0" dirty="0">
                <a:solidFill>
                  <a:srgbClr val="800000"/>
                </a:solidFill>
                <a:latin typeface="Times New Roman" panose="02020603050405020304" pitchFamily="18" charset="0"/>
                <a:ea typeface="宋体" panose="02010600030101010101" pitchFamily="2" charset="-122"/>
              </a:rPr>
              <a:t>Program</a:t>
            </a:r>
          </a:p>
        </p:txBody>
      </p:sp>
      <p:sp>
        <p:nvSpPr>
          <p:cNvPr id="24583" name="Rectangle 34"/>
          <p:cNvSpPr/>
          <p:nvPr/>
        </p:nvSpPr>
        <p:spPr>
          <a:xfrm>
            <a:off x="5943600" y="2819400"/>
            <a:ext cx="1600200" cy="6096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800" b="0" dirty="0">
                <a:solidFill>
                  <a:srgbClr val="800000"/>
                </a:solidFill>
                <a:latin typeface="Times New Roman" panose="02020603050405020304" pitchFamily="18" charset="0"/>
                <a:ea typeface="宋体" panose="02010600030101010101" pitchFamily="2" charset="-122"/>
              </a:rPr>
              <a:t>Marketing</a:t>
            </a:r>
          </a:p>
        </p:txBody>
      </p:sp>
      <p:sp>
        <p:nvSpPr>
          <p:cNvPr id="24584" name="Rectangle 35"/>
          <p:cNvSpPr/>
          <p:nvPr/>
        </p:nvSpPr>
        <p:spPr>
          <a:xfrm>
            <a:off x="3657600" y="4724400"/>
            <a:ext cx="8382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Date</a:t>
            </a:r>
          </a:p>
        </p:txBody>
      </p:sp>
      <p:sp>
        <p:nvSpPr>
          <p:cNvPr id="24585" name="Rectangle 36"/>
          <p:cNvSpPr/>
          <p:nvPr/>
        </p:nvSpPr>
        <p:spPr>
          <a:xfrm>
            <a:off x="4648200" y="4724400"/>
            <a:ext cx="8382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Time</a:t>
            </a:r>
          </a:p>
        </p:txBody>
      </p:sp>
      <p:sp>
        <p:nvSpPr>
          <p:cNvPr id="24586" name="Rectangle 37"/>
          <p:cNvSpPr/>
          <p:nvPr/>
        </p:nvSpPr>
        <p:spPr>
          <a:xfrm>
            <a:off x="5486400" y="3886200"/>
            <a:ext cx="8382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Lists</a:t>
            </a:r>
          </a:p>
        </p:txBody>
      </p:sp>
      <p:sp>
        <p:nvSpPr>
          <p:cNvPr id="24587" name="Rectangle 38"/>
          <p:cNvSpPr/>
          <p:nvPr/>
        </p:nvSpPr>
        <p:spPr>
          <a:xfrm>
            <a:off x="6400800" y="3886200"/>
            <a:ext cx="12954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Brochure</a:t>
            </a:r>
          </a:p>
        </p:txBody>
      </p:sp>
      <p:sp>
        <p:nvSpPr>
          <p:cNvPr id="24588" name="Rectangle 39"/>
          <p:cNvSpPr/>
          <p:nvPr/>
        </p:nvSpPr>
        <p:spPr>
          <a:xfrm>
            <a:off x="7772400" y="3886200"/>
            <a:ext cx="12954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Register</a:t>
            </a:r>
          </a:p>
        </p:txBody>
      </p:sp>
      <p:sp>
        <p:nvSpPr>
          <p:cNvPr id="24589" name="Rectangle 40"/>
          <p:cNvSpPr/>
          <p:nvPr/>
        </p:nvSpPr>
        <p:spPr>
          <a:xfrm>
            <a:off x="152400" y="3886200"/>
            <a:ext cx="10668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Theme</a:t>
            </a:r>
          </a:p>
        </p:txBody>
      </p:sp>
      <p:sp>
        <p:nvSpPr>
          <p:cNvPr id="24590" name="Rectangle 41"/>
          <p:cNvSpPr/>
          <p:nvPr/>
        </p:nvSpPr>
        <p:spPr>
          <a:xfrm>
            <a:off x="1295400" y="3886200"/>
            <a:ext cx="12954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Materials</a:t>
            </a:r>
          </a:p>
        </p:txBody>
      </p:sp>
      <p:sp>
        <p:nvSpPr>
          <p:cNvPr id="24591" name="Rectangle 42"/>
          <p:cNvSpPr/>
          <p:nvPr/>
        </p:nvSpPr>
        <p:spPr>
          <a:xfrm>
            <a:off x="2667000" y="3886200"/>
            <a:ext cx="1295400" cy="3810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Speakers</a:t>
            </a:r>
          </a:p>
        </p:txBody>
      </p:sp>
      <p:sp>
        <p:nvSpPr>
          <p:cNvPr id="24592" name="Rectangle 43"/>
          <p:cNvSpPr/>
          <p:nvPr/>
        </p:nvSpPr>
        <p:spPr>
          <a:xfrm>
            <a:off x="609600" y="5029200"/>
            <a:ext cx="1295400" cy="6858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Obtain Materials</a:t>
            </a:r>
          </a:p>
        </p:txBody>
      </p:sp>
      <p:sp>
        <p:nvSpPr>
          <p:cNvPr id="24593" name="Rectangle 44"/>
          <p:cNvSpPr/>
          <p:nvPr/>
        </p:nvSpPr>
        <p:spPr>
          <a:xfrm>
            <a:off x="2057400" y="5029200"/>
            <a:ext cx="1219200" cy="6858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Prepare Kits</a:t>
            </a:r>
          </a:p>
        </p:txBody>
      </p:sp>
      <p:sp>
        <p:nvSpPr>
          <p:cNvPr id="24594" name="Rectangle 45"/>
          <p:cNvSpPr/>
          <p:nvPr/>
        </p:nvSpPr>
        <p:spPr>
          <a:xfrm>
            <a:off x="5715000" y="5029200"/>
            <a:ext cx="1295400" cy="6858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Design Brochure</a:t>
            </a:r>
          </a:p>
        </p:txBody>
      </p:sp>
      <p:sp>
        <p:nvSpPr>
          <p:cNvPr id="24595" name="Rectangle 46"/>
          <p:cNvSpPr/>
          <p:nvPr/>
        </p:nvSpPr>
        <p:spPr>
          <a:xfrm>
            <a:off x="7086600" y="5029200"/>
            <a:ext cx="1295400" cy="6858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600" b="0" dirty="0">
                <a:solidFill>
                  <a:srgbClr val="800000"/>
                </a:solidFill>
                <a:latin typeface="Times New Roman" panose="02020603050405020304" pitchFamily="18" charset="0"/>
                <a:ea typeface="宋体" panose="02010600030101010101" pitchFamily="2" charset="-122"/>
              </a:rPr>
              <a:t>Mail Brochure</a:t>
            </a:r>
          </a:p>
        </p:txBody>
      </p:sp>
      <p:sp>
        <p:nvSpPr>
          <p:cNvPr id="24596" name="Freeform 47"/>
          <p:cNvSpPr/>
          <p:nvPr/>
        </p:nvSpPr>
        <p:spPr>
          <a:xfrm>
            <a:off x="685800" y="3657600"/>
            <a:ext cx="2514600" cy="2286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597" name="Freeform 48"/>
          <p:cNvSpPr/>
          <p:nvPr/>
        </p:nvSpPr>
        <p:spPr>
          <a:xfrm>
            <a:off x="5943600" y="3657600"/>
            <a:ext cx="2514600" cy="2286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598" name="Freeform 49"/>
          <p:cNvSpPr/>
          <p:nvPr/>
        </p:nvSpPr>
        <p:spPr>
          <a:xfrm>
            <a:off x="990600" y="4876800"/>
            <a:ext cx="1828800" cy="1524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599" name="Freeform 50"/>
          <p:cNvSpPr/>
          <p:nvPr/>
        </p:nvSpPr>
        <p:spPr>
          <a:xfrm>
            <a:off x="6172200" y="4876800"/>
            <a:ext cx="1828800" cy="1524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600" name="Freeform 51"/>
          <p:cNvSpPr/>
          <p:nvPr/>
        </p:nvSpPr>
        <p:spPr>
          <a:xfrm>
            <a:off x="3962400" y="4572000"/>
            <a:ext cx="1143000" cy="152400"/>
          </a:xfrm>
          <a:custGeom>
            <a:avLst/>
            <a:gdLst>
              <a:gd name="txL" fmla="*/ 0 w 1584"/>
              <a:gd name="txT" fmla="*/ 0 h 144"/>
              <a:gd name="txR" fmla="*/ 1584 w 1584"/>
              <a:gd name="txB" fmla="*/ 144 h 144"/>
            </a:gdLst>
            <a:ahLst/>
            <a:cxnLst>
              <a:cxn ang="0">
                <a:pos x="0" y="2147483646"/>
              </a:cxn>
              <a:cxn ang="0">
                <a:pos x="0" y="0"/>
              </a:cxn>
              <a:cxn ang="0">
                <a:pos x="2147483646" y="0"/>
              </a:cxn>
              <a:cxn ang="0">
                <a:pos x="2147483646" y="2147483646"/>
              </a:cxn>
            </a:cxnLst>
            <a:rect l="txL" t="txT" r="txR" b="txB"/>
            <a:pathLst>
              <a:path w="1584" h="144">
                <a:moveTo>
                  <a:pt x="0" y="144"/>
                </a:moveTo>
                <a:lnTo>
                  <a:pt x="0" y="0"/>
                </a:lnTo>
                <a:lnTo>
                  <a:pt x="1584" y="0"/>
                </a:lnTo>
                <a:lnTo>
                  <a:pt x="1584" y="144"/>
                </a:lnTo>
              </a:path>
            </a:pathLst>
          </a:custGeom>
          <a:solidFill>
            <a:schemeClr val="tx2">
              <a:alpha val="100000"/>
            </a:schemeClr>
          </a:solidFill>
          <a:ln w="571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24601" name="Line 52"/>
          <p:cNvSpPr/>
          <p:nvPr/>
        </p:nvSpPr>
        <p:spPr>
          <a:xfrm>
            <a:off x="4495800" y="2362200"/>
            <a:ext cx="0" cy="2133600"/>
          </a:xfrm>
          <a:prstGeom prst="line">
            <a:avLst/>
          </a:prstGeom>
          <a:ln w="57150" cap="flat" cmpd="sng">
            <a:solidFill>
              <a:srgbClr val="000000"/>
            </a:solidFill>
            <a:prstDash val="solid"/>
            <a:headEnd type="none" w="med" len="med"/>
            <a:tailEnd type="none" w="med" len="med"/>
          </a:ln>
        </p:spPr>
      </p:sp>
      <p:sp>
        <p:nvSpPr>
          <p:cNvPr id="24602" name="Rectangle 53"/>
          <p:cNvSpPr/>
          <p:nvPr/>
        </p:nvSpPr>
        <p:spPr>
          <a:xfrm>
            <a:off x="4038600" y="2895600"/>
            <a:ext cx="990600" cy="533400"/>
          </a:xfrm>
          <a:prstGeom prst="rect">
            <a:avLst/>
          </a:prstGeom>
          <a:solidFill>
            <a:schemeClr val="tx2"/>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lgn="ctr">
              <a:spcBef>
                <a:spcPct val="0"/>
              </a:spcBef>
              <a:buNone/>
            </a:pPr>
            <a:r>
              <a:rPr lang="en-AU" altLang="zh-CN" sz="1800" b="0" dirty="0">
                <a:solidFill>
                  <a:srgbClr val="800000"/>
                </a:solidFill>
                <a:latin typeface="Times New Roman" panose="02020603050405020304" pitchFamily="18" charset="0"/>
                <a:ea typeface="宋体" panose="02010600030101010101" pitchFamily="2" charset="-122"/>
              </a:rPr>
              <a:t>Site</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p:cNvPicPr preferRelativeResize="0">
            <a:picLocks noChangeAspect="1"/>
          </p:cNvPicPr>
          <p:nvPr/>
        </p:nvPicPr>
        <p:blipFill>
          <a:blip r:embed="rId2"/>
          <a:srcRect l="23849" t="35269" r="20793" b="20810"/>
          <a:stretch>
            <a:fillRect/>
          </a:stretch>
        </p:blipFill>
        <p:spPr>
          <a:xfrm>
            <a:off x="0" y="0"/>
            <a:ext cx="9144000" cy="5256213"/>
          </a:xfrm>
          <a:prstGeom prst="rect">
            <a:avLst/>
          </a:prstGeom>
          <a:noFill/>
          <a:ln w="12700" cap="sq" cmpd="sng">
            <a:solidFill>
              <a:srgbClr val="000000"/>
            </a:solidFill>
            <a:prstDash val="solid"/>
            <a:miter/>
            <a:headEnd type="none" w="sm" len="sm"/>
            <a:tailEnd type="none" w="sm" len="sm"/>
          </a:ln>
        </p:spPr>
      </p:pic>
      <p:sp>
        <p:nvSpPr>
          <p:cNvPr id="25603" name="Text Box 5"/>
          <p:cNvSpPr txBox="1"/>
          <p:nvPr/>
        </p:nvSpPr>
        <p:spPr>
          <a:xfrm>
            <a:off x="3419475" y="5157788"/>
            <a:ext cx="4514850" cy="654050"/>
          </a:xfrm>
          <a:prstGeom prst="rect">
            <a:avLst/>
          </a:prstGeom>
          <a:noFill/>
          <a:ln w="12700" cap="sq" cmpd="sng">
            <a:solidFill>
              <a:srgbClr val="000000"/>
            </a:solidFill>
            <a:prstDash val="solid"/>
            <a:miter/>
            <a:headEnd type="none" w="sm" len="sm"/>
            <a:tailEnd type="none" w="sm" len="sm"/>
          </a:ln>
        </p:spPr>
        <p:txBody>
          <a:bodyPr wrap="none">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0"/>
              </a:spcBef>
              <a:buNone/>
            </a:pPr>
            <a:r>
              <a:rPr lang="zh-CN" altLang="en-US" dirty="0">
                <a:ea typeface="宋体" panose="02010600030101010101" pitchFamily="2" charset="-122"/>
              </a:rPr>
              <a:t>毕业论文写作</a:t>
            </a:r>
            <a:r>
              <a:rPr lang="en-US" altLang="zh-CN" sz="2000" b="0" dirty="0">
                <a:ea typeface="宋体" panose="02010600030101010101" pitchFamily="2" charset="-122"/>
              </a:rPr>
              <a:t>(</a:t>
            </a:r>
            <a:r>
              <a:rPr lang="zh-CN" altLang="en-US" sz="2000" b="0" dirty="0">
                <a:ea typeface="宋体" panose="02010600030101010101" pitchFamily="2" charset="-122"/>
              </a:rPr>
              <a:t>汪小金 </a:t>
            </a:r>
            <a:r>
              <a:rPr lang="en-US" altLang="zh-CN" sz="2000" b="0" dirty="0">
                <a:ea typeface="宋体" panose="02010600030101010101" pitchFamily="2" charset="-122"/>
              </a:rPr>
              <a:t>2005)</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ln/>
        </p:spPr>
        <p:txBody>
          <a:bodyPr vert="horz" wrap="square" lIns="91440" tIns="45720" rIns="91440" bIns="45720" anchor="ctr"/>
          <a:lstStyle/>
          <a:p>
            <a:pPr eaLnBrk="1" hangingPunct="1"/>
            <a:r>
              <a:rPr lang="en-US" altLang="zh-CN" dirty="0"/>
              <a:t>WBS </a:t>
            </a:r>
            <a:r>
              <a:rPr lang="zh-CN" altLang="en-US" dirty="0"/>
              <a:t>类型</a:t>
            </a:r>
          </a:p>
        </p:txBody>
      </p:sp>
      <p:sp>
        <p:nvSpPr>
          <p:cNvPr id="26627" name="Rectangle 3"/>
          <p:cNvSpPr>
            <a:spLocks noGrp="1"/>
          </p:cNvSpPr>
          <p:nvPr>
            <p:ph idx="1"/>
          </p:nvPr>
        </p:nvSpPr>
        <p:spPr>
          <a:ln/>
        </p:spPr>
        <p:txBody>
          <a:bodyPr vert="horz" wrap="square" lIns="91440" tIns="45720" rIns="91440" bIns="45720" anchor="t"/>
          <a:lstStyle/>
          <a:p>
            <a:pPr eaLnBrk="1" hangingPunct="1"/>
            <a:r>
              <a:rPr lang="zh-CN" altLang="en-US" dirty="0"/>
              <a:t>几何</a:t>
            </a:r>
            <a:r>
              <a:rPr lang="en-US" altLang="zh-CN" dirty="0"/>
              <a:t>WBS(</a:t>
            </a:r>
            <a:r>
              <a:rPr lang="zh-CN" altLang="en-US" dirty="0"/>
              <a:t>长度型</a:t>
            </a:r>
            <a:r>
              <a:rPr lang="en-US" altLang="zh-CN" dirty="0"/>
              <a:t>,</a:t>
            </a:r>
            <a:r>
              <a:rPr lang="zh-CN" altLang="en-US" dirty="0"/>
              <a:t>平面型</a:t>
            </a:r>
            <a:r>
              <a:rPr lang="en-US" altLang="zh-CN" dirty="0"/>
              <a:t>,</a:t>
            </a:r>
            <a:r>
              <a:rPr lang="zh-CN" altLang="en-US" dirty="0"/>
              <a:t>空间型</a:t>
            </a:r>
            <a:r>
              <a:rPr lang="en-US" altLang="zh-CN" dirty="0"/>
              <a:t>,</a:t>
            </a:r>
            <a:r>
              <a:rPr lang="zh-CN" altLang="en-US" dirty="0"/>
              <a:t>地域型</a:t>
            </a:r>
            <a:r>
              <a:rPr lang="en-US" altLang="zh-CN" dirty="0"/>
              <a:t>)</a:t>
            </a:r>
          </a:p>
          <a:p>
            <a:pPr eaLnBrk="1" hangingPunct="1"/>
            <a:r>
              <a:rPr lang="zh-CN" altLang="en-US" dirty="0"/>
              <a:t>职能</a:t>
            </a:r>
            <a:r>
              <a:rPr lang="en-US" altLang="zh-CN" dirty="0"/>
              <a:t>,</a:t>
            </a:r>
            <a:r>
              <a:rPr lang="zh-CN" altLang="en-US" dirty="0"/>
              <a:t>部门</a:t>
            </a:r>
            <a:r>
              <a:rPr lang="en-US" altLang="zh-CN" dirty="0"/>
              <a:t>WBS</a:t>
            </a:r>
          </a:p>
          <a:p>
            <a:pPr eaLnBrk="1" hangingPunct="1"/>
            <a:r>
              <a:rPr lang="zh-CN" altLang="en-US" dirty="0"/>
              <a:t>流程</a:t>
            </a:r>
            <a:r>
              <a:rPr lang="en-US" altLang="zh-CN" dirty="0"/>
              <a:t>WBS(</a:t>
            </a:r>
            <a:r>
              <a:rPr lang="zh-CN" altLang="en-US" dirty="0"/>
              <a:t>衔接</a:t>
            </a:r>
            <a:r>
              <a:rPr lang="en-US" altLang="zh-CN" dirty="0"/>
              <a:t>,</a:t>
            </a:r>
            <a:r>
              <a:rPr lang="zh-CN" altLang="en-US" dirty="0"/>
              <a:t>组合</a:t>
            </a:r>
            <a:r>
              <a:rPr lang="en-US" altLang="zh-CN" dirty="0"/>
              <a:t>, </a:t>
            </a:r>
            <a:r>
              <a:rPr lang="zh-CN" altLang="en-US" dirty="0"/>
              <a:t>工程逻辑</a:t>
            </a:r>
            <a:r>
              <a:rPr lang="en-US" altLang="zh-CN" dirty="0"/>
              <a:t>,</a:t>
            </a:r>
            <a:r>
              <a:rPr lang="zh-CN" altLang="en-US" dirty="0"/>
              <a:t>技术逻辑</a:t>
            </a:r>
            <a:r>
              <a:rPr lang="en-US" altLang="zh-CN" dirty="0"/>
              <a:t>, </a:t>
            </a:r>
            <a:r>
              <a:rPr lang="zh-CN" altLang="en-US" dirty="0"/>
              <a:t>阶段</a:t>
            </a:r>
            <a:r>
              <a:rPr lang="en-US" altLang="zh-CN" dirty="0"/>
              <a:t>)</a:t>
            </a:r>
          </a:p>
          <a:p>
            <a:pPr eaLnBrk="1" hangingPunct="1"/>
            <a:r>
              <a:rPr lang="zh-CN" altLang="en-US" dirty="0"/>
              <a:t>产品</a:t>
            </a:r>
            <a:r>
              <a:rPr lang="en-US" altLang="zh-CN" dirty="0"/>
              <a:t>WBS</a:t>
            </a:r>
          </a:p>
          <a:p>
            <a:pPr eaLnBrk="1" hangingPunct="1"/>
            <a:r>
              <a:rPr lang="zh-CN" altLang="en-US" dirty="0"/>
              <a:t>供应商</a:t>
            </a:r>
            <a:r>
              <a:rPr lang="en-US" altLang="zh-CN" dirty="0"/>
              <a:t>WBS</a:t>
            </a:r>
          </a:p>
          <a:p>
            <a:pPr eaLnBrk="1" hangingPunct="1"/>
            <a:r>
              <a:rPr lang="zh-CN" altLang="en-US" dirty="0"/>
              <a:t>策划</a:t>
            </a:r>
            <a:r>
              <a:rPr lang="en-US" altLang="zh-CN" dirty="0"/>
              <a:t>WBS</a:t>
            </a:r>
          </a:p>
          <a:p>
            <a:pPr eaLnBrk="1" hangingPunct="1"/>
            <a:r>
              <a:rPr lang="zh-CN" altLang="en-US" dirty="0"/>
              <a:t>综合</a:t>
            </a:r>
            <a:r>
              <a:rPr lang="en-US" altLang="zh-CN" dirty="0"/>
              <a:t>WBS</a:t>
            </a:r>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ln/>
        </p:spPr>
        <p:txBody>
          <a:bodyPr vert="horz" wrap="square" lIns="91440" tIns="45720" rIns="91440" bIns="45720" anchor="ctr"/>
          <a:lstStyle/>
          <a:p>
            <a:pPr eaLnBrk="1" hangingPunct="1"/>
            <a:r>
              <a:rPr lang="en-US" altLang="zh-CN" dirty="0"/>
              <a:t>Other structures</a:t>
            </a:r>
            <a:endParaRPr lang="zh-CN" altLang="en-US" dirty="0"/>
          </a:p>
        </p:txBody>
      </p:sp>
      <p:sp>
        <p:nvSpPr>
          <p:cNvPr id="27651" name="Rectangle 3"/>
          <p:cNvSpPr>
            <a:spLocks noGrp="1"/>
          </p:cNvSpPr>
          <p:nvPr>
            <p:ph idx="1"/>
          </p:nvPr>
        </p:nvSpPr>
        <p:spPr>
          <a:ln/>
        </p:spPr>
        <p:txBody>
          <a:bodyPr vert="horz" wrap="square" lIns="91440" tIns="45720" rIns="91440" bIns="45720" anchor="t"/>
          <a:lstStyle/>
          <a:p>
            <a:pPr eaLnBrk="1" hangingPunct="1"/>
            <a:r>
              <a:rPr lang="en-US" altLang="zh-CN" dirty="0"/>
              <a:t>Bill of Materials (BOM)</a:t>
            </a:r>
          </a:p>
          <a:p>
            <a:pPr eaLnBrk="1" hangingPunct="1"/>
            <a:r>
              <a:rPr lang="en-US" altLang="zh-CN" dirty="0"/>
              <a:t>Resource Breakdown Structures (RBS)</a:t>
            </a:r>
          </a:p>
          <a:p>
            <a:pPr eaLnBrk="1" hangingPunct="1"/>
            <a:r>
              <a:rPr lang="en-US" altLang="zh-CN" dirty="0"/>
              <a:t>Risk Breakdown Structures (RBS)</a:t>
            </a:r>
          </a:p>
          <a:p>
            <a:pPr eaLnBrk="1" hangingPunct="1"/>
            <a:r>
              <a:rPr lang="zh-CN" altLang="en-US" dirty="0"/>
              <a:t>资金运作</a:t>
            </a:r>
            <a:r>
              <a:rPr lang="en-US" altLang="zh-CN" dirty="0"/>
              <a:t>WBS</a:t>
            </a:r>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ln/>
        </p:spPr>
        <p:txBody>
          <a:bodyPr vert="horz" wrap="square" lIns="91440" tIns="45720" rIns="91440" bIns="45720" anchor="ctr"/>
          <a:lstStyle/>
          <a:p>
            <a:pPr eaLnBrk="1" hangingPunct="1"/>
            <a:r>
              <a:rPr lang="en-US" altLang="zh-CN" dirty="0"/>
              <a:t>2.</a:t>
            </a:r>
            <a:r>
              <a:rPr lang="zh-CN" altLang="en-US" dirty="0"/>
              <a:t>成本收入分类</a:t>
            </a:r>
          </a:p>
        </p:txBody>
      </p:sp>
      <p:sp>
        <p:nvSpPr>
          <p:cNvPr id="28675" name="Rectangle 3"/>
          <p:cNvSpPr>
            <a:spLocks noGrp="1"/>
          </p:cNvSpPr>
          <p:nvPr>
            <p:ph idx="1"/>
          </p:nvPr>
        </p:nvSpPr>
        <p:spPr>
          <a:ln/>
        </p:spPr>
        <p:txBody>
          <a:bodyPr vert="horz" wrap="square" lIns="91440" tIns="45720" rIns="91440" bIns="45720" anchor="t"/>
          <a:lstStyle/>
          <a:p>
            <a:pPr eaLnBrk="1" hangingPunct="1">
              <a:lnSpc>
                <a:spcPct val="80000"/>
              </a:lnSpc>
            </a:pPr>
            <a:r>
              <a:rPr lang="zh-CN" altLang="en-US" sz="3200" dirty="0"/>
              <a:t>资本性投资</a:t>
            </a:r>
            <a:r>
              <a:rPr lang="en-US" altLang="zh-CN" sz="3200" dirty="0"/>
              <a:t>(</a:t>
            </a:r>
            <a:r>
              <a:rPr lang="zh-CN" altLang="en-US" sz="3200" dirty="0"/>
              <a:t>固定和流动</a:t>
            </a:r>
            <a:r>
              <a:rPr lang="en-US" altLang="zh-CN" sz="3200" dirty="0"/>
              <a:t>)</a:t>
            </a:r>
          </a:p>
          <a:p>
            <a:pPr eaLnBrk="1" hangingPunct="1">
              <a:lnSpc>
                <a:spcPct val="80000"/>
              </a:lnSpc>
            </a:pPr>
            <a:r>
              <a:rPr lang="zh-CN" altLang="en-US" sz="3200" dirty="0"/>
              <a:t>人工成本</a:t>
            </a:r>
          </a:p>
          <a:p>
            <a:pPr eaLnBrk="1" hangingPunct="1">
              <a:lnSpc>
                <a:spcPct val="80000"/>
              </a:lnSpc>
            </a:pPr>
            <a:r>
              <a:rPr lang="zh-CN" altLang="en-US" sz="3200" dirty="0"/>
              <a:t>材料成本</a:t>
            </a:r>
          </a:p>
          <a:p>
            <a:pPr eaLnBrk="1" hangingPunct="1">
              <a:lnSpc>
                <a:spcPct val="80000"/>
              </a:lnSpc>
            </a:pPr>
            <a:r>
              <a:rPr lang="zh-CN" altLang="en-US" sz="3200" dirty="0"/>
              <a:t>维修费</a:t>
            </a:r>
          </a:p>
          <a:p>
            <a:pPr eaLnBrk="1" hangingPunct="1">
              <a:lnSpc>
                <a:spcPct val="80000"/>
              </a:lnSpc>
            </a:pPr>
            <a:r>
              <a:rPr lang="zh-CN" altLang="en-US" sz="3200" dirty="0"/>
              <a:t>财产税和保险</a:t>
            </a:r>
          </a:p>
          <a:p>
            <a:pPr eaLnBrk="1" hangingPunct="1">
              <a:lnSpc>
                <a:spcPct val="80000"/>
              </a:lnSpc>
            </a:pPr>
            <a:r>
              <a:rPr lang="zh-CN" altLang="en-US" sz="3200" dirty="0"/>
              <a:t>损耗费用</a:t>
            </a:r>
          </a:p>
          <a:p>
            <a:pPr eaLnBrk="1" hangingPunct="1">
              <a:lnSpc>
                <a:spcPct val="80000"/>
              </a:lnSpc>
            </a:pPr>
            <a:r>
              <a:rPr lang="zh-CN" altLang="en-US" sz="3200" dirty="0"/>
              <a:t>管理费</a:t>
            </a:r>
          </a:p>
          <a:p>
            <a:pPr eaLnBrk="1" hangingPunct="1">
              <a:lnSpc>
                <a:spcPct val="80000"/>
              </a:lnSpc>
            </a:pPr>
            <a:r>
              <a:rPr lang="zh-CN" altLang="en-US" sz="3200" dirty="0"/>
              <a:t>资产处置费</a:t>
            </a:r>
          </a:p>
          <a:p>
            <a:pPr eaLnBrk="1" hangingPunct="1">
              <a:lnSpc>
                <a:spcPct val="80000"/>
              </a:lnSpc>
            </a:pPr>
            <a:r>
              <a:rPr lang="zh-CN" altLang="en-US" sz="3200" dirty="0"/>
              <a:t>收入</a:t>
            </a:r>
          </a:p>
          <a:p>
            <a:pPr eaLnBrk="1" hangingPunct="1">
              <a:lnSpc>
                <a:spcPct val="80000"/>
              </a:lnSpc>
            </a:pPr>
            <a:r>
              <a:rPr lang="zh-CN" altLang="en-US" sz="3200" dirty="0"/>
              <a:t>残值</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ln/>
        </p:spPr>
        <p:txBody>
          <a:bodyPr vert="horz" wrap="square" lIns="91440" tIns="45720" rIns="91440" bIns="45720" anchor="ctr"/>
          <a:lstStyle/>
          <a:p>
            <a:pPr eaLnBrk="1" hangingPunct="1"/>
            <a:r>
              <a:rPr lang="en-US" altLang="zh-CN" dirty="0"/>
              <a:t>3.</a:t>
            </a:r>
            <a:r>
              <a:rPr lang="zh-CN" altLang="en-US" dirty="0"/>
              <a:t>估算方法</a:t>
            </a:r>
            <a:endParaRPr lang="en-US" altLang="zh-CN" dirty="0"/>
          </a:p>
        </p:txBody>
      </p:sp>
      <p:sp>
        <p:nvSpPr>
          <p:cNvPr id="29699" name="Rectangle 3"/>
          <p:cNvSpPr>
            <a:spLocks noGrp="1"/>
          </p:cNvSpPr>
          <p:nvPr>
            <p:ph idx="1"/>
          </p:nvPr>
        </p:nvSpPr>
        <p:spPr>
          <a:ln/>
        </p:spPr>
        <p:txBody>
          <a:bodyPr vert="horz" wrap="square" lIns="91440" tIns="45720" rIns="91440" bIns="45720" anchor="t"/>
          <a:lstStyle/>
          <a:p>
            <a:pPr eaLnBrk="1" hangingPunct="1"/>
            <a:r>
              <a:rPr lang="en-US" altLang="zh-CN" b="0" dirty="0"/>
              <a:t>Cost estimating</a:t>
            </a:r>
            <a:r>
              <a:rPr lang="en-US" altLang="zh-CN" dirty="0"/>
              <a:t>: Developing an approximation or estimate of the costs of the resources needed to complete a project.</a:t>
            </a:r>
            <a:endParaRPr lang="zh-CN" altLang="en-US" dirty="0"/>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ln>
            <a:solidFill>
              <a:srgbClr val="333333">
                <a:alpha val="100000"/>
              </a:srgbClr>
            </a:solidFill>
            <a:miter lim="800000"/>
          </a:ln>
        </p:spPr>
        <p:txBody>
          <a:bodyPr vert="horz" wrap="square" lIns="91440" tIns="45720" rIns="91440" bIns="45720" anchor="ctr"/>
          <a:lstStyle/>
          <a:p>
            <a:pPr eaLnBrk="1" hangingPunct="1"/>
            <a:r>
              <a:rPr lang="en-US" altLang="zh-CN" dirty="0">
                <a:solidFill>
                  <a:srgbClr val="000000"/>
                </a:solidFill>
              </a:rPr>
              <a:t>Overview of Estimating</a:t>
            </a:r>
            <a:endParaRPr lang="zh-CN" altLang="en-US" dirty="0">
              <a:solidFill>
                <a:srgbClr val="000000"/>
              </a:solidFill>
            </a:endParaRPr>
          </a:p>
        </p:txBody>
      </p:sp>
      <p:sp>
        <p:nvSpPr>
          <p:cNvPr id="30723" name="Rectangle 3"/>
          <p:cNvSpPr>
            <a:spLocks noGrp="1"/>
          </p:cNvSpPr>
          <p:nvPr>
            <p:ph idx="1"/>
          </p:nvPr>
        </p:nvSpPr>
        <p:spPr>
          <a:ln/>
        </p:spPr>
        <p:txBody>
          <a:bodyPr vert="horz" wrap="square" lIns="91440" tIns="45720" rIns="91440" bIns="45720" anchor="t"/>
          <a:lstStyle/>
          <a:p>
            <a:pPr eaLnBrk="1" hangingPunct="1">
              <a:lnSpc>
                <a:spcPct val="80000"/>
              </a:lnSpc>
              <a:buNone/>
            </a:pPr>
            <a:r>
              <a:rPr lang="en-US" altLang="zh-CN" sz="2400" b="0" dirty="0"/>
              <a:t>There are </a:t>
            </a:r>
            <a:r>
              <a:rPr lang="en-US" altLang="zh-CN" sz="2400" b="0" i="1" dirty="0"/>
              <a:t>four classifications</a:t>
            </a:r>
            <a:r>
              <a:rPr lang="en-US" altLang="zh-CN" sz="2400" b="0" dirty="0"/>
              <a:t> of estimates which relate to</a:t>
            </a:r>
          </a:p>
          <a:p>
            <a:pPr eaLnBrk="1" hangingPunct="1">
              <a:lnSpc>
                <a:spcPct val="80000"/>
              </a:lnSpc>
              <a:buNone/>
            </a:pPr>
            <a:r>
              <a:rPr lang="en-US" altLang="zh-CN" sz="2400" b="0" dirty="0"/>
              <a:t>the intended or expected order of accuracy, as distinct from </a:t>
            </a:r>
          </a:p>
          <a:p>
            <a:pPr eaLnBrk="1" hangingPunct="1">
              <a:lnSpc>
                <a:spcPct val="80000"/>
              </a:lnSpc>
              <a:buNone/>
            </a:pPr>
            <a:r>
              <a:rPr lang="en-US" altLang="zh-CN" sz="2400" b="0" dirty="0"/>
              <a:t>the use of estimate:</a:t>
            </a:r>
          </a:p>
          <a:p>
            <a:pPr eaLnBrk="1" hangingPunct="1">
              <a:lnSpc>
                <a:spcPct val="80000"/>
              </a:lnSpc>
            </a:pPr>
            <a:endParaRPr lang="en-US" altLang="zh-CN" sz="2400" b="0" dirty="0"/>
          </a:p>
          <a:p>
            <a:pPr eaLnBrk="1" hangingPunct="1">
              <a:lnSpc>
                <a:spcPct val="80000"/>
              </a:lnSpc>
            </a:pPr>
            <a:r>
              <a:rPr lang="en-US" altLang="zh-CN" sz="2400" b="0" dirty="0"/>
              <a:t> an </a:t>
            </a:r>
            <a:r>
              <a:rPr lang="en-US" altLang="zh-CN" sz="2400" b="0" i="1" dirty="0"/>
              <a:t>Order or Magnitude Estimate</a:t>
            </a:r>
            <a:r>
              <a:rPr lang="en-US" altLang="zh-CN" sz="2400" b="0" dirty="0"/>
              <a:t> when the project is first mooted to establish its broad viability of a first budget for fiscal planning</a:t>
            </a:r>
          </a:p>
          <a:p>
            <a:pPr eaLnBrk="1" hangingPunct="1">
              <a:lnSpc>
                <a:spcPct val="80000"/>
              </a:lnSpc>
            </a:pPr>
            <a:endParaRPr lang="en-US" altLang="zh-CN" sz="2400" b="0" dirty="0"/>
          </a:p>
          <a:p>
            <a:pPr eaLnBrk="1" hangingPunct="1">
              <a:lnSpc>
                <a:spcPct val="80000"/>
              </a:lnSpc>
            </a:pPr>
            <a:r>
              <a:rPr lang="en-US" altLang="zh-CN" sz="2400" b="0" dirty="0"/>
              <a:t> a </a:t>
            </a:r>
            <a:r>
              <a:rPr lang="en-US" altLang="zh-CN" sz="2400" b="0" i="1" dirty="0"/>
              <a:t>Preliminary Estimate</a:t>
            </a:r>
            <a:r>
              <a:rPr lang="en-US" altLang="zh-CN" sz="2400" b="0" dirty="0"/>
              <a:t>, when some information on the project </a:t>
            </a:r>
          </a:p>
          <a:p>
            <a:pPr eaLnBrk="1" hangingPunct="1">
              <a:lnSpc>
                <a:spcPct val="80000"/>
              </a:lnSpc>
              <a:buNone/>
            </a:pPr>
            <a:r>
              <a:rPr lang="en-US" altLang="zh-CN" sz="2400" b="0" dirty="0"/>
              <a:t>    has been developed, to determine more accurately the magnitude of the financial commitment or to evaluate alternatives</a:t>
            </a:r>
          </a:p>
          <a:p>
            <a:pPr eaLnBrk="1" hangingPunct="1">
              <a:lnSpc>
                <a:spcPct val="80000"/>
              </a:lnSpc>
            </a:pPr>
            <a:endParaRPr lang="zh-CN" altLang="en-US" sz="2400" b="0" dirty="0"/>
          </a:p>
          <a:p>
            <a:pPr eaLnBrk="1" hangingPunct="1">
              <a:lnSpc>
                <a:spcPct val="80000"/>
              </a:lnSpc>
            </a:pPr>
            <a:endParaRPr lang="zh-CN" altLang="en-US" sz="2400" dirty="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ln>
            <a:solidFill>
              <a:srgbClr val="000000">
                <a:alpha val="100000"/>
              </a:srgbClr>
            </a:solidFill>
            <a:miter lim="800000"/>
          </a:ln>
        </p:spPr>
        <p:txBody>
          <a:bodyPr vert="horz" wrap="square" lIns="91440" tIns="45720" rIns="91440" bIns="45720" anchor="ctr"/>
          <a:lstStyle/>
          <a:p>
            <a:pPr eaLnBrk="1" hangingPunct="1"/>
            <a:r>
              <a:rPr lang="en-US" altLang="zh-CN" sz="4000" dirty="0">
                <a:solidFill>
                  <a:srgbClr val="000000"/>
                </a:solidFill>
              </a:rPr>
              <a:t>Overview of Estimating (continued)</a:t>
            </a:r>
            <a:endParaRPr lang="zh-CN" altLang="en-US" sz="4000" dirty="0">
              <a:solidFill>
                <a:srgbClr val="000000"/>
              </a:solidFill>
            </a:endParaRPr>
          </a:p>
        </p:txBody>
      </p:sp>
      <p:sp>
        <p:nvSpPr>
          <p:cNvPr id="31747" name="Rectangle 3"/>
          <p:cNvSpPr>
            <a:spLocks noGrp="1"/>
          </p:cNvSpPr>
          <p:nvPr>
            <p:ph idx="1"/>
          </p:nvPr>
        </p:nvSpPr>
        <p:spPr>
          <a:ln/>
        </p:spPr>
        <p:txBody>
          <a:bodyPr vert="horz" wrap="square" lIns="91440" tIns="45720" rIns="91440" bIns="45720" anchor="t"/>
          <a:lstStyle/>
          <a:p>
            <a:pPr eaLnBrk="1" hangingPunct="1"/>
            <a:r>
              <a:rPr lang="en-US" altLang="zh-CN" sz="3200" b="0" dirty="0"/>
              <a:t>a </a:t>
            </a:r>
            <a:r>
              <a:rPr lang="en-US" altLang="zh-CN" sz="3200" b="0" i="1" dirty="0"/>
              <a:t>Definitive Estimate</a:t>
            </a:r>
            <a:r>
              <a:rPr lang="en-US" altLang="zh-CN" sz="3200" b="0" dirty="0"/>
              <a:t> prepared during the detailed design phase to</a:t>
            </a:r>
            <a:r>
              <a:rPr lang="zh-CN" altLang="en-US" sz="3200" b="0" dirty="0"/>
              <a:t>　</a:t>
            </a:r>
            <a:r>
              <a:rPr lang="en-US" altLang="zh-CN" sz="3200" b="0" dirty="0"/>
              <a:t>ensure that the cost of the structure or facility developing from the design process is within budget, or the probable extent of the overrun.</a:t>
            </a:r>
          </a:p>
          <a:p>
            <a:pPr eaLnBrk="1" hangingPunct="1"/>
            <a:endParaRPr lang="en-US" altLang="zh-CN" sz="3200" b="0" dirty="0"/>
          </a:p>
          <a:p>
            <a:pPr eaLnBrk="1" hangingPunct="1"/>
            <a:r>
              <a:rPr lang="en-US" altLang="zh-CN" sz="3200" b="0" dirty="0"/>
              <a:t> A </a:t>
            </a:r>
            <a:r>
              <a:rPr lang="en-US" altLang="zh-CN" sz="3200" b="0" i="1" dirty="0"/>
              <a:t>Detailed Estimate</a:t>
            </a:r>
            <a:r>
              <a:rPr lang="en-US" altLang="zh-CN" sz="3200" b="0" dirty="0"/>
              <a:t> prepared by the contractor as part of the process of preparing a tender for the construction of the project.</a:t>
            </a:r>
          </a:p>
          <a:p>
            <a:pPr eaLnBrk="1" hangingPunct="1"/>
            <a:endParaRPr lang="en-US" altLang="zh-CN" sz="3200" b="0" dirty="0"/>
          </a:p>
          <a:p>
            <a:pPr eaLnBrk="1" hangingPunct="1"/>
            <a:endParaRPr lang="zh-CN" altLang="en-US" sz="3200" dirty="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p:nvPr/>
        </p:nvSpPr>
        <p:spPr>
          <a:xfrm>
            <a:off x="406400" y="228600"/>
            <a:ext cx="7772400" cy="114300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0"/>
              </a:spcBef>
              <a:buNone/>
            </a:pPr>
            <a:r>
              <a:rPr lang="en-AU" altLang="zh-CN" dirty="0">
                <a:solidFill>
                  <a:srgbClr val="990000"/>
                </a:solidFill>
              </a:rPr>
              <a:t>Estimate Accuracy Range During Project Phases</a:t>
            </a:r>
          </a:p>
        </p:txBody>
      </p:sp>
      <p:pic>
        <p:nvPicPr>
          <p:cNvPr id="32771" name="Picture 6"/>
          <p:cNvPicPr>
            <a:picLocks noChangeAspect="1"/>
          </p:cNvPicPr>
          <p:nvPr/>
        </p:nvPicPr>
        <p:blipFill>
          <a:blip r:embed="rId2"/>
          <a:stretch>
            <a:fillRect/>
          </a:stretch>
        </p:blipFill>
        <p:spPr>
          <a:xfrm>
            <a:off x="695325" y="1444625"/>
            <a:ext cx="6705600" cy="4572000"/>
          </a:xfrm>
          <a:prstGeom prst="rect">
            <a:avLst/>
          </a:prstGeom>
          <a:noFill/>
          <a:ln w="9525">
            <a:noFill/>
          </a:ln>
        </p:spPr>
      </p:pic>
      <p:pic>
        <p:nvPicPr>
          <p:cNvPr id="32772" name="Picture 7"/>
          <p:cNvPicPr>
            <a:picLocks noChangeAspect="1"/>
          </p:cNvPicPr>
          <p:nvPr/>
        </p:nvPicPr>
        <p:blipFill>
          <a:blip r:embed="rId3"/>
          <a:stretch>
            <a:fillRect/>
          </a:stretch>
        </p:blipFill>
        <p:spPr>
          <a:xfrm>
            <a:off x="712788" y="1444625"/>
            <a:ext cx="6705600" cy="4572000"/>
          </a:xfrm>
          <a:prstGeom prst="rect">
            <a:avLst/>
          </a:prstGeom>
          <a:noFill/>
          <a:ln w="9525">
            <a:noFill/>
          </a:ln>
        </p:spPr>
      </p:pic>
      <p:sp>
        <p:nvSpPr>
          <p:cNvPr id="32773" name="Rectangle 8"/>
          <p:cNvSpPr/>
          <p:nvPr/>
        </p:nvSpPr>
        <p:spPr>
          <a:xfrm>
            <a:off x="1905000" y="1676400"/>
            <a:ext cx="1112838" cy="517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Feasibility &amp; Viability</a:t>
            </a:r>
            <a:endParaRPr lang="en-AU" altLang="zh-CN" sz="1200" b="0" dirty="0">
              <a:solidFill>
                <a:srgbClr val="0000FF"/>
              </a:solidFill>
              <a:latin typeface="Helvetica" pitchFamily="34" charset="0"/>
              <a:ea typeface="宋体" panose="02010600030101010101" pitchFamily="2" charset="-122"/>
            </a:endParaRPr>
          </a:p>
        </p:txBody>
      </p:sp>
      <p:sp>
        <p:nvSpPr>
          <p:cNvPr id="32774" name="Line 9"/>
          <p:cNvSpPr/>
          <p:nvPr/>
        </p:nvSpPr>
        <p:spPr>
          <a:xfrm>
            <a:off x="3051175" y="1905000"/>
            <a:ext cx="1825625" cy="0"/>
          </a:xfrm>
          <a:prstGeom prst="line">
            <a:avLst/>
          </a:prstGeom>
          <a:ln w="28575" cap="flat" cmpd="sng">
            <a:solidFill>
              <a:schemeClr val="tx1"/>
            </a:solidFill>
            <a:prstDash val="solid"/>
            <a:headEnd type="none" w="sm" len="sm"/>
            <a:tailEnd type="stealth" w="med" len="med"/>
          </a:ln>
        </p:spPr>
      </p:sp>
      <p:sp>
        <p:nvSpPr>
          <p:cNvPr id="32775" name="Rectangle 10"/>
          <p:cNvSpPr/>
          <p:nvPr/>
        </p:nvSpPr>
        <p:spPr>
          <a:xfrm>
            <a:off x="5105400" y="1752600"/>
            <a:ext cx="10064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Reality</a:t>
            </a:r>
          </a:p>
        </p:txBody>
      </p:sp>
      <p:sp>
        <p:nvSpPr>
          <p:cNvPr id="32776" name="Rectangle 11"/>
          <p:cNvSpPr/>
          <p:nvPr/>
        </p:nvSpPr>
        <p:spPr>
          <a:xfrm>
            <a:off x="3505200" y="1600200"/>
            <a:ext cx="1287463"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Through to</a:t>
            </a:r>
            <a:endParaRPr lang="en-AU" altLang="zh-CN" sz="1200" b="0" dirty="0">
              <a:solidFill>
                <a:srgbClr val="0000FF"/>
              </a:solidFill>
              <a:latin typeface="Helvetica" pitchFamily="34" charset="0"/>
              <a:ea typeface="宋体" panose="02010600030101010101" pitchFamily="2" charset="-122"/>
            </a:endParaRPr>
          </a:p>
        </p:txBody>
      </p:sp>
      <p:sp>
        <p:nvSpPr>
          <p:cNvPr id="32777" name="Rectangle 12"/>
          <p:cNvSpPr/>
          <p:nvPr/>
        </p:nvSpPr>
        <p:spPr>
          <a:xfrm>
            <a:off x="5840413" y="3752850"/>
            <a:ext cx="1600200" cy="517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 Design Completed</a:t>
            </a:r>
            <a:endParaRPr lang="en-AU" altLang="zh-CN" sz="1200" b="0" dirty="0">
              <a:solidFill>
                <a:srgbClr val="0000FF"/>
              </a:solidFill>
              <a:latin typeface="Helvetica" pitchFamily="34" charset="0"/>
              <a:ea typeface="宋体" panose="02010600030101010101" pitchFamily="2" charset="-122"/>
            </a:endParaRPr>
          </a:p>
        </p:txBody>
      </p:sp>
      <p:sp>
        <p:nvSpPr>
          <p:cNvPr id="32778" name="Rectangle 13"/>
          <p:cNvSpPr/>
          <p:nvPr/>
        </p:nvSpPr>
        <p:spPr>
          <a:xfrm>
            <a:off x="6096000" y="2438400"/>
            <a:ext cx="685800" cy="517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Final Cost</a:t>
            </a:r>
          </a:p>
        </p:txBody>
      </p:sp>
      <p:sp>
        <p:nvSpPr>
          <p:cNvPr id="32779" name="Rectangle 14"/>
          <p:cNvSpPr/>
          <p:nvPr/>
        </p:nvSpPr>
        <p:spPr>
          <a:xfrm rot="-5400000">
            <a:off x="-84137" y="3278188"/>
            <a:ext cx="1600200" cy="517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Accuracy of    Estimate</a:t>
            </a:r>
          </a:p>
        </p:txBody>
      </p:sp>
      <p:sp>
        <p:nvSpPr>
          <p:cNvPr id="32780" name="Line 15"/>
          <p:cNvSpPr/>
          <p:nvPr/>
        </p:nvSpPr>
        <p:spPr>
          <a:xfrm>
            <a:off x="6324600" y="2898775"/>
            <a:ext cx="0" cy="377825"/>
          </a:xfrm>
          <a:prstGeom prst="line">
            <a:avLst/>
          </a:prstGeom>
          <a:ln w="12700" cap="flat" cmpd="sng">
            <a:solidFill>
              <a:schemeClr val="tx1"/>
            </a:solidFill>
            <a:prstDash val="solid"/>
            <a:headEnd type="none" w="sm" len="sm"/>
            <a:tailEnd type="stealth" w="med" len="med"/>
          </a:ln>
        </p:spPr>
      </p:sp>
      <p:sp>
        <p:nvSpPr>
          <p:cNvPr id="32781" name="Line 16"/>
          <p:cNvSpPr/>
          <p:nvPr/>
        </p:nvSpPr>
        <p:spPr>
          <a:xfrm>
            <a:off x="1069975" y="5105400"/>
            <a:ext cx="5559425" cy="0"/>
          </a:xfrm>
          <a:prstGeom prst="line">
            <a:avLst/>
          </a:prstGeom>
          <a:ln w="12700" cap="flat" cmpd="sng">
            <a:solidFill>
              <a:schemeClr val="tx1"/>
            </a:solidFill>
            <a:prstDash val="solid"/>
            <a:headEnd type="none" w="sm" len="sm"/>
            <a:tailEnd type="none" w="sm" len="sm"/>
          </a:ln>
        </p:spPr>
      </p:sp>
      <p:sp>
        <p:nvSpPr>
          <p:cNvPr id="32782" name="Rectangle 17"/>
          <p:cNvSpPr/>
          <p:nvPr/>
        </p:nvSpPr>
        <p:spPr>
          <a:xfrm>
            <a:off x="2224088" y="4800600"/>
            <a:ext cx="1204912"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Preliminary</a:t>
            </a:r>
            <a:endParaRPr lang="en-AU" altLang="zh-CN" sz="1200" b="0" dirty="0">
              <a:solidFill>
                <a:srgbClr val="0000FF"/>
              </a:solidFill>
              <a:latin typeface="Helvetica" pitchFamily="34" charset="0"/>
              <a:ea typeface="宋体" panose="02010600030101010101" pitchFamily="2" charset="-122"/>
            </a:endParaRPr>
          </a:p>
        </p:txBody>
      </p:sp>
      <p:sp>
        <p:nvSpPr>
          <p:cNvPr id="32783" name="Rectangle 18"/>
          <p:cNvSpPr/>
          <p:nvPr/>
        </p:nvSpPr>
        <p:spPr>
          <a:xfrm>
            <a:off x="3641725" y="4800600"/>
            <a:ext cx="10064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Definitive</a:t>
            </a:r>
            <a:endParaRPr lang="en-AU" altLang="zh-CN" sz="1200" b="0" dirty="0">
              <a:solidFill>
                <a:srgbClr val="0000FF"/>
              </a:solidFill>
              <a:latin typeface="Helvetica" pitchFamily="34" charset="0"/>
              <a:ea typeface="宋体" panose="02010600030101010101" pitchFamily="2" charset="-122"/>
            </a:endParaRPr>
          </a:p>
        </p:txBody>
      </p:sp>
      <p:sp>
        <p:nvSpPr>
          <p:cNvPr id="32784" name="Rectangle 19"/>
          <p:cNvSpPr/>
          <p:nvPr/>
        </p:nvSpPr>
        <p:spPr>
          <a:xfrm>
            <a:off x="4953000" y="4800600"/>
            <a:ext cx="1974850"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Detailed Estimate</a:t>
            </a:r>
            <a:endParaRPr lang="en-AU" altLang="zh-CN" sz="1200" b="0" dirty="0">
              <a:solidFill>
                <a:srgbClr val="0000FF"/>
              </a:solidFill>
              <a:latin typeface="Helvetica" pitchFamily="34" charset="0"/>
              <a:ea typeface="宋体" panose="02010600030101010101" pitchFamily="2" charset="-122"/>
            </a:endParaRPr>
          </a:p>
        </p:txBody>
      </p:sp>
      <p:sp>
        <p:nvSpPr>
          <p:cNvPr id="32785" name="Rectangle 20"/>
          <p:cNvSpPr/>
          <p:nvPr/>
        </p:nvSpPr>
        <p:spPr>
          <a:xfrm>
            <a:off x="2270125" y="5103813"/>
            <a:ext cx="10064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Estimate</a:t>
            </a:r>
          </a:p>
        </p:txBody>
      </p:sp>
      <p:sp>
        <p:nvSpPr>
          <p:cNvPr id="32786" name="Rectangle 21"/>
          <p:cNvSpPr/>
          <p:nvPr/>
        </p:nvSpPr>
        <p:spPr>
          <a:xfrm>
            <a:off x="3641725" y="5105400"/>
            <a:ext cx="10064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Estimate</a:t>
            </a:r>
            <a:endParaRPr lang="en-AU" altLang="zh-CN" sz="1200" b="0" dirty="0">
              <a:solidFill>
                <a:srgbClr val="0000FF"/>
              </a:solidFill>
              <a:latin typeface="Helvetica" pitchFamily="34" charset="0"/>
              <a:ea typeface="宋体" panose="02010600030101010101" pitchFamily="2" charset="-122"/>
            </a:endParaRPr>
          </a:p>
        </p:txBody>
      </p:sp>
      <p:sp>
        <p:nvSpPr>
          <p:cNvPr id="32787" name="Rectangle 22"/>
          <p:cNvSpPr/>
          <p:nvPr/>
        </p:nvSpPr>
        <p:spPr>
          <a:xfrm>
            <a:off x="4953000" y="5105400"/>
            <a:ext cx="1752600"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(Contractors Bid)</a:t>
            </a:r>
          </a:p>
        </p:txBody>
      </p:sp>
      <p:sp>
        <p:nvSpPr>
          <p:cNvPr id="32788" name="Rectangle 23"/>
          <p:cNvSpPr/>
          <p:nvPr/>
        </p:nvSpPr>
        <p:spPr>
          <a:xfrm>
            <a:off x="2743200" y="2286000"/>
            <a:ext cx="1762125" cy="517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i="1" dirty="0">
                <a:solidFill>
                  <a:srgbClr val="0000FF"/>
                </a:solidFill>
                <a:latin typeface="Helvetica" pitchFamily="34" charset="0"/>
                <a:ea typeface="宋体" panose="02010600030101010101" pitchFamily="2" charset="-122"/>
              </a:rPr>
              <a:t>Order Process Equipment</a:t>
            </a:r>
            <a:endParaRPr lang="en-AU" altLang="zh-CN" sz="1000" b="0" i="1" dirty="0">
              <a:solidFill>
                <a:srgbClr val="0000FF"/>
              </a:solidFill>
              <a:latin typeface="Helvetica" pitchFamily="34" charset="0"/>
              <a:ea typeface="宋体" panose="02010600030101010101" pitchFamily="2" charset="-122"/>
            </a:endParaRPr>
          </a:p>
        </p:txBody>
      </p:sp>
      <p:sp>
        <p:nvSpPr>
          <p:cNvPr id="32789" name="Rectangle 24"/>
          <p:cNvSpPr/>
          <p:nvPr/>
        </p:nvSpPr>
        <p:spPr>
          <a:xfrm>
            <a:off x="1066800" y="5105400"/>
            <a:ext cx="13366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Magnitude</a:t>
            </a:r>
            <a:endParaRPr lang="en-AU" altLang="zh-CN" sz="1000" b="0" dirty="0">
              <a:solidFill>
                <a:srgbClr val="0000FF"/>
              </a:solidFill>
              <a:latin typeface="Helvetica" pitchFamily="34" charset="0"/>
              <a:ea typeface="宋体" panose="02010600030101010101" pitchFamily="2" charset="-122"/>
            </a:endParaRPr>
          </a:p>
        </p:txBody>
      </p:sp>
      <p:sp>
        <p:nvSpPr>
          <p:cNvPr id="32790" name="Rectangle 25"/>
          <p:cNvSpPr/>
          <p:nvPr/>
        </p:nvSpPr>
        <p:spPr>
          <a:xfrm>
            <a:off x="1355725" y="4818063"/>
            <a:ext cx="1006475" cy="304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en-AU" altLang="zh-CN" sz="1400" dirty="0">
                <a:solidFill>
                  <a:srgbClr val="0000FF"/>
                </a:solidFill>
                <a:latin typeface="Helvetica" pitchFamily="34" charset="0"/>
                <a:ea typeface="宋体" panose="02010600030101010101" pitchFamily="2" charset="-122"/>
              </a:rPr>
              <a:t>Order of</a:t>
            </a:r>
          </a:p>
        </p:txBody>
      </p:sp>
      <p:sp>
        <p:nvSpPr>
          <p:cNvPr id="32791" name="Text Box 26"/>
          <p:cNvSpPr txBox="1"/>
          <p:nvPr/>
        </p:nvSpPr>
        <p:spPr>
          <a:xfrm>
            <a:off x="5081588" y="5788025"/>
            <a:ext cx="3400425"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2400" dirty="0">
                <a:solidFill>
                  <a:srgbClr val="990000"/>
                </a:solidFill>
                <a:latin typeface="Times New Roman" panose="02020603050405020304" pitchFamily="18" charset="0"/>
                <a:ea typeface="宋体" panose="02010600030101010101" pitchFamily="2" charset="-122"/>
              </a:rPr>
              <a:t>成本估算精度影响因素</a:t>
            </a:r>
            <a:r>
              <a:rPr lang="en-US" altLang="zh-CN" sz="2400" dirty="0">
                <a:solidFill>
                  <a:srgbClr val="990000"/>
                </a:solidFill>
                <a:latin typeface="Times New Roman" panose="02020603050405020304" pitchFamily="18" charset="0"/>
                <a:ea typeface="宋体" panose="02010600030101010101" pitchFamily="2" charset="-122"/>
              </a:rPr>
              <a:t>?</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a:ln/>
        </p:spPr>
        <p:txBody>
          <a:bodyPr vert="horz" wrap="square" lIns="91440" tIns="45720" rIns="91440" bIns="45720" anchor="ctr"/>
          <a:lstStyle/>
          <a:p>
            <a:pPr eaLnBrk="1" hangingPunct="1"/>
            <a:r>
              <a:rPr lang="zh-CN" altLang="en-US" dirty="0"/>
              <a:t>成本估算精度影响因素</a:t>
            </a:r>
          </a:p>
        </p:txBody>
      </p:sp>
      <p:sp>
        <p:nvSpPr>
          <p:cNvPr id="33795" name="Rectangle 3"/>
          <p:cNvSpPr>
            <a:spLocks noGrp="1"/>
          </p:cNvSpPr>
          <p:nvPr>
            <p:ph idx="1"/>
          </p:nvPr>
        </p:nvSpPr>
        <p:spPr>
          <a:ln/>
        </p:spPr>
        <p:txBody>
          <a:bodyPr vert="horz" wrap="square" lIns="91440" tIns="45720" rIns="91440" bIns="45720" anchor="t"/>
          <a:lstStyle/>
          <a:p>
            <a:pPr marL="685800" indent="-685800" eaLnBrk="1" hangingPunct="1">
              <a:buFontTx/>
              <a:buAutoNum type="circleNumDbPlain"/>
            </a:pPr>
            <a:r>
              <a:rPr lang="zh-CN" altLang="en-US" dirty="0"/>
              <a:t>重要程度</a:t>
            </a:r>
          </a:p>
          <a:p>
            <a:pPr marL="685800" indent="-685800" eaLnBrk="1" hangingPunct="1">
              <a:buFontTx/>
              <a:buAutoNum type="circleNumDbPlain"/>
            </a:pPr>
            <a:r>
              <a:rPr lang="zh-CN" altLang="en-US" dirty="0"/>
              <a:t>估算项目的难易程度</a:t>
            </a:r>
          </a:p>
          <a:p>
            <a:pPr marL="685800" indent="-685800" eaLnBrk="1" hangingPunct="1">
              <a:buFontTx/>
              <a:buAutoNum type="circleNumDbPlain"/>
            </a:pPr>
            <a:r>
              <a:rPr lang="zh-CN" altLang="en-US" dirty="0"/>
              <a:t>采用的估算方法</a:t>
            </a:r>
          </a:p>
          <a:p>
            <a:pPr marL="685800" indent="-685800" eaLnBrk="1" hangingPunct="1">
              <a:buFontTx/>
              <a:buAutoNum type="circleNumDbPlain"/>
            </a:pPr>
            <a:r>
              <a:rPr lang="zh-CN" altLang="en-US" dirty="0"/>
              <a:t>估算人员的资质</a:t>
            </a:r>
          </a:p>
          <a:p>
            <a:pPr marL="685800" indent="-685800" eaLnBrk="1" hangingPunct="1">
              <a:buFontTx/>
              <a:buAutoNum type="circleNumDbPlain"/>
            </a:pPr>
            <a:r>
              <a:rPr lang="zh-CN" altLang="en-US" dirty="0"/>
              <a:t>对特定影响因素的敏感性</a:t>
            </a:r>
          </a:p>
          <a:p>
            <a:pPr marL="685800" indent="-685800" eaLnBrk="1" hangingPunct="1">
              <a:buFontTx/>
              <a:buAutoNum type="circleNumDbPlain"/>
            </a:pPr>
            <a:r>
              <a:rPr lang="zh-CN" altLang="en-US" dirty="0"/>
              <a:t>决策需求</a:t>
            </a:r>
          </a:p>
          <a:p>
            <a:pPr marL="685800" indent="-685800" eaLnBrk="1" hangingPunct="1">
              <a:buNone/>
            </a:pPr>
            <a:r>
              <a:rPr lang="zh-CN" altLang="en-US" dirty="0"/>
              <a:t>                                    </a:t>
            </a:r>
            <a:r>
              <a:rPr lang="zh-CN" altLang="en-US" dirty="0">
                <a:solidFill>
                  <a:srgbClr val="800000"/>
                </a:solidFill>
              </a:rPr>
              <a:t>数据来源</a:t>
            </a:r>
            <a:r>
              <a:rPr lang="en-US" altLang="zh-CN" dirty="0">
                <a:solidFill>
                  <a:srgbClr val="800000"/>
                </a:solidFill>
              </a:rPr>
              <a:t>?</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ln/>
        </p:spPr>
        <p:txBody>
          <a:bodyPr vert="horz" wrap="square" lIns="91440" tIns="45720" rIns="91440" bIns="45720" anchor="ctr"/>
          <a:lstStyle/>
          <a:p>
            <a:pPr eaLnBrk="1" hangingPunct="1"/>
            <a:r>
              <a:rPr lang="zh-CN" altLang="en-US" dirty="0"/>
              <a:t>估算数据来源</a:t>
            </a:r>
          </a:p>
        </p:txBody>
      </p:sp>
      <p:sp>
        <p:nvSpPr>
          <p:cNvPr id="34819" name="Rectangle 3"/>
          <p:cNvSpPr>
            <a:spLocks noGrp="1"/>
          </p:cNvSpPr>
          <p:nvPr>
            <p:ph idx="1"/>
          </p:nvPr>
        </p:nvSpPr>
        <p:spPr>
          <a:ln/>
        </p:spPr>
        <p:txBody>
          <a:bodyPr vert="horz" wrap="square" lIns="91440" tIns="45720" rIns="91440" bIns="45720" anchor="t"/>
          <a:lstStyle/>
          <a:p>
            <a:pPr marL="685800" indent="-685800" eaLnBrk="1" hangingPunct="1">
              <a:buFontTx/>
              <a:buAutoNum type="circleNumDbPlain"/>
            </a:pPr>
            <a:r>
              <a:rPr lang="zh-CN" altLang="en-US" dirty="0"/>
              <a:t>会计记录</a:t>
            </a:r>
          </a:p>
          <a:p>
            <a:pPr marL="685800" indent="-685800" eaLnBrk="1" hangingPunct="1">
              <a:buFontTx/>
              <a:buAutoNum type="circleNumDbPlain"/>
            </a:pPr>
            <a:r>
              <a:rPr lang="zh-CN" altLang="en-US" dirty="0"/>
              <a:t>公司工程</a:t>
            </a:r>
            <a:r>
              <a:rPr lang="en-US" altLang="zh-CN" dirty="0"/>
              <a:t>,</a:t>
            </a:r>
            <a:r>
              <a:rPr lang="zh-CN" altLang="en-US" dirty="0"/>
              <a:t>生产</a:t>
            </a:r>
            <a:r>
              <a:rPr lang="en-US" altLang="zh-CN" dirty="0"/>
              <a:t>,</a:t>
            </a:r>
            <a:r>
              <a:rPr lang="zh-CN" altLang="en-US" dirty="0"/>
              <a:t>销售</a:t>
            </a:r>
            <a:r>
              <a:rPr lang="en-US" altLang="zh-CN" dirty="0"/>
              <a:t>,</a:t>
            </a:r>
            <a:r>
              <a:rPr lang="zh-CN" altLang="en-US" dirty="0"/>
              <a:t>质量</a:t>
            </a:r>
            <a:r>
              <a:rPr lang="en-US" altLang="zh-CN" dirty="0"/>
              <a:t>,</a:t>
            </a:r>
            <a:r>
              <a:rPr lang="zh-CN" altLang="en-US" dirty="0"/>
              <a:t>采购和人事记录等</a:t>
            </a:r>
          </a:p>
          <a:p>
            <a:pPr marL="685800" indent="-685800" eaLnBrk="1" hangingPunct="1">
              <a:buFontTx/>
              <a:buAutoNum type="circleNumDbPlain"/>
            </a:pPr>
            <a:r>
              <a:rPr lang="zh-CN" altLang="en-US" dirty="0"/>
              <a:t>外部信息</a:t>
            </a:r>
            <a:r>
              <a:rPr lang="en-US" altLang="zh-CN" dirty="0"/>
              <a:t>:</a:t>
            </a:r>
            <a:r>
              <a:rPr lang="zh-CN" altLang="en-US" dirty="0"/>
              <a:t>公开出版物</a:t>
            </a:r>
            <a:r>
              <a:rPr lang="en-US" altLang="zh-CN" dirty="0"/>
              <a:t>, </a:t>
            </a:r>
            <a:r>
              <a:rPr lang="zh-CN" altLang="en-US" dirty="0"/>
              <a:t>个人间联络</a:t>
            </a:r>
            <a:r>
              <a:rPr lang="en-US" altLang="zh-CN" dirty="0"/>
              <a:t>.</a:t>
            </a:r>
          </a:p>
          <a:p>
            <a:pPr marL="685800" indent="-685800" eaLnBrk="1" hangingPunct="1">
              <a:buFontTx/>
              <a:buAutoNum type="circleNumDbPlain"/>
            </a:pPr>
            <a:r>
              <a:rPr lang="zh-CN" altLang="en-US" dirty="0"/>
              <a:t>研究与开发</a:t>
            </a:r>
            <a:r>
              <a:rPr lang="en-US" altLang="zh-CN" dirty="0"/>
              <a:t>(R&amp;D)</a:t>
            </a:r>
          </a:p>
          <a:p>
            <a:pPr marL="685800" indent="-685800" eaLnBrk="1" hangingPunct="1"/>
            <a:endParaRPr lang="zh-CN" altLang="en-US" dirty="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ln/>
        </p:spPr>
        <p:txBody>
          <a:bodyPr vert="horz" wrap="square" lIns="91440" tIns="45720" rIns="91440" bIns="45720" anchor="ctr"/>
          <a:lstStyle/>
          <a:p>
            <a:pPr eaLnBrk="1" hangingPunct="1"/>
            <a:r>
              <a:rPr lang="en-US" altLang="zh-CN" sz="4000" dirty="0"/>
              <a:t>Cost estimating: tools and techniques</a:t>
            </a:r>
            <a:endParaRPr lang="zh-CN" altLang="en-US" sz="4000" dirty="0"/>
          </a:p>
        </p:txBody>
      </p:sp>
      <p:sp>
        <p:nvSpPr>
          <p:cNvPr id="35843" name="Rectangle 3"/>
          <p:cNvSpPr>
            <a:spLocks noGrp="1"/>
          </p:cNvSpPr>
          <p:nvPr>
            <p:ph idx="1"/>
          </p:nvPr>
        </p:nvSpPr>
        <p:spPr>
          <a:ln/>
        </p:spPr>
        <p:txBody>
          <a:bodyPr vert="horz" wrap="square" lIns="91440" tIns="45720" rIns="91440" bIns="45720" anchor="t"/>
          <a:lstStyle/>
          <a:p>
            <a:pPr eaLnBrk="1" hangingPunct="1">
              <a:lnSpc>
                <a:spcPct val="80000"/>
              </a:lnSpc>
            </a:pPr>
            <a:r>
              <a:rPr lang="en-US" altLang="zh-CN" sz="2400" dirty="0"/>
              <a:t>Analogous estimating</a:t>
            </a:r>
          </a:p>
          <a:p>
            <a:pPr eaLnBrk="1" hangingPunct="1">
              <a:lnSpc>
                <a:spcPct val="80000"/>
              </a:lnSpc>
            </a:pPr>
            <a:r>
              <a:rPr lang="en-US" altLang="zh-CN" sz="2400" dirty="0"/>
              <a:t>Determine resource cost rates</a:t>
            </a:r>
          </a:p>
          <a:p>
            <a:pPr eaLnBrk="1" hangingPunct="1">
              <a:lnSpc>
                <a:spcPct val="80000"/>
              </a:lnSpc>
            </a:pPr>
            <a:r>
              <a:rPr lang="en-US" altLang="zh-CN" sz="2400" dirty="0"/>
              <a:t>Vendor bid analysis</a:t>
            </a:r>
          </a:p>
          <a:p>
            <a:pPr eaLnBrk="1" hangingPunct="1">
              <a:lnSpc>
                <a:spcPct val="80000"/>
              </a:lnSpc>
            </a:pPr>
            <a:r>
              <a:rPr lang="en-US" altLang="zh-CN" sz="2400" dirty="0"/>
              <a:t>Reserve analysis</a:t>
            </a:r>
          </a:p>
          <a:p>
            <a:pPr eaLnBrk="1" hangingPunct="1">
              <a:lnSpc>
                <a:spcPct val="80000"/>
              </a:lnSpc>
            </a:pPr>
            <a:r>
              <a:rPr lang="en-US" altLang="zh-CN" sz="2400" dirty="0"/>
              <a:t>Cost of quality</a:t>
            </a:r>
          </a:p>
          <a:p>
            <a:pPr eaLnBrk="1" hangingPunct="1">
              <a:lnSpc>
                <a:spcPct val="80000"/>
              </a:lnSpc>
            </a:pPr>
            <a:r>
              <a:rPr lang="en-US" altLang="zh-CN" sz="2400" dirty="0"/>
              <a:t>Index(</a:t>
            </a:r>
            <a:r>
              <a:rPr lang="zh-CN" altLang="en-US" sz="2400" dirty="0"/>
              <a:t>成本变化</a:t>
            </a:r>
            <a:r>
              <a:rPr lang="en-US" altLang="zh-CN" sz="2400" dirty="0"/>
              <a:t>:</a:t>
            </a:r>
            <a:r>
              <a:rPr lang="zh-CN" altLang="en-US" sz="2400" dirty="0"/>
              <a:t>由于技术进步</a:t>
            </a:r>
            <a:r>
              <a:rPr lang="en-US" altLang="zh-CN" sz="2400" dirty="0"/>
              <a:t>,</a:t>
            </a:r>
            <a:r>
              <a:rPr lang="zh-CN" altLang="en-US" sz="2400" dirty="0"/>
              <a:t>劳动力和材料</a:t>
            </a:r>
            <a:r>
              <a:rPr lang="en-US" altLang="zh-CN" sz="2400" dirty="0"/>
              <a:t>, </a:t>
            </a:r>
            <a:r>
              <a:rPr lang="zh-CN" altLang="en-US" sz="2400" dirty="0"/>
              <a:t>通货膨胀等</a:t>
            </a:r>
            <a:r>
              <a:rPr lang="en-US" altLang="zh-CN" sz="2400" dirty="0"/>
              <a:t>)</a:t>
            </a:r>
          </a:p>
          <a:p>
            <a:pPr eaLnBrk="1" hangingPunct="1">
              <a:lnSpc>
                <a:spcPct val="80000"/>
              </a:lnSpc>
            </a:pPr>
            <a:r>
              <a:rPr lang="en-US" altLang="zh-CN" sz="2400" dirty="0"/>
              <a:t>Unit price</a:t>
            </a:r>
          </a:p>
          <a:p>
            <a:pPr eaLnBrk="1" hangingPunct="1">
              <a:lnSpc>
                <a:spcPct val="80000"/>
              </a:lnSpc>
            </a:pPr>
            <a:r>
              <a:rPr lang="en-US" altLang="zh-CN" sz="2400" dirty="0"/>
              <a:t>Factor technique</a:t>
            </a:r>
          </a:p>
          <a:p>
            <a:pPr eaLnBrk="1" hangingPunct="1">
              <a:lnSpc>
                <a:spcPct val="80000"/>
              </a:lnSpc>
            </a:pPr>
            <a:r>
              <a:rPr lang="en-US" altLang="zh-CN" sz="2400" dirty="0"/>
              <a:t>Parametric estimating: Leaning curve( </a:t>
            </a:r>
            <a:r>
              <a:rPr lang="zh-CN" altLang="en-US" sz="2400" dirty="0"/>
              <a:t>学习曲线</a:t>
            </a:r>
            <a:r>
              <a:rPr lang="en-US" altLang="zh-CN" sz="2400" dirty="0"/>
              <a:t>); Power-sizing technique(</a:t>
            </a:r>
            <a:r>
              <a:rPr lang="zh-CN" altLang="en-US" sz="2400" dirty="0"/>
              <a:t>生产规模法</a:t>
            </a:r>
            <a:r>
              <a:rPr lang="en-US" altLang="zh-CN" sz="2400" dirty="0"/>
              <a:t>),</a:t>
            </a:r>
            <a:r>
              <a:rPr lang="zh-CN" altLang="en-US" sz="2400" dirty="0"/>
              <a:t>  构建成本估算关系</a:t>
            </a:r>
            <a:endParaRPr lang="en-US" altLang="zh-CN" sz="2400" dirty="0"/>
          </a:p>
          <a:p>
            <a:pPr eaLnBrk="1" hangingPunct="1">
              <a:lnSpc>
                <a:spcPct val="80000"/>
              </a:lnSpc>
            </a:pPr>
            <a:r>
              <a:rPr lang="en-US" altLang="zh-CN" sz="2400" dirty="0"/>
              <a:t>Bottom-up estimating</a:t>
            </a:r>
          </a:p>
          <a:p>
            <a:pPr eaLnBrk="1" hangingPunct="1">
              <a:lnSpc>
                <a:spcPct val="80000"/>
              </a:lnSpc>
            </a:pPr>
            <a:r>
              <a:rPr lang="zh-CN" altLang="en-US" sz="2400" dirty="0"/>
              <a:t>Ｕ</a:t>
            </a:r>
            <a:r>
              <a:rPr lang="en-US" altLang="zh-CN" sz="2400" dirty="0"/>
              <a:t>p-bottom estimating</a:t>
            </a:r>
          </a:p>
          <a:p>
            <a:pPr eaLnBrk="1" hangingPunct="1">
              <a:lnSpc>
                <a:spcPct val="80000"/>
              </a:lnSpc>
              <a:buNone/>
            </a:pPr>
            <a:endParaRPr lang="en-US" altLang="zh-CN" sz="2400" dirty="0"/>
          </a:p>
          <a:p>
            <a:pPr eaLnBrk="1" hangingPunct="1">
              <a:lnSpc>
                <a:spcPct val="80000"/>
              </a:lnSpc>
            </a:pPr>
            <a:endParaRPr lang="zh-CN" altLang="en-US" sz="2400" dirty="0"/>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p:cNvSpPr>
            <a:spLocks noGrp="1" noRot="1"/>
          </p:cNvSpPr>
          <p:nvPr>
            <p:ph type="title"/>
          </p:nvPr>
        </p:nvSpPr>
        <p:spPr>
          <a:xfrm>
            <a:off x="301625" y="114300"/>
            <a:ext cx="8540750" cy="1143000"/>
          </a:xfrm>
          <a:noFill/>
          <a:ln/>
        </p:spPr>
        <p:txBody>
          <a:bodyPr vert="horz" wrap="square" lIns="91440" tIns="45720" rIns="91440" bIns="45720" anchor="ctr"/>
          <a:lstStyle/>
          <a:p>
            <a:pPr eaLnBrk="1" hangingPunct="1"/>
            <a:r>
              <a:rPr lang="en-US" altLang="zh-CN" dirty="0"/>
              <a:t>Cost of quality </a:t>
            </a:r>
          </a:p>
        </p:txBody>
      </p:sp>
      <p:sp>
        <p:nvSpPr>
          <p:cNvPr id="36867" name="Rectangle 7"/>
          <p:cNvSpPr>
            <a:spLocks noGrp="1" noRot="1"/>
          </p:cNvSpPr>
          <p:nvPr>
            <p:ph idx="1"/>
          </p:nvPr>
        </p:nvSpPr>
        <p:spPr>
          <a:xfrm>
            <a:off x="0" y="1549400"/>
            <a:ext cx="8540750" cy="3886200"/>
          </a:xfrm>
          <a:noFill/>
          <a:ln/>
        </p:spPr>
        <p:txBody>
          <a:bodyPr vert="horz" wrap="square" lIns="91440" tIns="45720" rIns="91440" bIns="45720" anchor="t"/>
          <a:lstStyle/>
          <a:p>
            <a:pPr marL="685800" indent="-685800" eaLnBrk="1" hangingPunct="1">
              <a:buNone/>
            </a:pPr>
            <a:r>
              <a:rPr lang="en-US" altLang="zh-CN" b="0" dirty="0"/>
              <a:t>Quality costs the total costs incurred by investment in:</a:t>
            </a:r>
          </a:p>
          <a:p>
            <a:pPr marL="685800" indent="-685800" eaLnBrk="1" hangingPunct="1">
              <a:buFontTx/>
              <a:buAutoNum type="circleNumDbPlain"/>
            </a:pPr>
            <a:r>
              <a:rPr lang="en-US" altLang="zh-CN" dirty="0"/>
              <a:t>Preventing nonconformance to requirements</a:t>
            </a:r>
          </a:p>
          <a:p>
            <a:pPr marL="685800" indent="-685800" eaLnBrk="1" hangingPunct="1">
              <a:buFontTx/>
              <a:buAutoNum type="circleNumDbPlain"/>
            </a:pPr>
            <a:r>
              <a:rPr lang="en-US" altLang="zh-CN" dirty="0"/>
              <a:t>Appraising the product or service for conformance to requirements</a:t>
            </a:r>
          </a:p>
          <a:p>
            <a:pPr marL="685800" indent="-685800" eaLnBrk="1" hangingPunct="1">
              <a:buFontTx/>
              <a:buAutoNum type="circleNumDbPlain"/>
            </a:pPr>
            <a:r>
              <a:rPr lang="en-US" altLang="zh-CN" dirty="0"/>
              <a:t>Failing to meet requirements (rework): internal and external</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a:ln/>
        </p:spPr>
        <p:txBody>
          <a:bodyPr vert="horz" wrap="square" lIns="91440" tIns="45720" rIns="91440" bIns="45720" anchor="ctr"/>
          <a:lstStyle/>
          <a:p>
            <a:pPr eaLnBrk="1" hangingPunct="1"/>
            <a:r>
              <a:rPr lang="en-US" altLang="zh-CN" sz="4000" dirty="0"/>
              <a:t>(1).Prevention cost</a:t>
            </a:r>
            <a:endParaRPr lang="zh-CN" altLang="en-US" sz="4000" dirty="0"/>
          </a:p>
        </p:txBody>
      </p:sp>
      <p:sp>
        <p:nvSpPr>
          <p:cNvPr id="37891" name="Rectangle 3"/>
          <p:cNvSpPr>
            <a:spLocks noGrp="1"/>
          </p:cNvSpPr>
          <p:nvPr>
            <p:ph idx="1"/>
          </p:nvPr>
        </p:nvSpPr>
        <p:spPr>
          <a:ln/>
        </p:spPr>
        <p:txBody>
          <a:bodyPr vert="horz" wrap="square" lIns="91440" tIns="45720" rIns="91440" bIns="45720" anchor="t"/>
          <a:lstStyle/>
          <a:p>
            <a:pPr eaLnBrk="1" hangingPunct="1">
              <a:lnSpc>
                <a:spcPct val="80000"/>
              </a:lnSpc>
            </a:pPr>
            <a:r>
              <a:rPr lang="zh-CN" altLang="en-US" sz="2400" b="0" dirty="0"/>
              <a:t>质量工作费：</a:t>
            </a:r>
            <a:r>
              <a:rPr lang="zh-CN" altLang="en-US" sz="2400" dirty="0"/>
              <a:t>企业管理体系为预防、保证和控制产品质量，开展质量管理所发生的办公、宣传、收集情报、制定质量标准、编制手册和质量计划、进行质量审核、工序能力研究、开展质量管理活动等做支付的费用。</a:t>
            </a:r>
          </a:p>
          <a:p>
            <a:pPr eaLnBrk="1" hangingPunct="1">
              <a:lnSpc>
                <a:spcPct val="80000"/>
              </a:lnSpc>
            </a:pPr>
            <a:r>
              <a:rPr lang="zh-CN" altLang="en-US" sz="2400" b="0" dirty="0"/>
              <a:t>质量培训费：</a:t>
            </a:r>
            <a:r>
              <a:rPr lang="zh-CN" altLang="en-US" sz="2400" dirty="0"/>
              <a:t>为达到质量要求，提高人员素质，对有关人员进行质量意识、质量管理、检测技术、操作水平等的培训费用。</a:t>
            </a:r>
          </a:p>
          <a:p>
            <a:pPr eaLnBrk="1" hangingPunct="1">
              <a:lnSpc>
                <a:spcPct val="80000"/>
              </a:lnSpc>
            </a:pPr>
            <a:r>
              <a:rPr lang="zh-CN" altLang="en-US" sz="2400" b="0" dirty="0"/>
              <a:t>质量奖励费：</a:t>
            </a:r>
            <a:r>
              <a:rPr lang="zh-CN" altLang="en-US" sz="2400" dirty="0"/>
              <a:t>为确保和改进产品质量支付的各种奖励费用。</a:t>
            </a:r>
          </a:p>
          <a:p>
            <a:pPr eaLnBrk="1" hangingPunct="1">
              <a:lnSpc>
                <a:spcPct val="80000"/>
              </a:lnSpc>
            </a:pPr>
            <a:r>
              <a:rPr lang="zh-CN" altLang="en-US" sz="2400" b="0" dirty="0"/>
              <a:t>产品评审费：</a:t>
            </a:r>
            <a:r>
              <a:rPr lang="zh-CN" altLang="en-US" sz="2400" dirty="0"/>
              <a:t>新产品设计方案的评审、失职产品质量的评审所发生的费用。</a:t>
            </a:r>
          </a:p>
          <a:p>
            <a:pPr eaLnBrk="1" hangingPunct="1">
              <a:lnSpc>
                <a:spcPct val="80000"/>
              </a:lnSpc>
            </a:pPr>
            <a:r>
              <a:rPr lang="zh-CN" altLang="en-US" sz="2400" b="0" dirty="0"/>
              <a:t>质量改进措施费：</a:t>
            </a:r>
            <a:r>
              <a:rPr lang="zh-CN" altLang="en-US" sz="2400" dirty="0"/>
              <a:t>建立质量体系、提高产品质量、改变产品设计、调整工艺、开展工序控制、进行技术改进的措施费用。</a:t>
            </a:r>
          </a:p>
          <a:p>
            <a:pPr eaLnBrk="1" hangingPunct="1">
              <a:lnSpc>
                <a:spcPct val="80000"/>
              </a:lnSpc>
            </a:pPr>
            <a:r>
              <a:rPr lang="zh-CN" altLang="en-US" sz="2400" b="0" dirty="0"/>
              <a:t>工资及福利奖金：</a:t>
            </a:r>
            <a:r>
              <a:rPr lang="zh-CN" altLang="en-US" sz="2400" dirty="0"/>
              <a:t>质量管理科室及车间从事专职质量管理人员的工资及福利基金。</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a:ln/>
        </p:spPr>
        <p:txBody>
          <a:bodyPr vert="horz" wrap="square" lIns="91440" tIns="45720" rIns="91440" bIns="45720" anchor="ctr"/>
          <a:lstStyle/>
          <a:p>
            <a:pPr eaLnBrk="1" hangingPunct="1"/>
            <a:r>
              <a:rPr lang="en-US" altLang="zh-CN" sz="4000" dirty="0"/>
              <a:t>(2).Appraisal cost</a:t>
            </a:r>
            <a:endParaRPr lang="zh-CN" altLang="en-US" sz="4000" dirty="0"/>
          </a:p>
        </p:txBody>
      </p:sp>
      <p:sp>
        <p:nvSpPr>
          <p:cNvPr id="38915" name="Rectangle 3"/>
          <p:cNvSpPr>
            <a:spLocks noGrp="1"/>
          </p:cNvSpPr>
          <p:nvPr>
            <p:ph idx="1"/>
          </p:nvPr>
        </p:nvSpPr>
        <p:spPr>
          <a:ln/>
        </p:spPr>
        <p:txBody>
          <a:bodyPr vert="horz" wrap="square" lIns="91440" tIns="45720" rIns="91440" bIns="45720" anchor="t"/>
          <a:lstStyle/>
          <a:p>
            <a:pPr eaLnBrk="1" hangingPunct="1"/>
            <a:r>
              <a:rPr lang="zh-CN" altLang="en-US" sz="3200" b="0" dirty="0"/>
              <a:t>检测试验费：</a:t>
            </a:r>
            <a:r>
              <a:rPr lang="zh-CN" altLang="en-US" sz="3200" dirty="0"/>
              <a:t>对进厂的材料、外协外构件、配套件、工量具以及生产过程中的在制品、半成品，按质量要求进行检查、测量、检测试验及检测设备的维修、校正所发生的费用。</a:t>
            </a:r>
          </a:p>
          <a:p>
            <a:pPr eaLnBrk="1" hangingPunct="1"/>
            <a:r>
              <a:rPr lang="zh-CN" altLang="en-US" sz="3200" b="0" dirty="0"/>
              <a:t>工资及福利奖金：</a:t>
            </a:r>
            <a:r>
              <a:rPr lang="zh-CN" altLang="en-US" sz="3200" dirty="0"/>
              <a:t>专职检验和计量人员的工资及福利基金。</a:t>
            </a:r>
          </a:p>
          <a:p>
            <a:pPr eaLnBrk="1" hangingPunct="1"/>
            <a:r>
              <a:rPr lang="zh-CN" altLang="en-US" sz="3200" b="0" dirty="0"/>
              <a:t>办公费：</a:t>
            </a:r>
            <a:r>
              <a:rPr lang="zh-CN" altLang="en-US" sz="3200" dirty="0"/>
              <a:t>为检验、实验所发生的办公费用。</a:t>
            </a:r>
          </a:p>
          <a:p>
            <a:pPr eaLnBrk="1" hangingPunct="1"/>
            <a:r>
              <a:rPr lang="zh-CN" altLang="en-US" sz="3200" b="0" dirty="0"/>
              <a:t>检测设备折旧费：</a:t>
            </a:r>
            <a:r>
              <a:rPr lang="zh-CN" altLang="en-US" sz="3200" dirty="0"/>
              <a:t>检测设备的折旧和大修理折旧。</a:t>
            </a:r>
          </a:p>
          <a:p>
            <a:pPr eaLnBrk="1" hangingPunct="1"/>
            <a:endParaRPr lang="zh-CN" altLang="en-US" sz="3200" dirty="0"/>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ln/>
        </p:spPr>
        <p:txBody>
          <a:bodyPr vert="horz" wrap="square" lIns="91440" tIns="45720" rIns="91440" bIns="45720" anchor="ctr"/>
          <a:lstStyle/>
          <a:p>
            <a:pPr eaLnBrk="1" hangingPunct="1"/>
            <a:r>
              <a:rPr lang="en-US" altLang="zh-CN" sz="4000" dirty="0">
                <a:solidFill>
                  <a:srgbClr val="800000"/>
                </a:solidFill>
              </a:rPr>
              <a:t>(3).Internal failure cost</a:t>
            </a:r>
            <a:endParaRPr lang="zh-CN" altLang="en-US" sz="4000" dirty="0">
              <a:solidFill>
                <a:srgbClr val="800000"/>
              </a:solidFill>
            </a:endParaRPr>
          </a:p>
        </p:txBody>
      </p:sp>
      <p:sp>
        <p:nvSpPr>
          <p:cNvPr id="39939" name="Rectangle 3"/>
          <p:cNvSpPr>
            <a:spLocks noGrp="1"/>
          </p:cNvSpPr>
          <p:nvPr>
            <p:ph idx="1"/>
          </p:nvPr>
        </p:nvSpPr>
        <p:spPr>
          <a:ln/>
        </p:spPr>
        <p:txBody>
          <a:bodyPr vert="horz" wrap="square" lIns="91440" tIns="45720" rIns="91440" bIns="45720" anchor="t"/>
          <a:lstStyle/>
          <a:p>
            <a:pPr eaLnBrk="1" hangingPunct="1">
              <a:lnSpc>
                <a:spcPct val="90000"/>
              </a:lnSpc>
            </a:pPr>
            <a:r>
              <a:rPr lang="zh-CN" altLang="en-US" sz="3200" b="0" dirty="0"/>
              <a:t>废品损失：</a:t>
            </a:r>
            <a:r>
              <a:rPr lang="zh-CN" altLang="en-US" sz="3200" dirty="0"/>
              <a:t>指无法修复或经济上不值得修复的在制品、半成品、产成品报废而造成的净损失。</a:t>
            </a:r>
          </a:p>
          <a:p>
            <a:pPr eaLnBrk="1" hangingPunct="1">
              <a:lnSpc>
                <a:spcPct val="90000"/>
              </a:lnSpc>
            </a:pPr>
            <a:r>
              <a:rPr lang="zh-CN" altLang="en-US" sz="3200" b="0" dirty="0"/>
              <a:t>返修损失：</a:t>
            </a:r>
            <a:r>
              <a:rPr lang="zh-CN" altLang="en-US" sz="3200" dirty="0"/>
              <a:t>对不合格的产成品、在制品及半成品进行返修所耗用的材料、人工费用。</a:t>
            </a:r>
          </a:p>
          <a:p>
            <a:pPr eaLnBrk="1" hangingPunct="1">
              <a:lnSpc>
                <a:spcPct val="90000"/>
              </a:lnSpc>
            </a:pPr>
            <a:r>
              <a:rPr lang="zh-CN" altLang="en-US" sz="3200" b="0" dirty="0"/>
              <a:t>停工损失：</a:t>
            </a:r>
            <a:r>
              <a:rPr lang="zh-CN" altLang="en-US" sz="3200" dirty="0"/>
              <a:t>由于质量问题而引起的停工损失。</a:t>
            </a:r>
          </a:p>
          <a:p>
            <a:pPr eaLnBrk="1" hangingPunct="1">
              <a:lnSpc>
                <a:spcPct val="90000"/>
              </a:lnSpc>
            </a:pPr>
            <a:r>
              <a:rPr lang="zh-CN" altLang="en-US" sz="3200" b="0" dirty="0"/>
              <a:t>事故分析处理费：</a:t>
            </a:r>
            <a:r>
              <a:rPr lang="zh-CN" altLang="en-US" sz="3200" dirty="0"/>
              <a:t>对质量问题进行分析处理所发生的直接损失。</a:t>
            </a:r>
          </a:p>
          <a:p>
            <a:pPr eaLnBrk="1" hangingPunct="1">
              <a:lnSpc>
                <a:spcPct val="90000"/>
              </a:lnSpc>
            </a:pPr>
            <a:r>
              <a:rPr lang="zh-CN" altLang="en-US" sz="3200" b="0" dirty="0"/>
              <a:t>产品降级损失：</a:t>
            </a:r>
            <a:r>
              <a:rPr lang="zh-CN" altLang="en-US" sz="3200" dirty="0"/>
              <a:t>产品因外表或局部的质量问题达不到质量标准，又不影响主要性能而降级处理所造成的损失。</a:t>
            </a:r>
          </a:p>
          <a:p>
            <a:pPr eaLnBrk="1" hangingPunct="1">
              <a:lnSpc>
                <a:spcPct val="90000"/>
              </a:lnSpc>
            </a:pPr>
            <a:endParaRPr lang="zh-CN" altLang="en-US" sz="3200" dirty="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a:ln/>
        </p:spPr>
        <p:txBody>
          <a:bodyPr vert="horz" wrap="square" lIns="91440" tIns="45720" rIns="91440" bIns="45720" anchor="ctr"/>
          <a:lstStyle/>
          <a:p>
            <a:pPr eaLnBrk="1" hangingPunct="1"/>
            <a:r>
              <a:rPr lang="en-US" altLang="zh-CN" sz="4000" dirty="0"/>
              <a:t>(3).External failure cost</a:t>
            </a:r>
            <a:endParaRPr lang="zh-CN" altLang="en-US" sz="4000" dirty="0"/>
          </a:p>
        </p:txBody>
      </p:sp>
      <p:sp>
        <p:nvSpPr>
          <p:cNvPr id="40963" name="Rectangle 3"/>
          <p:cNvSpPr>
            <a:spLocks noGrp="1"/>
          </p:cNvSpPr>
          <p:nvPr>
            <p:ph idx="1"/>
          </p:nvPr>
        </p:nvSpPr>
        <p:spPr>
          <a:ln/>
        </p:spPr>
        <p:txBody>
          <a:bodyPr vert="horz" wrap="square" lIns="91440" tIns="45720" rIns="91440" bIns="45720" anchor="t"/>
          <a:lstStyle/>
          <a:p>
            <a:pPr eaLnBrk="1" hangingPunct="1">
              <a:lnSpc>
                <a:spcPct val="90000"/>
              </a:lnSpc>
            </a:pPr>
            <a:r>
              <a:rPr lang="zh-CN" altLang="en-US" sz="3200" b="0" dirty="0"/>
              <a:t>索赔费用：</a:t>
            </a:r>
            <a:r>
              <a:rPr lang="zh-CN" altLang="en-US" sz="3200" dirty="0"/>
              <a:t>产品出厂后由于质量缺陷而赔偿用户的费用；</a:t>
            </a:r>
          </a:p>
          <a:p>
            <a:pPr eaLnBrk="1" hangingPunct="1">
              <a:lnSpc>
                <a:spcPct val="90000"/>
              </a:lnSpc>
            </a:pPr>
            <a:r>
              <a:rPr lang="zh-CN" altLang="en-US" sz="3200" b="0" dirty="0"/>
              <a:t>退货损失：</a:t>
            </a:r>
            <a:r>
              <a:rPr lang="zh-CN" altLang="en-US" sz="3200" dirty="0"/>
              <a:t>产品出厂后由于质量问题而造成的退货、换货所发生的损失；</a:t>
            </a:r>
          </a:p>
          <a:p>
            <a:pPr eaLnBrk="1" hangingPunct="1">
              <a:lnSpc>
                <a:spcPct val="90000"/>
              </a:lnSpc>
            </a:pPr>
            <a:r>
              <a:rPr lang="zh-CN" altLang="en-US" sz="3200" b="0" dirty="0"/>
              <a:t>保修费用：</a:t>
            </a:r>
            <a:r>
              <a:rPr lang="zh-CN" altLang="en-US" sz="3200" dirty="0"/>
              <a:t>根据合同规定在保修期内为用户提供修理服务所发生的费用；</a:t>
            </a:r>
          </a:p>
          <a:p>
            <a:pPr eaLnBrk="1" hangingPunct="1">
              <a:lnSpc>
                <a:spcPct val="90000"/>
              </a:lnSpc>
            </a:pPr>
            <a:r>
              <a:rPr lang="zh-CN" altLang="en-US" sz="3200" b="0" dirty="0"/>
              <a:t>诉讼费：</a:t>
            </a:r>
            <a:r>
              <a:rPr lang="zh-CN" altLang="en-US" sz="3200" dirty="0"/>
              <a:t>用户认为产品质量低劣，提出申诉要求索赔，企业为处理申诉所支付的费用；</a:t>
            </a:r>
          </a:p>
          <a:p>
            <a:pPr eaLnBrk="1" hangingPunct="1">
              <a:lnSpc>
                <a:spcPct val="90000"/>
              </a:lnSpc>
            </a:pPr>
            <a:r>
              <a:rPr lang="zh-CN" altLang="en-US" sz="3200" b="0" dirty="0"/>
              <a:t>产品降价损失：</a:t>
            </a:r>
            <a:r>
              <a:rPr lang="zh-CN" altLang="en-US" sz="3200" dirty="0"/>
              <a:t>产品出厂后因低于质量标准而进行降价所造成的损失</a:t>
            </a:r>
          </a:p>
          <a:p>
            <a:pPr eaLnBrk="1" hangingPunct="1">
              <a:lnSpc>
                <a:spcPct val="90000"/>
              </a:lnSpc>
            </a:pPr>
            <a:endParaRPr lang="zh-CN" altLang="en-US" sz="3200" dirty="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ln/>
        </p:spPr>
        <p:txBody>
          <a:bodyPr vert="horz" wrap="square" lIns="91440" tIns="45720" rIns="91440" bIns="45720" anchor="ctr"/>
          <a:lstStyle/>
          <a:p>
            <a:pPr eaLnBrk="1" hangingPunct="1"/>
            <a:r>
              <a:rPr lang="en-US" altLang="zh-CN" dirty="0"/>
              <a:t>Power-sizing technique</a:t>
            </a:r>
            <a:endParaRPr lang="zh-CN" altLang="en-US" dirty="0"/>
          </a:p>
        </p:txBody>
      </p:sp>
      <p:sp>
        <p:nvSpPr>
          <p:cNvPr id="41987" name="Rectangle 3"/>
          <p:cNvSpPr>
            <a:spLocks noGrp="1"/>
          </p:cNvSpPr>
          <p:nvPr>
            <p:ph idx="1"/>
          </p:nvPr>
        </p:nvSpPr>
        <p:spPr>
          <a:ln/>
        </p:spPr>
        <p:txBody>
          <a:bodyPr vert="horz" wrap="square" lIns="91440" tIns="45720" rIns="91440" bIns="45720" anchor="t"/>
          <a:lstStyle/>
          <a:p>
            <a:pPr eaLnBrk="1" hangingPunct="1">
              <a:buNone/>
            </a:pPr>
            <a:r>
              <a:rPr lang="zh-CN" altLang="en-US" dirty="0"/>
              <a:t>已知</a:t>
            </a:r>
            <a:r>
              <a:rPr lang="en-US" altLang="zh-CN" dirty="0"/>
              <a:t>20</a:t>
            </a:r>
            <a:r>
              <a:rPr lang="zh-CN" altLang="en-US" dirty="0"/>
              <a:t>年前</a:t>
            </a:r>
            <a:r>
              <a:rPr lang="en-US" altLang="zh-CN" dirty="0"/>
              <a:t>200MW</a:t>
            </a:r>
            <a:r>
              <a:rPr lang="zh-CN" altLang="en-US" dirty="0"/>
              <a:t>炼油厂投资成本</a:t>
            </a:r>
            <a:r>
              <a:rPr lang="en-US" altLang="zh-CN" dirty="0"/>
              <a:t>100</a:t>
            </a:r>
            <a:r>
              <a:rPr lang="zh-CN" altLang="en-US" dirty="0"/>
              <a:t>万，</a:t>
            </a:r>
          </a:p>
          <a:p>
            <a:pPr eaLnBrk="1" hangingPunct="1">
              <a:buNone/>
            </a:pPr>
            <a:r>
              <a:rPr lang="zh-CN" altLang="en-US" dirty="0"/>
              <a:t>成本指数４００，现在成本指数１２００，炼油厂生产能力指数为０．７９．求现在投资６００ＭＷ炼油厂的成本．</a:t>
            </a:r>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ln/>
        </p:spPr>
        <p:txBody>
          <a:bodyPr vert="horz" wrap="square" lIns="91440" tIns="45720" rIns="91440" bIns="45720" anchor="ctr"/>
          <a:lstStyle/>
          <a:p>
            <a:pPr eaLnBrk="1" hangingPunct="1"/>
            <a:r>
              <a:rPr lang="zh-CN" altLang="en-US" dirty="0"/>
              <a:t>ＳＯＬＵＴＩＯＮ</a:t>
            </a:r>
          </a:p>
        </p:txBody>
      </p:sp>
      <p:sp>
        <p:nvSpPr>
          <p:cNvPr id="43011" name="Rectangle 3"/>
          <p:cNvSpPr>
            <a:spLocks noGrp="1"/>
          </p:cNvSpPr>
          <p:nvPr>
            <p:ph idx="1"/>
          </p:nvPr>
        </p:nvSpPr>
        <p:spPr>
          <a:ln/>
        </p:spPr>
        <p:txBody>
          <a:bodyPr vert="horz" wrap="square" lIns="91440" tIns="45720" rIns="91440" bIns="45720" anchor="t"/>
          <a:lstStyle/>
          <a:p>
            <a:pPr eaLnBrk="1" hangingPunct="1">
              <a:buNone/>
            </a:pPr>
            <a:r>
              <a:rPr lang="en-US" altLang="zh-CN" sz="3200" dirty="0"/>
              <a:t>200MW</a:t>
            </a:r>
            <a:r>
              <a:rPr lang="zh-CN" altLang="en-US" sz="3200" dirty="0"/>
              <a:t>工厂现在的成本</a:t>
            </a:r>
            <a:r>
              <a:rPr lang="en-US" altLang="zh-CN" sz="3200" dirty="0"/>
              <a:t>:</a:t>
            </a:r>
          </a:p>
          <a:p>
            <a:pPr eaLnBrk="1" hangingPunct="1">
              <a:buNone/>
            </a:pPr>
            <a:r>
              <a:rPr lang="zh-CN" altLang="en-US" sz="3200" dirty="0"/>
              <a:t>Ｃ１＝１００</a:t>
            </a:r>
            <a:r>
              <a:rPr lang="en-US" altLang="en-US" sz="3200" dirty="0">
                <a:latin typeface="楷体_GB2312" pitchFamily="49" charset="-122"/>
              </a:rPr>
              <a:t>*</a:t>
            </a:r>
            <a:r>
              <a:rPr lang="zh-CN" altLang="en-US" sz="3200" dirty="0"/>
              <a:t>１２００／４００＝３００</a:t>
            </a:r>
            <a:r>
              <a:rPr lang="en-US" altLang="zh-CN" sz="3200" dirty="0"/>
              <a:t>(</a:t>
            </a:r>
            <a:r>
              <a:rPr lang="zh-CN" altLang="en-US" sz="3200" dirty="0"/>
              <a:t>万</a:t>
            </a:r>
            <a:r>
              <a:rPr lang="en-US" altLang="zh-CN" sz="3200" dirty="0"/>
              <a:t>)</a:t>
            </a:r>
          </a:p>
          <a:p>
            <a:pPr eaLnBrk="1" hangingPunct="1">
              <a:buNone/>
            </a:pPr>
            <a:endParaRPr lang="en-US" altLang="zh-CN" sz="3200" dirty="0"/>
          </a:p>
          <a:p>
            <a:pPr eaLnBrk="1" hangingPunct="1">
              <a:buNone/>
            </a:pPr>
            <a:r>
              <a:rPr lang="en-US" altLang="zh-CN" sz="3200" dirty="0"/>
              <a:t>600MW</a:t>
            </a:r>
            <a:r>
              <a:rPr lang="zh-CN" altLang="en-US" sz="3200" dirty="0"/>
              <a:t>工厂的成本</a:t>
            </a:r>
            <a:r>
              <a:rPr lang="en-US" altLang="zh-CN" sz="3200" dirty="0"/>
              <a:t>:</a:t>
            </a:r>
          </a:p>
          <a:p>
            <a:pPr eaLnBrk="1" hangingPunct="1">
              <a:buNone/>
            </a:pPr>
            <a:r>
              <a:rPr lang="zh-CN" altLang="en-US" sz="3200" dirty="0"/>
              <a:t>Ｃ２＝３００ </a:t>
            </a:r>
            <a:r>
              <a:rPr lang="en-US" altLang="en-US" sz="3200" dirty="0">
                <a:latin typeface="楷体_GB2312" pitchFamily="49" charset="-122"/>
              </a:rPr>
              <a:t>*</a:t>
            </a:r>
            <a:r>
              <a:rPr lang="zh-CN" altLang="en-US" sz="3200" dirty="0"/>
              <a:t>（６００／２００）</a:t>
            </a:r>
            <a:r>
              <a:rPr lang="zh-CN" altLang="en-US" sz="3200" baseline="30000" dirty="0"/>
              <a:t>０．７９</a:t>
            </a:r>
          </a:p>
          <a:p>
            <a:pPr eaLnBrk="1" hangingPunct="1">
              <a:buNone/>
            </a:pPr>
            <a:r>
              <a:rPr lang="zh-CN" altLang="en-US" sz="3200" baseline="30000" dirty="0"/>
              <a:t>　　　</a:t>
            </a:r>
            <a:r>
              <a:rPr lang="zh-CN" altLang="en-US" sz="3200" dirty="0"/>
              <a:t>＝７１４</a:t>
            </a:r>
            <a:r>
              <a:rPr lang="en-US" altLang="zh-CN" sz="3200" dirty="0"/>
              <a:t>(</a:t>
            </a:r>
            <a:r>
              <a:rPr lang="zh-CN" altLang="en-US" sz="3200" dirty="0"/>
              <a:t>万</a:t>
            </a:r>
            <a:r>
              <a:rPr lang="en-US" altLang="zh-CN" sz="3200" dirty="0"/>
              <a:t>)</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ln/>
        </p:spPr>
        <p:txBody>
          <a:bodyPr vert="horz" wrap="square" lIns="91440" tIns="45720" rIns="91440" bIns="45720" anchor="ctr"/>
          <a:lstStyle/>
          <a:p>
            <a:pPr eaLnBrk="1" hangingPunct="1"/>
            <a:r>
              <a:rPr lang="zh-CN" altLang="en-US" dirty="0"/>
              <a:t>构建成本估算关系</a:t>
            </a:r>
          </a:p>
        </p:txBody>
      </p:sp>
      <p:sp>
        <p:nvSpPr>
          <p:cNvPr id="44035" name="Rectangle 3"/>
          <p:cNvSpPr>
            <a:spLocks noGrp="1"/>
          </p:cNvSpPr>
          <p:nvPr>
            <p:ph idx="1"/>
          </p:nvPr>
        </p:nvSpPr>
        <p:spPr>
          <a:ln/>
        </p:spPr>
        <p:txBody>
          <a:bodyPr vert="horz" wrap="square" lIns="91440" tIns="45720" rIns="91440" bIns="45720" anchor="t"/>
          <a:lstStyle/>
          <a:p>
            <a:pPr eaLnBrk="1" hangingPunct="1"/>
            <a:r>
              <a:rPr lang="zh-CN" altLang="en-US" dirty="0"/>
              <a:t>定义问题</a:t>
            </a:r>
          </a:p>
          <a:p>
            <a:pPr eaLnBrk="1" hangingPunct="1"/>
            <a:r>
              <a:rPr lang="zh-CN" altLang="en-US" dirty="0"/>
              <a:t>数据收集和标准化</a:t>
            </a:r>
          </a:p>
          <a:p>
            <a:pPr eaLnBrk="1" hangingPunct="1"/>
            <a:r>
              <a:rPr lang="zh-CN" altLang="en-US" dirty="0"/>
              <a:t>建模</a:t>
            </a:r>
          </a:p>
          <a:p>
            <a:pPr eaLnBrk="1" hangingPunct="1"/>
            <a:r>
              <a:rPr lang="zh-CN" altLang="en-US" dirty="0"/>
              <a:t>模型验证</a:t>
            </a:r>
          </a:p>
          <a:p>
            <a:pPr eaLnBrk="1" hangingPunct="1"/>
            <a:endParaRPr lang="zh-CN" altLang="en-US" dirty="0"/>
          </a:p>
          <a:p>
            <a:pPr algn="ctr" eaLnBrk="1" hangingPunct="1">
              <a:buNone/>
            </a:pPr>
            <a:r>
              <a:rPr lang="zh-CN" altLang="en-US" dirty="0">
                <a:solidFill>
                  <a:srgbClr val="800000"/>
                </a:solidFill>
              </a:rPr>
              <a:t>交通量预测？</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ln/>
        </p:spPr>
        <p:txBody>
          <a:bodyPr vert="horz" wrap="square" lIns="91440" tIns="45720" rIns="91440" bIns="45720" anchor="ctr"/>
          <a:lstStyle/>
          <a:p>
            <a:pPr eaLnBrk="1" hangingPunct="1"/>
            <a:r>
              <a:rPr lang="zh-CN" altLang="en-US" dirty="0"/>
              <a:t>交通量预测模型的基本形式</a:t>
            </a:r>
          </a:p>
        </p:txBody>
      </p:sp>
      <p:sp>
        <p:nvSpPr>
          <p:cNvPr id="45059" name="Rectangle 3"/>
          <p:cNvSpPr>
            <a:spLocks noGrp="1"/>
          </p:cNvSpPr>
          <p:nvPr>
            <p:ph idx="1"/>
          </p:nvPr>
        </p:nvSpPr>
        <p:spPr>
          <a:ln/>
        </p:spPr>
        <p:txBody>
          <a:bodyPr vert="horz" wrap="square" lIns="91440" tIns="45720" rIns="91440" bIns="45720" anchor="t"/>
          <a:lstStyle/>
          <a:p>
            <a:pPr eaLnBrk="1" hangingPunct="1">
              <a:buNone/>
            </a:pPr>
            <a:r>
              <a:rPr lang="en-US" altLang="zh-CN" dirty="0"/>
              <a:t>Qj=αj+βj×E</a:t>
            </a:r>
          </a:p>
          <a:p>
            <a:pPr eaLnBrk="1" hangingPunct="1">
              <a:buNone/>
            </a:pPr>
            <a:r>
              <a:rPr lang="zh-CN" altLang="en-US" dirty="0"/>
              <a:t>式中：</a:t>
            </a:r>
            <a:r>
              <a:rPr lang="en-US" altLang="zh-CN" dirty="0"/>
              <a:t>Qj——</a:t>
            </a:r>
            <a:r>
              <a:rPr lang="zh-CN" altLang="en-US" dirty="0"/>
              <a:t>车种</a:t>
            </a:r>
            <a:r>
              <a:rPr lang="en-US" altLang="zh-CN" dirty="0"/>
              <a:t>j</a:t>
            </a:r>
            <a:r>
              <a:rPr lang="zh-CN" altLang="en-US" dirty="0"/>
              <a:t>的交通量（</a:t>
            </a:r>
            <a:r>
              <a:rPr lang="en-US" altLang="zh-CN" dirty="0"/>
              <a:t>Veh/d</a:t>
            </a:r>
            <a:r>
              <a:rPr lang="zh-CN" altLang="en-US" dirty="0"/>
              <a:t>）</a:t>
            </a:r>
            <a:r>
              <a:rPr lang="en-US" altLang="zh-CN" dirty="0"/>
              <a:t>;</a:t>
            </a:r>
          </a:p>
          <a:p>
            <a:pPr eaLnBrk="1" hangingPunct="1">
              <a:buNone/>
            </a:pPr>
            <a:r>
              <a:rPr lang="en-US" altLang="zh-CN" dirty="0"/>
              <a:t>E——</a:t>
            </a:r>
            <a:r>
              <a:rPr lang="zh-CN" altLang="en-US" dirty="0"/>
              <a:t>国内生产总值（亿元）；</a:t>
            </a:r>
          </a:p>
          <a:p>
            <a:pPr eaLnBrk="1" hangingPunct="1">
              <a:buNone/>
            </a:pPr>
            <a:r>
              <a:rPr lang="en-US" altLang="zh-CN" dirty="0"/>
              <a:t>αj</a:t>
            </a:r>
            <a:r>
              <a:rPr lang="zh-CN" altLang="en-US" dirty="0"/>
              <a:t>、</a:t>
            </a:r>
            <a:r>
              <a:rPr lang="en-US" altLang="zh-CN" dirty="0"/>
              <a:t>βj——</a:t>
            </a:r>
            <a:r>
              <a:rPr lang="zh-CN" altLang="en-US" dirty="0"/>
              <a:t>车种</a:t>
            </a:r>
            <a:r>
              <a:rPr lang="en-US" altLang="zh-CN" dirty="0"/>
              <a:t>j</a:t>
            </a:r>
            <a:r>
              <a:rPr lang="zh-CN" altLang="en-US" dirty="0"/>
              <a:t>的回归系数。</a:t>
            </a:r>
          </a:p>
          <a:p>
            <a:pPr eaLnBrk="1" hangingPunct="1">
              <a:buNone/>
            </a:pPr>
            <a:r>
              <a:rPr lang="zh-CN" altLang="en-US" dirty="0"/>
              <a:t>模型根据主要相关道路交通量观测站资料和区域内各小区历年国内生产总值统计资料分别建立。</a:t>
            </a:r>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1150" name="Group 174"/>
          <p:cNvGraphicFramePr>
            <a:graphicFrameLocks noGrp="1"/>
          </p:cNvGraphicFramePr>
          <p:nvPr>
            <p:ph idx="1"/>
          </p:nvPr>
        </p:nvGraphicFramePr>
        <p:xfrm>
          <a:off x="0" y="31750"/>
          <a:ext cx="9144000" cy="6735920"/>
        </p:xfrm>
        <a:graphic>
          <a:graphicData uri="http://schemas.openxmlformats.org/drawingml/2006/table">
            <a:tbl>
              <a:tblPr/>
              <a:tblGrid>
                <a:gridCol w="454025">
                  <a:extLst>
                    <a:ext uri="{9D8B030D-6E8A-4147-A177-3AD203B41FA5}">
                      <a16:colId xmlns:a16="http://schemas.microsoft.com/office/drawing/2014/main" val="20000"/>
                    </a:ext>
                  </a:extLst>
                </a:gridCol>
                <a:gridCol w="2260600">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1441450">
                  <a:extLst>
                    <a:ext uri="{9D8B030D-6E8A-4147-A177-3AD203B41FA5}">
                      <a16:colId xmlns:a16="http://schemas.microsoft.com/office/drawing/2014/main" val="20003"/>
                    </a:ext>
                  </a:extLst>
                </a:gridCol>
                <a:gridCol w="1979613">
                  <a:extLst>
                    <a:ext uri="{9D8B030D-6E8A-4147-A177-3AD203B41FA5}">
                      <a16:colId xmlns:a16="http://schemas.microsoft.com/office/drawing/2014/main" val="20004"/>
                    </a:ext>
                  </a:extLst>
                </a:gridCol>
                <a:gridCol w="1449387">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tblGrid>
              <a:tr h="518138">
                <a:tc gridSpan="7">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楷体_GB2312" pitchFamily="49" charset="-122"/>
                        </a:rPr>
                        <a:t>Bottom-up estimating:</a:t>
                      </a:r>
                      <a:r>
                        <a:rPr kumimoji="0"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AU"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路线方案工程量及投资情况表</a:t>
                      </a:r>
                      <a:r>
                        <a:rPr kumimoji="0" lang="zh-CN" altLang="en-US" sz="1400" b="1" i="0" u="none" strike="noStrike" cap="none" normalizeH="0" baseline="0" smtClean="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p>
                  </a:txBody>
                  <a:tcPr marT="45716" marB="45716" anchor="b" horzOverflow="overflow">
                    <a:lnL>
                      <a:noFill/>
                    </a:lnL>
                    <a:lnR>
                      <a:noFill/>
                    </a:lnR>
                    <a:lnT>
                      <a:noFill/>
                    </a:lnT>
                    <a:lnB w="25400" cap="flat" cmpd="sng" algn="ctr">
                      <a:solidFill>
                        <a:srgbClr val="000000"/>
                      </a:solidFill>
                      <a:prstDash val="solid"/>
                      <a:round/>
                      <a:headEnd type="none" w="sm" len="sm"/>
                      <a:tailEnd type="triangle" w="sm" len="sm"/>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04785">
                <a:tc rowSpan="2">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序号</a:t>
                      </a:r>
                    </a:p>
                  </a:txBody>
                  <a:tcPr marT="45716" marB="4571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rowSpan="2">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工 程 项 目</a:t>
                      </a:r>
                    </a:p>
                  </a:txBody>
                  <a:tcPr marT="45716" marB="4571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rowSpan="2">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单</a:t>
                      </a: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位</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gridSpan="3">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工</a:t>
                      </a: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程</a:t>
                      </a: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数</a:t>
                      </a: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量</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hMerge="1">
                  <a:txBody>
                    <a:bodyPr/>
                    <a:lstStyle/>
                    <a:p>
                      <a:endParaRPr lang="zh-CN"/>
                    </a:p>
                  </a:txBody>
                  <a:tcPr/>
                </a:tc>
                <a:tc hMerge="1">
                  <a:txBody>
                    <a:bodyPr/>
                    <a:lstStyle/>
                    <a:p>
                      <a:endParaRPr lang="zh-CN"/>
                    </a:p>
                  </a:txBody>
                  <a:tcPr/>
                </a:tc>
                <a:tc rowSpan="2">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备注</a:t>
                      </a:r>
                    </a:p>
                  </a:txBody>
                  <a:tcPr marT="45716" marB="4571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1"/>
                  </a:ext>
                </a:extLst>
              </a:tr>
              <a:tr h="304785">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Ⅰ</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方案</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Ⅱ</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方案</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Ⅲ</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方案</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2"/>
                  </a:ext>
                </a:extLst>
              </a:tr>
              <a:tr h="731490">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一</a:t>
                      </a:r>
                    </a:p>
                  </a:txBody>
                  <a:tcPr marT="45716" marB="4571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起讫桩号</a:t>
                      </a:r>
                    </a:p>
                  </a:txBody>
                  <a:tcPr marT="45716" marB="4571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K0+000     ~      K44+200</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K0+000~ K29+432=K31+312~K44+200</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K0+000      ~      K43+970</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3"/>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二</a:t>
                      </a: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路线</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1.</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长度</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44.20</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42.32</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43.97</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4"/>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差值</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1.88</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0.23</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与</a:t>
                      </a:r>
                      <a:r>
                        <a:rPr kumimoji="0" lang="en-AU"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Ⅰ</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比</a:t>
                      </a: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5"/>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三</a:t>
                      </a: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路基路面</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6"/>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填方</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r>
                        <a:rPr kumimoji="0" lang="en-US" altLang="zh-CN" sz="1400" b="1" i="0" u="none" strike="noStrike" cap="none" normalizeH="0" baseline="3000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4691.3</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3310.8</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4909.9</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7"/>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挖方</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r>
                        <a:rPr kumimoji="0" lang="en-US" altLang="zh-CN" sz="1400" b="1" i="0" u="none" strike="noStrike" cap="none" normalizeH="0" baseline="3000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367.5</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314.0</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496.9</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8"/>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路面</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r>
                        <a:rPr kumimoji="0" lang="en-US" altLang="zh-CN" sz="1400" b="1" i="0" u="none" strike="noStrike" cap="none" normalizeH="0" baseline="3000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1272</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1220.3</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1266.3</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9"/>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软基处理</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34.054</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31.745</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32.115</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10"/>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四</a:t>
                      </a: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桥梁、涵洞</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11"/>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中桥</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m/</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座</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1753.66/29</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1795.94/31</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1882.48/32</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12"/>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大桥</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m/</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座</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1057.12/3</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797.12/3</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751.56/4</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13"/>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特大桥</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m/</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座</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1748.08/2</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1937.12/3</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1748.08/2</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14"/>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五</a:t>
                      </a: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交叉工程</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15"/>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互通立交</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含枢纽</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处</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8</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8</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16"/>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六</a:t>
                      </a: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投资估算</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17"/>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投资总估算</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362829.9</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361234.3</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354946.7</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　</a:t>
                      </a:r>
                      <a:endPar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18"/>
                  </a:ext>
                </a:extLst>
              </a:tr>
              <a:tr h="304785">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估算差值</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与</a:t>
                      </a:r>
                      <a:r>
                        <a:rPr kumimoji="0" lang="en-AU"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Ⅰ</a:t>
                      </a: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比</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1595.6</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000000"/>
                          </a:solidFill>
                          <a:effectLst/>
                          <a:latin typeface="宋体" panose="02010600030101010101" pitchFamily="2" charset="-122"/>
                          <a:ea typeface="楷体_GB2312" pitchFamily="49" charset="-122"/>
                          <a:cs typeface="Times New Roman" panose="02020603050405020304" pitchFamily="18" charset="0"/>
                        </a:rPr>
                        <a:t>－</a:t>
                      </a:r>
                      <a:r>
                        <a:rPr kumimoji="0" lang="en-US" altLang="zh-CN" sz="14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7883.2</a:t>
                      </a:r>
                    </a:p>
                  </a:txBody>
                  <a:tcPr marT="45716" marB="45716"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spcBef>
                          <a:spcPct val="20000"/>
                        </a:spcBef>
                        <a:defRPr sz="3200" b="1">
                          <a:solidFill>
                            <a:srgbClr val="000000"/>
                          </a:solidFill>
                          <a:latin typeface="Arial" panose="020B0604020202020204" pitchFamily="34" charset="0"/>
                          <a:ea typeface="楷体_GB2312" pitchFamily="49" charset="-122"/>
                        </a:defRPr>
                      </a:lvl1pPr>
                      <a:lvl2pPr marL="742950" indent="-285750" eaLnBrk="0" hangingPunct="0">
                        <a:spcBef>
                          <a:spcPct val="20000"/>
                        </a:spcBef>
                        <a:defRPr sz="2800" b="1">
                          <a:solidFill>
                            <a:srgbClr val="000000"/>
                          </a:solidFill>
                          <a:latin typeface="Arial" panose="020B0604020202020204" pitchFamily="34" charset="0"/>
                          <a:ea typeface="楷体_GB2312" pitchFamily="49" charset="-122"/>
                        </a:defRPr>
                      </a:lvl2pPr>
                      <a:lvl3pPr marL="1143000" indent="-228600" eaLnBrk="0" hangingPunct="0">
                        <a:spcBef>
                          <a:spcPct val="20000"/>
                        </a:spcBef>
                        <a:defRPr sz="2400" b="1">
                          <a:solidFill>
                            <a:srgbClr val="000000"/>
                          </a:solidFill>
                          <a:latin typeface="Arial" panose="020B0604020202020204" pitchFamily="34" charset="0"/>
                          <a:ea typeface="楷体_GB2312" pitchFamily="49" charset="-122"/>
                        </a:defRPr>
                      </a:lvl3pPr>
                      <a:lvl4pPr marL="1600200" indent="-228600" eaLnBrk="0" hangingPunct="0">
                        <a:spcBef>
                          <a:spcPct val="20000"/>
                        </a:spcBef>
                        <a:defRPr b="1">
                          <a:solidFill>
                            <a:srgbClr val="000000"/>
                          </a:solidFill>
                          <a:latin typeface="Arial" panose="020B0604020202020204" pitchFamily="34" charset="0"/>
                          <a:ea typeface="楷体_GB2312" pitchFamily="49" charset="-122"/>
                        </a:defRPr>
                      </a:lvl4pPr>
                      <a:lvl5pPr marL="2057400" indent="-228600" eaLnBrk="0" hangingPunct="0">
                        <a:spcBef>
                          <a:spcPct val="20000"/>
                        </a:spcBef>
                        <a:defRPr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400" b="1" i="0" u="none" strike="noStrike" cap="none" normalizeH="0" baseline="0" smtClean="0">
                        <a:ln>
                          <a:noFill/>
                        </a:ln>
                        <a:solidFill>
                          <a:srgbClr val="000000"/>
                        </a:solidFill>
                        <a:effectLst/>
                        <a:latin typeface="Arial" panose="020B0604020202020204" pitchFamily="34" charset="0"/>
                        <a:ea typeface="楷体_GB2312" pitchFamily="49" charset="-122"/>
                      </a:endParaRPr>
                    </a:p>
                  </a:txBody>
                  <a:tcPr marT="45716" marB="45716"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9"/>
                  </a:ext>
                </a:extLst>
              </a:tr>
            </a:tbl>
          </a:graphicData>
        </a:graphic>
      </p:graphicFrame>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noRot="1"/>
          </p:cNvSpPr>
          <p:nvPr>
            <p:ph type="title"/>
          </p:nvPr>
        </p:nvSpPr>
        <p:spPr>
          <a:xfrm>
            <a:off x="250825" y="114300"/>
            <a:ext cx="8540750" cy="1143000"/>
          </a:xfrm>
          <a:noFill/>
          <a:ln/>
        </p:spPr>
        <p:txBody>
          <a:bodyPr vert="horz" wrap="square" lIns="91440" tIns="45720" rIns="91440" bIns="45720" anchor="ctr"/>
          <a:lstStyle/>
          <a:p>
            <a:pPr eaLnBrk="1" hangingPunct="1"/>
            <a:r>
              <a:rPr lang="zh-CN" altLang="en-US" b="0" dirty="0"/>
              <a:t>各方案投资估算表</a:t>
            </a:r>
            <a:r>
              <a:rPr lang="zh-CN" altLang="en-US" dirty="0"/>
              <a:t> </a:t>
            </a:r>
          </a:p>
        </p:txBody>
      </p:sp>
      <p:sp>
        <p:nvSpPr>
          <p:cNvPr id="47107" name="Rectangle 5"/>
          <p:cNvSpPr/>
          <p:nvPr/>
        </p:nvSpPr>
        <p:spPr>
          <a:xfrm>
            <a:off x="785813" y="428625"/>
            <a:ext cx="762000" cy="669925"/>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a:spcBef>
                <a:spcPct val="0"/>
              </a:spcBef>
              <a:buNone/>
            </a:pPr>
            <a:r>
              <a:rPr lang="zh-CN" altLang="en-US" sz="1400" dirty="0">
                <a:solidFill>
                  <a:schemeClr val="tx1"/>
                </a:solidFill>
                <a:latin typeface="Times New Roman" panose="02020603050405020304" pitchFamily="18" charset="0"/>
                <a:ea typeface="黑体" panose="02010609060101010101" pitchFamily="49" charset="-122"/>
              </a:rPr>
              <a:t>             </a:t>
            </a:r>
            <a:endParaRPr lang="zh-CN" altLang="en-AU" sz="900" b="0" dirty="0">
              <a:solidFill>
                <a:schemeClr val="tx1"/>
              </a:solidFill>
              <a:ea typeface="黑体" panose="02010609060101010101" pitchFamily="49" charset="-122"/>
            </a:endParaRPr>
          </a:p>
          <a:p>
            <a:pPr marL="0" lvl="0" indent="0">
              <a:spcBef>
                <a:spcPct val="0"/>
              </a:spcBef>
              <a:buNone/>
            </a:pPr>
            <a:endParaRPr lang="zh-CN" altLang="en-AU" sz="2400" b="0" dirty="0">
              <a:solidFill>
                <a:schemeClr val="tx1"/>
              </a:solidFill>
              <a:latin typeface="Times New Roman" panose="02020603050405020304" pitchFamily="18" charset="0"/>
              <a:ea typeface="黑体" panose="02010609060101010101" pitchFamily="49" charset="-122"/>
            </a:endParaRPr>
          </a:p>
        </p:txBody>
      </p:sp>
      <p:graphicFrame>
        <p:nvGraphicFramePr>
          <p:cNvPr id="513112" name="Group 88"/>
          <p:cNvGraphicFramePr>
            <a:graphicFrameLocks noGrp="1"/>
          </p:cNvGraphicFramePr>
          <p:nvPr/>
        </p:nvGraphicFramePr>
        <p:xfrm>
          <a:off x="200025" y="1098550"/>
          <a:ext cx="8893175" cy="5140325"/>
        </p:xfrm>
        <a:graphic>
          <a:graphicData uri="http://schemas.openxmlformats.org/drawingml/2006/table">
            <a:tbl>
              <a:tblPr/>
              <a:tblGrid>
                <a:gridCol w="925513">
                  <a:extLst>
                    <a:ext uri="{9D8B030D-6E8A-4147-A177-3AD203B41FA5}">
                      <a16:colId xmlns:a16="http://schemas.microsoft.com/office/drawing/2014/main" val="20000"/>
                    </a:ext>
                  </a:extLst>
                </a:gridCol>
                <a:gridCol w="1444625">
                  <a:extLst>
                    <a:ext uri="{9D8B030D-6E8A-4147-A177-3AD203B41FA5}">
                      <a16:colId xmlns:a16="http://schemas.microsoft.com/office/drawing/2014/main" val="20001"/>
                    </a:ext>
                  </a:extLst>
                </a:gridCol>
                <a:gridCol w="1338262">
                  <a:extLst>
                    <a:ext uri="{9D8B030D-6E8A-4147-A177-3AD203B41FA5}">
                      <a16:colId xmlns:a16="http://schemas.microsoft.com/office/drawing/2014/main" val="20002"/>
                    </a:ext>
                  </a:extLst>
                </a:gridCol>
                <a:gridCol w="1341438">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gridCol w="1304925">
                  <a:extLst>
                    <a:ext uri="{9D8B030D-6E8A-4147-A177-3AD203B41FA5}">
                      <a16:colId xmlns:a16="http://schemas.microsoft.com/office/drawing/2014/main" val="20005"/>
                    </a:ext>
                  </a:extLst>
                </a:gridCol>
                <a:gridCol w="1268412">
                  <a:extLst>
                    <a:ext uri="{9D8B030D-6E8A-4147-A177-3AD203B41FA5}">
                      <a16:colId xmlns:a16="http://schemas.microsoft.com/office/drawing/2014/main" val="20006"/>
                    </a:ext>
                  </a:extLst>
                </a:gridCol>
              </a:tblGrid>
              <a:tr h="640159">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名称</a:t>
                      </a: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h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长度</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建筑安装</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工程费</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建安费</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单位造价</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估算</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总金额</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总估算</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单位造价</a:t>
                      </a: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0"/>
                  </a:ext>
                </a:extLst>
              </a:tr>
              <a:tr h="365805">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单位</a:t>
                      </a: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h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万元</a:t>
                      </a: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/km</a:t>
                      </a: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1"/>
                  </a:ext>
                </a:extLst>
              </a:tr>
              <a:tr h="438204">
                <a:tc rowSpan="3">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方案</a:t>
                      </a: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Ⅰ</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40.720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236312.4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5803.4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362829.9</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8910.4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extLst>
                  <a:ext uri="{0D108BD9-81ED-4DB2-BD59-A6C34878D82A}">
                    <a16:rowId xmlns:a16="http://schemas.microsoft.com/office/drawing/2014/main" val="10002"/>
                  </a:ext>
                </a:extLst>
              </a:tr>
              <a:tr h="438204">
                <a:tc v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II</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39.183</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236765.1</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6042.5</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361234.3</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9219.2</a:t>
                      </a: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3"/>
                  </a:ext>
                </a:extLst>
              </a:tr>
              <a:tr h="436617">
                <a:tc v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III</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40.753</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2315777.1</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5682.5</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354946.7</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8709.7</a:t>
                      </a: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4"/>
                  </a:ext>
                </a:extLst>
              </a:tr>
              <a:tr h="563632">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杭州湾跨江</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大桥</a:t>
                      </a: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双层桁架梁</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12.320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382734.0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31066.1</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501135.3</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40676.6</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solidFill>
                      <a:srgbClr val="D9D9D9"/>
                    </a:solidFill>
                  </a:tcPr>
                </a:tc>
                <a:extLst>
                  <a:ext uri="{0D108BD9-81ED-4DB2-BD59-A6C34878D82A}">
                    <a16:rowId xmlns:a16="http://schemas.microsoft.com/office/drawing/2014/main" val="10005"/>
                  </a:ext>
                </a:extLst>
              </a:tr>
              <a:tr h="541405">
                <a:tc v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低塔斜拉桥</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12.326</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358267.5</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29066.0</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467652.9</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37940.4</a:t>
                      </a: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6"/>
                  </a:ext>
                </a:extLst>
              </a:tr>
              <a:tr h="562044">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越江盾构隧道方案</a:t>
                      </a: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h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12.320</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507086.3</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41159.6</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716720.1</a:t>
                      </a: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58175.3</a:t>
                      </a: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7"/>
                  </a:ext>
                </a:extLst>
              </a:tr>
              <a:tr h="569983">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基本方案（南岸）</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h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16.188</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98283.4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6071.4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153948.5</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9510.0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extLst>
                  <a:ext uri="{0D108BD9-81ED-4DB2-BD59-A6C34878D82A}">
                    <a16:rowId xmlns:a16="http://schemas.microsoft.com/office/drawing/2014/main" val="10008"/>
                  </a:ext>
                </a:extLst>
              </a:tr>
              <a:tr h="584272">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推荐方案</a:t>
                      </a:r>
                      <a:endParaRPr kumimoji="0" lang="zh-CN" altLang="en-AU"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h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69.228</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717330.0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10361.8</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1017913.6</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14703.8</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Line 4"/>
          <p:cNvSpPr/>
          <p:nvPr/>
        </p:nvSpPr>
        <p:spPr>
          <a:xfrm flipV="1">
            <a:off x="1354138" y="1852613"/>
            <a:ext cx="0" cy="1447800"/>
          </a:xfrm>
          <a:prstGeom prst="line">
            <a:avLst/>
          </a:prstGeom>
          <a:ln w="12700" cap="flat" cmpd="sng">
            <a:solidFill>
              <a:srgbClr val="000000"/>
            </a:solidFill>
            <a:prstDash val="solid"/>
            <a:headEnd type="none" w="med" len="med"/>
            <a:tailEnd type="triangle" w="med" len="med"/>
          </a:ln>
        </p:spPr>
      </p:sp>
      <p:sp>
        <p:nvSpPr>
          <p:cNvPr id="48131" name="Line 5"/>
          <p:cNvSpPr/>
          <p:nvPr/>
        </p:nvSpPr>
        <p:spPr>
          <a:xfrm>
            <a:off x="1354138" y="3300413"/>
            <a:ext cx="1752600" cy="0"/>
          </a:xfrm>
          <a:prstGeom prst="line">
            <a:avLst/>
          </a:prstGeom>
          <a:ln w="12700" cap="flat" cmpd="sng">
            <a:solidFill>
              <a:srgbClr val="000000"/>
            </a:solidFill>
            <a:prstDash val="solid"/>
            <a:headEnd type="none" w="med" len="med"/>
            <a:tailEnd type="triangle" w="med" len="med"/>
          </a:ln>
        </p:spPr>
      </p:sp>
      <p:sp>
        <p:nvSpPr>
          <p:cNvPr id="48132" name="Line 6"/>
          <p:cNvSpPr/>
          <p:nvPr/>
        </p:nvSpPr>
        <p:spPr>
          <a:xfrm flipV="1">
            <a:off x="3944938" y="1852613"/>
            <a:ext cx="0" cy="1447800"/>
          </a:xfrm>
          <a:prstGeom prst="line">
            <a:avLst/>
          </a:prstGeom>
          <a:ln w="12700" cap="flat" cmpd="sng">
            <a:solidFill>
              <a:srgbClr val="000000"/>
            </a:solidFill>
            <a:prstDash val="solid"/>
            <a:headEnd type="none" w="med" len="med"/>
            <a:tailEnd type="triangle" w="med" len="med"/>
          </a:ln>
        </p:spPr>
      </p:sp>
      <p:sp>
        <p:nvSpPr>
          <p:cNvPr id="48133" name="Line 7"/>
          <p:cNvSpPr/>
          <p:nvPr/>
        </p:nvSpPr>
        <p:spPr>
          <a:xfrm>
            <a:off x="3944938" y="3300413"/>
            <a:ext cx="1905000" cy="0"/>
          </a:xfrm>
          <a:prstGeom prst="line">
            <a:avLst/>
          </a:prstGeom>
          <a:ln w="12700" cap="flat" cmpd="sng">
            <a:solidFill>
              <a:srgbClr val="000000"/>
            </a:solidFill>
            <a:prstDash val="solid"/>
            <a:headEnd type="none" w="med" len="med"/>
            <a:tailEnd type="triangle" w="med" len="med"/>
          </a:ln>
        </p:spPr>
      </p:sp>
      <p:sp>
        <p:nvSpPr>
          <p:cNvPr id="48134" name="Line 8"/>
          <p:cNvSpPr/>
          <p:nvPr/>
        </p:nvSpPr>
        <p:spPr>
          <a:xfrm flipV="1">
            <a:off x="6688138" y="1852613"/>
            <a:ext cx="0" cy="1447800"/>
          </a:xfrm>
          <a:prstGeom prst="line">
            <a:avLst/>
          </a:prstGeom>
          <a:ln w="12700" cap="flat" cmpd="sng">
            <a:solidFill>
              <a:srgbClr val="000000"/>
            </a:solidFill>
            <a:prstDash val="solid"/>
            <a:headEnd type="none" w="med" len="med"/>
            <a:tailEnd type="triangle" w="med" len="med"/>
          </a:ln>
        </p:spPr>
      </p:sp>
      <p:sp>
        <p:nvSpPr>
          <p:cNvPr id="48135" name="Line 9"/>
          <p:cNvSpPr/>
          <p:nvPr/>
        </p:nvSpPr>
        <p:spPr>
          <a:xfrm>
            <a:off x="6688138" y="3300413"/>
            <a:ext cx="1676400" cy="0"/>
          </a:xfrm>
          <a:prstGeom prst="line">
            <a:avLst/>
          </a:prstGeom>
          <a:ln w="12700" cap="flat" cmpd="sng">
            <a:solidFill>
              <a:srgbClr val="000000"/>
            </a:solidFill>
            <a:prstDash val="solid"/>
            <a:headEnd type="none" w="med" len="med"/>
            <a:tailEnd type="triangle" w="med" len="med"/>
          </a:ln>
        </p:spPr>
      </p:sp>
      <p:sp>
        <p:nvSpPr>
          <p:cNvPr id="48136" name="Line 10"/>
          <p:cNvSpPr/>
          <p:nvPr/>
        </p:nvSpPr>
        <p:spPr>
          <a:xfrm flipV="1">
            <a:off x="1277938" y="4062413"/>
            <a:ext cx="0" cy="1447800"/>
          </a:xfrm>
          <a:prstGeom prst="line">
            <a:avLst/>
          </a:prstGeom>
          <a:ln w="12700" cap="flat" cmpd="sng">
            <a:solidFill>
              <a:srgbClr val="000000"/>
            </a:solidFill>
            <a:prstDash val="solid"/>
            <a:headEnd type="none" w="med" len="med"/>
            <a:tailEnd type="triangle" w="med" len="med"/>
          </a:ln>
        </p:spPr>
      </p:sp>
      <p:sp>
        <p:nvSpPr>
          <p:cNvPr id="48137" name="Line 11"/>
          <p:cNvSpPr/>
          <p:nvPr/>
        </p:nvSpPr>
        <p:spPr>
          <a:xfrm>
            <a:off x="1277938" y="5510213"/>
            <a:ext cx="1905000" cy="0"/>
          </a:xfrm>
          <a:prstGeom prst="line">
            <a:avLst/>
          </a:prstGeom>
          <a:ln w="12700" cap="flat" cmpd="sng">
            <a:solidFill>
              <a:srgbClr val="000000"/>
            </a:solidFill>
            <a:prstDash val="solid"/>
            <a:headEnd type="none" w="med" len="med"/>
            <a:tailEnd type="triangle" w="med" len="med"/>
          </a:ln>
        </p:spPr>
      </p:sp>
      <p:sp>
        <p:nvSpPr>
          <p:cNvPr id="48138" name="Line 12"/>
          <p:cNvSpPr/>
          <p:nvPr/>
        </p:nvSpPr>
        <p:spPr>
          <a:xfrm flipV="1">
            <a:off x="4021138" y="4062413"/>
            <a:ext cx="0" cy="1447800"/>
          </a:xfrm>
          <a:prstGeom prst="line">
            <a:avLst/>
          </a:prstGeom>
          <a:ln w="12700" cap="flat" cmpd="sng">
            <a:solidFill>
              <a:srgbClr val="000000"/>
            </a:solidFill>
            <a:prstDash val="solid"/>
            <a:headEnd type="none" w="med" len="med"/>
            <a:tailEnd type="triangle" w="med" len="med"/>
          </a:ln>
        </p:spPr>
      </p:sp>
      <p:sp>
        <p:nvSpPr>
          <p:cNvPr id="48139" name="Line 13"/>
          <p:cNvSpPr/>
          <p:nvPr/>
        </p:nvSpPr>
        <p:spPr>
          <a:xfrm>
            <a:off x="4021138" y="5510213"/>
            <a:ext cx="1828800" cy="0"/>
          </a:xfrm>
          <a:prstGeom prst="line">
            <a:avLst/>
          </a:prstGeom>
          <a:ln w="12700" cap="flat" cmpd="sng">
            <a:solidFill>
              <a:srgbClr val="000000"/>
            </a:solidFill>
            <a:prstDash val="solid"/>
            <a:headEnd type="none" w="med" len="med"/>
            <a:tailEnd type="triangle" w="med" len="med"/>
          </a:ln>
        </p:spPr>
      </p:sp>
      <p:sp>
        <p:nvSpPr>
          <p:cNvPr id="48140" name="Line 14"/>
          <p:cNvSpPr/>
          <p:nvPr/>
        </p:nvSpPr>
        <p:spPr>
          <a:xfrm flipV="1">
            <a:off x="6688138" y="4062413"/>
            <a:ext cx="0" cy="1447800"/>
          </a:xfrm>
          <a:prstGeom prst="line">
            <a:avLst/>
          </a:prstGeom>
          <a:ln w="12700" cap="flat" cmpd="sng">
            <a:solidFill>
              <a:srgbClr val="000000"/>
            </a:solidFill>
            <a:prstDash val="solid"/>
            <a:headEnd type="none" w="med" len="med"/>
            <a:tailEnd type="triangle" w="med" len="med"/>
          </a:ln>
        </p:spPr>
      </p:sp>
      <p:sp>
        <p:nvSpPr>
          <p:cNvPr id="48141" name="Line 15"/>
          <p:cNvSpPr/>
          <p:nvPr/>
        </p:nvSpPr>
        <p:spPr>
          <a:xfrm flipV="1">
            <a:off x="6708775" y="5510213"/>
            <a:ext cx="1752600" cy="0"/>
          </a:xfrm>
          <a:prstGeom prst="line">
            <a:avLst/>
          </a:prstGeom>
          <a:ln w="12700" cap="flat" cmpd="sng">
            <a:solidFill>
              <a:srgbClr val="000000"/>
            </a:solidFill>
            <a:prstDash val="solid"/>
            <a:headEnd type="none" w="med" len="med"/>
            <a:tailEnd type="triangle" w="med" len="med"/>
          </a:ln>
        </p:spPr>
      </p:sp>
      <p:sp>
        <p:nvSpPr>
          <p:cNvPr id="48142" name="Oval 16"/>
          <p:cNvSpPr/>
          <p:nvPr/>
        </p:nvSpPr>
        <p:spPr>
          <a:xfrm flipV="1">
            <a:off x="1963738" y="2690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3" name="Oval 17"/>
          <p:cNvSpPr/>
          <p:nvPr/>
        </p:nvSpPr>
        <p:spPr>
          <a:xfrm flipH="1">
            <a:off x="2192338" y="2462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4" name="Oval 18"/>
          <p:cNvSpPr/>
          <p:nvPr/>
        </p:nvSpPr>
        <p:spPr>
          <a:xfrm>
            <a:off x="1811338" y="2843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5" name="Oval 19"/>
          <p:cNvSpPr/>
          <p:nvPr/>
        </p:nvSpPr>
        <p:spPr>
          <a:xfrm>
            <a:off x="2420938" y="2233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6" name="Oval 20"/>
          <p:cNvSpPr/>
          <p:nvPr/>
        </p:nvSpPr>
        <p:spPr>
          <a:xfrm flipH="1" flipV="1">
            <a:off x="2573338" y="2081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7" name="Oval 21"/>
          <p:cNvSpPr/>
          <p:nvPr/>
        </p:nvSpPr>
        <p:spPr>
          <a:xfrm>
            <a:off x="4402138" y="27670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8" name="Oval 22"/>
          <p:cNvSpPr/>
          <p:nvPr/>
        </p:nvSpPr>
        <p:spPr>
          <a:xfrm>
            <a:off x="4630738" y="2690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49" name="Oval 23"/>
          <p:cNvSpPr/>
          <p:nvPr/>
        </p:nvSpPr>
        <p:spPr>
          <a:xfrm flipH="1">
            <a:off x="4478338" y="2462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0" name="Oval 24"/>
          <p:cNvSpPr/>
          <p:nvPr/>
        </p:nvSpPr>
        <p:spPr>
          <a:xfrm>
            <a:off x="4706938" y="2462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1" name="Oval 25"/>
          <p:cNvSpPr/>
          <p:nvPr/>
        </p:nvSpPr>
        <p:spPr>
          <a:xfrm>
            <a:off x="4706938" y="2157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2" name="Oval 26"/>
          <p:cNvSpPr/>
          <p:nvPr/>
        </p:nvSpPr>
        <p:spPr>
          <a:xfrm>
            <a:off x="4935538" y="2233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3" name="Oval 27"/>
          <p:cNvSpPr/>
          <p:nvPr/>
        </p:nvSpPr>
        <p:spPr>
          <a:xfrm flipH="1">
            <a:off x="5011738" y="2538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4" name="Oval 28"/>
          <p:cNvSpPr/>
          <p:nvPr/>
        </p:nvSpPr>
        <p:spPr>
          <a:xfrm flipH="1">
            <a:off x="5240338" y="1928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5" name="Oval 29"/>
          <p:cNvSpPr/>
          <p:nvPr/>
        </p:nvSpPr>
        <p:spPr>
          <a:xfrm flipV="1">
            <a:off x="5164138" y="2233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6" name="Oval 30"/>
          <p:cNvSpPr/>
          <p:nvPr/>
        </p:nvSpPr>
        <p:spPr>
          <a:xfrm>
            <a:off x="5011738" y="20050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7" name="Oval 31"/>
          <p:cNvSpPr/>
          <p:nvPr/>
        </p:nvSpPr>
        <p:spPr>
          <a:xfrm flipH="1">
            <a:off x="7831138" y="2843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8" name="Oval 32"/>
          <p:cNvSpPr/>
          <p:nvPr/>
        </p:nvSpPr>
        <p:spPr>
          <a:xfrm flipH="1">
            <a:off x="7602538" y="2614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59" name="Oval 33"/>
          <p:cNvSpPr/>
          <p:nvPr/>
        </p:nvSpPr>
        <p:spPr>
          <a:xfrm>
            <a:off x="7373938" y="2462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0" name="Oval 34"/>
          <p:cNvSpPr/>
          <p:nvPr/>
        </p:nvSpPr>
        <p:spPr>
          <a:xfrm flipH="1">
            <a:off x="7069138" y="2157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1" name="Oval 35"/>
          <p:cNvSpPr/>
          <p:nvPr/>
        </p:nvSpPr>
        <p:spPr>
          <a:xfrm flipV="1">
            <a:off x="7221538" y="2309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2" name="Oval 36"/>
          <p:cNvSpPr/>
          <p:nvPr/>
        </p:nvSpPr>
        <p:spPr>
          <a:xfrm flipH="1">
            <a:off x="1658938" y="4367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3" name="Oval 37"/>
          <p:cNvSpPr/>
          <p:nvPr/>
        </p:nvSpPr>
        <p:spPr>
          <a:xfrm>
            <a:off x="2039938" y="4443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4" name="Oval 38"/>
          <p:cNvSpPr/>
          <p:nvPr/>
        </p:nvSpPr>
        <p:spPr>
          <a:xfrm>
            <a:off x="1811338" y="4748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5" name="Oval 39"/>
          <p:cNvSpPr/>
          <p:nvPr/>
        </p:nvSpPr>
        <p:spPr>
          <a:xfrm>
            <a:off x="2344738" y="4748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6" name="Oval 40"/>
          <p:cNvSpPr/>
          <p:nvPr/>
        </p:nvSpPr>
        <p:spPr>
          <a:xfrm>
            <a:off x="2192338" y="4976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7" name="Oval 41"/>
          <p:cNvSpPr/>
          <p:nvPr/>
        </p:nvSpPr>
        <p:spPr>
          <a:xfrm flipH="1">
            <a:off x="2497138" y="50530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8" name="Oval 42"/>
          <p:cNvSpPr/>
          <p:nvPr/>
        </p:nvSpPr>
        <p:spPr>
          <a:xfrm flipH="1">
            <a:off x="2116138" y="4748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69" name="Oval 43"/>
          <p:cNvSpPr/>
          <p:nvPr/>
        </p:nvSpPr>
        <p:spPr>
          <a:xfrm>
            <a:off x="4478338" y="4595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0" name="Oval 44"/>
          <p:cNvSpPr/>
          <p:nvPr/>
        </p:nvSpPr>
        <p:spPr>
          <a:xfrm flipV="1">
            <a:off x="4783138" y="4367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1" name="Oval 45"/>
          <p:cNvSpPr/>
          <p:nvPr/>
        </p:nvSpPr>
        <p:spPr>
          <a:xfrm>
            <a:off x="5164138" y="4443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2" name="Oval 46"/>
          <p:cNvSpPr/>
          <p:nvPr/>
        </p:nvSpPr>
        <p:spPr>
          <a:xfrm flipH="1">
            <a:off x="4325938" y="4900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3" name="Oval 47"/>
          <p:cNvSpPr/>
          <p:nvPr/>
        </p:nvSpPr>
        <p:spPr>
          <a:xfrm flipH="1">
            <a:off x="5468938" y="4595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4" name="Oval 48"/>
          <p:cNvSpPr/>
          <p:nvPr/>
        </p:nvSpPr>
        <p:spPr>
          <a:xfrm flipH="1">
            <a:off x="7526338" y="42910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5" name="Oval 49"/>
          <p:cNvSpPr/>
          <p:nvPr/>
        </p:nvSpPr>
        <p:spPr>
          <a:xfrm flipH="1">
            <a:off x="7602538" y="4976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6" name="Oval 50"/>
          <p:cNvSpPr/>
          <p:nvPr/>
        </p:nvSpPr>
        <p:spPr>
          <a:xfrm>
            <a:off x="7221538" y="4443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7" name="Oval 51"/>
          <p:cNvSpPr/>
          <p:nvPr/>
        </p:nvSpPr>
        <p:spPr>
          <a:xfrm flipH="1" flipV="1">
            <a:off x="7983538" y="44434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8" name="Oval 52"/>
          <p:cNvSpPr/>
          <p:nvPr/>
        </p:nvSpPr>
        <p:spPr>
          <a:xfrm flipV="1">
            <a:off x="7145338" y="47482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79" name="Oval 53"/>
          <p:cNvSpPr/>
          <p:nvPr/>
        </p:nvSpPr>
        <p:spPr>
          <a:xfrm flipH="1">
            <a:off x="7907338" y="46720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80" name="Oval 54"/>
          <p:cNvSpPr/>
          <p:nvPr/>
        </p:nvSpPr>
        <p:spPr>
          <a:xfrm>
            <a:off x="7602538" y="45958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81" name="Oval 55"/>
          <p:cNvSpPr/>
          <p:nvPr/>
        </p:nvSpPr>
        <p:spPr>
          <a:xfrm flipV="1">
            <a:off x="7297738" y="4900613"/>
            <a:ext cx="76200" cy="76200"/>
          </a:xfrm>
          <a:prstGeom prst="ellipse">
            <a:avLst/>
          </a:prstGeom>
          <a:solidFill>
            <a:schemeClr val="accent1"/>
          </a:solidFill>
          <a:ln w="127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endParaRPr lang="zh-CN" altLang="en-US" sz="2400" b="0" dirty="0">
              <a:solidFill>
                <a:schemeClr val="accent2"/>
              </a:solidFill>
              <a:latin typeface="Times New Roman" panose="02020603050405020304" pitchFamily="18" charset="0"/>
              <a:ea typeface="宋体" panose="02010600030101010101" pitchFamily="2" charset="-122"/>
            </a:endParaRPr>
          </a:p>
        </p:txBody>
      </p:sp>
      <p:sp>
        <p:nvSpPr>
          <p:cNvPr id="48182" name="Text Box 56"/>
          <p:cNvSpPr txBox="1"/>
          <p:nvPr/>
        </p:nvSpPr>
        <p:spPr>
          <a:xfrm>
            <a:off x="896938" y="1624013"/>
            <a:ext cx="5334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p>
        </p:txBody>
      </p:sp>
      <p:sp>
        <p:nvSpPr>
          <p:cNvPr id="48183" name="Text Box 57"/>
          <p:cNvSpPr txBox="1"/>
          <p:nvPr/>
        </p:nvSpPr>
        <p:spPr>
          <a:xfrm>
            <a:off x="3449638" y="1700213"/>
            <a:ext cx="3810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p>
        </p:txBody>
      </p:sp>
      <p:sp>
        <p:nvSpPr>
          <p:cNvPr id="48184" name="Text Box 58"/>
          <p:cNvSpPr txBox="1"/>
          <p:nvPr/>
        </p:nvSpPr>
        <p:spPr>
          <a:xfrm>
            <a:off x="6269038" y="1860550"/>
            <a:ext cx="3810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p>
        </p:txBody>
      </p:sp>
      <p:sp>
        <p:nvSpPr>
          <p:cNvPr id="48185" name="Text Box 59"/>
          <p:cNvSpPr txBox="1"/>
          <p:nvPr/>
        </p:nvSpPr>
        <p:spPr>
          <a:xfrm>
            <a:off x="896938" y="3910013"/>
            <a:ext cx="4572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p>
        </p:txBody>
      </p:sp>
      <p:sp>
        <p:nvSpPr>
          <p:cNvPr id="48186" name="Text Box 60"/>
          <p:cNvSpPr txBox="1"/>
          <p:nvPr/>
        </p:nvSpPr>
        <p:spPr>
          <a:xfrm>
            <a:off x="3522663" y="3910013"/>
            <a:ext cx="3810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p>
        </p:txBody>
      </p:sp>
      <p:sp>
        <p:nvSpPr>
          <p:cNvPr id="48187" name="Text Box 61"/>
          <p:cNvSpPr txBox="1"/>
          <p:nvPr/>
        </p:nvSpPr>
        <p:spPr>
          <a:xfrm>
            <a:off x="6078538" y="3910013"/>
            <a:ext cx="381000" cy="654050"/>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特征</a:t>
            </a:r>
          </a:p>
        </p:txBody>
      </p:sp>
      <p:sp>
        <p:nvSpPr>
          <p:cNvPr id="48188" name="Text Box 62"/>
          <p:cNvSpPr txBox="1"/>
          <p:nvPr/>
        </p:nvSpPr>
        <p:spPr>
          <a:xfrm>
            <a:off x="2532063" y="3378200"/>
            <a:ext cx="990600" cy="37941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p>
        </p:txBody>
      </p:sp>
      <p:sp>
        <p:nvSpPr>
          <p:cNvPr id="48189" name="Text Box 63"/>
          <p:cNvSpPr txBox="1"/>
          <p:nvPr/>
        </p:nvSpPr>
        <p:spPr>
          <a:xfrm>
            <a:off x="5240338" y="3300413"/>
            <a:ext cx="838200" cy="379412"/>
          </a:xfrm>
          <a:prstGeom prst="rect">
            <a:avLst/>
          </a:prstGeom>
          <a:noFill/>
          <a:ln w="12700"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p>
        </p:txBody>
      </p:sp>
      <p:sp>
        <p:nvSpPr>
          <p:cNvPr id="48190" name="Text Box 64"/>
          <p:cNvSpPr txBox="1"/>
          <p:nvPr/>
        </p:nvSpPr>
        <p:spPr>
          <a:xfrm>
            <a:off x="7678738" y="3300413"/>
            <a:ext cx="762000" cy="379412"/>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p>
        </p:txBody>
      </p:sp>
      <p:sp>
        <p:nvSpPr>
          <p:cNvPr id="48191" name="Text Box 65"/>
          <p:cNvSpPr txBox="1"/>
          <p:nvPr/>
        </p:nvSpPr>
        <p:spPr>
          <a:xfrm>
            <a:off x="2497138" y="5699125"/>
            <a:ext cx="914400" cy="37941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p>
        </p:txBody>
      </p:sp>
      <p:sp>
        <p:nvSpPr>
          <p:cNvPr id="48192" name="Text Box 66"/>
          <p:cNvSpPr txBox="1"/>
          <p:nvPr/>
        </p:nvSpPr>
        <p:spPr>
          <a:xfrm>
            <a:off x="5316538" y="5699125"/>
            <a:ext cx="762000" cy="37941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p>
        </p:txBody>
      </p:sp>
      <p:sp>
        <p:nvSpPr>
          <p:cNvPr id="48193" name="Text Box 67"/>
          <p:cNvSpPr txBox="1"/>
          <p:nvPr/>
        </p:nvSpPr>
        <p:spPr>
          <a:xfrm>
            <a:off x="7907338" y="5699125"/>
            <a:ext cx="762000" cy="37941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50000"/>
              </a:spcBef>
              <a:buNone/>
            </a:pPr>
            <a:r>
              <a:rPr lang="zh-CN" altLang="en-US" sz="1800" b="0" dirty="0">
                <a:solidFill>
                  <a:schemeClr val="bg2"/>
                </a:solidFill>
                <a:latin typeface="Times New Roman" panose="02020603050405020304" pitchFamily="18" charset="0"/>
                <a:ea typeface="宋体" panose="02010600030101010101" pitchFamily="2" charset="-122"/>
              </a:rPr>
              <a:t>因素</a:t>
            </a:r>
          </a:p>
        </p:txBody>
      </p:sp>
      <p:sp>
        <p:nvSpPr>
          <p:cNvPr id="48194" name="Text Box 68"/>
          <p:cNvSpPr txBox="1"/>
          <p:nvPr/>
        </p:nvSpPr>
        <p:spPr>
          <a:xfrm>
            <a:off x="2967038" y="1058863"/>
            <a:ext cx="184150" cy="366712"/>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0"/>
              </a:spcBef>
              <a:buNone/>
            </a:pPr>
            <a:endParaRPr lang="zh-CN" altLang="en-US" sz="1800" b="0" dirty="0">
              <a:solidFill>
                <a:schemeClr val="bg2"/>
              </a:solidFill>
              <a:ea typeface="宋体" panose="02010600030101010101" pitchFamily="2" charset="-122"/>
            </a:endParaRPr>
          </a:p>
        </p:txBody>
      </p:sp>
      <p:sp>
        <p:nvSpPr>
          <p:cNvPr id="48195" name="Text Box 69"/>
          <p:cNvSpPr txBox="1"/>
          <p:nvPr/>
        </p:nvSpPr>
        <p:spPr>
          <a:xfrm>
            <a:off x="3903663" y="441325"/>
            <a:ext cx="2047875" cy="7016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36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3200" b="1">
                <a:solidFill>
                  <a:srgbClr val="000000"/>
                </a:solidFill>
                <a:latin typeface="+mn-lt"/>
                <a:ea typeface="+mn-ea"/>
              </a:defRPr>
            </a:lvl2pPr>
            <a:lvl3pPr marL="1143000" indent="-228600" algn="l" rtl="0" eaLnBrk="0" fontAlgn="base" hangingPunct="0">
              <a:spcBef>
                <a:spcPct val="20000"/>
              </a:spcBef>
              <a:spcAft>
                <a:spcPct val="0"/>
              </a:spcAft>
              <a:buChar char="•"/>
              <a:defRPr sz="28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stStyle>
          <a:p>
            <a:pPr marL="0" lvl="0" indent="0" eaLnBrk="1" hangingPunct="1">
              <a:spcBef>
                <a:spcPct val="0"/>
              </a:spcBef>
              <a:buNone/>
            </a:pPr>
            <a:r>
              <a:rPr lang="en-US" altLang="zh-CN" sz="4000" b="0" dirty="0">
                <a:solidFill>
                  <a:schemeClr val="bg2"/>
                </a:solidFill>
                <a:ea typeface="宋体" panose="02010600030101010101" pitchFamily="2" charset="-122"/>
              </a:rPr>
              <a:t>Scatters</a:t>
            </a: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ln/>
        </p:spPr>
        <p:txBody>
          <a:bodyPr vert="horz" wrap="square" lIns="91440" tIns="45720" rIns="91440" bIns="45720" anchor="ctr"/>
          <a:lstStyle/>
          <a:p>
            <a:pPr eaLnBrk="1" hangingPunct="1"/>
            <a:r>
              <a:rPr lang="zh-CN" altLang="en-US" dirty="0">
                <a:latin typeface="Times New Roman" panose="02020603050405020304" pitchFamily="18" charset="0"/>
              </a:rPr>
              <a:t>Ｕ</a:t>
            </a:r>
            <a:r>
              <a:rPr lang="en-US" altLang="zh-CN" dirty="0">
                <a:latin typeface="Times New Roman" panose="02020603050405020304" pitchFamily="18" charset="0"/>
              </a:rPr>
              <a:t>p-bottom estimating?</a:t>
            </a:r>
            <a:endParaRPr lang="zh-CN" altLang="en-US" dirty="0">
              <a:latin typeface="Times New Roman" panose="02020603050405020304" pitchFamily="18" charset="0"/>
            </a:endParaRPr>
          </a:p>
        </p:txBody>
      </p:sp>
      <p:sp>
        <p:nvSpPr>
          <p:cNvPr id="49155" name="Rectangle 3"/>
          <p:cNvSpPr>
            <a:spLocks noGrp="1"/>
          </p:cNvSpPr>
          <p:nvPr>
            <p:ph idx="1"/>
          </p:nvPr>
        </p:nvSpPr>
        <p:spPr>
          <a:ln/>
        </p:spPr>
        <p:txBody>
          <a:bodyPr vert="horz" wrap="square" lIns="91440" tIns="45720" rIns="91440" bIns="45720" anchor="t"/>
          <a:lstStyle/>
          <a:p>
            <a:pPr eaLnBrk="1" hangingPunct="1"/>
            <a:endParaRPr lang="zh-CN" altLang="en-US" dirty="0"/>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ln/>
        </p:spPr>
        <p:txBody>
          <a:bodyPr vert="horz" wrap="square" lIns="91440" tIns="45720" rIns="91440" bIns="45720" anchor="ctr"/>
          <a:lstStyle/>
          <a:p>
            <a:pPr eaLnBrk="1" hangingPunct="1"/>
            <a:r>
              <a:rPr lang="zh-CN" altLang="en-US" sz="4000" dirty="0">
                <a:latin typeface="Times New Roman" panose="02020603050405020304" pitchFamily="18" charset="0"/>
              </a:rPr>
              <a:t>Ｕ</a:t>
            </a:r>
            <a:r>
              <a:rPr lang="en-US" altLang="zh-CN" sz="4000" dirty="0">
                <a:latin typeface="Times New Roman" panose="02020603050405020304" pitchFamily="18" charset="0"/>
              </a:rPr>
              <a:t>p-bottom estimating</a:t>
            </a:r>
            <a:br>
              <a:rPr lang="en-US" altLang="zh-CN" sz="4000" dirty="0">
                <a:latin typeface="Times New Roman" panose="02020603050405020304" pitchFamily="18" charset="0"/>
              </a:rPr>
            </a:br>
            <a:endParaRPr lang="zh-CN" altLang="en-US" sz="4000" dirty="0">
              <a:latin typeface="Times New Roman" panose="02020603050405020304" pitchFamily="18" charset="0"/>
            </a:endParaRPr>
          </a:p>
        </p:txBody>
      </p:sp>
      <p:sp>
        <p:nvSpPr>
          <p:cNvPr id="50179" name="Rectangle 3"/>
          <p:cNvSpPr>
            <a:spLocks noGrp="1"/>
          </p:cNvSpPr>
          <p:nvPr>
            <p:ph idx="1"/>
          </p:nvPr>
        </p:nvSpPr>
        <p:spPr>
          <a:ln/>
        </p:spPr>
        <p:txBody>
          <a:bodyPr vert="horz" wrap="square" lIns="91440" tIns="45720" rIns="91440" bIns="45720" anchor="t"/>
          <a:lstStyle/>
          <a:p>
            <a:pPr eaLnBrk="1" hangingPunct="1"/>
            <a:r>
              <a:rPr lang="zh-CN" altLang="en-US" dirty="0"/>
              <a:t>目标成本</a:t>
            </a:r>
            <a:r>
              <a:rPr lang="en-US" altLang="zh-CN" dirty="0"/>
              <a:t>=</a:t>
            </a:r>
            <a:r>
              <a:rPr lang="zh-CN" altLang="en-US" dirty="0"/>
              <a:t>竞争者价格－目标利润</a:t>
            </a:r>
          </a:p>
          <a:p>
            <a:pPr eaLnBrk="1" hangingPunct="1"/>
            <a:r>
              <a:rPr lang="zh-CN" altLang="en-US" dirty="0"/>
              <a:t>目标成本</a:t>
            </a:r>
            <a:r>
              <a:rPr lang="en-US" altLang="zh-CN" dirty="0"/>
              <a:t>=</a:t>
            </a:r>
            <a:r>
              <a:rPr lang="zh-CN" altLang="en-US" dirty="0"/>
              <a:t>竞争者价格／（１＋目标利润率）</a:t>
            </a:r>
          </a:p>
          <a:p>
            <a:pPr eaLnBrk="1" hangingPunct="1"/>
            <a:endParaRPr lang="en-US" altLang="zh-CN" dirty="0"/>
          </a:p>
          <a:p>
            <a:pPr eaLnBrk="1" hangingPunct="1"/>
            <a:r>
              <a:rPr lang="zh-CN" altLang="en-US" dirty="0"/>
              <a:t>需要运用价值工程</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ln/>
        </p:spPr>
        <p:txBody>
          <a:bodyPr vert="horz" wrap="square" lIns="91440" tIns="45720" rIns="91440" bIns="45720" anchor="ctr"/>
          <a:lstStyle/>
          <a:p>
            <a:pPr eaLnBrk="1" hangingPunct="1"/>
            <a:r>
              <a:rPr lang="zh-CN" altLang="en-US" dirty="0"/>
              <a:t>成本估算作用</a:t>
            </a:r>
          </a:p>
        </p:txBody>
      </p:sp>
      <p:sp>
        <p:nvSpPr>
          <p:cNvPr id="51203" name="Rectangle 3"/>
          <p:cNvSpPr>
            <a:spLocks noGrp="1"/>
          </p:cNvSpPr>
          <p:nvPr>
            <p:ph idx="1"/>
          </p:nvPr>
        </p:nvSpPr>
        <p:spPr>
          <a:ln/>
        </p:spPr>
        <p:txBody>
          <a:bodyPr vert="horz" wrap="square" lIns="91440" tIns="45720" rIns="91440" bIns="45720" anchor="t"/>
          <a:lstStyle/>
          <a:p>
            <a:pPr lvl="1" eaLnBrk="1" hangingPunct="1"/>
            <a:r>
              <a:rPr lang="zh-CN" altLang="en-US" b="0" dirty="0"/>
              <a:t>确定和控制项目实施的成本</a:t>
            </a:r>
          </a:p>
          <a:p>
            <a:pPr lvl="1" eaLnBrk="1" hangingPunct="1"/>
            <a:r>
              <a:rPr lang="zh-CN" altLang="en-US" b="0" dirty="0"/>
              <a:t>估算项目全生命周期的成本</a:t>
            </a:r>
          </a:p>
          <a:p>
            <a:pPr lvl="1" eaLnBrk="1" hangingPunct="1"/>
            <a:r>
              <a:rPr lang="zh-CN" altLang="en-US" b="0" dirty="0"/>
              <a:t>使用价值工程等方法节约成本和时间</a:t>
            </a:r>
          </a:p>
          <a:p>
            <a:pPr lvl="1" eaLnBrk="1" hangingPunct="1"/>
            <a:r>
              <a:rPr lang="zh-CN" altLang="en-US" b="0" dirty="0"/>
              <a:t>为项目相关利益主体提供成本和效益信息</a:t>
            </a:r>
          </a:p>
          <a:p>
            <a:pPr lvl="1" eaLnBrk="1" hangingPunct="1"/>
            <a:r>
              <a:rPr lang="zh-CN" altLang="en-US" b="0" dirty="0"/>
              <a:t>为项目的资金筹措和财务管理提供依据</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ln/>
        </p:spPr>
        <p:txBody>
          <a:bodyPr vert="horz" wrap="square" lIns="91440" tIns="45720" rIns="91440" bIns="45720" anchor="ctr"/>
          <a:lstStyle/>
          <a:p>
            <a:pPr eaLnBrk="1" hangingPunct="1"/>
            <a:r>
              <a:rPr lang="zh-CN" altLang="en-US" dirty="0"/>
              <a:t>总结</a:t>
            </a:r>
          </a:p>
        </p:txBody>
      </p:sp>
      <p:sp>
        <p:nvSpPr>
          <p:cNvPr id="52227" name="Rectangle 3"/>
          <p:cNvSpPr>
            <a:spLocks noGrp="1"/>
          </p:cNvSpPr>
          <p:nvPr>
            <p:ph idx="1"/>
          </p:nvPr>
        </p:nvSpPr>
        <p:spPr>
          <a:ln/>
        </p:spPr>
        <p:txBody>
          <a:bodyPr vert="horz" wrap="square" lIns="91440" tIns="45720" rIns="91440" bIns="45720" anchor="t"/>
          <a:lstStyle/>
          <a:p>
            <a:pPr eaLnBrk="1" hangingPunct="1">
              <a:buNone/>
            </a:pPr>
            <a:r>
              <a:rPr lang="en-US" altLang="zh-CN" dirty="0">
                <a:solidFill>
                  <a:srgbClr val="CD5134"/>
                </a:solidFill>
              </a:rPr>
              <a:t>1.Work breakdown structure (WBS)</a:t>
            </a:r>
          </a:p>
          <a:p>
            <a:pPr eaLnBrk="1" hangingPunct="1">
              <a:buNone/>
            </a:pPr>
            <a:r>
              <a:rPr lang="en-US" altLang="zh-CN" dirty="0"/>
              <a:t>2.</a:t>
            </a:r>
            <a:r>
              <a:rPr lang="zh-CN" altLang="en-US" dirty="0"/>
              <a:t>成本收入分类</a:t>
            </a:r>
          </a:p>
          <a:p>
            <a:pPr eaLnBrk="1" hangingPunct="1">
              <a:buNone/>
            </a:pPr>
            <a:r>
              <a:rPr lang="en-US" altLang="zh-CN" dirty="0">
                <a:solidFill>
                  <a:srgbClr val="CD5134"/>
                </a:solidFill>
              </a:rPr>
              <a:t>3.</a:t>
            </a:r>
            <a:r>
              <a:rPr lang="zh-CN" altLang="en-US" dirty="0">
                <a:solidFill>
                  <a:srgbClr val="CD5134"/>
                </a:solidFill>
              </a:rPr>
              <a:t>估算方法</a:t>
            </a:r>
            <a:r>
              <a:rPr lang="en-US" altLang="zh-CN" dirty="0">
                <a:solidFill>
                  <a:srgbClr val="CD5134"/>
                </a:solidFill>
              </a:rPr>
              <a:t>(</a:t>
            </a:r>
            <a:r>
              <a:rPr lang="zh-CN" altLang="en-US" dirty="0">
                <a:solidFill>
                  <a:srgbClr val="CD5134"/>
                </a:solidFill>
              </a:rPr>
              <a:t>模型</a:t>
            </a:r>
            <a:r>
              <a:rPr lang="en-US" altLang="zh-CN" dirty="0">
                <a:solidFill>
                  <a:srgbClr val="CD5134"/>
                </a:solidFill>
              </a:rPr>
              <a:t>)</a:t>
            </a:r>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ln/>
        </p:spPr>
        <p:txBody>
          <a:bodyPr vert="horz" wrap="square" lIns="91440" tIns="45720" rIns="91440" bIns="45720" anchor="ctr"/>
          <a:lstStyle/>
          <a:p>
            <a:pPr eaLnBrk="1" hangingPunct="1"/>
            <a:endParaRPr lang="zh-CN" altLang="en-US" dirty="0"/>
          </a:p>
        </p:txBody>
      </p:sp>
      <p:sp>
        <p:nvSpPr>
          <p:cNvPr id="53251" name="Rectangle 3"/>
          <p:cNvSpPr>
            <a:spLocks noGrp="1"/>
          </p:cNvSpPr>
          <p:nvPr>
            <p:ph idx="1"/>
          </p:nvPr>
        </p:nvSpPr>
        <p:spPr>
          <a:ln/>
        </p:spPr>
        <p:txBody>
          <a:bodyPr vert="horz" wrap="square" lIns="91440" tIns="45720" rIns="91440" bIns="45720" anchor="t"/>
          <a:lstStyle/>
          <a:p>
            <a:pPr algn="ctr" eaLnBrk="1" hangingPunct="1">
              <a:buNone/>
            </a:pPr>
            <a:r>
              <a:rPr lang="en-US" altLang="zh-CN" sz="6600" dirty="0"/>
              <a:t>Question?</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en-US" sz="2400" b="0"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en-US" sz="2400" b="0"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3192</Words>
  <Application>Microsoft Office PowerPoint</Application>
  <PresentationFormat>全屏显示(4:3)</PresentationFormat>
  <Paragraphs>605</Paragraphs>
  <Slides>55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55</vt:i4>
      </vt:variant>
    </vt:vector>
  </HeadingPairs>
  <TitlesOfParts>
    <vt:vector size="68" baseType="lpstr">
      <vt:lpstr>方正舒体</vt:lpstr>
      <vt:lpstr>方正姚体</vt:lpstr>
      <vt:lpstr>黑体</vt:lpstr>
      <vt:lpstr>华文楷体</vt:lpstr>
      <vt:lpstr>华文新魏</vt:lpstr>
      <vt:lpstr>楷体_GB2312</vt:lpstr>
      <vt:lpstr>宋体</vt:lpstr>
      <vt:lpstr>Arial</vt:lpstr>
      <vt:lpstr>Helvetica</vt:lpstr>
      <vt:lpstr>Times</vt:lpstr>
      <vt:lpstr>Times New Roman</vt:lpstr>
      <vt:lpstr>Wingdings</vt:lpstr>
      <vt:lpstr>Blank Presentation</vt:lpstr>
      <vt:lpstr>回顾：Concepts of cost</vt:lpstr>
      <vt:lpstr>成本视角</vt:lpstr>
      <vt:lpstr>PowerPoint 演示文稿</vt:lpstr>
      <vt:lpstr>中美贸易战</vt:lpstr>
      <vt:lpstr>中美贸易战</vt:lpstr>
      <vt:lpstr>中美贸易战</vt:lpstr>
      <vt:lpstr>中美贸易战</vt:lpstr>
      <vt:lpstr>中美贸易战</vt:lpstr>
      <vt:lpstr>中美贸易战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成本估算技术</vt:lpstr>
      <vt:lpstr>1.Work Breakdown Structure (WBS)</vt:lpstr>
      <vt:lpstr>WBS involving the activities</vt:lpstr>
      <vt:lpstr>PowerPoint 演示文稿</vt:lpstr>
      <vt:lpstr>PowerPoint 演示文稿</vt:lpstr>
      <vt:lpstr>PowerPoint 演示文稿</vt:lpstr>
      <vt:lpstr>PowerPoint 演示文稿</vt:lpstr>
      <vt:lpstr>PowerPoint 演示文稿</vt:lpstr>
      <vt:lpstr>PowerPoint 演示文稿</vt:lpstr>
      <vt:lpstr>讨论</vt:lpstr>
      <vt:lpstr>PowerPoint 演示文稿</vt:lpstr>
      <vt:lpstr>PowerPoint 演示文稿</vt:lpstr>
      <vt:lpstr>WBS 类型</vt:lpstr>
      <vt:lpstr>Other structures</vt:lpstr>
      <vt:lpstr>2.成本收入分类</vt:lpstr>
      <vt:lpstr>3.估算方法</vt:lpstr>
      <vt:lpstr>Overview of Estimating</vt:lpstr>
      <vt:lpstr>Overview of Estimating (continued)</vt:lpstr>
      <vt:lpstr>PowerPoint 演示文稿</vt:lpstr>
      <vt:lpstr>成本估算精度影响因素</vt:lpstr>
      <vt:lpstr>估算数据来源</vt:lpstr>
      <vt:lpstr>Cost estimating: tools and techniques</vt:lpstr>
      <vt:lpstr>Cost of quality </vt:lpstr>
      <vt:lpstr>(1).Prevention cost</vt:lpstr>
      <vt:lpstr>(2).Appraisal cost</vt:lpstr>
      <vt:lpstr>(3).Internal failure cost</vt:lpstr>
      <vt:lpstr>(3).External failure cost</vt:lpstr>
      <vt:lpstr>Power-sizing technique</vt:lpstr>
      <vt:lpstr>ＳＯＬＵＴＩＯＮ</vt:lpstr>
      <vt:lpstr>构建成本估算关系</vt:lpstr>
      <vt:lpstr>交通量预测模型的基本形式</vt:lpstr>
      <vt:lpstr>PowerPoint 演示文稿</vt:lpstr>
      <vt:lpstr>各方案投资估算表 </vt:lpstr>
      <vt:lpstr>PowerPoint 演示文稿</vt:lpstr>
      <vt:lpstr>Ｕp-bottom estimating?</vt:lpstr>
      <vt:lpstr>Ｕp-bottom estimating </vt:lpstr>
      <vt:lpstr>成本估算作用</vt:lpstr>
      <vt:lpstr>总结</vt:lpstr>
      <vt:lpstr>PowerPoint 演示文稿</vt:lpstr>
    </vt:vector>
  </TitlesOfParts>
  <Company>KAGAN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刘 扬</cp:lastModifiedBy>
  <cp:revision>1077</cp:revision>
  <dcterms:created xsi:type="dcterms:W3CDTF">2006-03-30T18:33:07Z</dcterms:created>
  <dcterms:modified xsi:type="dcterms:W3CDTF">2019-09-22T13:15:25Z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2052-11.1.0.8986</vt:lpwstr>
  </property>
</Properties>
</file>