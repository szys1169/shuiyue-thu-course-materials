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88599" autoAdjust="0"/>
  </p:normalViewPr>
  <p:slideViewPr>
    <p:cSldViewPr snapToGrid="0">
      <p:cViewPr varScale="1">
        <p:scale>
          <a:sx n="76" d="100"/>
          <a:sy n="76" d="100"/>
        </p:scale>
        <p:origin x="12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43771-C58D-47BE-A95C-59290A2EB36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9B368-530A-438A-9DAD-13F09A89DB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68" y="17371"/>
            <a:ext cx="2406041" cy="11978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4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8000"/>
            <a:ext cx="7886700" cy="510649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/>
          <a:srcRect t="18900" b="24401"/>
          <a:stretch>
            <a:fillRect/>
          </a:stretch>
        </p:blipFill>
        <p:spPr>
          <a:xfrm>
            <a:off x="173618" y="1031493"/>
            <a:ext cx="8785284" cy="216024"/>
          </a:xfrm>
          <a:prstGeom prst="rect">
            <a:avLst/>
          </a:prstGeom>
        </p:spPr>
      </p:pic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Calibri (正文)"/>
              </a:defRPr>
            </a:lvl1pPr>
          </a:lstStyle>
          <a:p>
            <a:fld id="{6F463926-53FD-4ECB-B19C-E4EF13DB640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88000"/>
            <a:ext cx="3886200" cy="5102842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88000"/>
            <a:ext cx="3886200" cy="5102842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7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71871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12380"/>
            <a:ext cx="3868340" cy="407728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71871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12380"/>
            <a:ext cx="3887391" cy="40772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9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8000"/>
            <a:ext cx="7886700" cy="4929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zh-CN" altLang="en-US" sz="4800" dirty="0"/>
              <a:t>作业</a:t>
            </a:r>
            <a:r>
              <a:rPr lang="en-US" altLang="zh-CN" sz="4800" dirty="0"/>
              <a:t>: </a:t>
            </a:r>
            <a:r>
              <a:rPr lang="zh-CN" altLang="en-US" sz="4800" dirty="0"/>
              <a:t>面向对象程序设计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143000" y="3338802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隶书" panose="02010509060101010101" pitchFamily="49" charset="-122"/>
              </a:rPr>
              <a:t>助教：杜婉晴 </a:t>
            </a:r>
            <a:endParaRPr lang="en-US" altLang="zh-CN" dirty="0">
              <a:ea typeface="隶书" panose="02010509060101010101" pitchFamily="49" charset="-122"/>
            </a:endParaRPr>
          </a:p>
          <a:p>
            <a:r>
              <a:rPr lang="zh-CN" altLang="en-US" dirty="0">
                <a:ea typeface="隶书" panose="02010509060101010101" pitchFamily="49" charset="-122"/>
              </a:rPr>
              <a:t>邮箱：</a:t>
            </a:r>
            <a:r>
              <a:rPr lang="en-US" altLang="zh-CN" dirty="0">
                <a:ea typeface="隶书" panose="02010509060101010101" pitchFamily="49" charset="-122"/>
              </a:rPr>
              <a:t>duwanqingdwq@163.com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6F463926-53FD-4ECB-B19C-E4EF13DB6407}" type="slidenum">
              <a:rPr lang="zh-CN" altLang="en-US" smtClean="0"/>
              <a:t>1</a:t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195" y="4115740"/>
            <a:ext cx="2530805" cy="223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7999"/>
            <a:ext cx="7886700" cy="5336625"/>
          </a:xfrm>
        </p:spPr>
        <p:txBody>
          <a:bodyPr>
            <a:noAutofit/>
          </a:bodyPr>
          <a:lstStyle/>
          <a:p>
            <a:pPr marL="0" lv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600" dirty="0"/>
              <a:t>(1) </a:t>
            </a:r>
            <a:r>
              <a:rPr lang="zh-CN" altLang="zh-CN" sz="2600" dirty="0"/>
              <a:t>虚拟足球俱乐部球队的经纪人又新招了</a:t>
            </a:r>
            <a:r>
              <a:rPr lang="en-US" altLang="zh-CN" sz="2600" dirty="0"/>
              <a:t>5</a:t>
            </a:r>
            <a:r>
              <a:rPr lang="zh-CN" altLang="zh-CN" sz="2600" dirty="0"/>
              <a:t>名队员，他写了</a:t>
            </a:r>
            <a:r>
              <a:rPr lang="zh-CN" altLang="en-US" sz="2600" dirty="0"/>
              <a:t>一段</a:t>
            </a:r>
            <a:r>
              <a:rPr lang="zh-CN" altLang="zh-CN" sz="2600" dirty="0"/>
              <a:t>代码，为新队员建了一个数组，并输出数组的所有元素。</a:t>
            </a:r>
            <a:endParaRPr lang="en-GB" altLang="zh-CN" sz="2600" dirty="0"/>
          </a:p>
          <a:p>
            <a:pPr marL="0" lvl="0" indent="0" algn="just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zh-CN" sz="2600" dirty="0"/>
              <a:t>其中字符串是队员的名字，而数字则是队员的年龄。不过有个队员的名字他竟不记得了</a:t>
            </a:r>
            <a:r>
              <a:rPr lang="zh-CN" altLang="en-US" sz="2600" dirty="0"/>
              <a:t>！</a:t>
            </a:r>
            <a:r>
              <a:rPr lang="zh-CN" altLang="zh-CN" sz="2600" dirty="0"/>
              <a:t>他的名字只好用“</a:t>
            </a:r>
            <a:r>
              <a:rPr lang="en-US" altLang="zh-CN" sz="2600" dirty="0"/>
              <a:t>?</a:t>
            </a:r>
            <a:r>
              <a:rPr lang="zh-CN" altLang="zh-CN" sz="2600" dirty="0"/>
              <a:t>”表示，年龄为</a:t>
            </a:r>
            <a:r>
              <a:rPr lang="en-US" altLang="zh-CN" sz="2600" dirty="0"/>
              <a:t>0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 marL="0" lvl="0" indent="0">
              <a:lnSpc>
                <a:spcPct val="90000"/>
              </a:lnSpc>
              <a:spcBef>
                <a:spcPts val="600"/>
              </a:spcBef>
              <a:buNone/>
            </a:pPr>
            <a:endParaRPr lang="en-GB" altLang="zh-CN" sz="2600" dirty="0">
              <a:latin typeface="方正等线" panose="03000509000000000000" pitchFamily="65" charset="-122"/>
              <a:ea typeface="方正等线" panose="03000509000000000000" pitchFamily="65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zh-CN" sz="2600" dirty="0"/>
              <a:t>请你为“队员”这种对象定义一个类，使程序能编译通过。</a:t>
            </a:r>
            <a:endParaRPr lang="en-GB" altLang="zh-CN" sz="2600" dirty="0"/>
          </a:p>
          <a:p>
            <a:pPr marL="0" lv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2600" b="1" dirty="0"/>
              <a:t>要求：</a:t>
            </a:r>
            <a:endParaRPr lang="en-US" altLang="zh-CN" sz="2600" b="1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zh-CN" altLang="zh-CN" sz="2600" dirty="0"/>
              <a:t>队员信息的输出格式自动</a:t>
            </a:r>
            <a:endParaRPr lang="en-US" altLang="zh-CN" sz="2600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zh-CN" altLang="zh-CN" sz="2600" dirty="0"/>
              <a:t>不得修改</a:t>
            </a:r>
            <a:r>
              <a:rPr lang="en-US" altLang="zh-CN" sz="2600" dirty="0"/>
              <a:t>main()</a:t>
            </a:r>
            <a:r>
              <a:rPr lang="zh-CN" altLang="zh-CN" sz="2600" dirty="0"/>
              <a:t>函数的代码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zh-CN" altLang="zh-CN" sz="2600" dirty="0"/>
              <a:t>每个队员的姓名和年龄都是常量</a:t>
            </a:r>
            <a:endParaRPr lang="zh-CN" alt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2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1836"/>
            <a:ext cx="7886700" cy="5106498"/>
          </a:xfrm>
          <a:ln w="15875"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int main()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Member </a:t>
            </a:r>
            <a:r>
              <a:rPr lang="en-US" altLang="zh-CN" dirty="0" err="1"/>
              <a:t>newCommers</a:t>
            </a:r>
            <a:r>
              <a:rPr lang="en-US" altLang="zh-CN" dirty="0"/>
              <a:t>[5] = { Member("Zhang San", 22),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Member("Li Si", 19),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Member("Wang Wu", 18),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Member("Zhao Liu", 24) };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	for (int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5;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{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newCommers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	return 0;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3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 (2) </a:t>
            </a:r>
            <a:r>
              <a:rPr lang="zh-CN" altLang="zh-CN" dirty="0"/>
              <a:t>经济人在</a:t>
            </a:r>
            <a:r>
              <a:rPr lang="en-US" altLang="zh-CN" dirty="0"/>
              <a:t>main()</a:t>
            </a:r>
            <a:r>
              <a:rPr lang="zh-CN" altLang="zh-CN" dirty="0"/>
              <a:t>函数中增加了下面的语句，想通过姓名的拼写来查询队员的年龄。请你继续他的工作，完成程序的其他部分。</a:t>
            </a:r>
            <a:endParaRPr lang="en-US" altLang="zh-CN" dirty="0"/>
          </a:p>
          <a:p>
            <a:pPr marL="0" indent="0" algn="just">
              <a:buNone/>
            </a:pPr>
            <a:r>
              <a:rPr lang="zh-CN" altLang="en-US" dirty="0"/>
              <a:t>（查询不到的可以自定输出并在文档中说明）</a:t>
            </a:r>
            <a:endParaRPr lang="en-US" altLang="zh-CN" dirty="0"/>
          </a:p>
          <a:p>
            <a:pPr marL="0" indent="0" algn="just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4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9666" y="3636620"/>
            <a:ext cx="7721031" cy="1938992"/>
          </a:xfrm>
          <a:prstGeom prst="rect">
            <a:avLst/>
          </a:prstGeom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string name[5] = { "Zhang San", "Li Si", "Wang Wu", "Zhao Liu", "Pin Yin" };</a:t>
            </a:r>
            <a:endParaRPr lang="zh-CN" altLang="zh-CN" sz="2000" dirty="0"/>
          </a:p>
          <a:p>
            <a:r>
              <a:rPr lang="en-US" altLang="zh-CN" sz="2000" dirty="0" err="1"/>
              <a:t>MemberList</a:t>
            </a:r>
            <a:r>
              <a:rPr lang="en-US" altLang="zh-CN" sz="2000" dirty="0"/>
              <a:t> list(</a:t>
            </a:r>
            <a:r>
              <a:rPr lang="en-US" altLang="zh-CN" sz="2000" dirty="0" err="1"/>
              <a:t>newCommers</a:t>
            </a:r>
            <a:r>
              <a:rPr lang="en-US" altLang="zh-CN" sz="2000" dirty="0"/>
              <a:t>, 5);</a:t>
            </a:r>
            <a:endParaRPr lang="zh-CN" altLang="zh-CN" sz="2000" dirty="0"/>
          </a:p>
          <a:p>
            <a:r>
              <a:rPr lang="en-US" altLang="zh-CN" sz="2000" dirty="0"/>
              <a:t>for 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5;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r>
              <a:rPr lang="en-GB" altLang="zh-CN" sz="2000" dirty="0"/>
              <a:t>{</a:t>
            </a:r>
            <a:endParaRPr lang="zh-CN" altLang="zh-CN" sz="2000" dirty="0"/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list[name[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]]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r>
              <a:rPr lang="en-GB" altLang="zh-CN" sz="2000" dirty="0"/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zh-CN" dirty="0"/>
              <a:t>在不改变</a:t>
            </a:r>
            <a:r>
              <a:rPr lang="en-US" altLang="zh-CN" dirty="0"/>
              <a:t>main()</a:t>
            </a:r>
            <a:r>
              <a:rPr lang="zh-CN" altLang="zh-CN" dirty="0"/>
              <a:t>函数的条件下补充代码，计算圆形、长方形、正方形的面积。要求程序输出结果为：</a:t>
            </a:r>
          </a:p>
          <a:p>
            <a:pPr marL="0" indent="0" algn="just">
              <a:buNone/>
            </a:pPr>
            <a:r>
              <a:rPr lang="en-US" altLang="zh-CN" dirty="0"/>
              <a:t>Area is 12.5664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Area is 12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Area is 25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Area is 16</a:t>
            </a: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5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1836"/>
            <a:ext cx="7886700" cy="5106498"/>
          </a:xfrm>
          <a:ln w="15875"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int main(int </a:t>
            </a:r>
            <a:r>
              <a:rPr lang="en-US" altLang="zh-CN" dirty="0" err="1"/>
              <a:t>argc</a:t>
            </a:r>
            <a:r>
              <a:rPr lang="en-US" altLang="zh-CN" dirty="0"/>
              <a:t>, char **</a:t>
            </a:r>
            <a:r>
              <a:rPr lang="en-US" altLang="zh-CN" dirty="0" err="1"/>
              <a:t>argv</a:t>
            </a:r>
            <a:r>
              <a:rPr lang="en-US" altLang="zh-CN" dirty="0"/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Shape * shapes[4];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Circle circle(2.0);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Rectangle rectangle(3.0, 4.0);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Square square1(5.0);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Square square2(4.0);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 	shapes[0] = &amp;circle; 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shapes[1] = &amp;rectangle; 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shapes[2] = &amp;square1;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shapes[3] = &amp;square2;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for (int k = 0; k&lt;4; k++) {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"Area is " &lt;&lt; shapes[k]-&gt;</a:t>
            </a:r>
            <a:r>
              <a:rPr lang="en-US" altLang="zh-CN" dirty="0" err="1"/>
              <a:t>getarea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}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	return 0;</a:t>
            </a:r>
            <a:endParaRPr lang="zh-CN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  <a:endParaRPr lang="zh-CN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6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zh-CN" dirty="0"/>
              <a:t>添加一个模板函数</a:t>
            </a:r>
            <a:r>
              <a:rPr lang="en-US" altLang="zh-CN" dirty="0"/>
              <a:t>Max</a:t>
            </a:r>
            <a:r>
              <a:rPr lang="zh-CN" altLang="zh-CN" dirty="0"/>
              <a:t>，使得程序能够返回正确的结果。要求不改变</a:t>
            </a:r>
            <a:r>
              <a:rPr lang="en-US" altLang="zh-CN" dirty="0"/>
              <a:t>main()</a:t>
            </a:r>
            <a:r>
              <a:rPr lang="zh-CN" altLang="zh-CN" dirty="0"/>
              <a:t>函数。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7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7999"/>
            <a:ext cx="7886700" cy="5428557"/>
          </a:xfrm>
          <a:ln w="15875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int main()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{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int j = 2;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"Max(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j): " &lt;&lt; Max(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double f1 = 11.1;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double f2 = 22.2;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"Max(f1, f2): " &lt;&lt; Max(f1, f2)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 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string s1 = "AAAAA";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string s2 = "BBBBB";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"Max(s1, s2): " &lt;&lt; Max(s1, s2)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	return 0;</a:t>
            </a:r>
            <a:endParaRPr lang="zh-CN" altLang="zh-CN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8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小作业提醒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zh-CN" dirty="0"/>
              <a:t>作业提交</a:t>
            </a:r>
            <a:r>
              <a:rPr lang="zh-CN" altLang="en-US" dirty="0"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压缩成一个文件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zh-CN" dirty="0"/>
              <a:t>该文件含有的内容</a:t>
            </a:r>
          </a:p>
          <a:p>
            <a:pPr lvl="2">
              <a:lnSpc>
                <a:spcPct val="90000"/>
              </a:lnSpc>
            </a:pPr>
            <a:r>
              <a:rPr lang="zh-CN" altLang="zh-CN" dirty="0"/>
              <a:t>源程序</a:t>
            </a:r>
            <a:r>
              <a:rPr lang="zh-CN" altLang="en-US" dirty="0"/>
              <a:t>、工程文件等</a:t>
            </a:r>
            <a:endParaRPr lang="en-US" altLang="zh-CN" dirty="0"/>
          </a:p>
          <a:p>
            <a:pPr lvl="3"/>
            <a:r>
              <a:rPr lang="zh-CN" altLang="en-US" dirty="0"/>
              <a:t>保证能运行</a:t>
            </a:r>
            <a:endParaRPr lang="zh-CN" altLang="zh-CN" dirty="0"/>
          </a:p>
          <a:p>
            <a:pPr lvl="2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文档: </a:t>
            </a:r>
            <a:endParaRPr lang="en-US" altLang="zh-CN" dirty="0">
              <a:solidFill>
                <a:schemeClr val="accent2"/>
              </a:solidFill>
            </a:endParaRPr>
          </a:p>
          <a:p>
            <a:pPr lvl="3"/>
            <a:r>
              <a:rPr lang="zh-CN" altLang="zh-CN" dirty="0"/>
              <a:t>如何</a:t>
            </a:r>
            <a:r>
              <a:rPr lang="zh-CN" altLang="en-US" dirty="0"/>
              <a:t>编译</a:t>
            </a:r>
            <a:r>
              <a:rPr lang="zh-CN" altLang="zh-CN" dirty="0"/>
              <a:t>运行、</a:t>
            </a:r>
            <a:r>
              <a:rPr lang="zh-CN" altLang="en-US" dirty="0">
                <a:solidFill>
                  <a:schemeClr val="accent2"/>
                </a:solidFill>
              </a:rPr>
              <a:t>程序运行的</a:t>
            </a:r>
            <a:r>
              <a:rPr lang="zh-CN" altLang="zh-CN" dirty="0">
                <a:solidFill>
                  <a:schemeClr val="accent2"/>
                </a:solidFill>
              </a:rPr>
              <a:t>结果</a:t>
            </a:r>
            <a:r>
              <a:rPr lang="zh-CN" altLang="en-US" dirty="0">
                <a:solidFill>
                  <a:schemeClr val="accent2"/>
                </a:solidFill>
              </a:rPr>
              <a:t>、</a:t>
            </a:r>
            <a:r>
              <a:rPr lang="en-US" altLang="zh-CN" dirty="0"/>
              <a:t>AI</a:t>
            </a:r>
            <a:r>
              <a:rPr lang="zh-CN" altLang="en-US" dirty="0"/>
              <a:t>工具使用说明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zh-CN" dirty="0"/>
              <a:t>独立完成作业 </a:t>
            </a:r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抄袭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0分</a:t>
            </a:r>
            <a:endParaRPr lang="zh-CN" altLang="zh-CN" dirty="0"/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非常相似的作业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低分</a:t>
            </a:r>
            <a:r>
              <a:rPr lang="zh-CN" altLang="en-US" dirty="0">
                <a:solidFill>
                  <a:schemeClr val="accent2"/>
                </a:solidFill>
              </a:rPr>
              <a:t>，不超过</a:t>
            </a:r>
            <a:r>
              <a:rPr lang="en-US" altLang="zh-CN" dirty="0">
                <a:solidFill>
                  <a:schemeClr val="accent2"/>
                </a:solidFill>
              </a:rPr>
              <a:t>30%</a:t>
            </a:r>
            <a:endParaRPr lang="zh-CN" altLang="zh-CN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zh-CN" dirty="0"/>
              <a:t>严格交作业的时间</a:t>
            </a:r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迟交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酌情扣分（</a:t>
            </a:r>
            <a:r>
              <a:rPr lang="en-US" altLang="zh-CN" dirty="0">
                <a:solidFill>
                  <a:schemeClr val="accent2"/>
                </a:solidFill>
              </a:rPr>
              <a:t>10%/</a:t>
            </a:r>
            <a:r>
              <a:rPr lang="zh-CN" altLang="en-US" dirty="0">
                <a:solidFill>
                  <a:schemeClr val="accent2"/>
                </a:solidFill>
              </a:rPr>
              <a:t>天）</a:t>
            </a:r>
            <a:r>
              <a:rPr lang="zh-CN" altLang="zh-CN" dirty="0"/>
              <a:t>  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9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E7DD-75A4-A8B2-9B61-781A0F42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D499E-194C-1DBE-9B4C-35DC992E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AI 工具使用规范与声明要求</a:t>
            </a:r>
            <a:endParaRPr lang="zh-CN" altLang="zh-CN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18A3F-9F4C-66BB-2CF3-ED5DF4CB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为了确保学术诚信与成绩评定的公正性，所有在作业中使用了AI的同学，必须在提交的</a:t>
            </a:r>
            <a:r>
              <a:rPr lang="zh-CN" altLang="zh-CN" sz="2000" b="1" dirty="0"/>
              <a:t>作业报告文档末</a:t>
            </a:r>
            <a:r>
              <a:rPr lang="zh-CN" altLang="en-US" sz="2000" b="1" dirty="0"/>
              <a:t>尾</a:t>
            </a:r>
            <a:r>
              <a:rPr lang="zh-CN" altLang="zh-CN" sz="2000" dirty="0"/>
              <a:t>添加【AI 工具使用声明】章节。未添加声明但被查出代码具有明显AI自动化生成痕迹的，将视作抄袭处理。</a:t>
            </a:r>
            <a:endParaRPr lang="en-US" altLang="zh-CN" sz="2000" dirty="0"/>
          </a:p>
          <a:p>
            <a:r>
              <a:rPr lang="zh-CN" altLang="en-US" sz="2000" dirty="0"/>
              <a:t>声明内容要求：</a:t>
            </a:r>
            <a:endParaRPr lang="en-US" altLang="zh-CN" sz="2000" dirty="0"/>
          </a:p>
          <a:p>
            <a:pPr lvl="1"/>
            <a:r>
              <a:rPr lang="zh-CN" altLang="zh-CN" sz="1800" b="1" dirty="0"/>
              <a:t>使用了什么工具：</a:t>
            </a:r>
            <a:r>
              <a:rPr lang="zh-CN" altLang="zh-CN" sz="1800" dirty="0"/>
              <a:t>在哪些模块、功能或 Debug 环节中使用了 AI？使用的是哪款工具？</a:t>
            </a:r>
          </a:p>
          <a:p>
            <a:pPr lvl="1"/>
            <a:r>
              <a:rPr lang="zh-CN" altLang="zh-CN" sz="1800" b="1" dirty="0"/>
              <a:t>如何与 AI 交互：</a:t>
            </a:r>
            <a:r>
              <a:rPr lang="zh-CN" altLang="zh-CN" sz="1800" dirty="0"/>
              <a:t>你给 AI 输入了怎样的 Prompt（提示词）？AI 给你提供了什么帮助（例如：生成了基础骨架、优化了算法复杂度、修复了某个特定 Bug）？</a:t>
            </a:r>
          </a:p>
          <a:p>
            <a:pPr lvl="1"/>
            <a:r>
              <a:rPr lang="zh-CN" altLang="zh-CN" sz="1800" b="1" dirty="0"/>
              <a:t>你的独立贡献是什么：</a:t>
            </a:r>
            <a:r>
              <a:rPr lang="zh-CN" altLang="zh-CN" sz="1800" dirty="0"/>
              <a:t>AI 生成的代码你是否进行了修改和测试？你是如何理解这段代码并将其融入你的整体系统中的？</a:t>
            </a:r>
          </a:p>
          <a:p>
            <a:pPr lvl="1"/>
            <a:endParaRPr lang="zh-CN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1CB56-B1AD-3178-99C9-35B75F83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10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540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888</Words>
  <Application>Microsoft Office PowerPoint</Application>
  <PresentationFormat>全屏显示(4:3)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Calibri (正文)</vt:lpstr>
      <vt:lpstr>方正等线</vt:lpstr>
      <vt:lpstr>隶书</vt:lpstr>
      <vt:lpstr>Arial</vt:lpstr>
      <vt:lpstr>Calibri</vt:lpstr>
      <vt:lpstr>Calibri Light</vt:lpstr>
      <vt:lpstr>Courier New</vt:lpstr>
      <vt:lpstr>Wingdings</vt:lpstr>
      <vt:lpstr>Office 主题</vt:lpstr>
      <vt:lpstr>作业: 面向对象程序设计</vt:lpstr>
      <vt:lpstr>第1题</vt:lpstr>
      <vt:lpstr>代码</vt:lpstr>
      <vt:lpstr>第1题</vt:lpstr>
      <vt:lpstr>第2题</vt:lpstr>
      <vt:lpstr>代码</vt:lpstr>
      <vt:lpstr>第3题</vt:lpstr>
      <vt:lpstr>代码</vt:lpstr>
      <vt:lpstr>小作业提醒</vt:lpstr>
      <vt:lpstr>AI 工具使用规范与声明要求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Shixia Liu</dc:creator>
  <cp:lastModifiedBy>TSingSV</cp:lastModifiedBy>
  <cp:revision>141</cp:revision>
  <dcterms:created xsi:type="dcterms:W3CDTF">2022-08-22T07:41:42Z</dcterms:created>
  <dcterms:modified xsi:type="dcterms:W3CDTF">2026-06-29T01:31:30Z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