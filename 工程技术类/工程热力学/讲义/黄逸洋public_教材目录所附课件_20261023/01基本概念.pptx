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sldIdLst>
    <p:sldId id="291" r:id="rId2"/>
    <p:sldId id="292"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2" r:id="rId63"/>
    <p:sldId id="353" r:id="rId64"/>
    <p:sldId id="354" r:id="rId65"/>
    <p:sldId id="355" r:id="rId66"/>
    <p:sldId id="356" r:id="rId67"/>
    <p:sldId id="357" r:id="rId68"/>
    <p:sldId id="358" r:id="rId69"/>
    <p:sldId id="359" r:id="rId70"/>
    <p:sldId id="360" r:id="rId71"/>
    <p:sldId id="361" r:id="rId72"/>
    <p:sldId id="362" r:id="rId73"/>
    <p:sldId id="363" r:id="rId74"/>
    <p:sldId id="364" r:id="rId75"/>
    <p:sldId id="365" r:id="rId76"/>
    <p:sldId id="366" r:id="rId77"/>
    <p:sldId id="367" r:id="rId78"/>
    <p:sldId id="368" r:id="rId79"/>
    <p:sldId id="369" r:id="rId80"/>
    <p:sldId id="370" r:id="rId81"/>
    <p:sldId id="371" r:id="rId82"/>
    <p:sldId id="372" r:id="rId83"/>
    <p:sldId id="373" r:id="rId84"/>
    <p:sldId id="374" r:id="rId8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2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5" Type="http://schemas.openxmlformats.org/officeDocument/2006/relationships/image" Target="../media/image45.wmf"/><Relationship Id="rId4"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0.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C8CA32-C982-47E1-9055-DB00A6DC20B2}" type="datetimeFigureOut">
              <a:rPr lang="zh-CN" altLang="en-US" smtClean="0"/>
              <a:t>2020/10/1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228150-CEC8-4E6D-99B9-6434C347234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58371"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5837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A1F0E93-01F4-41AF-9436-EC25C4AFEA91}" type="slidenum">
              <a:rPr lang="zh-CN" altLang="en-US" smtClean="0"/>
              <a:t>54</a:t>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日期占位符 185347"/>
          <p:cNvSpPr>
            <a:spLocks noGrp="1"/>
          </p:cNvSpPr>
          <p:nvPr>
            <p:ph type="dt" sz="half" idx="10"/>
          </p:nvPr>
        </p:nvSpPr>
        <p:spPr/>
        <p:txBody>
          <a:bodyPr/>
          <a:lstStyle>
            <a:lvl1pPr>
              <a:defRPr/>
            </a:lvl1pPr>
          </a:lstStyle>
          <a:p>
            <a:pPr>
              <a:defRPr/>
            </a:pPr>
            <a:endParaRPr lang="zh-CN" altLang="en-US"/>
          </a:p>
        </p:txBody>
      </p:sp>
      <p:sp>
        <p:nvSpPr>
          <p:cNvPr id="7" name="页脚占位符 185348"/>
          <p:cNvSpPr>
            <a:spLocks noGrp="1"/>
          </p:cNvSpPr>
          <p:nvPr>
            <p:ph type="ftr" sz="quarter" idx="11"/>
          </p:nvPr>
        </p:nvSpPr>
        <p:spPr/>
        <p:txBody>
          <a:bodyPr/>
          <a:lstStyle>
            <a:lvl1pPr>
              <a:defRPr/>
            </a:lvl1pPr>
          </a:lstStyle>
          <a:p>
            <a:pPr>
              <a:defRPr/>
            </a:pPr>
            <a:endParaRPr lang="zh-CN" altLang="en-US"/>
          </a:p>
        </p:txBody>
      </p:sp>
      <p:sp>
        <p:nvSpPr>
          <p:cNvPr id="8" name="灯片编号占位符 185349"/>
          <p:cNvSpPr>
            <a:spLocks noGrp="1"/>
          </p:cNvSpPr>
          <p:nvPr>
            <p:ph type="sldNum" sz="quarter" idx="12"/>
          </p:nvPr>
        </p:nvSpPr>
        <p:spPr/>
        <p:txBody>
          <a:bodyPr/>
          <a:lstStyle>
            <a:lvl1pPr>
              <a:defRPr/>
            </a:lvl1pPr>
          </a:lstStyle>
          <a:p>
            <a:pPr>
              <a:defRPr/>
            </a:pPr>
            <a:fld id="{23A9E2FD-8E41-4690-A677-C7B9924CFC38}" type="slidenum">
              <a:rPr lang="zh-CN" altLang="en-US"/>
              <a:t>‹#›</a:t>
            </a:fld>
            <a:endParaRPr lang="zh-CN" altLang="en-US">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185347"/>
          <p:cNvSpPr>
            <a:spLocks noGrp="1"/>
          </p:cNvSpPr>
          <p:nvPr>
            <p:ph type="dt" sz="half" idx="10"/>
          </p:nvPr>
        </p:nvSpPr>
        <p:spPr/>
        <p:txBody>
          <a:bodyPr/>
          <a:lstStyle>
            <a:lvl1pPr>
              <a:defRPr/>
            </a:lvl1pPr>
          </a:lstStyle>
          <a:p>
            <a:pPr>
              <a:defRPr/>
            </a:pPr>
            <a:endParaRPr lang="zh-CN" altLang="en-US"/>
          </a:p>
        </p:txBody>
      </p:sp>
      <p:sp>
        <p:nvSpPr>
          <p:cNvPr id="6" name="页脚占位符 185348"/>
          <p:cNvSpPr>
            <a:spLocks noGrp="1"/>
          </p:cNvSpPr>
          <p:nvPr>
            <p:ph type="ftr" sz="quarter" idx="11"/>
          </p:nvPr>
        </p:nvSpPr>
        <p:spPr/>
        <p:txBody>
          <a:bodyPr/>
          <a:lstStyle>
            <a:lvl1pPr>
              <a:defRPr/>
            </a:lvl1pPr>
          </a:lstStyle>
          <a:p>
            <a:pPr>
              <a:defRPr/>
            </a:pPr>
            <a:endParaRPr lang="zh-CN" altLang="en-US"/>
          </a:p>
        </p:txBody>
      </p:sp>
      <p:sp>
        <p:nvSpPr>
          <p:cNvPr id="7" name="灯片编号占位符 185349"/>
          <p:cNvSpPr>
            <a:spLocks noGrp="1"/>
          </p:cNvSpPr>
          <p:nvPr>
            <p:ph type="sldNum" sz="quarter" idx="12"/>
          </p:nvPr>
        </p:nvSpPr>
        <p:spPr/>
        <p:txBody>
          <a:bodyPr/>
          <a:lstStyle>
            <a:lvl1pPr>
              <a:defRPr/>
            </a:lvl1pPr>
          </a:lstStyle>
          <a:p>
            <a:pPr>
              <a:defRPr/>
            </a:pPr>
            <a:fld id="{EC98A40C-2D78-47E4-BC48-B2ECC5B46CC3}" type="slidenum">
              <a:rPr lang="zh-CN" altLang="en-US"/>
              <a:t>‹#›</a:t>
            </a:fld>
            <a:endParaRPr lang="zh-CN" altLang="en-US">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8.GIF"/><Relationship Id="rId4" Type="http://schemas.openxmlformats.org/officeDocument/2006/relationships/image" Target="../media/image7.GI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24.wmf"/><Relationship Id="rId5" Type="http://schemas.openxmlformats.org/officeDocument/2006/relationships/oleObject" Target="../embeddings/oleObject5.bin"/><Relationship Id="rId4" Type="http://schemas.openxmlformats.org/officeDocument/2006/relationships/image" Target="../media/image23.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5.vml"/><Relationship Id="rId5" Type="http://schemas.openxmlformats.org/officeDocument/2006/relationships/image" Target="../media/image28.jpeg"/><Relationship Id="rId4" Type="http://schemas.openxmlformats.org/officeDocument/2006/relationships/image" Target="../media/image27.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32.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1.emf"/><Relationship Id="rId5" Type="http://schemas.openxmlformats.org/officeDocument/2006/relationships/oleObject" Target="../embeddings/oleObject8.bin"/><Relationship Id="rId4" Type="http://schemas.openxmlformats.org/officeDocument/2006/relationships/image" Target="../media/image30.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slideLayout" Target="../slideLayouts/slideLayout2.xml"/><Relationship Id="rId7" Type="http://schemas.openxmlformats.org/officeDocument/2006/relationships/image" Target="../media/image34.emf"/><Relationship Id="rId2" Type="http://schemas.openxmlformats.org/officeDocument/2006/relationships/tags" Target="../tags/tag15.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33.emf"/><Relationship Id="rId4" Type="http://schemas.openxmlformats.org/officeDocument/2006/relationships/oleObject" Target="../embeddings/oleObject9.bin"/><Relationship Id="rId9" Type="http://schemas.openxmlformats.org/officeDocument/2006/relationships/image" Target="../media/image35.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7.wmf"/><Relationship Id="rId5" Type="http://schemas.openxmlformats.org/officeDocument/2006/relationships/oleObject" Target="../embeddings/oleObject13.bin"/><Relationship Id="rId4" Type="http://schemas.openxmlformats.org/officeDocument/2006/relationships/image" Target="../media/image36.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8.png"/><Relationship Id="rId5" Type="http://schemas.openxmlformats.org/officeDocument/2006/relationships/image" Target="../media/image39.jpeg"/><Relationship Id="rId4" Type="http://schemas.openxmlformats.org/officeDocument/2006/relationships/image" Target="../media/image38.wmf"/></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19.bin"/><Relationship Id="rId3" Type="http://schemas.openxmlformats.org/officeDocument/2006/relationships/slideLayout" Target="../slideLayouts/slideLayout7.xml"/><Relationship Id="rId7" Type="http://schemas.openxmlformats.org/officeDocument/2006/relationships/oleObject" Target="../embeddings/oleObject16.bin"/><Relationship Id="rId12" Type="http://schemas.openxmlformats.org/officeDocument/2006/relationships/image" Target="../media/image44.wmf"/><Relationship Id="rId2" Type="http://schemas.openxmlformats.org/officeDocument/2006/relationships/tags" Target="../tags/tag18.xml"/><Relationship Id="rId1" Type="http://schemas.openxmlformats.org/officeDocument/2006/relationships/vmlDrawing" Target="../drawings/vmlDrawing10.vml"/><Relationship Id="rId6" Type="http://schemas.openxmlformats.org/officeDocument/2006/relationships/image" Target="../media/image41.w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43.wmf"/><Relationship Id="rId4" Type="http://schemas.openxmlformats.org/officeDocument/2006/relationships/notesSlide" Target="../notesSlides/notesSlide1.xml"/><Relationship Id="rId9" Type="http://schemas.openxmlformats.org/officeDocument/2006/relationships/oleObject" Target="../embeddings/oleObject17.bin"/><Relationship Id="rId14" Type="http://schemas.openxmlformats.org/officeDocument/2006/relationships/image" Target="../media/image45.wmf"/></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vmlDrawing" Target="../drawings/vmlDrawing11.vml"/><Relationship Id="rId5" Type="http://schemas.openxmlformats.org/officeDocument/2006/relationships/image" Target="../media/image50.png"/><Relationship Id="rId4" Type="http://schemas.openxmlformats.org/officeDocument/2006/relationships/oleObject" Target="../embeddings/oleObject20.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50.png"/></Relationships>
</file>

<file path=ppt/slides/_rels/slide66.xml.rels><?xml version="1.0" encoding="UTF-8" standalone="yes"?>
<Relationships xmlns="http://schemas.openxmlformats.org/package/2006/relationships"><Relationship Id="rId2" Type="http://schemas.openxmlformats.org/officeDocument/2006/relationships/image" Target="../media/image51.GI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7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7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2051"/>
          <p:cNvSpPr>
            <a:spLocks noGrp="1" noChangeArrowheads="1"/>
          </p:cNvSpPr>
          <p:nvPr>
            <p:ph type="ctrTitle"/>
          </p:nvPr>
        </p:nvSpPr>
        <p:spPr>
          <a:xfrm>
            <a:off x="744538" y="2459038"/>
            <a:ext cx="7613650" cy="958850"/>
          </a:xfrm>
        </p:spPr>
        <p:txBody>
          <a:bodyPr anchor="ctr"/>
          <a:lstStyle/>
          <a:p>
            <a:pPr eaLnBrk="1" hangingPunct="1"/>
            <a:r>
              <a:rPr lang="en-US" altLang="zh-CN" sz="4800" b="1" smtClean="0">
                <a:solidFill>
                  <a:schemeClr val="tx1"/>
                </a:solidFill>
                <a:ea typeface="黑体" panose="02010609060101010101" pitchFamily="49" charset="-122"/>
              </a:rPr>
              <a:t>01</a:t>
            </a:r>
            <a:r>
              <a:rPr lang="zh-CN" altLang="en-US" sz="4800" b="1" smtClean="0">
                <a:solidFill>
                  <a:schemeClr val="tx1"/>
                </a:solidFill>
                <a:ea typeface="黑体" panose="02010609060101010101" pitchFamily="49" charset="-122"/>
              </a:rPr>
              <a:t>　基本概念</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73731"/>
          <p:cNvSpPr>
            <a:spLocks noGrp="1" noChangeArrowheads="1"/>
          </p:cNvSpPr>
          <p:nvPr>
            <p:ph type="ctrTitle"/>
          </p:nvPr>
        </p:nvSpPr>
        <p:spPr>
          <a:xfrm>
            <a:off x="1835150" y="1700213"/>
            <a:ext cx="5127625" cy="957262"/>
          </a:xfrm>
        </p:spPr>
        <p:txBody>
          <a:bodyPr/>
          <a:lstStyle/>
          <a:p>
            <a:pPr eaLnBrk="1" hangingPunct="1"/>
            <a:r>
              <a:rPr lang="zh-CN" altLang="en-US" sz="4400" b="1" smtClean="0">
                <a:solidFill>
                  <a:schemeClr val="tx1"/>
                </a:solidFill>
                <a:latin typeface="黑体" panose="02010609060101010101" pitchFamily="49" charset="-122"/>
                <a:ea typeface="黑体" panose="02010609060101010101" pitchFamily="49" charset="-122"/>
              </a:rPr>
              <a:t>§</a:t>
            </a:r>
            <a:r>
              <a:rPr lang="en-US" altLang="zh-CN" sz="4400" b="1" smtClean="0">
                <a:solidFill>
                  <a:schemeClr val="tx1"/>
                </a:solidFill>
                <a:latin typeface="黑体" panose="02010609060101010101" pitchFamily="49" charset="-122"/>
                <a:ea typeface="黑体" panose="02010609060101010101" pitchFamily="49" charset="-122"/>
              </a:rPr>
              <a:t>1</a:t>
            </a:r>
            <a:r>
              <a:rPr lang="zh-CN" altLang="en-US" sz="4400" b="1" smtClean="0">
                <a:solidFill>
                  <a:schemeClr val="tx1"/>
                </a:solidFill>
                <a:latin typeface="黑体" panose="02010609060101010101" pitchFamily="49" charset="-122"/>
                <a:ea typeface="黑体" panose="02010609060101010101" pitchFamily="49" charset="-122"/>
              </a:rPr>
              <a:t>－</a:t>
            </a:r>
            <a:r>
              <a:rPr lang="en-US" altLang="zh-CN" sz="4400" b="1" smtClean="0">
                <a:solidFill>
                  <a:schemeClr val="tx1"/>
                </a:solidFill>
                <a:latin typeface="黑体" panose="02010609060101010101" pitchFamily="49" charset="-122"/>
                <a:ea typeface="黑体" panose="02010609060101010101" pitchFamily="49" charset="-122"/>
              </a:rPr>
              <a:t>1</a:t>
            </a:r>
            <a:r>
              <a:rPr lang="zh-CN" altLang="en-US" sz="4400" b="1" smtClean="0">
                <a:solidFill>
                  <a:schemeClr val="tx1"/>
                </a:solidFill>
                <a:latin typeface="黑体" panose="02010609060101010101" pitchFamily="49" charset="-122"/>
                <a:ea typeface="黑体" panose="02010609060101010101" pitchFamily="49" charset="-122"/>
              </a:rPr>
              <a:t>　热力系</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框 163844"/>
          <p:cNvSpPr txBox="1">
            <a:spLocks noChangeArrowheads="1"/>
          </p:cNvSpPr>
          <p:nvPr/>
        </p:nvSpPr>
        <p:spPr bwMode="auto">
          <a:xfrm>
            <a:off x="755650" y="1916113"/>
            <a:ext cx="695642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400" b="1">
                <a:ea typeface="黑体" panose="02010609060101010101" pitchFamily="49" charset="-122"/>
              </a:rPr>
              <a:t>一、热力系是如何定义的？</a:t>
            </a: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矩形 118787"/>
          <p:cNvSpPr>
            <a:spLocks noChangeArrowheads="1"/>
          </p:cNvSpPr>
          <p:nvPr/>
        </p:nvSpPr>
        <p:spPr bwMode="auto">
          <a:xfrm>
            <a:off x="395288" y="2019300"/>
            <a:ext cx="76327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dirty="0">
                <a:latin typeface="Tahoma" panose="020B0604030504040204" pitchFamily="34" charset="0"/>
                <a:ea typeface="黑体" panose="02010609060101010101" pitchFamily="49" charset="-122"/>
              </a:rPr>
              <a:t>这种被取出的部分称为</a:t>
            </a:r>
            <a:r>
              <a:rPr lang="zh-CN" altLang="en-US" b="1" dirty="0">
                <a:solidFill>
                  <a:srgbClr val="FF0000"/>
                </a:solidFill>
                <a:latin typeface="Tahoma" panose="020B0604030504040204" pitchFamily="34" charset="0"/>
                <a:ea typeface="黑体" panose="02010609060101010101" pitchFamily="49" charset="-122"/>
              </a:rPr>
              <a:t>热力学系统</a:t>
            </a:r>
            <a:r>
              <a:rPr lang="zh-CN" altLang="en-US" b="1" dirty="0">
                <a:latin typeface="Tahoma" panose="020B0604030504040204" pitchFamily="34" charset="0"/>
                <a:ea typeface="黑体" panose="02010609060101010101" pitchFamily="49" charset="-122"/>
              </a:rPr>
              <a:t>，简称</a:t>
            </a:r>
            <a:r>
              <a:rPr lang="zh-CN" altLang="en-US" b="1" dirty="0">
                <a:solidFill>
                  <a:srgbClr val="FF0000"/>
                </a:solidFill>
                <a:latin typeface="Tahoma" panose="020B0604030504040204" pitchFamily="34" charset="0"/>
                <a:ea typeface="黑体" panose="02010609060101010101" pitchFamily="49" charset="-122"/>
              </a:rPr>
              <a:t>热力系</a:t>
            </a:r>
            <a:r>
              <a:rPr lang="zh-CN" altLang="en-US" b="1" dirty="0">
                <a:solidFill>
                  <a:srgbClr val="FF0000"/>
                </a:solidFill>
                <a:latin typeface="Times New Roman" panose="02020603050405020304" pitchFamily="18" charset="0"/>
                <a:ea typeface="黑体" panose="02010609060101010101" pitchFamily="49" charset="-122"/>
              </a:rPr>
              <a:t>（</a:t>
            </a:r>
            <a:r>
              <a:rPr lang="en-US" altLang="zh-CN" b="1" dirty="0">
                <a:solidFill>
                  <a:srgbClr val="FF0000"/>
                </a:solidFill>
                <a:latin typeface="Times New Roman" panose="02020603050405020304" pitchFamily="18" charset="0"/>
                <a:ea typeface="黑体" panose="02010609060101010101" pitchFamily="49" charset="-122"/>
              </a:rPr>
              <a:t>thermodynamic system</a:t>
            </a:r>
            <a:r>
              <a:rPr lang="zh-CN" altLang="en-US" b="1" dirty="0">
                <a:solidFill>
                  <a:srgbClr val="FF0000"/>
                </a:solidFill>
                <a:latin typeface="Times New Roman" panose="02020603050405020304" pitchFamily="18" charset="0"/>
                <a:ea typeface="黑体" panose="02010609060101010101" pitchFamily="49" charset="-122"/>
              </a:rPr>
              <a:t>）</a:t>
            </a:r>
            <a:endParaRPr lang="zh-CN" altLang="en-US" b="1" dirty="0">
              <a:latin typeface="Times New Roman" panose="02020603050405020304" pitchFamily="18" charset="0"/>
              <a:ea typeface="黑体" panose="02010609060101010101" pitchFamily="49" charset="-122"/>
            </a:endParaRPr>
          </a:p>
        </p:txBody>
      </p:sp>
      <p:sp>
        <p:nvSpPr>
          <p:cNvPr id="6148" name="矩形 118789"/>
          <p:cNvSpPr>
            <a:spLocks noChangeArrowheads="1"/>
          </p:cNvSpPr>
          <p:nvPr/>
        </p:nvSpPr>
        <p:spPr bwMode="auto">
          <a:xfrm>
            <a:off x="468313" y="3357563"/>
            <a:ext cx="84963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Tx/>
              <a:buNone/>
            </a:pPr>
            <a:r>
              <a:rPr lang="zh-CN" altLang="en-US" b="1">
                <a:latin typeface="Tahoma" panose="020B0604030504040204" pitchFamily="34" charset="0"/>
                <a:ea typeface="黑体" panose="02010609060101010101" pitchFamily="49" charset="-122"/>
              </a:rPr>
              <a:t>热力系以外的物质世界称为</a:t>
            </a:r>
            <a:r>
              <a:rPr lang="zh-CN" altLang="en-US" b="1">
                <a:solidFill>
                  <a:srgbClr val="FF0000"/>
                </a:solidFill>
                <a:latin typeface="Tahoma" panose="020B0604030504040204" pitchFamily="34" charset="0"/>
                <a:ea typeface="黑体" panose="02010609060101010101" pitchFamily="49" charset="-122"/>
              </a:rPr>
              <a:t>外界</a:t>
            </a:r>
            <a:r>
              <a:rPr lang="zh-CN" altLang="en-US" b="1">
                <a:solidFill>
                  <a:srgbClr val="FF0000"/>
                </a:solidFill>
                <a:latin typeface="Times New Roman" panose="02020603050405020304" pitchFamily="18" charset="0"/>
                <a:ea typeface="黑体" panose="02010609060101010101" pitchFamily="49" charset="-122"/>
              </a:rPr>
              <a:t>（</a:t>
            </a:r>
            <a:r>
              <a:rPr lang="en-US" altLang="zh-CN" b="1">
                <a:solidFill>
                  <a:srgbClr val="FF0000"/>
                </a:solidFill>
                <a:latin typeface="Times New Roman" panose="02020603050405020304" pitchFamily="18" charset="0"/>
                <a:ea typeface="黑体" panose="02010609060101010101" pitchFamily="49" charset="-122"/>
              </a:rPr>
              <a:t>surroundings</a:t>
            </a:r>
            <a:r>
              <a:rPr lang="zh-CN" altLang="en-US" b="1">
                <a:solidFill>
                  <a:srgbClr val="FF0000"/>
                </a:solidFill>
                <a:latin typeface="Times New Roman" panose="02020603050405020304" pitchFamily="18" charset="0"/>
                <a:ea typeface="黑体" panose="02010609060101010101" pitchFamily="49" charset="-122"/>
              </a:rPr>
              <a:t>）</a:t>
            </a:r>
            <a:endParaRPr lang="zh-CN" altLang="en-US" b="1">
              <a:latin typeface="Times New Roman" panose="02020603050405020304" pitchFamily="18" charset="0"/>
              <a:ea typeface="黑体" panose="02010609060101010101" pitchFamily="49" charset="-122"/>
            </a:endParaRPr>
          </a:p>
        </p:txBody>
      </p:sp>
      <p:sp>
        <p:nvSpPr>
          <p:cNvPr id="6149" name="矩形 118788"/>
          <p:cNvSpPr>
            <a:spLocks noChangeArrowheads="1"/>
          </p:cNvSpPr>
          <p:nvPr/>
        </p:nvSpPr>
        <p:spPr bwMode="auto">
          <a:xfrm>
            <a:off x="496888" y="4645025"/>
            <a:ext cx="590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Tx/>
              <a:buNone/>
            </a:pPr>
            <a:r>
              <a:rPr lang="zh-CN" altLang="en-US" b="1">
                <a:latin typeface="Tahoma" panose="020B0604030504040204" pitchFamily="34" charset="0"/>
                <a:ea typeface="黑体" panose="02010609060101010101" pitchFamily="49" charset="-122"/>
              </a:rPr>
              <a:t>热力系与外界的分界面称为</a:t>
            </a:r>
            <a:r>
              <a:rPr lang="zh-CN" altLang="en-US" b="1">
                <a:solidFill>
                  <a:srgbClr val="FF0000"/>
                </a:solidFill>
                <a:latin typeface="Tahoma" panose="020B0604030504040204" pitchFamily="34" charset="0"/>
                <a:ea typeface="黑体" panose="02010609060101010101" pitchFamily="49" charset="-122"/>
              </a:rPr>
              <a:t>边界</a:t>
            </a:r>
            <a:r>
              <a:rPr lang="en-US" altLang="zh-CN" b="1">
                <a:solidFill>
                  <a:srgbClr val="FF0000"/>
                </a:solidFill>
                <a:latin typeface="Times New Roman" panose="02020603050405020304" pitchFamily="18" charset="0"/>
                <a:ea typeface="黑体" panose="02010609060101010101" pitchFamily="49" charset="-122"/>
              </a:rPr>
              <a:t>(boundary)</a:t>
            </a:r>
            <a:endParaRPr lang="zh-CN" altLang="en-US" b="1">
              <a:solidFill>
                <a:srgbClr val="FF0000"/>
              </a:solidFill>
              <a:latin typeface="Times New Roman" panose="02020603050405020304" pitchFamily="18" charset="0"/>
              <a:ea typeface="黑体" panose="02010609060101010101" pitchFamily="49" charset="-122"/>
            </a:endParaRPr>
          </a:p>
        </p:txBody>
      </p:sp>
      <p:graphicFrame>
        <p:nvGraphicFramePr>
          <p:cNvPr id="6150" name="对象 118792"/>
          <p:cNvGraphicFramePr/>
          <p:nvPr/>
        </p:nvGraphicFramePr>
        <p:xfrm>
          <a:off x="6443663" y="3895725"/>
          <a:ext cx="2449512" cy="2260600"/>
        </p:xfrm>
        <a:graphic>
          <a:graphicData uri="http://schemas.openxmlformats.org/presentationml/2006/ole">
            <mc:AlternateContent xmlns:mc="http://schemas.openxmlformats.org/markup-compatibility/2006">
              <mc:Choice xmlns:v="urn:schemas-microsoft-com:vml" Requires="v">
                <p:oleObj spid="_x0000_s20489" r:id="rId3" imgW="1971675" imgH="1819275" progId="Paint.Picture">
                  <p:embed/>
                </p:oleObj>
              </mc:Choice>
              <mc:Fallback>
                <p:oleObj r:id="rId3" imgW="1971675" imgH="1819275" progId="Paint.Picture">
                  <p:embed/>
                  <p:pic>
                    <p:nvPicPr>
                      <p:cNvPr id="0" name="对象 11879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3895725"/>
                        <a:ext cx="2449512"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51" name="Rectangle 12"/>
          <p:cNvSpPr>
            <a:spLocks noChangeArrowheads="1"/>
          </p:cNvSpPr>
          <p:nvPr/>
        </p:nvSpPr>
        <p:spPr bwMode="auto">
          <a:xfrm>
            <a:off x="506413" y="5876925"/>
            <a:ext cx="69040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chemeClr val="accent2"/>
                </a:solidFill>
                <a:latin typeface="黑体" panose="02010609060101010101" pitchFamily="49" charset="-122"/>
                <a:ea typeface="黑体" panose="02010609060101010101" pitchFamily="49" charset="-122"/>
              </a:rPr>
              <a:t>系统与外界的作用都通过边界</a:t>
            </a:r>
          </a:p>
        </p:txBody>
      </p:sp>
      <p:sp>
        <p:nvSpPr>
          <p:cNvPr id="2" name="矩形 1"/>
          <p:cNvSpPr/>
          <p:nvPr/>
        </p:nvSpPr>
        <p:spPr>
          <a:xfrm>
            <a:off x="395288" y="282348"/>
            <a:ext cx="8159156" cy="1569660"/>
          </a:xfrm>
          <a:prstGeom prst="rect">
            <a:avLst/>
          </a:prstGeom>
        </p:spPr>
        <p:txBody>
          <a:bodyPr wrap="square">
            <a:spAutoFit/>
          </a:bodyPr>
          <a:lstStyle/>
          <a:p>
            <a:r>
              <a:rPr lang="zh-CN" altLang="en-US" sz="3200" b="1" dirty="0">
                <a:latin typeface="Tahoma" panose="020B0604030504040204" pitchFamily="34" charset="0"/>
                <a:ea typeface="黑体" panose="02010609060101010101" pitchFamily="49" charset="-122"/>
              </a:rPr>
              <a:t>为了研究问题方便，热力学中常把分析对象从周围物体中分割出来，研究它与周围物体之间的能量和物质的传递。</a:t>
            </a: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对象 118792"/>
          <p:cNvGraphicFramePr/>
          <p:nvPr/>
        </p:nvGraphicFramePr>
        <p:xfrm>
          <a:off x="2843213" y="404813"/>
          <a:ext cx="2449512" cy="2260600"/>
        </p:xfrm>
        <a:graphic>
          <a:graphicData uri="http://schemas.openxmlformats.org/presentationml/2006/ole">
            <mc:AlternateContent xmlns:mc="http://schemas.openxmlformats.org/markup-compatibility/2006">
              <mc:Choice xmlns:v="urn:schemas-microsoft-com:vml" Requires="v">
                <p:oleObj spid="_x0000_s21513" r:id="rId3" imgW="1971675" imgH="1819275" progId="Paint.Picture">
                  <p:embed/>
                </p:oleObj>
              </mc:Choice>
              <mc:Fallback>
                <p:oleObj r:id="rId3" imgW="1971675" imgH="1819275" progId="Paint.Picture">
                  <p:embed/>
                  <p:pic>
                    <p:nvPicPr>
                      <p:cNvPr id="0" name="对象 11879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404813"/>
                        <a:ext cx="2449512"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71" name="矩形 2"/>
          <p:cNvSpPr>
            <a:spLocks noChangeArrowheads="1"/>
          </p:cNvSpPr>
          <p:nvPr/>
        </p:nvSpPr>
        <p:spPr bwMode="auto">
          <a:xfrm>
            <a:off x="468313" y="2852738"/>
            <a:ext cx="78486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0000"/>
                </a:solidFill>
                <a:latin typeface="Tahoma" panose="020B0604030504040204" pitchFamily="34" charset="0"/>
                <a:ea typeface="黑体" panose="02010609060101010101" pitchFamily="49" charset="-122"/>
              </a:rPr>
              <a:t>边界由系统和外界所共有，在进行数学处理时，一般认为边界厚度为</a:t>
            </a:r>
            <a:r>
              <a:rPr lang="en-US" altLang="zh-CN" b="1">
                <a:solidFill>
                  <a:srgbClr val="000000"/>
                </a:solidFill>
                <a:latin typeface="Tahoma" panose="020B0604030504040204" pitchFamily="34" charset="0"/>
                <a:ea typeface="黑体" panose="02010609060101010101" pitchFamily="49" charset="-122"/>
              </a:rPr>
              <a:t>0</a:t>
            </a:r>
            <a:r>
              <a:rPr lang="zh-CN" altLang="en-US" b="1">
                <a:solidFill>
                  <a:srgbClr val="000000"/>
                </a:solidFill>
                <a:latin typeface="Tahoma" panose="020B0604030504040204" pitchFamily="34" charset="0"/>
                <a:ea typeface="黑体" panose="02010609060101010101" pitchFamily="49" charset="-122"/>
              </a:rPr>
              <a:t>，因此边界没有质量和体积 </a:t>
            </a:r>
          </a:p>
        </p:txBody>
      </p:sp>
      <p:sp>
        <p:nvSpPr>
          <p:cNvPr id="7172" name="矩形 11"/>
          <p:cNvSpPr>
            <a:spLocks noChangeArrowheads="1"/>
          </p:cNvSpPr>
          <p:nvPr/>
        </p:nvSpPr>
        <p:spPr bwMode="auto">
          <a:xfrm>
            <a:off x="468313" y="4868863"/>
            <a:ext cx="78486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0000"/>
                </a:solidFill>
                <a:latin typeface="Tahoma" panose="020B0604030504040204" pitchFamily="34" charset="0"/>
                <a:ea typeface="黑体" panose="02010609060101010101" pitchFamily="49" charset="-122"/>
              </a:rPr>
              <a:t>边界可能是固定的，也可能是移动的</a:t>
            </a: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文本框 163844"/>
          <p:cNvSpPr txBox="1">
            <a:spLocks noChangeArrowheads="1"/>
          </p:cNvSpPr>
          <p:nvPr/>
        </p:nvSpPr>
        <p:spPr bwMode="auto">
          <a:xfrm>
            <a:off x="755650" y="1916113"/>
            <a:ext cx="582771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400" b="1">
                <a:ea typeface="黑体" panose="02010609060101010101" pitchFamily="49" charset="-122"/>
              </a:rPr>
              <a:t>二、热力系如何分类？</a:t>
            </a: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131075"/>
          <p:cNvSpPr>
            <a:spLocks noChangeArrowheads="1"/>
          </p:cNvSpPr>
          <p:nvPr/>
        </p:nvSpPr>
        <p:spPr bwMode="auto">
          <a:xfrm>
            <a:off x="323850" y="1196975"/>
            <a:ext cx="571182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FontTx/>
              <a:buNone/>
            </a:pPr>
            <a:r>
              <a:rPr lang="en-US" altLang="zh-CN" sz="2400">
                <a:latin typeface="Times New Roman" panose="02020603050405020304" pitchFamily="18" charset="0"/>
              </a:rPr>
              <a:t>  </a:t>
            </a:r>
            <a:r>
              <a:rPr lang="zh-CN" altLang="en-US" sz="2400" b="1">
                <a:solidFill>
                  <a:srgbClr val="FF0066"/>
                </a:solidFill>
                <a:latin typeface="黑体" panose="02010609060101010101" pitchFamily="49" charset="-122"/>
                <a:ea typeface="黑体" panose="02010609060101010101" pitchFamily="49" charset="-122"/>
              </a:rPr>
              <a:t>闭口系（</a:t>
            </a:r>
            <a:r>
              <a:rPr lang="en-US" altLang="zh-CN" sz="2400" b="1">
                <a:solidFill>
                  <a:srgbClr val="FF0066"/>
                </a:solidFill>
                <a:latin typeface="Times New Roman" panose="02020603050405020304" pitchFamily="18" charset="0"/>
                <a:ea typeface="黑体" panose="02010609060101010101" pitchFamily="49" charset="-122"/>
              </a:rPr>
              <a:t>closed system</a:t>
            </a:r>
            <a:r>
              <a:rPr lang="zh-CN" altLang="en-US" sz="2400" b="1">
                <a:solidFill>
                  <a:srgbClr val="FF0066"/>
                </a:solidFill>
                <a:latin typeface="黑体" panose="02010609060101010101" pitchFamily="49" charset="-122"/>
                <a:ea typeface="黑体" panose="02010609060101010101" pitchFamily="49" charset="-122"/>
              </a:rPr>
              <a:t>）</a:t>
            </a:r>
          </a:p>
          <a:p>
            <a:pPr eaLnBrk="1" hangingPunct="1">
              <a:lnSpc>
                <a:spcPct val="90000"/>
              </a:lnSpc>
              <a:buFontTx/>
              <a:buNone/>
            </a:pPr>
            <a:r>
              <a:rPr lang="zh-CN" altLang="en-US" sz="2400" b="1">
                <a:solidFill>
                  <a:srgbClr val="FF0066"/>
                </a:solidFill>
                <a:latin typeface="Times New Roman" panose="02020603050405020304" pitchFamily="18" charset="0"/>
                <a:ea typeface="楷体_GB2312" pitchFamily="49" charset="-122"/>
              </a:rPr>
              <a:t>                    </a:t>
            </a:r>
            <a:r>
              <a:rPr lang="zh-CN" altLang="en-US" sz="2400" b="1">
                <a:latin typeface="Times New Roman" panose="02020603050405020304" pitchFamily="18" charset="0"/>
                <a:ea typeface="楷体_GB2312" pitchFamily="49" charset="-122"/>
              </a:rPr>
              <a:t>（</a:t>
            </a:r>
            <a:r>
              <a:rPr lang="zh-CN" altLang="en-US" sz="2400" b="1">
                <a:latin typeface="黑体" panose="02010609060101010101" pitchFamily="49" charset="-122"/>
                <a:ea typeface="黑体" panose="02010609060101010101" pitchFamily="49" charset="-122"/>
              </a:rPr>
              <a:t>控制质量</a:t>
            </a:r>
            <a:r>
              <a:rPr lang="en-US" altLang="zh-CN" sz="2400" b="1" i="1">
                <a:latin typeface="Times New Roman" panose="02020603050405020304" pitchFamily="18" charset="0"/>
                <a:ea typeface="楷体_GB2312" pitchFamily="49" charset="-122"/>
              </a:rPr>
              <a:t>c.m</a:t>
            </a:r>
            <a:r>
              <a:rPr lang="en-US" altLang="zh-CN" sz="2400" b="1">
                <a:latin typeface="Times New Roman" panose="02020603050405020304" pitchFamily="18" charset="0"/>
                <a:ea typeface="楷体_GB2312" pitchFamily="49" charset="-122"/>
              </a:rPr>
              <a:t>.</a:t>
            </a:r>
            <a:r>
              <a:rPr lang="zh-CN" altLang="en-US" sz="2400" b="1">
                <a:latin typeface="Times New Roman" panose="02020603050405020304" pitchFamily="18" charset="0"/>
                <a:ea typeface="楷体_GB2312" pitchFamily="49" charset="-122"/>
              </a:rPr>
              <a:t>）</a:t>
            </a:r>
          </a:p>
          <a:p>
            <a:pPr eaLnBrk="1" hangingPunct="1">
              <a:lnSpc>
                <a:spcPct val="90000"/>
              </a:lnSpc>
              <a:buFontTx/>
              <a:buNone/>
            </a:pPr>
            <a:r>
              <a:rPr lang="zh-CN" altLang="en-US" sz="2400" b="1">
                <a:latin typeface="Times New Roman" panose="02020603050405020304" pitchFamily="18" charset="0"/>
                <a:ea typeface="楷体_GB2312" pitchFamily="49" charset="-122"/>
              </a:rPr>
              <a:t>         </a:t>
            </a:r>
            <a:r>
              <a:rPr lang="en-US" altLang="zh-CN" sz="2400" b="1">
                <a:latin typeface="Times New Roman" panose="02020603050405020304" pitchFamily="18" charset="0"/>
                <a:ea typeface="楷体_GB2312" pitchFamily="49" charset="-122"/>
              </a:rPr>
              <a:t>—</a:t>
            </a:r>
            <a:r>
              <a:rPr lang="zh-CN" altLang="en-US" sz="2400" b="1">
                <a:latin typeface="黑体" panose="02010609060101010101" pitchFamily="49" charset="-122"/>
                <a:ea typeface="黑体" panose="02010609060101010101" pitchFamily="49" charset="-122"/>
              </a:rPr>
              <a:t>没有质量越过边界</a:t>
            </a:r>
            <a:r>
              <a:rPr lang="zh-CN" altLang="en-US" sz="2400">
                <a:latin typeface="黑体" panose="02010609060101010101" pitchFamily="49" charset="-122"/>
                <a:ea typeface="黑体" panose="02010609060101010101" pitchFamily="49" charset="-122"/>
              </a:rPr>
              <a:t> </a:t>
            </a:r>
            <a:r>
              <a:rPr lang="zh-CN" altLang="en-US" sz="2400">
                <a:latin typeface="Times New Roman" panose="02020603050405020304" pitchFamily="18" charset="0"/>
              </a:rPr>
              <a:t>         </a:t>
            </a:r>
          </a:p>
        </p:txBody>
      </p:sp>
      <p:sp>
        <p:nvSpPr>
          <p:cNvPr id="9219" name="矩形 131077"/>
          <p:cNvSpPr>
            <a:spLocks noChangeArrowheads="1"/>
          </p:cNvSpPr>
          <p:nvPr/>
        </p:nvSpPr>
        <p:spPr bwMode="auto">
          <a:xfrm>
            <a:off x="468313" y="260350"/>
            <a:ext cx="76327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黑体" panose="02010609060101010101" pitchFamily="49" charset="-122"/>
                <a:ea typeface="黑体" panose="02010609060101010101" pitchFamily="49" charset="-122"/>
              </a:rPr>
              <a:t>按系统与外界有无质量交换</a:t>
            </a:r>
          </a:p>
        </p:txBody>
      </p:sp>
      <p:sp>
        <p:nvSpPr>
          <p:cNvPr id="9220" name="矩形 131083"/>
          <p:cNvSpPr>
            <a:spLocks noChangeArrowheads="1"/>
          </p:cNvSpPr>
          <p:nvPr/>
        </p:nvSpPr>
        <p:spPr bwMode="auto">
          <a:xfrm>
            <a:off x="0" y="2509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9221" name="图片 1310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2420938"/>
            <a:ext cx="2932113" cy="268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矩形 131087"/>
          <p:cNvSpPr>
            <a:spLocks noChangeArrowheads="1"/>
          </p:cNvSpPr>
          <p:nvPr/>
        </p:nvSpPr>
        <p:spPr bwMode="auto">
          <a:xfrm>
            <a:off x="0" y="2509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223" name="矩形 131089"/>
          <p:cNvSpPr>
            <a:spLocks noChangeArrowheads="1"/>
          </p:cNvSpPr>
          <p:nvPr/>
        </p:nvSpPr>
        <p:spPr bwMode="auto">
          <a:xfrm>
            <a:off x="5508625" y="5229225"/>
            <a:ext cx="32400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系统边界可以是固定的，也可以是变化的</a:t>
            </a:r>
          </a:p>
        </p:txBody>
      </p:sp>
      <p:pic>
        <p:nvPicPr>
          <p:cNvPr id="9224"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9750" y="2755900"/>
            <a:ext cx="4359275"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189446"/>
          <p:cNvSpPr>
            <a:spLocks noChangeArrowheads="1"/>
          </p:cNvSpPr>
          <p:nvPr/>
        </p:nvSpPr>
        <p:spPr bwMode="auto">
          <a:xfrm>
            <a:off x="701675" y="1966919"/>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Times New Roman" panose="02020603050405020304" pitchFamily="18" charset="0"/>
                <a:ea typeface="楷体_GB2312" pitchFamily="49" charset="-122"/>
              </a:rPr>
              <a:t>（</a:t>
            </a:r>
            <a:r>
              <a:rPr lang="zh-CN" altLang="en-US" sz="2400" b="1" dirty="0">
                <a:latin typeface="黑体" panose="02010609060101010101" pitchFamily="49" charset="-122"/>
                <a:ea typeface="黑体" panose="02010609060101010101" pitchFamily="49" charset="-122"/>
              </a:rPr>
              <a:t>控制体积</a:t>
            </a:r>
            <a:r>
              <a:rPr lang="en-US" altLang="zh-CN" sz="2400" b="1" i="1" dirty="0">
                <a:latin typeface="Times New Roman" panose="02020603050405020304" pitchFamily="18" charset="0"/>
                <a:ea typeface="楷体_GB2312" pitchFamily="49" charset="-122"/>
              </a:rPr>
              <a:t>c.v</a:t>
            </a: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a:t>
            </a:r>
          </a:p>
          <a:p>
            <a:pPr eaLnBrk="1" hangingPunct="1">
              <a:spcBef>
                <a:spcPct val="0"/>
              </a:spcBef>
              <a:buFontTx/>
              <a:buNone/>
            </a:pPr>
            <a:r>
              <a:rPr lang="zh-CN" altLang="en-US" sz="2400" b="1" dirty="0">
                <a:latin typeface="Times New Roman" panose="02020603050405020304" pitchFamily="18" charset="0"/>
                <a:ea typeface="楷体_GB2312" pitchFamily="49" charset="-122"/>
              </a:rPr>
              <a:t>   </a:t>
            </a:r>
            <a:r>
              <a:rPr lang="en-US" altLang="zh-CN" sz="2400" b="1" dirty="0">
                <a:latin typeface="Times New Roman" panose="02020603050405020304" pitchFamily="18" charset="0"/>
                <a:ea typeface="楷体_GB2312" pitchFamily="49" charset="-122"/>
              </a:rPr>
              <a:t>—</a:t>
            </a:r>
            <a:r>
              <a:rPr lang="zh-CN" altLang="en-US" sz="2400" b="1" dirty="0">
                <a:latin typeface="黑体" panose="02010609060101010101" pitchFamily="49" charset="-122"/>
                <a:ea typeface="黑体" panose="02010609060101010101" pitchFamily="49" charset="-122"/>
              </a:rPr>
              <a:t>通过边界与外界有质量交换</a:t>
            </a:r>
            <a:endParaRPr lang="zh-CN" altLang="en-US" sz="2400" b="1" dirty="0">
              <a:latin typeface="Times New Roman" panose="02020603050405020304" pitchFamily="18" charset="0"/>
              <a:ea typeface="楷体_GB2312" pitchFamily="49" charset="-122"/>
            </a:endParaRPr>
          </a:p>
        </p:txBody>
      </p:sp>
      <p:sp>
        <p:nvSpPr>
          <p:cNvPr id="10243" name="矩形 189447"/>
          <p:cNvSpPr>
            <a:spLocks noChangeArrowheads="1"/>
          </p:cNvSpPr>
          <p:nvPr/>
        </p:nvSpPr>
        <p:spPr bwMode="auto">
          <a:xfrm>
            <a:off x="611188" y="404813"/>
            <a:ext cx="54006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FF0066"/>
                </a:solidFill>
                <a:latin typeface="黑体" panose="02010609060101010101" pitchFamily="49" charset="-122"/>
                <a:ea typeface="黑体" panose="02010609060101010101" pitchFamily="49" charset="-122"/>
              </a:rPr>
              <a:t>开口系</a:t>
            </a:r>
            <a:r>
              <a:rPr lang="zh-CN" altLang="en-US" sz="2400" b="1">
                <a:solidFill>
                  <a:srgbClr val="FF0066"/>
                </a:solidFill>
                <a:latin typeface="Times New Roman" panose="02020603050405020304" pitchFamily="18" charset="0"/>
                <a:ea typeface="楷体_GB2312" pitchFamily="49" charset="-122"/>
              </a:rPr>
              <a:t>（</a:t>
            </a:r>
            <a:r>
              <a:rPr lang="en-US" altLang="zh-CN" sz="2400" b="1">
                <a:solidFill>
                  <a:srgbClr val="FF0066"/>
                </a:solidFill>
                <a:latin typeface="Times New Roman" panose="02020603050405020304" pitchFamily="18" charset="0"/>
                <a:ea typeface="楷体_GB2312" pitchFamily="49" charset="-122"/>
              </a:rPr>
              <a:t>open system</a:t>
            </a:r>
            <a:r>
              <a:rPr lang="zh-CN" altLang="en-US" sz="2400" b="1">
                <a:solidFill>
                  <a:srgbClr val="FF0066"/>
                </a:solidFill>
                <a:latin typeface="Times New Roman" panose="02020603050405020304" pitchFamily="18" charset="0"/>
                <a:ea typeface="楷体_GB2312" pitchFamily="49" charset="-122"/>
              </a:rPr>
              <a:t>）</a:t>
            </a:r>
          </a:p>
          <a:p>
            <a:pPr eaLnBrk="1" hangingPunct="1">
              <a:spcBef>
                <a:spcPct val="0"/>
              </a:spcBef>
              <a:buFontTx/>
              <a:buNone/>
            </a:pPr>
            <a:r>
              <a:rPr lang="zh-CN" altLang="en-US" sz="2400" b="1">
                <a:solidFill>
                  <a:srgbClr val="FF0066"/>
                </a:solidFill>
                <a:latin typeface="Times New Roman" panose="02020603050405020304" pitchFamily="18" charset="0"/>
                <a:ea typeface="楷体_GB2312" pitchFamily="49" charset="-122"/>
              </a:rPr>
              <a:t>   </a:t>
            </a:r>
            <a:endParaRPr lang="zh-CN" altLang="en-US" sz="2400" b="1">
              <a:latin typeface="Times New Roman" panose="02020603050405020304" pitchFamily="18" charset="0"/>
              <a:ea typeface="楷体_GB2312" pitchFamily="49" charset="-122"/>
            </a:endParaRPr>
          </a:p>
        </p:txBody>
      </p:sp>
      <p:sp>
        <p:nvSpPr>
          <p:cNvPr id="10244" name="矩形标注 189450"/>
          <p:cNvSpPr>
            <a:spLocks noChangeArrowheads="1"/>
          </p:cNvSpPr>
          <p:nvPr/>
        </p:nvSpPr>
        <p:spPr bwMode="auto">
          <a:xfrm>
            <a:off x="2987675" y="1052513"/>
            <a:ext cx="4679950" cy="1008062"/>
          </a:xfrm>
          <a:prstGeom prst="wedgeRectCallout">
            <a:avLst>
              <a:gd name="adj1" fmla="val -58718"/>
              <a:gd name="adj2" fmla="val 4291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ea typeface="黑体" panose="02010609060101010101" pitchFamily="49" charset="-122"/>
              </a:rPr>
              <a:t>对于开口系，我们可以把研究的对象规划在一定的空间范围内，这种空间范围称为控制体积</a:t>
            </a:r>
            <a:endParaRPr lang="zh-CN" altLang="en-US" sz="2000"/>
          </a:p>
        </p:txBody>
      </p:sp>
      <p:sp>
        <p:nvSpPr>
          <p:cNvPr id="189452" name="矩形 189451"/>
          <p:cNvSpPr>
            <a:spLocks noChangeArrowheads="1"/>
          </p:cNvSpPr>
          <p:nvPr/>
        </p:nvSpPr>
        <p:spPr bwMode="auto">
          <a:xfrm>
            <a:off x="1116013" y="5734050"/>
            <a:ext cx="6048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Tx/>
              <a:buNone/>
            </a:pPr>
            <a:r>
              <a:rPr lang="zh-CN" altLang="en-US" sz="2400" b="1">
                <a:latin typeface="黑体" panose="02010609060101010101" pitchFamily="49" charset="-122"/>
                <a:ea typeface="黑体" panose="02010609060101010101" pitchFamily="49" charset="-122"/>
              </a:rPr>
              <a:t>质量不变的系统一定是闭口系统么？</a:t>
            </a:r>
          </a:p>
        </p:txBody>
      </p:sp>
      <p:pic>
        <p:nvPicPr>
          <p:cNvPr id="10246"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3357563"/>
            <a:ext cx="5297488" cy="209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9452"/>
                                        </p:tgtEl>
                                        <p:attrNameLst>
                                          <p:attrName>style.visibility</p:attrName>
                                        </p:attrNameLst>
                                      </p:cBhvr>
                                      <p:to>
                                        <p:strVal val="visible"/>
                                      </p:to>
                                    </p:set>
                                    <p:animEffect transition="in" filter="blinds(horizontal)">
                                      <p:cBhvr>
                                        <p:cTn id="7" dur="500"/>
                                        <p:tgtEl>
                                          <p:spTgt spid="189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5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261124"/>
          <p:cNvSpPr>
            <a:spLocks noChangeArrowheads="1"/>
          </p:cNvSpPr>
          <p:nvPr/>
        </p:nvSpPr>
        <p:spPr bwMode="auto">
          <a:xfrm>
            <a:off x="0" y="2662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267" name="矩形 261126"/>
          <p:cNvSpPr>
            <a:spLocks noChangeArrowheads="1"/>
          </p:cNvSpPr>
          <p:nvPr/>
        </p:nvSpPr>
        <p:spPr bwMode="auto">
          <a:xfrm>
            <a:off x="0" y="1981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268" name="矩形 261127"/>
          <p:cNvSpPr>
            <a:spLocks noChangeArrowheads="1"/>
          </p:cNvSpPr>
          <p:nvPr/>
        </p:nvSpPr>
        <p:spPr bwMode="auto">
          <a:xfrm>
            <a:off x="900113" y="3284538"/>
            <a:ext cx="3024187"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控制体积的边界可以是</a:t>
            </a:r>
            <a:r>
              <a:rPr lang="zh-CN" altLang="en-US" sz="2400" b="1">
                <a:solidFill>
                  <a:srgbClr val="0000CC"/>
                </a:solidFill>
                <a:latin typeface="黑体" panose="02010609060101010101" pitchFamily="49" charset="-122"/>
                <a:ea typeface="黑体" panose="02010609060101010101" pitchFamily="49" charset="-122"/>
              </a:rPr>
              <a:t>真实</a:t>
            </a:r>
            <a:r>
              <a:rPr lang="zh-CN" altLang="en-US" sz="2400" b="1">
                <a:latin typeface="黑体" panose="02010609060101010101" pitchFamily="49" charset="-122"/>
                <a:ea typeface="黑体" panose="02010609060101010101" pitchFamily="49" charset="-122"/>
              </a:rPr>
              <a:t>的，也可以是</a:t>
            </a:r>
            <a:r>
              <a:rPr lang="zh-CN" altLang="en-US" sz="2400" b="1">
                <a:solidFill>
                  <a:srgbClr val="0000CC"/>
                </a:solidFill>
                <a:latin typeface="黑体" panose="02010609060101010101" pitchFamily="49" charset="-122"/>
                <a:ea typeface="黑体" panose="02010609060101010101" pitchFamily="49" charset="-122"/>
              </a:rPr>
              <a:t>假想</a:t>
            </a:r>
            <a:r>
              <a:rPr lang="zh-CN" altLang="en-US" sz="2400" b="1">
                <a:latin typeface="黑体" panose="02010609060101010101" pitchFamily="49" charset="-122"/>
                <a:ea typeface="黑体" panose="02010609060101010101" pitchFamily="49" charset="-122"/>
              </a:rPr>
              <a:t>的</a:t>
            </a:r>
          </a:p>
        </p:txBody>
      </p:sp>
      <p:sp>
        <p:nvSpPr>
          <p:cNvPr id="11269" name="矩形 261128"/>
          <p:cNvSpPr>
            <a:spLocks noChangeArrowheads="1"/>
          </p:cNvSpPr>
          <p:nvPr/>
        </p:nvSpPr>
        <p:spPr bwMode="auto">
          <a:xfrm>
            <a:off x="5651500" y="4724400"/>
            <a:ext cx="3240088"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控制体积的大小和形状可以是</a:t>
            </a:r>
            <a:r>
              <a:rPr lang="zh-CN" altLang="en-US" sz="2400" b="1">
                <a:solidFill>
                  <a:srgbClr val="0000CC"/>
                </a:solidFill>
                <a:latin typeface="黑体" panose="02010609060101010101" pitchFamily="49" charset="-122"/>
                <a:ea typeface="黑体" panose="02010609060101010101" pitchFamily="49" charset="-122"/>
              </a:rPr>
              <a:t>固定</a:t>
            </a:r>
            <a:r>
              <a:rPr lang="zh-CN" altLang="en-US" sz="2400" b="1">
                <a:latin typeface="黑体" panose="02010609060101010101" pitchFamily="49" charset="-122"/>
                <a:ea typeface="黑体" panose="02010609060101010101" pitchFamily="49" charset="-122"/>
              </a:rPr>
              <a:t>的，也可以是</a:t>
            </a:r>
            <a:r>
              <a:rPr lang="zh-CN" altLang="en-US" sz="2400" b="1">
                <a:solidFill>
                  <a:srgbClr val="0000CC"/>
                </a:solidFill>
                <a:latin typeface="黑体" panose="02010609060101010101" pitchFamily="49" charset="-122"/>
                <a:ea typeface="黑体" panose="02010609060101010101" pitchFamily="49" charset="-122"/>
              </a:rPr>
              <a:t>变化</a:t>
            </a:r>
            <a:r>
              <a:rPr lang="zh-CN" altLang="en-US" sz="2400" b="1">
                <a:latin typeface="黑体" panose="02010609060101010101" pitchFamily="49" charset="-122"/>
                <a:ea typeface="黑体" panose="02010609060101010101" pitchFamily="49" charset="-122"/>
              </a:rPr>
              <a:t>的</a:t>
            </a:r>
          </a:p>
        </p:txBody>
      </p:sp>
      <p:sp>
        <p:nvSpPr>
          <p:cNvPr id="11270" name="矩形 261130"/>
          <p:cNvSpPr>
            <a:spLocks noChangeArrowheads="1"/>
          </p:cNvSpPr>
          <p:nvPr/>
        </p:nvSpPr>
        <p:spPr bwMode="auto">
          <a:xfrm>
            <a:off x="468313" y="5157788"/>
            <a:ext cx="431482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solidFill>
                  <a:srgbClr val="FF0000"/>
                </a:solidFill>
                <a:latin typeface="黑体" panose="02010609060101010101" pitchFamily="49" charset="-122"/>
                <a:ea typeface="黑体" panose="02010609060101010101" pitchFamily="49" charset="-122"/>
              </a:rPr>
              <a:t>边界通常用虚线标出</a:t>
            </a:r>
          </a:p>
        </p:txBody>
      </p:sp>
      <p:pic>
        <p:nvPicPr>
          <p:cNvPr id="11271"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50" y="454025"/>
            <a:ext cx="7864475"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052513"/>
            <a:ext cx="386715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338" y="1412875"/>
            <a:ext cx="3990975"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3676650"/>
            <a:ext cx="5876925"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矩形 14"/>
          <p:cNvSpPr>
            <a:spLocks noChangeArrowheads="1"/>
          </p:cNvSpPr>
          <p:nvPr/>
        </p:nvSpPr>
        <p:spPr bwMode="auto">
          <a:xfrm>
            <a:off x="287338" y="131763"/>
            <a:ext cx="838835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0000"/>
                </a:solidFill>
                <a:ea typeface="黑体" panose="02010609060101010101" pitchFamily="49" charset="-122"/>
              </a:rPr>
              <a:t>闭口系中的物质和流经开口系的物质通常为一些</a:t>
            </a:r>
            <a:r>
              <a:rPr lang="zh-CN" altLang="en-US" b="1">
                <a:solidFill>
                  <a:srgbClr val="FF0000"/>
                </a:solidFill>
                <a:ea typeface="黑体" panose="02010609060101010101" pitchFamily="49" charset="-122"/>
              </a:rPr>
              <a:t>可压缩的流体</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5"/>
          <p:cNvSpPr>
            <a:spLocks noChangeArrowheads="1"/>
          </p:cNvSpPr>
          <p:nvPr/>
        </p:nvSpPr>
        <p:spPr bwMode="auto">
          <a:xfrm>
            <a:off x="395288" y="333375"/>
            <a:ext cx="80645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0000"/>
                </a:solidFill>
                <a:ea typeface="黑体" panose="02010609060101010101" pitchFamily="49" charset="-122"/>
              </a:rPr>
              <a:t>这些物质被称为</a:t>
            </a:r>
            <a:r>
              <a:rPr lang="zh-CN" altLang="en-US" b="1">
                <a:solidFill>
                  <a:srgbClr val="FF0000"/>
                </a:solidFill>
                <a:ea typeface="黑体" panose="02010609060101010101" pitchFamily="49" charset="-122"/>
              </a:rPr>
              <a:t>工质</a:t>
            </a:r>
            <a:r>
              <a:rPr lang="zh-CN" altLang="en-US" b="1">
                <a:ea typeface="黑体" panose="02010609060101010101" pitchFamily="49" charset="-122"/>
              </a:rPr>
              <a:t>（</a:t>
            </a:r>
            <a:r>
              <a:rPr lang="en-US" altLang="zh-CN" b="1">
                <a:latin typeface="Times New Roman" panose="02020603050405020304" pitchFamily="18" charset="0"/>
                <a:ea typeface="黑体" panose="02010609060101010101" pitchFamily="49" charset="-122"/>
              </a:rPr>
              <a:t>working fluid</a:t>
            </a:r>
            <a:r>
              <a:rPr lang="zh-CN" altLang="en-US" b="1">
                <a:ea typeface="黑体" panose="02010609060101010101" pitchFamily="49" charset="-122"/>
              </a:rPr>
              <a:t>），它是用来实现能量转换的媒介物质，是实现能量转换必不可少的内部条件</a:t>
            </a:r>
            <a:endParaRPr lang="zh-CN" altLang="en-US" sz="1800" b="1"/>
          </a:p>
        </p:txBody>
      </p:sp>
      <p:sp>
        <p:nvSpPr>
          <p:cNvPr id="3" name="矩形 2"/>
          <p:cNvSpPr>
            <a:spLocks noChangeArrowheads="1"/>
          </p:cNvSpPr>
          <p:nvPr/>
        </p:nvSpPr>
        <p:spPr bwMode="auto">
          <a:xfrm>
            <a:off x="403225" y="2205038"/>
            <a:ext cx="798512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0000"/>
                </a:solidFill>
                <a:ea typeface="黑体" panose="02010609060101010101" pitchFamily="49" charset="-122"/>
              </a:rPr>
              <a:t>为什么采用可压缩流体作为工质？</a:t>
            </a:r>
            <a:endParaRPr lang="en-US" altLang="zh-CN" b="1">
              <a:solidFill>
                <a:srgbClr val="000000"/>
              </a:solidFill>
              <a:ea typeface="黑体" panose="02010609060101010101" pitchFamily="49" charset="-122"/>
            </a:endParaRPr>
          </a:p>
          <a:p>
            <a:pPr eaLnBrk="1" hangingPunct="1">
              <a:spcBef>
                <a:spcPct val="0"/>
              </a:spcBef>
              <a:buFontTx/>
              <a:buNone/>
            </a:pPr>
            <a:r>
              <a:rPr lang="zh-CN" altLang="en-US" b="1">
                <a:solidFill>
                  <a:srgbClr val="000000"/>
                </a:solidFill>
                <a:ea typeface="黑体" panose="02010609060101010101" pitchFamily="49" charset="-122"/>
              </a:rPr>
              <a:t>可以利用它们的体积变化特性（可压缩性）和流动特性来实现热能和机械能的相互转换。</a:t>
            </a:r>
          </a:p>
        </p:txBody>
      </p:sp>
      <p:sp>
        <p:nvSpPr>
          <p:cNvPr id="9" name="矩形 8"/>
          <p:cNvSpPr>
            <a:spLocks noChangeArrowheads="1"/>
          </p:cNvSpPr>
          <p:nvPr/>
        </p:nvSpPr>
        <p:spPr bwMode="auto">
          <a:xfrm>
            <a:off x="403225" y="4149725"/>
            <a:ext cx="798512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0000"/>
                </a:solidFill>
                <a:ea typeface="黑体" panose="02010609060101010101" pitchFamily="49" charset="-122"/>
              </a:rPr>
              <a:t>在工程热力学中，主要研究对体积变化敏感，且迅速有效的</a:t>
            </a:r>
            <a:r>
              <a:rPr lang="zh-CN" altLang="en-US" b="1">
                <a:solidFill>
                  <a:srgbClr val="FF0000"/>
                </a:solidFill>
                <a:ea typeface="黑体" panose="02010609060101010101" pitchFamily="49" charset="-122"/>
              </a:rPr>
              <a:t>气态工质</a:t>
            </a:r>
            <a:r>
              <a:rPr lang="zh-CN" altLang="en-US" b="1">
                <a:solidFill>
                  <a:srgbClr val="000000"/>
                </a:solidFill>
                <a:ea typeface="黑体" panose="02010609060101010101" pitchFamily="49" charset="-122"/>
              </a:rPr>
              <a:t>及</a:t>
            </a:r>
            <a:r>
              <a:rPr lang="zh-CN" altLang="en-US" b="1">
                <a:solidFill>
                  <a:srgbClr val="FF0000"/>
                </a:solidFill>
                <a:ea typeface="黑体" panose="02010609060101010101" pitchFamily="49" charset="-122"/>
              </a:rPr>
              <a:t>涉及气态工质相变的液体</a:t>
            </a:r>
            <a:r>
              <a:rPr lang="zh-CN" altLang="en-US" b="1">
                <a:solidFill>
                  <a:srgbClr val="000000"/>
                </a:solidFill>
                <a:ea typeface="黑体" panose="02010609060101010101" pitchFamily="49" charset="-122"/>
              </a:rPr>
              <a:t>。</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263169"/>
          <p:cNvSpPr>
            <a:spLocks noGrp="1" noChangeArrowheads="1"/>
          </p:cNvSpPr>
          <p:nvPr>
            <p:ph type="title"/>
          </p:nvPr>
        </p:nvSpPr>
        <p:spPr>
          <a:xfrm>
            <a:off x="492125" y="777875"/>
            <a:ext cx="4572000" cy="1655763"/>
          </a:xfrm>
        </p:spPr>
        <p:txBody>
          <a:bodyPr/>
          <a:lstStyle/>
          <a:p>
            <a:pPr algn="l" eaLnBrk="1" hangingPunct="1"/>
            <a:r>
              <a:rPr lang="zh-CN" altLang="en-US" sz="3200" b="1" smtClean="0">
                <a:solidFill>
                  <a:schemeClr val="tx1"/>
                </a:solidFill>
                <a:ea typeface="黑体" panose="02010609060101010101" pitchFamily="49" charset="-122"/>
              </a:rPr>
              <a:t>再介绍两个工程热力学常见的闭口系：</a:t>
            </a:r>
          </a:p>
        </p:txBody>
      </p:sp>
      <p:sp>
        <p:nvSpPr>
          <p:cNvPr id="14339" name="文本占位符 263170"/>
          <p:cNvSpPr>
            <a:spLocks noGrp="1" noChangeArrowheads="1"/>
          </p:cNvSpPr>
          <p:nvPr>
            <p:ph idx="1"/>
          </p:nvPr>
        </p:nvSpPr>
        <p:spPr>
          <a:xfrm>
            <a:off x="466725" y="3400425"/>
            <a:ext cx="8208963" cy="2808288"/>
          </a:xfrm>
        </p:spPr>
        <p:txBody>
          <a:bodyPr/>
          <a:lstStyle/>
          <a:p>
            <a:pPr eaLnBrk="1" hangingPunct="1">
              <a:buFontTx/>
              <a:buNone/>
            </a:pPr>
            <a:r>
              <a:rPr lang="zh-CN" altLang="en-US" sz="3600" b="1" smtClean="0">
                <a:solidFill>
                  <a:srgbClr val="FF0000"/>
                </a:solidFill>
                <a:latin typeface="黑体" panose="02010609060101010101" pitchFamily="49" charset="-122"/>
                <a:ea typeface="黑体" panose="02010609060101010101" pitchFamily="49" charset="-122"/>
              </a:rPr>
              <a:t>热源</a:t>
            </a:r>
            <a:r>
              <a:rPr lang="en-US" altLang="zh-CN" sz="3600" b="1" smtClean="0">
                <a:latin typeface="黑体" panose="02010609060101010101" pitchFamily="49" charset="-122"/>
                <a:ea typeface="黑体" panose="02010609060101010101" pitchFamily="49" charset="-122"/>
              </a:rPr>
              <a:t>——</a:t>
            </a:r>
            <a:r>
              <a:rPr lang="zh-CN" altLang="en-US" sz="3600" smtClean="0">
                <a:latin typeface="黑体" panose="02010609060101010101" pitchFamily="49" charset="-122"/>
                <a:ea typeface="黑体" panose="02010609060101010101" pitchFamily="49" charset="-122"/>
              </a:rPr>
              <a:t>给工质提供热量的物体。</a:t>
            </a:r>
          </a:p>
          <a:p>
            <a:pPr eaLnBrk="1" hangingPunct="1">
              <a:buFontTx/>
              <a:buNone/>
            </a:pPr>
            <a:r>
              <a:rPr lang="zh-CN" altLang="en-US" sz="3600" b="1" smtClean="0">
                <a:solidFill>
                  <a:srgbClr val="FF0000"/>
                </a:solidFill>
                <a:latin typeface="黑体" panose="02010609060101010101" pitchFamily="49" charset="-122"/>
                <a:ea typeface="黑体" panose="02010609060101010101" pitchFamily="49" charset="-122"/>
              </a:rPr>
              <a:t>冷源</a:t>
            </a:r>
            <a:r>
              <a:rPr lang="en-US" altLang="zh-CN" sz="3600" b="1" smtClean="0">
                <a:latin typeface="黑体" panose="02010609060101010101" pitchFamily="49" charset="-122"/>
                <a:ea typeface="黑体" panose="02010609060101010101" pitchFamily="49" charset="-122"/>
              </a:rPr>
              <a:t>——</a:t>
            </a:r>
            <a:r>
              <a:rPr lang="zh-CN" altLang="en-US" sz="3600" smtClean="0">
                <a:latin typeface="黑体" panose="02010609060101010101" pitchFamily="49" charset="-122"/>
                <a:ea typeface="黑体" panose="02010609060101010101" pitchFamily="49" charset="-122"/>
              </a:rPr>
              <a:t>接受工质排出热量的物体。</a:t>
            </a:r>
            <a:endParaRPr lang="zh-CN" altLang="en-US" sz="3600" smtClean="0">
              <a:solidFill>
                <a:srgbClr val="0000CC"/>
              </a:solidFill>
              <a:latin typeface="黑体" panose="02010609060101010101" pitchFamily="49" charset="-122"/>
              <a:ea typeface="黑体" panose="02010609060101010101" pitchFamily="49" charset="-122"/>
            </a:endParaRPr>
          </a:p>
        </p:txBody>
      </p:sp>
      <p:grpSp>
        <p:nvGrpSpPr>
          <p:cNvPr id="14340" name="组合 263189"/>
          <p:cNvGrpSpPr/>
          <p:nvPr/>
        </p:nvGrpSpPr>
        <p:grpSpPr bwMode="auto">
          <a:xfrm>
            <a:off x="6364288" y="260350"/>
            <a:ext cx="2779712" cy="2722563"/>
            <a:chOff x="3888" y="527"/>
            <a:chExt cx="1751" cy="1715"/>
          </a:xfrm>
        </p:grpSpPr>
        <p:sp>
          <p:nvSpPr>
            <p:cNvPr id="14342" name="矩形 263178"/>
            <p:cNvSpPr>
              <a:spLocks noChangeArrowheads="1"/>
            </p:cNvSpPr>
            <p:nvPr/>
          </p:nvSpPr>
          <p:spPr bwMode="auto">
            <a:xfrm>
              <a:off x="3888" y="527"/>
              <a:ext cx="602" cy="3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a:latin typeface="Tahoma" panose="020B0604030504040204" pitchFamily="34" charset="0"/>
                </a:rPr>
                <a:t>      </a:t>
              </a:r>
            </a:p>
          </p:txBody>
        </p:sp>
        <p:sp>
          <p:nvSpPr>
            <p:cNvPr id="14343" name="矩形 263179"/>
            <p:cNvSpPr>
              <a:spLocks noChangeArrowheads="1"/>
            </p:cNvSpPr>
            <p:nvPr/>
          </p:nvSpPr>
          <p:spPr bwMode="auto">
            <a:xfrm>
              <a:off x="3888" y="1871"/>
              <a:ext cx="602" cy="3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a:latin typeface="Tahoma" panose="020B0604030504040204" pitchFamily="34" charset="0"/>
                </a:rPr>
                <a:t>      </a:t>
              </a:r>
            </a:p>
          </p:txBody>
        </p:sp>
        <p:sp>
          <p:nvSpPr>
            <p:cNvPr id="14344" name="矩形 263180"/>
            <p:cNvSpPr>
              <a:spLocks noChangeArrowheads="1"/>
            </p:cNvSpPr>
            <p:nvPr/>
          </p:nvSpPr>
          <p:spPr bwMode="auto">
            <a:xfrm>
              <a:off x="3888" y="1189"/>
              <a:ext cx="634" cy="371"/>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Tahoma" panose="020B0604030504040204" pitchFamily="34" charset="0"/>
                </a:rPr>
                <a:t>热机</a:t>
              </a:r>
            </a:p>
          </p:txBody>
        </p:sp>
        <p:sp>
          <p:nvSpPr>
            <p:cNvPr id="14345" name="直接连接符 263181"/>
            <p:cNvSpPr>
              <a:spLocks noChangeShapeType="1"/>
            </p:cNvSpPr>
            <p:nvPr/>
          </p:nvSpPr>
          <p:spPr bwMode="auto">
            <a:xfrm>
              <a:off x="4176" y="901"/>
              <a:ext cx="0"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6" name="直接连接符 263182"/>
            <p:cNvSpPr>
              <a:spLocks noChangeShapeType="1"/>
            </p:cNvSpPr>
            <p:nvPr/>
          </p:nvSpPr>
          <p:spPr bwMode="auto">
            <a:xfrm>
              <a:off x="4176" y="1573"/>
              <a:ext cx="0" cy="288"/>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7" name="直接连接符 263183"/>
            <p:cNvSpPr>
              <a:spLocks noChangeShapeType="1"/>
            </p:cNvSpPr>
            <p:nvPr/>
          </p:nvSpPr>
          <p:spPr bwMode="auto">
            <a:xfrm>
              <a:off x="4513" y="1381"/>
              <a:ext cx="48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8" name="文本框 263184"/>
            <p:cNvSpPr txBox="1">
              <a:spLocks noChangeArrowheads="1"/>
            </p:cNvSpPr>
            <p:nvPr/>
          </p:nvSpPr>
          <p:spPr bwMode="auto">
            <a:xfrm>
              <a:off x="4967" y="1237"/>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ahoma" panose="020B0604030504040204" pitchFamily="34" charset="0"/>
                </a:rPr>
                <a:t>作功</a:t>
              </a:r>
            </a:p>
          </p:txBody>
        </p:sp>
        <p:sp>
          <p:nvSpPr>
            <p:cNvPr id="14349" name="文本框 263185"/>
            <p:cNvSpPr txBox="1">
              <a:spLocks noChangeArrowheads="1"/>
            </p:cNvSpPr>
            <p:nvPr/>
          </p:nvSpPr>
          <p:spPr bwMode="auto">
            <a:xfrm>
              <a:off x="4241" y="901"/>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ahoma" panose="020B0604030504040204" pitchFamily="34" charset="0"/>
                </a:rPr>
                <a:t>吸热</a:t>
              </a:r>
            </a:p>
          </p:txBody>
        </p:sp>
        <p:sp>
          <p:nvSpPr>
            <p:cNvPr id="14350" name="文本框 263186"/>
            <p:cNvSpPr txBox="1">
              <a:spLocks noChangeArrowheads="1"/>
            </p:cNvSpPr>
            <p:nvPr/>
          </p:nvSpPr>
          <p:spPr bwMode="auto">
            <a:xfrm>
              <a:off x="4204" y="1573"/>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ahoma" panose="020B0604030504040204" pitchFamily="34" charset="0"/>
                </a:rPr>
                <a:t>放热</a:t>
              </a:r>
            </a:p>
          </p:txBody>
        </p:sp>
        <p:sp>
          <p:nvSpPr>
            <p:cNvPr id="14351" name="文本框 263187"/>
            <p:cNvSpPr txBox="1">
              <a:spLocks noChangeArrowheads="1"/>
            </p:cNvSpPr>
            <p:nvPr/>
          </p:nvSpPr>
          <p:spPr bwMode="auto">
            <a:xfrm>
              <a:off x="3888" y="554"/>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FF0000"/>
                  </a:solidFill>
                </a:rPr>
                <a:t>热源</a:t>
              </a:r>
            </a:p>
          </p:txBody>
        </p:sp>
        <p:sp>
          <p:nvSpPr>
            <p:cNvPr id="14352" name="文本框 263188"/>
            <p:cNvSpPr txBox="1">
              <a:spLocks noChangeArrowheads="1"/>
            </p:cNvSpPr>
            <p:nvPr/>
          </p:nvSpPr>
          <p:spPr bwMode="auto">
            <a:xfrm>
              <a:off x="3888" y="1869"/>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rPr>
                <a:t>冷源</a:t>
              </a:r>
            </a:p>
          </p:txBody>
        </p:sp>
      </p:grpSp>
      <p:sp>
        <p:nvSpPr>
          <p:cNvPr id="14341" name="标题 263169"/>
          <p:cNvSpPr txBox="1">
            <a:spLocks noChangeArrowheads="1"/>
          </p:cNvSpPr>
          <p:nvPr/>
        </p:nvSpPr>
        <p:spPr bwMode="auto">
          <a:xfrm>
            <a:off x="755650" y="4956175"/>
            <a:ext cx="7548563"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ea typeface="黑体" panose="02010609060101010101" pitchFamily="49" charset="-122"/>
              </a:rPr>
              <a:t>有时候也分别称为高温热源和低温热源</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矩形 265231"/>
          <p:cNvSpPr>
            <a:spLocks noChangeArrowheads="1"/>
          </p:cNvSpPr>
          <p:nvPr/>
        </p:nvSpPr>
        <p:spPr bwMode="auto">
          <a:xfrm>
            <a:off x="395288" y="263525"/>
            <a:ext cx="821055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3200" b="1" dirty="0">
                <a:latin typeface="Tahoma" panose="020B0604030504040204" pitchFamily="34" charset="0"/>
                <a:ea typeface="黑体" panose="02010609060101010101" pitchFamily="49" charset="-122"/>
              </a:rPr>
              <a:t>一般来说，只要是提供热量的系统，都可以称之为热源。</a:t>
            </a:r>
            <a:endParaRPr lang="en-US" altLang="zh-CN" sz="3200" b="1" dirty="0">
              <a:latin typeface="Tahoma" panose="020B0604030504040204" pitchFamily="34" charset="0"/>
              <a:ea typeface="黑体" panose="02010609060101010101" pitchFamily="49" charset="-122"/>
            </a:endParaRPr>
          </a:p>
          <a:p>
            <a:pPr marL="457200" indent="-457200" eaLnBrk="1" hangingPunct="1">
              <a:buFont typeface="Arial" panose="020B0604020202020204" pitchFamily="34" charset="0"/>
              <a:buChar char="•"/>
              <a:defRPr/>
            </a:pPr>
            <a:r>
              <a:rPr lang="zh-CN" altLang="en-US" sz="2800" b="1" dirty="0">
                <a:solidFill>
                  <a:srgbClr val="FF0000"/>
                </a:solidFill>
                <a:latin typeface="Tahoma" panose="020B0604030504040204" pitchFamily="34" charset="0"/>
                <a:ea typeface="黑体" panose="02010609060101010101" pitchFamily="49" charset="-122"/>
              </a:rPr>
              <a:t>系统具有无限大热容，提供有限热量时，自身温度不变</a:t>
            </a:r>
            <a:r>
              <a:rPr lang="en-US" altLang="zh-CN" sz="2800" b="1" dirty="0">
                <a:solidFill>
                  <a:srgbClr val="FF0000"/>
                </a:solidFill>
                <a:latin typeface="Tahoma" panose="020B0604030504040204" pitchFamily="34" charset="0"/>
                <a:ea typeface="黑体" panose="02010609060101010101" pitchFamily="49" charset="-122"/>
              </a:rPr>
              <a:t>——</a:t>
            </a:r>
            <a:r>
              <a:rPr lang="zh-CN" altLang="en-US" sz="2800" b="1" dirty="0">
                <a:solidFill>
                  <a:srgbClr val="FF0000"/>
                </a:solidFill>
                <a:latin typeface="Tahoma" panose="020B0604030504040204" pitchFamily="34" charset="0"/>
                <a:ea typeface="黑体" panose="02010609060101010101" pitchFamily="49" charset="-122"/>
              </a:rPr>
              <a:t>恒温热源</a:t>
            </a:r>
            <a:endParaRPr lang="en-US" altLang="zh-CN" sz="2800" b="1" dirty="0">
              <a:solidFill>
                <a:srgbClr val="FF0000"/>
              </a:solidFill>
              <a:latin typeface="Tahoma" panose="020B0604030504040204" pitchFamily="34" charset="0"/>
              <a:ea typeface="黑体" panose="02010609060101010101" pitchFamily="49" charset="-122"/>
            </a:endParaRPr>
          </a:p>
          <a:p>
            <a:pPr marL="457200" indent="-457200" eaLnBrk="1" hangingPunct="1">
              <a:buFont typeface="Arial" panose="020B0604020202020204" pitchFamily="34" charset="0"/>
              <a:buChar char="•"/>
              <a:defRPr/>
            </a:pPr>
            <a:r>
              <a:rPr lang="zh-CN" altLang="en-US" sz="2800" b="1" dirty="0">
                <a:solidFill>
                  <a:srgbClr val="FF0000"/>
                </a:solidFill>
                <a:latin typeface="Tahoma" panose="020B0604030504040204" pitchFamily="34" charset="0"/>
                <a:ea typeface="黑体" panose="02010609060101010101" pitchFamily="49" charset="-122"/>
              </a:rPr>
              <a:t>系统热容量有限，在供热时自身温度降低</a:t>
            </a:r>
            <a:r>
              <a:rPr lang="en-US" altLang="zh-CN" sz="2800" b="1" dirty="0">
                <a:solidFill>
                  <a:srgbClr val="FF0000"/>
                </a:solidFill>
                <a:latin typeface="Tahoma" panose="020B0604030504040204" pitchFamily="34" charset="0"/>
                <a:ea typeface="黑体" panose="02010609060101010101" pitchFamily="49" charset="-122"/>
              </a:rPr>
              <a:t>——</a:t>
            </a:r>
            <a:r>
              <a:rPr lang="zh-CN" altLang="en-US" sz="2800" b="1" dirty="0">
                <a:solidFill>
                  <a:srgbClr val="FF0000"/>
                </a:solidFill>
                <a:latin typeface="Tahoma" panose="020B0604030504040204" pitchFamily="34" charset="0"/>
                <a:ea typeface="黑体" panose="02010609060101010101" pitchFamily="49" charset="-122"/>
              </a:rPr>
              <a:t>变温热源</a:t>
            </a:r>
          </a:p>
        </p:txBody>
      </p:sp>
      <p:pic>
        <p:nvPicPr>
          <p:cNvPr id="15363" name="图片 2652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4200525"/>
            <a:ext cx="19431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图片 265233" descr="1210_14_23---manhattan-skyline-new-york-city_we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149725"/>
            <a:ext cx="2160588"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矩形 265235"/>
          <p:cNvSpPr>
            <a:spLocks noChangeArrowheads="1"/>
          </p:cNvSpPr>
          <p:nvPr/>
        </p:nvSpPr>
        <p:spPr bwMode="auto">
          <a:xfrm>
            <a:off x="2808288" y="2719388"/>
            <a:ext cx="2916237" cy="460375"/>
          </a:xfrm>
          <a:prstGeom prst="rect">
            <a:avLst/>
          </a:prstGeom>
          <a:noFill/>
          <a:ln w="22225">
            <a:solidFill>
              <a:schemeClr val="accent1">
                <a:lumMod val="75000"/>
              </a:schemeClr>
            </a:solidFill>
            <a:miter lim="800000"/>
          </a:ln>
          <a:extLst>
            <a:ext uri="{909E8E84-426E-40DD-AFC4-6F175D3DCCD1}">
              <a14:hiddenFill xmlns:a14="http://schemas.microsoft.com/office/drawing/2010/main">
                <a:solidFill>
                  <a:srgbClr val="FFFFFF"/>
                </a:solidFill>
              </a14:hiddenFill>
            </a:ext>
          </a:extLst>
        </p:spPr>
        <p:txBody>
          <a:bodyPr>
            <a:spAutoFit/>
          </a:bodyPr>
          <a:lstStyle/>
          <a:p>
            <a:pPr eaLnBrk="1" hangingPunct="1">
              <a:defRPr/>
            </a:pPr>
            <a:r>
              <a:rPr lang="zh-CN" altLang="en-US" sz="2400" b="1" dirty="0">
                <a:latin typeface="Tahoma" panose="020B0604030504040204" pitchFamily="34" charset="0"/>
                <a:ea typeface="黑体" panose="02010609060101010101" pitchFamily="49" charset="-122"/>
              </a:rPr>
              <a:t>热容</a:t>
            </a:r>
            <a:r>
              <a:rPr lang="en-US" altLang="zh-CN" sz="2400" b="1" dirty="0">
                <a:latin typeface="Tahoma" panose="020B0604030504040204" pitchFamily="34" charset="0"/>
                <a:ea typeface="黑体" panose="02010609060101010101" pitchFamily="49" charset="-122"/>
              </a:rPr>
              <a:t>=</a:t>
            </a:r>
            <a:r>
              <a:rPr lang="zh-CN" altLang="en-US" sz="2400" b="1" dirty="0">
                <a:latin typeface="Tahoma" panose="020B0604030504040204" pitchFamily="34" charset="0"/>
                <a:ea typeface="黑体" panose="02010609060101010101" pitchFamily="49" charset="-122"/>
              </a:rPr>
              <a:t>质量*比热容</a:t>
            </a:r>
          </a:p>
        </p:txBody>
      </p:sp>
      <p:sp>
        <p:nvSpPr>
          <p:cNvPr id="15366" name="矩形 265236"/>
          <p:cNvSpPr>
            <a:spLocks noChangeArrowheads="1"/>
          </p:cNvSpPr>
          <p:nvPr/>
        </p:nvSpPr>
        <p:spPr bwMode="auto">
          <a:xfrm>
            <a:off x="5795963" y="5716588"/>
            <a:ext cx="32781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ahoma" panose="020B0604030504040204" pitchFamily="34" charset="0"/>
                <a:ea typeface="黑体" panose="02010609060101010101" pitchFamily="49" charset="-122"/>
              </a:rPr>
              <a:t>暖水袋</a:t>
            </a:r>
            <a:r>
              <a:rPr lang="en-US" altLang="zh-CN" sz="2400" b="1">
                <a:latin typeface="Tahoma" panose="020B0604030504040204" pitchFamily="34" charset="0"/>
                <a:ea typeface="黑体" panose="02010609060101010101" pitchFamily="49" charset="-122"/>
              </a:rPr>
              <a:t>——</a:t>
            </a:r>
          </a:p>
          <a:p>
            <a:pPr eaLnBrk="1" hangingPunct="1">
              <a:spcBef>
                <a:spcPct val="0"/>
              </a:spcBef>
              <a:buFontTx/>
              <a:buNone/>
            </a:pPr>
            <a:r>
              <a:rPr lang="zh-CN" altLang="en-US" sz="2400" b="1">
                <a:latin typeface="Tahoma" panose="020B0604030504040204" pitchFamily="34" charset="0"/>
                <a:ea typeface="黑体" panose="02010609060101010101" pitchFamily="49" charset="-122"/>
              </a:rPr>
              <a:t>变温热源（热容有限）</a:t>
            </a:r>
          </a:p>
        </p:txBody>
      </p:sp>
      <p:sp>
        <p:nvSpPr>
          <p:cNvPr id="15367" name="矩形 265236"/>
          <p:cNvSpPr>
            <a:spLocks noChangeArrowheads="1"/>
          </p:cNvSpPr>
          <p:nvPr/>
        </p:nvSpPr>
        <p:spPr bwMode="auto">
          <a:xfrm>
            <a:off x="527050" y="5722938"/>
            <a:ext cx="38973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ahoma" panose="020B0604030504040204" pitchFamily="34" charset="0"/>
                <a:ea typeface="黑体" panose="02010609060101010101" pitchFamily="49" charset="-122"/>
              </a:rPr>
              <a:t>江、河、湖、海、环境大气</a:t>
            </a:r>
            <a:endParaRPr lang="en-US" altLang="zh-CN" sz="2400" b="1">
              <a:latin typeface="Tahoma" panose="020B0604030504040204" pitchFamily="34" charset="0"/>
              <a:ea typeface="黑体" panose="02010609060101010101" pitchFamily="49" charset="-122"/>
            </a:endParaRPr>
          </a:p>
          <a:p>
            <a:pPr eaLnBrk="1" hangingPunct="1">
              <a:spcBef>
                <a:spcPct val="0"/>
              </a:spcBef>
              <a:buFontTx/>
              <a:buNone/>
            </a:pPr>
            <a:r>
              <a:rPr lang="en-US" altLang="zh-CN" sz="2400" b="1">
                <a:latin typeface="Tahoma" panose="020B0604030504040204" pitchFamily="34" charset="0"/>
                <a:ea typeface="黑体" panose="02010609060101010101" pitchFamily="49" charset="-122"/>
              </a:rPr>
              <a:t>——</a:t>
            </a:r>
            <a:r>
              <a:rPr lang="zh-CN" altLang="en-US" sz="2400" b="1">
                <a:latin typeface="Tahoma" panose="020B0604030504040204" pitchFamily="34" charset="0"/>
                <a:ea typeface="黑体" panose="02010609060101010101" pitchFamily="49" charset="-122"/>
              </a:rPr>
              <a:t>恒温热源（热容巨大）</a:t>
            </a:r>
          </a:p>
        </p:txBody>
      </p:sp>
      <p:sp>
        <p:nvSpPr>
          <p:cNvPr id="15368" name="矩形 2"/>
          <p:cNvSpPr>
            <a:spLocks noChangeArrowheads="1"/>
          </p:cNvSpPr>
          <p:nvPr/>
        </p:nvSpPr>
        <p:spPr bwMode="auto">
          <a:xfrm>
            <a:off x="527050" y="3359150"/>
            <a:ext cx="75739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0000"/>
                </a:solidFill>
                <a:latin typeface="Tahoma" panose="020B0604030504040204" pitchFamily="34" charset="0"/>
                <a:ea typeface="黑体" panose="02010609060101010101" pitchFamily="49" charset="-122"/>
              </a:rPr>
              <a:t>同理，冷源可分为恒温冷源和变温冷源。</a:t>
            </a:r>
            <a:endParaRPr lang="zh-CN" altLang="en-US" sz="1800" b="1"/>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265238"/>
          <p:cNvSpPr>
            <a:spLocks noChangeArrowheads="1"/>
          </p:cNvSpPr>
          <p:nvPr/>
        </p:nvSpPr>
        <p:spPr bwMode="auto">
          <a:xfrm>
            <a:off x="323850" y="304800"/>
            <a:ext cx="8280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Tahoma" panose="020B0604030504040204" pitchFamily="34" charset="0"/>
                <a:ea typeface="黑体" panose="02010609060101010101" pitchFamily="49" charset="-122"/>
              </a:rPr>
              <a:t>即使热容量有限，但只要系统的热容量与它提供或吸收的热量相比大得多，就可以将该系统视为恒温热源或冷源。 </a:t>
            </a:r>
          </a:p>
        </p:txBody>
      </p:sp>
      <p:pic>
        <p:nvPicPr>
          <p:cNvPr id="16387" name="图片 265239" descr="coff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2349500"/>
            <a:ext cx="3887787"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矩形 265240"/>
          <p:cNvSpPr>
            <a:spLocks noChangeArrowheads="1"/>
          </p:cNvSpPr>
          <p:nvPr/>
        </p:nvSpPr>
        <p:spPr bwMode="auto">
          <a:xfrm>
            <a:off x="1547813" y="4797425"/>
            <a:ext cx="547211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ahoma" panose="020B0604030504040204" pitchFamily="34" charset="0"/>
                <a:ea typeface="黑体" panose="02010609060101010101" pitchFamily="49" charset="-122"/>
              </a:rPr>
              <a:t>咖啡向房间放热时，房间内的空气温度并不会有多么明显的上升，此时房间内空气可视为恒温冷源，因咖啡放出的热量和房间内空气的热容量相比小得多</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132099"/>
          <p:cNvSpPr>
            <a:spLocks noChangeArrowheads="1"/>
          </p:cNvSpPr>
          <p:nvPr/>
        </p:nvSpPr>
        <p:spPr bwMode="auto">
          <a:xfrm>
            <a:off x="468313" y="1125538"/>
            <a:ext cx="9217025"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FF0066"/>
                </a:solidFill>
                <a:latin typeface="Times New Roman" panose="02020603050405020304" pitchFamily="18" charset="0"/>
                <a:ea typeface="黑体" panose="02010609060101010101" pitchFamily="49" charset="-122"/>
              </a:rPr>
              <a:t>绝热系（</a:t>
            </a:r>
            <a:r>
              <a:rPr lang="en-US" altLang="zh-CN" sz="2400" b="1">
                <a:solidFill>
                  <a:srgbClr val="FF0066"/>
                </a:solidFill>
                <a:latin typeface="Times New Roman" panose="02020603050405020304" pitchFamily="18" charset="0"/>
                <a:ea typeface="黑体" panose="02010609060101010101" pitchFamily="49" charset="-122"/>
              </a:rPr>
              <a:t>adiabatic system</a:t>
            </a:r>
            <a:r>
              <a:rPr lang="zh-CN" altLang="en-US" sz="2400" b="1">
                <a:solidFill>
                  <a:srgbClr val="FF0066"/>
                </a:solidFill>
                <a:latin typeface="Times New Roman" panose="02020603050405020304" pitchFamily="18" charset="0"/>
                <a:ea typeface="黑体" panose="02010609060101010101" pitchFamily="49" charset="-122"/>
              </a:rPr>
              <a:t>）</a:t>
            </a:r>
            <a:r>
              <a:rPr lang="en-US" altLang="zh-CN" sz="2400" b="1">
                <a:latin typeface="Times New Roman" panose="02020603050405020304" pitchFamily="18" charset="0"/>
                <a:ea typeface="黑体" panose="02010609060101010101" pitchFamily="49" charset="-122"/>
              </a:rPr>
              <a:t>—</a:t>
            </a:r>
            <a:r>
              <a:rPr lang="zh-CN" altLang="en-US" sz="2400" b="1">
                <a:latin typeface="Times New Roman" panose="02020603050405020304" pitchFamily="18" charset="0"/>
                <a:ea typeface="黑体" panose="02010609060101010101" pitchFamily="49" charset="-122"/>
              </a:rPr>
              <a:t>与外界无热量交换</a:t>
            </a:r>
            <a:endParaRPr lang="en-US" altLang="zh-CN" sz="2400" b="1">
              <a:latin typeface="Times New Roman" panose="02020603050405020304" pitchFamily="18" charset="0"/>
              <a:ea typeface="黑体" panose="02010609060101010101" pitchFamily="49" charset="-122"/>
            </a:endParaRPr>
          </a:p>
          <a:p>
            <a:pPr eaLnBrk="1" hangingPunct="1">
              <a:spcBef>
                <a:spcPct val="30000"/>
              </a:spcBef>
              <a:buFontTx/>
              <a:buNone/>
            </a:pPr>
            <a:r>
              <a:rPr lang="zh-CN" altLang="en-US" sz="2400" b="1">
                <a:solidFill>
                  <a:srgbClr val="FF0066"/>
                </a:solidFill>
                <a:latin typeface="Times New Roman" panose="02020603050405020304" pitchFamily="18" charset="0"/>
                <a:ea typeface="黑体" panose="02010609060101010101" pitchFamily="49" charset="-122"/>
              </a:rPr>
              <a:t>孤立系（</a:t>
            </a:r>
            <a:r>
              <a:rPr lang="en-US" altLang="zh-CN" sz="2400" b="1">
                <a:solidFill>
                  <a:srgbClr val="FF0066"/>
                </a:solidFill>
                <a:latin typeface="Times New Roman" panose="02020603050405020304" pitchFamily="18" charset="0"/>
                <a:ea typeface="黑体" panose="02010609060101010101" pitchFamily="49" charset="-122"/>
              </a:rPr>
              <a:t>isolated system</a:t>
            </a:r>
            <a:r>
              <a:rPr lang="zh-CN" altLang="en-US" sz="2400" b="1">
                <a:solidFill>
                  <a:srgbClr val="FF0066"/>
                </a:solidFill>
                <a:latin typeface="Times New Roman" panose="02020603050405020304" pitchFamily="18" charset="0"/>
                <a:ea typeface="黑体" panose="02010609060101010101" pitchFamily="49" charset="-122"/>
              </a:rPr>
              <a:t>）</a:t>
            </a:r>
            <a:r>
              <a:rPr lang="en-US" altLang="zh-CN" sz="2400" b="1">
                <a:latin typeface="Times New Roman" panose="02020603050405020304" pitchFamily="18" charset="0"/>
                <a:ea typeface="黑体" panose="02010609060101010101" pitchFamily="49" charset="-122"/>
              </a:rPr>
              <a:t>—</a:t>
            </a:r>
            <a:r>
              <a:rPr lang="zh-CN" altLang="en-US" sz="2400" b="1">
                <a:latin typeface="Times New Roman" panose="02020603050405020304" pitchFamily="18" charset="0"/>
                <a:ea typeface="黑体" panose="02010609060101010101" pitchFamily="49" charset="-122"/>
              </a:rPr>
              <a:t>与外界既无能量交换又无质量交换</a:t>
            </a:r>
          </a:p>
        </p:txBody>
      </p:sp>
      <p:pic>
        <p:nvPicPr>
          <p:cNvPr id="17411" name="图片 1321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301875"/>
            <a:ext cx="2160587" cy="185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矩形 132104"/>
          <p:cNvSpPr>
            <a:spLocks noChangeArrowheads="1"/>
          </p:cNvSpPr>
          <p:nvPr/>
        </p:nvSpPr>
        <p:spPr bwMode="auto">
          <a:xfrm>
            <a:off x="468313" y="339725"/>
            <a:ext cx="5743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黑体" panose="02010609060101010101" pitchFamily="49" charset="-122"/>
                <a:ea typeface="黑体" panose="02010609060101010101" pitchFamily="49" charset="-122"/>
              </a:rPr>
              <a:t>按系统与外界能量交换形式</a:t>
            </a:r>
          </a:p>
        </p:txBody>
      </p:sp>
      <p:pic>
        <p:nvPicPr>
          <p:cNvPr id="17413" name="图片 132106" descr="013000002538721224147022456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2351088"/>
            <a:ext cx="18732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图片 132108" descr="200812171629042532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2493963"/>
            <a:ext cx="2087563"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图片 132110" descr="th010103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4586288"/>
            <a:ext cx="2592388"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矩形 2"/>
          <p:cNvSpPr>
            <a:spLocks noChangeArrowheads="1"/>
          </p:cNvSpPr>
          <p:nvPr/>
        </p:nvSpPr>
        <p:spPr bwMode="auto">
          <a:xfrm>
            <a:off x="3511550" y="6165850"/>
            <a:ext cx="11128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FF0066"/>
                </a:solidFill>
                <a:latin typeface="Times New Roman" panose="02020603050405020304" pitchFamily="18" charset="0"/>
                <a:ea typeface="楷体_GB2312" pitchFamily="49" charset="-122"/>
              </a:rPr>
              <a:t>孤立系</a:t>
            </a:r>
            <a:endParaRPr lang="zh-CN" altLang="en-US" sz="1800"/>
          </a:p>
        </p:txBody>
      </p:sp>
      <p:sp>
        <p:nvSpPr>
          <p:cNvPr id="17417" name="矩形 3"/>
          <p:cNvSpPr>
            <a:spLocks noChangeArrowheads="1"/>
          </p:cNvSpPr>
          <p:nvPr/>
        </p:nvSpPr>
        <p:spPr bwMode="auto">
          <a:xfrm>
            <a:off x="3851275" y="2190750"/>
            <a:ext cx="1114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a:solidFill>
                  <a:srgbClr val="FF0066"/>
                </a:solidFill>
                <a:latin typeface="Times New Roman" panose="02020603050405020304" pitchFamily="18" charset="0"/>
                <a:ea typeface="楷体_GB2312" pitchFamily="49" charset="-122"/>
              </a:rPr>
              <a:t>隔热材料</a:t>
            </a:r>
            <a:endParaRPr lang="zh-CN" altLang="en-US" sz="1800"/>
          </a:p>
        </p:txBody>
      </p:sp>
      <p:sp>
        <p:nvSpPr>
          <p:cNvPr id="17418" name="矩形 4"/>
          <p:cNvSpPr>
            <a:spLocks noChangeArrowheads="1"/>
          </p:cNvSpPr>
          <p:nvPr/>
        </p:nvSpPr>
        <p:spPr bwMode="auto">
          <a:xfrm>
            <a:off x="6659563" y="2473325"/>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a:solidFill>
                  <a:srgbClr val="FF0066"/>
                </a:solidFill>
                <a:latin typeface="Times New Roman" panose="02020603050405020304" pitchFamily="18" charset="0"/>
                <a:ea typeface="楷体_GB2312" pitchFamily="49" charset="-122"/>
              </a:rPr>
              <a:t>绝热系</a:t>
            </a:r>
            <a:endParaRPr lang="zh-CN" altLang="en-US" sz="180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77825"/>
          <p:cNvSpPr>
            <a:spLocks noGrp="1" noChangeArrowheads="1"/>
          </p:cNvSpPr>
          <p:nvPr>
            <p:ph type="ctrTitle"/>
          </p:nvPr>
        </p:nvSpPr>
        <p:spPr>
          <a:xfrm>
            <a:off x="250825" y="1828800"/>
            <a:ext cx="8534400" cy="1143000"/>
          </a:xfrm>
        </p:spPr>
        <p:txBody>
          <a:bodyPr anchor="ctr"/>
          <a:lstStyle/>
          <a:p>
            <a:pPr eaLnBrk="1" hangingPunct="1">
              <a:buFontTx/>
              <a:buChar char="§"/>
            </a:pPr>
            <a:r>
              <a:rPr lang="en-US" altLang="zh-CN" sz="4000" b="1" smtClean="0">
                <a:solidFill>
                  <a:schemeClr val="tx1"/>
                </a:solidFill>
                <a:latin typeface="黑体" panose="02010609060101010101" pitchFamily="49" charset="-122"/>
                <a:ea typeface="黑体" panose="02010609060101010101" pitchFamily="49" charset="-122"/>
              </a:rPr>
              <a:t>1</a:t>
            </a:r>
            <a:r>
              <a:rPr lang="zh-CN" altLang="en-US" sz="4000" b="1" smtClean="0">
                <a:solidFill>
                  <a:schemeClr val="tx1"/>
                </a:solidFill>
                <a:latin typeface="黑体" panose="02010609060101010101" pitchFamily="49" charset="-122"/>
                <a:ea typeface="黑体" panose="02010609060101010101" pitchFamily="49" charset="-122"/>
              </a:rPr>
              <a:t>－</a:t>
            </a:r>
            <a:r>
              <a:rPr lang="en-US" altLang="zh-CN" sz="4000" b="1" smtClean="0">
                <a:solidFill>
                  <a:schemeClr val="tx1"/>
                </a:solidFill>
                <a:latin typeface="黑体" panose="02010609060101010101" pitchFamily="49" charset="-122"/>
                <a:ea typeface="黑体" panose="02010609060101010101" pitchFamily="49" charset="-122"/>
              </a:rPr>
              <a:t>2  </a:t>
            </a:r>
            <a:r>
              <a:rPr lang="zh-CN" altLang="en-US" sz="4000" b="1" smtClean="0">
                <a:solidFill>
                  <a:schemeClr val="tx1"/>
                </a:solidFill>
                <a:latin typeface="黑体" panose="02010609060101010101" pitchFamily="49" charset="-122"/>
                <a:ea typeface="黑体" panose="02010609060101010101" pitchFamily="49" charset="-122"/>
              </a:rPr>
              <a:t>热力系的描述</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77825"/>
          <p:cNvSpPr>
            <a:spLocks noGrp="1" noChangeArrowheads="1"/>
          </p:cNvSpPr>
          <p:nvPr>
            <p:ph type="ctrTitle"/>
          </p:nvPr>
        </p:nvSpPr>
        <p:spPr>
          <a:xfrm>
            <a:off x="250825" y="1828800"/>
            <a:ext cx="8534400" cy="1143000"/>
          </a:xfrm>
        </p:spPr>
        <p:txBody>
          <a:bodyPr anchor="ctr"/>
          <a:lstStyle/>
          <a:p>
            <a:pPr eaLnBrk="1" hangingPunct="1"/>
            <a:r>
              <a:rPr lang="zh-CN" altLang="en-US" sz="4000" b="1" smtClean="0">
                <a:solidFill>
                  <a:schemeClr val="tx1"/>
                </a:solidFill>
                <a:latin typeface="黑体" panose="02010609060101010101" pitchFamily="49" charset="-122"/>
                <a:ea typeface="黑体" panose="02010609060101010101" pitchFamily="49" charset="-122"/>
              </a:rPr>
              <a:t>一、热力学状态、平衡状态</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15364"/>
          <p:cNvSpPr>
            <a:spLocks noChangeArrowheads="1"/>
          </p:cNvSpPr>
          <p:nvPr/>
        </p:nvSpPr>
        <p:spPr bwMode="auto">
          <a:xfrm>
            <a:off x="546100" y="469900"/>
            <a:ext cx="7961313"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在热力学中，一般取设备中的流体工质（主要是气体）作为研究对象。工质在热力设备中，必须通过压缩、吸热、膨胀、放热等过程才能将热能转换为机械能。</a:t>
            </a:r>
          </a:p>
        </p:txBody>
      </p:sp>
      <p:sp>
        <p:nvSpPr>
          <p:cNvPr id="281604" name="矩形 281603"/>
          <p:cNvSpPr>
            <a:spLocks noChangeArrowheads="1"/>
          </p:cNvSpPr>
          <p:nvPr/>
        </p:nvSpPr>
        <p:spPr bwMode="auto">
          <a:xfrm>
            <a:off x="555625" y="2997200"/>
            <a:ext cx="80629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在这些过程中，工质的宏观物理状况时刻在起变化。</a:t>
            </a:r>
            <a:endParaRPr lang="zh-CN" altLang="en-US" b="1">
              <a:solidFill>
                <a:srgbClr val="0000CC"/>
              </a:solidFill>
              <a:latin typeface="Times New Roman" panose="02020603050405020304" pitchFamily="18" charset="0"/>
              <a:ea typeface="楷体_GB2312" pitchFamily="49" charset="-122"/>
            </a:endParaRPr>
          </a:p>
        </p:txBody>
      </p:sp>
      <p:sp>
        <p:nvSpPr>
          <p:cNvPr id="6" name="矩形 5"/>
          <p:cNvSpPr>
            <a:spLocks noChangeArrowheads="1"/>
          </p:cNvSpPr>
          <p:nvPr/>
        </p:nvSpPr>
        <p:spPr bwMode="auto">
          <a:xfrm>
            <a:off x="606425" y="4538663"/>
            <a:ext cx="79613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热力系在某一瞬间所呈现的宏观物理状况称为系统的</a:t>
            </a:r>
            <a:r>
              <a:rPr lang="zh-CN" altLang="en-US" b="1">
                <a:solidFill>
                  <a:srgbClr val="FF0000"/>
                </a:solidFill>
                <a:latin typeface="黑体" panose="02010609060101010101" pitchFamily="49" charset="-122"/>
                <a:ea typeface="黑体" panose="02010609060101010101" pitchFamily="49" charset="-122"/>
              </a:rPr>
              <a:t>热力学状态</a:t>
            </a:r>
            <a:r>
              <a:rPr lang="zh-CN" altLang="en-US" b="1">
                <a:latin typeface="黑体" panose="02010609060101010101" pitchFamily="49" charset="-122"/>
                <a:ea typeface="黑体" panose="02010609060101010101" pitchFamily="49" charset="-122"/>
              </a:rPr>
              <a:t>，简称</a:t>
            </a:r>
            <a:r>
              <a:rPr lang="zh-CN" altLang="en-US" b="1">
                <a:solidFill>
                  <a:srgbClr val="FF0000"/>
                </a:solidFill>
                <a:latin typeface="黑体" panose="02010609060101010101" pitchFamily="49" charset="-122"/>
                <a:ea typeface="黑体" panose="02010609060101010101" pitchFamily="49" charset="-122"/>
              </a:rPr>
              <a:t>状态</a:t>
            </a:r>
            <a:r>
              <a:rPr lang="zh-CN" altLang="en-US" b="1">
                <a:latin typeface="黑体" panose="02010609060101010101" pitchFamily="49" charset="-122"/>
                <a:ea typeface="黑体" panose="02010609060101010101" pitchFamily="49" charset="-122"/>
              </a:rPr>
              <a:t>（</a:t>
            </a:r>
            <a:r>
              <a:rPr lang="en-US" altLang="zh-CN" b="1">
                <a:latin typeface="Times New Roman" panose="02020603050405020304" pitchFamily="18" charset="0"/>
                <a:ea typeface="黑体" panose="02010609060101010101" pitchFamily="49" charset="-122"/>
                <a:cs typeface="Times New Roman" panose="02020603050405020304" pitchFamily="18" charset="0"/>
              </a:rPr>
              <a:t>state</a:t>
            </a:r>
            <a:r>
              <a:rPr lang="zh-CN" altLang="en-US" b="1">
                <a:latin typeface="黑体" panose="02010609060101010101" pitchFamily="49" charset="-122"/>
                <a:ea typeface="黑体" panose="02010609060101010101" pitchFamily="49" charset="-122"/>
              </a:rPr>
              <a:t>）。</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604"/>
                                        </p:tgtEl>
                                        <p:attrNameLst>
                                          <p:attrName>style.visibility</p:attrName>
                                        </p:attrNameLst>
                                      </p:cBhvr>
                                      <p:to>
                                        <p:strVal val="visible"/>
                                      </p:to>
                                    </p:set>
                                    <p:animEffect transition="in" filter="blinds(horizontal)">
                                      <p:cBhvr>
                                        <p:cTn id="7" dur="500"/>
                                        <p:tgtEl>
                                          <p:spTgt spid="2816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4"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281604"/>
          <p:cNvSpPr>
            <a:spLocks noChangeArrowheads="1"/>
          </p:cNvSpPr>
          <p:nvPr/>
        </p:nvSpPr>
        <p:spPr bwMode="auto">
          <a:xfrm>
            <a:off x="539750" y="404813"/>
            <a:ext cx="54879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工程热力学通常考虑</a:t>
            </a:r>
            <a:r>
              <a:rPr lang="zh-CN" altLang="en-US" b="1">
                <a:solidFill>
                  <a:srgbClr val="FF0000"/>
                </a:solidFill>
                <a:latin typeface="黑体" panose="02010609060101010101" pitchFamily="49" charset="-122"/>
                <a:ea typeface="黑体" panose="02010609060101010101" pitchFamily="49" charset="-122"/>
              </a:rPr>
              <a:t>平衡状态</a:t>
            </a:r>
          </a:p>
        </p:txBody>
      </p:sp>
      <p:sp>
        <p:nvSpPr>
          <p:cNvPr id="281604" name="矩形 281603"/>
          <p:cNvSpPr>
            <a:spLocks noChangeArrowheads="1"/>
          </p:cNvSpPr>
          <p:nvPr/>
        </p:nvSpPr>
        <p:spPr bwMode="auto">
          <a:xfrm>
            <a:off x="455613" y="1333500"/>
            <a:ext cx="8062912"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一个热力系统，如果在</a:t>
            </a:r>
            <a:r>
              <a:rPr lang="zh-CN" altLang="en-US" b="1">
                <a:solidFill>
                  <a:srgbClr val="0000CC"/>
                </a:solidFill>
                <a:latin typeface="黑体" panose="02010609060101010101" pitchFamily="49" charset="-122"/>
                <a:ea typeface="黑体" panose="02010609060101010101" pitchFamily="49" charset="-122"/>
              </a:rPr>
              <a:t>没有外界作用的情况下，</a:t>
            </a:r>
            <a:r>
              <a:rPr lang="zh-CN" altLang="en-US" b="1">
                <a:latin typeface="黑体" panose="02010609060101010101" pitchFamily="49" charset="-122"/>
                <a:ea typeface="黑体" panose="02010609060101010101" pitchFamily="49" charset="-122"/>
              </a:rPr>
              <a:t>系统的宏观性质</a:t>
            </a:r>
            <a:r>
              <a:rPr lang="zh-CN" altLang="en-US" b="1">
                <a:solidFill>
                  <a:srgbClr val="0000CC"/>
                </a:solidFill>
                <a:latin typeface="黑体" panose="02010609060101010101" pitchFamily="49" charset="-122"/>
                <a:ea typeface="黑体" panose="02010609060101010101" pitchFamily="49" charset="-122"/>
              </a:rPr>
              <a:t>不随时间变化</a:t>
            </a:r>
            <a:r>
              <a:rPr lang="zh-CN" altLang="en-US" b="1">
                <a:latin typeface="黑体" panose="02010609060101010101" pitchFamily="49" charset="-122"/>
                <a:ea typeface="黑体" panose="02010609060101010101" pitchFamily="49" charset="-122"/>
              </a:rPr>
              <a:t>，那么这个系统所处的状态就是</a:t>
            </a:r>
            <a:r>
              <a:rPr lang="zh-CN" altLang="en-US" b="1">
                <a:solidFill>
                  <a:srgbClr val="FF0000"/>
                </a:solidFill>
                <a:latin typeface="黑体" panose="02010609060101010101" pitchFamily="49" charset="-122"/>
                <a:ea typeface="黑体" panose="02010609060101010101" pitchFamily="49" charset="-122"/>
              </a:rPr>
              <a:t>平衡状态</a:t>
            </a:r>
            <a:r>
              <a:rPr lang="zh-CN" altLang="en-US" b="1">
                <a:latin typeface="黑体" panose="02010609060101010101" pitchFamily="49" charset="-122"/>
                <a:ea typeface="黑体" panose="02010609060101010101" pitchFamily="49" charset="-122"/>
              </a:rPr>
              <a:t>。</a:t>
            </a:r>
            <a:endParaRPr lang="zh-CN" altLang="en-US" b="1">
              <a:solidFill>
                <a:srgbClr val="0000CC"/>
              </a:solidFill>
              <a:latin typeface="Times New Roman" panose="02020603050405020304" pitchFamily="18" charset="0"/>
              <a:ea typeface="楷体_GB2312" pitchFamily="49" charset="-122"/>
            </a:endParaRPr>
          </a:p>
        </p:txBody>
      </p:sp>
      <p:sp>
        <p:nvSpPr>
          <p:cNvPr id="4" name="矩形 3"/>
          <p:cNvSpPr>
            <a:spLocks noChangeArrowheads="1"/>
          </p:cNvSpPr>
          <p:nvPr/>
        </p:nvSpPr>
        <p:spPr bwMode="auto">
          <a:xfrm>
            <a:off x="539750" y="3376613"/>
            <a:ext cx="7910513"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思考：</a:t>
            </a:r>
            <a:r>
              <a:rPr lang="zh-CN" altLang="zh-CN" b="1">
                <a:latin typeface="黑体" panose="02010609060101010101" pitchFamily="49" charset="-122"/>
                <a:ea typeface="黑体" panose="02010609060101010101" pitchFamily="49" charset="-122"/>
              </a:rPr>
              <a:t>在平衡状态的定义中，</a:t>
            </a:r>
            <a:r>
              <a:rPr lang="zh-CN" altLang="en-US" b="1">
                <a:latin typeface="黑体" panose="02010609060101010101" pitchFamily="49" charset="-122"/>
                <a:ea typeface="黑体" panose="02010609060101010101" pitchFamily="49" charset="-122"/>
              </a:rPr>
              <a:t>为什么特意</a:t>
            </a:r>
            <a:r>
              <a:rPr lang="zh-CN" altLang="zh-CN" b="1">
                <a:latin typeface="黑体" panose="02010609060101010101" pitchFamily="49" charset="-122"/>
                <a:ea typeface="黑体" panose="02010609060101010101" pitchFamily="49" charset="-122"/>
              </a:rPr>
              <a:t>强调“没有外界作用”这个条件</a:t>
            </a:r>
            <a:r>
              <a:rPr lang="zh-CN" altLang="en-US" b="1">
                <a:latin typeface="黑体" panose="02010609060101010101" pitchFamily="49" charset="-122"/>
                <a:ea typeface="黑体" panose="02010609060101010101" pitchFamily="49" charset="-122"/>
              </a:rPr>
              <a:t>？</a:t>
            </a:r>
            <a:endParaRPr lang="en-US" altLang="zh-CN" b="1">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604"/>
                                        </p:tgtEl>
                                        <p:attrNameLst>
                                          <p:attrName>style.visibility</p:attrName>
                                        </p:attrNameLst>
                                      </p:cBhvr>
                                      <p:to>
                                        <p:strVal val="visible"/>
                                      </p:to>
                                    </p:set>
                                    <p:animEffect transition="in" filter="blinds(horizontal)">
                                      <p:cBhvr>
                                        <p:cTn id="7" dur="500"/>
                                        <p:tgtEl>
                                          <p:spTgt spid="28160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4"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81603"/>
          <p:cNvSpPr>
            <a:spLocks noChangeArrowheads="1"/>
          </p:cNvSpPr>
          <p:nvPr/>
        </p:nvSpPr>
        <p:spPr bwMode="auto">
          <a:xfrm>
            <a:off x="539750" y="1557338"/>
            <a:ext cx="80629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各种不平衡势差（包括力差、温差、化学势差）的消失是建立起平衡状态的充要条件</a:t>
            </a:r>
          </a:p>
        </p:txBody>
      </p:sp>
      <p:sp>
        <p:nvSpPr>
          <p:cNvPr id="22531" name="矩形 281604"/>
          <p:cNvSpPr>
            <a:spLocks noChangeArrowheads="1"/>
          </p:cNvSpPr>
          <p:nvPr/>
        </p:nvSpPr>
        <p:spPr bwMode="auto">
          <a:xfrm>
            <a:off x="539750" y="404813"/>
            <a:ext cx="57435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黑体" panose="02010609060101010101" pitchFamily="49" charset="-122"/>
                <a:ea typeface="黑体" panose="02010609060101010101" pitchFamily="49" charset="-122"/>
              </a:rPr>
              <a:t>如何才能达到平衡状态呢？</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281604"/>
          <p:cNvSpPr>
            <a:spLocks noChangeArrowheads="1"/>
          </p:cNvSpPr>
          <p:nvPr/>
        </p:nvSpPr>
        <p:spPr bwMode="auto">
          <a:xfrm>
            <a:off x="539750" y="404813"/>
            <a:ext cx="3892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以温差为例进行说明</a:t>
            </a:r>
            <a:endParaRPr lang="zh-CN" altLang="en-US" b="1">
              <a:solidFill>
                <a:srgbClr val="FF0000"/>
              </a:solidFill>
              <a:latin typeface="黑体" panose="02010609060101010101" pitchFamily="49" charset="-122"/>
              <a:ea typeface="黑体" panose="02010609060101010101" pitchFamily="49" charset="-122"/>
            </a:endParaRPr>
          </a:p>
        </p:txBody>
      </p:sp>
      <p:sp>
        <p:nvSpPr>
          <p:cNvPr id="23555" name="矩形 281603"/>
          <p:cNvSpPr>
            <a:spLocks noChangeArrowheads="1"/>
          </p:cNvSpPr>
          <p:nvPr/>
        </p:nvSpPr>
        <p:spPr bwMode="auto">
          <a:xfrm>
            <a:off x="539750" y="1125538"/>
            <a:ext cx="8062913"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a:latin typeface="黑体" panose="02010609060101010101" pitchFamily="49" charset="-122"/>
                <a:ea typeface="黑体" panose="02010609060101010101" pitchFamily="49" charset="-122"/>
              </a:rPr>
              <a:t>若组成系统的各部分之间存在温差，则必然有热量自发地从高温部分传向低温部分，这时系统不会维持状态不变，而是不断产生状态变化直至温差消失而达到平衡，这种平衡称为</a:t>
            </a:r>
            <a:r>
              <a:rPr lang="zh-CN" altLang="zh-CN">
                <a:solidFill>
                  <a:srgbClr val="FF0000"/>
                </a:solidFill>
                <a:latin typeface="黑体" panose="02010609060101010101" pitchFamily="49" charset="-122"/>
                <a:ea typeface="黑体" panose="02010609060101010101" pitchFamily="49" charset="-122"/>
              </a:rPr>
              <a:t>热平衡</a:t>
            </a:r>
            <a:endParaRPr lang="zh-CN" altLang="en-US">
              <a:solidFill>
                <a:srgbClr val="FF0000"/>
              </a:solidFill>
              <a:latin typeface="黑体" panose="02010609060101010101" pitchFamily="49" charset="-122"/>
              <a:ea typeface="黑体" panose="02010609060101010101" pitchFamily="49" charset="-122"/>
            </a:endParaRPr>
          </a:p>
        </p:txBody>
      </p:sp>
      <p:sp>
        <p:nvSpPr>
          <p:cNvPr id="23556" name="矩形 6"/>
          <p:cNvSpPr>
            <a:spLocks noChangeArrowheads="1"/>
          </p:cNvSpPr>
          <p:nvPr/>
        </p:nvSpPr>
        <p:spPr bwMode="auto">
          <a:xfrm>
            <a:off x="5292725" y="4149725"/>
            <a:ext cx="2954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黑体" panose="02010609060101010101" pitchFamily="49" charset="-122"/>
                <a:ea typeface="黑体" panose="02010609060101010101" pitchFamily="49" charset="-122"/>
              </a:rPr>
              <a:t>有温差</a:t>
            </a:r>
            <a:r>
              <a:rPr lang="zh-CN" altLang="en-US" sz="2400">
                <a:solidFill>
                  <a:srgbClr val="0000CC"/>
                </a:solidFill>
                <a:latin typeface="黑体" panose="02010609060101010101" pitchFamily="49" charset="-122"/>
                <a:ea typeface="黑体" panose="02010609060101010101" pitchFamily="49" charset="-122"/>
              </a:rPr>
              <a:t>未</a:t>
            </a:r>
            <a:r>
              <a:rPr lang="zh-CN" altLang="zh-CN" sz="2400">
                <a:solidFill>
                  <a:srgbClr val="0000CC"/>
                </a:solidFill>
                <a:latin typeface="黑体" panose="02010609060101010101" pitchFamily="49" charset="-122"/>
                <a:ea typeface="黑体" panose="02010609060101010101" pitchFamily="49" charset="-122"/>
              </a:rPr>
              <a:t>达到</a:t>
            </a:r>
            <a:r>
              <a:rPr lang="zh-CN" altLang="en-US" sz="2400">
                <a:solidFill>
                  <a:srgbClr val="0000CC"/>
                </a:solidFill>
                <a:latin typeface="黑体" panose="02010609060101010101" pitchFamily="49" charset="-122"/>
                <a:ea typeface="黑体" panose="02010609060101010101" pitchFamily="49" charset="-122"/>
              </a:rPr>
              <a:t>热平衡</a:t>
            </a:r>
            <a:endParaRPr lang="zh-CN" altLang="en-US" sz="2400">
              <a:solidFill>
                <a:srgbClr val="0000CC"/>
              </a:solidFill>
            </a:endParaRPr>
          </a:p>
        </p:txBody>
      </p:sp>
      <p:sp>
        <p:nvSpPr>
          <p:cNvPr id="23557" name="矩形 9"/>
          <p:cNvSpPr>
            <a:spLocks noChangeArrowheads="1"/>
          </p:cNvSpPr>
          <p:nvPr/>
        </p:nvSpPr>
        <p:spPr bwMode="auto">
          <a:xfrm>
            <a:off x="5314950" y="5445125"/>
            <a:ext cx="2954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黑体" panose="02010609060101010101" pitchFamily="49" charset="-122"/>
                <a:ea typeface="黑体" panose="02010609060101010101" pitchFamily="49" charset="-122"/>
              </a:rPr>
              <a:t>温差消失</a:t>
            </a:r>
            <a:r>
              <a:rPr lang="zh-CN" altLang="en-US" sz="2400">
                <a:solidFill>
                  <a:srgbClr val="FF0000"/>
                </a:solidFill>
                <a:latin typeface="黑体" panose="02010609060101010101" pitchFamily="49" charset="-122"/>
                <a:ea typeface="黑体" panose="02010609060101010101" pitchFamily="49" charset="-122"/>
              </a:rPr>
              <a:t>达到热平衡</a:t>
            </a:r>
            <a:endParaRPr lang="zh-CN" altLang="en-US" sz="2400">
              <a:solidFill>
                <a:srgbClr val="FF0000"/>
              </a:solidFill>
            </a:endParaRPr>
          </a:p>
        </p:txBody>
      </p:sp>
      <p:pic>
        <p:nvPicPr>
          <p:cNvPr id="23558"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8313" y="3933825"/>
            <a:ext cx="4608512"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3"/>
          <p:cNvSpPr>
            <a:spLocks noChangeArrowheads="1"/>
          </p:cNvSpPr>
          <p:nvPr/>
        </p:nvSpPr>
        <p:spPr bwMode="auto">
          <a:xfrm>
            <a:off x="611188" y="692150"/>
            <a:ext cx="806291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可见，</a:t>
            </a:r>
            <a:r>
              <a:rPr lang="zh-CN" altLang="zh-CN">
                <a:solidFill>
                  <a:srgbClr val="FF0000"/>
                </a:solidFill>
                <a:latin typeface="黑体" panose="02010609060101010101" pitchFamily="49" charset="-122"/>
                <a:ea typeface="黑体" panose="02010609060101010101" pitchFamily="49" charset="-122"/>
              </a:rPr>
              <a:t>温差</a:t>
            </a:r>
            <a:r>
              <a:rPr lang="zh-CN" altLang="zh-CN">
                <a:latin typeface="黑体" panose="02010609060101010101" pitchFamily="49" charset="-122"/>
                <a:ea typeface="黑体" panose="02010609060101010101" pitchFamily="49" charset="-122"/>
              </a:rPr>
              <a:t>是驱使系统状态变化的一种不平衡势差，而</a:t>
            </a:r>
            <a:r>
              <a:rPr lang="zh-CN" altLang="zh-CN">
                <a:solidFill>
                  <a:srgbClr val="FF0000"/>
                </a:solidFill>
                <a:latin typeface="黑体" panose="02010609060101010101" pitchFamily="49" charset="-122"/>
                <a:ea typeface="黑体" panose="02010609060101010101" pitchFamily="49" charset="-122"/>
              </a:rPr>
              <a:t>温差的消失则是系统建立起热平衡的充要条件</a:t>
            </a:r>
            <a:endParaRPr lang="zh-CN" altLang="en-US">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281604"/>
          <p:cNvSpPr>
            <a:spLocks noChangeArrowheads="1"/>
          </p:cNvSpPr>
          <p:nvPr/>
        </p:nvSpPr>
        <p:spPr bwMode="auto">
          <a:xfrm>
            <a:off x="539750" y="404813"/>
            <a:ext cx="6364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若组成系统的各部分之间存在力差</a:t>
            </a:r>
            <a:endParaRPr lang="zh-CN" altLang="en-US" b="1">
              <a:solidFill>
                <a:srgbClr val="FF0000"/>
              </a:solidFill>
              <a:latin typeface="黑体" panose="02010609060101010101" pitchFamily="49" charset="-122"/>
              <a:ea typeface="黑体" panose="02010609060101010101" pitchFamily="49" charset="-122"/>
            </a:endParaRPr>
          </a:p>
        </p:txBody>
      </p:sp>
      <p:sp>
        <p:nvSpPr>
          <p:cNvPr id="25603" name="矩形 281603"/>
          <p:cNvSpPr>
            <a:spLocks noChangeArrowheads="1"/>
          </p:cNvSpPr>
          <p:nvPr/>
        </p:nvSpPr>
        <p:spPr bwMode="auto">
          <a:xfrm>
            <a:off x="539750" y="1196975"/>
            <a:ext cx="8062913"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引起各部分之间的相对位移，</a:t>
            </a:r>
            <a:r>
              <a:rPr lang="zh-CN" altLang="zh-CN">
                <a:latin typeface="黑体" panose="02010609060101010101" pitchFamily="49" charset="-122"/>
                <a:ea typeface="黑体" panose="02010609060101010101" pitchFamily="49" charset="-122"/>
              </a:rPr>
              <a:t>这时系统的状态将不断变化直至力差消失而达到平衡，这种平衡称为力平衡。</a:t>
            </a:r>
            <a:endParaRPr lang="en-US" altLang="zh-CN">
              <a:latin typeface="黑体" panose="02010609060101010101" pitchFamily="49" charset="-122"/>
              <a:ea typeface="黑体" panose="02010609060101010101" pitchFamily="49" charset="-122"/>
            </a:endParaRPr>
          </a:p>
          <a:p>
            <a:pPr eaLnBrk="1" hangingPunct="1">
              <a:spcBef>
                <a:spcPct val="0"/>
              </a:spcBef>
              <a:buFontTx/>
              <a:buNone/>
            </a:pPr>
            <a:r>
              <a:rPr lang="zh-CN" altLang="zh-CN">
                <a:latin typeface="黑体" panose="02010609060101010101" pitchFamily="49" charset="-122"/>
                <a:ea typeface="黑体" panose="02010609060101010101" pitchFamily="49" charset="-122"/>
              </a:rPr>
              <a:t>所以，</a:t>
            </a:r>
            <a:r>
              <a:rPr lang="zh-CN" altLang="zh-CN">
                <a:solidFill>
                  <a:srgbClr val="FF0000"/>
                </a:solidFill>
                <a:latin typeface="黑体" panose="02010609060101010101" pitchFamily="49" charset="-122"/>
                <a:ea typeface="黑体" panose="02010609060101010101" pitchFamily="49" charset="-122"/>
              </a:rPr>
              <a:t>力差</a:t>
            </a:r>
            <a:r>
              <a:rPr lang="zh-CN" altLang="zh-CN">
                <a:latin typeface="黑体" panose="02010609060101010101" pitchFamily="49" charset="-122"/>
                <a:ea typeface="黑体" panose="02010609060101010101" pitchFamily="49" charset="-122"/>
              </a:rPr>
              <a:t>是驱使系统状态变化的</a:t>
            </a:r>
            <a:r>
              <a:rPr lang="zh-CN" altLang="en-US">
                <a:latin typeface="黑体" panose="02010609060101010101" pitchFamily="49" charset="-122"/>
                <a:ea typeface="黑体" panose="02010609060101010101" pitchFamily="49" charset="-122"/>
              </a:rPr>
              <a:t>另</a:t>
            </a:r>
            <a:r>
              <a:rPr lang="zh-CN" altLang="zh-CN">
                <a:latin typeface="黑体" panose="02010609060101010101" pitchFamily="49" charset="-122"/>
                <a:ea typeface="黑体" panose="02010609060101010101" pitchFamily="49" charset="-122"/>
              </a:rPr>
              <a:t>一种不平衡势差，而</a:t>
            </a:r>
            <a:r>
              <a:rPr lang="zh-CN" altLang="zh-CN">
                <a:solidFill>
                  <a:srgbClr val="FF0000"/>
                </a:solidFill>
                <a:latin typeface="黑体" panose="02010609060101010101" pitchFamily="49" charset="-122"/>
                <a:ea typeface="黑体" panose="02010609060101010101" pitchFamily="49" charset="-122"/>
              </a:rPr>
              <a:t>力差的消失是系统建立起力平衡的充要条件</a:t>
            </a:r>
            <a:endParaRPr lang="zh-CN" altLang="en-US">
              <a:solidFill>
                <a:srgbClr val="FF0000"/>
              </a:solidFill>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281606"/>
          <p:cNvSpPr>
            <a:spLocks noChangeArrowheads="1"/>
          </p:cNvSpPr>
          <p:nvPr/>
        </p:nvSpPr>
        <p:spPr bwMode="auto">
          <a:xfrm>
            <a:off x="649288" y="311150"/>
            <a:ext cx="7594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处于平衡状态的热力系，各处的</a:t>
            </a:r>
            <a:r>
              <a:rPr lang="zh-CN" altLang="en-US" b="1">
                <a:solidFill>
                  <a:srgbClr val="0000CC"/>
                </a:solidFill>
                <a:latin typeface="黑体" panose="02010609060101010101" pitchFamily="49" charset="-122"/>
                <a:ea typeface="黑体" panose="02010609060101010101" pitchFamily="49" charset="-122"/>
              </a:rPr>
              <a:t>温度和压力是均匀一致的</a:t>
            </a:r>
            <a:r>
              <a:rPr lang="zh-CN" altLang="en-US">
                <a:latin typeface="黑体" panose="02010609060101010101" pitchFamily="49" charset="-122"/>
                <a:ea typeface="黑体" panose="02010609060101010101" pitchFamily="49" charset="-122"/>
              </a:rPr>
              <a:t> </a:t>
            </a:r>
          </a:p>
        </p:txBody>
      </p:sp>
      <p:sp>
        <p:nvSpPr>
          <p:cNvPr id="26627" name="矩形 281608"/>
          <p:cNvSpPr>
            <a:spLocks noChangeArrowheads="1"/>
          </p:cNvSpPr>
          <p:nvPr/>
        </p:nvSpPr>
        <p:spPr bwMode="auto">
          <a:xfrm>
            <a:off x="0" y="2776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28" name="矩形 281610"/>
          <p:cNvSpPr>
            <a:spLocks noChangeArrowheads="1"/>
          </p:cNvSpPr>
          <p:nvPr/>
        </p:nvSpPr>
        <p:spPr bwMode="auto">
          <a:xfrm>
            <a:off x="0" y="2776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81613" name="矩形 281612"/>
          <p:cNvSpPr>
            <a:spLocks noChangeArrowheads="1"/>
          </p:cNvSpPr>
          <p:nvPr/>
        </p:nvSpPr>
        <p:spPr bwMode="auto">
          <a:xfrm>
            <a:off x="2195513" y="3789363"/>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非平衡状态</a:t>
            </a:r>
          </a:p>
        </p:txBody>
      </p:sp>
      <p:sp>
        <p:nvSpPr>
          <p:cNvPr id="281614" name="矩形 281613"/>
          <p:cNvSpPr>
            <a:spLocks noChangeArrowheads="1"/>
          </p:cNvSpPr>
          <p:nvPr/>
        </p:nvSpPr>
        <p:spPr bwMode="auto">
          <a:xfrm>
            <a:off x="4354513" y="3717925"/>
            <a:ext cx="26352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FF0000"/>
                </a:solidFill>
                <a:latin typeface="黑体" panose="02010609060101010101" pitchFamily="49" charset="-122"/>
                <a:ea typeface="黑体" panose="02010609060101010101" pitchFamily="49" charset="-122"/>
              </a:rPr>
              <a:t>平衡状态</a:t>
            </a:r>
          </a:p>
          <a:p>
            <a:pPr algn="ctr" eaLnBrk="1" hangingPunct="1">
              <a:spcBef>
                <a:spcPct val="0"/>
              </a:spcBef>
              <a:buFontTx/>
              <a:buNone/>
            </a:pPr>
            <a:r>
              <a:rPr lang="zh-CN" altLang="en-US" sz="2400" b="1">
                <a:solidFill>
                  <a:srgbClr val="FF0000"/>
                </a:solidFill>
                <a:latin typeface="黑体" panose="02010609060101010101" pitchFamily="49" charset="-122"/>
                <a:ea typeface="黑体" panose="02010609060101010101" pitchFamily="49" charset="-122"/>
              </a:rPr>
              <a:t>（我们研究这种）</a:t>
            </a:r>
          </a:p>
        </p:txBody>
      </p:sp>
      <p:pic>
        <p:nvPicPr>
          <p:cNvPr id="26631"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12975" y="1628775"/>
            <a:ext cx="44672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613"/>
                                        </p:tgtEl>
                                        <p:attrNameLst>
                                          <p:attrName>style.visibility</p:attrName>
                                        </p:attrNameLst>
                                      </p:cBhvr>
                                      <p:to>
                                        <p:strVal val="visible"/>
                                      </p:to>
                                    </p:set>
                                    <p:animEffect transition="in" filter="blinds(horizontal)">
                                      <p:cBhvr>
                                        <p:cTn id="7" dur="500"/>
                                        <p:tgtEl>
                                          <p:spTgt spid="2816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1614"/>
                                        </p:tgtEl>
                                        <p:attrNameLst>
                                          <p:attrName>style.visibility</p:attrName>
                                        </p:attrNameLst>
                                      </p:cBhvr>
                                      <p:to>
                                        <p:strVal val="visible"/>
                                      </p:to>
                                    </p:set>
                                    <p:animEffect transition="in" filter="blinds(horizontal)">
                                      <p:cBhvr>
                                        <p:cTn id="12" dur="500"/>
                                        <p:tgtEl>
                                          <p:spTgt spid="281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13" grpId="0"/>
      <p:bldP spid="2816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82625"/>
          <p:cNvSpPr txBox="1">
            <a:spLocks noChangeArrowheads="1"/>
          </p:cNvSpPr>
          <p:nvPr/>
        </p:nvSpPr>
        <p:spPr bwMode="auto">
          <a:xfrm>
            <a:off x="287338" y="76517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000" b="1" dirty="0">
                <a:latin typeface="黑体" panose="02010609060101010101" pitchFamily="49" charset="-122"/>
                <a:ea typeface="黑体" panose="02010609060101010101" pitchFamily="49" charset="-122"/>
              </a:rPr>
              <a:t>两组容易混淆的概念</a:t>
            </a:r>
            <a:endParaRPr lang="zh-CN" altLang="en-US" sz="4000" dirty="0">
              <a:latin typeface="黑体" panose="02010609060101010101" pitchFamily="49" charset="-122"/>
              <a:ea typeface="黑体" panose="02010609060101010101" pitchFamily="49" charset="-122"/>
            </a:endParaRPr>
          </a:p>
        </p:txBody>
      </p:sp>
      <p:sp>
        <p:nvSpPr>
          <p:cNvPr id="27651" name="标题 282625"/>
          <p:cNvSpPr txBox="1">
            <a:spLocks noChangeArrowheads="1"/>
          </p:cNvSpPr>
          <p:nvPr/>
        </p:nvSpPr>
        <p:spPr bwMode="auto">
          <a:xfrm>
            <a:off x="303213" y="2276475"/>
            <a:ext cx="8229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、平衡状态  和  稳定状态</a:t>
            </a:r>
            <a:endParaRPr lang="en-US" altLang="zh-CN" b="1" dirty="0">
              <a:latin typeface="黑体" panose="02010609060101010101" pitchFamily="49" charset="-122"/>
              <a:ea typeface="黑体" panose="02010609060101010101" pitchFamily="49" charset="-122"/>
            </a:endParaRPr>
          </a:p>
          <a:p>
            <a:pPr algn="ctr" eaLnBrk="1" hangingPunct="1">
              <a:spcBef>
                <a:spcPct val="0"/>
              </a:spcBef>
              <a:buFontTx/>
              <a:buNone/>
            </a:pPr>
            <a:endParaRPr lang="en-US" altLang="zh-CN" b="1" dirty="0">
              <a:latin typeface="黑体" panose="02010609060101010101" pitchFamily="49" charset="-122"/>
              <a:ea typeface="黑体" panose="02010609060101010101" pitchFamily="49" charset="-122"/>
            </a:endParaRPr>
          </a:p>
          <a:p>
            <a:pPr algn="ctr" eaLnBrk="1" hangingPunct="1">
              <a:spcBef>
                <a:spcPct val="0"/>
              </a:spcBef>
              <a:buFontTx/>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、平衡状态  和  均匀状态</a:t>
            </a:r>
            <a:endParaRPr lang="en-US" altLang="zh-CN" b="1" dirty="0">
              <a:latin typeface="黑体" panose="02010609060101010101" pitchFamily="49" charset="-122"/>
              <a:ea typeface="黑体" panose="02010609060101010101" pitchFamily="49" charset="-122"/>
            </a:endParaRPr>
          </a:p>
          <a:p>
            <a:pPr algn="ctr" eaLnBrk="1" hangingPunct="1">
              <a:spcBef>
                <a:spcPct val="0"/>
              </a:spcBef>
            </a:pPr>
            <a:endParaRPr lang="zh-CN" altLang="en-US" dirty="0">
              <a:solidFill>
                <a:schemeClr val="tx2"/>
              </a:solidFill>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82625"/>
          <p:cNvSpPr>
            <a:spLocks noGrp="1" noChangeArrowheads="1"/>
          </p:cNvSpPr>
          <p:nvPr>
            <p:ph type="title"/>
          </p:nvPr>
        </p:nvSpPr>
        <p:spPr>
          <a:xfrm>
            <a:off x="395288" y="260350"/>
            <a:ext cx="8229600" cy="1143000"/>
          </a:xfrm>
        </p:spPr>
        <p:txBody>
          <a:bodyPr/>
          <a:lstStyle/>
          <a:p>
            <a:r>
              <a:rPr lang="en-US" altLang="zh-CN" sz="3600" b="1" smtClean="0">
                <a:latin typeface="黑体" panose="02010609060101010101" pitchFamily="49" charset="-122"/>
                <a:ea typeface="黑体" panose="02010609060101010101" pitchFamily="49" charset="-122"/>
              </a:rPr>
              <a:t>“</a:t>
            </a:r>
            <a:r>
              <a:rPr lang="zh-CN" altLang="en-US" sz="3600" b="1" smtClean="0">
                <a:latin typeface="黑体" panose="02010609060101010101" pitchFamily="49" charset="-122"/>
                <a:ea typeface="黑体" panose="02010609060101010101" pitchFamily="49" charset="-122"/>
              </a:rPr>
              <a:t>平衡状态”和“均匀状态”</a:t>
            </a:r>
            <a:endParaRPr lang="zh-CN" altLang="en-US" smtClean="0">
              <a:latin typeface="黑体" panose="02010609060101010101" pitchFamily="49" charset="-122"/>
              <a:ea typeface="黑体" panose="02010609060101010101" pitchFamily="49" charset="-122"/>
            </a:endParaRPr>
          </a:p>
        </p:txBody>
      </p:sp>
      <p:sp>
        <p:nvSpPr>
          <p:cNvPr id="28675" name="矩形 282630"/>
          <p:cNvSpPr>
            <a:spLocks noChangeArrowheads="1"/>
          </p:cNvSpPr>
          <p:nvPr/>
        </p:nvSpPr>
        <p:spPr bwMode="auto">
          <a:xfrm>
            <a:off x="723900" y="1403350"/>
            <a:ext cx="51879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latin typeface="黑体" panose="02010609060101010101" pitchFamily="49" charset="-122"/>
                <a:ea typeface="黑体" panose="02010609060101010101" pitchFamily="49" charset="-122"/>
              </a:rPr>
              <a:t>平衡的本质是不存在不平衡势差</a:t>
            </a:r>
          </a:p>
        </p:txBody>
      </p:sp>
      <p:sp>
        <p:nvSpPr>
          <p:cNvPr id="28676" name="矩形 282631"/>
          <p:cNvSpPr>
            <a:spLocks noChangeArrowheads="1"/>
          </p:cNvSpPr>
          <p:nvPr/>
        </p:nvSpPr>
        <p:spPr bwMode="auto">
          <a:xfrm>
            <a:off x="720725" y="2136775"/>
            <a:ext cx="7578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latin typeface="黑体" panose="02010609060101010101" pitchFamily="49" charset="-122"/>
                <a:ea typeface="黑体" panose="02010609060101010101" pitchFamily="49" charset="-122"/>
              </a:rPr>
              <a:t>均匀是指系统的内部各部分状态不随空间变化 </a:t>
            </a:r>
          </a:p>
        </p:txBody>
      </p:sp>
      <p:sp>
        <p:nvSpPr>
          <p:cNvPr id="28677" name="矩形 282632"/>
          <p:cNvSpPr>
            <a:spLocks noChangeArrowheads="1"/>
          </p:cNvSpPr>
          <p:nvPr/>
        </p:nvSpPr>
        <p:spPr bwMode="auto">
          <a:xfrm>
            <a:off x="3584575" y="3789363"/>
            <a:ext cx="50403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solidFill>
                  <a:srgbClr val="0000CC"/>
                </a:solidFill>
                <a:latin typeface="黑体" panose="02010609060101010101" pitchFamily="49" charset="-122"/>
                <a:ea typeface="黑体" panose="02010609060101010101" pitchFamily="49" charset="-122"/>
              </a:rPr>
              <a:t>系统处于平衡而非均匀状态</a:t>
            </a:r>
          </a:p>
          <a:p>
            <a:pPr>
              <a:spcBef>
                <a:spcPct val="0"/>
              </a:spcBef>
              <a:buFontTx/>
              <a:buNone/>
            </a:pPr>
            <a:r>
              <a:rPr lang="zh-CN" altLang="en-US" sz="2800" b="1">
                <a:latin typeface="黑体" panose="02010609060101010101" pitchFamily="49" charset="-122"/>
                <a:ea typeface="黑体" panose="02010609060101010101" pitchFamily="49" charset="-122"/>
              </a:rPr>
              <a:t>原因：气相和液相的密度不同，密度这一状态参数随空间而变化  </a:t>
            </a:r>
          </a:p>
        </p:txBody>
      </p:sp>
      <p:sp>
        <p:nvSpPr>
          <p:cNvPr id="2" name="矩形 1"/>
          <p:cNvSpPr/>
          <p:nvPr/>
        </p:nvSpPr>
        <p:spPr>
          <a:xfrm>
            <a:off x="720725" y="2928938"/>
            <a:ext cx="6648450" cy="522287"/>
          </a:xfrm>
          <a:prstGeom prst="rect">
            <a:avLst/>
          </a:prstGeom>
        </p:spPr>
        <p:txBody>
          <a:bodyPr wrap="none">
            <a:spAutoFit/>
          </a:bodyPr>
          <a:lstStyle/>
          <a:p>
            <a:pPr algn="just">
              <a:spcBef>
                <a:spcPts val="0"/>
              </a:spcBef>
              <a:spcAft>
                <a:spcPts val="0"/>
              </a:spcAft>
              <a:defRPr/>
            </a:pPr>
            <a:r>
              <a:rPr lang="zh-CN" altLang="en-US" sz="2800" b="1" kern="1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举例：处于平衡状态下的水和水蒸气系统</a:t>
            </a:r>
            <a:endParaRPr lang="zh-CN" altLang="en-US" sz="2800" b="1" kern="100" dirty="0">
              <a:solidFill>
                <a:srgbClr val="FF0000"/>
              </a:solidFill>
              <a:latin typeface="黑体" panose="02010609060101010101" pitchFamily="49" charset="-122"/>
              <a:ea typeface="黑体" panose="02010609060101010101" pitchFamily="49" charset="-122"/>
            </a:endParaRPr>
          </a:p>
        </p:txBody>
      </p:sp>
      <p:pic>
        <p:nvPicPr>
          <p:cNvPr id="28679"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644900"/>
            <a:ext cx="3382963"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83649"/>
          <p:cNvSpPr>
            <a:spLocks noGrp="1" noChangeArrowheads="1"/>
          </p:cNvSpPr>
          <p:nvPr>
            <p:ph type="title"/>
          </p:nvPr>
        </p:nvSpPr>
        <p:spPr/>
        <p:txBody>
          <a:bodyPr/>
          <a:lstStyle/>
          <a:p>
            <a:r>
              <a:rPr lang="en-US" altLang="zh-CN" sz="3600" b="1" smtClean="0">
                <a:latin typeface="黑体" panose="02010609060101010101" pitchFamily="49" charset="-122"/>
                <a:ea typeface="黑体" panose="02010609060101010101" pitchFamily="49" charset="-122"/>
              </a:rPr>
              <a:t>“</a:t>
            </a:r>
            <a:r>
              <a:rPr lang="zh-CN" altLang="en-US" sz="3600" b="1" smtClean="0">
                <a:latin typeface="黑体" panose="02010609060101010101" pitchFamily="49" charset="-122"/>
                <a:ea typeface="黑体" panose="02010609060101010101" pitchFamily="49" charset="-122"/>
              </a:rPr>
              <a:t>平衡状态”和“稳定状态”</a:t>
            </a:r>
            <a:endParaRPr lang="zh-CN" altLang="en-US" smtClean="0">
              <a:latin typeface="黑体" panose="02010609060101010101" pitchFamily="49" charset="-122"/>
              <a:ea typeface="黑体" panose="02010609060101010101" pitchFamily="49" charset="-122"/>
            </a:endParaRPr>
          </a:p>
        </p:txBody>
      </p:sp>
      <p:sp>
        <p:nvSpPr>
          <p:cNvPr id="29699" name="矩形 283652"/>
          <p:cNvSpPr>
            <a:spLocks noChangeArrowheads="1"/>
          </p:cNvSpPr>
          <p:nvPr/>
        </p:nvSpPr>
        <p:spPr bwMode="auto">
          <a:xfrm>
            <a:off x="0" y="2566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29700" name="矩形 283654"/>
          <p:cNvSpPr>
            <a:spLocks noChangeArrowheads="1"/>
          </p:cNvSpPr>
          <p:nvPr/>
        </p:nvSpPr>
        <p:spPr bwMode="auto">
          <a:xfrm>
            <a:off x="0" y="2566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283656" name="矩形 283655"/>
          <p:cNvSpPr>
            <a:spLocks noChangeArrowheads="1"/>
          </p:cNvSpPr>
          <p:nvPr/>
        </p:nvSpPr>
        <p:spPr bwMode="auto">
          <a:xfrm>
            <a:off x="4284663" y="6011863"/>
            <a:ext cx="4910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solidFill>
                  <a:srgbClr val="0000CC"/>
                </a:solidFill>
                <a:ea typeface="黑体" panose="02010609060101010101" pitchFamily="49" charset="-122"/>
              </a:rPr>
              <a:t>举例：系统处于稳定而非平衡状态</a:t>
            </a:r>
            <a:r>
              <a:rPr lang="zh-CN" altLang="en-US" sz="2400">
                <a:solidFill>
                  <a:srgbClr val="0000CC"/>
                </a:solidFill>
                <a:ea typeface="黑体" panose="02010609060101010101" pitchFamily="49" charset="-122"/>
              </a:rPr>
              <a:t> </a:t>
            </a:r>
          </a:p>
        </p:txBody>
      </p:sp>
      <p:sp>
        <p:nvSpPr>
          <p:cNvPr id="29702" name="矩形 1"/>
          <p:cNvSpPr>
            <a:spLocks noChangeArrowheads="1"/>
          </p:cNvSpPr>
          <p:nvPr/>
        </p:nvSpPr>
        <p:spPr bwMode="auto">
          <a:xfrm>
            <a:off x="520700" y="1584325"/>
            <a:ext cx="4572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800" b="1">
                <a:latin typeface="黑体" panose="02010609060101010101" pitchFamily="49" charset="-122"/>
                <a:ea typeface="黑体" panose="02010609060101010101" pitchFamily="49" charset="-122"/>
              </a:rPr>
              <a:t>稳定（</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steady</a:t>
            </a:r>
            <a:r>
              <a:rPr lang="zh-CN" altLang="en-US" sz="2800" b="1">
                <a:latin typeface="黑体" panose="02010609060101010101" pitchFamily="49" charset="-122"/>
                <a:ea typeface="黑体" panose="02010609060101010101" pitchFamily="49" charset="-122"/>
              </a:rPr>
              <a:t>）意味着系统的状态参数不随时间变化</a:t>
            </a:r>
          </a:p>
        </p:txBody>
      </p:sp>
      <p:sp>
        <p:nvSpPr>
          <p:cNvPr id="29703" name="矩形 2"/>
          <p:cNvSpPr>
            <a:spLocks noChangeArrowheads="1"/>
          </p:cNvSpPr>
          <p:nvPr/>
        </p:nvSpPr>
        <p:spPr bwMode="auto">
          <a:xfrm>
            <a:off x="522288" y="2905125"/>
            <a:ext cx="4572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800" b="1">
                <a:latin typeface="黑体" panose="02010609060101010101" pitchFamily="49" charset="-122"/>
                <a:ea typeface="黑体" panose="02010609060101010101" pitchFamily="49" charset="-122"/>
              </a:rPr>
              <a:t>达到平衡状态后，由于不平衡势差消失了，热力系的状态将不随时间变化，这意味着</a:t>
            </a:r>
            <a:r>
              <a:rPr lang="zh-CN" altLang="en-US" sz="2800" b="1">
                <a:solidFill>
                  <a:srgbClr val="FF0000"/>
                </a:solidFill>
                <a:latin typeface="黑体" panose="02010609060101010101" pitchFamily="49" charset="-122"/>
                <a:ea typeface="黑体" panose="02010609060101010101" pitchFamily="49" charset="-122"/>
              </a:rPr>
              <a:t>平衡状态必然是稳定状态。但是，系统处于稳定状态时却未必处于平衡状态</a:t>
            </a:r>
          </a:p>
        </p:txBody>
      </p:sp>
      <p:pic>
        <p:nvPicPr>
          <p:cNvPr id="2970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40325" y="1441450"/>
            <a:ext cx="356552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3656"/>
                                        </p:tgtEl>
                                        <p:attrNameLst>
                                          <p:attrName>style.visibility</p:attrName>
                                        </p:attrNameLst>
                                      </p:cBhvr>
                                      <p:to>
                                        <p:strVal val="visible"/>
                                      </p:to>
                                    </p:set>
                                    <p:animEffect transition="in" filter="blinds(horizontal)">
                                      <p:cBhvr>
                                        <p:cTn id="7" dur="500"/>
                                        <p:tgtEl>
                                          <p:spTgt spid="283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77825"/>
          <p:cNvSpPr>
            <a:spLocks noGrp="1" noChangeArrowheads="1"/>
          </p:cNvSpPr>
          <p:nvPr>
            <p:ph type="ctrTitle"/>
          </p:nvPr>
        </p:nvSpPr>
        <p:spPr>
          <a:xfrm>
            <a:off x="250825" y="1828800"/>
            <a:ext cx="8534400" cy="1143000"/>
          </a:xfrm>
        </p:spPr>
        <p:txBody>
          <a:bodyPr anchor="ctr"/>
          <a:lstStyle/>
          <a:p>
            <a:pPr eaLnBrk="1" hangingPunct="1"/>
            <a:r>
              <a:rPr lang="zh-CN" altLang="en-US" sz="4000" b="1" smtClean="0">
                <a:solidFill>
                  <a:schemeClr val="tx1"/>
                </a:solidFill>
                <a:latin typeface="黑体" panose="02010609060101010101" pitchFamily="49" charset="-122"/>
                <a:ea typeface="黑体" panose="02010609060101010101" pitchFamily="49" charset="-122"/>
              </a:rPr>
              <a:t>二、状态参数</a:t>
            </a:r>
          </a:p>
        </p:txBody>
      </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280579"/>
          <p:cNvSpPr>
            <a:spLocks noChangeArrowheads="1"/>
          </p:cNvSpPr>
          <p:nvPr/>
        </p:nvSpPr>
        <p:spPr bwMode="auto">
          <a:xfrm>
            <a:off x="406400" y="903288"/>
            <a:ext cx="8153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FF0000"/>
                </a:solidFill>
                <a:latin typeface="黑体" panose="02010609060101010101" pitchFamily="49" charset="-122"/>
                <a:ea typeface="黑体" panose="02010609060101010101" pitchFamily="49" charset="-122"/>
              </a:rPr>
              <a:t>状态参数（</a:t>
            </a:r>
            <a:r>
              <a:rPr lang="en-US" altLang="zh-CN" b="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property</a:t>
            </a:r>
            <a:r>
              <a:rPr lang="zh-CN" altLang="en-US" b="1">
                <a:solidFill>
                  <a:srgbClr val="FF0000"/>
                </a:solidFill>
                <a:latin typeface="黑体" panose="02010609060101010101" pitchFamily="49" charset="-122"/>
                <a:ea typeface="黑体" panose="02010609060101010101" pitchFamily="49" charset="-122"/>
              </a:rPr>
              <a:t>）</a:t>
            </a:r>
            <a:r>
              <a:rPr lang="zh-CN" altLang="en-US" b="1">
                <a:latin typeface="黑体" panose="02010609060101010101" pitchFamily="49" charset="-122"/>
                <a:ea typeface="黑体" panose="02010609060101010101" pitchFamily="49" charset="-122"/>
              </a:rPr>
              <a:t>：用来描述热力系平衡状态的物理量。</a:t>
            </a:r>
          </a:p>
        </p:txBody>
      </p:sp>
      <p:sp>
        <p:nvSpPr>
          <p:cNvPr id="31747" name="矩形 280580"/>
          <p:cNvSpPr>
            <a:spLocks noChangeArrowheads="1"/>
          </p:cNvSpPr>
          <p:nvPr/>
        </p:nvSpPr>
        <p:spPr bwMode="auto">
          <a:xfrm>
            <a:off x="322263" y="2185988"/>
            <a:ext cx="815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有些状态参数是</a:t>
            </a:r>
            <a:r>
              <a:rPr lang="zh-CN" altLang="en-US" b="1">
                <a:solidFill>
                  <a:srgbClr val="FF0000"/>
                </a:solidFill>
                <a:latin typeface="黑体" panose="02010609060101010101" pitchFamily="49" charset="-122"/>
                <a:ea typeface="黑体" panose="02010609060101010101" pitchFamily="49" charset="-122"/>
              </a:rPr>
              <a:t>可以直接测量</a:t>
            </a:r>
            <a:r>
              <a:rPr lang="zh-CN" altLang="en-US" b="1">
                <a:latin typeface="黑体" panose="02010609060101010101" pitchFamily="49" charset="-122"/>
                <a:ea typeface="黑体" panose="02010609060101010101" pitchFamily="49" charset="-122"/>
              </a:rPr>
              <a:t>的：</a:t>
            </a:r>
            <a:r>
              <a:rPr lang="en-US" altLang="zh-CN" b="1" i="1">
                <a:latin typeface="Times New Roman" panose="02020603050405020304" pitchFamily="18" charset="0"/>
                <a:ea typeface="黑体" panose="02010609060101010101" pitchFamily="49" charset="-122"/>
              </a:rPr>
              <a:t>T</a:t>
            </a:r>
            <a:r>
              <a:rPr lang="zh-CN" altLang="en-US" b="1">
                <a:latin typeface="Times New Roman" panose="02020603050405020304" pitchFamily="18" charset="0"/>
                <a:ea typeface="黑体" panose="02010609060101010101" pitchFamily="49" charset="-122"/>
              </a:rPr>
              <a:t>，</a:t>
            </a:r>
            <a:r>
              <a:rPr lang="en-US" altLang="zh-CN" b="1" i="1">
                <a:latin typeface="Times New Roman" panose="02020603050405020304" pitchFamily="18" charset="0"/>
                <a:ea typeface="黑体" panose="02010609060101010101" pitchFamily="49" charset="-122"/>
              </a:rPr>
              <a:t>p</a:t>
            </a:r>
            <a:r>
              <a:rPr lang="zh-CN" altLang="en-US" b="1">
                <a:latin typeface="Times New Roman" panose="02020603050405020304" pitchFamily="18" charset="0"/>
                <a:ea typeface="黑体" panose="02010609060101010101" pitchFamily="49" charset="-122"/>
              </a:rPr>
              <a:t>，</a:t>
            </a:r>
            <a:r>
              <a:rPr lang="en-US" altLang="zh-CN" b="1" i="1">
                <a:latin typeface="Times New Roman" panose="02020603050405020304" pitchFamily="18" charset="0"/>
                <a:ea typeface="黑体" panose="02010609060101010101" pitchFamily="49" charset="-122"/>
              </a:rPr>
              <a:t>V</a:t>
            </a:r>
            <a:endParaRPr lang="en-US" altLang="zh-CN" i="1">
              <a:latin typeface="Times New Roman" panose="02020603050405020304" pitchFamily="18" charset="0"/>
              <a:ea typeface="黑体" panose="02010609060101010101" pitchFamily="49" charset="-122"/>
            </a:endParaRPr>
          </a:p>
        </p:txBody>
      </p:sp>
      <p:sp>
        <p:nvSpPr>
          <p:cNvPr id="31748" name="矩形 280581"/>
          <p:cNvSpPr>
            <a:spLocks noChangeArrowheads="1"/>
          </p:cNvSpPr>
          <p:nvPr/>
        </p:nvSpPr>
        <p:spPr bwMode="auto">
          <a:xfrm>
            <a:off x="222250" y="203200"/>
            <a:ext cx="83534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、定义</a:t>
            </a:r>
            <a:endParaRPr lang="en-US" altLang="zh-CN" i="1">
              <a:latin typeface="黑体" panose="02010609060101010101" pitchFamily="49" charset="-122"/>
              <a:ea typeface="黑体" panose="02010609060101010101" pitchFamily="49" charset="-122"/>
            </a:endParaRPr>
          </a:p>
        </p:txBody>
      </p:sp>
      <p:sp>
        <p:nvSpPr>
          <p:cNvPr id="31749" name="矩形 280582"/>
          <p:cNvSpPr>
            <a:spLocks noChangeArrowheads="1"/>
          </p:cNvSpPr>
          <p:nvPr/>
        </p:nvSpPr>
        <p:spPr bwMode="auto">
          <a:xfrm>
            <a:off x="290513" y="3544888"/>
            <a:ext cx="815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有些状态参数是</a:t>
            </a:r>
            <a:r>
              <a:rPr lang="zh-CN" altLang="en-US" b="1">
                <a:solidFill>
                  <a:srgbClr val="FF0000"/>
                </a:solidFill>
                <a:latin typeface="黑体" panose="02010609060101010101" pitchFamily="49" charset="-122"/>
                <a:ea typeface="黑体" panose="02010609060101010101" pitchFamily="49" charset="-122"/>
              </a:rPr>
              <a:t>由热力学定律来定义</a:t>
            </a:r>
            <a:r>
              <a:rPr lang="zh-CN" altLang="en-US" b="1">
                <a:latin typeface="黑体" panose="02010609060101010101" pitchFamily="49" charset="-122"/>
                <a:ea typeface="黑体" panose="02010609060101010101" pitchFamily="49" charset="-122"/>
              </a:rPr>
              <a:t>的：</a:t>
            </a:r>
            <a:r>
              <a:rPr lang="en-US" altLang="zh-CN" b="1" i="1">
                <a:latin typeface="Times New Roman" panose="02020603050405020304" pitchFamily="18" charset="0"/>
                <a:ea typeface="黑体" panose="02010609060101010101" pitchFamily="49" charset="-122"/>
              </a:rPr>
              <a:t>S</a:t>
            </a:r>
            <a:endParaRPr lang="en-US" altLang="zh-CN" i="1">
              <a:latin typeface="Times New Roman" panose="02020603050405020304" pitchFamily="18" charset="0"/>
              <a:ea typeface="黑体" panose="02010609060101010101" pitchFamily="49" charset="-122"/>
            </a:endParaRPr>
          </a:p>
        </p:txBody>
      </p:sp>
      <p:sp>
        <p:nvSpPr>
          <p:cNvPr id="31750" name="矩形 280584"/>
          <p:cNvSpPr>
            <a:spLocks noChangeArrowheads="1"/>
          </p:cNvSpPr>
          <p:nvPr/>
        </p:nvSpPr>
        <p:spPr bwMode="auto">
          <a:xfrm>
            <a:off x="2735263" y="4525963"/>
            <a:ext cx="35274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常见的状态参数</a:t>
            </a:r>
          </a:p>
        </p:txBody>
      </p:sp>
      <p:sp>
        <p:nvSpPr>
          <p:cNvPr id="31751" name="矩形 280585"/>
          <p:cNvSpPr>
            <a:spLocks noChangeArrowheads="1"/>
          </p:cNvSpPr>
          <p:nvPr/>
        </p:nvSpPr>
        <p:spPr bwMode="auto">
          <a:xfrm>
            <a:off x="611188" y="5368925"/>
            <a:ext cx="80645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压力、温度、质量、体积、密度、速度、动能、势能、</a:t>
            </a:r>
          </a:p>
          <a:p>
            <a:pPr eaLnBrk="1" hangingPunct="1">
              <a:spcBef>
                <a:spcPct val="0"/>
              </a:spcBef>
              <a:buFontTx/>
              <a:buNone/>
            </a:pPr>
            <a:r>
              <a:rPr lang="zh-CN" altLang="en-US" sz="2400" b="1">
                <a:latin typeface="黑体" panose="02010609060101010101" pitchFamily="49" charset="-122"/>
                <a:ea typeface="黑体" panose="02010609060101010101" pitchFamily="49" charset="-122"/>
              </a:rPr>
              <a:t>热力学能（以前习惯称为内能）、焓、熵等 </a:t>
            </a:r>
          </a:p>
        </p:txBody>
      </p:sp>
      <p:sp>
        <p:nvSpPr>
          <p:cNvPr id="31752" name="矩形 280581"/>
          <p:cNvSpPr>
            <a:spLocks noChangeArrowheads="1"/>
          </p:cNvSpPr>
          <p:nvPr/>
        </p:nvSpPr>
        <p:spPr bwMode="auto">
          <a:xfrm>
            <a:off x="290513" y="2897188"/>
            <a:ext cx="8705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有些状态参数是</a:t>
            </a:r>
            <a:r>
              <a:rPr lang="zh-CN" altLang="en-US" b="1">
                <a:solidFill>
                  <a:srgbClr val="FF0000"/>
                </a:solidFill>
                <a:latin typeface="黑体" panose="02010609060101010101" pitchFamily="49" charset="-122"/>
                <a:ea typeface="黑体" panose="02010609060101010101" pitchFamily="49" charset="-122"/>
              </a:rPr>
              <a:t>其它状态参数的组合</a:t>
            </a:r>
            <a:r>
              <a:rPr lang="zh-CN" altLang="en-US" b="1">
                <a:latin typeface="黑体" panose="02010609060101010101" pitchFamily="49" charset="-122"/>
                <a:ea typeface="黑体" panose="02010609060101010101" pitchFamily="49" charset="-122"/>
              </a:rPr>
              <a:t>：</a:t>
            </a:r>
            <a:r>
              <a:rPr lang="en-US" altLang="zh-CN" b="1" i="1">
                <a:latin typeface="Times New Roman" panose="02020603050405020304" pitchFamily="18" charset="0"/>
                <a:ea typeface="黑体" panose="02010609060101010101" pitchFamily="49" charset="-122"/>
              </a:rPr>
              <a:t>H=U+pV</a:t>
            </a: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22" name="对象 286721"/>
          <p:cNvGraphicFramePr/>
          <p:nvPr/>
        </p:nvGraphicFramePr>
        <p:xfrm>
          <a:off x="4932363" y="4076700"/>
          <a:ext cx="1181100" cy="787400"/>
        </p:xfrm>
        <a:graphic>
          <a:graphicData uri="http://schemas.openxmlformats.org/presentationml/2006/ole">
            <mc:AlternateContent xmlns:mc="http://schemas.openxmlformats.org/markup-compatibility/2006">
              <mc:Choice xmlns:v="urn:schemas-microsoft-com:vml" Requires="v">
                <p:oleObj spid="_x0000_s22537" r:id="rId4" imgW="405765" imgH="393065" progId="Equation.DSMT4">
                  <p:embed/>
                </p:oleObj>
              </mc:Choice>
              <mc:Fallback>
                <p:oleObj r:id="rId4" imgW="405765" imgH="393065" progId="Equation.DSMT4">
                  <p:embed/>
                  <p:pic>
                    <p:nvPicPr>
                      <p:cNvPr id="0" name="对象 28672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363" y="4076700"/>
                        <a:ext cx="11811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6723" name="文本框 286722"/>
          <p:cNvSpPr txBox="1">
            <a:spLocks noChangeArrowheads="1"/>
          </p:cNvSpPr>
          <p:nvPr/>
        </p:nvSpPr>
        <p:spPr bwMode="auto">
          <a:xfrm>
            <a:off x="3492500" y="3141663"/>
            <a:ext cx="50403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ea typeface="黑体" panose="02010609060101010101" pitchFamily="49" charset="-122"/>
              </a:rPr>
              <a:t>一些强度量由广延量转化而来：如</a:t>
            </a:r>
            <a:r>
              <a:rPr lang="zh-CN" altLang="en-US" sz="2400" b="1">
                <a:solidFill>
                  <a:srgbClr val="FF0066"/>
                </a:solidFill>
                <a:latin typeface="Times New Roman" panose="02020603050405020304" pitchFamily="18" charset="0"/>
                <a:ea typeface="黑体" panose="02010609060101010101" pitchFamily="49" charset="-122"/>
              </a:rPr>
              <a:t>比体积，比热力学能，比焓，比熵</a:t>
            </a:r>
          </a:p>
        </p:txBody>
      </p:sp>
      <p:sp>
        <p:nvSpPr>
          <p:cNvPr id="286724" name="文本框 286723"/>
          <p:cNvSpPr txBox="1">
            <a:spLocks noChangeArrowheads="1"/>
          </p:cNvSpPr>
          <p:nvPr/>
        </p:nvSpPr>
        <p:spPr bwMode="auto">
          <a:xfrm>
            <a:off x="3924300" y="5229225"/>
            <a:ext cx="38877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ea typeface="黑体" panose="02010609060101010101" pitchFamily="49" charset="-122"/>
              </a:rPr>
              <a:t>工程热力学约定用</a:t>
            </a:r>
            <a:r>
              <a:rPr lang="zh-CN" altLang="en-US" sz="2400" b="1">
                <a:solidFill>
                  <a:srgbClr val="FF0000"/>
                </a:solidFill>
                <a:latin typeface="Times New Roman" panose="02020603050405020304" pitchFamily="18" charset="0"/>
                <a:ea typeface="黑体" panose="02010609060101010101" pitchFamily="49" charset="-122"/>
              </a:rPr>
              <a:t>小写字母</a:t>
            </a:r>
            <a:r>
              <a:rPr lang="zh-CN" altLang="en-US" sz="2400" b="1">
                <a:latin typeface="Times New Roman" panose="02020603050405020304" pitchFamily="18" charset="0"/>
                <a:ea typeface="黑体" panose="02010609060101010101" pitchFamily="49" charset="-122"/>
              </a:rPr>
              <a:t>表示单位质量参数。</a:t>
            </a:r>
          </a:p>
        </p:txBody>
      </p:sp>
      <p:sp>
        <p:nvSpPr>
          <p:cNvPr id="32773" name="文本框 286724"/>
          <p:cNvSpPr txBox="1">
            <a:spLocks noChangeArrowheads="1"/>
          </p:cNvSpPr>
          <p:nvPr/>
        </p:nvSpPr>
        <p:spPr bwMode="auto">
          <a:xfrm>
            <a:off x="468313" y="725488"/>
            <a:ext cx="84248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F"/>
                </a:solidFill>
                <a:latin typeface="Times New Roman" panose="02020603050405020304" pitchFamily="18" charset="0"/>
                <a:ea typeface="黑体" panose="02010609060101010101" pitchFamily="49" charset="-122"/>
              </a:rPr>
              <a:t>广延量</a:t>
            </a:r>
            <a:r>
              <a:rPr lang="zh-CN" altLang="en-US" sz="2400" b="1">
                <a:latin typeface="Times New Roman" panose="02020603050405020304" pitchFamily="18" charset="0"/>
                <a:ea typeface="黑体" panose="02010609060101010101" pitchFamily="49" charset="-122"/>
              </a:rPr>
              <a:t>（</a:t>
            </a:r>
            <a:r>
              <a:rPr lang="en-US" altLang="zh-CN" sz="2400" b="1">
                <a:latin typeface="Times New Roman" panose="02020603050405020304" pitchFamily="18" charset="0"/>
                <a:ea typeface="黑体" panose="02010609060101010101" pitchFamily="49" charset="-122"/>
              </a:rPr>
              <a:t>extensive property</a:t>
            </a:r>
            <a:r>
              <a:rPr lang="zh-CN" altLang="en-US" sz="2400" b="1">
                <a:latin typeface="Times New Roman" panose="02020603050405020304" pitchFamily="18" charset="0"/>
                <a:ea typeface="黑体" panose="02010609060101010101" pitchFamily="49" charset="-122"/>
              </a:rPr>
              <a:t>）与系统质量成正比，有可加性</a:t>
            </a:r>
          </a:p>
          <a:p>
            <a:pPr eaLnBrk="1" hangingPunct="1">
              <a:spcBef>
                <a:spcPct val="0"/>
              </a:spcBef>
              <a:buFontTx/>
              <a:buNone/>
            </a:pPr>
            <a:r>
              <a:rPr lang="zh-CN" altLang="en-US" sz="2400" b="1">
                <a:solidFill>
                  <a:srgbClr val="0000FF"/>
                </a:solidFill>
                <a:latin typeface="Times New Roman" panose="02020603050405020304" pitchFamily="18" charset="0"/>
                <a:ea typeface="黑体" panose="02010609060101010101" pitchFamily="49" charset="-122"/>
              </a:rPr>
              <a:t>强度量</a:t>
            </a:r>
            <a:r>
              <a:rPr lang="zh-CN" altLang="en-US" sz="2400" b="1">
                <a:latin typeface="Times New Roman" panose="02020603050405020304" pitchFamily="18" charset="0"/>
                <a:ea typeface="黑体" panose="02010609060101010101" pitchFamily="49" charset="-122"/>
              </a:rPr>
              <a:t>（</a:t>
            </a:r>
            <a:r>
              <a:rPr lang="en-US" altLang="zh-CN" sz="2400" b="1">
                <a:latin typeface="Times New Roman" panose="02020603050405020304" pitchFamily="18" charset="0"/>
                <a:ea typeface="黑体" panose="02010609060101010101" pitchFamily="49" charset="-122"/>
              </a:rPr>
              <a:t>intensive property</a:t>
            </a:r>
            <a:r>
              <a:rPr lang="en-US" altLang="zh-CN" sz="2400">
                <a:latin typeface="Times New Roman" panose="02020603050405020304" pitchFamily="18" charset="0"/>
                <a:ea typeface="黑体" panose="02010609060101010101" pitchFamily="49" charset="-122"/>
              </a:rPr>
              <a:t> </a:t>
            </a:r>
            <a:r>
              <a:rPr lang="zh-CN" altLang="en-US" sz="2400" b="1">
                <a:latin typeface="Times New Roman" panose="02020603050405020304" pitchFamily="18" charset="0"/>
                <a:ea typeface="黑体" panose="02010609060101010101" pitchFamily="49" charset="-122"/>
              </a:rPr>
              <a:t>）</a:t>
            </a:r>
            <a:r>
              <a:rPr lang="zh-CN" altLang="en-US" sz="2400" b="1">
                <a:latin typeface="黑体" panose="02010609060101010101" pitchFamily="49" charset="-122"/>
                <a:ea typeface="黑体" panose="02010609060101010101" pitchFamily="49" charset="-122"/>
              </a:rPr>
              <a:t>与系统质量无关，没有可加性</a:t>
            </a:r>
            <a:r>
              <a:rPr lang="zh-CN" altLang="en-US" sz="2400">
                <a:latin typeface="黑体" panose="02010609060101010101" pitchFamily="49" charset="-122"/>
                <a:ea typeface="黑体" panose="02010609060101010101" pitchFamily="49" charset="-122"/>
              </a:rPr>
              <a:t>                  </a:t>
            </a:r>
          </a:p>
        </p:txBody>
      </p:sp>
      <p:sp>
        <p:nvSpPr>
          <p:cNvPr id="32774" name="矩形 286726"/>
          <p:cNvSpPr>
            <a:spLocks noChangeArrowheads="1"/>
          </p:cNvSpPr>
          <p:nvPr/>
        </p:nvSpPr>
        <p:spPr bwMode="auto">
          <a:xfrm>
            <a:off x="0" y="1700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86728" name="矩形 286727"/>
          <p:cNvSpPr>
            <a:spLocks noChangeArrowheads="1"/>
          </p:cNvSpPr>
          <p:nvPr/>
        </p:nvSpPr>
        <p:spPr bwMode="auto">
          <a:xfrm>
            <a:off x="468313" y="1773238"/>
            <a:ext cx="8353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FF0000"/>
                </a:solidFill>
                <a:latin typeface="黑体" panose="02010609060101010101" pitchFamily="49" charset="-122"/>
                <a:ea typeface="黑体" panose="02010609060101010101" pitchFamily="49" charset="-122"/>
              </a:rPr>
              <a:t>判断方法</a:t>
            </a:r>
            <a:r>
              <a:rPr lang="zh-CN" altLang="en-US" sz="2800" b="1">
                <a:latin typeface="黑体" panose="02010609060101010101" pitchFamily="49" charset="-122"/>
                <a:ea typeface="黑体" panose="02010609060101010101" pitchFamily="49" charset="-122"/>
              </a:rPr>
              <a:t>：将系统分成相同的两部分，每一部分的强度量与原系统的相同，而广延量是原系统的一半 </a:t>
            </a:r>
          </a:p>
        </p:txBody>
      </p:sp>
      <p:sp>
        <p:nvSpPr>
          <p:cNvPr id="32776" name="矩形 280581"/>
          <p:cNvSpPr>
            <a:spLocks noChangeArrowheads="1"/>
          </p:cNvSpPr>
          <p:nvPr/>
        </p:nvSpPr>
        <p:spPr bwMode="auto">
          <a:xfrm>
            <a:off x="395288" y="84138"/>
            <a:ext cx="83534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、分类</a:t>
            </a:r>
            <a:endParaRPr lang="en-US" altLang="zh-CN" i="1">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2932113"/>
            <a:ext cx="2084387"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28"/>
                                        </p:tgtEl>
                                        <p:attrNameLst>
                                          <p:attrName>style.visibility</p:attrName>
                                        </p:attrNameLst>
                                      </p:cBhvr>
                                      <p:to>
                                        <p:strVal val="visible"/>
                                      </p:to>
                                    </p:set>
                                    <p:animEffect transition="in" filter="blinds(horizontal)">
                                      <p:cBhvr>
                                        <p:cTn id="7" dur="500"/>
                                        <p:tgtEl>
                                          <p:spTgt spid="28672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86722"/>
                                        </p:tgtEl>
                                        <p:attrNameLst>
                                          <p:attrName>style.visibility</p:attrName>
                                        </p:attrNameLst>
                                      </p:cBhvr>
                                      <p:to>
                                        <p:strVal val="visible"/>
                                      </p:to>
                                    </p:set>
                                    <p:animEffect transition="in" filter="blinds(horizontal)">
                                      <p:cBhvr>
                                        <p:cTn id="16" dur="500"/>
                                        <p:tgtEl>
                                          <p:spTgt spid="28672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86723"/>
                                        </p:tgtEl>
                                        <p:attrNameLst>
                                          <p:attrName>style.visibility</p:attrName>
                                        </p:attrNameLst>
                                      </p:cBhvr>
                                      <p:to>
                                        <p:strVal val="visible"/>
                                      </p:to>
                                    </p:set>
                                    <p:animEffect transition="in" filter="blinds(horizontal)">
                                      <p:cBhvr>
                                        <p:cTn id="19" dur="500"/>
                                        <p:tgtEl>
                                          <p:spTgt spid="286723"/>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86724"/>
                                        </p:tgtEl>
                                        <p:attrNameLst>
                                          <p:attrName>style.visibility</p:attrName>
                                        </p:attrNameLst>
                                      </p:cBhvr>
                                      <p:to>
                                        <p:strVal val="visible"/>
                                      </p:to>
                                    </p:set>
                                    <p:animEffect transition="in" filter="blinds(horizontal)">
                                      <p:cBhvr>
                                        <p:cTn id="24" dur="500"/>
                                        <p:tgtEl>
                                          <p:spTgt spid="286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3" grpId="0"/>
      <p:bldP spid="286724" grpId="0"/>
      <p:bldP spid="28672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284675"/>
          <p:cNvSpPr>
            <a:spLocks noChangeArrowheads="1"/>
          </p:cNvSpPr>
          <p:nvPr/>
        </p:nvSpPr>
        <p:spPr bwMode="auto">
          <a:xfrm>
            <a:off x="468313" y="884238"/>
            <a:ext cx="806450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处于</a:t>
            </a:r>
            <a:r>
              <a:rPr lang="zh-CN" altLang="en-US" b="1">
                <a:solidFill>
                  <a:srgbClr val="FF0000"/>
                </a:solidFill>
                <a:latin typeface="黑体" panose="02010609060101010101" pitchFamily="49" charset="-122"/>
                <a:ea typeface="黑体" panose="02010609060101010101" pitchFamily="49" charset="-122"/>
              </a:rPr>
              <a:t>平衡状态</a:t>
            </a:r>
            <a:r>
              <a:rPr lang="zh-CN" altLang="en-US" b="1">
                <a:latin typeface="黑体" panose="02010609060101010101" pitchFamily="49" charset="-122"/>
                <a:ea typeface="黑体" panose="02010609060101010101" pitchFamily="49" charset="-122"/>
              </a:rPr>
              <a:t>的热力系才具有系统整体的强度状态参数（如温度、压力、密度等），而处于</a:t>
            </a:r>
            <a:r>
              <a:rPr lang="zh-CN" altLang="zh-CN" b="1">
                <a:latin typeface="黑体" panose="02010609060101010101" pitchFamily="49" charset="-122"/>
                <a:ea typeface="黑体" panose="02010609060101010101" pitchFamily="49" charset="-122"/>
              </a:rPr>
              <a:t>非平衡状态的热力系，则存在着局域强度状态参数的分布</a:t>
            </a:r>
            <a:endParaRPr lang="zh-CN" altLang="en-US" b="1">
              <a:latin typeface="黑体" panose="02010609060101010101" pitchFamily="49" charset="-122"/>
              <a:ea typeface="黑体" panose="02010609060101010101" pitchFamily="49" charset="-122"/>
            </a:endParaRPr>
          </a:p>
        </p:txBody>
      </p:sp>
      <p:sp>
        <p:nvSpPr>
          <p:cNvPr id="33795" name="矩形 284677"/>
          <p:cNvSpPr>
            <a:spLocks noChangeArrowheads="1"/>
          </p:cNvSpPr>
          <p:nvPr/>
        </p:nvSpPr>
        <p:spPr bwMode="auto">
          <a:xfrm>
            <a:off x="5508625" y="4033838"/>
            <a:ext cx="2519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非平衡状态</a:t>
            </a:r>
          </a:p>
        </p:txBody>
      </p:sp>
      <p:sp>
        <p:nvSpPr>
          <p:cNvPr id="33796" name="矩形 284678"/>
          <p:cNvSpPr>
            <a:spLocks noChangeArrowheads="1"/>
          </p:cNvSpPr>
          <p:nvPr/>
        </p:nvSpPr>
        <p:spPr bwMode="auto">
          <a:xfrm>
            <a:off x="179388" y="5734050"/>
            <a:ext cx="8820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用哪部分的温度来描述整个系统的温度都不合适！</a:t>
            </a:r>
            <a:r>
              <a:rPr lang="zh-CN" altLang="en-US" sz="2400" b="1">
                <a:latin typeface="黑体" panose="02010609060101010101" pitchFamily="49" charset="-122"/>
                <a:ea typeface="黑体" panose="02010609060101010101" pitchFamily="49" charset="-122"/>
              </a:rPr>
              <a:t> </a:t>
            </a:r>
          </a:p>
        </p:txBody>
      </p:sp>
      <p:sp>
        <p:nvSpPr>
          <p:cNvPr id="33797" name="矩形 284679"/>
          <p:cNvSpPr>
            <a:spLocks noChangeArrowheads="1"/>
          </p:cNvSpPr>
          <p:nvPr/>
        </p:nvSpPr>
        <p:spPr bwMode="auto">
          <a:xfrm>
            <a:off x="468313" y="333375"/>
            <a:ext cx="5915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需要强调：</a:t>
            </a:r>
          </a:p>
        </p:txBody>
      </p:sp>
      <p:pic>
        <p:nvPicPr>
          <p:cNvPr id="3379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3151188"/>
            <a:ext cx="2376487"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本框 285699"/>
          <p:cNvSpPr txBox="1">
            <a:spLocks noChangeArrowheads="1"/>
          </p:cNvSpPr>
          <p:nvPr/>
        </p:nvSpPr>
        <p:spPr bwMode="auto">
          <a:xfrm>
            <a:off x="468313" y="333375"/>
            <a:ext cx="8281987"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状态参数分类（另一种分类方法）</a:t>
            </a:r>
          </a:p>
          <a:p>
            <a:pPr eaLnBrk="1" hangingPunct="1">
              <a:spcBef>
                <a:spcPct val="0"/>
              </a:spcBef>
              <a:buFontTx/>
              <a:buNone/>
            </a:pPr>
            <a:endParaRPr lang="zh-CN" altLang="en-US" sz="2800" b="1">
              <a:latin typeface="黑体" panose="02010609060101010101" pitchFamily="49" charset="-122"/>
              <a:ea typeface="黑体" panose="02010609060101010101" pitchFamily="49" charset="-122"/>
            </a:endParaRPr>
          </a:p>
          <a:p>
            <a:pPr eaLnBrk="1" hangingPunct="1">
              <a:spcBef>
                <a:spcPct val="0"/>
              </a:spcBef>
              <a:buFontTx/>
              <a:buNone/>
            </a:pPr>
            <a:r>
              <a:rPr lang="zh-CN" altLang="en-US" sz="2800" b="1">
                <a:solidFill>
                  <a:srgbClr val="0000FF"/>
                </a:solidFill>
                <a:latin typeface="黑体" panose="02010609060101010101" pitchFamily="49" charset="-122"/>
                <a:ea typeface="黑体" panose="02010609060101010101" pitchFamily="49" charset="-122"/>
              </a:rPr>
              <a:t>内部状态参数</a:t>
            </a:r>
            <a:r>
              <a:rPr lang="zh-CN" altLang="en-US" sz="2800" b="1">
                <a:latin typeface="黑体" panose="02010609060101010101" pitchFamily="49" charset="-122"/>
                <a:ea typeface="黑体" panose="02010609060101010101" pitchFamily="49" charset="-122"/>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intrinsic property</a:t>
            </a:r>
            <a:r>
              <a:rPr lang="zh-CN" altLang="en-US" sz="2800" b="1">
                <a:latin typeface="黑体" panose="02010609060101010101" pitchFamily="49" charset="-122"/>
                <a:ea typeface="黑体" panose="02010609060101010101" pitchFamily="49" charset="-122"/>
              </a:rPr>
              <a:t>）与</a:t>
            </a:r>
            <a:r>
              <a:rPr lang="zh-CN" altLang="en-US" sz="2800" b="1">
                <a:solidFill>
                  <a:srgbClr val="FF0000"/>
                </a:solidFill>
                <a:latin typeface="黑体" panose="02010609060101010101" pitchFamily="49" charset="-122"/>
                <a:ea typeface="黑体" panose="02010609060101010101" pitchFamily="49" charset="-122"/>
              </a:rPr>
              <a:t>组成系统的物质的特性有关</a:t>
            </a:r>
            <a:r>
              <a:rPr lang="zh-CN" altLang="en-US" sz="2800" b="1">
                <a:latin typeface="黑体" panose="02010609060101010101" pitchFamily="49" charset="-122"/>
                <a:ea typeface="黑体" panose="02010609060101010101" pitchFamily="49" charset="-122"/>
              </a:rPr>
              <a:t>，由系统本身的</a:t>
            </a:r>
            <a:r>
              <a:rPr lang="zh-CN" altLang="en-US" sz="2800" b="1">
                <a:solidFill>
                  <a:srgbClr val="FF0000"/>
                </a:solidFill>
                <a:latin typeface="黑体" panose="02010609060101010101" pitchFamily="49" charset="-122"/>
                <a:ea typeface="黑体" panose="02010609060101010101" pitchFamily="49" charset="-122"/>
              </a:rPr>
              <a:t>内部</a:t>
            </a:r>
            <a:r>
              <a:rPr lang="zh-CN" altLang="en-US" sz="2800" b="1">
                <a:latin typeface="黑体" panose="02010609060101010101" pitchFamily="49" charset="-122"/>
                <a:ea typeface="黑体" panose="02010609060101010101" pitchFamily="49" charset="-122"/>
              </a:rPr>
              <a:t>热力学状态决定 ，如压力、体积、温度、熵、热力学能、焓 </a:t>
            </a:r>
          </a:p>
          <a:p>
            <a:pPr eaLnBrk="1" hangingPunct="1">
              <a:spcBef>
                <a:spcPct val="0"/>
              </a:spcBef>
              <a:buFontTx/>
              <a:buNone/>
            </a:pPr>
            <a:endParaRPr lang="zh-CN" altLang="en-US" sz="2800" b="1">
              <a:latin typeface="黑体" panose="02010609060101010101" pitchFamily="49" charset="-122"/>
              <a:ea typeface="黑体" panose="02010609060101010101" pitchFamily="49" charset="-122"/>
            </a:endParaRPr>
          </a:p>
          <a:p>
            <a:pPr eaLnBrk="1" hangingPunct="1">
              <a:spcBef>
                <a:spcPct val="0"/>
              </a:spcBef>
              <a:buFontTx/>
              <a:buNone/>
            </a:pPr>
            <a:r>
              <a:rPr lang="zh-CN" altLang="en-US" sz="2800" b="1">
                <a:solidFill>
                  <a:srgbClr val="0000FF"/>
                </a:solidFill>
                <a:latin typeface="黑体" panose="02010609060101010101" pitchFamily="49" charset="-122"/>
                <a:ea typeface="黑体" panose="02010609060101010101" pitchFamily="49" charset="-122"/>
              </a:rPr>
              <a:t>外部状态参数</a:t>
            </a:r>
            <a:r>
              <a:rPr lang="zh-CN" altLang="en-US" sz="2800" b="1">
                <a:latin typeface="黑体" panose="02010609060101010101" pitchFamily="49" charset="-122"/>
                <a:ea typeface="黑体" panose="02010609060101010101" pitchFamily="49" charset="-122"/>
              </a:rPr>
              <a:t>（</a:t>
            </a:r>
            <a:r>
              <a:rPr lang="en-US" altLang="zh-CN" sz="2800" b="1">
                <a:latin typeface="Times New Roman" panose="02020603050405020304" pitchFamily="18" charset="0"/>
                <a:ea typeface="黑体" panose="02010609060101010101" pitchFamily="49" charset="-122"/>
              </a:rPr>
              <a:t>extrinsic property</a:t>
            </a:r>
            <a:r>
              <a:rPr lang="en-US" altLang="zh-CN" sz="2800">
                <a:latin typeface="Times New Roman" panose="02020603050405020304" pitchFamily="18" charset="0"/>
                <a:ea typeface="黑体" panose="02010609060101010101" pitchFamily="49" charset="-122"/>
              </a:rPr>
              <a:t> </a:t>
            </a:r>
            <a:r>
              <a:rPr lang="zh-CN" altLang="en-US" sz="2800" b="1">
                <a:latin typeface="黑体" panose="02010609060101010101" pitchFamily="49" charset="-122"/>
                <a:ea typeface="黑体" panose="02010609060101010101" pitchFamily="49" charset="-122"/>
              </a:rPr>
              <a:t>）与</a:t>
            </a:r>
            <a:r>
              <a:rPr lang="zh-CN" altLang="en-US" sz="2800" b="1">
                <a:solidFill>
                  <a:srgbClr val="FF0000"/>
                </a:solidFill>
                <a:latin typeface="黑体" panose="02010609060101010101" pitchFamily="49" charset="-122"/>
                <a:ea typeface="黑体" panose="02010609060101010101" pitchFamily="49" charset="-122"/>
              </a:rPr>
              <a:t>热力系内部物质的特性无关</a:t>
            </a:r>
            <a:r>
              <a:rPr lang="zh-CN" altLang="en-US" sz="2800" b="1">
                <a:latin typeface="黑体" panose="02010609060101010101" pitchFamily="49" charset="-122"/>
                <a:ea typeface="黑体" panose="02010609060101010101" pitchFamily="49" charset="-122"/>
              </a:rPr>
              <a:t>，而需要借助</a:t>
            </a:r>
            <a:r>
              <a:rPr lang="zh-CN" altLang="en-US" sz="2800" b="1">
                <a:solidFill>
                  <a:srgbClr val="FF0000"/>
                </a:solidFill>
                <a:latin typeface="黑体" panose="02010609060101010101" pitchFamily="49" charset="-122"/>
                <a:ea typeface="黑体" panose="02010609060101010101" pitchFamily="49" charset="-122"/>
              </a:rPr>
              <a:t>外部</a:t>
            </a:r>
            <a:r>
              <a:rPr lang="zh-CN" altLang="en-US" sz="2800" b="1">
                <a:latin typeface="黑体" panose="02010609060101010101" pitchFamily="49" charset="-122"/>
                <a:ea typeface="黑体" panose="02010609060101010101" pitchFamily="49" charset="-122"/>
              </a:rPr>
              <a:t>参考系来决定，如热力系作为一个整体的运动速度、动能以及热力系整体的高度、重力势能</a:t>
            </a:r>
            <a:r>
              <a:rPr lang="zh-CN" altLang="en-US" sz="2400" b="1">
                <a:latin typeface="黑体" panose="02010609060101010101" pitchFamily="49" charset="-122"/>
                <a:ea typeface="黑体" panose="02010609060101010101" pitchFamily="49" charset="-122"/>
              </a:rPr>
              <a:t> </a:t>
            </a:r>
          </a:p>
        </p:txBody>
      </p:sp>
      <p:sp>
        <p:nvSpPr>
          <p:cNvPr id="285701" name="矩形 285700"/>
          <p:cNvSpPr>
            <a:spLocks noChangeArrowheads="1"/>
          </p:cNvSpPr>
          <p:nvPr/>
        </p:nvSpPr>
        <p:spPr bwMode="auto">
          <a:xfrm>
            <a:off x="539750" y="5157788"/>
            <a:ext cx="80645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ea typeface="黑体" panose="02010609060101010101" pitchFamily="49" charset="-122"/>
              </a:rPr>
              <a:t>只知道系统的内部状态参数</a:t>
            </a:r>
            <a:r>
              <a:rPr lang="zh-CN" altLang="en-US" sz="3600" b="1">
                <a:solidFill>
                  <a:srgbClr val="FF0000"/>
                </a:solidFill>
                <a:ea typeface="黑体" panose="02010609060101010101" pitchFamily="49" charset="-122"/>
              </a:rPr>
              <a:t>远不足以</a:t>
            </a:r>
            <a:r>
              <a:rPr lang="zh-CN" altLang="en-US" sz="3600" b="1">
                <a:ea typeface="黑体" panose="02010609060101010101" pitchFamily="49" charset="-122"/>
              </a:rPr>
              <a:t>决定系统的外部状态参数，反之亦然！</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5701"/>
                                        </p:tgtEl>
                                        <p:attrNameLst>
                                          <p:attrName>style.visibility</p:attrName>
                                        </p:attrNameLst>
                                      </p:cBhvr>
                                      <p:to>
                                        <p:strVal val="visible"/>
                                      </p:to>
                                    </p:set>
                                    <p:animEffect transition="in" filter="blinds(horizontal)">
                                      <p:cBhvr>
                                        <p:cTn id="7" dur="500"/>
                                        <p:tgtEl>
                                          <p:spTgt spid="285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0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16387"/>
          <p:cNvSpPr>
            <a:spLocks noChangeArrowheads="1"/>
          </p:cNvSpPr>
          <p:nvPr/>
        </p:nvSpPr>
        <p:spPr bwMode="auto">
          <a:xfrm>
            <a:off x="457200" y="333375"/>
            <a:ext cx="5915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、性质</a:t>
            </a:r>
          </a:p>
        </p:txBody>
      </p:sp>
      <p:graphicFrame>
        <p:nvGraphicFramePr>
          <p:cNvPr id="35843" name="内容占位符 48147"/>
          <p:cNvGraphicFramePr>
            <a:graphicFrameLocks noGrp="1"/>
          </p:cNvGraphicFramePr>
          <p:nvPr>
            <p:ph sz="half" idx="1"/>
          </p:nvPr>
        </p:nvGraphicFramePr>
        <p:xfrm>
          <a:off x="3563938" y="6140450"/>
          <a:ext cx="1157287" cy="533400"/>
        </p:xfrm>
        <a:graphic>
          <a:graphicData uri="http://schemas.openxmlformats.org/presentationml/2006/ole">
            <mc:AlternateContent xmlns:mc="http://schemas.openxmlformats.org/markup-compatibility/2006">
              <mc:Choice xmlns:v="urn:schemas-microsoft-com:vml" Requires="v">
                <p:oleObj spid="_x0000_s23566" r:id="rId3" imgW="546100" imgH="279400" progId="Equation.DSMT4">
                  <p:embed/>
                </p:oleObj>
              </mc:Choice>
              <mc:Fallback>
                <p:oleObj r:id="rId3" imgW="546100" imgH="279400" progId="Equation.DSMT4">
                  <p:embed/>
                  <p:pic>
                    <p:nvPicPr>
                      <p:cNvPr id="0" name="内容占位符 48147"/>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6140450"/>
                        <a:ext cx="115728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4" name="文本框 16393"/>
          <p:cNvSpPr txBox="1">
            <a:spLocks noChangeArrowheads="1"/>
          </p:cNvSpPr>
          <p:nvPr/>
        </p:nvSpPr>
        <p:spPr bwMode="auto">
          <a:xfrm>
            <a:off x="579438" y="1090613"/>
            <a:ext cx="8281987"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状态参数是状态的单值函数，若热力系的状态确定了，它的状态参数的数值也就确定了，而与通过何种途径到达该状态无关  </a:t>
            </a:r>
          </a:p>
        </p:txBody>
      </p:sp>
      <p:graphicFrame>
        <p:nvGraphicFramePr>
          <p:cNvPr id="35845" name="内容占位符 48150"/>
          <p:cNvGraphicFramePr>
            <a:graphicFrameLocks noGrp="1"/>
          </p:cNvGraphicFramePr>
          <p:nvPr>
            <p:ph sz="quarter" idx="3"/>
          </p:nvPr>
        </p:nvGraphicFramePr>
        <p:xfrm>
          <a:off x="2771775" y="4127500"/>
          <a:ext cx="3019425" cy="712788"/>
        </p:xfrm>
        <a:graphic>
          <a:graphicData uri="http://schemas.openxmlformats.org/presentationml/2006/ole">
            <mc:AlternateContent xmlns:mc="http://schemas.openxmlformats.org/markup-compatibility/2006">
              <mc:Choice xmlns:v="urn:schemas-microsoft-com:vml" Requires="v">
                <p:oleObj spid="_x0000_s23567" r:id="rId5" imgW="1435100" imgH="330200" progId="Equation.DSMT4">
                  <p:embed/>
                </p:oleObj>
              </mc:Choice>
              <mc:Fallback>
                <p:oleObj r:id="rId5" imgW="1435100" imgH="330200" progId="Equation.DSMT4">
                  <p:embed/>
                  <p:pic>
                    <p:nvPicPr>
                      <p:cNvPr id="0" name="内容占位符 48150"/>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775" y="4127500"/>
                        <a:ext cx="301942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6" name="矩形 48163"/>
          <p:cNvSpPr>
            <a:spLocks noChangeArrowheads="1"/>
          </p:cNvSpPr>
          <p:nvPr/>
        </p:nvSpPr>
        <p:spPr bwMode="auto">
          <a:xfrm>
            <a:off x="0" y="2628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47" name="Rectangle 10"/>
          <p:cNvSpPr>
            <a:spLocks noChangeArrowheads="1"/>
          </p:cNvSpPr>
          <p:nvPr/>
        </p:nvSpPr>
        <p:spPr bwMode="auto">
          <a:xfrm>
            <a:off x="579438" y="2576513"/>
            <a:ext cx="8024812"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800" b="1">
                <a:latin typeface="黑体" panose="02010609060101010101" pitchFamily="49" charset="-122"/>
                <a:ea typeface="黑体" panose="02010609060101010101" pitchFamily="49" charset="-122"/>
              </a:rPr>
              <a:t>在任意过程中，当热力系从初态</a:t>
            </a:r>
            <a:r>
              <a:rPr lang="en-US" altLang="zh-CN" sz="2800" b="1">
                <a:latin typeface="黑体" panose="02010609060101010101" pitchFamily="49" charset="-122"/>
                <a:ea typeface="黑体" panose="02010609060101010101" pitchFamily="49" charset="-122"/>
              </a:rPr>
              <a:t>1</a:t>
            </a:r>
            <a:r>
              <a:rPr lang="zh-CN" altLang="zh-CN" sz="2800" b="1">
                <a:latin typeface="黑体" panose="02010609060101010101" pitchFamily="49" charset="-122"/>
                <a:ea typeface="黑体" panose="02010609060101010101" pitchFamily="49" charset="-122"/>
              </a:rPr>
              <a:t>到达终态</a:t>
            </a:r>
            <a:r>
              <a:rPr lang="en-US" altLang="zh-CN" sz="2800" b="1">
                <a:latin typeface="黑体" panose="02010609060101010101" pitchFamily="49" charset="-122"/>
                <a:ea typeface="黑体" panose="02010609060101010101" pitchFamily="49" charset="-122"/>
              </a:rPr>
              <a:t>2</a:t>
            </a:r>
            <a:r>
              <a:rPr lang="zh-CN" altLang="zh-CN" sz="2800" b="1">
                <a:latin typeface="黑体" panose="02010609060101010101" pitchFamily="49" charset="-122"/>
                <a:ea typeface="黑体" panose="02010609060101010101" pitchFamily="49" charset="-122"/>
              </a:rPr>
              <a:t>时，任意状态参数</a:t>
            </a:r>
            <a:r>
              <a:rPr lang="en-US" altLang="zh-CN" sz="2800" b="1" i="1">
                <a:latin typeface="Times New Roman" panose="02020603050405020304" pitchFamily="18" charset="0"/>
                <a:ea typeface="黑体" panose="02010609060101010101" pitchFamily="49" charset="-122"/>
              </a:rPr>
              <a:t>x</a:t>
            </a:r>
            <a:r>
              <a:rPr lang="zh-CN" altLang="en-US" sz="2800" b="1">
                <a:latin typeface="黑体" panose="02010609060101010101" pitchFamily="49" charset="-122"/>
                <a:ea typeface="黑体" panose="02010609060101010101" pitchFamily="49" charset="-122"/>
              </a:rPr>
              <a:t>的变化量均等于初、终状态下该状态参数的差值，与具体过程无关，即 </a:t>
            </a:r>
          </a:p>
        </p:txBody>
      </p:sp>
      <p:sp>
        <p:nvSpPr>
          <p:cNvPr id="35848" name="矩形 4"/>
          <p:cNvSpPr>
            <a:spLocks noChangeArrowheads="1"/>
          </p:cNvSpPr>
          <p:nvPr/>
        </p:nvSpPr>
        <p:spPr bwMode="auto">
          <a:xfrm>
            <a:off x="666750" y="5013325"/>
            <a:ext cx="7848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zh-CN" sz="2800" b="1">
                <a:latin typeface="黑体" panose="02010609060101010101" pitchFamily="49" charset="-122"/>
                <a:ea typeface="黑体" panose="02010609060101010101" pitchFamily="49" charset="-122"/>
              </a:rPr>
              <a:t>当热力系经历一个循环而回到初始状态时，其状态参数的变化为</a:t>
            </a:r>
            <a:r>
              <a:rPr lang="en-US" altLang="zh-CN" sz="2800" b="1">
                <a:latin typeface="黑体" panose="02010609060101010101" pitchFamily="49" charset="-122"/>
                <a:ea typeface="黑体" panose="02010609060101010101" pitchFamily="49" charset="-122"/>
              </a:rPr>
              <a:t>0</a:t>
            </a:r>
            <a:r>
              <a:rPr lang="zh-CN" altLang="zh-CN" sz="2800" b="1">
                <a:latin typeface="黑体" panose="02010609060101010101" pitchFamily="49" charset="-122"/>
                <a:ea typeface="黑体" panose="02010609060101010101" pitchFamily="49" charset="-122"/>
              </a:rPr>
              <a:t>，即</a:t>
            </a:r>
            <a:endParaRPr lang="zh-CN" altLang="en-US" sz="2800" b="1">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29377"/>
          <p:cNvSpPr>
            <a:spLocks noChangeArrowheads="1"/>
          </p:cNvSpPr>
          <p:nvPr/>
        </p:nvSpPr>
        <p:spPr bwMode="auto">
          <a:xfrm>
            <a:off x="250825" y="2205038"/>
            <a:ext cx="8534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Char char="§"/>
            </a:pPr>
            <a:r>
              <a:rPr lang="en-US" altLang="zh-CN" sz="4000" b="1">
                <a:latin typeface="黑体" panose="02010609060101010101" pitchFamily="49" charset="-122"/>
                <a:ea typeface="黑体" panose="02010609060101010101" pitchFamily="49" charset="-122"/>
              </a:rPr>
              <a:t>1</a:t>
            </a:r>
            <a:r>
              <a:rPr lang="zh-CN" altLang="en-US" sz="4000" b="1">
                <a:latin typeface="黑体" panose="02010609060101010101" pitchFamily="49" charset="-122"/>
                <a:ea typeface="黑体" panose="02010609060101010101" pitchFamily="49" charset="-122"/>
              </a:rPr>
              <a:t>－</a:t>
            </a:r>
            <a:r>
              <a:rPr lang="en-US" altLang="zh-CN" sz="4000" b="1">
                <a:latin typeface="黑体" panose="02010609060101010101" pitchFamily="49" charset="-122"/>
                <a:ea typeface="黑体" panose="02010609060101010101" pitchFamily="49" charset="-122"/>
              </a:rPr>
              <a:t>3 </a:t>
            </a:r>
            <a:r>
              <a:rPr lang="zh-CN" altLang="en-US" sz="4000" b="1">
                <a:latin typeface="黑体" panose="02010609060101010101" pitchFamily="49" charset="-122"/>
                <a:ea typeface="黑体" panose="02010609060101010101" pitchFamily="49" charset="-122"/>
              </a:rPr>
              <a:t>基本状态参数</a:t>
            </a:r>
          </a:p>
        </p:txBody>
      </p: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文本框 136195"/>
          <p:cNvSpPr txBox="1">
            <a:spLocks noChangeArrowheads="1"/>
          </p:cNvSpPr>
          <p:nvPr/>
        </p:nvSpPr>
        <p:spPr bwMode="auto">
          <a:xfrm>
            <a:off x="755650" y="1557338"/>
            <a:ext cx="777557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ea typeface="黑体" panose="02010609060101010101" pitchFamily="49" charset="-122"/>
              </a:rPr>
              <a:t>系统具有多个状态参数，其中压力、温度和体积可以直接用仪表测定，称为基本状态参数。</a:t>
            </a:r>
          </a:p>
        </p:txBody>
      </p:sp>
    </p:spTree>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框 136195"/>
          <p:cNvSpPr txBox="1">
            <a:spLocks noChangeArrowheads="1"/>
          </p:cNvSpPr>
          <p:nvPr/>
        </p:nvSpPr>
        <p:spPr bwMode="auto">
          <a:xfrm>
            <a:off x="468313" y="363538"/>
            <a:ext cx="77755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ea typeface="黑体" panose="02010609060101010101" pitchFamily="49" charset="-122"/>
              </a:rPr>
              <a:t>一、温度：物体冷热程度的标志</a:t>
            </a:r>
          </a:p>
        </p:txBody>
      </p:sp>
      <p:sp>
        <p:nvSpPr>
          <p:cNvPr id="38915" name="矩形 136201"/>
          <p:cNvSpPr>
            <a:spLocks noChangeArrowheads="1"/>
          </p:cNvSpPr>
          <p:nvPr/>
        </p:nvSpPr>
        <p:spPr bwMode="auto">
          <a:xfrm>
            <a:off x="827088" y="2205038"/>
            <a:ext cx="7848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FF0066"/>
                </a:solidFill>
                <a:latin typeface="楷体_GB2312" pitchFamily="49" charset="-122"/>
                <a:ea typeface="楷体_GB2312" pitchFamily="49" charset="-122"/>
              </a:rPr>
              <a:t>如果两个热力系中的每一个都与第三个系统处于热平衡，则它们彼此也处于热平衡</a:t>
            </a:r>
            <a:r>
              <a:rPr lang="zh-CN" altLang="en-US" sz="2400" b="1">
                <a:latin typeface="楷体_GB2312" pitchFamily="49" charset="-122"/>
                <a:ea typeface="楷体_GB2312" pitchFamily="49" charset="-122"/>
              </a:rPr>
              <a:t>。</a:t>
            </a:r>
          </a:p>
        </p:txBody>
      </p:sp>
      <p:sp>
        <p:nvSpPr>
          <p:cNvPr id="38916" name="矩形 136202"/>
          <p:cNvSpPr>
            <a:spLocks noChangeArrowheads="1"/>
          </p:cNvSpPr>
          <p:nvPr/>
        </p:nvSpPr>
        <p:spPr bwMode="auto">
          <a:xfrm>
            <a:off x="684213" y="1412875"/>
            <a:ext cx="7200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ea typeface="黑体" panose="02010609060101010101" pitchFamily="49" charset="-122"/>
              </a:rPr>
              <a:t>热力学第零定律涉及温度的热力学定义</a:t>
            </a:r>
          </a:p>
        </p:txBody>
      </p:sp>
      <p:sp>
        <p:nvSpPr>
          <p:cNvPr id="38917" name="矩形 136204"/>
          <p:cNvSpPr>
            <a:spLocks noChangeArrowheads="1"/>
          </p:cNvSpPr>
          <p:nvPr/>
        </p:nvSpPr>
        <p:spPr bwMode="auto">
          <a:xfrm>
            <a:off x="1258888" y="3357563"/>
            <a:ext cx="67929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由经验得出，不能从其它定律中推论出来 </a:t>
            </a:r>
          </a:p>
        </p:txBody>
      </p:sp>
      <p:sp>
        <p:nvSpPr>
          <p:cNvPr id="136208" name="矩形 136207"/>
          <p:cNvSpPr>
            <a:spLocks noChangeArrowheads="1"/>
          </p:cNvSpPr>
          <p:nvPr/>
        </p:nvSpPr>
        <p:spPr bwMode="auto">
          <a:xfrm>
            <a:off x="539750" y="4508500"/>
            <a:ext cx="799147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根据该定律，处于热平衡状态的所有热力系，必定有某一宏观特性是彼此相同的，人们把描述这一宏观性质的物理量称为</a:t>
            </a:r>
            <a:r>
              <a:rPr lang="zh-CN" altLang="en-US" b="1">
                <a:solidFill>
                  <a:srgbClr val="FF0000"/>
                </a:solidFill>
                <a:latin typeface="黑体" panose="02010609060101010101" pitchFamily="49" charset="-122"/>
                <a:ea typeface="黑体" panose="02010609060101010101" pitchFamily="49" charset="-122"/>
              </a:rPr>
              <a:t>温度！</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6208"/>
                                        </p:tgtEl>
                                        <p:attrNameLst>
                                          <p:attrName>style.visibility</p:attrName>
                                        </p:attrNameLst>
                                      </p:cBhvr>
                                      <p:to>
                                        <p:strVal val="visible"/>
                                      </p:to>
                                    </p:set>
                                    <p:animEffect transition="in" filter="blinds(horizontal)">
                                      <p:cBhvr>
                                        <p:cTn id="7" dur="500"/>
                                        <p:tgtEl>
                                          <p:spTgt spid="136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287749"/>
          <p:cNvSpPr>
            <a:spLocks noChangeArrowheads="1"/>
          </p:cNvSpPr>
          <p:nvPr/>
        </p:nvSpPr>
        <p:spPr bwMode="auto">
          <a:xfrm>
            <a:off x="0" y="2328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9939" name="矩形 287750"/>
          <p:cNvSpPr>
            <a:spLocks noChangeArrowheads="1"/>
          </p:cNvSpPr>
          <p:nvPr/>
        </p:nvSpPr>
        <p:spPr bwMode="auto">
          <a:xfrm>
            <a:off x="293688" y="5375275"/>
            <a:ext cx="316865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t>常见的玻璃管温度计，佛罗伦萨科学院于十七世纪中叶发明 </a:t>
            </a:r>
          </a:p>
          <a:p>
            <a:pPr eaLnBrk="1" hangingPunct="1">
              <a:spcBef>
                <a:spcPct val="0"/>
              </a:spcBef>
              <a:buFontTx/>
              <a:buNone/>
            </a:pPr>
            <a:endParaRPr lang="zh-CN" altLang="en-US" sz="2400"/>
          </a:p>
        </p:txBody>
      </p:sp>
      <p:sp>
        <p:nvSpPr>
          <p:cNvPr id="287753" name="矩形 287752"/>
          <p:cNvSpPr>
            <a:spLocks noChangeArrowheads="1"/>
          </p:cNvSpPr>
          <p:nvPr/>
        </p:nvSpPr>
        <p:spPr bwMode="auto">
          <a:xfrm>
            <a:off x="485775" y="1122363"/>
            <a:ext cx="82740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温度计有很多种，只要测温物质的某种状态变化能够反映出被测系统的温度数值就可以 </a:t>
            </a:r>
          </a:p>
        </p:txBody>
      </p:sp>
      <p:grpSp>
        <p:nvGrpSpPr>
          <p:cNvPr id="287758" name="组合 287757"/>
          <p:cNvGrpSpPr/>
          <p:nvPr/>
        </p:nvGrpSpPr>
        <p:grpSpPr bwMode="auto">
          <a:xfrm>
            <a:off x="3851275" y="2852738"/>
            <a:ext cx="3887788" cy="2978150"/>
            <a:chOff x="2381" y="1525"/>
            <a:chExt cx="2449" cy="1876"/>
          </a:xfrm>
        </p:grpSpPr>
        <p:pic>
          <p:nvPicPr>
            <p:cNvPr id="39944" name="图片 287753" descr="thermocou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 y="1525"/>
              <a:ext cx="2268" cy="1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5" name="矩形 287755"/>
            <p:cNvSpPr>
              <a:spLocks noChangeArrowheads="1"/>
            </p:cNvSpPr>
            <p:nvPr/>
          </p:nvSpPr>
          <p:spPr bwMode="auto">
            <a:xfrm>
              <a:off x="3061" y="3113"/>
              <a:ext cx="17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楷体_GB2312" pitchFamily="49" charset="-122"/>
                  <a:ea typeface="楷体_GB2312" pitchFamily="49" charset="-122"/>
                </a:rPr>
                <a:t>热电偶温度计</a:t>
              </a:r>
            </a:p>
          </p:txBody>
        </p:sp>
      </p:grpSp>
      <p:sp>
        <p:nvSpPr>
          <p:cNvPr id="39942" name="矩形 136202"/>
          <p:cNvSpPr>
            <a:spLocks noChangeArrowheads="1"/>
          </p:cNvSpPr>
          <p:nvPr/>
        </p:nvSpPr>
        <p:spPr bwMode="auto">
          <a:xfrm>
            <a:off x="468313" y="373063"/>
            <a:ext cx="71993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ea typeface="黑体" panose="02010609060101010101" pitchFamily="49" charset="-122"/>
              </a:rPr>
              <a:t>测量物体温度的装置称为温度计</a:t>
            </a:r>
          </a:p>
        </p:txBody>
      </p:sp>
      <p:pic>
        <p:nvPicPr>
          <p:cNvPr id="39943"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2328863"/>
            <a:ext cx="933450" cy="287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7753"/>
                                        </p:tgtEl>
                                        <p:attrNameLst>
                                          <p:attrName>style.visibility</p:attrName>
                                        </p:attrNameLst>
                                      </p:cBhvr>
                                      <p:to>
                                        <p:strVal val="visible"/>
                                      </p:to>
                                    </p:set>
                                    <p:animEffect transition="in" filter="blinds(horizontal)">
                                      <p:cBhvr>
                                        <p:cTn id="7" dur="500"/>
                                        <p:tgtEl>
                                          <p:spTgt spid="2877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7758"/>
                                        </p:tgtEl>
                                        <p:attrNameLst>
                                          <p:attrName>style.visibility</p:attrName>
                                        </p:attrNameLst>
                                      </p:cBhvr>
                                      <p:to>
                                        <p:strVal val="visible"/>
                                      </p:to>
                                    </p:set>
                                    <p:animEffect transition="in" filter="blinds(horizontal)">
                                      <p:cBhvr>
                                        <p:cTn id="12" dur="500"/>
                                        <p:tgtEl>
                                          <p:spTgt spid="287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5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本占位符 28674"/>
          <p:cNvSpPr>
            <a:spLocks noGrp="1" noChangeArrowheads="1"/>
          </p:cNvSpPr>
          <p:nvPr>
            <p:ph type="body" sz="half" idx="1"/>
          </p:nvPr>
        </p:nvSpPr>
        <p:spPr>
          <a:xfrm>
            <a:off x="539750" y="1239838"/>
            <a:ext cx="7643813" cy="3341687"/>
          </a:xfrm>
        </p:spPr>
        <p:txBody>
          <a:bodyPr/>
          <a:lstStyle/>
          <a:p>
            <a:pPr eaLnBrk="1" hangingPunct="1">
              <a:buFont typeface="Wingdings" panose="05000000000000000000" pitchFamily="2" charset="2"/>
              <a:buChar char="q"/>
            </a:pPr>
            <a:r>
              <a:rPr lang="zh-CN" altLang="en-US" sz="4100" smtClean="0">
                <a:latin typeface="黑体" panose="02010609060101010101" pitchFamily="49" charset="-122"/>
                <a:ea typeface="黑体" panose="02010609060101010101" pitchFamily="49" charset="-122"/>
              </a:rPr>
              <a:t>热力学温度</a:t>
            </a:r>
          </a:p>
          <a:p>
            <a:pPr eaLnBrk="1" hangingPunct="1">
              <a:buFont typeface="Wingdings" panose="05000000000000000000" pitchFamily="2" charset="2"/>
              <a:buNone/>
            </a:pPr>
            <a:r>
              <a:rPr lang="zh-CN" altLang="en-US" sz="2800" smtClean="0">
                <a:latin typeface="黑体" panose="02010609060101010101" pitchFamily="49" charset="-122"/>
                <a:ea typeface="黑体" panose="02010609060101010101" pitchFamily="49" charset="-122"/>
              </a:rPr>
              <a:t>　　</a:t>
            </a:r>
          </a:p>
          <a:p>
            <a:pPr eaLnBrk="1" hangingPunct="1">
              <a:buFont typeface="Wingdings" panose="05000000000000000000" pitchFamily="2" charset="2"/>
              <a:buNone/>
            </a:pPr>
            <a:r>
              <a:rPr lang="zh-CN" altLang="en-US" sz="2800" smtClean="0">
                <a:latin typeface="黑体" panose="02010609060101010101" pitchFamily="49" charset="-122"/>
                <a:ea typeface="黑体" panose="02010609060101010101" pitchFamily="49" charset="-122"/>
              </a:rPr>
              <a:t>　　符号为</a:t>
            </a:r>
            <a:r>
              <a:rPr lang="en-US" altLang="zh-CN" sz="2800" i="1" smtClean="0">
                <a:solidFill>
                  <a:srgbClr val="FF0000"/>
                </a:solidFill>
                <a:latin typeface="Times New Roman" panose="02020603050405020304" pitchFamily="18" charset="0"/>
                <a:ea typeface="黑体" panose="02010609060101010101" pitchFamily="49" charset="-122"/>
              </a:rPr>
              <a:t>T</a:t>
            </a:r>
            <a:r>
              <a:rPr lang="zh-CN" altLang="en-US" sz="2800" smtClean="0">
                <a:latin typeface="黑体" panose="02010609060101010101" pitchFamily="49" charset="-122"/>
                <a:ea typeface="黑体" panose="02010609060101010101" pitchFamily="49" charset="-122"/>
              </a:rPr>
              <a:t>，单位为</a:t>
            </a:r>
            <a:r>
              <a:rPr lang="en-US" altLang="zh-CN" sz="2800" smtClean="0">
                <a:solidFill>
                  <a:srgbClr val="FF0000"/>
                </a:solidFill>
                <a:latin typeface="Times New Roman" panose="02020603050405020304" pitchFamily="18" charset="0"/>
                <a:ea typeface="黑体" panose="02010609060101010101" pitchFamily="49" charset="-122"/>
              </a:rPr>
              <a:t>K</a:t>
            </a:r>
            <a:r>
              <a:rPr lang="en-US" altLang="zh-CN" sz="2800" smtClean="0">
                <a:latin typeface="黑体" panose="02010609060101010101" pitchFamily="49" charset="-122"/>
                <a:ea typeface="黑体" panose="02010609060101010101" pitchFamily="49" charset="-122"/>
              </a:rPr>
              <a:t>(</a:t>
            </a:r>
            <a:r>
              <a:rPr lang="zh-CN" altLang="en-US" sz="2800" smtClean="0">
                <a:latin typeface="黑体" panose="02010609060101010101" pitchFamily="49" charset="-122"/>
                <a:ea typeface="黑体" panose="02010609060101010101" pitchFamily="49" charset="-122"/>
              </a:rPr>
              <a:t>开尔文</a:t>
            </a:r>
            <a:r>
              <a:rPr lang="en-US" altLang="zh-CN" sz="2800" smtClean="0">
                <a:latin typeface="黑体" panose="02010609060101010101" pitchFamily="49" charset="-122"/>
                <a:ea typeface="黑体" panose="02010609060101010101" pitchFamily="49" charset="-122"/>
              </a:rPr>
              <a:t>)</a:t>
            </a:r>
            <a:r>
              <a:rPr lang="zh-CN" altLang="en-US" sz="2800" smtClean="0">
                <a:latin typeface="黑体" panose="02010609060101010101" pitchFamily="49" charset="-122"/>
                <a:ea typeface="黑体" panose="02010609060101010101" pitchFamily="49" charset="-122"/>
              </a:rPr>
              <a:t>。</a:t>
            </a:r>
            <a:br>
              <a:rPr lang="zh-CN" altLang="en-US" sz="2800" smtClean="0">
                <a:latin typeface="黑体" panose="02010609060101010101" pitchFamily="49" charset="-122"/>
                <a:ea typeface="黑体" panose="02010609060101010101" pitchFamily="49" charset="-122"/>
              </a:rPr>
            </a:br>
            <a:r>
              <a:rPr lang="zh-CN" altLang="en-US" sz="2800" smtClean="0">
                <a:latin typeface="黑体" panose="02010609060101010101" pitchFamily="49" charset="-122"/>
                <a:ea typeface="黑体" panose="02010609060101010101" pitchFamily="49" charset="-122"/>
              </a:rPr>
              <a:t>　</a:t>
            </a:r>
          </a:p>
          <a:p>
            <a:pPr eaLnBrk="1" hangingPunct="1">
              <a:buFont typeface="Wingdings" panose="05000000000000000000" pitchFamily="2" charset="2"/>
              <a:buNone/>
            </a:pPr>
            <a:r>
              <a:rPr lang="zh-CN" altLang="en-US" sz="2800" smtClean="0">
                <a:latin typeface="黑体" panose="02010609060101010101" pitchFamily="49" charset="-122"/>
                <a:ea typeface="黑体" panose="02010609060101010101" pitchFamily="49" charset="-122"/>
              </a:rPr>
              <a:t>　规定水的三相点为热力学温标的基准点，并规定此点的温度为</a:t>
            </a:r>
            <a:r>
              <a:rPr lang="en-US" altLang="zh-CN" sz="2800" smtClean="0">
                <a:solidFill>
                  <a:srgbClr val="FF0000"/>
                </a:solidFill>
                <a:latin typeface="Times New Roman" panose="02020603050405020304" pitchFamily="18" charset="0"/>
                <a:ea typeface="黑体" panose="02010609060101010101" pitchFamily="49" charset="-122"/>
              </a:rPr>
              <a:t>273.16K</a:t>
            </a:r>
          </a:p>
        </p:txBody>
      </p:sp>
      <p:graphicFrame>
        <p:nvGraphicFramePr>
          <p:cNvPr id="40963" name="内容占位符 28675"/>
          <p:cNvGraphicFramePr>
            <a:graphicFrameLocks noGrp="1"/>
          </p:cNvGraphicFramePr>
          <p:nvPr>
            <p:ph sz="half" idx="2"/>
          </p:nvPr>
        </p:nvGraphicFramePr>
        <p:xfrm>
          <a:off x="2411413" y="4721225"/>
          <a:ext cx="3887787" cy="731838"/>
        </p:xfrm>
        <a:graphic>
          <a:graphicData uri="http://schemas.openxmlformats.org/presentationml/2006/ole">
            <mc:AlternateContent xmlns:mc="http://schemas.openxmlformats.org/markup-compatibility/2006">
              <mc:Choice xmlns:v="urn:schemas-microsoft-com:vml" Requires="v">
                <p:oleObj spid="_x0000_s24585" r:id="rId3" imgW="1344930" imgH="254000" progId="Equation.DSMT4">
                  <p:embed/>
                </p:oleObj>
              </mc:Choice>
              <mc:Fallback>
                <p:oleObj r:id="rId3" imgW="1344930" imgH="254000" progId="Equation.DSMT4">
                  <p:embed/>
                  <p:pic>
                    <p:nvPicPr>
                      <p:cNvPr id="0" name="内容占位符 28675"/>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4721225"/>
                        <a:ext cx="388778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40964" name="图片 28678" descr="kelvi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2225" y="260350"/>
            <a:ext cx="2198688" cy="28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占位符 31746"/>
          <p:cNvSpPr>
            <a:spLocks noGrp="1" noChangeArrowheads="1"/>
          </p:cNvSpPr>
          <p:nvPr>
            <p:ph idx="1"/>
          </p:nvPr>
        </p:nvSpPr>
        <p:spPr>
          <a:xfrm>
            <a:off x="457200" y="1709738"/>
            <a:ext cx="8534400" cy="1143000"/>
          </a:xfrm>
        </p:spPr>
        <p:txBody>
          <a:bodyPr/>
          <a:lstStyle/>
          <a:p>
            <a:pPr marL="0" indent="0" eaLnBrk="1" hangingPunct="1">
              <a:buFontTx/>
              <a:buNone/>
              <a:defRPr/>
            </a:pPr>
            <a:r>
              <a:rPr lang="en-US" altLang="zh-CN" sz="2800" b="1" dirty="0" smtClean="0">
                <a:latin typeface="黑体" panose="02010609060101010101" pitchFamily="49" charset="-122"/>
                <a:ea typeface="黑体" panose="02010609060101010101" pitchFamily="49" charset="-122"/>
              </a:rPr>
              <a:t>1</a:t>
            </a:r>
            <a:r>
              <a:rPr lang="zh-CN" altLang="en-US" sz="2800" b="1" dirty="0" smtClean="0">
                <a:latin typeface="黑体" panose="02010609060101010101" pitchFamily="49" charset="-122"/>
                <a:ea typeface="黑体" panose="02010609060101010101" pitchFamily="49" charset="-122"/>
              </a:rPr>
              <a:t>、定义：</a:t>
            </a:r>
          </a:p>
          <a:p>
            <a:pPr eaLnBrk="1" hangingPunct="1">
              <a:buFont typeface="Wingdings" panose="05000000000000000000" pitchFamily="2" charset="2"/>
              <a:buNone/>
              <a:defRPr/>
            </a:pPr>
            <a:r>
              <a:rPr lang="zh-CN" altLang="en-US" sz="2800" b="1" dirty="0" smtClean="0">
                <a:latin typeface="黑体" panose="02010609060101010101" pitchFamily="49" charset="-122"/>
                <a:ea typeface="黑体" panose="02010609060101010101" pitchFamily="49" charset="-122"/>
              </a:rPr>
              <a:t>　单位面积上所受的垂直作用力称为压力（或压强）</a:t>
            </a:r>
          </a:p>
        </p:txBody>
      </p:sp>
      <p:sp>
        <p:nvSpPr>
          <p:cNvPr id="41987" name="文本框 31750"/>
          <p:cNvSpPr txBox="1">
            <a:spLocks noChangeArrowheads="1"/>
          </p:cNvSpPr>
          <p:nvPr/>
        </p:nvSpPr>
        <p:spPr bwMode="auto">
          <a:xfrm>
            <a:off x="468313" y="404813"/>
            <a:ext cx="64801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400" b="1">
                <a:ea typeface="黑体" panose="02010609060101010101" pitchFamily="49" charset="-122"/>
              </a:rPr>
              <a:t>二、压力：</a:t>
            </a:r>
          </a:p>
        </p:txBody>
      </p:sp>
    </p:spTree>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图片 33798" descr="200810171346209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2636838"/>
            <a:ext cx="28575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文本占位符 33794"/>
          <p:cNvSpPr>
            <a:spLocks noGrp="1" noChangeArrowheads="1"/>
          </p:cNvSpPr>
          <p:nvPr>
            <p:ph idx="1"/>
          </p:nvPr>
        </p:nvSpPr>
        <p:spPr>
          <a:xfrm>
            <a:off x="685800" y="457200"/>
            <a:ext cx="7772400" cy="1905000"/>
          </a:xfrm>
        </p:spPr>
        <p:txBody>
          <a:bodyPr>
            <a:normAutofit/>
          </a:bodyPr>
          <a:lstStyle/>
          <a:p>
            <a:pPr marL="0" indent="0" eaLnBrk="1" hangingPunct="1">
              <a:buFontTx/>
              <a:buNone/>
              <a:defRPr/>
            </a:pPr>
            <a:r>
              <a:rPr lang="en-US" altLang="zh-CN" sz="2800" b="1" dirty="0" smtClean="0"/>
              <a:t>2</a:t>
            </a:r>
            <a:r>
              <a:rPr lang="zh-CN" altLang="en-US" sz="2800" b="1" dirty="0" smtClean="0"/>
              <a:t>、</a:t>
            </a:r>
            <a:r>
              <a:rPr lang="zh-CN" altLang="en-US" sz="2800" b="1" dirty="0" smtClean="0">
                <a:latin typeface="黑体" panose="02010609060101010101" pitchFamily="49" charset="-122"/>
                <a:ea typeface="黑体" panose="02010609060101010101" pitchFamily="49" charset="-122"/>
              </a:rPr>
              <a:t>压力的单位</a:t>
            </a:r>
            <a:endParaRPr lang="zh-CN" altLang="en-US" sz="2800" b="1" dirty="0" smtClean="0">
              <a:latin typeface="黑体" panose="02010609060101010101" pitchFamily="49" charset="-122"/>
              <a:ea typeface="黑体" panose="02010609060101010101" pitchFamily="49" charset="-122"/>
            </a:endParaRPr>
          </a:p>
          <a:p>
            <a:pPr eaLnBrk="1" hangingPunct="1">
              <a:buFont typeface="Wingdings" panose="05000000000000000000" pitchFamily="2" charset="2"/>
              <a:buNone/>
              <a:defRPr/>
            </a:pPr>
            <a:r>
              <a:rPr lang="zh-CN" altLang="en-US" sz="2800" b="1" dirty="0" smtClean="0">
                <a:latin typeface="黑体" panose="02010609060101010101" pitchFamily="49" charset="-122"/>
                <a:ea typeface="黑体" panose="02010609060101010101" pitchFamily="49" charset="-122"/>
              </a:rPr>
              <a:t>   国际标准单位：帕斯卡</a:t>
            </a:r>
            <a:r>
              <a:rPr lang="en-US" altLang="zh-CN" sz="2800" b="1" dirty="0" smtClean="0">
                <a:latin typeface="黑体" panose="02010609060101010101" pitchFamily="49" charset="-122"/>
                <a:ea typeface="黑体" panose="02010609060101010101" pitchFamily="49" charset="-122"/>
              </a:rPr>
              <a:t>(</a:t>
            </a:r>
            <a:r>
              <a:rPr lang="zh-CN" altLang="en-US" sz="2800" b="1" dirty="0" smtClean="0">
                <a:latin typeface="黑体" panose="02010609060101010101" pitchFamily="49" charset="-122"/>
                <a:ea typeface="黑体" panose="02010609060101010101" pitchFamily="49" charset="-122"/>
              </a:rPr>
              <a:t>简称帕</a:t>
            </a:r>
            <a:r>
              <a:rPr lang="en-US" altLang="zh-CN" sz="2800" b="1" dirty="0" smtClean="0">
                <a:latin typeface="黑体" panose="02010609060101010101" pitchFamily="49" charset="-122"/>
                <a:ea typeface="黑体" panose="02010609060101010101" pitchFamily="49" charset="-122"/>
              </a:rPr>
              <a:t>)</a:t>
            </a:r>
          </a:p>
          <a:p>
            <a:pPr eaLnBrk="1" hangingPunct="1">
              <a:buFont typeface="Wingdings" panose="05000000000000000000" pitchFamily="2" charset="2"/>
              <a:buNone/>
              <a:defRPr/>
            </a:pPr>
            <a:r>
              <a:rPr lang="en-US" altLang="zh-CN" sz="2800" b="1" dirty="0" smtClean="0">
                <a:latin typeface="黑体" panose="02010609060101010101" pitchFamily="49" charset="-122"/>
                <a:ea typeface="黑体" panose="02010609060101010101" pitchFamily="49" charset="-122"/>
              </a:rPr>
              <a:t>       </a:t>
            </a:r>
            <a:r>
              <a:rPr lang="zh-CN" altLang="en-US" sz="2800" b="1" dirty="0" smtClean="0">
                <a:latin typeface="黑体" panose="02010609060101010101" pitchFamily="49" charset="-122"/>
                <a:ea typeface="黑体" panose="02010609060101010101" pitchFamily="49" charset="-122"/>
              </a:rPr>
              <a:t>　　   符号：</a:t>
            </a:r>
            <a:r>
              <a:rPr lang="en-US" altLang="zh-CN" sz="2800" b="1" dirty="0" smtClean="0">
                <a:latin typeface="Times New Roman" panose="02020603050405020304" pitchFamily="18" charset="0"/>
              </a:rPr>
              <a:t>Pa  </a:t>
            </a:r>
            <a:r>
              <a:rPr lang="en-US" altLang="zh-CN" sz="2800" b="1" baseline="-25000" dirty="0" smtClean="0"/>
              <a:t>   </a:t>
            </a:r>
            <a:r>
              <a:rPr lang="en-US" altLang="zh-CN" sz="2800" b="1" dirty="0" smtClean="0">
                <a:latin typeface="Times New Roman" panose="02020603050405020304" pitchFamily="18" charset="0"/>
              </a:rPr>
              <a:t>1Pa=1N/m</a:t>
            </a:r>
            <a:r>
              <a:rPr lang="en-US" altLang="zh-CN" sz="2800" b="1" baseline="30000" dirty="0" smtClean="0">
                <a:latin typeface="Times New Roman" panose="02020603050405020304" pitchFamily="18" charset="0"/>
              </a:rPr>
              <a:t>2</a:t>
            </a:r>
            <a:endParaRPr lang="en-US" altLang="zh-CN" sz="2800" b="1" dirty="0" smtClean="0">
              <a:latin typeface="Times New Roman" panose="02020603050405020304" pitchFamily="18" charset="0"/>
            </a:endParaRPr>
          </a:p>
        </p:txBody>
      </p:sp>
      <p:sp>
        <p:nvSpPr>
          <p:cNvPr id="43012" name="矩形 33795"/>
          <p:cNvSpPr>
            <a:spLocks noChangeArrowheads="1"/>
          </p:cNvSpPr>
          <p:nvPr/>
        </p:nvSpPr>
        <p:spPr bwMode="auto">
          <a:xfrm>
            <a:off x="784225" y="2971800"/>
            <a:ext cx="6942138"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Tx/>
              <a:buNone/>
            </a:pPr>
            <a:r>
              <a:rPr lang="zh-CN" altLang="en-US" sz="2400">
                <a:latin typeface="Times New Roman" panose="02020603050405020304" pitchFamily="18" charset="0"/>
                <a:ea typeface="黑体" panose="02010609060101010101" pitchFamily="49" charset="-122"/>
              </a:rPr>
              <a:t>标准大气压（</a:t>
            </a:r>
            <a:r>
              <a:rPr lang="en-US" altLang="zh-CN" sz="2400">
                <a:latin typeface="Times New Roman" panose="02020603050405020304" pitchFamily="18" charset="0"/>
                <a:ea typeface="黑体" panose="02010609060101010101" pitchFamily="49" charset="-122"/>
              </a:rPr>
              <a:t>atm , </a:t>
            </a:r>
            <a:r>
              <a:rPr lang="zh-CN" altLang="en-US" sz="2400">
                <a:latin typeface="Times New Roman" panose="02020603050405020304" pitchFamily="18" charset="0"/>
                <a:ea typeface="黑体" panose="02010609060101010101" pitchFamily="49" charset="-122"/>
              </a:rPr>
              <a:t>也称物理大气压）</a:t>
            </a:r>
          </a:p>
          <a:p>
            <a:pPr eaLnBrk="1" hangingPunct="1">
              <a:spcBef>
                <a:spcPct val="50000"/>
              </a:spcBef>
              <a:buClr>
                <a:schemeClr val="folHlink"/>
              </a:buClr>
              <a:buSzPct val="60000"/>
              <a:buFontTx/>
              <a:buNone/>
            </a:pPr>
            <a:r>
              <a:rPr lang="zh-CN" altLang="en-US" sz="2400">
                <a:latin typeface="Times New Roman" panose="02020603050405020304" pitchFamily="18" charset="0"/>
                <a:ea typeface="黑体" panose="02010609060101010101" pitchFamily="49" charset="-122"/>
              </a:rPr>
              <a:t>巴（</a:t>
            </a:r>
            <a:r>
              <a:rPr lang="en-US" altLang="zh-CN" sz="2400">
                <a:latin typeface="Times New Roman" panose="02020603050405020304" pitchFamily="18" charset="0"/>
                <a:ea typeface="黑体" panose="02010609060101010101" pitchFamily="49" charset="-122"/>
              </a:rPr>
              <a:t>bar</a:t>
            </a:r>
            <a:r>
              <a:rPr lang="zh-CN" altLang="en-US" sz="2400">
                <a:latin typeface="Times New Roman" panose="02020603050405020304" pitchFamily="18" charset="0"/>
                <a:ea typeface="黑体" panose="02010609060101010101" pitchFamily="49" charset="-122"/>
              </a:rPr>
              <a:t>）</a:t>
            </a:r>
          </a:p>
          <a:p>
            <a:pPr eaLnBrk="1" hangingPunct="1">
              <a:spcBef>
                <a:spcPct val="50000"/>
              </a:spcBef>
              <a:buClr>
                <a:schemeClr val="folHlink"/>
              </a:buClr>
              <a:buSzPct val="60000"/>
              <a:buFontTx/>
              <a:buNone/>
            </a:pPr>
            <a:r>
              <a:rPr lang="zh-CN" altLang="en-US" sz="2400">
                <a:latin typeface="Times New Roman" panose="02020603050405020304" pitchFamily="18" charset="0"/>
                <a:ea typeface="黑体" panose="02010609060101010101" pitchFamily="49" charset="-122"/>
              </a:rPr>
              <a:t>工程大气压（</a:t>
            </a:r>
            <a:r>
              <a:rPr lang="en-US" altLang="zh-CN" sz="2400">
                <a:latin typeface="Times New Roman" panose="02020603050405020304" pitchFamily="18" charset="0"/>
                <a:ea typeface="黑体" panose="02010609060101010101" pitchFamily="49" charset="-122"/>
              </a:rPr>
              <a:t>at</a:t>
            </a:r>
            <a:r>
              <a:rPr lang="zh-CN" altLang="en-US" sz="2400">
                <a:latin typeface="Times New Roman" panose="02020603050405020304" pitchFamily="18" charset="0"/>
                <a:ea typeface="黑体" panose="02010609060101010101" pitchFamily="49" charset="-122"/>
              </a:rPr>
              <a:t>）</a:t>
            </a:r>
          </a:p>
          <a:p>
            <a:pPr eaLnBrk="1" hangingPunct="1">
              <a:spcBef>
                <a:spcPct val="50000"/>
              </a:spcBef>
              <a:buClr>
                <a:schemeClr val="folHlink"/>
              </a:buClr>
              <a:buSzPct val="60000"/>
              <a:buFontTx/>
              <a:buNone/>
            </a:pPr>
            <a:r>
              <a:rPr lang="zh-CN" altLang="en-US" sz="2400">
                <a:latin typeface="Times New Roman" panose="02020603050405020304" pitchFamily="18" charset="0"/>
                <a:ea typeface="黑体" panose="02010609060101010101" pitchFamily="49" charset="-122"/>
              </a:rPr>
              <a:t>毫米汞柱（</a:t>
            </a:r>
            <a:r>
              <a:rPr lang="en-US" altLang="zh-CN" sz="2400">
                <a:latin typeface="Times New Roman" panose="02020603050405020304" pitchFamily="18" charset="0"/>
                <a:ea typeface="黑体" panose="02010609060101010101" pitchFamily="49" charset="-122"/>
              </a:rPr>
              <a:t>mmHg)</a:t>
            </a:r>
          </a:p>
          <a:p>
            <a:pPr eaLnBrk="1" hangingPunct="1">
              <a:spcBef>
                <a:spcPct val="50000"/>
              </a:spcBef>
              <a:buClr>
                <a:schemeClr val="folHlink"/>
              </a:buClr>
              <a:buSzPct val="60000"/>
              <a:buFontTx/>
              <a:buNone/>
            </a:pPr>
            <a:r>
              <a:rPr lang="zh-CN" altLang="en-US" sz="2400">
                <a:latin typeface="Times New Roman" panose="02020603050405020304" pitchFamily="18" charset="0"/>
                <a:ea typeface="黑体" panose="02010609060101010101" pitchFamily="49" charset="-122"/>
              </a:rPr>
              <a:t>毫米水柱（</a:t>
            </a:r>
            <a:r>
              <a:rPr lang="en-US" altLang="zh-CN" sz="2400">
                <a:latin typeface="Times New Roman" panose="02020603050405020304" pitchFamily="18" charset="0"/>
                <a:ea typeface="黑体" panose="02010609060101010101" pitchFamily="49" charset="-122"/>
              </a:rPr>
              <a:t>mmH</a:t>
            </a:r>
            <a:r>
              <a:rPr lang="en-US" altLang="zh-CN" sz="2400" baseline="-25000">
                <a:latin typeface="Times New Roman" panose="02020603050405020304" pitchFamily="18" charset="0"/>
                <a:ea typeface="黑体" panose="02010609060101010101" pitchFamily="49" charset="-122"/>
              </a:rPr>
              <a:t>2</a:t>
            </a:r>
            <a:r>
              <a:rPr lang="en-US" altLang="zh-CN" sz="2400">
                <a:latin typeface="Times New Roman" panose="02020603050405020304" pitchFamily="18" charset="0"/>
                <a:ea typeface="黑体" panose="02010609060101010101" pitchFamily="49" charset="-122"/>
              </a:rPr>
              <a:t>O)</a:t>
            </a:r>
          </a:p>
        </p:txBody>
      </p:sp>
      <p:sp>
        <p:nvSpPr>
          <p:cNvPr id="43013" name="左大括号 33796"/>
          <p:cNvSpPr/>
          <p:nvPr/>
        </p:nvSpPr>
        <p:spPr bwMode="auto">
          <a:xfrm>
            <a:off x="539750" y="3213100"/>
            <a:ext cx="192088" cy="2173288"/>
          </a:xfrm>
          <a:prstGeom prst="leftBrace">
            <a:avLst>
              <a:gd name="adj1" fmla="val 93969"/>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3014" name="矩形 33797"/>
          <p:cNvSpPr>
            <a:spLocks noChangeArrowheads="1"/>
          </p:cNvSpPr>
          <p:nvPr/>
        </p:nvSpPr>
        <p:spPr bwMode="auto">
          <a:xfrm>
            <a:off x="395288" y="2339975"/>
            <a:ext cx="2089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a:latin typeface="Tahoma" panose="020B0604030504040204" pitchFamily="34" charset="0"/>
              </a:rPr>
              <a:t> </a:t>
            </a:r>
            <a:r>
              <a:rPr lang="zh-CN" altLang="en-US" sz="2800">
                <a:latin typeface="黑体" panose="02010609060101010101" pitchFamily="49" charset="-122"/>
                <a:ea typeface="黑体" panose="02010609060101010101" pitchFamily="49" charset="-122"/>
              </a:rPr>
              <a:t>工程单位：</a:t>
            </a:r>
          </a:p>
        </p:txBody>
      </p:sp>
    </p:spTree>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3"/>
          <p:cNvSpPr>
            <a:spLocks noGrp="1" noChangeArrowheads="1"/>
          </p:cNvSpPr>
          <p:nvPr>
            <p:ph idx="4294967295"/>
          </p:nvPr>
        </p:nvSpPr>
        <p:spPr>
          <a:xfrm>
            <a:off x="341567" y="453638"/>
            <a:ext cx="8604250" cy="737812"/>
          </a:xfrm>
        </p:spPr>
        <p:txBody>
          <a:bodyPr>
            <a:noAutofit/>
          </a:bodyPr>
          <a:lstStyle/>
          <a:p>
            <a:pPr marL="0" indent="0" eaLnBrk="1" hangingPunct="1">
              <a:spcBef>
                <a:spcPct val="50000"/>
              </a:spcBef>
              <a:buFontTx/>
              <a:buNone/>
            </a:pPr>
            <a:r>
              <a:rPr lang="zh-CN" altLang="en-US" sz="3600" b="1" dirty="0" smtClean="0">
                <a:latin typeface="黑体" panose="02010609060101010101" pitchFamily="49" charset="-122"/>
                <a:ea typeface="黑体" panose="02010609060101010101" pitchFamily="49" charset="-122"/>
              </a:rPr>
              <a:t>常用单位之间的换算</a:t>
            </a:r>
            <a:r>
              <a:rPr lang="zh-CN" altLang="en-US" sz="3600" dirty="0" smtClean="0">
                <a:latin typeface="黑体" panose="02010609060101010101" pitchFamily="49" charset="-122"/>
                <a:ea typeface="黑体" panose="02010609060101010101" pitchFamily="49" charset="-122"/>
              </a:rPr>
              <a:t> </a:t>
            </a:r>
          </a:p>
          <a:p>
            <a:pPr marL="0" indent="0" eaLnBrk="1" hangingPunct="1">
              <a:buFontTx/>
              <a:buNone/>
            </a:pPr>
            <a:r>
              <a:rPr lang="zh-CN" altLang="en-US" sz="2400" dirty="0" smtClean="0"/>
              <a:t>    </a:t>
            </a:r>
            <a:r>
              <a:rPr lang="zh-CN" altLang="en-US" sz="2400" dirty="0"/>
              <a:t> </a:t>
            </a:r>
            <a:endParaRPr lang="en-US" altLang="zh-CN" sz="3200" b="1" dirty="0" smtClean="0">
              <a:solidFill>
                <a:srgbClr val="0070C0"/>
              </a:solidFill>
              <a:latin typeface="Times New Roman" panose="02020603050405020304" pitchFamily="18" charset="0"/>
              <a:cs typeface="Times New Roman" panose="02020603050405020304" pitchFamily="18" charset="0"/>
            </a:endParaRPr>
          </a:p>
        </p:txBody>
      </p:sp>
      <p:sp>
        <p:nvSpPr>
          <p:cNvPr id="44035" name="矩形 7"/>
          <p:cNvSpPr>
            <a:spLocks noChangeArrowheads="1"/>
          </p:cNvSpPr>
          <p:nvPr/>
        </p:nvSpPr>
        <p:spPr bwMode="auto">
          <a:xfrm>
            <a:off x="449263" y="4221163"/>
            <a:ext cx="820896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solidFill>
                  <a:srgbClr val="000000"/>
                </a:solidFill>
                <a:latin typeface="Times New Roman" panose="02020603050405020304" pitchFamily="18" charset="0"/>
                <a:ea typeface="黑体" panose="02010609060101010101" pitchFamily="49" charset="-122"/>
              </a:rPr>
              <a:t>物理学中，把纬度为</a:t>
            </a:r>
            <a:r>
              <a:rPr lang="en-US" altLang="zh-CN" sz="2800" b="1" dirty="0">
                <a:solidFill>
                  <a:srgbClr val="000000"/>
                </a:solidFill>
                <a:latin typeface="Times New Roman" panose="02020603050405020304" pitchFamily="18" charset="0"/>
                <a:ea typeface="黑体" panose="02010609060101010101" pitchFamily="49" charset="-122"/>
              </a:rPr>
              <a:t>45 </a:t>
            </a:r>
            <a:r>
              <a:rPr lang="zh-CN" altLang="en-US" sz="2800" b="1" dirty="0">
                <a:solidFill>
                  <a:srgbClr val="000000"/>
                </a:solidFill>
                <a:latin typeface="Times New Roman" panose="02020603050405020304" pitchFamily="18" charset="0"/>
                <a:ea typeface="黑体" panose="02010609060101010101" pitchFamily="49" charset="-122"/>
              </a:rPr>
              <a:t>的海平面上的常年平均气压定为标准大气压（</a:t>
            </a:r>
            <a:r>
              <a:rPr lang="en-US" altLang="zh-CN" sz="2800" b="1" dirty="0" err="1">
                <a:solidFill>
                  <a:srgbClr val="000000"/>
                </a:solidFill>
                <a:latin typeface="Times New Roman" panose="02020603050405020304" pitchFamily="18" charset="0"/>
                <a:ea typeface="黑体" panose="02010609060101010101" pitchFamily="49" charset="-122"/>
              </a:rPr>
              <a:t>atm</a:t>
            </a:r>
            <a:r>
              <a:rPr lang="zh-CN" altLang="en-US" sz="2800" b="1" dirty="0">
                <a:solidFill>
                  <a:srgbClr val="000000"/>
                </a:solidFill>
                <a:latin typeface="Times New Roman" panose="02020603050405020304" pitchFamily="18" charset="0"/>
                <a:ea typeface="黑体" panose="02010609060101010101" pitchFamily="49" charset="-122"/>
              </a:rPr>
              <a:t>），相当于</a:t>
            </a:r>
            <a:r>
              <a:rPr lang="en-US" altLang="zh-CN" sz="2800" b="1" dirty="0">
                <a:solidFill>
                  <a:srgbClr val="000000"/>
                </a:solidFill>
                <a:latin typeface="Times New Roman" panose="02020603050405020304" pitchFamily="18" charset="0"/>
                <a:ea typeface="黑体" panose="02010609060101010101" pitchFamily="49" charset="-122"/>
              </a:rPr>
              <a:t>101.325 </a:t>
            </a:r>
            <a:r>
              <a:rPr lang="en-US" altLang="zh-CN" sz="2800" b="1" dirty="0" err="1">
                <a:solidFill>
                  <a:srgbClr val="000000"/>
                </a:solidFill>
                <a:latin typeface="Times New Roman" panose="02020603050405020304" pitchFamily="18" charset="0"/>
                <a:ea typeface="黑体" panose="02010609060101010101" pitchFamily="49" charset="-122"/>
              </a:rPr>
              <a:t>kPa</a:t>
            </a:r>
            <a:r>
              <a:rPr lang="zh-CN" altLang="en-US" sz="2800" b="1" dirty="0">
                <a:solidFill>
                  <a:srgbClr val="000000"/>
                </a:solidFill>
                <a:latin typeface="Times New Roman" panose="02020603050405020304" pitchFamily="18" charset="0"/>
                <a:ea typeface="黑体" panose="02010609060101010101" pitchFamily="49" charset="-122"/>
              </a:rPr>
              <a:t>。</a:t>
            </a:r>
            <a:endParaRPr lang="en-US" altLang="zh-CN" sz="2800" b="1" dirty="0">
              <a:solidFill>
                <a:srgbClr val="000000"/>
              </a:solidFill>
              <a:latin typeface="Times New Roman" panose="02020603050405020304" pitchFamily="18" charset="0"/>
              <a:ea typeface="黑体" panose="02010609060101010101" pitchFamily="49" charset="-122"/>
            </a:endParaRPr>
          </a:p>
          <a:p>
            <a:pPr eaLnBrk="1" hangingPunct="1">
              <a:spcBef>
                <a:spcPct val="0"/>
              </a:spcBef>
              <a:buFontTx/>
              <a:buNone/>
            </a:pPr>
            <a:r>
              <a:rPr lang="zh-CN" altLang="en-US" sz="2800" b="1" dirty="0">
                <a:solidFill>
                  <a:srgbClr val="000000"/>
                </a:solidFill>
                <a:latin typeface="Times New Roman" panose="02020603050405020304" pitchFamily="18" charset="0"/>
                <a:ea typeface="黑体" panose="02010609060101010101" pitchFamily="49" charset="-122"/>
              </a:rPr>
              <a:t>物理学上规定，压力为</a:t>
            </a:r>
            <a:r>
              <a:rPr lang="en-US" altLang="zh-CN" sz="2800" b="1" dirty="0">
                <a:solidFill>
                  <a:srgbClr val="000000"/>
                </a:solidFill>
                <a:latin typeface="Times New Roman" panose="02020603050405020304" pitchFamily="18" charset="0"/>
                <a:ea typeface="黑体" panose="02010609060101010101" pitchFamily="49" charset="-122"/>
              </a:rPr>
              <a:t>1</a:t>
            </a:r>
            <a:r>
              <a:rPr lang="zh-CN" altLang="en-US" sz="2800" b="1" dirty="0">
                <a:solidFill>
                  <a:srgbClr val="000000"/>
                </a:solidFill>
                <a:latin typeface="Times New Roman" panose="02020603050405020304" pitchFamily="18" charset="0"/>
                <a:ea typeface="黑体" panose="02010609060101010101" pitchFamily="49" charset="-122"/>
              </a:rPr>
              <a:t>标准大气压、温度为</a:t>
            </a:r>
            <a:r>
              <a:rPr lang="en-US" altLang="zh-CN" sz="2800" b="1" dirty="0">
                <a:solidFill>
                  <a:srgbClr val="000000"/>
                </a:solidFill>
                <a:latin typeface="Times New Roman" panose="02020603050405020304" pitchFamily="18" charset="0"/>
                <a:ea typeface="黑体" panose="02010609060101010101" pitchFamily="49" charset="-122"/>
              </a:rPr>
              <a:t>0</a:t>
            </a:r>
            <a:r>
              <a:rPr lang="zh-CN" altLang="en-US" sz="2800" b="1" dirty="0">
                <a:solidFill>
                  <a:srgbClr val="000000"/>
                </a:solidFill>
                <a:latin typeface="Times New Roman" panose="02020603050405020304" pitchFamily="18" charset="0"/>
                <a:ea typeface="黑体" panose="02010609060101010101" pitchFamily="49" charset="-122"/>
              </a:rPr>
              <a:t>℃的状态称为</a:t>
            </a:r>
            <a:r>
              <a:rPr lang="zh-CN" altLang="en-US" sz="2800" b="1" dirty="0">
                <a:solidFill>
                  <a:srgbClr val="FF0000"/>
                </a:solidFill>
                <a:latin typeface="Times New Roman" panose="02020603050405020304" pitchFamily="18" charset="0"/>
                <a:ea typeface="黑体" panose="02010609060101010101" pitchFamily="49" charset="-122"/>
              </a:rPr>
              <a:t>物理标准状态</a:t>
            </a:r>
          </a:p>
        </p:txBody>
      </p:sp>
      <p:sp>
        <p:nvSpPr>
          <p:cNvPr id="5" name="Rectangle 3"/>
          <p:cNvSpPr txBox="1">
            <a:spLocks noChangeArrowheads="1"/>
          </p:cNvSpPr>
          <p:nvPr/>
        </p:nvSpPr>
        <p:spPr>
          <a:xfrm>
            <a:off x="637472" y="1191450"/>
            <a:ext cx="7822473" cy="2752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Tx/>
              <a:buNone/>
            </a:pPr>
            <a:r>
              <a:rPr lang="en-US" altLang="zh-CN" sz="3200" b="1" dirty="0" smtClean="0">
                <a:solidFill>
                  <a:srgbClr val="0070C0"/>
                </a:solidFill>
                <a:latin typeface="Times New Roman" panose="02020603050405020304" pitchFamily="18" charset="0"/>
              </a:rPr>
              <a:t>1 bar = 10</a:t>
            </a:r>
            <a:r>
              <a:rPr lang="en-US" altLang="zh-CN" sz="3200" b="1" baseline="30000" dirty="0" smtClean="0">
                <a:solidFill>
                  <a:srgbClr val="0070C0"/>
                </a:solidFill>
                <a:latin typeface="Times New Roman" panose="02020603050405020304" pitchFamily="18" charset="0"/>
              </a:rPr>
              <a:t>5  </a:t>
            </a:r>
            <a:r>
              <a:rPr lang="en-US" altLang="zh-CN" sz="3200" b="1" dirty="0" smtClean="0">
                <a:solidFill>
                  <a:srgbClr val="0070C0"/>
                </a:solidFill>
                <a:latin typeface="Times New Roman" panose="02020603050405020304" pitchFamily="18" charset="0"/>
              </a:rPr>
              <a:t>Pa</a:t>
            </a:r>
            <a:endParaRPr lang="en-US" altLang="zh-CN" sz="3200" dirty="0" smtClean="0">
              <a:solidFill>
                <a:srgbClr val="0070C0"/>
              </a:solidFill>
              <a:latin typeface="Times New Roman" panose="02020603050405020304" pitchFamily="18" charset="0"/>
            </a:endParaRPr>
          </a:p>
          <a:p>
            <a:pPr marL="0" indent="0">
              <a:buFontTx/>
              <a:buNone/>
            </a:pPr>
            <a:r>
              <a:rPr lang="en-US" altLang="zh-CN" sz="3200" b="1" dirty="0" smtClean="0">
                <a:solidFill>
                  <a:srgbClr val="0070C0"/>
                </a:solidFill>
                <a:latin typeface="Times New Roman" panose="02020603050405020304" pitchFamily="18" charset="0"/>
              </a:rPr>
              <a:t>1 MPa = 10</a:t>
            </a:r>
            <a:r>
              <a:rPr lang="en-US" altLang="zh-CN" sz="3200" b="1" baseline="30000" dirty="0" smtClean="0">
                <a:solidFill>
                  <a:srgbClr val="0070C0"/>
                </a:solidFill>
                <a:latin typeface="Times New Roman" panose="02020603050405020304" pitchFamily="18" charset="0"/>
              </a:rPr>
              <a:t>6 </a:t>
            </a:r>
            <a:r>
              <a:rPr lang="en-US" altLang="zh-CN" sz="3200" b="1" dirty="0" smtClean="0">
                <a:solidFill>
                  <a:srgbClr val="0070C0"/>
                </a:solidFill>
                <a:latin typeface="Times New Roman" panose="02020603050405020304" pitchFamily="18" charset="0"/>
              </a:rPr>
              <a:t>Pa</a:t>
            </a:r>
            <a:endParaRPr lang="en-US" altLang="zh-CN" sz="3200" dirty="0" smtClean="0">
              <a:solidFill>
                <a:srgbClr val="0070C0"/>
              </a:solidFill>
              <a:latin typeface="Times New Roman" panose="02020603050405020304" pitchFamily="18" charset="0"/>
            </a:endParaRPr>
          </a:p>
          <a:p>
            <a:pPr marL="0" indent="0">
              <a:buFontTx/>
              <a:buNone/>
            </a:pPr>
            <a:r>
              <a:rPr lang="en-US" altLang="zh-CN" sz="3200" b="1" dirty="0" smtClean="0">
                <a:solidFill>
                  <a:srgbClr val="0070C0"/>
                </a:solidFill>
                <a:latin typeface="Times New Roman" panose="02020603050405020304" pitchFamily="18" charset="0"/>
              </a:rPr>
              <a:t>1 </a:t>
            </a:r>
            <a:r>
              <a:rPr lang="en-US" altLang="zh-CN" sz="3200" b="1" dirty="0" err="1" smtClean="0">
                <a:solidFill>
                  <a:srgbClr val="0070C0"/>
                </a:solidFill>
                <a:latin typeface="Times New Roman" panose="02020603050405020304" pitchFamily="18" charset="0"/>
              </a:rPr>
              <a:t>atm</a:t>
            </a:r>
            <a:r>
              <a:rPr lang="en-US" altLang="zh-CN" sz="3200" b="1" dirty="0" smtClean="0">
                <a:solidFill>
                  <a:srgbClr val="0070C0"/>
                </a:solidFill>
                <a:latin typeface="Times New Roman" panose="02020603050405020304" pitchFamily="18" charset="0"/>
              </a:rPr>
              <a:t> = 760 mmHg = 1.01325</a:t>
            </a:r>
            <a:r>
              <a:rPr lang="en-US" altLang="zh-CN" sz="3200" b="1" dirty="0" smtClean="0">
                <a:solidFill>
                  <a:srgbClr val="0070C0"/>
                </a:solidFill>
                <a:latin typeface="Times New Roman" panose="02020603050405020304" pitchFamily="18" charset="0"/>
                <a:sym typeface="Symbol" panose="05050102010706020507" pitchFamily="18" charset="2"/>
              </a:rPr>
              <a:t></a:t>
            </a:r>
            <a:r>
              <a:rPr lang="en-US" altLang="zh-CN" sz="3200" b="1" dirty="0" smtClean="0">
                <a:solidFill>
                  <a:srgbClr val="0070C0"/>
                </a:solidFill>
                <a:latin typeface="Times New Roman" panose="02020603050405020304" pitchFamily="18" charset="0"/>
              </a:rPr>
              <a:t>10</a:t>
            </a:r>
            <a:r>
              <a:rPr lang="en-US" altLang="zh-CN" sz="3200" b="1" baseline="30000" dirty="0" smtClean="0">
                <a:solidFill>
                  <a:srgbClr val="0070C0"/>
                </a:solidFill>
                <a:latin typeface="Times New Roman" panose="02020603050405020304" pitchFamily="18" charset="0"/>
              </a:rPr>
              <a:t>5</a:t>
            </a:r>
            <a:r>
              <a:rPr lang="en-US" altLang="zh-CN" sz="3200" baseline="30000" dirty="0" smtClean="0">
                <a:solidFill>
                  <a:srgbClr val="0070C0"/>
                </a:solidFill>
                <a:latin typeface="Times New Roman" panose="02020603050405020304" pitchFamily="18" charset="0"/>
              </a:rPr>
              <a:t> </a:t>
            </a:r>
            <a:r>
              <a:rPr lang="en-US" altLang="zh-CN" sz="3200" b="1" dirty="0" smtClean="0">
                <a:solidFill>
                  <a:srgbClr val="0070C0"/>
                </a:solidFill>
                <a:latin typeface="Times New Roman" panose="02020603050405020304" pitchFamily="18" charset="0"/>
              </a:rPr>
              <a:t>Pa</a:t>
            </a:r>
            <a:endParaRPr lang="en-US" altLang="zh-CN" sz="3200" dirty="0" smtClean="0">
              <a:solidFill>
                <a:srgbClr val="0070C0"/>
              </a:solidFill>
              <a:latin typeface="Times New Roman" panose="02020603050405020304" pitchFamily="18" charset="0"/>
            </a:endParaRPr>
          </a:p>
          <a:p>
            <a:pPr marL="0" indent="0">
              <a:buFontTx/>
              <a:buNone/>
            </a:pPr>
            <a:r>
              <a:rPr lang="en-US" altLang="zh-CN" sz="3200" b="1" dirty="0" smtClean="0">
                <a:solidFill>
                  <a:srgbClr val="0070C0"/>
                </a:solidFill>
                <a:latin typeface="Times New Roman" panose="02020603050405020304" pitchFamily="18" charset="0"/>
              </a:rPr>
              <a:t>1 mmHg =133.3 Pa</a:t>
            </a:r>
          </a:p>
          <a:p>
            <a:pPr marL="0" indent="0">
              <a:buFontTx/>
              <a:buNone/>
            </a:pPr>
            <a:r>
              <a:rPr lang="en-US" altLang="zh-CN" sz="3200" b="1" dirty="0" smtClean="0">
                <a:solidFill>
                  <a:srgbClr val="0070C0"/>
                </a:solidFill>
                <a:latin typeface="Times New Roman" panose="02020603050405020304" pitchFamily="18" charset="0"/>
              </a:rPr>
              <a:t>1 at=735.6 mmHg = 9.80665</a:t>
            </a:r>
            <a:r>
              <a:rPr lang="en-US" altLang="zh-CN" sz="3200" b="1" dirty="0" smtClean="0">
                <a:solidFill>
                  <a:srgbClr val="0070C0"/>
                </a:solidFill>
                <a:latin typeface="Times New Roman" panose="02020603050405020304" pitchFamily="18" charset="0"/>
                <a:sym typeface="Symbol" panose="05050102010706020507" pitchFamily="18" charset="2"/>
              </a:rPr>
              <a:t></a:t>
            </a:r>
            <a:r>
              <a:rPr lang="en-US" altLang="zh-CN" sz="3200" b="1" dirty="0" smtClean="0">
                <a:solidFill>
                  <a:srgbClr val="0070C0"/>
                </a:solidFill>
                <a:latin typeface="Times New Roman" panose="02020603050405020304" pitchFamily="18" charset="0"/>
              </a:rPr>
              <a:t>10</a:t>
            </a:r>
            <a:r>
              <a:rPr lang="en-US" altLang="zh-CN" sz="3200" b="1" baseline="30000" dirty="0" smtClean="0">
                <a:solidFill>
                  <a:srgbClr val="0070C0"/>
                </a:solidFill>
                <a:latin typeface="Times New Roman" panose="02020603050405020304" pitchFamily="18" charset="0"/>
              </a:rPr>
              <a:t>4</a:t>
            </a:r>
            <a:r>
              <a:rPr lang="en-US" altLang="zh-CN" sz="3200" baseline="30000" dirty="0" smtClean="0">
                <a:solidFill>
                  <a:srgbClr val="0070C0"/>
                </a:solidFill>
                <a:latin typeface="Times New Roman" panose="02020603050405020304" pitchFamily="18" charset="0"/>
              </a:rPr>
              <a:t> </a:t>
            </a:r>
            <a:r>
              <a:rPr lang="en-US" altLang="zh-CN" sz="3200" b="1" dirty="0" smtClean="0">
                <a:solidFill>
                  <a:srgbClr val="0070C0"/>
                </a:solidFill>
                <a:latin typeface="Times New Roman" panose="02020603050405020304" pitchFamily="18" charset="0"/>
              </a:rPr>
              <a:t>Pa</a:t>
            </a:r>
            <a:endParaRPr lang="en-US" altLang="zh-CN" sz="3200" b="1" dirty="0" smtClean="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占位符 31746"/>
          <p:cNvSpPr>
            <a:spLocks noGrp="1" noChangeArrowheads="1"/>
          </p:cNvSpPr>
          <p:nvPr>
            <p:ph idx="1"/>
          </p:nvPr>
        </p:nvSpPr>
        <p:spPr>
          <a:xfrm>
            <a:off x="323850" y="476251"/>
            <a:ext cx="8534400" cy="605674"/>
          </a:xfrm>
        </p:spPr>
        <p:txBody>
          <a:bodyPr>
            <a:noAutofit/>
          </a:bodyPr>
          <a:lstStyle/>
          <a:p>
            <a:pPr marL="0" indent="0" eaLnBrk="1" hangingPunct="1">
              <a:buFontTx/>
              <a:buNone/>
              <a:defRPr/>
            </a:pPr>
            <a:r>
              <a:rPr lang="en-US" altLang="zh-CN" sz="2800" b="1" dirty="0" smtClean="0"/>
              <a:t>3</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、压力的测量</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0" indent="0" eaLnBrk="1" hangingPunct="1">
              <a:buFontTx/>
              <a:buNone/>
              <a:defRPr/>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b="1" baseline="-25000" dirty="0" smtClean="0">
              <a:solidFill>
                <a:srgbClr val="FF0000"/>
              </a:solidFill>
              <a:latin typeface="Times New Roman" panose="02020603050405020304" pitchFamily="18" charset="0"/>
              <a:ea typeface="楷体_GB2312" pitchFamily="49" charset="-122"/>
            </a:endParaRPr>
          </a:p>
        </p:txBody>
      </p:sp>
      <p:sp>
        <p:nvSpPr>
          <p:cNvPr id="2" name="矩形 1"/>
          <p:cNvSpPr/>
          <p:nvPr/>
        </p:nvSpPr>
        <p:spPr>
          <a:xfrm>
            <a:off x="824193" y="4035824"/>
            <a:ext cx="7598333" cy="1126462"/>
          </a:xfrm>
          <a:prstGeom prst="rect">
            <a:avLst/>
          </a:prstGeom>
        </p:spPr>
        <p:txBody>
          <a:bodyPr wrap="square">
            <a:spAutoFit/>
          </a:bodyPr>
          <a:lstStyle/>
          <a:p>
            <a:pPr>
              <a:spcBef>
                <a:spcPct val="50000"/>
              </a:spcBef>
              <a:buClr>
                <a:schemeClr val="folHlink"/>
              </a:buClr>
              <a:buSzPct val="60000"/>
              <a:defRPr/>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压力表</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测得的压力称为表压力，用符号</a:t>
            </a:r>
            <a:r>
              <a:rPr lang="en-US" altLang="zh-CN" sz="2800" b="1" i="1"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g</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表示</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a:lnSpc>
                <a:spcPct val="90000"/>
              </a:lnSpc>
              <a:spcBef>
                <a:spcPct val="50000"/>
              </a:spcBef>
              <a:buClr>
                <a:schemeClr val="folHlink"/>
              </a:buClr>
              <a:buSzPct val="60000"/>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真空表测得的压力称为真空度，用符号</a:t>
            </a:r>
            <a:r>
              <a:rPr lang="en-US" altLang="zh-CN" sz="2800" b="1" i="1"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表示</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矩形 2"/>
          <p:cNvSpPr/>
          <p:nvPr/>
        </p:nvSpPr>
        <p:spPr>
          <a:xfrm>
            <a:off x="824193" y="1313840"/>
            <a:ext cx="6676828" cy="523220"/>
          </a:xfrm>
          <a:prstGeom prst="rect">
            <a:avLst/>
          </a:prstGeom>
        </p:spPr>
        <p:txBody>
          <a:bodyPr wrap="none">
            <a:sp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流体压力通常用压力表或真空表来测量。</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矩形 3"/>
          <p:cNvSpPr/>
          <p:nvPr/>
        </p:nvSpPr>
        <p:spPr>
          <a:xfrm>
            <a:off x="824194" y="2057865"/>
            <a:ext cx="7531050" cy="1384995"/>
          </a:xfrm>
          <a:prstGeom prst="rect">
            <a:avLst/>
          </a:prstGeom>
        </p:spPr>
        <p:txBody>
          <a:bodyPr wrap="square">
            <a:spAutoFit/>
          </a:bodyPr>
          <a:lstStyle/>
          <a:p>
            <a:pPr>
              <a:defRP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由于这些表中的测压元件受到其所处的空间压力的作用，因此</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压力表或真空表所测得的压力（即表上的读数）并非被测流体的真实压力</a:t>
            </a:r>
            <a:r>
              <a:rPr lang="en-US" altLang="zh-CN" sz="2800" b="1"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p</a:t>
            </a:r>
            <a:endParaRPr lang="en-US" altLang="zh-CN" sz="2800" b="1"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200714"/>
          <p:cNvSpPr>
            <a:spLocks noChangeArrowheads="1"/>
          </p:cNvSpPr>
          <p:nvPr/>
        </p:nvSpPr>
        <p:spPr bwMode="auto">
          <a:xfrm>
            <a:off x="0" y="3514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6083" name="矩形 200717"/>
          <p:cNvSpPr>
            <a:spLocks noChangeArrowheads="1"/>
          </p:cNvSpPr>
          <p:nvPr/>
        </p:nvSpPr>
        <p:spPr bwMode="auto">
          <a:xfrm>
            <a:off x="0" y="35194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46084" name="矩形 200722"/>
          <p:cNvSpPr>
            <a:spLocks noChangeArrowheads="1"/>
          </p:cNvSpPr>
          <p:nvPr/>
        </p:nvSpPr>
        <p:spPr bwMode="auto">
          <a:xfrm>
            <a:off x="2613025" y="4973638"/>
            <a:ext cx="2047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600"/>
              <a:t> </a:t>
            </a:r>
            <a:endParaRPr lang="en-US" altLang="zh-CN" sz="2400">
              <a:latin typeface="Times New Roman" panose="02020603050405020304" pitchFamily="18" charset="0"/>
            </a:endParaRPr>
          </a:p>
        </p:txBody>
      </p:sp>
      <p:graphicFrame>
        <p:nvGraphicFramePr>
          <p:cNvPr id="46085" name="对象 200709"/>
          <p:cNvGraphicFramePr/>
          <p:nvPr/>
        </p:nvGraphicFramePr>
        <p:xfrm>
          <a:off x="4716463" y="4284663"/>
          <a:ext cx="4102100" cy="568325"/>
        </p:xfrm>
        <a:graphic>
          <a:graphicData uri="http://schemas.openxmlformats.org/presentationml/2006/ole">
            <mc:AlternateContent xmlns:mc="http://schemas.openxmlformats.org/markup-compatibility/2006">
              <mc:Choice xmlns:v="urn:schemas-microsoft-com:vml" Requires="v">
                <p:oleObj spid="_x0000_s25614" r:id="rId3" imgW="292100" imgH="8255" progId="Equation.DSMT4">
                  <p:embed/>
                </p:oleObj>
              </mc:Choice>
              <mc:Fallback>
                <p:oleObj r:id="rId3" imgW="292100" imgH="8255" progId="Equation.DSMT4">
                  <p:embed/>
                  <p:pic>
                    <p:nvPicPr>
                      <p:cNvPr id="0" name="对象 20070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4284663"/>
                        <a:ext cx="41021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86" name="对象 200715"/>
          <p:cNvGraphicFramePr/>
          <p:nvPr/>
        </p:nvGraphicFramePr>
        <p:xfrm>
          <a:off x="150813" y="4286250"/>
          <a:ext cx="4133850" cy="600075"/>
        </p:xfrm>
        <a:graphic>
          <a:graphicData uri="http://schemas.openxmlformats.org/presentationml/2006/ole">
            <mc:AlternateContent xmlns:mc="http://schemas.openxmlformats.org/markup-compatibility/2006">
              <mc:Choice xmlns:v="urn:schemas-microsoft-com:vml" Requires="v">
                <p:oleObj spid="_x0000_s25615" r:id="rId5" imgW="292100" imgH="12700" progId="Equation.DSMT4">
                  <p:embed/>
                </p:oleObj>
              </mc:Choice>
              <mc:Fallback>
                <p:oleObj r:id="rId5" imgW="292100" imgH="12700" progId="Equation.DSMT4">
                  <p:embed/>
                  <p:pic>
                    <p:nvPicPr>
                      <p:cNvPr id="0" name="对象 20071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813" y="4286250"/>
                        <a:ext cx="41338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179388" y="1716088"/>
            <a:ext cx="4256087" cy="32575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9" name="矩形 18"/>
          <p:cNvSpPr/>
          <p:nvPr/>
        </p:nvSpPr>
        <p:spPr>
          <a:xfrm>
            <a:off x="4629150" y="1716088"/>
            <a:ext cx="4264025" cy="32575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6089" name="矩形 19"/>
          <p:cNvSpPr>
            <a:spLocks noChangeArrowheads="1"/>
          </p:cNvSpPr>
          <p:nvPr/>
        </p:nvSpPr>
        <p:spPr bwMode="auto">
          <a:xfrm>
            <a:off x="330200" y="188913"/>
            <a:ext cx="82089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0000"/>
                </a:solidFill>
                <a:latin typeface="Times New Roman" panose="02020603050405020304" pitchFamily="18" charset="0"/>
                <a:ea typeface="黑体" panose="02010609060101010101" pitchFamily="49" charset="-122"/>
              </a:rPr>
              <a:t>当压力表或真空表放置在大气环境中时，真实压力</a:t>
            </a:r>
            <a:r>
              <a:rPr lang="en-US" altLang="zh-CN" sz="2800" b="1" i="1">
                <a:solidFill>
                  <a:srgbClr val="FF0000"/>
                </a:solidFill>
                <a:latin typeface="Times New Roman" panose="02020603050405020304" pitchFamily="18" charset="0"/>
                <a:ea typeface="黑体" panose="02010609060101010101" pitchFamily="49" charset="-122"/>
              </a:rPr>
              <a:t>p </a:t>
            </a:r>
            <a:r>
              <a:rPr lang="zh-CN" altLang="en-US" sz="2800" b="1">
                <a:solidFill>
                  <a:srgbClr val="000000"/>
                </a:solidFill>
                <a:latin typeface="Times New Roman" panose="02020603050405020304" pitchFamily="18" charset="0"/>
                <a:ea typeface="黑体" panose="02010609060101010101" pitchFamily="49" charset="-122"/>
              </a:rPr>
              <a:t>、表压力</a:t>
            </a:r>
            <a:r>
              <a:rPr lang="en-US" altLang="zh-CN" sz="2800" b="1" i="1">
                <a:solidFill>
                  <a:srgbClr val="FF0000"/>
                </a:solidFill>
                <a:latin typeface="Times New Roman" panose="02020603050405020304" pitchFamily="18" charset="0"/>
                <a:ea typeface="黑体" panose="02010609060101010101" pitchFamily="49" charset="-122"/>
              </a:rPr>
              <a:t>p</a:t>
            </a:r>
            <a:r>
              <a:rPr lang="en-US" altLang="zh-CN" sz="2800" b="1" baseline="-25000">
                <a:solidFill>
                  <a:srgbClr val="FF0000"/>
                </a:solidFill>
                <a:latin typeface="Times New Roman" panose="02020603050405020304" pitchFamily="18" charset="0"/>
                <a:ea typeface="黑体" panose="02010609060101010101" pitchFamily="49" charset="-122"/>
              </a:rPr>
              <a:t>g </a:t>
            </a:r>
            <a:r>
              <a:rPr lang="zh-CN" altLang="en-US" sz="2800" b="1">
                <a:solidFill>
                  <a:srgbClr val="000000"/>
                </a:solidFill>
                <a:latin typeface="Times New Roman" panose="02020603050405020304" pitchFamily="18" charset="0"/>
                <a:ea typeface="黑体" panose="02010609060101010101" pitchFamily="49" charset="-122"/>
              </a:rPr>
              <a:t>、真空度</a:t>
            </a:r>
            <a:r>
              <a:rPr lang="en-US" altLang="zh-CN" sz="2800" b="1" i="1">
                <a:solidFill>
                  <a:srgbClr val="FF0000"/>
                </a:solidFill>
                <a:latin typeface="Times New Roman" panose="02020603050405020304" pitchFamily="18" charset="0"/>
                <a:ea typeface="黑体" panose="02010609060101010101" pitchFamily="49" charset="-122"/>
              </a:rPr>
              <a:t>p</a:t>
            </a:r>
            <a:r>
              <a:rPr lang="en-US" altLang="zh-CN" sz="2800" b="1" baseline="-25000">
                <a:solidFill>
                  <a:srgbClr val="FF0000"/>
                </a:solidFill>
                <a:latin typeface="Times New Roman" panose="02020603050405020304" pitchFamily="18" charset="0"/>
                <a:ea typeface="黑体" panose="02010609060101010101" pitchFamily="49" charset="-122"/>
              </a:rPr>
              <a:t>v</a:t>
            </a:r>
            <a:r>
              <a:rPr lang="zh-CN" altLang="en-US" sz="2800" b="1">
                <a:solidFill>
                  <a:srgbClr val="000000"/>
                </a:solidFill>
                <a:latin typeface="Times New Roman" panose="02020603050405020304" pitchFamily="18" charset="0"/>
                <a:ea typeface="黑体" panose="02010609060101010101" pitchFamily="49" charset="-122"/>
              </a:rPr>
              <a:t>以及当地当时大气压力</a:t>
            </a:r>
            <a:r>
              <a:rPr lang="en-US" altLang="zh-CN" sz="2800" b="1" i="1">
                <a:solidFill>
                  <a:srgbClr val="FF0000"/>
                </a:solidFill>
                <a:latin typeface="Times New Roman" panose="02020603050405020304" pitchFamily="18" charset="0"/>
                <a:ea typeface="黑体" panose="02010609060101010101" pitchFamily="49" charset="-122"/>
              </a:rPr>
              <a:t>p</a:t>
            </a:r>
            <a:r>
              <a:rPr lang="en-US" altLang="zh-CN" sz="2800" b="1" baseline="-25000">
                <a:solidFill>
                  <a:srgbClr val="FF0000"/>
                </a:solidFill>
                <a:latin typeface="Times New Roman" panose="02020603050405020304" pitchFamily="18" charset="0"/>
                <a:ea typeface="黑体" panose="02010609060101010101" pitchFamily="49" charset="-122"/>
              </a:rPr>
              <a:t>b</a:t>
            </a:r>
            <a:r>
              <a:rPr lang="zh-CN" altLang="en-US" sz="2800" b="1">
                <a:latin typeface="Times New Roman" panose="02020603050405020304" pitchFamily="18" charset="0"/>
                <a:ea typeface="黑体" panose="02010609060101010101" pitchFamily="49" charset="-122"/>
              </a:rPr>
              <a:t>之间的关系为：</a:t>
            </a:r>
            <a:endParaRPr lang="en-US" altLang="zh-CN" sz="2800" b="1">
              <a:latin typeface="Times New Roman" panose="02020603050405020304" pitchFamily="18" charset="0"/>
              <a:ea typeface="黑体" panose="02010609060101010101" pitchFamily="49" charset="-122"/>
            </a:endParaRPr>
          </a:p>
          <a:p>
            <a:pPr eaLnBrk="1" hangingPunct="1">
              <a:spcBef>
                <a:spcPct val="0"/>
              </a:spcBef>
              <a:buFontTx/>
              <a:buNone/>
            </a:pPr>
            <a:endParaRPr lang="zh-CN" altLang="en-US" sz="2800" b="1">
              <a:solidFill>
                <a:srgbClr val="FF0000"/>
              </a:solidFill>
              <a:ea typeface="黑体" panose="02010609060101010101" pitchFamily="49" charset="-122"/>
            </a:endParaRPr>
          </a:p>
        </p:txBody>
      </p:sp>
      <p:pic>
        <p:nvPicPr>
          <p:cNvPr id="46090" name="图片 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39800" y="1731963"/>
            <a:ext cx="7345363"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4294967295"/>
          </p:nvPr>
        </p:nvSpPr>
        <p:spPr>
          <a:xfrm>
            <a:off x="539750" y="2133600"/>
            <a:ext cx="8229600" cy="2951163"/>
          </a:xfrm>
        </p:spPr>
        <p:txBody>
          <a:bodyPr/>
          <a:lstStyle/>
          <a:p>
            <a:pPr marL="0" indent="0" eaLnBrk="1" hangingPunct="1"/>
            <a:endParaRPr lang="en-US" altLang="zh-CN" smtClean="0">
              <a:latin typeface="宋体" panose="02010600030101010101" pitchFamily="2" charset="-122"/>
            </a:endParaRPr>
          </a:p>
          <a:p>
            <a:pPr marL="0" indent="0" eaLnBrk="1" hangingPunct="1">
              <a:buFontTx/>
              <a:buNone/>
            </a:pPr>
            <a:r>
              <a:rPr lang="zh-CN" altLang="en-US" sz="3600" b="1" smtClean="0">
                <a:latin typeface="隶书" panose="02010509060101010101" pitchFamily="49" charset="-122"/>
                <a:ea typeface="黑体" panose="02010609060101010101" pitchFamily="49" charset="-122"/>
              </a:rPr>
              <a:t>作为工质状态参数的压力应该是</a:t>
            </a:r>
            <a:r>
              <a:rPr lang="zh-CN" altLang="en-US" sz="3600" b="1" smtClean="0">
                <a:solidFill>
                  <a:srgbClr val="FF0000"/>
                </a:solidFill>
                <a:latin typeface="隶书" panose="02010509060101010101" pitchFamily="49" charset="-122"/>
                <a:ea typeface="黑体" panose="02010609060101010101" pitchFamily="49" charset="-122"/>
              </a:rPr>
              <a:t>真实压力</a:t>
            </a:r>
            <a:r>
              <a:rPr lang="en-US" altLang="zh-CN" sz="3600" b="1" i="1" smtClean="0">
                <a:latin typeface="Times New Roman" panose="02020603050405020304" pitchFamily="18" charset="0"/>
                <a:ea typeface="黑体" panose="02010609060101010101" pitchFamily="49" charset="-122"/>
              </a:rPr>
              <a:t>p</a:t>
            </a:r>
            <a:r>
              <a:rPr lang="zh-CN" altLang="en-US" sz="3600" b="1" smtClean="0">
                <a:latin typeface="隶书" panose="02010509060101010101" pitchFamily="49" charset="-122"/>
                <a:ea typeface="黑体" panose="02010609060101010101" pitchFamily="49" charset="-122"/>
              </a:rPr>
              <a:t>，而不是表压力或真空度。在后面的分析与计算中，所要用到的压力均为真实压力</a:t>
            </a:r>
            <a:endParaRPr lang="zh-CN" altLang="en-US" sz="3600" b="1" i="1" smtClean="0">
              <a:latin typeface="Times New Roman" panose="02020603050405020304" pitchFamily="18" charset="0"/>
              <a:ea typeface="黑体" panose="02010609060101010101" pitchFamily="49" charset="-122"/>
            </a:endParaRPr>
          </a:p>
        </p:txBody>
      </p:sp>
      <p:sp>
        <p:nvSpPr>
          <p:cNvPr id="47107" name="矩形 200720"/>
          <p:cNvSpPr>
            <a:spLocks noChangeArrowheads="1"/>
          </p:cNvSpPr>
          <p:nvPr/>
        </p:nvSpPr>
        <p:spPr bwMode="auto">
          <a:xfrm>
            <a:off x="395288" y="620713"/>
            <a:ext cx="8661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隶书" panose="02010509060101010101" pitchFamily="49" charset="-122"/>
                <a:ea typeface="黑体" panose="02010609060101010101" pitchFamily="49" charset="-122"/>
              </a:rPr>
              <a:t>思考：作为工质状态参数的压力应该是哪个压力？</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35841"/>
          <p:cNvSpPr>
            <a:spLocks noGrp="1" noChangeArrowheads="1"/>
          </p:cNvSpPr>
          <p:nvPr>
            <p:ph type="title"/>
          </p:nvPr>
        </p:nvSpPr>
        <p:spPr>
          <a:xfrm>
            <a:off x="457200" y="301625"/>
            <a:ext cx="7793038" cy="687388"/>
          </a:xfrm>
        </p:spPr>
        <p:txBody>
          <a:bodyPr/>
          <a:lstStyle/>
          <a:p>
            <a:pPr algn="l" eaLnBrk="1" hangingPunct="1"/>
            <a:r>
              <a:rPr lang="zh-CN" altLang="en-US" sz="3600" b="1" smtClean="0">
                <a:solidFill>
                  <a:schemeClr val="tx1"/>
                </a:solidFill>
                <a:ea typeface="黑体" panose="02010609060101010101" pitchFamily="49" charset="-122"/>
              </a:rPr>
              <a:t>三、比体积和密度</a:t>
            </a:r>
          </a:p>
        </p:txBody>
      </p:sp>
      <p:sp>
        <p:nvSpPr>
          <p:cNvPr id="35843" name="内容占位符 35842"/>
          <p:cNvSpPr>
            <a:spLocks noGrp="1" noChangeArrowheads="1"/>
          </p:cNvSpPr>
          <p:nvPr>
            <p:ph idx="1"/>
          </p:nvPr>
        </p:nvSpPr>
        <p:spPr>
          <a:xfrm>
            <a:off x="1042988" y="5589588"/>
            <a:ext cx="5562600" cy="990600"/>
          </a:xfrm>
        </p:spPr>
        <p:txBody>
          <a:bodyPr>
            <a:normAutofit/>
          </a:bodyPr>
          <a:lstStyle/>
          <a:p>
            <a:pPr eaLnBrk="1" hangingPunct="1">
              <a:spcBef>
                <a:spcPct val="0"/>
              </a:spcBef>
              <a:buFontTx/>
              <a:buNone/>
            </a:pPr>
            <a:r>
              <a:rPr lang="zh-CN" altLang="en-US" sz="3200" b="1" dirty="0" smtClean="0">
                <a:latin typeface="黑体" panose="02010609060101010101" pitchFamily="49" charset="-122"/>
                <a:ea typeface="黑体" panose="02010609060101010101" pitchFamily="49" charset="-122"/>
              </a:rPr>
              <a:t>比体积和密度互为</a:t>
            </a:r>
            <a:r>
              <a:rPr lang="zh-CN" altLang="en-US" sz="3200" b="1" dirty="0" smtClean="0">
                <a:latin typeface="黑体" panose="02010609060101010101" pitchFamily="49" charset="-122"/>
                <a:ea typeface="黑体" panose="02010609060101010101" pitchFamily="49" charset="-122"/>
              </a:rPr>
              <a:t>倒数</a:t>
            </a:r>
            <a:endParaRPr lang="en-US" altLang="zh-CN" sz="3200" b="1" dirty="0" smtClean="0">
              <a:latin typeface="黑体" panose="02010609060101010101" pitchFamily="49" charset="-122"/>
              <a:ea typeface="黑体" panose="02010609060101010101" pitchFamily="49" charset="-122"/>
            </a:endParaRPr>
          </a:p>
        </p:txBody>
      </p:sp>
      <p:sp>
        <p:nvSpPr>
          <p:cNvPr id="48132" name="矩形 35843"/>
          <p:cNvSpPr>
            <a:spLocks noChangeArrowheads="1"/>
          </p:cNvSpPr>
          <p:nvPr/>
        </p:nvSpPr>
        <p:spPr bwMode="auto">
          <a:xfrm>
            <a:off x="762000" y="1295400"/>
            <a:ext cx="14081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比体积</a:t>
            </a:r>
          </a:p>
        </p:txBody>
      </p:sp>
      <p:sp>
        <p:nvSpPr>
          <p:cNvPr id="48133" name="矩形 35844"/>
          <p:cNvSpPr>
            <a:spLocks noChangeArrowheads="1"/>
          </p:cNvSpPr>
          <p:nvPr/>
        </p:nvSpPr>
        <p:spPr bwMode="auto">
          <a:xfrm>
            <a:off x="1752600" y="1981200"/>
            <a:ext cx="47164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单位质量物质所占的体积</a:t>
            </a:r>
          </a:p>
        </p:txBody>
      </p:sp>
      <p:sp>
        <p:nvSpPr>
          <p:cNvPr id="35846" name="矩形 35845"/>
          <p:cNvSpPr>
            <a:spLocks noChangeArrowheads="1"/>
          </p:cNvSpPr>
          <p:nvPr/>
        </p:nvSpPr>
        <p:spPr bwMode="auto">
          <a:xfrm>
            <a:off x="838200" y="3505200"/>
            <a:ext cx="1000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密度</a:t>
            </a:r>
          </a:p>
        </p:txBody>
      </p:sp>
      <p:sp>
        <p:nvSpPr>
          <p:cNvPr id="35847" name="矩形 35846"/>
          <p:cNvSpPr>
            <a:spLocks noChangeArrowheads="1"/>
          </p:cNvSpPr>
          <p:nvPr/>
        </p:nvSpPr>
        <p:spPr bwMode="auto">
          <a:xfrm>
            <a:off x="1676400" y="4114800"/>
            <a:ext cx="3892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单位体积物质的质量</a:t>
            </a:r>
          </a:p>
        </p:txBody>
      </p:sp>
      <p:graphicFrame>
        <p:nvGraphicFramePr>
          <p:cNvPr id="48136" name="对象 35847"/>
          <p:cNvGraphicFramePr/>
          <p:nvPr/>
        </p:nvGraphicFramePr>
        <p:xfrm>
          <a:off x="6477000" y="1752600"/>
          <a:ext cx="1066800" cy="1035050"/>
        </p:xfrm>
        <a:graphic>
          <a:graphicData uri="http://schemas.openxmlformats.org/presentationml/2006/ole">
            <mc:AlternateContent xmlns:mc="http://schemas.openxmlformats.org/markup-compatibility/2006">
              <mc:Choice xmlns:v="urn:schemas-microsoft-com:vml" Requires="v">
                <p:oleObj spid="_x0000_s26643" r:id="rId4" imgW="46355" imgH="42545" progId="Equation.3">
                  <p:embed/>
                </p:oleObj>
              </mc:Choice>
              <mc:Fallback>
                <p:oleObj r:id="rId4" imgW="46355" imgH="42545" progId="Equation.3">
                  <p:embed/>
                  <p:pic>
                    <p:nvPicPr>
                      <p:cNvPr id="0" name="对象 3584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1752600"/>
                        <a:ext cx="10668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49" name="对象 35848"/>
          <p:cNvGraphicFramePr/>
          <p:nvPr/>
        </p:nvGraphicFramePr>
        <p:xfrm>
          <a:off x="5580063" y="3933825"/>
          <a:ext cx="1166812" cy="1035050"/>
        </p:xfrm>
        <a:graphic>
          <a:graphicData uri="http://schemas.openxmlformats.org/presentationml/2006/ole">
            <mc:AlternateContent xmlns:mc="http://schemas.openxmlformats.org/markup-compatibility/2006">
              <mc:Choice xmlns:v="urn:schemas-microsoft-com:vml" Requires="v">
                <p:oleObj spid="_x0000_s26644" r:id="rId6" imgW="55245" imgH="42545" progId="Equation.3">
                  <p:embed/>
                </p:oleObj>
              </mc:Choice>
              <mc:Fallback>
                <p:oleObj r:id="rId6" imgW="55245" imgH="42545" progId="Equation.3">
                  <p:embed/>
                  <p:pic>
                    <p:nvPicPr>
                      <p:cNvPr id="0" name="对象 3584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3933825"/>
                        <a:ext cx="1166812"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0" name="矩形 35849"/>
          <p:cNvSpPr>
            <a:spLocks noChangeArrowheads="1"/>
          </p:cNvSpPr>
          <p:nvPr/>
        </p:nvSpPr>
        <p:spPr bwMode="auto">
          <a:xfrm>
            <a:off x="1676400" y="4724400"/>
            <a:ext cx="24987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单位：</a:t>
            </a:r>
            <a:r>
              <a:rPr lang="en-US" altLang="zh-CN">
                <a:latin typeface="Times New Roman" panose="02020603050405020304" pitchFamily="18" charset="0"/>
              </a:rPr>
              <a:t>kg/m3</a:t>
            </a:r>
            <a:endParaRPr lang="en-US" altLang="zh-CN">
              <a:latin typeface="Times New Roman" panose="02020603050405020304" pitchFamily="18" charset="0"/>
              <a:cs typeface="Times New Roman" panose="02020603050405020304" pitchFamily="18" charset="0"/>
            </a:endParaRPr>
          </a:p>
        </p:txBody>
      </p:sp>
      <p:sp>
        <p:nvSpPr>
          <p:cNvPr id="48139" name="矩形 35850"/>
          <p:cNvSpPr>
            <a:spLocks noChangeArrowheads="1"/>
          </p:cNvSpPr>
          <p:nvPr/>
        </p:nvSpPr>
        <p:spPr bwMode="auto">
          <a:xfrm>
            <a:off x="1752600" y="2667000"/>
            <a:ext cx="2474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单位：</a:t>
            </a:r>
            <a:r>
              <a:rPr lang="en-US" altLang="zh-CN">
                <a:latin typeface="Times New Roman" panose="02020603050405020304" pitchFamily="18" charset="0"/>
              </a:rPr>
              <a:t>m</a:t>
            </a:r>
            <a:r>
              <a:rPr lang="en-US" altLang="zh-CN" baseline="30000">
                <a:latin typeface="Times New Roman" panose="02020603050405020304" pitchFamily="18" charset="0"/>
              </a:rPr>
              <a:t>3</a:t>
            </a:r>
            <a:r>
              <a:rPr lang="en-US" altLang="zh-CN">
                <a:latin typeface="Times New Roman" panose="02020603050405020304" pitchFamily="18" charset="0"/>
              </a:rPr>
              <a:t>/kg</a:t>
            </a:r>
            <a:endParaRPr lang="en-US" altLang="zh-CN">
              <a:latin typeface="Times New Roman" panose="02020603050405020304" pitchFamily="18" charset="0"/>
              <a:cs typeface="Times New Roman" panose="02020603050405020304" pitchFamily="18" charset="0"/>
            </a:endParaRPr>
          </a:p>
        </p:txBody>
      </p:sp>
      <p:graphicFrame>
        <p:nvGraphicFramePr>
          <p:cNvPr id="57356" name="对象 35848"/>
          <p:cNvGraphicFramePr/>
          <p:nvPr/>
        </p:nvGraphicFramePr>
        <p:xfrm>
          <a:off x="6300788" y="5661025"/>
          <a:ext cx="1100137" cy="534988"/>
        </p:xfrm>
        <a:graphic>
          <a:graphicData uri="http://schemas.openxmlformats.org/presentationml/2006/ole">
            <mc:AlternateContent xmlns:mc="http://schemas.openxmlformats.org/markup-compatibility/2006">
              <mc:Choice xmlns:v="urn:schemas-microsoft-com:vml" Requires="v">
                <p:oleObj spid="_x0000_s26645" r:id="rId8" imgW="4445" imgH="4445" progId="Equation.DSMT4">
                  <p:embed/>
                </p:oleObj>
              </mc:Choice>
              <mc:Fallback>
                <p:oleObj r:id="rId8" imgW="4445" imgH="4445" progId="Equation.DSMT4">
                  <p:embed/>
                  <p:pic>
                    <p:nvPicPr>
                      <p:cNvPr id="0" name="对象 3584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00788" y="5661025"/>
                        <a:ext cx="110013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5846"/>
                                        </p:tgtEl>
                                        <p:attrNameLst>
                                          <p:attrName>style.visibility</p:attrName>
                                        </p:attrNameLst>
                                      </p:cBhvr>
                                      <p:to>
                                        <p:strVal val="visible"/>
                                      </p:to>
                                    </p:set>
                                    <p:animEffect transition="in" filter="blinds(horizontal)">
                                      <p:cBhvr>
                                        <p:cTn id="10" dur="500"/>
                                        <p:tgtEl>
                                          <p:spTgt spid="3584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5847"/>
                                        </p:tgtEl>
                                        <p:attrNameLst>
                                          <p:attrName>style.visibility</p:attrName>
                                        </p:attrNameLst>
                                      </p:cBhvr>
                                      <p:to>
                                        <p:strVal val="visible"/>
                                      </p:to>
                                    </p:set>
                                    <p:animEffect transition="in" filter="blinds(horizontal)">
                                      <p:cBhvr>
                                        <p:cTn id="13" dur="500"/>
                                        <p:tgtEl>
                                          <p:spTgt spid="35847"/>
                                        </p:tgtEl>
                                      </p:cBhvr>
                                    </p:animEffect>
                                  </p:childTnLst>
                                </p:cTn>
                              </p:par>
                              <p:par>
                                <p:cTn id="14" presetID="3" presetClass="entr" presetSubtype="10" fill="hold" nodeType="withEffect">
                                  <p:stCondLst>
                                    <p:cond delay="0"/>
                                  </p:stCondLst>
                                  <p:childTnLst>
                                    <p:set>
                                      <p:cBhvr>
                                        <p:cTn id="15" dur="1" fill="hold">
                                          <p:stCondLst>
                                            <p:cond delay="0"/>
                                          </p:stCondLst>
                                        </p:cTn>
                                        <p:tgtEl>
                                          <p:spTgt spid="35849"/>
                                        </p:tgtEl>
                                        <p:attrNameLst>
                                          <p:attrName>style.visibility</p:attrName>
                                        </p:attrNameLst>
                                      </p:cBhvr>
                                      <p:to>
                                        <p:strVal val="visible"/>
                                      </p:to>
                                    </p:set>
                                    <p:animEffect transition="in" filter="blinds(horizontal)">
                                      <p:cBhvr>
                                        <p:cTn id="16" dur="500"/>
                                        <p:tgtEl>
                                          <p:spTgt spid="3584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5850"/>
                                        </p:tgtEl>
                                        <p:attrNameLst>
                                          <p:attrName>style.visibility</p:attrName>
                                        </p:attrNameLst>
                                      </p:cBhvr>
                                      <p:to>
                                        <p:strVal val="visible"/>
                                      </p:to>
                                    </p:set>
                                    <p:animEffect transition="in" filter="blinds(horizontal)">
                                      <p:cBhvr>
                                        <p:cTn id="19" dur="500"/>
                                        <p:tgtEl>
                                          <p:spTgt spid="35850"/>
                                        </p:tgtEl>
                                      </p:cBhvr>
                                    </p:animEffect>
                                  </p:childTnLst>
                                </p:cTn>
                              </p:par>
                              <p:par>
                                <p:cTn id="20" presetID="3" presetClass="entr" presetSubtype="10" fill="hold" nodeType="withEffect">
                                  <p:stCondLst>
                                    <p:cond delay="0"/>
                                  </p:stCondLst>
                                  <p:childTnLst>
                                    <p:set>
                                      <p:cBhvr>
                                        <p:cTn id="21" dur="1" fill="hold">
                                          <p:stCondLst>
                                            <p:cond delay="0"/>
                                          </p:stCondLst>
                                        </p:cTn>
                                        <p:tgtEl>
                                          <p:spTgt spid="57356"/>
                                        </p:tgtEl>
                                        <p:attrNameLst>
                                          <p:attrName>style.visibility</p:attrName>
                                        </p:attrNameLst>
                                      </p:cBhvr>
                                      <p:to>
                                        <p:strVal val="visible"/>
                                      </p:to>
                                    </p:set>
                                    <p:animEffect transition="in" filter="blinds(horizontal)">
                                      <p:cBhvr>
                                        <p:cTn id="22" dur="500"/>
                                        <p:tgtEl>
                                          <p:spTgt spid="57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P spid="35846" grpId="0"/>
      <p:bldP spid="35847" grpId="0"/>
      <p:bldP spid="3585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79873"/>
          <p:cNvSpPr>
            <a:spLocks noGrp="1" noChangeArrowheads="1"/>
          </p:cNvSpPr>
          <p:nvPr>
            <p:ph type="ctrTitle"/>
          </p:nvPr>
        </p:nvSpPr>
        <p:spPr>
          <a:xfrm>
            <a:off x="323850" y="1989138"/>
            <a:ext cx="8153400" cy="1143000"/>
          </a:xfrm>
        </p:spPr>
        <p:txBody>
          <a:bodyPr anchor="ctr"/>
          <a:lstStyle/>
          <a:p>
            <a:pPr eaLnBrk="1" hangingPunct="1">
              <a:buFontTx/>
              <a:buChar char="§"/>
            </a:pPr>
            <a:r>
              <a:rPr lang="en-US" altLang="zh-CN" sz="4000" b="1" smtClean="0">
                <a:solidFill>
                  <a:schemeClr val="tx1"/>
                </a:solidFill>
                <a:latin typeface="黑体" panose="02010609060101010101" pitchFamily="49" charset="-122"/>
                <a:ea typeface="黑体" panose="02010609060101010101" pitchFamily="49" charset="-122"/>
              </a:rPr>
              <a:t>1</a:t>
            </a:r>
            <a:r>
              <a:rPr lang="zh-CN" altLang="en-US" sz="4000" b="1" smtClean="0">
                <a:solidFill>
                  <a:schemeClr val="tx1"/>
                </a:solidFill>
                <a:latin typeface="黑体" panose="02010609060101010101" pitchFamily="49" charset="-122"/>
                <a:ea typeface="黑体" panose="02010609060101010101" pitchFamily="49" charset="-122"/>
              </a:rPr>
              <a:t>－</a:t>
            </a:r>
            <a:r>
              <a:rPr lang="en-US" altLang="zh-CN" sz="4000" b="1" smtClean="0">
                <a:solidFill>
                  <a:schemeClr val="tx1"/>
                </a:solidFill>
                <a:latin typeface="黑体" panose="02010609060101010101" pitchFamily="49" charset="-122"/>
                <a:ea typeface="黑体" panose="02010609060101010101" pitchFamily="49" charset="-122"/>
              </a:rPr>
              <a:t>4 </a:t>
            </a:r>
            <a:r>
              <a:rPr lang="zh-CN" altLang="en-US" sz="4000" b="1" smtClean="0">
                <a:solidFill>
                  <a:schemeClr val="tx1"/>
                </a:solidFill>
                <a:latin typeface="黑体" panose="02010609060101010101" pitchFamily="49" charset="-122"/>
                <a:ea typeface="黑体" panose="02010609060101010101" pitchFamily="49" charset="-122"/>
              </a:rPr>
              <a:t>状态公理</a:t>
            </a:r>
          </a:p>
        </p:txBody>
      </p:sp>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139273"/>
          <p:cNvSpPr>
            <a:spLocks noChangeArrowheads="1"/>
          </p:cNvSpPr>
          <p:nvPr/>
        </p:nvSpPr>
        <p:spPr bwMode="auto">
          <a:xfrm>
            <a:off x="900113" y="2093913"/>
            <a:ext cx="80645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2060"/>
                </a:solidFill>
                <a:latin typeface="黑体" panose="02010609060101010101" pitchFamily="49" charset="-122"/>
                <a:ea typeface="黑体" panose="02010609060101010101" pitchFamily="49" charset="-122"/>
              </a:rPr>
              <a:t>压力、温度、质量、体积、密度、速度、动能、势能、</a:t>
            </a:r>
          </a:p>
          <a:p>
            <a:pPr eaLnBrk="1" hangingPunct="1">
              <a:spcBef>
                <a:spcPct val="0"/>
              </a:spcBef>
              <a:buFontTx/>
              <a:buNone/>
            </a:pPr>
            <a:r>
              <a:rPr lang="zh-CN" altLang="en-US" sz="2400" b="1">
                <a:solidFill>
                  <a:srgbClr val="002060"/>
                </a:solidFill>
                <a:latin typeface="黑体" panose="02010609060101010101" pitchFamily="49" charset="-122"/>
                <a:ea typeface="黑体" panose="02010609060101010101" pitchFamily="49" charset="-122"/>
              </a:rPr>
              <a:t>热力学能、焓、熵</a:t>
            </a:r>
          </a:p>
        </p:txBody>
      </p:sp>
      <p:sp>
        <p:nvSpPr>
          <p:cNvPr id="50179" name="矩形 139274"/>
          <p:cNvSpPr>
            <a:spLocks noChangeArrowheads="1"/>
          </p:cNvSpPr>
          <p:nvPr/>
        </p:nvSpPr>
        <p:spPr bwMode="auto">
          <a:xfrm>
            <a:off x="611188" y="404813"/>
            <a:ext cx="770413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如前所述，热力系的状态用状态参数来描述。这些状态参数分别从不同的角度来描述系统在某一方面的宏观特性</a:t>
            </a:r>
          </a:p>
        </p:txBody>
      </p:sp>
      <p:sp>
        <p:nvSpPr>
          <p:cNvPr id="8" name="矩形 7"/>
          <p:cNvSpPr>
            <a:spLocks noChangeArrowheads="1"/>
          </p:cNvSpPr>
          <p:nvPr/>
        </p:nvSpPr>
        <p:spPr bwMode="auto">
          <a:xfrm>
            <a:off x="611188" y="3384550"/>
            <a:ext cx="7704137"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但经验告诉我们，为了决定热力系的一个状态，不必确定其所有的状态参数。在若干状态参数中，只要</a:t>
            </a:r>
            <a:r>
              <a:rPr lang="zh-CN" altLang="en-US" sz="2800" b="1">
                <a:solidFill>
                  <a:srgbClr val="FF0000"/>
                </a:solidFill>
                <a:latin typeface="黑体" panose="02010609060101010101" pitchFamily="49" charset="-122"/>
                <a:ea typeface="黑体" panose="02010609060101010101" pitchFamily="49" charset="-122"/>
              </a:rPr>
              <a:t>一定数量</a:t>
            </a:r>
            <a:r>
              <a:rPr lang="zh-CN" altLang="en-US" sz="2800" b="1">
                <a:latin typeface="黑体" panose="02010609060101010101" pitchFamily="49" charset="-122"/>
                <a:ea typeface="黑体" panose="02010609060101010101" pitchFamily="49" charset="-122"/>
              </a:rPr>
              <a:t>的状态参数确定了，其余的状态参数也就确定了。 </a:t>
            </a:r>
          </a:p>
          <a:p>
            <a:pPr algn="ctr" eaLnBrk="1" hangingPunct="1">
              <a:spcBef>
                <a:spcPct val="0"/>
              </a:spcBef>
              <a:buFontTx/>
              <a:buNone/>
            </a:pPr>
            <a:r>
              <a:rPr lang="zh-CN" altLang="en-US" sz="2800" b="1">
                <a:solidFill>
                  <a:srgbClr val="FF0000"/>
                </a:solidFill>
                <a:latin typeface="黑体" panose="02010609060101010101" pitchFamily="49" charset="-122"/>
                <a:ea typeface="黑体" panose="02010609060101010101" pitchFamily="49" charset="-122"/>
              </a:rPr>
              <a:t>“一定数量”究竟是几个呢</a:t>
            </a:r>
            <a:r>
              <a:rPr lang="zh-CN" altLang="en-US" sz="2800" b="1">
                <a:latin typeface="黑体" panose="02010609060101010101" pitchFamily="49" charset="-122"/>
                <a:ea typeface="黑体" panose="02010609060101010101" pitchFamily="49" charset="-122"/>
              </a:rPr>
              <a:t>？ </a:t>
            </a:r>
          </a:p>
        </p:txBody>
      </p:sp>
      <p:sp>
        <p:nvSpPr>
          <p:cNvPr id="9" name="矩形 8"/>
          <p:cNvSpPr>
            <a:spLocks noChangeArrowheads="1"/>
          </p:cNvSpPr>
          <p:nvPr/>
        </p:nvSpPr>
        <p:spPr bwMode="auto">
          <a:xfrm>
            <a:off x="611188" y="5695950"/>
            <a:ext cx="77041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b="1">
                <a:solidFill>
                  <a:srgbClr val="0000CC"/>
                </a:solidFill>
                <a:latin typeface="黑体" panose="02010609060101010101" pitchFamily="49" charset="-122"/>
                <a:ea typeface="黑体" panose="02010609060101010101" pitchFamily="49" charset="-122"/>
              </a:rPr>
              <a:t>这个问题可基于状态公理来回答</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linds(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linds(horizontal)">
                                      <p:cBhvr>
                                        <p:cTn id="1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框 139272"/>
          <p:cNvSpPr txBox="1">
            <a:spLocks noChangeArrowheads="1"/>
          </p:cNvSpPr>
          <p:nvPr/>
        </p:nvSpPr>
        <p:spPr bwMode="auto">
          <a:xfrm>
            <a:off x="468313" y="260350"/>
            <a:ext cx="61198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ea typeface="黑体" panose="02010609060101010101" pitchFamily="49" charset="-122"/>
              </a:rPr>
              <a:t>一、状态公理的表述</a:t>
            </a:r>
          </a:p>
        </p:txBody>
      </p:sp>
      <p:sp>
        <p:nvSpPr>
          <p:cNvPr id="51203" name="矩形 139275"/>
          <p:cNvSpPr>
            <a:spLocks noChangeArrowheads="1"/>
          </p:cNvSpPr>
          <p:nvPr/>
        </p:nvSpPr>
        <p:spPr bwMode="auto">
          <a:xfrm>
            <a:off x="539750" y="2576513"/>
            <a:ext cx="810101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黑体" panose="02010609060101010101" pitchFamily="49" charset="-122"/>
                <a:ea typeface="黑体" panose="02010609060101010101" pitchFamily="49" charset="-122"/>
              </a:rPr>
              <a:t> </a:t>
            </a:r>
            <a:r>
              <a:rPr lang="zh-CN" altLang="en-US" sz="2800" b="1">
                <a:latin typeface="黑体" panose="02010609060101010101" pitchFamily="49" charset="-122"/>
                <a:ea typeface="黑体" panose="02010609060101010101" pitchFamily="49" charset="-122"/>
              </a:rPr>
              <a:t>“在平衡状态下，一个热力系统的</a:t>
            </a:r>
            <a:r>
              <a:rPr lang="zh-CN" altLang="en-US" sz="2800" b="1">
                <a:solidFill>
                  <a:srgbClr val="FF0000"/>
                </a:solidFill>
                <a:latin typeface="黑体" panose="02010609060101010101" pitchFamily="49" charset="-122"/>
                <a:ea typeface="黑体" panose="02010609060101010101" pitchFamily="49" charset="-122"/>
              </a:rPr>
              <a:t>内部</a:t>
            </a:r>
            <a:r>
              <a:rPr lang="zh-CN" altLang="en-US" sz="2800" b="1">
                <a:solidFill>
                  <a:srgbClr val="0000CC"/>
                </a:solidFill>
                <a:latin typeface="黑体" panose="02010609060101010101" pitchFamily="49" charset="-122"/>
                <a:ea typeface="黑体" panose="02010609060101010101" pitchFamily="49" charset="-122"/>
              </a:rPr>
              <a:t>强度</a:t>
            </a:r>
            <a:r>
              <a:rPr lang="zh-CN" altLang="en-US" sz="2800" b="1">
                <a:latin typeface="黑体" panose="02010609060101010101" pitchFamily="49" charset="-122"/>
                <a:ea typeface="黑体" panose="02010609060101010101" pitchFamily="49" charset="-122"/>
              </a:rPr>
              <a:t>状态参数可由</a:t>
            </a:r>
            <a:r>
              <a:rPr lang="en-US" altLang="zh-CN" sz="2800" b="1" i="1">
                <a:latin typeface="Times New Roman" panose="02020603050405020304" pitchFamily="18" charset="0"/>
                <a:ea typeface="黑体" panose="02010609060101010101" pitchFamily="49" charset="-122"/>
              </a:rPr>
              <a:t>n</a:t>
            </a:r>
            <a:r>
              <a:rPr lang="en-US" altLang="zh-CN" sz="2800" b="1">
                <a:latin typeface="Times New Roman" panose="02020603050405020304" pitchFamily="18" charset="0"/>
                <a:ea typeface="黑体" panose="02010609060101010101" pitchFamily="49" charset="-122"/>
              </a:rPr>
              <a:t>+</a:t>
            </a:r>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个</a:t>
            </a:r>
            <a:r>
              <a:rPr lang="zh-CN" altLang="en-US" sz="2800" b="1">
                <a:solidFill>
                  <a:srgbClr val="FF0000"/>
                </a:solidFill>
                <a:latin typeface="黑体" panose="02010609060101010101" pitchFamily="49" charset="-122"/>
                <a:ea typeface="黑体" panose="02010609060101010101" pitchFamily="49" charset="-122"/>
              </a:rPr>
              <a:t>独立的内部</a:t>
            </a:r>
            <a:r>
              <a:rPr lang="zh-CN" altLang="en-US" sz="2800" b="1">
                <a:solidFill>
                  <a:srgbClr val="0000CC"/>
                </a:solidFill>
                <a:latin typeface="黑体" panose="02010609060101010101" pitchFamily="49" charset="-122"/>
                <a:ea typeface="黑体" panose="02010609060101010101" pitchFamily="49" charset="-122"/>
              </a:rPr>
              <a:t>强度</a:t>
            </a:r>
            <a:r>
              <a:rPr lang="zh-CN" altLang="en-US" sz="2800" b="1">
                <a:latin typeface="黑体" panose="02010609060101010101" pitchFamily="49" charset="-122"/>
                <a:ea typeface="黑体" panose="02010609060101010101" pitchFamily="49" charset="-122"/>
              </a:rPr>
              <a:t>状态参数来确定。</a:t>
            </a:r>
            <a:r>
              <a:rPr lang="zh-CN" altLang="en-US" sz="2800">
                <a:latin typeface="黑体" panose="02010609060101010101" pitchFamily="49" charset="-122"/>
                <a:ea typeface="黑体" panose="02010609060101010101" pitchFamily="49" charset="-122"/>
              </a:rPr>
              <a:t>”</a:t>
            </a:r>
          </a:p>
        </p:txBody>
      </p:sp>
      <p:sp>
        <p:nvSpPr>
          <p:cNvPr id="51204" name="矩形 139276"/>
          <p:cNvSpPr>
            <a:spLocks noChangeArrowheads="1"/>
          </p:cNvSpPr>
          <p:nvPr/>
        </p:nvSpPr>
        <p:spPr bwMode="auto">
          <a:xfrm>
            <a:off x="992188" y="4437063"/>
            <a:ext cx="734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i="1">
                <a:latin typeface="Times New Roman" panose="02020603050405020304" pitchFamily="18" charset="0"/>
                <a:ea typeface="黑体" panose="02010609060101010101" pitchFamily="49" charset="-122"/>
              </a:rPr>
              <a:t>n</a:t>
            </a:r>
            <a:r>
              <a:rPr lang="zh-CN" altLang="en-US" sz="2400">
                <a:latin typeface="黑体" panose="02010609060101010101" pitchFamily="49" charset="-122"/>
                <a:ea typeface="黑体" panose="02010609060101010101" pitchFamily="49" charset="-122"/>
              </a:rPr>
              <a:t>：系统与外界功量交换时</a:t>
            </a:r>
            <a:r>
              <a:rPr lang="zh-CN" altLang="en-US" sz="2400">
                <a:solidFill>
                  <a:srgbClr val="FF0000"/>
                </a:solidFill>
                <a:latin typeface="黑体" panose="02010609060101010101" pitchFamily="49" charset="-122"/>
                <a:ea typeface="黑体" panose="02010609060101010101" pitchFamily="49" charset="-122"/>
              </a:rPr>
              <a:t>可能</a:t>
            </a:r>
            <a:r>
              <a:rPr lang="zh-CN" altLang="en-US" sz="2400">
                <a:latin typeface="黑体" panose="02010609060101010101" pitchFamily="49" charset="-122"/>
                <a:ea typeface="黑体" panose="02010609060101010101" pitchFamily="49" charset="-122"/>
              </a:rPr>
              <a:t>出现的</a:t>
            </a:r>
            <a:r>
              <a:rPr lang="zh-CN" altLang="en-US" sz="2400">
                <a:solidFill>
                  <a:srgbClr val="FF0000"/>
                </a:solidFill>
                <a:latin typeface="黑体" panose="02010609060101010101" pitchFamily="49" charset="-122"/>
                <a:ea typeface="黑体" panose="02010609060101010101" pitchFamily="49" charset="-122"/>
              </a:rPr>
              <a:t>可逆功的形式数</a:t>
            </a:r>
            <a:endParaRPr lang="zh-CN" altLang="en-US" sz="1800">
              <a:ea typeface="黑体" panose="02010609060101010101" pitchFamily="49" charset="-122"/>
            </a:endParaRPr>
          </a:p>
        </p:txBody>
      </p:sp>
      <p:sp>
        <p:nvSpPr>
          <p:cNvPr id="51205" name="矩形 139277"/>
          <p:cNvSpPr>
            <a:spLocks noChangeArrowheads="1"/>
          </p:cNvSpPr>
          <p:nvPr/>
        </p:nvSpPr>
        <p:spPr bwMode="auto">
          <a:xfrm>
            <a:off x="1063625" y="5011738"/>
            <a:ext cx="4975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Times New Roman" panose="02020603050405020304" pitchFamily="18" charset="0"/>
                <a:ea typeface="黑体" panose="02010609060101010101" pitchFamily="49" charset="-122"/>
              </a:rPr>
              <a:t>+1</a:t>
            </a:r>
            <a:r>
              <a:rPr lang="zh-CN" altLang="en-US" sz="2400">
                <a:latin typeface="黑体" panose="02010609060101010101" pitchFamily="49" charset="-122"/>
                <a:ea typeface="黑体" panose="02010609060101010101" pitchFamily="49" charset="-122"/>
              </a:rPr>
              <a:t>是考虑了系统与外界</a:t>
            </a:r>
            <a:r>
              <a:rPr lang="zh-CN" altLang="en-US" sz="2400">
                <a:solidFill>
                  <a:srgbClr val="0000CC"/>
                </a:solidFill>
                <a:latin typeface="黑体" panose="02010609060101010101" pitchFamily="49" charset="-122"/>
                <a:ea typeface="黑体" panose="02010609060101010101" pitchFamily="49" charset="-122"/>
              </a:rPr>
              <a:t>热量</a:t>
            </a:r>
            <a:r>
              <a:rPr lang="zh-CN" altLang="en-US" sz="2400">
                <a:latin typeface="黑体" panose="02010609060101010101" pitchFamily="49" charset="-122"/>
                <a:ea typeface="黑体" panose="02010609060101010101" pitchFamily="49" charset="-122"/>
              </a:rPr>
              <a:t>的交换 </a:t>
            </a:r>
          </a:p>
        </p:txBody>
      </p:sp>
      <p:sp>
        <p:nvSpPr>
          <p:cNvPr id="51206" name="矩形 7"/>
          <p:cNvSpPr>
            <a:spLocks noChangeArrowheads="1"/>
          </p:cNvSpPr>
          <p:nvPr/>
        </p:nvSpPr>
        <p:spPr bwMode="auto">
          <a:xfrm>
            <a:off x="611188" y="1222375"/>
            <a:ext cx="770413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人们总结出确定热力系平衡状态所需的独立参数数目的经验规则，称为状态公理，它可以表述为：</a:t>
            </a:r>
          </a:p>
        </p:txBody>
      </p:sp>
    </p:spTree>
    <p:custDataLst>
      <p:tags r:id="rId1"/>
    </p:custDataLst>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290819"/>
          <p:cNvSpPr>
            <a:spLocks noChangeArrowheads="1"/>
          </p:cNvSpPr>
          <p:nvPr/>
        </p:nvSpPr>
        <p:spPr bwMode="auto">
          <a:xfrm>
            <a:off x="323850" y="1125538"/>
            <a:ext cx="84963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简单可压缩系统（本课程主要讨论）</a:t>
            </a:r>
          </a:p>
          <a:p>
            <a:pPr eaLnBrk="1" hangingPunct="1">
              <a:spcBef>
                <a:spcPct val="0"/>
              </a:spcBef>
              <a:buFontTx/>
              <a:buNone/>
            </a:pPr>
            <a:r>
              <a:rPr lang="zh-CN" altLang="en-US" sz="2800" b="1">
                <a:latin typeface="Times New Roman" panose="02020603050405020304" pitchFamily="18" charset="0"/>
                <a:ea typeface="黑体" panose="02010609060101010101" pitchFamily="49" charset="-122"/>
              </a:rPr>
              <a:t>（</a:t>
            </a:r>
            <a:r>
              <a:rPr lang="en-US" altLang="zh-CN" sz="2800" b="1">
                <a:latin typeface="Times New Roman" panose="02020603050405020304" pitchFamily="18" charset="0"/>
                <a:ea typeface="黑体" panose="02010609060101010101" pitchFamily="49" charset="-122"/>
              </a:rPr>
              <a:t>simple compressible system</a:t>
            </a:r>
            <a:r>
              <a:rPr lang="zh-CN" altLang="en-US" sz="2800" b="1">
                <a:latin typeface="Times New Roman" panose="02020603050405020304" pitchFamily="18" charset="0"/>
                <a:ea typeface="黑体" panose="02010609060101010101" pitchFamily="49" charset="-122"/>
              </a:rPr>
              <a:t>）</a:t>
            </a:r>
          </a:p>
          <a:p>
            <a:pPr eaLnBrk="1" hangingPunct="1">
              <a:spcBef>
                <a:spcPct val="0"/>
              </a:spcBef>
              <a:buFontTx/>
              <a:buNone/>
            </a:pPr>
            <a:r>
              <a:rPr lang="zh-CN" altLang="en-US" sz="2800" b="1">
                <a:latin typeface="黑体" panose="02010609060101010101" pitchFamily="49" charset="-122"/>
                <a:ea typeface="黑体" panose="02010609060101010101" pitchFamily="49" charset="-122"/>
              </a:rPr>
              <a:t>由可压缩流体构成，且系统与外界</a:t>
            </a:r>
            <a:r>
              <a:rPr lang="zh-CN" altLang="en-US" sz="2800" b="1">
                <a:solidFill>
                  <a:srgbClr val="FF0000"/>
                </a:solidFill>
                <a:latin typeface="黑体" panose="02010609060101010101" pitchFamily="49" charset="-122"/>
                <a:ea typeface="黑体" panose="02010609060101010101" pitchFamily="49" charset="-122"/>
              </a:rPr>
              <a:t>功量交换时可能出现的可逆功只有体积变化功一种</a:t>
            </a:r>
            <a:r>
              <a:rPr lang="zh-CN" altLang="en-US" sz="2800" b="1">
                <a:latin typeface="黑体" panose="02010609060101010101" pitchFamily="49" charset="-122"/>
                <a:ea typeface="黑体" panose="02010609060101010101" pitchFamily="49" charset="-122"/>
              </a:rPr>
              <a:t>，即</a:t>
            </a:r>
            <a:r>
              <a:rPr lang="en-US" altLang="zh-CN" sz="2800" b="1" i="1">
                <a:latin typeface="Times New Roman" panose="02020603050405020304" pitchFamily="18" charset="0"/>
                <a:ea typeface="黑体" panose="02010609060101010101" pitchFamily="49" charset="-122"/>
              </a:rPr>
              <a:t>n</a:t>
            </a:r>
            <a:r>
              <a:rPr lang="en-US" altLang="zh-CN" sz="2800" b="1">
                <a:latin typeface="Times New Roman" panose="02020603050405020304" pitchFamily="18" charset="0"/>
                <a:ea typeface="黑体" panose="02010609060101010101" pitchFamily="49" charset="-122"/>
              </a:rPr>
              <a:t>=</a:t>
            </a:r>
            <a:r>
              <a:rPr lang="en-US" altLang="zh-CN" sz="2800" b="1">
                <a:latin typeface="黑体" panose="02010609060101010101" pitchFamily="49" charset="-122"/>
                <a:ea typeface="黑体" panose="02010609060101010101" pitchFamily="49" charset="-122"/>
              </a:rPr>
              <a:t>1</a:t>
            </a:r>
            <a:r>
              <a:rPr lang="zh-CN" altLang="en-US" sz="2800" b="1">
                <a:latin typeface="黑体" panose="02010609060101010101" pitchFamily="49" charset="-122"/>
                <a:ea typeface="黑体" panose="02010609060101010101" pitchFamily="49" charset="-122"/>
              </a:rPr>
              <a:t>。 </a:t>
            </a:r>
          </a:p>
        </p:txBody>
      </p:sp>
      <p:sp>
        <p:nvSpPr>
          <p:cNvPr id="52227" name="矩形 290822"/>
          <p:cNvSpPr>
            <a:spLocks noChangeArrowheads="1"/>
          </p:cNvSpPr>
          <p:nvPr/>
        </p:nvSpPr>
        <p:spPr bwMode="auto">
          <a:xfrm>
            <a:off x="468313" y="3284538"/>
            <a:ext cx="8135937"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在平衡状态下，简单可压缩系统的内部强度状态参数可由</a:t>
            </a:r>
            <a:r>
              <a:rPr lang="en-US" altLang="zh-CN" sz="4000" b="1">
                <a:solidFill>
                  <a:srgbClr val="FF0000"/>
                </a:solidFill>
                <a:latin typeface="黑体" panose="02010609060101010101" pitchFamily="49" charset="-122"/>
                <a:ea typeface="黑体" panose="02010609060101010101" pitchFamily="49" charset="-122"/>
              </a:rPr>
              <a:t>2</a:t>
            </a:r>
            <a:r>
              <a:rPr lang="zh-CN" altLang="en-US" sz="4000" b="1">
                <a:solidFill>
                  <a:srgbClr val="FF0000"/>
                </a:solidFill>
                <a:latin typeface="黑体" panose="02010609060101010101" pitchFamily="49" charset="-122"/>
                <a:ea typeface="黑体" panose="02010609060101010101" pitchFamily="49" charset="-122"/>
              </a:rPr>
              <a:t>个</a:t>
            </a:r>
            <a:r>
              <a:rPr lang="zh-CN" altLang="en-US" b="1">
                <a:latin typeface="黑体" panose="02010609060101010101" pitchFamily="49" charset="-122"/>
                <a:ea typeface="黑体" panose="02010609060101010101" pitchFamily="49" charset="-122"/>
              </a:rPr>
              <a:t>独立的内部强度状态参数来确定。</a:t>
            </a:r>
          </a:p>
        </p:txBody>
      </p:sp>
      <p:sp>
        <p:nvSpPr>
          <p:cNvPr id="52228" name="矩形 290825"/>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52229" name="对象 290824"/>
          <p:cNvGraphicFramePr/>
          <p:nvPr/>
        </p:nvGraphicFramePr>
        <p:xfrm>
          <a:off x="1585913" y="5173663"/>
          <a:ext cx="2192337" cy="776287"/>
        </p:xfrm>
        <a:graphic>
          <a:graphicData uri="http://schemas.openxmlformats.org/presentationml/2006/ole">
            <mc:AlternateContent xmlns:mc="http://schemas.openxmlformats.org/markup-compatibility/2006">
              <mc:Choice xmlns:v="urn:schemas-microsoft-com:vml" Requires="v">
                <p:oleObj spid="_x0000_s27662" r:id="rId3" imgW="723900" imgH="254000" progId="Equation.DSMT4">
                  <p:embed/>
                </p:oleObj>
              </mc:Choice>
              <mc:Fallback>
                <p:oleObj r:id="rId3" imgW="723900" imgH="254000" progId="Equation.DSMT4">
                  <p:embed/>
                  <p:pic>
                    <p:nvPicPr>
                      <p:cNvPr id="0" name="对象 2908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913" y="5173663"/>
                        <a:ext cx="2192337"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30" name="矩形 29082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52231" name="对象 290826"/>
          <p:cNvGraphicFramePr/>
          <p:nvPr/>
        </p:nvGraphicFramePr>
        <p:xfrm>
          <a:off x="4895850" y="5229225"/>
          <a:ext cx="2125663" cy="739775"/>
        </p:xfrm>
        <a:graphic>
          <a:graphicData uri="http://schemas.openxmlformats.org/presentationml/2006/ole">
            <mc:AlternateContent xmlns:mc="http://schemas.openxmlformats.org/markup-compatibility/2006">
              <mc:Choice xmlns:v="urn:schemas-microsoft-com:vml" Requires="v">
                <p:oleObj spid="_x0000_s27663" r:id="rId5" imgW="735965" imgH="254000" progId="Equation.DSMT4">
                  <p:embed/>
                </p:oleObj>
              </mc:Choice>
              <mc:Fallback>
                <p:oleObj r:id="rId5" imgW="735965" imgH="254000" progId="Equation.DSMT4">
                  <p:embed/>
                  <p:pic>
                    <p:nvPicPr>
                      <p:cNvPr id="0" name="对象 29082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5850" y="5229225"/>
                        <a:ext cx="2125663"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32" name="文本框 290828"/>
          <p:cNvSpPr txBox="1">
            <a:spLocks noChangeArrowheads="1"/>
          </p:cNvSpPr>
          <p:nvPr/>
        </p:nvSpPr>
        <p:spPr bwMode="auto">
          <a:xfrm>
            <a:off x="468313" y="260350"/>
            <a:ext cx="86756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ea typeface="黑体" panose="02010609060101010101" pitchFamily="49" charset="-122"/>
              </a:rPr>
              <a:t>二、状态公理应用于简单可压缩系统</a:t>
            </a:r>
          </a:p>
        </p:txBody>
      </p:sp>
    </p:spTree>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291841"/>
          <p:cNvSpPr>
            <a:spLocks noGrp="1" noChangeArrowheads="1"/>
          </p:cNvSpPr>
          <p:nvPr>
            <p:ph type="title"/>
          </p:nvPr>
        </p:nvSpPr>
        <p:spPr>
          <a:xfrm>
            <a:off x="468313" y="115888"/>
            <a:ext cx="8229600" cy="1143000"/>
          </a:xfrm>
        </p:spPr>
        <p:txBody>
          <a:bodyPr/>
          <a:lstStyle/>
          <a:p>
            <a:pPr algn="l" eaLnBrk="1" hangingPunct="1"/>
            <a:r>
              <a:rPr lang="zh-CN" altLang="en-US" sz="4000" b="1" smtClean="0">
                <a:ea typeface="黑体" panose="02010609060101010101" pitchFamily="49" charset="-122"/>
              </a:rPr>
              <a:t>特别指出</a:t>
            </a:r>
          </a:p>
        </p:txBody>
      </p:sp>
      <p:sp>
        <p:nvSpPr>
          <p:cNvPr id="53251" name="矩形 291847"/>
          <p:cNvSpPr>
            <a:spLocks noChangeArrowheads="1"/>
          </p:cNvSpPr>
          <p:nvPr/>
        </p:nvSpPr>
        <p:spPr bwMode="auto">
          <a:xfrm>
            <a:off x="684213" y="3252788"/>
            <a:ext cx="7135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ea typeface="黑体" panose="02010609060101010101" pitchFamily="49" charset="-122"/>
              </a:rPr>
              <a:t>独立：一个参数变化而另一个可以保持不变</a:t>
            </a:r>
            <a:r>
              <a:rPr lang="zh-CN" altLang="en-US" sz="2800"/>
              <a:t> </a:t>
            </a:r>
          </a:p>
        </p:txBody>
      </p:sp>
      <p:sp>
        <p:nvSpPr>
          <p:cNvPr id="53252" name="矩形 291848"/>
          <p:cNvSpPr>
            <a:spLocks noChangeArrowheads="1"/>
          </p:cNvSpPr>
          <p:nvPr/>
        </p:nvSpPr>
        <p:spPr bwMode="auto">
          <a:xfrm>
            <a:off x="882650" y="5124450"/>
            <a:ext cx="79406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对于</a:t>
            </a:r>
            <a:r>
              <a:rPr lang="zh-CN" altLang="en-US" sz="2800" b="1">
                <a:solidFill>
                  <a:srgbClr val="FF0000"/>
                </a:solidFill>
                <a:latin typeface="黑体" panose="02010609060101010101" pitchFamily="49" charset="-122"/>
                <a:ea typeface="黑体" panose="02010609060101010101" pitchFamily="49" charset="-122"/>
              </a:rPr>
              <a:t>单相系</a:t>
            </a:r>
            <a:r>
              <a:rPr lang="zh-CN" altLang="en-US" sz="2800" b="1">
                <a:latin typeface="黑体" panose="02010609060101010101" pitchFamily="49" charset="-122"/>
                <a:ea typeface="黑体" panose="02010609060101010101" pitchFamily="49" charset="-122"/>
              </a:rPr>
              <a:t>，</a:t>
            </a:r>
            <a:r>
              <a:rPr lang="zh-CN" altLang="en-US" sz="2800" b="1">
                <a:solidFill>
                  <a:srgbClr val="FF0000"/>
                </a:solidFill>
                <a:latin typeface="黑体" panose="02010609060101010101" pitchFamily="49" charset="-122"/>
                <a:ea typeface="黑体" panose="02010609060101010101" pitchFamily="49" charset="-122"/>
              </a:rPr>
              <a:t>温度和压力</a:t>
            </a:r>
            <a:r>
              <a:rPr lang="zh-CN" altLang="en-US" sz="2800" b="1">
                <a:latin typeface="黑体" panose="02010609060101010101" pitchFamily="49" charset="-122"/>
                <a:ea typeface="黑体" panose="02010609060101010101" pitchFamily="49" charset="-122"/>
              </a:rPr>
              <a:t>是相互独立的状态参数 </a:t>
            </a:r>
          </a:p>
        </p:txBody>
      </p:sp>
      <p:sp>
        <p:nvSpPr>
          <p:cNvPr id="53253" name="矩形 291852"/>
          <p:cNvSpPr>
            <a:spLocks noChangeArrowheads="1"/>
          </p:cNvSpPr>
          <p:nvPr/>
        </p:nvSpPr>
        <p:spPr bwMode="auto">
          <a:xfrm>
            <a:off x="882650" y="5646738"/>
            <a:ext cx="6677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对于</a:t>
            </a:r>
            <a:r>
              <a:rPr lang="zh-CN" altLang="en-US" sz="2800" b="1">
                <a:solidFill>
                  <a:srgbClr val="FF0000"/>
                </a:solidFill>
                <a:latin typeface="黑体" panose="02010609060101010101" pitchFamily="49" charset="-122"/>
                <a:ea typeface="黑体" panose="02010609060101010101" pitchFamily="49" charset="-122"/>
              </a:rPr>
              <a:t>多相系</a:t>
            </a:r>
            <a:r>
              <a:rPr lang="zh-CN" altLang="en-US" sz="2800" b="1">
                <a:latin typeface="黑体" panose="02010609060101010101" pitchFamily="49" charset="-122"/>
                <a:ea typeface="黑体" panose="02010609060101010101" pitchFamily="49" charset="-122"/>
              </a:rPr>
              <a:t>，</a:t>
            </a:r>
            <a:r>
              <a:rPr lang="zh-CN" altLang="en-US" sz="2800" b="1">
                <a:solidFill>
                  <a:srgbClr val="FF0000"/>
                </a:solidFill>
                <a:latin typeface="黑体" panose="02010609060101010101" pitchFamily="49" charset="-122"/>
                <a:ea typeface="黑体" panose="02010609060101010101" pitchFamily="49" charset="-122"/>
              </a:rPr>
              <a:t>温度和压力往往不是独立的</a:t>
            </a:r>
            <a:endParaRPr lang="zh-CN" altLang="en-US" sz="2800" b="1">
              <a:latin typeface="黑体" panose="02010609060101010101" pitchFamily="49" charset="-122"/>
              <a:ea typeface="黑体" panose="02010609060101010101" pitchFamily="49" charset="-122"/>
            </a:endParaRPr>
          </a:p>
        </p:txBody>
      </p:sp>
      <p:sp>
        <p:nvSpPr>
          <p:cNvPr id="53254" name="矩形 291858"/>
          <p:cNvSpPr>
            <a:spLocks noChangeArrowheads="1"/>
          </p:cNvSpPr>
          <p:nvPr/>
        </p:nvSpPr>
        <p:spPr bwMode="auto">
          <a:xfrm>
            <a:off x="539750" y="1268413"/>
            <a:ext cx="8135938"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在平衡状态下，简单可压缩系统的内部强度状态参数可由</a:t>
            </a:r>
            <a:r>
              <a:rPr lang="en-US" altLang="zh-CN" sz="4000" b="1">
                <a:solidFill>
                  <a:srgbClr val="FF0000"/>
                </a:solidFill>
                <a:latin typeface="黑体" panose="02010609060101010101" pitchFamily="49" charset="-122"/>
                <a:ea typeface="黑体" panose="02010609060101010101" pitchFamily="49" charset="-122"/>
              </a:rPr>
              <a:t>2</a:t>
            </a:r>
            <a:r>
              <a:rPr lang="zh-CN" altLang="en-US" sz="4000" b="1">
                <a:solidFill>
                  <a:srgbClr val="FF0000"/>
                </a:solidFill>
                <a:latin typeface="黑体" panose="02010609060101010101" pitchFamily="49" charset="-122"/>
                <a:ea typeface="黑体" panose="02010609060101010101" pitchFamily="49" charset="-122"/>
              </a:rPr>
              <a:t>个</a:t>
            </a:r>
            <a:r>
              <a:rPr lang="zh-CN" altLang="en-US" b="1">
                <a:latin typeface="黑体" panose="02010609060101010101" pitchFamily="49" charset="-122"/>
                <a:ea typeface="黑体" panose="02010609060101010101" pitchFamily="49" charset="-122"/>
              </a:rPr>
              <a:t>独立的内部强度状态参数来确定。</a:t>
            </a:r>
          </a:p>
        </p:txBody>
      </p:sp>
      <p:sp>
        <p:nvSpPr>
          <p:cNvPr id="53255" name="椭圆 291859"/>
          <p:cNvSpPr>
            <a:spLocks noChangeArrowheads="1"/>
          </p:cNvSpPr>
          <p:nvPr/>
        </p:nvSpPr>
        <p:spPr bwMode="auto">
          <a:xfrm>
            <a:off x="3708400" y="1773238"/>
            <a:ext cx="1511300" cy="863600"/>
          </a:xfrm>
          <a:prstGeom prst="ellipse">
            <a:avLst/>
          </a:prstGeom>
          <a:noFill/>
          <a:ln w="25400">
            <a:solidFill>
              <a:srgbClr val="0000CC"/>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3256" name="矩形 291847"/>
          <p:cNvSpPr>
            <a:spLocks noChangeArrowheads="1"/>
          </p:cNvSpPr>
          <p:nvPr/>
        </p:nvSpPr>
        <p:spPr bwMode="auto">
          <a:xfrm>
            <a:off x="611188" y="3848100"/>
            <a:ext cx="75787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ea typeface="黑体" panose="02010609060101010101" pitchFamily="49" charset="-122"/>
              </a:rPr>
              <a:t>系统的比体积和密度互为倒数，就不是互相独立的状态参数</a:t>
            </a:r>
            <a:endParaRPr lang="zh-CN" altLang="en-US" sz="2800"/>
          </a:p>
        </p:txBody>
      </p:sp>
    </p:spTree>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4" name="对象 304131"/>
          <p:cNvGraphicFramePr/>
          <p:nvPr/>
        </p:nvGraphicFramePr>
        <p:xfrm>
          <a:off x="7488238" y="4579938"/>
          <a:ext cx="1655762" cy="665162"/>
        </p:xfrm>
        <a:graphic>
          <a:graphicData uri="http://schemas.openxmlformats.org/presentationml/2006/ole">
            <mc:AlternateContent xmlns:mc="http://schemas.openxmlformats.org/markup-compatibility/2006">
              <mc:Choice xmlns:v="urn:schemas-microsoft-com:vml" Requires="v">
                <p:oleObj spid="_x0000_s28681" r:id="rId3" imgW="635000" imgH="254000" progId="Equation.DSMT4">
                  <p:embed/>
                </p:oleObj>
              </mc:Choice>
              <mc:Fallback>
                <p:oleObj r:id="rId3" imgW="635000" imgH="254000" progId="Equation.DSMT4">
                  <p:embed/>
                  <p:pic>
                    <p:nvPicPr>
                      <p:cNvPr id="0" name="对象 3041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8238" y="4579938"/>
                        <a:ext cx="1655762"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4275" name="图片 304137" descr="shaokaishui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538" y="1412875"/>
            <a:ext cx="3382962"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矩形 304138"/>
          <p:cNvSpPr>
            <a:spLocks noChangeArrowheads="1"/>
          </p:cNvSpPr>
          <p:nvPr/>
        </p:nvSpPr>
        <p:spPr bwMode="auto">
          <a:xfrm>
            <a:off x="431800" y="4292600"/>
            <a:ext cx="7343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Times New Roman" panose="02020603050405020304" pitchFamily="18" charset="0"/>
                <a:ea typeface="黑体" panose="02010609060101010101" pitchFamily="49" charset="-122"/>
              </a:rPr>
              <a:t>平原 </a:t>
            </a:r>
            <a:r>
              <a:rPr lang="en-US" altLang="zh-CN" b="1" i="1">
                <a:latin typeface="Times New Roman" panose="02020603050405020304" pitchFamily="18" charset="0"/>
                <a:ea typeface="黑体" panose="02010609060101010101" pitchFamily="49" charset="-122"/>
              </a:rPr>
              <a:t>p</a:t>
            </a:r>
            <a:r>
              <a:rPr lang="en-US" altLang="zh-CN" b="1">
                <a:latin typeface="Times New Roman" panose="02020603050405020304" pitchFamily="18" charset="0"/>
                <a:ea typeface="黑体" panose="02010609060101010101" pitchFamily="49" charset="-122"/>
              </a:rPr>
              <a:t>=101.325kPa</a:t>
            </a:r>
            <a:r>
              <a:rPr lang="zh-CN" altLang="en-US" b="1">
                <a:latin typeface="Times New Roman" panose="02020603050405020304" pitchFamily="18" charset="0"/>
                <a:ea typeface="黑体" panose="02010609060101010101" pitchFamily="49" charset="-122"/>
              </a:rPr>
              <a:t>，</a:t>
            </a:r>
            <a:r>
              <a:rPr lang="en-US" altLang="zh-CN" b="1" i="1">
                <a:latin typeface="Times New Roman" panose="02020603050405020304" pitchFamily="18" charset="0"/>
                <a:ea typeface="黑体" panose="02010609060101010101" pitchFamily="49" charset="-122"/>
              </a:rPr>
              <a:t>T</a:t>
            </a:r>
            <a:r>
              <a:rPr lang="en-US" altLang="zh-CN" b="1">
                <a:latin typeface="Times New Roman" panose="02020603050405020304" pitchFamily="18" charset="0"/>
                <a:ea typeface="黑体" panose="02010609060101010101" pitchFamily="49" charset="-122"/>
              </a:rPr>
              <a:t>=100℃=373K</a:t>
            </a:r>
          </a:p>
        </p:txBody>
      </p:sp>
      <p:sp>
        <p:nvSpPr>
          <p:cNvPr id="54277" name="矩形 304140"/>
          <p:cNvSpPr>
            <a:spLocks noChangeArrowheads="1"/>
          </p:cNvSpPr>
          <p:nvPr/>
        </p:nvSpPr>
        <p:spPr bwMode="auto">
          <a:xfrm>
            <a:off x="503238" y="5084763"/>
            <a:ext cx="80645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Times New Roman" panose="02020603050405020304" pitchFamily="18" charset="0"/>
                <a:ea typeface="黑体" panose="02010609060101010101" pitchFamily="49" charset="-122"/>
              </a:rPr>
              <a:t>青藏高原  </a:t>
            </a:r>
            <a:r>
              <a:rPr lang="en-US" altLang="zh-CN" b="1" i="1">
                <a:latin typeface="Times New Roman" panose="02020603050405020304" pitchFamily="18" charset="0"/>
                <a:ea typeface="黑体" panose="02010609060101010101" pitchFamily="49" charset="-122"/>
              </a:rPr>
              <a:t>p</a:t>
            </a:r>
            <a:r>
              <a:rPr lang="en-US" altLang="zh-CN" b="1">
                <a:latin typeface="Times New Roman" panose="02020603050405020304" pitchFamily="18" charset="0"/>
                <a:ea typeface="黑体" panose="02010609060101010101" pitchFamily="49" charset="-122"/>
              </a:rPr>
              <a:t>=50kPa</a:t>
            </a:r>
            <a:r>
              <a:rPr lang="zh-CN" altLang="en-US" b="1">
                <a:latin typeface="Times New Roman" panose="02020603050405020304" pitchFamily="18" charset="0"/>
                <a:ea typeface="黑体" panose="02010609060101010101" pitchFamily="49" charset="-122"/>
              </a:rPr>
              <a:t>，</a:t>
            </a:r>
            <a:r>
              <a:rPr lang="en-US" altLang="zh-CN" b="1" i="1">
                <a:latin typeface="Times New Roman" panose="02020603050405020304" pitchFamily="18" charset="0"/>
                <a:ea typeface="黑体" panose="02010609060101010101" pitchFamily="49" charset="-122"/>
              </a:rPr>
              <a:t>T</a:t>
            </a:r>
            <a:r>
              <a:rPr lang="en-US" altLang="zh-CN" b="1">
                <a:latin typeface="Times New Roman" panose="02020603050405020304" pitchFamily="18" charset="0"/>
                <a:ea typeface="黑体" panose="02010609060101010101" pitchFamily="49" charset="-122"/>
              </a:rPr>
              <a:t>=80℃=353K</a:t>
            </a:r>
          </a:p>
        </p:txBody>
      </p:sp>
      <p:sp>
        <p:nvSpPr>
          <p:cNvPr id="54278" name="右箭头 304142"/>
          <p:cNvSpPr>
            <a:spLocks noChangeArrowheads="1"/>
          </p:cNvSpPr>
          <p:nvPr/>
        </p:nvSpPr>
        <p:spPr bwMode="auto">
          <a:xfrm>
            <a:off x="7127875" y="4795838"/>
            <a:ext cx="360363" cy="215900"/>
          </a:xfrm>
          <a:prstGeom prst="rightArrow">
            <a:avLst>
              <a:gd name="adj1" fmla="val 50000"/>
              <a:gd name="adj2" fmla="val 41682"/>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4279" name="矩形 304144"/>
          <p:cNvSpPr>
            <a:spLocks noChangeArrowheads="1"/>
          </p:cNvSpPr>
          <p:nvPr/>
        </p:nvSpPr>
        <p:spPr bwMode="auto">
          <a:xfrm>
            <a:off x="323850" y="260350"/>
            <a:ext cx="6100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多相系的温度和压力往往不独立 </a:t>
            </a:r>
          </a:p>
        </p:txBody>
      </p:sp>
      <p:pic>
        <p:nvPicPr>
          <p:cNvPr id="54280" name="图片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71550" y="1084263"/>
            <a:ext cx="3382963"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305155"/>
          <p:cNvSpPr>
            <a:spLocks noChangeArrowheads="1"/>
          </p:cNvSpPr>
          <p:nvPr/>
        </p:nvSpPr>
        <p:spPr bwMode="auto">
          <a:xfrm>
            <a:off x="539750" y="260350"/>
            <a:ext cx="81375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ea typeface="黑体" panose="02010609060101010101" pitchFamily="49" charset="-122"/>
              </a:rPr>
              <a:t>对于两相共存状态，</a:t>
            </a:r>
            <a:r>
              <a:rPr lang="en-US" altLang="zh-CN" sz="2800" b="1" i="1">
                <a:latin typeface="Times New Roman" panose="02020603050405020304" pitchFamily="18" charset="0"/>
                <a:ea typeface="黑体" panose="02010609060101010101" pitchFamily="49" charset="-122"/>
              </a:rPr>
              <a:t>p</a:t>
            </a:r>
            <a:r>
              <a:rPr lang="zh-CN" altLang="en-US" sz="2800" b="1">
                <a:latin typeface="Times New Roman" panose="02020603050405020304" pitchFamily="18" charset="0"/>
                <a:ea typeface="黑体" panose="02010609060101010101" pitchFamily="49" charset="-122"/>
              </a:rPr>
              <a:t>和</a:t>
            </a:r>
            <a:r>
              <a:rPr lang="en-US" altLang="zh-CN" sz="2800" b="1" i="1">
                <a:latin typeface="Times New Roman" panose="02020603050405020304" pitchFamily="18" charset="0"/>
                <a:ea typeface="黑体" panose="02010609060101010101" pitchFamily="49" charset="-122"/>
              </a:rPr>
              <a:t>T</a:t>
            </a:r>
            <a:r>
              <a:rPr lang="zh-CN" altLang="en-US" sz="2800" b="1">
                <a:latin typeface="Times New Roman" panose="02020603050405020304" pitchFamily="18" charset="0"/>
                <a:ea typeface="黑体" panose="02010609060101010101" pitchFamily="49" charset="-122"/>
              </a:rPr>
              <a:t>不足以确定系统的状态，还需要另一个独立的状态参数，如</a:t>
            </a:r>
            <a:r>
              <a:rPr lang="en-US" altLang="zh-CN" sz="2800" b="1" i="1">
                <a:latin typeface="Times New Roman" panose="02020603050405020304" pitchFamily="18" charset="0"/>
                <a:ea typeface="黑体" panose="02010609060101010101" pitchFamily="49" charset="-122"/>
              </a:rPr>
              <a:t>v</a:t>
            </a:r>
            <a:r>
              <a:rPr lang="zh-CN" altLang="en-US" sz="2800" b="1">
                <a:latin typeface="Times New Roman" panose="02020603050405020304" pitchFamily="18" charset="0"/>
                <a:ea typeface="黑体" panose="02010609060101010101" pitchFamily="49" charset="-122"/>
              </a:rPr>
              <a:t>，才可以确定系统状态</a:t>
            </a:r>
          </a:p>
        </p:txBody>
      </p:sp>
      <p:sp>
        <p:nvSpPr>
          <p:cNvPr id="55299" name="矩形 305159"/>
          <p:cNvSpPr>
            <a:spLocks noChangeArrowheads="1"/>
          </p:cNvSpPr>
          <p:nvPr/>
        </p:nvSpPr>
        <p:spPr bwMode="auto">
          <a:xfrm>
            <a:off x="1922463" y="4714875"/>
            <a:ext cx="7164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latin typeface="Times New Roman" panose="02020603050405020304" pitchFamily="18" charset="0"/>
                <a:ea typeface="黑体" panose="02010609060101010101" pitchFamily="49" charset="-122"/>
              </a:rPr>
              <a:t>p</a:t>
            </a:r>
            <a:r>
              <a:rPr lang="zh-CN" altLang="en-US" sz="2400" b="1">
                <a:latin typeface="Times New Roman" panose="02020603050405020304" pitchFamily="18" charset="0"/>
                <a:ea typeface="黑体" panose="02010609060101010101" pitchFamily="49" charset="-122"/>
              </a:rPr>
              <a:t>，</a:t>
            </a:r>
            <a:r>
              <a:rPr lang="en-US" altLang="zh-CN" sz="2400" b="1" i="1">
                <a:latin typeface="Times New Roman" panose="02020603050405020304" pitchFamily="18" charset="0"/>
                <a:ea typeface="黑体" panose="02010609060101010101" pitchFamily="49" charset="-122"/>
              </a:rPr>
              <a:t>T </a:t>
            </a:r>
            <a:r>
              <a:rPr lang="zh-CN" altLang="en-US" sz="2400" b="1">
                <a:latin typeface="黑体" panose="02010609060101010101" pitchFamily="49" charset="-122"/>
                <a:ea typeface="黑体" panose="02010609060101010101" pitchFamily="49" charset="-122"/>
              </a:rPr>
              <a:t>相同，但状态不同（因为</a:t>
            </a:r>
            <a:r>
              <a:rPr lang="en-US" altLang="zh-CN" sz="2400" b="1" i="1">
                <a:latin typeface="Times New Roman" panose="02020603050405020304" pitchFamily="18" charset="0"/>
                <a:ea typeface="黑体" panose="02010609060101010101" pitchFamily="49" charset="-122"/>
              </a:rPr>
              <a:t>v</a:t>
            </a:r>
            <a:r>
              <a:rPr lang="zh-CN" altLang="en-US" sz="2400" b="1">
                <a:latin typeface="黑体" panose="02010609060101010101" pitchFamily="49" charset="-122"/>
                <a:ea typeface="黑体" panose="02010609060101010101" pitchFamily="49" charset="-122"/>
              </a:rPr>
              <a:t>不同）</a:t>
            </a:r>
          </a:p>
        </p:txBody>
      </p:sp>
      <p:sp>
        <p:nvSpPr>
          <p:cNvPr id="55300" name="矩形 305158"/>
          <p:cNvSpPr>
            <a:spLocks noChangeArrowheads="1"/>
          </p:cNvSpPr>
          <p:nvPr/>
        </p:nvSpPr>
        <p:spPr bwMode="auto">
          <a:xfrm>
            <a:off x="2124075" y="4178300"/>
            <a:ext cx="5327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1">
                <a:latin typeface="Times New Roman" panose="02020603050405020304" pitchFamily="18" charset="0"/>
                <a:ea typeface="黑体" panose="02010609060101010101" pitchFamily="49" charset="-122"/>
              </a:rPr>
              <a:t>p </a:t>
            </a:r>
            <a:r>
              <a:rPr lang="en-US" altLang="zh-CN" sz="2400" b="1">
                <a:latin typeface="Times New Roman" panose="02020603050405020304" pitchFamily="18" charset="0"/>
                <a:ea typeface="黑体" panose="02010609060101010101" pitchFamily="49" charset="-122"/>
              </a:rPr>
              <a:t>= 101.325kPa</a:t>
            </a:r>
            <a:r>
              <a:rPr lang="zh-CN" altLang="en-US" sz="2400" b="1">
                <a:latin typeface="Times New Roman" panose="02020603050405020304" pitchFamily="18" charset="0"/>
                <a:ea typeface="黑体" panose="02010609060101010101" pitchFamily="49" charset="-122"/>
              </a:rPr>
              <a:t>，</a:t>
            </a:r>
            <a:r>
              <a:rPr lang="en-US" altLang="zh-CN" sz="2400" b="1" i="1">
                <a:latin typeface="Times New Roman" panose="02020603050405020304" pitchFamily="18" charset="0"/>
                <a:ea typeface="黑体" panose="02010609060101010101" pitchFamily="49" charset="-122"/>
              </a:rPr>
              <a:t>T </a:t>
            </a:r>
            <a:r>
              <a:rPr lang="en-US" altLang="zh-CN" sz="2400" b="1">
                <a:latin typeface="Times New Roman" panose="02020603050405020304" pitchFamily="18" charset="0"/>
                <a:ea typeface="黑体" panose="02010609060101010101" pitchFamily="49" charset="-122"/>
              </a:rPr>
              <a:t>= 100℃ = 373K</a:t>
            </a:r>
          </a:p>
        </p:txBody>
      </p:sp>
      <p:sp>
        <p:nvSpPr>
          <p:cNvPr id="2" name="矩形 1"/>
          <p:cNvSpPr/>
          <p:nvPr/>
        </p:nvSpPr>
        <p:spPr>
          <a:xfrm>
            <a:off x="557213" y="5373688"/>
            <a:ext cx="7920037" cy="1200150"/>
          </a:xfrm>
          <a:prstGeom prst="rect">
            <a:avLst/>
          </a:prstGeom>
        </p:spPr>
        <p:txBody>
          <a:bodyPr>
            <a:spAutoFit/>
          </a:bodyPr>
          <a:lstStyle/>
          <a:p>
            <a:pPr>
              <a:defRPr/>
            </a:pPr>
            <a:r>
              <a:rPr lang="zh-CN" altLang="en-US" sz="2400" b="1" kern="100" dirty="0">
                <a:latin typeface="黑体" panose="02010609060101010101" pitchFamily="49" charset="-122"/>
                <a:ea typeface="黑体" panose="02010609060101010101" pitchFamily="49" charset="-122"/>
                <a:cs typeface="Times New Roman" panose="02020603050405020304" pitchFamily="18" charset="0"/>
              </a:rPr>
              <a:t>一个</a:t>
            </a:r>
            <a:r>
              <a:rPr lang="zh-CN" altLang="zh-CN" sz="2400" b="1" kern="100" dirty="0">
                <a:latin typeface="黑体" panose="02010609060101010101" pitchFamily="49" charset="-122"/>
                <a:ea typeface="黑体" panose="02010609060101010101" pitchFamily="49" charset="-122"/>
                <a:cs typeface="Times New Roman" panose="02020603050405020304" pitchFamily="18" charset="0"/>
              </a:rPr>
              <a:t>热力系</a:t>
            </a:r>
            <a:r>
              <a:rPr lang="zh-CN" altLang="en-US" sz="2400" b="1" kern="100" dirty="0">
                <a:latin typeface="黑体" panose="02010609060101010101" pitchFamily="49" charset="-122"/>
                <a:ea typeface="黑体" panose="02010609060101010101" pitchFamily="49" charset="-122"/>
                <a:cs typeface="Times New Roman" panose="02020603050405020304" pitchFamily="18" charset="0"/>
              </a:rPr>
              <a:t>的</a:t>
            </a:r>
            <a:r>
              <a:rPr lang="zh-CN" altLang="zh-CN" sz="2400" b="1" kern="100" dirty="0">
                <a:latin typeface="黑体" panose="02010609060101010101" pitchFamily="49" charset="-122"/>
                <a:ea typeface="黑体" panose="02010609060101010101" pitchFamily="49" charset="-122"/>
                <a:cs typeface="Times New Roman" panose="02020603050405020304" pitchFamily="18" charset="0"/>
              </a:rPr>
              <a:t>两个</a:t>
            </a:r>
            <a:r>
              <a:rPr lang="zh-CN" altLang="zh-CN" sz="2400" b="1" kern="100" dirty="0">
                <a:solidFill>
                  <a:srgbClr val="FF3300"/>
                </a:solidFill>
                <a:latin typeface="黑体" panose="02010609060101010101" pitchFamily="49" charset="-122"/>
                <a:ea typeface="黑体" panose="02010609060101010101" pitchFamily="49" charset="-122"/>
                <a:cs typeface="Times New Roman" panose="02020603050405020304" pitchFamily="18" charset="0"/>
              </a:rPr>
              <a:t>状态相同</a:t>
            </a:r>
            <a:r>
              <a:rPr lang="zh-CN" altLang="zh-CN" sz="2400" b="1" kern="100" dirty="0">
                <a:latin typeface="黑体" panose="02010609060101010101" pitchFamily="49" charset="-122"/>
                <a:ea typeface="黑体" panose="02010609060101010101" pitchFamily="49" charset="-122"/>
                <a:cs typeface="Times New Roman" panose="02020603050405020304" pitchFamily="18" charset="0"/>
              </a:rPr>
              <a:t>，意味着其</a:t>
            </a:r>
            <a:r>
              <a:rPr lang="zh-CN" altLang="zh-CN" sz="2400" b="1" kern="100" dirty="0">
                <a:solidFill>
                  <a:srgbClr val="FF3300"/>
                </a:solidFill>
                <a:latin typeface="黑体" panose="02010609060101010101" pitchFamily="49" charset="-122"/>
                <a:ea typeface="黑体" panose="02010609060101010101" pitchFamily="49" charset="-122"/>
                <a:cs typeface="Times New Roman" panose="02020603050405020304" pitchFamily="18" charset="0"/>
              </a:rPr>
              <a:t>所有的状态参数均一一对应相等</a:t>
            </a:r>
            <a:r>
              <a:rPr lang="zh-CN" altLang="zh-CN" sz="2400" b="1" kern="100" dirty="0">
                <a:latin typeface="黑体" panose="02010609060101010101" pitchFamily="49" charset="-122"/>
                <a:ea typeface="黑体" panose="02010609060101010101" pitchFamily="49" charset="-122"/>
                <a:cs typeface="Times New Roman" panose="02020603050405020304" pitchFamily="18" charset="0"/>
              </a:rPr>
              <a:t>。反之，也只有所有状态参数均对应相等，才可以说该热力系的两个状态相同。</a:t>
            </a:r>
            <a:endParaRPr lang="zh-CN" altLang="en-US" sz="2400" b="1" dirty="0">
              <a:latin typeface="黑体" panose="02010609060101010101" pitchFamily="49" charset="-122"/>
              <a:ea typeface="黑体" panose="02010609060101010101" pitchFamily="49" charset="-122"/>
            </a:endParaRPr>
          </a:p>
        </p:txBody>
      </p:sp>
      <p:sp>
        <p:nvSpPr>
          <p:cNvPr id="11" name="燕尾形箭头 10"/>
          <p:cNvSpPr/>
          <p:nvPr/>
        </p:nvSpPr>
        <p:spPr>
          <a:xfrm>
            <a:off x="3635375" y="2997200"/>
            <a:ext cx="1223963" cy="144463"/>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5303" name="矩形 11"/>
          <p:cNvSpPr>
            <a:spLocks noChangeArrowheads="1"/>
          </p:cNvSpPr>
          <p:nvPr/>
        </p:nvSpPr>
        <p:spPr bwMode="auto">
          <a:xfrm>
            <a:off x="3575050" y="2589213"/>
            <a:ext cx="1346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latin typeface="Times New Roman" panose="02020603050405020304" pitchFamily="18" charset="0"/>
                <a:ea typeface="黑体" panose="02010609060101010101" pitchFamily="49" charset="-122"/>
              </a:rPr>
              <a:t>液态水蒸发</a:t>
            </a:r>
            <a:endParaRPr lang="zh-CN" altLang="en-US" sz="1800"/>
          </a:p>
        </p:txBody>
      </p:sp>
      <p:sp>
        <p:nvSpPr>
          <p:cNvPr id="55304" name="矩形 12"/>
          <p:cNvSpPr>
            <a:spLocks noChangeArrowheads="1"/>
          </p:cNvSpPr>
          <p:nvPr/>
        </p:nvSpPr>
        <p:spPr bwMode="auto">
          <a:xfrm>
            <a:off x="1835150" y="1828800"/>
            <a:ext cx="958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solidFill>
                  <a:srgbClr val="FF3300"/>
                </a:solidFill>
                <a:latin typeface="黑体" panose="02010609060101010101" pitchFamily="49" charset="-122"/>
                <a:ea typeface="黑体" panose="02010609060101010101" pitchFamily="49" charset="-122"/>
              </a:rPr>
              <a:t>状态</a:t>
            </a:r>
            <a:r>
              <a:rPr lang="en-US" altLang="zh-CN" sz="2400" b="1">
                <a:solidFill>
                  <a:srgbClr val="FF3300"/>
                </a:solidFill>
                <a:latin typeface="黑体" panose="02010609060101010101" pitchFamily="49" charset="-122"/>
                <a:ea typeface="黑体" panose="02010609060101010101" pitchFamily="49" charset="-122"/>
              </a:rPr>
              <a:t>1</a:t>
            </a:r>
            <a:endParaRPr lang="zh-CN" altLang="en-US" sz="2400">
              <a:solidFill>
                <a:srgbClr val="FF3300"/>
              </a:solidFill>
            </a:endParaRPr>
          </a:p>
        </p:txBody>
      </p:sp>
      <p:sp>
        <p:nvSpPr>
          <p:cNvPr id="55305" name="矩形 18"/>
          <p:cNvSpPr>
            <a:spLocks noChangeArrowheads="1"/>
          </p:cNvSpPr>
          <p:nvPr/>
        </p:nvSpPr>
        <p:spPr bwMode="auto">
          <a:xfrm>
            <a:off x="5651500" y="1458913"/>
            <a:ext cx="958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solidFill>
                  <a:srgbClr val="FF3300"/>
                </a:solidFill>
                <a:latin typeface="黑体" panose="02010609060101010101" pitchFamily="49" charset="-122"/>
                <a:ea typeface="黑体" panose="02010609060101010101" pitchFamily="49" charset="-122"/>
              </a:rPr>
              <a:t>状态</a:t>
            </a:r>
            <a:r>
              <a:rPr lang="en-US" altLang="zh-CN" sz="2400" b="1">
                <a:solidFill>
                  <a:srgbClr val="FF3300"/>
                </a:solidFill>
                <a:latin typeface="黑体" panose="02010609060101010101" pitchFamily="49" charset="-122"/>
                <a:ea typeface="黑体" panose="02010609060101010101" pitchFamily="49" charset="-122"/>
              </a:rPr>
              <a:t>2</a:t>
            </a:r>
            <a:endParaRPr lang="zh-CN" altLang="en-US" sz="2400">
              <a:solidFill>
                <a:srgbClr val="FF3300"/>
              </a:solidFill>
            </a:endParaRPr>
          </a:p>
        </p:txBody>
      </p:sp>
      <p:pic>
        <p:nvPicPr>
          <p:cNvPr id="55306" name="图片 1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1778000"/>
            <a:ext cx="2735262"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7"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6063" y="1736725"/>
            <a:ext cx="27305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306177"/>
          <p:cNvSpPr>
            <a:spLocks noGrp="1" noChangeArrowheads="1"/>
          </p:cNvSpPr>
          <p:nvPr>
            <p:ph type="ctrTitle"/>
          </p:nvPr>
        </p:nvSpPr>
        <p:spPr>
          <a:xfrm>
            <a:off x="611188" y="1981200"/>
            <a:ext cx="8153400" cy="1143000"/>
          </a:xfrm>
        </p:spPr>
        <p:txBody>
          <a:bodyPr anchor="ctr"/>
          <a:lstStyle/>
          <a:p>
            <a:pPr eaLnBrk="1" hangingPunct="1">
              <a:buFontTx/>
              <a:buChar char="§"/>
            </a:pPr>
            <a:r>
              <a:rPr lang="en-US" altLang="zh-CN" sz="3600" b="1" smtClean="0">
                <a:solidFill>
                  <a:schemeClr val="tx1"/>
                </a:solidFill>
                <a:latin typeface="黑体" panose="02010609060101010101" pitchFamily="49" charset="-122"/>
                <a:ea typeface="黑体" panose="02010609060101010101" pitchFamily="49" charset="-122"/>
              </a:rPr>
              <a:t>1</a:t>
            </a:r>
            <a:r>
              <a:rPr lang="zh-CN" altLang="en-US" sz="3600" b="1" smtClean="0">
                <a:solidFill>
                  <a:schemeClr val="tx1"/>
                </a:solidFill>
                <a:latin typeface="黑体" panose="02010609060101010101" pitchFamily="49" charset="-122"/>
                <a:ea typeface="黑体" panose="02010609060101010101" pitchFamily="49" charset="-122"/>
              </a:rPr>
              <a:t>－</a:t>
            </a:r>
            <a:r>
              <a:rPr lang="en-US" altLang="zh-CN" sz="3600" b="1" smtClean="0">
                <a:solidFill>
                  <a:schemeClr val="tx1"/>
                </a:solidFill>
                <a:latin typeface="黑体" panose="02010609060101010101" pitchFamily="49" charset="-122"/>
                <a:ea typeface="黑体" panose="02010609060101010101" pitchFamily="49" charset="-122"/>
              </a:rPr>
              <a:t>5 </a:t>
            </a:r>
            <a:r>
              <a:rPr lang="zh-CN" altLang="en-US" sz="3600" b="1" smtClean="0">
                <a:solidFill>
                  <a:schemeClr val="tx1"/>
                </a:solidFill>
                <a:latin typeface="黑体" panose="02010609060101010101" pitchFamily="49" charset="-122"/>
                <a:ea typeface="黑体" panose="02010609060101010101" pitchFamily="49" charset="-122"/>
              </a:rPr>
              <a:t>状态方程式、热力状态坐标图</a:t>
            </a:r>
          </a:p>
        </p:txBody>
      </p:sp>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文本框 295939"/>
          <p:cNvSpPr txBox="1">
            <a:spLocks noChangeArrowheads="1"/>
          </p:cNvSpPr>
          <p:nvPr/>
        </p:nvSpPr>
        <p:spPr bwMode="auto">
          <a:xfrm>
            <a:off x="360363" y="260350"/>
            <a:ext cx="71278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ea typeface="黑体" panose="02010609060101010101" pitchFamily="49" charset="-122"/>
              </a:rPr>
              <a:t>一、状态方程式</a:t>
            </a:r>
          </a:p>
        </p:txBody>
      </p:sp>
      <p:sp>
        <p:nvSpPr>
          <p:cNvPr id="57347" name="矩形 295941"/>
          <p:cNvSpPr>
            <a:spLocks noChangeArrowheads="1"/>
          </p:cNvSpPr>
          <p:nvPr/>
        </p:nvSpPr>
        <p:spPr bwMode="auto">
          <a:xfrm>
            <a:off x="0" y="3751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57348" name="对象 295940"/>
          <p:cNvGraphicFramePr/>
          <p:nvPr/>
        </p:nvGraphicFramePr>
        <p:xfrm>
          <a:off x="3168650" y="2840038"/>
          <a:ext cx="1908175" cy="585787"/>
        </p:xfrm>
        <a:graphic>
          <a:graphicData uri="http://schemas.openxmlformats.org/presentationml/2006/ole">
            <mc:AlternateContent xmlns:mc="http://schemas.openxmlformats.org/markup-compatibility/2006">
              <mc:Choice xmlns:v="urn:schemas-microsoft-com:vml" Requires="v">
                <p:oleObj spid="_x0000_s29725" r:id="rId5" imgW="837565" imgH="254000" progId="Equation.DSMT4">
                  <p:embed/>
                </p:oleObj>
              </mc:Choice>
              <mc:Fallback>
                <p:oleObj r:id="rId5" imgW="837565" imgH="254000" progId="Equation.DSMT4">
                  <p:embed/>
                  <p:pic>
                    <p:nvPicPr>
                      <p:cNvPr id="0" name="对象 29594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8650" y="2840038"/>
                        <a:ext cx="19081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49" name="文本框 295942"/>
          <p:cNvSpPr txBox="1">
            <a:spLocks noChangeArrowheads="1"/>
          </p:cNvSpPr>
          <p:nvPr/>
        </p:nvSpPr>
        <p:spPr bwMode="auto">
          <a:xfrm>
            <a:off x="827088" y="952500"/>
            <a:ext cx="74898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ea typeface="黑体" panose="02010609060101010101" pitchFamily="49" charset="-122"/>
              </a:rPr>
              <a:t>由状态公理知，简单可压缩系统处于平衡态时，其独立的内部强度状态参数只有两个，因此可任选两个独立内部强度状态参数</a:t>
            </a:r>
            <a:r>
              <a:rPr lang="en-US" altLang="zh-CN" sz="2800" b="1" i="1">
                <a:latin typeface="Times New Roman" panose="02020603050405020304" pitchFamily="18" charset="0"/>
                <a:ea typeface="黑体" panose="02010609060101010101" pitchFamily="49" charset="-122"/>
              </a:rPr>
              <a:t>x</a:t>
            </a:r>
            <a:r>
              <a:rPr lang="en-US" altLang="zh-CN" sz="2800" b="1" baseline="-25000">
                <a:latin typeface="Times New Roman" panose="02020603050405020304" pitchFamily="18" charset="0"/>
                <a:ea typeface="黑体" panose="02010609060101010101" pitchFamily="49" charset="-122"/>
              </a:rPr>
              <a:t>1</a:t>
            </a:r>
            <a:r>
              <a:rPr lang="zh-CN" altLang="en-US" sz="2800" b="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x</a:t>
            </a:r>
            <a:r>
              <a:rPr lang="en-US" altLang="zh-CN" sz="2800" b="1" baseline="-25000">
                <a:latin typeface="Times New Roman" panose="02020603050405020304" pitchFamily="18" charset="0"/>
                <a:ea typeface="黑体" panose="02010609060101010101" pitchFamily="49" charset="-122"/>
              </a:rPr>
              <a:t>2</a:t>
            </a:r>
            <a:r>
              <a:rPr lang="zh-CN" altLang="en-US" sz="2800" b="1">
                <a:latin typeface="Times New Roman" panose="02020603050405020304" pitchFamily="18" charset="0"/>
                <a:ea typeface="黑体" panose="02010609060101010101" pitchFamily="49" charset="-122"/>
              </a:rPr>
              <a:t>作为自变量，其余内部强度状态参数</a:t>
            </a:r>
            <a:r>
              <a:rPr lang="en-US" altLang="zh-CN" sz="2800" b="1" i="1">
                <a:latin typeface="Times New Roman" panose="02020603050405020304" pitchFamily="18" charset="0"/>
                <a:ea typeface="黑体" panose="02010609060101010101" pitchFamily="49" charset="-122"/>
              </a:rPr>
              <a:t>y</a:t>
            </a:r>
            <a:r>
              <a:rPr lang="zh-CN" altLang="en-US" sz="2800" b="1">
                <a:latin typeface="Times New Roman" panose="02020603050405020304" pitchFamily="18" charset="0"/>
                <a:ea typeface="黑体" panose="02010609060101010101" pitchFamily="49" charset="-122"/>
              </a:rPr>
              <a:t>为因变量</a:t>
            </a:r>
          </a:p>
        </p:txBody>
      </p:sp>
      <p:sp>
        <p:nvSpPr>
          <p:cNvPr id="57350" name="矩形 295944"/>
          <p:cNvSpPr>
            <a:spLocks noChangeArrowheads="1"/>
          </p:cNvSpPr>
          <p:nvPr/>
        </p:nvSpPr>
        <p:spPr bwMode="auto">
          <a:xfrm>
            <a:off x="0" y="3751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5944" name="对象 295943"/>
          <p:cNvGraphicFramePr/>
          <p:nvPr/>
        </p:nvGraphicFramePr>
        <p:xfrm>
          <a:off x="1187450" y="4167188"/>
          <a:ext cx="1728788" cy="582612"/>
        </p:xfrm>
        <a:graphic>
          <a:graphicData uri="http://schemas.openxmlformats.org/presentationml/2006/ole">
            <mc:AlternateContent xmlns:mc="http://schemas.openxmlformats.org/markup-compatibility/2006">
              <mc:Choice xmlns:v="urn:schemas-microsoft-com:vml" Requires="v">
                <p:oleObj spid="_x0000_s29726" r:id="rId7" imgW="761365" imgH="254000" progId="Equation.DSMT4">
                  <p:embed/>
                </p:oleObj>
              </mc:Choice>
              <mc:Fallback>
                <p:oleObj r:id="rId7" imgW="761365" imgH="254000" progId="Equation.DSMT4">
                  <p:embed/>
                  <p:pic>
                    <p:nvPicPr>
                      <p:cNvPr id="0" name="对象 29594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4167188"/>
                        <a:ext cx="1728788"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5946" name="文本框 295945"/>
          <p:cNvSpPr txBox="1">
            <a:spLocks noChangeArrowheads="1"/>
          </p:cNvSpPr>
          <p:nvPr/>
        </p:nvSpPr>
        <p:spPr bwMode="auto">
          <a:xfrm>
            <a:off x="755650" y="3519488"/>
            <a:ext cx="7489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ea typeface="黑体" panose="02010609060101010101" pitchFamily="49" charset="-122"/>
              </a:rPr>
              <a:t>工程上常在</a:t>
            </a:r>
            <a:r>
              <a:rPr lang="en-US" altLang="zh-CN" sz="2800" b="1" i="1">
                <a:latin typeface="Times New Roman" panose="02020603050405020304" pitchFamily="18" charset="0"/>
                <a:ea typeface="黑体" panose="02010609060101010101" pitchFamily="49" charset="-122"/>
              </a:rPr>
              <a:t>p</a:t>
            </a:r>
            <a:r>
              <a:rPr lang="zh-CN" altLang="en-US" sz="2800" b="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v</a:t>
            </a:r>
            <a:r>
              <a:rPr lang="zh-CN" altLang="en-US" sz="2800" b="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T</a:t>
            </a:r>
            <a:r>
              <a:rPr lang="zh-CN" altLang="en-US" sz="2800" b="1">
                <a:latin typeface="Times New Roman" panose="02020603050405020304" pitchFamily="18" charset="0"/>
                <a:ea typeface="黑体" panose="02010609060101010101" pitchFamily="49" charset="-122"/>
              </a:rPr>
              <a:t>中选两个</a:t>
            </a:r>
          </a:p>
        </p:txBody>
      </p:sp>
      <p:graphicFrame>
        <p:nvGraphicFramePr>
          <p:cNvPr id="295947" name="对象 295946"/>
          <p:cNvGraphicFramePr/>
          <p:nvPr/>
        </p:nvGraphicFramePr>
        <p:xfrm>
          <a:off x="3492500" y="4238625"/>
          <a:ext cx="1584325" cy="534988"/>
        </p:xfrm>
        <a:graphic>
          <a:graphicData uri="http://schemas.openxmlformats.org/presentationml/2006/ole">
            <mc:AlternateContent xmlns:mc="http://schemas.openxmlformats.org/markup-compatibility/2006">
              <mc:Choice xmlns:v="urn:schemas-microsoft-com:vml" Requires="v">
                <p:oleObj spid="_x0000_s29727" r:id="rId9" imgW="761365" imgH="254000" progId="Equation.DSMT4">
                  <p:embed/>
                </p:oleObj>
              </mc:Choice>
              <mc:Fallback>
                <p:oleObj r:id="rId9" imgW="761365" imgH="254000" progId="Equation.DSMT4">
                  <p:embed/>
                  <p:pic>
                    <p:nvPicPr>
                      <p:cNvPr id="0" name="对象 29594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2500" y="4238625"/>
                        <a:ext cx="15843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5949" name="对象 295948"/>
          <p:cNvGraphicFramePr/>
          <p:nvPr/>
        </p:nvGraphicFramePr>
        <p:xfrm>
          <a:off x="5724525" y="4238625"/>
          <a:ext cx="1512888" cy="509588"/>
        </p:xfrm>
        <a:graphic>
          <a:graphicData uri="http://schemas.openxmlformats.org/presentationml/2006/ole">
            <mc:AlternateContent xmlns:mc="http://schemas.openxmlformats.org/markup-compatibility/2006">
              <mc:Choice xmlns:v="urn:schemas-microsoft-com:vml" Requires="v">
                <p:oleObj spid="_x0000_s29728" r:id="rId11" imgW="761365" imgH="254000" progId="Equation.DSMT4">
                  <p:embed/>
                </p:oleObj>
              </mc:Choice>
              <mc:Fallback>
                <p:oleObj r:id="rId11" imgW="761365" imgH="254000" progId="Equation.DSMT4">
                  <p:embed/>
                  <p:pic>
                    <p:nvPicPr>
                      <p:cNvPr id="0" name="对象 29594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24525" y="4238625"/>
                        <a:ext cx="1512888"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5951" name="矩形 295950"/>
          <p:cNvSpPr>
            <a:spLocks noChangeArrowheads="1"/>
          </p:cNvSpPr>
          <p:nvPr/>
        </p:nvSpPr>
        <p:spPr bwMode="auto">
          <a:xfrm>
            <a:off x="5019675" y="5146675"/>
            <a:ext cx="40671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ea typeface="黑体" panose="02010609060101010101" pitchFamily="49" charset="-122"/>
              </a:rPr>
              <a:t>反映</a:t>
            </a:r>
            <a:r>
              <a:rPr lang="en-US" altLang="zh-CN" sz="2800" b="1" i="1">
                <a:latin typeface="Times New Roman" panose="02020603050405020304" pitchFamily="18" charset="0"/>
                <a:ea typeface="黑体" panose="02010609060101010101" pitchFamily="49" charset="-122"/>
              </a:rPr>
              <a:t>p</a:t>
            </a:r>
            <a:r>
              <a:rPr lang="zh-CN" altLang="en-US" sz="2800" b="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v</a:t>
            </a:r>
            <a:r>
              <a:rPr lang="zh-CN" altLang="en-US" sz="2800" b="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T</a:t>
            </a:r>
            <a:r>
              <a:rPr lang="zh-CN" altLang="en-US" sz="2800" b="1">
                <a:latin typeface="Times New Roman" panose="02020603050405020304" pitchFamily="18" charset="0"/>
                <a:ea typeface="黑体" panose="02010609060101010101" pitchFamily="49" charset="-122"/>
              </a:rPr>
              <a:t>之间关系的方程称为</a:t>
            </a:r>
            <a:r>
              <a:rPr lang="zh-CN" altLang="en-US" sz="2800" b="1">
                <a:solidFill>
                  <a:srgbClr val="FF0000"/>
                </a:solidFill>
                <a:latin typeface="Times New Roman" panose="02020603050405020304" pitchFamily="18" charset="0"/>
                <a:ea typeface="黑体" panose="02010609060101010101" pitchFamily="49" charset="-122"/>
              </a:rPr>
              <a:t>状态方程式</a:t>
            </a:r>
            <a:r>
              <a:rPr lang="zh-CN" altLang="en-US" sz="1800" b="1">
                <a:solidFill>
                  <a:srgbClr val="FF0000"/>
                </a:solidFill>
                <a:latin typeface="Times New Roman" panose="02020603050405020304" pitchFamily="18" charset="0"/>
                <a:ea typeface="黑体" panose="02010609060101010101" pitchFamily="49" charset="-122"/>
              </a:rPr>
              <a:t> </a:t>
            </a:r>
          </a:p>
        </p:txBody>
      </p:sp>
      <p:sp>
        <p:nvSpPr>
          <p:cNvPr id="295954" name="矩形 295953"/>
          <p:cNvSpPr>
            <a:spLocks noChangeArrowheads="1"/>
          </p:cNvSpPr>
          <p:nvPr/>
        </p:nvSpPr>
        <p:spPr bwMode="auto">
          <a:xfrm>
            <a:off x="1187450" y="4167188"/>
            <a:ext cx="6192838" cy="720725"/>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95957" name="组合 295956"/>
          <p:cNvGrpSpPr/>
          <p:nvPr/>
        </p:nvGrpSpPr>
        <p:grpSpPr bwMode="auto">
          <a:xfrm>
            <a:off x="1547813" y="4959350"/>
            <a:ext cx="3313112" cy="1120775"/>
            <a:chOff x="975" y="2840"/>
            <a:chExt cx="2087" cy="706"/>
          </a:xfrm>
        </p:grpSpPr>
        <p:graphicFrame>
          <p:nvGraphicFramePr>
            <p:cNvPr id="57358" name="对象 295951"/>
            <p:cNvGraphicFramePr/>
            <p:nvPr/>
          </p:nvGraphicFramePr>
          <p:xfrm>
            <a:off x="1882" y="3203"/>
            <a:ext cx="1180" cy="343"/>
          </p:xfrm>
          <a:graphic>
            <a:graphicData uri="http://schemas.openxmlformats.org/presentationml/2006/ole">
              <mc:AlternateContent xmlns:mc="http://schemas.openxmlformats.org/markup-compatibility/2006">
                <mc:Choice xmlns:v="urn:schemas-microsoft-com:vml" Requires="v">
                  <p:oleObj spid="_x0000_s29729" r:id="rId13" imgW="888365" imgH="254000" progId="Equation.DSMT4">
                    <p:embed/>
                  </p:oleObj>
                </mc:Choice>
                <mc:Fallback>
                  <p:oleObj r:id="rId13" imgW="888365" imgH="254000" progId="Equation.DSMT4">
                    <p:embed/>
                    <p:pic>
                      <p:nvPicPr>
                        <p:cNvPr id="0" name="对象 295951"/>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82" y="3203"/>
                          <a:ext cx="1180"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9" name="下箭头 295954"/>
            <p:cNvSpPr>
              <a:spLocks noChangeArrowheads="1"/>
            </p:cNvSpPr>
            <p:nvPr/>
          </p:nvSpPr>
          <p:spPr bwMode="auto">
            <a:xfrm>
              <a:off x="2381" y="2840"/>
              <a:ext cx="182" cy="363"/>
            </a:xfrm>
            <a:prstGeom prst="downArrow">
              <a:avLst>
                <a:gd name="adj1" fmla="val 50000"/>
                <a:gd name="adj2" fmla="val 49807"/>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7360" name="文本框 295955"/>
            <p:cNvSpPr txBox="1">
              <a:spLocks noChangeArrowheads="1"/>
            </p:cNvSpPr>
            <p:nvPr/>
          </p:nvSpPr>
          <p:spPr bwMode="auto">
            <a:xfrm>
              <a:off x="975" y="2840"/>
              <a:ext cx="13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隐函数形式</a:t>
              </a:r>
            </a:p>
          </p:txBody>
        </p:sp>
      </p:gr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5946"/>
                                        </p:tgtEl>
                                        <p:attrNameLst>
                                          <p:attrName>style.visibility</p:attrName>
                                        </p:attrNameLst>
                                      </p:cBhvr>
                                      <p:to>
                                        <p:strVal val="visible"/>
                                      </p:to>
                                    </p:set>
                                    <p:animEffect transition="in" filter="blinds(horizontal)">
                                      <p:cBhvr>
                                        <p:cTn id="7" dur="500"/>
                                        <p:tgtEl>
                                          <p:spTgt spid="2959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5944"/>
                                        </p:tgtEl>
                                        <p:attrNameLst>
                                          <p:attrName>style.visibility</p:attrName>
                                        </p:attrNameLst>
                                      </p:cBhvr>
                                      <p:to>
                                        <p:strVal val="visible"/>
                                      </p:to>
                                    </p:set>
                                    <p:animEffect transition="in" filter="blinds(horizontal)">
                                      <p:cBhvr>
                                        <p:cTn id="12" dur="500"/>
                                        <p:tgtEl>
                                          <p:spTgt spid="295944"/>
                                        </p:tgtEl>
                                      </p:cBhvr>
                                    </p:animEffect>
                                  </p:childTnLst>
                                </p:cTn>
                              </p:par>
                              <p:par>
                                <p:cTn id="13" presetID="3" presetClass="entr" presetSubtype="10" fill="hold" nodeType="withEffect">
                                  <p:stCondLst>
                                    <p:cond delay="0"/>
                                  </p:stCondLst>
                                  <p:childTnLst>
                                    <p:set>
                                      <p:cBhvr>
                                        <p:cTn id="14" dur="1" fill="hold">
                                          <p:stCondLst>
                                            <p:cond delay="0"/>
                                          </p:stCondLst>
                                        </p:cTn>
                                        <p:tgtEl>
                                          <p:spTgt spid="295947"/>
                                        </p:tgtEl>
                                        <p:attrNameLst>
                                          <p:attrName>style.visibility</p:attrName>
                                        </p:attrNameLst>
                                      </p:cBhvr>
                                      <p:to>
                                        <p:strVal val="visible"/>
                                      </p:to>
                                    </p:set>
                                    <p:animEffect transition="in" filter="blinds(horizontal)">
                                      <p:cBhvr>
                                        <p:cTn id="15" dur="500"/>
                                        <p:tgtEl>
                                          <p:spTgt spid="295947"/>
                                        </p:tgtEl>
                                      </p:cBhvr>
                                    </p:animEffect>
                                  </p:childTnLst>
                                </p:cTn>
                              </p:par>
                              <p:par>
                                <p:cTn id="16" presetID="3" presetClass="entr" presetSubtype="10" fill="hold" nodeType="withEffect">
                                  <p:stCondLst>
                                    <p:cond delay="0"/>
                                  </p:stCondLst>
                                  <p:childTnLst>
                                    <p:set>
                                      <p:cBhvr>
                                        <p:cTn id="17" dur="1" fill="hold">
                                          <p:stCondLst>
                                            <p:cond delay="0"/>
                                          </p:stCondLst>
                                        </p:cTn>
                                        <p:tgtEl>
                                          <p:spTgt spid="295949"/>
                                        </p:tgtEl>
                                        <p:attrNameLst>
                                          <p:attrName>style.visibility</p:attrName>
                                        </p:attrNameLst>
                                      </p:cBhvr>
                                      <p:to>
                                        <p:strVal val="visible"/>
                                      </p:to>
                                    </p:set>
                                    <p:animEffect transition="in" filter="blinds(horizontal)">
                                      <p:cBhvr>
                                        <p:cTn id="18" dur="500"/>
                                        <p:tgtEl>
                                          <p:spTgt spid="295949"/>
                                        </p:tgtEl>
                                      </p:cBhvr>
                                    </p:animEffect>
                                  </p:childTnLst>
                                </p:cTn>
                              </p:par>
                              <p:par>
                                <p:cTn id="19" presetID="3" presetClass="entr" presetSubtype="10" fill="hold" nodeType="withEffect">
                                  <p:stCondLst>
                                    <p:cond delay="0"/>
                                  </p:stCondLst>
                                  <p:childTnLst>
                                    <p:set>
                                      <p:cBhvr>
                                        <p:cTn id="20" dur="1" fill="hold">
                                          <p:stCondLst>
                                            <p:cond delay="0"/>
                                          </p:stCondLst>
                                        </p:cTn>
                                        <p:tgtEl>
                                          <p:spTgt spid="295954"/>
                                        </p:tgtEl>
                                        <p:attrNameLst>
                                          <p:attrName>style.visibility</p:attrName>
                                        </p:attrNameLst>
                                      </p:cBhvr>
                                      <p:to>
                                        <p:strVal val="visible"/>
                                      </p:to>
                                    </p:set>
                                    <p:animEffect transition="in" filter="blinds(horizontal)">
                                      <p:cBhvr>
                                        <p:cTn id="21" dur="500"/>
                                        <p:tgtEl>
                                          <p:spTgt spid="29595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95957"/>
                                        </p:tgtEl>
                                        <p:attrNameLst>
                                          <p:attrName>style.visibility</p:attrName>
                                        </p:attrNameLst>
                                      </p:cBhvr>
                                      <p:to>
                                        <p:strVal val="visible"/>
                                      </p:to>
                                    </p:set>
                                    <p:animEffect transition="in" filter="wipe(up)">
                                      <p:cBhvr>
                                        <p:cTn id="26" dur="500"/>
                                        <p:tgtEl>
                                          <p:spTgt spid="29595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95951"/>
                                        </p:tgtEl>
                                        <p:attrNameLst>
                                          <p:attrName>style.visibility</p:attrName>
                                        </p:attrNameLst>
                                      </p:cBhvr>
                                      <p:to>
                                        <p:strVal val="visible"/>
                                      </p:to>
                                    </p:set>
                                    <p:animEffect transition="in" filter="blinds(horizontal)">
                                      <p:cBhvr>
                                        <p:cTn id="31" dur="500"/>
                                        <p:tgtEl>
                                          <p:spTgt spid="295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6" grpId="0"/>
      <p:bldP spid="29595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41346"/>
          <p:cNvSpPr>
            <a:spLocks noChangeArrowheads="1"/>
          </p:cNvSpPr>
          <p:nvPr/>
        </p:nvSpPr>
        <p:spPr bwMode="auto">
          <a:xfrm>
            <a:off x="250825" y="260350"/>
            <a:ext cx="8748713"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黑体" panose="02010609060101010101" pitchFamily="49" charset="-122"/>
                <a:ea typeface="黑体" panose="02010609060101010101" pitchFamily="49" charset="-122"/>
              </a:rPr>
              <a:t>二、热力状态坐标图</a:t>
            </a:r>
            <a:r>
              <a:rPr lang="zh-CN" altLang="en-US" sz="3600" b="1">
                <a:latin typeface="Times New Roman" panose="02020603050405020304" pitchFamily="18" charset="0"/>
                <a:ea typeface="黑体" panose="02010609060101010101" pitchFamily="49" charset="-122"/>
              </a:rPr>
              <a:t>（</a:t>
            </a:r>
            <a:r>
              <a:rPr lang="en-US" altLang="zh-CN" sz="3600" b="1">
                <a:latin typeface="Times New Roman" panose="02020603050405020304" pitchFamily="18" charset="0"/>
                <a:ea typeface="黑体" panose="02010609060101010101" pitchFamily="49" charset="-122"/>
              </a:rPr>
              <a:t>property diagram</a:t>
            </a:r>
            <a:r>
              <a:rPr lang="en-US" altLang="zh-CN" sz="3600">
                <a:latin typeface="Times New Roman" panose="02020603050405020304" pitchFamily="18" charset="0"/>
                <a:ea typeface="黑体" panose="02010609060101010101" pitchFamily="49" charset="-122"/>
              </a:rPr>
              <a:t> </a:t>
            </a:r>
            <a:r>
              <a:rPr lang="zh-CN" altLang="en-US" sz="3600" b="1">
                <a:latin typeface="Times New Roman" panose="02020603050405020304" pitchFamily="18" charset="0"/>
                <a:ea typeface="黑体" panose="02010609060101010101" pitchFamily="49" charset="-122"/>
              </a:rPr>
              <a:t>）</a:t>
            </a:r>
          </a:p>
        </p:txBody>
      </p:sp>
      <p:sp>
        <p:nvSpPr>
          <p:cNvPr id="59395" name="矩形 141347"/>
          <p:cNvSpPr>
            <a:spLocks noChangeArrowheads="1"/>
          </p:cNvSpPr>
          <p:nvPr/>
        </p:nvSpPr>
        <p:spPr bwMode="auto">
          <a:xfrm>
            <a:off x="431800" y="1052513"/>
            <a:ext cx="7772400"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latin typeface="Times New Roman" panose="02020603050405020304" pitchFamily="18" charset="0"/>
              </a:rPr>
              <a:t>    </a:t>
            </a:r>
            <a:r>
              <a:rPr lang="zh-CN" altLang="en-US" sz="2800" b="1">
                <a:latin typeface="Times New Roman" panose="02020603050405020304" pitchFamily="18" charset="0"/>
                <a:ea typeface="黑体" panose="02010609060101010101" pitchFamily="49" charset="-122"/>
              </a:rPr>
              <a:t>一个简单可压缩系只有两个独立状态参数，所以可用平面坐标上一点确定其状态，反之任一状态可在平面坐标上找到对应点</a:t>
            </a:r>
          </a:p>
        </p:txBody>
      </p:sp>
      <p:sp>
        <p:nvSpPr>
          <p:cNvPr id="59396" name="矩形 141355"/>
          <p:cNvSpPr>
            <a:spLocks noChangeArrowheads="1"/>
          </p:cNvSpPr>
          <p:nvPr/>
        </p:nvSpPr>
        <p:spPr bwMode="auto">
          <a:xfrm>
            <a:off x="0" y="2595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59397"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55963" y="3713163"/>
            <a:ext cx="27368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8" name="矩形 1"/>
          <p:cNvSpPr>
            <a:spLocks noChangeArrowheads="1"/>
          </p:cNvSpPr>
          <p:nvPr/>
        </p:nvSpPr>
        <p:spPr bwMode="auto">
          <a:xfrm>
            <a:off x="792163" y="2759075"/>
            <a:ext cx="75596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800" b="1">
                <a:latin typeface="Times New Roman" panose="02020603050405020304" pitchFamily="18" charset="0"/>
                <a:ea typeface="黑体" panose="02010609060101010101" pitchFamily="49" charset="-122"/>
              </a:rPr>
              <a:t>这种由热力状态参数所组成的坐标图称为</a:t>
            </a:r>
            <a:r>
              <a:rPr lang="zh-CN" altLang="en-US" sz="2800" b="1">
                <a:solidFill>
                  <a:srgbClr val="FF0000"/>
                </a:solidFill>
                <a:latin typeface="Times New Roman" panose="02020603050405020304" pitchFamily="18" charset="0"/>
                <a:ea typeface="黑体" panose="02010609060101010101" pitchFamily="49" charset="-122"/>
              </a:rPr>
              <a:t>热力状态坐标图</a:t>
            </a:r>
          </a:p>
        </p:txBody>
      </p:sp>
    </p:spTree>
  </p:cSld>
  <p:clrMapOvr>
    <a:masterClrMapping/>
  </p:clrMapOvr>
  <p:transition spd="slow"/>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141357"/>
          <p:cNvSpPr>
            <a:spLocks noChangeArrowheads="1"/>
          </p:cNvSpPr>
          <p:nvPr/>
        </p:nvSpPr>
        <p:spPr bwMode="auto">
          <a:xfrm>
            <a:off x="611188" y="2852738"/>
            <a:ext cx="7416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需要注意：只有</a:t>
            </a:r>
            <a:r>
              <a:rPr lang="zh-CN" altLang="en-US" sz="2800" b="1">
                <a:solidFill>
                  <a:srgbClr val="FF0000"/>
                </a:solidFill>
                <a:latin typeface="黑体" panose="02010609060101010101" pitchFamily="49" charset="-122"/>
                <a:ea typeface="黑体" panose="02010609060101010101" pitchFamily="49" charset="-122"/>
              </a:rPr>
              <a:t>平衡状态</a:t>
            </a:r>
            <a:r>
              <a:rPr lang="zh-CN" altLang="en-US" sz="2800" b="1">
                <a:latin typeface="黑体" panose="02010609060101010101" pitchFamily="49" charset="-122"/>
                <a:ea typeface="黑体" panose="02010609060101010101" pitchFamily="49" charset="-122"/>
              </a:rPr>
              <a:t>才能用状态参数图上的一点来表示，而处于非平衡状态的热力系，由于存在着局域状态参数的分布，通常无法用图上的一点来表示热力系整体的状态。</a:t>
            </a:r>
          </a:p>
        </p:txBody>
      </p:sp>
      <p:sp>
        <p:nvSpPr>
          <p:cNvPr id="60419" name="矩形 141358"/>
          <p:cNvSpPr>
            <a:spLocks noChangeArrowheads="1"/>
          </p:cNvSpPr>
          <p:nvPr/>
        </p:nvSpPr>
        <p:spPr bwMode="auto">
          <a:xfrm>
            <a:off x="2124075" y="1628775"/>
            <a:ext cx="4649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latin typeface="Times New Roman" panose="02020603050405020304" pitchFamily="18" charset="0"/>
                <a:ea typeface="黑体" panose="02010609060101010101" pitchFamily="49" charset="-122"/>
              </a:rPr>
              <a:t>p-v</a:t>
            </a:r>
            <a:r>
              <a:rPr lang="zh-CN" altLang="en-US" sz="2800" b="1">
                <a:latin typeface="Times New Roman" panose="02020603050405020304" pitchFamily="18" charset="0"/>
                <a:ea typeface="黑体" panose="02010609060101010101" pitchFamily="49" charset="-122"/>
              </a:rPr>
              <a:t>图，</a:t>
            </a:r>
            <a:r>
              <a:rPr lang="en-US" altLang="zh-CN" sz="2800" b="1" i="1">
                <a:latin typeface="Times New Roman" panose="02020603050405020304" pitchFamily="18" charset="0"/>
                <a:ea typeface="黑体" panose="02010609060101010101" pitchFamily="49" charset="-122"/>
              </a:rPr>
              <a:t>T-p</a:t>
            </a:r>
            <a:r>
              <a:rPr lang="zh-CN" altLang="en-US" sz="2800" b="1">
                <a:latin typeface="Times New Roman" panose="02020603050405020304" pitchFamily="18" charset="0"/>
                <a:ea typeface="黑体" panose="02010609060101010101" pitchFamily="49" charset="-122"/>
              </a:rPr>
              <a:t>图，</a:t>
            </a:r>
            <a:r>
              <a:rPr lang="en-US" altLang="zh-CN" sz="2800" b="1" i="1">
                <a:latin typeface="Times New Roman" panose="02020603050405020304" pitchFamily="18" charset="0"/>
                <a:ea typeface="黑体" panose="02010609060101010101" pitchFamily="49" charset="-122"/>
              </a:rPr>
              <a:t>T-s</a:t>
            </a:r>
            <a:r>
              <a:rPr lang="zh-CN" altLang="en-US" sz="2800" b="1">
                <a:latin typeface="Times New Roman" panose="02020603050405020304" pitchFamily="18" charset="0"/>
                <a:ea typeface="黑体" panose="02010609060101010101" pitchFamily="49" charset="-122"/>
              </a:rPr>
              <a:t>图和</a:t>
            </a:r>
            <a:r>
              <a:rPr lang="en-US" altLang="zh-CN" sz="2800" b="1" i="1">
                <a:latin typeface="Times New Roman" panose="02020603050405020304" pitchFamily="18" charset="0"/>
                <a:ea typeface="黑体" panose="02010609060101010101" pitchFamily="49" charset="-122"/>
              </a:rPr>
              <a:t>h-s</a:t>
            </a:r>
            <a:r>
              <a:rPr lang="zh-CN" altLang="en-US" sz="2800" b="1">
                <a:latin typeface="Times New Roman" panose="02020603050405020304" pitchFamily="18" charset="0"/>
                <a:ea typeface="黑体" panose="02010609060101010101" pitchFamily="49" charset="-122"/>
              </a:rPr>
              <a:t>图 </a:t>
            </a:r>
          </a:p>
        </p:txBody>
      </p:sp>
      <p:sp>
        <p:nvSpPr>
          <p:cNvPr id="60420" name="矩形 3"/>
          <p:cNvSpPr>
            <a:spLocks noChangeArrowheads="1"/>
          </p:cNvSpPr>
          <p:nvPr/>
        </p:nvSpPr>
        <p:spPr bwMode="auto">
          <a:xfrm>
            <a:off x="611188" y="620713"/>
            <a:ext cx="7561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800" b="1">
                <a:latin typeface="Times New Roman" panose="02020603050405020304" pitchFamily="18" charset="0"/>
                <a:ea typeface="黑体" panose="02010609060101010101" pitchFamily="49" charset="-122"/>
              </a:rPr>
              <a:t>常见的热力状态坐标图有：</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92161"/>
          <p:cNvSpPr>
            <a:spLocks noGrp="1" noChangeArrowheads="1"/>
          </p:cNvSpPr>
          <p:nvPr>
            <p:ph type="ctrTitle"/>
          </p:nvPr>
        </p:nvSpPr>
        <p:spPr>
          <a:xfrm>
            <a:off x="250825" y="1700213"/>
            <a:ext cx="8367713" cy="1524000"/>
          </a:xfrm>
        </p:spPr>
        <p:txBody>
          <a:bodyPr anchor="ctr"/>
          <a:lstStyle/>
          <a:p>
            <a:pPr eaLnBrk="1" hangingPunct="1">
              <a:buFontTx/>
              <a:buChar char="§"/>
            </a:pPr>
            <a:r>
              <a:rPr lang="en-US" altLang="zh-CN" sz="4400" b="1" smtClean="0">
                <a:solidFill>
                  <a:schemeClr val="tx1"/>
                </a:solidFill>
              </a:rPr>
              <a:t>1</a:t>
            </a:r>
            <a:r>
              <a:rPr lang="zh-CN" altLang="en-US" sz="4400" b="1" smtClean="0">
                <a:solidFill>
                  <a:schemeClr val="tx1"/>
                </a:solidFill>
              </a:rPr>
              <a:t>－</a:t>
            </a:r>
            <a:r>
              <a:rPr lang="en-US" altLang="zh-CN" sz="4400" b="1" smtClean="0">
                <a:solidFill>
                  <a:schemeClr val="tx1"/>
                </a:solidFill>
              </a:rPr>
              <a:t>6 </a:t>
            </a:r>
            <a:r>
              <a:rPr lang="zh-CN" altLang="en-US" sz="4400" b="1" smtClean="0">
                <a:solidFill>
                  <a:schemeClr val="tx1"/>
                </a:solidFill>
                <a:ea typeface="黑体" panose="02010609060101010101" pitchFamily="49" charset="-122"/>
              </a:rPr>
              <a:t>热力过程</a:t>
            </a:r>
            <a:br>
              <a:rPr lang="zh-CN" altLang="en-US" sz="4400" b="1" smtClean="0">
                <a:solidFill>
                  <a:schemeClr val="tx1"/>
                </a:solidFill>
                <a:ea typeface="黑体" panose="02010609060101010101" pitchFamily="49" charset="-122"/>
              </a:rPr>
            </a:br>
            <a:endParaRPr lang="zh-CN" altLang="en-US" sz="4400" b="1" smtClean="0">
              <a:solidFill>
                <a:schemeClr val="tx1"/>
              </a:solidFill>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309249"/>
          <p:cNvSpPr>
            <a:spLocks noChangeArrowheads="1"/>
          </p:cNvSpPr>
          <p:nvPr/>
        </p:nvSpPr>
        <p:spPr bwMode="auto">
          <a:xfrm>
            <a:off x="395288" y="976313"/>
            <a:ext cx="8424862"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ebdings" panose="05030102010509060703" pitchFamily="18" charset="2"/>
              <a:buChar char="ÿ"/>
            </a:pPr>
            <a:r>
              <a:rPr lang="zh-CN" altLang="en-US" b="1">
                <a:latin typeface="黑体" panose="02010609060101010101" pitchFamily="49" charset="-122"/>
                <a:ea typeface="黑体" panose="02010609060101010101" pitchFamily="49" charset="-122"/>
              </a:rPr>
              <a:t>根据平衡状态的定义，“平衡”意味着状态长时间不发生任何变化，而要实现能量交换，热力系又必须通过状态的变化（即</a:t>
            </a:r>
            <a:r>
              <a:rPr lang="zh-CN" altLang="en-US" b="1">
                <a:solidFill>
                  <a:srgbClr val="FF0000"/>
                </a:solidFill>
                <a:latin typeface="黑体" panose="02010609060101010101" pitchFamily="49" charset="-122"/>
                <a:ea typeface="黑体" panose="02010609060101010101" pitchFamily="49" charset="-122"/>
              </a:rPr>
              <a:t>过程）</a:t>
            </a:r>
            <a:r>
              <a:rPr lang="zh-CN" altLang="en-US" b="1">
                <a:latin typeface="黑体" panose="02010609060101010101" pitchFamily="49" charset="-122"/>
                <a:ea typeface="黑体" panose="02010609060101010101" pitchFamily="49" charset="-122"/>
              </a:rPr>
              <a:t>来完成，</a:t>
            </a:r>
          </a:p>
          <a:p>
            <a:pPr eaLnBrk="1" hangingPunct="1">
              <a:buFont typeface="Webdings" panose="05030102010509060703" pitchFamily="18" charset="2"/>
              <a:buChar char="ÿ"/>
            </a:pPr>
            <a:r>
              <a:rPr lang="zh-CN" altLang="en-US" b="1">
                <a:latin typeface="黑体" panose="02010609060101010101" pitchFamily="49" charset="-122"/>
                <a:ea typeface="黑体" panose="02010609060101010101" pitchFamily="49" charset="-122"/>
              </a:rPr>
              <a:t>“过程”意味着变化，意味着平衡被破坏。</a:t>
            </a:r>
          </a:p>
          <a:p>
            <a:pPr eaLnBrk="1" hangingPunct="1">
              <a:buFont typeface="Webdings" panose="05030102010509060703" pitchFamily="18" charset="2"/>
              <a:buChar char="ÿ"/>
            </a:pPr>
            <a:r>
              <a:rPr lang="zh-CN" altLang="en-US" b="1">
                <a:latin typeface="黑体" panose="02010609060101010101" pitchFamily="49" charset="-122"/>
                <a:ea typeface="黑体" panose="02010609060101010101" pitchFamily="49" charset="-122"/>
              </a:rPr>
              <a:t>“平衡”和“过程”这两个矛盾的概念怎样统一起来呢？</a:t>
            </a:r>
            <a:endParaRPr lang="zh-CN" altLang="en-US" b="1">
              <a:solidFill>
                <a:srgbClr val="FF0000"/>
              </a:solidFill>
              <a:latin typeface="黑体" panose="02010609060101010101" pitchFamily="49" charset="-122"/>
              <a:ea typeface="黑体" panose="02010609060101010101" pitchFamily="49" charset="-122"/>
            </a:endParaRPr>
          </a:p>
        </p:txBody>
      </p:sp>
      <p:sp>
        <p:nvSpPr>
          <p:cNvPr id="62467" name="矩形 309251"/>
          <p:cNvSpPr>
            <a:spLocks noChangeArrowheads="1"/>
          </p:cNvSpPr>
          <p:nvPr/>
        </p:nvSpPr>
        <p:spPr bwMode="auto">
          <a:xfrm>
            <a:off x="1979613" y="5081588"/>
            <a:ext cx="46720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FF0000"/>
                </a:solidFill>
                <a:latin typeface="黑体" panose="02010609060101010101" pitchFamily="49" charset="-122"/>
                <a:ea typeface="黑体" panose="02010609060101010101" pitchFamily="49" charset="-122"/>
              </a:rPr>
              <a:t>这就需要引入准平衡过程</a:t>
            </a:r>
          </a:p>
        </p:txBody>
      </p:sp>
    </p:spTree>
  </p:cSld>
  <p:clrMapOvr>
    <a:masterClrMapping/>
  </p:clrMapOvr>
  <p:transition spd="slow"/>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300033"/>
          <p:cNvSpPr>
            <a:spLocks noChangeArrowheads="1"/>
          </p:cNvSpPr>
          <p:nvPr/>
        </p:nvSpPr>
        <p:spPr bwMode="auto">
          <a:xfrm>
            <a:off x="300038" y="115888"/>
            <a:ext cx="877093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Times New Roman" panose="02020603050405020304" pitchFamily="18" charset="0"/>
                <a:ea typeface="黑体" panose="02010609060101010101" pitchFamily="49" charset="-122"/>
              </a:rPr>
              <a:t>一、准平衡过程    </a:t>
            </a:r>
            <a:r>
              <a:rPr lang="en-US" altLang="zh-CN" b="1">
                <a:latin typeface="Times New Roman" panose="02020603050405020304" pitchFamily="18" charset="0"/>
                <a:ea typeface="黑体" panose="02010609060101010101" pitchFamily="49" charset="-122"/>
              </a:rPr>
              <a:t>(quasi-equilibrium process)</a:t>
            </a:r>
          </a:p>
          <a:p>
            <a:pPr eaLnBrk="1" hangingPunct="1">
              <a:spcBef>
                <a:spcPct val="0"/>
              </a:spcBef>
              <a:buFontTx/>
              <a:buNone/>
            </a:pPr>
            <a:r>
              <a:rPr lang="zh-CN" altLang="en-US" b="1">
                <a:latin typeface="Times New Roman" panose="02020603050405020304" pitchFamily="18" charset="0"/>
                <a:ea typeface="黑体" panose="02010609060101010101" pitchFamily="49" charset="-122"/>
              </a:rPr>
              <a:t>也称准静态过程或准静过程</a:t>
            </a:r>
            <a:r>
              <a:rPr lang="en-US" altLang="zh-CN" b="1">
                <a:latin typeface="Times New Roman" panose="02020603050405020304" pitchFamily="18" charset="0"/>
                <a:ea typeface="黑体" panose="02010609060101010101" pitchFamily="49" charset="-122"/>
              </a:rPr>
              <a:t>(quasi-static process) </a:t>
            </a:r>
          </a:p>
        </p:txBody>
      </p:sp>
      <p:sp>
        <p:nvSpPr>
          <p:cNvPr id="63491" name="矩形 300034"/>
          <p:cNvSpPr>
            <a:spLocks noChangeArrowheads="1"/>
          </p:cNvSpPr>
          <p:nvPr/>
        </p:nvSpPr>
        <p:spPr bwMode="auto">
          <a:xfrm>
            <a:off x="1403350" y="1341438"/>
            <a:ext cx="61515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FontTx/>
              <a:buNone/>
            </a:pPr>
            <a:endParaRPr lang="zh-CN" altLang="zh-CN" sz="2400" b="1">
              <a:latin typeface="Times New Roman" panose="02020603050405020304" pitchFamily="18" charset="0"/>
              <a:ea typeface="楷体_GB2312" pitchFamily="49" charset="-122"/>
            </a:endParaRPr>
          </a:p>
        </p:txBody>
      </p:sp>
      <p:sp>
        <p:nvSpPr>
          <p:cNvPr id="300044" name="矩形 300043"/>
          <p:cNvSpPr>
            <a:spLocks noChangeArrowheads="1"/>
          </p:cNvSpPr>
          <p:nvPr/>
        </p:nvSpPr>
        <p:spPr bwMode="auto">
          <a:xfrm>
            <a:off x="3779838" y="2046288"/>
            <a:ext cx="52911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ea typeface="黑体" panose="02010609060101010101" pitchFamily="49" charset="-122"/>
              </a:rPr>
              <a:t>气体</a:t>
            </a:r>
            <a:r>
              <a:rPr lang="zh-CN" altLang="en-US" sz="2800" b="1">
                <a:solidFill>
                  <a:srgbClr val="FF0000"/>
                </a:solidFill>
                <a:ea typeface="黑体" panose="02010609060101010101" pitchFamily="49" charset="-122"/>
              </a:rPr>
              <a:t>被突然压缩</a:t>
            </a:r>
            <a:r>
              <a:rPr lang="zh-CN" altLang="en-US" sz="2800" b="1">
                <a:ea typeface="黑体" panose="02010609060101010101" pitchFamily="49" charset="-122"/>
              </a:rPr>
              <a:t>，会发生什么？</a:t>
            </a:r>
          </a:p>
        </p:txBody>
      </p:sp>
      <p:sp>
        <p:nvSpPr>
          <p:cNvPr id="300045" name="矩形 300044"/>
          <p:cNvSpPr>
            <a:spLocks noChangeArrowheads="1"/>
          </p:cNvSpPr>
          <p:nvPr/>
        </p:nvSpPr>
        <p:spPr bwMode="auto">
          <a:xfrm>
            <a:off x="468313" y="3344863"/>
            <a:ext cx="8135937"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活塞附近的气体分子</a:t>
            </a:r>
            <a:r>
              <a:rPr lang="zh-CN" altLang="en-US" sz="2800" b="1">
                <a:solidFill>
                  <a:srgbClr val="FF0000"/>
                </a:solidFill>
                <a:latin typeface="黑体" panose="02010609060101010101" pitchFamily="49" charset="-122"/>
                <a:ea typeface="黑体" panose="02010609060101010101" pitchFamily="49" charset="-122"/>
              </a:rPr>
              <a:t>来不及</a:t>
            </a:r>
            <a:r>
              <a:rPr lang="zh-CN" altLang="en-US" sz="2800" b="1">
                <a:latin typeface="黑体" panose="02010609060101010101" pitchFamily="49" charset="-122"/>
                <a:ea typeface="黑体" panose="02010609060101010101" pitchFamily="49" charset="-122"/>
              </a:rPr>
              <a:t>向远离活塞的方向运动</a:t>
            </a:r>
          </a:p>
          <a:p>
            <a:pPr eaLnBrk="1" hangingPunct="1">
              <a:spcBef>
                <a:spcPct val="0"/>
              </a:spcBef>
              <a:buFontTx/>
              <a:buNone/>
            </a:pPr>
            <a:r>
              <a:rPr lang="zh-CN" altLang="en-US" sz="2800" b="1">
                <a:latin typeface="黑体" panose="02010609060101010101" pitchFamily="49" charset="-122"/>
                <a:ea typeface="黑体" panose="02010609060101010101" pitchFamily="49" charset="-122"/>
              </a:rPr>
              <a:t>分子在活塞附近</a:t>
            </a:r>
            <a:r>
              <a:rPr lang="zh-CN" altLang="en-US" sz="2800" b="1">
                <a:solidFill>
                  <a:srgbClr val="FF0000"/>
                </a:solidFill>
                <a:latin typeface="黑体" panose="02010609060101010101" pitchFamily="49" charset="-122"/>
                <a:ea typeface="黑体" panose="02010609060101010101" pitchFamily="49" charset="-122"/>
              </a:rPr>
              <a:t>堆积</a:t>
            </a:r>
          </a:p>
          <a:p>
            <a:pPr eaLnBrk="1" hangingPunct="1">
              <a:spcBef>
                <a:spcPct val="0"/>
              </a:spcBef>
              <a:buFontTx/>
              <a:buNone/>
            </a:pPr>
            <a:r>
              <a:rPr lang="zh-CN" altLang="en-US" sz="2800" b="1">
                <a:latin typeface="黑体" panose="02010609060101010101" pitchFamily="49" charset="-122"/>
                <a:ea typeface="黑体" panose="02010609060101010101" pitchFamily="49" charset="-122"/>
              </a:rPr>
              <a:t>活塞附近压力高于远离活塞区域</a:t>
            </a:r>
          </a:p>
          <a:p>
            <a:pPr eaLnBrk="1" hangingPunct="1">
              <a:spcBef>
                <a:spcPct val="0"/>
              </a:spcBef>
              <a:buFontTx/>
              <a:buNone/>
            </a:pPr>
            <a:r>
              <a:rPr lang="zh-CN" altLang="en-US" sz="2800" b="1">
                <a:latin typeface="黑体" panose="02010609060101010101" pitchFamily="49" charset="-122"/>
                <a:ea typeface="黑体" panose="02010609060101010101" pitchFamily="49" charset="-122"/>
              </a:rPr>
              <a:t>该压力差使得系统（即气体）</a:t>
            </a:r>
            <a:r>
              <a:rPr lang="zh-CN" altLang="en-US" sz="2800" b="1">
                <a:solidFill>
                  <a:srgbClr val="FF0000"/>
                </a:solidFill>
                <a:latin typeface="黑体" panose="02010609060101010101" pitchFamily="49" charset="-122"/>
                <a:ea typeface="黑体" panose="02010609060101010101" pitchFamily="49" charset="-122"/>
              </a:rPr>
              <a:t>不再处于平衡状态</a:t>
            </a:r>
            <a:endParaRPr lang="en-US" altLang="zh-CN" sz="2800" b="1">
              <a:solidFill>
                <a:srgbClr val="FF0000"/>
              </a:solidFill>
              <a:latin typeface="黑体" panose="02010609060101010101" pitchFamily="49" charset="-122"/>
              <a:ea typeface="黑体" panose="02010609060101010101" pitchFamily="49" charset="-122"/>
            </a:endParaRPr>
          </a:p>
          <a:p>
            <a:pPr eaLnBrk="1" hangingPunct="1">
              <a:spcBef>
                <a:spcPct val="0"/>
              </a:spcBef>
              <a:buFontTx/>
              <a:buNone/>
            </a:pPr>
            <a:r>
              <a:rPr lang="zh-CN" altLang="en-US" sz="2800" b="1">
                <a:latin typeface="黑体" panose="02010609060101010101" pitchFamily="49" charset="-122"/>
                <a:ea typeface="黑体" panose="02010609060101010101" pitchFamily="49" charset="-122"/>
              </a:rPr>
              <a:t>这样的过程便是有限压差推动下的</a:t>
            </a:r>
            <a:r>
              <a:rPr lang="zh-CN" altLang="en-US" sz="2800" b="1">
                <a:solidFill>
                  <a:srgbClr val="FF0000"/>
                </a:solidFill>
                <a:latin typeface="黑体" panose="02010609060101010101" pitchFamily="49" charset="-122"/>
                <a:ea typeface="黑体" panose="02010609060101010101" pitchFamily="49" charset="-122"/>
              </a:rPr>
              <a:t>非平衡过程</a:t>
            </a:r>
            <a:r>
              <a:rPr lang="zh-CN" altLang="en-US" sz="2800" b="1">
                <a:latin typeface="黑体" panose="02010609060101010101" pitchFamily="49" charset="-122"/>
                <a:ea typeface="黑体" panose="02010609060101010101" pitchFamily="49" charset="-122"/>
              </a:rPr>
              <a:t> </a:t>
            </a:r>
          </a:p>
        </p:txBody>
      </p:sp>
      <p:pic>
        <p:nvPicPr>
          <p:cNvPr id="63494"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693863"/>
            <a:ext cx="3346450"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00044"/>
                                        </p:tgtEl>
                                        <p:attrNameLst>
                                          <p:attrName>style.visibility</p:attrName>
                                        </p:attrNameLst>
                                      </p:cBhvr>
                                      <p:to>
                                        <p:strVal val="visible"/>
                                      </p:to>
                                    </p:set>
                                    <p:animEffect transition="in" filter="blinds(horizontal)">
                                      <p:cBhvr>
                                        <p:cTn id="7" dur="500"/>
                                        <p:tgtEl>
                                          <p:spTgt spid="30004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0045"/>
                                        </p:tgtEl>
                                        <p:attrNameLst>
                                          <p:attrName>style.visibility</p:attrName>
                                        </p:attrNameLst>
                                      </p:cBhvr>
                                      <p:to>
                                        <p:strVal val="visible"/>
                                      </p:to>
                                    </p:set>
                                    <p:animEffect transition="in" filter="blinds(horizontal)">
                                      <p:cBhvr>
                                        <p:cTn id="12" dur="500"/>
                                        <p:tgtEl>
                                          <p:spTgt spid="300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44" grpId="0"/>
      <p:bldP spid="30004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60" name="矩形 301059"/>
          <p:cNvSpPr>
            <a:spLocks noChangeArrowheads="1"/>
          </p:cNvSpPr>
          <p:nvPr/>
        </p:nvSpPr>
        <p:spPr bwMode="auto">
          <a:xfrm>
            <a:off x="539750" y="4724400"/>
            <a:ext cx="81359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ea typeface="黑体" panose="02010609060101010101" pitchFamily="49" charset="-122"/>
              </a:rPr>
              <a:t>在无限小势差（如温差、压差）的推动下，由一系列连续的平衡态组成的过程称为</a:t>
            </a:r>
            <a:r>
              <a:rPr lang="zh-CN" altLang="en-US" sz="3600" b="1">
                <a:solidFill>
                  <a:srgbClr val="FF0000"/>
                </a:solidFill>
                <a:ea typeface="黑体" panose="02010609060101010101" pitchFamily="49" charset="-122"/>
              </a:rPr>
              <a:t>准平衡过程</a:t>
            </a:r>
          </a:p>
        </p:txBody>
      </p:sp>
      <p:sp>
        <p:nvSpPr>
          <p:cNvPr id="64515" name="矩形 301061"/>
          <p:cNvSpPr>
            <a:spLocks noChangeArrowheads="1"/>
          </p:cNvSpPr>
          <p:nvPr/>
        </p:nvSpPr>
        <p:spPr bwMode="auto">
          <a:xfrm>
            <a:off x="0" y="2535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01063" name="矩形 301062"/>
          <p:cNvSpPr>
            <a:spLocks noChangeArrowheads="1"/>
          </p:cNvSpPr>
          <p:nvPr/>
        </p:nvSpPr>
        <p:spPr bwMode="auto">
          <a:xfrm>
            <a:off x="611188" y="1481138"/>
            <a:ext cx="7848600"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活塞附近的分子</a:t>
            </a:r>
            <a:r>
              <a:rPr lang="zh-CN" altLang="en-US" sz="2800" b="1">
                <a:solidFill>
                  <a:srgbClr val="FF0000"/>
                </a:solidFill>
                <a:latin typeface="黑体" panose="02010609060101010101" pitchFamily="49" charset="-122"/>
                <a:ea typeface="黑体" panose="02010609060101010101" pitchFamily="49" charset="-122"/>
              </a:rPr>
              <a:t>有足够的时间</a:t>
            </a:r>
            <a:r>
              <a:rPr lang="zh-CN" altLang="en-US" sz="2800" b="1">
                <a:latin typeface="黑体" panose="02010609060101010101" pitchFamily="49" charset="-122"/>
                <a:ea typeface="黑体" panose="02010609060101010101" pitchFamily="49" charset="-122"/>
              </a:rPr>
              <a:t>在气缸内部均匀分布而不是在活塞附近堆积</a:t>
            </a:r>
          </a:p>
          <a:p>
            <a:pPr eaLnBrk="1" hangingPunct="1">
              <a:spcBef>
                <a:spcPct val="0"/>
              </a:spcBef>
              <a:buFontTx/>
              <a:buNone/>
            </a:pPr>
            <a:r>
              <a:rPr lang="zh-CN" altLang="en-US" sz="2800" b="1">
                <a:latin typeface="黑体" panose="02010609060101010101" pitchFamily="49" charset="-122"/>
                <a:ea typeface="黑体" panose="02010609060101010101" pitchFamily="49" charset="-122"/>
              </a:rPr>
              <a:t>气缸内部各点的压力将始终</a:t>
            </a:r>
            <a:r>
              <a:rPr lang="zh-CN" altLang="en-US" sz="2800" b="1">
                <a:solidFill>
                  <a:srgbClr val="FF0000"/>
                </a:solidFill>
                <a:latin typeface="黑体" panose="02010609060101010101" pitchFamily="49" charset="-122"/>
                <a:ea typeface="黑体" panose="02010609060101010101" pitchFamily="49" charset="-122"/>
              </a:rPr>
              <a:t>均匀一致</a:t>
            </a:r>
            <a:r>
              <a:rPr lang="zh-CN" altLang="en-US" sz="2800" b="1">
                <a:latin typeface="黑体" panose="02010609060101010101" pitchFamily="49" charset="-122"/>
                <a:ea typeface="黑体" panose="02010609060101010101" pitchFamily="49" charset="-122"/>
              </a:rPr>
              <a:t>地逐渐增加，不存在不平衡势差，这样的过程是准平衡过程</a:t>
            </a:r>
          </a:p>
        </p:txBody>
      </p:sp>
      <p:sp>
        <p:nvSpPr>
          <p:cNvPr id="64517" name="矩形 301063"/>
          <p:cNvSpPr>
            <a:spLocks noChangeArrowheads="1"/>
          </p:cNvSpPr>
          <p:nvPr/>
        </p:nvSpPr>
        <p:spPr bwMode="auto">
          <a:xfrm>
            <a:off x="4140200" y="333375"/>
            <a:ext cx="43195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ea typeface="黑体" panose="02010609060101010101" pitchFamily="49" charset="-122"/>
              </a:rPr>
              <a:t>气体</a:t>
            </a:r>
            <a:r>
              <a:rPr lang="zh-CN" altLang="en-US" sz="2800" b="1">
                <a:solidFill>
                  <a:srgbClr val="FF0000"/>
                </a:solidFill>
                <a:ea typeface="黑体" panose="02010609060101010101" pitchFamily="49" charset="-122"/>
              </a:rPr>
              <a:t>被缓慢压缩</a:t>
            </a:r>
            <a:r>
              <a:rPr lang="zh-CN" altLang="en-US" sz="2800" b="1">
                <a:ea typeface="黑体" panose="02010609060101010101" pitchFamily="49" charset="-122"/>
              </a:rPr>
              <a:t>，会发生什么？</a:t>
            </a:r>
          </a:p>
        </p:txBody>
      </p:sp>
      <p:pic>
        <p:nvPicPr>
          <p:cNvPr id="64518"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69875"/>
            <a:ext cx="3024187"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9" name="矩形 1"/>
          <p:cNvSpPr>
            <a:spLocks noChangeArrowheads="1"/>
          </p:cNvSpPr>
          <p:nvPr/>
        </p:nvSpPr>
        <p:spPr bwMode="auto">
          <a:xfrm>
            <a:off x="587375" y="3827463"/>
            <a:ext cx="43545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3600" b="1">
                <a:latin typeface="黑体" panose="02010609060101010101" pitchFamily="49" charset="-122"/>
                <a:ea typeface="黑体" panose="02010609060101010101" pitchFamily="49" charset="-122"/>
              </a:rPr>
              <a:t>准平衡过程的定义：</a:t>
            </a:r>
            <a:endParaRPr lang="zh-CN" altLang="en-US" sz="3600"/>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1063"/>
                                        </p:tgtEl>
                                        <p:attrNameLst>
                                          <p:attrName>style.visibility</p:attrName>
                                        </p:attrNameLst>
                                      </p:cBhvr>
                                      <p:to>
                                        <p:strVal val="visible"/>
                                      </p:to>
                                    </p:set>
                                    <p:animEffect transition="in" filter="blinds(horizontal)">
                                      <p:cBhvr>
                                        <p:cTn id="7" dur="500"/>
                                        <p:tgtEl>
                                          <p:spTgt spid="30106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451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01060"/>
                                        </p:tgtEl>
                                        <p:attrNameLst>
                                          <p:attrName>style.visibility</p:attrName>
                                        </p:attrNameLst>
                                      </p:cBhvr>
                                      <p:to>
                                        <p:strVal val="visible"/>
                                      </p:to>
                                    </p:set>
                                    <p:animEffect transition="in" filter="blinds(horizontal)">
                                      <p:cBhvr>
                                        <p:cTn id="16" dur="500"/>
                                        <p:tgtEl>
                                          <p:spTgt spid="301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0" grpId="0"/>
      <p:bldP spid="301063" grpId="0"/>
      <p:bldP spid="6451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1079500" y="2276475"/>
            <a:ext cx="6985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ea typeface="黑体" panose="02010609060101010101" pitchFamily="49" charset="-122"/>
              </a:rPr>
              <a:t>准平衡过程中，系统内部的</a:t>
            </a:r>
            <a:r>
              <a:rPr lang="zh-CN" altLang="en-US" sz="2800" b="1">
                <a:solidFill>
                  <a:srgbClr val="0000CC"/>
                </a:solidFill>
                <a:ea typeface="黑体" panose="02010609060101010101" pitchFamily="49" charset="-122"/>
              </a:rPr>
              <a:t>强度状态参数</a:t>
            </a:r>
            <a:r>
              <a:rPr lang="zh-CN" altLang="en-US" sz="2800" b="1">
                <a:ea typeface="黑体" panose="02010609060101010101" pitchFamily="49" charset="-122"/>
              </a:rPr>
              <a:t>在空间上是</a:t>
            </a:r>
            <a:r>
              <a:rPr lang="zh-CN" altLang="en-US" sz="2800" b="1">
                <a:solidFill>
                  <a:srgbClr val="0000CC"/>
                </a:solidFill>
                <a:ea typeface="黑体" panose="02010609060101010101" pitchFamily="49" charset="-122"/>
              </a:rPr>
              <a:t>均匀一致的</a:t>
            </a:r>
            <a:r>
              <a:rPr lang="zh-CN" altLang="en-US" sz="2800" b="1">
                <a:solidFill>
                  <a:srgbClr val="0000CC"/>
                </a:solidFill>
              </a:rPr>
              <a:t> </a:t>
            </a:r>
          </a:p>
        </p:txBody>
      </p:sp>
      <p:sp>
        <p:nvSpPr>
          <p:cNvPr id="65539" name="矩形 2"/>
          <p:cNvSpPr>
            <a:spLocks noChangeArrowheads="1"/>
          </p:cNvSpPr>
          <p:nvPr/>
        </p:nvSpPr>
        <p:spPr bwMode="auto">
          <a:xfrm>
            <a:off x="611188" y="404813"/>
            <a:ext cx="7921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黑体" panose="02010609060101010101" pitchFamily="49" charset="-122"/>
                <a:ea typeface="黑体" panose="02010609060101010101" pitchFamily="49" charset="-122"/>
              </a:rPr>
              <a:t>准平衡过程的实现条件：推动过程进行的势差无限小 </a:t>
            </a:r>
          </a:p>
        </p:txBody>
      </p:sp>
      <p:pic>
        <p:nvPicPr>
          <p:cNvPr id="65540"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3716338"/>
            <a:ext cx="39878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矩形 4"/>
          <p:cNvSpPr>
            <a:spLocks noChangeArrowheads="1"/>
          </p:cNvSpPr>
          <p:nvPr/>
        </p:nvSpPr>
        <p:spPr bwMode="auto">
          <a:xfrm>
            <a:off x="2771775" y="4237038"/>
            <a:ext cx="2132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2000" b="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1" i="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en-US" sz="2000" b="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1" i="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v</a:t>
            </a:r>
            <a:r>
              <a:rPr lang="zh-CN" altLang="en-US" sz="2000" b="1">
                <a:solidFill>
                  <a:srgbClr val="0000CC"/>
                </a:solidFill>
                <a:ea typeface="黑体" panose="02010609060101010101" pitchFamily="49" charset="-122"/>
                <a:cs typeface="Times New Roman" panose="02020603050405020304" pitchFamily="18" charset="0"/>
              </a:rPr>
              <a:t>均匀一致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554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图片 34099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1000" y="1125538"/>
            <a:ext cx="3306763"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矩形 340997"/>
          <p:cNvSpPr>
            <a:spLocks noChangeArrowheads="1"/>
          </p:cNvSpPr>
          <p:nvPr/>
        </p:nvSpPr>
        <p:spPr bwMode="auto">
          <a:xfrm>
            <a:off x="2776538" y="260350"/>
            <a:ext cx="3384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ea typeface="黑体" panose="02010609060101010101" pitchFamily="49" charset="-122"/>
              </a:rPr>
              <a:t>准平衡过程示例</a:t>
            </a:r>
          </a:p>
        </p:txBody>
      </p:sp>
    </p:spTree>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310273"/>
          <p:cNvSpPr>
            <a:spLocks noGrp="1" noChangeArrowheads="1"/>
          </p:cNvSpPr>
          <p:nvPr>
            <p:ph type="title"/>
          </p:nvPr>
        </p:nvSpPr>
        <p:spPr/>
        <p:txBody>
          <a:bodyPr/>
          <a:lstStyle/>
          <a:p>
            <a:pPr eaLnBrk="1" hangingPunct="1"/>
            <a:r>
              <a:rPr lang="zh-CN" altLang="en-US" sz="4000" b="1" smtClean="0">
                <a:ea typeface="黑体" panose="02010609060101010101" pitchFamily="49" charset="-122"/>
              </a:rPr>
              <a:t>准平衡过程：可以设想但无法达到</a:t>
            </a:r>
          </a:p>
        </p:txBody>
      </p:sp>
      <p:sp>
        <p:nvSpPr>
          <p:cNvPr id="67587" name="文本占位符 310274"/>
          <p:cNvSpPr>
            <a:spLocks noGrp="1" noChangeArrowheads="1"/>
          </p:cNvSpPr>
          <p:nvPr>
            <p:ph idx="1"/>
          </p:nvPr>
        </p:nvSpPr>
        <p:spPr>
          <a:xfrm>
            <a:off x="457200" y="1600200"/>
            <a:ext cx="8435975" cy="4525963"/>
          </a:xfrm>
        </p:spPr>
        <p:txBody>
          <a:bodyPr>
            <a:normAutofit/>
          </a:bodyPr>
          <a:lstStyle/>
          <a:p>
            <a:pPr eaLnBrk="1" hangingPunct="1"/>
            <a:r>
              <a:rPr lang="zh-CN" altLang="en-US" sz="3200" b="1" dirty="0" smtClean="0">
                <a:latin typeface="黑体" panose="02010609060101010101" pitchFamily="49" charset="-122"/>
                <a:ea typeface="黑体" panose="02010609060101010101" pitchFamily="49" charset="-122"/>
              </a:rPr>
              <a:t>任何实际过程都是在</a:t>
            </a:r>
            <a:r>
              <a:rPr lang="zh-CN" altLang="en-US" sz="3200" b="1" dirty="0" smtClean="0">
                <a:solidFill>
                  <a:srgbClr val="FF0000"/>
                </a:solidFill>
                <a:latin typeface="黑体" panose="02010609060101010101" pitchFamily="49" charset="-122"/>
                <a:ea typeface="黑体" panose="02010609060101010101" pitchFamily="49" charset="-122"/>
              </a:rPr>
              <a:t>有限势差</a:t>
            </a:r>
            <a:r>
              <a:rPr lang="zh-CN" altLang="en-US" sz="3200" b="1" dirty="0" smtClean="0">
                <a:latin typeface="黑体" panose="02010609060101010101" pitchFamily="49" charset="-122"/>
                <a:ea typeface="黑体" panose="02010609060101010101" pitchFamily="49" charset="-122"/>
              </a:rPr>
              <a:t>推动下进行的 </a:t>
            </a:r>
          </a:p>
          <a:p>
            <a:pPr eaLnBrk="1" hangingPunct="1"/>
            <a:endParaRPr lang="zh-CN" altLang="en-US" sz="3200" b="1" dirty="0" smtClean="0">
              <a:latin typeface="黑体" panose="02010609060101010101" pitchFamily="49" charset="-122"/>
              <a:ea typeface="黑体" panose="02010609060101010101" pitchFamily="49" charset="-122"/>
            </a:endParaRPr>
          </a:p>
          <a:p>
            <a:pPr eaLnBrk="1" hangingPunct="1"/>
            <a:endParaRPr lang="zh-CN" altLang="en-US" sz="3200" b="1" dirty="0" smtClean="0">
              <a:latin typeface="黑体" panose="02010609060101010101" pitchFamily="49" charset="-122"/>
              <a:ea typeface="黑体" panose="02010609060101010101" pitchFamily="49" charset="-122"/>
            </a:endParaRPr>
          </a:p>
          <a:p>
            <a:pPr eaLnBrk="1" hangingPunct="1"/>
            <a:endParaRPr lang="zh-CN" altLang="en-US" sz="3200" b="1" dirty="0" smtClean="0">
              <a:latin typeface="黑体" panose="02010609060101010101" pitchFamily="49" charset="-122"/>
              <a:ea typeface="黑体" panose="02010609060101010101" pitchFamily="49" charset="-122"/>
            </a:endParaRPr>
          </a:p>
          <a:p>
            <a:pPr eaLnBrk="1" hangingPunct="1"/>
            <a:endParaRPr lang="zh-CN" altLang="en-US" sz="3200" b="1" dirty="0" smtClean="0">
              <a:latin typeface="黑体" panose="02010609060101010101" pitchFamily="49" charset="-122"/>
              <a:ea typeface="黑体" panose="02010609060101010101" pitchFamily="49" charset="-122"/>
            </a:endParaRPr>
          </a:p>
          <a:p>
            <a:pPr eaLnBrk="1" hangingPunct="1"/>
            <a:endParaRPr lang="en-US" altLang="zh-CN" sz="3200" b="1" dirty="0" smtClean="0">
              <a:latin typeface="黑体" panose="02010609060101010101" pitchFamily="49" charset="-122"/>
              <a:ea typeface="黑体" panose="02010609060101010101" pitchFamily="49" charset="-122"/>
            </a:endParaRPr>
          </a:p>
          <a:p>
            <a:pPr eaLnBrk="1" hangingPunct="1"/>
            <a:r>
              <a:rPr lang="zh-CN" altLang="en-US" sz="3200" b="1" dirty="0" smtClean="0">
                <a:latin typeface="黑体" panose="02010609060101010101" pitchFamily="49" charset="-122"/>
                <a:ea typeface="黑体" panose="02010609060101010101" pitchFamily="49" charset="-122"/>
              </a:rPr>
              <a:t>所谓“准”平衡过程，只是实际过程当不平衡势差趋于零时的极限过程 </a:t>
            </a:r>
          </a:p>
        </p:txBody>
      </p:sp>
      <p:sp>
        <p:nvSpPr>
          <p:cNvPr id="67588" name="矩形 310281"/>
          <p:cNvSpPr>
            <a:spLocks noChangeArrowheads="1"/>
          </p:cNvSpPr>
          <p:nvPr/>
        </p:nvSpPr>
        <p:spPr bwMode="auto">
          <a:xfrm>
            <a:off x="2700338" y="4005263"/>
            <a:ext cx="34480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FF0000"/>
                </a:solidFill>
                <a:latin typeface="黑体" panose="02010609060101010101" pitchFamily="49" charset="-122"/>
                <a:ea typeface="黑体" panose="02010609060101010101" pitchFamily="49" charset="-122"/>
              </a:rPr>
              <a:t>有限势差：压力差</a:t>
            </a:r>
          </a:p>
        </p:txBody>
      </p:sp>
      <p:pic>
        <p:nvPicPr>
          <p:cNvPr id="67589"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13063" y="2657475"/>
            <a:ext cx="30226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219155"/>
          <p:cNvSpPr>
            <a:spLocks noChangeArrowheads="1"/>
          </p:cNvSpPr>
          <p:nvPr/>
        </p:nvSpPr>
        <p:spPr bwMode="auto">
          <a:xfrm>
            <a:off x="179388" y="130175"/>
            <a:ext cx="907256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ea typeface="黑体" panose="02010609060101010101" pitchFamily="49" charset="-122"/>
              </a:rPr>
              <a:t>既然任何实际过程都是不平衡的，准平衡过程只是理想的，引入准平衡概念的意义？</a:t>
            </a:r>
            <a:endParaRPr lang="zh-CN" altLang="en-US" b="1">
              <a:solidFill>
                <a:srgbClr val="0000CC"/>
              </a:solidFill>
            </a:endParaRPr>
          </a:p>
        </p:txBody>
      </p:sp>
      <p:sp>
        <p:nvSpPr>
          <p:cNvPr id="219157" name="矩形 219156"/>
          <p:cNvSpPr>
            <a:spLocks noChangeArrowheads="1"/>
          </p:cNvSpPr>
          <p:nvPr/>
        </p:nvSpPr>
        <p:spPr bwMode="auto">
          <a:xfrm>
            <a:off x="323850" y="1484313"/>
            <a:ext cx="8424863"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solidFill>
                  <a:srgbClr val="000000"/>
                </a:solidFill>
                <a:latin typeface="宋体" panose="02010600030101010101" pitchFamily="2" charset="-122"/>
                <a:ea typeface="黑体" panose="02010609060101010101" pitchFamily="49" charset="-122"/>
              </a:rPr>
              <a:t>热力系所经历的每个状态均无限接近平衡状态，这时系统的每个状态</a:t>
            </a:r>
            <a:r>
              <a:rPr lang="zh-CN" altLang="en-US" b="1">
                <a:latin typeface="宋体" panose="02010600030101010101" pitchFamily="2" charset="-122"/>
                <a:ea typeface="黑体" panose="02010609060101010101" pitchFamily="49" charset="-122"/>
              </a:rPr>
              <a:t>可用热力状态图上的一点来表示，</a:t>
            </a:r>
            <a:r>
              <a:rPr lang="zh-CN" altLang="en-US" b="1">
                <a:solidFill>
                  <a:srgbClr val="FF0000"/>
                </a:solidFill>
                <a:latin typeface="宋体" panose="02010600030101010101" pitchFamily="2" charset="-122"/>
                <a:ea typeface="黑体" panose="02010609060101010101" pitchFamily="49" charset="-122"/>
              </a:rPr>
              <a:t>把这些点连接起来，即可表示系统经历的过程</a:t>
            </a:r>
          </a:p>
          <a:p>
            <a:pPr eaLnBrk="1" hangingPunct="1">
              <a:spcBef>
                <a:spcPct val="0"/>
              </a:spcBef>
              <a:buFontTx/>
              <a:buNone/>
            </a:pPr>
            <a:r>
              <a:rPr lang="zh-CN" altLang="en-US" sz="1800" b="1">
                <a:solidFill>
                  <a:srgbClr val="0000CC"/>
                </a:solidFill>
              </a:rPr>
              <a:t> </a:t>
            </a:r>
          </a:p>
        </p:txBody>
      </p:sp>
      <p:graphicFrame>
        <p:nvGraphicFramePr>
          <p:cNvPr id="219160" name="对象 219159"/>
          <p:cNvGraphicFramePr/>
          <p:nvPr/>
        </p:nvGraphicFramePr>
        <p:xfrm>
          <a:off x="3071813" y="3282950"/>
          <a:ext cx="2928937" cy="3133725"/>
        </p:xfrm>
        <a:graphic>
          <a:graphicData uri="http://schemas.openxmlformats.org/presentationml/2006/ole">
            <mc:AlternateContent xmlns:mc="http://schemas.openxmlformats.org/markup-compatibility/2006">
              <mc:Choice xmlns:v="urn:schemas-microsoft-com:vml" Requires="v">
                <p:oleObj spid="_x0000_s30729" r:id="rId4" imgW="3400425" imgH="3638550" progId="Paint.Picture">
                  <p:embed/>
                </p:oleObj>
              </mc:Choice>
              <mc:Fallback>
                <p:oleObj r:id="rId4" imgW="3400425" imgH="3638550" progId="Paint.Picture">
                  <p:embed/>
                  <p:pic>
                    <p:nvPicPr>
                      <p:cNvPr id="0" name="对象 21915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13" y="3282950"/>
                        <a:ext cx="2928937"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9157"/>
                                        </p:tgtEl>
                                        <p:attrNameLst>
                                          <p:attrName>style.visibility</p:attrName>
                                        </p:attrNameLst>
                                      </p:cBhvr>
                                      <p:to>
                                        <p:strVal val="visible"/>
                                      </p:to>
                                    </p:set>
                                    <p:animEffect transition="in" filter="blinds(horizontal)">
                                      <p:cBhvr>
                                        <p:cTn id="7" dur="500"/>
                                        <p:tgtEl>
                                          <p:spTgt spid="21915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9160"/>
                                        </p:tgtEl>
                                        <p:attrNameLst>
                                          <p:attrName>style.visibility</p:attrName>
                                        </p:attrNameLst>
                                      </p:cBhvr>
                                      <p:to>
                                        <p:strVal val="visible"/>
                                      </p:to>
                                    </p:set>
                                    <p:animEffect transition="in" filter="blinds(horizontal)">
                                      <p:cBhvr>
                                        <p:cTn id="12" dur="500"/>
                                        <p:tgtEl>
                                          <p:spTgt spid="219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5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220167"/>
          <p:cNvSpPr>
            <a:spLocks noChangeArrowheads="1"/>
          </p:cNvSpPr>
          <p:nvPr/>
        </p:nvSpPr>
        <p:spPr bwMode="auto">
          <a:xfrm>
            <a:off x="468313" y="333375"/>
            <a:ext cx="842486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ea typeface="黑体" panose="02010609060101010101" pitchFamily="49" charset="-122"/>
              </a:rPr>
              <a:t>若是非平衡过程，但初、终态确定，则可以用虚线表示过程</a:t>
            </a:r>
            <a:endParaRPr lang="zh-CN" altLang="en-US" sz="2400" b="1"/>
          </a:p>
        </p:txBody>
      </p:sp>
      <p:grpSp>
        <p:nvGrpSpPr>
          <p:cNvPr id="69635" name="组合 220177"/>
          <p:cNvGrpSpPr/>
          <p:nvPr/>
        </p:nvGrpSpPr>
        <p:grpSpPr bwMode="auto">
          <a:xfrm>
            <a:off x="2987675" y="2060575"/>
            <a:ext cx="2928938" cy="3133725"/>
            <a:chOff x="3152" y="1207"/>
            <a:chExt cx="1845" cy="1974"/>
          </a:xfrm>
        </p:grpSpPr>
        <p:graphicFrame>
          <p:nvGraphicFramePr>
            <p:cNvPr id="69636" name="对象 220164"/>
            <p:cNvGraphicFramePr/>
            <p:nvPr/>
          </p:nvGraphicFramePr>
          <p:xfrm>
            <a:off x="3152" y="1207"/>
            <a:ext cx="1845" cy="1974"/>
          </p:xfrm>
          <a:graphic>
            <a:graphicData uri="http://schemas.openxmlformats.org/presentationml/2006/ole">
              <mc:AlternateContent xmlns:mc="http://schemas.openxmlformats.org/markup-compatibility/2006">
                <mc:Choice xmlns:v="urn:schemas-microsoft-com:vml" Requires="v">
                  <p:oleObj spid="_x0000_s31753" r:id="rId3" imgW="3400425" imgH="3638550" progId="Paint.Picture">
                    <p:embed/>
                  </p:oleObj>
                </mc:Choice>
                <mc:Fallback>
                  <p:oleObj r:id="rId3" imgW="3400425" imgH="3638550" progId="Paint.Picture">
                    <p:embed/>
                    <p:pic>
                      <p:nvPicPr>
                        <p:cNvPr id="0" name="对象 22016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 y="1207"/>
                          <a:ext cx="1845" cy="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37" name="矩形 220168"/>
            <p:cNvSpPr>
              <a:spLocks noChangeArrowheads="1"/>
            </p:cNvSpPr>
            <p:nvPr/>
          </p:nvSpPr>
          <p:spPr bwMode="auto">
            <a:xfrm>
              <a:off x="4105" y="1842"/>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38" name="矩形 220169"/>
            <p:cNvSpPr>
              <a:spLocks noChangeArrowheads="1"/>
            </p:cNvSpPr>
            <p:nvPr/>
          </p:nvSpPr>
          <p:spPr bwMode="auto">
            <a:xfrm>
              <a:off x="4211" y="1888"/>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39" name="矩形 220170"/>
            <p:cNvSpPr>
              <a:spLocks noChangeArrowheads="1"/>
            </p:cNvSpPr>
            <p:nvPr/>
          </p:nvSpPr>
          <p:spPr bwMode="auto">
            <a:xfrm>
              <a:off x="4321" y="1923"/>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40" name="矩形 220171"/>
            <p:cNvSpPr>
              <a:spLocks noChangeArrowheads="1"/>
            </p:cNvSpPr>
            <p:nvPr/>
          </p:nvSpPr>
          <p:spPr bwMode="auto">
            <a:xfrm>
              <a:off x="4432" y="1958"/>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41" name="矩形 220172"/>
            <p:cNvSpPr>
              <a:spLocks noChangeArrowheads="1"/>
            </p:cNvSpPr>
            <p:nvPr/>
          </p:nvSpPr>
          <p:spPr bwMode="auto">
            <a:xfrm>
              <a:off x="3999" y="1797"/>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42" name="矩形 220173"/>
            <p:cNvSpPr>
              <a:spLocks noChangeArrowheads="1"/>
            </p:cNvSpPr>
            <p:nvPr/>
          </p:nvSpPr>
          <p:spPr bwMode="auto">
            <a:xfrm>
              <a:off x="3893" y="1706"/>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43" name="矩形 220174"/>
            <p:cNvSpPr>
              <a:spLocks noChangeArrowheads="1"/>
            </p:cNvSpPr>
            <p:nvPr/>
          </p:nvSpPr>
          <p:spPr bwMode="auto">
            <a:xfrm>
              <a:off x="3787" y="1706"/>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44" name="矩形 220175"/>
            <p:cNvSpPr>
              <a:spLocks noChangeArrowheads="1"/>
            </p:cNvSpPr>
            <p:nvPr/>
          </p:nvSpPr>
          <p:spPr bwMode="auto">
            <a:xfrm>
              <a:off x="3500" y="1434"/>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9645" name="矩形 220176"/>
            <p:cNvSpPr>
              <a:spLocks noChangeArrowheads="1"/>
            </p:cNvSpPr>
            <p:nvPr/>
          </p:nvSpPr>
          <p:spPr bwMode="auto">
            <a:xfrm>
              <a:off x="3601" y="1525"/>
              <a:ext cx="45" cy="182"/>
            </a:xfrm>
            <a:prstGeom prst="rect">
              <a:avLst/>
            </a:prstGeom>
            <a:solidFill>
              <a:schemeClr val="bg1"/>
            </a:solidFill>
            <a:ln w="9525">
              <a:solidFill>
                <a:schemeClr val="bg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Tree>
  </p:cSld>
  <p:clrMapOvr>
    <a:masterClrMapping/>
  </p:clrMapOvr>
  <p:transition spd="slow"/>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文本框 313345"/>
          <p:cNvSpPr txBox="1">
            <a:spLocks noChangeArrowheads="1"/>
          </p:cNvSpPr>
          <p:nvPr/>
        </p:nvSpPr>
        <p:spPr bwMode="auto">
          <a:xfrm>
            <a:off x="3995738" y="1989138"/>
            <a:ext cx="4535487"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400" b="1">
                <a:latin typeface="黑体" panose="02010609060101010101" pitchFamily="49" charset="-122"/>
                <a:ea typeface="黑体" panose="02010609060101010101" pitchFamily="49" charset="-122"/>
              </a:rPr>
              <a:t>常见活塞式发动机中，活塞移动速度小于</a:t>
            </a:r>
            <a:r>
              <a:rPr lang="en-US" altLang="zh-CN" b="1">
                <a:solidFill>
                  <a:srgbClr val="FF0000"/>
                </a:solidFill>
                <a:latin typeface="黑体" panose="02010609060101010101" pitchFamily="49" charset="-122"/>
                <a:ea typeface="黑体" panose="02010609060101010101" pitchFamily="49" charset="-122"/>
              </a:rPr>
              <a:t>10</a:t>
            </a:r>
            <a:r>
              <a:rPr lang="zh-CN" altLang="en-US" b="1">
                <a:solidFill>
                  <a:srgbClr val="FF0000"/>
                </a:solidFill>
                <a:latin typeface="黑体" panose="02010609060101010101" pitchFamily="49" charset="-122"/>
                <a:ea typeface="黑体" panose="02010609060101010101" pitchFamily="49" charset="-122"/>
              </a:rPr>
              <a:t>米</a:t>
            </a:r>
            <a:r>
              <a:rPr lang="en-US" altLang="zh-CN" b="1">
                <a:solidFill>
                  <a:srgbClr val="FF0000"/>
                </a:solidFill>
                <a:latin typeface="黑体" panose="02010609060101010101" pitchFamily="49" charset="-122"/>
                <a:ea typeface="黑体" panose="02010609060101010101" pitchFamily="49" charset="-122"/>
              </a:rPr>
              <a:t>/</a:t>
            </a:r>
            <a:r>
              <a:rPr lang="zh-CN" altLang="en-US" b="1">
                <a:solidFill>
                  <a:srgbClr val="FF0000"/>
                </a:solidFill>
                <a:latin typeface="黑体" panose="02010609060101010101" pitchFamily="49" charset="-122"/>
                <a:ea typeface="黑体" panose="02010609060101010101" pitchFamily="49" charset="-122"/>
              </a:rPr>
              <a:t>秒</a:t>
            </a:r>
            <a:r>
              <a:rPr lang="zh-CN" altLang="en-US" sz="2400" b="1">
                <a:latin typeface="黑体" panose="02010609060101010101" pitchFamily="49" charset="-122"/>
                <a:ea typeface="黑体" panose="02010609060101010101" pitchFamily="49" charset="-122"/>
              </a:rPr>
              <a:t>，系统内使其压力、温度、密度等趋于均匀的速率却是极高的，如压力播的传播速度一般为数</a:t>
            </a:r>
            <a:r>
              <a:rPr lang="zh-CN" altLang="en-US" b="1">
                <a:solidFill>
                  <a:srgbClr val="FF0000"/>
                </a:solidFill>
                <a:latin typeface="黑体" panose="02010609060101010101" pitchFamily="49" charset="-122"/>
                <a:ea typeface="黑体" panose="02010609060101010101" pitchFamily="49" charset="-122"/>
              </a:rPr>
              <a:t>百米</a:t>
            </a:r>
            <a:r>
              <a:rPr lang="en-US" altLang="zh-CN" b="1">
                <a:solidFill>
                  <a:srgbClr val="FF0000"/>
                </a:solidFill>
                <a:latin typeface="黑体" panose="02010609060101010101" pitchFamily="49" charset="-122"/>
                <a:ea typeface="黑体" panose="02010609060101010101" pitchFamily="49" charset="-122"/>
              </a:rPr>
              <a:t>/</a:t>
            </a:r>
            <a:r>
              <a:rPr lang="zh-CN" altLang="en-US" b="1">
                <a:solidFill>
                  <a:srgbClr val="FF0000"/>
                </a:solidFill>
                <a:latin typeface="黑体" panose="02010609060101010101" pitchFamily="49" charset="-122"/>
                <a:ea typeface="黑体" panose="02010609060101010101" pitchFamily="49" charset="-122"/>
              </a:rPr>
              <a:t>秒</a:t>
            </a:r>
            <a:r>
              <a:rPr lang="zh-CN" altLang="en-US" sz="2400" b="1">
                <a:latin typeface="黑体" panose="02010609060101010101" pitchFamily="49" charset="-122"/>
                <a:ea typeface="黑体" panose="02010609060101010101" pitchFamily="49" charset="-122"/>
              </a:rPr>
              <a:t>量级。</a:t>
            </a:r>
          </a:p>
          <a:p>
            <a:pPr eaLnBrk="1" hangingPunct="1">
              <a:spcBef>
                <a:spcPct val="0"/>
              </a:spcBef>
              <a:buFont typeface="Wingdings" panose="05000000000000000000" pitchFamily="2" charset="2"/>
              <a:buChar char="Ø"/>
            </a:pPr>
            <a:r>
              <a:rPr lang="zh-CN" altLang="en-US" sz="2400" b="1">
                <a:solidFill>
                  <a:srgbClr val="000000"/>
                </a:solidFill>
                <a:latin typeface="黑体" panose="02010609060101010101" pitchFamily="49" charset="-122"/>
                <a:ea typeface="黑体" panose="02010609060101010101" pitchFamily="49" charset="-122"/>
              </a:rPr>
              <a:t>热力系统内部一旦出现不平衡势差，系统能够很快恢复平衡</a:t>
            </a:r>
            <a:r>
              <a:rPr lang="zh-CN" altLang="en-US" sz="2400" b="1">
                <a:latin typeface="黑体" panose="02010609060101010101" pitchFamily="49" charset="-122"/>
                <a:ea typeface="黑体" panose="02010609060101010101" pitchFamily="49" charset="-122"/>
              </a:rPr>
              <a:t> </a:t>
            </a:r>
          </a:p>
        </p:txBody>
      </p:sp>
      <p:sp>
        <p:nvSpPr>
          <p:cNvPr id="70659" name="矩形 313346"/>
          <p:cNvSpPr>
            <a:spLocks noChangeArrowheads="1"/>
          </p:cNvSpPr>
          <p:nvPr/>
        </p:nvSpPr>
        <p:spPr bwMode="auto">
          <a:xfrm>
            <a:off x="250825" y="274638"/>
            <a:ext cx="87137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ea typeface="黑体" panose="02010609060101010101" pitchFamily="49" charset="-122"/>
              </a:rPr>
              <a:t>工程设备中的过程视为准平衡过程，造成的误差大么？</a:t>
            </a:r>
            <a:endParaRPr lang="zh-CN" altLang="en-US" b="1">
              <a:solidFill>
                <a:srgbClr val="0000CC"/>
              </a:solidFill>
            </a:endParaRPr>
          </a:p>
        </p:txBody>
      </p:sp>
      <p:pic>
        <p:nvPicPr>
          <p:cNvPr id="70660"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700213"/>
            <a:ext cx="1873250" cy="360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13346"/>
                                        </p:tgtEl>
                                        <p:attrNameLst>
                                          <p:attrName>style.visibility</p:attrName>
                                        </p:attrNameLst>
                                      </p:cBhvr>
                                      <p:to>
                                        <p:strVal val="visible"/>
                                      </p:to>
                                    </p:set>
                                    <p:animEffect transition="in" filter="blinds(horizontal)">
                                      <p:cBhvr>
                                        <p:cTn id="7" dur="500"/>
                                        <p:tgtEl>
                                          <p:spTgt spid="313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348161"/>
          <p:cNvSpPr>
            <a:spLocks noGrp="1" noChangeArrowheads="1"/>
          </p:cNvSpPr>
          <p:nvPr>
            <p:ph type="title"/>
          </p:nvPr>
        </p:nvSpPr>
        <p:spPr/>
        <p:txBody>
          <a:bodyPr/>
          <a:lstStyle/>
          <a:p>
            <a:pPr eaLnBrk="1" hangingPunct="1"/>
            <a:r>
              <a:rPr lang="zh-CN" altLang="en-US" b="1" smtClean="0">
                <a:ea typeface="黑体" panose="02010609060101010101" pitchFamily="49" charset="-122"/>
              </a:rPr>
              <a:t>对以上内容小结：</a:t>
            </a:r>
          </a:p>
        </p:txBody>
      </p:sp>
      <p:sp>
        <p:nvSpPr>
          <p:cNvPr id="71683" name="文本占位符 348162"/>
          <p:cNvSpPr>
            <a:spLocks noGrp="1" noChangeArrowheads="1"/>
          </p:cNvSpPr>
          <p:nvPr>
            <p:ph idx="1"/>
          </p:nvPr>
        </p:nvSpPr>
        <p:spPr/>
        <p:txBody>
          <a:bodyPr>
            <a:normAutofit/>
          </a:bodyPr>
          <a:lstStyle/>
          <a:p>
            <a:pPr eaLnBrk="1" hangingPunct="1"/>
            <a:r>
              <a:rPr lang="zh-CN" altLang="en-US" sz="3200" b="1" dirty="0" smtClean="0">
                <a:latin typeface="黑体" panose="02010609060101010101" pitchFamily="49" charset="-122"/>
                <a:ea typeface="黑体" panose="02010609060101010101" pitchFamily="49" charset="-122"/>
              </a:rPr>
              <a:t>热力系的一切变化过程都是在不平衡势差的推动下进行的，没有不平衡势差就没有变化，也就没有过程。</a:t>
            </a:r>
          </a:p>
          <a:p>
            <a:pPr eaLnBrk="1" hangingPunct="1"/>
            <a:r>
              <a:rPr lang="zh-CN" altLang="en-US" sz="3200" b="1" dirty="0" smtClean="0">
                <a:latin typeface="黑体" panose="02010609060101010101" pitchFamily="49" charset="-122"/>
                <a:ea typeface="黑体" panose="02010609060101010101" pitchFamily="49" charset="-122"/>
              </a:rPr>
              <a:t>当</a:t>
            </a:r>
            <a:r>
              <a:rPr lang="zh-CN" altLang="en-US" sz="3200" b="1" dirty="0" smtClean="0">
                <a:solidFill>
                  <a:srgbClr val="FF0000"/>
                </a:solidFill>
                <a:latin typeface="黑体" panose="02010609060101010101" pitchFamily="49" charset="-122"/>
                <a:ea typeface="黑体" panose="02010609060101010101" pitchFamily="49" charset="-122"/>
              </a:rPr>
              <a:t>不平衡势差为无限小</a:t>
            </a:r>
            <a:r>
              <a:rPr lang="zh-CN" altLang="en-US" sz="3200" b="1" dirty="0" smtClean="0">
                <a:latin typeface="黑体" panose="02010609060101010101" pitchFamily="49" charset="-122"/>
                <a:ea typeface="黑体" panose="02010609060101010101" pitchFamily="49" charset="-122"/>
              </a:rPr>
              <a:t>时所进行的极限过程称为</a:t>
            </a:r>
            <a:r>
              <a:rPr lang="zh-CN" altLang="en-US" sz="3200" b="1" dirty="0" smtClean="0">
                <a:solidFill>
                  <a:srgbClr val="FF0000"/>
                </a:solidFill>
                <a:latin typeface="黑体" panose="02010609060101010101" pitchFamily="49" charset="-122"/>
                <a:ea typeface="黑体" panose="02010609060101010101" pitchFamily="49" charset="-122"/>
              </a:rPr>
              <a:t>准平衡过程</a:t>
            </a:r>
            <a:r>
              <a:rPr lang="zh-CN" altLang="en-US" sz="3200" b="1" dirty="0" smtClean="0">
                <a:latin typeface="黑体" panose="02010609060101010101" pitchFamily="49" charset="-122"/>
                <a:ea typeface="黑体" panose="02010609060101010101" pitchFamily="49" charset="-122"/>
              </a:rPr>
              <a:t> </a:t>
            </a:r>
          </a:p>
        </p:txBody>
      </p:sp>
    </p:spTree>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矩形 314369"/>
          <p:cNvSpPr>
            <a:spLocks noChangeArrowheads="1"/>
          </p:cNvSpPr>
          <p:nvPr/>
        </p:nvSpPr>
        <p:spPr bwMode="auto">
          <a:xfrm>
            <a:off x="300038" y="258763"/>
            <a:ext cx="8304212"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b="1">
                <a:latin typeface="Times New Roman" panose="02020603050405020304" pitchFamily="18" charset="0"/>
                <a:ea typeface="黑体" panose="02010609060101010101" pitchFamily="49" charset="-122"/>
              </a:rPr>
              <a:t>二、可逆过程    </a:t>
            </a:r>
            <a:r>
              <a:rPr lang="en-US" altLang="zh-CN" sz="4000" b="1">
                <a:latin typeface="Times New Roman" panose="02020603050405020304" pitchFamily="18" charset="0"/>
                <a:ea typeface="黑体" panose="02010609060101010101" pitchFamily="49" charset="-122"/>
              </a:rPr>
              <a:t>(reversible process)</a:t>
            </a:r>
          </a:p>
          <a:p>
            <a:pPr eaLnBrk="1" hangingPunct="1">
              <a:spcBef>
                <a:spcPct val="0"/>
              </a:spcBef>
              <a:buFontTx/>
              <a:buNone/>
            </a:pPr>
            <a:r>
              <a:rPr lang="en-US" altLang="zh-CN" b="1">
                <a:latin typeface="Times New Roman" panose="02020603050405020304" pitchFamily="18" charset="0"/>
                <a:ea typeface="黑体" panose="02010609060101010101" pitchFamily="49" charset="-122"/>
              </a:rPr>
              <a:t>      </a:t>
            </a:r>
          </a:p>
        </p:txBody>
      </p:sp>
      <p:sp>
        <p:nvSpPr>
          <p:cNvPr id="72707" name="矩形 314370"/>
          <p:cNvSpPr>
            <a:spLocks noChangeArrowheads="1"/>
          </p:cNvSpPr>
          <p:nvPr/>
        </p:nvSpPr>
        <p:spPr bwMode="auto">
          <a:xfrm>
            <a:off x="1403350" y="1341438"/>
            <a:ext cx="61515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FontTx/>
              <a:buNone/>
            </a:pPr>
            <a:endParaRPr lang="zh-CN" altLang="zh-CN" sz="2400" b="1">
              <a:latin typeface="Times New Roman" panose="02020603050405020304" pitchFamily="18" charset="0"/>
              <a:ea typeface="楷体_GB2312" pitchFamily="49" charset="-122"/>
            </a:endParaRPr>
          </a:p>
        </p:txBody>
      </p:sp>
      <p:sp>
        <p:nvSpPr>
          <p:cNvPr id="72708" name="矩形 31437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2709" name="矩形 314382"/>
          <p:cNvSpPr>
            <a:spLocks noChangeArrowheads="1"/>
          </p:cNvSpPr>
          <p:nvPr/>
        </p:nvSpPr>
        <p:spPr bwMode="auto">
          <a:xfrm>
            <a:off x="827088" y="1339850"/>
            <a:ext cx="1905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3600" b="1">
                <a:latin typeface="黑体" panose="02010609060101010101" pitchFamily="49" charset="-122"/>
                <a:ea typeface="黑体" panose="02010609060101010101" pitchFamily="49" charset="-122"/>
              </a:rPr>
              <a:t>1</a:t>
            </a:r>
            <a:r>
              <a:rPr lang="zh-CN" altLang="en-US" sz="3600" b="1">
                <a:latin typeface="黑体" panose="02010609060101010101" pitchFamily="49" charset="-122"/>
                <a:ea typeface="黑体" panose="02010609060101010101" pitchFamily="49" charset="-122"/>
              </a:rPr>
              <a:t>、定义：</a:t>
            </a:r>
          </a:p>
        </p:txBody>
      </p:sp>
      <p:sp>
        <p:nvSpPr>
          <p:cNvPr id="72710" name="矩形 314383"/>
          <p:cNvSpPr>
            <a:spLocks noChangeArrowheads="1"/>
          </p:cNvSpPr>
          <p:nvPr/>
        </p:nvSpPr>
        <p:spPr bwMode="auto">
          <a:xfrm>
            <a:off x="539750" y="2276475"/>
            <a:ext cx="8231188"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黑体" panose="02010609060101010101" pitchFamily="49" charset="-122"/>
                <a:ea typeface="黑体" panose="02010609060101010101" pitchFamily="49" charset="-122"/>
              </a:rPr>
              <a:t>当系统完成一个过程之后，如果可以沿着原路径返回，而使</a:t>
            </a:r>
            <a:r>
              <a:rPr lang="zh-CN" altLang="en-US" sz="3600" b="1">
                <a:solidFill>
                  <a:srgbClr val="0000CC"/>
                </a:solidFill>
                <a:latin typeface="黑体" panose="02010609060101010101" pitchFamily="49" charset="-122"/>
                <a:ea typeface="黑体" panose="02010609060101010101" pitchFamily="49" charset="-122"/>
              </a:rPr>
              <a:t>系统和外界</a:t>
            </a:r>
            <a:r>
              <a:rPr lang="zh-CN" altLang="en-US" sz="3600" b="1">
                <a:latin typeface="黑体" panose="02010609060101010101" pitchFamily="49" charset="-122"/>
                <a:ea typeface="黑体" panose="02010609060101010101" pitchFamily="49" charset="-122"/>
              </a:rPr>
              <a:t>回复到初始状态不留下任何痕迹，则该过程称为</a:t>
            </a:r>
            <a:r>
              <a:rPr lang="zh-CN" altLang="en-US" sz="3600" b="1">
                <a:solidFill>
                  <a:srgbClr val="FF0000"/>
                </a:solidFill>
                <a:latin typeface="黑体" panose="02010609060101010101" pitchFamily="49" charset="-122"/>
                <a:ea typeface="黑体" panose="02010609060101010101" pitchFamily="49" charset="-122"/>
              </a:rPr>
              <a:t>可逆过程</a:t>
            </a:r>
            <a:r>
              <a:rPr lang="zh-CN" altLang="en-US" sz="3600" b="1">
                <a:latin typeface="黑体" panose="02010609060101010101" pitchFamily="49" charset="-122"/>
                <a:ea typeface="黑体" panose="02010609060101010101" pitchFamily="49" charset="-122"/>
              </a:rPr>
              <a:t>。否则，若留下了痕迹，则为</a:t>
            </a:r>
            <a:r>
              <a:rPr lang="zh-CN" altLang="en-US" sz="3600" b="1">
                <a:solidFill>
                  <a:srgbClr val="FF0000"/>
                </a:solidFill>
                <a:latin typeface="黑体" panose="02010609060101010101" pitchFamily="49" charset="-122"/>
                <a:ea typeface="黑体" panose="02010609060101010101" pitchFamily="49" charset="-122"/>
              </a:rPr>
              <a:t>不可逆过程</a:t>
            </a:r>
            <a:r>
              <a:rPr lang="zh-CN" altLang="en-US" sz="3600" b="1">
                <a:latin typeface="黑体" panose="02010609060101010101" pitchFamily="49" charset="-122"/>
                <a:ea typeface="黑体" panose="02010609060101010101" pitchFamily="49" charset="-122"/>
              </a:rPr>
              <a:t>。 </a:t>
            </a:r>
          </a:p>
        </p:txBody>
      </p:sp>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5" name="矩形 315394"/>
          <p:cNvSpPr>
            <a:spLocks noChangeArrowheads="1"/>
          </p:cNvSpPr>
          <p:nvPr/>
        </p:nvSpPr>
        <p:spPr bwMode="auto">
          <a:xfrm>
            <a:off x="539750" y="476250"/>
            <a:ext cx="8496300"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黑体" panose="02010609060101010101" pitchFamily="49" charset="-122"/>
                <a:ea typeface="黑体" panose="02010609060101010101" pitchFamily="49" charset="-122"/>
              </a:rPr>
              <a:t>无论系统经历的是可逆还是不可逆过程，都有可能沿着原路径返回原来状态。</a:t>
            </a:r>
          </a:p>
          <a:p>
            <a:pPr eaLnBrk="1" hangingPunct="1">
              <a:spcBef>
                <a:spcPct val="0"/>
              </a:spcBef>
              <a:buFontTx/>
              <a:buNone/>
            </a:pPr>
            <a:r>
              <a:rPr lang="zh-CN" altLang="en-US" sz="3600" b="1">
                <a:latin typeface="黑体" panose="02010609060101010101" pitchFamily="49" charset="-122"/>
                <a:ea typeface="黑体" panose="02010609060101010101" pitchFamily="49" charset="-122"/>
              </a:rPr>
              <a:t>判断可逆与否</a:t>
            </a:r>
            <a:r>
              <a:rPr lang="en-US" altLang="zh-CN" sz="3600" b="1">
                <a:ea typeface="黑体" panose="02010609060101010101" pitchFamily="49" charset="-122"/>
              </a:rPr>
              <a:t>——</a:t>
            </a:r>
            <a:r>
              <a:rPr lang="zh-CN" altLang="en-US" sz="3600" b="1">
                <a:latin typeface="黑体" panose="02010609060101010101" pitchFamily="49" charset="-122"/>
                <a:ea typeface="黑体" panose="02010609060101010101" pitchFamily="49" charset="-122"/>
              </a:rPr>
              <a:t>看</a:t>
            </a:r>
            <a:r>
              <a:rPr lang="zh-CN" altLang="en-US" sz="3600" b="1">
                <a:solidFill>
                  <a:srgbClr val="FF0000"/>
                </a:solidFill>
                <a:latin typeface="黑体" panose="02010609060101010101" pitchFamily="49" charset="-122"/>
                <a:ea typeface="黑体" panose="02010609060101010101" pitchFamily="49" charset="-122"/>
              </a:rPr>
              <a:t>是否留下了痕迹</a:t>
            </a:r>
            <a:r>
              <a:rPr lang="zh-CN" altLang="en-US" sz="3600" b="1">
                <a:latin typeface="黑体" panose="02010609060101010101" pitchFamily="49" charset="-122"/>
                <a:ea typeface="黑体" panose="02010609060101010101" pitchFamily="49" charset="-122"/>
              </a:rPr>
              <a:t>：</a:t>
            </a:r>
          </a:p>
          <a:p>
            <a:pPr eaLnBrk="1" hangingPunct="1">
              <a:spcBef>
                <a:spcPct val="0"/>
              </a:spcBef>
              <a:buFontTx/>
              <a:buNone/>
            </a:pPr>
            <a:endParaRPr lang="zh-CN" altLang="en-US" sz="2400" b="1">
              <a:latin typeface="楷体_GB2312" pitchFamily="49" charset="-122"/>
              <a:ea typeface="楷体_GB2312" pitchFamily="49" charset="-122"/>
            </a:endParaRPr>
          </a:p>
          <a:p>
            <a:pPr eaLnBrk="1" hangingPunct="1">
              <a:spcBef>
                <a:spcPct val="0"/>
              </a:spcBef>
              <a:buFontTx/>
              <a:buNone/>
            </a:pPr>
            <a:endParaRPr lang="zh-CN" altLang="en-US" sz="2400" b="1">
              <a:latin typeface="楷体_GB2312" pitchFamily="49" charset="-122"/>
              <a:ea typeface="楷体_GB2312" pitchFamily="49" charset="-122"/>
            </a:endParaRPr>
          </a:p>
        </p:txBody>
      </p:sp>
      <p:sp>
        <p:nvSpPr>
          <p:cNvPr id="315396" name="矩形 315395"/>
          <p:cNvSpPr>
            <a:spLocks noChangeArrowheads="1"/>
          </p:cNvSpPr>
          <p:nvPr/>
        </p:nvSpPr>
        <p:spPr bwMode="auto">
          <a:xfrm>
            <a:off x="611188" y="4508500"/>
            <a:ext cx="8208962"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系统在经历了</a:t>
            </a:r>
            <a:r>
              <a:rPr lang="zh-CN" altLang="en-US" b="1">
                <a:solidFill>
                  <a:srgbClr val="0000CC"/>
                </a:solidFill>
                <a:latin typeface="黑体" panose="02010609060101010101" pitchFamily="49" charset="-122"/>
                <a:ea typeface="黑体" panose="02010609060101010101" pitchFamily="49" charset="-122"/>
              </a:rPr>
              <a:t>原过程</a:t>
            </a:r>
            <a:r>
              <a:rPr lang="en-US" altLang="zh-CN" b="1">
                <a:solidFill>
                  <a:srgbClr val="0000CC"/>
                </a:solidFill>
                <a:latin typeface="黑体" panose="02010609060101010101" pitchFamily="49" charset="-122"/>
                <a:ea typeface="黑体" panose="02010609060101010101" pitchFamily="49" charset="-122"/>
              </a:rPr>
              <a:t>+</a:t>
            </a:r>
            <a:r>
              <a:rPr lang="zh-CN" altLang="en-US" b="1">
                <a:solidFill>
                  <a:srgbClr val="0000CC"/>
                </a:solidFill>
                <a:latin typeface="黑体" panose="02010609060101010101" pitchFamily="49" charset="-122"/>
                <a:ea typeface="黑体" panose="02010609060101010101" pitchFamily="49" charset="-122"/>
              </a:rPr>
              <a:t>逆过程</a:t>
            </a:r>
            <a:r>
              <a:rPr lang="zh-CN" altLang="en-US" b="1">
                <a:latin typeface="黑体" panose="02010609060101010101" pitchFamily="49" charset="-122"/>
                <a:ea typeface="黑体" panose="02010609060101010101" pitchFamily="49" charset="-122"/>
              </a:rPr>
              <a:t>之后</a:t>
            </a:r>
            <a:r>
              <a:rPr lang="en-US" altLang="zh-CN" b="1">
                <a:latin typeface="黑体" panose="02010609060101010101" pitchFamily="49" charset="-122"/>
                <a:ea typeface="黑体" panose="02010609060101010101" pitchFamily="49" charset="-122"/>
              </a:rPr>
              <a:t>,</a:t>
            </a:r>
            <a:r>
              <a:rPr lang="zh-CN" altLang="en-US" b="1">
                <a:solidFill>
                  <a:srgbClr val="FF0000"/>
                </a:solidFill>
                <a:latin typeface="黑体" panose="02010609060101010101" pitchFamily="49" charset="-122"/>
                <a:ea typeface="黑体" panose="02010609060101010101" pitchFamily="49" charset="-122"/>
              </a:rPr>
              <a:t>是否与外界留下了净热量和净功量的交换</a:t>
            </a:r>
            <a:r>
              <a:rPr lang="zh-CN" altLang="en-US" b="1">
                <a:latin typeface="黑体" panose="02010609060101010101" pitchFamily="49" charset="-122"/>
                <a:ea typeface="黑体" panose="02010609060101010101" pitchFamily="49" charset="-122"/>
              </a:rPr>
              <a:t>，如果有净热量或净功量的交换，则说明留下了痕迹，就是不可逆过程。</a:t>
            </a:r>
            <a:endParaRPr lang="zh-CN" altLang="en-US" b="1">
              <a:latin typeface="楷体_GB2312" pitchFamily="49" charset="-122"/>
              <a:ea typeface="楷体_GB2312" pitchFamily="49" charset="-122"/>
            </a:endParaRPr>
          </a:p>
        </p:txBody>
      </p:sp>
      <p:sp>
        <p:nvSpPr>
          <p:cNvPr id="73732" name="椭圆 315399"/>
          <p:cNvSpPr>
            <a:spLocks noChangeArrowheads="1"/>
          </p:cNvSpPr>
          <p:nvPr/>
        </p:nvSpPr>
        <p:spPr bwMode="auto">
          <a:xfrm>
            <a:off x="1116013" y="3213100"/>
            <a:ext cx="215900" cy="215900"/>
          </a:xfrm>
          <a:prstGeom prst="ellipse">
            <a:avLst/>
          </a:prstGeom>
          <a:solidFill>
            <a:srgbClr val="FF0000"/>
          </a:solidFill>
          <a:ln w="9525">
            <a:solidFill>
              <a:srgbClr val="FF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3733" name="椭圆 315401"/>
          <p:cNvSpPr>
            <a:spLocks noChangeArrowheads="1"/>
          </p:cNvSpPr>
          <p:nvPr/>
        </p:nvSpPr>
        <p:spPr bwMode="auto">
          <a:xfrm>
            <a:off x="3635375" y="3213100"/>
            <a:ext cx="215900" cy="215900"/>
          </a:xfrm>
          <a:prstGeom prst="ellipse">
            <a:avLst/>
          </a:prstGeom>
          <a:solidFill>
            <a:srgbClr val="FF0000"/>
          </a:solidFill>
          <a:ln w="9525">
            <a:solidFill>
              <a:srgbClr val="FF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3734" name="直接连接符 315402"/>
          <p:cNvSpPr>
            <a:spLocks noChangeShapeType="1"/>
          </p:cNvSpPr>
          <p:nvPr/>
        </p:nvSpPr>
        <p:spPr bwMode="auto">
          <a:xfrm>
            <a:off x="1371600" y="3284538"/>
            <a:ext cx="2232025"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35" name="直接连接符 315403"/>
          <p:cNvSpPr>
            <a:spLocks noChangeShapeType="1"/>
          </p:cNvSpPr>
          <p:nvPr/>
        </p:nvSpPr>
        <p:spPr bwMode="auto">
          <a:xfrm>
            <a:off x="1347788" y="3397250"/>
            <a:ext cx="2232025"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36" name="矩形 315404"/>
          <p:cNvSpPr>
            <a:spLocks noChangeArrowheads="1"/>
          </p:cNvSpPr>
          <p:nvPr/>
        </p:nvSpPr>
        <p:spPr bwMode="auto">
          <a:xfrm>
            <a:off x="1908175" y="279082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t>原路径</a:t>
            </a:r>
          </a:p>
        </p:txBody>
      </p:sp>
      <p:sp>
        <p:nvSpPr>
          <p:cNvPr id="73737" name="矩形 315406"/>
          <p:cNvSpPr>
            <a:spLocks noChangeArrowheads="1"/>
          </p:cNvSpPr>
          <p:nvPr/>
        </p:nvSpPr>
        <p:spPr bwMode="auto">
          <a:xfrm>
            <a:off x="1763713" y="337185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t>返回路径</a:t>
            </a:r>
          </a:p>
        </p:txBody>
      </p:sp>
      <p:grpSp>
        <p:nvGrpSpPr>
          <p:cNvPr id="315409" name="组合 315408"/>
          <p:cNvGrpSpPr/>
          <p:nvPr/>
        </p:nvGrpSpPr>
        <p:grpSpPr bwMode="auto">
          <a:xfrm>
            <a:off x="5940425" y="2276475"/>
            <a:ext cx="2808288" cy="2089150"/>
            <a:chOff x="3742" y="1434"/>
            <a:chExt cx="1769" cy="1316"/>
          </a:xfrm>
        </p:grpSpPr>
        <p:sp>
          <p:nvSpPr>
            <p:cNvPr id="73739" name="下箭头 315397"/>
            <p:cNvSpPr>
              <a:spLocks noChangeArrowheads="1"/>
            </p:cNvSpPr>
            <p:nvPr/>
          </p:nvSpPr>
          <p:spPr bwMode="auto">
            <a:xfrm>
              <a:off x="3742" y="1434"/>
              <a:ext cx="363" cy="1316"/>
            </a:xfrm>
            <a:prstGeom prst="downArrow">
              <a:avLst>
                <a:gd name="adj1" fmla="val 50000"/>
                <a:gd name="adj2" fmla="val 90533"/>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3740" name="矩形 315407"/>
            <p:cNvSpPr>
              <a:spLocks noChangeArrowheads="1"/>
            </p:cNvSpPr>
            <p:nvPr/>
          </p:nvSpPr>
          <p:spPr bwMode="auto">
            <a:xfrm>
              <a:off x="4059" y="1797"/>
              <a:ext cx="1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t>如何判断？</a:t>
              </a:r>
            </a:p>
          </p:txBody>
        </p: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5395">
                                            <p:txEl>
                                              <p:pRg st="1" end="1"/>
                                            </p:txEl>
                                          </p:spTgt>
                                        </p:tgtEl>
                                        <p:attrNameLst>
                                          <p:attrName>style.visibility</p:attrName>
                                        </p:attrNameLst>
                                      </p:cBhvr>
                                      <p:to>
                                        <p:strVal val="visible"/>
                                      </p:to>
                                    </p:set>
                                    <p:animEffect transition="in" filter="blinds(horizontal)">
                                      <p:cBhvr>
                                        <p:cTn id="7" dur="500"/>
                                        <p:tgtEl>
                                          <p:spTgt spid="3153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15409"/>
                                        </p:tgtEl>
                                        <p:attrNameLst>
                                          <p:attrName>style.visibility</p:attrName>
                                        </p:attrNameLst>
                                      </p:cBhvr>
                                      <p:to>
                                        <p:strVal val="visible"/>
                                      </p:to>
                                    </p:set>
                                    <p:animEffect transition="in" filter="wipe(up)">
                                      <p:cBhvr>
                                        <p:cTn id="12" dur="500"/>
                                        <p:tgtEl>
                                          <p:spTgt spid="31540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5396"/>
                                        </p:tgtEl>
                                        <p:attrNameLst>
                                          <p:attrName>style.visibility</p:attrName>
                                        </p:attrNameLst>
                                      </p:cBhvr>
                                      <p:to>
                                        <p:strVal val="visible"/>
                                      </p:to>
                                    </p:set>
                                    <p:animEffect transition="in" filter="blinds(horizontal)">
                                      <p:cBhvr>
                                        <p:cTn id="17" dur="500"/>
                                        <p:tgtEl>
                                          <p:spTgt spid="315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316417"/>
          <p:cNvSpPr>
            <a:spLocks noChangeArrowheads="1"/>
          </p:cNvSpPr>
          <p:nvPr/>
        </p:nvSpPr>
        <p:spPr bwMode="auto">
          <a:xfrm>
            <a:off x="611188" y="476250"/>
            <a:ext cx="78486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例：有限温差传热过程</a:t>
            </a:r>
          </a:p>
          <a:p>
            <a:pPr eaLnBrk="1" hangingPunct="1">
              <a:spcBef>
                <a:spcPct val="0"/>
              </a:spcBef>
              <a:buFont typeface="Wingdings" panose="05000000000000000000" pitchFamily="2" charset="2"/>
              <a:buChar char="Ø"/>
            </a:pPr>
            <a:r>
              <a:rPr lang="zh-CN" altLang="en-US" sz="2800" b="1">
                <a:latin typeface="黑体" panose="02010609060101010101" pitchFamily="49" charset="-122"/>
                <a:ea typeface="黑体" panose="02010609060101010101" pitchFamily="49" charset="-122"/>
              </a:rPr>
              <a:t>热量可自发从高温物体传向低温物体</a:t>
            </a:r>
          </a:p>
          <a:p>
            <a:pPr eaLnBrk="1" hangingPunct="1">
              <a:spcBef>
                <a:spcPct val="0"/>
              </a:spcBef>
              <a:buFont typeface="Wingdings" panose="05000000000000000000" pitchFamily="2" charset="2"/>
              <a:buChar char="Ø"/>
            </a:pPr>
            <a:r>
              <a:rPr lang="zh-CN" altLang="en-US" sz="2800" b="1">
                <a:latin typeface="黑体" panose="02010609060101010101" pitchFamily="49" charset="-122"/>
                <a:ea typeface="黑体" panose="02010609060101010101" pitchFamily="49" charset="-122"/>
              </a:rPr>
              <a:t>如果使过程反方向进行，则需要外界输入功</a:t>
            </a:r>
          </a:p>
          <a:p>
            <a:pPr eaLnBrk="1" hangingPunct="1">
              <a:spcBef>
                <a:spcPct val="0"/>
              </a:spcBef>
              <a:buFont typeface="Wingdings" panose="05000000000000000000" pitchFamily="2" charset="2"/>
              <a:buChar char="Ø"/>
            </a:pPr>
            <a:r>
              <a:rPr lang="zh-CN" altLang="en-US" sz="2800" b="1">
                <a:latin typeface="黑体" panose="02010609060101010101" pitchFamily="49" charset="-122"/>
                <a:ea typeface="黑体" panose="02010609060101010101" pitchFamily="49" charset="-122"/>
              </a:rPr>
              <a:t>此时外界</a:t>
            </a:r>
            <a:r>
              <a:rPr lang="zh-CN" altLang="en-US" sz="2800" b="1">
                <a:solidFill>
                  <a:srgbClr val="FF0000"/>
                </a:solidFill>
                <a:latin typeface="黑体" panose="02010609060101010101" pitchFamily="49" charset="-122"/>
                <a:ea typeface="黑体" panose="02010609060101010101" pitchFamily="49" charset="-122"/>
              </a:rPr>
              <a:t>留下了净功量交换这个痕迹</a:t>
            </a:r>
          </a:p>
          <a:p>
            <a:pPr eaLnBrk="1" hangingPunct="1">
              <a:spcBef>
                <a:spcPct val="0"/>
              </a:spcBef>
              <a:buFont typeface="Wingdings" panose="05000000000000000000" pitchFamily="2" charset="2"/>
              <a:buChar char="Ø"/>
            </a:pPr>
            <a:r>
              <a:rPr lang="zh-CN" altLang="en-US" sz="2800" b="1">
                <a:latin typeface="黑体" panose="02010609060101010101" pitchFamily="49" charset="-122"/>
                <a:ea typeface="黑体" panose="02010609060101010101" pitchFamily="49" charset="-122"/>
              </a:rPr>
              <a:t>因此有限温差传热是个不可逆过程</a:t>
            </a:r>
          </a:p>
        </p:txBody>
      </p:sp>
      <p:sp>
        <p:nvSpPr>
          <p:cNvPr id="74755" name="矩形 316420"/>
          <p:cNvSpPr>
            <a:spLocks noChangeArrowheads="1"/>
          </p:cNvSpPr>
          <p:nvPr/>
        </p:nvSpPr>
        <p:spPr bwMode="auto">
          <a:xfrm>
            <a:off x="971550" y="3141663"/>
            <a:ext cx="1512888" cy="647700"/>
          </a:xfrm>
          <a:prstGeom prst="rect">
            <a:avLst/>
          </a:prstGeom>
          <a:solidFill>
            <a:srgbClr val="FF0066"/>
          </a:solidFill>
          <a:ln w="9525">
            <a:solidFill>
              <a:srgbClr val="FF0066"/>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56" name="矩形 316421"/>
          <p:cNvSpPr>
            <a:spLocks noChangeArrowheads="1"/>
          </p:cNvSpPr>
          <p:nvPr/>
        </p:nvSpPr>
        <p:spPr bwMode="auto">
          <a:xfrm>
            <a:off x="971550" y="5229225"/>
            <a:ext cx="1512888" cy="647700"/>
          </a:xfrm>
          <a:prstGeom prst="rect">
            <a:avLst/>
          </a:prstGeom>
          <a:solidFill>
            <a:schemeClr val="hlink"/>
          </a:solidFill>
          <a:ln w="9525">
            <a:solidFill>
              <a:schemeClr val="hlink"/>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57" name="下箭头 316422"/>
          <p:cNvSpPr>
            <a:spLocks noChangeArrowheads="1"/>
          </p:cNvSpPr>
          <p:nvPr/>
        </p:nvSpPr>
        <p:spPr bwMode="auto">
          <a:xfrm>
            <a:off x="1331913" y="3860800"/>
            <a:ext cx="720725" cy="1296988"/>
          </a:xfrm>
          <a:prstGeom prst="downArrow">
            <a:avLst>
              <a:gd name="adj1" fmla="val 50000"/>
              <a:gd name="adj2" fmla="val 44939"/>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58" name="矩形 316424"/>
          <p:cNvSpPr>
            <a:spLocks noChangeArrowheads="1"/>
          </p:cNvSpPr>
          <p:nvPr/>
        </p:nvSpPr>
        <p:spPr bwMode="auto">
          <a:xfrm>
            <a:off x="900113" y="3213100"/>
            <a:ext cx="2087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高温物体</a:t>
            </a:r>
          </a:p>
        </p:txBody>
      </p:sp>
      <p:sp>
        <p:nvSpPr>
          <p:cNvPr id="74759" name="矩形 316425"/>
          <p:cNvSpPr>
            <a:spLocks noChangeArrowheads="1"/>
          </p:cNvSpPr>
          <p:nvPr/>
        </p:nvSpPr>
        <p:spPr bwMode="auto">
          <a:xfrm>
            <a:off x="900113" y="5300663"/>
            <a:ext cx="1943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低温物体</a:t>
            </a:r>
          </a:p>
        </p:txBody>
      </p:sp>
      <p:sp>
        <p:nvSpPr>
          <p:cNvPr id="74760" name="矩形 316426"/>
          <p:cNvSpPr>
            <a:spLocks noChangeArrowheads="1"/>
          </p:cNvSpPr>
          <p:nvPr/>
        </p:nvSpPr>
        <p:spPr bwMode="auto">
          <a:xfrm>
            <a:off x="1042988" y="40989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latin typeface="Times New Roman" panose="02020603050405020304" pitchFamily="18" charset="0"/>
                <a:ea typeface="黑体" panose="02010609060101010101" pitchFamily="49" charset="-122"/>
              </a:rPr>
              <a:t>Q</a:t>
            </a:r>
          </a:p>
        </p:txBody>
      </p:sp>
      <p:sp>
        <p:nvSpPr>
          <p:cNvPr id="74761" name="矩形 316427"/>
          <p:cNvSpPr>
            <a:spLocks noChangeArrowheads="1"/>
          </p:cNvSpPr>
          <p:nvPr/>
        </p:nvSpPr>
        <p:spPr bwMode="auto">
          <a:xfrm>
            <a:off x="1187450" y="6092825"/>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t>原路径</a:t>
            </a:r>
          </a:p>
        </p:txBody>
      </p:sp>
      <p:sp>
        <p:nvSpPr>
          <p:cNvPr id="74762" name="矩形 316428"/>
          <p:cNvSpPr>
            <a:spLocks noChangeArrowheads="1"/>
          </p:cNvSpPr>
          <p:nvPr/>
        </p:nvSpPr>
        <p:spPr bwMode="auto">
          <a:xfrm>
            <a:off x="4787900" y="3141663"/>
            <a:ext cx="1512888" cy="647700"/>
          </a:xfrm>
          <a:prstGeom prst="rect">
            <a:avLst/>
          </a:prstGeom>
          <a:solidFill>
            <a:srgbClr val="FF0066"/>
          </a:solidFill>
          <a:ln w="9525">
            <a:solidFill>
              <a:srgbClr val="FF0066"/>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63" name="矩形 316429"/>
          <p:cNvSpPr>
            <a:spLocks noChangeArrowheads="1"/>
          </p:cNvSpPr>
          <p:nvPr/>
        </p:nvSpPr>
        <p:spPr bwMode="auto">
          <a:xfrm>
            <a:off x="4787900" y="5229225"/>
            <a:ext cx="1512888" cy="647700"/>
          </a:xfrm>
          <a:prstGeom prst="rect">
            <a:avLst/>
          </a:prstGeom>
          <a:solidFill>
            <a:schemeClr val="hlink"/>
          </a:solidFill>
          <a:ln w="9525">
            <a:solidFill>
              <a:schemeClr val="hlink"/>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64" name="下箭头 316430"/>
          <p:cNvSpPr>
            <a:spLocks noChangeArrowheads="1"/>
          </p:cNvSpPr>
          <p:nvPr/>
        </p:nvSpPr>
        <p:spPr bwMode="auto">
          <a:xfrm rot="10800000">
            <a:off x="5148263" y="3860800"/>
            <a:ext cx="720725" cy="1296988"/>
          </a:xfrm>
          <a:prstGeom prst="downArrow">
            <a:avLst>
              <a:gd name="adj1" fmla="val 50000"/>
              <a:gd name="adj2" fmla="val 44939"/>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65" name="矩形 316431"/>
          <p:cNvSpPr>
            <a:spLocks noChangeArrowheads="1"/>
          </p:cNvSpPr>
          <p:nvPr/>
        </p:nvSpPr>
        <p:spPr bwMode="auto">
          <a:xfrm>
            <a:off x="4716463" y="3213100"/>
            <a:ext cx="20875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高温物体</a:t>
            </a:r>
          </a:p>
        </p:txBody>
      </p:sp>
      <p:sp>
        <p:nvSpPr>
          <p:cNvPr id="74766" name="矩形 316432"/>
          <p:cNvSpPr>
            <a:spLocks noChangeArrowheads="1"/>
          </p:cNvSpPr>
          <p:nvPr/>
        </p:nvSpPr>
        <p:spPr bwMode="auto">
          <a:xfrm>
            <a:off x="4716463" y="5300663"/>
            <a:ext cx="2232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低温物体</a:t>
            </a:r>
          </a:p>
        </p:txBody>
      </p:sp>
      <p:sp>
        <p:nvSpPr>
          <p:cNvPr id="74767" name="矩形 316433"/>
          <p:cNvSpPr>
            <a:spLocks noChangeArrowheads="1"/>
          </p:cNvSpPr>
          <p:nvPr/>
        </p:nvSpPr>
        <p:spPr bwMode="auto">
          <a:xfrm>
            <a:off x="4787900" y="4221163"/>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latin typeface="Times New Roman" panose="02020603050405020304" pitchFamily="18" charset="0"/>
                <a:ea typeface="黑体" panose="02010609060101010101" pitchFamily="49" charset="-122"/>
              </a:rPr>
              <a:t>Q</a:t>
            </a:r>
          </a:p>
        </p:txBody>
      </p:sp>
      <p:sp>
        <p:nvSpPr>
          <p:cNvPr id="74768" name="矩形 316434"/>
          <p:cNvSpPr>
            <a:spLocks noChangeArrowheads="1"/>
          </p:cNvSpPr>
          <p:nvPr/>
        </p:nvSpPr>
        <p:spPr bwMode="auto">
          <a:xfrm>
            <a:off x="4859338" y="6092825"/>
            <a:ext cx="3097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t>返回路径</a:t>
            </a:r>
          </a:p>
        </p:txBody>
      </p:sp>
      <p:sp>
        <p:nvSpPr>
          <p:cNvPr id="74769" name="左箭头 316435"/>
          <p:cNvSpPr>
            <a:spLocks noChangeArrowheads="1"/>
          </p:cNvSpPr>
          <p:nvPr/>
        </p:nvSpPr>
        <p:spPr bwMode="auto">
          <a:xfrm>
            <a:off x="6084888" y="4437063"/>
            <a:ext cx="1223962" cy="215900"/>
          </a:xfrm>
          <a:prstGeom prst="leftArrow">
            <a:avLst>
              <a:gd name="adj1" fmla="val 50000"/>
              <a:gd name="adj2" fmla="val 141570"/>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4770" name="矩形 316436"/>
          <p:cNvSpPr>
            <a:spLocks noChangeArrowheads="1"/>
          </p:cNvSpPr>
          <p:nvPr/>
        </p:nvSpPr>
        <p:spPr bwMode="auto">
          <a:xfrm>
            <a:off x="6948488" y="4005263"/>
            <a:ext cx="5000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latin typeface="Times New Roman" panose="02020603050405020304" pitchFamily="18" charset="0"/>
                <a:ea typeface="黑体" panose="02010609060101010101" pitchFamily="49" charset="-122"/>
              </a:rPr>
              <a:t>W</a:t>
            </a:r>
          </a:p>
        </p:txBody>
      </p:sp>
    </p:spTree>
    <p:custDataLst>
      <p:tags r:id="rId1"/>
    </p:custDataLst>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533400" y="304800"/>
            <a:ext cx="8382000" cy="823913"/>
          </a:xfrm>
        </p:spPr>
        <p:txBody>
          <a:bodyPr/>
          <a:lstStyle/>
          <a:p>
            <a:pPr eaLnBrk="1" hangingPunct="1"/>
            <a:r>
              <a:rPr lang="zh-CN" altLang="en-US" b="1" smtClean="0">
                <a:latin typeface="黑体" panose="02010609060101010101" pitchFamily="49" charset="-122"/>
                <a:ea typeface="黑体" panose="02010609060101010101" pitchFamily="49" charset="-122"/>
              </a:rPr>
              <a:t>典型的不可逆过程</a:t>
            </a:r>
          </a:p>
        </p:txBody>
      </p:sp>
      <p:sp>
        <p:nvSpPr>
          <p:cNvPr id="75779" name="Rectangle 3"/>
          <p:cNvSpPr>
            <a:spLocks noChangeArrowheads="1"/>
          </p:cNvSpPr>
          <p:nvPr/>
        </p:nvSpPr>
        <p:spPr bwMode="auto">
          <a:xfrm>
            <a:off x="914400" y="1524000"/>
            <a:ext cx="30813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3600" b="1">
                <a:latin typeface="黑体" panose="02010609060101010101" pitchFamily="49" charset="-122"/>
                <a:ea typeface="黑体" panose="02010609060101010101" pitchFamily="49" charset="-122"/>
              </a:rPr>
              <a:t>有限温差传热</a:t>
            </a:r>
          </a:p>
        </p:txBody>
      </p:sp>
      <p:sp>
        <p:nvSpPr>
          <p:cNvPr id="75780" name="Line 4"/>
          <p:cNvSpPr>
            <a:spLocks noChangeShapeType="1"/>
          </p:cNvSpPr>
          <p:nvPr/>
        </p:nvSpPr>
        <p:spPr bwMode="auto">
          <a:xfrm>
            <a:off x="1066800" y="3352800"/>
            <a:ext cx="2057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81" name="Line 5"/>
          <p:cNvSpPr>
            <a:spLocks noChangeShapeType="1"/>
          </p:cNvSpPr>
          <p:nvPr/>
        </p:nvSpPr>
        <p:spPr bwMode="auto">
          <a:xfrm>
            <a:off x="1066800" y="5562600"/>
            <a:ext cx="2057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82" name="Line 6"/>
          <p:cNvSpPr>
            <a:spLocks noChangeShapeType="1"/>
          </p:cNvSpPr>
          <p:nvPr/>
        </p:nvSpPr>
        <p:spPr bwMode="auto">
          <a:xfrm>
            <a:off x="1066800" y="5562600"/>
            <a:ext cx="0" cy="5334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83" name="Line 7"/>
          <p:cNvSpPr>
            <a:spLocks noChangeShapeType="1"/>
          </p:cNvSpPr>
          <p:nvPr/>
        </p:nvSpPr>
        <p:spPr bwMode="auto">
          <a:xfrm>
            <a:off x="3124200" y="5562600"/>
            <a:ext cx="0" cy="5334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84" name="Line 8"/>
          <p:cNvSpPr>
            <a:spLocks noChangeShapeType="1"/>
          </p:cNvSpPr>
          <p:nvPr/>
        </p:nvSpPr>
        <p:spPr bwMode="auto">
          <a:xfrm>
            <a:off x="1066800" y="2819400"/>
            <a:ext cx="0" cy="5334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85" name="Line 9"/>
          <p:cNvSpPr>
            <a:spLocks noChangeShapeType="1"/>
          </p:cNvSpPr>
          <p:nvPr/>
        </p:nvSpPr>
        <p:spPr bwMode="auto">
          <a:xfrm>
            <a:off x="3124200" y="2819400"/>
            <a:ext cx="0" cy="5334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86" name="Rectangle 10"/>
          <p:cNvSpPr>
            <a:spLocks noChangeArrowheads="1"/>
          </p:cNvSpPr>
          <p:nvPr/>
        </p:nvSpPr>
        <p:spPr bwMode="auto">
          <a:xfrm>
            <a:off x="1782128" y="2670175"/>
            <a:ext cx="58547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i="1">
                <a:latin typeface="Times New Roman" panose="02020603050405020304" pitchFamily="18" charset="0"/>
                <a:cs typeface="Times New Roman" panose="02020603050405020304" pitchFamily="18" charset="0"/>
              </a:rPr>
              <a:t>T</a:t>
            </a:r>
            <a:r>
              <a:rPr lang="en-US" altLang="zh-CN" sz="3600" baseline="-25000">
                <a:latin typeface="Times New Roman" panose="02020603050405020304" pitchFamily="18" charset="0"/>
                <a:cs typeface="Times New Roman" panose="02020603050405020304" pitchFamily="18" charset="0"/>
              </a:rPr>
              <a:t>1</a:t>
            </a:r>
          </a:p>
        </p:txBody>
      </p:sp>
      <p:sp>
        <p:nvSpPr>
          <p:cNvPr id="75787" name="Rectangle 11"/>
          <p:cNvSpPr>
            <a:spLocks noChangeArrowheads="1"/>
          </p:cNvSpPr>
          <p:nvPr/>
        </p:nvSpPr>
        <p:spPr bwMode="auto">
          <a:xfrm>
            <a:off x="1767840" y="5734050"/>
            <a:ext cx="58547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i="1">
                <a:latin typeface="Times New Roman" panose="02020603050405020304" pitchFamily="18" charset="0"/>
                <a:cs typeface="Times New Roman" panose="02020603050405020304" pitchFamily="18" charset="0"/>
              </a:rPr>
              <a:t>T</a:t>
            </a:r>
            <a:r>
              <a:rPr lang="en-US" altLang="zh-CN" sz="3600" baseline="-25000">
                <a:latin typeface="Times New Roman" panose="02020603050405020304" pitchFamily="18" charset="0"/>
                <a:cs typeface="Times New Roman" panose="02020603050405020304" pitchFamily="18" charset="0"/>
              </a:rPr>
              <a:t>2</a:t>
            </a:r>
          </a:p>
        </p:txBody>
      </p:sp>
      <p:sp>
        <p:nvSpPr>
          <p:cNvPr id="75788" name="Line 12"/>
          <p:cNvSpPr>
            <a:spLocks noChangeShapeType="1"/>
          </p:cNvSpPr>
          <p:nvPr/>
        </p:nvSpPr>
        <p:spPr bwMode="auto">
          <a:xfrm>
            <a:off x="1752600" y="3352800"/>
            <a:ext cx="0" cy="2209800"/>
          </a:xfrm>
          <a:prstGeom prst="line">
            <a:avLst/>
          </a:prstGeom>
          <a:noFill/>
          <a:ln w="25400" cap="sq">
            <a:solidFill>
              <a:srgbClr val="FE4D3A"/>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9" name="Line 13"/>
          <p:cNvSpPr>
            <a:spLocks noChangeShapeType="1"/>
          </p:cNvSpPr>
          <p:nvPr/>
        </p:nvSpPr>
        <p:spPr bwMode="auto">
          <a:xfrm flipV="1">
            <a:off x="2438400" y="3352800"/>
            <a:ext cx="0" cy="2209800"/>
          </a:xfrm>
          <a:prstGeom prst="line">
            <a:avLst/>
          </a:prstGeom>
          <a:noFill/>
          <a:ln w="25400">
            <a:solidFill>
              <a:srgbClr val="000066"/>
            </a:solidFill>
            <a:prstDash val="dash"/>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0" name="Rectangle 14"/>
          <p:cNvSpPr>
            <a:spLocks noChangeArrowheads="1"/>
          </p:cNvSpPr>
          <p:nvPr/>
        </p:nvSpPr>
        <p:spPr bwMode="auto">
          <a:xfrm>
            <a:off x="2533016" y="4165600"/>
            <a:ext cx="124587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i="1">
                <a:latin typeface="Times New Roman" panose="02020603050405020304" pitchFamily="18" charset="0"/>
                <a:cs typeface="Times New Roman" panose="02020603050405020304" pitchFamily="18" charset="0"/>
              </a:rPr>
              <a:t>T</a:t>
            </a:r>
            <a:r>
              <a:rPr lang="en-US" altLang="zh-CN" sz="3600" baseline="-25000">
                <a:latin typeface="Times New Roman" panose="02020603050405020304" pitchFamily="18" charset="0"/>
                <a:cs typeface="Times New Roman" panose="02020603050405020304" pitchFamily="18" charset="0"/>
              </a:rPr>
              <a:t>1</a:t>
            </a:r>
            <a:r>
              <a:rPr lang="en-US" altLang="zh-CN" sz="3600">
                <a:latin typeface="Times New Roman" panose="02020603050405020304" pitchFamily="18" charset="0"/>
                <a:cs typeface="Times New Roman" panose="02020603050405020304" pitchFamily="18" charset="0"/>
              </a:rPr>
              <a:t>&gt;</a:t>
            </a:r>
            <a:r>
              <a:rPr lang="en-US" altLang="zh-CN" sz="3600" i="1">
                <a:latin typeface="Times New Roman" panose="02020603050405020304" pitchFamily="18" charset="0"/>
                <a:cs typeface="Times New Roman" panose="02020603050405020304" pitchFamily="18" charset="0"/>
              </a:rPr>
              <a:t>T</a:t>
            </a:r>
            <a:r>
              <a:rPr lang="en-US" altLang="zh-CN" sz="3600" baseline="-25000">
                <a:latin typeface="Times New Roman" panose="02020603050405020304" pitchFamily="18" charset="0"/>
                <a:cs typeface="Times New Roman" panose="02020603050405020304" pitchFamily="18" charset="0"/>
              </a:rPr>
              <a:t>2</a:t>
            </a:r>
          </a:p>
        </p:txBody>
      </p:sp>
      <p:sp>
        <p:nvSpPr>
          <p:cNvPr id="75791" name="Rectangle 15"/>
          <p:cNvSpPr>
            <a:spLocks noChangeArrowheads="1"/>
          </p:cNvSpPr>
          <p:nvPr/>
        </p:nvSpPr>
        <p:spPr bwMode="auto">
          <a:xfrm>
            <a:off x="965041" y="4165600"/>
            <a:ext cx="5130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i="1">
                <a:latin typeface="Times New Roman" panose="02020603050405020304" pitchFamily="18" charset="0"/>
                <a:cs typeface="Times New Roman" panose="02020603050405020304" pitchFamily="18" charset="0"/>
              </a:rPr>
              <a:t>Q</a:t>
            </a:r>
            <a:endParaRPr lang="en-US" altLang="zh-CN" sz="3600" baseline="-25000">
              <a:latin typeface="Times New Roman" panose="02020603050405020304" pitchFamily="18" charset="0"/>
              <a:cs typeface="Times New Roman" panose="02020603050405020304" pitchFamily="18" charset="0"/>
            </a:endParaRPr>
          </a:p>
        </p:txBody>
      </p:sp>
      <p:sp>
        <p:nvSpPr>
          <p:cNvPr id="75792" name="Rectangle 16"/>
          <p:cNvSpPr>
            <a:spLocks noChangeArrowheads="1"/>
          </p:cNvSpPr>
          <p:nvPr/>
        </p:nvSpPr>
        <p:spPr bwMode="auto">
          <a:xfrm>
            <a:off x="5791200" y="1524000"/>
            <a:ext cx="2209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3600" b="1">
                <a:latin typeface="黑体" panose="02010609060101010101" pitchFamily="49" charset="-122"/>
                <a:ea typeface="黑体" panose="02010609060101010101" pitchFamily="49" charset="-122"/>
              </a:rPr>
              <a:t>自由膨胀</a:t>
            </a:r>
          </a:p>
        </p:txBody>
      </p:sp>
      <p:sp>
        <p:nvSpPr>
          <p:cNvPr id="75793" name="Rectangle 17"/>
          <p:cNvSpPr>
            <a:spLocks noChangeArrowheads="1"/>
          </p:cNvSpPr>
          <p:nvPr/>
        </p:nvSpPr>
        <p:spPr bwMode="auto">
          <a:xfrm>
            <a:off x="5334000" y="4038600"/>
            <a:ext cx="2971800" cy="2057400"/>
          </a:xfrm>
          <a:prstGeom prst="rect">
            <a:avLst/>
          </a:prstGeom>
          <a:noFill/>
          <a:ln w="1905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5794" name="Line 18"/>
          <p:cNvSpPr>
            <a:spLocks noChangeShapeType="1"/>
          </p:cNvSpPr>
          <p:nvPr/>
        </p:nvSpPr>
        <p:spPr bwMode="auto">
          <a:xfrm>
            <a:off x="6858000" y="3276600"/>
            <a:ext cx="0" cy="28194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95" name="Rectangle 19"/>
          <p:cNvSpPr>
            <a:spLocks noChangeArrowheads="1"/>
          </p:cNvSpPr>
          <p:nvPr/>
        </p:nvSpPr>
        <p:spPr bwMode="auto">
          <a:xfrm>
            <a:off x="7059613" y="4776788"/>
            <a:ext cx="10001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3600">
                <a:latin typeface="宋体" panose="02010600030101010101" pitchFamily="2" charset="-122"/>
              </a:rPr>
              <a:t>真空</a:t>
            </a:r>
          </a:p>
        </p:txBody>
      </p:sp>
      <p:sp>
        <p:nvSpPr>
          <p:cNvPr id="75796" name="Rectangle 20"/>
          <p:cNvSpPr>
            <a:spLocks noChangeArrowheads="1"/>
          </p:cNvSpPr>
          <p:nvPr/>
        </p:nvSpPr>
        <p:spPr bwMode="auto">
          <a:xfrm>
            <a:off x="5481638" y="420528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797" name="Rectangle 21"/>
          <p:cNvSpPr>
            <a:spLocks noChangeArrowheads="1"/>
          </p:cNvSpPr>
          <p:nvPr/>
        </p:nvSpPr>
        <p:spPr bwMode="auto">
          <a:xfrm>
            <a:off x="5889625" y="45450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798" name="Rectangle 22"/>
          <p:cNvSpPr>
            <a:spLocks noChangeArrowheads="1"/>
          </p:cNvSpPr>
          <p:nvPr/>
        </p:nvSpPr>
        <p:spPr bwMode="auto">
          <a:xfrm>
            <a:off x="5786438" y="41640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799" name="Rectangle 23"/>
          <p:cNvSpPr>
            <a:spLocks noChangeArrowheads="1"/>
          </p:cNvSpPr>
          <p:nvPr/>
        </p:nvSpPr>
        <p:spPr bwMode="auto">
          <a:xfrm>
            <a:off x="5494338" y="466248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0" name="Rectangle 24"/>
          <p:cNvSpPr>
            <a:spLocks noChangeArrowheads="1"/>
          </p:cNvSpPr>
          <p:nvPr/>
        </p:nvSpPr>
        <p:spPr bwMode="auto">
          <a:xfrm>
            <a:off x="5799138" y="50022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1" name="Rectangle 25"/>
          <p:cNvSpPr>
            <a:spLocks noChangeArrowheads="1"/>
          </p:cNvSpPr>
          <p:nvPr/>
        </p:nvSpPr>
        <p:spPr bwMode="auto">
          <a:xfrm>
            <a:off x="6243638" y="496728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2" name="Rectangle 26"/>
          <p:cNvSpPr>
            <a:spLocks noChangeArrowheads="1"/>
          </p:cNvSpPr>
          <p:nvPr/>
        </p:nvSpPr>
        <p:spPr bwMode="auto">
          <a:xfrm>
            <a:off x="5494338" y="5119688"/>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3" name="Rectangle 27"/>
          <p:cNvSpPr>
            <a:spLocks noChangeArrowheads="1"/>
          </p:cNvSpPr>
          <p:nvPr/>
        </p:nvSpPr>
        <p:spPr bwMode="auto">
          <a:xfrm>
            <a:off x="6548438" y="56118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4" name="Rectangle 28"/>
          <p:cNvSpPr>
            <a:spLocks noChangeArrowheads="1"/>
          </p:cNvSpPr>
          <p:nvPr/>
        </p:nvSpPr>
        <p:spPr bwMode="auto">
          <a:xfrm>
            <a:off x="6423025" y="53070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5" name="Rectangle 29"/>
          <p:cNvSpPr>
            <a:spLocks noChangeArrowheads="1"/>
          </p:cNvSpPr>
          <p:nvPr/>
        </p:nvSpPr>
        <p:spPr bwMode="auto">
          <a:xfrm>
            <a:off x="6561138" y="49260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6" name="Rectangle 30"/>
          <p:cNvSpPr>
            <a:spLocks noChangeArrowheads="1"/>
          </p:cNvSpPr>
          <p:nvPr/>
        </p:nvSpPr>
        <p:spPr bwMode="auto">
          <a:xfrm>
            <a:off x="6332538" y="40878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7" name="Rectangle 31"/>
          <p:cNvSpPr>
            <a:spLocks noChangeArrowheads="1"/>
          </p:cNvSpPr>
          <p:nvPr/>
        </p:nvSpPr>
        <p:spPr bwMode="auto">
          <a:xfrm>
            <a:off x="6027738" y="57642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8" name="Rectangle 32"/>
          <p:cNvSpPr>
            <a:spLocks noChangeArrowheads="1"/>
          </p:cNvSpPr>
          <p:nvPr/>
        </p:nvSpPr>
        <p:spPr bwMode="auto">
          <a:xfrm>
            <a:off x="5646738" y="53832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09" name="Rectangle 33"/>
          <p:cNvSpPr>
            <a:spLocks noChangeArrowheads="1"/>
          </p:cNvSpPr>
          <p:nvPr/>
        </p:nvSpPr>
        <p:spPr bwMode="auto">
          <a:xfrm>
            <a:off x="6256338" y="45450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10" name="Rectangle 34"/>
          <p:cNvSpPr>
            <a:spLocks noChangeArrowheads="1"/>
          </p:cNvSpPr>
          <p:nvPr/>
        </p:nvSpPr>
        <p:spPr bwMode="auto">
          <a:xfrm>
            <a:off x="5494338" y="56118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11" name="Rectangle 35"/>
          <p:cNvSpPr>
            <a:spLocks noChangeArrowheads="1"/>
          </p:cNvSpPr>
          <p:nvPr/>
        </p:nvSpPr>
        <p:spPr bwMode="auto">
          <a:xfrm>
            <a:off x="6118225" y="53070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12" name="Rectangle 36"/>
          <p:cNvSpPr>
            <a:spLocks noChangeArrowheads="1"/>
          </p:cNvSpPr>
          <p:nvPr/>
        </p:nvSpPr>
        <p:spPr bwMode="auto">
          <a:xfrm>
            <a:off x="6499225" y="4392613"/>
            <a:ext cx="273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solidFill>
                  <a:srgbClr val="FE4D3A"/>
                </a:solidFill>
              </a:rPr>
              <a:t>•</a:t>
            </a:r>
            <a:endParaRPr lang="en-US" altLang="zh-CN" sz="2400">
              <a:solidFill>
                <a:srgbClr val="FE4D3A"/>
              </a:solidFill>
              <a:latin typeface="宋体" panose="02010600030101010101" pitchFamily="2" charset="-122"/>
            </a:endParaRPr>
          </a:p>
        </p:txBody>
      </p:sp>
      <p:sp>
        <p:nvSpPr>
          <p:cNvPr id="75813" name="AutoShape 37"/>
          <p:cNvSpPr>
            <a:spLocks noChangeArrowheads="1"/>
          </p:cNvSpPr>
          <p:nvPr/>
        </p:nvSpPr>
        <p:spPr bwMode="auto">
          <a:xfrm>
            <a:off x="6781800" y="2514600"/>
            <a:ext cx="184150" cy="762000"/>
          </a:xfrm>
          <a:prstGeom prst="upArrow">
            <a:avLst>
              <a:gd name="adj1" fmla="val 50000"/>
              <a:gd name="adj2" fmla="val 103333"/>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533400" y="304800"/>
            <a:ext cx="8382000" cy="823913"/>
          </a:xfrm>
        </p:spPr>
        <p:txBody>
          <a:bodyPr/>
          <a:lstStyle/>
          <a:p>
            <a:pPr eaLnBrk="1" hangingPunct="1"/>
            <a:r>
              <a:rPr lang="zh-CN" altLang="en-US" sz="4800" b="1" smtClean="0">
                <a:latin typeface="黑体" panose="02010609060101010101" pitchFamily="49" charset="-122"/>
                <a:ea typeface="黑体" panose="02010609060101010101" pitchFamily="49" charset="-122"/>
              </a:rPr>
              <a:t>典型的不可逆过程</a:t>
            </a:r>
          </a:p>
        </p:txBody>
      </p:sp>
      <p:sp>
        <p:nvSpPr>
          <p:cNvPr id="76803" name="Rectangle 3"/>
          <p:cNvSpPr>
            <a:spLocks noChangeArrowheads="1"/>
          </p:cNvSpPr>
          <p:nvPr/>
        </p:nvSpPr>
        <p:spPr bwMode="auto">
          <a:xfrm>
            <a:off x="1403350" y="1557338"/>
            <a:ext cx="2538413"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4000" b="1">
                <a:latin typeface="黑体" panose="02010609060101010101" pitchFamily="49" charset="-122"/>
                <a:ea typeface="黑体" panose="02010609060101010101" pitchFamily="49" charset="-122"/>
              </a:rPr>
              <a:t>节流过程</a:t>
            </a:r>
          </a:p>
          <a:p>
            <a:pPr eaLnBrk="1" hangingPunct="1">
              <a:buFontTx/>
              <a:buNone/>
            </a:pPr>
            <a:r>
              <a:rPr lang="zh-CN" altLang="en-US" sz="4000">
                <a:latin typeface="黑体" panose="02010609060101010101" pitchFamily="49" charset="-122"/>
                <a:ea typeface="黑体" panose="02010609060101010101" pitchFamily="49" charset="-122"/>
              </a:rPr>
              <a:t> </a:t>
            </a:r>
            <a:r>
              <a:rPr lang="en-US" altLang="zh-CN" sz="4000">
                <a:latin typeface="黑体" panose="02010609060101010101" pitchFamily="49" charset="-122"/>
                <a:ea typeface="黑体" panose="02010609060101010101" pitchFamily="49" charset="-122"/>
              </a:rPr>
              <a:t>(</a:t>
            </a:r>
            <a:r>
              <a:rPr lang="zh-CN" altLang="en-US" sz="4000">
                <a:latin typeface="黑体" panose="02010609060101010101" pitchFamily="49" charset="-122"/>
                <a:ea typeface="黑体" panose="02010609060101010101" pitchFamily="49" charset="-122"/>
              </a:rPr>
              <a:t>阀门）</a:t>
            </a:r>
          </a:p>
        </p:txBody>
      </p:sp>
      <p:sp>
        <p:nvSpPr>
          <p:cNvPr id="76804" name="Rectangle 4"/>
          <p:cNvSpPr>
            <a:spLocks noChangeArrowheads="1"/>
          </p:cNvSpPr>
          <p:nvPr/>
        </p:nvSpPr>
        <p:spPr bwMode="auto">
          <a:xfrm>
            <a:off x="616586" y="4518025"/>
            <a:ext cx="6019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4000" i="1">
                <a:latin typeface="Times New Roman" panose="02020603050405020304" pitchFamily="18" charset="0"/>
                <a:cs typeface="Times New Roman" panose="02020603050405020304" pitchFamily="18" charset="0"/>
              </a:rPr>
              <a:t>p</a:t>
            </a:r>
            <a:r>
              <a:rPr lang="en-US" altLang="zh-CN" sz="4000" baseline="-25000">
                <a:latin typeface="Times New Roman" panose="02020603050405020304" pitchFamily="18" charset="0"/>
                <a:cs typeface="Times New Roman" panose="02020603050405020304" pitchFamily="18" charset="0"/>
              </a:rPr>
              <a:t>1</a:t>
            </a:r>
          </a:p>
        </p:txBody>
      </p:sp>
      <p:sp>
        <p:nvSpPr>
          <p:cNvPr id="76805" name="Rectangle 5"/>
          <p:cNvSpPr>
            <a:spLocks noChangeArrowheads="1"/>
          </p:cNvSpPr>
          <p:nvPr/>
        </p:nvSpPr>
        <p:spPr bwMode="auto">
          <a:xfrm>
            <a:off x="3816986" y="4518025"/>
            <a:ext cx="6019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4000" i="1">
                <a:latin typeface="Times New Roman" panose="02020603050405020304" pitchFamily="18" charset="0"/>
                <a:cs typeface="Times New Roman" panose="02020603050405020304" pitchFamily="18" charset="0"/>
              </a:rPr>
              <a:t>p</a:t>
            </a:r>
            <a:r>
              <a:rPr lang="en-US" altLang="zh-CN" sz="4000" baseline="-25000">
                <a:latin typeface="Times New Roman" panose="02020603050405020304" pitchFamily="18" charset="0"/>
                <a:cs typeface="Times New Roman" panose="02020603050405020304" pitchFamily="18" charset="0"/>
              </a:rPr>
              <a:t>2</a:t>
            </a:r>
          </a:p>
        </p:txBody>
      </p:sp>
      <p:sp>
        <p:nvSpPr>
          <p:cNvPr id="76806" name="Rectangle 6"/>
          <p:cNvSpPr>
            <a:spLocks noChangeArrowheads="1"/>
          </p:cNvSpPr>
          <p:nvPr/>
        </p:nvSpPr>
        <p:spPr bwMode="auto">
          <a:xfrm>
            <a:off x="1906111" y="5661025"/>
            <a:ext cx="130746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4000" i="1">
                <a:latin typeface="Times New Roman" panose="02020603050405020304" pitchFamily="18" charset="0"/>
                <a:cs typeface="Times New Roman" panose="02020603050405020304" pitchFamily="18" charset="0"/>
              </a:rPr>
              <a:t>p</a:t>
            </a:r>
            <a:r>
              <a:rPr lang="en-US" altLang="zh-CN" sz="4000" baseline="-25000">
                <a:latin typeface="Times New Roman" panose="02020603050405020304" pitchFamily="18" charset="0"/>
                <a:cs typeface="Times New Roman" panose="02020603050405020304" pitchFamily="18" charset="0"/>
              </a:rPr>
              <a:t>1</a:t>
            </a:r>
            <a:r>
              <a:rPr lang="en-US" altLang="zh-CN" sz="4000">
                <a:latin typeface="Times New Roman" panose="02020603050405020304" pitchFamily="18" charset="0"/>
                <a:cs typeface="Times New Roman" panose="02020603050405020304" pitchFamily="18" charset="0"/>
              </a:rPr>
              <a:t>&gt;</a:t>
            </a:r>
            <a:r>
              <a:rPr lang="en-US" altLang="zh-CN" sz="4000" i="1">
                <a:latin typeface="Times New Roman" panose="02020603050405020304" pitchFamily="18" charset="0"/>
                <a:cs typeface="Times New Roman" panose="02020603050405020304" pitchFamily="18" charset="0"/>
              </a:rPr>
              <a:t>p</a:t>
            </a:r>
            <a:r>
              <a:rPr lang="en-US" altLang="zh-CN" sz="4000" baseline="-25000">
                <a:latin typeface="Times New Roman" panose="02020603050405020304" pitchFamily="18" charset="0"/>
                <a:cs typeface="Times New Roman" panose="02020603050405020304" pitchFamily="18" charset="0"/>
              </a:rPr>
              <a:t>2</a:t>
            </a:r>
          </a:p>
        </p:txBody>
      </p:sp>
      <p:sp>
        <p:nvSpPr>
          <p:cNvPr id="76807" name="Rectangle 7"/>
          <p:cNvSpPr>
            <a:spLocks noChangeArrowheads="1"/>
          </p:cNvSpPr>
          <p:nvPr/>
        </p:nvSpPr>
        <p:spPr bwMode="auto">
          <a:xfrm>
            <a:off x="5724525" y="1628775"/>
            <a:ext cx="2813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4000" b="1">
                <a:latin typeface="黑体" panose="02010609060101010101" pitchFamily="49" charset="-122"/>
                <a:ea typeface="黑体" panose="02010609060101010101" pitchFamily="49" charset="-122"/>
              </a:rPr>
              <a:t>混合过程</a:t>
            </a:r>
          </a:p>
        </p:txBody>
      </p:sp>
      <p:sp>
        <p:nvSpPr>
          <p:cNvPr id="76808" name="Rectangle 8"/>
          <p:cNvSpPr>
            <a:spLocks noChangeArrowheads="1"/>
          </p:cNvSpPr>
          <p:nvPr/>
        </p:nvSpPr>
        <p:spPr bwMode="auto">
          <a:xfrm>
            <a:off x="5334000" y="4038600"/>
            <a:ext cx="2971800" cy="2057400"/>
          </a:xfrm>
          <a:prstGeom prst="rect">
            <a:avLst/>
          </a:prstGeom>
          <a:noFill/>
          <a:ln w="1905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09" name="Line 9"/>
          <p:cNvSpPr>
            <a:spLocks noChangeShapeType="1"/>
          </p:cNvSpPr>
          <p:nvPr/>
        </p:nvSpPr>
        <p:spPr bwMode="auto">
          <a:xfrm>
            <a:off x="6858000" y="3276600"/>
            <a:ext cx="0" cy="28194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6810" name="Rectangle 10"/>
          <p:cNvSpPr>
            <a:spLocks noChangeArrowheads="1"/>
          </p:cNvSpPr>
          <p:nvPr/>
        </p:nvSpPr>
        <p:spPr bwMode="auto">
          <a:xfrm>
            <a:off x="5473700" y="4156075"/>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1" name="Rectangle 11"/>
          <p:cNvSpPr>
            <a:spLocks noChangeArrowheads="1"/>
          </p:cNvSpPr>
          <p:nvPr/>
        </p:nvSpPr>
        <p:spPr bwMode="auto">
          <a:xfrm>
            <a:off x="5881688" y="4495800"/>
            <a:ext cx="290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2" name="Rectangle 12"/>
          <p:cNvSpPr>
            <a:spLocks noChangeArrowheads="1"/>
          </p:cNvSpPr>
          <p:nvPr/>
        </p:nvSpPr>
        <p:spPr bwMode="auto">
          <a:xfrm>
            <a:off x="5778500" y="41148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3" name="Rectangle 13"/>
          <p:cNvSpPr>
            <a:spLocks noChangeArrowheads="1"/>
          </p:cNvSpPr>
          <p:nvPr/>
        </p:nvSpPr>
        <p:spPr bwMode="auto">
          <a:xfrm>
            <a:off x="5486400" y="4613275"/>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4" name="Rectangle 14"/>
          <p:cNvSpPr>
            <a:spLocks noChangeArrowheads="1"/>
          </p:cNvSpPr>
          <p:nvPr/>
        </p:nvSpPr>
        <p:spPr bwMode="auto">
          <a:xfrm>
            <a:off x="5791200" y="49530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5" name="Rectangle 15"/>
          <p:cNvSpPr>
            <a:spLocks noChangeArrowheads="1"/>
          </p:cNvSpPr>
          <p:nvPr/>
        </p:nvSpPr>
        <p:spPr bwMode="auto">
          <a:xfrm>
            <a:off x="6235700" y="4918075"/>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6" name="Rectangle 16"/>
          <p:cNvSpPr>
            <a:spLocks noChangeArrowheads="1"/>
          </p:cNvSpPr>
          <p:nvPr/>
        </p:nvSpPr>
        <p:spPr bwMode="auto">
          <a:xfrm>
            <a:off x="5486400" y="5070475"/>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7" name="Rectangle 17"/>
          <p:cNvSpPr>
            <a:spLocks noChangeArrowheads="1"/>
          </p:cNvSpPr>
          <p:nvPr/>
        </p:nvSpPr>
        <p:spPr bwMode="auto">
          <a:xfrm>
            <a:off x="6540500" y="55626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8" name="Rectangle 18"/>
          <p:cNvSpPr>
            <a:spLocks noChangeArrowheads="1"/>
          </p:cNvSpPr>
          <p:nvPr/>
        </p:nvSpPr>
        <p:spPr bwMode="auto">
          <a:xfrm>
            <a:off x="6415088" y="5257800"/>
            <a:ext cx="290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19" name="Rectangle 19"/>
          <p:cNvSpPr>
            <a:spLocks noChangeArrowheads="1"/>
          </p:cNvSpPr>
          <p:nvPr/>
        </p:nvSpPr>
        <p:spPr bwMode="auto">
          <a:xfrm>
            <a:off x="6553200" y="48768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20" name="Rectangle 20"/>
          <p:cNvSpPr>
            <a:spLocks noChangeArrowheads="1"/>
          </p:cNvSpPr>
          <p:nvPr/>
        </p:nvSpPr>
        <p:spPr bwMode="auto">
          <a:xfrm>
            <a:off x="6324600" y="40386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21" name="Rectangle 21"/>
          <p:cNvSpPr>
            <a:spLocks noChangeArrowheads="1"/>
          </p:cNvSpPr>
          <p:nvPr/>
        </p:nvSpPr>
        <p:spPr bwMode="auto">
          <a:xfrm>
            <a:off x="6019800" y="57150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22" name="Rectangle 22"/>
          <p:cNvSpPr>
            <a:spLocks noChangeArrowheads="1"/>
          </p:cNvSpPr>
          <p:nvPr/>
        </p:nvSpPr>
        <p:spPr bwMode="auto">
          <a:xfrm>
            <a:off x="5638800" y="53340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23" name="Rectangle 23"/>
          <p:cNvSpPr>
            <a:spLocks noChangeArrowheads="1"/>
          </p:cNvSpPr>
          <p:nvPr/>
        </p:nvSpPr>
        <p:spPr bwMode="auto">
          <a:xfrm>
            <a:off x="6248400" y="44958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24" name="Rectangle 24"/>
          <p:cNvSpPr>
            <a:spLocks noChangeArrowheads="1"/>
          </p:cNvSpPr>
          <p:nvPr/>
        </p:nvSpPr>
        <p:spPr bwMode="auto">
          <a:xfrm>
            <a:off x="5486400" y="5562600"/>
            <a:ext cx="290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25" name="Rectangle 25"/>
          <p:cNvSpPr>
            <a:spLocks noChangeArrowheads="1"/>
          </p:cNvSpPr>
          <p:nvPr/>
        </p:nvSpPr>
        <p:spPr bwMode="auto">
          <a:xfrm>
            <a:off x="6110288" y="5257800"/>
            <a:ext cx="290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26" name="Rectangle 26"/>
          <p:cNvSpPr>
            <a:spLocks noChangeArrowheads="1"/>
          </p:cNvSpPr>
          <p:nvPr/>
        </p:nvSpPr>
        <p:spPr bwMode="auto">
          <a:xfrm>
            <a:off x="6491288" y="4343400"/>
            <a:ext cx="290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800">
                <a:solidFill>
                  <a:srgbClr val="FE4D3A"/>
                </a:solidFill>
              </a:rPr>
              <a:t>•</a:t>
            </a:r>
            <a:endParaRPr lang="en-US" altLang="zh-CN" sz="2800">
              <a:solidFill>
                <a:srgbClr val="FE4D3A"/>
              </a:solidFill>
              <a:latin typeface="宋体" panose="02010600030101010101" pitchFamily="2" charset="-122"/>
            </a:endParaRPr>
          </a:p>
        </p:txBody>
      </p:sp>
      <p:sp>
        <p:nvSpPr>
          <p:cNvPr id="76827" name="AutoShape 27"/>
          <p:cNvSpPr>
            <a:spLocks noChangeArrowheads="1"/>
          </p:cNvSpPr>
          <p:nvPr/>
        </p:nvSpPr>
        <p:spPr bwMode="auto">
          <a:xfrm>
            <a:off x="6781800" y="2514600"/>
            <a:ext cx="184150" cy="762000"/>
          </a:xfrm>
          <a:prstGeom prst="upArrow">
            <a:avLst>
              <a:gd name="adj1" fmla="val 50000"/>
              <a:gd name="adj2" fmla="val 103333"/>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28" name="Rectangle 28"/>
          <p:cNvSpPr>
            <a:spLocks noChangeArrowheads="1"/>
          </p:cNvSpPr>
          <p:nvPr/>
        </p:nvSpPr>
        <p:spPr bwMode="auto">
          <a:xfrm>
            <a:off x="7150100" y="447992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29" name="Rectangle 29"/>
          <p:cNvSpPr>
            <a:spLocks noChangeArrowheads="1"/>
          </p:cNvSpPr>
          <p:nvPr/>
        </p:nvSpPr>
        <p:spPr bwMode="auto">
          <a:xfrm>
            <a:off x="7302500" y="41148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0" name="Rectangle 30"/>
          <p:cNvSpPr>
            <a:spLocks noChangeArrowheads="1"/>
          </p:cNvSpPr>
          <p:nvPr/>
        </p:nvSpPr>
        <p:spPr bwMode="auto">
          <a:xfrm>
            <a:off x="7315200" y="49530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1" name="Rectangle 31"/>
          <p:cNvSpPr>
            <a:spLocks noChangeArrowheads="1"/>
          </p:cNvSpPr>
          <p:nvPr/>
        </p:nvSpPr>
        <p:spPr bwMode="auto">
          <a:xfrm>
            <a:off x="6781800" y="493712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2" name="Rectangle 32"/>
          <p:cNvSpPr>
            <a:spLocks noChangeArrowheads="1"/>
          </p:cNvSpPr>
          <p:nvPr/>
        </p:nvSpPr>
        <p:spPr bwMode="auto">
          <a:xfrm>
            <a:off x="7759700" y="53340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3" name="Rectangle 33"/>
          <p:cNvSpPr>
            <a:spLocks noChangeArrowheads="1"/>
          </p:cNvSpPr>
          <p:nvPr/>
        </p:nvSpPr>
        <p:spPr bwMode="auto">
          <a:xfrm>
            <a:off x="7912100" y="4800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4" name="Rectangle 34"/>
          <p:cNvSpPr>
            <a:spLocks noChangeArrowheads="1"/>
          </p:cNvSpPr>
          <p:nvPr/>
        </p:nvSpPr>
        <p:spPr bwMode="auto">
          <a:xfrm>
            <a:off x="7086600" y="52578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5" name="Rectangle 35"/>
          <p:cNvSpPr>
            <a:spLocks noChangeArrowheads="1"/>
          </p:cNvSpPr>
          <p:nvPr/>
        </p:nvSpPr>
        <p:spPr bwMode="auto">
          <a:xfrm>
            <a:off x="7924800" y="57150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6" name="Rectangle 36"/>
          <p:cNvSpPr>
            <a:spLocks noChangeArrowheads="1"/>
          </p:cNvSpPr>
          <p:nvPr/>
        </p:nvSpPr>
        <p:spPr bwMode="auto">
          <a:xfrm>
            <a:off x="7391400" y="5562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7" name="Rectangle 37"/>
          <p:cNvSpPr>
            <a:spLocks noChangeArrowheads="1"/>
          </p:cNvSpPr>
          <p:nvPr/>
        </p:nvSpPr>
        <p:spPr bwMode="auto">
          <a:xfrm>
            <a:off x="6953250" y="57150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8" name="Rectangle 38"/>
          <p:cNvSpPr>
            <a:spLocks noChangeArrowheads="1"/>
          </p:cNvSpPr>
          <p:nvPr/>
        </p:nvSpPr>
        <p:spPr bwMode="auto">
          <a:xfrm>
            <a:off x="7924800" y="43434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39" name="Rectangle 39"/>
          <p:cNvSpPr>
            <a:spLocks noChangeArrowheads="1"/>
          </p:cNvSpPr>
          <p:nvPr/>
        </p:nvSpPr>
        <p:spPr bwMode="auto">
          <a:xfrm>
            <a:off x="7562850" y="46482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40" name="Rectangle 40"/>
          <p:cNvSpPr>
            <a:spLocks noChangeArrowheads="1"/>
          </p:cNvSpPr>
          <p:nvPr/>
        </p:nvSpPr>
        <p:spPr bwMode="auto">
          <a:xfrm>
            <a:off x="7715250" y="4038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41" name="Rectangle 41"/>
          <p:cNvSpPr>
            <a:spLocks noChangeArrowheads="1"/>
          </p:cNvSpPr>
          <p:nvPr/>
        </p:nvSpPr>
        <p:spPr bwMode="auto">
          <a:xfrm>
            <a:off x="6858000" y="41148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1600">
                <a:solidFill>
                  <a:srgbClr val="990099"/>
                </a:solidFill>
                <a:latin typeface="宋体" panose="02010600030101010101" pitchFamily="2" charset="-122"/>
              </a:rPr>
              <a:t>★</a:t>
            </a:r>
          </a:p>
        </p:txBody>
      </p:sp>
      <p:sp>
        <p:nvSpPr>
          <p:cNvPr id="76842" name="Line 42"/>
          <p:cNvSpPr>
            <a:spLocks noChangeShapeType="1"/>
          </p:cNvSpPr>
          <p:nvPr/>
        </p:nvSpPr>
        <p:spPr bwMode="auto">
          <a:xfrm>
            <a:off x="1066800" y="3984625"/>
            <a:ext cx="28956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6843" name="Line 43"/>
          <p:cNvSpPr>
            <a:spLocks noChangeShapeType="1"/>
          </p:cNvSpPr>
          <p:nvPr/>
        </p:nvSpPr>
        <p:spPr bwMode="auto">
          <a:xfrm>
            <a:off x="1066800" y="5661025"/>
            <a:ext cx="28956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6844" name="Line 44"/>
          <p:cNvSpPr>
            <a:spLocks noChangeShapeType="1"/>
          </p:cNvSpPr>
          <p:nvPr/>
        </p:nvSpPr>
        <p:spPr bwMode="auto">
          <a:xfrm flipV="1">
            <a:off x="2514600" y="3298825"/>
            <a:ext cx="0" cy="14605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6845" name="Line 45"/>
          <p:cNvSpPr>
            <a:spLocks noChangeShapeType="1"/>
          </p:cNvSpPr>
          <p:nvPr/>
        </p:nvSpPr>
        <p:spPr bwMode="auto">
          <a:xfrm>
            <a:off x="2209800" y="3298825"/>
            <a:ext cx="6096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6846" name="Freeform 46"/>
          <p:cNvSpPr>
            <a:spLocks noChangeArrowheads="1"/>
          </p:cNvSpPr>
          <p:nvPr/>
        </p:nvSpPr>
        <p:spPr bwMode="auto">
          <a:xfrm>
            <a:off x="1447800" y="4365625"/>
            <a:ext cx="1981200" cy="723900"/>
          </a:xfrm>
          <a:custGeom>
            <a:avLst/>
            <a:gdLst>
              <a:gd name="T0" fmla="*/ 0 w 1248"/>
              <a:gd name="T1" fmla="*/ 0 h 456"/>
              <a:gd name="T2" fmla="*/ 2147483646 w 1248"/>
              <a:gd name="T3" fmla="*/ 2147483646 h 456"/>
              <a:gd name="T4" fmla="*/ 2147483646 w 1248"/>
              <a:gd name="T5" fmla="*/ 2147483646 h 456"/>
              <a:gd name="T6" fmla="*/ 2147483646 w 1248"/>
              <a:gd name="T7" fmla="*/ 0 h 4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48" h="456">
                <a:moveTo>
                  <a:pt x="0" y="0"/>
                </a:moveTo>
                <a:cubicBezTo>
                  <a:pt x="12" y="36"/>
                  <a:pt x="24" y="72"/>
                  <a:pt x="144" y="144"/>
                </a:cubicBezTo>
                <a:cubicBezTo>
                  <a:pt x="264" y="216"/>
                  <a:pt x="536" y="456"/>
                  <a:pt x="720" y="432"/>
                </a:cubicBezTo>
                <a:cubicBezTo>
                  <a:pt x="904" y="408"/>
                  <a:pt x="1076" y="204"/>
                  <a:pt x="1248" y="0"/>
                </a:cubicBezTo>
              </a:path>
            </a:pathLst>
          </a:cu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7" name="Freeform 47"/>
          <p:cNvSpPr>
            <a:spLocks noChangeArrowheads="1"/>
          </p:cNvSpPr>
          <p:nvPr/>
        </p:nvSpPr>
        <p:spPr bwMode="auto">
          <a:xfrm>
            <a:off x="1371600" y="4746625"/>
            <a:ext cx="2209800" cy="762000"/>
          </a:xfrm>
          <a:custGeom>
            <a:avLst/>
            <a:gdLst>
              <a:gd name="T0" fmla="*/ 0 w 1392"/>
              <a:gd name="T1" fmla="*/ 2147483646 h 480"/>
              <a:gd name="T2" fmla="*/ 2147483646 w 1392"/>
              <a:gd name="T3" fmla="*/ 2147483646 h 480"/>
              <a:gd name="T4" fmla="*/ 2147483646 w 1392"/>
              <a:gd name="T5" fmla="*/ 2147483646 h 480"/>
              <a:gd name="T6" fmla="*/ 2147483646 w 1392"/>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92" h="480">
                <a:moveTo>
                  <a:pt x="0" y="48"/>
                </a:moveTo>
                <a:cubicBezTo>
                  <a:pt x="220" y="216"/>
                  <a:pt x="440" y="384"/>
                  <a:pt x="624" y="432"/>
                </a:cubicBezTo>
                <a:cubicBezTo>
                  <a:pt x="808" y="480"/>
                  <a:pt x="976" y="408"/>
                  <a:pt x="1104" y="336"/>
                </a:cubicBezTo>
                <a:cubicBezTo>
                  <a:pt x="1232" y="264"/>
                  <a:pt x="1312" y="132"/>
                  <a:pt x="1392" y="0"/>
                </a:cubicBezTo>
              </a:path>
            </a:pathLst>
          </a:cu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8" name="Oval 48"/>
          <p:cNvSpPr>
            <a:spLocks noChangeArrowheads="1"/>
          </p:cNvSpPr>
          <p:nvPr/>
        </p:nvSpPr>
        <p:spPr bwMode="auto">
          <a:xfrm>
            <a:off x="2971800" y="4137025"/>
            <a:ext cx="147638" cy="147638"/>
          </a:xfrm>
          <a:prstGeom prst="ellipse">
            <a:avLst/>
          </a:pr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49" name="Oval 49"/>
          <p:cNvSpPr>
            <a:spLocks noChangeAspect="1" noChangeArrowheads="1"/>
          </p:cNvSpPr>
          <p:nvPr/>
        </p:nvSpPr>
        <p:spPr bwMode="auto">
          <a:xfrm>
            <a:off x="3048000" y="4365625"/>
            <a:ext cx="150813" cy="150813"/>
          </a:xfrm>
          <a:prstGeom prst="ellipse">
            <a:avLst/>
          </a:pr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50" name="Oval 50"/>
          <p:cNvSpPr>
            <a:spLocks noChangeAspect="1" noChangeArrowheads="1"/>
          </p:cNvSpPr>
          <p:nvPr/>
        </p:nvSpPr>
        <p:spPr bwMode="auto">
          <a:xfrm>
            <a:off x="2819400" y="4441825"/>
            <a:ext cx="147638" cy="147638"/>
          </a:xfrm>
          <a:prstGeom prst="ellipse">
            <a:avLst/>
          </a:pr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51" name="Oval 51"/>
          <p:cNvSpPr>
            <a:spLocks noChangeAspect="1" noChangeArrowheads="1"/>
          </p:cNvSpPr>
          <p:nvPr/>
        </p:nvSpPr>
        <p:spPr bwMode="auto">
          <a:xfrm>
            <a:off x="2590800" y="4441825"/>
            <a:ext cx="147638" cy="147638"/>
          </a:xfrm>
          <a:prstGeom prst="ellipse">
            <a:avLst/>
          </a:pr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52" name="Oval 52"/>
          <p:cNvSpPr>
            <a:spLocks noChangeAspect="1" noChangeArrowheads="1"/>
          </p:cNvSpPr>
          <p:nvPr/>
        </p:nvSpPr>
        <p:spPr bwMode="auto">
          <a:xfrm>
            <a:off x="2743200" y="4213225"/>
            <a:ext cx="147638" cy="147638"/>
          </a:xfrm>
          <a:prstGeom prst="ellipse">
            <a:avLst/>
          </a:pr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53" name="Oval 53"/>
          <p:cNvSpPr>
            <a:spLocks noChangeAspect="1" noChangeArrowheads="1"/>
          </p:cNvSpPr>
          <p:nvPr/>
        </p:nvSpPr>
        <p:spPr bwMode="auto">
          <a:xfrm>
            <a:off x="2286000" y="4213225"/>
            <a:ext cx="147638" cy="147638"/>
          </a:xfrm>
          <a:prstGeom prst="ellipse">
            <a:avLst/>
          </a:pr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54" name="Oval 54"/>
          <p:cNvSpPr>
            <a:spLocks noChangeAspect="1" noChangeArrowheads="1"/>
          </p:cNvSpPr>
          <p:nvPr/>
        </p:nvSpPr>
        <p:spPr bwMode="auto">
          <a:xfrm>
            <a:off x="2133600" y="4365625"/>
            <a:ext cx="147638" cy="147638"/>
          </a:xfrm>
          <a:prstGeom prst="ellipse">
            <a:avLst/>
          </a:prstGeom>
          <a:noFill/>
          <a:ln w="1905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76855" name="Line 55"/>
          <p:cNvSpPr>
            <a:spLocks noChangeShapeType="1"/>
          </p:cNvSpPr>
          <p:nvPr/>
        </p:nvSpPr>
        <p:spPr bwMode="auto">
          <a:xfrm rot="420000" flipV="1">
            <a:off x="3008313" y="4594225"/>
            <a:ext cx="152400" cy="228600"/>
          </a:xfrm>
          <a:prstGeom prst="line">
            <a:avLst/>
          </a:prstGeom>
          <a:noFill/>
          <a:ln w="12700" cap="sq">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56" name="Line 56"/>
          <p:cNvSpPr>
            <a:spLocks noChangeShapeType="1"/>
          </p:cNvSpPr>
          <p:nvPr/>
        </p:nvSpPr>
        <p:spPr bwMode="auto">
          <a:xfrm rot="20640000" flipV="1">
            <a:off x="3429000" y="4822825"/>
            <a:ext cx="152400" cy="158750"/>
          </a:xfrm>
          <a:prstGeom prst="line">
            <a:avLst/>
          </a:prstGeom>
          <a:noFill/>
          <a:ln w="12700" cap="sq">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317441"/>
          <p:cNvSpPr>
            <a:spLocks noChangeArrowheads="1"/>
          </p:cNvSpPr>
          <p:nvPr/>
        </p:nvSpPr>
        <p:spPr bwMode="auto">
          <a:xfrm>
            <a:off x="539750" y="668338"/>
            <a:ext cx="79200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Times New Roman" panose="02020603050405020304" pitchFamily="18" charset="0"/>
                <a:ea typeface="黑体" panose="02010609060101010101" pitchFamily="49" charset="-122"/>
              </a:rPr>
              <a:t>典型的不可逆过程有：</a:t>
            </a:r>
            <a:endParaRPr lang="en-US" altLang="zh-CN" b="1">
              <a:latin typeface="Times New Roman" panose="02020603050405020304" pitchFamily="18" charset="0"/>
              <a:ea typeface="黑体" panose="02010609060101010101" pitchFamily="49" charset="-122"/>
            </a:endParaRPr>
          </a:p>
        </p:txBody>
      </p:sp>
      <p:sp>
        <p:nvSpPr>
          <p:cNvPr id="77827" name="矩形 317441"/>
          <p:cNvSpPr>
            <a:spLocks noChangeArrowheads="1"/>
          </p:cNvSpPr>
          <p:nvPr/>
        </p:nvSpPr>
        <p:spPr bwMode="auto">
          <a:xfrm>
            <a:off x="755650" y="1557338"/>
            <a:ext cx="7920038"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b="1">
                <a:latin typeface="Times New Roman" panose="02020603050405020304" pitchFamily="18" charset="0"/>
                <a:ea typeface="黑体" panose="02010609060101010101" pitchFamily="49" charset="-122"/>
              </a:rPr>
              <a:t>有限温差传热</a:t>
            </a:r>
            <a:endParaRPr lang="en-US" altLang="zh-CN" b="1">
              <a:latin typeface="Times New Roman" panose="02020603050405020304" pitchFamily="18" charset="0"/>
              <a:ea typeface="黑体" panose="02010609060101010101" pitchFamily="49" charset="-122"/>
            </a:endParaRPr>
          </a:p>
          <a:p>
            <a:pPr eaLnBrk="1" hangingPunct="1">
              <a:spcBef>
                <a:spcPct val="0"/>
              </a:spcBef>
            </a:pPr>
            <a:r>
              <a:rPr lang="zh-CN" altLang="en-US" b="1">
                <a:latin typeface="Times New Roman" panose="02020603050405020304" pitchFamily="18" charset="0"/>
                <a:ea typeface="黑体" panose="02010609060101010101" pitchFamily="49" charset="-122"/>
              </a:rPr>
              <a:t>有摩擦的热力过程</a:t>
            </a:r>
            <a:endParaRPr lang="en-US" altLang="zh-CN" b="1">
              <a:latin typeface="Times New Roman" panose="02020603050405020304" pitchFamily="18" charset="0"/>
              <a:ea typeface="黑体" panose="02010609060101010101" pitchFamily="49" charset="-122"/>
            </a:endParaRPr>
          </a:p>
          <a:p>
            <a:pPr eaLnBrk="1" hangingPunct="1">
              <a:spcBef>
                <a:spcPct val="0"/>
              </a:spcBef>
            </a:pPr>
            <a:r>
              <a:rPr lang="zh-CN" altLang="en-US" b="1">
                <a:latin typeface="Times New Roman" panose="02020603050405020304" pitchFamily="18" charset="0"/>
                <a:ea typeface="黑体" panose="02010609060101010101" pitchFamily="49" charset="-122"/>
              </a:rPr>
              <a:t>自由膨胀（气体向真空膨胀）过程</a:t>
            </a:r>
            <a:endParaRPr lang="en-US" altLang="zh-CN" b="1">
              <a:latin typeface="Times New Roman" panose="02020603050405020304" pitchFamily="18" charset="0"/>
              <a:ea typeface="黑体" panose="02010609060101010101" pitchFamily="49" charset="-122"/>
            </a:endParaRPr>
          </a:p>
          <a:p>
            <a:pPr eaLnBrk="1" hangingPunct="1">
              <a:spcBef>
                <a:spcPct val="0"/>
              </a:spcBef>
            </a:pPr>
            <a:r>
              <a:rPr lang="zh-CN" altLang="en-US" b="1">
                <a:latin typeface="Times New Roman" panose="02020603050405020304" pitchFamily="18" charset="0"/>
                <a:ea typeface="黑体" panose="02010609060101010101" pitchFamily="49" charset="-122"/>
              </a:rPr>
              <a:t>不同种类气体或液体的混合过程</a:t>
            </a:r>
            <a:endParaRPr lang="en-US" altLang="zh-CN" b="1">
              <a:latin typeface="Times New Roman" panose="02020603050405020304" pitchFamily="18" charset="0"/>
              <a:ea typeface="黑体" panose="02010609060101010101" pitchFamily="49" charset="-122"/>
            </a:endParaRPr>
          </a:p>
          <a:p>
            <a:pPr eaLnBrk="1" hangingPunct="1">
              <a:spcBef>
                <a:spcPct val="0"/>
              </a:spcBef>
            </a:pPr>
            <a:r>
              <a:rPr lang="zh-CN" altLang="en-US" b="1">
                <a:latin typeface="Times New Roman" panose="02020603050405020304" pitchFamily="18" charset="0"/>
                <a:ea typeface="黑体" panose="02010609060101010101" pitchFamily="49" charset="-122"/>
              </a:rPr>
              <a:t>流体流过阀门和节流阀的过程</a:t>
            </a:r>
            <a:endParaRPr lang="en-US" altLang="zh-CN" b="1">
              <a:latin typeface="Times New Roman" panose="02020603050405020304" pitchFamily="18" charset="0"/>
              <a:ea typeface="黑体" panose="02010609060101010101" pitchFamily="49" charset="-122"/>
            </a:endParaRPr>
          </a:p>
          <a:p>
            <a:pPr eaLnBrk="1" hangingPunct="1">
              <a:spcBef>
                <a:spcPct val="0"/>
              </a:spcBef>
            </a:pPr>
            <a:r>
              <a:rPr lang="zh-CN" altLang="en-US" b="1">
                <a:latin typeface="Times New Roman" panose="02020603050405020304" pitchFamily="18" charset="0"/>
                <a:ea typeface="黑体" panose="02010609060101010101" pitchFamily="49" charset="-122"/>
              </a:rPr>
              <a:t>自发的化学反应过程</a:t>
            </a:r>
            <a:endParaRPr lang="en-US" altLang="zh-CN" b="1">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317441"/>
          <p:cNvSpPr>
            <a:spLocks noChangeArrowheads="1"/>
          </p:cNvSpPr>
          <p:nvPr/>
        </p:nvSpPr>
        <p:spPr bwMode="auto">
          <a:xfrm>
            <a:off x="611188" y="1341438"/>
            <a:ext cx="79216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Times New Roman" panose="02020603050405020304" pitchFamily="18" charset="0"/>
                <a:ea typeface="黑体" panose="02010609060101010101" pitchFamily="49" charset="-122"/>
              </a:rPr>
              <a:t>导致过程不可逆的因素称为不可逆因素，也叫</a:t>
            </a:r>
            <a:r>
              <a:rPr lang="zh-CN" altLang="en-US" b="1">
                <a:solidFill>
                  <a:srgbClr val="FF0000"/>
                </a:solidFill>
                <a:latin typeface="Times New Roman" panose="02020603050405020304" pitchFamily="18" charset="0"/>
                <a:ea typeface="黑体" panose="02010609060101010101" pitchFamily="49" charset="-122"/>
              </a:rPr>
              <a:t>不可逆性</a:t>
            </a:r>
            <a:r>
              <a:rPr lang="zh-CN" altLang="en-US" b="1">
                <a:latin typeface="Times New Roman" panose="02020603050405020304" pitchFamily="18" charset="0"/>
                <a:ea typeface="黑体" panose="02010609060101010101" pitchFamily="49" charset="-122"/>
              </a:rPr>
              <a:t>（</a:t>
            </a:r>
            <a:r>
              <a:rPr lang="en-US" altLang="zh-CN" b="1">
                <a:latin typeface="Times New Roman" panose="02020603050405020304" pitchFamily="18" charset="0"/>
                <a:ea typeface="黑体" panose="02010609060101010101" pitchFamily="49" charset="-122"/>
              </a:rPr>
              <a:t>irreversibility</a:t>
            </a:r>
            <a:r>
              <a:rPr lang="zh-CN" altLang="en-US" b="1">
                <a:latin typeface="Times New Roman" panose="02020603050405020304" pitchFamily="18" charset="0"/>
                <a:ea typeface="黑体" panose="02010609060101010101" pitchFamily="49" charset="-122"/>
              </a:rPr>
              <a:t>） </a:t>
            </a:r>
          </a:p>
        </p:txBody>
      </p:sp>
      <p:sp>
        <p:nvSpPr>
          <p:cNvPr id="317443" name="矩形 317442"/>
          <p:cNvSpPr>
            <a:spLocks noChangeArrowheads="1"/>
          </p:cNvSpPr>
          <p:nvPr/>
        </p:nvSpPr>
        <p:spPr bwMode="auto">
          <a:xfrm>
            <a:off x="611188" y="2527300"/>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出现在</a:t>
            </a:r>
            <a:r>
              <a:rPr lang="zh-CN" altLang="en-US" sz="2800" b="1">
                <a:solidFill>
                  <a:srgbClr val="FF0000"/>
                </a:solidFill>
                <a:latin typeface="黑体" panose="02010609060101010101" pitchFamily="49" charset="-122"/>
                <a:ea typeface="黑体" panose="02010609060101010101" pitchFamily="49" charset="-122"/>
              </a:rPr>
              <a:t>系统的边界之外</a:t>
            </a:r>
            <a:r>
              <a:rPr lang="zh-CN" altLang="en-US" sz="2800" b="1">
                <a:latin typeface="黑体" panose="02010609060101010101" pitchFamily="49" charset="-122"/>
                <a:ea typeface="黑体" panose="02010609060101010101" pitchFamily="49" charset="-122"/>
              </a:rPr>
              <a:t>的不可因素称为</a:t>
            </a:r>
            <a:r>
              <a:rPr lang="zh-CN" altLang="en-US" sz="2800" b="1">
                <a:solidFill>
                  <a:srgbClr val="FF0000"/>
                </a:solidFill>
                <a:latin typeface="黑体" panose="02010609060101010101" pitchFamily="49" charset="-122"/>
                <a:ea typeface="黑体" panose="02010609060101010101" pitchFamily="49" charset="-122"/>
              </a:rPr>
              <a:t>外不可逆因素</a:t>
            </a:r>
            <a:r>
              <a:rPr lang="zh-CN" altLang="en-US" sz="2800" b="1">
                <a:latin typeface="黑体" panose="02010609060101010101" pitchFamily="49" charset="-122"/>
                <a:ea typeface="黑体" panose="02010609060101010101" pitchFamily="49" charset="-122"/>
              </a:rPr>
              <a:t>，具有该因素的过程称为</a:t>
            </a:r>
            <a:r>
              <a:rPr lang="zh-CN" altLang="en-US" sz="2800" b="1">
                <a:solidFill>
                  <a:srgbClr val="0000CC"/>
                </a:solidFill>
                <a:latin typeface="黑体" panose="02010609060101010101" pitchFamily="49" charset="-122"/>
                <a:ea typeface="黑体" panose="02010609060101010101" pitchFamily="49" charset="-122"/>
              </a:rPr>
              <a:t>外不可逆过程</a:t>
            </a:r>
            <a:r>
              <a:rPr lang="zh-CN" altLang="en-US" sz="2800">
                <a:latin typeface="黑体" panose="02010609060101010101" pitchFamily="49" charset="-122"/>
                <a:ea typeface="黑体" panose="02010609060101010101" pitchFamily="49" charset="-122"/>
              </a:rPr>
              <a:t> </a:t>
            </a:r>
          </a:p>
        </p:txBody>
      </p:sp>
      <p:sp>
        <p:nvSpPr>
          <p:cNvPr id="317447" name="矩形 317446"/>
          <p:cNvSpPr>
            <a:spLocks noChangeArrowheads="1"/>
          </p:cNvSpPr>
          <p:nvPr/>
        </p:nvSpPr>
        <p:spPr bwMode="auto">
          <a:xfrm>
            <a:off x="611188" y="3676650"/>
            <a:ext cx="82010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出现在</a:t>
            </a:r>
            <a:r>
              <a:rPr lang="zh-CN" altLang="en-US" sz="2800" b="1">
                <a:solidFill>
                  <a:srgbClr val="FF0000"/>
                </a:solidFill>
                <a:latin typeface="黑体" panose="02010609060101010101" pitchFamily="49" charset="-122"/>
                <a:ea typeface="黑体" panose="02010609060101010101" pitchFamily="49" charset="-122"/>
              </a:rPr>
              <a:t>系统边界之内</a:t>
            </a:r>
            <a:r>
              <a:rPr lang="zh-CN" altLang="en-US" sz="2800" b="1">
                <a:latin typeface="黑体" panose="02010609060101010101" pitchFamily="49" charset="-122"/>
                <a:ea typeface="黑体" panose="02010609060101010101" pitchFamily="49" charset="-122"/>
              </a:rPr>
              <a:t>的不可逆因素称为</a:t>
            </a:r>
            <a:r>
              <a:rPr lang="zh-CN" altLang="en-US" sz="2800" b="1">
                <a:solidFill>
                  <a:srgbClr val="FF0000"/>
                </a:solidFill>
                <a:latin typeface="黑体" panose="02010609060101010101" pitchFamily="49" charset="-122"/>
                <a:ea typeface="黑体" panose="02010609060101010101" pitchFamily="49" charset="-122"/>
              </a:rPr>
              <a:t>内不可逆因素</a:t>
            </a:r>
            <a:r>
              <a:rPr lang="zh-CN" altLang="en-US" sz="2800" b="1">
                <a:latin typeface="黑体" panose="02010609060101010101" pitchFamily="49" charset="-122"/>
                <a:ea typeface="黑体" panose="02010609060101010101" pitchFamily="49" charset="-122"/>
              </a:rPr>
              <a:t>，具有该因素的过程称为</a:t>
            </a:r>
            <a:r>
              <a:rPr lang="zh-CN" altLang="en-US" sz="2800" b="1">
                <a:solidFill>
                  <a:srgbClr val="0000CC"/>
                </a:solidFill>
                <a:latin typeface="黑体" panose="02010609060101010101" pitchFamily="49" charset="-122"/>
                <a:ea typeface="黑体" panose="02010609060101010101" pitchFamily="49" charset="-122"/>
              </a:rPr>
              <a:t>内不可逆过程</a:t>
            </a:r>
            <a:r>
              <a:rPr lang="zh-CN" altLang="en-US" sz="2800" b="1">
                <a:latin typeface="黑体" panose="02010609060101010101" pitchFamily="49" charset="-122"/>
                <a:ea typeface="黑体" panose="02010609060101010101" pitchFamily="49" charset="-122"/>
              </a:rPr>
              <a:t> </a:t>
            </a:r>
          </a:p>
        </p:txBody>
      </p:sp>
      <p:sp>
        <p:nvSpPr>
          <p:cNvPr id="78853" name="矩形 314382"/>
          <p:cNvSpPr>
            <a:spLocks noChangeArrowheads="1"/>
          </p:cNvSpPr>
          <p:nvPr/>
        </p:nvSpPr>
        <p:spPr bwMode="auto">
          <a:xfrm>
            <a:off x="323850" y="260350"/>
            <a:ext cx="5908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3600" b="1">
                <a:latin typeface="黑体" panose="02010609060101010101" pitchFamily="49" charset="-122"/>
                <a:ea typeface="黑体" panose="02010609060101010101" pitchFamily="49" charset="-122"/>
              </a:rPr>
              <a:t>2</a:t>
            </a:r>
            <a:r>
              <a:rPr lang="zh-CN" altLang="en-US" sz="3600" b="1">
                <a:latin typeface="黑体" panose="02010609060101010101" pitchFamily="49" charset="-122"/>
                <a:ea typeface="黑体" panose="02010609060101010101" pitchFamily="49" charset="-122"/>
              </a:rPr>
              <a:t>、区分内、外不可逆因素</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43"/>
                                        </p:tgtEl>
                                        <p:attrNameLst>
                                          <p:attrName>style.visibility</p:attrName>
                                        </p:attrNameLst>
                                      </p:cBhvr>
                                      <p:to>
                                        <p:strVal val="visible"/>
                                      </p:to>
                                    </p:set>
                                    <p:animEffect transition="in" filter="blinds(horizontal)">
                                      <p:cBhvr>
                                        <p:cTn id="7" dur="500"/>
                                        <p:tgtEl>
                                          <p:spTgt spid="3174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47"/>
                                        </p:tgtEl>
                                        <p:attrNameLst>
                                          <p:attrName>style.visibility</p:attrName>
                                        </p:attrNameLst>
                                      </p:cBhvr>
                                      <p:to>
                                        <p:strVal val="visible"/>
                                      </p:to>
                                    </p:set>
                                    <p:animEffect transition="in" filter="blinds(horizontal)">
                                      <p:cBhvr>
                                        <p:cTn id="12" dur="500"/>
                                        <p:tgtEl>
                                          <p:spTgt spid="317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3" grpId="0"/>
      <p:bldP spid="31744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318466"/>
          <p:cNvSpPr>
            <a:spLocks noChangeArrowheads="1"/>
          </p:cNvSpPr>
          <p:nvPr/>
        </p:nvSpPr>
        <p:spPr bwMode="auto">
          <a:xfrm>
            <a:off x="684213" y="4711700"/>
            <a:ext cx="79200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黑体" panose="02010609060101010101" pitchFamily="49" charset="-122"/>
                <a:ea typeface="黑体" panose="02010609060101010101" pitchFamily="49" charset="-122"/>
              </a:rPr>
              <a:t>可逆过程是指既无外不可逆因素，也无内不可逆因素的过程，即完全可逆 </a:t>
            </a:r>
          </a:p>
        </p:txBody>
      </p:sp>
      <p:pic>
        <p:nvPicPr>
          <p:cNvPr id="7987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765175"/>
            <a:ext cx="4035425"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319489"/>
          <p:cNvSpPr>
            <a:spLocks noChangeArrowheads="1"/>
          </p:cNvSpPr>
          <p:nvPr/>
        </p:nvSpPr>
        <p:spPr bwMode="auto">
          <a:xfrm>
            <a:off x="395288" y="260350"/>
            <a:ext cx="8140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举例：完全可逆过程 </a:t>
            </a:r>
            <a:r>
              <a:rPr lang="zh-CN" altLang="en-US" b="1">
                <a:solidFill>
                  <a:srgbClr val="FF0000"/>
                </a:solidFill>
                <a:latin typeface="黑体" panose="02010609060101010101" pitchFamily="49" charset="-122"/>
                <a:ea typeface="黑体" panose="02010609060101010101" pitchFamily="49" charset="-122"/>
              </a:rPr>
              <a:t>和</a:t>
            </a:r>
            <a:r>
              <a:rPr lang="zh-CN" altLang="en-US" b="1" i="1">
                <a:solidFill>
                  <a:srgbClr val="FF0000"/>
                </a:solidFill>
                <a:latin typeface="黑体" panose="02010609060101010101" pitchFamily="49" charset="-122"/>
                <a:ea typeface="黑体" panose="02010609060101010101" pitchFamily="49" charset="-122"/>
              </a:rPr>
              <a:t> </a:t>
            </a:r>
            <a:r>
              <a:rPr lang="zh-CN" altLang="en-US" b="1">
                <a:latin typeface="黑体" panose="02010609060101010101" pitchFamily="49" charset="-122"/>
                <a:ea typeface="黑体" panose="02010609060101010101" pitchFamily="49" charset="-122"/>
              </a:rPr>
              <a:t>仅为内可逆的过程</a:t>
            </a:r>
            <a:r>
              <a:rPr lang="zh-CN" altLang="en-US">
                <a:latin typeface="黑体" panose="02010609060101010101" pitchFamily="49" charset="-122"/>
                <a:ea typeface="黑体" panose="02010609060101010101" pitchFamily="49" charset="-122"/>
              </a:rPr>
              <a:t> </a:t>
            </a:r>
          </a:p>
        </p:txBody>
      </p:sp>
      <p:sp>
        <p:nvSpPr>
          <p:cNvPr id="80899" name="矩形 319490"/>
          <p:cNvSpPr>
            <a:spLocks noChangeArrowheads="1"/>
          </p:cNvSpPr>
          <p:nvPr/>
        </p:nvSpPr>
        <p:spPr bwMode="auto">
          <a:xfrm>
            <a:off x="0" y="2109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0900" name="矩形 319492"/>
          <p:cNvSpPr>
            <a:spLocks noChangeArrowheads="1"/>
          </p:cNvSpPr>
          <p:nvPr/>
        </p:nvSpPr>
        <p:spPr bwMode="auto">
          <a:xfrm>
            <a:off x="539750" y="4652963"/>
            <a:ext cx="81359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气缸内的液体均经历一等压（即等温）相变过程，液体吸热缓慢蒸发，均为内可逆</a:t>
            </a:r>
          </a:p>
        </p:txBody>
      </p:sp>
      <p:sp>
        <p:nvSpPr>
          <p:cNvPr id="319495" name="矩形 319494"/>
          <p:cNvSpPr>
            <a:spLocks noChangeArrowheads="1"/>
          </p:cNvSpPr>
          <p:nvPr/>
        </p:nvSpPr>
        <p:spPr bwMode="auto">
          <a:xfrm>
            <a:off x="468313" y="5805488"/>
            <a:ext cx="8480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左图</a:t>
            </a:r>
            <a:r>
              <a:rPr lang="en-US" altLang="zh-CN" sz="2800" b="1">
                <a:latin typeface="黑体" panose="02010609060101010101" pitchFamily="49" charset="-122"/>
                <a:ea typeface="黑体" panose="02010609060101010101" pitchFamily="49" charset="-122"/>
              </a:rPr>
              <a:t>——</a:t>
            </a:r>
            <a:r>
              <a:rPr lang="zh-CN" altLang="en-US" sz="2800" b="1">
                <a:solidFill>
                  <a:srgbClr val="FF0000"/>
                </a:solidFill>
                <a:latin typeface="黑体" panose="02010609060101010101" pitchFamily="49" charset="-122"/>
                <a:ea typeface="黑体" panose="02010609060101010101" pitchFamily="49" charset="-122"/>
              </a:rPr>
              <a:t>完全可逆</a:t>
            </a:r>
            <a:r>
              <a:rPr lang="zh-CN" altLang="en-US" sz="2800" b="1">
                <a:latin typeface="黑体" panose="02010609060101010101" pitchFamily="49" charset="-122"/>
                <a:ea typeface="黑体" panose="02010609060101010101" pitchFamily="49" charset="-122"/>
              </a:rPr>
              <a:t>，右图</a:t>
            </a:r>
            <a:r>
              <a:rPr lang="en-US" altLang="zh-CN" sz="2800" b="1">
                <a:latin typeface="黑体" panose="02010609060101010101" pitchFamily="49" charset="-122"/>
                <a:ea typeface="黑体" panose="02010609060101010101" pitchFamily="49" charset="-122"/>
              </a:rPr>
              <a:t>——</a:t>
            </a:r>
            <a:r>
              <a:rPr lang="zh-CN" altLang="en-US" sz="2800" b="1">
                <a:solidFill>
                  <a:srgbClr val="FF0000"/>
                </a:solidFill>
                <a:latin typeface="黑体" panose="02010609060101010101" pitchFamily="49" charset="-122"/>
                <a:ea typeface="黑体" panose="02010609060101010101" pitchFamily="49" charset="-122"/>
              </a:rPr>
              <a:t>外不可逆</a:t>
            </a:r>
            <a:r>
              <a:rPr lang="zh-CN" altLang="en-US" sz="2800" b="1">
                <a:latin typeface="黑体" panose="02010609060101010101" pitchFamily="49" charset="-122"/>
                <a:ea typeface="黑体" panose="02010609060101010101" pitchFamily="49" charset="-122"/>
              </a:rPr>
              <a:t>（</a:t>
            </a:r>
            <a:r>
              <a:rPr lang="zh-CN" altLang="en-US" sz="2800" b="1">
                <a:solidFill>
                  <a:srgbClr val="FF0000"/>
                </a:solidFill>
                <a:latin typeface="黑体" panose="02010609060101010101" pitchFamily="49" charset="-122"/>
                <a:ea typeface="黑体" panose="02010609060101010101" pitchFamily="49" charset="-122"/>
              </a:rPr>
              <a:t>仅内可逆</a:t>
            </a:r>
            <a:r>
              <a:rPr lang="zh-CN" altLang="en-US" sz="2800" b="1">
                <a:latin typeface="黑体" panose="02010609060101010101" pitchFamily="49" charset="-122"/>
                <a:ea typeface="黑体" panose="02010609060101010101" pitchFamily="49" charset="-122"/>
              </a:rPr>
              <a:t>）</a:t>
            </a:r>
          </a:p>
        </p:txBody>
      </p:sp>
      <p:pic>
        <p:nvPicPr>
          <p:cNvPr id="80902"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63725" y="1046163"/>
            <a:ext cx="5689600" cy="349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9495"/>
                                        </p:tgtEl>
                                        <p:attrNameLst>
                                          <p:attrName>style.visibility</p:attrName>
                                        </p:attrNameLst>
                                      </p:cBhvr>
                                      <p:to>
                                        <p:strVal val="visible"/>
                                      </p:to>
                                    </p:set>
                                    <p:animEffect transition="in" filter="blinds(horizontal)">
                                      <p:cBhvr>
                                        <p:cTn id="7" dur="500"/>
                                        <p:tgtEl>
                                          <p:spTgt spid="319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AutoShape 2"/>
          <p:cNvSpPr>
            <a:spLocks noChangeArrowheads="1"/>
          </p:cNvSpPr>
          <p:nvPr/>
        </p:nvSpPr>
        <p:spPr bwMode="auto">
          <a:xfrm>
            <a:off x="5940425" y="2576513"/>
            <a:ext cx="2974975" cy="1198562"/>
          </a:xfrm>
          <a:prstGeom prst="wedgeRoundRectCallout">
            <a:avLst>
              <a:gd name="adj1" fmla="val -67440"/>
              <a:gd name="adj2" fmla="val 22421"/>
              <a:gd name="adj3" fmla="val 16667"/>
            </a:avLst>
          </a:prstGeom>
          <a:solidFill>
            <a:schemeClr val="accent1">
              <a:lumMod val="40000"/>
              <a:lumOff val="60000"/>
            </a:schemeClr>
          </a:solidFill>
          <a:ln w="12700" cap="sq">
            <a:solidFill>
              <a:schemeClr val="tx1"/>
            </a:solidFill>
            <a:miter lim="800000"/>
            <a:headEnd type="none" w="sm" len="sm"/>
            <a:tailEnd type="none" w="sm" len="sm"/>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endParaRPr lang="zh-CN" altLang="zh-CN" sz="2400">
              <a:solidFill>
                <a:schemeClr val="tx2"/>
              </a:solidFill>
              <a:ea typeface="黑体" panose="02010609060101010101" pitchFamily="49" charset="-122"/>
            </a:endParaRPr>
          </a:p>
        </p:txBody>
      </p:sp>
      <p:sp>
        <p:nvSpPr>
          <p:cNvPr id="81923" name="Text Box 4"/>
          <p:cNvSpPr txBox="1">
            <a:spLocks noChangeArrowheads="1"/>
          </p:cNvSpPr>
          <p:nvPr/>
        </p:nvSpPr>
        <p:spPr bwMode="auto">
          <a:xfrm>
            <a:off x="381000" y="1447800"/>
            <a:ext cx="8534400" cy="608013"/>
          </a:xfrm>
          <a:prstGeom prst="rect">
            <a:avLst/>
          </a:prstGeom>
          <a:solidFill>
            <a:srgbClr val="CCFFFF"/>
          </a:solidFill>
          <a:ln w="28575">
            <a:solidFill>
              <a:schemeClr val="tx1"/>
            </a:solidFill>
            <a:miter lim="800000"/>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b="1">
                <a:solidFill>
                  <a:srgbClr val="FE4D3A"/>
                </a:solidFill>
                <a:ea typeface="幼圆" panose="02010509060101010101" pitchFamily="49" charset="-122"/>
              </a:rPr>
              <a:t>准静态过程     </a:t>
            </a:r>
            <a:r>
              <a:rPr lang="en-US" altLang="zh-CN" b="1">
                <a:solidFill>
                  <a:srgbClr val="FE4D3A"/>
                </a:solidFill>
                <a:ea typeface="幼圆" panose="02010509060101010101" pitchFamily="49" charset="-122"/>
              </a:rPr>
              <a:t>+   </a:t>
            </a:r>
            <a:r>
              <a:rPr lang="zh-CN" altLang="en-US" b="1">
                <a:solidFill>
                  <a:srgbClr val="FE4D3A"/>
                </a:solidFill>
                <a:ea typeface="幼圆" panose="02010509060101010101" pitchFamily="49" charset="-122"/>
              </a:rPr>
              <a:t>无耗散效应    </a:t>
            </a:r>
            <a:r>
              <a:rPr lang="en-US" altLang="zh-CN" b="1">
                <a:solidFill>
                  <a:srgbClr val="FE4D3A"/>
                </a:solidFill>
                <a:ea typeface="幼圆" panose="02010509060101010101" pitchFamily="49" charset="-122"/>
              </a:rPr>
              <a:t>=   </a:t>
            </a:r>
            <a:r>
              <a:rPr lang="zh-CN" altLang="en-US" b="1">
                <a:solidFill>
                  <a:srgbClr val="FE4D3A"/>
                </a:solidFill>
                <a:ea typeface="幼圆" panose="02010509060101010101" pitchFamily="49" charset="-122"/>
              </a:rPr>
              <a:t>可逆过程</a:t>
            </a:r>
            <a:endParaRPr lang="zh-CN" altLang="en-US" sz="2400" b="1">
              <a:solidFill>
                <a:srgbClr val="FE4D3A"/>
              </a:solidFill>
            </a:endParaRPr>
          </a:p>
        </p:txBody>
      </p:sp>
      <p:sp>
        <p:nvSpPr>
          <p:cNvPr id="81924" name="AutoShape 5"/>
          <p:cNvSpPr>
            <a:spLocks noChangeArrowheads="1"/>
          </p:cNvSpPr>
          <p:nvPr/>
        </p:nvSpPr>
        <p:spPr bwMode="auto">
          <a:xfrm>
            <a:off x="1371600" y="2263775"/>
            <a:ext cx="685800" cy="762000"/>
          </a:xfrm>
          <a:prstGeom prst="downArrow">
            <a:avLst>
              <a:gd name="adj1" fmla="val 50000"/>
              <a:gd name="adj2" fmla="val 27747"/>
            </a:avLst>
          </a:prstGeom>
          <a:solidFill>
            <a:schemeClr val="accent1"/>
          </a:solidFill>
          <a:ln w="9525">
            <a:solidFill>
              <a:schemeClr val="tx1"/>
            </a:solidFill>
            <a:miter lim="800000"/>
          </a:ln>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81925" name="AutoShape 6"/>
          <p:cNvSpPr>
            <a:spLocks noChangeArrowheads="1"/>
          </p:cNvSpPr>
          <p:nvPr/>
        </p:nvSpPr>
        <p:spPr bwMode="auto">
          <a:xfrm>
            <a:off x="4191000" y="2260600"/>
            <a:ext cx="685800" cy="762000"/>
          </a:xfrm>
          <a:prstGeom prst="downArrow">
            <a:avLst>
              <a:gd name="adj1" fmla="val 50000"/>
              <a:gd name="adj2" fmla="val 27747"/>
            </a:avLst>
          </a:prstGeom>
          <a:solidFill>
            <a:schemeClr val="accent1"/>
          </a:solidFill>
          <a:ln w="9525">
            <a:solidFill>
              <a:schemeClr val="tx1"/>
            </a:solidFill>
            <a:miter lim="800000"/>
          </a:ln>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zh-CN" sz="1600" b="1"/>
          </a:p>
        </p:txBody>
      </p:sp>
      <p:sp>
        <p:nvSpPr>
          <p:cNvPr id="81926" name="Text Box 7"/>
          <p:cNvSpPr txBox="1">
            <a:spLocks noChangeArrowheads="1"/>
          </p:cNvSpPr>
          <p:nvPr/>
        </p:nvSpPr>
        <p:spPr bwMode="auto">
          <a:xfrm>
            <a:off x="179388" y="3068638"/>
            <a:ext cx="3816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a:latin typeface="黑体" panose="02010609060101010101" pitchFamily="49" charset="-122"/>
                <a:ea typeface="黑体" panose="02010609060101010101" pitchFamily="49" charset="-122"/>
              </a:rPr>
              <a:t>不平衡势差无限小</a:t>
            </a:r>
          </a:p>
        </p:txBody>
      </p:sp>
      <p:sp>
        <p:nvSpPr>
          <p:cNvPr id="81927" name="Text Box 8"/>
          <p:cNvSpPr txBox="1">
            <a:spLocks noChangeArrowheads="1"/>
          </p:cNvSpPr>
          <p:nvPr/>
        </p:nvSpPr>
        <p:spPr bwMode="auto">
          <a:xfrm>
            <a:off x="6084888" y="2636838"/>
            <a:ext cx="267493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dirty="0">
                <a:latin typeface="黑体" panose="02010609060101010101" pitchFamily="49" charset="-122"/>
                <a:ea typeface="黑体" panose="02010609060101010101" pitchFamily="49" charset="-122"/>
              </a:rPr>
              <a:t>使功变为热的效应（如摩擦）</a:t>
            </a:r>
            <a:endParaRPr lang="zh-CN" altLang="en-US" sz="2400" b="1" dirty="0">
              <a:latin typeface="黑体" panose="02010609060101010101" pitchFamily="49" charset="-122"/>
              <a:ea typeface="黑体" panose="02010609060101010101" pitchFamily="49" charset="-122"/>
            </a:endParaRPr>
          </a:p>
        </p:txBody>
      </p:sp>
      <p:sp>
        <p:nvSpPr>
          <p:cNvPr id="81928" name="Rectangle 10"/>
          <p:cNvSpPr>
            <a:spLocks noChangeArrowheads="1"/>
          </p:cNvSpPr>
          <p:nvPr/>
        </p:nvSpPr>
        <p:spPr bwMode="auto">
          <a:xfrm>
            <a:off x="3638550" y="3065463"/>
            <a:ext cx="1825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a:latin typeface="黑体" panose="02010609060101010101" pitchFamily="49" charset="-122"/>
                <a:ea typeface="黑体" panose="02010609060101010101" pitchFamily="49" charset="-122"/>
              </a:rPr>
              <a:t>耗散效应</a:t>
            </a:r>
          </a:p>
        </p:txBody>
      </p:sp>
      <p:sp>
        <p:nvSpPr>
          <p:cNvPr id="81929" name="矩形 314382"/>
          <p:cNvSpPr>
            <a:spLocks noChangeArrowheads="1"/>
          </p:cNvSpPr>
          <p:nvPr/>
        </p:nvSpPr>
        <p:spPr bwMode="auto">
          <a:xfrm>
            <a:off x="349250" y="260350"/>
            <a:ext cx="7391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、可逆过程与准平衡过程的联系</a:t>
            </a: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3" name="内容占位符 343042"/>
          <p:cNvSpPr>
            <a:spLocks noGrp="1" noChangeArrowheads="1"/>
          </p:cNvSpPr>
          <p:nvPr>
            <p:ph idx="1"/>
          </p:nvPr>
        </p:nvSpPr>
        <p:spPr>
          <a:xfrm>
            <a:off x="468313" y="1341438"/>
            <a:ext cx="8229600" cy="4525962"/>
          </a:xfrm>
        </p:spPr>
        <p:txBody>
          <a:bodyPr>
            <a:normAutofit/>
          </a:bodyPr>
          <a:lstStyle/>
          <a:p>
            <a:pPr eaLnBrk="1" hangingPunct="1"/>
            <a:r>
              <a:rPr lang="zh-CN" altLang="en-US" sz="3200" b="1" dirty="0" smtClean="0">
                <a:latin typeface="黑体" panose="02010609060101010101" pitchFamily="49" charset="-122"/>
                <a:ea typeface="黑体" panose="02010609060101010101" pitchFamily="49" charset="-122"/>
              </a:rPr>
              <a:t>准平衡过程只着眼于</a:t>
            </a:r>
            <a:r>
              <a:rPr lang="zh-CN" altLang="en-US" sz="3200" b="1" dirty="0" smtClean="0">
                <a:solidFill>
                  <a:srgbClr val="FF0000"/>
                </a:solidFill>
                <a:latin typeface="黑体" panose="02010609060101010101" pitchFamily="49" charset="-122"/>
                <a:ea typeface="黑体" panose="02010609060101010101" pitchFamily="49" charset="-122"/>
              </a:rPr>
              <a:t>工质内部</a:t>
            </a:r>
            <a:r>
              <a:rPr lang="zh-CN" altLang="en-US" sz="3200" b="1" dirty="0" smtClean="0">
                <a:latin typeface="黑体" panose="02010609060101010101" pitchFamily="49" charset="-122"/>
                <a:ea typeface="黑体" panose="02010609060101010101" pitchFamily="49" charset="-122"/>
              </a:rPr>
              <a:t>的平衡，有无外部机械摩擦对工质内部的平衡并无关系，准平衡过程进行时</a:t>
            </a:r>
            <a:r>
              <a:rPr lang="zh-CN" altLang="en-US" sz="3200" b="1" dirty="0" smtClean="0">
                <a:solidFill>
                  <a:srgbClr val="FF0000"/>
                </a:solidFill>
                <a:latin typeface="黑体" panose="02010609060101010101" pitchFamily="49" charset="-122"/>
                <a:ea typeface="黑体" panose="02010609060101010101" pitchFamily="49" charset="-122"/>
              </a:rPr>
              <a:t>可能发生能量耗散</a:t>
            </a:r>
            <a:r>
              <a:rPr lang="zh-CN" altLang="en-US" sz="3200" b="1" dirty="0" smtClean="0">
                <a:latin typeface="黑体" panose="02010609060101010101" pitchFamily="49" charset="-122"/>
                <a:ea typeface="黑体" panose="02010609060101010101" pitchFamily="49" charset="-122"/>
              </a:rPr>
              <a:t> </a:t>
            </a:r>
          </a:p>
          <a:p>
            <a:pPr eaLnBrk="1" hangingPunct="1"/>
            <a:r>
              <a:rPr lang="zh-CN" altLang="en-US" sz="3200" b="1" dirty="0" smtClean="0">
                <a:latin typeface="黑体" panose="02010609060101010101" pitchFamily="49" charset="-122"/>
                <a:ea typeface="黑体" panose="02010609060101010101" pitchFamily="49" charset="-122"/>
              </a:rPr>
              <a:t>可逆过程则是分析工质与外界相互作用所产生的总效果，不仅要求工质内部是平衡的，而且要求工质与外界的作用可以无条件的逆复，过程进行时</a:t>
            </a:r>
            <a:r>
              <a:rPr lang="zh-CN" altLang="en-US" sz="3200" b="1" dirty="0" smtClean="0">
                <a:solidFill>
                  <a:srgbClr val="FF0000"/>
                </a:solidFill>
                <a:latin typeface="黑体" panose="02010609060101010101" pitchFamily="49" charset="-122"/>
                <a:ea typeface="黑体" panose="02010609060101010101" pitchFamily="49" charset="-122"/>
              </a:rPr>
              <a:t>不存在任何能量的耗散 </a:t>
            </a:r>
          </a:p>
        </p:txBody>
      </p:sp>
      <p:sp>
        <p:nvSpPr>
          <p:cNvPr id="82947" name="矩形 314382"/>
          <p:cNvSpPr>
            <a:spLocks noChangeArrowheads="1"/>
          </p:cNvSpPr>
          <p:nvPr/>
        </p:nvSpPr>
        <p:spPr bwMode="auto">
          <a:xfrm>
            <a:off x="349250" y="260350"/>
            <a:ext cx="7391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b="1">
                <a:latin typeface="黑体" panose="02010609060101010101" pitchFamily="49" charset="-122"/>
                <a:ea typeface="黑体" panose="02010609060101010101" pitchFamily="49" charset="-122"/>
              </a:rPr>
              <a:t>4</a:t>
            </a:r>
            <a:r>
              <a:rPr lang="zh-CN" altLang="en-US" b="1">
                <a:latin typeface="黑体" panose="02010609060101010101" pitchFamily="49" charset="-122"/>
                <a:ea typeface="黑体" panose="02010609060101010101" pitchFamily="49" charset="-122"/>
              </a:rPr>
              <a:t>、可逆过程与准平衡过程的区别</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3043">
                                            <p:txEl>
                                              <p:pRg st="0" end="0"/>
                                            </p:txEl>
                                          </p:spTgt>
                                        </p:tgtEl>
                                        <p:attrNameLst>
                                          <p:attrName>style.visibility</p:attrName>
                                        </p:attrNameLst>
                                      </p:cBhvr>
                                      <p:to>
                                        <p:strVal val="visible"/>
                                      </p:to>
                                    </p:set>
                                    <p:animEffect transition="in" filter="blinds(horizontal)">
                                      <p:cBhvr>
                                        <p:cTn id="7" dur="500"/>
                                        <p:tgtEl>
                                          <p:spTgt spid="3430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43043">
                                            <p:txEl>
                                              <p:pRg st="1" end="1"/>
                                            </p:txEl>
                                          </p:spTgt>
                                        </p:tgtEl>
                                        <p:attrNameLst>
                                          <p:attrName>style.visibility</p:attrName>
                                        </p:attrNameLst>
                                      </p:cBhvr>
                                      <p:to>
                                        <p:strVal val="visible"/>
                                      </p:to>
                                    </p:set>
                                    <p:animEffect transition="in" filter="blinds(horizontal)">
                                      <p:cBhvr>
                                        <p:cTn id="12" dur="500"/>
                                        <p:tgtEl>
                                          <p:spTgt spid="3430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349188"/>
          <p:cNvSpPr>
            <a:spLocks noChangeArrowheads="1"/>
          </p:cNvSpPr>
          <p:nvPr/>
        </p:nvSpPr>
        <p:spPr bwMode="auto">
          <a:xfrm>
            <a:off x="0" y="3014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3971" name="矩形 349194"/>
          <p:cNvSpPr>
            <a:spLocks noChangeArrowheads="1"/>
          </p:cNvSpPr>
          <p:nvPr/>
        </p:nvSpPr>
        <p:spPr bwMode="auto">
          <a:xfrm>
            <a:off x="539750" y="2781300"/>
            <a:ext cx="7920038"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ea typeface="黑体" panose="02010609060101010101" pitchFamily="49" charset="-122"/>
              </a:rPr>
              <a:t>是（   ）过程；如果该过程无任何耗散效应，是（     ）过程；如果活塞移动过程中有摩擦，则它是（     ）过程</a:t>
            </a:r>
          </a:p>
        </p:txBody>
      </p:sp>
      <p:sp>
        <p:nvSpPr>
          <p:cNvPr id="83972" name="矩形 349196"/>
          <p:cNvSpPr>
            <a:spLocks noChangeArrowheads="1"/>
          </p:cNvSpPr>
          <p:nvPr/>
        </p:nvSpPr>
        <p:spPr bwMode="auto">
          <a:xfrm>
            <a:off x="1403350" y="5157788"/>
            <a:ext cx="589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ea typeface="黑体" panose="02010609060101010101" pitchFamily="49" charset="-122"/>
              </a:rPr>
              <a:t>A.</a:t>
            </a:r>
            <a:r>
              <a:rPr lang="zh-CN" altLang="en-US" sz="2400" b="1">
                <a:ea typeface="黑体" panose="02010609060101010101" pitchFamily="49" charset="-122"/>
              </a:rPr>
              <a:t>准平衡过程   </a:t>
            </a:r>
            <a:r>
              <a:rPr lang="en-US" altLang="zh-CN" sz="2400" b="1">
                <a:ea typeface="黑体" panose="02010609060101010101" pitchFamily="49" charset="-122"/>
              </a:rPr>
              <a:t>B.</a:t>
            </a:r>
            <a:r>
              <a:rPr lang="zh-CN" altLang="en-US" sz="2400" b="1">
                <a:ea typeface="黑体" panose="02010609060101010101" pitchFamily="49" charset="-122"/>
              </a:rPr>
              <a:t>可逆过程   </a:t>
            </a:r>
            <a:r>
              <a:rPr lang="en-US" altLang="zh-CN" sz="2400" b="1">
                <a:ea typeface="黑体" panose="02010609060101010101" pitchFamily="49" charset="-122"/>
              </a:rPr>
              <a:t>C.</a:t>
            </a:r>
            <a:r>
              <a:rPr lang="zh-CN" altLang="en-US" sz="2400" b="1">
                <a:ea typeface="黑体" panose="02010609060101010101" pitchFamily="49" charset="-122"/>
              </a:rPr>
              <a:t>不可逆过程</a:t>
            </a:r>
          </a:p>
        </p:txBody>
      </p:sp>
      <p:pic>
        <p:nvPicPr>
          <p:cNvPr id="8397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638175"/>
            <a:ext cx="5834062"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320513"/>
          <p:cNvSpPr>
            <a:spLocks noChangeArrowheads="1"/>
          </p:cNvSpPr>
          <p:nvPr/>
        </p:nvSpPr>
        <p:spPr bwMode="auto">
          <a:xfrm>
            <a:off x="2411413" y="476250"/>
            <a:ext cx="3841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solidFill>
                  <a:srgbClr val="FF0000"/>
                </a:solidFill>
                <a:latin typeface="黑体" panose="02010609060101010101" pitchFamily="49" charset="-122"/>
                <a:ea typeface="黑体" panose="02010609060101010101" pitchFamily="49" charset="-122"/>
              </a:rPr>
              <a:t>金无足赤，人无完人</a:t>
            </a:r>
          </a:p>
        </p:txBody>
      </p:sp>
      <p:sp>
        <p:nvSpPr>
          <p:cNvPr id="84995" name="矩形 320514"/>
          <p:cNvSpPr>
            <a:spLocks noChangeArrowheads="1"/>
          </p:cNvSpPr>
          <p:nvPr/>
        </p:nvSpPr>
        <p:spPr bwMode="auto">
          <a:xfrm>
            <a:off x="684213" y="1484313"/>
            <a:ext cx="77755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a:latin typeface="黑体" panose="02010609060101010101" pitchFamily="49" charset="-122"/>
                <a:ea typeface="黑体" panose="02010609060101010101" pitchFamily="49" charset="-122"/>
              </a:rPr>
              <a:t>自然界中无完全可逆过程，而且有时我们需要不可逆过程</a:t>
            </a:r>
          </a:p>
        </p:txBody>
      </p:sp>
      <p:sp>
        <p:nvSpPr>
          <p:cNvPr id="320516" name="矩形 320515"/>
          <p:cNvSpPr>
            <a:spLocks noChangeArrowheads="1"/>
          </p:cNvSpPr>
          <p:nvPr/>
        </p:nvSpPr>
        <p:spPr bwMode="auto">
          <a:xfrm>
            <a:off x="755650" y="2997200"/>
            <a:ext cx="79978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为了实现可逆，温差必须无穷小，导致传递热量所需的时间无限长！</a:t>
            </a:r>
            <a:r>
              <a:rPr lang="zh-CN" altLang="en-US" sz="2800">
                <a:latin typeface="黑体" panose="02010609060101010101" pitchFamily="49" charset="-122"/>
                <a:ea typeface="黑体" panose="02010609060101010101" pitchFamily="49" charset="-122"/>
              </a:rPr>
              <a:t> </a:t>
            </a:r>
          </a:p>
        </p:txBody>
      </p:sp>
      <p:sp>
        <p:nvSpPr>
          <p:cNvPr id="320517" name="矩形 320516"/>
          <p:cNvSpPr>
            <a:spLocks noChangeArrowheads="1"/>
          </p:cNvSpPr>
          <p:nvPr/>
        </p:nvSpPr>
        <p:spPr bwMode="auto">
          <a:xfrm>
            <a:off x="827088" y="4365625"/>
            <a:ext cx="7527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热力学完美了，但无实际意义和经济价值</a:t>
            </a:r>
          </a:p>
        </p:txBody>
      </p:sp>
      <p:sp>
        <p:nvSpPr>
          <p:cNvPr id="320518" name="矩形 320517"/>
          <p:cNvSpPr>
            <a:spLocks noChangeArrowheads="1"/>
          </p:cNvSpPr>
          <p:nvPr/>
        </p:nvSpPr>
        <p:spPr bwMode="auto">
          <a:xfrm>
            <a:off x="1331913" y="5445125"/>
            <a:ext cx="59515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b="1">
                <a:latin typeface="黑体" panose="02010609060101010101" pitchFamily="49" charset="-122"/>
                <a:ea typeface="黑体" panose="02010609060101010101" pitchFamily="49" charset="-122"/>
              </a:rPr>
              <a:t>思考：卡诺循环能输出功率么？</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0516"/>
                                        </p:tgtEl>
                                        <p:attrNameLst>
                                          <p:attrName>style.visibility</p:attrName>
                                        </p:attrNameLst>
                                      </p:cBhvr>
                                      <p:to>
                                        <p:strVal val="visible"/>
                                      </p:to>
                                    </p:set>
                                    <p:animEffect transition="in" filter="blinds(horizontal)">
                                      <p:cBhvr>
                                        <p:cTn id="7" dur="500"/>
                                        <p:tgtEl>
                                          <p:spTgt spid="3205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0517"/>
                                        </p:tgtEl>
                                        <p:attrNameLst>
                                          <p:attrName>style.visibility</p:attrName>
                                        </p:attrNameLst>
                                      </p:cBhvr>
                                      <p:to>
                                        <p:strVal val="visible"/>
                                      </p:to>
                                    </p:set>
                                    <p:animEffect transition="in" filter="blinds(horizontal)">
                                      <p:cBhvr>
                                        <p:cTn id="12" dur="500"/>
                                        <p:tgtEl>
                                          <p:spTgt spid="3205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0518"/>
                                        </p:tgtEl>
                                        <p:attrNameLst>
                                          <p:attrName>style.visibility</p:attrName>
                                        </p:attrNameLst>
                                      </p:cBhvr>
                                      <p:to>
                                        <p:strVal val="visible"/>
                                      </p:to>
                                    </p:set>
                                    <p:animEffect transition="in" filter="blinds(horizontal)">
                                      <p:cBhvr>
                                        <p:cTn id="17" dur="500"/>
                                        <p:tgtEl>
                                          <p:spTgt spid="320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6" grpId="0"/>
      <p:bldP spid="320517" grpId="0"/>
      <p:bldP spid="32051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矩形 351235"/>
          <p:cNvSpPr>
            <a:spLocks noChangeArrowheads="1"/>
          </p:cNvSpPr>
          <p:nvPr/>
        </p:nvSpPr>
        <p:spPr bwMode="auto">
          <a:xfrm>
            <a:off x="395288" y="2349500"/>
            <a:ext cx="842486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000" b="1">
                <a:latin typeface="黑体" panose="02010609060101010101" pitchFamily="49" charset="-122"/>
                <a:ea typeface="黑体" panose="02010609060101010101" pitchFamily="49" charset="-122"/>
              </a:rPr>
              <a:t>问题：既然自然过程都是不可逆的，为什么热力学还要研究可逆过程呢？ </a:t>
            </a:r>
          </a:p>
        </p:txBody>
      </p:sp>
    </p:spTree>
  </p:cSld>
  <p:clrMapOvr>
    <a:masterClrMapping/>
  </p:clrMapOvr>
  <p:transition spd="slow"/>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9" name="矩形 321538"/>
          <p:cNvSpPr>
            <a:spLocks noChangeArrowheads="1"/>
          </p:cNvSpPr>
          <p:nvPr/>
        </p:nvSpPr>
        <p:spPr bwMode="auto">
          <a:xfrm>
            <a:off x="611188" y="1341438"/>
            <a:ext cx="756126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1">
                <a:latin typeface="黑体" panose="02010609060101010101" pitchFamily="49" charset="-122"/>
                <a:ea typeface="黑体" panose="02010609060101010101" pitchFamily="49" charset="-122"/>
              </a:rPr>
              <a:t>1</a:t>
            </a:r>
            <a:r>
              <a:rPr lang="zh-CN" altLang="en-US" sz="3600" b="1">
                <a:latin typeface="黑体" panose="02010609060101010101" pitchFamily="49" charset="-122"/>
                <a:ea typeface="黑体" panose="02010609060101010101" pitchFamily="49" charset="-122"/>
              </a:rPr>
              <a:t>、容易分析，可逆过程可作为实际过程能量转换效果的</a:t>
            </a:r>
            <a:r>
              <a:rPr lang="zh-CN" altLang="en-US" sz="3600" b="1">
                <a:solidFill>
                  <a:srgbClr val="FF0000"/>
                </a:solidFill>
                <a:latin typeface="黑体" panose="02010609060101010101" pitchFamily="49" charset="-122"/>
                <a:ea typeface="黑体" panose="02010609060101010101" pitchFamily="49" charset="-122"/>
              </a:rPr>
              <a:t>标准和极限</a:t>
            </a:r>
            <a:endParaRPr lang="zh-CN" altLang="en-US" sz="3600" b="1">
              <a:latin typeface="黑体" panose="02010609060101010101" pitchFamily="49" charset="-122"/>
              <a:ea typeface="黑体" panose="02010609060101010101" pitchFamily="49" charset="-122"/>
            </a:endParaRPr>
          </a:p>
        </p:txBody>
      </p:sp>
      <p:sp>
        <p:nvSpPr>
          <p:cNvPr id="321540" name="矩形 321539"/>
          <p:cNvSpPr>
            <a:spLocks noChangeArrowheads="1"/>
          </p:cNvSpPr>
          <p:nvPr/>
        </p:nvSpPr>
        <p:spPr bwMode="auto">
          <a:xfrm>
            <a:off x="530225" y="3213100"/>
            <a:ext cx="7777163"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1">
                <a:latin typeface="黑体" panose="02010609060101010101" pitchFamily="49" charset="-122"/>
                <a:ea typeface="黑体" panose="02010609060101010101" pitchFamily="49" charset="-122"/>
              </a:rPr>
              <a:t>2</a:t>
            </a:r>
            <a:r>
              <a:rPr lang="zh-CN" altLang="en-US" sz="3600" b="1">
                <a:latin typeface="黑体" panose="02010609060101010101" pitchFamily="49" charset="-122"/>
                <a:ea typeface="黑体" panose="02010609060101010101" pitchFamily="49" charset="-122"/>
              </a:rPr>
              <a:t>、热力学中通常把实际过程当作可逆过程进行分析计算，然后再用一些</a:t>
            </a:r>
            <a:r>
              <a:rPr lang="zh-CN" altLang="en-US" sz="3600" b="1">
                <a:solidFill>
                  <a:srgbClr val="FF0000"/>
                </a:solidFill>
                <a:latin typeface="黑体" panose="02010609060101010101" pitchFamily="49" charset="-122"/>
                <a:ea typeface="黑体" panose="02010609060101010101" pitchFamily="49" charset="-122"/>
              </a:rPr>
              <a:t>经验系数加以修正</a:t>
            </a:r>
            <a:r>
              <a:rPr lang="zh-CN" altLang="en-US" sz="3600" b="1">
                <a:latin typeface="黑体" panose="02010609060101010101" pitchFamily="49" charset="-122"/>
                <a:ea typeface="黑体" panose="02010609060101010101" pitchFamily="49" charset="-122"/>
              </a:rPr>
              <a:t> </a:t>
            </a:r>
          </a:p>
        </p:txBody>
      </p:sp>
      <p:sp>
        <p:nvSpPr>
          <p:cNvPr id="87044" name="矩形 321543"/>
          <p:cNvSpPr>
            <a:spLocks noChangeArrowheads="1"/>
          </p:cNvSpPr>
          <p:nvPr/>
        </p:nvSpPr>
        <p:spPr bwMode="auto">
          <a:xfrm>
            <a:off x="539750" y="333375"/>
            <a:ext cx="75612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4400" b="1">
                <a:latin typeface="黑体" panose="02010609060101010101" pitchFamily="49" charset="-122"/>
                <a:ea typeface="黑体" panose="02010609060101010101" pitchFamily="49" charset="-122"/>
              </a:rPr>
              <a:t>建立可逆过程概念的意义</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1539"/>
                                        </p:tgtEl>
                                        <p:attrNameLst>
                                          <p:attrName>style.visibility</p:attrName>
                                        </p:attrNameLst>
                                      </p:cBhvr>
                                      <p:to>
                                        <p:strVal val="visible"/>
                                      </p:to>
                                    </p:set>
                                    <p:animEffect transition="in" filter="blinds(horizontal)">
                                      <p:cBhvr>
                                        <p:cTn id="7" dur="500"/>
                                        <p:tgtEl>
                                          <p:spTgt spid="3215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1540"/>
                                        </p:tgtEl>
                                        <p:attrNameLst>
                                          <p:attrName>style.visibility</p:attrName>
                                        </p:attrNameLst>
                                      </p:cBhvr>
                                      <p:to>
                                        <p:strVal val="visible"/>
                                      </p:to>
                                    </p:set>
                                    <p:animEffect transition="in" filter="blinds(horizontal)">
                                      <p:cBhvr>
                                        <p:cTn id="12" dur="500"/>
                                        <p:tgtEl>
                                          <p:spTgt spid="321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9" grpId="0"/>
      <p:bldP spid="32154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矩形 106501"/>
          <p:cNvSpPr>
            <a:spLocks noChangeArrowheads="1"/>
          </p:cNvSpPr>
          <p:nvPr/>
        </p:nvSpPr>
        <p:spPr bwMode="auto">
          <a:xfrm>
            <a:off x="468313" y="260350"/>
            <a:ext cx="65516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Times New Roman" panose="02020603050405020304" pitchFamily="18" charset="0"/>
                <a:ea typeface="黑体" panose="02010609060101010101" pitchFamily="49" charset="-122"/>
              </a:rPr>
              <a:t>三、热力循环</a:t>
            </a:r>
          </a:p>
        </p:txBody>
      </p:sp>
      <p:sp>
        <p:nvSpPr>
          <p:cNvPr id="88067" name="矩形 106502"/>
          <p:cNvSpPr>
            <a:spLocks noChangeArrowheads="1"/>
          </p:cNvSpPr>
          <p:nvPr/>
        </p:nvSpPr>
        <p:spPr bwMode="auto">
          <a:xfrm>
            <a:off x="755650" y="1052513"/>
            <a:ext cx="63785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solidFill>
                  <a:srgbClr val="0000CC"/>
                </a:solidFill>
                <a:latin typeface="黑体" panose="02010609060101010101" pitchFamily="49" charset="-122"/>
                <a:ea typeface="黑体" panose="02010609060101010101" pitchFamily="49" charset="-122"/>
              </a:rPr>
              <a:t>封闭的热力过程</a:t>
            </a:r>
            <a:r>
              <a:rPr lang="zh-CN" altLang="en-US" sz="3600" b="1">
                <a:latin typeface="黑体" panose="02010609060101010101" pitchFamily="49" charset="-122"/>
                <a:ea typeface="黑体" panose="02010609060101010101" pitchFamily="49" charset="-122"/>
              </a:rPr>
              <a:t>称为热力循环 </a:t>
            </a:r>
          </a:p>
        </p:txBody>
      </p:sp>
      <p:sp>
        <p:nvSpPr>
          <p:cNvPr id="88068" name="矩形 106504"/>
          <p:cNvSpPr>
            <a:spLocks noChangeArrowheads="1"/>
          </p:cNvSpPr>
          <p:nvPr/>
        </p:nvSpPr>
        <p:spPr bwMode="auto">
          <a:xfrm>
            <a:off x="0" y="2414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6506" name="矩形 106505"/>
          <p:cNvSpPr>
            <a:spLocks noChangeArrowheads="1"/>
          </p:cNvSpPr>
          <p:nvPr/>
        </p:nvSpPr>
        <p:spPr bwMode="auto">
          <a:xfrm>
            <a:off x="2771775" y="3284538"/>
            <a:ext cx="5753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b="1">
                <a:latin typeface="Times New Roman" panose="02020603050405020304" pitchFamily="18" charset="0"/>
                <a:ea typeface="黑体" panose="02010609060101010101" pitchFamily="49" charset="-122"/>
              </a:rPr>
              <a:t>是为了实现预期的能量转换</a:t>
            </a:r>
            <a:r>
              <a:rPr lang="zh-CN" altLang="en-US" sz="1800" b="1"/>
              <a:t> </a:t>
            </a:r>
          </a:p>
        </p:txBody>
      </p:sp>
      <p:sp>
        <p:nvSpPr>
          <p:cNvPr id="106507" name="矩形 106506"/>
          <p:cNvSpPr>
            <a:spLocks noChangeArrowheads="1"/>
          </p:cNvSpPr>
          <p:nvPr/>
        </p:nvSpPr>
        <p:spPr bwMode="auto">
          <a:xfrm>
            <a:off x="1042988" y="2492375"/>
            <a:ext cx="6970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黑体" panose="02010609060101010101" pitchFamily="49" charset="-122"/>
                <a:ea typeface="黑体" panose="02010609060101010101" pitchFamily="49" charset="-122"/>
              </a:rPr>
              <a:t>系统实施循环的</a:t>
            </a:r>
            <a:r>
              <a:rPr lang="zh-CN" altLang="en-US" sz="2800" b="1">
                <a:solidFill>
                  <a:srgbClr val="FF0000"/>
                </a:solidFill>
                <a:latin typeface="黑体" panose="02010609060101010101" pitchFamily="49" charset="-122"/>
                <a:ea typeface="黑体" panose="02010609060101010101" pitchFamily="49" charset="-122"/>
              </a:rPr>
              <a:t>目的？</a:t>
            </a:r>
            <a:r>
              <a:rPr lang="zh-CN" altLang="en-US" sz="2800" b="1">
                <a:latin typeface="黑体" panose="02010609060101010101" pitchFamily="49" charset="-122"/>
                <a:ea typeface="黑体" panose="02010609060101010101" pitchFamily="49" charset="-122"/>
              </a:rPr>
              <a:t>是为了状态变化么？</a:t>
            </a:r>
          </a:p>
        </p:txBody>
      </p:sp>
      <p:sp>
        <p:nvSpPr>
          <p:cNvPr id="106511" name="矩形 106510"/>
          <p:cNvSpPr>
            <a:spLocks noChangeArrowheads="1"/>
          </p:cNvSpPr>
          <p:nvPr/>
        </p:nvSpPr>
        <p:spPr bwMode="auto">
          <a:xfrm>
            <a:off x="4787900" y="438785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rgbClr val="FF0000"/>
                </a:solidFill>
                <a:latin typeface="Times New Roman" panose="02020603050405020304" pitchFamily="18" charset="0"/>
                <a:ea typeface="楷体_GB2312" pitchFamily="49" charset="-122"/>
              </a:rPr>
              <a:t>Q</a:t>
            </a:r>
          </a:p>
        </p:txBody>
      </p:sp>
      <p:sp>
        <p:nvSpPr>
          <p:cNvPr id="106513" name="矩形 106512"/>
          <p:cNvSpPr>
            <a:spLocks noChangeArrowheads="1"/>
          </p:cNvSpPr>
          <p:nvPr/>
        </p:nvSpPr>
        <p:spPr bwMode="auto">
          <a:xfrm>
            <a:off x="6443663" y="4365625"/>
            <a:ext cx="5000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i="1">
                <a:solidFill>
                  <a:srgbClr val="0000CC"/>
                </a:solidFill>
                <a:latin typeface="Times New Roman" panose="02020603050405020304" pitchFamily="18" charset="0"/>
                <a:ea typeface="楷体_GB2312" pitchFamily="49" charset="-122"/>
              </a:rPr>
              <a:t>W</a:t>
            </a:r>
          </a:p>
        </p:txBody>
      </p:sp>
      <p:sp>
        <p:nvSpPr>
          <p:cNvPr id="106514" name="直接连接符 106513"/>
          <p:cNvSpPr>
            <a:spLocks noChangeShapeType="1"/>
          </p:cNvSpPr>
          <p:nvPr/>
        </p:nvSpPr>
        <p:spPr bwMode="auto">
          <a:xfrm>
            <a:off x="5435600" y="4581525"/>
            <a:ext cx="7921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5" name="直接连接符 106514"/>
          <p:cNvSpPr>
            <a:spLocks noChangeShapeType="1"/>
          </p:cNvSpPr>
          <p:nvPr/>
        </p:nvSpPr>
        <p:spPr bwMode="auto">
          <a:xfrm flipH="1">
            <a:off x="5364163" y="4725988"/>
            <a:ext cx="863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7" name="矩形 106516"/>
          <p:cNvSpPr>
            <a:spLocks noChangeArrowheads="1"/>
          </p:cNvSpPr>
          <p:nvPr/>
        </p:nvSpPr>
        <p:spPr bwMode="auto">
          <a:xfrm>
            <a:off x="4500563" y="5013325"/>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FF0000"/>
                </a:solidFill>
                <a:latin typeface="Times New Roman" panose="02020603050405020304" pitchFamily="18" charset="0"/>
                <a:ea typeface="楷体_GB2312" pitchFamily="49" charset="-122"/>
              </a:rPr>
              <a:t>热能</a:t>
            </a:r>
          </a:p>
        </p:txBody>
      </p:sp>
      <p:sp>
        <p:nvSpPr>
          <p:cNvPr id="106519" name="矩形 106518"/>
          <p:cNvSpPr>
            <a:spLocks noChangeArrowheads="1"/>
          </p:cNvSpPr>
          <p:nvPr/>
        </p:nvSpPr>
        <p:spPr bwMode="auto">
          <a:xfrm>
            <a:off x="6372225" y="5013325"/>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00CC"/>
                </a:solidFill>
                <a:latin typeface="Times New Roman" panose="02020603050405020304" pitchFamily="18" charset="0"/>
                <a:ea typeface="楷体_GB2312" pitchFamily="49" charset="-122"/>
              </a:rPr>
              <a:t>机械能</a:t>
            </a:r>
          </a:p>
        </p:txBody>
      </p:sp>
      <p:sp>
        <p:nvSpPr>
          <p:cNvPr id="106521" name="矩形 106520"/>
          <p:cNvSpPr>
            <a:spLocks noChangeArrowheads="1"/>
          </p:cNvSpPr>
          <p:nvPr/>
        </p:nvSpPr>
        <p:spPr bwMode="auto">
          <a:xfrm>
            <a:off x="4716463" y="5589588"/>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FF0000"/>
                </a:solidFill>
                <a:latin typeface="Times New Roman" panose="02020603050405020304" pitchFamily="18" charset="0"/>
                <a:ea typeface="楷体_GB2312" pitchFamily="49" charset="-122"/>
              </a:rPr>
              <a:t>热</a:t>
            </a:r>
          </a:p>
        </p:txBody>
      </p:sp>
      <p:sp>
        <p:nvSpPr>
          <p:cNvPr id="106522" name="矩形 106521"/>
          <p:cNvSpPr>
            <a:spLocks noChangeArrowheads="1"/>
          </p:cNvSpPr>
          <p:nvPr/>
        </p:nvSpPr>
        <p:spPr bwMode="auto">
          <a:xfrm>
            <a:off x="6335713" y="5589588"/>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00CC"/>
                </a:solidFill>
                <a:latin typeface="Times New Roman" panose="02020603050405020304" pitchFamily="18" charset="0"/>
                <a:ea typeface="楷体_GB2312" pitchFamily="49" charset="-122"/>
              </a:rPr>
              <a:t>力</a:t>
            </a:r>
          </a:p>
        </p:txBody>
      </p:sp>
      <p:sp>
        <p:nvSpPr>
          <p:cNvPr id="106523" name="矩形 106522"/>
          <p:cNvSpPr>
            <a:spLocks noChangeArrowheads="1"/>
          </p:cNvSpPr>
          <p:nvPr/>
        </p:nvSpPr>
        <p:spPr bwMode="auto">
          <a:xfrm>
            <a:off x="7812088" y="5589588"/>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ea typeface="楷体_GB2312" pitchFamily="49" charset="-122"/>
              </a:rPr>
              <a:t>学</a:t>
            </a:r>
          </a:p>
        </p:txBody>
      </p:sp>
      <p:sp>
        <p:nvSpPr>
          <p:cNvPr id="88080" name="矩形 106523"/>
          <p:cNvSpPr>
            <a:spLocks noChangeArrowheads="1"/>
          </p:cNvSpPr>
          <p:nvPr/>
        </p:nvSpPr>
        <p:spPr bwMode="auto">
          <a:xfrm>
            <a:off x="755650" y="1773238"/>
            <a:ext cx="63023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ea typeface="黑体" panose="02010609060101010101" pitchFamily="49" charset="-122"/>
              </a:rPr>
              <a:t>循环特性</a:t>
            </a:r>
            <a:r>
              <a:rPr lang="zh-CN" altLang="en-US">
                <a:ea typeface="黑体" panose="02010609060101010101" pitchFamily="49" charset="-122"/>
              </a:rPr>
              <a:t>：</a:t>
            </a:r>
            <a:r>
              <a:rPr lang="zh-CN" altLang="en-US" b="1">
                <a:ea typeface="黑体" panose="02010609060101010101" pitchFamily="49" charset="-122"/>
              </a:rPr>
              <a:t>一切</a:t>
            </a:r>
            <a:r>
              <a:rPr lang="zh-CN" altLang="en-US" b="1">
                <a:solidFill>
                  <a:srgbClr val="FF0000"/>
                </a:solidFill>
                <a:ea typeface="黑体" panose="02010609060101010101" pitchFamily="49" charset="-122"/>
              </a:rPr>
              <a:t>状态参数</a:t>
            </a:r>
            <a:r>
              <a:rPr lang="zh-CN" altLang="en-US" b="1">
                <a:ea typeface="黑体" panose="02010609060101010101" pitchFamily="49" charset="-122"/>
              </a:rPr>
              <a:t>恢复原值</a:t>
            </a:r>
          </a:p>
        </p:txBody>
      </p:sp>
      <p:sp>
        <p:nvSpPr>
          <p:cNvPr id="88081" name="Line 3"/>
          <p:cNvSpPr>
            <a:spLocks noChangeShapeType="1"/>
          </p:cNvSpPr>
          <p:nvPr/>
        </p:nvSpPr>
        <p:spPr bwMode="auto">
          <a:xfrm>
            <a:off x="684213" y="6021388"/>
            <a:ext cx="3124200" cy="0"/>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2" name="Line 4"/>
          <p:cNvSpPr>
            <a:spLocks noChangeShapeType="1"/>
          </p:cNvSpPr>
          <p:nvPr/>
        </p:nvSpPr>
        <p:spPr bwMode="auto">
          <a:xfrm flipV="1">
            <a:off x="684213" y="3201988"/>
            <a:ext cx="0" cy="2819400"/>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3" name="Rectangle 5"/>
          <p:cNvSpPr>
            <a:spLocks noChangeArrowheads="1"/>
          </p:cNvSpPr>
          <p:nvPr/>
        </p:nvSpPr>
        <p:spPr bwMode="auto">
          <a:xfrm>
            <a:off x="203259" y="2878931"/>
            <a:ext cx="4154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i="1" dirty="0">
                <a:latin typeface="Times New Roman" panose="02020603050405020304" pitchFamily="18" charset="0"/>
                <a:cs typeface="Times New Roman" panose="02020603050405020304" pitchFamily="18" charset="0"/>
              </a:rPr>
              <a:t>p</a:t>
            </a:r>
          </a:p>
        </p:txBody>
      </p:sp>
      <p:sp>
        <p:nvSpPr>
          <p:cNvPr id="88084" name="Rectangle 6"/>
          <p:cNvSpPr>
            <a:spLocks noChangeArrowheads="1"/>
          </p:cNvSpPr>
          <p:nvPr/>
        </p:nvSpPr>
        <p:spPr bwMode="auto">
          <a:xfrm>
            <a:off x="3559056" y="5914122"/>
            <a:ext cx="389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buNone/>
            </a:pPr>
            <a:r>
              <a:rPr lang="en-US" altLang="zh-CN" sz="3600" i="1" dirty="0" smtClean="0">
                <a:latin typeface="Times New Roman" panose="02020603050405020304" pitchFamily="18" charset="0"/>
                <a:cs typeface="Times New Roman" panose="02020603050405020304" pitchFamily="18" charset="0"/>
              </a:rPr>
              <a:t>v</a:t>
            </a:r>
            <a:endParaRPr lang="en-US" altLang="zh-CN" sz="3600" i="1" dirty="0">
              <a:latin typeface="Times New Roman" panose="02020603050405020304" pitchFamily="18" charset="0"/>
              <a:cs typeface="Times New Roman" panose="02020603050405020304" pitchFamily="18" charset="0"/>
            </a:endParaRPr>
          </a:p>
        </p:txBody>
      </p:sp>
      <p:sp>
        <p:nvSpPr>
          <p:cNvPr id="88085" name="Oval 14"/>
          <p:cNvSpPr>
            <a:spLocks noChangeArrowheads="1"/>
          </p:cNvSpPr>
          <p:nvPr/>
        </p:nvSpPr>
        <p:spPr bwMode="auto">
          <a:xfrm rot="2160000">
            <a:off x="1012825" y="4052888"/>
            <a:ext cx="2819400" cy="1066800"/>
          </a:xfrm>
          <a:prstGeom prst="ellipse">
            <a:avLst/>
          </a:prstGeom>
          <a:noFill/>
          <a:ln w="25400" cap="sq">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endParaRPr lang="zh-CN" altLang="zh-CN" sz="2800">
              <a:solidFill>
                <a:srgbClr val="66FF33"/>
              </a:solidFill>
              <a:ea typeface="黑体" panose="02010609060101010101" pitchFamily="49" charset="-122"/>
            </a:endParaRPr>
          </a:p>
        </p:txBody>
      </p:sp>
      <p:sp>
        <p:nvSpPr>
          <p:cNvPr id="88086" name="Rectangle 15"/>
          <p:cNvSpPr>
            <a:spLocks noChangeArrowheads="1"/>
          </p:cNvSpPr>
          <p:nvPr/>
        </p:nvSpPr>
        <p:spPr bwMode="auto">
          <a:xfrm>
            <a:off x="3490913" y="5337175"/>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a:t>2</a:t>
            </a:r>
          </a:p>
        </p:txBody>
      </p:sp>
      <p:sp>
        <p:nvSpPr>
          <p:cNvPr id="88087" name="Rectangle 16"/>
          <p:cNvSpPr>
            <a:spLocks noChangeArrowheads="1"/>
          </p:cNvSpPr>
          <p:nvPr/>
        </p:nvSpPr>
        <p:spPr bwMode="auto">
          <a:xfrm>
            <a:off x="938213" y="3203575"/>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a:t>1</a:t>
            </a:r>
          </a:p>
        </p:txBody>
      </p:sp>
      <p:sp>
        <p:nvSpPr>
          <p:cNvPr id="88088" name="Line 20"/>
          <p:cNvSpPr>
            <a:spLocks noChangeAspect="1" noChangeShapeType="1"/>
          </p:cNvSpPr>
          <p:nvPr/>
        </p:nvSpPr>
        <p:spPr bwMode="auto">
          <a:xfrm rot="376334">
            <a:off x="2481263" y="3986213"/>
            <a:ext cx="287337" cy="190500"/>
          </a:xfrm>
          <a:prstGeom prst="line">
            <a:avLst/>
          </a:prstGeom>
          <a:noFill/>
          <a:ln w="508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9" name="Line 21"/>
          <p:cNvSpPr>
            <a:spLocks noChangeShapeType="1"/>
          </p:cNvSpPr>
          <p:nvPr/>
        </p:nvSpPr>
        <p:spPr bwMode="auto">
          <a:xfrm rot="-203848" flipH="1" flipV="1">
            <a:off x="1895475" y="4813300"/>
            <a:ext cx="203200" cy="214313"/>
          </a:xfrm>
          <a:prstGeom prst="line">
            <a:avLst/>
          </a:prstGeom>
          <a:noFill/>
          <a:ln w="508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34" name="矩形 106533"/>
          <p:cNvSpPr>
            <a:spLocks noChangeArrowheads="1"/>
          </p:cNvSpPr>
          <p:nvPr/>
        </p:nvSpPr>
        <p:spPr bwMode="auto">
          <a:xfrm>
            <a:off x="468313" y="6237288"/>
            <a:ext cx="2941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latin typeface="Times New Roman" panose="02020603050405020304" pitchFamily="18" charset="0"/>
                <a:ea typeface="黑体" panose="02010609060101010101" pitchFamily="49" charset="-122"/>
              </a:rPr>
              <a:t>热机循环（正循环）</a:t>
            </a:r>
            <a:endParaRPr lang="zh-CN" altLang="en-US" sz="2400" b="1"/>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507"/>
                                        </p:tgtEl>
                                        <p:attrNameLst>
                                          <p:attrName>style.visibility</p:attrName>
                                        </p:attrNameLst>
                                      </p:cBhvr>
                                      <p:to>
                                        <p:strVal val="visible"/>
                                      </p:to>
                                    </p:set>
                                    <p:animEffect transition="in" filter="blinds(horizontal)">
                                      <p:cBhvr>
                                        <p:cTn id="7" dur="500"/>
                                        <p:tgtEl>
                                          <p:spTgt spid="10650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6506"/>
                                        </p:tgtEl>
                                        <p:attrNameLst>
                                          <p:attrName>style.visibility</p:attrName>
                                        </p:attrNameLst>
                                      </p:cBhvr>
                                      <p:to>
                                        <p:strVal val="visible"/>
                                      </p:to>
                                    </p:set>
                                    <p:animEffect transition="in" filter="blinds(horizontal)">
                                      <p:cBhvr>
                                        <p:cTn id="12" dur="500"/>
                                        <p:tgtEl>
                                          <p:spTgt spid="10650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06511"/>
                                        </p:tgtEl>
                                        <p:attrNameLst>
                                          <p:attrName>style.visibility</p:attrName>
                                        </p:attrNameLst>
                                      </p:cBhvr>
                                      <p:to>
                                        <p:strVal val="visible"/>
                                      </p:to>
                                    </p:set>
                                    <p:animEffect transition="in" filter="blinds(horizontal)">
                                      <p:cBhvr>
                                        <p:cTn id="15" dur="500"/>
                                        <p:tgtEl>
                                          <p:spTgt spid="106511"/>
                                        </p:tgtEl>
                                      </p:cBhvr>
                                    </p:animEffect>
                                  </p:childTnLst>
                                </p:cTn>
                              </p:par>
                              <p:par>
                                <p:cTn id="16" presetID="3" presetClass="entr" presetSubtype="10" fill="hold" nodeType="withEffect">
                                  <p:stCondLst>
                                    <p:cond delay="0"/>
                                  </p:stCondLst>
                                  <p:childTnLst>
                                    <p:set>
                                      <p:cBhvr>
                                        <p:cTn id="17" dur="1" fill="hold">
                                          <p:stCondLst>
                                            <p:cond delay="0"/>
                                          </p:stCondLst>
                                        </p:cTn>
                                        <p:tgtEl>
                                          <p:spTgt spid="106514"/>
                                        </p:tgtEl>
                                        <p:attrNameLst>
                                          <p:attrName>style.visibility</p:attrName>
                                        </p:attrNameLst>
                                      </p:cBhvr>
                                      <p:to>
                                        <p:strVal val="visible"/>
                                      </p:to>
                                    </p:set>
                                    <p:animEffect transition="in" filter="blinds(horizontal)">
                                      <p:cBhvr>
                                        <p:cTn id="18" dur="500"/>
                                        <p:tgtEl>
                                          <p:spTgt spid="106514"/>
                                        </p:tgtEl>
                                      </p:cBhvr>
                                    </p:animEffect>
                                  </p:childTnLst>
                                </p:cTn>
                              </p:par>
                              <p:par>
                                <p:cTn id="19" presetID="3" presetClass="entr" presetSubtype="10" fill="hold" nodeType="withEffect">
                                  <p:stCondLst>
                                    <p:cond delay="0"/>
                                  </p:stCondLst>
                                  <p:childTnLst>
                                    <p:set>
                                      <p:cBhvr>
                                        <p:cTn id="20" dur="1" fill="hold">
                                          <p:stCondLst>
                                            <p:cond delay="0"/>
                                          </p:stCondLst>
                                        </p:cTn>
                                        <p:tgtEl>
                                          <p:spTgt spid="106515"/>
                                        </p:tgtEl>
                                        <p:attrNameLst>
                                          <p:attrName>style.visibility</p:attrName>
                                        </p:attrNameLst>
                                      </p:cBhvr>
                                      <p:to>
                                        <p:strVal val="visible"/>
                                      </p:to>
                                    </p:set>
                                    <p:animEffect transition="in" filter="blinds(horizontal)">
                                      <p:cBhvr>
                                        <p:cTn id="21" dur="500"/>
                                        <p:tgtEl>
                                          <p:spTgt spid="10651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6513"/>
                                        </p:tgtEl>
                                        <p:attrNameLst>
                                          <p:attrName>style.visibility</p:attrName>
                                        </p:attrNameLst>
                                      </p:cBhvr>
                                      <p:to>
                                        <p:strVal val="visible"/>
                                      </p:to>
                                    </p:set>
                                    <p:animEffect transition="in" filter="blinds(horizontal)">
                                      <p:cBhvr>
                                        <p:cTn id="24" dur="500"/>
                                        <p:tgtEl>
                                          <p:spTgt spid="10651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06519"/>
                                        </p:tgtEl>
                                        <p:attrNameLst>
                                          <p:attrName>style.visibility</p:attrName>
                                        </p:attrNameLst>
                                      </p:cBhvr>
                                      <p:to>
                                        <p:strVal val="visible"/>
                                      </p:to>
                                    </p:set>
                                    <p:animEffect transition="in" filter="blinds(horizontal)">
                                      <p:cBhvr>
                                        <p:cTn id="27" dur="500"/>
                                        <p:tgtEl>
                                          <p:spTgt spid="106519"/>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06522"/>
                                        </p:tgtEl>
                                        <p:attrNameLst>
                                          <p:attrName>style.visibility</p:attrName>
                                        </p:attrNameLst>
                                      </p:cBhvr>
                                      <p:to>
                                        <p:strVal val="visible"/>
                                      </p:to>
                                    </p:set>
                                    <p:animEffect transition="in" filter="blinds(horizontal)">
                                      <p:cBhvr>
                                        <p:cTn id="30" dur="500"/>
                                        <p:tgtEl>
                                          <p:spTgt spid="106522"/>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06521"/>
                                        </p:tgtEl>
                                        <p:attrNameLst>
                                          <p:attrName>style.visibility</p:attrName>
                                        </p:attrNameLst>
                                      </p:cBhvr>
                                      <p:to>
                                        <p:strVal val="visible"/>
                                      </p:to>
                                    </p:set>
                                    <p:animEffect transition="in" filter="blinds(horizontal)">
                                      <p:cBhvr>
                                        <p:cTn id="33" dur="500"/>
                                        <p:tgtEl>
                                          <p:spTgt spid="106521"/>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06517"/>
                                        </p:tgtEl>
                                        <p:attrNameLst>
                                          <p:attrName>style.visibility</p:attrName>
                                        </p:attrNameLst>
                                      </p:cBhvr>
                                      <p:to>
                                        <p:strVal val="visible"/>
                                      </p:to>
                                    </p:set>
                                    <p:animEffect transition="in" filter="blinds(horizontal)">
                                      <p:cBhvr>
                                        <p:cTn id="36" dur="500"/>
                                        <p:tgtEl>
                                          <p:spTgt spid="106517"/>
                                        </p:tgtEl>
                                      </p:cBhvr>
                                    </p:animEffect>
                                  </p:childTnLst>
                                </p:cTn>
                              </p:par>
                              <p:par>
                                <p:cTn id="37" presetID="31" presetClass="entr" presetSubtype="0" fill="hold" grpId="0" nodeType="withEffect">
                                  <p:stCondLst>
                                    <p:cond delay="0"/>
                                  </p:stCondLst>
                                  <p:iterate type="lt">
                                    <p:tmPct val="5000"/>
                                  </p:iterate>
                                  <p:childTnLst>
                                    <p:set>
                                      <p:cBhvr>
                                        <p:cTn id="38" dur="1" fill="hold">
                                          <p:stCondLst>
                                            <p:cond delay="0"/>
                                          </p:stCondLst>
                                        </p:cTn>
                                        <p:tgtEl>
                                          <p:spTgt spid="106523"/>
                                        </p:tgtEl>
                                        <p:attrNameLst>
                                          <p:attrName>style.visibility</p:attrName>
                                        </p:attrNameLst>
                                      </p:cBhvr>
                                      <p:to>
                                        <p:strVal val="visible"/>
                                      </p:to>
                                    </p:set>
                                    <p:anim calcmode="lin" valueType="num">
                                      <p:cBhvr>
                                        <p:cTn id="39" dur="500" fill="hold"/>
                                        <p:tgtEl>
                                          <p:spTgt spid="106523"/>
                                        </p:tgtEl>
                                        <p:attrNameLst>
                                          <p:attrName>ppt_w</p:attrName>
                                        </p:attrNameLst>
                                      </p:cBhvr>
                                      <p:tavLst>
                                        <p:tav tm="0">
                                          <p:val>
                                            <p:fltVal val="0"/>
                                          </p:val>
                                        </p:tav>
                                        <p:tav tm="100000">
                                          <p:val>
                                            <p:strVal val="#ppt_w"/>
                                          </p:val>
                                        </p:tav>
                                      </p:tavLst>
                                    </p:anim>
                                    <p:anim calcmode="lin" valueType="num">
                                      <p:cBhvr>
                                        <p:cTn id="40" dur="500" fill="hold"/>
                                        <p:tgtEl>
                                          <p:spTgt spid="106523"/>
                                        </p:tgtEl>
                                        <p:attrNameLst>
                                          <p:attrName>ppt_h</p:attrName>
                                        </p:attrNameLst>
                                      </p:cBhvr>
                                      <p:tavLst>
                                        <p:tav tm="0">
                                          <p:val>
                                            <p:fltVal val="0"/>
                                          </p:val>
                                        </p:tav>
                                        <p:tav tm="100000">
                                          <p:val>
                                            <p:strVal val="#ppt_h"/>
                                          </p:val>
                                        </p:tav>
                                      </p:tavLst>
                                    </p:anim>
                                    <p:anim calcmode="lin" valueType="num">
                                      <p:cBhvr>
                                        <p:cTn id="41" dur="500" fill="hold"/>
                                        <p:tgtEl>
                                          <p:spTgt spid="106523"/>
                                        </p:tgtEl>
                                        <p:attrNameLst>
                                          <p:attrName>style.rotation</p:attrName>
                                        </p:attrNameLst>
                                      </p:cBhvr>
                                      <p:tavLst>
                                        <p:tav tm="0">
                                          <p:val>
                                            <p:fltVal val="90"/>
                                          </p:val>
                                        </p:tav>
                                        <p:tav tm="100000">
                                          <p:val>
                                            <p:fltVal val="0"/>
                                          </p:val>
                                        </p:tav>
                                      </p:tavLst>
                                    </p:anim>
                                    <p:animEffect transition="in" filter="fade">
                                      <p:cBhvr>
                                        <p:cTn id="42" dur="500"/>
                                        <p:tgtEl>
                                          <p:spTgt spid="1065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6534"/>
                                        </p:tgtEl>
                                        <p:attrNameLst>
                                          <p:attrName>style.visibility</p:attrName>
                                        </p:attrNameLst>
                                      </p:cBhvr>
                                      <p:to>
                                        <p:strVal val="visible"/>
                                      </p:to>
                                    </p:set>
                                    <p:animEffect transition="in" filter="blinds(horizontal)">
                                      <p:cBhvr>
                                        <p:cTn id="47" dur="500"/>
                                        <p:tgtEl>
                                          <p:spTgt spid="106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6" grpId="0"/>
      <p:bldP spid="106507" grpId="0"/>
      <p:bldP spid="106511" grpId="0"/>
      <p:bldP spid="106513" grpId="0"/>
      <p:bldP spid="106517" grpId="0"/>
      <p:bldP spid="106519" grpId="0"/>
      <p:bldP spid="106521" grpId="0"/>
      <p:bldP spid="106522" grpId="0"/>
      <p:bldP spid="106523" grpId="0"/>
      <p:bldP spid="10653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Line 3"/>
          <p:cNvSpPr>
            <a:spLocks noChangeShapeType="1"/>
          </p:cNvSpPr>
          <p:nvPr/>
        </p:nvSpPr>
        <p:spPr bwMode="auto">
          <a:xfrm>
            <a:off x="1122363" y="3786188"/>
            <a:ext cx="3124200" cy="0"/>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1" name="Line 4"/>
          <p:cNvSpPr>
            <a:spLocks noChangeShapeType="1"/>
          </p:cNvSpPr>
          <p:nvPr/>
        </p:nvSpPr>
        <p:spPr bwMode="auto">
          <a:xfrm flipV="1">
            <a:off x="1122363" y="966788"/>
            <a:ext cx="0" cy="2819400"/>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2" name="Rectangle 5"/>
          <p:cNvSpPr>
            <a:spLocks noChangeArrowheads="1"/>
          </p:cNvSpPr>
          <p:nvPr/>
        </p:nvSpPr>
        <p:spPr bwMode="auto">
          <a:xfrm>
            <a:off x="551076" y="692150"/>
            <a:ext cx="4154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i="1" dirty="0">
                <a:latin typeface="Times New Roman" panose="02020603050405020304" pitchFamily="18" charset="0"/>
                <a:cs typeface="Times New Roman" panose="02020603050405020304" pitchFamily="18" charset="0"/>
              </a:rPr>
              <a:t>p</a:t>
            </a:r>
          </a:p>
        </p:txBody>
      </p:sp>
      <p:sp>
        <p:nvSpPr>
          <p:cNvPr id="89093" name="Rectangle 6"/>
          <p:cNvSpPr>
            <a:spLocks noChangeArrowheads="1"/>
          </p:cNvSpPr>
          <p:nvPr/>
        </p:nvSpPr>
        <p:spPr bwMode="auto">
          <a:xfrm>
            <a:off x="4035460" y="3721804"/>
            <a:ext cx="389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buNone/>
            </a:pPr>
            <a:r>
              <a:rPr lang="en-US" altLang="zh-CN" sz="3600" i="1" dirty="0" smtClean="0">
                <a:latin typeface="Times New Roman" panose="02020603050405020304" pitchFamily="18" charset="0"/>
                <a:cs typeface="Times New Roman" panose="02020603050405020304" pitchFamily="18" charset="0"/>
              </a:rPr>
              <a:t>v</a:t>
            </a:r>
            <a:endParaRPr lang="en-US" altLang="zh-CN" sz="3600" i="1" dirty="0">
              <a:latin typeface="Times New Roman" panose="02020603050405020304" pitchFamily="18" charset="0"/>
              <a:cs typeface="Times New Roman" panose="02020603050405020304" pitchFamily="18" charset="0"/>
            </a:endParaRPr>
          </a:p>
        </p:txBody>
      </p:sp>
      <p:sp>
        <p:nvSpPr>
          <p:cNvPr id="89094" name="Line 7"/>
          <p:cNvSpPr>
            <a:spLocks noChangeShapeType="1"/>
          </p:cNvSpPr>
          <p:nvPr/>
        </p:nvSpPr>
        <p:spPr bwMode="auto">
          <a:xfrm>
            <a:off x="5084763" y="3813175"/>
            <a:ext cx="3124200" cy="0"/>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5" name="Line 8"/>
          <p:cNvSpPr>
            <a:spLocks noChangeShapeType="1"/>
          </p:cNvSpPr>
          <p:nvPr/>
        </p:nvSpPr>
        <p:spPr bwMode="auto">
          <a:xfrm flipV="1">
            <a:off x="5084763" y="993775"/>
            <a:ext cx="0" cy="2819400"/>
          </a:xfrm>
          <a:prstGeom prst="line">
            <a:avLst/>
          </a:prstGeom>
          <a:noFill/>
          <a:ln w="1905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096" name="Rectangle 9"/>
          <p:cNvSpPr>
            <a:spLocks noChangeArrowheads="1"/>
          </p:cNvSpPr>
          <p:nvPr/>
        </p:nvSpPr>
        <p:spPr bwMode="auto">
          <a:xfrm>
            <a:off x="4500652" y="692150"/>
            <a:ext cx="44114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buNone/>
            </a:pPr>
            <a:r>
              <a:rPr lang="en-US" altLang="zh-CN" sz="3600" i="1" dirty="0">
                <a:latin typeface="Times New Roman" panose="02020603050405020304" pitchFamily="18" charset="0"/>
                <a:cs typeface="Times New Roman" panose="02020603050405020304" pitchFamily="18" charset="0"/>
              </a:rPr>
              <a:t>T</a:t>
            </a:r>
          </a:p>
        </p:txBody>
      </p:sp>
      <p:sp>
        <p:nvSpPr>
          <p:cNvPr id="89097" name="Rectangle 10"/>
          <p:cNvSpPr>
            <a:spLocks noChangeArrowheads="1"/>
          </p:cNvSpPr>
          <p:nvPr/>
        </p:nvSpPr>
        <p:spPr bwMode="auto">
          <a:xfrm>
            <a:off x="7937962" y="3716338"/>
            <a:ext cx="3642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buNone/>
            </a:pPr>
            <a:r>
              <a:rPr lang="en-US" altLang="zh-CN" sz="3600" i="1" dirty="0" smtClean="0">
                <a:latin typeface="Times New Roman" panose="02020603050405020304" pitchFamily="18" charset="0"/>
                <a:cs typeface="Times New Roman" panose="02020603050405020304" pitchFamily="18" charset="0"/>
              </a:rPr>
              <a:t>s</a:t>
            </a:r>
            <a:endParaRPr lang="en-US" altLang="zh-CN" sz="3600" i="1" dirty="0">
              <a:latin typeface="Times New Roman" panose="02020603050405020304" pitchFamily="18" charset="0"/>
              <a:cs typeface="Times New Roman" panose="02020603050405020304" pitchFamily="18" charset="0"/>
            </a:endParaRPr>
          </a:p>
        </p:txBody>
      </p:sp>
      <p:sp>
        <p:nvSpPr>
          <p:cNvPr id="89098" name="Oval 14"/>
          <p:cNvSpPr>
            <a:spLocks noChangeArrowheads="1"/>
          </p:cNvSpPr>
          <p:nvPr/>
        </p:nvSpPr>
        <p:spPr bwMode="auto">
          <a:xfrm rot="2160000">
            <a:off x="1450975" y="1817688"/>
            <a:ext cx="2819400" cy="1066800"/>
          </a:xfrm>
          <a:prstGeom prst="ellipse">
            <a:avLst/>
          </a:prstGeom>
          <a:noFill/>
          <a:ln w="25400" cap="sq">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endParaRPr lang="zh-CN" altLang="zh-CN" sz="2800">
              <a:solidFill>
                <a:srgbClr val="66FF33"/>
              </a:solidFill>
              <a:ea typeface="黑体" panose="02010609060101010101" pitchFamily="49" charset="-122"/>
            </a:endParaRPr>
          </a:p>
        </p:txBody>
      </p:sp>
      <p:sp>
        <p:nvSpPr>
          <p:cNvPr id="89099" name="Rectangle 15"/>
          <p:cNvSpPr>
            <a:spLocks noChangeArrowheads="1"/>
          </p:cNvSpPr>
          <p:nvPr/>
        </p:nvSpPr>
        <p:spPr bwMode="auto">
          <a:xfrm>
            <a:off x="3929063" y="3101975"/>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a:t>2</a:t>
            </a:r>
          </a:p>
        </p:txBody>
      </p:sp>
      <p:sp>
        <p:nvSpPr>
          <p:cNvPr id="89100" name="Rectangle 16"/>
          <p:cNvSpPr>
            <a:spLocks noChangeArrowheads="1"/>
          </p:cNvSpPr>
          <p:nvPr/>
        </p:nvSpPr>
        <p:spPr bwMode="auto">
          <a:xfrm>
            <a:off x="1376363" y="968375"/>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a:t>1</a:t>
            </a:r>
          </a:p>
        </p:txBody>
      </p:sp>
      <p:sp>
        <p:nvSpPr>
          <p:cNvPr id="89101" name="Oval 17"/>
          <p:cNvSpPr>
            <a:spLocks noChangeArrowheads="1"/>
          </p:cNvSpPr>
          <p:nvPr/>
        </p:nvSpPr>
        <p:spPr bwMode="auto">
          <a:xfrm rot="8880000">
            <a:off x="5541963" y="1755775"/>
            <a:ext cx="2819400" cy="1066800"/>
          </a:xfrm>
          <a:prstGeom prst="ellipse">
            <a:avLst/>
          </a:prstGeom>
          <a:noFill/>
          <a:ln w="25400" cap="sq">
            <a:solidFill>
              <a:srgbClr val="008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endParaRPr lang="zh-CN" altLang="zh-CN" sz="1600" b="1"/>
          </a:p>
        </p:txBody>
      </p:sp>
      <p:sp>
        <p:nvSpPr>
          <p:cNvPr id="89102" name="Rectangle 18"/>
          <p:cNvSpPr>
            <a:spLocks noChangeArrowheads="1"/>
          </p:cNvSpPr>
          <p:nvPr/>
        </p:nvSpPr>
        <p:spPr bwMode="auto">
          <a:xfrm>
            <a:off x="5300663" y="2949575"/>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a:t>1</a:t>
            </a:r>
          </a:p>
        </p:txBody>
      </p:sp>
      <p:sp>
        <p:nvSpPr>
          <p:cNvPr id="89103" name="Rectangle 19"/>
          <p:cNvSpPr>
            <a:spLocks noChangeArrowheads="1"/>
          </p:cNvSpPr>
          <p:nvPr/>
        </p:nvSpPr>
        <p:spPr bwMode="auto">
          <a:xfrm>
            <a:off x="8240713" y="1120775"/>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3600"/>
              <a:t>2</a:t>
            </a:r>
          </a:p>
        </p:txBody>
      </p:sp>
      <p:sp>
        <p:nvSpPr>
          <p:cNvPr id="89104" name="Line 20"/>
          <p:cNvSpPr>
            <a:spLocks noChangeAspect="1" noChangeShapeType="1"/>
          </p:cNvSpPr>
          <p:nvPr/>
        </p:nvSpPr>
        <p:spPr bwMode="auto">
          <a:xfrm rot="376334" flipH="1" flipV="1">
            <a:off x="3008313" y="1822450"/>
            <a:ext cx="346075" cy="230188"/>
          </a:xfrm>
          <a:prstGeom prst="line">
            <a:avLst/>
          </a:prstGeom>
          <a:noFill/>
          <a:ln w="508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05" name="Line 21"/>
          <p:cNvSpPr>
            <a:spLocks noChangeShapeType="1"/>
          </p:cNvSpPr>
          <p:nvPr/>
        </p:nvSpPr>
        <p:spPr bwMode="auto">
          <a:xfrm rot="-203848">
            <a:off x="2549525" y="2776538"/>
            <a:ext cx="341313" cy="230187"/>
          </a:xfrm>
          <a:prstGeom prst="line">
            <a:avLst/>
          </a:prstGeom>
          <a:noFill/>
          <a:ln w="508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06" name="Line 22"/>
          <p:cNvSpPr>
            <a:spLocks noChangeShapeType="1"/>
          </p:cNvSpPr>
          <p:nvPr/>
        </p:nvSpPr>
        <p:spPr bwMode="auto">
          <a:xfrm flipH="1">
            <a:off x="6569075" y="1684338"/>
            <a:ext cx="346075" cy="230187"/>
          </a:xfrm>
          <a:prstGeom prst="line">
            <a:avLst/>
          </a:prstGeom>
          <a:noFill/>
          <a:ln w="508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07" name="Line 23"/>
          <p:cNvSpPr>
            <a:spLocks noChangeAspect="1" noChangeShapeType="1"/>
          </p:cNvSpPr>
          <p:nvPr/>
        </p:nvSpPr>
        <p:spPr bwMode="auto">
          <a:xfrm flipV="1">
            <a:off x="7008813" y="2655888"/>
            <a:ext cx="346075" cy="230187"/>
          </a:xfrm>
          <a:prstGeom prst="line">
            <a:avLst/>
          </a:prstGeom>
          <a:noFill/>
          <a:ln w="508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108" name="矩形 337944"/>
          <p:cNvSpPr>
            <a:spLocks noChangeArrowheads="1"/>
          </p:cNvSpPr>
          <p:nvPr/>
        </p:nvSpPr>
        <p:spPr bwMode="auto">
          <a:xfrm>
            <a:off x="684213" y="4868863"/>
            <a:ext cx="75422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latin typeface="Times New Roman" panose="02020603050405020304" pitchFamily="18" charset="0"/>
                <a:ea typeface="黑体" panose="02010609060101010101" pitchFamily="49" charset="-122"/>
              </a:rPr>
              <a:t>制冷循环或热泵循环（逆循环）的</a:t>
            </a:r>
            <a:r>
              <a:rPr lang="en-US" altLang="zh-CN" sz="2800" b="1" i="1">
                <a:latin typeface="Times New Roman" panose="02020603050405020304" pitchFamily="18" charset="0"/>
                <a:ea typeface="黑体" panose="02010609060101010101" pitchFamily="49" charset="-122"/>
              </a:rPr>
              <a:t>p-v</a:t>
            </a:r>
            <a:r>
              <a:rPr lang="zh-CN" altLang="en-US" sz="2800" b="1">
                <a:latin typeface="Times New Roman" panose="02020603050405020304" pitchFamily="18" charset="0"/>
                <a:ea typeface="黑体" panose="02010609060101010101" pitchFamily="49" charset="-122"/>
              </a:rPr>
              <a:t>图和</a:t>
            </a:r>
            <a:r>
              <a:rPr lang="en-US" altLang="zh-CN" sz="2800" b="1" i="1">
                <a:latin typeface="Times New Roman" panose="02020603050405020304" pitchFamily="18" charset="0"/>
                <a:ea typeface="黑体" panose="02010609060101010101" pitchFamily="49" charset="-122"/>
              </a:rPr>
              <a:t>T-s</a:t>
            </a:r>
            <a:r>
              <a:rPr lang="zh-CN" altLang="en-US" sz="2800" b="1">
                <a:latin typeface="Times New Roman" panose="02020603050405020304" pitchFamily="18" charset="0"/>
                <a:ea typeface="黑体" panose="02010609060101010101" pitchFamily="49" charset="-122"/>
              </a:rPr>
              <a:t>图</a:t>
            </a:r>
            <a:endParaRPr lang="zh-CN" altLang="en-US" sz="2800" b="1"/>
          </a:p>
        </p:txBody>
      </p:sp>
    </p:spTree>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6.6"/>
</p:tagLst>
</file>

<file path=ppt/tags/tag2.xml><?xml version="1.0" encoding="utf-8"?>
<p:tagLst xmlns:a="http://schemas.openxmlformats.org/drawingml/2006/main" xmlns:r="http://schemas.openxmlformats.org/officeDocument/2006/relationships" xmlns:p="http://schemas.openxmlformats.org/presentationml/2006/main">
  <p:tag name="TIMING" val="|8.3|6.4|5.6"/>
</p:tagLst>
</file>

<file path=ppt/tags/tag3.xml><?xml version="1.0" encoding="utf-8"?>
<p:tagLst xmlns:a="http://schemas.openxmlformats.org/drawingml/2006/main" xmlns:r="http://schemas.openxmlformats.org/officeDocument/2006/relationships" xmlns:p="http://schemas.openxmlformats.org/presentationml/2006/main">
  <p:tag name="TIMING" val="|12.7|15.3"/>
</p:tagLst>
</file>

<file path=ppt/tags/tag4.xml><?xml version="1.0" encoding="utf-8"?>
<p:tagLst xmlns:a="http://schemas.openxmlformats.org/drawingml/2006/main" xmlns:r="http://schemas.openxmlformats.org/officeDocument/2006/relationships" xmlns:p="http://schemas.openxmlformats.org/presentationml/2006/main">
  <p:tag name="TIMING" val="|1.7|17.9|6"/>
</p:tagLst>
</file>

<file path=ppt/tags/tag5.xml><?xml version="1.0" encoding="utf-8"?>
<p:tagLst xmlns:a="http://schemas.openxmlformats.org/drawingml/2006/main" xmlns:r="http://schemas.openxmlformats.org/officeDocument/2006/relationships" xmlns:p="http://schemas.openxmlformats.org/presentationml/2006/main">
  <p:tag name="TIMING" val="|4.8|30.1"/>
</p:tagLst>
</file>

<file path=ppt/tags/tag6.xml><?xml version="1.0" encoding="utf-8"?>
<p:tagLst xmlns:a="http://schemas.openxmlformats.org/drawingml/2006/main" xmlns:r="http://schemas.openxmlformats.org/officeDocument/2006/relationships" xmlns:p="http://schemas.openxmlformats.org/presentationml/2006/main">
  <p:tag name="TIMING" val="|6.6"/>
</p:tagLst>
</file>

<file path=ppt/tags/tag7.xml><?xml version="1.0" encoding="utf-8"?>
<p:tagLst xmlns:a="http://schemas.openxmlformats.org/drawingml/2006/main" xmlns:r="http://schemas.openxmlformats.org/officeDocument/2006/relationships" xmlns:p="http://schemas.openxmlformats.org/presentationml/2006/main">
  <p:tag name="TIMING" val="|3.6"/>
</p:tagLst>
</file>

<file path=ppt/tags/tag8.xml><?xml version="1.0" encoding="utf-8"?>
<p:tagLst xmlns:a="http://schemas.openxmlformats.org/drawingml/2006/main" xmlns:r="http://schemas.openxmlformats.org/officeDocument/2006/relationships" xmlns:p="http://schemas.openxmlformats.org/presentationml/2006/main">
  <p:tag name="TIMING" val="|9.1"/>
</p:tagLst>
</file>

<file path=ppt/tags/tag9.xml><?xml version="1.0" encoding="utf-8"?>
<p:tagLst xmlns:a="http://schemas.openxmlformats.org/drawingml/2006/main" xmlns:r="http://schemas.openxmlformats.org/officeDocument/2006/relationships" xmlns:p="http://schemas.openxmlformats.org/presentationml/2006/main">
  <p:tag name="TIMING" val="|8.8|5.9|3.2|8.3"/>
</p:tagLst>
</file>

<file path=ppt/tags/tag10.xml><?xml version="1.0" encoding="utf-8"?>
<p:tagLst xmlns:a="http://schemas.openxmlformats.org/drawingml/2006/main" xmlns:r="http://schemas.openxmlformats.org/officeDocument/2006/relationships" xmlns:p="http://schemas.openxmlformats.org/presentationml/2006/main">
  <p:tag name="TIMING" val="|15.1"/>
</p:tagLst>
</file>

<file path=ppt/tags/tag11.xml><?xml version="1.0" encoding="utf-8"?>
<p:tagLst xmlns:a="http://schemas.openxmlformats.org/drawingml/2006/main" xmlns:r="http://schemas.openxmlformats.org/officeDocument/2006/relationships" xmlns:p="http://schemas.openxmlformats.org/presentationml/2006/main">
  <p:tag name="TIMING" val="|77.4|8.9|33.4|36.4"/>
</p:tagLst>
</file>

<file path=ppt/tags/tag12.xml><?xml version="1.0" encoding="utf-8"?>
<p:tagLst xmlns:a="http://schemas.openxmlformats.org/drawingml/2006/main" xmlns:r="http://schemas.openxmlformats.org/officeDocument/2006/relationships" xmlns:p="http://schemas.openxmlformats.org/presentationml/2006/main">
  <p:tag name="TIMING" val="|43.9"/>
</p:tagLst>
</file>

<file path=ppt/tags/tag13.xml><?xml version="1.0" encoding="utf-8"?>
<p:tagLst xmlns:a="http://schemas.openxmlformats.org/drawingml/2006/main" xmlns:r="http://schemas.openxmlformats.org/officeDocument/2006/relationships" xmlns:p="http://schemas.openxmlformats.org/presentationml/2006/main">
  <p:tag name="TIMING" val="|29.9"/>
</p:tagLst>
</file>

<file path=ppt/tags/tag14.xml><?xml version="1.0" encoding="utf-8"?>
<p:tagLst xmlns:a="http://schemas.openxmlformats.org/drawingml/2006/main" xmlns:r="http://schemas.openxmlformats.org/officeDocument/2006/relationships" xmlns:p="http://schemas.openxmlformats.org/presentationml/2006/main">
  <p:tag name="TIMING" val="|40.1|10.2"/>
</p:tagLst>
</file>

<file path=ppt/tags/tag15.xml><?xml version="1.0" encoding="utf-8"?>
<p:tagLst xmlns:a="http://schemas.openxmlformats.org/drawingml/2006/main" xmlns:r="http://schemas.openxmlformats.org/officeDocument/2006/relationships" xmlns:p="http://schemas.openxmlformats.org/presentationml/2006/main">
  <p:tag name="TIMING" val="|36"/>
</p:tagLst>
</file>

<file path=ppt/tags/tag16.xml><?xml version="1.0" encoding="utf-8"?>
<p:tagLst xmlns:a="http://schemas.openxmlformats.org/drawingml/2006/main" xmlns:r="http://schemas.openxmlformats.org/officeDocument/2006/relationships" xmlns:p="http://schemas.openxmlformats.org/presentationml/2006/main">
  <p:tag name="TIMING" val="|37.1|2.4"/>
</p:tagLst>
</file>

<file path=ppt/tags/tag17.xml><?xml version="1.0" encoding="utf-8"?>
<p:tagLst xmlns:a="http://schemas.openxmlformats.org/drawingml/2006/main" xmlns:r="http://schemas.openxmlformats.org/officeDocument/2006/relationships" xmlns:p="http://schemas.openxmlformats.org/presentationml/2006/main">
  <p:tag name="TIMING" val="|4.5|1.7|0.9|0.5"/>
</p:tagLst>
</file>

<file path=ppt/tags/tag18.xml><?xml version="1.0" encoding="utf-8"?>
<p:tagLst xmlns:a="http://schemas.openxmlformats.org/drawingml/2006/main" xmlns:r="http://schemas.openxmlformats.org/officeDocument/2006/relationships" xmlns:p="http://schemas.openxmlformats.org/presentationml/2006/main">
  <p:tag name="TIMING" val="|32.1|7.2|37.9|10.2"/>
</p:tagLst>
</file>

<file path=ppt/tags/tag19.xml><?xml version="1.0" encoding="utf-8"?>
<p:tagLst xmlns:a="http://schemas.openxmlformats.org/drawingml/2006/main" xmlns:r="http://schemas.openxmlformats.org/officeDocument/2006/relationships" xmlns:p="http://schemas.openxmlformats.org/presentationml/2006/main">
  <p:tag name="TIMING" val="|10.7|15|28.8"/>
</p:tagLst>
</file>

<file path=ppt/tags/tag20.xml><?xml version="1.0" encoding="utf-8"?>
<p:tagLst xmlns:a="http://schemas.openxmlformats.org/drawingml/2006/main" xmlns:r="http://schemas.openxmlformats.org/officeDocument/2006/relationships" xmlns:p="http://schemas.openxmlformats.org/presentationml/2006/main">
  <p:tag name="TIMING" val="|7.5|16.6|27.4|13.1"/>
</p:tagLst>
</file>

<file path=ppt/tags/tag21.xml><?xml version="1.0" encoding="utf-8"?>
<p:tagLst xmlns:a="http://schemas.openxmlformats.org/drawingml/2006/main" xmlns:r="http://schemas.openxmlformats.org/officeDocument/2006/relationships" xmlns:p="http://schemas.openxmlformats.org/presentationml/2006/main">
  <p:tag name="TIMING" val="|17.2|17"/>
</p:tagLst>
</file>

<file path=ppt/tags/tag22.xml><?xml version="1.0" encoding="utf-8"?>
<p:tagLst xmlns:a="http://schemas.openxmlformats.org/drawingml/2006/main" xmlns:r="http://schemas.openxmlformats.org/officeDocument/2006/relationships" xmlns:p="http://schemas.openxmlformats.org/presentationml/2006/main">
  <p:tag name="TIMING" val="|21.7|6.9|4.2"/>
</p:tagLst>
</file>

<file path=ppt/tags/tag23.xml><?xml version="1.0" encoding="utf-8"?>
<p:tagLst xmlns:a="http://schemas.openxmlformats.org/drawingml/2006/main" xmlns:r="http://schemas.openxmlformats.org/officeDocument/2006/relationships" xmlns:p="http://schemas.openxmlformats.org/presentationml/2006/main">
  <p:tag name="TIMING" val="|19"/>
</p:tagLst>
</file>

<file path=ppt/tags/tag24.xml><?xml version="1.0" encoding="utf-8"?>
<p:tagLst xmlns:a="http://schemas.openxmlformats.org/drawingml/2006/main" xmlns:r="http://schemas.openxmlformats.org/officeDocument/2006/relationships" xmlns:p="http://schemas.openxmlformats.org/presentationml/2006/main">
  <p:tag name="TIMING" val="|15.8|10.9|22.6|25.7|1.6"/>
</p:tagLst>
</file>

<file path=ppt/tags/tag25.xml><?xml version="1.0" encoding="utf-8"?>
<p:tagLst xmlns:a="http://schemas.openxmlformats.org/drawingml/2006/main" xmlns:r="http://schemas.openxmlformats.org/officeDocument/2006/relationships" xmlns:p="http://schemas.openxmlformats.org/presentationml/2006/main">
  <p:tag name="TIMING" val="|90.5"/>
</p:tagLst>
</file>

<file path=ppt/tags/tag26.xml><?xml version="1.0" encoding="utf-8"?>
<p:tagLst xmlns:a="http://schemas.openxmlformats.org/drawingml/2006/main" xmlns:r="http://schemas.openxmlformats.org/officeDocument/2006/relationships" xmlns:p="http://schemas.openxmlformats.org/presentationml/2006/main">
  <p:tag name="TIMING" val="|4.5|15.1"/>
</p:tagLst>
</file>

<file path=ppt/tags/tag27.xml><?xml version="1.0" encoding="utf-8"?>
<p:tagLst xmlns:a="http://schemas.openxmlformats.org/drawingml/2006/main" xmlns:r="http://schemas.openxmlformats.org/officeDocument/2006/relationships" xmlns:p="http://schemas.openxmlformats.org/presentationml/2006/main">
  <p:tag name="TIMING" val="|15.2|26.8|11.4"/>
</p:tagLst>
</file>

<file path=ppt/tags/tag28.xml><?xml version="1.0" encoding="utf-8"?>
<p:tagLst xmlns:a="http://schemas.openxmlformats.org/drawingml/2006/main" xmlns:r="http://schemas.openxmlformats.org/officeDocument/2006/relationships" xmlns:p="http://schemas.openxmlformats.org/presentationml/2006/main">
  <p:tag name="TIMING" val="|3.7|10.2|2|10"/>
</p:tagLst>
</file>

<file path=ppt/tags/tag29.xml><?xml version="1.0" encoding="utf-8"?>
<p:tagLst xmlns:a="http://schemas.openxmlformats.org/drawingml/2006/main" xmlns:r="http://schemas.openxmlformats.org/officeDocument/2006/relationships" xmlns:p="http://schemas.openxmlformats.org/presentationml/2006/main">
  <p:tag name="TIMING" val="|26.8|14.9|26.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4018</Words>
  <Application>Microsoft Office PowerPoint</Application>
  <PresentationFormat>全屏显示(4:3)</PresentationFormat>
  <Paragraphs>413</Paragraphs>
  <Slides>84</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84</vt:i4>
      </vt:variant>
    </vt:vector>
  </HeadingPairs>
  <TitlesOfParts>
    <vt:vector size="100" baseType="lpstr">
      <vt:lpstr>等线</vt:lpstr>
      <vt:lpstr>黑体</vt:lpstr>
      <vt:lpstr>楷体_GB2312</vt:lpstr>
      <vt:lpstr>隶书</vt:lpstr>
      <vt:lpstr>宋体</vt:lpstr>
      <vt:lpstr>幼圆</vt:lpstr>
      <vt:lpstr>Arial</vt:lpstr>
      <vt:lpstr>Symbol</vt:lpstr>
      <vt:lpstr>Tahoma</vt:lpstr>
      <vt:lpstr>Times New Roman</vt:lpstr>
      <vt:lpstr>Webdings</vt:lpstr>
      <vt:lpstr>Wingdings</vt:lpstr>
      <vt:lpstr>Office 主题</vt:lpstr>
      <vt:lpstr>Bitmap Image</vt:lpstr>
      <vt:lpstr>MathType 5.0 Equation</vt:lpstr>
      <vt:lpstr>Microsoft 公式 3.0</vt:lpstr>
      <vt:lpstr>01　基本概念</vt:lpstr>
      <vt:lpstr>§1－1　热力系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再介绍两个工程热力学常见的闭口系：</vt:lpstr>
      <vt:lpstr>PowerPoint 演示文稿</vt:lpstr>
      <vt:lpstr>PowerPoint 演示文稿</vt:lpstr>
      <vt:lpstr>PowerPoint 演示文稿</vt:lpstr>
      <vt:lpstr>1－2  热力系的描述</vt:lpstr>
      <vt:lpstr>一、热力学状态、平衡状态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“平衡状态”和“均匀状态”</vt:lpstr>
      <vt:lpstr>“平衡状态”和“稳定状态”</vt:lpstr>
      <vt:lpstr>二、状态参数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三、比体积和密度</vt:lpstr>
      <vt:lpstr>1－4 状态公理</vt:lpstr>
      <vt:lpstr>PowerPoint 演示文稿</vt:lpstr>
      <vt:lpstr>PowerPoint 演示文稿</vt:lpstr>
      <vt:lpstr>PowerPoint 演示文稿</vt:lpstr>
      <vt:lpstr>特别指出</vt:lpstr>
      <vt:lpstr>PowerPoint 演示文稿</vt:lpstr>
      <vt:lpstr>PowerPoint 演示文稿</vt:lpstr>
      <vt:lpstr>1－5 状态方程式、热力状态坐标图</vt:lpstr>
      <vt:lpstr>PowerPoint 演示文稿</vt:lpstr>
      <vt:lpstr>PowerPoint 演示文稿</vt:lpstr>
      <vt:lpstr>PowerPoint 演示文稿</vt:lpstr>
      <vt:lpstr>1－6 热力过程 </vt:lpstr>
      <vt:lpstr>PowerPoint 演示文稿</vt:lpstr>
      <vt:lpstr>PowerPoint 演示文稿</vt:lpstr>
      <vt:lpstr>PowerPoint 演示文稿</vt:lpstr>
      <vt:lpstr>PowerPoint 演示文稿</vt:lpstr>
      <vt:lpstr>PowerPoint 演示文稿</vt:lpstr>
      <vt:lpstr>准平衡过程：可以设想但无法达到</vt:lpstr>
      <vt:lpstr>PowerPoint 演示文稿</vt:lpstr>
      <vt:lpstr>PowerPoint 演示文稿</vt:lpstr>
      <vt:lpstr>PowerPoint 演示文稿</vt:lpstr>
      <vt:lpstr>对以上内容小结：</vt:lpstr>
      <vt:lpstr>PowerPoint 演示文稿</vt:lpstr>
      <vt:lpstr>PowerPoint 演示文稿</vt:lpstr>
      <vt:lpstr>PowerPoint 演示文稿</vt:lpstr>
      <vt:lpstr>典型的不可逆过程</vt:lpstr>
      <vt:lpstr>典型的不可逆过程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第15讲  实际气体的性质</dc:title>
  <dc:creator>jing wu</dc:creator>
  <cp:lastModifiedBy>jingwu</cp:lastModifiedBy>
  <cp:revision>51</cp:revision>
  <dcterms:created xsi:type="dcterms:W3CDTF">2020-05-28T02:02:00Z</dcterms:created>
  <dcterms:modified xsi:type="dcterms:W3CDTF">2020-10-01T07:45:56Z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