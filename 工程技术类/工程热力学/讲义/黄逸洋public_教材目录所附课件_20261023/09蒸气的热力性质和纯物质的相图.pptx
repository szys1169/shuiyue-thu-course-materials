
<file path=[Content_Types].xml><?xml version="1.0" encoding="utf-8"?>
<Types xmlns="http://schemas.openxmlformats.org/package/2006/content-types">
  <Default Extension="jpeg" ContentType="image/jpeg"/>
  <Default Extension="vml" ContentType="application/vnd.openxmlformats-officedocument.vmlDrawing"/>
  <Default Extension="bin" ContentType="application/vnd.openxmlformats-officedocument.oleObject"/>
  <Default Extension="emf" ContentType="image/x-emf"/>
  <Default Extension="wmf" ContentType="image/x-w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8"/>
  </p:notesMasterIdLst>
  <p:handoutMasterIdLst>
    <p:handoutMasterId r:id="rId99"/>
  </p:handoutMasterIdLst>
  <p:sldIdLst>
    <p:sldId id="257" r:id="rId3"/>
    <p:sldId id="258" r:id="rId4"/>
    <p:sldId id="259" r:id="rId5"/>
    <p:sldId id="261" r:id="rId6"/>
    <p:sldId id="262" r:id="rId7"/>
    <p:sldId id="263" r:id="rId8"/>
    <p:sldId id="269" r:id="rId9"/>
    <p:sldId id="270" r:id="rId10"/>
    <p:sldId id="271" r:id="rId11"/>
    <p:sldId id="264" r:id="rId12"/>
    <p:sldId id="265" r:id="rId13"/>
    <p:sldId id="266" r:id="rId14"/>
    <p:sldId id="267" r:id="rId15"/>
    <p:sldId id="268"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03" r:id="rId48"/>
    <p:sldId id="304" r:id="rId49"/>
    <p:sldId id="305" r:id="rId50"/>
    <p:sldId id="306" r:id="rId51"/>
    <p:sldId id="307" r:id="rId52"/>
    <p:sldId id="308" r:id="rId53"/>
    <p:sldId id="309" r:id="rId54"/>
    <p:sldId id="353" r:id="rId55"/>
    <p:sldId id="311" r:id="rId56"/>
    <p:sldId id="312" r:id="rId57"/>
    <p:sldId id="313" r:id="rId58"/>
    <p:sldId id="314" r:id="rId59"/>
    <p:sldId id="315" r:id="rId60"/>
    <p:sldId id="316" r:id="rId61"/>
    <p:sldId id="317" r:id="rId62"/>
    <p:sldId id="318" r:id="rId63"/>
    <p:sldId id="319" r:id="rId64"/>
    <p:sldId id="320" r:id="rId65"/>
    <p:sldId id="321" r:id="rId66"/>
    <p:sldId id="322" r:id="rId67"/>
    <p:sldId id="323" r:id="rId68"/>
    <p:sldId id="324" r:id="rId69"/>
    <p:sldId id="325" r:id="rId70"/>
    <p:sldId id="326" r:id="rId71"/>
    <p:sldId id="327" r:id="rId72"/>
    <p:sldId id="328" r:id="rId73"/>
    <p:sldId id="329" r:id="rId74"/>
    <p:sldId id="330" r:id="rId75"/>
    <p:sldId id="331" r:id="rId76"/>
    <p:sldId id="332" r:id="rId77"/>
    <p:sldId id="333" r:id="rId78"/>
    <p:sldId id="334" r:id="rId79"/>
    <p:sldId id="335" r:id="rId80"/>
    <p:sldId id="336" r:id="rId81"/>
    <p:sldId id="337" r:id="rId82"/>
    <p:sldId id="338" r:id="rId83"/>
    <p:sldId id="339" r:id="rId84"/>
    <p:sldId id="340" r:id="rId85"/>
    <p:sldId id="341" r:id="rId86"/>
    <p:sldId id="342" r:id="rId87"/>
    <p:sldId id="343" r:id="rId88"/>
    <p:sldId id="344" r:id="rId89"/>
    <p:sldId id="345" r:id="rId90"/>
    <p:sldId id="346" r:id="rId91"/>
    <p:sldId id="347" r:id="rId92"/>
    <p:sldId id="348" r:id="rId93"/>
    <p:sldId id="349" r:id="rId94"/>
    <p:sldId id="350" r:id="rId95"/>
    <p:sldId id="351" r:id="rId96"/>
    <p:sldId id="352" r:id="rId97"/>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96" d="100"/>
          <a:sy n="96" d="100"/>
        </p:scale>
        <p:origin x="808"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handoutMaster" Target="handoutMasters/handoutMaster1.xml"/><Relationship Id="rId98" Type="http://schemas.openxmlformats.org/officeDocument/2006/relationships/notesMaster" Target="notesMasters/notesMaster1.xml"/><Relationship Id="rId97" Type="http://schemas.openxmlformats.org/officeDocument/2006/relationships/slide" Target="slides/slide95.xml"/><Relationship Id="rId96" Type="http://schemas.openxmlformats.org/officeDocument/2006/relationships/slide" Target="slides/slide94.xml"/><Relationship Id="rId95" Type="http://schemas.openxmlformats.org/officeDocument/2006/relationships/slide" Target="slides/slide93.xml"/><Relationship Id="rId94" Type="http://schemas.openxmlformats.org/officeDocument/2006/relationships/slide" Target="slides/slide92.xml"/><Relationship Id="rId93" Type="http://schemas.openxmlformats.org/officeDocument/2006/relationships/slide" Target="slides/slide91.xml"/><Relationship Id="rId92" Type="http://schemas.openxmlformats.org/officeDocument/2006/relationships/slide" Target="slides/slide90.xml"/><Relationship Id="rId91" Type="http://schemas.openxmlformats.org/officeDocument/2006/relationships/slide" Target="slides/slide89.xml"/><Relationship Id="rId90" Type="http://schemas.openxmlformats.org/officeDocument/2006/relationships/slide" Target="slides/slide88.xml"/><Relationship Id="rId9" Type="http://schemas.openxmlformats.org/officeDocument/2006/relationships/slide" Target="slides/slide7.xml"/><Relationship Id="rId89" Type="http://schemas.openxmlformats.org/officeDocument/2006/relationships/slide" Target="slides/slide87.xml"/><Relationship Id="rId88" Type="http://schemas.openxmlformats.org/officeDocument/2006/relationships/slide" Target="slides/slide86.xml"/><Relationship Id="rId87" Type="http://schemas.openxmlformats.org/officeDocument/2006/relationships/slide" Target="slides/slide85.xml"/><Relationship Id="rId86" Type="http://schemas.openxmlformats.org/officeDocument/2006/relationships/slide" Target="slides/slide84.xml"/><Relationship Id="rId85" Type="http://schemas.openxmlformats.org/officeDocument/2006/relationships/slide" Target="slides/slide83.xml"/><Relationship Id="rId84" Type="http://schemas.openxmlformats.org/officeDocument/2006/relationships/slide" Target="slides/slide82.xml"/><Relationship Id="rId83" Type="http://schemas.openxmlformats.org/officeDocument/2006/relationships/slide" Target="slides/slide81.xml"/><Relationship Id="rId82" Type="http://schemas.openxmlformats.org/officeDocument/2006/relationships/slide" Target="slides/slide80.xml"/><Relationship Id="rId81" Type="http://schemas.openxmlformats.org/officeDocument/2006/relationships/slide" Target="slides/slide79.xml"/><Relationship Id="rId80" Type="http://schemas.openxmlformats.org/officeDocument/2006/relationships/slide" Target="slides/slide78.xml"/><Relationship Id="rId8" Type="http://schemas.openxmlformats.org/officeDocument/2006/relationships/slide" Target="slides/slide6.xml"/><Relationship Id="rId79" Type="http://schemas.openxmlformats.org/officeDocument/2006/relationships/slide" Target="slides/slide77.xml"/><Relationship Id="rId78" Type="http://schemas.openxmlformats.org/officeDocument/2006/relationships/slide" Target="slides/slide76.xml"/><Relationship Id="rId77" Type="http://schemas.openxmlformats.org/officeDocument/2006/relationships/slide" Target="slides/slide75.xml"/><Relationship Id="rId76" Type="http://schemas.openxmlformats.org/officeDocument/2006/relationships/slide" Target="slides/slide74.xml"/><Relationship Id="rId75" Type="http://schemas.openxmlformats.org/officeDocument/2006/relationships/slide" Target="slides/slide73.xml"/><Relationship Id="rId74" Type="http://schemas.openxmlformats.org/officeDocument/2006/relationships/slide" Target="slides/slide72.xml"/><Relationship Id="rId73" Type="http://schemas.openxmlformats.org/officeDocument/2006/relationships/slide" Target="slides/slide71.xml"/><Relationship Id="rId72" Type="http://schemas.openxmlformats.org/officeDocument/2006/relationships/slide" Target="slides/slide70.xml"/><Relationship Id="rId71" Type="http://schemas.openxmlformats.org/officeDocument/2006/relationships/slide" Target="slides/slide69.xml"/><Relationship Id="rId70" Type="http://schemas.openxmlformats.org/officeDocument/2006/relationships/slide" Target="slides/slide68.xml"/><Relationship Id="rId7" Type="http://schemas.openxmlformats.org/officeDocument/2006/relationships/slide" Target="slides/slide5.xml"/><Relationship Id="rId69" Type="http://schemas.openxmlformats.org/officeDocument/2006/relationships/slide" Target="slides/slide67.xml"/><Relationship Id="rId68" Type="http://schemas.openxmlformats.org/officeDocument/2006/relationships/slide" Target="slides/slide66.xml"/><Relationship Id="rId67" Type="http://schemas.openxmlformats.org/officeDocument/2006/relationships/slide" Target="slides/slide65.xml"/><Relationship Id="rId66" Type="http://schemas.openxmlformats.org/officeDocument/2006/relationships/slide" Target="slides/slide64.xml"/><Relationship Id="rId65" Type="http://schemas.openxmlformats.org/officeDocument/2006/relationships/slide" Target="slides/slide63.xml"/><Relationship Id="rId64" Type="http://schemas.openxmlformats.org/officeDocument/2006/relationships/slide" Target="slides/slide62.xml"/><Relationship Id="rId63" Type="http://schemas.openxmlformats.org/officeDocument/2006/relationships/slide" Target="slides/slide61.xml"/><Relationship Id="rId62" Type="http://schemas.openxmlformats.org/officeDocument/2006/relationships/slide" Target="slides/slide60.xml"/><Relationship Id="rId61" Type="http://schemas.openxmlformats.org/officeDocument/2006/relationships/slide" Target="slides/slide59.xml"/><Relationship Id="rId60" Type="http://schemas.openxmlformats.org/officeDocument/2006/relationships/slide" Target="slides/slide58.xml"/><Relationship Id="rId6" Type="http://schemas.openxmlformats.org/officeDocument/2006/relationships/slide" Target="slides/slide4.xml"/><Relationship Id="rId59" Type="http://schemas.openxmlformats.org/officeDocument/2006/relationships/slide" Target="slides/slide57.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2" Type="http://schemas.openxmlformats.org/officeDocument/2006/relationships/tableStyles" Target="tableStyles.xml"/><Relationship Id="rId101" Type="http://schemas.openxmlformats.org/officeDocument/2006/relationships/viewProps" Target="viewProps.xml"/><Relationship Id="rId100" Type="http://schemas.openxmlformats.org/officeDocument/2006/relationships/presProps" Target="presProps.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5" Type="http://schemas.openxmlformats.org/officeDocument/2006/relationships/image" Target="../media/image7.wmf"/><Relationship Id="rId4" Type="http://schemas.openxmlformats.org/officeDocument/2006/relationships/image" Target="../media/image6.wmf"/><Relationship Id="rId3" Type="http://schemas.openxmlformats.org/officeDocument/2006/relationships/image" Target="../media/image5.wmf"/><Relationship Id="rId2" Type="http://schemas.openxmlformats.org/officeDocument/2006/relationships/image" Target="../media/image4.wmf"/><Relationship Id="rId1" Type="http://schemas.openxmlformats.org/officeDocument/2006/relationships/image" Target="../media/image3.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0.png"/></Relationships>
</file>

<file path=ppt/drawings/_rels/vmlDrawing7.vml.rels><?xml version="1.0" encoding="UTF-8" standalone="yes"?>
<Relationships xmlns="http://schemas.openxmlformats.org/package/2006/relationships"><Relationship Id="rId3" Type="http://schemas.openxmlformats.org/officeDocument/2006/relationships/image" Target="../media/image30.wmf"/><Relationship Id="rId2" Type="http://schemas.openxmlformats.org/officeDocument/2006/relationships/image" Target="../media/image29.wmf"/><Relationship Id="rId1" Type="http://schemas.openxmlformats.org/officeDocument/2006/relationships/image" Target="../media/image28.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49.wmf"/><Relationship Id="rId2" Type="http://schemas.openxmlformats.org/officeDocument/2006/relationships/image" Target="../media/image48.wmf"/><Relationship Id="rId1" Type="http://schemas.openxmlformats.org/officeDocument/2006/relationships/image" Target="../media/image47.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50.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59.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66.wmf"/></Relationships>
</file>

<file path=ppt/drawings/_rels/vmlDrawing12.vml.rels><?xml version="1.0" encoding="UTF-8" standalone="yes"?>
<Relationships xmlns="http://schemas.openxmlformats.org/package/2006/relationships"><Relationship Id="rId4" Type="http://schemas.openxmlformats.org/officeDocument/2006/relationships/image" Target="../media/image72.wmf"/><Relationship Id="rId3" Type="http://schemas.openxmlformats.org/officeDocument/2006/relationships/image" Target="../media/image71.wmf"/><Relationship Id="rId2" Type="http://schemas.openxmlformats.org/officeDocument/2006/relationships/image" Target="../media/image70.wmf"/><Relationship Id="rId1" Type="http://schemas.openxmlformats.org/officeDocument/2006/relationships/image" Target="../media/image69.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73.emf"/></Relationships>
</file>

<file path=ppt/drawings/_rels/vmlDrawing14.vml.rels><?xml version="1.0" encoding="UTF-8" standalone="yes"?>
<Relationships xmlns="http://schemas.openxmlformats.org/package/2006/relationships"><Relationship Id="rId2" Type="http://schemas.openxmlformats.org/officeDocument/2006/relationships/image" Target="../media/image78.wmf"/><Relationship Id="rId1" Type="http://schemas.openxmlformats.org/officeDocument/2006/relationships/image" Target="../media/image77.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79.emf"/></Relationships>
</file>

<file path=ppt/drawings/_rels/vmlDrawing16.vml.rels><?xml version="1.0" encoding="UTF-8" standalone="yes"?>
<Relationships xmlns="http://schemas.openxmlformats.org/package/2006/relationships"><Relationship Id="rId2" Type="http://schemas.openxmlformats.org/officeDocument/2006/relationships/image" Target="../media/image81.wmf"/><Relationship Id="rId1" Type="http://schemas.openxmlformats.org/officeDocument/2006/relationships/image" Target="../media/image80.wmf"/></Relationships>
</file>

<file path=ppt/drawings/_rels/vmlDrawing17.vml.rels><?xml version="1.0" encoding="UTF-8" standalone="yes"?>
<Relationships xmlns="http://schemas.openxmlformats.org/package/2006/relationships"><Relationship Id="rId4" Type="http://schemas.openxmlformats.org/officeDocument/2006/relationships/image" Target="../media/image85.wmf"/><Relationship Id="rId3" Type="http://schemas.openxmlformats.org/officeDocument/2006/relationships/image" Target="../media/image84.wmf"/><Relationship Id="rId2" Type="http://schemas.openxmlformats.org/officeDocument/2006/relationships/image" Target="../media/image83.wmf"/><Relationship Id="rId1" Type="http://schemas.openxmlformats.org/officeDocument/2006/relationships/image" Target="../media/image82.wmf"/></Relationships>
</file>

<file path=ppt/drawings/_rels/vmlDrawing18.vml.rels><?xml version="1.0" encoding="UTF-8" standalone="yes"?>
<Relationships xmlns="http://schemas.openxmlformats.org/package/2006/relationships"><Relationship Id="rId3" Type="http://schemas.openxmlformats.org/officeDocument/2006/relationships/image" Target="../media/image88.wmf"/><Relationship Id="rId2" Type="http://schemas.openxmlformats.org/officeDocument/2006/relationships/image" Target="../media/image87.wmf"/><Relationship Id="rId1" Type="http://schemas.openxmlformats.org/officeDocument/2006/relationships/image" Target="../media/image86.wmf"/></Relationships>
</file>

<file path=ppt/drawings/_rels/vmlDrawing19.vml.rels><?xml version="1.0" encoding="UTF-8" standalone="yes"?>
<Relationships xmlns="http://schemas.openxmlformats.org/package/2006/relationships"><Relationship Id="rId6" Type="http://schemas.openxmlformats.org/officeDocument/2006/relationships/image" Target="../media/image96.wmf"/><Relationship Id="rId5" Type="http://schemas.openxmlformats.org/officeDocument/2006/relationships/image" Target="../media/image95.wmf"/><Relationship Id="rId4" Type="http://schemas.openxmlformats.org/officeDocument/2006/relationships/image" Target="../media/image94.wmf"/><Relationship Id="rId3" Type="http://schemas.openxmlformats.org/officeDocument/2006/relationships/image" Target="../media/image93.wmf"/><Relationship Id="rId2" Type="http://schemas.openxmlformats.org/officeDocument/2006/relationships/image" Target="../media/image92.wmf"/><Relationship Id="rId1" Type="http://schemas.openxmlformats.org/officeDocument/2006/relationships/image" Target="../media/image91.wmf"/></Relationships>
</file>

<file path=ppt/drawings/_rels/vmlDrawing20.vml.rels><?xml version="1.0" encoding="UTF-8" standalone="yes"?>
<Relationships xmlns="http://schemas.openxmlformats.org/package/2006/relationships"><Relationship Id="rId4" Type="http://schemas.openxmlformats.org/officeDocument/2006/relationships/image" Target="../media/image101.wmf"/><Relationship Id="rId3" Type="http://schemas.openxmlformats.org/officeDocument/2006/relationships/image" Target="../media/image100.wmf"/><Relationship Id="rId2" Type="http://schemas.openxmlformats.org/officeDocument/2006/relationships/image" Target="../media/image99.wmf"/><Relationship Id="rId1" Type="http://schemas.openxmlformats.org/officeDocument/2006/relationships/image" Target="../media/image98.wmf"/></Relationships>
</file>

<file path=ppt/drawings/_rels/vmlDrawing21.vml.rels><?xml version="1.0" encoding="UTF-8" standalone="yes"?>
<Relationships xmlns="http://schemas.openxmlformats.org/package/2006/relationships"><Relationship Id="rId2" Type="http://schemas.openxmlformats.org/officeDocument/2006/relationships/image" Target="../media/image104.wmf"/><Relationship Id="rId1" Type="http://schemas.openxmlformats.org/officeDocument/2006/relationships/image" Target="../media/image103.wmf"/></Relationships>
</file>

<file path=ppt/drawings/_rels/vmlDrawing22.vml.rels><?xml version="1.0" encoding="UTF-8" standalone="yes"?>
<Relationships xmlns="http://schemas.openxmlformats.org/package/2006/relationships"><Relationship Id="rId2" Type="http://schemas.openxmlformats.org/officeDocument/2006/relationships/image" Target="../media/image106.emf"/><Relationship Id="rId1" Type="http://schemas.openxmlformats.org/officeDocument/2006/relationships/image" Target="../media/image105.e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107.wmf"/></Relationships>
</file>

<file path=ppt/drawings/_rels/vmlDrawing24.vml.rels><?xml version="1.0" encoding="UTF-8" standalone="yes"?>
<Relationships xmlns="http://schemas.openxmlformats.org/package/2006/relationships"><Relationship Id="rId3" Type="http://schemas.openxmlformats.org/officeDocument/2006/relationships/image" Target="../media/image110.emf"/><Relationship Id="rId2" Type="http://schemas.openxmlformats.org/officeDocument/2006/relationships/image" Target="../media/image109.emf"/><Relationship Id="rId1" Type="http://schemas.openxmlformats.org/officeDocument/2006/relationships/image" Target="../media/image108.wmf"/></Relationships>
</file>

<file path=ppt/drawings/_rels/vmlDrawing25.vml.rels><?xml version="1.0" encoding="UTF-8" standalone="yes"?>
<Relationships xmlns="http://schemas.openxmlformats.org/package/2006/relationships"><Relationship Id="rId7" Type="http://schemas.openxmlformats.org/officeDocument/2006/relationships/image" Target="../media/image117.wmf"/><Relationship Id="rId6" Type="http://schemas.openxmlformats.org/officeDocument/2006/relationships/image" Target="../media/image116.wmf"/><Relationship Id="rId5" Type="http://schemas.openxmlformats.org/officeDocument/2006/relationships/image" Target="../media/image115.wmf"/><Relationship Id="rId4" Type="http://schemas.openxmlformats.org/officeDocument/2006/relationships/image" Target="../media/image114.wmf"/><Relationship Id="rId3" Type="http://schemas.openxmlformats.org/officeDocument/2006/relationships/image" Target="../media/image113.wmf"/><Relationship Id="rId2" Type="http://schemas.openxmlformats.org/officeDocument/2006/relationships/image" Target="../media/image112.wmf"/><Relationship Id="rId1" Type="http://schemas.openxmlformats.org/officeDocument/2006/relationships/image" Target="../media/image111.wmf"/></Relationships>
</file>

<file path=ppt/drawings/_rels/vmlDrawing26.vml.rels><?xml version="1.0" encoding="UTF-8" standalone="yes"?>
<Relationships xmlns="http://schemas.openxmlformats.org/package/2006/relationships"><Relationship Id="rId7" Type="http://schemas.openxmlformats.org/officeDocument/2006/relationships/image" Target="../media/image124.wmf"/><Relationship Id="rId6" Type="http://schemas.openxmlformats.org/officeDocument/2006/relationships/image" Target="../media/image123.wmf"/><Relationship Id="rId5" Type="http://schemas.openxmlformats.org/officeDocument/2006/relationships/image" Target="../media/image122.wmf"/><Relationship Id="rId4" Type="http://schemas.openxmlformats.org/officeDocument/2006/relationships/image" Target="../media/image121.wmf"/><Relationship Id="rId3" Type="http://schemas.openxmlformats.org/officeDocument/2006/relationships/image" Target="../media/image120.wmf"/><Relationship Id="rId2" Type="http://schemas.openxmlformats.org/officeDocument/2006/relationships/image" Target="../media/image119.wmf"/><Relationship Id="rId1" Type="http://schemas.openxmlformats.org/officeDocument/2006/relationships/image" Target="../media/image118.wmf"/></Relationships>
</file>

<file path=ppt/drawings/_rels/vmlDrawing27.vml.rels><?xml version="1.0" encoding="UTF-8" standalone="yes"?>
<Relationships xmlns="http://schemas.openxmlformats.org/package/2006/relationships"><Relationship Id="rId1" Type="http://schemas.openxmlformats.org/officeDocument/2006/relationships/image" Target="../media/image126.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9"/>
            <a:ext cx="7886700" cy="2852737"/>
          </a:xfrm>
        </p:spPr>
        <p:txBody>
          <a:bodyPr anchor="b"/>
          <a:lstStyle>
            <a:lvl1pPr>
              <a:defRPr sz="45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28650" y="1825625"/>
            <a:ext cx="38862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29150" y="1825625"/>
            <a:ext cx="38862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6"/>
            <a:ext cx="78867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629842" y="2505075"/>
            <a:ext cx="3868340"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29150" y="2505075"/>
            <a:ext cx="3887391"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365125"/>
            <a:ext cx="1971675"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28650" y="365125"/>
            <a:ext cx="5800725"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文本占位符 2"/>
          <p:cNvSpPr>
            <a:spLocks noGrp="1"/>
          </p:cNvSpPr>
          <p:nvPr>
            <p:ph type="body" sz="half" idx="1"/>
          </p:nvPr>
        </p:nvSpPr>
        <p:spPr>
          <a:xfrm>
            <a:off x="628650" y="1825625"/>
            <a:ext cx="3886200" cy="4351338"/>
          </a:xfr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内容占位符 3"/>
          <p:cNvSpPr>
            <a:spLocks noGrp="1"/>
          </p:cNvSpPr>
          <p:nvPr>
            <p:ph sz="half" idx="2"/>
          </p:nvPr>
        </p:nvSpPr>
        <p:spPr>
          <a:xfrm>
            <a:off x="4629150" y="1825625"/>
            <a:ext cx="3886200" cy="4351338"/>
          </a:xfr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5" name="日期占位符 72707"/>
          <p:cNvSpPr>
            <a:spLocks noGrp="1"/>
          </p:cNvSpPr>
          <p:nvPr>
            <p:ph type="dt" sz="half" idx="10"/>
          </p:nvPr>
        </p:nvSpPr>
        <p:spPr/>
        <p:txBody>
          <a:bodyPr/>
          <a:lstStyle>
            <a:lvl1pPr>
              <a:defRPr/>
            </a:lvl1pPr>
          </a:lstStyle>
          <a:p>
            <a:fld id="{BB962C8B-B14F-4D97-AF65-F5344CB8AC3E}" type="datetime1">
              <a:rPr lang="zh-CN" altLang="en-US"/>
            </a:fld>
            <a:endParaRPr lang="zh-CN" altLang="en-US">
              <a:latin typeface="Times New Roman" panose="02020603050405020304" pitchFamily="18" charset="0"/>
            </a:endParaRPr>
          </a:p>
        </p:txBody>
      </p:sp>
      <p:sp>
        <p:nvSpPr>
          <p:cNvPr id="6" name="页脚占位符 72708"/>
          <p:cNvSpPr>
            <a:spLocks noGrp="1"/>
          </p:cNvSpPr>
          <p:nvPr>
            <p:ph type="ftr" sz="quarter" idx="11"/>
          </p:nvPr>
        </p:nvSpPr>
        <p:spPr/>
        <p:txBody>
          <a:bodyPr/>
          <a:lstStyle>
            <a:lvl1pPr>
              <a:defRPr/>
            </a:lvl1pPr>
          </a:lstStyle>
          <a:p>
            <a:endParaRPr lang="zh-CN" altLang="en-US"/>
          </a:p>
        </p:txBody>
      </p:sp>
      <p:sp>
        <p:nvSpPr>
          <p:cNvPr id="7" name="灯片编号占位符 72709"/>
          <p:cNvSpPr>
            <a:spLocks noGrp="1"/>
          </p:cNvSpPr>
          <p:nvPr>
            <p:ph type="sldNum" sz="quarter" idx="12"/>
          </p:nvPr>
        </p:nvSpPr>
        <p:spPr/>
        <p:txBody>
          <a:bodyPr/>
          <a:lstStyle>
            <a:lvl1pPr>
              <a:defRPr/>
            </a:lvl1pPr>
          </a:lstStyle>
          <a:p>
            <a:fld id="{131CF981-D898-4CCF-9077-12EA79B29491}" type="slidenum">
              <a:rPr lang="zh-CN" altLang="en-US"/>
            </a:fld>
            <a:endParaRPr lang="zh-CN" altLang="en-US">
              <a:latin typeface="Times New Roman" panose="02020603050405020304" pitchFamily="18" charset="0"/>
            </a:endParaRPr>
          </a:p>
        </p:txBody>
      </p:sp>
    </p:spTree>
  </p:cSld>
  <p:clrMapOvr>
    <a:masterClrMapping/>
  </p:clrMapOvr>
  <p:transition spd="slow"/>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7" Type="http://schemas.openxmlformats.org/officeDocument/2006/relationships/vmlDrawing" Target="../drawings/vmlDrawing1.vml"/><Relationship Id="rId6" Type="http://schemas.openxmlformats.org/officeDocument/2006/relationships/slideLayout" Target="../slideLayouts/slideLayout7.xml"/><Relationship Id="rId5" Type="http://schemas.openxmlformats.org/officeDocument/2006/relationships/tags" Target="../tags/tag1.xml"/><Relationship Id="rId4" Type="http://schemas.openxmlformats.org/officeDocument/2006/relationships/image" Target="../media/image2.emf"/><Relationship Id="rId3" Type="http://schemas.openxmlformats.org/officeDocument/2006/relationships/oleObject" Target="../embeddings/oleObject2.bin"/><Relationship Id="rId2" Type="http://schemas.openxmlformats.org/officeDocument/2006/relationships/image" Target="../media/image1.emf"/><Relationship Id="rId1" Type="http://schemas.openxmlformats.org/officeDocument/2006/relationships/oleObject" Target="../embeddings/oleObject1.bin"/></Relationships>
</file>

<file path=ppt/slides/_rels/slide5.xml.rels><?xml version="1.0" encoding="UTF-8" standalone="yes"?>
<Relationships xmlns="http://schemas.openxmlformats.org/package/2006/relationships"><Relationship Id="rId9" Type="http://schemas.openxmlformats.org/officeDocument/2006/relationships/oleObject" Target="../embeddings/oleObject7.bin"/><Relationship Id="rId8" Type="http://schemas.openxmlformats.org/officeDocument/2006/relationships/image" Target="../media/image6.wmf"/><Relationship Id="rId7" Type="http://schemas.openxmlformats.org/officeDocument/2006/relationships/oleObject" Target="../embeddings/oleObject6.bin"/><Relationship Id="rId6" Type="http://schemas.openxmlformats.org/officeDocument/2006/relationships/image" Target="../media/image5.wmf"/><Relationship Id="rId5" Type="http://schemas.openxmlformats.org/officeDocument/2006/relationships/oleObject" Target="../embeddings/oleObject5.bin"/><Relationship Id="rId4" Type="http://schemas.openxmlformats.org/officeDocument/2006/relationships/image" Target="../media/image4.wmf"/><Relationship Id="rId3" Type="http://schemas.openxmlformats.org/officeDocument/2006/relationships/oleObject" Target="../embeddings/oleObject4.bin"/><Relationship Id="rId2" Type="http://schemas.openxmlformats.org/officeDocument/2006/relationships/image" Target="../media/image3.wmf"/><Relationship Id="rId12" Type="http://schemas.openxmlformats.org/officeDocument/2006/relationships/vmlDrawing" Target="../drawings/vmlDrawing2.vml"/><Relationship Id="rId11" Type="http://schemas.openxmlformats.org/officeDocument/2006/relationships/slideLayout" Target="../slideLayouts/slideLayout7.xml"/><Relationship Id="rId10" Type="http://schemas.openxmlformats.org/officeDocument/2006/relationships/image" Target="../media/image7.wmf"/><Relationship Id="rId1" Type="http://schemas.openxmlformats.org/officeDocument/2006/relationships/oleObject" Target="../embeddings/oleObject3.bin"/></Relationships>
</file>

<file path=ppt/slides/_rels/slide6.xml.rels><?xml version="1.0" encoding="UTF-8" standalone="yes"?>
<Relationships xmlns="http://schemas.openxmlformats.org/package/2006/relationships"><Relationship Id="rId5" Type="http://schemas.openxmlformats.org/officeDocument/2006/relationships/vmlDrawing" Target="../drawings/vmlDrawing3.vml"/><Relationship Id="rId4" Type="http://schemas.openxmlformats.org/officeDocument/2006/relationships/slideLayout" Target="../slideLayouts/slideLayout7.xml"/><Relationship Id="rId3" Type="http://schemas.openxmlformats.org/officeDocument/2006/relationships/image" Target="../media/image8.png"/><Relationship Id="rId2" Type="http://schemas.openxmlformats.org/officeDocument/2006/relationships/image" Target="../media/image7.wmf"/><Relationship Id="rId1" Type="http://schemas.openxmlformats.org/officeDocument/2006/relationships/oleObject" Target="../embeddings/oleObject8.bin"/></Relationships>
</file>

<file path=ppt/slides/_rels/slide7.xml.rels><?xml version="1.0" encoding="UTF-8" standalone="yes"?>
<Relationships xmlns="http://schemas.openxmlformats.org/package/2006/relationships"><Relationship Id="rId5" Type="http://schemas.openxmlformats.org/officeDocument/2006/relationships/vmlDrawing" Target="../drawings/vmlDrawing4.vml"/><Relationship Id="rId4" Type="http://schemas.openxmlformats.org/officeDocument/2006/relationships/slideLayout" Target="../slideLayouts/slideLayout2.xml"/><Relationship Id="rId3" Type="http://schemas.openxmlformats.org/officeDocument/2006/relationships/tags" Target="../tags/tag2.xml"/><Relationship Id="rId2" Type="http://schemas.openxmlformats.org/officeDocument/2006/relationships/image" Target="../media/image2.emf"/><Relationship Id="rId1" Type="http://schemas.openxmlformats.org/officeDocument/2006/relationships/oleObject" Target="../embeddings/oleObject9.bin"/></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0.jpeg"/><Relationship Id="rId1" Type="http://schemas.openxmlformats.org/officeDocument/2006/relationships/image" Target="../media/image9.jpe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jpe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5.xml"/><Relationship Id="rId1" Type="http://schemas.openxmlformats.org/officeDocument/2006/relationships/image" Target="../media/image12.pn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3.png"/><Relationship Id="rId1" Type="http://schemas.openxmlformats.org/officeDocument/2006/relationships/image" Target="../media/image12.pn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6.xml"/><Relationship Id="rId1" Type="http://schemas.openxmlformats.org/officeDocument/2006/relationships/image" Target="../media/image12.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23.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tags" Target="../tags/tag8.xml"/><Relationship Id="rId2" Type="http://schemas.openxmlformats.org/officeDocument/2006/relationships/image" Target="../media/image15.png"/><Relationship Id="rId1" Type="http://schemas.openxmlformats.org/officeDocument/2006/relationships/image" Target="../media/image14.wmf"/></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image" Target="../media/image17.png"/><Relationship Id="rId1" Type="http://schemas.openxmlformats.org/officeDocument/2006/relationships/image" Target="../media/image1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4" Type="http://schemas.openxmlformats.org/officeDocument/2006/relationships/vmlDrawing" Target="../drawings/vmlDrawing5.vml"/><Relationship Id="rId3" Type="http://schemas.openxmlformats.org/officeDocument/2006/relationships/slideLayout" Target="../slideLayouts/slideLayout7.xml"/><Relationship Id="rId2" Type="http://schemas.openxmlformats.org/officeDocument/2006/relationships/image" Target="../media/image7.wmf"/><Relationship Id="rId1" Type="http://schemas.openxmlformats.org/officeDocument/2006/relationships/oleObject" Target="../embeddings/oleObject10.bin"/></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9.png"/><Relationship Id="rId1" Type="http://schemas.openxmlformats.org/officeDocument/2006/relationships/image" Target="../media/image1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4" Type="http://schemas.openxmlformats.org/officeDocument/2006/relationships/vmlDrawing" Target="../drawings/vmlDrawing6.vml"/><Relationship Id="rId3" Type="http://schemas.openxmlformats.org/officeDocument/2006/relationships/slideLayout" Target="../slideLayouts/slideLayout7.xml"/><Relationship Id="rId2" Type="http://schemas.openxmlformats.org/officeDocument/2006/relationships/image" Target="../media/image20.png"/><Relationship Id="rId1" Type="http://schemas.openxmlformats.org/officeDocument/2006/relationships/oleObject" Target="../embeddings/oleObject11.bin"/></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2.png"/><Relationship Id="rId1" Type="http://schemas.openxmlformats.org/officeDocument/2006/relationships/image" Target="../media/image21.png"/></Relationships>
</file>

<file path=ppt/slides/_rels/slide32.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image" Target="../media/image23.png"/></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7.png"/><Relationship Id="rId1" Type="http://schemas.openxmlformats.org/officeDocument/2006/relationships/image" Target="../media/image26.png"/></Relationships>
</file>

<file path=ppt/slides/_rels/slide34.xml.rels><?xml version="1.0" encoding="UTF-8" standalone="yes"?>
<Relationships xmlns="http://schemas.openxmlformats.org/package/2006/relationships"><Relationship Id="rId9" Type="http://schemas.openxmlformats.org/officeDocument/2006/relationships/vmlDrawing" Target="../drawings/vmlDrawing7.vml"/><Relationship Id="rId8" Type="http://schemas.openxmlformats.org/officeDocument/2006/relationships/slideLayout" Target="../slideLayouts/slideLayout7.xml"/><Relationship Id="rId7" Type="http://schemas.openxmlformats.org/officeDocument/2006/relationships/image" Target="../media/image31.png"/><Relationship Id="rId6" Type="http://schemas.openxmlformats.org/officeDocument/2006/relationships/image" Target="../media/image30.wmf"/><Relationship Id="rId5" Type="http://schemas.openxmlformats.org/officeDocument/2006/relationships/oleObject" Target="../embeddings/oleObject14.bin"/><Relationship Id="rId4" Type="http://schemas.openxmlformats.org/officeDocument/2006/relationships/image" Target="../media/image29.wmf"/><Relationship Id="rId3" Type="http://schemas.openxmlformats.org/officeDocument/2006/relationships/oleObject" Target="../embeddings/oleObject13.bin"/><Relationship Id="rId2" Type="http://schemas.openxmlformats.org/officeDocument/2006/relationships/image" Target="../media/image28.wmf"/><Relationship Id="rId1" Type="http://schemas.openxmlformats.org/officeDocument/2006/relationships/oleObject" Target="../embeddings/oleObject12.bin"/></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2.png"/></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3.png"/></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4.png"/></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6.png"/><Relationship Id="rId1" Type="http://schemas.openxmlformats.org/officeDocument/2006/relationships/image" Target="../media/image35.png"/></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7.png"/></Relationships>
</file>

<file path=ppt/slides/_rels/slide4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9.png"/><Relationship Id="rId1" Type="http://schemas.openxmlformats.org/officeDocument/2006/relationships/image" Target="../media/image38.png"/></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0.png"/></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1.png"/></Relationships>
</file>

<file path=ppt/slides/_rels/slide4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3.png"/><Relationship Id="rId1" Type="http://schemas.openxmlformats.org/officeDocument/2006/relationships/image" Target="../media/image42.png"/></Relationships>
</file>

<file path=ppt/slides/_rels/slide44.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image" Target="../media/image44.png"/></Relationships>
</file>

<file path=ppt/slides/_rels/slide45.xml.rels><?xml version="1.0" encoding="UTF-8" standalone="yes"?>
<Relationships xmlns="http://schemas.openxmlformats.org/package/2006/relationships"><Relationship Id="rId9" Type="http://schemas.openxmlformats.org/officeDocument/2006/relationships/vmlDrawing" Target="../drawings/vmlDrawing8.vml"/><Relationship Id="rId8" Type="http://schemas.openxmlformats.org/officeDocument/2006/relationships/slideLayout" Target="../slideLayouts/slideLayout2.xml"/><Relationship Id="rId7" Type="http://schemas.openxmlformats.org/officeDocument/2006/relationships/image" Target="../media/image45.png"/><Relationship Id="rId6" Type="http://schemas.openxmlformats.org/officeDocument/2006/relationships/image" Target="../media/image49.wmf"/><Relationship Id="rId5" Type="http://schemas.openxmlformats.org/officeDocument/2006/relationships/oleObject" Target="../embeddings/oleObject17.bin"/><Relationship Id="rId4" Type="http://schemas.openxmlformats.org/officeDocument/2006/relationships/image" Target="../media/image48.wmf"/><Relationship Id="rId3" Type="http://schemas.openxmlformats.org/officeDocument/2006/relationships/oleObject" Target="../embeddings/oleObject16.bin"/><Relationship Id="rId2" Type="http://schemas.openxmlformats.org/officeDocument/2006/relationships/image" Target="../media/image47.wmf"/><Relationship Id="rId1" Type="http://schemas.openxmlformats.org/officeDocument/2006/relationships/oleObject" Target="../embeddings/oleObject15.bin"/></Relationships>
</file>

<file path=ppt/slides/_rels/slide46.xml.rels><?xml version="1.0" encoding="UTF-8" standalone="yes"?>
<Relationships xmlns="http://schemas.openxmlformats.org/package/2006/relationships"><Relationship Id="rId6" Type="http://schemas.openxmlformats.org/officeDocument/2006/relationships/vmlDrawing" Target="../drawings/vmlDrawing9.vml"/><Relationship Id="rId5" Type="http://schemas.openxmlformats.org/officeDocument/2006/relationships/slideLayout" Target="../slideLayouts/slideLayout7.xml"/><Relationship Id="rId4" Type="http://schemas.openxmlformats.org/officeDocument/2006/relationships/image" Target="../media/image51.png"/><Relationship Id="rId3" Type="http://schemas.openxmlformats.org/officeDocument/2006/relationships/image" Target="../media/image46.png"/><Relationship Id="rId2" Type="http://schemas.openxmlformats.org/officeDocument/2006/relationships/image" Target="../media/image50.wmf"/><Relationship Id="rId1" Type="http://schemas.openxmlformats.org/officeDocument/2006/relationships/oleObject" Target="../embeddings/oleObject18.bin"/></Relationships>
</file>

<file path=ppt/slides/_rels/slide4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53.png"/><Relationship Id="rId1" Type="http://schemas.openxmlformats.org/officeDocument/2006/relationships/image" Target="../media/image52.png"/></Relationships>
</file>

<file path=ppt/slides/_rels/slide4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54.png"/><Relationship Id="rId1" Type="http://schemas.openxmlformats.org/officeDocument/2006/relationships/image" Target="../media/image18.png"/></Relationships>
</file>

<file path=ppt/slides/_rels/slide4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56.png"/><Relationship Id="rId1" Type="http://schemas.openxmlformats.org/officeDocument/2006/relationships/image" Target="../media/image55.png"/></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7.png"/></Relationships>
</file>

<file path=ppt/slides/_rels/slide5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58.png"/><Relationship Id="rId1" Type="http://schemas.openxmlformats.org/officeDocument/2006/relationships/image" Target="../media/image16.png"/></Relationships>
</file>

<file path=ppt/slides/_rels/slide52.xml.rels><?xml version="1.0" encoding="UTF-8" standalone="yes"?>
<Relationships xmlns="http://schemas.openxmlformats.org/package/2006/relationships"><Relationship Id="rId5" Type="http://schemas.openxmlformats.org/officeDocument/2006/relationships/vmlDrawing" Target="../drawings/vmlDrawing10.vml"/><Relationship Id="rId4" Type="http://schemas.openxmlformats.org/officeDocument/2006/relationships/slideLayout" Target="../slideLayouts/slideLayout7.xml"/><Relationship Id="rId3" Type="http://schemas.openxmlformats.org/officeDocument/2006/relationships/image" Target="../media/image60.png"/><Relationship Id="rId2" Type="http://schemas.openxmlformats.org/officeDocument/2006/relationships/image" Target="../media/image59.wmf"/><Relationship Id="rId1" Type="http://schemas.openxmlformats.org/officeDocument/2006/relationships/oleObject" Target="../embeddings/oleObject19.bin"/></Relationships>
</file>

<file path=ppt/slides/_rels/slide53.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tags" Target="../tags/tag9.xml"/><Relationship Id="rId2" Type="http://schemas.openxmlformats.org/officeDocument/2006/relationships/image" Target="../media/image15.png"/><Relationship Id="rId1" Type="http://schemas.openxmlformats.org/officeDocument/2006/relationships/image" Target="../media/image14.wmf"/></Relationships>
</file>

<file path=ppt/slides/_rels/slide5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62.png"/><Relationship Id="rId1" Type="http://schemas.openxmlformats.org/officeDocument/2006/relationships/image" Target="../media/image61.png"/></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3.png"/></Relationships>
</file>

<file path=ppt/slides/_rels/slide5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65.png"/><Relationship Id="rId1" Type="http://schemas.openxmlformats.org/officeDocument/2006/relationships/image" Target="../media/image64.png"/></Relationships>
</file>

<file path=ppt/slides/_rels/slide57.xml.rels><?xml version="1.0" encoding="UTF-8" standalone="yes"?>
<Relationships xmlns="http://schemas.openxmlformats.org/package/2006/relationships"><Relationship Id="rId7" Type="http://schemas.openxmlformats.org/officeDocument/2006/relationships/vmlDrawing" Target="../drawings/vmlDrawing11.vml"/><Relationship Id="rId6" Type="http://schemas.openxmlformats.org/officeDocument/2006/relationships/slideLayout" Target="../slideLayouts/slideLayout7.xml"/><Relationship Id="rId5" Type="http://schemas.openxmlformats.org/officeDocument/2006/relationships/tags" Target="../tags/tag10.xml"/><Relationship Id="rId4" Type="http://schemas.openxmlformats.org/officeDocument/2006/relationships/image" Target="../media/image68.png"/><Relationship Id="rId3" Type="http://schemas.openxmlformats.org/officeDocument/2006/relationships/image" Target="../media/image67.png"/><Relationship Id="rId2" Type="http://schemas.openxmlformats.org/officeDocument/2006/relationships/image" Target="../media/image66.wmf"/><Relationship Id="rId1" Type="http://schemas.openxmlformats.org/officeDocument/2006/relationships/oleObject" Target="../embeddings/oleObject20.bin"/></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9" Type="http://schemas.openxmlformats.org/officeDocument/2006/relationships/slideLayout" Target="../slideLayouts/slideLayout6.xml"/><Relationship Id="rId8" Type="http://schemas.openxmlformats.org/officeDocument/2006/relationships/image" Target="../media/image72.wmf"/><Relationship Id="rId7" Type="http://schemas.openxmlformats.org/officeDocument/2006/relationships/oleObject" Target="../embeddings/oleObject24.bin"/><Relationship Id="rId6" Type="http://schemas.openxmlformats.org/officeDocument/2006/relationships/image" Target="../media/image71.wmf"/><Relationship Id="rId5" Type="http://schemas.openxmlformats.org/officeDocument/2006/relationships/oleObject" Target="../embeddings/oleObject23.bin"/><Relationship Id="rId4" Type="http://schemas.openxmlformats.org/officeDocument/2006/relationships/image" Target="../media/image70.wmf"/><Relationship Id="rId3" Type="http://schemas.openxmlformats.org/officeDocument/2006/relationships/oleObject" Target="../embeddings/oleObject22.bin"/><Relationship Id="rId2" Type="http://schemas.openxmlformats.org/officeDocument/2006/relationships/image" Target="../media/image69.wmf"/><Relationship Id="rId10" Type="http://schemas.openxmlformats.org/officeDocument/2006/relationships/vmlDrawing" Target="../drawings/vmlDrawing12.vml"/><Relationship Id="rId1" Type="http://schemas.openxmlformats.org/officeDocument/2006/relationships/oleObject" Target="../embeddings/oleObject21.bin"/></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4" Type="http://schemas.openxmlformats.org/officeDocument/2006/relationships/vmlDrawing" Target="../drawings/vmlDrawing13.vml"/><Relationship Id="rId3" Type="http://schemas.openxmlformats.org/officeDocument/2006/relationships/slideLayout" Target="../slideLayouts/slideLayout2.xml"/><Relationship Id="rId2" Type="http://schemas.openxmlformats.org/officeDocument/2006/relationships/image" Target="../media/image73.emf"/><Relationship Id="rId1" Type="http://schemas.openxmlformats.org/officeDocument/2006/relationships/oleObject" Target="../embeddings/oleObject25.bin"/></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1.xml"/><Relationship Id="rId1" Type="http://schemas.openxmlformats.org/officeDocument/2006/relationships/image" Target="../media/image67.png"/></Relationships>
</file>

<file path=ppt/slides/_rels/slide6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4.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76.png"/><Relationship Id="rId1" Type="http://schemas.openxmlformats.org/officeDocument/2006/relationships/image" Target="../media/image75.png"/></Relationships>
</file>

<file path=ppt/slides/_rels/slide68.xml.rels><?xml version="1.0" encoding="UTF-8" standalone="yes"?>
<Relationships xmlns="http://schemas.openxmlformats.org/package/2006/relationships"><Relationship Id="rId8" Type="http://schemas.openxmlformats.org/officeDocument/2006/relationships/vmlDrawing" Target="../drawings/vmlDrawing14.vml"/><Relationship Id="rId7" Type="http://schemas.openxmlformats.org/officeDocument/2006/relationships/slideLayout" Target="../slideLayouts/slideLayout7.xml"/><Relationship Id="rId6" Type="http://schemas.openxmlformats.org/officeDocument/2006/relationships/image" Target="../media/image76.png"/><Relationship Id="rId5" Type="http://schemas.openxmlformats.org/officeDocument/2006/relationships/image" Target="../media/image75.png"/><Relationship Id="rId4" Type="http://schemas.openxmlformats.org/officeDocument/2006/relationships/image" Target="../media/image78.wmf"/><Relationship Id="rId3" Type="http://schemas.openxmlformats.org/officeDocument/2006/relationships/oleObject" Target="../embeddings/oleObject27.bin"/><Relationship Id="rId2" Type="http://schemas.openxmlformats.org/officeDocument/2006/relationships/image" Target="../media/image77.wmf"/><Relationship Id="rId1" Type="http://schemas.openxmlformats.org/officeDocument/2006/relationships/oleObject" Target="../embeddings/oleObject26.bin"/></Relationships>
</file>

<file path=ppt/slides/_rels/slide69.xml.rels><?xml version="1.0" encoding="UTF-8" standalone="yes"?>
<Relationships xmlns="http://schemas.openxmlformats.org/package/2006/relationships"><Relationship Id="rId4" Type="http://schemas.openxmlformats.org/officeDocument/2006/relationships/vmlDrawing" Target="../drawings/vmlDrawing15.vml"/><Relationship Id="rId3" Type="http://schemas.openxmlformats.org/officeDocument/2006/relationships/slideLayout" Target="../slideLayouts/slideLayout7.xml"/><Relationship Id="rId2" Type="http://schemas.openxmlformats.org/officeDocument/2006/relationships/image" Target="../media/image79.emf"/><Relationship Id="rId1" Type="http://schemas.openxmlformats.org/officeDocument/2006/relationships/oleObject" Target="../embeddings/oleObject28.bin"/></Relationships>
</file>

<file path=ppt/slides/_rels/slide70.xml.rels><?xml version="1.0" encoding="UTF-8" standalone="yes"?>
<Relationships xmlns="http://schemas.openxmlformats.org/package/2006/relationships"><Relationship Id="rId6" Type="http://schemas.openxmlformats.org/officeDocument/2006/relationships/vmlDrawing" Target="../drawings/vmlDrawing16.vml"/><Relationship Id="rId5" Type="http://schemas.openxmlformats.org/officeDocument/2006/relationships/slideLayout" Target="../slideLayouts/slideLayout7.xml"/><Relationship Id="rId4" Type="http://schemas.openxmlformats.org/officeDocument/2006/relationships/image" Target="../media/image81.wmf"/><Relationship Id="rId3" Type="http://schemas.openxmlformats.org/officeDocument/2006/relationships/oleObject" Target="../embeddings/oleObject30.bin"/><Relationship Id="rId2" Type="http://schemas.openxmlformats.org/officeDocument/2006/relationships/image" Target="../media/image80.wmf"/><Relationship Id="rId1" Type="http://schemas.openxmlformats.org/officeDocument/2006/relationships/oleObject" Target="../embeddings/oleObject29.bin"/></Relationships>
</file>

<file path=ppt/slides/_rels/slide71.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85.wmf"/><Relationship Id="rId7" Type="http://schemas.openxmlformats.org/officeDocument/2006/relationships/oleObject" Target="../embeddings/oleObject34.bin"/><Relationship Id="rId6" Type="http://schemas.openxmlformats.org/officeDocument/2006/relationships/image" Target="../media/image84.wmf"/><Relationship Id="rId5" Type="http://schemas.openxmlformats.org/officeDocument/2006/relationships/oleObject" Target="../embeddings/oleObject33.bin"/><Relationship Id="rId4" Type="http://schemas.openxmlformats.org/officeDocument/2006/relationships/image" Target="../media/image83.wmf"/><Relationship Id="rId3" Type="http://schemas.openxmlformats.org/officeDocument/2006/relationships/oleObject" Target="../embeddings/oleObject32.bin"/><Relationship Id="rId2" Type="http://schemas.openxmlformats.org/officeDocument/2006/relationships/image" Target="../media/image82.wmf"/><Relationship Id="rId10" Type="http://schemas.openxmlformats.org/officeDocument/2006/relationships/vmlDrawing" Target="../drawings/vmlDrawing17.vml"/><Relationship Id="rId1" Type="http://schemas.openxmlformats.org/officeDocument/2006/relationships/oleObject" Target="../embeddings/oleObject31.bin"/></Relationships>
</file>

<file path=ppt/slides/_rels/slide72.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90.png"/><Relationship Id="rId7" Type="http://schemas.openxmlformats.org/officeDocument/2006/relationships/image" Target="../media/image89.png"/><Relationship Id="rId6" Type="http://schemas.openxmlformats.org/officeDocument/2006/relationships/image" Target="../media/image88.wmf"/><Relationship Id="rId5" Type="http://schemas.openxmlformats.org/officeDocument/2006/relationships/oleObject" Target="../embeddings/oleObject37.bin"/><Relationship Id="rId4" Type="http://schemas.openxmlformats.org/officeDocument/2006/relationships/image" Target="../media/image87.wmf"/><Relationship Id="rId3" Type="http://schemas.openxmlformats.org/officeDocument/2006/relationships/oleObject" Target="../embeddings/oleObject36.bin"/><Relationship Id="rId2" Type="http://schemas.openxmlformats.org/officeDocument/2006/relationships/image" Target="../media/image86.wmf"/><Relationship Id="rId10" Type="http://schemas.openxmlformats.org/officeDocument/2006/relationships/vmlDrawing" Target="../drawings/vmlDrawing18.vml"/><Relationship Id="rId1" Type="http://schemas.openxmlformats.org/officeDocument/2006/relationships/oleObject" Target="../embeddings/oleObject35.bin"/></Relationships>
</file>

<file path=ppt/slides/_rels/slide7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76.png"/><Relationship Id="rId1" Type="http://schemas.openxmlformats.org/officeDocument/2006/relationships/image" Target="../media/image75.png"/></Relationships>
</file>

<file path=ppt/slides/_rels/slide74.xml.rels><?xml version="1.0" encoding="UTF-8" standalone="yes"?>
<Relationships xmlns="http://schemas.openxmlformats.org/package/2006/relationships"><Relationship Id="rId9" Type="http://schemas.openxmlformats.org/officeDocument/2006/relationships/oleObject" Target="../embeddings/oleObject42.bin"/><Relationship Id="rId8" Type="http://schemas.openxmlformats.org/officeDocument/2006/relationships/image" Target="../media/image94.wmf"/><Relationship Id="rId7" Type="http://schemas.openxmlformats.org/officeDocument/2006/relationships/oleObject" Target="../embeddings/oleObject41.bin"/><Relationship Id="rId6" Type="http://schemas.openxmlformats.org/officeDocument/2006/relationships/image" Target="../media/image93.wmf"/><Relationship Id="rId5" Type="http://schemas.openxmlformats.org/officeDocument/2006/relationships/oleObject" Target="../embeddings/oleObject40.bin"/><Relationship Id="rId4" Type="http://schemas.openxmlformats.org/officeDocument/2006/relationships/image" Target="../media/image92.wmf"/><Relationship Id="rId3" Type="http://schemas.openxmlformats.org/officeDocument/2006/relationships/oleObject" Target="../embeddings/oleObject39.bin"/><Relationship Id="rId2" Type="http://schemas.openxmlformats.org/officeDocument/2006/relationships/image" Target="../media/image91.wmf"/><Relationship Id="rId15" Type="http://schemas.openxmlformats.org/officeDocument/2006/relationships/vmlDrawing" Target="../drawings/vmlDrawing19.vml"/><Relationship Id="rId14" Type="http://schemas.openxmlformats.org/officeDocument/2006/relationships/slideLayout" Target="../slideLayouts/slideLayout2.xml"/><Relationship Id="rId13" Type="http://schemas.openxmlformats.org/officeDocument/2006/relationships/image" Target="../media/image97.png"/><Relationship Id="rId12" Type="http://schemas.openxmlformats.org/officeDocument/2006/relationships/image" Target="../media/image96.wmf"/><Relationship Id="rId11" Type="http://schemas.openxmlformats.org/officeDocument/2006/relationships/oleObject" Target="../embeddings/oleObject43.bin"/><Relationship Id="rId10" Type="http://schemas.openxmlformats.org/officeDocument/2006/relationships/image" Target="../media/image95.wmf"/><Relationship Id="rId1" Type="http://schemas.openxmlformats.org/officeDocument/2006/relationships/oleObject" Target="../embeddings/oleObject38.bin"/></Relationships>
</file>

<file path=ppt/slides/_rels/slide75.xml.rels><?xml version="1.0" encoding="UTF-8" standalone="yes"?>
<Relationships xmlns="http://schemas.openxmlformats.org/package/2006/relationships"><Relationship Id="rId9" Type="http://schemas.openxmlformats.org/officeDocument/2006/relationships/oleObject" Target="../embeddings/oleObject47.bin"/><Relationship Id="rId8" Type="http://schemas.openxmlformats.org/officeDocument/2006/relationships/image" Target="../media/image100.wmf"/><Relationship Id="rId7" Type="http://schemas.openxmlformats.org/officeDocument/2006/relationships/oleObject" Target="../embeddings/oleObject46.bin"/><Relationship Id="rId6" Type="http://schemas.openxmlformats.org/officeDocument/2006/relationships/image" Target="../media/image99.wmf"/><Relationship Id="rId5" Type="http://schemas.openxmlformats.org/officeDocument/2006/relationships/oleObject" Target="../embeddings/oleObject45.bin"/><Relationship Id="rId4" Type="http://schemas.openxmlformats.org/officeDocument/2006/relationships/image" Target="../media/image98.wmf"/><Relationship Id="rId3" Type="http://schemas.openxmlformats.org/officeDocument/2006/relationships/oleObject" Target="../embeddings/oleObject44.bin"/><Relationship Id="rId2" Type="http://schemas.openxmlformats.org/officeDocument/2006/relationships/image" Target="../media/image76.png"/><Relationship Id="rId12" Type="http://schemas.openxmlformats.org/officeDocument/2006/relationships/vmlDrawing" Target="../drawings/vmlDrawing20.vml"/><Relationship Id="rId11" Type="http://schemas.openxmlformats.org/officeDocument/2006/relationships/slideLayout" Target="../slideLayouts/slideLayout7.xml"/><Relationship Id="rId10" Type="http://schemas.openxmlformats.org/officeDocument/2006/relationships/image" Target="../media/image101.wmf"/><Relationship Id="rId1" Type="http://schemas.openxmlformats.org/officeDocument/2006/relationships/image" Target="../media/image75.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2.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8" Type="http://schemas.openxmlformats.org/officeDocument/2006/relationships/vmlDrawing" Target="../drawings/vmlDrawing21.vml"/><Relationship Id="rId7" Type="http://schemas.openxmlformats.org/officeDocument/2006/relationships/slideLayout" Target="../slideLayouts/slideLayout7.xml"/><Relationship Id="rId6" Type="http://schemas.openxmlformats.org/officeDocument/2006/relationships/image" Target="../media/image76.png"/><Relationship Id="rId5" Type="http://schemas.openxmlformats.org/officeDocument/2006/relationships/image" Target="../media/image75.png"/><Relationship Id="rId4" Type="http://schemas.openxmlformats.org/officeDocument/2006/relationships/image" Target="../media/image104.wmf"/><Relationship Id="rId3" Type="http://schemas.openxmlformats.org/officeDocument/2006/relationships/oleObject" Target="../embeddings/oleObject49.bin"/><Relationship Id="rId2" Type="http://schemas.openxmlformats.org/officeDocument/2006/relationships/image" Target="../media/image103.wmf"/><Relationship Id="rId1" Type="http://schemas.openxmlformats.org/officeDocument/2006/relationships/oleObject" Target="../embeddings/oleObject48.bin"/></Relationships>
</file>

<file path=ppt/slides/_rels/slide80.xml.rels><?xml version="1.0" encoding="UTF-8" standalone="yes"?>
<Relationships xmlns="http://schemas.openxmlformats.org/package/2006/relationships"><Relationship Id="rId6" Type="http://schemas.openxmlformats.org/officeDocument/2006/relationships/vmlDrawing" Target="../drawings/vmlDrawing22.vml"/><Relationship Id="rId5" Type="http://schemas.openxmlformats.org/officeDocument/2006/relationships/slideLayout" Target="../slideLayouts/slideLayout7.xml"/><Relationship Id="rId4" Type="http://schemas.openxmlformats.org/officeDocument/2006/relationships/image" Target="../media/image106.emf"/><Relationship Id="rId3" Type="http://schemas.openxmlformats.org/officeDocument/2006/relationships/oleObject" Target="../embeddings/oleObject51.bin"/><Relationship Id="rId2" Type="http://schemas.openxmlformats.org/officeDocument/2006/relationships/image" Target="../media/image105.emf"/><Relationship Id="rId1" Type="http://schemas.openxmlformats.org/officeDocument/2006/relationships/oleObject" Target="../embeddings/oleObject50.bin"/></Relationships>
</file>

<file path=ppt/slides/_rels/slide8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4" Type="http://schemas.openxmlformats.org/officeDocument/2006/relationships/vmlDrawing" Target="../drawings/vmlDrawing23.vml"/><Relationship Id="rId3" Type="http://schemas.openxmlformats.org/officeDocument/2006/relationships/slideLayout" Target="../slideLayouts/slideLayout7.xml"/><Relationship Id="rId2" Type="http://schemas.openxmlformats.org/officeDocument/2006/relationships/image" Target="../media/image107.wmf"/><Relationship Id="rId1" Type="http://schemas.openxmlformats.org/officeDocument/2006/relationships/oleObject" Target="../embeddings/oleObject52.bin"/></Relationships>
</file>

<file path=ppt/slides/_rels/slide84.xml.rels><?xml version="1.0" encoding="UTF-8" standalone="yes"?>
<Relationships xmlns="http://schemas.openxmlformats.org/package/2006/relationships"><Relationship Id="rId8" Type="http://schemas.openxmlformats.org/officeDocument/2006/relationships/vmlDrawing" Target="../drawings/vmlDrawing24.vml"/><Relationship Id="rId7" Type="http://schemas.openxmlformats.org/officeDocument/2006/relationships/slideLayout" Target="../slideLayouts/slideLayout2.xml"/><Relationship Id="rId6" Type="http://schemas.openxmlformats.org/officeDocument/2006/relationships/image" Target="../media/image110.emf"/><Relationship Id="rId5" Type="http://schemas.openxmlformats.org/officeDocument/2006/relationships/oleObject" Target="../embeddings/oleObject55.bin"/><Relationship Id="rId4" Type="http://schemas.openxmlformats.org/officeDocument/2006/relationships/image" Target="../media/image109.emf"/><Relationship Id="rId3" Type="http://schemas.openxmlformats.org/officeDocument/2006/relationships/oleObject" Target="../embeddings/oleObject54.bin"/><Relationship Id="rId2" Type="http://schemas.openxmlformats.org/officeDocument/2006/relationships/image" Target="../media/image108.wmf"/><Relationship Id="rId1" Type="http://schemas.openxmlformats.org/officeDocument/2006/relationships/oleObject" Target="../embeddings/oleObject53.bin"/></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9" Type="http://schemas.openxmlformats.org/officeDocument/2006/relationships/oleObject" Target="../embeddings/oleObject60.bin"/><Relationship Id="rId8" Type="http://schemas.openxmlformats.org/officeDocument/2006/relationships/image" Target="../media/image114.wmf"/><Relationship Id="rId7" Type="http://schemas.openxmlformats.org/officeDocument/2006/relationships/oleObject" Target="../embeddings/oleObject59.bin"/><Relationship Id="rId6" Type="http://schemas.openxmlformats.org/officeDocument/2006/relationships/image" Target="../media/image113.wmf"/><Relationship Id="rId5" Type="http://schemas.openxmlformats.org/officeDocument/2006/relationships/oleObject" Target="../embeddings/oleObject58.bin"/><Relationship Id="rId4" Type="http://schemas.openxmlformats.org/officeDocument/2006/relationships/image" Target="../media/image112.wmf"/><Relationship Id="rId3" Type="http://schemas.openxmlformats.org/officeDocument/2006/relationships/oleObject" Target="../embeddings/oleObject57.bin"/><Relationship Id="rId2" Type="http://schemas.openxmlformats.org/officeDocument/2006/relationships/image" Target="../media/image111.wmf"/><Relationship Id="rId16" Type="http://schemas.openxmlformats.org/officeDocument/2006/relationships/vmlDrawing" Target="../drawings/vmlDrawing25.vml"/><Relationship Id="rId15" Type="http://schemas.openxmlformats.org/officeDocument/2006/relationships/slideLayout" Target="../slideLayouts/slideLayout2.xml"/><Relationship Id="rId14" Type="http://schemas.openxmlformats.org/officeDocument/2006/relationships/image" Target="../media/image117.wmf"/><Relationship Id="rId13" Type="http://schemas.openxmlformats.org/officeDocument/2006/relationships/oleObject" Target="../embeddings/oleObject62.bin"/><Relationship Id="rId12" Type="http://schemas.openxmlformats.org/officeDocument/2006/relationships/image" Target="../media/image116.wmf"/><Relationship Id="rId11" Type="http://schemas.openxmlformats.org/officeDocument/2006/relationships/oleObject" Target="../embeddings/oleObject61.bin"/><Relationship Id="rId10" Type="http://schemas.openxmlformats.org/officeDocument/2006/relationships/image" Target="../media/image115.wmf"/><Relationship Id="rId1" Type="http://schemas.openxmlformats.org/officeDocument/2006/relationships/oleObject" Target="../embeddings/oleObject56.bin"/></Relationships>
</file>

<file path=ppt/slides/_rels/slide87.xml.rels><?xml version="1.0" encoding="UTF-8" standalone="yes"?>
<Relationships xmlns="http://schemas.openxmlformats.org/package/2006/relationships"><Relationship Id="rId9" Type="http://schemas.openxmlformats.org/officeDocument/2006/relationships/oleObject" Target="../embeddings/oleObject67.bin"/><Relationship Id="rId8" Type="http://schemas.openxmlformats.org/officeDocument/2006/relationships/image" Target="../media/image121.wmf"/><Relationship Id="rId7" Type="http://schemas.openxmlformats.org/officeDocument/2006/relationships/oleObject" Target="../embeddings/oleObject66.bin"/><Relationship Id="rId6" Type="http://schemas.openxmlformats.org/officeDocument/2006/relationships/image" Target="../media/image120.wmf"/><Relationship Id="rId5" Type="http://schemas.openxmlformats.org/officeDocument/2006/relationships/oleObject" Target="../embeddings/oleObject65.bin"/><Relationship Id="rId4" Type="http://schemas.openxmlformats.org/officeDocument/2006/relationships/image" Target="../media/image119.wmf"/><Relationship Id="rId3" Type="http://schemas.openxmlformats.org/officeDocument/2006/relationships/oleObject" Target="../embeddings/oleObject64.bin"/><Relationship Id="rId2" Type="http://schemas.openxmlformats.org/officeDocument/2006/relationships/image" Target="../media/image118.wmf"/><Relationship Id="rId16" Type="http://schemas.openxmlformats.org/officeDocument/2006/relationships/vmlDrawing" Target="../drawings/vmlDrawing26.vml"/><Relationship Id="rId15" Type="http://schemas.openxmlformats.org/officeDocument/2006/relationships/slideLayout" Target="../slideLayouts/slideLayout2.xml"/><Relationship Id="rId14" Type="http://schemas.openxmlformats.org/officeDocument/2006/relationships/image" Target="../media/image124.wmf"/><Relationship Id="rId13" Type="http://schemas.openxmlformats.org/officeDocument/2006/relationships/oleObject" Target="../embeddings/oleObject69.bin"/><Relationship Id="rId12" Type="http://schemas.openxmlformats.org/officeDocument/2006/relationships/image" Target="../media/image123.wmf"/><Relationship Id="rId11" Type="http://schemas.openxmlformats.org/officeDocument/2006/relationships/oleObject" Target="../embeddings/oleObject68.bin"/><Relationship Id="rId10" Type="http://schemas.openxmlformats.org/officeDocument/2006/relationships/image" Target="../media/image122.wmf"/><Relationship Id="rId1" Type="http://schemas.openxmlformats.org/officeDocument/2006/relationships/oleObject" Target="../embeddings/oleObject63.bin"/></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3.xml"/></Relationships>
</file>

<file path=ppt/slides/_rels/slide9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5.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4" Type="http://schemas.openxmlformats.org/officeDocument/2006/relationships/vmlDrawing" Target="../drawings/vmlDrawing27.vml"/><Relationship Id="rId3" Type="http://schemas.openxmlformats.org/officeDocument/2006/relationships/slideLayout" Target="../slideLayouts/slideLayout2.xml"/><Relationship Id="rId2" Type="http://schemas.openxmlformats.org/officeDocument/2006/relationships/image" Target="../media/image126.wmf"/><Relationship Id="rId1" Type="http://schemas.openxmlformats.org/officeDocument/2006/relationships/oleObject" Target="../embeddings/oleObject70.bin"/></Relationships>
</file>

<file path=ppt/slides/_rels/slide9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27.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2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标题 2049"/>
          <p:cNvSpPr>
            <a:spLocks noGrp="1" noChangeArrowheads="1"/>
          </p:cNvSpPr>
          <p:nvPr>
            <p:ph type="ctrTitle"/>
          </p:nvPr>
        </p:nvSpPr>
        <p:spPr>
          <a:xfrm>
            <a:off x="732458" y="1849851"/>
            <a:ext cx="7318237" cy="1555957"/>
          </a:xfrm>
        </p:spPr>
        <p:txBody>
          <a:bodyPr anchor="ctr">
            <a:noAutofit/>
          </a:bodyPr>
          <a:lstStyle/>
          <a:p>
            <a:pPr>
              <a:lnSpc>
                <a:spcPct val="100000"/>
              </a:lnSpc>
            </a:pPr>
            <a:r>
              <a:rPr lang="en-US" altLang="zh-CN" sz="4000" b="1" dirty="0" smtClean="0">
                <a:latin typeface="黑体" panose="02010609060101010101" pitchFamily="49" charset="-122"/>
                <a:ea typeface="黑体" panose="02010609060101010101" pitchFamily="49" charset="-122"/>
              </a:rPr>
              <a:t>09</a:t>
            </a:r>
            <a:r>
              <a:rPr lang="zh-CN" altLang="en-US" sz="4000" b="1" dirty="0" smtClean="0">
                <a:latin typeface="黑体" panose="02010609060101010101" pitchFamily="49" charset="-122"/>
                <a:ea typeface="黑体" panose="02010609060101010101" pitchFamily="49" charset="-122"/>
              </a:rPr>
              <a:t>　蒸气的热力性质</a:t>
            </a:r>
            <a:br>
              <a:rPr lang="en-US" altLang="zh-CN" sz="4000" b="1" dirty="0" smtClean="0">
                <a:latin typeface="黑体" panose="02010609060101010101" pitchFamily="49" charset="-122"/>
                <a:ea typeface="黑体" panose="02010609060101010101" pitchFamily="49" charset="-122"/>
              </a:rPr>
            </a:br>
            <a:r>
              <a:rPr lang="en-US" altLang="zh-CN" sz="4000" b="1" dirty="0">
                <a:latin typeface="黑体" panose="02010609060101010101" pitchFamily="49" charset="-122"/>
                <a:ea typeface="黑体" panose="02010609060101010101" pitchFamily="49" charset="-122"/>
              </a:rPr>
              <a:t> </a:t>
            </a:r>
            <a:r>
              <a:rPr lang="en-US" altLang="zh-CN" sz="4000" b="1" dirty="0" smtClean="0">
                <a:latin typeface="黑体" panose="02010609060101010101" pitchFamily="49" charset="-122"/>
                <a:ea typeface="黑体" panose="02010609060101010101" pitchFamily="49" charset="-122"/>
              </a:rPr>
              <a:t> </a:t>
            </a:r>
            <a:r>
              <a:rPr lang="zh-CN" altLang="en-US" sz="4000" b="1" dirty="0" smtClean="0">
                <a:latin typeface="黑体" panose="02010609060101010101" pitchFamily="49" charset="-122"/>
                <a:ea typeface="黑体" panose="02010609060101010101" pitchFamily="49" charset="-122"/>
              </a:rPr>
              <a:t>  和纯物质的相图 </a:t>
            </a:r>
            <a:endParaRPr lang="zh-CN" altLang="en-US" sz="4000" b="1" dirty="0" smtClean="0">
              <a:latin typeface="黑体" panose="02010609060101010101" pitchFamily="49" charset="-122"/>
              <a:ea typeface="黑体" panose="02010609060101010101" pitchFamily="49" charset="-122"/>
            </a:endParaRPr>
          </a:p>
        </p:txBody>
      </p:sp>
    </p:spTree>
  </p:cSld>
  <p:clrMapOvr>
    <a:masterClrMapping/>
  </p:clrMapOvr>
  <p:transition spd="slow"/>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矩形 96257"/>
          <p:cNvSpPr>
            <a:spLocks noChangeArrowheads="1"/>
          </p:cNvSpPr>
          <p:nvPr/>
        </p:nvSpPr>
        <p:spPr bwMode="auto">
          <a:xfrm>
            <a:off x="304800" y="1905000"/>
            <a:ext cx="8305800" cy="155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p>
            <a:pPr algn="ctr">
              <a:buFontTx/>
              <a:buChar char="§"/>
            </a:pPr>
            <a:r>
              <a:rPr lang="en-US" altLang="zh-CN" sz="4400" b="1" dirty="0">
                <a:latin typeface="黑体" panose="02010609060101010101" pitchFamily="49" charset="-122"/>
                <a:ea typeface="黑体" panose="02010609060101010101" pitchFamily="49" charset="-122"/>
              </a:rPr>
              <a:t>9</a:t>
            </a:r>
            <a:r>
              <a:rPr lang="zh-CN" altLang="en-US" sz="4400" b="1" dirty="0">
                <a:latin typeface="黑体" panose="02010609060101010101" pitchFamily="49" charset="-122"/>
                <a:ea typeface="黑体" panose="02010609060101010101" pitchFamily="49" charset="-122"/>
              </a:rPr>
              <a:t>－</a:t>
            </a:r>
            <a:r>
              <a:rPr lang="en-US" altLang="zh-CN" sz="4400" b="1" dirty="0">
                <a:latin typeface="黑体" panose="02010609060101010101" pitchFamily="49" charset="-122"/>
                <a:ea typeface="黑体" panose="02010609060101010101" pitchFamily="49" charset="-122"/>
              </a:rPr>
              <a:t>1</a:t>
            </a:r>
            <a:r>
              <a:rPr lang="zh-CN" altLang="en-US" sz="4400" b="1" dirty="0">
                <a:latin typeface="黑体" panose="02010609060101010101" pitchFamily="49" charset="-122"/>
                <a:ea typeface="黑体" panose="02010609060101010101" pitchFamily="49" charset="-122"/>
              </a:rPr>
              <a:t>　纯物质及其相变概述</a:t>
            </a:r>
            <a:r>
              <a:rPr lang="zh-CN" altLang="en-US" sz="4400" dirty="0">
                <a:latin typeface="黑体" panose="02010609060101010101" pitchFamily="49" charset="-122"/>
                <a:ea typeface="黑体" panose="02010609060101010101" pitchFamily="49" charset="-122"/>
              </a:rPr>
              <a:t> </a:t>
            </a:r>
            <a:endParaRPr lang="zh-CN" altLang="en-US" sz="4400" dirty="0">
              <a:latin typeface="黑体" panose="02010609060101010101" pitchFamily="49" charset="-122"/>
              <a:ea typeface="黑体" panose="02010609060101010101" pitchFamily="49" charset="-122"/>
            </a:endParaRPr>
          </a:p>
        </p:txBody>
      </p:sp>
    </p:spTree>
  </p:cSld>
  <p:clrMapOvr>
    <a:masterClrMapping/>
  </p:clrMapOvr>
  <p:transition spd="slow"/>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矩形 102403"/>
          <p:cNvSpPr>
            <a:spLocks noChangeArrowheads="1"/>
          </p:cNvSpPr>
          <p:nvPr/>
        </p:nvSpPr>
        <p:spPr bwMode="auto">
          <a:xfrm>
            <a:off x="466863" y="1298853"/>
            <a:ext cx="7993063"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r>
              <a:rPr lang="zh-CN" altLang="en-US" sz="3200" b="1" dirty="0" smtClean="0">
                <a:latin typeface="黑体" panose="02010609060101010101" pitchFamily="49" charset="-122"/>
                <a:ea typeface="黑体" panose="02010609060101010101" pitchFamily="49" charset="-122"/>
              </a:rPr>
              <a:t>任何物质，如果其化学结构是处处</a:t>
            </a:r>
            <a:r>
              <a:rPr lang="zh-CN" altLang="en-US" sz="3200" b="1" dirty="0">
                <a:latin typeface="黑体" panose="02010609060101010101" pitchFamily="49" charset="-122"/>
                <a:ea typeface="黑体" panose="02010609060101010101" pitchFamily="49" charset="-122"/>
              </a:rPr>
              <a:t>一致</a:t>
            </a:r>
            <a:r>
              <a:rPr lang="zh-CN" altLang="en-US" sz="3200" b="1" dirty="0" smtClean="0">
                <a:latin typeface="黑体" panose="02010609060101010101" pitchFamily="49" charset="-122"/>
                <a:ea typeface="黑体" panose="02010609060101010101" pitchFamily="49" charset="-122"/>
              </a:rPr>
              <a:t>的，则此物质称为纯物质（</a:t>
            </a:r>
            <a:r>
              <a:rPr lang="en-US" altLang="zh-CN" sz="3200" b="1" dirty="0" smtClean="0">
                <a:latin typeface="Times New Roman" panose="02020603050405020304" pitchFamily="18" charset="0"/>
                <a:ea typeface="黑体" panose="02010609060101010101" pitchFamily="49" charset="-122"/>
                <a:cs typeface="Times New Roman" panose="02020603050405020304" pitchFamily="18" charset="0"/>
              </a:rPr>
              <a:t>pure substance</a:t>
            </a:r>
            <a:r>
              <a:rPr lang="zh-CN" altLang="en-US" sz="3200" b="1" dirty="0" smtClean="0">
                <a:latin typeface="黑体" panose="02010609060101010101" pitchFamily="49" charset="-122"/>
                <a:ea typeface="黑体" panose="02010609060101010101" pitchFamily="49" charset="-122"/>
              </a:rPr>
              <a:t>）</a:t>
            </a:r>
            <a:endParaRPr lang="zh-CN" altLang="en-US" sz="3200" b="1" dirty="0">
              <a:latin typeface="黑体" panose="02010609060101010101" pitchFamily="49" charset="-122"/>
              <a:ea typeface="黑体" panose="02010609060101010101" pitchFamily="49" charset="-122"/>
            </a:endParaRPr>
          </a:p>
        </p:txBody>
      </p:sp>
      <p:sp>
        <p:nvSpPr>
          <p:cNvPr id="14338" name="矩形 102411"/>
          <p:cNvSpPr>
            <a:spLocks noChangeArrowheads="1"/>
          </p:cNvSpPr>
          <p:nvPr/>
        </p:nvSpPr>
        <p:spPr bwMode="auto">
          <a:xfrm>
            <a:off x="466863" y="370371"/>
            <a:ext cx="7850188"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4000" b="1" dirty="0">
                <a:latin typeface="黑体" panose="02010609060101010101" pitchFamily="49" charset="-122"/>
                <a:ea typeface="黑体" panose="02010609060101010101" pitchFamily="49" charset="-122"/>
              </a:rPr>
              <a:t>一、什么是纯物质？</a:t>
            </a:r>
            <a:endParaRPr lang="zh-CN" altLang="en-US" sz="4000" b="1" dirty="0">
              <a:latin typeface="黑体" panose="02010609060101010101" pitchFamily="49" charset="-122"/>
              <a:ea typeface="黑体" panose="02010609060101010101" pitchFamily="49" charset="-122"/>
            </a:endParaRPr>
          </a:p>
        </p:txBody>
      </p:sp>
      <p:sp>
        <p:nvSpPr>
          <p:cNvPr id="4" name="矩形 227331"/>
          <p:cNvSpPr>
            <a:spLocks noChangeArrowheads="1"/>
          </p:cNvSpPr>
          <p:nvPr/>
        </p:nvSpPr>
        <p:spPr bwMode="auto">
          <a:xfrm>
            <a:off x="466863" y="2894427"/>
            <a:ext cx="7993063"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800" b="1" dirty="0" smtClean="0">
                <a:latin typeface="黑体" panose="02010609060101010101" pitchFamily="49" charset="-122"/>
                <a:ea typeface="黑体" panose="02010609060101010101" pitchFamily="49" charset="-122"/>
              </a:rPr>
              <a:t>说明</a:t>
            </a:r>
            <a:r>
              <a:rPr lang="en-US" altLang="zh-CN" sz="2800" b="1" dirty="0" smtClean="0">
                <a:latin typeface="黑体" panose="02010609060101010101" pitchFamily="49" charset="-122"/>
                <a:ea typeface="黑体" panose="02010609060101010101" pitchFamily="49" charset="-122"/>
              </a:rPr>
              <a:t>1</a:t>
            </a:r>
            <a:r>
              <a:rPr lang="zh-CN" altLang="en-US" sz="2800" b="1" dirty="0">
                <a:latin typeface="黑体" panose="02010609060101010101" pitchFamily="49" charset="-122"/>
                <a:ea typeface="黑体" panose="02010609060101010101" pitchFamily="49" charset="-122"/>
              </a:rPr>
              <a:t>：纯</a:t>
            </a:r>
            <a:r>
              <a:rPr lang="zh-CN" altLang="en-US" sz="2800" b="1" dirty="0" smtClean="0">
                <a:latin typeface="黑体" panose="02010609060101010101" pitchFamily="49" charset="-122"/>
                <a:ea typeface="黑体" panose="02010609060101010101" pitchFamily="49" charset="-122"/>
              </a:rPr>
              <a:t>物质不一定是由单一的化学元素或化合物组成，只要是均匀混合，也可以视为纯物质。</a:t>
            </a:r>
            <a:endParaRPr lang="zh-CN" altLang="en-US" sz="2800" b="1" dirty="0">
              <a:latin typeface="黑体" panose="02010609060101010101" pitchFamily="49" charset="-122"/>
              <a:ea typeface="黑体" panose="02010609060101010101" pitchFamily="49" charset="-122"/>
            </a:endParaRPr>
          </a:p>
        </p:txBody>
      </p:sp>
      <p:sp>
        <p:nvSpPr>
          <p:cNvPr id="5" name="矩形 227332"/>
          <p:cNvSpPr>
            <a:spLocks noChangeArrowheads="1"/>
          </p:cNvSpPr>
          <p:nvPr/>
        </p:nvSpPr>
        <p:spPr bwMode="auto">
          <a:xfrm>
            <a:off x="503376" y="4136887"/>
            <a:ext cx="7777162"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2400" b="1" dirty="0" smtClean="0">
                <a:solidFill>
                  <a:srgbClr val="0000FF"/>
                </a:solidFill>
                <a:latin typeface="黑体" panose="02010609060101010101" pitchFamily="49" charset="-122"/>
                <a:ea typeface="黑体" panose="02010609060101010101" pitchFamily="49" charset="-122"/>
              </a:rPr>
              <a:t>例如：空气</a:t>
            </a:r>
            <a:r>
              <a:rPr lang="zh-CN" altLang="en-US" sz="2400" b="1" dirty="0">
                <a:solidFill>
                  <a:srgbClr val="0000FF"/>
                </a:solidFill>
                <a:latin typeface="黑体" panose="02010609060101010101" pitchFamily="49" charset="-122"/>
                <a:ea typeface="黑体" panose="02010609060101010101" pitchFamily="49" charset="-122"/>
              </a:rPr>
              <a:t>是由几种气体组成的混合物，但空气常被视为纯物质，因为它有处处一致的化学组成； </a:t>
            </a:r>
            <a:endParaRPr lang="zh-CN" altLang="en-US" sz="2400" b="1" dirty="0">
              <a:solidFill>
                <a:srgbClr val="0000FF"/>
              </a:solidFill>
              <a:latin typeface="黑体" panose="02010609060101010101" pitchFamily="49" charset="-122"/>
              <a:ea typeface="黑体" panose="02010609060101010101" pitchFamily="49" charset="-122"/>
            </a:endParaRPr>
          </a:p>
          <a:p>
            <a:r>
              <a:rPr lang="zh-CN" altLang="en-US" sz="2400" b="1" dirty="0">
                <a:solidFill>
                  <a:srgbClr val="0000FF"/>
                </a:solidFill>
                <a:latin typeface="黑体" panose="02010609060101010101" pitchFamily="49" charset="-122"/>
                <a:ea typeface="黑体" panose="02010609060101010101" pitchFamily="49" charset="-122"/>
              </a:rPr>
              <a:t>但油和水的混合物不是纯物质，原因是油不溶于水而位于水的上部，形成了两个不同化学结构的区域。</a:t>
            </a:r>
            <a:r>
              <a:rPr lang="zh-CN" altLang="en-US" sz="2400" b="1" dirty="0">
                <a:solidFill>
                  <a:srgbClr val="0000FF"/>
                </a:solidFill>
                <a:latin typeface="楷体_GB2312" pitchFamily="49" charset="-122"/>
                <a:ea typeface="楷体_GB2312" pitchFamily="49" charset="-122"/>
              </a:rPr>
              <a:t> </a:t>
            </a:r>
            <a:endParaRPr lang="zh-CN" altLang="en-US" sz="2400" b="1" dirty="0">
              <a:solidFill>
                <a:srgbClr val="0000FF"/>
              </a:solidFill>
              <a:latin typeface="楷体_GB2312" pitchFamily="49" charset="-122"/>
              <a:ea typeface="楷体_GB2312" pitchFamily="49" charset="-122"/>
            </a:endParaRPr>
          </a:p>
        </p:txBody>
      </p:sp>
    </p:spTree>
  </p:cSld>
  <p:clrMapOvr>
    <a:masterClrMapping/>
  </p:clrMapOvr>
  <p:transition spd="slow"/>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矩形 228355"/>
          <p:cNvSpPr>
            <a:spLocks noChangeArrowheads="1"/>
          </p:cNvSpPr>
          <p:nvPr/>
        </p:nvSpPr>
        <p:spPr bwMode="auto">
          <a:xfrm>
            <a:off x="398808" y="270437"/>
            <a:ext cx="8276880"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2800" b="1" dirty="0" smtClean="0">
                <a:latin typeface="黑体" panose="02010609060101010101" pitchFamily="49" charset="-122"/>
                <a:ea typeface="黑体" panose="02010609060101010101" pitchFamily="49" charset="-122"/>
              </a:rPr>
              <a:t>说明</a:t>
            </a:r>
            <a:r>
              <a:rPr lang="en-US" altLang="zh-CN" sz="2800" b="1" dirty="0" smtClean="0">
                <a:latin typeface="黑体" panose="02010609060101010101" pitchFamily="49" charset="-122"/>
                <a:ea typeface="黑体" panose="02010609060101010101" pitchFamily="49" charset="-122"/>
              </a:rPr>
              <a:t>2</a:t>
            </a:r>
            <a:r>
              <a:rPr lang="zh-CN" altLang="en-US" sz="2800" b="1" dirty="0" smtClean="0">
                <a:latin typeface="黑体" panose="02010609060101010101" pitchFamily="49" charset="-122"/>
                <a:ea typeface="黑体" panose="02010609060101010101" pitchFamily="49" charset="-122"/>
              </a:rPr>
              <a:t>：对于两相</a:t>
            </a:r>
            <a:r>
              <a:rPr lang="zh-CN" altLang="en-US" sz="2800" b="1" dirty="0">
                <a:latin typeface="黑体" panose="02010609060101010101" pitchFamily="49" charset="-122"/>
                <a:ea typeface="黑体" panose="02010609060101010101" pitchFamily="49" charset="-122"/>
              </a:rPr>
              <a:t>或多相纯物质的</a:t>
            </a:r>
            <a:r>
              <a:rPr lang="zh-CN" altLang="en-US" sz="2800" b="1" dirty="0" smtClean="0">
                <a:latin typeface="黑体" panose="02010609060101010101" pitchFamily="49" charset="-122"/>
                <a:ea typeface="黑体" panose="02010609060101010101" pitchFamily="49" charset="-122"/>
              </a:rPr>
              <a:t>混合物，只要满足各相纯物质的化学结构是相同的，那么该混合物仍然是纯物质。</a:t>
            </a:r>
            <a:endParaRPr lang="zh-CN" altLang="en-US" sz="2800" b="1" dirty="0">
              <a:latin typeface="黑体" panose="02010609060101010101" pitchFamily="49" charset="-122"/>
              <a:ea typeface="黑体" panose="02010609060101010101" pitchFamily="49" charset="-122"/>
            </a:endParaRPr>
          </a:p>
        </p:txBody>
      </p:sp>
      <p:graphicFrame>
        <p:nvGraphicFramePr>
          <p:cNvPr id="16386" name="对象 228356"/>
          <p:cNvGraphicFramePr/>
          <p:nvPr/>
        </p:nvGraphicFramePr>
        <p:xfrm>
          <a:off x="682971" y="1978860"/>
          <a:ext cx="2592388" cy="2109788"/>
        </p:xfrm>
        <a:graphic>
          <a:graphicData uri="http://schemas.openxmlformats.org/presentationml/2006/ole">
            <mc:AlternateContent xmlns:mc="http://schemas.openxmlformats.org/markup-compatibility/2006">
              <mc:Choice xmlns:v="urn:schemas-microsoft-com:vml" Requires="v">
                <p:oleObj spid="_x0000_s1078" name="" r:id="rId1" imgW="1457960" imgH="1190625" progId="Visio.Drawing.11">
                  <p:embed/>
                </p:oleObj>
              </mc:Choice>
              <mc:Fallback>
                <p:oleObj name="" r:id="rId1" imgW="1457960" imgH="1190625" progId="Visio.Drawing.11">
                  <p:embed/>
                  <p:pic>
                    <p:nvPicPr>
                      <p:cNvPr id="0" name="对象 228356"/>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2971" y="1978860"/>
                        <a:ext cx="2592388" cy="2109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6387" name="矩形 228357"/>
          <p:cNvSpPr>
            <a:spLocks noChangeArrowheads="1"/>
          </p:cNvSpPr>
          <p:nvPr/>
        </p:nvSpPr>
        <p:spPr bwMode="auto">
          <a:xfrm>
            <a:off x="2554634" y="2609712"/>
            <a:ext cx="720725"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000" b="1" dirty="0">
                <a:solidFill>
                  <a:srgbClr val="FF0000"/>
                </a:solidFill>
                <a:latin typeface="楷体_GB2312" pitchFamily="49" charset="-122"/>
                <a:ea typeface="楷体_GB2312" pitchFamily="49" charset="-122"/>
              </a:rPr>
              <a:t>是纯物质</a:t>
            </a:r>
            <a:endParaRPr lang="zh-CN" altLang="en-US" sz="2000" b="1" dirty="0">
              <a:solidFill>
                <a:srgbClr val="FF0000"/>
              </a:solidFill>
              <a:latin typeface="楷体_GB2312" pitchFamily="49" charset="-122"/>
              <a:ea typeface="楷体_GB2312" pitchFamily="49" charset="-122"/>
            </a:endParaRPr>
          </a:p>
        </p:txBody>
      </p:sp>
      <p:sp>
        <p:nvSpPr>
          <p:cNvPr id="228359" name="矩形 228358"/>
          <p:cNvSpPr>
            <a:spLocks noChangeArrowheads="1"/>
          </p:cNvSpPr>
          <p:nvPr/>
        </p:nvSpPr>
        <p:spPr bwMode="auto">
          <a:xfrm>
            <a:off x="4283076" y="4238977"/>
            <a:ext cx="4392612"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2400" b="1" dirty="0">
                <a:solidFill>
                  <a:srgbClr val="0000FF"/>
                </a:solidFill>
                <a:latin typeface="黑体" panose="02010609060101010101" pitchFamily="49" charset="-122"/>
                <a:ea typeface="黑体" panose="02010609060101010101" pitchFamily="49" charset="-122"/>
              </a:rPr>
              <a:t>在某个给定的压力下，空气中不同组分气体的凝结温度不同，致使液态空气和气态空气的组分不同，不满足化学结构处处一致的要求 </a:t>
            </a:r>
            <a:endParaRPr lang="zh-CN" altLang="en-US" sz="2400" b="1" dirty="0">
              <a:solidFill>
                <a:srgbClr val="0000FF"/>
              </a:solidFill>
              <a:latin typeface="黑体" panose="02010609060101010101" pitchFamily="49" charset="-122"/>
              <a:ea typeface="黑体" panose="02010609060101010101" pitchFamily="49" charset="-122"/>
            </a:endParaRPr>
          </a:p>
        </p:txBody>
      </p:sp>
      <p:graphicFrame>
        <p:nvGraphicFramePr>
          <p:cNvPr id="228360" name="对象 228359"/>
          <p:cNvGraphicFramePr/>
          <p:nvPr/>
        </p:nvGraphicFramePr>
        <p:xfrm>
          <a:off x="5327858" y="1798674"/>
          <a:ext cx="2592387" cy="2109788"/>
        </p:xfrm>
        <a:graphic>
          <a:graphicData uri="http://schemas.openxmlformats.org/presentationml/2006/ole">
            <mc:AlternateContent xmlns:mc="http://schemas.openxmlformats.org/markup-compatibility/2006">
              <mc:Choice xmlns:v="urn:schemas-microsoft-com:vml" Requires="v">
                <p:oleObj spid="_x0000_s1079" name="" r:id="rId3" imgW="1457960" imgH="1190625" progId="Visio.Drawing.11">
                  <p:embed/>
                </p:oleObj>
              </mc:Choice>
              <mc:Fallback>
                <p:oleObj name="" r:id="rId3" imgW="1457960" imgH="1190625" progId="Visio.Drawing.11">
                  <p:embed/>
                  <p:pic>
                    <p:nvPicPr>
                      <p:cNvPr id="0" name="对象 228359"/>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27858" y="1798674"/>
                        <a:ext cx="2592387" cy="2109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28362" name="矩形 228361"/>
          <p:cNvSpPr>
            <a:spLocks noChangeArrowheads="1"/>
          </p:cNvSpPr>
          <p:nvPr/>
        </p:nvSpPr>
        <p:spPr bwMode="auto">
          <a:xfrm>
            <a:off x="7802079" y="2321277"/>
            <a:ext cx="504825" cy="1631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000" b="1" dirty="0">
                <a:solidFill>
                  <a:srgbClr val="FF0000"/>
                </a:solidFill>
                <a:latin typeface="楷体_GB2312" pitchFamily="49" charset="-122"/>
                <a:ea typeface="楷体_GB2312" pitchFamily="49" charset="-122"/>
              </a:rPr>
              <a:t>不是纯物质</a:t>
            </a:r>
            <a:endParaRPr lang="zh-CN" altLang="en-US" sz="2000" b="1" dirty="0">
              <a:solidFill>
                <a:srgbClr val="FF0000"/>
              </a:solidFill>
              <a:latin typeface="楷体_GB2312" pitchFamily="49" charset="-122"/>
              <a:ea typeface="楷体_GB2312" pitchFamily="49" charset="-122"/>
            </a:endParaRPr>
          </a:p>
        </p:txBody>
      </p:sp>
      <p:sp>
        <p:nvSpPr>
          <p:cNvPr id="16395" name="矩形 228365"/>
          <p:cNvSpPr>
            <a:spLocks noChangeArrowheads="1"/>
          </p:cNvSpPr>
          <p:nvPr/>
        </p:nvSpPr>
        <p:spPr bwMode="auto">
          <a:xfrm>
            <a:off x="398808" y="4238977"/>
            <a:ext cx="265970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b="1" dirty="0">
                <a:solidFill>
                  <a:srgbClr val="0000FF"/>
                </a:solidFill>
                <a:latin typeface="黑体" panose="02010609060101010101" pitchFamily="49" charset="-122"/>
                <a:ea typeface="黑体" panose="02010609060101010101" pitchFamily="49" charset="-122"/>
              </a:rPr>
              <a:t>化学结构处处一致</a:t>
            </a:r>
            <a:endParaRPr lang="zh-CN" altLang="en-US" sz="2400" b="1" dirty="0">
              <a:solidFill>
                <a:srgbClr val="0000FF"/>
              </a:solidFill>
              <a:latin typeface="黑体" panose="02010609060101010101" pitchFamily="49" charset="-122"/>
              <a:ea typeface="黑体" panose="02010609060101010101" pitchFamily="49" charset="-122"/>
            </a:endParaRPr>
          </a:p>
        </p:txBody>
      </p:sp>
    </p:spTree>
    <p:custDataLst>
      <p:tags r:id="rId5"/>
    </p:custData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28359"/>
                                        </p:tgtEl>
                                        <p:attrNameLst>
                                          <p:attrName>style.visibility</p:attrName>
                                        </p:attrNameLst>
                                      </p:cBhvr>
                                      <p:to>
                                        <p:strVal val="visible"/>
                                      </p:to>
                                    </p:set>
                                    <p:animEffect transition="in" filter="blinds(horizontal)">
                                      <p:cBhvr>
                                        <p:cTn id="7" dur="500"/>
                                        <p:tgtEl>
                                          <p:spTgt spid="228359"/>
                                        </p:tgtEl>
                                      </p:cBhvr>
                                    </p:animEffect>
                                  </p:childTnLst>
                                </p:cTn>
                              </p:par>
                              <p:par>
                                <p:cTn id="8" presetID="3" presetClass="entr" presetSubtype="10" fill="hold" nodeType="withEffect">
                                  <p:stCondLst>
                                    <p:cond delay="0"/>
                                  </p:stCondLst>
                                  <p:childTnLst>
                                    <p:set>
                                      <p:cBhvr>
                                        <p:cTn id="9" dur="1" fill="hold">
                                          <p:stCondLst>
                                            <p:cond delay="0"/>
                                          </p:stCondLst>
                                        </p:cTn>
                                        <p:tgtEl>
                                          <p:spTgt spid="228360"/>
                                        </p:tgtEl>
                                        <p:attrNameLst>
                                          <p:attrName>style.visibility</p:attrName>
                                        </p:attrNameLst>
                                      </p:cBhvr>
                                      <p:to>
                                        <p:strVal val="visible"/>
                                      </p:to>
                                    </p:set>
                                    <p:animEffect transition="in" filter="blinds(horizontal)">
                                      <p:cBhvr>
                                        <p:cTn id="10" dur="500"/>
                                        <p:tgtEl>
                                          <p:spTgt spid="228360"/>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228362"/>
                                        </p:tgtEl>
                                        <p:attrNameLst>
                                          <p:attrName>style.visibility</p:attrName>
                                        </p:attrNameLst>
                                      </p:cBhvr>
                                      <p:to>
                                        <p:strVal val="visible"/>
                                      </p:to>
                                    </p:set>
                                    <p:animEffect transition="in" filter="blinds(horizontal)">
                                      <p:cBhvr>
                                        <p:cTn id="13" dur="500"/>
                                        <p:tgtEl>
                                          <p:spTgt spid="2283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8359" grpId="0"/>
      <p:bldP spid="22836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文本框 103425"/>
          <p:cNvSpPr txBox="1">
            <a:spLocks noChangeArrowheads="1"/>
          </p:cNvSpPr>
          <p:nvPr/>
        </p:nvSpPr>
        <p:spPr bwMode="auto">
          <a:xfrm>
            <a:off x="611188" y="333375"/>
            <a:ext cx="727392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3600" b="1">
                <a:latin typeface="Arial" panose="020B0604020202020204" pitchFamily="34" charset="0"/>
                <a:ea typeface="黑体" panose="02010609060101010101" pitchFamily="49" charset="-122"/>
              </a:rPr>
              <a:t>二、 纯物质的状态方程式</a:t>
            </a:r>
            <a:endParaRPr lang="zh-CN" altLang="en-US" sz="3600" b="1">
              <a:latin typeface="Arial" panose="020B0604020202020204" pitchFamily="34" charset="0"/>
              <a:ea typeface="黑体" panose="02010609060101010101" pitchFamily="49" charset="-122"/>
            </a:endParaRPr>
          </a:p>
        </p:txBody>
      </p:sp>
      <p:sp>
        <p:nvSpPr>
          <p:cNvPr id="17410" name="矩形 103426"/>
          <p:cNvSpPr>
            <a:spLocks noChangeArrowheads="1"/>
          </p:cNvSpPr>
          <p:nvPr/>
        </p:nvSpPr>
        <p:spPr bwMode="auto">
          <a:xfrm>
            <a:off x="0" y="33004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17411" name="对象 103427"/>
          <p:cNvGraphicFramePr/>
          <p:nvPr/>
        </p:nvGraphicFramePr>
        <p:xfrm>
          <a:off x="5364163" y="1958439"/>
          <a:ext cx="1908175" cy="585788"/>
        </p:xfrm>
        <a:graphic>
          <a:graphicData uri="http://schemas.openxmlformats.org/presentationml/2006/ole">
            <mc:AlternateContent xmlns:mc="http://schemas.openxmlformats.org/markup-compatibility/2006">
              <mc:Choice xmlns:v="urn:schemas-microsoft-com:vml" Requires="v">
                <p:oleObj spid="_x0000_s2175" name="" r:id="rId1" imgW="837565" imgH="254000" progId="Equation.DSMT4">
                  <p:embed/>
                </p:oleObj>
              </mc:Choice>
              <mc:Fallback>
                <p:oleObj name="" r:id="rId1" imgW="837565" imgH="254000" progId="Equation.DSMT4">
                  <p:embed/>
                  <p:pic>
                    <p:nvPicPr>
                      <p:cNvPr id="0" name="对象 103427"/>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64163" y="1958439"/>
                        <a:ext cx="1908175"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7412" name="文本框 103428"/>
          <p:cNvSpPr txBox="1">
            <a:spLocks noChangeArrowheads="1"/>
          </p:cNvSpPr>
          <p:nvPr/>
        </p:nvSpPr>
        <p:spPr bwMode="auto">
          <a:xfrm>
            <a:off x="525938" y="1107539"/>
            <a:ext cx="8092123" cy="137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对于纯物质组成的简单可压缩系统，可任选</a:t>
            </a:r>
            <a:r>
              <a:rPr lang="zh-CN" altLang="en-US" sz="28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两个独立</a:t>
            </a: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内部强度状态参数（</a:t>
            </a:r>
            <a:r>
              <a:rPr lang="en-US" altLang="zh-CN" sz="2800" b="1" i="1" dirty="0">
                <a:latin typeface="Times New Roman" panose="02020603050405020304" pitchFamily="18" charset="0"/>
                <a:ea typeface="黑体" panose="02010609060101010101" pitchFamily="49" charset="-122"/>
                <a:cs typeface="Times New Roman" panose="02020603050405020304" pitchFamily="18" charset="0"/>
              </a:rPr>
              <a:t>x</a:t>
            </a:r>
            <a:r>
              <a:rPr lang="en-US" altLang="zh-CN" sz="2800" b="1" baseline="-25000" dirty="0">
                <a:latin typeface="Times New Roman" panose="02020603050405020304" pitchFamily="18" charset="0"/>
                <a:ea typeface="黑体" panose="02010609060101010101" pitchFamily="49" charset="-122"/>
                <a:cs typeface="Times New Roman" panose="02020603050405020304" pitchFamily="18" charset="0"/>
              </a:rPr>
              <a:t>1</a:t>
            </a: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2800" b="1" i="1" dirty="0">
                <a:latin typeface="Times New Roman" panose="02020603050405020304" pitchFamily="18" charset="0"/>
                <a:ea typeface="黑体" panose="02010609060101010101" pitchFamily="49" charset="-122"/>
                <a:cs typeface="Times New Roman" panose="02020603050405020304" pitchFamily="18" charset="0"/>
              </a:rPr>
              <a:t>x</a:t>
            </a:r>
            <a:r>
              <a:rPr lang="en-US" altLang="zh-CN" sz="2800" b="1" baseline="-25000" dirty="0">
                <a:latin typeface="Times New Roman" panose="02020603050405020304" pitchFamily="18" charset="0"/>
                <a:ea typeface="黑体" panose="02010609060101010101" pitchFamily="49" charset="-122"/>
                <a:cs typeface="Times New Roman" panose="02020603050405020304" pitchFamily="18" charset="0"/>
              </a:rPr>
              <a:t>2</a:t>
            </a: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）作为自变量，其余内部强度状态参数</a:t>
            </a:r>
            <a:r>
              <a:rPr lang="en-US" altLang="zh-CN" sz="2800" b="1" i="1" dirty="0">
                <a:latin typeface="Times New Roman" panose="02020603050405020304" pitchFamily="18" charset="0"/>
                <a:ea typeface="黑体" panose="02010609060101010101" pitchFamily="49" charset="-122"/>
                <a:cs typeface="Times New Roman" panose="02020603050405020304" pitchFamily="18" charset="0"/>
              </a:rPr>
              <a:t>y</a:t>
            </a: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为因变量</a:t>
            </a:r>
            <a:endParaRPr lang="zh-CN" altLang="en-US" sz="28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7413" name="矩形 103429"/>
          <p:cNvSpPr>
            <a:spLocks noChangeArrowheads="1"/>
          </p:cNvSpPr>
          <p:nvPr/>
        </p:nvSpPr>
        <p:spPr bwMode="auto">
          <a:xfrm>
            <a:off x="0" y="33004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17414" name="对象 103430"/>
          <p:cNvGraphicFramePr/>
          <p:nvPr/>
        </p:nvGraphicFramePr>
        <p:xfrm>
          <a:off x="1312228" y="3698340"/>
          <a:ext cx="1728787" cy="582613"/>
        </p:xfrm>
        <a:graphic>
          <a:graphicData uri="http://schemas.openxmlformats.org/presentationml/2006/ole">
            <mc:AlternateContent xmlns:mc="http://schemas.openxmlformats.org/markup-compatibility/2006">
              <mc:Choice xmlns:v="urn:schemas-microsoft-com:vml" Requires="v">
                <p:oleObj spid="_x0000_s2176" name="" r:id="rId3" imgW="761365" imgH="254000" progId="Equation.DSMT4">
                  <p:embed/>
                </p:oleObj>
              </mc:Choice>
              <mc:Fallback>
                <p:oleObj name="" r:id="rId3" imgW="761365" imgH="254000" progId="Equation.DSMT4">
                  <p:embed/>
                  <p:pic>
                    <p:nvPicPr>
                      <p:cNvPr id="0" name="对象 103430"/>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12228" y="3698340"/>
                        <a:ext cx="1728787" cy="582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7415" name="文本框 103431"/>
          <p:cNvSpPr txBox="1">
            <a:spLocks noChangeArrowheads="1"/>
          </p:cNvSpPr>
          <p:nvPr/>
        </p:nvSpPr>
        <p:spPr bwMode="auto">
          <a:xfrm>
            <a:off x="827086" y="2871907"/>
            <a:ext cx="748982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rPr>
              <a:t>在基本状态参数之间，可以写成</a:t>
            </a:r>
            <a:endParaRPr lang="zh-CN" altLang="en-US" sz="28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7416" name="矩形 103432"/>
          <p:cNvSpPr>
            <a:spLocks noChangeArrowheads="1"/>
          </p:cNvSpPr>
          <p:nvPr/>
        </p:nvSpPr>
        <p:spPr bwMode="auto">
          <a:xfrm>
            <a:off x="0" y="33004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17417" name="对象 103433"/>
          <p:cNvGraphicFramePr/>
          <p:nvPr/>
        </p:nvGraphicFramePr>
        <p:xfrm>
          <a:off x="3779835" y="3722152"/>
          <a:ext cx="1584325" cy="534987"/>
        </p:xfrm>
        <a:graphic>
          <a:graphicData uri="http://schemas.openxmlformats.org/presentationml/2006/ole">
            <mc:AlternateContent xmlns:mc="http://schemas.openxmlformats.org/markup-compatibility/2006">
              <mc:Choice xmlns:v="urn:schemas-microsoft-com:vml" Requires="v">
                <p:oleObj spid="_x0000_s2177" name="" r:id="rId5" imgW="761365" imgH="254000" progId="Equation.DSMT4">
                  <p:embed/>
                </p:oleObj>
              </mc:Choice>
              <mc:Fallback>
                <p:oleObj name="" r:id="rId5" imgW="761365" imgH="254000" progId="Equation.DSMT4">
                  <p:embed/>
                  <p:pic>
                    <p:nvPicPr>
                      <p:cNvPr id="0" name="对象 103433"/>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79835" y="3722152"/>
                        <a:ext cx="1584325"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7418" name="矩形 103434"/>
          <p:cNvSpPr>
            <a:spLocks noChangeArrowheads="1"/>
          </p:cNvSpPr>
          <p:nvPr/>
        </p:nvSpPr>
        <p:spPr bwMode="auto">
          <a:xfrm>
            <a:off x="0" y="33004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17419" name="对象 103435"/>
          <p:cNvGraphicFramePr/>
          <p:nvPr/>
        </p:nvGraphicFramePr>
        <p:xfrm>
          <a:off x="6038957" y="3772331"/>
          <a:ext cx="1512887" cy="509587"/>
        </p:xfrm>
        <a:graphic>
          <a:graphicData uri="http://schemas.openxmlformats.org/presentationml/2006/ole">
            <mc:AlternateContent xmlns:mc="http://schemas.openxmlformats.org/markup-compatibility/2006">
              <mc:Choice xmlns:v="urn:schemas-microsoft-com:vml" Requires="v">
                <p:oleObj spid="_x0000_s2178" name="" r:id="rId7" imgW="761365" imgH="254000" progId="Equation.DSMT4">
                  <p:embed/>
                </p:oleObj>
              </mc:Choice>
              <mc:Fallback>
                <p:oleObj name="" r:id="rId7" imgW="761365" imgH="254000" progId="Equation.DSMT4">
                  <p:embed/>
                  <p:pic>
                    <p:nvPicPr>
                      <p:cNvPr id="0" name="对象 103435"/>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038957" y="3772331"/>
                        <a:ext cx="1512887" cy="509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7420" name="矩形 103436"/>
          <p:cNvSpPr>
            <a:spLocks noChangeArrowheads="1"/>
          </p:cNvSpPr>
          <p:nvPr/>
        </p:nvSpPr>
        <p:spPr bwMode="auto">
          <a:xfrm>
            <a:off x="932364" y="5323713"/>
            <a:ext cx="7685697"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r>
              <a:rPr lang="zh-CN" altLang="en-US" sz="2800" b="1" dirty="0" smtClean="0">
                <a:solidFill>
                  <a:srgbClr val="0000CC"/>
                </a:solidFill>
                <a:latin typeface="黑体" panose="02010609060101010101" pitchFamily="49" charset="-122"/>
                <a:ea typeface="黑体" panose="02010609060101010101" pitchFamily="49" charset="-122"/>
              </a:rPr>
              <a:t>此式建立了平衡状态下纯物质的基本状态参数</a:t>
            </a:r>
            <a:r>
              <a:rPr lang="en-US" altLang="zh-CN" sz="2800" b="1" i="1" dirty="0" smtClean="0">
                <a:solidFill>
                  <a:srgbClr val="0000CC"/>
                </a:solidFill>
                <a:latin typeface="Times New Roman" panose="02020603050405020304" pitchFamily="18" charset="0"/>
                <a:ea typeface="黑体" panose="02010609060101010101" pitchFamily="49" charset="-122"/>
                <a:cs typeface="Times New Roman" panose="02020603050405020304" pitchFamily="18" charset="0"/>
              </a:rPr>
              <a:t>p</a:t>
            </a:r>
            <a:r>
              <a:rPr lang="zh-CN" altLang="en-US" sz="2800" b="1" i="1" dirty="0" smtClean="0">
                <a:solidFill>
                  <a:srgbClr val="0000CC"/>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2800" b="1" i="1" dirty="0" smtClean="0">
                <a:solidFill>
                  <a:srgbClr val="0000CC"/>
                </a:solidFill>
                <a:latin typeface="Times New Roman" panose="02020603050405020304" pitchFamily="18" charset="0"/>
                <a:ea typeface="黑体" panose="02010609060101010101" pitchFamily="49" charset="-122"/>
                <a:cs typeface="Times New Roman" panose="02020603050405020304" pitchFamily="18" charset="0"/>
              </a:rPr>
              <a:t>v</a:t>
            </a:r>
            <a:r>
              <a:rPr lang="zh-CN" altLang="en-US" sz="2800" b="1" i="1" dirty="0" smtClean="0">
                <a:solidFill>
                  <a:srgbClr val="0000CC"/>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2800" b="1" i="1" dirty="0" smtClean="0">
                <a:solidFill>
                  <a:srgbClr val="0000CC"/>
                </a:solidFill>
                <a:latin typeface="Times New Roman" panose="02020603050405020304" pitchFamily="18" charset="0"/>
                <a:ea typeface="黑体" panose="02010609060101010101" pitchFamily="49" charset="-122"/>
                <a:cs typeface="Times New Roman" panose="02020603050405020304" pitchFamily="18" charset="0"/>
              </a:rPr>
              <a:t>T</a:t>
            </a:r>
            <a:r>
              <a:rPr lang="zh-CN" altLang="en-US" sz="2800" b="1" dirty="0" smtClean="0">
                <a:solidFill>
                  <a:srgbClr val="0000CC"/>
                </a:solidFill>
                <a:latin typeface="黑体" panose="02010609060101010101" pitchFamily="49" charset="-122"/>
                <a:ea typeface="黑体" panose="02010609060101010101" pitchFamily="49" charset="-122"/>
              </a:rPr>
              <a:t>之间的关系，称为纯物质的状态方程式</a:t>
            </a:r>
            <a:r>
              <a:rPr lang="zh-CN" altLang="en-US" sz="2800" b="1" dirty="0" smtClean="0">
                <a:latin typeface="黑体" panose="02010609060101010101" pitchFamily="49" charset="-122"/>
                <a:ea typeface="黑体" panose="02010609060101010101" pitchFamily="49" charset="-122"/>
              </a:rPr>
              <a:t> </a:t>
            </a:r>
            <a:endParaRPr lang="zh-CN" altLang="en-US" sz="2800" b="1" dirty="0">
              <a:latin typeface="黑体" panose="02010609060101010101" pitchFamily="49" charset="-122"/>
              <a:ea typeface="黑体" panose="02010609060101010101" pitchFamily="49" charset="-122"/>
            </a:endParaRPr>
          </a:p>
        </p:txBody>
      </p:sp>
      <p:sp>
        <p:nvSpPr>
          <p:cNvPr id="17421" name="矩形 103437"/>
          <p:cNvSpPr>
            <a:spLocks noChangeArrowheads="1"/>
          </p:cNvSpPr>
          <p:nvPr/>
        </p:nvSpPr>
        <p:spPr bwMode="auto">
          <a:xfrm>
            <a:off x="0" y="33004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17422" name="对象 103438"/>
          <p:cNvGraphicFramePr/>
          <p:nvPr/>
        </p:nvGraphicFramePr>
        <p:xfrm>
          <a:off x="3359891" y="4550590"/>
          <a:ext cx="1873250" cy="544513"/>
        </p:xfrm>
        <a:graphic>
          <a:graphicData uri="http://schemas.openxmlformats.org/presentationml/2006/ole">
            <mc:AlternateContent xmlns:mc="http://schemas.openxmlformats.org/markup-compatibility/2006">
              <mc:Choice xmlns:v="urn:schemas-microsoft-com:vml" Requires="v">
                <p:oleObj spid="_x0000_s2179" name="" r:id="rId9" imgW="888365" imgH="254000" progId="Equation.DSMT4">
                  <p:embed/>
                </p:oleObj>
              </mc:Choice>
              <mc:Fallback>
                <p:oleObj name="" r:id="rId9" imgW="888365" imgH="254000" progId="Equation.DSMT4">
                  <p:embed/>
                  <p:pic>
                    <p:nvPicPr>
                      <p:cNvPr id="0" name="对象 103438"/>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359891" y="4550590"/>
                        <a:ext cx="1873250" cy="544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7423" name="文本框 103440"/>
          <p:cNvSpPr txBox="1">
            <a:spLocks noChangeArrowheads="1"/>
          </p:cNvSpPr>
          <p:nvPr/>
        </p:nvSpPr>
        <p:spPr bwMode="auto">
          <a:xfrm>
            <a:off x="736758" y="4511149"/>
            <a:ext cx="28797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800" b="1" dirty="0">
                <a:latin typeface="黑体" panose="02010609060101010101" pitchFamily="49" charset="-122"/>
                <a:ea typeface="黑体" panose="02010609060101010101" pitchFamily="49" charset="-122"/>
              </a:rPr>
              <a:t>隐函数形式</a:t>
            </a:r>
            <a:endParaRPr lang="zh-CN" altLang="en-US" sz="2800" b="1" dirty="0">
              <a:latin typeface="黑体" panose="02010609060101010101" pitchFamily="49" charset="-122"/>
              <a:ea typeface="黑体" panose="02010609060101010101" pitchFamily="49" charset="-122"/>
            </a:endParaRPr>
          </a:p>
        </p:txBody>
      </p:sp>
    </p:spTree>
  </p:cSld>
  <p:clrMapOvr>
    <a:masterClrMapping/>
  </p:clrMapOvr>
  <p:transition spd="slow"/>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433" name="对象 229379"/>
          <p:cNvGraphicFramePr/>
          <p:nvPr/>
        </p:nvGraphicFramePr>
        <p:xfrm>
          <a:off x="3203575" y="115888"/>
          <a:ext cx="2519363" cy="731837"/>
        </p:xfrm>
        <a:graphic>
          <a:graphicData uri="http://schemas.openxmlformats.org/presentationml/2006/ole">
            <mc:AlternateContent xmlns:mc="http://schemas.openxmlformats.org/markup-compatibility/2006">
              <mc:Choice xmlns:v="urn:schemas-microsoft-com:vml" Requires="v">
                <p:oleObj spid="_x0000_s3107" name="" r:id="rId1" imgW="888365" imgH="254000" progId="Equation.DSMT4">
                  <p:embed/>
                </p:oleObj>
              </mc:Choice>
              <mc:Fallback>
                <p:oleObj name="" r:id="rId1" imgW="888365" imgH="254000" progId="Equation.DSMT4">
                  <p:embed/>
                  <p:pic>
                    <p:nvPicPr>
                      <p:cNvPr id="0" name="对象 229379"/>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03575" y="115888"/>
                        <a:ext cx="2519363"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8434" name="矩形 229380"/>
          <p:cNvSpPr>
            <a:spLocks noChangeArrowheads="1"/>
          </p:cNvSpPr>
          <p:nvPr/>
        </p:nvSpPr>
        <p:spPr bwMode="auto">
          <a:xfrm>
            <a:off x="611188" y="981075"/>
            <a:ext cx="7704137" cy="137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2800" b="1">
                <a:latin typeface="黑体" panose="02010609060101010101" pitchFamily="49" charset="-122"/>
                <a:ea typeface="黑体" panose="02010609060101010101" pitchFamily="49" charset="-122"/>
              </a:rPr>
              <a:t>由数学知识可知，满足上式的纯物质的所有平衡状态点在</a:t>
            </a:r>
            <a:r>
              <a:rPr lang="en-US" altLang="zh-CN" sz="2800" b="1" i="1">
                <a:latin typeface="Times New Roman" panose="02020603050405020304" pitchFamily="18" charset="0"/>
                <a:ea typeface="黑体" panose="02010609060101010101" pitchFamily="49" charset="-122"/>
              </a:rPr>
              <a:t>p</a:t>
            </a:r>
            <a:r>
              <a:rPr lang="zh-CN" altLang="en-US" sz="2800" b="1">
                <a:latin typeface="Times New Roman" panose="02020603050405020304" pitchFamily="18" charset="0"/>
                <a:ea typeface="黑体" panose="02010609060101010101" pitchFamily="49" charset="-122"/>
              </a:rPr>
              <a:t>、</a:t>
            </a:r>
            <a:r>
              <a:rPr lang="en-US" altLang="zh-CN" sz="2800" b="1" i="1">
                <a:latin typeface="Times New Roman" panose="02020603050405020304" pitchFamily="18" charset="0"/>
                <a:ea typeface="黑体" panose="02010609060101010101" pitchFamily="49" charset="-122"/>
              </a:rPr>
              <a:t>v</a:t>
            </a:r>
            <a:r>
              <a:rPr lang="zh-CN" altLang="en-US" sz="2800" b="1">
                <a:latin typeface="Times New Roman" panose="02020603050405020304" pitchFamily="18" charset="0"/>
                <a:ea typeface="黑体" panose="02010609060101010101" pitchFamily="49" charset="-122"/>
              </a:rPr>
              <a:t>、</a:t>
            </a:r>
            <a:r>
              <a:rPr lang="en-US" altLang="zh-CN" sz="2800" b="1" i="1">
                <a:latin typeface="Times New Roman" panose="02020603050405020304" pitchFamily="18" charset="0"/>
                <a:ea typeface="黑体" panose="02010609060101010101" pitchFamily="49" charset="-122"/>
              </a:rPr>
              <a:t>T</a:t>
            </a:r>
            <a:r>
              <a:rPr lang="zh-CN" altLang="en-US" sz="2800" b="1">
                <a:latin typeface="黑体" panose="02010609060101010101" pitchFamily="49" charset="-122"/>
                <a:ea typeface="黑体" panose="02010609060101010101" pitchFamily="49" charset="-122"/>
              </a:rPr>
              <a:t>三维坐标系中构成一个曲面，称为纯物质的</a:t>
            </a:r>
            <a:r>
              <a:rPr lang="en-US" altLang="zh-CN" sz="2800" b="1" i="1">
                <a:latin typeface="Times New Roman" panose="02020603050405020304" pitchFamily="18" charset="0"/>
                <a:ea typeface="黑体" panose="02010609060101010101" pitchFamily="49" charset="-122"/>
              </a:rPr>
              <a:t>p-v-T</a:t>
            </a:r>
            <a:r>
              <a:rPr lang="zh-CN" altLang="en-US" sz="2800" b="1">
                <a:latin typeface="黑体" panose="02010609060101010101" pitchFamily="49" charset="-122"/>
                <a:ea typeface="黑体" panose="02010609060101010101" pitchFamily="49" charset="-122"/>
              </a:rPr>
              <a:t>图（在</a:t>
            </a:r>
            <a:r>
              <a:rPr lang="en-US" altLang="zh-CN" sz="2800" b="1">
                <a:latin typeface="黑体" panose="02010609060101010101" pitchFamily="49" charset="-122"/>
                <a:ea typeface="黑体" panose="02010609060101010101" pitchFamily="49" charset="-122"/>
              </a:rPr>
              <a:t>9-3</a:t>
            </a:r>
            <a:r>
              <a:rPr lang="zh-CN" altLang="en-US" sz="2800" b="1">
                <a:latin typeface="黑体" panose="02010609060101010101" pitchFamily="49" charset="-122"/>
                <a:ea typeface="黑体" panose="02010609060101010101" pitchFamily="49" charset="-122"/>
              </a:rPr>
              <a:t>节介绍） </a:t>
            </a:r>
            <a:endParaRPr lang="zh-CN" altLang="en-US" sz="2800" b="1">
              <a:latin typeface="黑体" panose="02010609060101010101" pitchFamily="49" charset="-122"/>
              <a:ea typeface="黑体" panose="02010609060101010101" pitchFamily="49" charset="-122"/>
            </a:endParaRPr>
          </a:p>
        </p:txBody>
      </p:sp>
      <p:sp>
        <p:nvSpPr>
          <p:cNvPr id="229383" name="文本框 229382"/>
          <p:cNvSpPr txBox="1">
            <a:spLocks noChangeArrowheads="1"/>
          </p:cNvSpPr>
          <p:nvPr/>
        </p:nvSpPr>
        <p:spPr bwMode="auto">
          <a:xfrm>
            <a:off x="3442493" y="6178964"/>
            <a:ext cx="206498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水的</a:t>
            </a:r>
            <a:r>
              <a:rPr lang="en-US" altLang="zh-CN" sz="2800" b="1" i="1" dirty="0">
                <a:latin typeface="Times New Roman" panose="02020603050405020304" pitchFamily="18" charset="0"/>
                <a:ea typeface="黑体" panose="02010609060101010101" pitchFamily="49" charset="-122"/>
                <a:cs typeface="Times New Roman" panose="02020603050405020304" pitchFamily="18" charset="0"/>
              </a:rPr>
              <a:t>p-v-T</a:t>
            </a: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图</a:t>
            </a:r>
            <a:endParaRPr lang="zh-CN" altLang="en-US" sz="28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8436" name="矩形 229384"/>
          <p:cNvSpPr>
            <a:spLocks noChangeArrowheads="1"/>
          </p:cNvSpPr>
          <p:nvPr/>
        </p:nvSpPr>
        <p:spPr bwMode="auto">
          <a:xfrm>
            <a:off x="0" y="18954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pic>
        <p:nvPicPr>
          <p:cNvPr id="3" name="图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57097" y="2487613"/>
            <a:ext cx="4029805" cy="3798137"/>
          </a:xfrm>
          <a:prstGeom prst="rect">
            <a:avLst/>
          </a:prstGeom>
        </p:spPr>
      </p:pic>
    </p:spTree>
  </p:cSld>
  <p:clrMapOvr>
    <a:masterClrMapping/>
  </p:clrMapOvr>
  <p:transition spd="slow"/>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7" name="内容占位符 98306"/>
          <p:cNvSpPr>
            <a:spLocks noGrp="1" noChangeArrowheads="1"/>
          </p:cNvSpPr>
          <p:nvPr>
            <p:ph idx="1"/>
          </p:nvPr>
        </p:nvSpPr>
        <p:spPr>
          <a:xfrm>
            <a:off x="451368" y="1270968"/>
            <a:ext cx="8229600" cy="2552285"/>
          </a:xfrm>
        </p:spPr>
        <p:txBody>
          <a:bodyPr>
            <a:normAutofit lnSpcReduction="10000"/>
          </a:bodyPr>
          <a:lstStyle/>
          <a:p>
            <a:pPr marL="0" indent="0">
              <a:lnSpc>
                <a:spcPct val="100000"/>
              </a:lnSpc>
              <a:buNone/>
            </a:pPr>
            <a:r>
              <a:rPr lang="en-US" altLang="zh-CN" sz="2800" b="1" dirty="0" smtClean="0">
                <a:latin typeface="黑体" panose="02010609060101010101" pitchFamily="49" charset="-122"/>
                <a:ea typeface="黑体" panose="02010609060101010101" pitchFamily="49" charset="-122"/>
              </a:rPr>
              <a:t>1</a:t>
            </a:r>
            <a:r>
              <a:rPr lang="zh-CN" altLang="en-US" sz="2800" b="1" dirty="0" smtClean="0">
                <a:latin typeface="黑体" panose="02010609060101010101" pitchFamily="49" charset="-122"/>
                <a:ea typeface="黑体" panose="02010609060101010101" pitchFamily="49" charset="-122"/>
              </a:rPr>
              <a:t>、</a:t>
            </a:r>
            <a:r>
              <a:rPr lang="zh-CN" altLang="zh-CN" sz="2800" b="1" dirty="0" smtClean="0">
                <a:solidFill>
                  <a:srgbClr val="0070C0"/>
                </a:solidFill>
                <a:latin typeface="黑体" panose="02010609060101010101" pitchFamily="49" charset="-122"/>
                <a:ea typeface="黑体" panose="02010609060101010101" pitchFamily="49" charset="-122"/>
              </a:rPr>
              <a:t>只有</a:t>
            </a:r>
            <a:r>
              <a:rPr lang="zh-CN" altLang="zh-CN" sz="2800" b="1" dirty="0">
                <a:solidFill>
                  <a:srgbClr val="0070C0"/>
                </a:solidFill>
                <a:latin typeface="黑体" panose="02010609060101010101" pitchFamily="49" charset="-122"/>
                <a:ea typeface="黑体" panose="02010609060101010101" pitchFamily="49" charset="-122"/>
              </a:rPr>
              <a:t>纯物质（即化学结构处处一致的物质）才有单一的状态方程式</a:t>
            </a:r>
            <a:r>
              <a:rPr lang="zh-CN" altLang="zh-CN" sz="2800" b="1" dirty="0" smtClean="0">
                <a:latin typeface="黑体" panose="02010609060101010101" pitchFamily="49" charset="-122"/>
                <a:ea typeface="黑体" panose="02010609060101010101" pitchFamily="49" charset="-122"/>
              </a:rPr>
              <a:t>。</a:t>
            </a:r>
            <a:endParaRPr lang="en-US" altLang="zh-CN" sz="2800" b="1" dirty="0" smtClean="0">
              <a:latin typeface="黑体" panose="02010609060101010101" pitchFamily="49" charset="-122"/>
              <a:ea typeface="黑体" panose="02010609060101010101" pitchFamily="49" charset="-122"/>
            </a:endParaRPr>
          </a:p>
          <a:p>
            <a:pPr marL="0" indent="0">
              <a:lnSpc>
                <a:spcPct val="100000"/>
              </a:lnSpc>
              <a:buNone/>
            </a:pPr>
            <a:r>
              <a:rPr lang="zh-CN" altLang="zh-CN" sz="2800" b="1" dirty="0" smtClean="0">
                <a:latin typeface="黑体" panose="02010609060101010101" pitchFamily="49" charset="-122"/>
                <a:ea typeface="黑体" panose="02010609060101010101" pitchFamily="49" charset="-122"/>
              </a:rPr>
              <a:t>对于</a:t>
            </a:r>
            <a:r>
              <a:rPr lang="zh-CN" altLang="zh-CN" sz="2800" b="1" dirty="0">
                <a:latin typeface="黑体" panose="02010609060101010101" pitchFamily="49" charset="-122"/>
                <a:ea typeface="黑体" panose="02010609060101010101" pitchFamily="49" charset="-122"/>
              </a:rPr>
              <a:t>不满足化学结构处处一致的物质，可以分为若干个部分，对于那些满足化学结构处处一致的部分，可以写出对应的状态方程式，但对于整体，并无单一的总的状态方程式。</a:t>
            </a:r>
            <a:endParaRPr lang="zh-CN" altLang="en-US" sz="2800" b="1" dirty="0" smtClean="0">
              <a:latin typeface="黑体" panose="02010609060101010101" pitchFamily="49" charset="-122"/>
              <a:ea typeface="黑体" panose="02010609060101010101" pitchFamily="49" charset="-122"/>
            </a:endParaRPr>
          </a:p>
        </p:txBody>
      </p:sp>
      <p:sp>
        <p:nvSpPr>
          <p:cNvPr id="19458" name="文本框 98307"/>
          <p:cNvSpPr txBox="1">
            <a:spLocks noChangeArrowheads="1"/>
          </p:cNvSpPr>
          <p:nvPr/>
        </p:nvSpPr>
        <p:spPr bwMode="auto">
          <a:xfrm>
            <a:off x="451368" y="353253"/>
            <a:ext cx="790996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3600" b="1" dirty="0" smtClean="0">
                <a:latin typeface="Arial" panose="020B0604020202020204" pitchFamily="34" charset="0"/>
                <a:ea typeface="黑体" panose="02010609060101010101" pitchFamily="49" charset="-122"/>
              </a:rPr>
              <a:t>对纯物质的状态方程式的几点说明</a:t>
            </a:r>
            <a:endParaRPr lang="zh-CN" altLang="en-US" sz="3600" b="1" dirty="0">
              <a:latin typeface="Arial" panose="020B0604020202020204" pitchFamily="34" charset="0"/>
              <a:ea typeface="黑体" panose="02010609060101010101" pitchFamily="49" charset="-122"/>
            </a:endParaRPr>
          </a:p>
        </p:txBody>
      </p:sp>
      <p:grpSp>
        <p:nvGrpSpPr>
          <p:cNvPr id="24" name="组合 23"/>
          <p:cNvGrpSpPr/>
          <p:nvPr/>
        </p:nvGrpSpPr>
        <p:grpSpPr>
          <a:xfrm>
            <a:off x="3181006" y="3952567"/>
            <a:ext cx="2844799" cy="2147736"/>
            <a:chOff x="3181006" y="3952567"/>
            <a:chExt cx="2844799" cy="2147736"/>
          </a:xfrm>
        </p:grpSpPr>
        <p:graphicFrame>
          <p:nvGraphicFramePr>
            <p:cNvPr id="11" name="对象 10"/>
            <p:cNvGraphicFramePr/>
            <p:nvPr/>
          </p:nvGraphicFramePr>
          <p:xfrm>
            <a:off x="3181006" y="3952567"/>
            <a:ext cx="2592387" cy="2109788"/>
          </p:xfrm>
          <a:graphic>
            <a:graphicData uri="http://schemas.openxmlformats.org/presentationml/2006/ole">
              <mc:AlternateContent xmlns:mc="http://schemas.openxmlformats.org/markup-compatibility/2006">
                <mc:Choice xmlns:v="urn:schemas-microsoft-com:vml" Requires="v">
                  <p:oleObj spid="_x0000_s5139" name="" r:id="rId1" imgW="1457960" imgH="1190625" progId="Visio.Drawing.11">
                    <p:embed/>
                  </p:oleObj>
                </mc:Choice>
                <mc:Fallback>
                  <p:oleObj name="" r:id="rId1" imgW="1457960" imgH="1190625" progId="Visio.Drawing.11">
                    <p:embed/>
                    <p:pic>
                      <p:nvPicPr>
                        <p:cNvPr id="0" name="对象 228359"/>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81006" y="3952567"/>
                          <a:ext cx="2592387" cy="2109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2" name="矩形 11"/>
            <p:cNvSpPr>
              <a:spLocks noChangeArrowheads="1"/>
            </p:cNvSpPr>
            <p:nvPr/>
          </p:nvSpPr>
          <p:spPr bwMode="auto">
            <a:xfrm>
              <a:off x="5520980" y="4469087"/>
              <a:ext cx="504825" cy="1631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000" b="1" dirty="0">
                  <a:solidFill>
                    <a:srgbClr val="FF0000"/>
                  </a:solidFill>
                  <a:latin typeface="楷体_GB2312" pitchFamily="49" charset="-122"/>
                  <a:ea typeface="楷体_GB2312" pitchFamily="49" charset="-122"/>
                </a:rPr>
                <a:t>不是纯物质</a:t>
              </a:r>
              <a:endParaRPr lang="zh-CN" altLang="en-US" sz="2000" b="1" dirty="0">
                <a:solidFill>
                  <a:srgbClr val="FF0000"/>
                </a:solidFill>
                <a:latin typeface="楷体_GB2312" pitchFamily="49" charset="-122"/>
                <a:ea typeface="楷体_GB2312" pitchFamily="49" charset="-122"/>
              </a:endParaRPr>
            </a:p>
          </p:txBody>
        </p:sp>
      </p:grpSp>
      <p:grpSp>
        <p:nvGrpSpPr>
          <p:cNvPr id="20" name="组合 19"/>
          <p:cNvGrpSpPr/>
          <p:nvPr/>
        </p:nvGrpSpPr>
        <p:grpSpPr>
          <a:xfrm>
            <a:off x="308542" y="5007461"/>
            <a:ext cx="3156901" cy="369332"/>
            <a:chOff x="308542" y="5007461"/>
            <a:chExt cx="3156901" cy="369332"/>
          </a:xfrm>
        </p:grpSpPr>
        <p:sp>
          <p:nvSpPr>
            <p:cNvPr id="9" name="左箭头 8"/>
            <p:cNvSpPr/>
            <p:nvPr/>
          </p:nvSpPr>
          <p:spPr>
            <a:xfrm>
              <a:off x="2524539" y="5072660"/>
              <a:ext cx="940904" cy="212035"/>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308542" y="5007461"/>
              <a:ext cx="2276585" cy="369332"/>
            </a:xfrm>
            <a:prstGeom prst="rect">
              <a:avLst/>
            </a:prstGeom>
          </p:spPr>
          <p:txBody>
            <a:bodyPr wrap="none">
              <a:spAutoFit/>
            </a:bodyPr>
            <a:lstStyle/>
            <a:p>
              <a:r>
                <a:rPr lang="zh-CN" altLang="en-US" b="1" dirty="0" smtClean="0">
                  <a:latin typeface="黑体" panose="02010609060101010101" pitchFamily="49" charset="-122"/>
                  <a:ea typeface="黑体" panose="02010609060101010101" pitchFamily="49" charset="-122"/>
                </a:rPr>
                <a:t>有</a:t>
              </a:r>
              <a:r>
                <a:rPr lang="zh-CN" altLang="zh-CN" b="1" dirty="0" smtClean="0">
                  <a:latin typeface="黑体" panose="02010609060101010101" pitchFamily="49" charset="-122"/>
                  <a:ea typeface="黑体" panose="02010609060101010101" pitchFamily="49" charset="-122"/>
                </a:rPr>
                <a:t>对应</a:t>
              </a:r>
              <a:r>
                <a:rPr lang="zh-CN" altLang="zh-CN" b="1" dirty="0">
                  <a:latin typeface="黑体" panose="02010609060101010101" pitchFamily="49" charset="-122"/>
                  <a:ea typeface="黑体" panose="02010609060101010101" pitchFamily="49" charset="-122"/>
                </a:rPr>
                <a:t>的状态方程式</a:t>
              </a:r>
              <a:endParaRPr lang="zh-CN" altLang="en-US" dirty="0"/>
            </a:p>
          </p:txBody>
        </p:sp>
      </p:grpSp>
      <p:grpSp>
        <p:nvGrpSpPr>
          <p:cNvPr id="21" name="组合 20"/>
          <p:cNvGrpSpPr/>
          <p:nvPr/>
        </p:nvGrpSpPr>
        <p:grpSpPr>
          <a:xfrm>
            <a:off x="291355" y="5550602"/>
            <a:ext cx="3174088" cy="369332"/>
            <a:chOff x="291355" y="5550602"/>
            <a:chExt cx="3174088" cy="369332"/>
          </a:xfrm>
        </p:grpSpPr>
        <p:sp>
          <p:nvSpPr>
            <p:cNvPr id="14" name="左箭头 13"/>
            <p:cNvSpPr/>
            <p:nvPr/>
          </p:nvSpPr>
          <p:spPr>
            <a:xfrm>
              <a:off x="2524539" y="5629251"/>
              <a:ext cx="940904" cy="212035"/>
            </a:xfrm>
            <a:prstGeom prst="leftArrow">
              <a:avLst/>
            </a:prstGeom>
            <a:solidFill>
              <a:schemeClr val="accent2">
                <a:lumMod val="60000"/>
                <a:lumOff val="40000"/>
              </a:schemeClr>
            </a:solid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291355" y="5550602"/>
              <a:ext cx="2276585" cy="369332"/>
            </a:xfrm>
            <a:prstGeom prst="rect">
              <a:avLst/>
            </a:prstGeom>
          </p:spPr>
          <p:txBody>
            <a:bodyPr wrap="none">
              <a:spAutoFit/>
            </a:bodyPr>
            <a:lstStyle/>
            <a:p>
              <a:r>
                <a:rPr lang="zh-CN" altLang="en-US" b="1" dirty="0" smtClean="0">
                  <a:latin typeface="黑体" panose="02010609060101010101" pitchFamily="49" charset="-122"/>
                  <a:ea typeface="黑体" panose="02010609060101010101" pitchFamily="49" charset="-122"/>
                </a:rPr>
                <a:t>有</a:t>
              </a:r>
              <a:r>
                <a:rPr lang="zh-CN" altLang="zh-CN" b="1" dirty="0" smtClean="0">
                  <a:latin typeface="黑体" panose="02010609060101010101" pitchFamily="49" charset="-122"/>
                  <a:ea typeface="黑体" panose="02010609060101010101" pitchFamily="49" charset="-122"/>
                </a:rPr>
                <a:t>对应</a:t>
              </a:r>
              <a:r>
                <a:rPr lang="zh-CN" altLang="zh-CN" b="1" dirty="0">
                  <a:latin typeface="黑体" panose="02010609060101010101" pitchFamily="49" charset="-122"/>
                  <a:ea typeface="黑体" panose="02010609060101010101" pitchFamily="49" charset="-122"/>
                </a:rPr>
                <a:t>的状态方程式</a:t>
              </a:r>
              <a:endParaRPr lang="zh-CN" altLang="en-US" dirty="0"/>
            </a:p>
          </p:txBody>
        </p:sp>
      </p:grpSp>
      <p:grpSp>
        <p:nvGrpSpPr>
          <p:cNvPr id="22" name="组合 21"/>
          <p:cNvGrpSpPr/>
          <p:nvPr/>
        </p:nvGrpSpPr>
        <p:grpSpPr>
          <a:xfrm>
            <a:off x="6063353" y="5030376"/>
            <a:ext cx="2582160" cy="669582"/>
            <a:chOff x="6063353" y="5030376"/>
            <a:chExt cx="2582160" cy="669582"/>
          </a:xfrm>
        </p:grpSpPr>
        <p:sp>
          <p:nvSpPr>
            <p:cNvPr id="13" name="虚尾箭头 12"/>
            <p:cNvSpPr/>
            <p:nvPr/>
          </p:nvSpPr>
          <p:spPr>
            <a:xfrm>
              <a:off x="6063353" y="5030376"/>
              <a:ext cx="1086679" cy="609600"/>
            </a:xfrm>
            <a:prstGeom prst="strip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7187580" y="5053627"/>
              <a:ext cx="1457933" cy="646331"/>
            </a:xfrm>
            <a:prstGeom prst="rect">
              <a:avLst/>
            </a:prstGeom>
          </p:spPr>
          <p:txBody>
            <a:bodyPr wrap="square">
              <a:spAutoFit/>
            </a:bodyPr>
            <a:lstStyle/>
            <a:p>
              <a:r>
                <a:rPr lang="zh-CN" altLang="en-US" b="1" dirty="0" smtClean="0">
                  <a:latin typeface="黑体" panose="02010609060101010101" pitchFamily="49" charset="-122"/>
                  <a:ea typeface="黑体" panose="02010609060101010101" pitchFamily="49" charset="-122"/>
                </a:rPr>
                <a:t>无</a:t>
              </a:r>
              <a:r>
                <a:rPr lang="zh-CN" altLang="zh-CN" b="1" dirty="0" smtClean="0">
                  <a:latin typeface="黑体" panose="02010609060101010101" pitchFamily="49" charset="-122"/>
                  <a:ea typeface="黑体" panose="02010609060101010101" pitchFamily="49" charset="-122"/>
                </a:rPr>
                <a:t>对应</a:t>
              </a:r>
              <a:r>
                <a:rPr lang="zh-CN" altLang="zh-CN" b="1" dirty="0">
                  <a:latin typeface="黑体" panose="02010609060101010101" pitchFamily="49" charset="-122"/>
                  <a:ea typeface="黑体" panose="02010609060101010101" pitchFamily="49" charset="-122"/>
                </a:rPr>
                <a:t>的状态方程式</a:t>
              </a:r>
              <a:endParaRPr lang="zh-CN" altLang="en-US" dirty="0"/>
            </a:p>
          </p:txBody>
        </p:sp>
      </p:grpSp>
    </p:spTree>
    <p:custDataLst>
      <p:tags r:id="rId3"/>
    </p:custData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2" fill="hold" nodeType="clickEffect">
                                  <p:stCondLst>
                                    <p:cond delay="0"/>
                                  </p:stCondLst>
                                  <p:childTnLst>
                                    <p:set>
                                      <p:cBhvr>
                                        <p:cTn id="10" dur="1" fill="hold">
                                          <p:stCondLst>
                                            <p:cond delay="0"/>
                                          </p:stCondLst>
                                        </p:cTn>
                                        <p:tgtEl>
                                          <p:spTgt spid="20"/>
                                        </p:tgtEl>
                                        <p:attrNameLst>
                                          <p:attrName>style.visibility</p:attrName>
                                        </p:attrNameLst>
                                      </p:cBhvr>
                                      <p:to>
                                        <p:strVal val="visible"/>
                                      </p:to>
                                    </p:set>
                                    <p:animEffect transition="in" filter="wipe(right)">
                                      <p:cBhvr>
                                        <p:cTn id="11" dur="500"/>
                                        <p:tgtEl>
                                          <p:spTgt spid="20"/>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2" fill="hold" nodeType="clickEffect">
                                  <p:stCondLst>
                                    <p:cond delay="0"/>
                                  </p:stCondLst>
                                  <p:childTnLst>
                                    <p:set>
                                      <p:cBhvr>
                                        <p:cTn id="15" dur="1" fill="hold">
                                          <p:stCondLst>
                                            <p:cond delay="0"/>
                                          </p:stCondLst>
                                        </p:cTn>
                                        <p:tgtEl>
                                          <p:spTgt spid="21"/>
                                        </p:tgtEl>
                                        <p:attrNameLst>
                                          <p:attrName>style.visibility</p:attrName>
                                        </p:attrNameLst>
                                      </p:cBhvr>
                                      <p:to>
                                        <p:strVal val="visible"/>
                                      </p:to>
                                    </p:set>
                                    <p:animEffect transition="in" filter="wipe(right)">
                                      <p:cBhvr>
                                        <p:cTn id="16" dur="500"/>
                                        <p:tgtEl>
                                          <p:spTgt spid="21"/>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wipe(left)">
                                      <p:cBhvr>
                                        <p:cTn id="21"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7" name="内容占位符 98306"/>
          <p:cNvSpPr>
            <a:spLocks noGrp="1" noChangeArrowheads="1"/>
          </p:cNvSpPr>
          <p:nvPr>
            <p:ph idx="1"/>
          </p:nvPr>
        </p:nvSpPr>
        <p:spPr>
          <a:xfrm>
            <a:off x="431490" y="846898"/>
            <a:ext cx="8229600" cy="4318358"/>
          </a:xfrm>
        </p:spPr>
        <p:txBody>
          <a:bodyPr>
            <a:noAutofit/>
          </a:bodyPr>
          <a:lstStyle/>
          <a:p>
            <a:pPr marL="0" indent="0">
              <a:lnSpc>
                <a:spcPct val="110000"/>
              </a:lnSpc>
              <a:buNone/>
            </a:pPr>
            <a:r>
              <a:rPr lang="en-US" altLang="zh-CN" sz="2800" b="1" dirty="0" smtClean="0">
                <a:latin typeface="黑体" panose="02010609060101010101" pitchFamily="49" charset="-122"/>
                <a:ea typeface="黑体" panose="02010609060101010101" pitchFamily="49" charset="-122"/>
              </a:rPr>
              <a:t>2</a:t>
            </a:r>
            <a:r>
              <a:rPr lang="zh-CN" altLang="en-US" sz="2800" b="1" dirty="0" smtClean="0">
                <a:latin typeface="黑体" panose="02010609060101010101" pitchFamily="49" charset="-122"/>
                <a:ea typeface="黑体" panose="02010609060101010101" pitchFamily="49" charset="-122"/>
              </a:rPr>
              <a:t>、</a:t>
            </a:r>
            <a:r>
              <a:rPr lang="zh-CN" altLang="zh-CN" sz="2800" b="1" dirty="0">
                <a:latin typeface="黑体" panose="02010609060101010101" pitchFamily="49" charset="-122"/>
                <a:ea typeface="黑体" panose="02010609060101010101" pitchFamily="49" charset="-122"/>
              </a:rPr>
              <a:t>状态方程式是物质个性的体现，各种纯物质具有不同的状态方程式</a:t>
            </a:r>
            <a:r>
              <a:rPr lang="zh-CN" altLang="zh-CN" sz="2800" b="1" dirty="0" smtClean="0">
                <a:latin typeface="黑体" panose="02010609060101010101" pitchFamily="49" charset="-122"/>
                <a:ea typeface="黑体" panose="02010609060101010101" pitchFamily="49" charset="-122"/>
              </a:rPr>
              <a:t>。</a:t>
            </a:r>
            <a:endParaRPr lang="en-US" altLang="zh-CN" sz="2800" b="1" dirty="0" smtClean="0">
              <a:latin typeface="黑体" panose="02010609060101010101" pitchFamily="49" charset="-122"/>
              <a:ea typeface="黑体" panose="02010609060101010101" pitchFamily="49" charset="-122"/>
            </a:endParaRPr>
          </a:p>
          <a:p>
            <a:pPr marL="0" indent="0">
              <a:lnSpc>
                <a:spcPct val="110000"/>
              </a:lnSpc>
              <a:buNone/>
            </a:pPr>
            <a:r>
              <a:rPr lang="zh-CN" altLang="zh-CN" sz="2800" b="1" dirty="0" smtClean="0">
                <a:latin typeface="黑体" panose="02010609060101010101" pitchFamily="49" charset="-122"/>
                <a:ea typeface="黑体" panose="02010609060101010101" pitchFamily="49" charset="-122"/>
              </a:rPr>
              <a:t>热力学</a:t>
            </a:r>
            <a:r>
              <a:rPr lang="zh-CN" altLang="zh-CN" sz="2800" b="1" dirty="0">
                <a:latin typeface="黑体" panose="02010609060101010101" pitchFamily="49" charset="-122"/>
                <a:ea typeface="黑体" panose="02010609060101010101" pitchFamily="49" charset="-122"/>
              </a:rPr>
              <a:t>理论虽然</a:t>
            </a:r>
            <a:r>
              <a:rPr lang="zh-CN" altLang="zh-CN" sz="2800" b="1" dirty="0" smtClean="0">
                <a:latin typeface="黑体" panose="02010609060101010101" pitchFamily="49" charset="-122"/>
                <a:ea typeface="黑体" panose="02010609060101010101" pitchFamily="49" charset="-122"/>
              </a:rPr>
              <a:t>能够</a:t>
            </a:r>
            <a:r>
              <a:rPr lang="zh-CN" altLang="zh-CN" sz="2800" b="1" dirty="0">
                <a:latin typeface="黑体" panose="02010609060101010101" pitchFamily="49" charset="-122"/>
                <a:ea typeface="黑体" panose="02010609060101010101" pitchFamily="49" charset="-122"/>
              </a:rPr>
              <a:t>告诉我们一切纯物质均存在着普遍</a:t>
            </a:r>
            <a:r>
              <a:rPr lang="zh-CN" altLang="zh-CN" sz="2800" b="1" dirty="0" smtClean="0">
                <a:latin typeface="黑体" panose="02010609060101010101" pitchFamily="49" charset="-122"/>
                <a:ea typeface="黑体" panose="02010609060101010101" pitchFamily="49" charset="-122"/>
              </a:rPr>
              <a:t>关系式</a:t>
            </a:r>
            <a:r>
              <a:rPr lang="en-US" altLang="zh-CN" sz="2800" b="1" i="1" dirty="0" smtClean="0">
                <a:latin typeface="Times New Roman" panose="02020603050405020304" pitchFamily="18" charset="0"/>
                <a:ea typeface="黑体" panose="02010609060101010101" pitchFamily="49" charset="-122"/>
                <a:cs typeface="Times New Roman" panose="02020603050405020304" pitchFamily="18" charset="0"/>
              </a:rPr>
              <a:t>f</a:t>
            </a:r>
            <a:r>
              <a:rPr lang="en-US" altLang="zh-CN" sz="2800" b="1" dirty="0" smtClean="0">
                <a:latin typeface="Times New Roman" panose="02020603050405020304" pitchFamily="18" charset="0"/>
                <a:ea typeface="黑体" panose="02010609060101010101" pitchFamily="49" charset="-122"/>
                <a:cs typeface="Times New Roman" panose="02020603050405020304" pitchFamily="18" charset="0"/>
              </a:rPr>
              <a:t>(</a:t>
            </a:r>
            <a:r>
              <a:rPr lang="en-US" altLang="zh-CN" sz="2800" b="1" i="1" dirty="0" err="1" smtClean="0">
                <a:latin typeface="Times New Roman" panose="02020603050405020304" pitchFamily="18" charset="0"/>
                <a:ea typeface="黑体" panose="02010609060101010101" pitchFamily="49" charset="-122"/>
                <a:cs typeface="Times New Roman" panose="02020603050405020304" pitchFamily="18" charset="0"/>
              </a:rPr>
              <a:t>p</a:t>
            </a:r>
            <a:r>
              <a:rPr lang="en-US" altLang="zh-CN" sz="2800" b="1" i="1" dirty="0" err="1">
                <a:latin typeface="Times New Roman" panose="02020603050405020304" pitchFamily="18" charset="0"/>
                <a:ea typeface="黑体" panose="02010609060101010101" pitchFamily="49" charset="-122"/>
                <a:cs typeface="Times New Roman" panose="02020603050405020304" pitchFamily="18" charset="0"/>
              </a:rPr>
              <a:t>,</a:t>
            </a:r>
            <a:r>
              <a:rPr lang="en-US" altLang="zh-CN" sz="2800" b="1" i="1" dirty="0" err="1" smtClean="0">
                <a:latin typeface="Times New Roman" panose="02020603050405020304" pitchFamily="18" charset="0"/>
                <a:ea typeface="黑体" panose="02010609060101010101" pitchFamily="49" charset="-122"/>
                <a:cs typeface="Times New Roman" panose="02020603050405020304" pitchFamily="18" charset="0"/>
              </a:rPr>
              <a:t>v,T</a:t>
            </a:r>
            <a:r>
              <a:rPr lang="en-US" altLang="zh-CN" sz="2800" b="1"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2800" b="1" dirty="0" smtClean="0">
                <a:latin typeface="Times New Roman" panose="02020603050405020304" pitchFamily="18" charset="0"/>
                <a:ea typeface="黑体" panose="02010609060101010101" pitchFamily="49" charset="-122"/>
                <a:cs typeface="Times New Roman" panose="02020603050405020304" pitchFamily="18" charset="0"/>
              </a:rPr>
              <a:t>=0</a:t>
            </a:r>
            <a:r>
              <a:rPr lang="zh-CN" altLang="zh-CN" sz="2800" b="1" dirty="0" smtClean="0">
                <a:latin typeface="Times New Roman" panose="02020603050405020304" pitchFamily="18" charset="0"/>
                <a:ea typeface="黑体" panose="02010609060101010101" pitchFamily="49" charset="-122"/>
                <a:cs typeface="Times New Roman" panose="02020603050405020304" pitchFamily="18" charset="0"/>
              </a:rPr>
              <a:t> </a:t>
            </a:r>
            <a:r>
              <a:rPr lang="zh-CN" altLang="zh-CN" sz="2800" b="1" dirty="0" smtClean="0">
                <a:latin typeface="黑体" panose="02010609060101010101" pitchFamily="49" charset="-122"/>
                <a:ea typeface="黑体" panose="02010609060101010101" pitchFamily="49" charset="-122"/>
              </a:rPr>
              <a:t>，</a:t>
            </a:r>
            <a:r>
              <a:rPr lang="zh-CN" altLang="zh-CN" sz="2800" b="1" dirty="0">
                <a:latin typeface="黑体" panose="02010609060101010101" pitchFamily="49" charset="-122"/>
                <a:ea typeface="黑体" panose="02010609060101010101" pitchFamily="49" charset="-122"/>
              </a:rPr>
              <a:t>但却不能导出某一纯物质状态方程的具体形式，其</a:t>
            </a:r>
            <a:r>
              <a:rPr lang="zh-CN" altLang="zh-CN" sz="2800" b="1" dirty="0">
                <a:solidFill>
                  <a:srgbClr val="0070C0"/>
                </a:solidFill>
                <a:latin typeface="黑体" panose="02010609060101010101" pitchFamily="49" charset="-122"/>
                <a:ea typeface="黑体" panose="02010609060101010101" pitchFamily="49" charset="-122"/>
              </a:rPr>
              <a:t>具体形式的确定还需要实验和对物质结构的认识</a:t>
            </a:r>
            <a:r>
              <a:rPr lang="zh-CN" altLang="zh-CN" sz="2800" b="1" dirty="0" smtClean="0">
                <a:latin typeface="黑体" panose="02010609060101010101" pitchFamily="49" charset="-122"/>
                <a:ea typeface="黑体" panose="02010609060101010101" pitchFamily="49" charset="-122"/>
              </a:rPr>
              <a:t>。</a:t>
            </a:r>
            <a:endParaRPr lang="en-US" altLang="zh-CN" sz="2800" b="1" dirty="0" smtClean="0">
              <a:latin typeface="黑体" panose="02010609060101010101" pitchFamily="49" charset="-122"/>
              <a:ea typeface="黑体" panose="02010609060101010101" pitchFamily="49" charset="-122"/>
            </a:endParaRPr>
          </a:p>
          <a:p>
            <a:pPr marL="0" indent="0">
              <a:lnSpc>
                <a:spcPct val="110000"/>
              </a:lnSpc>
              <a:buNone/>
            </a:pPr>
            <a:r>
              <a:rPr lang="zh-CN" altLang="zh-CN" sz="2800" b="1" dirty="0" smtClean="0">
                <a:latin typeface="黑体" panose="02010609060101010101" pitchFamily="49" charset="-122"/>
                <a:ea typeface="黑体" panose="02010609060101010101" pitchFamily="49" charset="-122"/>
              </a:rPr>
              <a:t>也就是说</a:t>
            </a:r>
            <a:r>
              <a:rPr lang="zh-CN" altLang="zh-CN" sz="2800" b="1" dirty="0">
                <a:latin typeface="黑体" panose="02010609060101010101" pitchFamily="49" charset="-122"/>
                <a:ea typeface="黑体" panose="02010609060101010101" pitchFamily="49" charset="-122"/>
              </a:rPr>
              <a:t>，热力学理论虽然能指导这种实验，却不能代替这种</a:t>
            </a:r>
            <a:r>
              <a:rPr lang="zh-CN" altLang="zh-CN" sz="2800" b="1" dirty="0" smtClean="0">
                <a:latin typeface="黑体" panose="02010609060101010101" pitchFamily="49" charset="-122"/>
                <a:ea typeface="黑体" panose="02010609060101010101" pitchFamily="49" charset="-122"/>
              </a:rPr>
              <a:t>实验。</a:t>
            </a:r>
            <a:endParaRPr lang="zh-CN" altLang="en-US" sz="2800" b="1" dirty="0" smtClean="0">
              <a:latin typeface="黑体" panose="02010609060101010101" pitchFamily="49" charset="-122"/>
              <a:ea typeface="黑体" panose="02010609060101010101" pitchFamily="49" charset="-122"/>
            </a:endParaRPr>
          </a:p>
        </p:txBody>
      </p:sp>
    </p:spTree>
  </p:cSld>
  <p:clrMapOvr>
    <a:masterClrMapping/>
  </p:clrMapOvr>
  <p:transition spd="slow"/>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7" name="内容占位符 98306"/>
          <p:cNvSpPr>
            <a:spLocks noGrp="1" noChangeArrowheads="1"/>
          </p:cNvSpPr>
          <p:nvPr>
            <p:ph idx="1"/>
          </p:nvPr>
        </p:nvSpPr>
        <p:spPr>
          <a:xfrm>
            <a:off x="444742" y="820394"/>
            <a:ext cx="8229600" cy="4318358"/>
          </a:xfrm>
        </p:spPr>
        <p:txBody>
          <a:bodyPr>
            <a:noAutofit/>
          </a:bodyPr>
          <a:lstStyle/>
          <a:p>
            <a:pPr marL="0" indent="0">
              <a:lnSpc>
                <a:spcPct val="110000"/>
              </a:lnSpc>
              <a:buNone/>
            </a:pPr>
            <a:r>
              <a:rPr lang="en-US" altLang="zh-CN" sz="2800" b="1" dirty="0" smtClean="0">
                <a:latin typeface="黑体" panose="02010609060101010101" pitchFamily="49" charset="-122"/>
                <a:ea typeface="黑体" panose="02010609060101010101" pitchFamily="49" charset="-122"/>
              </a:rPr>
              <a:t>3</a:t>
            </a:r>
            <a:r>
              <a:rPr lang="zh-CN" altLang="en-US" sz="2800" b="1" dirty="0" smtClean="0">
                <a:latin typeface="黑体" panose="02010609060101010101" pitchFamily="49" charset="-122"/>
                <a:ea typeface="黑体" panose="02010609060101010101" pitchFamily="49" charset="-122"/>
              </a:rPr>
              <a:t>、</a:t>
            </a:r>
            <a:r>
              <a:rPr lang="zh-CN" altLang="zh-CN" sz="2800" b="1" dirty="0" smtClean="0">
                <a:latin typeface="黑体" panose="02010609060101010101" pitchFamily="49" charset="-122"/>
                <a:ea typeface="黑体" panose="02010609060101010101" pitchFamily="49" charset="-122"/>
              </a:rPr>
              <a:t>理想气体</a:t>
            </a:r>
            <a:r>
              <a:rPr lang="zh-CN" altLang="zh-CN" sz="2800" b="1" dirty="0">
                <a:latin typeface="黑体" panose="02010609060101010101" pitchFamily="49" charset="-122"/>
                <a:ea typeface="黑体" panose="02010609060101010101" pitchFamily="49" charset="-122"/>
              </a:rPr>
              <a:t>状态方程</a:t>
            </a:r>
            <a:r>
              <a:rPr lang="zh-CN" altLang="zh-CN" sz="2800" b="1" dirty="0" smtClean="0">
                <a:latin typeface="黑体" panose="02010609060101010101" pitchFamily="49" charset="-122"/>
                <a:ea typeface="黑体" panose="02010609060101010101" pitchFamily="49" charset="-122"/>
              </a:rPr>
              <a:t>式</a:t>
            </a:r>
            <a:r>
              <a:rPr lang="en-US" altLang="zh-CN" sz="2800" b="1" i="1" dirty="0" err="1" smtClean="0">
                <a:latin typeface="Times New Roman" panose="02020603050405020304" pitchFamily="18" charset="0"/>
                <a:ea typeface="黑体" panose="02010609060101010101" pitchFamily="49" charset="-122"/>
                <a:cs typeface="Times New Roman" panose="02020603050405020304" pitchFamily="18" charset="0"/>
              </a:rPr>
              <a:t>pv</a:t>
            </a:r>
            <a:r>
              <a:rPr lang="en-US" altLang="zh-CN" sz="2800" b="1" i="1" dirty="0" smtClean="0">
                <a:latin typeface="Times New Roman" panose="02020603050405020304" pitchFamily="18" charset="0"/>
                <a:ea typeface="黑体" panose="02010609060101010101" pitchFamily="49" charset="-122"/>
                <a:cs typeface="Times New Roman" panose="02020603050405020304" pitchFamily="18" charset="0"/>
              </a:rPr>
              <a:t>=</a:t>
            </a:r>
            <a:r>
              <a:rPr lang="en-US" altLang="zh-CN" sz="2800" b="1" i="1" dirty="0" err="1" smtClean="0">
                <a:latin typeface="Times New Roman" panose="02020603050405020304" pitchFamily="18" charset="0"/>
                <a:ea typeface="黑体" panose="02010609060101010101" pitchFamily="49" charset="-122"/>
                <a:cs typeface="Times New Roman" panose="02020603050405020304" pitchFamily="18" charset="0"/>
              </a:rPr>
              <a:t>R</a:t>
            </a:r>
            <a:r>
              <a:rPr lang="en-US" altLang="zh-CN" sz="2800" b="1" baseline="-25000" dirty="0" err="1" smtClean="0">
                <a:latin typeface="Times New Roman" panose="02020603050405020304" pitchFamily="18" charset="0"/>
                <a:ea typeface="黑体" panose="02010609060101010101" pitchFamily="49" charset="-122"/>
                <a:cs typeface="Times New Roman" panose="02020603050405020304" pitchFamily="18" charset="0"/>
              </a:rPr>
              <a:t>g</a:t>
            </a:r>
            <a:r>
              <a:rPr lang="en-US" altLang="zh-CN" sz="2800" b="1" i="1" dirty="0" err="1" smtClean="0">
                <a:latin typeface="Times New Roman" panose="02020603050405020304" pitchFamily="18" charset="0"/>
                <a:ea typeface="黑体" panose="02010609060101010101" pitchFamily="49" charset="-122"/>
                <a:cs typeface="Times New Roman" panose="02020603050405020304" pitchFamily="18" charset="0"/>
              </a:rPr>
              <a:t>T</a:t>
            </a:r>
            <a:r>
              <a:rPr lang="zh-CN" altLang="zh-CN" sz="2800" b="1" dirty="0" smtClean="0">
                <a:latin typeface="黑体" panose="02010609060101010101" pitchFamily="49" charset="-122"/>
                <a:ea typeface="黑体" panose="02010609060101010101" pitchFamily="49" charset="-122"/>
              </a:rPr>
              <a:t>是</a:t>
            </a:r>
            <a:r>
              <a:rPr lang="zh-CN" altLang="zh-CN" sz="2800" b="1" dirty="0">
                <a:latin typeface="黑体" panose="02010609060101010101" pitchFamily="49" charset="-122"/>
                <a:ea typeface="黑体" panose="02010609060101010101" pitchFamily="49" charset="-122"/>
              </a:rPr>
              <a:t>函数</a:t>
            </a:r>
            <a:r>
              <a:rPr lang="zh-CN" altLang="zh-CN" sz="2800" b="1" dirty="0" smtClean="0">
                <a:latin typeface="黑体" panose="02010609060101010101" pitchFamily="49" charset="-122"/>
                <a:ea typeface="黑体" panose="02010609060101010101" pitchFamily="49" charset="-122"/>
              </a:rPr>
              <a:t>关系式</a:t>
            </a:r>
            <a:r>
              <a:rPr lang="en-US" altLang="zh-CN" sz="2800" b="1" i="1" dirty="0">
                <a:latin typeface="Times New Roman" panose="02020603050405020304" pitchFamily="18" charset="0"/>
                <a:ea typeface="黑体" panose="02010609060101010101" pitchFamily="49" charset="-122"/>
                <a:cs typeface="Times New Roman" panose="02020603050405020304" pitchFamily="18" charset="0"/>
              </a:rPr>
              <a:t>f</a:t>
            </a:r>
            <a:r>
              <a:rPr lang="en-US" altLang="zh-CN" sz="2800" b="1"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2800" b="1" i="1" dirty="0" err="1">
                <a:latin typeface="Times New Roman" panose="02020603050405020304" pitchFamily="18" charset="0"/>
                <a:ea typeface="黑体" panose="02010609060101010101" pitchFamily="49" charset="-122"/>
                <a:cs typeface="Times New Roman" panose="02020603050405020304" pitchFamily="18" charset="0"/>
              </a:rPr>
              <a:t>p,v,T</a:t>
            </a:r>
            <a:r>
              <a:rPr lang="en-US" altLang="zh-CN" sz="2800" b="1" dirty="0">
                <a:latin typeface="Times New Roman" panose="02020603050405020304" pitchFamily="18" charset="0"/>
                <a:ea typeface="黑体" panose="02010609060101010101" pitchFamily="49" charset="-122"/>
                <a:cs typeface="Times New Roman" panose="02020603050405020304" pitchFamily="18" charset="0"/>
              </a:rPr>
              <a:t>)=0</a:t>
            </a:r>
            <a:r>
              <a:rPr lang="zh-CN" altLang="zh-CN" sz="2800" b="1" dirty="0" smtClean="0">
                <a:latin typeface="黑体" panose="02010609060101010101" pitchFamily="49" charset="-122"/>
                <a:ea typeface="黑体" panose="02010609060101010101" pitchFamily="49" charset="-122"/>
              </a:rPr>
              <a:t>应用</a:t>
            </a:r>
            <a:r>
              <a:rPr lang="zh-CN" altLang="zh-CN" sz="2800" b="1" dirty="0">
                <a:latin typeface="黑体" panose="02010609060101010101" pitchFamily="49" charset="-122"/>
                <a:ea typeface="黑体" panose="02010609060101010101" pitchFamily="49" charset="-122"/>
              </a:rPr>
              <a:t>到理想气体的一个例子</a:t>
            </a:r>
            <a:r>
              <a:rPr lang="zh-CN" altLang="zh-CN" sz="2800" b="1" dirty="0" smtClean="0">
                <a:latin typeface="黑体" panose="02010609060101010101" pitchFamily="49" charset="-122"/>
                <a:ea typeface="黑体" panose="02010609060101010101" pitchFamily="49" charset="-122"/>
              </a:rPr>
              <a:t>，只有</a:t>
            </a:r>
            <a:r>
              <a:rPr lang="zh-CN" altLang="zh-CN" sz="2800" b="1" dirty="0">
                <a:latin typeface="黑体" panose="02010609060101010101" pitchFamily="49" charset="-122"/>
                <a:ea typeface="黑体" panose="02010609060101010101" pitchFamily="49" charset="-122"/>
              </a:rPr>
              <a:t>理想气体才具有如此简单的状态方程</a:t>
            </a:r>
            <a:r>
              <a:rPr lang="zh-CN" altLang="zh-CN" sz="2800" b="1" dirty="0" smtClean="0">
                <a:latin typeface="黑体" panose="02010609060101010101" pitchFamily="49" charset="-122"/>
                <a:ea typeface="黑体" panose="02010609060101010101" pitchFamily="49" charset="-122"/>
              </a:rPr>
              <a:t>式</a:t>
            </a:r>
            <a:r>
              <a:rPr lang="zh-CN" altLang="en-US" sz="2800" b="1" dirty="0" smtClean="0">
                <a:latin typeface="黑体" panose="02010609060101010101" pitchFamily="49" charset="-122"/>
                <a:ea typeface="黑体" panose="02010609060101010101" pitchFamily="49" charset="-122"/>
              </a:rPr>
              <a:t>；</a:t>
            </a:r>
            <a:r>
              <a:rPr lang="zh-CN" altLang="zh-CN" sz="2800" b="1" dirty="0" smtClean="0">
                <a:latin typeface="黑体" panose="02010609060101010101" pitchFamily="49" charset="-122"/>
                <a:ea typeface="黑体" panose="02010609060101010101" pitchFamily="49" charset="-122"/>
              </a:rPr>
              <a:t>实际气体的</a:t>
            </a:r>
            <a:r>
              <a:rPr lang="zh-CN" altLang="zh-CN" sz="2800" b="1" dirty="0">
                <a:latin typeface="黑体" panose="02010609060101010101" pitchFamily="49" charset="-122"/>
                <a:ea typeface="黑体" panose="02010609060101010101" pitchFamily="49" charset="-122"/>
              </a:rPr>
              <a:t>状态方程式要复杂得</a:t>
            </a:r>
            <a:r>
              <a:rPr lang="zh-CN" altLang="zh-CN" sz="2800" b="1" dirty="0" smtClean="0">
                <a:latin typeface="黑体" panose="02010609060101010101" pitchFamily="49" charset="-122"/>
                <a:ea typeface="黑体" panose="02010609060101010101" pitchFamily="49" charset="-122"/>
              </a:rPr>
              <a:t>多</a:t>
            </a:r>
            <a:r>
              <a:rPr lang="zh-CN" altLang="en-US" sz="2800" b="1" dirty="0">
                <a:latin typeface="黑体" panose="02010609060101010101" pitchFamily="49" charset="-122"/>
                <a:ea typeface="黑体" panose="02010609060101010101" pitchFamily="49" charset="-122"/>
              </a:rPr>
              <a:t>。</a:t>
            </a:r>
            <a:endParaRPr lang="en-US" altLang="zh-CN" sz="2800" b="1" dirty="0" smtClean="0">
              <a:latin typeface="黑体" panose="02010609060101010101" pitchFamily="49" charset="-122"/>
              <a:ea typeface="黑体" panose="02010609060101010101" pitchFamily="49" charset="-122"/>
            </a:endParaRPr>
          </a:p>
          <a:p>
            <a:pPr marL="0" indent="0">
              <a:lnSpc>
                <a:spcPct val="110000"/>
              </a:lnSpc>
              <a:buNone/>
            </a:pPr>
            <a:r>
              <a:rPr lang="zh-CN" altLang="zh-CN" sz="2800" b="1" dirty="0" smtClean="0">
                <a:latin typeface="黑体" panose="02010609060101010101" pitchFamily="49" charset="-122"/>
                <a:ea typeface="黑体" panose="02010609060101010101" pitchFamily="49" charset="-122"/>
              </a:rPr>
              <a:t>在</a:t>
            </a:r>
            <a:r>
              <a:rPr lang="zh-CN" altLang="zh-CN" sz="2800" b="1" dirty="0">
                <a:latin typeface="黑体" panose="02010609060101010101" pitchFamily="49" charset="-122"/>
                <a:ea typeface="黑体" panose="02010609060101010101" pitchFamily="49" charset="-122"/>
              </a:rPr>
              <a:t>对实际气体进行工程计算时，主要借助于蒸气热力性质表和图（将分别在</a:t>
            </a:r>
            <a:r>
              <a:rPr lang="en-US" altLang="zh-CN" sz="2800" b="1" dirty="0">
                <a:latin typeface="Times New Roman" panose="02020603050405020304" pitchFamily="18" charset="0"/>
                <a:ea typeface="黑体" panose="02010609060101010101" pitchFamily="49" charset="-122"/>
                <a:cs typeface="Times New Roman" panose="02020603050405020304" pitchFamily="18" charset="0"/>
              </a:rPr>
              <a:t>9-4</a:t>
            </a:r>
            <a:r>
              <a:rPr lang="zh-CN" altLang="zh-CN" sz="2800" b="1" dirty="0">
                <a:latin typeface="Times New Roman" panose="02020603050405020304" pitchFamily="18" charset="0"/>
                <a:ea typeface="黑体" panose="02010609060101010101" pitchFamily="49" charset="-122"/>
                <a:cs typeface="Times New Roman" panose="02020603050405020304" pitchFamily="18" charset="0"/>
              </a:rPr>
              <a:t>和</a:t>
            </a:r>
            <a:r>
              <a:rPr lang="en-US" altLang="zh-CN" sz="2800" b="1" dirty="0">
                <a:latin typeface="Times New Roman" panose="02020603050405020304" pitchFamily="18" charset="0"/>
                <a:ea typeface="黑体" panose="02010609060101010101" pitchFamily="49" charset="-122"/>
                <a:cs typeface="Times New Roman" panose="02020603050405020304" pitchFamily="18" charset="0"/>
              </a:rPr>
              <a:t>9-5</a:t>
            </a:r>
            <a:r>
              <a:rPr lang="zh-CN" altLang="zh-CN" sz="2800" b="1" dirty="0">
                <a:latin typeface="Times New Roman" panose="02020603050405020304" pitchFamily="18" charset="0"/>
                <a:ea typeface="黑体" panose="02010609060101010101" pitchFamily="49" charset="-122"/>
                <a:cs typeface="Times New Roman" panose="02020603050405020304" pitchFamily="18" charset="0"/>
              </a:rPr>
              <a:t>节</a:t>
            </a:r>
            <a:r>
              <a:rPr lang="zh-CN" altLang="zh-CN" sz="2800" b="1" dirty="0">
                <a:latin typeface="黑体" panose="02010609060101010101" pitchFamily="49" charset="-122"/>
                <a:ea typeface="黑体" panose="02010609060101010101" pitchFamily="49" charset="-122"/>
              </a:rPr>
              <a:t>中讨论）或一些实际气体的状态方程式（将在</a:t>
            </a:r>
            <a:r>
              <a:rPr lang="en-US" altLang="zh-CN" sz="2800" b="1" dirty="0">
                <a:latin typeface="Times New Roman" panose="02020603050405020304" pitchFamily="18" charset="0"/>
                <a:ea typeface="黑体" panose="02010609060101010101" pitchFamily="49" charset="-122"/>
                <a:cs typeface="Times New Roman" panose="02020603050405020304" pitchFamily="18" charset="0"/>
              </a:rPr>
              <a:t>15-2</a:t>
            </a:r>
            <a:r>
              <a:rPr lang="zh-CN" altLang="zh-CN" sz="2800" b="1" dirty="0">
                <a:latin typeface="黑体" panose="02010609060101010101" pitchFamily="49" charset="-122"/>
                <a:ea typeface="黑体" panose="02010609060101010101" pitchFamily="49" charset="-122"/>
              </a:rPr>
              <a:t>节中讨论）。</a:t>
            </a:r>
            <a:endParaRPr lang="zh-CN" altLang="en-US" sz="2800" b="1" dirty="0">
              <a:latin typeface="黑体" panose="02010609060101010101" pitchFamily="49" charset="-122"/>
              <a:ea typeface="黑体" panose="02010609060101010101" pitchFamily="49" charset="-122"/>
            </a:endParaRPr>
          </a:p>
        </p:txBody>
      </p:sp>
    </p:spTree>
  </p:cSld>
  <p:clrMapOvr>
    <a:masterClrMapping/>
  </p:clrMapOvr>
  <p:transition spd="slow"/>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7" name="内容占位符 98306"/>
          <p:cNvSpPr>
            <a:spLocks noGrp="1" noChangeArrowheads="1"/>
          </p:cNvSpPr>
          <p:nvPr>
            <p:ph idx="1"/>
          </p:nvPr>
        </p:nvSpPr>
        <p:spPr>
          <a:xfrm>
            <a:off x="539750" y="1628775"/>
            <a:ext cx="8229600" cy="4525963"/>
          </a:xfrm>
        </p:spPr>
        <p:txBody>
          <a:bodyPr>
            <a:normAutofit/>
          </a:bodyPr>
          <a:lstStyle/>
          <a:p>
            <a:pPr>
              <a:lnSpc>
                <a:spcPct val="100000"/>
              </a:lnSpc>
            </a:pPr>
            <a:r>
              <a:rPr lang="zh-CN" altLang="en-US" sz="2800" b="1" dirty="0" smtClean="0">
                <a:ea typeface="黑体" panose="02010609060101010101" pitchFamily="49" charset="-122"/>
              </a:rPr>
              <a:t>生活经验告诉我们，物质在通常的参数范围内可能呈现出</a:t>
            </a:r>
            <a:r>
              <a:rPr lang="zh-CN" altLang="en-US" sz="2800" b="1" dirty="0" smtClean="0">
                <a:solidFill>
                  <a:srgbClr val="FF0000"/>
                </a:solidFill>
                <a:ea typeface="黑体" panose="02010609060101010101" pitchFamily="49" charset="-122"/>
              </a:rPr>
              <a:t>气</a:t>
            </a:r>
            <a:r>
              <a:rPr lang="zh-CN" altLang="en-US" sz="2800" b="1" dirty="0" smtClean="0">
                <a:ea typeface="黑体" panose="02010609060101010101" pitchFamily="49" charset="-122"/>
              </a:rPr>
              <a:t>、</a:t>
            </a:r>
            <a:r>
              <a:rPr lang="zh-CN" altLang="en-US" sz="2800" b="1" dirty="0" smtClean="0">
                <a:solidFill>
                  <a:srgbClr val="FF0000"/>
                </a:solidFill>
                <a:ea typeface="黑体" panose="02010609060101010101" pitchFamily="49" charset="-122"/>
              </a:rPr>
              <a:t>液</a:t>
            </a:r>
            <a:r>
              <a:rPr lang="zh-CN" altLang="en-US" sz="2800" b="1" dirty="0" smtClean="0">
                <a:ea typeface="黑体" panose="02010609060101010101" pitchFamily="49" charset="-122"/>
              </a:rPr>
              <a:t>、</a:t>
            </a:r>
            <a:r>
              <a:rPr lang="zh-CN" altLang="en-US" sz="2800" b="1" dirty="0" smtClean="0">
                <a:solidFill>
                  <a:srgbClr val="FF0000"/>
                </a:solidFill>
                <a:ea typeface="黑体" panose="02010609060101010101" pitchFamily="49" charset="-122"/>
              </a:rPr>
              <a:t>固</a:t>
            </a:r>
            <a:r>
              <a:rPr lang="zh-CN" altLang="en-US" sz="2800" b="1" dirty="0" smtClean="0">
                <a:ea typeface="黑体" panose="02010609060101010101" pitchFamily="49" charset="-122"/>
              </a:rPr>
              <a:t>三种不同的相。例如，在常温常压下，氧气为气相，水为液相，铜为固相。在不同的条件下，同一种物质会呈现出不同的相。</a:t>
            </a:r>
            <a:endParaRPr lang="zh-CN" altLang="en-US" sz="2800" b="1" dirty="0" smtClean="0">
              <a:ea typeface="黑体" panose="02010609060101010101" pitchFamily="49" charset="-122"/>
            </a:endParaRPr>
          </a:p>
          <a:p>
            <a:pPr>
              <a:lnSpc>
                <a:spcPct val="100000"/>
              </a:lnSpc>
            </a:pPr>
            <a:r>
              <a:rPr lang="zh-CN" altLang="en-US" sz="2800" b="1" dirty="0" smtClean="0">
                <a:ea typeface="黑体" panose="02010609060101010101" pitchFamily="49" charset="-122"/>
              </a:rPr>
              <a:t>物质从一种相转变为另一种相的过程称为</a:t>
            </a:r>
            <a:r>
              <a:rPr lang="zh-CN" altLang="en-US" sz="2800" b="1" dirty="0" smtClean="0">
                <a:solidFill>
                  <a:srgbClr val="FF0000"/>
                </a:solidFill>
                <a:ea typeface="黑体" panose="02010609060101010101" pitchFamily="49" charset="-122"/>
              </a:rPr>
              <a:t>相变</a:t>
            </a:r>
            <a:r>
              <a:rPr lang="zh-CN" altLang="en-US" sz="2800" b="1" dirty="0" smtClean="0">
                <a:ea typeface="黑体" panose="02010609060101010101" pitchFamily="49" charset="-122"/>
              </a:rPr>
              <a:t>。</a:t>
            </a:r>
            <a:r>
              <a:rPr lang="zh-CN" altLang="en-US" sz="2800" b="1" dirty="0" smtClean="0"/>
              <a:t> </a:t>
            </a:r>
            <a:endParaRPr lang="zh-CN" altLang="en-US" sz="2800" b="1" dirty="0" smtClean="0"/>
          </a:p>
        </p:txBody>
      </p:sp>
      <p:sp>
        <p:nvSpPr>
          <p:cNvPr id="19458" name="文本框 98307"/>
          <p:cNvSpPr txBox="1">
            <a:spLocks noChangeArrowheads="1"/>
          </p:cNvSpPr>
          <p:nvPr/>
        </p:nvSpPr>
        <p:spPr bwMode="auto">
          <a:xfrm>
            <a:off x="611188" y="333375"/>
            <a:ext cx="727392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3600" b="1">
                <a:latin typeface="Arial" panose="020B0604020202020204" pitchFamily="34" charset="0"/>
                <a:ea typeface="黑体" panose="02010609060101010101" pitchFamily="49" charset="-122"/>
              </a:rPr>
              <a:t>三、 纯物质的相变</a:t>
            </a:r>
            <a:endParaRPr lang="zh-CN" altLang="en-US" sz="3600" b="1">
              <a:latin typeface="Arial" panose="020B0604020202020204" pitchFamily="34" charset="0"/>
              <a:ea typeface="黑体" panose="02010609060101010101" pitchFamily="49" charset="-122"/>
            </a:endParaRPr>
          </a:p>
        </p:txBody>
      </p:sp>
    </p:spTree>
    <p:custDataLst>
      <p:tags r:id="rId1"/>
    </p:custData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98307">
                                            <p:txEl>
                                              <p:pRg st="1" end="1"/>
                                            </p:txEl>
                                          </p:spTgt>
                                        </p:tgtEl>
                                        <p:attrNameLst>
                                          <p:attrName>style.visibility</p:attrName>
                                        </p:attrNameLst>
                                      </p:cBhvr>
                                      <p:to>
                                        <p:strVal val="visible"/>
                                      </p:to>
                                    </p:set>
                                    <p:animEffect transition="in" filter="blinds(horizontal)">
                                      <p:cBhvr>
                                        <p:cTn id="7" dur="500"/>
                                        <p:tgtEl>
                                          <p:spTgt spid="9830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标题 99329"/>
          <p:cNvSpPr>
            <a:spLocks noGrp="1" noChangeArrowheads="1"/>
          </p:cNvSpPr>
          <p:nvPr>
            <p:ph type="title"/>
          </p:nvPr>
        </p:nvSpPr>
        <p:spPr>
          <a:xfrm>
            <a:off x="395288" y="224596"/>
            <a:ext cx="7886700" cy="1325563"/>
          </a:xfrm>
        </p:spPr>
        <p:txBody>
          <a:bodyPr>
            <a:normAutofit/>
          </a:bodyPr>
          <a:lstStyle/>
          <a:p>
            <a:r>
              <a:rPr lang="zh-CN" altLang="en-US" sz="3600" b="1" dirty="0" smtClean="0">
                <a:ea typeface="黑体" panose="02010609060101010101" pitchFamily="49" charset="-122"/>
              </a:rPr>
              <a:t>生活中常见的相变过程</a:t>
            </a:r>
            <a:r>
              <a:rPr lang="zh-CN" altLang="en-US" sz="3200" b="1" dirty="0" smtClean="0"/>
              <a:t> </a:t>
            </a:r>
            <a:endParaRPr lang="zh-CN" altLang="en-US" sz="3200" b="1" dirty="0" smtClean="0"/>
          </a:p>
        </p:txBody>
      </p:sp>
      <p:pic>
        <p:nvPicPr>
          <p:cNvPr id="20482" name="图片 99332" descr="6483784200880939253_11n"/>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95288" y="1550159"/>
            <a:ext cx="3810000" cy="281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3" name="矩形 99333"/>
          <p:cNvSpPr>
            <a:spLocks noChangeArrowheads="1"/>
          </p:cNvSpPr>
          <p:nvPr/>
        </p:nvSpPr>
        <p:spPr bwMode="auto">
          <a:xfrm>
            <a:off x="315775" y="4612496"/>
            <a:ext cx="424815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2400" b="1" dirty="0">
                <a:latin typeface="黑体" panose="02010609060101010101" pitchFamily="49" charset="-122"/>
                <a:ea typeface="黑体" panose="02010609060101010101" pitchFamily="49" charset="-122"/>
              </a:rPr>
              <a:t>在烧开水时，容器中的水吸热后温度升高而汽化为水蒸气 </a:t>
            </a:r>
            <a:endParaRPr lang="zh-CN" altLang="en-US" sz="2400" b="1" dirty="0">
              <a:latin typeface="黑体" panose="02010609060101010101" pitchFamily="49" charset="-122"/>
              <a:ea typeface="黑体" panose="02010609060101010101" pitchFamily="49" charset="-122"/>
            </a:endParaRPr>
          </a:p>
        </p:txBody>
      </p:sp>
      <p:pic>
        <p:nvPicPr>
          <p:cNvPr id="20484" name="图片 99335" descr="0dd7912397dda1447abecd58b3b7d0a20df486a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51388" y="1700971"/>
            <a:ext cx="3781425" cy="2517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5" name="矩形 99336"/>
          <p:cNvSpPr>
            <a:spLocks noChangeArrowheads="1"/>
          </p:cNvSpPr>
          <p:nvPr/>
        </p:nvSpPr>
        <p:spPr bwMode="auto">
          <a:xfrm>
            <a:off x="5009115" y="4612496"/>
            <a:ext cx="33845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2400" b="1" dirty="0">
                <a:latin typeface="黑体" panose="02010609060101010101" pitchFamily="49" charset="-122"/>
                <a:ea typeface="黑体" panose="02010609060101010101" pitchFamily="49" charset="-122"/>
              </a:rPr>
              <a:t>水降温后会凝固为冰 </a:t>
            </a:r>
            <a:endParaRPr lang="zh-CN" altLang="en-US" sz="2400" b="1" dirty="0">
              <a:latin typeface="黑体" panose="02010609060101010101" pitchFamily="49" charset="-122"/>
              <a:ea typeface="黑体" panose="02010609060101010101" pitchFamily="49" charset="-122"/>
            </a:endParaRPr>
          </a:p>
        </p:txBody>
      </p:sp>
    </p:spTree>
  </p:cSld>
  <p:clrMapOvr>
    <a:masterClrMapping/>
  </p:clrMapOvr>
  <p:transition spd="slow"/>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标题 100353"/>
          <p:cNvSpPr>
            <a:spLocks noGrp="1" noChangeArrowheads="1"/>
          </p:cNvSpPr>
          <p:nvPr>
            <p:ph type="title"/>
          </p:nvPr>
        </p:nvSpPr>
        <p:spPr>
          <a:xfrm>
            <a:off x="387972" y="150019"/>
            <a:ext cx="8309941" cy="1325563"/>
          </a:xfrm>
        </p:spPr>
        <p:txBody>
          <a:bodyPr>
            <a:normAutofit/>
          </a:bodyPr>
          <a:lstStyle/>
          <a:p>
            <a:pPr algn="l"/>
            <a:r>
              <a:rPr lang="zh-CN" altLang="en-US" sz="3200" b="1" dirty="0" smtClean="0">
                <a:ea typeface="黑体" panose="02010609060101010101" pitchFamily="49" charset="-122"/>
              </a:rPr>
              <a:t>工程领域的许多热功设备中，也有相变过程</a:t>
            </a:r>
            <a:r>
              <a:rPr lang="zh-CN" altLang="en-US" sz="3200" b="1" dirty="0" smtClean="0"/>
              <a:t> </a:t>
            </a:r>
            <a:endParaRPr lang="zh-CN" altLang="en-US" sz="3200" b="1" dirty="0" smtClean="0"/>
          </a:p>
        </p:txBody>
      </p:sp>
      <p:sp>
        <p:nvSpPr>
          <p:cNvPr id="21506" name="文本占位符 100354"/>
          <p:cNvSpPr>
            <a:spLocks noGrp="1" noChangeArrowheads="1"/>
          </p:cNvSpPr>
          <p:nvPr>
            <p:ph idx="1"/>
          </p:nvPr>
        </p:nvSpPr>
        <p:spPr>
          <a:xfrm>
            <a:off x="468313" y="1475582"/>
            <a:ext cx="8229600" cy="897731"/>
          </a:xfrm>
        </p:spPr>
        <p:txBody>
          <a:bodyPr>
            <a:normAutofit lnSpcReduction="10000"/>
          </a:bodyPr>
          <a:lstStyle/>
          <a:p>
            <a:pPr marL="0" indent="0">
              <a:lnSpc>
                <a:spcPct val="100000"/>
              </a:lnSpc>
              <a:buNone/>
            </a:pPr>
            <a:r>
              <a:rPr lang="zh-CN" altLang="en-US" sz="2800" b="1" dirty="0" smtClean="0">
                <a:latin typeface="黑体" panose="02010609060101010101" pitchFamily="49" charset="-122"/>
                <a:ea typeface="黑体" panose="02010609060101010101" pitchFamily="49" charset="-122"/>
              </a:rPr>
              <a:t>蒸汽动力循环中水在</a:t>
            </a:r>
            <a:r>
              <a:rPr lang="zh-CN" altLang="en-US" sz="2800" b="1" dirty="0" smtClean="0">
                <a:solidFill>
                  <a:srgbClr val="FF0000"/>
                </a:solidFill>
                <a:latin typeface="黑体" panose="02010609060101010101" pitchFamily="49" charset="-122"/>
                <a:ea typeface="黑体" panose="02010609060101010101" pitchFamily="49" charset="-122"/>
              </a:rPr>
              <a:t>锅炉中的汽化过程</a:t>
            </a:r>
            <a:r>
              <a:rPr lang="zh-CN" altLang="en-US" sz="2800" b="1" dirty="0" smtClean="0">
                <a:latin typeface="黑体" panose="02010609060101010101" pitchFamily="49" charset="-122"/>
                <a:ea typeface="黑体" panose="02010609060101010101" pitchFamily="49" charset="-122"/>
              </a:rPr>
              <a:t>以及水蒸气在</a:t>
            </a:r>
            <a:r>
              <a:rPr lang="zh-CN" altLang="en-US" sz="2800" b="1" dirty="0" smtClean="0">
                <a:solidFill>
                  <a:srgbClr val="FF0000"/>
                </a:solidFill>
                <a:latin typeface="黑体" panose="02010609060101010101" pitchFamily="49" charset="-122"/>
                <a:ea typeface="黑体" panose="02010609060101010101" pitchFamily="49" charset="-122"/>
              </a:rPr>
              <a:t>冷凝器中的凝结过程</a:t>
            </a:r>
            <a:endParaRPr lang="zh-CN" altLang="en-US" sz="2800" b="1" dirty="0" smtClean="0">
              <a:latin typeface="黑体" panose="02010609060101010101" pitchFamily="49" charset="-122"/>
              <a:ea typeface="黑体" panose="02010609060101010101" pitchFamily="49" charset="-122"/>
            </a:endParaRPr>
          </a:p>
        </p:txBody>
      </p:sp>
      <p:pic>
        <p:nvPicPr>
          <p:cNvPr id="21507" name="图片 10035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017920" y="2936875"/>
            <a:ext cx="4938713" cy="315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08" name="文本框 100356"/>
          <p:cNvSpPr txBox="1">
            <a:spLocks noChangeAspect="1" noChangeArrowheads="1"/>
          </p:cNvSpPr>
          <p:nvPr/>
        </p:nvSpPr>
        <p:spPr bwMode="auto">
          <a:xfrm>
            <a:off x="3854657" y="2752209"/>
            <a:ext cx="30168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b="1" dirty="0">
                <a:latin typeface="黑体" panose="02010609060101010101" pitchFamily="49" charset="-122"/>
                <a:ea typeface="黑体" panose="02010609060101010101" pitchFamily="49" charset="-122"/>
              </a:rPr>
              <a:t>1</a:t>
            </a:r>
            <a:endParaRPr lang="en-US" altLang="zh-CN" b="1" dirty="0">
              <a:latin typeface="黑体" panose="02010609060101010101" pitchFamily="49" charset="-122"/>
              <a:ea typeface="黑体" panose="02010609060101010101" pitchFamily="49" charset="-122"/>
            </a:endParaRPr>
          </a:p>
        </p:txBody>
      </p:sp>
      <p:sp>
        <p:nvSpPr>
          <p:cNvPr id="21509" name="文本框 100357"/>
          <p:cNvSpPr txBox="1">
            <a:spLocks noChangeAspect="1" noChangeArrowheads="1"/>
          </p:cNvSpPr>
          <p:nvPr/>
        </p:nvSpPr>
        <p:spPr bwMode="auto">
          <a:xfrm>
            <a:off x="5659645" y="4035425"/>
            <a:ext cx="30168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b="1">
                <a:latin typeface="黑体" panose="02010609060101010101" pitchFamily="49" charset="-122"/>
                <a:ea typeface="黑体" panose="02010609060101010101" pitchFamily="49" charset="-122"/>
              </a:rPr>
              <a:t>2</a:t>
            </a:r>
            <a:endParaRPr lang="en-US" altLang="zh-CN" b="1">
              <a:latin typeface="黑体" panose="02010609060101010101" pitchFamily="49" charset="-122"/>
              <a:ea typeface="黑体" panose="02010609060101010101" pitchFamily="49" charset="-122"/>
            </a:endParaRPr>
          </a:p>
        </p:txBody>
      </p:sp>
      <p:sp>
        <p:nvSpPr>
          <p:cNvPr id="21510" name="文本框 100358"/>
          <p:cNvSpPr txBox="1">
            <a:spLocks noChangeAspect="1" noChangeArrowheads="1"/>
          </p:cNvSpPr>
          <p:nvPr/>
        </p:nvSpPr>
        <p:spPr bwMode="auto">
          <a:xfrm>
            <a:off x="5599320" y="5132387"/>
            <a:ext cx="30168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b="1" dirty="0">
                <a:latin typeface="黑体" panose="02010609060101010101" pitchFamily="49" charset="-122"/>
                <a:ea typeface="黑体" panose="02010609060101010101" pitchFamily="49" charset="-122"/>
              </a:rPr>
              <a:t>3</a:t>
            </a:r>
            <a:endParaRPr lang="en-US" altLang="zh-CN" b="1" dirty="0">
              <a:latin typeface="黑体" panose="02010609060101010101" pitchFamily="49" charset="-122"/>
              <a:ea typeface="黑体" panose="02010609060101010101" pitchFamily="49" charset="-122"/>
            </a:endParaRPr>
          </a:p>
        </p:txBody>
      </p:sp>
      <p:sp>
        <p:nvSpPr>
          <p:cNvPr id="21511" name="文本框 100359"/>
          <p:cNvSpPr txBox="1">
            <a:spLocks noChangeAspect="1" noChangeArrowheads="1"/>
          </p:cNvSpPr>
          <p:nvPr/>
        </p:nvSpPr>
        <p:spPr bwMode="auto">
          <a:xfrm>
            <a:off x="4257883" y="5132387"/>
            <a:ext cx="30168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b="1">
                <a:latin typeface="黑体" panose="02010609060101010101" pitchFamily="49" charset="-122"/>
                <a:ea typeface="黑体" panose="02010609060101010101" pitchFamily="49" charset="-122"/>
              </a:rPr>
              <a:t>4</a:t>
            </a:r>
            <a:endParaRPr lang="en-US" altLang="zh-CN" b="1">
              <a:latin typeface="黑体" panose="02010609060101010101" pitchFamily="49" charset="-122"/>
              <a:ea typeface="黑体" panose="02010609060101010101" pitchFamily="49" charset="-122"/>
            </a:endParaRPr>
          </a:p>
        </p:txBody>
      </p:sp>
      <p:sp>
        <p:nvSpPr>
          <p:cNvPr id="21512" name="文本框 100360"/>
          <p:cNvSpPr txBox="1">
            <a:spLocks noChangeAspect="1" noChangeArrowheads="1"/>
          </p:cNvSpPr>
          <p:nvPr/>
        </p:nvSpPr>
        <p:spPr bwMode="auto">
          <a:xfrm>
            <a:off x="4745245" y="2665412"/>
            <a:ext cx="20256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000" b="1">
                <a:latin typeface="黑体" panose="02010609060101010101" pitchFamily="49" charset="-122"/>
                <a:ea typeface="黑体" panose="02010609060101010101" pitchFamily="49" charset="-122"/>
              </a:rPr>
              <a:t>汽轮机</a:t>
            </a:r>
            <a:endParaRPr lang="zh-CN" altLang="en-US" sz="2000" b="1">
              <a:latin typeface="黑体" panose="02010609060101010101" pitchFamily="49" charset="-122"/>
              <a:ea typeface="黑体" panose="02010609060101010101" pitchFamily="49" charset="-122"/>
            </a:endParaRPr>
          </a:p>
        </p:txBody>
      </p:sp>
      <p:sp>
        <p:nvSpPr>
          <p:cNvPr id="21513" name="文本框 100361"/>
          <p:cNvSpPr txBox="1">
            <a:spLocks noChangeAspect="1" noChangeArrowheads="1"/>
          </p:cNvSpPr>
          <p:nvPr/>
        </p:nvSpPr>
        <p:spPr bwMode="auto">
          <a:xfrm>
            <a:off x="6269245" y="3989387"/>
            <a:ext cx="19415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000" b="1">
                <a:latin typeface="黑体" panose="02010609060101010101" pitchFamily="49" charset="-122"/>
                <a:ea typeface="黑体" panose="02010609060101010101" pitchFamily="49" charset="-122"/>
              </a:rPr>
              <a:t>冷凝器</a:t>
            </a:r>
            <a:endParaRPr lang="zh-CN" altLang="en-US" sz="2000" b="1">
              <a:latin typeface="黑体" panose="02010609060101010101" pitchFamily="49" charset="-122"/>
              <a:ea typeface="黑体" panose="02010609060101010101" pitchFamily="49" charset="-122"/>
            </a:endParaRPr>
          </a:p>
        </p:txBody>
      </p:sp>
      <p:sp>
        <p:nvSpPr>
          <p:cNvPr id="21514" name="文本框 100362"/>
          <p:cNvSpPr txBox="1">
            <a:spLocks noChangeAspect="1" noChangeArrowheads="1"/>
          </p:cNvSpPr>
          <p:nvPr/>
        </p:nvSpPr>
        <p:spPr bwMode="auto">
          <a:xfrm>
            <a:off x="3854657" y="5779604"/>
            <a:ext cx="17811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000" b="1">
                <a:latin typeface="黑体" panose="02010609060101010101" pitchFamily="49" charset="-122"/>
                <a:ea typeface="黑体" panose="02010609060101010101" pitchFamily="49" charset="-122"/>
              </a:rPr>
              <a:t>水泵</a:t>
            </a:r>
            <a:endParaRPr lang="zh-CN" altLang="en-US" sz="2000" b="1">
              <a:latin typeface="黑体" panose="02010609060101010101" pitchFamily="49" charset="-122"/>
              <a:ea typeface="黑体" panose="02010609060101010101" pitchFamily="49" charset="-122"/>
            </a:endParaRPr>
          </a:p>
        </p:txBody>
      </p:sp>
      <p:sp>
        <p:nvSpPr>
          <p:cNvPr id="21515" name="文本框 100363"/>
          <p:cNvSpPr txBox="1">
            <a:spLocks noChangeAspect="1" noChangeArrowheads="1"/>
          </p:cNvSpPr>
          <p:nvPr/>
        </p:nvSpPr>
        <p:spPr bwMode="auto">
          <a:xfrm>
            <a:off x="1298783" y="4305300"/>
            <a:ext cx="12874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000" b="1" dirty="0">
                <a:latin typeface="黑体" panose="02010609060101010101" pitchFamily="49" charset="-122"/>
                <a:ea typeface="黑体" panose="02010609060101010101" pitchFamily="49" charset="-122"/>
              </a:rPr>
              <a:t>锅炉</a:t>
            </a:r>
            <a:endParaRPr lang="zh-CN" altLang="en-US" sz="2000" b="1" dirty="0">
              <a:latin typeface="黑体" panose="02010609060101010101" pitchFamily="49" charset="-122"/>
              <a:ea typeface="黑体" panose="02010609060101010101" pitchFamily="49" charset="-122"/>
            </a:endParaRPr>
          </a:p>
        </p:txBody>
      </p:sp>
    </p:spTree>
  </p:cSld>
  <p:clrMapOvr>
    <a:masterClrMapping/>
  </p:clrMapOvr>
  <p:transition spd="slow"/>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标题 101377"/>
          <p:cNvSpPr>
            <a:spLocks noGrp="1" noChangeArrowheads="1"/>
          </p:cNvSpPr>
          <p:nvPr>
            <p:ph type="title"/>
          </p:nvPr>
        </p:nvSpPr>
        <p:spPr/>
        <p:txBody>
          <a:bodyPr/>
          <a:lstStyle/>
          <a:p>
            <a:r>
              <a:rPr lang="zh-CN" altLang="en-US" b="1" dirty="0" smtClean="0">
                <a:ea typeface="黑体" panose="02010609060101010101" pitchFamily="49" charset="-122"/>
              </a:rPr>
              <a:t>本章</a:t>
            </a:r>
            <a:r>
              <a:rPr lang="zh-CN" altLang="en-US" b="1" dirty="0" smtClean="0">
                <a:ea typeface="黑体" panose="02010609060101010101" pitchFamily="49" charset="-122"/>
              </a:rPr>
              <a:t>主要内容</a:t>
            </a:r>
            <a:endParaRPr lang="zh-CN" altLang="en-US" b="1" dirty="0" smtClean="0">
              <a:ea typeface="黑体" panose="02010609060101010101" pitchFamily="49" charset="-122"/>
            </a:endParaRPr>
          </a:p>
        </p:txBody>
      </p:sp>
      <p:sp>
        <p:nvSpPr>
          <p:cNvPr id="22530" name="文本占位符 101378"/>
          <p:cNvSpPr>
            <a:spLocks noGrp="1" noChangeArrowheads="1"/>
          </p:cNvSpPr>
          <p:nvPr>
            <p:ph idx="1"/>
          </p:nvPr>
        </p:nvSpPr>
        <p:spPr/>
        <p:txBody>
          <a:bodyPr>
            <a:normAutofit/>
          </a:bodyPr>
          <a:lstStyle/>
          <a:p>
            <a:pPr>
              <a:lnSpc>
                <a:spcPct val="100000"/>
              </a:lnSpc>
            </a:pPr>
            <a:r>
              <a:rPr lang="zh-CN" altLang="en-US" sz="2800" b="1" dirty="0" smtClean="0">
                <a:ea typeface="黑体" panose="02010609060101010101" pitchFamily="49" charset="-122"/>
              </a:rPr>
              <a:t>首先</a:t>
            </a:r>
            <a:r>
              <a:rPr lang="zh-CN" altLang="en-US" sz="2800" b="1" dirty="0" smtClean="0">
                <a:solidFill>
                  <a:srgbClr val="0000FF"/>
                </a:solidFill>
                <a:ea typeface="黑体" panose="02010609060101010101" pitchFamily="49" charset="-122"/>
              </a:rPr>
              <a:t>以水为例</a:t>
            </a:r>
            <a:r>
              <a:rPr lang="zh-CN" altLang="en-US" sz="2800" b="1" dirty="0" smtClean="0">
                <a:ea typeface="黑体" panose="02010609060101010101" pitchFamily="49" charset="-122"/>
              </a:rPr>
              <a:t>讨论蒸气的</a:t>
            </a:r>
            <a:r>
              <a:rPr lang="zh-CN" altLang="en-US" sz="2800" b="1" dirty="0" smtClean="0">
                <a:solidFill>
                  <a:srgbClr val="FF0000"/>
                </a:solidFill>
                <a:ea typeface="黑体" panose="02010609060101010101" pitchFamily="49" charset="-122"/>
              </a:rPr>
              <a:t>定压发生过程</a:t>
            </a:r>
            <a:r>
              <a:rPr lang="zh-CN" altLang="en-US" sz="2800" b="1" dirty="0" smtClean="0">
                <a:ea typeface="黑体" panose="02010609060101010101" pitchFamily="49" charset="-122"/>
              </a:rPr>
              <a:t>，在该过程中存在着相变以及多相混合的情况，但多相混合物仍然属于纯物质</a:t>
            </a:r>
            <a:endParaRPr lang="zh-CN" altLang="en-US" sz="2800" b="1" dirty="0" smtClean="0">
              <a:ea typeface="黑体" panose="02010609060101010101" pitchFamily="49" charset="-122"/>
            </a:endParaRPr>
          </a:p>
          <a:p>
            <a:pPr>
              <a:lnSpc>
                <a:spcPct val="100000"/>
              </a:lnSpc>
            </a:pPr>
            <a:r>
              <a:rPr lang="zh-CN" altLang="en-US" sz="2800" b="1" dirty="0" smtClean="0">
                <a:ea typeface="黑体" panose="02010609060101010101" pitchFamily="49" charset="-122"/>
              </a:rPr>
              <a:t>在此之后介绍纯物质的</a:t>
            </a:r>
            <a:r>
              <a:rPr lang="zh-CN" altLang="en-US" sz="2800" b="1" dirty="0" smtClean="0">
                <a:solidFill>
                  <a:srgbClr val="FF0000"/>
                </a:solidFill>
                <a:ea typeface="黑体" panose="02010609060101010101" pitchFamily="49" charset="-122"/>
              </a:rPr>
              <a:t>相图</a:t>
            </a:r>
            <a:endParaRPr lang="zh-CN" altLang="en-US" sz="2800" b="1" dirty="0" smtClean="0">
              <a:ea typeface="黑体" panose="02010609060101010101" pitchFamily="49" charset="-122"/>
            </a:endParaRPr>
          </a:p>
          <a:p>
            <a:pPr>
              <a:lnSpc>
                <a:spcPct val="100000"/>
              </a:lnSpc>
            </a:pPr>
            <a:r>
              <a:rPr lang="zh-CN" altLang="en-US" sz="2800" b="1" dirty="0" smtClean="0">
                <a:ea typeface="黑体" panose="02010609060101010101" pitchFamily="49" charset="-122"/>
              </a:rPr>
              <a:t>最后讨论</a:t>
            </a:r>
            <a:r>
              <a:rPr lang="zh-CN" altLang="en-US" sz="2800" b="1" dirty="0" smtClean="0">
                <a:solidFill>
                  <a:srgbClr val="FF0000"/>
                </a:solidFill>
                <a:ea typeface="黑体" panose="02010609060101010101" pitchFamily="49" charset="-122"/>
              </a:rPr>
              <a:t>蒸气热力性质表和图</a:t>
            </a:r>
            <a:r>
              <a:rPr lang="zh-CN" altLang="en-US" sz="2800" b="1" dirty="0" smtClean="0">
                <a:ea typeface="黑体" panose="02010609060101010101" pitchFamily="49" charset="-122"/>
              </a:rPr>
              <a:t>的类型、结构和使用方法</a:t>
            </a:r>
            <a:r>
              <a:rPr lang="zh-CN" altLang="en-US" sz="2800" b="1" dirty="0" smtClean="0"/>
              <a:t> </a:t>
            </a:r>
            <a:endParaRPr lang="zh-CN" altLang="en-US" sz="2800" b="1" dirty="0" smtClean="0"/>
          </a:p>
        </p:txBody>
      </p:sp>
    </p:spTree>
  </p:cSld>
  <p:clrMapOvr>
    <a:masterClrMapping/>
  </p:clrMapOvr>
  <p:transition spd="slow"/>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6" name="矩形 105475"/>
          <p:cNvSpPr>
            <a:spLocks noChangeArrowheads="1"/>
          </p:cNvSpPr>
          <p:nvPr/>
        </p:nvSpPr>
        <p:spPr bwMode="auto">
          <a:xfrm>
            <a:off x="261938" y="1417638"/>
            <a:ext cx="8424862" cy="46474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gn="ctr"/>
            <a:r>
              <a:rPr lang="zh-CN" altLang="en-US" sz="3600" b="1" dirty="0">
                <a:latin typeface="黑体" panose="02010609060101010101" pitchFamily="49" charset="-122"/>
                <a:ea typeface="黑体" panose="02010609060101010101" pitchFamily="49" charset="-122"/>
              </a:rPr>
              <a:t>区分“</a:t>
            </a:r>
            <a:r>
              <a:rPr lang="zh-CN" altLang="en-US" sz="3600" b="1" dirty="0">
                <a:solidFill>
                  <a:srgbClr val="0000FF"/>
                </a:solidFill>
                <a:latin typeface="黑体" panose="02010609060101010101" pitchFamily="49" charset="-122"/>
                <a:ea typeface="黑体" panose="02010609060101010101" pitchFamily="49" charset="-122"/>
              </a:rPr>
              <a:t>蒸汽</a:t>
            </a:r>
            <a:r>
              <a:rPr lang="zh-CN" altLang="en-US" sz="3600" b="1" dirty="0">
                <a:latin typeface="黑体" panose="02010609060101010101" pitchFamily="49" charset="-122"/>
                <a:ea typeface="黑体" panose="02010609060101010101" pitchFamily="49" charset="-122"/>
              </a:rPr>
              <a:t>”和“</a:t>
            </a:r>
            <a:r>
              <a:rPr lang="zh-CN" altLang="en-US" sz="3600" b="1" dirty="0">
                <a:solidFill>
                  <a:srgbClr val="0000FF"/>
                </a:solidFill>
                <a:latin typeface="黑体" panose="02010609060101010101" pitchFamily="49" charset="-122"/>
                <a:ea typeface="黑体" panose="02010609060101010101" pitchFamily="49" charset="-122"/>
              </a:rPr>
              <a:t>蒸气</a:t>
            </a:r>
            <a:r>
              <a:rPr lang="zh-CN" altLang="en-US" sz="3600" b="1" dirty="0">
                <a:latin typeface="黑体" panose="02010609060101010101" pitchFamily="49" charset="-122"/>
                <a:ea typeface="黑体" panose="02010609060101010101" pitchFamily="49" charset="-122"/>
              </a:rPr>
              <a:t>” </a:t>
            </a:r>
            <a:endParaRPr lang="zh-CN" altLang="en-US" sz="3600" b="1" dirty="0">
              <a:latin typeface="黑体" panose="02010609060101010101" pitchFamily="49" charset="-122"/>
              <a:ea typeface="黑体" panose="02010609060101010101" pitchFamily="49" charset="-122"/>
            </a:endParaRPr>
          </a:p>
          <a:p>
            <a:pPr marL="457200" indent="-457200">
              <a:spcBef>
                <a:spcPct val="20000"/>
              </a:spcBef>
              <a:buFont typeface="Arial" panose="020B0604020202020204" pitchFamily="34" charset="0"/>
              <a:buChar char="•"/>
            </a:pPr>
            <a:r>
              <a:rPr lang="zh-CN" altLang="en-US" sz="2800" b="1" dirty="0">
                <a:latin typeface="黑体" panose="02010609060101010101" pitchFamily="49" charset="-122"/>
                <a:ea typeface="黑体" panose="02010609060101010101" pitchFamily="49" charset="-122"/>
              </a:rPr>
              <a:t>两个都是指气态物质，但含义不同，用法也</a:t>
            </a:r>
            <a:r>
              <a:rPr lang="zh-CN" altLang="en-US" sz="2800" b="1" dirty="0" smtClean="0">
                <a:latin typeface="黑体" panose="02010609060101010101" pitchFamily="49" charset="-122"/>
                <a:ea typeface="黑体" panose="02010609060101010101" pitchFamily="49" charset="-122"/>
              </a:rPr>
              <a:t>不同</a:t>
            </a:r>
            <a:endParaRPr lang="zh-CN" altLang="en-US" sz="2800" b="1" dirty="0">
              <a:latin typeface="黑体" panose="02010609060101010101" pitchFamily="49" charset="-122"/>
              <a:ea typeface="黑体" panose="02010609060101010101" pitchFamily="49" charset="-122"/>
            </a:endParaRPr>
          </a:p>
          <a:p>
            <a:pPr marL="457200" indent="-457200">
              <a:spcBef>
                <a:spcPct val="20000"/>
              </a:spcBef>
              <a:buFont typeface="Arial" panose="020B0604020202020204" pitchFamily="34" charset="0"/>
              <a:buChar char="•"/>
            </a:pPr>
            <a:r>
              <a:rPr lang="zh-CN" altLang="en-US" sz="2800" b="1" dirty="0">
                <a:latin typeface="黑体" panose="02010609060101010101" pitchFamily="49" charset="-122"/>
                <a:ea typeface="黑体" panose="02010609060101010101" pitchFamily="49" charset="-122"/>
              </a:rPr>
              <a:t>“蒸气”（</a:t>
            </a:r>
            <a:r>
              <a:rPr lang="en-US" altLang="zh-CN" sz="2800" b="1" dirty="0">
                <a:latin typeface="Times New Roman" panose="02020603050405020304" pitchFamily="18" charset="0"/>
                <a:ea typeface="黑体" panose="02010609060101010101" pitchFamily="49" charset="-122"/>
              </a:rPr>
              <a:t>vapor</a:t>
            </a:r>
            <a:r>
              <a:rPr lang="zh-CN" altLang="en-US" sz="2800" b="1" dirty="0">
                <a:latin typeface="黑体" panose="02010609060101010101" pitchFamily="49" charset="-122"/>
                <a:ea typeface="黑体" panose="02010609060101010101" pitchFamily="49" charset="-122"/>
              </a:rPr>
              <a:t>）</a:t>
            </a:r>
            <a:r>
              <a:rPr lang="zh-CN" altLang="en-US" sz="3600" b="1" dirty="0">
                <a:solidFill>
                  <a:srgbClr val="FF0000"/>
                </a:solidFill>
                <a:latin typeface="黑体" panose="02010609060101010101" pitchFamily="49" charset="-122"/>
                <a:ea typeface="黑体" panose="02010609060101010101" pitchFamily="49" charset="-122"/>
              </a:rPr>
              <a:t>泛指</a:t>
            </a:r>
            <a:r>
              <a:rPr lang="zh-CN" altLang="en-US" sz="2800" b="1" dirty="0">
                <a:latin typeface="黑体" panose="02010609060101010101" pitchFamily="49" charset="-122"/>
                <a:ea typeface="黑体" panose="02010609060101010101" pitchFamily="49" charset="-122"/>
              </a:rPr>
              <a:t>由液相物质汽化或固态物质升华而成的气态物质，如水蒸气、苯蒸气</a:t>
            </a:r>
            <a:r>
              <a:rPr lang="zh-CN" altLang="en-US" sz="2800" b="1" dirty="0" smtClean="0">
                <a:latin typeface="黑体" panose="02010609060101010101" pitchFamily="49" charset="-122"/>
                <a:ea typeface="黑体" panose="02010609060101010101" pitchFamily="49" charset="-122"/>
              </a:rPr>
              <a:t>等</a:t>
            </a:r>
            <a:endParaRPr lang="zh-CN" altLang="en-US" sz="2800" b="1" dirty="0">
              <a:latin typeface="黑体" panose="02010609060101010101" pitchFamily="49" charset="-122"/>
              <a:ea typeface="黑体" panose="02010609060101010101" pitchFamily="49" charset="-122"/>
            </a:endParaRPr>
          </a:p>
          <a:p>
            <a:pPr marL="457200" indent="-457200">
              <a:spcBef>
                <a:spcPct val="20000"/>
              </a:spcBef>
              <a:buFont typeface="Arial" panose="020B0604020202020204" pitchFamily="34" charset="0"/>
              <a:buChar char="•"/>
            </a:pPr>
            <a:r>
              <a:rPr lang="zh-CN" altLang="en-US" sz="2800" b="1" dirty="0">
                <a:latin typeface="黑体" panose="02010609060101010101" pitchFamily="49" charset="-122"/>
                <a:ea typeface="黑体" panose="02010609060101010101" pitchFamily="49" charset="-122"/>
              </a:rPr>
              <a:t>“蒸汽”（</a:t>
            </a:r>
            <a:r>
              <a:rPr lang="en-US" altLang="zh-CN" sz="2800" b="1" dirty="0">
                <a:latin typeface="Times New Roman" panose="02020603050405020304" pitchFamily="18" charset="0"/>
                <a:ea typeface="黑体" panose="02010609060101010101" pitchFamily="49" charset="-122"/>
              </a:rPr>
              <a:t>steam</a:t>
            </a:r>
            <a:r>
              <a:rPr lang="zh-CN" altLang="en-US" sz="2800" b="1" dirty="0">
                <a:latin typeface="Times New Roman" panose="02020603050405020304" pitchFamily="18" charset="0"/>
                <a:ea typeface="黑体" panose="02010609060101010101" pitchFamily="49" charset="-122"/>
              </a:rPr>
              <a:t>或</a:t>
            </a:r>
            <a:r>
              <a:rPr lang="en-US" altLang="zh-CN" sz="2800" b="1" dirty="0">
                <a:latin typeface="Times New Roman" panose="02020603050405020304" pitchFamily="18" charset="0"/>
                <a:ea typeface="黑体" panose="02010609060101010101" pitchFamily="49" charset="-122"/>
              </a:rPr>
              <a:t>water vapor</a:t>
            </a:r>
            <a:r>
              <a:rPr lang="zh-CN" altLang="en-US" sz="2800" b="1" dirty="0">
                <a:latin typeface="黑体" panose="02010609060101010101" pitchFamily="49" charset="-122"/>
                <a:ea typeface="黑体" panose="02010609060101010101" pitchFamily="49" charset="-122"/>
              </a:rPr>
              <a:t>）</a:t>
            </a:r>
            <a:r>
              <a:rPr lang="zh-CN" altLang="en-US" sz="3600" b="1" dirty="0">
                <a:solidFill>
                  <a:srgbClr val="FF0000"/>
                </a:solidFill>
                <a:latin typeface="黑体" panose="02010609060101010101" pitchFamily="49" charset="-122"/>
                <a:ea typeface="黑体" panose="02010609060101010101" pitchFamily="49" charset="-122"/>
              </a:rPr>
              <a:t>特指</a:t>
            </a:r>
            <a:r>
              <a:rPr lang="zh-CN" altLang="en-US" sz="2800" b="1" dirty="0">
                <a:latin typeface="黑体" panose="02010609060101010101" pitchFamily="49" charset="-122"/>
                <a:ea typeface="黑体" panose="02010609060101010101" pitchFamily="49" charset="-122"/>
              </a:rPr>
              <a:t>水加热到沸点所变成的气态水，与“水蒸气”义同，故不能写为“水蒸汽”。对于以水为工质的装置，则要用“蒸汽”，例如“蒸汽机”、“蒸汽动力循环”</a:t>
            </a:r>
            <a:r>
              <a:rPr lang="zh-CN" altLang="en-US" sz="2800" b="1" dirty="0" smtClean="0">
                <a:latin typeface="黑体" panose="02010609060101010101" pitchFamily="49" charset="-122"/>
                <a:ea typeface="黑体" panose="02010609060101010101" pitchFamily="49" charset="-122"/>
              </a:rPr>
              <a:t>等</a:t>
            </a:r>
            <a:endParaRPr lang="zh-CN" altLang="en-US" sz="2800" b="1" dirty="0">
              <a:latin typeface="黑体" panose="02010609060101010101" pitchFamily="49" charset="-122"/>
              <a:ea typeface="黑体" panose="02010609060101010101" pitchFamily="49" charset="-122"/>
            </a:endParaRPr>
          </a:p>
        </p:txBody>
      </p:sp>
      <p:sp>
        <p:nvSpPr>
          <p:cNvPr id="23554" name="矩形 105476"/>
          <p:cNvSpPr>
            <a:spLocks noChangeArrowheads="1"/>
          </p:cNvSpPr>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4400" dirty="0">
                <a:latin typeface="Arial" panose="020B0604020202020204" pitchFamily="34" charset="0"/>
                <a:ea typeface="黑体" panose="02010609060101010101" pitchFamily="49" charset="-122"/>
              </a:rPr>
              <a:t>一些语文知识</a:t>
            </a:r>
            <a:endParaRPr lang="zh-CN" altLang="en-US" sz="4400" dirty="0">
              <a:latin typeface="Arial" panose="020B0604020202020204" pitchFamily="34" charset="0"/>
              <a:ea typeface="黑体" panose="02010609060101010101" pitchFamily="49" charset="-122"/>
            </a:endParaRPr>
          </a:p>
        </p:txBody>
      </p:sp>
    </p:spTree>
    <p:custDataLst>
      <p:tags r:id="rId1"/>
    </p:custData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05476">
                                            <p:txEl>
                                              <p:pRg st="1" end="1"/>
                                            </p:txEl>
                                          </p:spTgt>
                                        </p:tgtEl>
                                        <p:attrNameLst>
                                          <p:attrName>style.visibility</p:attrName>
                                        </p:attrNameLst>
                                      </p:cBhvr>
                                      <p:to>
                                        <p:strVal val="visible"/>
                                      </p:to>
                                    </p:set>
                                    <p:animEffect transition="in" filter="blinds(horizontal)">
                                      <p:cBhvr>
                                        <p:cTn id="7" dur="500"/>
                                        <p:tgtEl>
                                          <p:spTgt spid="105476">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05476">
                                            <p:txEl>
                                              <p:pRg st="2" end="2"/>
                                            </p:txEl>
                                          </p:spTgt>
                                        </p:tgtEl>
                                        <p:attrNameLst>
                                          <p:attrName>style.visibility</p:attrName>
                                        </p:attrNameLst>
                                      </p:cBhvr>
                                      <p:to>
                                        <p:strVal val="visible"/>
                                      </p:to>
                                    </p:set>
                                    <p:animEffect transition="in" filter="blinds(horizontal)">
                                      <p:cBhvr>
                                        <p:cTn id="12" dur="500"/>
                                        <p:tgtEl>
                                          <p:spTgt spid="105476">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05476">
                                            <p:txEl>
                                              <p:pRg st="3" end="3"/>
                                            </p:txEl>
                                          </p:spTgt>
                                        </p:tgtEl>
                                        <p:attrNameLst>
                                          <p:attrName>style.visibility</p:attrName>
                                        </p:attrNameLst>
                                      </p:cBhvr>
                                      <p:to>
                                        <p:strVal val="visible"/>
                                      </p:to>
                                    </p:set>
                                    <p:animEffect transition="in" filter="blinds(horizontal)">
                                      <p:cBhvr>
                                        <p:cTn id="17" dur="500"/>
                                        <p:tgtEl>
                                          <p:spTgt spid="10547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矩形 106497"/>
          <p:cNvSpPr>
            <a:spLocks noChangeArrowheads="1"/>
          </p:cNvSpPr>
          <p:nvPr/>
        </p:nvSpPr>
        <p:spPr bwMode="auto">
          <a:xfrm>
            <a:off x="304800" y="1905000"/>
            <a:ext cx="8305800" cy="155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p>
            <a:pPr algn="ctr">
              <a:buFontTx/>
              <a:buChar char="§"/>
            </a:pPr>
            <a:r>
              <a:rPr lang="en-US" altLang="zh-CN" sz="4400" b="1" dirty="0">
                <a:latin typeface="黑体" panose="02010609060101010101" pitchFamily="49" charset="-122"/>
                <a:ea typeface="黑体" panose="02010609060101010101" pitchFamily="49" charset="-122"/>
              </a:rPr>
              <a:t>9</a:t>
            </a:r>
            <a:r>
              <a:rPr lang="zh-CN" altLang="en-US" sz="4400" b="1" dirty="0">
                <a:latin typeface="黑体" panose="02010609060101010101" pitchFamily="49" charset="-122"/>
                <a:ea typeface="黑体" panose="02010609060101010101" pitchFamily="49" charset="-122"/>
              </a:rPr>
              <a:t>－</a:t>
            </a:r>
            <a:r>
              <a:rPr lang="en-US" altLang="zh-CN" sz="4400" b="1" dirty="0">
                <a:latin typeface="黑体" panose="02010609060101010101" pitchFamily="49" charset="-122"/>
                <a:ea typeface="黑体" panose="02010609060101010101" pitchFamily="49" charset="-122"/>
              </a:rPr>
              <a:t>2</a:t>
            </a:r>
            <a:r>
              <a:rPr lang="zh-CN" altLang="en-US" sz="4400" b="1" dirty="0">
                <a:latin typeface="黑体" panose="02010609060101010101" pitchFamily="49" charset="-122"/>
                <a:ea typeface="黑体" panose="02010609060101010101" pitchFamily="49" charset="-122"/>
              </a:rPr>
              <a:t>　蒸气的定压发生过程</a:t>
            </a:r>
            <a:r>
              <a:rPr lang="zh-CN" altLang="en-US" sz="4400" dirty="0">
                <a:latin typeface="Arial" panose="020B0604020202020204" pitchFamily="34" charset="0"/>
              </a:rPr>
              <a:t>  </a:t>
            </a:r>
            <a:endParaRPr lang="zh-CN" altLang="en-US" sz="4400" dirty="0">
              <a:latin typeface="Arial" panose="020B0604020202020204" pitchFamily="34" charset="0"/>
            </a:endParaRPr>
          </a:p>
        </p:txBody>
      </p:sp>
    </p:spTree>
  </p:cSld>
  <p:clrMapOvr>
    <a:masterClrMapping/>
  </p:clrMapOvr>
  <p:transition spd="slow"/>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矩形 246789"/>
          <p:cNvSpPr>
            <a:spLocks noChangeArrowheads="1"/>
          </p:cNvSpPr>
          <p:nvPr/>
        </p:nvSpPr>
        <p:spPr bwMode="auto">
          <a:xfrm>
            <a:off x="468313" y="476250"/>
            <a:ext cx="8229600" cy="1655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400">
                <a:solidFill>
                  <a:schemeClr val="tx1"/>
                </a:solidFill>
                <a:latin typeface="Tahoma" panose="020B0604030504040204" pitchFamily="34" charset="0"/>
                <a:ea typeface="宋体" panose="02010600030101010101" pitchFamily="2" charset="-122"/>
              </a:defRPr>
            </a:lvl1pPr>
            <a:lvl2pPr>
              <a:defRPr sz="2400">
                <a:solidFill>
                  <a:schemeClr val="tx1"/>
                </a:solidFill>
                <a:latin typeface="Tahoma" panose="020B0604030504040204" pitchFamily="34" charset="0"/>
                <a:ea typeface="宋体" panose="02010600030101010101" pitchFamily="2" charset="-122"/>
              </a:defRPr>
            </a:lvl2pPr>
            <a:lvl3pPr>
              <a:defRPr sz="2400">
                <a:solidFill>
                  <a:schemeClr val="tx1"/>
                </a:solidFill>
                <a:latin typeface="Tahoma" panose="020B0604030504040204" pitchFamily="34" charset="0"/>
                <a:ea typeface="宋体" panose="02010600030101010101" pitchFamily="2" charset="-122"/>
              </a:defRPr>
            </a:lvl3pPr>
            <a:lvl4pPr>
              <a:defRPr sz="2400">
                <a:solidFill>
                  <a:schemeClr val="tx1"/>
                </a:solidFill>
                <a:latin typeface="Tahoma" panose="020B0604030504040204" pitchFamily="34" charset="0"/>
                <a:ea typeface="宋体" panose="02010600030101010101" pitchFamily="2" charset="-122"/>
              </a:defRPr>
            </a:lvl4pPr>
            <a:lvl5pPr>
              <a:defRPr sz="2400">
                <a:solidFill>
                  <a:schemeClr val="tx1"/>
                </a:solidFill>
                <a:latin typeface="Tahoma" panose="020B0604030504040204" pitchFamily="34" charset="0"/>
                <a:ea typeface="宋体" panose="02010600030101010101" pitchFamily="2" charset="-122"/>
              </a:defRPr>
            </a:lvl5pPr>
            <a:lvl6pPr fontAlgn="base">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fontAlgn="base">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fontAlgn="base">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fontAlgn="base">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spcBef>
                <a:spcPct val="20000"/>
              </a:spcBef>
              <a:buFontTx/>
              <a:buChar char="•"/>
            </a:pPr>
            <a:r>
              <a:rPr lang="zh-CN" altLang="en-US" sz="2800" b="1" dirty="0">
                <a:latin typeface="黑体" panose="02010609060101010101" pitchFamily="49" charset="-122"/>
                <a:ea typeface="黑体" panose="02010609060101010101" pitchFamily="49" charset="-122"/>
              </a:rPr>
              <a:t>蒸气是热力系统中常见的工质之一。蒸气是指距离液相不远，在工作过程中常发生相变的某种实际气体，故蒸气不能作为理想气体</a:t>
            </a:r>
            <a:r>
              <a:rPr lang="zh-CN" altLang="en-US" sz="2800" b="1" dirty="0" smtClean="0">
                <a:latin typeface="黑体" panose="02010609060101010101" pitchFamily="49" charset="-122"/>
                <a:ea typeface="黑体" panose="02010609060101010101" pitchFamily="49" charset="-122"/>
              </a:rPr>
              <a:t>处理</a:t>
            </a:r>
            <a:endParaRPr lang="zh-CN" altLang="en-US" sz="2800" b="1" dirty="0">
              <a:latin typeface="黑体" panose="02010609060101010101" pitchFamily="49" charset="-122"/>
              <a:ea typeface="黑体" panose="02010609060101010101" pitchFamily="49" charset="-122"/>
            </a:endParaRPr>
          </a:p>
        </p:txBody>
      </p:sp>
      <p:sp>
        <p:nvSpPr>
          <p:cNvPr id="25604" name="椭圆 246792"/>
          <p:cNvSpPr>
            <a:spLocks noChangeArrowheads="1"/>
          </p:cNvSpPr>
          <p:nvPr/>
        </p:nvSpPr>
        <p:spPr bwMode="auto">
          <a:xfrm>
            <a:off x="5076825" y="4437063"/>
            <a:ext cx="647700" cy="360362"/>
          </a:xfrm>
          <a:prstGeom prst="ellipse">
            <a:avLst/>
          </a:prstGeom>
          <a:noFill/>
          <a:ln w="25400">
            <a:solidFill>
              <a:srgbClr val="FF0000"/>
            </a:solidFill>
            <a:miter lim="800000"/>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 name="文本框 6"/>
          <p:cNvSpPr txBox="1">
            <a:spLocks noChangeArrowheads="1"/>
          </p:cNvSpPr>
          <p:nvPr/>
        </p:nvSpPr>
        <p:spPr bwMode="auto">
          <a:xfrm>
            <a:off x="3677275" y="5935041"/>
            <a:ext cx="206498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水的</a:t>
            </a:r>
            <a:r>
              <a:rPr lang="en-US" altLang="zh-CN" sz="2800" b="1" i="1" dirty="0">
                <a:latin typeface="Times New Roman" panose="02020603050405020304" pitchFamily="18" charset="0"/>
                <a:ea typeface="黑体" panose="02010609060101010101" pitchFamily="49" charset="-122"/>
                <a:cs typeface="Times New Roman" panose="02020603050405020304" pitchFamily="18" charset="0"/>
              </a:rPr>
              <a:t>p-v-T</a:t>
            </a: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图</a:t>
            </a:r>
            <a:endParaRPr lang="zh-CN" altLang="en-US" sz="2800" b="1" dirty="0">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8" name="图片 7"/>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848644" y="2064885"/>
            <a:ext cx="4029805" cy="3798137"/>
          </a:xfrm>
          <a:prstGeom prst="rect">
            <a:avLst/>
          </a:prstGeom>
        </p:spPr>
      </p:pic>
    </p:spTree>
  </p:cSld>
  <p:clrMapOvr>
    <a:masterClrMapping/>
  </p:clrMapOvr>
  <p:transition spd="slow"/>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文本占位符 120834"/>
          <p:cNvSpPr>
            <a:spLocks noGrp="1" noChangeArrowheads="1"/>
          </p:cNvSpPr>
          <p:nvPr>
            <p:ph idx="1"/>
          </p:nvPr>
        </p:nvSpPr>
        <p:spPr>
          <a:xfrm>
            <a:off x="468313" y="-26988"/>
            <a:ext cx="8229600" cy="2879726"/>
          </a:xfrm>
        </p:spPr>
        <p:txBody>
          <a:bodyPr/>
          <a:lstStyle/>
          <a:p>
            <a:pPr>
              <a:lnSpc>
                <a:spcPct val="90000"/>
              </a:lnSpc>
              <a:buFontTx/>
              <a:buNone/>
            </a:pPr>
            <a:endParaRPr lang="en-US" altLang="zh-CN" sz="2800" b="1" smtClean="0">
              <a:latin typeface="黑体" panose="02010609060101010101" pitchFamily="49" charset="-122"/>
              <a:ea typeface="黑体" panose="02010609060101010101" pitchFamily="49" charset="-122"/>
            </a:endParaRPr>
          </a:p>
          <a:p>
            <a:pPr>
              <a:lnSpc>
                <a:spcPct val="90000"/>
              </a:lnSpc>
            </a:pPr>
            <a:r>
              <a:rPr lang="zh-CN" altLang="en-US" sz="2800" b="1" smtClean="0">
                <a:latin typeface="黑体" panose="02010609060101010101" pitchFamily="49" charset="-122"/>
                <a:ea typeface="黑体" panose="02010609060101010101" pitchFamily="49" charset="-122"/>
              </a:rPr>
              <a:t>常见的蒸气有水蒸气、氨蒸气、氟利昂蒸气等</a:t>
            </a:r>
            <a:endParaRPr lang="zh-CN" altLang="en-US" sz="2800" b="1" smtClean="0">
              <a:latin typeface="黑体" panose="02010609060101010101" pitchFamily="49" charset="-122"/>
              <a:ea typeface="黑体" panose="02010609060101010101" pitchFamily="49" charset="-122"/>
            </a:endParaRPr>
          </a:p>
          <a:p>
            <a:pPr>
              <a:lnSpc>
                <a:spcPct val="90000"/>
              </a:lnSpc>
            </a:pPr>
            <a:r>
              <a:rPr lang="zh-CN" altLang="en-US" sz="2800" b="1" smtClean="0">
                <a:latin typeface="黑体" panose="02010609060101010101" pitchFamily="49" charset="-122"/>
                <a:ea typeface="黑体" panose="02010609060101010101" pitchFamily="49" charset="-122"/>
              </a:rPr>
              <a:t>工程中所用的蒸气通常是</a:t>
            </a:r>
            <a:r>
              <a:rPr lang="zh-CN" altLang="en-US" sz="2800" b="1" smtClean="0">
                <a:solidFill>
                  <a:srgbClr val="FF0000"/>
                </a:solidFill>
                <a:latin typeface="黑体" panose="02010609060101010101" pitchFamily="49" charset="-122"/>
                <a:ea typeface="黑体" panose="02010609060101010101" pitchFamily="49" charset="-122"/>
              </a:rPr>
              <a:t>在压力近似保持不变</a:t>
            </a:r>
            <a:r>
              <a:rPr lang="zh-CN" altLang="en-US" sz="2800" b="1" smtClean="0">
                <a:latin typeface="黑体" panose="02010609060101010101" pitchFamily="49" charset="-122"/>
                <a:ea typeface="黑体" panose="02010609060101010101" pitchFamily="49" charset="-122"/>
              </a:rPr>
              <a:t>的情况下，液相工质汽化后而产生的</a:t>
            </a:r>
            <a:endParaRPr lang="zh-CN" altLang="en-US" sz="2800" b="1" smtClean="0">
              <a:latin typeface="黑体" panose="02010609060101010101" pitchFamily="49" charset="-122"/>
              <a:ea typeface="黑体" panose="02010609060101010101" pitchFamily="49" charset="-122"/>
            </a:endParaRPr>
          </a:p>
          <a:p>
            <a:pPr>
              <a:lnSpc>
                <a:spcPct val="90000"/>
              </a:lnSpc>
            </a:pPr>
            <a:r>
              <a:rPr lang="zh-CN" altLang="en-US" sz="2800" b="1" smtClean="0">
                <a:latin typeface="黑体" panose="02010609060101010101" pitchFamily="49" charset="-122"/>
                <a:ea typeface="黑体" panose="02010609060101010101" pitchFamily="49" charset="-122"/>
              </a:rPr>
              <a:t>因此，了解</a:t>
            </a:r>
            <a:r>
              <a:rPr lang="zh-CN" altLang="en-US" sz="2800" b="1" smtClean="0">
                <a:solidFill>
                  <a:srgbClr val="FF0000"/>
                </a:solidFill>
                <a:latin typeface="黑体" panose="02010609060101010101" pitchFamily="49" charset="-122"/>
                <a:ea typeface="黑体" panose="02010609060101010101" pitchFamily="49" charset="-122"/>
              </a:rPr>
              <a:t>蒸气定压发生过程</a:t>
            </a:r>
            <a:r>
              <a:rPr lang="zh-CN" altLang="en-US" sz="2800" b="1" smtClean="0">
                <a:latin typeface="黑体" panose="02010609060101010101" pitchFamily="49" charset="-122"/>
                <a:ea typeface="黑体" panose="02010609060101010101" pitchFamily="49" charset="-122"/>
              </a:rPr>
              <a:t>是进一步分析以蒸气为工质的热力过程的基础</a:t>
            </a:r>
            <a:endParaRPr lang="zh-CN" altLang="en-US" sz="2800" b="1" smtClean="0">
              <a:latin typeface="黑体" panose="02010609060101010101" pitchFamily="49" charset="-122"/>
              <a:ea typeface="黑体" panose="02010609060101010101" pitchFamily="49" charset="-122"/>
            </a:endParaRPr>
          </a:p>
        </p:txBody>
      </p:sp>
      <p:pic>
        <p:nvPicPr>
          <p:cNvPr id="26626" name="图片 12083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051050" y="3284538"/>
            <a:ext cx="4938713" cy="315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27" name="文本框 120836"/>
          <p:cNvSpPr txBox="1">
            <a:spLocks noChangeAspect="1" noChangeArrowheads="1"/>
          </p:cNvSpPr>
          <p:nvPr/>
        </p:nvSpPr>
        <p:spPr bwMode="auto">
          <a:xfrm>
            <a:off x="3201462" y="3040618"/>
            <a:ext cx="111120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b="1" dirty="0" smtClean="0">
                <a:latin typeface="微软雅黑" panose="020B0503020204020204" charset="-122"/>
                <a:ea typeface="微软雅黑" panose="020B0503020204020204" charset="-122"/>
              </a:rPr>
              <a:t>→</a:t>
            </a:r>
            <a:r>
              <a:rPr lang="zh-CN" altLang="en-US" b="1" dirty="0" smtClean="0">
                <a:latin typeface="黑体" panose="02010609060101010101" pitchFamily="49" charset="-122"/>
                <a:ea typeface="黑体" panose="02010609060101010101" pitchFamily="49" charset="-122"/>
              </a:rPr>
              <a:t>蒸气</a:t>
            </a:r>
            <a:r>
              <a:rPr lang="zh-CN" altLang="en-US" b="1" dirty="0">
                <a:latin typeface="微软雅黑" panose="020B0503020204020204" charset="-122"/>
              </a:rPr>
              <a:t>→</a:t>
            </a:r>
            <a:endParaRPr lang="en-US" altLang="zh-CN" b="1" dirty="0">
              <a:latin typeface="黑体" panose="02010609060101010101" pitchFamily="49" charset="-122"/>
              <a:ea typeface="黑体" panose="02010609060101010101" pitchFamily="49" charset="-122"/>
            </a:endParaRPr>
          </a:p>
        </p:txBody>
      </p:sp>
      <p:sp>
        <p:nvSpPr>
          <p:cNvPr id="26631" name="文本框 120840"/>
          <p:cNvSpPr txBox="1">
            <a:spLocks noChangeAspect="1" noChangeArrowheads="1"/>
          </p:cNvSpPr>
          <p:nvPr/>
        </p:nvSpPr>
        <p:spPr bwMode="auto">
          <a:xfrm>
            <a:off x="4778375" y="3013075"/>
            <a:ext cx="20256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000" b="1">
                <a:latin typeface="黑体" panose="02010609060101010101" pitchFamily="49" charset="-122"/>
                <a:ea typeface="黑体" panose="02010609060101010101" pitchFamily="49" charset="-122"/>
              </a:rPr>
              <a:t>汽轮机</a:t>
            </a:r>
            <a:endParaRPr lang="zh-CN" altLang="en-US" sz="2000" b="1">
              <a:latin typeface="黑体" panose="02010609060101010101" pitchFamily="49" charset="-122"/>
              <a:ea typeface="黑体" panose="02010609060101010101" pitchFamily="49" charset="-122"/>
            </a:endParaRPr>
          </a:p>
        </p:txBody>
      </p:sp>
      <p:sp>
        <p:nvSpPr>
          <p:cNvPr id="26632" name="文本框 120841"/>
          <p:cNvSpPr txBox="1">
            <a:spLocks noChangeAspect="1" noChangeArrowheads="1"/>
          </p:cNvSpPr>
          <p:nvPr/>
        </p:nvSpPr>
        <p:spPr bwMode="auto">
          <a:xfrm>
            <a:off x="6302375" y="4337050"/>
            <a:ext cx="19415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000" b="1">
                <a:latin typeface="黑体" panose="02010609060101010101" pitchFamily="49" charset="-122"/>
                <a:ea typeface="黑体" panose="02010609060101010101" pitchFamily="49" charset="-122"/>
              </a:rPr>
              <a:t>冷凝器</a:t>
            </a:r>
            <a:endParaRPr lang="zh-CN" altLang="en-US" sz="2000" b="1">
              <a:latin typeface="黑体" panose="02010609060101010101" pitchFamily="49" charset="-122"/>
              <a:ea typeface="黑体" panose="02010609060101010101" pitchFamily="49" charset="-122"/>
            </a:endParaRPr>
          </a:p>
        </p:txBody>
      </p:sp>
      <p:sp>
        <p:nvSpPr>
          <p:cNvPr id="26633" name="文本框 120842"/>
          <p:cNvSpPr txBox="1">
            <a:spLocks noChangeAspect="1" noChangeArrowheads="1"/>
          </p:cNvSpPr>
          <p:nvPr/>
        </p:nvSpPr>
        <p:spPr bwMode="auto">
          <a:xfrm>
            <a:off x="5022850" y="6038850"/>
            <a:ext cx="17811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000" b="1">
                <a:latin typeface="黑体" panose="02010609060101010101" pitchFamily="49" charset="-122"/>
                <a:ea typeface="黑体" panose="02010609060101010101" pitchFamily="49" charset="-122"/>
              </a:rPr>
              <a:t>水泵</a:t>
            </a:r>
            <a:endParaRPr lang="zh-CN" altLang="en-US" sz="2000" b="1">
              <a:latin typeface="黑体" panose="02010609060101010101" pitchFamily="49" charset="-122"/>
              <a:ea typeface="黑体" panose="02010609060101010101" pitchFamily="49" charset="-122"/>
            </a:endParaRPr>
          </a:p>
        </p:txBody>
      </p:sp>
      <p:sp>
        <p:nvSpPr>
          <p:cNvPr id="26634" name="文本框 120843"/>
          <p:cNvSpPr txBox="1">
            <a:spLocks noChangeAspect="1" noChangeArrowheads="1"/>
          </p:cNvSpPr>
          <p:nvPr/>
        </p:nvSpPr>
        <p:spPr bwMode="auto">
          <a:xfrm>
            <a:off x="1547813" y="4652963"/>
            <a:ext cx="12874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000" b="1">
                <a:latin typeface="黑体" panose="02010609060101010101" pitchFamily="49" charset="-122"/>
                <a:ea typeface="黑体" panose="02010609060101010101" pitchFamily="49" charset="-122"/>
              </a:rPr>
              <a:t>锅炉</a:t>
            </a:r>
            <a:endParaRPr lang="zh-CN" altLang="en-US" sz="2000" b="1">
              <a:latin typeface="黑体" panose="02010609060101010101" pitchFamily="49" charset="-122"/>
              <a:ea typeface="黑体" panose="02010609060101010101" pitchFamily="49" charset="-122"/>
            </a:endParaRPr>
          </a:p>
        </p:txBody>
      </p:sp>
    </p:spTree>
  </p:cSld>
  <p:clrMapOvr>
    <a:masterClrMapping/>
  </p:clrMapOvr>
  <p:transition spd="slow"/>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文本占位符 245762"/>
          <p:cNvSpPr>
            <a:spLocks noGrp="1" noChangeArrowheads="1"/>
          </p:cNvSpPr>
          <p:nvPr>
            <p:ph idx="1"/>
          </p:nvPr>
        </p:nvSpPr>
        <p:spPr>
          <a:xfrm>
            <a:off x="539750" y="404813"/>
            <a:ext cx="8229600" cy="2189162"/>
          </a:xfrm>
        </p:spPr>
        <p:txBody>
          <a:bodyPr/>
          <a:lstStyle/>
          <a:p>
            <a:r>
              <a:rPr lang="zh-CN" altLang="en-US" sz="2800" b="1" smtClean="0">
                <a:latin typeface="黑体" panose="02010609060101010101" pitchFamily="49" charset="-122"/>
                <a:ea typeface="黑体" panose="02010609060101010101" pitchFamily="49" charset="-122"/>
              </a:rPr>
              <a:t>下面</a:t>
            </a:r>
            <a:r>
              <a:rPr lang="zh-CN" altLang="en-US" sz="2800" b="1" smtClean="0">
                <a:solidFill>
                  <a:srgbClr val="FF0000"/>
                </a:solidFill>
                <a:latin typeface="黑体" panose="02010609060101010101" pitchFamily="49" charset="-122"/>
                <a:ea typeface="黑体" panose="02010609060101010101" pitchFamily="49" charset="-122"/>
              </a:rPr>
              <a:t>以水为例讨论蒸气的定压发生过程</a:t>
            </a:r>
            <a:r>
              <a:rPr lang="zh-CN" altLang="en-US" sz="2800" b="1" smtClean="0">
                <a:latin typeface="黑体" panose="02010609060101010101" pitchFamily="49" charset="-122"/>
                <a:ea typeface="黑体" panose="02010609060101010101" pitchFamily="49" charset="-122"/>
              </a:rPr>
              <a:t>，它类似于我们生活中的烧开水过程</a:t>
            </a:r>
            <a:endParaRPr lang="zh-CN" altLang="en-US" sz="2800" b="1" smtClean="0">
              <a:latin typeface="黑体" panose="02010609060101010101" pitchFamily="49" charset="-122"/>
              <a:ea typeface="黑体" panose="02010609060101010101" pitchFamily="49" charset="-122"/>
            </a:endParaRPr>
          </a:p>
          <a:p>
            <a:r>
              <a:rPr lang="zh-CN" altLang="en-US" sz="2800" b="1" smtClean="0">
                <a:latin typeface="黑体" panose="02010609060101010101" pitchFamily="49" charset="-122"/>
                <a:ea typeface="黑体" panose="02010609060101010101" pitchFamily="49" charset="-122"/>
              </a:rPr>
              <a:t>水在此过程中所表现出的特性同样适用于其他纯物质 </a:t>
            </a:r>
            <a:endParaRPr lang="zh-CN" altLang="en-US" sz="2800" b="1" smtClean="0">
              <a:latin typeface="黑体" panose="02010609060101010101" pitchFamily="49" charset="-122"/>
              <a:ea typeface="黑体" panose="02010609060101010101" pitchFamily="49" charset="-122"/>
            </a:endParaRPr>
          </a:p>
          <a:p>
            <a:pPr>
              <a:buFontTx/>
              <a:buNone/>
            </a:pPr>
            <a:endParaRPr lang="zh-CN" altLang="en-US" sz="2800" smtClean="0"/>
          </a:p>
        </p:txBody>
      </p:sp>
      <p:pic>
        <p:nvPicPr>
          <p:cNvPr id="27650" name="图片 245763" descr="6483784200880939253_11n"/>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411413" y="3068638"/>
            <a:ext cx="3810000" cy="281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文本框 38933"/>
          <p:cNvSpPr txBox="1">
            <a:spLocks noChangeArrowheads="1"/>
          </p:cNvSpPr>
          <p:nvPr/>
        </p:nvSpPr>
        <p:spPr bwMode="auto">
          <a:xfrm>
            <a:off x="441325" y="304800"/>
            <a:ext cx="83216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800" b="1">
                <a:latin typeface="Times New Roman" panose="02020603050405020304" pitchFamily="18" charset="0"/>
                <a:ea typeface="黑体" panose="02010609060101010101" pitchFamily="49" charset="-122"/>
              </a:rPr>
              <a:t>一、水定压加热过程的五个状态</a:t>
            </a:r>
            <a:endParaRPr lang="zh-CN" altLang="en-US" sz="2800" b="1">
              <a:latin typeface="Times New Roman" panose="02020603050405020304" pitchFamily="18" charset="0"/>
              <a:ea typeface="黑体" panose="02010609060101010101" pitchFamily="49" charset="-122"/>
            </a:endParaRPr>
          </a:p>
        </p:txBody>
      </p:sp>
      <p:sp>
        <p:nvSpPr>
          <p:cNvPr id="38936" name="文本框 38935"/>
          <p:cNvSpPr txBox="1">
            <a:spLocks noChangeArrowheads="1"/>
          </p:cNvSpPr>
          <p:nvPr/>
        </p:nvSpPr>
        <p:spPr bwMode="auto">
          <a:xfrm>
            <a:off x="716473" y="5381878"/>
            <a:ext cx="133882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zh-CN" altLang="en-US" dirty="0">
                <a:latin typeface="黑体" panose="02010609060101010101" pitchFamily="49" charset="-122"/>
                <a:ea typeface="黑体" panose="02010609060101010101" pitchFamily="49" charset="-122"/>
              </a:rPr>
              <a:t>（过冷水）</a:t>
            </a:r>
            <a:endParaRPr lang="zh-CN" altLang="en-US" dirty="0">
              <a:latin typeface="黑体" panose="02010609060101010101" pitchFamily="49" charset="-122"/>
              <a:ea typeface="黑体" panose="02010609060101010101" pitchFamily="49" charset="-122"/>
            </a:endParaRPr>
          </a:p>
        </p:txBody>
      </p:sp>
      <p:sp>
        <p:nvSpPr>
          <p:cNvPr id="38938" name="文本框 38937"/>
          <p:cNvSpPr txBox="1">
            <a:spLocks noChangeArrowheads="1"/>
          </p:cNvSpPr>
          <p:nvPr/>
        </p:nvSpPr>
        <p:spPr bwMode="auto">
          <a:xfrm>
            <a:off x="3641120" y="5381878"/>
            <a:ext cx="156966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zh-CN" altLang="en-US" dirty="0">
                <a:latin typeface="黑体" panose="02010609060101010101" pitchFamily="49" charset="-122"/>
                <a:ea typeface="黑体" panose="02010609060101010101" pitchFamily="49" charset="-122"/>
              </a:rPr>
              <a:t>（湿水蒸气）</a:t>
            </a:r>
            <a:endParaRPr lang="zh-CN" altLang="en-US" dirty="0">
              <a:latin typeface="黑体" panose="02010609060101010101" pitchFamily="49" charset="-122"/>
              <a:ea typeface="黑体" panose="02010609060101010101" pitchFamily="49" charset="-122"/>
            </a:endParaRPr>
          </a:p>
        </p:txBody>
      </p:sp>
      <p:sp>
        <p:nvSpPr>
          <p:cNvPr id="38939" name="文本框 38938"/>
          <p:cNvSpPr txBox="1">
            <a:spLocks noChangeArrowheads="1"/>
          </p:cNvSpPr>
          <p:nvPr/>
        </p:nvSpPr>
        <p:spPr bwMode="auto">
          <a:xfrm>
            <a:off x="5413517" y="5381878"/>
            <a:ext cx="180049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zh-CN" altLang="en-US" dirty="0">
                <a:latin typeface="黑体" panose="02010609060101010101" pitchFamily="49" charset="-122"/>
                <a:ea typeface="黑体" panose="02010609060101010101" pitchFamily="49" charset="-122"/>
              </a:rPr>
              <a:t>（饱和水蒸气）</a:t>
            </a:r>
            <a:endParaRPr lang="zh-CN" altLang="en-US" dirty="0">
              <a:latin typeface="黑体" panose="02010609060101010101" pitchFamily="49" charset="-122"/>
              <a:ea typeface="黑体" panose="02010609060101010101" pitchFamily="49" charset="-122"/>
            </a:endParaRPr>
          </a:p>
        </p:txBody>
      </p:sp>
      <p:pic>
        <p:nvPicPr>
          <p:cNvPr id="2" name="图片 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785735" y="1059439"/>
            <a:ext cx="7632854" cy="4322439"/>
          </a:xfrm>
          <a:prstGeom prst="rect">
            <a:avLst/>
          </a:prstGeom>
        </p:spPr>
      </p:pic>
    </p:spTree>
    <p:custDataLst>
      <p:tags r:id="rId2"/>
    </p:custData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grpId="0" nodeType="clickEffect">
                                  <p:stCondLst>
                                    <p:cond delay="0"/>
                                  </p:stCondLst>
                                  <p:childTnLst>
                                    <p:set>
                                      <p:cBhvr>
                                        <p:cTn id="10" dur="1" fill="hold">
                                          <p:stCondLst>
                                            <p:cond delay="0"/>
                                          </p:stCondLst>
                                        </p:cTn>
                                        <p:tgtEl>
                                          <p:spTgt spid="38936"/>
                                        </p:tgtEl>
                                        <p:attrNameLst>
                                          <p:attrName>style.visibility</p:attrName>
                                        </p:attrNameLst>
                                      </p:cBhvr>
                                      <p:to>
                                        <p:strVal val="visible"/>
                                      </p:to>
                                    </p:set>
                                    <p:animEffect transition="in" filter="blinds(horizontal)">
                                      <p:cBhvr>
                                        <p:cTn id="11" dur="500"/>
                                        <p:tgtEl>
                                          <p:spTgt spid="38936"/>
                                        </p:tgtEl>
                                      </p:cBhvr>
                                    </p:animEffec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grpId="0" nodeType="clickEffect">
                                  <p:stCondLst>
                                    <p:cond delay="0"/>
                                  </p:stCondLst>
                                  <p:childTnLst>
                                    <p:set>
                                      <p:cBhvr>
                                        <p:cTn id="15" dur="1" fill="hold">
                                          <p:stCondLst>
                                            <p:cond delay="0"/>
                                          </p:stCondLst>
                                        </p:cTn>
                                        <p:tgtEl>
                                          <p:spTgt spid="38938"/>
                                        </p:tgtEl>
                                        <p:attrNameLst>
                                          <p:attrName>style.visibility</p:attrName>
                                        </p:attrNameLst>
                                      </p:cBhvr>
                                      <p:to>
                                        <p:strVal val="visible"/>
                                      </p:to>
                                    </p:set>
                                    <p:animEffect transition="in" filter="blinds(horizontal)">
                                      <p:cBhvr>
                                        <p:cTn id="16" dur="500"/>
                                        <p:tgtEl>
                                          <p:spTgt spid="38938"/>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38939"/>
                                        </p:tgtEl>
                                        <p:attrNameLst>
                                          <p:attrName>style.visibility</p:attrName>
                                        </p:attrNameLst>
                                      </p:cBhvr>
                                      <p:to>
                                        <p:strVal val="visible"/>
                                      </p:to>
                                    </p:set>
                                    <p:animEffect transition="in" filter="blinds(horizontal)">
                                      <p:cBhvr>
                                        <p:cTn id="21" dur="500"/>
                                        <p:tgtEl>
                                          <p:spTgt spid="389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36" grpId="0"/>
      <p:bldP spid="38938" grpId="0"/>
      <p:bldP spid="38939"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矩形 121861"/>
          <p:cNvSpPr>
            <a:spLocks noChangeArrowheads="1"/>
          </p:cNvSpPr>
          <p:nvPr/>
        </p:nvSpPr>
        <p:spPr bwMode="auto">
          <a:xfrm>
            <a:off x="0" y="21859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9700" name="矩形 121862"/>
          <p:cNvSpPr>
            <a:spLocks noChangeArrowheads="1"/>
          </p:cNvSpPr>
          <p:nvPr/>
        </p:nvSpPr>
        <p:spPr bwMode="auto">
          <a:xfrm>
            <a:off x="5157304" y="4018259"/>
            <a:ext cx="3240088"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水定压加热过程的</a:t>
            </a:r>
            <a:r>
              <a:rPr lang="en-US" altLang="zh-CN" sz="2400" i="1" dirty="0">
                <a:latin typeface="Times New Roman" panose="02020603050405020304" pitchFamily="18" charset="0"/>
                <a:ea typeface="黑体" panose="02010609060101010101" pitchFamily="49" charset="-122"/>
                <a:cs typeface="Times New Roman" panose="02020603050405020304" pitchFamily="18" charset="0"/>
              </a:rPr>
              <a:t>T-v</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图和三个阶段 </a:t>
            </a:r>
            <a:endParaRPr lang="zh-CN" altLang="en-US" sz="2400"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9701" name="矩形 121863"/>
          <p:cNvSpPr>
            <a:spLocks noChangeArrowheads="1"/>
          </p:cNvSpPr>
          <p:nvPr/>
        </p:nvSpPr>
        <p:spPr bwMode="auto">
          <a:xfrm>
            <a:off x="5157304" y="5159908"/>
            <a:ext cx="3240088"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注意：</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1-2</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和</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4-5</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过程线是曲线而非直线 </a:t>
            </a:r>
            <a:endParaRPr lang="zh-CN" altLang="en-US" sz="2400" dirty="0">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2" name="图片 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669973" y="463205"/>
            <a:ext cx="5400062" cy="3058022"/>
          </a:xfrm>
          <a:prstGeom prst="rect">
            <a:avLst/>
          </a:prstGeom>
        </p:spPr>
      </p:pic>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2798" y="3429186"/>
            <a:ext cx="4389500" cy="3158002"/>
          </a:xfrm>
          <a:prstGeom prst="rect">
            <a:avLst/>
          </a:prstGeom>
        </p:spPr>
      </p:pic>
    </p:spTree>
  </p:cSld>
  <p:clrMapOvr>
    <a:masterClrMapping/>
  </p:clrMapOvr>
  <p:transition spd="slow"/>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文本框 122883"/>
          <p:cNvSpPr txBox="1">
            <a:spLocks noChangeArrowheads="1"/>
          </p:cNvSpPr>
          <p:nvPr/>
        </p:nvSpPr>
        <p:spPr bwMode="auto">
          <a:xfrm>
            <a:off x="250825" y="188913"/>
            <a:ext cx="83216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800" b="1">
                <a:latin typeface="Times New Roman" panose="02020603050405020304" pitchFamily="18" charset="0"/>
                <a:ea typeface="黑体" panose="02010609060101010101" pitchFamily="49" charset="-122"/>
              </a:rPr>
              <a:t>二、饱和温度和饱和压力</a:t>
            </a:r>
            <a:endParaRPr lang="zh-CN" altLang="en-US" sz="2800" b="1">
              <a:latin typeface="Times New Roman" panose="02020603050405020304" pitchFamily="18" charset="0"/>
              <a:ea typeface="黑体" panose="02010609060101010101" pitchFamily="49" charset="-122"/>
            </a:endParaRPr>
          </a:p>
        </p:txBody>
      </p:sp>
      <p:sp>
        <p:nvSpPr>
          <p:cNvPr id="122887" name="矩形 122886"/>
          <p:cNvSpPr>
            <a:spLocks noChangeArrowheads="1"/>
          </p:cNvSpPr>
          <p:nvPr/>
        </p:nvSpPr>
        <p:spPr bwMode="auto">
          <a:xfrm>
            <a:off x="468313" y="4221163"/>
            <a:ext cx="8229600" cy="215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400">
                <a:solidFill>
                  <a:schemeClr val="tx1"/>
                </a:solidFill>
                <a:latin typeface="Tahoma" panose="020B0604030504040204" pitchFamily="34" charset="0"/>
                <a:ea typeface="宋体" panose="02010600030101010101" pitchFamily="2" charset="-122"/>
              </a:defRPr>
            </a:lvl1pPr>
            <a:lvl2pPr>
              <a:defRPr sz="2400">
                <a:solidFill>
                  <a:schemeClr val="tx1"/>
                </a:solidFill>
                <a:latin typeface="Tahoma" panose="020B0604030504040204" pitchFamily="34" charset="0"/>
                <a:ea typeface="宋体" panose="02010600030101010101" pitchFamily="2" charset="-122"/>
              </a:defRPr>
            </a:lvl2pPr>
            <a:lvl3pPr>
              <a:defRPr sz="2400">
                <a:solidFill>
                  <a:schemeClr val="tx1"/>
                </a:solidFill>
                <a:latin typeface="Tahoma" panose="020B0604030504040204" pitchFamily="34" charset="0"/>
                <a:ea typeface="宋体" panose="02010600030101010101" pitchFamily="2" charset="-122"/>
              </a:defRPr>
            </a:lvl3pPr>
            <a:lvl4pPr>
              <a:defRPr sz="2400">
                <a:solidFill>
                  <a:schemeClr val="tx1"/>
                </a:solidFill>
                <a:latin typeface="Tahoma" panose="020B0604030504040204" pitchFamily="34" charset="0"/>
                <a:ea typeface="宋体" panose="02010600030101010101" pitchFamily="2" charset="-122"/>
              </a:defRPr>
            </a:lvl4pPr>
            <a:lvl5pPr>
              <a:defRPr sz="2400">
                <a:solidFill>
                  <a:schemeClr val="tx1"/>
                </a:solidFill>
                <a:latin typeface="Tahoma" panose="020B0604030504040204" pitchFamily="34" charset="0"/>
                <a:ea typeface="宋体" panose="02010600030101010101" pitchFamily="2" charset="-122"/>
              </a:defRPr>
            </a:lvl5pPr>
            <a:lvl6pPr fontAlgn="base">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fontAlgn="base">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fontAlgn="base">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fontAlgn="base">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spcBef>
                <a:spcPct val="20000"/>
              </a:spcBef>
              <a:buFontTx/>
              <a:buChar char="•"/>
            </a:pPr>
            <a:r>
              <a:rPr lang="zh-CN" altLang="en-US" b="1" dirty="0">
                <a:latin typeface="黑体" panose="02010609060101010101" pitchFamily="49" charset="-122"/>
                <a:ea typeface="黑体" panose="02010609060101010101" pitchFamily="49" charset="-122"/>
              </a:rPr>
              <a:t>人们常说水的沸点为</a:t>
            </a:r>
            <a:r>
              <a:rPr lang="en-US" altLang="zh-CN" b="1" dirty="0">
                <a:latin typeface="黑体" panose="02010609060101010101" pitchFamily="49" charset="-122"/>
                <a:ea typeface="黑体" panose="02010609060101010101" pitchFamily="49" charset="-122"/>
              </a:rPr>
              <a:t>100℃</a:t>
            </a:r>
            <a:r>
              <a:rPr lang="zh-CN" altLang="en-US" b="1" dirty="0">
                <a:latin typeface="黑体" panose="02010609060101010101" pitchFamily="49" charset="-122"/>
                <a:ea typeface="黑体" panose="02010609060101010101" pitchFamily="49" charset="-122"/>
              </a:rPr>
              <a:t>，严格说应为：</a:t>
            </a:r>
            <a:r>
              <a:rPr lang="zh-CN" altLang="en-US" b="1" dirty="0">
                <a:solidFill>
                  <a:srgbClr val="FF0000"/>
                </a:solidFill>
                <a:latin typeface="黑体" panose="02010609060101010101" pitchFamily="49" charset="-122"/>
                <a:ea typeface="黑体" panose="02010609060101010101" pitchFamily="49" charset="-122"/>
              </a:rPr>
              <a:t>在一个标准大气压（</a:t>
            </a:r>
            <a:r>
              <a:rPr lang="en-US" altLang="zh-CN"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1 </a:t>
            </a:r>
            <a:r>
              <a:rPr lang="en-US" altLang="zh-CN" b="1" dirty="0" err="1">
                <a:solidFill>
                  <a:srgbClr val="FF0000"/>
                </a:solidFill>
                <a:latin typeface="Times New Roman" panose="02020603050405020304" pitchFamily="18" charset="0"/>
                <a:ea typeface="黑体" panose="02010609060101010101" pitchFamily="49" charset="-122"/>
                <a:cs typeface="Times New Roman" panose="02020603050405020304" pitchFamily="18" charset="0"/>
              </a:rPr>
              <a:t>atm</a:t>
            </a:r>
            <a:r>
              <a:rPr lang="zh-CN" altLang="en-US"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）下水的沸点为</a:t>
            </a:r>
            <a:r>
              <a:rPr lang="en-US" altLang="zh-CN"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100℃</a:t>
            </a:r>
            <a:endParaRPr lang="en-US" altLang="zh-CN"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endParaRPr>
          </a:p>
          <a:p>
            <a:pPr>
              <a:spcBef>
                <a:spcPct val="20000"/>
              </a:spcBef>
              <a:buFontTx/>
              <a:buChar char="•"/>
            </a:pPr>
            <a:r>
              <a:rPr lang="zh-CN" altLang="en-US" b="1" dirty="0">
                <a:latin typeface="黑体" panose="02010609060101010101" pitchFamily="49" charset="-122"/>
                <a:ea typeface="黑体" panose="02010609060101010101" pitchFamily="49" charset="-122"/>
              </a:rPr>
              <a:t>如果在图中的活塞上增加重物，使容器中水的压力保持为</a:t>
            </a:r>
            <a:r>
              <a:rPr lang="en-US" altLang="zh-CN"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500 </a:t>
            </a:r>
            <a:r>
              <a:rPr lang="en-US" altLang="zh-CN" b="1" dirty="0" err="1">
                <a:solidFill>
                  <a:srgbClr val="FF0000"/>
                </a:solidFill>
                <a:latin typeface="Times New Roman" panose="02020603050405020304" pitchFamily="18" charset="0"/>
                <a:ea typeface="黑体" panose="02010609060101010101" pitchFamily="49" charset="-122"/>
                <a:cs typeface="Times New Roman" panose="02020603050405020304" pitchFamily="18" charset="0"/>
              </a:rPr>
              <a:t>kPa</a:t>
            </a:r>
            <a:r>
              <a:rPr lang="zh-CN" altLang="en-US" b="1" dirty="0">
                <a:latin typeface="Times New Roman" panose="02020603050405020304" pitchFamily="18" charset="0"/>
                <a:ea typeface="黑体" panose="02010609060101010101" pitchFamily="49" charset="-122"/>
                <a:cs typeface="Times New Roman" panose="02020603050405020304" pitchFamily="18" charset="0"/>
              </a:rPr>
              <a:t>，则水的沸点将升至</a:t>
            </a:r>
            <a:r>
              <a:rPr lang="en-US" altLang="zh-CN"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151.9℃</a:t>
            </a:r>
            <a:endParaRPr lang="en-US" altLang="zh-CN"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endParaRPr>
          </a:p>
          <a:p>
            <a:pPr>
              <a:spcBef>
                <a:spcPct val="20000"/>
              </a:spcBef>
              <a:buFontTx/>
              <a:buChar char="•"/>
            </a:pPr>
            <a:r>
              <a:rPr lang="zh-CN" altLang="en-US" b="1" dirty="0">
                <a:latin typeface="黑体" panose="02010609060101010101" pitchFamily="49" charset="-122"/>
                <a:ea typeface="黑体" panose="02010609060101010101" pitchFamily="49" charset="-122"/>
              </a:rPr>
              <a:t>物质的沸点取决于其压力，压力确定后沸点也就确定了</a:t>
            </a:r>
            <a:endParaRPr lang="zh-CN" altLang="en-US" b="1" dirty="0">
              <a:latin typeface="黑体" panose="02010609060101010101" pitchFamily="49" charset="-122"/>
              <a:ea typeface="黑体" panose="02010609060101010101" pitchFamily="49" charset="-122"/>
            </a:endParaRPr>
          </a:p>
        </p:txBody>
      </p:sp>
      <p:pic>
        <p:nvPicPr>
          <p:cNvPr id="6" name="图片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534508" y="768351"/>
            <a:ext cx="6097209" cy="3452812"/>
          </a:xfrm>
          <a:prstGeom prst="rect">
            <a:avLst/>
          </a:prstGeom>
        </p:spPr>
      </p:pic>
    </p:spTree>
    <p:custDataLst>
      <p:tags r:id="rId2"/>
    </p:custData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22887">
                                            <p:txEl>
                                              <p:pRg st="1" end="1"/>
                                            </p:txEl>
                                          </p:spTgt>
                                        </p:tgtEl>
                                        <p:attrNameLst>
                                          <p:attrName>style.visibility</p:attrName>
                                        </p:attrNameLst>
                                      </p:cBhvr>
                                      <p:to>
                                        <p:strVal val="visible"/>
                                      </p:to>
                                    </p:set>
                                    <p:animEffect transition="in" filter="blinds(horizontal)">
                                      <p:cBhvr>
                                        <p:cTn id="7" dur="500"/>
                                        <p:tgtEl>
                                          <p:spTgt spid="12288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22887">
                                            <p:txEl>
                                              <p:pRg st="2" end="2"/>
                                            </p:txEl>
                                          </p:spTgt>
                                        </p:tgtEl>
                                        <p:attrNameLst>
                                          <p:attrName>style.visibility</p:attrName>
                                        </p:attrNameLst>
                                      </p:cBhvr>
                                      <p:to>
                                        <p:strVal val="visible"/>
                                      </p:to>
                                    </p:set>
                                    <p:animEffect transition="in" filter="blinds(horizontal)">
                                      <p:cBhvr>
                                        <p:cTn id="12" dur="500"/>
                                        <p:tgtEl>
                                          <p:spTgt spid="12288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10" name="内容占位符 123909"/>
          <p:cNvSpPr>
            <a:spLocks noGrp="1" noChangeArrowheads="1"/>
          </p:cNvSpPr>
          <p:nvPr>
            <p:ph idx="1"/>
          </p:nvPr>
        </p:nvSpPr>
        <p:spPr>
          <a:xfrm>
            <a:off x="395288" y="765175"/>
            <a:ext cx="8229600" cy="4752975"/>
          </a:xfrm>
        </p:spPr>
        <p:txBody>
          <a:bodyPr>
            <a:normAutofit/>
          </a:bodyPr>
          <a:lstStyle/>
          <a:p>
            <a:r>
              <a:rPr lang="zh-CN" altLang="en-US" sz="3200" b="1" dirty="0" smtClean="0">
                <a:latin typeface="黑体" panose="02010609060101010101" pitchFamily="49" charset="-122"/>
                <a:ea typeface="黑体" panose="02010609060101010101" pitchFamily="49" charset="-122"/>
              </a:rPr>
              <a:t>在给定的压力下，纯物质发生气、液两相转变的温度称为</a:t>
            </a:r>
            <a:r>
              <a:rPr lang="zh-CN" altLang="en-US" sz="3200" b="1" dirty="0" smtClean="0">
                <a:solidFill>
                  <a:srgbClr val="FF0000"/>
                </a:solidFill>
                <a:latin typeface="黑体" panose="02010609060101010101" pitchFamily="49" charset="-122"/>
                <a:ea typeface="黑体" panose="02010609060101010101" pitchFamily="49" charset="-122"/>
              </a:rPr>
              <a:t>饱和温度</a:t>
            </a:r>
            <a:r>
              <a:rPr lang="zh-CN" altLang="en-US" sz="3200" b="1" dirty="0" smtClean="0">
                <a:latin typeface="黑体" panose="02010609060101010101" pitchFamily="49" charset="-122"/>
                <a:ea typeface="黑体" panose="02010609060101010101" pitchFamily="49" charset="-122"/>
              </a:rPr>
              <a:t>，用</a:t>
            </a:r>
            <a:r>
              <a:rPr lang="en-US" altLang="zh-CN" sz="3200" b="1" i="1" dirty="0" err="1" smtClean="0">
                <a:latin typeface="Times New Roman" panose="02020603050405020304" pitchFamily="18" charset="0"/>
                <a:ea typeface="黑体" panose="02010609060101010101" pitchFamily="49" charset="-122"/>
              </a:rPr>
              <a:t>T</a:t>
            </a:r>
            <a:r>
              <a:rPr lang="en-US" altLang="zh-CN" sz="3200" b="1" baseline="-25000" dirty="0" err="1" smtClean="0">
                <a:latin typeface="Times New Roman" panose="02020603050405020304" pitchFamily="18" charset="0"/>
                <a:ea typeface="黑体" panose="02010609060101010101" pitchFamily="49" charset="-122"/>
              </a:rPr>
              <a:t>sat</a:t>
            </a:r>
            <a:r>
              <a:rPr lang="zh-CN" altLang="en-US" sz="3200" b="1" dirty="0" smtClean="0">
                <a:latin typeface="Times New Roman" panose="02020603050405020304" pitchFamily="18" charset="0"/>
                <a:ea typeface="黑体" panose="02010609060101010101" pitchFamily="49" charset="-122"/>
              </a:rPr>
              <a:t>表示，其中下标“</a:t>
            </a:r>
            <a:r>
              <a:rPr lang="en-US" altLang="zh-CN" sz="3200" b="1" dirty="0" smtClean="0">
                <a:latin typeface="Times New Roman" panose="02020603050405020304" pitchFamily="18" charset="0"/>
                <a:ea typeface="黑体" panose="02010609060101010101" pitchFamily="49" charset="-122"/>
              </a:rPr>
              <a:t>sat”</a:t>
            </a:r>
            <a:r>
              <a:rPr lang="zh-CN" altLang="en-US" sz="3200" b="1" dirty="0" smtClean="0">
                <a:latin typeface="Times New Roman" panose="02020603050405020304" pitchFamily="18" charset="0"/>
                <a:ea typeface="黑体" panose="02010609060101010101" pitchFamily="49" charset="-122"/>
              </a:rPr>
              <a:t>为饱和（</a:t>
            </a:r>
            <a:r>
              <a:rPr lang="en-US" altLang="zh-CN" sz="3200" b="1" dirty="0" smtClean="0">
                <a:latin typeface="Times New Roman" panose="02020603050405020304" pitchFamily="18" charset="0"/>
                <a:ea typeface="黑体" panose="02010609060101010101" pitchFamily="49" charset="-122"/>
              </a:rPr>
              <a:t>saturation</a:t>
            </a:r>
            <a:r>
              <a:rPr lang="zh-CN" altLang="en-US" sz="3200" b="1" dirty="0" smtClean="0">
                <a:latin typeface="Times New Roman" panose="02020603050405020304" pitchFamily="18" charset="0"/>
                <a:ea typeface="黑体" panose="02010609060101010101" pitchFamily="49" charset="-122"/>
              </a:rPr>
              <a:t>）的缩写</a:t>
            </a:r>
            <a:endParaRPr lang="zh-CN" altLang="en-US" sz="3200" b="1" dirty="0" smtClean="0">
              <a:latin typeface="Times New Roman" panose="02020603050405020304" pitchFamily="18" charset="0"/>
              <a:ea typeface="黑体" panose="02010609060101010101" pitchFamily="49" charset="-122"/>
            </a:endParaRPr>
          </a:p>
          <a:p>
            <a:r>
              <a:rPr lang="zh-CN" altLang="en-US" sz="3200" b="1" dirty="0" smtClean="0">
                <a:latin typeface="Times New Roman" panose="02020603050405020304" pitchFamily="18" charset="0"/>
                <a:ea typeface="黑体" panose="02010609060101010101" pitchFamily="49" charset="-122"/>
              </a:rPr>
              <a:t>类似地，在给定的温度下，纯物质发生气、液两相转变的压力称为</a:t>
            </a:r>
            <a:r>
              <a:rPr lang="zh-CN" altLang="en-US" sz="3200" b="1" dirty="0" smtClean="0">
                <a:solidFill>
                  <a:srgbClr val="FF0000"/>
                </a:solidFill>
                <a:latin typeface="Times New Roman" panose="02020603050405020304" pitchFamily="18" charset="0"/>
                <a:ea typeface="黑体" panose="02010609060101010101" pitchFamily="49" charset="-122"/>
              </a:rPr>
              <a:t>饱和压力</a:t>
            </a:r>
            <a:r>
              <a:rPr lang="zh-CN" altLang="en-US" sz="3200" b="1" dirty="0" smtClean="0">
                <a:latin typeface="Times New Roman" panose="02020603050405020304" pitchFamily="18" charset="0"/>
                <a:ea typeface="黑体" panose="02010609060101010101" pitchFamily="49" charset="-122"/>
              </a:rPr>
              <a:t>，用</a:t>
            </a:r>
            <a:r>
              <a:rPr lang="en-US" altLang="zh-CN" sz="3200" b="1" i="1" dirty="0" err="1" smtClean="0">
                <a:latin typeface="Times New Roman" panose="02020603050405020304" pitchFamily="18" charset="0"/>
                <a:ea typeface="黑体" panose="02010609060101010101" pitchFamily="49" charset="-122"/>
              </a:rPr>
              <a:t>p</a:t>
            </a:r>
            <a:r>
              <a:rPr lang="en-US" altLang="zh-CN" sz="3200" b="1" baseline="-25000" dirty="0" err="1" smtClean="0">
                <a:latin typeface="Times New Roman" panose="02020603050405020304" pitchFamily="18" charset="0"/>
                <a:ea typeface="黑体" panose="02010609060101010101" pitchFamily="49" charset="-122"/>
              </a:rPr>
              <a:t>sat</a:t>
            </a:r>
            <a:r>
              <a:rPr lang="zh-CN" altLang="en-US" sz="3200" b="1" dirty="0" smtClean="0">
                <a:latin typeface="Times New Roman" panose="02020603050405020304" pitchFamily="18" charset="0"/>
                <a:ea typeface="黑体" panose="02010609060101010101" pitchFamily="49" charset="-122"/>
              </a:rPr>
              <a:t>表示</a:t>
            </a:r>
            <a:endParaRPr lang="zh-CN" altLang="en-US" sz="3200" b="1" dirty="0" smtClean="0">
              <a:latin typeface="Times New Roman" panose="02020603050405020304" pitchFamily="18" charset="0"/>
              <a:ea typeface="黑体" panose="02010609060101010101" pitchFamily="49" charset="-122"/>
            </a:endParaRPr>
          </a:p>
          <a:p>
            <a:r>
              <a:rPr lang="zh-CN" altLang="en-US" sz="3200" b="1" dirty="0" smtClean="0">
                <a:latin typeface="Times New Roman" panose="02020603050405020304" pitchFamily="18" charset="0"/>
                <a:ea typeface="黑体" panose="02010609060101010101" pitchFamily="49" charset="-122"/>
              </a:rPr>
              <a:t>水在压力为</a:t>
            </a:r>
            <a:r>
              <a:rPr lang="en-US" altLang="zh-CN" sz="3200" b="1" dirty="0" smtClean="0">
                <a:latin typeface="Times New Roman" panose="02020603050405020304" pitchFamily="18" charset="0"/>
                <a:ea typeface="黑体" panose="02010609060101010101" pitchFamily="49" charset="-122"/>
              </a:rPr>
              <a:t>101.325 MPa</a:t>
            </a:r>
            <a:r>
              <a:rPr lang="zh-CN" altLang="en-US" sz="3200" b="1" dirty="0" smtClean="0">
                <a:latin typeface="Times New Roman" panose="02020603050405020304" pitchFamily="18" charset="0"/>
                <a:ea typeface="黑体" panose="02010609060101010101" pitchFamily="49" charset="-122"/>
              </a:rPr>
              <a:t>时的饱和温度为</a:t>
            </a:r>
            <a:r>
              <a:rPr lang="en-US" altLang="zh-CN" sz="3200" b="1" dirty="0" smtClean="0">
                <a:latin typeface="Times New Roman" panose="02020603050405020304" pitchFamily="18" charset="0"/>
                <a:ea typeface="黑体" panose="02010609060101010101" pitchFamily="49" charset="-122"/>
              </a:rPr>
              <a:t>100℃</a:t>
            </a:r>
            <a:r>
              <a:rPr lang="zh-CN" altLang="en-US" sz="3200" b="1" dirty="0" smtClean="0">
                <a:latin typeface="Times New Roman" panose="02020603050405020304" pitchFamily="18" charset="0"/>
                <a:ea typeface="黑体" panose="02010609060101010101" pitchFamily="49" charset="-122"/>
              </a:rPr>
              <a:t>；或者说，水在温度为</a:t>
            </a:r>
            <a:r>
              <a:rPr lang="en-US" altLang="zh-CN" sz="3200" b="1" dirty="0" smtClean="0">
                <a:latin typeface="Times New Roman" panose="02020603050405020304" pitchFamily="18" charset="0"/>
                <a:ea typeface="黑体" panose="02010609060101010101" pitchFamily="49" charset="-122"/>
              </a:rPr>
              <a:t>100℃</a:t>
            </a:r>
            <a:r>
              <a:rPr lang="zh-CN" altLang="en-US" sz="3200" b="1" dirty="0" smtClean="0">
                <a:latin typeface="Times New Roman" panose="02020603050405020304" pitchFamily="18" charset="0"/>
                <a:ea typeface="黑体" panose="02010609060101010101" pitchFamily="49" charset="-122"/>
              </a:rPr>
              <a:t>时的饱和压力为</a:t>
            </a:r>
            <a:r>
              <a:rPr lang="en-US" altLang="zh-CN" sz="3200" b="1" dirty="0" smtClean="0">
                <a:latin typeface="Times New Roman" panose="02020603050405020304" pitchFamily="18" charset="0"/>
                <a:ea typeface="黑体" panose="02010609060101010101" pitchFamily="49" charset="-122"/>
              </a:rPr>
              <a:t>101.325 MPa</a:t>
            </a:r>
            <a:endParaRPr lang="en-US" altLang="zh-CN" sz="3200" b="1" dirty="0" smtClean="0">
              <a:latin typeface="Times New Roman" panose="02020603050405020304" pitchFamily="18" charset="0"/>
              <a:ea typeface="黑体" panose="02010609060101010101" pitchFamily="49" charset="-122"/>
            </a:endParaRPr>
          </a:p>
        </p:txBody>
      </p:sp>
    </p:spTree>
    <p:custDataLst>
      <p:tags r:id="rId1"/>
    </p:custData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23910">
                                            <p:txEl>
                                              <p:pRg st="1" end="1"/>
                                            </p:txEl>
                                          </p:spTgt>
                                        </p:tgtEl>
                                        <p:attrNameLst>
                                          <p:attrName>style.visibility</p:attrName>
                                        </p:attrNameLst>
                                      </p:cBhvr>
                                      <p:to>
                                        <p:strVal val="visible"/>
                                      </p:to>
                                    </p:set>
                                    <p:animEffect transition="in" filter="blinds(horizontal)">
                                      <p:cBhvr>
                                        <p:cTn id="7" dur="500"/>
                                        <p:tgtEl>
                                          <p:spTgt spid="123910">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23910">
                                            <p:txEl>
                                              <p:pRg st="2" end="2"/>
                                            </p:txEl>
                                          </p:spTgt>
                                        </p:tgtEl>
                                        <p:attrNameLst>
                                          <p:attrName>style.visibility</p:attrName>
                                        </p:attrNameLst>
                                      </p:cBhvr>
                                      <p:to>
                                        <p:strVal val="visible"/>
                                      </p:to>
                                    </p:set>
                                    <p:animEffect transition="in" filter="blinds(horizontal)">
                                      <p:cBhvr>
                                        <p:cTn id="12" dur="500"/>
                                        <p:tgtEl>
                                          <p:spTgt spid="12391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769" name="图片 275457"/>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476250"/>
            <a:ext cx="5149850" cy="5759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770" name="矩形 275458"/>
          <p:cNvSpPr>
            <a:spLocks noChangeArrowheads="1"/>
          </p:cNvSpPr>
          <p:nvPr/>
        </p:nvSpPr>
        <p:spPr bwMode="auto">
          <a:xfrm>
            <a:off x="0" y="22336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75463" name="矩形 275462"/>
          <p:cNvSpPr>
            <a:spLocks noChangeArrowheads="1"/>
          </p:cNvSpPr>
          <p:nvPr/>
        </p:nvSpPr>
        <p:spPr bwMode="auto">
          <a:xfrm>
            <a:off x="4932363" y="4691429"/>
            <a:ext cx="3960812" cy="1631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2000" b="1" dirty="0">
                <a:latin typeface="黑体" panose="02010609060101010101" pitchFamily="49" charset="-122"/>
                <a:ea typeface="黑体" panose="02010609060101010101" pitchFamily="49" charset="-122"/>
              </a:rPr>
              <a:t>饱和温度和饱和压力的概念也可推广至纯物质发生固、液两相转变和固、气两相转变的情况，此时饱和压力和饱和温度也是一一对应的（</a:t>
            </a:r>
            <a:r>
              <a:rPr lang="en-US" altLang="zh-CN" sz="2000" b="1" dirty="0">
                <a:latin typeface="Times New Roman" panose="02020603050405020304" pitchFamily="18" charset="0"/>
                <a:ea typeface="黑体" panose="02010609060101010101" pitchFamily="49" charset="-122"/>
                <a:cs typeface="Times New Roman" panose="02020603050405020304" pitchFamily="18" charset="0"/>
              </a:rPr>
              <a:t>9-3</a:t>
            </a:r>
            <a:r>
              <a:rPr lang="zh-CN" altLang="en-US" sz="2000" b="1" dirty="0">
                <a:latin typeface="黑体" panose="02010609060101010101" pitchFamily="49" charset="-122"/>
                <a:ea typeface="黑体" panose="02010609060101010101" pitchFamily="49" charset="-122"/>
              </a:rPr>
              <a:t>节会再次说明） </a:t>
            </a:r>
            <a:endParaRPr lang="zh-CN" altLang="en-US" sz="2000" b="1" dirty="0">
              <a:latin typeface="黑体" panose="02010609060101010101" pitchFamily="49" charset="-122"/>
              <a:ea typeface="黑体" panose="02010609060101010101" pitchFamily="49" charset="-122"/>
            </a:endParaRPr>
          </a:p>
        </p:txBody>
      </p:sp>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6950" y="1682642"/>
            <a:ext cx="4438273" cy="2737341"/>
          </a:xfrm>
          <a:prstGeom prst="rect">
            <a:avLst/>
          </a:prstGeom>
        </p:spPr>
      </p:pic>
    </p:spTree>
    <p:custDataLst>
      <p:tags r:id="rId3"/>
    </p:custData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75463"/>
                                        </p:tgtEl>
                                        <p:attrNameLst>
                                          <p:attrName>style.visibility</p:attrName>
                                        </p:attrNameLst>
                                      </p:cBhvr>
                                      <p:to>
                                        <p:strVal val="visible"/>
                                      </p:to>
                                    </p:set>
                                    <p:animEffect transition="in" filter="blinds(horizontal)">
                                      <p:cBhvr>
                                        <p:cTn id="7" dur="500"/>
                                        <p:tgtEl>
                                          <p:spTgt spid="2754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5463"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标题 125953"/>
          <p:cNvSpPr>
            <a:spLocks noGrp="1" noChangeArrowheads="1"/>
          </p:cNvSpPr>
          <p:nvPr>
            <p:ph type="title"/>
          </p:nvPr>
        </p:nvSpPr>
        <p:spPr>
          <a:xfrm>
            <a:off x="468313" y="-90488"/>
            <a:ext cx="8229600" cy="1143001"/>
          </a:xfrm>
        </p:spPr>
        <p:txBody>
          <a:bodyPr/>
          <a:lstStyle/>
          <a:p>
            <a:r>
              <a:rPr lang="zh-CN" altLang="en-US" sz="4000" b="1" smtClean="0">
                <a:ea typeface="黑体" panose="02010609060101010101" pitchFamily="49" charset="-122"/>
              </a:rPr>
              <a:t>潜热概念</a:t>
            </a:r>
            <a:endParaRPr lang="zh-CN" altLang="en-US" sz="4000" b="1" smtClean="0">
              <a:ea typeface="黑体" panose="02010609060101010101" pitchFamily="49" charset="-122"/>
            </a:endParaRPr>
          </a:p>
        </p:txBody>
      </p:sp>
      <p:sp>
        <p:nvSpPr>
          <p:cNvPr id="33794" name="文本占位符 125954"/>
          <p:cNvSpPr>
            <a:spLocks noGrp="1" noChangeArrowheads="1"/>
          </p:cNvSpPr>
          <p:nvPr>
            <p:ph type="body" sz="half" idx="1"/>
          </p:nvPr>
        </p:nvSpPr>
        <p:spPr>
          <a:xfrm>
            <a:off x="357808" y="1425505"/>
            <a:ext cx="3680792" cy="4525962"/>
          </a:xfrm>
        </p:spPr>
        <p:txBody>
          <a:bodyPr/>
          <a:lstStyle/>
          <a:p>
            <a:r>
              <a:rPr lang="zh-CN" altLang="en-US" sz="2400" b="1" dirty="0" smtClean="0">
                <a:latin typeface="黑体" panose="02010609060101010101" pitchFamily="49" charset="-122"/>
                <a:ea typeface="黑体" panose="02010609060101010101" pitchFamily="49" charset="-122"/>
              </a:rPr>
              <a:t>固体熔化或者液体汽化需要大量的热量，这种</a:t>
            </a:r>
            <a:r>
              <a:rPr lang="zh-CN" altLang="en-US" sz="2400" b="1" dirty="0" smtClean="0">
                <a:solidFill>
                  <a:srgbClr val="FF0000"/>
                </a:solidFill>
                <a:latin typeface="黑体" panose="02010609060101010101" pitchFamily="49" charset="-122"/>
                <a:ea typeface="黑体" panose="02010609060101010101" pitchFamily="49" charset="-122"/>
              </a:rPr>
              <a:t>在相变过程（温度和压力不变）中吸收或放出的热量称为潜热</a:t>
            </a:r>
            <a:endParaRPr lang="zh-CN" altLang="en-US" sz="2400" b="1" dirty="0" smtClean="0">
              <a:solidFill>
                <a:srgbClr val="FF0000"/>
              </a:solidFill>
              <a:latin typeface="黑体" panose="02010609060101010101" pitchFamily="49" charset="-122"/>
              <a:ea typeface="黑体" panose="02010609060101010101" pitchFamily="49" charset="-122"/>
            </a:endParaRPr>
          </a:p>
          <a:p>
            <a:r>
              <a:rPr lang="zh-CN" altLang="en-US" sz="2400" b="1" dirty="0" smtClean="0">
                <a:latin typeface="黑体" panose="02010609060101010101" pitchFamily="49" charset="-122"/>
                <a:ea typeface="黑体" panose="02010609060101010101" pitchFamily="49" charset="-122"/>
              </a:rPr>
              <a:t>符号：</a:t>
            </a:r>
            <a:r>
              <a:rPr lang="en-US" altLang="zh-CN" sz="2400" b="1" i="1" dirty="0" smtClean="0">
                <a:latin typeface="Times New Roman" panose="02020603050405020304" pitchFamily="18" charset="0"/>
                <a:ea typeface="黑体" panose="02010609060101010101" pitchFamily="49" charset="-122"/>
                <a:cs typeface="Times New Roman" panose="02020603050405020304" pitchFamily="18" charset="0"/>
              </a:rPr>
              <a:t>r</a:t>
            </a:r>
            <a:endParaRPr lang="en-US" altLang="zh-CN" sz="2400" b="1" i="1" dirty="0" smtClean="0">
              <a:latin typeface="Times New Roman" panose="02020603050405020304" pitchFamily="18" charset="0"/>
              <a:ea typeface="黑体" panose="02010609060101010101" pitchFamily="49" charset="-122"/>
              <a:cs typeface="Times New Roman" panose="02020603050405020304" pitchFamily="18" charset="0"/>
            </a:endParaRPr>
          </a:p>
          <a:p>
            <a:r>
              <a:rPr lang="zh-CN" altLang="en-US" sz="2400" b="1" dirty="0" smtClean="0">
                <a:latin typeface="Times New Roman" panose="02020603050405020304" pitchFamily="18" charset="0"/>
                <a:ea typeface="黑体" panose="02010609060101010101" pitchFamily="49" charset="-122"/>
                <a:cs typeface="Times New Roman" panose="02020603050405020304" pitchFamily="18" charset="0"/>
              </a:rPr>
              <a:t>单位：</a:t>
            </a:r>
            <a:r>
              <a:rPr lang="en-US" altLang="zh-CN" sz="2400" b="1" dirty="0" smtClean="0">
                <a:latin typeface="Times New Roman" panose="02020603050405020304" pitchFamily="18" charset="0"/>
                <a:ea typeface="黑体" panose="02010609060101010101" pitchFamily="49" charset="-122"/>
                <a:cs typeface="Times New Roman" panose="02020603050405020304" pitchFamily="18" charset="0"/>
              </a:rPr>
              <a:t>J/kg</a:t>
            </a:r>
            <a:r>
              <a:rPr lang="zh-CN" altLang="en-US" sz="2400" b="1" dirty="0" smtClean="0">
                <a:latin typeface="Times New Roman" panose="02020603050405020304" pitchFamily="18" charset="0"/>
                <a:ea typeface="黑体" panose="02010609060101010101" pitchFamily="49" charset="-122"/>
                <a:cs typeface="Times New Roman" panose="02020603050405020304" pitchFamily="18" charset="0"/>
              </a:rPr>
              <a:t>或</a:t>
            </a:r>
            <a:r>
              <a:rPr lang="en-US" altLang="zh-CN" sz="2400" b="1" dirty="0" smtClean="0">
                <a:latin typeface="Times New Roman" panose="02020603050405020304" pitchFamily="18" charset="0"/>
                <a:ea typeface="黑体" panose="02010609060101010101" pitchFamily="49" charset="-122"/>
                <a:cs typeface="Times New Roman" panose="02020603050405020304" pitchFamily="18" charset="0"/>
              </a:rPr>
              <a:t>kJ/kg</a:t>
            </a:r>
            <a:r>
              <a:rPr lang="zh-CN" altLang="en-US" sz="2400" b="1" dirty="0" smtClean="0">
                <a:latin typeface="Times New Roman" panose="02020603050405020304" pitchFamily="18" charset="0"/>
                <a:ea typeface="黑体" panose="02010609060101010101" pitchFamily="49" charset="-122"/>
                <a:cs typeface="Times New Roman" panose="02020603050405020304" pitchFamily="18" charset="0"/>
              </a:rPr>
              <a:t>，</a:t>
            </a:r>
            <a:endParaRPr lang="zh-CN" altLang="en-US" sz="2400" b="1" dirty="0" smtClean="0">
              <a:latin typeface="Times New Roman" panose="02020603050405020304" pitchFamily="18" charset="0"/>
              <a:ea typeface="黑体" panose="02010609060101010101" pitchFamily="49" charset="-122"/>
              <a:cs typeface="Times New Roman" panose="02020603050405020304" pitchFamily="18" charset="0"/>
            </a:endParaRPr>
          </a:p>
          <a:p>
            <a:pPr>
              <a:buFontTx/>
              <a:buNone/>
            </a:pPr>
            <a:r>
              <a:rPr lang="zh-CN" altLang="en-US" sz="2400" b="1" dirty="0" smtClean="0">
                <a:latin typeface="Times New Roman" panose="02020603050405020304" pitchFamily="18" charset="0"/>
                <a:ea typeface="黑体" panose="02010609060101010101" pitchFamily="49" charset="-122"/>
                <a:cs typeface="Times New Roman" panose="02020603050405020304" pitchFamily="18" charset="0"/>
              </a:rPr>
              <a:t>（在</a:t>
            </a:r>
            <a:r>
              <a:rPr lang="en-US" altLang="zh-CN" sz="2400" b="1" dirty="0" smtClean="0">
                <a:latin typeface="Times New Roman" panose="02020603050405020304" pitchFamily="18" charset="0"/>
                <a:ea typeface="黑体" panose="02010609060101010101" pitchFamily="49" charset="-122"/>
                <a:cs typeface="Times New Roman" panose="02020603050405020304" pitchFamily="18" charset="0"/>
              </a:rPr>
              <a:t>6-3</a:t>
            </a:r>
            <a:r>
              <a:rPr lang="zh-CN" altLang="en-US" sz="2400" b="1" dirty="0" smtClean="0">
                <a:latin typeface="Times New Roman" panose="02020603050405020304" pitchFamily="18" charset="0"/>
                <a:ea typeface="黑体" panose="02010609060101010101" pitchFamily="49" charset="-122"/>
                <a:cs typeface="Times New Roman" panose="02020603050405020304" pitchFamily="18" charset="0"/>
              </a:rPr>
              <a:t>节推导</a:t>
            </a:r>
            <a:r>
              <a:rPr lang="zh-CN" altLang="en-US" sz="2400" b="1" dirty="0" smtClean="0">
                <a:latin typeface="黑体" panose="02010609060101010101" pitchFamily="49" charset="-122"/>
                <a:ea typeface="黑体" panose="02010609060101010101" pitchFamily="49" charset="-122"/>
              </a:rPr>
              <a:t>相变过程熵的计算式就用到了此概念）</a:t>
            </a:r>
            <a:endParaRPr lang="zh-CN" altLang="en-US" sz="2400" b="1" dirty="0" smtClean="0">
              <a:latin typeface="黑体" panose="02010609060101010101" pitchFamily="49" charset="-122"/>
              <a:ea typeface="黑体" panose="02010609060101010101" pitchFamily="49" charset="-122"/>
            </a:endParaRPr>
          </a:p>
        </p:txBody>
      </p:sp>
      <p:pic>
        <p:nvPicPr>
          <p:cNvPr id="3" name="图片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038600" y="739051"/>
            <a:ext cx="4858933" cy="2865368"/>
          </a:xfrm>
          <a:prstGeom prst="rect">
            <a:avLst/>
          </a:prstGeom>
        </p:spPr>
      </p:pic>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53777" y="3688486"/>
            <a:ext cx="3962743" cy="2847079"/>
          </a:xfrm>
          <a:prstGeom prst="rect">
            <a:avLst/>
          </a:prstGeom>
        </p:spPr>
      </p:pic>
    </p:spTree>
  </p:cSld>
  <p:clrMapOvr>
    <a:masterClrMapping/>
  </p:clrMapOvr>
  <p:transition spd="slow"/>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矩形 126979"/>
          <p:cNvSpPr>
            <a:spLocks noChangeArrowheads="1"/>
          </p:cNvSpPr>
          <p:nvPr/>
        </p:nvSpPr>
        <p:spPr bwMode="auto">
          <a:xfrm>
            <a:off x="468313" y="765175"/>
            <a:ext cx="8229600" cy="5040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400">
                <a:solidFill>
                  <a:schemeClr val="tx1"/>
                </a:solidFill>
                <a:latin typeface="Tahoma" panose="020B0604030504040204" pitchFamily="34" charset="0"/>
                <a:ea typeface="宋体" panose="02010600030101010101" pitchFamily="2" charset="-122"/>
              </a:defRPr>
            </a:lvl1pPr>
            <a:lvl2pPr>
              <a:defRPr sz="2400">
                <a:solidFill>
                  <a:schemeClr val="tx1"/>
                </a:solidFill>
                <a:latin typeface="Tahoma" panose="020B0604030504040204" pitchFamily="34" charset="0"/>
                <a:ea typeface="宋体" panose="02010600030101010101" pitchFamily="2" charset="-122"/>
              </a:defRPr>
            </a:lvl2pPr>
            <a:lvl3pPr>
              <a:defRPr sz="2400">
                <a:solidFill>
                  <a:schemeClr val="tx1"/>
                </a:solidFill>
                <a:latin typeface="Tahoma" panose="020B0604030504040204" pitchFamily="34" charset="0"/>
                <a:ea typeface="宋体" panose="02010600030101010101" pitchFamily="2" charset="-122"/>
              </a:defRPr>
            </a:lvl3pPr>
            <a:lvl4pPr>
              <a:defRPr sz="2400">
                <a:solidFill>
                  <a:schemeClr val="tx1"/>
                </a:solidFill>
                <a:latin typeface="Tahoma" panose="020B0604030504040204" pitchFamily="34" charset="0"/>
                <a:ea typeface="宋体" panose="02010600030101010101" pitchFamily="2" charset="-122"/>
              </a:defRPr>
            </a:lvl4pPr>
            <a:lvl5pPr>
              <a:defRPr sz="2400">
                <a:solidFill>
                  <a:schemeClr val="tx1"/>
                </a:solidFill>
                <a:latin typeface="Tahoma" panose="020B0604030504040204" pitchFamily="34" charset="0"/>
                <a:ea typeface="宋体" panose="02010600030101010101" pitchFamily="2" charset="-122"/>
              </a:defRPr>
            </a:lvl5pPr>
            <a:lvl6pPr fontAlgn="base">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fontAlgn="base">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fontAlgn="base">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fontAlgn="base">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nSpc>
                <a:spcPct val="80000"/>
              </a:lnSpc>
              <a:spcBef>
                <a:spcPct val="20000"/>
              </a:spcBef>
            </a:pPr>
            <a:endParaRPr lang="en-US" altLang="zh-CN" sz="2800">
              <a:latin typeface="Arial" panose="020B0604020202020204" pitchFamily="34" charset="0"/>
            </a:endParaRPr>
          </a:p>
          <a:p>
            <a:pPr>
              <a:lnSpc>
                <a:spcPct val="90000"/>
              </a:lnSpc>
              <a:spcBef>
                <a:spcPct val="30000"/>
              </a:spcBef>
              <a:buFontTx/>
              <a:buChar char="•"/>
            </a:pPr>
            <a:r>
              <a:rPr lang="zh-CN" altLang="en-US" sz="3200">
                <a:latin typeface="黑体" panose="02010609060101010101" pitchFamily="49" charset="-122"/>
                <a:ea typeface="黑体" panose="02010609060101010101" pitchFamily="49" charset="-122"/>
              </a:rPr>
              <a:t>熔化过程中吸收的热量称为</a:t>
            </a:r>
            <a:r>
              <a:rPr lang="zh-CN" altLang="en-US" sz="3200">
                <a:solidFill>
                  <a:srgbClr val="FF0000"/>
                </a:solidFill>
                <a:latin typeface="黑体" panose="02010609060101010101" pitchFamily="49" charset="-122"/>
                <a:ea typeface="黑体" panose="02010609060101010101" pitchFamily="49" charset="-122"/>
              </a:rPr>
              <a:t>熔化潜热</a:t>
            </a:r>
            <a:r>
              <a:rPr lang="zh-CN" altLang="en-US" sz="3200">
                <a:latin typeface="黑体" panose="02010609060101010101" pitchFamily="49" charset="-122"/>
                <a:ea typeface="黑体" panose="02010609060101010101" pitchFamily="49" charset="-122"/>
              </a:rPr>
              <a:t>，它也等于液体凝固为固体放出的热量；</a:t>
            </a:r>
            <a:endParaRPr lang="zh-CN" altLang="en-US" sz="3200">
              <a:latin typeface="黑体" panose="02010609060101010101" pitchFamily="49" charset="-122"/>
              <a:ea typeface="黑体" panose="02010609060101010101" pitchFamily="49" charset="-122"/>
            </a:endParaRPr>
          </a:p>
          <a:p>
            <a:pPr>
              <a:lnSpc>
                <a:spcPct val="90000"/>
              </a:lnSpc>
              <a:spcBef>
                <a:spcPct val="30000"/>
              </a:spcBef>
              <a:buFontTx/>
              <a:buChar char="•"/>
            </a:pPr>
            <a:r>
              <a:rPr lang="zh-CN" altLang="en-US" sz="3200">
                <a:latin typeface="黑体" panose="02010609060101010101" pitchFamily="49" charset="-122"/>
                <a:ea typeface="黑体" panose="02010609060101010101" pitchFamily="49" charset="-122"/>
              </a:rPr>
              <a:t>汽化过程中吸收的热量称为</a:t>
            </a:r>
            <a:r>
              <a:rPr lang="zh-CN" altLang="en-US" sz="3200">
                <a:solidFill>
                  <a:srgbClr val="FF0000"/>
                </a:solidFill>
                <a:latin typeface="黑体" panose="02010609060101010101" pitchFamily="49" charset="-122"/>
                <a:ea typeface="黑体" panose="02010609060101010101" pitchFamily="49" charset="-122"/>
              </a:rPr>
              <a:t>汽化潜热</a:t>
            </a:r>
            <a:r>
              <a:rPr lang="zh-CN" altLang="en-US" sz="3200">
                <a:latin typeface="黑体" panose="02010609060101010101" pitchFamily="49" charset="-122"/>
                <a:ea typeface="黑体" panose="02010609060101010101" pitchFamily="49" charset="-122"/>
              </a:rPr>
              <a:t>，它也等于气体冷凝为液体放出的热量。</a:t>
            </a:r>
            <a:endParaRPr lang="zh-CN" altLang="en-US" sz="3200">
              <a:latin typeface="黑体" panose="02010609060101010101" pitchFamily="49" charset="-122"/>
              <a:ea typeface="黑体" panose="02010609060101010101" pitchFamily="49" charset="-122"/>
            </a:endParaRPr>
          </a:p>
          <a:p>
            <a:pPr>
              <a:lnSpc>
                <a:spcPct val="90000"/>
              </a:lnSpc>
              <a:spcBef>
                <a:spcPct val="30000"/>
              </a:spcBef>
              <a:buFontTx/>
              <a:buChar char="•"/>
            </a:pPr>
            <a:r>
              <a:rPr lang="zh-CN" altLang="en-US" sz="3200">
                <a:solidFill>
                  <a:srgbClr val="FF0000"/>
                </a:solidFill>
                <a:latin typeface="黑体" panose="02010609060101010101" pitchFamily="49" charset="-122"/>
                <a:ea typeface="黑体" panose="02010609060101010101" pitchFamily="49" charset="-122"/>
              </a:rPr>
              <a:t>潜热的大小取决于相变时的温度或压力</a:t>
            </a:r>
            <a:r>
              <a:rPr lang="zh-CN" altLang="en-US" sz="3200">
                <a:latin typeface="黑体" panose="02010609060101010101" pitchFamily="49" charset="-122"/>
                <a:ea typeface="黑体" panose="02010609060101010101" pitchFamily="49" charset="-122"/>
              </a:rPr>
              <a:t>。在</a:t>
            </a:r>
            <a:r>
              <a:rPr lang="en-US" altLang="zh-CN" sz="3200">
                <a:latin typeface="Times New Roman" panose="02020603050405020304" pitchFamily="18" charset="0"/>
                <a:ea typeface="黑体" panose="02010609060101010101" pitchFamily="49" charset="-122"/>
              </a:rPr>
              <a:t>1 atm</a:t>
            </a:r>
            <a:r>
              <a:rPr lang="zh-CN" altLang="en-US" sz="3200">
                <a:latin typeface="黑体" panose="02010609060101010101" pitchFamily="49" charset="-122"/>
                <a:ea typeface="黑体" panose="02010609060101010101" pitchFamily="49" charset="-122"/>
              </a:rPr>
              <a:t>下，</a:t>
            </a:r>
            <a:endParaRPr lang="zh-CN" altLang="en-US" sz="3200">
              <a:latin typeface="黑体" panose="02010609060101010101" pitchFamily="49" charset="-122"/>
              <a:ea typeface="黑体" panose="02010609060101010101" pitchFamily="49" charset="-122"/>
            </a:endParaRPr>
          </a:p>
          <a:p>
            <a:pPr>
              <a:lnSpc>
                <a:spcPct val="90000"/>
              </a:lnSpc>
              <a:spcBef>
                <a:spcPct val="30000"/>
              </a:spcBef>
            </a:pPr>
            <a:r>
              <a:rPr lang="zh-CN" altLang="en-US" sz="3200">
                <a:latin typeface="黑体" panose="02010609060101010101" pitchFamily="49" charset="-122"/>
                <a:ea typeface="黑体" panose="02010609060101010101" pitchFamily="49" charset="-122"/>
              </a:rPr>
              <a:t>    冰的熔化潜热为</a:t>
            </a:r>
            <a:r>
              <a:rPr lang="en-US" altLang="zh-CN" sz="3200">
                <a:latin typeface="Times New Roman" panose="02020603050405020304" pitchFamily="18" charset="0"/>
                <a:ea typeface="黑体" panose="02010609060101010101" pitchFamily="49" charset="-122"/>
              </a:rPr>
              <a:t>333.7 kJ/kg</a:t>
            </a:r>
            <a:endParaRPr lang="en-US" altLang="zh-CN" sz="3200">
              <a:latin typeface="Times New Roman" panose="02020603050405020304" pitchFamily="18" charset="0"/>
              <a:ea typeface="黑体" panose="02010609060101010101" pitchFamily="49" charset="-122"/>
            </a:endParaRPr>
          </a:p>
          <a:p>
            <a:pPr>
              <a:lnSpc>
                <a:spcPct val="90000"/>
              </a:lnSpc>
              <a:spcBef>
                <a:spcPct val="30000"/>
              </a:spcBef>
            </a:pPr>
            <a:r>
              <a:rPr lang="en-US" altLang="zh-CN" sz="3200">
                <a:latin typeface="黑体" panose="02010609060101010101" pitchFamily="49" charset="-122"/>
                <a:ea typeface="黑体" panose="02010609060101010101" pitchFamily="49" charset="-122"/>
              </a:rPr>
              <a:t>    </a:t>
            </a:r>
            <a:r>
              <a:rPr lang="zh-CN" altLang="en-US" sz="3200">
                <a:latin typeface="黑体" panose="02010609060101010101" pitchFamily="49" charset="-122"/>
                <a:ea typeface="黑体" panose="02010609060101010101" pitchFamily="49" charset="-122"/>
              </a:rPr>
              <a:t>水的汽化潜热为</a:t>
            </a:r>
            <a:r>
              <a:rPr lang="en-US" altLang="zh-CN" sz="3200">
                <a:latin typeface="Times New Roman" panose="02020603050405020304" pitchFamily="18" charset="0"/>
                <a:ea typeface="黑体" panose="02010609060101010101" pitchFamily="49" charset="-122"/>
              </a:rPr>
              <a:t>2257.1 kJ/kg</a:t>
            </a:r>
            <a:r>
              <a:rPr lang="en-US" altLang="zh-CN" sz="3200">
                <a:latin typeface="黑体" panose="02010609060101010101" pitchFamily="49" charset="-122"/>
                <a:ea typeface="黑体" panose="02010609060101010101" pitchFamily="49" charset="-122"/>
              </a:rPr>
              <a:t> </a:t>
            </a:r>
            <a:endParaRPr lang="en-US" altLang="zh-CN" sz="3200">
              <a:latin typeface="黑体" panose="02010609060101010101" pitchFamily="49" charset="-122"/>
              <a:ea typeface="黑体" panose="02010609060101010101" pitchFamily="49" charset="-122"/>
            </a:endParaRPr>
          </a:p>
        </p:txBody>
      </p:sp>
    </p:spTree>
  </p:cSld>
  <p:clrMapOvr>
    <a:masterClrMapping/>
  </p:clrMapOvr>
  <p:transition spd="slow"/>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矩形 130049"/>
          <p:cNvSpPr>
            <a:spLocks noChangeArrowheads="1"/>
          </p:cNvSpPr>
          <p:nvPr/>
        </p:nvSpPr>
        <p:spPr bwMode="auto">
          <a:xfrm>
            <a:off x="304800" y="1905000"/>
            <a:ext cx="8305800" cy="155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p>
            <a:pPr algn="ctr">
              <a:buFontTx/>
              <a:buChar char="§"/>
            </a:pPr>
            <a:r>
              <a:rPr lang="en-US" altLang="zh-CN" sz="4400" b="1" dirty="0">
                <a:latin typeface="黑体" panose="02010609060101010101" pitchFamily="49" charset="-122"/>
                <a:ea typeface="黑体" panose="02010609060101010101" pitchFamily="49" charset="-122"/>
              </a:rPr>
              <a:t>9</a:t>
            </a:r>
            <a:r>
              <a:rPr lang="zh-CN" altLang="en-US" sz="4400" b="1" dirty="0">
                <a:latin typeface="黑体" panose="02010609060101010101" pitchFamily="49" charset="-122"/>
                <a:ea typeface="黑体" panose="02010609060101010101" pitchFamily="49" charset="-122"/>
              </a:rPr>
              <a:t>－</a:t>
            </a:r>
            <a:r>
              <a:rPr lang="en-US" altLang="zh-CN" sz="4400" b="1" dirty="0">
                <a:latin typeface="黑体" panose="02010609060101010101" pitchFamily="49" charset="-122"/>
                <a:ea typeface="黑体" panose="02010609060101010101" pitchFamily="49" charset="-122"/>
              </a:rPr>
              <a:t>3</a:t>
            </a:r>
            <a:r>
              <a:rPr lang="zh-CN" altLang="en-US" sz="4400" b="1" dirty="0">
                <a:latin typeface="黑体" panose="02010609060101010101" pitchFamily="49" charset="-122"/>
                <a:ea typeface="黑体" panose="02010609060101010101" pitchFamily="49" charset="-122"/>
              </a:rPr>
              <a:t>　纯物质的相图</a:t>
            </a:r>
            <a:r>
              <a:rPr lang="zh-CN" altLang="en-US" sz="4400" dirty="0">
                <a:latin typeface="Arial" panose="020B0604020202020204" pitchFamily="34" charset="0"/>
              </a:rPr>
              <a:t>  </a:t>
            </a:r>
            <a:endParaRPr lang="zh-CN" altLang="en-US" sz="4400" dirty="0">
              <a:latin typeface="Arial" panose="020B0604020202020204" pitchFamily="34" charset="0"/>
            </a:endParaRPr>
          </a:p>
        </p:txBody>
      </p:sp>
    </p:spTree>
  </p:cSld>
  <p:clrMapOvr>
    <a:masterClrMapping/>
  </p:clrMapOvr>
  <p:transition spd="slow"/>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6865" name="对象 272385"/>
          <p:cNvGraphicFramePr/>
          <p:nvPr/>
        </p:nvGraphicFramePr>
        <p:xfrm>
          <a:off x="3051175" y="3084205"/>
          <a:ext cx="2519363" cy="731838"/>
        </p:xfrm>
        <a:graphic>
          <a:graphicData uri="http://schemas.openxmlformats.org/presentationml/2006/ole">
            <mc:AlternateContent xmlns:mc="http://schemas.openxmlformats.org/markup-compatibility/2006">
              <mc:Choice xmlns:v="urn:schemas-microsoft-com:vml" Requires="v">
                <p:oleObj spid="_x0000_s12306" name="" r:id="rId1" imgW="888365" imgH="254000" progId="Equation.DSMT4">
                  <p:embed/>
                </p:oleObj>
              </mc:Choice>
              <mc:Fallback>
                <p:oleObj name="" r:id="rId1" imgW="888365" imgH="254000" progId="Equation.DSMT4">
                  <p:embed/>
                  <p:pic>
                    <p:nvPicPr>
                      <p:cNvPr id="0" name="对象 272385"/>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51175" y="3084205"/>
                        <a:ext cx="2519363" cy="731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6866" name="矩形 272386"/>
          <p:cNvSpPr>
            <a:spLocks noChangeArrowheads="1"/>
          </p:cNvSpPr>
          <p:nvPr/>
        </p:nvSpPr>
        <p:spPr bwMode="auto">
          <a:xfrm>
            <a:off x="664335" y="4209429"/>
            <a:ext cx="7704137" cy="1373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2800" b="1" dirty="0">
                <a:latin typeface="黑体" panose="02010609060101010101" pitchFamily="49" charset="-122"/>
                <a:ea typeface="黑体" panose="02010609060101010101" pitchFamily="49" charset="-122"/>
              </a:rPr>
              <a:t>由数学知识可知，满足上式的纯物质的所有平衡状态点在</a:t>
            </a:r>
            <a:r>
              <a:rPr lang="en-US" altLang="zh-CN" sz="2800" b="1" i="1" dirty="0">
                <a:latin typeface="Times New Roman" panose="02020603050405020304" pitchFamily="18" charset="0"/>
                <a:ea typeface="黑体" panose="02010609060101010101" pitchFamily="49" charset="-122"/>
              </a:rPr>
              <a:t>p</a:t>
            </a:r>
            <a:r>
              <a:rPr lang="zh-CN" altLang="en-US" sz="2800" b="1" dirty="0">
                <a:latin typeface="Times New Roman" panose="02020603050405020304" pitchFamily="18" charset="0"/>
                <a:ea typeface="黑体" panose="02010609060101010101" pitchFamily="49" charset="-122"/>
              </a:rPr>
              <a:t>、</a:t>
            </a:r>
            <a:r>
              <a:rPr lang="en-US" altLang="zh-CN" sz="2800" b="1" i="1" dirty="0">
                <a:latin typeface="Times New Roman" panose="02020603050405020304" pitchFamily="18" charset="0"/>
                <a:ea typeface="黑体" panose="02010609060101010101" pitchFamily="49" charset="-122"/>
              </a:rPr>
              <a:t>v</a:t>
            </a:r>
            <a:r>
              <a:rPr lang="zh-CN" altLang="en-US" sz="2800" b="1" dirty="0">
                <a:latin typeface="Times New Roman" panose="02020603050405020304" pitchFamily="18" charset="0"/>
                <a:ea typeface="黑体" panose="02010609060101010101" pitchFamily="49" charset="-122"/>
              </a:rPr>
              <a:t>、</a:t>
            </a:r>
            <a:r>
              <a:rPr lang="en-US" altLang="zh-CN" sz="2800" b="1" i="1" dirty="0">
                <a:latin typeface="Times New Roman" panose="02020603050405020304" pitchFamily="18" charset="0"/>
                <a:ea typeface="黑体" panose="02010609060101010101" pitchFamily="49" charset="-122"/>
              </a:rPr>
              <a:t>T</a:t>
            </a:r>
            <a:r>
              <a:rPr lang="zh-CN" altLang="en-US" sz="2800" b="1" dirty="0">
                <a:latin typeface="黑体" panose="02010609060101010101" pitchFamily="49" charset="-122"/>
                <a:ea typeface="黑体" panose="02010609060101010101" pitchFamily="49" charset="-122"/>
              </a:rPr>
              <a:t>三维坐标系中构成一个曲面，称为纯物质的</a:t>
            </a:r>
            <a:r>
              <a:rPr lang="en-US" altLang="zh-CN" sz="2800" b="1" i="1" dirty="0">
                <a:latin typeface="Times New Roman" panose="02020603050405020304" pitchFamily="18" charset="0"/>
                <a:ea typeface="黑体" panose="02010609060101010101" pitchFamily="49" charset="-122"/>
              </a:rPr>
              <a:t>p-v-T</a:t>
            </a:r>
            <a:r>
              <a:rPr lang="zh-CN" altLang="en-US" sz="2800" b="1" dirty="0">
                <a:latin typeface="黑体" panose="02010609060101010101" pitchFamily="49" charset="-122"/>
                <a:ea typeface="黑体" panose="02010609060101010101" pitchFamily="49" charset="-122"/>
              </a:rPr>
              <a:t>图</a:t>
            </a:r>
            <a:endParaRPr lang="zh-CN" altLang="en-US" sz="2800" b="1" dirty="0">
              <a:latin typeface="黑体" panose="02010609060101010101" pitchFamily="49" charset="-122"/>
              <a:ea typeface="黑体" panose="02010609060101010101" pitchFamily="49" charset="-122"/>
            </a:endParaRPr>
          </a:p>
        </p:txBody>
      </p:sp>
      <p:sp>
        <p:nvSpPr>
          <p:cNvPr id="36867" name="矩形 272388"/>
          <p:cNvSpPr>
            <a:spLocks noChangeArrowheads="1"/>
          </p:cNvSpPr>
          <p:nvPr/>
        </p:nvSpPr>
        <p:spPr bwMode="auto">
          <a:xfrm>
            <a:off x="0" y="52689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6868" name="矩形 272390"/>
          <p:cNvSpPr>
            <a:spLocks noChangeArrowheads="1"/>
          </p:cNvSpPr>
          <p:nvPr/>
        </p:nvSpPr>
        <p:spPr bwMode="auto">
          <a:xfrm>
            <a:off x="719931" y="1410529"/>
            <a:ext cx="7704137" cy="137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en-US" altLang="zh-CN" sz="2800" b="1" dirty="0">
                <a:latin typeface="Times New Roman" panose="02020603050405020304" pitchFamily="18" charset="0"/>
                <a:ea typeface="黑体" panose="02010609060101010101" pitchFamily="49" charset="-122"/>
                <a:cs typeface="Times New Roman" panose="02020603050405020304" pitchFamily="18" charset="0"/>
              </a:rPr>
              <a:t>9-1</a:t>
            </a:r>
            <a:r>
              <a:rPr lang="zh-CN" altLang="en-US" sz="2800" b="1" dirty="0">
                <a:latin typeface="黑体" panose="02010609060101010101" pitchFamily="49" charset="-122"/>
                <a:ea typeface="黑体" panose="02010609060101010101" pitchFamily="49" charset="-122"/>
              </a:rPr>
              <a:t>节中曾指出，对于纯物质组成的简单可压缩系统，平衡状态下的基本状态参数</a:t>
            </a:r>
            <a:r>
              <a:rPr lang="en-US" altLang="zh-CN" sz="2800" b="1" i="1" dirty="0">
                <a:latin typeface="Times New Roman" panose="02020603050405020304" pitchFamily="18" charset="0"/>
                <a:ea typeface="黑体" panose="02010609060101010101" pitchFamily="49" charset="-122"/>
              </a:rPr>
              <a:t>p</a:t>
            </a:r>
            <a:r>
              <a:rPr lang="zh-CN" altLang="en-US" sz="2800" b="1" dirty="0">
                <a:latin typeface="Times New Roman" panose="02020603050405020304" pitchFamily="18" charset="0"/>
                <a:ea typeface="黑体" panose="02010609060101010101" pitchFamily="49" charset="-122"/>
              </a:rPr>
              <a:t>、</a:t>
            </a:r>
            <a:r>
              <a:rPr lang="en-US" altLang="zh-CN" sz="2800" b="1" i="1" dirty="0">
                <a:latin typeface="Times New Roman" panose="02020603050405020304" pitchFamily="18" charset="0"/>
                <a:ea typeface="黑体" panose="02010609060101010101" pitchFamily="49" charset="-122"/>
              </a:rPr>
              <a:t>v</a:t>
            </a:r>
            <a:r>
              <a:rPr lang="zh-CN" altLang="en-US" sz="2800" b="1" dirty="0">
                <a:latin typeface="Times New Roman" panose="02020603050405020304" pitchFamily="18" charset="0"/>
                <a:ea typeface="黑体" panose="02010609060101010101" pitchFamily="49" charset="-122"/>
              </a:rPr>
              <a:t>、</a:t>
            </a:r>
            <a:r>
              <a:rPr lang="en-US" altLang="zh-CN" sz="2800" b="1" i="1" dirty="0">
                <a:latin typeface="Times New Roman" panose="02020603050405020304" pitchFamily="18" charset="0"/>
                <a:ea typeface="黑体" panose="02010609060101010101" pitchFamily="49" charset="-122"/>
              </a:rPr>
              <a:t>T</a:t>
            </a:r>
            <a:r>
              <a:rPr lang="zh-CN" altLang="en-US" sz="2800" b="1" dirty="0">
                <a:latin typeface="黑体" panose="02010609060101010101" pitchFamily="49" charset="-122"/>
                <a:ea typeface="黑体" panose="02010609060101010101" pitchFamily="49" charset="-122"/>
              </a:rPr>
              <a:t>之间的关系可以表示为</a:t>
            </a:r>
            <a:endParaRPr lang="zh-CN" altLang="en-US" sz="2800" b="1" dirty="0">
              <a:latin typeface="黑体" panose="02010609060101010101" pitchFamily="49" charset="-122"/>
              <a:ea typeface="黑体" panose="02010609060101010101" pitchFamily="49" charset="-122"/>
            </a:endParaRPr>
          </a:p>
        </p:txBody>
      </p:sp>
      <p:sp>
        <p:nvSpPr>
          <p:cNvPr id="36869" name="矩形 272391"/>
          <p:cNvSpPr>
            <a:spLocks noChangeArrowheads="1"/>
          </p:cNvSpPr>
          <p:nvPr/>
        </p:nvSpPr>
        <p:spPr bwMode="auto">
          <a:xfrm>
            <a:off x="611188" y="330270"/>
            <a:ext cx="2868093"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zh-CN" altLang="en-US" sz="4000" b="1" dirty="0">
                <a:latin typeface="Times New Roman" panose="02020603050405020304" pitchFamily="18" charset="0"/>
                <a:ea typeface="黑体" panose="02010609060101010101" pitchFamily="49" charset="-122"/>
              </a:rPr>
              <a:t>一</a:t>
            </a:r>
            <a:r>
              <a:rPr lang="zh-CN" altLang="en-US" sz="4000" b="1" dirty="0" smtClean="0">
                <a:latin typeface="Times New Roman" panose="02020603050405020304" pitchFamily="18" charset="0"/>
                <a:ea typeface="黑体" panose="02010609060101010101" pitchFamily="49" charset="-122"/>
              </a:rPr>
              <a:t>、</a:t>
            </a:r>
            <a:r>
              <a:rPr lang="en-US" altLang="zh-CN" sz="4000" b="1" i="1" dirty="0" smtClean="0">
                <a:latin typeface="Times New Roman" panose="02020603050405020304" pitchFamily="18" charset="0"/>
                <a:ea typeface="黑体" panose="02010609060101010101" pitchFamily="49" charset="-122"/>
              </a:rPr>
              <a:t>p-v-T</a:t>
            </a:r>
            <a:r>
              <a:rPr lang="zh-CN" altLang="en-US" sz="4000" b="1" dirty="0">
                <a:latin typeface="Times New Roman" panose="02020603050405020304" pitchFamily="18" charset="0"/>
                <a:ea typeface="黑体" panose="02010609060101010101" pitchFamily="49" charset="-122"/>
              </a:rPr>
              <a:t>图</a:t>
            </a:r>
            <a:endParaRPr lang="zh-CN" altLang="en-US" sz="4000" b="1" dirty="0">
              <a:latin typeface="Times New Roman" panose="02020603050405020304" pitchFamily="18" charset="0"/>
              <a:ea typeface="黑体" panose="02010609060101010101" pitchFamily="49" charset="-122"/>
            </a:endParaRPr>
          </a:p>
        </p:txBody>
      </p:sp>
    </p:spTree>
  </p:cSld>
  <p:clrMapOvr>
    <a:masterClrMapping/>
  </p:clrMapOvr>
  <p:transition spd="slow"/>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矩形 132100"/>
          <p:cNvSpPr>
            <a:spLocks noChangeArrowheads="1"/>
          </p:cNvSpPr>
          <p:nvPr/>
        </p:nvSpPr>
        <p:spPr bwMode="auto">
          <a:xfrm>
            <a:off x="0" y="18145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7891" name="矩形 132103"/>
          <p:cNvSpPr>
            <a:spLocks noChangeArrowheads="1"/>
          </p:cNvSpPr>
          <p:nvPr/>
        </p:nvSpPr>
        <p:spPr bwMode="auto">
          <a:xfrm>
            <a:off x="0" y="1790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7893" name="矩形 132104"/>
          <p:cNvSpPr>
            <a:spLocks noChangeArrowheads="1"/>
          </p:cNvSpPr>
          <p:nvPr/>
        </p:nvSpPr>
        <p:spPr bwMode="auto">
          <a:xfrm>
            <a:off x="395288" y="4868863"/>
            <a:ext cx="38163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400" b="1" dirty="0">
                <a:solidFill>
                  <a:srgbClr val="0000FF"/>
                </a:solidFill>
                <a:latin typeface="黑体" panose="02010609060101010101" pitchFamily="49" charset="-122"/>
                <a:ea typeface="黑体" panose="02010609060101010101" pitchFamily="49" charset="-122"/>
              </a:rPr>
              <a:t>凝固时体积收缩的物质</a:t>
            </a:r>
            <a:endParaRPr lang="zh-CN" altLang="en-US" sz="2400" b="1" dirty="0">
              <a:solidFill>
                <a:srgbClr val="0000FF"/>
              </a:solidFill>
              <a:latin typeface="黑体" panose="02010609060101010101" pitchFamily="49" charset="-122"/>
              <a:ea typeface="黑体" panose="02010609060101010101" pitchFamily="49" charset="-122"/>
            </a:endParaRPr>
          </a:p>
        </p:txBody>
      </p:sp>
      <p:sp>
        <p:nvSpPr>
          <p:cNvPr id="37894" name="矩形 132105"/>
          <p:cNvSpPr>
            <a:spLocks noChangeArrowheads="1"/>
          </p:cNvSpPr>
          <p:nvPr/>
        </p:nvSpPr>
        <p:spPr bwMode="auto">
          <a:xfrm>
            <a:off x="4427538" y="4868863"/>
            <a:ext cx="498085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b="1" dirty="0">
                <a:solidFill>
                  <a:srgbClr val="0000FF"/>
                </a:solidFill>
                <a:latin typeface="黑体" panose="02010609060101010101" pitchFamily="49" charset="-122"/>
                <a:ea typeface="黑体" panose="02010609060101010101" pitchFamily="49" charset="-122"/>
              </a:rPr>
              <a:t>凝固时体积膨胀的物质（例如水） </a:t>
            </a:r>
            <a:endParaRPr lang="zh-CN" altLang="en-US" sz="2400" b="1" dirty="0">
              <a:solidFill>
                <a:srgbClr val="0000FF"/>
              </a:solidFill>
              <a:latin typeface="黑体" panose="02010609060101010101" pitchFamily="49" charset="-122"/>
              <a:ea typeface="黑体" panose="02010609060101010101" pitchFamily="49" charset="-122"/>
            </a:endParaRPr>
          </a:p>
        </p:txBody>
      </p:sp>
      <p:sp>
        <p:nvSpPr>
          <p:cNvPr id="37895" name="矩形 132106"/>
          <p:cNvSpPr>
            <a:spLocks noChangeArrowheads="1"/>
          </p:cNvSpPr>
          <p:nvPr/>
        </p:nvSpPr>
        <p:spPr bwMode="auto">
          <a:xfrm>
            <a:off x="179388" y="5588000"/>
            <a:ext cx="878522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400" b="1" dirty="0">
                <a:ea typeface="黑体" panose="02010609060101010101" pitchFamily="49" charset="-122"/>
              </a:rPr>
              <a:t>图中气相区，有的地方是气体，有的地方是蒸气，为什么区分？（后面讲到“临界温度”概念时再解释）</a:t>
            </a:r>
            <a:endParaRPr lang="zh-CN" altLang="en-US" sz="2400" b="1" dirty="0">
              <a:ea typeface="黑体" panose="02010609060101010101" pitchFamily="49" charset="-122"/>
            </a:endParaRPr>
          </a:p>
        </p:txBody>
      </p:sp>
      <p:pic>
        <p:nvPicPr>
          <p:cNvPr id="4" name="图片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51981" y="671587"/>
            <a:ext cx="4102964" cy="3792041"/>
          </a:xfrm>
          <a:prstGeom prst="rect">
            <a:avLst/>
          </a:prstGeom>
        </p:spPr>
      </p:pic>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06926" y="618165"/>
            <a:ext cx="4249280" cy="3993226"/>
          </a:xfrm>
          <a:prstGeom prst="rect">
            <a:avLst/>
          </a:prstGeom>
        </p:spPr>
      </p:pic>
    </p:spTree>
  </p:cSld>
  <p:clrMapOvr>
    <a:masterClrMapping/>
  </p:clrMapOvr>
  <p:transition spd="slow"/>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文本占位符 273410"/>
          <p:cNvSpPr>
            <a:spLocks noGrp="1" noChangeArrowheads="1"/>
          </p:cNvSpPr>
          <p:nvPr>
            <p:ph idx="1"/>
          </p:nvPr>
        </p:nvSpPr>
        <p:spPr>
          <a:xfrm>
            <a:off x="468313" y="908050"/>
            <a:ext cx="8229600" cy="4525963"/>
          </a:xfrm>
        </p:spPr>
        <p:txBody>
          <a:bodyPr>
            <a:normAutofit/>
          </a:bodyPr>
          <a:lstStyle/>
          <a:p>
            <a:r>
              <a:rPr lang="zh-CN" altLang="en-US" sz="3200" b="1" dirty="0" smtClean="0">
                <a:latin typeface="Times New Roman" panose="02020603050405020304" pitchFamily="18" charset="0"/>
                <a:ea typeface="黑体" panose="02010609060101010101" pitchFamily="49" charset="-122"/>
              </a:rPr>
              <a:t>把</a:t>
            </a:r>
            <a:r>
              <a:rPr lang="en-US" altLang="zh-CN" sz="3200" b="1" i="1" dirty="0" smtClean="0">
                <a:latin typeface="Times New Roman" panose="02020603050405020304" pitchFamily="18" charset="0"/>
                <a:ea typeface="黑体" panose="02010609060101010101" pitchFamily="49" charset="-122"/>
              </a:rPr>
              <a:t>p</a:t>
            </a:r>
            <a:r>
              <a:rPr lang="en-US" altLang="zh-CN" sz="3200" b="1" dirty="0" smtClean="0">
                <a:latin typeface="Times New Roman" panose="02020603050405020304" pitchFamily="18" charset="0"/>
                <a:ea typeface="黑体" panose="02010609060101010101" pitchFamily="49" charset="-122"/>
              </a:rPr>
              <a:t>-</a:t>
            </a:r>
            <a:r>
              <a:rPr lang="en-US" altLang="zh-CN" sz="3200" b="1" i="1" dirty="0" smtClean="0">
                <a:latin typeface="Times New Roman" panose="02020603050405020304" pitchFamily="18" charset="0"/>
                <a:ea typeface="黑体" panose="02010609060101010101" pitchFamily="49" charset="-122"/>
              </a:rPr>
              <a:t>v</a:t>
            </a:r>
            <a:r>
              <a:rPr lang="en-US" altLang="zh-CN" sz="3200" b="1" dirty="0" smtClean="0">
                <a:latin typeface="Times New Roman" panose="02020603050405020304" pitchFamily="18" charset="0"/>
                <a:ea typeface="黑体" panose="02010609060101010101" pitchFamily="49" charset="-122"/>
              </a:rPr>
              <a:t>-</a:t>
            </a:r>
            <a:r>
              <a:rPr lang="en-US" altLang="zh-CN" sz="3200" b="1" i="1" dirty="0" smtClean="0">
                <a:latin typeface="Times New Roman" panose="02020603050405020304" pitchFamily="18" charset="0"/>
                <a:ea typeface="黑体" panose="02010609060101010101" pitchFamily="49" charset="-122"/>
              </a:rPr>
              <a:t>T</a:t>
            </a:r>
            <a:r>
              <a:rPr lang="zh-CN" altLang="en-US" sz="3200" b="1" dirty="0" smtClean="0">
                <a:latin typeface="Times New Roman" panose="02020603050405020304" pitchFamily="18" charset="0"/>
                <a:ea typeface="黑体" panose="02010609060101010101" pitchFamily="49" charset="-122"/>
              </a:rPr>
              <a:t>图分别投影到</a:t>
            </a:r>
            <a:r>
              <a:rPr lang="en-US" altLang="zh-CN" sz="3200" b="1" i="1" dirty="0" smtClean="0">
                <a:latin typeface="Times New Roman" panose="02020603050405020304" pitchFamily="18" charset="0"/>
                <a:ea typeface="黑体" panose="02010609060101010101" pitchFamily="49" charset="-122"/>
              </a:rPr>
              <a:t>T-v</a:t>
            </a:r>
            <a:r>
              <a:rPr lang="zh-CN" altLang="en-US" sz="3200" b="1" dirty="0" smtClean="0">
                <a:latin typeface="Times New Roman" panose="02020603050405020304" pitchFamily="18" charset="0"/>
                <a:ea typeface="黑体" panose="02010609060101010101" pitchFamily="49" charset="-122"/>
              </a:rPr>
              <a:t>面、</a:t>
            </a:r>
            <a:r>
              <a:rPr lang="en-US" altLang="zh-CN" sz="3200" b="1" i="1" dirty="0" smtClean="0">
                <a:latin typeface="Times New Roman" panose="02020603050405020304" pitchFamily="18" charset="0"/>
                <a:ea typeface="黑体" panose="02010609060101010101" pitchFamily="49" charset="-122"/>
              </a:rPr>
              <a:t>p-v</a:t>
            </a:r>
            <a:r>
              <a:rPr lang="zh-CN" altLang="en-US" sz="3200" b="1" dirty="0" smtClean="0">
                <a:latin typeface="Times New Roman" panose="02020603050405020304" pitchFamily="18" charset="0"/>
                <a:ea typeface="黑体" panose="02010609060101010101" pitchFamily="49" charset="-122"/>
              </a:rPr>
              <a:t>面和</a:t>
            </a:r>
            <a:r>
              <a:rPr lang="en-US" altLang="zh-CN" sz="3200" b="1" i="1" dirty="0" smtClean="0">
                <a:latin typeface="Times New Roman" panose="02020603050405020304" pitchFamily="18" charset="0"/>
                <a:ea typeface="黑体" panose="02010609060101010101" pitchFamily="49" charset="-122"/>
              </a:rPr>
              <a:t>p-T</a:t>
            </a:r>
            <a:r>
              <a:rPr lang="zh-CN" altLang="en-US" sz="3200" b="1" dirty="0" smtClean="0">
                <a:latin typeface="Times New Roman" panose="02020603050405020304" pitchFamily="18" charset="0"/>
                <a:ea typeface="黑体" panose="02010609060101010101" pitchFamily="49" charset="-122"/>
              </a:rPr>
              <a:t>面上，可以得到纯物质的</a:t>
            </a:r>
            <a:r>
              <a:rPr lang="en-US" altLang="zh-CN" sz="3200" b="1" i="1" dirty="0" smtClean="0">
                <a:latin typeface="Times New Roman" panose="02020603050405020304" pitchFamily="18" charset="0"/>
                <a:ea typeface="黑体" panose="02010609060101010101" pitchFamily="49" charset="-122"/>
              </a:rPr>
              <a:t>T-v</a:t>
            </a:r>
            <a:r>
              <a:rPr lang="zh-CN" altLang="en-US" sz="3200" b="1" dirty="0" smtClean="0">
                <a:latin typeface="Times New Roman" panose="02020603050405020304" pitchFamily="18" charset="0"/>
                <a:ea typeface="黑体" panose="02010609060101010101" pitchFamily="49" charset="-122"/>
              </a:rPr>
              <a:t>图、</a:t>
            </a:r>
            <a:r>
              <a:rPr lang="en-US" altLang="zh-CN" sz="3200" b="1" i="1" dirty="0" smtClean="0">
                <a:latin typeface="Times New Roman" panose="02020603050405020304" pitchFamily="18" charset="0"/>
                <a:ea typeface="黑体" panose="02010609060101010101" pitchFamily="49" charset="-122"/>
              </a:rPr>
              <a:t>p-v</a:t>
            </a:r>
            <a:r>
              <a:rPr lang="zh-CN" altLang="en-US" sz="3200" b="1" dirty="0" smtClean="0">
                <a:latin typeface="Times New Roman" panose="02020603050405020304" pitchFamily="18" charset="0"/>
                <a:ea typeface="黑体" panose="02010609060101010101" pitchFamily="49" charset="-122"/>
              </a:rPr>
              <a:t>图和</a:t>
            </a:r>
            <a:r>
              <a:rPr lang="en-US" altLang="zh-CN" sz="3200" b="1" i="1" dirty="0" smtClean="0">
                <a:latin typeface="Times New Roman" panose="02020603050405020304" pitchFamily="18" charset="0"/>
                <a:ea typeface="黑体" panose="02010609060101010101" pitchFamily="49" charset="-122"/>
              </a:rPr>
              <a:t>p-T</a:t>
            </a:r>
            <a:r>
              <a:rPr lang="zh-CN" altLang="en-US" sz="3200" b="1" dirty="0" smtClean="0">
                <a:latin typeface="Times New Roman" panose="02020603050405020304" pitchFamily="18" charset="0"/>
                <a:ea typeface="黑体" panose="02010609060101010101" pitchFamily="49" charset="-122"/>
              </a:rPr>
              <a:t>图三个二维</a:t>
            </a:r>
            <a:r>
              <a:rPr lang="zh-CN" altLang="en-US" sz="3200" b="1" dirty="0" smtClean="0">
                <a:latin typeface="Times New Roman" panose="02020603050405020304" pitchFamily="18" charset="0"/>
                <a:ea typeface="黑体" panose="02010609060101010101" pitchFamily="49" charset="-122"/>
              </a:rPr>
              <a:t>图</a:t>
            </a:r>
            <a:endParaRPr lang="zh-CN" altLang="en-US" sz="3200" b="1" dirty="0" smtClean="0">
              <a:latin typeface="Times New Roman" panose="02020603050405020304" pitchFamily="18" charset="0"/>
              <a:ea typeface="黑体" panose="02010609060101010101" pitchFamily="49" charset="-122"/>
            </a:endParaRPr>
          </a:p>
          <a:p>
            <a:r>
              <a:rPr lang="zh-CN" altLang="en-US" sz="3200" b="1" dirty="0" smtClean="0">
                <a:latin typeface="Times New Roman" panose="02020603050405020304" pitchFamily="18" charset="0"/>
                <a:ea typeface="黑体" panose="02010609060101010101" pitchFamily="49" charset="-122"/>
              </a:rPr>
              <a:t>虽然从</a:t>
            </a:r>
            <a:r>
              <a:rPr lang="en-US" altLang="zh-CN" sz="3200" b="1" i="1" dirty="0" smtClean="0">
                <a:latin typeface="Times New Roman" panose="02020603050405020304" pitchFamily="18" charset="0"/>
                <a:ea typeface="黑体" panose="02010609060101010101" pitchFamily="49" charset="-122"/>
              </a:rPr>
              <a:t>p</a:t>
            </a:r>
            <a:r>
              <a:rPr lang="en-US" altLang="zh-CN" sz="3200" b="1" dirty="0" smtClean="0">
                <a:latin typeface="Times New Roman" panose="02020603050405020304" pitchFamily="18" charset="0"/>
                <a:ea typeface="黑体" panose="02010609060101010101" pitchFamily="49" charset="-122"/>
              </a:rPr>
              <a:t>-</a:t>
            </a:r>
            <a:r>
              <a:rPr lang="en-US" altLang="zh-CN" sz="3200" b="1" i="1" dirty="0" smtClean="0">
                <a:latin typeface="Times New Roman" panose="02020603050405020304" pitchFamily="18" charset="0"/>
                <a:ea typeface="黑体" panose="02010609060101010101" pitchFamily="49" charset="-122"/>
              </a:rPr>
              <a:t>v</a:t>
            </a:r>
            <a:r>
              <a:rPr lang="en-US" altLang="zh-CN" sz="3200" b="1" dirty="0" smtClean="0">
                <a:latin typeface="Times New Roman" panose="02020603050405020304" pitchFamily="18" charset="0"/>
                <a:ea typeface="黑体" panose="02010609060101010101" pitchFamily="49" charset="-122"/>
              </a:rPr>
              <a:t>-</a:t>
            </a:r>
            <a:r>
              <a:rPr lang="en-US" altLang="zh-CN" sz="3200" b="1" i="1" dirty="0" smtClean="0">
                <a:latin typeface="Times New Roman" panose="02020603050405020304" pitchFamily="18" charset="0"/>
                <a:ea typeface="黑体" panose="02010609060101010101" pitchFamily="49" charset="-122"/>
              </a:rPr>
              <a:t>T</a:t>
            </a:r>
            <a:r>
              <a:rPr lang="zh-CN" altLang="en-US" sz="3200" b="1" dirty="0" smtClean="0">
                <a:latin typeface="Times New Roman" panose="02020603050405020304" pitchFamily="18" charset="0"/>
                <a:ea typeface="黑体" panose="02010609060101010101" pitchFamily="49" charset="-122"/>
              </a:rPr>
              <a:t>图上可以清晰地看到纯物质在不同的参数范围内所呈现出的相（气、液、固）以及它们之间的转变过程，但在热力学分析中二维状态图更为方便</a:t>
            </a:r>
            <a:endParaRPr lang="zh-CN" altLang="en-US" sz="3200" b="1" dirty="0" smtClean="0">
              <a:latin typeface="Times New Roman" panose="02020603050405020304" pitchFamily="18" charset="0"/>
              <a:ea typeface="黑体" panose="02010609060101010101" pitchFamily="49" charset="-122"/>
            </a:endParaRPr>
          </a:p>
          <a:p>
            <a:r>
              <a:rPr lang="zh-CN" altLang="en-US" sz="3200" b="1" dirty="0" smtClean="0">
                <a:latin typeface="Times New Roman" panose="02020603050405020304" pitchFamily="18" charset="0"/>
                <a:ea typeface="黑体" panose="02010609060101010101" pitchFamily="49" charset="-122"/>
              </a:rPr>
              <a:t>下面对这三个二维图分别进行讨论 </a:t>
            </a:r>
            <a:endParaRPr lang="zh-CN" altLang="en-US" sz="3200" b="1" dirty="0" smtClean="0">
              <a:latin typeface="Times New Roman" panose="02020603050405020304" pitchFamily="18" charset="0"/>
              <a:ea typeface="黑体" panose="02010609060101010101" pitchFamily="49" charset="-122"/>
            </a:endParaRPr>
          </a:p>
        </p:txBody>
      </p:sp>
    </p:spTree>
  </p:cSld>
  <p:clrMapOvr>
    <a:masterClrMapping/>
  </p:clrMapOvr>
  <p:transition spd="slow"/>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9937" name="对象 232449"/>
          <p:cNvGraphicFramePr>
            <a:graphicFrameLocks noChangeAspect="1"/>
          </p:cNvGraphicFramePr>
          <p:nvPr/>
        </p:nvGraphicFramePr>
        <p:xfrm>
          <a:off x="107950" y="1052513"/>
          <a:ext cx="7848600" cy="5138737"/>
        </p:xfrm>
        <a:graphic>
          <a:graphicData uri="http://schemas.openxmlformats.org/presentationml/2006/ole">
            <mc:AlternateContent xmlns:mc="http://schemas.openxmlformats.org/markup-compatibility/2006">
              <mc:Choice xmlns:v="urn:schemas-microsoft-com:vml" Requires="v">
                <p:oleObj spid="_x0000_s14354" name="BMP 图像" r:id="rId1" imgW="7334250" imgH="4800600" progId="Paint.Picture">
                  <p:embed/>
                </p:oleObj>
              </mc:Choice>
              <mc:Fallback>
                <p:oleObj name="BMP 图像" r:id="rId1" imgW="7334250" imgH="4800600" progId="Paint.Picture">
                  <p:embed/>
                  <p:pic>
                    <p:nvPicPr>
                      <p:cNvPr id="0" name="对象 23244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950" y="1052513"/>
                        <a:ext cx="7848600" cy="5138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9938" name="文本框 232450"/>
          <p:cNvSpPr txBox="1">
            <a:spLocks noChangeArrowheads="1"/>
          </p:cNvSpPr>
          <p:nvPr/>
        </p:nvSpPr>
        <p:spPr bwMode="auto">
          <a:xfrm>
            <a:off x="1763713" y="476250"/>
            <a:ext cx="55975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800" b="1">
                <a:latin typeface="Times New Roman" panose="02020603050405020304" pitchFamily="18" charset="0"/>
                <a:ea typeface="楷体_GB2312" pitchFamily="49" charset="-122"/>
              </a:rPr>
              <a:t>纯物质的</a:t>
            </a:r>
            <a:r>
              <a:rPr lang="en-US" altLang="zh-CN" sz="2800" b="1" i="1">
                <a:latin typeface="Times New Roman" panose="02020603050405020304" pitchFamily="18" charset="0"/>
                <a:ea typeface="楷体_GB2312" pitchFamily="49" charset="-122"/>
              </a:rPr>
              <a:t>p-v-T</a:t>
            </a:r>
            <a:r>
              <a:rPr lang="zh-CN" altLang="en-US" sz="2800" b="1">
                <a:latin typeface="Times New Roman" panose="02020603050405020304" pitchFamily="18" charset="0"/>
                <a:ea typeface="楷体_GB2312" pitchFamily="49" charset="-122"/>
              </a:rPr>
              <a:t>图在三个平面的投影</a:t>
            </a:r>
            <a:endParaRPr lang="zh-CN" altLang="en-US" sz="2800" b="1">
              <a:latin typeface="Times New Roman" panose="02020603050405020304" pitchFamily="18" charset="0"/>
              <a:ea typeface="楷体_GB2312" pitchFamily="49" charset="-122"/>
            </a:endParaRPr>
          </a:p>
        </p:txBody>
      </p:sp>
      <p:sp>
        <p:nvSpPr>
          <p:cNvPr id="6" name="矩形 132104"/>
          <p:cNvSpPr>
            <a:spLocks noChangeArrowheads="1"/>
          </p:cNvSpPr>
          <p:nvPr/>
        </p:nvSpPr>
        <p:spPr bwMode="auto">
          <a:xfrm>
            <a:off x="5718686" y="6087327"/>
            <a:ext cx="61438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b="1" i="1" dirty="0" smtClean="0">
                <a:latin typeface="Times New Roman" panose="02020603050405020304" pitchFamily="18" charset="0"/>
                <a:cs typeface="Times New Roman" panose="02020603050405020304" pitchFamily="18" charset="0"/>
              </a:rPr>
              <a:t>V</a:t>
            </a:r>
            <a:endParaRPr lang="zh-CN" altLang="en-US" b="1" i="1" dirty="0">
              <a:latin typeface="Times New Roman" panose="02020603050405020304" pitchFamily="18" charset="0"/>
              <a:cs typeface="Times New Roman" panose="02020603050405020304" pitchFamily="18" charset="0"/>
            </a:endParaRPr>
          </a:p>
        </p:txBody>
      </p:sp>
    </p:spTree>
  </p:cSld>
  <p:clrMapOvr>
    <a:masterClrMapping/>
  </p:clrMapOvr>
  <p:transition spd="slow"/>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矩形 133123"/>
          <p:cNvSpPr>
            <a:spLocks noChangeArrowheads="1"/>
          </p:cNvSpPr>
          <p:nvPr/>
        </p:nvSpPr>
        <p:spPr bwMode="auto">
          <a:xfrm>
            <a:off x="539750" y="765175"/>
            <a:ext cx="8137525" cy="137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把</a:t>
            </a:r>
            <a:r>
              <a:rPr lang="en-US" altLang="zh-CN" sz="2800" b="1" i="1" dirty="0">
                <a:latin typeface="Times New Roman" panose="02020603050405020304" pitchFamily="18" charset="0"/>
                <a:ea typeface="黑体" panose="02010609060101010101" pitchFamily="49" charset="-122"/>
                <a:cs typeface="Times New Roman" panose="02020603050405020304" pitchFamily="18" charset="0"/>
              </a:rPr>
              <a:t>p</a:t>
            </a:r>
            <a:r>
              <a:rPr lang="en-US" altLang="zh-CN" sz="2800" b="1"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2800" b="1" i="1" dirty="0">
                <a:latin typeface="Times New Roman" panose="02020603050405020304" pitchFamily="18" charset="0"/>
                <a:ea typeface="黑体" panose="02010609060101010101" pitchFamily="49" charset="-122"/>
                <a:cs typeface="Times New Roman" panose="02020603050405020304" pitchFamily="18" charset="0"/>
              </a:rPr>
              <a:t>v</a:t>
            </a:r>
            <a:r>
              <a:rPr lang="en-US" altLang="zh-CN" sz="2800" b="1"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2800" b="1" i="1" dirty="0">
                <a:latin typeface="Times New Roman" panose="02020603050405020304" pitchFamily="18" charset="0"/>
                <a:ea typeface="黑体" panose="02010609060101010101" pitchFamily="49" charset="-122"/>
                <a:cs typeface="Times New Roman" panose="02020603050405020304" pitchFamily="18" charset="0"/>
              </a:rPr>
              <a:t>T</a:t>
            </a: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图投影到</a:t>
            </a:r>
            <a:r>
              <a:rPr lang="en-US" altLang="zh-CN" sz="2800" b="1" i="1" dirty="0">
                <a:latin typeface="Times New Roman" panose="02020603050405020304" pitchFamily="18" charset="0"/>
                <a:ea typeface="黑体" panose="02010609060101010101" pitchFamily="49" charset="-122"/>
                <a:cs typeface="Times New Roman" panose="02020603050405020304" pitchFamily="18" charset="0"/>
              </a:rPr>
              <a:t>T-v</a:t>
            </a: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面上即可得到</a:t>
            </a:r>
            <a:r>
              <a:rPr lang="en-US" altLang="zh-CN" sz="2800" b="1" i="1" dirty="0">
                <a:latin typeface="Times New Roman" panose="02020603050405020304" pitchFamily="18" charset="0"/>
                <a:ea typeface="黑体" panose="02010609060101010101" pitchFamily="49" charset="-122"/>
                <a:cs typeface="Times New Roman" panose="02020603050405020304" pitchFamily="18" charset="0"/>
              </a:rPr>
              <a:t>T-v</a:t>
            </a: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图</a:t>
            </a:r>
            <a:endParaRPr lang="zh-CN" altLang="en-US" sz="2800" b="1" dirty="0">
              <a:latin typeface="Times New Roman" panose="02020603050405020304" pitchFamily="18" charset="0"/>
              <a:ea typeface="黑体" panose="02010609060101010101" pitchFamily="49" charset="-122"/>
              <a:cs typeface="Times New Roman" panose="02020603050405020304" pitchFamily="18" charset="0"/>
            </a:endParaRPr>
          </a:p>
          <a:p>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这里先仅考虑液相、气相和液</a:t>
            </a:r>
            <a:r>
              <a:rPr lang="en-US" altLang="zh-CN" sz="2800" b="1" dirty="0">
                <a:latin typeface="Times New Roman" panose="02020603050405020304" pitchFamily="18" charset="0"/>
                <a:ea typeface="黑体" panose="02010609060101010101" pitchFamily="49" charset="-122"/>
                <a:cs typeface="Times New Roman" panose="02020603050405020304" pitchFamily="18" charset="0"/>
              </a:rPr>
              <a:t>-</a:t>
            </a: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气两相平衡区域，不涉及固相区域</a:t>
            </a:r>
            <a:r>
              <a:rPr lang="zh-CN" altLang="en-US" dirty="0">
                <a:latin typeface="Times New Roman" panose="02020603050405020304" pitchFamily="18" charset="0"/>
                <a:ea typeface="黑体" panose="02010609060101010101" pitchFamily="49" charset="-122"/>
                <a:cs typeface="Times New Roman" panose="02020603050405020304" pitchFamily="18" charset="0"/>
              </a:rPr>
              <a:t>  </a:t>
            </a:r>
            <a:endParaRPr lang="zh-CN" altLang="en-US"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40962" name="矩形 133124"/>
          <p:cNvSpPr>
            <a:spLocks noChangeArrowheads="1"/>
          </p:cNvSpPr>
          <p:nvPr/>
        </p:nvSpPr>
        <p:spPr bwMode="auto">
          <a:xfrm>
            <a:off x="395288" y="115888"/>
            <a:ext cx="496887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3600" b="1" dirty="0">
                <a:latin typeface="Times New Roman" panose="02020603050405020304" pitchFamily="18" charset="0"/>
                <a:ea typeface="黑体" panose="02010609060101010101" pitchFamily="49" charset="-122"/>
              </a:rPr>
              <a:t>二</a:t>
            </a:r>
            <a:r>
              <a:rPr lang="zh-CN" altLang="en-US" sz="3600" b="1" dirty="0" smtClean="0">
                <a:latin typeface="Times New Roman" panose="02020603050405020304" pitchFamily="18" charset="0"/>
                <a:ea typeface="黑体" panose="02010609060101010101" pitchFamily="49" charset="-122"/>
              </a:rPr>
              <a:t>、</a:t>
            </a:r>
            <a:r>
              <a:rPr lang="en-US" altLang="zh-CN" sz="3600" b="1" i="1" dirty="0" smtClean="0">
                <a:latin typeface="Times New Roman" panose="02020603050405020304" pitchFamily="18" charset="0"/>
                <a:ea typeface="黑体" panose="02010609060101010101" pitchFamily="49" charset="-122"/>
              </a:rPr>
              <a:t>T-v</a:t>
            </a:r>
            <a:r>
              <a:rPr lang="zh-CN" altLang="en-US" sz="3600" b="1" dirty="0">
                <a:latin typeface="Times New Roman" panose="02020603050405020304" pitchFamily="18" charset="0"/>
                <a:ea typeface="黑体" panose="02010609060101010101" pitchFamily="49" charset="-122"/>
              </a:rPr>
              <a:t>图</a:t>
            </a:r>
            <a:endParaRPr lang="zh-CN" altLang="en-US" sz="3600" b="1" dirty="0">
              <a:latin typeface="Times New Roman" panose="02020603050405020304" pitchFamily="18" charset="0"/>
              <a:ea typeface="黑体" panose="02010609060101010101" pitchFamily="49" charset="-122"/>
            </a:endParaRPr>
          </a:p>
        </p:txBody>
      </p:sp>
      <p:sp>
        <p:nvSpPr>
          <p:cNvPr id="40963" name="矩形 133126"/>
          <p:cNvSpPr>
            <a:spLocks noChangeArrowheads="1"/>
          </p:cNvSpPr>
          <p:nvPr/>
        </p:nvSpPr>
        <p:spPr bwMode="auto">
          <a:xfrm>
            <a:off x="0" y="20955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0966" name="矩形 133130"/>
          <p:cNvSpPr>
            <a:spLocks noChangeArrowheads="1"/>
          </p:cNvSpPr>
          <p:nvPr/>
        </p:nvSpPr>
        <p:spPr bwMode="auto">
          <a:xfrm>
            <a:off x="3280672" y="5716324"/>
            <a:ext cx="5327650" cy="830997"/>
          </a:xfrm>
          <a:prstGeom prst="rect">
            <a:avLst/>
          </a:prstGeom>
          <a:noFill/>
          <a:ln w="25400">
            <a:solidFill>
              <a:schemeClr val="hlink"/>
            </a:solidFill>
            <a:miter lim="800000"/>
          </a:ln>
          <a:extLst>
            <a:ext uri="{909E8E84-426E-40DD-AFC4-6F175D3DCCD1}">
              <a14:hiddenFill xmlns:a14="http://schemas.microsoft.com/office/drawing/2010/main">
                <a:solidFill>
                  <a:srgbClr val="FFFFFF"/>
                </a:solidFill>
              </a14:hiddenFill>
            </a:ext>
          </a:extLst>
        </p:spPr>
        <p:txBody>
          <a:bodyPr anchor="ctr">
            <a:spAutoFit/>
          </a:bodyPr>
          <a:lstStyle/>
          <a:p>
            <a:r>
              <a:rPr lang="zh-CN" altLang="en-US" sz="2400" b="1" dirty="0">
                <a:latin typeface="黑体" panose="02010609060101010101" pitchFamily="49" charset="-122"/>
                <a:ea typeface="黑体" panose="02010609060101010101" pitchFamily="49" charset="-122"/>
              </a:rPr>
              <a:t>定压线</a:t>
            </a:r>
            <a:r>
              <a:rPr lang="en-US" altLang="zh-CN" sz="2400" b="1" dirty="0">
                <a:latin typeface="Times New Roman" panose="02020603050405020304" pitchFamily="18" charset="0"/>
                <a:ea typeface="黑体" panose="02010609060101010101" pitchFamily="49" charset="-122"/>
              </a:rPr>
              <a:t>——</a:t>
            </a:r>
            <a:r>
              <a:rPr lang="zh-CN" altLang="en-US" sz="2400" b="1" dirty="0">
                <a:latin typeface="黑体" panose="02010609060101010101" pitchFamily="49" charset="-122"/>
                <a:ea typeface="黑体" panose="02010609060101010101" pitchFamily="49" charset="-122"/>
              </a:rPr>
              <a:t>液相斜率大，较为陡峭；</a:t>
            </a:r>
            <a:endParaRPr lang="zh-CN" altLang="en-US" sz="2400" b="1" dirty="0">
              <a:latin typeface="黑体" panose="02010609060101010101" pitchFamily="49" charset="-122"/>
              <a:ea typeface="黑体" panose="02010609060101010101" pitchFamily="49" charset="-122"/>
            </a:endParaRPr>
          </a:p>
          <a:p>
            <a:r>
              <a:rPr lang="zh-CN" altLang="en-US" sz="2400" b="1" dirty="0">
                <a:latin typeface="黑体" panose="02010609060101010101" pitchFamily="49" charset="-122"/>
                <a:ea typeface="黑体" panose="02010609060101010101" pitchFamily="49" charset="-122"/>
              </a:rPr>
              <a:t>          气相斜率小，较为平缓 </a:t>
            </a:r>
            <a:endParaRPr lang="zh-CN" altLang="en-US" sz="2400" b="1" dirty="0">
              <a:latin typeface="黑体" panose="02010609060101010101" pitchFamily="49" charset="-122"/>
              <a:ea typeface="黑体" panose="02010609060101010101" pitchFamily="49" charset="-122"/>
            </a:endParaRPr>
          </a:p>
        </p:txBody>
      </p:sp>
      <p:pic>
        <p:nvPicPr>
          <p:cNvPr id="2" name="图片 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47594" y="2251212"/>
            <a:ext cx="3956647" cy="3654869"/>
          </a:xfrm>
          <a:prstGeom prst="rect">
            <a:avLst/>
          </a:prstGeom>
        </p:spPr>
      </p:pic>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82728" y="2183056"/>
            <a:ext cx="4322439" cy="3304318"/>
          </a:xfrm>
          <a:prstGeom prst="rect">
            <a:avLst/>
          </a:prstGeom>
        </p:spPr>
      </p:pic>
    </p:spTree>
  </p:cSld>
  <p:clrMapOvr>
    <a:masterClrMapping/>
  </p:clrMapOvr>
  <p:transition spd="slow"/>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521348" y="137407"/>
            <a:ext cx="6120914" cy="3468925"/>
          </a:xfrm>
          <a:prstGeom prst="rect">
            <a:avLst/>
          </a:prstGeom>
        </p:spPr>
      </p:pic>
      <p:sp>
        <p:nvSpPr>
          <p:cNvPr id="41987" name="矩形 168964"/>
          <p:cNvSpPr>
            <a:spLocks noChangeArrowheads="1"/>
          </p:cNvSpPr>
          <p:nvPr/>
        </p:nvSpPr>
        <p:spPr bwMode="auto">
          <a:xfrm>
            <a:off x="1302371" y="3657600"/>
            <a:ext cx="2693159"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r>
              <a:rPr lang="zh-CN" altLang="en-US" sz="2400" b="1"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水定压加热过程的</a:t>
            </a:r>
            <a:r>
              <a:rPr lang="en-US" altLang="zh-CN" sz="2400" b="1" i="1"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T-v</a:t>
            </a:r>
            <a:r>
              <a:rPr lang="zh-CN" altLang="en-US" sz="2400" b="1"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图和三个阶段</a:t>
            </a:r>
            <a:r>
              <a:rPr lang="zh-CN" altLang="en-US" sz="24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 </a:t>
            </a:r>
            <a:endParaRPr lang="zh-CN" altLang="en-US" sz="24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6208" y="3470750"/>
            <a:ext cx="4395597" cy="3158002"/>
          </a:xfrm>
          <a:prstGeom prst="rect">
            <a:avLst/>
          </a:prstGeom>
        </p:spPr>
      </p:pic>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83284" y="3513819"/>
            <a:ext cx="3859102" cy="2944623"/>
          </a:xfrm>
          <a:prstGeom prst="rect">
            <a:avLst/>
          </a:prstGeom>
        </p:spPr>
      </p:pic>
    </p:spTree>
  </p:cSld>
  <p:clrMapOvr>
    <a:masterClrMapping/>
  </p:clrMapOvr>
  <p:transition spd="slow"/>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文本占位符 134146"/>
          <p:cNvSpPr>
            <a:spLocks noGrp="1" noChangeArrowheads="1"/>
          </p:cNvSpPr>
          <p:nvPr>
            <p:ph idx="1"/>
          </p:nvPr>
        </p:nvSpPr>
        <p:spPr>
          <a:xfrm>
            <a:off x="468313" y="333375"/>
            <a:ext cx="8229600" cy="4525963"/>
          </a:xfrm>
        </p:spPr>
        <p:txBody>
          <a:bodyPr/>
          <a:lstStyle/>
          <a:p>
            <a:pPr>
              <a:lnSpc>
                <a:spcPct val="90000"/>
              </a:lnSpc>
            </a:pPr>
            <a:r>
              <a:rPr lang="zh-CN" altLang="en-US" sz="2600" b="1" dirty="0" smtClean="0">
                <a:latin typeface="Times New Roman" panose="02020603050405020304" pitchFamily="18" charset="0"/>
                <a:ea typeface="黑体" panose="02010609060101010101" pitchFamily="49" charset="-122"/>
              </a:rPr>
              <a:t>压力不断提高，水平线越来越短，当压力达到</a:t>
            </a:r>
            <a:r>
              <a:rPr lang="en-US" altLang="zh-CN" sz="2600" b="1" dirty="0" smtClean="0">
                <a:latin typeface="Times New Roman" panose="02020603050405020304" pitchFamily="18" charset="0"/>
                <a:ea typeface="黑体" panose="02010609060101010101" pitchFamily="49" charset="-122"/>
              </a:rPr>
              <a:t>22.09 MPa</a:t>
            </a:r>
            <a:r>
              <a:rPr lang="zh-CN" altLang="en-US" sz="2600" b="1" dirty="0" smtClean="0">
                <a:latin typeface="Times New Roman" panose="02020603050405020304" pitchFamily="18" charset="0"/>
                <a:ea typeface="黑体" panose="02010609060101010101" pitchFamily="49" charset="-122"/>
              </a:rPr>
              <a:t>时，水平线缩短为一个点，该点称为</a:t>
            </a:r>
            <a:r>
              <a:rPr lang="zh-CN" altLang="en-US" sz="2600" b="1" dirty="0" smtClean="0">
                <a:solidFill>
                  <a:srgbClr val="FF0000"/>
                </a:solidFill>
                <a:latin typeface="Times New Roman" panose="02020603050405020304" pitchFamily="18" charset="0"/>
                <a:ea typeface="黑体" panose="02010609060101010101" pitchFamily="49" charset="-122"/>
              </a:rPr>
              <a:t>临界点</a:t>
            </a:r>
            <a:r>
              <a:rPr lang="zh-CN" altLang="en-US" sz="2600" b="1" dirty="0" smtClean="0">
                <a:latin typeface="Times New Roman" panose="02020603050405020304" pitchFamily="18" charset="0"/>
                <a:ea typeface="黑体" panose="02010609060101010101" pitchFamily="49" charset="-122"/>
              </a:rPr>
              <a:t>，在此点上饱和水和干饱和水蒸气不再有区别</a:t>
            </a:r>
            <a:endParaRPr lang="zh-CN" altLang="en-US" sz="2600" b="1" dirty="0" smtClean="0">
              <a:latin typeface="Times New Roman" panose="02020603050405020304" pitchFamily="18" charset="0"/>
              <a:ea typeface="黑体" panose="02010609060101010101" pitchFamily="49" charset="-122"/>
            </a:endParaRPr>
          </a:p>
          <a:p>
            <a:pPr>
              <a:lnSpc>
                <a:spcPct val="90000"/>
              </a:lnSpc>
            </a:pPr>
            <a:r>
              <a:rPr lang="zh-CN" altLang="en-US" sz="2600" b="1" dirty="0" smtClean="0">
                <a:latin typeface="Times New Roman" panose="02020603050405020304" pitchFamily="18" charset="0"/>
                <a:ea typeface="黑体" panose="02010609060101010101" pitchFamily="49" charset="-122"/>
              </a:rPr>
              <a:t>物质位于临界点时的温度、压力和比体积分别称为临界温度（</a:t>
            </a:r>
            <a:r>
              <a:rPr lang="en-US" altLang="zh-CN" sz="2600" b="1" i="1" dirty="0" err="1" smtClean="0">
                <a:latin typeface="Times New Roman" panose="02020603050405020304" pitchFamily="18" charset="0"/>
                <a:ea typeface="黑体" panose="02010609060101010101" pitchFamily="49" charset="-122"/>
              </a:rPr>
              <a:t>T</a:t>
            </a:r>
            <a:r>
              <a:rPr lang="en-US" altLang="zh-CN" sz="2600" b="1" baseline="-25000" dirty="0" err="1" smtClean="0">
                <a:latin typeface="Times New Roman" panose="02020603050405020304" pitchFamily="18" charset="0"/>
                <a:ea typeface="黑体" panose="02010609060101010101" pitchFamily="49" charset="-122"/>
              </a:rPr>
              <a:t>cr</a:t>
            </a:r>
            <a:r>
              <a:rPr lang="zh-CN" altLang="en-US" sz="2600" b="1" dirty="0" smtClean="0">
                <a:latin typeface="Times New Roman" panose="02020603050405020304" pitchFamily="18" charset="0"/>
                <a:ea typeface="黑体" panose="02010609060101010101" pitchFamily="49" charset="-122"/>
              </a:rPr>
              <a:t>），临界压力（</a:t>
            </a:r>
            <a:r>
              <a:rPr lang="en-US" altLang="zh-CN" sz="2600" b="1" i="1" dirty="0" err="1" smtClean="0">
                <a:latin typeface="Times New Roman" panose="02020603050405020304" pitchFamily="18" charset="0"/>
                <a:ea typeface="黑体" panose="02010609060101010101" pitchFamily="49" charset="-122"/>
              </a:rPr>
              <a:t>p</a:t>
            </a:r>
            <a:r>
              <a:rPr lang="en-US" altLang="zh-CN" sz="2600" b="1" baseline="-25000" dirty="0" err="1" smtClean="0">
                <a:latin typeface="Times New Roman" panose="02020603050405020304" pitchFamily="18" charset="0"/>
                <a:ea typeface="黑体" panose="02010609060101010101" pitchFamily="49" charset="-122"/>
              </a:rPr>
              <a:t>cr</a:t>
            </a:r>
            <a:r>
              <a:rPr lang="zh-CN" altLang="en-US" sz="2600" b="1" dirty="0" smtClean="0">
                <a:latin typeface="Times New Roman" panose="02020603050405020304" pitchFamily="18" charset="0"/>
                <a:ea typeface="黑体" panose="02010609060101010101" pitchFamily="49" charset="-122"/>
              </a:rPr>
              <a:t>）和临界比体积（</a:t>
            </a:r>
            <a:r>
              <a:rPr lang="en-US" altLang="zh-CN" sz="2600" b="1" i="1" dirty="0" err="1" smtClean="0">
                <a:latin typeface="Times New Roman" panose="02020603050405020304" pitchFamily="18" charset="0"/>
                <a:ea typeface="黑体" panose="02010609060101010101" pitchFamily="49" charset="-122"/>
              </a:rPr>
              <a:t>v</a:t>
            </a:r>
            <a:r>
              <a:rPr lang="en-US" altLang="zh-CN" sz="2600" b="1" baseline="-25000" dirty="0" err="1" smtClean="0">
                <a:latin typeface="Times New Roman" panose="02020603050405020304" pitchFamily="18" charset="0"/>
                <a:ea typeface="黑体" panose="02010609060101010101" pitchFamily="49" charset="-122"/>
              </a:rPr>
              <a:t>cr</a:t>
            </a:r>
            <a:r>
              <a:rPr lang="zh-CN" altLang="en-US" sz="2600" b="1" dirty="0" smtClean="0">
                <a:latin typeface="Times New Roman" panose="02020603050405020304" pitchFamily="18" charset="0"/>
                <a:ea typeface="黑体" panose="02010609060101010101" pitchFamily="49" charset="-122"/>
              </a:rPr>
              <a:t>），下标“</a:t>
            </a:r>
            <a:r>
              <a:rPr lang="en-US" altLang="zh-CN" sz="2600" b="1" dirty="0" err="1" smtClean="0">
                <a:latin typeface="Times New Roman" panose="02020603050405020304" pitchFamily="18" charset="0"/>
                <a:ea typeface="黑体" panose="02010609060101010101" pitchFamily="49" charset="-122"/>
              </a:rPr>
              <a:t>cr</a:t>
            </a:r>
            <a:r>
              <a:rPr lang="en-US" altLang="zh-CN" sz="2600" b="1" dirty="0" smtClean="0">
                <a:latin typeface="Times New Roman" panose="02020603050405020304" pitchFamily="18" charset="0"/>
                <a:ea typeface="黑体" panose="02010609060101010101" pitchFamily="49" charset="-122"/>
              </a:rPr>
              <a:t>”</a:t>
            </a:r>
            <a:r>
              <a:rPr lang="zh-CN" altLang="en-US" sz="2600" b="1" dirty="0" smtClean="0">
                <a:latin typeface="Times New Roman" panose="02020603050405020304" pitchFamily="18" charset="0"/>
                <a:ea typeface="黑体" panose="02010609060101010101" pitchFamily="49" charset="-122"/>
              </a:rPr>
              <a:t>是临界（</a:t>
            </a:r>
            <a:r>
              <a:rPr lang="en-US" altLang="zh-CN" sz="2600" b="1" dirty="0" smtClean="0">
                <a:latin typeface="Times New Roman" panose="02020603050405020304" pitchFamily="18" charset="0"/>
                <a:ea typeface="黑体" panose="02010609060101010101" pitchFamily="49" charset="-122"/>
              </a:rPr>
              <a:t>critical</a:t>
            </a:r>
            <a:r>
              <a:rPr lang="zh-CN" altLang="en-US" sz="2600" b="1" dirty="0" smtClean="0">
                <a:latin typeface="Times New Roman" panose="02020603050405020304" pitchFamily="18" charset="0"/>
                <a:ea typeface="黑体" panose="02010609060101010101" pitchFamily="49" charset="-122"/>
              </a:rPr>
              <a:t>）的英文缩写</a:t>
            </a:r>
            <a:endParaRPr lang="zh-CN" altLang="en-US" sz="2400" b="1" dirty="0" smtClean="0">
              <a:latin typeface="Times New Roman" panose="02020603050405020304" pitchFamily="18" charset="0"/>
              <a:ea typeface="黑体" panose="02010609060101010101" pitchFamily="49" charset="-122"/>
            </a:endParaRPr>
          </a:p>
        </p:txBody>
      </p:sp>
      <p:sp>
        <p:nvSpPr>
          <p:cNvPr id="43010" name="矩形 134150"/>
          <p:cNvSpPr>
            <a:spLocks noChangeArrowheads="1"/>
          </p:cNvSpPr>
          <p:nvPr/>
        </p:nvSpPr>
        <p:spPr bwMode="auto">
          <a:xfrm>
            <a:off x="0" y="15287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3012" name="矩形 134157"/>
          <p:cNvSpPr>
            <a:spLocks noChangeArrowheads="1"/>
          </p:cNvSpPr>
          <p:nvPr/>
        </p:nvSpPr>
        <p:spPr bwMode="auto">
          <a:xfrm>
            <a:off x="0" y="3708400"/>
            <a:ext cx="207963" cy="18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en-US" altLang="zh-CN" sz="600"/>
              <a:t> </a:t>
            </a:r>
            <a:endParaRPr lang="en-US" altLang="zh-CN">
              <a:latin typeface="Times New Roman" panose="02020603050405020304" pitchFamily="18" charset="0"/>
            </a:endParaRPr>
          </a:p>
        </p:txBody>
      </p:sp>
      <p:pic>
        <p:nvPicPr>
          <p:cNvPr id="2" name="图片 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68313" y="2720391"/>
            <a:ext cx="4810161" cy="3804234"/>
          </a:xfrm>
          <a:prstGeom prst="rect">
            <a:avLst/>
          </a:prstGeom>
        </p:spPr>
      </p:pic>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51275" y="2870409"/>
            <a:ext cx="3273836" cy="3078747"/>
          </a:xfrm>
          <a:prstGeom prst="rect">
            <a:avLst/>
          </a:prstGeom>
        </p:spPr>
      </p:pic>
    </p:spTree>
  </p:cSld>
  <p:clrMapOvr>
    <a:masterClrMapping/>
  </p:clrMapOvr>
  <p:transition spd="slow"/>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矩形 169988"/>
          <p:cNvSpPr>
            <a:spLocks noChangeArrowheads="1"/>
          </p:cNvSpPr>
          <p:nvPr/>
        </p:nvSpPr>
        <p:spPr bwMode="auto">
          <a:xfrm>
            <a:off x="5132664" y="795860"/>
            <a:ext cx="3290611" cy="535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90000"/>
              </a:lnSpc>
              <a:spcBef>
                <a:spcPct val="20000"/>
              </a:spcBef>
            </a:pPr>
            <a:r>
              <a:rPr lang="zh-CN" altLang="en-US" sz="3200" b="1" dirty="0">
                <a:latin typeface="黑体" panose="02010609060101010101" pitchFamily="49" charset="-122"/>
                <a:ea typeface="黑体" panose="02010609060101010101" pitchFamily="49" charset="-122"/>
              </a:rPr>
              <a:t>水的临界</a:t>
            </a:r>
            <a:r>
              <a:rPr lang="zh-CN" altLang="en-US" sz="3200" b="1" dirty="0" smtClean="0">
                <a:latin typeface="黑体" panose="02010609060101010101" pitchFamily="49" charset="-122"/>
                <a:ea typeface="黑体" panose="02010609060101010101" pitchFamily="49" charset="-122"/>
              </a:rPr>
              <a:t>参数</a:t>
            </a:r>
            <a:r>
              <a:rPr lang="zh-CN" altLang="en-US" sz="3200" b="1" dirty="0">
                <a:latin typeface="黑体" panose="02010609060101010101" pitchFamily="49" charset="-122"/>
                <a:ea typeface="黑体" panose="02010609060101010101" pitchFamily="49" charset="-122"/>
              </a:rPr>
              <a:t>：</a:t>
            </a:r>
            <a:endParaRPr lang="zh-CN" altLang="en-US" sz="3200" b="1" dirty="0">
              <a:latin typeface="黑体" panose="02010609060101010101" pitchFamily="49" charset="-122"/>
              <a:ea typeface="黑体" panose="02010609060101010101" pitchFamily="49" charset="-122"/>
            </a:endParaRPr>
          </a:p>
        </p:txBody>
      </p:sp>
      <p:graphicFrame>
        <p:nvGraphicFramePr>
          <p:cNvPr id="44035" name="对象 169989"/>
          <p:cNvGraphicFramePr/>
          <p:nvPr/>
        </p:nvGraphicFramePr>
        <p:xfrm>
          <a:off x="5291138" y="1557338"/>
          <a:ext cx="2232025" cy="615950"/>
        </p:xfrm>
        <a:graphic>
          <a:graphicData uri="http://schemas.openxmlformats.org/presentationml/2006/ole">
            <mc:AlternateContent xmlns:mc="http://schemas.openxmlformats.org/markup-compatibility/2006">
              <mc:Choice xmlns:v="urn:schemas-microsoft-com:vml" Requires="v">
                <p:oleObj spid="_x0000_s18491" name="" r:id="rId1" imgW="825500" imgH="228600" progId="Equation.DSMT4">
                  <p:embed/>
                </p:oleObj>
              </mc:Choice>
              <mc:Fallback>
                <p:oleObj name="" r:id="rId1" imgW="825500" imgH="228600" progId="Equation.DSMT4">
                  <p:embed/>
                  <p:pic>
                    <p:nvPicPr>
                      <p:cNvPr id="0" name="对象 169989"/>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91138" y="1557338"/>
                        <a:ext cx="223202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44036" name="对象 169990"/>
          <p:cNvGraphicFramePr/>
          <p:nvPr/>
        </p:nvGraphicFramePr>
        <p:xfrm>
          <a:off x="5219700" y="2349500"/>
          <a:ext cx="2736850" cy="592138"/>
        </p:xfrm>
        <a:graphic>
          <a:graphicData uri="http://schemas.openxmlformats.org/presentationml/2006/ole">
            <mc:AlternateContent xmlns:mc="http://schemas.openxmlformats.org/markup-compatibility/2006">
              <mc:Choice xmlns:v="urn:schemas-microsoft-com:vml" Requires="v">
                <p:oleObj spid="_x0000_s18492" name="" r:id="rId3" imgW="1054100" imgH="228600" progId="Equation.DSMT4">
                  <p:embed/>
                </p:oleObj>
              </mc:Choice>
              <mc:Fallback>
                <p:oleObj name="" r:id="rId3" imgW="1054100" imgH="228600" progId="Equation.DSMT4">
                  <p:embed/>
                  <p:pic>
                    <p:nvPicPr>
                      <p:cNvPr id="0" name="对象 169990"/>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19700" y="2349500"/>
                        <a:ext cx="2736850" cy="592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44037" name="对象 169991"/>
          <p:cNvGraphicFramePr/>
          <p:nvPr/>
        </p:nvGraphicFramePr>
        <p:xfrm>
          <a:off x="5291138" y="3068638"/>
          <a:ext cx="3455987" cy="595312"/>
        </p:xfrm>
        <a:graphic>
          <a:graphicData uri="http://schemas.openxmlformats.org/presentationml/2006/ole">
            <mc:AlternateContent xmlns:mc="http://schemas.openxmlformats.org/markup-compatibility/2006">
              <mc:Choice xmlns:v="urn:schemas-microsoft-com:vml" Requires="v">
                <p:oleObj spid="_x0000_s18493" name="" r:id="rId5" imgW="1384300" imgH="241300" progId="Equation.DSMT4">
                  <p:embed/>
                </p:oleObj>
              </mc:Choice>
              <mc:Fallback>
                <p:oleObj name="" r:id="rId5" imgW="1384300" imgH="241300" progId="Equation.DSMT4">
                  <p:embed/>
                  <p:pic>
                    <p:nvPicPr>
                      <p:cNvPr id="0" name="对象 169991"/>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291138" y="3068638"/>
                        <a:ext cx="3455987" cy="595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4038" name="矩形 169992"/>
          <p:cNvSpPr>
            <a:spLocks noChangeArrowheads="1"/>
          </p:cNvSpPr>
          <p:nvPr/>
        </p:nvSpPr>
        <p:spPr bwMode="auto">
          <a:xfrm>
            <a:off x="827088" y="5373688"/>
            <a:ext cx="7596187"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3200" b="1" dirty="0">
                <a:latin typeface="黑体" panose="02010609060101010101" pitchFamily="49" charset="-122"/>
                <a:ea typeface="黑体" panose="02010609060101010101" pitchFamily="49" charset="-122"/>
              </a:rPr>
              <a:t>不同物质的临界参数是不同的（附表</a:t>
            </a:r>
            <a:r>
              <a:rPr lang="en-US" altLang="zh-CN" sz="3200" b="1" dirty="0">
                <a:latin typeface="黑体" panose="02010609060101010101" pitchFamily="49" charset="-122"/>
                <a:ea typeface="黑体" panose="02010609060101010101" pitchFamily="49" charset="-122"/>
              </a:rPr>
              <a:t>7</a:t>
            </a:r>
            <a:r>
              <a:rPr lang="zh-CN" altLang="en-US" sz="3200" b="1" dirty="0">
                <a:latin typeface="黑体" panose="02010609060101010101" pitchFamily="49" charset="-122"/>
                <a:ea typeface="黑体" panose="02010609060101010101" pitchFamily="49" charset="-122"/>
              </a:rPr>
              <a:t>）</a:t>
            </a:r>
            <a:endParaRPr lang="zh-CN" altLang="en-US" sz="3200" b="1" dirty="0">
              <a:latin typeface="黑体" panose="02010609060101010101" pitchFamily="49" charset="-122"/>
              <a:ea typeface="黑体" panose="02010609060101010101" pitchFamily="49" charset="-122"/>
            </a:endParaRPr>
          </a:p>
        </p:txBody>
      </p:sp>
      <p:pic>
        <p:nvPicPr>
          <p:cNvPr id="2" name="图片 1"/>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09539" y="795860"/>
            <a:ext cx="4810161" cy="3798137"/>
          </a:xfrm>
          <a:prstGeom prst="rect">
            <a:avLst/>
          </a:prstGeom>
        </p:spPr>
      </p:pic>
    </p:spTree>
  </p:cSld>
  <p:clrMapOvr>
    <a:masterClrMapping/>
  </p:clrMapOvr>
  <p:transition spd="slow"/>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文本占位符 135173"/>
          <p:cNvSpPr>
            <a:spLocks noGrp="1" noChangeArrowheads="1"/>
          </p:cNvSpPr>
          <p:nvPr>
            <p:ph idx="1"/>
          </p:nvPr>
        </p:nvSpPr>
        <p:spPr>
          <a:xfrm>
            <a:off x="333548" y="391561"/>
            <a:ext cx="8476904" cy="3027500"/>
          </a:xfrm>
        </p:spPr>
        <p:txBody>
          <a:bodyPr>
            <a:noAutofit/>
          </a:bodyPr>
          <a:lstStyle/>
          <a:p>
            <a:pPr>
              <a:lnSpc>
                <a:spcPct val="110000"/>
              </a:lnSpc>
            </a:pPr>
            <a:r>
              <a:rPr lang="zh-CN" altLang="en-US" sz="2800" b="1" dirty="0" smtClean="0">
                <a:latin typeface="黑体" panose="02010609060101010101" pitchFamily="49" charset="-122"/>
                <a:ea typeface="黑体" panose="02010609060101010101" pitchFamily="49" charset="-122"/>
              </a:rPr>
              <a:t>当物质的压力高于临界压力（</a:t>
            </a:r>
            <a:r>
              <a:rPr lang="en-US" altLang="zh-CN" sz="2800" b="1" i="1" dirty="0" smtClean="0">
                <a:latin typeface="Times New Roman" panose="02020603050405020304" pitchFamily="18" charset="0"/>
                <a:ea typeface="黑体" panose="02010609060101010101" pitchFamily="49" charset="-122"/>
                <a:cs typeface="Times New Roman" panose="02020603050405020304" pitchFamily="18" charset="0"/>
              </a:rPr>
              <a:t>p</a:t>
            </a:r>
            <a:r>
              <a:rPr lang="en-US" altLang="zh-CN" sz="2800" b="1" dirty="0" smtClean="0">
                <a:latin typeface="Times New Roman" panose="02020603050405020304" pitchFamily="18" charset="0"/>
                <a:ea typeface="黑体" panose="02010609060101010101" pitchFamily="49" charset="-122"/>
                <a:cs typeface="Times New Roman" panose="02020603050405020304" pitchFamily="18" charset="0"/>
              </a:rPr>
              <a:t>&gt;</a:t>
            </a:r>
            <a:r>
              <a:rPr lang="en-US" altLang="zh-CN" sz="2800" b="1" i="1" dirty="0" err="1" smtClean="0">
                <a:latin typeface="Times New Roman" panose="02020603050405020304" pitchFamily="18" charset="0"/>
                <a:ea typeface="黑体" panose="02010609060101010101" pitchFamily="49" charset="-122"/>
                <a:cs typeface="Times New Roman" panose="02020603050405020304" pitchFamily="18" charset="0"/>
              </a:rPr>
              <a:t>p</a:t>
            </a:r>
            <a:r>
              <a:rPr lang="en-US" altLang="zh-CN" sz="2800" b="1" baseline="-25000" dirty="0" err="1" smtClean="0">
                <a:latin typeface="Times New Roman" panose="02020603050405020304" pitchFamily="18" charset="0"/>
                <a:ea typeface="黑体" panose="02010609060101010101" pitchFamily="49" charset="-122"/>
                <a:cs typeface="Times New Roman" panose="02020603050405020304" pitchFamily="18" charset="0"/>
              </a:rPr>
              <a:t>cr</a:t>
            </a:r>
            <a:r>
              <a:rPr lang="zh-CN" altLang="en-US" sz="2800" b="1" dirty="0" smtClean="0">
                <a:latin typeface="黑体" panose="02010609060101010101" pitchFamily="49" charset="-122"/>
                <a:ea typeface="黑体" panose="02010609060101010101" pitchFamily="49" charset="-122"/>
              </a:rPr>
              <a:t>）时，液</a:t>
            </a:r>
            <a:r>
              <a:rPr lang="en-US" altLang="zh-CN" sz="2800" b="1" dirty="0" smtClean="0">
                <a:latin typeface="黑体" panose="02010609060101010101" pitchFamily="49" charset="-122"/>
                <a:ea typeface="黑体" panose="02010609060101010101" pitchFamily="49" charset="-122"/>
              </a:rPr>
              <a:t>-</a:t>
            </a:r>
            <a:r>
              <a:rPr lang="zh-CN" altLang="en-US" sz="2800" b="1" dirty="0" smtClean="0">
                <a:latin typeface="黑体" panose="02010609060101010101" pitchFamily="49" charset="-122"/>
                <a:ea typeface="黑体" panose="02010609060101010101" pitchFamily="49" charset="-122"/>
              </a:rPr>
              <a:t>气两相的转变不经历两相共存的饱和状态，物质的温度和比体积会连续增加，变化中物质总是呈现单相状态</a:t>
            </a:r>
            <a:endParaRPr lang="en-US" altLang="zh-CN" sz="2800" b="1" dirty="0" smtClean="0">
              <a:latin typeface="黑体" panose="02010609060101010101" pitchFamily="49" charset="-122"/>
              <a:ea typeface="黑体" panose="02010609060101010101" pitchFamily="49" charset="-122"/>
            </a:endParaRPr>
          </a:p>
          <a:p>
            <a:pPr>
              <a:lnSpc>
                <a:spcPct val="110000"/>
              </a:lnSpc>
            </a:pPr>
            <a:r>
              <a:rPr lang="zh-CN" altLang="en-US" sz="2800" b="1" dirty="0" smtClean="0">
                <a:latin typeface="黑体" panose="02010609060101010101" pitchFamily="49" charset="-122"/>
                <a:ea typeface="黑体" panose="02010609060101010101" pitchFamily="49" charset="-122"/>
              </a:rPr>
              <a:t>也就是说，在临界压力以上，液、气两个相区不存在确定的分界线</a:t>
            </a:r>
            <a:endParaRPr lang="zh-CN" altLang="en-US" sz="2800" b="1" dirty="0" smtClean="0">
              <a:latin typeface="黑体" panose="02010609060101010101" pitchFamily="49" charset="-122"/>
              <a:ea typeface="黑体" panose="02010609060101010101" pitchFamily="49" charset="-122"/>
            </a:endParaRPr>
          </a:p>
        </p:txBody>
      </p:sp>
      <p:sp>
        <p:nvSpPr>
          <p:cNvPr id="45058" name="矩形 135175"/>
          <p:cNvSpPr>
            <a:spLocks noChangeArrowheads="1"/>
          </p:cNvSpPr>
          <p:nvPr/>
        </p:nvSpPr>
        <p:spPr bwMode="auto">
          <a:xfrm>
            <a:off x="0" y="21478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pic>
        <p:nvPicPr>
          <p:cNvPr id="2" name="图片 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324446" y="2872780"/>
            <a:ext cx="2932430" cy="3670110"/>
          </a:xfrm>
          <a:prstGeom prst="rect">
            <a:avLst/>
          </a:prstGeom>
        </p:spPr>
      </p:pic>
    </p:spTree>
  </p:cSld>
  <p:clrMapOvr>
    <a:masterClrMapping/>
  </p:clrMapOvr>
  <p:transition spd="slow"/>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135173"/>
          <p:cNvSpPr>
            <a:spLocks noGrp="1" noChangeArrowheads="1"/>
          </p:cNvSpPr>
          <p:nvPr>
            <p:ph idx="1"/>
          </p:nvPr>
        </p:nvSpPr>
        <p:spPr>
          <a:xfrm>
            <a:off x="452447" y="4683195"/>
            <a:ext cx="8229600" cy="1333292"/>
          </a:xfrm>
        </p:spPr>
        <p:txBody>
          <a:bodyPr>
            <a:normAutofit/>
          </a:bodyPr>
          <a:lstStyle/>
          <a:p>
            <a:r>
              <a:rPr lang="zh-CN" altLang="en-US" sz="2800" b="1" dirty="0">
                <a:latin typeface="黑体" panose="02010609060101010101" pitchFamily="49" charset="-122"/>
                <a:ea typeface="黑体" panose="02010609060101010101" pitchFamily="49" charset="-122"/>
              </a:rPr>
              <a:t>两</a:t>
            </a:r>
            <a:r>
              <a:rPr lang="zh-CN" altLang="en-US" sz="2800" b="1" dirty="0" smtClean="0">
                <a:latin typeface="黑体" panose="02010609060101010101" pitchFamily="49" charset="-122"/>
                <a:ea typeface="黑体" panose="02010609060101010101" pitchFamily="49" charset="-122"/>
              </a:rPr>
              <a:t>线：饱和液体线、饱和蒸气线</a:t>
            </a:r>
            <a:endParaRPr lang="en-US" altLang="zh-CN" sz="2800" b="1" dirty="0" smtClean="0">
              <a:latin typeface="黑体" panose="02010609060101010101" pitchFamily="49" charset="-122"/>
              <a:ea typeface="黑体" panose="02010609060101010101" pitchFamily="49" charset="-122"/>
            </a:endParaRPr>
          </a:p>
          <a:p>
            <a:r>
              <a:rPr lang="zh-CN" altLang="en-US" sz="2800" b="1" dirty="0" smtClean="0">
                <a:latin typeface="黑体" panose="02010609060101010101" pitchFamily="49" charset="-122"/>
                <a:ea typeface="黑体" panose="02010609060101010101" pitchFamily="49" charset="-122"/>
              </a:rPr>
              <a:t>三区：未饱和液体区、湿蒸汽区、过热蒸气区</a:t>
            </a:r>
            <a:endParaRPr lang="zh-CN" altLang="en-US" sz="2800" b="1" dirty="0" smtClean="0">
              <a:latin typeface="黑体" panose="02010609060101010101" pitchFamily="49" charset="-122"/>
              <a:ea typeface="黑体" panose="02010609060101010101" pitchFamily="49" charset="-122"/>
            </a:endParaRPr>
          </a:p>
        </p:txBody>
      </p:sp>
      <p:pic>
        <p:nvPicPr>
          <p:cNvPr id="2" name="图片 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852690" y="417136"/>
            <a:ext cx="5279594" cy="4035902"/>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矩形 137221"/>
          <p:cNvSpPr>
            <a:spLocks noChangeArrowheads="1"/>
          </p:cNvSpPr>
          <p:nvPr/>
        </p:nvSpPr>
        <p:spPr bwMode="auto">
          <a:xfrm>
            <a:off x="154332" y="355519"/>
            <a:ext cx="8652703"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r>
              <a:rPr lang="zh-CN" altLang="en-US" sz="2800" b="1" dirty="0" smtClean="0">
                <a:latin typeface="黑体" panose="02010609060101010101" pitchFamily="49" charset="-122"/>
                <a:ea typeface="黑体" panose="02010609060101010101" pitchFamily="49" charset="-122"/>
              </a:rPr>
              <a:t>第</a:t>
            </a:r>
            <a:r>
              <a:rPr lang="en-US" altLang="zh-CN" sz="2800" b="1" dirty="0" smtClean="0">
                <a:latin typeface="黑体" panose="02010609060101010101" pitchFamily="49" charset="-122"/>
                <a:ea typeface="黑体" panose="02010609060101010101" pitchFamily="49" charset="-122"/>
              </a:rPr>
              <a:t>4</a:t>
            </a:r>
            <a:r>
              <a:rPr lang="zh-CN" altLang="en-US" sz="2800" b="1" dirty="0" smtClean="0">
                <a:latin typeface="黑体" panose="02010609060101010101" pitchFamily="49" charset="-122"/>
                <a:ea typeface="黑体" panose="02010609060101010101" pitchFamily="49" charset="-122"/>
              </a:rPr>
              <a:t>章讨论</a:t>
            </a:r>
            <a:r>
              <a:rPr lang="zh-CN" altLang="en-US" sz="2800" b="1" dirty="0">
                <a:latin typeface="黑体" panose="02010609060101010101" pitchFamily="49" charset="-122"/>
                <a:ea typeface="黑体" panose="02010609060101010101" pitchFamily="49" charset="-122"/>
              </a:rPr>
              <a:t>了理想“气体”的性质，其中的气体（</a:t>
            </a:r>
            <a:r>
              <a:rPr lang="en-US" altLang="zh-CN" sz="2800" b="1" dirty="0">
                <a:latin typeface="Times New Roman" panose="02020603050405020304" pitchFamily="18" charset="0"/>
                <a:ea typeface="黑体" panose="02010609060101010101" pitchFamily="49" charset="-122"/>
                <a:cs typeface="Times New Roman" panose="02020603050405020304" pitchFamily="18" charset="0"/>
              </a:rPr>
              <a:t>gas</a:t>
            </a:r>
            <a:r>
              <a:rPr lang="zh-CN" altLang="en-US" sz="2800" b="1" dirty="0">
                <a:latin typeface="黑体" panose="02010609060101010101" pitchFamily="49" charset="-122"/>
                <a:ea typeface="黑体" panose="02010609060101010101" pitchFamily="49" charset="-122"/>
              </a:rPr>
              <a:t>）与</a:t>
            </a:r>
            <a:r>
              <a:rPr lang="zh-CN" altLang="en-US" sz="2800" b="1" dirty="0" smtClean="0">
                <a:latin typeface="黑体" panose="02010609060101010101" pitchFamily="49" charset="-122"/>
                <a:ea typeface="黑体" panose="02010609060101010101" pitchFamily="49" charset="-122"/>
              </a:rPr>
              <a:t>本章所</a:t>
            </a:r>
            <a:r>
              <a:rPr lang="zh-CN" altLang="en-US" sz="2800" b="1" dirty="0">
                <a:latin typeface="黑体" panose="02010609060101010101" pitchFamily="49" charset="-122"/>
                <a:ea typeface="黑体" panose="02010609060101010101" pitchFamily="49" charset="-122"/>
              </a:rPr>
              <a:t>讨论的蒸气（</a:t>
            </a:r>
            <a:r>
              <a:rPr lang="en-US" altLang="zh-CN" sz="2800" b="1" dirty="0">
                <a:latin typeface="Times New Roman" panose="02020603050405020304" pitchFamily="18" charset="0"/>
                <a:ea typeface="黑体" panose="02010609060101010101" pitchFamily="49" charset="-122"/>
                <a:cs typeface="Times New Roman" panose="02020603050405020304" pitchFamily="18" charset="0"/>
              </a:rPr>
              <a:t>vapor</a:t>
            </a:r>
            <a:r>
              <a:rPr lang="zh-CN" altLang="en-US" sz="2800" b="1" dirty="0">
                <a:latin typeface="黑体" panose="02010609060101010101" pitchFamily="49" charset="-122"/>
                <a:ea typeface="黑体" panose="02010609060101010101" pitchFamily="49" charset="-122"/>
              </a:rPr>
              <a:t>）是什么关系？</a:t>
            </a:r>
            <a:endParaRPr lang="zh-CN" altLang="en-US" sz="2800" b="1" dirty="0">
              <a:latin typeface="黑体" panose="02010609060101010101" pitchFamily="49" charset="-122"/>
              <a:ea typeface="黑体" panose="02010609060101010101" pitchFamily="49" charset="-122"/>
            </a:endParaRPr>
          </a:p>
        </p:txBody>
      </p:sp>
      <p:sp>
        <p:nvSpPr>
          <p:cNvPr id="46083" name="椭圆 137222"/>
          <p:cNvSpPr>
            <a:spLocks noChangeArrowheads="1"/>
          </p:cNvSpPr>
          <p:nvPr/>
        </p:nvSpPr>
        <p:spPr bwMode="auto">
          <a:xfrm>
            <a:off x="2962620" y="4262376"/>
            <a:ext cx="503237" cy="358775"/>
          </a:xfrm>
          <a:prstGeom prst="ellipse">
            <a:avLst/>
          </a:prstGeom>
          <a:noFill/>
          <a:ln w="25400">
            <a:solidFill>
              <a:srgbClr val="FF0000"/>
            </a:solidFill>
            <a:miter lim="800000"/>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6084" name="椭圆 137223"/>
          <p:cNvSpPr>
            <a:spLocks noChangeArrowheads="1"/>
          </p:cNvSpPr>
          <p:nvPr/>
        </p:nvSpPr>
        <p:spPr bwMode="auto">
          <a:xfrm>
            <a:off x="2602257" y="4789426"/>
            <a:ext cx="503238" cy="358775"/>
          </a:xfrm>
          <a:prstGeom prst="ellipse">
            <a:avLst/>
          </a:prstGeom>
          <a:noFill/>
          <a:ln w="25400">
            <a:solidFill>
              <a:srgbClr val="FF0000"/>
            </a:solidFill>
            <a:miter lim="800000"/>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6085" name="矩形 137224"/>
          <p:cNvSpPr>
            <a:spLocks noChangeArrowheads="1"/>
          </p:cNvSpPr>
          <p:nvPr/>
        </p:nvSpPr>
        <p:spPr bwMode="auto">
          <a:xfrm>
            <a:off x="4323453" y="1716503"/>
            <a:ext cx="4679950" cy="41549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2400" b="1" dirty="0">
                <a:latin typeface="黑体" panose="02010609060101010101" pitchFamily="49" charset="-122"/>
                <a:ea typeface="黑体" panose="02010609060101010101" pitchFamily="49" charset="-122"/>
              </a:rPr>
              <a:t>物质在通常的参数范围内可能呈现出气、液、固三种不同的相，无论是气体还是蒸气，均指处于</a:t>
            </a:r>
            <a:r>
              <a:rPr lang="zh-CN" altLang="en-US" sz="2400" b="1" dirty="0">
                <a:solidFill>
                  <a:srgbClr val="FF0000"/>
                </a:solidFill>
                <a:latin typeface="黑体" panose="02010609060101010101" pitchFamily="49" charset="-122"/>
                <a:ea typeface="黑体" panose="02010609060101010101" pitchFamily="49" charset="-122"/>
              </a:rPr>
              <a:t>气相</a:t>
            </a:r>
            <a:r>
              <a:rPr lang="zh-CN" altLang="en-US" sz="2400" b="1" dirty="0">
                <a:latin typeface="黑体" panose="02010609060101010101" pitchFamily="49" charset="-122"/>
                <a:ea typeface="黑体" panose="02010609060101010101" pitchFamily="49" charset="-122"/>
              </a:rPr>
              <a:t>的物质。</a:t>
            </a:r>
            <a:endParaRPr lang="zh-CN" altLang="en-US" sz="2400" b="1" dirty="0">
              <a:latin typeface="黑体" panose="02010609060101010101" pitchFamily="49" charset="-122"/>
              <a:ea typeface="黑体" panose="02010609060101010101" pitchFamily="49" charset="-122"/>
            </a:endParaRPr>
          </a:p>
          <a:p>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只不过人们习惯</a:t>
            </a:r>
            <a:r>
              <a:rPr lang="zh-CN" altLang="en-US" sz="2400" b="1"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将温度高于物质临界温度（</a:t>
            </a:r>
            <a:r>
              <a:rPr lang="en-US" altLang="zh-CN" sz="2400" b="1" i="1"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T</a:t>
            </a:r>
            <a:r>
              <a:rPr lang="en-US" altLang="zh-CN" sz="2400" b="1"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&gt;</a:t>
            </a:r>
            <a:r>
              <a:rPr lang="en-US" altLang="zh-CN" sz="2400" b="1" i="1" dirty="0" err="1">
                <a:solidFill>
                  <a:srgbClr val="0000FF"/>
                </a:solidFill>
                <a:latin typeface="Times New Roman" panose="02020603050405020304" pitchFamily="18" charset="0"/>
                <a:ea typeface="黑体" panose="02010609060101010101" pitchFamily="49" charset="-122"/>
                <a:cs typeface="Times New Roman" panose="02020603050405020304" pitchFamily="18" charset="0"/>
              </a:rPr>
              <a:t>T</a:t>
            </a:r>
            <a:r>
              <a:rPr lang="en-US" altLang="zh-CN" sz="2400" b="1" baseline="-25000" dirty="0" err="1">
                <a:solidFill>
                  <a:srgbClr val="0000FF"/>
                </a:solidFill>
                <a:latin typeface="Times New Roman" panose="02020603050405020304" pitchFamily="18" charset="0"/>
                <a:ea typeface="黑体" panose="02010609060101010101" pitchFamily="49" charset="-122"/>
                <a:cs typeface="Times New Roman" panose="02020603050405020304" pitchFamily="18" charset="0"/>
              </a:rPr>
              <a:t>cr</a:t>
            </a:r>
            <a:r>
              <a:rPr lang="zh-CN" altLang="en-US" sz="2400" b="1"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）的气相物质称为气体（</a:t>
            </a:r>
            <a:r>
              <a:rPr lang="en-US" altLang="zh-CN" sz="2400" b="1"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gas</a:t>
            </a:r>
            <a:r>
              <a:rPr lang="zh-CN" altLang="en-US" sz="2400" b="1"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），将温度低于物质临界温度（</a:t>
            </a:r>
            <a:r>
              <a:rPr lang="en-US" altLang="zh-CN" sz="2400" b="1" i="1"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T</a:t>
            </a:r>
            <a:r>
              <a:rPr lang="en-US" altLang="zh-CN" sz="2400" b="1"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&lt;</a:t>
            </a:r>
            <a:r>
              <a:rPr lang="en-US" altLang="zh-CN" sz="2400" b="1" i="1" dirty="0" err="1">
                <a:solidFill>
                  <a:srgbClr val="0000FF"/>
                </a:solidFill>
                <a:latin typeface="Times New Roman" panose="02020603050405020304" pitchFamily="18" charset="0"/>
                <a:ea typeface="黑体" panose="02010609060101010101" pitchFamily="49" charset="-122"/>
                <a:cs typeface="Times New Roman" panose="02020603050405020304" pitchFamily="18" charset="0"/>
              </a:rPr>
              <a:t>T</a:t>
            </a:r>
            <a:r>
              <a:rPr lang="en-US" altLang="zh-CN" sz="2400" b="1" baseline="-25000" dirty="0" err="1">
                <a:solidFill>
                  <a:srgbClr val="0000FF"/>
                </a:solidFill>
                <a:latin typeface="Times New Roman" panose="02020603050405020304" pitchFamily="18" charset="0"/>
                <a:ea typeface="黑体" panose="02010609060101010101" pitchFamily="49" charset="-122"/>
                <a:cs typeface="Times New Roman" panose="02020603050405020304" pitchFamily="18" charset="0"/>
              </a:rPr>
              <a:t>cr</a:t>
            </a:r>
            <a:r>
              <a:rPr lang="zh-CN" altLang="en-US" sz="2400" b="1"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）的气相物质称为蒸气（</a:t>
            </a:r>
            <a:r>
              <a:rPr lang="en-US" altLang="zh-CN" sz="2400" b="1"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vapor</a:t>
            </a:r>
            <a:r>
              <a:rPr lang="zh-CN" altLang="en-US" sz="2400" b="1"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。这也是图中将气相区域分别用“气体”和“蒸气”来表示的原因。 </a:t>
            </a:r>
            <a:endParaRPr lang="zh-CN" altLang="en-US" sz="2400" b="1" dirty="0">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2" name="图片 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67584" y="2279041"/>
            <a:ext cx="4249280" cy="3999323"/>
          </a:xfrm>
          <a:prstGeom prst="rect">
            <a:avLst/>
          </a:prstGeom>
        </p:spPr>
      </p:pic>
    </p:spTree>
  </p:cSld>
  <p:clrMapOvr>
    <a:masterClrMapping/>
  </p:clrMapOvr>
  <p:transition spd="slow"/>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矩形 138241"/>
          <p:cNvSpPr>
            <a:spLocks noChangeArrowheads="1"/>
          </p:cNvSpPr>
          <p:nvPr/>
        </p:nvSpPr>
        <p:spPr bwMode="auto">
          <a:xfrm>
            <a:off x="539750" y="981075"/>
            <a:ext cx="8137525" cy="137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把</a:t>
            </a:r>
            <a:r>
              <a:rPr lang="en-US" altLang="zh-CN" sz="2800" b="1" i="1" dirty="0">
                <a:latin typeface="Times New Roman" panose="02020603050405020304" pitchFamily="18" charset="0"/>
                <a:ea typeface="黑体" panose="02010609060101010101" pitchFamily="49" charset="-122"/>
                <a:cs typeface="Times New Roman" panose="02020603050405020304" pitchFamily="18" charset="0"/>
              </a:rPr>
              <a:t>p</a:t>
            </a:r>
            <a:r>
              <a:rPr lang="en-US" altLang="zh-CN" sz="2800" b="1"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2800" b="1" i="1" dirty="0">
                <a:latin typeface="Times New Roman" panose="02020603050405020304" pitchFamily="18" charset="0"/>
                <a:ea typeface="黑体" panose="02010609060101010101" pitchFamily="49" charset="-122"/>
                <a:cs typeface="Times New Roman" panose="02020603050405020304" pitchFamily="18" charset="0"/>
              </a:rPr>
              <a:t>v</a:t>
            </a:r>
            <a:r>
              <a:rPr lang="en-US" altLang="zh-CN" sz="2800" b="1"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2800" b="1" i="1" dirty="0">
                <a:latin typeface="Times New Roman" panose="02020603050405020304" pitchFamily="18" charset="0"/>
                <a:ea typeface="黑体" panose="02010609060101010101" pitchFamily="49" charset="-122"/>
                <a:cs typeface="Times New Roman" panose="02020603050405020304" pitchFamily="18" charset="0"/>
              </a:rPr>
              <a:t>T</a:t>
            </a: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图投影到</a:t>
            </a:r>
            <a:r>
              <a:rPr lang="en-US" altLang="zh-CN" sz="2800" b="1" i="1" dirty="0">
                <a:latin typeface="Times New Roman" panose="02020603050405020304" pitchFamily="18" charset="0"/>
                <a:ea typeface="黑体" panose="02010609060101010101" pitchFamily="49" charset="-122"/>
                <a:cs typeface="Times New Roman" panose="02020603050405020304" pitchFamily="18" charset="0"/>
              </a:rPr>
              <a:t>p-v</a:t>
            </a: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面上即可得到</a:t>
            </a:r>
            <a:r>
              <a:rPr lang="en-US" altLang="zh-CN" sz="2800" b="1" i="1" dirty="0">
                <a:latin typeface="Times New Roman" panose="02020603050405020304" pitchFamily="18" charset="0"/>
                <a:ea typeface="黑体" panose="02010609060101010101" pitchFamily="49" charset="-122"/>
                <a:cs typeface="Times New Roman" panose="02020603050405020304" pitchFamily="18" charset="0"/>
              </a:rPr>
              <a:t>p-v</a:t>
            </a: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图</a:t>
            </a:r>
            <a:endParaRPr lang="zh-CN" altLang="en-US" sz="2800" b="1" dirty="0">
              <a:latin typeface="Times New Roman" panose="02020603050405020304" pitchFamily="18" charset="0"/>
              <a:ea typeface="黑体" panose="02010609060101010101" pitchFamily="49" charset="-122"/>
              <a:cs typeface="Times New Roman" panose="02020603050405020304" pitchFamily="18" charset="0"/>
            </a:endParaRPr>
          </a:p>
          <a:p>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这里先仅考虑液相、气相和液</a:t>
            </a:r>
            <a:r>
              <a:rPr lang="en-US" altLang="zh-CN" sz="2800" b="1" dirty="0">
                <a:latin typeface="Times New Roman" panose="02020603050405020304" pitchFamily="18" charset="0"/>
                <a:ea typeface="黑体" panose="02010609060101010101" pitchFamily="49" charset="-122"/>
                <a:cs typeface="Times New Roman" panose="02020603050405020304" pitchFamily="18" charset="0"/>
              </a:rPr>
              <a:t>-</a:t>
            </a: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气两相平衡区域，不涉及固相区域</a:t>
            </a:r>
            <a:r>
              <a:rPr lang="zh-CN" altLang="en-US" dirty="0">
                <a:latin typeface="Times New Roman" panose="02020603050405020304" pitchFamily="18" charset="0"/>
                <a:ea typeface="黑体" panose="02010609060101010101" pitchFamily="49" charset="-122"/>
                <a:cs typeface="Times New Roman" panose="02020603050405020304" pitchFamily="18" charset="0"/>
              </a:rPr>
              <a:t>  </a:t>
            </a:r>
            <a:endParaRPr lang="zh-CN" altLang="en-US"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47106" name="矩形 138243"/>
          <p:cNvSpPr>
            <a:spLocks noChangeArrowheads="1"/>
          </p:cNvSpPr>
          <p:nvPr/>
        </p:nvSpPr>
        <p:spPr bwMode="auto">
          <a:xfrm>
            <a:off x="0" y="20955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7109" name="矩形 138251"/>
          <p:cNvSpPr>
            <a:spLocks noChangeArrowheads="1"/>
          </p:cNvSpPr>
          <p:nvPr/>
        </p:nvSpPr>
        <p:spPr bwMode="auto">
          <a:xfrm>
            <a:off x="395288" y="115888"/>
            <a:ext cx="496887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3600" b="1" dirty="0" smtClean="0">
                <a:latin typeface="Times New Roman" panose="02020603050405020304" pitchFamily="18" charset="0"/>
                <a:ea typeface="黑体" panose="02010609060101010101" pitchFamily="49" charset="-122"/>
              </a:rPr>
              <a:t>三、</a:t>
            </a:r>
            <a:r>
              <a:rPr lang="en-US" altLang="zh-CN" sz="3600" b="1" i="1" dirty="0" smtClean="0">
                <a:latin typeface="Times New Roman" panose="02020603050405020304" pitchFamily="18" charset="0"/>
                <a:ea typeface="黑体" panose="02010609060101010101" pitchFamily="49" charset="-122"/>
              </a:rPr>
              <a:t>p-v</a:t>
            </a:r>
            <a:r>
              <a:rPr lang="zh-CN" altLang="en-US" sz="3600" b="1" dirty="0">
                <a:latin typeface="Times New Roman" panose="02020603050405020304" pitchFamily="18" charset="0"/>
                <a:ea typeface="黑体" panose="02010609060101010101" pitchFamily="49" charset="-122"/>
              </a:rPr>
              <a:t>图</a:t>
            </a:r>
            <a:endParaRPr lang="zh-CN" altLang="en-US" sz="3600" b="1" dirty="0">
              <a:latin typeface="Times New Roman" panose="02020603050405020304" pitchFamily="18" charset="0"/>
              <a:ea typeface="黑体" panose="02010609060101010101" pitchFamily="49" charset="-122"/>
            </a:endParaRPr>
          </a:p>
        </p:txBody>
      </p:sp>
      <p:pic>
        <p:nvPicPr>
          <p:cNvPr id="2" name="图片 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76206" y="2732499"/>
            <a:ext cx="3603048" cy="3322608"/>
          </a:xfrm>
          <a:prstGeom prst="rect">
            <a:avLst/>
          </a:prstGeom>
        </p:spPr>
      </p:pic>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79254" y="2256970"/>
            <a:ext cx="4535817" cy="4273666"/>
          </a:xfrm>
          <a:prstGeom prst="rect">
            <a:avLst/>
          </a:prstGeom>
        </p:spPr>
      </p:pic>
    </p:spTree>
  </p:cSld>
  <p:clrMapOvr>
    <a:masterClrMapping/>
  </p:clrMapOvr>
  <p:transition spd="slow"/>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矩形 155651"/>
          <p:cNvSpPr>
            <a:spLocks noChangeArrowheads="1"/>
          </p:cNvSpPr>
          <p:nvPr/>
        </p:nvSpPr>
        <p:spPr bwMode="auto">
          <a:xfrm>
            <a:off x="0" y="20955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8130" name="矩形 155652"/>
          <p:cNvSpPr>
            <a:spLocks noChangeArrowheads="1"/>
          </p:cNvSpPr>
          <p:nvPr/>
        </p:nvSpPr>
        <p:spPr bwMode="auto">
          <a:xfrm>
            <a:off x="0" y="12906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8132" name="矩形 155654"/>
          <p:cNvSpPr>
            <a:spLocks noChangeArrowheads="1"/>
          </p:cNvSpPr>
          <p:nvPr/>
        </p:nvSpPr>
        <p:spPr bwMode="auto">
          <a:xfrm>
            <a:off x="4356100" y="1170097"/>
            <a:ext cx="4491038" cy="1815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2800" b="1" dirty="0">
                <a:latin typeface="黑体" panose="02010609060101010101" pitchFamily="49" charset="-122"/>
                <a:ea typeface="黑体" panose="02010609060101010101" pitchFamily="49" charset="-122"/>
              </a:rPr>
              <a:t>对于定温线来说，仍然是：</a:t>
            </a:r>
            <a:endParaRPr lang="zh-CN" altLang="en-US" sz="2800" b="1" dirty="0">
              <a:latin typeface="黑体" panose="02010609060101010101" pitchFamily="49" charset="-122"/>
              <a:ea typeface="黑体" panose="02010609060101010101" pitchFamily="49" charset="-122"/>
            </a:endParaRPr>
          </a:p>
          <a:p>
            <a:r>
              <a:rPr lang="zh-CN" altLang="en-US" sz="2800" b="1" dirty="0">
                <a:latin typeface="黑体" panose="02010609060101010101" pitchFamily="49" charset="-122"/>
                <a:ea typeface="黑体" panose="02010609060101010101" pitchFamily="49" charset="-122"/>
              </a:rPr>
              <a:t>液相斜率绝对值大，较为陡峭；气相斜率绝对值小，较为平缓</a:t>
            </a:r>
            <a:r>
              <a:rPr lang="zh-CN" altLang="en-US" sz="2800" dirty="0">
                <a:latin typeface="黑体" panose="02010609060101010101" pitchFamily="49" charset="-122"/>
                <a:ea typeface="黑体" panose="02010609060101010101" pitchFamily="49" charset="-122"/>
              </a:rPr>
              <a:t> </a:t>
            </a:r>
            <a:endParaRPr lang="zh-CN" altLang="en-US" sz="2800" dirty="0">
              <a:latin typeface="黑体" panose="02010609060101010101" pitchFamily="49" charset="-122"/>
              <a:ea typeface="黑体" panose="02010609060101010101" pitchFamily="49" charset="-122"/>
            </a:endParaRPr>
          </a:p>
        </p:txBody>
      </p:sp>
      <p:sp>
        <p:nvSpPr>
          <p:cNvPr id="48133" name="矩形 155655"/>
          <p:cNvSpPr>
            <a:spLocks noChangeArrowheads="1"/>
          </p:cNvSpPr>
          <p:nvPr/>
        </p:nvSpPr>
        <p:spPr bwMode="auto">
          <a:xfrm>
            <a:off x="1475581" y="5369251"/>
            <a:ext cx="619283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2800" b="1"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水的定压汽化过程如何在</a:t>
            </a:r>
            <a:r>
              <a:rPr lang="en-US" altLang="zh-CN" sz="2800" b="1" i="1"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p-v</a:t>
            </a:r>
            <a:r>
              <a:rPr lang="zh-CN" altLang="en-US" sz="2800" b="1"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图上表示？</a:t>
            </a:r>
            <a:endParaRPr lang="zh-CN" altLang="en-US" sz="2800" b="1"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2" name="图片 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36143" y="613258"/>
            <a:ext cx="4535817" cy="4279763"/>
          </a:xfrm>
          <a:prstGeom prst="rect">
            <a:avLst/>
          </a:prstGeom>
        </p:spPr>
      </p:pic>
    </p:spTree>
  </p:cSld>
  <p:clrMapOvr>
    <a:masterClrMapping/>
  </p:clrMapOvr>
  <p:transition spd="slow"/>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矩形 143364"/>
          <p:cNvSpPr>
            <a:spLocks noChangeArrowheads="1"/>
          </p:cNvSpPr>
          <p:nvPr/>
        </p:nvSpPr>
        <p:spPr bwMode="auto">
          <a:xfrm>
            <a:off x="0" y="20764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9156" name="矩形 143366"/>
          <p:cNvSpPr>
            <a:spLocks noChangeArrowheads="1"/>
          </p:cNvSpPr>
          <p:nvPr/>
        </p:nvSpPr>
        <p:spPr bwMode="auto">
          <a:xfrm>
            <a:off x="2420938" y="6117059"/>
            <a:ext cx="568801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水的定压汽化过程在</a:t>
            </a:r>
            <a:r>
              <a:rPr lang="en-US" altLang="zh-CN" sz="2400" b="1" i="1" dirty="0">
                <a:latin typeface="Times New Roman" panose="02020603050405020304" pitchFamily="18" charset="0"/>
                <a:ea typeface="黑体" panose="02010609060101010101" pitchFamily="49" charset="-122"/>
                <a:cs typeface="Times New Roman" panose="02020603050405020304" pitchFamily="18" charset="0"/>
              </a:rPr>
              <a:t>p-v</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图上的表示</a:t>
            </a:r>
            <a:endParaRPr lang="zh-CN" altLang="en-US" sz="2400" b="1" dirty="0">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2" name="图片 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139485" y="445811"/>
            <a:ext cx="4865030" cy="2865368"/>
          </a:xfrm>
          <a:prstGeom prst="rect">
            <a:avLst/>
          </a:prstGeom>
        </p:spPr>
      </p:pic>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63726" y="2983719"/>
            <a:ext cx="4535817" cy="3249450"/>
          </a:xfrm>
          <a:prstGeom prst="rect">
            <a:avLst/>
          </a:prstGeom>
        </p:spPr>
      </p:pic>
    </p:spTree>
  </p:cSld>
  <p:clrMapOvr>
    <a:masterClrMapping/>
  </p:clrMapOvr>
  <p:transition spd="slow"/>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矩形 139269"/>
          <p:cNvSpPr>
            <a:spLocks noChangeArrowheads="1"/>
          </p:cNvSpPr>
          <p:nvPr/>
        </p:nvSpPr>
        <p:spPr bwMode="auto">
          <a:xfrm>
            <a:off x="395287" y="4397182"/>
            <a:ext cx="8353425" cy="2246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2800" b="1" dirty="0">
                <a:latin typeface="黑体" panose="02010609060101010101" pitchFamily="49" charset="-122"/>
                <a:ea typeface="黑体" panose="02010609060101010101" pitchFamily="49" charset="-122"/>
              </a:rPr>
              <a:t>当气体的状态点远离饱和区域和物质的临界点时，其定温过程线和理想气体的定温过程线十分接近（双曲线的一支）</a:t>
            </a:r>
            <a:endParaRPr lang="zh-CN" altLang="en-US" sz="2800" b="1" dirty="0">
              <a:latin typeface="黑体" panose="02010609060101010101" pitchFamily="49" charset="-122"/>
              <a:ea typeface="黑体" panose="02010609060101010101" pitchFamily="49" charset="-122"/>
            </a:endParaRPr>
          </a:p>
          <a:p>
            <a:r>
              <a:rPr lang="zh-CN" altLang="en-US" sz="2800" b="1" dirty="0">
                <a:latin typeface="黑体" panose="02010609060101010101" pitchFamily="49" charset="-122"/>
                <a:ea typeface="黑体" panose="02010609060101010101" pitchFamily="49" charset="-122"/>
              </a:rPr>
              <a:t>也就是说，</a:t>
            </a:r>
            <a:r>
              <a:rPr lang="zh-CN" altLang="en-US" sz="2800" b="1" dirty="0">
                <a:solidFill>
                  <a:srgbClr val="FF0000"/>
                </a:solidFill>
                <a:latin typeface="黑体" panose="02010609060101010101" pitchFamily="49" charset="-122"/>
                <a:ea typeface="黑体" panose="02010609060101010101" pitchFamily="49" charset="-122"/>
              </a:rPr>
              <a:t>在远离饱和区域和物质的临界点，实际气体可视为理想气体</a:t>
            </a:r>
            <a:endParaRPr lang="zh-CN" altLang="en-US" sz="2800" dirty="0">
              <a:solidFill>
                <a:srgbClr val="FF0000"/>
              </a:solidFill>
              <a:latin typeface="黑体" panose="02010609060101010101" pitchFamily="49" charset="-122"/>
              <a:ea typeface="黑体" panose="02010609060101010101" pitchFamily="49" charset="-122"/>
            </a:endParaRPr>
          </a:p>
        </p:txBody>
      </p:sp>
      <p:sp>
        <p:nvSpPr>
          <p:cNvPr id="50178" name="矩形 139271"/>
          <p:cNvSpPr>
            <a:spLocks noChangeArrowheads="1"/>
          </p:cNvSpPr>
          <p:nvPr/>
        </p:nvSpPr>
        <p:spPr bwMode="auto">
          <a:xfrm>
            <a:off x="0" y="14001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pic>
        <p:nvPicPr>
          <p:cNvPr id="2" name="图片 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197401" y="0"/>
            <a:ext cx="4749196" cy="4487045"/>
          </a:xfrm>
          <a:prstGeom prst="rect">
            <a:avLst/>
          </a:prstGeom>
        </p:spPr>
      </p:pic>
    </p:spTree>
  </p:cSld>
  <p:clrMapOvr>
    <a:masterClrMapping/>
  </p:clrMapOvr>
  <p:transition spd="slow"/>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文本占位符 144386"/>
          <p:cNvSpPr>
            <a:spLocks noGrp="1" noChangeArrowheads="1"/>
          </p:cNvSpPr>
          <p:nvPr>
            <p:ph type="body" sz="half" idx="1"/>
          </p:nvPr>
        </p:nvSpPr>
        <p:spPr>
          <a:xfrm>
            <a:off x="250825" y="692150"/>
            <a:ext cx="4319588" cy="4525963"/>
          </a:xfrm>
        </p:spPr>
        <p:txBody>
          <a:bodyPr/>
          <a:lstStyle/>
          <a:p>
            <a:r>
              <a:rPr lang="zh-CN" altLang="en-US" sz="2800" b="1" smtClean="0">
                <a:latin typeface="Times New Roman" panose="02020603050405020304" pitchFamily="18" charset="0"/>
                <a:ea typeface="黑体" panose="02010609060101010101" pitchFamily="49" charset="-122"/>
              </a:rPr>
              <a:t>前面讨论的</a:t>
            </a:r>
            <a:r>
              <a:rPr lang="en-US" altLang="zh-CN" sz="2800" b="1" i="1" smtClean="0">
                <a:latin typeface="Times New Roman" panose="02020603050405020304" pitchFamily="18" charset="0"/>
                <a:ea typeface="黑体" panose="02010609060101010101" pitchFamily="49" charset="-122"/>
              </a:rPr>
              <a:t>T-v</a:t>
            </a:r>
            <a:r>
              <a:rPr lang="zh-CN" altLang="en-US" sz="2800" b="1" smtClean="0">
                <a:latin typeface="Times New Roman" panose="02020603050405020304" pitchFamily="18" charset="0"/>
                <a:ea typeface="黑体" panose="02010609060101010101" pitchFamily="49" charset="-122"/>
              </a:rPr>
              <a:t>图和</a:t>
            </a:r>
            <a:r>
              <a:rPr lang="en-US" altLang="zh-CN" sz="2800" b="1" i="1" smtClean="0">
                <a:latin typeface="Times New Roman" panose="02020603050405020304" pitchFamily="18" charset="0"/>
                <a:ea typeface="黑体" panose="02010609060101010101" pitchFamily="49" charset="-122"/>
              </a:rPr>
              <a:t>p-v</a:t>
            </a:r>
            <a:r>
              <a:rPr lang="zh-CN" altLang="en-US" sz="2800" b="1" smtClean="0">
                <a:latin typeface="Times New Roman" panose="02020603050405020304" pitchFamily="18" charset="0"/>
                <a:ea typeface="黑体" panose="02010609060101010101" pitchFamily="49" charset="-122"/>
              </a:rPr>
              <a:t>图仅涉及了液相、气相和液</a:t>
            </a:r>
            <a:r>
              <a:rPr lang="en-US" altLang="zh-CN" sz="2800" b="1" smtClean="0">
                <a:latin typeface="Times New Roman" panose="02020603050405020304" pitchFamily="18" charset="0"/>
                <a:ea typeface="黑体" panose="02010609060101010101" pitchFamily="49" charset="-122"/>
              </a:rPr>
              <a:t>-</a:t>
            </a:r>
            <a:r>
              <a:rPr lang="zh-CN" altLang="en-US" sz="2800" b="1" smtClean="0">
                <a:latin typeface="Times New Roman" panose="02020603050405020304" pitchFamily="18" charset="0"/>
                <a:ea typeface="黑体" panose="02010609060101010101" pitchFamily="49" charset="-122"/>
              </a:rPr>
              <a:t>气两相平衡区域</a:t>
            </a:r>
            <a:endParaRPr lang="zh-CN" altLang="en-US" sz="2800" b="1" smtClean="0">
              <a:latin typeface="Times New Roman" panose="02020603050405020304" pitchFamily="18" charset="0"/>
              <a:ea typeface="黑体" panose="02010609060101010101" pitchFamily="49" charset="-122"/>
            </a:endParaRPr>
          </a:p>
          <a:p>
            <a:r>
              <a:rPr lang="zh-CN" altLang="en-US" sz="2800" b="1" smtClean="0">
                <a:latin typeface="Times New Roman" panose="02020603050405020304" pitchFamily="18" charset="0"/>
                <a:ea typeface="黑体" panose="02010609060101010101" pitchFamily="49" charset="-122"/>
              </a:rPr>
              <a:t>实际上，</a:t>
            </a:r>
            <a:r>
              <a:rPr lang="zh-CN" altLang="en-US" sz="2800" b="1" i="1" smtClean="0">
                <a:latin typeface="Times New Roman" panose="02020603050405020304" pitchFamily="18" charset="0"/>
                <a:ea typeface="黑体" panose="02010609060101010101" pitchFamily="49" charset="-122"/>
              </a:rPr>
              <a:t> </a:t>
            </a:r>
            <a:r>
              <a:rPr lang="en-US" altLang="zh-CN" sz="2800" b="1" i="1" smtClean="0">
                <a:latin typeface="Times New Roman" panose="02020603050405020304" pitchFamily="18" charset="0"/>
                <a:ea typeface="黑体" panose="02010609060101010101" pitchFamily="49" charset="-122"/>
              </a:rPr>
              <a:t>p-v-T</a:t>
            </a:r>
            <a:r>
              <a:rPr lang="zh-CN" altLang="en-US" sz="2800" b="1" smtClean="0">
                <a:latin typeface="Times New Roman" panose="02020603050405020304" pitchFamily="18" charset="0"/>
                <a:ea typeface="黑体" panose="02010609060101010101" pitchFamily="49" charset="-122"/>
              </a:rPr>
              <a:t>图在三个平面上的投影还包括固相以及固</a:t>
            </a:r>
            <a:r>
              <a:rPr lang="en-US" altLang="zh-CN" sz="2800" b="1" smtClean="0">
                <a:latin typeface="Times New Roman" panose="02020603050405020304" pitchFamily="18" charset="0"/>
                <a:ea typeface="黑体" panose="02010609060101010101" pitchFamily="49" charset="-122"/>
              </a:rPr>
              <a:t>-</a:t>
            </a:r>
            <a:r>
              <a:rPr lang="zh-CN" altLang="en-US" sz="2800" b="1" smtClean="0">
                <a:latin typeface="Times New Roman" panose="02020603050405020304" pitchFamily="18" charset="0"/>
                <a:ea typeface="黑体" panose="02010609060101010101" pitchFamily="49" charset="-122"/>
              </a:rPr>
              <a:t>液两相平衡区和固</a:t>
            </a:r>
            <a:r>
              <a:rPr lang="en-US" altLang="zh-CN" sz="2800" b="1" smtClean="0">
                <a:latin typeface="Times New Roman" panose="02020603050405020304" pitchFamily="18" charset="0"/>
                <a:ea typeface="黑体" panose="02010609060101010101" pitchFamily="49" charset="-122"/>
              </a:rPr>
              <a:t>-</a:t>
            </a:r>
            <a:r>
              <a:rPr lang="zh-CN" altLang="en-US" sz="2800" b="1" smtClean="0">
                <a:latin typeface="Times New Roman" panose="02020603050405020304" pitchFamily="18" charset="0"/>
                <a:ea typeface="黑体" panose="02010609060101010101" pitchFamily="49" charset="-122"/>
              </a:rPr>
              <a:t>气两相平衡区。下面以</a:t>
            </a:r>
            <a:r>
              <a:rPr lang="en-US" altLang="zh-CN" sz="2800" b="1" i="1" smtClean="0">
                <a:latin typeface="Times New Roman" panose="02020603050405020304" pitchFamily="18" charset="0"/>
                <a:ea typeface="黑体" panose="02010609060101010101" pitchFamily="49" charset="-122"/>
              </a:rPr>
              <a:t>p-v</a:t>
            </a:r>
            <a:r>
              <a:rPr lang="zh-CN" altLang="en-US" sz="2800" b="1" smtClean="0">
                <a:latin typeface="Times New Roman" panose="02020603050405020304" pitchFamily="18" charset="0"/>
                <a:ea typeface="黑体" panose="02010609060101010101" pitchFamily="49" charset="-122"/>
              </a:rPr>
              <a:t>图为例进行说明</a:t>
            </a:r>
            <a:endParaRPr lang="zh-CN" altLang="en-US" sz="2800" b="1" smtClean="0">
              <a:latin typeface="Times New Roman" panose="02020603050405020304" pitchFamily="18" charset="0"/>
              <a:ea typeface="黑体" panose="02010609060101010101" pitchFamily="49" charset="-122"/>
            </a:endParaRPr>
          </a:p>
        </p:txBody>
      </p:sp>
      <p:pic>
        <p:nvPicPr>
          <p:cNvPr id="3" name="图片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800292" y="1148137"/>
            <a:ext cx="4035902" cy="3779848"/>
          </a:xfrm>
          <a:prstGeom prst="rect">
            <a:avLst/>
          </a:prstGeom>
        </p:spPr>
      </p:pic>
    </p:spTree>
  </p:cSld>
  <p:clrMapOvr>
    <a:masterClrMapping/>
  </p:clrMapOvr>
  <p:transition spd="slow"/>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文本占位符 146434"/>
          <p:cNvSpPr>
            <a:spLocks noGrp="1" noChangeArrowheads="1"/>
          </p:cNvSpPr>
          <p:nvPr>
            <p:ph idx="1"/>
          </p:nvPr>
        </p:nvSpPr>
        <p:spPr>
          <a:xfrm>
            <a:off x="468313" y="333375"/>
            <a:ext cx="8229600" cy="1612900"/>
          </a:xfrm>
        </p:spPr>
        <p:txBody>
          <a:bodyPr>
            <a:normAutofit/>
          </a:bodyPr>
          <a:lstStyle/>
          <a:p>
            <a:r>
              <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rPr>
              <a:t>由于一些物质凝固时体积收缩，另一些物质凝固时体积膨胀（如水），因此包含固相的纯物质的</a:t>
            </a:r>
            <a:r>
              <a:rPr lang="en-US" altLang="zh-CN" sz="2800" b="1" i="1" dirty="0" smtClean="0">
                <a:latin typeface="Times New Roman" panose="02020603050405020304" pitchFamily="18" charset="0"/>
                <a:ea typeface="黑体" panose="02010609060101010101" pitchFamily="49" charset="-122"/>
                <a:cs typeface="Times New Roman" panose="02020603050405020304" pitchFamily="18" charset="0"/>
              </a:rPr>
              <a:t>p-v</a:t>
            </a:r>
            <a:r>
              <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rPr>
              <a:t>图分为两种 </a:t>
            </a:r>
            <a:endPar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52226" name="矩形 146437"/>
          <p:cNvSpPr>
            <a:spLocks noChangeArrowheads="1"/>
          </p:cNvSpPr>
          <p:nvPr/>
        </p:nvSpPr>
        <p:spPr bwMode="auto">
          <a:xfrm>
            <a:off x="0" y="20859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52228" name="矩形 146439"/>
          <p:cNvSpPr>
            <a:spLocks noChangeArrowheads="1"/>
          </p:cNvSpPr>
          <p:nvPr/>
        </p:nvSpPr>
        <p:spPr bwMode="auto">
          <a:xfrm>
            <a:off x="0" y="20955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52230" name="矩形 146440"/>
          <p:cNvSpPr>
            <a:spLocks noChangeArrowheads="1"/>
          </p:cNvSpPr>
          <p:nvPr/>
        </p:nvSpPr>
        <p:spPr bwMode="auto">
          <a:xfrm>
            <a:off x="4312478" y="5066552"/>
            <a:ext cx="498085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zh-CN" altLang="en-US" sz="2400" b="1" dirty="0">
                <a:latin typeface="黑体" panose="02010609060101010101" pitchFamily="49" charset="-122"/>
                <a:ea typeface="黑体" panose="02010609060101010101" pitchFamily="49" charset="-122"/>
              </a:rPr>
              <a:t>凝固时体积膨胀的物质（例如水） </a:t>
            </a:r>
            <a:endParaRPr lang="zh-CN" altLang="en-US" sz="2400" b="1" dirty="0">
              <a:latin typeface="黑体" panose="02010609060101010101" pitchFamily="49" charset="-122"/>
              <a:ea typeface="黑体" panose="02010609060101010101" pitchFamily="49" charset="-122"/>
            </a:endParaRPr>
          </a:p>
        </p:txBody>
      </p:sp>
      <p:sp>
        <p:nvSpPr>
          <p:cNvPr id="52231" name="矩形 146441"/>
          <p:cNvSpPr>
            <a:spLocks noChangeArrowheads="1"/>
          </p:cNvSpPr>
          <p:nvPr/>
        </p:nvSpPr>
        <p:spPr bwMode="auto">
          <a:xfrm>
            <a:off x="539750" y="5011093"/>
            <a:ext cx="326243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zh-CN" altLang="en-US" sz="2400" b="1" dirty="0">
                <a:latin typeface="黑体" panose="02010609060101010101" pitchFamily="49" charset="-122"/>
                <a:ea typeface="黑体" panose="02010609060101010101" pitchFamily="49" charset="-122"/>
              </a:rPr>
              <a:t>凝固时体积收缩的物质</a:t>
            </a:r>
            <a:endParaRPr lang="zh-CN" altLang="en-US" sz="2400" b="1" dirty="0">
              <a:latin typeface="黑体" panose="02010609060101010101" pitchFamily="49" charset="-122"/>
              <a:ea typeface="黑体" panose="02010609060101010101" pitchFamily="49" charset="-122"/>
            </a:endParaRPr>
          </a:p>
        </p:txBody>
      </p:sp>
      <p:sp>
        <p:nvSpPr>
          <p:cNvPr id="52232" name="矩形 146442"/>
          <p:cNvSpPr>
            <a:spLocks noChangeArrowheads="1"/>
          </p:cNvSpPr>
          <p:nvPr/>
        </p:nvSpPr>
        <p:spPr bwMode="auto">
          <a:xfrm>
            <a:off x="3563938" y="5731818"/>
            <a:ext cx="223651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纯物质的</a:t>
            </a:r>
            <a:r>
              <a:rPr lang="en-US" altLang="zh-CN" sz="2400" b="1" i="1" dirty="0">
                <a:latin typeface="Times New Roman" panose="02020603050405020304" pitchFamily="18" charset="0"/>
                <a:ea typeface="黑体" panose="02010609060101010101" pitchFamily="49" charset="-122"/>
                <a:cs typeface="Times New Roman" panose="02020603050405020304" pitchFamily="18" charset="0"/>
              </a:rPr>
              <a:t>p-v</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图 </a:t>
            </a:r>
            <a:endParaRPr lang="zh-CN" altLang="en-US" sz="2400" b="1" dirty="0">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2" name="图片 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68313" y="2095500"/>
            <a:ext cx="3639627" cy="2688569"/>
          </a:xfrm>
          <a:prstGeom prst="rect">
            <a:avLst/>
          </a:prstGeom>
        </p:spPr>
      </p:pic>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30658" y="2128795"/>
            <a:ext cx="3590855" cy="2664183"/>
          </a:xfrm>
          <a:prstGeom prst="rect">
            <a:avLst/>
          </a:prstGeom>
        </p:spPr>
      </p:pic>
    </p:spTree>
  </p:cSld>
  <p:clrMapOvr>
    <a:masterClrMapping/>
  </p:clrMapOvr>
  <p:transition spd="slow"/>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矩形 147459"/>
          <p:cNvSpPr>
            <a:spLocks noChangeArrowheads="1"/>
          </p:cNvSpPr>
          <p:nvPr/>
        </p:nvSpPr>
        <p:spPr bwMode="auto">
          <a:xfrm>
            <a:off x="539750" y="3640564"/>
            <a:ext cx="796607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在</a:t>
            </a:r>
            <a:r>
              <a:rPr lang="en-US" altLang="zh-CN" sz="2400" b="1" i="1" dirty="0">
                <a:latin typeface="Times New Roman" panose="02020603050405020304" pitchFamily="18" charset="0"/>
                <a:ea typeface="黑体" panose="02010609060101010101" pitchFamily="49" charset="-122"/>
                <a:cs typeface="Times New Roman" panose="02020603050405020304" pitchFamily="18" charset="0"/>
              </a:rPr>
              <a:t>p-v</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图或</a:t>
            </a:r>
            <a:r>
              <a:rPr lang="en-US" altLang="zh-CN" sz="2400" b="1" i="1" dirty="0">
                <a:latin typeface="Times New Roman" panose="02020603050405020304" pitchFamily="18" charset="0"/>
                <a:ea typeface="黑体" panose="02010609060101010101" pitchFamily="49" charset="-122"/>
                <a:cs typeface="Times New Roman" panose="02020603050405020304" pitchFamily="18" charset="0"/>
              </a:rPr>
              <a:t>T-v</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图上，由三相平衡共存的状态点构成的线称为</a:t>
            </a:r>
            <a:r>
              <a:rPr lang="zh-CN" altLang="en-US" sz="24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三相线</a:t>
            </a:r>
            <a:r>
              <a:rPr lang="zh-CN" altLang="en-US" sz="24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 </a:t>
            </a:r>
            <a:endParaRPr lang="zh-CN" altLang="en-US" sz="24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53251" name="矩形 147461"/>
          <p:cNvSpPr>
            <a:spLocks noChangeArrowheads="1"/>
          </p:cNvSpPr>
          <p:nvPr/>
        </p:nvSpPr>
        <p:spPr bwMode="auto">
          <a:xfrm>
            <a:off x="539750" y="4561038"/>
            <a:ext cx="4087812"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2400" b="1" dirty="0">
                <a:solidFill>
                  <a:srgbClr val="0000FF"/>
                </a:solidFill>
                <a:latin typeface="黑体" panose="02010609060101010101" pitchFamily="49" charset="-122"/>
                <a:ea typeface="黑体" panose="02010609060101010101" pitchFamily="49" charset="-122"/>
              </a:rPr>
              <a:t>三相线上的各点压力和温度相同，但比体积不同</a:t>
            </a:r>
            <a:r>
              <a:rPr lang="zh-CN" altLang="en-US" sz="2400" dirty="0">
                <a:solidFill>
                  <a:srgbClr val="0000FF"/>
                </a:solidFill>
                <a:latin typeface="黑体" panose="02010609060101010101" pitchFamily="49" charset="-122"/>
                <a:ea typeface="黑体" panose="02010609060101010101" pitchFamily="49" charset="-122"/>
              </a:rPr>
              <a:t> </a:t>
            </a:r>
            <a:endParaRPr lang="zh-CN" altLang="en-US" sz="2400" dirty="0">
              <a:solidFill>
                <a:srgbClr val="0000FF"/>
              </a:solidFill>
              <a:latin typeface="黑体" panose="02010609060101010101" pitchFamily="49" charset="-122"/>
              <a:ea typeface="黑体" panose="02010609060101010101" pitchFamily="49" charset="-122"/>
            </a:endParaRPr>
          </a:p>
        </p:txBody>
      </p:sp>
      <p:sp>
        <p:nvSpPr>
          <p:cNvPr id="53253" name="矩形 147464"/>
          <p:cNvSpPr>
            <a:spLocks noChangeArrowheads="1"/>
          </p:cNvSpPr>
          <p:nvPr/>
        </p:nvSpPr>
        <p:spPr bwMode="auto">
          <a:xfrm>
            <a:off x="539750" y="5445125"/>
            <a:ext cx="4392612"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正因为三相线上温度和压力相同，因此该线在</a:t>
            </a:r>
            <a:r>
              <a:rPr lang="en-US" altLang="zh-CN" sz="2400" b="1" i="1" dirty="0">
                <a:latin typeface="Times New Roman" panose="02020603050405020304" pitchFamily="18" charset="0"/>
                <a:ea typeface="黑体" panose="02010609060101010101" pitchFamily="49" charset="-122"/>
                <a:cs typeface="Times New Roman" panose="02020603050405020304" pitchFamily="18" charset="0"/>
              </a:rPr>
              <a:t>p-T</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图上的投影仅为一个点，称为</a:t>
            </a:r>
            <a:r>
              <a:rPr lang="zh-CN" altLang="en-US" sz="24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三相点</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 </a:t>
            </a:r>
            <a:endParaRPr lang="zh-CN" altLang="en-US" sz="24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53254" name="矩形 147466"/>
          <p:cNvSpPr>
            <a:spLocks noChangeArrowheads="1"/>
          </p:cNvSpPr>
          <p:nvPr/>
        </p:nvSpPr>
        <p:spPr bwMode="auto">
          <a:xfrm>
            <a:off x="0" y="2438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53256" name="矩形 147467"/>
          <p:cNvSpPr>
            <a:spLocks noChangeArrowheads="1"/>
          </p:cNvSpPr>
          <p:nvPr/>
        </p:nvSpPr>
        <p:spPr bwMode="auto">
          <a:xfrm>
            <a:off x="6659563" y="4508500"/>
            <a:ext cx="2160587" cy="167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2000" dirty="0">
                <a:solidFill>
                  <a:srgbClr val="0000FF"/>
                </a:solidFill>
                <a:ea typeface="楷体_GB2312" pitchFamily="49" charset="-122"/>
              </a:rPr>
              <a:t>物质处于三相点温度和三相点压力时，气、液、固三相可以平衡共存</a:t>
            </a:r>
            <a:r>
              <a:rPr lang="zh-CN" altLang="en-US" dirty="0"/>
              <a:t> </a:t>
            </a:r>
            <a:endParaRPr lang="zh-CN" altLang="en-US" dirty="0"/>
          </a:p>
        </p:txBody>
      </p:sp>
      <p:sp>
        <p:nvSpPr>
          <p:cNvPr id="53257" name="矩形 147468"/>
          <p:cNvSpPr>
            <a:spLocks noChangeArrowheads="1"/>
          </p:cNvSpPr>
          <p:nvPr/>
        </p:nvSpPr>
        <p:spPr bwMode="auto">
          <a:xfrm>
            <a:off x="5219700" y="4221163"/>
            <a:ext cx="3673475" cy="2447925"/>
          </a:xfrm>
          <a:prstGeom prst="rect">
            <a:avLst/>
          </a:prstGeom>
          <a:noFill/>
          <a:ln w="25400">
            <a:solidFill>
              <a:schemeClr val="folHlink"/>
            </a:solidFill>
            <a:miter lim="800000"/>
          </a:ln>
          <a:extLst>
            <a:ext uri="{909E8E84-426E-40DD-AFC4-6F175D3DCCD1}">
              <a14:hiddenFill xmlns:a14="http://schemas.microsoft.com/office/drawing/2010/main">
                <a:solidFill>
                  <a:srgbClr val="FFFFFF"/>
                </a:solidFill>
              </a14:hiddenFill>
            </a:ext>
          </a:extLst>
        </p:spPr>
        <p:txBody>
          <a:bodyPr/>
          <a:lstStyle/>
          <a:p>
            <a:endParaRPr lang="zh-CN" altLang="en-US"/>
          </a:p>
        </p:txBody>
      </p:sp>
      <p:pic>
        <p:nvPicPr>
          <p:cNvPr id="2" name="图片 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41542" y="417471"/>
            <a:ext cx="4249280" cy="3133616"/>
          </a:xfrm>
          <a:prstGeom prst="rect">
            <a:avLst/>
          </a:prstGeom>
        </p:spPr>
      </p:pic>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87531" y="234458"/>
            <a:ext cx="3529890" cy="3261643"/>
          </a:xfrm>
          <a:prstGeom prst="rect">
            <a:avLst/>
          </a:prstGeom>
        </p:spPr>
      </p:pic>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80919" y="4276370"/>
            <a:ext cx="1194920" cy="2231329"/>
          </a:xfrm>
          <a:prstGeom prst="rect">
            <a:avLst/>
          </a:prstGeom>
        </p:spPr>
      </p:pic>
    </p:spTree>
  </p:cSld>
  <p:clrMapOvr>
    <a:masterClrMapping/>
  </p:clrMapOvr>
  <p:transition spd="slow"/>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文本占位符 148482"/>
          <p:cNvSpPr>
            <a:spLocks noGrp="1" noChangeArrowheads="1"/>
          </p:cNvSpPr>
          <p:nvPr>
            <p:ph idx="1"/>
          </p:nvPr>
        </p:nvSpPr>
        <p:spPr>
          <a:xfrm>
            <a:off x="323850" y="188913"/>
            <a:ext cx="8229600" cy="2087562"/>
          </a:xfrm>
        </p:spPr>
        <p:txBody>
          <a:bodyPr/>
          <a:lstStyle/>
          <a:p>
            <a:pPr marL="0" indent="0">
              <a:buNone/>
            </a:pPr>
            <a:r>
              <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rPr>
              <a:t>每一种物质都有唯一的一个三相点，它对应着确定的温度和压力，分别称为三相点温度</a:t>
            </a:r>
            <a:r>
              <a:rPr lang="en-US" altLang="zh-CN" sz="2800" b="1" i="1" dirty="0" err="1" smtClean="0">
                <a:latin typeface="Times New Roman" panose="02020603050405020304" pitchFamily="18" charset="0"/>
                <a:ea typeface="黑体" panose="02010609060101010101" pitchFamily="49" charset="-122"/>
                <a:cs typeface="Times New Roman" panose="02020603050405020304" pitchFamily="18" charset="0"/>
              </a:rPr>
              <a:t>T</a:t>
            </a:r>
            <a:r>
              <a:rPr lang="en-US" altLang="zh-CN" sz="2800" b="1" baseline="-25000" dirty="0" err="1" smtClean="0">
                <a:latin typeface="Times New Roman" panose="02020603050405020304" pitchFamily="18" charset="0"/>
                <a:ea typeface="黑体" panose="02010609060101010101" pitchFamily="49" charset="-122"/>
                <a:cs typeface="Times New Roman" panose="02020603050405020304" pitchFamily="18" charset="0"/>
              </a:rPr>
              <a:t>tp</a:t>
            </a:r>
            <a:r>
              <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rPr>
              <a:t>和三相点压力</a:t>
            </a:r>
            <a:r>
              <a:rPr lang="en-US" altLang="zh-CN" sz="2800" b="1" i="1" dirty="0" err="1" smtClean="0">
                <a:latin typeface="Times New Roman" panose="02020603050405020304" pitchFamily="18" charset="0"/>
                <a:ea typeface="黑体" panose="02010609060101010101" pitchFamily="49" charset="-122"/>
                <a:cs typeface="Times New Roman" panose="02020603050405020304" pitchFamily="18" charset="0"/>
              </a:rPr>
              <a:t>p</a:t>
            </a:r>
            <a:r>
              <a:rPr lang="en-US" altLang="zh-CN" sz="2800" b="1" baseline="-25000" dirty="0" err="1" smtClean="0">
                <a:latin typeface="Times New Roman" panose="02020603050405020304" pitchFamily="18" charset="0"/>
                <a:ea typeface="黑体" panose="02010609060101010101" pitchFamily="49" charset="-122"/>
                <a:cs typeface="Times New Roman" panose="02020603050405020304" pitchFamily="18" charset="0"/>
              </a:rPr>
              <a:t>tp</a:t>
            </a:r>
            <a:r>
              <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rPr>
              <a:t>，其中下标“</a:t>
            </a:r>
            <a:r>
              <a:rPr lang="en-US" altLang="zh-CN" sz="2800" b="1" dirty="0" err="1" smtClean="0">
                <a:latin typeface="Times New Roman" panose="02020603050405020304" pitchFamily="18" charset="0"/>
                <a:ea typeface="黑体" panose="02010609060101010101" pitchFamily="49" charset="-122"/>
                <a:cs typeface="Times New Roman" panose="02020603050405020304" pitchFamily="18" charset="0"/>
              </a:rPr>
              <a:t>tp</a:t>
            </a:r>
            <a:r>
              <a:rPr lang="en-US" altLang="zh-CN" sz="2800" b="1" dirty="0" smtClean="0">
                <a:latin typeface="Times New Roman" panose="02020603050405020304" pitchFamily="18" charset="0"/>
                <a:ea typeface="黑体" panose="02010609060101010101" pitchFamily="49" charset="-122"/>
                <a:cs typeface="Times New Roman" panose="02020603050405020304" pitchFamily="18" charset="0"/>
              </a:rPr>
              <a:t>”</a:t>
            </a:r>
            <a:r>
              <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rPr>
              <a:t>是三相点（</a:t>
            </a:r>
            <a:r>
              <a:rPr lang="en-US" altLang="zh-CN" sz="2800" b="1" dirty="0" smtClean="0">
                <a:latin typeface="Times New Roman" panose="02020603050405020304" pitchFamily="18" charset="0"/>
                <a:ea typeface="黑体" panose="02010609060101010101" pitchFamily="49" charset="-122"/>
                <a:cs typeface="Times New Roman" panose="02020603050405020304" pitchFamily="18" charset="0"/>
              </a:rPr>
              <a:t>triple point</a:t>
            </a:r>
            <a:r>
              <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rPr>
              <a:t>）的英文缩写。</a:t>
            </a:r>
            <a:r>
              <a:rPr lang="zh-CN" altLang="en-US" dirty="0" smtClean="0">
                <a:latin typeface="Times New Roman" panose="02020603050405020304" pitchFamily="18" charset="0"/>
                <a:ea typeface="黑体" panose="02010609060101010101" pitchFamily="49" charset="-122"/>
                <a:cs typeface="Times New Roman" panose="02020603050405020304" pitchFamily="18" charset="0"/>
              </a:rPr>
              <a:t> </a:t>
            </a:r>
            <a:endParaRPr lang="zh-CN" altLang="en-US" dirty="0" smtClean="0">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54274" name="对象 148485"/>
          <p:cNvGraphicFramePr/>
          <p:nvPr/>
        </p:nvGraphicFramePr>
        <p:xfrm>
          <a:off x="2036217" y="1916111"/>
          <a:ext cx="1439862" cy="492125"/>
        </p:xfrm>
        <a:graphic>
          <a:graphicData uri="http://schemas.openxmlformats.org/presentationml/2006/ole">
            <mc:AlternateContent xmlns:mc="http://schemas.openxmlformats.org/markup-compatibility/2006">
              <mc:Choice xmlns:v="urn:schemas-microsoft-com:vml" Requires="v">
                <p:oleObj spid="_x0000_s29760" name="" r:id="rId1" imgW="748665" imgH="254000" progId="Equation.DSMT4">
                  <p:embed/>
                </p:oleObj>
              </mc:Choice>
              <mc:Fallback>
                <p:oleObj name="" r:id="rId1" imgW="748665" imgH="254000" progId="Equation.DSMT4">
                  <p:embed/>
                  <p:pic>
                    <p:nvPicPr>
                      <p:cNvPr id="0" name="对象 148485"/>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36217" y="1916111"/>
                        <a:ext cx="1439862"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54275" name="对象 148484"/>
          <p:cNvGraphicFramePr/>
          <p:nvPr/>
        </p:nvGraphicFramePr>
        <p:xfrm>
          <a:off x="1974542" y="2480607"/>
          <a:ext cx="1728788" cy="446088"/>
        </p:xfrm>
        <a:graphic>
          <a:graphicData uri="http://schemas.openxmlformats.org/presentationml/2006/ole">
            <mc:AlternateContent xmlns:mc="http://schemas.openxmlformats.org/markup-compatibility/2006">
              <mc:Choice xmlns:v="urn:schemas-microsoft-com:vml" Requires="v">
                <p:oleObj spid="_x0000_s29761" name="" r:id="rId3" imgW="927100" imgH="241300" progId="Equation.DSMT4">
                  <p:embed/>
                </p:oleObj>
              </mc:Choice>
              <mc:Fallback>
                <p:oleObj name="" r:id="rId3" imgW="927100" imgH="241300" progId="Equation.DSMT4">
                  <p:embed/>
                  <p:pic>
                    <p:nvPicPr>
                      <p:cNvPr id="0" name="对象 14848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74542" y="2480607"/>
                        <a:ext cx="1728788" cy="446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54276" name="对象 148483"/>
          <p:cNvGraphicFramePr/>
          <p:nvPr/>
        </p:nvGraphicFramePr>
        <p:xfrm>
          <a:off x="4181751" y="2129304"/>
          <a:ext cx="2232025" cy="498475"/>
        </p:xfrm>
        <a:graphic>
          <a:graphicData uri="http://schemas.openxmlformats.org/presentationml/2006/ole">
            <mc:AlternateContent xmlns:mc="http://schemas.openxmlformats.org/markup-compatibility/2006">
              <mc:Choice xmlns:v="urn:schemas-microsoft-com:vml" Requires="v">
                <p:oleObj spid="_x0000_s29762" name="" r:id="rId5" imgW="1066800" imgH="241300" progId="Equation.DSMT4">
                  <p:embed/>
                </p:oleObj>
              </mc:Choice>
              <mc:Fallback>
                <p:oleObj name="" r:id="rId5" imgW="1066800" imgH="241300" progId="Equation.DSMT4">
                  <p:embed/>
                  <p:pic>
                    <p:nvPicPr>
                      <p:cNvPr id="0" name="对象 148483"/>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81751" y="2129304"/>
                        <a:ext cx="2232025"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4279" name="矩形 148495"/>
          <p:cNvSpPr>
            <a:spLocks noChangeArrowheads="1"/>
          </p:cNvSpPr>
          <p:nvPr/>
        </p:nvSpPr>
        <p:spPr bwMode="auto">
          <a:xfrm>
            <a:off x="1374160" y="2114951"/>
            <a:ext cx="49244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dirty="0">
                <a:latin typeface="黑体" panose="02010609060101010101" pitchFamily="49" charset="-122"/>
                <a:ea typeface="黑体" panose="02010609060101010101" pitchFamily="49" charset="-122"/>
              </a:rPr>
              <a:t>水</a:t>
            </a:r>
            <a:endParaRPr lang="zh-CN" altLang="en-US" sz="2400" dirty="0">
              <a:latin typeface="黑体" panose="02010609060101010101" pitchFamily="49" charset="-122"/>
              <a:ea typeface="黑体" panose="02010609060101010101" pitchFamily="49" charset="-122"/>
            </a:endParaRPr>
          </a:p>
        </p:txBody>
      </p:sp>
      <p:sp>
        <p:nvSpPr>
          <p:cNvPr id="54280" name="矩形 148496"/>
          <p:cNvSpPr>
            <a:spLocks noChangeArrowheads="1"/>
          </p:cNvSpPr>
          <p:nvPr/>
        </p:nvSpPr>
        <p:spPr bwMode="auto">
          <a:xfrm>
            <a:off x="468313" y="3130827"/>
            <a:ext cx="4895850" cy="304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2400" b="1" dirty="0">
                <a:latin typeface="黑体" panose="02010609060101010101" pitchFamily="49" charset="-122"/>
                <a:ea typeface="黑体" panose="02010609060101010101" pitchFamily="49" charset="-122"/>
              </a:rPr>
              <a:t>由于三相点的温度值确定，且三相点又易于准确地实现，因此温度测量的参考点常选在某些物质的三相点。例如，在</a:t>
            </a:r>
            <a:r>
              <a:rPr lang="en-US" altLang="zh-CN" sz="2400" b="1" dirty="0">
                <a:latin typeface="黑体" panose="02010609060101010101" pitchFamily="49" charset="-122"/>
                <a:ea typeface="黑体" panose="02010609060101010101" pitchFamily="49" charset="-122"/>
              </a:rPr>
              <a:t>1-3</a:t>
            </a:r>
            <a:r>
              <a:rPr lang="zh-CN" altLang="en-US" sz="2400" b="1" dirty="0">
                <a:latin typeface="黑体" panose="02010609060101010101" pitchFamily="49" charset="-122"/>
                <a:ea typeface="黑体" panose="02010609060101010101" pitchFamily="49" charset="-122"/>
              </a:rPr>
              <a:t>节中提到，</a:t>
            </a:r>
            <a:r>
              <a:rPr lang="zh-CN" altLang="en-US" sz="2400" b="1" dirty="0" smtClean="0">
                <a:latin typeface="黑体" panose="02010609060101010101" pitchFamily="49" charset="-122"/>
                <a:ea typeface="黑体" panose="02010609060101010101" pitchFamily="49" charset="-122"/>
              </a:rPr>
              <a:t>热力学温标</a:t>
            </a:r>
            <a:r>
              <a:rPr lang="zh-CN" altLang="en-US" sz="2400" b="1" dirty="0">
                <a:latin typeface="黑体" panose="02010609060101010101" pitchFamily="49" charset="-122"/>
                <a:ea typeface="黑体" panose="02010609060101010101" pitchFamily="49" charset="-122"/>
              </a:rPr>
              <a:t>就是把水的三相点温度作为基准点。再如，在</a:t>
            </a:r>
            <a:r>
              <a:rPr lang="en-US" altLang="zh-CN" sz="2400" b="1" dirty="0">
                <a:latin typeface="黑体" panose="02010609060101010101" pitchFamily="49" charset="-122"/>
                <a:ea typeface="黑体" panose="02010609060101010101" pitchFamily="49" charset="-122"/>
              </a:rPr>
              <a:t>9-4</a:t>
            </a:r>
            <a:r>
              <a:rPr lang="zh-CN" altLang="en-US" sz="2400" b="1" dirty="0">
                <a:latin typeface="黑体" panose="02010609060101010101" pitchFamily="49" charset="-122"/>
                <a:ea typeface="黑体" panose="02010609060101010101" pitchFamily="49" charset="-122"/>
              </a:rPr>
              <a:t>节将会提到，水蒸气热力性质表的基准点也选为水的三相点。 </a:t>
            </a:r>
            <a:endParaRPr lang="zh-CN" altLang="en-US" sz="2400" b="1" dirty="0">
              <a:latin typeface="黑体" panose="02010609060101010101" pitchFamily="49" charset="-122"/>
              <a:ea typeface="黑体" panose="02010609060101010101" pitchFamily="49" charset="-122"/>
            </a:endParaRPr>
          </a:p>
        </p:txBody>
      </p:sp>
      <p:pic>
        <p:nvPicPr>
          <p:cNvPr id="2" name="图片 1"/>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364163" y="2916172"/>
            <a:ext cx="3529890" cy="3261643"/>
          </a:xfrm>
          <a:prstGeom prst="rect">
            <a:avLst/>
          </a:prstGeom>
        </p:spPr>
      </p:pic>
    </p:spTree>
  </p:cSld>
  <p:clrMapOvr>
    <a:masterClrMapping/>
  </p:clrMapOvr>
  <p:transition spd="slow"/>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矩形 150532"/>
          <p:cNvSpPr>
            <a:spLocks noChangeArrowheads="1"/>
          </p:cNvSpPr>
          <p:nvPr/>
        </p:nvSpPr>
        <p:spPr bwMode="auto">
          <a:xfrm>
            <a:off x="539750" y="4575621"/>
            <a:ext cx="8064500"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2800" b="1" dirty="0">
                <a:solidFill>
                  <a:srgbClr val="FF0000"/>
                </a:solidFill>
                <a:latin typeface="黑体" panose="02010609060101010101" pitchFamily="49" charset="-122"/>
                <a:ea typeface="黑体" panose="02010609060101010101" pitchFamily="49" charset="-122"/>
              </a:rPr>
              <a:t>注意：</a:t>
            </a:r>
            <a:r>
              <a:rPr lang="zh-CN" altLang="en-US" sz="2800" b="1" dirty="0">
                <a:latin typeface="黑体" panose="02010609060101010101" pitchFamily="49" charset="-122"/>
                <a:ea typeface="黑体" panose="02010609060101010101" pitchFamily="49" charset="-122"/>
              </a:rPr>
              <a:t>临界参数中临界</a:t>
            </a:r>
            <a:r>
              <a:rPr lang="zh-CN" altLang="en-US" sz="2800" b="1" dirty="0" smtClean="0">
                <a:latin typeface="黑体" panose="02010609060101010101" pitchFamily="49" charset="-122"/>
                <a:ea typeface="黑体" panose="02010609060101010101" pitchFamily="49" charset="-122"/>
              </a:rPr>
              <a:t>比体积</a:t>
            </a:r>
            <a:r>
              <a:rPr lang="en-US" altLang="zh-CN" sz="2800" b="1" i="1" dirty="0" err="1" smtClean="0">
                <a:latin typeface="Times New Roman" panose="02020603050405020304" pitchFamily="18" charset="0"/>
                <a:ea typeface="黑体" panose="02010609060101010101" pitchFamily="49" charset="-122"/>
                <a:cs typeface="Times New Roman" panose="02020603050405020304" pitchFamily="18" charset="0"/>
              </a:rPr>
              <a:t>v</a:t>
            </a:r>
            <a:r>
              <a:rPr lang="en-US" altLang="zh-CN" sz="2800" b="1" baseline="-25000" dirty="0" err="1" smtClean="0">
                <a:latin typeface="Times New Roman" panose="02020603050405020304" pitchFamily="18" charset="0"/>
                <a:ea typeface="黑体" panose="02010609060101010101" pitchFamily="49" charset="-122"/>
                <a:cs typeface="Times New Roman" panose="02020603050405020304" pitchFamily="18" charset="0"/>
              </a:rPr>
              <a:t>cr</a:t>
            </a:r>
            <a:r>
              <a:rPr lang="zh-CN" altLang="en-US" sz="2800" b="1" dirty="0" smtClean="0">
                <a:latin typeface="黑体" panose="02010609060101010101" pitchFamily="49" charset="-122"/>
                <a:ea typeface="黑体" panose="02010609060101010101" pitchFamily="49" charset="-122"/>
              </a:rPr>
              <a:t>有</a:t>
            </a:r>
            <a:r>
              <a:rPr lang="zh-CN" altLang="en-US" sz="2800" b="1" dirty="0">
                <a:latin typeface="黑体" panose="02010609060101010101" pitchFamily="49" charset="-122"/>
                <a:ea typeface="黑体" panose="02010609060101010101" pitchFamily="49" charset="-122"/>
              </a:rPr>
              <a:t>确定的数值，而物质位于三相点时的</a:t>
            </a:r>
            <a:r>
              <a:rPr lang="zh-CN" altLang="en-US" sz="2800" b="1" dirty="0" smtClean="0">
                <a:latin typeface="黑体" panose="02010609060101010101" pitchFamily="49" charset="-122"/>
                <a:ea typeface="黑体" panose="02010609060101010101" pitchFamily="49" charset="-122"/>
              </a:rPr>
              <a:t>比体积没有</a:t>
            </a:r>
            <a:r>
              <a:rPr lang="zh-CN" altLang="en-US" sz="2800" b="1" dirty="0">
                <a:latin typeface="黑体" panose="02010609060101010101" pitchFamily="49" charset="-122"/>
                <a:ea typeface="黑体" panose="02010609060101010101" pitchFamily="49" charset="-122"/>
              </a:rPr>
              <a:t>确定的数值，这是因为物质在三相点时的气、液、固成分可以变化  </a:t>
            </a:r>
            <a:endParaRPr lang="zh-CN" altLang="en-US" sz="2800" b="1" dirty="0">
              <a:latin typeface="黑体" panose="02010609060101010101" pitchFamily="49" charset="-122"/>
              <a:ea typeface="黑体" panose="02010609060101010101" pitchFamily="49" charset="-122"/>
            </a:endParaRPr>
          </a:p>
        </p:txBody>
      </p:sp>
      <p:sp>
        <p:nvSpPr>
          <p:cNvPr id="55299" name="矩形 150534"/>
          <p:cNvSpPr>
            <a:spLocks noChangeArrowheads="1"/>
          </p:cNvSpPr>
          <p:nvPr/>
        </p:nvSpPr>
        <p:spPr bwMode="auto">
          <a:xfrm>
            <a:off x="0" y="33099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55300" name="对象 150533"/>
          <p:cNvGraphicFramePr>
            <a:graphicFrameLocks noChangeAspect="1"/>
          </p:cNvGraphicFramePr>
          <p:nvPr/>
        </p:nvGraphicFramePr>
        <p:xfrm>
          <a:off x="2966475" y="3828399"/>
          <a:ext cx="2644013" cy="460883"/>
        </p:xfrm>
        <a:graphic>
          <a:graphicData uri="http://schemas.openxmlformats.org/presentationml/2006/ole">
            <mc:AlternateContent xmlns:mc="http://schemas.openxmlformats.org/markup-compatibility/2006">
              <mc:Choice xmlns:v="urn:schemas-microsoft-com:vml" Requires="v">
                <p:oleObj spid="_x0000_s30761" name="" r:id="rId1" imgW="1384300" imgH="241300" progId="Equation.DSMT4">
                  <p:embed/>
                </p:oleObj>
              </mc:Choice>
              <mc:Fallback>
                <p:oleObj name="" r:id="rId1" imgW="1384300" imgH="241300" progId="Equation.DSMT4">
                  <p:embed/>
                  <p:pic>
                    <p:nvPicPr>
                      <p:cNvPr id="0" name="对象 150533"/>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66475" y="3828399"/>
                        <a:ext cx="2644013" cy="460883"/>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上箭头 1"/>
          <p:cNvSpPr/>
          <p:nvPr/>
        </p:nvSpPr>
        <p:spPr>
          <a:xfrm>
            <a:off x="4173302" y="4289282"/>
            <a:ext cx="304800" cy="316084"/>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13052" y="852391"/>
            <a:ext cx="1194920" cy="2231329"/>
          </a:xfrm>
          <a:prstGeom prst="rect">
            <a:avLst/>
          </a:prstGeom>
        </p:spPr>
      </p:pic>
      <p:pic>
        <p:nvPicPr>
          <p:cNvPr id="3" name="图片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92171" y="277270"/>
            <a:ext cx="3633531" cy="3407959"/>
          </a:xfrm>
          <a:prstGeom prst="rect">
            <a:avLst/>
          </a:prstGeom>
        </p:spPr>
      </p:pic>
    </p:spTree>
  </p:cSld>
  <p:clrMapOvr>
    <a:masterClrMapping/>
  </p:clrMapOvr>
  <p:transition spd="slow"/>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矩形 151556"/>
          <p:cNvSpPr>
            <a:spLocks noChangeArrowheads="1"/>
          </p:cNvSpPr>
          <p:nvPr/>
        </p:nvSpPr>
        <p:spPr bwMode="auto">
          <a:xfrm>
            <a:off x="0" y="20955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56323" name="矩形 151557"/>
          <p:cNvSpPr>
            <a:spLocks noChangeArrowheads="1"/>
          </p:cNvSpPr>
          <p:nvPr/>
        </p:nvSpPr>
        <p:spPr bwMode="auto">
          <a:xfrm>
            <a:off x="611188" y="4005263"/>
            <a:ext cx="8064500"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2800" b="1" dirty="0">
                <a:latin typeface="黑体" panose="02010609060101010101" pitchFamily="49" charset="-122"/>
                <a:ea typeface="黑体" panose="02010609060101010101" pitchFamily="49" charset="-122"/>
              </a:rPr>
              <a:t>当压力低于三相点压力时，物质无法以液相存在。因此，若固相物质在低于三相点压力下吸热，则可以直接转变为气相而不经历液相，这种相变过程称为</a:t>
            </a:r>
            <a:r>
              <a:rPr lang="zh-CN" altLang="en-US" sz="2800" b="1" dirty="0">
                <a:solidFill>
                  <a:srgbClr val="FF0000"/>
                </a:solidFill>
                <a:latin typeface="黑体" panose="02010609060101010101" pitchFamily="49" charset="-122"/>
                <a:ea typeface="黑体" panose="02010609060101010101" pitchFamily="49" charset="-122"/>
              </a:rPr>
              <a:t>升华</a:t>
            </a:r>
            <a:endParaRPr lang="zh-CN" altLang="en-US" sz="2800" b="1" dirty="0">
              <a:latin typeface="黑体" panose="02010609060101010101" pitchFamily="49" charset="-122"/>
              <a:ea typeface="黑体" panose="02010609060101010101" pitchFamily="49" charset="-122"/>
            </a:endParaRPr>
          </a:p>
        </p:txBody>
      </p:sp>
      <p:sp>
        <p:nvSpPr>
          <p:cNvPr id="56324" name="矩形 151559"/>
          <p:cNvSpPr>
            <a:spLocks noChangeArrowheads="1"/>
          </p:cNvSpPr>
          <p:nvPr/>
        </p:nvSpPr>
        <p:spPr bwMode="auto">
          <a:xfrm>
            <a:off x="0" y="2438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pic>
        <p:nvPicPr>
          <p:cNvPr id="2" name="图片 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765108" y="383896"/>
            <a:ext cx="4724809" cy="3499407"/>
          </a:xfrm>
          <a:prstGeom prst="rect">
            <a:avLst/>
          </a:prstGeom>
        </p:spPr>
      </p:pic>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00521" y="824299"/>
            <a:ext cx="1463167" cy="2731245"/>
          </a:xfrm>
          <a:prstGeom prst="rect">
            <a:avLst/>
          </a:prstGeom>
        </p:spPr>
      </p:pic>
    </p:spTree>
  </p:cSld>
  <p:clrMapOvr>
    <a:masterClrMapping/>
  </p:clrMapOvr>
  <p:transition spd="slow"/>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矩形 153601"/>
          <p:cNvSpPr>
            <a:spLocks noChangeArrowheads="1"/>
          </p:cNvSpPr>
          <p:nvPr/>
        </p:nvSpPr>
        <p:spPr bwMode="auto">
          <a:xfrm>
            <a:off x="611188" y="1052513"/>
            <a:ext cx="81375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把</a:t>
            </a:r>
            <a:r>
              <a:rPr lang="en-US" altLang="zh-CN" sz="2800" b="1" i="1" dirty="0">
                <a:latin typeface="Times New Roman" panose="02020603050405020304" pitchFamily="18" charset="0"/>
                <a:ea typeface="黑体" panose="02010609060101010101" pitchFamily="49" charset="-122"/>
                <a:cs typeface="Times New Roman" panose="02020603050405020304" pitchFamily="18" charset="0"/>
              </a:rPr>
              <a:t>p</a:t>
            </a:r>
            <a:r>
              <a:rPr lang="en-US" altLang="zh-CN" sz="2800" b="1"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2800" b="1" i="1" dirty="0">
                <a:latin typeface="Times New Roman" panose="02020603050405020304" pitchFamily="18" charset="0"/>
                <a:ea typeface="黑体" panose="02010609060101010101" pitchFamily="49" charset="-122"/>
                <a:cs typeface="Times New Roman" panose="02020603050405020304" pitchFamily="18" charset="0"/>
              </a:rPr>
              <a:t>v</a:t>
            </a:r>
            <a:r>
              <a:rPr lang="en-US" altLang="zh-CN" sz="2800" b="1"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2800" b="1" i="1" dirty="0">
                <a:latin typeface="Times New Roman" panose="02020603050405020304" pitchFamily="18" charset="0"/>
                <a:ea typeface="黑体" panose="02010609060101010101" pitchFamily="49" charset="-122"/>
                <a:cs typeface="Times New Roman" panose="02020603050405020304" pitchFamily="18" charset="0"/>
              </a:rPr>
              <a:t>T</a:t>
            </a: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图投影到</a:t>
            </a:r>
            <a:r>
              <a:rPr lang="en-US" altLang="zh-CN" sz="2800" b="1" i="1" dirty="0">
                <a:latin typeface="Times New Roman" panose="02020603050405020304" pitchFamily="18" charset="0"/>
                <a:ea typeface="黑体" panose="02010609060101010101" pitchFamily="49" charset="-122"/>
                <a:cs typeface="Times New Roman" panose="02020603050405020304" pitchFamily="18" charset="0"/>
              </a:rPr>
              <a:t>p-T</a:t>
            </a: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面上即可得到</a:t>
            </a:r>
            <a:r>
              <a:rPr lang="en-US" altLang="zh-CN" sz="2800" b="1" i="1" dirty="0">
                <a:latin typeface="Times New Roman" panose="02020603050405020304" pitchFamily="18" charset="0"/>
                <a:ea typeface="黑体" panose="02010609060101010101" pitchFamily="49" charset="-122"/>
                <a:cs typeface="Times New Roman" panose="02020603050405020304" pitchFamily="18" charset="0"/>
              </a:rPr>
              <a:t>p-T</a:t>
            </a: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图</a:t>
            </a:r>
            <a:endParaRPr lang="zh-CN" altLang="en-US" sz="28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57346" name="矩形 153602"/>
          <p:cNvSpPr>
            <a:spLocks noChangeArrowheads="1"/>
          </p:cNvSpPr>
          <p:nvPr/>
        </p:nvSpPr>
        <p:spPr bwMode="auto">
          <a:xfrm>
            <a:off x="395288" y="186244"/>
            <a:ext cx="365997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zh-CN" altLang="en-US" sz="3200" b="1" dirty="0">
                <a:latin typeface="Times New Roman" panose="02020603050405020304" pitchFamily="18" charset="0"/>
                <a:ea typeface="黑体" panose="02010609060101010101" pitchFamily="49" charset="-122"/>
              </a:rPr>
              <a:t>四</a:t>
            </a:r>
            <a:r>
              <a:rPr lang="zh-CN" altLang="en-US" sz="3200" b="1" dirty="0" smtClean="0">
                <a:latin typeface="Times New Roman" panose="02020603050405020304" pitchFamily="18" charset="0"/>
                <a:ea typeface="黑体" panose="02010609060101010101" pitchFamily="49" charset="-122"/>
              </a:rPr>
              <a:t>、</a:t>
            </a:r>
            <a:r>
              <a:rPr lang="en-US" altLang="zh-CN" sz="3200" b="1" i="1" dirty="0" smtClean="0">
                <a:latin typeface="Times New Roman" panose="02020603050405020304" pitchFamily="18" charset="0"/>
                <a:ea typeface="黑体" panose="02010609060101010101" pitchFamily="49" charset="-122"/>
              </a:rPr>
              <a:t>p-T</a:t>
            </a:r>
            <a:r>
              <a:rPr lang="zh-CN" altLang="en-US" sz="3200" b="1" dirty="0">
                <a:latin typeface="Times New Roman" panose="02020603050405020304" pitchFamily="18" charset="0"/>
                <a:ea typeface="黑体" panose="02010609060101010101" pitchFamily="49" charset="-122"/>
              </a:rPr>
              <a:t>图（相图）</a:t>
            </a:r>
            <a:endParaRPr lang="zh-CN" altLang="en-US" sz="3200" b="1" dirty="0">
              <a:latin typeface="Times New Roman" panose="02020603050405020304" pitchFamily="18" charset="0"/>
              <a:ea typeface="黑体" panose="02010609060101010101" pitchFamily="49" charset="-122"/>
            </a:endParaRPr>
          </a:p>
        </p:txBody>
      </p:sp>
      <p:sp>
        <p:nvSpPr>
          <p:cNvPr id="57348" name="矩形 153611"/>
          <p:cNvSpPr>
            <a:spLocks noChangeArrowheads="1"/>
          </p:cNvSpPr>
          <p:nvPr/>
        </p:nvSpPr>
        <p:spPr bwMode="auto">
          <a:xfrm>
            <a:off x="0" y="20859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57350" name="矩形 153612"/>
          <p:cNvSpPr>
            <a:spLocks noChangeArrowheads="1"/>
          </p:cNvSpPr>
          <p:nvPr/>
        </p:nvSpPr>
        <p:spPr bwMode="auto">
          <a:xfrm>
            <a:off x="2411413" y="5874693"/>
            <a:ext cx="436209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zh-CN" altLang="en-US" sz="2400" b="1" dirty="0">
                <a:solidFill>
                  <a:srgbClr val="0000FF"/>
                </a:solidFill>
                <a:latin typeface="黑体" panose="02010609060101010101" pitchFamily="49" charset="-122"/>
                <a:ea typeface="黑体" panose="02010609060101010101" pitchFamily="49" charset="-122"/>
              </a:rPr>
              <a:t>适用于凝固时体积压缩的物质 </a:t>
            </a:r>
            <a:endParaRPr lang="zh-CN" altLang="en-US" sz="2400" b="1" dirty="0">
              <a:solidFill>
                <a:srgbClr val="0000FF"/>
              </a:solidFill>
              <a:latin typeface="黑体" panose="02010609060101010101" pitchFamily="49" charset="-122"/>
              <a:ea typeface="黑体" panose="02010609060101010101" pitchFamily="49" charset="-122"/>
            </a:endParaRPr>
          </a:p>
        </p:txBody>
      </p:sp>
      <p:pic>
        <p:nvPicPr>
          <p:cNvPr id="2" name="图片 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97599" y="1853119"/>
            <a:ext cx="4102964" cy="3792041"/>
          </a:xfrm>
          <a:prstGeom prst="rect">
            <a:avLst/>
          </a:prstGeom>
        </p:spPr>
      </p:pic>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92459" y="2085975"/>
            <a:ext cx="3749365" cy="3322608"/>
          </a:xfrm>
          <a:prstGeom prst="rect">
            <a:avLst/>
          </a:prstGeom>
        </p:spPr>
      </p:pic>
    </p:spTree>
  </p:cSld>
  <p:clrMapOvr>
    <a:masterClrMapping/>
  </p:clrMapOvr>
  <p:transition spd="slow"/>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矩形 152580"/>
          <p:cNvSpPr>
            <a:spLocks noChangeArrowheads="1"/>
          </p:cNvSpPr>
          <p:nvPr/>
        </p:nvSpPr>
        <p:spPr bwMode="auto">
          <a:xfrm>
            <a:off x="611188" y="404813"/>
            <a:ext cx="81375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把</a:t>
            </a:r>
            <a:r>
              <a:rPr lang="en-US" altLang="zh-CN" sz="2800" b="1" i="1" dirty="0">
                <a:latin typeface="Times New Roman" panose="02020603050405020304" pitchFamily="18" charset="0"/>
                <a:ea typeface="黑体" panose="02010609060101010101" pitchFamily="49" charset="-122"/>
                <a:cs typeface="Times New Roman" panose="02020603050405020304" pitchFamily="18" charset="0"/>
              </a:rPr>
              <a:t>p</a:t>
            </a:r>
            <a:r>
              <a:rPr lang="en-US" altLang="zh-CN" sz="2800" b="1"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2800" b="1" i="1" dirty="0">
                <a:latin typeface="Times New Roman" panose="02020603050405020304" pitchFamily="18" charset="0"/>
                <a:ea typeface="黑体" panose="02010609060101010101" pitchFamily="49" charset="-122"/>
                <a:cs typeface="Times New Roman" panose="02020603050405020304" pitchFamily="18" charset="0"/>
              </a:rPr>
              <a:t>v</a:t>
            </a:r>
            <a:r>
              <a:rPr lang="en-US" altLang="zh-CN" sz="2800" b="1"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2800" b="1" i="1" dirty="0">
                <a:latin typeface="Times New Roman" panose="02020603050405020304" pitchFamily="18" charset="0"/>
                <a:ea typeface="黑体" panose="02010609060101010101" pitchFamily="49" charset="-122"/>
                <a:cs typeface="Times New Roman" panose="02020603050405020304" pitchFamily="18" charset="0"/>
              </a:rPr>
              <a:t>T</a:t>
            </a: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图投影到</a:t>
            </a:r>
            <a:r>
              <a:rPr lang="en-US" altLang="zh-CN" sz="2800" b="1" i="1" dirty="0">
                <a:latin typeface="Times New Roman" panose="02020603050405020304" pitchFamily="18" charset="0"/>
                <a:ea typeface="黑体" panose="02010609060101010101" pitchFamily="49" charset="-122"/>
                <a:cs typeface="Times New Roman" panose="02020603050405020304" pitchFamily="18" charset="0"/>
              </a:rPr>
              <a:t>p-T</a:t>
            </a: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面上即可得到</a:t>
            </a:r>
            <a:r>
              <a:rPr lang="en-US" altLang="zh-CN" sz="2800" b="1" i="1" dirty="0">
                <a:latin typeface="Times New Roman" panose="02020603050405020304" pitchFamily="18" charset="0"/>
                <a:ea typeface="黑体" panose="02010609060101010101" pitchFamily="49" charset="-122"/>
                <a:cs typeface="Times New Roman" panose="02020603050405020304" pitchFamily="18" charset="0"/>
              </a:rPr>
              <a:t>p-T</a:t>
            </a: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图</a:t>
            </a:r>
            <a:endParaRPr lang="zh-CN" altLang="en-US" sz="28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58372" name="矩形 152584"/>
          <p:cNvSpPr>
            <a:spLocks noChangeArrowheads="1"/>
          </p:cNvSpPr>
          <p:nvPr/>
        </p:nvSpPr>
        <p:spPr bwMode="auto">
          <a:xfrm>
            <a:off x="3419475" y="4579293"/>
            <a:ext cx="559961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zh-CN" altLang="en-US" sz="2400" b="1" dirty="0">
                <a:solidFill>
                  <a:srgbClr val="0000FF"/>
                </a:solidFill>
                <a:latin typeface="黑体" panose="02010609060101010101" pitchFamily="49" charset="-122"/>
                <a:ea typeface="黑体" panose="02010609060101010101" pitchFamily="49" charset="-122"/>
              </a:rPr>
              <a:t>适用于凝固时体积膨胀的物质（如水）</a:t>
            </a:r>
            <a:r>
              <a:rPr lang="zh-CN" altLang="en-US" sz="2400" b="1" dirty="0">
                <a:latin typeface="黑体" panose="02010609060101010101" pitchFamily="49" charset="-122"/>
                <a:ea typeface="黑体" panose="02010609060101010101" pitchFamily="49" charset="-122"/>
              </a:rPr>
              <a:t> </a:t>
            </a:r>
            <a:endParaRPr lang="zh-CN" altLang="en-US" sz="2400" b="1" dirty="0">
              <a:latin typeface="黑体" panose="02010609060101010101" pitchFamily="49" charset="-122"/>
              <a:ea typeface="黑体" panose="02010609060101010101" pitchFamily="49" charset="-122"/>
            </a:endParaRPr>
          </a:p>
        </p:txBody>
      </p:sp>
      <p:sp>
        <p:nvSpPr>
          <p:cNvPr id="58373" name="矩形 152585"/>
          <p:cNvSpPr>
            <a:spLocks noChangeArrowheads="1"/>
          </p:cNvSpPr>
          <p:nvPr/>
        </p:nvSpPr>
        <p:spPr bwMode="auto">
          <a:xfrm>
            <a:off x="468313" y="5438686"/>
            <a:ext cx="828040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2400" b="1" dirty="0">
                <a:latin typeface="黑体" panose="02010609060101010101" pitchFamily="49" charset="-122"/>
                <a:ea typeface="黑体" panose="02010609060101010101" pitchFamily="49" charset="-122"/>
              </a:rPr>
              <a:t>由于在</a:t>
            </a:r>
            <a:r>
              <a:rPr lang="en-US" altLang="zh-CN" sz="2400" b="1" i="1" dirty="0">
                <a:latin typeface="Times New Roman" panose="02020603050405020304" pitchFamily="18" charset="0"/>
                <a:ea typeface="黑体" panose="02010609060101010101" pitchFamily="49" charset="-122"/>
              </a:rPr>
              <a:t>p-T</a:t>
            </a:r>
            <a:r>
              <a:rPr lang="zh-CN" altLang="en-US" sz="2400" b="1" dirty="0">
                <a:latin typeface="黑体" panose="02010609060101010101" pitchFamily="49" charset="-122"/>
                <a:ea typeface="黑体" panose="02010609060101010101" pitchFamily="49" charset="-122"/>
              </a:rPr>
              <a:t>图上能够通过三条相交线（即升华线、汽化线和熔解线）将纯物质的气、液、固三个单相区分开，因此</a:t>
            </a:r>
            <a:r>
              <a:rPr lang="zh-CN" altLang="en-US" sz="2400" b="1" dirty="0">
                <a:solidFill>
                  <a:srgbClr val="FF0000"/>
                </a:solidFill>
                <a:latin typeface="黑体" panose="02010609060101010101" pitchFamily="49" charset="-122"/>
                <a:ea typeface="黑体" panose="02010609060101010101" pitchFamily="49" charset="-122"/>
              </a:rPr>
              <a:t>通常称</a:t>
            </a:r>
            <a:r>
              <a:rPr lang="en-US" altLang="zh-CN" sz="2400" b="1" i="1" dirty="0">
                <a:solidFill>
                  <a:srgbClr val="FF0000"/>
                </a:solidFill>
                <a:latin typeface="Times New Roman" panose="02020603050405020304" pitchFamily="18" charset="0"/>
                <a:ea typeface="黑体" panose="02010609060101010101" pitchFamily="49" charset="-122"/>
              </a:rPr>
              <a:t>p-T</a:t>
            </a:r>
            <a:r>
              <a:rPr lang="zh-CN" altLang="en-US" sz="2400" b="1" dirty="0">
                <a:solidFill>
                  <a:srgbClr val="FF0000"/>
                </a:solidFill>
                <a:latin typeface="黑体" panose="02010609060101010101" pitchFamily="49" charset="-122"/>
                <a:ea typeface="黑体" panose="02010609060101010101" pitchFamily="49" charset="-122"/>
              </a:rPr>
              <a:t>图为相图</a:t>
            </a:r>
            <a:r>
              <a:rPr lang="zh-CN" altLang="en-US" sz="2400" b="1" dirty="0">
                <a:latin typeface="黑体" panose="02010609060101010101" pitchFamily="49" charset="-122"/>
                <a:ea typeface="黑体" panose="02010609060101010101" pitchFamily="49" charset="-122"/>
              </a:rPr>
              <a:t>。</a:t>
            </a:r>
            <a:r>
              <a:rPr lang="zh-CN" altLang="en-US" sz="2400" b="1" dirty="0">
                <a:solidFill>
                  <a:srgbClr val="0000FF"/>
                </a:solidFill>
                <a:latin typeface="黑体" panose="02010609060101010101" pitchFamily="49" charset="-122"/>
                <a:ea typeface="黑体" panose="02010609060101010101" pitchFamily="49" charset="-122"/>
              </a:rPr>
              <a:t> </a:t>
            </a:r>
            <a:endParaRPr lang="zh-CN" altLang="en-US" sz="2400" b="1" dirty="0">
              <a:solidFill>
                <a:srgbClr val="0000FF"/>
              </a:solidFill>
              <a:latin typeface="黑体" panose="02010609060101010101" pitchFamily="49" charset="-122"/>
              <a:ea typeface="黑体" panose="02010609060101010101" pitchFamily="49" charset="-122"/>
            </a:endParaRPr>
          </a:p>
        </p:txBody>
      </p:sp>
      <p:pic>
        <p:nvPicPr>
          <p:cNvPr id="2" name="图片 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30186" y="1162591"/>
            <a:ext cx="3816427" cy="3578662"/>
          </a:xfrm>
          <a:prstGeom prst="rect">
            <a:avLst/>
          </a:prstGeom>
        </p:spPr>
      </p:pic>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08513" y="1354631"/>
            <a:ext cx="3603048" cy="3194581"/>
          </a:xfrm>
          <a:prstGeom prst="rect">
            <a:avLst/>
          </a:prstGeom>
        </p:spPr>
      </p:pic>
    </p:spTree>
  </p:cSld>
  <p:clrMapOvr>
    <a:masterClrMapping/>
  </p:clrMapOvr>
  <p:transition spd="slow"/>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矩形 157699"/>
          <p:cNvSpPr>
            <a:spLocks noChangeArrowheads="1"/>
          </p:cNvSpPr>
          <p:nvPr/>
        </p:nvSpPr>
        <p:spPr bwMode="auto">
          <a:xfrm>
            <a:off x="4859338" y="1719431"/>
            <a:ext cx="3529012" cy="1015663"/>
          </a:xfrm>
          <a:prstGeom prst="rect">
            <a:avLst/>
          </a:prstGeom>
          <a:noFill/>
          <a:ln w="25400">
            <a:solidFill>
              <a:schemeClr val="folHlink"/>
            </a:solidFill>
            <a:miter lim="800000"/>
          </a:ln>
          <a:extLst>
            <a:ext uri="{909E8E84-426E-40DD-AFC4-6F175D3DCCD1}">
              <a14:hiddenFill xmlns:a14="http://schemas.microsoft.com/office/drawing/2010/main">
                <a:solidFill>
                  <a:srgbClr val="FFFFFF"/>
                </a:solidFill>
              </a14:hiddenFill>
            </a:ext>
          </a:extLst>
        </p:spPr>
        <p:txBody>
          <a:bodyPr anchor="ctr">
            <a:spAutoFit/>
          </a:bodyPr>
          <a:lstStyle/>
          <a:p>
            <a:r>
              <a:rPr lang="zh-CN" altLang="en-US" sz="2000" b="1" dirty="0">
                <a:latin typeface="黑体" panose="02010609060101010101" pitchFamily="49" charset="-122"/>
                <a:ea typeface="黑体" panose="02010609060101010101" pitchFamily="49" charset="-122"/>
              </a:rPr>
              <a:t>汽化线终止于临界点，这是因为在临界点以上液、气两个相区不存在明确的分界线 </a:t>
            </a:r>
            <a:endParaRPr lang="zh-CN" altLang="en-US" sz="2000" b="1" dirty="0">
              <a:latin typeface="黑体" panose="02010609060101010101" pitchFamily="49" charset="-122"/>
              <a:ea typeface="黑体" panose="02010609060101010101" pitchFamily="49" charset="-122"/>
            </a:endParaRPr>
          </a:p>
        </p:txBody>
      </p:sp>
      <p:sp>
        <p:nvSpPr>
          <p:cNvPr id="59395" name="直接连接符 157701"/>
          <p:cNvSpPr>
            <a:spLocks noChangeShapeType="1"/>
          </p:cNvSpPr>
          <p:nvPr/>
        </p:nvSpPr>
        <p:spPr bwMode="auto">
          <a:xfrm flipH="1">
            <a:off x="4284663" y="2060575"/>
            <a:ext cx="574675" cy="936625"/>
          </a:xfrm>
          <a:prstGeom prst="line">
            <a:avLst/>
          </a:prstGeom>
          <a:noFill/>
          <a:ln w="25400">
            <a:solidFill>
              <a:schemeClr val="folHlink"/>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59396" name="直接连接符 157702"/>
          <p:cNvSpPr>
            <a:spLocks noChangeShapeType="1"/>
          </p:cNvSpPr>
          <p:nvPr/>
        </p:nvSpPr>
        <p:spPr bwMode="auto">
          <a:xfrm flipH="1">
            <a:off x="3779838" y="2997200"/>
            <a:ext cx="504825" cy="0"/>
          </a:xfrm>
          <a:prstGeom prst="line">
            <a:avLst/>
          </a:prstGeom>
          <a:noFill/>
          <a:ln w="25400">
            <a:solidFill>
              <a:schemeClr val="folHlink"/>
            </a:solidFill>
            <a:miter lim="800000"/>
          </a:ln>
          <a:extLst>
            <a:ext uri="{909E8E84-426E-40DD-AFC4-6F175D3DCCD1}">
              <a14:hiddenFill xmlns:a14="http://schemas.microsoft.com/office/drawing/2010/main">
                <a:noFill/>
              </a14:hiddenFill>
            </a:ext>
          </a:extLst>
        </p:spPr>
        <p:txBody>
          <a:bodyPr/>
          <a:lstStyle/>
          <a:p>
            <a:endParaRPr lang="zh-CN" altLang="en-US"/>
          </a:p>
        </p:txBody>
      </p:sp>
      <p:pic>
        <p:nvPicPr>
          <p:cNvPr id="3" name="图片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003878" y="1507030"/>
            <a:ext cx="3603048" cy="3194581"/>
          </a:xfrm>
          <a:prstGeom prst="rect">
            <a:avLst/>
          </a:prstGeom>
        </p:spPr>
      </p:pic>
    </p:spTree>
  </p:cSld>
  <p:clrMapOvr>
    <a:masterClrMapping/>
  </p:clrMapOvr>
  <p:transition spd="slow"/>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998864" y="3578501"/>
            <a:ext cx="4858933" cy="2865368"/>
          </a:xfrm>
          <a:prstGeom prst="rect">
            <a:avLst/>
          </a:prstGeom>
        </p:spPr>
      </p:pic>
      <p:sp>
        <p:nvSpPr>
          <p:cNvPr id="60417" name="矩形 156675"/>
          <p:cNvSpPr>
            <a:spLocks noChangeArrowheads="1"/>
          </p:cNvSpPr>
          <p:nvPr/>
        </p:nvSpPr>
        <p:spPr bwMode="auto">
          <a:xfrm>
            <a:off x="4284663" y="614274"/>
            <a:ext cx="446405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2400" b="1" dirty="0">
                <a:latin typeface="黑体" panose="02010609060101010101" pitchFamily="49" charset="-122"/>
                <a:ea typeface="黑体" panose="02010609060101010101" pitchFamily="49" charset="-122"/>
              </a:rPr>
              <a:t>相图中三条相交线上的状态都是饱和状态，因此它们又可称为</a:t>
            </a:r>
            <a:r>
              <a:rPr lang="zh-CN" altLang="en-US" sz="2400" b="1" dirty="0">
                <a:solidFill>
                  <a:srgbClr val="FF0000"/>
                </a:solidFill>
                <a:latin typeface="黑体" panose="02010609060101010101" pitchFamily="49" charset="-122"/>
                <a:ea typeface="黑体" panose="02010609060101010101" pitchFamily="49" charset="-122"/>
              </a:rPr>
              <a:t>饱和曲线</a:t>
            </a:r>
            <a:r>
              <a:rPr lang="zh-CN" altLang="en-US" sz="2400" b="1" dirty="0">
                <a:latin typeface="黑体" panose="02010609060101010101" pitchFamily="49" charset="-122"/>
                <a:ea typeface="黑体" panose="02010609060101010101" pitchFamily="49" charset="-122"/>
              </a:rPr>
              <a:t>。 </a:t>
            </a:r>
            <a:endParaRPr lang="zh-CN" altLang="en-US" sz="2400" b="1" dirty="0">
              <a:latin typeface="黑体" panose="02010609060101010101" pitchFamily="49" charset="-122"/>
              <a:ea typeface="黑体" panose="02010609060101010101" pitchFamily="49" charset="-122"/>
            </a:endParaRPr>
          </a:p>
        </p:txBody>
      </p:sp>
      <p:sp>
        <p:nvSpPr>
          <p:cNvPr id="60419" name="矩形 156679"/>
          <p:cNvSpPr>
            <a:spLocks noChangeArrowheads="1"/>
          </p:cNvSpPr>
          <p:nvPr/>
        </p:nvSpPr>
        <p:spPr bwMode="auto">
          <a:xfrm>
            <a:off x="4284663" y="2056239"/>
            <a:ext cx="467995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2400" b="1" dirty="0">
                <a:latin typeface="黑体" panose="02010609060101010101" pitchFamily="49" charset="-122"/>
                <a:ea typeface="黑体" panose="02010609060101010101" pitchFamily="49" charset="-122"/>
              </a:rPr>
              <a:t>饱和状态的定义：物质处于不同的相，但可以平衡共存的状态 </a:t>
            </a:r>
            <a:endParaRPr lang="zh-CN" altLang="en-US" sz="2400" b="1" dirty="0">
              <a:latin typeface="黑体" panose="02010609060101010101" pitchFamily="49" charset="-122"/>
              <a:ea typeface="黑体" panose="02010609060101010101" pitchFamily="49" charset="-122"/>
            </a:endParaRPr>
          </a:p>
        </p:txBody>
      </p:sp>
      <p:sp>
        <p:nvSpPr>
          <p:cNvPr id="60421" name="椭圆 156681"/>
          <p:cNvSpPr>
            <a:spLocks noChangeArrowheads="1"/>
          </p:cNvSpPr>
          <p:nvPr/>
        </p:nvSpPr>
        <p:spPr bwMode="auto">
          <a:xfrm>
            <a:off x="3060700" y="3571875"/>
            <a:ext cx="647700" cy="504825"/>
          </a:xfrm>
          <a:prstGeom prst="ellipse">
            <a:avLst/>
          </a:prstGeom>
          <a:noFill/>
          <a:ln w="25400">
            <a:solidFill>
              <a:srgbClr val="FF0000"/>
            </a:solidFill>
            <a:miter lim="800000"/>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0422" name="椭圆 156682"/>
          <p:cNvSpPr>
            <a:spLocks noChangeArrowheads="1"/>
          </p:cNvSpPr>
          <p:nvPr/>
        </p:nvSpPr>
        <p:spPr bwMode="auto">
          <a:xfrm>
            <a:off x="3924300" y="3573463"/>
            <a:ext cx="1008063" cy="504825"/>
          </a:xfrm>
          <a:prstGeom prst="ellipse">
            <a:avLst/>
          </a:prstGeom>
          <a:noFill/>
          <a:ln w="25400">
            <a:solidFill>
              <a:srgbClr val="FF0000"/>
            </a:solidFill>
            <a:miter lim="800000"/>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0423" name="椭圆 156683"/>
          <p:cNvSpPr>
            <a:spLocks noChangeArrowheads="1"/>
          </p:cNvSpPr>
          <p:nvPr/>
        </p:nvSpPr>
        <p:spPr bwMode="auto">
          <a:xfrm>
            <a:off x="5003800" y="3573463"/>
            <a:ext cx="792163" cy="504825"/>
          </a:xfrm>
          <a:prstGeom prst="ellipse">
            <a:avLst/>
          </a:prstGeom>
          <a:noFill/>
          <a:ln w="25400">
            <a:solidFill>
              <a:srgbClr val="FF0000"/>
            </a:solidFill>
            <a:miter lim="800000"/>
          </a:ln>
          <a:extLst>
            <a:ext uri="{909E8E84-426E-40DD-AFC4-6F175D3DCCD1}">
              <a14:hiddenFill xmlns:a14="http://schemas.microsoft.com/office/drawing/2010/main">
                <a:solidFill>
                  <a:srgbClr val="FFFFFF"/>
                </a:solidFill>
              </a14:hiddenFill>
            </a:ext>
          </a:extLst>
        </p:spPr>
        <p:txBody>
          <a:bodyPr/>
          <a:lstStyle/>
          <a:p>
            <a:endParaRPr lang="zh-CN" altLang="en-US"/>
          </a:p>
        </p:txBody>
      </p:sp>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4394" y="304132"/>
            <a:ext cx="3596952" cy="3188484"/>
          </a:xfrm>
          <a:prstGeom prst="rect">
            <a:avLst/>
          </a:prstGeom>
        </p:spPr>
      </p:pic>
    </p:spTree>
  </p:cSld>
  <p:clrMapOvr>
    <a:masterClrMapping/>
  </p:clrMapOvr>
  <p:transition spd="slow"/>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矩形 158724"/>
          <p:cNvSpPr>
            <a:spLocks noChangeArrowheads="1"/>
          </p:cNvSpPr>
          <p:nvPr/>
        </p:nvSpPr>
        <p:spPr bwMode="auto">
          <a:xfrm>
            <a:off x="323850" y="4504164"/>
            <a:ext cx="865505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2400" b="1" dirty="0">
                <a:latin typeface="黑体" panose="02010609060101010101" pitchFamily="49" charset="-122"/>
                <a:ea typeface="黑体" panose="02010609060101010101" pitchFamily="49" charset="-122"/>
              </a:rPr>
              <a:t>无论是对于液</a:t>
            </a:r>
            <a:r>
              <a:rPr lang="en-US" altLang="zh-CN" sz="2400" b="1" dirty="0">
                <a:latin typeface="黑体" panose="02010609060101010101" pitchFamily="49" charset="-122"/>
                <a:ea typeface="黑体" panose="02010609060101010101" pitchFamily="49" charset="-122"/>
              </a:rPr>
              <a:t>-</a:t>
            </a:r>
            <a:r>
              <a:rPr lang="zh-CN" altLang="en-US" sz="2400" b="1" dirty="0">
                <a:latin typeface="黑体" panose="02010609060101010101" pitchFamily="49" charset="-122"/>
                <a:ea typeface="黑体" panose="02010609060101010101" pitchFamily="49" charset="-122"/>
              </a:rPr>
              <a:t>气两相转变，还是固</a:t>
            </a:r>
            <a:r>
              <a:rPr lang="en-US" altLang="zh-CN" sz="2400" b="1" dirty="0">
                <a:latin typeface="黑体" panose="02010609060101010101" pitchFamily="49" charset="-122"/>
                <a:ea typeface="黑体" panose="02010609060101010101" pitchFamily="49" charset="-122"/>
              </a:rPr>
              <a:t>-</a:t>
            </a:r>
            <a:r>
              <a:rPr lang="zh-CN" altLang="en-US" sz="2400" b="1" dirty="0">
                <a:latin typeface="黑体" panose="02010609060101010101" pitchFamily="49" charset="-122"/>
                <a:ea typeface="黑体" panose="02010609060101010101" pitchFamily="49" charset="-122"/>
              </a:rPr>
              <a:t>液、固</a:t>
            </a:r>
            <a:r>
              <a:rPr lang="en-US" altLang="zh-CN" sz="2400" b="1" dirty="0">
                <a:latin typeface="黑体" panose="02010609060101010101" pitchFamily="49" charset="-122"/>
                <a:ea typeface="黑体" panose="02010609060101010101" pitchFamily="49" charset="-122"/>
              </a:rPr>
              <a:t>-</a:t>
            </a:r>
            <a:r>
              <a:rPr lang="zh-CN" altLang="en-US" sz="2400" b="1" dirty="0">
                <a:latin typeface="黑体" panose="02010609060101010101" pitchFamily="49" charset="-122"/>
                <a:ea typeface="黑体" panose="02010609060101010101" pitchFamily="49" charset="-122"/>
              </a:rPr>
              <a:t>气两相转变的情况，物质的饱和压力和饱和温度都是一一对应的，即有关系</a:t>
            </a:r>
            <a:r>
              <a:rPr lang="zh-CN" altLang="en-US" sz="2400" dirty="0">
                <a:latin typeface="黑体" panose="02010609060101010101" pitchFamily="49" charset="-122"/>
                <a:ea typeface="黑体" panose="02010609060101010101" pitchFamily="49" charset="-122"/>
              </a:rPr>
              <a:t> </a:t>
            </a:r>
            <a:endParaRPr lang="zh-CN" altLang="en-US" sz="2400" dirty="0">
              <a:latin typeface="黑体" panose="02010609060101010101" pitchFamily="49" charset="-122"/>
              <a:ea typeface="黑体" panose="02010609060101010101" pitchFamily="49" charset="-122"/>
            </a:endParaRPr>
          </a:p>
        </p:txBody>
      </p:sp>
      <p:graphicFrame>
        <p:nvGraphicFramePr>
          <p:cNvPr id="61444" name="对象 158725"/>
          <p:cNvGraphicFramePr/>
          <p:nvPr/>
        </p:nvGraphicFramePr>
        <p:xfrm>
          <a:off x="3276600" y="5516563"/>
          <a:ext cx="1908175" cy="585787"/>
        </p:xfrm>
        <a:graphic>
          <a:graphicData uri="http://schemas.openxmlformats.org/presentationml/2006/ole">
            <mc:AlternateContent xmlns:mc="http://schemas.openxmlformats.org/markup-compatibility/2006">
              <mc:Choice xmlns:v="urn:schemas-microsoft-com:vml" Requires="v">
                <p:oleObj spid="_x0000_s36893" name="" r:id="rId1" imgW="837565" imgH="254000" progId="Equation.DSMT4">
                  <p:embed/>
                </p:oleObj>
              </mc:Choice>
              <mc:Fallback>
                <p:oleObj name="" r:id="rId1" imgW="837565" imgH="254000" progId="Equation.DSMT4">
                  <p:embed/>
                  <p:pic>
                    <p:nvPicPr>
                      <p:cNvPr id="0" name="对象 158725"/>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76600" y="5516563"/>
                        <a:ext cx="1908175"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pic>
        <p:nvPicPr>
          <p:cNvPr id="2" name="图片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71295" y="538407"/>
            <a:ext cx="4176122" cy="3700593"/>
          </a:xfrm>
          <a:prstGeom prst="rect">
            <a:avLst/>
          </a:prstGeom>
        </p:spPr>
      </p:pic>
    </p:spTree>
  </p:cSld>
  <p:clrMapOvr>
    <a:masterClrMapping/>
  </p:clrMapOvr>
  <p:transition spd="slow"/>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769" name="图片 275457"/>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476250"/>
            <a:ext cx="5149850" cy="5759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770" name="矩形 275458"/>
          <p:cNvSpPr>
            <a:spLocks noChangeArrowheads="1"/>
          </p:cNvSpPr>
          <p:nvPr/>
        </p:nvSpPr>
        <p:spPr bwMode="auto">
          <a:xfrm>
            <a:off x="0" y="22336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75463" name="矩形 275462"/>
          <p:cNvSpPr>
            <a:spLocks noChangeArrowheads="1"/>
          </p:cNvSpPr>
          <p:nvPr/>
        </p:nvSpPr>
        <p:spPr bwMode="auto">
          <a:xfrm>
            <a:off x="4932363" y="4691429"/>
            <a:ext cx="3960812" cy="1631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2000" b="1" dirty="0">
                <a:latin typeface="黑体" panose="02010609060101010101" pitchFamily="49" charset="-122"/>
                <a:ea typeface="黑体" panose="02010609060101010101" pitchFamily="49" charset="-122"/>
              </a:rPr>
              <a:t>饱和温度和饱和压力的概念也可推广至纯物质发生固、液两相转变和固、气两相转变的情况，此时饱和压力和饱和温度也是一一对应的（</a:t>
            </a:r>
            <a:r>
              <a:rPr lang="en-US" altLang="zh-CN" sz="2000" b="1" dirty="0">
                <a:latin typeface="Times New Roman" panose="02020603050405020304" pitchFamily="18" charset="0"/>
                <a:ea typeface="黑体" panose="02010609060101010101" pitchFamily="49" charset="-122"/>
                <a:cs typeface="Times New Roman" panose="02020603050405020304" pitchFamily="18" charset="0"/>
              </a:rPr>
              <a:t>9-3</a:t>
            </a:r>
            <a:r>
              <a:rPr lang="zh-CN" altLang="en-US" sz="2000" b="1" dirty="0">
                <a:latin typeface="黑体" panose="02010609060101010101" pitchFamily="49" charset="-122"/>
                <a:ea typeface="黑体" panose="02010609060101010101" pitchFamily="49" charset="-122"/>
              </a:rPr>
              <a:t>节会再次说明） </a:t>
            </a:r>
            <a:endParaRPr lang="zh-CN" altLang="en-US" sz="2000" b="1" dirty="0">
              <a:latin typeface="黑体" panose="02010609060101010101" pitchFamily="49" charset="-122"/>
              <a:ea typeface="黑体" panose="02010609060101010101" pitchFamily="49" charset="-122"/>
            </a:endParaRPr>
          </a:p>
        </p:txBody>
      </p:sp>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6950" y="1682642"/>
            <a:ext cx="4438273" cy="2737341"/>
          </a:xfrm>
          <a:prstGeom prst="rect">
            <a:avLst/>
          </a:prstGeom>
        </p:spPr>
      </p:pic>
      <p:grpSp>
        <p:nvGrpSpPr>
          <p:cNvPr id="7" name="组合 6"/>
          <p:cNvGrpSpPr/>
          <p:nvPr/>
        </p:nvGrpSpPr>
        <p:grpSpPr>
          <a:xfrm>
            <a:off x="5486400" y="132062"/>
            <a:ext cx="2418522" cy="1007165"/>
            <a:chOff x="5486400" y="132062"/>
            <a:chExt cx="2418522" cy="1007165"/>
          </a:xfrm>
        </p:grpSpPr>
        <p:sp>
          <p:nvSpPr>
            <p:cNvPr id="8" name="流程图: 资料带 7"/>
            <p:cNvSpPr/>
            <p:nvPr/>
          </p:nvSpPr>
          <p:spPr>
            <a:xfrm>
              <a:off x="5486400" y="132062"/>
              <a:ext cx="2418522" cy="1007165"/>
            </a:xfrm>
            <a:prstGeom prst="flowChartPunchedTape">
              <a:avLst/>
            </a:prstGeom>
            <a:gradFill>
              <a:gsLst>
                <a:gs pos="0">
                  <a:schemeClr val="accent1">
                    <a:lumMod val="40000"/>
                    <a:lumOff val="60000"/>
                  </a:schemeClr>
                </a:gs>
                <a:gs pos="21000">
                  <a:schemeClr val="accent1">
                    <a:lumMod val="60000"/>
                    <a:lumOff val="40000"/>
                  </a:schemeClr>
                </a:gs>
                <a:gs pos="100000">
                  <a:schemeClr val="accent1">
                    <a:lumMod val="99000"/>
                    <a:satMod val="120000"/>
                    <a:shade val="78000"/>
                  </a:schemeClr>
                </a:gs>
              </a:gsLst>
            </a:gradFill>
          </p:spPr>
          <p:style>
            <a:lnRef idx="0">
              <a:schemeClr val="accent1"/>
            </a:lnRef>
            <a:fillRef idx="3">
              <a:schemeClr val="accent1"/>
            </a:fillRef>
            <a:effectRef idx="3">
              <a:schemeClr val="accent1"/>
            </a:effectRef>
            <a:fontRef idx="minor">
              <a:schemeClr val="lt1"/>
            </a:fontRef>
          </p:style>
          <p:txBody>
            <a:bodyPr rtlCol="0" anchor="ctr"/>
            <a:lstStyle/>
            <a:p>
              <a:pPr algn="ctr"/>
              <a:endParaRPr lang="zh-CN" altLang="en-US"/>
            </a:p>
          </p:txBody>
        </p:sp>
        <p:sp>
          <p:nvSpPr>
            <p:cNvPr id="9" name="矩形 160773"/>
            <p:cNvSpPr>
              <a:spLocks noChangeArrowheads="1"/>
            </p:cNvSpPr>
            <p:nvPr/>
          </p:nvSpPr>
          <p:spPr bwMode="auto">
            <a:xfrm>
              <a:off x="5867400" y="404813"/>
              <a:ext cx="154439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b="1" dirty="0"/>
                <a:t>之前的</a:t>
              </a:r>
              <a:r>
                <a:rPr lang="en-US" altLang="zh-CN" sz="2400" b="1" dirty="0" err="1"/>
                <a:t>ppt</a:t>
              </a:r>
              <a:endParaRPr lang="en-US" altLang="zh-CN" sz="2400" b="1" dirty="0"/>
            </a:p>
          </p:txBody>
        </p:sp>
      </p:grpSp>
    </p:spTree>
    <p:custDataLst>
      <p:tags r:id="rId3"/>
    </p:custData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75463"/>
                                        </p:tgtEl>
                                        <p:attrNameLst>
                                          <p:attrName>style.visibility</p:attrName>
                                        </p:attrNameLst>
                                      </p:cBhvr>
                                      <p:to>
                                        <p:strVal val="visible"/>
                                      </p:to>
                                    </p:set>
                                    <p:animEffect transition="in" filter="blinds(horizontal)">
                                      <p:cBhvr>
                                        <p:cTn id="7" dur="500"/>
                                        <p:tgtEl>
                                          <p:spTgt spid="2754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5463"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581742"/>
            <a:ext cx="4176122" cy="3706689"/>
          </a:xfrm>
          <a:prstGeom prst="rect">
            <a:avLst/>
          </a:prstGeom>
        </p:spPr>
      </p:pic>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09920" y="1155603"/>
            <a:ext cx="4444369" cy="2731245"/>
          </a:xfrm>
          <a:prstGeom prst="rect">
            <a:avLst/>
          </a:prstGeom>
        </p:spPr>
      </p:pic>
      <p:sp>
        <p:nvSpPr>
          <p:cNvPr id="4" name="右箭头 3"/>
          <p:cNvSpPr/>
          <p:nvPr/>
        </p:nvSpPr>
        <p:spPr>
          <a:xfrm>
            <a:off x="3380991" y="2037520"/>
            <a:ext cx="1590261" cy="48370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spd="slow"/>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185765" y="279461"/>
            <a:ext cx="4176122" cy="3706689"/>
          </a:xfrm>
          <a:prstGeom prst="rect">
            <a:avLst/>
          </a:prstGeom>
        </p:spPr>
      </p:pic>
      <p:sp>
        <p:nvSpPr>
          <p:cNvPr id="64513" name="矩形 162819"/>
          <p:cNvSpPr>
            <a:spLocks noChangeArrowheads="1"/>
          </p:cNvSpPr>
          <p:nvPr/>
        </p:nvSpPr>
        <p:spPr bwMode="auto">
          <a:xfrm>
            <a:off x="684213" y="4365625"/>
            <a:ext cx="7848600" cy="137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2800" b="1" dirty="0">
                <a:latin typeface="黑体" panose="02010609060101010101" pitchFamily="49" charset="-122"/>
                <a:ea typeface="黑体" panose="02010609060101010101" pitchFamily="49" charset="-122"/>
              </a:rPr>
              <a:t>饱和曲线（即升华线、汽化线和熔解线）上的任意一点是否可以代表简单可压缩物质的一个确定状态</a:t>
            </a:r>
            <a:r>
              <a:rPr lang="zh-CN" altLang="en-US" sz="2800" b="1" dirty="0" smtClean="0">
                <a:latin typeface="黑体" panose="02010609060101010101" pitchFamily="49" charset="-122"/>
                <a:ea typeface="黑体" panose="02010609060101010101" pitchFamily="49" charset="-122"/>
              </a:rPr>
              <a:t>？</a:t>
            </a:r>
            <a:r>
              <a:rPr lang="zh-CN" altLang="en-US" sz="2800" b="1" dirty="0" smtClean="0">
                <a:solidFill>
                  <a:srgbClr val="FF0000"/>
                </a:solidFill>
                <a:latin typeface="黑体" panose="02010609060101010101" pitchFamily="49" charset="-122"/>
                <a:ea typeface="黑体" panose="02010609060101010101" pitchFamily="49" charset="-122"/>
              </a:rPr>
              <a:t>否！ </a:t>
            </a:r>
            <a:endParaRPr lang="zh-CN" altLang="en-US" sz="2800" b="1" dirty="0">
              <a:solidFill>
                <a:srgbClr val="FF0000"/>
              </a:solidFill>
              <a:latin typeface="黑体" panose="02010609060101010101" pitchFamily="49" charset="-122"/>
              <a:ea typeface="黑体" panose="02010609060101010101" pitchFamily="49" charset="-122"/>
            </a:endParaRPr>
          </a:p>
        </p:txBody>
      </p:sp>
      <p:sp>
        <p:nvSpPr>
          <p:cNvPr id="64515" name="椭圆 162821"/>
          <p:cNvSpPr>
            <a:spLocks noChangeArrowheads="1"/>
          </p:cNvSpPr>
          <p:nvPr/>
        </p:nvSpPr>
        <p:spPr bwMode="auto">
          <a:xfrm>
            <a:off x="4500563" y="2060575"/>
            <a:ext cx="144462" cy="144463"/>
          </a:xfrm>
          <a:prstGeom prst="ellipse">
            <a:avLst/>
          </a:pr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Tree>
  </p:cSld>
  <p:clrMapOvr>
    <a:masterClrMapping/>
  </p:clrMapOvr>
  <p:transition spd="slow"/>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矩形 163844"/>
          <p:cNvSpPr>
            <a:spLocks noChangeArrowheads="1"/>
          </p:cNvSpPr>
          <p:nvPr/>
        </p:nvSpPr>
        <p:spPr bwMode="auto">
          <a:xfrm>
            <a:off x="0" y="18097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5539" name="矩形 163846"/>
          <p:cNvSpPr>
            <a:spLocks noChangeArrowheads="1"/>
          </p:cNvSpPr>
          <p:nvPr/>
        </p:nvSpPr>
        <p:spPr bwMode="auto">
          <a:xfrm>
            <a:off x="0" y="20907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5541" name="矩形 163847"/>
          <p:cNvSpPr>
            <a:spLocks noChangeArrowheads="1"/>
          </p:cNvSpPr>
          <p:nvPr/>
        </p:nvSpPr>
        <p:spPr bwMode="auto">
          <a:xfrm>
            <a:off x="395288" y="4281954"/>
            <a:ext cx="8496300"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图中点</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1</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2</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3</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和</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4</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分别表示水的四种不同饱和状态，其中点</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1</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为饱和水，点</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2</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和点</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3</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为湿饱和水蒸气，点</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4</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为干饱和水蒸气，它们具有不同的比体积。若将这四种状态表示在</a:t>
            </a:r>
            <a:r>
              <a:rPr lang="en-US" altLang="zh-CN" sz="2400" b="1" i="1" dirty="0">
                <a:latin typeface="Times New Roman" panose="02020603050405020304" pitchFamily="18" charset="0"/>
                <a:ea typeface="黑体" panose="02010609060101010101" pitchFamily="49" charset="-122"/>
                <a:cs typeface="Times New Roman" panose="02020603050405020304" pitchFamily="18" charset="0"/>
              </a:rPr>
              <a:t>p-T</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图上，则由于它们具有相同的温度和压力（均为饱和温度和饱和压力），故这四个点将重合在一起。 </a:t>
            </a:r>
            <a:endParaRPr lang="zh-CN" altLang="en-US" sz="2400" b="1" dirty="0">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2" name="图片 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10642" y="357372"/>
            <a:ext cx="3456732" cy="3676207"/>
          </a:xfrm>
          <a:prstGeom prst="rect">
            <a:avLst/>
          </a:prstGeom>
        </p:spPr>
      </p:pic>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43438" y="545047"/>
            <a:ext cx="3816427" cy="3395766"/>
          </a:xfrm>
          <a:prstGeom prst="rect">
            <a:avLst/>
          </a:prstGeom>
        </p:spPr>
      </p:pic>
    </p:spTree>
  </p:cSld>
  <p:clrMapOvr>
    <a:masterClrMapping/>
  </p:clrMapOvr>
  <p:transition spd="slow"/>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矩形 39961"/>
          <p:cNvSpPr>
            <a:spLocks noChangeArrowheads="1"/>
          </p:cNvSpPr>
          <p:nvPr/>
        </p:nvSpPr>
        <p:spPr bwMode="auto">
          <a:xfrm>
            <a:off x="0" y="981075"/>
            <a:ext cx="8748713" cy="12954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pSp>
        <p:nvGrpSpPr>
          <p:cNvPr id="39938" name="组合 39937"/>
          <p:cNvGrpSpPr/>
          <p:nvPr/>
        </p:nvGrpSpPr>
        <p:grpSpPr bwMode="auto">
          <a:xfrm>
            <a:off x="1295400" y="4449763"/>
            <a:ext cx="2667000" cy="1343025"/>
            <a:chOff x="816" y="2466"/>
            <a:chExt cx="1830" cy="1030"/>
          </a:xfrm>
        </p:grpSpPr>
        <p:sp>
          <p:nvSpPr>
            <p:cNvPr id="66563" name="左大括号 39938"/>
            <p:cNvSpPr/>
            <p:nvPr/>
          </p:nvSpPr>
          <p:spPr bwMode="auto">
            <a:xfrm>
              <a:off x="816" y="2550"/>
              <a:ext cx="48" cy="768"/>
            </a:xfrm>
            <a:prstGeom prst="leftBrace">
              <a:avLst>
                <a:gd name="adj1" fmla="val 133037"/>
                <a:gd name="adj2" fmla="val 50000"/>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pPr algn="ctr"/>
              <a:endParaRPr lang="zh-CN" altLang="zh-CN" sz="1800">
                <a:latin typeface="Arial" panose="020B0604020202020204" pitchFamily="34" charset="0"/>
              </a:endParaRPr>
            </a:p>
          </p:txBody>
        </p:sp>
        <p:graphicFrame>
          <p:nvGraphicFramePr>
            <p:cNvPr id="66564" name="对象 39939"/>
            <p:cNvGraphicFramePr/>
            <p:nvPr/>
          </p:nvGraphicFramePr>
          <p:xfrm>
            <a:off x="912" y="2466"/>
            <a:ext cx="1734" cy="1030"/>
          </p:xfrm>
          <a:graphic>
            <a:graphicData uri="http://schemas.openxmlformats.org/presentationml/2006/ole">
              <mc:AlternateContent xmlns:mc="http://schemas.openxmlformats.org/markup-compatibility/2006">
                <mc:Choice xmlns:v="urn:schemas-microsoft-com:vml" Requires="v">
                  <p:oleObj spid="_x0000_s42002" name="Equation" r:id="rId1" imgW="31089600" imgH="17678400" progId="Equation.DSMT4">
                    <p:embed/>
                  </p:oleObj>
                </mc:Choice>
                <mc:Fallback>
                  <p:oleObj name="Equation" r:id="rId1" imgW="31089600" imgH="17678400" progId="Equation.DSMT4">
                    <p:embed/>
                    <p:pic>
                      <p:nvPicPr>
                        <p:cNvPr id="0" name="对象 39939"/>
                        <p:cNvPicPr>
                          <a:picLocks noChangeArrowheads="1"/>
                        </p:cNvPicPr>
                        <p:nvPr/>
                      </p:nvPicPr>
                      <p:blipFill>
                        <a:blip r:embed="rId2"/>
                        <a:srcRect/>
                        <a:stretch>
                          <a:fillRect/>
                        </a:stretch>
                      </p:blipFill>
                      <p:spPr bwMode="auto">
                        <a:xfrm>
                          <a:off x="912" y="2466"/>
                          <a:ext cx="1734" cy="1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sp>
        <p:nvSpPr>
          <p:cNvPr id="66565" name="文本框 39940"/>
          <p:cNvSpPr txBox="1">
            <a:spLocks noChangeArrowheads="1"/>
          </p:cNvSpPr>
          <p:nvPr/>
        </p:nvSpPr>
        <p:spPr bwMode="auto">
          <a:xfrm>
            <a:off x="4094163" y="4268788"/>
            <a:ext cx="223043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000" b="1" dirty="0">
                <a:solidFill>
                  <a:srgbClr val="FF0000"/>
                </a:solidFill>
                <a:latin typeface="Times New Roman" panose="02020603050405020304" pitchFamily="18" charset="0"/>
                <a:ea typeface="楷体_GB2312" pitchFamily="49" charset="-122"/>
              </a:rPr>
              <a:t>两线</a:t>
            </a:r>
            <a:endParaRPr lang="zh-CN" altLang="en-US" sz="2000" b="1" dirty="0">
              <a:solidFill>
                <a:srgbClr val="FF0000"/>
              </a:solidFill>
              <a:latin typeface="Times New Roman" panose="02020603050405020304" pitchFamily="18" charset="0"/>
              <a:ea typeface="楷体_GB2312" pitchFamily="49" charset="-122"/>
            </a:endParaRPr>
          </a:p>
        </p:txBody>
      </p:sp>
      <p:sp>
        <p:nvSpPr>
          <p:cNvPr id="66566" name="文本框 39941"/>
          <p:cNvSpPr txBox="1">
            <a:spLocks noChangeArrowheads="1"/>
          </p:cNvSpPr>
          <p:nvPr/>
        </p:nvSpPr>
        <p:spPr bwMode="auto">
          <a:xfrm>
            <a:off x="4170363" y="5564188"/>
            <a:ext cx="223043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000" b="1" dirty="0">
                <a:solidFill>
                  <a:srgbClr val="FF0000"/>
                </a:solidFill>
                <a:latin typeface="Times New Roman" panose="02020603050405020304" pitchFamily="18" charset="0"/>
                <a:ea typeface="楷体_GB2312" pitchFamily="49" charset="-122"/>
              </a:rPr>
              <a:t>三区</a:t>
            </a:r>
            <a:endParaRPr lang="zh-CN" altLang="en-US" sz="2000" b="1" dirty="0">
              <a:solidFill>
                <a:srgbClr val="FF0000"/>
              </a:solidFill>
              <a:latin typeface="Times New Roman" panose="02020603050405020304" pitchFamily="18" charset="0"/>
              <a:ea typeface="楷体_GB2312" pitchFamily="49" charset="-122"/>
            </a:endParaRPr>
          </a:p>
        </p:txBody>
      </p:sp>
      <p:grpSp>
        <p:nvGrpSpPr>
          <p:cNvPr id="39943" name="组合 39942"/>
          <p:cNvGrpSpPr/>
          <p:nvPr/>
        </p:nvGrpSpPr>
        <p:grpSpPr bwMode="auto">
          <a:xfrm>
            <a:off x="4989513" y="4999038"/>
            <a:ext cx="1792287" cy="1397000"/>
            <a:chOff x="3143" y="2860"/>
            <a:chExt cx="1129" cy="880"/>
          </a:xfrm>
        </p:grpSpPr>
        <p:sp>
          <p:nvSpPr>
            <p:cNvPr id="66568" name="左大括号 39943"/>
            <p:cNvSpPr/>
            <p:nvPr/>
          </p:nvSpPr>
          <p:spPr bwMode="auto">
            <a:xfrm>
              <a:off x="3143" y="2991"/>
              <a:ext cx="48" cy="720"/>
            </a:xfrm>
            <a:prstGeom prst="leftBrace">
              <a:avLst>
                <a:gd name="adj1" fmla="val 125000"/>
                <a:gd name="adj2" fmla="val 50000"/>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6569" name="文本框 39944"/>
            <p:cNvSpPr txBox="1">
              <a:spLocks noChangeArrowheads="1"/>
            </p:cNvSpPr>
            <p:nvPr/>
          </p:nvSpPr>
          <p:spPr bwMode="auto">
            <a:xfrm>
              <a:off x="3191" y="2860"/>
              <a:ext cx="697"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000" b="1" dirty="0">
                  <a:latin typeface="Times New Roman" panose="02020603050405020304" pitchFamily="18" charset="0"/>
                  <a:ea typeface="楷体_GB2312" pitchFamily="49" charset="-122"/>
                </a:rPr>
                <a:t>液</a:t>
              </a:r>
              <a:endParaRPr lang="zh-CN" altLang="en-US" sz="2000" b="1" dirty="0">
                <a:latin typeface="Times New Roman" panose="02020603050405020304" pitchFamily="18" charset="0"/>
                <a:ea typeface="楷体_GB2312" pitchFamily="49" charset="-122"/>
              </a:endParaRPr>
            </a:p>
          </p:txBody>
        </p:sp>
        <p:sp>
          <p:nvSpPr>
            <p:cNvPr id="66570" name="文本框 39945"/>
            <p:cNvSpPr txBox="1">
              <a:spLocks noChangeArrowheads="1"/>
            </p:cNvSpPr>
            <p:nvPr/>
          </p:nvSpPr>
          <p:spPr bwMode="auto">
            <a:xfrm>
              <a:off x="3191" y="3138"/>
              <a:ext cx="108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000" b="1" dirty="0">
                  <a:latin typeface="Times New Roman" panose="02020603050405020304" pitchFamily="18" charset="0"/>
                  <a:ea typeface="楷体_GB2312" pitchFamily="49" charset="-122"/>
                </a:rPr>
                <a:t>汽液共存</a:t>
              </a:r>
              <a:endParaRPr lang="zh-CN" altLang="en-US" sz="2000" b="1" dirty="0">
                <a:latin typeface="Times New Roman" panose="02020603050405020304" pitchFamily="18" charset="0"/>
                <a:ea typeface="楷体_GB2312" pitchFamily="49" charset="-122"/>
              </a:endParaRPr>
            </a:p>
          </p:txBody>
        </p:sp>
        <p:sp>
          <p:nvSpPr>
            <p:cNvPr id="66571" name="文本框 39946"/>
            <p:cNvSpPr txBox="1">
              <a:spLocks noChangeArrowheads="1"/>
            </p:cNvSpPr>
            <p:nvPr/>
          </p:nvSpPr>
          <p:spPr bwMode="auto">
            <a:xfrm>
              <a:off x="3228" y="3488"/>
              <a:ext cx="279"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dirty="0">
                  <a:latin typeface="Times New Roman" panose="02020603050405020304" pitchFamily="18" charset="0"/>
                  <a:ea typeface="楷体_GB2312" pitchFamily="49" charset="-122"/>
                </a:rPr>
                <a:t>汽</a:t>
              </a:r>
              <a:endParaRPr lang="zh-CN" altLang="en-US" sz="2000" b="1" dirty="0">
                <a:latin typeface="Times New Roman" panose="02020603050405020304" pitchFamily="18" charset="0"/>
                <a:ea typeface="楷体_GB2312" pitchFamily="49" charset="-122"/>
              </a:endParaRPr>
            </a:p>
          </p:txBody>
        </p:sp>
      </p:grpSp>
      <p:sp>
        <p:nvSpPr>
          <p:cNvPr id="66572" name="文本框 39947"/>
          <p:cNvSpPr txBox="1">
            <a:spLocks noChangeArrowheads="1"/>
          </p:cNvSpPr>
          <p:nvPr/>
        </p:nvSpPr>
        <p:spPr bwMode="auto">
          <a:xfrm>
            <a:off x="6408738" y="4916488"/>
            <a:ext cx="197326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000" b="1" dirty="0">
                <a:solidFill>
                  <a:srgbClr val="FF0000"/>
                </a:solidFill>
                <a:latin typeface="Times New Roman" panose="02020603050405020304" pitchFamily="18" charset="0"/>
                <a:ea typeface="楷体_GB2312" pitchFamily="49" charset="-122"/>
              </a:rPr>
              <a:t>五态</a:t>
            </a:r>
            <a:endParaRPr lang="zh-CN" altLang="en-US" sz="2000" b="1" dirty="0">
              <a:solidFill>
                <a:srgbClr val="FF0000"/>
              </a:solidFill>
              <a:latin typeface="Times New Roman" panose="02020603050405020304" pitchFamily="18" charset="0"/>
              <a:ea typeface="楷体_GB2312" pitchFamily="49" charset="-122"/>
            </a:endParaRPr>
          </a:p>
        </p:txBody>
      </p:sp>
      <p:grpSp>
        <p:nvGrpSpPr>
          <p:cNvPr id="39949" name="组合 39948"/>
          <p:cNvGrpSpPr/>
          <p:nvPr/>
        </p:nvGrpSpPr>
        <p:grpSpPr bwMode="auto">
          <a:xfrm>
            <a:off x="7143750" y="3831266"/>
            <a:ext cx="2478087" cy="2457450"/>
            <a:chOff x="4583" y="2160"/>
            <a:chExt cx="1561" cy="1548"/>
          </a:xfrm>
        </p:grpSpPr>
        <p:sp>
          <p:nvSpPr>
            <p:cNvPr id="66574" name="左大括号 39949"/>
            <p:cNvSpPr/>
            <p:nvPr/>
          </p:nvSpPr>
          <p:spPr bwMode="auto">
            <a:xfrm>
              <a:off x="4583" y="2310"/>
              <a:ext cx="96" cy="1344"/>
            </a:xfrm>
            <a:prstGeom prst="leftBrace">
              <a:avLst>
                <a:gd name="adj1" fmla="val 116407"/>
                <a:gd name="adj2" fmla="val 50000"/>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6575" name="文本框 39950"/>
            <p:cNvSpPr txBox="1">
              <a:spLocks noChangeArrowheads="1"/>
            </p:cNvSpPr>
            <p:nvPr/>
          </p:nvSpPr>
          <p:spPr bwMode="auto">
            <a:xfrm>
              <a:off x="4656" y="2160"/>
              <a:ext cx="148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000" b="1" dirty="0">
                  <a:latin typeface="Times New Roman" panose="02020603050405020304" pitchFamily="18" charset="0"/>
                  <a:ea typeface="楷体_GB2312" pitchFamily="49" charset="-122"/>
                </a:rPr>
                <a:t>过冷水</a:t>
              </a:r>
              <a:endParaRPr lang="zh-CN" altLang="en-US" sz="2000" b="1" dirty="0">
                <a:latin typeface="Times New Roman" panose="02020603050405020304" pitchFamily="18" charset="0"/>
                <a:ea typeface="楷体_GB2312" pitchFamily="49" charset="-122"/>
              </a:endParaRPr>
            </a:p>
          </p:txBody>
        </p:sp>
        <p:sp>
          <p:nvSpPr>
            <p:cNvPr id="66576" name="文本框 39951"/>
            <p:cNvSpPr txBox="1">
              <a:spLocks noChangeArrowheads="1"/>
            </p:cNvSpPr>
            <p:nvPr/>
          </p:nvSpPr>
          <p:spPr bwMode="auto">
            <a:xfrm>
              <a:off x="4679" y="2464"/>
              <a:ext cx="91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000" b="1" dirty="0">
                  <a:latin typeface="Times New Roman" panose="02020603050405020304" pitchFamily="18" charset="0"/>
                  <a:ea typeface="楷体_GB2312" pitchFamily="49" charset="-122"/>
                </a:rPr>
                <a:t>饱和水</a:t>
              </a:r>
              <a:endParaRPr lang="zh-CN" altLang="en-US" sz="2000" b="1" dirty="0">
                <a:latin typeface="Times New Roman" panose="02020603050405020304" pitchFamily="18" charset="0"/>
                <a:ea typeface="楷体_GB2312" pitchFamily="49" charset="-122"/>
              </a:endParaRPr>
            </a:p>
          </p:txBody>
        </p:sp>
        <p:sp>
          <p:nvSpPr>
            <p:cNvPr id="66577" name="文本框 39952"/>
            <p:cNvSpPr txBox="1">
              <a:spLocks noChangeArrowheads="1"/>
            </p:cNvSpPr>
            <p:nvPr/>
          </p:nvSpPr>
          <p:spPr bwMode="auto">
            <a:xfrm>
              <a:off x="4638" y="2754"/>
              <a:ext cx="134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000" b="1" dirty="0" smtClean="0">
                  <a:latin typeface="Times New Roman" panose="02020603050405020304" pitchFamily="18" charset="0"/>
                  <a:ea typeface="楷体_GB2312" pitchFamily="49" charset="-122"/>
                </a:rPr>
                <a:t>湿饱和水蒸气</a:t>
              </a:r>
              <a:endParaRPr lang="zh-CN" altLang="en-US" sz="2000" b="1" dirty="0">
                <a:latin typeface="Times New Roman" panose="02020603050405020304" pitchFamily="18" charset="0"/>
                <a:ea typeface="楷体_GB2312" pitchFamily="49" charset="-122"/>
              </a:endParaRPr>
            </a:p>
          </p:txBody>
        </p:sp>
        <p:sp>
          <p:nvSpPr>
            <p:cNvPr id="66578" name="文本框 39953"/>
            <p:cNvSpPr txBox="1">
              <a:spLocks noChangeArrowheads="1"/>
            </p:cNvSpPr>
            <p:nvPr/>
          </p:nvSpPr>
          <p:spPr bwMode="auto">
            <a:xfrm>
              <a:off x="4583" y="3120"/>
              <a:ext cx="1369"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000" b="1" dirty="0">
                  <a:latin typeface="Times New Roman" panose="02020603050405020304" pitchFamily="18" charset="0"/>
                  <a:ea typeface="楷体_GB2312" pitchFamily="49" charset="-122"/>
                </a:rPr>
                <a:t>干</a:t>
              </a:r>
              <a:r>
                <a:rPr lang="zh-CN" altLang="en-US" sz="2000" b="1" dirty="0" smtClean="0">
                  <a:latin typeface="Times New Roman" panose="02020603050405020304" pitchFamily="18" charset="0"/>
                  <a:ea typeface="楷体_GB2312" pitchFamily="49" charset="-122"/>
                </a:rPr>
                <a:t>饱和水蒸气</a:t>
              </a:r>
              <a:endParaRPr lang="zh-CN" altLang="en-US" sz="2000" b="1" dirty="0">
                <a:latin typeface="Times New Roman" panose="02020603050405020304" pitchFamily="18" charset="0"/>
                <a:ea typeface="楷体_GB2312" pitchFamily="49" charset="-122"/>
              </a:endParaRPr>
            </a:p>
          </p:txBody>
        </p:sp>
        <p:sp>
          <p:nvSpPr>
            <p:cNvPr id="66579" name="文本框 39954"/>
            <p:cNvSpPr txBox="1">
              <a:spLocks noChangeArrowheads="1"/>
            </p:cNvSpPr>
            <p:nvPr/>
          </p:nvSpPr>
          <p:spPr bwMode="auto">
            <a:xfrm>
              <a:off x="4627" y="3456"/>
              <a:ext cx="1277"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000" b="1" dirty="0" smtClean="0">
                  <a:latin typeface="Times New Roman" panose="02020603050405020304" pitchFamily="18" charset="0"/>
                  <a:ea typeface="楷体_GB2312" pitchFamily="49" charset="-122"/>
                </a:rPr>
                <a:t>过热水蒸气</a:t>
              </a:r>
              <a:endParaRPr lang="zh-CN" altLang="en-US" sz="2000" b="1" dirty="0">
                <a:latin typeface="Times New Roman" panose="02020603050405020304" pitchFamily="18" charset="0"/>
                <a:ea typeface="楷体_GB2312" pitchFamily="49" charset="-122"/>
              </a:endParaRPr>
            </a:p>
          </p:txBody>
        </p:sp>
      </p:grpSp>
      <p:grpSp>
        <p:nvGrpSpPr>
          <p:cNvPr id="39956" name="组合 39955"/>
          <p:cNvGrpSpPr/>
          <p:nvPr/>
        </p:nvGrpSpPr>
        <p:grpSpPr bwMode="auto">
          <a:xfrm>
            <a:off x="4989513" y="4095755"/>
            <a:ext cx="1900237" cy="708026"/>
            <a:chOff x="3143" y="2291"/>
            <a:chExt cx="1197" cy="446"/>
          </a:xfrm>
        </p:grpSpPr>
        <p:sp>
          <p:nvSpPr>
            <p:cNvPr id="66581" name="文本框 39956"/>
            <p:cNvSpPr txBox="1">
              <a:spLocks noChangeArrowheads="1"/>
            </p:cNvSpPr>
            <p:nvPr/>
          </p:nvSpPr>
          <p:spPr bwMode="auto">
            <a:xfrm>
              <a:off x="3211" y="2291"/>
              <a:ext cx="1129" cy="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000" b="1" dirty="0">
                  <a:latin typeface="Times New Roman" panose="02020603050405020304" pitchFamily="18" charset="0"/>
                  <a:ea typeface="楷体_GB2312" pitchFamily="49" charset="-122"/>
                </a:rPr>
                <a:t>饱和水线</a:t>
              </a:r>
              <a:endParaRPr lang="zh-CN" altLang="en-US" sz="2000" b="1" dirty="0">
                <a:latin typeface="Times New Roman" panose="02020603050405020304" pitchFamily="18" charset="0"/>
                <a:ea typeface="楷体_GB2312" pitchFamily="49" charset="-122"/>
              </a:endParaRPr>
            </a:p>
            <a:p>
              <a:r>
                <a:rPr lang="zh-CN" altLang="en-US" sz="2000" b="1" dirty="0" smtClean="0">
                  <a:latin typeface="Times New Roman" panose="02020603050405020304" pitchFamily="18" charset="0"/>
                  <a:ea typeface="楷体_GB2312" pitchFamily="49" charset="-122"/>
                </a:rPr>
                <a:t>饱和水蒸气线</a:t>
              </a:r>
              <a:endParaRPr lang="zh-CN" altLang="en-US" sz="2000" b="1" dirty="0">
                <a:latin typeface="Times New Roman" panose="02020603050405020304" pitchFamily="18" charset="0"/>
                <a:ea typeface="楷体_GB2312" pitchFamily="49" charset="-122"/>
              </a:endParaRPr>
            </a:p>
          </p:txBody>
        </p:sp>
        <p:sp>
          <p:nvSpPr>
            <p:cNvPr id="66582" name="左大括号 39957"/>
            <p:cNvSpPr/>
            <p:nvPr/>
          </p:nvSpPr>
          <p:spPr bwMode="auto">
            <a:xfrm>
              <a:off x="3143" y="2358"/>
              <a:ext cx="48" cy="336"/>
            </a:xfrm>
            <a:prstGeom prst="leftBrace">
              <a:avLst>
                <a:gd name="adj1" fmla="val 58204"/>
                <a:gd name="adj2" fmla="val 50000"/>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pic>
        <p:nvPicPr>
          <p:cNvPr id="66583" name="图片 3995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5650" y="836613"/>
            <a:ext cx="3114675" cy="285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6584" name="文本框 39959"/>
          <p:cNvSpPr txBox="1">
            <a:spLocks noChangeArrowheads="1"/>
          </p:cNvSpPr>
          <p:nvPr/>
        </p:nvSpPr>
        <p:spPr bwMode="auto">
          <a:xfrm>
            <a:off x="106570" y="4810125"/>
            <a:ext cx="1895475"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000" b="1" dirty="0">
                <a:solidFill>
                  <a:srgbClr val="FF0000"/>
                </a:solidFill>
                <a:latin typeface="Times New Roman" panose="02020603050405020304" pitchFamily="18" charset="0"/>
                <a:ea typeface="楷体_GB2312" pitchFamily="49" charset="-122"/>
              </a:rPr>
              <a:t>一点</a:t>
            </a:r>
            <a:endParaRPr lang="zh-CN" altLang="en-US" sz="2000" b="1" dirty="0">
              <a:solidFill>
                <a:srgbClr val="FF0000"/>
              </a:solidFill>
              <a:latin typeface="Times New Roman" panose="02020603050405020304" pitchFamily="18" charset="0"/>
              <a:ea typeface="楷体_GB2312" pitchFamily="49" charset="-122"/>
            </a:endParaRPr>
          </a:p>
          <a:p>
            <a:r>
              <a:rPr lang="zh-CN" altLang="en-US" sz="2000" b="1" dirty="0">
                <a:solidFill>
                  <a:srgbClr val="FF0000"/>
                </a:solidFill>
                <a:latin typeface="Times New Roman" panose="02020603050405020304" pitchFamily="18" charset="0"/>
                <a:ea typeface="楷体_GB2312" pitchFamily="49" charset="-122"/>
              </a:rPr>
              <a:t>临界点</a:t>
            </a:r>
            <a:endParaRPr lang="zh-CN" altLang="en-US" sz="2000" b="1" dirty="0">
              <a:solidFill>
                <a:srgbClr val="FF0000"/>
              </a:solidFill>
              <a:latin typeface="Times New Roman" panose="02020603050405020304" pitchFamily="18" charset="0"/>
              <a:ea typeface="楷体_GB2312" pitchFamily="49" charset="-122"/>
            </a:endParaRPr>
          </a:p>
          <a:p>
            <a:r>
              <a:rPr lang="en-US" altLang="zh-CN" sz="2000" dirty="0">
                <a:solidFill>
                  <a:srgbClr val="FF0000"/>
                </a:solidFill>
                <a:latin typeface="Times New Roman" panose="02020603050405020304" pitchFamily="18" charset="0"/>
                <a:ea typeface="楷体_GB2312" pitchFamily="49" charset="-122"/>
              </a:rPr>
              <a:t>critical point</a:t>
            </a:r>
            <a:endParaRPr lang="en-US" altLang="zh-CN" sz="2000" dirty="0">
              <a:solidFill>
                <a:srgbClr val="FF0000"/>
              </a:solidFill>
              <a:latin typeface="Times New Roman" panose="02020603050405020304" pitchFamily="18" charset="0"/>
              <a:ea typeface="楷体_GB2312" pitchFamily="49" charset="-122"/>
            </a:endParaRPr>
          </a:p>
        </p:txBody>
      </p:sp>
      <p:sp>
        <p:nvSpPr>
          <p:cNvPr id="66585" name="文本框 39960"/>
          <p:cNvSpPr txBox="1">
            <a:spLocks noChangeArrowheads="1"/>
          </p:cNvSpPr>
          <p:nvPr/>
        </p:nvSpPr>
        <p:spPr bwMode="auto">
          <a:xfrm>
            <a:off x="3419475" y="260350"/>
            <a:ext cx="53990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800" b="1">
                <a:latin typeface="Times New Roman" panose="02020603050405020304" pitchFamily="18" charset="0"/>
                <a:ea typeface="楷体_GB2312" pitchFamily="49" charset="-122"/>
              </a:rPr>
              <a:t>水的状态分区</a:t>
            </a:r>
            <a:endParaRPr lang="zh-CN" altLang="en-US" sz="2800" b="1">
              <a:latin typeface="Times New Roman" panose="02020603050405020304" pitchFamily="18" charset="0"/>
              <a:ea typeface="楷体_GB2312" pitchFamily="49" charset="-122"/>
            </a:endParaRPr>
          </a:p>
        </p:txBody>
      </p:sp>
      <p:pic>
        <p:nvPicPr>
          <p:cNvPr id="66586" name="图片 3996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76825" y="836613"/>
            <a:ext cx="3295650" cy="288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5"/>
    </p:custData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9938"/>
                                        </p:tgtEl>
                                        <p:attrNameLst>
                                          <p:attrName>style.visibility</p:attrName>
                                        </p:attrNameLst>
                                      </p:cBhvr>
                                      <p:to>
                                        <p:strVal val="visible"/>
                                      </p:to>
                                    </p:set>
                                    <p:animEffect transition="in" filter="wipe(left)">
                                      <p:cBhvr>
                                        <p:cTn id="7" dur="500"/>
                                        <p:tgtEl>
                                          <p:spTgt spid="3993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9956"/>
                                        </p:tgtEl>
                                        <p:attrNameLst>
                                          <p:attrName>style.visibility</p:attrName>
                                        </p:attrNameLst>
                                      </p:cBhvr>
                                      <p:to>
                                        <p:strVal val="visible"/>
                                      </p:to>
                                    </p:set>
                                    <p:animEffect transition="in" filter="wipe(left)">
                                      <p:cBhvr>
                                        <p:cTn id="12" dur="500"/>
                                        <p:tgtEl>
                                          <p:spTgt spid="3995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9943"/>
                                        </p:tgtEl>
                                        <p:attrNameLst>
                                          <p:attrName>style.visibility</p:attrName>
                                        </p:attrNameLst>
                                      </p:cBhvr>
                                      <p:to>
                                        <p:strVal val="visible"/>
                                      </p:to>
                                    </p:set>
                                    <p:animEffect transition="in" filter="wipe(left)">
                                      <p:cBhvr>
                                        <p:cTn id="17" dur="500"/>
                                        <p:tgtEl>
                                          <p:spTgt spid="3994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9949"/>
                                        </p:tgtEl>
                                        <p:attrNameLst>
                                          <p:attrName>style.visibility</p:attrName>
                                        </p:attrNameLst>
                                      </p:cBhvr>
                                      <p:to>
                                        <p:strVal val="visible"/>
                                      </p:to>
                                    </p:set>
                                    <p:animEffect transition="in" filter="wipe(left)">
                                      <p:cBhvr>
                                        <p:cTn id="22" dur="500"/>
                                        <p:tgtEl>
                                          <p:spTgt spid="399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矩形 183299"/>
          <p:cNvSpPr>
            <a:spLocks noChangeArrowheads="1"/>
          </p:cNvSpPr>
          <p:nvPr/>
        </p:nvSpPr>
        <p:spPr bwMode="auto">
          <a:xfrm>
            <a:off x="421792" y="1720230"/>
            <a:ext cx="8077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buFontTx/>
              <a:buChar char="§"/>
            </a:pPr>
            <a:r>
              <a:rPr lang="en-US" altLang="zh-CN" sz="4400" b="1" dirty="0">
                <a:latin typeface="黑体" panose="02010609060101010101" pitchFamily="49" charset="-122"/>
                <a:ea typeface="黑体" panose="02010609060101010101" pitchFamily="49" charset="-122"/>
              </a:rPr>
              <a:t>9</a:t>
            </a:r>
            <a:r>
              <a:rPr lang="zh-CN" altLang="en-US" sz="4400" b="1" dirty="0">
                <a:latin typeface="黑体" panose="02010609060101010101" pitchFamily="49" charset="-122"/>
                <a:ea typeface="黑体" panose="02010609060101010101" pitchFamily="49" charset="-122"/>
              </a:rPr>
              <a:t>－</a:t>
            </a:r>
            <a:r>
              <a:rPr lang="en-US" altLang="zh-CN" sz="4400" b="1" dirty="0">
                <a:latin typeface="黑体" panose="02010609060101010101" pitchFamily="49" charset="-122"/>
                <a:ea typeface="黑体" panose="02010609060101010101" pitchFamily="49" charset="-122"/>
              </a:rPr>
              <a:t>4</a:t>
            </a:r>
            <a:r>
              <a:rPr lang="zh-CN" altLang="en-US" sz="4400" b="1" dirty="0">
                <a:latin typeface="黑体" panose="02010609060101010101" pitchFamily="49" charset="-122"/>
                <a:ea typeface="黑体" panose="02010609060101010101" pitchFamily="49" charset="-122"/>
              </a:rPr>
              <a:t>　蒸气热力性质表</a:t>
            </a:r>
            <a:endParaRPr lang="zh-CN" altLang="en-US" sz="4400" b="1" dirty="0">
              <a:latin typeface="黑体" panose="02010609060101010101" pitchFamily="49" charset="-122"/>
              <a:ea typeface="黑体" panose="02010609060101010101" pitchFamily="49" charset="-122"/>
            </a:endParaRPr>
          </a:p>
        </p:txBody>
      </p:sp>
    </p:spTree>
  </p:cSld>
  <p:clrMapOvr>
    <a:masterClrMapping/>
  </p:clrMapOvr>
  <p:transition spd="slow"/>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矩形 167942"/>
          <p:cNvSpPr>
            <a:spLocks noChangeArrowheads="1"/>
          </p:cNvSpPr>
          <p:nvPr/>
        </p:nvSpPr>
        <p:spPr bwMode="auto">
          <a:xfrm>
            <a:off x="539750" y="3716338"/>
            <a:ext cx="820896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800" b="1" dirty="0">
                <a:latin typeface="黑体" panose="02010609060101010101" pitchFamily="49" charset="-122"/>
                <a:ea typeface="黑体" panose="02010609060101010101" pitchFamily="49" charset="-122"/>
              </a:rPr>
              <a:t>等</a:t>
            </a:r>
            <a:r>
              <a:rPr lang="zh-CN" altLang="en-US" sz="2800" b="1" dirty="0">
                <a:solidFill>
                  <a:srgbClr val="FF0000"/>
                </a:solidFill>
                <a:latin typeface="黑体" panose="02010609060101010101" pitchFamily="49" charset="-122"/>
                <a:ea typeface="黑体" panose="02010609060101010101" pitchFamily="49" charset="-122"/>
              </a:rPr>
              <a:t>对于蒸气不再适用</a:t>
            </a:r>
            <a:r>
              <a:rPr lang="zh-CN" altLang="en-US" sz="2800" b="1" dirty="0">
                <a:latin typeface="黑体" panose="02010609060101010101" pitchFamily="49" charset="-122"/>
                <a:ea typeface="黑体" panose="02010609060101010101" pitchFamily="49" charset="-122"/>
              </a:rPr>
              <a:t>。</a:t>
            </a:r>
            <a:endParaRPr lang="zh-CN" altLang="en-US" sz="2800" b="1" dirty="0">
              <a:latin typeface="黑体" panose="02010609060101010101" pitchFamily="49" charset="-122"/>
              <a:ea typeface="黑体" panose="02010609060101010101" pitchFamily="49" charset="-122"/>
            </a:endParaRPr>
          </a:p>
        </p:txBody>
      </p:sp>
      <p:sp>
        <p:nvSpPr>
          <p:cNvPr id="68610" name="矩形 16794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68611" name="对象 167943"/>
          <p:cNvGraphicFramePr/>
          <p:nvPr/>
        </p:nvGraphicFramePr>
        <p:xfrm>
          <a:off x="323850" y="2867025"/>
          <a:ext cx="1547813" cy="604838"/>
        </p:xfrm>
        <a:graphic>
          <a:graphicData uri="http://schemas.openxmlformats.org/presentationml/2006/ole">
            <mc:AlternateContent xmlns:mc="http://schemas.openxmlformats.org/markup-compatibility/2006">
              <mc:Choice xmlns:v="urn:schemas-microsoft-com:vml" Requires="v">
                <p:oleObj spid="_x0000_s43074" name="" r:id="rId1" imgW="609600" imgH="241300" progId="Equation.DSMT4">
                  <p:embed/>
                </p:oleObj>
              </mc:Choice>
              <mc:Fallback>
                <p:oleObj name="" r:id="rId1" imgW="609600" imgH="241300" progId="Equation.DSMT4">
                  <p:embed/>
                  <p:pic>
                    <p:nvPicPr>
                      <p:cNvPr id="0" name="对象 167943"/>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850" y="2867025"/>
                        <a:ext cx="1547813" cy="604838"/>
                      </a:xfrm>
                      <a:prstGeom prst="rect">
                        <a:avLst/>
                      </a:prstGeom>
                      <a:noFill/>
                      <a:ln w="25400">
                        <a:solidFill>
                          <a:schemeClr val="folHlink"/>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8612" name="矩形 167946"/>
          <p:cNvSpPr>
            <a:spLocks noChangeArrowheads="1"/>
          </p:cNvSpPr>
          <p:nvPr/>
        </p:nvSpPr>
        <p:spPr bwMode="auto">
          <a:xfrm>
            <a:off x="0" y="46212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68613" name="对象 167945"/>
          <p:cNvGraphicFramePr/>
          <p:nvPr/>
        </p:nvGraphicFramePr>
        <p:xfrm>
          <a:off x="2052638" y="2867025"/>
          <a:ext cx="1800225" cy="590550"/>
        </p:xfrm>
        <a:graphic>
          <a:graphicData uri="http://schemas.openxmlformats.org/presentationml/2006/ole">
            <mc:AlternateContent xmlns:mc="http://schemas.openxmlformats.org/markup-compatibility/2006">
              <mc:Choice xmlns:v="urn:schemas-microsoft-com:vml" Requires="v">
                <p:oleObj spid="_x0000_s43075" name="" r:id="rId3" imgW="698500" imgH="228600" progId="Equation.DSMT4">
                  <p:embed/>
                </p:oleObj>
              </mc:Choice>
              <mc:Fallback>
                <p:oleObj name="" r:id="rId3" imgW="698500" imgH="228600" progId="Equation.DSMT4">
                  <p:embed/>
                  <p:pic>
                    <p:nvPicPr>
                      <p:cNvPr id="0" name="对象 167945"/>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52638" y="2867025"/>
                        <a:ext cx="1800225" cy="590550"/>
                      </a:xfrm>
                      <a:prstGeom prst="rect">
                        <a:avLst/>
                      </a:prstGeom>
                      <a:noFill/>
                      <a:ln w="25400">
                        <a:solidFill>
                          <a:schemeClr val="folHlink"/>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8614" name="对象 167947"/>
          <p:cNvGraphicFramePr/>
          <p:nvPr/>
        </p:nvGraphicFramePr>
        <p:xfrm>
          <a:off x="4068763" y="2867025"/>
          <a:ext cx="1871662" cy="641350"/>
        </p:xfrm>
        <a:graphic>
          <a:graphicData uri="http://schemas.openxmlformats.org/presentationml/2006/ole">
            <mc:AlternateContent xmlns:mc="http://schemas.openxmlformats.org/markup-compatibility/2006">
              <mc:Choice xmlns:v="urn:schemas-microsoft-com:vml" Requires="v">
                <p:oleObj spid="_x0000_s43076" name="" r:id="rId5" imgW="698500" imgH="241300" progId="Equation.DSMT4">
                  <p:embed/>
                </p:oleObj>
              </mc:Choice>
              <mc:Fallback>
                <p:oleObj name="" r:id="rId5" imgW="698500" imgH="241300" progId="Equation.DSMT4">
                  <p:embed/>
                  <p:pic>
                    <p:nvPicPr>
                      <p:cNvPr id="0" name="对象 167947"/>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68763" y="2867025"/>
                        <a:ext cx="1871662" cy="641350"/>
                      </a:xfrm>
                      <a:prstGeom prst="rect">
                        <a:avLst/>
                      </a:prstGeom>
                      <a:noFill/>
                      <a:ln w="25400">
                        <a:solidFill>
                          <a:schemeClr val="folHlink"/>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8615" name="矩形 167950"/>
          <p:cNvSpPr>
            <a:spLocks noChangeArrowheads="1"/>
          </p:cNvSpPr>
          <p:nvPr/>
        </p:nvSpPr>
        <p:spPr bwMode="auto">
          <a:xfrm>
            <a:off x="0" y="45212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68616" name="对象 167949"/>
          <p:cNvGraphicFramePr/>
          <p:nvPr/>
        </p:nvGraphicFramePr>
        <p:xfrm>
          <a:off x="6156325" y="2794000"/>
          <a:ext cx="2592388" cy="779463"/>
        </p:xfrm>
        <a:graphic>
          <a:graphicData uri="http://schemas.openxmlformats.org/presentationml/2006/ole">
            <mc:AlternateContent xmlns:mc="http://schemas.openxmlformats.org/markup-compatibility/2006">
              <mc:Choice xmlns:v="urn:schemas-microsoft-com:vml" Requires="v">
                <p:oleObj spid="_x0000_s43077" name="" r:id="rId7" imgW="1421765" imgH="431800" progId="Equation.DSMT4">
                  <p:embed/>
                </p:oleObj>
              </mc:Choice>
              <mc:Fallback>
                <p:oleObj name="" r:id="rId7" imgW="1421765" imgH="431800" progId="Equation.DSMT4">
                  <p:embed/>
                  <p:pic>
                    <p:nvPicPr>
                      <p:cNvPr id="0" name="对象 167949"/>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156325" y="2794000"/>
                        <a:ext cx="2592388" cy="779463"/>
                      </a:xfrm>
                      <a:prstGeom prst="rect">
                        <a:avLst/>
                      </a:prstGeom>
                      <a:noFill/>
                      <a:ln w="25400">
                        <a:solidFill>
                          <a:schemeClr val="folHlink"/>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8617" name="矩形 167951"/>
          <p:cNvSpPr>
            <a:spLocks noChangeArrowheads="1"/>
          </p:cNvSpPr>
          <p:nvPr/>
        </p:nvSpPr>
        <p:spPr bwMode="auto">
          <a:xfrm>
            <a:off x="539750" y="1773238"/>
            <a:ext cx="8208963"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800" b="1" dirty="0">
                <a:latin typeface="黑体" panose="02010609060101010101" pitchFamily="49" charset="-122"/>
                <a:ea typeface="黑体" panose="02010609060101010101" pitchFamily="49" charset="-122"/>
              </a:rPr>
              <a:t>蒸气</a:t>
            </a:r>
            <a:r>
              <a:rPr lang="zh-CN" altLang="en-US" sz="2800" b="1" dirty="0">
                <a:solidFill>
                  <a:srgbClr val="FF0000"/>
                </a:solidFill>
                <a:latin typeface="黑体" panose="02010609060101010101" pitchFamily="49" charset="-122"/>
                <a:ea typeface="黑体" panose="02010609060101010101" pitchFamily="49" charset="-122"/>
              </a:rPr>
              <a:t>不能作为理想气体处理</a:t>
            </a:r>
            <a:r>
              <a:rPr lang="zh-CN" altLang="en-US" sz="2800" b="1" dirty="0">
                <a:latin typeface="黑体" panose="02010609060101010101" pitchFamily="49" charset="-122"/>
                <a:ea typeface="黑体" panose="02010609060101010101" pitchFamily="49" charset="-122"/>
              </a:rPr>
              <a:t>，所以理想气体的一些关系式，如</a:t>
            </a:r>
            <a:endParaRPr lang="zh-CN" altLang="en-US" sz="2800" dirty="0">
              <a:latin typeface="黑体" panose="02010609060101010101" pitchFamily="49" charset="-122"/>
              <a:ea typeface="黑体" panose="02010609060101010101" pitchFamily="49" charset="-122"/>
            </a:endParaRPr>
          </a:p>
        </p:txBody>
      </p:sp>
      <p:sp>
        <p:nvSpPr>
          <p:cNvPr id="68618" name="矩形 167952"/>
          <p:cNvSpPr>
            <a:spLocks noChangeArrowheads="1"/>
          </p:cNvSpPr>
          <p:nvPr/>
        </p:nvSpPr>
        <p:spPr bwMode="auto">
          <a:xfrm>
            <a:off x="395288" y="4365625"/>
            <a:ext cx="8208962" cy="2227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800" b="1" dirty="0">
                <a:latin typeface="黑体" panose="02010609060101010101" pitchFamily="49" charset="-122"/>
                <a:ea typeface="黑体" panose="02010609060101010101" pitchFamily="49" charset="-122"/>
              </a:rPr>
              <a:t>蒸气的性质较为复杂，其状态方程和热力状态参数的计算也较为复杂</a:t>
            </a:r>
            <a:endParaRPr lang="zh-CN" altLang="en-US" sz="2800" b="1" dirty="0">
              <a:latin typeface="黑体" panose="02010609060101010101" pitchFamily="49" charset="-122"/>
              <a:ea typeface="黑体" panose="02010609060101010101" pitchFamily="49" charset="-122"/>
            </a:endParaRPr>
          </a:p>
          <a:p>
            <a:pPr>
              <a:buFont typeface="Wingdings" panose="05000000000000000000" pitchFamily="2" charset="2"/>
              <a:buNone/>
            </a:pPr>
            <a:r>
              <a:rPr lang="zh-CN" altLang="en-US" sz="2800" b="1" dirty="0">
                <a:latin typeface="黑体" panose="02010609060101010101" pitchFamily="49" charset="-122"/>
                <a:ea typeface="黑体" panose="02010609060101010101" pitchFamily="49" charset="-122"/>
              </a:rPr>
              <a:t>人们已经根据蒸气的性质以及测量、计算结果编制成了常用</a:t>
            </a:r>
            <a:r>
              <a:rPr lang="zh-CN" altLang="en-US" sz="2800" b="1" dirty="0">
                <a:solidFill>
                  <a:srgbClr val="FF0000"/>
                </a:solidFill>
                <a:latin typeface="黑体" panose="02010609060101010101" pitchFamily="49" charset="-122"/>
                <a:ea typeface="黑体" panose="02010609060101010101" pitchFamily="49" charset="-122"/>
              </a:rPr>
              <a:t>蒸气的热力性质表和图</a:t>
            </a:r>
            <a:r>
              <a:rPr lang="zh-CN" altLang="en-US" sz="2800" b="1" dirty="0">
                <a:latin typeface="黑体" panose="02010609060101010101" pitchFamily="49" charset="-122"/>
                <a:ea typeface="黑体" panose="02010609060101010101" pitchFamily="49" charset="-122"/>
              </a:rPr>
              <a:t>，在工程计算中直接查用</a:t>
            </a:r>
            <a:endParaRPr lang="zh-CN" altLang="en-US" sz="2800" b="1" dirty="0">
              <a:latin typeface="黑体" panose="02010609060101010101" pitchFamily="49" charset="-122"/>
              <a:ea typeface="黑体" panose="02010609060101010101" pitchFamily="49" charset="-122"/>
            </a:endParaRPr>
          </a:p>
        </p:txBody>
      </p:sp>
      <p:sp>
        <p:nvSpPr>
          <p:cNvPr id="68619" name="矩形 167954"/>
          <p:cNvSpPr>
            <a:spLocks noChangeArrowheads="1"/>
          </p:cNvSpPr>
          <p:nvPr/>
        </p:nvSpPr>
        <p:spPr bwMode="auto">
          <a:xfrm>
            <a:off x="395288" y="333375"/>
            <a:ext cx="8362950" cy="137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buFont typeface="Wingdings" panose="05000000000000000000" pitchFamily="2" charset="2"/>
              <a:buNone/>
            </a:pP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研究蒸气热力性质时，与研究理想气体一样，通常也会涉及到基本状态参数（</a:t>
            </a:r>
            <a:r>
              <a:rPr lang="en-US" altLang="zh-CN" sz="2800" b="1" i="1" dirty="0">
                <a:latin typeface="Times New Roman" panose="02020603050405020304" pitchFamily="18" charset="0"/>
                <a:ea typeface="黑体" panose="02010609060101010101" pitchFamily="49" charset="-122"/>
                <a:cs typeface="Times New Roman" panose="02020603050405020304" pitchFamily="18" charset="0"/>
              </a:rPr>
              <a:t>p</a:t>
            </a:r>
            <a:r>
              <a:rPr lang="zh-CN" altLang="en-US" sz="2800" b="1" i="1"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2800" b="1" i="1" dirty="0">
                <a:latin typeface="Times New Roman" panose="02020603050405020304" pitchFamily="18" charset="0"/>
                <a:ea typeface="黑体" panose="02010609060101010101" pitchFamily="49" charset="-122"/>
                <a:cs typeface="Times New Roman" panose="02020603050405020304" pitchFamily="18" charset="0"/>
              </a:rPr>
              <a:t>v</a:t>
            </a:r>
            <a:r>
              <a:rPr lang="zh-CN" altLang="en-US" sz="2800" b="1" i="1"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2800" b="1" i="1" dirty="0">
                <a:latin typeface="Times New Roman" panose="02020603050405020304" pitchFamily="18" charset="0"/>
                <a:ea typeface="黑体" panose="02010609060101010101" pitchFamily="49" charset="-122"/>
                <a:cs typeface="Times New Roman" panose="02020603050405020304" pitchFamily="18" charset="0"/>
              </a:rPr>
              <a:t>T</a:t>
            </a: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）、比热容、热力学能、焓和熵的计算</a:t>
            </a:r>
            <a:endParaRPr lang="zh-CN" altLang="en-US" sz="2800" b="1" dirty="0">
              <a:latin typeface="Times New Roman" panose="02020603050405020304" pitchFamily="18" charset="0"/>
              <a:ea typeface="黑体" panose="02010609060101010101" pitchFamily="49" charset="-122"/>
              <a:cs typeface="Times New Roman" panose="02020603050405020304" pitchFamily="18" charset="0"/>
            </a:endParaRPr>
          </a:p>
        </p:txBody>
      </p:sp>
    </p:spTree>
  </p:cSld>
  <p:clrMapOvr>
    <a:masterClrMapping/>
  </p:clrMapOvr>
  <p:transition spd="slow"/>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文本占位符 52226"/>
          <p:cNvSpPr>
            <a:spLocks noGrp="1" noChangeArrowheads="1"/>
          </p:cNvSpPr>
          <p:nvPr>
            <p:ph idx="1"/>
          </p:nvPr>
        </p:nvSpPr>
        <p:spPr>
          <a:xfrm>
            <a:off x="611188" y="3141663"/>
            <a:ext cx="7696200" cy="3468687"/>
          </a:xfrm>
        </p:spPr>
        <p:txBody>
          <a:bodyPr>
            <a:normAutofit/>
          </a:bodyPr>
          <a:lstStyle/>
          <a:p>
            <a:pPr marL="0" indent="0">
              <a:buNone/>
            </a:pPr>
            <a:r>
              <a:rPr lang="zh-CN" altLang="en-US" sz="3200" b="1" dirty="0" smtClean="0">
                <a:latin typeface="Times New Roman" panose="02020603050405020304" pitchFamily="18" charset="0"/>
                <a:ea typeface="黑体" panose="02010609060101010101" pitchFamily="49" charset="-122"/>
                <a:cs typeface="Times New Roman" panose="02020603050405020304" pitchFamily="18" charset="0"/>
              </a:rPr>
              <a:t>水与水蒸气的状态参数</a:t>
            </a:r>
            <a:r>
              <a:rPr lang="en-US" altLang="zh-CN" sz="3200" b="1" i="1" dirty="0" smtClean="0">
                <a:latin typeface="Times New Roman" panose="02020603050405020304" pitchFamily="18" charset="0"/>
                <a:ea typeface="黑体" panose="02010609060101010101" pitchFamily="49" charset="-122"/>
                <a:cs typeface="Times New Roman" panose="02020603050405020304" pitchFamily="18" charset="0"/>
              </a:rPr>
              <a:t>p</a:t>
            </a:r>
            <a:r>
              <a:rPr lang="zh-CN" altLang="en-US" sz="3200" b="1" i="1" dirty="0" smtClean="0">
                <a:latin typeface="Times New Roman" panose="02020603050405020304" pitchFamily="18" charset="0"/>
                <a:ea typeface="黑体" panose="02010609060101010101" pitchFamily="49" charset="-122"/>
                <a:cs typeface="Times New Roman" panose="02020603050405020304" pitchFamily="18" charset="0"/>
              </a:rPr>
              <a:t>、</a:t>
            </a:r>
            <a:r>
              <a:rPr lang="en-US" altLang="zh-CN" sz="3200" b="1" i="1" dirty="0" smtClean="0">
                <a:latin typeface="Times New Roman" panose="02020603050405020304" pitchFamily="18" charset="0"/>
                <a:ea typeface="黑体" panose="02010609060101010101" pitchFamily="49" charset="-122"/>
                <a:cs typeface="Times New Roman" panose="02020603050405020304" pitchFamily="18" charset="0"/>
              </a:rPr>
              <a:t>v</a:t>
            </a:r>
            <a:r>
              <a:rPr lang="zh-CN" altLang="en-US" sz="3200" b="1" i="1" dirty="0" smtClean="0">
                <a:latin typeface="Times New Roman" panose="02020603050405020304" pitchFamily="18" charset="0"/>
                <a:ea typeface="黑体" panose="02010609060101010101" pitchFamily="49" charset="-122"/>
                <a:cs typeface="Times New Roman" panose="02020603050405020304" pitchFamily="18" charset="0"/>
              </a:rPr>
              <a:t>、</a:t>
            </a:r>
            <a:r>
              <a:rPr lang="en-US" altLang="zh-CN" sz="3200" b="1" i="1" dirty="0" smtClean="0">
                <a:latin typeface="Times New Roman" panose="02020603050405020304" pitchFamily="18" charset="0"/>
                <a:ea typeface="黑体" panose="02010609060101010101" pitchFamily="49" charset="-122"/>
                <a:cs typeface="Times New Roman" panose="02020603050405020304" pitchFamily="18" charset="0"/>
              </a:rPr>
              <a:t>t</a:t>
            </a:r>
            <a:r>
              <a:rPr lang="zh-CN" altLang="en-US" sz="3200" b="1" i="1" dirty="0" smtClean="0">
                <a:latin typeface="Times New Roman" panose="02020603050405020304" pitchFamily="18" charset="0"/>
                <a:ea typeface="黑体" panose="02010609060101010101" pitchFamily="49" charset="-122"/>
                <a:cs typeface="Times New Roman" panose="02020603050405020304" pitchFamily="18" charset="0"/>
              </a:rPr>
              <a:t>、</a:t>
            </a:r>
            <a:r>
              <a:rPr lang="en-US" altLang="zh-CN" sz="3200" b="1" i="1" dirty="0" smtClean="0">
                <a:latin typeface="Times New Roman" panose="02020603050405020304" pitchFamily="18" charset="0"/>
                <a:ea typeface="黑体" panose="02010609060101010101" pitchFamily="49" charset="-122"/>
                <a:cs typeface="Times New Roman" panose="02020603050405020304" pitchFamily="18" charset="0"/>
              </a:rPr>
              <a:t>h</a:t>
            </a:r>
            <a:r>
              <a:rPr lang="zh-CN" altLang="en-US" sz="3200" b="1" i="1" dirty="0" smtClean="0">
                <a:latin typeface="Times New Roman" panose="02020603050405020304" pitchFamily="18" charset="0"/>
                <a:ea typeface="黑体" panose="02010609060101010101" pitchFamily="49" charset="-122"/>
                <a:cs typeface="Times New Roman" panose="02020603050405020304" pitchFamily="18" charset="0"/>
              </a:rPr>
              <a:t>、</a:t>
            </a:r>
            <a:r>
              <a:rPr lang="en-US" altLang="zh-CN" sz="3200" b="1" i="1" dirty="0" smtClean="0">
                <a:latin typeface="Times New Roman" panose="02020603050405020304" pitchFamily="18" charset="0"/>
                <a:ea typeface="黑体" panose="02010609060101010101" pitchFamily="49" charset="-122"/>
                <a:cs typeface="Times New Roman" panose="02020603050405020304" pitchFamily="18" charset="0"/>
              </a:rPr>
              <a:t>s</a:t>
            </a:r>
            <a:r>
              <a:rPr lang="zh-CN" altLang="en-US" sz="3200" b="1" dirty="0" smtClean="0">
                <a:latin typeface="Times New Roman" panose="02020603050405020304" pitchFamily="18" charset="0"/>
                <a:ea typeface="黑体" panose="02010609060101010101" pitchFamily="49" charset="-122"/>
                <a:cs typeface="Times New Roman" panose="02020603050405020304" pitchFamily="18" charset="0"/>
              </a:rPr>
              <a:t>均可从水蒸气图表中查到，图表中没有的参数，可根据参数间的一般关系计算得到，如</a:t>
            </a:r>
            <a:r>
              <a:rPr lang="en-US" altLang="zh-CN" sz="3200" b="1" i="1" dirty="0" smtClean="0">
                <a:latin typeface="Times New Roman" panose="02020603050405020304" pitchFamily="18" charset="0"/>
                <a:ea typeface="黑体" panose="02010609060101010101" pitchFamily="49" charset="-122"/>
                <a:cs typeface="Times New Roman" panose="02020603050405020304" pitchFamily="18" charset="0"/>
              </a:rPr>
              <a:t>u</a:t>
            </a:r>
            <a:r>
              <a:rPr lang="zh-CN" altLang="en-US" sz="3200" b="1" dirty="0" smtClean="0">
                <a:latin typeface="Times New Roman" panose="02020603050405020304" pitchFamily="18" charset="0"/>
                <a:ea typeface="黑体" panose="02010609060101010101" pitchFamily="49" charset="-122"/>
                <a:cs typeface="Times New Roman" panose="02020603050405020304" pitchFamily="18" charset="0"/>
              </a:rPr>
              <a:t>按</a:t>
            </a:r>
            <a:r>
              <a:rPr lang="en-US" altLang="zh-CN" sz="3200" b="1" i="1" dirty="0" smtClean="0">
                <a:latin typeface="Times New Roman" panose="02020603050405020304" pitchFamily="18" charset="0"/>
                <a:ea typeface="黑体" panose="02010609060101010101" pitchFamily="49" charset="-122"/>
                <a:cs typeface="Times New Roman" panose="02020603050405020304" pitchFamily="18" charset="0"/>
              </a:rPr>
              <a:t>u=h-</a:t>
            </a:r>
            <a:r>
              <a:rPr lang="en-US" altLang="zh-CN" sz="3200" b="1" i="1" dirty="0" err="1" smtClean="0">
                <a:latin typeface="Times New Roman" panose="02020603050405020304" pitchFamily="18" charset="0"/>
                <a:ea typeface="黑体" panose="02010609060101010101" pitchFamily="49" charset="-122"/>
                <a:cs typeface="Times New Roman" panose="02020603050405020304" pitchFamily="18" charset="0"/>
              </a:rPr>
              <a:t>pv</a:t>
            </a:r>
            <a:r>
              <a:rPr lang="zh-CN" altLang="en-US" sz="3200" b="1" dirty="0" smtClean="0">
                <a:latin typeface="Times New Roman" panose="02020603050405020304" pitchFamily="18" charset="0"/>
                <a:ea typeface="黑体" panose="02010609060101010101" pitchFamily="49" charset="-122"/>
                <a:cs typeface="Times New Roman" panose="02020603050405020304" pitchFamily="18" charset="0"/>
              </a:rPr>
              <a:t>计算。</a:t>
            </a:r>
            <a:endParaRPr lang="zh-CN" altLang="en-US" sz="3200" b="1" dirty="0" smtClean="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69634" name="标题 52227"/>
          <p:cNvSpPr>
            <a:spLocks noGrp="1" noChangeArrowheads="1"/>
          </p:cNvSpPr>
          <p:nvPr>
            <p:ph type="title"/>
          </p:nvPr>
        </p:nvSpPr>
        <p:spPr>
          <a:xfrm>
            <a:off x="519113" y="836613"/>
            <a:ext cx="8229600" cy="1714500"/>
          </a:xfrm>
        </p:spPr>
        <p:txBody>
          <a:bodyPr/>
          <a:lstStyle/>
          <a:p>
            <a:pPr algn="l"/>
            <a:r>
              <a:rPr lang="zh-CN" altLang="en-US" sz="3200" b="1" dirty="0" smtClean="0">
                <a:latin typeface="黑体" panose="02010609060101010101" pitchFamily="49" charset="-122"/>
                <a:ea typeface="黑体" panose="02010609060101010101" pitchFamily="49" charset="-122"/>
              </a:rPr>
              <a:t>本节以水蒸气为例，介绍蒸气热力性质表的类型、结构和使用方法，其他物质的蒸气热力性质表与其类似</a:t>
            </a:r>
            <a:r>
              <a:rPr lang="zh-CN" altLang="en-US" sz="4000" dirty="0" smtClean="0">
                <a:latin typeface="黑体" panose="02010609060101010101" pitchFamily="49" charset="-122"/>
                <a:ea typeface="黑体" panose="02010609060101010101" pitchFamily="49" charset="-122"/>
              </a:rPr>
              <a:t> </a:t>
            </a:r>
            <a:endParaRPr lang="zh-CN" altLang="en-US" sz="4000" dirty="0" smtClean="0">
              <a:latin typeface="黑体" panose="02010609060101010101" pitchFamily="49" charset="-122"/>
              <a:ea typeface="黑体" panose="02010609060101010101" pitchFamily="49" charset="-122"/>
            </a:endParaRPr>
          </a:p>
        </p:txBody>
      </p:sp>
    </p:spTree>
  </p:cSld>
  <p:clrMapOvr>
    <a:masterClrMapping/>
  </p:clrMapOvr>
  <p:transition spd="slow"/>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矩形 54276"/>
          <p:cNvSpPr>
            <a:spLocks noChangeArrowheads="1"/>
          </p:cNvSpPr>
          <p:nvPr/>
        </p:nvSpPr>
        <p:spPr bwMode="auto">
          <a:xfrm>
            <a:off x="0" y="981075"/>
            <a:ext cx="8748713" cy="12954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0660" name="文本占位符 54273"/>
          <p:cNvSpPr>
            <a:spLocks noGrp="1" noChangeArrowheads="1"/>
          </p:cNvSpPr>
          <p:nvPr/>
        </p:nvSpPr>
        <p:spPr bwMode="auto">
          <a:xfrm>
            <a:off x="455613" y="1628775"/>
            <a:ext cx="8269287" cy="388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400">
                <a:solidFill>
                  <a:schemeClr val="tx1"/>
                </a:solidFill>
                <a:latin typeface="Tahoma" panose="020B0604030504040204" pitchFamily="34" charset="0"/>
                <a:ea typeface="宋体" panose="02010600030101010101" pitchFamily="2" charset="-122"/>
              </a:defRPr>
            </a:lvl1pPr>
            <a:lvl2pPr>
              <a:defRPr sz="2400">
                <a:solidFill>
                  <a:schemeClr val="tx1"/>
                </a:solidFill>
                <a:latin typeface="Tahoma" panose="020B0604030504040204" pitchFamily="34" charset="0"/>
                <a:ea typeface="宋体" panose="02010600030101010101" pitchFamily="2" charset="-122"/>
              </a:defRPr>
            </a:lvl2pPr>
            <a:lvl3pPr>
              <a:defRPr sz="2400">
                <a:solidFill>
                  <a:schemeClr val="tx1"/>
                </a:solidFill>
                <a:latin typeface="Tahoma" panose="020B0604030504040204" pitchFamily="34" charset="0"/>
                <a:ea typeface="宋体" panose="02010600030101010101" pitchFamily="2" charset="-122"/>
              </a:defRPr>
            </a:lvl3pPr>
            <a:lvl4pPr>
              <a:defRPr sz="2400">
                <a:solidFill>
                  <a:schemeClr val="tx1"/>
                </a:solidFill>
                <a:latin typeface="Tahoma" panose="020B0604030504040204" pitchFamily="34" charset="0"/>
                <a:ea typeface="宋体" panose="02010600030101010101" pitchFamily="2" charset="-122"/>
              </a:defRPr>
            </a:lvl4pPr>
            <a:lvl5pPr>
              <a:defRPr sz="2400">
                <a:solidFill>
                  <a:schemeClr val="tx1"/>
                </a:solidFill>
                <a:latin typeface="Tahoma" panose="020B0604030504040204" pitchFamily="34" charset="0"/>
                <a:ea typeface="宋体" panose="02010600030101010101" pitchFamily="2" charset="-122"/>
              </a:defRPr>
            </a:lvl5pPr>
            <a:lvl6pPr fontAlgn="base">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fontAlgn="base">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fontAlgn="base">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fontAlgn="base">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marL="457200" indent="-457200">
              <a:lnSpc>
                <a:spcPct val="90000"/>
              </a:lnSpc>
              <a:spcBef>
                <a:spcPct val="20000"/>
              </a:spcBef>
              <a:buFont typeface="Arial" panose="020B0604020202020204" pitchFamily="34" charset="0"/>
              <a:buChar char="•"/>
            </a:pPr>
            <a:r>
              <a:rPr lang="zh-CN" altLang="en-US" sz="3200" b="1" dirty="0" smtClean="0">
                <a:latin typeface="Times New Roman" panose="02020603050405020304" pitchFamily="18" charset="0"/>
                <a:ea typeface="黑体" panose="02010609060101010101" pitchFamily="49" charset="-122"/>
                <a:cs typeface="Times New Roman" panose="02020603050405020304" pitchFamily="18" charset="0"/>
              </a:rPr>
              <a:t>蒸气性质表给出了一定压力和温度下工质的比体积、比焓和比熵的数值。</a:t>
            </a:r>
            <a:endParaRPr lang="en-US" altLang="zh-CN" sz="3200" b="1" dirty="0" smtClean="0">
              <a:latin typeface="Times New Roman" panose="02020603050405020304" pitchFamily="18" charset="0"/>
              <a:ea typeface="黑体" panose="02010609060101010101" pitchFamily="49" charset="-122"/>
              <a:cs typeface="Times New Roman" panose="02020603050405020304" pitchFamily="18" charset="0"/>
            </a:endParaRPr>
          </a:p>
          <a:p>
            <a:pPr marL="457200" indent="-457200">
              <a:lnSpc>
                <a:spcPct val="90000"/>
              </a:lnSpc>
              <a:spcBef>
                <a:spcPct val="20000"/>
              </a:spcBef>
              <a:buFont typeface="Arial" panose="020B0604020202020204" pitchFamily="34" charset="0"/>
              <a:buChar char="•"/>
            </a:pPr>
            <a:r>
              <a:rPr lang="zh-CN" altLang="en-US" sz="3200" b="1" dirty="0" smtClean="0">
                <a:latin typeface="Times New Roman" panose="02020603050405020304" pitchFamily="18" charset="0"/>
                <a:ea typeface="黑体" panose="02010609060101010101" pitchFamily="49" charset="-122"/>
                <a:cs typeface="Times New Roman" panose="02020603050405020304" pitchFamily="18" charset="0"/>
              </a:rPr>
              <a:t>在热力学分析中，人们更多关心的是焓变</a:t>
            </a:r>
            <a:r>
              <a:rPr lang="zh-CN" altLang="en-US" sz="3200" b="1" dirty="0">
                <a:latin typeface="Times New Roman" panose="02020603050405020304" pitchFamily="18" charset="0"/>
                <a:ea typeface="微软雅黑" panose="020B0503020204020204" charset="-122"/>
                <a:cs typeface="Times New Roman" panose="02020603050405020304" pitchFamily="18" charset="0"/>
              </a:rPr>
              <a:t>⊿</a:t>
            </a:r>
            <a:r>
              <a:rPr lang="en-US" altLang="zh-CN" sz="3200" b="1" i="1" dirty="0">
                <a:latin typeface="Times New Roman" panose="02020603050405020304" pitchFamily="18" charset="0"/>
                <a:ea typeface="微软雅黑" panose="020B0503020204020204" charset="-122"/>
                <a:cs typeface="Times New Roman" panose="02020603050405020304" pitchFamily="18" charset="0"/>
              </a:rPr>
              <a:t>h</a:t>
            </a:r>
            <a:r>
              <a:rPr lang="zh-CN" altLang="en-US" sz="3200" b="1" dirty="0" smtClean="0">
                <a:latin typeface="Times New Roman" panose="02020603050405020304" pitchFamily="18" charset="0"/>
                <a:ea typeface="黑体" panose="02010609060101010101" pitchFamily="49" charset="-122"/>
                <a:cs typeface="Times New Roman" panose="02020603050405020304" pitchFamily="18" charset="0"/>
              </a:rPr>
              <a:t>或熵变</a:t>
            </a:r>
            <a:r>
              <a:rPr lang="zh-CN" altLang="en-US" sz="3200" b="1" dirty="0">
                <a:latin typeface="Times New Roman" panose="02020603050405020304" pitchFamily="18" charset="0"/>
                <a:ea typeface="微软雅黑" panose="020B0503020204020204" charset="-122"/>
                <a:cs typeface="Times New Roman" panose="02020603050405020304" pitchFamily="18" charset="0"/>
              </a:rPr>
              <a:t>⊿</a:t>
            </a:r>
            <a:r>
              <a:rPr lang="en-US" altLang="zh-CN" sz="3200" b="1" i="1" dirty="0">
                <a:latin typeface="Times New Roman" panose="02020603050405020304" pitchFamily="18" charset="0"/>
                <a:ea typeface="微软雅黑" panose="020B0503020204020204" charset="-122"/>
                <a:cs typeface="Times New Roman" panose="02020603050405020304" pitchFamily="18" charset="0"/>
              </a:rPr>
              <a:t>s </a:t>
            </a:r>
            <a:r>
              <a:rPr lang="zh-CN" altLang="en-US" sz="3200" b="1" dirty="0" smtClean="0">
                <a:latin typeface="Times New Roman" panose="02020603050405020304" pitchFamily="18" charset="0"/>
                <a:ea typeface="黑体" panose="02010609060101010101" pitchFamily="49" charset="-122"/>
                <a:cs typeface="Times New Roman" panose="02020603050405020304" pitchFamily="18" charset="0"/>
              </a:rPr>
              <a:t>，而非焓或熵的绝对大小。</a:t>
            </a:r>
            <a:endParaRPr lang="en-US" altLang="zh-CN" sz="3200" b="1" dirty="0" smtClean="0">
              <a:latin typeface="Times New Roman" panose="02020603050405020304" pitchFamily="18" charset="0"/>
              <a:ea typeface="黑体" panose="02010609060101010101" pitchFamily="49" charset="-122"/>
              <a:cs typeface="Times New Roman" panose="02020603050405020304" pitchFamily="18" charset="0"/>
            </a:endParaRPr>
          </a:p>
          <a:p>
            <a:pPr marL="457200" indent="-457200">
              <a:lnSpc>
                <a:spcPct val="90000"/>
              </a:lnSpc>
              <a:spcBef>
                <a:spcPct val="20000"/>
              </a:spcBef>
              <a:buFont typeface="Arial" panose="020B0604020202020204" pitchFamily="34" charset="0"/>
              <a:buChar char="•"/>
            </a:pPr>
            <a:r>
              <a:rPr lang="zh-CN" altLang="en-US" sz="3200" b="1" dirty="0" smtClean="0">
                <a:latin typeface="Times New Roman" panose="02020603050405020304" pitchFamily="18" charset="0"/>
                <a:ea typeface="黑体" panose="02010609060101010101" pitchFamily="49" charset="-122"/>
                <a:cs typeface="Times New Roman" panose="02020603050405020304" pitchFamily="18" charset="0"/>
              </a:rPr>
              <a:t>因此，在编制蒸气热力性质表时，对于参数</a:t>
            </a:r>
            <a:r>
              <a:rPr lang="en-US" altLang="zh-CN" sz="3200" b="1" i="1" dirty="0" smtClean="0">
                <a:latin typeface="Times New Roman" panose="02020603050405020304" pitchFamily="18" charset="0"/>
                <a:ea typeface="黑体" panose="02010609060101010101" pitchFamily="49" charset="-122"/>
                <a:cs typeface="Times New Roman" panose="02020603050405020304" pitchFamily="18" charset="0"/>
              </a:rPr>
              <a:t>h</a:t>
            </a:r>
            <a:r>
              <a:rPr lang="zh-CN" altLang="en-US" sz="3200" b="1" dirty="0" smtClean="0">
                <a:latin typeface="Times New Roman" panose="02020603050405020304" pitchFamily="18" charset="0"/>
                <a:ea typeface="黑体" panose="02010609060101010101" pitchFamily="49" charset="-122"/>
                <a:cs typeface="Times New Roman" panose="02020603050405020304" pitchFamily="18" charset="0"/>
              </a:rPr>
              <a:t>和</a:t>
            </a:r>
            <a:r>
              <a:rPr lang="en-US" altLang="zh-CN" sz="3200" b="1" i="1" dirty="0" smtClean="0">
                <a:latin typeface="Times New Roman" panose="02020603050405020304" pitchFamily="18" charset="0"/>
                <a:ea typeface="黑体" panose="02010609060101010101" pitchFamily="49" charset="-122"/>
                <a:cs typeface="Times New Roman" panose="02020603050405020304" pitchFamily="18" charset="0"/>
              </a:rPr>
              <a:t>s</a:t>
            </a:r>
            <a:r>
              <a:rPr lang="zh-CN" altLang="en-US" sz="3200" b="1" dirty="0">
                <a:latin typeface="Times New Roman" panose="02020603050405020304" pitchFamily="18" charset="0"/>
                <a:ea typeface="黑体" panose="02010609060101010101" pitchFamily="49" charset="-122"/>
                <a:cs typeface="Times New Roman" panose="02020603050405020304" pitchFamily="18" charset="0"/>
              </a:rPr>
              <a:t>可</a:t>
            </a:r>
            <a:r>
              <a:rPr lang="zh-CN" altLang="en-US" sz="3200" b="1" dirty="0" smtClean="0">
                <a:latin typeface="Times New Roman" panose="02020603050405020304" pitchFamily="18" charset="0"/>
                <a:ea typeface="黑体" panose="02010609060101010101" pitchFamily="49" charset="-122"/>
                <a:cs typeface="Times New Roman" panose="02020603050405020304" pitchFamily="18" charset="0"/>
              </a:rPr>
              <a:t>选择任意状态点作为基准点，</a:t>
            </a:r>
            <a:r>
              <a:rPr lang="zh-CN" altLang="en-US" sz="3200" b="1" dirty="0" smtClean="0">
                <a:latin typeface="Times New Roman" panose="02020603050405020304" pitchFamily="18" charset="0"/>
                <a:ea typeface="微软雅黑" panose="020B0503020204020204" charset="-122"/>
                <a:cs typeface="Times New Roman" panose="02020603050405020304" pitchFamily="18" charset="0"/>
              </a:rPr>
              <a:t>⊿</a:t>
            </a:r>
            <a:r>
              <a:rPr lang="en-US" altLang="zh-CN" sz="3200" b="1" i="1" dirty="0" smtClean="0">
                <a:latin typeface="Times New Roman" panose="02020603050405020304" pitchFamily="18" charset="0"/>
                <a:ea typeface="微软雅黑" panose="020B0503020204020204" charset="-122"/>
                <a:cs typeface="Times New Roman" panose="02020603050405020304" pitchFamily="18" charset="0"/>
              </a:rPr>
              <a:t>h</a:t>
            </a:r>
            <a:r>
              <a:rPr lang="zh-CN" altLang="en-US" sz="3200" b="1" dirty="0" smtClean="0">
                <a:latin typeface="黑体" panose="02010609060101010101" pitchFamily="49" charset="-122"/>
                <a:ea typeface="黑体" panose="02010609060101010101" pitchFamily="49" charset="-122"/>
                <a:cs typeface="Times New Roman" panose="02020603050405020304" pitchFamily="18" charset="0"/>
              </a:rPr>
              <a:t>和</a:t>
            </a:r>
            <a:r>
              <a:rPr lang="zh-CN" altLang="en-US" sz="3200" b="1" dirty="0" smtClean="0">
                <a:latin typeface="Times New Roman" panose="02020603050405020304" pitchFamily="18" charset="0"/>
                <a:ea typeface="微软雅黑" panose="020B0503020204020204" charset="-122"/>
                <a:cs typeface="Times New Roman" panose="02020603050405020304" pitchFamily="18" charset="0"/>
              </a:rPr>
              <a:t>⊿</a:t>
            </a:r>
            <a:r>
              <a:rPr lang="en-US" altLang="zh-CN" sz="3200" b="1" i="1" dirty="0" smtClean="0">
                <a:latin typeface="Times New Roman" panose="02020603050405020304" pitchFamily="18" charset="0"/>
                <a:ea typeface="微软雅黑" panose="020B0503020204020204" charset="-122"/>
                <a:cs typeface="Times New Roman" panose="02020603050405020304" pitchFamily="18" charset="0"/>
              </a:rPr>
              <a:t>s</a:t>
            </a:r>
            <a:r>
              <a:rPr lang="zh-CN" altLang="en-US" sz="3200" b="1" dirty="0" smtClean="0">
                <a:latin typeface="Times New Roman" panose="02020603050405020304" pitchFamily="18" charset="0"/>
                <a:ea typeface="黑体" panose="02010609060101010101" pitchFamily="49" charset="-122"/>
                <a:cs typeface="Times New Roman" panose="02020603050405020304" pitchFamily="18" charset="0"/>
              </a:rPr>
              <a:t>的计算不会受到基准点选择的影响。</a:t>
            </a:r>
            <a:endParaRPr lang="zh-CN" altLang="en-US" sz="32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7" name="文本占位符 54273"/>
          <p:cNvSpPr>
            <a:spLocks noGrp="1" noChangeArrowheads="1"/>
          </p:cNvSpPr>
          <p:nvPr/>
        </p:nvSpPr>
        <p:spPr bwMode="auto">
          <a:xfrm>
            <a:off x="479426" y="529259"/>
            <a:ext cx="8269287" cy="724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400">
                <a:solidFill>
                  <a:schemeClr val="tx1"/>
                </a:solidFill>
                <a:latin typeface="Tahoma" panose="020B0604030504040204" pitchFamily="34" charset="0"/>
                <a:ea typeface="宋体" panose="02010600030101010101" pitchFamily="2" charset="-122"/>
              </a:defRPr>
            </a:lvl1pPr>
            <a:lvl2pPr>
              <a:defRPr sz="2400">
                <a:solidFill>
                  <a:schemeClr val="tx1"/>
                </a:solidFill>
                <a:latin typeface="Tahoma" panose="020B0604030504040204" pitchFamily="34" charset="0"/>
                <a:ea typeface="宋体" panose="02010600030101010101" pitchFamily="2" charset="-122"/>
              </a:defRPr>
            </a:lvl2pPr>
            <a:lvl3pPr>
              <a:defRPr sz="2400">
                <a:solidFill>
                  <a:schemeClr val="tx1"/>
                </a:solidFill>
                <a:latin typeface="Tahoma" panose="020B0604030504040204" pitchFamily="34" charset="0"/>
                <a:ea typeface="宋体" panose="02010600030101010101" pitchFamily="2" charset="-122"/>
              </a:defRPr>
            </a:lvl3pPr>
            <a:lvl4pPr>
              <a:defRPr sz="2400">
                <a:solidFill>
                  <a:schemeClr val="tx1"/>
                </a:solidFill>
                <a:latin typeface="Tahoma" panose="020B0604030504040204" pitchFamily="34" charset="0"/>
                <a:ea typeface="宋体" panose="02010600030101010101" pitchFamily="2" charset="-122"/>
              </a:defRPr>
            </a:lvl4pPr>
            <a:lvl5pPr>
              <a:defRPr sz="2400">
                <a:solidFill>
                  <a:schemeClr val="tx1"/>
                </a:solidFill>
                <a:latin typeface="Tahoma" panose="020B0604030504040204" pitchFamily="34" charset="0"/>
                <a:ea typeface="宋体" panose="02010600030101010101" pitchFamily="2" charset="-122"/>
              </a:defRPr>
            </a:lvl5pPr>
            <a:lvl6pPr fontAlgn="base">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fontAlgn="base">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fontAlgn="base">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fontAlgn="base">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nSpc>
                <a:spcPct val="90000"/>
              </a:lnSpc>
              <a:spcBef>
                <a:spcPct val="20000"/>
              </a:spcBef>
            </a:pPr>
            <a:r>
              <a:rPr lang="zh-CN" altLang="en-US" sz="4000" b="1" dirty="0">
                <a:latin typeface="Times New Roman" panose="02020603050405020304" pitchFamily="18" charset="0"/>
                <a:ea typeface="黑体" panose="02010609060101010101" pitchFamily="49" charset="-122"/>
                <a:cs typeface="Times New Roman" panose="02020603050405020304" pitchFamily="18" charset="0"/>
              </a:rPr>
              <a:t>一、基准点的选择</a:t>
            </a:r>
            <a:endParaRPr lang="zh-CN" altLang="en-US" sz="4000" b="1" dirty="0">
              <a:latin typeface="Times New Roman" panose="02020603050405020304" pitchFamily="18" charset="0"/>
              <a:ea typeface="黑体" panose="02010609060101010101" pitchFamily="49" charset="-122"/>
              <a:cs typeface="Times New Roman" panose="02020603050405020304" pitchFamily="18" charset="0"/>
            </a:endParaRPr>
          </a:p>
          <a:p>
            <a:pPr marL="0" indent="0">
              <a:lnSpc>
                <a:spcPct val="90000"/>
              </a:lnSpc>
              <a:spcBef>
                <a:spcPct val="20000"/>
              </a:spcBef>
            </a:pPr>
            <a:r>
              <a:rPr lang="zh-CN" altLang="en-US" sz="3200" b="1" dirty="0">
                <a:latin typeface="Times New Roman" panose="02020603050405020304" pitchFamily="18" charset="0"/>
                <a:ea typeface="黑体" panose="02010609060101010101" pitchFamily="49" charset="-122"/>
                <a:cs typeface="Times New Roman" panose="02020603050405020304" pitchFamily="18" charset="0"/>
              </a:rPr>
              <a:t>　　</a:t>
            </a:r>
            <a:endParaRPr lang="zh-CN" altLang="en-US" sz="3200" b="1" dirty="0">
              <a:latin typeface="Times New Roman" panose="02020603050405020304" pitchFamily="18" charset="0"/>
              <a:ea typeface="黑体" panose="02010609060101010101" pitchFamily="49" charset="-122"/>
              <a:cs typeface="Times New Roman" panose="02020603050405020304" pitchFamily="18" charset="0"/>
            </a:endParaRPr>
          </a:p>
        </p:txBody>
      </p:sp>
    </p:spTree>
  </p:cSld>
  <p:clrMapOvr>
    <a:masterClrMapping/>
  </p:clrMapOvr>
  <p:transition spd="slow"/>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矩形 54276"/>
          <p:cNvSpPr>
            <a:spLocks noChangeArrowheads="1"/>
          </p:cNvSpPr>
          <p:nvPr/>
        </p:nvSpPr>
        <p:spPr bwMode="auto">
          <a:xfrm>
            <a:off x="0" y="981075"/>
            <a:ext cx="8748713" cy="12954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70658" name="对象 54274"/>
          <p:cNvGraphicFramePr/>
          <p:nvPr/>
        </p:nvGraphicFramePr>
        <p:xfrm>
          <a:off x="1723921" y="3684621"/>
          <a:ext cx="5175250" cy="1887538"/>
        </p:xfrm>
        <a:graphic>
          <a:graphicData uri="http://schemas.openxmlformats.org/presentationml/2006/ole">
            <mc:AlternateContent xmlns:mc="http://schemas.openxmlformats.org/markup-compatibility/2006">
              <mc:Choice xmlns:v="urn:schemas-microsoft-com:vml" Requires="v">
                <p:oleObj spid="_x0000_s44050" name="" r:id="rId1" imgW="1303655" imgH="474345" progId="Equation.DSMT4">
                  <p:embed/>
                </p:oleObj>
              </mc:Choice>
              <mc:Fallback>
                <p:oleObj name="" r:id="rId1" imgW="1303655" imgH="474345" progId="Equation.DSMT4">
                  <p:embed/>
                  <p:pic>
                    <p:nvPicPr>
                      <p:cNvPr id="0" name="对象 54274"/>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23921" y="3684621"/>
                        <a:ext cx="5175250" cy="1887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70660" name="文本占位符 54273"/>
          <p:cNvSpPr>
            <a:spLocks noGrp="1" noChangeArrowheads="1"/>
          </p:cNvSpPr>
          <p:nvPr/>
        </p:nvSpPr>
        <p:spPr bwMode="auto">
          <a:xfrm>
            <a:off x="348906" y="860562"/>
            <a:ext cx="8269287" cy="27705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400">
                <a:solidFill>
                  <a:schemeClr val="tx1"/>
                </a:solidFill>
                <a:latin typeface="Tahoma" panose="020B0604030504040204" pitchFamily="34" charset="0"/>
                <a:ea typeface="宋体" panose="02010600030101010101" pitchFamily="2" charset="-122"/>
              </a:defRPr>
            </a:lvl1pPr>
            <a:lvl2pPr>
              <a:defRPr sz="2400">
                <a:solidFill>
                  <a:schemeClr val="tx1"/>
                </a:solidFill>
                <a:latin typeface="Tahoma" panose="020B0604030504040204" pitchFamily="34" charset="0"/>
                <a:ea typeface="宋体" panose="02010600030101010101" pitchFamily="2" charset="-122"/>
              </a:defRPr>
            </a:lvl2pPr>
            <a:lvl3pPr>
              <a:defRPr sz="2400">
                <a:solidFill>
                  <a:schemeClr val="tx1"/>
                </a:solidFill>
                <a:latin typeface="Tahoma" panose="020B0604030504040204" pitchFamily="34" charset="0"/>
                <a:ea typeface="宋体" panose="02010600030101010101" pitchFamily="2" charset="-122"/>
              </a:defRPr>
            </a:lvl3pPr>
            <a:lvl4pPr>
              <a:defRPr sz="2400">
                <a:solidFill>
                  <a:schemeClr val="tx1"/>
                </a:solidFill>
                <a:latin typeface="Tahoma" panose="020B0604030504040204" pitchFamily="34" charset="0"/>
                <a:ea typeface="宋体" panose="02010600030101010101" pitchFamily="2" charset="-122"/>
              </a:defRPr>
            </a:lvl4pPr>
            <a:lvl5pPr>
              <a:defRPr sz="2400">
                <a:solidFill>
                  <a:schemeClr val="tx1"/>
                </a:solidFill>
                <a:latin typeface="Tahoma" panose="020B0604030504040204" pitchFamily="34" charset="0"/>
                <a:ea typeface="宋体" panose="02010600030101010101" pitchFamily="2" charset="-122"/>
              </a:defRPr>
            </a:lvl5pPr>
            <a:lvl6pPr fontAlgn="base">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fontAlgn="base">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fontAlgn="base">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fontAlgn="base">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marL="0" indent="0">
              <a:lnSpc>
                <a:spcPct val="90000"/>
              </a:lnSpc>
              <a:spcBef>
                <a:spcPct val="20000"/>
              </a:spcBef>
            </a:pPr>
            <a:r>
              <a:rPr lang="zh-CN" altLang="en-US" sz="3200" b="1" dirty="0" smtClean="0">
                <a:latin typeface="Times New Roman" panose="02020603050405020304" pitchFamily="18" charset="0"/>
                <a:ea typeface="黑体" panose="02010609060101010101" pitchFamily="49" charset="-122"/>
                <a:cs typeface="Times New Roman" panose="02020603050405020304" pitchFamily="18" charset="0"/>
              </a:rPr>
              <a:t>国际</a:t>
            </a:r>
            <a:r>
              <a:rPr lang="zh-CN" altLang="en-US" sz="3200" b="1" dirty="0">
                <a:latin typeface="Times New Roman" panose="02020603050405020304" pitchFamily="18" charset="0"/>
                <a:ea typeface="黑体" panose="02010609060101010101" pitchFamily="49" charset="-122"/>
                <a:cs typeface="Times New Roman" panose="02020603050405020304" pitchFamily="18" charset="0"/>
              </a:rPr>
              <a:t>水蒸气会议规定</a:t>
            </a:r>
            <a:r>
              <a:rPr lang="zh-CN" altLang="en-US" sz="3200" b="1" dirty="0" smtClean="0">
                <a:latin typeface="Times New Roman" panose="02020603050405020304" pitchFamily="18" charset="0"/>
                <a:ea typeface="黑体" panose="02010609060101010101" pitchFamily="49" charset="-122"/>
                <a:cs typeface="Times New Roman" panose="02020603050405020304" pitchFamily="18" charset="0"/>
              </a:rPr>
              <a:t>，选取水的三相点作为水蒸气热力性质表的基准点。</a:t>
            </a:r>
            <a:endParaRPr lang="en-US" altLang="zh-CN" sz="3200" b="1" dirty="0" smtClean="0">
              <a:latin typeface="Times New Roman" panose="02020603050405020304" pitchFamily="18" charset="0"/>
              <a:ea typeface="黑体" panose="02010609060101010101" pitchFamily="49" charset="-122"/>
              <a:cs typeface="Times New Roman" panose="02020603050405020304" pitchFamily="18" charset="0"/>
            </a:endParaRPr>
          </a:p>
          <a:p>
            <a:pPr marL="0" indent="0">
              <a:lnSpc>
                <a:spcPct val="90000"/>
              </a:lnSpc>
              <a:spcBef>
                <a:spcPct val="20000"/>
              </a:spcBef>
            </a:pPr>
            <a:r>
              <a:rPr lang="zh-CN" altLang="en-US" sz="3200" b="1" dirty="0" smtClean="0">
                <a:latin typeface="Times New Roman" panose="02020603050405020304" pitchFamily="18" charset="0"/>
                <a:ea typeface="黑体" panose="02010609060101010101" pitchFamily="49" charset="-122"/>
                <a:cs typeface="Times New Roman" panose="02020603050405020304" pitchFamily="18" charset="0"/>
              </a:rPr>
              <a:t>规定处于</a:t>
            </a:r>
            <a:r>
              <a:rPr lang="zh-CN" altLang="zh-CN" sz="3200" b="1" dirty="0" smtClean="0">
                <a:latin typeface="Times New Roman" panose="02020603050405020304" pitchFamily="18" charset="0"/>
                <a:ea typeface="黑体" panose="02010609060101010101" pitchFamily="49" charset="-122"/>
                <a:cs typeface="Times New Roman" panose="02020603050405020304" pitchFamily="18" charset="0"/>
              </a:rPr>
              <a:t>三相点</a:t>
            </a:r>
            <a:r>
              <a:rPr lang="zh-CN" altLang="zh-CN" sz="3200" b="1" dirty="0">
                <a:latin typeface="Times New Roman" panose="02020603050405020304" pitchFamily="18" charset="0"/>
                <a:ea typeface="黑体" panose="02010609060101010101" pitchFamily="49" charset="-122"/>
                <a:cs typeface="Times New Roman" panose="02020603050405020304" pitchFamily="18" charset="0"/>
              </a:rPr>
              <a:t>的</a:t>
            </a:r>
            <a:r>
              <a:rPr lang="zh-CN" altLang="zh-CN" sz="3200" b="1" dirty="0" smtClean="0">
                <a:latin typeface="Times New Roman" panose="02020603050405020304" pitchFamily="18" charset="0"/>
                <a:ea typeface="黑体" panose="02010609060101010101" pitchFamily="49" charset="-122"/>
                <a:cs typeface="Times New Roman" panose="02020603050405020304" pitchFamily="18" charset="0"/>
              </a:rPr>
              <a:t>饱和水的</a:t>
            </a:r>
            <a:r>
              <a:rPr lang="zh-CN" altLang="zh-CN" sz="3200" b="1" dirty="0">
                <a:latin typeface="Times New Roman" panose="02020603050405020304" pitchFamily="18" charset="0"/>
                <a:ea typeface="黑体" panose="02010609060101010101" pitchFamily="49" charset="-122"/>
                <a:cs typeface="Times New Roman" panose="02020603050405020304" pitchFamily="18" charset="0"/>
              </a:rPr>
              <a:t>热力学能和熵值为0</a:t>
            </a:r>
            <a:r>
              <a:rPr lang="zh-CN" altLang="en-US" sz="3200" b="1" dirty="0">
                <a:latin typeface="Times New Roman" panose="02020603050405020304" pitchFamily="18" charset="0"/>
                <a:ea typeface="黑体" panose="02010609060101010101" pitchFamily="49" charset="-122"/>
                <a:cs typeface="Times New Roman" panose="02020603050405020304" pitchFamily="18" charset="0"/>
              </a:rPr>
              <a:t>，即对于</a:t>
            </a:r>
            <a:r>
              <a:rPr lang="en-US" altLang="zh-CN" sz="3200" b="1" i="1" dirty="0">
                <a:latin typeface="Times New Roman" panose="02020603050405020304" pitchFamily="18" charset="0"/>
                <a:ea typeface="黑体" panose="02010609060101010101" pitchFamily="49" charset="-122"/>
                <a:cs typeface="Times New Roman" panose="02020603050405020304" pitchFamily="18" charset="0"/>
              </a:rPr>
              <a:t>t</a:t>
            </a:r>
            <a:r>
              <a:rPr lang="en-US" altLang="zh-CN" sz="3200" b="1" baseline="-25000" dirty="0">
                <a:latin typeface="Times New Roman" panose="02020603050405020304" pitchFamily="18" charset="0"/>
                <a:ea typeface="黑体" panose="02010609060101010101" pitchFamily="49" charset="-122"/>
                <a:cs typeface="Times New Roman" panose="02020603050405020304" pitchFamily="18" charset="0"/>
              </a:rPr>
              <a:t>0</a:t>
            </a:r>
            <a:r>
              <a:rPr lang="en-US" altLang="zh-CN" sz="3200" b="1" i="1"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3200" b="1" i="1" dirty="0" err="1">
                <a:latin typeface="Times New Roman" panose="02020603050405020304" pitchFamily="18" charset="0"/>
                <a:ea typeface="黑体" panose="02010609060101010101" pitchFamily="49" charset="-122"/>
                <a:cs typeface="Times New Roman" panose="02020603050405020304" pitchFamily="18" charset="0"/>
              </a:rPr>
              <a:t>t</a:t>
            </a:r>
            <a:r>
              <a:rPr lang="en-US" altLang="zh-CN" sz="3200" b="1" baseline="-25000" dirty="0" err="1">
                <a:latin typeface="Times New Roman" panose="02020603050405020304" pitchFamily="18" charset="0"/>
                <a:ea typeface="黑体" panose="02010609060101010101" pitchFamily="49" charset="-122"/>
                <a:cs typeface="Times New Roman" panose="02020603050405020304" pitchFamily="18" charset="0"/>
              </a:rPr>
              <a:t>tp</a:t>
            </a:r>
            <a:r>
              <a:rPr lang="en-US" altLang="zh-CN" sz="3200" b="1" i="1"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3200" b="1" dirty="0">
                <a:latin typeface="Times New Roman" panose="02020603050405020304" pitchFamily="18" charset="0"/>
                <a:ea typeface="黑体" panose="02010609060101010101" pitchFamily="49" charset="-122"/>
                <a:cs typeface="Times New Roman" panose="02020603050405020304" pitchFamily="18" charset="0"/>
              </a:rPr>
              <a:t>0.01℃</a:t>
            </a:r>
            <a:r>
              <a:rPr lang="zh-CN" altLang="en-US" sz="3200" b="1"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3200" b="1" i="1" dirty="0">
                <a:latin typeface="Times New Roman" panose="02020603050405020304" pitchFamily="18" charset="0"/>
                <a:ea typeface="黑体" panose="02010609060101010101" pitchFamily="49" charset="-122"/>
                <a:cs typeface="Times New Roman" panose="02020603050405020304" pitchFamily="18" charset="0"/>
              </a:rPr>
              <a:t>p</a:t>
            </a:r>
            <a:r>
              <a:rPr lang="en-US" altLang="zh-CN" sz="3200" b="1" baseline="-25000" dirty="0">
                <a:latin typeface="Times New Roman" panose="02020603050405020304" pitchFamily="18" charset="0"/>
                <a:ea typeface="黑体" panose="02010609060101010101" pitchFamily="49" charset="-122"/>
                <a:cs typeface="Times New Roman" panose="02020603050405020304" pitchFamily="18" charset="0"/>
              </a:rPr>
              <a:t>0</a:t>
            </a:r>
            <a:r>
              <a:rPr lang="en-US" altLang="zh-CN" sz="3200" b="1" i="1"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3200" b="1" i="1" dirty="0" err="1">
                <a:latin typeface="Times New Roman" panose="02020603050405020304" pitchFamily="18" charset="0"/>
                <a:ea typeface="黑体" panose="02010609060101010101" pitchFamily="49" charset="-122"/>
                <a:cs typeface="Times New Roman" panose="02020603050405020304" pitchFamily="18" charset="0"/>
              </a:rPr>
              <a:t>p</a:t>
            </a:r>
            <a:r>
              <a:rPr lang="en-US" altLang="zh-CN" sz="3200" b="1" baseline="-25000" dirty="0" err="1">
                <a:latin typeface="Times New Roman" panose="02020603050405020304" pitchFamily="18" charset="0"/>
                <a:ea typeface="黑体" panose="02010609060101010101" pitchFamily="49" charset="-122"/>
                <a:cs typeface="Times New Roman" panose="02020603050405020304" pitchFamily="18" charset="0"/>
              </a:rPr>
              <a:t>tp</a:t>
            </a:r>
            <a:r>
              <a:rPr lang="en-US" altLang="zh-CN" sz="3200" b="1" i="1"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3200" b="1" dirty="0">
                <a:latin typeface="Times New Roman" panose="02020603050405020304" pitchFamily="18" charset="0"/>
                <a:ea typeface="黑体" panose="02010609060101010101" pitchFamily="49" charset="-122"/>
                <a:cs typeface="Times New Roman" panose="02020603050405020304" pitchFamily="18" charset="0"/>
              </a:rPr>
              <a:t>611.659</a:t>
            </a:r>
            <a:r>
              <a:rPr lang="en-US" altLang="zh-CN" sz="3200" b="1" i="1" dirty="0">
                <a:latin typeface="Times New Roman" panose="02020603050405020304" pitchFamily="18" charset="0"/>
                <a:ea typeface="黑体" panose="02010609060101010101" pitchFamily="49" charset="-122"/>
                <a:cs typeface="Times New Roman" panose="02020603050405020304" pitchFamily="18" charset="0"/>
              </a:rPr>
              <a:t> </a:t>
            </a:r>
            <a:r>
              <a:rPr lang="en-US" altLang="zh-CN" sz="3200" b="1" dirty="0">
                <a:latin typeface="Times New Roman" panose="02020603050405020304" pitchFamily="18" charset="0"/>
                <a:ea typeface="黑体" panose="02010609060101010101" pitchFamily="49" charset="-122"/>
                <a:cs typeface="Times New Roman" panose="02020603050405020304" pitchFamily="18" charset="0"/>
              </a:rPr>
              <a:t>Pa</a:t>
            </a:r>
            <a:r>
              <a:rPr lang="zh-CN" altLang="en-US" sz="3200" b="1" dirty="0">
                <a:latin typeface="Times New Roman" panose="02020603050405020304" pitchFamily="18" charset="0"/>
                <a:ea typeface="黑体" panose="02010609060101010101" pitchFamily="49" charset="-122"/>
                <a:cs typeface="Times New Roman" panose="02020603050405020304" pitchFamily="18" charset="0"/>
              </a:rPr>
              <a:t>的饱和</a:t>
            </a:r>
            <a:r>
              <a:rPr lang="zh-CN" altLang="en-US" sz="3200" b="1" dirty="0" smtClean="0">
                <a:latin typeface="Times New Roman" panose="02020603050405020304" pitchFamily="18" charset="0"/>
                <a:ea typeface="黑体" panose="02010609060101010101" pitchFamily="49" charset="-122"/>
                <a:cs typeface="Times New Roman" panose="02020603050405020304" pitchFamily="18" charset="0"/>
              </a:rPr>
              <a:t>水，有</a:t>
            </a:r>
            <a:r>
              <a:rPr lang="zh-CN" altLang="en-US" sz="3200" b="1" dirty="0">
                <a:latin typeface="Times New Roman" panose="02020603050405020304" pitchFamily="18" charset="0"/>
                <a:ea typeface="黑体" panose="02010609060101010101" pitchFamily="49" charset="-122"/>
                <a:cs typeface="Times New Roman" panose="02020603050405020304" pitchFamily="18" charset="0"/>
              </a:rPr>
              <a:t>：</a:t>
            </a:r>
            <a:endParaRPr lang="zh-CN" altLang="en-US" sz="3200" b="1" dirty="0">
              <a:latin typeface="Times New Roman" panose="02020603050405020304" pitchFamily="18" charset="0"/>
              <a:ea typeface="黑体" panose="02010609060101010101" pitchFamily="49" charset="-122"/>
              <a:cs typeface="Times New Roman" panose="02020603050405020304" pitchFamily="18" charset="0"/>
            </a:endParaRPr>
          </a:p>
        </p:txBody>
      </p:sp>
    </p:spTree>
  </p:cSld>
  <p:clrMapOvr>
    <a:masterClrMapping/>
  </p:clrMapOvr>
  <p:transition spd="slow"/>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文本占位符 184322"/>
          <p:cNvSpPr>
            <a:spLocks noGrp="1" noChangeArrowheads="1"/>
          </p:cNvSpPr>
          <p:nvPr>
            <p:ph idx="1"/>
          </p:nvPr>
        </p:nvSpPr>
        <p:spPr>
          <a:xfrm>
            <a:off x="395288" y="981075"/>
            <a:ext cx="8229600" cy="4525963"/>
          </a:xfrm>
        </p:spPr>
        <p:txBody>
          <a:bodyPr>
            <a:normAutofit/>
          </a:bodyPr>
          <a:lstStyle/>
          <a:p>
            <a:pPr>
              <a:lnSpc>
                <a:spcPct val="90000"/>
              </a:lnSpc>
            </a:pPr>
            <a:r>
              <a:rPr lang="zh-CN" altLang="en-US" sz="3200" b="1" dirty="0" smtClean="0">
                <a:latin typeface="黑体" panose="02010609060101010101" pitchFamily="49" charset="-122"/>
                <a:ea typeface="黑体" panose="02010609060101010101" pitchFamily="49" charset="-122"/>
              </a:rPr>
              <a:t>基准点的选择会使得物质的某些热力状态参数为负值。</a:t>
            </a:r>
            <a:endParaRPr lang="zh-CN" altLang="en-US" sz="3200" b="1" dirty="0" smtClean="0">
              <a:latin typeface="黑体" panose="02010609060101010101" pitchFamily="49" charset="-122"/>
              <a:ea typeface="黑体" panose="02010609060101010101" pitchFamily="49" charset="-122"/>
            </a:endParaRPr>
          </a:p>
          <a:p>
            <a:pPr>
              <a:lnSpc>
                <a:spcPct val="90000"/>
              </a:lnSpc>
            </a:pPr>
            <a:r>
              <a:rPr lang="zh-CN" altLang="en-US" sz="3200" b="1" dirty="0" smtClean="0">
                <a:latin typeface="黑体" panose="02010609060101010101" pitchFamily="49" charset="-122"/>
                <a:ea typeface="黑体" panose="02010609060101010101" pitchFamily="49" charset="-122"/>
              </a:rPr>
              <a:t>由于不同国家和不同著作者在编制同一种物质的热力性质表或图时，可能会选择不同的基准点。</a:t>
            </a:r>
            <a:endParaRPr lang="en-US" altLang="zh-CN" sz="3200" b="1" dirty="0" smtClean="0">
              <a:latin typeface="黑体" panose="02010609060101010101" pitchFamily="49" charset="-122"/>
              <a:ea typeface="黑体" panose="02010609060101010101" pitchFamily="49" charset="-122"/>
            </a:endParaRPr>
          </a:p>
          <a:p>
            <a:pPr>
              <a:lnSpc>
                <a:spcPct val="90000"/>
              </a:lnSpc>
            </a:pPr>
            <a:r>
              <a:rPr lang="zh-CN" altLang="en-US" sz="3200" b="1" dirty="0" smtClean="0">
                <a:latin typeface="黑体" panose="02010609060101010101" pitchFamily="49" charset="-122"/>
                <a:ea typeface="黑体" panose="02010609060101010101" pitchFamily="49" charset="-122"/>
              </a:rPr>
              <a:t>因此，在使用物质的热力性质表或图时，需要注意其选取的基准点，不同基准点的数据不能混用。 </a:t>
            </a:r>
            <a:endParaRPr lang="zh-CN" altLang="en-US" sz="3200" b="1" dirty="0" smtClean="0">
              <a:latin typeface="黑体" panose="02010609060101010101" pitchFamily="49" charset="-122"/>
              <a:ea typeface="黑体" panose="02010609060101010101" pitchFamily="49" charset="-122"/>
            </a:endParaRPr>
          </a:p>
        </p:txBody>
      </p:sp>
    </p:spTree>
  </p:cSld>
  <p:clrMapOvr>
    <a:masterClrMapping/>
  </p:clrMapOvr>
  <p:transition spd="slow"/>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矩形 55302"/>
          <p:cNvSpPr>
            <a:spLocks noChangeArrowheads="1"/>
          </p:cNvSpPr>
          <p:nvPr/>
        </p:nvSpPr>
        <p:spPr bwMode="auto">
          <a:xfrm>
            <a:off x="0" y="981075"/>
            <a:ext cx="8748713" cy="12954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2706" name="文本占位符 55297"/>
          <p:cNvSpPr>
            <a:spLocks noGrp="1" noChangeArrowheads="1"/>
          </p:cNvSpPr>
          <p:nvPr>
            <p:ph idx="1"/>
          </p:nvPr>
        </p:nvSpPr>
        <p:spPr>
          <a:xfrm>
            <a:off x="431800" y="440530"/>
            <a:ext cx="8077200" cy="668339"/>
          </a:xfrm>
        </p:spPr>
        <p:txBody>
          <a:bodyPr>
            <a:normAutofit/>
          </a:bodyPr>
          <a:lstStyle/>
          <a:p>
            <a:pPr>
              <a:buFont typeface="Wingdings" panose="05000000000000000000" pitchFamily="2" charset="2"/>
              <a:buNone/>
            </a:pPr>
            <a:r>
              <a:rPr lang="zh-CN" altLang="en-US" sz="3200" b="1" dirty="0" smtClean="0">
                <a:latin typeface="黑体" panose="02010609060101010101" pitchFamily="49" charset="-122"/>
                <a:ea typeface="黑体" panose="02010609060101010101" pitchFamily="49" charset="-122"/>
              </a:rPr>
              <a:t>二、水蒸气热力性质表</a:t>
            </a:r>
            <a:endParaRPr lang="zh-CN" altLang="en-US" sz="3200" b="1" dirty="0" smtClean="0">
              <a:latin typeface="黑体" panose="02010609060101010101" pitchFamily="49" charset="-122"/>
              <a:ea typeface="黑体" panose="02010609060101010101" pitchFamily="49" charset="-122"/>
            </a:endParaRPr>
          </a:p>
          <a:p>
            <a:pPr>
              <a:buFont typeface="Wingdings" panose="05000000000000000000" pitchFamily="2" charset="2"/>
              <a:buChar char="Ø"/>
            </a:pPr>
            <a:endParaRPr lang="zh-CN" altLang="en-US" sz="3200" b="1" dirty="0" smtClean="0">
              <a:latin typeface="黑体" panose="02010609060101010101" pitchFamily="49" charset="-122"/>
              <a:ea typeface="黑体" panose="02010609060101010101" pitchFamily="49" charset="-122"/>
            </a:endParaRPr>
          </a:p>
          <a:p>
            <a:pPr>
              <a:buFont typeface="Wingdings" panose="05000000000000000000" pitchFamily="2" charset="2"/>
              <a:buChar char="Ø"/>
            </a:pPr>
            <a:endParaRPr lang="zh-CN" altLang="en-US" sz="3200" b="1" dirty="0" smtClean="0">
              <a:latin typeface="黑体" panose="02010609060101010101" pitchFamily="49" charset="-122"/>
              <a:ea typeface="黑体" panose="02010609060101010101" pitchFamily="49" charset="-122"/>
            </a:endParaRPr>
          </a:p>
        </p:txBody>
      </p:sp>
      <p:sp>
        <p:nvSpPr>
          <p:cNvPr id="72707" name="矩形 55298"/>
          <p:cNvSpPr>
            <a:spLocks noChangeArrowheads="1"/>
          </p:cNvSpPr>
          <p:nvPr/>
        </p:nvSpPr>
        <p:spPr bwMode="auto">
          <a:xfrm>
            <a:off x="611188" y="1484313"/>
            <a:ext cx="4570412" cy="1169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defRPr sz="2400">
                <a:solidFill>
                  <a:schemeClr val="tx1"/>
                </a:solidFill>
                <a:latin typeface="Tahoma" panose="020B0604030504040204" pitchFamily="34" charset="0"/>
                <a:ea typeface="宋体" panose="02010600030101010101" pitchFamily="2" charset="-122"/>
              </a:defRPr>
            </a:lvl1pPr>
            <a:lvl2pPr>
              <a:defRPr sz="2400">
                <a:solidFill>
                  <a:schemeClr val="tx1"/>
                </a:solidFill>
                <a:latin typeface="Tahoma" panose="020B0604030504040204" pitchFamily="34" charset="0"/>
                <a:ea typeface="宋体" panose="02010600030101010101" pitchFamily="2" charset="-122"/>
              </a:defRPr>
            </a:lvl2pPr>
            <a:lvl3pPr>
              <a:defRPr sz="2400">
                <a:solidFill>
                  <a:schemeClr val="tx1"/>
                </a:solidFill>
                <a:latin typeface="Tahoma" panose="020B0604030504040204" pitchFamily="34" charset="0"/>
                <a:ea typeface="宋体" panose="02010600030101010101" pitchFamily="2" charset="-122"/>
              </a:defRPr>
            </a:lvl3pPr>
            <a:lvl4pPr>
              <a:defRPr sz="2400">
                <a:solidFill>
                  <a:schemeClr val="tx1"/>
                </a:solidFill>
                <a:latin typeface="Tahoma" panose="020B0604030504040204" pitchFamily="34" charset="0"/>
                <a:ea typeface="宋体" panose="02010600030101010101" pitchFamily="2" charset="-122"/>
              </a:defRPr>
            </a:lvl4pPr>
            <a:lvl5pPr>
              <a:defRPr sz="2400">
                <a:solidFill>
                  <a:schemeClr val="tx1"/>
                </a:solidFill>
                <a:latin typeface="Tahoma" panose="020B0604030504040204" pitchFamily="34" charset="0"/>
                <a:ea typeface="宋体" panose="02010600030101010101" pitchFamily="2" charset="-122"/>
              </a:defRPr>
            </a:lvl5pPr>
            <a:lvl6pPr fontAlgn="base">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fontAlgn="base">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fontAlgn="base">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fontAlgn="base">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spcBef>
                <a:spcPct val="50000"/>
              </a:spcBef>
              <a:buClr>
                <a:srgbClr val="FF0000"/>
              </a:buClr>
              <a:buFont typeface="Wingdings" panose="05000000000000000000" pitchFamily="2" charset="2"/>
              <a:buAutoNum type="circleNumDbPlain"/>
            </a:pPr>
            <a:r>
              <a:rPr lang="zh-CN" altLang="en-US" sz="2800" b="1" dirty="0"/>
              <a:t>饱和水及干</a:t>
            </a:r>
            <a:r>
              <a:rPr lang="zh-CN" altLang="en-US" sz="2800" b="1" dirty="0" smtClean="0"/>
              <a:t>饱和水蒸气表</a:t>
            </a:r>
            <a:endParaRPr lang="zh-CN" altLang="en-US" sz="2800" b="1" dirty="0"/>
          </a:p>
          <a:p>
            <a:pPr>
              <a:spcBef>
                <a:spcPct val="50000"/>
              </a:spcBef>
              <a:buClr>
                <a:srgbClr val="FF0000"/>
              </a:buClr>
              <a:buFont typeface="Wingdings" panose="05000000000000000000" pitchFamily="2" charset="2"/>
              <a:buAutoNum type="circleNumDbPlain" startAt="2"/>
            </a:pPr>
            <a:r>
              <a:rPr lang="zh-CN" altLang="en-US" sz="2800" b="1" dirty="0"/>
              <a:t>未饱和水及</a:t>
            </a:r>
            <a:r>
              <a:rPr lang="zh-CN" altLang="en-US" sz="2800" b="1" dirty="0" smtClean="0"/>
              <a:t>过热水蒸气表</a:t>
            </a:r>
            <a:endParaRPr lang="zh-CN" altLang="en-US" sz="2800" b="1" dirty="0"/>
          </a:p>
        </p:txBody>
      </p:sp>
      <p:sp>
        <p:nvSpPr>
          <p:cNvPr id="55304" name="矩形 55303"/>
          <p:cNvSpPr>
            <a:spLocks noChangeArrowheads="1"/>
          </p:cNvSpPr>
          <p:nvPr/>
        </p:nvSpPr>
        <p:spPr bwMode="auto">
          <a:xfrm>
            <a:off x="611188" y="3851275"/>
            <a:ext cx="7764186"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defRPr sz="2400">
                <a:solidFill>
                  <a:schemeClr val="tx1"/>
                </a:solidFill>
                <a:latin typeface="Tahoma" panose="020B0604030504040204" pitchFamily="34" charset="0"/>
                <a:ea typeface="宋体" panose="02010600030101010101" pitchFamily="2" charset="-122"/>
              </a:defRPr>
            </a:lvl1pPr>
            <a:lvl2pPr>
              <a:defRPr sz="2400">
                <a:solidFill>
                  <a:schemeClr val="tx1"/>
                </a:solidFill>
                <a:latin typeface="Tahoma" panose="020B0604030504040204" pitchFamily="34" charset="0"/>
                <a:ea typeface="宋体" panose="02010600030101010101" pitchFamily="2" charset="-122"/>
              </a:defRPr>
            </a:lvl2pPr>
            <a:lvl3pPr>
              <a:defRPr sz="2400">
                <a:solidFill>
                  <a:schemeClr val="tx1"/>
                </a:solidFill>
                <a:latin typeface="Tahoma" panose="020B0604030504040204" pitchFamily="34" charset="0"/>
                <a:ea typeface="宋体" panose="02010600030101010101" pitchFamily="2" charset="-122"/>
              </a:defRPr>
            </a:lvl3pPr>
            <a:lvl4pPr>
              <a:defRPr sz="2400">
                <a:solidFill>
                  <a:schemeClr val="tx1"/>
                </a:solidFill>
                <a:latin typeface="Tahoma" panose="020B0604030504040204" pitchFamily="34" charset="0"/>
                <a:ea typeface="宋体" panose="02010600030101010101" pitchFamily="2" charset="-122"/>
              </a:defRPr>
            </a:lvl4pPr>
            <a:lvl5pPr>
              <a:defRPr sz="2400">
                <a:solidFill>
                  <a:schemeClr val="tx1"/>
                </a:solidFill>
                <a:latin typeface="Tahoma" panose="020B0604030504040204" pitchFamily="34" charset="0"/>
                <a:ea typeface="宋体" panose="02010600030101010101" pitchFamily="2" charset="-122"/>
              </a:defRPr>
            </a:lvl5pPr>
            <a:lvl6pPr fontAlgn="base">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fontAlgn="base">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fontAlgn="base">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fontAlgn="base">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spcBef>
                <a:spcPct val="50000"/>
              </a:spcBef>
              <a:buClr>
                <a:srgbClr val="FF0000"/>
              </a:buClr>
              <a:buFont typeface="Wingdings" panose="05000000000000000000" pitchFamily="2" charset="2"/>
              <a:buNone/>
            </a:pPr>
            <a:r>
              <a:rPr lang="zh-CN" altLang="en-US" sz="2800" b="1" dirty="0">
                <a:ea typeface="楷体_GB2312" pitchFamily="49" charset="-122"/>
              </a:rPr>
              <a:t>列出了饱和液体线（右上标’）和</a:t>
            </a:r>
            <a:r>
              <a:rPr lang="zh-CN" altLang="en-US" sz="2800" b="1" dirty="0" smtClean="0">
                <a:ea typeface="楷体_GB2312" pitchFamily="49" charset="-122"/>
              </a:rPr>
              <a:t>饱和水蒸气线</a:t>
            </a:r>
            <a:r>
              <a:rPr lang="zh-CN" altLang="en-US" sz="2800" b="1" dirty="0">
                <a:ea typeface="楷体_GB2312" pitchFamily="49" charset="-122"/>
              </a:rPr>
              <a:t>（右上标”）上的数据；</a:t>
            </a:r>
            <a:endParaRPr lang="zh-CN" altLang="en-US" sz="2800" b="1" dirty="0">
              <a:ea typeface="楷体_GB2312" pitchFamily="49" charset="-122"/>
            </a:endParaRPr>
          </a:p>
        </p:txBody>
      </p:sp>
      <p:sp>
        <p:nvSpPr>
          <p:cNvPr id="55305" name="矩形 55304"/>
          <p:cNvSpPr>
            <a:spLocks noChangeArrowheads="1"/>
          </p:cNvSpPr>
          <p:nvPr/>
        </p:nvSpPr>
        <p:spPr bwMode="auto">
          <a:xfrm>
            <a:off x="611188" y="5084763"/>
            <a:ext cx="7561262" cy="1373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defRPr sz="2400">
                <a:solidFill>
                  <a:schemeClr val="tx1"/>
                </a:solidFill>
                <a:latin typeface="Tahoma" panose="020B0604030504040204" pitchFamily="34" charset="0"/>
                <a:ea typeface="宋体" panose="02010600030101010101" pitchFamily="2" charset="-122"/>
              </a:defRPr>
            </a:lvl1pPr>
            <a:lvl2pPr>
              <a:defRPr sz="2400">
                <a:solidFill>
                  <a:schemeClr val="tx1"/>
                </a:solidFill>
                <a:latin typeface="Tahoma" panose="020B0604030504040204" pitchFamily="34" charset="0"/>
                <a:ea typeface="宋体" panose="02010600030101010101" pitchFamily="2" charset="-122"/>
              </a:defRPr>
            </a:lvl2pPr>
            <a:lvl3pPr>
              <a:defRPr sz="2400">
                <a:solidFill>
                  <a:schemeClr val="tx1"/>
                </a:solidFill>
                <a:latin typeface="Tahoma" panose="020B0604030504040204" pitchFamily="34" charset="0"/>
                <a:ea typeface="宋体" panose="02010600030101010101" pitchFamily="2" charset="-122"/>
              </a:defRPr>
            </a:lvl3pPr>
            <a:lvl4pPr>
              <a:defRPr sz="2400">
                <a:solidFill>
                  <a:schemeClr val="tx1"/>
                </a:solidFill>
                <a:latin typeface="Tahoma" panose="020B0604030504040204" pitchFamily="34" charset="0"/>
                <a:ea typeface="宋体" panose="02010600030101010101" pitchFamily="2" charset="-122"/>
              </a:defRPr>
            </a:lvl4pPr>
            <a:lvl5pPr>
              <a:defRPr sz="2400">
                <a:solidFill>
                  <a:schemeClr val="tx1"/>
                </a:solidFill>
                <a:latin typeface="Tahoma" panose="020B0604030504040204" pitchFamily="34" charset="0"/>
                <a:ea typeface="宋体" panose="02010600030101010101" pitchFamily="2" charset="-122"/>
              </a:defRPr>
            </a:lvl5pPr>
            <a:lvl6pPr fontAlgn="base">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fontAlgn="base">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fontAlgn="base">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fontAlgn="base">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spcBef>
                <a:spcPct val="50000"/>
              </a:spcBef>
              <a:buClr>
                <a:srgbClr val="FF0000"/>
              </a:buClr>
              <a:buFont typeface="Wingdings" panose="05000000000000000000" pitchFamily="2" charset="2"/>
              <a:buNone/>
            </a:pPr>
            <a:r>
              <a:rPr lang="zh-CN" altLang="en-US" sz="2800" b="1" dirty="0">
                <a:ea typeface="楷体_GB2312" pitchFamily="49" charset="-122"/>
              </a:rPr>
              <a:t>列出了未</a:t>
            </a:r>
            <a:r>
              <a:rPr lang="zh-CN" altLang="en-US" sz="2800" b="1" dirty="0" smtClean="0">
                <a:ea typeface="楷体_GB2312" pitchFamily="49" charset="-122"/>
              </a:rPr>
              <a:t>饱和水和过热水蒸气两</a:t>
            </a:r>
            <a:r>
              <a:rPr lang="zh-CN" altLang="en-US" sz="2800" b="1" dirty="0">
                <a:ea typeface="楷体_GB2312" pitchFamily="49" charset="-122"/>
              </a:rPr>
              <a:t>个区域中的数据。以黑粗线将两状态隔开，上方是未</a:t>
            </a:r>
            <a:r>
              <a:rPr lang="zh-CN" altLang="en-US" sz="2800" b="1" dirty="0" smtClean="0">
                <a:ea typeface="楷体_GB2312" pitchFamily="49" charset="-122"/>
              </a:rPr>
              <a:t>饱和水，</a:t>
            </a:r>
            <a:r>
              <a:rPr lang="zh-CN" altLang="en-US" sz="2800" b="1" dirty="0">
                <a:ea typeface="楷体_GB2312" pitchFamily="49" charset="-122"/>
              </a:rPr>
              <a:t>下方为</a:t>
            </a:r>
            <a:r>
              <a:rPr lang="zh-CN" altLang="en-US" sz="2800" b="1" dirty="0" smtClean="0">
                <a:ea typeface="楷体_GB2312" pitchFamily="49" charset="-122"/>
              </a:rPr>
              <a:t>过热水蒸气。</a:t>
            </a:r>
            <a:endParaRPr lang="zh-CN" altLang="en-US" sz="2800" b="1" dirty="0">
              <a:ea typeface="楷体_GB2312" pitchFamily="49" charset="-122"/>
            </a:endParaRPr>
          </a:p>
        </p:txBody>
      </p:sp>
      <p:pic>
        <p:nvPicPr>
          <p:cNvPr id="72710" name="图片 5530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580063" y="333375"/>
            <a:ext cx="3114675" cy="285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5307" name="矩形 55306"/>
          <p:cNvSpPr>
            <a:spLocks noChangeArrowheads="1" noChangeShapeType="1" noTextEdit="1"/>
          </p:cNvSpPr>
          <p:nvPr/>
        </p:nvSpPr>
        <p:spPr bwMode="auto">
          <a:xfrm rot="5400000">
            <a:off x="6443663" y="1844675"/>
            <a:ext cx="457200" cy="457200"/>
          </a:xfrm>
          <a:prstGeom prst="rect">
            <a:avLst/>
          </a:prstGeom>
        </p:spPr>
        <p:txBody>
          <a:bodyPr vert="eaVert" wrap="none" fromWordArt="1">
            <a:prstTxWarp prst="textPlain">
              <a:avLst>
                <a:gd name="adj" fmla="val 50000"/>
              </a:avLst>
            </a:prstTxWarp>
          </a:bodyPr>
          <a:lstStyle/>
          <a:p>
            <a:pPr algn="ctr" fontAlgn="auto"/>
            <a:r>
              <a:rPr lang="zh-CN" altLang="en-US" sz="3600" i="1" kern="10">
                <a:ln w="9525">
                  <a:solidFill>
                    <a:srgbClr val="800000"/>
                  </a:solidFill>
                  <a:miter lim="800000"/>
                </a:ln>
                <a:solidFill>
                  <a:srgbClr val="800000"/>
                </a:solidFill>
                <a:effectLst>
                  <a:outerShdw dist="35921" dir="2700000" algn="ctr" rotWithShape="0">
                    <a:srgbClr val="B2B2B2">
                      <a:alpha val="80000"/>
                    </a:srgbClr>
                  </a:outerShdw>
                </a:effectLst>
                <a:latin typeface="宋体" panose="02010600030101010101" pitchFamily="2" charset="-122"/>
              </a:rPr>
              <a:t>？</a:t>
            </a:r>
            <a:endParaRPr lang="zh-CN" altLang="en-US" sz="3600" i="1" kern="10">
              <a:ln w="9525">
                <a:solidFill>
                  <a:srgbClr val="800000"/>
                </a:solidFill>
                <a:miter lim="800000"/>
              </a:ln>
              <a:solidFill>
                <a:srgbClr val="800000"/>
              </a:solidFill>
              <a:effectLst>
                <a:outerShdw dist="35921" dir="2700000" algn="ctr" rotWithShape="0">
                  <a:srgbClr val="B2B2B2">
                    <a:alpha val="80000"/>
                  </a:srgbClr>
                </a:outerShdw>
              </a:effectLst>
              <a:latin typeface="宋体" panose="02010600030101010101" pitchFamily="2" charset="-122"/>
            </a:endParaRPr>
          </a:p>
        </p:txBody>
      </p:sp>
      <p:grpSp>
        <p:nvGrpSpPr>
          <p:cNvPr id="55313" name="组合 55312"/>
          <p:cNvGrpSpPr/>
          <p:nvPr/>
        </p:nvGrpSpPr>
        <p:grpSpPr bwMode="auto">
          <a:xfrm>
            <a:off x="323850" y="1773238"/>
            <a:ext cx="360363" cy="2376487"/>
            <a:chOff x="204" y="1117"/>
            <a:chExt cx="227" cy="1497"/>
          </a:xfrm>
        </p:grpSpPr>
        <p:sp>
          <p:nvSpPr>
            <p:cNvPr id="72713" name="直接连接符 55309"/>
            <p:cNvSpPr>
              <a:spLocks noChangeShapeType="1"/>
            </p:cNvSpPr>
            <p:nvPr/>
          </p:nvSpPr>
          <p:spPr bwMode="auto">
            <a:xfrm flipH="1">
              <a:off x="204" y="1117"/>
              <a:ext cx="227" cy="0"/>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72714" name="直接连接符 55310"/>
            <p:cNvSpPr>
              <a:spLocks noChangeShapeType="1"/>
            </p:cNvSpPr>
            <p:nvPr/>
          </p:nvSpPr>
          <p:spPr bwMode="auto">
            <a:xfrm>
              <a:off x="204" y="1117"/>
              <a:ext cx="0" cy="1497"/>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72715" name="直接连接符 55311"/>
            <p:cNvSpPr>
              <a:spLocks noChangeShapeType="1"/>
            </p:cNvSpPr>
            <p:nvPr/>
          </p:nvSpPr>
          <p:spPr bwMode="auto">
            <a:xfrm>
              <a:off x="204" y="2614"/>
              <a:ext cx="227" cy="0"/>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55314" name="组合 55313"/>
          <p:cNvGrpSpPr/>
          <p:nvPr/>
        </p:nvGrpSpPr>
        <p:grpSpPr bwMode="auto">
          <a:xfrm>
            <a:off x="179388" y="2420938"/>
            <a:ext cx="504825" cy="3024187"/>
            <a:chOff x="204" y="1117"/>
            <a:chExt cx="227" cy="1497"/>
          </a:xfrm>
        </p:grpSpPr>
        <p:sp>
          <p:nvSpPr>
            <p:cNvPr id="72717" name="直接连接符 55314"/>
            <p:cNvSpPr>
              <a:spLocks noChangeShapeType="1"/>
            </p:cNvSpPr>
            <p:nvPr/>
          </p:nvSpPr>
          <p:spPr bwMode="auto">
            <a:xfrm flipH="1">
              <a:off x="204" y="1117"/>
              <a:ext cx="227" cy="0"/>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72718" name="直接连接符 55315"/>
            <p:cNvSpPr>
              <a:spLocks noChangeShapeType="1"/>
            </p:cNvSpPr>
            <p:nvPr/>
          </p:nvSpPr>
          <p:spPr bwMode="auto">
            <a:xfrm>
              <a:off x="204" y="1117"/>
              <a:ext cx="0" cy="1497"/>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72719" name="直接连接符 55316"/>
            <p:cNvSpPr>
              <a:spLocks noChangeShapeType="1"/>
            </p:cNvSpPr>
            <p:nvPr/>
          </p:nvSpPr>
          <p:spPr bwMode="auto">
            <a:xfrm>
              <a:off x="204" y="2614"/>
              <a:ext cx="227" cy="0"/>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Tree>
    <p:custDataLst>
      <p:tags r:id="rId2"/>
    </p:custData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55313"/>
                                        </p:tgtEl>
                                        <p:attrNameLst>
                                          <p:attrName>style.visibility</p:attrName>
                                        </p:attrNameLst>
                                      </p:cBhvr>
                                      <p:to>
                                        <p:strVal val="visible"/>
                                      </p:to>
                                    </p:set>
                                    <p:animEffect transition="in" filter="wipe(up)">
                                      <p:cBhvr>
                                        <p:cTn id="7" dur="500"/>
                                        <p:tgtEl>
                                          <p:spTgt spid="5531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5304"/>
                                        </p:tgtEl>
                                        <p:attrNameLst>
                                          <p:attrName>style.visibility</p:attrName>
                                        </p:attrNameLst>
                                      </p:cBhvr>
                                      <p:to>
                                        <p:strVal val="visible"/>
                                      </p:to>
                                    </p:set>
                                    <p:animEffect transition="in" filter="blinds(horizontal)">
                                      <p:cBhvr>
                                        <p:cTn id="12" dur="500"/>
                                        <p:tgtEl>
                                          <p:spTgt spid="5530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55314"/>
                                        </p:tgtEl>
                                        <p:attrNameLst>
                                          <p:attrName>style.visibility</p:attrName>
                                        </p:attrNameLst>
                                      </p:cBhvr>
                                      <p:to>
                                        <p:strVal val="visible"/>
                                      </p:to>
                                    </p:set>
                                    <p:animEffect transition="in" filter="wipe(up)">
                                      <p:cBhvr>
                                        <p:cTn id="17" dur="500"/>
                                        <p:tgtEl>
                                          <p:spTgt spid="55314"/>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55305"/>
                                        </p:tgtEl>
                                        <p:attrNameLst>
                                          <p:attrName>style.visibility</p:attrName>
                                        </p:attrNameLst>
                                      </p:cBhvr>
                                      <p:to>
                                        <p:strVal val="visible"/>
                                      </p:to>
                                    </p:set>
                                    <p:animEffect transition="in" filter="blinds(horizontal)">
                                      <p:cBhvr>
                                        <p:cTn id="22" dur="500"/>
                                        <p:tgtEl>
                                          <p:spTgt spid="55305"/>
                                        </p:tgtEl>
                                      </p:cBhvr>
                                    </p:animEffect>
                                  </p:childTnLst>
                                </p:cTn>
                              </p:par>
                            </p:childTnLst>
                          </p:cTn>
                        </p:par>
                      </p:childTnLst>
                    </p:cTn>
                  </p:par>
                  <p:par>
                    <p:cTn id="23" fill="hold">
                      <p:stCondLst>
                        <p:cond delay="indefinite"/>
                      </p:stCondLst>
                      <p:childTnLst>
                        <p:par>
                          <p:cTn id="24" fill="hold">
                            <p:stCondLst>
                              <p:cond delay="0"/>
                            </p:stCondLst>
                            <p:childTnLst>
                              <p:par>
                                <p:cTn id="25" presetID="19" presetClass="entr" presetSubtype="10" fill="hold" nodeType="clickEffect">
                                  <p:stCondLst>
                                    <p:cond delay="0"/>
                                  </p:stCondLst>
                                  <p:childTnLst>
                                    <p:set>
                                      <p:cBhvr>
                                        <p:cTn id="26" dur="1" fill="hold">
                                          <p:stCondLst>
                                            <p:cond delay="0"/>
                                          </p:stCondLst>
                                        </p:cTn>
                                        <p:tgtEl>
                                          <p:spTgt spid="55307"/>
                                        </p:tgtEl>
                                        <p:attrNameLst>
                                          <p:attrName>style.visibility</p:attrName>
                                        </p:attrNameLst>
                                      </p:cBhvr>
                                      <p:to>
                                        <p:strVal val="visible"/>
                                      </p:to>
                                    </p:set>
                                    <p:anim calcmode="lin" valueType="num">
                                      <p:cBhvr>
                                        <p:cTn id="27" dur="3000" fill="hold"/>
                                        <p:tgtEl>
                                          <p:spTgt spid="55307"/>
                                        </p:tgtEl>
                                        <p:attrNameLst>
                                          <p:attrName>ppt_w</p:attrName>
                                        </p:attrNameLst>
                                      </p:cBhvr>
                                      <p:tavLst>
                                        <p:tav tm="0" fmla="#ppt_w*sin(2.5*pi*$)">
                                          <p:val>
                                            <p:fltVal val="0"/>
                                          </p:val>
                                        </p:tav>
                                        <p:tav tm="100000">
                                          <p:val>
                                            <p:fltVal val="1"/>
                                          </p:val>
                                        </p:tav>
                                      </p:tavLst>
                                    </p:anim>
                                    <p:anim calcmode="lin" valueType="num">
                                      <p:cBhvr>
                                        <p:cTn id="28" dur="3000" fill="hold"/>
                                        <p:tgtEl>
                                          <p:spTgt spid="55307"/>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304" grpId="0"/>
      <p:bldP spid="55305"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3729" name="图片 67587" descr="msotw9_temp0"/>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71438" y="765175"/>
            <a:ext cx="8964612" cy="5057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3730" name="矩形 67588"/>
          <p:cNvSpPr>
            <a:spLocks noChangeArrowheads="1"/>
          </p:cNvSpPr>
          <p:nvPr/>
        </p:nvSpPr>
        <p:spPr bwMode="auto">
          <a:xfrm>
            <a:off x="0" y="3789363"/>
            <a:ext cx="1835150" cy="2087562"/>
          </a:xfrm>
          <a:prstGeom prst="rect">
            <a:avLst/>
          </a:prstGeom>
          <a:noFill/>
          <a:ln w="25400">
            <a:solidFill>
              <a:srgbClr val="FF0000"/>
            </a:solidFill>
            <a:miter lim="800000"/>
          </a:ln>
          <a:extLst>
            <a:ext uri="{909E8E84-426E-40DD-AFC4-6F175D3DCCD1}">
              <a14:hiddenFill xmlns:a14="http://schemas.microsoft.com/office/drawing/2010/main">
                <a:solidFill>
                  <a:srgbClr val="FFFFFF"/>
                </a:solidFill>
              </a14:hiddenFill>
            </a:ext>
          </a:extLst>
        </p:spPr>
        <p:txBody>
          <a:bodyPr/>
          <a:lstStyle/>
          <a:p>
            <a:endParaRPr lang="zh-CN" altLang="en-US"/>
          </a:p>
        </p:txBody>
      </p:sp>
    </p:spTree>
  </p:cSld>
  <p:clrMapOvr>
    <a:masterClrMapping/>
  </p:clrMapOvr>
  <p:transition spd="slow"/>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文本框 70657"/>
          <p:cNvSpPr txBox="1">
            <a:spLocks noChangeArrowheads="1"/>
          </p:cNvSpPr>
          <p:nvPr/>
        </p:nvSpPr>
        <p:spPr bwMode="auto">
          <a:xfrm>
            <a:off x="381000" y="279400"/>
            <a:ext cx="3765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b="1">
                <a:latin typeface="Times New Roman" panose="02020603050405020304" pitchFamily="18" charset="0"/>
                <a:ea typeface="楷体_GB2312" pitchFamily="49" charset="-122"/>
              </a:rPr>
              <a:t>2.</a:t>
            </a:r>
            <a:r>
              <a:rPr lang="zh-CN" altLang="en-US" b="1">
                <a:latin typeface="Times New Roman" panose="02020603050405020304" pitchFamily="18" charset="0"/>
                <a:ea typeface="楷体_GB2312" pitchFamily="49" charset="-122"/>
              </a:rPr>
              <a:t>未饱和水和过热水蒸气表</a:t>
            </a:r>
            <a:endParaRPr lang="zh-CN" altLang="en-US" b="1">
              <a:latin typeface="Times New Roman" panose="02020603050405020304" pitchFamily="18" charset="0"/>
              <a:ea typeface="楷体_GB2312" pitchFamily="49" charset="-122"/>
            </a:endParaRPr>
          </a:p>
        </p:txBody>
      </p:sp>
      <p:graphicFrame>
        <p:nvGraphicFramePr>
          <p:cNvPr id="70659" name="表格 70658"/>
          <p:cNvGraphicFramePr/>
          <p:nvPr/>
        </p:nvGraphicFramePr>
        <p:xfrm>
          <a:off x="0" y="908050"/>
          <a:ext cx="9144000" cy="5429253"/>
        </p:xfrm>
        <a:graphic>
          <a:graphicData uri="http://schemas.openxmlformats.org/drawingml/2006/table">
            <a:tbl>
              <a:tblPr/>
              <a:tblGrid>
                <a:gridCol w="611188"/>
                <a:gridCol w="1081087"/>
                <a:gridCol w="792163"/>
                <a:gridCol w="935037"/>
                <a:gridCol w="1081088"/>
                <a:gridCol w="863600"/>
                <a:gridCol w="936625"/>
                <a:gridCol w="1079500"/>
                <a:gridCol w="803275"/>
                <a:gridCol w="960437"/>
              </a:tblGrid>
              <a:tr h="400073">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en-US" altLang="zh-CN" sz="1600" b="1" i="1">
                          <a:latin typeface="Times New Roman" panose="02020603050405020304" pitchFamily="18" charset="0"/>
                          <a:cs typeface="Times New Roman" panose="02020603050405020304" pitchFamily="18" charset="0"/>
                        </a:rPr>
                        <a:t>p</a:t>
                      </a:r>
                      <a:endParaRPr lang="zh-CN" altLang="en-US" sz="1600" b="1">
                        <a:ea typeface="Times New Roman" panose="02020603050405020304" pitchFamily="18" charset="0"/>
                      </a:endParaRPr>
                    </a:p>
                  </a:txBody>
                  <a:tcPr marT="45723" marB="45723">
                    <a:lnL cap="flat">
                      <a:noFill/>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gridSpan="3">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en-US" altLang="zh-CN" sz="1600" b="1" err="1">
                          <a:latin typeface="Times New Roman" panose="02020603050405020304" pitchFamily="18" charset="0"/>
                          <a:cs typeface="Times New Roman" panose="02020603050405020304" pitchFamily="18" charset="0"/>
                        </a:rPr>
                        <a:t>0.001 MPa</a:t>
                      </a:r>
                      <a:endParaRPr lang="zh-CN" altLang="en-US" sz="1600" b="1"/>
                    </a:p>
                  </a:txBody>
                  <a:tcPr marT="45723" marB="4572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3">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en-US" altLang="zh-CN" sz="1600" b="1" err="1">
                          <a:latin typeface="Times New Roman" panose="02020603050405020304" pitchFamily="18" charset="0"/>
                          <a:cs typeface="Times New Roman" panose="02020603050405020304" pitchFamily="18" charset="0"/>
                        </a:rPr>
                        <a:t>0.005 MPa</a:t>
                      </a:r>
                      <a:endParaRPr lang="zh-CN" altLang="en-US" sz="1600" b="1"/>
                    </a:p>
                  </a:txBody>
                  <a:tcPr marT="45723" marB="4572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3">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en-US" altLang="zh-CN" sz="1600" b="1" err="1">
                          <a:latin typeface="Times New Roman" panose="02020603050405020304" pitchFamily="18" charset="0"/>
                          <a:cs typeface="Times New Roman" panose="02020603050405020304" pitchFamily="18" charset="0"/>
                        </a:rPr>
                        <a:t>0.01 MPa</a:t>
                      </a:r>
                      <a:endParaRPr lang="zh-CN" altLang="en-US" sz="1600" b="1"/>
                    </a:p>
                  </a:txBody>
                  <a:tcPr marT="45723" marB="4572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r>
              <a:tr h="1068450">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66675">
                        <a:spcBef>
                          <a:spcPct val="0"/>
                        </a:spcBef>
                        <a:buNone/>
                      </a:pPr>
                      <a:r>
                        <a:rPr lang="zh-CN" altLang="en-US" sz="1600" b="1" dirty="0">
                          <a:solidFill>
                            <a:srgbClr val="000000"/>
                          </a:solidFill>
                          <a:latin typeface="Times New Roman" panose="02020603050405020304" pitchFamily="18" charset="0"/>
                          <a:cs typeface="Times New Roman" panose="02020603050405020304" pitchFamily="18" charset="0"/>
                        </a:rPr>
                        <a:t>饱</a:t>
                      </a:r>
                      <a:endParaRPr lang="zh-CN" altLang="en-US" sz="1600" b="1" dirty="0">
                        <a:cs typeface="Times New Roman" panose="02020603050405020304" pitchFamily="18" charset="0"/>
                      </a:endParaRPr>
                    </a:p>
                    <a:p>
                      <a:pPr marL="0" lvl="0" indent="66675" eaLnBrk="0" hangingPunct="0">
                        <a:spcBef>
                          <a:spcPct val="0"/>
                        </a:spcBef>
                        <a:buNone/>
                      </a:pPr>
                      <a:r>
                        <a:rPr lang="zh-CN" altLang="en-US" sz="1600" b="1" dirty="0">
                          <a:solidFill>
                            <a:srgbClr val="000000"/>
                          </a:solidFill>
                          <a:latin typeface="Times New Roman" panose="02020603050405020304" pitchFamily="18" charset="0"/>
                          <a:cs typeface="Times New Roman" panose="02020603050405020304" pitchFamily="18" charset="0"/>
                        </a:rPr>
                        <a:t>和</a:t>
                      </a:r>
                      <a:endParaRPr lang="zh-CN" altLang="en-US" sz="1600" b="1" dirty="0">
                        <a:cs typeface="Times New Roman" panose="02020603050405020304" pitchFamily="18" charset="0"/>
                      </a:endParaRPr>
                    </a:p>
                    <a:p>
                      <a:pPr marL="0" lvl="0" indent="66675" eaLnBrk="0" hangingPunct="0">
                        <a:spcBef>
                          <a:spcPct val="0"/>
                        </a:spcBef>
                        <a:buNone/>
                      </a:pPr>
                      <a:r>
                        <a:rPr lang="zh-CN" altLang="en-US" sz="1600" b="1" dirty="0">
                          <a:solidFill>
                            <a:srgbClr val="000000"/>
                          </a:solidFill>
                          <a:latin typeface="Times New Roman" panose="02020603050405020304" pitchFamily="18" charset="0"/>
                          <a:cs typeface="Times New Roman" panose="02020603050405020304" pitchFamily="18" charset="0"/>
                        </a:rPr>
                        <a:t>参</a:t>
                      </a:r>
                      <a:endParaRPr lang="zh-CN" altLang="en-US" sz="1600" b="1" dirty="0">
                        <a:cs typeface="Times New Roman" panose="02020603050405020304" pitchFamily="18" charset="0"/>
                      </a:endParaRPr>
                    </a:p>
                    <a:p>
                      <a:pPr marL="0" lvl="0" indent="66675" eaLnBrk="0" hangingPunct="0">
                        <a:spcBef>
                          <a:spcPct val="0"/>
                        </a:spcBef>
                        <a:buNone/>
                      </a:pPr>
                      <a:r>
                        <a:rPr lang="zh-CN" altLang="en-US" sz="1600" b="1" dirty="0">
                          <a:solidFill>
                            <a:srgbClr val="000000"/>
                          </a:solidFill>
                          <a:latin typeface="Times New Roman" panose="02020603050405020304" pitchFamily="18" charset="0"/>
                          <a:cs typeface="Times New Roman" panose="02020603050405020304" pitchFamily="18" charset="0"/>
                        </a:rPr>
                        <a:t>数</a:t>
                      </a:r>
                      <a:endParaRPr lang="zh-CN" altLang="en-US" sz="1600" b="1" dirty="0"/>
                    </a:p>
                  </a:txBody>
                  <a:tcPr marT="45723" marB="45723">
                    <a:lnL cap="flat">
                      <a:noFill/>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gridSpan="3">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en-US" altLang="zh-CN" sz="1600" b="1" i="1" dirty="0" err="1" smtClean="0">
                          <a:solidFill>
                            <a:srgbClr val="000000"/>
                          </a:solidFill>
                          <a:latin typeface="Times New Roman" panose="02020603050405020304" pitchFamily="18" charset="0"/>
                          <a:cs typeface="Times New Roman" panose="02020603050405020304" pitchFamily="18" charset="0"/>
                        </a:rPr>
                        <a:t>t</a:t>
                      </a:r>
                      <a:r>
                        <a:rPr lang="en-US" altLang="zh-CN" sz="1600" b="1" i="0" baseline="-30000" dirty="0" err="1" smtClean="0">
                          <a:solidFill>
                            <a:srgbClr val="000000"/>
                          </a:solidFill>
                          <a:latin typeface="Times New Roman" panose="02020603050405020304" pitchFamily="18" charset="0"/>
                          <a:cs typeface="Times New Roman" panose="02020603050405020304" pitchFamily="18" charset="0"/>
                        </a:rPr>
                        <a:t>sat</a:t>
                      </a:r>
                      <a:r>
                        <a:rPr lang="en-US" altLang="zh-CN" sz="1600" b="1" dirty="0" smtClean="0">
                          <a:solidFill>
                            <a:srgbClr val="000000"/>
                          </a:solidFill>
                          <a:latin typeface="Times New Roman" panose="02020603050405020304" pitchFamily="18" charset="0"/>
                          <a:cs typeface="Times New Roman" panose="02020603050405020304" pitchFamily="18" charset="0"/>
                        </a:rPr>
                        <a:t>=6.949 </a:t>
                      </a:r>
                      <a:r>
                        <a:rPr lang="en-US" altLang="zh-CN" sz="1600" b="1" dirty="0">
                          <a:latin typeface="宋体" panose="02010600030101010101" pitchFamily="2" charset="-122"/>
                          <a:cs typeface="Times New Roman" panose="02020603050405020304" pitchFamily="18" charset="0"/>
                        </a:rPr>
                        <a:t>℃</a:t>
                      </a:r>
                      <a:endParaRPr lang="en-US" altLang="zh-CN" sz="1600" b="1" dirty="0">
                        <a:cs typeface="Times New Roman" panose="02020603050405020304" pitchFamily="18" charset="0"/>
                      </a:endParaRPr>
                    </a:p>
                    <a:p>
                      <a:pPr marL="0" lvl="0" indent="0" algn="ctr" eaLnBrk="0" hangingPunct="0">
                        <a:spcBef>
                          <a:spcPct val="0"/>
                        </a:spcBef>
                        <a:buNone/>
                      </a:pPr>
                      <a:r>
                        <a:rPr lang="en-US" altLang="zh-CN" sz="1600" b="1" i="1" dirty="0">
                          <a:latin typeface="Times New Roman" panose="02020603050405020304" pitchFamily="18" charset="0"/>
                          <a:cs typeface="Times New Roman" panose="02020603050405020304" pitchFamily="18" charset="0"/>
                        </a:rPr>
                        <a:t>v’</a:t>
                      </a:r>
                      <a:r>
                        <a:rPr lang="en-US" altLang="zh-CN" sz="1600" b="1" dirty="0">
                          <a:latin typeface="Times New Roman" panose="02020603050405020304" pitchFamily="18" charset="0"/>
                          <a:cs typeface="Times New Roman" panose="02020603050405020304" pitchFamily="18" charset="0"/>
                        </a:rPr>
                        <a:t>=0.001 000 1,  </a:t>
                      </a:r>
                      <a:r>
                        <a:rPr lang="en-US" altLang="zh-CN" sz="1600" b="1" i="1" dirty="0">
                          <a:latin typeface="Times New Roman" panose="02020603050405020304" pitchFamily="18" charset="0"/>
                          <a:cs typeface="Times New Roman" panose="02020603050405020304" pitchFamily="18" charset="0"/>
                        </a:rPr>
                        <a:t>v”</a:t>
                      </a:r>
                      <a:r>
                        <a:rPr lang="en-US" altLang="zh-CN" sz="1600" b="1" dirty="0">
                          <a:latin typeface="Times New Roman" panose="02020603050405020304" pitchFamily="18" charset="0"/>
                          <a:cs typeface="Times New Roman" panose="02020603050405020304" pitchFamily="18" charset="0"/>
                        </a:rPr>
                        <a:t>=129.185</a:t>
                      </a:r>
                      <a:endParaRPr lang="en-US" altLang="zh-CN" sz="1600" b="1" dirty="0">
                        <a:cs typeface="Times New Roman" panose="02020603050405020304" pitchFamily="18" charset="0"/>
                      </a:endParaRPr>
                    </a:p>
                    <a:p>
                      <a:pPr marL="0" lvl="0" indent="0" algn="ctr" eaLnBrk="0" hangingPunct="0">
                        <a:spcBef>
                          <a:spcPct val="0"/>
                        </a:spcBef>
                        <a:buNone/>
                      </a:pPr>
                      <a:r>
                        <a:rPr lang="en-US" altLang="zh-CN" sz="1600" b="1" i="1" dirty="0">
                          <a:latin typeface="Times New Roman" panose="02020603050405020304" pitchFamily="18" charset="0"/>
                          <a:cs typeface="Times New Roman" panose="02020603050405020304" pitchFamily="18" charset="0"/>
                        </a:rPr>
                        <a:t>h’</a:t>
                      </a:r>
                      <a:r>
                        <a:rPr lang="en-US" altLang="zh-CN" sz="1600" b="1" dirty="0">
                          <a:latin typeface="Times New Roman" panose="02020603050405020304" pitchFamily="18" charset="0"/>
                          <a:cs typeface="Times New Roman" panose="02020603050405020304" pitchFamily="18" charset="0"/>
                        </a:rPr>
                        <a:t>=29.21,    </a:t>
                      </a:r>
                      <a:r>
                        <a:rPr lang="en-US" altLang="zh-CN" sz="1600" b="1" i="1" dirty="0">
                          <a:latin typeface="Times New Roman" panose="02020603050405020304" pitchFamily="18" charset="0"/>
                          <a:cs typeface="Times New Roman" panose="02020603050405020304" pitchFamily="18" charset="0"/>
                        </a:rPr>
                        <a:t>h”</a:t>
                      </a:r>
                      <a:r>
                        <a:rPr lang="en-US" altLang="zh-CN" sz="1600" b="1" dirty="0">
                          <a:latin typeface="Times New Roman" panose="02020603050405020304" pitchFamily="18" charset="0"/>
                          <a:cs typeface="Times New Roman" panose="02020603050405020304" pitchFamily="18" charset="0"/>
                        </a:rPr>
                        <a:t>=2513.3</a:t>
                      </a:r>
                      <a:endParaRPr lang="en-US" altLang="zh-CN" sz="1600" b="1" dirty="0">
                        <a:cs typeface="Times New Roman" panose="02020603050405020304" pitchFamily="18" charset="0"/>
                      </a:endParaRPr>
                    </a:p>
                    <a:p>
                      <a:pPr marL="0" lvl="0" indent="0" algn="ctr" eaLnBrk="0" hangingPunct="0">
                        <a:spcBef>
                          <a:spcPct val="0"/>
                        </a:spcBef>
                        <a:buNone/>
                      </a:pPr>
                      <a:r>
                        <a:rPr lang="en-US" altLang="zh-CN" sz="1600" b="1" i="1" dirty="0">
                          <a:latin typeface="Times New Roman" panose="02020603050405020304" pitchFamily="18" charset="0"/>
                          <a:cs typeface="Times New Roman" panose="02020603050405020304" pitchFamily="18" charset="0"/>
                        </a:rPr>
                        <a:t>s’</a:t>
                      </a:r>
                      <a:r>
                        <a:rPr lang="en-US" altLang="zh-CN" sz="1600" b="1" dirty="0">
                          <a:latin typeface="Times New Roman" panose="02020603050405020304" pitchFamily="18" charset="0"/>
                          <a:cs typeface="Times New Roman" panose="02020603050405020304" pitchFamily="18" charset="0"/>
                        </a:rPr>
                        <a:t>=0.105 6,   </a:t>
                      </a:r>
                      <a:r>
                        <a:rPr lang="en-US" altLang="zh-CN" sz="1600" b="1" i="1" dirty="0">
                          <a:latin typeface="Times New Roman" panose="02020603050405020304" pitchFamily="18" charset="0"/>
                          <a:cs typeface="Times New Roman" panose="02020603050405020304" pitchFamily="18" charset="0"/>
                        </a:rPr>
                        <a:t>s ”</a:t>
                      </a:r>
                      <a:r>
                        <a:rPr lang="en-US" altLang="zh-CN" sz="1600" b="1" dirty="0">
                          <a:latin typeface="Times New Roman" panose="02020603050405020304" pitchFamily="18" charset="0"/>
                          <a:cs typeface="Times New Roman" panose="02020603050405020304" pitchFamily="18" charset="0"/>
                        </a:rPr>
                        <a:t>=8.9735</a:t>
                      </a:r>
                      <a:endParaRPr lang="zh-CN" altLang="en-US" sz="1600" b="1" dirty="0"/>
                    </a:p>
                  </a:txBody>
                  <a:tcPr marT="45723" marB="4572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3">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en-US" altLang="zh-CN" sz="1600" b="1" i="1" dirty="0" err="1" smtClean="0">
                          <a:solidFill>
                            <a:srgbClr val="000000"/>
                          </a:solidFill>
                          <a:latin typeface="Times New Roman" panose="02020603050405020304" pitchFamily="18" charset="0"/>
                          <a:cs typeface="Times New Roman" panose="02020603050405020304" pitchFamily="18" charset="0"/>
                        </a:rPr>
                        <a:t>t</a:t>
                      </a:r>
                      <a:r>
                        <a:rPr lang="en-US" altLang="zh-CN" sz="1600" b="1" i="0" baseline="-30000" dirty="0" err="1" smtClean="0">
                          <a:solidFill>
                            <a:srgbClr val="000000"/>
                          </a:solidFill>
                          <a:latin typeface="Times New Roman" panose="02020603050405020304" pitchFamily="18" charset="0"/>
                          <a:cs typeface="Times New Roman" panose="02020603050405020304" pitchFamily="18" charset="0"/>
                        </a:rPr>
                        <a:t>sat</a:t>
                      </a:r>
                      <a:r>
                        <a:rPr lang="en-US" altLang="zh-CN" sz="1600" b="1" dirty="0" smtClean="0">
                          <a:solidFill>
                            <a:srgbClr val="000000"/>
                          </a:solidFill>
                          <a:latin typeface="Times New Roman" panose="02020603050405020304" pitchFamily="18" charset="0"/>
                          <a:cs typeface="Times New Roman" panose="02020603050405020304" pitchFamily="18" charset="0"/>
                        </a:rPr>
                        <a:t>=32.879 </a:t>
                      </a:r>
                      <a:r>
                        <a:rPr lang="en-US" altLang="zh-CN" sz="1600" b="1" dirty="0">
                          <a:latin typeface="宋体" panose="02010600030101010101" pitchFamily="2" charset="-122"/>
                          <a:cs typeface="Times New Roman" panose="02020603050405020304" pitchFamily="18" charset="0"/>
                        </a:rPr>
                        <a:t>℃</a:t>
                      </a:r>
                      <a:endParaRPr lang="en-US" altLang="zh-CN" sz="1600" b="1" dirty="0">
                        <a:cs typeface="Times New Roman" panose="02020603050405020304" pitchFamily="18" charset="0"/>
                      </a:endParaRPr>
                    </a:p>
                    <a:p>
                      <a:pPr marL="0" lvl="0" indent="0" algn="ctr" eaLnBrk="0" hangingPunct="0">
                        <a:spcBef>
                          <a:spcPct val="0"/>
                        </a:spcBef>
                        <a:buNone/>
                      </a:pPr>
                      <a:r>
                        <a:rPr lang="en-US" altLang="zh-CN" sz="1600" b="1" i="1" dirty="0">
                          <a:latin typeface="Times New Roman" panose="02020603050405020304" pitchFamily="18" charset="0"/>
                          <a:cs typeface="Times New Roman" panose="02020603050405020304" pitchFamily="18" charset="0"/>
                        </a:rPr>
                        <a:t>v’</a:t>
                      </a:r>
                      <a:r>
                        <a:rPr lang="en-US" altLang="zh-CN" sz="1600" b="1" dirty="0">
                          <a:latin typeface="Times New Roman" panose="02020603050405020304" pitchFamily="18" charset="0"/>
                          <a:cs typeface="Times New Roman" panose="02020603050405020304" pitchFamily="18" charset="0"/>
                        </a:rPr>
                        <a:t>=0.001 005 3,  </a:t>
                      </a:r>
                      <a:r>
                        <a:rPr lang="en-US" altLang="zh-CN" sz="1600" b="1" i="1" dirty="0">
                          <a:latin typeface="Times New Roman" panose="02020603050405020304" pitchFamily="18" charset="0"/>
                          <a:cs typeface="Times New Roman" panose="02020603050405020304" pitchFamily="18" charset="0"/>
                        </a:rPr>
                        <a:t>v”</a:t>
                      </a:r>
                      <a:r>
                        <a:rPr lang="en-US" altLang="zh-CN" sz="1600" b="1" dirty="0">
                          <a:latin typeface="Times New Roman" panose="02020603050405020304" pitchFamily="18" charset="0"/>
                          <a:cs typeface="Times New Roman" panose="02020603050405020304" pitchFamily="18" charset="0"/>
                        </a:rPr>
                        <a:t>=28.191</a:t>
                      </a:r>
                      <a:endParaRPr lang="en-US" altLang="zh-CN" sz="1600" b="1" dirty="0">
                        <a:cs typeface="Times New Roman" panose="02020603050405020304" pitchFamily="18" charset="0"/>
                      </a:endParaRPr>
                    </a:p>
                    <a:p>
                      <a:pPr marL="0" lvl="0" indent="0" algn="ctr" eaLnBrk="0" hangingPunct="0">
                        <a:spcBef>
                          <a:spcPct val="0"/>
                        </a:spcBef>
                        <a:buNone/>
                      </a:pPr>
                      <a:r>
                        <a:rPr lang="en-US" altLang="zh-CN" sz="1600" b="1" i="1" dirty="0">
                          <a:latin typeface="Times New Roman" panose="02020603050405020304" pitchFamily="18" charset="0"/>
                          <a:cs typeface="Times New Roman" panose="02020603050405020304" pitchFamily="18" charset="0"/>
                        </a:rPr>
                        <a:t>h’</a:t>
                      </a:r>
                      <a:r>
                        <a:rPr lang="en-US" altLang="zh-CN" sz="1600" b="1" dirty="0">
                          <a:latin typeface="Times New Roman" panose="02020603050405020304" pitchFamily="18" charset="0"/>
                          <a:cs typeface="Times New Roman" panose="02020603050405020304" pitchFamily="18" charset="0"/>
                        </a:rPr>
                        <a:t>=137.72,   </a:t>
                      </a:r>
                      <a:r>
                        <a:rPr lang="en-US" altLang="zh-CN" sz="1600" b="1" i="1" dirty="0">
                          <a:latin typeface="Times New Roman" panose="02020603050405020304" pitchFamily="18" charset="0"/>
                          <a:cs typeface="Times New Roman" panose="02020603050405020304" pitchFamily="18" charset="0"/>
                        </a:rPr>
                        <a:t>h”</a:t>
                      </a:r>
                      <a:r>
                        <a:rPr lang="en-US" altLang="zh-CN" sz="1600" b="1" dirty="0">
                          <a:latin typeface="Times New Roman" panose="02020603050405020304" pitchFamily="18" charset="0"/>
                          <a:cs typeface="Times New Roman" panose="02020603050405020304" pitchFamily="18" charset="0"/>
                        </a:rPr>
                        <a:t>=2 560.6</a:t>
                      </a:r>
                      <a:endParaRPr lang="en-US" altLang="zh-CN" sz="1600" b="1" dirty="0">
                        <a:cs typeface="Times New Roman" panose="02020603050405020304" pitchFamily="18" charset="0"/>
                      </a:endParaRPr>
                    </a:p>
                    <a:p>
                      <a:pPr marL="0" lvl="0" indent="0" algn="ctr" eaLnBrk="0" hangingPunct="0">
                        <a:spcBef>
                          <a:spcPct val="0"/>
                        </a:spcBef>
                        <a:buNone/>
                      </a:pPr>
                      <a:r>
                        <a:rPr lang="en-US" altLang="zh-CN" sz="1600" b="1" i="1" dirty="0">
                          <a:latin typeface="Times New Roman" panose="02020603050405020304" pitchFamily="18" charset="0"/>
                          <a:cs typeface="Times New Roman" panose="02020603050405020304" pitchFamily="18" charset="0"/>
                        </a:rPr>
                        <a:t>s’</a:t>
                      </a:r>
                      <a:r>
                        <a:rPr lang="en-US" altLang="zh-CN" sz="1600" b="1" dirty="0">
                          <a:latin typeface="Times New Roman" panose="02020603050405020304" pitchFamily="18" charset="0"/>
                          <a:cs typeface="Times New Roman" panose="02020603050405020304" pitchFamily="18" charset="0"/>
                        </a:rPr>
                        <a:t>=0.4761,   </a:t>
                      </a:r>
                      <a:r>
                        <a:rPr lang="en-US" altLang="zh-CN" sz="1600" b="1" i="1" dirty="0">
                          <a:latin typeface="Times New Roman" panose="02020603050405020304" pitchFamily="18" charset="0"/>
                          <a:cs typeface="Times New Roman" panose="02020603050405020304" pitchFamily="18" charset="0"/>
                        </a:rPr>
                        <a:t>s”</a:t>
                      </a:r>
                      <a:r>
                        <a:rPr lang="en-US" altLang="zh-CN" sz="1600" b="1" dirty="0">
                          <a:latin typeface="Times New Roman" panose="02020603050405020304" pitchFamily="18" charset="0"/>
                          <a:cs typeface="Times New Roman" panose="02020603050405020304" pitchFamily="18" charset="0"/>
                        </a:rPr>
                        <a:t>=8.3930</a:t>
                      </a:r>
                      <a:endParaRPr lang="zh-CN" altLang="en-US" sz="1600" b="1" dirty="0"/>
                    </a:p>
                  </a:txBody>
                  <a:tcPr marT="45723" marB="4572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3">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en-US" altLang="zh-CN" sz="1600" b="1" i="1" dirty="0" err="1" smtClean="0">
                          <a:solidFill>
                            <a:srgbClr val="000000"/>
                          </a:solidFill>
                          <a:latin typeface="Times New Roman" panose="02020603050405020304" pitchFamily="18" charset="0"/>
                          <a:cs typeface="Times New Roman" panose="02020603050405020304" pitchFamily="18" charset="0"/>
                        </a:rPr>
                        <a:t>t</a:t>
                      </a:r>
                      <a:r>
                        <a:rPr lang="en-US" altLang="zh-CN" sz="1600" b="1" i="0" baseline="-30000" dirty="0" err="1" smtClean="0">
                          <a:solidFill>
                            <a:srgbClr val="000000"/>
                          </a:solidFill>
                          <a:latin typeface="Times New Roman" panose="02020603050405020304" pitchFamily="18" charset="0"/>
                          <a:cs typeface="Times New Roman" panose="02020603050405020304" pitchFamily="18" charset="0"/>
                        </a:rPr>
                        <a:t>sat</a:t>
                      </a:r>
                      <a:r>
                        <a:rPr lang="en-US" altLang="zh-CN" sz="1600" b="1" dirty="0" smtClean="0">
                          <a:solidFill>
                            <a:srgbClr val="000000"/>
                          </a:solidFill>
                          <a:latin typeface="Times New Roman" panose="02020603050405020304" pitchFamily="18" charset="0"/>
                          <a:cs typeface="Times New Roman" panose="02020603050405020304" pitchFamily="18" charset="0"/>
                        </a:rPr>
                        <a:t>=45.799 </a:t>
                      </a:r>
                      <a:r>
                        <a:rPr lang="en-US" altLang="zh-CN" sz="1600" b="1" dirty="0">
                          <a:latin typeface="宋体" panose="02010600030101010101" pitchFamily="2" charset="-122"/>
                          <a:cs typeface="Times New Roman" panose="02020603050405020304" pitchFamily="18" charset="0"/>
                        </a:rPr>
                        <a:t>℃</a:t>
                      </a:r>
                      <a:endParaRPr lang="en-US" altLang="zh-CN" sz="1600" b="1" dirty="0">
                        <a:cs typeface="Times New Roman" panose="02020603050405020304" pitchFamily="18" charset="0"/>
                      </a:endParaRPr>
                    </a:p>
                    <a:p>
                      <a:pPr marL="0" lvl="0" indent="0" algn="ctr" eaLnBrk="0" hangingPunct="0">
                        <a:spcBef>
                          <a:spcPct val="0"/>
                        </a:spcBef>
                        <a:buNone/>
                      </a:pPr>
                      <a:r>
                        <a:rPr lang="en-US" altLang="zh-CN" sz="1600" b="1" i="1" dirty="0">
                          <a:latin typeface="Times New Roman" panose="02020603050405020304" pitchFamily="18" charset="0"/>
                          <a:cs typeface="Times New Roman" panose="02020603050405020304" pitchFamily="18" charset="0"/>
                        </a:rPr>
                        <a:t>v’</a:t>
                      </a:r>
                      <a:r>
                        <a:rPr lang="en-US" altLang="zh-CN" sz="1600" b="1" dirty="0">
                          <a:latin typeface="Times New Roman" panose="02020603050405020304" pitchFamily="18" charset="0"/>
                          <a:cs typeface="Times New Roman" panose="02020603050405020304" pitchFamily="18" charset="0"/>
                        </a:rPr>
                        <a:t>=0.001 010 3,  </a:t>
                      </a:r>
                      <a:r>
                        <a:rPr lang="en-US" altLang="zh-CN" sz="1600" b="1" i="1" dirty="0">
                          <a:latin typeface="Times New Roman" panose="02020603050405020304" pitchFamily="18" charset="0"/>
                          <a:cs typeface="Times New Roman" panose="02020603050405020304" pitchFamily="18" charset="0"/>
                        </a:rPr>
                        <a:t>v”</a:t>
                      </a:r>
                      <a:r>
                        <a:rPr lang="en-US" altLang="zh-CN" sz="1600" b="1" dirty="0">
                          <a:latin typeface="Times New Roman" panose="02020603050405020304" pitchFamily="18" charset="0"/>
                          <a:cs typeface="Times New Roman" panose="02020603050405020304" pitchFamily="18" charset="0"/>
                        </a:rPr>
                        <a:t>=14.673</a:t>
                      </a:r>
                      <a:endParaRPr lang="en-US" altLang="zh-CN" sz="1600" b="1" dirty="0">
                        <a:cs typeface="Times New Roman" panose="02020603050405020304" pitchFamily="18" charset="0"/>
                      </a:endParaRPr>
                    </a:p>
                    <a:p>
                      <a:pPr marL="0" lvl="0" indent="0" algn="ctr" eaLnBrk="0" hangingPunct="0">
                        <a:spcBef>
                          <a:spcPct val="0"/>
                        </a:spcBef>
                        <a:buNone/>
                      </a:pPr>
                      <a:r>
                        <a:rPr lang="en-US" altLang="zh-CN" sz="1600" b="1" i="1" dirty="0">
                          <a:latin typeface="Times New Roman" panose="02020603050405020304" pitchFamily="18" charset="0"/>
                          <a:cs typeface="Times New Roman" panose="02020603050405020304" pitchFamily="18" charset="0"/>
                        </a:rPr>
                        <a:t>h’</a:t>
                      </a:r>
                      <a:r>
                        <a:rPr lang="en-US" altLang="zh-CN" sz="1600" b="1" dirty="0">
                          <a:latin typeface="Times New Roman" panose="02020603050405020304" pitchFamily="18" charset="0"/>
                          <a:cs typeface="Times New Roman" panose="02020603050405020304" pitchFamily="18" charset="0"/>
                        </a:rPr>
                        <a:t>=191.76,    </a:t>
                      </a:r>
                      <a:r>
                        <a:rPr lang="en-US" altLang="zh-CN" sz="1600" b="1" i="1" dirty="0">
                          <a:latin typeface="Times New Roman" panose="02020603050405020304" pitchFamily="18" charset="0"/>
                          <a:cs typeface="Times New Roman" panose="02020603050405020304" pitchFamily="18" charset="0"/>
                        </a:rPr>
                        <a:t>h”</a:t>
                      </a:r>
                      <a:r>
                        <a:rPr lang="en-US" altLang="zh-CN" sz="1600" b="1" dirty="0">
                          <a:latin typeface="Times New Roman" panose="02020603050405020304" pitchFamily="18" charset="0"/>
                          <a:cs typeface="Times New Roman" panose="02020603050405020304" pitchFamily="18" charset="0"/>
                        </a:rPr>
                        <a:t>=2583.7</a:t>
                      </a:r>
                      <a:endParaRPr lang="en-US" altLang="zh-CN" sz="1600" b="1" dirty="0">
                        <a:cs typeface="Times New Roman" panose="02020603050405020304" pitchFamily="18" charset="0"/>
                      </a:endParaRPr>
                    </a:p>
                    <a:p>
                      <a:pPr marL="0" lvl="0" indent="0" algn="ctr" eaLnBrk="0" hangingPunct="0">
                        <a:spcBef>
                          <a:spcPct val="0"/>
                        </a:spcBef>
                        <a:buNone/>
                      </a:pPr>
                      <a:r>
                        <a:rPr lang="en-US" altLang="zh-CN" sz="1600" b="1" i="1" dirty="0">
                          <a:latin typeface="Times New Roman" panose="02020603050405020304" pitchFamily="18" charset="0"/>
                          <a:cs typeface="Times New Roman" panose="02020603050405020304" pitchFamily="18" charset="0"/>
                        </a:rPr>
                        <a:t>s’</a:t>
                      </a:r>
                      <a:r>
                        <a:rPr lang="en-US" altLang="zh-CN" sz="1600" b="1" dirty="0">
                          <a:latin typeface="Times New Roman" panose="02020603050405020304" pitchFamily="18" charset="0"/>
                          <a:cs typeface="Times New Roman" panose="02020603050405020304" pitchFamily="18" charset="0"/>
                        </a:rPr>
                        <a:t>=0. 649 0,    </a:t>
                      </a:r>
                      <a:r>
                        <a:rPr lang="en-US" altLang="zh-CN" sz="1600" b="1" i="1" dirty="0">
                          <a:latin typeface="Times New Roman" panose="02020603050405020304" pitchFamily="18" charset="0"/>
                          <a:cs typeface="Times New Roman" panose="02020603050405020304" pitchFamily="18" charset="0"/>
                        </a:rPr>
                        <a:t>s”</a:t>
                      </a:r>
                      <a:r>
                        <a:rPr lang="en-US" altLang="zh-CN" sz="1600" b="1" dirty="0">
                          <a:latin typeface="Times New Roman" panose="02020603050405020304" pitchFamily="18" charset="0"/>
                          <a:cs typeface="Times New Roman" panose="02020603050405020304" pitchFamily="18" charset="0"/>
                        </a:rPr>
                        <a:t>=8.1481</a:t>
                      </a:r>
                      <a:endParaRPr lang="zh-CN" altLang="en-US" sz="1600" b="1" dirty="0"/>
                    </a:p>
                  </a:txBody>
                  <a:tcPr marT="45723" marB="4572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r>
              <a:tr h="335300">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en-US" altLang="zh-CN" sz="1600" b="1" i="1">
                          <a:solidFill>
                            <a:srgbClr val="000000"/>
                          </a:solidFill>
                          <a:latin typeface="Times New Roman" panose="02020603050405020304" pitchFamily="18" charset="0"/>
                          <a:cs typeface="Times New Roman" panose="02020603050405020304" pitchFamily="18" charset="0"/>
                        </a:rPr>
                        <a:t>t</a:t>
                      </a:r>
                      <a:endParaRPr lang="zh-CN" altLang="en-US" sz="1600" b="1"/>
                    </a:p>
                  </a:txBody>
                  <a:tcPr marT="45723" marB="45723">
                    <a:lnL cap="flat">
                      <a:noFill/>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en-US" altLang="zh-CN" sz="1600" b="1" i="1">
                          <a:solidFill>
                            <a:srgbClr val="000000"/>
                          </a:solidFill>
                          <a:latin typeface="Times New Roman" panose="02020603050405020304" pitchFamily="18" charset="0"/>
                          <a:cs typeface="Times New Roman" panose="02020603050405020304" pitchFamily="18" charset="0"/>
                        </a:rPr>
                        <a:t>v</a:t>
                      </a:r>
                      <a:endParaRPr lang="zh-CN" altLang="en-US" sz="1600" b="1"/>
                    </a:p>
                  </a:txBody>
                  <a:tcPr marT="45723" marB="4572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en-US" altLang="zh-CN" sz="1600" b="1" i="1">
                          <a:solidFill>
                            <a:srgbClr val="000000"/>
                          </a:solidFill>
                          <a:latin typeface="Times New Roman" panose="02020603050405020304" pitchFamily="18" charset="0"/>
                          <a:cs typeface="Times New Roman" panose="02020603050405020304" pitchFamily="18" charset="0"/>
                        </a:rPr>
                        <a:t>h</a:t>
                      </a:r>
                      <a:endParaRPr lang="zh-CN" altLang="en-US" sz="1600" b="1"/>
                    </a:p>
                  </a:txBody>
                  <a:tcPr marT="45723" marB="4572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en-US" altLang="zh-CN" sz="1600" b="1" i="1">
                          <a:solidFill>
                            <a:srgbClr val="000000"/>
                          </a:solidFill>
                          <a:latin typeface="Times New Roman" panose="02020603050405020304" pitchFamily="18" charset="0"/>
                          <a:cs typeface="Times New Roman" panose="02020603050405020304" pitchFamily="18" charset="0"/>
                        </a:rPr>
                        <a:t>s</a:t>
                      </a:r>
                      <a:endParaRPr lang="zh-CN" altLang="en-US" sz="1600" b="1"/>
                    </a:p>
                  </a:txBody>
                  <a:tcPr marT="45723" marB="4572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en-US" altLang="zh-CN" sz="1600" b="1" i="1">
                          <a:solidFill>
                            <a:srgbClr val="000000"/>
                          </a:solidFill>
                          <a:latin typeface="Times New Roman" panose="02020603050405020304" pitchFamily="18" charset="0"/>
                          <a:cs typeface="Times New Roman" panose="02020603050405020304" pitchFamily="18" charset="0"/>
                        </a:rPr>
                        <a:t>v</a:t>
                      </a:r>
                      <a:endParaRPr lang="zh-CN" altLang="en-US" sz="1600" b="1"/>
                    </a:p>
                  </a:txBody>
                  <a:tcPr marT="45723" marB="4572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en-US" altLang="zh-CN" sz="1600" b="1" i="1">
                          <a:solidFill>
                            <a:srgbClr val="000000"/>
                          </a:solidFill>
                          <a:latin typeface="Times New Roman" panose="02020603050405020304" pitchFamily="18" charset="0"/>
                          <a:cs typeface="Times New Roman" panose="02020603050405020304" pitchFamily="18" charset="0"/>
                        </a:rPr>
                        <a:t>h</a:t>
                      </a:r>
                      <a:endParaRPr lang="zh-CN" altLang="en-US" sz="1600" b="1"/>
                    </a:p>
                  </a:txBody>
                  <a:tcPr marT="45723" marB="4572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en-US" altLang="zh-CN" sz="1600" b="1" i="1">
                          <a:solidFill>
                            <a:srgbClr val="000000"/>
                          </a:solidFill>
                          <a:latin typeface="Times New Roman" panose="02020603050405020304" pitchFamily="18" charset="0"/>
                          <a:cs typeface="Times New Roman" panose="02020603050405020304" pitchFamily="18" charset="0"/>
                        </a:rPr>
                        <a:t>s</a:t>
                      </a:r>
                      <a:endParaRPr lang="zh-CN" altLang="en-US" sz="1600" b="1"/>
                    </a:p>
                  </a:txBody>
                  <a:tcPr marT="45723" marB="4572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en-US" altLang="zh-CN" sz="1600" b="1" i="1">
                          <a:solidFill>
                            <a:srgbClr val="000000"/>
                          </a:solidFill>
                          <a:latin typeface="Times New Roman" panose="02020603050405020304" pitchFamily="18" charset="0"/>
                          <a:cs typeface="Times New Roman" panose="02020603050405020304" pitchFamily="18" charset="0"/>
                        </a:rPr>
                        <a:t>v</a:t>
                      </a:r>
                      <a:endParaRPr lang="zh-CN" altLang="en-US" sz="1600" b="1"/>
                    </a:p>
                  </a:txBody>
                  <a:tcPr marT="45723" marB="4572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en-US" altLang="zh-CN" sz="1600" b="1" i="1">
                          <a:solidFill>
                            <a:srgbClr val="000000"/>
                          </a:solidFill>
                          <a:latin typeface="Times New Roman" panose="02020603050405020304" pitchFamily="18" charset="0"/>
                          <a:cs typeface="Times New Roman" panose="02020603050405020304" pitchFamily="18" charset="0"/>
                        </a:rPr>
                        <a:t>h</a:t>
                      </a:r>
                      <a:endParaRPr lang="zh-CN" altLang="en-US" sz="1600" b="1"/>
                    </a:p>
                  </a:txBody>
                  <a:tcPr marT="45723" marB="4572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en-US" altLang="zh-CN" sz="1600" b="1" i="1">
                          <a:solidFill>
                            <a:srgbClr val="000000"/>
                          </a:solidFill>
                          <a:latin typeface="Times New Roman" panose="02020603050405020304" pitchFamily="18" charset="0"/>
                          <a:cs typeface="Times New Roman" panose="02020603050405020304" pitchFamily="18" charset="0"/>
                        </a:rPr>
                        <a:t>s</a:t>
                      </a:r>
                      <a:endParaRPr lang="zh-CN" altLang="en-US" sz="1600" b="1"/>
                    </a:p>
                  </a:txBody>
                  <a:tcPr marT="45723" marB="45723">
                    <a:lnL w="12700" cap="flat" cmpd="sng">
                      <a:solidFill>
                        <a:srgbClr val="000000"/>
                      </a:solidFill>
                      <a:prstDash val="solid"/>
                      <a:headEnd type="none" w="med" len="med"/>
                      <a:tailEnd type="none" w="med" len="med"/>
                    </a:lnL>
                    <a:lnR cap="flat">
                      <a:noFill/>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579472">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en-US" altLang="zh-CN" sz="1600" b="1">
                          <a:latin typeface="宋体" panose="02010600030101010101" pitchFamily="2" charset="-122"/>
                          <a:cs typeface="Times New Roman" panose="02020603050405020304" pitchFamily="18" charset="0"/>
                        </a:rPr>
                        <a:t>℃</a:t>
                      </a:r>
                      <a:endParaRPr lang="zh-CN" altLang="en-US" sz="1600" b="1"/>
                    </a:p>
                  </a:txBody>
                  <a:tcPr marT="45723" marB="45723">
                    <a:lnL cap="flat">
                      <a:noFill/>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en-US" altLang="zh-CN" sz="1600" b="1">
                          <a:solidFill>
                            <a:srgbClr val="000000"/>
                          </a:solidFill>
                          <a:latin typeface="Times New Roman" panose="02020603050405020304" pitchFamily="18" charset="0"/>
                          <a:cs typeface="Times New Roman" panose="02020603050405020304" pitchFamily="18" charset="0"/>
                        </a:rPr>
                        <a:t>m</a:t>
                      </a:r>
                      <a:r>
                        <a:rPr lang="en-US" altLang="zh-CN" sz="1600" b="1" baseline="30000">
                          <a:solidFill>
                            <a:srgbClr val="000000"/>
                          </a:solidFill>
                          <a:latin typeface="Times New Roman" panose="02020603050405020304" pitchFamily="18" charset="0"/>
                          <a:cs typeface="Times New Roman" panose="02020603050405020304" pitchFamily="18" charset="0"/>
                        </a:rPr>
                        <a:t>3</a:t>
                      </a:r>
                      <a:r>
                        <a:rPr lang="en-US" altLang="zh-CN" sz="1600" b="1">
                          <a:solidFill>
                            <a:srgbClr val="000000"/>
                          </a:solidFill>
                          <a:latin typeface="Times New Roman" panose="02020603050405020304" pitchFamily="18" charset="0"/>
                          <a:cs typeface="Times New Roman" panose="02020603050405020304" pitchFamily="18" charset="0"/>
                        </a:rPr>
                        <a:t>/kg</a:t>
                      </a:r>
                      <a:endParaRPr lang="zh-CN" altLang="en-US" sz="1600" b="1"/>
                    </a:p>
                  </a:txBody>
                  <a:tcPr marT="45723" marB="4572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en-US" altLang="zh-CN" sz="1600" b="1">
                          <a:solidFill>
                            <a:srgbClr val="000000"/>
                          </a:solidFill>
                          <a:latin typeface="Times New Roman" panose="02020603050405020304" pitchFamily="18" charset="0"/>
                          <a:cs typeface="Times New Roman" panose="02020603050405020304" pitchFamily="18" charset="0"/>
                        </a:rPr>
                        <a:t>kJ/kg</a:t>
                      </a:r>
                      <a:endParaRPr lang="zh-CN" altLang="en-US" sz="1600" b="1"/>
                    </a:p>
                  </a:txBody>
                  <a:tcPr marT="45723" marB="4572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en-US" altLang="zh-CN" sz="1600" b="1" err="1">
                          <a:solidFill>
                            <a:srgbClr val="000000"/>
                          </a:solidFill>
                          <a:latin typeface="Times New Roman" panose="02020603050405020304" pitchFamily="18" charset="0"/>
                          <a:cs typeface="Times New Roman" panose="02020603050405020304" pitchFamily="18" charset="0"/>
                        </a:rPr>
                        <a:t>kJ/(kg</a:t>
                      </a:r>
                      <a:r>
                        <a:rPr lang="en-US" altLang="zh-CN" sz="1600" b="1" err="1">
                          <a:solidFill>
                            <a:srgbClr val="000000"/>
                          </a:solidFill>
                          <a:latin typeface="Arial" panose="020B0604020202020204" pitchFamily="34" charset="0"/>
                          <a:ea typeface="Times New Roman" panose="02020603050405020304" pitchFamily="18" charset="0"/>
                        </a:rPr>
                        <a:t>·</a:t>
                      </a:r>
                      <a:r>
                        <a:rPr lang="en-US" altLang="zh-CN" sz="1600" b="1" err="1">
                          <a:solidFill>
                            <a:srgbClr val="000000"/>
                          </a:solidFill>
                          <a:latin typeface="Times New Roman" panose="02020603050405020304" pitchFamily="18" charset="0"/>
                          <a:cs typeface="Times New Roman" panose="02020603050405020304" pitchFamily="18" charset="0"/>
                        </a:rPr>
                        <a:t>K</a:t>
                      </a:r>
                      <a:r>
                        <a:rPr lang="en-US" altLang="zh-CN" sz="1600" b="1">
                          <a:solidFill>
                            <a:srgbClr val="000000"/>
                          </a:solidFill>
                          <a:latin typeface="Times New Roman" panose="02020603050405020304" pitchFamily="18" charset="0"/>
                          <a:cs typeface="Times New Roman" panose="02020603050405020304" pitchFamily="18" charset="0"/>
                        </a:rPr>
                        <a:t>)</a:t>
                      </a:r>
                      <a:endParaRPr lang="zh-CN" altLang="en-US" sz="1600" b="1"/>
                    </a:p>
                  </a:txBody>
                  <a:tcPr marT="45723" marB="4572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en-US" altLang="zh-CN" sz="1600" b="1">
                          <a:solidFill>
                            <a:srgbClr val="000000"/>
                          </a:solidFill>
                          <a:latin typeface="Times New Roman" panose="02020603050405020304" pitchFamily="18" charset="0"/>
                          <a:cs typeface="Times New Roman" panose="02020603050405020304" pitchFamily="18" charset="0"/>
                        </a:rPr>
                        <a:t>m</a:t>
                      </a:r>
                      <a:r>
                        <a:rPr lang="en-US" altLang="zh-CN" sz="1600" b="1" baseline="30000">
                          <a:solidFill>
                            <a:srgbClr val="000000"/>
                          </a:solidFill>
                          <a:latin typeface="Times New Roman" panose="02020603050405020304" pitchFamily="18" charset="0"/>
                          <a:cs typeface="Times New Roman" panose="02020603050405020304" pitchFamily="18" charset="0"/>
                        </a:rPr>
                        <a:t>3</a:t>
                      </a:r>
                      <a:r>
                        <a:rPr lang="en-US" altLang="zh-CN" sz="1600" b="1">
                          <a:solidFill>
                            <a:srgbClr val="000000"/>
                          </a:solidFill>
                          <a:latin typeface="Times New Roman" panose="02020603050405020304" pitchFamily="18" charset="0"/>
                          <a:cs typeface="Times New Roman" panose="02020603050405020304" pitchFamily="18" charset="0"/>
                        </a:rPr>
                        <a:t>/kg</a:t>
                      </a:r>
                      <a:endParaRPr lang="zh-CN" altLang="en-US" sz="1600" b="1"/>
                    </a:p>
                  </a:txBody>
                  <a:tcPr marT="45723" marB="4572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en-US" altLang="zh-CN" sz="1600" b="1">
                          <a:solidFill>
                            <a:srgbClr val="000000"/>
                          </a:solidFill>
                          <a:latin typeface="Times New Roman" panose="02020603050405020304" pitchFamily="18" charset="0"/>
                          <a:cs typeface="Times New Roman" panose="02020603050405020304" pitchFamily="18" charset="0"/>
                        </a:rPr>
                        <a:t>kJ/kg</a:t>
                      </a:r>
                      <a:endParaRPr lang="zh-CN" altLang="en-US" sz="1600" b="1"/>
                    </a:p>
                  </a:txBody>
                  <a:tcPr marT="45723" marB="4572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en-US" altLang="zh-CN" sz="1600" b="1" err="1">
                          <a:solidFill>
                            <a:srgbClr val="000000"/>
                          </a:solidFill>
                          <a:latin typeface="Times New Roman" panose="02020603050405020304" pitchFamily="18" charset="0"/>
                          <a:cs typeface="Times New Roman" panose="02020603050405020304" pitchFamily="18" charset="0"/>
                        </a:rPr>
                        <a:t>kJ/(kg</a:t>
                      </a:r>
                      <a:r>
                        <a:rPr lang="en-US" altLang="zh-CN" sz="1600" b="1" err="1">
                          <a:solidFill>
                            <a:srgbClr val="000000"/>
                          </a:solidFill>
                          <a:latin typeface="Arial" panose="020B0604020202020204" pitchFamily="34" charset="0"/>
                          <a:ea typeface="Times New Roman" panose="02020603050405020304" pitchFamily="18" charset="0"/>
                        </a:rPr>
                        <a:t>·</a:t>
                      </a:r>
                      <a:r>
                        <a:rPr lang="en-US" altLang="zh-CN" sz="1600" b="1" err="1">
                          <a:solidFill>
                            <a:srgbClr val="000000"/>
                          </a:solidFill>
                          <a:latin typeface="Times New Roman" panose="02020603050405020304" pitchFamily="18" charset="0"/>
                          <a:cs typeface="Times New Roman" panose="02020603050405020304" pitchFamily="18" charset="0"/>
                        </a:rPr>
                        <a:t>K</a:t>
                      </a:r>
                      <a:r>
                        <a:rPr lang="en-US" altLang="zh-CN" sz="1600" b="1">
                          <a:solidFill>
                            <a:srgbClr val="000000"/>
                          </a:solidFill>
                          <a:latin typeface="Times New Roman" panose="02020603050405020304" pitchFamily="18" charset="0"/>
                          <a:cs typeface="Times New Roman" panose="02020603050405020304" pitchFamily="18" charset="0"/>
                        </a:rPr>
                        <a:t>)</a:t>
                      </a:r>
                      <a:endParaRPr lang="zh-CN" altLang="en-US" sz="1600" b="1"/>
                    </a:p>
                  </a:txBody>
                  <a:tcPr marT="45723" marB="4572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en-US" altLang="zh-CN" sz="1600" b="1">
                          <a:solidFill>
                            <a:srgbClr val="000000"/>
                          </a:solidFill>
                          <a:latin typeface="Times New Roman" panose="02020603050405020304" pitchFamily="18" charset="0"/>
                          <a:cs typeface="Times New Roman" panose="02020603050405020304" pitchFamily="18" charset="0"/>
                        </a:rPr>
                        <a:t>m</a:t>
                      </a:r>
                      <a:r>
                        <a:rPr lang="en-US" altLang="zh-CN" sz="1600" b="1" baseline="30000">
                          <a:solidFill>
                            <a:srgbClr val="000000"/>
                          </a:solidFill>
                          <a:latin typeface="Times New Roman" panose="02020603050405020304" pitchFamily="18" charset="0"/>
                          <a:cs typeface="Times New Roman" panose="02020603050405020304" pitchFamily="18" charset="0"/>
                        </a:rPr>
                        <a:t>3</a:t>
                      </a:r>
                      <a:r>
                        <a:rPr lang="en-US" altLang="zh-CN" sz="1600" b="1">
                          <a:solidFill>
                            <a:srgbClr val="000000"/>
                          </a:solidFill>
                          <a:latin typeface="Times New Roman" panose="02020603050405020304" pitchFamily="18" charset="0"/>
                          <a:cs typeface="Times New Roman" panose="02020603050405020304" pitchFamily="18" charset="0"/>
                        </a:rPr>
                        <a:t>/kg</a:t>
                      </a:r>
                      <a:endParaRPr lang="zh-CN" altLang="en-US" sz="1600" b="1"/>
                    </a:p>
                  </a:txBody>
                  <a:tcPr marT="45723" marB="4572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en-US" altLang="zh-CN" sz="1600" b="1">
                          <a:solidFill>
                            <a:srgbClr val="000000"/>
                          </a:solidFill>
                          <a:latin typeface="Times New Roman" panose="02020603050405020304" pitchFamily="18" charset="0"/>
                          <a:cs typeface="Times New Roman" panose="02020603050405020304" pitchFamily="18" charset="0"/>
                        </a:rPr>
                        <a:t>kJ/kg</a:t>
                      </a:r>
                      <a:endParaRPr lang="zh-CN" altLang="en-US" sz="1600" b="1"/>
                    </a:p>
                  </a:txBody>
                  <a:tcPr marT="45723" marB="4572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en-US" altLang="zh-CN" sz="1600" b="1" err="1">
                          <a:solidFill>
                            <a:srgbClr val="000000"/>
                          </a:solidFill>
                          <a:latin typeface="Times New Roman" panose="02020603050405020304" pitchFamily="18" charset="0"/>
                          <a:cs typeface="Times New Roman" panose="02020603050405020304" pitchFamily="18" charset="0"/>
                        </a:rPr>
                        <a:t>kJ/(kg</a:t>
                      </a:r>
                      <a:r>
                        <a:rPr lang="en-US" altLang="zh-CN" sz="1600" b="1" err="1">
                          <a:solidFill>
                            <a:srgbClr val="000000"/>
                          </a:solidFill>
                          <a:latin typeface="Arial" panose="020B0604020202020204" pitchFamily="34" charset="0"/>
                          <a:ea typeface="Times New Roman" panose="02020603050405020304" pitchFamily="18" charset="0"/>
                        </a:rPr>
                        <a:t>·</a:t>
                      </a:r>
                      <a:r>
                        <a:rPr lang="en-US" altLang="zh-CN" sz="1600" b="1" err="1">
                          <a:solidFill>
                            <a:srgbClr val="000000"/>
                          </a:solidFill>
                          <a:latin typeface="Times New Roman" panose="02020603050405020304" pitchFamily="18" charset="0"/>
                          <a:cs typeface="Times New Roman" panose="02020603050405020304" pitchFamily="18" charset="0"/>
                        </a:rPr>
                        <a:t>K</a:t>
                      </a:r>
                      <a:r>
                        <a:rPr lang="en-US" altLang="zh-CN" sz="1600" b="1">
                          <a:solidFill>
                            <a:srgbClr val="000000"/>
                          </a:solidFill>
                          <a:latin typeface="Times New Roman" panose="02020603050405020304" pitchFamily="18" charset="0"/>
                          <a:cs typeface="Times New Roman" panose="02020603050405020304" pitchFamily="18" charset="0"/>
                        </a:rPr>
                        <a:t>)</a:t>
                      </a:r>
                      <a:endParaRPr lang="zh-CN" altLang="en-US" sz="1600" b="1"/>
                    </a:p>
                  </a:txBody>
                  <a:tcPr marT="45723" marB="45723">
                    <a:lnL w="12700" cap="flat" cmpd="sng">
                      <a:solidFill>
                        <a:srgbClr val="000000"/>
                      </a:solidFill>
                      <a:prstDash val="solid"/>
                      <a:headEnd type="none" w="med" len="med"/>
                      <a:tailEnd type="none" w="med" len="med"/>
                    </a:lnL>
                    <a:lnR cap="flat">
                      <a:noFill/>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63558">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spcBef>
                          <a:spcPct val="0"/>
                        </a:spcBef>
                        <a:buNone/>
                      </a:pPr>
                      <a:r>
                        <a:rPr lang="en-US" altLang="zh-CN" sz="1600" b="1">
                          <a:solidFill>
                            <a:srgbClr val="000000"/>
                          </a:solidFill>
                          <a:latin typeface="Times New Roman" panose="02020603050405020304" pitchFamily="18" charset="0"/>
                          <a:cs typeface="Times New Roman" panose="02020603050405020304" pitchFamily="18" charset="0"/>
                        </a:rPr>
                        <a:t>  0</a:t>
                      </a:r>
                      <a:endParaRPr lang="zh-CN" altLang="en-US" sz="1600" b="1">
                        <a:ea typeface="Times New Roman" panose="02020603050405020304" pitchFamily="18" charset="0"/>
                      </a:endParaRPr>
                    </a:p>
                  </a:txBody>
                  <a:tcPr marT="45723" marB="45723">
                    <a:lnL cap="flat">
                      <a:noFill/>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a:noFill/>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en-US" altLang="zh-CN" sz="1600" b="1">
                          <a:solidFill>
                            <a:srgbClr val="000000"/>
                          </a:solidFill>
                          <a:latin typeface="Times New Roman" panose="02020603050405020304" pitchFamily="18" charset="0"/>
                          <a:cs typeface="Times New Roman" panose="02020603050405020304" pitchFamily="18" charset="0"/>
                        </a:rPr>
                        <a:t>0.0010002</a:t>
                      </a:r>
                      <a:endParaRPr lang="zh-CN" altLang="en-US" sz="1600" b="1">
                        <a:ea typeface="Times New Roman" panose="02020603050405020304" pitchFamily="18" charset="0"/>
                      </a:endParaRPr>
                    </a:p>
                  </a:txBody>
                  <a:tcPr marT="45723" marB="4572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spcBef>
                          <a:spcPct val="0"/>
                        </a:spcBef>
                        <a:buNone/>
                      </a:pPr>
                      <a:r>
                        <a:rPr lang="en-US" altLang="zh-CN" sz="1600" b="1">
                          <a:solidFill>
                            <a:srgbClr val="000000"/>
                          </a:solidFill>
                          <a:latin typeface="楷体_GB2312" pitchFamily="49" charset="-122"/>
                          <a:ea typeface="楷体_GB2312" pitchFamily="49" charset="-122"/>
                        </a:rPr>
                        <a:t>-</a:t>
                      </a:r>
                      <a:r>
                        <a:rPr lang="en-US" altLang="zh-CN" sz="1600" b="1">
                          <a:solidFill>
                            <a:srgbClr val="000000"/>
                          </a:solidFill>
                          <a:latin typeface="Times New Roman" panose="02020603050405020304" pitchFamily="18" charset="0"/>
                          <a:ea typeface="楷体_GB2312" pitchFamily="49" charset="-122"/>
                        </a:rPr>
                        <a:t>0.05</a:t>
                      </a:r>
                      <a:endParaRPr lang="zh-CN" altLang="en-US" sz="1600" b="1">
                        <a:ea typeface="楷体_GB2312" pitchFamily="49" charset="-122"/>
                      </a:endParaRPr>
                    </a:p>
                  </a:txBody>
                  <a:tcPr marT="45723" marB="4572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spcBef>
                          <a:spcPct val="0"/>
                        </a:spcBef>
                        <a:buNone/>
                      </a:pPr>
                      <a:r>
                        <a:rPr lang="en-US" altLang="zh-CN" sz="1600" b="1">
                          <a:solidFill>
                            <a:srgbClr val="000000"/>
                          </a:solidFill>
                          <a:latin typeface="楷体_GB2312" pitchFamily="49" charset="-122"/>
                          <a:ea typeface="楷体_GB2312" pitchFamily="49" charset="-122"/>
                        </a:rPr>
                        <a:t>-</a:t>
                      </a:r>
                      <a:r>
                        <a:rPr lang="en-US" altLang="zh-CN" sz="1600" b="1">
                          <a:solidFill>
                            <a:srgbClr val="000000"/>
                          </a:solidFill>
                          <a:latin typeface="Times New Roman" panose="02020603050405020304" pitchFamily="18" charset="0"/>
                          <a:ea typeface="楷体_GB2312" pitchFamily="49" charset="-122"/>
                        </a:rPr>
                        <a:t>0.0002</a:t>
                      </a:r>
                      <a:endParaRPr lang="zh-CN" altLang="en-US" sz="1600" b="1">
                        <a:ea typeface="楷体_GB2312" pitchFamily="49" charset="-122"/>
                      </a:endParaRPr>
                    </a:p>
                  </a:txBody>
                  <a:tcPr marT="45723" marB="4572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rowSpan="2">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spcBef>
                          <a:spcPct val="0"/>
                        </a:spcBef>
                        <a:buNone/>
                      </a:pPr>
                      <a:r>
                        <a:rPr lang="en-US" altLang="zh-CN" sz="1600" b="1">
                          <a:solidFill>
                            <a:srgbClr val="000000"/>
                          </a:solidFill>
                          <a:latin typeface="Times New Roman" panose="02020603050405020304" pitchFamily="18" charset="0"/>
                          <a:cs typeface="Times New Roman" panose="02020603050405020304" pitchFamily="18" charset="0"/>
                        </a:rPr>
                        <a:t>0.0010002</a:t>
                      </a:r>
                      <a:endParaRPr lang="en-US" altLang="zh-CN" sz="1600" b="1">
                        <a:cs typeface="Times New Roman" panose="02020603050405020304" pitchFamily="18" charset="0"/>
                      </a:endParaRPr>
                    </a:p>
                    <a:p>
                      <a:pPr marL="0" lvl="0" indent="0" algn="ctr">
                        <a:spcBef>
                          <a:spcPct val="0"/>
                        </a:spcBef>
                        <a:buNone/>
                      </a:pPr>
                      <a:r>
                        <a:rPr lang="en-US" altLang="zh-CN" sz="1600" b="1">
                          <a:solidFill>
                            <a:srgbClr val="000000"/>
                          </a:solidFill>
                          <a:latin typeface="Times New Roman" panose="02020603050405020304" pitchFamily="18" charset="0"/>
                          <a:cs typeface="Times New Roman" panose="02020603050405020304" pitchFamily="18" charset="0"/>
                        </a:rPr>
                        <a:t>0.0010003</a:t>
                      </a:r>
                      <a:endParaRPr lang="zh-CN" altLang="en-US" sz="1600" b="1"/>
                    </a:p>
                  </a:txBody>
                  <a:tcPr marT="45723" marB="4572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a:noFill/>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en-US" altLang="zh-CN" sz="1600" b="1">
                          <a:solidFill>
                            <a:srgbClr val="000000"/>
                          </a:solidFill>
                          <a:latin typeface="楷体_GB2312" pitchFamily="49" charset="-122"/>
                          <a:ea typeface="楷体_GB2312" pitchFamily="49" charset="-122"/>
                        </a:rPr>
                        <a:t>-</a:t>
                      </a:r>
                      <a:r>
                        <a:rPr lang="en-US" altLang="zh-CN" sz="1600" b="1">
                          <a:solidFill>
                            <a:srgbClr val="000000"/>
                          </a:solidFill>
                          <a:latin typeface="Times New Roman" panose="02020603050405020304" pitchFamily="18" charset="0"/>
                          <a:ea typeface="楷体_GB2312" pitchFamily="49" charset="-122"/>
                        </a:rPr>
                        <a:t>0.05</a:t>
                      </a:r>
                      <a:endParaRPr lang="zh-CN" altLang="en-US" sz="1600" b="1">
                        <a:ea typeface="楷体_GB2312" pitchFamily="49" charset="-122"/>
                      </a:endParaRPr>
                    </a:p>
                  </a:txBody>
                  <a:tcPr marT="45723" marB="4572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a:noFill/>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spcBef>
                          <a:spcPct val="0"/>
                        </a:spcBef>
                        <a:buNone/>
                      </a:pPr>
                      <a:r>
                        <a:rPr lang="en-US" altLang="zh-CN" sz="1600" b="1">
                          <a:solidFill>
                            <a:srgbClr val="000000"/>
                          </a:solidFill>
                          <a:latin typeface="楷体_GB2312" pitchFamily="49" charset="-122"/>
                          <a:ea typeface="楷体_GB2312" pitchFamily="49" charset="-122"/>
                        </a:rPr>
                        <a:t>-</a:t>
                      </a:r>
                      <a:r>
                        <a:rPr lang="en-US" altLang="zh-CN" sz="1600" b="1">
                          <a:solidFill>
                            <a:srgbClr val="000000"/>
                          </a:solidFill>
                          <a:latin typeface="Times New Roman" panose="02020603050405020304" pitchFamily="18" charset="0"/>
                          <a:ea typeface="楷体_GB2312" pitchFamily="49" charset="-122"/>
                        </a:rPr>
                        <a:t>0.0002</a:t>
                      </a:r>
                      <a:endParaRPr lang="zh-CN" altLang="en-US" sz="1600" b="1">
                        <a:ea typeface="楷体_GB2312" pitchFamily="49" charset="-122"/>
                      </a:endParaRPr>
                    </a:p>
                  </a:txBody>
                  <a:tcPr marT="45723" marB="4572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a:noFill/>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spcBef>
                          <a:spcPct val="0"/>
                        </a:spcBef>
                        <a:buNone/>
                      </a:pPr>
                      <a:r>
                        <a:rPr lang="en-US" altLang="zh-CN" sz="1600" b="1">
                          <a:solidFill>
                            <a:srgbClr val="000000"/>
                          </a:solidFill>
                          <a:latin typeface="Times New Roman" panose="02020603050405020304" pitchFamily="18" charset="0"/>
                          <a:cs typeface="Times New Roman" panose="02020603050405020304" pitchFamily="18" charset="0"/>
                        </a:rPr>
                        <a:t>0.0010002</a:t>
                      </a:r>
                      <a:endParaRPr lang="zh-CN" altLang="en-US" sz="1600" b="1">
                        <a:ea typeface="Times New Roman" panose="02020603050405020304" pitchFamily="18" charset="0"/>
                      </a:endParaRPr>
                    </a:p>
                  </a:txBody>
                  <a:tcPr marT="45723" marB="4572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a:noFill/>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spcBef>
                          <a:spcPct val="0"/>
                        </a:spcBef>
                        <a:buNone/>
                      </a:pPr>
                      <a:r>
                        <a:rPr lang="en-US" altLang="zh-CN" sz="1600" b="1">
                          <a:solidFill>
                            <a:srgbClr val="000000"/>
                          </a:solidFill>
                          <a:latin typeface="楷体_GB2312" pitchFamily="49" charset="-122"/>
                          <a:ea typeface="楷体_GB2312" pitchFamily="49" charset="-122"/>
                        </a:rPr>
                        <a:t>-</a:t>
                      </a:r>
                      <a:r>
                        <a:rPr lang="en-US" altLang="zh-CN" sz="1600" b="1">
                          <a:solidFill>
                            <a:srgbClr val="000000"/>
                          </a:solidFill>
                          <a:latin typeface="Times New Roman" panose="02020603050405020304" pitchFamily="18" charset="0"/>
                          <a:ea typeface="楷体_GB2312" pitchFamily="49" charset="-122"/>
                        </a:rPr>
                        <a:t>0.04</a:t>
                      </a:r>
                      <a:endParaRPr lang="zh-CN" altLang="en-US" sz="1600" b="1">
                        <a:ea typeface="楷体_GB2312" pitchFamily="49" charset="-122"/>
                      </a:endParaRPr>
                    </a:p>
                  </a:txBody>
                  <a:tcPr marT="45723" marB="4572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a:noFill/>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spcBef>
                          <a:spcPct val="0"/>
                        </a:spcBef>
                        <a:buNone/>
                      </a:pPr>
                      <a:r>
                        <a:rPr lang="en-US" altLang="zh-CN" sz="1600" b="1">
                          <a:solidFill>
                            <a:srgbClr val="000000"/>
                          </a:solidFill>
                          <a:latin typeface="楷体_GB2312" pitchFamily="49" charset="-122"/>
                          <a:ea typeface="楷体_GB2312" pitchFamily="49" charset="-122"/>
                        </a:rPr>
                        <a:t>-</a:t>
                      </a:r>
                      <a:r>
                        <a:rPr lang="en-US" altLang="zh-CN" sz="1600" b="1">
                          <a:solidFill>
                            <a:srgbClr val="000000"/>
                          </a:solidFill>
                          <a:latin typeface="Times New Roman" panose="02020603050405020304" pitchFamily="18" charset="0"/>
                          <a:ea typeface="楷体_GB2312" pitchFamily="49" charset="-122"/>
                        </a:rPr>
                        <a:t>0.0002</a:t>
                      </a:r>
                      <a:endParaRPr lang="zh-CN" altLang="en-US" sz="1600" b="1">
                        <a:ea typeface="楷体_GB2312" pitchFamily="49" charset="-122"/>
                      </a:endParaRPr>
                    </a:p>
                  </a:txBody>
                  <a:tcPr marT="45723" marB="45723">
                    <a:lnL w="12700" cap="flat" cmpd="sng">
                      <a:solidFill>
                        <a:srgbClr val="000000"/>
                      </a:solidFill>
                      <a:prstDash val="solid"/>
                      <a:headEnd type="none" w="med" len="med"/>
                      <a:tailEnd type="none" w="med" len="med"/>
                    </a:lnL>
                    <a:lnR cap="flat">
                      <a:noFill/>
                    </a:lnR>
                    <a:lnT w="12700" cap="flat" cmpd="sng">
                      <a:solidFill>
                        <a:srgbClr val="000000"/>
                      </a:solidFill>
                      <a:prstDash val="solid"/>
                      <a:headEnd type="none" w="med" len="med"/>
                      <a:tailEnd type="none" w="med" len="med"/>
                    </a:lnT>
                    <a:lnB>
                      <a:noFill/>
                    </a:lnB>
                    <a:lnTlToBr>
                      <a:noFill/>
                    </a:lnTlToBr>
                    <a:lnBlToTr>
                      <a:noFill/>
                    </a:lnBlToTr>
                    <a:noFill/>
                  </a:tcPr>
                </a:tc>
              </a:tr>
              <a:tr h="335300">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en-US" altLang="zh-CN" sz="1600" b="1">
                          <a:solidFill>
                            <a:srgbClr val="000000"/>
                          </a:solidFill>
                          <a:latin typeface="Times New Roman" panose="02020603050405020304" pitchFamily="18" charset="0"/>
                          <a:cs typeface="Times New Roman" panose="02020603050405020304" pitchFamily="18" charset="0"/>
                        </a:rPr>
                        <a:t>10</a:t>
                      </a:r>
                      <a:endParaRPr lang="zh-CN" altLang="en-US" sz="1600" b="1"/>
                    </a:p>
                  </a:txBody>
                  <a:tcPr marT="45723" marB="45723">
                    <a:lnL cap="flat">
                      <a:noFill/>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en-US" altLang="zh-CN" sz="1600" b="1">
                          <a:solidFill>
                            <a:srgbClr val="000000"/>
                          </a:solidFill>
                          <a:latin typeface="Times New Roman" panose="02020603050405020304" pitchFamily="18" charset="0"/>
                          <a:cs typeface="Times New Roman" panose="02020603050405020304" pitchFamily="18" charset="0"/>
                        </a:rPr>
                        <a:t>130.598</a:t>
                      </a:r>
                      <a:endParaRPr lang="zh-CN" altLang="en-US" sz="1600" b="1"/>
                    </a:p>
                  </a:txBody>
                  <a:tcPr marT="45723" marB="4572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a:noFill/>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en-US" altLang="zh-CN" sz="1600" b="1">
                          <a:solidFill>
                            <a:srgbClr val="000000"/>
                          </a:solidFill>
                          <a:latin typeface="Times New Roman" panose="02020603050405020304" pitchFamily="18" charset="0"/>
                          <a:cs typeface="Times New Roman" panose="02020603050405020304" pitchFamily="18" charset="0"/>
                        </a:rPr>
                        <a:t>2519.0</a:t>
                      </a:r>
                      <a:endParaRPr lang="zh-CN" altLang="en-US" sz="1600" b="1"/>
                    </a:p>
                  </a:txBody>
                  <a:tcPr marT="45723" marB="4572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a:noFill/>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en-US" altLang="zh-CN" sz="1600" b="1">
                          <a:solidFill>
                            <a:srgbClr val="000000"/>
                          </a:solidFill>
                          <a:latin typeface="Times New Roman" panose="02020603050405020304" pitchFamily="18" charset="0"/>
                          <a:cs typeface="Times New Roman" panose="02020603050405020304" pitchFamily="18" charset="0"/>
                        </a:rPr>
                        <a:t>8.9938</a:t>
                      </a:r>
                      <a:endParaRPr lang="zh-CN" altLang="en-US" sz="1600" b="1"/>
                    </a:p>
                  </a:txBody>
                  <a:tcPr marT="45723" marB="4572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a:noFill/>
                    </a:lnB>
                    <a:lnTlToBr>
                      <a:noFill/>
                    </a:lnTlToBr>
                    <a:lnBlToTr>
                      <a:noFill/>
                    </a:lnBlToTr>
                    <a:noFill/>
                  </a:tcPr>
                </a:tc>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en-US" altLang="zh-CN" sz="1600" b="1">
                          <a:solidFill>
                            <a:srgbClr val="000000"/>
                          </a:solidFill>
                          <a:latin typeface="Times New Roman" panose="02020603050405020304" pitchFamily="18" charset="0"/>
                          <a:cs typeface="Times New Roman" panose="02020603050405020304" pitchFamily="18" charset="0"/>
                        </a:rPr>
                        <a:t>42.01</a:t>
                      </a:r>
                      <a:endParaRPr lang="zh-CN" altLang="en-US" sz="1600" b="1"/>
                    </a:p>
                  </a:txBody>
                  <a:tcPr marT="45723" marB="4572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en-US" altLang="zh-CN" sz="1600" b="1">
                          <a:solidFill>
                            <a:srgbClr val="000000"/>
                          </a:solidFill>
                          <a:latin typeface="Times New Roman" panose="02020603050405020304" pitchFamily="18" charset="0"/>
                          <a:cs typeface="Times New Roman" panose="02020603050405020304" pitchFamily="18" charset="0"/>
                        </a:rPr>
                        <a:t>0.1510</a:t>
                      </a:r>
                      <a:endParaRPr lang="zh-CN" altLang="en-US" sz="1600" b="1"/>
                    </a:p>
                  </a:txBody>
                  <a:tcPr marT="45723" marB="4572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en-US" altLang="zh-CN" sz="1600" b="1">
                          <a:solidFill>
                            <a:srgbClr val="000000"/>
                          </a:solidFill>
                          <a:latin typeface="Times New Roman" panose="02020603050405020304" pitchFamily="18" charset="0"/>
                          <a:cs typeface="Times New Roman" panose="02020603050405020304" pitchFamily="18" charset="0"/>
                        </a:rPr>
                        <a:t>0.0010003</a:t>
                      </a:r>
                      <a:endParaRPr lang="zh-CN" altLang="en-US" sz="1600" b="1"/>
                    </a:p>
                  </a:txBody>
                  <a:tcPr marT="45723" marB="4572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en-US" altLang="zh-CN" sz="1600" b="1">
                          <a:solidFill>
                            <a:srgbClr val="000000"/>
                          </a:solidFill>
                          <a:latin typeface="Times New Roman" panose="02020603050405020304" pitchFamily="18" charset="0"/>
                          <a:cs typeface="Times New Roman" panose="02020603050405020304" pitchFamily="18" charset="0"/>
                        </a:rPr>
                        <a:t>42.01</a:t>
                      </a:r>
                      <a:endParaRPr lang="zh-CN" altLang="en-US" sz="1600" b="1"/>
                    </a:p>
                  </a:txBody>
                  <a:tcPr marT="45723" marB="4572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en-US" altLang="zh-CN" sz="1600" b="1">
                          <a:solidFill>
                            <a:srgbClr val="000000"/>
                          </a:solidFill>
                          <a:latin typeface="Times New Roman" panose="02020603050405020304" pitchFamily="18" charset="0"/>
                          <a:cs typeface="Times New Roman" panose="02020603050405020304" pitchFamily="18" charset="0"/>
                        </a:rPr>
                        <a:t>0.1510</a:t>
                      </a:r>
                      <a:endParaRPr lang="zh-CN" altLang="en-US" sz="1600" b="1"/>
                    </a:p>
                  </a:txBody>
                  <a:tcPr marT="45723" marB="45723">
                    <a:lnL w="12700" cap="flat" cmpd="sng">
                      <a:solidFill>
                        <a:srgbClr val="000000"/>
                      </a:solidFill>
                      <a:prstDash val="solid"/>
                      <a:headEnd type="none" w="med" len="med"/>
                      <a:tailEnd type="none" w="med" len="med"/>
                    </a:lnL>
                    <a:lnR cap="flat">
                      <a:noFill/>
                    </a:lnR>
                    <a:lnT>
                      <a:noFill/>
                    </a:lnT>
                    <a:lnB>
                      <a:noFill/>
                    </a:lnB>
                    <a:lnTlToBr>
                      <a:noFill/>
                    </a:lnTlToBr>
                    <a:lnBlToTr>
                      <a:noFill/>
                    </a:lnBlToTr>
                    <a:noFill/>
                  </a:tcPr>
                </a:tc>
              </a:tr>
              <a:tr h="335300">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en-US" altLang="zh-CN" sz="1600" b="1">
                          <a:solidFill>
                            <a:srgbClr val="000000"/>
                          </a:solidFill>
                          <a:latin typeface="Times New Roman" panose="02020603050405020304" pitchFamily="18" charset="0"/>
                          <a:cs typeface="Times New Roman" panose="02020603050405020304" pitchFamily="18" charset="0"/>
                        </a:rPr>
                        <a:t>20</a:t>
                      </a:r>
                      <a:endParaRPr lang="zh-CN" altLang="en-US" sz="1600" b="1"/>
                    </a:p>
                  </a:txBody>
                  <a:tcPr marT="45723" marB="45723">
                    <a:lnL cap="flat">
                      <a:noFill/>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en-US" altLang="zh-CN" sz="1600" b="1">
                          <a:solidFill>
                            <a:srgbClr val="000000"/>
                          </a:solidFill>
                          <a:latin typeface="Times New Roman" panose="02020603050405020304" pitchFamily="18" charset="0"/>
                          <a:cs typeface="Times New Roman" panose="02020603050405020304" pitchFamily="18" charset="0"/>
                        </a:rPr>
                        <a:t>135.226</a:t>
                      </a:r>
                      <a:endParaRPr lang="zh-CN" altLang="en-US" sz="1600" b="1"/>
                    </a:p>
                  </a:txBody>
                  <a:tcPr marT="45723" marB="4572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en-US" altLang="zh-CN" sz="1600" b="1">
                          <a:solidFill>
                            <a:srgbClr val="000000"/>
                          </a:solidFill>
                          <a:latin typeface="Times New Roman" panose="02020603050405020304" pitchFamily="18" charset="0"/>
                          <a:cs typeface="Times New Roman" panose="02020603050405020304" pitchFamily="18" charset="0"/>
                        </a:rPr>
                        <a:t>2537.7</a:t>
                      </a:r>
                      <a:endParaRPr lang="zh-CN" altLang="en-US" sz="1600" b="1"/>
                    </a:p>
                  </a:txBody>
                  <a:tcPr marT="45723" marB="4572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en-US" altLang="zh-CN" sz="1600" b="1">
                          <a:solidFill>
                            <a:srgbClr val="000000"/>
                          </a:solidFill>
                          <a:latin typeface="Times New Roman" panose="02020603050405020304" pitchFamily="18" charset="0"/>
                          <a:cs typeface="Times New Roman" panose="02020603050405020304" pitchFamily="18" charset="0"/>
                        </a:rPr>
                        <a:t>9.0588</a:t>
                      </a:r>
                      <a:endParaRPr lang="zh-CN" altLang="en-US" sz="1600" b="1"/>
                    </a:p>
                  </a:txBody>
                  <a:tcPr marT="45723" marB="4572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en-US" altLang="zh-CN" sz="1600" b="1">
                          <a:solidFill>
                            <a:srgbClr val="000000"/>
                          </a:solidFill>
                          <a:latin typeface="Times New Roman" panose="02020603050405020304" pitchFamily="18" charset="0"/>
                          <a:cs typeface="Times New Roman" panose="02020603050405020304" pitchFamily="18" charset="0"/>
                        </a:rPr>
                        <a:t>0.0010018</a:t>
                      </a:r>
                      <a:endParaRPr lang="zh-CN" altLang="en-US" sz="1600" b="1"/>
                    </a:p>
                  </a:txBody>
                  <a:tcPr marT="45723" marB="4572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a:noFill/>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en-US" altLang="zh-CN" sz="1600" b="1">
                          <a:solidFill>
                            <a:srgbClr val="000000"/>
                          </a:solidFill>
                          <a:latin typeface="Times New Roman" panose="02020603050405020304" pitchFamily="18" charset="0"/>
                          <a:cs typeface="Times New Roman" panose="02020603050405020304" pitchFamily="18" charset="0"/>
                        </a:rPr>
                        <a:t>83.87</a:t>
                      </a:r>
                      <a:endParaRPr lang="zh-CN" altLang="en-US" sz="1600" b="1"/>
                    </a:p>
                  </a:txBody>
                  <a:tcPr marT="45723" marB="4572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a:noFill/>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en-US" altLang="zh-CN" sz="1600" b="1">
                          <a:solidFill>
                            <a:srgbClr val="000000"/>
                          </a:solidFill>
                          <a:latin typeface="Times New Roman" panose="02020603050405020304" pitchFamily="18" charset="0"/>
                          <a:cs typeface="Times New Roman" panose="02020603050405020304" pitchFamily="18" charset="0"/>
                        </a:rPr>
                        <a:t>0.2963</a:t>
                      </a:r>
                      <a:endParaRPr lang="zh-CN" altLang="en-US" sz="1600" b="1"/>
                    </a:p>
                  </a:txBody>
                  <a:tcPr marT="45723" marB="4572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a:noFill/>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en-US" altLang="zh-CN" sz="1600" b="1">
                          <a:solidFill>
                            <a:srgbClr val="000000"/>
                          </a:solidFill>
                          <a:latin typeface="Times New Roman" panose="02020603050405020304" pitchFamily="18" charset="0"/>
                          <a:cs typeface="Times New Roman" panose="02020603050405020304" pitchFamily="18" charset="0"/>
                        </a:rPr>
                        <a:t>0.0010018</a:t>
                      </a:r>
                      <a:endParaRPr lang="zh-CN" altLang="en-US" sz="1600" b="1"/>
                    </a:p>
                  </a:txBody>
                  <a:tcPr marT="45723" marB="4572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en-US" altLang="zh-CN" sz="1600" b="1">
                          <a:solidFill>
                            <a:srgbClr val="000000"/>
                          </a:solidFill>
                          <a:latin typeface="Times New Roman" panose="02020603050405020304" pitchFamily="18" charset="0"/>
                          <a:cs typeface="Times New Roman" panose="02020603050405020304" pitchFamily="18" charset="0"/>
                        </a:rPr>
                        <a:t>83.87</a:t>
                      </a:r>
                      <a:endParaRPr lang="zh-CN" altLang="en-US" sz="1600" b="1"/>
                    </a:p>
                  </a:txBody>
                  <a:tcPr marT="45723" marB="4572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en-US" altLang="zh-CN" sz="1600" b="1">
                          <a:solidFill>
                            <a:srgbClr val="000000"/>
                          </a:solidFill>
                          <a:latin typeface="Times New Roman" panose="02020603050405020304" pitchFamily="18" charset="0"/>
                          <a:cs typeface="Times New Roman" panose="02020603050405020304" pitchFamily="18" charset="0"/>
                        </a:rPr>
                        <a:t>0.2963</a:t>
                      </a:r>
                      <a:endParaRPr lang="zh-CN" altLang="en-US" sz="1600" b="1"/>
                    </a:p>
                  </a:txBody>
                  <a:tcPr marT="45723" marB="45723">
                    <a:lnL w="12700" cap="flat" cmpd="sng">
                      <a:solidFill>
                        <a:srgbClr val="000000"/>
                      </a:solidFill>
                      <a:prstDash val="solid"/>
                      <a:headEnd type="none" w="med" len="med"/>
                      <a:tailEnd type="none" w="med" len="med"/>
                    </a:lnL>
                    <a:lnR cap="flat">
                      <a:noFill/>
                    </a:lnR>
                    <a:lnT>
                      <a:noFill/>
                    </a:lnT>
                    <a:lnB>
                      <a:noFill/>
                    </a:lnB>
                    <a:lnTlToBr>
                      <a:noFill/>
                    </a:lnTlToBr>
                    <a:lnBlToTr>
                      <a:noFill/>
                    </a:lnBlToTr>
                    <a:noFill/>
                  </a:tcPr>
                </a:tc>
              </a:tr>
              <a:tr h="335300">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en-US" altLang="zh-CN" sz="1600" b="1">
                          <a:solidFill>
                            <a:srgbClr val="000000"/>
                          </a:solidFill>
                          <a:latin typeface="Times New Roman" panose="02020603050405020304" pitchFamily="18" charset="0"/>
                          <a:cs typeface="Times New Roman" panose="02020603050405020304" pitchFamily="18" charset="0"/>
                        </a:rPr>
                        <a:t>40</a:t>
                      </a:r>
                      <a:endParaRPr lang="zh-CN" altLang="en-US" sz="1600" b="1"/>
                    </a:p>
                  </a:txBody>
                  <a:tcPr marT="45723" marB="45723">
                    <a:lnL cap="flat">
                      <a:noFill/>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en-US" altLang="zh-CN" sz="1600" b="1">
                          <a:solidFill>
                            <a:srgbClr val="000000"/>
                          </a:solidFill>
                          <a:latin typeface="Times New Roman" panose="02020603050405020304" pitchFamily="18" charset="0"/>
                          <a:cs typeface="Times New Roman" panose="02020603050405020304" pitchFamily="18" charset="0"/>
                        </a:rPr>
                        <a:t>144.475</a:t>
                      </a:r>
                      <a:endParaRPr lang="zh-CN" altLang="en-US" sz="1600" b="1"/>
                    </a:p>
                  </a:txBody>
                  <a:tcPr marT="45723" marB="4572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en-US" altLang="zh-CN" sz="1600" b="1">
                          <a:solidFill>
                            <a:srgbClr val="000000"/>
                          </a:solidFill>
                          <a:latin typeface="Times New Roman" panose="02020603050405020304" pitchFamily="18" charset="0"/>
                          <a:cs typeface="Times New Roman" panose="02020603050405020304" pitchFamily="18" charset="0"/>
                        </a:rPr>
                        <a:t>2575.2</a:t>
                      </a:r>
                      <a:endParaRPr lang="zh-CN" altLang="en-US" sz="1600" b="1"/>
                    </a:p>
                  </a:txBody>
                  <a:tcPr marT="45723" marB="4572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en-US" altLang="zh-CN" sz="1600" b="1">
                          <a:solidFill>
                            <a:srgbClr val="000000"/>
                          </a:solidFill>
                          <a:latin typeface="Times New Roman" panose="02020603050405020304" pitchFamily="18" charset="0"/>
                          <a:cs typeface="Times New Roman" panose="02020603050405020304" pitchFamily="18" charset="0"/>
                        </a:rPr>
                        <a:t>9.1823</a:t>
                      </a:r>
                      <a:endParaRPr lang="zh-CN" altLang="en-US" sz="1600" b="1"/>
                    </a:p>
                  </a:txBody>
                  <a:tcPr marT="45723" marB="4572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en-US" altLang="zh-CN" sz="1600" b="1">
                          <a:solidFill>
                            <a:srgbClr val="000000"/>
                          </a:solidFill>
                          <a:latin typeface="Times New Roman" panose="02020603050405020304" pitchFamily="18" charset="0"/>
                          <a:cs typeface="Times New Roman" panose="02020603050405020304" pitchFamily="18" charset="0"/>
                        </a:rPr>
                        <a:t>28.854</a:t>
                      </a:r>
                      <a:endParaRPr lang="zh-CN" altLang="en-US" sz="1600" b="1"/>
                    </a:p>
                  </a:txBody>
                  <a:tcPr marT="45723" marB="4572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a:noFill/>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en-US" altLang="zh-CN" sz="1600" b="1">
                          <a:solidFill>
                            <a:srgbClr val="000000"/>
                          </a:solidFill>
                          <a:latin typeface="Times New Roman" panose="02020603050405020304" pitchFamily="18" charset="0"/>
                          <a:cs typeface="Times New Roman" panose="02020603050405020304" pitchFamily="18" charset="0"/>
                        </a:rPr>
                        <a:t>2574.0</a:t>
                      </a:r>
                      <a:endParaRPr lang="zh-CN" altLang="en-US" sz="1600" b="1"/>
                    </a:p>
                  </a:txBody>
                  <a:tcPr marT="45723" marB="4572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a:noFill/>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en-US" altLang="zh-CN" sz="1600" b="1">
                          <a:solidFill>
                            <a:srgbClr val="000000"/>
                          </a:solidFill>
                          <a:latin typeface="Times New Roman" panose="02020603050405020304" pitchFamily="18" charset="0"/>
                          <a:cs typeface="Times New Roman" panose="02020603050405020304" pitchFamily="18" charset="0"/>
                        </a:rPr>
                        <a:t>8.4366</a:t>
                      </a:r>
                      <a:endParaRPr lang="zh-CN" altLang="en-US" sz="1600" b="1"/>
                    </a:p>
                  </a:txBody>
                  <a:tcPr marT="45723" marB="4572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a:noFill/>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en-US" altLang="zh-CN" sz="1600" b="1">
                          <a:solidFill>
                            <a:srgbClr val="000000"/>
                          </a:solidFill>
                          <a:latin typeface="Times New Roman" panose="02020603050405020304" pitchFamily="18" charset="0"/>
                          <a:cs typeface="Times New Roman" panose="02020603050405020304" pitchFamily="18" charset="0"/>
                        </a:rPr>
                        <a:t>0.001009</a:t>
                      </a:r>
                      <a:endParaRPr lang="zh-CN" altLang="en-US" sz="1600" b="1"/>
                    </a:p>
                  </a:txBody>
                  <a:tcPr marT="45723" marB="4572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a:noFill/>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en-US" altLang="zh-CN" sz="1600" b="1">
                          <a:solidFill>
                            <a:srgbClr val="000000"/>
                          </a:solidFill>
                          <a:latin typeface="Times New Roman" panose="02020603050405020304" pitchFamily="18" charset="0"/>
                          <a:cs typeface="Times New Roman" panose="02020603050405020304" pitchFamily="18" charset="0"/>
                        </a:rPr>
                        <a:t>167.51</a:t>
                      </a:r>
                      <a:endParaRPr lang="zh-CN" altLang="en-US" sz="1600" b="1"/>
                    </a:p>
                  </a:txBody>
                  <a:tcPr marT="45723" marB="4572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a:noFill/>
                    </a:lnT>
                    <a:lnB w="12700" cap="flat" cmpd="sng">
                      <a:solidFill>
                        <a:srgbClr val="000000"/>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en-US" altLang="zh-CN" sz="1600" b="1">
                          <a:solidFill>
                            <a:srgbClr val="000000"/>
                          </a:solidFill>
                          <a:latin typeface="Times New Roman" panose="02020603050405020304" pitchFamily="18" charset="0"/>
                          <a:cs typeface="Times New Roman" panose="02020603050405020304" pitchFamily="18" charset="0"/>
                        </a:rPr>
                        <a:t>0.5723</a:t>
                      </a:r>
                      <a:endParaRPr lang="zh-CN" altLang="en-US" sz="1600" b="1"/>
                    </a:p>
                  </a:txBody>
                  <a:tcPr marT="45723" marB="45723">
                    <a:lnL w="12700" cap="flat" cmpd="sng">
                      <a:solidFill>
                        <a:srgbClr val="000000"/>
                      </a:solidFill>
                      <a:prstDash val="solid"/>
                      <a:headEnd type="none" w="med" len="med"/>
                      <a:tailEnd type="none" w="med" len="med"/>
                    </a:lnL>
                    <a:lnR cap="flat">
                      <a:noFill/>
                    </a:lnR>
                    <a:lnT>
                      <a:noFill/>
                    </a:lnT>
                    <a:lnB w="12700" cap="flat" cmpd="sng">
                      <a:solidFill>
                        <a:srgbClr val="000000"/>
                      </a:solidFill>
                      <a:prstDash val="solid"/>
                      <a:headEnd type="none" w="med" len="med"/>
                      <a:tailEnd type="none" w="med" len="med"/>
                    </a:lnB>
                    <a:lnTlToBr>
                      <a:noFill/>
                    </a:lnTlToBr>
                    <a:lnBlToTr>
                      <a:noFill/>
                    </a:lnBlToTr>
                    <a:noFill/>
                  </a:tcPr>
                </a:tc>
              </a:tr>
              <a:tr h="335300">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en-US" altLang="zh-CN" sz="1600" b="1">
                          <a:solidFill>
                            <a:srgbClr val="000000"/>
                          </a:solidFill>
                          <a:latin typeface="Times New Roman" panose="02020603050405020304" pitchFamily="18" charset="0"/>
                          <a:cs typeface="Times New Roman" panose="02020603050405020304" pitchFamily="18" charset="0"/>
                        </a:rPr>
                        <a:t>50</a:t>
                      </a:r>
                      <a:endParaRPr lang="zh-CN" altLang="en-US" sz="1600" b="1"/>
                    </a:p>
                  </a:txBody>
                  <a:tcPr marT="45723" marB="45723">
                    <a:lnL cap="flat">
                      <a:noFill/>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en-US" altLang="zh-CN" sz="1600" b="1">
                          <a:solidFill>
                            <a:srgbClr val="000000"/>
                          </a:solidFill>
                          <a:latin typeface="Times New Roman" panose="02020603050405020304" pitchFamily="18" charset="0"/>
                          <a:cs typeface="Times New Roman" panose="02020603050405020304" pitchFamily="18" charset="0"/>
                        </a:rPr>
                        <a:t>149.096</a:t>
                      </a:r>
                      <a:endParaRPr lang="zh-CN" altLang="en-US" sz="1600" b="1"/>
                    </a:p>
                  </a:txBody>
                  <a:tcPr marT="45723" marB="4572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en-US" altLang="zh-CN" sz="1600" b="1">
                          <a:solidFill>
                            <a:srgbClr val="000000"/>
                          </a:solidFill>
                          <a:latin typeface="Times New Roman" panose="02020603050405020304" pitchFamily="18" charset="0"/>
                          <a:cs typeface="Times New Roman" panose="02020603050405020304" pitchFamily="18" charset="0"/>
                        </a:rPr>
                        <a:t>2593.9</a:t>
                      </a:r>
                      <a:endParaRPr lang="zh-CN" altLang="en-US" sz="1600" b="1"/>
                    </a:p>
                  </a:txBody>
                  <a:tcPr marT="45723" marB="4572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en-US" altLang="zh-CN" sz="1600" b="1">
                          <a:solidFill>
                            <a:srgbClr val="000000"/>
                          </a:solidFill>
                          <a:latin typeface="Times New Roman" panose="02020603050405020304" pitchFamily="18" charset="0"/>
                          <a:cs typeface="Times New Roman" panose="02020603050405020304" pitchFamily="18" charset="0"/>
                        </a:rPr>
                        <a:t>9.2412</a:t>
                      </a:r>
                      <a:endParaRPr lang="zh-CN" altLang="en-US" sz="1600" b="1"/>
                    </a:p>
                  </a:txBody>
                  <a:tcPr marT="45723" marB="4572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en-US" altLang="zh-CN" sz="1600" b="1">
                          <a:solidFill>
                            <a:srgbClr val="000000"/>
                          </a:solidFill>
                          <a:latin typeface="Times New Roman" panose="02020603050405020304" pitchFamily="18" charset="0"/>
                          <a:cs typeface="Times New Roman" panose="02020603050405020304" pitchFamily="18" charset="0"/>
                        </a:rPr>
                        <a:t>29.783</a:t>
                      </a:r>
                      <a:endParaRPr lang="zh-CN" altLang="en-US" sz="1600" b="1"/>
                    </a:p>
                  </a:txBody>
                  <a:tcPr marT="45723" marB="4572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en-US" altLang="zh-CN" sz="1600" b="1">
                          <a:solidFill>
                            <a:srgbClr val="000000"/>
                          </a:solidFill>
                          <a:latin typeface="Times New Roman" panose="02020603050405020304" pitchFamily="18" charset="0"/>
                          <a:cs typeface="Times New Roman" panose="02020603050405020304" pitchFamily="18" charset="0"/>
                        </a:rPr>
                        <a:t>2592.9</a:t>
                      </a:r>
                      <a:endParaRPr lang="zh-CN" altLang="en-US" sz="1600" b="1"/>
                    </a:p>
                  </a:txBody>
                  <a:tcPr marT="45723" marB="4572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en-US" altLang="zh-CN" sz="1600" b="1">
                          <a:solidFill>
                            <a:srgbClr val="000000"/>
                          </a:solidFill>
                          <a:latin typeface="Times New Roman" panose="02020603050405020304" pitchFamily="18" charset="0"/>
                          <a:cs typeface="Times New Roman" panose="02020603050405020304" pitchFamily="18" charset="0"/>
                        </a:rPr>
                        <a:t>8.4961</a:t>
                      </a:r>
                      <a:endParaRPr lang="zh-CN" altLang="en-US" sz="1600" b="1"/>
                    </a:p>
                  </a:txBody>
                  <a:tcPr marT="45723" marB="4572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en-US" altLang="zh-CN" sz="1600" b="1">
                          <a:solidFill>
                            <a:srgbClr val="000000"/>
                          </a:solidFill>
                          <a:latin typeface="Times New Roman" panose="02020603050405020304" pitchFamily="18" charset="0"/>
                          <a:cs typeface="Times New Roman" panose="02020603050405020304" pitchFamily="18" charset="0"/>
                        </a:rPr>
                        <a:t>14.869</a:t>
                      </a:r>
                      <a:endParaRPr lang="zh-CN" altLang="en-US" sz="1600" b="1"/>
                    </a:p>
                  </a:txBody>
                  <a:tcPr marT="45723" marB="4572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a:noFill/>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en-US" altLang="zh-CN" sz="1600" b="1">
                          <a:solidFill>
                            <a:srgbClr val="000000"/>
                          </a:solidFill>
                          <a:latin typeface="Times New Roman" panose="02020603050405020304" pitchFamily="18" charset="0"/>
                          <a:cs typeface="Times New Roman" panose="02020603050405020304" pitchFamily="18" charset="0"/>
                        </a:rPr>
                        <a:t>2591.8</a:t>
                      </a:r>
                      <a:endParaRPr lang="zh-CN" altLang="en-US" sz="1600" b="1"/>
                    </a:p>
                  </a:txBody>
                  <a:tcPr marT="45723" marB="4572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a:noFill/>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en-US" altLang="zh-CN" sz="1600" b="1">
                          <a:solidFill>
                            <a:srgbClr val="000000"/>
                          </a:solidFill>
                          <a:latin typeface="Times New Roman" panose="02020603050405020304" pitchFamily="18" charset="0"/>
                          <a:cs typeface="Times New Roman" panose="02020603050405020304" pitchFamily="18" charset="0"/>
                        </a:rPr>
                        <a:t>8.1732</a:t>
                      </a:r>
                      <a:endParaRPr lang="zh-CN" altLang="en-US" sz="1600" b="1"/>
                    </a:p>
                  </a:txBody>
                  <a:tcPr marT="45723" marB="45723">
                    <a:lnL w="12700" cap="flat" cmpd="sng">
                      <a:solidFill>
                        <a:srgbClr val="000000"/>
                      </a:solidFill>
                      <a:prstDash val="solid"/>
                      <a:headEnd type="none" w="med" len="med"/>
                      <a:tailEnd type="none" w="med" len="med"/>
                    </a:lnL>
                    <a:lnR cap="flat">
                      <a:noFill/>
                    </a:lnR>
                    <a:lnT w="12700" cap="flat" cmpd="sng">
                      <a:solidFill>
                        <a:srgbClr val="000000"/>
                      </a:solidFill>
                      <a:prstDash val="solid"/>
                      <a:headEnd type="none" w="med" len="med"/>
                      <a:tailEnd type="none" w="med" len="med"/>
                    </a:lnT>
                    <a:lnB>
                      <a:noFill/>
                    </a:lnB>
                    <a:lnTlToBr>
                      <a:noFill/>
                    </a:lnTlToBr>
                    <a:lnBlToTr>
                      <a:noFill/>
                    </a:lnBlToTr>
                    <a:noFill/>
                  </a:tcPr>
                </a:tc>
              </a:tr>
              <a:tr h="335300">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en-US" altLang="zh-CN" sz="1600" b="1">
                          <a:solidFill>
                            <a:srgbClr val="000000"/>
                          </a:solidFill>
                          <a:latin typeface="Times New Roman" panose="02020603050405020304" pitchFamily="18" charset="0"/>
                          <a:cs typeface="Times New Roman" panose="02020603050405020304" pitchFamily="18" charset="0"/>
                        </a:rPr>
                        <a:t>60</a:t>
                      </a:r>
                      <a:endParaRPr lang="zh-CN" altLang="en-US" sz="1600" b="1"/>
                    </a:p>
                  </a:txBody>
                  <a:tcPr marT="45723" marB="45723">
                    <a:lnL cap="flat">
                      <a:noFill/>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en-US" altLang="zh-CN" sz="1600" b="1">
                          <a:solidFill>
                            <a:srgbClr val="000000"/>
                          </a:solidFill>
                          <a:latin typeface="Times New Roman" panose="02020603050405020304" pitchFamily="18" charset="0"/>
                          <a:cs typeface="Times New Roman" panose="02020603050405020304" pitchFamily="18" charset="0"/>
                        </a:rPr>
                        <a:t>153.717</a:t>
                      </a:r>
                      <a:endParaRPr lang="zh-CN" altLang="en-US" sz="1600" b="1"/>
                    </a:p>
                  </a:txBody>
                  <a:tcPr marT="45723" marB="4572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en-US" altLang="zh-CN" sz="1600" b="1">
                          <a:solidFill>
                            <a:srgbClr val="000000"/>
                          </a:solidFill>
                          <a:latin typeface="Times New Roman" panose="02020603050405020304" pitchFamily="18" charset="0"/>
                          <a:cs typeface="Times New Roman" panose="02020603050405020304" pitchFamily="18" charset="0"/>
                        </a:rPr>
                        <a:t>2612.7</a:t>
                      </a:r>
                      <a:endParaRPr lang="zh-CN" altLang="en-US" sz="1600" b="1"/>
                    </a:p>
                  </a:txBody>
                  <a:tcPr marT="45723" marB="4572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en-US" altLang="zh-CN" sz="1600" b="1">
                          <a:solidFill>
                            <a:srgbClr val="000000"/>
                          </a:solidFill>
                          <a:latin typeface="Times New Roman" panose="02020603050405020304" pitchFamily="18" charset="0"/>
                          <a:cs typeface="Times New Roman" panose="02020603050405020304" pitchFamily="18" charset="0"/>
                        </a:rPr>
                        <a:t>9.2984</a:t>
                      </a:r>
                      <a:endParaRPr lang="zh-CN" altLang="en-US" sz="1600" b="1"/>
                    </a:p>
                  </a:txBody>
                  <a:tcPr marT="45723" marB="4572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en-US" altLang="zh-CN" sz="1600" b="1">
                          <a:solidFill>
                            <a:srgbClr val="000000"/>
                          </a:solidFill>
                          <a:latin typeface="Times New Roman" panose="02020603050405020304" pitchFamily="18" charset="0"/>
                          <a:cs typeface="Times New Roman" panose="02020603050405020304" pitchFamily="18" charset="0"/>
                        </a:rPr>
                        <a:t>30.712</a:t>
                      </a:r>
                      <a:endParaRPr lang="zh-CN" altLang="en-US" sz="1600" b="1"/>
                    </a:p>
                  </a:txBody>
                  <a:tcPr marT="45723" marB="4572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en-US" altLang="zh-CN" sz="1600" b="1">
                          <a:solidFill>
                            <a:srgbClr val="000000"/>
                          </a:solidFill>
                          <a:latin typeface="Times New Roman" panose="02020603050405020304" pitchFamily="18" charset="0"/>
                          <a:cs typeface="Times New Roman" panose="02020603050405020304" pitchFamily="18" charset="0"/>
                        </a:rPr>
                        <a:t>2611.8</a:t>
                      </a:r>
                      <a:endParaRPr lang="zh-CN" altLang="en-US" sz="1600" b="1"/>
                    </a:p>
                  </a:txBody>
                  <a:tcPr marT="45723" marB="4572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en-US" altLang="zh-CN" sz="1600" b="1">
                          <a:solidFill>
                            <a:srgbClr val="000000"/>
                          </a:solidFill>
                          <a:latin typeface="Times New Roman" panose="02020603050405020304" pitchFamily="18" charset="0"/>
                          <a:cs typeface="Times New Roman" panose="02020603050405020304" pitchFamily="18" charset="0"/>
                        </a:rPr>
                        <a:t>8.5537</a:t>
                      </a:r>
                      <a:endParaRPr lang="zh-CN" altLang="en-US" sz="1600" b="1"/>
                    </a:p>
                  </a:txBody>
                  <a:tcPr marT="45723" marB="4572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en-US" altLang="zh-CN" sz="1600" b="1">
                          <a:solidFill>
                            <a:srgbClr val="000000"/>
                          </a:solidFill>
                          <a:latin typeface="Times New Roman" panose="02020603050405020304" pitchFamily="18" charset="0"/>
                          <a:cs typeface="Times New Roman" panose="02020603050405020304" pitchFamily="18" charset="0"/>
                        </a:rPr>
                        <a:t>15.336</a:t>
                      </a:r>
                      <a:endParaRPr lang="zh-CN" altLang="en-US" sz="1600" b="1"/>
                    </a:p>
                  </a:txBody>
                  <a:tcPr marT="45723" marB="4572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en-US" altLang="zh-CN" sz="1600" b="1">
                          <a:solidFill>
                            <a:srgbClr val="000000"/>
                          </a:solidFill>
                          <a:latin typeface="Times New Roman" panose="02020603050405020304" pitchFamily="18" charset="0"/>
                          <a:cs typeface="Times New Roman" panose="02020603050405020304" pitchFamily="18" charset="0"/>
                        </a:rPr>
                        <a:t>2610.8</a:t>
                      </a:r>
                      <a:endParaRPr lang="zh-CN" altLang="en-US" sz="1600" b="1"/>
                    </a:p>
                  </a:txBody>
                  <a:tcPr marT="45723" marB="4572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en-US" altLang="zh-CN" sz="1600" b="1">
                          <a:solidFill>
                            <a:srgbClr val="000000"/>
                          </a:solidFill>
                          <a:latin typeface="Times New Roman" panose="02020603050405020304" pitchFamily="18" charset="0"/>
                          <a:cs typeface="Times New Roman" panose="02020603050405020304" pitchFamily="18" charset="0"/>
                        </a:rPr>
                        <a:t>8.2313</a:t>
                      </a:r>
                      <a:endParaRPr lang="zh-CN" altLang="en-US" sz="1600" b="1"/>
                    </a:p>
                  </a:txBody>
                  <a:tcPr marT="45723" marB="45723">
                    <a:lnL w="12700" cap="flat" cmpd="sng">
                      <a:solidFill>
                        <a:srgbClr val="000000"/>
                      </a:solidFill>
                      <a:prstDash val="solid"/>
                      <a:headEnd type="none" w="med" len="med"/>
                      <a:tailEnd type="none" w="med" len="med"/>
                    </a:lnL>
                    <a:lnR cap="flat">
                      <a:noFill/>
                    </a:lnR>
                    <a:lnT>
                      <a:noFill/>
                    </a:lnT>
                    <a:lnB>
                      <a:noFill/>
                    </a:lnB>
                    <a:lnTlToBr>
                      <a:noFill/>
                    </a:lnTlToBr>
                    <a:lnBlToTr>
                      <a:noFill/>
                    </a:lnBlToTr>
                    <a:noFill/>
                  </a:tcPr>
                </a:tc>
              </a:tr>
              <a:tr h="335300">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en-US" altLang="zh-CN" sz="1600" b="1">
                          <a:solidFill>
                            <a:srgbClr val="000000"/>
                          </a:solidFill>
                          <a:latin typeface="Times New Roman" panose="02020603050405020304" pitchFamily="18" charset="0"/>
                          <a:cs typeface="Times New Roman" panose="02020603050405020304" pitchFamily="18" charset="0"/>
                        </a:rPr>
                        <a:t>80</a:t>
                      </a:r>
                      <a:endParaRPr lang="zh-CN" altLang="en-US" sz="1600" b="1"/>
                    </a:p>
                  </a:txBody>
                  <a:tcPr marT="45723" marB="45723">
                    <a:lnL cap="flat">
                      <a:noFill/>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en-US" altLang="zh-CN" sz="1600" b="1">
                          <a:solidFill>
                            <a:srgbClr val="000000"/>
                          </a:solidFill>
                          <a:latin typeface="Times New Roman" panose="02020603050405020304" pitchFamily="18" charset="0"/>
                          <a:cs typeface="Times New Roman" panose="02020603050405020304" pitchFamily="18" charset="0"/>
                        </a:rPr>
                        <a:t>162.956</a:t>
                      </a:r>
                      <a:endParaRPr lang="zh-CN" altLang="en-US" sz="1600" b="1"/>
                    </a:p>
                  </a:txBody>
                  <a:tcPr marT="45723" marB="4572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en-US" altLang="zh-CN" sz="1600" b="1">
                          <a:solidFill>
                            <a:srgbClr val="000000"/>
                          </a:solidFill>
                          <a:latin typeface="Times New Roman" panose="02020603050405020304" pitchFamily="18" charset="0"/>
                          <a:cs typeface="Times New Roman" panose="02020603050405020304" pitchFamily="18" charset="0"/>
                        </a:rPr>
                        <a:t>2650.3</a:t>
                      </a:r>
                      <a:endParaRPr lang="zh-CN" altLang="en-US" sz="1600" b="1"/>
                    </a:p>
                  </a:txBody>
                  <a:tcPr marT="45723" marB="4572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en-US" altLang="zh-CN" sz="1600" b="1">
                          <a:solidFill>
                            <a:srgbClr val="000000"/>
                          </a:solidFill>
                          <a:latin typeface="Times New Roman" panose="02020603050405020304" pitchFamily="18" charset="0"/>
                          <a:cs typeface="Times New Roman" panose="02020603050405020304" pitchFamily="18" charset="0"/>
                        </a:rPr>
                        <a:t>9.4080</a:t>
                      </a:r>
                      <a:endParaRPr lang="zh-CN" altLang="en-US" sz="1600" b="1"/>
                    </a:p>
                  </a:txBody>
                  <a:tcPr marT="45723" marB="4572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en-US" altLang="zh-CN" sz="1600" b="1">
                          <a:solidFill>
                            <a:srgbClr val="000000"/>
                          </a:solidFill>
                          <a:latin typeface="Times New Roman" panose="02020603050405020304" pitchFamily="18" charset="0"/>
                          <a:cs typeface="Times New Roman" panose="02020603050405020304" pitchFamily="18" charset="0"/>
                        </a:rPr>
                        <a:t>32.566</a:t>
                      </a:r>
                      <a:endParaRPr lang="zh-CN" altLang="en-US" sz="1600" b="1"/>
                    </a:p>
                  </a:txBody>
                  <a:tcPr marT="45723" marB="4572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en-US" altLang="zh-CN" sz="1600" b="1">
                          <a:solidFill>
                            <a:srgbClr val="000000"/>
                          </a:solidFill>
                          <a:latin typeface="Times New Roman" panose="02020603050405020304" pitchFamily="18" charset="0"/>
                          <a:cs typeface="Times New Roman" panose="02020603050405020304" pitchFamily="18" charset="0"/>
                        </a:rPr>
                        <a:t>2649.7</a:t>
                      </a:r>
                      <a:endParaRPr lang="zh-CN" altLang="en-US" sz="1600" b="1"/>
                    </a:p>
                  </a:txBody>
                  <a:tcPr marT="45723" marB="4572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en-US" altLang="zh-CN" sz="1600" b="1">
                          <a:solidFill>
                            <a:srgbClr val="000000"/>
                          </a:solidFill>
                          <a:latin typeface="Times New Roman" panose="02020603050405020304" pitchFamily="18" charset="0"/>
                          <a:cs typeface="Times New Roman" panose="02020603050405020304" pitchFamily="18" charset="0"/>
                        </a:rPr>
                        <a:t>8.6639</a:t>
                      </a:r>
                      <a:endParaRPr lang="zh-CN" altLang="en-US" sz="1600" b="1"/>
                    </a:p>
                  </a:txBody>
                  <a:tcPr marT="45723" marB="4572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en-US" altLang="zh-CN" sz="1600" b="1">
                          <a:solidFill>
                            <a:srgbClr val="000000"/>
                          </a:solidFill>
                          <a:latin typeface="Times New Roman" panose="02020603050405020304" pitchFamily="18" charset="0"/>
                          <a:cs typeface="Times New Roman" panose="02020603050405020304" pitchFamily="18" charset="0"/>
                        </a:rPr>
                        <a:t>16.268</a:t>
                      </a:r>
                      <a:endParaRPr lang="zh-CN" altLang="en-US" sz="1600" b="1"/>
                    </a:p>
                  </a:txBody>
                  <a:tcPr marT="45723" marB="4572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en-US" altLang="zh-CN" sz="1600" b="1">
                          <a:solidFill>
                            <a:srgbClr val="000000"/>
                          </a:solidFill>
                          <a:latin typeface="Times New Roman" panose="02020603050405020304" pitchFamily="18" charset="0"/>
                          <a:cs typeface="Times New Roman" panose="02020603050405020304" pitchFamily="18" charset="0"/>
                        </a:rPr>
                        <a:t>2648.9</a:t>
                      </a:r>
                      <a:endParaRPr lang="zh-CN" altLang="en-US" sz="1600" b="1"/>
                    </a:p>
                  </a:txBody>
                  <a:tcPr marT="45723" marB="4572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en-US" altLang="zh-CN" sz="1600" b="1">
                          <a:solidFill>
                            <a:srgbClr val="000000"/>
                          </a:solidFill>
                          <a:latin typeface="Times New Roman" panose="02020603050405020304" pitchFamily="18" charset="0"/>
                          <a:cs typeface="Times New Roman" panose="02020603050405020304" pitchFamily="18" charset="0"/>
                        </a:rPr>
                        <a:t>8.3422</a:t>
                      </a:r>
                      <a:endParaRPr lang="zh-CN" altLang="en-US" sz="1600" b="1"/>
                    </a:p>
                  </a:txBody>
                  <a:tcPr marT="45723" marB="45723">
                    <a:lnL w="12700" cap="flat" cmpd="sng">
                      <a:solidFill>
                        <a:srgbClr val="000000"/>
                      </a:solidFill>
                      <a:prstDash val="solid"/>
                      <a:headEnd type="none" w="med" len="med"/>
                      <a:tailEnd type="none" w="med" len="med"/>
                    </a:lnL>
                    <a:lnR cap="flat">
                      <a:noFill/>
                    </a:lnR>
                    <a:lnT>
                      <a:noFill/>
                    </a:lnT>
                    <a:lnB>
                      <a:noFill/>
                    </a:lnB>
                    <a:lnTlToBr>
                      <a:noFill/>
                    </a:lnTlToBr>
                    <a:lnBlToTr>
                      <a:noFill/>
                    </a:lnBlToTr>
                    <a:noFill/>
                  </a:tcPr>
                </a:tc>
              </a:tr>
              <a:tr h="335300">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en-US" altLang="zh-CN" sz="1600" b="1">
                          <a:solidFill>
                            <a:srgbClr val="000000"/>
                          </a:solidFill>
                          <a:latin typeface="Times New Roman" panose="02020603050405020304" pitchFamily="18" charset="0"/>
                          <a:cs typeface="Times New Roman" panose="02020603050405020304" pitchFamily="18" charset="0"/>
                        </a:rPr>
                        <a:t>100</a:t>
                      </a:r>
                      <a:endParaRPr lang="zh-CN" altLang="en-US" sz="1600" b="1"/>
                    </a:p>
                  </a:txBody>
                  <a:tcPr marT="45723" marB="45723">
                    <a:lnL cap="flat">
                      <a:noFill/>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en-US" altLang="zh-CN" sz="1600" b="1">
                          <a:solidFill>
                            <a:srgbClr val="000000"/>
                          </a:solidFill>
                          <a:latin typeface="Times New Roman" panose="02020603050405020304" pitchFamily="18" charset="0"/>
                          <a:cs typeface="Times New Roman" panose="02020603050405020304" pitchFamily="18" charset="0"/>
                        </a:rPr>
                        <a:t>172.192</a:t>
                      </a:r>
                      <a:endParaRPr lang="zh-CN" altLang="en-US" sz="1600" b="1"/>
                    </a:p>
                  </a:txBody>
                  <a:tcPr marT="45723" marB="4572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en-US" altLang="zh-CN" sz="1600" b="1">
                          <a:solidFill>
                            <a:srgbClr val="000000"/>
                          </a:solidFill>
                          <a:latin typeface="Times New Roman" panose="02020603050405020304" pitchFamily="18" charset="0"/>
                          <a:cs typeface="Times New Roman" panose="02020603050405020304" pitchFamily="18" charset="0"/>
                        </a:rPr>
                        <a:t>2688.0</a:t>
                      </a:r>
                      <a:endParaRPr lang="zh-CN" altLang="en-US" sz="1600" b="1"/>
                    </a:p>
                  </a:txBody>
                  <a:tcPr marT="45723" marB="4572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en-US" altLang="zh-CN" sz="1600" b="1">
                          <a:solidFill>
                            <a:srgbClr val="000000"/>
                          </a:solidFill>
                          <a:latin typeface="Times New Roman" panose="02020603050405020304" pitchFamily="18" charset="0"/>
                          <a:cs typeface="Times New Roman" panose="02020603050405020304" pitchFamily="18" charset="0"/>
                        </a:rPr>
                        <a:t>9.5120</a:t>
                      </a:r>
                      <a:endParaRPr lang="zh-CN" altLang="en-US" sz="1600" b="1"/>
                    </a:p>
                  </a:txBody>
                  <a:tcPr marT="45723" marB="4572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en-US" altLang="zh-CN" sz="1600" b="1">
                          <a:solidFill>
                            <a:srgbClr val="000000"/>
                          </a:solidFill>
                          <a:latin typeface="Times New Roman" panose="02020603050405020304" pitchFamily="18" charset="0"/>
                          <a:cs typeface="Times New Roman" panose="02020603050405020304" pitchFamily="18" charset="0"/>
                        </a:rPr>
                        <a:t>34.418</a:t>
                      </a:r>
                      <a:endParaRPr lang="zh-CN" altLang="en-US" sz="1600" b="1"/>
                    </a:p>
                  </a:txBody>
                  <a:tcPr marT="45723" marB="4572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en-US" altLang="zh-CN" sz="1600" b="1">
                          <a:solidFill>
                            <a:srgbClr val="000000"/>
                          </a:solidFill>
                          <a:latin typeface="Times New Roman" panose="02020603050405020304" pitchFamily="18" charset="0"/>
                          <a:cs typeface="Times New Roman" panose="02020603050405020304" pitchFamily="18" charset="0"/>
                        </a:rPr>
                        <a:t>2687.5</a:t>
                      </a:r>
                      <a:endParaRPr lang="zh-CN" altLang="en-US" sz="1600" b="1"/>
                    </a:p>
                  </a:txBody>
                  <a:tcPr marT="45723" marB="4572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en-US" altLang="zh-CN" sz="1600" b="1">
                          <a:solidFill>
                            <a:srgbClr val="000000"/>
                          </a:solidFill>
                          <a:latin typeface="Times New Roman" panose="02020603050405020304" pitchFamily="18" charset="0"/>
                          <a:cs typeface="Times New Roman" panose="02020603050405020304" pitchFamily="18" charset="0"/>
                        </a:rPr>
                        <a:t>8.7682</a:t>
                      </a:r>
                      <a:endParaRPr lang="zh-CN" altLang="en-US" sz="1600" b="1"/>
                    </a:p>
                  </a:txBody>
                  <a:tcPr marT="45723" marB="4572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en-US" altLang="zh-CN" sz="1600" b="1">
                          <a:solidFill>
                            <a:srgbClr val="000000"/>
                          </a:solidFill>
                          <a:latin typeface="Times New Roman" panose="02020603050405020304" pitchFamily="18" charset="0"/>
                          <a:cs typeface="Times New Roman" panose="02020603050405020304" pitchFamily="18" charset="0"/>
                        </a:rPr>
                        <a:t>17. 196</a:t>
                      </a:r>
                      <a:endParaRPr lang="zh-CN" altLang="en-US" sz="1600" b="1"/>
                    </a:p>
                  </a:txBody>
                  <a:tcPr marT="45723" marB="4572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en-US" altLang="zh-CN" sz="1600" b="1">
                          <a:solidFill>
                            <a:srgbClr val="000000"/>
                          </a:solidFill>
                          <a:latin typeface="Times New Roman" panose="02020603050405020304" pitchFamily="18" charset="0"/>
                          <a:cs typeface="Times New Roman" panose="02020603050405020304" pitchFamily="18" charset="0"/>
                        </a:rPr>
                        <a:t>2686.9</a:t>
                      </a:r>
                      <a:endParaRPr lang="zh-CN" altLang="en-US" sz="1600" b="1"/>
                    </a:p>
                  </a:txBody>
                  <a:tcPr marT="45723" marB="4572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a:noFill/>
                    </a:lnT>
                    <a:lnB>
                      <a:noFill/>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en-US" altLang="zh-CN" sz="1600" b="1">
                          <a:solidFill>
                            <a:srgbClr val="000000"/>
                          </a:solidFill>
                          <a:latin typeface="Times New Roman" panose="02020603050405020304" pitchFamily="18" charset="0"/>
                          <a:cs typeface="Times New Roman" panose="02020603050405020304" pitchFamily="18" charset="0"/>
                        </a:rPr>
                        <a:t>8.4471</a:t>
                      </a:r>
                      <a:endParaRPr lang="zh-CN" altLang="en-US" sz="1600" b="1"/>
                    </a:p>
                  </a:txBody>
                  <a:tcPr marT="45723" marB="45723">
                    <a:lnL w="12700" cap="flat" cmpd="sng">
                      <a:solidFill>
                        <a:srgbClr val="000000"/>
                      </a:solidFill>
                      <a:prstDash val="solid"/>
                      <a:headEnd type="none" w="med" len="med"/>
                      <a:tailEnd type="none" w="med" len="med"/>
                    </a:lnL>
                    <a:lnR cap="flat">
                      <a:noFill/>
                    </a:lnR>
                    <a:lnT>
                      <a:noFill/>
                    </a:lnT>
                    <a:lnB>
                      <a:noFill/>
                    </a:lnB>
                    <a:lnTlToBr>
                      <a:noFill/>
                    </a:lnTlToBr>
                    <a:lnBlToTr>
                      <a:noFill/>
                    </a:lnBlToTr>
                    <a:noFill/>
                  </a:tcPr>
                </a:tc>
              </a:tr>
              <a:tr h="335300">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en-US" altLang="zh-CN" sz="1600" b="1">
                          <a:solidFill>
                            <a:srgbClr val="000000"/>
                          </a:solidFill>
                          <a:latin typeface="Times New Roman" panose="02020603050405020304" pitchFamily="18" charset="0"/>
                          <a:cs typeface="Times New Roman" panose="02020603050405020304" pitchFamily="18" charset="0"/>
                        </a:rPr>
                        <a:t>120</a:t>
                      </a:r>
                      <a:endParaRPr lang="zh-CN" altLang="en-US" sz="1600" b="1"/>
                    </a:p>
                  </a:txBody>
                  <a:tcPr marT="45723" marB="45723">
                    <a:lnL cap="flat">
                      <a:noFill/>
                    </a:lnL>
                    <a:lnR w="12700" cap="flat" cmpd="sng">
                      <a:solidFill>
                        <a:srgbClr val="000000"/>
                      </a:solidFill>
                      <a:prstDash val="solid"/>
                      <a:headEnd type="none" w="med" len="med"/>
                      <a:tailEnd type="none" w="med" len="med"/>
                    </a:lnR>
                    <a:lnT>
                      <a:noFill/>
                    </a:lnT>
                    <a:lnB cap="flat">
                      <a:noFill/>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en-US" altLang="zh-CN" sz="1600" b="1">
                          <a:solidFill>
                            <a:srgbClr val="000000"/>
                          </a:solidFill>
                          <a:latin typeface="Times New Roman" panose="02020603050405020304" pitchFamily="18" charset="0"/>
                          <a:cs typeface="Times New Roman" panose="02020603050405020304" pitchFamily="18" charset="0"/>
                        </a:rPr>
                        <a:t>181.426</a:t>
                      </a:r>
                      <a:endParaRPr lang="zh-CN" altLang="en-US" sz="1600" b="1"/>
                    </a:p>
                  </a:txBody>
                  <a:tcPr marT="45723" marB="4572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a:noFill/>
                    </a:lnT>
                    <a:lnB cap="flat">
                      <a:noFill/>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en-US" altLang="zh-CN" sz="1600" b="1">
                          <a:solidFill>
                            <a:srgbClr val="000000"/>
                          </a:solidFill>
                          <a:latin typeface="Times New Roman" panose="02020603050405020304" pitchFamily="18" charset="0"/>
                          <a:cs typeface="Times New Roman" panose="02020603050405020304" pitchFamily="18" charset="0"/>
                        </a:rPr>
                        <a:t>2725.9</a:t>
                      </a:r>
                      <a:endParaRPr lang="zh-CN" altLang="en-US" sz="1600" b="1"/>
                    </a:p>
                  </a:txBody>
                  <a:tcPr marT="45723" marB="4572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a:noFill/>
                    </a:lnT>
                    <a:lnB cap="flat">
                      <a:noFill/>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en-US" altLang="zh-CN" sz="1600" b="1">
                          <a:solidFill>
                            <a:srgbClr val="000000"/>
                          </a:solidFill>
                          <a:latin typeface="Times New Roman" panose="02020603050405020304" pitchFamily="18" charset="0"/>
                          <a:cs typeface="Times New Roman" panose="02020603050405020304" pitchFamily="18" charset="0"/>
                        </a:rPr>
                        <a:t>9.6109</a:t>
                      </a:r>
                      <a:endParaRPr lang="zh-CN" altLang="en-US" sz="1600" b="1"/>
                    </a:p>
                  </a:txBody>
                  <a:tcPr marT="45723" marB="4572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a:noFill/>
                    </a:lnT>
                    <a:lnB cap="flat">
                      <a:noFill/>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en-US" altLang="zh-CN" sz="1600" b="1">
                          <a:solidFill>
                            <a:srgbClr val="000000"/>
                          </a:solidFill>
                          <a:latin typeface="Times New Roman" panose="02020603050405020304" pitchFamily="18" charset="0"/>
                          <a:cs typeface="Times New Roman" panose="02020603050405020304" pitchFamily="18" charset="0"/>
                        </a:rPr>
                        <a:t>36.269</a:t>
                      </a:r>
                      <a:endParaRPr lang="zh-CN" altLang="en-US" sz="1600" b="1"/>
                    </a:p>
                  </a:txBody>
                  <a:tcPr marT="45723" marB="4572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a:noFill/>
                    </a:lnT>
                    <a:lnB cap="flat">
                      <a:noFill/>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en-US" altLang="zh-CN" sz="1600" b="1">
                          <a:solidFill>
                            <a:srgbClr val="000000"/>
                          </a:solidFill>
                          <a:latin typeface="Times New Roman" panose="02020603050405020304" pitchFamily="18" charset="0"/>
                          <a:cs typeface="Times New Roman" panose="02020603050405020304" pitchFamily="18" charset="0"/>
                        </a:rPr>
                        <a:t>2725.5</a:t>
                      </a:r>
                      <a:endParaRPr lang="zh-CN" altLang="en-US" sz="1600" b="1"/>
                    </a:p>
                  </a:txBody>
                  <a:tcPr marT="45723" marB="4572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a:noFill/>
                    </a:lnT>
                    <a:lnB cap="flat">
                      <a:noFill/>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en-US" altLang="zh-CN" sz="1600" b="1">
                          <a:solidFill>
                            <a:srgbClr val="000000"/>
                          </a:solidFill>
                          <a:latin typeface="Times New Roman" panose="02020603050405020304" pitchFamily="18" charset="0"/>
                          <a:cs typeface="Times New Roman" panose="02020603050405020304" pitchFamily="18" charset="0"/>
                        </a:rPr>
                        <a:t>8.8674</a:t>
                      </a:r>
                      <a:endParaRPr lang="zh-CN" altLang="en-US" sz="1600" b="1"/>
                    </a:p>
                  </a:txBody>
                  <a:tcPr marT="45723" marB="4572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a:noFill/>
                    </a:lnT>
                    <a:lnB cap="flat">
                      <a:noFill/>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en-US" altLang="zh-CN" sz="1600" b="1">
                          <a:solidFill>
                            <a:srgbClr val="000000"/>
                          </a:solidFill>
                          <a:latin typeface="Times New Roman" panose="02020603050405020304" pitchFamily="18" charset="0"/>
                          <a:cs typeface="Times New Roman" panose="02020603050405020304" pitchFamily="18" charset="0"/>
                        </a:rPr>
                        <a:t>18.124</a:t>
                      </a:r>
                      <a:endParaRPr lang="zh-CN" altLang="en-US" sz="1600" b="1"/>
                    </a:p>
                  </a:txBody>
                  <a:tcPr marT="45723" marB="4572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a:noFill/>
                    </a:lnT>
                    <a:lnB cap="flat">
                      <a:noFill/>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en-US" altLang="zh-CN" sz="1600" b="1">
                          <a:solidFill>
                            <a:srgbClr val="000000"/>
                          </a:solidFill>
                          <a:latin typeface="Times New Roman" panose="02020603050405020304" pitchFamily="18" charset="0"/>
                          <a:cs typeface="Times New Roman" panose="02020603050405020304" pitchFamily="18" charset="0"/>
                        </a:rPr>
                        <a:t>2725.1</a:t>
                      </a:r>
                      <a:endParaRPr lang="zh-CN" altLang="en-US" sz="1600" b="1"/>
                    </a:p>
                  </a:txBody>
                  <a:tcPr marT="45723" marB="4572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a:noFill/>
                    </a:lnT>
                    <a:lnB cap="flat">
                      <a:noFill/>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Arial" panose="020B0604020202020204" pitchFamily="34" charset="0"/>
                          <a:ea typeface="宋体" panose="02010600030101010101" pitchFamily="2" charset="-122"/>
                        </a:defRPr>
                      </a:lvl5pPr>
                    </a:lstStyle>
                    <a:p>
                      <a:pPr marL="0" lvl="0" indent="0" algn="ctr">
                        <a:spcBef>
                          <a:spcPct val="0"/>
                        </a:spcBef>
                        <a:buNone/>
                      </a:pPr>
                      <a:r>
                        <a:rPr lang="en-US" altLang="zh-CN" sz="1600" b="1" dirty="0">
                          <a:solidFill>
                            <a:srgbClr val="000000"/>
                          </a:solidFill>
                          <a:latin typeface="Times New Roman" panose="02020603050405020304" pitchFamily="18" charset="0"/>
                          <a:cs typeface="Times New Roman" panose="02020603050405020304" pitchFamily="18" charset="0"/>
                        </a:rPr>
                        <a:t>8.5466</a:t>
                      </a:r>
                      <a:endParaRPr lang="zh-CN" altLang="en-US" sz="1600" b="1" dirty="0"/>
                    </a:p>
                  </a:txBody>
                  <a:tcPr marT="45723" marB="45723">
                    <a:lnL w="12700" cap="flat" cmpd="sng">
                      <a:solidFill>
                        <a:srgbClr val="000000"/>
                      </a:solidFill>
                      <a:prstDash val="solid"/>
                      <a:headEnd type="none" w="med" len="med"/>
                      <a:tailEnd type="none" w="med" len="med"/>
                    </a:lnL>
                    <a:lnR cap="flat">
                      <a:noFill/>
                    </a:lnR>
                    <a:lnT>
                      <a:noFill/>
                    </a:lnT>
                    <a:lnB cap="flat">
                      <a:noFill/>
                    </a:lnB>
                    <a:lnTlToBr>
                      <a:noFill/>
                    </a:lnTlToBr>
                    <a:lnBlToTr>
                      <a:noFill/>
                    </a:lnBlToTr>
                    <a:noFill/>
                  </a:tcPr>
                </a:tc>
              </a:tr>
            </a:tbl>
          </a:graphicData>
        </a:graphic>
      </p:graphicFrame>
    </p:spTree>
  </p:cSld>
  <p:clrMapOvr>
    <a:masterClrMapping/>
  </p:clrMapOvr>
  <p:transition spd="slow"/>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矩形 185348"/>
          <p:cNvSpPr>
            <a:spLocks noChangeArrowheads="1"/>
          </p:cNvSpPr>
          <p:nvPr/>
        </p:nvSpPr>
        <p:spPr bwMode="auto">
          <a:xfrm>
            <a:off x="0" y="22669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5780" name="矩形 185351"/>
          <p:cNvSpPr>
            <a:spLocks noChangeArrowheads="1"/>
          </p:cNvSpPr>
          <p:nvPr/>
        </p:nvSpPr>
        <p:spPr bwMode="auto">
          <a:xfrm>
            <a:off x="4779825" y="2965126"/>
            <a:ext cx="3816350"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rPr>
              <a:t>为了避免查表时出现插值的情况，这里</a:t>
            </a: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将定压加热过程时的压力近似为</a:t>
            </a:r>
            <a:r>
              <a:rPr lang="en-US" altLang="zh-CN" sz="2800" b="1" dirty="0">
                <a:latin typeface="Times New Roman" panose="02020603050405020304" pitchFamily="18" charset="0"/>
                <a:ea typeface="黑体" panose="02010609060101010101" pitchFamily="49" charset="-122"/>
                <a:cs typeface="Times New Roman" panose="02020603050405020304" pitchFamily="18" charset="0"/>
              </a:rPr>
              <a:t>0.1 MPa</a:t>
            </a: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（在</a:t>
            </a:r>
            <a:r>
              <a:rPr lang="en-US" altLang="zh-CN" sz="2800" b="1" dirty="0">
                <a:latin typeface="Times New Roman" panose="02020603050405020304" pitchFamily="18" charset="0"/>
                <a:ea typeface="黑体" panose="02010609060101010101" pitchFamily="49" charset="-122"/>
                <a:cs typeface="Times New Roman" panose="02020603050405020304" pitchFamily="18" charset="0"/>
              </a:rPr>
              <a:t>9-2</a:t>
            </a: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节中为</a:t>
            </a:r>
            <a:r>
              <a:rPr lang="en-US" altLang="zh-CN" sz="2800" b="1" dirty="0">
                <a:latin typeface="Times New Roman" panose="02020603050405020304" pitchFamily="18" charset="0"/>
                <a:ea typeface="黑体" panose="02010609060101010101" pitchFamily="49" charset="-122"/>
                <a:cs typeface="Times New Roman" panose="02020603050405020304" pitchFamily="18" charset="0"/>
              </a:rPr>
              <a:t>1 </a:t>
            </a:r>
            <a:r>
              <a:rPr lang="en-US" altLang="zh-CN" sz="2800" b="1" dirty="0" err="1">
                <a:latin typeface="Times New Roman" panose="02020603050405020304" pitchFamily="18" charset="0"/>
                <a:ea typeface="黑体" panose="02010609060101010101" pitchFamily="49" charset="-122"/>
                <a:cs typeface="Times New Roman" panose="02020603050405020304" pitchFamily="18" charset="0"/>
              </a:rPr>
              <a:t>atm</a:t>
            </a: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），相应的饱和温度为</a:t>
            </a:r>
            <a:r>
              <a:rPr lang="en-US" altLang="zh-CN" sz="2800" b="1" dirty="0">
                <a:latin typeface="Times New Roman" panose="02020603050405020304" pitchFamily="18" charset="0"/>
                <a:ea typeface="黑体" panose="02010609060101010101" pitchFamily="49" charset="-122"/>
                <a:cs typeface="Times New Roman" panose="02020603050405020304" pitchFamily="18" charset="0"/>
              </a:rPr>
              <a:t>99.63</a:t>
            </a:r>
            <a:r>
              <a:rPr lang="en-US" altLang="zh-CN" sz="2800" b="1" dirty="0" smtClean="0">
                <a:latin typeface="Times New Roman" panose="02020603050405020304" pitchFamily="18" charset="0"/>
                <a:ea typeface="黑体" panose="02010609060101010101" pitchFamily="49" charset="-122"/>
                <a:cs typeface="Times New Roman" panose="02020603050405020304" pitchFamily="18" charset="0"/>
              </a:rPr>
              <a:t>℃</a:t>
            </a:r>
            <a:endParaRPr lang="en-US" altLang="zh-CN" sz="28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0" name="矩形 9"/>
          <p:cNvSpPr/>
          <p:nvPr/>
        </p:nvSpPr>
        <p:spPr>
          <a:xfrm>
            <a:off x="4779825" y="748615"/>
            <a:ext cx="3986488" cy="1384995"/>
          </a:xfrm>
          <a:prstGeom prst="rect">
            <a:avLst/>
          </a:prstGeom>
        </p:spPr>
        <p:txBody>
          <a:bodyPr wrap="square">
            <a:spAutoFit/>
          </a:bodyPr>
          <a:lstStyle/>
          <a:p>
            <a:pPr lvl="0"/>
            <a:r>
              <a:rPr lang="zh-CN" altLang="en-US" sz="2800" b="1" dirty="0">
                <a:solidFill>
                  <a:srgbClr val="0000FF"/>
                </a:solidFill>
                <a:latin typeface="黑体" panose="02010609060101010101" pitchFamily="49" charset="-122"/>
                <a:ea typeface="黑体" panose="02010609060101010101" pitchFamily="49" charset="-122"/>
              </a:rPr>
              <a:t>下面</a:t>
            </a:r>
            <a:r>
              <a:rPr lang="zh-CN" altLang="en-US" sz="2800" b="1" dirty="0" smtClean="0">
                <a:solidFill>
                  <a:srgbClr val="0000FF"/>
                </a:solidFill>
                <a:latin typeface="黑体" panose="02010609060101010101" pitchFamily="49" charset="-122"/>
                <a:ea typeface="黑体" panose="02010609060101010101" pitchFamily="49" charset="-122"/>
              </a:rPr>
              <a:t>通过图中状态点</a:t>
            </a:r>
            <a:r>
              <a:rPr lang="en-US" altLang="zh-CN" sz="2800" b="1" dirty="0" smtClean="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1-5</a:t>
            </a:r>
            <a:r>
              <a:rPr lang="zh-CN" altLang="en-US" sz="2800" b="1" dirty="0" smtClean="0">
                <a:solidFill>
                  <a:srgbClr val="0000FF"/>
                </a:solidFill>
                <a:latin typeface="黑体" panose="02010609060101010101" pitchFamily="49" charset="-122"/>
                <a:ea typeface="黑体" panose="02010609060101010101" pitchFamily="49" charset="-122"/>
              </a:rPr>
              <a:t>的查取，说明水蒸气热力性质表的使用方法</a:t>
            </a:r>
            <a:endParaRPr lang="zh-CN" altLang="en-US" sz="2800" b="1" dirty="0">
              <a:solidFill>
                <a:srgbClr val="0000FF"/>
              </a:solidFill>
              <a:latin typeface="黑体" panose="02010609060101010101" pitchFamily="49" charset="-122"/>
              <a:ea typeface="黑体" panose="02010609060101010101" pitchFamily="49" charset="-122"/>
            </a:endParaRPr>
          </a:p>
        </p:txBody>
      </p:sp>
      <p:pic>
        <p:nvPicPr>
          <p:cNvPr id="2" name="图片 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72762" y="302882"/>
            <a:ext cx="4499238" cy="3084843"/>
          </a:xfrm>
          <a:prstGeom prst="rect">
            <a:avLst/>
          </a:prstGeom>
        </p:spPr>
      </p:pic>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4270" y="3387725"/>
            <a:ext cx="4645555" cy="3194581"/>
          </a:xfrm>
          <a:prstGeom prst="rect">
            <a:avLst/>
          </a:prstGeom>
        </p:spPr>
      </p:pic>
    </p:spTree>
  </p:cSld>
  <p:clrMapOvr>
    <a:masterClrMapping/>
  </p:clrMapOvr>
  <p:transition spd="slow"/>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矩形 186371"/>
          <p:cNvSpPr>
            <a:spLocks noChangeArrowheads="1"/>
          </p:cNvSpPr>
          <p:nvPr/>
        </p:nvSpPr>
        <p:spPr bwMode="auto">
          <a:xfrm>
            <a:off x="4859338" y="980282"/>
            <a:ext cx="255428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zh-CN" altLang="en-US" sz="2800" b="1" dirty="0">
                <a:latin typeface="黑体" panose="02010609060101010101" pitchFamily="49" charset="-122"/>
                <a:ea typeface="黑体" panose="02010609060101010101" pitchFamily="49" charset="-122"/>
              </a:rPr>
              <a:t>饱和水（点</a:t>
            </a:r>
            <a:r>
              <a:rPr lang="en-US" altLang="zh-CN" sz="2800" b="1" dirty="0">
                <a:latin typeface="黑体" panose="02010609060101010101" pitchFamily="49" charset="-122"/>
                <a:ea typeface="黑体" panose="02010609060101010101" pitchFamily="49" charset="-122"/>
              </a:rPr>
              <a:t>2</a:t>
            </a:r>
            <a:r>
              <a:rPr lang="zh-CN" altLang="en-US" sz="2800" b="1" dirty="0">
                <a:latin typeface="黑体" panose="02010609060101010101" pitchFamily="49" charset="-122"/>
                <a:ea typeface="黑体" panose="02010609060101010101" pitchFamily="49" charset="-122"/>
              </a:rPr>
              <a:t>）</a:t>
            </a:r>
            <a:endParaRPr lang="zh-CN" altLang="en-US" sz="2800" b="1" dirty="0">
              <a:latin typeface="黑体" panose="02010609060101010101" pitchFamily="49" charset="-122"/>
              <a:ea typeface="黑体" panose="02010609060101010101" pitchFamily="49" charset="-122"/>
            </a:endParaRPr>
          </a:p>
        </p:txBody>
      </p:sp>
      <p:sp>
        <p:nvSpPr>
          <p:cNvPr id="76804" name="矩形 186374"/>
          <p:cNvSpPr>
            <a:spLocks noChangeArrowheads="1"/>
          </p:cNvSpPr>
          <p:nvPr/>
        </p:nvSpPr>
        <p:spPr bwMode="auto">
          <a:xfrm>
            <a:off x="4859338" y="3767138"/>
            <a:ext cx="36258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800" b="1" dirty="0">
                <a:latin typeface="黑体" panose="02010609060101010101" pitchFamily="49" charset="-122"/>
                <a:ea typeface="黑体" panose="02010609060101010101" pitchFamily="49" charset="-122"/>
              </a:rPr>
              <a:t>干饱和水蒸气（点</a:t>
            </a:r>
            <a:r>
              <a:rPr lang="en-US" altLang="zh-CN" sz="2800" b="1" dirty="0">
                <a:latin typeface="黑体" panose="02010609060101010101" pitchFamily="49" charset="-122"/>
                <a:ea typeface="黑体" panose="02010609060101010101" pitchFamily="49" charset="-122"/>
              </a:rPr>
              <a:t>4</a:t>
            </a:r>
            <a:r>
              <a:rPr lang="zh-CN" altLang="en-US" sz="2800" b="1" dirty="0">
                <a:latin typeface="黑体" panose="02010609060101010101" pitchFamily="49" charset="-122"/>
                <a:ea typeface="黑体" panose="02010609060101010101" pitchFamily="49" charset="-122"/>
              </a:rPr>
              <a:t>）</a:t>
            </a:r>
            <a:endParaRPr lang="zh-CN" altLang="en-US" sz="2800" b="1" dirty="0">
              <a:latin typeface="黑体" panose="02010609060101010101" pitchFamily="49" charset="-122"/>
              <a:ea typeface="黑体" panose="02010609060101010101" pitchFamily="49" charset="-122"/>
            </a:endParaRPr>
          </a:p>
        </p:txBody>
      </p:sp>
      <p:sp>
        <p:nvSpPr>
          <p:cNvPr id="76805" name="矩形 186376"/>
          <p:cNvSpPr>
            <a:spLocks noChangeArrowheads="1"/>
          </p:cNvSpPr>
          <p:nvPr/>
        </p:nvSpPr>
        <p:spPr bwMode="auto">
          <a:xfrm>
            <a:off x="0" y="29479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6806" name="矩形 186378"/>
          <p:cNvSpPr>
            <a:spLocks noChangeArrowheads="1"/>
          </p:cNvSpPr>
          <p:nvPr/>
        </p:nvSpPr>
        <p:spPr bwMode="auto">
          <a:xfrm>
            <a:off x="0" y="29479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6807" name="矩形 186379"/>
          <p:cNvSpPr>
            <a:spLocks noChangeArrowheads="1"/>
          </p:cNvSpPr>
          <p:nvPr/>
        </p:nvSpPr>
        <p:spPr bwMode="auto">
          <a:xfrm>
            <a:off x="2195513" y="303213"/>
            <a:ext cx="625633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zh-CN" altLang="en-US" sz="2800" b="1" dirty="0">
                <a:solidFill>
                  <a:srgbClr val="0000FF"/>
                </a:solidFill>
                <a:latin typeface="黑体" panose="02010609060101010101" pitchFamily="49" charset="-122"/>
                <a:ea typeface="黑体" panose="02010609060101010101" pitchFamily="49" charset="-122"/>
              </a:rPr>
              <a:t>利用饱和水及干饱和水蒸气热力性质表</a:t>
            </a:r>
            <a:endParaRPr lang="zh-CN" altLang="en-US" sz="2800" b="1" dirty="0">
              <a:latin typeface="黑体" panose="02010609060101010101" pitchFamily="49" charset="-122"/>
              <a:ea typeface="黑体" panose="02010609060101010101" pitchFamily="49" charset="-122"/>
            </a:endParaRPr>
          </a:p>
        </p:txBody>
      </p:sp>
      <p:graphicFrame>
        <p:nvGraphicFramePr>
          <p:cNvPr id="76808" name="对象 186382"/>
          <p:cNvGraphicFramePr/>
          <p:nvPr/>
        </p:nvGraphicFramePr>
        <p:xfrm>
          <a:off x="5148263" y="1844675"/>
          <a:ext cx="2519362" cy="1708150"/>
        </p:xfrm>
        <a:graphic>
          <a:graphicData uri="http://schemas.openxmlformats.org/presentationml/2006/ole">
            <mc:AlternateContent xmlns:mc="http://schemas.openxmlformats.org/markup-compatibility/2006">
              <mc:Choice xmlns:v="urn:schemas-microsoft-com:vml" Requires="v">
                <p:oleObj spid="_x0000_s46142" name="" r:id="rId1" imgW="1422400" imgH="965200" progId="Equation.DSMT4">
                  <p:embed/>
                </p:oleObj>
              </mc:Choice>
              <mc:Fallback>
                <p:oleObj name="" r:id="rId1" imgW="1422400" imgH="965200" progId="Equation.DSMT4">
                  <p:embed/>
                  <p:pic>
                    <p:nvPicPr>
                      <p:cNvPr id="0" name="对象 186382"/>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48263" y="1844675"/>
                        <a:ext cx="2519362" cy="170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76809" name="矩形 186385"/>
          <p:cNvSpPr>
            <a:spLocks noChangeArrowheads="1"/>
          </p:cNvSpPr>
          <p:nvPr/>
        </p:nvSpPr>
        <p:spPr bwMode="auto">
          <a:xfrm>
            <a:off x="0" y="29479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76810" name="对象 186384"/>
          <p:cNvGraphicFramePr/>
          <p:nvPr/>
        </p:nvGraphicFramePr>
        <p:xfrm>
          <a:off x="5148263" y="4581525"/>
          <a:ext cx="2736850" cy="1819275"/>
        </p:xfrm>
        <a:graphic>
          <a:graphicData uri="http://schemas.openxmlformats.org/presentationml/2006/ole">
            <mc:AlternateContent xmlns:mc="http://schemas.openxmlformats.org/markup-compatibility/2006">
              <mc:Choice xmlns:v="urn:schemas-microsoft-com:vml" Requires="v">
                <p:oleObj spid="_x0000_s46143" name="" r:id="rId3" imgW="1447800" imgH="965200" progId="Equation.DSMT4">
                  <p:embed/>
                </p:oleObj>
              </mc:Choice>
              <mc:Fallback>
                <p:oleObj name="" r:id="rId3" imgW="1447800" imgH="965200" progId="Equation.DSMT4">
                  <p:embed/>
                  <p:pic>
                    <p:nvPicPr>
                      <p:cNvPr id="0" name="对象 18638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48263" y="4581525"/>
                        <a:ext cx="2736850" cy="181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pic>
        <p:nvPicPr>
          <p:cNvPr id="12" name="图片 1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2641" y="514916"/>
            <a:ext cx="4499238" cy="3084843"/>
          </a:xfrm>
          <a:prstGeom prst="rect">
            <a:avLst/>
          </a:prstGeom>
        </p:spPr>
      </p:pic>
      <p:pic>
        <p:nvPicPr>
          <p:cNvPr id="13" name="图片 12"/>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54149" y="3599759"/>
            <a:ext cx="4645555" cy="3194581"/>
          </a:xfrm>
          <a:prstGeom prst="rect">
            <a:avLst/>
          </a:prstGeom>
        </p:spPr>
      </p:pic>
    </p:spTree>
  </p:cSld>
  <p:clrMapOvr>
    <a:masterClrMapping/>
  </p:clrMapOvr>
  <p:transition spd="slow"/>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矩形 187396"/>
          <p:cNvSpPr>
            <a:spLocks noChangeArrowheads="1"/>
          </p:cNvSpPr>
          <p:nvPr/>
        </p:nvSpPr>
        <p:spPr bwMode="auto">
          <a:xfrm>
            <a:off x="0" y="17859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77826" name="对象 187395"/>
          <p:cNvGraphicFramePr/>
          <p:nvPr/>
        </p:nvGraphicFramePr>
        <p:xfrm>
          <a:off x="591310" y="804656"/>
          <a:ext cx="8208962" cy="5710238"/>
        </p:xfrm>
        <a:graphic>
          <a:graphicData uri="http://schemas.openxmlformats.org/presentationml/2006/ole">
            <mc:AlternateContent xmlns:mc="http://schemas.openxmlformats.org/markup-compatibility/2006">
              <mc:Choice xmlns:v="urn:schemas-microsoft-com:vml" Requires="v">
                <p:oleObj spid="_x0000_s47122" name="" r:id="rId1" imgW="8475980" imgH="5887085" progId="Visio.Drawing.11">
                  <p:embed/>
                </p:oleObj>
              </mc:Choice>
              <mc:Fallback>
                <p:oleObj name="" r:id="rId1" imgW="8475980" imgH="5887085" progId="Visio.Drawing.11">
                  <p:embed/>
                  <p:pic>
                    <p:nvPicPr>
                      <p:cNvPr id="0" name="对象 187395"/>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1310" y="804656"/>
                        <a:ext cx="8208962" cy="5710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77827" name="矩形 187397"/>
          <p:cNvSpPr>
            <a:spLocks noChangeArrowheads="1"/>
          </p:cNvSpPr>
          <p:nvPr/>
        </p:nvSpPr>
        <p:spPr bwMode="auto">
          <a:xfrm>
            <a:off x="1720781" y="165652"/>
            <a:ext cx="559961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zh-CN" altLang="en-US" sz="2400" b="1" dirty="0">
                <a:solidFill>
                  <a:srgbClr val="0000FF"/>
                </a:solidFill>
                <a:latin typeface="黑体" panose="02010609060101010101" pitchFamily="49" charset="-122"/>
                <a:ea typeface="黑体" panose="02010609060101010101" pitchFamily="49" charset="-122"/>
              </a:rPr>
              <a:t>饱和水及干饱和水蒸气热力性质表节选</a:t>
            </a:r>
            <a:r>
              <a:rPr lang="zh-CN" altLang="en-US" sz="2400" b="1" dirty="0">
                <a:latin typeface="黑体" panose="02010609060101010101" pitchFamily="49" charset="-122"/>
                <a:ea typeface="黑体" panose="02010609060101010101" pitchFamily="49" charset="-122"/>
              </a:rPr>
              <a:t> </a:t>
            </a:r>
            <a:endParaRPr lang="zh-CN" altLang="en-US" sz="2400" b="1" dirty="0">
              <a:latin typeface="黑体" panose="02010609060101010101" pitchFamily="49" charset="-122"/>
              <a:ea typeface="黑体" panose="02010609060101010101" pitchFamily="49" charset="-122"/>
            </a:endParaRPr>
          </a:p>
        </p:txBody>
      </p:sp>
    </p:spTree>
  </p:cSld>
  <p:clrMapOvr>
    <a:masterClrMapping/>
  </p:clrMapOvr>
  <p:transition spd="slow"/>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矩形 188420"/>
          <p:cNvSpPr>
            <a:spLocks noChangeArrowheads="1"/>
          </p:cNvSpPr>
          <p:nvPr/>
        </p:nvSpPr>
        <p:spPr bwMode="auto">
          <a:xfrm>
            <a:off x="0" y="33099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8850" name="矩形 188422"/>
          <p:cNvSpPr>
            <a:spLocks noChangeArrowheads="1"/>
          </p:cNvSpPr>
          <p:nvPr/>
        </p:nvSpPr>
        <p:spPr bwMode="auto">
          <a:xfrm>
            <a:off x="0" y="33099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8851" name="矩形 188424"/>
          <p:cNvSpPr>
            <a:spLocks noChangeArrowheads="1"/>
          </p:cNvSpPr>
          <p:nvPr/>
        </p:nvSpPr>
        <p:spPr bwMode="auto">
          <a:xfrm>
            <a:off x="0" y="33099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78852" name="对象 188423"/>
          <p:cNvGraphicFramePr/>
          <p:nvPr/>
        </p:nvGraphicFramePr>
        <p:xfrm>
          <a:off x="539750" y="692150"/>
          <a:ext cx="7650163" cy="1636713"/>
        </p:xfrm>
        <a:graphic>
          <a:graphicData uri="http://schemas.openxmlformats.org/presentationml/2006/ole">
            <mc:AlternateContent xmlns:mc="http://schemas.openxmlformats.org/markup-compatibility/2006">
              <mc:Choice xmlns:v="urn:schemas-microsoft-com:vml" Requires="v">
                <p:oleObj spid="_x0000_s48162" name="" r:id="rId1" imgW="3162300" imgH="685800" progId="Equation.DSMT4">
                  <p:embed/>
                </p:oleObj>
              </mc:Choice>
              <mc:Fallback>
                <p:oleObj name="" r:id="rId1" imgW="3162300" imgH="685800" progId="Equation.DSMT4">
                  <p:embed/>
                  <p:pic>
                    <p:nvPicPr>
                      <p:cNvPr id="0" name="对象 188423"/>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750" y="692150"/>
                        <a:ext cx="7650163" cy="163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78853" name="矩形 188426"/>
          <p:cNvSpPr>
            <a:spLocks noChangeArrowheads="1"/>
          </p:cNvSpPr>
          <p:nvPr/>
        </p:nvSpPr>
        <p:spPr bwMode="auto">
          <a:xfrm>
            <a:off x="0" y="33099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78854" name="对象 188425"/>
          <p:cNvGraphicFramePr/>
          <p:nvPr/>
        </p:nvGraphicFramePr>
        <p:xfrm>
          <a:off x="684213" y="3284538"/>
          <a:ext cx="6596062" cy="1495425"/>
        </p:xfrm>
        <a:graphic>
          <a:graphicData uri="http://schemas.openxmlformats.org/presentationml/2006/ole">
            <mc:AlternateContent xmlns:mc="http://schemas.openxmlformats.org/markup-compatibility/2006">
              <mc:Choice xmlns:v="urn:schemas-microsoft-com:vml" Requires="v">
                <p:oleObj spid="_x0000_s48163" name="" r:id="rId3" imgW="2984500" imgH="685800" progId="Equation.DSMT4">
                  <p:embed/>
                </p:oleObj>
              </mc:Choice>
              <mc:Fallback>
                <p:oleObj name="" r:id="rId3" imgW="2984500" imgH="685800" progId="Equation.DSMT4">
                  <p:embed/>
                  <p:pic>
                    <p:nvPicPr>
                      <p:cNvPr id="0" name="对象 188425"/>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4213" y="3284538"/>
                        <a:ext cx="6596062" cy="1495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ransition spd="slow"/>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文本占位符 189442"/>
          <p:cNvSpPr>
            <a:spLocks noGrp="1" noChangeArrowheads="1"/>
          </p:cNvSpPr>
          <p:nvPr>
            <p:ph idx="1"/>
          </p:nvPr>
        </p:nvSpPr>
        <p:spPr>
          <a:xfrm>
            <a:off x="457200" y="476250"/>
            <a:ext cx="8229600" cy="1719540"/>
          </a:xfrm>
        </p:spPr>
        <p:txBody>
          <a:bodyPr>
            <a:normAutofit/>
          </a:bodyPr>
          <a:lstStyle/>
          <a:p>
            <a:pPr marL="0" indent="0">
              <a:buNone/>
            </a:pPr>
            <a:r>
              <a:rPr lang="zh-CN" altLang="en-US" sz="3200" b="1" dirty="0" smtClean="0">
                <a:latin typeface="Times New Roman" panose="02020603050405020304" pitchFamily="18" charset="0"/>
                <a:ea typeface="黑体" panose="02010609060101010101" pitchFamily="49" charset="-122"/>
                <a:cs typeface="Times New Roman" panose="02020603050405020304" pitchFamily="18" charset="0"/>
              </a:rPr>
              <a:t>查取到：在压力为</a:t>
            </a:r>
            <a:r>
              <a:rPr lang="en-US" altLang="zh-CN" sz="3200" b="1" dirty="0" smtClean="0">
                <a:latin typeface="Times New Roman" panose="02020603050405020304" pitchFamily="18" charset="0"/>
                <a:ea typeface="黑体" panose="02010609060101010101" pitchFamily="49" charset="-122"/>
                <a:cs typeface="Times New Roman" panose="02020603050405020304" pitchFamily="18" charset="0"/>
              </a:rPr>
              <a:t>0.1 MPa</a:t>
            </a:r>
            <a:r>
              <a:rPr lang="zh-CN" altLang="en-US" sz="3200" b="1" dirty="0" smtClean="0">
                <a:latin typeface="Times New Roman" panose="02020603050405020304" pitchFamily="18" charset="0"/>
                <a:ea typeface="黑体" panose="02010609060101010101" pitchFamily="49" charset="-122"/>
                <a:cs typeface="Times New Roman" panose="02020603050405020304" pitchFamily="18" charset="0"/>
              </a:rPr>
              <a:t>时，水的汽化潜热</a:t>
            </a:r>
            <a:r>
              <a:rPr lang="en-US" altLang="zh-CN" sz="3200" b="1" i="1" dirty="0" smtClean="0">
                <a:latin typeface="Times New Roman" panose="02020603050405020304" pitchFamily="18" charset="0"/>
                <a:ea typeface="黑体" panose="02010609060101010101" pitchFamily="49" charset="-122"/>
                <a:cs typeface="Times New Roman" panose="02020603050405020304" pitchFamily="18" charset="0"/>
              </a:rPr>
              <a:t>r</a:t>
            </a:r>
            <a:r>
              <a:rPr lang="en-US" altLang="zh-CN" sz="3200" b="1"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3200" b="1" dirty="0" smtClean="0">
                <a:latin typeface="Times New Roman" panose="02020603050405020304" pitchFamily="18" charset="0"/>
                <a:ea typeface="黑体" panose="02010609060101010101" pitchFamily="49" charset="-122"/>
                <a:cs typeface="Times New Roman" panose="02020603050405020304" pitchFamily="18" charset="0"/>
              </a:rPr>
              <a:t>2257.6 kJ/kg</a:t>
            </a:r>
            <a:r>
              <a:rPr lang="zh-CN" altLang="en-US" sz="3200" b="1" dirty="0" smtClean="0">
                <a:latin typeface="Times New Roman" panose="02020603050405020304" pitchFamily="18" charset="0"/>
                <a:ea typeface="黑体" panose="02010609060101010101" pitchFamily="49" charset="-122"/>
                <a:cs typeface="Times New Roman" panose="02020603050405020304" pitchFamily="18" charset="0"/>
              </a:rPr>
              <a:t>，该数值等于此压力下</a:t>
            </a:r>
            <a:r>
              <a:rPr lang="en-US" altLang="zh-CN" sz="3200" b="1" dirty="0" smtClean="0">
                <a:latin typeface="Times New Roman" panose="02020603050405020304" pitchFamily="18" charset="0"/>
                <a:ea typeface="黑体" panose="02010609060101010101" pitchFamily="49" charset="-122"/>
                <a:cs typeface="Times New Roman" panose="02020603050405020304" pitchFamily="18" charset="0"/>
              </a:rPr>
              <a:t> </a:t>
            </a:r>
            <a:endParaRPr lang="en-US" altLang="zh-CN" sz="3200" b="1" dirty="0" smtClean="0">
              <a:latin typeface="Times New Roman" panose="02020603050405020304" pitchFamily="18" charset="0"/>
              <a:ea typeface="黑体" panose="02010609060101010101" pitchFamily="49" charset="-122"/>
              <a:cs typeface="Times New Roman" panose="02020603050405020304" pitchFamily="18" charset="0"/>
            </a:endParaRPr>
          </a:p>
          <a:p>
            <a:pPr marL="0" indent="0">
              <a:buNone/>
            </a:pPr>
            <a:r>
              <a:rPr lang="zh-CN" altLang="en-US" sz="3200" b="1" dirty="0" smtClean="0">
                <a:latin typeface="Times New Roman" panose="02020603050405020304" pitchFamily="18" charset="0"/>
                <a:ea typeface="黑体" panose="02010609060101010101" pitchFamily="49" charset="-122"/>
                <a:cs typeface="Times New Roman" panose="02020603050405020304" pitchFamily="18" charset="0"/>
              </a:rPr>
              <a:t>的数值，原因如下：</a:t>
            </a:r>
            <a:endParaRPr lang="zh-CN" altLang="en-US" sz="3200" b="1" dirty="0" smtClean="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79874" name="矩形 189444"/>
          <p:cNvSpPr>
            <a:spLocks noChangeArrowheads="1"/>
          </p:cNvSpPr>
          <p:nvPr/>
        </p:nvSpPr>
        <p:spPr bwMode="auto">
          <a:xfrm>
            <a:off x="0"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79875" name="对象 189443"/>
          <p:cNvGraphicFramePr/>
          <p:nvPr/>
        </p:nvGraphicFramePr>
        <p:xfrm>
          <a:off x="581025" y="2383806"/>
          <a:ext cx="2051050" cy="517525"/>
        </p:xfrm>
        <a:graphic>
          <a:graphicData uri="http://schemas.openxmlformats.org/presentationml/2006/ole">
            <mc:AlternateContent xmlns:mc="http://schemas.openxmlformats.org/markup-compatibility/2006">
              <mc:Choice xmlns:v="urn:schemas-microsoft-com:vml" Requires="v">
                <p:oleObj spid="_x0000_s49218" name="" r:id="rId1" imgW="901065" imgH="228600" progId="Equation.DSMT4">
                  <p:embed/>
                </p:oleObj>
              </mc:Choice>
              <mc:Fallback>
                <p:oleObj name="" r:id="rId1" imgW="901065" imgH="228600" progId="Equation.DSMT4">
                  <p:embed/>
                  <p:pic>
                    <p:nvPicPr>
                      <p:cNvPr id="0" name="对象 189443"/>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1025" y="2383806"/>
                        <a:ext cx="2051050"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79876" name="矩形 189446"/>
          <p:cNvSpPr>
            <a:spLocks noChangeArrowheads="1"/>
          </p:cNvSpPr>
          <p:nvPr/>
        </p:nvSpPr>
        <p:spPr bwMode="auto">
          <a:xfrm>
            <a:off x="0" y="31384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79877" name="对象 189445"/>
          <p:cNvGraphicFramePr/>
          <p:nvPr/>
        </p:nvGraphicFramePr>
        <p:xfrm>
          <a:off x="581025" y="3113917"/>
          <a:ext cx="8105775" cy="1309687"/>
        </p:xfrm>
        <a:graphic>
          <a:graphicData uri="http://schemas.openxmlformats.org/presentationml/2006/ole">
            <mc:AlternateContent xmlns:mc="http://schemas.openxmlformats.org/markup-compatibility/2006">
              <mc:Choice xmlns:v="urn:schemas-microsoft-com:vml" Requires="v">
                <p:oleObj spid="_x0000_s49219" name="" r:id="rId3" imgW="3592830" imgH="584200" progId="Equation.DSMT4">
                  <p:embed/>
                </p:oleObj>
              </mc:Choice>
              <mc:Fallback>
                <p:oleObj name="" r:id="rId3" imgW="3592830" imgH="584200" progId="Equation.DSMT4">
                  <p:embed/>
                  <p:pic>
                    <p:nvPicPr>
                      <p:cNvPr id="0" name="对象 189445"/>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1025" y="3113917"/>
                        <a:ext cx="8105775" cy="1309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79878" name="对象 189447"/>
          <p:cNvGraphicFramePr/>
          <p:nvPr/>
        </p:nvGraphicFramePr>
        <p:xfrm>
          <a:off x="581025" y="4716463"/>
          <a:ext cx="7735888" cy="592137"/>
        </p:xfrm>
        <a:graphic>
          <a:graphicData uri="http://schemas.openxmlformats.org/presentationml/2006/ole">
            <mc:AlternateContent xmlns:mc="http://schemas.openxmlformats.org/markup-compatibility/2006">
              <mc:Choice xmlns:v="urn:schemas-microsoft-com:vml" Requires="v">
                <p:oleObj spid="_x0000_s49220" name="" r:id="rId5" imgW="3362325" imgH="254000" progId="Equation.DSMT4">
                  <p:embed/>
                </p:oleObj>
              </mc:Choice>
              <mc:Fallback>
                <p:oleObj name="" r:id="rId5" imgW="3362325" imgH="254000" progId="Equation.DSMT4">
                  <p:embed/>
                  <p:pic>
                    <p:nvPicPr>
                      <p:cNvPr id="0" name="对象 189447"/>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81025" y="4716463"/>
                        <a:ext cx="7735888" cy="592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8" name="对象 189447"/>
          <p:cNvGraphicFramePr/>
          <p:nvPr/>
        </p:nvGraphicFramePr>
        <p:xfrm>
          <a:off x="7185509" y="992602"/>
          <a:ext cx="965200" cy="414337"/>
        </p:xfrm>
        <a:graphic>
          <a:graphicData uri="http://schemas.openxmlformats.org/presentationml/2006/ole">
            <mc:AlternateContent xmlns:mc="http://schemas.openxmlformats.org/markup-compatibility/2006">
              <mc:Choice xmlns:v="urn:schemas-microsoft-com:vml" Requires="v">
                <p:oleObj spid="_x0000_s49221" name="Equation" r:id="rId7" imgW="10058400" imgH="4267200" progId="Equation.DSMT4">
                  <p:embed/>
                </p:oleObj>
              </mc:Choice>
              <mc:Fallback>
                <p:oleObj name="Equation" r:id="rId7" imgW="10058400" imgH="4267200" progId="Equation.DSMT4">
                  <p:embed/>
                  <p:pic>
                    <p:nvPicPr>
                      <p:cNvPr id="0" name="对象 189447"/>
                      <p:cNvPicPr>
                        <a:picLocks noChangeArrowheads="1"/>
                      </p:cNvPicPr>
                      <p:nvPr/>
                    </p:nvPicPr>
                    <p:blipFill>
                      <a:blip r:embed="rId8"/>
                      <a:srcRect/>
                      <a:stretch>
                        <a:fillRect/>
                      </a:stretch>
                    </p:blipFill>
                    <p:spPr bwMode="auto">
                      <a:xfrm>
                        <a:off x="7185509" y="992602"/>
                        <a:ext cx="965200" cy="414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ransition spd="slow"/>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矩形 250881"/>
          <p:cNvSpPr>
            <a:spLocks noChangeArrowheads="1"/>
          </p:cNvSpPr>
          <p:nvPr/>
        </p:nvSpPr>
        <p:spPr bwMode="auto">
          <a:xfrm>
            <a:off x="292100" y="186533"/>
            <a:ext cx="8229600" cy="2160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400">
                <a:solidFill>
                  <a:schemeClr val="tx1"/>
                </a:solidFill>
                <a:latin typeface="Tahoma" panose="020B0604030504040204" pitchFamily="34" charset="0"/>
                <a:ea typeface="宋体" panose="02010600030101010101" pitchFamily="2" charset="-122"/>
              </a:defRPr>
            </a:lvl1pPr>
            <a:lvl2pPr>
              <a:defRPr sz="2400">
                <a:solidFill>
                  <a:schemeClr val="tx1"/>
                </a:solidFill>
                <a:latin typeface="Tahoma" panose="020B0604030504040204" pitchFamily="34" charset="0"/>
                <a:ea typeface="宋体" panose="02010600030101010101" pitchFamily="2" charset="-122"/>
              </a:defRPr>
            </a:lvl2pPr>
            <a:lvl3pPr>
              <a:defRPr sz="2400">
                <a:solidFill>
                  <a:schemeClr val="tx1"/>
                </a:solidFill>
                <a:latin typeface="Tahoma" panose="020B0604030504040204" pitchFamily="34" charset="0"/>
                <a:ea typeface="宋体" panose="02010600030101010101" pitchFamily="2" charset="-122"/>
              </a:defRPr>
            </a:lvl3pPr>
            <a:lvl4pPr>
              <a:defRPr sz="2400">
                <a:solidFill>
                  <a:schemeClr val="tx1"/>
                </a:solidFill>
                <a:latin typeface="Tahoma" panose="020B0604030504040204" pitchFamily="34" charset="0"/>
                <a:ea typeface="宋体" panose="02010600030101010101" pitchFamily="2" charset="-122"/>
              </a:defRPr>
            </a:lvl4pPr>
            <a:lvl5pPr>
              <a:defRPr sz="2400">
                <a:solidFill>
                  <a:schemeClr val="tx1"/>
                </a:solidFill>
                <a:latin typeface="Tahoma" panose="020B0604030504040204" pitchFamily="34" charset="0"/>
                <a:ea typeface="宋体" panose="02010600030101010101" pitchFamily="2" charset="-122"/>
              </a:defRPr>
            </a:lvl5pPr>
            <a:lvl6pPr fontAlgn="base">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fontAlgn="base">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fontAlgn="base">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fontAlgn="base">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marL="0" indent="0">
              <a:spcBef>
                <a:spcPct val="20000"/>
              </a:spcBef>
            </a:pPr>
            <a:r>
              <a:rPr lang="zh-CN" altLang="en-US" sz="3200" b="1" dirty="0">
                <a:latin typeface="黑体" panose="02010609060101010101" pitchFamily="49" charset="-122"/>
                <a:ea typeface="黑体" panose="02010609060101010101" pitchFamily="49" charset="-122"/>
              </a:rPr>
              <a:t>还有没有其他方法计算得到汽化潜热</a:t>
            </a:r>
            <a:r>
              <a:rPr lang="zh-CN" altLang="en-US" sz="3200" b="1" dirty="0" smtClean="0">
                <a:latin typeface="黑体" panose="02010609060101010101" pitchFamily="49" charset="-122"/>
                <a:ea typeface="黑体" panose="02010609060101010101" pitchFamily="49" charset="-122"/>
              </a:rPr>
              <a:t>？有！</a:t>
            </a:r>
            <a:endParaRPr lang="zh-CN" altLang="en-US" sz="3200" b="1" dirty="0">
              <a:latin typeface="黑体" panose="02010609060101010101" pitchFamily="49" charset="-122"/>
              <a:ea typeface="黑体" panose="02010609060101010101" pitchFamily="49" charset="-122"/>
            </a:endParaRPr>
          </a:p>
        </p:txBody>
      </p:sp>
      <p:sp>
        <p:nvSpPr>
          <p:cNvPr id="80898" name="矩形 250882"/>
          <p:cNvSpPr>
            <a:spLocks noChangeArrowheads="1"/>
          </p:cNvSpPr>
          <p:nvPr/>
        </p:nvSpPr>
        <p:spPr bwMode="auto">
          <a:xfrm>
            <a:off x="0" y="33004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80899" name="对象 250883"/>
          <p:cNvGraphicFramePr>
            <a:graphicFrameLocks noChangeAspect="1"/>
          </p:cNvGraphicFramePr>
          <p:nvPr/>
        </p:nvGraphicFramePr>
        <p:xfrm>
          <a:off x="375282" y="1577181"/>
          <a:ext cx="3403600" cy="508000"/>
        </p:xfrm>
        <a:graphic>
          <a:graphicData uri="http://schemas.openxmlformats.org/presentationml/2006/ole">
            <mc:AlternateContent xmlns:mc="http://schemas.openxmlformats.org/markup-compatibility/2006">
              <mc:Choice xmlns:v="urn:schemas-microsoft-com:vml" Requires="v">
                <p:oleObj spid="_x0000_s50254" name="" r:id="rId1" imgW="1701800" imgH="254000" progId="Equation.DSMT4">
                  <p:embed/>
                </p:oleObj>
              </mc:Choice>
              <mc:Fallback>
                <p:oleObj name="" r:id="rId1" imgW="1701800" imgH="254000" progId="Equation.DSMT4">
                  <p:embed/>
                  <p:pic>
                    <p:nvPicPr>
                      <p:cNvPr id="0" name="对象 250883"/>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5282" y="1577181"/>
                        <a:ext cx="3403600" cy="5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80900" name="矩形 250884"/>
          <p:cNvSpPr>
            <a:spLocks noChangeArrowheads="1"/>
          </p:cNvSpPr>
          <p:nvPr/>
        </p:nvSpPr>
        <p:spPr bwMode="auto">
          <a:xfrm>
            <a:off x="0" y="33004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80901" name="对象 250885"/>
          <p:cNvGraphicFramePr>
            <a:graphicFrameLocks noChangeAspect="1"/>
          </p:cNvGraphicFramePr>
          <p:nvPr/>
        </p:nvGraphicFramePr>
        <p:xfrm>
          <a:off x="358210" y="2120391"/>
          <a:ext cx="6731000" cy="1473200"/>
        </p:xfrm>
        <a:graphic>
          <a:graphicData uri="http://schemas.openxmlformats.org/presentationml/2006/ole">
            <mc:AlternateContent xmlns:mc="http://schemas.openxmlformats.org/markup-compatibility/2006">
              <mc:Choice xmlns:v="urn:schemas-microsoft-com:vml" Requires="v">
                <p:oleObj spid="_x0000_s50255" name="" r:id="rId3" imgW="3365500" imgH="736600" progId="Equation.DSMT4">
                  <p:embed/>
                </p:oleObj>
              </mc:Choice>
              <mc:Fallback>
                <p:oleObj name="" r:id="rId3" imgW="3365500" imgH="736600" progId="Equation.DSMT4">
                  <p:embed/>
                  <p:pic>
                    <p:nvPicPr>
                      <p:cNvPr id="0" name="对象 250885"/>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8210" y="2120391"/>
                        <a:ext cx="6731000" cy="147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80902" name="矩形 250886"/>
          <p:cNvSpPr>
            <a:spLocks noChangeArrowheads="1"/>
          </p:cNvSpPr>
          <p:nvPr/>
        </p:nvSpPr>
        <p:spPr bwMode="auto">
          <a:xfrm>
            <a:off x="0" y="20955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0903" name="矩形 250887"/>
          <p:cNvSpPr>
            <a:spLocks noChangeArrowheads="1"/>
          </p:cNvSpPr>
          <p:nvPr/>
        </p:nvSpPr>
        <p:spPr bwMode="auto">
          <a:xfrm>
            <a:off x="0" y="18764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 name="矩形 2"/>
          <p:cNvSpPr/>
          <p:nvPr/>
        </p:nvSpPr>
        <p:spPr>
          <a:xfrm>
            <a:off x="4746307" y="1563833"/>
            <a:ext cx="3775393" cy="523220"/>
          </a:xfrm>
          <a:prstGeom prst="rect">
            <a:avLst/>
          </a:prstGeom>
        </p:spPr>
        <p:txBody>
          <a:bodyPr wrap="none">
            <a:spAutoFit/>
          </a:bodyPr>
          <a:lstStyle/>
          <a:p>
            <a:r>
              <a:rPr lang="zh-CN" altLang="en-US" sz="2800" dirty="0" smtClean="0">
                <a:solidFill>
                  <a:srgbClr val="FF0000"/>
                </a:solidFill>
                <a:latin typeface="黑体" panose="02010609060101010101" pitchFamily="49" charset="-122"/>
                <a:ea typeface="黑体" panose="02010609060101010101" pitchFamily="49" charset="-122"/>
              </a:rPr>
              <a:t>相当于下图中阴影面积</a:t>
            </a:r>
            <a:endParaRPr lang="zh-CN" altLang="en-US" sz="1600" dirty="0">
              <a:solidFill>
                <a:srgbClr val="FF0000"/>
              </a:solidFill>
              <a:latin typeface="黑体" panose="02010609060101010101" pitchFamily="49" charset="-122"/>
              <a:ea typeface="黑体" panose="02010609060101010101" pitchFamily="49" charset="-122"/>
            </a:endParaRPr>
          </a:p>
        </p:txBody>
      </p:sp>
      <p:sp>
        <p:nvSpPr>
          <p:cNvPr id="4" name="右箭头 3"/>
          <p:cNvSpPr/>
          <p:nvPr/>
        </p:nvSpPr>
        <p:spPr>
          <a:xfrm>
            <a:off x="4061791" y="1758696"/>
            <a:ext cx="510209" cy="17036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9" name="对象 8"/>
          <p:cNvGraphicFramePr>
            <a:graphicFrameLocks noChangeAspect="1"/>
          </p:cNvGraphicFramePr>
          <p:nvPr/>
        </p:nvGraphicFramePr>
        <p:xfrm>
          <a:off x="431455" y="776873"/>
          <a:ext cx="1167840" cy="786960"/>
        </p:xfrm>
        <a:graphic>
          <a:graphicData uri="http://schemas.openxmlformats.org/presentationml/2006/ole">
            <mc:AlternateContent xmlns:mc="http://schemas.openxmlformats.org/markup-compatibility/2006">
              <mc:Choice xmlns:v="urn:schemas-microsoft-com:vml" Requires="v">
                <p:oleObj spid="_x0000_s50256" name="Equation" r:id="rId5" imgW="14020800" imgH="9448800" progId="Equation.DSMT4">
                  <p:embed/>
                </p:oleObj>
              </mc:Choice>
              <mc:Fallback>
                <p:oleObj name="Equation" r:id="rId5" imgW="14020800" imgH="9448800" progId="Equation.DSMT4">
                  <p:embed/>
                  <p:pic>
                    <p:nvPicPr>
                      <p:cNvPr id="0" name="对象 8"/>
                      <p:cNvPicPr>
                        <a:picLocks noChangeAspect="1" noChangeArrowheads="1"/>
                      </p:cNvPicPr>
                      <p:nvPr/>
                    </p:nvPicPr>
                    <p:blipFill>
                      <a:blip r:embed="rId6"/>
                      <a:srcRect/>
                      <a:stretch>
                        <a:fillRect/>
                      </a:stretch>
                    </p:blipFill>
                    <p:spPr bwMode="auto">
                      <a:xfrm>
                        <a:off x="431455" y="776873"/>
                        <a:ext cx="1167840" cy="78696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2" name="图片 1"/>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53515" y="3618481"/>
            <a:ext cx="3170195" cy="3103133"/>
          </a:xfrm>
          <a:prstGeom prst="rect">
            <a:avLst/>
          </a:prstGeom>
        </p:spPr>
      </p:pic>
      <p:pic>
        <p:nvPicPr>
          <p:cNvPr id="5" name="图片 4"/>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316895" y="3353849"/>
            <a:ext cx="4029805" cy="3304318"/>
          </a:xfrm>
          <a:prstGeom prst="rect">
            <a:avLst/>
          </a:prstGeom>
        </p:spPr>
      </p:pic>
    </p:spTree>
  </p:cSld>
  <p:clrMapOvr>
    <a:masterClrMapping/>
  </p:clrMapOvr>
  <p:transition spd="slow"/>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矩形 191491"/>
          <p:cNvSpPr>
            <a:spLocks noChangeArrowheads="1"/>
          </p:cNvSpPr>
          <p:nvPr/>
        </p:nvSpPr>
        <p:spPr bwMode="auto">
          <a:xfrm>
            <a:off x="4643438" y="474197"/>
            <a:ext cx="379302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zh-CN" altLang="en-US" sz="2800" b="1" dirty="0">
                <a:solidFill>
                  <a:srgbClr val="000000"/>
                </a:solidFill>
                <a:latin typeface="黑体" panose="02010609060101010101" pitchFamily="49" charset="-122"/>
                <a:ea typeface="黑体" panose="02010609060101010101" pitchFamily="49" charset="-122"/>
              </a:rPr>
              <a:t>湿饱和水蒸气（点</a:t>
            </a:r>
            <a:r>
              <a:rPr lang="en-US" altLang="zh-CN" sz="2800" b="1" dirty="0">
                <a:solidFill>
                  <a:srgbClr val="000000"/>
                </a:solidFill>
                <a:latin typeface="黑体" panose="02010609060101010101" pitchFamily="49" charset="-122"/>
                <a:ea typeface="黑体" panose="02010609060101010101" pitchFamily="49" charset="-122"/>
              </a:rPr>
              <a:t>3</a:t>
            </a:r>
            <a:r>
              <a:rPr lang="zh-CN" altLang="en-US" sz="2800" b="1" dirty="0">
                <a:solidFill>
                  <a:srgbClr val="000000"/>
                </a:solidFill>
                <a:latin typeface="黑体" panose="02010609060101010101" pitchFamily="49" charset="-122"/>
                <a:ea typeface="黑体" panose="02010609060101010101" pitchFamily="49" charset="-122"/>
              </a:rPr>
              <a:t>）</a:t>
            </a:r>
            <a:r>
              <a:rPr lang="zh-CN" altLang="en-US" sz="2800" b="1" dirty="0">
                <a:latin typeface="黑体" panose="02010609060101010101" pitchFamily="49" charset="-122"/>
                <a:ea typeface="黑体" panose="02010609060101010101" pitchFamily="49" charset="-122"/>
              </a:rPr>
              <a:t> </a:t>
            </a:r>
            <a:endParaRPr lang="zh-CN" altLang="en-US" sz="2800" b="1" dirty="0">
              <a:latin typeface="黑体" panose="02010609060101010101" pitchFamily="49" charset="-122"/>
              <a:ea typeface="黑体" panose="02010609060101010101" pitchFamily="49" charset="-122"/>
            </a:endParaRPr>
          </a:p>
        </p:txBody>
      </p:sp>
      <p:sp>
        <p:nvSpPr>
          <p:cNvPr id="81924" name="矩形 191494"/>
          <p:cNvSpPr>
            <a:spLocks noChangeArrowheads="1"/>
          </p:cNvSpPr>
          <p:nvPr/>
        </p:nvSpPr>
        <p:spPr bwMode="auto">
          <a:xfrm>
            <a:off x="4741517" y="1535203"/>
            <a:ext cx="3945283"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它的状态参数也可以通过</a:t>
            </a:r>
            <a:r>
              <a:rPr lang="zh-CN" altLang="en-US" sz="2800" b="1"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饱和水及干饱和水蒸气热力性质表</a:t>
            </a: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查取。其中，它的温度和压力与点</a:t>
            </a:r>
            <a:r>
              <a:rPr lang="en-US" altLang="zh-CN" sz="2800" b="1" dirty="0">
                <a:latin typeface="Times New Roman" panose="02020603050405020304" pitchFamily="18" charset="0"/>
                <a:ea typeface="黑体" panose="02010609060101010101" pitchFamily="49" charset="-122"/>
                <a:cs typeface="Times New Roman" panose="02020603050405020304" pitchFamily="18" charset="0"/>
              </a:rPr>
              <a:t>2</a:t>
            </a: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和点</a:t>
            </a:r>
            <a:r>
              <a:rPr lang="en-US" altLang="zh-CN" sz="2800" b="1" dirty="0">
                <a:latin typeface="Times New Roman" panose="02020603050405020304" pitchFamily="18" charset="0"/>
                <a:ea typeface="黑体" panose="02010609060101010101" pitchFamily="49" charset="-122"/>
                <a:cs typeface="Times New Roman" panose="02020603050405020304" pitchFamily="18" charset="0"/>
              </a:rPr>
              <a:t>4</a:t>
            </a: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相同，但其他参数值（</a:t>
            </a:r>
            <a:r>
              <a:rPr lang="en-US" altLang="zh-CN" sz="2800" b="1" i="1" dirty="0">
                <a:latin typeface="Times New Roman" panose="02020603050405020304" pitchFamily="18" charset="0"/>
                <a:ea typeface="黑体" panose="02010609060101010101" pitchFamily="49" charset="-122"/>
                <a:cs typeface="Times New Roman" panose="02020603050405020304" pitchFamily="18" charset="0"/>
              </a:rPr>
              <a:t>v</a:t>
            </a: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2800" b="1" i="1" dirty="0">
                <a:latin typeface="Times New Roman" panose="02020603050405020304" pitchFamily="18" charset="0"/>
                <a:ea typeface="黑体" panose="02010609060101010101" pitchFamily="49" charset="-122"/>
                <a:cs typeface="Times New Roman" panose="02020603050405020304" pitchFamily="18" charset="0"/>
              </a:rPr>
              <a:t>h</a:t>
            </a: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和</a:t>
            </a:r>
            <a:r>
              <a:rPr lang="en-US" altLang="zh-CN" sz="2800" b="1" i="1" dirty="0">
                <a:latin typeface="Times New Roman" panose="02020603050405020304" pitchFamily="18" charset="0"/>
                <a:ea typeface="黑体" panose="02010609060101010101" pitchFamily="49" charset="-122"/>
                <a:cs typeface="Times New Roman" panose="02020603050405020304" pitchFamily="18" charset="0"/>
              </a:rPr>
              <a:t>s</a:t>
            </a: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）不同。 </a:t>
            </a:r>
            <a:endParaRPr lang="zh-CN" altLang="en-US" sz="2800" b="1" dirty="0">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6" name="图片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92641" y="514916"/>
            <a:ext cx="4499238" cy="3084843"/>
          </a:xfrm>
          <a:prstGeom prst="rect">
            <a:avLst/>
          </a:prstGeom>
        </p:spPr>
      </p:pic>
      <p:pic>
        <p:nvPicPr>
          <p:cNvPr id="7" name="图片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962" y="3599759"/>
            <a:ext cx="4645555" cy="3194581"/>
          </a:xfrm>
          <a:prstGeom prst="rect">
            <a:avLst/>
          </a:prstGeom>
        </p:spPr>
      </p:pic>
    </p:spTree>
  </p:cSld>
  <p:clrMapOvr>
    <a:masterClrMapping/>
  </p:clrMapOvr>
  <p:transition spd="slow"/>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文本占位符 192514"/>
          <p:cNvSpPr>
            <a:spLocks noGrp="1" noChangeArrowheads="1"/>
          </p:cNvSpPr>
          <p:nvPr>
            <p:ph idx="1"/>
          </p:nvPr>
        </p:nvSpPr>
        <p:spPr>
          <a:xfrm>
            <a:off x="457200" y="193675"/>
            <a:ext cx="8229600" cy="2159000"/>
          </a:xfrm>
        </p:spPr>
        <p:txBody>
          <a:bodyPr>
            <a:normAutofit/>
          </a:bodyPr>
          <a:lstStyle/>
          <a:p>
            <a:pPr marL="0" indent="0">
              <a:lnSpc>
                <a:spcPct val="100000"/>
              </a:lnSpc>
              <a:buNone/>
            </a:pPr>
            <a:r>
              <a:rPr lang="zh-CN" altLang="en-US" sz="2600" b="1" dirty="0" smtClean="0">
                <a:latin typeface="Times New Roman" panose="02020603050405020304" pitchFamily="18" charset="0"/>
                <a:ea typeface="黑体" panose="02010609060101010101" pitchFamily="49" charset="-122"/>
                <a:cs typeface="Times New Roman" panose="02020603050405020304" pitchFamily="18" charset="0"/>
              </a:rPr>
              <a:t>为了得到点</a:t>
            </a:r>
            <a:r>
              <a:rPr lang="en-US" altLang="zh-CN" sz="2600" b="1" dirty="0" smtClean="0">
                <a:latin typeface="Times New Roman" panose="02020603050405020304" pitchFamily="18" charset="0"/>
                <a:ea typeface="黑体" panose="02010609060101010101" pitchFamily="49" charset="-122"/>
                <a:cs typeface="Times New Roman" panose="02020603050405020304" pitchFamily="18" charset="0"/>
              </a:rPr>
              <a:t>3</a:t>
            </a:r>
            <a:r>
              <a:rPr lang="zh-CN" altLang="en-US" sz="2600" b="1" dirty="0" smtClean="0">
                <a:latin typeface="Times New Roman" panose="02020603050405020304" pitchFamily="18" charset="0"/>
                <a:ea typeface="黑体" panose="02010609060101010101" pitchFamily="49" charset="-122"/>
                <a:cs typeface="Times New Roman" panose="02020603050405020304" pitchFamily="18" charset="0"/>
              </a:rPr>
              <a:t>的</a:t>
            </a:r>
            <a:r>
              <a:rPr lang="en-US" altLang="zh-CN" sz="2600" b="1" i="1" dirty="0" smtClean="0">
                <a:latin typeface="Times New Roman" panose="02020603050405020304" pitchFamily="18" charset="0"/>
                <a:ea typeface="黑体" panose="02010609060101010101" pitchFamily="49" charset="-122"/>
                <a:cs typeface="Times New Roman" panose="02020603050405020304" pitchFamily="18" charset="0"/>
              </a:rPr>
              <a:t>v</a:t>
            </a:r>
            <a:r>
              <a:rPr lang="zh-CN" altLang="en-US" sz="2600" b="1" dirty="0" smtClean="0">
                <a:latin typeface="Times New Roman" panose="02020603050405020304" pitchFamily="18" charset="0"/>
                <a:ea typeface="黑体" panose="02010609060101010101" pitchFamily="49" charset="-122"/>
                <a:cs typeface="Times New Roman" panose="02020603050405020304" pitchFamily="18" charset="0"/>
              </a:rPr>
              <a:t>，</a:t>
            </a:r>
            <a:r>
              <a:rPr lang="en-US" altLang="zh-CN" sz="2600" b="1" i="1" dirty="0" smtClean="0">
                <a:latin typeface="Times New Roman" panose="02020603050405020304" pitchFamily="18" charset="0"/>
                <a:ea typeface="黑体" panose="02010609060101010101" pitchFamily="49" charset="-122"/>
                <a:cs typeface="Times New Roman" panose="02020603050405020304" pitchFamily="18" charset="0"/>
              </a:rPr>
              <a:t>h</a:t>
            </a:r>
            <a:r>
              <a:rPr lang="zh-CN" altLang="en-US" sz="2600" b="1" dirty="0" smtClean="0">
                <a:latin typeface="Times New Roman" panose="02020603050405020304" pitchFamily="18" charset="0"/>
                <a:ea typeface="黑体" panose="02010609060101010101" pitchFamily="49" charset="-122"/>
                <a:cs typeface="Times New Roman" panose="02020603050405020304" pitchFamily="18" charset="0"/>
              </a:rPr>
              <a:t>和</a:t>
            </a:r>
            <a:r>
              <a:rPr lang="en-US" altLang="zh-CN" sz="2600" b="1" i="1" dirty="0" smtClean="0">
                <a:latin typeface="Times New Roman" panose="02020603050405020304" pitchFamily="18" charset="0"/>
                <a:ea typeface="黑体" panose="02010609060101010101" pitchFamily="49" charset="-122"/>
                <a:cs typeface="Times New Roman" panose="02020603050405020304" pitchFamily="18" charset="0"/>
              </a:rPr>
              <a:t>s</a:t>
            </a:r>
            <a:r>
              <a:rPr lang="zh-CN" altLang="en-US" sz="2600" b="1" dirty="0" smtClean="0">
                <a:latin typeface="Times New Roman" panose="02020603050405020304" pitchFamily="18" charset="0"/>
                <a:ea typeface="黑体" panose="02010609060101010101" pitchFamily="49" charset="-122"/>
                <a:cs typeface="Times New Roman" panose="02020603050405020304" pitchFamily="18" charset="0"/>
              </a:rPr>
              <a:t>，通常需要确定湿饱和水蒸气的干度。所谓</a:t>
            </a:r>
            <a:r>
              <a:rPr lang="zh-CN" altLang="en-US" sz="2600" b="1" dirty="0" smtClean="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干度</a:t>
            </a:r>
            <a:r>
              <a:rPr lang="zh-CN" altLang="en-US" sz="2600" b="1" dirty="0" smtClean="0">
                <a:latin typeface="Times New Roman" panose="02020603050405020304" pitchFamily="18" charset="0"/>
                <a:ea typeface="黑体" panose="02010609060101010101" pitchFamily="49" charset="-122"/>
                <a:cs typeface="Times New Roman" panose="02020603050405020304" pitchFamily="18" charset="0"/>
              </a:rPr>
              <a:t>，是指湿饱和蒸气中</a:t>
            </a:r>
            <a:r>
              <a:rPr lang="zh-CN" altLang="en-US" sz="2600" b="1" dirty="0" smtClean="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饱和蒸气</a:t>
            </a:r>
            <a:r>
              <a:rPr lang="zh-CN" altLang="en-US" sz="2600" b="1" dirty="0" smtClean="0">
                <a:latin typeface="Times New Roman" panose="02020603050405020304" pitchFamily="18" charset="0"/>
                <a:ea typeface="黑体" panose="02010609060101010101" pitchFamily="49" charset="-122"/>
                <a:cs typeface="Times New Roman" panose="02020603050405020304" pitchFamily="18" charset="0"/>
              </a:rPr>
              <a:t>所占的质量分数，用符号</a:t>
            </a:r>
            <a:r>
              <a:rPr lang="en-US" altLang="zh-CN" sz="2600" b="1" i="1" dirty="0" smtClean="0">
                <a:latin typeface="Times New Roman" panose="02020603050405020304" pitchFamily="18" charset="0"/>
                <a:ea typeface="黑体" panose="02010609060101010101" pitchFamily="49" charset="-122"/>
                <a:cs typeface="Times New Roman" panose="02020603050405020304" pitchFamily="18" charset="0"/>
              </a:rPr>
              <a:t>x</a:t>
            </a:r>
            <a:r>
              <a:rPr lang="zh-CN" altLang="en-US" sz="2600" b="1" dirty="0" smtClean="0">
                <a:latin typeface="Times New Roman" panose="02020603050405020304" pitchFamily="18" charset="0"/>
                <a:ea typeface="黑体" panose="02010609060101010101" pitchFamily="49" charset="-122"/>
                <a:cs typeface="Times New Roman" panose="02020603050405020304" pitchFamily="18" charset="0"/>
              </a:rPr>
              <a:t>表示 </a:t>
            </a:r>
            <a:endParaRPr lang="zh-CN" altLang="en-US" sz="2600" b="1" dirty="0" smtClean="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82946" name="矩形 192516"/>
          <p:cNvSpPr>
            <a:spLocks noChangeArrowheads="1"/>
          </p:cNvSpPr>
          <p:nvPr/>
        </p:nvSpPr>
        <p:spPr bwMode="auto">
          <a:xfrm>
            <a:off x="0"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82947" name="对象 192515"/>
          <p:cNvGraphicFramePr/>
          <p:nvPr/>
        </p:nvGraphicFramePr>
        <p:xfrm>
          <a:off x="2700338" y="1484313"/>
          <a:ext cx="2663825" cy="942975"/>
        </p:xfrm>
        <a:graphic>
          <a:graphicData uri="http://schemas.openxmlformats.org/presentationml/2006/ole">
            <mc:AlternateContent xmlns:mc="http://schemas.openxmlformats.org/markup-compatibility/2006">
              <mc:Choice xmlns:v="urn:schemas-microsoft-com:vml" Requires="v">
                <p:oleObj spid="_x0000_s52336" name="" r:id="rId1" imgW="1206500" imgH="431800" progId="Equation.DSMT4">
                  <p:embed/>
                </p:oleObj>
              </mc:Choice>
              <mc:Fallback>
                <p:oleObj name="" r:id="rId1" imgW="1206500" imgH="431800" progId="Equation.DSMT4">
                  <p:embed/>
                  <p:pic>
                    <p:nvPicPr>
                      <p:cNvPr id="0" name="对象 192515"/>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00338" y="1484313"/>
                        <a:ext cx="2663825" cy="942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82948" name="矩形 192517"/>
          <p:cNvSpPr>
            <a:spLocks noChangeArrowheads="1"/>
          </p:cNvSpPr>
          <p:nvPr/>
        </p:nvSpPr>
        <p:spPr bwMode="auto">
          <a:xfrm>
            <a:off x="611188" y="2530287"/>
            <a:ext cx="7632700" cy="892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en-US" altLang="zh-CN" sz="2600" b="1" i="1" dirty="0">
                <a:latin typeface="Times New Roman" panose="02020603050405020304" pitchFamily="18" charset="0"/>
                <a:ea typeface="黑体" panose="02010609060101010101" pitchFamily="49" charset="-122"/>
                <a:cs typeface="Times New Roman" panose="02020603050405020304" pitchFamily="18" charset="0"/>
              </a:rPr>
              <a:t>x</a:t>
            </a:r>
            <a:r>
              <a:rPr lang="zh-CN" altLang="en-US" sz="2600" b="1" dirty="0">
                <a:latin typeface="Times New Roman" panose="02020603050405020304" pitchFamily="18" charset="0"/>
                <a:ea typeface="黑体" panose="02010609060101010101" pitchFamily="49" charset="-122"/>
                <a:cs typeface="Times New Roman" panose="02020603050405020304" pitchFamily="18" charset="0"/>
              </a:rPr>
              <a:t>的值位于</a:t>
            </a:r>
            <a:r>
              <a:rPr lang="en-US" altLang="zh-CN" sz="2600" b="1" dirty="0">
                <a:latin typeface="Times New Roman" panose="02020603050405020304" pitchFamily="18" charset="0"/>
                <a:ea typeface="黑体" panose="02010609060101010101" pitchFamily="49" charset="-122"/>
                <a:cs typeface="Times New Roman" panose="02020603050405020304" pitchFamily="18" charset="0"/>
              </a:rPr>
              <a:t>0</a:t>
            </a:r>
            <a:r>
              <a:rPr lang="zh-CN" altLang="en-US" sz="2600" b="1" dirty="0">
                <a:latin typeface="Times New Roman" panose="02020603050405020304" pitchFamily="18" charset="0"/>
                <a:ea typeface="黑体" panose="02010609060101010101" pitchFamily="49" charset="-122"/>
                <a:cs typeface="Times New Roman" panose="02020603050405020304" pitchFamily="18" charset="0"/>
              </a:rPr>
              <a:t>到</a:t>
            </a:r>
            <a:r>
              <a:rPr lang="en-US" altLang="zh-CN" sz="2600" b="1" dirty="0">
                <a:latin typeface="Times New Roman" panose="02020603050405020304" pitchFamily="18" charset="0"/>
                <a:ea typeface="黑体" panose="02010609060101010101" pitchFamily="49" charset="-122"/>
                <a:cs typeface="Times New Roman" panose="02020603050405020304" pitchFamily="18" charset="0"/>
              </a:rPr>
              <a:t>1</a:t>
            </a:r>
            <a:r>
              <a:rPr lang="zh-CN" altLang="en-US" sz="2600" b="1" dirty="0">
                <a:latin typeface="Times New Roman" panose="02020603050405020304" pitchFamily="18" charset="0"/>
                <a:ea typeface="黑体" panose="02010609060101010101" pitchFamily="49" charset="-122"/>
                <a:cs typeface="Times New Roman" panose="02020603050405020304" pitchFamily="18" charset="0"/>
              </a:rPr>
              <a:t>之间，</a:t>
            </a:r>
            <a:r>
              <a:rPr lang="en-US" altLang="zh-CN" sz="2600" b="1" i="1" dirty="0">
                <a:latin typeface="Times New Roman" panose="02020603050405020304" pitchFamily="18" charset="0"/>
                <a:ea typeface="黑体" panose="02010609060101010101" pitchFamily="49" charset="-122"/>
                <a:cs typeface="Times New Roman" panose="02020603050405020304" pitchFamily="18" charset="0"/>
              </a:rPr>
              <a:t>x</a:t>
            </a:r>
            <a:r>
              <a:rPr lang="zh-CN" altLang="en-US" sz="2600" b="1" dirty="0">
                <a:latin typeface="Times New Roman" panose="02020603050405020304" pitchFamily="18" charset="0"/>
                <a:ea typeface="黑体" panose="02010609060101010101" pitchFamily="49" charset="-122"/>
                <a:cs typeface="Times New Roman" panose="02020603050405020304" pitchFamily="18" charset="0"/>
              </a:rPr>
              <a:t>越小，湿蒸气中的含气量越少，状态点越接近于饱和液体的状态 </a:t>
            </a:r>
            <a:endParaRPr lang="zh-CN" altLang="en-US" sz="2600" b="1" dirty="0">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82949" name="对象 192518"/>
          <p:cNvGraphicFramePr/>
          <p:nvPr/>
        </p:nvGraphicFramePr>
        <p:xfrm>
          <a:off x="466725" y="3573463"/>
          <a:ext cx="936625" cy="481012"/>
        </p:xfrm>
        <a:graphic>
          <a:graphicData uri="http://schemas.openxmlformats.org/presentationml/2006/ole">
            <mc:AlternateContent xmlns:mc="http://schemas.openxmlformats.org/markup-compatibility/2006">
              <mc:Choice xmlns:v="urn:schemas-microsoft-com:vml" Requires="v">
                <p:oleObj spid="_x0000_s52337" name="" r:id="rId3" imgW="354965" imgH="177800" progId="Equation.DSMT4">
                  <p:embed/>
                </p:oleObj>
              </mc:Choice>
              <mc:Fallback>
                <p:oleObj name="" r:id="rId3" imgW="354965" imgH="177800" progId="Equation.DSMT4">
                  <p:embed/>
                  <p:pic>
                    <p:nvPicPr>
                      <p:cNvPr id="0" name="对象 192518"/>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6725" y="3573463"/>
                        <a:ext cx="936625" cy="481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82950" name="矩形 192520"/>
          <p:cNvSpPr>
            <a:spLocks noChangeArrowheads="1"/>
          </p:cNvSpPr>
          <p:nvPr/>
        </p:nvSpPr>
        <p:spPr bwMode="auto">
          <a:xfrm>
            <a:off x="1835150" y="3571231"/>
            <a:ext cx="219643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zh-CN" altLang="en-US" sz="2400" b="1" dirty="0">
                <a:latin typeface="黑体" panose="02010609060101010101" pitchFamily="49" charset="-122"/>
                <a:ea typeface="黑体" panose="02010609060101010101" pitchFamily="49" charset="-122"/>
              </a:rPr>
              <a:t>饱和液体状态 </a:t>
            </a:r>
            <a:endParaRPr lang="zh-CN" altLang="en-US" sz="2400" b="1" dirty="0">
              <a:latin typeface="黑体" panose="02010609060101010101" pitchFamily="49" charset="-122"/>
              <a:ea typeface="黑体" panose="02010609060101010101" pitchFamily="49" charset="-122"/>
            </a:endParaRPr>
          </a:p>
        </p:txBody>
      </p:sp>
      <p:sp>
        <p:nvSpPr>
          <p:cNvPr id="82951" name="矩形 192521"/>
          <p:cNvSpPr>
            <a:spLocks noChangeArrowheads="1"/>
          </p:cNvSpPr>
          <p:nvPr/>
        </p:nvSpPr>
        <p:spPr bwMode="auto">
          <a:xfrm>
            <a:off x="1836738" y="4147493"/>
            <a:ext cx="219643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zh-CN" altLang="en-US" sz="2400" b="1" dirty="0">
                <a:latin typeface="黑体" panose="02010609060101010101" pitchFamily="49" charset="-122"/>
                <a:ea typeface="黑体" panose="02010609060101010101" pitchFamily="49" charset="-122"/>
              </a:rPr>
              <a:t>饱和蒸气状态 </a:t>
            </a:r>
            <a:endParaRPr lang="zh-CN" altLang="en-US" sz="2400" b="1" dirty="0">
              <a:latin typeface="黑体" panose="02010609060101010101" pitchFamily="49" charset="-122"/>
              <a:ea typeface="黑体" panose="02010609060101010101" pitchFamily="49" charset="-122"/>
            </a:endParaRPr>
          </a:p>
        </p:txBody>
      </p:sp>
      <p:graphicFrame>
        <p:nvGraphicFramePr>
          <p:cNvPr id="82952" name="对象 192525"/>
          <p:cNvGraphicFramePr/>
          <p:nvPr/>
        </p:nvGraphicFramePr>
        <p:xfrm>
          <a:off x="468313" y="4149725"/>
          <a:ext cx="869950" cy="481013"/>
        </p:xfrm>
        <a:graphic>
          <a:graphicData uri="http://schemas.openxmlformats.org/presentationml/2006/ole">
            <mc:AlternateContent xmlns:mc="http://schemas.openxmlformats.org/markup-compatibility/2006">
              <mc:Choice xmlns:v="urn:schemas-microsoft-com:vml" Requires="v">
                <p:oleObj spid="_x0000_s52338" name="" r:id="rId5" imgW="329565" imgH="177800" progId="Equation.DSMT4">
                  <p:embed/>
                </p:oleObj>
              </mc:Choice>
              <mc:Fallback>
                <p:oleObj name="" r:id="rId5" imgW="329565" imgH="177800" progId="Equation.DSMT4">
                  <p:embed/>
                  <p:pic>
                    <p:nvPicPr>
                      <p:cNvPr id="0" name="对象 192525"/>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8313" y="4149725"/>
                        <a:ext cx="869950" cy="48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82953" name="矩形 192527"/>
          <p:cNvSpPr>
            <a:spLocks noChangeArrowheads="1"/>
          </p:cNvSpPr>
          <p:nvPr/>
        </p:nvSpPr>
        <p:spPr bwMode="auto">
          <a:xfrm>
            <a:off x="0" y="24479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2955" name="矩形 192529"/>
          <p:cNvSpPr>
            <a:spLocks noChangeArrowheads="1"/>
          </p:cNvSpPr>
          <p:nvPr/>
        </p:nvSpPr>
        <p:spPr bwMode="auto">
          <a:xfrm>
            <a:off x="0" y="33004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82956" name="对象 192528"/>
          <p:cNvGraphicFramePr/>
          <p:nvPr/>
        </p:nvGraphicFramePr>
        <p:xfrm>
          <a:off x="755650" y="4941888"/>
          <a:ext cx="2592388" cy="565150"/>
        </p:xfrm>
        <a:graphic>
          <a:graphicData uri="http://schemas.openxmlformats.org/presentationml/2006/ole">
            <mc:AlternateContent xmlns:mc="http://schemas.openxmlformats.org/markup-compatibility/2006">
              <mc:Choice xmlns:v="urn:schemas-microsoft-com:vml" Requires="v">
                <p:oleObj spid="_x0000_s52339" name="" r:id="rId7" imgW="1180465" imgH="254000" progId="Equation.DSMT4">
                  <p:embed/>
                </p:oleObj>
              </mc:Choice>
              <mc:Fallback>
                <p:oleObj name="" r:id="rId7" imgW="1180465" imgH="254000" progId="Equation.DSMT4">
                  <p:embed/>
                  <p:pic>
                    <p:nvPicPr>
                      <p:cNvPr id="0" name="对象 192528"/>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55650" y="4941888"/>
                        <a:ext cx="2592388" cy="56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82957" name="矩形 192531"/>
          <p:cNvSpPr>
            <a:spLocks noChangeArrowheads="1"/>
          </p:cNvSpPr>
          <p:nvPr/>
        </p:nvSpPr>
        <p:spPr bwMode="auto">
          <a:xfrm>
            <a:off x="0" y="33004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82958" name="对象 192530"/>
          <p:cNvGraphicFramePr/>
          <p:nvPr/>
        </p:nvGraphicFramePr>
        <p:xfrm>
          <a:off x="755650" y="5445125"/>
          <a:ext cx="2592388" cy="569913"/>
        </p:xfrm>
        <a:graphic>
          <a:graphicData uri="http://schemas.openxmlformats.org/presentationml/2006/ole">
            <mc:AlternateContent xmlns:mc="http://schemas.openxmlformats.org/markup-compatibility/2006">
              <mc:Choice xmlns:v="urn:schemas-microsoft-com:vml" Requires="v">
                <p:oleObj spid="_x0000_s52340" name="" r:id="rId9" imgW="1167765" imgH="254000" progId="Equation.DSMT4">
                  <p:embed/>
                </p:oleObj>
              </mc:Choice>
              <mc:Fallback>
                <p:oleObj name="" r:id="rId9" imgW="1167765" imgH="254000" progId="Equation.DSMT4">
                  <p:embed/>
                  <p:pic>
                    <p:nvPicPr>
                      <p:cNvPr id="0" name="对象 192530"/>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55650" y="5445125"/>
                        <a:ext cx="2592388" cy="569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82959" name="矩形 192533"/>
          <p:cNvSpPr>
            <a:spLocks noChangeArrowheads="1"/>
          </p:cNvSpPr>
          <p:nvPr/>
        </p:nvSpPr>
        <p:spPr bwMode="auto">
          <a:xfrm>
            <a:off x="0" y="33004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82960" name="对象 192532"/>
          <p:cNvGraphicFramePr/>
          <p:nvPr/>
        </p:nvGraphicFramePr>
        <p:xfrm>
          <a:off x="755650" y="6021388"/>
          <a:ext cx="2232025" cy="506412"/>
        </p:xfrm>
        <a:graphic>
          <a:graphicData uri="http://schemas.openxmlformats.org/presentationml/2006/ole">
            <mc:AlternateContent xmlns:mc="http://schemas.openxmlformats.org/markup-compatibility/2006">
              <mc:Choice xmlns:v="urn:schemas-microsoft-com:vml" Requires="v">
                <p:oleObj spid="_x0000_s52341" name="" r:id="rId11" imgW="1129665" imgH="254000" progId="Equation.DSMT4">
                  <p:embed/>
                </p:oleObj>
              </mc:Choice>
              <mc:Fallback>
                <p:oleObj name="" r:id="rId11" imgW="1129665" imgH="254000" progId="Equation.DSMT4">
                  <p:embed/>
                  <p:pic>
                    <p:nvPicPr>
                      <p:cNvPr id="0" name="对象 192532"/>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55650" y="6021388"/>
                        <a:ext cx="2232025" cy="506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82961" name="矩形 192534"/>
          <p:cNvSpPr>
            <a:spLocks noChangeArrowheads="1"/>
          </p:cNvSpPr>
          <p:nvPr/>
        </p:nvSpPr>
        <p:spPr bwMode="auto">
          <a:xfrm>
            <a:off x="611188" y="4941888"/>
            <a:ext cx="2808287" cy="1582737"/>
          </a:xfrm>
          <a:prstGeom prst="rect">
            <a:avLst/>
          </a:prstGeom>
          <a:noFill/>
          <a:ln w="25400">
            <a:solidFill>
              <a:srgbClr val="FF0000"/>
            </a:solidFill>
            <a:miter lim="800000"/>
          </a:ln>
          <a:extLst>
            <a:ext uri="{909E8E84-426E-40DD-AFC4-6F175D3DCCD1}">
              <a14:hiddenFill xmlns:a14="http://schemas.microsoft.com/office/drawing/2010/main">
                <a:solidFill>
                  <a:srgbClr val="FFFFFF"/>
                </a:solidFill>
              </a14:hiddenFill>
            </a:ext>
          </a:extLst>
        </p:spPr>
        <p:txBody>
          <a:bodyPr/>
          <a:lstStyle/>
          <a:p>
            <a:endParaRPr lang="zh-CN" altLang="en-US"/>
          </a:p>
        </p:txBody>
      </p:sp>
      <p:pic>
        <p:nvPicPr>
          <p:cNvPr id="2" name="图片 1"/>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4427538" y="3768994"/>
            <a:ext cx="4176122" cy="2755631"/>
          </a:xfrm>
          <a:prstGeom prst="rect">
            <a:avLst/>
          </a:prstGeom>
        </p:spPr>
      </p:pic>
    </p:spTree>
  </p:cSld>
  <p:clrMapOvr>
    <a:masterClrMapping/>
  </p:clrMapOvr>
  <p:transition spd="slow"/>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92641" y="514916"/>
            <a:ext cx="4499238" cy="3084843"/>
          </a:xfrm>
          <a:prstGeom prst="rect">
            <a:avLst/>
          </a:prstGeom>
        </p:spPr>
      </p:pic>
      <p:pic>
        <p:nvPicPr>
          <p:cNvPr id="14" name="图片 1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4149" y="3599759"/>
            <a:ext cx="4645555" cy="3194581"/>
          </a:xfrm>
          <a:prstGeom prst="rect">
            <a:avLst/>
          </a:prstGeom>
        </p:spPr>
      </p:pic>
      <p:sp>
        <p:nvSpPr>
          <p:cNvPr id="83971" name="矩形 195589"/>
          <p:cNvSpPr>
            <a:spLocks noChangeArrowheads="1"/>
          </p:cNvSpPr>
          <p:nvPr/>
        </p:nvSpPr>
        <p:spPr bwMode="auto">
          <a:xfrm>
            <a:off x="2916238" y="402581"/>
            <a:ext cx="603242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zh-CN" altLang="en-US" sz="2400" b="1" dirty="0" smtClean="0">
                <a:latin typeface="Times New Roman" panose="02020603050405020304" pitchFamily="18" charset="0"/>
                <a:ea typeface="黑体" panose="02010609060101010101" pitchFamily="49" charset="-122"/>
                <a:cs typeface="Times New Roman" panose="02020603050405020304" pitchFamily="18" charset="0"/>
              </a:rPr>
              <a:t>假设湿饱和水蒸气在该状态下的干度为</a:t>
            </a:r>
            <a:r>
              <a:rPr lang="en-US" altLang="zh-CN" sz="2400" b="1" dirty="0" smtClean="0">
                <a:latin typeface="Times New Roman" panose="02020603050405020304" pitchFamily="18" charset="0"/>
                <a:ea typeface="黑体" panose="02010609060101010101" pitchFamily="49" charset="-122"/>
                <a:cs typeface="Times New Roman" panose="02020603050405020304" pitchFamily="18" charset="0"/>
              </a:rPr>
              <a:t>0.4 </a:t>
            </a:r>
            <a:endParaRPr lang="en-US" altLang="zh-CN" sz="24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83972" name="矩形 195591"/>
          <p:cNvSpPr>
            <a:spLocks noChangeArrowheads="1"/>
          </p:cNvSpPr>
          <p:nvPr/>
        </p:nvSpPr>
        <p:spPr bwMode="auto">
          <a:xfrm>
            <a:off x="0" y="30527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83973" name="对象 195590"/>
          <p:cNvGraphicFramePr/>
          <p:nvPr/>
        </p:nvGraphicFramePr>
        <p:xfrm>
          <a:off x="3563938" y="1268413"/>
          <a:ext cx="5364162" cy="1271587"/>
        </p:xfrm>
        <a:graphic>
          <a:graphicData uri="http://schemas.openxmlformats.org/presentationml/2006/ole">
            <mc:AlternateContent xmlns:mc="http://schemas.openxmlformats.org/markup-compatibility/2006">
              <mc:Choice xmlns:v="urn:schemas-microsoft-com:vml" Requires="v">
                <p:oleObj spid="_x0000_s53342" name="" r:id="rId3" imgW="3175000" imgH="749300" progId="Equation.DSMT4">
                  <p:embed/>
                </p:oleObj>
              </mc:Choice>
              <mc:Fallback>
                <p:oleObj name="" r:id="rId3" imgW="3175000" imgH="749300" progId="Equation.DSMT4">
                  <p:embed/>
                  <p:pic>
                    <p:nvPicPr>
                      <p:cNvPr id="0" name="对象 195590"/>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63938" y="1268413"/>
                        <a:ext cx="5364162" cy="1271587"/>
                      </a:xfrm>
                      <a:prstGeom prst="rect">
                        <a:avLst/>
                      </a:prstGeom>
                      <a:solidFill>
                        <a:srgbClr val="CCFFCC"/>
                      </a:solidFill>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83974" name="矩形 195593"/>
          <p:cNvSpPr>
            <a:spLocks noChangeArrowheads="1"/>
          </p:cNvSpPr>
          <p:nvPr/>
        </p:nvSpPr>
        <p:spPr bwMode="auto">
          <a:xfrm>
            <a:off x="0" y="30622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83975" name="对象 195592"/>
          <p:cNvGraphicFramePr/>
          <p:nvPr/>
        </p:nvGraphicFramePr>
        <p:xfrm>
          <a:off x="3563938" y="2870200"/>
          <a:ext cx="5329237" cy="1316038"/>
        </p:xfrm>
        <a:graphic>
          <a:graphicData uri="http://schemas.openxmlformats.org/presentationml/2006/ole">
            <mc:AlternateContent xmlns:mc="http://schemas.openxmlformats.org/markup-compatibility/2006">
              <mc:Choice xmlns:v="urn:schemas-microsoft-com:vml" Requires="v">
                <p:oleObj spid="_x0000_s53343" name="" r:id="rId5" imgW="2971800" imgH="736600" progId="Equation.DSMT4">
                  <p:embed/>
                </p:oleObj>
              </mc:Choice>
              <mc:Fallback>
                <p:oleObj name="" r:id="rId5" imgW="2971800" imgH="736600" progId="Equation.DSMT4">
                  <p:embed/>
                  <p:pic>
                    <p:nvPicPr>
                      <p:cNvPr id="0" name="对象 195592"/>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63938" y="2870200"/>
                        <a:ext cx="5329237" cy="1316038"/>
                      </a:xfrm>
                      <a:prstGeom prst="rect">
                        <a:avLst/>
                      </a:prstGeom>
                      <a:solidFill>
                        <a:srgbClr val="CCFFCC"/>
                      </a:solidFill>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83976" name="矩形 195595"/>
          <p:cNvSpPr>
            <a:spLocks noChangeArrowheads="1"/>
          </p:cNvSpPr>
          <p:nvPr/>
        </p:nvSpPr>
        <p:spPr bwMode="auto">
          <a:xfrm>
            <a:off x="0" y="30575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83977" name="对象 195594"/>
          <p:cNvGraphicFramePr/>
          <p:nvPr/>
        </p:nvGraphicFramePr>
        <p:xfrm>
          <a:off x="3492500" y="4437063"/>
          <a:ext cx="5400675" cy="1139825"/>
        </p:xfrm>
        <a:graphic>
          <a:graphicData uri="http://schemas.openxmlformats.org/presentationml/2006/ole">
            <mc:AlternateContent xmlns:mc="http://schemas.openxmlformats.org/markup-compatibility/2006">
              <mc:Choice xmlns:v="urn:schemas-microsoft-com:vml" Requires="v">
                <p:oleObj spid="_x0000_s53344" name="" r:id="rId7" imgW="3594100" imgH="762000" progId="Equation.DSMT4">
                  <p:embed/>
                </p:oleObj>
              </mc:Choice>
              <mc:Fallback>
                <p:oleObj name="" r:id="rId7" imgW="3594100" imgH="762000" progId="Equation.DSMT4">
                  <p:embed/>
                  <p:pic>
                    <p:nvPicPr>
                      <p:cNvPr id="0" name="对象 195594"/>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492500" y="4437063"/>
                        <a:ext cx="5400675" cy="1139825"/>
                      </a:xfrm>
                      <a:prstGeom prst="rect">
                        <a:avLst/>
                      </a:prstGeom>
                      <a:solidFill>
                        <a:srgbClr val="CCFFCC"/>
                      </a:solidFill>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83978" name="矩形 195597"/>
          <p:cNvSpPr>
            <a:spLocks noChangeArrowheads="1"/>
          </p:cNvSpPr>
          <p:nvPr/>
        </p:nvSpPr>
        <p:spPr bwMode="auto">
          <a:xfrm>
            <a:off x="0" y="33099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83979" name="对象 195596"/>
          <p:cNvGraphicFramePr/>
          <p:nvPr/>
        </p:nvGraphicFramePr>
        <p:xfrm>
          <a:off x="611188" y="6067425"/>
          <a:ext cx="8137525" cy="446088"/>
        </p:xfrm>
        <a:graphic>
          <a:graphicData uri="http://schemas.openxmlformats.org/presentationml/2006/ole">
            <mc:AlternateContent xmlns:mc="http://schemas.openxmlformats.org/markup-compatibility/2006">
              <mc:Choice xmlns:v="urn:schemas-microsoft-com:vml" Requires="v">
                <p:oleObj spid="_x0000_s53345" name="" r:id="rId9" imgW="4432300" imgH="241300" progId="Equation.DSMT4">
                  <p:embed/>
                </p:oleObj>
              </mc:Choice>
              <mc:Fallback>
                <p:oleObj name="" r:id="rId9" imgW="4432300" imgH="241300" progId="Equation.DSMT4">
                  <p:embed/>
                  <p:pic>
                    <p:nvPicPr>
                      <p:cNvPr id="0" name="对象 195596"/>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11188" y="6067425"/>
                        <a:ext cx="8137525" cy="446088"/>
                      </a:xfrm>
                      <a:prstGeom prst="rect">
                        <a:avLst/>
                      </a:prstGeom>
                      <a:solidFill>
                        <a:srgbClr val="CCFFCC"/>
                      </a:solidFill>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ransition spd="slow"/>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文本占位符 196612"/>
          <p:cNvSpPr>
            <a:spLocks noGrp="1" noChangeArrowheads="1"/>
          </p:cNvSpPr>
          <p:nvPr>
            <p:ph idx="1"/>
          </p:nvPr>
        </p:nvSpPr>
        <p:spPr>
          <a:xfrm>
            <a:off x="468313" y="1052513"/>
            <a:ext cx="8229600" cy="4525962"/>
          </a:xfrm>
        </p:spPr>
        <p:txBody>
          <a:bodyPr/>
          <a:lstStyle/>
          <a:p>
            <a:pPr>
              <a:lnSpc>
                <a:spcPct val="90000"/>
              </a:lnSpc>
            </a:pPr>
            <a:r>
              <a:rPr lang="zh-CN" altLang="en-US" sz="2800" b="1" dirty="0" smtClean="0">
                <a:latin typeface="黑体" panose="02010609060101010101" pitchFamily="49" charset="-122"/>
                <a:ea typeface="黑体" panose="02010609060101010101" pitchFamily="49" charset="-122"/>
              </a:rPr>
              <a:t>前面指出，物质处于饱和状态时，温度和压力不再是独立的状态参数</a:t>
            </a:r>
            <a:endParaRPr lang="en-US" altLang="zh-CN" sz="2800" b="1" dirty="0" smtClean="0">
              <a:latin typeface="黑体" panose="02010609060101010101" pitchFamily="49" charset="-122"/>
              <a:ea typeface="黑体" panose="02010609060101010101" pitchFamily="49" charset="-122"/>
            </a:endParaRPr>
          </a:p>
          <a:p>
            <a:pPr>
              <a:lnSpc>
                <a:spcPct val="90000"/>
              </a:lnSpc>
            </a:pPr>
            <a:r>
              <a:rPr lang="zh-CN" altLang="en-US" sz="2800" b="1" dirty="0" smtClean="0">
                <a:latin typeface="黑体" panose="02010609060101010101" pitchFamily="49" charset="-122"/>
                <a:ea typeface="黑体" panose="02010609060101010101" pitchFamily="49" charset="-122"/>
              </a:rPr>
              <a:t>由状态公理知，还需要另一个独立的内部强度状态参数才能确定物质的状态</a:t>
            </a:r>
            <a:endParaRPr lang="en-US" altLang="zh-CN" sz="2800" b="1" dirty="0" smtClean="0">
              <a:latin typeface="黑体" panose="02010609060101010101" pitchFamily="49" charset="-122"/>
              <a:ea typeface="黑体" panose="02010609060101010101" pitchFamily="49" charset="-122"/>
            </a:endParaRPr>
          </a:p>
          <a:p>
            <a:pPr>
              <a:lnSpc>
                <a:spcPct val="90000"/>
              </a:lnSpc>
            </a:pPr>
            <a:r>
              <a:rPr lang="zh-CN" altLang="en-US" sz="2800" b="1" dirty="0" smtClean="0">
                <a:latin typeface="黑体" panose="02010609060101010101" pitchFamily="49" charset="-122"/>
                <a:ea typeface="黑体" panose="02010609060101010101" pitchFamily="49" charset="-122"/>
              </a:rPr>
              <a:t>干度</a:t>
            </a:r>
            <a:r>
              <a:rPr lang="en-US" altLang="zh-CN" sz="2800" b="1" i="1" dirty="0" smtClean="0">
                <a:latin typeface="Times New Roman" panose="02020603050405020304" pitchFamily="18" charset="0"/>
                <a:ea typeface="黑体" panose="02010609060101010101" pitchFamily="49" charset="-122"/>
                <a:cs typeface="Times New Roman" panose="02020603050405020304" pitchFamily="18" charset="0"/>
              </a:rPr>
              <a:t>x</a:t>
            </a:r>
            <a:r>
              <a:rPr lang="zh-CN" altLang="en-US" sz="2800" b="1" dirty="0" smtClean="0">
                <a:latin typeface="黑体" panose="02010609060101010101" pitchFamily="49" charset="-122"/>
                <a:ea typeface="黑体" panose="02010609060101010101" pitchFamily="49" charset="-122"/>
              </a:rPr>
              <a:t>就可以作为这个独立的内部强度状态参数</a:t>
            </a:r>
            <a:endParaRPr lang="zh-CN" altLang="en-US" sz="2800" dirty="0" smtClean="0">
              <a:latin typeface="黑体" panose="02010609060101010101" pitchFamily="49" charset="-122"/>
              <a:ea typeface="黑体" panose="02010609060101010101" pitchFamily="49" charset="-122"/>
            </a:endParaRPr>
          </a:p>
        </p:txBody>
      </p:sp>
    </p:spTree>
  </p:cSld>
  <p:clrMapOvr>
    <a:masterClrMapping/>
  </p:clrMapOvr>
  <p:transition spd="slow"/>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55298"/>
          <p:cNvSpPr>
            <a:spLocks noChangeArrowheads="1"/>
          </p:cNvSpPr>
          <p:nvPr/>
        </p:nvSpPr>
        <p:spPr bwMode="auto">
          <a:xfrm>
            <a:off x="955606" y="4306421"/>
            <a:ext cx="7008950" cy="1169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defRPr sz="2400">
                <a:solidFill>
                  <a:schemeClr val="tx1"/>
                </a:solidFill>
                <a:latin typeface="Tahoma" panose="020B0604030504040204" pitchFamily="34" charset="0"/>
                <a:ea typeface="宋体" panose="02010600030101010101" pitchFamily="2" charset="-122"/>
              </a:defRPr>
            </a:lvl1pPr>
            <a:lvl2pPr>
              <a:defRPr sz="2400">
                <a:solidFill>
                  <a:schemeClr val="tx1"/>
                </a:solidFill>
                <a:latin typeface="Tahoma" panose="020B0604030504040204" pitchFamily="34" charset="0"/>
                <a:ea typeface="宋体" panose="02010600030101010101" pitchFamily="2" charset="-122"/>
              </a:defRPr>
            </a:lvl2pPr>
            <a:lvl3pPr>
              <a:defRPr sz="2400">
                <a:solidFill>
                  <a:schemeClr val="tx1"/>
                </a:solidFill>
                <a:latin typeface="Tahoma" panose="020B0604030504040204" pitchFamily="34" charset="0"/>
                <a:ea typeface="宋体" panose="02010600030101010101" pitchFamily="2" charset="-122"/>
              </a:defRPr>
            </a:lvl3pPr>
            <a:lvl4pPr>
              <a:defRPr sz="2400">
                <a:solidFill>
                  <a:schemeClr val="tx1"/>
                </a:solidFill>
                <a:latin typeface="Tahoma" panose="020B0604030504040204" pitchFamily="34" charset="0"/>
                <a:ea typeface="宋体" panose="02010600030101010101" pitchFamily="2" charset="-122"/>
              </a:defRPr>
            </a:lvl4pPr>
            <a:lvl5pPr>
              <a:defRPr sz="2400">
                <a:solidFill>
                  <a:schemeClr val="tx1"/>
                </a:solidFill>
                <a:latin typeface="Tahoma" panose="020B0604030504040204" pitchFamily="34" charset="0"/>
                <a:ea typeface="宋体" panose="02010600030101010101" pitchFamily="2" charset="-122"/>
              </a:defRPr>
            </a:lvl5pPr>
            <a:lvl6pPr fontAlgn="base">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fontAlgn="base">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fontAlgn="base">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fontAlgn="base">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spcBef>
                <a:spcPct val="50000"/>
              </a:spcBef>
              <a:buClr>
                <a:srgbClr val="FF0000"/>
              </a:buClr>
              <a:buFont typeface="Wingdings" panose="05000000000000000000" pitchFamily="2" charset="2"/>
              <a:buAutoNum type="circleNumDbPlain"/>
            </a:pPr>
            <a:r>
              <a:rPr lang="zh-CN" altLang="en-US" sz="2800" b="1" dirty="0"/>
              <a:t>饱和水及干</a:t>
            </a:r>
            <a:r>
              <a:rPr lang="zh-CN" altLang="en-US" sz="2800" b="1" dirty="0" smtClean="0"/>
              <a:t>饱和水蒸气表</a:t>
            </a:r>
            <a:r>
              <a:rPr lang="en-US" altLang="zh-CN" sz="2800" b="1" dirty="0" smtClean="0"/>
              <a:t>——</a:t>
            </a:r>
            <a:r>
              <a:rPr lang="zh-CN" altLang="en-US" sz="2800" b="1" dirty="0" smtClean="0"/>
              <a:t>点</a:t>
            </a:r>
            <a:r>
              <a:rPr lang="en-US" altLang="zh-CN" sz="2800" b="1" dirty="0" smtClean="0">
                <a:latin typeface="Times New Roman" panose="02020603050405020304" pitchFamily="18" charset="0"/>
                <a:cs typeface="Times New Roman" panose="02020603050405020304" pitchFamily="18" charset="0"/>
              </a:rPr>
              <a:t>2</a:t>
            </a:r>
            <a:r>
              <a:rPr lang="zh-CN" altLang="en-US" sz="2800" b="1" dirty="0" smtClean="0">
                <a:latin typeface="Times New Roman" panose="02020603050405020304" pitchFamily="18" charset="0"/>
                <a:cs typeface="Times New Roman" panose="02020603050405020304" pitchFamily="18" charset="0"/>
              </a:rPr>
              <a:t>、</a:t>
            </a:r>
            <a:r>
              <a:rPr lang="en-US" altLang="zh-CN" sz="2800" b="1" dirty="0" smtClean="0">
                <a:latin typeface="Times New Roman" panose="02020603050405020304" pitchFamily="18" charset="0"/>
                <a:cs typeface="Times New Roman" panose="02020603050405020304" pitchFamily="18" charset="0"/>
              </a:rPr>
              <a:t>3</a:t>
            </a:r>
            <a:r>
              <a:rPr lang="zh-CN" altLang="en-US" sz="2800" b="1" dirty="0" smtClean="0">
                <a:latin typeface="Times New Roman" panose="02020603050405020304" pitchFamily="18" charset="0"/>
                <a:cs typeface="Times New Roman" panose="02020603050405020304" pitchFamily="18" charset="0"/>
              </a:rPr>
              <a:t>、</a:t>
            </a:r>
            <a:r>
              <a:rPr lang="en-US" altLang="zh-CN" sz="2800" b="1" dirty="0" smtClean="0">
                <a:latin typeface="Times New Roman" panose="02020603050405020304" pitchFamily="18" charset="0"/>
                <a:cs typeface="Times New Roman" panose="02020603050405020304" pitchFamily="18" charset="0"/>
              </a:rPr>
              <a:t>4</a:t>
            </a:r>
            <a:endParaRPr lang="zh-CN" altLang="en-US" sz="2800" b="1" dirty="0">
              <a:latin typeface="Times New Roman" panose="02020603050405020304" pitchFamily="18" charset="0"/>
              <a:cs typeface="Times New Roman" panose="02020603050405020304" pitchFamily="18" charset="0"/>
            </a:endParaRPr>
          </a:p>
          <a:p>
            <a:pPr>
              <a:spcBef>
                <a:spcPct val="50000"/>
              </a:spcBef>
              <a:buClr>
                <a:srgbClr val="FF0000"/>
              </a:buClr>
              <a:buFont typeface="Wingdings" panose="05000000000000000000" pitchFamily="2" charset="2"/>
              <a:buAutoNum type="circleNumDbPlain" startAt="2"/>
            </a:pPr>
            <a:r>
              <a:rPr lang="zh-CN" altLang="en-US" sz="2800" b="1" dirty="0"/>
              <a:t>未饱和水及</a:t>
            </a:r>
            <a:r>
              <a:rPr lang="zh-CN" altLang="en-US" sz="2800" b="1" dirty="0" smtClean="0"/>
              <a:t>过热水蒸气表</a:t>
            </a:r>
            <a:r>
              <a:rPr lang="en-US" altLang="zh-CN" sz="2800" b="1" dirty="0" smtClean="0"/>
              <a:t>——</a:t>
            </a:r>
            <a:r>
              <a:rPr lang="zh-CN" altLang="en-US" sz="2800" b="1" dirty="0" smtClean="0"/>
              <a:t>点</a:t>
            </a:r>
            <a:r>
              <a:rPr lang="en-US" altLang="zh-CN" sz="2800" b="1" dirty="0">
                <a:latin typeface="Times New Roman" panose="02020603050405020304" pitchFamily="18" charset="0"/>
                <a:cs typeface="Times New Roman" panose="02020603050405020304" pitchFamily="18" charset="0"/>
              </a:rPr>
              <a:t>1</a:t>
            </a:r>
            <a:r>
              <a:rPr lang="zh-CN" altLang="en-US" sz="2800" b="1" dirty="0">
                <a:latin typeface="Times New Roman" panose="02020603050405020304" pitchFamily="18" charset="0"/>
                <a:cs typeface="Times New Roman" panose="02020603050405020304" pitchFamily="18" charset="0"/>
              </a:rPr>
              <a:t>、</a:t>
            </a:r>
            <a:r>
              <a:rPr lang="en-US" altLang="zh-CN" sz="2800" b="1" dirty="0">
                <a:latin typeface="Times New Roman" panose="02020603050405020304" pitchFamily="18" charset="0"/>
                <a:cs typeface="Times New Roman" panose="02020603050405020304" pitchFamily="18" charset="0"/>
              </a:rPr>
              <a:t>5</a:t>
            </a:r>
            <a:endParaRPr lang="zh-CN" altLang="en-US" sz="2800" b="1" dirty="0">
              <a:latin typeface="Times New Roman" panose="02020603050405020304" pitchFamily="18" charset="0"/>
              <a:cs typeface="Times New Roman" panose="02020603050405020304" pitchFamily="18" charset="0"/>
            </a:endParaRPr>
          </a:p>
        </p:txBody>
      </p:sp>
      <p:pic>
        <p:nvPicPr>
          <p:cNvPr id="2" name="图片 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077616" y="652007"/>
            <a:ext cx="4432176" cy="3036071"/>
          </a:xfrm>
          <a:prstGeom prst="rect">
            <a:avLst/>
          </a:prstGeom>
        </p:spPr>
      </p:pic>
    </p:spTree>
  </p:cSld>
  <p:clrMapOvr>
    <a:masterClrMapping/>
  </p:clrMapOvr>
  <p:transition spd="slow"/>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96612"/>
          <p:cNvSpPr txBox="1">
            <a:spLocks noChangeArrowheads="1"/>
          </p:cNvSpPr>
          <p:nvPr/>
        </p:nvSpPr>
        <p:spPr>
          <a:xfrm>
            <a:off x="279746" y="1102347"/>
            <a:ext cx="8229600" cy="4629218"/>
          </a:xfrm>
          <a:prstGeom prst="rect">
            <a:avLst/>
          </a:prstGeom>
        </p:spPr>
        <p:txBody>
          <a:bodyPr>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zh-CN" altLang="en-US" sz="2800" b="1" dirty="0" smtClean="0">
                <a:latin typeface="黑体" panose="02010609060101010101" pitchFamily="49" charset="-122"/>
                <a:ea typeface="黑体" panose="02010609060101010101" pitchFamily="49" charset="-122"/>
              </a:rPr>
              <a:t>未饱和水和过热水蒸气在平衡时都呈现单相状态，温度和压力是独立的状态参数而不再有一一对应关系，因此可采用温度和压力这两个强度状态参数来确定未饱和水和过热水蒸气的状态。</a:t>
            </a:r>
            <a:endParaRPr lang="zh-CN" altLang="en-US" sz="2800" b="1" dirty="0" smtClean="0">
              <a:latin typeface="黑体" panose="02010609060101010101" pitchFamily="49" charset="-122"/>
              <a:ea typeface="黑体" panose="02010609060101010101" pitchFamily="49" charset="-122"/>
            </a:endParaRPr>
          </a:p>
          <a:p>
            <a:r>
              <a:rPr lang="zh-CN" altLang="en-US" sz="2800" b="1" dirty="0" smtClean="0">
                <a:latin typeface="黑体" panose="02010609060101010101" pitchFamily="49" charset="-122"/>
                <a:ea typeface="黑体" panose="02010609060101010101" pitchFamily="49" charset="-122"/>
              </a:rPr>
              <a:t>在表中，通常在饱和温度所在的位置加一段分界线，用来区分未饱和液体状态和过热蒸气状态的参数区域。 </a:t>
            </a:r>
            <a:endParaRPr lang="zh-CN" altLang="en-US" sz="2800" b="1" dirty="0" smtClean="0">
              <a:latin typeface="黑体" panose="02010609060101010101" pitchFamily="49" charset="-122"/>
              <a:ea typeface="黑体" panose="02010609060101010101" pitchFamily="49" charset="-122"/>
            </a:endParaRPr>
          </a:p>
          <a:p>
            <a:r>
              <a:rPr lang="zh-CN" altLang="en-US" sz="2800" b="1" dirty="0" smtClean="0">
                <a:latin typeface="黑体" panose="02010609060101010101" pitchFamily="49" charset="-122"/>
                <a:ea typeface="黑体" panose="02010609060101010101" pitchFamily="49" charset="-122"/>
              </a:rPr>
              <a:t>在压力高于临界压力时，表中没有液、气区域的分界线（因为在这种情况下未饱和液体和过热蒸气不存在确定的分界线）。</a:t>
            </a:r>
            <a:r>
              <a:rPr lang="zh-CN" altLang="en-US" sz="2800" dirty="0" smtClean="0">
                <a:latin typeface="黑体" panose="02010609060101010101" pitchFamily="49" charset="-122"/>
                <a:ea typeface="黑体" panose="02010609060101010101" pitchFamily="49" charset="-122"/>
              </a:rPr>
              <a:t>  </a:t>
            </a:r>
            <a:endParaRPr lang="zh-CN" altLang="en-US" sz="2800" dirty="0" smtClean="0">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矩形 198657"/>
          <p:cNvSpPr>
            <a:spLocks noChangeArrowheads="1"/>
          </p:cNvSpPr>
          <p:nvPr/>
        </p:nvSpPr>
        <p:spPr bwMode="auto">
          <a:xfrm>
            <a:off x="4268929" y="977256"/>
            <a:ext cx="484619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过热水蒸气（点</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5</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，假设为</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200</a:t>
            </a:r>
            <a:r>
              <a:rPr lang="en-US" altLang="zh-CN" sz="2400" b="1" dirty="0" smtClean="0">
                <a:latin typeface="Times New Roman" panose="02020603050405020304" pitchFamily="18" charset="0"/>
                <a:ea typeface="黑体" panose="02010609060101010101" pitchFamily="49" charset="-122"/>
                <a:cs typeface="Times New Roman" panose="02020603050405020304" pitchFamily="18" charset="0"/>
              </a:rPr>
              <a:t>℃</a:t>
            </a:r>
            <a:r>
              <a:rPr lang="zh-CN" altLang="en-US" sz="2400" b="1" dirty="0" smtClean="0">
                <a:latin typeface="Times New Roman" panose="02020603050405020304" pitchFamily="18" charset="0"/>
                <a:ea typeface="黑体" panose="02010609060101010101" pitchFamily="49" charset="-122"/>
                <a:cs typeface="Times New Roman" panose="02020603050405020304" pitchFamily="18" charset="0"/>
              </a:rPr>
              <a:t>）</a:t>
            </a:r>
            <a:endParaRPr lang="zh-CN" altLang="en-US" sz="2000" b="1" dirty="0">
              <a:latin typeface="Times New Roman" panose="02020603050405020304" pitchFamily="18" charset="0"/>
              <a:cs typeface="Times New Roman" panose="02020603050405020304" pitchFamily="18" charset="0"/>
            </a:endParaRPr>
          </a:p>
        </p:txBody>
      </p:sp>
      <p:sp>
        <p:nvSpPr>
          <p:cNvPr id="86020" name="矩形 198660"/>
          <p:cNvSpPr>
            <a:spLocks noChangeArrowheads="1"/>
          </p:cNvSpPr>
          <p:nvPr/>
        </p:nvSpPr>
        <p:spPr bwMode="auto">
          <a:xfrm>
            <a:off x="4500562" y="3722984"/>
            <a:ext cx="43829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未饱和水（点</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1</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，假设为</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20℃</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a:t>
            </a:r>
            <a:endParaRPr lang="zh-CN" altLang="en-US" sz="24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86021" name="矩形 198661"/>
          <p:cNvSpPr>
            <a:spLocks noChangeArrowheads="1"/>
          </p:cNvSpPr>
          <p:nvPr/>
        </p:nvSpPr>
        <p:spPr bwMode="auto">
          <a:xfrm>
            <a:off x="0" y="29479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6022" name="矩形 198665"/>
          <p:cNvSpPr>
            <a:spLocks noChangeArrowheads="1"/>
          </p:cNvSpPr>
          <p:nvPr/>
        </p:nvSpPr>
        <p:spPr bwMode="auto">
          <a:xfrm>
            <a:off x="2195513" y="303213"/>
            <a:ext cx="625633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zh-CN" altLang="en-US" sz="2800" b="1" dirty="0">
                <a:solidFill>
                  <a:srgbClr val="0000FF"/>
                </a:solidFill>
                <a:latin typeface="黑体" panose="02010609060101010101" pitchFamily="49" charset="-122"/>
                <a:ea typeface="黑体" panose="02010609060101010101" pitchFamily="49" charset="-122"/>
              </a:rPr>
              <a:t>利用未饱和水及过热水蒸气热力性质表</a:t>
            </a:r>
            <a:endParaRPr lang="zh-CN" altLang="en-US" sz="2800" b="1" dirty="0">
              <a:latin typeface="黑体" panose="02010609060101010101" pitchFamily="49" charset="-122"/>
              <a:ea typeface="黑体" panose="02010609060101010101" pitchFamily="49" charset="-122"/>
            </a:endParaRPr>
          </a:p>
        </p:txBody>
      </p:sp>
      <p:sp>
        <p:nvSpPr>
          <p:cNvPr id="86023" name="矩形 198667"/>
          <p:cNvSpPr>
            <a:spLocks noChangeArrowheads="1"/>
          </p:cNvSpPr>
          <p:nvPr/>
        </p:nvSpPr>
        <p:spPr bwMode="auto">
          <a:xfrm>
            <a:off x="0" y="29479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86024" name="对象 198666"/>
          <p:cNvGraphicFramePr/>
          <p:nvPr/>
        </p:nvGraphicFramePr>
        <p:xfrm>
          <a:off x="4716463" y="1628775"/>
          <a:ext cx="3743325" cy="1889125"/>
        </p:xfrm>
        <a:graphic>
          <a:graphicData uri="http://schemas.openxmlformats.org/presentationml/2006/ole">
            <mc:AlternateContent xmlns:mc="http://schemas.openxmlformats.org/markup-compatibility/2006">
              <mc:Choice xmlns:v="urn:schemas-microsoft-com:vml" Requires="v">
                <p:oleObj spid="_x0000_s55358" name="" r:id="rId1" imgW="1905000" imgH="965200" progId="Equation.DSMT4">
                  <p:embed/>
                </p:oleObj>
              </mc:Choice>
              <mc:Fallback>
                <p:oleObj name="" r:id="rId1" imgW="1905000" imgH="965200" progId="Equation.DSMT4">
                  <p:embed/>
                  <p:pic>
                    <p:nvPicPr>
                      <p:cNvPr id="0" name="对象 198666"/>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16463" y="1628775"/>
                        <a:ext cx="3743325" cy="188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86025" name="矩形 198669"/>
          <p:cNvSpPr>
            <a:spLocks noChangeArrowheads="1"/>
          </p:cNvSpPr>
          <p:nvPr/>
        </p:nvSpPr>
        <p:spPr bwMode="auto">
          <a:xfrm>
            <a:off x="0" y="29479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86026" name="对象 198668"/>
          <p:cNvGraphicFramePr/>
          <p:nvPr/>
        </p:nvGraphicFramePr>
        <p:xfrm>
          <a:off x="4859338" y="4437063"/>
          <a:ext cx="3384550" cy="1931987"/>
        </p:xfrm>
        <a:graphic>
          <a:graphicData uri="http://schemas.openxmlformats.org/presentationml/2006/ole">
            <mc:AlternateContent xmlns:mc="http://schemas.openxmlformats.org/markup-compatibility/2006">
              <mc:Choice xmlns:v="urn:schemas-microsoft-com:vml" Requires="v">
                <p:oleObj spid="_x0000_s55359" name="" r:id="rId3" imgW="1689100" imgH="965200" progId="Equation.DSMT4">
                  <p:embed/>
                </p:oleObj>
              </mc:Choice>
              <mc:Fallback>
                <p:oleObj name="" r:id="rId3" imgW="1689100" imgH="965200" progId="Equation.DSMT4">
                  <p:embed/>
                  <p:pic>
                    <p:nvPicPr>
                      <p:cNvPr id="0" name="对象 198668"/>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59338" y="4437063"/>
                        <a:ext cx="3384550" cy="1931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pic>
        <p:nvPicPr>
          <p:cNvPr id="12" name="图片 1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2641" y="514916"/>
            <a:ext cx="4499238" cy="3084843"/>
          </a:xfrm>
          <a:prstGeom prst="rect">
            <a:avLst/>
          </a:prstGeom>
        </p:spPr>
      </p:pic>
      <p:pic>
        <p:nvPicPr>
          <p:cNvPr id="13" name="图片 12"/>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54149" y="3599759"/>
            <a:ext cx="4645555" cy="3194581"/>
          </a:xfrm>
          <a:prstGeom prst="rect">
            <a:avLst/>
          </a:prstGeom>
        </p:spPr>
      </p:pic>
    </p:spTree>
  </p:cSld>
  <p:clrMapOvr>
    <a:masterClrMapping/>
  </p:clrMapOvr>
  <p:transition spd="slow"/>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矩形 199684"/>
          <p:cNvSpPr>
            <a:spLocks noChangeArrowheads="1"/>
          </p:cNvSpPr>
          <p:nvPr/>
        </p:nvSpPr>
        <p:spPr bwMode="auto">
          <a:xfrm>
            <a:off x="0" y="17002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87042" name="对象 199683"/>
          <p:cNvGraphicFramePr/>
          <p:nvPr/>
        </p:nvGraphicFramePr>
        <p:xfrm>
          <a:off x="250825" y="476250"/>
          <a:ext cx="3833813" cy="5373688"/>
        </p:xfrm>
        <a:graphic>
          <a:graphicData uri="http://schemas.openxmlformats.org/presentationml/2006/ole">
            <mc:AlternateContent xmlns:mc="http://schemas.openxmlformats.org/markup-compatibility/2006">
              <mc:Choice xmlns:v="urn:schemas-microsoft-com:vml" Requires="v">
                <p:oleObj spid="_x0000_s56354" name="" r:id="rId1" imgW="3735070" imgH="5227320" progId="Visio.Drawing.11">
                  <p:embed/>
                </p:oleObj>
              </mc:Choice>
              <mc:Fallback>
                <p:oleObj name="" r:id="rId1" imgW="3735070" imgH="5227320" progId="Visio.Drawing.11">
                  <p:embed/>
                  <p:pic>
                    <p:nvPicPr>
                      <p:cNvPr id="0" name="对象 199683"/>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0825" y="476250"/>
                        <a:ext cx="3833813" cy="5373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87043" name="矩形 199686"/>
          <p:cNvSpPr>
            <a:spLocks noChangeArrowheads="1"/>
          </p:cNvSpPr>
          <p:nvPr/>
        </p:nvSpPr>
        <p:spPr bwMode="auto">
          <a:xfrm>
            <a:off x="0" y="2438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87044" name="对象 199685"/>
          <p:cNvGraphicFramePr/>
          <p:nvPr/>
        </p:nvGraphicFramePr>
        <p:xfrm>
          <a:off x="4716463" y="981075"/>
          <a:ext cx="3673475" cy="2871788"/>
        </p:xfrm>
        <a:graphic>
          <a:graphicData uri="http://schemas.openxmlformats.org/presentationml/2006/ole">
            <mc:AlternateContent xmlns:mc="http://schemas.openxmlformats.org/markup-compatibility/2006">
              <mc:Choice xmlns:v="urn:schemas-microsoft-com:vml" Requires="v">
                <p:oleObj spid="_x0000_s56355" name="" r:id="rId3" imgW="3830320" imgH="3002280" progId="Visio.Drawing.11">
                  <p:embed/>
                </p:oleObj>
              </mc:Choice>
              <mc:Fallback>
                <p:oleObj name="" r:id="rId3" imgW="3830320" imgH="3002280" progId="Visio.Drawing.11">
                  <p:embed/>
                  <p:pic>
                    <p:nvPicPr>
                      <p:cNvPr id="0" name="对象 199685"/>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16463" y="981075"/>
                        <a:ext cx="3673475" cy="2871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87045" name="矩形 199687"/>
          <p:cNvSpPr>
            <a:spLocks noChangeArrowheads="1"/>
          </p:cNvSpPr>
          <p:nvPr/>
        </p:nvSpPr>
        <p:spPr bwMode="auto">
          <a:xfrm>
            <a:off x="250825" y="5934465"/>
            <a:ext cx="464742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zh-CN" altLang="en-US" sz="2400" dirty="0">
                <a:latin typeface="黑体" panose="02010609060101010101" pitchFamily="49" charset="-122"/>
                <a:ea typeface="黑体" panose="02010609060101010101" pitchFamily="49" charset="-122"/>
              </a:rPr>
              <a:t>过热水蒸气热力性质表（节选） </a:t>
            </a:r>
            <a:endParaRPr lang="zh-CN" altLang="en-US" sz="2400" dirty="0">
              <a:latin typeface="黑体" panose="02010609060101010101" pitchFamily="49" charset="-122"/>
              <a:ea typeface="黑体" panose="02010609060101010101" pitchFamily="49" charset="-122"/>
            </a:endParaRPr>
          </a:p>
        </p:txBody>
      </p:sp>
      <p:sp>
        <p:nvSpPr>
          <p:cNvPr id="87046" name="矩形 199688"/>
          <p:cNvSpPr>
            <a:spLocks noChangeArrowheads="1"/>
          </p:cNvSpPr>
          <p:nvPr/>
        </p:nvSpPr>
        <p:spPr bwMode="auto">
          <a:xfrm>
            <a:off x="5003800" y="4147493"/>
            <a:ext cx="43396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zh-CN" altLang="en-US" sz="2400" dirty="0">
                <a:latin typeface="黑体" panose="02010609060101010101" pitchFamily="49" charset="-122"/>
                <a:ea typeface="黑体" panose="02010609060101010101" pitchFamily="49" charset="-122"/>
              </a:rPr>
              <a:t>未饱和水热力性质表（节选） </a:t>
            </a:r>
            <a:endParaRPr lang="zh-CN" altLang="en-US" sz="2400" dirty="0">
              <a:latin typeface="黑体" panose="02010609060101010101" pitchFamily="49" charset="-122"/>
              <a:ea typeface="黑体" panose="02010609060101010101" pitchFamily="49" charset="-122"/>
            </a:endParaRPr>
          </a:p>
        </p:txBody>
      </p:sp>
    </p:spTree>
  </p:cSld>
  <p:clrMapOvr>
    <a:masterClrMapping/>
  </p:clrMapOvr>
  <p:transition spd="slow"/>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7" name="内容占位符 77826"/>
          <p:cNvSpPr>
            <a:spLocks noGrp="1" noChangeArrowheads="1"/>
          </p:cNvSpPr>
          <p:nvPr>
            <p:ph idx="1"/>
          </p:nvPr>
        </p:nvSpPr>
        <p:spPr>
          <a:xfrm>
            <a:off x="1186346" y="1878013"/>
            <a:ext cx="5791200" cy="762000"/>
          </a:xfrm>
        </p:spPr>
        <p:txBody>
          <a:bodyPr>
            <a:normAutofit/>
          </a:bodyPr>
          <a:lstStyle/>
          <a:p>
            <a:pPr>
              <a:buFont typeface="Wingdings" panose="05000000000000000000" pitchFamily="2" charset="2"/>
              <a:buNone/>
            </a:pPr>
            <a:r>
              <a:rPr lang="zh-CN" altLang="en-US" sz="2800" b="1" dirty="0" smtClean="0">
                <a:solidFill>
                  <a:srgbClr val="0070C0"/>
                </a:solidFill>
                <a:latin typeface="黑体" panose="02010609060101010101" pitchFamily="49" charset="-122"/>
                <a:ea typeface="黑体" panose="02010609060101010101" pitchFamily="49" charset="-122"/>
              </a:rPr>
              <a:t>定容、定压、定温及定熵四种</a:t>
            </a:r>
            <a:endParaRPr lang="zh-CN" altLang="en-US" sz="2800" b="1" dirty="0" smtClean="0">
              <a:solidFill>
                <a:srgbClr val="0070C0"/>
              </a:solidFill>
              <a:latin typeface="黑体" panose="02010609060101010101" pitchFamily="49" charset="-122"/>
              <a:ea typeface="黑体" panose="02010609060101010101" pitchFamily="49" charset="-122"/>
            </a:endParaRPr>
          </a:p>
        </p:txBody>
      </p:sp>
      <p:sp>
        <p:nvSpPr>
          <p:cNvPr id="77828" name="矩形 77827"/>
          <p:cNvSpPr>
            <a:spLocks noChangeArrowheads="1"/>
          </p:cNvSpPr>
          <p:nvPr/>
        </p:nvSpPr>
        <p:spPr bwMode="auto">
          <a:xfrm>
            <a:off x="796925" y="2649756"/>
            <a:ext cx="228780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marL="457200" indent="-457200">
              <a:buClr>
                <a:schemeClr val="folHlink"/>
              </a:buClr>
              <a:buFont typeface="Arial" panose="020B0604020202020204" pitchFamily="34" charset="0"/>
              <a:buChar char="•"/>
            </a:pPr>
            <a:r>
              <a:rPr lang="zh-CN" altLang="en-US" sz="3200" b="1" dirty="0" smtClean="0">
                <a:latin typeface="黑体" panose="02010609060101010101" pitchFamily="49" charset="-122"/>
                <a:ea typeface="黑体" panose="02010609060101010101" pitchFamily="49" charset="-122"/>
              </a:rPr>
              <a:t>求解</a:t>
            </a:r>
            <a:r>
              <a:rPr lang="zh-CN" altLang="en-US" sz="3200" b="1" dirty="0">
                <a:latin typeface="黑体" panose="02010609060101010101" pitchFamily="49" charset="-122"/>
                <a:ea typeface="黑体" panose="02010609060101010101" pitchFamily="49" charset="-122"/>
              </a:rPr>
              <a:t>任务</a:t>
            </a:r>
            <a:endParaRPr lang="zh-CN" altLang="en-US" sz="3200" b="1" dirty="0">
              <a:latin typeface="黑体" panose="02010609060101010101" pitchFamily="49" charset="-122"/>
              <a:ea typeface="黑体" panose="02010609060101010101" pitchFamily="49" charset="-122"/>
            </a:endParaRPr>
          </a:p>
        </p:txBody>
      </p:sp>
      <p:sp>
        <p:nvSpPr>
          <p:cNvPr id="93187" name="矩形 77828"/>
          <p:cNvSpPr>
            <a:spLocks noChangeArrowheads="1"/>
          </p:cNvSpPr>
          <p:nvPr/>
        </p:nvSpPr>
        <p:spPr bwMode="auto">
          <a:xfrm>
            <a:off x="796925" y="1138238"/>
            <a:ext cx="435568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marL="457200" indent="-457200">
              <a:spcBef>
                <a:spcPct val="20000"/>
              </a:spcBef>
              <a:buClr>
                <a:schemeClr val="folHlink"/>
              </a:buClr>
              <a:buFont typeface="Arial" panose="020B0604020202020204" pitchFamily="34" charset="0"/>
              <a:buChar char="•"/>
            </a:pPr>
            <a:r>
              <a:rPr lang="zh-CN" altLang="en-US" sz="3200" b="1" dirty="0" smtClean="0">
                <a:latin typeface="黑体" panose="02010609060101010101" pitchFamily="49" charset="-122"/>
                <a:ea typeface="黑体" panose="02010609060101010101" pitchFamily="49" charset="-122"/>
              </a:rPr>
              <a:t>蒸气</a:t>
            </a:r>
            <a:r>
              <a:rPr lang="zh-CN" altLang="en-US" sz="3200" b="1" dirty="0">
                <a:latin typeface="黑体" panose="02010609060101010101" pitchFamily="49" charset="-122"/>
                <a:ea typeface="黑体" panose="02010609060101010101" pitchFamily="49" charset="-122"/>
              </a:rPr>
              <a:t>的</a:t>
            </a:r>
            <a:r>
              <a:rPr lang="zh-CN" altLang="en-US" sz="3200" b="1" dirty="0" smtClean="0">
                <a:latin typeface="黑体" panose="02010609060101010101" pitchFamily="49" charset="-122"/>
                <a:ea typeface="黑体" panose="02010609060101010101" pitchFamily="49" charset="-122"/>
              </a:rPr>
              <a:t>基本</a:t>
            </a:r>
            <a:r>
              <a:rPr lang="zh-CN" altLang="en-US" sz="3200" b="1" dirty="0">
                <a:latin typeface="黑体" panose="02010609060101010101" pitchFamily="49" charset="-122"/>
                <a:ea typeface="黑体" panose="02010609060101010101" pitchFamily="49" charset="-122"/>
              </a:rPr>
              <a:t>热力过程</a:t>
            </a:r>
            <a:endParaRPr lang="zh-CN" altLang="en-US" sz="3200" b="1" dirty="0">
              <a:latin typeface="黑体" panose="02010609060101010101" pitchFamily="49" charset="-122"/>
              <a:ea typeface="黑体" panose="02010609060101010101" pitchFamily="49" charset="-122"/>
            </a:endParaRPr>
          </a:p>
        </p:txBody>
      </p:sp>
      <p:sp>
        <p:nvSpPr>
          <p:cNvPr id="77830" name="矩形 77829"/>
          <p:cNvSpPr>
            <a:spLocks noChangeArrowheads="1"/>
          </p:cNvSpPr>
          <p:nvPr/>
        </p:nvSpPr>
        <p:spPr bwMode="auto">
          <a:xfrm>
            <a:off x="900113" y="3357563"/>
            <a:ext cx="4950722"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2800" b="1" dirty="0" smtClean="0">
                <a:solidFill>
                  <a:srgbClr val="0070C0"/>
                </a:solidFill>
                <a:latin typeface="微软雅黑" panose="020B0503020204020204" charset="-122"/>
                <a:ea typeface="微软雅黑" panose="020B0503020204020204" charset="-122"/>
              </a:rPr>
              <a:t>①</a:t>
            </a:r>
            <a:r>
              <a:rPr lang="zh-CN" altLang="en-US" sz="2800" b="1" dirty="0" smtClean="0">
                <a:solidFill>
                  <a:srgbClr val="0070C0"/>
                </a:solidFill>
                <a:latin typeface="黑体" panose="02010609060101010101" pitchFamily="49" charset="-122"/>
                <a:ea typeface="黑体" panose="02010609060101010101" pitchFamily="49" charset="-122"/>
              </a:rPr>
              <a:t>初</a:t>
            </a:r>
            <a:r>
              <a:rPr lang="zh-CN" altLang="en-US" sz="2800" b="1" dirty="0">
                <a:solidFill>
                  <a:srgbClr val="0070C0"/>
                </a:solidFill>
                <a:latin typeface="黑体" panose="02010609060101010101" pitchFamily="49" charset="-122"/>
                <a:ea typeface="黑体" panose="02010609060101010101" pitchFamily="49" charset="-122"/>
              </a:rPr>
              <a:t>、终态的参数；</a:t>
            </a:r>
            <a:endParaRPr lang="zh-CN" altLang="en-US" sz="2800" b="1" dirty="0">
              <a:solidFill>
                <a:srgbClr val="0070C0"/>
              </a:solidFill>
              <a:latin typeface="黑体" panose="02010609060101010101" pitchFamily="49" charset="-122"/>
              <a:ea typeface="黑体" panose="02010609060101010101" pitchFamily="49" charset="-122"/>
            </a:endParaRPr>
          </a:p>
          <a:p>
            <a:r>
              <a:rPr lang="zh-CN" altLang="en-US" sz="2800" b="1" dirty="0" smtClean="0">
                <a:solidFill>
                  <a:srgbClr val="0070C0"/>
                </a:solidFill>
                <a:latin typeface="微软雅黑" panose="020B0503020204020204" charset="-122"/>
                <a:ea typeface="微软雅黑" panose="020B0503020204020204" charset="-122"/>
              </a:rPr>
              <a:t>②</a:t>
            </a:r>
            <a:r>
              <a:rPr lang="zh-CN" altLang="en-US" sz="2800" b="1" dirty="0" smtClean="0">
                <a:solidFill>
                  <a:srgbClr val="0070C0"/>
                </a:solidFill>
                <a:latin typeface="黑体" panose="02010609060101010101" pitchFamily="49" charset="-122"/>
                <a:ea typeface="黑体" panose="02010609060101010101" pitchFamily="49" charset="-122"/>
              </a:rPr>
              <a:t>热力学能</a:t>
            </a:r>
            <a:r>
              <a:rPr lang="zh-CN" altLang="en-US" sz="2800" b="1" dirty="0">
                <a:solidFill>
                  <a:srgbClr val="0070C0"/>
                </a:solidFill>
                <a:latin typeface="黑体" panose="02010609060101010101" pitchFamily="49" charset="-122"/>
                <a:ea typeface="黑体" panose="02010609060101010101" pitchFamily="49" charset="-122"/>
              </a:rPr>
              <a:t>变化、焓变、熵变</a:t>
            </a:r>
            <a:endParaRPr lang="zh-CN" altLang="en-US" sz="2800" b="1" dirty="0">
              <a:solidFill>
                <a:srgbClr val="0070C0"/>
              </a:solidFill>
              <a:latin typeface="黑体" panose="02010609060101010101" pitchFamily="49" charset="-122"/>
              <a:ea typeface="黑体" panose="02010609060101010101" pitchFamily="49" charset="-122"/>
            </a:endParaRPr>
          </a:p>
          <a:p>
            <a:r>
              <a:rPr lang="zh-CN" altLang="en-US" sz="2800" b="1" dirty="0" smtClean="0">
                <a:solidFill>
                  <a:srgbClr val="0070C0"/>
                </a:solidFill>
                <a:latin typeface="微软雅黑" panose="020B0503020204020204" charset="-122"/>
                <a:ea typeface="微软雅黑" panose="020B0503020204020204" charset="-122"/>
              </a:rPr>
              <a:t>③</a:t>
            </a:r>
            <a:r>
              <a:rPr lang="zh-CN" altLang="en-US" sz="2800" b="1" dirty="0" smtClean="0">
                <a:solidFill>
                  <a:srgbClr val="0070C0"/>
                </a:solidFill>
                <a:latin typeface="黑体" panose="02010609060101010101" pitchFamily="49" charset="-122"/>
                <a:ea typeface="黑体" panose="02010609060101010101" pitchFamily="49" charset="-122"/>
              </a:rPr>
              <a:t>过程</a:t>
            </a:r>
            <a:r>
              <a:rPr lang="zh-CN" altLang="en-US" sz="2800" b="1" dirty="0">
                <a:solidFill>
                  <a:srgbClr val="0070C0"/>
                </a:solidFill>
                <a:latin typeface="黑体" panose="02010609060101010101" pitchFamily="49" charset="-122"/>
                <a:ea typeface="黑体" panose="02010609060101010101" pitchFamily="49" charset="-122"/>
              </a:rPr>
              <a:t>中的热量和</a:t>
            </a:r>
            <a:r>
              <a:rPr lang="zh-CN" altLang="en-US" sz="2800" b="1" dirty="0" smtClean="0">
                <a:solidFill>
                  <a:srgbClr val="0070C0"/>
                </a:solidFill>
                <a:latin typeface="黑体" panose="02010609060101010101" pitchFamily="49" charset="-122"/>
                <a:ea typeface="黑体" panose="02010609060101010101" pitchFamily="49" charset="-122"/>
              </a:rPr>
              <a:t>功量</a:t>
            </a:r>
            <a:endParaRPr lang="zh-CN" altLang="en-US" sz="2800" b="1" dirty="0">
              <a:solidFill>
                <a:srgbClr val="0070C0"/>
              </a:solidFill>
              <a:latin typeface="黑体" panose="02010609060101010101" pitchFamily="49" charset="-122"/>
              <a:ea typeface="黑体" panose="02010609060101010101" pitchFamily="49" charset="-122"/>
            </a:endParaRPr>
          </a:p>
        </p:txBody>
      </p:sp>
      <p:sp>
        <p:nvSpPr>
          <p:cNvPr id="77833" name="矩形 77832"/>
          <p:cNvSpPr>
            <a:spLocks noChangeArrowheads="1"/>
          </p:cNvSpPr>
          <p:nvPr/>
        </p:nvSpPr>
        <p:spPr bwMode="auto">
          <a:xfrm>
            <a:off x="1000815" y="4995066"/>
            <a:ext cx="2888697"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2800" b="1" dirty="0">
                <a:latin typeface="黑体" panose="02010609060101010101" pitchFamily="49" charset="-122"/>
                <a:ea typeface="黑体" panose="02010609060101010101" pitchFamily="49" charset="-122"/>
              </a:rPr>
              <a:t>理想气体：状态参数的变化有简单表达式</a:t>
            </a:r>
            <a:endParaRPr lang="zh-CN" altLang="en-US" sz="2800" b="1" dirty="0">
              <a:latin typeface="黑体" panose="02010609060101010101" pitchFamily="49" charset="-122"/>
              <a:ea typeface="黑体" panose="02010609060101010101" pitchFamily="49" charset="-122"/>
            </a:endParaRPr>
          </a:p>
        </p:txBody>
      </p:sp>
      <p:grpSp>
        <p:nvGrpSpPr>
          <p:cNvPr id="3" name="组合 2"/>
          <p:cNvGrpSpPr/>
          <p:nvPr/>
        </p:nvGrpSpPr>
        <p:grpSpPr>
          <a:xfrm>
            <a:off x="4627736" y="4658536"/>
            <a:ext cx="3592371" cy="1765260"/>
            <a:chOff x="5221355" y="4598504"/>
            <a:chExt cx="3592371" cy="1765260"/>
          </a:xfrm>
        </p:grpSpPr>
        <p:sp>
          <p:nvSpPr>
            <p:cNvPr id="2" name="爆炸形 1 1"/>
            <p:cNvSpPr/>
            <p:nvPr/>
          </p:nvSpPr>
          <p:spPr>
            <a:xfrm>
              <a:off x="5221355" y="4598504"/>
              <a:ext cx="3081131" cy="1765260"/>
            </a:xfrm>
            <a:prstGeom prst="irregularSeal1">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sp>
          <p:nvSpPr>
            <p:cNvPr id="77837" name="矩形 77836"/>
            <p:cNvSpPr>
              <a:spLocks noChangeArrowheads="1"/>
            </p:cNvSpPr>
            <p:nvPr/>
          </p:nvSpPr>
          <p:spPr bwMode="auto">
            <a:xfrm>
              <a:off x="5567719" y="5200551"/>
              <a:ext cx="324600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2800" b="1" dirty="0">
                  <a:latin typeface="黑体" panose="02010609060101010101" pitchFamily="49" charset="-122"/>
                  <a:ea typeface="黑体" panose="02010609060101010101" pitchFamily="49" charset="-122"/>
                </a:rPr>
                <a:t>水蒸气：</a:t>
              </a:r>
              <a:r>
                <a:rPr lang="zh-CN" altLang="en-US" sz="2800" b="1" dirty="0" smtClean="0">
                  <a:latin typeface="黑体" panose="02010609060101010101" pitchFamily="49" charset="-122"/>
                  <a:ea typeface="黑体" panose="02010609060101010101" pitchFamily="49" charset="-122"/>
                </a:rPr>
                <a:t>查表</a:t>
              </a:r>
              <a:endParaRPr lang="zh-CN" altLang="en-US" sz="2800" b="1" dirty="0">
                <a:latin typeface="黑体" panose="02010609060101010101" pitchFamily="49" charset="-122"/>
                <a:ea typeface="黑体" panose="02010609060101010101" pitchFamily="49" charset="-122"/>
              </a:endParaRPr>
            </a:p>
          </p:txBody>
        </p:sp>
      </p:grpSp>
      <p:sp>
        <p:nvSpPr>
          <p:cNvPr id="9" name="矩形 66563"/>
          <p:cNvSpPr>
            <a:spLocks noChangeArrowheads="1"/>
          </p:cNvSpPr>
          <p:nvPr/>
        </p:nvSpPr>
        <p:spPr bwMode="auto">
          <a:xfrm>
            <a:off x="375547" y="301361"/>
            <a:ext cx="604837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buClr>
                <a:schemeClr val="folHlink"/>
              </a:buClr>
              <a:buFont typeface="Wingdings" panose="05000000000000000000" pitchFamily="2" charset="2"/>
              <a:buNone/>
            </a:pPr>
            <a:r>
              <a:rPr lang="zh-CN" altLang="en-US" sz="3200" b="1" dirty="0">
                <a:solidFill>
                  <a:srgbClr val="000000"/>
                </a:solidFill>
                <a:latin typeface="黑体" panose="02010609060101010101" pitchFamily="49" charset="-122"/>
                <a:ea typeface="黑体" panose="02010609060101010101" pitchFamily="49" charset="-122"/>
              </a:rPr>
              <a:t>三、蒸气热力性质</a:t>
            </a:r>
            <a:r>
              <a:rPr lang="zh-CN" altLang="en-US" sz="3200" b="1" dirty="0" smtClean="0">
                <a:solidFill>
                  <a:srgbClr val="000000"/>
                </a:solidFill>
                <a:latin typeface="黑体" panose="02010609060101010101" pitchFamily="49" charset="-122"/>
                <a:ea typeface="黑体" panose="02010609060101010101" pitchFamily="49" charset="-122"/>
              </a:rPr>
              <a:t>表</a:t>
            </a:r>
            <a:r>
              <a:rPr lang="zh-CN" altLang="en-US" sz="3200" b="1" dirty="0">
                <a:solidFill>
                  <a:srgbClr val="000000"/>
                </a:solidFill>
                <a:latin typeface="黑体" panose="02010609060101010101" pitchFamily="49" charset="-122"/>
                <a:ea typeface="黑体" panose="02010609060101010101" pitchFamily="49" charset="-122"/>
              </a:rPr>
              <a:t>的</a:t>
            </a:r>
            <a:r>
              <a:rPr lang="zh-CN" altLang="en-US" sz="3200" b="1" dirty="0" smtClean="0">
                <a:solidFill>
                  <a:srgbClr val="000000"/>
                </a:solidFill>
                <a:latin typeface="黑体" panose="02010609060101010101" pitchFamily="49" charset="-122"/>
                <a:ea typeface="黑体" panose="02010609060101010101" pitchFamily="49" charset="-122"/>
              </a:rPr>
              <a:t>应用</a:t>
            </a:r>
            <a:endParaRPr lang="zh-CN" altLang="en-US" sz="3200" b="1" dirty="0">
              <a:latin typeface="黑体" panose="02010609060101010101" pitchFamily="49" charset="-122"/>
              <a:ea typeface="黑体" panose="02010609060101010101" pitchFamily="49" charset="-122"/>
            </a:endParaRPr>
          </a:p>
        </p:txBody>
      </p:sp>
    </p:spTree>
    <p:custDataLst>
      <p:tags r:id="rId1"/>
    </p:custData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7828"/>
                                        </p:tgtEl>
                                        <p:attrNameLst>
                                          <p:attrName>style.visibility</p:attrName>
                                        </p:attrNameLst>
                                      </p:cBhvr>
                                      <p:to>
                                        <p:strVal val="visible"/>
                                      </p:to>
                                    </p:set>
                                    <p:animEffect transition="in" filter="blinds(horizontal)">
                                      <p:cBhvr>
                                        <p:cTn id="7" dur="500"/>
                                        <p:tgtEl>
                                          <p:spTgt spid="7782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7830"/>
                                        </p:tgtEl>
                                        <p:attrNameLst>
                                          <p:attrName>style.visibility</p:attrName>
                                        </p:attrNameLst>
                                      </p:cBhvr>
                                      <p:to>
                                        <p:strVal val="visible"/>
                                      </p:to>
                                    </p:set>
                                    <p:animEffect transition="in" filter="blinds(horizontal)">
                                      <p:cBhvr>
                                        <p:cTn id="12" dur="500"/>
                                        <p:tgtEl>
                                          <p:spTgt spid="77830"/>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77833"/>
                                        </p:tgtEl>
                                        <p:attrNameLst>
                                          <p:attrName>style.visibility</p:attrName>
                                        </p:attrNameLst>
                                      </p:cBhvr>
                                      <p:to>
                                        <p:strVal val="visible"/>
                                      </p:to>
                                    </p:set>
                                    <p:animEffect transition="in" filter="blinds(horizontal)">
                                      <p:cBhvr>
                                        <p:cTn id="17" dur="500"/>
                                        <p:tgtEl>
                                          <p:spTgt spid="77833"/>
                                        </p:tgtEl>
                                      </p:cBhvr>
                                    </p:animEffect>
                                  </p:childTnLst>
                                </p:cTn>
                              </p:par>
                            </p:childTnLst>
                          </p:cTn>
                        </p:par>
                      </p:childTnLst>
                    </p:cTn>
                  </p:par>
                  <p:par>
                    <p:cTn id="18" fill="hold">
                      <p:stCondLst>
                        <p:cond delay="indefinite"/>
                      </p:stCondLst>
                      <p:childTnLst>
                        <p:par>
                          <p:cTn id="19" fill="hold">
                            <p:stCondLst>
                              <p:cond delay="0"/>
                            </p:stCondLst>
                            <p:childTnLst>
                              <p:par>
                                <p:cTn id="20" presetID="21" presetClass="entr" presetSubtype="1"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heel(1)">
                                      <p:cBhvr>
                                        <p:cTn id="22" dur="75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828" grpId="0"/>
      <p:bldP spid="77830" grpId="0"/>
      <p:bldP spid="77833"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66564"/>
          <p:cNvSpPr>
            <a:spLocks noChangeArrowheads="1"/>
          </p:cNvSpPr>
          <p:nvPr/>
        </p:nvSpPr>
        <p:spPr bwMode="auto">
          <a:xfrm>
            <a:off x="694046" y="891508"/>
            <a:ext cx="7687953" cy="289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457200" indent="-457200">
              <a:spcBef>
                <a:spcPct val="50000"/>
              </a:spcBef>
              <a:buClr>
                <a:schemeClr val="folHlink"/>
              </a:buClr>
              <a:buFont typeface="Arial" panose="020B0604020202020204" pitchFamily="34" charset="0"/>
              <a:buChar char="•"/>
            </a:pPr>
            <a:r>
              <a:rPr lang="zh-CN" altLang="en-US" sz="2800" b="1" dirty="0" smtClean="0">
                <a:latin typeface="黑体" panose="02010609060101010101" pitchFamily="49" charset="-122"/>
                <a:ea typeface="黑体" panose="02010609060101010101" pitchFamily="49" charset="-122"/>
              </a:rPr>
              <a:t>通过蒸气热力性质表可以判断蒸气所处的状态，查取蒸气的初、终态参数，进而计算蒸气在热力过程中的能量转换情况</a:t>
            </a:r>
            <a:endParaRPr lang="en-US" altLang="zh-CN" sz="2800" b="1" dirty="0" smtClean="0">
              <a:latin typeface="黑体" panose="02010609060101010101" pitchFamily="49" charset="-122"/>
              <a:ea typeface="黑体" panose="02010609060101010101" pitchFamily="49" charset="-122"/>
            </a:endParaRPr>
          </a:p>
          <a:p>
            <a:pPr marL="457200" indent="-457200">
              <a:spcBef>
                <a:spcPct val="50000"/>
              </a:spcBef>
              <a:buClr>
                <a:schemeClr val="folHlink"/>
              </a:buClr>
              <a:buFont typeface="Arial" panose="020B0604020202020204" pitchFamily="34" charset="0"/>
              <a:buChar char="•"/>
            </a:pPr>
            <a:r>
              <a:rPr lang="zh-CN" altLang="en-US" sz="2800" b="1" dirty="0" smtClean="0">
                <a:latin typeface="黑体" panose="02010609060101010101" pitchFamily="49" charset="-122"/>
                <a:ea typeface="黑体" panose="02010609060101010101" pitchFamily="49" charset="-122"/>
              </a:rPr>
              <a:t>下面介绍：</a:t>
            </a:r>
            <a:r>
              <a:rPr lang="en-US" altLang="zh-CN" sz="2800" b="1" dirty="0" smtClean="0">
                <a:latin typeface="黑体" panose="02010609060101010101" pitchFamily="49" charset="-122"/>
                <a:ea typeface="黑体" panose="02010609060101010101" pitchFamily="49" charset="-122"/>
              </a:rPr>
              <a:t>1</a:t>
            </a:r>
            <a:r>
              <a:rPr lang="zh-CN" altLang="en-US" sz="2800" b="1" dirty="0" smtClean="0">
                <a:latin typeface="黑体" panose="02010609060101010101" pitchFamily="49" charset="-122"/>
                <a:ea typeface="黑体" panose="02010609060101010101" pitchFamily="49" charset="-122"/>
              </a:rPr>
              <a:t>、如何通过蒸气热力性质表判断蒸气所处的状态；</a:t>
            </a:r>
            <a:r>
              <a:rPr lang="en-US" altLang="zh-CN" sz="2800" b="1" dirty="0" smtClean="0">
                <a:latin typeface="黑体" panose="02010609060101010101" pitchFamily="49" charset="-122"/>
                <a:ea typeface="黑体" panose="02010609060101010101" pitchFamily="49" charset="-122"/>
              </a:rPr>
              <a:t>2</a:t>
            </a:r>
            <a:r>
              <a:rPr lang="zh-CN" altLang="en-US" sz="2800" b="1" dirty="0" smtClean="0">
                <a:latin typeface="黑体" panose="02010609060101010101" pitchFamily="49" charset="-122"/>
                <a:ea typeface="黑体" panose="02010609060101010101" pitchFamily="49" charset="-122"/>
              </a:rPr>
              <a:t>、利用蒸气热力性质表分析蒸气热力过程的一般步骤</a:t>
            </a:r>
            <a:endParaRPr lang="zh-CN" altLang="en-US" sz="2800" b="1" dirty="0">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7" name="矩形 66564"/>
          <p:cNvSpPr>
            <a:spLocks noChangeArrowheads="1"/>
          </p:cNvSpPr>
          <p:nvPr/>
        </p:nvSpPr>
        <p:spPr bwMode="auto">
          <a:xfrm>
            <a:off x="495265" y="421056"/>
            <a:ext cx="826442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spcBef>
                <a:spcPct val="50000"/>
              </a:spcBef>
              <a:buClr>
                <a:schemeClr val="folHlink"/>
              </a:buClr>
              <a:buFont typeface="Wingdings" panose="05000000000000000000" pitchFamily="2" charset="2"/>
              <a:buNone/>
            </a:pPr>
            <a:r>
              <a:rPr lang="en-US" altLang="zh-CN" sz="3200" b="1" dirty="0" smtClean="0">
                <a:latin typeface="黑体" panose="02010609060101010101" pitchFamily="49" charset="-122"/>
                <a:ea typeface="黑体" panose="02010609060101010101" pitchFamily="49" charset="-122"/>
              </a:rPr>
              <a:t>1</a:t>
            </a:r>
            <a:r>
              <a:rPr lang="zh-CN" altLang="en-US" sz="3200" b="1" dirty="0">
                <a:latin typeface="黑体" panose="02010609060101010101" pitchFamily="49" charset="-122"/>
                <a:ea typeface="黑体" panose="02010609060101010101" pitchFamily="49" charset="-122"/>
              </a:rPr>
              <a:t>、通过蒸气热力性质表判断蒸气所处的状态</a:t>
            </a:r>
            <a:endParaRPr lang="zh-CN" altLang="en-US" sz="3200" b="1" dirty="0">
              <a:latin typeface="黑体" panose="02010609060101010101" pitchFamily="49" charset="-122"/>
              <a:ea typeface="黑体" panose="02010609060101010101" pitchFamily="49" charset="-122"/>
            </a:endParaRPr>
          </a:p>
        </p:txBody>
      </p:sp>
      <p:sp>
        <p:nvSpPr>
          <p:cNvPr id="7" name="文本占位符 56321"/>
          <p:cNvSpPr txBox="1">
            <a:spLocks noChangeArrowheads="1"/>
          </p:cNvSpPr>
          <p:nvPr/>
        </p:nvSpPr>
        <p:spPr>
          <a:xfrm>
            <a:off x="608012" y="1403936"/>
            <a:ext cx="7772400" cy="1524000"/>
          </a:xfrm>
          <a:prstGeom prst="rect">
            <a:avLst/>
          </a:prstGeom>
        </p:spPr>
        <p:txBody>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spcBef>
                <a:spcPct val="50000"/>
              </a:spcBef>
              <a:buFont typeface="Wingdings" panose="05000000000000000000" pitchFamily="2" charset="2"/>
              <a:buChar char="Ø"/>
            </a:pPr>
            <a:r>
              <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rPr>
              <a:t>情况一：已知（</a:t>
            </a:r>
            <a:r>
              <a:rPr lang="en-US" altLang="zh-CN" sz="2800" b="1" i="1" dirty="0" err="1" smtClean="0">
                <a:latin typeface="Times New Roman" panose="02020603050405020304" pitchFamily="18" charset="0"/>
                <a:ea typeface="黑体" panose="02010609060101010101" pitchFamily="49" charset="-122"/>
                <a:cs typeface="Times New Roman" panose="02020603050405020304" pitchFamily="18" charset="0"/>
              </a:rPr>
              <a:t>p,t</a:t>
            </a:r>
            <a:r>
              <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rPr>
              <a:t>）</a:t>
            </a:r>
            <a:endPar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endParaRPr>
          </a:p>
          <a:p>
            <a:pPr>
              <a:spcBef>
                <a:spcPct val="50000"/>
              </a:spcBef>
              <a:buFont typeface="Wingdings" panose="05000000000000000000" pitchFamily="2" charset="2"/>
              <a:buNone/>
            </a:pPr>
            <a:r>
              <a:rPr lang="zh-CN" altLang="en-US" sz="2800" dirty="0" smtClean="0">
                <a:latin typeface="Times New Roman" panose="02020603050405020304" pitchFamily="18" charset="0"/>
                <a:ea typeface="黑体" panose="02010609060101010101" pitchFamily="49" charset="-122"/>
                <a:cs typeface="Times New Roman" panose="02020603050405020304" pitchFamily="18" charset="0"/>
              </a:rPr>
              <a:t>　</a:t>
            </a:r>
            <a:r>
              <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rPr>
              <a:t>查饱和表得已知压力下的饱和温度</a:t>
            </a:r>
            <a:r>
              <a:rPr lang="en-US" altLang="zh-CN" sz="2800" b="1" i="1" dirty="0" err="1" smtClean="0">
                <a:latin typeface="Times New Roman" panose="02020603050405020304" pitchFamily="18" charset="0"/>
                <a:ea typeface="黑体" panose="02010609060101010101" pitchFamily="49" charset="-122"/>
                <a:cs typeface="Times New Roman" panose="02020603050405020304" pitchFamily="18" charset="0"/>
              </a:rPr>
              <a:t>t</a:t>
            </a:r>
            <a:r>
              <a:rPr lang="en-US" altLang="zh-CN" sz="2800" b="1" baseline="-25000" dirty="0" err="1" smtClean="0">
                <a:latin typeface="Times New Roman" panose="02020603050405020304" pitchFamily="18" charset="0"/>
                <a:ea typeface="黑体" panose="02010609060101010101" pitchFamily="49" charset="-122"/>
                <a:cs typeface="Times New Roman" panose="02020603050405020304" pitchFamily="18" charset="0"/>
              </a:rPr>
              <a:t>sat</a:t>
            </a:r>
            <a:r>
              <a:rPr lang="en-US" altLang="zh-CN" sz="2800" b="1" dirty="0" smtClean="0">
                <a:latin typeface="Times New Roman" panose="02020603050405020304" pitchFamily="18" charset="0"/>
                <a:ea typeface="黑体" panose="02010609060101010101" pitchFamily="49" charset="-122"/>
                <a:cs typeface="Times New Roman" panose="02020603050405020304" pitchFamily="18" charset="0"/>
              </a:rPr>
              <a:t>(</a:t>
            </a:r>
            <a:r>
              <a:rPr lang="en-US" altLang="zh-CN" sz="2800" b="1" i="1" dirty="0" smtClean="0">
                <a:latin typeface="Times New Roman" panose="02020603050405020304" pitchFamily="18" charset="0"/>
                <a:ea typeface="黑体" panose="02010609060101010101" pitchFamily="49" charset="-122"/>
                <a:cs typeface="Times New Roman" panose="02020603050405020304" pitchFamily="18" charset="0"/>
              </a:rPr>
              <a:t>p</a:t>
            </a:r>
            <a:r>
              <a:rPr lang="en-US" altLang="zh-CN" sz="2800" b="1" dirty="0" smtClean="0">
                <a:latin typeface="Times New Roman" panose="02020603050405020304" pitchFamily="18" charset="0"/>
                <a:ea typeface="黑体" panose="02010609060101010101" pitchFamily="49" charset="-122"/>
                <a:cs typeface="Times New Roman" panose="02020603050405020304" pitchFamily="18" charset="0"/>
              </a:rPr>
              <a:t>)</a:t>
            </a:r>
            <a:r>
              <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rPr>
              <a:t> ：</a:t>
            </a:r>
            <a:endPar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endParaRPr>
          </a:p>
        </p:txBody>
      </p:sp>
      <p:grpSp>
        <p:nvGrpSpPr>
          <p:cNvPr id="13" name="组合 12"/>
          <p:cNvGrpSpPr/>
          <p:nvPr/>
        </p:nvGrpSpPr>
        <p:grpSpPr>
          <a:xfrm>
            <a:off x="1668583" y="2927936"/>
            <a:ext cx="5698436" cy="1893243"/>
            <a:chOff x="1736035" y="3326041"/>
            <a:chExt cx="5698436" cy="1893243"/>
          </a:xfrm>
        </p:grpSpPr>
        <p:graphicFrame>
          <p:nvGraphicFramePr>
            <p:cNvPr id="8" name="对象 56322"/>
            <p:cNvGraphicFramePr/>
            <p:nvPr/>
          </p:nvGraphicFramePr>
          <p:xfrm>
            <a:off x="1835149" y="3378899"/>
            <a:ext cx="5318125" cy="1787525"/>
          </p:xfrm>
          <a:graphic>
            <a:graphicData uri="http://schemas.openxmlformats.org/presentationml/2006/ole">
              <mc:AlternateContent xmlns:mc="http://schemas.openxmlformats.org/markup-compatibility/2006">
                <mc:Choice xmlns:v="urn:schemas-microsoft-com:vml" Requires="v">
                  <p:oleObj spid="_x0000_s57362" name="Equation" r:id="rId1" imgW="52730400" imgH="17678400" progId="Equation.DSMT4">
                    <p:embed/>
                  </p:oleObj>
                </mc:Choice>
                <mc:Fallback>
                  <p:oleObj name="Equation" r:id="rId1" imgW="52730400" imgH="17678400" progId="Equation.DSMT4">
                    <p:embed/>
                    <p:pic>
                      <p:nvPicPr>
                        <p:cNvPr id="0" name="对象 56322"/>
                        <p:cNvPicPr>
                          <a:picLocks noChangeArrowheads="1"/>
                        </p:cNvPicPr>
                        <p:nvPr/>
                      </p:nvPicPr>
                      <p:blipFill>
                        <a:blip r:embed="rId2"/>
                        <a:srcRect/>
                        <a:stretch>
                          <a:fillRect/>
                        </a:stretch>
                      </p:blipFill>
                      <p:spPr bwMode="auto">
                        <a:xfrm>
                          <a:off x="1835149" y="3378899"/>
                          <a:ext cx="5318125" cy="178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9" name="矩形 56325"/>
            <p:cNvSpPr>
              <a:spLocks noChangeArrowheads="1"/>
            </p:cNvSpPr>
            <p:nvPr/>
          </p:nvSpPr>
          <p:spPr bwMode="auto">
            <a:xfrm>
              <a:off x="1736035" y="3326041"/>
              <a:ext cx="5698436" cy="1893243"/>
            </a:xfrm>
            <a:prstGeom prst="rect">
              <a:avLst/>
            </a:prstGeom>
            <a:noFill/>
            <a:ln w="25400">
              <a:solidFill>
                <a:schemeClr val="folHlink"/>
              </a:solidFill>
              <a:miter lim="800000"/>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4" name="矩形 3"/>
          <p:cNvSpPr/>
          <p:nvPr/>
        </p:nvSpPr>
        <p:spPr>
          <a:xfrm>
            <a:off x="628451" y="5239390"/>
            <a:ext cx="7872819" cy="867930"/>
          </a:xfrm>
          <a:prstGeom prst="rect">
            <a:avLst/>
          </a:prstGeom>
        </p:spPr>
        <p:txBody>
          <a:bodyPr wrap="square">
            <a:spAutoFit/>
          </a:bodyPr>
          <a:lstStyle/>
          <a:p>
            <a:pPr lvl="0">
              <a:lnSpc>
                <a:spcPct val="90000"/>
              </a:lnSpc>
              <a:spcBef>
                <a:spcPct val="50000"/>
              </a:spcBef>
              <a:buClr>
                <a:srgbClr val="954F72"/>
              </a:buClr>
              <a:buFont typeface="Webdings" panose="05030102010509060703" pitchFamily="18" charset="2"/>
              <a:buChar char="ÿ"/>
            </a:pPr>
            <a:r>
              <a:rPr lang="zh-CN" altLang="en-US" sz="2800" b="1"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在湿蒸气区，</a:t>
            </a:r>
            <a:r>
              <a:rPr lang="en-US" altLang="zh-CN" sz="2800" b="1" i="1"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p</a:t>
            </a:r>
            <a:r>
              <a:rPr lang="zh-CN" altLang="en-US" sz="2800" b="1" i="1"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2800" b="1" i="1"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t</a:t>
            </a:r>
            <a:r>
              <a:rPr lang="zh-CN" altLang="en-US" sz="2800" b="1"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不是两个独立的变量，因此不能由</a:t>
            </a:r>
            <a:r>
              <a:rPr lang="en-US" altLang="zh-CN" sz="2800" b="1" i="1"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p</a:t>
            </a:r>
            <a:r>
              <a:rPr lang="zh-CN" altLang="en-US" sz="2800" b="1" i="1"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2800" b="1" i="1"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t</a:t>
            </a:r>
            <a:r>
              <a:rPr lang="zh-CN" altLang="en-US" sz="2800" b="1"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确定状态</a:t>
            </a:r>
            <a:r>
              <a:rPr lang="zh-CN" altLang="en-US" sz="2800" b="1" dirty="0" smtClean="0">
                <a:solidFill>
                  <a:prstClr val="black"/>
                </a:solidFill>
                <a:latin typeface="Times New Roman" panose="02020603050405020304" pitchFamily="18" charset="0"/>
                <a:ea typeface="黑体" panose="02010609060101010101" pitchFamily="49" charset="-122"/>
                <a:cs typeface="Times New Roman" panose="02020603050405020304" pitchFamily="18" charset="0"/>
              </a:rPr>
              <a:t>点（往往还需要给出干度</a:t>
            </a:r>
            <a:r>
              <a:rPr lang="en-US" altLang="zh-CN" sz="2800" b="1" i="1" dirty="0" smtClean="0">
                <a:solidFill>
                  <a:prstClr val="black"/>
                </a:solidFill>
                <a:latin typeface="Times New Roman" panose="02020603050405020304" pitchFamily="18" charset="0"/>
                <a:ea typeface="黑体" panose="02010609060101010101" pitchFamily="49" charset="-122"/>
                <a:cs typeface="Times New Roman" panose="02020603050405020304" pitchFamily="18" charset="0"/>
              </a:rPr>
              <a:t>x</a:t>
            </a:r>
            <a:r>
              <a:rPr lang="zh-CN" altLang="en-US" sz="2800" b="1" dirty="0" smtClean="0">
                <a:solidFill>
                  <a:prstClr val="black"/>
                </a:solidFill>
                <a:latin typeface="Times New Roman" panose="02020603050405020304" pitchFamily="18" charset="0"/>
                <a:ea typeface="黑体" panose="02010609060101010101" pitchFamily="49" charset="-122"/>
                <a:cs typeface="Times New Roman" panose="02020603050405020304" pitchFamily="18" charset="0"/>
              </a:rPr>
              <a:t>）</a:t>
            </a:r>
            <a:endParaRPr lang="zh-CN" altLang="en-US" sz="2800" dirty="0">
              <a:solidFill>
                <a:prstClr val="black"/>
              </a:solidFill>
              <a:latin typeface="Times New Roman" panose="02020603050405020304" pitchFamily="18" charset="0"/>
              <a:ea typeface="黑体" panose="02010609060101010101" pitchFamily="49" charset="-122"/>
              <a:cs typeface="Times New Roman" panose="02020603050405020304" pitchFamily="18" charset="0"/>
            </a:endParaRPr>
          </a:p>
        </p:txBody>
      </p:sp>
    </p:spTree>
  </p:cSld>
  <p:clrMapOvr>
    <a:masterClrMapping/>
  </p:clrMapOvr>
  <p:transition spd="slow"/>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文本占位符 57345"/>
          <p:cNvSpPr>
            <a:spLocks noGrp="1" noChangeArrowheads="1"/>
          </p:cNvSpPr>
          <p:nvPr>
            <p:ph idx="1"/>
          </p:nvPr>
        </p:nvSpPr>
        <p:spPr>
          <a:xfrm>
            <a:off x="395288" y="549275"/>
            <a:ext cx="8269287" cy="1524000"/>
          </a:xfrm>
        </p:spPr>
        <p:txBody>
          <a:bodyPr/>
          <a:lstStyle/>
          <a:p>
            <a:pPr>
              <a:spcBef>
                <a:spcPct val="50000"/>
              </a:spcBef>
              <a:buFont typeface="Wingdings" panose="05000000000000000000" pitchFamily="2" charset="2"/>
              <a:buChar char="Ø"/>
            </a:pPr>
            <a:r>
              <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rPr>
              <a:t>情况二：已知</a:t>
            </a:r>
            <a:r>
              <a:rPr lang="en-US" altLang="zh-CN" sz="2800" b="1" i="1" dirty="0" smtClean="0">
                <a:latin typeface="Times New Roman" panose="02020603050405020304" pitchFamily="18" charset="0"/>
                <a:ea typeface="黑体" panose="02010609060101010101" pitchFamily="49" charset="-122"/>
                <a:cs typeface="Times New Roman" panose="02020603050405020304" pitchFamily="18" charset="0"/>
              </a:rPr>
              <a:t>p</a:t>
            </a:r>
            <a:r>
              <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rPr>
              <a:t>（或</a:t>
            </a:r>
            <a:r>
              <a:rPr lang="en-US" altLang="zh-CN" sz="2800" b="1" i="1" dirty="0" smtClean="0">
                <a:latin typeface="Times New Roman" panose="02020603050405020304" pitchFamily="18" charset="0"/>
                <a:ea typeface="黑体" panose="02010609060101010101" pitchFamily="49" charset="-122"/>
                <a:cs typeface="Times New Roman" panose="02020603050405020304" pitchFamily="18" charset="0"/>
              </a:rPr>
              <a:t>t</a:t>
            </a:r>
            <a:r>
              <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rPr>
              <a:t>）及某一比参数</a:t>
            </a:r>
            <a:r>
              <a:rPr lang="en-US" altLang="zh-CN" sz="2800" b="1" i="1" dirty="0" smtClean="0">
                <a:latin typeface="Times New Roman" panose="02020603050405020304" pitchFamily="18" charset="0"/>
                <a:ea typeface="黑体" panose="02010609060101010101" pitchFamily="49" charset="-122"/>
                <a:cs typeface="Times New Roman" panose="02020603050405020304" pitchFamily="18" charset="0"/>
              </a:rPr>
              <a:t>y</a:t>
            </a:r>
            <a:r>
              <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rPr>
              <a:t>（</a:t>
            </a:r>
            <a:r>
              <a:rPr lang="en-US" altLang="zh-CN" sz="2800" b="1" i="1" dirty="0" smtClean="0">
                <a:latin typeface="Times New Roman" panose="02020603050405020304" pitchFamily="18" charset="0"/>
                <a:ea typeface="黑体" panose="02010609060101010101" pitchFamily="49" charset="-122"/>
                <a:cs typeface="Times New Roman" panose="02020603050405020304" pitchFamily="18" charset="0"/>
              </a:rPr>
              <a:t>v</a:t>
            </a:r>
            <a:r>
              <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rPr>
              <a:t>或</a:t>
            </a:r>
            <a:r>
              <a:rPr lang="en-US" altLang="zh-CN" sz="2800" b="1" i="1" dirty="0" smtClean="0">
                <a:latin typeface="Times New Roman" panose="02020603050405020304" pitchFamily="18" charset="0"/>
                <a:ea typeface="黑体" panose="02010609060101010101" pitchFamily="49" charset="-122"/>
                <a:cs typeface="Times New Roman" panose="02020603050405020304" pitchFamily="18" charset="0"/>
              </a:rPr>
              <a:t>s</a:t>
            </a:r>
            <a:r>
              <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rPr>
              <a:t>或</a:t>
            </a:r>
            <a:r>
              <a:rPr lang="en-US" altLang="zh-CN" sz="2800" b="1" i="1" dirty="0" smtClean="0">
                <a:latin typeface="Times New Roman" panose="02020603050405020304" pitchFamily="18" charset="0"/>
                <a:ea typeface="黑体" panose="02010609060101010101" pitchFamily="49" charset="-122"/>
                <a:cs typeface="Times New Roman" panose="02020603050405020304" pitchFamily="18" charset="0"/>
              </a:rPr>
              <a:t>h</a:t>
            </a:r>
            <a:r>
              <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rPr>
              <a:t>）</a:t>
            </a:r>
            <a:endPar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endParaRPr>
          </a:p>
          <a:p>
            <a:pPr>
              <a:spcBef>
                <a:spcPct val="50000"/>
              </a:spcBef>
              <a:buFont typeface="Wingdings" panose="05000000000000000000" pitchFamily="2" charset="2"/>
              <a:buNone/>
            </a:pPr>
            <a:r>
              <a:rPr lang="zh-CN" altLang="en-US" sz="2800" dirty="0" smtClean="0"/>
              <a:t>　</a:t>
            </a:r>
            <a:r>
              <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rPr>
              <a:t>查饱和表得到已知压力（或温度）下的</a:t>
            </a:r>
            <a:r>
              <a:rPr lang="en-US" altLang="zh-CN" sz="2800" b="1" i="1" dirty="0" smtClean="0">
                <a:latin typeface="Times New Roman" panose="02020603050405020304" pitchFamily="18" charset="0"/>
                <a:ea typeface="黑体" panose="02010609060101010101" pitchFamily="49" charset="-122"/>
                <a:cs typeface="Times New Roman" panose="02020603050405020304" pitchFamily="18" charset="0"/>
              </a:rPr>
              <a:t>y’</a:t>
            </a:r>
            <a:r>
              <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rPr>
              <a:t>、</a:t>
            </a:r>
            <a:r>
              <a:rPr lang="en-US" altLang="zh-CN" sz="2800" b="1" i="1" dirty="0" smtClean="0">
                <a:latin typeface="Times New Roman" panose="02020603050405020304" pitchFamily="18" charset="0"/>
                <a:ea typeface="黑体" panose="02010609060101010101" pitchFamily="49" charset="-122"/>
                <a:cs typeface="Times New Roman" panose="02020603050405020304" pitchFamily="18" charset="0"/>
              </a:rPr>
              <a:t>y”</a:t>
            </a:r>
            <a:r>
              <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rPr>
              <a:t>：</a:t>
            </a:r>
            <a:endPar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91139" name="对象 57346"/>
          <p:cNvGraphicFramePr/>
          <p:nvPr/>
        </p:nvGraphicFramePr>
        <p:xfrm>
          <a:off x="1185794" y="2025858"/>
          <a:ext cx="6327775" cy="1936750"/>
        </p:xfrm>
        <a:graphic>
          <a:graphicData uri="http://schemas.openxmlformats.org/presentationml/2006/ole">
            <mc:AlternateContent xmlns:mc="http://schemas.openxmlformats.org/markup-compatibility/2006">
              <mc:Choice xmlns:v="urn:schemas-microsoft-com:vml" Requires="v">
                <p:oleObj spid="_x0000_s58418" name="Equation" r:id="rId1" imgW="57912000" imgH="17678400" progId="Equation.DSMT4">
                  <p:embed/>
                </p:oleObj>
              </mc:Choice>
              <mc:Fallback>
                <p:oleObj name="Equation" r:id="rId1" imgW="57912000" imgH="17678400" progId="Equation.DSMT4">
                  <p:embed/>
                  <p:pic>
                    <p:nvPicPr>
                      <p:cNvPr id="0" name="对象 57346"/>
                      <p:cNvPicPr>
                        <a:picLocks noChangeArrowheads="1"/>
                      </p:cNvPicPr>
                      <p:nvPr/>
                    </p:nvPicPr>
                    <p:blipFill>
                      <a:blip r:embed="rId2"/>
                      <a:srcRect/>
                      <a:stretch>
                        <a:fillRect/>
                      </a:stretch>
                    </p:blipFill>
                    <p:spPr bwMode="auto">
                      <a:xfrm>
                        <a:off x="1185794" y="2025858"/>
                        <a:ext cx="6327775" cy="193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91140" name="矩形 57352"/>
          <p:cNvSpPr>
            <a:spLocks noChangeArrowheads="1"/>
          </p:cNvSpPr>
          <p:nvPr/>
        </p:nvSpPr>
        <p:spPr bwMode="auto">
          <a:xfrm>
            <a:off x="1185794" y="1902033"/>
            <a:ext cx="6408738" cy="2159000"/>
          </a:xfrm>
          <a:prstGeom prst="rect">
            <a:avLst/>
          </a:prstGeom>
          <a:noFill/>
          <a:ln w="25400">
            <a:solidFill>
              <a:schemeClr val="folHlink"/>
            </a:solidFill>
            <a:miter lim="800000"/>
          </a:ln>
          <a:extLst>
            <a:ext uri="{909E8E84-426E-40DD-AFC4-6F175D3DCCD1}">
              <a14:hiddenFill xmlns:a14="http://schemas.microsoft.com/office/drawing/2010/main">
                <a:solidFill>
                  <a:srgbClr val="FFFFFF"/>
                </a:solidFill>
              </a14:hiddenFill>
            </a:ext>
          </a:extLst>
        </p:spPr>
        <p:txBody>
          <a:bodyPr/>
          <a:lstStyle/>
          <a:p>
            <a:endParaRPr lang="zh-CN" altLang="en-US"/>
          </a:p>
        </p:txBody>
      </p:sp>
      <p:graphicFrame>
        <p:nvGraphicFramePr>
          <p:cNvPr id="91141" name="对象 57357"/>
          <p:cNvGraphicFramePr/>
          <p:nvPr/>
        </p:nvGraphicFramePr>
        <p:xfrm>
          <a:off x="2073275" y="5014913"/>
          <a:ext cx="1831975" cy="1101725"/>
        </p:xfrm>
        <a:graphic>
          <a:graphicData uri="http://schemas.openxmlformats.org/presentationml/2006/ole">
            <mc:AlternateContent xmlns:mc="http://schemas.openxmlformats.org/markup-compatibility/2006">
              <mc:Choice xmlns:v="urn:schemas-microsoft-com:vml" Requires="v">
                <p:oleObj spid="_x0000_s58419" name="" r:id="rId3" imgW="465455" imgH="279400" progId="Equation.3">
                  <p:embed/>
                </p:oleObj>
              </mc:Choice>
              <mc:Fallback>
                <p:oleObj name="" r:id="rId3" imgW="465455" imgH="279400" progId="Equation.3">
                  <p:embed/>
                  <p:pic>
                    <p:nvPicPr>
                      <p:cNvPr id="0" name="对象 57357"/>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73275" y="5014913"/>
                        <a:ext cx="1831975" cy="1101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91142" name="矩形 57358"/>
          <p:cNvSpPr>
            <a:spLocks noChangeArrowheads="1"/>
          </p:cNvSpPr>
          <p:nvPr/>
        </p:nvSpPr>
        <p:spPr bwMode="auto">
          <a:xfrm>
            <a:off x="765313" y="4322763"/>
            <a:ext cx="6248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400">
                <a:solidFill>
                  <a:schemeClr val="tx1"/>
                </a:solidFill>
                <a:latin typeface="Tahoma" panose="020B0604030504040204" pitchFamily="34" charset="0"/>
                <a:ea typeface="宋体" panose="02010600030101010101" pitchFamily="2" charset="-122"/>
              </a:defRPr>
            </a:lvl1pPr>
            <a:lvl2pPr>
              <a:defRPr sz="2400">
                <a:solidFill>
                  <a:schemeClr val="tx1"/>
                </a:solidFill>
                <a:latin typeface="Tahoma" panose="020B0604030504040204" pitchFamily="34" charset="0"/>
                <a:ea typeface="宋体" panose="02010600030101010101" pitchFamily="2" charset="-122"/>
              </a:defRPr>
            </a:lvl2pPr>
            <a:lvl3pPr>
              <a:defRPr sz="2400">
                <a:solidFill>
                  <a:schemeClr val="tx1"/>
                </a:solidFill>
                <a:latin typeface="Tahoma" panose="020B0604030504040204" pitchFamily="34" charset="0"/>
                <a:ea typeface="宋体" panose="02010600030101010101" pitchFamily="2" charset="-122"/>
              </a:defRPr>
            </a:lvl3pPr>
            <a:lvl4pPr>
              <a:defRPr sz="2400">
                <a:solidFill>
                  <a:schemeClr val="tx1"/>
                </a:solidFill>
                <a:latin typeface="Tahoma" panose="020B0604030504040204" pitchFamily="34" charset="0"/>
                <a:ea typeface="宋体" panose="02010600030101010101" pitchFamily="2" charset="-122"/>
              </a:defRPr>
            </a:lvl4pPr>
            <a:lvl5pPr>
              <a:defRPr sz="2400">
                <a:solidFill>
                  <a:schemeClr val="tx1"/>
                </a:solidFill>
                <a:latin typeface="Tahoma" panose="020B0604030504040204" pitchFamily="34" charset="0"/>
                <a:ea typeface="宋体" panose="02010600030101010101" pitchFamily="2" charset="-122"/>
              </a:defRPr>
            </a:lvl5pPr>
            <a:lvl6pPr fontAlgn="base">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fontAlgn="base">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fontAlgn="base">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fontAlgn="base">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nSpc>
                <a:spcPct val="90000"/>
              </a:lnSpc>
              <a:spcBef>
                <a:spcPct val="50000"/>
              </a:spcBef>
              <a:buClr>
                <a:schemeClr val="folHlink"/>
              </a:buClr>
              <a:buFont typeface="Webdings" panose="05030102010509060703" pitchFamily="18" charset="2"/>
              <a:buNone/>
            </a:pPr>
            <a:r>
              <a:rPr lang="zh-CN" altLang="en-US" sz="2800" b="1" dirty="0">
                <a:latin typeface="黑体" panose="02010609060101010101" pitchFamily="49" charset="-122"/>
                <a:ea typeface="黑体" panose="02010609060101010101" pitchFamily="49" charset="-122"/>
              </a:rPr>
              <a:t>在湿蒸气区干度及其它参数的计算：</a:t>
            </a:r>
            <a:endParaRPr lang="zh-CN" altLang="en-US" sz="2800" b="1" dirty="0">
              <a:latin typeface="黑体" panose="02010609060101010101" pitchFamily="49" charset="-122"/>
              <a:ea typeface="黑体" panose="02010609060101010101" pitchFamily="49" charset="-122"/>
            </a:endParaRPr>
          </a:p>
        </p:txBody>
      </p:sp>
      <p:graphicFrame>
        <p:nvGraphicFramePr>
          <p:cNvPr id="91143" name="对象 57359"/>
          <p:cNvGraphicFramePr/>
          <p:nvPr/>
        </p:nvGraphicFramePr>
        <p:xfrm>
          <a:off x="4863548" y="4846224"/>
          <a:ext cx="2863850" cy="1736725"/>
        </p:xfrm>
        <a:graphic>
          <a:graphicData uri="http://schemas.openxmlformats.org/presentationml/2006/ole">
            <mc:AlternateContent xmlns:mc="http://schemas.openxmlformats.org/markup-compatibility/2006">
              <mc:Choice xmlns:v="urn:schemas-microsoft-com:vml" Requires="v">
                <p:oleObj spid="_x0000_s58420" name="" r:id="rId5" imgW="728345" imgH="440055" progId="Equation.3">
                  <p:embed/>
                </p:oleObj>
              </mc:Choice>
              <mc:Fallback>
                <p:oleObj name="" r:id="rId5" imgW="728345" imgH="440055" progId="Equation.3">
                  <p:embed/>
                  <p:pic>
                    <p:nvPicPr>
                      <p:cNvPr id="0" name="对象 57359"/>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63548" y="4846224"/>
                        <a:ext cx="2863850" cy="173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ransition spd="slow"/>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文本占位符 91138"/>
          <p:cNvSpPr>
            <a:spLocks noGrp="1" noChangeArrowheads="1"/>
          </p:cNvSpPr>
          <p:nvPr>
            <p:ph idx="1"/>
          </p:nvPr>
        </p:nvSpPr>
        <p:spPr>
          <a:xfrm>
            <a:off x="827088" y="1700213"/>
            <a:ext cx="7345362" cy="4799978"/>
          </a:xfrm>
        </p:spPr>
        <p:txBody>
          <a:bodyPr>
            <a:normAutofit/>
          </a:bodyPr>
          <a:lstStyle/>
          <a:p>
            <a:pPr>
              <a:lnSpc>
                <a:spcPct val="90000"/>
              </a:lnSpc>
              <a:buFont typeface="Wingdings" panose="05000000000000000000" pitchFamily="2" charset="2"/>
              <a:buNone/>
            </a:pPr>
            <a:r>
              <a:rPr lang="en-US" altLang="zh-CN" sz="2800" b="1" dirty="0">
                <a:latin typeface="Times New Roman" panose="02020603050405020304" pitchFamily="18" charset="0"/>
                <a:ea typeface="黑体" panose="02010609060101010101" pitchFamily="49" charset="-122"/>
                <a:cs typeface="Times New Roman" panose="02020603050405020304" pitchFamily="18" charset="0"/>
              </a:rPr>
              <a:t>①</a:t>
            </a:r>
            <a:r>
              <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rPr>
              <a:t>根据初态的两个已知参数，通常为（</a:t>
            </a:r>
            <a:r>
              <a:rPr lang="en-US" altLang="zh-CN" sz="2800" b="1" i="1" dirty="0" smtClean="0">
                <a:latin typeface="Times New Roman" panose="02020603050405020304" pitchFamily="18" charset="0"/>
                <a:ea typeface="黑体" panose="02010609060101010101" pitchFamily="49" charset="-122"/>
                <a:cs typeface="Times New Roman" panose="02020603050405020304" pitchFamily="18" charset="0"/>
              </a:rPr>
              <a:t>p</a:t>
            </a:r>
            <a:r>
              <a:rPr lang="en-US" altLang="zh-CN" sz="2800" b="1" dirty="0" smtClean="0">
                <a:latin typeface="Times New Roman" panose="02020603050405020304" pitchFamily="18" charset="0"/>
                <a:ea typeface="黑体" panose="02010609060101010101" pitchFamily="49" charset="-122"/>
                <a:cs typeface="Times New Roman" panose="02020603050405020304" pitchFamily="18" charset="0"/>
              </a:rPr>
              <a:t>, </a:t>
            </a:r>
            <a:r>
              <a:rPr lang="en-US" altLang="zh-CN" sz="2800" b="1" i="1" dirty="0" smtClean="0">
                <a:latin typeface="Times New Roman" panose="02020603050405020304" pitchFamily="18" charset="0"/>
                <a:ea typeface="黑体" panose="02010609060101010101" pitchFamily="49" charset="-122"/>
                <a:cs typeface="Times New Roman" panose="02020603050405020304" pitchFamily="18" charset="0"/>
              </a:rPr>
              <a:t>t</a:t>
            </a:r>
            <a:r>
              <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rPr>
              <a:t>）、（</a:t>
            </a:r>
            <a:r>
              <a:rPr lang="en-US" altLang="zh-CN" sz="2800" b="1" i="1" dirty="0" smtClean="0">
                <a:latin typeface="Times New Roman" panose="02020603050405020304" pitchFamily="18" charset="0"/>
                <a:ea typeface="黑体" panose="02010609060101010101" pitchFamily="49" charset="-122"/>
                <a:cs typeface="Times New Roman" panose="02020603050405020304" pitchFamily="18" charset="0"/>
              </a:rPr>
              <a:t>p, x</a:t>
            </a:r>
            <a:r>
              <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rPr>
              <a:t>）或（</a:t>
            </a:r>
            <a:r>
              <a:rPr lang="en-US" altLang="zh-CN" sz="2800" b="1" i="1" dirty="0" smtClean="0">
                <a:latin typeface="Times New Roman" panose="02020603050405020304" pitchFamily="18" charset="0"/>
                <a:ea typeface="黑体" panose="02010609060101010101" pitchFamily="49" charset="-122"/>
                <a:cs typeface="Times New Roman" panose="02020603050405020304" pitchFamily="18" charset="0"/>
              </a:rPr>
              <a:t>t, x</a:t>
            </a:r>
            <a:r>
              <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rPr>
              <a:t>），从表中查得其他参数，如</a:t>
            </a:r>
            <a:r>
              <a:rPr lang="en-US" altLang="zh-CN" sz="2800" b="1" i="1" dirty="0" smtClean="0">
                <a:latin typeface="Times New Roman" panose="02020603050405020304" pitchFamily="18" charset="0"/>
                <a:ea typeface="黑体" panose="02010609060101010101" pitchFamily="49" charset="-122"/>
                <a:cs typeface="Times New Roman" panose="02020603050405020304" pitchFamily="18" charset="0"/>
              </a:rPr>
              <a:t>h</a:t>
            </a:r>
            <a:r>
              <a:rPr lang="zh-CN" altLang="en-US" sz="2800" b="1" i="1" dirty="0" smtClean="0">
                <a:latin typeface="Times New Roman" panose="02020603050405020304" pitchFamily="18" charset="0"/>
                <a:ea typeface="黑体" panose="02010609060101010101" pitchFamily="49" charset="-122"/>
                <a:cs typeface="Times New Roman" panose="02020603050405020304" pitchFamily="18" charset="0"/>
              </a:rPr>
              <a:t>、</a:t>
            </a:r>
            <a:r>
              <a:rPr lang="en-US" altLang="zh-CN" sz="2800" b="1" i="1" dirty="0" smtClean="0">
                <a:latin typeface="Times New Roman" panose="02020603050405020304" pitchFamily="18" charset="0"/>
                <a:ea typeface="黑体" panose="02010609060101010101" pitchFamily="49" charset="-122"/>
                <a:cs typeface="Times New Roman" panose="02020603050405020304" pitchFamily="18" charset="0"/>
              </a:rPr>
              <a:t>s</a:t>
            </a:r>
            <a:r>
              <a:rPr lang="zh-CN" altLang="en-US" sz="2800" b="1" i="1" dirty="0" smtClean="0">
                <a:latin typeface="Times New Roman" panose="02020603050405020304" pitchFamily="18" charset="0"/>
                <a:ea typeface="黑体" panose="02010609060101010101" pitchFamily="49" charset="-122"/>
                <a:cs typeface="Times New Roman" panose="02020603050405020304" pitchFamily="18" charset="0"/>
              </a:rPr>
              <a:t>、</a:t>
            </a:r>
            <a:r>
              <a:rPr lang="en-US" altLang="zh-CN" sz="2800" b="1" i="1" dirty="0" smtClean="0">
                <a:latin typeface="Times New Roman" panose="02020603050405020304" pitchFamily="18" charset="0"/>
                <a:ea typeface="黑体" panose="02010609060101010101" pitchFamily="49" charset="-122"/>
                <a:cs typeface="Times New Roman" panose="02020603050405020304" pitchFamily="18" charset="0"/>
              </a:rPr>
              <a:t>v</a:t>
            </a:r>
            <a:r>
              <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rPr>
              <a:t>等。</a:t>
            </a:r>
            <a:endPar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endParaRPr>
          </a:p>
          <a:p>
            <a:pPr>
              <a:lnSpc>
                <a:spcPct val="90000"/>
              </a:lnSpc>
              <a:buFont typeface="Wingdings" panose="05000000000000000000" pitchFamily="2" charset="2"/>
              <a:buNone/>
            </a:pPr>
            <a:r>
              <a:rPr lang="en-US" altLang="zh-CN" sz="2800" b="1" dirty="0">
                <a:latin typeface="Times New Roman" panose="02020603050405020304" pitchFamily="18" charset="0"/>
                <a:ea typeface="黑体" panose="02010609060101010101" pitchFamily="49" charset="-122"/>
                <a:cs typeface="Times New Roman" panose="02020603050405020304" pitchFamily="18" charset="0"/>
              </a:rPr>
              <a:t>②</a:t>
            </a:r>
            <a:r>
              <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rPr>
              <a:t>根据过程特征，如定温、定压、定容、定熵等，加上一个终态参数，确定终态，再从表上查得其他参数，表示在</a:t>
            </a:r>
            <a:r>
              <a:rPr lang="en-US" altLang="zh-CN" sz="2800" b="1" i="1" dirty="0" smtClean="0">
                <a:latin typeface="Times New Roman" panose="02020603050405020304" pitchFamily="18" charset="0"/>
                <a:ea typeface="黑体" panose="02010609060101010101" pitchFamily="49" charset="-122"/>
                <a:cs typeface="Times New Roman" panose="02020603050405020304" pitchFamily="18" charset="0"/>
              </a:rPr>
              <a:t>T-s</a:t>
            </a:r>
            <a:r>
              <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rPr>
              <a:t>或</a:t>
            </a:r>
            <a:r>
              <a:rPr lang="en-US" altLang="zh-CN" sz="2800" b="1" i="1" dirty="0" smtClean="0">
                <a:latin typeface="Times New Roman" panose="02020603050405020304" pitchFamily="18" charset="0"/>
                <a:ea typeface="黑体" panose="02010609060101010101" pitchFamily="49" charset="-122"/>
                <a:cs typeface="Times New Roman" panose="02020603050405020304" pitchFamily="18" charset="0"/>
              </a:rPr>
              <a:t>p-v</a:t>
            </a:r>
            <a:r>
              <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rPr>
              <a:t>图上。</a:t>
            </a:r>
            <a:endPar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endParaRPr>
          </a:p>
          <a:p>
            <a:pPr>
              <a:lnSpc>
                <a:spcPct val="90000"/>
              </a:lnSpc>
              <a:buFont typeface="Wingdings" panose="05000000000000000000" pitchFamily="2" charset="2"/>
              <a:buNone/>
            </a:pPr>
            <a:r>
              <a:rPr lang="en-US" altLang="zh-CN" sz="2800" b="1" dirty="0">
                <a:latin typeface="Times New Roman" panose="02020603050405020304" pitchFamily="18" charset="0"/>
                <a:ea typeface="黑体" panose="02010609060101010101" pitchFamily="49" charset="-122"/>
                <a:cs typeface="Times New Roman" panose="02020603050405020304" pitchFamily="18" charset="0"/>
              </a:rPr>
              <a:t>③</a:t>
            </a:r>
            <a:r>
              <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rPr>
              <a:t>根据已求得的初、终态参数，应用热力学第一、第二定律的基本方程及参数定义式（</a:t>
            </a:r>
            <a:r>
              <a:rPr lang="en-US" altLang="zh-CN" sz="2800" b="1" i="1" dirty="0" smtClean="0">
                <a:latin typeface="Times New Roman" panose="02020603050405020304" pitchFamily="18" charset="0"/>
                <a:ea typeface="黑体" panose="02010609060101010101" pitchFamily="49" charset="-122"/>
                <a:cs typeface="Times New Roman" panose="02020603050405020304" pitchFamily="18" charset="0"/>
              </a:rPr>
              <a:t>u=h-</a:t>
            </a:r>
            <a:r>
              <a:rPr lang="en-US" altLang="zh-CN" sz="2800" b="1" i="1" dirty="0" err="1" smtClean="0">
                <a:latin typeface="Times New Roman" panose="02020603050405020304" pitchFamily="18" charset="0"/>
                <a:ea typeface="黑体" panose="02010609060101010101" pitchFamily="49" charset="-122"/>
                <a:cs typeface="Times New Roman" panose="02020603050405020304" pitchFamily="18" charset="0"/>
              </a:rPr>
              <a:t>pv</a:t>
            </a:r>
            <a:r>
              <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rPr>
              <a:t>）并根据过程是否可逆计算</a:t>
            </a:r>
            <a:r>
              <a:rPr lang="en-US" altLang="zh-CN" sz="2800" b="1" i="1" dirty="0" smtClean="0">
                <a:latin typeface="Times New Roman" panose="02020603050405020304" pitchFamily="18" charset="0"/>
                <a:ea typeface="黑体" panose="02010609060101010101" pitchFamily="49" charset="-122"/>
                <a:cs typeface="Times New Roman" panose="02020603050405020304" pitchFamily="18" charset="0"/>
              </a:rPr>
              <a:t>q</a:t>
            </a:r>
            <a:r>
              <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rPr>
              <a:t>、 </a:t>
            </a:r>
            <a:r>
              <a:rPr lang="en-US" altLang="zh-CN" sz="2800" b="1" i="1" dirty="0" err="1" smtClean="0">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rPr>
              <a:t>w</a:t>
            </a:r>
            <a:r>
              <a:rPr lang="en-US" altLang="zh-CN" sz="2800" b="1" baseline="-25000" dirty="0" err="1" smtClean="0">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rPr>
              <a:t>b</a:t>
            </a:r>
            <a:r>
              <a:rPr lang="zh-CN" altLang="en-US" sz="2800" b="1" i="1" dirty="0" smtClean="0">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rPr>
              <a:t>、</a:t>
            </a:r>
            <a:r>
              <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rPr>
              <a:t> </a:t>
            </a:r>
            <a:r>
              <a:rPr lang="en-US" altLang="zh-CN" sz="2800" b="1" dirty="0" smtClean="0">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rPr>
              <a:t></a:t>
            </a:r>
            <a:r>
              <a:rPr lang="en-US" altLang="zh-CN" sz="2800" b="1" i="1" dirty="0" smtClean="0">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rPr>
              <a:t>u</a:t>
            </a:r>
            <a:r>
              <a:rPr lang="zh-CN" altLang="en-US" sz="2800" b="1" i="1" dirty="0" smtClean="0">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rPr>
              <a:t>、 </a:t>
            </a:r>
            <a:r>
              <a:rPr lang="en-US" altLang="zh-CN" sz="2800" b="1" dirty="0" smtClean="0">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rPr>
              <a:t></a:t>
            </a:r>
            <a:r>
              <a:rPr lang="en-US" altLang="zh-CN" sz="2800" b="1" i="1" dirty="0" smtClean="0">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rPr>
              <a:t>h</a:t>
            </a:r>
            <a:r>
              <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rPr>
              <a:t>等。具体方法如下。</a:t>
            </a:r>
            <a:endPar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endParaRPr>
          </a:p>
        </p:txBody>
      </p:sp>
      <p:sp>
        <p:nvSpPr>
          <p:cNvPr id="5" name="矩形 77837"/>
          <p:cNvSpPr>
            <a:spLocks noChangeArrowheads="1"/>
          </p:cNvSpPr>
          <p:nvPr/>
        </p:nvSpPr>
        <p:spPr bwMode="auto">
          <a:xfrm>
            <a:off x="270163" y="476250"/>
            <a:ext cx="8686800"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400">
                <a:solidFill>
                  <a:schemeClr val="tx1"/>
                </a:solidFill>
                <a:latin typeface="Tahoma" panose="020B0604030504040204" pitchFamily="34" charset="0"/>
                <a:ea typeface="宋体" panose="02010600030101010101" pitchFamily="2" charset="-122"/>
              </a:defRPr>
            </a:lvl1pPr>
            <a:lvl2pPr>
              <a:defRPr sz="2400">
                <a:solidFill>
                  <a:schemeClr val="tx1"/>
                </a:solidFill>
                <a:latin typeface="Tahoma" panose="020B0604030504040204" pitchFamily="34" charset="0"/>
                <a:ea typeface="宋体" panose="02010600030101010101" pitchFamily="2" charset="-122"/>
              </a:defRPr>
            </a:lvl2pPr>
            <a:lvl3pPr>
              <a:defRPr sz="2400">
                <a:solidFill>
                  <a:schemeClr val="tx1"/>
                </a:solidFill>
                <a:latin typeface="Tahoma" panose="020B0604030504040204" pitchFamily="34" charset="0"/>
                <a:ea typeface="宋体" panose="02010600030101010101" pitchFamily="2" charset="-122"/>
              </a:defRPr>
            </a:lvl3pPr>
            <a:lvl4pPr>
              <a:defRPr sz="2400">
                <a:solidFill>
                  <a:schemeClr val="tx1"/>
                </a:solidFill>
                <a:latin typeface="Tahoma" panose="020B0604030504040204" pitchFamily="34" charset="0"/>
                <a:ea typeface="宋体" panose="02010600030101010101" pitchFamily="2" charset="-122"/>
              </a:defRPr>
            </a:lvl4pPr>
            <a:lvl5pPr>
              <a:defRPr sz="2400">
                <a:solidFill>
                  <a:schemeClr val="tx1"/>
                </a:solidFill>
                <a:latin typeface="Tahoma" panose="020B0604030504040204" pitchFamily="34" charset="0"/>
                <a:ea typeface="宋体" panose="02010600030101010101" pitchFamily="2" charset="-122"/>
              </a:defRPr>
            </a:lvl5pPr>
            <a:lvl6pPr fontAlgn="base">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fontAlgn="base">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fontAlgn="base">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fontAlgn="base">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marL="0" indent="0">
              <a:spcBef>
                <a:spcPct val="50000"/>
              </a:spcBef>
              <a:buClr>
                <a:schemeClr val="folHlink"/>
              </a:buClr>
            </a:pPr>
            <a:r>
              <a:rPr lang="en-US" altLang="zh-CN" sz="2800" b="1" dirty="0">
                <a:latin typeface="黑体" panose="02010609060101010101" pitchFamily="49" charset="-122"/>
                <a:ea typeface="黑体" panose="02010609060101010101" pitchFamily="49" charset="-122"/>
              </a:rPr>
              <a:t>2</a:t>
            </a:r>
            <a:r>
              <a:rPr lang="zh-CN" altLang="en-US" sz="2800" b="1" dirty="0" smtClean="0">
                <a:latin typeface="黑体" panose="02010609060101010101" pitchFamily="49" charset="-122"/>
                <a:ea typeface="黑体" panose="02010609060101010101" pitchFamily="49" charset="-122"/>
              </a:rPr>
              <a:t>、</a:t>
            </a:r>
            <a:r>
              <a:rPr lang="zh-CN" altLang="en-US" sz="2800" b="1" dirty="0">
                <a:latin typeface="黑体" panose="02010609060101010101" pitchFamily="49" charset="-122"/>
                <a:ea typeface="黑体" panose="02010609060101010101" pitchFamily="49" charset="-122"/>
              </a:rPr>
              <a:t>利用蒸气热力性质表分析蒸气热力过程的一般步骤</a:t>
            </a:r>
            <a:endParaRPr lang="zh-CN" altLang="en-US" sz="2800" b="1" dirty="0">
              <a:latin typeface="黑体" panose="02010609060101010101" pitchFamily="49" charset="-122"/>
              <a:ea typeface="黑体" panose="02010609060101010101" pitchFamily="49" charset="-122"/>
            </a:endParaRPr>
          </a:p>
        </p:txBody>
      </p:sp>
    </p:spTree>
  </p:cSld>
  <p:clrMapOvr>
    <a:masterClrMapping/>
  </p:clrMapOvr>
  <p:transition spd="slow"/>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57358"/>
          <p:cNvSpPr>
            <a:spLocks noChangeArrowheads="1"/>
          </p:cNvSpPr>
          <p:nvPr/>
        </p:nvSpPr>
        <p:spPr bwMode="auto">
          <a:xfrm>
            <a:off x="487017" y="453128"/>
            <a:ext cx="6248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400">
                <a:solidFill>
                  <a:schemeClr val="tx1"/>
                </a:solidFill>
                <a:latin typeface="Tahoma" panose="020B0604030504040204" pitchFamily="34" charset="0"/>
                <a:ea typeface="宋体" panose="02010600030101010101" pitchFamily="2" charset="-122"/>
              </a:defRPr>
            </a:lvl1pPr>
            <a:lvl2pPr>
              <a:defRPr sz="2400">
                <a:solidFill>
                  <a:schemeClr val="tx1"/>
                </a:solidFill>
                <a:latin typeface="Tahoma" panose="020B0604030504040204" pitchFamily="34" charset="0"/>
                <a:ea typeface="宋体" panose="02010600030101010101" pitchFamily="2" charset="-122"/>
              </a:defRPr>
            </a:lvl2pPr>
            <a:lvl3pPr>
              <a:defRPr sz="2400">
                <a:solidFill>
                  <a:schemeClr val="tx1"/>
                </a:solidFill>
                <a:latin typeface="Tahoma" panose="020B0604030504040204" pitchFamily="34" charset="0"/>
                <a:ea typeface="宋体" panose="02010600030101010101" pitchFamily="2" charset="-122"/>
              </a:defRPr>
            </a:lvl3pPr>
            <a:lvl4pPr>
              <a:defRPr sz="2400">
                <a:solidFill>
                  <a:schemeClr val="tx1"/>
                </a:solidFill>
                <a:latin typeface="Tahoma" panose="020B0604030504040204" pitchFamily="34" charset="0"/>
                <a:ea typeface="宋体" panose="02010600030101010101" pitchFamily="2" charset="-122"/>
              </a:defRPr>
            </a:lvl4pPr>
            <a:lvl5pPr>
              <a:defRPr sz="2400">
                <a:solidFill>
                  <a:schemeClr val="tx1"/>
                </a:solidFill>
                <a:latin typeface="Tahoma" panose="020B0604030504040204" pitchFamily="34" charset="0"/>
                <a:ea typeface="宋体" panose="02010600030101010101" pitchFamily="2" charset="-122"/>
              </a:defRPr>
            </a:lvl5pPr>
            <a:lvl6pPr fontAlgn="base">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fontAlgn="base">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fontAlgn="base">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fontAlgn="base">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nSpc>
                <a:spcPct val="90000"/>
              </a:lnSpc>
              <a:spcBef>
                <a:spcPct val="50000"/>
              </a:spcBef>
              <a:buClr>
                <a:schemeClr val="folHlink"/>
              </a:buClr>
              <a:buFont typeface="Webdings" panose="05030102010509060703" pitchFamily="18" charset="2"/>
              <a:buNone/>
            </a:pPr>
            <a:r>
              <a:rPr lang="zh-CN" altLang="en-US" sz="2800" b="1" dirty="0" smtClean="0">
                <a:latin typeface="黑体" panose="02010609060101010101" pitchFamily="49" charset="-122"/>
                <a:ea typeface="黑体" panose="02010609060101010101" pitchFamily="49" charset="-122"/>
              </a:rPr>
              <a:t>方法如下：</a:t>
            </a:r>
            <a:endParaRPr lang="zh-CN" altLang="en-US" sz="2800" b="1" dirty="0">
              <a:latin typeface="黑体" panose="02010609060101010101" pitchFamily="49" charset="-122"/>
              <a:ea typeface="黑体" panose="02010609060101010101" pitchFamily="49" charset="-122"/>
            </a:endParaRPr>
          </a:p>
        </p:txBody>
      </p:sp>
      <p:sp>
        <p:nvSpPr>
          <p:cNvPr id="5" name="矩形 57358"/>
          <p:cNvSpPr>
            <a:spLocks noChangeArrowheads="1"/>
          </p:cNvSpPr>
          <p:nvPr/>
        </p:nvSpPr>
        <p:spPr bwMode="auto">
          <a:xfrm>
            <a:off x="427383" y="1235007"/>
            <a:ext cx="6248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400">
                <a:solidFill>
                  <a:schemeClr val="tx1"/>
                </a:solidFill>
                <a:latin typeface="Tahoma" panose="020B0604030504040204" pitchFamily="34" charset="0"/>
                <a:ea typeface="宋体" panose="02010600030101010101" pitchFamily="2" charset="-122"/>
              </a:defRPr>
            </a:lvl1pPr>
            <a:lvl2pPr>
              <a:defRPr sz="2400">
                <a:solidFill>
                  <a:schemeClr val="tx1"/>
                </a:solidFill>
                <a:latin typeface="Tahoma" panose="020B0604030504040204" pitchFamily="34" charset="0"/>
                <a:ea typeface="宋体" panose="02010600030101010101" pitchFamily="2" charset="-122"/>
              </a:defRPr>
            </a:lvl2pPr>
            <a:lvl3pPr>
              <a:defRPr sz="2400">
                <a:solidFill>
                  <a:schemeClr val="tx1"/>
                </a:solidFill>
                <a:latin typeface="Tahoma" panose="020B0604030504040204" pitchFamily="34" charset="0"/>
                <a:ea typeface="宋体" panose="02010600030101010101" pitchFamily="2" charset="-122"/>
              </a:defRPr>
            </a:lvl3pPr>
            <a:lvl4pPr>
              <a:defRPr sz="2400">
                <a:solidFill>
                  <a:schemeClr val="tx1"/>
                </a:solidFill>
                <a:latin typeface="Tahoma" panose="020B0604030504040204" pitchFamily="34" charset="0"/>
                <a:ea typeface="宋体" panose="02010600030101010101" pitchFamily="2" charset="-122"/>
              </a:defRPr>
            </a:lvl4pPr>
            <a:lvl5pPr>
              <a:defRPr sz="2400">
                <a:solidFill>
                  <a:schemeClr val="tx1"/>
                </a:solidFill>
                <a:latin typeface="Tahoma" panose="020B0604030504040204" pitchFamily="34" charset="0"/>
                <a:ea typeface="宋体" panose="02010600030101010101" pitchFamily="2" charset="-122"/>
              </a:defRPr>
            </a:lvl5pPr>
            <a:lvl6pPr fontAlgn="base">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fontAlgn="base">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fontAlgn="base">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fontAlgn="base">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nSpc>
                <a:spcPct val="90000"/>
              </a:lnSpc>
              <a:spcBef>
                <a:spcPct val="50000"/>
              </a:spcBef>
              <a:buClr>
                <a:schemeClr val="folHlink"/>
              </a:buClr>
              <a:buFont typeface="Webdings" panose="05030102010509060703" pitchFamily="18" charset="2"/>
              <a:buNone/>
            </a:pPr>
            <a:r>
              <a:rPr lang="zh-CN" altLang="en-US" sz="2800" b="1" dirty="0" smtClean="0">
                <a:latin typeface="黑体" panose="02010609060101010101" pitchFamily="49" charset="-122"/>
                <a:ea typeface="黑体" panose="02010609060101010101" pitchFamily="49" charset="-122"/>
              </a:rPr>
              <a:t>（</a:t>
            </a:r>
            <a:r>
              <a:rPr lang="en-US" altLang="zh-CN" sz="2800" b="1" dirty="0" smtClean="0">
                <a:latin typeface="黑体" panose="02010609060101010101" pitchFamily="49" charset="-122"/>
                <a:ea typeface="黑体" panose="02010609060101010101" pitchFamily="49" charset="-122"/>
              </a:rPr>
              <a:t>1</a:t>
            </a:r>
            <a:r>
              <a:rPr lang="zh-CN" altLang="en-US" sz="2800" b="1" dirty="0" smtClean="0">
                <a:latin typeface="黑体" panose="02010609060101010101" pitchFamily="49" charset="-122"/>
                <a:ea typeface="黑体" panose="02010609060101010101" pitchFamily="49" charset="-122"/>
              </a:rPr>
              <a:t>）可逆定容过程，</a:t>
            </a:r>
            <a:endParaRPr lang="zh-CN" altLang="en-US" sz="2800" b="1" dirty="0">
              <a:latin typeface="黑体" panose="02010609060101010101" pitchFamily="49" charset="-122"/>
              <a:ea typeface="黑体" panose="02010609060101010101" pitchFamily="49" charset="-122"/>
            </a:endParaRPr>
          </a:p>
        </p:txBody>
      </p:sp>
      <p:graphicFrame>
        <p:nvGraphicFramePr>
          <p:cNvPr id="7" name="对象 6"/>
          <p:cNvGraphicFramePr>
            <a:graphicFrameLocks noChangeAspect="1"/>
          </p:cNvGraphicFramePr>
          <p:nvPr/>
        </p:nvGraphicFramePr>
        <p:xfrm>
          <a:off x="4035287" y="1235007"/>
          <a:ext cx="1428130" cy="507780"/>
        </p:xfrm>
        <a:graphic>
          <a:graphicData uri="http://schemas.openxmlformats.org/presentationml/2006/ole">
            <mc:AlternateContent xmlns:mc="http://schemas.openxmlformats.org/markup-compatibility/2006">
              <mc:Choice xmlns:v="urn:schemas-microsoft-com:vml" Requires="v">
                <p:oleObj spid="_x0000_s59506" name="Equation" r:id="rId1" imgW="571500" imgH="203200" progId="Equation.DSMT4">
                  <p:embed/>
                </p:oleObj>
              </mc:Choice>
              <mc:Fallback>
                <p:oleObj name="Equation" r:id="rId1" imgW="571500" imgH="203200" progId="Equation.DSMT4">
                  <p:embed/>
                  <p:pic>
                    <p:nvPicPr>
                      <p:cNvPr id="0" name="对象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35287" y="1235007"/>
                        <a:ext cx="1428130" cy="50778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 name="对象 9"/>
          <p:cNvGraphicFramePr>
            <a:graphicFrameLocks noChangeAspect="1"/>
          </p:cNvGraphicFramePr>
          <p:nvPr/>
        </p:nvGraphicFramePr>
        <p:xfrm>
          <a:off x="980662" y="2016886"/>
          <a:ext cx="2286000" cy="698400"/>
        </p:xfrm>
        <a:graphic>
          <a:graphicData uri="http://schemas.openxmlformats.org/presentationml/2006/ole">
            <mc:AlternateContent xmlns:mc="http://schemas.openxmlformats.org/markup-compatibility/2006">
              <mc:Choice xmlns:v="urn:schemas-microsoft-com:vml" Requires="v">
                <p:oleObj spid="_x0000_s59507" name="Equation" r:id="rId3" imgW="21945600" imgH="6705600" progId="Equation.DSMT4">
                  <p:embed/>
                </p:oleObj>
              </mc:Choice>
              <mc:Fallback>
                <p:oleObj name="Equation" r:id="rId3" imgW="21945600" imgH="6705600" progId="Equation.DSMT4">
                  <p:embed/>
                  <p:pic>
                    <p:nvPicPr>
                      <p:cNvPr id="0" name="对象 9"/>
                      <p:cNvPicPr/>
                      <p:nvPr/>
                    </p:nvPicPr>
                    <p:blipFill>
                      <a:blip r:embed="rId4"/>
                      <a:stretch>
                        <a:fillRect/>
                      </a:stretch>
                    </p:blipFill>
                    <p:spPr>
                      <a:xfrm>
                        <a:off x="980662" y="2016886"/>
                        <a:ext cx="2286000" cy="698400"/>
                      </a:xfrm>
                      <a:prstGeom prst="rect">
                        <a:avLst/>
                      </a:prstGeom>
                    </p:spPr>
                  </p:pic>
                </p:oleObj>
              </mc:Fallback>
            </mc:AlternateContent>
          </a:graphicData>
        </a:graphic>
      </p:graphicFrame>
      <p:graphicFrame>
        <p:nvGraphicFramePr>
          <p:cNvPr id="12" name="对象 11"/>
          <p:cNvGraphicFramePr>
            <a:graphicFrameLocks noChangeAspect="1"/>
          </p:cNvGraphicFramePr>
          <p:nvPr/>
        </p:nvGraphicFramePr>
        <p:xfrm>
          <a:off x="4134679" y="2112086"/>
          <a:ext cx="2889250" cy="508000"/>
        </p:xfrm>
        <a:graphic>
          <a:graphicData uri="http://schemas.openxmlformats.org/presentationml/2006/ole">
            <mc:AlternateContent xmlns:mc="http://schemas.openxmlformats.org/markup-compatibility/2006">
              <mc:Choice xmlns:v="urn:schemas-microsoft-com:vml" Requires="v">
                <p:oleObj spid="_x0000_s59508" name="Equation" r:id="rId5" imgW="1155700" imgH="203200" progId="Equation.DSMT4">
                  <p:embed/>
                </p:oleObj>
              </mc:Choice>
              <mc:Fallback>
                <p:oleObj name="Equation" r:id="rId5" imgW="1155700" imgH="203200" progId="Equation.DSMT4">
                  <p:embed/>
                  <p:pic>
                    <p:nvPicPr>
                      <p:cNvPr id="0" name="对象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34679" y="2112086"/>
                        <a:ext cx="2889250" cy="508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 name="矩形 57358"/>
          <p:cNvSpPr>
            <a:spLocks noChangeArrowheads="1"/>
          </p:cNvSpPr>
          <p:nvPr/>
        </p:nvSpPr>
        <p:spPr bwMode="auto">
          <a:xfrm>
            <a:off x="427383" y="3459844"/>
            <a:ext cx="6248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400">
                <a:solidFill>
                  <a:schemeClr val="tx1"/>
                </a:solidFill>
                <a:latin typeface="Tahoma" panose="020B0604030504040204" pitchFamily="34" charset="0"/>
                <a:ea typeface="宋体" panose="02010600030101010101" pitchFamily="2" charset="-122"/>
              </a:defRPr>
            </a:lvl1pPr>
            <a:lvl2pPr>
              <a:defRPr sz="2400">
                <a:solidFill>
                  <a:schemeClr val="tx1"/>
                </a:solidFill>
                <a:latin typeface="Tahoma" panose="020B0604030504040204" pitchFamily="34" charset="0"/>
                <a:ea typeface="宋体" panose="02010600030101010101" pitchFamily="2" charset="-122"/>
              </a:defRPr>
            </a:lvl2pPr>
            <a:lvl3pPr>
              <a:defRPr sz="2400">
                <a:solidFill>
                  <a:schemeClr val="tx1"/>
                </a:solidFill>
                <a:latin typeface="Tahoma" panose="020B0604030504040204" pitchFamily="34" charset="0"/>
                <a:ea typeface="宋体" panose="02010600030101010101" pitchFamily="2" charset="-122"/>
              </a:defRPr>
            </a:lvl3pPr>
            <a:lvl4pPr>
              <a:defRPr sz="2400">
                <a:solidFill>
                  <a:schemeClr val="tx1"/>
                </a:solidFill>
                <a:latin typeface="Tahoma" panose="020B0604030504040204" pitchFamily="34" charset="0"/>
                <a:ea typeface="宋体" panose="02010600030101010101" pitchFamily="2" charset="-122"/>
              </a:defRPr>
            </a:lvl4pPr>
            <a:lvl5pPr>
              <a:defRPr sz="2400">
                <a:solidFill>
                  <a:schemeClr val="tx1"/>
                </a:solidFill>
                <a:latin typeface="Tahoma" panose="020B0604030504040204" pitchFamily="34" charset="0"/>
                <a:ea typeface="宋体" panose="02010600030101010101" pitchFamily="2" charset="-122"/>
              </a:defRPr>
            </a:lvl5pPr>
            <a:lvl6pPr fontAlgn="base">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fontAlgn="base">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fontAlgn="base">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fontAlgn="base">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nSpc>
                <a:spcPct val="90000"/>
              </a:lnSpc>
              <a:spcBef>
                <a:spcPct val="50000"/>
              </a:spcBef>
              <a:buClr>
                <a:schemeClr val="folHlink"/>
              </a:buClr>
              <a:buFont typeface="Webdings" panose="05030102010509060703" pitchFamily="18" charset="2"/>
              <a:buNone/>
            </a:pPr>
            <a:r>
              <a:rPr lang="zh-CN" altLang="en-US" sz="2800" b="1" dirty="0" smtClean="0">
                <a:latin typeface="黑体" panose="02010609060101010101" pitchFamily="49" charset="-122"/>
                <a:ea typeface="黑体" panose="02010609060101010101" pitchFamily="49" charset="-122"/>
              </a:rPr>
              <a:t>（</a:t>
            </a:r>
            <a:r>
              <a:rPr lang="en-US" altLang="zh-CN" sz="2800" b="1" dirty="0" smtClean="0">
                <a:latin typeface="黑体" panose="02010609060101010101" pitchFamily="49" charset="-122"/>
                <a:ea typeface="黑体" panose="02010609060101010101" pitchFamily="49" charset="-122"/>
              </a:rPr>
              <a:t>2</a:t>
            </a:r>
            <a:r>
              <a:rPr lang="zh-CN" altLang="en-US" sz="2800" b="1" dirty="0" smtClean="0">
                <a:latin typeface="黑体" panose="02010609060101010101" pitchFamily="49" charset="-122"/>
                <a:ea typeface="黑体" panose="02010609060101010101" pitchFamily="49" charset="-122"/>
              </a:rPr>
              <a:t>）可逆定</a:t>
            </a:r>
            <a:r>
              <a:rPr lang="zh-CN" altLang="en-US" sz="2800" b="1" dirty="0">
                <a:latin typeface="黑体" panose="02010609060101010101" pitchFamily="49" charset="-122"/>
                <a:ea typeface="黑体" panose="02010609060101010101" pitchFamily="49" charset="-122"/>
              </a:rPr>
              <a:t>压</a:t>
            </a:r>
            <a:r>
              <a:rPr lang="zh-CN" altLang="en-US" sz="2800" b="1" dirty="0" smtClean="0">
                <a:latin typeface="黑体" panose="02010609060101010101" pitchFamily="49" charset="-122"/>
                <a:ea typeface="黑体" panose="02010609060101010101" pitchFamily="49" charset="-122"/>
              </a:rPr>
              <a:t>过程，</a:t>
            </a:r>
            <a:endParaRPr lang="zh-CN" altLang="en-US" sz="2800" b="1" dirty="0">
              <a:latin typeface="黑体" panose="02010609060101010101" pitchFamily="49" charset="-122"/>
              <a:ea typeface="黑体" panose="02010609060101010101" pitchFamily="49" charset="-122"/>
            </a:endParaRPr>
          </a:p>
        </p:txBody>
      </p:sp>
      <p:graphicFrame>
        <p:nvGraphicFramePr>
          <p:cNvPr id="14" name="对象 13"/>
          <p:cNvGraphicFramePr>
            <a:graphicFrameLocks noChangeAspect="1"/>
          </p:cNvGraphicFramePr>
          <p:nvPr/>
        </p:nvGraphicFramePr>
        <p:xfrm>
          <a:off x="4003675" y="3443288"/>
          <a:ext cx="1492250" cy="539750"/>
        </p:xfrm>
        <a:graphic>
          <a:graphicData uri="http://schemas.openxmlformats.org/presentationml/2006/ole">
            <mc:AlternateContent xmlns:mc="http://schemas.openxmlformats.org/markup-compatibility/2006">
              <mc:Choice xmlns:v="urn:schemas-microsoft-com:vml" Requires="v">
                <p:oleObj spid="_x0000_s59509" name="Equation" r:id="rId7" imgW="14325600" imgH="5181600" progId="Equation.DSMT4">
                  <p:embed/>
                </p:oleObj>
              </mc:Choice>
              <mc:Fallback>
                <p:oleObj name="Equation" r:id="rId7" imgW="14325600" imgH="5181600" progId="Equation.DSMT4">
                  <p:embed/>
                  <p:pic>
                    <p:nvPicPr>
                      <p:cNvPr id="0" name="对象 13"/>
                      <p:cNvPicPr>
                        <a:picLocks noChangeAspect="1" noChangeArrowheads="1"/>
                      </p:cNvPicPr>
                      <p:nvPr/>
                    </p:nvPicPr>
                    <p:blipFill>
                      <a:blip r:embed="rId8"/>
                      <a:srcRect/>
                      <a:stretch>
                        <a:fillRect/>
                      </a:stretch>
                    </p:blipFill>
                    <p:spPr bwMode="auto">
                      <a:xfrm>
                        <a:off x="4003675" y="3443288"/>
                        <a:ext cx="1492250" cy="539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5" name="对象 14"/>
          <p:cNvGraphicFramePr>
            <a:graphicFrameLocks noChangeAspect="1"/>
          </p:cNvGraphicFramePr>
          <p:nvPr/>
        </p:nvGraphicFramePr>
        <p:xfrm>
          <a:off x="877543" y="4240628"/>
          <a:ext cx="3619500" cy="698500"/>
        </p:xfrm>
        <a:graphic>
          <a:graphicData uri="http://schemas.openxmlformats.org/presentationml/2006/ole">
            <mc:AlternateContent xmlns:mc="http://schemas.openxmlformats.org/markup-compatibility/2006">
              <mc:Choice xmlns:v="urn:schemas-microsoft-com:vml" Requires="v">
                <p:oleObj spid="_x0000_s59510" name="Equation" r:id="rId9" imgW="34747200" imgH="6705600" progId="Equation.DSMT4">
                  <p:embed/>
                </p:oleObj>
              </mc:Choice>
              <mc:Fallback>
                <p:oleObj name="Equation" r:id="rId9" imgW="34747200" imgH="6705600" progId="Equation.DSMT4">
                  <p:embed/>
                  <p:pic>
                    <p:nvPicPr>
                      <p:cNvPr id="0" name="对象 14"/>
                      <p:cNvPicPr/>
                      <p:nvPr/>
                    </p:nvPicPr>
                    <p:blipFill>
                      <a:blip r:embed="rId10"/>
                      <a:stretch>
                        <a:fillRect/>
                      </a:stretch>
                    </p:blipFill>
                    <p:spPr>
                      <a:xfrm>
                        <a:off x="877543" y="4240628"/>
                        <a:ext cx="3619500" cy="698500"/>
                      </a:xfrm>
                      <a:prstGeom prst="rect">
                        <a:avLst/>
                      </a:prstGeom>
                    </p:spPr>
                  </p:pic>
                </p:oleObj>
              </mc:Fallback>
            </mc:AlternateContent>
          </a:graphicData>
        </a:graphic>
      </p:graphicFrame>
      <p:graphicFrame>
        <p:nvGraphicFramePr>
          <p:cNvPr id="17" name="对象 16"/>
          <p:cNvGraphicFramePr>
            <a:graphicFrameLocks noChangeAspect="1"/>
          </p:cNvGraphicFramePr>
          <p:nvPr/>
        </p:nvGraphicFramePr>
        <p:xfrm>
          <a:off x="929378" y="5110312"/>
          <a:ext cx="1143000" cy="508000"/>
        </p:xfrm>
        <a:graphic>
          <a:graphicData uri="http://schemas.openxmlformats.org/presentationml/2006/ole">
            <mc:AlternateContent xmlns:mc="http://schemas.openxmlformats.org/markup-compatibility/2006">
              <mc:Choice xmlns:v="urn:schemas-microsoft-com:vml" Requires="v">
                <p:oleObj spid="_x0000_s59511" name="Equation" r:id="rId11" imgW="10972800" imgH="4876800" progId="Equation.DSMT4">
                  <p:embed/>
                </p:oleObj>
              </mc:Choice>
              <mc:Fallback>
                <p:oleObj name="Equation" r:id="rId11" imgW="10972800" imgH="4876800" progId="Equation.DSMT4">
                  <p:embed/>
                  <p:pic>
                    <p:nvPicPr>
                      <p:cNvPr id="0" name="对象 16"/>
                      <p:cNvPicPr>
                        <a:picLocks noChangeAspect="1" noChangeArrowheads="1"/>
                      </p:cNvPicPr>
                      <p:nvPr/>
                    </p:nvPicPr>
                    <p:blipFill>
                      <a:blip r:embed="rId12"/>
                      <a:srcRect/>
                      <a:stretch>
                        <a:fillRect/>
                      </a:stretch>
                    </p:blipFill>
                    <p:spPr bwMode="auto">
                      <a:xfrm>
                        <a:off x="929378" y="5110312"/>
                        <a:ext cx="1143000" cy="508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8" name="对象 17"/>
          <p:cNvGraphicFramePr>
            <a:graphicFrameLocks noChangeAspect="1"/>
          </p:cNvGraphicFramePr>
          <p:nvPr/>
        </p:nvGraphicFramePr>
        <p:xfrm>
          <a:off x="897628" y="5881619"/>
          <a:ext cx="2349500" cy="508000"/>
        </p:xfrm>
        <a:graphic>
          <a:graphicData uri="http://schemas.openxmlformats.org/presentationml/2006/ole">
            <mc:AlternateContent xmlns:mc="http://schemas.openxmlformats.org/markup-compatibility/2006">
              <mc:Choice xmlns:v="urn:schemas-microsoft-com:vml" Requires="v">
                <p:oleObj spid="_x0000_s59512" name="Equation" r:id="rId13" imgW="22555200" imgH="4876800" progId="Equation.DSMT4">
                  <p:embed/>
                </p:oleObj>
              </mc:Choice>
              <mc:Fallback>
                <p:oleObj name="Equation" r:id="rId13" imgW="22555200" imgH="4876800" progId="Equation.DSMT4">
                  <p:embed/>
                  <p:pic>
                    <p:nvPicPr>
                      <p:cNvPr id="0" name="对象 17"/>
                      <p:cNvPicPr>
                        <a:picLocks noChangeAspect="1" noChangeArrowheads="1"/>
                      </p:cNvPicPr>
                      <p:nvPr/>
                    </p:nvPicPr>
                    <p:blipFill>
                      <a:blip r:embed="rId14"/>
                      <a:srcRect/>
                      <a:stretch>
                        <a:fillRect/>
                      </a:stretch>
                    </p:blipFill>
                    <p:spPr bwMode="auto">
                      <a:xfrm>
                        <a:off x="897628" y="5881619"/>
                        <a:ext cx="2349500" cy="508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57358"/>
          <p:cNvSpPr>
            <a:spLocks noChangeArrowheads="1"/>
          </p:cNvSpPr>
          <p:nvPr/>
        </p:nvSpPr>
        <p:spPr bwMode="auto">
          <a:xfrm>
            <a:off x="367748" y="768180"/>
            <a:ext cx="6248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400">
                <a:solidFill>
                  <a:schemeClr val="tx1"/>
                </a:solidFill>
                <a:latin typeface="Tahoma" panose="020B0604030504040204" pitchFamily="34" charset="0"/>
                <a:ea typeface="宋体" panose="02010600030101010101" pitchFamily="2" charset="-122"/>
              </a:defRPr>
            </a:lvl1pPr>
            <a:lvl2pPr>
              <a:defRPr sz="2400">
                <a:solidFill>
                  <a:schemeClr val="tx1"/>
                </a:solidFill>
                <a:latin typeface="Tahoma" panose="020B0604030504040204" pitchFamily="34" charset="0"/>
                <a:ea typeface="宋体" panose="02010600030101010101" pitchFamily="2" charset="-122"/>
              </a:defRPr>
            </a:lvl2pPr>
            <a:lvl3pPr>
              <a:defRPr sz="2400">
                <a:solidFill>
                  <a:schemeClr val="tx1"/>
                </a:solidFill>
                <a:latin typeface="Tahoma" panose="020B0604030504040204" pitchFamily="34" charset="0"/>
                <a:ea typeface="宋体" panose="02010600030101010101" pitchFamily="2" charset="-122"/>
              </a:defRPr>
            </a:lvl3pPr>
            <a:lvl4pPr>
              <a:defRPr sz="2400">
                <a:solidFill>
                  <a:schemeClr val="tx1"/>
                </a:solidFill>
                <a:latin typeface="Tahoma" panose="020B0604030504040204" pitchFamily="34" charset="0"/>
                <a:ea typeface="宋体" panose="02010600030101010101" pitchFamily="2" charset="-122"/>
              </a:defRPr>
            </a:lvl4pPr>
            <a:lvl5pPr>
              <a:defRPr sz="2400">
                <a:solidFill>
                  <a:schemeClr val="tx1"/>
                </a:solidFill>
                <a:latin typeface="Tahoma" panose="020B0604030504040204" pitchFamily="34" charset="0"/>
                <a:ea typeface="宋体" panose="02010600030101010101" pitchFamily="2" charset="-122"/>
              </a:defRPr>
            </a:lvl5pPr>
            <a:lvl6pPr fontAlgn="base">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fontAlgn="base">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fontAlgn="base">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fontAlgn="base">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nSpc>
                <a:spcPct val="90000"/>
              </a:lnSpc>
              <a:spcBef>
                <a:spcPct val="50000"/>
              </a:spcBef>
              <a:buClr>
                <a:schemeClr val="folHlink"/>
              </a:buClr>
              <a:buFont typeface="Webdings" panose="05030102010509060703" pitchFamily="18" charset="2"/>
              <a:buNone/>
            </a:pPr>
            <a:r>
              <a:rPr lang="zh-CN" altLang="en-US" sz="2800" b="1" dirty="0" smtClean="0">
                <a:latin typeface="黑体" panose="02010609060101010101" pitchFamily="49" charset="-122"/>
                <a:ea typeface="黑体" panose="02010609060101010101" pitchFamily="49" charset="-122"/>
              </a:rPr>
              <a:t>（</a:t>
            </a:r>
            <a:r>
              <a:rPr lang="en-US" altLang="zh-CN" sz="2800" b="1" dirty="0" smtClean="0">
                <a:latin typeface="黑体" panose="02010609060101010101" pitchFamily="49" charset="-122"/>
                <a:ea typeface="黑体" panose="02010609060101010101" pitchFamily="49" charset="-122"/>
              </a:rPr>
              <a:t>3</a:t>
            </a:r>
            <a:r>
              <a:rPr lang="zh-CN" altLang="en-US" sz="2800" b="1" dirty="0" smtClean="0">
                <a:latin typeface="黑体" panose="02010609060101010101" pitchFamily="49" charset="-122"/>
                <a:ea typeface="黑体" panose="02010609060101010101" pitchFamily="49" charset="-122"/>
              </a:rPr>
              <a:t>）可逆定温过程，</a:t>
            </a:r>
            <a:endParaRPr lang="zh-CN" altLang="en-US" sz="2800" b="1" dirty="0">
              <a:latin typeface="黑体" panose="02010609060101010101" pitchFamily="49" charset="-122"/>
              <a:ea typeface="黑体" panose="02010609060101010101" pitchFamily="49" charset="-122"/>
            </a:endParaRPr>
          </a:p>
        </p:txBody>
      </p:sp>
      <p:graphicFrame>
        <p:nvGraphicFramePr>
          <p:cNvPr id="7" name="对象 6"/>
          <p:cNvGraphicFramePr>
            <a:graphicFrameLocks noChangeAspect="1"/>
          </p:cNvGraphicFramePr>
          <p:nvPr/>
        </p:nvGraphicFramePr>
        <p:xfrm>
          <a:off x="3943350" y="768350"/>
          <a:ext cx="1492250" cy="508000"/>
        </p:xfrm>
        <a:graphic>
          <a:graphicData uri="http://schemas.openxmlformats.org/presentationml/2006/ole">
            <mc:AlternateContent xmlns:mc="http://schemas.openxmlformats.org/markup-compatibility/2006">
              <mc:Choice xmlns:v="urn:schemas-microsoft-com:vml" Requires="v">
                <p:oleObj spid="_x0000_s60530" name="Equation" r:id="rId1" imgW="14325600" imgH="4876800" progId="Equation.DSMT4">
                  <p:embed/>
                </p:oleObj>
              </mc:Choice>
              <mc:Fallback>
                <p:oleObj name="Equation" r:id="rId1" imgW="14325600" imgH="4876800" progId="Equation.DSMT4">
                  <p:embed/>
                  <p:pic>
                    <p:nvPicPr>
                      <p:cNvPr id="0" name="对象 6"/>
                      <p:cNvPicPr>
                        <a:picLocks noChangeAspect="1" noChangeArrowheads="1"/>
                      </p:cNvPicPr>
                      <p:nvPr/>
                    </p:nvPicPr>
                    <p:blipFill>
                      <a:blip r:embed="rId2"/>
                      <a:srcRect/>
                      <a:stretch>
                        <a:fillRect/>
                      </a:stretch>
                    </p:blipFill>
                    <p:spPr bwMode="auto">
                      <a:xfrm>
                        <a:off x="3943350" y="768350"/>
                        <a:ext cx="1492250" cy="508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 name="对象 11"/>
          <p:cNvGraphicFramePr>
            <a:graphicFrameLocks noChangeAspect="1"/>
          </p:cNvGraphicFramePr>
          <p:nvPr/>
        </p:nvGraphicFramePr>
        <p:xfrm>
          <a:off x="5495925" y="1561562"/>
          <a:ext cx="1873250" cy="571500"/>
        </p:xfrm>
        <a:graphic>
          <a:graphicData uri="http://schemas.openxmlformats.org/presentationml/2006/ole">
            <mc:AlternateContent xmlns:mc="http://schemas.openxmlformats.org/markup-compatibility/2006">
              <mc:Choice xmlns:v="urn:schemas-microsoft-com:vml" Requires="v">
                <p:oleObj spid="_x0000_s60531" name="Equation" r:id="rId3" imgW="17983200" imgH="5486400" progId="Equation.DSMT4">
                  <p:embed/>
                </p:oleObj>
              </mc:Choice>
              <mc:Fallback>
                <p:oleObj name="Equation" r:id="rId3" imgW="17983200" imgH="5486400" progId="Equation.DSMT4">
                  <p:embed/>
                  <p:pic>
                    <p:nvPicPr>
                      <p:cNvPr id="0" name="对象 11"/>
                      <p:cNvPicPr>
                        <a:picLocks noChangeAspect="1" noChangeArrowheads="1"/>
                      </p:cNvPicPr>
                      <p:nvPr/>
                    </p:nvPicPr>
                    <p:blipFill>
                      <a:blip r:embed="rId4"/>
                      <a:srcRect/>
                      <a:stretch>
                        <a:fillRect/>
                      </a:stretch>
                    </p:blipFill>
                    <p:spPr bwMode="auto">
                      <a:xfrm>
                        <a:off x="5495925" y="1561562"/>
                        <a:ext cx="1873250" cy="571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 name="矩形 57358"/>
          <p:cNvSpPr>
            <a:spLocks noChangeArrowheads="1"/>
          </p:cNvSpPr>
          <p:nvPr/>
        </p:nvSpPr>
        <p:spPr bwMode="auto">
          <a:xfrm>
            <a:off x="427383" y="3459844"/>
            <a:ext cx="6248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400">
                <a:solidFill>
                  <a:schemeClr val="tx1"/>
                </a:solidFill>
                <a:latin typeface="Tahoma" panose="020B0604030504040204" pitchFamily="34" charset="0"/>
                <a:ea typeface="宋体" panose="02010600030101010101" pitchFamily="2" charset="-122"/>
              </a:defRPr>
            </a:lvl1pPr>
            <a:lvl2pPr>
              <a:defRPr sz="2400">
                <a:solidFill>
                  <a:schemeClr val="tx1"/>
                </a:solidFill>
                <a:latin typeface="Tahoma" panose="020B0604030504040204" pitchFamily="34" charset="0"/>
                <a:ea typeface="宋体" panose="02010600030101010101" pitchFamily="2" charset="-122"/>
              </a:defRPr>
            </a:lvl2pPr>
            <a:lvl3pPr>
              <a:defRPr sz="2400">
                <a:solidFill>
                  <a:schemeClr val="tx1"/>
                </a:solidFill>
                <a:latin typeface="Tahoma" panose="020B0604030504040204" pitchFamily="34" charset="0"/>
                <a:ea typeface="宋体" panose="02010600030101010101" pitchFamily="2" charset="-122"/>
              </a:defRPr>
            </a:lvl3pPr>
            <a:lvl4pPr>
              <a:defRPr sz="2400">
                <a:solidFill>
                  <a:schemeClr val="tx1"/>
                </a:solidFill>
                <a:latin typeface="Tahoma" panose="020B0604030504040204" pitchFamily="34" charset="0"/>
                <a:ea typeface="宋体" panose="02010600030101010101" pitchFamily="2" charset="-122"/>
              </a:defRPr>
            </a:lvl4pPr>
            <a:lvl5pPr>
              <a:defRPr sz="2400">
                <a:solidFill>
                  <a:schemeClr val="tx1"/>
                </a:solidFill>
                <a:latin typeface="Tahoma" panose="020B0604030504040204" pitchFamily="34" charset="0"/>
                <a:ea typeface="宋体" panose="02010600030101010101" pitchFamily="2" charset="-122"/>
              </a:defRPr>
            </a:lvl5pPr>
            <a:lvl6pPr fontAlgn="base">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fontAlgn="base">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fontAlgn="base">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fontAlgn="base">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nSpc>
                <a:spcPct val="90000"/>
              </a:lnSpc>
              <a:spcBef>
                <a:spcPct val="50000"/>
              </a:spcBef>
              <a:buClr>
                <a:schemeClr val="folHlink"/>
              </a:buClr>
              <a:buFont typeface="Webdings" panose="05030102010509060703" pitchFamily="18" charset="2"/>
              <a:buNone/>
            </a:pPr>
            <a:r>
              <a:rPr lang="zh-CN" altLang="en-US" sz="2800" b="1" dirty="0" smtClean="0">
                <a:latin typeface="黑体" panose="02010609060101010101" pitchFamily="49" charset="-122"/>
                <a:ea typeface="黑体" panose="02010609060101010101" pitchFamily="49" charset="-122"/>
              </a:rPr>
              <a:t>（</a:t>
            </a:r>
            <a:r>
              <a:rPr lang="en-US" altLang="zh-CN" sz="2800" b="1" dirty="0" smtClean="0">
                <a:latin typeface="黑体" panose="02010609060101010101" pitchFamily="49" charset="-122"/>
                <a:ea typeface="黑体" panose="02010609060101010101" pitchFamily="49" charset="-122"/>
              </a:rPr>
              <a:t>4</a:t>
            </a:r>
            <a:r>
              <a:rPr lang="zh-CN" altLang="en-US" sz="2800" b="1" dirty="0" smtClean="0">
                <a:latin typeface="黑体" panose="02010609060101010101" pitchFamily="49" charset="-122"/>
                <a:ea typeface="黑体" panose="02010609060101010101" pitchFamily="49" charset="-122"/>
              </a:rPr>
              <a:t>）可逆</a:t>
            </a:r>
            <a:r>
              <a:rPr lang="zh-CN" altLang="en-US" sz="2800" b="1" dirty="0">
                <a:latin typeface="黑体" panose="02010609060101010101" pitchFamily="49" charset="-122"/>
                <a:ea typeface="黑体" panose="02010609060101010101" pitchFamily="49" charset="-122"/>
              </a:rPr>
              <a:t>绝热</a:t>
            </a:r>
            <a:r>
              <a:rPr lang="zh-CN" altLang="en-US" sz="2800" b="1" dirty="0" smtClean="0">
                <a:latin typeface="黑体" panose="02010609060101010101" pitchFamily="49" charset="-122"/>
                <a:ea typeface="黑体" panose="02010609060101010101" pitchFamily="49" charset="-122"/>
              </a:rPr>
              <a:t>过程，</a:t>
            </a:r>
            <a:endParaRPr lang="zh-CN" altLang="en-US" sz="2800" b="1" dirty="0">
              <a:latin typeface="黑体" panose="02010609060101010101" pitchFamily="49" charset="-122"/>
              <a:ea typeface="黑体" panose="02010609060101010101" pitchFamily="49" charset="-122"/>
            </a:endParaRPr>
          </a:p>
        </p:txBody>
      </p:sp>
      <p:graphicFrame>
        <p:nvGraphicFramePr>
          <p:cNvPr id="14" name="对象 13"/>
          <p:cNvGraphicFramePr>
            <a:graphicFrameLocks noChangeAspect="1"/>
          </p:cNvGraphicFramePr>
          <p:nvPr/>
        </p:nvGraphicFramePr>
        <p:xfrm>
          <a:off x="4051300" y="3459163"/>
          <a:ext cx="1397000" cy="508000"/>
        </p:xfrm>
        <a:graphic>
          <a:graphicData uri="http://schemas.openxmlformats.org/presentationml/2006/ole">
            <mc:AlternateContent xmlns:mc="http://schemas.openxmlformats.org/markup-compatibility/2006">
              <mc:Choice xmlns:v="urn:schemas-microsoft-com:vml" Requires="v">
                <p:oleObj spid="_x0000_s60532" name="Equation" r:id="rId5" imgW="13411200" imgH="4876800" progId="Equation.DSMT4">
                  <p:embed/>
                </p:oleObj>
              </mc:Choice>
              <mc:Fallback>
                <p:oleObj name="Equation" r:id="rId5" imgW="13411200" imgH="4876800" progId="Equation.DSMT4">
                  <p:embed/>
                  <p:pic>
                    <p:nvPicPr>
                      <p:cNvPr id="0" name="对象 13"/>
                      <p:cNvPicPr>
                        <a:picLocks noChangeAspect="1" noChangeArrowheads="1"/>
                      </p:cNvPicPr>
                      <p:nvPr/>
                    </p:nvPicPr>
                    <p:blipFill>
                      <a:blip r:embed="rId6"/>
                      <a:srcRect/>
                      <a:stretch>
                        <a:fillRect/>
                      </a:stretch>
                    </p:blipFill>
                    <p:spPr bwMode="auto">
                      <a:xfrm>
                        <a:off x="4051300" y="3459163"/>
                        <a:ext cx="1397000" cy="508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5" name="对象 14"/>
          <p:cNvGraphicFramePr>
            <a:graphicFrameLocks noChangeAspect="1"/>
          </p:cNvGraphicFramePr>
          <p:nvPr/>
        </p:nvGraphicFramePr>
        <p:xfrm>
          <a:off x="933036" y="4975010"/>
          <a:ext cx="3905250" cy="635000"/>
        </p:xfrm>
        <a:graphic>
          <a:graphicData uri="http://schemas.openxmlformats.org/presentationml/2006/ole">
            <mc:AlternateContent xmlns:mc="http://schemas.openxmlformats.org/markup-compatibility/2006">
              <mc:Choice xmlns:v="urn:schemas-microsoft-com:vml" Requires="v">
                <p:oleObj spid="_x0000_s60533" name="Equation" r:id="rId7" imgW="37490400" imgH="6096000" progId="Equation.DSMT4">
                  <p:embed/>
                </p:oleObj>
              </mc:Choice>
              <mc:Fallback>
                <p:oleObj name="Equation" r:id="rId7" imgW="37490400" imgH="6096000" progId="Equation.DSMT4">
                  <p:embed/>
                  <p:pic>
                    <p:nvPicPr>
                      <p:cNvPr id="0" name="对象 14"/>
                      <p:cNvPicPr/>
                      <p:nvPr/>
                    </p:nvPicPr>
                    <p:blipFill>
                      <a:blip r:embed="rId8"/>
                      <a:stretch>
                        <a:fillRect/>
                      </a:stretch>
                    </p:blipFill>
                    <p:spPr>
                      <a:xfrm>
                        <a:off x="933036" y="4975010"/>
                        <a:ext cx="3905250" cy="635000"/>
                      </a:xfrm>
                      <a:prstGeom prst="rect">
                        <a:avLst/>
                      </a:prstGeom>
                    </p:spPr>
                  </p:pic>
                </p:oleObj>
              </mc:Fallback>
            </mc:AlternateContent>
          </a:graphicData>
        </a:graphic>
      </p:graphicFrame>
      <p:graphicFrame>
        <p:nvGraphicFramePr>
          <p:cNvPr id="17" name="对象 16"/>
          <p:cNvGraphicFramePr>
            <a:graphicFrameLocks noChangeAspect="1"/>
          </p:cNvGraphicFramePr>
          <p:nvPr/>
        </p:nvGraphicFramePr>
        <p:xfrm>
          <a:off x="929378" y="4268227"/>
          <a:ext cx="889000" cy="508000"/>
        </p:xfrm>
        <a:graphic>
          <a:graphicData uri="http://schemas.openxmlformats.org/presentationml/2006/ole">
            <mc:AlternateContent xmlns:mc="http://schemas.openxmlformats.org/markup-compatibility/2006">
              <mc:Choice xmlns:v="urn:schemas-microsoft-com:vml" Requires="v">
                <p:oleObj spid="_x0000_s60534" name="Equation" r:id="rId9" imgW="8534400" imgH="4876800" progId="Equation.DSMT4">
                  <p:embed/>
                </p:oleObj>
              </mc:Choice>
              <mc:Fallback>
                <p:oleObj name="Equation" r:id="rId9" imgW="8534400" imgH="4876800" progId="Equation.DSMT4">
                  <p:embed/>
                  <p:pic>
                    <p:nvPicPr>
                      <p:cNvPr id="0" name="对象 16"/>
                      <p:cNvPicPr>
                        <a:picLocks noChangeAspect="1" noChangeArrowheads="1"/>
                      </p:cNvPicPr>
                      <p:nvPr/>
                    </p:nvPicPr>
                    <p:blipFill>
                      <a:blip r:embed="rId10"/>
                      <a:srcRect/>
                      <a:stretch>
                        <a:fillRect/>
                      </a:stretch>
                    </p:blipFill>
                    <p:spPr bwMode="auto">
                      <a:xfrm>
                        <a:off x="929378" y="4268227"/>
                        <a:ext cx="889000" cy="508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 name="对象 2"/>
          <p:cNvGraphicFramePr>
            <a:graphicFrameLocks noChangeAspect="1"/>
          </p:cNvGraphicFramePr>
          <p:nvPr/>
        </p:nvGraphicFramePr>
        <p:xfrm>
          <a:off x="929378" y="1487663"/>
          <a:ext cx="3333750" cy="698500"/>
        </p:xfrm>
        <a:graphic>
          <a:graphicData uri="http://schemas.openxmlformats.org/presentationml/2006/ole">
            <mc:AlternateContent xmlns:mc="http://schemas.openxmlformats.org/markup-compatibility/2006">
              <mc:Choice xmlns:v="urn:schemas-microsoft-com:vml" Requires="v">
                <p:oleObj spid="_x0000_s60535" name="Equation" r:id="rId11" imgW="1333500" imgH="279400" progId="Equation.DSMT4">
                  <p:embed/>
                </p:oleObj>
              </mc:Choice>
              <mc:Fallback>
                <p:oleObj name="Equation" r:id="rId11" imgW="1333500" imgH="279400" progId="Equation.DSMT4">
                  <p:embed/>
                  <p:pic>
                    <p:nvPicPr>
                      <p:cNvPr id="0" name="对象 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929378" y="1487663"/>
                        <a:ext cx="3333750" cy="698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6" name="对象 15"/>
          <p:cNvGraphicFramePr>
            <a:graphicFrameLocks noChangeAspect="1"/>
          </p:cNvGraphicFramePr>
          <p:nvPr/>
        </p:nvGraphicFramePr>
        <p:xfrm>
          <a:off x="929378" y="2449470"/>
          <a:ext cx="2698750" cy="635000"/>
        </p:xfrm>
        <a:graphic>
          <a:graphicData uri="http://schemas.openxmlformats.org/presentationml/2006/ole">
            <mc:AlternateContent xmlns:mc="http://schemas.openxmlformats.org/markup-compatibility/2006">
              <mc:Choice xmlns:v="urn:schemas-microsoft-com:vml" Requires="v">
                <p:oleObj spid="_x0000_s60536" name="Equation" r:id="rId13" imgW="25908000" imgH="6096000" progId="Equation.DSMT4">
                  <p:embed/>
                </p:oleObj>
              </mc:Choice>
              <mc:Fallback>
                <p:oleObj name="Equation" r:id="rId13" imgW="25908000" imgH="6096000" progId="Equation.DSMT4">
                  <p:embed/>
                  <p:pic>
                    <p:nvPicPr>
                      <p:cNvPr id="0" name="对象 15"/>
                      <p:cNvPicPr>
                        <a:picLocks noChangeAspect="1" noChangeArrowheads="1"/>
                      </p:cNvPicPr>
                      <p:nvPr/>
                    </p:nvPicPr>
                    <p:blipFill>
                      <a:blip r:embed="rId14"/>
                      <a:srcRect/>
                      <a:stretch>
                        <a:fillRect/>
                      </a:stretch>
                    </p:blipFill>
                    <p:spPr bwMode="auto">
                      <a:xfrm>
                        <a:off x="929378" y="2449470"/>
                        <a:ext cx="2698750" cy="635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5" name="矩形 265217"/>
          <p:cNvSpPr>
            <a:spLocks noChangeArrowheads="1"/>
          </p:cNvSpPr>
          <p:nvPr/>
        </p:nvSpPr>
        <p:spPr bwMode="auto">
          <a:xfrm>
            <a:off x="395288" y="1773238"/>
            <a:ext cx="8077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buFontTx/>
              <a:buChar char="§"/>
            </a:pPr>
            <a:r>
              <a:rPr lang="en-US" altLang="zh-CN" sz="4400" b="1" dirty="0">
                <a:latin typeface="黑体" panose="02010609060101010101" pitchFamily="49" charset="-122"/>
                <a:ea typeface="黑体" panose="02010609060101010101" pitchFamily="49" charset="-122"/>
              </a:rPr>
              <a:t>9</a:t>
            </a:r>
            <a:r>
              <a:rPr lang="zh-CN" altLang="en-US" sz="4400" b="1" dirty="0">
                <a:latin typeface="黑体" panose="02010609060101010101" pitchFamily="49" charset="-122"/>
                <a:ea typeface="黑体" panose="02010609060101010101" pitchFamily="49" charset="-122"/>
              </a:rPr>
              <a:t>－</a:t>
            </a:r>
            <a:r>
              <a:rPr lang="en-US" altLang="zh-CN" sz="4400" b="1" dirty="0">
                <a:latin typeface="黑体" panose="02010609060101010101" pitchFamily="49" charset="-122"/>
                <a:ea typeface="黑体" panose="02010609060101010101" pitchFamily="49" charset="-122"/>
              </a:rPr>
              <a:t>5</a:t>
            </a:r>
            <a:r>
              <a:rPr lang="zh-CN" altLang="en-US" sz="4400" b="1" dirty="0">
                <a:latin typeface="黑体" panose="02010609060101010101" pitchFamily="49" charset="-122"/>
                <a:ea typeface="黑体" panose="02010609060101010101" pitchFamily="49" charset="-122"/>
              </a:rPr>
              <a:t>　蒸气热力性质图</a:t>
            </a:r>
            <a:endParaRPr lang="zh-CN" altLang="en-US" sz="4400" b="1" dirty="0">
              <a:latin typeface="黑体" panose="02010609060101010101" pitchFamily="49" charset="-122"/>
              <a:ea typeface="黑体" panose="02010609060101010101" pitchFamily="49" charset="-122"/>
            </a:endParaRPr>
          </a:p>
        </p:txBody>
      </p:sp>
    </p:spTree>
  </p:cSld>
  <p:clrMapOvr>
    <a:masterClrMapping/>
  </p:clrMapOvr>
  <p:transition spd="slow"/>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42" name="内容占位符 266241"/>
          <p:cNvSpPr>
            <a:spLocks noGrp="1" noChangeArrowheads="1"/>
          </p:cNvSpPr>
          <p:nvPr>
            <p:ph idx="1"/>
          </p:nvPr>
        </p:nvSpPr>
        <p:spPr>
          <a:xfrm>
            <a:off x="468313" y="620713"/>
            <a:ext cx="8229600" cy="5545137"/>
          </a:xfrm>
        </p:spPr>
        <p:txBody>
          <a:bodyPr>
            <a:normAutofit/>
          </a:bodyPr>
          <a:lstStyle/>
          <a:p>
            <a:r>
              <a:rPr lang="zh-CN" altLang="en-US" sz="3200" b="1" dirty="0" smtClean="0">
                <a:latin typeface="黑体" panose="02010609060101010101" pitchFamily="49" charset="-122"/>
                <a:ea typeface="黑体" panose="02010609060101010101" pitchFamily="49" charset="-122"/>
              </a:rPr>
              <a:t>蒸气热力性质表中的数据已经足够准确了，但仍存在着以下不足：</a:t>
            </a:r>
            <a:endParaRPr lang="zh-CN" altLang="en-US" sz="3200" b="1" dirty="0" smtClean="0">
              <a:latin typeface="黑体" panose="02010609060101010101" pitchFamily="49" charset="-122"/>
              <a:ea typeface="黑体" panose="02010609060101010101" pitchFamily="49" charset="-122"/>
            </a:endParaRPr>
          </a:p>
          <a:p>
            <a:r>
              <a:rPr lang="zh-CN" altLang="en-US" sz="3200" b="1" dirty="0" smtClean="0">
                <a:solidFill>
                  <a:srgbClr val="FF0000"/>
                </a:solidFill>
                <a:latin typeface="黑体" panose="02010609060101010101" pitchFamily="49" charset="-122"/>
                <a:ea typeface="黑体" panose="02010609060101010101" pitchFamily="49" charset="-122"/>
              </a:rPr>
              <a:t>其一</a:t>
            </a:r>
            <a:r>
              <a:rPr lang="zh-CN" altLang="en-US" sz="3200" b="1" dirty="0" smtClean="0">
                <a:latin typeface="黑体" panose="02010609060101010101" pitchFamily="49" charset="-122"/>
                <a:ea typeface="黑体" panose="02010609060101010101" pitchFamily="49" charset="-122"/>
              </a:rPr>
              <a:t>，表中数据是离散的，对于不能直接从表中查取的热力参数，需通过插值的方法得到，给实际应用带来不便；</a:t>
            </a:r>
            <a:r>
              <a:rPr lang="zh-CN" altLang="en-US" sz="3200" b="1" dirty="0" smtClean="0">
                <a:solidFill>
                  <a:srgbClr val="FF0000"/>
                </a:solidFill>
                <a:latin typeface="黑体" panose="02010609060101010101" pitchFamily="49" charset="-122"/>
                <a:ea typeface="黑体" panose="02010609060101010101" pitchFamily="49" charset="-122"/>
              </a:rPr>
              <a:t>其二</a:t>
            </a:r>
            <a:r>
              <a:rPr lang="zh-CN" altLang="en-US" sz="3200" b="1" dirty="0" smtClean="0">
                <a:latin typeface="黑体" panose="02010609060101010101" pitchFamily="49" charset="-122"/>
                <a:ea typeface="黑体" panose="02010609060101010101" pitchFamily="49" charset="-122"/>
              </a:rPr>
              <a:t>，数据表无法形象地表示工质的热力过程。</a:t>
            </a:r>
            <a:endParaRPr lang="zh-CN" altLang="en-US" sz="3200" b="1" dirty="0" smtClean="0">
              <a:latin typeface="黑体" panose="02010609060101010101" pitchFamily="49" charset="-122"/>
              <a:ea typeface="黑体" panose="02010609060101010101" pitchFamily="49" charset="-122"/>
            </a:endParaRPr>
          </a:p>
          <a:p>
            <a:r>
              <a:rPr lang="zh-CN" altLang="en-US" sz="3200" b="1" dirty="0" smtClean="0">
                <a:latin typeface="黑体" panose="02010609060101010101" pitchFamily="49" charset="-122"/>
                <a:ea typeface="黑体" panose="02010609060101010101" pitchFamily="49" charset="-122"/>
              </a:rPr>
              <a:t>为此，人们根据工程需要，选用不同的参数坐标，将常用工质的热力参数关系绘制成过程线图。</a:t>
            </a:r>
            <a:endParaRPr lang="en-US" altLang="zh-CN" sz="3200" b="1" dirty="0" smtClean="0">
              <a:latin typeface="黑体" panose="02010609060101010101" pitchFamily="49" charset="-122"/>
              <a:ea typeface="黑体" panose="02010609060101010101" pitchFamily="49" charset="-122"/>
            </a:endParaRPr>
          </a:p>
          <a:p>
            <a:r>
              <a:rPr lang="zh-CN" altLang="en-US" sz="3200" b="1" dirty="0">
                <a:latin typeface="黑体" panose="02010609060101010101" pitchFamily="49" charset="-122"/>
                <a:ea typeface="黑体" panose="02010609060101010101" pitchFamily="49" charset="-122"/>
              </a:rPr>
              <a:t>本</a:t>
            </a:r>
            <a:r>
              <a:rPr lang="zh-CN" altLang="en-US" sz="3200" b="1" dirty="0" smtClean="0">
                <a:latin typeface="黑体" panose="02010609060101010101" pitchFamily="49" charset="-122"/>
                <a:ea typeface="黑体" panose="02010609060101010101" pitchFamily="49" charset="-122"/>
              </a:rPr>
              <a:t>节介绍常用的蒸气热力性质图 </a:t>
            </a:r>
            <a:endParaRPr lang="zh-CN" altLang="en-US" sz="3200" b="1" dirty="0" smtClean="0">
              <a:latin typeface="黑体" panose="02010609060101010101" pitchFamily="49" charset="-122"/>
              <a:ea typeface="黑体" panose="02010609060101010101" pitchFamily="49" charset="-122"/>
            </a:endParaRPr>
          </a:p>
        </p:txBody>
      </p:sp>
    </p:spTree>
    <p:custDataLst>
      <p:tags r:id="rId1"/>
    </p:custData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66242">
                                            <p:txEl>
                                              <p:pRg st="1" end="1"/>
                                            </p:txEl>
                                          </p:spTgt>
                                        </p:tgtEl>
                                        <p:attrNameLst>
                                          <p:attrName>style.visibility</p:attrName>
                                        </p:attrNameLst>
                                      </p:cBhvr>
                                      <p:to>
                                        <p:strVal val="visible"/>
                                      </p:to>
                                    </p:set>
                                    <p:animEffect transition="in" filter="blinds(horizontal)">
                                      <p:cBhvr>
                                        <p:cTn id="7" dur="500"/>
                                        <p:tgtEl>
                                          <p:spTgt spid="26624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66242">
                                            <p:txEl>
                                              <p:pRg st="2" end="2"/>
                                            </p:txEl>
                                          </p:spTgt>
                                        </p:tgtEl>
                                        <p:attrNameLst>
                                          <p:attrName>style.visibility</p:attrName>
                                        </p:attrNameLst>
                                      </p:cBhvr>
                                      <p:to>
                                        <p:strVal val="visible"/>
                                      </p:to>
                                    </p:set>
                                    <p:animEffect transition="in" filter="blinds(horizontal)">
                                      <p:cBhvr>
                                        <p:cTn id="12" dur="500"/>
                                        <p:tgtEl>
                                          <p:spTgt spid="26624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66242">
                                            <p:txEl>
                                              <p:pRg st="3" end="3"/>
                                            </p:txEl>
                                          </p:spTgt>
                                        </p:tgtEl>
                                        <p:attrNameLst>
                                          <p:attrName>style.visibility</p:attrName>
                                        </p:attrNameLst>
                                      </p:cBhvr>
                                      <p:to>
                                        <p:strVal val="visible"/>
                                      </p:to>
                                    </p:set>
                                    <p:animEffect transition="in" filter="blinds(horizontal)">
                                      <p:cBhvr>
                                        <p:cTn id="17" dur="500"/>
                                        <p:tgtEl>
                                          <p:spTgt spid="26624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3" name="标题 267265"/>
          <p:cNvSpPr>
            <a:spLocks noGrp="1" noChangeArrowheads="1"/>
          </p:cNvSpPr>
          <p:nvPr>
            <p:ph type="title"/>
          </p:nvPr>
        </p:nvSpPr>
        <p:spPr>
          <a:xfrm>
            <a:off x="436494" y="259108"/>
            <a:ext cx="7886700" cy="1325563"/>
          </a:xfrm>
        </p:spPr>
        <p:txBody>
          <a:bodyPr/>
          <a:lstStyle/>
          <a:p>
            <a:r>
              <a:rPr lang="zh-CN" altLang="en-US" sz="3600" b="1" dirty="0" smtClean="0">
                <a:latin typeface="Times New Roman" panose="02020603050405020304" pitchFamily="18" charset="0"/>
                <a:ea typeface="黑体" panose="02010609060101010101" pitchFamily="49" charset="-122"/>
                <a:cs typeface="Times New Roman" panose="02020603050405020304" pitchFamily="18" charset="0"/>
              </a:rPr>
              <a:t>一、温</a:t>
            </a:r>
            <a:r>
              <a:rPr lang="en-US" altLang="zh-CN" sz="3600" b="1" dirty="0" smtClean="0">
                <a:latin typeface="Times New Roman" panose="02020603050405020304" pitchFamily="18" charset="0"/>
                <a:ea typeface="黑体" panose="02010609060101010101" pitchFamily="49" charset="-122"/>
                <a:cs typeface="Times New Roman" panose="02020603050405020304" pitchFamily="18" charset="0"/>
              </a:rPr>
              <a:t>-</a:t>
            </a:r>
            <a:r>
              <a:rPr lang="zh-CN" altLang="en-US" sz="3600" b="1" dirty="0" smtClean="0">
                <a:latin typeface="Times New Roman" panose="02020603050405020304" pitchFamily="18" charset="0"/>
                <a:ea typeface="黑体" panose="02010609060101010101" pitchFamily="49" charset="-122"/>
                <a:cs typeface="Times New Roman" panose="02020603050405020304" pitchFamily="18" charset="0"/>
              </a:rPr>
              <a:t>熵（</a:t>
            </a:r>
            <a:r>
              <a:rPr lang="en-US" altLang="zh-CN" sz="3600" b="1" i="1" dirty="0" smtClean="0">
                <a:latin typeface="Times New Roman" panose="02020603050405020304" pitchFamily="18" charset="0"/>
                <a:ea typeface="黑体" panose="02010609060101010101" pitchFamily="49" charset="-122"/>
                <a:cs typeface="Times New Roman" panose="02020603050405020304" pitchFamily="18" charset="0"/>
              </a:rPr>
              <a:t>T-s</a:t>
            </a:r>
            <a:r>
              <a:rPr lang="zh-CN" altLang="en-US" sz="3600" b="1" dirty="0" smtClean="0">
                <a:latin typeface="Times New Roman" panose="02020603050405020304" pitchFamily="18" charset="0"/>
                <a:ea typeface="黑体" panose="02010609060101010101" pitchFamily="49" charset="-122"/>
                <a:cs typeface="Times New Roman" panose="02020603050405020304" pitchFamily="18" charset="0"/>
              </a:rPr>
              <a:t>）图</a:t>
            </a:r>
            <a:r>
              <a:rPr lang="zh-CN" altLang="en-US" dirty="0" smtClean="0">
                <a:latin typeface="Times New Roman" panose="02020603050405020304" pitchFamily="18" charset="0"/>
                <a:ea typeface="黑体" panose="02010609060101010101" pitchFamily="49" charset="-122"/>
                <a:cs typeface="Times New Roman" panose="02020603050405020304" pitchFamily="18" charset="0"/>
              </a:rPr>
              <a:t> </a:t>
            </a:r>
            <a:endParaRPr lang="zh-CN" altLang="en-US" dirty="0" smtClean="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0834" name="矩形 267266"/>
          <p:cNvSpPr>
            <a:spLocks noChangeArrowheads="1"/>
          </p:cNvSpPr>
          <p:nvPr/>
        </p:nvSpPr>
        <p:spPr bwMode="auto">
          <a:xfrm>
            <a:off x="0" y="17668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pic>
        <p:nvPicPr>
          <p:cNvPr id="2" name="图片 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691661" y="1645842"/>
            <a:ext cx="5614903" cy="4865030"/>
          </a:xfrm>
          <a:prstGeom prst="rect">
            <a:avLst/>
          </a:prstGeom>
        </p:spPr>
      </p:pic>
    </p:spTree>
  </p:cSld>
  <p:clrMapOvr>
    <a:masterClrMapping/>
  </p:clrMapOvr>
  <p:transition spd="slow"/>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7" name="标题 268289"/>
          <p:cNvSpPr>
            <a:spLocks noGrp="1" noChangeArrowheads="1"/>
          </p:cNvSpPr>
          <p:nvPr>
            <p:ph type="title"/>
          </p:nvPr>
        </p:nvSpPr>
        <p:spPr>
          <a:xfrm>
            <a:off x="310598" y="94698"/>
            <a:ext cx="8229600" cy="1143000"/>
          </a:xfrm>
        </p:spPr>
        <p:txBody>
          <a:bodyPr/>
          <a:lstStyle/>
          <a:p>
            <a:r>
              <a:rPr lang="zh-CN" altLang="en-US" sz="3600" b="1" dirty="0" smtClean="0">
                <a:latin typeface="Times New Roman" panose="02020603050405020304" pitchFamily="18" charset="0"/>
                <a:ea typeface="黑体" panose="02010609060101010101" pitchFamily="49" charset="-122"/>
                <a:cs typeface="Times New Roman" panose="02020603050405020304" pitchFamily="18" charset="0"/>
              </a:rPr>
              <a:t>二、焓</a:t>
            </a:r>
            <a:r>
              <a:rPr lang="en-US" altLang="zh-CN" sz="3600" b="1" dirty="0" smtClean="0">
                <a:latin typeface="Times New Roman" panose="02020603050405020304" pitchFamily="18" charset="0"/>
                <a:ea typeface="黑体" panose="02010609060101010101" pitchFamily="49" charset="-122"/>
                <a:cs typeface="Times New Roman" panose="02020603050405020304" pitchFamily="18" charset="0"/>
              </a:rPr>
              <a:t>-</a:t>
            </a:r>
            <a:r>
              <a:rPr lang="zh-CN" altLang="en-US" sz="3600" b="1" dirty="0" smtClean="0">
                <a:latin typeface="Times New Roman" panose="02020603050405020304" pitchFamily="18" charset="0"/>
                <a:ea typeface="黑体" panose="02010609060101010101" pitchFamily="49" charset="-122"/>
                <a:cs typeface="Times New Roman" panose="02020603050405020304" pitchFamily="18" charset="0"/>
              </a:rPr>
              <a:t>熵（</a:t>
            </a:r>
            <a:r>
              <a:rPr lang="en-US" altLang="zh-CN" sz="3600" b="1" i="1" dirty="0" smtClean="0">
                <a:latin typeface="Times New Roman" panose="02020603050405020304" pitchFamily="18" charset="0"/>
                <a:ea typeface="黑体" panose="02010609060101010101" pitchFamily="49" charset="-122"/>
                <a:cs typeface="Times New Roman" panose="02020603050405020304" pitchFamily="18" charset="0"/>
              </a:rPr>
              <a:t>h-s</a:t>
            </a:r>
            <a:r>
              <a:rPr lang="zh-CN" altLang="en-US" sz="3600" b="1" dirty="0" smtClean="0">
                <a:latin typeface="Times New Roman" panose="02020603050405020304" pitchFamily="18" charset="0"/>
                <a:ea typeface="黑体" panose="02010609060101010101" pitchFamily="49" charset="-122"/>
                <a:cs typeface="Times New Roman" panose="02020603050405020304" pitchFamily="18" charset="0"/>
              </a:rPr>
              <a:t>）图</a:t>
            </a:r>
            <a:endParaRPr lang="zh-CN" altLang="en-US" sz="3600" b="1" dirty="0" smtClean="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1858" name="文本占位符 268290"/>
          <p:cNvSpPr>
            <a:spLocks noGrp="1" noChangeArrowheads="1"/>
          </p:cNvSpPr>
          <p:nvPr>
            <p:ph idx="1"/>
          </p:nvPr>
        </p:nvSpPr>
        <p:spPr>
          <a:xfrm>
            <a:off x="542511" y="1237699"/>
            <a:ext cx="7886700" cy="3930650"/>
          </a:xfrm>
        </p:spPr>
        <p:txBody>
          <a:bodyPr>
            <a:noAutofit/>
          </a:bodyPr>
          <a:lstStyle/>
          <a:p>
            <a:pPr>
              <a:lnSpc>
                <a:spcPct val="110000"/>
              </a:lnSpc>
            </a:pPr>
            <a:r>
              <a:rPr lang="en-US" altLang="zh-CN" sz="2800" b="1" i="1" dirty="0" smtClean="0">
                <a:latin typeface="Times New Roman" panose="02020603050405020304" pitchFamily="18" charset="0"/>
                <a:ea typeface="黑体" panose="02010609060101010101" pitchFamily="49" charset="-122"/>
                <a:cs typeface="Times New Roman" panose="02020603050405020304" pitchFamily="18" charset="0"/>
              </a:rPr>
              <a:t>T-s</a:t>
            </a:r>
            <a:r>
              <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rPr>
              <a:t>图优点：过程中工质与外界交换的热量可用面积来表示</a:t>
            </a:r>
            <a:endParaRPr lang="en-US" altLang="zh-CN" sz="2800" b="1" dirty="0" smtClean="0">
              <a:latin typeface="Times New Roman" panose="02020603050405020304" pitchFamily="18" charset="0"/>
              <a:ea typeface="黑体" panose="02010609060101010101" pitchFamily="49" charset="-122"/>
              <a:cs typeface="Times New Roman" panose="02020603050405020304" pitchFamily="18" charset="0"/>
            </a:endParaRPr>
          </a:p>
          <a:p>
            <a:pPr>
              <a:lnSpc>
                <a:spcPct val="110000"/>
              </a:lnSpc>
            </a:pPr>
            <a:r>
              <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rPr>
              <a:t>但因为过程中的热量在</a:t>
            </a:r>
            <a:r>
              <a:rPr lang="en-US" altLang="zh-CN" sz="2800" b="1" i="1" dirty="0">
                <a:latin typeface="Times New Roman" panose="02020603050405020304" pitchFamily="18" charset="0"/>
                <a:ea typeface="黑体" panose="02010609060101010101" pitchFamily="49" charset="-122"/>
                <a:cs typeface="Times New Roman" panose="02020603050405020304" pitchFamily="18" charset="0"/>
              </a:rPr>
              <a:t>T-s</a:t>
            </a:r>
            <a:r>
              <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rPr>
              <a:t>图上需要用面积来表示而不能直接从横、纵坐标中读取，所以</a:t>
            </a:r>
            <a:r>
              <a:rPr lang="en-US" altLang="zh-CN" sz="2800" b="1" i="1" dirty="0">
                <a:latin typeface="Times New Roman" panose="02020603050405020304" pitchFamily="18" charset="0"/>
                <a:ea typeface="黑体" panose="02010609060101010101" pitchFamily="49" charset="-122"/>
                <a:cs typeface="Times New Roman" panose="02020603050405020304" pitchFamily="18" charset="0"/>
              </a:rPr>
              <a:t>T-s</a:t>
            </a:r>
            <a:r>
              <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rPr>
              <a:t>图在计算中有其不便之处</a:t>
            </a:r>
            <a:endParaRPr lang="en-US" altLang="zh-CN" sz="2800" b="1" dirty="0" smtClean="0">
              <a:latin typeface="Times New Roman" panose="02020603050405020304" pitchFamily="18" charset="0"/>
              <a:ea typeface="黑体" panose="02010609060101010101" pitchFamily="49" charset="-122"/>
              <a:cs typeface="Times New Roman" panose="02020603050405020304" pitchFamily="18" charset="0"/>
            </a:endParaRPr>
          </a:p>
          <a:p>
            <a:pPr>
              <a:lnSpc>
                <a:spcPct val="110000"/>
              </a:lnSpc>
            </a:pPr>
            <a:r>
              <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rPr>
              <a:t>有没有可能使得过程中工质与外界交换的热量或</a:t>
            </a: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功量</a:t>
            </a:r>
            <a:r>
              <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rPr>
              <a:t>直接从横、纵坐标中读取？</a:t>
            </a:r>
            <a:endPar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endParaRPr>
          </a:p>
        </p:txBody>
      </p:sp>
    </p:spTree>
  </p:cSld>
  <p:clrMapOvr>
    <a:masterClrMapping/>
  </p:clrMapOvr>
  <p:transition spd="slow"/>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文本占位符 268290"/>
          <p:cNvSpPr>
            <a:spLocks noGrp="1" noChangeArrowheads="1"/>
          </p:cNvSpPr>
          <p:nvPr>
            <p:ph idx="1"/>
          </p:nvPr>
        </p:nvSpPr>
        <p:spPr>
          <a:xfrm>
            <a:off x="542511" y="780498"/>
            <a:ext cx="7886700" cy="4906479"/>
          </a:xfrm>
        </p:spPr>
        <p:txBody>
          <a:bodyPr>
            <a:noAutofit/>
          </a:bodyPr>
          <a:lstStyle/>
          <a:p>
            <a:pPr>
              <a:lnSpc>
                <a:spcPct val="110000"/>
              </a:lnSpc>
            </a:pPr>
            <a:r>
              <a:rPr lang="zh-CN" altLang="zh-CN" sz="2800" b="1" dirty="0" smtClean="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换热设备</a:t>
            </a:r>
            <a:r>
              <a:rPr lang="zh-CN" altLang="zh-CN" sz="2800" b="1" dirty="0" smtClean="0">
                <a:latin typeface="Times New Roman" panose="02020603050405020304" pitchFamily="18" charset="0"/>
                <a:ea typeface="黑体" panose="02010609060101010101" pitchFamily="49" charset="-122"/>
                <a:cs typeface="Times New Roman" panose="02020603050405020304" pitchFamily="18" charset="0"/>
              </a:rPr>
              <a:t>和</a:t>
            </a:r>
            <a:r>
              <a:rPr lang="zh-CN" altLang="zh-CN" sz="2800" b="1" dirty="0" smtClean="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热力机械</a:t>
            </a:r>
            <a:r>
              <a:rPr lang="zh-CN" altLang="zh-CN" sz="2800" b="1" dirty="0" smtClean="0">
                <a:latin typeface="Times New Roman" panose="02020603050405020304" pitchFamily="18" charset="0"/>
                <a:ea typeface="黑体" panose="02010609060101010101" pitchFamily="49" charset="-122"/>
                <a:cs typeface="Times New Roman" panose="02020603050405020304" pitchFamily="18" charset="0"/>
              </a:rPr>
              <a:t>是热能动力工程中采用的两种主要设备类型。</a:t>
            </a:r>
            <a:endParaRPr lang="en-US" altLang="zh-CN" sz="2800" b="1" dirty="0" smtClean="0">
              <a:latin typeface="Times New Roman" panose="02020603050405020304" pitchFamily="18" charset="0"/>
              <a:ea typeface="黑体" panose="02010609060101010101" pitchFamily="49" charset="-122"/>
              <a:cs typeface="Times New Roman" panose="02020603050405020304" pitchFamily="18" charset="0"/>
            </a:endParaRPr>
          </a:p>
          <a:p>
            <a:pPr>
              <a:lnSpc>
                <a:spcPct val="110000"/>
              </a:lnSpc>
            </a:pPr>
            <a:r>
              <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rPr>
              <a:t>根据公式  </a:t>
            </a:r>
            <a:r>
              <a:rPr lang="en-US" altLang="zh-CN" sz="2800" b="1" dirty="0" smtClean="0">
                <a:latin typeface="Times New Roman" panose="02020603050405020304" pitchFamily="18" charset="0"/>
                <a:ea typeface="黑体" panose="02010609060101010101" pitchFamily="49" charset="-122"/>
                <a:cs typeface="Times New Roman" panose="02020603050405020304" pitchFamily="18" charset="0"/>
              </a:rPr>
              <a:t>                    </a:t>
            </a:r>
            <a:r>
              <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rPr>
              <a:t>可知，</a:t>
            </a:r>
            <a:r>
              <a:rPr lang="zh-CN" altLang="zh-CN" sz="2800" b="1" dirty="0" smtClean="0">
                <a:latin typeface="Times New Roman" panose="02020603050405020304" pitchFamily="18" charset="0"/>
                <a:ea typeface="黑体" panose="02010609060101010101" pitchFamily="49" charset="-122"/>
                <a:cs typeface="Times New Roman" panose="02020603050405020304" pitchFamily="18" charset="0"/>
              </a:rPr>
              <a:t>换热设备的</a:t>
            </a:r>
            <a:r>
              <a:rPr lang="zh-CN" altLang="zh-CN" sz="2800" b="1" dirty="0" smtClean="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换热量</a:t>
            </a:r>
            <a:r>
              <a:rPr lang="zh-CN" altLang="zh-CN" sz="2800" b="1" dirty="0" smtClean="0">
                <a:latin typeface="Times New Roman" panose="02020603050405020304" pitchFamily="18" charset="0"/>
                <a:ea typeface="黑体" panose="02010609060101010101" pitchFamily="49" charset="-122"/>
                <a:cs typeface="Times New Roman" panose="02020603050405020304" pitchFamily="18" charset="0"/>
              </a:rPr>
              <a:t>、热力机械设备完成的</a:t>
            </a:r>
            <a:r>
              <a:rPr lang="zh-CN" altLang="zh-CN" sz="2800" b="1" dirty="0" smtClean="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技术功</a:t>
            </a:r>
            <a:r>
              <a:rPr lang="zh-CN" altLang="zh-CN" sz="2800" b="1" dirty="0" smtClean="0">
                <a:latin typeface="Times New Roman" panose="02020603050405020304" pitchFamily="18" charset="0"/>
                <a:ea typeface="黑体" panose="02010609060101010101" pitchFamily="49" charset="-122"/>
                <a:cs typeface="Times New Roman" panose="02020603050405020304" pitchFamily="18" charset="0"/>
              </a:rPr>
              <a:t>（在绝热条件下）常常都用设备进、出口工质的焓差计算，而熵是表达过程进行方向的参数，因此以焓为纵坐标、熵为横坐标的焓-熵图在热能动力工程中广为应用</a:t>
            </a:r>
            <a:endParaRPr lang="zh-CN" altLang="zh-CN" sz="2800" b="1" dirty="0" smtClean="0">
              <a:latin typeface="Times New Roman" panose="02020603050405020304" pitchFamily="18" charset="0"/>
              <a:ea typeface="黑体" panose="02010609060101010101" pitchFamily="49" charset="-122"/>
              <a:cs typeface="Times New Roman" panose="02020603050405020304" pitchFamily="18" charset="0"/>
            </a:endParaRPr>
          </a:p>
          <a:p>
            <a:pPr>
              <a:lnSpc>
                <a:spcPct val="120000"/>
              </a:lnSpc>
            </a:pPr>
            <a:r>
              <a:rPr lang="en-US" altLang="zh-CN" sz="2800" b="1" i="1" dirty="0" smtClean="0">
                <a:latin typeface="Times New Roman" panose="02020603050405020304" pitchFamily="18" charset="0"/>
                <a:ea typeface="黑体" panose="02010609060101010101" pitchFamily="49" charset="-122"/>
                <a:cs typeface="Times New Roman" panose="02020603050405020304" pitchFamily="18" charset="0"/>
              </a:rPr>
              <a:t>h-s</a:t>
            </a: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图也称为莫里尔图，由德国人</a:t>
            </a:r>
            <a:r>
              <a:rPr lang="en-US" altLang="zh-CN" sz="2800" b="1" dirty="0" err="1">
                <a:latin typeface="Times New Roman" panose="02020603050405020304" pitchFamily="18" charset="0"/>
                <a:ea typeface="黑体" panose="02010609060101010101" pitchFamily="49" charset="-122"/>
                <a:cs typeface="Times New Roman" panose="02020603050405020304" pitchFamily="18" charset="0"/>
              </a:rPr>
              <a:t>Mollier</a:t>
            </a: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在</a:t>
            </a:r>
            <a:r>
              <a:rPr lang="en-US" altLang="zh-CN" sz="2800" b="1" dirty="0">
                <a:latin typeface="Times New Roman" panose="02020603050405020304" pitchFamily="18" charset="0"/>
                <a:ea typeface="黑体" panose="02010609060101010101" pitchFamily="49" charset="-122"/>
                <a:cs typeface="Times New Roman" panose="02020603050405020304" pitchFamily="18" charset="0"/>
              </a:rPr>
              <a:t>1904</a:t>
            </a: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年首先绘制。 </a:t>
            </a:r>
            <a:endParaRPr lang="zh-CN" altLang="en-US" sz="2800" b="1" dirty="0">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121859" name="对象 268291"/>
          <p:cNvGraphicFramePr/>
          <p:nvPr/>
        </p:nvGraphicFramePr>
        <p:xfrm>
          <a:off x="2306915" y="1793668"/>
          <a:ext cx="1838325" cy="581025"/>
        </p:xfrm>
        <a:graphic>
          <a:graphicData uri="http://schemas.openxmlformats.org/presentationml/2006/ole">
            <mc:AlternateContent xmlns:mc="http://schemas.openxmlformats.org/markup-compatibility/2006">
              <mc:Choice xmlns:v="urn:schemas-microsoft-com:vml" Requires="v">
                <p:oleObj spid="_x0000_s62482" name="" r:id="rId1" imgW="723900" imgH="228600" progId="Equation.DSMT4">
                  <p:embed/>
                </p:oleObj>
              </mc:Choice>
              <mc:Fallback>
                <p:oleObj name="" r:id="rId1" imgW="723900" imgH="228600" progId="Equation.DSMT4">
                  <p:embed/>
                  <p:pic>
                    <p:nvPicPr>
                      <p:cNvPr id="0" name="对象 268291"/>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06915" y="1793668"/>
                        <a:ext cx="1838325"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ransition spd="slow"/>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1" name="矩形 269313"/>
          <p:cNvSpPr>
            <a:spLocks noChangeArrowheads="1"/>
          </p:cNvSpPr>
          <p:nvPr/>
        </p:nvSpPr>
        <p:spPr bwMode="auto">
          <a:xfrm>
            <a:off x="0" y="10525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22883" name="矩形 269315"/>
          <p:cNvSpPr>
            <a:spLocks noChangeArrowheads="1"/>
          </p:cNvSpPr>
          <p:nvPr/>
        </p:nvSpPr>
        <p:spPr bwMode="auto">
          <a:xfrm>
            <a:off x="1378296" y="6090593"/>
            <a:ext cx="617829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en-US" altLang="zh-CN" sz="2400" b="1" i="1" dirty="0">
                <a:latin typeface="Times New Roman" panose="02020603050405020304" pitchFamily="18" charset="0"/>
                <a:ea typeface="黑体" panose="02010609060101010101" pitchFamily="49" charset="-122"/>
                <a:cs typeface="Times New Roman" panose="02020603050405020304" pitchFamily="18" charset="0"/>
              </a:rPr>
              <a:t>h-s</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图上的定压线簇、定温线簇和定干度线簇 </a:t>
            </a:r>
            <a:endParaRPr lang="zh-CN" altLang="en-US" sz="2400" b="1" dirty="0">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2" name="图片 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691390" y="341567"/>
            <a:ext cx="5761219" cy="5749026"/>
          </a:xfrm>
          <a:prstGeom prst="rect">
            <a:avLst/>
          </a:prstGeom>
        </p:spPr>
      </p:pic>
    </p:spTree>
  </p:cSld>
  <p:clrMapOvr>
    <a:masterClrMapping/>
  </p:clrMapOvr>
  <p:transition spd="slow"/>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5" name="标题 270337"/>
          <p:cNvSpPr>
            <a:spLocks noGrp="1" noChangeArrowheads="1"/>
          </p:cNvSpPr>
          <p:nvPr>
            <p:ph type="title"/>
          </p:nvPr>
        </p:nvSpPr>
        <p:spPr>
          <a:xfrm>
            <a:off x="323850" y="260350"/>
            <a:ext cx="8229600" cy="1143000"/>
          </a:xfrm>
        </p:spPr>
        <p:txBody>
          <a:bodyPr/>
          <a:lstStyle/>
          <a:p>
            <a:r>
              <a:rPr lang="zh-CN" altLang="en-US" sz="3600" b="1" dirty="0" smtClean="0">
                <a:latin typeface="Times New Roman" panose="02020603050405020304" pitchFamily="18" charset="0"/>
                <a:ea typeface="黑体" panose="02010609060101010101" pitchFamily="49" charset="-122"/>
                <a:cs typeface="Times New Roman" panose="02020603050405020304" pitchFamily="18" charset="0"/>
              </a:rPr>
              <a:t>三、压</a:t>
            </a:r>
            <a:r>
              <a:rPr lang="en-US" altLang="zh-CN" sz="3600" b="1" dirty="0" smtClean="0">
                <a:latin typeface="Times New Roman" panose="02020603050405020304" pitchFamily="18" charset="0"/>
                <a:ea typeface="黑体" panose="02010609060101010101" pitchFamily="49" charset="-122"/>
                <a:cs typeface="Times New Roman" panose="02020603050405020304" pitchFamily="18" charset="0"/>
              </a:rPr>
              <a:t>-</a:t>
            </a:r>
            <a:r>
              <a:rPr lang="zh-CN" altLang="en-US" sz="3600" b="1" dirty="0" smtClean="0">
                <a:latin typeface="Times New Roman" panose="02020603050405020304" pitchFamily="18" charset="0"/>
                <a:ea typeface="黑体" panose="02010609060101010101" pitchFamily="49" charset="-122"/>
                <a:cs typeface="Times New Roman" panose="02020603050405020304" pitchFamily="18" charset="0"/>
              </a:rPr>
              <a:t>焓（</a:t>
            </a:r>
            <a:r>
              <a:rPr lang="en-US" altLang="zh-CN" sz="3600" b="1" i="1" dirty="0" smtClean="0">
                <a:latin typeface="Times New Roman" panose="02020603050405020304" pitchFamily="18" charset="0"/>
                <a:ea typeface="黑体" panose="02010609060101010101" pitchFamily="49" charset="-122"/>
                <a:cs typeface="Times New Roman" panose="02020603050405020304" pitchFamily="18" charset="0"/>
              </a:rPr>
              <a:t>p</a:t>
            </a:r>
            <a:r>
              <a:rPr lang="en-US" altLang="zh-CN" sz="3600" b="1" dirty="0" smtClean="0">
                <a:latin typeface="Times New Roman" panose="02020603050405020304" pitchFamily="18" charset="0"/>
                <a:ea typeface="黑体" panose="02010609060101010101" pitchFamily="49" charset="-122"/>
                <a:cs typeface="Times New Roman" panose="02020603050405020304" pitchFamily="18" charset="0"/>
              </a:rPr>
              <a:t>-</a:t>
            </a:r>
            <a:r>
              <a:rPr lang="en-US" altLang="zh-CN" sz="3600" b="1" i="1" dirty="0" smtClean="0">
                <a:latin typeface="Times New Roman" panose="02020603050405020304" pitchFamily="18" charset="0"/>
                <a:ea typeface="黑体" panose="02010609060101010101" pitchFamily="49" charset="-122"/>
                <a:cs typeface="Times New Roman" panose="02020603050405020304" pitchFamily="18" charset="0"/>
              </a:rPr>
              <a:t>h</a:t>
            </a:r>
            <a:r>
              <a:rPr lang="zh-CN" altLang="en-US" sz="3600" b="1" dirty="0" smtClean="0">
                <a:latin typeface="Times New Roman" panose="02020603050405020304" pitchFamily="18" charset="0"/>
                <a:ea typeface="黑体" panose="02010609060101010101" pitchFamily="49" charset="-122"/>
                <a:cs typeface="Times New Roman" panose="02020603050405020304" pitchFamily="18" charset="0"/>
              </a:rPr>
              <a:t>）图</a:t>
            </a:r>
            <a:endParaRPr lang="zh-CN" altLang="en-US" sz="3600" b="1" dirty="0" smtClean="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3906" name="文本占位符 270338"/>
          <p:cNvSpPr>
            <a:spLocks noGrp="1" noChangeArrowheads="1"/>
          </p:cNvSpPr>
          <p:nvPr>
            <p:ph idx="1"/>
          </p:nvPr>
        </p:nvSpPr>
        <p:spPr>
          <a:xfrm>
            <a:off x="323850" y="1557338"/>
            <a:ext cx="8229600" cy="4525962"/>
          </a:xfrm>
        </p:spPr>
        <p:txBody>
          <a:bodyPr/>
          <a:lstStyle/>
          <a:p>
            <a:pPr algn="just">
              <a:lnSpc>
                <a:spcPct val="100000"/>
              </a:lnSpc>
            </a:pPr>
            <a:r>
              <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rPr>
              <a:t>压</a:t>
            </a:r>
            <a:r>
              <a:rPr lang="en-US" altLang="zh-CN" sz="2800" b="1" dirty="0" smtClean="0">
                <a:latin typeface="Times New Roman" panose="02020603050405020304" pitchFamily="18" charset="0"/>
                <a:ea typeface="黑体" panose="02010609060101010101" pitchFamily="49" charset="-122"/>
                <a:cs typeface="Times New Roman" panose="02020603050405020304" pitchFamily="18" charset="0"/>
              </a:rPr>
              <a:t>-</a:t>
            </a:r>
            <a:r>
              <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rPr>
              <a:t>焓</a:t>
            </a:r>
            <a:r>
              <a:rPr lang="en-US" altLang="zh-CN" sz="2800" b="1" dirty="0" smtClean="0">
                <a:latin typeface="Times New Roman" panose="02020603050405020304" pitchFamily="18" charset="0"/>
                <a:ea typeface="黑体" panose="02010609060101010101" pitchFamily="49" charset="-122"/>
                <a:cs typeface="Times New Roman" panose="02020603050405020304" pitchFamily="18" charset="0"/>
              </a:rPr>
              <a:t>(</a:t>
            </a:r>
            <a:r>
              <a:rPr lang="en-US" altLang="zh-CN" sz="2800" b="1" i="1" dirty="0" smtClean="0">
                <a:latin typeface="Times New Roman" panose="02020603050405020304" pitchFamily="18" charset="0"/>
                <a:ea typeface="黑体" panose="02010609060101010101" pitchFamily="49" charset="-122"/>
                <a:cs typeface="Times New Roman" panose="02020603050405020304" pitchFamily="18" charset="0"/>
              </a:rPr>
              <a:t>p-h</a:t>
            </a:r>
            <a:r>
              <a:rPr lang="en-US" altLang="zh-CN" sz="2800" b="1" dirty="0" smtClean="0">
                <a:latin typeface="Times New Roman" panose="02020603050405020304" pitchFamily="18" charset="0"/>
                <a:ea typeface="黑体" panose="02010609060101010101" pitchFamily="49" charset="-122"/>
                <a:cs typeface="Times New Roman" panose="02020603050405020304" pitchFamily="18" charset="0"/>
              </a:rPr>
              <a:t>)</a:t>
            </a:r>
            <a:r>
              <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rPr>
              <a:t>图在蒸气压缩制冷循环中应用广泛</a:t>
            </a:r>
            <a:endPar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endParaRPr>
          </a:p>
          <a:p>
            <a:pPr algn="just">
              <a:lnSpc>
                <a:spcPct val="100000"/>
              </a:lnSpc>
            </a:pPr>
            <a:r>
              <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rPr>
              <a:t>这是因为，蒸气压缩制冷循环主要包括制冷剂在蒸发器内的</a:t>
            </a:r>
            <a:r>
              <a:rPr lang="zh-CN" altLang="en-US" sz="2800" b="1" dirty="0" smtClean="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定压吸热</a:t>
            </a:r>
            <a:r>
              <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rPr>
              <a:t>过程，在冷凝器内的</a:t>
            </a:r>
            <a:r>
              <a:rPr lang="zh-CN" altLang="en-US" sz="2800" b="1" dirty="0" smtClean="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定压放热</a:t>
            </a:r>
            <a:r>
              <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rPr>
              <a:t>过程，进、出口焓值相等的</a:t>
            </a:r>
            <a:r>
              <a:rPr lang="zh-CN" altLang="en-US" sz="2800" b="1" dirty="0" smtClean="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绝热节流</a:t>
            </a:r>
            <a:r>
              <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rPr>
              <a:t>过程以及一个</a:t>
            </a:r>
            <a:r>
              <a:rPr lang="zh-CN" altLang="en-US" sz="2800" b="1" dirty="0" smtClean="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压缩过程</a:t>
            </a:r>
            <a:r>
              <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rPr>
              <a:t>（详见</a:t>
            </a:r>
            <a:r>
              <a:rPr lang="en-US" altLang="zh-CN" sz="2800" b="1" dirty="0" smtClean="0">
                <a:latin typeface="Times New Roman" panose="02020603050405020304" pitchFamily="18" charset="0"/>
                <a:ea typeface="黑体" panose="02010609060101010101" pitchFamily="49" charset="-122"/>
                <a:cs typeface="Times New Roman" panose="02020603050405020304" pitchFamily="18" charset="0"/>
              </a:rPr>
              <a:t>14-3</a:t>
            </a:r>
            <a:r>
              <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rPr>
              <a:t>节），其中</a:t>
            </a:r>
            <a:r>
              <a:rPr lang="zh-CN" altLang="en-US" sz="2800" b="1" dirty="0" smtClean="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压力和焓值</a:t>
            </a:r>
            <a:r>
              <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rPr>
              <a:t>是分析蒸气压缩制冷循环涉及到的主要状态参数</a:t>
            </a:r>
            <a:endPar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endParaRPr>
          </a:p>
          <a:p>
            <a:pPr algn="just">
              <a:lnSpc>
                <a:spcPct val="100000"/>
              </a:lnSpc>
            </a:pPr>
            <a:r>
              <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rPr>
              <a:t>因为制冷剂常在较低压力下工作，为了使低压区图线较为分散，</a:t>
            </a:r>
            <a:r>
              <a:rPr lang="en-US" altLang="zh-CN" sz="2800" b="1" i="1" dirty="0" smtClean="0">
                <a:latin typeface="Times New Roman" panose="02020603050405020304" pitchFamily="18" charset="0"/>
                <a:ea typeface="黑体" panose="02010609060101010101" pitchFamily="49" charset="-122"/>
                <a:cs typeface="Times New Roman" panose="02020603050405020304" pitchFamily="18" charset="0"/>
              </a:rPr>
              <a:t>p-h</a:t>
            </a:r>
            <a:r>
              <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rPr>
              <a:t>图的纵坐标常按照压力的对数值分度进行绘制，所以</a:t>
            </a:r>
            <a:r>
              <a:rPr lang="en-US" altLang="zh-CN" sz="2800" b="1" i="1" dirty="0" smtClean="0">
                <a:latin typeface="Times New Roman" panose="02020603050405020304" pitchFamily="18" charset="0"/>
                <a:ea typeface="黑体" panose="02010609060101010101" pitchFamily="49" charset="-122"/>
                <a:cs typeface="Times New Roman" panose="02020603050405020304" pitchFamily="18" charset="0"/>
              </a:rPr>
              <a:t>p-h</a:t>
            </a:r>
            <a:r>
              <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rPr>
              <a:t>图有时又称为</a:t>
            </a:r>
            <a:r>
              <a:rPr lang="en-US" altLang="zh-CN" sz="2800" b="1" dirty="0" err="1" smtClean="0">
                <a:latin typeface="Times New Roman" panose="02020603050405020304" pitchFamily="18" charset="0"/>
                <a:ea typeface="黑体" panose="02010609060101010101" pitchFamily="49" charset="-122"/>
                <a:cs typeface="Times New Roman" panose="02020603050405020304" pitchFamily="18" charset="0"/>
              </a:rPr>
              <a:t>lg</a:t>
            </a:r>
            <a:r>
              <a:rPr lang="en-US" altLang="zh-CN" sz="2800" b="1" dirty="0" smtClean="0">
                <a:latin typeface="Times New Roman" panose="02020603050405020304" pitchFamily="18" charset="0"/>
                <a:ea typeface="黑体" panose="02010609060101010101" pitchFamily="49" charset="-122"/>
                <a:cs typeface="Times New Roman" panose="02020603050405020304" pitchFamily="18" charset="0"/>
              </a:rPr>
              <a:t> </a:t>
            </a:r>
            <a:r>
              <a:rPr lang="en-US" altLang="zh-CN" sz="2800" b="1" i="1" dirty="0" smtClean="0">
                <a:latin typeface="Times New Roman" panose="02020603050405020304" pitchFamily="18" charset="0"/>
                <a:ea typeface="黑体" panose="02010609060101010101" pitchFamily="49" charset="-122"/>
                <a:cs typeface="Times New Roman" panose="02020603050405020304" pitchFamily="18" charset="0"/>
              </a:rPr>
              <a:t>p- h</a:t>
            </a:r>
            <a:r>
              <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rPr>
              <a:t>图</a:t>
            </a:r>
            <a:endPar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endParaRPr>
          </a:p>
        </p:txBody>
      </p:sp>
    </p:spTree>
  </p:cSld>
  <p:clrMapOvr>
    <a:masterClrMapping/>
  </p:clrMapOvr>
  <p:transition spd="slow"/>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29" name="矩形 271361"/>
          <p:cNvSpPr>
            <a:spLocks noChangeArrowheads="1"/>
          </p:cNvSpPr>
          <p:nvPr/>
        </p:nvSpPr>
        <p:spPr bwMode="auto">
          <a:xfrm>
            <a:off x="0" y="10525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24930" name="矩形 271362"/>
          <p:cNvSpPr>
            <a:spLocks noChangeArrowheads="1"/>
          </p:cNvSpPr>
          <p:nvPr/>
        </p:nvSpPr>
        <p:spPr bwMode="auto">
          <a:xfrm>
            <a:off x="1577183" y="6051847"/>
            <a:ext cx="645080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en-US" altLang="zh-CN" sz="2400" b="1" dirty="0" err="1">
                <a:latin typeface="Times New Roman" panose="02020603050405020304" pitchFamily="18" charset="0"/>
                <a:ea typeface="黑体" panose="02010609060101010101" pitchFamily="49" charset="-122"/>
                <a:cs typeface="Times New Roman" panose="02020603050405020304" pitchFamily="18" charset="0"/>
              </a:rPr>
              <a:t>lg</a:t>
            </a:r>
            <a:r>
              <a:rPr lang="en-US" altLang="zh-CN" sz="2400" b="1" i="1" dirty="0" err="1">
                <a:latin typeface="Times New Roman" panose="02020603050405020304" pitchFamily="18" charset="0"/>
                <a:ea typeface="黑体" panose="02010609060101010101" pitchFamily="49" charset="-122"/>
                <a:cs typeface="Times New Roman" panose="02020603050405020304" pitchFamily="18" charset="0"/>
              </a:rPr>
              <a:t>p</a:t>
            </a:r>
            <a:r>
              <a:rPr lang="en-US" altLang="zh-CN" sz="2400" b="1" i="1" dirty="0">
                <a:latin typeface="Times New Roman" panose="02020603050405020304" pitchFamily="18" charset="0"/>
                <a:ea typeface="黑体" panose="02010609060101010101" pitchFamily="49" charset="-122"/>
                <a:cs typeface="Times New Roman" panose="02020603050405020304" pitchFamily="18" charset="0"/>
              </a:rPr>
              <a:t>-h</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图上的定温线簇、定熵线簇和定干度线簇 </a:t>
            </a:r>
            <a:endParaRPr lang="zh-CN" altLang="en-US" sz="24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4931" name="矩形 271363"/>
          <p:cNvSpPr>
            <a:spLocks noChangeArrowheads="1"/>
          </p:cNvSpPr>
          <p:nvPr/>
        </p:nvSpPr>
        <p:spPr bwMode="auto">
          <a:xfrm>
            <a:off x="0" y="15954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pic>
        <p:nvPicPr>
          <p:cNvPr id="2" name="图片 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115268" y="612404"/>
            <a:ext cx="6913463" cy="5633192"/>
          </a:xfrm>
          <a:prstGeom prst="rect">
            <a:avLst/>
          </a:prstGeom>
        </p:spPr>
      </p:pic>
    </p:spTree>
  </p:cSld>
  <p:clrMapOvr>
    <a:masterClrMapping/>
  </p:clrMapOvr>
  <p:transition spd="slow"/>
  <p:timing>
    <p:tnLst>
      <p:par>
        <p:cTn id="1" dur="indefinite" restart="never" nodeType="tmRoot"/>
      </p:par>
    </p:tnLst>
  </p:timing>
</p:sld>
</file>

<file path=ppt/tags/tag1.xml><?xml version="1.0" encoding="utf-8"?>
<p:tagLst xmlns:p="http://schemas.openxmlformats.org/presentationml/2006/main">
  <p:tag name="TIMING" val="|35"/>
</p:tagLst>
</file>

<file path=ppt/tags/tag2.xml><?xml version="1.0" encoding="utf-8"?>
<p:tagLst xmlns:p="http://schemas.openxmlformats.org/presentationml/2006/main">
  <p:tag name="TIMING" val="|59.4|17.4|12|8.2"/>
</p:tagLst>
</file>

<file path=ppt/tags/tag3.xml><?xml version="1.0" encoding="utf-8"?>
<p:tagLst xmlns:p="http://schemas.openxmlformats.org/presentationml/2006/main">
  <p:tag name="TIMING" val="|35.6"/>
</p:tagLst>
</file>

<file path=ppt/tags/tag4.xml><?xml version="1.0" encoding="utf-8"?>
<p:tagLst xmlns:p="http://schemas.openxmlformats.org/presentationml/2006/main">
  <p:tag name="TIMING" val="|23|10.8|28.4"/>
</p:tagLst>
</file>

<file path=ppt/tags/tag5.xml><?xml version="1.0" encoding="utf-8"?>
<p:tagLst xmlns:p="http://schemas.openxmlformats.org/presentationml/2006/main">
  <p:tag name="TIMING" val="|13.2|86.3|6.5|5.9"/>
</p:tagLst>
</file>

<file path=ppt/tags/tag6.xml><?xml version="1.0" encoding="utf-8"?>
<p:tagLst xmlns:p="http://schemas.openxmlformats.org/presentationml/2006/main">
  <p:tag name="TIMING" val="|26.3|88"/>
</p:tagLst>
</file>

<file path=ppt/tags/tag7.xml><?xml version="1.0" encoding="utf-8"?>
<p:tagLst xmlns:p="http://schemas.openxmlformats.org/presentationml/2006/main">
  <p:tag name="TIMING" val="|18.6|12.9"/>
</p:tagLst>
</file>

<file path=ppt/tags/tag8.xml><?xml version="1.0" encoding="utf-8"?>
<p:tagLst xmlns:p="http://schemas.openxmlformats.org/presentationml/2006/main">
  <p:tag name="TIMING" val="|74.7"/>
</p:tagLst>
</file>

<file path=ppt/tags/tag9.xml><?xml version="1.0" encoding="utf-8"?>
<p:tagLst xmlns:p="http://schemas.openxmlformats.org/presentationml/2006/main">
  <p:tag name="TIMING" val="|74.7"/>
</p:tagLst>
</file>

<file path=ppt/tags/tag10.xml><?xml version="1.0" encoding="utf-8"?>
<p:tagLst xmlns:p="http://schemas.openxmlformats.org/presentationml/2006/main">
  <p:tag name="TIMING" val="|28.4|13|8|7"/>
</p:tagLst>
</file>

<file path=ppt/tags/tag11.xml><?xml version="1.0" encoding="utf-8"?>
<p:tagLst xmlns:p="http://schemas.openxmlformats.org/presentationml/2006/main">
  <p:tag name="TIMING" val="|22.5|1.1|78.8|10.8|61.4"/>
</p:tagLst>
</file>

<file path=ppt/tags/tag12.xml><?xml version="1.0" encoding="utf-8"?>
<p:tagLst xmlns:p="http://schemas.openxmlformats.org/presentationml/2006/main">
  <p:tag name="TIMING" val="|35.3|3.7|22.8|11.7"/>
</p:tagLst>
</file>

<file path=ppt/tags/tag13.xml><?xml version="1.0" encoding="utf-8"?>
<p:tagLst xmlns:p="http://schemas.openxmlformats.org/presentationml/2006/main">
  <p:tag name="TIMING" val="|10|18.7|10.1"/>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9333</Words>
  <Application>WPS 演示</Application>
  <PresentationFormat>全屏显示(4:3)</PresentationFormat>
  <Paragraphs>783</Paragraphs>
  <Slides>95</Slides>
  <Notes>0</Notes>
  <HiddenSlides>0</HiddenSlides>
  <MMClips>0</MMClips>
  <ScaleCrop>false</ScaleCrop>
  <HeadingPairs>
    <vt:vector size="8" baseType="variant">
      <vt:variant>
        <vt:lpstr>已用的字体</vt:lpstr>
      </vt:variant>
      <vt:variant>
        <vt:i4>13</vt:i4>
      </vt:variant>
      <vt:variant>
        <vt:lpstr>主题</vt:lpstr>
      </vt:variant>
      <vt:variant>
        <vt:i4>1</vt:i4>
      </vt:variant>
      <vt:variant>
        <vt:lpstr>嵌入 OLE 服务器</vt:lpstr>
      </vt:variant>
      <vt:variant>
        <vt:i4>70</vt:i4>
      </vt:variant>
      <vt:variant>
        <vt:lpstr>幻灯片标题</vt:lpstr>
      </vt:variant>
      <vt:variant>
        <vt:i4>95</vt:i4>
      </vt:variant>
    </vt:vector>
  </HeadingPairs>
  <TitlesOfParts>
    <vt:vector size="179" baseType="lpstr">
      <vt:lpstr>Arial</vt:lpstr>
      <vt:lpstr>宋体</vt:lpstr>
      <vt:lpstr>Wingdings</vt:lpstr>
      <vt:lpstr>Times New Roman</vt:lpstr>
      <vt:lpstr>黑体</vt:lpstr>
      <vt:lpstr>楷体_GB2312</vt:lpstr>
      <vt:lpstr>新宋体</vt:lpstr>
      <vt:lpstr>微软雅黑</vt:lpstr>
      <vt:lpstr>Arial Unicode MS</vt:lpstr>
      <vt:lpstr>Calibri</vt:lpstr>
      <vt:lpstr>Tahoma</vt:lpstr>
      <vt:lpstr>Webdings</vt:lpstr>
      <vt:lpstr>Symbol</vt:lpstr>
      <vt:lpstr>Office 主题</vt:lpstr>
      <vt:lpstr>Visio.Drawing.11</vt:lpstr>
      <vt:lpstr>Equation.DSMT4</vt:lpstr>
      <vt:lpstr>Paint.Picture</vt:lpstr>
      <vt:lpstr>Equation.DSMT4</vt:lpstr>
      <vt:lpstr>Equation.DSMT4</vt:lpstr>
      <vt:lpstr>Equation.DSMT4</vt:lpstr>
      <vt:lpstr>Equation.DSMT4</vt:lpstr>
      <vt:lpstr>Equation.DSMT4</vt:lpstr>
      <vt:lpstr>Equation.DSMT4</vt:lpstr>
      <vt:lpstr>Equation.DSMT4</vt:lpstr>
      <vt:lpstr>Equation.DSMT4</vt:lpstr>
      <vt:lpstr>Visio.Drawing.11</vt:lpstr>
      <vt:lpstr>Equation.DSMT4</vt:lpstr>
      <vt:lpstr>Equation.DSMT4</vt:lpstr>
      <vt:lpstr>Equation.DSMT4</vt:lpstr>
      <vt:lpstr>Equation.DSMT4</vt:lpstr>
      <vt:lpstr>Equation.DSMT4</vt:lpstr>
      <vt:lpstr>Equation.DSMT4</vt:lpstr>
      <vt:lpstr>Equation.DSMT4</vt:lpstr>
      <vt:lpstr>Equation.DSMT4</vt:lpstr>
      <vt:lpstr>Visio.Drawing.11</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Visio.Drawing.11</vt:lpstr>
      <vt:lpstr>Visio.Drawing.11</vt:lpstr>
      <vt:lpstr>Equation.DSMT4</vt:lpstr>
      <vt:lpstr>Equation.DSMT4</vt:lpstr>
      <vt:lpstr>Equation.3</vt:lpstr>
      <vt:lpstr>Equation.3</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Visio.Drawing.11</vt:lpstr>
      <vt:lpstr>09　蒸气的热力性质     和纯物质的相图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生活中常见的相变过程 </vt:lpstr>
      <vt:lpstr>工程领域的许多热功设备中，也有相变过程 </vt:lpstr>
      <vt:lpstr>本讲主要内容</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潜热概念</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本节以水蒸气为例，介绍蒸气热力性质表的类型、结构和使用方法，其他物质的蒸气热力性质表与其类似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一、温-熵（T-s）图 </vt:lpstr>
      <vt:lpstr>二、焓-熵（h-s）图</vt:lpstr>
      <vt:lpstr>PowerPoint 演示文稿</vt:lpstr>
      <vt:lpstr>PowerPoint 演示文稿</vt:lpstr>
      <vt:lpstr>三、压-焓（p-h）图</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第9讲　蒸气的热力性质和纯物质的相图 </dc:title>
  <dc:creator>jing wu</dc:creator>
  <cp:lastModifiedBy>jingwu</cp:lastModifiedBy>
  <cp:revision>26</cp:revision>
  <dcterms:created xsi:type="dcterms:W3CDTF">2020-04-11T02:08:00Z</dcterms:created>
  <dcterms:modified xsi:type="dcterms:W3CDTF">2020-09-29T12:52:02Z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2052-11.1.0.9999</vt:lpwstr>
  </property>
</Properties>
</file>