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64" r:id="rId2"/>
    <p:sldId id="383" r:id="rId3"/>
    <p:sldId id="384" r:id="rId4"/>
    <p:sldId id="385" r:id="rId5"/>
    <p:sldId id="386" r:id="rId6"/>
    <p:sldId id="387" r:id="rId7"/>
    <p:sldId id="388" r:id="rId8"/>
    <p:sldId id="389" r:id="rId9"/>
    <p:sldId id="390" r:id="rId10"/>
    <p:sldId id="307" r:id="rId11"/>
    <p:sldId id="365" r:id="rId12"/>
    <p:sldId id="308" r:id="rId13"/>
    <p:sldId id="366" r:id="rId14"/>
    <p:sldId id="309" r:id="rId15"/>
    <p:sldId id="367" r:id="rId16"/>
    <p:sldId id="310" r:id="rId17"/>
    <p:sldId id="368" r:id="rId18"/>
    <p:sldId id="311" r:id="rId19"/>
    <p:sldId id="369" r:id="rId20"/>
    <p:sldId id="391" r:id="rId21"/>
    <p:sldId id="370" r:id="rId22"/>
    <p:sldId id="313" r:id="rId23"/>
    <p:sldId id="371" r:id="rId24"/>
    <p:sldId id="314" r:id="rId25"/>
    <p:sldId id="372" r:id="rId26"/>
    <p:sldId id="315" r:id="rId27"/>
    <p:sldId id="373" r:id="rId28"/>
    <p:sldId id="316" r:id="rId29"/>
    <p:sldId id="374" r:id="rId30"/>
    <p:sldId id="318" r:id="rId31"/>
    <p:sldId id="375" r:id="rId32"/>
    <p:sldId id="319" r:id="rId33"/>
    <p:sldId id="376" r:id="rId34"/>
    <p:sldId id="377" r:id="rId35"/>
    <p:sldId id="320" r:id="rId36"/>
    <p:sldId id="321" r:id="rId37"/>
    <p:sldId id="378" r:id="rId38"/>
    <p:sldId id="323" r:id="rId39"/>
    <p:sldId id="379" r:id="rId40"/>
    <p:sldId id="324" r:id="rId41"/>
    <p:sldId id="380" r:id="rId42"/>
    <p:sldId id="326" r:id="rId43"/>
    <p:sldId id="381" r:id="rId44"/>
    <p:sldId id="327" r:id="rId45"/>
    <p:sldId id="382" r:id="rId4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orient="horz" pos="119">
          <p15:clr>
            <a:srgbClr val="A4A3A4"/>
          </p15:clr>
        </p15:guide>
        <p15:guide id="3" orient="horz" pos="4201">
          <p15:clr>
            <a:srgbClr val="A4A3A4"/>
          </p15:clr>
        </p15:guide>
        <p15:guide id="4" orient="horz" pos="663">
          <p15:clr>
            <a:srgbClr val="A4A3A4"/>
          </p15:clr>
        </p15:guide>
        <p15:guide id="5" orient="horz" pos="3657">
          <p15:clr>
            <a:srgbClr val="A4A3A4"/>
          </p15:clr>
        </p15:guide>
        <p15:guide id="6" pos="2880">
          <p15:clr>
            <a:srgbClr val="A4A3A4"/>
          </p15:clr>
        </p15:guide>
        <p15:guide id="7" pos="1383">
          <p15:clr>
            <a:srgbClr val="A4A3A4"/>
          </p15:clr>
        </p15:guide>
        <p15:guide id="8" pos="4377">
          <p15:clr>
            <a:srgbClr val="A4A3A4"/>
          </p15:clr>
        </p15:guide>
        <p15:guide id="9" pos="839">
          <p15:clr>
            <a:srgbClr val="A4A3A4"/>
          </p15:clr>
        </p15:guide>
        <p15:guide id="10" pos="49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4" autoAdjust="0"/>
    <p:restoredTop sz="94660"/>
  </p:normalViewPr>
  <p:slideViewPr>
    <p:cSldViewPr snapToGrid="0">
      <p:cViewPr varScale="1">
        <p:scale>
          <a:sx n="83" d="100"/>
          <a:sy n="83" d="100"/>
        </p:scale>
        <p:origin x="-1531" y="-58"/>
      </p:cViewPr>
      <p:guideLst>
        <p:guide orient="horz" pos="2160"/>
        <p:guide orient="horz" pos="119"/>
        <p:guide orient="horz" pos="4201"/>
        <p:guide orient="horz" pos="663"/>
        <p:guide orient="horz" pos="3657"/>
        <p:guide pos="2880"/>
        <p:guide pos="1383"/>
        <p:guide pos="4377"/>
        <p:guide pos="839"/>
        <p:guide pos="492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4974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097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097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CC868A69-09E7-4306-81EC-9C7780823F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4369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DD6EF1-60D7-48B2-9DE0-1B22F6A757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3367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10E0DF-7881-4FD9-91D7-D99A59B08A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581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4B8653-82C7-4F64-9B97-F82AF6FFA5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6365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7A68BB-0917-43D4-8BB3-ACCDA53443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6699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3896D1-7EA7-452D-B0CA-EFB0E3993B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9546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97AC3-3AC3-4E98-B99C-9D10725CFB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6732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4A9C94-1C6D-4F80-B64F-9BAB1CF333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973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63A2CD-ADB9-42BE-81D9-66B22DF345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4438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5D60B-CCB6-4216-B396-19FD015277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7023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22CFBA-D58A-4AE4-8C0E-35AFC6DA08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0575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994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29AA5EF-7577-462F-8119-96D10A9F5D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png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png"/><Relationship Id="rId5" Type="http://schemas.openxmlformats.org/officeDocument/2006/relationships/oleObject" Target="../embeddings/oleObject7.bin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CCFF"/>
            </a:gs>
            <a:gs pos="100000">
              <a:srgbClr val="765E76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ChangeArrowheads="1"/>
          </p:cNvSpPr>
          <p:nvPr/>
        </p:nvSpPr>
        <p:spPr bwMode="auto">
          <a:xfrm>
            <a:off x="0" y="836613"/>
            <a:ext cx="9144000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6000" b="1" dirty="0">
                <a:latin typeface="Arial" charset="0"/>
                <a:ea typeface="隶书" pitchFamily="49" charset="-122"/>
              </a:rPr>
              <a:t>第</a:t>
            </a:r>
            <a:r>
              <a:rPr lang="en-US" altLang="zh-CN" sz="6000" b="1" dirty="0">
                <a:latin typeface="Arial" charset="0"/>
                <a:ea typeface="隶书" pitchFamily="49" charset="-122"/>
              </a:rPr>
              <a:t>11</a:t>
            </a:r>
            <a:r>
              <a:rPr lang="zh-CN" altLang="en-US" sz="6000" b="1" dirty="0">
                <a:latin typeface="Arial" charset="0"/>
                <a:ea typeface="隶书" pitchFamily="49" charset="-122"/>
              </a:rPr>
              <a:t>讲习题答案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6000" b="1" dirty="0">
                <a:latin typeface="Arial" charset="0"/>
                <a:ea typeface="隶书" pitchFamily="49" charset="-122"/>
              </a:rPr>
              <a:t> 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6000" b="1" dirty="0">
                <a:latin typeface="Arial" charset="0"/>
                <a:ea typeface="隶书" pitchFamily="49" charset="-122"/>
              </a:rPr>
              <a:t>形体的表达方法 </a:t>
            </a:r>
            <a:r>
              <a:rPr lang="zh-CN" altLang="en-US" sz="4000" b="1" dirty="0">
                <a:latin typeface="Arial" charset="0"/>
                <a:ea typeface="隶书" pitchFamily="49" charset="-122"/>
              </a:rPr>
              <a:t>（</a:t>
            </a:r>
            <a:r>
              <a:rPr lang="en-US" altLang="zh-CN" sz="4000" b="1" dirty="0">
                <a:latin typeface="Arial" charset="0"/>
                <a:ea typeface="隶书" pitchFamily="49" charset="-122"/>
              </a:rPr>
              <a:t>2</a:t>
            </a:r>
            <a:r>
              <a:rPr lang="zh-CN" altLang="en-US" sz="4000" b="1" dirty="0">
                <a:latin typeface="Arial" charset="0"/>
                <a:ea typeface="隶书" pitchFamily="49" charset="-122"/>
              </a:rPr>
              <a:t>）</a:t>
            </a:r>
            <a:endParaRPr lang="en-US" altLang="zh-CN" sz="4000" b="1" dirty="0">
              <a:latin typeface="Arial" charset="0"/>
              <a:ea typeface="隶书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 b="30009"/>
          <a:stretch>
            <a:fillRect/>
          </a:stretch>
        </p:blipFill>
        <p:spPr bwMode="auto">
          <a:xfrm>
            <a:off x="1908175" y="476250"/>
            <a:ext cx="5761038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3-4-2-25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77156" name="Line 4"/>
          <p:cNvSpPr>
            <a:spLocks noChangeShapeType="1"/>
          </p:cNvSpPr>
          <p:nvPr/>
        </p:nvSpPr>
        <p:spPr bwMode="auto">
          <a:xfrm>
            <a:off x="3671888" y="944563"/>
            <a:ext cx="1314450" cy="133032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157" name="Line 5"/>
          <p:cNvSpPr>
            <a:spLocks noChangeShapeType="1"/>
          </p:cNvSpPr>
          <p:nvPr/>
        </p:nvSpPr>
        <p:spPr bwMode="auto">
          <a:xfrm>
            <a:off x="7173913" y="2027238"/>
            <a:ext cx="0" cy="227012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158" name="Line 6"/>
          <p:cNvSpPr>
            <a:spLocks noChangeShapeType="1"/>
          </p:cNvSpPr>
          <p:nvPr/>
        </p:nvSpPr>
        <p:spPr bwMode="auto">
          <a:xfrm>
            <a:off x="6167438" y="954088"/>
            <a:ext cx="1009650" cy="10668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159" name="Line 7"/>
          <p:cNvSpPr>
            <a:spLocks noChangeShapeType="1"/>
          </p:cNvSpPr>
          <p:nvPr/>
        </p:nvSpPr>
        <p:spPr bwMode="auto">
          <a:xfrm flipH="1" flipV="1">
            <a:off x="5694363" y="952500"/>
            <a:ext cx="474662" cy="635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160" name="Line 8"/>
          <p:cNvSpPr>
            <a:spLocks noChangeShapeType="1"/>
          </p:cNvSpPr>
          <p:nvPr/>
        </p:nvSpPr>
        <p:spPr bwMode="auto">
          <a:xfrm>
            <a:off x="5467350" y="1196975"/>
            <a:ext cx="0" cy="107632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161" name="Line 9"/>
          <p:cNvSpPr>
            <a:spLocks noChangeShapeType="1"/>
          </p:cNvSpPr>
          <p:nvPr/>
        </p:nvSpPr>
        <p:spPr bwMode="auto">
          <a:xfrm flipV="1">
            <a:off x="5487988" y="2252663"/>
            <a:ext cx="1681162" cy="4762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162" name="Line 10"/>
          <p:cNvSpPr>
            <a:spLocks noChangeShapeType="1"/>
          </p:cNvSpPr>
          <p:nvPr/>
        </p:nvSpPr>
        <p:spPr bwMode="auto">
          <a:xfrm flipH="1">
            <a:off x="5454650" y="1216025"/>
            <a:ext cx="230188" cy="4763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163" name="Line 11"/>
          <p:cNvSpPr>
            <a:spLocks noChangeShapeType="1"/>
          </p:cNvSpPr>
          <p:nvPr/>
        </p:nvSpPr>
        <p:spPr bwMode="auto">
          <a:xfrm flipH="1">
            <a:off x="5694363" y="965200"/>
            <a:ext cx="11112" cy="25717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164" name="Line 12"/>
          <p:cNvSpPr>
            <a:spLocks noChangeShapeType="1"/>
          </p:cNvSpPr>
          <p:nvPr/>
        </p:nvSpPr>
        <p:spPr bwMode="auto">
          <a:xfrm>
            <a:off x="6157913" y="944563"/>
            <a:ext cx="1009650" cy="1066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165" name="Oval 13"/>
          <p:cNvSpPr>
            <a:spLocks noChangeArrowheads="1"/>
          </p:cNvSpPr>
          <p:nvPr/>
        </p:nvSpPr>
        <p:spPr bwMode="auto">
          <a:xfrm>
            <a:off x="3814763" y="4867275"/>
            <a:ext cx="157162" cy="157163"/>
          </a:xfrm>
          <a:prstGeom prst="ellips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77166" name="Oval 14"/>
          <p:cNvSpPr>
            <a:spLocks noChangeArrowheads="1"/>
          </p:cNvSpPr>
          <p:nvPr/>
        </p:nvSpPr>
        <p:spPr bwMode="auto">
          <a:xfrm>
            <a:off x="3836988" y="1630363"/>
            <a:ext cx="157162" cy="157162"/>
          </a:xfrm>
          <a:prstGeom prst="ellips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77167" name="Oval 15"/>
          <p:cNvSpPr>
            <a:spLocks noChangeArrowheads="1"/>
          </p:cNvSpPr>
          <p:nvPr/>
        </p:nvSpPr>
        <p:spPr bwMode="auto">
          <a:xfrm>
            <a:off x="6789738" y="1609725"/>
            <a:ext cx="157162" cy="157163"/>
          </a:xfrm>
          <a:prstGeom prst="ellips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77168" name="Line 16"/>
          <p:cNvSpPr>
            <a:spLocks noChangeShapeType="1"/>
          </p:cNvSpPr>
          <p:nvPr/>
        </p:nvSpPr>
        <p:spPr bwMode="auto">
          <a:xfrm>
            <a:off x="4972050" y="3614738"/>
            <a:ext cx="11113" cy="174148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169" name="Line 17"/>
          <p:cNvSpPr>
            <a:spLocks noChangeShapeType="1"/>
          </p:cNvSpPr>
          <p:nvPr/>
        </p:nvSpPr>
        <p:spPr bwMode="auto">
          <a:xfrm>
            <a:off x="3679825" y="3889375"/>
            <a:ext cx="11113" cy="417513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170" name="Line 18"/>
          <p:cNvSpPr>
            <a:spLocks noChangeShapeType="1"/>
          </p:cNvSpPr>
          <p:nvPr/>
        </p:nvSpPr>
        <p:spPr bwMode="auto">
          <a:xfrm flipH="1" flipV="1">
            <a:off x="4732338" y="5326063"/>
            <a:ext cx="261937" cy="317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171" name="Line 19"/>
          <p:cNvSpPr>
            <a:spLocks noChangeShapeType="1"/>
          </p:cNvSpPr>
          <p:nvPr/>
        </p:nvSpPr>
        <p:spPr bwMode="auto">
          <a:xfrm flipH="1">
            <a:off x="3671888" y="3868738"/>
            <a:ext cx="303212" cy="635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172" name="Line 20"/>
          <p:cNvSpPr>
            <a:spLocks noChangeShapeType="1"/>
          </p:cNvSpPr>
          <p:nvPr/>
        </p:nvSpPr>
        <p:spPr bwMode="auto">
          <a:xfrm>
            <a:off x="3952875" y="3636963"/>
            <a:ext cx="12700" cy="23812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173" name="Line 21"/>
          <p:cNvSpPr>
            <a:spLocks noChangeShapeType="1"/>
          </p:cNvSpPr>
          <p:nvPr/>
        </p:nvSpPr>
        <p:spPr bwMode="auto">
          <a:xfrm flipH="1" flipV="1">
            <a:off x="3956050" y="3624263"/>
            <a:ext cx="1009650" cy="317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174" name="Line 22"/>
          <p:cNvSpPr>
            <a:spLocks noChangeShapeType="1"/>
          </p:cNvSpPr>
          <p:nvPr/>
        </p:nvSpPr>
        <p:spPr bwMode="auto">
          <a:xfrm>
            <a:off x="3683000" y="4311650"/>
            <a:ext cx="1062038" cy="1027113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175" name="Arc 23"/>
          <p:cNvSpPr>
            <a:spLocks/>
          </p:cNvSpPr>
          <p:nvPr/>
        </p:nvSpPr>
        <p:spPr bwMode="auto">
          <a:xfrm rot="1548885">
            <a:off x="3048000" y="1074738"/>
            <a:ext cx="831850" cy="1446212"/>
          </a:xfrm>
          <a:custGeom>
            <a:avLst/>
            <a:gdLst>
              <a:gd name="T0" fmla="*/ 0 w 24195"/>
              <a:gd name="T1" fmla="*/ 218085 h 38681"/>
              <a:gd name="T2" fmla="*/ 18695429 w 24195"/>
              <a:gd name="T3" fmla="*/ 54071227 h 38681"/>
              <a:gd name="T4" fmla="*/ 3067445 w 24195"/>
              <a:gd name="T5" fmla="*/ 30194129 h 38681"/>
              <a:gd name="T6" fmla="*/ 0 60000 65536"/>
              <a:gd name="T7" fmla="*/ 0 60000 65536"/>
              <a:gd name="T8" fmla="*/ 0 60000 65536"/>
              <a:gd name="T9" fmla="*/ 0 w 24195"/>
              <a:gd name="T10" fmla="*/ 0 h 38681"/>
              <a:gd name="T11" fmla="*/ 24195 w 24195"/>
              <a:gd name="T12" fmla="*/ 38681 h 386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195" h="38681" fill="none" extrusionOk="0">
                <a:moveTo>
                  <a:pt x="0" y="156"/>
                </a:moveTo>
                <a:cubicBezTo>
                  <a:pt x="861" y="52"/>
                  <a:pt x="1727" y="-1"/>
                  <a:pt x="2595" y="0"/>
                </a:cubicBezTo>
                <a:cubicBezTo>
                  <a:pt x="14524" y="0"/>
                  <a:pt x="24195" y="9670"/>
                  <a:pt x="24195" y="21600"/>
                </a:cubicBezTo>
                <a:cubicBezTo>
                  <a:pt x="24195" y="28283"/>
                  <a:pt x="21101" y="34590"/>
                  <a:pt x="15816" y="38681"/>
                </a:cubicBezTo>
              </a:path>
              <a:path w="24195" h="38681" stroke="0" extrusionOk="0">
                <a:moveTo>
                  <a:pt x="0" y="156"/>
                </a:moveTo>
                <a:cubicBezTo>
                  <a:pt x="861" y="52"/>
                  <a:pt x="1727" y="-1"/>
                  <a:pt x="2595" y="0"/>
                </a:cubicBezTo>
                <a:cubicBezTo>
                  <a:pt x="14524" y="0"/>
                  <a:pt x="24195" y="9670"/>
                  <a:pt x="24195" y="21600"/>
                </a:cubicBezTo>
                <a:cubicBezTo>
                  <a:pt x="24195" y="28283"/>
                  <a:pt x="21101" y="34590"/>
                  <a:pt x="15816" y="38681"/>
                </a:cubicBezTo>
                <a:lnTo>
                  <a:pt x="2595" y="21600"/>
                </a:lnTo>
                <a:lnTo>
                  <a:pt x="0" y="156"/>
                </a:lnTo>
                <a:close/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176" name="Text Box 24"/>
          <p:cNvSpPr txBox="1">
            <a:spLocks noChangeArrowheads="1"/>
          </p:cNvSpPr>
          <p:nvPr/>
        </p:nvSpPr>
        <p:spPr bwMode="auto">
          <a:xfrm>
            <a:off x="3187700" y="4083050"/>
            <a:ext cx="2301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latin typeface="Arial" charset="0"/>
              </a:rPr>
              <a:t>1</a:t>
            </a:r>
            <a:endParaRPr lang="en-US" altLang="zh-CN" sz="1200" b="1"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177177" name="Text Box 25"/>
          <p:cNvSpPr txBox="1">
            <a:spLocks noChangeArrowheads="1"/>
          </p:cNvSpPr>
          <p:nvPr/>
        </p:nvSpPr>
        <p:spPr bwMode="auto">
          <a:xfrm>
            <a:off x="3838575" y="2076450"/>
            <a:ext cx="2936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latin typeface="Arial" charset="0"/>
              </a:rPr>
              <a:t>4’</a:t>
            </a:r>
            <a:endParaRPr lang="en-US" altLang="zh-CN" sz="1200" b="1"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177178" name="Text Box 26"/>
          <p:cNvSpPr txBox="1">
            <a:spLocks noChangeArrowheads="1"/>
          </p:cNvSpPr>
          <p:nvPr/>
        </p:nvSpPr>
        <p:spPr bwMode="auto">
          <a:xfrm>
            <a:off x="4584700" y="2055813"/>
            <a:ext cx="2936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latin typeface="Arial" charset="0"/>
              </a:rPr>
              <a:t>3’</a:t>
            </a:r>
            <a:endParaRPr lang="en-US" altLang="zh-CN" sz="1200" b="1"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177179" name="Text Box 27"/>
          <p:cNvSpPr txBox="1">
            <a:spLocks noChangeArrowheads="1"/>
          </p:cNvSpPr>
          <p:nvPr/>
        </p:nvSpPr>
        <p:spPr bwMode="auto">
          <a:xfrm>
            <a:off x="3681413" y="731838"/>
            <a:ext cx="3571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latin typeface="Arial" charset="0"/>
              </a:rPr>
              <a:t>2’</a:t>
            </a:r>
            <a:endParaRPr lang="en-US" altLang="zh-CN" sz="1200" b="1"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177180" name="Text Box 28"/>
          <p:cNvSpPr txBox="1">
            <a:spLocks noChangeArrowheads="1"/>
          </p:cNvSpPr>
          <p:nvPr/>
        </p:nvSpPr>
        <p:spPr bwMode="auto">
          <a:xfrm>
            <a:off x="3252788" y="690563"/>
            <a:ext cx="2936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latin typeface="Arial" charset="0"/>
              </a:rPr>
              <a:t>1’</a:t>
            </a:r>
            <a:endParaRPr lang="en-US" altLang="zh-CN" sz="1200" b="1"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177181" name="Text Box 29"/>
          <p:cNvSpPr txBox="1">
            <a:spLocks noChangeArrowheads="1"/>
          </p:cNvSpPr>
          <p:nvPr/>
        </p:nvSpPr>
        <p:spPr bwMode="auto">
          <a:xfrm>
            <a:off x="3709988" y="4083050"/>
            <a:ext cx="2936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latin typeface="Times New Roman" pitchFamily="18" charset="0"/>
                <a:ea typeface="黑体" pitchFamily="2" charset="-122"/>
              </a:rPr>
              <a:t>2</a:t>
            </a:r>
          </a:p>
        </p:txBody>
      </p:sp>
      <p:sp>
        <p:nvSpPr>
          <p:cNvPr id="177182" name="Text Box 30"/>
          <p:cNvSpPr txBox="1">
            <a:spLocks noChangeArrowheads="1"/>
          </p:cNvSpPr>
          <p:nvPr/>
        </p:nvSpPr>
        <p:spPr bwMode="auto">
          <a:xfrm>
            <a:off x="4616450" y="5378450"/>
            <a:ext cx="2936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latin typeface="Times New Roman" pitchFamily="18" charset="0"/>
                <a:ea typeface="黑体" pitchFamily="2" charset="-122"/>
              </a:rPr>
              <a:t>3</a:t>
            </a:r>
          </a:p>
        </p:txBody>
      </p:sp>
      <p:sp>
        <p:nvSpPr>
          <p:cNvPr id="177183" name="Text Box 31"/>
          <p:cNvSpPr txBox="1">
            <a:spLocks noChangeArrowheads="1"/>
          </p:cNvSpPr>
          <p:nvPr/>
        </p:nvSpPr>
        <p:spPr bwMode="auto">
          <a:xfrm>
            <a:off x="3700463" y="5365750"/>
            <a:ext cx="2936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>
                <a:latin typeface="Times New Roman" pitchFamily="18" charset="0"/>
                <a:ea typeface="黑体" pitchFamily="2" charset="-122"/>
              </a:rPr>
              <a:t>4</a:t>
            </a:r>
          </a:p>
        </p:txBody>
      </p:sp>
      <p:sp>
        <p:nvSpPr>
          <p:cNvPr id="4128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1666162 w 21600"/>
              <a:gd name="T1" fmla="*/ 0 h 21600"/>
              <a:gd name="T2" fmla="*/ 3332311 w 21600"/>
              <a:gd name="T3" fmla="*/ 3140020 h 21600"/>
              <a:gd name="T4" fmla="*/ 1666162 w 21600"/>
              <a:gd name="T5" fmla="*/ 7060638 h 21600"/>
              <a:gd name="T6" fmla="*/ 0 w 21600"/>
              <a:gd name="T7" fmla="*/ 3140020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Oval 15">
            <a:extLst>
              <a:ext uri="{FF2B5EF4-FFF2-40B4-BE49-F238E27FC236}">
                <a16:creationId xmlns="" xmlns:a16="http://schemas.microsoft.com/office/drawing/2014/main" id="{39439442-9AC2-EEC5-E1AE-A9BFFB21E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1880" y="4193381"/>
            <a:ext cx="157162" cy="157163"/>
          </a:xfrm>
          <a:prstGeom prst="ellips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" name="Oval 15">
            <a:extLst>
              <a:ext uri="{FF2B5EF4-FFF2-40B4-BE49-F238E27FC236}">
                <a16:creationId xmlns="" xmlns:a16="http://schemas.microsoft.com/office/drawing/2014/main" id="{0BD3CA8C-CD2B-81A9-F6CB-53EE9BD19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7672" y="1647401"/>
            <a:ext cx="157162" cy="157163"/>
          </a:xfrm>
          <a:prstGeom prst="ellips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7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7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7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1000"/>
                                        <p:tgtEl>
                                          <p:spTgt spid="17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17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17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7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77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7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7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7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9" dur="500"/>
                                        <p:tgtEl>
                                          <p:spTgt spid="177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4" dur="500"/>
                                        <p:tgtEl>
                                          <p:spTgt spid="177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7" dur="500"/>
                                        <p:tgtEl>
                                          <p:spTgt spid="177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0" dur="500"/>
                                        <p:tgtEl>
                                          <p:spTgt spid="177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3" dur="500"/>
                                        <p:tgtEl>
                                          <p:spTgt spid="177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6" dur="500"/>
                                        <p:tgtEl>
                                          <p:spTgt spid="177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9" dur="500"/>
                                        <p:tgtEl>
                                          <p:spTgt spid="177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2" dur="500"/>
                                        <p:tgtEl>
                                          <p:spTgt spid="177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7" dur="1000"/>
                                        <p:tgtEl>
                                          <p:spTgt spid="177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0" dur="1000"/>
                                        <p:tgtEl>
                                          <p:spTgt spid="177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3" dur="1000"/>
                                        <p:tgtEl>
                                          <p:spTgt spid="177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6" dur="1000"/>
                                        <p:tgtEl>
                                          <p:spTgt spid="177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9" dur="1000"/>
                                        <p:tgtEl>
                                          <p:spTgt spid="177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2" dur="1000"/>
                                        <p:tgtEl>
                                          <p:spTgt spid="177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5" dur="1000"/>
                                        <p:tgtEl>
                                          <p:spTgt spid="177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7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17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17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17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8" dur="500"/>
                                        <p:tgtEl>
                                          <p:spTgt spid="17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17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17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1" dur="500"/>
                                        <p:tgtEl>
                                          <p:spTgt spid="17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17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1000"/>
                                        <p:tgtEl>
                                          <p:spTgt spid="17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177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77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177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177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177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177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6" grpId="0" animBg="1"/>
      <p:bldP spid="177156" grpId="1" animBg="1"/>
      <p:bldP spid="177157" grpId="0" animBg="1"/>
      <p:bldP spid="177157" grpId="1" animBg="1"/>
      <p:bldP spid="177158" grpId="0" animBg="1"/>
      <p:bldP spid="177158" grpId="1" animBg="1"/>
      <p:bldP spid="177159" grpId="0" animBg="1"/>
      <p:bldP spid="177159" grpId="1" animBg="1"/>
      <p:bldP spid="177160" grpId="0" animBg="1"/>
      <p:bldP spid="177160" grpId="1" animBg="1"/>
      <p:bldP spid="177161" grpId="0" animBg="1"/>
      <p:bldP spid="177161" grpId="1" animBg="1"/>
      <p:bldP spid="177162" grpId="0" animBg="1"/>
      <p:bldP spid="177162" grpId="1" animBg="1"/>
      <p:bldP spid="177163" grpId="0" animBg="1"/>
      <p:bldP spid="177163" grpId="1" animBg="1"/>
      <p:bldP spid="177164" grpId="0" animBg="1"/>
      <p:bldP spid="177165" grpId="0" animBg="1"/>
      <p:bldP spid="177166" grpId="0" animBg="1"/>
      <p:bldP spid="177167" grpId="0" animBg="1"/>
      <p:bldP spid="177168" grpId="0" animBg="1"/>
      <p:bldP spid="177168" grpId="1" animBg="1"/>
      <p:bldP spid="177169" grpId="0" animBg="1"/>
      <p:bldP spid="177169" grpId="1" animBg="1"/>
      <p:bldP spid="177170" grpId="0" animBg="1"/>
      <p:bldP spid="177170" grpId="1" animBg="1"/>
      <p:bldP spid="177171" grpId="0" animBg="1"/>
      <p:bldP spid="177171" grpId="1" animBg="1"/>
      <p:bldP spid="177172" grpId="0" animBg="1"/>
      <p:bldP spid="177172" grpId="1" animBg="1"/>
      <p:bldP spid="177173" grpId="0" animBg="1"/>
      <p:bldP spid="177173" grpId="1" animBg="1"/>
      <p:bldP spid="177174" grpId="0" animBg="1"/>
      <p:bldP spid="177174" grpId="1" animBg="1"/>
      <p:bldP spid="177175" grpId="0" animBg="1"/>
      <p:bldP spid="177176" grpId="0"/>
      <p:bldP spid="177177" grpId="0"/>
      <p:bldP spid="177178" grpId="0"/>
      <p:bldP spid="177179" grpId="0"/>
      <p:bldP spid="177180" grpId="0"/>
      <p:bldP spid="177181" grpId="0"/>
      <p:bldP spid="177182" grpId="0"/>
      <p:bldP spid="177183" grpId="0"/>
      <p:bldP spid="2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417513" y="63500"/>
          <a:ext cx="7948612" cy="583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位图图像" r:id="rId3" imgW="4715533" imgH="3610479" progId="Paint.Picture">
                  <p:embed/>
                </p:oleObj>
              </mc:Choice>
              <mc:Fallback>
                <p:oleObj name="位图图像" r:id="rId3" imgW="4715533" imgH="3610479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4095"/>
                      <a:stretch>
                        <a:fillRect/>
                      </a:stretch>
                    </p:blipFill>
                    <p:spPr bwMode="auto">
                      <a:xfrm>
                        <a:off x="417513" y="63500"/>
                        <a:ext cx="7948612" cy="583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79" name="Line 3"/>
          <p:cNvSpPr>
            <a:spLocks noChangeShapeType="1"/>
          </p:cNvSpPr>
          <p:nvPr/>
        </p:nvSpPr>
        <p:spPr bwMode="auto">
          <a:xfrm>
            <a:off x="4670425" y="1741488"/>
            <a:ext cx="1549400" cy="708025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8180" name="Oval 4"/>
          <p:cNvSpPr>
            <a:spLocks noChangeAspect="1" noChangeArrowheads="1"/>
          </p:cNvSpPr>
          <p:nvPr/>
        </p:nvSpPr>
        <p:spPr bwMode="auto">
          <a:xfrm>
            <a:off x="6162675" y="2400300"/>
            <a:ext cx="107950" cy="10795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760000"/>
              </a:gs>
            </a:gsLst>
            <a:lin ang="5400000" scaled="1"/>
          </a:gradFill>
          <a:ln w="28575">
            <a:solidFill>
              <a:srgbClr val="FFFF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78181" name="Line 5"/>
          <p:cNvSpPr>
            <a:spLocks noChangeShapeType="1"/>
          </p:cNvSpPr>
          <p:nvPr/>
        </p:nvSpPr>
        <p:spPr bwMode="auto">
          <a:xfrm>
            <a:off x="3521075" y="1762125"/>
            <a:ext cx="215900" cy="2497138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82" name="Line 6"/>
          <p:cNvSpPr>
            <a:spLocks noChangeShapeType="1"/>
          </p:cNvSpPr>
          <p:nvPr/>
        </p:nvSpPr>
        <p:spPr bwMode="auto">
          <a:xfrm flipV="1">
            <a:off x="2892425" y="1743075"/>
            <a:ext cx="1784350" cy="204470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 animBg="1"/>
      <p:bldP spid="178180" grpId="0" animBg="1"/>
      <p:bldP spid="178181" grpId="0" animBg="1"/>
      <p:bldP spid="17818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 b="32607"/>
          <a:stretch>
            <a:fillRect/>
          </a:stretch>
        </p:blipFill>
        <p:spPr bwMode="auto">
          <a:xfrm>
            <a:off x="1722438" y="592138"/>
            <a:ext cx="6032500" cy="517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3-4-2-26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6148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1666162 w 21600"/>
              <a:gd name="T1" fmla="*/ 0 h 21600"/>
              <a:gd name="T2" fmla="*/ 3332311 w 21600"/>
              <a:gd name="T3" fmla="*/ 3140020 h 21600"/>
              <a:gd name="T4" fmla="*/ 1666162 w 21600"/>
              <a:gd name="T5" fmla="*/ 7060638 h 21600"/>
              <a:gd name="T6" fmla="*/ 0 w 21600"/>
              <a:gd name="T7" fmla="*/ 3140020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3-4-2-26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12" t="12947" r="20340" b="29051"/>
          <a:stretch>
            <a:fillRect/>
          </a:stretch>
        </p:blipFill>
        <p:spPr bwMode="auto">
          <a:xfrm>
            <a:off x="1371600" y="742950"/>
            <a:ext cx="4972050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1433513" y="846138"/>
          <a:ext cx="5767387" cy="544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位图图像" r:id="rId3" imgW="4657143" imgH="4866667" progId="Paint.Picture">
                  <p:embed/>
                </p:oleObj>
              </mc:Choice>
              <mc:Fallback>
                <p:oleObj name="位图图像" r:id="rId3" imgW="4657143" imgH="4866667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037" t="10495" r="2544" b="5965"/>
                      <a:stretch>
                        <a:fillRect/>
                      </a:stretch>
                    </p:blipFill>
                    <p:spPr bwMode="auto">
                      <a:xfrm>
                        <a:off x="1433513" y="846138"/>
                        <a:ext cx="5767387" cy="544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1666162 w 21600"/>
              <a:gd name="T1" fmla="*/ 0 h 21600"/>
              <a:gd name="T2" fmla="*/ 3332311 w 21600"/>
              <a:gd name="T3" fmla="*/ 3140020 h 21600"/>
              <a:gd name="T4" fmla="*/ 1666162 w 21600"/>
              <a:gd name="T5" fmla="*/ 7060638 h 21600"/>
              <a:gd name="T6" fmla="*/ 0 w 21600"/>
              <a:gd name="T7" fmla="*/ 3140020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1252" name="Object 4"/>
          <p:cNvGraphicFramePr>
            <a:graphicFrameLocks noChangeAspect="1"/>
          </p:cNvGraphicFramePr>
          <p:nvPr/>
        </p:nvGraphicFramePr>
        <p:xfrm>
          <a:off x="4478338" y="822325"/>
          <a:ext cx="2668587" cy="294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位图图像" r:id="rId5" imgW="1991003" imgH="2200582" progId="Paint.Picture">
                  <p:embed/>
                </p:oleObj>
              </mc:Choice>
              <mc:Fallback>
                <p:oleObj name="位图图像" r:id="rId5" imgW="1991003" imgH="2200582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8338" y="822325"/>
                        <a:ext cx="2668587" cy="294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3-4-2-27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81254" name="Text Box 6"/>
          <p:cNvSpPr txBox="1">
            <a:spLocks noChangeArrowheads="1"/>
          </p:cNvSpPr>
          <p:nvPr/>
        </p:nvSpPr>
        <p:spPr bwMode="auto">
          <a:xfrm>
            <a:off x="4637088" y="5356225"/>
            <a:ext cx="41957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宋体" pitchFamily="2" charset="-122"/>
              </a:rPr>
              <a:t>半剖视图：左边画外形，右边画剖视。</a:t>
            </a:r>
          </a:p>
        </p:txBody>
      </p:sp>
      <p:sp>
        <p:nvSpPr>
          <p:cNvPr id="181255" name="Oval 7"/>
          <p:cNvSpPr>
            <a:spLocks noChangeArrowheads="1"/>
          </p:cNvSpPr>
          <p:nvPr/>
        </p:nvSpPr>
        <p:spPr bwMode="auto">
          <a:xfrm>
            <a:off x="5965825" y="1598613"/>
            <a:ext cx="914400" cy="498475"/>
          </a:xfrm>
          <a:prstGeom prst="ellips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4" grpId="0"/>
      <p:bldP spid="18125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2036763" y="114300"/>
          <a:ext cx="4941887" cy="611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位图图像" r:id="rId3" imgW="3638095" imgH="4505954" progId="Paint.Picture">
                  <p:embed/>
                </p:oleObj>
              </mc:Choice>
              <mc:Fallback>
                <p:oleObj name="位图图像" r:id="rId3" imgW="3638095" imgH="4505954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6763" y="114300"/>
                        <a:ext cx="4941887" cy="611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1530350" y="1087438"/>
          <a:ext cx="5349875" cy="468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位图图像" r:id="rId3" imgW="4619048" imgH="4866667" progId="Paint.Picture">
                  <p:embed/>
                </p:oleObj>
              </mc:Choice>
              <mc:Fallback>
                <p:oleObj name="位图图像" r:id="rId3" imgW="4619048" imgH="4866667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241" t="14009" r="5402" b="12515"/>
                      <a:stretch>
                        <a:fillRect/>
                      </a:stretch>
                    </p:blipFill>
                    <p:spPr bwMode="auto">
                      <a:xfrm>
                        <a:off x="1530350" y="1087438"/>
                        <a:ext cx="5349875" cy="468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1666162 w 21600"/>
              <a:gd name="T1" fmla="*/ 0 h 21600"/>
              <a:gd name="T2" fmla="*/ 3332311 w 21600"/>
              <a:gd name="T3" fmla="*/ 3140020 h 21600"/>
              <a:gd name="T4" fmla="*/ 1666162 w 21600"/>
              <a:gd name="T5" fmla="*/ 7060638 h 21600"/>
              <a:gd name="T6" fmla="*/ 0 w 21600"/>
              <a:gd name="T7" fmla="*/ 3140020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833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613" y="1411288"/>
            <a:ext cx="1616075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*3-4-2-28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83302" name="Line 6"/>
          <p:cNvSpPr>
            <a:spLocks noChangeShapeType="1"/>
          </p:cNvSpPr>
          <p:nvPr/>
        </p:nvSpPr>
        <p:spPr bwMode="auto">
          <a:xfrm flipV="1">
            <a:off x="3152775" y="2659063"/>
            <a:ext cx="0" cy="30638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03" name="Arc 7"/>
          <p:cNvSpPr>
            <a:spLocks/>
          </p:cNvSpPr>
          <p:nvPr/>
        </p:nvSpPr>
        <p:spPr bwMode="auto">
          <a:xfrm rot="5735021">
            <a:off x="3126581" y="2234407"/>
            <a:ext cx="452437" cy="393700"/>
          </a:xfrm>
          <a:custGeom>
            <a:avLst/>
            <a:gdLst>
              <a:gd name="T0" fmla="*/ 1378529 w 21600"/>
              <a:gd name="T1" fmla="*/ 0 h 21370"/>
              <a:gd name="T2" fmla="*/ 9476817 w 21600"/>
              <a:gd name="T3" fmla="*/ 7253144 h 21370"/>
              <a:gd name="T4" fmla="*/ 0 w 21600"/>
              <a:gd name="T5" fmla="*/ 7253144 h 21370"/>
              <a:gd name="T6" fmla="*/ 0 60000 65536"/>
              <a:gd name="T7" fmla="*/ 0 60000 65536"/>
              <a:gd name="T8" fmla="*/ 0 60000 65536"/>
              <a:gd name="T9" fmla="*/ 0 w 21600"/>
              <a:gd name="T10" fmla="*/ 0 h 21370"/>
              <a:gd name="T11" fmla="*/ 21600 w 21600"/>
              <a:gd name="T12" fmla="*/ 21370 h 213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370" fill="none" extrusionOk="0">
                <a:moveTo>
                  <a:pt x="3142" y="-1"/>
                </a:moveTo>
                <a:cubicBezTo>
                  <a:pt x="13743" y="1558"/>
                  <a:pt x="21600" y="10654"/>
                  <a:pt x="21600" y="21370"/>
                </a:cubicBezTo>
              </a:path>
              <a:path w="21600" h="21370" stroke="0" extrusionOk="0">
                <a:moveTo>
                  <a:pt x="3142" y="-1"/>
                </a:moveTo>
                <a:cubicBezTo>
                  <a:pt x="13743" y="1558"/>
                  <a:pt x="21600" y="10654"/>
                  <a:pt x="21600" y="21370"/>
                </a:cubicBezTo>
                <a:lnTo>
                  <a:pt x="0" y="21370"/>
                </a:lnTo>
                <a:lnTo>
                  <a:pt x="3142" y="-1"/>
                </a:lnTo>
                <a:close/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04" name="Line 8"/>
          <p:cNvSpPr>
            <a:spLocks noChangeShapeType="1"/>
          </p:cNvSpPr>
          <p:nvPr/>
        </p:nvSpPr>
        <p:spPr bwMode="auto">
          <a:xfrm flipV="1">
            <a:off x="3552825" y="1576388"/>
            <a:ext cx="0" cy="70643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05" name="Arc 9"/>
          <p:cNvSpPr>
            <a:spLocks/>
          </p:cNvSpPr>
          <p:nvPr/>
        </p:nvSpPr>
        <p:spPr bwMode="auto">
          <a:xfrm rot="3079888">
            <a:off x="3288507" y="1783556"/>
            <a:ext cx="795338" cy="346075"/>
          </a:xfrm>
          <a:custGeom>
            <a:avLst/>
            <a:gdLst>
              <a:gd name="T0" fmla="*/ 0 w 28276"/>
              <a:gd name="T1" fmla="*/ 853796 h 21600"/>
              <a:gd name="T2" fmla="*/ 22371005 w 28276"/>
              <a:gd name="T3" fmla="*/ 2046697 h 21600"/>
              <a:gd name="T4" fmla="*/ 9111846 w 28276"/>
              <a:gd name="T5" fmla="*/ 5544810 h 21600"/>
              <a:gd name="T6" fmla="*/ 0 60000 65536"/>
              <a:gd name="T7" fmla="*/ 0 60000 65536"/>
              <a:gd name="T8" fmla="*/ 0 60000 65536"/>
              <a:gd name="T9" fmla="*/ 0 w 28276"/>
              <a:gd name="T10" fmla="*/ 0 h 21600"/>
              <a:gd name="T11" fmla="*/ 28276 w 28276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276" h="21600" fill="none" extrusionOk="0">
                <a:moveTo>
                  <a:pt x="0" y="3326"/>
                </a:moveTo>
                <a:cubicBezTo>
                  <a:pt x="3448" y="1153"/>
                  <a:pt x="7441" y="-1"/>
                  <a:pt x="11517" y="0"/>
                </a:cubicBezTo>
                <a:cubicBezTo>
                  <a:pt x="18018" y="0"/>
                  <a:pt x="24174" y="2928"/>
                  <a:pt x="28276" y="7972"/>
                </a:cubicBezTo>
              </a:path>
              <a:path w="28276" h="21600" stroke="0" extrusionOk="0">
                <a:moveTo>
                  <a:pt x="0" y="3326"/>
                </a:moveTo>
                <a:cubicBezTo>
                  <a:pt x="3448" y="1153"/>
                  <a:pt x="7441" y="-1"/>
                  <a:pt x="11517" y="0"/>
                </a:cubicBezTo>
                <a:cubicBezTo>
                  <a:pt x="18018" y="0"/>
                  <a:pt x="24174" y="2928"/>
                  <a:pt x="28276" y="7972"/>
                </a:cubicBezTo>
                <a:lnTo>
                  <a:pt x="11517" y="21600"/>
                </a:lnTo>
                <a:lnTo>
                  <a:pt x="0" y="3326"/>
                </a:lnTo>
                <a:close/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06" name="Line 10"/>
          <p:cNvSpPr>
            <a:spLocks noChangeShapeType="1"/>
          </p:cNvSpPr>
          <p:nvPr/>
        </p:nvSpPr>
        <p:spPr bwMode="auto">
          <a:xfrm flipV="1">
            <a:off x="3932238" y="2247900"/>
            <a:ext cx="482600" cy="1588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07" name="Line 11"/>
          <p:cNvSpPr>
            <a:spLocks noChangeShapeType="1"/>
          </p:cNvSpPr>
          <p:nvPr/>
        </p:nvSpPr>
        <p:spPr bwMode="auto">
          <a:xfrm>
            <a:off x="4384675" y="2260600"/>
            <a:ext cx="0" cy="985838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08" name="Line 12"/>
          <p:cNvSpPr>
            <a:spLocks noChangeShapeType="1"/>
          </p:cNvSpPr>
          <p:nvPr/>
        </p:nvSpPr>
        <p:spPr bwMode="auto">
          <a:xfrm flipV="1">
            <a:off x="3932238" y="3268663"/>
            <a:ext cx="452437" cy="158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09" name="Line 13"/>
          <p:cNvSpPr>
            <a:spLocks noChangeShapeType="1"/>
          </p:cNvSpPr>
          <p:nvPr/>
        </p:nvSpPr>
        <p:spPr bwMode="auto">
          <a:xfrm flipV="1">
            <a:off x="3930650" y="2952750"/>
            <a:ext cx="0" cy="306388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10" name="Line 14"/>
          <p:cNvSpPr>
            <a:spLocks noChangeShapeType="1"/>
          </p:cNvSpPr>
          <p:nvPr/>
        </p:nvSpPr>
        <p:spPr bwMode="auto">
          <a:xfrm flipV="1">
            <a:off x="3163888" y="2974975"/>
            <a:ext cx="755650" cy="1588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11" name="Line 15"/>
          <p:cNvSpPr>
            <a:spLocks noChangeShapeType="1"/>
          </p:cNvSpPr>
          <p:nvPr/>
        </p:nvSpPr>
        <p:spPr bwMode="auto">
          <a:xfrm flipV="1">
            <a:off x="5835650" y="2659063"/>
            <a:ext cx="0" cy="30638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12" name="Arc 16"/>
          <p:cNvSpPr>
            <a:spLocks/>
          </p:cNvSpPr>
          <p:nvPr/>
        </p:nvSpPr>
        <p:spPr bwMode="auto">
          <a:xfrm rot="1902709">
            <a:off x="5037138" y="2082800"/>
            <a:ext cx="896937" cy="558800"/>
          </a:xfrm>
          <a:custGeom>
            <a:avLst/>
            <a:gdLst>
              <a:gd name="T0" fmla="*/ 30603514 w 21187"/>
              <a:gd name="T1" fmla="*/ 0 h 13227"/>
              <a:gd name="T2" fmla="*/ 37971208 w 21187"/>
              <a:gd name="T3" fmla="*/ 16102498 h 13227"/>
              <a:gd name="T4" fmla="*/ 0 w 21187"/>
              <a:gd name="T5" fmla="*/ 23607578 h 13227"/>
              <a:gd name="T6" fmla="*/ 0 60000 65536"/>
              <a:gd name="T7" fmla="*/ 0 60000 65536"/>
              <a:gd name="T8" fmla="*/ 0 60000 65536"/>
              <a:gd name="T9" fmla="*/ 0 w 21187"/>
              <a:gd name="T10" fmla="*/ 0 h 13227"/>
              <a:gd name="T11" fmla="*/ 21187 w 21187"/>
              <a:gd name="T12" fmla="*/ 13227 h 13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187" h="13227" fill="none" extrusionOk="0">
                <a:moveTo>
                  <a:pt x="17076" y="-1"/>
                </a:moveTo>
                <a:cubicBezTo>
                  <a:pt x="19127" y="2647"/>
                  <a:pt x="20534" y="5736"/>
                  <a:pt x="21186" y="9022"/>
                </a:cubicBezTo>
              </a:path>
              <a:path w="21187" h="13227" stroke="0" extrusionOk="0">
                <a:moveTo>
                  <a:pt x="17076" y="-1"/>
                </a:moveTo>
                <a:cubicBezTo>
                  <a:pt x="19127" y="2647"/>
                  <a:pt x="20534" y="5736"/>
                  <a:pt x="21186" y="9022"/>
                </a:cubicBezTo>
                <a:lnTo>
                  <a:pt x="0" y="13227"/>
                </a:lnTo>
                <a:lnTo>
                  <a:pt x="17076" y="-1"/>
                </a:lnTo>
                <a:close/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13" name="Line 17"/>
          <p:cNvSpPr>
            <a:spLocks noChangeShapeType="1"/>
          </p:cNvSpPr>
          <p:nvPr/>
        </p:nvSpPr>
        <p:spPr bwMode="auto">
          <a:xfrm flipV="1">
            <a:off x="5867400" y="1577975"/>
            <a:ext cx="9525" cy="7366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14" name="Arc 18"/>
          <p:cNvSpPr>
            <a:spLocks/>
          </p:cNvSpPr>
          <p:nvPr/>
        </p:nvSpPr>
        <p:spPr bwMode="auto">
          <a:xfrm>
            <a:off x="5783263" y="1611313"/>
            <a:ext cx="234950" cy="665162"/>
          </a:xfrm>
          <a:custGeom>
            <a:avLst/>
            <a:gdLst>
              <a:gd name="T0" fmla="*/ 770473 w 21600"/>
              <a:gd name="T1" fmla="*/ 0 h 22578"/>
              <a:gd name="T2" fmla="*/ 2544857 w 21600"/>
              <a:gd name="T3" fmla="*/ 19596089 h 22578"/>
              <a:gd name="T4" fmla="*/ 0 w 21600"/>
              <a:gd name="T5" fmla="*/ 17874999 h 22578"/>
              <a:gd name="T6" fmla="*/ 0 60000 65536"/>
              <a:gd name="T7" fmla="*/ 0 60000 65536"/>
              <a:gd name="T8" fmla="*/ 0 60000 65536"/>
              <a:gd name="T9" fmla="*/ 0 w 21600"/>
              <a:gd name="T10" fmla="*/ 0 h 22578"/>
              <a:gd name="T11" fmla="*/ 21600 w 21600"/>
              <a:gd name="T12" fmla="*/ 22578 h 225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2578" fill="none" extrusionOk="0">
                <a:moveTo>
                  <a:pt x="6511" y="0"/>
                </a:moveTo>
                <a:cubicBezTo>
                  <a:pt x="15494" y="2840"/>
                  <a:pt x="21600" y="11174"/>
                  <a:pt x="21600" y="20595"/>
                </a:cubicBezTo>
                <a:cubicBezTo>
                  <a:pt x="21600" y="21257"/>
                  <a:pt x="21569" y="21918"/>
                  <a:pt x="21508" y="22577"/>
                </a:cubicBezTo>
              </a:path>
              <a:path w="21600" h="22578" stroke="0" extrusionOk="0">
                <a:moveTo>
                  <a:pt x="6511" y="0"/>
                </a:moveTo>
                <a:cubicBezTo>
                  <a:pt x="15494" y="2840"/>
                  <a:pt x="21600" y="11174"/>
                  <a:pt x="21600" y="20595"/>
                </a:cubicBezTo>
                <a:cubicBezTo>
                  <a:pt x="21600" y="21257"/>
                  <a:pt x="21569" y="21918"/>
                  <a:pt x="21508" y="22577"/>
                </a:cubicBezTo>
                <a:lnTo>
                  <a:pt x="0" y="20595"/>
                </a:lnTo>
                <a:lnTo>
                  <a:pt x="6511" y="0"/>
                </a:lnTo>
                <a:close/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15" name="Line 19"/>
          <p:cNvSpPr>
            <a:spLocks noChangeShapeType="1"/>
          </p:cNvSpPr>
          <p:nvPr/>
        </p:nvSpPr>
        <p:spPr bwMode="auto">
          <a:xfrm flipV="1">
            <a:off x="6024563" y="2281238"/>
            <a:ext cx="428625" cy="158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16" name="Line 20"/>
          <p:cNvSpPr>
            <a:spLocks noChangeShapeType="1"/>
          </p:cNvSpPr>
          <p:nvPr/>
        </p:nvSpPr>
        <p:spPr bwMode="auto">
          <a:xfrm>
            <a:off x="6446838" y="2282825"/>
            <a:ext cx="0" cy="985838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17" name="Line 21"/>
          <p:cNvSpPr>
            <a:spLocks noChangeShapeType="1"/>
          </p:cNvSpPr>
          <p:nvPr/>
        </p:nvSpPr>
        <p:spPr bwMode="auto">
          <a:xfrm flipV="1">
            <a:off x="6046788" y="3268663"/>
            <a:ext cx="430212" cy="158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18" name="Line 22"/>
          <p:cNvSpPr>
            <a:spLocks noChangeShapeType="1"/>
          </p:cNvSpPr>
          <p:nvPr/>
        </p:nvSpPr>
        <p:spPr bwMode="auto">
          <a:xfrm flipV="1">
            <a:off x="6043613" y="2963863"/>
            <a:ext cx="0" cy="30638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19" name="Line 23"/>
          <p:cNvSpPr>
            <a:spLocks noChangeShapeType="1"/>
          </p:cNvSpPr>
          <p:nvPr/>
        </p:nvSpPr>
        <p:spPr bwMode="auto">
          <a:xfrm flipV="1">
            <a:off x="5832475" y="2986088"/>
            <a:ext cx="220663" cy="158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20" name="Arc 24"/>
          <p:cNvSpPr>
            <a:spLocks/>
          </p:cNvSpPr>
          <p:nvPr/>
        </p:nvSpPr>
        <p:spPr bwMode="auto">
          <a:xfrm rot="-885307">
            <a:off x="2597150" y="4870450"/>
            <a:ext cx="1662113" cy="958850"/>
          </a:xfrm>
          <a:custGeom>
            <a:avLst/>
            <a:gdLst>
              <a:gd name="T0" fmla="*/ 52409660 w 21551"/>
              <a:gd name="T1" fmla="*/ 0 h 19721"/>
              <a:gd name="T2" fmla="*/ 128189858 w 21551"/>
              <a:gd name="T3" fmla="*/ 43196968 h 19721"/>
              <a:gd name="T4" fmla="*/ 0 w 21551"/>
              <a:gd name="T5" fmla="*/ 46620015 h 19721"/>
              <a:gd name="T6" fmla="*/ 0 60000 65536"/>
              <a:gd name="T7" fmla="*/ 0 60000 65536"/>
              <a:gd name="T8" fmla="*/ 0 60000 65536"/>
              <a:gd name="T9" fmla="*/ 0 w 21551"/>
              <a:gd name="T10" fmla="*/ 0 h 19721"/>
              <a:gd name="T11" fmla="*/ 21551 w 21551"/>
              <a:gd name="T12" fmla="*/ 19721 h 1972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51" h="19721" fill="none" extrusionOk="0">
                <a:moveTo>
                  <a:pt x="8811" y="-1"/>
                </a:moveTo>
                <a:cubicBezTo>
                  <a:pt x="16113" y="3262"/>
                  <a:pt x="21015" y="10292"/>
                  <a:pt x="21551" y="18272"/>
                </a:cubicBezTo>
              </a:path>
              <a:path w="21551" h="19721" stroke="0" extrusionOk="0">
                <a:moveTo>
                  <a:pt x="8811" y="-1"/>
                </a:moveTo>
                <a:cubicBezTo>
                  <a:pt x="16113" y="3262"/>
                  <a:pt x="21015" y="10292"/>
                  <a:pt x="21551" y="18272"/>
                </a:cubicBezTo>
                <a:lnTo>
                  <a:pt x="0" y="19721"/>
                </a:lnTo>
                <a:lnTo>
                  <a:pt x="8811" y="-1"/>
                </a:lnTo>
                <a:close/>
              </a:path>
            </a:pathLst>
          </a:cu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21" name="Oval 25"/>
          <p:cNvSpPr>
            <a:spLocks noChangeArrowheads="1"/>
          </p:cNvSpPr>
          <p:nvPr/>
        </p:nvSpPr>
        <p:spPr bwMode="auto">
          <a:xfrm>
            <a:off x="5286375" y="2185988"/>
            <a:ext cx="557213" cy="20955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6" name="Text Box 6"/>
          <p:cNvSpPr txBox="1">
            <a:spLocks noChangeArrowheads="1"/>
          </p:cNvSpPr>
          <p:nvPr/>
        </p:nvSpPr>
        <p:spPr bwMode="auto">
          <a:xfrm>
            <a:off x="5112576" y="5959728"/>
            <a:ext cx="372052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宋体" pitchFamily="2" charset="-122"/>
              </a:rPr>
              <a:t>回转面</a:t>
            </a:r>
            <a:r>
              <a:rPr lang="zh-CN" altLang="en-US" sz="1800" b="1" dirty="0" smtClean="0">
                <a:latin typeface="宋体" pitchFamily="2" charset="-122"/>
              </a:rPr>
              <a:t>：算上中心线，也是类似形</a:t>
            </a:r>
            <a:endParaRPr lang="zh-CN" altLang="en-US" sz="1800" b="1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18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000"/>
                                        <p:tgtEl>
                                          <p:spTgt spid="183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000"/>
                                        <p:tgtEl>
                                          <p:spTgt spid="18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83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8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183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18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18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1000"/>
                                        <p:tgtEl>
                                          <p:spTgt spid="183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1000"/>
                                        <p:tgtEl>
                                          <p:spTgt spid="183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83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183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8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18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1000"/>
                                        <p:tgtEl>
                                          <p:spTgt spid="18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1000"/>
                                        <p:tgtEl>
                                          <p:spTgt spid="18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1000"/>
                                        <p:tgtEl>
                                          <p:spTgt spid="18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8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1000"/>
                                        <p:tgtEl>
                                          <p:spTgt spid="18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18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02" grpId="0" animBg="1"/>
      <p:bldP spid="183303" grpId="0" animBg="1"/>
      <p:bldP spid="183304" grpId="0" animBg="1"/>
      <p:bldP spid="183305" grpId="0" animBg="1"/>
      <p:bldP spid="183306" grpId="0" animBg="1"/>
      <p:bldP spid="183307" grpId="0" animBg="1"/>
      <p:bldP spid="183308" grpId="0" animBg="1"/>
      <p:bldP spid="183309" grpId="0" animBg="1"/>
      <p:bldP spid="183310" grpId="0" animBg="1"/>
      <p:bldP spid="183311" grpId="0" animBg="1"/>
      <p:bldP spid="183312" grpId="0" animBg="1"/>
      <p:bldP spid="183313" grpId="0" animBg="1"/>
      <p:bldP spid="183314" grpId="0" animBg="1"/>
      <p:bldP spid="183315" grpId="0" animBg="1"/>
      <p:bldP spid="183316" grpId="0" animBg="1"/>
      <p:bldP spid="183317" grpId="0" animBg="1"/>
      <p:bldP spid="183318" grpId="0" animBg="1"/>
      <p:bldP spid="183319" grpId="0" animBg="1"/>
      <p:bldP spid="183320" grpId="0" animBg="1"/>
      <p:bldP spid="183321" grpId="0" animBg="1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4919663" y="1709738"/>
          <a:ext cx="3808412" cy="300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位图图像" r:id="rId3" imgW="5514286" imgH="4352381" progId="Paint.Picture">
                  <p:embed/>
                </p:oleObj>
              </mc:Choice>
              <mc:Fallback>
                <p:oleObj name="位图图像" r:id="rId3" imgW="5514286" imgH="435238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663" y="1709738"/>
                        <a:ext cx="3808412" cy="300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3" name="Object 3"/>
          <p:cNvGraphicFramePr>
            <a:graphicFrameLocks noChangeAspect="1"/>
          </p:cNvGraphicFramePr>
          <p:nvPr/>
        </p:nvGraphicFramePr>
        <p:xfrm>
          <a:off x="444500" y="1400175"/>
          <a:ext cx="4008438" cy="348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位图图像" r:id="rId5" imgW="5009524" imgH="4352381" progId="Paint.Picture">
                  <p:embed/>
                </p:oleObj>
              </mc:Choice>
              <mc:Fallback>
                <p:oleObj name="位图图像" r:id="rId5" imgW="5009524" imgH="4352381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" y="1400175"/>
                        <a:ext cx="4008438" cy="348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4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55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66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660" tmFilter="0, 0; 0.125,0.2665; 0.25,0.4; 0.375,0.465; 0.5,0.5;  0.625,0.535; 0.75,0.6; 0.875,0.7335; 1,1">
                                          <p:stCondLst>
                                            <p:cond delay="166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30" tmFilter="0, 0; 0.125,0.2665; 0.25,0.4; 0.375,0.465; 0.5,0.5;  0.625,0.535; 0.75,0.6; 0.875,0.7335; 1,1">
                                          <p:stCondLst>
                                            <p:cond delay="331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10" tmFilter="0, 0; 0.125,0.2665; 0.25,0.4; 0.375,0.465; 0.5,0.5;  0.625,0.535; 0.75,0.6; 0.875,0.7335; 1,1">
                                          <p:stCondLst>
                                            <p:cond delay="414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65">
                                          <p:stCondLst>
                                            <p:cond delay="1625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415" decel="50000">
                                          <p:stCondLst>
                                            <p:cond delay="169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65">
                                          <p:stCondLst>
                                            <p:cond delay="328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415" decel="50000">
                                          <p:stCondLst>
                                            <p:cond delay="3345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65">
                                          <p:stCondLst>
                                            <p:cond delay="4105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415" decel="50000">
                                          <p:stCondLst>
                                            <p:cond delay="417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65">
                                          <p:stCondLst>
                                            <p:cond delay="452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415" decel="50000">
                                          <p:stCondLst>
                                            <p:cond delay="4585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>
            <a:fillRect/>
          </a:stretch>
        </p:blipFill>
        <p:spPr bwMode="auto">
          <a:xfrm>
            <a:off x="2195513" y="476250"/>
            <a:ext cx="4768850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4-1-2-15  改正剖视图中所画波浪线的错误。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830" r="-22807"/>
          <a:stretch>
            <a:fillRect/>
          </a:stretch>
        </p:blipFill>
        <p:spPr bwMode="auto">
          <a:xfrm>
            <a:off x="1835150" y="908050"/>
            <a:ext cx="4897438" cy="3270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4-1-2-15  改正剖视图中所画波浪线的错误。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>
            <a:fillRect/>
          </a:stretch>
        </p:blipFill>
        <p:spPr bwMode="auto">
          <a:xfrm>
            <a:off x="2195513" y="476250"/>
            <a:ext cx="4772025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4-1-2-16  在主、俯视图上取适当的局部剖视。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856" r="-37669"/>
          <a:stretch>
            <a:fillRect/>
          </a:stretch>
        </p:blipFill>
        <p:spPr bwMode="auto">
          <a:xfrm>
            <a:off x="1908175" y="1052513"/>
            <a:ext cx="5111750" cy="3136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4-1-2-16  在主、俯视图上取适当的局部剖视。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>
            <a:fillRect/>
          </a:stretch>
        </p:blipFill>
        <p:spPr bwMode="auto">
          <a:xfrm>
            <a:off x="2195513" y="476250"/>
            <a:ext cx="4756150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4-1-2-17  在主、左视图上取适当的局部剖视。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149" r="-19525"/>
          <a:stretch>
            <a:fillRect/>
          </a:stretch>
        </p:blipFill>
        <p:spPr bwMode="auto">
          <a:xfrm>
            <a:off x="1908175" y="765175"/>
            <a:ext cx="4968875" cy="40576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4-1-2-17  在主、左视图上取适当的局部剖视。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>
            <a:fillRect/>
          </a:stretch>
        </p:blipFill>
        <p:spPr bwMode="auto">
          <a:xfrm>
            <a:off x="2195513" y="476250"/>
            <a:ext cx="4786312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4-1-2-18  作主视图并在其上取适当的局部剖视。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8436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1666162 w 21600"/>
              <a:gd name="T1" fmla="*/ 0 h 21600"/>
              <a:gd name="T2" fmla="*/ 3332311 w 21600"/>
              <a:gd name="T3" fmla="*/ 3140020 h 21600"/>
              <a:gd name="T4" fmla="*/ 1666162 w 21600"/>
              <a:gd name="T5" fmla="*/ 7060638 h 21600"/>
              <a:gd name="T6" fmla="*/ 0 w 21600"/>
              <a:gd name="T7" fmla="*/ 3140020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518" name="Oval 6"/>
          <p:cNvSpPr>
            <a:spLocks noChangeArrowheads="1"/>
          </p:cNvSpPr>
          <p:nvPr/>
        </p:nvSpPr>
        <p:spPr bwMode="auto">
          <a:xfrm>
            <a:off x="2290763" y="2116138"/>
            <a:ext cx="850900" cy="693737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6" name="Oval 6"/>
          <p:cNvSpPr>
            <a:spLocks noChangeArrowheads="1"/>
          </p:cNvSpPr>
          <p:nvPr/>
        </p:nvSpPr>
        <p:spPr bwMode="auto">
          <a:xfrm>
            <a:off x="3873500" y="1176073"/>
            <a:ext cx="698500" cy="499269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79388" y="5731566"/>
            <a:ext cx="56231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注意：局部剖视使用波浪线作为分界线。</a:t>
            </a:r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6192085" y="3497835"/>
            <a:ext cx="2146545" cy="2416474"/>
            <a:chOff x="1900" y="926"/>
            <a:chExt cx="2223" cy="2252"/>
          </a:xfrm>
        </p:grpSpPr>
        <p:grpSp>
          <p:nvGrpSpPr>
            <p:cNvPr id="9" name="Group 5"/>
            <p:cNvGrpSpPr>
              <a:grpSpLocks/>
            </p:cNvGrpSpPr>
            <p:nvPr/>
          </p:nvGrpSpPr>
          <p:grpSpPr bwMode="auto">
            <a:xfrm>
              <a:off x="1900" y="926"/>
              <a:ext cx="2223" cy="2252"/>
              <a:chOff x="1900" y="926"/>
              <a:chExt cx="2223" cy="2252"/>
            </a:xfrm>
          </p:grpSpPr>
          <p:grpSp>
            <p:nvGrpSpPr>
              <p:cNvPr id="12" name="Group 6"/>
              <p:cNvGrpSpPr>
                <a:grpSpLocks/>
              </p:cNvGrpSpPr>
              <p:nvPr/>
            </p:nvGrpSpPr>
            <p:grpSpPr bwMode="auto">
              <a:xfrm>
                <a:off x="1997" y="926"/>
                <a:ext cx="2032" cy="970"/>
                <a:chOff x="1997" y="2030"/>
                <a:chExt cx="2032" cy="970"/>
              </a:xfrm>
            </p:grpSpPr>
            <p:sp>
              <p:nvSpPr>
                <p:cNvPr id="20" name="Rectangle 7"/>
                <p:cNvSpPr>
                  <a:spLocks noChangeArrowheads="1"/>
                </p:cNvSpPr>
                <p:nvPr/>
              </p:nvSpPr>
              <p:spPr bwMode="auto">
                <a:xfrm>
                  <a:off x="2953" y="2093"/>
                  <a:ext cx="1069" cy="839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21" name="Line 8"/>
                <p:cNvSpPr>
                  <a:spLocks noChangeShapeType="1"/>
                </p:cNvSpPr>
                <p:nvPr/>
              </p:nvSpPr>
              <p:spPr bwMode="auto">
                <a:xfrm>
                  <a:off x="3495" y="2030"/>
                  <a:ext cx="0" cy="97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" name="Line 9"/>
                <p:cNvSpPr>
                  <a:spLocks noChangeShapeType="1"/>
                </p:cNvSpPr>
                <p:nvPr/>
              </p:nvSpPr>
              <p:spPr bwMode="auto">
                <a:xfrm>
                  <a:off x="3846" y="2093"/>
                  <a:ext cx="0" cy="839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" name="Rectangle 10"/>
                <p:cNvSpPr>
                  <a:spLocks noChangeArrowheads="1"/>
                </p:cNvSpPr>
                <p:nvPr/>
              </p:nvSpPr>
              <p:spPr bwMode="auto">
                <a:xfrm>
                  <a:off x="2914" y="2342"/>
                  <a:ext cx="81" cy="30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24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1997" y="2342"/>
                  <a:ext cx="1093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Line 12"/>
                <p:cNvSpPr>
                  <a:spLocks noChangeShapeType="1"/>
                </p:cNvSpPr>
                <p:nvPr/>
              </p:nvSpPr>
              <p:spPr bwMode="auto">
                <a:xfrm flipH="1">
                  <a:off x="1997" y="2654"/>
                  <a:ext cx="1089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Line 13"/>
                <p:cNvSpPr>
                  <a:spLocks noChangeShapeType="1"/>
                </p:cNvSpPr>
                <p:nvPr/>
              </p:nvSpPr>
              <p:spPr bwMode="auto">
                <a:xfrm>
                  <a:off x="3094" y="2342"/>
                  <a:ext cx="0" cy="32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3847" y="2095"/>
                  <a:ext cx="131" cy="13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3847" y="2182"/>
                  <a:ext cx="167" cy="167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" name="Freeform 16"/>
                <p:cNvSpPr>
                  <a:spLocks/>
                </p:cNvSpPr>
                <p:nvPr/>
              </p:nvSpPr>
              <p:spPr bwMode="auto">
                <a:xfrm>
                  <a:off x="3854" y="2298"/>
                  <a:ext cx="175" cy="176"/>
                </a:xfrm>
                <a:custGeom>
                  <a:avLst/>
                  <a:gdLst>
                    <a:gd name="T0" fmla="*/ 0 w 175"/>
                    <a:gd name="T1" fmla="*/ 176 h 176"/>
                    <a:gd name="T2" fmla="*/ 175 w 175"/>
                    <a:gd name="T3" fmla="*/ 0 h 17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75" h="176">
                      <a:moveTo>
                        <a:pt x="0" y="176"/>
                      </a:moveTo>
                      <a:lnTo>
                        <a:pt x="175" y="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" name="Freeform 17"/>
                <p:cNvSpPr>
                  <a:spLocks/>
                </p:cNvSpPr>
                <p:nvPr/>
              </p:nvSpPr>
              <p:spPr bwMode="auto">
                <a:xfrm>
                  <a:off x="3847" y="2425"/>
                  <a:ext cx="178" cy="180"/>
                </a:xfrm>
                <a:custGeom>
                  <a:avLst/>
                  <a:gdLst>
                    <a:gd name="T0" fmla="*/ 0 w 189"/>
                    <a:gd name="T1" fmla="*/ 160 h 191"/>
                    <a:gd name="T2" fmla="*/ 158 w 189"/>
                    <a:gd name="T3" fmla="*/ 0 h 19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89" h="191">
                      <a:moveTo>
                        <a:pt x="0" y="191"/>
                      </a:moveTo>
                      <a:lnTo>
                        <a:pt x="189" y="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3847" y="2559"/>
                  <a:ext cx="168" cy="16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19"/>
                <p:cNvSpPr>
                  <a:spLocks/>
                </p:cNvSpPr>
                <p:nvPr/>
              </p:nvSpPr>
              <p:spPr bwMode="auto">
                <a:xfrm>
                  <a:off x="3847" y="2662"/>
                  <a:ext cx="182" cy="182"/>
                </a:xfrm>
                <a:custGeom>
                  <a:avLst/>
                  <a:gdLst>
                    <a:gd name="T0" fmla="*/ 0 w 182"/>
                    <a:gd name="T1" fmla="*/ 182 h 182"/>
                    <a:gd name="T2" fmla="*/ 182 w 182"/>
                    <a:gd name="T3" fmla="*/ 0 h 18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82" h="182">
                      <a:moveTo>
                        <a:pt x="0" y="182"/>
                      </a:moveTo>
                      <a:lnTo>
                        <a:pt x="182" y="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" name="Freeform 20"/>
                <p:cNvSpPr>
                  <a:spLocks/>
                </p:cNvSpPr>
                <p:nvPr/>
              </p:nvSpPr>
              <p:spPr bwMode="auto">
                <a:xfrm>
                  <a:off x="3876" y="2778"/>
                  <a:ext cx="145" cy="153"/>
                </a:xfrm>
                <a:custGeom>
                  <a:avLst/>
                  <a:gdLst>
                    <a:gd name="T0" fmla="*/ 0 w 145"/>
                    <a:gd name="T1" fmla="*/ 153 h 153"/>
                    <a:gd name="T2" fmla="*/ 145 w 145"/>
                    <a:gd name="T3" fmla="*/ 0 h 15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45" h="153">
                      <a:moveTo>
                        <a:pt x="0" y="153"/>
                      </a:moveTo>
                      <a:lnTo>
                        <a:pt x="145" y="0"/>
                      </a:lnTo>
                    </a:path>
                  </a:pathLst>
                </a:cu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Freeform 21"/>
                <p:cNvSpPr>
                  <a:spLocks/>
                </p:cNvSpPr>
                <p:nvPr/>
              </p:nvSpPr>
              <p:spPr bwMode="auto">
                <a:xfrm>
                  <a:off x="3985" y="2895"/>
                  <a:ext cx="36" cy="36"/>
                </a:xfrm>
                <a:custGeom>
                  <a:avLst/>
                  <a:gdLst>
                    <a:gd name="T0" fmla="*/ 0 w 36"/>
                    <a:gd name="T1" fmla="*/ 36 h 36"/>
                    <a:gd name="T2" fmla="*/ 36 w 36"/>
                    <a:gd name="T3" fmla="*/ 0 h 3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6" h="36">
                      <a:moveTo>
                        <a:pt x="0" y="36"/>
                      </a:moveTo>
                      <a:lnTo>
                        <a:pt x="36" y="0"/>
                      </a:lnTo>
                    </a:path>
                  </a:pathLst>
                </a:custGeom>
                <a:noFill/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Line 22"/>
                <p:cNvSpPr>
                  <a:spLocks noChangeShapeType="1"/>
                </p:cNvSpPr>
                <p:nvPr/>
              </p:nvSpPr>
              <p:spPr bwMode="auto">
                <a:xfrm>
                  <a:off x="1997" y="2342"/>
                  <a:ext cx="0" cy="31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Group 23"/>
              <p:cNvGrpSpPr>
                <a:grpSpLocks/>
              </p:cNvGrpSpPr>
              <p:nvPr/>
            </p:nvGrpSpPr>
            <p:grpSpPr bwMode="auto">
              <a:xfrm>
                <a:off x="1900" y="1917"/>
                <a:ext cx="2223" cy="1261"/>
                <a:chOff x="1900" y="1917"/>
                <a:chExt cx="2223" cy="1261"/>
              </a:xfrm>
            </p:grpSpPr>
            <p:sp>
              <p:nvSpPr>
                <p:cNvPr id="14" name="Line 24"/>
                <p:cNvSpPr>
                  <a:spLocks noChangeShapeType="1"/>
                </p:cNvSpPr>
                <p:nvPr/>
              </p:nvSpPr>
              <p:spPr bwMode="auto">
                <a:xfrm>
                  <a:off x="3495" y="1917"/>
                  <a:ext cx="0" cy="126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2334" y="2236"/>
                  <a:ext cx="761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2334" y="2882"/>
                  <a:ext cx="756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" name="Line 27"/>
                <p:cNvSpPr>
                  <a:spLocks noChangeShapeType="1"/>
                </p:cNvSpPr>
                <p:nvPr/>
              </p:nvSpPr>
              <p:spPr bwMode="auto">
                <a:xfrm>
                  <a:off x="2334" y="2090"/>
                  <a:ext cx="0" cy="946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" name="Arc 28"/>
                <p:cNvSpPr>
                  <a:spLocks/>
                </p:cNvSpPr>
                <p:nvPr/>
              </p:nvSpPr>
              <p:spPr bwMode="auto">
                <a:xfrm flipH="1">
                  <a:off x="1999" y="2237"/>
                  <a:ext cx="338" cy="644"/>
                </a:xfrm>
                <a:custGeom>
                  <a:avLst/>
                  <a:gdLst>
                    <a:gd name="T0" fmla="*/ 0 w 22009"/>
                    <a:gd name="T1" fmla="*/ 0 h 43200"/>
                    <a:gd name="T2" fmla="*/ 0 w 22009"/>
                    <a:gd name="T3" fmla="*/ 0 h 43200"/>
                    <a:gd name="T4" fmla="*/ 0 w 22009"/>
                    <a:gd name="T5" fmla="*/ 0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2009" h="43200" fill="none" extrusionOk="0">
                      <a:moveTo>
                        <a:pt x="409" y="0"/>
                      </a:moveTo>
                      <a:cubicBezTo>
                        <a:pt x="12338" y="0"/>
                        <a:pt x="22009" y="9670"/>
                        <a:pt x="22009" y="21600"/>
                      </a:cubicBezTo>
                      <a:cubicBezTo>
                        <a:pt x="22009" y="33529"/>
                        <a:pt x="12338" y="43200"/>
                        <a:pt x="409" y="43200"/>
                      </a:cubicBezTo>
                      <a:cubicBezTo>
                        <a:pt x="272" y="43200"/>
                        <a:pt x="136" y="43198"/>
                        <a:pt x="-1" y="43196"/>
                      </a:cubicBezTo>
                    </a:path>
                    <a:path w="22009" h="43200" stroke="0" extrusionOk="0">
                      <a:moveTo>
                        <a:pt x="409" y="0"/>
                      </a:moveTo>
                      <a:cubicBezTo>
                        <a:pt x="12338" y="0"/>
                        <a:pt x="22009" y="9670"/>
                        <a:pt x="22009" y="21600"/>
                      </a:cubicBezTo>
                      <a:cubicBezTo>
                        <a:pt x="22009" y="33529"/>
                        <a:pt x="12338" y="43200"/>
                        <a:pt x="409" y="43200"/>
                      </a:cubicBezTo>
                      <a:cubicBezTo>
                        <a:pt x="272" y="43200"/>
                        <a:pt x="136" y="43198"/>
                        <a:pt x="-1" y="43196"/>
                      </a:cubicBezTo>
                      <a:lnTo>
                        <a:pt x="409" y="21600"/>
                      </a:lnTo>
                      <a:lnTo>
                        <a:pt x="409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Line 29"/>
                <p:cNvSpPr>
                  <a:spLocks noChangeShapeType="1"/>
                </p:cNvSpPr>
                <p:nvPr/>
              </p:nvSpPr>
              <p:spPr bwMode="auto">
                <a:xfrm>
                  <a:off x="1900" y="2559"/>
                  <a:ext cx="2223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" name="Oval 30"/>
            <p:cNvSpPr>
              <a:spLocks noChangeArrowheads="1"/>
            </p:cNvSpPr>
            <p:nvPr/>
          </p:nvSpPr>
          <p:spPr bwMode="auto">
            <a:xfrm>
              <a:off x="3141" y="2205"/>
              <a:ext cx="702" cy="70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1" name="Oval 31"/>
            <p:cNvSpPr>
              <a:spLocks noChangeArrowheads="1"/>
            </p:cNvSpPr>
            <p:nvPr/>
          </p:nvSpPr>
          <p:spPr bwMode="auto">
            <a:xfrm>
              <a:off x="2961" y="2025"/>
              <a:ext cx="1062" cy="106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36" name="Text Box 2"/>
          <p:cNvSpPr txBox="1">
            <a:spLocks noChangeArrowheads="1"/>
          </p:cNvSpPr>
          <p:nvPr/>
        </p:nvSpPr>
        <p:spPr bwMode="auto">
          <a:xfrm>
            <a:off x="5875830" y="5948845"/>
            <a:ext cx="324860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latin typeface="黑体" pitchFamily="2" charset="-122"/>
                <a:ea typeface="黑体" pitchFamily="2" charset="-122"/>
              </a:rPr>
              <a:t>当被剖结构为回转体时，允许将其中心线作局部剖视的分界线。</a:t>
            </a:r>
          </a:p>
        </p:txBody>
      </p:sp>
      <p:sp>
        <p:nvSpPr>
          <p:cNvPr id="37" name="Oval 6"/>
          <p:cNvSpPr>
            <a:spLocks noChangeArrowheads="1"/>
          </p:cNvSpPr>
          <p:nvPr/>
        </p:nvSpPr>
        <p:spPr bwMode="auto">
          <a:xfrm>
            <a:off x="2942155" y="52816"/>
            <a:ext cx="1765311" cy="499269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8" grpId="0" animBg="1"/>
      <p:bldP spid="6" grpId="0" animBg="1"/>
      <p:bldP spid="7" grpId="0"/>
      <p:bldP spid="36" grpId="0"/>
      <p:bldP spid="3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809" r="-7710"/>
          <a:stretch>
            <a:fillRect/>
          </a:stretch>
        </p:blipFill>
        <p:spPr bwMode="auto">
          <a:xfrm>
            <a:off x="1403350" y="981075"/>
            <a:ext cx="5832475" cy="30749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4-1-2-18  作主视图并在其上取适当的局部剖视。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>
            <a:fillRect/>
          </a:stretch>
        </p:blipFill>
        <p:spPr bwMode="auto">
          <a:xfrm>
            <a:off x="2195513" y="476250"/>
            <a:ext cx="4764087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4-1-2-19  </a:t>
            </a:r>
            <a:r>
              <a:rPr lang="zh-CN" altLang="en-US" sz="1600" b="1">
                <a:latin typeface="宋体" pitchFamily="2" charset="-122"/>
              </a:rPr>
              <a:t>作主视图，在其上取</a:t>
            </a:r>
            <a:r>
              <a:rPr lang="en-US" altLang="zh-CN" sz="1600" b="1">
                <a:latin typeface="宋体" pitchFamily="2" charset="-122"/>
              </a:rPr>
              <a:t>A-A</a:t>
            </a:r>
            <a:r>
              <a:rPr lang="zh-CN" altLang="en-US" sz="1600" b="1">
                <a:latin typeface="宋体" pitchFamily="2" charset="-122"/>
              </a:rPr>
              <a:t>旋转剖（画在中间的图上）。</a:t>
            </a:r>
          </a:p>
        </p:txBody>
      </p:sp>
      <p:sp>
        <p:nvSpPr>
          <p:cNvPr id="20484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1666162 w 21600"/>
              <a:gd name="T1" fmla="*/ 0 h 21600"/>
              <a:gd name="T2" fmla="*/ 3332311 w 21600"/>
              <a:gd name="T3" fmla="*/ 3140020 h 21600"/>
              <a:gd name="T4" fmla="*/ 1666162 w 21600"/>
              <a:gd name="T5" fmla="*/ 7060638 h 21600"/>
              <a:gd name="T6" fmla="*/ 0 w 21600"/>
              <a:gd name="T7" fmla="*/ 3140020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542" name="Oval 6"/>
          <p:cNvSpPr>
            <a:spLocks noChangeArrowheads="1"/>
          </p:cNvSpPr>
          <p:nvPr/>
        </p:nvSpPr>
        <p:spPr bwMode="auto">
          <a:xfrm>
            <a:off x="3741738" y="2239963"/>
            <a:ext cx="923925" cy="40005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463" r="-17938"/>
          <a:stretch>
            <a:fillRect/>
          </a:stretch>
        </p:blipFill>
        <p:spPr bwMode="auto">
          <a:xfrm>
            <a:off x="1547813" y="1412875"/>
            <a:ext cx="5400675" cy="22209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4-1-2-19  </a:t>
            </a:r>
            <a:r>
              <a:rPr lang="zh-CN" altLang="en-US" sz="1600" b="1">
                <a:latin typeface="宋体" pitchFamily="2" charset="-122"/>
              </a:rPr>
              <a:t>作主视图，在其上取</a:t>
            </a:r>
            <a:r>
              <a:rPr lang="en-US" altLang="zh-CN" sz="1600" b="1">
                <a:latin typeface="宋体" pitchFamily="2" charset="-122"/>
              </a:rPr>
              <a:t>A-A</a:t>
            </a:r>
            <a:r>
              <a:rPr lang="zh-CN" altLang="en-US" sz="1600" b="1">
                <a:latin typeface="宋体" pitchFamily="2" charset="-122"/>
              </a:rPr>
              <a:t>旋转剖（画在中间的图上）。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5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4-1-2-20  </a:t>
            </a:r>
            <a:r>
              <a:rPr lang="zh-CN" altLang="en-US" sz="1600" b="1">
                <a:latin typeface="宋体" pitchFamily="2" charset="-122"/>
              </a:rPr>
              <a:t>作左视图，在其上取</a:t>
            </a:r>
            <a:r>
              <a:rPr lang="en-US" altLang="zh-CN" sz="1600" b="1">
                <a:latin typeface="宋体" pitchFamily="2" charset="-122"/>
              </a:rPr>
              <a:t>A-A</a:t>
            </a:r>
            <a:r>
              <a:rPr lang="zh-CN" altLang="en-US" sz="1600" b="1">
                <a:latin typeface="宋体" pitchFamily="2" charset="-122"/>
              </a:rPr>
              <a:t>旋转剖。</a:t>
            </a:r>
          </a:p>
        </p:txBody>
      </p:sp>
      <p:sp>
        <p:nvSpPr>
          <p:cNvPr id="22531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1666162 w 21600"/>
              <a:gd name="T1" fmla="*/ 0 h 21600"/>
              <a:gd name="T2" fmla="*/ 3332311 w 21600"/>
              <a:gd name="T3" fmla="*/ 3140020 h 21600"/>
              <a:gd name="T4" fmla="*/ 1666162 w 21600"/>
              <a:gd name="T5" fmla="*/ 7060638 h 21600"/>
              <a:gd name="T6" fmla="*/ 0 w 21600"/>
              <a:gd name="T7" fmla="*/ 3140020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2532" name="Picture 5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09" t="18262" r="37891" b="28418"/>
          <a:stretch>
            <a:fillRect/>
          </a:stretch>
        </p:blipFill>
        <p:spPr bwMode="auto">
          <a:xfrm>
            <a:off x="876300" y="647700"/>
            <a:ext cx="6532563" cy="586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10"/>
          <p:cNvSpPr>
            <a:spLocks noChangeArrowheads="1"/>
          </p:cNvSpPr>
          <p:nvPr/>
        </p:nvSpPr>
        <p:spPr bwMode="auto">
          <a:xfrm>
            <a:off x="6141154" y="1535288"/>
            <a:ext cx="1248305" cy="37606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6" name="Oval 10"/>
          <p:cNvSpPr>
            <a:spLocks noChangeArrowheads="1"/>
          </p:cNvSpPr>
          <p:nvPr/>
        </p:nvSpPr>
        <p:spPr bwMode="auto">
          <a:xfrm>
            <a:off x="6067774" y="852302"/>
            <a:ext cx="1248305" cy="37606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5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61" t="25114" r="19922" b="21875"/>
          <a:stretch>
            <a:fillRect/>
          </a:stretch>
        </p:blipFill>
        <p:spPr bwMode="auto">
          <a:xfrm>
            <a:off x="169863" y="242888"/>
            <a:ext cx="4275137" cy="422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5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69" t="24463" r="17929" b="22527"/>
          <a:stretch>
            <a:fillRect/>
          </a:stretch>
        </p:blipFill>
        <p:spPr bwMode="auto">
          <a:xfrm>
            <a:off x="4646613" y="2481263"/>
            <a:ext cx="4111625" cy="416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0"/>
          <a:stretch>
            <a:fillRect/>
          </a:stretch>
        </p:blipFill>
        <p:spPr bwMode="auto">
          <a:xfrm>
            <a:off x="2195513" y="549275"/>
            <a:ext cx="4781550" cy="611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4-1-2-21  </a:t>
            </a:r>
            <a:r>
              <a:rPr lang="zh-CN" altLang="en-US" sz="1600" b="1">
                <a:latin typeface="宋体" pitchFamily="2" charset="-122"/>
              </a:rPr>
              <a:t>作主视图，在其上取</a:t>
            </a:r>
            <a:r>
              <a:rPr lang="en-US" altLang="zh-CN" sz="1600" b="1">
                <a:latin typeface="宋体" pitchFamily="2" charset="-122"/>
              </a:rPr>
              <a:t>A-A</a:t>
            </a:r>
            <a:r>
              <a:rPr lang="zh-CN" altLang="en-US" sz="1600" b="1">
                <a:latin typeface="宋体" pitchFamily="2" charset="-122"/>
              </a:rPr>
              <a:t>阶梯剖。 </a:t>
            </a:r>
          </a:p>
        </p:txBody>
      </p:sp>
      <p:sp>
        <p:nvSpPr>
          <p:cNvPr id="24580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1666162 w 21600"/>
              <a:gd name="T1" fmla="*/ 0 h 21600"/>
              <a:gd name="T2" fmla="*/ 3332311 w 21600"/>
              <a:gd name="T3" fmla="*/ 3140020 h 21600"/>
              <a:gd name="T4" fmla="*/ 1666162 w 21600"/>
              <a:gd name="T5" fmla="*/ 7060638 h 21600"/>
              <a:gd name="T6" fmla="*/ 0 w 21600"/>
              <a:gd name="T7" fmla="*/ 3140020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Oval 10"/>
          <p:cNvSpPr>
            <a:spLocks noChangeArrowheads="1"/>
          </p:cNvSpPr>
          <p:nvPr/>
        </p:nvSpPr>
        <p:spPr bwMode="auto">
          <a:xfrm>
            <a:off x="2328863" y="1939925"/>
            <a:ext cx="1527175" cy="784225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609"/>
          <a:stretch>
            <a:fillRect/>
          </a:stretch>
        </p:blipFill>
        <p:spPr bwMode="auto">
          <a:xfrm>
            <a:off x="1331913" y="908050"/>
            <a:ext cx="5502275" cy="3386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4-1-2-21  </a:t>
            </a:r>
            <a:r>
              <a:rPr lang="zh-CN" altLang="en-US" sz="1600" b="1">
                <a:latin typeface="宋体" pitchFamily="2" charset="-122"/>
              </a:rPr>
              <a:t>作主视图，在其上取</a:t>
            </a:r>
            <a:r>
              <a:rPr lang="en-US" altLang="zh-CN" sz="1600" b="1">
                <a:latin typeface="宋体" pitchFamily="2" charset="-122"/>
              </a:rPr>
              <a:t>A-A</a:t>
            </a:r>
            <a:r>
              <a:rPr lang="zh-CN" altLang="en-US" sz="1600" b="1">
                <a:latin typeface="宋体" pitchFamily="2" charset="-122"/>
              </a:rPr>
              <a:t>阶梯剖。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4-1-2-22  </a:t>
            </a:r>
            <a:r>
              <a:rPr lang="zh-CN" altLang="en-US" sz="1600" b="1">
                <a:latin typeface="宋体" pitchFamily="2" charset="-122"/>
              </a:rPr>
              <a:t>作俯视图取适当的阶梯剖，将</a:t>
            </a:r>
            <a:r>
              <a:rPr lang="en-US" altLang="zh-CN" sz="1600" b="1">
                <a:latin typeface="宋体" pitchFamily="2" charset="-122"/>
              </a:rPr>
              <a:t>A-A</a:t>
            </a:r>
            <a:r>
              <a:rPr lang="zh-CN" altLang="en-US" sz="1600" b="1">
                <a:latin typeface="宋体" pitchFamily="2" charset="-122"/>
              </a:rPr>
              <a:t>未剖到的孔表示出来。</a:t>
            </a:r>
          </a:p>
        </p:txBody>
      </p:sp>
      <p:sp>
        <p:nvSpPr>
          <p:cNvPr id="26627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1666162 w 21600"/>
              <a:gd name="T1" fmla="*/ 0 h 21600"/>
              <a:gd name="T2" fmla="*/ 3332311 w 21600"/>
              <a:gd name="T3" fmla="*/ 3140020 h 21600"/>
              <a:gd name="T4" fmla="*/ 1666162 w 21600"/>
              <a:gd name="T5" fmla="*/ 7060638 h 21600"/>
              <a:gd name="T6" fmla="*/ 0 w 21600"/>
              <a:gd name="T7" fmla="*/ 3140020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662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9824" r="29401" b="24788"/>
          <a:stretch>
            <a:fillRect/>
          </a:stretch>
        </p:blipFill>
        <p:spPr bwMode="auto">
          <a:xfrm>
            <a:off x="1125538" y="738188"/>
            <a:ext cx="7083425" cy="540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6" name="Oval 8"/>
          <p:cNvSpPr>
            <a:spLocks noChangeArrowheads="1"/>
          </p:cNvSpPr>
          <p:nvPr/>
        </p:nvSpPr>
        <p:spPr bwMode="auto">
          <a:xfrm>
            <a:off x="4338637" y="5665788"/>
            <a:ext cx="673629" cy="536575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68618" name="Oval 10"/>
          <p:cNvSpPr>
            <a:spLocks noChangeArrowheads="1"/>
          </p:cNvSpPr>
          <p:nvPr/>
        </p:nvSpPr>
        <p:spPr bwMode="auto">
          <a:xfrm>
            <a:off x="3836988" y="2006600"/>
            <a:ext cx="617537" cy="536575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2104453" y="66422"/>
            <a:ext cx="1434275" cy="536575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6" grpId="0" animBg="1"/>
      <p:bldP spid="68618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3683" r="-28748"/>
          <a:stretch>
            <a:fillRect/>
          </a:stretch>
        </p:blipFill>
        <p:spPr bwMode="auto">
          <a:xfrm>
            <a:off x="1763713" y="981075"/>
            <a:ext cx="5113337" cy="31686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4-1-2-22  </a:t>
            </a:r>
            <a:r>
              <a:rPr lang="zh-CN" altLang="en-US" sz="1600" b="1">
                <a:latin typeface="宋体" pitchFamily="2" charset="-122"/>
              </a:rPr>
              <a:t>作俯视图取适当的阶梯剖，将</a:t>
            </a:r>
            <a:r>
              <a:rPr lang="en-US" altLang="zh-CN" sz="1600" b="1">
                <a:latin typeface="宋体" pitchFamily="2" charset="-122"/>
              </a:rPr>
              <a:t>A-A</a:t>
            </a:r>
            <a:r>
              <a:rPr lang="zh-CN" altLang="en-US" sz="1600" b="1">
                <a:latin typeface="宋体" pitchFamily="2" charset="-122"/>
              </a:rPr>
              <a:t>未剖到的孔表示出来。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>
            <a:fillRect/>
          </a:stretch>
        </p:blipFill>
        <p:spPr bwMode="auto">
          <a:xfrm>
            <a:off x="1979613" y="476250"/>
            <a:ext cx="4764087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*4-1-2-23  </a:t>
            </a:r>
            <a:r>
              <a:rPr lang="zh-CN" altLang="en-US" sz="1600" b="1">
                <a:latin typeface="宋体" pitchFamily="2" charset="-122"/>
              </a:rPr>
              <a:t>作</a:t>
            </a:r>
            <a:r>
              <a:rPr lang="en-US" altLang="zh-CN" sz="1600" b="1">
                <a:latin typeface="宋体" pitchFamily="2" charset="-122"/>
              </a:rPr>
              <a:t>A-A</a:t>
            </a:r>
            <a:r>
              <a:rPr lang="zh-CN" altLang="en-US" sz="1600" b="1">
                <a:latin typeface="宋体" pitchFamily="2" charset="-122"/>
              </a:rPr>
              <a:t>斜剖的全剖视图，并作</a:t>
            </a:r>
            <a:r>
              <a:rPr lang="en-US" altLang="zh-CN" sz="1600" b="1">
                <a:latin typeface="宋体" pitchFamily="2" charset="-122"/>
              </a:rPr>
              <a:t>B-B</a:t>
            </a:r>
            <a:r>
              <a:rPr lang="zh-CN" altLang="en-US" sz="1600" b="1">
                <a:latin typeface="宋体" pitchFamily="2" charset="-122"/>
              </a:rPr>
              <a:t>全剖视图。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*4-1-2-23  </a:t>
            </a:r>
            <a:r>
              <a:rPr lang="zh-CN" altLang="en-US" sz="1600" b="1">
                <a:latin typeface="宋体" pitchFamily="2" charset="-122"/>
              </a:rPr>
              <a:t>作</a:t>
            </a:r>
            <a:r>
              <a:rPr lang="en-US" altLang="zh-CN" sz="1600" b="1">
                <a:latin typeface="宋体" pitchFamily="2" charset="-122"/>
              </a:rPr>
              <a:t>A-A</a:t>
            </a:r>
            <a:r>
              <a:rPr lang="zh-CN" altLang="en-US" sz="1600" b="1">
                <a:latin typeface="宋体" pitchFamily="2" charset="-122"/>
              </a:rPr>
              <a:t>斜剖的全剖视图，并作</a:t>
            </a:r>
            <a:r>
              <a:rPr lang="en-US" altLang="zh-CN" sz="1600" b="1">
                <a:latin typeface="宋体" pitchFamily="2" charset="-122"/>
              </a:rPr>
              <a:t>B-B</a:t>
            </a:r>
            <a:r>
              <a:rPr lang="zh-CN" altLang="en-US" sz="1600" b="1">
                <a:latin typeface="宋体" pitchFamily="2" charset="-122"/>
              </a:rPr>
              <a:t>全剖视图。</a:t>
            </a:r>
          </a:p>
        </p:txBody>
      </p:sp>
      <p:pic>
        <p:nvPicPr>
          <p:cNvPr id="2969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202"/>
          <a:stretch>
            <a:fillRect/>
          </a:stretch>
        </p:blipFill>
        <p:spPr bwMode="auto">
          <a:xfrm>
            <a:off x="1187450" y="765175"/>
            <a:ext cx="7272338" cy="37004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>
            <a:fillRect/>
          </a:stretch>
        </p:blipFill>
        <p:spPr bwMode="auto">
          <a:xfrm>
            <a:off x="2195513" y="476250"/>
            <a:ext cx="4746625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*4-1-2-24  </a:t>
            </a:r>
            <a:r>
              <a:rPr lang="zh-CN" altLang="en-US" sz="1600" b="1">
                <a:latin typeface="宋体" pitchFamily="2" charset="-122"/>
              </a:rPr>
              <a:t>作左视图，在其上取</a:t>
            </a:r>
            <a:r>
              <a:rPr lang="en-US" altLang="zh-CN" sz="1600" b="1">
                <a:latin typeface="宋体" pitchFamily="2" charset="-122"/>
              </a:rPr>
              <a:t>A-A</a:t>
            </a:r>
            <a:r>
              <a:rPr lang="zh-CN" altLang="en-US" sz="1600" b="1">
                <a:latin typeface="宋体" pitchFamily="2" charset="-122"/>
              </a:rPr>
              <a:t>复合剖。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*4-1-2-24  </a:t>
            </a:r>
            <a:r>
              <a:rPr lang="zh-CN" altLang="en-US" sz="1600" b="1">
                <a:latin typeface="宋体" pitchFamily="2" charset="-122"/>
              </a:rPr>
              <a:t>作左视图，在其上取</a:t>
            </a:r>
            <a:r>
              <a:rPr lang="en-US" altLang="zh-CN" sz="1600" b="1">
                <a:latin typeface="宋体" pitchFamily="2" charset="-122"/>
              </a:rPr>
              <a:t>A-A</a:t>
            </a:r>
            <a:r>
              <a:rPr lang="zh-CN" altLang="en-US" sz="1600" b="1">
                <a:latin typeface="宋体" pitchFamily="2" charset="-122"/>
              </a:rPr>
              <a:t>复合剖。</a:t>
            </a:r>
          </a:p>
        </p:txBody>
      </p:sp>
      <p:pic>
        <p:nvPicPr>
          <p:cNvPr id="3174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673"/>
          <a:stretch>
            <a:fillRect/>
          </a:stretch>
        </p:blipFill>
        <p:spPr bwMode="auto">
          <a:xfrm>
            <a:off x="1258888" y="620713"/>
            <a:ext cx="5761037" cy="4679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4"/>
          <a:stretch>
            <a:fillRect/>
          </a:stretch>
        </p:blipFill>
        <p:spPr bwMode="auto">
          <a:xfrm>
            <a:off x="2051050" y="633413"/>
            <a:ext cx="4786313" cy="568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4-1-3-1  作移出断面图，将通孔和键槽表示清楚。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32772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1666162 w 21600"/>
              <a:gd name="T1" fmla="*/ 0 h 21600"/>
              <a:gd name="T2" fmla="*/ 3332311 w 21600"/>
              <a:gd name="T3" fmla="*/ 3140020 h 21600"/>
              <a:gd name="T4" fmla="*/ 1666162 w 21600"/>
              <a:gd name="T5" fmla="*/ 7060638 h 21600"/>
              <a:gd name="T6" fmla="*/ 0 w 21600"/>
              <a:gd name="T7" fmla="*/ 3140020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Oval 10"/>
          <p:cNvSpPr>
            <a:spLocks noChangeArrowheads="1"/>
          </p:cNvSpPr>
          <p:nvPr/>
        </p:nvSpPr>
        <p:spPr bwMode="auto">
          <a:xfrm>
            <a:off x="2528712" y="3293534"/>
            <a:ext cx="553156" cy="536575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6" name="Oval 10"/>
          <p:cNvSpPr>
            <a:spLocks noChangeArrowheads="1"/>
          </p:cNvSpPr>
          <p:nvPr/>
        </p:nvSpPr>
        <p:spPr bwMode="auto">
          <a:xfrm>
            <a:off x="5232401" y="2756959"/>
            <a:ext cx="553156" cy="536575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4-1-3-1  作移出断面图，将通孔和键槽表示清楚。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3379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812"/>
          <a:stretch>
            <a:fillRect/>
          </a:stretch>
        </p:blipFill>
        <p:spPr bwMode="auto">
          <a:xfrm>
            <a:off x="1403350" y="908050"/>
            <a:ext cx="5938838" cy="38449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>
            <a:fillRect/>
          </a:stretch>
        </p:blipFill>
        <p:spPr bwMode="auto">
          <a:xfrm>
            <a:off x="2195513" y="476250"/>
            <a:ext cx="4735512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4-1-3-2  </a:t>
            </a:r>
            <a:r>
              <a:rPr lang="zh-CN" altLang="en-US" sz="1600" b="1">
                <a:latin typeface="宋体" pitchFamily="2" charset="-122"/>
              </a:rPr>
              <a:t>在主视图上取半剖视，并作</a:t>
            </a:r>
            <a:r>
              <a:rPr lang="en-US" altLang="zh-CN" sz="1600" b="1">
                <a:latin typeface="宋体" pitchFamily="2" charset="-122"/>
              </a:rPr>
              <a:t>A-A</a:t>
            </a:r>
            <a:r>
              <a:rPr lang="zh-CN" altLang="en-US" sz="1600" b="1">
                <a:latin typeface="宋体" pitchFamily="2" charset="-122"/>
              </a:rPr>
              <a:t>移出断面图。</a:t>
            </a:r>
          </a:p>
        </p:txBody>
      </p:sp>
      <p:sp>
        <p:nvSpPr>
          <p:cNvPr id="34820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1666162 w 21600"/>
              <a:gd name="T1" fmla="*/ 0 h 21600"/>
              <a:gd name="T2" fmla="*/ 3332311 w 21600"/>
              <a:gd name="T3" fmla="*/ 3140020 h 21600"/>
              <a:gd name="T4" fmla="*/ 1666162 w 21600"/>
              <a:gd name="T5" fmla="*/ 7060638 h 21600"/>
              <a:gd name="T6" fmla="*/ 0 w 21600"/>
              <a:gd name="T7" fmla="*/ 3140020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35" name="Oval 7"/>
          <p:cNvSpPr>
            <a:spLocks noChangeArrowheads="1"/>
          </p:cNvSpPr>
          <p:nvPr/>
        </p:nvSpPr>
        <p:spPr bwMode="auto">
          <a:xfrm>
            <a:off x="4443984" y="2560320"/>
            <a:ext cx="526479" cy="371793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73736" name="Oval 8"/>
          <p:cNvSpPr>
            <a:spLocks noChangeArrowheads="1"/>
          </p:cNvSpPr>
          <p:nvPr/>
        </p:nvSpPr>
        <p:spPr bwMode="auto">
          <a:xfrm>
            <a:off x="2667000" y="4017963"/>
            <a:ext cx="714375" cy="312737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7" name="Text Box 15"/>
          <p:cNvSpPr txBox="1">
            <a:spLocks noChangeArrowheads="1"/>
          </p:cNvSpPr>
          <p:nvPr/>
        </p:nvSpPr>
        <p:spPr bwMode="auto">
          <a:xfrm>
            <a:off x="4201224" y="5092080"/>
            <a:ext cx="4787328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肋不</a:t>
            </a:r>
            <a:r>
              <a:rPr lang="zh-CN" altLang="en-US" sz="24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剖</a:t>
            </a:r>
            <a:endParaRPr lang="en-US" altLang="zh-CN" sz="2400" b="1" dirty="0" smtClean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如果</a:t>
            </a:r>
            <a:r>
              <a:rPr lang="zh-CN" altLang="en-US" sz="20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剖切平面通过肋板</a:t>
            </a:r>
            <a:r>
              <a:rPr lang="zh-CN" altLang="en-US" sz="20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的对称面</a:t>
            </a:r>
            <a:r>
              <a:rPr lang="zh-CN" altLang="en-US" sz="20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时，肋板的剖面不画</a:t>
            </a:r>
            <a:r>
              <a:rPr lang="zh-CN" altLang="en-US" sz="20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剖面</a:t>
            </a:r>
            <a:r>
              <a:rPr lang="zh-CN" altLang="en-US" sz="20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线，且用粗实线将其与</a:t>
            </a:r>
            <a:r>
              <a:rPr lang="zh-CN" altLang="en-US" sz="20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相邻形体</a:t>
            </a:r>
            <a:r>
              <a:rPr lang="zh-CN" altLang="en-US" sz="20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分开。</a:t>
            </a: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3928872" y="2898616"/>
            <a:ext cx="263239" cy="371793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5" grpId="0" animBg="1"/>
      <p:bldP spid="73736" grpId="0" animBg="1"/>
      <p:bldP spid="7" grpId="0" autoUpdateAnimBg="0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168"/>
          <a:stretch>
            <a:fillRect/>
          </a:stretch>
        </p:blipFill>
        <p:spPr bwMode="auto">
          <a:xfrm>
            <a:off x="1331913" y="549275"/>
            <a:ext cx="5368925" cy="5006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4-1-3-2  </a:t>
            </a:r>
            <a:r>
              <a:rPr lang="zh-CN" altLang="en-US" sz="1600" b="1">
                <a:latin typeface="宋体" pitchFamily="2" charset="-122"/>
              </a:rPr>
              <a:t>在主视图上取半剖视，并作</a:t>
            </a:r>
            <a:r>
              <a:rPr lang="en-US" altLang="zh-CN" sz="1600" b="1">
                <a:latin typeface="宋体" pitchFamily="2" charset="-122"/>
              </a:rPr>
              <a:t>A-A</a:t>
            </a:r>
            <a:r>
              <a:rPr lang="zh-CN" altLang="en-US" sz="1600" b="1">
                <a:latin typeface="宋体" pitchFamily="2" charset="-122"/>
              </a:rPr>
              <a:t>移出断面图。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0"/>
          <a:stretch>
            <a:fillRect/>
          </a:stretch>
        </p:blipFill>
        <p:spPr bwMode="auto">
          <a:xfrm>
            <a:off x="2195513" y="549275"/>
            <a:ext cx="4764087" cy="611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4-1-3-3  作A-A移出断面。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4-1-3-3  作A-A移出断面。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3789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938"/>
          <a:stretch>
            <a:fillRect/>
          </a:stretch>
        </p:blipFill>
        <p:spPr bwMode="auto">
          <a:xfrm>
            <a:off x="1547813" y="549275"/>
            <a:ext cx="5762625" cy="46704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>
            <a:fillRect/>
          </a:stretch>
        </p:blipFill>
        <p:spPr bwMode="auto">
          <a:xfrm>
            <a:off x="2195513" y="476250"/>
            <a:ext cx="4764087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*4-1-3-4  </a:t>
            </a:r>
            <a:r>
              <a:rPr lang="zh-CN" altLang="en-US" sz="1600" b="1">
                <a:latin typeface="宋体" pitchFamily="2" charset="-122"/>
              </a:rPr>
              <a:t>将主视图改为全剖视图，将俯视图改为</a:t>
            </a:r>
            <a:r>
              <a:rPr lang="en-US" altLang="zh-CN" sz="1600" b="1">
                <a:latin typeface="宋体" pitchFamily="2" charset="-122"/>
              </a:rPr>
              <a:t>A-A</a:t>
            </a:r>
            <a:r>
              <a:rPr lang="zh-CN" altLang="en-US" sz="1600" b="1">
                <a:latin typeface="宋体" pitchFamily="2" charset="-122"/>
              </a:rPr>
              <a:t>半剖视图（画在右边细线图上）。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743"/>
          <a:stretch>
            <a:fillRect/>
          </a:stretch>
        </p:blipFill>
        <p:spPr bwMode="auto">
          <a:xfrm>
            <a:off x="1331913" y="1125538"/>
            <a:ext cx="6700837" cy="2711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*4-1-3-4  </a:t>
            </a:r>
            <a:r>
              <a:rPr lang="zh-CN" altLang="en-US" sz="1600" b="1">
                <a:latin typeface="宋体" pitchFamily="2" charset="-122"/>
              </a:rPr>
              <a:t>将主视图改为全剖视图，将俯视图改为</a:t>
            </a:r>
            <a:r>
              <a:rPr lang="en-US" altLang="zh-CN" sz="1600" b="1">
                <a:latin typeface="宋体" pitchFamily="2" charset="-122"/>
              </a:rPr>
              <a:t>A-A</a:t>
            </a:r>
            <a:r>
              <a:rPr lang="zh-CN" altLang="en-US" sz="1600" b="1">
                <a:latin typeface="宋体" pitchFamily="2" charset="-122"/>
              </a:rPr>
              <a:t>半剖视图（画在右边细线图上）。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2"/>
          <a:stretch>
            <a:fillRect/>
          </a:stretch>
        </p:blipFill>
        <p:spPr bwMode="auto">
          <a:xfrm>
            <a:off x="1331913" y="476250"/>
            <a:ext cx="6480175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*4-1-4-1  徒手画组合体的轴测剖视图（数格画）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*4-1-4-1  徒手画组合体的轴测剖视图（数格画）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4198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648"/>
          <a:stretch>
            <a:fillRect/>
          </a:stretch>
        </p:blipFill>
        <p:spPr bwMode="auto">
          <a:xfrm>
            <a:off x="1403350" y="692150"/>
            <a:ext cx="5132388" cy="42433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2"/>
          <a:stretch>
            <a:fillRect/>
          </a:stretch>
        </p:blipFill>
        <p:spPr bwMode="auto">
          <a:xfrm>
            <a:off x="1331913" y="476250"/>
            <a:ext cx="6480175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*4-1-4-2  徒手画组合体的轴测剖视图（数格画）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*4-1-4-2  徒手画组合体的轴测剖视图（数格画）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4403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099" r="-18300"/>
          <a:stretch>
            <a:fillRect/>
          </a:stretch>
        </p:blipFill>
        <p:spPr bwMode="auto">
          <a:xfrm>
            <a:off x="1476375" y="908050"/>
            <a:ext cx="5759450" cy="35290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>
            <a:fillRect/>
          </a:stretch>
        </p:blipFill>
        <p:spPr bwMode="auto">
          <a:xfrm>
            <a:off x="2195513" y="476250"/>
            <a:ext cx="4765675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*4-1-4-3 作顶视图（第三角画法）。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*4-1-4-3 作顶视图（第三角画法）。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4608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540" r="-23061"/>
          <a:stretch>
            <a:fillRect/>
          </a:stretch>
        </p:blipFill>
        <p:spPr bwMode="auto">
          <a:xfrm>
            <a:off x="1331913" y="836613"/>
            <a:ext cx="5976937" cy="32035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*4-1-4-4  </a:t>
            </a:r>
            <a:r>
              <a:rPr lang="zh-CN" altLang="en-US" sz="1600" b="1">
                <a:latin typeface="宋体" pitchFamily="2" charset="-122"/>
              </a:rPr>
              <a:t>作前视图，在其上作</a:t>
            </a:r>
            <a:r>
              <a:rPr lang="en-US" altLang="zh-CN" sz="1600" b="1">
                <a:latin typeface="宋体" pitchFamily="2" charset="-122"/>
              </a:rPr>
              <a:t>A-A</a:t>
            </a:r>
            <a:r>
              <a:rPr lang="zh-CN" altLang="en-US" sz="1600" b="1">
                <a:latin typeface="宋体" pitchFamily="2" charset="-122"/>
              </a:rPr>
              <a:t>剖视并作标注（第三角画法）。</a:t>
            </a:r>
          </a:p>
        </p:txBody>
      </p:sp>
      <p:pic>
        <p:nvPicPr>
          <p:cNvPr id="4710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1268413"/>
            <a:ext cx="4325937" cy="380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*4-1-4-4  </a:t>
            </a:r>
            <a:r>
              <a:rPr lang="zh-CN" altLang="en-US" sz="1600" b="1">
                <a:latin typeface="宋体" pitchFamily="2" charset="-122"/>
              </a:rPr>
              <a:t>作前视图，在其上作</a:t>
            </a:r>
            <a:r>
              <a:rPr lang="en-US" altLang="zh-CN" sz="1600" b="1">
                <a:latin typeface="宋体" pitchFamily="2" charset="-122"/>
              </a:rPr>
              <a:t>A-A</a:t>
            </a:r>
            <a:r>
              <a:rPr lang="zh-CN" altLang="en-US" sz="1600" b="1">
                <a:latin typeface="宋体" pitchFamily="2" charset="-122"/>
              </a:rPr>
              <a:t>剖视并作标注（第三角画法）。</a:t>
            </a:r>
          </a:p>
        </p:txBody>
      </p:sp>
      <p:pic>
        <p:nvPicPr>
          <p:cNvPr id="4813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454" r="-21617"/>
          <a:stretch>
            <a:fillRect/>
          </a:stretch>
        </p:blipFill>
        <p:spPr bwMode="auto">
          <a:xfrm>
            <a:off x="1403350" y="908050"/>
            <a:ext cx="5473700" cy="34940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4237</TotalTime>
  <Words>489</Words>
  <Application>Microsoft Office PowerPoint</Application>
  <PresentationFormat>全屏显示(4:3)</PresentationFormat>
  <Paragraphs>57</Paragraphs>
  <Slides>45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47" baseType="lpstr">
      <vt:lpstr>Blends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MC SYSTEM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Li Tiemin</cp:lastModifiedBy>
  <cp:revision>151</cp:revision>
  <dcterms:created xsi:type="dcterms:W3CDTF">2006-04-04T11:38:05Z</dcterms:created>
  <dcterms:modified xsi:type="dcterms:W3CDTF">2023-12-17T07:49:34Z</dcterms:modified>
</cp:coreProperties>
</file>