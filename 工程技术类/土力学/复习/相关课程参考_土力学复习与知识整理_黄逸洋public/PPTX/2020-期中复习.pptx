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9"/>
  </p:notesMasterIdLst>
  <p:sldIdLst>
    <p:sldId id="256" r:id="rId3"/>
    <p:sldId id="32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284" r:id="rId32"/>
    <p:sldId id="285" r:id="rId33"/>
    <p:sldId id="286" r:id="rId34"/>
    <p:sldId id="287" r:id="rId35"/>
    <p:sldId id="288" r:id="rId36"/>
    <p:sldId id="289" r:id="rId37"/>
    <p:sldId id="298" r:id="rId3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55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000099"/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9"/>
  </p:normalViewPr>
  <p:slideViewPr>
    <p:cSldViewPr>
      <p:cViewPr varScale="1">
        <p:scale>
          <a:sx n="63" d="100"/>
          <a:sy n="63" d="100"/>
        </p:scale>
        <p:origin x="1380" y="48"/>
      </p:cViewPr>
      <p:guideLst>
        <p:guide orient="horz" pos="2160"/>
        <p:guide pos="2880"/>
        <p:guide pos="55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8E835-BBB8-4B30-A6B2-C18FAE3996FD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A13CE-6FA1-4FDD-B88E-CEBA8E65A9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371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0000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198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4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445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529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497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738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3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770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317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950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777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131685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33576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19796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924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924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7526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79549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267866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2541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678303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966175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83357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2499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2499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533705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2035464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9244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9244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937187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9244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3860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38613"/>
            <a:ext cx="4038600" cy="23860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51503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98DA1-DBE9-4BF9-848D-CF672BD62091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20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"/>
          <p:cNvGrpSpPr>
            <a:grpSpLocks/>
          </p:cNvGrpSpPr>
          <p:nvPr userDrawn="1"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29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422918" name="Freeform 6"/>
              <p:cNvSpPr>
                <a:spLocks/>
              </p:cNvSpPr>
              <p:nvPr userDrawn="1"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  <a:ea typeface="宋体" pitchFamily="2" charset="-122"/>
                </a:endParaRPr>
              </a:p>
            </p:txBody>
          </p:sp>
          <p:sp>
            <p:nvSpPr>
              <p:cNvPr id="422919" name="Freeform 7"/>
              <p:cNvSpPr>
                <a:spLocks/>
              </p:cNvSpPr>
              <p:nvPr userDrawn="1"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  <a:ea typeface="宋体" pitchFamily="2" charset="-122"/>
                </a:endParaRPr>
              </a:p>
            </p:txBody>
          </p:sp>
          <p:sp>
            <p:nvSpPr>
              <p:cNvPr id="422920" name="Freeform 8"/>
              <p:cNvSpPr>
                <a:spLocks/>
              </p:cNvSpPr>
              <p:nvPr userDrawn="1"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  <a:ea typeface="宋体" pitchFamily="2" charset="-122"/>
                </a:endParaRPr>
              </a:p>
            </p:txBody>
          </p:sp>
          <p:sp>
            <p:nvSpPr>
              <p:cNvPr id="1035" name="Freeform 9"/>
              <p:cNvSpPr>
                <a:spLocks/>
              </p:cNvSpPr>
              <p:nvPr userDrawn="1"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ea typeface="宋体" pitchFamily="2" charset="-122"/>
                </a:endParaRPr>
              </a:p>
            </p:txBody>
          </p:sp>
          <p:sp>
            <p:nvSpPr>
              <p:cNvPr id="422922" name="Freeform 10"/>
              <p:cNvSpPr>
                <a:spLocks/>
              </p:cNvSpPr>
              <p:nvPr userDrawn="1"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422923" name="Freeform 11"/>
            <p:cNvSpPr>
              <a:spLocks/>
            </p:cNvSpPr>
            <p:nvPr userDrawn="1"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1031" name="Freeform 12"/>
            <p:cNvSpPr>
              <a:spLocks/>
            </p:cNvSpPr>
            <p:nvPr userDrawn="1"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776 h 1906"/>
                <a:gd name="T4" fmla="*/ 5758 w 5740"/>
                <a:gd name="T5" fmla="*/ 1776 h 1906"/>
                <a:gd name="T6" fmla="*/ 5758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ea typeface="宋体" pitchFamily="2" charset="-122"/>
              </a:endParaRPr>
            </a:p>
          </p:txBody>
        </p:sp>
      </p:grpSp>
      <p:sp>
        <p:nvSpPr>
          <p:cNvPr id="1027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31106762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Garamond" pitchFamily="18" charset="0"/>
          <a:ea typeface="华文新魏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Garamond" pitchFamily="18" charset="0"/>
          <a:ea typeface="华文新魏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Garamond" pitchFamily="18" charset="0"/>
          <a:ea typeface="华文新魏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Garamond" pitchFamily="18" charset="0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Garamond" pitchFamily="18" charset="0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Garamond" pitchFamily="18" charset="0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Garamond" pitchFamily="18" charset="0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Garamond" pitchFamily="18" charset="0"/>
          <a:ea typeface="华文新魏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6.emf"/><Relationship Id="rId2" Type="http://schemas.openxmlformats.org/officeDocument/2006/relationships/tags" Target="../tags/tag1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7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1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8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10.wmf"/><Relationship Id="rId2" Type="http://schemas.openxmlformats.org/officeDocument/2006/relationships/tags" Target="../tags/tag20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9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8.wmf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20.wmf"/><Relationship Id="rId2" Type="http://schemas.openxmlformats.org/officeDocument/2006/relationships/tags" Target="../tags/tag21.xml"/><Relationship Id="rId16" Type="http://schemas.openxmlformats.org/officeDocument/2006/relationships/oleObject" Target="../embeddings/oleObject20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19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1166813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 sz="7200" b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土  力  学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2997200"/>
            <a:ext cx="6800850" cy="1752600"/>
          </a:xfrm>
        </p:spPr>
        <p:txBody>
          <a:bodyPr/>
          <a:lstStyle/>
          <a:p>
            <a:pPr eaLnBrk="1" hangingPunct="1"/>
            <a:r>
              <a:rPr lang="zh-CN" altLang="en-US" sz="8000" dirty="0">
                <a:solidFill>
                  <a:srgbClr val="FFFF00"/>
                </a:solidFill>
                <a:latin typeface="幼圆" pitchFamily="49" charset="-122"/>
              </a:rPr>
              <a:t>期中复习</a:t>
            </a:r>
          </a:p>
        </p:txBody>
      </p:sp>
    </p:spTree>
    <p:extLst>
      <p:ext uri="{BB962C8B-B14F-4D97-AF65-F5344CB8AC3E}">
        <p14:creationId xmlns:p14="http://schemas.microsoft.com/office/powerpoint/2010/main" val="1536958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0" dirty="0">
                <a:latin typeface="Times New Roman" pitchFamily="18" charset="0"/>
                <a:ea typeface="黑体" pitchFamily="49" charset="-122"/>
              </a:rPr>
              <a:t>《</a:t>
            </a:r>
            <a:r>
              <a:rPr lang="zh-CN" altLang="en-US" b="0" dirty="0">
                <a:latin typeface="Times New Roman" pitchFamily="18" charset="0"/>
                <a:ea typeface="黑体" pitchFamily="49" charset="-122"/>
              </a:rPr>
              <a:t>土力学</a:t>
            </a:r>
            <a:r>
              <a:rPr lang="en-US" altLang="zh-CN" b="0" dirty="0">
                <a:latin typeface="Times New Roman" pitchFamily="18" charset="0"/>
                <a:ea typeface="黑体" pitchFamily="49" charset="-122"/>
              </a:rPr>
              <a:t>》</a:t>
            </a:r>
            <a:r>
              <a:rPr lang="zh-CN" altLang="en-US" b="0" dirty="0">
                <a:latin typeface="Times New Roman" pitchFamily="18" charset="0"/>
                <a:ea typeface="黑体" pitchFamily="49" charset="-122"/>
              </a:rPr>
              <a:t>期中考试</a:t>
            </a:r>
          </a:p>
        </p:txBody>
      </p:sp>
      <p:graphicFrame>
        <p:nvGraphicFramePr>
          <p:cNvPr id="10276" name="Group 3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3350281"/>
              </p:ext>
            </p:extLst>
          </p:nvPr>
        </p:nvGraphicFramePr>
        <p:xfrm>
          <a:off x="1476375" y="2881313"/>
          <a:ext cx="5905500" cy="2852739"/>
        </p:xfrm>
        <a:graphic>
          <a:graphicData uri="http://schemas.openxmlformats.org/drawingml/2006/table">
            <a:tbl>
              <a:tblPr/>
              <a:tblGrid>
                <a:gridCol w="2916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9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任课教师</a:t>
                      </a:r>
                    </a:p>
                  </a:txBody>
                  <a:tcPr marL="36000" marR="36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考试地点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(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待定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)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  <a:ea typeface="幼圆" pitchFamily="49" charset="-122"/>
                        </a:rPr>
                        <a:t>于玉贞</a:t>
                      </a:r>
                    </a:p>
                  </a:txBody>
                  <a:tcPr marL="36000" marR="36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0" lang="en-US" altLang="zh-CN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幼圆" pitchFamily="49" charset="-122"/>
                        <a:cs typeface="+mn-cs"/>
                      </a:endParaRPr>
                    </a:p>
                  </a:txBody>
                  <a:tcPr marL="78154" marR="78154" marT="39077" marB="390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  <a:ea typeface="幼圆" pitchFamily="49" charset="-122"/>
                        </a:rPr>
                        <a:t>张丙印</a:t>
                      </a:r>
                    </a:p>
                  </a:txBody>
                  <a:tcPr marL="36000" marR="36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aramond" pitchFamily="18" charset="0"/>
                          <a:ea typeface="幼圆" pitchFamily="49" charset="-122"/>
                          <a:cs typeface="+mn-cs"/>
                        </a:rPr>
                        <a:t>新水</a:t>
                      </a:r>
                      <a:r>
                        <a:rPr kumimoji="0" lang="en-US" altLang="zh-CN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aramond" pitchFamily="18" charset="0"/>
                          <a:ea typeface="幼圆" pitchFamily="49" charset="-122"/>
                          <a:cs typeface="+mn-cs"/>
                        </a:rPr>
                        <a:t>308</a:t>
                      </a:r>
                    </a:p>
                  </a:txBody>
                  <a:tcPr marL="78154" marR="78154" marT="39077" marB="390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  <a:ea typeface="幼圆" pitchFamily="49" charset="-122"/>
                        </a:rPr>
                        <a:t>张建民</a:t>
                      </a:r>
                    </a:p>
                  </a:txBody>
                  <a:tcPr marL="36000" marR="36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0" lang="en-US" altLang="zh-CN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幼圆" pitchFamily="49" charset="-122"/>
                        <a:cs typeface="+mn-cs"/>
                      </a:endParaRPr>
                    </a:p>
                  </a:txBody>
                  <a:tcPr marL="78154" marR="78154" marT="39077" marB="390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  <a:ea typeface="幼圆" pitchFamily="49" charset="-122"/>
                        </a:rPr>
                        <a:t>胡黎明</a:t>
                      </a:r>
                    </a:p>
                  </a:txBody>
                  <a:tcPr marL="36000" marR="36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0" lang="en-US" altLang="zh-CN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幼圆" pitchFamily="49" charset="-122"/>
                        <a:cs typeface="+mn-cs"/>
                      </a:endParaRPr>
                    </a:p>
                  </a:txBody>
                  <a:tcPr marL="78154" marR="78154" marT="39077" marB="390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19" name="Rectangle 57"/>
          <p:cNvSpPr>
            <a:spLocks noChangeArrowheads="1"/>
          </p:cNvSpPr>
          <p:nvPr/>
        </p:nvSpPr>
        <p:spPr bwMode="auto">
          <a:xfrm>
            <a:off x="1475656" y="1916832"/>
            <a:ext cx="597666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考试时间：</a:t>
            </a:r>
            <a:r>
              <a:rPr lang="en-US" altLang="zh-CN" sz="2800" b="0" dirty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2020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800" b="0" dirty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11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800" b="0" dirty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日 星期三</a:t>
            </a:r>
            <a:endParaRPr lang="en-US" altLang="zh-CN" sz="2800" b="0" dirty="0">
              <a:solidFill>
                <a:srgbClr val="FFFF00"/>
              </a:solidFill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                      上午 </a:t>
            </a:r>
            <a:r>
              <a:rPr lang="en-US" altLang="zh-CN" sz="2800" b="0" dirty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12:30~14:30</a:t>
            </a:r>
            <a:endParaRPr lang="en-US" altLang="zh-CN" sz="2800" dirty="0">
              <a:solidFill>
                <a:srgbClr val="FFFFFF"/>
              </a:solidFill>
              <a:latin typeface="Times New Roman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154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0" dirty="0">
                <a:latin typeface="黑体" pitchFamily="49" charset="-122"/>
                <a:ea typeface="黑体" pitchFamily="49" charset="-122"/>
              </a:rPr>
              <a:t>《</a:t>
            </a:r>
            <a:r>
              <a:rPr lang="zh-CN" altLang="en-US" b="0" dirty="0">
                <a:latin typeface="黑体" pitchFamily="49" charset="-122"/>
                <a:ea typeface="黑体" pitchFamily="49" charset="-122"/>
              </a:rPr>
              <a:t>土力学</a:t>
            </a:r>
            <a:r>
              <a:rPr lang="en-US" altLang="zh-CN" b="0" dirty="0">
                <a:latin typeface="黑体" pitchFamily="49" charset="-122"/>
                <a:ea typeface="黑体" pitchFamily="49" charset="-122"/>
              </a:rPr>
              <a:t>》</a:t>
            </a:r>
            <a:r>
              <a:rPr lang="zh-CN" altLang="en-US" b="0" dirty="0">
                <a:latin typeface="黑体" pitchFamily="49" charset="-122"/>
                <a:ea typeface="黑体" pitchFamily="49" charset="-122"/>
              </a:rPr>
              <a:t>期中考试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503363"/>
            <a:ext cx="8362950" cy="4783137"/>
          </a:xfrm>
        </p:spPr>
        <p:txBody>
          <a:bodyPr>
            <a:spAutoFit/>
          </a:bodyPr>
          <a:lstStyle/>
          <a:p>
            <a:pPr eaLnBrk="1" hangingPunct="1"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u"/>
            </a:pPr>
            <a:r>
              <a:rPr lang="zh-CN" altLang="en-US" sz="2800" b="0" dirty="0">
                <a:latin typeface="Times New Roman" pitchFamily="18" charset="0"/>
              </a:rPr>
              <a:t>重点：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</a:rPr>
              <a:t>基础部分</a:t>
            </a:r>
          </a:p>
          <a:p>
            <a:pPr eaLnBrk="1" hangingPunct="1"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u"/>
            </a:pPr>
            <a:r>
              <a:rPr lang="zh-CN" altLang="en-US" sz="2800" b="0" dirty="0">
                <a:latin typeface="Times New Roman" pitchFamily="18" charset="0"/>
              </a:rPr>
              <a:t>原则：</a:t>
            </a:r>
          </a:p>
          <a:p>
            <a:pPr lvl="1" eaLnBrk="1" hangingPunct="1">
              <a:spcAft>
                <a:spcPct val="20000"/>
              </a:spcAft>
              <a:buClr>
                <a:srgbClr val="FFFF00"/>
              </a:buClr>
              <a:buFont typeface="Wingdings" pitchFamily="2" charset="2"/>
              <a:buChar char="u"/>
            </a:pP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难度与作业相当</a:t>
            </a:r>
          </a:p>
          <a:p>
            <a:pPr lvl="1" eaLnBrk="1" hangingPunct="1">
              <a:spcAft>
                <a:spcPct val="20000"/>
              </a:spcAft>
              <a:buClr>
                <a:srgbClr val="FFFF00"/>
              </a:buClr>
              <a:buFont typeface="Wingdings" pitchFamily="2" charset="2"/>
              <a:buChar char="u"/>
            </a:pP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不要求死记硬背，但一些公式要记</a:t>
            </a:r>
            <a:endParaRPr lang="en-US" altLang="zh-CN" b="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u"/>
            </a:pPr>
            <a:r>
              <a:rPr lang="zh-CN" altLang="en-US" b="0" dirty="0">
                <a:latin typeface="Times New Roman" pitchFamily="18" charset="0"/>
              </a:rPr>
              <a:t>题型（初定）：	</a:t>
            </a:r>
          </a:p>
          <a:p>
            <a:pPr lvl="1" eaLnBrk="1" hangingPunct="1">
              <a:buClr>
                <a:srgbClr val="FFFF00"/>
              </a:buClr>
              <a:buFont typeface="Wingdings" pitchFamily="2" charset="2"/>
              <a:buChar char="l"/>
            </a:pPr>
            <a:r>
              <a:rPr lang="zh-CN" altLang="en-US" sz="32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选择题	  	</a:t>
            </a:r>
            <a:r>
              <a:rPr lang="en-US" altLang="zh-CN" sz="32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zh-CN" altLang="en-US" sz="32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题，</a:t>
            </a:r>
            <a:r>
              <a:rPr lang="en-US" altLang="zh-CN" sz="32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30</a:t>
            </a:r>
            <a:r>
              <a:rPr lang="zh-CN" altLang="en-US" sz="32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分</a:t>
            </a:r>
          </a:p>
          <a:p>
            <a:pPr lvl="1" eaLnBrk="1" hangingPunct="1">
              <a:buClr>
                <a:srgbClr val="FFFF00"/>
              </a:buClr>
              <a:buFont typeface="Wingdings" pitchFamily="2" charset="2"/>
              <a:buChar char="l"/>
            </a:pPr>
            <a:r>
              <a:rPr lang="zh-CN" altLang="en-US" sz="32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判断题  	 	</a:t>
            </a:r>
            <a:r>
              <a:rPr lang="en-US" altLang="zh-CN" sz="32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zh-CN" altLang="en-US" sz="32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题，</a:t>
            </a:r>
            <a:r>
              <a:rPr lang="en-US" altLang="zh-CN" sz="32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20</a:t>
            </a:r>
            <a:r>
              <a:rPr lang="zh-CN" altLang="en-US" sz="32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分</a:t>
            </a:r>
          </a:p>
          <a:p>
            <a:pPr lvl="1" eaLnBrk="1" hangingPunct="1">
              <a:buClr>
                <a:srgbClr val="FFFF00"/>
              </a:buClr>
              <a:buFont typeface="Wingdings" pitchFamily="2" charset="2"/>
              <a:buChar char="l"/>
            </a:pPr>
            <a:r>
              <a:rPr lang="zh-CN" altLang="en-US" sz="32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计算题	    	  </a:t>
            </a:r>
            <a:r>
              <a:rPr lang="en-US" altLang="zh-CN" sz="32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en-US" sz="32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题，</a:t>
            </a:r>
            <a:r>
              <a:rPr lang="en-US" altLang="zh-CN" sz="32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50</a:t>
            </a:r>
            <a:r>
              <a:rPr lang="zh-CN" altLang="en-US" sz="32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分</a:t>
            </a:r>
            <a:endParaRPr lang="zh-CN" altLang="en-US" b="0" dirty="0">
              <a:solidFill>
                <a:srgbClr val="FFFF00"/>
              </a:solidFill>
              <a:latin typeface="Times New Roman" pitchFamily="18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8697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286000"/>
            <a:ext cx="6400800" cy="1752600"/>
          </a:xfrm>
        </p:spPr>
        <p:txBody>
          <a:bodyPr/>
          <a:lstStyle/>
          <a:p>
            <a:pPr eaLnBrk="1" hangingPunct="1"/>
            <a:r>
              <a:rPr lang="zh-CN" altLang="en-US" sz="6600" b="0">
                <a:solidFill>
                  <a:srgbClr val="FFFF00"/>
                </a:solidFill>
                <a:ea typeface="黑体" pitchFamily="49" charset="-122"/>
              </a:rPr>
              <a:t>内容复习</a:t>
            </a:r>
          </a:p>
        </p:txBody>
      </p:sp>
    </p:spTree>
    <p:extLst>
      <p:ext uri="{BB962C8B-B14F-4D97-AF65-F5344CB8AC3E}">
        <p14:creationId xmlns:p14="http://schemas.microsoft.com/office/powerpoint/2010/main" val="3825621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0">
                <a:latin typeface="黑体" pitchFamily="49" charset="-122"/>
                <a:ea typeface="黑体" pitchFamily="49" charset="-122"/>
              </a:rPr>
              <a:t>土的三大工程问题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3600" b="0" dirty="0">
                <a:latin typeface="黑体" pitchFamily="49" charset="-122"/>
                <a:ea typeface="黑体" pitchFamily="49" charset="-122"/>
              </a:rPr>
              <a:t>渗透问题：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b="0" dirty="0"/>
              <a:t>		</a:t>
            </a:r>
            <a:r>
              <a:rPr lang="zh-CN" altLang="en-US" b="0" dirty="0">
                <a:solidFill>
                  <a:srgbClr val="FFFF00"/>
                </a:solidFill>
              </a:rPr>
              <a:t>渗流、渗透破坏（管涌、流土）</a:t>
            </a:r>
            <a:endParaRPr lang="zh-CN" altLang="en-US" sz="3600" b="0" dirty="0">
              <a:ea typeface="华文新魏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3600" b="0" dirty="0">
                <a:latin typeface="黑体" pitchFamily="49" charset="-122"/>
                <a:ea typeface="黑体" pitchFamily="49" charset="-122"/>
              </a:rPr>
              <a:t>变形问题：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b="0" dirty="0"/>
              <a:t>		</a:t>
            </a:r>
            <a:r>
              <a:rPr lang="zh-CN" altLang="en-US" b="0" dirty="0">
                <a:solidFill>
                  <a:srgbClr val="FFFF00"/>
                </a:solidFill>
              </a:rPr>
              <a:t>沉降计算；沉降与时间的关系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3600" b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强度问题：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b="0" dirty="0"/>
              <a:t>		</a:t>
            </a:r>
            <a:r>
              <a:rPr lang="zh-CN" altLang="en-US" b="0" dirty="0">
                <a:solidFill>
                  <a:srgbClr val="FFFF00"/>
                </a:solidFill>
              </a:rPr>
              <a:t>土压力，边坡稳定，地基承载力，液化</a:t>
            </a:r>
          </a:p>
        </p:txBody>
      </p:sp>
    </p:spTree>
    <p:extLst>
      <p:ext uri="{BB962C8B-B14F-4D97-AF65-F5344CB8AC3E}">
        <p14:creationId xmlns:p14="http://schemas.microsoft.com/office/powerpoint/2010/main" val="3461571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0">
                <a:latin typeface="黑体" pitchFamily="49" charset="-122"/>
                <a:ea typeface="黑体" pitchFamily="49" charset="-122"/>
              </a:rPr>
              <a:t>土的工程性质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3600" b="0" dirty="0">
                <a:latin typeface="黑体" pitchFamily="49" charset="-122"/>
                <a:ea typeface="黑体" pitchFamily="49" charset="-122"/>
              </a:rPr>
              <a:t>三大基本性质：	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b="0" dirty="0">
                <a:solidFill>
                  <a:srgbClr val="FFFF00"/>
                </a:solidFill>
              </a:rPr>
              <a:t>	渗透特性：达西定律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b="0" dirty="0">
                <a:solidFill>
                  <a:srgbClr val="FFFF00"/>
                </a:solidFill>
              </a:rPr>
              <a:t>	变形特性：渗流固结理论；有效应力原理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b="0" dirty="0">
                <a:solidFill>
                  <a:srgbClr val="FFFF00"/>
                </a:solidFill>
              </a:rPr>
              <a:t>	</a:t>
            </a:r>
            <a:r>
              <a:rPr lang="zh-CN" altLang="en-US" b="0" dirty="0">
                <a:solidFill>
                  <a:srgbClr val="FF0000"/>
                </a:solidFill>
              </a:rPr>
              <a:t>强度特性</a:t>
            </a:r>
          </a:p>
          <a:p>
            <a:pPr eaLnBrk="1" hangingPunct="1">
              <a:lnSpc>
                <a:spcPct val="150000"/>
              </a:lnSpc>
            </a:pP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807786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0">
                <a:latin typeface="黑体" pitchFamily="49" charset="-122"/>
                <a:ea typeface="黑体" pitchFamily="49" charset="-122"/>
              </a:rPr>
              <a:t>基本知识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571625"/>
            <a:ext cx="8229600" cy="49244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3600" b="0">
                <a:latin typeface="黑体" pitchFamily="49" charset="-122"/>
                <a:ea typeface="黑体" pitchFamily="49" charset="-122"/>
              </a:rPr>
              <a:t>土的三个特点：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b="0"/>
              <a:t>		</a:t>
            </a:r>
            <a:r>
              <a:rPr lang="zh-CN" altLang="en-US" b="0">
                <a:solidFill>
                  <a:srgbClr val="FFFF00"/>
                </a:solidFill>
              </a:rPr>
              <a:t>碎散性、多相性、天然性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3600" b="0">
                <a:latin typeface="黑体" pitchFamily="49" charset="-122"/>
                <a:ea typeface="黑体" pitchFamily="49" charset="-122"/>
              </a:rPr>
              <a:t>土的物理性质：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b="0"/>
              <a:t>		</a:t>
            </a:r>
            <a:r>
              <a:rPr lang="zh-CN" altLang="en-US" b="0">
                <a:solidFill>
                  <a:srgbClr val="FFFF00"/>
                </a:solidFill>
              </a:rPr>
              <a:t>组成、状态、结构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3600" b="0">
                <a:latin typeface="黑体" pitchFamily="49" charset="-122"/>
                <a:ea typeface="黑体" pitchFamily="49" charset="-122"/>
              </a:rPr>
              <a:t>土的应力计算：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b="0"/>
              <a:t>		</a:t>
            </a:r>
            <a:r>
              <a:rPr lang="zh-CN" altLang="en-US" b="0">
                <a:solidFill>
                  <a:srgbClr val="FFFF00"/>
                </a:solidFill>
              </a:rPr>
              <a:t>自重应力、附加应力、有效应力原理</a:t>
            </a:r>
          </a:p>
        </p:txBody>
      </p:sp>
    </p:spTree>
    <p:extLst>
      <p:ext uri="{BB962C8B-B14F-4D97-AF65-F5344CB8AC3E}">
        <p14:creationId xmlns:p14="http://schemas.microsoft.com/office/powerpoint/2010/main" val="2103308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7143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b="0">
                <a:latin typeface="黑体" pitchFamily="49" charset="-122"/>
                <a:ea typeface="黑体" pitchFamily="49" charset="-122"/>
              </a:rPr>
              <a:t>重点内容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285875"/>
            <a:ext cx="7715250" cy="4175374"/>
          </a:xfrm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"/>
              </a:spcBef>
              <a:spcAft>
                <a:spcPct val="5000"/>
              </a:spcAft>
            </a:pPr>
            <a:r>
              <a:rPr lang="zh-CN" altLang="en-US" b="0" dirty="0">
                <a:latin typeface="黑体" pitchFamily="49" charset="-122"/>
                <a:ea typeface="黑体" pitchFamily="49" charset="-122"/>
              </a:rPr>
              <a:t>土的物理性质指标：</a:t>
            </a:r>
            <a:r>
              <a:rPr lang="zh-CN" altLang="en-US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三相草图法</a:t>
            </a:r>
            <a:endParaRPr lang="en-US" altLang="zh-CN" b="0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"/>
              </a:spcBef>
              <a:spcAft>
                <a:spcPct val="5000"/>
              </a:spcAft>
            </a:pPr>
            <a:r>
              <a:rPr lang="zh-CN" altLang="en-US" b="0" dirty="0">
                <a:latin typeface="黑体" pitchFamily="49" charset="-122"/>
                <a:ea typeface="黑体" pitchFamily="49" charset="-122"/>
              </a:rPr>
              <a:t>土的渗透定律和渗透破坏问题</a:t>
            </a:r>
          </a:p>
          <a:p>
            <a:pPr eaLnBrk="1" hangingPunct="1">
              <a:lnSpc>
                <a:spcPct val="120000"/>
              </a:lnSpc>
              <a:spcBef>
                <a:spcPct val="5000"/>
              </a:spcBef>
              <a:spcAft>
                <a:spcPct val="5000"/>
              </a:spcAft>
              <a:buFont typeface="Wingdings" pitchFamily="2" charset="2"/>
              <a:buNone/>
            </a:pPr>
            <a:r>
              <a:rPr lang="zh-CN" altLang="en-US" sz="2800" b="0" dirty="0"/>
              <a:t>		</a:t>
            </a:r>
            <a:r>
              <a:rPr lang="zh-CN" altLang="en-US" sz="2800" b="0" dirty="0">
                <a:solidFill>
                  <a:srgbClr val="FFFF00"/>
                </a:solidFill>
              </a:rPr>
              <a:t>达西定律、一维渗流计算</a:t>
            </a:r>
          </a:p>
          <a:p>
            <a:pPr eaLnBrk="1" hangingPunct="1">
              <a:lnSpc>
                <a:spcPct val="120000"/>
              </a:lnSpc>
              <a:spcBef>
                <a:spcPct val="5000"/>
              </a:spcBef>
              <a:spcAft>
                <a:spcPct val="5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</a:rPr>
              <a:t>		渗透力和渗透破坏、流土条件</a:t>
            </a:r>
          </a:p>
          <a:p>
            <a:pPr eaLnBrk="1" hangingPunct="1">
              <a:lnSpc>
                <a:spcPct val="120000"/>
              </a:lnSpc>
              <a:spcBef>
                <a:spcPct val="5000"/>
              </a:spcBef>
              <a:spcAft>
                <a:spcPct val="5000"/>
              </a:spcAft>
            </a:pPr>
            <a:r>
              <a:rPr lang="zh-CN" altLang="en-US" b="0" dirty="0">
                <a:latin typeface="黑体" pitchFamily="49" charset="-122"/>
                <a:ea typeface="黑体" pitchFamily="49" charset="-122"/>
              </a:rPr>
              <a:t>地基沉降量计算以及与时间关系</a:t>
            </a:r>
          </a:p>
          <a:p>
            <a:pPr eaLnBrk="1" hangingPunct="1">
              <a:lnSpc>
                <a:spcPct val="120000"/>
              </a:lnSpc>
              <a:spcBef>
                <a:spcPct val="5000"/>
              </a:spcBef>
              <a:spcAft>
                <a:spcPct val="5000"/>
              </a:spcAft>
              <a:buFont typeface="Wingdings" pitchFamily="2" charset="2"/>
              <a:buNone/>
            </a:pPr>
            <a:r>
              <a:rPr lang="zh-CN" altLang="en-US" sz="2800" b="0" dirty="0"/>
              <a:t>		</a:t>
            </a:r>
            <a:r>
              <a:rPr lang="zh-CN" altLang="en-US" sz="2800" b="0" dirty="0">
                <a:solidFill>
                  <a:srgbClr val="FFFF00"/>
                </a:solidFill>
              </a:rPr>
              <a:t>土的压缩性指标与分层总和法计算沉降量</a:t>
            </a:r>
          </a:p>
          <a:p>
            <a:pPr eaLnBrk="1" hangingPunct="1">
              <a:lnSpc>
                <a:spcPct val="120000"/>
              </a:lnSpc>
              <a:spcBef>
                <a:spcPct val="5000"/>
              </a:spcBef>
              <a:spcAft>
                <a:spcPct val="5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</a:rPr>
              <a:t>		渗流固结理论、沉降量与时间的关系</a:t>
            </a:r>
          </a:p>
        </p:txBody>
      </p:sp>
    </p:spTree>
    <p:extLst>
      <p:ext uri="{BB962C8B-B14F-4D97-AF65-F5344CB8AC3E}">
        <p14:creationId xmlns:p14="http://schemas.microsoft.com/office/powerpoint/2010/main" val="1793671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第</a:t>
            </a:r>
            <a:r>
              <a:rPr lang="zh-CN" altLang="en-US" sz="4000" b="0">
                <a:latin typeface="黑体" pitchFamily="49" charset="-122"/>
                <a:ea typeface="黑体" pitchFamily="49" charset="-122"/>
              </a:rPr>
              <a:t>一</a:t>
            </a:r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章 土的</a:t>
            </a:r>
            <a:r>
              <a:rPr lang="zh-CN" altLang="en-US" sz="4000" b="0">
                <a:latin typeface="黑体" pitchFamily="49" charset="-122"/>
                <a:ea typeface="黑体" pitchFamily="49" charset="-122"/>
              </a:rPr>
              <a:t>物理性质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89000" y="1628775"/>
            <a:ext cx="6996113" cy="4105275"/>
          </a:xfrm>
          <a:noFill/>
        </p:spPr>
        <p:txBody>
          <a:bodyPr/>
          <a:lstStyle/>
          <a:p>
            <a:pPr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en-US" altLang="zh-CN" dirty="0"/>
              <a:t>§1.1  </a:t>
            </a:r>
            <a:r>
              <a:rPr lang="zh-CN" altLang="en-US" dirty="0">
                <a:ea typeface="楷体_GB2312" pitchFamily="49" charset="-122"/>
              </a:rPr>
              <a:t>土的形成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en-US" altLang="zh-CN" dirty="0"/>
              <a:t>§1</a:t>
            </a:r>
            <a:r>
              <a:rPr lang="en-US" altLang="zh-CN" dirty="0">
                <a:ea typeface="楷体_GB2312" pitchFamily="49" charset="-122"/>
              </a:rPr>
              <a:t>.2  </a:t>
            </a:r>
            <a:r>
              <a:rPr lang="zh-CN" altLang="en-US" dirty="0">
                <a:ea typeface="楷体_GB2312" pitchFamily="49" charset="-122"/>
              </a:rPr>
              <a:t>土的三相组成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en-US" altLang="zh-CN" dirty="0"/>
              <a:t>§1</a:t>
            </a:r>
            <a:r>
              <a:rPr lang="en-US" altLang="zh-CN" dirty="0">
                <a:ea typeface="楷体_GB2312" pitchFamily="49" charset="-122"/>
              </a:rPr>
              <a:t>.3  </a:t>
            </a:r>
            <a:r>
              <a:rPr lang="zh-CN" altLang="en-US" dirty="0">
                <a:ea typeface="楷体_GB2312" pitchFamily="49" charset="-122"/>
              </a:rPr>
              <a:t>土的物理状态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en-US" altLang="zh-CN" dirty="0"/>
              <a:t>§1</a:t>
            </a:r>
            <a:r>
              <a:rPr lang="en-US" altLang="zh-CN" dirty="0">
                <a:ea typeface="楷体_GB2312" pitchFamily="49" charset="-122"/>
              </a:rPr>
              <a:t>.4  </a:t>
            </a:r>
            <a:r>
              <a:rPr lang="zh-CN" altLang="en-US" dirty="0">
                <a:ea typeface="楷体_GB2312" pitchFamily="49" charset="-122"/>
              </a:rPr>
              <a:t>土的结构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en-US" altLang="zh-CN" dirty="0"/>
              <a:t>§1</a:t>
            </a:r>
            <a:r>
              <a:rPr lang="en-US" altLang="zh-CN" dirty="0">
                <a:ea typeface="楷体_GB2312" pitchFamily="49" charset="-122"/>
              </a:rPr>
              <a:t>.5  </a:t>
            </a:r>
            <a:r>
              <a:rPr lang="zh-CN" altLang="en-US" dirty="0">
                <a:ea typeface="楷体_GB2312" pitchFamily="49" charset="-122"/>
              </a:rPr>
              <a:t>土的压实性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en-US" altLang="zh-CN" dirty="0"/>
              <a:t>§1</a:t>
            </a:r>
            <a:r>
              <a:rPr lang="en-US" altLang="zh-CN" dirty="0">
                <a:ea typeface="楷体_GB2312" pitchFamily="49" charset="-122"/>
              </a:rPr>
              <a:t>.6  </a:t>
            </a:r>
            <a:r>
              <a:rPr lang="zh-CN" altLang="en-US" dirty="0">
                <a:ea typeface="楷体_GB2312" pitchFamily="49" charset="-122"/>
              </a:rPr>
              <a:t>土的工程分类</a:t>
            </a:r>
          </a:p>
        </p:txBody>
      </p:sp>
      <p:sp>
        <p:nvSpPr>
          <p:cNvPr id="11268" name="Rectangle 5"/>
          <p:cNvSpPr>
            <a:spLocks noChangeArrowheads="1"/>
          </p:cNvSpPr>
          <p:nvPr/>
        </p:nvSpPr>
        <p:spPr bwMode="auto">
          <a:xfrm>
            <a:off x="0" y="0"/>
            <a:ext cx="2532063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一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土的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物理性质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1458078"/>
      </p:ext>
    </p:extLst>
  </p:cSld>
  <p:clrMapOvr>
    <a:masterClrMapping/>
  </p:clrMapOvr>
  <p:transition advTm="44816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4000">
                <a:ea typeface="楷体_GB2312" pitchFamily="49" charset="-122"/>
              </a:rPr>
              <a:t>§1.1  </a:t>
            </a:r>
            <a:r>
              <a:rPr lang="zh-CN" altLang="en-US" sz="4000">
                <a:ea typeface="楷体_GB2312" pitchFamily="49" charset="-122"/>
              </a:rPr>
              <a:t>土的形成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89000" y="1557338"/>
            <a:ext cx="7643813" cy="2835275"/>
          </a:xfrm>
          <a:noFill/>
        </p:spPr>
        <p:txBody>
          <a:bodyPr>
            <a:spAutoFit/>
          </a:bodyPr>
          <a:lstStyle/>
          <a:p>
            <a:pPr marL="711200" indent="-711200" eaLnBrk="1" hangingPunct="1">
              <a:lnSpc>
                <a:spcPct val="150000"/>
              </a:lnSpc>
            </a:pPr>
            <a:r>
              <a:rPr lang="zh-CN" altLang="en-US" sz="2800" b="0">
                <a:latin typeface="幼圆" pitchFamily="49" charset="-122"/>
              </a:rPr>
              <a:t>风化作用：</a:t>
            </a:r>
            <a:r>
              <a:rPr lang="zh-CN" altLang="en-US" sz="2800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物理、化学、生物</a:t>
            </a:r>
          </a:p>
          <a:p>
            <a:pPr marL="711200" indent="-711200" eaLnBrk="1" hangingPunct="1">
              <a:lnSpc>
                <a:spcPct val="150000"/>
              </a:lnSpc>
            </a:pPr>
            <a:r>
              <a:rPr lang="zh-CN" altLang="en-US" sz="2800" b="0">
                <a:latin typeface="幼圆" pitchFamily="49" charset="-122"/>
              </a:rPr>
              <a:t>搬运沉积方式：</a:t>
            </a:r>
            <a:r>
              <a:rPr lang="zh-CN" altLang="en-US" sz="2800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残积土、运积土</a:t>
            </a:r>
            <a:endParaRPr lang="zh-CN" altLang="en-US" sz="2800" b="0">
              <a:latin typeface="黑体" pitchFamily="49" charset="-122"/>
              <a:ea typeface="黑体" pitchFamily="49" charset="-122"/>
            </a:endParaRPr>
          </a:p>
          <a:p>
            <a:pPr marL="711200" indent="-711200" eaLnBrk="1" hangingPunct="1">
              <a:lnSpc>
                <a:spcPct val="150000"/>
              </a:lnSpc>
              <a:buFont typeface="Wingdings" pitchFamily="2" charset="2"/>
              <a:buNone/>
            </a:pPr>
            <a:endParaRPr lang="zh-CN" altLang="en-US" sz="2800" b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  <a:p>
            <a:pPr marL="711200" indent="-711200" algn="ctr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800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一般了解</a:t>
            </a:r>
            <a:endParaRPr lang="zh-CN" altLang="en-US" sz="2800" b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292" name="Rectangle 5"/>
          <p:cNvSpPr>
            <a:spLocks noChangeArrowheads="1"/>
          </p:cNvSpPr>
          <p:nvPr/>
        </p:nvSpPr>
        <p:spPr bwMode="auto">
          <a:xfrm>
            <a:off x="0" y="0"/>
            <a:ext cx="2532063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一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土的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物理性质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1507386"/>
      </p:ext>
    </p:extLst>
  </p:cSld>
  <p:clrMapOvr>
    <a:masterClrMapping/>
  </p:clrMapOvr>
  <p:transition advTm="44816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§1</a:t>
            </a:r>
            <a:r>
              <a:rPr lang="en-US" altLang="zh-CN" sz="4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.2  </a:t>
            </a:r>
            <a:r>
              <a:rPr lang="zh-CN" altLang="en-US" sz="4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土的三相组成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89000" y="1412875"/>
            <a:ext cx="7643813" cy="4832092"/>
          </a:xfrm>
          <a:noFill/>
        </p:spPr>
        <p:txBody>
          <a:bodyPr>
            <a:spAutoFit/>
          </a:bodyPr>
          <a:lstStyle/>
          <a:p>
            <a:pPr marL="711200" indent="-711200" eaLnBrk="1" hangingPunct="1">
              <a:lnSpc>
                <a:spcPct val="120000"/>
              </a:lnSpc>
            </a:pP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固体颗粒</a:t>
            </a:r>
          </a:p>
          <a:p>
            <a:pPr marL="711200" indent="-71120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粒径级配：粒组，分析方法，级配曲线</a:t>
            </a:r>
          </a:p>
          <a:p>
            <a:pPr marL="711200" indent="-71120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			</a:t>
            </a:r>
            <a:r>
              <a:rPr lang="zh-CN" altLang="en-US" sz="2800" b="0" dirty="0"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级配良好：</a:t>
            </a:r>
            <a:r>
              <a:rPr lang="en-US" altLang="zh-CN" sz="2800" b="0" i="1" dirty="0"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0" baseline="-25000" dirty="0"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sz="2800" b="0" dirty="0"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0" i="1" dirty="0"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0" baseline="-25000" dirty="0"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0" dirty="0"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0" dirty="0"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800" b="0" dirty="0"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0" dirty="0"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特征粒径</a:t>
            </a:r>
            <a:endParaRPr lang="zh-CN" altLang="en-US" sz="2800" b="0" dirty="0">
              <a:solidFill>
                <a:srgbClr val="FFFF00"/>
              </a:solidFill>
              <a:latin typeface="Times New Roman" pitchFamily="18" charset="0"/>
              <a:ea typeface="黑体" pitchFamily="49" charset="-122"/>
              <a:cs typeface="Times New Roman" panose="02020603050405020304" pitchFamily="18" charset="0"/>
            </a:endParaRPr>
          </a:p>
          <a:p>
            <a:pPr marL="711200" indent="-71120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	矿物成分：原生、次生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高岭、伊利、蒙脱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)</a:t>
            </a:r>
          </a:p>
          <a:p>
            <a:pPr marL="711200" indent="-71120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颗粒形状和比表面积</a:t>
            </a:r>
            <a:endParaRPr lang="zh-CN" altLang="en-US" sz="2800" b="0" dirty="0">
              <a:latin typeface="Times New Roman" pitchFamily="18" charset="0"/>
              <a:ea typeface="黑体" pitchFamily="49" charset="-122"/>
              <a:cs typeface="Times New Roman" panose="02020603050405020304" pitchFamily="18" charset="0"/>
            </a:endParaRPr>
          </a:p>
          <a:p>
            <a:pPr marL="711200" indent="-711200" eaLnBrk="1" hangingPunct="1">
              <a:lnSpc>
                <a:spcPct val="120000"/>
              </a:lnSpc>
            </a:pP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土中水</a:t>
            </a:r>
          </a:p>
          <a:p>
            <a:pPr marL="711200" indent="-71120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结合水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强、弱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、自由水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重力、毛细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)</a:t>
            </a:r>
          </a:p>
          <a:p>
            <a:pPr marL="711200" indent="-711200" eaLnBrk="1" hangingPunct="1">
              <a:lnSpc>
                <a:spcPct val="120000"/>
              </a:lnSpc>
            </a:pP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土中气 </a:t>
            </a:r>
            <a:r>
              <a:rPr lang="en-US" altLang="zh-CN" sz="2800" b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一般了解</a:t>
            </a:r>
            <a:r>
              <a:rPr lang="en-US" altLang="zh-CN" sz="2800" b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-12523" y="0"/>
            <a:ext cx="2557110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 dirty="0">
                <a:solidFill>
                  <a:srgbClr val="6600CC"/>
                </a:solidFill>
                <a:latin typeface="Times New Roman" panose="02020603050405020304" pitchFamily="18" charset="0"/>
                <a:ea typeface="华文琥珀" pitchFamily="2" charset="-122"/>
                <a:cs typeface="Times New Roman" panose="02020603050405020304" pitchFamily="18" charset="0"/>
              </a:rPr>
              <a:t>第</a:t>
            </a:r>
            <a:r>
              <a:rPr lang="zh-CN" altLang="en-US" sz="2000" b="0" dirty="0">
                <a:solidFill>
                  <a:srgbClr val="6600CC"/>
                </a:solidFill>
                <a:latin typeface="Times New Roman" panose="02020603050405020304" pitchFamily="18" charset="0"/>
                <a:ea typeface="华文琥珀" pitchFamily="2" charset="-122"/>
                <a:cs typeface="Times New Roman" panose="02020603050405020304" pitchFamily="18" charset="0"/>
              </a:rPr>
              <a:t>一</a:t>
            </a:r>
            <a:r>
              <a:rPr lang="zh-CN" altLang="zh-CN" sz="2000" b="0" dirty="0">
                <a:solidFill>
                  <a:srgbClr val="6600CC"/>
                </a:solidFill>
                <a:latin typeface="Times New Roman" panose="02020603050405020304" pitchFamily="18" charset="0"/>
                <a:ea typeface="华文琥珀" pitchFamily="2" charset="-122"/>
                <a:cs typeface="Times New Roman" panose="02020603050405020304" pitchFamily="18" charset="0"/>
              </a:rPr>
              <a:t>章 土的</a:t>
            </a:r>
            <a:r>
              <a:rPr lang="zh-CN" altLang="en-US" sz="2000" b="0" dirty="0">
                <a:solidFill>
                  <a:srgbClr val="6600CC"/>
                </a:solidFill>
                <a:latin typeface="Times New Roman" panose="02020603050405020304" pitchFamily="18" charset="0"/>
                <a:ea typeface="华文琥珀" pitchFamily="2" charset="-122"/>
                <a:cs typeface="Times New Roman" panose="02020603050405020304" pitchFamily="18" charset="0"/>
              </a:rPr>
              <a:t>物理性质</a:t>
            </a:r>
          </a:p>
        </p:txBody>
      </p:sp>
      <p:sp>
        <p:nvSpPr>
          <p:cNvPr id="13317" name="Text Box 196"/>
          <p:cNvSpPr txBox="1">
            <a:spLocks noChangeArrowheads="1"/>
          </p:cNvSpPr>
          <p:nvPr/>
        </p:nvSpPr>
        <p:spPr bwMode="auto">
          <a:xfrm>
            <a:off x="8027988" y="0"/>
            <a:ext cx="1116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重点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8707818"/>
      </p:ext>
    </p:extLst>
  </p:cSld>
  <p:clrMapOvr>
    <a:masterClrMapping/>
  </p:clrMapOvr>
  <p:transition advTm="44816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§1</a:t>
            </a:r>
            <a:r>
              <a:rPr lang="en-US" altLang="zh-CN" sz="4000">
                <a:ea typeface="楷体_GB2312" pitchFamily="49" charset="-122"/>
              </a:rPr>
              <a:t>.3  </a:t>
            </a:r>
            <a:r>
              <a:rPr lang="zh-CN" altLang="en-US" sz="4000">
                <a:ea typeface="楷体_GB2312" pitchFamily="49" charset="-122"/>
              </a:rPr>
              <a:t>土的物理状态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81550"/>
          </a:xfrm>
        </p:spPr>
        <p:txBody>
          <a:bodyPr/>
          <a:lstStyle/>
          <a:p>
            <a:pPr eaLnBrk="1" hangingPunct="1"/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物理性质指标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三相草图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试验指标：密度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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、土粒比重</a:t>
            </a:r>
            <a:r>
              <a:rPr lang="en-US" altLang="zh-CN" sz="2800" b="0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Gs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、含水量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w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常用指标：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e, n, w, </a:t>
            </a:r>
            <a:r>
              <a:rPr lang="en-US" altLang="zh-CN" sz="2800" b="0" i="1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S</a:t>
            </a:r>
            <a:r>
              <a:rPr lang="en-US" altLang="zh-CN" sz="2800" b="0" baseline="-25000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r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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en-US" altLang="zh-CN" sz="2800" b="0" i="1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G</a:t>
            </a:r>
            <a:r>
              <a:rPr lang="en-US" altLang="zh-CN" sz="2800" b="0" baseline="-25000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s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</a:t>
            </a:r>
            <a:r>
              <a:rPr lang="en-US" altLang="zh-CN" sz="2800" b="0" baseline="-2500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s</a:t>
            </a:r>
            <a:r>
              <a:rPr lang="en-US" altLang="zh-CN" sz="2800" b="0" i="1" baseline="-2500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at, 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</a:t>
            </a:r>
            <a:r>
              <a:rPr lang="en-US" altLang="zh-CN" sz="2800" b="0" baseline="-2500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d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, </a:t>
            </a:r>
            <a:endParaRPr lang="en-US" altLang="en-US" sz="2800" b="0" i="1" dirty="0">
              <a:solidFill>
                <a:srgbClr val="FFFF00"/>
              </a:solidFill>
              <a:latin typeface="Times New Roman" pitchFamily="18" charset="0"/>
              <a:ea typeface="黑体" pitchFamily="49" charset="-122"/>
              <a:sym typeface="Symbol" pitchFamily="18" charset="2"/>
            </a:endParaRPr>
          </a:p>
          <a:p>
            <a:pPr eaLnBrk="1" hangingPunct="1"/>
            <a:endParaRPr lang="en-US" altLang="zh-CN" sz="2800" b="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物理状态指标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粗粒土：密实度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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相对密度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细粒土：稠度    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液性指数</a:t>
            </a:r>
            <a:endParaRPr lang="zh-CN" altLang="en-US" sz="2800" b="0" dirty="0">
              <a:solidFill>
                <a:srgbClr val="FFFF00"/>
              </a:solidFill>
              <a:latin typeface="Times New Roman" pitchFamily="18" charset="0"/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		黏性大小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塑性指数</a:t>
            </a:r>
            <a:endParaRPr lang="zh-CN" altLang="en-US" sz="2800" b="0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0" y="0"/>
            <a:ext cx="2532063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一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土的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物理性质</a:t>
            </a:r>
          </a:p>
        </p:txBody>
      </p:sp>
      <p:graphicFrame>
        <p:nvGraphicFramePr>
          <p:cNvPr id="1434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114969"/>
              </p:ext>
            </p:extLst>
          </p:nvPr>
        </p:nvGraphicFramePr>
        <p:xfrm>
          <a:off x="3808413" y="1989138"/>
          <a:ext cx="234473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" name="Equation" r:id="rId3" imgW="1028520" imgH="228600" progId="Equation.DSMT4">
                  <p:embed/>
                </p:oleObj>
              </mc:Choice>
              <mc:Fallback>
                <p:oleObj name="Equation" r:id="rId3" imgW="1028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413" y="1989138"/>
                        <a:ext cx="2344737" cy="5207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Text Box 13"/>
          <p:cNvSpPr txBox="1">
            <a:spLocks noChangeArrowheads="1"/>
          </p:cNvSpPr>
          <p:nvPr/>
        </p:nvSpPr>
        <p:spPr bwMode="auto">
          <a:xfrm>
            <a:off x="4572000" y="3773488"/>
            <a:ext cx="3571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重点：各物理量定义</a:t>
            </a:r>
          </a:p>
        </p:txBody>
      </p:sp>
      <p:sp>
        <p:nvSpPr>
          <p:cNvPr id="14343" name="Text Box 14"/>
          <p:cNvSpPr txBox="1">
            <a:spLocks noChangeArrowheads="1"/>
          </p:cNvSpPr>
          <p:nvPr/>
        </p:nvSpPr>
        <p:spPr bwMode="auto">
          <a:xfrm>
            <a:off x="8027988" y="0"/>
            <a:ext cx="1116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重点</a:t>
            </a:r>
          </a:p>
        </p:txBody>
      </p:sp>
      <p:graphicFrame>
        <p:nvGraphicFramePr>
          <p:cNvPr id="1434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909496"/>
              </p:ext>
            </p:extLst>
          </p:nvPr>
        </p:nvGraphicFramePr>
        <p:xfrm>
          <a:off x="6230938" y="4594225"/>
          <a:ext cx="18923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4" name="Equation" r:id="rId5" imgW="990360" imgH="431640" progId="Equation.DSMT4">
                  <p:embed/>
                </p:oleObj>
              </mc:Choice>
              <mc:Fallback>
                <p:oleObj name="Equation" r:id="rId5" imgW="990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0938" y="4594225"/>
                        <a:ext cx="1892300" cy="82391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937241"/>
              </p:ext>
            </p:extLst>
          </p:nvPr>
        </p:nvGraphicFramePr>
        <p:xfrm>
          <a:off x="6253435" y="5518150"/>
          <a:ext cx="155892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5" name="Equation" r:id="rId7" imgW="825480" imgH="469800" progId="Equation.DSMT4">
                  <p:embed/>
                </p:oleObj>
              </mc:Choice>
              <mc:Fallback>
                <p:oleObj name="Equation" r:id="rId7" imgW="8254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3435" y="5518150"/>
                        <a:ext cx="1558925" cy="88741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4565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§1</a:t>
            </a:r>
            <a:r>
              <a:rPr lang="en-US" altLang="zh-CN" sz="4000">
                <a:ea typeface="楷体_GB2312" pitchFamily="49" charset="-122"/>
              </a:rPr>
              <a:t>.4  </a:t>
            </a:r>
            <a:r>
              <a:rPr lang="zh-CN" altLang="en-US" sz="4000">
                <a:ea typeface="楷体_GB2312" pitchFamily="49" charset="-122"/>
              </a:rPr>
              <a:t>土的结构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238500"/>
          </a:xfrm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0" dirty="0">
                <a:latin typeface="幼圆" pitchFamily="49" charset="-122"/>
              </a:rPr>
              <a:t>粗粒土：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单粒结构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0" dirty="0">
                <a:latin typeface="幼圆" pitchFamily="49" charset="-122"/>
              </a:rPr>
              <a:t>细粒土：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分散</a:t>
            </a:r>
            <a:r>
              <a:rPr lang="en-US" altLang="zh-CN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片堆</a:t>
            </a:r>
            <a:r>
              <a:rPr lang="en-US" altLang="zh-CN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结构、凝聚</a:t>
            </a:r>
            <a:r>
              <a:rPr lang="en-US" altLang="zh-CN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片架</a:t>
            </a:r>
            <a:r>
              <a:rPr lang="en-US" altLang="zh-CN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结构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0" dirty="0">
                <a:latin typeface="幼圆" pitchFamily="49" charset="-122"/>
              </a:rPr>
              <a:t>结构性指标（了解）：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		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黏性土的灵敏度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		黏性土的触变性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0"/>
            <a:ext cx="2532063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一</a:t>
            </a:r>
            <a:r>
              <a:rPr lang="zh-CN" altLang="zh-CN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土的</a:t>
            </a: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物理性质</a:t>
            </a:r>
          </a:p>
        </p:txBody>
      </p:sp>
    </p:spTree>
    <p:extLst>
      <p:ext uri="{BB962C8B-B14F-4D97-AF65-F5344CB8AC3E}">
        <p14:creationId xmlns:p14="http://schemas.microsoft.com/office/powerpoint/2010/main" val="695657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§1</a:t>
            </a:r>
            <a:r>
              <a:rPr lang="en-US" altLang="zh-CN" sz="4000">
                <a:ea typeface="楷体_GB2312" pitchFamily="49" charset="-122"/>
              </a:rPr>
              <a:t>.5  </a:t>
            </a:r>
            <a:r>
              <a:rPr lang="zh-CN" altLang="en-US" sz="4000">
                <a:ea typeface="楷体_GB2312" pitchFamily="49" charset="-122"/>
              </a:rPr>
              <a:t>土的压实性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9250" y="1600200"/>
            <a:ext cx="8686800" cy="4530725"/>
          </a:xfrm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0">
                <a:latin typeface="幼圆" pitchFamily="49" charset="-122"/>
              </a:rPr>
              <a:t>细粒土：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 b="0">
                <a:latin typeface="幼圆" pitchFamily="49" charset="-122"/>
              </a:rPr>
              <a:t>		</a:t>
            </a:r>
            <a:r>
              <a:rPr lang="zh-CN" altLang="en-US" sz="2800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相应于一定压实功存在最优含水量、最大干密度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		压实标准：压实度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0">
                <a:latin typeface="幼圆" pitchFamily="49" charset="-122"/>
              </a:rPr>
              <a:t>粗粒土：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 b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		</a:t>
            </a:r>
            <a:r>
              <a:rPr lang="zh-CN" altLang="en-US" sz="2800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不存在最优含水量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		全干和饱和状态容易压实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		压实标准：相对密度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0" y="0"/>
            <a:ext cx="2532063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一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土的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物理性质</a:t>
            </a:r>
          </a:p>
        </p:txBody>
      </p:sp>
    </p:spTree>
    <p:extLst>
      <p:ext uri="{BB962C8B-B14F-4D97-AF65-F5344CB8AC3E}">
        <p14:creationId xmlns:p14="http://schemas.microsoft.com/office/powerpoint/2010/main" val="556532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§1</a:t>
            </a:r>
            <a:r>
              <a:rPr lang="en-US" altLang="zh-CN" sz="4000">
                <a:ea typeface="楷体_GB2312" pitchFamily="49" charset="-122"/>
              </a:rPr>
              <a:t>.6  </a:t>
            </a:r>
            <a:r>
              <a:rPr lang="zh-CN" altLang="en-US" sz="4000">
                <a:ea typeface="楷体_GB2312" pitchFamily="49" charset="-122"/>
              </a:rPr>
              <a:t>土的工程分类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824288"/>
          </a:xfrm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0" dirty="0">
                <a:latin typeface="幼圆" pitchFamily="49" charset="-122"/>
              </a:rPr>
              <a:t>分类依据：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		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粗粒土：级配组成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	细粒土：矿物成分、亲水性 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( </a:t>
            </a:r>
            <a:r>
              <a:rPr lang="en-US" altLang="zh-CN" sz="2800" b="0" i="1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I</a:t>
            </a:r>
            <a:r>
              <a:rPr lang="en-US" altLang="zh-CN" sz="2800" b="0" baseline="-25000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p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 )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0" dirty="0">
                <a:latin typeface="幼圆" pitchFamily="49" charset="-122"/>
              </a:rPr>
              <a:t>分类标准（了解）：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		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水利部：粒径级配、塑性图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(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塑性指数、液限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)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	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建设部：粒径级配、塑性指数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0"/>
            <a:ext cx="2532063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一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土的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物理性质</a:t>
            </a:r>
          </a:p>
        </p:txBody>
      </p:sp>
    </p:spTree>
    <p:extLst>
      <p:ext uri="{BB962C8B-B14F-4D97-AF65-F5344CB8AC3E}">
        <p14:creationId xmlns:p14="http://schemas.microsoft.com/office/powerpoint/2010/main" val="3904409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第</a:t>
            </a:r>
            <a:r>
              <a:rPr lang="zh-CN" altLang="en-US" sz="4000" b="0">
                <a:latin typeface="黑体" pitchFamily="49" charset="-122"/>
                <a:ea typeface="黑体" pitchFamily="49" charset="-122"/>
              </a:rPr>
              <a:t>一</a:t>
            </a:r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章 土的</a:t>
            </a:r>
            <a:r>
              <a:rPr lang="zh-CN" altLang="en-US" sz="4000" b="0">
                <a:latin typeface="黑体" pitchFamily="49" charset="-122"/>
                <a:ea typeface="黑体" pitchFamily="49" charset="-122"/>
              </a:rPr>
              <a:t>物理性质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89000" y="1412875"/>
            <a:ext cx="7643813" cy="4117975"/>
          </a:xfrm>
          <a:noFill/>
        </p:spPr>
        <p:txBody>
          <a:bodyPr>
            <a:spAutoFit/>
          </a:bodyPr>
          <a:lstStyle/>
          <a:p>
            <a:pPr marL="711200" indent="-711200" eaLnBrk="1" hangingPunct="1">
              <a:lnSpc>
                <a:spcPct val="150000"/>
              </a:lnSpc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b="0">
                <a:latin typeface="黑体" pitchFamily="49" charset="-122"/>
                <a:ea typeface="黑体" pitchFamily="49" charset="-122"/>
              </a:rPr>
              <a:t>重点：</a:t>
            </a:r>
          </a:p>
          <a:p>
            <a:pPr marL="711200" indent="-711200" eaLnBrk="1" hangingPunct="1">
              <a:lnSpc>
                <a:spcPct val="150000"/>
              </a:lnSpc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>
                <a:solidFill>
                  <a:srgbClr val="FFFF00"/>
                </a:solidFill>
                <a:latin typeface="幼圆" pitchFamily="49" charset="-122"/>
              </a:rPr>
              <a:t>	土的物理性质指标定义式</a:t>
            </a:r>
          </a:p>
          <a:p>
            <a:pPr marL="711200" indent="-711200" eaLnBrk="1" hangingPunct="1">
              <a:lnSpc>
                <a:spcPct val="150000"/>
              </a:lnSpc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>
                <a:solidFill>
                  <a:srgbClr val="FFFF00"/>
                </a:solidFill>
                <a:latin typeface="幼圆" pitchFamily="49" charset="-122"/>
              </a:rPr>
              <a:t>	土的粒径级配曲线</a:t>
            </a:r>
          </a:p>
          <a:p>
            <a:pPr marL="711200" indent="-711200" eaLnBrk="1" hangingPunct="1">
              <a:lnSpc>
                <a:spcPct val="150000"/>
              </a:lnSpc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>
                <a:solidFill>
                  <a:srgbClr val="FFFF00"/>
                </a:solidFill>
                <a:latin typeface="幼圆" pitchFamily="49" charset="-122"/>
              </a:rPr>
              <a:t>	土的三相草图与三相换算</a:t>
            </a:r>
          </a:p>
          <a:p>
            <a:pPr marL="711200" indent="-711200" eaLnBrk="1" hangingPunct="1">
              <a:lnSpc>
                <a:spcPct val="150000"/>
              </a:lnSpc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>
                <a:solidFill>
                  <a:srgbClr val="FFFF00"/>
                </a:solidFill>
                <a:latin typeface="幼圆" pitchFamily="49" charset="-122"/>
              </a:rPr>
              <a:t>	土的物理状态指标</a:t>
            </a:r>
            <a:endParaRPr lang="zh-CN" altLang="en-US" sz="2800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0" y="0"/>
            <a:ext cx="2532063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一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土的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物理性质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8058743"/>
      </p:ext>
    </p:extLst>
  </p:cSld>
  <p:clrMapOvr>
    <a:masterClrMapping/>
  </p:clrMapOvr>
  <p:transition advTm="44816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第</a:t>
            </a:r>
            <a:r>
              <a:rPr lang="zh-CN" altLang="en-US" sz="4000" b="0">
                <a:latin typeface="黑体" pitchFamily="49" charset="-122"/>
                <a:ea typeface="黑体" pitchFamily="49" charset="-122"/>
              </a:rPr>
              <a:t>二</a:t>
            </a:r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章 土的</a:t>
            </a:r>
            <a:r>
              <a:rPr lang="zh-CN" altLang="en-US" sz="4000" b="0">
                <a:latin typeface="黑体" pitchFamily="49" charset="-122"/>
                <a:ea typeface="黑体" pitchFamily="49" charset="-122"/>
              </a:rPr>
              <a:t>渗透特性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89000" y="1628775"/>
            <a:ext cx="7643813" cy="3960813"/>
          </a:xfrm>
          <a:noFill/>
        </p:spPr>
        <p:txBody>
          <a:bodyPr/>
          <a:lstStyle/>
          <a:p>
            <a:pPr marL="711200" indent="-711200" eaLnBrk="1" hangingPunct="1">
              <a:spcBef>
                <a:spcPct val="50000"/>
              </a:spcBef>
              <a:spcAft>
                <a:spcPct val="50000"/>
              </a:spcAft>
              <a:buFont typeface="Wingdings" pitchFamily="2" charset="2"/>
              <a:buNone/>
            </a:pPr>
            <a:r>
              <a:rPr lang="en-US" altLang="zh-CN" dirty="0"/>
              <a:t>§2.1  </a:t>
            </a:r>
            <a:r>
              <a:rPr lang="zh-CN" altLang="en-US" dirty="0">
                <a:ea typeface="楷体_GB2312" pitchFamily="49" charset="-122"/>
              </a:rPr>
              <a:t>土的渗透性与渗透规律</a:t>
            </a:r>
          </a:p>
          <a:p>
            <a:pPr marL="711200" indent="-711200" eaLnBrk="1" hangingPunct="1">
              <a:spcBef>
                <a:spcPct val="50000"/>
              </a:spcBef>
              <a:spcAft>
                <a:spcPct val="50000"/>
              </a:spcAft>
              <a:buFont typeface="Wingdings" pitchFamily="2" charset="2"/>
              <a:buNone/>
            </a:pPr>
            <a:r>
              <a:rPr lang="en-US" altLang="zh-CN" dirty="0"/>
              <a:t>§2</a:t>
            </a:r>
            <a:r>
              <a:rPr lang="en-US" altLang="zh-CN" dirty="0">
                <a:ea typeface="楷体_GB2312" pitchFamily="49" charset="-122"/>
              </a:rPr>
              <a:t>.2  </a:t>
            </a:r>
            <a:r>
              <a:rPr lang="zh-CN" altLang="en-US" dirty="0">
                <a:ea typeface="楷体_GB2312" pitchFamily="49" charset="-122"/>
              </a:rPr>
              <a:t>平面渗流与流网</a:t>
            </a:r>
          </a:p>
          <a:p>
            <a:pPr marL="711200" indent="-711200" eaLnBrk="1" hangingPunct="1">
              <a:spcBef>
                <a:spcPct val="50000"/>
              </a:spcBef>
              <a:spcAft>
                <a:spcPct val="50000"/>
              </a:spcAft>
              <a:buFont typeface="Wingdings" pitchFamily="2" charset="2"/>
              <a:buNone/>
            </a:pPr>
            <a:r>
              <a:rPr lang="en-US" altLang="zh-CN" dirty="0"/>
              <a:t>§2</a:t>
            </a:r>
            <a:r>
              <a:rPr lang="en-US" altLang="zh-CN" dirty="0">
                <a:ea typeface="楷体_GB2312" pitchFamily="49" charset="-122"/>
              </a:rPr>
              <a:t>.3  </a:t>
            </a:r>
            <a:r>
              <a:rPr lang="zh-CN" altLang="en-US" dirty="0">
                <a:ea typeface="楷体_GB2312" pitchFamily="49" charset="-122"/>
              </a:rPr>
              <a:t>渗透力与渗透变形</a:t>
            </a:r>
          </a:p>
          <a:p>
            <a:pPr marL="711200" indent="-711200" eaLnBrk="1" hangingPunct="1">
              <a:spcBef>
                <a:spcPct val="10000"/>
              </a:spcBef>
              <a:buFont typeface="Wingdings" pitchFamily="2" charset="2"/>
              <a:buNone/>
            </a:pPr>
            <a:endParaRPr lang="en-US" altLang="zh-CN" sz="3600" dirty="0">
              <a:solidFill>
                <a:srgbClr val="FFFF00"/>
              </a:solidFill>
              <a:ea typeface="楷体_GB2312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6140422"/>
      </p:ext>
    </p:extLst>
  </p:cSld>
  <p:clrMapOvr>
    <a:masterClrMapping/>
  </p:clrMapOvr>
  <p:transition advTm="44816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4000" b="0">
                <a:latin typeface="Times New Roman" pitchFamily="18" charset="0"/>
                <a:ea typeface="楷体_GB2312" pitchFamily="49" charset="-122"/>
              </a:rPr>
              <a:t>§2.1  </a:t>
            </a:r>
            <a:r>
              <a:rPr lang="zh-CN" altLang="en-US" sz="4000" b="0">
                <a:latin typeface="Times New Roman" pitchFamily="18" charset="0"/>
                <a:ea typeface="楷体_GB2312" pitchFamily="49" charset="-122"/>
              </a:rPr>
              <a:t>土的渗透性与渗透规律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89000" y="1628775"/>
            <a:ext cx="7643813" cy="4176713"/>
          </a:xfrm>
          <a:noFill/>
        </p:spPr>
        <p:txBody>
          <a:bodyPr/>
          <a:lstStyle/>
          <a:p>
            <a:pPr marL="711200" indent="-711200" eaLnBrk="1" hangingPunct="1">
              <a:spcAft>
                <a:spcPct val="10000"/>
              </a:spcAft>
            </a:pPr>
            <a:r>
              <a:rPr lang="zh-CN" altLang="en-US" sz="2800" b="0">
                <a:latin typeface="Times New Roman" pitchFamily="18" charset="0"/>
                <a:cs typeface="Times New Roman" pitchFamily="18" charset="0"/>
              </a:rPr>
              <a:t>渗透定律：</a:t>
            </a:r>
          </a:p>
          <a:p>
            <a:pPr marL="711200" indent="-711200" eaLnBrk="1" hangingPunct="1"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zh-CN" altLang="en-US" sz="2800" b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达西定律：</a:t>
            </a:r>
            <a:r>
              <a:rPr lang="en-US" altLang="zh-CN" sz="2800" b="0" i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v = k i </a:t>
            </a:r>
            <a:r>
              <a:rPr lang="zh-CN" altLang="en-US" sz="2800" b="0" i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，</a:t>
            </a:r>
            <a:r>
              <a:rPr lang="zh-CN" altLang="en-US" sz="2800" b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适用条件：层流</a:t>
            </a:r>
          </a:p>
          <a:p>
            <a:pPr marL="711200" indent="-711200" eaLnBrk="1" hangingPunct="1">
              <a:spcAft>
                <a:spcPct val="10000"/>
              </a:spcAft>
              <a:buFont typeface="Wingdings" pitchFamily="2" charset="2"/>
              <a:buNone/>
            </a:pPr>
            <a:endParaRPr lang="zh-CN" altLang="en-US" sz="2800" b="0">
              <a:solidFill>
                <a:srgbClr val="FFFF00"/>
              </a:solidFill>
              <a:latin typeface="Times New Roman" pitchFamily="18" charset="0"/>
              <a:ea typeface="华文新魏" pitchFamily="2" charset="-122"/>
            </a:endParaRPr>
          </a:p>
          <a:p>
            <a:pPr marL="711200" indent="-711200" eaLnBrk="1" hangingPunct="1">
              <a:spcAft>
                <a:spcPct val="10000"/>
              </a:spcAft>
              <a:buFont typeface="Wingdings" pitchFamily="2" charset="2"/>
              <a:buNone/>
            </a:pPr>
            <a:endParaRPr lang="zh-CN" altLang="en-US" sz="2800" b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711200" indent="-711200" eaLnBrk="1" hangingPunct="1">
              <a:spcAft>
                <a:spcPct val="10000"/>
              </a:spcAft>
            </a:pPr>
            <a:r>
              <a:rPr lang="zh-CN" altLang="en-US" sz="2800" b="0">
                <a:latin typeface="Times New Roman" pitchFamily="18" charset="0"/>
                <a:cs typeface="Times New Roman" pitchFamily="18" charset="0"/>
              </a:rPr>
              <a:t>渗透系数 </a:t>
            </a:r>
          </a:p>
          <a:p>
            <a:pPr marL="711200" indent="-711200" eaLnBrk="1" hangingPunct="1"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zh-CN" altLang="en-US" sz="2800" b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测定方法：常水头、变水头试验</a:t>
            </a:r>
          </a:p>
          <a:p>
            <a:pPr marL="711200" indent="-711200" eaLnBrk="1" hangingPunct="1"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	影响因素：粒径级配、矿物成分、饱和度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12700" y="14288"/>
            <a:ext cx="3652838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二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土的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渗透性与渗流问题</a:t>
            </a:r>
          </a:p>
        </p:txBody>
      </p:sp>
      <p:sp>
        <p:nvSpPr>
          <p:cNvPr id="20485" name="Text Box 7"/>
          <p:cNvSpPr txBox="1">
            <a:spLocks noChangeArrowheads="1"/>
          </p:cNvSpPr>
          <p:nvPr/>
        </p:nvSpPr>
        <p:spPr bwMode="auto">
          <a:xfrm>
            <a:off x="8027988" y="0"/>
            <a:ext cx="1116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重点</a:t>
            </a:r>
          </a:p>
        </p:txBody>
      </p:sp>
      <p:sp>
        <p:nvSpPr>
          <p:cNvPr id="999432" name="Text Box 8"/>
          <p:cNvSpPr txBox="1">
            <a:spLocks noChangeArrowheads="1"/>
          </p:cNvSpPr>
          <p:nvPr/>
        </p:nvSpPr>
        <p:spPr bwMode="auto">
          <a:xfrm>
            <a:off x="3348038" y="2765425"/>
            <a:ext cx="3581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重点：一维渗流计算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7695917"/>
      </p:ext>
    </p:extLst>
  </p:cSld>
  <p:clrMapOvr>
    <a:masterClrMapping/>
  </p:clrMapOvr>
  <p:transition advTm="4481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99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99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4000" b="0">
                <a:latin typeface="Times New Roman" pitchFamily="18" charset="0"/>
                <a:ea typeface="楷体_GB2312" pitchFamily="49" charset="-122"/>
              </a:rPr>
              <a:t>§2.2  </a:t>
            </a:r>
            <a:r>
              <a:rPr lang="zh-CN" altLang="en-US" sz="4000" b="0">
                <a:latin typeface="Times New Roman" pitchFamily="18" charset="0"/>
                <a:ea typeface="楷体_GB2312" pitchFamily="49" charset="-122"/>
              </a:rPr>
              <a:t>平面渗流与流网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28638" y="1557338"/>
            <a:ext cx="8507412" cy="4176712"/>
          </a:xfrm>
          <a:noFill/>
        </p:spPr>
        <p:txBody>
          <a:bodyPr/>
          <a:lstStyle/>
          <a:p>
            <a:pPr marL="711200" indent="-711200" eaLnBrk="1" hangingPunct="1">
              <a:spcAft>
                <a:spcPct val="10000"/>
              </a:spcAft>
            </a:pPr>
            <a:r>
              <a:rPr lang="zh-CN" altLang="en-US" sz="2800" b="0">
                <a:latin typeface="幼圆" pitchFamily="49" charset="-122"/>
              </a:rPr>
              <a:t>平面渗流基本方程：</a:t>
            </a:r>
            <a:r>
              <a:rPr lang="en-US" altLang="zh-CN" sz="2800" b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Laplace</a:t>
            </a:r>
            <a:r>
              <a:rPr lang="zh-CN" altLang="en-US" sz="2800" b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方程</a:t>
            </a:r>
          </a:p>
          <a:p>
            <a:pPr marL="711200" indent="-711200" eaLnBrk="1" hangingPunct="1">
              <a:spcAft>
                <a:spcPct val="10000"/>
              </a:spcAft>
            </a:pPr>
            <a:r>
              <a:rPr lang="zh-CN" altLang="en-US" sz="2800" b="0">
                <a:latin typeface="幼圆" pitchFamily="49" charset="-122"/>
              </a:rPr>
              <a:t>流网</a:t>
            </a:r>
          </a:p>
          <a:p>
            <a:pPr marL="711200" indent="-711200" eaLnBrk="1" hangingPunct="1"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		</a:t>
            </a:r>
            <a:r>
              <a:rPr lang="zh-CN" altLang="en-US" sz="2800" b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等势线与流线</a:t>
            </a:r>
          </a:p>
          <a:p>
            <a:pPr marL="711200" indent="-711200" eaLnBrk="1" hangingPunct="1"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	流网特征：正交性、曲边正方形</a:t>
            </a:r>
          </a:p>
          <a:p>
            <a:pPr marL="711200" indent="-711200" eaLnBrk="1" hangingPunct="1"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		         	形状与水位无关</a:t>
            </a:r>
          </a:p>
          <a:p>
            <a:pPr marL="711200" indent="-711200" eaLnBrk="1" hangingPunct="1"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		         	均质地基流网形状与渗透系数无关</a:t>
            </a:r>
          </a:p>
          <a:p>
            <a:pPr marL="711200" indent="-711200" eaLnBrk="1" hangingPunct="1"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	用于求解水头、水力坡降、流速和渗流量</a:t>
            </a:r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12700" y="14288"/>
            <a:ext cx="3652838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二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土的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渗透性与渗流问题</a:t>
            </a:r>
          </a:p>
        </p:txBody>
      </p:sp>
      <p:sp>
        <p:nvSpPr>
          <p:cNvPr id="975878" name="Text Box 6"/>
          <p:cNvSpPr txBox="1">
            <a:spLocks noChangeArrowheads="1"/>
          </p:cNvSpPr>
          <p:nvPr/>
        </p:nvSpPr>
        <p:spPr bwMode="auto">
          <a:xfrm>
            <a:off x="2700338" y="57896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重点：流网的特征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9991596"/>
      </p:ext>
    </p:extLst>
  </p:cSld>
  <p:clrMapOvr>
    <a:masterClrMapping/>
  </p:clrMapOvr>
  <p:transition advTm="4481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975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975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4000" b="0">
                <a:latin typeface="Times New Roman" pitchFamily="18" charset="0"/>
                <a:ea typeface="楷体_GB2312" pitchFamily="49" charset="-122"/>
              </a:rPr>
              <a:t>§2.3  </a:t>
            </a:r>
            <a:r>
              <a:rPr lang="zh-CN" altLang="en-US" sz="4000" b="0">
                <a:latin typeface="Times New Roman" pitchFamily="18" charset="0"/>
                <a:ea typeface="楷体_GB2312" pitchFamily="49" charset="-122"/>
              </a:rPr>
              <a:t>渗透力与渗透变形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89000" y="1557338"/>
            <a:ext cx="7859713" cy="4824412"/>
          </a:xfrm>
          <a:noFill/>
        </p:spPr>
        <p:txBody>
          <a:bodyPr/>
          <a:lstStyle/>
          <a:p>
            <a:pPr marL="711200" indent="-711200" eaLnBrk="1" hangingPunct="1">
              <a:spcAft>
                <a:spcPct val="10000"/>
              </a:spcAft>
            </a:pP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渗透力：</a:t>
            </a:r>
          </a:p>
          <a:p>
            <a:pPr marL="711200" indent="-711200" eaLnBrk="1" hangingPunct="1"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		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孔隙水对土骨架的拖曳和推动力</a:t>
            </a:r>
          </a:p>
          <a:p>
            <a:pPr marL="711200" indent="-711200" eaLnBrk="1" hangingPunct="1"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		方向与水力坡降一致</a:t>
            </a:r>
          </a:p>
          <a:p>
            <a:pPr marL="711200" indent="-711200" eaLnBrk="1" hangingPunct="1">
              <a:spcAft>
                <a:spcPct val="10000"/>
              </a:spcAft>
            </a:pP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土体受力分析：</a:t>
            </a:r>
          </a:p>
          <a:p>
            <a:pPr marL="711200" indent="-711200" eaLnBrk="1" hangingPunct="1"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		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土骨架、土水整体为隔离体</a:t>
            </a:r>
          </a:p>
          <a:p>
            <a:pPr marL="711200" indent="-711200" eaLnBrk="1" hangingPunct="1">
              <a:spcAft>
                <a:spcPct val="10000"/>
              </a:spcAft>
            </a:pP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渗透破坏：</a:t>
            </a:r>
          </a:p>
          <a:p>
            <a:pPr marL="711200" indent="-711200" eaLnBrk="1" hangingPunct="1"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		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流土：表层土、向上渗流，</a:t>
            </a:r>
            <a:r>
              <a:rPr lang="en-US" altLang="zh-CN" sz="2800" b="0" i="1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i</a:t>
            </a:r>
            <a:r>
              <a:rPr lang="en-US" altLang="zh-CN" sz="2800" b="0" baseline="-25000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cr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＝</a:t>
            </a:r>
            <a:r>
              <a:rPr lang="zh-CN" altLang="en-US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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/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</a:t>
            </a:r>
            <a:r>
              <a:rPr lang="en-US" altLang="zh-CN" sz="2800" b="0" baseline="-2500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w</a:t>
            </a:r>
            <a:endParaRPr lang="zh-CN" altLang="zh-CN" sz="2800" b="0" baseline="-25000" dirty="0">
              <a:solidFill>
                <a:srgbClr val="FFFF00"/>
              </a:solidFill>
              <a:latin typeface="Times New Roman" pitchFamily="18" charset="0"/>
              <a:ea typeface="黑体" pitchFamily="49" charset="-122"/>
              <a:sym typeface="Symbol" pitchFamily="18" charset="2"/>
            </a:endParaRPr>
          </a:p>
          <a:p>
            <a:pPr marL="711200" indent="-711200" eaLnBrk="1" hangingPunct="1">
              <a:spcAft>
                <a:spcPct val="10000"/>
              </a:spcAft>
              <a:buFont typeface="Wingdings" pitchFamily="2" charset="2"/>
              <a:buNone/>
            </a:pPr>
            <a:r>
              <a:rPr lang="en-US" altLang="zh-CN" sz="2800" b="0" dirty="0">
                <a:latin typeface="Times New Roman" pitchFamily="18" charset="0"/>
                <a:ea typeface="黑体" pitchFamily="49" charset="-122"/>
              </a:rPr>
              <a:t>	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管涌：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C</a:t>
            </a:r>
            <a:r>
              <a:rPr lang="en-US" altLang="zh-CN" sz="2800" b="0" baseline="-2500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u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 &gt; 10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， </a:t>
            </a:r>
            <a:r>
              <a:rPr lang="en-US" altLang="zh-CN" sz="2800" b="0" i="1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i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 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&gt; </a:t>
            </a:r>
            <a:r>
              <a:rPr lang="en-US" altLang="zh-CN" sz="2800" b="0" i="1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i</a:t>
            </a:r>
            <a:r>
              <a:rPr lang="en-US" altLang="zh-CN" sz="2800" b="0" baseline="-25000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cr</a:t>
            </a:r>
            <a:endParaRPr lang="en-US" altLang="zh-CN" sz="2800" b="0" baseline="-25000" dirty="0">
              <a:solidFill>
                <a:srgbClr val="FFFF00"/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2700" y="14288"/>
            <a:ext cx="3652838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二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土的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渗透性与渗流问题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8027988" y="0"/>
            <a:ext cx="1116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重点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2129931"/>
      </p:ext>
    </p:extLst>
  </p:cSld>
  <p:clrMapOvr>
    <a:masterClrMapping/>
  </p:clrMapOvr>
  <p:transition advTm="44816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第</a:t>
            </a:r>
            <a:r>
              <a:rPr lang="zh-CN" altLang="en-US" sz="4000" b="0">
                <a:latin typeface="黑体" pitchFamily="49" charset="-122"/>
                <a:ea typeface="黑体" pitchFamily="49" charset="-122"/>
              </a:rPr>
              <a:t>二</a:t>
            </a:r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章 土的</a:t>
            </a:r>
            <a:r>
              <a:rPr lang="zh-CN" altLang="en-US" sz="4000" b="0">
                <a:latin typeface="黑体" pitchFamily="49" charset="-122"/>
                <a:ea typeface="黑体" pitchFamily="49" charset="-122"/>
              </a:rPr>
              <a:t>渗透特性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89000" y="1412875"/>
            <a:ext cx="7643813" cy="4824413"/>
          </a:xfrm>
          <a:noFill/>
        </p:spPr>
        <p:txBody>
          <a:bodyPr/>
          <a:lstStyle/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b="0">
                <a:latin typeface="黑体" pitchFamily="49" charset="-122"/>
                <a:ea typeface="黑体" pitchFamily="49" charset="-122"/>
              </a:rPr>
              <a:t>重点：</a:t>
            </a: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 b="0">
                <a:latin typeface="Times New Roman" pitchFamily="18" charset="0"/>
                <a:ea typeface="华文琥珀" pitchFamily="2" charset="-122"/>
              </a:rPr>
              <a:t>	</a:t>
            </a:r>
            <a:r>
              <a:rPr lang="zh-CN" altLang="en-US" sz="2800" b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达西定律：</a:t>
            </a:r>
            <a:r>
              <a:rPr lang="en-US" altLang="zh-CN" sz="2800" b="0" i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v = k i, </a:t>
            </a: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en-US" altLang="zh-CN" sz="2800" b="0" i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		i =</a:t>
            </a:r>
            <a:r>
              <a:rPr lang="en-US" altLang="zh-CN" sz="2800" b="0" i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H/L, H</a:t>
            </a:r>
            <a:r>
              <a:rPr lang="zh-CN" altLang="en-US" sz="2800" b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为</a:t>
            </a:r>
            <a:r>
              <a:rPr lang="zh-CN" altLang="en-US" sz="2800" b="0">
                <a:latin typeface="Times New Roman" pitchFamily="18" charset="0"/>
                <a:ea typeface="黑体" pitchFamily="49" charset="-122"/>
                <a:sym typeface="Symbol" pitchFamily="18" charset="2"/>
              </a:rPr>
              <a:t>总水头</a:t>
            </a:r>
            <a:r>
              <a:rPr lang="zh-CN" altLang="en-US" sz="2800" b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差</a:t>
            </a:r>
            <a:endParaRPr lang="zh-CN" altLang="en-US" sz="2800" b="0">
              <a:solidFill>
                <a:srgbClr val="FFFF00"/>
              </a:solidFill>
              <a:latin typeface="Times New Roman" pitchFamily="18" charset="0"/>
              <a:ea typeface="黑体" pitchFamily="49" charset="-122"/>
            </a:endParaRP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 b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		多层土一维渗流计算</a:t>
            </a: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 b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流网：等势线概念；特征	</a:t>
            </a: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 b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土体受力分析；渗透力的计算： </a:t>
            </a:r>
            <a:r>
              <a:rPr lang="en-US" altLang="zh-CN" sz="2800" b="0" i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j = i </a:t>
            </a:r>
            <a:r>
              <a:rPr lang="en-US" altLang="zh-CN" sz="2800" b="0" i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</a:t>
            </a:r>
            <a:r>
              <a:rPr lang="en-US" altLang="zh-CN" sz="2800" b="0" i="1" baseline="-2500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w</a:t>
            </a:r>
            <a:endParaRPr lang="en-US" altLang="zh-CN" sz="2800" b="0" i="1">
              <a:solidFill>
                <a:srgbClr val="FFFF00"/>
              </a:solidFill>
              <a:latin typeface="Times New Roman" pitchFamily="18" charset="0"/>
              <a:ea typeface="黑体" pitchFamily="49" charset="-122"/>
            </a:endParaRP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en-US" altLang="zh-CN" sz="2800" b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zh-CN" altLang="en-US" sz="2800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流土的发生条件，临界水力坡降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12700" y="14288"/>
            <a:ext cx="3652838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二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土的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渗透性与渗流问题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7147977"/>
      </p:ext>
    </p:extLst>
  </p:cSld>
  <p:clrMapOvr>
    <a:masterClrMapping/>
  </p:clrMapOvr>
  <p:transition advTm="44816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第</a:t>
            </a:r>
            <a:r>
              <a:rPr lang="zh-CN" altLang="en-US" sz="4000" b="0">
                <a:latin typeface="黑体" pitchFamily="49" charset="-122"/>
                <a:ea typeface="黑体" pitchFamily="49" charset="-122"/>
              </a:rPr>
              <a:t>三</a:t>
            </a:r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章 土</a:t>
            </a:r>
            <a:r>
              <a:rPr lang="zh-CN" altLang="en-US" sz="4000" b="0">
                <a:latin typeface="黑体" pitchFamily="49" charset="-122"/>
                <a:ea typeface="黑体" pitchFamily="49" charset="-122"/>
              </a:rPr>
              <a:t>体中的应力计算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89000" y="1773238"/>
            <a:ext cx="7643813" cy="4608090"/>
          </a:xfrm>
          <a:noFill/>
        </p:spPr>
        <p:txBody>
          <a:bodyPr/>
          <a:lstStyle/>
          <a:p>
            <a:pPr marL="711200" indent="-711200" eaLnBrk="1" hangingPunct="1">
              <a:spcBef>
                <a:spcPts val="1200"/>
              </a:spcBef>
              <a:spcAft>
                <a:spcPts val="1200"/>
              </a:spcAft>
              <a:buFont typeface="Wingdings" pitchFamily="2" charset="2"/>
              <a:buNone/>
            </a:pPr>
            <a:r>
              <a:rPr lang="en-US" altLang="zh-CN" dirty="0">
                <a:ea typeface="楷体_GB2312" pitchFamily="49" charset="-122"/>
              </a:rPr>
              <a:t>§3.1 </a:t>
            </a:r>
            <a:r>
              <a:rPr lang="zh-CN" altLang="en-US" dirty="0">
                <a:ea typeface="楷体_GB2312" pitchFamily="49" charset="-122"/>
              </a:rPr>
              <a:t>概述</a:t>
            </a:r>
          </a:p>
          <a:p>
            <a:pPr marL="711200" indent="-711200" eaLnBrk="1" hangingPunct="1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dirty="0">
                <a:ea typeface="楷体_GB2312" pitchFamily="49" charset="-122"/>
              </a:rPr>
              <a:t>§3.2 </a:t>
            </a:r>
            <a:r>
              <a:rPr lang="zh-CN" altLang="en-US" dirty="0">
                <a:ea typeface="楷体_GB2312" pitchFamily="49" charset="-122"/>
              </a:rPr>
              <a:t>有效应力原理</a:t>
            </a:r>
            <a:endParaRPr lang="en-US" altLang="zh-CN" dirty="0">
              <a:ea typeface="楷体_GB2312" pitchFamily="49" charset="-122"/>
            </a:endParaRPr>
          </a:p>
          <a:p>
            <a:pPr marL="711200" indent="-711200" eaLnBrk="1" hangingPunct="1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dirty="0">
                <a:ea typeface="楷体_GB2312" pitchFamily="49" charset="-122"/>
              </a:rPr>
              <a:t>§3.3 </a:t>
            </a:r>
            <a:r>
              <a:rPr lang="zh-CN" altLang="en-US" dirty="0">
                <a:ea typeface="楷体_GB2312" pitchFamily="49" charset="-122"/>
              </a:rPr>
              <a:t>地基的自重应力计算</a:t>
            </a:r>
          </a:p>
          <a:p>
            <a:pPr marL="711200" indent="-711200" eaLnBrk="1" hangingPunct="1">
              <a:spcBef>
                <a:spcPts val="1200"/>
              </a:spcBef>
              <a:spcAft>
                <a:spcPts val="1200"/>
              </a:spcAft>
              <a:buFont typeface="Wingdings" pitchFamily="2" charset="2"/>
              <a:buNone/>
            </a:pPr>
            <a:r>
              <a:rPr lang="en-US" altLang="zh-CN" dirty="0">
                <a:ea typeface="楷体_GB2312" pitchFamily="49" charset="-122"/>
              </a:rPr>
              <a:t>§3.4 </a:t>
            </a:r>
            <a:r>
              <a:rPr lang="zh-CN" altLang="en-US" dirty="0">
                <a:ea typeface="楷体_GB2312" pitchFamily="49" charset="-122"/>
              </a:rPr>
              <a:t>基底压力计算</a:t>
            </a:r>
          </a:p>
          <a:p>
            <a:pPr marL="711200" indent="-711200" eaLnBrk="1" hangingPunct="1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dirty="0">
                <a:ea typeface="楷体_GB2312" pitchFamily="49" charset="-122"/>
              </a:rPr>
              <a:t>§3.5 </a:t>
            </a:r>
            <a:r>
              <a:rPr lang="zh-CN" altLang="en-US" dirty="0">
                <a:ea typeface="楷体_GB2312" pitchFamily="49" charset="-122"/>
              </a:rPr>
              <a:t>地基中的附加应力计算</a:t>
            </a:r>
            <a:endParaRPr lang="en-US" altLang="zh-CN" dirty="0">
              <a:ea typeface="楷体_GB2312" pitchFamily="49" charset="-122"/>
            </a:endParaRPr>
          </a:p>
          <a:p>
            <a:pPr marL="711200" indent="-711200" eaLnBrk="1" hangingPunct="1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dirty="0">
                <a:ea typeface="楷体_GB2312" pitchFamily="49" charset="-122"/>
              </a:rPr>
              <a:t>§3.6 </a:t>
            </a:r>
            <a:r>
              <a:rPr lang="zh-CN" altLang="en-US" dirty="0">
                <a:ea typeface="楷体_GB2312" pitchFamily="49" charset="-122"/>
              </a:rPr>
              <a:t>超静孔隙水压力与孔隙水压力系数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12700" y="14288"/>
            <a:ext cx="3046413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三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 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土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体中的应力计算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7552444"/>
      </p:ext>
    </p:extLst>
  </p:cSld>
  <p:clrMapOvr>
    <a:masterClrMapping/>
  </p:clrMapOvr>
  <p:transition advTm="44816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4000" b="0" dirty="0">
                <a:latin typeface="Times New Roman" pitchFamily="18" charset="0"/>
                <a:ea typeface="楷体_GB2312" pitchFamily="49" charset="-122"/>
              </a:rPr>
              <a:t>§3.1 </a:t>
            </a:r>
            <a:r>
              <a:rPr lang="zh-CN" altLang="en-US" sz="4000" b="0" dirty="0">
                <a:latin typeface="Times New Roman" pitchFamily="18" charset="0"/>
                <a:ea typeface="楷体_GB2312" pitchFamily="49" charset="-122"/>
              </a:rPr>
              <a:t>概述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3569" y="1536700"/>
            <a:ext cx="8208912" cy="4772620"/>
          </a:xfrm>
          <a:noFill/>
        </p:spPr>
        <p:txBody>
          <a:bodyPr/>
          <a:lstStyle/>
          <a:p>
            <a:pPr marL="711200" indent="-711200" eaLnBrk="1" hangingPunct="1">
              <a:spcAft>
                <a:spcPct val="20000"/>
              </a:spcAft>
            </a:pPr>
            <a:r>
              <a:rPr lang="zh-CN" altLang="en-US" sz="2800" b="0" dirty="0">
                <a:latin typeface="幼圆" pitchFamily="49" charset="-122"/>
              </a:rPr>
              <a:t>地基中常见的应力状态</a:t>
            </a: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		</a:t>
            </a:r>
            <a:r>
              <a:rPr lang="zh-CN" altLang="en-US" sz="24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侧限应力状态、平面应变状态、一般应力状态</a:t>
            </a:r>
          </a:p>
          <a:p>
            <a:pPr marL="711200" indent="-711200" eaLnBrk="1" hangingPunct="1">
              <a:spcAft>
                <a:spcPct val="20000"/>
              </a:spcAft>
            </a:pPr>
            <a:r>
              <a:rPr lang="zh-CN" altLang="en-US" sz="2800" b="0" dirty="0">
                <a:latin typeface="幼圆" pitchFamily="49" charset="-122"/>
              </a:rPr>
              <a:t>应力计算的符号规定（同弹性力学相反）</a:t>
            </a:r>
          </a:p>
          <a:p>
            <a:pPr marL="711200" indent="-711200" eaLnBrk="1" hangingPunct="1">
              <a:spcAft>
                <a:spcPct val="20000"/>
              </a:spcAft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	  </a:t>
            </a:r>
            <a:r>
              <a:rPr lang="zh-CN" altLang="en-US" sz="24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正面上，同坐标轴正向相反为正</a:t>
            </a:r>
            <a:endParaRPr lang="en-US" altLang="zh-CN" sz="2400" b="0" dirty="0">
              <a:solidFill>
                <a:srgbClr val="FFFF00"/>
              </a:solidFill>
              <a:latin typeface="黑体" pitchFamily="49" charset="-122"/>
              <a:ea typeface="黑体" pitchFamily="49" charset="-122"/>
              <a:sym typeface="Symbol" pitchFamily="18" charset="2"/>
            </a:endParaRPr>
          </a:p>
          <a:p>
            <a:pPr marL="711200" indent="12700" eaLnBrk="1" hangingPunct="1">
              <a:spcAft>
                <a:spcPct val="20000"/>
              </a:spcAft>
              <a:buNone/>
            </a:pPr>
            <a:r>
              <a:rPr lang="zh-CN" altLang="en-US" sz="24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 负面上，同坐标轴正向一致为正</a:t>
            </a:r>
          </a:p>
          <a:p>
            <a:pPr marL="711200" indent="-711200" eaLnBrk="1" hangingPunct="1">
              <a:spcAft>
                <a:spcPct val="20000"/>
              </a:spcAft>
            </a:pPr>
            <a:r>
              <a:rPr lang="zh-CN" altLang="en-US" sz="2800" b="0" dirty="0">
                <a:latin typeface="幼圆" pitchFamily="49" charset="-122"/>
              </a:rPr>
              <a:t>应力莫尔圆的符号规定（同材料力学相反）</a:t>
            </a: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	  </a:t>
            </a:r>
            <a:r>
              <a:rPr lang="zh-CN" altLang="en-US" sz="24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正应力压为正</a:t>
            </a:r>
            <a:endParaRPr lang="en-US" altLang="zh-CN" sz="2400" b="0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  <a:p>
            <a:pPr marL="711200" indent="127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4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 剪应力逆时针为正</a:t>
            </a:r>
            <a:endParaRPr lang="en-US" altLang="zh-CN" sz="2400" b="0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12700" y="14288"/>
            <a:ext cx="3046413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三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 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土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体中的应力计算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9005327"/>
      </p:ext>
    </p:extLst>
  </p:cSld>
  <p:clrMapOvr>
    <a:masterClrMapping/>
  </p:clrMapOvr>
  <p:transition advTm="44816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4000" b="0" dirty="0">
                <a:latin typeface="Times New Roman" pitchFamily="18" charset="0"/>
                <a:ea typeface="楷体_GB2312" pitchFamily="49" charset="-122"/>
              </a:rPr>
              <a:t>§ 3.2 </a:t>
            </a:r>
            <a:r>
              <a:rPr lang="zh-CN" altLang="en-US" sz="4000" b="0" dirty="0">
                <a:latin typeface="Times New Roman" pitchFamily="18" charset="0"/>
                <a:ea typeface="楷体_GB2312" pitchFamily="49" charset="-122"/>
              </a:rPr>
              <a:t>有效应力原理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89000" y="1412875"/>
            <a:ext cx="8004175" cy="5040313"/>
          </a:xfrm>
          <a:noFill/>
        </p:spPr>
        <p:txBody>
          <a:bodyPr/>
          <a:lstStyle/>
          <a:p>
            <a:pPr marL="711200" indent="-711200" eaLnBrk="1" hangingPunct="1">
              <a:spcAft>
                <a:spcPct val="20000"/>
              </a:spcAft>
            </a:pPr>
            <a:r>
              <a:rPr lang="zh-CN" altLang="en-US" sz="2800" b="0" dirty="0">
                <a:latin typeface="幼圆" pitchFamily="49" charset="-122"/>
                <a:sym typeface="Symbol" pitchFamily="18" charset="2"/>
              </a:rPr>
              <a:t>饱和土体的有效应力原理：</a:t>
            </a: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Symbol" pitchFamily="18" charset="2"/>
              </a:rPr>
              <a:t>		</a:t>
            </a:r>
            <a:endParaRPr lang="en-US" altLang="zh-CN" sz="2800" b="0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  <a:sym typeface="Symbol" pitchFamily="18" charset="2"/>
            </a:endParaRP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en-US" altLang="zh-CN" sz="2800" b="0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Symbol" pitchFamily="18" charset="2"/>
              </a:rPr>
              <a:t>         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两条内容</a:t>
            </a:r>
            <a:endParaRPr lang="en-US" altLang="zh-CN" sz="2800" b="0" dirty="0">
              <a:solidFill>
                <a:srgbClr val="FFFF00"/>
              </a:solidFill>
              <a:latin typeface="黑体" pitchFamily="49" charset="-122"/>
              <a:ea typeface="黑体" pitchFamily="49" charset="-122"/>
              <a:sym typeface="Symbol" pitchFamily="18" charset="2"/>
            </a:endParaRP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en-US" altLang="zh-CN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       1.</a:t>
            </a: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en-US" altLang="zh-CN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		  2.  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有效应力决定土体的强度与变形</a:t>
            </a:r>
            <a:endParaRPr lang="zh-CN" altLang="en-US" sz="2800" b="0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12700" y="14288"/>
            <a:ext cx="3046413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三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 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土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体中的应力计算</a:t>
            </a:r>
          </a:p>
        </p:txBody>
      </p:sp>
      <p:graphicFrame>
        <p:nvGraphicFramePr>
          <p:cNvPr id="2867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849950"/>
              </p:ext>
            </p:extLst>
          </p:nvPr>
        </p:nvGraphicFramePr>
        <p:xfrm>
          <a:off x="2915816" y="3212976"/>
          <a:ext cx="2399513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6" name="公式" r:id="rId4" imgW="825480" imgH="216000" progId="Equation.3">
                  <p:embed/>
                </p:oleObj>
              </mc:Choice>
              <mc:Fallback>
                <p:oleObj name="公式" r:id="rId4" imgW="825480" imgH="2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8508" r="-8508"/>
                      <a:stretch>
                        <a:fillRect/>
                      </a:stretch>
                    </p:blipFill>
                    <p:spPr bwMode="auto">
                      <a:xfrm>
                        <a:off x="2915816" y="3212976"/>
                        <a:ext cx="2399513" cy="576064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Text Box 16"/>
          <p:cNvSpPr txBox="1">
            <a:spLocks noChangeArrowheads="1"/>
          </p:cNvSpPr>
          <p:nvPr/>
        </p:nvSpPr>
        <p:spPr bwMode="auto">
          <a:xfrm>
            <a:off x="8027988" y="0"/>
            <a:ext cx="1116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重点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196257107"/>
      </p:ext>
    </p:extLst>
  </p:cSld>
  <p:clrMapOvr>
    <a:masterClrMapping/>
  </p:clrMapOvr>
  <p:transition advTm="44816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4000" b="0" dirty="0">
                <a:latin typeface="Times New Roman" pitchFamily="18" charset="0"/>
                <a:ea typeface="华文行楷" pitchFamily="2" charset="-122"/>
              </a:rPr>
              <a:t>§3.3 </a:t>
            </a:r>
            <a:r>
              <a:rPr lang="zh-CN" altLang="en-US" sz="4000" b="0" dirty="0">
                <a:latin typeface="Times New Roman" pitchFamily="18" charset="0"/>
                <a:ea typeface="华文行楷" pitchFamily="2" charset="-122"/>
              </a:rPr>
              <a:t>地基的自重应力计算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89000" y="1628775"/>
            <a:ext cx="8004175" cy="4752975"/>
          </a:xfrm>
          <a:noFill/>
        </p:spPr>
        <p:txBody>
          <a:bodyPr/>
          <a:lstStyle/>
          <a:p>
            <a:pPr marL="0" indent="0" eaLnBrk="1" hangingPunct="1">
              <a:spcAft>
                <a:spcPct val="20000"/>
              </a:spcAft>
              <a:buNone/>
            </a:pPr>
            <a:r>
              <a:rPr lang="zh-CN" altLang="en-US" sz="2800" b="0" dirty="0">
                <a:latin typeface="幼圆" pitchFamily="49" charset="-122"/>
              </a:rPr>
              <a:t>水平地基中的有效自重应力：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侧限应力状态</a:t>
            </a:r>
            <a:endParaRPr lang="en-US" altLang="zh-CN" sz="2800" b="0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  <a:p>
            <a:pPr marL="711200" indent="-711200" eaLnBrk="1" hangingPunct="1">
              <a:spcAft>
                <a:spcPct val="20000"/>
              </a:spcAft>
            </a:pPr>
            <a:r>
              <a:rPr lang="zh-CN" altLang="en-US" sz="2800" dirty="0">
                <a:latin typeface="幼圆" pitchFamily="49" charset="-122"/>
              </a:rPr>
              <a:t>静水条件</a:t>
            </a:r>
            <a:endParaRPr lang="zh-CN" altLang="en-US" sz="2800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		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均质地基</a:t>
            </a: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		成层地基</a:t>
            </a: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		地下水位的影响	</a:t>
            </a:r>
            <a:r>
              <a:rPr lang="zh-CN" altLang="en-US" sz="2800" b="0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  </a:t>
            </a:r>
            <a:endParaRPr lang="en-US" altLang="zh-CN" sz="2800" b="0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  <a:p>
            <a:pPr marL="711200" indent="-711200" eaLnBrk="1" hangingPunct="1">
              <a:spcAft>
                <a:spcPct val="20000"/>
              </a:spcAft>
            </a:pPr>
            <a:r>
              <a:rPr lang="zh-CN" altLang="en-US" sz="2800" dirty="0">
                <a:latin typeface="幼圆" pitchFamily="49" charset="-122"/>
              </a:rPr>
              <a:t>稳定渗流条件：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渗透力产生有效应力</a:t>
            </a:r>
          </a:p>
          <a:p>
            <a:pPr marL="711200" indent="-711200" eaLnBrk="1" hangingPunct="1">
              <a:spcAft>
                <a:spcPct val="20000"/>
              </a:spcAft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	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两种隔离体取法：土水整体、土骨架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12700" y="14288"/>
            <a:ext cx="3046413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三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 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土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体中的应力计算</a:t>
            </a:r>
          </a:p>
        </p:txBody>
      </p:sp>
      <p:graphicFrame>
        <p:nvGraphicFramePr>
          <p:cNvPr id="2662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99240"/>
              </p:ext>
            </p:extLst>
          </p:nvPr>
        </p:nvGraphicFramePr>
        <p:xfrm>
          <a:off x="4716016" y="3429198"/>
          <a:ext cx="1782763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8" name="公式" r:id="rId4" imgW="1104840" imgH="317520" progId="Equation.3">
                  <p:embed/>
                </p:oleObj>
              </mc:Choice>
              <mc:Fallback>
                <p:oleObj name="公式" r:id="rId4" imgW="1104840" imgH="317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3429198"/>
                        <a:ext cx="1782763" cy="52863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258572"/>
              </p:ext>
            </p:extLst>
          </p:nvPr>
        </p:nvGraphicFramePr>
        <p:xfrm>
          <a:off x="6013004" y="2852936"/>
          <a:ext cx="22542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9" name="公式" r:id="rId6" imgW="1409400" imgH="291960" progId="Equation.3">
                  <p:embed/>
                </p:oleObj>
              </mc:Choice>
              <mc:Fallback>
                <p:oleObj name="公式" r:id="rId6" imgW="140940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3004" y="2852936"/>
                        <a:ext cx="2254250" cy="50323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639425"/>
              </p:ext>
            </p:extLst>
          </p:nvPr>
        </p:nvGraphicFramePr>
        <p:xfrm>
          <a:off x="4716016" y="2852936"/>
          <a:ext cx="116522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0" name="公式" r:id="rId8" imgW="647640" imgH="279360" progId="Equation.3">
                  <p:embed/>
                </p:oleObj>
              </mc:Choice>
              <mc:Fallback>
                <p:oleObj name="公式" r:id="rId8" imgW="64764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2852936"/>
                        <a:ext cx="1165225" cy="52228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2" name="Text Box 10"/>
          <p:cNvSpPr txBox="1">
            <a:spLocks noChangeArrowheads="1"/>
          </p:cNvSpPr>
          <p:nvPr/>
        </p:nvSpPr>
        <p:spPr bwMode="auto">
          <a:xfrm>
            <a:off x="8027988" y="0"/>
            <a:ext cx="1116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重点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956150181"/>
      </p:ext>
    </p:extLst>
  </p:cSld>
  <p:clrMapOvr>
    <a:masterClrMapping/>
  </p:clrMapOvr>
  <p:transition advTm="44816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12700" y="14288"/>
            <a:ext cx="3046413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三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 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土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体中的应力计算</a:t>
            </a:r>
          </a:p>
        </p:txBody>
      </p:sp>
      <p:sp>
        <p:nvSpPr>
          <p:cNvPr id="27653" name="Rectangle 40"/>
          <p:cNvSpPr>
            <a:spLocks noChangeArrowheads="1"/>
          </p:cNvSpPr>
          <p:nvPr/>
        </p:nvSpPr>
        <p:spPr bwMode="auto">
          <a:xfrm>
            <a:off x="206375" y="692224"/>
            <a:ext cx="868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lnSpc>
                <a:spcPct val="150000"/>
              </a:lnSpc>
              <a:spcAft>
                <a:spcPct val="20000"/>
              </a:spcAft>
              <a:buClrTx/>
              <a:buSzTx/>
              <a:buFontTx/>
              <a:buNone/>
            </a:pPr>
            <a:r>
              <a:rPr lang="en-US" altLang="zh-CN" sz="4000" b="0">
                <a:solidFill>
                  <a:srgbClr val="FFFFFF"/>
                </a:solidFill>
                <a:latin typeface="Times New Roman" pitchFamily="18" charset="0"/>
                <a:ea typeface="楷体_GB2312" pitchFamily="49" charset="-122"/>
              </a:rPr>
              <a:t>§ 3.4 </a:t>
            </a:r>
            <a:r>
              <a:rPr lang="zh-CN" altLang="en-US" sz="4000" b="0">
                <a:solidFill>
                  <a:srgbClr val="FFFFFF"/>
                </a:solidFill>
                <a:latin typeface="Times New Roman" pitchFamily="18" charset="0"/>
                <a:ea typeface="楷体_GB2312" pitchFamily="49" charset="-122"/>
              </a:rPr>
              <a:t>基底压力计算</a:t>
            </a:r>
          </a:p>
        </p:txBody>
      </p:sp>
      <p:sp>
        <p:nvSpPr>
          <p:cNvPr id="27654" name="Rectangle 41"/>
          <p:cNvSpPr>
            <a:spLocks noChangeArrowheads="1"/>
          </p:cNvSpPr>
          <p:nvPr/>
        </p:nvSpPr>
        <p:spPr bwMode="auto">
          <a:xfrm>
            <a:off x="900113" y="1916187"/>
            <a:ext cx="8004175" cy="3961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711200" indent="-7112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Aft>
                <a:spcPct val="20000"/>
              </a:spcAft>
              <a:buClr>
                <a:srgbClr val="FFCC00"/>
              </a:buClr>
            </a:pPr>
            <a:r>
              <a:rPr lang="zh-CN" altLang="en-US" sz="2800" dirty="0">
                <a:solidFill>
                  <a:srgbClr val="FFFFFF"/>
                </a:solidFill>
                <a:latin typeface="幼圆" pitchFamily="49" charset="-122"/>
              </a:rPr>
              <a:t>分布规律</a:t>
            </a:r>
            <a:r>
              <a:rPr lang="zh-CN" altLang="en-US" sz="2800" b="0" dirty="0">
                <a:solidFill>
                  <a:srgbClr val="FFFFFF"/>
                </a:solidFill>
                <a:latin typeface="幼圆" pitchFamily="49" charset="-122"/>
              </a:rPr>
              <a:t>：</a:t>
            </a:r>
            <a:endParaRPr lang="en-US" altLang="zh-CN" sz="2800" b="0" dirty="0">
              <a:solidFill>
                <a:srgbClr val="FFFFFF"/>
              </a:solidFill>
              <a:latin typeface="幼圆" pitchFamily="49" charset="-122"/>
            </a:endParaRPr>
          </a:p>
          <a:p>
            <a:pPr marL="0" indent="0" eaLnBrk="1" fontAlgn="base" hangingPunct="1">
              <a:spcAft>
                <a:spcPct val="20000"/>
              </a:spcAft>
              <a:buClr>
                <a:srgbClr val="FFCC00"/>
              </a:buClr>
              <a:buNone/>
            </a:pPr>
            <a:r>
              <a:rPr lang="en-US" altLang="zh-CN" sz="2800" b="0" dirty="0">
                <a:solidFill>
                  <a:srgbClr val="FFFFFF"/>
                </a:solidFill>
                <a:latin typeface="幼圆" pitchFamily="49" charset="-122"/>
                <a:ea typeface="黑体" pitchFamily="49" charset="-122"/>
              </a:rPr>
              <a:t>		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影响因素</a:t>
            </a:r>
            <a:endParaRPr lang="en-US" altLang="zh-CN" sz="2800" b="0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  <a:p>
            <a:pPr marL="0" indent="0" eaLnBrk="1" fontAlgn="base" hangingPunct="1">
              <a:spcAft>
                <a:spcPct val="20000"/>
              </a:spcAft>
              <a:buClr>
                <a:srgbClr val="FFCC00"/>
              </a:buClr>
              <a:buNone/>
            </a:pPr>
            <a:r>
              <a:rPr lang="en-US" altLang="zh-CN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		-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基础刚度、荷载性质、土体性质</a:t>
            </a:r>
            <a:endParaRPr lang="en-US" altLang="zh-CN" sz="2800" b="0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  <a:p>
            <a:pPr eaLnBrk="1" fontAlgn="base" hangingPunct="1">
              <a:spcAft>
                <a:spcPct val="20000"/>
              </a:spcAft>
              <a:buClr>
                <a:srgbClr val="FFCC00"/>
              </a:buClr>
            </a:pPr>
            <a:r>
              <a:rPr lang="zh-CN" altLang="en-US" sz="2800" dirty="0">
                <a:solidFill>
                  <a:srgbClr val="FFFFFF"/>
                </a:solidFill>
                <a:latin typeface="幼圆" pitchFamily="49" charset="-122"/>
              </a:rPr>
              <a:t>简化计算</a:t>
            </a:r>
            <a:r>
              <a:rPr lang="zh-CN" altLang="en-US" sz="2800" b="0" dirty="0">
                <a:solidFill>
                  <a:srgbClr val="FFFFFF"/>
                </a:solidFill>
                <a:latin typeface="幼圆" pitchFamily="49" charset="-122"/>
              </a:rPr>
              <a:t>：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圣维南原理－线性分布</a:t>
            </a:r>
            <a:endParaRPr lang="en-US" altLang="zh-CN" sz="2800" b="0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  <a:p>
            <a:pPr marL="0" indent="0" eaLnBrk="1" fontAlgn="base" hangingPunct="1">
              <a:spcAft>
                <a:spcPct val="20000"/>
              </a:spcAft>
              <a:buClr>
                <a:srgbClr val="FFCC00"/>
              </a:buClr>
              <a:buNone/>
            </a:pPr>
            <a:r>
              <a:rPr lang="en-US" altLang="zh-CN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              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等效荷载：力、力矩平衡</a:t>
            </a:r>
            <a:endParaRPr lang="en-US" altLang="zh-CN" sz="2800" b="0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  <a:p>
            <a:pPr marL="0" indent="0" eaLnBrk="1" fontAlgn="base" hangingPunct="1">
              <a:spcAft>
                <a:spcPct val="20000"/>
              </a:spcAft>
              <a:buClr>
                <a:srgbClr val="FFCC00"/>
              </a:buClr>
              <a:buNone/>
            </a:pPr>
            <a:r>
              <a:rPr lang="en-US" altLang="zh-CN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	         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注意修正	</a:t>
            </a:r>
            <a:endParaRPr lang="zh-CN" altLang="en-US" sz="2800" b="0" dirty="0">
              <a:solidFill>
                <a:srgbClr val="FFFF00"/>
              </a:solidFill>
              <a:latin typeface="黑体" pitchFamily="49" charset="-122"/>
              <a:ea typeface="黑体" pitchFamily="49" charset="-122"/>
              <a:sym typeface="Symbol" pitchFamily="18" charset="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5982656"/>
      </p:ext>
    </p:extLst>
  </p:cSld>
  <p:clrMapOvr>
    <a:masterClrMapping/>
  </p:clrMapOvr>
  <p:transition advTm="44816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764704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4000" b="0" dirty="0">
                <a:latin typeface="Times New Roman" pitchFamily="18" charset="0"/>
                <a:ea typeface="楷体_GB2312" pitchFamily="49" charset="-122"/>
              </a:rPr>
              <a:t>§ 3.5 </a:t>
            </a:r>
            <a:r>
              <a:rPr lang="zh-CN" altLang="en-US" sz="4000" b="0" dirty="0">
                <a:latin typeface="Times New Roman" pitchFamily="18" charset="0"/>
                <a:ea typeface="楷体_GB2312" pitchFamily="49" charset="-122"/>
              </a:rPr>
              <a:t>地基中的附加应力计算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99592" y="2060848"/>
            <a:ext cx="8004175" cy="3384550"/>
          </a:xfrm>
          <a:noFill/>
        </p:spPr>
        <p:txBody>
          <a:bodyPr/>
          <a:lstStyle/>
          <a:p>
            <a:pPr marL="711200" indent="-711200"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0" dirty="0">
                <a:latin typeface="幼圆" pitchFamily="49" charset="-122"/>
                <a:sym typeface="Symbol" pitchFamily="18" charset="2"/>
              </a:rPr>
              <a:t>集中力作用：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均质等向线弹性</a:t>
            </a:r>
            <a:endParaRPr lang="zh-CN" altLang="en-US" sz="2800" b="0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  <a:p>
            <a:pPr marL="711200" indent="-711200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		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布氏解－应力分布特征、应力泡</a:t>
            </a:r>
            <a:endParaRPr lang="zh-CN" altLang="en-US" sz="2800" b="0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  <a:p>
            <a:pPr marL="711200" indent="-711200"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0" dirty="0">
                <a:latin typeface="幼圆" pitchFamily="49" charset="-122"/>
              </a:rPr>
              <a:t>分布荷载作用</a:t>
            </a:r>
          </a:p>
          <a:p>
            <a:pPr marL="711200" indent="-711200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		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附加应力系数、影响因素</a:t>
            </a:r>
          </a:p>
          <a:p>
            <a:pPr marL="711200" indent="-711200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		角点法：矩形、条形基础荷载</a:t>
            </a:r>
          </a:p>
          <a:p>
            <a:pPr marL="711200" indent="-711200"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0" dirty="0">
                <a:latin typeface="幼圆" pitchFamily="49" charset="-122"/>
              </a:rPr>
              <a:t>影响因素：</a:t>
            </a:r>
          </a:p>
          <a:p>
            <a:pPr marL="711200" indent="-711200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		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分层地基、各向异性－应力集中、应力扩散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12700" y="14288"/>
            <a:ext cx="3046413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三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 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土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体中的应力计算</a:t>
            </a:r>
          </a:p>
        </p:txBody>
      </p:sp>
      <p:sp>
        <p:nvSpPr>
          <p:cNvPr id="27655" name="Text Box 42"/>
          <p:cNvSpPr txBox="1">
            <a:spLocks noChangeArrowheads="1"/>
          </p:cNvSpPr>
          <p:nvPr/>
        </p:nvSpPr>
        <p:spPr bwMode="auto">
          <a:xfrm>
            <a:off x="7524750" y="101128"/>
            <a:ext cx="1116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重点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6261919"/>
      </p:ext>
    </p:extLst>
  </p:cSld>
  <p:clrMapOvr>
    <a:masterClrMapping/>
  </p:clrMapOvr>
  <p:transition advTm="44816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764704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4000" b="0" dirty="0">
                <a:latin typeface="Times New Roman" pitchFamily="18" charset="0"/>
                <a:ea typeface="楷体_GB2312" pitchFamily="49" charset="-122"/>
              </a:rPr>
              <a:t>§ 3.6 </a:t>
            </a:r>
            <a:r>
              <a:rPr lang="zh-CN" altLang="en-US" sz="4000" b="0" dirty="0">
                <a:latin typeface="Times New Roman" pitchFamily="18" charset="0"/>
                <a:ea typeface="楷体_GB2312" pitchFamily="49" charset="-122"/>
              </a:rPr>
              <a:t>孔隙水压力与孔隙水压力系数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99592" y="2060848"/>
            <a:ext cx="8004175" cy="4176464"/>
          </a:xfrm>
          <a:noFill/>
        </p:spPr>
        <p:txBody>
          <a:bodyPr/>
          <a:lstStyle/>
          <a:p>
            <a:pPr marL="711200" indent="-711200"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0" dirty="0">
                <a:latin typeface="幼圆" pitchFamily="49" charset="-122"/>
                <a:sym typeface="Symbol" pitchFamily="18" charset="2"/>
              </a:rPr>
              <a:t>侧限应力状态</a:t>
            </a:r>
            <a:endParaRPr lang="en-US" altLang="zh-CN" sz="2800" b="0" dirty="0">
              <a:latin typeface="幼圆" pitchFamily="49" charset="-122"/>
              <a:sym typeface="Symbol" pitchFamily="18" charset="2"/>
            </a:endParaRP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	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饱和土体渗流固结物理模型</a:t>
            </a:r>
            <a:endParaRPr lang="en-US" altLang="zh-CN" sz="2800" b="0" dirty="0">
              <a:latin typeface="幼圆" pitchFamily="49" charset="-122"/>
              <a:sym typeface="Symbol" pitchFamily="18" charset="2"/>
            </a:endParaRPr>
          </a:p>
          <a:p>
            <a:pPr marL="711200" indent="-711200"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0" dirty="0">
                <a:latin typeface="幼圆" pitchFamily="49" charset="-122"/>
              </a:rPr>
              <a:t>三轴应力状态</a:t>
            </a:r>
            <a:endParaRPr lang="en-US" altLang="zh-CN" sz="2800" b="0" dirty="0">
              <a:latin typeface="幼圆" pitchFamily="49" charset="-122"/>
            </a:endParaRP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sz="2800" b="0" dirty="0">
              <a:latin typeface="幼圆" pitchFamily="49" charset="-122"/>
            </a:endParaRP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None/>
            </a:pPr>
            <a:endParaRPr lang="zh-CN" altLang="en-US" sz="2800" b="0" dirty="0">
              <a:latin typeface="幼圆" pitchFamily="49" charset="-122"/>
            </a:endParaRPr>
          </a:p>
          <a:p>
            <a:pPr marL="711200" indent="-711200" eaLnBrk="1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		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孔压系数</a:t>
            </a:r>
            <a:r>
              <a:rPr lang="en-US" altLang="zh-CN" sz="2800" b="0" i="1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B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：饱和度</a:t>
            </a:r>
            <a:endParaRPr lang="en-US" altLang="zh-CN" sz="2800" b="0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  <a:p>
            <a:pPr marL="711200" indent="-711200" eaLnBrk="1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		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孔压系数</a:t>
            </a:r>
            <a:r>
              <a:rPr lang="en-US" altLang="zh-CN" sz="2800" b="0" i="1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A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：剪胀性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12700" y="14288"/>
            <a:ext cx="3046413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三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 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土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体中的应力计算</a:t>
            </a:r>
          </a:p>
        </p:txBody>
      </p:sp>
      <p:sp>
        <p:nvSpPr>
          <p:cNvPr id="27655" name="Text Box 42"/>
          <p:cNvSpPr txBox="1">
            <a:spLocks noChangeArrowheads="1"/>
          </p:cNvSpPr>
          <p:nvPr/>
        </p:nvSpPr>
        <p:spPr bwMode="auto">
          <a:xfrm>
            <a:off x="7524750" y="101128"/>
            <a:ext cx="1116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重点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835696" y="3933056"/>
            <a:ext cx="4824536" cy="792088"/>
            <a:chOff x="2267744" y="5013176"/>
            <a:chExt cx="4824536" cy="792088"/>
          </a:xfrm>
        </p:grpSpPr>
        <p:sp>
          <p:nvSpPr>
            <p:cNvPr id="3" name="矩形 2"/>
            <p:cNvSpPr/>
            <p:nvPr/>
          </p:nvSpPr>
          <p:spPr bwMode="auto">
            <a:xfrm>
              <a:off x="2267744" y="5013176"/>
              <a:ext cx="4824536" cy="7920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noFill/>
              <a:prstDash val="dash"/>
              <a:round/>
              <a:headEnd type="none" w="med" len="med"/>
              <a:tailEnd type="triangle" w="sm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5524263"/>
                </p:ext>
              </p:extLst>
            </p:nvPr>
          </p:nvGraphicFramePr>
          <p:xfrm>
            <a:off x="2339752" y="5157192"/>
            <a:ext cx="4571698" cy="5760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83" name="公式" r:id="rId4" imgW="1815840" imgH="228600" progId="Equation.3">
                    <p:embed/>
                  </p:oleObj>
                </mc:Choice>
                <mc:Fallback>
                  <p:oleObj name="公式" r:id="rId4" imgW="1815840" imgH="228600" progId="Equation.3">
                    <p:embed/>
                    <p:pic>
                      <p:nvPicPr>
                        <p:cNvPr id="0" name="Object 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9752" y="5157192"/>
                          <a:ext cx="4571698" cy="5760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2"/>
    </p:custDataLst>
    <p:extLst>
      <p:ext uri="{BB962C8B-B14F-4D97-AF65-F5344CB8AC3E}">
        <p14:creationId xmlns:p14="http://schemas.microsoft.com/office/powerpoint/2010/main" val="3843483256"/>
      </p:ext>
    </p:extLst>
  </p:cSld>
  <p:clrMapOvr>
    <a:masterClrMapping/>
  </p:clrMapOvr>
  <p:transition advTm="44816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第</a:t>
            </a:r>
            <a:r>
              <a:rPr lang="zh-CN" altLang="en-US" sz="4000" b="0">
                <a:latin typeface="黑体" pitchFamily="49" charset="-122"/>
                <a:ea typeface="黑体" pitchFamily="49" charset="-122"/>
              </a:rPr>
              <a:t>三</a:t>
            </a:r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章 土</a:t>
            </a:r>
            <a:r>
              <a:rPr lang="zh-CN" altLang="en-US" sz="4000" b="0">
                <a:latin typeface="黑体" pitchFamily="49" charset="-122"/>
                <a:ea typeface="黑体" pitchFamily="49" charset="-122"/>
              </a:rPr>
              <a:t>体中的应力计算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71500" y="1285875"/>
            <a:ext cx="8392988" cy="5455493"/>
          </a:xfrm>
          <a:noFill/>
        </p:spPr>
        <p:txBody>
          <a:bodyPr/>
          <a:lstStyle/>
          <a:p>
            <a:pPr marL="711200" indent="-711200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b="0" dirty="0">
                <a:latin typeface="Times New Roman" pitchFamily="18" charset="0"/>
                <a:ea typeface="黑体" pitchFamily="49" charset="-122"/>
              </a:rPr>
              <a:t>重点：</a:t>
            </a:r>
          </a:p>
          <a:p>
            <a:pPr marL="711200" indent="-711200" eaLnBrk="1" hangingPunct="1">
              <a:spcBef>
                <a:spcPct val="10000"/>
              </a:spcBef>
              <a:spcAft>
                <a:spcPct val="10000"/>
              </a:spcAft>
              <a:buNone/>
            </a:pPr>
            <a:r>
              <a:rPr lang="zh-CN" altLang="en-US" sz="2800" b="0" dirty="0">
                <a:latin typeface="Times New Roman" pitchFamily="18" charset="0"/>
                <a:ea typeface="黑体" pitchFamily="49" charset="-122"/>
              </a:rPr>
              <a:t>有效应力原理</a:t>
            </a:r>
          </a:p>
          <a:p>
            <a:pPr marL="711200" indent="-711200" eaLnBrk="1" hangingPunct="1">
              <a:spcBef>
                <a:spcPct val="10000"/>
              </a:spcBef>
              <a:spcAft>
                <a:spcPct val="10000"/>
              </a:spcAft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总应力、有效应力的计算；</a:t>
            </a:r>
            <a:endParaRPr lang="en-US" altLang="zh-CN" sz="2800" b="0" dirty="0">
              <a:solidFill>
                <a:srgbClr val="FFFF00"/>
              </a:solidFill>
              <a:latin typeface="Times New Roman" pitchFamily="18" charset="0"/>
              <a:ea typeface="黑体" pitchFamily="49" charset="-122"/>
            </a:endParaRPr>
          </a:p>
          <a:p>
            <a:pPr marL="711200" indent="-711200" eaLnBrk="1" hangingPunct="1">
              <a:spcBef>
                <a:spcPct val="10000"/>
              </a:spcBef>
              <a:spcAft>
                <a:spcPct val="10000"/>
              </a:spcAft>
              <a:buNone/>
            </a:pPr>
            <a:r>
              <a:rPr lang="zh-CN" altLang="en-US" sz="2800" b="0" dirty="0">
                <a:latin typeface="Times New Roman" pitchFamily="18" charset="0"/>
                <a:ea typeface="黑体" pitchFamily="49" charset="-122"/>
              </a:rPr>
              <a:t>自重应力：静水条件：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水平、竖直；水下用浮重度</a:t>
            </a:r>
            <a:endParaRPr lang="en-US" altLang="zh-CN" sz="2800" b="0" dirty="0">
              <a:solidFill>
                <a:srgbClr val="FFFF00"/>
              </a:solidFill>
              <a:latin typeface="Times New Roman" pitchFamily="18" charset="0"/>
              <a:ea typeface="黑体" pitchFamily="49" charset="-122"/>
            </a:endParaRPr>
          </a:p>
          <a:p>
            <a:pPr marL="711200" indent="-711200" eaLnBrk="1" hangingPunct="1"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		</a:t>
            </a:r>
            <a:r>
              <a:rPr lang="zh-CN" altLang="en-US" sz="2800" b="0" dirty="0">
                <a:latin typeface="Times New Roman" pitchFamily="18" charset="0"/>
                <a:ea typeface="黑体" pitchFamily="49" charset="-122"/>
              </a:rPr>
              <a:t>稳定渗流条件：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两种隔离体</a:t>
            </a:r>
          </a:p>
          <a:p>
            <a:pPr marL="711200" indent="-711200" eaLnBrk="1" hangingPunct="1">
              <a:spcBef>
                <a:spcPct val="1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竖直方向自重应力的计算	</a:t>
            </a:r>
          </a:p>
          <a:p>
            <a:pPr marL="711200" indent="-711200" eaLnBrk="1" hangingPunct="1">
              <a:spcBef>
                <a:spcPct val="1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 dirty="0">
                <a:latin typeface="Times New Roman" pitchFamily="18" charset="0"/>
                <a:ea typeface="黑体" pitchFamily="49" charset="-122"/>
              </a:rPr>
              <a:t>附加应力</a:t>
            </a:r>
          </a:p>
          <a:p>
            <a:pPr marL="711200" indent="-711200" eaLnBrk="1" hangingPunct="1">
              <a:spcBef>
                <a:spcPct val="1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布氏解；叠加原理；影响因素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: 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l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/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b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, z/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b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，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/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b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)</a:t>
            </a:r>
          </a:p>
          <a:p>
            <a:pPr marL="711200" indent="-711200" eaLnBrk="1" hangingPunct="1">
              <a:spcBef>
                <a:spcPct val="10000"/>
              </a:spcBef>
              <a:spcAft>
                <a:spcPct val="10000"/>
              </a:spcAft>
              <a:buNone/>
            </a:pPr>
            <a:r>
              <a:rPr lang="zh-CN" altLang="en-US" sz="2800" b="0" dirty="0">
                <a:latin typeface="Times New Roman" pitchFamily="18" charset="0"/>
                <a:ea typeface="黑体" pitchFamily="49" charset="-122"/>
              </a:rPr>
              <a:t>超静孔压计算</a:t>
            </a:r>
          </a:p>
          <a:p>
            <a:pPr marL="711200" indent="-711200" eaLnBrk="1" hangingPunct="1">
              <a:spcBef>
                <a:spcPct val="1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超静孔压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(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孔压系数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)</a:t>
            </a:r>
          </a:p>
        </p:txBody>
      </p:sp>
      <p:sp>
        <p:nvSpPr>
          <p:cNvPr id="29700" name="Rectangle 5"/>
          <p:cNvSpPr>
            <a:spLocks noChangeArrowheads="1"/>
          </p:cNvSpPr>
          <p:nvPr/>
        </p:nvSpPr>
        <p:spPr bwMode="auto">
          <a:xfrm>
            <a:off x="12700" y="14288"/>
            <a:ext cx="3046413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三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 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土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体中的应力计算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7780043"/>
      </p:ext>
    </p:extLst>
  </p:cSld>
  <p:clrMapOvr>
    <a:masterClrMapping/>
  </p:clrMapOvr>
  <p:transition advTm="44816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第</a:t>
            </a:r>
            <a:r>
              <a:rPr lang="zh-CN" altLang="en-US" sz="4000" b="0">
                <a:latin typeface="黑体" pitchFamily="49" charset="-122"/>
                <a:ea typeface="黑体" pitchFamily="49" charset="-122"/>
              </a:rPr>
              <a:t>四</a:t>
            </a:r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章 土的</a:t>
            </a:r>
            <a:r>
              <a:rPr lang="zh-CN" altLang="en-US" sz="4000" b="0">
                <a:latin typeface="黑体" pitchFamily="49" charset="-122"/>
                <a:ea typeface="黑体" pitchFamily="49" charset="-122"/>
              </a:rPr>
              <a:t>压缩性和地基沉降量计算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89000" y="1412875"/>
            <a:ext cx="6996113" cy="4249738"/>
          </a:xfrm>
          <a:noFill/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endParaRPr lang="en-US" altLang="zh-CN">
              <a:ea typeface="楷体_GB2312" pitchFamily="49" charset="-122"/>
            </a:endParaRP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>
                <a:ea typeface="楷体_GB2312" pitchFamily="49" charset="-122"/>
              </a:rPr>
              <a:t>§4.1 </a:t>
            </a:r>
            <a:r>
              <a:rPr lang="zh-CN" altLang="en-US">
                <a:ea typeface="楷体_GB2312" pitchFamily="49" charset="-122"/>
              </a:rPr>
              <a:t>土的压缩性</a:t>
            </a:r>
          </a:p>
          <a:p>
            <a:pPr lvl="2" eaLnBrk="1" hangingPunct="1">
              <a:spcBef>
                <a:spcPct val="10000"/>
              </a:spcBef>
              <a:buFont typeface="Wingdings" pitchFamily="2" charset="2"/>
              <a:buNone/>
            </a:pPr>
            <a:endParaRPr lang="zh-CN" altLang="en-US" sz="2800">
              <a:solidFill>
                <a:srgbClr val="FFFF00"/>
              </a:solidFill>
              <a:ea typeface="楷体_GB2312" pitchFamily="49" charset="-122"/>
            </a:endParaRP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/>
              <a:t>§</a:t>
            </a:r>
            <a:r>
              <a:rPr lang="en-US" altLang="zh-CN">
                <a:ea typeface="楷体_GB2312" pitchFamily="49" charset="-122"/>
              </a:rPr>
              <a:t>4.2 </a:t>
            </a:r>
            <a:r>
              <a:rPr lang="zh-CN" altLang="en-US">
                <a:ea typeface="楷体_GB2312" pitchFamily="49" charset="-122"/>
              </a:rPr>
              <a:t>地基最终沉降量的计算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>
                <a:ea typeface="楷体_GB2312" pitchFamily="49" charset="-122"/>
              </a:rPr>
              <a:t>				</a:t>
            </a:r>
            <a:r>
              <a:rPr lang="en-US" altLang="zh-CN">
                <a:latin typeface="Arial" charset="0"/>
                <a:ea typeface="楷体_GB2312" pitchFamily="49" charset="-122"/>
              </a:rPr>
              <a:t>—</a:t>
            </a:r>
            <a:r>
              <a:rPr lang="zh-CN" altLang="en-US">
                <a:ea typeface="楷体_GB2312" pitchFamily="49" charset="-122"/>
              </a:rPr>
              <a:t>分层总和法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endParaRPr lang="zh-CN" altLang="en-US">
              <a:ea typeface="楷体_GB2312" pitchFamily="49" charset="-122"/>
            </a:endParaRP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/>
              <a:t>§4</a:t>
            </a:r>
            <a:r>
              <a:rPr lang="en-US" altLang="zh-CN">
                <a:ea typeface="楷体_GB2312" pitchFamily="49" charset="-122"/>
              </a:rPr>
              <a:t>.3 </a:t>
            </a:r>
            <a:r>
              <a:rPr lang="zh-CN" altLang="en-US">
                <a:ea typeface="楷体_GB2312" pitchFamily="49" charset="-122"/>
              </a:rPr>
              <a:t>地基沉降与时间的关系</a:t>
            </a:r>
          </a:p>
          <a:p>
            <a:pPr lvl="2" eaLnBrk="1" hangingPunct="1">
              <a:spcBef>
                <a:spcPct val="10000"/>
              </a:spcBef>
              <a:buClr>
                <a:schemeClr val="tx1"/>
              </a:buClr>
              <a:buFont typeface="Wingdings" pitchFamily="2" charset="2"/>
              <a:buNone/>
            </a:pPr>
            <a:endParaRPr lang="en-US" altLang="zh-CN" sz="2800">
              <a:solidFill>
                <a:srgbClr val="FFFF00"/>
              </a:solidFill>
              <a:ea typeface="楷体_GB2312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5455729"/>
      </p:ext>
    </p:extLst>
  </p:cSld>
  <p:clrMapOvr>
    <a:masterClrMapping/>
  </p:clrMapOvr>
  <p:transition advTm="44816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4000" b="0">
                <a:latin typeface="Times New Roman" pitchFamily="18" charset="0"/>
                <a:ea typeface="楷体_GB2312" pitchFamily="49" charset="-122"/>
              </a:rPr>
              <a:t>§4.1  </a:t>
            </a:r>
            <a:r>
              <a:rPr lang="zh-CN" altLang="zh-CN" sz="4000" b="0">
                <a:latin typeface="Times New Roman" pitchFamily="18" charset="0"/>
                <a:ea typeface="楷体_GB2312" pitchFamily="49" charset="-122"/>
              </a:rPr>
              <a:t>土</a:t>
            </a:r>
            <a:r>
              <a:rPr lang="zh-CN" altLang="en-US" sz="4000" b="0">
                <a:latin typeface="Times New Roman" pitchFamily="18" charset="0"/>
                <a:ea typeface="楷体_GB2312" pitchFamily="49" charset="-122"/>
              </a:rPr>
              <a:t>的压缩性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8625" y="1484313"/>
            <a:ext cx="8320088" cy="4392612"/>
          </a:xfrm>
          <a:noFill/>
        </p:spPr>
        <p:txBody>
          <a:bodyPr/>
          <a:lstStyle/>
          <a:p>
            <a:pPr marL="711200" indent="-711200" eaLnBrk="1" hangingPunct="1">
              <a:lnSpc>
                <a:spcPct val="12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土的压缩性：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压缩性指标</a:t>
            </a:r>
          </a:p>
          <a:p>
            <a:pPr marL="711200" indent="-711200" eaLnBrk="1" hangingPunct="1">
              <a:lnSpc>
                <a:spcPct val="120000"/>
              </a:lnSpc>
              <a:spcBef>
                <a:spcPct val="15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	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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-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p 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曲线：侧限压缩模量、体积压缩系数</a:t>
            </a:r>
            <a:endParaRPr lang="en-US" altLang="zh-CN" sz="2800" b="0" dirty="0">
              <a:solidFill>
                <a:srgbClr val="FFFF00"/>
              </a:solidFill>
              <a:latin typeface="Times New Roman" pitchFamily="18" charset="0"/>
              <a:ea typeface="黑体" pitchFamily="49" charset="-122"/>
            </a:endParaRPr>
          </a:p>
          <a:p>
            <a:pPr marL="711200" indent="-711200" eaLnBrk="1" hangingPunct="1">
              <a:lnSpc>
                <a:spcPct val="120000"/>
              </a:lnSpc>
              <a:spcBef>
                <a:spcPct val="15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	e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-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p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曲线：压缩系数</a:t>
            </a:r>
          </a:p>
          <a:p>
            <a:pPr marL="711200" indent="-711200" eaLnBrk="1" hangingPunct="1">
              <a:lnSpc>
                <a:spcPct val="120000"/>
              </a:lnSpc>
              <a:spcBef>
                <a:spcPct val="15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	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e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-</a:t>
            </a:r>
            <a:r>
              <a:rPr lang="en-US" altLang="zh-CN" sz="2800" b="0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lg</a:t>
            </a:r>
            <a:r>
              <a:rPr lang="en-US" altLang="zh-CN" sz="2800" b="0" i="1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p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曲线：压缩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(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回弹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)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指数；先期固结压力</a:t>
            </a:r>
          </a:p>
          <a:p>
            <a:pPr marL="711200" indent="-711200" eaLnBrk="1" hangingPunct="1">
              <a:lnSpc>
                <a:spcPct val="12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先期固结压力的图解法</a:t>
            </a:r>
            <a:endParaRPr lang="zh-CN" altLang="en-US" sz="2800" b="0" dirty="0">
              <a:solidFill>
                <a:srgbClr val="FFFF00"/>
              </a:solidFill>
              <a:latin typeface="Times New Roman" pitchFamily="18" charset="0"/>
              <a:ea typeface="华文新魏" pitchFamily="2" charset="-122"/>
            </a:endParaRPr>
          </a:p>
          <a:p>
            <a:pPr marL="711200" indent="-711200" eaLnBrk="1" hangingPunct="1">
              <a:lnSpc>
                <a:spcPct val="120000"/>
              </a:lnSpc>
              <a:spcBef>
                <a:spcPct val="15000"/>
              </a:spcBef>
              <a:spcAft>
                <a:spcPct val="10000"/>
              </a:spcAft>
            </a:pP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原位压缩曲线的推求</a:t>
            </a:r>
            <a:endParaRPr lang="zh-CN" altLang="en-US" sz="2800" b="0" dirty="0">
              <a:solidFill>
                <a:srgbClr val="FFFF00"/>
              </a:solidFill>
              <a:latin typeface="Times New Roman" pitchFamily="18" charset="0"/>
              <a:ea typeface="华文新魏" pitchFamily="2" charset="-122"/>
            </a:endParaRPr>
          </a:p>
          <a:p>
            <a:pPr marL="711200" indent="-711200" eaLnBrk="1" hangingPunct="1">
              <a:lnSpc>
                <a:spcPct val="120000"/>
              </a:lnSpc>
              <a:spcBef>
                <a:spcPct val="15000"/>
              </a:spcBef>
              <a:spcAft>
                <a:spcPct val="10000"/>
              </a:spcAft>
              <a:buFont typeface="Wingdings" pitchFamily="2" charset="2"/>
              <a:buNone/>
            </a:pPr>
            <a:endParaRPr lang="en-US" altLang="zh-CN" sz="2800" b="0" dirty="0">
              <a:solidFill>
                <a:srgbClr val="FFFF00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1748" name="Rectangle 5"/>
          <p:cNvSpPr>
            <a:spLocks noChangeArrowheads="1"/>
          </p:cNvSpPr>
          <p:nvPr/>
        </p:nvSpPr>
        <p:spPr bwMode="auto">
          <a:xfrm>
            <a:off x="12700" y="14288"/>
            <a:ext cx="4414838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四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土的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压缩性和地基沉降量计算</a:t>
            </a:r>
          </a:p>
        </p:txBody>
      </p:sp>
      <p:sp>
        <p:nvSpPr>
          <p:cNvPr id="31749" name="Text Box 77"/>
          <p:cNvSpPr txBox="1">
            <a:spLocks noChangeArrowheads="1"/>
          </p:cNvSpPr>
          <p:nvPr/>
        </p:nvSpPr>
        <p:spPr bwMode="auto">
          <a:xfrm>
            <a:off x="8027988" y="0"/>
            <a:ext cx="1116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重点</a:t>
            </a:r>
          </a:p>
        </p:txBody>
      </p:sp>
      <p:sp>
        <p:nvSpPr>
          <p:cNvPr id="31750" name="Rectangle 79"/>
          <p:cNvSpPr>
            <a:spLocks noChangeArrowheads="1"/>
          </p:cNvSpPr>
          <p:nvPr/>
        </p:nvSpPr>
        <p:spPr bwMode="auto">
          <a:xfrm>
            <a:off x="5214938" y="4500563"/>
            <a:ext cx="2376487" cy="17732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12800" indent="-8128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Aft>
                <a:spcPct val="20000"/>
              </a:spcAft>
              <a:buClr>
                <a:srgbClr val="FFCC00"/>
              </a:buClr>
              <a:buFont typeface="Wingdings" pitchFamily="2" charset="2"/>
              <a:buNone/>
            </a:pPr>
            <a:r>
              <a:rPr lang="en-US" altLang="zh-CN" sz="2800" dirty="0">
                <a:solidFill>
                  <a:srgbClr val="FFFF00"/>
                </a:solidFill>
                <a:latin typeface="Times New Roman" pitchFamily="18" charset="0"/>
                <a:ea typeface="华文楷体" pitchFamily="2" charset="-122"/>
              </a:rPr>
              <a:t>(</a:t>
            </a:r>
            <a:r>
              <a:rPr lang="en-US" altLang="zh-CN" sz="2800" i="1" dirty="0">
                <a:solidFill>
                  <a:srgbClr val="FFFF00"/>
                </a:solidFill>
                <a:latin typeface="Times New Roman" pitchFamily="18" charset="0"/>
                <a:ea typeface="华文楷体" pitchFamily="2" charset="-122"/>
              </a:rPr>
              <a:t>e</a:t>
            </a:r>
            <a:r>
              <a:rPr lang="en-US" altLang="zh-CN" sz="2800" baseline="-25000" dirty="0">
                <a:solidFill>
                  <a:srgbClr val="FFFF00"/>
                </a:solidFill>
                <a:latin typeface="Times New Roman" pitchFamily="18" charset="0"/>
                <a:ea typeface="华文楷体" pitchFamily="2" charset="-122"/>
              </a:rPr>
              <a:t>0</a:t>
            </a:r>
            <a:r>
              <a:rPr lang="en-US" altLang="zh-CN" sz="2800" dirty="0">
                <a:solidFill>
                  <a:srgbClr val="FFFF00"/>
                </a:solidFill>
                <a:latin typeface="Times New Roman" pitchFamily="18" charset="0"/>
                <a:ea typeface="华文楷体" pitchFamily="2" charset="-122"/>
              </a:rPr>
              <a:t>, </a:t>
            </a:r>
            <a:r>
              <a:rPr lang="en-US" altLang="zh-CN" sz="2800" i="1" dirty="0">
                <a:solidFill>
                  <a:srgbClr val="FFFF00"/>
                </a:solidFill>
                <a:latin typeface="Times New Roman" pitchFamily="18" charset="0"/>
                <a:ea typeface="华文楷体" pitchFamily="2" charset="-122"/>
                <a:sym typeface="Symbol" pitchFamily="18" charset="2"/>
              </a:rPr>
              <a:t></a:t>
            </a:r>
            <a:r>
              <a:rPr lang="en-US" altLang="zh-CN" sz="2800" baseline="-25000" dirty="0">
                <a:solidFill>
                  <a:srgbClr val="FFFF00"/>
                </a:solidFill>
                <a:latin typeface="Times New Roman" pitchFamily="18" charset="0"/>
                <a:ea typeface="华文楷体" pitchFamily="2" charset="-122"/>
                <a:sym typeface="Symbol" pitchFamily="18" charset="2"/>
              </a:rPr>
              <a:t>s</a:t>
            </a:r>
            <a:r>
              <a:rPr lang="en-US" altLang="zh-CN" sz="2800" dirty="0">
                <a:solidFill>
                  <a:srgbClr val="FFFF00"/>
                </a:solidFill>
                <a:latin typeface="Times New Roman" pitchFamily="18" charset="0"/>
                <a:ea typeface="华文楷体" pitchFamily="2" charset="-122"/>
              </a:rPr>
              <a:t>) </a:t>
            </a:r>
          </a:p>
          <a:p>
            <a:pPr eaLnBrk="1" fontAlgn="base" hangingPunct="1">
              <a:spcAft>
                <a:spcPct val="20000"/>
              </a:spcAft>
              <a:buClr>
                <a:srgbClr val="FFCC00"/>
              </a:buClr>
              <a:buFont typeface="Wingdings" pitchFamily="2" charset="2"/>
              <a:buNone/>
            </a:pPr>
            <a:r>
              <a:rPr lang="en-US" altLang="zh-CN" sz="2800" dirty="0">
                <a:solidFill>
                  <a:srgbClr val="FFFF00"/>
                </a:solidFill>
                <a:latin typeface="Times New Roman" pitchFamily="18" charset="0"/>
                <a:ea typeface="华文楷体" pitchFamily="2" charset="-122"/>
              </a:rPr>
              <a:t>(0.42</a:t>
            </a:r>
            <a:r>
              <a:rPr lang="en-US" altLang="zh-CN" sz="2800" i="1" dirty="0">
                <a:solidFill>
                  <a:srgbClr val="FFFF00"/>
                </a:solidFill>
                <a:latin typeface="Times New Roman" pitchFamily="18" charset="0"/>
                <a:ea typeface="华文楷体" pitchFamily="2" charset="-122"/>
              </a:rPr>
              <a:t>e</a:t>
            </a:r>
            <a:r>
              <a:rPr lang="en-US" altLang="zh-CN" sz="2800" baseline="-25000" dirty="0">
                <a:solidFill>
                  <a:srgbClr val="FFFF00"/>
                </a:solidFill>
                <a:latin typeface="Times New Roman" pitchFamily="18" charset="0"/>
                <a:ea typeface="华文楷体" pitchFamily="2" charset="-122"/>
              </a:rPr>
              <a:t>0</a:t>
            </a:r>
            <a:r>
              <a:rPr lang="en-US" altLang="zh-CN" sz="2800" dirty="0">
                <a:solidFill>
                  <a:srgbClr val="FFFF00"/>
                </a:solidFill>
                <a:latin typeface="Times New Roman" pitchFamily="18" charset="0"/>
                <a:ea typeface="华文楷体" pitchFamily="2" charset="-122"/>
              </a:rPr>
              <a:t>, </a:t>
            </a:r>
            <a:r>
              <a:rPr lang="en-US" altLang="zh-CN" sz="2800" i="1" dirty="0">
                <a:solidFill>
                  <a:srgbClr val="FFFF00"/>
                </a:solidFill>
                <a:latin typeface="Times New Roman" pitchFamily="18" charset="0"/>
                <a:ea typeface="华文楷体" pitchFamily="2" charset="-122"/>
                <a:sym typeface="Symbol" pitchFamily="18" charset="2"/>
              </a:rPr>
              <a:t></a:t>
            </a:r>
            <a:r>
              <a:rPr lang="en-US" altLang="zh-CN" sz="2800" dirty="0">
                <a:solidFill>
                  <a:srgbClr val="FFFF00"/>
                </a:solidFill>
                <a:latin typeface="Times New Roman" pitchFamily="18" charset="0"/>
                <a:ea typeface="华文楷体" pitchFamily="2" charset="-122"/>
              </a:rPr>
              <a:t>) </a:t>
            </a:r>
          </a:p>
          <a:p>
            <a:pPr eaLnBrk="1" fontAlgn="base" hangingPunct="1">
              <a:spcAft>
                <a:spcPct val="20000"/>
              </a:spcAft>
              <a:buClr>
                <a:srgbClr val="FFCC00"/>
              </a:buClr>
              <a:buFont typeface="Wingdings" pitchFamily="2" charset="2"/>
              <a:buNone/>
            </a:pPr>
            <a:r>
              <a:rPr lang="en-US" altLang="zh-CN" sz="2800" i="1" dirty="0">
                <a:solidFill>
                  <a:srgbClr val="FFFF00"/>
                </a:solidFill>
                <a:latin typeface="Times New Roman" pitchFamily="18" charset="0"/>
                <a:ea typeface="华文楷体" pitchFamily="2" charset="-122"/>
              </a:rPr>
              <a:t>C</a:t>
            </a:r>
            <a:r>
              <a:rPr lang="en-US" altLang="zh-CN" sz="2800" dirty="0">
                <a:solidFill>
                  <a:srgbClr val="FFFF00"/>
                </a:solidFill>
                <a:latin typeface="Times New Roman" pitchFamily="18" charset="0"/>
                <a:ea typeface="华文楷体" pitchFamily="2" charset="-122"/>
              </a:rPr>
              <a:t>c, </a:t>
            </a:r>
            <a:r>
              <a:rPr lang="en-US" altLang="zh-CN" sz="2800" i="1" dirty="0">
                <a:solidFill>
                  <a:srgbClr val="FFFF00"/>
                </a:solidFill>
                <a:latin typeface="Times New Roman" pitchFamily="18" charset="0"/>
                <a:ea typeface="华文楷体" pitchFamily="2" charset="-122"/>
              </a:rPr>
              <a:t>C</a:t>
            </a:r>
            <a:r>
              <a:rPr lang="en-US" altLang="zh-CN" sz="2800" dirty="0">
                <a:solidFill>
                  <a:srgbClr val="FFFF00"/>
                </a:solidFill>
                <a:latin typeface="Times New Roman" pitchFamily="18" charset="0"/>
                <a:ea typeface="华文楷体" pitchFamily="2" charset="-122"/>
              </a:rPr>
              <a:t>e=</a:t>
            </a:r>
            <a:r>
              <a:rPr lang="en-US" altLang="zh-CN" sz="2800" dirty="0" err="1">
                <a:solidFill>
                  <a:srgbClr val="FFFF00"/>
                </a:solidFill>
                <a:latin typeface="Times New Roman" pitchFamily="18" charset="0"/>
                <a:ea typeface="华文楷体" pitchFamily="2" charset="-122"/>
              </a:rPr>
              <a:t>Const</a:t>
            </a:r>
            <a:endParaRPr lang="en-US" altLang="zh-CN" sz="2800" dirty="0">
              <a:solidFill>
                <a:srgbClr val="FFFF00"/>
              </a:solidFill>
              <a:latin typeface="Times New Roman" pitchFamily="18" charset="0"/>
              <a:ea typeface="华文楷体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9534999"/>
      </p:ext>
    </p:extLst>
  </p:cSld>
  <p:clrMapOvr>
    <a:masterClrMapping/>
  </p:clrMapOvr>
  <p:transition advTm="44816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sz="4000" b="0">
                <a:latin typeface="Times New Roman" pitchFamily="18" charset="0"/>
                <a:ea typeface="楷体_GB2312" pitchFamily="49" charset="-122"/>
              </a:rPr>
              <a:t>§4.2  </a:t>
            </a:r>
            <a:r>
              <a:rPr lang="zh-CN" altLang="en-US" sz="4000" b="0">
                <a:latin typeface="Times New Roman" pitchFamily="18" charset="0"/>
                <a:ea typeface="楷体_GB2312" pitchFamily="49" charset="-122"/>
              </a:rPr>
              <a:t>地基最终沉降量的计算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89000" y="1484313"/>
            <a:ext cx="7859713" cy="4249737"/>
          </a:xfrm>
          <a:noFill/>
        </p:spPr>
        <p:txBody>
          <a:bodyPr/>
          <a:lstStyle/>
          <a:p>
            <a:pPr marL="711200" indent="-711200" eaLnBrk="1" hangingPunct="1">
              <a:spcBef>
                <a:spcPct val="15000"/>
              </a:spcBef>
              <a:spcAft>
                <a:spcPct val="10000"/>
              </a:spcAft>
            </a:pP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基本假设</a:t>
            </a:r>
            <a:r>
              <a:rPr lang="zh-CN" altLang="en-US" sz="2800" b="0" dirty="0"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 结果影响  修正</a:t>
            </a:r>
          </a:p>
          <a:p>
            <a:pPr marL="1828800" lvl="3" indent="-457200" eaLnBrk="1" hangingPunct="1"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材料力学：基底压力线性分布</a:t>
            </a:r>
          </a:p>
          <a:p>
            <a:pPr marL="1828800" lvl="3" indent="-457200" eaLnBrk="1" hangingPunct="1"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弹性力学：均匀连续各向同性弹性介质</a:t>
            </a:r>
          </a:p>
          <a:p>
            <a:pPr marL="1828800" lvl="3" indent="-457200" eaLnBrk="1" hangingPunct="1"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侧限应力状态，基础中点下应力分布</a:t>
            </a:r>
          </a:p>
          <a:p>
            <a:pPr marL="1828800" lvl="3" indent="-457200" eaLnBrk="1" hangingPunct="1"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主固结沉降：公式不计入</a:t>
            </a:r>
            <a:r>
              <a:rPr lang="en-US" altLang="zh-CN" sz="2800" b="0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S</a:t>
            </a:r>
            <a:r>
              <a:rPr lang="en-US" altLang="zh-CN" sz="2800" b="0" baseline="-25000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d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和</a:t>
            </a:r>
            <a:r>
              <a:rPr lang="en-US" altLang="zh-CN" sz="2800" b="0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S</a:t>
            </a:r>
            <a:r>
              <a:rPr lang="en-US" altLang="zh-CN" sz="2800" b="0" baseline="-25000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s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的影响</a:t>
            </a:r>
            <a:endParaRPr lang="zh-CN" altLang="en-US" sz="2800" b="0" dirty="0">
              <a:latin typeface="Times New Roman" pitchFamily="18" charset="0"/>
              <a:ea typeface="黑体" pitchFamily="49" charset="-122"/>
            </a:endParaRPr>
          </a:p>
          <a:p>
            <a:pPr marL="711200" indent="-711200" eaLnBrk="1" hangingPunct="1">
              <a:spcBef>
                <a:spcPct val="15000"/>
              </a:spcBef>
              <a:spcAft>
                <a:spcPct val="10000"/>
              </a:spcAft>
            </a:pP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单一土层的沉降量计算</a:t>
            </a:r>
          </a:p>
          <a:p>
            <a:pPr marL="711200" indent="-711200" eaLnBrk="1" hangingPunct="1">
              <a:spcBef>
                <a:spcPct val="15000"/>
              </a:spcBef>
              <a:spcAft>
                <a:spcPct val="10000"/>
              </a:spcAft>
            </a:pPr>
            <a:endParaRPr lang="zh-CN" altLang="en-US" sz="2800" b="0" dirty="0">
              <a:latin typeface="Times New Roman" pitchFamily="18" charset="0"/>
              <a:cs typeface="Times New Roman" pitchFamily="18" charset="0"/>
            </a:endParaRPr>
          </a:p>
          <a:p>
            <a:pPr marL="711200" indent="-711200" eaLnBrk="1" hangingPunct="1">
              <a:spcBef>
                <a:spcPct val="15000"/>
              </a:spcBef>
              <a:spcAft>
                <a:spcPct val="10000"/>
              </a:spcAft>
            </a:pP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分层总和法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12700" y="14288"/>
            <a:ext cx="4414838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四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土的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压缩性和地基沉降量计算</a:t>
            </a:r>
          </a:p>
        </p:txBody>
      </p:sp>
      <p:sp>
        <p:nvSpPr>
          <p:cNvPr id="32773" name="Text Box 85"/>
          <p:cNvSpPr txBox="1">
            <a:spLocks noChangeArrowheads="1"/>
          </p:cNvSpPr>
          <p:nvPr/>
        </p:nvSpPr>
        <p:spPr bwMode="auto">
          <a:xfrm>
            <a:off x="8027988" y="0"/>
            <a:ext cx="1116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重点</a:t>
            </a:r>
          </a:p>
        </p:txBody>
      </p:sp>
      <p:graphicFrame>
        <p:nvGraphicFramePr>
          <p:cNvPr id="32774" name="Object 87"/>
          <p:cNvGraphicFramePr>
            <a:graphicFrameLocks noChangeAspect="1"/>
          </p:cNvGraphicFramePr>
          <p:nvPr/>
        </p:nvGraphicFramePr>
        <p:xfrm>
          <a:off x="3851275" y="4652963"/>
          <a:ext cx="309721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0" name="公式" r:id="rId4" imgW="1651000" imgH="431800" progId="Equation.3">
                  <p:embed/>
                </p:oleObj>
              </mc:Choice>
              <mc:Fallback>
                <p:oleObj name="公式" r:id="rId4" imgW="1651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4652963"/>
                        <a:ext cx="3097213" cy="6889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88"/>
          <p:cNvGraphicFramePr>
            <a:graphicFrameLocks noChangeAspect="1"/>
          </p:cNvGraphicFramePr>
          <p:nvPr/>
        </p:nvGraphicFramePr>
        <p:xfrm>
          <a:off x="3851275" y="5805488"/>
          <a:ext cx="165735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1" name="Equation" r:id="rId6" imgW="825500" imgH="254000" progId="Equation.DSMT4">
                  <p:embed/>
                </p:oleObj>
              </mc:Choice>
              <mc:Fallback>
                <p:oleObj name="Equation" r:id="rId6" imgW="8255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5805488"/>
                        <a:ext cx="1657350" cy="433387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3241145985"/>
      </p:ext>
    </p:extLst>
  </p:cSld>
  <p:clrMapOvr>
    <a:masterClrMapping/>
  </p:clrMapOvr>
  <p:transition advTm="44816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3"/>
          <p:cNvGraphicFramePr>
            <a:graphicFrameLocks noChangeAspect="1"/>
          </p:cNvGraphicFramePr>
          <p:nvPr/>
        </p:nvGraphicFramePr>
        <p:xfrm>
          <a:off x="4859338" y="2301875"/>
          <a:ext cx="1873250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9" name="公式" r:id="rId3" imgW="1041120" imgH="533520" progId="Equation.3">
                  <p:embed/>
                </p:oleObj>
              </mc:Choice>
              <mc:Fallback>
                <p:oleObj name="公式" r:id="rId3" imgW="1041120" imgH="533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2301875"/>
                        <a:ext cx="1873250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5" name="Object 4"/>
          <p:cNvGraphicFramePr>
            <a:graphicFrameLocks noChangeAspect="1"/>
          </p:cNvGraphicFramePr>
          <p:nvPr/>
        </p:nvGraphicFramePr>
        <p:xfrm>
          <a:off x="6588125" y="3563938"/>
          <a:ext cx="158432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0" name="Equation" r:id="rId5" imgW="1130040" imgH="546120" progId="Equation.DSMT4">
                  <p:embed/>
                </p:oleObj>
              </mc:Choice>
              <mc:Fallback>
                <p:oleObj name="Equation" r:id="rId5" imgW="1130040" imgH="546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3563938"/>
                        <a:ext cx="1584325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99FF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Text Box 5"/>
          <p:cNvSpPr txBox="1">
            <a:spLocks noChangeArrowheads="1"/>
          </p:cNvSpPr>
          <p:nvPr/>
        </p:nvSpPr>
        <p:spPr bwMode="auto">
          <a:xfrm>
            <a:off x="4860925" y="3635375"/>
            <a:ext cx="1657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800" b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固结系数</a:t>
            </a:r>
          </a:p>
        </p:txBody>
      </p:sp>
      <p:graphicFrame>
        <p:nvGraphicFramePr>
          <p:cNvPr id="33797" name="Object 7"/>
          <p:cNvGraphicFramePr>
            <a:graphicFrameLocks noChangeAspect="1"/>
          </p:cNvGraphicFramePr>
          <p:nvPr/>
        </p:nvGraphicFramePr>
        <p:xfrm>
          <a:off x="6588125" y="4498975"/>
          <a:ext cx="115252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1" name="Equation" r:id="rId7" imgW="799920" imgH="495360" progId="Equation.DSMT4">
                  <p:embed/>
                </p:oleObj>
              </mc:Choice>
              <mc:Fallback>
                <p:oleObj name="Equation" r:id="rId7" imgW="799920" imgH="495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4498975"/>
                        <a:ext cx="115252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99FF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 Box 8"/>
          <p:cNvSpPr txBox="1">
            <a:spLocks noChangeArrowheads="1"/>
          </p:cNvSpPr>
          <p:nvPr/>
        </p:nvSpPr>
        <p:spPr bwMode="auto">
          <a:xfrm>
            <a:off x="4860925" y="4498975"/>
            <a:ext cx="1657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800" b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时间因数</a:t>
            </a:r>
          </a:p>
        </p:txBody>
      </p:sp>
      <p:sp>
        <p:nvSpPr>
          <p:cNvPr id="33799" name="Rectangle 13"/>
          <p:cNvSpPr>
            <a:spLocks noChangeArrowheads="1"/>
          </p:cNvSpPr>
          <p:nvPr/>
        </p:nvSpPr>
        <p:spPr bwMode="auto">
          <a:xfrm>
            <a:off x="277813" y="274638"/>
            <a:ext cx="868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lnSpc>
                <a:spcPct val="150000"/>
              </a:lnSpc>
              <a:spcAft>
                <a:spcPct val="20000"/>
              </a:spcAft>
              <a:buClrTx/>
              <a:buSzTx/>
              <a:buFontTx/>
              <a:buNone/>
            </a:pPr>
            <a:r>
              <a:rPr lang="en-US" altLang="zh-CN" sz="4000" b="0">
                <a:solidFill>
                  <a:srgbClr val="FFFFFF"/>
                </a:solidFill>
                <a:latin typeface="Times New Roman" pitchFamily="18" charset="0"/>
                <a:ea typeface="楷体_GB2312" pitchFamily="49" charset="-122"/>
              </a:rPr>
              <a:t>§4.3 </a:t>
            </a:r>
            <a:r>
              <a:rPr lang="zh-CN" altLang="en-US" sz="4000" b="0">
                <a:solidFill>
                  <a:srgbClr val="FFFFFF"/>
                </a:solidFill>
                <a:latin typeface="Times New Roman" pitchFamily="18" charset="0"/>
                <a:ea typeface="楷体_GB2312" pitchFamily="49" charset="-122"/>
              </a:rPr>
              <a:t>地基沉降与时间的关系</a:t>
            </a:r>
          </a:p>
        </p:txBody>
      </p:sp>
      <p:sp>
        <p:nvSpPr>
          <p:cNvPr id="33800" name="Rectangle 14"/>
          <p:cNvSpPr>
            <a:spLocks noChangeArrowheads="1"/>
          </p:cNvSpPr>
          <p:nvPr/>
        </p:nvSpPr>
        <p:spPr bwMode="auto">
          <a:xfrm>
            <a:off x="12700" y="14288"/>
            <a:ext cx="4414838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四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土的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压缩性和地基沉降量计算</a:t>
            </a:r>
          </a:p>
        </p:txBody>
      </p:sp>
      <p:sp>
        <p:nvSpPr>
          <p:cNvPr id="33801" name="Rectangle 15"/>
          <p:cNvSpPr>
            <a:spLocks noChangeArrowheads="1"/>
          </p:cNvSpPr>
          <p:nvPr/>
        </p:nvSpPr>
        <p:spPr bwMode="auto">
          <a:xfrm>
            <a:off x="785813" y="1428750"/>
            <a:ext cx="7499350" cy="424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711200" indent="-7112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Bef>
                <a:spcPct val="15000"/>
              </a:spcBef>
              <a:spcAft>
                <a:spcPct val="10000"/>
              </a:spcAft>
              <a:buClr>
                <a:srgbClr val="FFCC00"/>
              </a:buClr>
            </a:pPr>
            <a:r>
              <a:rPr lang="zh-CN" altLang="en-US" sz="2800" b="0" dirty="0">
                <a:solidFill>
                  <a:srgbClr val="FFFFFF"/>
                </a:solidFill>
              </a:rPr>
              <a:t>一维渗流固结微分方程及其解答</a:t>
            </a:r>
          </a:p>
          <a:p>
            <a:pPr eaLnBrk="1" fontAlgn="base" hangingPunct="1">
              <a:spcBef>
                <a:spcPct val="15000"/>
              </a:spcBef>
              <a:spcAft>
                <a:spcPct val="10000"/>
              </a:spcAft>
              <a:buClr>
                <a:srgbClr val="FFCC00"/>
              </a:buClr>
              <a:buFont typeface="Wingdings" pitchFamily="2" charset="2"/>
              <a:buNone/>
            </a:pPr>
            <a:r>
              <a:rPr kumimoji="1" lang="zh-CN" altLang="en-US" sz="2800" b="0" dirty="0">
                <a:solidFill>
                  <a:srgbClr val="FFFF00"/>
                </a:solidFill>
                <a:ea typeface="华文新魏" pitchFamily="2" charset="-122"/>
              </a:rPr>
              <a:t>	</a:t>
            </a:r>
            <a:r>
              <a:rPr kumimoji="1"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假设条件</a:t>
            </a:r>
          </a:p>
          <a:p>
            <a:pPr eaLnBrk="1" fontAlgn="base" hangingPunct="1">
              <a:spcBef>
                <a:spcPct val="15000"/>
              </a:spcBef>
              <a:spcAft>
                <a:spcPct val="10000"/>
              </a:spcAft>
              <a:buClr>
                <a:srgbClr val="FFCC00"/>
              </a:buClr>
              <a:buFont typeface="Wingdings" pitchFamily="2" charset="2"/>
              <a:buNone/>
            </a:pPr>
            <a:r>
              <a:rPr kumimoji="1"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渗流固结微分方程</a:t>
            </a:r>
          </a:p>
          <a:p>
            <a:pPr eaLnBrk="1" fontAlgn="base" hangingPunct="1">
              <a:spcBef>
                <a:spcPct val="15000"/>
              </a:spcBef>
              <a:spcAft>
                <a:spcPct val="10000"/>
              </a:spcAft>
              <a:buClr>
                <a:srgbClr val="FFCC00"/>
              </a:buClr>
              <a:buFont typeface="Wingdings" pitchFamily="2" charset="2"/>
              <a:buNone/>
            </a:pPr>
            <a:r>
              <a:rPr kumimoji="1"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微分方程解答</a:t>
            </a:r>
          </a:p>
          <a:p>
            <a:pPr eaLnBrk="1" fontAlgn="base" hangingPunct="1">
              <a:spcBef>
                <a:spcPct val="15000"/>
              </a:spcBef>
              <a:spcAft>
                <a:spcPct val="10000"/>
              </a:spcAft>
              <a:buClr>
                <a:srgbClr val="FFCC00"/>
              </a:buClr>
              <a:buFont typeface="Wingdings" pitchFamily="2" charset="2"/>
              <a:buNone/>
            </a:pPr>
            <a:endParaRPr kumimoji="1" lang="zh-CN" altLang="en-US" sz="2000" b="0" dirty="0">
              <a:solidFill>
                <a:srgbClr val="FFFF00"/>
              </a:solidFill>
              <a:ea typeface="华文新魏" pitchFamily="2" charset="-122"/>
            </a:endParaRPr>
          </a:p>
          <a:p>
            <a:pPr eaLnBrk="1" fontAlgn="base" hangingPunct="1">
              <a:spcBef>
                <a:spcPct val="15000"/>
              </a:spcBef>
              <a:spcAft>
                <a:spcPct val="10000"/>
              </a:spcAft>
              <a:buClr>
                <a:srgbClr val="FFCC00"/>
              </a:buClr>
            </a:pPr>
            <a:r>
              <a:rPr lang="zh-CN" altLang="en-US" sz="2800" b="0" dirty="0">
                <a:solidFill>
                  <a:srgbClr val="FFFFFF"/>
                </a:solidFill>
              </a:rPr>
              <a:t>固结度的概念</a:t>
            </a:r>
          </a:p>
          <a:p>
            <a:pPr eaLnBrk="1" fontAlgn="base" hangingPunct="1">
              <a:spcBef>
                <a:spcPct val="15000"/>
              </a:spcBef>
              <a:spcAft>
                <a:spcPct val="10000"/>
              </a:spcAft>
              <a:buClr>
                <a:srgbClr val="FFCC00"/>
              </a:buClr>
              <a:buFont typeface="Wingdings" pitchFamily="2" charset="2"/>
              <a:buNone/>
            </a:pPr>
            <a:r>
              <a:rPr kumimoji="1" lang="zh-CN" altLang="en-US" sz="2800" b="0" dirty="0">
                <a:solidFill>
                  <a:srgbClr val="FFFF00"/>
                </a:solidFill>
                <a:ea typeface="华文新魏" pitchFamily="2" charset="-122"/>
              </a:rPr>
              <a:t>	</a:t>
            </a:r>
            <a:r>
              <a:rPr kumimoji="1"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一点的固结度</a:t>
            </a:r>
          </a:p>
          <a:p>
            <a:pPr eaLnBrk="1" fontAlgn="base" hangingPunct="1">
              <a:spcBef>
                <a:spcPct val="15000"/>
              </a:spcBef>
              <a:spcAft>
                <a:spcPct val="10000"/>
              </a:spcAft>
              <a:buClr>
                <a:srgbClr val="FFCC00"/>
              </a:buClr>
              <a:buFont typeface="Wingdings" pitchFamily="2" charset="2"/>
              <a:buNone/>
            </a:pPr>
            <a:r>
              <a:rPr kumimoji="1"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土层平均固结度</a:t>
            </a:r>
          </a:p>
        </p:txBody>
      </p:sp>
      <p:sp>
        <p:nvSpPr>
          <p:cNvPr id="1031188" name="Text Box 20"/>
          <p:cNvSpPr txBox="1">
            <a:spLocks noChangeArrowheads="1"/>
          </p:cNvSpPr>
          <p:nvPr/>
        </p:nvSpPr>
        <p:spPr bwMode="auto">
          <a:xfrm>
            <a:off x="2268538" y="5734050"/>
            <a:ext cx="4175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重点：土层平均固结度</a:t>
            </a:r>
          </a:p>
        </p:txBody>
      </p:sp>
    </p:spTree>
    <p:extLst>
      <p:ext uri="{BB962C8B-B14F-4D97-AF65-F5344CB8AC3E}">
        <p14:creationId xmlns:p14="http://schemas.microsoft.com/office/powerpoint/2010/main" val="1173505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031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031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18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1042988" y="4706938"/>
            <a:ext cx="1687512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rgbClr val="FFFFFF"/>
              </a:solidFill>
              <a:ea typeface="宋体" pitchFamily="2" charset="-122"/>
            </a:endParaRP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7091363" y="2552700"/>
            <a:ext cx="17287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800">
                <a:solidFill>
                  <a:srgbClr val="FFFF00"/>
                </a:solidFill>
                <a:latin typeface="幼圆" pitchFamily="49" charset="-122"/>
              </a:rPr>
              <a:t>计算公式</a:t>
            </a:r>
            <a:endParaRPr kumimoji="1" lang="zh-CN" altLang="en-US" sz="2800" b="0">
              <a:solidFill>
                <a:srgbClr val="FFFF00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3482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7099300" y="3114675"/>
          <a:ext cx="1649413" cy="267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3" name="公式" r:id="rId4" imgW="1079500" imgH="1752600" progId="Equation.3">
                  <p:embed/>
                </p:oleObj>
              </mc:Choice>
              <mc:Fallback>
                <p:oleObj name="公式" r:id="rId4" imgW="1079500" imgH="175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9300" y="3114675"/>
                        <a:ext cx="1649413" cy="267811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611188" y="2493963"/>
            <a:ext cx="3960812" cy="357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rgbClr val="FFFFFF"/>
                </a:solidFill>
                <a:latin typeface="Times New Roman" pitchFamily="18" charset="0"/>
              </a:rPr>
              <a:t>问题</a:t>
            </a:r>
            <a:r>
              <a:rPr kumimoji="1" lang="en-US" altLang="zh-CN" sz="2400">
                <a:solidFill>
                  <a:srgbClr val="FFFFFF"/>
                </a:solidFill>
                <a:latin typeface="Times New Roman" pitchFamily="18" charset="0"/>
              </a:rPr>
              <a:t>1</a:t>
            </a:r>
            <a:r>
              <a:rPr kumimoji="1" lang="zh-CN" altLang="en-US" sz="2400">
                <a:solidFill>
                  <a:srgbClr val="FFFFFF"/>
                </a:solidFill>
                <a:latin typeface="Times New Roman" pitchFamily="18" charset="0"/>
              </a:rPr>
              <a:t>：已知</a:t>
            </a:r>
          </a:p>
          <a:p>
            <a:pPr eaLnBrk="1" fontAlgn="base" hangingPunct="1"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rgbClr val="FFFFFF"/>
                </a:solidFill>
                <a:latin typeface="Times New Roman" pitchFamily="18" charset="0"/>
              </a:rPr>
              <a:t>	  求解</a:t>
            </a:r>
          </a:p>
          <a:p>
            <a:pPr eaLnBrk="1" fontAlgn="base" hangingPunct="1"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rgbClr val="FFFFFF"/>
                </a:solidFill>
                <a:latin typeface="Times New Roman" pitchFamily="18" charset="0"/>
              </a:rPr>
              <a:t>	</a:t>
            </a:r>
          </a:p>
          <a:p>
            <a:pPr eaLnBrk="1" fontAlgn="base" hangingPunct="1"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rgbClr val="FFFFFF"/>
                </a:solidFill>
                <a:latin typeface="Times New Roman" pitchFamily="18" charset="0"/>
              </a:rPr>
              <a:t>问题</a:t>
            </a:r>
            <a:r>
              <a:rPr kumimoji="1" lang="en-US" altLang="zh-CN" sz="2400">
                <a:solidFill>
                  <a:srgbClr val="FFFFFF"/>
                </a:solidFill>
                <a:latin typeface="Times New Roman" pitchFamily="18" charset="0"/>
              </a:rPr>
              <a:t>2</a:t>
            </a:r>
            <a:r>
              <a:rPr kumimoji="1" lang="zh-CN" altLang="en-US" sz="2400">
                <a:solidFill>
                  <a:srgbClr val="FFFFFF"/>
                </a:solidFill>
                <a:latin typeface="Times New Roman" pitchFamily="18" charset="0"/>
              </a:rPr>
              <a:t>：已知</a:t>
            </a:r>
          </a:p>
          <a:p>
            <a:pPr eaLnBrk="1" fontAlgn="base" hangingPunct="1"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rgbClr val="FFFFFF"/>
                </a:solidFill>
                <a:latin typeface="Times New Roman" pitchFamily="18" charset="0"/>
              </a:rPr>
              <a:t>	  求解</a:t>
            </a:r>
          </a:p>
          <a:p>
            <a:pPr eaLnBrk="1" fontAlgn="base" hangingPunct="1"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rgbClr val="FFFFFF"/>
                </a:solidFill>
                <a:latin typeface="Times New Roman" pitchFamily="18" charset="0"/>
              </a:rPr>
              <a:t>	</a:t>
            </a:r>
          </a:p>
          <a:p>
            <a:pPr eaLnBrk="1" fontAlgn="base" hangingPunct="1"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rgbClr val="FFFFFF"/>
                </a:solidFill>
                <a:latin typeface="Times New Roman" pitchFamily="18" charset="0"/>
              </a:rPr>
              <a:t>问题</a:t>
            </a:r>
            <a:r>
              <a:rPr kumimoji="1" lang="en-US" altLang="zh-CN" sz="2400">
                <a:solidFill>
                  <a:srgbClr val="FFFFFF"/>
                </a:solidFill>
                <a:latin typeface="Times New Roman" pitchFamily="18" charset="0"/>
              </a:rPr>
              <a:t>3</a:t>
            </a:r>
            <a:r>
              <a:rPr kumimoji="1" lang="zh-CN" altLang="en-US" sz="2400">
                <a:solidFill>
                  <a:srgbClr val="FFFFFF"/>
                </a:solidFill>
                <a:latin typeface="Times New Roman" pitchFamily="18" charset="0"/>
              </a:rPr>
              <a:t>：已知</a:t>
            </a:r>
          </a:p>
          <a:p>
            <a:pPr eaLnBrk="1" fontAlgn="base" hangingPunct="1"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rgbClr val="FFFFFF"/>
                </a:solidFill>
                <a:latin typeface="Times New Roman" pitchFamily="18" charset="0"/>
              </a:rPr>
              <a:t>	  量测</a:t>
            </a:r>
          </a:p>
          <a:p>
            <a:pPr eaLnBrk="1" fontAlgn="base" hangingPunct="1"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rgbClr val="FFFFFF"/>
                </a:solidFill>
                <a:latin typeface="Times New Roman" pitchFamily="18" charset="0"/>
              </a:rPr>
              <a:t>	  求解</a:t>
            </a:r>
            <a:r>
              <a:rPr kumimoji="1" lang="zh-CN" altLang="en-US" sz="2400">
                <a:solidFill>
                  <a:srgbClr val="A886E0"/>
                </a:solidFill>
                <a:latin typeface="幼圆" pitchFamily="49" charset="-122"/>
              </a:rPr>
              <a:t>	</a:t>
            </a:r>
          </a:p>
        </p:txBody>
      </p:sp>
      <p:graphicFrame>
        <p:nvGraphicFramePr>
          <p:cNvPr id="34822" name="Object 6"/>
          <p:cNvGraphicFramePr>
            <a:graphicFrameLocks noChangeAspect="1"/>
          </p:cNvGraphicFramePr>
          <p:nvPr/>
        </p:nvGraphicFramePr>
        <p:xfrm>
          <a:off x="2382838" y="4943475"/>
          <a:ext cx="223202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4" name="公式" r:id="rId6" imgW="1333500" imgH="685800" progId="Equation.3">
                  <p:embed/>
                </p:oleObj>
              </mc:Choice>
              <mc:Fallback>
                <p:oleObj name="公式" r:id="rId6" imgW="13335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2838" y="4943475"/>
                        <a:ext cx="2232025" cy="11493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7"/>
          <p:cNvGraphicFramePr>
            <a:graphicFrameLocks noChangeAspect="1"/>
          </p:cNvGraphicFramePr>
          <p:nvPr/>
        </p:nvGraphicFramePr>
        <p:xfrm>
          <a:off x="2368550" y="2493963"/>
          <a:ext cx="13684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5" name="公式" r:id="rId8" imgW="723586" imgH="457002" progId="Equation.3">
                  <p:embed/>
                </p:oleObj>
              </mc:Choice>
              <mc:Fallback>
                <p:oleObj name="公式" r:id="rId8" imgW="723586" imgH="45700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550" y="2493963"/>
                        <a:ext cx="1368425" cy="8636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8"/>
          <p:cNvGraphicFramePr>
            <a:graphicFrameLocks noChangeAspect="1"/>
          </p:cNvGraphicFramePr>
          <p:nvPr/>
        </p:nvGraphicFramePr>
        <p:xfrm>
          <a:off x="2384425" y="3719513"/>
          <a:ext cx="15113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6" name="公式" r:id="rId10" imgW="787058" imgH="406224" progId="Equation.3">
                  <p:embed/>
                </p:oleObj>
              </mc:Choice>
              <mc:Fallback>
                <p:oleObj name="公式" r:id="rId10" imgW="787058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425" y="3719513"/>
                        <a:ext cx="1511300" cy="7810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9"/>
          <p:cNvGraphicFramePr>
            <a:graphicFrameLocks noChangeAspect="1"/>
          </p:cNvGraphicFramePr>
          <p:nvPr/>
        </p:nvGraphicFramePr>
        <p:xfrm>
          <a:off x="4714875" y="2890838"/>
          <a:ext cx="144145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7" name="公式" r:id="rId12" imgW="660113" imgH="177723" progId="Equation.3">
                  <p:embed/>
                </p:oleObj>
              </mc:Choice>
              <mc:Fallback>
                <p:oleObj name="公式" r:id="rId12" imgW="660113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2890838"/>
                        <a:ext cx="1441450" cy="3889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6" name="Object 10"/>
          <p:cNvGraphicFramePr>
            <a:graphicFrameLocks noChangeAspect="1"/>
          </p:cNvGraphicFramePr>
          <p:nvPr/>
        </p:nvGraphicFramePr>
        <p:xfrm>
          <a:off x="4713288" y="3827463"/>
          <a:ext cx="144145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8" name="公式" r:id="rId14" imgW="660113" imgH="177723" progId="Equation.3">
                  <p:embed/>
                </p:oleObj>
              </mc:Choice>
              <mc:Fallback>
                <p:oleObj name="公式" r:id="rId14" imgW="660113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3288" y="3827463"/>
                        <a:ext cx="1441450" cy="3889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11"/>
          <p:cNvGraphicFramePr>
            <a:graphicFrameLocks noChangeAspect="1"/>
          </p:cNvGraphicFramePr>
          <p:nvPr/>
        </p:nvGraphicFramePr>
        <p:xfrm>
          <a:off x="4765675" y="4919663"/>
          <a:ext cx="184467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9" name="Equation" r:id="rId16" imgW="1193800" imgH="508000" progId="Equation.DSMT4">
                  <p:embed/>
                </p:oleObj>
              </mc:Choice>
              <mc:Fallback>
                <p:oleObj name="Equation" r:id="rId16" imgW="11938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5675" y="4919663"/>
                        <a:ext cx="1844675" cy="7842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8" name="Rectangle 14"/>
          <p:cNvSpPr>
            <a:spLocks noChangeArrowheads="1"/>
          </p:cNvSpPr>
          <p:nvPr/>
        </p:nvSpPr>
        <p:spPr bwMode="auto">
          <a:xfrm>
            <a:off x="250825" y="1484313"/>
            <a:ext cx="80660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0">
                <a:solidFill>
                  <a:srgbClr val="FFFFFF"/>
                </a:solidFill>
              </a:rPr>
              <a:t>渗流固结的工程问题：</a:t>
            </a:r>
            <a:r>
              <a:rPr kumimoji="1" lang="zh-CN" altLang="en-US" sz="2800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室内试验结果</a:t>
            </a:r>
            <a:r>
              <a:rPr kumimoji="1" lang="zh-CN" altLang="en-US" sz="2800" b="0">
                <a:solidFill>
                  <a:srgbClr val="FFFF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</a:t>
            </a:r>
            <a:r>
              <a:rPr kumimoji="1" lang="zh-CN" altLang="en-US" sz="2800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工程问题</a:t>
            </a:r>
          </a:p>
        </p:txBody>
      </p:sp>
      <p:sp>
        <p:nvSpPr>
          <p:cNvPr id="34829" name="Rectangle 15"/>
          <p:cNvSpPr>
            <a:spLocks noChangeArrowheads="1"/>
          </p:cNvSpPr>
          <p:nvPr/>
        </p:nvSpPr>
        <p:spPr bwMode="auto">
          <a:xfrm>
            <a:off x="277813" y="274638"/>
            <a:ext cx="868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lnSpc>
                <a:spcPct val="150000"/>
              </a:lnSpc>
              <a:spcAft>
                <a:spcPct val="20000"/>
              </a:spcAft>
              <a:buClrTx/>
              <a:buSzTx/>
              <a:buFontTx/>
              <a:buNone/>
            </a:pPr>
            <a:r>
              <a:rPr lang="en-US" altLang="zh-CN" sz="4000" b="0">
                <a:solidFill>
                  <a:srgbClr val="FFFFFF"/>
                </a:solidFill>
                <a:latin typeface="Times New Roman" pitchFamily="18" charset="0"/>
                <a:ea typeface="楷体_GB2312" pitchFamily="49" charset="-122"/>
              </a:rPr>
              <a:t>§4.3 </a:t>
            </a:r>
            <a:r>
              <a:rPr lang="zh-CN" altLang="en-US" sz="4000" b="0">
                <a:solidFill>
                  <a:srgbClr val="FFFFFF"/>
                </a:solidFill>
                <a:latin typeface="Times New Roman" pitchFamily="18" charset="0"/>
                <a:ea typeface="楷体_GB2312" pitchFamily="49" charset="-122"/>
              </a:rPr>
              <a:t>地基沉降与时间的关系</a:t>
            </a:r>
          </a:p>
        </p:txBody>
      </p:sp>
      <p:sp>
        <p:nvSpPr>
          <p:cNvPr id="34830" name="Rectangle 16"/>
          <p:cNvSpPr>
            <a:spLocks noChangeArrowheads="1"/>
          </p:cNvSpPr>
          <p:nvPr/>
        </p:nvSpPr>
        <p:spPr bwMode="auto">
          <a:xfrm>
            <a:off x="12700" y="14288"/>
            <a:ext cx="4414838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四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土的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压缩性和地基沉降量计算</a:t>
            </a:r>
          </a:p>
        </p:txBody>
      </p:sp>
      <p:sp>
        <p:nvSpPr>
          <p:cNvPr id="34831" name="Text Box 17"/>
          <p:cNvSpPr txBox="1">
            <a:spLocks noChangeArrowheads="1"/>
          </p:cNvSpPr>
          <p:nvPr/>
        </p:nvSpPr>
        <p:spPr bwMode="auto">
          <a:xfrm>
            <a:off x="8027988" y="0"/>
            <a:ext cx="1116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重点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4114994884"/>
      </p:ext>
    </p:extLst>
  </p:cSld>
  <p:clrMapOvr>
    <a:masterClrMapping/>
  </p:clrMapOvr>
  <p:transition advTm="55392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第</a:t>
            </a:r>
            <a:r>
              <a:rPr lang="zh-CN" altLang="en-US" sz="4000" b="0">
                <a:latin typeface="黑体" pitchFamily="49" charset="-122"/>
                <a:ea typeface="黑体" pitchFamily="49" charset="-122"/>
              </a:rPr>
              <a:t>四</a:t>
            </a:r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章 土的</a:t>
            </a:r>
            <a:r>
              <a:rPr lang="zh-CN" altLang="en-US" sz="4000" b="0">
                <a:latin typeface="黑体" pitchFamily="49" charset="-122"/>
                <a:ea typeface="黑体" pitchFamily="49" charset="-122"/>
              </a:rPr>
              <a:t>压缩性和地基沉降量计算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89000" y="1557338"/>
            <a:ext cx="7786688" cy="4392612"/>
          </a:xfrm>
          <a:noFill/>
        </p:spPr>
        <p:txBody>
          <a:bodyPr/>
          <a:lstStyle/>
          <a:p>
            <a:pPr marL="711200" indent="-711200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zh-CN" altLang="en-US" b="0" dirty="0">
                <a:latin typeface="黑体" pitchFamily="49" charset="-122"/>
                <a:ea typeface="黑体" pitchFamily="49" charset="-122"/>
              </a:rPr>
              <a:t>重点：</a:t>
            </a:r>
          </a:p>
          <a:p>
            <a:pPr marL="711200" indent="-711200" eaLnBrk="1" hangingPunct="1">
              <a:spcBef>
                <a:spcPct val="15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 dirty="0">
                <a:latin typeface="Times New Roman" pitchFamily="18" charset="0"/>
                <a:ea typeface="华文新魏" pitchFamily="2" charset="-122"/>
              </a:rPr>
              <a:t>	</a:t>
            </a: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土的压缩性：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压缩性指标</a:t>
            </a:r>
          </a:p>
          <a:p>
            <a:pPr marL="711200" indent="-711200" eaLnBrk="1" hangingPunct="1">
              <a:spcBef>
                <a:spcPct val="15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分层总和法计算最终沉降量</a:t>
            </a:r>
          </a:p>
          <a:p>
            <a:pPr marL="711200" indent="-711200" eaLnBrk="1" hangingPunct="1">
              <a:spcBef>
                <a:spcPct val="15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			基本原理：计算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假设</a:t>
            </a:r>
          </a:p>
          <a:p>
            <a:pPr marL="711200" indent="-711200" eaLnBrk="1" hangingPunct="1">
              <a:spcBef>
                <a:spcPct val="15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			计算方法：</a:t>
            </a:r>
            <a:r>
              <a:rPr lang="en-US" altLang="zh-CN" sz="2800" b="0" i="1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e</a:t>
            </a:r>
            <a:r>
              <a:rPr lang="en-US" altLang="zh-CN" sz="2800" b="0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~</a:t>
            </a:r>
            <a:r>
              <a:rPr lang="en-US" altLang="zh-CN" sz="2800" b="0" i="1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p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曲线；</a:t>
            </a:r>
            <a:r>
              <a:rPr lang="en-US" altLang="zh-CN" sz="2800" b="0" i="1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e</a:t>
            </a:r>
            <a:r>
              <a:rPr lang="en-US" altLang="zh-CN" sz="2800" b="0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~lg</a:t>
            </a:r>
            <a:r>
              <a:rPr lang="en-US" altLang="zh-CN" sz="2800" b="0" i="1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p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曲线</a:t>
            </a:r>
            <a:endParaRPr lang="zh-CN" altLang="en-US" sz="2800" b="0" dirty="0">
              <a:latin typeface="Times New Roman" pitchFamily="18" charset="0"/>
              <a:ea typeface="黑体" pitchFamily="49" charset="-122"/>
            </a:endParaRPr>
          </a:p>
          <a:p>
            <a:pPr marL="711200" indent="-711200" eaLnBrk="1" hangingPunct="1">
              <a:spcBef>
                <a:spcPct val="15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 dirty="0">
                <a:latin typeface="Times New Roman" pitchFamily="18" charset="0"/>
                <a:cs typeface="Times New Roman" pitchFamily="18" charset="0"/>
              </a:rPr>
              <a:t>	沉降与时间的关系：</a:t>
            </a:r>
          </a:p>
          <a:p>
            <a:pPr marL="711200" indent="-711200" eaLnBrk="1" hangingPunct="1">
              <a:spcBef>
                <a:spcPct val="15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zh-CN" altLang="en-US" sz="2800" b="0" dirty="0">
                <a:latin typeface="Times New Roman" pitchFamily="18" charset="0"/>
                <a:ea typeface="华文新魏" pitchFamily="2" charset="-122"/>
              </a:rPr>
              <a:t>			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土层平均固结度</a:t>
            </a:r>
            <a:r>
              <a:rPr lang="en-US" altLang="zh-CN" sz="2800" b="0" i="1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U</a:t>
            </a:r>
            <a:r>
              <a:rPr lang="en-US" altLang="zh-CN" sz="2800" b="0" baseline="-25000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t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；</a:t>
            </a:r>
            <a:r>
              <a:rPr lang="en-US" altLang="zh-CN" sz="2800" b="0" i="1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T</a:t>
            </a:r>
            <a:r>
              <a:rPr lang="en-US" altLang="zh-CN" sz="2800" b="0" baseline="-25000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v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、</a:t>
            </a:r>
            <a:r>
              <a:rPr lang="en-US" altLang="zh-CN" sz="2800" b="0" i="1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C</a:t>
            </a:r>
            <a:r>
              <a:rPr lang="en-US" altLang="zh-CN" sz="2800" b="0" baseline="-25000" dirty="0" err="1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v</a:t>
            </a:r>
            <a:endParaRPr lang="en-US" altLang="zh-CN" sz="2800" b="0" baseline="-25000" dirty="0">
              <a:solidFill>
                <a:srgbClr val="FFFF00"/>
              </a:solidFill>
              <a:latin typeface="Times New Roman" pitchFamily="18" charset="0"/>
              <a:ea typeface="黑体" pitchFamily="49" charset="-122"/>
            </a:endParaRPr>
          </a:p>
          <a:p>
            <a:pPr marL="711200" indent="-711200" eaLnBrk="1" hangingPunct="1">
              <a:spcBef>
                <a:spcPct val="15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			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沉降计算：固结度 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~ 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时间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12700" y="14288"/>
            <a:ext cx="4414838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四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土的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压缩性和地基沉降量计算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1130130"/>
      </p:ext>
    </p:extLst>
  </p:cSld>
  <p:clrMapOvr>
    <a:masterClrMapping/>
  </p:clrMapOvr>
  <p:transition advTm="44816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0" dirty="0">
                <a:latin typeface="Times New Roman" pitchFamily="18" charset="0"/>
                <a:ea typeface="黑体" pitchFamily="49" charset="-122"/>
              </a:rPr>
              <a:t>《</a:t>
            </a:r>
            <a:r>
              <a:rPr lang="zh-CN" altLang="en-US" sz="4800" b="0" dirty="0">
                <a:latin typeface="Times New Roman" pitchFamily="18" charset="0"/>
                <a:ea typeface="黑体" pitchFamily="49" charset="-122"/>
              </a:rPr>
              <a:t>土力学</a:t>
            </a:r>
            <a:r>
              <a:rPr lang="en-US" altLang="zh-CN" sz="4800" b="0" dirty="0">
                <a:latin typeface="Times New Roman" pitchFamily="18" charset="0"/>
                <a:ea typeface="黑体" pitchFamily="49" charset="-122"/>
              </a:rPr>
              <a:t>》</a:t>
            </a:r>
            <a:r>
              <a:rPr lang="zh-CN" altLang="en-US" sz="4800" b="0" dirty="0">
                <a:latin typeface="Times New Roman" pitchFamily="18" charset="0"/>
                <a:ea typeface="黑体" pitchFamily="49" charset="-122"/>
              </a:rPr>
              <a:t>考前安排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592" y="1844353"/>
            <a:ext cx="7416824" cy="4032919"/>
          </a:xfrm>
        </p:spPr>
        <p:txBody>
          <a:bodyPr/>
          <a:lstStyle/>
          <a:p>
            <a:pPr eaLnBrk="1" hangingPunct="1">
              <a:spcBef>
                <a:spcPct val="5000"/>
              </a:spcBef>
              <a:spcAft>
                <a:spcPct val="5000"/>
              </a:spcAft>
              <a:buNone/>
            </a:pPr>
            <a:r>
              <a:rPr lang="zh-CN" altLang="en-US" dirty="0">
                <a:solidFill>
                  <a:srgbClr val="FFFF00"/>
                </a:solidFill>
                <a:latin typeface="Times New Roman" pitchFamily="18" charset="0"/>
              </a:rPr>
              <a:t>作业：</a:t>
            </a:r>
            <a:r>
              <a:rPr lang="zh-CN" altLang="en-US" dirty="0">
                <a:latin typeface="Times New Roman" pitchFamily="18" charset="0"/>
              </a:rPr>
              <a:t>考前交齐作业</a:t>
            </a:r>
            <a:endParaRPr lang="en-US" altLang="zh-CN" dirty="0">
              <a:solidFill>
                <a:srgbClr val="FFFF00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Font typeface="Wingdings" pitchFamily="2" charset="2"/>
              <a:buNone/>
            </a:pPr>
            <a:endParaRPr lang="en-US" altLang="zh-CN" dirty="0">
              <a:solidFill>
                <a:srgbClr val="FFFF00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Font typeface="Wingdings" pitchFamily="2" charset="2"/>
              <a:buNone/>
            </a:pPr>
            <a:r>
              <a:rPr lang="zh-CN" altLang="en-US" dirty="0">
                <a:solidFill>
                  <a:srgbClr val="FFFF00"/>
                </a:solidFill>
                <a:latin typeface="Times New Roman" pitchFamily="18" charset="0"/>
              </a:rPr>
              <a:t>答疑：</a:t>
            </a:r>
            <a:r>
              <a:rPr lang="zh-CN" altLang="en-US" dirty="0">
                <a:latin typeface="Times New Roman" pitchFamily="18" charset="0"/>
              </a:rPr>
              <a:t>教师办公室</a:t>
            </a:r>
            <a:endParaRPr lang="en-US" altLang="zh-CN" dirty="0">
              <a:latin typeface="Times New Roman" pitchFamily="18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            云答疑</a:t>
            </a:r>
            <a:endParaRPr lang="en-US" altLang="zh-CN" dirty="0">
              <a:latin typeface="Times New Roman" pitchFamily="18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		</a:t>
            </a:r>
            <a:r>
              <a:rPr lang="zh-CN" altLang="en-US" dirty="0">
                <a:latin typeface="Times New Roman" pitchFamily="18" charset="0"/>
              </a:rPr>
              <a:t>   作业云讲解</a:t>
            </a:r>
            <a:br>
              <a:rPr lang="en-US" altLang="zh-CN" dirty="0">
                <a:latin typeface="Times New Roman" pitchFamily="18" charset="0"/>
              </a:rPr>
            </a:br>
            <a:r>
              <a:rPr lang="en-US" altLang="zh-CN" dirty="0">
                <a:latin typeface="Times New Roman" pitchFamily="18" charset="0"/>
              </a:rPr>
              <a:t>	</a:t>
            </a:r>
            <a:r>
              <a:rPr lang="zh-CN" altLang="en-US" dirty="0">
                <a:latin typeface="Times New Roman" pitchFamily="18" charset="0"/>
              </a:rPr>
              <a:t>   网络学堂、</a:t>
            </a:r>
            <a:r>
              <a:rPr lang="en-US" altLang="zh-CN" dirty="0">
                <a:latin typeface="Times New Roman" pitchFamily="18" charset="0"/>
              </a:rPr>
              <a:t>Email</a:t>
            </a:r>
            <a:r>
              <a:rPr lang="zh-CN" altLang="en-US" dirty="0">
                <a:latin typeface="Times New Roman" pitchFamily="18" charset="0"/>
              </a:rPr>
              <a:t>、微信</a:t>
            </a:r>
          </a:p>
        </p:txBody>
      </p:sp>
    </p:spTree>
    <p:extLst>
      <p:ext uri="{BB962C8B-B14F-4D97-AF65-F5344CB8AC3E}">
        <p14:creationId xmlns:p14="http://schemas.microsoft.com/office/powerpoint/2010/main" val="10009048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|5.5|13.3|8.8|6.4|10.|1.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华文新魏"/>
        <a:cs typeface=""/>
      </a:majorFont>
      <a:minorFont>
        <a:latin typeface="Garamond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FF"/>
          </a:solidFill>
          <a:prstDash val="dash"/>
          <a:round/>
          <a:headEnd type="none" w="med" len="med"/>
          <a:tailEnd type="triangle" w="sm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FF"/>
          </a:solidFill>
          <a:prstDash val="dash"/>
          <a:round/>
          <a:headEnd type="none" w="med" len="med"/>
          <a:tailEnd type="triangle" w="sm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  <a:ea typeface="宋体" pitchFamily="2" charset="-122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1961</Words>
  <Application>Microsoft Office PowerPoint</Application>
  <PresentationFormat>全屏显示(4:3)</PresentationFormat>
  <Paragraphs>313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9" baseType="lpstr">
      <vt:lpstr>黑体</vt:lpstr>
      <vt:lpstr>华文琥珀</vt:lpstr>
      <vt:lpstr>华文新魏</vt:lpstr>
      <vt:lpstr>幼圆</vt:lpstr>
      <vt:lpstr>Arial</vt:lpstr>
      <vt:lpstr>Calibri</vt:lpstr>
      <vt:lpstr>Garamond</vt:lpstr>
      <vt:lpstr>Times New Roman</vt:lpstr>
      <vt:lpstr>Wingdings</vt:lpstr>
      <vt:lpstr>Office 主题​​</vt:lpstr>
      <vt:lpstr>Stream</vt:lpstr>
      <vt:lpstr>Equation</vt:lpstr>
      <vt:lpstr>公式</vt:lpstr>
      <vt:lpstr> 土  力  学</vt:lpstr>
      <vt:lpstr>《土力学》期中考试</vt:lpstr>
      <vt:lpstr>《土力学》期中考试</vt:lpstr>
      <vt:lpstr>PowerPoint 演示文稿</vt:lpstr>
      <vt:lpstr>土的三大工程问题</vt:lpstr>
      <vt:lpstr>土的工程性质</vt:lpstr>
      <vt:lpstr>基本知识</vt:lpstr>
      <vt:lpstr>重点内容</vt:lpstr>
      <vt:lpstr>第一章 土的物理性质</vt:lpstr>
      <vt:lpstr>§1.1  土的形成</vt:lpstr>
      <vt:lpstr>§1.2  土的三相组成</vt:lpstr>
      <vt:lpstr>§1.3  土的物理状态</vt:lpstr>
      <vt:lpstr>§1.4  土的结构</vt:lpstr>
      <vt:lpstr>§1.5  土的压实性</vt:lpstr>
      <vt:lpstr>§1.6  土的工程分类</vt:lpstr>
      <vt:lpstr>第一章 土的物理性质</vt:lpstr>
      <vt:lpstr>第二章 土的渗透特性</vt:lpstr>
      <vt:lpstr>§2.1  土的渗透性与渗透规律</vt:lpstr>
      <vt:lpstr>§2.2  平面渗流与流网</vt:lpstr>
      <vt:lpstr>§2.3  渗透力与渗透变形</vt:lpstr>
      <vt:lpstr>第二章 土的渗透特性</vt:lpstr>
      <vt:lpstr>第三章 土体中的应力计算</vt:lpstr>
      <vt:lpstr>§3.1 概述</vt:lpstr>
      <vt:lpstr>§ 3.2 有效应力原理</vt:lpstr>
      <vt:lpstr>§3.3 地基的自重应力计算</vt:lpstr>
      <vt:lpstr>PowerPoint 演示文稿</vt:lpstr>
      <vt:lpstr>§ 3.5 地基中的附加应力计算</vt:lpstr>
      <vt:lpstr>§ 3.6 孔隙水压力与孔隙水压力系数</vt:lpstr>
      <vt:lpstr>第三章 土体中的应力计算</vt:lpstr>
      <vt:lpstr>第四章 土的压缩性和地基沉降量计算</vt:lpstr>
      <vt:lpstr>§4.1  土的压缩性</vt:lpstr>
      <vt:lpstr>§4.2  地基最终沉降量的计算</vt:lpstr>
      <vt:lpstr>PowerPoint 演示文稿</vt:lpstr>
      <vt:lpstr>PowerPoint 演示文稿</vt:lpstr>
      <vt:lpstr>第四章 土的压缩性和地基沉降量计算</vt:lpstr>
      <vt:lpstr>《土力学》考前安排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土  力  学</dc:title>
  <dc:creator>huliming</dc:creator>
  <cp:lastModifiedBy>文博 单</cp:lastModifiedBy>
  <cp:revision>50</cp:revision>
  <dcterms:created xsi:type="dcterms:W3CDTF">2013-12-12T02:17:12Z</dcterms:created>
  <dcterms:modified xsi:type="dcterms:W3CDTF">2020-11-03T09:49:00Z</dcterms:modified>
</cp:coreProperties>
</file>