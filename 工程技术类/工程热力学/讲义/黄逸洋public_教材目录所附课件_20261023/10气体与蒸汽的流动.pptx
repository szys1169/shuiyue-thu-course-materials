
<file path=[Content_Types].xml><?xml version="1.0" encoding="utf-8"?>
<Types xmlns="http://schemas.openxmlformats.org/package/2006/content-types">
  <Default Extension="jpeg" ContentType="image/jpeg"/>
  <Default Extension="vml" ContentType="application/vnd.openxmlformats-officedocument.vmlDrawing"/>
  <Default Extension="bin" ContentType="application/vnd.openxmlformats-officedocument.oleObject"/>
  <Default Extension="png" ContentType="image/png"/>
  <Default Extension="wmf" ContentType="image/x-wmf"/>
  <Default Extension="emf" ContentType="image/x-e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27"/>
  </p:notesMasterIdLst>
  <p:handoutMasterIdLst>
    <p:handoutMasterId r:id="rId128"/>
  </p:handoutMasterIdLst>
  <p:sldIdLst>
    <p:sldId id="257" r:id="rId3"/>
    <p:sldId id="258" r:id="rId4"/>
    <p:sldId id="272" r:id="rId5"/>
    <p:sldId id="260" r:id="rId6"/>
    <p:sldId id="259" r:id="rId7"/>
    <p:sldId id="261" r:id="rId8"/>
    <p:sldId id="262" r:id="rId9"/>
    <p:sldId id="263" r:id="rId10"/>
    <p:sldId id="264" r:id="rId11"/>
    <p:sldId id="265" r:id="rId12"/>
    <p:sldId id="266" r:id="rId13"/>
    <p:sldId id="267" r:id="rId14"/>
    <p:sldId id="268" r:id="rId15"/>
    <p:sldId id="269" r:id="rId16"/>
    <p:sldId id="270" r:id="rId17"/>
    <p:sldId id="271"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2" r:id="rId78"/>
    <p:sldId id="333" r:id="rId79"/>
    <p:sldId id="334" r:id="rId80"/>
    <p:sldId id="335" r:id="rId81"/>
    <p:sldId id="336" r:id="rId82"/>
    <p:sldId id="337" r:id="rId83"/>
    <p:sldId id="338" r:id="rId84"/>
    <p:sldId id="339" r:id="rId85"/>
    <p:sldId id="340" r:id="rId86"/>
    <p:sldId id="341" r:id="rId87"/>
    <p:sldId id="342" r:id="rId88"/>
    <p:sldId id="343" r:id="rId89"/>
    <p:sldId id="344" r:id="rId90"/>
    <p:sldId id="345" r:id="rId91"/>
    <p:sldId id="346" r:id="rId92"/>
    <p:sldId id="347" r:id="rId93"/>
    <p:sldId id="348" r:id="rId94"/>
    <p:sldId id="349" r:id="rId95"/>
    <p:sldId id="350" r:id="rId96"/>
    <p:sldId id="351" r:id="rId97"/>
    <p:sldId id="352" r:id="rId98"/>
    <p:sldId id="353" r:id="rId99"/>
    <p:sldId id="354" r:id="rId100"/>
    <p:sldId id="355" r:id="rId101"/>
    <p:sldId id="356" r:id="rId102"/>
    <p:sldId id="357" r:id="rId103"/>
    <p:sldId id="358" r:id="rId104"/>
    <p:sldId id="359" r:id="rId105"/>
    <p:sldId id="360" r:id="rId106"/>
    <p:sldId id="361" r:id="rId107"/>
    <p:sldId id="362" r:id="rId108"/>
    <p:sldId id="363" r:id="rId109"/>
    <p:sldId id="364" r:id="rId110"/>
    <p:sldId id="365" r:id="rId111"/>
    <p:sldId id="366" r:id="rId112"/>
    <p:sldId id="367" r:id="rId113"/>
    <p:sldId id="368" r:id="rId114"/>
    <p:sldId id="369" r:id="rId115"/>
    <p:sldId id="370" r:id="rId116"/>
    <p:sldId id="371" r:id="rId117"/>
    <p:sldId id="372" r:id="rId118"/>
    <p:sldId id="373" r:id="rId119"/>
    <p:sldId id="374" r:id="rId120"/>
    <p:sldId id="375" r:id="rId121"/>
    <p:sldId id="376" r:id="rId122"/>
    <p:sldId id="377" r:id="rId123"/>
    <p:sldId id="378" r:id="rId124"/>
    <p:sldId id="379" r:id="rId125"/>
    <p:sldId id="380" r:id="rId126"/>
  </p:sldIdLst>
  <p:sldSz cx="9144000" cy="6858000" type="screen4x3"/>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94660"/>
  </p:normalViewPr>
  <p:slideViewPr>
    <p:cSldViewPr snapToGrid="0">
      <p:cViewPr varScale="1">
        <p:scale>
          <a:sx n="96" d="100"/>
          <a:sy n="96" d="100"/>
        </p:scale>
        <p:origin x="808" y="6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9" Type="http://schemas.openxmlformats.org/officeDocument/2006/relationships/slide" Target="slides/slide97.xml"/><Relationship Id="rId98" Type="http://schemas.openxmlformats.org/officeDocument/2006/relationships/slide" Target="slides/slide96.xml"/><Relationship Id="rId97" Type="http://schemas.openxmlformats.org/officeDocument/2006/relationships/slide" Target="slides/slide95.xml"/><Relationship Id="rId96" Type="http://schemas.openxmlformats.org/officeDocument/2006/relationships/slide" Target="slides/slide94.xml"/><Relationship Id="rId95" Type="http://schemas.openxmlformats.org/officeDocument/2006/relationships/slide" Target="slides/slide93.xml"/><Relationship Id="rId94" Type="http://schemas.openxmlformats.org/officeDocument/2006/relationships/slide" Target="slides/slide92.xml"/><Relationship Id="rId93" Type="http://schemas.openxmlformats.org/officeDocument/2006/relationships/slide" Target="slides/slide91.xml"/><Relationship Id="rId92" Type="http://schemas.openxmlformats.org/officeDocument/2006/relationships/slide" Target="slides/slide90.xml"/><Relationship Id="rId91" Type="http://schemas.openxmlformats.org/officeDocument/2006/relationships/slide" Target="slides/slide89.xml"/><Relationship Id="rId90" Type="http://schemas.openxmlformats.org/officeDocument/2006/relationships/slide" Target="slides/slide88.xml"/><Relationship Id="rId9" Type="http://schemas.openxmlformats.org/officeDocument/2006/relationships/slide" Target="slides/slide7.xml"/><Relationship Id="rId89" Type="http://schemas.openxmlformats.org/officeDocument/2006/relationships/slide" Target="slides/slide87.xml"/><Relationship Id="rId88" Type="http://schemas.openxmlformats.org/officeDocument/2006/relationships/slide" Target="slides/slide86.xml"/><Relationship Id="rId87" Type="http://schemas.openxmlformats.org/officeDocument/2006/relationships/slide" Target="slides/slide85.xml"/><Relationship Id="rId86" Type="http://schemas.openxmlformats.org/officeDocument/2006/relationships/slide" Target="slides/slide84.xml"/><Relationship Id="rId85" Type="http://schemas.openxmlformats.org/officeDocument/2006/relationships/slide" Target="slides/slide83.xml"/><Relationship Id="rId84" Type="http://schemas.openxmlformats.org/officeDocument/2006/relationships/slide" Target="slides/slide82.xml"/><Relationship Id="rId83" Type="http://schemas.openxmlformats.org/officeDocument/2006/relationships/slide" Target="slides/slide81.xml"/><Relationship Id="rId82" Type="http://schemas.openxmlformats.org/officeDocument/2006/relationships/slide" Target="slides/slide80.xml"/><Relationship Id="rId81" Type="http://schemas.openxmlformats.org/officeDocument/2006/relationships/slide" Target="slides/slide79.xml"/><Relationship Id="rId80" Type="http://schemas.openxmlformats.org/officeDocument/2006/relationships/slide" Target="slides/slide78.xml"/><Relationship Id="rId8" Type="http://schemas.openxmlformats.org/officeDocument/2006/relationships/slide" Target="slides/slide6.xml"/><Relationship Id="rId79" Type="http://schemas.openxmlformats.org/officeDocument/2006/relationships/slide" Target="slides/slide77.xml"/><Relationship Id="rId78" Type="http://schemas.openxmlformats.org/officeDocument/2006/relationships/slide" Target="slides/slide76.xml"/><Relationship Id="rId77" Type="http://schemas.openxmlformats.org/officeDocument/2006/relationships/slide" Target="slides/slide75.xml"/><Relationship Id="rId76" Type="http://schemas.openxmlformats.org/officeDocument/2006/relationships/slide" Target="slides/slide74.xml"/><Relationship Id="rId75" Type="http://schemas.openxmlformats.org/officeDocument/2006/relationships/slide" Target="slides/slide73.xml"/><Relationship Id="rId74" Type="http://schemas.openxmlformats.org/officeDocument/2006/relationships/slide" Target="slides/slide72.xml"/><Relationship Id="rId73" Type="http://schemas.openxmlformats.org/officeDocument/2006/relationships/slide" Target="slides/slide71.xml"/><Relationship Id="rId72" Type="http://schemas.openxmlformats.org/officeDocument/2006/relationships/slide" Target="slides/slide70.xml"/><Relationship Id="rId71" Type="http://schemas.openxmlformats.org/officeDocument/2006/relationships/slide" Target="slides/slide69.xml"/><Relationship Id="rId70" Type="http://schemas.openxmlformats.org/officeDocument/2006/relationships/slide" Target="slides/slide68.xml"/><Relationship Id="rId7" Type="http://schemas.openxmlformats.org/officeDocument/2006/relationships/slide" Target="slides/slide5.xml"/><Relationship Id="rId69" Type="http://schemas.openxmlformats.org/officeDocument/2006/relationships/slide" Target="slides/slide67.xml"/><Relationship Id="rId68" Type="http://schemas.openxmlformats.org/officeDocument/2006/relationships/slide" Target="slides/slide66.xml"/><Relationship Id="rId67" Type="http://schemas.openxmlformats.org/officeDocument/2006/relationships/slide" Target="slides/slide65.xml"/><Relationship Id="rId66" Type="http://schemas.openxmlformats.org/officeDocument/2006/relationships/slide" Target="slides/slide64.xml"/><Relationship Id="rId65" Type="http://schemas.openxmlformats.org/officeDocument/2006/relationships/slide" Target="slides/slide63.xml"/><Relationship Id="rId64" Type="http://schemas.openxmlformats.org/officeDocument/2006/relationships/slide" Target="slides/slide62.xml"/><Relationship Id="rId63" Type="http://schemas.openxmlformats.org/officeDocument/2006/relationships/slide" Target="slides/slide61.xml"/><Relationship Id="rId62" Type="http://schemas.openxmlformats.org/officeDocument/2006/relationships/slide" Target="slides/slide60.xml"/><Relationship Id="rId61" Type="http://schemas.openxmlformats.org/officeDocument/2006/relationships/slide" Target="slides/slide59.xml"/><Relationship Id="rId60" Type="http://schemas.openxmlformats.org/officeDocument/2006/relationships/slide" Target="slides/slide58.xml"/><Relationship Id="rId6" Type="http://schemas.openxmlformats.org/officeDocument/2006/relationships/slide" Target="slides/slide4.xml"/><Relationship Id="rId59" Type="http://schemas.openxmlformats.org/officeDocument/2006/relationships/slide" Target="slides/slide57.xml"/><Relationship Id="rId58" Type="http://schemas.openxmlformats.org/officeDocument/2006/relationships/slide" Target="slides/slide56.xml"/><Relationship Id="rId57" Type="http://schemas.openxmlformats.org/officeDocument/2006/relationships/slide" Target="slides/slide55.xml"/><Relationship Id="rId56" Type="http://schemas.openxmlformats.org/officeDocument/2006/relationships/slide" Target="slides/slide54.xml"/><Relationship Id="rId55" Type="http://schemas.openxmlformats.org/officeDocument/2006/relationships/slide" Target="slides/slide53.xml"/><Relationship Id="rId54" Type="http://schemas.openxmlformats.org/officeDocument/2006/relationships/slide" Target="slides/slide52.xml"/><Relationship Id="rId53" Type="http://schemas.openxmlformats.org/officeDocument/2006/relationships/slide" Target="slides/slide51.xml"/><Relationship Id="rId52" Type="http://schemas.openxmlformats.org/officeDocument/2006/relationships/slide" Target="slides/slide50.xml"/><Relationship Id="rId51" Type="http://schemas.openxmlformats.org/officeDocument/2006/relationships/slide" Target="slides/slide49.xml"/><Relationship Id="rId50" Type="http://schemas.openxmlformats.org/officeDocument/2006/relationships/slide" Target="slides/slide48.xml"/><Relationship Id="rId5" Type="http://schemas.openxmlformats.org/officeDocument/2006/relationships/slide" Target="slides/slide3.xml"/><Relationship Id="rId49" Type="http://schemas.openxmlformats.org/officeDocument/2006/relationships/slide" Target="slides/slide47.xml"/><Relationship Id="rId48" Type="http://schemas.openxmlformats.org/officeDocument/2006/relationships/slide" Target="slides/slide46.xml"/><Relationship Id="rId47" Type="http://schemas.openxmlformats.org/officeDocument/2006/relationships/slide" Target="slides/slide45.xml"/><Relationship Id="rId46" Type="http://schemas.openxmlformats.org/officeDocument/2006/relationships/slide" Target="slides/slide44.xml"/><Relationship Id="rId45" Type="http://schemas.openxmlformats.org/officeDocument/2006/relationships/slide" Target="slides/slide43.xml"/><Relationship Id="rId44" Type="http://schemas.openxmlformats.org/officeDocument/2006/relationships/slide" Target="slides/slide42.xml"/><Relationship Id="rId43" Type="http://schemas.openxmlformats.org/officeDocument/2006/relationships/slide" Target="slides/slide41.xml"/><Relationship Id="rId42" Type="http://schemas.openxmlformats.org/officeDocument/2006/relationships/slide" Target="slides/slide40.xml"/><Relationship Id="rId41" Type="http://schemas.openxmlformats.org/officeDocument/2006/relationships/slide" Target="slides/slide39.xml"/><Relationship Id="rId40" Type="http://schemas.openxmlformats.org/officeDocument/2006/relationships/slide" Target="slides/slide38.xml"/><Relationship Id="rId4" Type="http://schemas.openxmlformats.org/officeDocument/2006/relationships/slide" Target="slides/slide2.xml"/><Relationship Id="rId39" Type="http://schemas.openxmlformats.org/officeDocument/2006/relationships/slide" Target="slides/slide37.xml"/><Relationship Id="rId38" Type="http://schemas.openxmlformats.org/officeDocument/2006/relationships/slide" Target="slides/slide36.xml"/><Relationship Id="rId37" Type="http://schemas.openxmlformats.org/officeDocument/2006/relationships/slide" Target="slides/slide35.xml"/><Relationship Id="rId36" Type="http://schemas.openxmlformats.org/officeDocument/2006/relationships/slide" Target="slides/slide34.xml"/><Relationship Id="rId35" Type="http://schemas.openxmlformats.org/officeDocument/2006/relationships/slide" Target="slides/slide33.xml"/><Relationship Id="rId34" Type="http://schemas.openxmlformats.org/officeDocument/2006/relationships/slide" Target="slides/slide32.xml"/><Relationship Id="rId33" Type="http://schemas.openxmlformats.org/officeDocument/2006/relationships/slide" Target="slides/slide31.xml"/><Relationship Id="rId32" Type="http://schemas.openxmlformats.org/officeDocument/2006/relationships/slide" Target="slides/slide30.xml"/><Relationship Id="rId31" Type="http://schemas.openxmlformats.org/officeDocument/2006/relationships/slide" Target="slides/slide29.xml"/><Relationship Id="rId30" Type="http://schemas.openxmlformats.org/officeDocument/2006/relationships/slide" Target="slides/slide28.xml"/><Relationship Id="rId3" Type="http://schemas.openxmlformats.org/officeDocument/2006/relationships/slide" Target="slides/slide1.xml"/><Relationship Id="rId29" Type="http://schemas.openxmlformats.org/officeDocument/2006/relationships/slide" Target="slides/slide27.xml"/><Relationship Id="rId28" Type="http://schemas.openxmlformats.org/officeDocument/2006/relationships/slide" Target="slides/slide26.xml"/><Relationship Id="rId27" Type="http://schemas.openxmlformats.org/officeDocument/2006/relationships/slide" Target="slides/slide25.xml"/><Relationship Id="rId26" Type="http://schemas.openxmlformats.org/officeDocument/2006/relationships/slide" Target="slides/slide24.xml"/><Relationship Id="rId25" Type="http://schemas.openxmlformats.org/officeDocument/2006/relationships/slide" Target="slides/slide23.xml"/><Relationship Id="rId24" Type="http://schemas.openxmlformats.org/officeDocument/2006/relationships/slide" Target="slides/slide22.xml"/><Relationship Id="rId23" Type="http://schemas.openxmlformats.org/officeDocument/2006/relationships/slide" Target="slides/slide21.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1" Type="http://schemas.openxmlformats.org/officeDocument/2006/relationships/tableStyles" Target="tableStyles.xml"/><Relationship Id="rId130" Type="http://schemas.openxmlformats.org/officeDocument/2006/relationships/viewProps" Target="viewProps.xml"/><Relationship Id="rId13" Type="http://schemas.openxmlformats.org/officeDocument/2006/relationships/slide" Target="slides/slide11.xml"/><Relationship Id="rId129" Type="http://schemas.openxmlformats.org/officeDocument/2006/relationships/presProps" Target="presProps.xml"/><Relationship Id="rId128" Type="http://schemas.openxmlformats.org/officeDocument/2006/relationships/handoutMaster" Target="handoutMasters/handoutMaster1.xml"/><Relationship Id="rId127" Type="http://schemas.openxmlformats.org/officeDocument/2006/relationships/notesMaster" Target="notesMasters/notesMaster1.xml"/><Relationship Id="rId126" Type="http://schemas.openxmlformats.org/officeDocument/2006/relationships/slide" Target="slides/slide124.xml"/><Relationship Id="rId125" Type="http://schemas.openxmlformats.org/officeDocument/2006/relationships/slide" Target="slides/slide123.xml"/><Relationship Id="rId124" Type="http://schemas.openxmlformats.org/officeDocument/2006/relationships/slide" Target="slides/slide122.xml"/><Relationship Id="rId123" Type="http://schemas.openxmlformats.org/officeDocument/2006/relationships/slide" Target="slides/slide121.xml"/><Relationship Id="rId122" Type="http://schemas.openxmlformats.org/officeDocument/2006/relationships/slide" Target="slides/slide120.xml"/><Relationship Id="rId121" Type="http://schemas.openxmlformats.org/officeDocument/2006/relationships/slide" Target="slides/slide119.xml"/><Relationship Id="rId120" Type="http://schemas.openxmlformats.org/officeDocument/2006/relationships/slide" Target="slides/slide118.xml"/><Relationship Id="rId12" Type="http://schemas.openxmlformats.org/officeDocument/2006/relationships/slide" Target="slides/slide10.xml"/><Relationship Id="rId119" Type="http://schemas.openxmlformats.org/officeDocument/2006/relationships/slide" Target="slides/slide117.xml"/><Relationship Id="rId118" Type="http://schemas.openxmlformats.org/officeDocument/2006/relationships/slide" Target="slides/slide116.xml"/><Relationship Id="rId117" Type="http://schemas.openxmlformats.org/officeDocument/2006/relationships/slide" Target="slides/slide115.xml"/><Relationship Id="rId116" Type="http://schemas.openxmlformats.org/officeDocument/2006/relationships/slide" Target="slides/slide114.xml"/><Relationship Id="rId115" Type="http://schemas.openxmlformats.org/officeDocument/2006/relationships/slide" Target="slides/slide113.xml"/><Relationship Id="rId114" Type="http://schemas.openxmlformats.org/officeDocument/2006/relationships/slide" Target="slides/slide112.xml"/><Relationship Id="rId113" Type="http://schemas.openxmlformats.org/officeDocument/2006/relationships/slide" Target="slides/slide111.xml"/><Relationship Id="rId112" Type="http://schemas.openxmlformats.org/officeDocument/2006/relationships/slide" Target="slides/slide110.xml"/><Relationship Id="rId111" Type="http://schemas.openxmlformats.org/officeDocument/2006/relationships/slide" Target="slides/slide109.xml"/><Relationship Id="rId110" Type="http://schemas.openxmlformats.org/officeDocument/2006/relationships/slide" Target="slides/slide108.xml"/><Relationship Id="rId11" Type="http://schemas.openxmlformats.org/officeDocument/2006/relationships/slide" Target="slides/slide9.xml"/><Relationship Id="rId109" Type="http://schemas.openxmlformats.org/officeDocument/2006/relationships/slide" Target="slides/slide107.xml"/><Relationship Id="rId108" Type="http://schemas.openxmlformats.org/officeDocument/2006/relationships/slide" Target="slides/slide106.xml"/><Relationship Id="rId107" Type="http://schemas.openxmlformats.org/officeDocument/2006/relationships/slide" Target="slides/slide105.xml"/><Relationship Id="rId106" Type="http://schemas.openxmlformats.org/officeDocument/2006/relationships/slide" Target="slides/slide104.xml"/><Relationship Id="rId105" Type="http://schemas.openxmlformats.org/officeDocument/2006/relationships/slide" Target="slides/slide103.xml"/><Relationship Id="rId104" Type="http://schemas.openxmlformats.org/officeDocument/2006/relationships/slide" Target="slides/slide102.xml"/><Relationship Id="rId103" Type="http://schemas.openxmlformats.org/officeDocument/2006/relationships/slide" Target="slides/slide101.xml"/><Relationship Id="rId102" Type="http://schemas.openxmlformats.org/officeDocument/2006/relationships/slide" Target="slides/slide100.xml"/><Relationship Id="rId101" Type="http://schemas.openxmlformats.org/officeDocument/2006/relationships/slide" Target="slides/slide99.xml"/><Relationship Id="rId100" Type="http://schemas.openxmlformats.org/officeDocument/2006/relationships/slide" Target="slides/slide98.xml"/><Relationship Id="rId10" Type="http://schemas.openxmlformats.org/officeDocument/2006/relationships/slide" Target="slides/slide8.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png"/></Relationships>
</file>

<file path=ppt/drawings/_rels/vmlDrawing2.v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image" Target="../media/image5.e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7.e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8.wmf"/></Relationships>
</file>

<file path=ppt/drawings/_rels/vmlDrawing5.vml.rels><?xml version="1.0" encoding="UTF-8" standalone="yes"?>
<Relationships xmlns="http://schemas.openxmlformats.org/package/2006/relationships"><Relationship Id="rId4" Type="http://schemas.openxmlformats.org/officeDocument/2006/relationships/image" Target="../media/image11.wmf"/><Relationship Id="rId3" Type="http://schemas.openxmlformats.org/officeDocument/2006/relationships/image" Target="../media/image10.wmf"/><Relationship Id="rId2" Type="http://schemas.openxmlformats.org/officeDocument/2006/relationships/image" Target="../media/image9.wmf"/><Relationship Id="rId1" Type="http://schemas.openxmlformats.org/officeDocument/2006/relationships/image" Target="../media/image8.w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12.emf"/></Relationships>
</file>

<file path=ppt/drawings/_rels/vmlDrawing7.vml.rels><?xml version="1.0" encoding="UTF-8" standalone="yes"?>
<Relationships xmlns="http://schemas.openxmlformats.org/package/2006/relationships"><Relationship Id="rId3" Type="http://schemas.openxmlformats.org/officeDocument/2006/relationships/image" Target="../media/image15.wmf"/><Relationship Id="rId2" Type="http://schemas.openxmlformats.org/officeDocument/2006/relationships/image" Target="../media/image14.wmf"/><Relationship Id="rId1" Type="http://schemas.openxmlformats.org/officeDocument/2006/relationships/image" Target="../media/image13.wmf"/></Relationships>
</file>

<file path=ppt/drawings/_rels/vmlDrawing8.vml.rels><?xml version="1.0" encoding="UTF-8" standalone="yes"?>
<Relationships xmlns="http://schemas.openxmlformats.org/package/2006/relationships"><Relationship Id="rId2" Type="http://schemas.openxmlformats.org/officeDocument/2006/relationships/image" Target="../media/image17.wmf"/><Relationship Id="rId1" Type="http://schemas.openxmlformats.org/officeDocument/2006/relationships/image" Target="../media/image16.wmf"/></Relationships>
</file>

<file path=ppt/drawings/_rels/vmlDrawing9.vml.rels><?xml version="1.0" encoding="UTF-8" standalone="yes"?>
<Relationships xmlns="http://schemas.openxmlformats.org/package/2006/relationships"><Relationship Id="rId2" Type="http://schemas.openxmlformats.org/officeDocument/2006/relationships/image" Target="../media/image18.wmf"/><Relationship Id="rId1" Type="http://schemas.openxmlformats.org/officeDocument/2006/relationships/image" Target="../media/image10.wmf"/></Relationships>
</file>

<file path=ppt/drawings/_rels/vmlDrawing10.vml.rels><?xml version="1.0" encoding="UTF-8" standalone="yes"?>
<Relationships xmlns="http://schemas.openxmlformats.org/package/2006/relationships"><Relationship Id="rId1" Type="http://schemas.openxmlformats.org/officeDocument/2006/relationships/image" Target="../media/image18.wmf"/></Relationships>
</file>

<file path=ppt/drawings/_rels/vmlDrawing11.vml.rels><?xml version="1.0" encoding="UTF-8" standalone="yes"?>
<Relationships xmlns="http://schemas.openxmlformats.org/package/2006/relationships"><Relationship Id="rId4" Type="http://schemas.openxmlformats.org/officeDocument/2006/relationships/image" Target="../media/image22.wmf"/><Relationship Id="rId3" Type="http://schemas.openxmlformats.org/officeDocument/2006/relationships/image" Target="../media/image21.wmf"/><Relationship Id="rId2" Type="http://schemas.openxmlformats.org/officeDocument/2006/relationships/image" Target="../media/image20.wmf"/><Relationship Id="rId1" Type="http://schemas.openxmlformats.org/officeDocument/2006/relationships/image" Target="../media/image18.wmf"/></Relationships>
</file>

<file path=ppt/drawings/_rels/vmlDrawing12.vml.rels><?xml version="1.0" encoding="UTF-8" standalone="yes"?>
<Relationships xmlns="http://schemas.openxmlformats.org/package/2006/relationships"><Relationship Id="rId2" Type="http://schemas.openxmlformats.org/officeDocument/2006/relationships/image" Target="../media/image22.wmf"/><Relationship Id="rId1" Type="http://schemas.openxmlformats.org/officeDocument/2006/relationships/image" Target="../media/image24.wmf"/></Relationships>
</file>

<file path=ppt/drawings/_rels/vmlDrawing13.vml.rels><?xml version="1.0" encoding="UTF-8" standalone="yes"?>
<Relationships xmlns="http://schemas.openxmlformats.org/package/2006/relationships"><Relationship Id="rId5" Type="http://schemas.openxmlformats.org/officeDocument/2006/relationships/image" Target="../media/image29.wmf"/><Relationship Id="rId4" Type="http://schemas.openxmlformats.org/officeDocument/2006/relationships/image" Target="../media/image28.wmf"/><Relationship Id="rId3" Type="http://schemas.openxmlformats.org/officeDocument/2006/relationships/image" Target="../media/image27.wmf"/><Relationship Id="rId2" Type="http://schemas.openxmlformats.org/officeDocument/2006/relationships/image" Target="../media/image26.wmf"/><Relationship Id="rId1" Type="http://schemas.openxmlformats.org/officeDocument/2006/relationships/image" Target="../media/image25.wmf"/></Relationships>
</file>

<file path=ppt/drawings/_rels/vmlDrawing14.vml.rels><?xml version="1.0" encoding="UTF-8" standalone="yes"?>
<Relationships xmlns="http://schemas.openxmlformats.org/package/2006/relationships"><Relationship Id="rId3" Type="http://schemas.openxmlformats.org/officeDocument/2006/relationships/image" Target="../media/image31.wmf"/><Relationship Id="rId2" Type="http://schemas.openxmlformats.org/officeDocument/2006/relationships/image" Target="../media/image28.wmf"/><Relationship Id="rId1" Type="http://schemas.openxmlformats.org/officeDocument/2006/relationships/image" Target="../media/image30.wmf"/></Relationships>
</file>

<file path=ppt/drawings/_rels/vmlDrawing15.vml.rels><?xml version="1.0" encoding="UTF-8" standalone="yes"?>
<Relationships xmlns="http://schemas.openxmlformats.org/package/2006/relationships"><Relationship Id="rId2" Type="http://schemas.openxmlformats.org/officeDocument/2006/relationships/image" Target="../media/image32.wmf"/><Relationship Id="rId1" Type="http://schemas.openxmlformats.org/officeDocument/2006/relationships/image" Target="../media/image18.wmf"/></Relationships>
</file>

<file path=ppt/drawings/_rels/vmlDrawing16.vml.rels><?xml version="1.0" encoding="UTF-8" standalone="yes"?>
<Relationships xmlns="http://schemas.openxmlformats.org/package/2006/relationships"><Relationship Id="rId1" Type="http://schemas.openxmlformats.org/officeDocument/2006/relationships/image" Target="../media/image33.emf"/></Relationships>
</file>

<file path=ppt/drawings/_rels/vmlDrawing17.vml.rels><?xml version="1.0" encoding="UTF-8" standalone="yes"?>
<Relationships xmlns="http://schemas.openxmlformats.org/package/2006/relationships"><Relationship Id="rId8" Type="http://schemas.openxmlformats.org/officeDocument/2006/relationships/image" Target="../media/image41.emf"/><Relationship Id="rId7" Type="http://schemas.openxmlformats.org/officeDocument/2006/relationships/image" Target="../media/image40.emf"/><Relationship Id="rId6" Type="http://schemas.openxmlformats.org/officeDocument/2006/relationships/image" Target="../media/image39.emf"/><Relationship Id="rId5" Type="http://schemas.openxmlformats.org/officeDocument/2006/relationships/image" Target="../media/image38.wmf"/><Relationship Id="rId4" Type="http://schemas.openxmlformats.org/officeDocument/2006/relationships/image" Target="../media/image37.emf"/><Relationship Id="rId3" Type="http://schemas.openxmlformats.org/officeDocument/2006/relationships/image" Target="../media/image36.emf"/><Relationship Id="rId2" Type="http://schemas.openxmlformats.org/officeDocument/2006/relationships/image" Target="../media/image35.emf"/><Relationship Id="rId1" Type="http://schemas.openxmlformats.org/officeDocument/2006/relationships/image" Target="../media/image34.emf"/></Relationships>
</file>

<file path=ppt/drawings/_rels/vmlDrawing18.vml.rels><?xml version="1.0" encoding="UTF-8" standalone="yes"?>
<Relationships xmlns="http://schemas.openxmlformats.org/package/2006/relationships"><Relationship Id="rId1" Type="http://schemas.openxmlformats.org/officeDocument/2006/relationships/image" Target="../media/image42.wmf"/></Relationships>
</file>

<file path=ppt/drawings/_rels/vmlDrawing19.vml.rels><?xml version="1.0" encoding="UTF-8" standalone="yes"?>
<Relationships xmlns="http://schemas.openxmlformats.org/package/2006/relationships"><Relationship Id="rId4" Type="http://schemas.openxmlformats.org/officeDocument/2006/relationships/image" Target="../media/image47.wmf"/><Relationship Id="rId3" Type="http://schemas.openxmlformats.org/officeDocument/2006/relationships/image" Target="../media/image46.wmf"/><Relationship Id="rId2" Type="http://schemas.openxmlformats.org/officeDocument/2006/relationships/image" Target="../media/image45.wmf"/><Relationship Id="rId1" Type="http://schemas.openxmlformats.org/officeDocument/2006/relationships/image" Target="../media/image44.emf"/></Relationships>
</file>

<file path=ppt/drawings/_rels/vmlDrawing20.vml.rels><?xml version="1.0" encoding="UTF-8" standalone="yes"?>
<Relationships xmlns="http://schemas.openxmlformats.org/package/2006/relationships"><Relationship Id="rId1" Type="http://schemas.openxmlformats.org/officeDocument/2006/relationships/image" Target="../media/image48.wmf"/></Relationships>
</file>

<file path=ppt/drawings/_rels/vmlDrawing21.vml.rels><?xml version="1.0" encoding="UTF-8" standalone="yes"?>
<Relationships xmlns="http://schemas.openxmlformats.org/package/2006/relationships"><Relationship Id="rId1" Type="http://schemas.openxmlformats.org/officeDocument/2006/relationships/image" Target="../media/image49.wmf"/></Relationships>
</file>

<file path=ppt/drawings/_rels/vmlDrawing22.vml.rels><?xml version="1.0" encoding="UTF-8" standalone="yes"?>
<Relationships xmlns="http://schemas.openxmlformats.org/package/2006/relationships"><Relationship Id="rId4" Type="http://schemas.openxmlformats.org/officeDocument/2006/relationships/image" Target="../media/image17.wmf"/><Relationship Id="rId3" Type="http://schemas.openxmlformats.org/officeDocument/2006/relationships/image" Target="../media/image53.wmf"/><Relationship Id="rId2" Type="http://schemas.openxmlformats.org/officeDocument/2006/relationships/image" Target="../media/image52.wmf"/><Relationship Id="rId1" Type="http://schemas.openxmlformats.org/officeDocument/2006/relationships/image" Target="../media/image51.wmf"/></Relationships>
</file>

<file path=ppt/drawings/_rels/vmlDrawing23.vml.rels><?xml version="1.0" encoding="UTF-8" standalone="yes"?>
<Relationships xmlns="http://schemas.openxmlformats.org/package/2006/relationships"><Relationship Id="rId8" Type="http://schemas.openxmlformats.org/officeDocument/2006/relationships/image" Target="../media/image60.wmf"/><Relationship Id="rId7" Type="http://schemas.openxmlformats.org/officeDocument/2006/relationships/image" Target="../media/image59.wmf"/><Relationship Id="rId6" Type="http://schemas.openxmlformats.org/officeDocument/2006/relationships/image" Target="../media/image58.wmf"/><Relationship Id="rId5" Type="http://schemas.openxmlformats.org/officeDocument/2006/relationships/image" Target="../media/image57.wmf"/><Relationship Id="rId4" Type="http://schemas.openxmlformats.org/officeDocument/2006/relationships/image" Target="../media/image56.wmf"/><Relationship Id="rId3" Type="http://schemas.openxmlformats.org/officeDocument/2006/relationships/image" Target="../media/image55.wmf"/><Relationship Id="rId2" Type="http://schemas.openxmlformats.org/officeDocument/2006/relationships/image" Target="../media/image11.wmf"/><Relationship Id="rId1" Type="http://schemas.openxmlformats.org/officeDocument/2006/relationships/image" Target="../media/image54.wmf"/></Relationships>
</file>

<file path=ppt/drawings/_rels/vmlDrawing24.vml.rels><?xml version="1.0" encoding="UTF-8" standalone="yes"?>
<Relationships xmlns="http://schemas.openxmlformats.org/package/2006/relationships"><Relationship Id="rId5" Type="http://schemas.openxmlformats.org/officeDocument/2006/relationships/image" Target="../media/image64.wmf"/><Relationship Id="rId4" Type="http://schemas.openxmlformats.org/officeDocument/2006/relationships/image" Target="../media/image63.wmf"/><Relationship Id="rId3" Type="http://schemas.openxmlformats.org/officeDocument/2006/relationships/image" Target="../media/image62.wmf"/><Relationship Id="rId2" Type="http://schemas.openxmlformats.org/officeDocument/2006/relationships/image" Target="../media/image61.wmf"/><Relationship Id="rId1" Type="http://schemas.openxmlformats.org/officeDocument/2006/relationships/image" Target="../media/image60.wmf"/></Relationships>
</file>

<file path=ppt/drawings/_rels/vmlDrawing25.vml.rels><?xml version="1.0" encoding="UTF-8" standalone="yes"?>
<Relationships xmlns="http://schemas.openxmlformats.org/package/2006/relationships"><Relationship Id="rId4" Type="http://schemas.openxmlformats.org/officeDocument/2006/relationships/image" Target="../media/image68.wmf"/><Relationship Id="rId3" Type="http://schemas.openxmlformats.org/officeDocument/2006/relationships/image" Target="../media/image67.wmf"/><Relationship Id="rId2" Type="http://schemas.openxmlformats.org/officeDocument/2006/relationships/image" Target="../media/image66.wmf"/><Relationship Id="rId1" Type="http://schemas.openxmlformats.org/officeDocument/2006/relationships/image" Target="../media/image65.wmf"/></Relationships>
</file>

<file path=ppt/drawings/_rels/vmlDrawing26.vml.rels><?xml version="1.0" encoding="UTF-8" standalone="yes"?>
<Relationships xmlns="http://schemas.openxmlformats.org/package/2006/relationships"><Relationship Id="rId2" Type="http://schemas.openxmlformats.org/officeDocument/2006/relationships/image" Target="../media/image68.wmf"/><Relationship Id="rId1" Type="http://schemas.openxmlformats.org/officeDocument/2006/relationships/image" Target="../media/image69.wmf"/></Relationships>
</file>

<file path=ppt/drawings/_rels/vmlDrawing27.vml.rels><?xml version="1.0" encoding="UTF-8" standalone="yes"?>
<Relationships xmlns="http://schemas.openxmlformats.org/package/2006/relationships"><Relationship Id="rId3" Type="http://schemas.openxmlformats.org/officeDocument/2006/relationships/image" Target="../media/image72.emf"/><Relationship Id="rId2" Type="http://schemas.openxmlformats.org/officeDocument/2006/relationships/image" Target="../media/image71.wmf"/><Relationship Id="rId1" Type="http://schemas.openxmlformats.org/officeDocument/2006/relationships/image" Target="../media/image70.emf"/></Relationships>
</file>

<file path=ppt/drawings/_rels/vmlDrawing28.vml.rels><?xml version="1.0" encoding="UTF-8" standalone="yes"?>
<Relationships xmlns="http://schemas.openxmlformats.org/package/2006/relationships"><Relationship Id="rId1" Type="http://schemas.openxmlformats.org/officeDocument/2006/relationships/image" Target="../media/image73.emf"/></Relationships>
</file>

<file path=ppt/drawings/_rels/vmlDrawing29.vml.rels><?xml version="1.0" encoding="UTF-8" standalone="yes"?>
<Relationships xmlns="http://schemas.openxmlformats.org/package/2006/relationships"><Relationship Id="rId1" Type="http://schemas.openxmlformats.org/officeDocument/2006/relationships/image" Target="../media/image76.emf"/></Relationships>
</file>

<file path=ppt/drawings/_rels/vmlDrawing30.vml.rels><?xml version="1.0" encoding="UTF-8" standalone="yes"?>
<Relationships xmlns="http://schemas.openxmlformats.org/package/2006/relationships"><Relationship Id="rId1" Type="http://schemas.openxmlformats.org/officeDocument/2006/relationships/image" Target="../media/image79.emf"/></Relationships>
</file>

<file path=ppt/drawings/_rels/vmlDrawing31.vml.rels><?xml version="1.0" encoding="UTF-8" standalone="yes"?>
<Relationships xmlns="http://schemas.openxmlformats.org/package/2006/relationships"><Relationship Id="rId1" Type="http://schemas.openxmlformats.org/officeDocument/2006/relationships/image" Target="../media/image81.emf"/></Relationships>
</file>

<file path=ppt/drawings/_rels/vmlDrawing32.vml.rels><?xml version="1.0" encoding="UTF-8" standalone="yes"?>
<Relationships xmlns="http://schemas.openxmlformats.org/package/2006/relationships"><Relationship Id="rId2" Type="http://schemas.openxmlformats.org/officeDocument/2006/relationships/image" Target="../media/image84.wmf"/><Relationship Id="rId1" Type="http://schemas.openxmlformats.org/officeDocument/2006/relationships/image" Target="../media/image83.wmf"/></Relationships>
</file>

<file path=ppt/drawings/_rels/vmlDrawing33.vml.rels><?xml version="1.0" encoding="UTF-8" standalone="yes"?>
<Relationships xmlns="http://schemas.openxmlformats.org/package/2006/relationships"><Relationship Id="rId5" Type="http://schemas.openxmlformats.org/officeDocument/2006/relationships/image" Target="../media/image68.wmf"/><Relationship Id="rId4" Type="http://schemas.openxmlformats.org/officeDocument/2006/relationships/image" Target="../media/image10.wmf"/><Relationship Id="rId3" Type="http://schemas.openxmlformats.org/officeDocument/2006/relationships/image" Target="../media/image87.wmf"/><Relationship Id="rId2" Type="http://schemas.openxmlformats.org/officeDocument/2006/relationships/image" Target="../media/image86.wmf"/><Relationship Id="rId1" Type="http://schemas.openxmlformats.org/officeDocument/2006/relationships/image" Target="../media/image85.wmf"/></Relationships>
</file>

<file path=ppt/drawings/_rels/vmlDrawing34.vml.rels><?xml version="1.0" encoding="UTF-8" standalone="yes"?>
<Relationships xmlns="http://schemas.openxmlformats.org/package/2006/relationships"><Relationship Id="rId4" Type="http://schemas.openxmlformats.org/officeDocument/2006/relationships/image" Target="../media/image92.emf"/><Relationship Id="rId3" Type="http://schemas.openxmlformats.org/officeDocument/2006/relationships/image" Target="../media/image91.emf"/><Relationship Id="rId2" Type="http://schemas.openxmlformats.org/officeDocument/2006/relationships/image" Target="../media/image90.emf"/><Relationship Id="rId1" Type="http://schemas.openxmlformats.org/officeDocument/2006/relationships/image" Target="../media/image89.emf"/></Relationships>
</file>

<file path=ppt/drawings/_rels/vmlDrawing35.vml.rels><?xml version="1.0" encoding="UTF-8" standalone="yes"?>
<Relationships xmlns="http://schemas.openxmlformats.org/package/2006/relationships"><Relationship Id="rId2" Type="http://schemas.openxmlformats.org/officeDocument/2006/relationships/image" Target="../media/image94.wmf"/><Relationship Id="rId1" Type="http://schemas.openxmlformats.org/officeDocument/2006/relationships/image" Target="../media/image93.wmf"/></Relationships>
</file>

<file path=ppt/drawings/_rels/vmlDrawing36.vml.rels><?xml version="1.0" encoding="UTF-8" standalone="yes"?>
<Relationships xmlns="http://schemas.openxmlformats.org/package/2006/relationships"><Relationship Id="rId3" Type="http://schemas.openxmlformats.org/officeDocument/2006/relationships/image" Target="../media/image98.wmf"/><Relationship Id="rId2" Type="http://schemas.openxmlformats.org/officeDocument/2006/relationships/image" Target="../media/image97.emf"/><Relationship Id="rId1" Type="http://schemas.openxmlformats.org/officeDocument/2006/relationships/image" Target="../media/image96.emf"/></Relationships>
</file>

<file path=ppt/drawings/_rels/vmlDrawing37.vml.rels><?xml version="1.0" encoding="UTF-8" standalone="yes"?>
<Relationships xmlns="http://schemas.openxmlformats.org/package/2006/relationships"><Relationship Id="rId9" Type="http://schemas.openxmlformats.org/officeDocument/2006/relationships/image" Target="../media/image108.wmf"/><Relationship Id="rId8" Type="http://schemas.openxmlformats.org/officeDocument/2006/relationships/image" Target="../media/image107.wmf"/><Relationship Id="rId7" Type="http://schemas.openxmlformats.org/officeDocument/2006/relationships/image" Target="../media/image106.wmf"/><Relationship Id="rId6" Type="http://schemas.openxmlformats.org/officeDocument/2006/relationships/image" Target="../media/image105.wmf"/><Relationship Id="rId5" Type="http://schemas.openxmlformats.org/officeDocument/2006/relationships/image" Target="../media/image104.wmf"/><Relationship Id="rId4" Type="http://schemas.openxmlformats.org/officeDocument/2006/relationships/image" Target="../media/image103.wmf"/><Relationship Id="rId3" Type="http://schemas.openxmlformats.org/officeDocument/2006/relationships/image" Target="../media/image102.wmf"/><Relationship Id="rId2" Type="http://schemas.openxmlformats.org/officeDocument/2006/relationships/image" Target="../media/image101.wmf"/><Relationship Id="rId1" Type="http://schemas.openxmlformats.org/officeDocument/2006/relationships/image" Target="../media/image100.wmf"/></Relationships>
</file>

<file path=ppt/drawings/_rels/vmlDrawing38.vml.rels><?xml version="1.0" encoding="UTF-8" standalone="yes"?>
<Relationships xmlns="http://schemas.openxmlformats.org/package/2006/relationships"><Relationship Id="rId3" Type="http://schemas.openxmlformats.org/officeDocument/2006/relationships/image" Target="../media/image108.wmf"/><Relationship Id="rId2" Type="http://schemas.openxmlformats.org/officeDocument/2006/relationships/image" Target="../media/image107.wmf"/><Relationship Id="rId1" Type="http://schemas.openxmlformats.org/officeDocument/2006/relationships/image" Target="../media/image109.wmf"/></Relationships>
</file>

<file path=ppt/drawings/_rels/vmlDrawing39.vml.rels><?xml version="1.0" encoding="UTF-8" standalone="yes"?>
<Relationships xmlns="http://schemas.openxmlformats.org/package/2006/relationships"><Relationship Id="rId3" Type="http://schemas.openxmlformats.org/officeDocument/2006/relationships/image" Target="../media/image112.wmf"/><Relationship Id="rId2" Type="http://schemas.openxmlformats.org/officeDocument/2006/relationships/image" Target="../media/image111.wmf"/><Relationship Id="rId1" Type="http://schemas.openxmlformats.org/officeDocument/2006/relationships/image" Target="../media/image110.wmf"/></Relationships>
</file>

<file path=ppt/drawings/_rels/vmlDrawing40.vml.rels><?xml version="1.0" encoding="UTF-8" standalone="yes"?>
<Relationships xmlns="http://schemas.openxmlformats.org/package/2006/relationships"><Relationship Id="rId3" Type="http://schemas.openxmlformats.org/officeDocument/2006/relationships/image" Target="../media/image110.wmf"/><Relationship Id="rId2" Type="http://schemas.openxmlformats.org/officeDocument/2006/relationships/image" Target="../media/image97.emf"/><Relationship Id="rId1" Type="http://schemas.openxmlformats.org/officeDocument/2006/relationships/image" Target="../media/image113.wmf"/></Relationships>
</file>

<file path=ppt/drawings/_rels/vmlDrawing41.vml.rels><?xml version="1.0" encoding="UTF-8" standalone="yes"?>
<Relationships xmlns="http://schemas.openxmlformats.org/package/2006/relationships"><Relationship Id="rId1" Type="http://schemas.openxmlformats.org/officeDocument/2006/relationships/image" Target="../media/image114.wmf"/></Relationships>
</file>

<file path=ppt/drawings/_rels/vmlDrawing42.vml.rels><?xml version="1.0" encoding="UTF-8" standalone="yes"?>
<Relationships xmlns="http://schemas.openxmlformats.org/package/2006/relationships"><Relationship Id="rId2" Type="http://schemas.openxmlformats.org/officeDocument/2006/relationships/image" Target="../media/image116.wmf"/><Relationship Id="rId1" Type="http://schemas.openxmlformats.org/officeDocument/2006/relationships/image" Target="../media/image115.wmf"/></Relationships>
</file>

<file path=ppt/drawings/_rels/vmlDrawing43.vml.rels><?xml version="1.0" encoding="UTF-8" standalone="yes"?>
<Relationships xmlns="http://schemas.openxmlformats.org/package/2006/relationships"><Relationship Id="rId4" Type="http://schemas.openxmlformats.org/officeDocument/2006/relationships/image" Target="../media/image125.wmf"/><Relationship Id="rId3" Type="http://schemas.openxmlformats.org/officeDocument/2006/relationships/image" Target="../media/image124.wmf"/><Relationship Id="rId2" Type="http://schemas.openxmlformats.org/officeDocument/2006/relationships/image" Target="../media/image123.wmf"/><Relationship Id="rId1" Type="http://schemas.openxmlformats.org/officeDocument/2006/relationships/image" Target="../media/image122.wmf"/></Relationships>
</file>

<file path=ppt/drawings/_rels/vmlDrawing44.vml.rels><?xml version="1.0" encoding="UTF-8" standalone="yes"?>
<Relationships xmlns="http://schemas.openxmlformats.org/package/2006/relationships"><Relationship Id="rId2" Type="http://schemas.openxmlformats.org/officeDocument/2006/relationships/image" Target="../media/image127.wmf"/><Relationship Id="rId1" Type="http://schemas.openxmlformats.org/officeDocument/2006/relationships/image" Target="../media/image126.wmf"/></Relationships>
</file>

<file path=ppt/drawings/_rels/vmlDrawing45.vml.rels><?xml version="1.0" encoding="UTF-8" standalone="yes"?>
<Relationships xmlns="http://schemas.openxmlformats.org/package/2006/relationships"><Relationship Id="rId5" Type="http://schemas.openxmlformats.org/officeDocument/2006/relationships/image" Target="../media/image132.wmf"/><Relationship Id="rId4" Type="http://schemas.openxmlformats.org/officeDocument/2006/relationships/image" Target="../media/image131.wmf"/><Relationship Id="rId3" Type="http://schemas.openxmlformats.org/officeDocument/2006/relationships/image" Target="../media/image130.wmf"/><Relationship Id="rId2" Type="http://schemas.openxmlformats.org/officeDocument/2006/relationships/image" Target="../media/image129.wmf"/><Relationship Id="rId1" Type="http://schemas.openxmlformats.org/officeDocument/2006/relationships/image" Target="../media/image128.wmf"/></Relationships>
</file>

<file path=ppt/drawings/_rels/vmlDrawing46.vml.rels><?xml version="1.0" encoding="UTF-8" standalone="yes"?>
<Relationships xmlns="http://schemas.openxmlformats.org/package/2006/relationships"><Relationship Id="rId9" Type="http://schemas.openxmlformats.org/officeDocument/2006/relationships/image" Target="../media/image140.wmf"/><Relationship Id="rId8" Type="http://schemas.openxmlformats.org/officeDocument/2006/relationships/image" Target="../media/image139.wmf"/><Relationship Id="rId7" Type="http://schemas.openxmlformats.org/officeDocument/2006/relationships/image" Target="../media/image138.wmf"/><Relationship Id="rId6" Type="http://schemas.openxmlformats.org/officeDocument/2006/relationships/image" Target="../media/image137.wmf"/><Relationship Id="rId5" Type="http://schemas.openxmlformats.org/officeDocument/2006/relationships/image" Target="../media/image136.wmf"/><Relationship Id="rId4" Type="http://schemas.openxmlformats.org/officeDocument/2006/relationships/image" Target="../media/image135.wmf"/><Relationship Id="rId3" Type="http://schemas.openxmlformats.org/officeDocument/2006/relationships/image" Target="../media/image134.wmf"/><Relationship Id="rId2" Type="http://schemas.openxmlformats.org/officeDocument/2006/relationships/image" Target="../media/image110.wmf"/><Relationship Id="rId11" Type="http://schemas.openxmlformats.org/officeDocument/2006/relationships/image" Target="../media/image142.wmf"/><Relationship Id="rId10" Type="http://schemas.openxmlformats.org/officeDocument/2006/relationships/image" Target="../media/image141.wmf"/><Relationship Id="rId1" Type="http://schemas.openxmlformats.org/officeDocument/2006/relationships/image" Target="../media/image133.wmf"/></Relationships>
</file>

<file path=ppt/drawings/_rels/vmlDrawing47.vml.rels><?xml version="1.0" encoding="UTF-8" standalone="yes"?>
<Relationships xmlns="http://schemas.openxmlformats.org/package/2006/relationships"><Relationship Id="rId7" Type="http://schemas.openxmlformats.org/officeDocument/2006/relationships/image" Target="../media/image149.wmf"/><Relationship Id="rId6" Type="http://schemas.openxmlformats.org/officeDocument/2006/relationships/image" Target="../media/image148.wmf"/><Relationship Id="rId5" Type="http://schemas.openxmlformats.org/officeDocument/2006/relationships/image" Target="../media/image147.wmf"/><Relationship Id="rId4" Type="http://schemas.openxmlformats.org/officeDocument/2006/relationships/image" Target="../media/image146.wmf"/><Relationship Id="rId3" Type="http://schemas.openxmlformats.org/officeDocument/2006/relationships/image" Target="../media/image145.wmf"/><Relationship Id="rId2" Type="http://schemas.openxmlformats.org/officeDocument/2006/relationships/image" Target="../media/image144.wmf"/><Relationship Id="rId1" Type="http://schemas.openxmlformats.org/officeDocument/2006/relationships/image" Target="../media/image143.wmf"/></Relationships>
</file>

<file path=ppt/drawings/_rels/vmlDrawing48.vml.rels><?xml version="1.0" encoding="UTF-8" standalone="yes"?>
<Relationships xmlns="http://schemas.openxmlformats.org/package/2006/relationships"><Relationship Id="rId4" Type="http://schemas.openxmlformats.org/officeDocument/2006/relationships/image" Target="../media/image153.wmf"/><Relationship Id="rId3" Type="http://schemas.openxmlformats.org/officeDocument/2006/relationships/image" Target="../media/image152.wmf"/><Relationship Id="rId2" Type="http://schemas.openxmlformats.org/officeDocument/2006/relationships/image" Target="../media/image151.wmf"/><Relationship Id="rId1" Type="http://schemas.openxmlformats.org/officeDocument/2006/relationships/image" Target="../media/image150.wmf"/></Relationships>
</file>

<file path=ppt/drawings/_rels/vmlDrawing49.vml.rels><?xml version="1.0" encoding="UTF-8" standalone="yes"?>
<Relationships xmlns="http://schemas.openxmlformats.org/package/2006/relationships"><Relationship Id="rId2" Type="http://schemas.openxmlformats.org/officeDocument/2006/relationships/image" Target="../media/image155.wmf"/><Relationship Id="rId1" Type="http://schemas.openxmlformats.org/officeDocument/2006/relationships/image" Target="../media/image154.wmf"/></Relationships>
</file>

<file path=ppt/drawings/_rels/vmlDrawing50.vml.rels><?xml version="1.0" encoding="UTF-8" standalone="yes"?>
<Relationships xmlns="http://schemas.openxmlformats.org/package/2006/relationships"><Relationship Id="rId1" Type="http://schemas.openxmlformats.org/officeDocument/2006/relationships/image" Target="../media/image157.wmf"/></Relationships>
</file>

<file path=ppt/drawings/_rels/vmlDrawing51.vml.rels><?xml version="1.0" encoding="UTF-8" standalone="yes"?>
<Relationships xmlns="http://schemas.openxmlformats.org/package/2006/relationships"><Relationship Id="rId6" Type="http://schemas.openxmlformats.org/officeDocument/2006/relationships/image" Target="../media/image163.wmf"/><Relationship Id="rId5" Type="http://schemas.openxmlformats.org/officeDocument/2006/relationships/image" Target="../media/image162.wmf"/><Relationship Id="rId4" Type="http://schemas.openxmlformats.org/officeDocument/2006/relationships/image" Target="../media/image161.wmf"/><Relationship Id="rId3" Type="http://schemas.openxmlformats.org/officeDocument/2006/relationships/image" Target="../media/image160.wmf"/><Relationship Id="rId2" Type="http://schemas.openxmlformats.org/officeDocument/2006/relationships/image" Target="../media/image159.wmf"/><Relationship Id="rId1" Type="http://schemas.openxmlformats.org/officeDocument/2006/relationships/image" Target="../media/image130.wmf"/></Relationships>
</file>

<file path=ppt/drawings/_rels/vmlDrawing52.vml.rels><?xml version="1.0" encoding="UTF-8" standalone="yes"?>
<Relationships xmlns="http://schemas.openxmlformats.org/package/2006/relationships"><Relationship Id="rId2" Type="http://schemas.openxmlformats.org/officeDocument/2006/relationships/image" Target="../media/image160.wmf"/><Relationship Id="rId1" Type="http://schemas.openxmlformats.org/officeDocument/2006/relationships/image" Target="../media/image164.wmf"/></Relationships>
</file>

<file path=ppt/drawings/_rels/vmlDrawing53.vml.rels><?xml version="1.0" encoding="UTF-8" standalone="yes"?>
<Relationships xmlns="http://schemas.openxmlformats.org/package/2006/relationships"><Relationship Id="rId1" Type="http://schemas.openxmlformats.org/officeDocument/2006/relationships/image" Target="../media/image165.wmf"/></Relationships>
</file>

<file path=ppt/drawings/_rels/vmlDrawing54.vml.rels><?xml version="1.0" encoding="UTF-8" standalone="yes"?>
<Relationships xmlns="http://schemas.openxmlformats.org/package/2006/relationships"><Relationship Id="rId5" Type="http://schemas.openxmlformats.org/officeDocument/2006/relationships/image" Target="../media/image171.wmf"/><Relationship Id="rId4" Type="http://schemas.openxmlformats.org/officeDocument/2006/relationships/image" Target="../media/image170.wmf"/><Relationship Id="rId3" Type="http://schemas.openxmlformats.org/officeDocument/2006/relationships/image" Target="../media/image169.wmf"/><Relationship Id="rId2" Type="http://schemas.openxmlformats.org/officeDocument/2006/relationships/image" Target="../media/image168.wmf"/><Relationship Id="rId1" Type="http://schemas.openxmlformats.org/officeDocument/2006/relationships/image" Target="../media/image167.wmf"/></Relationships>
</file>

<file path=ppt/drawings/_rels/vmlDrawing55.vml.rels><?xml version="1.0" encoding="UTF-8" standalone="yes"?>
<Relationships xmlns="http://schemas.openxmlformats.org/package/2006/relationships"><Relationship Id="rId6" Type="http://schemas.openxmlformats.org/officeDocument/2006/relationships/image" Target="../media/image177.wmf"/><Relationship Id="rId5" Type="http://schemas.openxmlformats.org/officeDocument/2006/relationships/image" Target="../media/image176.wmf"/><Relationship Id="rId4" Type="http://schemas.openxmlformats.org/officeDocument/2006/relationships/image" Target="../media/image175.wmf"/><Relationship Id="rId3" Type="http://schemas.openxmlformats.org/officeDocument/2006/relationships/image" Target="../media/image174.wmf"/><Relationship Id="rId2" Type="http://schemas.openxmlformats.org/officeDocument/2006/relationships/image" Target="../media/image173.wmf"/><Relationship Id="rId1" Type="http://schemas.openxmlformats.org/officeDocument/2006/relationships/image" Target="../media/image172.wmf"/></Relationships>
</file>

<file path=ppt/drawings/_rels/vmlDrawing56.vml.rels><?xml version="1.0" encoding="UTF-8" standalone="yes"?>
<Relationships xmlns="http://schemas.openxmlformats.org/package/2006/relationships"><Relationship Id="rId2" Type="http://schemas.openxmlformats.org/officeDocument/2006/relationships/image" Target="../media/image180.wmf"/><Relationship Id="rId1" Type="http://schemas.openxmlformats.org/officeDocument/2006/relationships/image" Target="../media/image179.wmf"/></Relationships>
</file>

<file path=ppt/drawings/_rels/vmlDrawing57.vml.rels><?xml version="1.0" encoding="UTF-8" standalone="yes"?>
<Relationships xmlns="http://schemas.openxmlformats.org/package/2006/relationships"><Relationship Id="rId4" Type="http://schemas.openxmlformats.org/officeDocument/2006/relationships/image" Target="../media/image184.wmf"/><Relationship Id="rId3" Type="http://schemas.openxmlformats.org/officeDocument/2006/relationships/image" Target="../media/image183.wmf"/><Relationship Id="rId2" Type="http://schemas.openxmlformats.org/officeDocument/2006/relationships/image" Target="../media/image182.wmf"/><Relationship Id="rId1" Type="http://schemas.openxmlformats.org/officeDocument/2006/relationships/image" Target="../media/image181.wmf"/></Relationships>
</file>

<file path=ppt/drawings/_rels/vmlDrawing58.vml.rels><?xml version="1.0" encoding="UTF-8" standalone="yes"?>
<Relationships xmlns="http://schemas.openxmlformats.org/package/2006/relationships"><Relationship Id="rId2" Type="http://schemas.openxmlformats.org/officeDocument/2006/relationships/image" Target="../media/image187.wmf"/><Relationship Id="rId1" Type="http://schemas.openxmlformats.org/officeDocument/2006/relationships/image" Target="../media/image186.wmf"/></Relationships>
</file>

<file path=ppt/drawings/_rels/vmlDrawing59.vml.rels><?xml version="1.0" encoding="UTF-8" standalone="yes"?>
<Relationships xmlns="http://schemas.openxmlformats.org/package/2006/relationships"><Relationship Id="rId3" Type="http://schemas.openxmlformats.org/officeDocument/2006/relationships/image" Target="../media/image194.emf"/><Relationship Id="rId2" Type="http://schemas.openxmlformats.org/officeDocument/2006/relationships/image" Target="../media/image193.emf"/><Relationship Id="rId1" Type="http://schemas.openxmlformats.org/officeDocument/2006/relationships/image" Target="../media/image192.emf"/></Relationships>
</file>

<file path=ppt/drawings/_rels/vmlDrawing60.vml.rels><?xml version="1.0" encoding="UTF-8" standalone="yes"?>
<Relationships xmlns="http://schemas.openxmlformats.org/package/2006/relationships"><Relationship Id="rId6" Type="http://schemas.openxmlformats.org/officeDocument/2006/relationships/image" Target="../media/image200.emf"/><Relationship Id="rId5" Type="http://schemas.openxmlformats.org/officeDocument/2006/relationships/image" Target="../media/image199.emf"/><Relationship Id="rId4" Type="http://schemas.openxmlformats.org/officeDocument/2006/relationships/image" Target="../media/image198.emf"/><Relationship Id="rId3" Type="http://schemas.openxmlformats.org/officeDocument/2006/relationships/image" Target="../media/image197.emf"/><Relationship Id="rId2" Type="http://schemas.openxmlformats.org/officeDocument/2006/relationships/image" Target="../media/image196.emf"/><Relationship Id="rId1" Type="http://schemas.openxmlformats.org/officeDocument/2006/relationships/image" Target="../media/image195.emf"/></Relationships>
</file>

<file path=ppt/drawings/_rels/vmlDrawing61.vml.rels><?xml version="1.0" encoding="UTF-8" standalone="yes"?>
<Relationships xmlns="http://schemas.openxmlformats.org/package/2006/relationships"><Relationship Id="rId4" Type="http://schemas.openxmlformats.org/officeDocument/2006/relationships/image" Target="../media/image204.wmf"/><Relationship Id="rId3" Type="http://schemas.openxmlformats.org/officeDocument/2006/relationships/image" Target="../media/image203.emf"/><Relationship Id="rId2" Type="http://schemas.openxmlformats.org/officeDocument/2006/relationships/image" Target="../media/image202.emf"/><Relationship Id="rId1" Type="http://schemas.openxmlformats.org/officeDocument/2006/relationships/image" Target="../media/image201.e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F9B84EA-7D68-4D60-9CB1-D50884785D1C}" type="datetimeFigureOut">
              <a:rPr lang="zh-CN" altLang="en-US" smtClean="0"/>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4E0FC9-F1F8-4FAE-9988-3BA365CFD46F}" type="slidenum">
              <a:rPr lang="zh-CN" altLang="en-US" smtClean="0"/>
            </a:fld>
            <a:endParaRPr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4500"/>
            </a:lvl1p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zh-CN" altLang="en-US" smtClean="0"/>
              <a:t>单击此处编辑母版副标题样式</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9"/>
            <a:ext cx="7886700" cy="2852737"/>
          </a:xfrm>
        </p:spPr>
        <p:txBody>
          <a:bodyPr anchor="b"/>
          <a:lstStyle>
            <a:lvl1pPr>
              <a:defRPr sz="4500"/>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623888" y="4589464"/>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zh-CN" altLang="en-US" smtClean="0"/>
              <a:t>单击此处编辑母版文本样式</a:t>
            </a:r>
            <a:endParaRPr lang="zh-CN" altLang="en-US" smtClean="0"/>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628650" y="1825625"/>
            <a:ext cx="3886200" cy="435133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nvPr>
        </p:nvSpPr>
        <p:spPr>
          <a:xfrm>
            <a:off x="4629150" y="1825625"/>
            <a:ext cx="3886200" cy="435133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日期占位符 4"/>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6"/>
            <a:ext cx="7886700" cy="1325563"/>
          </a:xfrm>
        </p:spPr>
        <p:txBody>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629842" y="1681163"/>
            <a:ext cx="3868340"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smtClean="0"/>
              <a:t>单击此处编辑母版文本样式</a:t>
            </a:r>
            <a:endParaRPr lang="zh-CN" altLang="en-US" smtClean="0"/>
          </a:p>
        </p:txBody>
      </p:sp>
      <p:sp>
        <p:nvSpPr>
          <p:cNvPr id="4" name="内容占位符 3"/>
          <p:cNvSpPr>
            <a:spLocks noGrp="1"/>
          </p:cNvSpPr>
          <p:nvPr>
            <p:ph sz="half" idx="2"/>
          </p:nvPr>
        </p:nvSpPr>
        <p:spPr>
          <a:xfrm>
            <a:off x="629842" y="2505075"/>
            <a:ext cx="3868340" cy="368458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p:nvPr>
        </p:nvSpPr>
        <p:spPr>
          <a:xfrm>
            <a:off x="4629150" y="1681163"/>
            <a:ext cx="3887391"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smtClean="0"/>
              <a:t>单击此处编辑母版文本样式</a:t>
            </a:r>
            <a:endParaRPr lang="zh-CN" altLang="en-US" smtClean="0"/>
          </a:p>
        </p:txBody>
      </p:sp>
      <p:sp>
        <p:nvSpPr>
          <p:cNvPr id="6" name="内容占位符 5"/>
          <p:cNvSpPr>
            <a:spLocks noGrp="1"/>
          </p:cNvSpPr>
          <p:nvPr>
            <p:ph sz="quarter" idx="4"/>
          </p:nvPr>
        </p:nvSpPr>
        <p:spPr>
          <a:xfrm>
            <a:off x="4629150" y="2505075"/>
            <a:ext cx="3887391" cy="368458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日期占位符 6"/>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887391" y="987426"/>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zh-CN" altLang="en-US" smtClean="0"/>
              <a:t>单击此处编辑母版文本样式</a:t>
            </a:r>
            <a:endParaRPr lang="zh-CN" altLang="en-US" smtClean="0"/>
          </a:p>
        </p:txBody>
      </p:sp>
      <p:sp>
        <p:nvSpPr>
          <p:cNvPr id="5" name="日期占位符 4"/>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3887391" y="987426"/>
            <a:ext cx="4629150" cy="4873625"/>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zh-CN" altLang="en-US"/>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zh-CN" altLang="en-US" smtClean="0"/>
              <a:t>单击此处编辑母版文本样式</a:t>
            </a:r>
            <a:endParaRPr lang="zh-CN" altLang="en-US" smtClean="0"/>
          </a:p>
        </p:txBody>
      </p:sp>
      <p:sp>
        <p:nvSpPr>
          <p:cNvPr id="5" name="日期占位符 4"/>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543675" y="365125"/>
            <a:ext cx="1971675" cy="5811838"/>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628650" y="365125"/>
            <a:ext cx="5800725" cy="5811838"/>
          </a:xfrm>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AndTx">
  <p:cSld name="标题，内容与文本">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smtClean="0"/>
              <a:t>单击此处编辑母版标题样式</a:t>
            </a:r>
            <a:endParaRPr lang="zh-CN" altLang="en-US" noProof="1"/>
          </a:p>
        </p:txBody>
      </p:sp>
      <p:sp>
        <p:nvSpPr>
          <p:cNvPr id="3" name="内容占位符 2"/>
          <p:cNvSpPr>
            <a:spLocks noGrp="1"/>
          </p:cNvSpPr>
          <p:nvPr>
            <p:ph sz="half" idx="1"/>
          </p:nvPr>
        </p:nvSpPr>
        <p:spPr>
          <a:xfrm>
            <a:off x="628650" y="1825625"/>
            <a:ext cx="3886200" cy="4351338"/>
          </a:xfrm>
        </p:spPr>
        <p:txBody>
          <a:bodyPr/>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
        <p:nvSpPr>
          <p:cNvPr id="4" name="文本占位符 3"/>
          <p:cNvSpPr>
            <a:spLocks noGrp="1"/>
          </p:cNvSpPr>
          <p:nvPr>
            <p:ph type="body" sz="half" idx="2"/>
          </p:nvPr>
        </p:nvSpPr>
        <p:spPr>
          <a:xfrm>
            <a:off x="4629150" y="1825625"/>
            <a:ext cx="3886200" cy="4351338"/>
          </a:xfrm>
        </p:spPr>
        <p:txBody>
          <a:bodyPr/>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
        <p:nvSpPr>
          <p:cNvPr id="5" name="日期占位符 1027"/>
          <p:cNvSpPr>
            <a:spLocks noGrp="1"/>
          </p:cNvSpPr>
          <p:nvPr>
            <p:ph type="dt" sz="half" idx="10"/>
          </p:nvPr>
        </p:nvSpPr>
        <p:spPr/>
        <p:txBody>
          <a:bodyPr/>
          <a:lstStyle>
            <a:lvl1pPr>
              <a:defRPr/>
            </a:lvl1pPr>
          </a:lstStyle>
          <a:p>
            <a:fld id="{BB962C8B-B14F-4D97-AF65-F5344CB8AC3E}" type="datetime1">
              <a:rPr lang="zh-CN" altLang="en-US"/>
            </a:fld>
            <a:endParaRPr lang="zh-CN" altLang="en-US"/>
          </a:p>
        </p:txBody>
      </p:sp>
      <p:sp>
        <p:nvSpPr>
          <p:cNvPr id="6" name="页脚占位符 1028"/>
          <p:cNvSpPr>
            <a:spLocks noGrp="1"/>
          </p:cNvSpPr>
          <p:nvPr>
            <p:ph type="ftr" sz="quarter" idx="11"/>
          </p:nvPr>
        </p:nvSpPr>
        <p:spPr/>
        <p:txBody>
          <a:bodyPr/>
          <a:lstStyle>
            <a:lvl1pPr>
              <a:defRPr/>
            </a:lvl1pPr>
          </a:lstStyle>
          <a:p>
            <a:endParaRPr lang="zh-CN" altLang="en-US"/>
          </a:p>
        </p:txBody>
      </p:sp>
      <p:sp>
        <p:nvSpPr>
          <p:cNvPr id="7" name="灯片编号占位符 1029"/>
          <p:cNvSpPr>
            <a:spLocks noGrp="1"/>
          </p:cNvSpPr>
          <p:nvPr>
            <p:ph type="sldNum" sz="quarter" idx="12"/>
          </p:nvPr>
        </p:nvSpPr>
        <p:spPr/>
        <p:txBody>
          <a:bodyPr/>
          <a:lstStyle>
            <a:lvl1pPr>
              <a:defRPr/>
            </a:lvl1pPr>
          </a:lstStyle>
          <a:p>
            <a:fld id="{9D3C5CD5-B993-4D7F-877C-D3D3F7325866}" type="slidenum">
              <a:rPr lang="zh-CN" altLang="en-US"/>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3" Type="http://schemas.openxmlformats.org/officeDocument/2006/relationships/theme" Target="../theme/theme1.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900">
                <a:solidFill>
                  <a:schemeClr val="tx1">
                    <a:tint val="75000"/>
                  </a:schemeClr>
                </a:solidFill>
              </a:defRPr>
            </a:lvl1pPr>
          </a:lstStyle>
          <a:p>
            <a:fld id="{D997B5FA-0921-464F-AAE1-844C04324D75}" type="datetimeFigureOut">
              <a:rPr lang="zh-CN" altLang="en-US" smtClean="0"/>
            </a:fld>
            <a:endParaRPr lang="zh-CN" altLang="en-US"/>
          </a:p>
        </p:txBody>
      </p:sp>
      <p:sp>
        <p:nvSpPr>
          <p:cNvPr id="5" name="页脚占位符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565CE74E-AB26-4998-AD42-012C4C1AD076}"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4" Type="http://schemas.openxmlformats.org/officeDocument/2006/relationships/vmlDrawing" Target="../drawings/vmlDrawing1.vml"/><Relationship Id="rId3" Type="http://schemas.openxmlformats.org/officeDocument/2006/relationships/slideLayout" Target="../slideLayouts/slideLayout7.xml"/><Relationship Id="rId2" Type="http://schemas.openxmlformats.org/officeDocument/2006/relationships/image" Target="../media/image1.png"/><Relationship Id="rId1" Type="http://schemas.openxmlformats.org/officeDocument/2006/relationships/oleObject" Target="../embeddings/oleObject1.bin"/></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image" Target="../media/image3.jpeg"/><Relationship Id="rId1" Type="http://schemas.openxmlformats.org/officeDocument/2006/relationships/image" Target="../media/image2.jpeg"/></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4.png"/></Relationships>
</file>

<file path=ppt/slides/_rels/slide9.xml.rels><?xml version="1.0" encoding="UTF-8" standalone="yes"?>
<Relationships xmlns="http://schemas.openxmlformats.org/package/2006/relationships"><Relationship Id="rId6" Type="http://schemas.openxmlformats.org/officeDocument/2006/relationships/vmlDrawing" Target="../drawings/vmlDrawing2.vml"/><Relationship Id="rId5" Type="http://schemas.openxmlformats.org/officeDocument/2006/relationships/slideLayout" Target="../slideLayouts/slideLayout7.xml"/><Relationship Id="rId4" Type="http://schemas.openxmlformats.org/officeDocument/2006/relationships/image" Target="../media/image6.emf"/><Relationship Id="rId3" Type="http://schemas.openxmlformats.org/officeDocument/2006/relationships/oleObject" Target="../embeddings/oleObject3.bin"/><Relationship Id="rId2" Type="http://schemas.openxmlformats.org/officeDocument/2006/relationships/image" Target="../media/image5.emf"/><Relationship Id="rId1" Type="http://schemas.openxmlformats.org/officeDocument/2006/relationships/oleObject" Target="../embeddings/oleObject2.bin"/></Relationships>
</file>

<file path=ppt/slides/_rels/slide10.xml.rels><?xml version="1.0" encoding="UTF-8" standalone="yes"?>
<Relationships xmlns="http://schemas.openxmlformats.org/package/2006/relationships"><Relationship Id="rId4" Type="http://schemas.openxmlformats.org/officeDocument/2006/relationships/vmlDrawing" Target="../drawings/vmlDrawing3.vml"/><Relationship Id="rId3" Type="http://schemas.openxmlformats.org/officeDocument/2006/relationships/slideLayout" Target="../slideLayouts/slideLayout7.xml"/><Relationship Id="rId2" Type="http://schemas.openxmlformats.org/officeDocument/2006/relationships/image" Target="../media/image7.emf"/><Relationship Id="rId1" Type="http://schemas.openxmlformats.org/officeDocument/2006/relationships/oleObject" Target="../embeddings/oleObject4.bin"/></Relationships>
</file>

<file path=ppt/slides/_rels/slide11.xml.rels><?xml version="1.0" encoding="UTF-8" standalone="yes"?>
<Relationships xmlns="http://schemas.openxmlformats.org/package/2006/relationships"><Relationship Id="rId4" Type="http://schemas.openxmlformats.org/officeDocument/2006/relationships/vmlDrawing" Target="../drawings/vmlDrawing4.vml"/><Relationship Id="rId3" Type="http://schemas.openxmlformats.org/officeDocument/2006/relationships/slideLayout" Target="../slideLayouts/slideLayout7.xml"/><Relationship Id="rId2" Type="http://schemas.openxmlformats.org/officeDocument/2006/relationships/image" Target="../media/image8.wmf"/><Relationship Id="rId1" Type="http://schemas.openxmlformats.org/officeDocument/2006/relationships/oleObject" Target="../embeddings/oleObject5.bin"/></Relationships>
</file>

<file path=ppt/slides/_rels/slide12.xml.rels><?xml version="1.0" encoding="UTF-8" standalone="yes"?>
<Relationships xmlns="http://schemas.openxmlformats.org/package/2006/relationships"><Relationship Id="rId9" Type="http://schemas.openxmlformats.org/officeDocument/2006/relationships/slideLayout" Target="../slideLayouts/slideLayout7.xml"/><Relationship Id="rId8" Type="http://schemas.openxmlformats.org/officeDocument/2006/relationships/image" Target="../media/image11.wmf"/><Relationship Id="rId7" Type="http://schemas.openxmlformats.org/officeDocument/2006/relationships/oleObject" Target="../embeddings/oleObject9.bin"/><Relationship Id="rId6" Type="http://schemas.openxmlformats.org/officeDocument/2006/relationships/image" Target="../media/image10.wmf"/><Relationship Id="rId5" Type="http://schemas.openxmlformats.org/officeDocument/2006/relationships/oleObject" Target="../embeddings/oleObject8.bin"/><Relationship Id="rId4" Type="http://schemas.openxmlformats.org/officeDocument/2006/relationships/image" Target="../media/image9.wmf"/><Relationship Id="rId3" Type="http://schemas.openxmlformats.org/officeDocument/2006/relationships/oleObject" Target="../embeddings/oleObject7.bin"/><Relationship Id="rId2" Type="http://schemas.openxmlformats.org/officeDocument/2006/relationships/image" Target="../media/image8.wmf"/><Relationship Id="rId10" Type="http://schemas.openxmlformats.org/officeDocument/2006/relationships/vmlDrawing" Target="../drawings/vmlDrawing5.vml"/><Relationship Id="rId1" Type="http://schemas.openxmlformats.org/officeDocument/2006/relationships/oleObject" Target="../embeddings/oleObject6.bin"/></Relationships>
</file>

<file path=ppt/slides/_rels/slide13.xml.rels><?xml version="1.0" encoding="UTF-8" standalone="yes"?>
<Relationships xmlns="http://schemas.openxmlformats.org/package/2006/relationships"><Relationship Id="rId4" Type="http://schemas.openxmlformats.org/officeDocument/2006/relationships/vmlDrawing" Target="../drawings/vmlDrawing6.vml"/><Relationship Id="rId3" Type="http://schemas.openxmlformats.org/officeDocument/2006/relationships/slideLayout" Target="../slideLayouts/slideLayout7.xml"/><Relationship Id="rId2" Type="http://schemas.openxmlformats.org/officeDocument/2006/relationships/image" Target="../media/image12.emf"/><Relationship Id="rId1" Type="http://schemas.openxmlformats.org/officeDocument/2006/relationships/oleObject" Target="../embeddings/oleObject10.bin"/></Relationships>
</file>

<file path=ppt/slides/_rels/slide14.xml.rels><?xml version="1.0" encoding="UTF-8" standalone="yes"?>
<Relationships xmlns="http://schemas.openxmlformats.org/package/2006/relationships"><Relationship Id="rId8" Type="http://schemas.openxmlformats.org/officeDocument/2006/relationships/vmlDrawing" Target="../drawings/vmlDrawing7.vml"/><Relationship Id="rId7" Type="http://schemas.openxmlformats.org/officeDocument/2006/relationships/slideLayout" Target="../slideLayouts/slideLayout7.xml"/><Relationship Id="rId6" Type="http://schemas.openxmlformats.org/officeDocument/2006/relationships/image" Target="../media/image15.wmf"/><Relationship Id="rId5" Type="http://schemas.openxmlformats.org/officeDocument/2006/relationships/oleObject" Target="../embeddings/oleObject13.bin"/><Relationship Id="rId4" Type="http://schemas.openxmlformats.org/officeDocument/2006/relationships/image" Target="../media/image14.wmf"/><Relationship Id="rId3" Type="http://schemas.openxmlformats.org/officeDocument/2006/relationships/oleObject" Target="../embeddings/oleObject12.bin"/><Relationship Id="rId2" Type="http://schemas.openxmlformats.org/officeDocument/2006/relationships/image" Target="../media/image13.wmf"/><Relationship Id="rId1" Type="http://schemas.openxmlformats.org/officeDocument/2006/relationships/oleObject" Target="../embeddings/oleObject11.bin"/></Relationships>
</file>

<file path=ppt/slides/_rels/slide15.xml.rels><?xml version="1.0" encoding="UTF-8" standalone="yes"?>
<Relationships xmlns="http://schemas.openxmlformats.org/package/2006/relationships"><Relationship Id="rId6" Type="http://schemas.openxmlformats.org/officeDocument/2006/relationships/vmlDrawing" Target="../drawings/vmlDrawing8.vml"/><Relationship Id="rId5" Type="http://schemas.openxmlformats.org/officeDocument/2006/relationships/slideLayout" Target="../slideLayouts/slideLayout7.xml"/><Relationship Id="rId4" Type="http://schemas.openxmlformats.org/officeDocument/2006/relationships/image" Target="../media/image17.wmf"/><Relationship Id="rId3" Type="http://schemas.openxmlformats.org/officeDocument/2006/relationships/oleObject" Target="../embeddings/oleObject15.bin"/><Relationship Id="rId2" Type="http://schemas.openxmlformats.org/officeDocument/2006/relationships/image" Target="../media/image16.wmf"/><Relationship Id="rId1" Type="http://schemas.openxmlformats.org/officeDocument/2006/relationships/oleObject" Target="../embeddings/oleObject14.bin"/></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6" Type="http://schemas.openxmlformats.org/officeDocument/2006/relationships/vmlDrawing" Target="../drawings/vmlDrawing9.vml"/><Relationship Id="rId5" Type="http://schemas.openxmlformats.org/officeDocument/2006/relationships/slideLayout" Target="../slideLayouts/slideLayout7.xml"/><Relationship Id="rId4" Type="http://schemas.openxmlformats.org/officeDocument/2006/relationships/image" Target="../media/image18.wmf"/><Relationship Id="rId3" Type="http://schemas.openxmlformats.org/officeDocument/2006/relationships/oleObject" Target="../embeddings/oleObject17.bin"/><Relationship Id="rId2" Type="http://schemas.openxmlformats.org/officeDocument/2006/relationships/image" Target="../media/image10.wmf"/><Relationship Id="rId1" Type="http://schemas.openxmlformats.org/officeDocument/2006/relationships/oleObject" Target="../embeddings/oleObject16.bin"/></Relationships>
</file>

<file path=ppt/slides/_rels/slide19.xml.rels><?xml version="1.0" encoding="UTF-8" standalone="yes"?>
<Relationships xmlns="http://schemas.openxmlformats.org/package/2006/relationships"><Relationship Id="rId4" Type="http://schemas.openxmlformats.org/officeDocument/2006/relationships/vmlDrawing" Target="../drawings/vmlDrawing10.vml"/><Relationship Id="rId3" Type="http://schemas.openxmlformats.org/officeDocument/2006/relationships/slideLayout" Target="../slideLayouts/slideLayout2.xml"/><Relationship Id="rId2" Type="http://schemas.openxmlformats.org/officeDocument/2006/relationships/image" Target="../media/image18.wmf"/><Relationship Id="rId1" Type="http://schemas.openxmlformats.org/officeDocument/2006/relationships/oleObject" Target="../embeddings/oleObject18.bin"/></Relationships>
</file>

<file path=ppt/slides/_rels/slide20.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9.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9" Type="http://schemas.openxmlformats.org/officeDocument/2006/relationships/slideLayout" Target="../slideLayouts/slideLayout7.xml"/><Relationship Id="rId8" Type="http://schemas.openxmlformats.org/officeDocument/2006/relationships/image" Target="../media/image22.wmf"/><Relationship Id="rId7" Type="http://schemas.openxmlformats.org/officeDocument/2006/relationships/oleObject" Target="../embeddings/oleObject22.bin"/><Relationship Id="rId6" Type="http://schemas.openxmlformats.org/officeDocument/2006/relationships/image" Target="../media/image21.wmf"/><Relationship Id="rId5" Type="http://schemas.openxmlformats.org/officeDocument/2006/relationships/oleObject" Target="../embeddings/oleObject21.bin"/><Relationship Id="rId4" Type="http://schemas.openxmlformats.org/officeDocument/2006/relationships/image" Target="../media/image20.wmf"/><Relationship Id="rId3" Type="http://schemas.openxmlformats.org/officeDocument/2006/relationships/oleObject" Target="../embeddings/oleObject20.bin"/><Relationship Id="rId2" Type="http://schemas.openxmlformats.org/officeDocument/2006/relationships/image" Target="../media/image18.wmf"/><Relationship Id="rId10" Type="http://schemas.openxmlformats.org/officeDocument/2006/relationships/vmlDrawing" Target="../drawings/vmlDrawing11.vml"/><Relationship Id="rId1" Type="http://schemas.openxmlformats.org/officeDocument/2006/relationships/oleObject" Target="../embeddings/oleObject19.bin"/></Relationships>
</file>

<file path=ppt/slides/_rels/slide23.xml.rels><?xml version="1.0" encoding="UTF-8" standalone="yes"?>
<Relationships xmlns="http://schemas.openxmlformats.org/package/2006/relationships"><Relationship Id="rId7" Type="http://schemas.openxmlformats.org/officeDocument/2006/relationships/vmlDrawing" Target="../drawings/vmlDrawing12.vml"/><Relationship Id="rId6" Type="http://schemas.openxmlformats.org/officeDocument/2006/relationships/slideLayout" Target="../slideLayouts/slideLayout7.xml"/><Relationship Id="rId5" Type="http://schemas.openxmlformats.org/officeDocument/2006/relationships/image" Target="../media/image22.wmf"/><Relationship Id="rId4" Type="http://schemas.openxmlformats.org/officeDocument/2006/relationships/oleObject" Target="../embeddings/oleObject24.bin"/><Relationship Id="rId3" Type="http://schemas.openxmlformats.org/officeDocument/2006/relationships/image" Target="../media/image24.wmf"/><Relationship Id="rId2" Type="http://schemas.openxmlformats.org/officeDocument/2006/relationships/oleObject" Target="../embeddings/oleObject23.bin"/><Relationship Id="rId1" Type="http://schemas.openxmlformats.org/officeDocument/2006/relationships/image" Target="../media/image23.wmf"/></Relationships>
</file>

<file path=ppt/slides/_rels/slide24.xml.rels><?xml version="1.0" encoding="UTF-8" standalone="yes"?>
<Relationships xmlns="http://schemas.openxmlformats.org/package/2006/relationships"><Relationship Id="rId9" Type="http://schemas.openxmlformats.org/officeDocument/2006/relationships/oleObject" Target="../embeddings/oleObject29.bin"/><Relationship Id="rId8" Type="http://schemas.openxmlformats.org/officeDocument/2006/relationships/image" Target="../media/image28.wmf"/><Relationship Id="rId7" Type="http://schemas.openxmlformats.org/officeDocument/2006/relationships/oleObject" Target="../embeddings/oleObject28.bin"/><Relationship Id="rId6" Type="http://schemas.openxmlformats.org/officeDocument/2006/relationships/image" Target="../media/image27.wmf"/><Relationship Id="rId5" Type="http://schemas.openxmlformats.org/officeDocument/2006/relationships/oleObject" Target="../embeddings/oleObject27.bin"/><Relationship Id="rId4" Type="http://schemas.openxmlformats.org/officeDocument/2006/relationships/image" Target="../media/image26.wmf"/><Relationship Id="rId3" Type="http://schemas.openxmlformats.org/officeDocument/2006/relationships/oleObject" Target="../embeddings/oleObject26.bin"/><Relationship Id="rId2" Type="http://schemas.openxmlformats.org/officeDocument/2006/relationships/image" Target="../media/image25.wmf"/><Relationship Id="rId12" Type="http://schemas.openxmlformats.org/officeDocument/2006/relationships/vmlDrawing" Target="../drawings/vmlDrawing13.vml"/><Relationship Id="rId11" Type="http://schemas.openxmlformats.org/officeDocument/2006/relationships/slideLayout" Target="../slideLayouts/slideLayout7.xml"/><Relationship Id="rId10" Type="http://schemas.openxmlformats.org/officeDocument/2006/relationships/image" Target="../media/image29.wmf"/><Relationship Id="rId1" Type="http://schemas.openxmlformats.org/officeDocument/2006/relationships/oleObject" Target="../embeddings/oleObject25.bin"/></Relationships>
</file>

<file path=ppt/slides/_rels/slide25.xml.rels><?xml version="1.0" encoding="UTF-8" standalone="yes"?>
<Relationships xmlns="http://schemas.openxmlformats.org/package/2006/relationships"><Relationship Id="rId8" Type="http://schemas.openxmlformats.org/officeDocument/2006/relationships/vmlDrawing" Target="../drawings/vmlDrawing14.vml"/><Relationship Id="rId7" Type="http://schemas.openxmlformats.org/officeDocument/2006/relationships/slideLayout" Target="../slideLayouts/slideLayout7.xml"/><Relationship Id="rId6" Type="http://schemas.openxmlformats.org/officeDocument/2006/relationships/image" Target="../media/image31.wmf"/><Relationship Id="rId5" Type="http://schemas.openxmlformats.org/officeDocument/2006/relationships/oleObject" Target="../embeddings/oleObject32.bin"/><Relationship Id="rId4" Type="http://schemas.openxmlformats.org/officeDocument/2006/relationships/image" Target="../media/image28.wmf"/><Relationship Id="rId3" Type="http://schemas.openxmlformats.org/officeDocument/2006/relationships/oleObject" Target="../embeddings/oleObject31.bin"/><Relationship Id="rId2" Type="http://schemas.openxmlformats.org/officeDocument/2006/relationships/image" Target="../media/image30.wmf"/><Relationship Id="rId1" Type="http://schemas.openxmlformats.org/officeDocument/2006/relationships/oleObject" Target="../embeddings/oleObject30.bin"/></Relationships>
</file>

<file path=ppt/slides/_rels/slide26.xml.rels><?xml version="1.0" encoding="UTF-8" standalone="yes"?>
<Relationships xmlns="http://schemas.openxmlformats.org/package/2006/relationships"><Relationship Id="rId6" Type="http://schemas.openxmlformats.org/officeDocument/2006/relationships/vmlDrawing" Target="../drawings/vmlDrawing15.vml"/><Relationship Id="rId5" Type="http://schemas.openxmlformats.org/officeDocument/2006/relationships/slideLayout" Target="../slideLayouts/slideLayout7.xml"/><Relationship Id="rId4" Type="http://schemas.openxmlformats.org/officeDocument/2006/relationships/image" Target="../media/image32.wmf"/><Relationship Id="rId3" Type="http://schemas.openxmlformats.org/officeDocument/2006/relationships/oleObject" Target="../embeddings/oleObject34.bin"/><Relationship Id="rId2" Type="http://schemas.openxmlformats.org/officeDocument/2006/relationships/image" Target="../media/image18.wmf"/><Relationship Id="rId1" Type="http://schemas.openxmlformats.org/officeDocument/2006/relationships/oleObject" Target="../embeddings/oleObject33.bin"/></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4" Type="http://schemas.openxmlformats.org/officeDocument/2006/relationships/vmlDrawing" Target="../drawings/vmlDrawing16.vml"/><Relationship Id="rId3" Type="http://schemas.openxmlformats.org/officeDocument/2006/relationships/slideLayout" Target="../slideLayouts/slideLayout2.xml"/><Relationship Id="rId2" Type="http://schemas.openxmlformats.org/officeDocument/2006/relationships/image" Target="../media/image33.emf"/><Relationship Id="rId1" Type="http://schemas.openxmlformats.org/officeDocument/2006/relationships/oleObject" Target="../embeddings/oleObject35.bin"/></Relationships>
</file>

<file path=ppt/slides/_rels/slide29.xml.rels><?xml version="1.0" encoding="UTF-8" standalone="yes"?>
<Relationships xmlns="http://schemas.openxmlformats.org/package/2006/relationships"><Relationship Id="rId9" Type="http://schemas.openxmlformats.org/officeDocument/2006/relationships/oleObject" Target="../embeddings/oleObject40.bin"/><Relationship Id="rId8" Type="http://schemas.openxmlformats.org/officeDocument/2006/relationships/image" Target="../media/image37.emf"/><Relationship Id="rId7" Type="http://schemas.openxmlformats.org/officeDocument/2006/relationships/oleObject" Target="../embeddings/oleObject39.bin"/><Relationship Id="rId6" Type="http://schemas.openxmlformats.org/officeDocument/2006/relationships/image" Target="../media/image36.emf"/><Relationship Id="rId5" Type="http://schemas.openxmlformats.org/officeDocument/2006/relationships/oleObject" Target="../embeddings/oleObject38.bin"/><Relationship Id="rId4" Type="http://schemas.openxmlformats.org/officeDocument/2006/relationships/image" Target="../media/image35.emf"/><Relationship Id="rId3" Type="http://schemas.openxmlformats.org/officeDocument/2006/relationships/oleObject" Target="../embeddings/oleObject37.bin"/><Relationship Id="rId2" Type="http://schemas.openxmlformats.org/officeDocument/2006/relationships/image" Target="../media/image34.emf"/><Relationship Id="rId18" Type="http://schemas.openxmlformats.org/officeDocument/2006/relationships/vmlDrawing" Target="../drawings/vmlDrawing17.vml"/><Relationship Id="rId17" Type="http://schemas.openxmlformats.org/officeDocument/2006/relationships/slideLayout" Target="../slideLayouts/slideLayout7.xml"/><Relationship Id="rId16" Type="http://schemas.openxmlformats.org/officeDocument/2006/relationships/image" Target="../media/image41.emf"/><Relationship Id="rId15" Type="http://schemas.openxmlformats.org/officeDocument/2006/relationships/oleObject" Target="../embeddings/oleObject43.bin"/><Relationship Id="rId14" Type="http://schemas.openxmlformats.org/officeDocument/2006/relationships/image" Target="../media/image40.emf"/><Relationship Id="rId13" Type="http://schemas.openxmlformats.org/officeDocument/2006/relationships/oleObject" Target="../embeddings/oleObject42.bin"/><Relationship Id="rId12" Type="http://schemas.openxmlformats.org/officeDocument/2006/relationships/image" Target="../media/image39.emf"/><Relationship Id="rId11" Type="http://schemas.openxmlformats.org/officeDocument/2006/relationships/oleObject" Target="../embeddings/oleObject41.bin"/><Relationship Id="rId10" Type="http://schemas.openxmlformats.org/officeDocument/2006/relationships/image" Target="../media/image38.wmf"/><Relationship Id="rId1" Type="http://schemas.openxmlformats.org/officeDocument/2006/relationships/oleObject" Target="../embeddings/oleObject36.bin"/></Relationships>
</file>

<file path=ppt/slides/_rels/slide30.xml.rels><?xml version="1.0" encoding="UTF-8" standalone="yes"?>
<Relationships xmlns="http://schemas.openxmlformats.org/package/2006/relationships"><Relationship Id="rId5" Type="http://schemas.openxmlformats.org/officeDocument/2006/relationships/vmlDrawing" Target="../drawings/vmlDrawing18.vml"/><Relationship Id="rId4" Type="http://schemas.openxmlformats.org/officeDocument/2006/relationships/slideLayout" Target="../slideLayouts/slideLayout2.xml"/><Relationship Id="rId3" Type="http://schemas.openxmlformats.org/officeDocument/2006/relationships/image" Target="../media/image43.png"/><Relationship Id="rId2" Type="http://schemas.openxmlformats.org/officeDocument/2006/relationships/image" Target="../media/image42.wmf"/><Relationship Id="rId1" Type="http://schemas.openxmlformats.org/officeDocument/2006/relationships/oleObject" Target="../embeddings/oleObject44.bin"/></Relationships>
</file>

<file path=ppt/slides/_rels/slide31.xml.rels><?xml version="1.0" encoding="UTF-8" standalone="yes"?>
<Relationships xmlns="http://schemas.openxmlformats.org/package/2006/relationships"><Relationship Id="rId9" Type="http://schemas.openxmlformats.org/officeDocument/2006/relationships/tags" Target="../tags/tag1.xml"/><Relationship Id="rId8" Type="http://schemas.openxmlformats.org/officeDocument/2006/relationships/image" Target="../media/image47.wmf"/><Relationship Id="rId7" Type="http://schemas.openxmlformats.org/officeDocument/2006/relationships/oleObject" Target="../embeddings/oleObject48.bin"/><Relationship Id="rId6" Type="http://schemas.openxmlformats.org/officeDocument/2006/relationships/image" Target="../media/image46.wmf"/><Relationship Id="rId5" Type="http://schemas.openxmlformats.org/officeDocument/2006/relationships/oleObject" Target="../embeddings/oleObject47.bin"/><Relationship Id="rId4" Type="http://schemas.openxmlformats.org/officeDocument/2006/relationships/image" Target="../media/image45.wmf"/><Relationship Id="rId3" Type="http://schemas.openxmlformats.org/officeDocument/2006/relationships/oleObject" Target="../embeddings/oleObject46.bin"/><Relationship Id="rId2" Type="http://schemas.openxmlformats.org/officeDocument/2006/relationships/image" Target="../media/image44.emf"/><Relationship Id="rId11" Type="http://schemas.openxmlformats.org/officeDocument/2006/relationships/vmlDrawing" Target="../drawings/vmlDrawing19.vml"/><Relationship Id="rId10" Type="http://schemas.openxmlformats.org/officeDocument/2006/relationships/slideLayout" Target="../slideLayouts/slideLayout2.xml"/><Relationship Id="rId1" Type="http://schemas.openxmlformats.org/officeDocument/2006/relationships/oleObject" Target="../embeddings/oleObject45.bin"/></Relationships>
</file>

<file path=ppt/slides/_rels/slide32.xml.rels><?xml version="1.0" encoding="UTF-8" standalone="yes"?>
<Relationships xmlns="http://schemas.openxmlformats.org/package/2006/relationships"><Relationship Id="rId4" Type="http://schemas.openxmlformats.org/officeDocument/2006/relationships/vmlDrawing" Target="../drawings/vmlDrawing20.vml"/><Relationship Id="rId3" Type="http://schemas.openxmlformats.org/officeDocument/2006/relationships/slideLayout" Target="../slideLayouts/slideLayout7.xml"/><Relationship Id="rId2" Type="http://schemas.openxmlformats.org/officeDocument/2006/relationships/image" Target="../media/image48.wmf"/><Relationship Id="rId1" Type="http://schemas.openxmlformats.org/officeDocument/2006/relationships/oleObject" Target="../embeddings/oleObject49.bin"/></Relationships>
</file>

<file path=ppt/slides/_rels/slide33.xml.rels><?xml version="1.0" encoding="UTF-8" standalone="yes"?>
<Relationships xmlns="http://schemas.openxmlformats.org/package/2006/relationships"><Relationship Id="rId5" Type="http://schemas.openxmlformats.org/officeDocument/2006/relationships/vmlDrawing" Target="../drawings/vmlDrawing21.vml"/><Relationship Id="rId4" Type="http://schemas.openxmlformats.org/officeDocument/2006/relationships/slideLayout" Target="../slideLayouts/slideLayout7.xml"/><Relationship Id="rId3" Type="http://schemas.openxmlformats.org/officeDocument/2006/relationships/image" Target="../media/image50.jpeg"/><Relationship Id="rId2" Type="http://schemas.openxmlformats.org/officeDocument/2006/relationships/image" Target="../media/image49.wmf"/><Relationship Id="rId1" Type="http://schemas.openxmlformats.org/officeDocument/2006/relationships/oleObject" Target="../embeddings/oleObject50.bin"/></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9" Type="http://schemas.openxmlformats.org/officeDocument/2006/relationships/tags" Target="../tags/tag2.xml"/><Relationship Id="rId8" Type="http://schemas.openxmlformats.org/officeDocument/2006/relationships/image" Target="../media/image17.wmf"/><Relationship Id="rId7" Type="http://schemas.openxmlformats.org/officeDocument/2006/relationships/oleObject" Target="../embeddings/oleObject54.bin"/><Relationship Id="rId6" Type="http://schemas.openxmlformats.org/officeDocument/2006/relationships/image" Target="../media/image53.wmf"/><Relationship Id="rId5" Type="http://schemas.openxmlformats.org/officeDocument/2006/relationships/oleObject" Target="../embeddings/oleObject53.bin"/><Relationship Id="rId4" Type="http://schemas.openxmlformats.org/officeDocument/2006/relationships/image" Target="../media/image52.wmf"/><Relationship Id="rId3" Type="http://schemas.openxmlformats.org/officeDocument/2006/relationships/oleObject" Target="../embeddings/oleObject52.bin"/><Relationship Id="rId2" Type="http://schemas.openxmlformats.org/officeDocument/2006/relationships/image" Target="../media/image51.wmf"/><Relationship Id="rId11" Type="http://schemas.openxmlformats.org/officeDocument/2006/relationships/vmlDrawing" Target="../drawings/vmlDrawing22.vml"/><Relationship Id="rId10" Type="http://schemas.openxmlformats.org/officeDocument/2006/relationships/slideLayout" Target="../slideLayouts/slideLayout2.xml"/><Relationship Id="rId1" Type="http://schemas.openxmlformats.org/officeDocument/2006/relationships/oleObject" Target="../embeddings/oleObject51.bin"/></Relationships>
</file>

<file path=ppt/slides/_rels/slide36.xml.rels><?xml version="1.0" encoding="UTF-8" standalone="yes"?>
<Relationships xmlns="http://schemas.openxmlformats.org/package/2006/relationships"><Relationship Id="rId9" Type="http://schemas.openxmlformats.org/officeDocument/2006/relationships/oleObject" Target="../embeddings/oleObject59.bin"/><Relationship Id="rId8" Type="http://schemas.openxmlformats.org/officeDocument/2006/relationships/image" Target="../media/image56.wmf"/><Relationship Id="rId7" Type="http://schemas.openxmlformats.org/officeDocument/2006/relationships/oleObject" Target="../embeddings/oleObject58.bin"/><Relationship Id="rId6" Type="http://schemas.openxmlformats.org/officeDocument/2006/relationships/image" Target="../media/image55.wmf"/><Relationship Id="rId5" Type="http://schemas.openxmlformats.org/officeDocument/2006/relationships/oleObject" Target="../embeddings/oleObject57.bin"/><Relationship Id="rId4" Type="http://schemas.openxmlformats.org/officeDocument/2006/relationships/image" Target="../media/image11.wmf"/><Relationship Id="rId3" Type="http://schemas.openxmlformats.org/officeDocument/2006/relationships/oleObject" Target="../embeddings/oleObject56.bin"/><Relationship Id="rId2" Type="http://schemas.openxmlformats.org/officeDocument/2006/relationships/image" Target="../media/image54.wmf"/><Relationship Id="rId18" Type="http://schemas.openxmlformats.org/officeDocument/2006/relationships/vmlDrawing" Target="../drawings/vmlDrawing23.vml"/><Relationship Id="rId17" Type="http://schemas.openxmlformats.org/officeDocument/2006/relationships/slideLayout" Target="../slideLayouts/slideLayout7.xml"/><Relationship Id="rId16" Type="http://schemas.openxmlformats.org/officeDocument/2006/relationships/image" Target="../media/image60.wmf"/><Relationship Id="rId15" Type="http://schemas.openxmlformats.org/officeDocument/2006/relationships/oleObject" Target="../embeddings/oleObject62.bin"/><Relationship Id="rId14" Type="http://schemas.openxmlformats.org/officeDocument/2006/relationships/image" Target="../media/image59.wmf"/><Relationship Id="rId13" Type="http://schemas.openxmlformats.org/officeDocument/2006/relationships/oleObject" Target="../embeddings/oleObject61.bin"/><Relationship Id="rId12" Type="http://schemas.openxmlformats.org/officeDocument/2006/relationships/image" Target="../media/image58.wmf"/><Relationship Id="rId11" Type="http://schemas.openxmlformats.org/officeDocument/2006/relationships/oleObject" Target="../embeddings/oleObject60.bin"/><Relationship Id="rId10" Type="http://schemas.openxmlformats.org/officeDocument/2006/relationships/image" Target="../media/image57.wmf"/><Relationship Id="rId1" Type="http://schemas.openxmlformats.org/officeDocument/2006/relationships/oleObject" Target="../embeddings/oleObject55.bin"/></Relationships>
</file>

<file path=ppt/slides/_rels/slide37.xml.rels><?xml version="1.0" encoding="UTF-8" standalone="yes"?>
<Relationships xmlns="http://schemas.openxmlformats.org/package/2006/relationships"><Relationship Id="rId9" Type="http://schemas.openxmlformats.org/officeDocument/2006/relationships/oleObject" Target="../embeddings/oleObject67.bin"/><Relationship Id="rId8" Type="http://schemas.openxmlformats.org/officeDocument/2006/relationships/image" Target="../media/image63.wmf"/><Relationship Id="rId7" Type="http://schemas.openxmlformats.org/officeDocument/2006/relationships/oleObject" Target="../embeddings/oleObject66.bin"/><Relationship Id="rId6" Type="http://schemas.openxmlformats.org/officeDocument/2006/relationships/image" Target="../media/image62.wmf"/><Relationship Id="rId5" Type="http://schemas.openxmlformats.org/officeDocument/2006/relationships/oleObject" Target="../embeddings/oleObject65.bin"/><Relationship Id="rId4" Type="http://schemas.openxmlformats.org/officeDocument/2006/relationships/image" Target="../media/image61.wmf"/><Relationship Id="rId3" Type="http://schemas.openxmlformats.org/officeDocument/2006/relationships/oleObject" Target="../embeddings/oleObject64.bin"/><Relationship Id="rId2" Type="http://schemas.openxmlformats.org/officeDocument/2006/relationships/image" Target="../media/image60.wmf"/><Relationship Id="rId12" Type="http://schemas.openxmlformats.org/officeDocument/2006/relationships/vmlDrawing" Target="../drawings/vmlDrawing24.vml"/><Relationship Id="rId11" Type="http://schemas.openxmlformats.org/officeDocument/2006/relationships/slideLayout" Target="../slideLayouts/slideLayout7.xml"/><Relationship Id="rId10" Type="http://schemas.openxmlformats.org/officeDocument/2006/relationships/image" Target="../media/image64.wmf"/><Relationship Id="rId1" Type="http://schemas.openxmlformats.org/officeDocument/2006/relationships/oleObject" Target="../embeddings/oleObject63.bin"/></Relationships>
</file>

<file path=ppt/slides/_rels/slide38.xml.rels><?xml version="1.0" encoding="UTF-8" standalone="yes"?>
<Relationships xmlns="http://schemas.openxmlformats.org/package/2006/relationships"><Relationship Id="rId9" Type="http://schemas.openxmlformats.org/officeDocument/2006/relationships/slideLayout" Target="../slideLayouts/slideLayout7.xml"/><Relationship Id="rId8" Type="http://schemas.openxmlformats.org/officeDocument/2006/relationships/image" Target="../media/image68.wmf"/><Relationship Id="rId7" Type="http://schemas.openxmlformats.org/officeDocument/2006/relationships/oleObject" Target="../embeddings/oleObject71.bin"/><Relationship Id="rId6" Type="http://schemas.openxmlformats.org/officeDocument/2006/relationships/image" Target="../media/image67.wmf"/><Relationship Id="rId5" Type="http://schemas.openxmlformats.org/officeDocument/2006/relationships/oleObject" Target="../embeddings/oleObject70.bin"/><Relationship Id="rId4" Type="http://schemas.openxmlformats.org/officeDocument/2006/relationships/image" Target="../media/image66.wmf"/><Relationship Id="rId3" Type="http://schemas.openxmlformats.org/officeDocument/2006/relationships/oleObject" Target="../embeddings/oleObject69.bin"/><Relationship Id="rId2" Type="http://schemas.openxmlformats.org/officeDocument/2006/relationships/image" Target="../media/image65.wmf"/><Relationship Id="rId10" Type="http://schemas.openxmlformats.org/officeDocument/2006/relationships/vmlDrawing" Target="../drawings/vmlDrawing25.vml"/><Relationship Id="rId1" Type="http://schemas.openxmlformats.org/officeDocument/2006/relationships/oleObject" Target="../embeddings/oleObject68.bin"/></Relationships>
</file>

<file path=ppt/slides/_rels/slide39.xml.rels><?xml version="1.0" encoding="UTF-8" standalone="yes"?>
<Relationships xmlns="http://schemas.openxmlformats.org/package/2006/relationships"><Relationship Id="rId6" Type="http://schemas.openxmlformats.org/officeDocument/2006/relationships/vmlDrawing" Target="../drawings/vmlDrawing26.vml"/><Relationship Id="rId5" Type="http://schemas.openxmlformats.org/officeDocument/2006/relationships/slideLayout" Target="../slideLayouts/slideLayout2.xml"/><Relationship Id="rId4" Type="http://schemas.openxmlformats.org/officeDocument/2006/relationships/image" Target="../media/image68.wmf"/><Relationship Id="rId3" Type="http://schemas.openxmlformats.org/officeDocument/2006/relationships/oleObject" Target="../embeddings/oleObject73.bin"/><Relationship Id="rId2" Type="http://schemas.openxmlformats.org/officeDocument/2006/relationships/image" Target="../media/image69.wmf"/><Relationship Id="rId1" Type="http://schemas.openxmlformats.org/officeDocument/2006/relationships/oleObject" Target="../embeddings/oleObject72.bin"/></Relationships>
</file>

<file path=ppt/slides/_rels/slide40.xml.rels><?xml version="1.0" encoding="UTF-8" standalone="yes"?>
<Relationships xmlns="http://schemas.openxmlformats.org/package/2006/relationships"><Relationship Id="rId9" Type="http://schemas.openxmlformats.org/officeDocument/2006/relationships/vmlDrawing" Target="../drawings/vmlDrawing27.vml"/><Relationship Id="rId8" Type="http://schemas.openxmlformats.org/officeDocument/2006/relationships/slideLayout" Target="../slideLayouts/slideLayout7.xml"/><Relationship Id="rId7" Type="http://schemas.openxmlformats.org/officeDocument/2006/relationships/tags" Target="../tags/tag3.xml"/><Relationship Id="rId6" Type="http://schemas.openxmlformats.org/officeDocument/2006/relationships/image" Target="../media/image72.emf"/><Relationship Id="rId5" Type="http://schemas.openxmlformats.org/officeDocument/2006/relationships/oleObject" Target="../embeddings/oleObject76.bin"/><Relationship Id="rId4" Type="http://schemas.openxmlformats.org/officeDocument/2006/relationships/image" Target="../media/image71.wmf"/><Relationship Id="rId3" Type="http://schemas.openxmlformats.org/officeDocument/2006/relationships/oleObject" Target="../embeddings/oleObject75.bin"/><Relationship Id="rId2" Type="http://schemas.openxmlformats.org/officeDocument/2006/relationships/image" Target="../media/image70.emf"/><Relationship Id="rId1" Type="http://schemas.openxmlformats.org/officeDocument/2006/relationships/oleObject" Target="../embeddings/oleObject74.bin"/></Relationships>
</file>

<file path=ppt/slides/_rels/slide41.xml.rels><?xml version="1.0" encoding="UTF-8" standalone="yes"?>
<Relationships xmlns="http://schemas.openxmlformats.org/package/2006/relationships"><Relationship Id="rId6" Type="http://schemas.openxmlformats.org/officeDocument/2006/relationships/vmlDrawing" Target="../drawings/vmlDrawing28.vml"/><Relationship Id="rId5" Type="http://schemas.openxmlformats.org/officeDocument/2006/relationships/slideLayout" Target="../slideLayouts/slideLayout7.xml"/><Relationship Id="rId4" Type="http://schemas.openxmlformats.org/officeDocument/2006/relationships/image" Target="../media/image75.png"/><Relationship Id="rId3" Type="http://schemas.openxmlformats.org/officeDocument/2006/relationships/image" Target="../media/image74.png"/><Relationship Id="rId2" Type="http://schemas.openxmlformats.org/officeDocument/2006/relationships/image" Target="../media/image73.emf"/><Relationship Id="rId1" Type="http://schemas.openxmlformats.org/officeDocument/2006/relationships/oleObject" Target="../embeddings/oleObject77.bin"/></Relationships>
</file>

<file path=ppt/slides/_rels/slide42.xml.rels><?xml version="1.0" encoding="UTF-8" standalone="yes"?>
<Relationships xmlns="http://schemas.openxmlformats.org/package/2006/relationships"><Relationship Id="rId6" Type="http://schemas.openxmlformats.org/officeDocument/2006/relationships/vmlDrawing" Target="../drawings/vmlDrawing29.vml"/><Relationship Id="rId5" Type="http://schemas.openxmlformats.org/officeDocument/2006/relationships/slideLayout" Target="../slideLayouts/slideLayout7.xml"/><Relationship Id="rId4" Type="http://schemas.openxmlformats.org/officeDocument/2006/relationships/image" Target="../media/image78.png"/><Relationship Id="rId3" Type="http://schemas.openxmlformats.org/officeDocument/2006/relationships/image" Target="../media/image77.png"/><Relationship Id="rId2" Type="http://schemas.openxmlformats.org/officeDocument/2006/relationships/image" Target="../media/image76.emf"/><Relationship Id="rId1" Type="http://schemas.openxmlformats.org/officeDocument/2006/relationships/oleObject" Target="../embeddings/oleObject78.bin"/></Relationships>
</file>

<file path=ppt/slides/_rels/slide43.xml.rels><?xml version="1.0" encoding="UTF-8" standalone="yes"?>
<Relationships xmlns="http://schemas.openxmlformats.org/package/2006/relationships"><Relationship Id="rId5" Type="http://schemas.openxmlformats.org/officeDocument/2006/relationships/vmlDrawing" Target="../drawings/vmlDrawing30.vml"/><Relationship Id="rId4" Type="http://schemas.openxmlformats.org/officeDocument/2006/relationships/slideLayout" Target="../slideLayouts/slideLayout2.xml"/><Relationship Id="rId3" Type="http://schemas.openxmlformats.org/officeDocument/2006/relationships/image" Target="../media/image80.png"/><Relationship Id="rId2" Type="http://schemas.openxmlformats.org/officeDocument/2006/relationships/image" Target="../media/image79.emf"/><Relationship Id="rId1" Type="http://schemas.openxmlformats.org/officeDocument/2006/relationships/oleObject" Target="../embeddings/oleObject79.bin"/></Relationships>
</file>

<file path=ppt/slides/_rels/slide44.xml.rels><?xml version="1.0" encoding="UTF-8" standalone="yes"?>
<Relationships xmlns="http://schemas.openxmlformats.org/package/2006/relationships"><Relationship Id="rId4" Type="http://schemas.openxmlformats.org/officeDocument/2006/relationships/vmlDrawing" Target="../drawings/vmlDrawing31.vml"/><Relationship Id="rId3" Type="http://schemas.openxmlformats.org/officeDocument/2006/relationships/slideLayout" Target="../slideLayouts/slideLayout2.xml"/><Relationship Id="rId2" Type="http://schemas.openxmlformats.org/officeDocument/2006/relationships/image" Target="../media/image81.emf"/><Relationship Id="rId1" Type="http://schemas.openxmlformats.org/officeDocument/2006/relationships/oleObject" Target="../embeddings/oleObject80.bin"/></Relationships>
</file>

<file path=ppt/slides/_rels/slide45.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82.png"/></Relationships>
</file>

<file path=ppt/slides/_rels/slide46.xml.rels><?xml version="1.0" encoding="UTF-8" standalone="yes"?>
<Relationships xmlns="http://schemas.openxmlformats.org/package/2006/relationships"><Relationship Id="rId7" Type="http://schemas.openxmlformats.org/officeDocument/2006/relationships/vmlDrawing" Target="../drawings/vmlDrawing32.vml"/><Relationship Id="rId6" Type="http://schemas.openxmlformats.org/officeDocument/2006/relationships/slideLayout" Target="../slideLayouts/slideLayout7.xml"/><Relationship Id="rId5" Type="http://schemas.openxmlformats.org/officeDocument/2006/relationships/image" Target="../media/image82.png"/><Relationship Id="rId4" Type="http://schemas.openxmlformats.org/officeDocument/2006/relationships/image" Target="../media/image84.wmf"/><Relationship Id="rId3" Type="http://schemas.openxmlformats.org/officeDocument/2006/relationships/oleObject" Target="../embeddings/oleObject82.bin"/><Relationship Id="rId2" Type="http://schemas.openxmlformats.org/officeDocument/2006/relationships/image" Target="../media/image83.wmf"/><Relationship Id="rId1" Type="http://schemas.openxmlformats.org/officeDocument/2006/relationships/oleObject" Target="../embeddings/oleObject81.bin"/></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9" Type="http://schemas.openxmlformats.org/officeDocument/2006/relationships/oleObject" Target="../embeddings/oleObject87.bin"/><Relationship Id="rId8" Type="http://schemas.openxmlformats.org/officeDocument/2006/relationships/image" Target="../media/image10.wmf"/><Relationship Id="rId7" Type="http://schemas.openxmlformats.org/officeDocument/2006/relationships/oleObject" Target="../embeddings/oleObject86.bin"/><Relationship Id="rId6" Type="http://schemas.openxmlformats.org/officeDocument/2006/relationships/image" Target="../media/image87.wmf"/><Relationship Id="rId5" Type="http://schemas.openxmlformats.org/officeDocument/2006/relationships/oleObject" Target="../embeddings/oleObject85.bin"/><Relationship Id="rId4" Type="http://schemas.openxmlformats.org/officeDocument/2006/relationships/image" Target="../media/image86.wmf"/><Relationship Id="rId3" Type="http://schemas.openxmlformats.org/officeDocument/2006/relationships/oleObject" Target="../embeddings/oleObject84.bin"/><Relationship Id="rId2" Type="http://schemas.openxmlformats.org/officeDocument/2006/relationships/image" Target="../media/image85.wmf"/><Relationship Id="rId14" Type="http://schemas.openxmlformats.org/officeDocument/2006/relationships/vmlDrawing" Target="../drawings/vmlDrawing33.vml"/><Relationship Id="rId13" Type="http://schemas.openxmlformats.org/officeDocument/2006/relationships/slideLayout" Target="../slideLayouts/slideLayout2.xml"/><Relationship Id="rId12" Type="http://schemas.openxmlformats.org/officeDocument/2006/relationships/tags" Target="../tags/tag4.xml"/><Relationship Id="rId11" Type="http://schemas.openxmlformats.org/officeDocument/2006/relationships/image" Target="../media/image88.png"/><Relationship Id="rId10" Type="http://schemas.openxmlformats.org/officeDocument/2006/relationships/image" Target="../media/image68.wmf"/><Relationship Id="rId1" Type="http://schemas.openxmlformats.org/officeDocument/2006/relationships/oleObject" Target="../embeddings/oleObject83.bin"/></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9" Type="http://schemas.openxmlformats.org/officeDocument/2006/relationships/slideLayout" Target="../slideLayouts/slideLayout7.xml"/><Relationship Id="rId8" Type="http://schemas.openxmlformats.org/officeDocument/2006/relationships/image" Target="../media/image92.emf"/><Relationship Id="rId7" Type="http://schemas.openxmlformats.org/officeDocument/2006/relationships/oleObject" Target="../embeddings/oleObject91.bin"/><Relationship Id="rId6" Type="http://schemas.openxmlformats.org/officeDocument/2006/relationships/image" Target="../media/image91.emf"/><Relationship Id="rId5" Type="http://schemas.openxmlformats.org/officeDocument/2006/relationships/oleObject" Target="../embeddings/oleObject90.bin"/><Relationship Id="rId4" Type="http://schemas.openxmlformats.org/officeDocument/2006/relationships/image" Target="../media/image90.emf"/><Relationship Id="rId3" Type="http://schemas.openxmlformats.org/officeDocument/2006/relationships/oleObject" Target="../embeddings/oleObject89.bin"/><Relationship Id="rId2" Type="http://schemas.openxmlformats.org/officeDocument/2006/relationships/image" Target="../media/image89.emf"/><Relationship Id="rId10" Type="http://schemas.openxmlformats.org/officeDocument/2006/relationships/vmlDrawing" Target="../drawings/vmlDrawing34.vml"/><Relationship Id="rId1" Type="http://schemas.openxmlformats.org/officeDocument/2006/relationships/oleObject" Target="../embeddings/oleObject88.bin"/></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6" Type="http://schemas.openxmlformats.org/officeDocument/2006/relationships/vmlDrawing" Target="../drawings/vmlDrawing35.vml"/><Relationship Id="rId5" Type="http://schemas.openxmlformats.org/officeDocument/2006/relationships/slideLayout" Target="../slideLayouts/slideLayout7.xml"/><Relationship Id="rId4" Type="http://schemas.openxmlformats.org/officeDocument/2006/relationships/image" Target="../media/image94.wmf"/><Relationship Id="rId3" Type="http://schemas.openxmlformats.org/officeDocument/2006/relationships/oleObject" Target="../embeddings/oleObject93.bin"/><Relationship Id="rId2" Type="http://schemas.openxmlformats.org/officeDocument/2006/relationships/image" Target="../media/image93.wmf"/><Relationship Id="rId1" Type="http://schemas.openxmlformats.org/officeDocument/2006/relationships/oleObject" Target="../embeddings/oleObject92.bin"/></Relationships>
</file>

<file path=ppt/slides/_rels/slide53.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95.png"/></Relationships>
</file>

<file path=ppt/slides/_rels/slide54.xml.rels><?xml version="1.0" encoding="UTF-8" standalone="yes"?>
<Relationships xmlns="http://schemas.openxmlformats.org/package/2006/relationships"><Relationship Id="rId9" Type="http://schemas.openxmlformats.org/officeDocument/2006/relationships/vmlDrawing" Target="../drawings/vmlDrawing36.vml"/><Relationship Id="rId8" Type="http://schemas.openxmlformats.org/officeDocument/2006/relationships/slideLayout" Target="../slideLayouts/slideLayout7.xml"/><Relationship Id="rId7" Type="http://schemas.openxmlformats.org/officeDocument/2006/relationships/image" Target="../media/image99.png"/><Relationship Id="rId6" Type="http://schemas.openxmlformats.org/officeDocument/2006/relationships/image" Target="../media/image98.wmf"/><Relationship Id="rId5" Type="http://schemas.openxmlformats.org/officeDocument/2006/relationships/oleObject" Target="../embeddings/oleObject96.bin"/><Relationship Id="rId4" Type="http://schemas.openxmlformats.org/officeDocument/2006/relationships/image" Target="../media/image97.emf"/><Relationship Id="rId3" Type="http://schemas.openxmlformats.org/officeDocument/2006/relationships/oleObject" Target="../embeddings/oleObject95.bin"/><Relationship Id="rId2" Type="http://schemas.openxmlformats.org/officeDocument/2006/relationships/image" Target="../media/image96.emf"/><Relationship Id="rId1" Type="http://schemas.openxmlformats.org/officeDocument/2006/relationships/oleObject" Target="../embeddings/oleObject94.bin"/></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9" Type="http://schemas.openxmlformats.org/officeDocument/2006/relationships/oleObject" Target="../embeddings/oleObject101.bin"/><Relationship Id="rId8" Type="http://schemas.openxmlformats.org/officeDocument/2006/relationships/image" Target="../media/image103.wmf"/><Relationship Id="rId7" Type="http://schemas.openxmlformats.org/officeDocument/2006/relationships/oleObject" Target="../embeddings/oleObject100.bin"/><Relationship Id="rId6" Type="http://schemas.openxmlformats.org/officeDocument/2006/relationships/image" Target="../media/image102.wmf"/><Relationship Id="rId5" Type="http://schemas.openxmlformats.org/officeDocument/2006/relationships/oleObject" Target="../embeddings/oleObject99.bin"/><Relationship Id="rId4" Type="http://schemas.openxmlformats.org/officeDocument/2006/relationships/image" Target="../media/image101.wmf"/><Relationship Id="rId3" Type="http://schemas.openxmlformats.org/officeDocument/2006/relationships/oleObject" Target="../embeddings/oleObject98.bin"/><Relationship Id="rId20" Type="http://schemas.openxmlformats.org/officeDocument/2006/relationships/vmlDrawing" Target="../drawings/vmlDrawing37.vml"/><Relationship Id="rId2" Type="http://schemas.openxmlformats.org/officeDocument/2006/relationships/image" Target="../media/image100.wmf"/><Relationship Id="rId19" Type="http://schemas.openxmlformats.org/officeDocument/2006/relationships/slideLayout" Target="../slideLayouts/slideLayout7.xml"/><Relationship Id="rId18" Type="http://schemas.openxmlformats.org/officeDocument/2006/relationships/image" Target="../media/image108.wmf"/><Relationship Id="rId17" Type="http://schemas.openxmlformats.org/officeDocument/2006/relationships/oleObject" Target="../embeddings/oleObject105.bin"/><Relationship Id="rId16" Type="http://schemas.openxmlformats.org/officeDocument/2006/relationships/image" Target="../media/image107.wmf"/><Relationship Id="rId15" Type="http://schemas.openxmlformats.org/officeDocument/2006/relationships/oleObject" Target="../embeddings/oleObject104.bin"/><Relationship Id="rId14" Type="http://schemas.openxmlformats.org/officeDocument/2006/relationships/image" Target="../media/image106.wmf"/><Relationship Id="rId13" Type="http://schemas.openxmlformats.org/officeDocument/2006/relationships/oleObject" Target="../embeddings/oleObject103.bin"/><Relationship Id="rId12" Type="http://schemas.openxmlformats.org/officeDocument/2006/relationships/image" Target="../media/image105.wmf"/><Relationship Id="rId11" Type="http://schemas.openxmlformats.org/officeDocument/2006/relationships/oleObject" Target="../embeddings/oleObject102.bin"/><Relationship Id="rId10" Type="http://schemas.openxmlformats.org/officeDocument/2006/relationships/image" Target="../media/image104.wmf"/><Relationship Id="rId1" Type="http://schemas.openxmlformats.org/officeDocument/2006/relationships/oleObject" Target="../embeddings/oleObject97.bin"/></Relationships>
</file>

<file path=ppt/slides/_rels/slide57.xml.rels><?xml version="1.0" encoding="UTF-8" standalone="yes"?>
<Relationships xmlns="http://schemas.openxmlformats.org/package/2006/relationships"><Relationship Id="rId8" Type="http://schemas.openxmlformats.org/officeDocument/2006/relationships/vmlDrawing" Target="../drawings/vmlDrawing38.vml"/><Relationship Id="rId7" Type="http://schemas.openxmlformats.org/officeDocument/2006/relationships/slideLayout" Target="../slideLayouts/slideLayout7.xml"/><Relationship Id="rId6" Type="http://schemas.openxmlformats.org/officeDocument/2006/relationships/image" Target="../media/image108.wmf"/><Relationship Id="rId5" Type="http://schemas.openxmlformats.org/officeDocument/2006/relationships/oleObject" Target="../embeddings/oleObject108.bin"/><Relationship Id="rId4" Type="http://schemas.openxmlformats.org/officeDocument/2006/relationships/image" Target="../media/image107.wmf"/><Relationship Id="rId3" Type="http://schemas.openxmlformats.org/officeDocument/2006/relationships/oleObject" Target="../embeddings/oleObject107.bin"/><Relationship Id="rId2" Type="http://schemas.openxmlformats.org/officeDocument/2006/relationships/image" Target="../media/image109.wmf"/><Relationship Id="rId1" Type="http://schemas.openxmlformats.org/officeDocument/2006/relationships/oleObject" Target="../embeddings/oleObject106.bin"/></Relationships>
</file>

<file path=ppt/slides/_rels/slide58.xml.rels><?xml version="1.0" encoding="UTF-8" standalone="yes"?>
<Relationships xmlns="http://schemas.openxmlformats.org/package/2006/relationships"><Relationship Id="rId9" Type="http://schemas.openxmlformats.org/officeDocument/2006/relationships/vmlDrawing" Target="../drawings/vmlDrawing39.vml"/><Relationship Id="rId8" Type="http://schemas.openxmlformats.org/officeDocument/2006/relationships/slideLayout" Target="../slideLayouts/slideLayout7.xml"/><Relationship Id="rId7" Type="http://schemas.openxmlformats.org/officeDocument/2006/relationships/tags" Target="../tags/tag5.xml"/><Relationship Id="rId6" Type="http://schemas.openxmlformats.org/officeDocument/2006/relationships/image" Target="../media/image112.wmf"/><Relationship Id="rId5" Type="http://schemas.openxmlformats.org/officeDocument/2006/relationships/oleObject" Target="../embeddings/oleObject111.bin"/><Relationship Id="rId4" Type="http://schemas.openxmlformats.org/officeDocument/2006/relationships/image" Target="../media/image111.wmf"/><Relationship Id="rId3" Type="http://schemas.openxmlformats.org/officeDocument/2006/relationships/oleObject" Target="../embeddings/oleObject110.bin"/><Relationship Id="rId2" Type="http://schemas.openxmlformats.org/officeDocument/2006/relationships/image" Target="../media/image110.wmf"/><Relationship Id="rId1" Type="http://schemas.openxmlformats.org/officeDocument/2006/relationships/oleObject" Target="../embeddings/oleObject109.bin"/></Relationships>
</file>

<file path=ppt/slides/_rels/slide59.xml.rels><?xml version="1.0" encoding="UTF-8" standalone="yes"?>
<Relationships xmlns="http://schemas.openxmlformats.org/package/2006/relationships"><Relationship Id="rId8" Type="http://schemas.openxmlformats.org/officeDocument/2006/relationships/vmlDrawing" Target="../drawings/vmlDrawing40.vml"/><Relationship Id="rId7" Type="http://schemas.openxmlformats.org/officeDocument/2006/relationships/slideLayout" Target="../slideLayouts/slideLayout7.xml"/><Relationship Id="rId6" Type="http://schemas.openxmlformats.org/officeDocument/2006/relationships/image" Target="../media/image110.wmf"/><Relationship Id="rId5" Type="http://schemas.openxmlformats.org/officeDocument/2006/relationships/oleObject" Target="../embeddings/oleObject114.bin"/><Relationship Id="rId4" Type="http://schemas.openxmlformats.org/officeDocument/2006/relationships/image" Target="../media/image97.emf"/><Relationship Id="rId3" Type="http://schemas.openxmlformats.org/officeDocument/2006/relationships/oleObject" Target="../embeddings/oleObject113.bin"/><Relationship Id="rId2" Type="http://schemas.openxmlformats.org/officeDocument/2006/relationships/image" Target="../media/image113.wmf"/><Relationship Id="rId1" Type="http://schemas.openxmlformats.org/officeDocument/2006/relationships/oleObject" Target="../embeddings/oleObject112.bin"/></Relationships>
</file>

<file path=ppt/slides/_rels/slide60.xml.rels><?xml version="1.0" encoding="UTF-8" standalone="yes"?>
<Relationships xmlns="http://schemas.openxmlformats.org/package/2006/relationships"><Relationship Id="rId4" Type="http://schemas.openxmlformats.org/officeDocument/2006/relationships/vmlDrawing" Target="../drawings/vmlDrawing41.vml"/><Relationship Id="rId3" Type="http://schemas.openxmlformats.org/officeDocument/2006/relationships/slideLayout" Target="../slideLayouts/slideLayout7.xml"/><Relationship Id="rId2" Type="http://schemas.openxmlformats.org/officeDocument/2006/relationships/image" Target="../media/image114.wmf"/><Relationship Id="rId1" Type="http://schemas.openxmlformats.org/officeDocument/2006/relationships/oleObject" Target="../embeddings/oleObject115.bin"/></Relationships>
</file>

<file path=ppt/slides/_rels/slide61.xml.rels><?xml version="1.0" encoding="UTF-8" standalone="yes"?>
<Relationships xmlns="http://schemas.openxmlformats.org/package/2006/relationships"><Relationship Id="rId6" Type="http://schemas.openxmlformats.org/officeDocument/2006/relationships/vmlDrawing" Target="../drawings/vmlDrawing42.vml"/><Relationship Id="rId5" Type="http://schemas.openxmlformats.org/officeDocument/2006/relationships/slideLayout" Target="../slideLayouts/slideLayout7.xml"/><Relationship Id="rId4" Type="http://schemas.openxmlformats.org/officeDocument/2006/relationships/image" Target="../media/image116.wmf"/><Relationship Id="rId3" Type="http://schemas.openxmlformats.org/officeDocument/2006/relationships/oleObject" Target="../embeddings/oleObject117.bin"/><Relationship Id="rId2" Type="http://schemas.openxmlformats.org/officeDocument/2006/relationships/image" Target="../media/image115.wmf"/><Relationship Id="rId1" Type="http://schemas.openxmlformats.org/officeDocument/2006/relationships/oleObject" Target="../embeddings/oleObject116.bin"/></Relationships>
</file>

<file path=ppt/slides/_rels/slide6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17.png"/></Relationships>
</file>

<file path=ppt/slides/_rels/slide6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18.png"/></Relationships>
</file>

<file path=ppt/slides/_rels/slide64.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image" Target="../media/image119.emf"/></Relationships>
</file>

<file path=ppt/slides/_rels/slide65.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image" Target="../media/image119.emf"/></Relationships>
</file>

<file path=ppt/slides/_rels/slide66.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image" Target="../media/image119.emf"/></Relationships>
</file>

<file path=ppt/slides/_rels/slide67.xml.rels><?xml version="1.0" encoding="UTF-8" standalone="yes"?>
<Relationships xmlns="http://schemas.openxmlformats.org/package/2006/relationships"><Relationship Id="rId3" Type="http://schemas.openxmlformats.org/officeDocument/2006/relationships/slideLayout" Target="../slideLayouts/slideLayout12.xml"/><Relationship Id="rId2" Type="http://schemas.openxmlformats.org/officeDocument/2006/relationships/tags" Target="../tags/tag6.xml"/><Relationship Id="rId1" Type="http://schemas.openxmlformats.org/officeDocument/2006/relationships/image" Target="../media/image119.emf"/></Relationships>
</file>

<file path=ppt/slides/_rels/slide68.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image" Target="../media/image119.emf"/></Relationships>
</file>

<file path=ppt/slides/_rels/slide69.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20.png"/></Relationships>
</file>

<file path=ppt/slides/_rels/slide70.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image" Target="../media/image121.emf"/></Relationships>
</file>

<file path=ppt/slides/_rels/slide71.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21.emf"/></Relationships>
</file>

<file path=ppt/slides/_rels/slide72.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21.emf"/></Relationships>
</file>

<file path=ppt/slides/_rels/slide73.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21.emf"/></Relationships>
</file>

<file path=ppt/slides/_rels/slide74.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21.emf"/></Relationships>
</file>

<file path=ppt/slides/_rels/slide75.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21.emf"/></Relationships>
</file>

<file path=ppt/slides/_rels/slide76.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21.emf"/></Relationships>
</file>

<file path=ppt/slides/_rels/slide77.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21.emf"/></Relationships>
</file>

<file path=ppt/slides/_rels/slide78.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21.emf"/></Relationships>
</file>

<file path=ppt/slides/_rels/slide79.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21.emf"/></Relationships>
</file>

<file path=ppt/slides/_rels/slide80.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21.emf"/></Relationships>
</file>

<file path=ppt/slides/_rels/slide81.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21.emf"/></Relationships>
</file>

<file path=ppt/slides/_rels/slide82.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21.emf"/></Relationships>
</file>

<file path=ppt/slides/_rels/slide83.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21.emf"/></Relationships>
</file>

<file path=ppt/slides/_rels/slide8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21.emf"/></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9" Type="http://schemas.openxmlformats.org/officeDocument/2006/relationships/slideLayout" Target="../slideLayouts/slideLayout7.xml"/><Relationship Id="rId8" Type="http://schemas.openxmlformats.org/officeDocument/2006/relationships/image" Target="../media/image125.wmf"/><Relationship Id="rId7" Type="http://schemas.openxmlformats.org/officeDocument/2006/relationships/oleObject" Target="../embeddings/oleObject121.bin"/><Relationship Id="rId6" Type="http://schemas.openxmlformats.org/officeDocument/2006/relationships/image" Target="../media/image124.wmf"/><Relationship Id="rId5" Type="http://schemas.openxmlformats.org/officeDocument/2006/relationships/oleObject" Target="../embeddings/oleObject120.bin"/><Relationship Id="rId4" Type="http://schemas.openxmlformats.org/officeDocument/2006/relationships/image" Target="../media/image123.wmf"/><Relationship Id="rId3" Type="http://schemas.openxmlformats.org/officeDocument/2006/relationships/oleObject" Target="../embeddings/oleObject119.bin"/><Relationship Id="rId2" Type="http://schemas.openxmlformats.org/officeDocument/2006/relationships/image" Target="../media/image122.wmf"/><Relationship Id="rId10" Type="http://schemas.openxmlformats.org/officeDocument/2006/relationships/vmlDrawing" Target="../drawings/vmlDrawing43.vml"/><Relationship Id="rId1" Type="http://schemas.openxmlformats.org/officeDocument/2006/relationships/oleObject" Target="../embeddings/oleObject118.bin"/></Relationships>
</file>

<file path=ppt/slides/_rels/slide90.xml.rels><?xml version="1.0" encoding="UTF-8" standalone="yes"?>
<Relationships xmlns="http://schemas.openxmlformats.org/package/2006/relationships"><Relationship Id="rId6" Type="http://schemas.openxmlformats.org/officeDocument/2006/relationships/vmlDrawing" Target="../drawings/vmlDrawing44.vml"/><Relationship Id="rId5" Type="http://schemas.openxmlformats.org/officeDocument/2006/relationships/slideLayout" Target="../slideLayouts/slideLayout7.xml"/><Relationship Id="rId4" Type="http://schemas.openxmlformats.org/officeDocument/2006/relationships/image" Target="../media/image127.wmf"/><Relationship Id="rId3" Type="http://schemas.openxmlformats.org/officeDocument/2006/relationships/oleObject" Target="../embeddings/oleObject123.bin"/><Relationship Id="rId2" Type="http://schemas.openxmlformats.org/officeDocument/2006/relationships/image" Target="../media/image126.wmf"/><Relationship Id="rId1" Type="http://schemas.openxmlformats.org/officeDocument/2006/relationships/oleObject" Target="../embeddings/oleObject122.bin"/></Relationships>
</file>

<file path=ppt/slides/_rels/slide91.xml.rels><?xml version="1.0" encoding="UTF-8" standalone="yes"?>
<Relationships xmlns="http://schemas.openxmlformats.org/package/2006/relationships"><Relationship Id="rId9" Type="http://schemas.openxmlformats.org/officeDocument/2006/relationships/oleObject" Target="../embeddings/oleObject128.bin"/><Relationship Id="rId8" Type="http://schemas.openxmlformats.org/officeDocument/2006/relationships/image" Target="../media/image131.wmf"/><Relationship Id="rId7" Type="http://schemas.openxmlformats.org/officeDocument/2006/relationships/oleObject" Target="../embeddings/oleObject127.bin"/><Relationship Id="rId6" Type="http://schemas.openxmlformats.org/officeDocument/2006/relationships/image" Target="../media/image130.wmf"/><Relationship Id="rId5" Type="http://schemas.openxmlformats.org/officeDocument/2006/relationships/oleObject" Target="../embeddings/oleObject126.bin"/><Relationship Id="rId4" Type="http://schemas.openxmlformats.org/officeDocument/2006/relationships/image" Target="../media/image129.wmf"/><Relationship Id="rId3" Type="http://schemas.openxmlformats.org/officeDocument/2006/relationships/oleObject" Target="../embeddings/oleObject125.bin"/><Relationship Id="rId2" Type="http://schemas.openxmlformats.org/officeDocument/2006/relationships/image" Target="../media/image128.wmf"/><Relationship Id="rId12" Type="http://schemas.openxmlformats.org/officeDocument/2006/relationships/vmlDrawing" Target="../drawings/vmlDrawing45.vml"/><Relationship Id="rId11" Type="http://schemas.openxmlformats.org/officeDocument/2006/relationships/slideLayout" Target="../slideLayouts/slideLayout7.xml"/><Relationship Id="rId10" Type="http://schemas.openxmlformats.org/officeDocument/2006/relationships/image" Target="../media/image132.wmf"/><Relationship Id="rId1" Type="http://schemas.openxmlformats.org/officeDocument/2006/relationships/oleObject" Target="../embeddings/oleObject124.bin"/></Relationships>
</file>

<file path=ppt/slides/_rels/slide92.xml.rels><?xml version="1.0" encoding="UTF-8" standalone="yes"?>
<Relationships xmlns="http://schemas.openxmlformats.org/package/2006/relationships"><Relationship Id="rId9" Type="http://schemas.openxmlformats.org/officeDocument/2006/relationships/oleObject" Target="../embeddings/oleObject133.bin"/><Relationship Id="rId8" Type="http://schemas.openxmlformats.org/officeDocument/2006/relationships/image" Target="../media/image135.wmf"/><Relationship Id="rId7" Type="http://schemas.openxmlformats.org/officeDocument/2006/relationships/oleObject" Target="../embeddings/oleObject132.bin"/><Relationship Id="rId6" Type="http://schemas.openxmlformats.org/officeDocument/2006/relationships/image" Target="../media/image134.wmf"/><Relationship Id="rId5" Type="http://schemas.openxmlformats.org/officeDocument/2006/relationships/oleObject" Target="../embeddings/oleObject131.bin"/><Relationship Id="rId4" Type="http://schemas.openxmlformats.org/officeDocument/2006/relationships/image" Target="../media/image110.wmf"/><Relationship Id="rId3" Type="http://schemas.openxmlformats.org/officeDocument/2006/relationships/oleObject" Target="../embeddings/oleObject130.bin"/><Relationship Id="rId24" Type="http://schemas.openxmlformats.org/officeDocument/2006/relationships/vmlDrawing" Target="../drawings/vmlDrawing46.vml"/><Relationship Id="rId23" Type="http://schemas.openxmlformats.org/officeDocument/2006/relationships/slideLayout" Target="../slideLayouts/slideLayout7.xml"/><Relationship Id="rId22" Type="http://schemas.openxmlformats.org/officeDocument/2006/relationships/image" Target="../media/image142.wmf"/><Relationship Id="rId21" Type="http://schemas.openxmlformats.org/officeDocument/2006/relationships/oleObject" Target="../embeddings/oleObject139.bin"/><Relationship Id="rId20" Type="http://schemas.openxmlformats.org/officeDocument/2006/relationships/image" Target="../media/image141.wmf"/><Relationship Id="rId2" Type="http://schemas.openxmlformats.org/officeDocument/2006/relationships/image" Target="../media/image133.wmf"/><Relationship Id="rId19" Type="http://schemas.openxmlformats.org/officeDocument/2006/relationships/oleObject" Target="../embeddings/oleObject138.bin"/><Relationship Id="rId18" Type="http://schemas.openxmlformats.org/officeDocument/2006/relationships/image" Target="../media/image140.wmf"/><Relationship Id="rId17" Type="http://schemas.openxmlformats.org/officeDocument/2006/relationships/oleObject" Target="../embeddings/oleObject137.bin"/><Relationship Id="rId16" Type="http://schemas.openxmlformats.org/officeDocument/2006/relationships/image" Target="../media/image139.wmf"/><Relationship Id="rId15" Type="http://schemas.openxmlformats.org/officeDocument/2006/relationships/oleObject" Target="../embeddings/oleObject136.bin"/><Relationship Id="rId14" Type="http://schemas.openxmlformats.org/officeDocument/2006/relationships/image" Target="../media/image138.wmf"/><Relationship Id="rId13" Type="http://schemas.openxmlformats.org/officeDocument/2006/relationships/oleObject" Target="../embeddings/oleObject135.bin"/><Relationship Id="rId12" Type="http://schemas.openxmlformats.org/officeDocument/2006/relationships/image" Target="../media/image137.wmf"/><Relationship Id="rId11" Type="http://schemas.openxmlformats.org/officeDocument/2006/relationships/oleObject" Target="../embeddings/oleObject134.bin"/><Relationship Id="rId10" Type="http://schemas.openxmlformats.org/officeDocument/2006/relationships/image" Target="../media/image136.wmf"/><Relationship Id="rId1" Type="http://schemas.openxmlformats.org/officeDocument/2006/relationships/oleObject" Target="../embeddings/oleObject129.bin"/></Relationships>
</file>

<file path=ppt/slides/_rels/slide93.xml.rels><?xml version="1.0" encoding="UTF-8" standalone="yes"?>
<Relationships xmlns="http://schemas.openxmlformats.org/package/2006/relationships"><Relationship Id="rId9" Type="http://schemas.openxmlformats.org/officeDocument/2006/relationships/oleObject" Target="../embeddings/oleObject144.bin"/><Relationship Id="rId8" Type="http://schemas.openxmlformats.org/officeDocument/2006/relationships/image" Target="../media/image146.wmf"/><Relationship Id="rId7" Type="http://schemas.openxmlformats.org/officeDocument/2006/relationships/oleObject" Target="../embeddings/oleObject143.bin"/><Relationship Id="rId6" Type="http://schemas.openxmlformats.org/officeDocument/2006/relationships/image" Target="../media/image145.wmf"/><Relationship Id="rId5" Type="http://schemas.openxmlformats.org/officeDocument/2006/relationships/oleObject" Target="../embeddings/oleObject142.bin"/><Relationship Id="rId4" Type="http://schemas.openxmlformats.org/officeDocument/2006/relationships/image" Target="../media/image144.wmf"/><Relationship Id="rId3" Type="http://schemas.openxmlformats.org/officeDocument/2006/relationships/oleObject" Target="../embeddings/oleObject141.bin"/><Relationship Id="rId2" Type="http://schemas.openxmlformats.org/officeDocument/2006/relationships/image" Target="../media/image143.wmf"/><Relationship Id="rId16" Type="http://schemas.openxmlformats.org/officeDocument/2006/relationships/vmlDrawing" Target="../drawings/vmlDrawing47.vml"/><Relationship Id="rId15" Type="http://schemas.openxmlformats.org/officeDocument/2006/relationships/slideLayout" Target="../slideLayouts/slideLayout7.xml"/><Relationship Id="rId14" Type="http://schemas.openxmlformats.org/officeDocument/2006/relationships/image" Target="../media/image149.wmf"/><Relationship Id="rId13" Type="http://schemas.openxmlformats.org/officeDocument/2006/relationships/oleObject" Target="../embeddings/oleObject146.bin"/><Relationship Id="rId12" Type="http://schemas.openxmlformats.org/officeDocument/2006/relationships/image" Target="../media/image148.wmf"/><Relationship Id="rId11" Type="http://schemas.openxmlformats.org/officeDocument/2006/relationships/oleObject" Target="../embeddings/oleObject145.bin"/><Relationship Id="rId10" Type="http://schemas.openxmlformats.org/officeDocument/2006/relationships/image" Target="../media/image147.wmf"/><Relationship Id="rId1" Type="http://schemas.openxmlformats.org/officeDocument/2006/relationships/oleObject" Target="../embeddings/oleObject140.bin"/></Relationships>
</file>

<file path=ppt/slides/_rels/slide94.xml.rels><?xml version="1.0" encoding="UTF-8" standalone="yes"?>
<Relationships xmlns="http://schemas.openxmlformats.org/package/2006/relationships"><Relationship Id="rId9" Type="http://schemas.openxmlformats.org/officeDocument/2006/relationships/slideLayout" Target="../slideLayouts/slideLayout7.xml"/><Relationship Id="rId8" Type="http://schemas.openxmlformats.org/officeDocument/2006/relationships/image" Target="../media/image153.wmf"/><Relationship Id="rId7" Type="http://schemas.openxmlformats.org/officeDocument/2006/relationships/oleObject" Target="../embeddings/oleObject150.bin"/><Relationship Id="rId6" Type="http://schemas.openxmlformats.org/officeDocument/2006/relationships/image" Target="../media/image152.wmf"/><Relationship Id="rId5" Type="http://schemas.openxmlformats.org/officeDocument/2006/relationships/oleObject" Target="../embeddings/oleObject149.bin"/><Relationship Id="rId4" Type="http://schemas.openxmlformats.org/officeDocument/2006/relationships/image" Target="../media/image151.wmf"/><Relationship Id="rId3" Type="http://schemas.openxmlformats.org/officeDocument/2006/relationships/oleObject" Target="../embeddings/oleObject148.bin"/><Relationship Id="rId2" Type="http://schemas.openxmlformats.org/officeDocument/2006/relationships/image" Target="../media/image150.wmf"/><Relationship Id="rId10" Type="http://schemas.openxmlformats.org/officeDocument/2006/relationships/vmlDrawing" Target="../drawings/vmlDrawing48.vml"/><Relationship Id="rId1" Type="http://schemas.openxmlformats.org/officeDocument/2006/relationships/oleObject" Target="../embeddings/oleObject147.bin"/></Relationships>
</file>

<file path=ppt/slides/_rels/slide95.xml.rels><?xml version="1.0" encoding="UTF-8" standalone="yes"?>
<Relationships xmlns="http://schemas.openxmlformats.org/package/2006/relationships"><Relationship Id="rId7" Type="http://schemas.openxmlformats.org/officeDocument/2006/relationships/vmlDrawing" Target="../drawings/vmlDrawing49.vml"/><Relationship Id="rId6" Type="http://schemas.openxmlformats.org/officeDocument/2006/relationships/slideLayout" Target="../slideLayouts/slideLayout7.xml"/><Relationship Id="rId5" Type="http://schemas.openxmlformats.org/officeDocument/2006/relationships/image" Target="../media/image156.png"/><Relationship Id="rId4" Type="http://schemas.openxmlformats.org/officeDocument/2006/relationships/image" Target="../media/image155.wmf"/><Relationship Id="rId3" Type="http://schemas.openxmlformats.org/officeDocument/2006/relationships/oleObject" Target="../embeddings/oleObject152.bin"/><Relationship Id="rId2" Type="http://schemas.openxmlformats.org/officeDocument/2006/relationships/image" Target="../media/image154.wmf"/><Relationship Id="rId1" Type="http://schemas.openxmlformats.org/officeDocument/2006/relationships/oleObject" Target="../embeddings/oleObject151.bin"/></Relationships>
</file>

<file path=ppt/slides/_rels/slide96.xml.rels><?xml version="1.0" encoding="UTF-8" standalone="yes"?>
<Relationships xmlns="http://schemas.openxmlformats.org/package/2006/relationships"><Relationship Id="rId5" Type="http://schemas.openxmlformats.org/officeDocument/2006/relationships/vmlDrawing" Target="../drawings/vmlDrawing50.vml"/><Relationship Id="rId4" Type="http://schemas.openxmlformats.org/officeDocument/2006/relationships/slideLayout" Target="../slideLayouts/slideLayout7.xml"/><Relationship Id="rId3" Type="http://schemas.openxmlformats.org/officeDocument/2006/relationships/image" Target="../media/image158.png"/><Relationship Id="rId2" Type="http://schemas.openxmlformats.org/officeDocument/2006/relationships/image" Target="../media/image157.wmf"/><Relationship Id="rId1" Type="http://schemas.openxmlformats.org/officeDocument/2006/relationships/oleObject" Target="../embeddings/oleObject153.bin"/></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9.xml.rels><?xml version="1.0" encoding="UTF-8" standalone="yes"?>
<Relationships xmlns="http://schemas.openxmlformats.org/package/2006/relationships"><Relationship Id="rId9" Type="http://schemas.openxmlformats.org/officeDocument/2006/relationships/oleObject" Target="../embeddings/oleObject158.bin"/><Relationship Id="rId8" Type="http://schemas.openxmlformats.org/officeDocument/2006/relationships/image" Target="../media/image161.wmf"/><Relationship Id="rId7" Type="http://schemas.openxmlformats.org/officeDocument/2006/relationships/oleObject" Target="../embeddings/oleObject157.bin"/><Relationship Id="rId6" Type="http://schemas.openxmlformats.org/officeDocument/2006/relationships/image" Target="../media/image160.wmf"/><Relationship Id="rId5" Type="http://schemas.openxmlformats.org/officeDocument/2006/relationships/oleObject" Target="../embeddings/oleObject156.bin"/><Relationship Id="rId4" Type="http://schemas.openxmlformats.org/officeDocument/2006/relationships/image" Target="../media/image159.wmf"/><Relationship Id="rId3" Type="http://schemas.openxmlformats.org/officeDocument/2006/relationships/oleObject" Target="../embeddings/oleObject155.bin"/><Relationship Id="rId2" Type="http://schemas.openxmlformats.org/officeDocument/2006/relationships/image" Target="../media/image130.wmf"/><Relationship Id="rId14" Type="http://schemas.openxmlformats.org/officeDocument/2006/relationships/vmlDrawing" Target="../drawings/vmlDrawing51.vml"/><Relationship Id="rId13" Type="http://schemas.openxmlformats.org/officeDocument/2006/relationships/slideLayout" Target="../slideLayouts/slideLayout7.xml"/><Relationship Id="rId12" Type="http://schemas.openxmlformats.org/officeDocument/2006/relationships/image" Target="../media/image163.wmf"/><Relationship Id="rId11" Type="http://schemas.openxmlformats.org/officeDocument/2006/relationships/oleObject" Target="../embeddings/oleObject159.bin"/><Relationship Id="rId10" Type="http://schemas.openxmlformats.org/officeDocument/2006/relationships/image" Target="../media/image162.wmf"/><Relationship Id="rId1" Type="http://schemas.openxmlformats.org/officeDocument/2006/relationships/oleObject" Target="../embeddings/oleObject154.bin"/></Relationships>
</file>

<file path=ppt/slides/_rels/slide100.xml.rels><?xml version="1.0" encoding="UTF-8" standalone="yes"?>
<Relationships xmlns="http://schemas.openxmlformats.org/package/2006/relationships"><Relationship Id="rId6" Type="http://schemas.openxmlformats.org/officeDocument/2006/relationships/vmlDrawing" Target="../drawings/vmlDrawing52.vml"/><Relationship Id="rId5" Type="http://schemas.openxmlformats.org/officeDocument/2006/relationships/slideLayout" Target="../slideLayouts/slideLayout7.xml"/><Relationship Id="rId4" Type="http://schemas.openxmlformats.org/officeDocument/2006/relationships/image" Target="../media/image160.wmf"/><Relationship Id="rId3" Type="http://schemas.openxmlformats.org/officeDocument/2006/relationships/oleObject" Target="../embeddings/oleObject161.bin"/><Relationship Id="rId2" Type="http://schemas.openxmlformats.org/officeDocument/2006/relationships/image" Target="../media/image164.wmf"/><Relationship Id="rId1" Type="http://schemas.openxmlformats.org/officeDocument/2006/relationships/oleObject" Target="../embeddings/oleObject160.bin"/></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2.xml.rels><?xml version="1.0" encoding="UTF-8" standalone="yes"?>
<Relationships xmlns="http://schemas.openxmlformats.org/package/2006/relationships"><Relationship Id="rId4" Type="http://schemas.openxmlformats.org/officeDocument/2006/relationships/vmlDrawing" Target="../drawings/vmlDrawing53.vml"/><Relationship Id="rId3" Type="http://schemas.openxmlformats.org/officeDocument/2006/relationships/slideLayout" Target="../slideLayouts/slideLayout7.xml"/><Relationship Id="rId2" Type="http://schemas.openxmlformats.org/officeDocument/2006/relationships/image" Target="../media/image165.wmf"/><Relationship Id="rId1" Type="http://schemas.openxmlformats.org/officeDocument/2006/relationships/oleObject" Target="../embeddings/oleObject162.bin"/></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4.xml.rels><?xml version="1.0" encoding="UTF-8" standalone="yes"?>
<Relationships xmlns="http://schemas.openxmlformats.org/package/2006/relationships"><Relationship Id="rId9" Type="http://schemas.openxmlformats.org/officeDocument/2006/relationships/image" Target="../media/image170.wmf"/><Relationship Id="rId8" Type="http://schemas.openxmlformats.org/officeDocument/2006/relationships/oleObject" Target="../embeddings/oleObject166.bin"/><Relationship Id="rId7" Type="http://schemas.openxmlformats.org/officeDocument/2006/relationships/image" Target="../media/image169.wmf"/><Relationship Id="rId6" Type="http://schemas.openxmlformats.org/officeDocument/2006/relationships/oleObject" Target="../embeddings/oleObject165.bin"/><Relationship Id="rId5" Type="http://schemas.openxmlformats.org/officeDocument/2006/relationships/image" Target="../media/image168.wmf"/><Relationship Id="rId4" Type="http://schemas.openxmlformats.org/officeDocument/2006/relationships/oleObject" Target="../embeddings/oleObject164.bin"/><Relationship Id="rId3" Type="http://schemas.openxmlformats.org/officeDocument/2006/relationships/image" Target="../media/image167.wmf"/><Relationship Id="rId2" Type="http://schemas.openxmlformats.org/officeDocument/2006/relationships/oleObject" Target="../embeddings/oleObject163.bin"/><Relationship Id="rId13" Type="http://schemas.openxmlformats.org/officeDocument/2006/relationships/vmlDrawing" Target="../drawings/vmlDrawing54.vml"/><Relationship Id="rId12" Type="http://schemas.openxmlformats.org/officeDocument/2006/relationships/slideLayout" Target="../slideLayouts/slideLayout7.xml"/><Relationship Id="rId11" Type="http://schemas.openxmlformats.org/officeDocument/2006/relationships/image" Target="../media/image171.wmf"/><Relationship Id="rId10" Type="http://schemas.openxmlformats.org/officeDocument/2006/relationships/oleObject" Target="../embeddings/oleObject167.bin"/><Relationship Id="rId1" Type="http://schemas.openxmlformats.org/officeDocument/2006/relationships/image" Target="../media/image166.png"/></Relationships>
</file>

<file path=ppt/slides/_rels/slide105.xml.rels><?xml version="1.0" encoding="UTF-8" standalone="yes"?>
<Relationships xmlns="http://schemas.openxmlformats.org/package/2006/relationships"><Relationship Id="rId9" Type="http://schemas.openxmlformats.org/officeDocument/2006/relationships/image" Target="../media/image175.wmf"/><Relationship Id="rId8" Type="http://schemas.openxmlformats.org/officeDocument/2006/relationships/oleObject" Target="../embeddings/oleObject171.bin"/><Relationship Id="rId7" Type="http://schemas.openxmlformats.org/officeDocument/2006/relationships/image" Target="../media/image174.wmf"/><Relationship Id="rId6" Type="http://schemas.openxmlformats.org/officeDocument/2006/relationships/oleObject" Target="../embeddings/oleObject170.bin"/><Relationship Id="rId5" Type="http://schemas.openxmlformats.org/officeDocument/2006/relationships/image" Target="../media/image173.wmf"/><Relationship Id="rId4" Type="http://schemas.openxmlformats.org/officeDocument/2006/relationships/oleObject" Target="../embeddings/oleObject169.bin"/><Relationship Id="rId3" Type="http://schemas.openxmlformats.org/officeDocument/2006/relationships/image" Target="../media/image172.wmf"/><Relationship Id="rId2" Type="http://schemas.openxmlformats.org/officeDocument/2006/relationships/oleObject" Target="../embeddings/oleObject168.bin"/><Relationship Id="rId16" Type="http://schemas.openxmlformats.org/officeDocument/2006/relationships/vmlDrawing" Target="../drawings/vmlDrawing55.vml"/><Relationship Id="rId15" Type="http://schemas.openxmlformats.org/officeDocument/2006/relationships/slideLayout" Target="../slideLayouts/slideLayout7.xml"/><Relationship Id="rId14" Type="http://schemas.openxmlformats.org/officeDocument/2006/relationships/tags" Target="../tags/tag7.xml"/><Relationship Id="rId13" Type="http://schemas.openxmlformats.org/officeDocument/2006/relationships/image" Target="../media/image177.wmf"/><Relationship Id="rId12" Type="http://schemas.openxmlformats.org/officeDocument/2006/relationships/oleObject" Target="../embeddings/oleObject173.bin"/><Relationship Id="rId11" Type="http://schemas.openxmlformats.org/officeDocument/2006/relationships/image" Target="../media/image176.wmf"/><Relationship Id="rId10" Type="http://schemas.openxmlformats.org/officeDocument/2006/relationships/oleObject" Target="../embeddings/oleObject172.bin"/><Relationship Id="rId1" Type="http://schemas.openxmlformats.org/officeDocument/2006/relationships/image" Target="../media/image166.png"/></Relationships>
</file>

<file path=ppt/slides/_rels/slide10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8.xml"/></Relationships>
</file>

<file path=ppt/slides/_rels/slide107.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9.xml"/></Relationships>
</file>

<file path=ppt/slides/_rels/slide108.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10.xml"/></Relationships>
</file>

<file path=ppt/slides/_rels/slide109.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11.xml"/><Relationship Id="rId1" Type="http://schemas.openxmlformats.org/officeDocument/2006/relationships/image" Target="../media/image178.png"/></Relationships>
</file>

<file path=ppt/slides/_rels/slide11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2.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3.xml.rels><?xml version="1.0" encoding="UTF-8" standalone="yes"?>
<Relationships xmlns="http://schemas.openxmlformats.org/package/2006/relationships"><Relationship Id="rId6" Type="http://schemas.openxmlformats.org/officeDocument/2006/relationships/vmlDrawing" Target="../drawings/vmlDrawing56.vml"/><Relationship Id="rId5" Type="http://schemas.openxmlformats.org/officeDocument/2006/relationships/slideLayout" Target="../slideLayouts/slideLayout2.xml"/><Relationship Id="rId4" Type="http://schemas.openxmlformats.org/officeDocument/2006/relationships/image" Target="../media/image180.wmf"/><Relationship Id="rId3" Type="http://schemas.openxmlformats.org/officeDocument/2006/relationships/oleObject" Target="../embeddings/oleObject175.bin"/><Relationship Id="rId2" Type="http://schemas.openxmlformats.org/officeDocument/2006/relationships/image" Target="../media/image179.wmf"/><Relationship Id="rId1" Type="http://schemas.openxmlformats.org/officeDocument/2006/relationships/oleObject" Target="../embeddings/oleObject174.bin"/></Relationships>
</file>

<file path=ppt/slides/_rels/slide114.xml.rels><?xml version="1.0" encoding="UTF-8" standalone="yes"?>
<Relationships xmlns="http://schemas.openxmlformats.org/package/2006/relationships"><Relationship Id="rId9" Type="http://schemas.openxmlformats.org/officeDocument/2006/relationships/image" Target="../media/image185.png"/><Relationship Id="rId8" Type="http://schemas.openxmlformats.org/officeDocument/2006/relationships/image" Target="../media/image184.wmf"/><Relationship Id="rId7" Type="http://schemas.openxmlformats.org/officeDocument/2006/relationships/oleObject" Target="../embeddings/oleObject179.bin"/><Relationship Id="rId6" Type="http://schemas.openxmlformats.org/officeDocument/2006/relationships/image" Target="../media/image183.wmf"/><Relationship Id="rId5" Type="http://schemas.openxmlformats.org/officeDocument/2006/relationships/oleObject" Target="../embeddings/oleObject178.bin"/><Relationship Id="rId4" Type="http://schemas.openxmlformats.org/officeDocument/2006/relationships/image" Target="../media/image182.wmf"/><Relationship Id="rId3" Type="http://schemas.openxmlformats.org/officeDocument/2006/relationships/oleObject" Target="../embeddings/oleObject177.bin"/><Relationship Id="rId2" Type="http://schemas.openxmlformats.org/officeDocument/2006/relationships/image" Target="../media/image181.wmf"/><Relationship Id="rId11" Type="http://schemas.openxmlformats.org/officeDocument/2006/relationships/vmlDrawing" Target="../drawings/vmlDrawing57.vml"/><Relationship Id="rId10" Type="http://schemas.openxmlformats.org/officeDocument/2006/relationships/slideLayout" Target="../slideLayouts/slideLayout7.xml"/><Relationship Id="rId1" Type="http://schemas.openxmlformats.org/officeDocument/2006/relationships/oleObject" Target="../embeddings/oleObject176.bin"/></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6" Type="http://schemas.openxmlformats.org/officeDocument/2006/relationships/vmlDrawing" Target="../drawings/vmlDrawing58.vml"/><Relationship Id="rId5" Type="http://schemas.openxmlformats.org/officeDocument/2006/relationships/slideLayout" Target="../slideLayouts/slideLayout2.xml"/><Relationship Id="rId4" Type="http://schemas.openxmlformats.org/officeDocument/2006/relationships/image" Target="../media/image187.wmf"/><Relationship Id="rId3" Type="http://schemas.openxmlformats.org/officeDocument/2006/relationships/oleObject" Target="../embeddings/oleObject181.bin"/><Relationship Id="rId2" Type="http://schemas.openxmlformats.org/officeDocument/2006/relationships/image" Target="../media/image186.wmf"/><Relationship Id="rId1" Type="http://schemas.openxmlformats.org/officeDocument/2006/relationships/oleObject" Target="../embeddings/oleObject180.bin"/></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8.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image" Target="../media/image190.png"/><Relationship Id="rId2" Type="http://schemas.openxmlformats.org/officeDocument/2006/relationships/image" Target="../media/image189.png"/><Relationship Id="rId1" Type="http://schemas.openxmlformats.org/officeDocument/2006/relationships/image" Target="../media/image188.jpeg"/></Relationships>
</file>

<file path=ppt/slides/_rels/slide119.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91.jpeg"/></Relationships>
</file>

<file path=ppt/slides/_rels/slide120.xml.rels><?xml version="1.0" encoding="UTF-8" standalone="yes"?>
<Relationships xmlns="http://schemas.openxmlformats.org/package/2006/relationships"><Relationship Id="rId9" Type="http://schemas.openxmlformats.org/officeDocument/2006/relationships/vmlDrawing" Target="../drawings/vmlDrawing59.vml"/><Relationship Id="rId8" Type="http://schemas.openxmlformats.org/officeDocument/2006/relationships/slideLayout" Target="../slideLayouts/slideLayout7.xml"/><Relationship Id="rId7" Type="http://schemas.openxmlformats.org/officeDocument/2006/relationships/image" Target="../media/image194.emf"/><Relationship Id="rId6" Type="http://schemas.openxmlformats.org/officeDocument/2006/relationships/oleObject" Target="../embeddings/oleObject184.bin"/><Relationship Id="rId5" Type="http://schemas.openxmlformats.org/officeDocument/2006/relationships/image" Target="../media/image193.emf"/><Relationship Id="rId4" Type="http://schemas.openxmlformats.org/officeDocument/2006/relationships/oleObject" Target="../embeddings/oleObject183.bin"/><Relationship Id="rId3" Type="http://schemas.openxmlformats.org/officeDocument/2006/relationships/image" Target="../media/image192.emf"/><Relationship Id="rId2" Type="http://schemas.openxmlformats.org/officeDocument/2006/relationships/oleObject" Target="../embeddings/oleObject182.bin"/><Relationship Id="rId1" Type="http://schemas.openxmlformats.org/officeDocument/2006/relationships/image" Target="../media/image191.jpeg"/></Relationships>
</file>

<file path=ppt/slides/_rels/slide121.xml.rels><?xml version="1.0" encoding="UTF-8" standalone="yes"?>
<Relationships xmlns="http://schemas.openxmlformats.org/package/2006/relationships"><Relationship Id="rId9" Type="http://schemas.openxmlformats.org/officeDocument/2006/relationships/oleObject" Target="../embeddings/oleObject189.bin"/><Relationship Id="rId8" Type="http://schemas.openxmlformats.org/officeDocument/2006/relationships/image" Target="../media/image198.emf"/><Relationship Id="rId7" Type="http://schemas.openxmlformats.org/officeDocument/2006/relationships/oleObject" Target="../embeddings/oleObject188.bin"/><Relationship Id="rId6" Type="http://schemas.openxmlformats.org/officeDocument/2006/relationships/image" Target="../media/image197.emf"/><Relationship Id="rId5" Type="http://schemas.openxmlformats.org/officeDocument/2006/relationships/oleObject" Target="../embeddings/oleObject187.bin"/><Relationship Id="rId4" Type="http://schemas.openxmlformats.org/officeDocument/2006/relationships/image" Target="../media/image196.emf"/><Relationship Id="rId3" Type="http://schemas.openxmlformats.org/officeDocument/2006/relationships/oleObject" Target="../embeddings/oleObject186.bin"/><Relationship Id="rId2" Type="http://schemas.openxmlformats.org/officeDocument/2006/relationships/image" Target="../media/image195.emf"/><Relationship Id="rId14" Type="http://schemas.openxmlformats.org/officeDocument/2006/relationships/vmlDrawing" Target="../drawings/vmlDrawing60.vml"/><Relationship Id="rId13" Type="http://schemas.openxmlformats.org/officeDocument/2006/relationships/slideLayout" Target="../slideLayouts/slideLayout7.xml"/><Relationship Id="rId12" Type="http://schemas.openxmlformats.org/officeDocument/2006/relationships/image" Target="../media/image200.emf"/><Relationship Id="rId11" Type="http://schemas.openxmlformats.org/officeDocument/2006/relationships/oleObject" Target="../embeddings/oleObject190.bin"/><Relationship Id="rId10" Type="http://schemas.openxmlformats.org/officeDocument/2006/relationships/image" Target="../media/image199.emf"/><Relationship Id="rId1" Type="http://schemas.openxmlformats.org/officeDocument/2006/relationships/oleObject" Target="../embeddings/oleObject185.bin"/></Relationships>
</file>

<file path=ppt/slides/_rels/slide122.xml.rels><?xml version="1.0" encoding="UTF-8" standalone="yes"?>
<Relationships xmlns="http://schemas.openxmlformats.org/package/2006/relationships"><Relationship Id="rId9" Type="http://schemas.openxmlformats.org/officeDocument/2006/relationships/slideLayout" Target="../slideLayouts/slideLayout7.xml"/><Relationship Id="rId8" Type="http://schemas.openxmlformats.org/officeDocument/2006/relationships/image" Target="../media/image204.wmf"/><Relationship Id="rId7" Type="http://schemas.openxmlformats.org/officeDocument/2006/relationships/oleObject" Target="../embeddings/oleObject194.bin"/><Relationship Id="rId6" Type="http://schemas.openxmlformats.org/officeDocument/2006/relationships/image" Target="../media/image203.emf"/><Relationship Id="rId5" Type="http://schemas.openxmlformats.org/officeDocument/2006/relationships/oleObject" Target="../embeddings/oleObject193.bin"/><Relationship Id="rId4" Type="http://schemas.openxmlformats.org/officeDocument/2006/relationships/image" Target="../media/image202.emf"/><Relationship Id="rId3" Type="http://schemas.openxmlformats.org/officeDocument/2006/relationships/oleObject" Target="../embeddings/oleObject192.bin"/><Relationship Id="rId2" Type="http://schemas.openxmlformats.org/officeDocument/2006/relationships/image" Target="../media/image201.emf"/><Relationship Id="rId10" Type="http://schemas.openxmlformats.org/officeDocument/2006/relationships/vmlDrawing" Target="../drawings/vmlDrawing61.vml"/><Relationship Id="rId1" Type="http://schemas.openxmlformats.org/officeDocument/2006/relationships/oleObject" Target="../embeddings/oleObject191.bin"/></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7" name="矩形 2051"/>
          <p:cNvSpPr>
            <a:spLocks noChangeArrowheads="1"/>
          </p:cNvSpPr>
          <p:nvPr/>
        </p:nvSpPr>
        <p:spPr bwMode="auto">
          <a:xfrm>
            <a:off x="726177" y="2170803"/>
            <a:ext cx="7775091" cy="8299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rIns="0">
            <a:spAutoFit/>
          </a:bodyPr>
          <a:lstStyle/>
          <a:p>
            <a:pPr algn="ctr" latinLnBrk="1"/>
            <a:r>
              <a:rPr lang="en-US" altLang="zh-CN" sz="4800" b="1" dirty="0" smtClean="0">
                <a:latin typeface="黑体" panose="02010609060101010101" pitchFamily="49" charset="-122"/>
                <a:ea typeface="黑体" panose="02010609060101010101" pitchFamily="49" charset="-122"/>
                <a:cs typeface="Times New Roman" panose="02020603050405020304" pitchFamily="18" charset="0"/>
              </a:rPr>
              <a:t>10</a:t>
            </a:r>
            <a:r>
              <a:rPr lang="zh-CN" altLang="en-US" sz="4800" b="1" dirty="0" smtClean="0">
                <a:latin typeface="黑体" panose="02010609060101010101" pitchFamily="49" charset="-122"/>
                <a:ea typeface="黑体" panose="02010609060101010101" pitchFamily="49" charset="-122"/>
              </a:rPr>
              <a:t>  气体</a:t>
            </a:r>
            <a:r>
              <a:rPr lang="zh-CN" altLang="en-US" sz="4800" b="1" dirty="0">
                <a:latin typeface="黑体" panose="02010609060101010101" pitchFamily="49" charset="-122"/>
                <a:ea typeface="黑体" panose="02010609060101010101" pitchFamily="49" charset="-122"/>
              </a:rPr>
              <a:t>与蒸汽的流动</a:t>
            </a:r>
            <a:r>
              <a:rPr lang="en-US" altLang="zh-CN" sz="4800" b="1" dirty="0">
                <a:latin typeface="黑体" panose="02010609060101010101" pitchFamily="49" charset="-122"/>
                <a:ea typeface="黑体" panose="02010609060101010101" pitchFamily="49" charset="-122"/>
              </a:rPr>
              <a:t> </a:t>
            </a:r>
            <a:r>
              <a:rPr lang="en-US" altLang="zh-CN" sz="3600" b="1" dirty="0">
                <a:latin typeface="宋体" panose="02010600030101010101" pitchFamily="2" charset="-122"/>
              </a:rPr>
              <a:t> </a:t>
            </a:r>
            <a:endParaRPr lang="en-US" altLang="zh-CN" sz="3600" b="1" dirty="0">
              <a:latin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矩形 76801"/>
          <p:cNvSpPr>
            <a:spLocks noChangeArrowheads="1"/>
          </p:cNvSpPr>
          <p:nvPr/>
        </p:nvSpPr>
        <p:spPr bwMode="auto">
          <a:xfrm>
            <a:off x="179388" y="1916113"/>
            <a:ext cx="8785225" cy="191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lstStyle/>
          <a:p>
            <a:r>
              <a:rPr lang="zh-CN" altLang="en-US" sz="4000" b="1" dirty="0"/>
              <a:t>§</a:t>
            </a:r>
            <a:r>
              <a:rPr lang="en-US" altLang="zh-CN" sz="4000" b="1" dirty="0">
                <a:latin typeface="黑体" panose="02010609060101010101" pitchFamily="49" charset="-122"/>
                <a:ea typeface="黑体" panose="02010609060101010101" pitchFamily="49" charset="-122"/>
              </a:rPr>
              <a:t>10</a:t>
            </a:r>
            <a:r>
              <a:rPr lang="zh-CN" altLang="en-US" sz="4000" b="1" dirty="0">
                <a:latin typeface="黑体" panose="02010609060101010101" pitchFamily="49" charset="-122"/>
                <a:ea typeface="黑体" panose="02010609060101010101" pitchFamily="49" charset="-122"/>
              </a:rPr>
              <a:t>－</a:t>
            </a:r>
            <a:r>
              <a:rPr lang="en-US" altLang="zh-CN" sz="4000" b="1" dirty="0">
                <a:latin typeface="黑体" panose="02010609060101010101" pitchFamily="49" charset="-122"/>
                <a:ea typeface="黑体" panose="02010609060101010101" pitchFamily="49" charset="-122"/>
              </a:rPr>
              <a:t>1 </a:t>
            </a:r>
            <a:r>
              <a:rPr lang="zh-CN" altLang="en-US" sz="4000" b="1" dirty="0">
                <a:latin typeface="黑体" panose="02010609060101010101" pitchFamily="49" charset="-122"/>
                <a:ea typeface="黑体" panose="02010609060101010101" pitchFamily="49" charset="-122"/>
              </a:rPr>
              <a:t>概述</a:t>
            </a:r>
            <a:r>
              <a:rPr lang="zh-CN" altLang="en-US" sz="7200" b="1" dirty="0">
                <a:latin typeface="黑体" panose="02010609060101010101" pitchFamily="49" charset="-122"/>
                <a:ea typeface="黑体" panose="02010609060101010101" pitchFamily="49" charset="-122"/>
              </a:rPr>
              <a:t> </a:t>
            </a:r>
            <a:endParaRPr lang="zh-CN" altLang="en-US" sz="7200" b="1" dirty="0">
              <a:latin typeface="黑体" panose="02010609060101010101" pitchFamily="49" charset="-122"/>
              <a:ea typeface="黑体" panose="02010609060101010101" pitchFamily="49" charset="-122"/>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5" name="文本框 3073"/>
          <p:cNvSpPr txBox="1">
            <a:spLocks noChangeArrowheads="1"/>
          </p:cNvSpPr>
          <p:nvPr/>
        </p:nvSpPr>
        <p:spPr bwMode="auto">
          <a:xfrm>
            <a:off x="501443" y="719000"/>
            <a:ext cx="7848600" cy="34163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sz="3600" b="1" dirty="0" smtClean="0">
                <a:latin typeface="黑体" panose="02010609060101010101" pitchFamily="49" charset="-122"/>
                <a:ea typeface="黑体" panose="02010609060101010101" pitchFamily="49" charset="-122"/>
              </a:rPr>
              <a:t>工程问题中经常会遇到流动过程。若流体在流动过程中宏观动能发生变化，则根据能量守恒原理，必然有其他形式的能量与之进行相互转换，从而引起工质热力状态的变化，因此这种流动过程也属于工程热力学的范畴。</a:t>
            </a:r>
            <a:endParaRPr lang="zh-CN" altLang="en-US" sz="3600" b="1" dirty="0">
              <a:latin typeface="黑体" panose="02010609060101010101" pitchFamily="49" charset="-122"/>
              <a:ea typeface="黑体" panose="02010609060101010101" pitchFamily="49" charset="-122"/>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89" name="文本占位符 75778"/>
          <p:cNvSpPr>
            <a:spLocks noGrp="1" noChangeArrowheads="1"/>
          </p:cNvSpPr>
          <p:nvPr>
            <p:ph idx="1"/>
          </p:nvPr>
        </p:nvSpPr>
        <p:spPr>
          <a:xfrm>
            <a:off x="395288" y="2205038"/>
            <a:ext cx="8229600" cy="3887787"/>
          </a:xfrm>
        </p:spPr>
        <p:txBody>
          <a:bodyPr/>
          <a:lstStyle/>
          <a:p>
            <a:r>
              <a:rPr lang="zh-CN" altLang="en-US" sz="2800" b="1" dirty="0" smtClean="0">
                <a:latin typeface="黑体" panose="02010609060101010101" pitchFamily="49" charset="-122"/>
                <a:ea typeface="黑体" panose="02010609060101010101" pitchFamily="49" charset="-122"/>
              </a:rPr>
              <a:t>给出流体一维稳定流动过程遵循的基本方程</a:t>
            </a:r>
            <a:endParaRPr lang="zh-CN" altLang="en-US" sz="2800" b="1" dirty="0" smtClean="0">
              <a:latin typeface="黑体" panose="02010609060101010101" pitchFamily="49" charset="-122"/>
              <a:ea typeface="黑体" panose="02010609060101010101" pitchFamily="49" charset="-122"/>
            </a:endParaRPr>
          </a:p>
          <a:p>
            <a:r>
              <a:rPr lang="zh-CN" altLang="en-US" sz="2800" b="1" dirty="0" smtClean="0">
                <a:latin typeface="黑体" panose="02010609060101010101" pitchFamily="49" charset="-122"/>
                <a:ea typeface="黑体" panose="02010609060101010101" pitchFamily="49" charset="-122"/>
              </a:rPr>
              <a:t>讨论理想情况（即可逆绝热）下，工质在喷管和扩压管内流动过程中的热力状态、流速与截面积之间的变化规律</a:t>
            </a:r>
            <a:endParaRPr lang="zh-CN" altLang="en-US" sz="2800" b="1" dirty="0" smtClean="0">
              <a:latin typeface="黑体" panose="02010609060101010101" pitchFamily="49" charset="-122"/>
              <a:ea typeface="黑体" panose="02010609060101010101" pitchFamily="49" charset="-122"/>
            </a:endParaRPr>
          </a:p>
          <a:p>
            <a:r>
              <a:rPr lang="zh-CN" altLang="en-US" sz="2800" b="1" dirty="0" smtClean="0">
                <a:latin typeface="黑体" panose="02010609060101010101" pitchFamily="49" charset="-122"/>
                <a:ea typeface="黑体" panose="02010609060101010101" pitchFamily="49" charset="-122"/>
              </a:rPr>
              <a:t>介绍喷管中工质流速的计算，以及喷管外形的选择和尺寸的计算</a:t>
            </a:r>
            <a:endParaRPr lang="zh-CN" altLang="en-US" sz="2800" b="1" dirty="0" smtClean="0">
              <a:latin typeface="黑体" panose="02010609060101010101" pitchFamily="49" charset="-122"/>
              <a:ea typeface="黑体" panose="02010609060101010101" pitchFamily="49" charset="-122"/>
            </a:endParaRPr>
          </a:p>
          <a:p>
            <a:r>
              <a:rPr lang="zh-CN" altLang="en-US" sz="2800" b="1" dirty="0" smtClean="0">
                <a:latin typeface="黑体" panose="02010609060101010101" pitchFamily="49" charset="-122"/>
                <a:ea typeface="黑体" panose="02010609060101010101" pitchFamily="49" charset="-122"/>
              </a:rPr>
              <a:t>考虑有摩擦的不可逆绝热流动过程以及绝热节流过程</a:t>
            </a:r>
            <a:endParaRPr lang="zh-CN" altLang="en-US" sz="2800" b="1" dirty="0" smtClean="0">
              <a:latin typeface="黑体" panose="02010609060101010101" pitchFamily="49" charset="-122"/>
              <a:ea typeface="黑体" panose="02010609060101010101" pitchFamily="49" charset="-122"/>
            </a:endParaRPr>
          </a:p>
        </p:txBody>
      </p:sp>
      <p:sp>
        <p:nvSpPr>
          <p:cNvPr id="37890" name="矩形 75779"/>
          <p:cNvSpPr>
            <a:spLocks noChangeArrowheads="1"/>
          </p:cNvSpPr>
          <p:nvPr/>
        </p:nvSpPr>
        <p:spPr bwMode="auto">
          <a:xfrm>
            <a:off x="539750" y="404813"/>
            <a:ext cx="7993063" cy="15696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spcBef>
                <a:spcPct val="20000"/>
              </a:spcBef>
            </a:pPr>
            <a:r>
              <a:rPr lang="zh-CN" altLang="en-US" sz="3200" b="1" dirty="0" smtClean="0">
                <a:ea typeface="黑体" panose="02010609060101010101" pitchFamily="49" charset="-122"/>
              </a:rPr>
              <a:t>本章的</a:t>
            </a:r>
            <a:r>
              <a:rPr lang="zh-CN" altLang="en-US" sz="3200" b="1" dirty="0">
                <a:ea typeface="黑体" panose="02010609060101010101" pitchFamily="49" charset="-122"/>
              </a:rPr>
              <a:t>一个重要</a:t>
            </a:r>
            <a:r>
              <a:rPr lang="zh-CN" altLang="en-US" sz="3200" b="1" dirty="0">
                <a:solidFill>
                  <a:srgbClr val="FF0000"/>
                </a:solidFill>
                <a:ea typeface="黑体" panose="02010609060101010101" pitchFamily="49" charset="-122"/>
              </a:rPr>
              <a:t>目的</a:t>
            </a:r>
            <a:r>
              <a:rPr lang="zh-CN" altLang="en-US" sz="3200" b="1" dirty="0">
                <a:ea typeface="黑体" panose="02010609060101010101" pitchFamily="49" charset="-122"/>
              </a:rPr>
              <a:t>：讨论如何通过管道尺寸的设计，使得工质在稳定流过管道后达到预期的流速变化</a:t>
            </a:r>
            <a:endParaRPr lang="zh-CN" altLang="en-US" sz="3200" b="1" dirty="0">
              <a:ea typeface="黑体" panose="02010609060101010101" pitchFamily="49" charset="-122"/>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6868" name="对象 3076"/>
          <p:cNvGraphicFramePr/>
          <p:nvPr/>
        </p:nvGraphicFramePr>
        <p:xfrm>
          <a:off x="1772124" y="2691798"/>
          <a:ext cx="5364162" cy="2363787"/>
        </p:xfrm>
        <a:graphic>
          <a:graphicData uri="http://schemas.openxmlformats.org/presentationml/2006/ole">
            <mc:AlternateContent xmlns:mc="http://schemas.openxmlformats.org/markup-compatibility/2006">
              <mc:Choice xmlns:v="urn:schemas-microsoft-com:vml" Requires="v">
                <p:oleObj spid="_x0000_s1041" name="" r:id="rId1" imgW="5943600" imgH="2619375" progId="Paint.Picture">
                  <p:embed/>
                </p:oleObj>
              </mc:Choice>
              <mc:Fallback>
                <p:oleObj name="" r:id="rId1" imgW="5943600" imgH="2619375" progId="Paint.Picture">
                  <p:embed/>
                  <p:pic>
                    <p:nvPicPr>
                      <p:cNvPr id="0" name="对象 3076"/>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72124" y="2691798"/>
                        <a:ext cx="5364162" cy="2363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36869" name="矩形 3077"/>
          <p:cNvSpPr>
            <a:spLocks noChangeArrowheads="1"/>
          </p:cNvSpPr>
          <p:nvPr/>
        </p:nvSpPr>
        <p:spPr bwMode="auto">
          <a:xfrm>
            <a:off x="265151" y="566168"/>
            <a:ext cx="8662949" cy="1384995"/>
          </a:xfrm>
          <a:prstGeom prst="rect">
            <a:avLst/>
          </a:prstGeom>
          <a:noFill/>
          <a:ln w="25400">
            <a:noFill/>
            <a:miter lim="800000"/>
          </a:ln>
          <a:extLst>
            <a:ext uri="{909E8E84-426E-40DD-AFC4-6F175D3DCCD1}">
              <a14:hiddenFill xmlns:a14="http://schemas.microsoft.com/office/drawing/2010/main">
                <a:solidFill>
                  <a:srgbClr val="FFFFFF"/>
                </a:solidFill>
              </a14:hiddenFill>
            </a:ext>
          </a:extLst>
        </p:spPr>
        <p:txBody>
          <a:bodyPr wrap="none">
            <a:spAutoFit/>
          </a:bodyPr>
          <a:lstStyle/>
          <a:p>
            <a:r>
              <a:rPr lang="zh-CN" altLang="en-US" sz="2800" b="1" dirty="0">
                <a:latin typeface="黑体" panose="02010609060101010101" pitchFamily="49" charset="-122"/>
                <a:ea typeface="黑体" panose="02010609060101010101" pitchFamily="49" charset="-122"/>
              </a:rPr>
              <a:t>喷管：使气流膨胀降压而增加流速的管道</a:t>
            </a:r>
            <a:endParaRPr lang="zh-CN" altLang="en-US" sz="2800" b="1" dirty="0">
              <a:latin typeface="黑体" panose="02010609060101010101" pitchFamily="49" charset="-122"/>
              <a:ea typeface="黑体" panose="02010609060101010101" pitchFamily="49" charset="-122"/>
            </a:endParaRPr>
          </a:p>
          <a:p>
            <a:r>
              <a:rPr lang="zh-CN" altLang="en-US" sz="2800" b="1" dirty="0">
                <a:latin typeface="黑体" panose="02010609060101010101" pitchFamily="49" charset="-122"/>
                <a:ea typeface="黑体" panose="02010609060101010101" pitchFamily="49" charset="-122"/>
              </a:rPr>
              <a:t>扩压管：使气流流速降低、压力升高的</a:t>
            </a:r>
            <a:r>
              <a:rPr lang="zh-CN" altLang="en-US" sz="2800" b="1" dirty="0" smtClean="0">
                <a:latin typeface="黑体" panose="02010609060101010101" pitchFamily="49" charset="-122"/>
                <a:ea typeface="黑体" panose="02010609060101010101" pitchFamily="49" charset="-122"/>
              </a:rPr>
              <a:t>管道</a:t>
            </a:r>
            <a:endParaRPr lang="en-US" altLang="zh-CN" sz="2800" b="1" dirty="0" smtClean="0">
              <a:latin typeface="黑体" panose="02010609060101010101" pitchFamily="49" charset="-122"/>
              <a:ea typeface="黑体" panose="02010609060101010101" pitchFamily="49" charset="-122"/>
            </a:endParaRPr>
          </a:p>
          <a:p>
            <a:r>
              <a:rPr lang="en-US" altLang="zh-CN" sz="2800" b="1" dirty="0" smtClean="0">
                <a:latin typeface="黑体" panose="02010609060101010101" pitchFamily="49" charset="-122"/>
                <a:ea typeface="黑体" panose="02010609060101010101" pitchFamily="49" charset="-122"/>
              </a:rPr>
              <a:t>3-5</a:t>
            </a:r>
            <a:r>
              <a:rPr lang="zh-CN" altLang="en-US" sz="2800" b="1" dirty="0" smtClean="0">
                <a:latin typeface="黑体" panose="02010609060101010101" pitchFamily="49" charset="-122"/>
                <a:ea typeface="黑体" panose="02010609060101010101" pitchFamily="49" charset="-122"/>
              </a:rPr>
              <a:t>节曾经讨论了喷管和扩压管中流动的能量守恒方程</a:t>
            </a:r>
            <a:endParaRPr lang="zh-CN" altLang="en-US" sz="2800" b="1" dirty="0">
              <a:latin typeface="黑体" panose="02010609060101010101" pitchFamily="49" charset="-122"/>
              <a:ea typeface="黑体" panose="02010609060101010101" pitchFamily="49" charset="-122"/>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3" name="矩形 5121"/>
          <p:cNvSpPr>
            <a:spLocks noChangeArrowheads="1"/>
          </p:cNvSpPr>
          <p:nvPr/>
        </p:nvSpPr>
        <p:spPr bwMode="auto">
          <a:xfrm>
            <a:off x="179388" y="1916113"/>
            <a:ext cx="8785225" cy="191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lstStyle/>
          <a:p>
            <a:r>
              <a:rPr lang="zh-CN" altLang="en-US" sz="4000" b="1" dirty="0"/>
              <a:t>§</a:t>
            </a:r>
            <a:r>
              <a:rPr lang="en-US" altLang="zh-CN" sz="4000" b="1" dirty="0">
                <a:latin typeface="黑体" panose="02010609060101010101" pitchFamily="49" charset="-122"/>
                <a:ea typeface="黑体" panose="02010609060101010101" pitchFamily="49" charset="-122"/>
              </a:rPr>
              <a:t>10</a:t>
            </a:r>
            <a:r>
              <a:rPr lang="zh-CN" altLang="en-US" sz="4000" b="1" dirty="0">
                <a:latin typeface="黑体" panose="02010609060101010101" pitchFamily="49" charset="-122"/>
                <a:ea typeface="黑体" panose="02010609060101010101" pitchFamily="49" charset="-122"/>
              </a:rPr>
              <a:t>－</a:t>
            </a:r>
            <a:r>
              <a:rPr lang="en-US" altLang="zh-CN" sz="4000" b="1" dirty="0">
                <a:latin typeface="黑体" panose="02010609060101010101" pitchFamily="49" charset="-122"/>
                <a:ea typeface="黑体" panose="02010609060101010101" pitchFamily="49" charset="-122"/>
              </a:rPr>
              <a:t>2 </a:t>
            </a:r>
            <a:r>
              <a:rPr lang="zh-CN" altLang="en-US" sz="4000" b="1" dirty="0">
                <a:latin typeface="黑体" panose="02010609060101010101" pitchFamily="49" charset="-122"/>
                <a:ea typeface="黑体" panose="02010609060101010101" pitchFamily="49" charset="-122"/>
              </a:rPr>
              <a:t>稳定流动的基本方程式</a:t>
            </a:r>
            <a:r>
              <a:rPr lang="zh-CN" altLang="en-US" sz="7200" b="1" dirty="0">
                <a:latin typeface="黑体" panose="02010609060101010101" pitchFamily="49" charset="-122"/>
                <a:ea typeface="黑体" panose="02010609060101010101" pitchFamily="49" charset="-122"/>
              </a:rPr>
              <a:t> </a:t>
            </a:r>
            <a:endParaRPr lang="zh-CN" altLang="en-US" sz="7200" b="1" dirty="0">
              <a:latin typeface="黑体" panose="02010609060101010101" pitchFamily="49" charset="-122"/>
              <a:ea typeface="黑体" panose="02010609060101010101" pitchFamily="49" charset="-122"/>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7" name="矩形 4099"/>
          <p:cNvSpPr>
            <a:spLocks noChangeArrowheads="1"/>
          </p:cNvSpPr>
          <p:nvPr/>
        </p:nvSpPr>
        <p:spPr bwMode="auto">
          <a:xfrm>
            <a:off x="468313" y="333375"/>
            <a:ext cx="8059737" cy="1373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zh-CN" sz="2800" b="1" dirty="0" smtClean="0">
                <a:latin typeface="黑体" panose="02010609060101010101" pitchFamily="49" charset="-122"/>
                <a:ea typeface="黑体" panose="02010609060101010101" pitchFamily="49" charset="-122"/>
              </a:rPr>
              <a:t>2-3</a:t>
            </a:r>
            <a:r>
              <a:rPr lang="zh-CN" altLang="en-US" sz="2800" b="1" dirty="0" smtClean="0">
                <a:latin typeface="黑体" panose="02010609060101010101" pitchFamily="49" charset="-122"/>
                <a:ea typeface="黑体" panose="02010609060101010101" pitchFamily="49" charset="-122"/>
              </a:rPr>
              <a:t>节指出，</a:t>
            </a:r>
            <a:r>
              <a:rPr lang="zh-CN" altLang="en-US" sz="2800" b="1" dirty="0" smtClean="0">
                <a:solidFill>
                  <a:srgbClr val="000000"/>
                </a:solidFill>
                <a:latin typeface="黑体" panose="02010609060101010101" pitchFamily="49" charset="-122"/>
                <a:ea typeface="黑体" panose="02010609060101010101" pitchFamily="49" charset="-122"/>
              </a:rPr>
              <a:t>严格</a:t>
            </a:r>
            <a:r>
              <a:rPr lang="zh-CN" altLang="en-US" sz="2800" b="1" dirty="0">
                <a:solidFill>
                  <a:srgbClr val="000000"/>
                </a:solidFill>
                <a:latin typeface="黑体" panose="02010609060101010101" pitchFamily="49" charset="-122"/>
                <a:ea typeface="黑体" panose="02010609060101010101" pitchFamily="49" charset="-122"/>
              </a:rPr>
              <a:t>来讲，由于受到摩擦和传热等影响，运动的流体在流道同一截面上的不同点参数值（如速度、温度等）是不相同的</a:t>
            </a:r>
            <a:r>
              <a:rPr lang="zh-CN" altLang="en-US" sz="2800" b="1" dirty="0">
                <a:latin typeface="黑体" panose="02010609060101010101" pitchFamily="49" charset="-122"/>
                <a:ea typeface="黑体" panose="02010609060101010101" pitchFamily="49" charset="-122"/>
              </a:rPr>
              <a:t> </a:t>
            </a:r>
            <a:endParaRPr lang="zh-CN" altLang="en-US" sz="2800" b="1" dirty="0">
              <a:latin typeface="黑体" panose="02010609060101010101" pitchFamily="49" charset="-122"/>
              <a:ea typeface="黑体" panose="02010609060101010101" pitchFamily="49" charset="-122"/>
            </a:endParaRPr>
          </a:p>
        </p:txBody>
      </p:sp>
      <p:pic>
        <p:nvPicPr>
          <p:cNvPr id="39938" name="图片 4101" descr="msotw9_temp0"/>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5148263" y="4508500"/>
            <a:ext cx="2209800" cy="1400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9939" name="图片 4102" descr="msotw9_temp0"/>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76375" y="4508500"/>
            <a:ext cx="2438400" cy="1395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9940" name="矩形 4104"/>
          <p:cNvSpPr>
            <a:spLocks noChangeArrowheads="1"/>
          </p:cNvSpPr>
          <p:nvPr/>
        </p:nvSpPr>
        <p:spPr bwMode="auto">
          <a:xfrm>
            <a:off x="323850" y="2060575"/>
            <a:ext cx="8540750" cy="22453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sz="2800" b="1" dirty="0">
                <a:latin typeface="黑体" panose="02010609060101010101" pitchFamily="49" charset="-122"/>
                <a:ea typeface="黑体" panose="02010609060101010101" pitchFamily="49" charset="-122"/>
              </a:rPr>
              <a:t>为了使问题简化，可将流道内同一截面上流体的各同名参数都视为一致的，每一流体参数只沿着流动方向发生变化。这样，问题就可以简化为一维稳定流动问题。此时，截面上的某一参数是同一截面上该参数的某种平均值</a:t>
            </a:r>
            <a:r>
              <a:rPr lang="zh-CN" altLang="en-US" sz="2800" b="1" dirty="0" smtClean="0">
                <a:latin typeface="黑体" panose="02010609060101010101" pitchFamily="49" charset="-122"/>
                <a:ea typeface="黑体" panose="02010609060101010101" pitchFamily="49" charset="-122"/>
              </a:rPr>
              <a:t>。</a:t>
            </a:r>
            <a:r>
              <a:rPr lang="zh-CN" altLang="en-US" sz="2800" b="1" dirty="0" smtClean="0">
                <a:solidFill>
                  <a:srgbClr val="FF0000"/>
                </a:solidFill>
                <a:latin typeface="黑体" panose="02010609060101010101" pitchFamily="49" charset="-122"/>
                <a:ea typeface="黑体" panose="02010609060101010101" pitchFamily="49" charset="-122"/>
              </a:rPr>
              <a:t>本章</a:t>
            </a:r>
            <a:r>
              <a:rPr lang="zh-CN" altLang="en-US" sz="2800" b="1" dirty="0" smtClean="0">
                <a:solidFill>
                  <a:srgbClr val="FF0000"/>
                </a:solidFill>
                <a:latin typeface="黑体" panose="02010609060101010101" pitchFamily="49" charset="-122"/>
                <a:ea typeface="黑体" panose="02010609060101010101" pitchFamily="49" charset="-122"/>
              </a:rPr>
              <a:t>的讨论限于一维稳定流动过程。</a:t>
            </a:r>
            <a:endParaRPr lang="zh-CN" altLang="en-US" sz="2800" b="1" dirty="0">
              <a:solidFill>
                <a:srgbClr val="FF0000"/>
              </a:solidFill>
              <a:latin typeface="黑体" panose="02010609060101010101" pitchFamily="49" charset="-122"/>
              <a:ea typeface="黑体" panose="02010609060101010101" pitchFamily="49" charset="-122"/>
            </a:endParaRPr>
          </a:p>
        </p:txBody>
      </p:sp>
      <p:sp>
        <p:nvSpPr>
          <p:cNvPr id="39941" name="矩形 4106"/>
          <p:cNvSpPr>
            <a:spLocks noChangeArrowheads="1"/>
          </p:cNvSpPr>
          <p:nvPr/>
        </p:nvSpPr>
        <p:spPr bwMode="auto">
          <a:xfrm>
            <a:off x="1403350" y="5949950"/>
            <a:ext cx="2684463"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2800" b="1" dirty="0">
                <a:latin typeface="黑体" panose="02010609060101010101" pitchFamily="49" charset="-122"/>
                <a:ea typeface="黑体" panose="02010609060101010101" pitchFamily="49" charset="-122"/>
              </a:rPr>
              <a:t>简化前（三维）</a:t>
            </a:r>
            <a:endParaRPr lang="zh-CN" altLang="en-US" sz="2800" b="1" dirty="0">
              <a:latin typeface="黑体" panose="02010609060101010101" pitchFamily="49" charset="-122"/>
              <a:ea typeface="黑体" panose="02010609060101010101" pitchFamily="49" charset="-122"/>
            </a:endParaRPr>
          </a:p>
        </p:txBody>
      </p:sp>
      <p:sp>
        <p:nvSpPr>
          <p:cNvPr id="39942" name="矩形 4107"/>
          <p:cNvSpPr>
            <a:spLocks noChangeArrowheads="1"/>
          </p:cNvSpPr>
          <p:nvPr/>
        </p:nvSpPr>
        <p:spPr bwMode="auto">
          <a:xfrm>
            <a:off x="5219700" y="5949950"/>
            <a:ext cx="2684463"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2800" b="1" dirty="0">
                <a:latin typeface="黑体" panose="02010609060101010101" pitchFamily="49" charset="-122"/>
                <a:ea typeface="黑体" panose="02010609060101010101" pitchFamily="49" charset="-122"/>
              </a:rPr>
              <a:t>简化后（一维）</a:t>
            </a:r>
            <a:endParaRPr lang="zh-CN" altLang="en-US" sz="2800" b="1" dirty="0">
              <a:latin typeface="黑体" panose="02010609060101010101" pitchFamily="49" charset="-122"/>
              <a:ea typeface="黑体" panose="02010609060101010101" pitchFamily="49" charset="-122"/>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1" name="矩形 6145"/>
          <p:cNvSpPr>
            <a:spLocks noChangeArrowheads="1"/>
          </p:cNvSpPr>
          <p:nvPr/>
        </p:nvSpPr>
        <p:spPr bwMode="auto">
          <a:xfrm>
            <a:off x="250825" y="364838"/>
            <a:ext cx="8427140"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zh-CN" altLang="en-US" sz="3200" b="1" dirty="0">
                <a:latin typeface="黑体" panose="02010609060101010101" pitchFamily="49" charset="-122"/>
                <a:ea typeface="黑体" panose="02010609060101010101" pitchFamily="49" charset="-122"/>
              </a:rPr>
              <a:t>一、质量守恒方程（也叫</a:t>
            </a:r>
            <a:r>
              <a:rPr lang="zh-CN" altLang="en-US" sz="3200" b="1" dirty="0" smtClean="0">
                <a:latin typeface="黑体" panose="02010609060101010101" pitchFamily="49" charset="-122"/>
                <a:ea typeface="黑体" panose="02010609060101010101" pitchFamily="49" charset="-122"/>
              </a:rPr>
              <a:t>连续性方程）</a:t>
            </a:r>
            <a:endParaRPr lang="zh-CN" altLang="en-US" b="1" dirty="0"/>
          </a:p>
        </p:txBody>
      </p:sp>
      <p:sp>
        <p:nvSpPr>
          <p:cNvPr id="40962" name="矩形 6146"/>
          <p:cNvSpPr>
            <a:spLocks noChangeArrowheads="1"/>
          </p:cNvSpPr>
          <p:nvPr/>
        </p:nvSpPr>
        <p:spPr bwMode="auto">
          <a:xfrm>
            <a:off x="107950" y="1258888"/>
            <a:ext cx="8964613" cy="946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sz="2800" b="1" dirty="0">
                <a:latin typeface="Tahoma" panose="020B0604030504040204" pitchFamily="34" charset="0"/>
              </a:rPr>
              <a:t>　</a:t>
            </a:r>
            <a:r>
              <a:rPr lang="zh-CN" altLang="en-US" sz="2800" b="1" dirty="0">
                <a:solidFill>
                  <a:srgbClr val="000000"/>
                </a:solidFill>
                <a:latin typeface="黑体" panose="02010609060101010101" pitchFamily="49" charset="-122"/>
                <a:ea typeface="黑体" panose="02010609060101010101" pitchFamily="49" charset="-122"/>
              </a:rPr>
              <a:t>根据质量守恒原理，在稳定流动时，流经流道任意截面的质量流量为一个定值。</a:t>
            </a:r>
            <a:r>
              <a:rPr lang="zh-CN" altLang="en-US" sz="2800" b="1" dirty="0">
                <a:latin typeface="黑体" panose="02010609060101010101" pitchFamily="49" charset="-122"/>
                <a:ea typeface="黑体" panose="02010609060101010101" pitchFamily="49" charset="-122"/>
              </a:rPr>
              <a:t> </a:t>
            </a:r>
            <a:endParaRPr lang="zh-CN" altLang="en-US" sz="2800" b="1" dirty="0">
              <a:latin typeface="黑体" panose="02010609060101010101" pitchFamily="49" charset="-122"/>
              <a:ea typeface="黑体" panose="02010609060101010101" pitchFamily="49" charset="-122"/>
            </a:endParaRPr>
          </a:p>
        </p:txBody>
      </p:sp>
      <p:sp>
        <p:nvSpPr>
          <p:cNvPr id="40963" name="矩形 6147"/>
          <p:cNvSpPr>
            <a:spLocks noChangeArrowheads="1"/>
          </p:cNvSpPr>
          <p:nvPr/>
        </p:nvSpPr>
        <p:spPr bwMode="auto">
          <a:xfrm>
            <a:off x="4787900" y="2781300"/>
            <a:ext cx="4105275" cy="36256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spcBef>
                <a:spcPct val="20000"/>
              </a:spcBef>
              <a:buClr>
                <a:schemeClr val="folHlink"/>
              </a:buClr>
              <a:buSzPct val="60000"/>
              <a:buFont typeface="Wingdings" panose="05000000000000000000" pitchFamily="2" charset="2"/>
              <a:buNone/>
            </a:pPr>
            <a:r>
              <a:rPr lang="zh-CN" altLang="en-US" sz="2800" b="1" dirty="0" smtClean="0">
                <a:latin typeface="黑体" panose="02010609060101010101" pitchFamily="49" charset="-122"/>
                <a:ea typeface="黑体" panose="02010609060101010101" pitchFamily="49" charset="-122"/>
              </a:rPr>
              <a:t>如</a:t>
            </a:r>
            <a:r>
              <a:rPr lang="zh-CN" altLang="en-US" sz="2800" b="1" dirty="0">
                <a:latin typeface="黑体" panose="02010609060101010101" pitchFamily="49" charset="-122"/>
                <a:ea typeface="黑体" panose="02010609060101010101" pitchFamily="49" charset="-122"/>
              </a:rPr>
              <a:t>图取截面</a:t>
            </a:r>
            <a:r>
              <a:rPr lang="en-US" altLang="zh-CN" sz="2800" b="1" dirty="0">
                <a:latin typeface="Times New Roman" panose="02020603050405020304" pitchFamily="18" charset="0"/>
                <a:ea typeface="黑体" panose="02010609060101010101" pitchFamily="49" charset="-122"/>
                <a:cs typeface="Times New Roman" panose="02020603050405020304" pitchFamily="18" charset="0"/>
              </a:rPr>
              <a:t>1</a:t>
            </a:r>
            <a:r>
              <a:rPr lang="zh-CN" altLang="en-US" sz="2800" b="1" dirty="0">
                <a:latin typeface="Times New Roman" panose="02020603050405020304" pitchFamily="18" charset="0"/>
                <a:ea typeface="黑体" panose="02010609060101010101" pitchFamily="49" charset="-122"/>
                <a:cs typeface="Times New Roman" panose="02020603050405020304" pitchFamily="18" charset="0"/>
              </a:rPr>
              <a:t>－</a:t>
            </a:r>
            <a:r>
              <a:rPr lang="en-US" altLang="zh-CN" sz="2800" b="1" dirty="0">
                <a:latin typeface="Times New Roman" panose="02020603050405020304" pitchFamily="18" charset="0"/>
                <a:ea typeface="黑体" panose="02010609060101010101" pitchFamily="49" charset="-122"/>
                <a:cs typeface="Times New Roman" panose="02020603050405020304" pitchFamily="18" charset="0"/>
              </a:rPr>
              <a:t>1</a:t>
            </a:r>
            <a:r>
              <a:rPr lang="zh-CN" altLang="en-US" sz="2800" b="1" dirty="0" smtClean="0">
                <a:latin typeface="Times New Roman" panose="02020603050405020304" pitchFamily="18" charset="0"/>
                <a:ea typeface="黑体" panose="02010609060101010101" pitchFamily="49" charset="-122"/>
                <a:cs typeface="Times New Roman" panose="02020603050405020304" pitchFamily="18" charset="0"/>
              </a:rPr>
              <a:t>和</a:t>
            </a:r>
            <a:r>
              <a:rPr lang="en-US" altLang="zh-CN" sz="2800" b="1" dirty="0" smtClean="0">
                <a:latin typeface="Times New Roman" panose="02020603050405020304" pitchFamily="18" charset="0"/>
                <a:ea typeface="黑体" panose="02010609060101010101" pitchFamily="49" charset="-122"/>
                <a:cs typeface="Times New Roman" panose="02020603050405020304" pitchFamily="18" charset="0"/>
              </a:rPr>
              <a:t>2</a:t>
            </a:r>
            <a:r>
              <a:rPr lang="zh-CN" altLang="en-US" sz="2800" b="1" dirty="0">
                <a:latin typeface="Times New Roman" panose="02020603050405020304" pitchFamily="18" charset="0"/>
                <a:ea typeface="黑体" panose="02010609060101010101" pitchFamily="49" charset="-122"/>
                <a:cs typeface="Times New Roman" panose="02020603050405020304" pitchFamily="18" charset="0"/>
              </a:rPr>
              <a:t>－</a:t>
            </a:r>
            <a:r>
              <a:rPr lang="en-US" altLang="zh-CN" sz="2800" b="1" dirty="0">
                <a:latin typeface="Times New Roman" panose="02020603050405020304" pitchFamily="18" charset="0"/>
                <a:ea typeface="黑体" panose="02010609060101010101" pitchFamily="49" charset="-122"/>
                <a:cs typeface="Times New Roman" panose="02020603050405020304" pitchFamily="18" charset="0"/>
              </a:rPr>
              <a:t>2</a:t>
            </a:r>
            <a:r>
              <a:rPr lang="zh-CN" altLang="en-US" sz="2800" b="1" dirty="0">
                <a:latin typeface="黑体" panose="02010609060101010101" pitchFamily="49" charset="-122"/>
                <a:ea typeface="黑体" panose="02010609060101010101" pitchFamily="49" charset="-122"/>
              </a:rPr>
              <a:t>，两截面的参数为</a:t>
            </a:r>
            <a:endParaRPr lang="zh-CN" altLang="en-US" sz="2800" b="1" dirty="0">
              <a:latin typeface="黑体" panose="02010609060101010101" pitchFamily="49" charset="-122"/>
              <a:ea typeface="黑体" panose="02010609060101010101" pitchFamily="49" charset="-122"/>
            </a:endParaRPr>
          </a:p>
          <a:p>
            <a:pPr>
              <a:spcBef>
                <a:spcPct val="20000"/>
              </a:spcBef>
              <a:buClr>
                <a:schemeClr val="folHlink"/>
              </a:buClr>
              <a:buSzPct val="60000"/>
              <a:buFont typeface="Wingdings" panose="05000000000000000000" pitchFamily="2" charset="2"/>
              <a:buNone/>
            </a:pPr>
            <a:endParaRPr lang="zh-CN" altLang="en-US" sz="2800" b="1" dirty="0">
              <a:latin typeface="Tahoma" panose="020B0604030504040204" pitchFamily="34" charset="0"/>
            </a:endParaRPr>
          </a:p>
          <a:p>
            <a:pPr>
              <a:spcBef>
                <a:spcPct val="20000"/>
              </a:spcBef>
              <a:buClr>
                <a:schemeClr val="folHlink"/>
              </a:buClr>
              <a:buSzPct val="60000"/>
              <a:buFont typeface="Wingdings" panose="05000000000000000000" pitchFamily="2" charset="2"/>
              <a:buNone/>
            </a:pPr>
            <a:r>
              <a:rPr lang="zh-CN" altLang="en-US" sz="2800" b="1" dirty="0">
                <a:latin typeface="黑体" panose="02010609060101010101" pitchFamily="49" charset="-122"/>
                <a:ea typeface="黑体" panose="02010609060101010101" pitchFamily="49" charset="-122"/>
              </a:rPr>
              <a:t>质量流量：</a:t>
            </a:r>
            <a:r>
              <a:rPr lang="en-US" altLang="zh-CN" sz="2800" b="1" i="1" dirty="0">
                <a:latin typeface="Times New Roman" panose="02020603050405020304" pitchFamily="18" charset="0"/>
              </a:rPr>
              <a:t>q</a:t>
            </a:r>
            <a:r>
              <a:rPr lang="en-US" altLang="zh-CN" sz="2800" b="1" i="1" baseline="-30000" dirty="0">
                <a:latin typeface="Times New Roman" panose="02020603050405020304" pitchFamily="18" charset="0"/>
              </a:rPr>
              <a:t>m</a:t>
            </a:r>
            <a:r>
              <a:rPr lang="en-US" altLang="zh-CN" sz="2800" b="1" baseline="-30000" dirty="0">
                <a:latin typeface="Times New Roman" panose="02020603050405020304" pitchFamily="18" charset="0"/>
              </a:rPr>
              <a:t>1</a:t>
            </a:r>
            <a:r>
              <a:rPr lang="zh-CN" altLang="en-US" sz="2800" b="1" dirty="0">
                <a:latin typeface="Tahoma" panose="020B0604030504040204" pitchFamily="34" charset="0"/>
              </a:rPr>
              <a:t>、</a:t>
            </a:r>
            <a:r>
              <a:rPr lang="en-US" altLang="zh-CN" sz="2800" b="1" i="1" dirty="0">
                <a:latin typeface="Times New Roman" panose="02020603050405020304" pitchFamily="18" charset="0"/>
              </a:rPr>
              <a:t>q</a:t>
            </a:r>
            <a:r>
              <a:rPr lang="en-US" altLang="zh-CN" sz="2800" b="1" i="1" baseline="-30000" dirty="0">
                <a:latin typeface="Times New Roman" panose="02020603050405020304" pitchFamily="18" charset="0"/>
              </a:rPr>
              <a:t>m</a:t>
            </a:r>
            <a:r>
              <a:rPr lang="en-US" altLang="zh-CN" sz="2800" b="1" baseline="-30000" dirty="0">
                <a:latin typeface="Times New Roman" panose="02020603050405020304" pitchFamily="18" charset="0"/>
              </a:rPr>
              <a:t>2</a:t>
            </a:r>
            <a:endParaRPr lang="en-US" altLang="zh-CN" sz="2800" b="1" dirty="0">
              <a:latin typeface="Tahoma" panose="020B0604030504040204" pitchFamily="34" charset="0"/>
            </a:endParaRPr>
          </a:p>
          <a:p>
            <a:pPr>
              <a:spcBef>
                <a:spcPct val="20000"/>
              </a:spcBef>
              <a:buClr>
                <a:schemeClr val="folHlink"/>
              </a:buClr>
              <a:buSzPct val="60000"/>
              <a:buFont typeface="Wingdings" panose="05000000000000000000" pitchFamily="2" charset="2"/>
              <a:buNone/>
            </a:pPr>
            <a:r>
              <a:rPr lang="zh-CN" altLang="en-US" sz="2800" b="1" dirty="0">
                <a:latin typeface="黑体" panose="02010609060101010101" pitchFamily="49" charset="-122"/>
                <a:ea typeface="黑体" panose="02010609060101010101" pitchFamily="49" charset="-122"/>
              </a:rPr>
              <a:t>流速：</a:t>
            </a:r>
            <a:r>
              <a:rPr lang="zh-CN" altLang="en-US" sz="2800" b="1" dirty="0">
                <a:latin typeface="Tahoma" panose="020B0604030504040204" pitchFamily="34" charset="0"/>
              </a:rPr>
              <a:t>       </a:t>
            </a:r>
            <a:r>
              <a:rPr lang="en-US" altLang="zh-CN" sz="2800" b="1" i="1" dirty="0">
                <a:latin typeface="Times New Roman" panose="02020603050405020304" pitchFamily="18" charset="0"/>
              </a:rPr>
              <a:t>c</a:t>
            </a:r>
            <a:r>
              <a:rPr lang="en-US" altLang="zh-CN" sz="2800" b="1" baseline="-30000" dirty="0">
                <a:latin typeface="Times New Roman" panose="02020603050405020304" pitchFamily="18" charset="0"/>
              </a:rPr>
              <a:t>f1</a:t>
            </a:r>
            <a:r>
              <a:rPr lang="zh-CN" altLang="en-US" sz="2800" b="1" dirty="0">
                <a:latin typeface="Tahoma" panose="020B0604030504040204" pitchFamily="34" charset="0"/>
              </a:rPr>
              <a:t>、</a:t>
            </a:r>
            <a:r>
              <a:rPr lang="en-US" altLang="zh-CN" sz="2800" b="1" i="1" dirty="0">
                <a:latin typeface="Times New Roman" panose="02020603050405020304" pitchFamily="18" charset="0"/>
              </a:rPr>
              <a:t>c</a:t>
            </a:r>
            <a:r>
              <a:rPr lang="en-US" altLang="zh-CN" sz="2800" b="1" baseline="-30000" dirty="0">
                <a:latin typeface="Times New Roman" panose="02020603050405020304" pitchFamily="18" charset="0"/>
              </a:rPr>
              <a:t>f2</a:t>
            </a:r>
            <a:endParaRPr lang="en-US" altLang="zh-CN" sz="2800" b="1" baseline="-30000" dirty="0">
              <a:latin typeface="Times New Roman" panose="02020603050405020304" pitchFamily="18" charset="0"/>
            </a:endParaRPr>
          </a:p>
          <a:p>
            <a:pPr>
              <a:spcBef>
                <a:spcPct val="20000"/>
              </a:spcBef>
              <a:buClr>
                <a:schemeClr val="folHlink"/>
              </a:buClr>
              <a:buSzPct val="60000"/>
              <a:buFont typeface="Wingdings" panose="05000000000000000000" pitchFamily="2" charset="2"/>
              <a:buNone/>
            </a:pPr>
            <a:r>
              <a:rPr lang="zh-CN" altLang="en-US" sz="2800" b="1" dirty="0">
                <a:latin typeface="黑体" panose="02010609060101010101" pitchFamily="49" charset="-122"/>
                <a:ea typeface="黑体" panose="02010609060101010101" pitchFamily="49" charset="-122"/>
              </a:rPr>
              <a:t>比体积：</a:t>
            </a:r>
            <a:r>
              <a:rPr lang="zh-CN" altLang="en-US" sz="2800" b="1" dirty="0">
                <a:latin typeface="Tahoma" panose="020B0604030504040204" pitchFamily="34" charset="0"/>
              </a:rPr>
              <a:t>   </a:t>
            </a:r>
            <a:r>
              <a:rPr lang="en-US" altLang="zh-CN" sz="2800" b="1" i="1" dirty="0">
                <a:latin typeface="Times New Roman" panose="02020603050405020304" pitchFamily="18" charset="0"/>
              </a:rPr>
              <a:t>v</a:t>
            </a:r>
            <a:r>
              <a:rPr lang="en-US" altLang="zh-CN" sz="2800" b="1" baseline="-30000" dirty="0">
                <a:latin typeface="Times New Roman" panose="02020603050405020304" pitchFamily="18" charset="0"/>
              </a:rPr>
              <a:t>1</a:t>
            </a:r>
            <a:r>
              <a:rPr lang="en-US" altLang="zh-CN" sz="2800" b="1" i="1" baseline="-30000" dirty="0">
                <a:latin typeface="Times New Roman" panose="02020603050405020304" pitchFamily="18" charset="0"/>
              </a:rPr>
              <a:t> </a:t>
            </a:r>
            <a:r>
              <a:rPr lang="en-US" altLang="zh-CN" dirty="0"/>
              <a:t> </a:t>
            </a:r>
            <a:r>
              <a:rPr lang="zh-CN" altLang="en-US" sz="2800" b="1" dirty="0">
                <a:latin typeface="Tahoma" panose="020B0604030504040204" pitchFamily="34" charset="0"/>
              </a:rPr>
              <a:t>、</a:t>
            </a:r>
            <a:r>
              <a:rPr lang="zh-CN" altLang="en-US" dirty="0"/>
              <a:t> </a:t>
            </a:r>
            <a:r>
              <a:rPr lang="en-US" altLang="zh-CN" sz="2800" b="1" i="1" dirty="0">
                <a:latin typeface="Times New Roman" panose="02020603050405020304" pitchFamily="18" charset="0"/>
              </a:rPr>
              <a:t>v</a:t>
            </a:r>
            <a:r>
              <a:rPr lang="en-US" altLang="zh-CN" sz="2800" b="1" baseline="-30000" dirty="0">
                <a:latin typeface="Times New Roman" panose="02020603050405020304" pitchFamily="18" charset="0"/>
              </a:rPr>
              <a:t>2</a:t>
            </a:r>
            <a:endParaRPr lang="en-US" altLang="zh-CN" sz="2800" b="1" baseline="-30000" dirty="0">
              <a:latin typeface="Times New Roman" panose="02020603050405020304" pitchFamily="18" charset="0"/>
            </a:endParaRPr>
          </a:p>
          <a:p>
            <a:pPr>
              <a:spcBef>
                <a:spcPct val="20000"/>
              </a:spcBef>
              <a:buClr>
                <a:schemeClr val="folHlink"/>
              </a:buClr>
              <a:buSzPct val="60000"/>
              <a:buFont typeface="Wingdings" panose="05000000000000000000" pitchFamily="2" charset="2"/>
              <a:buNone/>
            </a:pPr>
            <a:r>
              <a:rPr lang="zh-CN" altLang="en-US" sz="2800" b="1" dirty="0">
                <a:latin typeface="黑体" panose="02010609060101010101" pitchFamily="49" charset="-122"/>
                <a:ea typeface="黑体" panose="02010609060101010101" pitchFamily="49" charset="-122"/>
              </a:rPr>
              <a:t>截面积：</a:t>
            </a:r>
            <a:r>
              <a:rPr lang="zh-CN" altLang="en-US" sz="2800" b="1" dirty="0">
                <a:latin typeface="Tahoma" panose="020B0604030504040204" pitchFamily="34" charset="0"/>
              </a:rPr>
              <a:t>   </a:t>
            </a:r>
            <a:r>
              <a:rPr lang="en-US" altLang="zh-CN" sz="2800" b="1" i="1" dirty="0">
                <a:latin typeface="Times New Roman" panose="02020603050405020304" pitchFamily="18" charset="0"/>
              </a:rPr>
              <a:t>A</a:t>
            </a:r>
            <a:r>
              <a:rPr lang="en-US" altLang="zh-CN" sz="2800" b="1" baseline="-30000" dirty="0">
                <a:latin typeface="Times New Roman" panose="02020603050405020304" pitchFamily="18" charset="0"/>
              </a:rPr>
              <a:t>1</a:t>
            </a:r>
            <a:r>
              <a:rPr lang="zh-CN" altLang="en-US" sz="2800" b="1" i="1" dirty="0">
                <a:latin typeface="Times New Roman" panose="02020603050405020304" pitchFamily="18" charset="0"/>
              </a:rPr>
              <a:t>、</a:t>
            </a:r>
            <a:r>
              <a:rPr lang="en-US" altLang="zh-CN" sz="2800" b="1" i="1" dirty="0">
                <a:latin typeface="Times New Roman" panose="02020603050405020304" pitchFamily="18" charset="0"/>
              </a:rPr>
              <a:t>A</a:t>
            </a:r>
            <a:r>
              <a:rPr lang="en-US" altLang="zh-CN" sz="2800" b="1" baseline="-30000" dirty="0">
                <a:latin typeface="Times New Roman" panose="02020603050405020304" pitchFamily="18" charset="0"/>
              </a:rPr>
              <a:t>2</a:t>
            </a:r>
            <a:endParaRPr lang="en-US" altLang="zh-CN" sz="2800" b="1" baseline="-30000" dirty="0">
              <a:latin typeface="Times New Roman" panose="02020603050405020304" pitchFamily="18" charset="0"/>
            </a:endParaRPr>
          </a:p>
        </p:txBody>
      </p:sp>
      <p:pic>
        <p:nvPicPr>
          <p:cNvPr id="40964" name="图片 6148"/>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07950" y="3017838"/>
            <a:ext cx="4572000" cy="3003550"/>
          </a:xfrm>
          <a:prstGeom prst="rect">
            <a:avLst/>
          </a:prstGeom>
          <a:noFill/>
          <a:ln w="25400">
            <a:solidFill>
              <a:srgbClr val="CC3300"/>
            </a:solidFill>
            <a:miter lim="800000"/>
            <a:headEnd/>
            <a:tailEnd/>
          </a:ln>
          <a:extLst>
            <a:ext uri="{909E8E84-426E-40DD-AFC4-6F175D3DCCD1}">
              <a14:hiddenFill xmlns:a14="http://schemas.microsoft.com/office/drawing/2010/main">
                <a:solidFill>
                  <a:srgbClr val="FFFFFF"/>
                </a:solidFill>
              </a14:hiddenFill>
            </a:ext>
          </a:extLst>
        </p:spPr>
      </p:pic>
      <p:sp>
        <p:nvSpPr>
          <p:cNvPr id="40965" name="文本框 6149"/>
          <p:cNvSpPr txBox="1">
            <a:spLocks noChangeArrowheads="1"/>
          </p:cNvSpPr>
          <p:nvPr/>
        </p:nvSpPr>
        <p:spPr bwMode="auto">
          <a:xfrm>
            <a:off x="250825" y="4181475"/>
            <a:ext cx="596900" cy="1552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400" b="1" i="1">
                <a:latin typeface="Times New Roman" panose="02020603050405020304" pitchFamily="18" charset="0"/>
              </a:rPr>
              <a:t>p</a:t>
            </a:r>
            <a:r>
              <a:rPr lang="en-US" altLang="zh-CN" sz="2400" b="1" baseline="-25000">
                <a:latin typeface="Times New Roman" panose="02020603050405020304" pitchFamily="18" charset="0"/>
              </a:rPr>
              <a:t>1</a:t>
            </a:r>
            <a:endParaRPr lang="en-US" altLang="zh-CN" sz="2400" b="1" baseline="-25000">
              <a:latin typeface="Times New Roman" panose="02020603050405020304" pitchFamily="18" charset="0"/>
            </a:endParaRPr>
          </a:p>
          <a:p>
            <a:r>
              <a:rPr lang="en-US" altLang="zh-CN" sz="2400" b="1" i="1">
                <a:latin typeface="Times New Roman" panose="02020603050405020304" pitchFamily="18" charset="0"/>
              </a:rPr>
              <a:t>T</a:t>
            </a:r>
            <a:r>
              <a:rPr lang="en-US" altLang="zh-CN" sz="2400" b="1" baseline="-25000">
                <a:latin typeface="Times New Roman" panose="02020603050405020304" pitchFamily="18" charset="0"/>
              </a:rPr>
              <a:t>1</a:t>
            </a:r>
            <a:endParaRPr lang="en-US" altLang="zh-CN" sz="2400" b="1" baseline="-25000">
              <a:latin typeface="Times New Roman" panose="02020603050405020304" pitchFamily="18" charset="0"/>
            </a:endParaRPr>
          </a:p>
          <a:p>
            <a:r>
              <a:rPr lang="en-US" altLang="zh-CN" sz="2400" b="1" i="1">
                <a:latin typeface="Times New Roman" panose="02020603050405020304" pitchFamily="18" charset="0"/>
              </a:rPr>
              <a:t>v</a:t>
            </a:r>
            <a:r>
              <a:rPr lang="en-US" altLang="zh-CN" sz="2400" b="1" baseline="-25000">
                <a:latin typeface="Times New Roman" panose="02020603050405020304" pitchFamily="18" charset="0"/>
              </a:rPr>
              <a:t>1</a:t>
            </a:r>
            <a:endParaRPr lang="en-US" altLang="zh-CN" sz="2400" b="1" baseline="-25000">
              <a:latin typeface="Times New Roman" panose="02020603050405020304" pitchFamily="18" charset="0"/>
            </a:endParaRPr>
          </a:p>
          <a:p>
            <a:r>
              <a:rPr lang="en-US" altLang="zh-CN" sz="2400" b="1" i="1">
                <a:latin typeface="Times New Roman" panose="02020603050405020304" pitchFamily="18" charset="0"/>
              </a:rPr>
              <a:t>q</a:t>
            </a:r>
            <a:r>
              <a:rPr lang="en-US" altLang="zh-CN" sz="2400" b="1" i="1" baseline="-25000">
                <a:latin typeface="Times New Roman" panose="02020603050405020304" pitchFamily="18" charset="0"/>
              </a:rPr>
              <a:t>m</a:t>
            </a:r>
            <a:r>
              <a:rPr lang="en-US" altLang="zh-CN" sz="2400" b="1" baseline="-25000">
                <a:latin typeface="Times New Roman" panose="02020603050405020304" pitchFamily="18" charset="0"/>
              </a:rPr>
              <a:t>1</a:t>
            </a:r>
            <a:endParaRPr lang="en-US" altLang="zh-CN" sz="2400" b="1">
              <a:latin typeface="Times New Roman" panose="02020603050405020304" pitchFamily="18" charset="0"/>
            </a:endParaRPr>
          </a:p>
        </p:txBody>
      </p:sp>
      <p:sp>
        <p:nvSpPr>
          <p:cNvPr id="40966" name="文本框 6150"/>
          <p:cNvSpPr txBox="1">
            <a:spLocks noChangeArrowheads="1"/>
          </p:cNvSpPr>
          <p:nvPr/>
        </p:nvSpPr>
        <p:spPr bwMode="auto">
          <a:xfrm>
            <a:off x="4067175" y="4221163"/>
            <a:ext cx="596900" cy="1552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400" b="1" i="1">
                <a:latin typeface="Times New Roman" panose="02020603050405020304" pitchFamily="18" charset="0"/>
              </a:rPr>
              <a:t>p</a:t>
            </a:r>
            <a:r>
              <a:rPr lang="en-US" altLang="zh-CN" sz="2400" b="1" baseline="-25000">
                <a:latin typeface="Times New Roman" panose="02020603050405020304" pitchFamily="18" charset="0"/>
              </a:rPr>
              <a:t>2</a:t>
            </a:r>
            <a:endParaRPr lang="en-US" altLang="zh-CN" sz="2400" b="1" baseline="-25000">
              <a:latin typeface="Times New Roman" panose="02020603050405020304" pitchFamily="18" charset="0"/>
            </a:endParaRPr>
          </a:p>
          <a:p>
            <a:r>
              <a:rPr lang="en-US" altLang="zh-CN" sz="2400" b="1" i="1">
                <a:latin typeface="Times New Roman" panose="02020603050405020304" pitchFamily="18" charset="0"/>
              </a:rPr>
              <a:t>T</a:t>
            </a:r>
            <a:r>
              <a:rPr lang="en-US" altLang="zh-CN" sz="2400" b="1" baseline="-25000">
                <a:latin typeface="Times New Roman" panose="02020603050405020304" pitchFamily="18" charset="0"/>
              </a:rPr>
              <a:t>2</a:t>
            </a:r>
            <a:endParaRPr lang="en-US" altLang="zh-CN" sz="2400" b="1">
              <a:latin typeface="Times New Roman" panose="02020603050405020304" pitchFamily="18" charset="0"/>
            </a:endParaRPr>
          </a:p>
          <a:p>
            <a:r>
              <a:rPr lang="en-US" altLang="zh-CN" sz="2400" b="1" i="1">
                <a:latin typeface="Times New Roman" panose="02020603050405020304" pitchFamily="18" charset="0"/>
              </a:rPr>
              <a:t>v</a:t>
            </a:r>
            <a:r>
              <a:rPr lang="en-US" altLang="zh-CN" sz="2400" b="1" baseline="-25000">
                <a:latin typeface="Times New Roman" panose="02020603050405020304" pitchFamily="18" charset="0"/>
              </a:rPr>
              <a:t>2</a:t>
            </a:r>
            <a:endParaRPr lang="en-US" altLang="zh-CN" sz="2400" b="1" baseline="-25000">
              <a:latin typeface="Times New Roman" panose="02020603050405020304" pitchFamily="18" charset="0"/>
            </a:endParaRPr>
          </a:p>
          <a:p>
            <a:r>
              <a:rPr lang="en-US" altLang="zh-CN" sz="2400" b="1" i="1">
                <a:latin typeface="Times New Roman" panose="02020603050405020304" pitchFamily="18" charset="0"/>
              </a:rPr>
              <a:t>q</a:t>
            </a:r>
            <a:r>
              <a:rPr lang="en-US" altLang="zh-CN" sz="2400" b="1" i="1" baseline="-25000">
                <a:latin typeface="Times New Roman" panose="02020603050405020304" pitchFamily="18" charset="0"/>
              </a:rPr>
              <a:t>m</a:t>
            </a:r>
            <a:r>
              <a:rPr lang="en-US" altLang="zh-CN" sz="2400" b="1" baseline="-25000">
                <a:latin typeface="Times New Roman" panose="02020603050405020304" pitchFamily="18" charset="0"/>
              </a:rPr>
              <a:t>2</a:t>
            </a:r>
            <a:endParaRPr lang="en-US" altLang="zh-CN" sz="2400" b="1" baseline="-25000">
              <a:latin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5" name="文本框 7169"/>
          <p:cNvSpPr txBox="1">
            <a:spLocks noChangeArrowheads="1"/>
          </p:cNvSpPr>
          <p:nvPr/>
        </p:nvSpPr>
        <p:spPr bwMode="auto">
          <a:xfrm>
            <a:off x="539750" y="339150"/>
            <a:ext cx="3581400"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spcBef>
                <a:spcPct val="50000"/>
              </a:spcBef>
            </a:pPr>
            <a:r>
              <a:rPr lang="zh-CN" altLang="en-US" sz="3200" b="1" dirty="0">
                <a:latin typeface="黑体" panose="02010609060101010101" pitchFamily="49" charset="-122"/>
                <a:ea typeface="黑体" panose="02010609060101010101" pitchFamily="49" charset="-122"/>
              </a:rPr>
              <a:t>根据质量守恒定律：</a:t>
            </a:r>
            <a:endParaRPr lang="zh-CN" altLang="en-US" sz="3200" b="1" dirty="0">
              <a:latin typeface="黑体" panose="02010609060101010101" pitchFamily="49" charset="-122"/>
              <a:ea typeface="黑体" panose="02010609060101010101" pitchFamily="49" charset="-122"/>
            </a:endParaRPr>
          </a:p>
        </p:txBody>
      </p:sp>
      <p:graphicFrame>
        <p:nvGraphicFramePr>
          <p:cNvPr id="41986" name="对象 7170"/>
          <p:cNvGraphicFramePr/>
          <p:nvPr/>
        </p:nvGraphicFramePr>
        <p:xfrm>
          <a:off x="1042988" y="1052513"/>
          <a:ext cx="7112000" cy="1128712"/>
        </p:xfrm>
        <a:graphic>
          <a:graphicData uri="http://schemas.openxmlformats.org/presentationml/2006/ole">
            <mc:AlternateContent xmlns:mc="http://schemas.openxmlformats.org/markup-compatibility/2006">
              <mc:Choice xmlns:v="urn:schemas-microsoft-com:vml" Requires="v">
                <p:oleObj spid="_x0000_s2080" name="" r:id="rId1" imgW="1811655" imgH="287655" progId="Equation.DSMT4">
                  <p:embed/>
                </p:oleObj>
              </mc:Choice>
              <mc:Fallback>
                <p:oleObj name="" r:id="rId1" imgW="1811655" imgH="287655" progId="Equation.DSMT4">
                  <p:embed/>
                  <p:pic>
                    <p:nvPicPr>
                      <p:cNvPr id="0" name="对象 7170"/>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42988" y="1052513"/>
                        <a:ext cx="7112000" cy="1128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41987" name="文本框 7171"/>
          <p:cNvSpPr txBox="1">
            <a:spLocks noChangeArrowheads="1"/>
          </p:cNvSpPr>
          <p:nvPr/>
        </p:nvSpPr>
        <p:spPr bwMode="auto">
          <a:xfrm>
            <a:off x="593035" y="2374900"/>
            <a:ext cx="3581400"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spcBef>
                <a:spcPct val="50000"/>
              </a:spcBef>
            </a:pPr>
            <a:r>
              <a:rPr lang="zh-CN" altLang="en-US" sz="3200" b="1" dirty="0">
                <a:latin typeface="黑体" panose="02010609060101010101" pitchFamily="49" charset="-122"/>
                <a:ea typeface="黑体" panose="02010609060101010101" pitchFamily="49" charset="-122"/>
              </a:rPr>
              <a:t>微分：</a:t>
            </a:r>
            <a:endParaRPr lang="zh-CN" altLang="en-US" sz="3200" b="1" dirty="0">
              <a:latin typeface="黑体" panose="02010609060101010101" pitchFamily="49" charset="-122"/>
              <a:ea typeface="黑体" panose="02010609060101010101" pitchFamily="49" charset="-122"/>
            </a:endParaRPr>
          </a:p>
        </p:txBody>
      </p:sp>
      <p:graphicFrame>
        <p:nvGraphicFramePr>
          <p:cNvPr id="41988" name="对象 7172"/>
          <p:cNvGraphicFramePr/>
          <p:nvPr/>
        </p:nvGraphicFramePr>
        <p:xfrm>
          <a:off x="2843213" y="2708275"/>
          <a:ext cx="3241675" cy="1250950"/>
        </p:xfrm>
        <a:graphic>
          <a:graphicData uri="http://schemas.openxmlformats.org/presentationml/2006/ole">
            <mc:AlternateContent xmlns:mc="http://schemas.openxmlformats.org/markup-compatibility/2006">
              <mc:Choice xmlns:v="urn:schemas-microsoft-com:vml" Requires="v">
                <p:oleObj spid="_x0000_s2081" name="" r:id="rId3" imgW="744855" imgH="287655" progId="Equation.DSMT4">
                  <p:embed/>
                </p:oleObj>
              </mc:Choice>
              <mc:Fallback>
                <p:oleObj name="" r:id="rId3" imgW="744855" imgH="287655" progId="Equation.DSMT4">
                  <p:embed/>
                  <p:pic>
                    <p:nvPicPr>
                      <p:cNvPr id="0" name="对象 7172"/>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843213" y="2708275"/>
                        <a:ext cx="3241675" cy="1250950"/>
                      </a:xfrm>
                      <a:prstGeom prst="rect">
                        <a:avLst/>
                      </a:prstGeom>
                      <a:noFill/>
                      <a:ln w="25400">
                        <a:solidFill>
                          <a:srgbClr val="FF0000"/>
                        </a:solidFill>
                        <a:miter lim="800000"/>
                        <a:headEnd/>
                        <a:tailEnd/>
                      </a:ln>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1989" name="矩形 7173"/>
          <p:cNvSpPr>
            <a:spLocks noChangeArrowheads="1"/>
          </p:cNvSpPr>
          <p:nvPr/>
        </p:nvSpPr>
        <p:spPr bwMode="auto">
          <a:xfrm>
            <a:off x="539750" y="4292600"/>
            <a:ext cx="8280400" cy="22467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sz="2800" b="1" dirty="0">
                <a:latin typeface="Tahoma" panose="020B0604030504040204" pitchFamily="34" charset="0"/>
              </a:rPr>
              <a:t>　　</a:t>
            </a:r>
            <a:r>
              <a:rPr lang="zh-CN" altLang="en-US" sz="2800" b="1" dirty="0">
                <a:latin typeface="黑体" panose="02010609060101010101" pitchFamily="49" charset="-122"/>
                <a:ea typeface="黑体" panose="02010609060101010101" pitchFamily="49" charset="-122"/>
              </a:rPr>
              <a:t>上式为稳定流动的连续方程式。它描述了流道内的流速、比体积和截面积之间的相互制约关系。该方程由质量守恒方程得到，因此适用于任何流体、任何稳定流动过程，而不论流体（液体和气体）的性质如何以及过程是否可逆。 </a:t>
            </a:r>
            <a:endParaRPr lang="zh-CN" altLang="en-US" sz="2800" b="1" dirty="0">
              <a:latin typeface="黑体" panose="02010609060101010101" pitchFamily="49" charset="-122"/>
              <a:ea typeface="黑体" panose="02010609060101010101" pitchFamily="49" charset="-122"/>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09" name="矩形 8193"/>
          <p:cNvSpPr>
            <a:spLocks noChangeArrowheads="1"/>
          </p:cNvSpPr>
          <p:nvPr/>
        </p:nvSpPr>
        <p:spPr bwMode="auto">
          <a:xfrm>
            <a:off x="611188" y="2781300"/>
            <a:ext cx="7772400" cy="1354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a:spcBef>
                <a:spcPct val="20000"/>
              </a:spcBef>
              <a:buClr>
                <a:schemeClr val="folHlink"/>
              </a:buClr>
              <a:buSzPct val="60000"/>
              <a:buFont typeface="Wingdings" panose="05000000000000000000" pitchFamily="2" charset="2"/>
              <a:buNone/>
            </a:pPr>
            <a:r>
              <a:rPr lang="en-US" altLang="zh-CN" sz="2800" b="1" dirty="0">
                <a:latin typeface="Times New Roman" panose="02020603050405020304" pitchFamily="18" charset="0"/>
                <a:ea typeface="黑体" panose="02010609060101010101" pitchFamily="49" charset="-122"/>
                <a:cs typeface="Times New Roman" panose="02020603050405020304" pitchFamily="18" charset="0"/>
              </a:rPr>
              <a:t>1</a:t>
            </a:r>
            <a:r>
              <a:rPr lang="zh-CN" altLang="en-US" sz="2800" b="1" dirty="0">
                <a:latin typeface="Times New Roman" panose="02020603050405020304" pitchFamily="18" charset="0"/>
                <a:ea typeface="黑体" panose="02010609060101010101" pitchFamily="49" charset="-122"/>
                <a:cs typeface="Times New Roman" panose="02020603050405020304" pitchFamily="18" charset="0"/>
              </a:rPr>
              <a:t>）对于不可压缩流体（</a:t>
            </a:r>
            <a:r>
              <a:rPr lang="en-US" altLang="zh-CN" sz="2800" b="1" dirty="0">
                <a:latin typeface="Times New Roman" panose="02020603050405020304" pitchFamily="18" charset="0"/>
                <a:ea typeface="黑体" panose="02010609060101010101" pitchFamily="49" charset="-122"/>
                <a:cs typeface="Times New Roman" panose="02020603050405020304" pitchFamily="18" charset="0"/>
              </a:rPr>
              <a:t>d</a:t>
            </a:r>
            <a:r>
              <a:rPr lang="en-US" altLang="zh-CN" sz="2800" b="1" i="1" dirty="0">
                <a:latin typeface="Times New Roman" panose="02020603050405020304" pitchFamily="18" charset="0"/>
                <a:ea typeface="黑体" panose="02010609060101010101" pitchFamily="49" charset="-122"/>
                <a:cs typeface="Times New Roman" panose="02020603050405020304" pitchFamily="18" charset="0"/>
              </a:rPr>
              <a:t>v = </a:t>
            </a:r>
            <a:r>
              <a:rPr lang="en-US" altLang="zh-CN" sz="2800" b="1" dirty="0">
                <a:latin typeface="Times New Roman" panose="02020603050405020304" pitchFamily="18" charset="0"/>
                <a:ea typeface="黑体" panose="02010609060101010101" pitchFamily="49" charset="-122"/>
                <a:cs typeface="Times New Roman" panose="02020603050405020304" pitchFamily="18" charset="0"/>
              </a:rPr>
              <a:t>0</a:t>
            </a:r>
            <a:r>
              <a:rPr lang="zh-CN" altLang="en-US" sz="2800" b="1" dirty="0">
                <a:latin typeface="Times New Roman" panose="02020603050405020304" pitchFamily="18" charset="0"/>
                <a:ea typeface="黑体" panose="02010609060101010101" pitchFamily="49" charset="-122"/>
                <a:cs typeface="Times New Roman" panose="02020603050405020304" pitchFamily="18" charset="0"/>
              </a:rPr>
              <a:t>），如液体，流体速度的改变取决于截面的改变，截面积</a:t>
            </a:r>
            <a:r>
              <a:rPr lang="en-US" altLang="zh-CN" sz="2800" b="1" i="1" dirty="0">
                <a:latin typeface="Times New Roman" panose="02020603050405020304" pitchFamily="18" charset="0"/>
                <a:ea typeface="黑体" panose="02010609060101010101" pitchFamily="49" charset="-122"/>
                <a:cs typeface="Times New Roman" panose="02020603050405020304" pitchFamily="18" charset="0"/>
              </a:rPr>
              <a:t>A</a:t>
            </a:r>
            <a:r>
              <a:rPr lang="zh-CN" altLang="en-US" sz="2800" b="1" dirty="0">
                <a:latin typeface="Times New Roman" panose="02020603050405020304" pitchFamily="18" charset="0"/>
                <a:ea typeface="黑体" panose="02010609060101010101" pitchFamily="49" charset="-122"/>
                <a:cs typeface="Times New Roman" panose="02020603050405020304" pitchFamily="18" charset="0"/>
              </a:rPr>
              <a:t>与流速</a:t>
            </a:r>
            <a:r>
              <a:rPr lang="en-US" altLang="zh-CN" sz="2800" b="1" i="1" dirty="0" err="1">
                <a:latin typeface="Times New Roman" panose="02020603050405020304" pitchFamily="18" charset="0"/>
                <a:ea typeface="黑体" panose="02010609060101010101" pitchFamily="49" charset="-122"/>
                <a:cs typeface="Times New Roman" panose="02020603050405020304" pitchFamily="18" charset="0"/>
              </a:rPr>
              <a:t>c</a:t>
            </a:r>
            <a:r>
              <a:rPr lang="en-US" altLang="zh-CN" sz="2800" b="1" baseline="-25000" dirty="0" err="1">
                <a:latin typeface="Times New Roman" panose="02020603050405020304" pitchFamily="18" charset="0"/>
                <a:ea typeface="黑体" panose="02010609060101010101" pitchFamily="49" charset="-122"/>
                <a:cs typeface="Times New Roman" panose="02020603050405020304" pitchFamily="18" charset="0"/>
              </a:rPr>
              <a:t>f</a:t>
            </a:r>
            <a:r>
              <a:rPr lang="zh-CN" altLang="en-US" sz="2800" b="1" dirty="0">
                <a:latin typeface="Times New Roman" panose="02020603050405020304" pitchFamily="18" charset="0"/>
                <a:ea typeface="黑体" panose="02010609060101010101" pitchFamily="49" charset="-122"/>
                <a:cs typeface="Times New Roman" panose="02020603050405020304" pitchFamily="18" charset="0"/>
              </a:rPr>
              <a:t>成反比；</a:t>
            </a:r>
            <a:endParaRPr lang="zh-CN" altLang="en-US" sz="2800" b="1" dirty="0">
              <a:latin typeface="Times New Roman" panose="02020603050405020304" pitchFamily="18" charset="0"/>
              <a:ea typeface="黑体" panose="02010609060101010101" pitchFamily="49" charset="-122"/>
              <a:cs typeface="Times New Roman" panose="02020603050405020304" pitchFamily="18" charset="0"/>
            </a:endParaRPr>
          </a:p>
        </p:txBody>
      </p:sp>
      <p:sp>
        <p:nvSpPr>
          <p:cNvPr id="43010" name="矩形 8194"/>
          <p:cNvSpPr>
            <a:spLocks noChangeArrowheads="1"/>
          </p:cNvSpPr>
          <p:nvPr/>
        </p:nvSpPr>
        <p:spPr bwMode="auto">
          <a:xfrm>
            <a:off x="179388" y="1052513"/>
            <a:ext cx="1871662"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sz="3200" b="1" dirty="0">
                <a:latin typeface="黑体" panose="02010609060101010101" pitchFamily="49" charset="-122"/>
                <a:ea typeface="黑体" panose="02010609060101010101" pitchFamily="49" charset="-122"/>
              </a:rPr>
              <a:t>结论：</a:t>
            </a:r>
            <a:endParaRPr lang="zh-CN" altLang="en-US" sz="3200" dirty="0">
              <a:latin typeface="黑体" panose="02010609060101010101" pitchFamily="49" charset="-122"/>
              <a:ea typeface="黑体" panose="02010609060101010101" pitchFamily="49" charset="-122"/>
            </a:endParaRPr>
          </a:p>
        </p:txBody>
      </p:sp>
      <p:sp>
        <p:nvSpPr>
          <p:cNvPr id="43011" name="矩形 8196"/>
          <p:cNvSpPr>
            <a:spLocks noChangeArrowheads="1"/>
          </p:cNvSpPr>
          <p:nvPr/>
        </p:nvSpPr>
        <p:spPr bwMode="auto">
          <a:xfrm>
            <a:off x="684213" y="4724400"/>
            <a:ext cx="7772400" cy="865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a:spcBef>
                <a:spcPct val="20000"/>
              </a:spcBef>
              <a:buClr>
                <a:schemeClr val="folHlink"/>
              </a:buClr>
              <a:buSzPct val="60000"/>
              <a:buFont typeface="Wingdings" panose="05000000000000000000" pitchFamily="2" charset="2"/>
              <a:buNone/>
            </a:pPr>
            <a:r>
              <a:rPr lang="en-US" altLang="zh-CN" sz="2800" b="1" dirty="0">
                <a:latin typeface="黑体" panose="02010609060101010101" pitchFamily="49" charset="-122"/>
                <a:ea typeface="黑体" panose="02010609060101010101" pitchFamily="49" charset="-122"/>
              </a:rPr>
              <a:t>2</a:t>
            </a:r>
            <a:r>
              <a:rPr lang="zh-CN" altLang="en-US" sz="2800" b="1" dirty="0">
                <a:latin typeface="黑体" panose="02010609060101010101" pitchFamily="49" charset="-122"/>
                <a:ea typeface="黑体" panose="02010609060101010101" pitchFamily="49" charset="-122"/>
              </a:rPr>
              <a:t>）对于气体等可压缩流体，流速的变化取决于截面和比体积的综合变化。</a:t>
            </a:r>
            <a:endParaRPr lang="zh-CN" altLang="en-US" sz="2800" b="1" dirty="0">
              <a:latin typeface="黑体" panose="02010609060101010101" pitchFamily="49" charset="-122"/>
              <a:ea typeface="黑体" panose="02010609060101010101" pitchFamily="49" charset="-122"/>
            </a:endParaRPr>
          </a:p>
        </p:txBody>
      </p:sp>
      <p:graphicFrame>
        <p:nvGraphicFramePr>
          <p:cNvPr id="43012" name="对象 8200"/>
          <p:cNvGraphicFramePr/>
          <p:nvPr/>
        </p:nvGraphicFramePr>
        <p:xfrm>
          <a:off x="2987675" y="549275"/>
          <a:ext cx="3241675" cy="1250950"/>
        </p:xfrm>
        <a:graphic>
          <a:graphicData uri="http://schemas.openxmlformats.org/presentationml/2006/ole">
            <mc:AlternateContent xmlns:mc="http://schemas.openxmlformats.org/markup-compatibility/2006">
              <mc:Choice xmlns:v="urn:schemas-microsoft-com:vml" Requires="v">
                <p:oleObj spid="_x0000_s3089" name="" r:id="rId1" imgW="744855" imgH="287655" progId="Equation.DSMT4">
                  <p:embed/>
                </p:oleObj>
              </mc:Choice>
              <mc:Fallback>
                <p:oleObj name="" r:id="rId1" imgW="744855" imgH="287655" progId="Equation.DSMT4">
                  <p:embed/>
                  <p:pic>
                    <p:nvPicPr>
                      <p:cNvPr id="0" name="对象 8200"/>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987675" y="549275"/>
                        <a:ext cx="3241675" cy="1250950"/>
                      </a:xfrm>
                      <a:prstGeom prst="rect">
                        <a:avLst/>
                      </a:prstGeom>
                      <a:noFill/>
                      <a:ln w="25400">
                        <a:solidFill>
                          <a:srgbClr val="FF0000"/>
                        </a:solidFill>
                        <a:miter lim="800000"/>
                        <a:headEnd/>
                        <a:tailEnd/>
                      </a:ln>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3" name="矩形 9217"/>
          <p:cNvSpPr>
            <a:spLocks noChangeArrowheads="1"/>
          </p:cNvSpPr>
          <p:nvPr/>
        </p:nvSpPr>
        <p:spPr bwMode="auto">
          <a:xfrm>
            <a:off x="310252" y="416408"/>
            <a:ext cx="6408737"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sz="3200" b="1" dirty="0">
                <a:latin typeface="黑体" panose="02010609060101010101" pitchFamily="49" charset="-122"/>
                <a:ea typeface="黑体" panose="02010609060101010101" pitchFamily="49" charset="-122"/>
              </a:rPr>
              <a:t>二、稳定流动能量守恒方程式</a:t>
            </a:r>
            <a:endParaRPr lang="zh-CN" altLang="en-US" sz="3200" b="1" dirty="0">
              <a:latin typeface="黑体" panose="02010609060101010101" pitchFamily="49" charset="-122"/>
              <a:ea typeface="黑体" panose="02010609060101010101" pitchFamily="49" charset="-122"/>
            </a:endParaRPr>
          </a:p>
        </p:txBody>
      </p:sp>
      <p:sp>
        <p:nvSpPr>
          <p:cNvPr id="44034" name="矩形 9218"/>
          <p:cNvSpPr>
            <a:spLocks noChangeArrowheads="1"/>
          </p:cNvSpPr>
          <p:nvPr/>
        </p:nvSpPr>
        <p:spPr bwMode="auto">
          <a:xfrm>
            <a:off x="971550" y="1557338"/>
            <a:ext cx="66357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sz="2800" b="1" dirty="0" smtClean="0">
                <a:latin typeface="黑体" panose="02010609060101010101" pitchFamily="49" charset="-122"/>
                <a:ea typeface="黑体" panose="02010609060101010101" pitchFamily="49" charset="-122"/>
              </a:rPr>
              <a:t>热力学第一定律的数学表达式：</a:t>
            </a:r>
            <a:endParaRPr lang="zh-CN" altLang="en-US" sz="2800" b="1" dirty="0">
              <a:latin typeface="黑体" panose="02010609060101010101" pitchFamily="49" charset="-122"/>
              <a:ea typeface="黑体" panose="02010609060101010101" pitchFamily="49" charset="-122"/>
            </a:endParaRPr>
          </a:p>
        </p:txBody>
      </p:sp>
      <p:graphicFrame>
        <p:nvGraphicFramePr>
          <p:cNvPr id="44035" name="对象 9230"/>
          <p:cNvGraphicFramePr/>
          <p:nvPr/>
        </p:nvGraphicFramePr>
        <p:xfrm>
          <a:off x="754856" y="2258047"/>
          <a:ext cx="7488237" cy="1182687"/>
        </p:xfrm>
        <a:graphic>
          <a:graphicData uri="http://schemas.openxmlformats.org/presentationml/2006/ole">
            <mc:AlternateContent xmlns:mc="http://schemas.openxmlformats.org/markup-compatibility/2006">
              <mc:Choice xmlns:v="urn:schemas-microsoft-com:vml" Requires="v">
                <p:oleObj spid="_x0000_s4114" name="" r:id="rId1" imgW="2476500" imgH="393700" progId="Equation.DSMT4">
                  <p:embed/>
                </p:oleObj>
              </mc:Choice>
              <mc:Fallback>
                <p:oleObj name="" r:id="rId1" imgW="2476500" imgH="393700" progId="Equation.DSMT4">
                  <p:embed/>
                  <p:pic>
                    <p:nvPicPr>
                      <p:cNvPr id="0" name="对象 9230"/>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54856" y="2258047"/>
                        <a:ext cx="7488237" cy="11826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44036" name="矩形 9235"/>
          <p:cNvSpPr>
            <a:spLocks noChangeArrowheads="1"/>
          </p:cNvSpPr>
          <p:nvPr/>
        </p:nvSpPr>
        <p:spPr bwMode="auto">
          <a:xfrm>
            <a:off x="466725" y="3778872"/>
            <a:ext cx="8064500" cy="946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r>
              <a:rPr lang="zh-CN" altLang="en-US" sz="2800" b="1" dirty="0">
                <a:latin typeface="黑体" panose="02010609060101010101" pitchFamily="49" charset="-122"/>
                <a:ea typeface="黑体" panose="02010609060101010101" pitchFamily="49" charset="-122"/>
              </a:rPr>
              <a:t>由能量守恒原理得到，因此对流体（液体和气体）的性质以及过程是否可逆均无限制。 </a:t>
            </a:r>
            <a:endParaRPr lang="zh-CN" altLang="en-US" sz="2800" b="1" dirty="0">
              <a:latin typeface="黑体" panose="02010609060101010101" pitchFamily="49" charset="-122"/>
              <a:ea typeface="黑体" panose="02010609060101010101" pitchFamily="49" charset="-122"/>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5057" name="对象 81923"/>
          <p:cNvGraphicFramePr/>
          <p:nvPr/>
        </p:nvGraphicFramePr>
        <p:xfrm>
          <a:off x="1619250" y="260350"/>
          <a:ext cx="5832475" cy="920750"/>
        </p:xfrm>
        <a:graphic>
          <a:graphicData uri="http://schemas.openxmlformats.org/presentationml/2006/ole">
            <mc:AlternateContent xmlns:mc="http://schemas.openxmlformats.org/markup-compatibility/2006">
              <mc:Choice xmlns:v="urn:schemas-microsoft-com:vml" Requires="v">
                <p:oleObj spid="_x0000_s5182" name="" r:id="rId1" imgW="2476500" imgH="393700" progId="Equation.DSMT4">
                  <p:embed/>
                </p:oleObj>
              </mc:Choice>
              <mc:Fallback>
                <p:oleObj name="" r:id="rId1" imgW="2476500" imgH="393700" progId="Equation.DSMT4">
                  <p:embed/>
                  <p:pic>
                    <p:nvPicPr>
                      <p:cNvPr id="0" name="对象 81923"/>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19250" y="260350"/>
                        <a:ext cx="5832475" cy="920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45058" name="矩形 81924"/>
          <p:cNvSpPr>
            <a:spLocks noChangeArrowheads="1"/>
          </p:cNvSpPr>
          <p:nvPr/>
        </p:nvSpPr>
        <p:spPr bwMode="auto">
          <a:xfrm>
            <a:off x="611188" y="1360488"/>
            <a:ext cx="7848600" cy="1800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r>
              <a:rPr lang="zh-CN" altLang="en-US" sz="2800" b="1" dirty="0">
                <a:latin typeface="黑体" panose="02010609060101010101" pitchFamily="49" charset="-122"/>
                <a:ea typeface="黑体" panose="02010609060101010101" pitchFamily="49" charset="-122"/>
              </a:rPr>
              <a:t>一般情况下，流道的位置改变不大，气体工质的质量也较小，因此气体重力势能的变化很小，可以忽略不计。此外，若流体在流动中与外界没有热量和功量的交换，上式简化为 </a:t>
            </a:r>
            <a:endParaRPr lang="zh-CN" altLang="en-US" sz="2800" b="1" dirty="0">
              <a:latin typeface="黑体" panose="02010609060101010101" pitchFamily="49" charset="-122"/>
              <a:ea typeface="黑体" panose="02010609060101010101" pitchFamily="49" charset="-122"/>
            </a:endParaRPr>
          </a:p>
        </p:txBody>
      </p:sp>
      <p:sp>
        <p:nvSpPr>
          <p:cNvPr id="45059" name="矩形 81926"/>
          <p:cNvSpPr>
            <a:spLocks noChangeArrowheads="1"/>
          </p:cNvSpPr>
          <p:nvPr/>
        </p:nvSpPr>
        <p:spPr bwMode="auto">
          <a:xfrm>
            <a:off x="0" y="323373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graphicFrame>
        <p:nvGraphicFramePr>
          <p:cNvPr id="45060" name="对象 81925"/>
          <p:cNvGraphicFramePr/>
          <p:nvPr/>
        </p:nvGraphicFramePr>
        <p:xfrm>
          <a:off x="2916238" y="3213100"/>
          <a:ext cx="3132137" cy="965200"/>
        </p:xfrm>
        <a:graphic>
          <a:graphicData uri="http://schemas.openxmlformats.org/presentationml/2006/ole">
            <mc:AlternateContent xmlns:mc="http://schemas.openxmlformats.org/markup-compatibility/2006">
              <mc:Choice xmlns:v="urn:schemas-microsoft-com:vml" Requires="v">
                <p:oleObj spid="_x0000_s5183" name="" r:id="rId3" imgW="1269365" imgH="393700" progId="Equation.DSMT4">
                  <p:embed/>
                </p:oleObj>
              </mc:Choice>
              <mc:Fallback>
                <p:oleObj name="" r:id="rId3" imgW="1269365" imgH="393700" progId="Equation.DSMT4">
                  <p:embed/>
                  <p:pic>
                    <p:nvPicPr>
                      <p:cNvPr id="0" name="对象 81925"/>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916238" y="3213100"/>
                        <a:ext cx="3132137" cy="965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45061" name="矩形 81928"/>
          <p:cNvSpPr>
            <a:spLocks noChangeArrowheads="1"/>
          </p:cNvSpPr>
          <p:nvPr/>
        </p:nvSpPr>
        <p:spPr bwMode="auto">
          <a:xfrm>
            <a:off x="0" y="323373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graphicFrame>
        <p:nvGraphicFramePr>
          <p:cNvPr id="45062" name="对象 81927"/>
          <p:cNvGraphicFramePr/>
          <p:nvPr/>
        </p:nvGraphicFramePr>
        <p:xfrm>
          <a:off x="2987675" y="4292600"/>
          <a:ext cx="2520950" cy="1022350"/>
        </p:xfrm>
        <a:graphic>
          <a:graphicData uri="http://schemas.openxmlformats.org/presentationml/2006/ole">
            <mc:AlternateContent xmlns:mc="http://schemas.openxmlformats.org/markup-compatibility/2006">
              <mc:Choice xmlns:v="urn:schemas-microsoft-com:vml" Requires="v">
                <p:oleObj spid="_x0000_s5184" name="" r:id="rId5" imgW="965200" imgH="393700" progId="Equation.DSMT4">
                  <p:embed/>
                </p:oleObj>
              </mc:Choice>
              <mc:Fallback>
                <p:oleObj name="" r:id="rId5" imgW="965200" imgH="393700" progId="Equation.DSMT4">
                  <p:embed/>
                  <p:pic>
                    <p:nvPicPr>
                      <p:cNvPr id="0" name="对象 81927"/>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987675" y="4292600"/>
                        <a:ext cx="2520950" cy="1022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45063" name="矩形 81930"/>
          <p:cNvSpPr>
            <a:spLocks noChangeArrowheads="1"/>
          </p:cNvSpPr>
          <p:nvPr/>
        </p:nvSpPr>
        <p:spPr bwMode="auto">
          <a:xfrm>
            <a:off x="1763713" y="4508500"/>
            <a:ext cx="541337"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2800" b="1" dirty="0">
                <a:latin typeface="黑体" panose="02010609060101010101" pitchFamily="49" charset="-122"/>
                <a:ea typeface="黑体" panose="02010609060101010101" pitchFamily="49" charset="-122"/>
              </a:rPr>
              <a:t>或</a:t>
            </a:r>
            <a:endParaRPr lang="zh-CN" altLang="en-US" sz="2800" b="1" dirty="0">
              <a:latin typeface="黑体" panose="02010609060101010101" pitchFamily="49" charset="-122"/>
              <a:ea typeface="黑体" panose="02010609060101010101" pitchFamily="49" charset="-122"/>
            </a:endParaRPr>
          </a:p>
        </p:txBody>
      </p:sp>
      <p:sp>
        <p:nvSpPr>
          <p:cNvPr id="45064" name="矩形 81932"/>
          <p:cNvSpPr>
            <a:spLocks noChangeArrowheads="1"/>
          </p:cNvSpPr>
          <p:nvPr/>
        </p:nvSpPr>
        <p:spPr bwMode="auto">
          <a:xfrm>
            <a:off x="0" y="321468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graphicFrame>
        <p:nvGraphicFramePr>
          <p:cNvPr id="45065" name="对象 81931"/>
          <p:cNvGraphicFramePr/>
          <p:nvPr/>
        </p:nvGraphicFramePr>
        <p:xfrm>
          <a:off x="4643438" y="5373688"/>
          <a:ext cx="2663825" cy="1069975"/>
        </p:xfrm>
        <a:graphic>
          <a:graphicData uri="http://schemas.openxmlformats.org/presentationml/2006/ole">
            <mc:AlternateContent xmlns:mc="http://schemas.openxmlformats.org/markup-compatibility/2006">
              <mc:Choice xmlns:v="urn:schemas-microsoft-com:vml" Requires="v">
                <p:oleObj spid="_x0000_s5185" name="" r:id="rId7" imgW="1066800" imgH="431800" progId="Equation.DSMT4">
                  <p:embed/>
                </p:oleObj>
              </mc:Choice>
              <mc:Fallback>
                <p:oleObj name="" r:id="rId7" imgW="1066800" imgH="431800" progId="Equation.DSMT4">
                  <p:embed/>
                  <p:pic>
                    <p:nvPicPr>
                      <p:cNvPr id="0" name="对象 81931"/>
                      <p:cNvPicPr>
                        <a:picLocks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643438" y="5373688"/>
                        <a:ext cx="2663825" cy="1069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45066" name="矩形 81933"/>
          <p:cNvSpPr>
            <a:spLocks noChangeArrowheads="1"/>
          </p:cNvSpPr>
          <p:nvPr/>
        </p:nvSpPr>
        <p:spPr bwMode="auto">
          <a:xfrm>
            <a:off x="971550" y="5589588"/>
            <a:ext cx="3430747"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2800" b="1" dirty="0">
                <a:latin typeface="黑体" panose="02010609060101010101" pitchFamily="49" charset="-122"/>
                <a:ea typeface="黑体" panose="02010609060101010101" pitchFamily="49" charset="-122"/>
              </a:rPr>
              <a:t>微元过程，可表示为</a:t>
            </a:r>
            <a:endParaRPr lang="zh-CN" altLang="en-US" sz="2800" b="1" dirty="0">
              <a:latin typeface="黑体" panose="02010609060101010101" pitchFamily="49" charset="-122"/>
              <a:ea typeface="黑体" panose="02010609060101010101" pitchFamily="49" charset="-122"/>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1" name="矩形 10241"/>
          <p:cNvSpPr>
            <a:spLocks noChangeArrowheads="1"/>
          </p:cNvSpPr>
          <p:nvPr/>
        </p:nvSpPr>
        <p:spPr bwMode="auto">
          <a:xfrm>
            <a:off x="461687" y="3231460"/>
            <a:ext cx="7924800" cy="22467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457200" indent="-457200">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indent="0">
              <a:spcBef>
                <a:spcPct val="50000"/>
              </a:spcBef>
              <a:buClr>
                <a:schemeClr val="folHlink"/>
              </a:buClr>
              <a:buSzPct val="60000"/>
              <a:buFont typeface="Wingdings" panose="05000000000000000000" pitchFamily="2" charset="2"/>
              <a:buNone/>
            </a:pPr>
            <a:r>
              <a:rPr lang="zh-CN" altLang="en-US" sz="2800" b="1" dirty="0" smtClean="0">
                <a:latin typeface="黑体" panose="02010609060101010101" pitchFamily="49" charset="-122"/>
                <a:ea typeface="黑体" panose="02010609060101010101" pitchFamily="49" charset="-122"/>
              </a:rPr>
              <a:t>流体在绝热、无功量交换且忽略重力势能变化的稳定流动过程中，任一</a:t>
            </a:r>
            <a:r>
              <a:rPr lang="zh-CN" altLang="en-US" sz="2800" b="1" dirty="0">
                <a:latin typeface="黑体" panose="02010609060101010101" pitchFamily="49" charset="-122"/>
                <a:ea typeface="黑体" panose="02010609060101010101" pitchFamily="49" charset="-122"/>
              </a:rPr>
              <a:t>截面上工质的焓与其动能之和保持定值</a:t>
            </a:r>
            <a:r>
              <a:rPr lang="zh-CN" altLang="en-US" sz="2800" b="1" dirty="0" smtClean="0">
                <a:latin typeface="黑体" panose="02010609060101010101" pitchFamily="49" charset="-122"/>
                <a:ea typeface="黑体" panose="02010609060101010101" pitchFamily="49" charset="-122"/>
              </a:rPr>
              <a:t>。在这种情况下，若流体的动能增加，则焓值减少；若动能减少，则焓值增加。</a:t>
            </a:r>
            <a:endParaRPr lang="zh-CN" altLang="en-US" sz="2800" b="1" dirty="0">
              <a:latin typeface="黑体" panose="02010609060101010101" pitchFamily="49" charset="-122"/>
              <a:ea typeface="黑体" panose="02010609060101010101" pitchFamily="49" charset="-122"/>
            </a:endParaRPr>
          </a:p>
        </p:txBody>
      </p:sp>
      <p:sp>
        <p:nvSpPr>
          <p:cNvPr id="46082" name="矩形 10242"/>
          <p:cNvSpPr>
            <a:spLocks noChangeArrowheads="1"/>
          </p:cNvSpPr>
          <p:nvPr/>
        </p:nvSpPr>
        <p:spPr bwMode="auto">
          <a:xfrm>
            <a:off x="461687" y="2181846"/>
            <a:ext cx="1730375"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sz="3200" b="1" dirty="0">
                <a:latin typeface="黑体" panose="02010609060101010101" pitchFamily="49" charset="-122"/>
                <a:ea typeface="黑体" panose="02010609060101010101" pitchFamily="49" charset="-122"/>
              </a:rPr>
              <a:t>结论：</a:t>
            </a:r>
            <a:endParaRPr lang="zh-CN" altLang="en-US" sz="3200" b="1" dirty="0">
              <a:latin typeface="黑体" panose="02010609060101010101" pitchFamily="49" charset="-122"/>
              <a:ea typeface="黑体" panose="02010609060101010101" pitchFamily="49" charset="-122"/>
            </a:endParaRPr>
          </a:p>
        </p:txBody>
      </p:sp>
      <p:graphicFrame>
        <p:nvGraphicFramePr>
          <p:cNvPr id="46083" name="对象 10243"/>
          <p:cNvGraphicFramePr/>
          <p:nvPr/>
        </p:nvGraphicFramePr>
        <p:xfrm>
          <a:off x="2413518" y="639142"/>
          <a:ext cx="4021137" cy="1095375"/>
        </p:xfrm>
        <a:graphic>
          <a:graphicData uri="http://schemas.openxmlformats.org/presentationml/2006/ole">
            <mc:AlternateContent xmlns:mc="http://schemas.openxmlformats.org/markup-compatibility/2006">
              <mc:Choice xmlns:v="urn:schemas-microsoft-com:vml" Requires="v">
                <p:oleObj spid="_x0000_s6161" name="" r:id="rId1" imgW="1024255" imgH="279400" progId="Equation.DSMT4">
                  <p:embed/>
                </p:oleObj>
              </mc:Choice>
              <mc:Fallback>
                <p:oleObj name="" r:id="rId1" imgW="1024255" imgH="279400" progId="Equation.DSMT4">
                  <p:embed/>
                  <p:pic>
                    <p:nvPicPr>
                      <p:cNvPr id="0" name="对象 10243"/>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13518" y="639142"/>
                        <a:ext cx="4021137" cy="1095375"/>
                      </a:xfrm>
                      <a:prstGeom prst="rect">
                        <a:avLst/>
                      </a:prstGeom>
                      <a:noFill/>
                      <a:ln w="38100">
                        <a:solidFill>
                          <a:srgbClr val="FF0000"/>
                        </a:solidFill>
                        <a:miter lim="800000"/>
                        <a:headEnd/>
                        <a:tailEnd/>
                      </a:ln>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5" name="矩形 11265"/>
          <p:cNvSpPr>
            <a:spLocks noChangeArrowheads="1"/>
          </p:cNvSpPr>
          <p:nvPr/>
        </p:nvSpPr>
        <p:spPr bwMode="auto">
          <a:xfrm>
            <a:off x="323850" y="1268413"/>
            <a:ext cx="8459788" cy="792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a:spcBef>
                <a:spcPct val="20000"/>
              </a:spcBef>
            </a:pPr>
            <a:r>
              <a:rPr lang="zh-CN" altLang="en-US" sz="3200" b="1" dirty="0">
                <a:latin typeface="黑体" panose="02010609060101010101" pitchFamily="49" charset="-122"/>
                <a:ea typeface="黑体" panose="02010609060101010101" pitchFamily="49" charset="-122"/>
              </a:rPr>
              <a:t>在</a:t>
            </a:r>
            <a:r>
              <a:rPr lang="en-US" altLang="zh-CN" sz="3200" b="1" dirty="0">
                <a:latin typeface="Times New Roman" panose="02020603050405020304" pitchFamily="18" charset="0"/>
                <a:ea typeface="黑体" panose="02010609060101010101" pitchFamily="49" charset="-122"/>
                <a:cs typeface="Times New Roman" panose="02020603050405020304" pitchFamily="18" charset="0"/>
              </a:rPr>
              <a:t>6-4</a:t>
            </a:r>
            <a:r>
              <a:rPr lang="zh-CN" altLang="en-US" sz="3200" b="1" dirty="0">
                <a:latin typeface="Times New Roman" panose="02020603050405020304" pitchFamily="18" charset="0"/>
                <a:ea typeface="黑体" panose="02010609060101010101" pitchFamily="49" charset="-122"/>
                <a:cs typeface="Times New Roman" panose="02020603050405020304" pitchFamily="18" charset="0"/>
              </a:rPr>
              <a:t>节已推导得到</a:t>
            </a:r>
            <a:r>
              <a:rPr lang="en-US" altLang="zh-CN" sz="3200" b="1" dirty="0">
                <a:latin typeface="Times New Roman" panose="02020603050405020304" pitchFamily="18" charset="0"/>
                <a:ea typeface="黑体" panose="02010609060101010101" pitchFamily="49" charset="-122"/>
                <a:cs typeface="Times New Roman" panose="02020603050405020304" pitchFamily="18" charset="0"/>
              </a:rPr>
              <a:t>1kg</a:t>
            </a:r>
            <a:r>
              <a:rPr lang="zh-CN" altLang="en-US" sz="3200" b="1" dirty="0">
                <a:latin typeface="Times New Roman" panose="02020603050405020304" pitchFamily="18" charset="0"/>
                <a:ea typeface="黑体" panose="02010609060101010101" pitchFamily="49" charset="-122"/>
                <a:cs typeface="Times New Roman" panose="02020603050405020304" pitchFamily="18" charset="0"/>
              </a:rPr>
              <a:t>流体</a:t>
            </a:r>
            <a:r>
              <a:rPr lang="zh-CN" altLang="en-US" sz="3200" b="1" dirty="0">
                <a:latin typeface="黑体" panose="02010609060101010101" pitchFamily="49" charset="-122"/>
                <a:ea typeface="黑体" panose="02010609060101010101" pitchFamily="49" charset="-122"/>
              </a:rPr>
              <a:t>稳定流动的熵方程</a:t>
            </a:r>
            <a:r>
              <a:rPr lang="zh-CN" altLang="en-US" sz="3200" dirty="0">
                <a:latin typeface="黑体" panose="02010609060101010101" pitchFamily="49" charset="-122"/>
                <a:ea typeface="黑体" panose="02010609060101010101" pitchFamily="49" charset="-122"/>
              </a:rPr>
              <a:t> </a:t>
            </a:r>
            <a:endParaRPr lang="zh-CN" altLang="en-US" sz="3200" dirty="0">
              <a:latin typeface="黑体" panose="02010609060101010101" pitchFamily="49" charset="-122"/>
              <a:ea typeface="黑体" panose="02010609060101010101" pitchFamily="49" charset="-122"/>
            </a:endParaRPr>
          </a:p>
        </p:txBody>
      </p:sp>
      <p:sp>
        <p:nvSpPr>
          <p:cNvPr id="47106" name="矩形 11266"/>
          <p:cNvSpPr>
            <a:spLocks noChangeArrowheads="1"/>
          </p:cNvSpPr>
          <p:nvPr/>
        </p:nvSpPr>
        <p:spPr bwMode="auto">
          <a:xfrm>
            <a:off x="448469" y="342107"/>
            <a:ext cx="4105275"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spcBef>
                <a:spcPct val="20000"/>
              </a:spcBef>
              <a:buClr>
                <a:schemeClr val="folHlink"/>
              </a:buClr>
              <a:buSzPct val="60000"/>
              <a:buFont typeface="Wingdings" panose="05000000000000000000" pitchFamily="2" charset="2"/>
              <a:buNone/>
            </a:pPr>
            <a:r>
              <a:rPr lang="zh-CN" altLang="en-US" sz="3200" b="1" dirty="0">
                <a:latin typeface="黑体" panose="02010609060101010101" pitchFamily="49" charset="-122"/>
                <a:ea typeface="黑体" panose="02010609060101010101" pitchFamily="49" charset="-122"/>
              </a:rPr>
              <a:t>三、</a:t>
            </a:r>
            <a:r>
              <a:rPr lang="zh-CN" altLang="en-US" sz="3200" b="1" dirty="0" smtClean="0">
                <a:latin typeface="黑体" panose="02010609060101010101" pitchFamily="49" charset="-122"/>
                <a:ea typeface="黑体" panose="02010609060101010101" pitchFamily="49" charset="-122"/>
              </a:rPr>
              <a:t>熵平衡方程</a:t>
            </a:r>
            <a:endParaRPr lang="zh-CN" altLang="en-US" sz="3200" b="1" dirty="0">
              <a:latin typeface="黑体" panose="02010609060101010101" pitchFamily="49" charset="-122"/>
              <a:ea typeface="黑体" panose="02010609060101010101" pitchFamily="49" charset="-122"/>
            </a:endParaRPr>
          </a:p>
        </p:txBody>
      </p:sp>
      <p:sp>
        <p:nvSpPr>
          <p:cNvPr id="47107" name="矩形 11269"/>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graphicFrame>
        <p:nvGraphicFramePr>
          <p:cNvPr id="47108" name="对象 11268"/>
          <p:cNvGraphicFramePr/>
          <p:nvPr/>
        </p:nvGraphicFramePr>
        <p:xfrm>
          <a:off x="2740025" y="2205038"/>
          <a:ext cx="3302000" cy="876300"/>
        </p:xfrm>
        <a:graphic>
          <a:graphicData uri="http://schemas.openxmlformats.org/presentationml/2006/ole">
            <mc:AlternateContent xmlns:mc="http://schemas.openxmlformats.org/markup-compatibility/2006">
              <mc:Choice xmlns:v="urn:schemas-microsoft-com:vml" Requires="v">
                <p:oleObj spid="_x0000_s7215" name="" r:id="rId1" imgW="1472565" imgH="393700" progId="Equation.DSMT4">
                  <p:embed/>
                </p:oleObj>
              </mc:Choice>
              <mc:Fallback>
                <p:oleObj name="" r:id="rId1" imgW="1472565" imgH="393700" progId="Equation.DSMT4">
                  <p:embed/>
                  <p:pic>
                    <p:nvPicPr>
                      <p:cNvPr id="0" name="对象 11268"/>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740025" y="2205038"/>
                        <a:ext cx="3302000" cy="876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47109" name="矩形 11270"/>
          <p:cNvSpPr>
            <a:spLocks noChangeArrowheads="1"/>
          </p:cNvSpPr>
          <p:nvPr/>
        </p:nvSpPr>
        <p:spPr bwMode="auto">
          <a:xfrm>
            <a:off x="468313" y="3213100"/>
            <a:ext cx="7983537" cy="1066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r>
              <a:rPr lang="zh-CN" altLang="en-US" sz="3200" b="1" dirty="0">
                <a:latin typeface="黑体" panose="02010609060101010101" pitchFamily="49" charset="-122"/>
                <a:ea typeface="黑体" panose="02010609060101010101" pitchFamily="49" charset="-122"/>
              </a:rPr>
              <a:t>该方程由热力学第二定律推导得到，因此对流体（液体和气体）的性质没有限制。 </a:t>
            </a:r>
            <a:endParaRPr lang="zh-CN" altLang="en-US" sz="3200" b="1" dirty="0">
              <a:latin typeface="黑体" panose="02010609060101010101" pitchFamily="49" charset="-122"/>
              <a:ea typeface="黑体" panose="02010609060101010101" pitchFamily="49" charset="-122"/>
            </a:endParaRPr>
          </a:p>
        </p:txBody>
      </p:sp>
      <p:sp>
        <p:nvSpPr>
          <p:cNvPr id="47110" name="矩形 11272"/>
          <p:cNvSpPr>
            <a:spLocks noChangeArrowheads="1"/>
          </p:cNvSpPr>
          <p:nvPr/>
        </p:nvSpPr>
        <p:spPr bwMode="auto">
          <a:xfrm>
            <a:off x="827088" y="4578857"/>
            <a:ext cx="2863284"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r>
              <a:rPr lang="zh-CN" altLang="en-US" sz="3200" b="1" dirty="0">
                <a:latin typeface="黑体" panose="02010609060101010101" pitchFamily="49" charset="-122"/>
                <a:ea typeface="黑体" panose="02010609060101010101" pitchFamily="49" charset="-122"/>
              </a:rPr>
              <a:t>当过程可逆时 </a:t>
            </a:r>
            <a:endParaRPr lang="zh-CN" altLang="en-US" sz="3200" b="1" dirty="0">
              <a:latin typeface="黑体" panose="02010609060101010101" pitchFamily="49" charset="-122"/>
              <a:ea typeface="黑体" panose="02010609060101010101" pitchFamily="49" charset="-122"/>
            </a:endParaRPr>
          </a:p>
        </p:txBody>
      </p:sp>
      <p:sp>
        <p:nvSpPr>
          <p:cNvPr id="47111" name="矩形 11274"/>
          <p:cNvSpPr>
            <a:spLocks noChangeArrowheads="1"/>
          </p:cNvSpPr>
          <p:nvPr/>
        </p:nvSpPr>
        <p:spPr bwMode="auto">
          <a:xfrm>
            <a:off x="0" y="330993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graphicFrame>
        <p:nvGraphicFramePr>
          <p:cNvPr id="47112" name="对象 11273"/>
          <p:cNvGraphicFramePr/>
          <p:nvPr/>
        </p:nvGraphicFramePr>
        <p:xfrm>
          <a:off x="3973513" y="4508500"/>
          <a:ext cx="1339850" cy="815975"/>
        </p:xfrm>
        <a:graphic>
          <a:graphicData uri="http://schemas.openxmlformats.org/presentationml/2006/ole">
            <mc:AlternateContent xmlns:mc="http://schemas.openxmlformats.org/markup-compatibility/2006">
              <mc:Choice xmlns:v="urn:schemas-microsoft-com:vml" Requires="v">
                <p:oleObj spid="_x0000_s7216" name="" r:id="rId3" imgW="393700" imgH="241300" progId="Equation.DSMT4">
                  <p:embed/>
                </p:oleObj>
              </mc:Choice>
              <mc:Fallback>
                <p:oleObj name="" r:id="rId3" imgW="393700" imgH="241300" progId="Equation.DSMT4">
                  <p:embed/>
                  <p:pic>
                    <p:nvPicPr>
                      <p:cNvPr id="0" name="对象 11273"/>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973513" y="4508500"/>
                        <a:ext cx="1339850" cy="815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47114" name="对象 11275"/>
          <p:cNvGraphicFramePr/>
          <p:nvPr/>
        </p:nvGraphicFramePr>
        <p:xfrm>
          <a:off x="4189413" y="5516563"/>
          <a:ext cx="1339850" cy="815975"/>
        </p:xfrm>
        <a:graphic>
          <a:graphicData uri="http://schemas.openxmlformats.org/presentationml/2006/ole">
            <mc:AlternateContent xmlns:mc="http://schemas.openxmlformats.org/markup-compatibility/2006">
              <mc:Choice xmlns:v="urn:schemas-microsoft-com:vml" Requires="v">
                <p:oleObj spid="_x0000_s7217" name="Equation" r:id="rId5" imgW="393700" imgH="241300" progId="Equation.DSMT4">
                  <p:embed/>
                </p:oleObj>
              </mc:Choice>
              <mc:Fallback>
                <p:oleObj name="Equation" r:id="rId5" imgW="393700" imgH="241300" progId="Equation.DSMT4">
                  <p:embed/>
                  <p:pic>
                    <p:nvPicPr>
                      <p:cNvPr id="0" name="对象 11275"/>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189413" y="5516563"/>
                        <a:ext cx="1339850" cy="815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47115" name="矩形 11277"/>
          <p:cNvSpPr>
            <a:spLocks noChangeArrowheads="1"/>
          </p:cNvSpPr>
          <p:nvPr/>
        </p:nvSpPr>
        <p:spPr bwMode="auto">
          <a:xfrm>
            <a:off x="767591" y="5553075"/>
            <a:ext cx="3275256"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r>
              <a:rPr lang="zh-CN" altLang="en-US" sz="3200" b="1" dirty="0">
                <a:latin typeface="黑体" panose="02010609060101010101" pitchFamily="49" charset="-122"/>
                <a:ea typeface="黑体" panose="02010609060101010101" pitchFamily="49" charset="-122"/>
              </a:rPr>
              <a:t>当过程不可逆时 </a:t>
            </a:r>
            <a:endParaRPr lang="zh-CN" altLang="en-US" sz="3200" b="1" dirty="0">
              <a:latin typeface="黑体" panose="02010609060101010101" pitchFamily="49" charset="-122"/>
              <a:ea typeface="黑体" panose="02010609060101010101" pitchFamily="49" charset="-122"/>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29" name="矩形 82946"/>
          <p:cNvSpPr>
            <a:spLocks noChangeArrowheads="1"/>
          </p:cNvSpPr>
          <p:nvPr/>
        </p:nvSpPr>
        <p:spPr bwMode="auto">
          <a:xfrm>
            <a:off x="539750" y="333375"/>
            <a:ext cx="4105275"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spcBef>
                <a:spcPct val="20000"/>
              </a:spcBef>
              <a:buClr>
                <a:schemeClr val="folHlink"/>
              </a:buClr>
              <a:buSzPct val="60000"/>
              <a:buFont typeface="Wingdings" panose="05000000000000000000" pitchFamily="2" charset="2"/>
              <a:buNone/>
            </a:pPr>
            <a:r>
              <a:rPr lang="zh-CN" altLang="en-US" sz="3200" b="1" dirty="0">
                <a:latin typeface="黑体" panose="02010609060101010101" pitchFamily="49" charset="-122"/>
                <a:ea typeface="黑体" panose="02010609060101010101" pitchFamily="49" charset="-122"/>
              </a:rPr>
              <a:t>四、状态方程</a:t>
            </a:r>
            <a:endParaRPr lang="zh-CN" altLang="en-US" sz="3200" b="1" dirty="0">
              <a:latin typeface="黑体" panose="02010609060101010101" pitchFamily="49" charset="-122"/>
              <a:ea typeface="黑体" panose="02010609060101010101" pitchFamily="49" charset="-122"/>
            </a:endParaRPr>
          </a:p>
        </p:txBody>
      </p:sp>
      <p:sp>
        <p:nvSpPr>
          <p:cNvPr id="48130" name="矩形 82947"/>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48131" name="矩形 82949"/>
          <p:cNvSpPr>
            <a:spLocks noChangeArrowheads="1"/>
          </p:cNvSpPr>
          <p:nvPr/>
        </p:nvSpPr>
        <p:spPr bwMode="auto">
          <a:xfrm>
            <a:off x="539750" y="1268413"/>
            <a:ext cx="7983538" cy="1066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pPr>
              <a:spcBef>
                <a:spcPct val="20000"/>
              </a:spcBef>
              <a:buClr>
                <a:schemeClr val="folHlink"/>
              </a:buClr>
              <a:buSzPct val="60000"/>
            </a:pPr>
            <a:r>
              <a:rPr lang="zh-CN" altLang="en-US" sz="3200" b="1" dirty="0">
                <a:latin typeface="黑体" panose="02010609060101010101" pitchFamily="49" charset="-122"/>
                <a:ea typeface="黑体" panose="02010609060101010101" pitchFamily="49" charset="-122"/>
              </a:rPr>
              <a:t>在每一个截面上，流体的基本热力学状态参数之间的关系由状态方程式来确定，即  </a:t>
            </a:r>
            <a:endParaRPr lang="zh-CN" altLang="en-US" sz="3200" b="1" dirty="0">
              <a:latin typeface="黑体" panose="02010609060101010101" pitchFamily="49" charset="-122"/>
              <a:ea typeface="黑体" panose="02010609060101010101" pitchFamily="49" charset="-122"/>
            </a:endParaRPr>
          </a:p>
        </p:txBody>
      </p:sp>
      <p:sp>
        <p:nvSpPr>
          <p:cNvPr id="48132" name="矩形 82950"/>
          <p:cNvSpPr>
            <a:spLocks noChangeArrowheads="1"/>
          </p:cNvSpPr>
          <p:nvPr/>
        </p:nvSpPr>
        <p:spPr bwMode="auto">
          <a:xfrm>
            <a:off x="468313" y="3590447"/>
            <a:ext cx="7920037" cy="11757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pPr>
              <a:spcBef>
                <a:spcPct val="20000"/>
              </a:spcBef>
              <a:buClr>
                <a:schemeClr val="folHlink"/>
              </a:buClr>
              <a:buSzPct val="60000"/>
            </a:pPr>
            <a:r>
              <a:rPr lang="zh-CN" altLang="en-US" sz="3200" b="1" dirty="0">
                <a:latin typeface="黑体" panose="02010609060101010101" pitchFamily="49" charset="-122"/>
                <a:ea typeface="黑体" panose="02010609060101010101" pitchFamily="49" charset="-122"/>
              </a:rPr>
              <a:t>上式适用于任何纯物质。</a:t>
            </a:r>
            <a:endParaRPr lang="zh-CN" altLang="en-US" sz="3200" b="1" dirty="0">
              <a:latin typeface="黑体" panose="02010609060101010101" pitchFamily="49" charset="-122"/>
              <a:ea typeface="黑体" panose="02010609060101010101" pitchFamily="49" charset="-122"/>
            </a:endParaRPr>
          </a:p>
          <a:p>
            <a:pPr>
              <a:spcBef>
                <a:spcPct val="20000"/>
              </a:spcBef>
              <a:buClr>
                <a:schemeClr val="folHlink"/>
              </a:buClr>
              <a:buSzPct val="60000"/>
            </a:pPr>
            <a:r>
              <a:rPr lang="zh-CN" altLang="en-US" sz="3200" b="1" dirty="0">
                <a:latin typeface="黑体" panose="02010609060101010101" pitchFamily="49" charset="-122"/>
                <a:ea typeface="黑体" panose="02010609060101010101" pitchFamily="49" charset="-122"/>
              </a:rPr>
              <a:t>若流体可视为理想气体，则其状态方程为  </a:t>
            </a:r>
            <a:endParaRPr lang="zh-CN" altLang="en-US" sz="3200" b="1" dirty="0">
              <a:latin typeface="黑体" panose="02010609060101010101" pitchFamily="49" charset="-122"/>
              <a:ea typeface="黑体" panose="02010609060101010101" pitchFamily="49" charset="-122"/>
            </a:endParaRPr>
          </a:p>
        </p:txBody>
      </p:sp>
      <p:sp>
        <p:nvSpPr>
          <p:cNvPr id="48133" name="矩形 82951"/>
          <p:cNvSpPr>
            <a:spLocks noChangeArrowheads="1"/>
          </p:cNvSpPr>
          <p:nvPr/>
        </p:nvSpPr>
        <p:spPr bwMode="auto">
          <a:xfrm>
            <a:off x="0" y="330993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48134" name="矩形 82957"/>
          <p:cNvSpPr>
            <a:spLocks noChangeArrowheads="1"/>
          </p:cNvSpPr>
          <p:nvPr/>
        </p:nvSpPr>
        <p:spPr bwMode="auto">
          <a:xfrm>
            <a:off x="0" y="330041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graphicFrame>
        <p:nvGraphicFramePr>
          <p:cNvPr id="48135" name="对象 82956"/>
          <p:cNvGraphicFramePr/>
          <p:nvPr/>
        </p:nvGraphicFramePr>
        <p:xfrm>
          <a:off x="3203575" y="2565400"/>
          <a:ext cx="2555875" cy="741363"/>
        </p:xfrm>
        <a:graphic>
          <a:graphicData uri="http://schemas.openxmlformats.org/presentationml/2006/ole">
            <mc:AlternateContent xmlns:mc="http://schemas.openxmlformats.org/markup-compatibility/2006">
              <mc:Choice xmlns:v="urn:schemas-microsoft-com:vml" Requires="v">
                <p:oleObj spid="_x0000_s8224" name="" r:id="rId1" imgW="888365" imgH="254000" progId="Equation.DSMT4">
                  <p:embed/>
                </p:oleObj>
              </mc:Choice>
              <mc:Fallback>
                <p:oleObj name="" r:id="rId1" imgW="888365" imgH="254000" progId="Equation.DSMT4">
                  <p:embed/>
                  <p:pic>
                    <p:nvPicPr>
                      <p:cNvPr id="0" name="对象 82956"/>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03575" y="2565400"/>
                        <a:ext cx="2555875" cy="741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48136" name="矩形 82959"/>
          <p:cNvSpPr>
            <a:spLocks noChangeArrowheads="1"/>
          </p:cNvSpPr>
          <p:nvPr/>
        </p:nvSpPr>
        <p:spPr bwMode="auto">
          <a:xfrm>
            <a:off x="0" y="330993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graphicFrame>
        <p:nvGraphicFramePr>
          <p:cNvPr id="48137" name="对象 82958"/>
          <p:cNvGraphicFramePr/>
          <p:nvPr/>
        </p:nvGraphicFramePr>
        <p:xfrm>
          <a:off x="3563938" y="5157788"/>
          <a:ext cx="1763712" cy="688975"/>
        </p:xfrm>
        <a:graphic>
          <a:graphicData uri="http://schemas.openxmlformats.org/presentationml/2006/ole">
            <mc:AlternateContent xmlns:mc="http://schemas.openxmlformats.org/markup-compatibility/2006">
              <mc:Choice xmlns:v="urn:schemas-microsoft-com:vml" Requires="v">
                <p:oleObj spid="_x0000_s8225" name="" r:id="rId3" imgW="609600" imgH="241300" progId="Equation.DSMT4">
                  <p:embed/>
                </p:oleObj>
              </mc:Choice>
              <mc:Fallback>
                <p:oleObj name="" r:id="rId3" imgW="609600" imgH="241300" progId="Equation.DSMT4">
                  <p:embed/>
                  <p:pic>
                    <p:nvPicPr>
                      <p:cNvPr id="0" name="对象 82958"/>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563938" y="5157788"/>
                        <a:ext cx="1763712" cy="688975"/>
                      </a:xfrm>
                      <a:prstGeom prst="rect">
                        <a:avLst/>
                      </a:prstGeom>
                      <a:noFill/>
                      <a:ln w="25400">
                        <a:solidFill>
                          <a:srgbClr val="FF0000"/>
                        </a:solidFill>
                        <a:miter lim="800000"/>
                        <a:headEnd/>
                        <a:tailEnd/>
                      </a:ln>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3" name="矩形 240642"/>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49154" name="矩形 240643"/>
          <p:cNvSpPr>
            <a:spLocks noChangeArrowheads="1"/>
          </p:cNvSpPr>
          <p:nvPr/>
        </p:nvSpPr>
        <p:spPr bwMode="auto">
          <a:xfrm>
            <a:off x="539750" y="928082"/>
            <a:ext cx="7983538" cy="15696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r>
              <a:rPr lang="zh-CN" altLang="en-US" sz="3200" b="1" dirty="0">
                <a:solidFill>
                  <a:srgbClr val="000000"/>
                </a:solidFill>
                <a:latin typeface="黑体" panose="02010609060101010101" pitchFamily="49" charset="-122"/>
                <a:ea typeface="黑体" panose="02010609060101010101" pitchFamily="49" charset="-122"/>
              </a:rPr>
              <a:t>以上四个方程构成了任意稳定流动所遵循的基本方程组。对于不同条件下的流动过程，可根据具体情况对这四个基本方程进行简化。</a:t>
            </a:r>
            <a:r>
              <a:rPr lang="zh-CN" altLang="en-US" sz="3200" b="1" dirty="0">
                <a:latin typeface="黑体" panose="02010609060101010101" pitchFamily="49" charset="-122"/>
                <a:ea typeface="黑体" panose="02010609060101010101" pitchFamily="49" charset="-122"/>
              </a:rPr>
              <a:t>   </a:t>
            </a:r>
            <a:endParaRPr lang="zh-CN" altLang="en-US" sz="3200" b="1" dirty="0">
              <a:latin typeface="黑体" panose="02010609060101010101" pitchFamily="49" charset="-122"/>
              <a:ea typeface="黑体" panose="02010609060101010101" pitchFamily="49" charset="-122"/>
            </a:endParaRPr>
          </a:p>
        </p:txBody>
      </p:sp>
      <p:sp>
        <p:nvSpPr>
          <p:cNvPr id="49155" name="矩形 240645"/>
          <p:cNvSpPr>
            <a:spLocks noChangeArrowheads="1"/>
          </p:cNvSpPr>
          <p:nvPr/>
        </p:nvSpPr>
        <p:spPr bwMode="auto">
          <a:xfrm>
            <a:off x="0" y="330993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49156" name="矩形 240646"/>
          <p:cNvSpPr>
            <a:spLocks noChangeArrowheads="1"/>
          </p:cNvSpPr>
          <p:nvPr/>
        </p:nvSpPr>
        <p:spPr bwMode="auto">
          <a:xfrm>
            <a:off x="0" y="330041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49157" name="矩形 240648"/>
          <p:cNvSpPr>
            <a:spLocks noChangeArrowheads="1"/>
          </p:cNvSpPr>
          <p:nvPr/>
        </p:nvSpPr>
        <p:spPr bwMode="auto">
          <a:xfrm>
            <a:off x="0" y="330993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7" name="矩形 83971"/>
          <p:cNvSpPr>
            <a:spLocks noChangeArrowheads="1"/>
          </p:cNvSpPr>
          <p:nvPr/>
        </p:nvSpPr>
        <p:spPr bwMode="auto">
          <a:xfrm>
            <a:off x="0" y="1352896"/>
            <a:ext cx="8785225" cy="191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lstStyle/>
          <a:p>
            <a:r>
              <a:rPr lang="zh-CN" altLang="en-US" sz="4000" b="1" dirty="0"/>
              <a:t>§</a:t>
            </a:r>
            <a:r>
              <a:rPr lang="en-US" altLang="zh-CN" sz="4000" b="1" dirty="0">
                <a:latin typeface="黑体" panose="02010609060101010101" pitchFamily="49" charset="-122"/>
                <a:ea typeface="黑体" panose="02010609060101010101" pitchFamily="49" charset="-122"/>
              </a:rPr>
              <a:t>10</a:t>
            </a:r>
            <a:r>
              <a:rPr lang="zh-CN" altLang="en-US" sz="4000" b="1" dirty="0">
                <a:latin typeface="黑体" panose="02010609060101010101" pitchFamily="49" charset="-122"/>
                <a:ea typeface="黑体" panose="02010609060101010101" pitchFamily="49" charset="-122"/>
              </a:rPr>
              <a:t>－</a:t>
            </a:r>
            <a:r>
              <a:rPr lang="en-US" altLang="zh-CN" sz="4000" b="1" dirty="0">
                <a:latin typeface="黑体" panose="02010609060101010101" pitchFamily="49" charset="-122"/>
                <a:ea typeface="黑体" panose="02010609060101010101" pitchFamily="49" charset="-122"/>
              </a:rPr>
              <a:t>3 </a:t>
            </a:r>
            <a:r>
              <a:rPr lang="zh-CN" altLang="en-US" sz="4000" b="1" dirty="0">
                <a:latin typeface="黑体" panose="02010609060101010101" pitchFamily="49" charset="-122"/>
                <a:ea typeface="黑体" panose="02010609060101010101" pitchFamily="49" charset="-122"/>
              </a:rPr>
              <a:t>滞止参数</a:t>
            </a:r>
            <a:r>
              <a:rPr lang="zh-CN" altLang="en-US" sz="7200" b="1" dirty="0">
                <a:latin typeface="黑体" panose="02010609060101010101" pitchFamily="49" charset="-122"/>
                <a:ea typeface="黑体" panose="02010609060101010101" pitchFamily="49" charset="-122"/>
              </a:rPr>
              <a:t> </a:t>
            </a:r>
            <a:endParaRPr lang="zh-CN" altLang="en-US" sz="7200" b="1" dirty="0">
              <a:latin typeface="黑体" panose="02010609060101010101" pitchFamily="49" charset="-122"/>
              <a:ea typeface="黑体" panose="02010609060101010101" pitchFamily="49" charset="-122"/>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1" name="矩形 84995"/>
          <p:cNvSpPr>
            <a:spLocks noChangeArrowheads="1"/>
          </p:cNvSpPr>
          <p:nvPr/>
        </p:nvSpPr>
        <p:spPr bwMode="auto">
          <a:xfrm>
            <a:off x="684213" y="333375"/>
            <a:ext cx="7561262"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sz="3200" b="1" dirty="0">
                <a:latin typeface="黑体" panose="02010609060101010101" pitchFamily="49" charset="-122"/>
                <a:ea typeface="黑体" panose="02010609060101010101" pitchFamily="49" charset="-122"/>
              </a:rPr>
              <a:t>一、什么是滞止参数？</a:t>
            </a:r>
            <a:endParaRPr lang="zh-CN" altLang="en-US" sz="3200" b="1" dirty="0">
              <a:latin typeface="黑体" panose="02010609060101010101" pitchFamily="49" charset="-122"/>
              <a:ea typeface="黑体" panose="02010609060101010101" pitchFamily="49" charset="-122"/>
            </a:endParaRPr>
          </a:p>
        </p:txBody>
      </p:sp>
      <p:sp>
        <p:nvSpPr>
          <p:cNvPr id="51202" name="矩形 84998"/>
          <p:cNvSpPr>
            <a:spLocks noChangeArrowheads="1"/>
          </p:cNvSpPr>
          <p:nvPr/>
        </p:nvSpPr>
        <p:spPr bwMode="auto">
          <a:xfrm>
            <a:off x="684213" y="1052513"/>
            <a:ext cx="8135937" cy="3081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r>
              <a:rPr lang="en-US" altLang="zh-CN" sz="2800" dirty="0"/>
              <a:t>        </a:t>
            </a:r>
            <a:endParaRPr lang="en-US" altLang="zh-CN" sz="2800" b="1" dirty="0">
              <a:latin typeface="Times New Roman" panose="02020603050405020304" pitchFamily="18" charset="0"/>
            </a:endParaRPr>
          </a:p>
          <a:p>
            <a:r>
              <a:rPr lang="zh-CN" altLang="en-US" sz="2800" b="1" dirty="0">
                <a:latin typeface="黑体" panose="02010609060101010101" pitchFamily="49" charset="-122"/>
                <a:ea typeface="黑体" panose="02010609060101010101" pitchFamily="49" charset="-122"/>
              </a:rPr>
              <a:t>在流动过程中，若流体与外界无热量和功量的交换，则根据式</a:t>
            </a:r>
            <a:endParaRPr lang="zh-CN" altLang="en-US" sz="2800" b="1" dirty="0">
              <a:latin typeface="黑体" panose="02010609060101010101" pitchFamily="49" charset="-122"/>
              <a:ea typeface="黑体" panose="02010609060101010101" pitchFamily="49" charset="-122"/>
            </a:endParaRPr>
          </a:p>
          <a:p>
            <a:endParaRPr lang="zh-CN" altLang="en-US" sz="2800" b="1" dirty="0">
              <a:latin typeface="Times New Roman" panose="02020603050405020304" pitchFamily="18" charset="0"/>
            </a:endParaRPr>
          </a:p>
          <a:p>
            <a:endParaRPr lang="zh-CN" altLang="en-US" sz="2800" b="1" dirty="0">
              <a:latin typeface="Times New Roman" panose="02020603050405020304" pitchFamily="18" charset="0"/>
            </a:endParaRPr>
          </a:p>
          <a:p>
            <a:endParaRPr lang="zh-CN" altLang="en-US" sz="2800" dirty="0">
              <a:latin typeface="Times New Roman" panose="02020603050405020304" pitchFamily="18" charset="0"/>
            </a:endParaRPr>
          </a:p>
          <a:p>
            <a:r>
              <a:rPr lang="zh-CN" altLang="en-US" sz="2800" b="1" dirty="0">
                <a:latin typeface="黑体" panose="02010609060101010101" pitchFamily="49" charset="-122"/>
                <a:ea typeface="黑体" panose="02010609060101010101" pitchFamily="49" charset="-122"/>
              </a:rPr>
              <a:t>可知，任一截面上流体的焓和动能之和恒为常数。 </a:t>
            </a:r>
            <a:endParaRPr lang="zh-CN" altLang="en-US" sz="2800" b="1" dirty="0">
              <a:latin typeface="黑体" panose="02010609060101010101" pitchFamily="49" charset="-122"/>
              <a:ea typeface="黑体" panose="02010609060101010101" pitchFamily="49" charset="-122"/>
            </a:endParaRPr>
          </a:p>
        </p:txBody>
      </p:sp>
      <p:graphicFrame>
        <p:nvGraphicFramePr>
          <p:cNvPr id="51203" name="对象 84999"/>
          <p:cNvGraphicFramePr/>
          <p:nvPr/>
        </p:nvGraphicFramePr>
        <p:xfrm>
          <a:off x="3059113" y="2492375"/>
          <a:ext cx="2520950" cy="1022350"/>
        </p:xfrm>
        <a:graphic>
          <a:graphicData uri="http://schemas.openxmlformats.org/presentationml/2006/ole">
            <mc:AlternateContent xmlns:mc="http://schemas.openxmlformats.org/markup-compatibility/2006">
              <mc:Choice xmlns:v="urn:schemas-microsoft-com:vml" Requires="v">
                <p:oleObj spid="_x0000_s9232" name="" r:id="rId1" imgW="965200" imgH="393700" progId="Equation.DSMT4">
                  <p:embed/>
                </p:oleObj>
              </mc:Choice>
              <mc:Fallback>
                <p:oleObj name="" r:id="rId1" imgW="965200" imgH="393700" progId="Equation.DSMT4">
                  <p:embed/>
                  <p:pic>
                    <p:nvPicPr>
                      <p:cNvPr id="0" name="对象 84999"/>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59113" y="2492375"/>
                        <a:ext cx="2520950" cy="1022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51204" name="矩形 85000"/>
          <p:cNvSpPr>
            <a:spLocks noChangeArrowheads="1"/>
          </p:cNvSpPr>
          <p:nvPr/>
        </p:nvSpPr>
        <p:spPr bwMode="auto">
          <a:xfrm>
            <a:off x="755650" y="4437063"/>
            <a:ext cx="7632700" cy="946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r>
              <a:rPr lang="zh-CN" altLang="en-US" sz="2800" b="1" dirty="0">
                <a:latin typeface="Times New Roman" panose="02020603050405020304" pitchFamily="18" charset="0"/>
                <a:ea typeface="黑体" panose="02010609060101010101" pitchFamily="49" charset="-122"/>
                <a:cs typeface="Times New Roman" panose="02020603050405020304" pitchFamily="18" charset="0"/>
              </a:rPr>
              <a:t>为了分析问题的方便，可以将该常数定义为</a:t>
            </a:r>
            <a:r>
              <a:rPr lang="zh-CN" altLang="en-US" sz="2800" b="1"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滞止焓</a:t>
            </a:r>
            <a:r>
              <a:rPr lang="zh-CN" altLang="en-US" sz="2800" b="1" dirty="0">
                <a:latin typeface="Times New Roman" panose="02020603050405020304" pitchFamily="18" charset="0"/>
                <a:ea typeface="黑体" panose="02010609060101010101" pitchFamily="49" charset="-122"/>
                <a:cs typeface="Times New Roman" panose="02020603050405020304" pitchFamily="18" charset="0"/>
              </a:rPr>
              <a:t>（或称为</a:t>
            </a:r>
            <a:r>
              <a:rPr lang="zh-CN" altLang="en-US" sz="2800" b="1"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总焓</a:t>
            </a:r>
            <a:r>
              <a:rPr lang="zh-CN" altLang="en-US" sz="2800" b="1" dirty="0">
                <a:latin typeface="Times New Roman" panose="02020603050405020304" pitchFamily="18" charset="0"/>
                <a:ea typeface="黑体" panose="02010609060101010101" pitchFamily="49" charset="-122"/>
                <a:cs typeface="Times New Roman" panose="02020603050405020304" pitchFamily="18" charset="0"/>
              </a:rPr>
              <a:t>），用</a:t>
            </a:r>
            <a:r>
              <a:rPr lang="en-US" altLang="zh-CN" sz="2800" i="1" dirty="0">
                <a:latin typeface="Times New Roman" panose="02020603050405020304" pitchFamily="18" charset="0"/>
                <a:ea typeface="黑体" panose="02010609060101010101" pitchFamily="49" charset="-122"/>
                <a:cs typeface="Times New Roman" panose="02020603050405020304" pitchFamily="18" charset="0"/>
              </a:rPr>
              <a:t>h</a:t>
            </a:r>
            <a:r>
              <a:rPr lang="en-US" altLang="zh-CN" sz="2800" baseline="-25000" dirty="0">
                <a:latin typeface="Times New Roman" panose="02020603050405020304" pitchFamily="18" charset="0"/>
                <a:ea typeface="黑体" panose="02010609060101010101" pitchFamily="49" charset="-122"/>
                <a:cs typeface="Times New Roman" panose="02020603050405020304" pitchFamily="18" charset="0"/>
              </a:rPr>
              <a:t>0</a:t>
            </a:r>
            <a:r>
              <a:rPr lang="zh-CN" altLang="en-US" sz="2800" b="1" dirty="0">
                <a:latin typeface="Times New Roman" panose="02020603050405020304" pitchFamily="18" charset="0"/>
                <a:ea typeface="黑体" panose="02010609060101010101" pitchFamily="49" charset="-122"/>
                <a:cs typeface="Times New Roman" panose="02020603050405020304" pitchFamily="18" charset="0"/>
              </a:rPr>
              <a:t>表示 </a:t>
            </a:r>
            <a:endParaRPr lang="zh-CN" altLang="en-US" sz="2800" b="1" dirty="0">
              <a:latin typeface="Times New Roman" panose="02020603050405020304" pitchFamily="18" charset="0"/>
              <a:ea typeface="黑体" panose="02010609060101010101" pitchFamily="49" charset="-122"/>
              <a:cs typeface="Times New Roman" panose="02020603050405020304" pitchFamily="18" charset="0"/>
            </a:endParaRPr>
          </a:p>
        </p:txBody>
      </p:sp>
      <p:sp>
        <p:nvSpPr>
          <p:cNvPr id="51205" name="矩形 85002"/>
          <p:cNvSpPr>
            <a:spLocks noChangeArrowheads="1"/>
          </p:cNvSpPr>
          <p:nvPr/>
        </p:nvSpPr>
        <p:spPr bwMode="auto">
          <a:xfrm>
            <a:off x="0" y="323373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graphicFrame>
        <p:nvGraphicFramePr>
          <p:cNvPr id="51206" name="对象 85001"/>
          <p:cNvGraphicFramePr/>
          <p:nvPr/>
        </p:nvGraphicFramePr>
        <p:xfrm>
          <a:off x="3276600" y="5445125"/>
          <a:ext cx="1800225" cy="890588"/>
        </p:xfrm>
        <a:graphic>
          <a:graphicData uri="http://schemas.openxmlformats.org/presentationml/2006/ole">
            <mc:AlternateContent xmlns:mc="http://schemas.openxmlformats.org/markup-compatibility/2006">
              <mc:Choice xmlns:v="urn:schemas-microsoft-com:vml" Requires="v">
                <p:oleObj spid="_x0000_s9233" name="" r:id="rId3" imgW="786765" imgH="393700" progId="Equation.DSMT4">
                  <p:embed/>
                </p:oleObj>
              </mc:Choice>
              <mc:Fallback>
                <p:oleObj name="" r:id="rId3" imgW="786765" imgH="393700" progId="Equation.DSMT4">
                  <p:embed/>
                  <p:pic>
                    <p:nvPicPr>
                      <p:cNvPr id="0" name="对象 85001"/>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276600" y="5445125"/>
                        <a:ext cx="1800225" cy="8905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5" name="文本占位符 87042"/>
          <p:cNvSpPr>
            <a:spLocks noGrp="1" noChangeArrowheads="1"/>
          </p:cNvSpPr>
          <p:nvPr>
            <p:ph idx="1"/>
          </p:nvPr>
        </p:nvSpPr>
        <p:spPr/>
        <p:txBody>
          <a:bodyPr>
            <a:normAutofit/>
          </a:bodyPr>
          <a:lstStyle/>
          <a:p>
            <a:pPr>
              <a:lnSpc>
                <a:spcPct val="90000"/>
              </a:lnSpc>
            </a:pPr>
            <a:r>
              <a:rPr lang="zh-CN" altLang="en-US" sz="2800" b="1" dirty="0" smtClean="0">
                <a:latin typeface="Times New Roman" panose="02020603050405020304" pitchFamily="18" charset="0"/>
                <a:ea typeface="黑体" panose="02010609060101010101" pitchFamily="49" charset="-122"/>
                <a:cs typeface="Times New Roman" panose="02020603050405020304" pitchFamily="18" charset="0"/>
              </a:rPr>
              <a:t>滞止焓是一个由焓和速度组合而成的状态参数；</a:t>
            </a:r>
            <a:endParaRPr lang="zh-CN" altLang="en-US" sz="2800" b="1" dirty="0" smtClean="0">
              <a:latin typeface="Times New Roman" panose="02020603050405020304" pitchFamily="18" charset="0"/>
              <a:ea typeface="黑体" panose="02010609060101010101" pitchFamily="49" charset="-122"/>
              <a:cs typeface="Times New Roman" panose="02020603050405020304" pitchFamily="18" charset="0"/>
            </a:endParaRPr>
          </a:p>
          <a:p>
            <a:pPr>
              <a:lnSpc>
                <a:spcPct val="90000"/>
              </a:lnSpc>
            </a:pPr>
            <a:r>
              <a:rPr lang="zh-CN" altLang="en-US" sz="2800" b="1" dirty="0" smtClean="0">
                <a:latin typeface="Times New Roman" panose="02020603050405020304" pitchFamily="18" charset="0"/>
                <a:ea typeface="黑体" panose="02010609060101010101" pitchFamily="49" charset="-122"/>
                <a:cs typeface="Times New Roman" panose="02020603050405020304" pitchFamily="18" charset="0"/>
              </a:rPr>
              <a:t>当流体的速度为</a:t>
            </a:r>
            <a:r>
              <a:rPr lang="en-US" altLang="zh-CN" sz="2800" b="1" dirty="0" smtClean="0">
                <a:latin typeface="Times New Roman" panose="02020603050405020304" pitchFamily="18" charset="0"/>
                <a:ea typeface="黑体" panose="02010609060101010101" pitchFamily="49" charset="-122"/>
                <a:cs typeface="Times New Roman" panose="02020603050405020304" pitchFamily="18" charset="0"/>
              </a:rPr>
              <a:t>0</a:t>
            </a:r>
            <a:r>
              <a:rPr lang="zh-CN" altLang="en-US" sz="2800" b="1" dirty="0" smtClean="0">
                <a:latin typeface="Times New Roman" panose="02020603050405020304" pitchFamily="18" charset="0"/>
                <a:ea typeface="黑体" panose="02010609060101010101" pitchFamily="49" charset="-122"/>
                <a:cs typeface="Times New Roman" panose="02020603050405020304" pitchFamily="18" charset="0"/>
              </a:rPr>
              <a:t>时，滞止焓等于焓。因此，滞止焓代表在绝热过程中，流体的速度完全滞止为</a:t>
            </a:r>
            <a:r>
              <a:rPr lang="en-US" altLang="zh-CN" sz="2800" b="1" dirty="0" smtClean="0">
                <a:latin typeface="Times New Roman" panose="02020603050405020304" pitchFamily="18" charset="0"/>
                <a:ea typeface="黑体" panose="02010609060101010101" pitchFamily="49" charset="-122"/>
                <a:cs typeface="Times New Roman" panose="02020603050405020304" pitchFamily="18" charset="0"/>
              </a:rPr>
              <a:t>0</a:t>
            </a:r>
            <a:r>
              <a:rPr lang="zh-CN" altLang="en-US" sz="2800" b="1" dirty="0" smtClean="0">
                <a:latin typeface="Times New Roman" panose="02020603050405020304" pitchFamily="18" charset="0"/>
                <a:ea typeface="黑体" panose="02010609060101010101" pitchFamily="49" charset="-122"/>
                <a:cs typeface="Times New Roman" panose="02020603050405020304" pitchFamily="18" charset="0"/>
              </a:rPr>
              <a:t>时所具有的焓；</a:t>
            </a:r>
            <a:endParaRPr lang="zh-CN" altLang="en-US" sz="2800" b="1" dirty="0" smtClean="0">
              <a:latin typeface="Times New Roman" panose="02020603050405020304" pitchFamily="18" charset="0"/>
              <a:ea typeface="黑体" panose="02010609060101010101" pitchFamily="49" charset="-122"/>
              <a:cs typeface="Times New Roman" panose="02020603050405020304" pitchFamily="18" charset="0"/>
            </a:endParaRPr>
          </a:p>
          <a:p>
            <a:r>
              <a:rPr lang="zh-CN" altLang="en-US" sz="2800" b="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气流经由绝热过程速度减为</a:t>
            </a:r>
            <a:r>
              <a:rPr lang="en-US" altLang="zh-CN" sz="2800" b="1" dirty="0" smtClean="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0</a:t>
            </a:r>
            <a:r>
              <a:rPr lang="zh-CN" altLang="en-US" sz="2800" b="1" dirty="0" smtClean="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时的状态称为滞止态，滞止态下气流所具有的热力参数称为滞止参数，除滞止焓之外，还有滞止温度</a:t>
            </a:r>
            <a:r>
              <a:rPr lang="en-US" altLang="zh-CN" sz="2800" b="1" i="1" dirty="0" smtClean="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T</a:t>
            </a:r>
            <a:r>
              <a:rPr lang="en-US" altLang="zh-CN" sz="2800" b="1" baseline="-25000" dirty="0" smtClean="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0</a:t>
            </a:r>
            <a:r>
              <a:rPr lang="zh-CN" altLang="en-US" sz="2800" b="1" dirty="0" smtClean="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、滞止压力</a:t>
            </a:r>
            <a:r>
              <a:rPr lang="en-US" altLang="zh-CN" sz="2800" b="1" i="1" dirty="0" smtClean="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p</a:t>
            </a:r>
            <a:r>
              <a:rPr lang="en-US" altLang="zh-CN" sz="2800" b="1" baseline="-25000"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0</a:t>
            </a:r>
            <a:r>
              <a:rPr lang="zh-CN" altLang="en-US" sz="2800" b="1" dirty="0" smtClean="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、滞止密度</a:t>
            </a:r>
            <a:r>
              <a:rPr lang="el-GR" altLang="zh-CN" sz="2800" b="1" i="1" dirty="0" smtClean="0">
                <a:solidFill>
                  <a:srgbClr val="000000"/>
                </a:solidFill>
                <a:latin typeface="Times New Roman" panose="02020603050405020304" pitchFamily="18" charset="0"/>
                <a:ea typeface="微软雅黑" panose="020B0503020204020204" charset="-122"/>
                <a:cs typeface="Times New Roman" panose="02020603050405020304" pitchFamily="18" charset="0"/>
              </a:rPr>
              <a:t>ρ</a:t>
            </a:r>
            <a:r>
              <a:rPr lang="en-US" altLang="zh-CN" sz="2800" b="1" baseline="-25000"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0</a:t>
            </a:r>
            <a:r>
              <a:rPr lang="zh-CN" altLang="en-US" sz="2800" b="1" dirty="0" smtClean="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等，用下标</a:t>
            </a:r>
            <a:r>
              <a:rPr lang="en-US" altLang="zh-CN" sz="2800" b="1" dirty="0" smtClean="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0</a:t>
            </a:r>
            <a:r>
              <a:rPr lang="zh-CN" altLang="en-US" sz="2800" b="1" dirty="0" smtClean="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来表示。</a:t>
            </a:r>
            <a:r>
              <a:rPr lang="zh-CN" altLang="en-US" sz="2800" b="1" dirty="0" smtClean="0">
                <a:latin typeface="Times New Roman" panose="02020603050405020304" pitchFamily="18" charset="0"/>
                <a:ea typeface="黑体" panose="02010609060101010101" pitchFamily="49" charset="-122"/>
                <a:cs typeface="Times New Roman" panose="02020603050405020304" pitchFamily="18" charset="0"/>
              </a:rPr>
              <a:t> </a:t>
            </a:r>
            <a:endParaRPr lang="zh-CN" altLang="en-US" sz="2800" b="1" dirty="0" smtClean="0">
              <a:latin typeface="Times New Roman" panose="02020603050405020304" pitchFamily="18" charset="0"/>
              <a:ea typeface="黑体" panose="02010609060101010101" pitchFamily="49" charset="-122"/>
              <a:cs typeface="Times New Roman" panose="02020603050405020304" pitchFamily="18" charset="0"/>
            </a:endParaRPr>
          </a:p>
        </p:txBody>
      </p:sp>
      <p:graphicFrame>
        <p:nvGraphicFramePr>
          <p:cNvPr id="52226" name="对象 87046"/>
          <p:cNvGraphicFramePr/>
          <p:nvPr/>
        </p:nvGraphicFramePr>
        <p:xfrm>
          <a:off x="2843213" y="260350"/>
          <a:ext cx="2449512" cy="1211263"/>
        </p:xfrm>
        <a:graphic>
          <a:graphicData uri="http://schemas.openxmlformats.org/presentationml/2006/ole">
            <mc:AlternateContent xmlns:mc="http://schemas.openxmlformats.org/markup-compatibility/2006">
              <mc:Choice xmlns:v="urn:schemas-microsoft-com:vml" Requires="v">
                <p:oleObj spid="_x0000_s10249" name="" r:id="rId1" imgW="786765" imgH="393700" progId="Equation.DSMT4">
                  <p:embed/>
                </p:oleObj>
              </mc:Choice>
              <mc:Fallback>
                <p:oleObj name="" r:id="rId1" imgW="786765" imgH="393700" progId="Equation.DSMT4">
                  <p:embed/>
                  <p:pic>
                    <p:nvPicPr>
                      <p:cNvPr id="0" name="对象 87046"/>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43213" y="260350"/>
                        <a:ext cx="2449512" cy="1211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49" name="矩形 86019"/>
          <p:cNvSpPr>
            <a:spLocks noChangeArrowheads="1"/>
          </p:cNvSpPr>
          <p:nvPr/>
        </p:nvSpPr>
        <p:spPr bwMode="auto">
          <a:xfrm>
            <a:off x="468313" y="333375"/>
            <a:ext cx="8496300" cy="952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spcBef>
                <a:spcPct val="50000"/>
              </a:spcBef>
              <a:buClr>
                <a:schemeClr val="folHlink"/>
              </a:buClr>
              <a:buSzPct val="60000"/>
              <a:buFont typeface="Wingdings" panose="05000000000000000000" pitchFamily="2" charset="2"/>
              <a:buNone/>
            </a:pPr>
            <a:r>
              <a:rPr lang="zh-CN" altLang="en-US" sz="2800" b="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实际的滞止现象在工程中常可以看到，例如当气流被固定壁面所阻滞时，图中的</a:t>
            </a:r>
            <a:r>
              <a:rPr lang="en-US" altLang="zh-CN" sz="2800" b="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A</a:t>
            </a:r>
            <a:r>
              <a:rPr lang="zh-CN" altLang="en-US" sz="2800" b="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点速度为</a:t>
            </a:r>
            <a:r>
              <a:rPr lang="en-US" altLang="zh-CN" sz="2800" b="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0</a:t>
            </a:r>
            <a:r>
              <a:rPr lang="zh-CN" altLang="en-US" sz="2800" b="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，为滞止点</a:t>
            </a:r>
            <a:r>
              <a:rPr lang="zh-CN" altLang="en-US" sz="2800" b="1" dirty="0">
                <a:solidFill>
                  <a:srgbClr val="000000"/>
                </a:solidFill>
                <a:latin typeface="Times New Roman" panose="02020603050405020304" pitchFamily="18" charset="0"/>
              </a:rPr>
              <a:t>。</a:t>
            </a:r>
            <a:r>
              <a:rPr lang="zh-CN" altLang="en-US" sz="2800" b="1" dirty="0">
                <a:latin typeface="Tahoma" panose="020B0604030504040204" pitchFamily="34" charset="0"/>
              </a:rPr>
              <a:t> </a:t>
            </a:r>
            <a:endParaRPr lang="zh-CN" altLang="en-US" sz="2800" b="1" dirty="0">
              <a:latin typeface="Tahoma" panose="020B0604030504040204" pitchFamily="34" charset="0"/>
            </a:endParaRPr>
          </a:p>
        </p:txBody>
      </p:sp>
      <p:sp>
        <p:nvSpPr>
          <p:cNvPr id="53250" name="矩形 86028"/>
          <p:cNvSpPr>
            <a:spLocks noChangeArrowheads="1"/>
          </p:cNvSpPr>
          <p:nvPr/>
        </p:nvSpPr>
        <p:spPr bwMode="auto">
          <a:xfrm>
            <a:off x="0" y="271938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pic>
        <p:nvPicPr>
          <p:cNvPr id="2" name="图片 1"/>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2791840" y="2001883"/>
            <a:ext cx="2950720" cy="2840982"/>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3" name="矩形 128003"/>
          <p:cNvSpPr>
            <a:spLocks noChangeArrowheads="1"/>
          </p:cNvSpPr>
          <p:nvPr/>
        </p:nvSpPr>
        <p:spPr bwMode="auto">
          <a:xfrm>
            <a:off x="611188" y="260350"/>
            <a:ext cx="7561262"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sz="3600" b="1" dirty="0">
                <a:latin typeface="黑体" panose="02010609060101010101" pitchFamily="49" charset="-122"/>
                <a:ea typeface="黑体" panose="02010609060101010101" pitchFamily="49" charset="-122"/>
              </a:rPr>
              <a:t>二、滞止参数的计算</a:t>
            </a:r>
            <a:endParaRPr lang="zh-CN" altLang="en-US" sz="3600" b="1" dirty="0">
              <a:latin typeface="黑体" panose="02010609060101010101" pitchFamily="49" charset="-122"/>
              <a:ea typeface="黑体" panose="02010609060101010101" pitchFamily="49" charset="-122"/>
            </a:endParaRPr>
          </a:p>
        </p:txBody>
      </p:sp>
      <p:sp>
        <p:nvSpPr>
          <p:cNvPr id="54274" name="矩形 128004"/>
          <p:cNvSpPr>
            <a:spLocks noChangeArrowheads="1"/>
          </p:cNvSpPr>
          <p:nvPr/>
        </p:nvSpPr>
        <p:spPr bwMode="auto">
          <a:xfrm>
            <a:off x="539750" y="1319064"/>
            <a:ext cx="8135938" cy="44627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r>
              <a:rPr lang="en-US" altLang="zh-CN" sz="2800" b="1" dirty="0">
                <a:solidFill>
                  <a:srgbClr val="000000"/>
                </a:solidFill>
                <a:latin typeface="Times New Roman" panose="02020603050405020304" pitchFamily="18" charset="0"/>
              </a:rPr>
              <a:t>         </a:t>
            </a:r>
            <a:r>
              <a:rPr lang="zh-CN" altLang="en-US" sz="3200" b="1" dirty="0">
                <a:solidFill>
                  <a:srgbClr val="000000"/>
                </a:solidFill>
                <a:latin typeface="黑体" panose="02010609060101010101" pitchFamily="49" charset="-122"/>
                <a:ea typeface="黑体" panose="02010609060101010101" pitchFamily="49" charset="-122"/>
              </a:rPr>
              <a:t>流体绝热滞止后，其焓值、温度、压力和密度均增加。因此，绝热滞止对气流所起的作用与绝热压缩相同。若滞止过程可逆，则过程中的熵不变，</a:t>
            </a:r>
            <a:r>
              <a:rPr lang="zh-CN" altLang="en-US" sz="3200" b="1" dirty="0">
                <a:solidFill>
                  <a:srgbClr val="FF0000"/>
                </a:solidFill>
                <a:latin typeface="黑体" panose="02010609060101010101" pitchFamily="49" charset="-122"/>
                <a:ea typeface="黑体" panose="02010609060101010101" pitchFamily="49" charset="-122"/>
              </a:rPr>
              <a:t>可按照可逆绝热过程的方法计算滞止参数</a:t>
            </a:r>
            <a:r>
              <a:rPr lang="zh-CN" altLang="en-US" sz="3200" b="1" dirty="0">
                <a:solidFill>
                  <a:srgbClr val="000000"/>
                </a:solidFill>
                <a:latin typeface="黑体" panose="02010609060101010101" pitchFamily="49" charset="-122"/>
                <a:ea typeface="黑体" panose="02010609060101010101" pitchFamily="49" charset="-122"/>
              </a:rPr>
              <a:t>。</a:t>
            </a:r>
            <a:endParaRPr lang="zh-CN" altLang="en-US" sz="3200" b="1" dirty="0">
              <a:solidFill>
                <a:srgbClr val="000000"/>
              </a:solidFill>
              <a:latin typeface="黑体" panose="02010609060101010101" pitchFamily="49" charset="-122"/>
              <a:ea typeface="黑体" panose="02010609060101010101" pitchFamily="49" charset="-122"/>
            </a:endParaRPr>
          </a:p>
          <a:p>
            <a:r>
              <a:rPr lang="zh-CN" altLang="en-US" sz="3200" b="1" dirty="0">
                <a:solidFill>
                  <a:srgbClr val="000000"/>
                </a:solidFill>
                <a:latin typeface="黑体" panose="02010609060101010101" pitchFamily="49" charset="-122"/>
                <a:ea typeface="黑体" panose="02010609060101010101" pitchFamily="49" charset="-122"/>
              </a:rPr>
              <a:t>        </a:t>
            </a:r>
            <a:endParaRPr lang="zh-CN" altLang="en-US" sz="3200" b="1" dirty="0">
              <a:solidFill>
                <a:srgbClr val="000000"/>
              </a:solidFill>
              <a:latin typeface="黑体" panose="02010609060101010101" pitchFamily="49" charset="-122"/>
              <a:ea typeface="黑体" panose="02010609060101010101" pitchFamily="49" charset="-122"/>
            </a:endParaRPr>
          </a:p>
          <a:p>
            <a:r>
              <a:rPr lang="zh-CN" altLang="en-US" sz="3200" b="1" dirty="0">
                <a:solidFill>
                  <a:srgbClr val="000000"/>
                </a:solidFill>
                <a:latin typeface="黑体" panose="02010609060101010101" pitchFamily="49" charset="-122"/>
                <a:ea typeface="黑体" panose="02010609060101010101" pitchFamily="49" charset="-122"/>
              </a:rPr>
              <a:t> </a:t>
            </a:r>
            <a:r>
              <a:rPr lang="zh-CN" altLang="en-US" sz="3200" b="1" dirty="0" smtClean="0">
                <a:solidFill>
                  <a:srgbClr val="000000"/>
                </a:solidFill>
                <a:latin typeface="黑体" panose="02010609060101010101" pitchFamily="49" charset="-122"/>
                <a:ea typeface="黑体" panose="02010609060101010101" pitchFamily="49" charset="-122"/>
              </a:rPr>
              <a:t>   下面</a:t>
            </a:r>
            <a:r>
              <a:rPr lang="zh-CN" altLang="en-US" sz="3200" b="1" dirty="0">
                <a:solidFill>
                  <a:srgbClr val="000000"/>
                </a:solidFill>
                <a:latin typeface="黑体" panose="02010609060101010101" pitchFamily="49" charset="-122"/>
                <a:ea typeface="黑体" panose="02010609060101010101" pitchFamily="49" charset="-122"/>
              </a:rPr>
              <a:t>先来看理想气体的滞止参数。</a:t>
            </a:r>
            <a:endParaRPr lang="zh-CN" altLang="en-US" sz="3200" b="1" dirty="0">
              <a:latin typeface="黑体" panose="02010609060101010101" pitchFamily="49" charset="-122"/>
              <a:ea typeface="黑体" panose="02010609060101010101" pitchFamily="49" charset="-122"/>
            </a:endParaRPr>
          </a:p>
          <a:p>
            <a:endParaRPr lang="zh-CN" altLang="en-US" sz="3200" b="1" dirty="0">
              <a:latin typeface="Times New Roman" panose="02020603050405020304" pitchFamily="18" charset="0"/>
            </a:endParaRPr>
          </a:p>
          <a:p>
            <a:endParaRPr lang="zh-CN" altLang="en-US" sz="2800" dirty="0">
              <a:latin typeface="Times New Roman" panose="02020603050405020304" pitchFamily="18" charset="0"/>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7" name="矩形 90116"/>
          <p:cNvSpPr>
            <a:spLocks noChangeArrowheads="1"/>
          </p:cNvSpPr>
          <p:nvPr/>
        </p:nvSpPr>
        <p:spPr bwMode="auto">
          <a:xfrm>
            <a:off x="755650" y="1700213"/>
            <a:ext cx="763270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r>
              <a:rPr lang="zh-CN" altLang="en-US" sz="2800" b="1" dirty="0">
                <a:solidFill>
                  <a:srgbClr val="000000"/>
                </a:solidFill>
                <a:latin typeface="黑体" panose="02010609060101010101" pitchFamily="49" charset="-122"/>
                <a:ea typeface="黑体" panose="02010609060101010101" pitchFamily="49" charset="-122"/>
              </a:rPr>
              <a:t>对于理想气体，假设其比热容为定值，则</a:t>
            </a:r>
            <a:endParaRPr lang="zh-CN" altLang="en-US" sz="2800" b="1" dirty="0">
              <a:latin typeface="黑体" panose="02010609060101010101" pitchFamily="49" charset="-122"/>
              <a:ea typeface="黑体" panose="02010609060101010101" pitchFamily="49" charset="-122"/>
              <a:cs typeface="Times New Roman" panose="02020603050405020304" pitchFamily="18" charset="0"/>
            </a:endParaRPr>
          </a:p>
        </p:txBody>
      </p:sp>
      <p:sp>
        <p:nvSpPr>
          <p:cNvPr id="55298" name="矩形 90117"/>
          <p:cNvSpPr>
            <a:spLocks noChangeArrowheads="1"/>
          </p:cNvSpPr>
          <p:nvPr/>
        </p:nvSpPr>
        <p:spPr bwMode="auto">
          <a:xfrm>
            <a:off x="0" y="229711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graphicFrame>
        <p:nvGraphicFramePr>
          <p:cNvPr id="55299" name="对象 90118"/>
          <p:cNvGraphicFramePr/>
          <p:nvPr/>
        </p:nvGraphicFramePr>
        <p:xfrm>
          <a:off x="827088" y="2781300"/>
          <a:ext cx="1800225" cy="890588"/>
        </p:xfrm>
        <a:graphic>
          <a:graphicData uri="http://schemas.openxmlformats.org/presentationml/2006/ole">
            <mc:AlternateContent xmlns:mc="http://schemas.openxmlformats.org/markup-compatibility/2006">
              <mc:Choice xmlns:v="urn:schemas-microsoft-com:vml" Requires="v">
                <p:oleObj spid="_x0000_s12318" name="" r:id="rId1" imgW="786765" imgH="393700" progId="Equation.DSMT4">
                  <p:embed/>
                </p:oleObj>
              </mc:Choice>
              <mc:Fallback>
                <p:oleObj name="" r:id="rId1" imgW="786765" imgH="393700" progId="Equation.DSMT4">
                  <p:embed/>
                  <p:pic>
                    <p:nvPicPr>
                      <p:cNvPr id="0" name="对象 90118"/>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27088" y="2781300"/>
                        <a:ext cx="1800225" cy="8905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55300" name="对象 90119"/>
          <p:cNvGraphicFramePr/>
          <p:nvPr/>
        </p:nvGraphicFramePr>
        <p:xfrm>
          <a:off x="3348038" y="2736850"/>
          <a:ext cx="1800225" cy="911225"/>
        </p:xfrm>
        <a:graphic>
          <a:graphicData uri="http://schemas.openxmlformats.org/presentationml/2006/ole">
            <mc:AlternateContent xmlns:mc="http://schemas.openxmlformats.org/markup-compatibility/2006">
              <mc:Choice xmlns:v="urn:schemas-microsoft-com:vml" Requires="v">
                <p:oleObj spid="_x0000_s12319" name="" r:id="rId3" imgW="774065" imgH="393700" progId="Equation.DSMT4">
                  <p:embed/>
                </p:oleObj>
              </mc:Choice>
              <mc:Fallback>
                <p:oleObj name="" r:id="rId3" imgW="774065" imgH="393700" progId="Equation.DSMT4">
                  <p:embed/>
                  <p:pic>
                    <p:nvPicPr>
                      <p:cNvPr id="0" name="对象 90119"/>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348038" y="2736850"/>
                        <a:ext cx="1800225" cy="911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55301" name="右箭头 90121"/>
          <p:cNvSpPr>
            <a:spLocks noChangeArrowheads="1"/>
          </p:cNvSpPr>
          <p:nvPr/>
        </p:nvSpPr>
        <p:spPr bwMode="auto">
          <a:xfrm>
            <a:off x="2771775" y="3194050"/>
            <a:ext cx="360363" cy="144463"/>
          </a:xfrm>
          <a:prstGeom prst="rightArrow">
            <a:avLst>
              <a:gd name="adj1" fmla="val 50000"/>
              <a:gd name="adj2" fmla="val 62259"/>
            </a:avLst>
          </a:prstGeom>
          <a:solidFill>
            <a:schemeClr val="accent1"/>
          </a:solidFill>
          <a:ln w="9525">
            <a:solidFill>
              <a:schemeClr val="tx1"/>
            </a:solidFill>
            <a:miter lim="800000"/>
          </a:ln>
        </p:spPr>
        <p:txBody>
          <a:bodyPr/>
          <a:lstStyle/>
          <a:p>
            <a:endParaRPr lang="zh-CN" altLang="en-US"/>
          </a:p>
        </p:txBody>
      </p:sp>
      <p:graphicFrame>
        <p:nvGraphicFramePr>
          <p:cNvPr id="55302" name="对象 90122"/>
          <p:cNvGraphicFramePr/>
          <p:nvPr/>
        </p:nvGraphicFramePr>
        <p:xfrm>
          <a:off x="6011863" y="2835275"/>
          <a:ext cx="2232025" cy="817563"/>
        </p:xfrm>
        <a:graphic>
          <a:graphicData uri="http://schemas.openxmlformats.org/presentationml/2006/ole">
            <mc:AlternateContent xmlns:mc="http://schemas.openxmlformats.org/markup-compatibility/2006">
              <mc:Choice xmlns:v="urn:schemas-microsoft-com:vml" Requires="v">
                <p:oleObj spid="_x0000_s12320" name="" r:id="rId5" imgW="1066165" imgH="393700" progId="Equation.DSMT4">
                  <p:embed/>
                </p:oleObj>
              </mc:Choice>
              <mc:Fallback>
                <p:oleObj name="" r:id="rId5" imgW="1066165" imgH="393700" progId="Equation.DSMT4">
                  <p:embed/>
                  <p:pic>
                    <p:nvPicPr>
                      <p:cNvPr id="0" name="对象 90122"/>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011863" y="2835275"/>
                        <a:ext cx="2232025" cy="817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55303" name="右箭头 90124"/>
          <p:cNvSpPr>
            <a:spLocks noChangeArrowheads="1"/>
          </p:cNvSpPr>
          <p:nvPr/>
        </p:nvSpPr>
        <p:spPr bwMode="auto">
          <a:xfrm>
            <a:off x="5435600" y="3194050"/>
            <a:ext cx="360363" cy="144463"/>
          </a:xfrm>
          <a:prstGeom prst="rightArrow">
            <a:avLst>
              <a:gd name="adj1" fmla="val 50000"/>
              <a:gd name="adj2" fmla="val 62259"/>
            </a:avLst>
          </a:prstGeom>
          <a:solidFill>
            <a:schemeClr val="accent1"/>
          </a:solidFill>
          <a:ln w="9525">
            <a:solidFill>
              <a:schemeClr val="tx1"/>
            </a:solidFill>
            <a:miter lim="800000"/>
          </a:ln>
        </p:spPr>
        <p:txBody>
          <a:bodyPr/>
          <a:lstStyle/>
          <a:p>
            <a:endParaRPr lang="zh-CN" altLang="en-US"/>
          </a:p>
        </p:txBody>
      </p:sp>
      <p:sp>
        <p:nvSpPr>
          <p:cNvPr id="55304" name="矩形 90126"/>
          <p:cNvSpPr>
            <a:spLocks noChangeArrowheads="1"/>
          </p:cNvSpPr>
          <p:nvPr/>
        </p:nvSpPr>
        <p:spPr bwMode="auto">
          <a:xfrm>
            <a:off x="0" y="225901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graphicFrame>
        <p:nvGraphicFramePr>
          <p:cNvPr id="55305" name="对象 90125"/>
          <p:cNvGraphicFramePr/>
          <p:nvPr/>
        </p:nvGraphicFramePr>
        <p:xfrm>
          <a:off x="3924300" y="3933825"/>
          <a:ext cx="1655763" cy="965200"/>
        </p:xfrm>
        <a:graphic>
          <a:graphicData uri="http://schemas.openxmlformats.org/presentationml/2006/ole">
            <mc:AlternateContent xmlns:mc="http://schemas.openxmlformats.org/markup-compatibility/2006">
              <mc:Choice xmlns:v="urn:schemas-microsoft-com:vml" Requires="v">
                <p:oleObj spid="_x0000_s12321" name="" r:id="rId7" imgW="799465" imgH="469900" progId="Equation.DSMT4">
                  <p:embed/>
                </p:oleObj>
              </mc:Choice>
              <mc:Fallback>
                <p:oleObj name="" r:id="rId7" imgW="799465" imgH="469900" progId="Equation.DSMT4">
                  <p:embed/>
                  <p:pic>
                    <p:nvPicPr>
                      <p:cNvPr id="0" name="对象 90125"/>
                      <p:cNvPicPr>
                        <a:picLocks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924300" y="3933825"/>
                        <a:ext cx="1655763" cy="965200"/>
                      </a:xfrm>
                      <a:prstGeom prst="rect">
                        <a:avLst/>
                      </a:prstGeom>
                      <a:noFill/>
                      <a:ln w="25400">
                        <a:solidFill>
                          <a:srgbClr val="FF0000"/>
                        </a:solidFill>
                        <a:miter lim="800000"/>
                        <a:headEnd/>
                        <a:tailEnd/>
                      </a:ln>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55306" name="右箭头 90127"/>
          <p:cNvSpPr>
            <a:spLocks noChangeArrowheads="1"/>
          </p:cNvSpPr>
          <p:nvPr/>
        </p:nvSpPr>
        <p:spPr bwMode="auto">
          <a:xfrm>
            <a:off x="3346450" y="4294188"/>
            <a:ext cx="360363" cy="144462"/>
          </a:xfrm>
          <a:prstGeom prst="rightArrow">
            <a:avLst>
              <a:gd name="adj1" fmla="val 50000"/>
              <a:gd name="adj2" fmla="val 62259"/>
            </a:avLst>
          </a:prstGeom>
          <a:solidFill>
            <a:schemeClr val="accent1"/>
          </a:solidFill>
          <a:ln w="9525">
            <a:solidFill>
              <a:schemeClr val="tx1"/>
            </a:solidFill>
            <a:miter lim="800000"/>
          </a:ln>
        </p:spPr>
        <p:txBody>
          <a:bodyPr/>
          <a:lstStyle/>
          <a:p>
            <a:endParaRPr lang="zh-CN" altLang="en-US"/>
          </a:p>
        </p:txBody>
      </p:sp>
      <p:sp>
        <p:nvSpPr>
          <p:cNvPr id="55307" name="矩形 90128"/>
          <p:cNvSpPr>
            <a:spLocks noChangeArrowheads="1"/>
          </p:cNvSpPr>
          <p:nvPr/>
        </p:nvSpPr>
        <p:spPr bwMode="auto">
          <a:xfrm>
            <a:off x="684213" y="476250"/>
            <a:ext cx="6264275"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zh-CN" sz="3200" b="1" dirty="0">
                <a:latin typeface="黑体" panose="02010609060101010101" pitchFamily="49" charset="-122"/>
                <a:ea typeface="黑体" panose="02010609060101010101" pitchFamily="49" charset="-122"/>
              </a:rPr>
              <a:t>1</a:t>
            </a:r>
            <a:r>
              <a:rPr lang="zh-CN" altLang="en-US" sz="3200" b="1" dirty="0">
                <a:latin typeface="黑体" panose="02010609060101010101" pitchFamily="49" charset="-122"/>
                <a:ea typeface="黑体" panose="02010609060101010101" pitchFamily="49" charset="-122"/>
              </a:rPr>
              <a:t>、滞止温度（总温）</a:t>
            </a:r>
            <a:endParaRPr lang="zh-CN" altLang="en-US" sz="3200" b="1" dirty="0">
              <a:latin typeface="黑体" panose="02010609060101010101" pitchFamily="49" charset="-122"/>
              <a:ea typeface="黑体" panose="02010609060101010101" pitchFamily="49" charset="-122"/>
            </a:endParaRPr>
          </a:p>
        </p:txBody>
      </p:sp>
      <p:sp>
        <p:nvSpPr>
          <p:cNvPr id="55308" name="矩形 90129"/>
          <p:cNvSpPr>
            <a:spLocks noChangeArrowheads="1"/>
          </p:cNvSpPr>
          <p:nvPr/>
        </p:nvSpPr>
        <p:spPr bwMode="auto">
          <a:xfrm>
            <a:off x="801688" y="5335587"/>
            <a:ext cx="7586662" cy="954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sz="2800" b="1" dirty="0">
                <a:latin typeface="Times New Roman" panose="02020603050405020304" pitchFamily="18" charset="0"/>
                <a:ea typeface="黑体" panose="02010609060101010101" pitchFamily="49" charset="-122"/>
                <a:cs typeface="Times New Roman" panose="02020603050405020304" pitchFamily="18" charset="0"/>
              </a:rPr>
              <a:t>其中，</a:t>
            </a:r>
            <a:r>
              <a:rPr lang="en-US" altLang="zh-CN" sz="2800" b="1" i="1" dirty="0">
                <a:latin typeface="Times New Roman" panose="02020603050405020304" pitchFamily="18" charset="0"/>
                <a:ea typeface="黑体" panose="02010609060101010101" pitchFamily="49" charset="-122"/>
                <a:cs typeface="Times New Roman" panose="02020603050405020304" pitchFamily="18" charset="0"/>
              </a:rPr>
              <a:t>T</a:t>
            </a:r>
            <a:r>
              <a:rPr lang="zh-CN" altLang="en-US" sz="2800" b="1" dirty="0">
                <a:latin typeface="Times New Roman" panose="02020603050405020304" pitchFamily="18" charset="0"/>
                <a:ea typeface="黑体" panose="02010609060101010101" pitchFamily="49" charset="-122"/>
                <a:cs typeface="Times New Roman" panose="02020603050405020304" pitchFamily="18" charset="0"/>
              </a:rPr>
              <a:t>和</a:t>
            </a:r>
            <a:r>
              <a:rPr lang="en-US" altLang="zh-CN" sz="2800" b="1" i="1" dirty="0" err="1">
                <a:latin typeface="Times New Roman" panose="02020603050405020304" pitchFamily="18" charset="0"/>
                <a:ea typeface="黑体" panose="02010609060101010101" pitchFamily="49" charset="-122"/>
                <a:cs typeface="Times New Roman" panose="02020603050405020304" pitchFamily="18" charset="0"/>
              </a:rPr>
              <a:t>c</a:t>
            </a:r>
            <a:r>
              <a:rPr lang="en-US" altLang="zh-CN" sz="2800" b="1" baseline="-25000" dirty="0" err="1">
                <a:latin typeface="Times New Roman" panose="02020603050405020304" pitchFamily="18" charset="0"/>
                <a:ea typeface="黑体" panose="02010609060101010101" pitchFamily="49" charset="-122"/>
                <a:cs typeface="Times New Roman" panose="02020603050405020304" pitchFamily="18" charset="0"/>
              </a:rPr>
              <a:t>f</a:t>
            </a:r>
            <a:r>
              <a:rPr lang="zh-CN" altLang="en-US" sz="2800" b="1" dirty="0">
                <a:latin typeface="Times New Roman" panose="02020603050405020304" pitchFamily="18" charset="0"/>
                <a:ea typeface="黑体" panose="02010609060101010101" pitchFamily="49" charset="-122"/>
                <a:cs typeface="Times New Roman" panose="02020603050405020304" pitchFamily="18" charset="0"/>
              </a:rPr>
              <a:t>分别是任一截面上气流的热力学温度和流速。</a:t>
            </a:r>
            <a:endParaRPr lang="zh-CN" altLang="en-US" sz="2800" b="1" dirty="0">
              <a:latin typeface="Times New Roman" panose="02020603050405020304" pitchFamily="18" charset="0"/>
              <a:ea typeface="黑体" panose="02010609060101010101" pitchFamily="49" charset="-122"/>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6321" name="图片 93185"/>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09550" y="1989138"/>
            <a:ext cx="4217988" cy="4602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6322" name="矩形 93186"/>
          <p:cNvSpPr>
            <a:spLocks noChangeArrowheads="1"/>
          </p:cNvSpPr>
          <p:nvPr/>
        </p:nvSpPr>
        <p:spPr bwMode="auto">
          <a:xfrm>
            <a:off x="4579938" y="4868863"/>
            <a:ext cx="215900" cy="28892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56323" name="矩形 93187"/>
          <p:cNvSpPr>
            <a:spLocks noChangeArrowheads="1"/>
          </p:cNvSpPr>
          <p:nvPr/>
        </p:nvSpPr>
        <p:spPr bwMode="auto">
          <a:xfrm>
            <a:off x="5548313" y="4868863"/>
            <a:ext cx="215900" cy="28892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56324" name="矩形 93193"/>
          <p:cNvSpPr>
            <a:spLocks noChangeArrowheads="1"/>
          </p:cNvSpPr>
          <p:nvPr/>
        </p:nvSpPr>
        <p:spPr bwMode="auto">
          <a:xfrm>
            <a:off x="395288" y="5300663"/>
            <a:ext cx="4032250" cy="136842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56325" name="矩形 93191"/>
          <p:cNvSpPr>
            <a:spLocks noChangeArrowheads="1"/>
          </p:cNvSpPr>
          <p:nvPr/>
        </p:nvSpPr>
        <p:spPr bwMode="auto">
          <a:xfrm>
            <a:off x="977262" y="1272282"/>
            <a:ext cx="6434775" cy="10772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r>
              <a:rPr lang="zh-CN" altLang="en-US" sz="2800" b="1" dirty="0" smtClean="0">
                <a:latin typeface="黑体" panose="02010609060101010101" pitchFamily="49" charset="-122"/>
                <a:ea typeface="黑体" panose="02010609060101010101" pitchFamily="49" charset="-122"/>
              </a:rPr>
              <a:t>速度为</a:t>
            </a:r>
            <a:r>
              <a:rPr lang="en-US" altLang="zh-CN" sz="2800" b="1" i="1" dirty="0" err="1" smtClean="0">
                <a:latin typeface="Times New Roman" panose="02020603050405020304" pitchFamily="18" charset="0"/>
                <a:ea typeface="黑体" panose="02010609060101010101" pitchFamily="49" charset="-122"/>
                <a:cs typeface="Times New Roman" panose="02020603050405020304" pitchFamily="18" charset="0"/>
              </a:rPr>
              <a:t>c</a:t>
            </a:r>
            <a:r>
              <a:rPr lang="en-US" altLang="zh-CN" sz="2800" b="1" baseline="-25000" dirty="0" err="1" smtClean="0">
                <a:latin typeface="Times New Roman" panose="02020603050405020304" pitchFamily="18" charset="0"/>
                <a:ea typeface="黑体" panose="02010609060101010101" pitchFamily="49" charset="-122"/>
                <a:cs typeface="Times New Roman" panose="02020603050405020304" pitchFamily="18" charset="0"/>
              </a:rPr>
              <a:t>f</a:t>
            </a:r>
            <a:r>
              <a:rPr lang="zh-CN" altLang="en-US" sz="2800" b="1" dirty="0" smtClean="0">
                <a:latin typeface="黑体" panose="02010609060101010101" pitchFamily="49" charset="-122"/>
                <a:ea typeface="黑体" panose="02010609060101010101" pitchFamily="49" charset="-122"/>
              </a:rPr>
              <a:t>的流体滞止后，其温度升高了</a:t>
            </a:r>
            <a:r>
              <a:rPr lang="zh-CN" altLang="en-US" sz="3200" b="1" dirty="0" smtClean="0">
                <a:latin typeface="黑体" panose="02010609060101010101" pitchFamily="49" charset="-122"/>
                <a:ea typeface="黑体" panose="02010609060101010101" pitchFamily="49" charset="-122"/>
              </a:rPr>
              <a:t> </a:t>
            </a:r>
            <a:endParaRPr lang="zh-CN" altLang="en-US" sz="3200" b="1" dirty="0" smtClean="0">
              <a:latin typeface="黑体" panose="02010609060101010101" pitchFamily="49" charset="-122"/>
              <a:ea typeface="黑体" panose="02010609060101010101" pitchFamily="49" charset="-122"/>
            </a:endParaRPr>
          </a:p>
          <a:p>
            <a:endParaRPr lang="zh-CN" altLang="en-US" sz="3200" dirty="0"/>
          </a:p>
        </p:txBody>
      </p:sp>
      <p:sp>
        <p:nvSpPr>
          <p:cNvPr id="56326" name="矩形 93195"/>
          <p:cNvSpPr>
            <a:spLocks noChangeArrowheads="1"/>
          </p:cNvSpPr>
          <p:nvPr/>
        </p:nvSpPr>
        <p:spPr bwMode="auto">
          <a:xfrm>
            <a:off x="0" y="329088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graphicFrame>
        <p:nvGraphicFramePr>
          <p:cNvPr id="56327" name="对象 93194"/>
          <p:cNvGraphicFramePr/>
          <p:nvPr/>
        </p:nvGraphicFramePr>
        <p:xfrm>
          <a:off x="7092950" y="1125538"/>
          <a:ext cx="638175" cy="1014412"/>
        </p:xfrm>
        <a:graphic>
          <a:graphicData uri="http://schemas.openxmlformats.org/presentationml/2006/ole">
            <mc:AlternateContent xmlns:mc="http://schemas.openxmlformats.org/markup-compatibility/2006">
              <mc:Choice xmlns:v="urn:schemas-microsoft-com:vml" Requires="v">
                <p:oleObj spid="_x0000_s13328" name="" r:id="rId2" imgW="292100" imgH="469900" progId="Equation.DSMT4">
                  <p:embed/>
                </p:oleObj>
              </mc:Choice>
              <mc:Fallback>
                <p:oleObj name="" r:id="rId2" imgW="292100" imgH="469900" progId="Equation.DSMT4">
                  <p:embed/>
                  <p:pic>
                    <p:nvPicPr>
                      <p:cNvPr id="0" name="对象 93194"/>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092950" y="1125538"/>
                        <a:ext cx="638175" cy="10144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56328" name="对象 93196"/>
          <p:cNvGraphicFramePr/>
          <p:nvPr/>
        </p:nvGraphicFramePr>
        <p:xfrm>
          <a:off x="3635375" y="188913"/>
          <a:ext cx="1655763" cy="965200"/>
        </p:xfrm>
        <a:graphic>
          <a:graphicData uri="http://schemas.openxmlformats.org/presentationml/2006/ole">
            <mc:AlternateContent xmlns:mc="http://schemas.openxmlformats.org/markup-compatibility/2006">
              <mc:Choice xmlns:v="urn:schemas-microsoft-com:vml" Requires="v">
                <p:oleObj spid="_x0000_s13329" name="" r:id="rId4" imgW="799465" imgH="469900" progId="Equation.DSMT4">
                  <p:embed/>
                </p:oleObj>
              </mc:Choice>
              <mc:Fallback>
                <p:oleObj name="" r:id="rId4" imgW="799465" imgH="469900" progId="Equation.DSMT4">
                  <p:embed/>
                  <p:pic>
                    <p:nvPicPr>
                      <p:cNvPr id="0" name="对象 93196"/>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635375" y="188913"/>
                        <a:ext cx="1655763" cy="965200"/>
                      </a:xfrm>
                      <a:prstGeom prst="rect">
                        <a:avLst/>
                      </a:prstGeom>
                      <a:noFill/>
                      <a:ln w="25400">
                        <a:solidFill>
                          <a:srgbClr val="FF0000"/>
                        </a:solidFill>
                        <a:miter lim="800000"/>
                        <a:headEnd/>
                        <a:tailEnd/>
                      </a:ln>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56329" name="矩形 93197"/>
          <p:cNvSpPr>
            <a:spLocks noChangeArrowheads="1"/>
          </p:cNvSpPr>
          <p:nvPr/>
        </p:nvSpPr>
        <p:spPr bwMode="auto">
          <a:xfrm>
            <a:off x="4500563" y="2349500"/>
            <a:ext cx="3827462" cy="3009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zh-CN" altLang="en-US" sz="2400" b="1" dirty="0">
                <a:solidFill>
                  <a:srgbClr val="000000"/>
                </a:solidFill>
                <a:latin typeface="黑体" panose="02010609060101010101" pitchFamily="49" charset="-122"/>
                <a:ea typeface="黑体" panose="02010609060101010101" pitchFamily="49" charset="-122"/>
              </a:rPr>
              <a:t>思考：常将流体在管道中的流动过程理想化为绝热的稳定流动过程。在高速流动的工质中插入温度计测量其温度时，能否直接获得准确的温度值？</a:t>
            </a:r>
            <a:endParaRPr lang="zh-CN" altLang="en-US" sz="2400" dirty="0">
              <a:solidFill>
                <a:schemeClr val="tx2"/>
              </a:solidFill>
              <a:latin typeface="黑体" panose="02010609060101010101" pitchFamily="49" charset="-122"/>
              <a:ea typeface="黑体" panose="02010609060101010101" pitchFamily="49" charset="-122"/>
            </a:endParaRPr>
          </a:p>
        </p:txBody>
      </p:sp>
      <p:sp>
        <p:nvSpPr>
          <p:cNvPr id="56330" name="矩形 93199"/>
          <p:cNvSpPr>
            <a:spLocks noChangeArrowheads="1"/>
          </p:cNvSpPr>
          <p:nvPr/>
        </p:nvSpPr>
        <p:spPr bwMode="auto">
          <a:xfrm>
            <a:off x="611188" y="5805488"/>
            <a:ext cx="842486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spcBef>
                <a:spcPct val="20000"/>
              </a:spcBef>
            </a:pPr>
            <a:r>
              <a:rPr lang="zh-CN" altLang="en-US" sz="2400" b="1" dirty="0">
                <a:solidFill>
                  <a:srgbClr val="0000FF"/>
                </a:solidFill>
                <a:latin typeface="黑体" panose="02010609060101010101" pitchFamily="49" charset="-122"/>
                <a:ea typeface="黑体" panose="02010609060101010101" pitchFamily="49" charset="-122"/>
              </a:rPr>
              <a:t>不能。温度计测得的是滞止温度而非流体的实际温度。</a:t>
            </a:r>
            <a:endParaRPr lang="zh-CN" altLang="en-US" sz="2400" b="1" dirty="0">
              <a:solidFill>
                <a:srgbClr val="0000FF"/>
              </a:solidFill>
              <a:latin typeface="黑体" panose="02010609060101010101" pitchFamily="49" charset="-122"/>
              <a:ea typeface="黑体" panose="02010609060101010101" pitchFamily="49" charset="-122"/>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7345" name="对象 94209"/>
          <p:cNvGraphicFramePr/>
          <p:nvPr/>
        </p:nvGraphicFramePr>
        <p:xfrm>
          <a:off x="5629275" y="1628775"/>
          <a:ext cx="2643188" cy="1635125"/>
        </p:xfrm>
        <a:graphic>
          <a:graphicData uri="http://schemas.openxmlformats.org/presentationml/2006/ole">
            <mc:AlternateContent xmlns:mc="http://schemas.openxmlformats.org/markup-compatibility/2006">
              <mc:Choice xmlns:v="urn:schemas-microsoft-com:vml" Requires="v">
                <p:oleObj spid="_x0000_s14373" name="" r:id="rId1" imgW="838200" imgH="520700" progId="Equation.DSMT4">
                  <p:embed/>
                </p:oleObj>
              </mc:Choice>
              <mc:Fallback>
                <p:oleObj name="" r:id="rId1" imgW="838200" imgH="520700" progId="Equation.DSMT4">
                  <p:embed/>
                  <p:pic>
                    <p:nvPicPr>
                      <p:cNvPr id="0" name="对象 94209"/>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629275" y="1628775"/>
                        <a:ext cx="2643188" cy="163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57346" name="矩形 94210"/>
          <p:cNvSpPr>
            <a:spLocks noChangeArrowheads="1"/>
          </p:cNvSpPr>
          <p:nvPr/>
        </p:nvSpPr>
        <p:spPr bwMode="auto">
          <a:xfrm>
            <a:off x="512901" y="328613"/>
            <a:ext cx="5184775"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zh-CN" sz="3200" b="1" dirty="0">
                <a:latin typeface="黑体" panose="02010609060101010101" pitchFamily="49" charset="-122"/>
                <a:ea typeface="黑体" panose="02010609060101010101" pitchFamily="49" charset="-122"/>
              </a:rPr>
              <a:t>2</a:t>
            </a:r>
            <a:r>
              <a:rPr lang="zh-CN" altLang="en-US" sz="3200" b="1" dirty="0">
                <a:latin typeface="黑体" panose="02010609060101010101" pitchFamily="49" charset="-122"/>
                <a:ea typeface="黑体" panose="02010609060101010101" pitchFamily="49" charset="-122"/>
              </a:rPr>
              <a:t>、滞止压力（总压）</a:t>
            </a:r>
            <a:endParaRPr lang="zh-CN" altLang="en-US" sz="3200" b="1" dirty="0">
              <a:latin typeface="黑体" panose="02010609060101010101" pitchFamily="49" charset="-122"/>
              <a:ea typeface="黑体" panose="02010609060101010101" pitchFamily="49" charset="-122"/>
            </a:endParaRPr>
          </a:p>
        </p:txBody>
      </p:sp>
      <p:graphicFrame>
        <p:nvGraphicFramePr>
          <p:cNvPr id="57347" name="对象 94211"/>
          <p:cNvGraphicFramePr/>
          <p:nvPr/>
        </p:nvGraphicFramePr>
        <p:xfrm>
          <a:off x="1185863" y="1484313"/>
          <a:ext cx="2644775" cy="1793875"/>
        </p:xfrm>
        <a:graphic>
          <a:graphicData uri="http://schemas.openxmlformats.org/presentationml/2006/ole">
            <mc:AlternateContent xmlns:mc="http://schemas.openxmlformats.org/markup-compatibility/2006">
              <mc:Choice xmlns:v="urn:schemas-microsoft-com:vml" Requires="v">
                <p:oleObj spid="_x0000_s14374" name="" r:id="rId3" imgW="838200" imgH="571500" progId="Equation.DSMT4">
                  <p:embed/>
                </p:oleObj>
              </mc:Choice>
              <mc:Fallback>
                <p:oleObj name="" r:id="rId3" imgW="838200" imgH="571500" progId="Equation.DSMT4">
                  <p:embed/>
                  <p:pic>
                    <p:nvPicPr>
                      <p:cNvPr id="0" name="对象 94211"/>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85863" y="1484313"/>
                        <a:ext cx="2644775" cy="179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57348" name="任意多边形 94212"/>
          <p:cNvSpPr>
            <a:spLocks noChangeArrowheads="1"/>
          </p:cNvSpPr>
          <p:nvPr/>
        </p:nvSpPr>
        <p:spPr bwMode="auto">
          <a:xfrm>
            <a:off x="4211638" y="2276475"/>
            <a:ext cx="1079500" cy="647700"/>
          </a:xfrm>
          <a:custGeom>
            <a:avLst/>
            <a:gdLst>
              <a:gd name="T0" fmla="*/ 16200 w 21600"/>
              <a:gd name="T1" fmla="*/ 0 h 21600"/>
              <a:gd name="T2" fmla="*/ 16200 w 21600"/>
              <a:gd name="T3" fmla="*/ 5400 h 21600"/>
              <a:gd name="T4" fmla="*/ 3375 w 21600"/>
              <a:gd name="T5" fmla="*/ 5400 h 21600"/>
              <a:gd name="T6" fmla="*/ 3375 w 21600"/>
              <a:gd name="T7" fmla="*/ 16200 h 21600"/>
              <a:gd name="T8" fmla="*/ 16200 w 21600"/>
              <a:gd name="T9" fmla="*/ 16200 h 21600"/>
              <a:gd name="T10" fmla="*/ 16200 w 21600"/>
              <a:gd name="T11" fmla="*/ 21600 h 21600"/>
              <a:gd name="T12" fmla="*/ 21600 w 21600"/>
              <a:gd name="T13" fmla="*/ 10800 h 21600"/>
              <a:gd name="T14" fmla="*/ 1350 w 21600"/>
              <a:gd name="T15" fmla="*/ 5400 h 21600"/>
              <a:gd name="T16" fmla="*/ 1350 w 21600"/>
              <a:gd name="T17" fmla="*/ 16200 h 21600"/>
              <a:gd name="T18" fmla="*/ 2700 w 21600"/>
              <a:gd name="T19" fmla="*/ 16200 h 21600"/>
              <a:gd name="T20" fmla="*/ 2700 w 21600"/>
              <a:gd name="T21" fmla="*/ 5400 h 21600"/>
              <a:gd name="T22" fmla="*/ 0 w 21600"/>
              <a:gd name="T23" fmla="*/ 5400 h 21600"/>
              <a:gd name="T24" fmla="*/ 0 w 21600"/>
              <a:gd name="T25" fmla="*/ 16200 h 21600"/>
              <a:gd name="T26" fmla="*/ 675 w 21600"/>
              <a:gd name="T27" fmla="*/ 16200 h 21600"/>
              <a:gd name="T28" fmla="*/ 675 w 21600"/>
              <a:gd name="T29" fmla="*/ 5400 h 216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1600" h="21600">
                <a:moveTo>
                  <a:pt x="16200" y="0"/>
                </a:moveTo>
                <a:lnTo>
                  <a:pt x="16200" y="5400"/>
                </a:lnTo>
                <a:lnTo>
                  <a:pt x="3375" y="5400"/>
                </a:lnTo>
                <a:lnTo>
                  <a:pt x="3375" y="16200"/>
                </a:lnTo>
                <a:lnTo>
                  <a:pt x="16200" y="16200"/>
                </a:lnTo>
                <a:lnTo>
                  <a:pt x="16200" y="21600"/>
                </a:lnTo>
                <a:lnTo>
                  <a:pt x="21600" y="10800"/>
                </a:lnTo>
                <a:close/>
              </a:path>
              <a:path w="21600" h="21600">
                <a:moveTo>
                  <a:pt x="1350" y="5400"/>
                </a:moveTo>
                <a:lnTo>
                  <a:pt x="1350" y="16200"/>
                </a:lnTo>
                <a:lnTo>
                  <a:pt x="2700" y="16200"/>
                </a:lnTo>
                <a:lnTo>
                  <a:pt x="2700" y="5400"/>
                </a:lnTo>
                <a:close/>
              </a:path>
              <a:path w="21600" h="21600">
                <a:moveTo>
                  <a:pt x="0" y="5400"/>
                </a:moveTo>
                <a:lnTo>
                  <a:pt x="0" y="16200"/>
                </a:lnTo>
                <a:lnTo>
                  <a:pt x="675" y="16200"/>
                </a:lnTo>
                <a:lnTo>
                  <a:pt x="675" y="5400"/>
                </a:lnTo>
                <a:close/>
              </a:path>
            </a:pathLst>
          </a:custGeom>
          <a:gradFill rotWithShape="0">
            <a:gsLst>
              <a:gs pos="0">
                <a:schemeClr val="bg1"/>
              </a:gs>
              <a:gs pos="100000">
                <a:schemeClr val="accent1"/>
              </a:gs>
            </a:gsLst>
            <a:lin ang="0" scaled="1"/>
          </a:gradFill>
          <a:ln w="9525">
            <a:solidFill>
              <a:schemeClr val="tx1"/>
            </a:solidFill>
            <a:miter lim="800000"/>
          </a:ln>
        </p:spPr>
        <p:txBody>
          <a:bodyPr/>
          <a:lstStyle/>
          <a:p>
            <a:endParaRPr lang="zh-CN" altLang="en-US"/>
          </a:p>
        </p:txBody>
      </p:sp>
      <p:sp>
        <p:nvSpPr>
          <p:cNvPr id="57349" name="任意多边形 94213"/>
          <p:cNvSpPr>
            <a:spLocks noChangeArrowheads="1"/>
          </p:cNvSpPr>
          <p:nvPr/>
        </p:nvSpPr>
        <p:spPr bwMode="auto">
          <a:xfrm>
            <a:off x="1258888" y="4221163"/>
            <a:ext cx="1079500" cy="647700"/>
          </a:xfrm>
          <a:custGeom>
            <a:avLst/>
            <a:gdLst>
              <a:gd name="T0" fmla="*/ 16200 w 21600"/>
              <a:gd name="T1" fmla="*/ 0 h 21600"/>
              <a:gd name="T2" fmla="*/ 16200 w 21600"/>
              <a:gd name="T3" fmla="*/ 5400 h 21600"/>
              <a:gd name="T4" fmla="*/ 3375 w 21600"/>
              <a:gd name="T5" fmla="*/ 5400 h 21600"/>
              <a:gd name="T6" fmla="*/ 3375 w 21600"/>
              <a:gd name="T7" fmla="*/ 16200 h 21600"/>
              <a:gd name="T8" fmla="*/ 16200 w 21600"/>
              <a:gd name="T9" fmla="*/ 16200 h 21600"/>
              <a:gd name="T10" fmla="*/ 16200 w 21600"/>
              <a:gd name="T11" fmla="*/ 21600 h 21600"/>
              <a:gd name="T12" fmla="*/ 21600 w 21600"/>
              <a:gd name="T13" fmla="*/ 10800 h 21600"/>
              <a:gd name="T14" fmla="*/ 1350 w 21600"/>
              <a:gd name="T15" fmla="*/ 5400 h 21600"/>
              <a:gd name="T16" fmla="*/ 1350 w 21600"/>
              <a:gd name="T17" fmla="*/ 16200 h 21600"/>
              <a:gd name="T18" fmla="*/ 2700 w 21600"/>
              <a:gd name="T19" fmla="*/ 16200 h 21600"/>
              <a:gd name="T20" fmla="*/ 2700 w 21600"/>
              <a:gd name="T21" fmla="*/ 5400 h 21600"/>
              <a:gd name="T22" fmla="*/ 0 w 21600"/>
              <a:gd name="T23" fmla="*/ 5400 h 21600"/>
              <a:gd name="T24" fmla="*/ 0 w 21600"/>
              <a:gd name="T25" fmla="*/ 16200 h 21600"/>
              <a:gd name="T26" fmla="*/ 675 w 21600"/>
              <a:gd name="T27" fmla="*/ 16200 h 21600"/>
              <a:gd name="T28" fmla="*/ 675 w 21600"/>
              <a:gd name="T29" fmla="*/ 5400 h 216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1600" h="21600">
                <a:moveTo>
                  <a:pt x="16200" y="0"/>
                </a:moveTo>
                <a:lnTo>
                  <a:pt x="16200" y="5400"/>
                </a:lnTo>
                <a:lnTo>
                  <a:pt x="3375" y="5400"/>
                </a:lnTo>
                <a:lnTo>
                  <a:pt x="3375" y="16200"/>
                </a:lnTo>
                <a:lnTo>
                  <a:pt x="16200" y="16200"/>
                </a:lnTo>
                <a:lnTo>
                  <a:pt x="16200" y="21600"/>
                </a:lnTo>
                <a:lnTo>
                  <a:pt x="21600" y="10800"/>
                </a:lnTo>
                <a:close/>
              </a:path>
              <a:path w="21600" h="21600">
                <a:moveTo>
                  <a:pt x="1350" y="5400"/>
                </a:moveTo>
                <a:lnTo>
                  <a:pt x="1350" y="16200"/>
                </a:lnTo>
                <a:lnTo>
                  <a:pt x="2700" y="16200"/>
                </a:lnTo>
                <a:lnTo>
                  <a:pt x="2700" y="5400"/>
                </a:lnTo>
                <a:close/>
              </a:path>
              <a:path w="21600" h="21600">
                <a:moveTo>
                  <a:pt x="0" y="5400"/>
                </a:moveTo>
                <a:lnTo>
                  <a:pt x="0" y="16200"/>
                </a:lnTo>
                <a:lnTo>
                  <a:pt x="675" y="16200"/>
                </a:lnTo>
                <a:lnTo>
                  <a:pt x="675" y="5400"/>
                </a:lnTo>
                <a:close/>
              </a:path>
            </a:pathLst>
          </a:custGeom>
          <a:gradFill rotWithShape="0">
            <a:gsLst>
              <a:gs pos="0">
                <a:schemeClr val="bg1"/>
              </a:gs>
              <a:gs pos="100000">
                <a:schemeClr val="accent1"/>
              </a:gs>
            </a:gsLst>
            <a:lin ang="0" scaled="1"/>
          </a:gradFill>
          <a:ln w="9525">
            <a:solidFill>
              <a:schemeClr val="tx1"/>
            </a:solidFill>
            <a:miter lim="800000"/>
          </a:ln>
        </p:spPr>
        <p:txBody>
          <a:bodyPr/>
          <a:lstStyle/>
          <a:p>
            <a:endParaRPr lang="zh-CN" altLang="en-US"/>
          </a:p>
        </p:txBody>
      </p:sp>
      <p:graphicFrame>
        <p:nvGraphicFramePr>
          <p:cNvPr id="57350" name="对象 94214"/>
          <p:cNvGraphicFramePr/>
          <p:nvPr/>
        </p:nvGraphicFramePr>
        <p:xfrm>
          <a:off x="2841625" y="3644900"/>
          <a:ext cx="2921000" cy="1635125"/>
        </p:xfrm>
        <a:graphic>
          <a:graphicData uri="http://schemas.openxmlformats.org/presentationml/2006/ole">
            <mc:AlternateContent xmlns:mc="http://schemas.openxmlformats.org/markup-compatibility/2006">
              <mc:Choice xmlns:v="urn:schemas-microsoft-com:vml" Requires="v">
                <p:oleObj spid="_x0000_s14375" name="" r:id="rId5" imgW="927100" imgH="520700" progId="Equation.DSMT4">
                  <p:embed/>
                </p:oleObj>
              </mc:Choice>
              <mc:Fallback>
                <p:oleObj name="" r:id="rId5" imgW="927100" imgH="520700" progId="Equation.DSMT4">
                  <p:embed/>
                  <p:pic>
                    <p:nvPicPr>
                      <p:cNvPr id="0" name="对象 94214"/>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841625" y="3644900"/>
                        <a:ext cx="2921000" cy="1635125"/>
                      </a:xfrm>
                      <a:prstGeom prst="rect">
                        <a:avLst/>
                      </a:prstGeom>
                      <a:noFill/>
                      <a:ln w="25400">
                        <a:solidFill>
                          <a:srgbClr val="FF0000"/>
                        </a:solidFill>
                        <a:miter lim="800000"/>
                        <a:headEnd/>
                        <a:tailEnd/>
                      </a:ln>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57351" name="矩形 94215"/>
          <p:cNvSpPr>
            <a:spLocks noChangeArrowheads="1"/>
          </p:cNvSpPr>
          <p:nvPr/>
        </p:nvSpPr>
        <p:spPr bwMode="auto">
          <a:xfrm>
            <a:off x="684213" y="5589588"/>
            <a:ext cx="7632700" cy="107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sz="3200" b="1" dirty="0">
                <a:latin typeface="Times New Roman" panose="02020603050405020304" pitchFamily="18" charset="0"/>
                <a:ea typeface="黑体" panose="02010609060101010101" pitchFamily="49" charset="-122"/>
                <a:cs typeface="Times New Roman" panose="02020603050405020304" pitchFamily="18" charset="0"/>
              </a:rPr>
              <a:t>其中</a:t>
            </a:r>
            <a:r>
              <a:rPr lang="en-US" altLang="zh-CN" sz="3200" b="1" i="1" dirty="0">
                <a:latin typeface="Times New Roman" panose="02020603050405020304" pitchFamily="18" charset="0"/>
                <a:ea typeface="黑体" panose="02010609060101010101" pitchFamily="49" charset="-122"/>
                <a:cs typeface="Times New Roman" panose="02020603050405020304" pitchFamily="18" charset="0"/>
              </a:rPr>
              <a:t>p</a:t>
            </a:r>
            <a:r>
              <a:rPr lang="zh-CN" altLang="en-US" sz="3200" b="1" dirty="0">
                <a:latin typeface="Times New Roman" panose="02020603050405020304" pitchFamily="18" charset="0"/>
                <a:ea typeface="黑体" panose="02010609060101010101" pitchFamily="49" charset="-122"/>
                <a:cs typeface="Times New Roman" panose="02020603050405020304" pitchFamily="18" charset="0"/>
              </a:rPr>
              <a:t>和</a:t>
            </a:r>
            <a:r>
              <a:rPr lang="en-US" altLang="zh-CN" sz="3200" b="1" i="1" dirty="0">
                <a:latin typeface="Times New Roman" panose="02020603050405020304" pitchFamily="18" charset="0"/>
                <a:ea typeface="黑体" panose="02010609060101010101" pitchFamily="49" charset="-122"/>
                <a:cs typeface="Times New Roman" panose="02020603050405020304" pitchFamily="18" charset="0"/>
              </a:rPr>
              <a:t>T</a:t>
            </a:r>
            <a:r>
              <a:rPr lang="zh-CN" altLang="en-US" sz="3200" b="1" dirty="0">
                <a:latin typeface="Times New Roman" panose="02020603050405020304" pitchFamily="18" charset="0"/>
                <a:ea typeface="黑体" panose="02010609060101010101" pitchFamily="49" charset="-122"/>
                <a:cs typeface="Times New Roman" panose="02020603050405020304" pitchFamily="18" charset="0"/>
              </a:rPr>
              <a:t>分</a:t>
            </a:r>
            <a:r>
              <a:rPr lang="zh-CN" altLang="en-US" sz="3200" b="1" dirty="0">
                <a:latin typeface="黑体" panose="02010609060101010101" pitchFamily="49" charset="-122"/>
                <a:ea typeface="黑体" panose="02010609060101010101" pitchFamily="49" charset="-122"/>
              </a:rPr>
              <a:t>别是任一截面上气流的压力和热力学温度。</a:t>
            </a:r>
            <a:endParaRPr lang="zh-CN" altLang="en-US" sz="3200" b="1" dirty="0">
              <a:latin typeface="黑体" panose="02010609060101010101" pitchFamily="49" charset="-122"/>
              <a:ea typeface="黑体" panose="02010609060101010101" pitchFamily="49" charset="-122"/>
            </a:endParaRPr>
          </a:p>
        </p:txBody>
      </p:sp>
      <p:graphicFrame>
        <p:nvGraphicFramePr>
          <p:cNvPr id="57352" name="对象 94216"/>
          <p:cNvGraphicFramePr/>
          <p:nvPr/>
        </p:nvGraphicFramePr>
        <p:xfrm>
          <a:off x="3924300" y="6062663"/>
          <a:ext cx="1116013" cy="608012"/>
        </p:xfrm>
        <a:graphic>
          <a:graphicData uri="http://schemas.openxmlformats.org/presentationml/2006/ole">
            <mc:AlternateContent xmlns:mc="http://schemas.openxmlformats.org/markup-compatibility/2006">
              <mc:Choice xmlns:v="urn:schemas-microsoft-com:vml" Requires="v">
                <p:oleObj spid="_x0000_s14376" name="" r:id="rId7" imgW="419100" imgH="228600" progId="Equation.DSMT4">
                  <p:embed/>
                </p:oleObj>
              </mc:Choice>
              <mc:Fallback>
                <p:oleObj name="" r:id="rId7" imgW="419100" imgH="228600" progId="Equation.DSMT4">
                  <p:embed/>
                  <p:pic>
                    <p:nvPicPr>
                      <p:cNvPr id="0" name="对象 94216"/>
                      <p:cNvPicPr>
                        <a:picLocks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924300" y="6062663"/>
                        <a:ext cx="1116013" cy="6080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57353" name="矩形 94217"/>
          <p:cNvSpPr>
            <a:spLocks noChangeArrowheads="1"/>
          </p:cNvSpPr>
          <p:nvPr/>
        </p:nvSpPr>
        <p:spPr bwMode="auto">
          <a:xfrm>
            <a:off x="2987675" y="6062663"/>
            <a:ext cx="1655763"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sz="3200" b="1" dirty="0">
                <a:latin typeface="黑体" panose="02010609060101010101" pitchFamily="49" charset="-122"/>
                <a:ea typeface="黑体" panose="02010609060101010101" pitchFamily="49" charset="-122"/>
              </a:rPr>
              <a:t>由于</a:t>
            </a:r>
            <a:endParaRPr lang="zh-CN" altLang="en-US" sz="3200" b="1" dirty="0">
              <a:latin typeface="黑体" panose="02010609060101010101" pitchFamily="49" charset="-122"/>
              <a:ea typeface="黑体" panose="02010609060101010101" pitchFamily="49" charset="-122"/>
            </a:endParaRPr>
          </a:p>
        </p:txBody>
      </p:sp>
      <p:sp>
        <p:nvSpPr>
          <p:cNvPr id="57354" name="矩形 94218"/>
          <p:cNvSpPr>
            <a:spLocks noChangeArrowheads="1"/>
          </p:cNvSpPr>
          <p:nvPr/>
        </p:nvSpPr>
        <p:spPr bwMode="auto">
          <a:xfrm>
            <a:off x="5076825" y="6034088"/>
            <a:ext cx="1527175"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r>
              <a:rPr lang="zh-CN" altLang="en-US" sz="3200" b="1" dirty="0">
                <a:latin typeface="黑体" panose="02010609060101010101" pitchFamily="49" charset="-122"/>
                <a:ea typeface="黑体" panose="02010609060101010101" pitchFamily="49" charset="-122"/>
              </a:rPr>
              <a:t>故而有</a:t>
            </a:r>
            <a:r>
              <a:rPr lang="zh-CN" altLang="en-US" sz="3200" b="1" dirty="0">
                <a:latin typeface="Tahoma" panose="020B0604030504040204" pitchFamily="34" charset="0"/>
              </a:rPr>
              <a:t> </a:t>
            </a:r>
            <a:endParaRPr lang="zh-CN" altLang="en-US" sz="3200" b="1" dirty="0">
              <a:latin typeface="Tahoma" panose="020B0604030504040204" pitchFamily="34" charset="0"/>
            </a:endParaRPr>
          </a:p>
        </p:txBody>
      </p:sp>
      <p:graphicFrame>
        <p:nvGraphicFramePr>
          <p:cNvPr id="57355" name="对象 94219"/>
          <p:cNvGraphicFramePr/>
          <p:nvPr/>
        </p:nvGraphicFramePr>
        <p:xfrm>
          <a:off x="6445250" y="6075363"/>
          <a:ext cx="1152525" cy="576262"/>
        </p:xfrm>
        <a:graphic>
          <a:graphicData uri="http://schemas.openxmlformats.org/presentationml/2006/ole">
            <mc:AlternateContent xmlns:mc="http://schemas.openxmlformats.org/markup-compatibility/2006">
              <mc:Choice xmlns:v="urn:schemas-microsoft-com:vml" Requires="v">
                <p:oleObj spid="_x0000_s14377" name="" r:id="rId9" imgW="457200" imgH="228600" progId="Equation.DSMT4">
                  <p:embed/>
                </p:oleObj>
              </mc:Choice>
              <mc:Fallback>
                <p:oleObj name="" r:id="rId9" imgW="457200" imgH="228600" progId="Equation.DSMT4">
                  <p:embed/>
                  <p:pic>
                    <p:nvPicPr>
                      <p:cNvPr id="0" name="对象 94219"/>
                      <p:cNvPicPr>
                        <a:picLocks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6445250" y="6075363"/>
                        <a:ext cx="1152525" cy="576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69" name="矩形 96258"/>
          <p:cNvSpPr>
            <a:spLocks noChangeArrowheads="1"/>
          </p:cNvSpPr>
          <p:nvPr/>
        </p:nvSpPr>
        <p:spPr bwMode="auto">
          <a:xfrm>
            <a:off x="1042988" y="1089025"/>
            <a:ext cx="5184775"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zh-CN" sz="3200" b="1" dirty="0">
                <a:latin typeface="黑体" panose="02010609060101010101" pitchFamily="49" charset="-122"/>
                <a:ea typeface="黑体" panose="02010609060101010101" pitchFamily="49" charset="-122"/>
              </a:rPr>
              <a:t>3</a:t>
            </a:r>
            <a:r>
              <a:rPr lang="zh-CN" altLang="en-US" sz="3200" b="1" dirty="0">
                <a:latin typeface="黑体" panose="02010609060101010101" pitchFamily="49" charset="-122"/>
                <a:ea typeface="黑体" panose="02010609060101010101" pitchFamily="49" charset="-122"/>
              </a:rPr>
              <a:t>、滞止密度</a:t>
            </a:r>
            <a:endParaRPr lang="zh-CN" altLang="en-US" sz="3200" b="1" dirty="0">
              <a:latin typeface="黑体" panose="02010609060101010101" pitchFamily="49" charset="-122"/>
              <a:ea typeface="黑体" panose="02010609060101010101" pitchFamily="49" charset="-122"/>
            </a:endParaRPr>
          </a:p>
        </p:txBody>
      </p:sp>
      <p:graphicFrame>
        <p:nvGraphicFramePr>
          <p:cNvPr id="58370" name="对象 96264"/>
          <p:cNvGraphicFramePr/>
          <p:nvPr/>
        </p:nvGraphicFramePr>
        <p:xfrm>
          <a:off x="2535238" y="1885950"/>
          <a:ext cx="2994025" cy="1674813"/>
        </p:xfrm>
        <a:graphic>
          <a:graphicData uri="http://schemas.openxmlformats.org/presentationml/2006/ole">
            <mc:AlternateContent xmlns:mc="http://schemas.openxmlformats.org/markup-compatibility/2006">
              <mc:Choice xmlns:v="urn:schemas-microsoft-com:vml" Requires="v">
                <p:oleObj spid="_x0000_s15383" name="" r:id="rId1" imgW="939800" imgH="520700" progId="Equation.DSMT4">
                  <p:embed/>
                </p:oleObj>
              </mc:Choice>
              <mc:Fallback>
                <p:oleObj name="" r:id="rId1" imgW="939800" imgH="520700" progId="Equation.DSMT4">
                  <p:embed/>
                  <p:pic>
                    <p:nvPicPr>
                      <p:cNvPr id="0" name="对象 96264"/>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35238" y="1885950"/>
                        <a:ext cx="2994025" cy="1674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58371" name="矩形 96267"/>
          <p:cNvSpPr>
            <a:spLocks noChangeArrowheads="1"/>
          </p:cNvSpPr>
          <p:nvPr/>
        </p:nvSpPr>
        <p:spPr bwMode="auto">
          <a:xfrm>
            <a:off x="0" y="331470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graphicFrame>
        <p:nvGraphicFramePr>
          <p:cNvPr id="58372" name="对象 96266"/>
          <p:cNvGraphicFramePr/>
          <p:nvPr/>
        </p:nvGraphicFramePr>
        <p:xfrm>
          <a:off x="2700338" y="4116388"/>
          <a:ext cx="1116012" cy="608012"/>
        </p:xfrm>
        <a:graphic>
          <a:graphicData uri="http://schemas.openxmlformats.org/presentationml/2006/ole">
            <mc:AlternateContent xmlns:mc="http://schemas.openxmlformats.org/markup-compatibility/2006">
              <mc:Choice xmlns:v="urn:schemas-microsoft-com:vml" Requires="v">
                <p:oleObj spid="_x0000_s15384" name="" r:id="rId3" imgW="419100" imgH="228600" progId="Equation.DSMT4">
                  <p:embed/>
                </p:oleObj>
              </mc:Choice>
              <mc:Fallback>
                <p:oleObj name="" r:id="rId3" imgW="419100" imgH="228600" progId="Equation.DSMT4">
                  <p:embed/>
                  <p:pic>
                    <p:nvPicPr>
                      <p:cNvPr id="0" name="对象 96266"/>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700338" y="4116388"/>
                        <a:ext cx="1116012" cy="6080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58373" name="矩形 96269"/>
          <p:cNvSpPr>
            <a:spLocks noChangeArrowheads="1"/>
          </p:cNvSpPr>
          <p:nvPr/>
        </p:nvSpPr>
        <p:spPr bwMode="auto">
          <a:xfrm>
            <a:off x="1619250" y="4044950"/>
            <a:ext cx="1000125"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3200" b="1" dirty="0">
                <a:latin typeface="黑体" panose="02010609060101010101" pitchFamily="49" charset="-122"/>
                <a:ea typeface="黑体" panose="02010609060101010101" pitchFamily="49" charset="-122"/>
              </a:rPr>
              <a:t>由于</a:t>
            </a:r>
            <a:endParaRPr lang="zh-CN" altLang="en-US" sz="3200" b="1" dirty="0">
              <a:latin typeface="黑体" panose="02010609060101010101" pitchFamily="49" charset="-122"/>
              <a:ea typeface="黑体" panose="02010609060101010101" pitchFamily="49" charset="-122"/>
            </a:endParaRPr>
          </a:p>
        </p:txBody>
      </p:sp>
      <p:sp>
        <p:nvSpPr>
          <p:cNvPr id="96271" name="矩形 96270"/>
          <p:cNvSpPr/>
          <p:nvPr/>
        </p:nvSpPr>
        <p:spPr>
          <a:xfrm>
            <a:off x="3995738" y="4042282"/>
            <a:ext cx="1627369" cy="584775"/>
          </a:xfrm>
          <a:prstGeom prst="rect">
            <a:avLst/>
          </a:prstGeom>
          <a:noFill/>
          <a:ln w="9525">
            <a:noFill/>
          </a:ln>
        </p:spPr>
        <p:txBody>
          <a:bodyPr wrap="none" anchor="ctr">
            <a:spAutoFit/>
          </a:bodyPr>
          <a:lstStyle/>
          <a:p>
            <a:r>
              <a:rPr lang="zh-CN" altLang="en-US" sz="3200" b="1" noProof="1">
                <a:latin typeface="黑体" panose="02010609060101010101" pitchFamily="49" charset="-122"/>
                <a:ea typeface="黑体" panose="02010609060101010101" pitchFamily="49" charset="-122"/>
              </a:rPr>
              <a:t>故而有</a:t>
            </a:r>
            <a:r>
              <a:rPr lang="zh-CN" altLang="en-US" sz="3200" b="1" noProof="1">
                <a:effectLst>
                  <a:outerShdw blurRad="38100" dist="38100" dir="2700000">
                    <a:srgbClr val="C0C0C0"/>
                  </a:outerShdw>
                </a:effectLst>
                <a:latin typeface="黑体" panose="02010609060101010101" pitchFamily="49" charset="-122"/>
                <a:ea typeface="黑体" panose="02010609060101010101" pitchFamily="49" charset="-122"/>
              </a:rPr>
              <a:t> </a:t>
            </a:r>
            <a:endParaRPr lang="zh-CN" altLang="en-US" sz="3200" b="1" noProof="1">
              <a:effectLst>
                <a:outerShdw blurRad="38100" dist="38100" dir="2700000">
                  <a:srgbClr val="C0C0C0"/>
                </a:outerShdw>
              </a:effectLst>
              <a:latin typeface="黑体" panose="02010609060101010101" pitchFamily="49" charset="-122"/>
              <a:ea typeface="黑体" panose="02010609060101010101" pitchFamily="49" charset="-122"/>
            </a:endParaRPr>
          </a:p>
        </p:txBody>
      </p:sp>
      <p:sp>
        <p:nvSpPr>
          <p:cNvPr id="58375" name="矩形 96272"/>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graphicFrame>
        <p:nvGraphicFramePr>
          <p:cNvPr id="58376" name="对象 96271"/>
          <p:cNvGraphicFramePr/>
          <p:nvPr/>
        </p:nvGraphicFramePr>
        <p:xfrm>
          <a:off x="5651500" y="4116388"/>
          <a:ext cx="1152525" cy="576262"/>
        </p:xfrm>
        <a:graphic>
          <a:graphicData uri="http://schemas.openxmlformats.org/presentationml/2006/ole">
            <mc:AlternateContent xmlns:mc="http://schemas.openxmlformats.org/markup-compatibility/2006">
              <mc:Choice xmlns:v="urn:schemas-microsoft-com:vml" Requires="v">
                <p:oleObj spid="_x0000_s15385" name="" r:id="rId5" imgW="457200" imgH="228600" progId="Equation.DSMT4">
                  <p:embed/>
                </p:oleObj>
              </mc:Choice>
              <mc:Fallback>
                <p:oleObj name="" r:id="rId5" imgW="457200" imgH="228600" progId="Equation.DSMT4">
                  <p:embed/>
                  <p:pic>
                    <p:nvPicPr>
                      <p:cNvPr id="0" name="对象 96271"/>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651500" y="4116388"/>
                        <a:ext cx="1152525" cy="576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7" name="矩形 241667"/>
          <p:cNvSpPr>
            <a:spLocks noChangeArrowheads="1"/>
          </p:cNvSpPr>
          <p:nvPr/>
        </p:nvSpPr>
        <p:spPr bwMode="auto">
          <a:xfrm>
            <a:off x="468313" y="473075"/>
            <a:ext cx="8135937"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r>
              <a:rPr lang="zh-CN" altLang="en-US" sz="2800" b="1" dirty="0">
                <a:latin typeface="黑体" panose="02010609060101010101" pitchFamily="49" charset="-122"/>
                <a:ea typeface="黑体" panose="02010609060101010101" pitchFamily="49" charset="-122"/>
              </a:rPr>
              <a:t>对于水蒸气，可根据式</a:t>
            </a:r>
            <a:endParaRPr lang="zh-CN" altLang="en-US" sz="2800" dirty="0">
              <a:latin typeface="黑体" panose="02010609060101010101" pitchFamily="49" charset="-122"/>
              <a:ea typeface="黑体" panose="02010609060101010101" pitchFamily="49" charset="-122"/>
            </a:endParaRPr>
          </a:p>
        </p:txBody>
      </p:sp>
      <p:sp>
        <p:nvSpPr>
          <p:cNvPr id="60418" name="矩形 241668"/>
          <p:cNvSpPr>
            <a:spLocks noChangeArrowheads="1"/>
          </p:cNvSpPr>
          <p:nvPr/>
        </p:nvSpPr>
        <p:spPr bwMode="auto">
          <a:xfrm>
            <a:off x="611188" y="2874963"/>
            <a:ext cx="7269162"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2800" b="1" dirty="0">
                <a:latin typeface="Times New Roman" panose="02020603050405020304" pitchFamily="18" charset="0"/>
                <a:ea typeface="黑体" panose="02010609060101010101" pitchFamily="49" charset="-122"/>
                <a:cs typeface="Times New Roman" panose="02020603050405020304" pitchFamily="18" charset="0"/>
              </a:rPr>
              <a:t>计算出</a:t>
            </a:r>
            <a:r>
              <a:rPr lang="en-US" altLang="zh-CN" sz="2800" i="1" dirty="0">
                <a:latin typeface="Times New Roman" panose="02020603050405020304" pitchFamily="18" charset="0"/>
                <a:ea typeface="黑体" panose="02010609060101010101" pitchFamily="49" charset="-122"/>
                <a:cs typeface="Times New Roman" panose="02020603050405020304" pitchFamily="18" charset="0"/>
              </a:rPr>
              <a:t>h</a:t>
            </a:r>
            <a:r>
              <a:rPr lang="en-US" altLang="zh-CN" sz="2800" baseline="-25000" dirty="0">
                <a:latin typeface="Times New Roman" panose="02020603050405020304" pitchFamily="18" charset="0"/>
                <a:ea typeface="黑体" panose="02010609060101010101" pitchFamily="49" charset="-122"/>
                <a:cs typeface="Times New Roman" panose="02020603050405020304" pitchFamily="18" charset="0"/>
              </a:rPr>
              <a:t>0</a:t>
            </a:r>
            <a:r>
              <a:rPr lang="zh-CN" altLang="en-US" sz="2800" b="1" dirty="0">
                <a:latin typeface="Times New Roman" panose="02020603050405020304" pitchFamily="18" charset="0"/>
                <a:ea typeface="黑体" panose="02010609060101010101" pitchFamily="49" charset="-122"/>
                <a:cs typeface="Times New Roman" panose="02020603050405020304" pitchFamily="18" charset="0"/>
              </a:rPr>
              <a:t>，然后利用可逆绝热过程熵方程得到</a:t>
            </a:r>
            <a:endParaRPr lang="zh-CN" altLang="en-US" sz="2800" b="1" dirty="0">
              <a:latin typeface="Times New Roman" panose="02020603050405020304" pitchFamily="18" charset="0"/>
              <a:ea typeface="黑体" panose="02010609060101010101" pitchFamily="49" charset="-122"/>
              <a:cs typeface="Times New Roman" panose="02020603050405020304" pitchFamily="18" charset="0"/>
            </a:endParaRPr>
          </a:p>
        </p:txBody>
      </p:sp>
      <p:graphicFrame>
        <p:nvGraphicFramePr>
          <p:cNvPr id="60419" name="对象 241669"/>
          <p:cNvGraphicFramePr/>
          <p:nvPr/>
        </p:nvGraphicFramePr>
        <p:xfrm>
          <a:off x="2987675" y="1412875"/>
          <a:ext cx="2232025" cy="1104900"/>
        </p:xfrm>
        <a:graphic>
          <a:graphicData uri="http://schemas.openxmlformats.org/presentationml/2006/ole">
            <mc:AlternateContent xmlns:mc="http://schemas.openxmlformats.org/markup-compatibility/2006">
              <mc:Choice xmlns:v="urn:schemas-microsoft-com:vml" Requires="v">
                <p:oleObj spid="_x0000_s16400" name="" r:id="rId1" imgW="786765" imgH="393700" progId="Equation.DSMT4">
                  <p:embed/>
                </p:oleObj>
              </mc:Choice>
              <mc:Fallback>
                <p:oleObj name="" r:id="rId1" imgW="786765" imgH="393700" progId="Equation.DSMT4">
                  <p:embed/>
                  <p:pic>
                    <p:nvPicPr>
                      <p:cNvPr id="0" name="对象 241669"/>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987675" y="1412875"/>
                        <a:ext cx="2232025" cy="1104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60420" name="矩形 241670"/>
          <p:cNvSpPr>
            <a:spLocks noChangeArrowheads="1"/>
          </p:cNvSpPr>
          <p:nvPr/>
        </p:nvSpPr>
        <p:spPr bwMode="auto">
          <a:xfrm>
            <a:off x="684213" y="4581525"/>
            <a:ext cx="5596404"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2800" b="1" dirty="0">
                <a:latin typeface="Times New Roman" panose="02020603050405020304" pitchFamily="18" charset="0"/>
                <a:ea typeface="黑体" panose="02010609060101010101" pitchFamily="49" charset="-122"/>
                <a:cs typeface="Times New Roman" panose="02020603050405020304" pitchFamily="18" charset="0"/>
              </a:rPr>
              <a:t>再利用</a:t>
            </a:r>
            <a:r>
              <a:rPr lang="en-US" altLang="zh-CN" sz="2800" b="1" i="1" dirty="0">
                <a:latin typeface="Times New Roman" panose="02020603050405020304" pitchFamily="18" charset="0"/>
                <a:ea typeface="黑体" panose="02010609060101010101" pitchFamily="49" charset="-122"/>
                <a:cs typeface="Times New Roman" panose="02020603050405020304" pitchFamily="18" charset="0"/>
              </a:rPr>
              <a:t>h-s</a:t>
            </a:r>
            <a:r>
              <a:rPr lang="zh-CN" altLang="en-US" sz="2800" b="1" dirty="0">
                <a:latin typeface="Times New Roman" panose="02020603050405020304" pitchFamily="18" charset="0"/>
                <a:ea typeface="黑体" panose="02010609060101010101" pitchFamily="49" charset="-122"/>
                <a:cs typeface="Times New Roman" panose="02020603050405020304" pitchFamily="18" charset="0"/>
              </a:rPr>
              <a:t>图查取其他滞止参数。</a:t>
            </a:r>
            <a:r>
              <a:rPr lang="zh-CN" altLang="en-US" sz="2800" dirty="0">
                <a:latin typeface="Times New Roman" panose="02020603050405020304" pitchFamily="18" charset="0"/>
                <a:ea typeface="黑体" panose="02010609060101010101" pitchFamily="49" charset="-122"/>
                <a:cs typeface="Times New Roman" panose="02020603050405020304" pitchFamily="18" charset="0"/>
              </a:rPr>
              <a:t> </a:t>
            </a:r>
            <a:endParaRPr lang="zh-CN" altLang="en-US" sz="2800" dirty="0">
              <a:latin typeface="Times New Roman" panose="02020603050405020304" pitchFamily="18" charset="0"/>
              <a:ea typeface="黑体" panose="02010609060101010101" pitchFamily="49" charset="-122"/>
              <a:cs typeface="Times New Roman" panose="02020603050405020304" pitchFamily="18" charset="0"/>
            </a:endParaRPr>
          </a:p>
        </p:txBody>
      </p:sp>
      <p:sp>
        <p:nvSpPr>
          <p:cNvPr id="60421" name="矩形 241673"/>
          <p:cNvSpPr>
            <a:spLocks noChangeArrowheads="1"/>
          </p:cNvSpPr>
          <p:nvPr/>
        </p:nvSpPr>
        <p:spPr bwMode="auto">
          <a:xfrm>
            <a:off x="0" y="328453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graphicFrame>
        <p:nvGraphicFramePr>
          <p:cNvPr id="60422" name="对象 241672"/>
          <p:cNvGraphicFramePr/>
          <p:nvPr/>
        </p:nvGraphicFramePr>
        <p:xfrm>
          <a:off x="3563938" y="3644900"/>
          <a:ext cx="1081087" cy="631825"/>
        </p:xfrm>
        <a:graphic>
          <a:graphicData uri="http://schemas.openxmlformats.org/presentationml/2006/ole">
            <mc:AlternateContent xmlns:mc="http://schemas.openxmlformats.org/markup-compatibility/2006">
              <mc:Choice xmlns:v="urn:schemas-microsoft-com:vml" Requires="v">
                <p:oleObj spid="_x0000_s16401" name="" r:id="rId3" imgW="393700" imgH="228600" progId="Equation.DSMT4">
                  <p:embed/>
                </p:oleObj>
              </mc:Choice>
              <mc:Fallback>
                <p:oleObj name="" r:id="rId3" imgW="393700" imgH="228600" progId="Equation.DSMT4">
                  <p:embed/>
                  <p:pic>
                    <p:nvPicPr>
                      <p:cNvPr id="0" name="对象 241672"/>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563938" y="3644900"/>
                        <a:ext cx="1081087" cy="631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1" name="矩形 97281"/>
          <p:cNvSpPr>
            <a:spLocks noChangeArrowheads="1"/>
          </p:cNvSpPr>
          <p:nvPr/>
        </p:nvSpPr>
        <p:spPr bwMode="auto">
          <a:xfrm>
            <a:off x="179388" y="1916113"/>
            <a:ext cx="8785225" cy="191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lstStyle/>
          <a:p>
            <a:r>
              <a:rPr lang="zh-CN" altLang="en-US" sz="4000" b="1" dirty="0"/>
              <a:t>§</a:t>
            </a:r>
            <a:r>
              <a:rPr lang="en-US" altLang="zh-CN" sz="4000" b="1" dirty="0">
                <a:latin typeface="黑体" panose="02010609060101010101" pitchFamily="49" charset="-122"/>
                <a:ea typeface="黑体" panose="02010609060101010101" pitchFamily="49" charset="-122"/>
              </a:rPr>
              <a:t>10</a:t>
            </a:r>
            <a:r>
              <a:rPr lang="zh-CN" altLang="en-US" sz="4000" b="1" dirty="0">
                <a:latin typeface="黑体" panose="02010609060101010101" pitchFamily="49" charset="-122"/>
                <a:ea typeface="黑体" panose="02010609060101010101" pitchFamily="49" charset="-122"/>
              </a:rPr>
              <a:t>－</a:t>
            </a:r>
            <a:r>
              <a:rPr lang="en-US" altLang="zh-CN" sz="4000" b="1" dirty="0">
                <a:latin typeface="黑体" panose="02010609060101010101" pitchFamily="49" charset="-122"/>
                <a:ea typeface="黑体" panose="02010609060101010101" pitchFamily="49" charset="-122"/>
              </a:rPr>
              <a:t>4 </a:t>
            </a:r>
            <a:r>
              <a:rPr lang="zh-CN" altLang="en-US" sz="4000" b="1" dirty="0">
                <a:latin typeface="黑体" panose="02010609060101010101" pitchFamily="49" charset="-122"/>
                <a:ea typeface="黑体" panose="02010609060101010101" pitchFamily="49" charset="-122"/>
              </a:rPr>
              <a:t>声速和马赫数</a:t>
            </a:r>
            <a:r>
              <a:rPr lang="zh-CN" altLang="en-US" sz="7200" b="1" dirty="0">
                <a:latin typeface="黑体" panose="02010609060101010101" pitchFamily="49" charset="-122"/>
                <a:ea typeface="黑体" panose="02010609060101010101" pitchFamily="49" charset="-122"/>
              </a:rPr>
              <a:t> </a:t>
            </a:r>
            <a:endParaRPr lang="zh-CN" altLang="en-US" sz="7200" b="1" dirty="0">
              <a:latin typeface="黑体" panose="02010609060101010101" pitchFamily="49" charset="-122"/>
              <a:ea typeface="黑体" panose="02010609060101010101" pitchFamily="49" charset="-122"/>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5" name="标题 106497"/>
          <p:cNvSpPr>
            <a:spLocks noGrp="1" noChangeArrowheads="1"/>
          </p:cNvSpPr>
          <p:nvPr>
            <p:ph type="title"/>
          </p:nvPr>
        </p:nvSpPr>
        <p:spPr>
          <a:xfrm>
            <a:off x="395288" y="115888"/>
            <a:ext cx="8229600" cy="1143000"/>
          </a:xfrm>
        </p:spPr>
        <p:txBody>
          <a:bodyPr/>
          <a:lstStyle/>
          <a:p>
            <a:pPr algn="l"/>
            <a:r>
              <a:rPr lang="zh-CN" altLang="en-US" sz="3600" b="1" dirty="0" smtClean="0">
                <a:latin typeface="黑体" panose="02010609060101010101" pitchFamily="49" charset="-122"/>
                <a:ea typeface="黑体" panose="02010609060101010101" pitchFamily="49" charset="-122"/>
              </a:rPr>
              <a:t>一、声速</a:t>
            </a:r>
            <a:endParaRPr lang="zh-CN" altLang="en-US" sz="3600" b="1" dirty="0" smtClean="0">
              <a:latin typeface="黑体" panose="02010609060101010101" pitchFamily="49" charset="-122"/>
              <a:ea typeface="黑体" panose="02010609060101010101" pitchFamily="49" charset="-122"/>
            </a:endParaRPr>
          </a:p>
        </p:txBody>
      </p:sp>
      <p:sp>
        <p:nvSpPr>
          <p:cNvPr id="62466" name="文本占位符 106498"/>
          <p:cNvSpPr>
            <a:spLocks noGrp="1" noChangeArrowheads="1"/>
          </p:cNvSpPr>
          <p:nvPr>
            <p:ph idx="1"/>
          </p:nvPr>
        </p:nvSpPr>
        <p:spPr>
          <a:xfrm>
            <a:off x="468313" y="1268413"/>
            <a:ext cx="8229600" cy="4525962"/>
          </a:xfrm>
        </p:spPr>
        <p:txBody>
          <a:bodyPr>
            <a:normAutofit/>
          </a:bodyPr>
          <a:lstStyle/>
          <a:p>
            <a:r>
              <a:rPr lang="zh-CN" altLang="en-US" sz="2800" b="1" dirty="0" smtClean="0">
                <a:latin typeface="黑体" panose="02010609060101010101" pitchFamily="49" charset="-122"/>
                <a:ea typeface="黑体" panose="02010609060101010101" pitchFamily="49" charset="-122"/>
              </a:rPr>
              <a:t>在研究可压缩流体时，声速是一个重要的参数。</a:t>
            </a:r>
            <a:endParaRPr lang="zh-CN" altLang="en-US" sz="2800" b="1" dirty="0" smtClean="0">
              <a:latin typeface="黑体" panose="02010609060101010101" pitchFamily="49" charset="-122"/>
              <a:ea typeface="黑体" panose="02010609060101010101" pitchFamily="49" charset="-122"/>
            </a:endParaRPr>
          </a:p>
          <a:p>
            <a:r>
              <a:rPr lang="zh-CN" altLang="en-US" sz="2800" b="1" dirty="0" smtClean="0">
                <a:solidFill>
                  <a:srgbClr val="FF0000"/>
                </a:solidFill>
                <a:latin typeface="黑体" panose="02010609060101010101" pitchFamily="49" charset="-122"/>
                <a:ea typeface="黑体" panose="02010609060101010101" pitchFamily="49" charset="-122"/>
              </a:rPr>
              <a:t>声速是微弱扰动在连续介质中所产生的压力波传播的速度</a:t>
            </a:r>
            <a:r>
              <a:rPr lang="zh-CN" altLang="en-US" sz="2800" b="1" dirty="0" smtClean="0">
                <a:latin typeface="黑体" panose="02010609060101010101" pitchFamily="49" charset="-122"/>
                <a:ea typeface="黑体" panose="02010609060101010101" pitchFamily="49" charset="-122"/>
              </a:rPr>
              <a:t>。在气体介质中，压力波的传播过程可近似看作定熵过程。由物理学知识，声速方程为 </a:t>
            </a:r>
            <a:endParaRPr lang="zh-CN" altLang="en-US" sz="2800" b="1" dirty="0" smtClean="0">
              <a:latin typeface="黑体" panose="02010609060101010101" pitchFamily="49" charset="-122"/>
              <a:ea typeface="黑体" panose="02010609060101010101" pitchFamily="49" charset="-122"/>
            </a:endParaRPr>
          </a:p>
        </p:txBody>
      </p:sp>
      <p:graphicFrame>
        <p:nvGraphicFramePr>
          <p:cNvPr id="62467" name="对象 106501"/>
          <p:cNvGraphicFramePr/>
          <p:nvPr/>
        </p:nvGraphicFramePr>
        <p:xfrm>
          <a:off x="3178520" y="3652424"/>
          <a:ext cx="2127250" cy="1333500"/>
        </p:xfrm>
        <a:graphic>
          <a:graphicData uri="http://schemas.openxmlformats.org/presentationml/2006/ole">
            <mc:AlternateContent xmlns:mc="http://schemas.openxmlformats.org/markup-compatibility/2006">
              <mc:Choice xmlns:v="urn:schemas-microsoft-com:vml" Requires="v">
                <p:oleObj spid="_x0000_s17417" name="" r:id="rId1" imgW="499745" imgH="313055" progId="Equation.3">
                  <p:embed/>
                </p:oleObj>
              </mc:Choice>
              <mc:Fallback>
                <p:oleObj name="" r:id="rId1" imgW="499745" imgH="313055" progId="Equation.3">
                  <p:embed/>
                  <p:pic>
                    <p:nvPicPr>
                      <p:cNvPr id="0" name="对象 106501"/>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178520" y="3652424"/>
                        <a:ext cx="2127250" cy="1333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3489" name="对象 98305"/>
          <p:cNvGraphicFramePr/>
          <p:nvPr/>
        </p:nvGraphicFramePr>
        <p:xfrm>
          <a:off x="3276600" y="260350"/>
          <a:ext cx="2127250" cy="1333500"/>
        </p:xfrm>
        <a:graphic>
          <a:graphicData uri="http://schemas.openxmlformats.org/presentationml/2006/ole">
            <mc:AlternateContent xmlns:mc="http://schemas.openxmlformats.org/markup-compatibility/2006">
              <mc:Choice xmlns:v="urn:schemas-microsoft-com:vml" Requires="v">
                <p:oleObj spid="_x0000_s18490" name="" r:id="rId1" imgW="499745" imgH="313055" progId="Equation.3">
                  <p:embed/>
                </p:oleObj>
              </mc:Choice>
              <mc:Fallback>
                <p:oleObj name="" r:id="rId1" imgW="499745" imgH="313055" progId="Equation.3">
                  <p:embed/>
                  <p:pic>
                    <p:nvPicPr>
                      <p:cNvPr id="0" name="对象 98305"/>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76600" y="260350"/>
                        <a:ext cx="2127250" cy="1333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63490" name="对象 98306"/>
          <p:cNvGraphicFramePr/>
          <p:nvPr/>
        </p:nvGraphicFramePr>
        <p:xfrm>
          <a:off x="2700338" y="5734050"/>
          <a:ext cx="3692525" cy="830263"/>
        </p:xfrm>
        <a:graphic>
          <a:graphicData uri="http://schemas.openxmlformats.org/presentationml/2006/ole">
            <mc:AlternateContent xmlns:mc="http://schemas.openxmlformats.org/markup-compatibility/2006">
              <mc:Choice xmlns:v="urn:schemas-microsoft-com:vml" Requires="v">
                <p:oleObj spid="_x0000_s18491" name="" r:id="rId3" imgW="829945" imgH="186055" progId="Equation.DSMT4">
                  <p:embed/>
                </p:oleObj>
              </mc:Choice>
              <mc:Fallback>
                <p:oleObj name="" r:id="rId3" imgW="829945" imgH="186055" progId="Equation.DSMT4">
                  <p:embed/>
                  <p:pic>
                    <p:nvPicPr>
                      <p:cNvPr id="0" name="对象 98306"/>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700338" y="5734050"/>
                        <a:ext cx="3692525" cy="830263"/>
                      </a:xfrm>
                      <a:prstGeom prst="rect">
                        <a:avLst/>
                      </a:prstGeom>
                      <a:noFill/>
                      <a:ln w="38100">
                        <a:solidFill>
                          <a:schemeClr val="hlink"/>
                        </a:solidFill>
                        <a:miter lim="800000"/>
                        <a:headEnd/>
                        <a:tailEnd/>
                      </a:ln>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63491" name="矩形 98307"/>
          <p:cNvSpPr>
            <a:spLocks noChangeArrowheads="1"/>
          </p:cNvSpPr>
          <p:nvPr/>
        </p:nvSpPr>
        <p:spPr bwMode="auto">
          <a:xfrm>
            <a:off x="250825" y="1844675"/>
            <a:ext cx="4897438"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sz="2800" b="1" dirty="0">
                <a:latin typeface="黑体" panose="02010609060101010101" pitchFamily="49" charset="-122"/>
                <a:ea typeface="黑体" panose="02010609060101010101" pitchFamily="49" charset="-122"/>
              </a:rPr>
              <a:t>对于理想气体定熵过程有：</a:t>
            </a:r>
            <a:endParaRPr lang="zh-CN" altLang="en-US" sz="2800" b="1" dirty="0">
              <a:latin typeface="黑体" panose="02010609060101010101" pitchFamily="49" charset="-122"/>
              <a:ea typeface="黑体" panose="02010609060101010101" pitchFamily="49" charset="-122"/>
            </a:endParaRPr>
          </a:p>
        </p:txBody>
      </p:sp>
      <p:graphicFrame>
        <p:nvGraphicFramePr>
          <p:cNvPr id="63492" name="对象 98308"/>
          <p:cNvGraphicFramePr/>
          <p:nvPr/>
        </p:nvGraphicFramePr>
        <p:xfrm>
          <a:off x="4859338" y="1628775"/>
          <a:ext cx="3168650" cy="1187450"/>
        </p:xfrm>
        <a:graphic>
          <a:graphicData uri="http://schemas.openxmlformats.org/presentationml/2006/ole">
            <mc:AlternateContent xmlns:mc="http://schemas.openxmlformats.org/markup-compatibility/2006">
              <mc:Choice xmlns:v="urn:schemas-microsoft-com:vml" Requires="v">
                <p:oleObj spid="_x0000_s18492" name="" r:id="rId5" imgW="744855" imgH="279400" progId="Equation.DSMT4">
                  <p:embed/>
                </p:oleObj>
              </mc:Choice>
              <mc:Fallback>
                <p:oleObj name="" r:id="rId5" imgW="744855" imgH="279400" progId="Equation.DSMT4">
                  <p:embed/>
                  <p:pic>
                    <p:nvPicPr>
                      <p:cNvPr id="0" name="对象 98308"/>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859338" y="1628775"/>
                        <a:ext cx="3168650" cy="1187450"/>
                      </a:xfrm>
                      <a:prstGeom prst="rect">
                        <a:avLst/>
                      </a:prstGeom>
                      <a:noFill/>
                      <a:ln w="38100">
                        <a:solidFill>
                          <a:srgbClr val="FF0000"/>
                        </a:solidFill>
                        <a:miter lim="800000"/>
                        <a:headEnd/>
                        <a:tailEnd/>
                      </a:ln>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63493" name="对象 98309"/>
          <p:cNvGraphicFramePr/>
          <p:nvPr/>
        </p:nvGraphicFramePr>
        <p:xfrm>
          <a:off x="827088" y="2924175"/>
          <a:ext cx="2106612" cy="890588"/>
        </p:xfrm>
        <a:graphic>
          <a:graphicData uri="http://schemas.openxmlformats.org/presentationml/2006/ole">
            <mc:AlternateContent xmlns:mc="http://schemas.openxmlformats.org/markup-compatibility/2006">
              <mc:Choice xmlns:v="urn:schemas-microsoft-com:vml" Requires="v">
                <p:oleObj spid="_x0000_s18493" name="" r:id="rId7" imgW="381000" imgH="160655" progId="Equation.DSMT4">
                  <p:embed/>
                </p:oleObj>
              </mc:Choice>
              <mc:Fallback>
                <p:oleObj name="" r:id="rId7" imgW="381000" imgH="160655" progId="Equation.DSMT4">
                  <p:embed/>
                  <p:pic>
                    <p:nvPicPr>
                      <p:cNvPr id="0" name="对象 98309"/>
                      <p:cNvPicPr>
                        <a:picLocks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827088" y="2924175"/>
                        <a:ext cx="2106612" cy="8905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63494" name="任意多边形 98310"/>
          <p:cNvSpPr>
            <a:spLocks noChangeArrowheads="1"/>
          </p:cNvSpPr>
          <p:nvPr/>
        </p:nvSpPr>
        <p:spPr bwMode="auto">
          <a:xfrm>
            <a:off x="3130550" y="3141663"/>
            <a:ext cx="1296988" cy="647700"/>
          </a:xfrm>
          <a:custGeom>
            <a:avLst/>
            <a:gdLst>
              <a:gd name="T0" fmla="*/ 16200 w 21600"/>
              <a:gd name="T1" fmla="*/ 0 h 21600"/>
              <a:gd name="T2" fmla="*/ 16200 w 21600"/>
              <a:gd name="T3" fmla="*/ 5400 h 21600"/>
              <a:gd name="T4" fmla="*/ 3375 w 21600"/>
              <a:gd name="T5" fmla="*/ 5400 h 21600"/>
              <a:gd name="T6" fmla="*/ 3375 w 21600"/>
              <a:gd name="T7" fmla="*/ 16200 h 21600"/>
              <a:gd name="T8" fmla="*/ 16200 w 21600"/>
              <a:gd name="T9" fmla="*/ 16200 h 21600"/>
              <a:gd name="T10" fmla="*/ 16200 w 21600"/>
              <a:gd name="T11" fmla="*/ 21600 h 21600"/>
              <a:gd name="T12" fmla="*/ 21600 w 21600"/>
              <a:gd name="T13" fmla="*/ 10800 h 21600"/>
              <a:gd name="T14" fmla="*/ 1350 w 21600"/>
              <a:gd name="T15" fmla="*/ 5400 h 21600"/>
              <a:gd name="T16" fmla="*/ 1350 w 21600"/>
              <a:gd name="T17" fmla="*/ 16200 h 21600"/>
              <a:gd name="T18" fmla="*/ 2700 w 21600"/>
              <a:gd name="T19" fmla="*/ 16200 h 21600"/>
              <a:gd name="T20" fmla="*/ 2700 w 21600"/>
              <a:gd name="T21" fmla="*/ 5400 h 21600"/>
              <a:gd name="T22" fmla="*/ 0 w 21600"/>
              <a:gd name="T23" fmla="*/ 5400 h 21600"/>
              <a:gd name="T24" fmla="*/ 0 w 21600"/>
              <a:gd name="T25" fmla="*/ 16200 h 21600"/>
              <a:gd name="T26" fmla="*/ 675 w 21600"/>
              <a:gd name="T27" fmla="*/ 16200 h 21600"/>
              <a:gd name="T28" fmla="*/ 675 w 21600"/>
              <a:gd name="T29" fmla="*/ 5400 h 216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1600" h="21600">
                <a:moveTo>
                  <a:pt x="16200" y="0"/>
                </a:moveTo>
                <a:lnTo>
                  <a:pt x="16200" y="5400"/>
                </a:lnTo>
                <a:lnTo>
                  <a:pt x="3375" y="5400"/>
                </a:lnTo>
                <a:lnTo>
                  <a:pt x="3375" y="16200"/>
                </a:lnTo>
                <a:lnTo>
                  <a:pt x="16200" y="16200"/>
                </a:lnTo>
                <a:lnTo>
                  <a:pt x="16200" y="21600"/>
                </a:lnTo>
                <a:lnTo>
                  <a:pt x="21600" y="10800"/>
                </a:lnTo>
                <a:close/>
              </a:path>
              <a:path w="21600" h="21600">
                <a:moveTo>
                  <a:pt x="1350" y="5400"/>
                </a:moveTo>
                <a:lnTo>
                  <a:pt x="1350" y="16200"/>
                </a:lnTo>
                <a:lnTo>
                  <a:pt x="2700" y="16200"/>
                </a:lnTo>
                <a:lnTo>
                  <a:pt x="2700" y="5400"/>
                </a:lnTo>
                <a:close/>
              </a:path>
              <a:path w="21600" h="21600">
                <a:moveTo>
                  <a:pt x="0" y="5400"/>
                </a:moveTo>
                <a:lnTo>
                  <a:pt x="0" y="16200"/>
                </a:lnTo>
                <a:lnTo>
                  <a:pt x="675" y="16200"/>
                </a:lnTo>
                <a:lnTo>
                  <a:pt x="675" y="5400"/>
                </a:lnTo>
                <a:close/>
              </a:path>
            </a:pathLst>
          </a:custGeom>
          <a:gradFill rotWithShape="0">
            <a:gsLst>
              <a:gs pos="0">
                <a:schemeClr val="bg1"/>
              </a:gs>
              <a:gs pos="100000">
                <a:schemeClr val="accent1"/>
              </a:gs>
            </a:gsLst>
            <a:lin ang="0" scaled="1"/>
          </a:gradFill>
          <a:ln w="9525">
            <a:solidFill>
              <a:schemeClr val="tx1"/>
            </a:solidFill>
            <a:miter lim="800000"/>
          </a:ln>
        </p:spPr>
        <p:txBody>
          <a:bodyPr/>
          <a:lstStyle/>
          <a:p>
            <a:endParaRPr lang="zh-CN" altLang="en-US"/>
          </a:p>
        </p:txBody>
      </p:sp>
      <p:graphicFrame>
        <p:nvGraphicFramePr>
          <p:cNvPr id="63495" name="对象 98311"/>
          <p:cNvGraphicFramePr/>
          <p:nvPr/>
        </p:nvGraphicFramePr>
        <p:xfrm>
          <a:off x="4619625" y="2997200"/>
          <a:ext cx="3241675" cy="820738"/>
        </p:xfrm>
        <a:graphic>
          <a:graphicData uri="http://schemas.openxmlformats.org/presentationml/2006/ole">
            <mc:AlternateContent xmlns:mc="http://schemas.openxmlformats.org/markup-compatibility/2006">
              <mc:Choice xmlns:v="urn:schemas-microsoft-com:vml" Requires="v">
                <p:oleObj spid="_x0000_s18494" name="" r:id="rId9" imgW="952500" imgH="241300" progId="Equation.DSMT4">
                  <p:embed/>
                </p:oleObj>
              </mc:Choice>
              <mc:Fallback>
                <p:oleObj name="" r:id="rId9" imgW="952500" imgH="241300" progId="Equation.DSMT4">
                  <p:embed/>
                  <p:pic>
                    <p:nvPicPr>
                      <p:cNvPr id="0" name="对象 98311"/>
                      <p:cNvPicPr>
                        <a:picLocks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619625" y="2997200"/>
                        <a:ext cx="3241675" cy="8207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63496" name="对象 98312"/>
          <p:cNvGraphicFramePr/>
          <p:nvPr/>
        </p:nvGraphicFramePr>
        <p:xfrm>
          <a:off x="250825" y="3860800"/>
          <a:ext cx="5697538" cy="1436688"/>
        </p:xfrm>
        <a:graphic>
          <a:graphicData uri="http://schemas.openxmlformats.org/presentationml/2006/ole">
            <mc:AlternateContent xmlns:mc="http://schemas.openxmlformats.org/markup-compatibility/2006">
              <mc:Choice xmlns:v="urn:schemas-microsoft-com:vml" Requires="v">
                <p:oleObj spid="_x0000_s18495" name="" r:id="rId11" imgW="1109345" imgH="279400" progId="Equation.DSMT4">
                  <p:embed/>
                </p:oleObj>
              </mc:Choice>
              <mc:Fallback>
                <p:oleObj name="" r:id="rId11" imgW="1109345" imgH="279400" progId="Equation.DSMT4">
                  <p:embed/>
                  <p:pic>
                    <p:nvPicPr>
                      <p:cNvPr id="0" name="对象 98312"/>
                      <p:cNvPicPr>
                        <a:picLocks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250825" y="3860800"/>
                        <a:ext cx="5697538" cy="1436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63497" name="对象 98313"/>
          <p:cNvGraphicFramePr/>
          <p:nvPr/>
        </p:nvGraphicFramePr>
        <p:xfrm>
          <a:off x="6011863" y="4365625"/>
          <a:ext cx="1368425" cy="541338"/>
        </p:xfrm>
        <a:graphic>
          <a:graphicData uri="http://schemas.openxmlformats.org/presentationml/2006/ole">
            <mc:AlternateContent xmlns:mc="http://schemas.openxmlformats.org/markup-compatibility/2006">
              <mc:Choice xmlns:v="urn:schemas-microsoft-com:vml" Requires="v">
                <p:oleObj spid="_x0000_s18496" name="" r:id="rId13" imgW="279400" imgH="109855" progId="Equation.DSMT4">
                  <p:embed/>
                </p:oleObj>
              </mc:Choice>
              <mc:Fallback>
                <p:oleObj name="" r:id="rId13" imgW="279400" imgH="109855" progId="Equation.DSMT4">
                  <p:embed/>
                  <p:pic>
                    <p:nvPicPr>
                      <p:cNvPr id="0" name="对象 98313"/>
                      <p:cNvPicPr>
                        <a:picLocks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6011863" y="4365625"/>
                        <a:ext cx="1368425" cy="541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63498" name="对象 98314"/>
          <p:cNvGraphicFramePr/>
          <p:nvPr/>
        </p:nvGraphicFramePr>
        <p:xfrm>
          <a:off x="7453313" y="4256088"/>
          <a:ext cx="1439862" cy="685800"/>
        </p:xfrm>
        <a:graphic>
          <a:graphicData uri="http://schemas.openxmlformats.org/presentationml/2006/ole">
            <mc:AlternateContent xmlns:mc="http://schemas.openxmlformats.org/markup-compatibility/2006">
              <mc:Choice xmlns:v="urn:schemas-microsoft-com:vml" Requires="v">
                <p:oleObj spid="_x0000_s18497" name="" r:id="rId15" imgW="338455" imgH="160655" progId="Equation.DSMT4">
                  <p:embed/>
                </p:oleObj>
              </mc:Choice>
              <mc:Fallback>
                <p:oleObj name="" r:id="rId15" imgW="338455" imgH="160655" progId="Equation.DSMT4">
                  <p:embed/>
                  <p:pic>
                    <p:nvPicPr>
                      <p:cNvPr id="0" name="对象 98314"/>
                      <p:cNvPicPr>
                        <a:picLocks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7453313" y="4256088"/>
                        <a:ext cx="1439862" cy="68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63499" name="任意多边形 98315"/>
          <p:cNvSpPr>
            <a:spLocks noChangeArrowheads="1"/>
          </p:cNvSpPr>
          <p:nvPr/>
        </p:nvSpPr>
        <p:spPr bwMode="auto">
          <a:xfrm>
            <a:off x="1116013" y="5805488"/>
            <a:ext cx="1296987" cy="647700"/>
          </a:xfrm>
          <a:custGeom>
            <a:avLst/>
            <a:gdLst>
              <a:gd name="T0" fmla="*/ 16200 w 21600"/>
              <a:gd name="T1" fmla="*/ 0 h 21600"/>
              <a:gd name="T2" fmla="*/ 16200 w 21600"/>
              <a:gd name="T3" fmla="*/ 5400 h 21600"/>
              <a:gd name="T4" fmla="*/ 3375 w 21600"/>
              <a:gd name="T5" fmla="*/ 5400 h 21600"/>
              <a:gd name="T6" fmla="*/ 3375 w 21600"/>
              <a:gd name="T7" fmla="*/ 16200 h 21600"/>
              <a:gd name="T8" fmla="*/ 16200 w 21600"/>
              <a:gd name="T9" fmla="*/ 16200 h 21600"/>
              <a:gd name="T10" fmla="*/ 16200 w 21600"/>
              <a:gd name="T11" fmla="*/ 21600 h 21600"/>
              <a:gd name="T12" fmla="*/ 21600 w 21600"/>
              <a:gd name="T13" fmla="*/ 10800 h 21600"/>
              <a:gd name="T14" fmla="*/ 1350 w 21600"/>
              <a:gd name="T15" fmla="*/ 5400 h 21600"/>
              <a:gd name="T16" fmla="*/ 1350 w 21600"/>
              <a:gd name="T17" fmla="*/ 16200 h 21600"/>
              <a:gd name="T18" fmla="*/ 2700 w 21600"/>
              <a:gd name="T19" fmla="*/ 16200 h 21600"/>
              <a:gd name="T20" fmla="*/ 2700 w 21600"/>
              <a:gd name="T21" fmla="*/ 5400 h 21600"/>
              <a:gd name="T22" fmla="*/ 0 w 21600"/>
              <a:gd name="T23" fmla="*/ 5400 h 21600"/>
              <a:gd name="T24" fmla="*/ 0 w 21600"/>
              <a:gd name="T25" fmla="*/ 16200 h 21600"/>
              <a:gd name="T26" fmla="*/ 675 w 21600"/>
              <a:gd name="T27" fmla="*/ 16200 h 21600"/>
              <a:gd name="T28" fmla="*/ 675 w 21600"/>
              <a:gd name="T29" fmla="*/ 5400 h 216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1600" h="21600">
                <a:moveTo>
                  <a:pt x="16200" y="0"/>
                </a:moveTo>
                <a:lnTo>
                  <a:pt x="16200" y="5400"/>
                </a:lnTo>
                <a:lnTo>
                  <a:pt x="3375" y="5400"/>
                </a:lnTo>
                <a:lnTo>
                  <a:pt x="3375" y="16200"/>
                </a:lnTo>
                <a:lnTo>
                  <a:pt x="16200" y="16200"/>
                </a:lnTo>
                <a:lnTo>
                  <a:pt x="16200" y="21600"/>
                </a:lnTo>
                <a:lnTo>
                  <a:pt x="21600" y="10800"/>
                </a:lnTo>
                <a:close/>
              </a:path>
              <a:path w="21600" h="21600">
                <a:moveTo>
                  <a:pt x="1350" y="5400"/>
                </a:moveTo>
                <a:lnTo>
                  <a:pt x="1350" y="16200"/>
                </a:lnTo>
                <a:lnTo>
                  <a:pt x="2700" y="16200"/>
                </a:lnTo>
                <a:lnTo>
                  <a:pt x="2700" y="5400"/>
                </a:lnTo>
                <a:close/>
              </a:path>
              <a:path w="21600" h="21600">
                <a:moveTo>
                  <a:pt x="0" y="5400"/>
                </a:moveTo>
                <a:lnTo>
                  <a:pt x="0" y="16200"/>
                </a:lnTo>
                <a:lnTo>
                  <a:pt x="675" y="16200"/>
                </a:lnTo>
                <a:lnTo>
                  <a:pt x="675" y="5400"/>
                </a:lnTo>
                <a:close/>
              </a:path>
            </a:pathLst>
          </a:custGeom>
          <a:gradFill rotWithShape="0">
            <a:gsLst>
              <a:gs pos="0">
                <a:schemeClr val="bg1"/>
              </a:gs>
              <a:gs pos="100000">
                <a:schemeClr val="accent1"/>
              </a:gs>
            </a:gsLst>
            <a:lin ang="0" scaled="1"/>
          </a:gradFill>
          <a:ln w="9525">
            <a:solidFill>
              <a:schemeClr val="tx1"/>
            </a:solidFill>
            <a:miter lim="800000"/>
          </a:ln>
        </p:spPr>
        <p:txBody>
          <a:bodyPr/>
          <a:lstStyle/>
          <a:p>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3" name="文本占位符 99330"/>
          <p:cNvSpPr>
            <a:spLocks noGrp="1" noChangeArrowheads="1"/>
          </p:cNvSpPr>
          <p:nvPr>
            <p:ph idx="1"/>
          </p:nvPr>
        </p:nvSpPr>
        <p:spPr>
          <a:xfrm>
            <a:off x="457200" y="1341438"/>
            <a:ext cx="8229600" cy="5229225"/>
          </a:xfrm>
        </p:spPr>
        <p:txBody>
          <a:bodyPr/>
          <a:lstStyle/>
          <a:p>
            <a:r>
              <a:rPr lang="zh-CN" altLang="en-US" sz="2800" b="1" dirty="0" smtClean="0">
                <a:latin typeface="黑体" panose="02010609060101010101" pitchFamily="49" charset="-122"/>
                <a:ea typeface="黑体" panose="02010609060101010101" pitchFamily="49" charset="-122"/>
              </a:rPr>
              <a:t>声速不是一个固定不变的常数，它与气体的性质及状态有关，声速是状态参数；</a:t>
            </a:r>
            <a:endParaRPr lang="zh-CN" altLang="en-US" sz="2800" b="1" dirty="0" smtClean="0">
              <a:latin typeface="黑体" panose="02010609060101010101" pitchFamily="49" charset="-122"/>
              <a:ea typeface="黑体" panose="02010609060101010101" pitchFamily="49" charset="-122"/>
            </a:endParaRPr>
          </a:p>
          <a:p>
            <a:r>
              <a:rPr lang="zh-CN" altLang="en-US" sz="2800" b="1" dirty="0" smtClean="0">
                <a:latin typeface="黑体" panose="02010609060101010101" pitchFamily="49" charset="-122"/>
                <a:ea typeface="黑体" panose="02010609060101010101" pitchFamily="49" charset="-122"/>
              </a:rPr>
              <a:t>在流动过程中，流道各个截面上气体状态是变化的，因而各个截面上的声速也变化；</a:t>
            </a:r>
            <a:endParaRPr lang="zh-CN" altLang="en-US" sz="2800" b="1" dirty="0" smtClean="0">
              <a:latin typeface="黑体" panose="02010609060101010101" pitchFamily="49" charset="-122"/>
              <a:ea typeface="黑体" panose="02010609060101010101" pitchFamily="49" charset="-122"/>
            </a:endParaRPr>
          </a:p>
          <a:p>
            <a:r>
              <a:rPr lang="zh-CN" altLang="en-US" sz="2800" b="1" dirty="0" smtClean="0">
                <a:latin typeface="黑体" panose="02010609060101010101" pitchFamily="49" charset="-122"/>
                <a:ea typeface="黑体" panose="02010609060101010101" pitchFamily="49" charset="-122"/>
              </a:rPr>
              <a:t>通常我们所说的声速是指在某一状态（</a:t>
            </a:r>
            <a:r>
              <a:rPr lang="en-US" altLang="zh-CN" sz="2800" b="1" i="1" dirty="0" err="1" smtClean="0">
                <a:latin typeface="Times New Roman" panose="02020603050405020304" pitchFamily="18" charset="0"/>
                <a:ea typeface="黑体" panose="02010609060101010101" pitchFamily="49" charset="-122"/>
                <a:cs typeface="Times New Roman" panose="02020603050405020304" pitchFamily="18" charset="0"/>
              </a:rPr>
              <a:t>p</a:t>
            </a:r>
            <a:r>
              <a:rPr lang="en-US" altLang="zh-CN" sz="2800" b="1" dirty="0" err="1" smtClean="0">
                <a:latin typeface="Times New Roman" panose="02020603050405020304" pitchFamily="18" charset="0"/>
                <a:ea typeface="黑体" panose="02010609060101010101" pitchFamily="49" charset="-122"/>
                <a:cs typeface="Times New Roman" panose="02020603050405020304" pitchFamily="18" charset="0"/>
              </a:rPr>
              <a:t>,</a:t>
            </a:r>
            <a:r>
              <a:rPr lang="en-US" altLang="zh-CN" sz="2800" b="1" i="1" dirty="0" err="1" smtClean="0">
                <a:latin typeface="Times New Roman" panose="02020603050405020304" pitchFamily="18" charset="0"/>
                <a:ea typeface="黑体" panose="02010609060101010101" pitchFamily="49" charset="-122"/>
                <a:cs typeface="Times New Roman" panose="02020603050405020304" pitchFamily="18" charset="0"/>
              </a:rPr>
              <a:t>v,T</a:t>
            </a:r>
            <a:r>
              <a:rPr lang="zh-CN" altLang="en-US" sz="2800" b="1" dirty="0" smtClean="0">
                <a:latin typeface="黑体" panose="02010609060101010101" pitchFamily="49" charset="-122"/>
                <a:ea typeface="黑体" panose="02010609060101010101" pitchFamily="49" charset="-122"/>
              </a:rPr>
              <a:t>）下的声速，称为“</a:t>
            </a:r>
            <a:r>
              <a:rPr lang="zh-CN" altLang="en-US" sz="2800" b="1" dirty="0" smtClean="0">
                <a:solidFill>
                  <a:srgbClr val="FF0000"/>
                </a:solidFill>
                <a:latin typeface="黑体" panose="02010609060101010101" pitchFamily="49" charset="-122"/>
                <a:ea typeface="黑体" panose="02010609060101010101" pitchFamily="49" charset="-122"/>
              </a:rPr>
              <a:t>当地声速</a:t>
            </a:r>
            <a:r>
              <a:rPr lang="zh-CN" altLang="en-US" sz="2800" b="1" dirty="0" smtClean="0">
                <a:latin typeface="黑体" panose="02010609060101010101" pitchFamily="49" charset="-122"/>
                <a:ea typeface="黑体" panose="02010609060101010101" pitchFamily="49" charset="-122"/>
              </a:rPr>
              <a:t>” 。</a:t>
            </a:r>
            <a:endParaRPr lang="zh-CN" altLang="en-US" sz="2800" b="1" dirty="0" smtClean="0">
              <a:latin typeface="黑体" panose="02010609060101010101" pitchFamily="49" charset="-122"/>
              <a:ea typeface="黑体" panose="02010609060101010101" pitchFamily="49" charset="-122"/>
            </a:endParaRPr>
          </a:p>
        </p:txBody>
      </p:sp>
      <p:graphicFrame>
        <p:nvGraphicFramePr>
          <p:cNvPr id="64514" name="对象 99335"/>
          <p:cNvGraphicFramePr/>
          <p:nvPr/>
        </p:nvGraphicFramePr>
        <p:xfrm>
          <a:off x="2393950" y="260350"/>
          <a:ext cx="3636963" cy="817563"/>
        </p:xfrm>
        <a:graphic>
          <a:graphicData uri="http://schemas.openxmlformats.org/presentationml/2006/ole">
            <mc:AlternateContent xmlns:mc="http://schemas.openxmlformats.org/markup-compatibility/2006">
              <mc:Choice xmlns:v="urn:schemas-microsoft-com:vml" Requires="v">
                <p:oleObj spid="_x0000_s19466" name="Equation" r:id="rId1" imgW="29870400" imgH="6705600" progId="Equation.DSMT4">
                  <p:embed/>
                </p:oleObj>
              </mc:Choice>
              <mc:Fallback>
                <p:oleObj name="Equation" r:id="rId1" imgW="29870400" imgH="6705600" progId="Equation.DSMT4">
                  <p:embed/>
                  <p:pic>
                    <p:nvPicPr>
                      <p:cNvPr id="0" name="对象 99335"/>
                      <p:cNvPicPr>
                        <a:picLocks noChangeArrowheads="1"/>
                      </p:cNvPicPr>
                      <p:nvPr/>
                    </p:nvPicPr>
                    <p:blipFill>
                      <a:blip r:embed="rId2"/>
                      <a:srcRect/>
                      <a:stretch>
                        <a:fillRect/>
                      </a:stretch>
                    </p:blipFill>
                    <p:spPr bwMode="auto">
                      <a:xfrm>
                        <a:off x="2393950" y="260350"/>
                        <a:ext cx="3636963" cy="817563"/>
                      </a:xfrm>
                      <a:prstGeom prst="rect">
                        <a:avLst/>
                      </a:prstGeom>
                      <a:noFill/>
                      <a:ln w="38100">
                        <a:solidFill>
                          <a:schemeClr val="hlink"/>
                        </a:solidFill>
                        <a:miter lim="800000"/>
                        <a:headEnd/>
                        <a:tailEnd/>
                      </a:ln>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64515" name="矩形 99337"/>
          <p:cNvSpPr>
            <a:spLocks noChangeArrowheads="1"/>
          </p:cNvSpPr>
          <p:nvPr/>
        </p:nvSpPr>
        <p:spPr bwMode="auto">
          <a:xfrm>
            <a:off x="0" y="257651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pic>
        <p:nvPicPr>
          <p:cNvPr id="2" name="图片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627333" y="4013979"/>
            <a:ext cx="3170195" cy="2408129"/>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5537" name="对象 109574"/>
          <p:cNvGraphicFramePr/>
          <p:nvPr/>
        </p:nvGraphicFramePr>
        <p:xfrm>
          <a:off x="2268538" y="2133600"/>
          <a:ext cx="3636962" cy="817563"/>
        </p:xfrm>
        <a:graphic>
          <a:graphicData uri="http://schemas.openxmlformats.org/presentationml/2006/ole">
            <mc:AlternateContent xmlns:mc="http://schemas.openxmlformats.org/markup-compatibility/2006">
              <mc:Choice xmlns:v="urn:schemas-microsoft-com:vml" Requires="v">
                <p:oleObj spid="_x0000_s20510" name="" r:id="rId1" imgW="829945" imgH="186055" progId="Equation.DSMT4">
                  <p:embed/>
                </p:oleObj>
              </mc:Choice>
              <mc:Fallback>
                <p:oleObj name="" r:id="rId1" imgW="829945" imgH="186055" progId="Equation.DSMT4">
                  <p:embed/>
                  <p:pic>
                    <p:nvPicPr>
                      <p:cNvPr id="0" name="对象 109574"/>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68538" y="2133600"/>
                        <a:ext cx="3636962" cy="817563"/>
                      </a:xfrm>
                      <a:prstGeom prst="rect">
                        <a:avLst/>
                      </a:prstGeom>
                      <a:noFill/>
                      <a:ln w="38100">
                        <a:solidFill>
                          <a:schemeClr val="hlink"/>
                        </a:solidFill>
                        <a:miter lim="800000"/>
                        <a:headEnd/>
                        <a:tailEnd/>
                      </a:ln>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09576" name="矩形 109575"/>
          <p:cNvSpPr>
            <a:spLocks noChangeArrowheads="1"/>
          </p:cNvSpPr>
          <p:nvPr/>
        </p:nvSpPr>
        <p:spPr bwMode="auto">
          <a:xfrm>
            <a:off x="755650" y="3644900"/>
            <a:ext cx="4132263"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r>
              <a:rPr lang="en-US" altLang="zh-CN" sz="3200" i="1">
                <a:latin typeface="Times New Roman" panose="02020603050405020304" pitchFamily="18" charset="0"/>
              </a:rPr>
              <a:t>T</a:t>
            </a:r>
            <a:r>
              <a:rPr lang="en-US" altLang="zh-CN" sz="3200">
                <a:latin typeface="Times New Roman" panose="02020603050405020304" pitchFamily="18" charset="0"/>
              </a:rPr>
              <a:t>=15+273.15=288.15K </a:t>
            </a:r>
            <a:endParaRPr lang="en-US" altLang="zh-CN" sz="3200">
              <a:latin typeface="Times New Roman" panose="02020603050405020304" pitchFamily="18" charset="0"/>
            </a:endParaRPr>
          </a:p>
        </p:txBody>
      </p:sp>
      <p:sp>
        <p:nvSpPr>
          <p:cNvPr id="65539" name="矩形 109577"/>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graphicFrame>
        <p:nvGraphicFramePr>
          <p:cNvPr id="109577" name="对象 109576"/>
          <p:cNvGraphicFramePr/>
          <p:nvPr/>
        </p:nvGraphicFramePr>
        <p:xfrm>
          <a:off x="952500" y="4403725"/>
          <a:ext cx="1479550" cy="552450"/>
        </p:xfrm>
        <a:graphic>
          <a:graphicData uri="http://schemas.openxmlformats.org/presentationml/2006/ole">
            <mc:AlternateContent xmlns:mc="http://schemas.openxmlformats.org/markup-compatibility/2006">
              <mc:Choice xmlns:v="urn:schemas-microsoft-com:vml" Requires="v">
                <p:oleObj spid="_x0000_s20511" name="" r:id="rId3" imgW="469265" imgH="177800" progId="Equation.DSMT4">
                  <p:embed/>
                </p:oleObj>
              </mc:Choice>
              <mc:Fallback>
                <p:oleObj name="" r:id="rId3" imgW="469265" imgH="177800" progId="Equation.DSMT4">
                  <p:embed/>
                  <p:pic>
                    <p:nvPicPr>
                      <p:cNvPr id="0" name="对象 109576"/>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52500" y="4403725"/>
                        <a:ext cx="1479550" cy="552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65541" name="矩形 109579"/>
          <p:cNvSpPr>
            <a:spLocks noChangeArrowheads="1"/>
          </p:cNvSpPr>
          <p:nvPr/>
        </p:nvSpPr>
        <p:spPr bwMode="auto">
          <a:xfrm>
            <a:off x="0" y="330041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graphicFrame>
        <p:nvGraphicFramePr>
          <p:cNvPr id="109579" name="对象 109578"/>
          <p:cNvGraphicFramePr/>
          <p:nvPr/>
        </p:nvGraphicFramePr>
        <p:xfrm>
          <a:off x="915988" y="5157788"/>
          <a:ext cx="3063875" cy="647700"/>
        </p:xfrm>
        <a:graphic>
          <a:graphicData uri="http://schemas.openxmlformats.org/presentationml/2006/ole">
            <mc:AlternateContent xmlns:mc="http://schemas.openxmlformats.org/markup-compatibility/2006">
              <mc:Choice xmlns:v="urn:schemas-microsoft-com:vml" Requires="v">
                <p:oleObj spid="_x0000_s20512" name="" r:id="rId5" imgW="1217930" imgH="254000" progId="Equation.DSMT4">
                  <p:embed/>
                </p:oleObj>
              </mc:Choice>
              <mc:Fallback>
                <p:oleObj name="" r:id="rId5" imgW="1217930" imgH="254000" progId="Equation.DSMT4">
                  <p:embed/>
                  <p:pic>
                    <p:nvPicPr>
                      <p:cNvPr id="0" name="对象 109578"/>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915988" y="5157788"/>
                        <a:ext cx="3063875"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109581" name="对象 109580"/>
          <p:cNvGraphicFramePr/>
          <p:nvPr/>
        </p:nvGraphicFramePr>
        <p:xfrm>
          <a:off x="5795963" y="4510088"/>
          <a:ext cx="1871662" cy="511175"/>
        </p:xfrm>
        <a:graphic>
          <a:graphicData uri="http://schemas.openxmlformats.org/presentationml/2006/ole">
            <mc:AlternateContent xmlns:mc="http://schemas.openxmlformats.org/markup-compatibility/2006">
              <mc:Choice xmlns:v="urn:schemas-microsoft-com:vml" Requires="v">
                <p:oleObj spid="_x0000_s20513" name="" r:id="rId7" imgW="736600" imgH="203200" progId="Equation.DSMT4">
                  <p:embed/>
                </p:oleObj>
              </mc:Choice>
              <mc:Fallback>
                <p:oleObj name="" r:id="rId7" imgW="736600" imgH="203200" progId="Equation.DSMT4">
                  <p:embed/>
                  <p:pic>
                    <p:nvPicPr>
                      <p:cNvPr id="0" name="对象 109580"/>
                      <p:cNvPicPr>
                        <a:picLocks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795963" y="4510088"/>
                        <a:ext cx="1871662" cy="511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109583" name="右大括号 109582"/>
          <p:cNvSpPr/>
          <p:nvPr/>
        </p:nvSpPr>
        <p:spPr bwMode="auto">
          <a:xfrm>
            <a:off x="5146675" y="3933825"/>
            <a:ext cx="433388" cy="1655763"/>
          </a:xfrm>
          <a:prstGeom prst="rightBrace">
            <a:avLst>
              <a:gd name="adj1" fmla="val 31678"/>
              <a:gd name="adj2" fmla="val 50000"/>
            </a:avLst>
          </a:pr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65545" name="矩形 109583"/>
          <p:cNvSpPr>
            <a:spLocks noChangeArrowheads="1"/>
          </p:cNvSpPr>
          <p:nvPr/>
        </p:nvSpPr>
        <p:spPr bwMode="auto">
          <a:xfrm>
            <a:off x="468313" y="476250"/>
            <a:ext cx="8280400" cy="107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spcBef>
                <a:spcPct val="20000"/>
              </a:spcBef>
            </a:pPr>
            <a:r>
              <a:rPr lang="zh-CN" altLang="en-US" sz="3200" b="1" dirty="0">
                <a:latin typeface="Times New Roman" panose="02020603050405020304" pitchFamily="18" charset="0"/>
                <a:ea typeface="黑体" panose="02010609060101010101" pitchFamily="49" charset="-122"/>
                <a:cs typeface="Times New Roman" panose="02020603050405020304" pitchFamily="18" charset="0"/>
              </a:rPr>
              <a:t>声音在</a:t>
            </a:r>
            <a:r>
              <a:rPr lang="en-US" altLang="zh-CN" sz="3200" b="1" dirty="0">
                <a:latin typeface="Times New Roman" panose="02020603050405020304" pitchFamily="18" charset="0"/>
                <a:ea typeface="黑体" panose="02010609060101010101" pitchFamily="49" charset="-122"/>
                <a:cs typeface="Times New Roman" panose="02020603050405020304" pitchFamily="18" charset="0"/>
              </a:rPr>
              <a:t>15℃</a:t>
            </a:r>
            <a:r>
              <a:rPr lang="zh-CN" altLang="en-US" sz="3200" b="1" dirty="0">
                <a:latin typeface="Times New Roman" panose="02020603050405020304" pitchFamily="18" charset="0"/>
                <a:ea typeface="黑体" panose="02010609060101010101" pitchFamily="49" charset="-122"/>
                <a:cs typeface="Times New Roman" panose="02020603050405020304" pitchFamily="18" charset="0"/>
              </a:rPr>
              <a:t>的空气中的传播速度为</a:t>
            </a:r>
            <a:r>
              <a:rPr lang="en-US" altLang="zh-CN" sz="3200" b="1" dirty="0">
                <a:latin typeface="Times New Roman" panose="02020603050405020304" pitchFamily="18" charset="0"/>
                <a:ea typeface="黑体" panose="02010609060101010101" pitchFamily="49" charset="-122"/>
                <a:cs typeface="Times New Roman" panose="02020603050405020304" pitchFamily="18" charset="0"/>
              </a:rPr>
              <a:t>340m/s</a:t>
            </a:r>
            <a:r>
              <a:rPr lang="zh-CN" altLang="en-US" sz="3200" b="1" dirty="0">
                <a:latin typeface="Times New Roman" panose="02020603050405020304" pitchFamily="18" charset="0"/>
                <a:ea typeface="黑体" panose="02010609060101010101" pitchFamily="49" charset="-122"/>
                <a:cs typeface="Times New Roman" panose="02020603050405020304" pitchFamily="18" charset="0"/>
              </a:rPr>
              <a:t>，这一数据是如何得出的？</a:t>
            </a:r>
            <a:endParaRPr lang="zh-CN" altLang="en-US" sz="3200" b="1" dirty="0">
              <a:latin typeface="Times New Roman" panose="02020603050405020304" pitchFamily="18" charset="0"/>
              <a:ea typeface="黑体" panose="02010609060101010101" pitchFamily="49" charset="-122"/>
              <a:cs typeface="Times New Roman" panose="02020603050405020304" pitchFamily="18" charset="0"/>
            </a:endParaRPr>
          </a:p>
        </p:txBody>
      </p:sp>
    </p:spTree>
    <p:custDataLst>
      <p:tags r:id="rId9"/>
    </p:custData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09576"/>
                                        </p:tgtEl>
                                        <p:attrNameLst>
                                          <p:attrName>style.visibility</p:attrName>
                                        </p:attrNameLst>
                                      </p:cBhvr>
                                      <p:to>
                                        <p:strVal val="visible"/>
                                      </p:to>
                                    </p:set>
                                    <p:animEffect transition="in" filter="blinds(horizontal)">
                                      <p:cBhvr>
                                        <p:cTn id="7" dur="500"/>
                                        <p:tgtEl>
                                          <p:spTgt spid="109576"/>
                                        </p:tgtEl>
                                      </p:cBhvr>
                                    </p:animEffect>
                                  </p:childTnLst>
                                </p:cTn>
                              </p:par>
                              <p:par>
                                <p:cTn id="8" presetID="3" presetClass="entr" presetSubtype="10" fill="hold" nodeType="withEffect">
                                  <p:stCondLst>
                                    <p:cond delay="0"/>
                                  </p:stCondLst>
                                  <p:childTnLst>
                                    <p:set>
                                      <p:cBhvr>
                                        <p:cTn id="9" dur="1" fill="hold">
                                          <p:stCondLst>
                                            <p:cond delay="0"/>
                                          </p:stCondLst>
                                        </p:cTn>
                                        <p:tgtEl>
                                          <p:spTgt spid="109577"/>
                                        </p:tgtEl>
                                        <p:attrNameLst>
                                          <p:attrName>style.visibility</p:attrName>
                                        </p:attrNameLst>
                                      </p:cBhvr>
                                      <p:to>
                                        <p:strVal val="visible"/>
                                      </p:to>
                                    </p:set>
                                    <p:animEffect transition="in" filter="blinds(horizontal)">
                                      <p:cBhvr>
                                        <p:cTn id="10" dur="500"/>
                                        <p:tgtEl>
                                          <p:spTgt spid="109577"/>
                                        </p:tgtEl>
                                      </p:cBhvr>
                                    </p:animEffect>
                                  </p:childTnLst>
                                </p:cTn>
                              </p:par>
                              <p:par>
                                <p:cTn id="11" presetID="3" presetClass="entr" presetSubtype="10" fill="hold" nodeType="withEffect">
                                  <p:stCondLst>
                                    <p:cond delay="0"/>
                                  </p:stCondLst>
                                  <p:childTnLst>
                                    <p:set>
                                      <p:cBhvr>
                                        <p:cTn id="12" dur="1" fill="hold">
                                          <p:stCondLst>
                                            <p:cond delay="0"/>
                                          </p:stCondLst>
                                        </p:cTn>
                                        <p:tgtEl>
                                          <p:spTgt spid="109579"/>
                                        </p:tgtEl>
                                        <p:attrNameLst>
                                          <p:attrName>style.visibility</p:attrName>
                                        </p:attrNameLst>
                                      </p:cBhvr>
                                      <p:to>
                                        <p:strVal val="visible"/>
                                      </p:to>
                                    </p:set>
                                    <p:animEffect transition="in" filter="blinds(horizontal)">
                                      <p:cBhvr>
                                        <p:cTn id="13" dur="500"/>
                                        <p:tgtEl>
                                          <p:spTgt spid="109579"/>
                                        </p:tgtEl>
                                      </p:cBhvr>
                                    </p:animEffect>
                                  </p:childTnLst>
                                </p:cTn>
                              </p:par>
                              <p:par>
                                <p:cTn id="14" presetID="3" presetClass="entr" presetSubtype="10" fill="hold" nodeType="withEffect">
                                  <p:stCondLst>
                                    <p:cond delay="0"/>
                                  </p:stCondLst>
                                  <p:childTnLst>
                                    <p:set>
                                      <p:cBhvr>
                                        <p:cTn id="15" dur="1" fill="hold">
                                          <p:stCondLst>
                                            <p:cond delay="0"/>
                                          </p:stCondLst>
                                        </p:cTn>
                                        <p:tgtEl>
                                          <p:spTgt spid="109581"/>
                                        </p:tgtEl>
                                        <p:attrNameLst>
                                          <p:attrName>style.visibility</p:attrName>
                                        </p:attrNameLst>
                                      </p:cBhvr>
                                      <p:to>
                                        <p:strVal val="visible"/>
                                      </p:to>
                                    </p:set>
                                    <p:animEffect transition="in" filter="blinds(horizontal)">
                                      <p:cBhvr>
                                        <p:cTn id="16" dur="500"/>
                                        <p:tgtEl>
                                          <p:spTgt spid="109581"/>
                                        </p:tgtEl>
                                      </p:cBhvr>
                                    </p:animEffect>
                                  </p:childTnLst>
                                </p:cTn>
                              </p:par>
                              <p:par>
                                <p:cTn id="17" presetID="3" presetClass="entr" presetSubtype="10" fill="hold" nodeType="withEffect">
                                  <p:stCondLst>
                                    <p:cond delay="0"/>
                                  </p:stCondLst>
                                  <p:childTnLst>
                                    <p:set>
                                      <p:cBhvr>
                                        <p:cTn id="18" dur="1" fill="hold">
                                          <p:stCondLst>
                                            <p:cond delay="0"/>
                                          </p:stCondLst>
                                        </p:cTn>
                                        <p:tgtEl>
                                          <p:spTgt spid="109583"/>
                                        </p:tgtEl>
                                        <p:attrNameLst>
                                          <p:attrName>style.visibility</p:attrName>
                                        </p:attrNameLst>
                                      </p:cBhvr>
                                      <p:to>
                                        <p:strVal val="visible"/>
                                      </p:to>
                                    </p:set>
                                    <p:animEffect transition="in" filter="blinds(horizontal)">
                                      <p:cBhvr>
                                        <p:cTn id="19" dur="500"/>
                                        <p:tgtEl>
                                          <p:spTgt spid="10958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9576"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矩形 102402"/>
          <p:cNvSpPr>
            <a:spLocks noChangeArrowheads="1"/>
          </p:cNvSpPr>
          <p:nvPr/>
        </p:nvSpPr>
        <p:spPr bwMode="auto">
          <a:xfrm>
            <a:off x="827088" y="1557338"/>
            <a:ext cx="7632700" cy="1800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sz="2800" b="1" dirty="0">
                <a:latin typeface="Times New Roman" panose="02020603050405020304" pitchFamily="18" charset="0"/>
                <a:ea typeface="黑体" panose="02010609060101010101" pitchFamily="49" charset="-122"/>
                <a:cs typeface="Times New Roman" panose="02020603050405020304" pitchFamily="18" charset="0"/>
              </a:rPr>
              <a:t>在研究可压缩流体的流动特征时，另一个重要的参数是马赫数。</a:t>
            </a:r>
            <a:endParaRPr lang="zh-CN" altLang="en-US" sz="2800" b="1" dirty="0">
              <a:latin typeface="Times New Roman" panose="02020603050405020304" pitchFamily="18" charset="0"/>
              <a:ea typeface="黑体" panose="02010609060101010101" pitchFamily="49" charset="-122"/>
              <a:cs typeface="Times New Roman" panose="02020603050405020304" pitchFamily="18" charset="0"/>
            </a:endParaRPr>
          </a:p>
          <a:p>
            <a:r>
              <a:rPr lang="zh-CN" altLang="en-US" sz="2800" b="1" dirty="0">
                <a:latin typeface="Times New Roman" panose="02020603050405020304" pitchFamily="18" charset="0"/>
                <a:ea typeface="黑体" panose="02010609060101010101" pitchFamily="49" charset="-122"/>
                <a:cs typeface="Times New Roman" panose="02020603050405020304" pitchFamily="18" charset="0"/>
              </a:rPr>
              <a:t>马赫数：</a:t>
            </a:r>
            <a:r>
              <a:rPr lang="zh-CN" altLang="en-US" sz="2800" b="1" dirty="0" smtClean="0">
                <a:latin typeface="Times New Roman" panose="02020603050405020304" pitchFamily="18" charset="0"/>
                <a:ea typeface="黑体" panose="02010609060101010101" pitchFamily="49" charset="-122"/>
                <a:cs typeface="Times New Roman" panose="02020603050405020304" pitchFamily="18" charset="0"/>
              </a:rPr>
              <a:t>气体的</a:t>
            </a:r>
            <a:r>
              <a:rPr lang="zh-CN" altLang="en-US" sz="2800" b="1" dirty="0">
                <a:latin typeface="Times New Roman" panose="02020603050405020304" pitchFamily="18" charset="0"/>
                <a:ea typeface="黑体" panose="02010609060101010101" pitchFamily="49" charset="-122"/>
                <a:cs typeface="Times New Roman" panose="02020603050405020304" pitchFamily="18" charset="0"/>
              </a:rPr>
              <a:t>实际速度（</a:t>
            </a:r>
            <a:r>
              <a:rPr lang="en-US" altLang="zh-CN" sz="2800" b="1" i="1" dirty="0" err="1">
                <a:latin typeface="Times New Roman" panose="02020603050405020304" pitchFamily="18" charset="0"/>
                <a:ea typeface="黑体" panose="02010609060101010101" pitchFamily="49" charset="-122"/>
                <a:cs typeface="Times New Roman" panose="02020603050405020304" pitchFamily="18" charset="0"/>
              </a:rPr>
              <a:t>c</a:t>
            </a:r>
            <a:r>
              <a:rPr lang="en-US" altLang="zh-CN" sz="2800" b="1" baseline="-25000" dirty="0" err="1">
                <a:latin typeface="Times New Roman" panose="02020603050405020304" pitchFamily="18" charset="0"/>
                <a:ea typeface="黑体" panose="02010609060101010101" pitchFamily="49" charset="-122"/>
                <a:cs typeface="Times New Roman" panose="02020603050405020304" pitchFamily="18" charset="0"/>
              </a:rPr>
              <a:t>f</a:t>
            </a:r>
            <a:r>
              <a:rPr lang="zh-CN" altLang="en-US" sz="2800" b="1" dirty="0">
                <a:latin typeface="Times New Roman" panose="02020603050405020304" pitchFamily="18" charset="0"/>
                <a:ea typeface="黑体" panose="02010609060101010101" pitchFamily="49" charset="-122"/>
                <a:cs typeface="Times New Roman" panose="02020603050405020304" pitchFamily="18" charset="0"/>
              </a:rPr>
              <a:t>）</a:t>
            </a:r>
            <a:r>
              <a:rPr lang="zh-CN" altLang="en-US" sz="2800" b="1" dirty="0" smtClean="0">
                <a:latin typeface="Times New Roman" panose="02020603050405020304" pitchFamily="18" charset="0"/>
                <a:ea typeface="黑体" panose="02010609060101010101" pitchFamily="49" charset="-122"/>
                <a:cs typeface="Times New Roman" panose="02020603050405020304" pitchFamily="18" charset="0"/>
              </a:rPr>
              <a:t>与</a:t>
            </a:r>
            <a:r>
              <a:rPr lang="zh-CN" altLang="en-US" sz="2800" b="1" dirty="0" smtClean="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同</a:t>
            </a:r>
            <a:r>
              <a:rPr lang="zh-CN" altLang="en-US" sz="2800" b="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一状态下声波在该</a:t>
            </a:r>
            <a:r>
              <a:rPr lang="zh-CN" altLang="en-US" sz="2800" b="1" dirty="0" smtClean="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气体中</a:t>
            </a:r>
            <a:r>
              <a:rPr lang="zh-CN" altLang="en-US" sz="2800" b="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传播速度（</a:t>
            </a:r>
            <a:r>
              <a:rPr lang="en-US" altLang="zh-CN" sz="2800" b="1" i="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c</a:t>
            </a:r>
            <a:r>
              <a:rPr lang="zh-CN" altLang="en-US" sz="2800" b="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）的比值</a:t>
            </a:r>
            <a:r>
              <a:rPr lang="zh-CN" altLang="en-US" sz="2800" b="1" dirty="0">
                <a:latin typeface="Times New Roman" panose="02020603050405020304" pitchFamily="18" charset="0"/>
                <a:ea typeface="黑体" panose="02010609060101010101" pitchFamily="49" charset="-122"/>
                <a:cs typeface="Times New Roman" panose="02020603050405020304" pitchFamily="18" charset="0"/>
              </a:rPr>
              <a:t> </a:t>
            </a:r>
            <a:endParaRPr lang="zh-CN" altLang="en-US" sz="2800" b="1" dirty="0">
              <a:latin typeface="Times New Roman" panose="02020603050405020304" pitchFamily="18" charset="0"/>
              <a:ea typeface="黑体" panose="02010609060101010101" pitchFamily="49" charset="-122"/>
              <a:cs typeface="Times New Roman" panose="02020603050405020304" pitchFamily="18" charset="0"/>
            </a:endParaRPr>
          </a:p>
        </p:txBody>
      </p:sp>
      <p:sp>
        <p:nvSpPr>
          <p:cNvPr id="66565" name="矩形 102408"/>
          <p:cNvSpPr>
            <a:spLocks noChangeArrowheads="1"/>
          </p:cNvSpPr>
          <p:nvPr/>
        </p:nvSpPr>
        <p:spPr bwMode="auto">
          <a:xfrm>
            <a:off x="468313" y="188913"/>
            <a:ext cx="554355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zh-CN" altLang="en-US" sz="3600" b="1" dirty="0">
                <a:latin typeface="黑体" panose="02010609060101010101" pitchFamily="49" charset="-122"/>
                <a:ea typeface="黑体" panose="02010609060101010101" pitchFamily="49" charset="-122"/>
              </a:rPr>
              <a:t>二、</a:t>
            </a:r>
            <a:r>
              <a:rPr lang="zh-CN" altLang="en-US" sz="3600" b="1" dirty="0" smtClean="0">
                <a:latin typeface="黑体" panose="02010609060101010101" pitchFamily="49" charset="-122"/>
                <a:ea typeface="黑体" panose="02010609060101010101" pitchFamily="49" charset="-122"/>
              </a:rPr>
              <a:t>马赫数</a:t>
            </a:r>
            <a:r>
              <a:rPr lang="en-US" altLang="zh-CN" sz="3600" b="1" i="1" dirty="0" smtClean="0">
                <a:latin typeface="Times New Roman" panose="02020603050405020304" pitchFamily="18" charset="0"/>
                <a:ea typeface="黑体" panose="02010609060101010101" pitchFamily="49" charset="-122"/>
                <a:cs typeface="Times New Roman" panose="02020603050405020304" pitchFamily="18" charset="0"/>
              </a:rPr>
              <a:t>Ma</a:t>
            </a:r>
            <a:endParaRPr lang="zh-CN" altLang="en-US" sz="3600" b="1" i="1" dirty="0">
              <a:latin typeface="Times New Roman" panose="02020603050405020304" pitchFamily="18" charset="0"/>
              <a:ea typeface="黑体" panose="02010609060101010101" pitchFamily="49" charset="-122"/>
              <a:cs typeface="Times New Roman" panose="02020603050405020304" pitchFamily="18" charset="0"/>
            </a:endParaRPr>
          </a:p>
        </p:txBody>
      </p:sp>
      <p:sp>
        <p:nvSpPr>
          <p:cNvPr id="8" name="矩形 104457"/>
          <p:cNvSpPr>
            <a:spLocks noChangeArrowheads="1"/>
          </p:cNvSpPr>
          <p:nvPr/>
        </p:nvSpPr>
        <p:spPr bwMode="auto">
          <a:xfrm>
            <a:off x="827089" y="4800601"/>
            <a:ext cx="7561538" cy="1373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p>
            <a:r>
              <a:rPr lang="zh-CN" altLang="en-US" sz="2800" b="1" dirty="0" smtClean="0">
                <a:latin typeface="黑体" panose="02010609060101010101" pitchFamily="49" charset="-122"/>
                <a:ea typeface="黑体" panose="02010609060101010101" pitchFamily="49" charset="-122"/>
              </a:rPr>
              <a:t>由上式知</a:t>
            </a:r>
            <a:r>
              <a:rPr lang="zh-CN" altLang="en-US" sz="2800" b="1" dirty="0">
                <a:latin typeface="黑体" panose="02010609060101010101" pitchFamily="49" charset="-122"/>
                <a:ea typeface="黑体" panose="02010609060101010101" pitchFamily="49" charset="-122"/>
              </a:rPr>
              <a:t>，即使流体的</a:t>
            </a:r>
            <a:r>
              <a:rPr lang="zh-CN" altLang="en-US" sz="2800" b="1" dirty="0" smtClean="0">
                <a:latin typeface="黑体" panose="02010609060101010101" pitchFamily="49" charset="-122"/>
                <a:ea typeface="黑体" panose="02010609060101010101" pitchFamily="49" charset="-122"/>
              </a:rPr>
              <a:t>速度</a:t>
            </a:r>
            <a:r>
              <a:rPr lang="en-US" altLang="zh-CN" sz="2800" b="1" i="1" dirty="0" err="1">
                <a:latin typeface="Times New Roman" panose="02020603050405020304" pitchFamily="18" charset="0"/>
                <a:ea typeface="黑体" panose="02010609060101010101" pitchFamily="49" charset="-122"/>
                <a:cs typeface="Times New Roman" panose="02020603050405020304" pitchFamily="18" charset="0"/>
              </a:rPr>
              <a:t>c</a:t>
            </a:r>
            <a:r>
              <a:rPr lang="en-US" altLang="zh-CN" sz="2800" b="1" baseline="-25000" dirty="0" err="1">
                <a:latin typeface="Times New Roman" panose="02020603050405020304" pitchFamily="18" charset="0"/>
                <a:ea typeface="黑体" panose="02010609060101010101" pitchFamily="49" charset="-122"/>
                <a:cs typeface="Times New Roman" panose="02020603050405020304" pitchFamily="18" charset="0"/>
              </a:rPr>
              <a:t>f</a:t>
            </a:r>
            <a:r>
              <a:rPr lang="zh-CN" altLang="en-US" sz="2800" b="1" dirty="0" smtClean="0">
                <a:latin typeface="黑体" panose="02010609060101010101" pitchFamily="49" charset="-122"/>
                <a:ea typeface="黑体" panose="02010609060101010101" pitchFamily="49" charset="-122"/>
              </a:rPr>
              <a:t>保持</a:t>
            </a:r>
            <a:r>
              <a:rPr lang="zh-CN" altLang="en-US" sz="2800" b="1" dirty="0">
                <a:latin typeface="黑体" panose="02010609060101010101" pitchFamily="49" charset="-122"/>
                <a:ea typeface="黑体" panose="02010609060101010101" pitchFamily="49" charset="-122"/>
              </a:rPr>
              <a:t>不变，但如果它的热力状态发生改变（</a:t>
            </a:r>
            <a:r>
              <a:rPr lang="zh-CN" altLang="en-US" sz="2800" b="1" dirty="0" smtClean="0">
                <a:latin typeface="黑体" panose="02010609060101010101" pitchFamily="49" charset="-122"/>
                <a:ea typeface="黑体" panose="02010609060101010101" pitchFamily="49" charset="-122"/>
              </a:rPr>
              <a:t>进而</a:t>
            </a:r>
            <a:r>
              <a:rPr lang="en-US" altLang="zh-CN" sz="2800" b="1" i="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c</a:t>
            </a:r>
            <a:r>
              <a:rPr lang="zh-CN" altLang="en-US" sz="2800" b="1" dirty="0" smtClean="0">
                <a:latin typeface="黑体" panose="02010609060101010101" pitchFamily="49" charset="-122"/>
                <a:ea typeface="黑体" panose="02010609060101010101" pitchFamily="49" charset="-122"/>
              </a:rPr>
              <a:t>改变</a:t>
            </a:r>
            <a:r>
              <a:rPr lang="zh-CN" altLang="en-US" sz="2800" b="1" dirty="0">
                <a:latin typeface="黑体" panose="02010609060101010101" pitchFamily="49" charset="-122"/>
                <a:ea typeface="黑体" panose="02010609060101010101" pitchFamily="49" charset="-122"/>
              </a:rPr>
              <a:t>），其流动的马赫数也不相同。</a:t>
            </a:r>
            <a:endParaRPr lang="zh-CN" altLang="en-US" sz="2800" b="1" dirty="0">
              <a:latin typeface="黑体" panose="02010609060101010101" pitchFamily="49" charset="-122"/>
              <a:ea typeface="黑体" panose="02010609060101010101" pitchFamily="49" charset="-122"/>
            </a:endParaRPr>
          </a:p>
        </p:txBody>
      </p:sp>
      <p:graphicFrame>
        <p:nvGraphicFramePr>
          <p:cNvPr id="9" name="对象 104459"/>
          <p:cNvGraphicFramePr/>
          <p:nvPr/>
        </p:nvGraphicFramePr>
        <p:xfrm>
          <a:off x="2563813" y="3357563"/>
          <a:ext cx="2970212" cy="1184275"/>
        </p:xfrm>
        <a:graphic>
          <a:graphicData uri="http://schemas.openxmlformats.org/presentationml/2006/ole">
            <mc:AlternateContent xmlns:mc="http://schemas.openxmlformats.org/markup-compatibility/2006">
              <mc:Choice xmlns:v="urn:schemas-microsoft-com:vml" Requires="v">
                <p:oleObj spid="_x0000_s21513" name="Equation" r:id="rId1" imgW="28346400" imgH="11277600" progId="Equation.DSMT4">
                  <p:embed/>
                </p:oleObj>
              </mc:Choice>
              <mc:Fallback>
                <p:oleObj name="Equation" r:id="rId1" imgW="28346400" imgH="11277600" progId="Equation.DSMT4">
                  <p:embed/>
                  <p:pic>
                    <p:nvPicPr>
                      <p:cNvPr id="0" name="对象 104459"/>
                      <p:cNvPicPr>
                        <a:picLocks noChangeArrowheads="1"/>
                      </p:cNvPicPr>
                      <p:nvPr/>
                    </p:nvPicPr>
                    <p:blipFill>
                      <a:blip r:embed="rId2"/>
                      <a:srcRect/>
                      <a:stretch>
                        <a:fillRect/>
                      </a:stretch>
                    </p:blipFill>
                    <p:spPr bwMode="auto">
                      <a:xfrm>
                        <a:off x="2563813" y="3357563"/>
                        <a:ext cx="2970212" cy="1184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7586" name="对象 104459"/>
          <p:cNvGraphicFramePr/>
          <p:nvPr/>
        </p:nvGraphicFramePr>
        <p:xfrm>
          <a:off x="1437585" y="2107164"/>
          <a:ext cx="1404938" cy="992188"/>
        </p:xfrm>
        <a:graphic>
          <a:graphicData uri="http://schemas.openxmlformats.org/presentationml/2006/ole">
            <mc:AlternateContent xmlns:mc="http://schemas.openxmlformats.org/markup-compatibility/2006">
              <mc:Choice xmlns:v="urn:schemas-microsoft-com:vml" Requires="v">
                <p:oleObj spid="_x0000_s22537" name="Equation" r:id="rId1" imgW="13411200" imgH="9448800" progId="Equation.DSMT4">
                  <p:embed/>
                </p:oleObj>
              </mc:Choice>
              <mc:Fallback>
                <p:oleObj name="Equation" r:id="rId1" imgW="13411200" imgH="9448800" progId="Equation.DSMT4">
                  <p:embed/>
                  <p:pic>
                    <p:nvPicPr>
                      <p:cNvPr id="0" name="对象 104459"/>
                      <p:cNvPicPr>
                        <a:picLocks noChangeArrowheads="1"/>
                      </p:cNvPicPr>
                      <p:nvPr/>
                    </p:nvPicPr>
                    <p:blipFill>
                      <a:blip r:embed="rId2"/>
                      <a:srcRect/>
                      <a:stretch>
                        <a:fillRect/>
                      </a:stretch>
                    </p:blipFill>
                    <p:spPr bwMode="auto">
                      <a:xfrm>
                        <a:off x="1437585" y="2107164"/>
                        <a:ext cx="1404938" cy="992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5" name="矩形 102401"/>
          <p:cNvSpPr>
            <a:spLocks noChangeArrowheads="1"/>
          </p:cNvSpPr>
          <p:nvPr/>
        </p:nvSpPr>
        <p:spPr bwMode="auto">
          <a:xfrm>
            <a:off x="3414506" y="1842052"/>
            <a:ext cx="5791200" cy="1676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a:spcBef>
                <a:spcPct val="20000"/>
              </a:spcBef>
            </a:pPr>
            <a:r>
              <a:rPr lang="en-US" altLang="zh-CN" sz="2800" b="1" i="1" dirty="0">
                <a:latin typeface="Times New Roman" panose="02020603050405020304" pitchFamily="18" charset="0"/>
              </a:rPr>
              <a:t>Ma</a:t>
            </a:r>
            <a:r>
              <a:rPr lang="zh-CN" altLang="en-US" sz="2800" b="1" dirty="0">
                <a:latin typeface="Times New Roman" panose="02020603050405020304" pitchFamily="18" charset="0"/>
              </a:rPr>
              <a:t>＜</a:t>
            </a:r>
            <a:r>
              <a:rPr lang="en-US" altLang="zh-CN" sz="2800" b="1" dirty="0">
                <a:latin typeface="Times New Roman" panose="02020603050405020304" pitchFamily="18" charset="0"/>
              </a:rPr>
              <a:t>1 </a:t>
            </a:r>
            <a:r>
              <a:rPr lang="zh-CN" altLang="en-US" sz="2800" b="1" dirty="0">
                <a:latin typeface="Times New Roman" panose="02020603050405020304" pitchFamily="18" charset="0"/>
              </a:rPr>
              <a:t>　亚声速</a:t>
            </a:r>
            <a:endParaRPr lang="zh-CN" altLang="en-US" sz="2800" b="1" dirty="0">
              <a:latin typeface="Times New Roman" panose="02020603050405020304" pitchFamily="18" charset="0"/>
            </a:endParaRPr>
          </a:p>
          <a:p>
            <a:pPr algn="just">
              <a:spcBef>
                <a:spcPct val="20000"/>
              </a:spcBef>
            </a:pPr>
            <a:r>
              <a:rPr lang="en-US" altLang="zh-CN" sz="2800" b="1" i="1" dirty="0">
                <a:latin typeface="Times New Roman" panose="02020603050405020304" pitchFamily="18" charset="0"/>
              </a:rPr>
              <a:t>Ma</a:t>
            </a:r>
            <a:r>
              <a:rPr lang="zh-CN" altLang="en-US" sz="2800" b="1" dirty="0">
                <a:latin typeface="Times New Roman" panose="02020603050405020304" pitchFamily="18" charset="0"/>
              </a:rPr>
              <a:t>＝</a:t>
            </a:r>
            <a:r>
              <a:rPr lang="en-US" altLang="zh-CN" sz="2800" b="1" dirty="0">
                <a:latin typeface="Times New Roman" panose="02020603050405020304" pitchFamily="18" charset="0"/>
              </a:rPr>
              <a:t>1 </a:t>
            </a:r>
            <a:r>
              <a:rPr lang="zh-CN" altLang="en-US" sz="2800" b="1" dirty="0">
                <a:latin typeface="Times New Roman" panose="02020603050405020304" pitchFamily="18" charset="0"/>
              </a:rPr>
              <a:t>　临界流动</a:t>
            </a:r>
            <a:endParaRPr lang="zh-CN" altLang="en-US" sz="2800" b="1" dirty="0">
              <a:latin typeface="Times New Roman" panose="02020603050405020304" pitchFamily="18" charset="0"/>
            </a:endParaRPr>
          </a:p>
          <a:p>
            <a:pPr algn="just">
              <a:spcBef>
                <a:spcPct val="20000"/>
              </a:spcBef>
            </a:pPr>
            <a:r>
              <a:rPr lang="en-US" altLang="zh-CN" sz="2800" b="1" i="1" dirty="0">
                <a:latin typeface="Times New Roman" panose="02020603050405020304" pitchFamily="18" charset="0"/>
              </a:rPr>
              <a:t>Ma</a:t>
            </a:r>
            <a:r>
              <a:rPr lang="zh-CN" altLang="en-US" sz="2800" b="1" dirty="0">
                <a:latin typeface="Times New Roman" panose="02020603050405020304" pitchFamily="18" charset="0"/>
              </a:rPr>
              <a:t>＞</a:t>
            </a:r>
            <a:r>
              <a:rPr lang="en-US" altLang="zh-CN" sz="2800" b="1" dirty="0">
                <a:latin typeface="Times New Roman" panose="02020603050405020304" pitchFamily="18" charset="0"/>
              </a:rPr>
              <a:t>1 </a:t>
            </a:r>
            <a:r>
              <a:rPr lang="zh-CN" altLang="en-US" sz="2800" b="1" dirty="0">
                <a:latin typeface="Times New Roman" panose="02020603050405020304" pitchFamily="18" charset="0"/>
              </a:rPr>
              <a:t>　超声速</a:t>
            </a:r>
            <a:endParaRPr lang="zh-CN" altLang="en-US" sz="2800" b="1" dirty="0">
              <a:latin typeface="Times New Roman" panose="02020603050405020304" pitchFamily="18" charset="0"/>
            </a:endParaRPr>
          </a:p>
        </p:txBody>
      </p:sp>
      <p:sp>
        <p:nvSpPr>
          <p:cNvPr id="6" name="左大括号 102404"/>
          <p:cNvSpPr/>
          <p:nvPr/>
        </p:nvSpPr>
        <p:spPr bwMode="auto">
          <a:xfrm>
            <a:off x="3033506" y="1918252"/>
            <a:ext cx="304800" cy="1447800"/>
          </a:xfrm>
          <a:prstGeom prst="leftBrace">
            <a:avLst>
              <a:gd name="adj1" fmla="val 39385"/>
              <a:gd name="adj2" fmla="val 50000"/>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7" name="矩形 102402"/>
          <p:cNvSpPr>
            <a:spLocks noChangeArrowheads="1"/>
          </p:cNvSpPr>
          <p:nvPr/>
        </p:nvSpPr>
        <p:spPr bwMode="auto">
          <a:xfrm>
            <a:off x="793958" y="556799"/>
            <a:ext cx="763270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sz="2800" b="1" dirty="0" smtClean="0">
                <a:latin typeface="Times New Roman" panose="02020603050405020304" pitchFamily="18" charset="0"/>
                <a:ea typeface="黑体" panose="02010609060101010101" pitchFamily="49" charset="-122"/>
                <a:cs typeface="Times New Roman" panose="02020603050405020304" pitchFamily="18" charset="0"/>
              </a:rPr>
              <a:t>利用马赫数可以将气体的流动分类为：</a:t>
            </a:r>
            <a:endParaRPr lang="zh-CN" altLang="en-US" sz="2800" b="1" dirty="0">
              <a:latin typeface="Times New Roman" panose="02020603050405020304" pitchFamily="18" charset="0"/>
              <a:ea typeface="黑体" panose="02010609060101010101" pitchFamily="49" charset="-122"/>
              <a:cs typeface="Times New Roman" panose="02020603050405020304" pitchFamily="18" charset="0"/>
            </a:endParaRPr>
          </a:p>
        </p:txBody>
      </p:sp>
      <p:pic>
        <p:nvPicPr>
          <p:cNvPr id="15368" name="Picture 8" descr="图片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14350" y="3841267"/>
            <a:ext cx="1851408" cy="20233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矩形 7"/>
          <p:cNvSpPr/>
          <p:nvPr/>
        </p:nvSpPr>
        <p:spPr>
          <a:xfrm>
            <a:off x="906383" y="5970522"/>
            <a:ext cx="2467342" cy="369332"/>
          </a:xfrm>
          <a:prstGeom prst="rect">
            <a:avLst/>
          </a:prstGeom>
        </p:spPr>
        <p:txBody>
          <a:bodyPr wrap="none">
            <a:spAutoFit/>
          </a:bodyPr>
          <a:lstStyle/>
          <a:p>
            <a:r>
              <a:rPr lang="en-US" altLang="zh-CN" kern="100" dirty="0">
                <a:latin typeface="Times New Roman" panose="02020603050405020304" pitchFamily="18" charset="0"/>
                <a:ea typeface="宋体" panose="02010600030101010101" pitchFamily="2" charset="-122"/>
              </a:rPr>
              <a:t>Ernst Mach (1838-1916)</a:t>
            </a:r>
            <a:endParaRPr lang="zh-CN" altLang="en-US" dirty="0"/>
          </a:p>
        </p:txBody>
      </p:sp>
    </p:spTree>
  </p:cSld>
  <p:clrMapOvr>
    <a:masterClrMapping/>
  </p:clrMapOvr>
  <p:transition/>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09" name="矩形 22529"/>
          <p:cNvSpPr>
            <a:spLocks noChangeArrowheads="1"/>
          </p:cNvSpPr>
          <p:nvPr/>
        </p:nvSpPr>
        <p:spPr bwMode="auto">
          <a:xfrm>
            <a:off x="468313" y="1873250"/>
            <a:ext cx="8675687" cy="1555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lstStyle/>
          <a:p>
            <a:pPr algn="ctr"/>
            <a:r>
              <a:rPr lang="zh-CN" altLang="en-US" sz="4000" b="1" dirty="0"/>
              <a:t>§</a:t>
            </a:r>
            <a:r>
              <a:rPr lang="en-US" altLang="zh-CN" sz="4000" b="1" dirty="0">
                <a:latin typeface="黑体" panose="02010609060101010101" pitchFamily="49" charset="-122"/>
                <a:ea typeface="黑体" panose="02010609060101010101" pitchFamily="49" charset="-122"/>
              </a:rPr>
              <a:t>10-5  </a:t>
            </a:r>
            <a:r>
              <a:rPr lang="zh-CN" altLang="en-US" sz="4000" b="1" dirty="0">
                <a:latin typeface="黑体" panose="02010609060101010101" pitchFamily="49" charset="-122"/>
                <a:ea typeface="黑体" panose="02010609060101010101" pitchFamily="49" charset="-122"/>
              </a:rPr>
              <a:t>促使流速改变的条件</a:t>
            </a:r>
            <a:endParaRPr lang="zh-CN" altLang="en-US" sz="4000" b="1" dirty="0">
              <a:latin typeface="黑体" panose="02010609060101010101" pitchFamily="49" charset="-122"/>
              <a:ea typeface="黑体" panose="02010609060101010101" pitchFamily="49" charset="-122"/>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3" name="文本占位符 112642"/>
          <p:cNvSpPr>
            <a:spLocks noGrp="1" noChangeArrowheads="1"/>
          </p:cNvSpPr>
          <p:nvPr>
            <p:ph idx="1"/>
          </p:nvPr>
        </p:nvSpPr>
        <p:spPr>
          <a:xfrm>
            <a:off x="495300" y="473868"/>
            <a:ext cx="8229600" cy="3167063"/>
          </a:xfrm>
        </p:spPr>
        <p:txBody>
          <a:bodyPr>
            <a:normAutofit/>
          </a:bodyPr>
          <a:lstStyle/>
          <a:p>
            <a:pPr>
              <a:lnSpc>
                <a:spcPct val="100000"/>
              </a:lnSpc>
            </a:pPr>
            <a:r>
              <a:rPr lang="zh-CN" altLang="en-US" sz="2800" b="1" dirty="0" smtClean="0">
                <a:ea typeface="黑体" panose="02010609060101010101" pitchFamily="49" charset="-122"/>
              </a:rPr>
              <a:t>流体在流动过程中，其外部状态参数（如速度）和内部状态参数的变化规律受到基本方程式的制约。</a:t>
            </a:r>
            <a:endParaRPr lang="en-US" altLang="zh-CN" sz="2800" b="1" dirty="0" smtClean="0">
              <a:ea typeface="黑体" panose="02010609060101010101" pitchFamily="49" charset="-122"/>
            </a:endParaRPr>
          </a:p>
          <a:p>
            <a:pPr>
              <a:lnSpc>
                <a:spcPct val="100000"/>
              </a:lnSpc>
            </a:pPr>
            <a:r>
              <a:rPr lang="zh-CN" altLang="en-US" sz="2800" b="1" dirty="0" smtClean="0">
                <a:ea typeface="黑体" panose="02010609060101010101" pitchFamily="49" charset="-122"/>
              </a:rPr>
              <a:t>要实现预期的流速变化（增速或减速），需根据能量和质量守恒原理满足相应的约束条件</a:t>
            </a:r>
            <a:r>
              <a:rPr lang="en-US" altLang="zh-CN" sz="2800" b="1" dirty="0" smtClean="0">
                <a:ea typeface="黑体" panose="02010609060101010101" pitchFamily="49" charset="-122"/>
              </a:rPr>
              <a:t>——</a:t>
            </a:r>
            <a:r>
              <a:rPr lang="zh-CN" altLang="en-US" sz="2800" b="1" dirty="0" smtClean="0">
                <a:ea typeface="黑体" panose="02010609060101010101" pitchFamily="49" charset="-122"/>
              </a:rPr>
              <a:t>力学条件和流道几何条件。本节将基于流体稳定定熵流动的基本方程式，推导促使流速改变的这两种条件。</a:t>
            </a:r>
            <a:r>
              <a:rPr lang="zh-CN" altLang="en-US" sz="2800" dirty="0" smtClean="0"/>
              <a:t> </a:t>
            </a:r>
            <a:endParaRPr lang="zh-CN" altLang="en-US" sz="2800" dirty="0" smtClean="0"/>
          </a:p>
        </p:txBody>
      </p:sp>
      <p:graphicFrame>
        <p:nvGraphicFramePr>
          <p:cNvPr id="112647" name="对象 112646"/>
          <p:cNvGraphicFramePr>
            <a:graphicFrameLocks noChangeAspect="1"/>
          </p:cNvGraphicFramePr>
          <p:nvPr/>
        </p:nvGraphicFramePr>
        <p:xfrm>
          <a:off x="844550" y="3789363"/>
          <a:ext cx="2793600" cy="1079100"/>
        </p:xfrm>
        <a:graphic>
          <a:graphicData uri="http://schemas.openxmlformats.org/presentationml/2006/ole">
            <mc:AlternateContent xmlns:mc="http://schemas.openxmlformats.org/markup-compatibility/2006">
              <mc:Choice xmlns:v="urn:schemas-microsoft-com:vml" Requires="v">
                <p:oleObj spid="_x0000_s23582" name="" r:id="rId1" imgW="1117600" imgH="431800" progId="Equation.DSMT4">
                  <p:embed/>
                </p:oleObj>
              </mc:Choice>
              <mc:Fallback>
                <p:oleObj name="" r:id="rId1" imgW="1117600" imgH="431800" progId="Equation.DSMT4">
                  <p:embed/>
                  <p:pic>
                    <p:nvPicPr>
                      <p:cNvPr id="0" name="对象 112646"/>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44550" y="3789363"/>
                        <a:ext cx="2793600" cy="1079100"/>
                      </a:xfrm>
                      <a:prstGeom prst="rect">
                        <a:avLst/>
                      </a:prstGeom>
                      <a:noFill/>
                      <a:ln w="25400">
                        <a:solidFill>
                          <a:srgbClr val="FF0000"/>
                        </a:solidFill>
                        <a:miter lim="800000"/>
                        <a:headEnd/>
                        <a:tailEnd/>
                      </a:ln>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12651" name="对象 112650"/>
          <p:cNvGraphicFramePr/>
          <p:nvPr/>
        </p:nvGraphicFramePr>
        <p:xfrm>
          <a:off x="844550" y="5165725"/>
          <a:ext cx="2663825" cy="1069975"/>
        </p:xfrm>
        <a:graphic>
          <a:graphicData uri="http://schemas.openxmlformats.org/presentationml/2006/ole">
            <mc:AlternateContent xmlns:mc="http://schemas.openxmlformats.org/markup-compatibility/2006">
              <mc:Choice xmlns:v="urn:schemas-microsoft-com:vml" Requires="v">
                <p:oleObj spid="_x0000_s23583" name="" r:id="rId3" imgW="1066800" imgH="431800" progId="Equation.DSMT4">
                  <p:embed/>
                </p:oleObj>
              </mc:Choice>
              <mc:Fallback>
                <p:oleObj name="" r:id="rId3" imgW="1066800" imgH="431800" progId="Equation.DSMT4">
                  <p:embed/>
                  <p:pic>
                    <p:nvPicPr>
                      <p:cNvPr id="0" name="对象 112650"/>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44550" y="5165725"/>
                        <a:ext cx="2663825" cy="1069975"/>
                      </a:xfrm>
                      <a:prstGeom prst="rect">
                        <a:avLst/>
                      </a:prstGeom>
                      <a:noFill/>
                      <a:ln w="25400">
                        <a:solidFill>
                          <a:srgbClr val="FF0000"/>
                        </a:solidFill>
                        <a:miter lim="800000"/>
                        <a:headEnd/>
                        <a:tailEnd/>
                      </a:ln>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12655" name="对象 112654"/>
          <p:cNvGraphicFramePr>
            <a:graphicFrameLocks noChangeAspect="1"/>
          </p:cNvGraphicFramePr>
          <p:nvPr/>
        </p:nvGraphicFramePr>
        <p:xfrm>
          <a:off x="4786519" y="3609978"/>
          <a:ext cx="3682800" cy="1586700"/>
        </p:xfrm>
        <a:graphic>
          <a:graphicData uri="http://schemas.openxmlformats.org/presentationml/2006/ole">
            <mc:AlternateContent xmlns:mc="http://schemas.openxmlformats.org/markup-compatibility/2006">
              <mc:Choice xmlns:v="urn:schemas-microsoft-com:vml" Requires="v">
                <p:oleObj spid="_x0000_s23584" name="" r:id="rId5" imgW="1473200" imgH="634365" progId="Equation.DSMT4">
                  <p:embed/>
                </p:oleObj>
              </mc:Choice>
              <mc:Fallback>
                <p:oleObj name="" r:id="rId5" imgW="1473200" imgH="634365" progId="Equation.DSMT4">
                  <p:embed/>
                  <p:pic>
                    <p:nvPicPr>
                      <p:cNvPr id="0" name="对象 112654"/>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786519" y="3609978"/>
                        <a:ext cx="3682800" cy="1586700"/>
                      </a:xfrm>
                      <a:prstGeom prst="rect">
                        <a:avLst/>
                      </a:prstGeom>
                      <a:noFill/>
                      <a:ln w="25400">
                        <a:solidFill>
                          <a:srgbClr val="FF0000"/>
                        </a:solidFill>
                        <a:miter lim="800000"/>
                        <a:headEnd/>
                        <a:tailEnd/>
                      </a:ln>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12659" name="对象 112658"/>
          <p:cNvGraphicFramePr>
            <a:graphicFrameLocks noChangeAspect="1"/>
          </p:cNvGraphicFramePr>
          <p:nvPr/>
        </p:nvGraphicFramePr>
        <p:xfrm>
          <a:off x="4786519" y="5493565"/>
          <a:ext cx="1523340" cy="602988"/>
        </p:xfrm>
        <a:graphic>
          <a:graphicData uri="http://schemas.openxmlformats.org/presentationml/2006/ole">
            <mc:AlternateContent xmlns:mc="http://schemas.openxmlformats.org/markup-compatibility/2006">
              <mc:Choice xmlns:v="urn:schemas-microsoft-com:vml" Requires="v">
                <p:oleObj spid="_x0000_s23585" name="" r:id="rId7" imgW="609600" imgH="241300" progId="Equation.DSMT4">
                  <p:embed/>
                </p:oleObj>
              </mc:Choice>
              <mc:Fallback>
                <p:oleObj name="" r:id="rId7" imgW="609600" imgH="241300" progId="Equation.DSMT4">
                  <p:embed/>
                  <p:pic>
                    <p:nvPicPr>
                      <p:cNvPr id="0" name="对象 112658"/>
                      <p:cNvPicPr>
                        <a:picLocks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786519" y="5493565"/>
                        <a:ext cx="1523340" cy="602988"/>
                      </a:xfrm>
                      <a:prstGeom prst="rect">
                        <a:avLst/>
                      </a:prstGeom>
                      <a:noFill/>
                      <a:ln w="25400">
                        <a:solidFill>
                          <a:srgbClr val="FF0000"/>
                        </a:solidFill>
                        <a:miter lim="800000"/>
                        <a:headEnd/>
                        <a:tailEnd/>
                      </a:ln>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ustDataLst>
      <p:tags r:id="rId9"/>
    </p:custData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7" name="标题 117761"/>
          <p:cNvSpPr>
            <a:spLocks noGrp="1" noChangeArrowheads="1"/>
          </p:cNvSpPr>
          <p:nvPr>
            <p:ph type="title" idx="4294967295"/>
          </p:nvPr>
        </p:nvSpPr>
        <p:spPr>
          <a:xfrm>
            <a:off x="179388" y="188913"/>
            <a:ext cx="8229600" cy="1143000"/>
          </a:xfrm>
        </p:spPr>
        <p:txBody>
          <a:bodyPr/>
          <a:lstStyle/>
          <a:p>
            <a:pPr algn="l"/>
            <a:r>
              <a:rPr lang="zh-CN" altLang="en-US" sz="3600" b="1" smtClean="0">
                <a:ea typeface="黑体" panose="02010609060101010101" pitchFamily="49" charset="-122"/>
              </a:rPr>
              <a:t>一、力学条件</a:t>
            </a:r>
            <a:endParaRPr lang="zh-CN" altLang="en-US" sz="3600" b="1" smtClean="0">
              <a:ea typeface="黑体" panose="02010609060101010101" pitchFamily="49" charset="-122"/>
            </a:endParaRPr>
          </a:p>
        </p:txBody>
      </p:sp>
      <p:sp>
        <p:nvSpPr>
          <p:cNvPr id="70658" name="矩形 117764"/>
          <p:cNvSpPr>
            <a:spLocks noChangeArrowheads="1"/>
          </p:cNvSpPr>
          <p:nvPr/>
        </p:nvSpPr>
        <p:spPr bwMode="auto">
          <a:xfrm>
            <a:off x="0" y="330993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graphicFrame>
        <p:nvGraphicFramePr>
          <p:cNvPr id="70659" name="对象 117763"/>
          <p:cNvGraphicFramePr/>
          <p:nvPr/>
        </p:nvGraphicFramePr>
        <p:xfrm>
          <a:off x="3708400" y="1700213"/>
          <a:ext cx="2303463" cy="619125"/>
        </p:xfrm>
        <a:graphic>
          <a:graphicData uri="http://schemas.openxmlformats.org/presentationml/2006/ole">
            <mc:AlternateContent xmlns:mc="http://schemas.openxmlformats.org/markup-compatibility/2006">
              <mc:Choice xmlns:v="urn:schemas-microsoft-com:vml" Requires="v">
                <p:oleObj spid="_x0000_s24634" name="" r:id="rId1" imgW="888365" imgH="241300" progId="Equation.DSMT4">
                  <p:embed/>
                </p:oleObj>
              </mc:Choice>
              <mc:Fallback>
                <p:oleObj name="" r:id="rId1" imgW="888365" imgH="241300" progId="Equation.DSMT4">
                  <p:embed/>
                  <p:pic>
                    <p:nvPicPr>
                      <p:cNvPr id="0" name="对象 117763"/>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708400" y="1700213"/>
                        <a:ext cx="2303463" cy="619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70660" name="对象 117765"/>
          <p:cNvGraphicFramePr/>
          <p:nvPr/>
        </p:nvGraphicFramePr>
        <p:xfrm>
          <a:off x="250825" y="1484313"/>
          <a:ext cx="2663825" cy="1069975"/>
        </p:xfrm>
        <a:graphic>
          <a:graphicData uri="http://schemas.openxmlformats.org/presentationml/2006/ole">
            <mc:AlternateContent xmlns:mc="http://schemas.openxmlformats.org/markup-compatibility/2006">
              <mc:Choice xmlns:v="urn:schemas-microsoft-com:vml" Requires="v">
                <p:oleObj spid="_x0000_s24635" name="" r:id="rId3" imgW="1066800" imgH="431800" progId="Equation.DSMT4">
                  <p:embed/>
                </p:oleObj>
              </mc:Choice>
              <mc:Fallback>
                <p:oleObj name="" r:id="rId3" imgW="1066800" imgH="431800" progId="Equation.DSMT4">
                  <p:embed/>
                  <p:pic>
                    <p:nvPicPr>
                      <p:cNvPr id="0" name="对象 117765"/>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50825" y="1484313"/>
                        <a:ext cx="2663825" cy="1069975"/>
                      </a:xfrm>
                      <a:prstGeom prst="rect">
                        <a:avLst/>
                      </a:prstGeom>
                      <a:noFill/>
                      <a:ln w="25400">
                        <a:solidFill>
                          <a:srgbClr val="FF0000"/>
                        </a:solidFill>
                        <a:miter lim="800000"/>
                        <a:headEnd/>
                        <a:tailEnd/>
                      </a:ln>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70661" name="右箭头 117766"/>
          <p:cNvSpPr>
            <a:spLocks noChangeArrowheads="1"/>
          </p:cNvSpPr>
          <p:nvPr/>
        </p:nvSpPr>
        <p:spPr bwMode="auto">
          <a:xfrm>
            <a:off x="2987675" y="1916113"/>
            <a:ext cx="647700" cy="144462"/>
          </a:xfrm>
          <a:prstGeom prst="rightArrow">
            <a:avLst>
              <a:gd name="adj1" fmla="val 50000"/>
              <a:gd name="adj2" fmla="val 111901"/>
            </a:avLst>
          </a:prstGeom>
          <a:solidFill>
            <a:schemeClr val="accent1"/>
          </a:solidFill>
          <a:ln w="9525">
            <a:solidFill>
              <a:schemeClr val="tx1"/>
            </a:solidFill>
            <a:miter lim="800000"/>
          </a:ln>
        </p:spPr>
        <p:txBody>
          <a:bodyPr/>
          <a:lstStyle/>
          <a:p>
            <a:endParaRPr lang="zh-CN" altLang="en-US"/>
          </a:p>
        </p:txBody>
      </p:sp>
      <p:sp>
        <p:nvSpPr>
          <p:cNvPr id="70662" name="矩形 117768"/>
          <p:cNvSpPr>
            <a:spLocks noChangeArrowheads="1"/>
          </p:cNvSpPr>
          <p:nvPr/>
        </p:nvSpPr>
        <p:spPr bwMode="auto">
          <a:xfrm>
            <a:off x="0" y="323373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70663" name="矩形 117770"/>
          <p:cNvSpPr>
            <a:spLocks noChangeArrowheads="1"/>
          </p:cNvSpPr>
          <p:nvPr/>
        </p:nvSpPr>
        <p:spPr bwMode="auto">
          <a:xfrm>
            <a:off x="0" y="323373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graphicFrame>
        <p:nvGraphicFramePr>
          <p:cNvPr id="70664" name="对象 117769"/>
          <p:cNvGraphicFramePr/>
          <p:nvPr/>
        </p:nvGraphicFramePr>
        <p:xfrm>
          <a:off x="323850" y="3213100"/>
          <a:ext cx="2087563" cy="901700"/>
        </p:xfrm>
        <a:graphic>
          <a:graphicData uri="http://schemas.openxmlformats.org/presentationml/2006/ole">
            <mc:AlternateContent xmlns:mc="http://schemas.openxmlformats.org/markup-compatibility/2006">
              <mc:Choice xmlns:v="urn:schemas-microsoft-com:vml" Requires="v">
                <p:oleObj spid="_x0000_s24636" name="" r:id="rId5" imgW="901065" imgH="393700" progId="Equation.DSMT4">
                  <p:embed/>
                </p:oleObj>
              </mc:Choice>
              <mc:Fallback>
                <p:oleObj name="" r:id="rId5" imgW="901065" imgH="393700" progId="Equation.DSMT4">
                  <p:embed/>
                  <p:pic>
                    <p:nvPicPr>
                      <p:cNvPr id="0" name="对象 117769"/>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23850" y="3213100"/>
                        <a:ext cx="2087563" cy="901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70665" name="对象 117771"/>
          <p:cNvGraphicFramePr/>
          <p:nvPr/>
        </p:nvGraphicFramePr>
        <p:xfrm>
          <a:off x="468313" y="4221163"/>
          <a:ext cx="1528762" cy="465137"/>
        </p:xfrm>
        <a:graphic>
          <a:graphicData uri="http://schemas.openxmlformats.org/presentationml/2006/ole">
            <mc:AlternateContent xmlns:mc="http://schemas.openxmlformats.org/markup-compatibility/2006">
              <mc:Choice xmlns:v="urn:schemas-microsoft-com:vml" Requires="v">
                <p:oleObj spid="_x0000_s24637" name="" r:id="rId7" imgW="659765" imgH="203200" progId="Equation.DSMT4">
                  <p:embed/>
                </p:oleObj>
              </mc:Choice>
              <mc:Fallback>
                <p:oleObj name="" r:id="rId7" imgW="659765" imgH="203200" progId="Equation.DSMT4">
                  <p:embed/>
                  <p:pic>
                    <p:nvPicPr>
                      <p:cNvPr id="0" name="对象 117771"/>
                      <p:cNvPicPr>
                        <a:picLocks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68313" y="4221163"/>
                        <a:ext cx="1528762" cy="465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70666" name="矩形 117772"/>
          <p:cNvSpPr>
            <a:spLocks noChangeArrowheads="1"/>
          </p:cNvSpPr>
          <p:nvPr/>
        </p:nvSpPr>
        <p:spPr bwMode="auto">
          <a:xfrm>
            <a:off x="250825" y="3068638"/>
            <a:ext cx="2232025" cy="1655762"/>
          </a:xfrm>
          <a:prstGeom prst="rect">
            <a:avLst/>
          </a:prstGeom>
          <a:noFill/>
          <a:ln w="25400">
            <a:solidFill>
              <a:srgbClr val="FF0000"/>
            </a:solidFill>
            <a:miter lim="800000"/>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70667" name="右箭头 117773"/>
          <p:cNvSpPr>
            <a:spLocks noChangeArrowheads="1"/>
          </p:cNvSpPr>
          <p:nvPr/>
        </p:nvSpPr>
        <p:spPr bwMode="auto">
          <a:xfrm>
            <a:off x="2555875" y="3789363"/>
            <a:ext cx="647700" cy="144462"/>
          </a:xfrm>
          <a:prstGeom prst="rightArrow">
            <a:avLst>
              <a:gd name="adj1" fmla="val 50000"/>
              <a:gd name="adj2" fmla="val 111901"/>
            </a:avLst>
          </a:prstGeom>
          <a:solidFill>
            <a:schemeClr val="accent1"/>
          </a:solidFill>
          <a:ln w="9525">
            <a:solidFill>
              <a:schemeClr val="tx1"/>
            </a:solidFill>
            <a:miter lim="800000"/>
          </a:ln>
        </p:spPr>
        <p:txBody>
          <a:bodyPr/>
          <a:lstStyle/>
          <a:p>
            <a:endParaRPr lang="zh-CN" altLang="en-US"/>
          </a:p>
        </p:txBody>
      </p:sp>
      <p:graphicFrame>
        <p:nvGraphicFramePr>
          <p:cNvPr id="70668" name="对象 117774"/>
          <p:cNvGraphicFramePr/>
          <p:nvPr/>
        </p:nvGraphicFramePr>
        <p:xfrm>
          <a:off x="3203575" y="3429000"/>
          <a:ext cx="1943100" cy="885825"/>
        </p:xfrm>
        <a:graphic>
          <a:graphicData uri="http://schemas.openxmlformats.org/presentationml/2006/ole">
            <mc:AlternateContent xmlns:mc="http://schemas.openxmlformats.org/markup-compatibility/2006">
              <mc:Choice xmlns:v="urn:schemas-microsoft-com:vml" Requires="v">
                <p:oleObj spid="_x0000_s24638" name="" r:id="rId9" imgW="862965" imgH="393700" progId="Equation.DSMT4">
                  <p:embed/>
                </p:oleObj>
              </mc:Choice>
              <mc:Fallback>
                <p:oleObj name="" r:id="rId9" imgW="862965" imgH="393700" progId="Equation.DSMT4">
                  <p:embed/>
                  <p:pic>
                    <p:nvPicPr>
                      <p:cNvPr id="0" name="对象 117774"/>
                      <p:cNvPicPr>
                        <a:picLocks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203575" y="3429000"/>
                        <a:ext cx="1943100" cy="885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70669" name="对象 117775"/>
          <p:cNvGraphicFramePr/>
          <p:nvPr/>
        </p:nvGraphicFramePr>
        <p:xfrm>
          <a:off x="3203575" y="4292600"/>
          <a:ext cx="962025" cy="420688"/>
        </p:xfrm>
        <a:graphic>
          <a:graphicData uri="http://schemas.openxmlformats.org/presentationml/2006/ole">
            <mc:AlternateContent xmlns:mc="http://schemas.openxmlformats.org/markup-compatibility/2006">
              <mc:Choice xmlns:v="urn:schemas-microsoft-com:vml" Requires="v">
                <p:oleObj spid="_x0000_s24639" name="" r:id="rId11" imgW="405765" imgH="177800" progId="Equation.DSMT4">
                  <p:embed/>
                </p:oleObj>
              </mc:Choice>
              <mc:Fallback>
                <p:oleObj name="" r:id="rId11" imgW="405765" imgH="177800" progId="Equation.DSMT4">
                  <p:embed/>
                  <p:pic>
                    <p:nvPicPr>
                      <p:cNvPr id="0" name="对象 117775"/>
                      <p:cNvPicPr>
                        <a:picLocks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3203575" y="4292600"/>
                        <a:ext cx="962025" cy="420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70670" name="右大括号 117776"/>
          <p:cNvSpPr/>
          <p:nvPr/>
        </p:nvSpPr>
        <p:spPr bwMode="auto">
          <a:xfrm>
            <a:off x="5148263" y="3573463"/>
            <a:ext cx="71437" cy="1008062"/>
          </a:xfrm>
          <a:prstGeom prst="rightBrace">
            <a:avLst>
              <a:gd name="adj1" fmla="val 117005"/>
              <a:gd name="adj2" fmla="val 52755"/>
            </a:avLst>
          </a:pr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70671" name="矩形 117778"/>
          <p:cNvSpPr>
            <a:spLocks noChangeArrowheads="1"/>
          </p:cNvSpPr>
          <p:nvPr/>
        </p:nvSpPr>
        <p:spPr bwMode="auto">
          <a:xfrm>
            <a:off x="0" y="332898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graphicFrame>
        <p:nvGraphicFramePr>
          <p:cNvPr id="70672" name="对象 117777"/>
          <p:cNvGraphicFramePr>
            <a:graphicFrameLocks noChangeAspect="1"/>
          </p:cNvGraphicFramePr>
          <p:nvPr/>
        </p:nvGraphicFramePr>
        <p:xfrm>
          <a:off x="5241291" y="3816495"/>
          <a:ext cx="1468118" cy="521998"/>
        </p:xfrm>
        <a:graphic>
          <a:graphicData uri="http://schemas.openxmlformats.org/presentationml/2006/ole">
            <mc:AlternateContent xmlns:mc="http://schemas.openxmlformats.org/markup-compatibility/2006">
              <mc:Choice xmlns:v="urn:schemas-microsoft-com:vml" Requires="v">
                <p:oleObj spid="_x0000_s24640" name="" r:id="rId13" imgW="571500" imgH="203200" progId="Equation.DSMT4">
                  <p:embed/>
                </p:oleObj>
              </mc:Choice>
              <mc:Fallback>
                <p:oleObj name="" r:id="rId13" imgW="571500" imgH="203200" progId="Equation.DSMT4">
                  <p:embed/>
                  <p:pic>
                    <p:nvPicPr>
                      <p:cNvPr id="0" name="对象 117777"/>
                      <p:cNvPicPr>
                        <a:picLocks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5241291" y="3816495"/>
                        <a:ext cx="1468118" cy="5219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70673" name="矩形 117780"/>
          <p:cNvSpPr>
            <a:spLocks noChangeArrowheads="1"/>
          </p:cNvSpPr>
          <p:nvPr/>
        </p:nvSpPr>
        <p:spPr bwMode="auto">
          <a:xfrm>
            <a:off x="0" y="330993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graphicFrame>
        <p:nvGraphicFramePr>
          <p:cNvPr id="70674" name="对象 117782"/>
          <p:cNvGraphicFramePr>
            <a:graphicFrameLocks noChangeAspect="1"/>
          </p:cNvGraphicFramePr>
          <p:nvPr/>
        </p:nvGraphicFramePr>
        <p:xfrm>
          <a:off x="6948488" y="2758702"/>
          <a:ext cx="2087989" cy="619871"/>
        </p:xfrm>
        <a:graphic>
          <a:graphicData uri="http://schemas.openxmlformats.org/presentationml/2006/ole">
            <mc:AlternateContent xmlns:mc="http://schemas.openxmlformats.org/markup-compatibility/2006">
              <mc:Choice xmlns:v="urn:schemas-microsoft-com:vml" Requires="v">
                <p:oleObj spid="_x0000_s24641" name="" r:id="rId15" imgW="812165" imgH="241300" progId="Equation.DSMT4">
                  <p:embed/>
                </p:oleObj>
              </mc:Choice>
              <mc:Fallback>
                <p:oleObj name="" r:id="rId15" imgW="812165" imgH="241300" progId="Equation.DSMT4">
                  <p:embed/>
                  <p:pic>
                    <p:nvPicPr>
                      <p:cNvPr id="0" name="对象 117782"/>
                      <p:cNvPicPr>
                        <a:picLocks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6948488" y="2758702"/>
                        <a:ext cx="2087989" cy="619871"/>
                      </a:xfrm>
                      <a:prstGeom prst="rect">
                        <a:avLst/>
                      </a:prstGeom>
                      <a:noFill/>
                      <a:ln w="25400">
                        <a:solidFill>
                          <a:schemeClr val="folHlink"/>
                        </a:solidFill>
                        <a:miter lim="800000"/>
                        <a:headEnd/>
                        <a:tailEnd/>
                      </a:ln>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70675" name="右大括号 117783"/>
          <p:cNvSpPr/>
          <p:nvPr/>
        </p:nvSpPr>
        <p:spPr bwMode="auto">
          <a:xfrm>
            <a:off x="6724340" y="1916113"/>
            <a:ext cx="144463" cy="2233612"/>
          </a:xfrm>
          <a:prstGeom prst="rightBrace">
            <a:avLst>
              <a:gd name="adj1" fmla="val 128201"/>
              <a:gd name="adj2" fmla="val 52755"/>
            </a:avLst>
          </a:pr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1" name="矩形 118788"/>
          <p:cNvSpPr>
            <a:spLocks noChangeArrowheads="1"/>
          </p:cNvSpPr>
          <p:nvPr/>
        </p:nvSpPr>
        <p:spPr bwMode="auto">
          <a:xfrm>
            <a:off x="0" y="329088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graphicFrame>
        <p:nvGraphicFramePr>
          <p:cNvPr id="71682" name="对象 118789"/>
          <p:cNvGraphicFramePr>
            <a:graphicFrameLocks noChangeAspect="1"/>
          </p:cNvGraphicFramePr>
          <p:nvPr/>
        </p:nvGraphicFramePr>
        <p:xfrm>
          <a:off x="1084791" y="946308"/>
          <a:ext cx="2437341" cy="723585"/>
        </p:xfrm>
        <a:graphic>
          <a:graphicData uri="http://schemas.openxmlformats.org/presentationml/2006/ole">
            <mc:AlternateContent xmlns:mc="http://schemas.openxmlformats.org/markup-compatibility/2006">
              <mc:Choice xmlns:v="urn:schemas-microsoft-com:vml" Requires="v">
                <p:oleObj spid="_x0000_s25637" name="" r:id="rId1" imgW="812165" imgH="241300" progId="Equation.DSMT4">
                  <p:embed/>
                </p:oleObj>
              </mc:Choice>
              <mc:Fallback>
                <p:oleObj name="" r:id="rId1" imgW="812165" imgH="241300" progId="Equation.DSMT4">
                  <p:embed/>
                  <p:pic>
                    <p:nvPicPr>
                      <p:cNvPr id="0" name="对象 118789"/>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84791" y="946308"/>
                        <a:ext cx="2437341" cy="723585"/>
                      </a:xfrm>
                      <a:prstGeom prst="rect">
                        <a:avLst/>
                      </a:prstGeom>
                      <a:noFill/>
                      <a:ln w="25400">
                        <a:solidFill>
                          <a:schemeClr val="folHlink"/>
                        </a:solidFill>
                        <a:miter lim="800000"/>
                        <a:headEnd/>
                        <a:tailEnd/>
                      </a:ln>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71683" name="矩形 118797"/>
          <p:cNvSpPr>
            <a:spLocks noChangeArrowheads="1"/>
          </p:cNvSpPr>
          <p:nvPr/>
        </p:nvSpPr>
        <p:spPr bwMode="auto">
          <a:xfrm>
            <a:off x="0" y="320040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grpSp>
        <p:nvGrpSpPr>
          <p:cNvPr id="71684" name="组合 118806"/>
          <p:cNvGrpSpPr/>
          <p:nvPr/>
        </p:nvGrpSpPr>
        <p:grpSpPr bwMode="auto">
          <a:xfrm>
            <a:off x="5219700" y="260350"/>
            <a:ext cx="3024188" cy="2520950"/>
            <a:chOff x="295" y="164"/>
            <a:chExt cx="1905" cy="1588"/>
          </a:xfrm>
        </p:grpSpPr>
        <p:graphicFrame>
          <p:nvGraphicFramePr>
            <p:cNvPr id="71685" name="对象 118787"/>
            <p:cNvGraphicFramePr>
              <a:graphicFrameLocks noChangeAspect="1"/>
            </p:cNvGraphicFramePr>
            <p:nvPr/>
          </p:nvGraphicFramePr>
          <p:xfrm>
            <a:off x="376" y="210"/>
            <a:ext cx="1809" cy="405"/>
          </p:xfrm>
          <a:graphic>
            <a:graphicData uri="http://schemas.openxmlformats.org/presentationml/2006/ole">
              <mc:AlternateContent xmlns:mc="http://schemas.openxmlformats.org/markup-compatibility/2006">
                <mc:Choice xmlns:v="urn:schemas-microsoft-com:vml" Requires="v">
                  <p:oleObj spid="_x0000_s25638" name="Equation" r:id="rId3" imgW="29870400" imgH="6705600" progId="Equation.DSMT4">
                    <p:embed/>
                  </p:oleObj>
                </mc:Choice>
                <mc:Fallback>
                  <p:oleObj name="Equation" r:id="rId3" imgW="29870400" imgH="6705600" progId="Equation.DSMT4">
                    <p:embed/>
                    <p:pic>
                      <p:nvPicPr>
                        <p:cNvPr id="0" name="对象 118787"/>
                        <p:cNvPicPr>
                          <a:picLocks noChangeArrowheads="1"/>
                        </p:cNvPicPr>
                        <p:nvPr/>
                      </p:nvPicPr>
                      <p:blipFill>
                        <a:blip r:embed="rId4"/>
                        <a:srcRect/>
                        <a:stretch>
                          <a:fillRect/>
                        </a:stretch>
                      </p:blipFill>
                      <p:spPr bwMode="auto">
                        <a:xfrm>
                          <a:off x="376" y="210"/>
                          <a:ext cx="1809" cy="4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71686" name="对象 118790"/>
            <p:cNvGraphicFramePr>
              <a:graphicFrameLocks noChangeAspect="1"/>
            </p:cNvGraphicFramePr>
            <p:nvPr/>
          </p:nvGraphicFramePr>
          <p:xfrm>
            <a:off x="676" y="723"/>
            <a:ext cx="1030" cy="349"/>
          </p:xfrm>
          <a:graphic>
            <a:graphicData uri="http://schemas.openxmlformats.org/presentationml/2006/ole">
              <mc:AlternateContent xmlns:mc="http://schemas.openxmlformats.org/markup-compatibility/2006">
                <mc:Choice xmlns:v="urn:schemas-microsoft-com:vml" Requires="v">
                  <p:oleObj spid="_x0000_s25639" name="" r:id="rId5" imgW="711200" imgH="241300" progId="Equation.DSMT4">
                    <p:embed/>
                  </p:oleObj>
                </mc:Choice>
                <mc:Fallback>
                  <p:oleObj name="" r:id="rId5" imgW="711200" imgH="241300" progId="Equation.DSMT4">
                    <p:embed/>
                    <p:pic>
                      <p:nvPicPr>
                        <p:cNvPr id="0" name="对象 118790"/>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76" y="723"/>
                          <a:ext cx="1030" cy="3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71687" name="矩形 118792"/>
            <p:cNvSpPr>
              <a:spLocks noChangeArrowheads="1"/>
            </p:cNvSpPr>
            <p:nvPr/>
          </p:nvSpPr>
          <p:spPr bwMode="auto">
            <a:xfrm>
              <a:off x="295" y="164"/>
              <a:ext cx="1905" cy="1588"/>
            </a:xfrm>
            <a:prstGeom prst="rect">
              <a:avLst/>
            </a:prstGeom>
            <a:noFill/>
            <a:ln w="25400">
              <a:solidFill>
                <a:schemeClr val="accent2"/>
              </a:solidFill>
              <a:miter lim="800000"/>
            </a:ln>
            <a:extLst>
              <a:ext uri="{909E8E84-426E-40DD-AFC4-6F175D3DCCD1}">
                <a14:hiddenFill xmlns:a14="http://schemas.microsoft.com/office/drawing/2010/main">
                  <a:solidFill>
                    <a:srgbClr val="FFFFFF"/>
                  </a:solidFill>
                </a14:hiddenFill>
              </a:ext>
            </a:extLst>
          </p:spPr>
          <p:txBody>
            <a:bodyPr/>
            <a:lstStyle/>
            <a:p>
              <a:endParaRPr lang="zh-CN" altLang="en-US"/>
            </a:p>
          </p:txBody>
        </p:sp>
        <p:graphicFrame>
          <p:nvGraphicFramePr>
            <p:cNvPr id="71688" name="对象 118798"/>
            <p:cNvGraphicFramePr>
              <a:graphicFrameLocks noChangeAspect="1"/>
            </p:cNvGraphicFramePr>
            <p:nvPr/>
          </p:nvGraphicFramePr>
          <p:xfrm>
            <a:off x="747" y="1077"/>
            <a:ext cx="809" cy="570"/>
          </p:xfrm>
          <a:graphic>
            <a:graphicData uri="http://schemas.openxmlformats.org/presentationml/2006/ole">
              <mc:AlternateContent xmlns:mc="http://schemas.openxmlformats.org/markup-compatibility/2006">
                <mc:Choice xmlns:v="urn:schemas-microsoft-com:vml" Requires="v">
                  <p:oleObj spid="_x0000_s25640" name="" r:id="rId7" imgW="558800" imgH="393700" progId="Equation.DSMT4">
                    <p:embed/>
                  </p:oleObj>
                </mc:Choice>
                <mc:Fallback>
                  <p:oleObj name="" r:id="rId7" imgW="558800" imgH="393700" progId="Equation.DSMT4">
                    <p:embed/>
                    <p:pic>
                      <p:nvPicPr>
                        <p:cNvPr id="0" name="对象 118798"/>
                        <p:cNvPicPr>
                          <a:picLocks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747" y="1077"/>
                          <a:ext cx="809" cy="5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pSp>
      <p:graphicFrame>
        <p:nvGraphicFramePr>
          <p:cNvPr id="71689" name="对象 118800"/>
          <p:cNvGraphicFramePr/>
          <p:nvPr/>
        </p:nvGraphicFramePr>
        <p:xfrm>
          <a:off x="809625" y="2924175"/>
          <a:ext cx="2987675" cy="1265238"/>
        </p:xfrm>
        <a:graphic>
          <a:graphicData uri="http://schemas.openxmlformats.org/presentationml/2006/ole">
            <mc:AlternateContent xmlns:mc="http://schemas.openxmlformats.org/markup-compatibility/2006">
              <mc:Choice xmlns:v="urn:schemas-microsoft-com:vml" Requires="v">
                <p:oleObj spid="_x0000_s25641" name="" r:id="rId9" imgW="1079500" imgH="457200" progId="Equation.DSMT4">
                  <p:embed/>
                </p:oleObj>
              </mc:Choice>
              <mc:Fallback>
                <p:oleObj name="" r:id="rId9" imgW="1079500" imgH="457200" progId="Equation.DSMT4">
                  <p:embed/>
                  <p:pic>
                    <p:nvPicPr>
                      <p:cNvPr id="0" name="对象 118800"/>
                      <p:cNvPicPr>
                        <a:picLocks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809625" y="2924175"/>
                        <a:ext cx="2987675" cy="1265238"/>
                      </a:xfrm>
                      <a:prstGeom prst="rect">
                        <a:avLst/>
                      </a:prstGeom>
                      <a:noFill/>
                      <a:ln w="25400">
                        <a:solidFill>
                          <a:srgbClr val="FF0000"/>
                        </a:solidFill>
                        <a:miter lim="800000"/>
                        <a:headEnd/>
                        <a:tailEnd/>
                      </a:ln>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71690" name="矩形 118802"/>
          <p:cNvSpPr>
            <a:spLocks noChangeArrowheads="1"/>
          </p:cNvSpPr>
          <p:nvPr/>
        </p:nvSpPr>
        <p:spPr bwMode="auto">
          <a:xfrm>
            <a:off x="4067175" y="3141663"/>
            <a:ext cx="4392613" cy="946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r>
              <a:rPr lang="zh-CN" altLang="en-US" sz="2800" b="1">
                <a:ea typeface="黑体" panose="02010609060101010101" pitchFamily="49" charset="-122"/>
              </a:rPr>
              <a:t>促使流速改变</a:t>
            </a:r>
            <a:endParaRPr lang="zh-CN" altLang="en-US" sz="2800" b="1">
              <a:ea typeface="黑体" panose="02010609060101010101" pitchFamily="49" charset="-122"/>
            </a:endParaRPr>
          </a:p>
          <a:p>
            <a:r>
              <a:rPr lang="zh-CN" altLang="en-US" sz="2800" b="1">
                <a:ea typeface="黑体" panose="02010609060101010101" pitchFamily="49" charset="-122"/>
              </a:rPr>
              <a:t>的力学条件</a:t>
            </a:r>
            <a:r>
              <a:rPr lang="zh-CN" altLang="en-US"/>
              <a:t> </a:t>
            </a:r>
            <a:endParaRPr lang="zh-CN" altLang="en-US"/>
          </a:p>
        </p:txBody>
      </p:sp>
      <p:sp>
        <p:nvSpPr>
          <p:cNvPr id="71691" name="矩形 118805"/>
          <p:cNvSpPr>
            <a:spLocks noChangeArrowheads="1"/>
          </p:cNvSpPr>
          <p:nvPr/>
        </p:nvSpPr>
        <p:spPr bwMode="auto">
          <a:xfrm>
            <a:off x="611188" y="4360635"/>
            <a:ext cx="8064500" cy="22467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r>
              <a:rPr lang="zh-CN" altLang="en-US" sz="2800" b="1" dirty="0">
                <a:ea typeface="黑体" panose="02010609060101010101" pitchFamily="49" charset="-122"/>
              </a:rPr>
              <a:t>理想气体在定熵流动过程中，</a:t>
            </a:r>
            <a:r>
              <a:rPr lang="en-US" altLang="zh-CN" sz="2800" b="1" dirty="0" err="1">
                <a:latin typeface="Times New Roman" panose="02020603050405020304" pitchFamily="18" charset="0"/>
                <a:ea typeface="黑体" panose="02010609060101010101" pitchFamily="49" charset="-122"/>
              </a:rPr>
              <a:t>d</a:t>
            </a:r>
            <a:r>
              <a:rPr lang="en-US" altLang="zh-CN" sz="2800" b="1" i="1" dirty="0" err="1">
                <a:latin typeface="Times New Roman" panose="02020603050405020304" pitchFamily="18" charset="0"/>
                <a:ea typeface="黑体" panose="02010609060101010101" pitchFamily="49" charset="-122"/>
              </a:rPr>
              <a:t>p</a:t>
            </a:r>
            <a:r>
              <a:rPr lang="zh-CN" altLang="en-US" sz="2800" b="1" dirty="0">
                <a:ea typeface="黑体" panose="02010609060101010101" pitchFamily="49" charset="-122"/>
              </a:rPr>
              <a:t>和</a:t>
            </a:r>
            <a:r>
              <a:rPr lang="en-US" altLang="zh-CN" sz="2800" b="1" dirty="0" err="1">
                <a:latin typeface="Times New Roman" panose="02020603050405020304" pitchFamily="18" charset="0"/>
                <a:ea typeface="黑体" panose="02010609060101010101" pitchFamily="49" charset="-122"/>
              </a:rPr>
              <a:t>d</a:t>
            </a:r>
            <a:r>
              <a:rPr lang="en-US" altLang="zh-CN" sz="2800" b="1" i="1" dirty="0" err="1">
                <a:latin typeface="Times New Roman" panose="02020603050405020304" pitchFamily="18" charset="0"/>
                <a:ea typeface="黑体" panose="02010609060101010101" pitchFamily="49" charset="-122"/>
              </a:rPr>
              <a:t>c</a:t>
            </a:r>
            <a:r>
              <a:rPr lang="en-US" altLang="zh-CN" sz="2800" b="1" baseline="-25000" dirty="0" err="1">
                <a:latin typeface="Times New Roman" panose="02020603050405020304" pitchFamily="18" charset="0"/>
                <a:ea typeface="黑体" panose="02010609060101010101" pitchFamily="49" charset="-122"/>
              </a:rPr>
              <a:t>f</a:t>
            </a:r>
            <a:r>
              <a:rPr lang="zh-CN" altLang="en-US" sz="2800" b="1" dirty="0">
                <a:ea typeface="黑体" panose="02010609060101010101" pitchFamily="49" charset="-122"/>
              </a:rPr>
              <a:t>的符号是始终相反的：流速增加时，压力必然下降；流速减小时，压力必然上升</a:t>
            </a:r>
            <a:r>
              <a:rPr lang="zh-CN" altLang="en-US" sz="2800" b="1" dirty="0" smtClean="0">
                <a:ea typeface="黑体" panose="02010609060101010101" pitchFamily="49" charset="-122"/>
              </a:rPr>
              <a:t>。因此，气体通过管道时想要得到加速，必须创造管道中气流压力不断下降的力学条件</a:t>
            </a:r>
            <a:endParaRPr lang="zh-CN" altLang="en-US" sz="2800" b="1" dirty="0">
              <a:ea typeface="黑体" panose="02010609060101010101" pitchFamily="49" charset="-122"/>
            </a:endParaRPr>
          </a:p>
        </p:txBody>
      </p:sp>
      <p:sp>
        <p:nvSpPr>
          <p:cNvPr id="71692" name="左箭头 118807"/>
          <p:cNvSpPr>
            <a:spLocks noChangeArrowheads="1"/>
          </p:cNvSpPr>
          <p:nvPr/>
        </p:nvSpPr>
        <p:spPr bwMode="auto">
          <a:xfrm>
            <a:off x="3967162" y="1248812"/>
            <a:ext cx="936625" cy="215900"/>
          </a:xfrm>
          <a:prstGeom prst="leftArrow">
            <a:avLst>
              <a:gd name="adj1" fmla="val 50000"/>
              <a:gd name="adj2" fmla="val 108275"/>
            </a:avLst>
          </a:prstGeom>
          <a:solidFill>
            <a:schemeClr val="accent1"/>
          </a:solidFill>
          <a:ln w="9525">
            <a:solidFill>
              <a:schemeClr val="tx1"/>
            </a:solidFill>
            <a:miter lim="800000"/>
          </a:ln>
        </p:spPr>
        <p:txBody>
          <a:bodyPr/>
          <a:lstStyle/>
          <a:p>
            <a:endParaRPr lang="zh-CN" altLang="en-US"/>
          </a:p>
        </p:txBody>
      </p:sp>
      <p:sp>
        <p:nvSpPr>
          <p:cNvPr id="71693" name="下箭头 118808"/>
          <p:cNvSpPr>
            <a:spLocks noChangeArrowheads="1"/>
          </p:cNvSpPr>
          <p:nvPr/>
        </p:nvSpPr>
        <p:spPr bwMode="auto">
          <a:xfrm>
            <a:off x="1979613" y="1916113"/>
            <a:ext cx="288925" cy="865187"/>
          </a:xfrm>
          <a:prstGeom prst="downArrow">
            <a:avLst>
              <a:gd name="adj1" fmla="val 50000"/>
              <a:gd name="adj2" fmla="val 74738"/>
            </a:avLst>
          </a:prstGeom>
          <a:solidFill>
            <a:schemeClr val="accent1"/>
          </a:solidFill>
          <a:ln w="9525">
            <a:solidFill>
              <a:schemeClr val="tx1"/>
            </a:solidFill>
            <a:miter lim="800000"/>
          </a:ln>
        </p:spPr>
        <p:txBody>
          <a:bodyPr/>
          <a:lstStyle/>
          <a:p>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2705" name="对象 119811"/>
          <p:cNvGraphicFramePr/>
          <p:nvPr/>
        </p:nvGraphicFramePr>
        <p:xfrm>
          <a:off x="2902502" y="856836"/>
          <a:ext cx="2987675" cy="1265238"/>
        </p:xfrm>
        <a:graphic>
          <a:graphicData uri="http://schemas.openxmlformats.org/presentationml/2006/ole">
            <mc:AlternateContent xmlns:mc="http://schemas.openxmlformats.org/markup-compatibility/2006">
              <mc:Choice xmlns:v="urn:schemas-microsoft-com:vml" Requires="v">
                <p:oleObj spid="_x0000_s26654" name="" r:id="rId1" imgW="1079500" imgH="457200" progId="Equation.DSMT4">
                  <p:embed/>
                </p:oleObj>
              </mc:Choice>
              <mc:Fallback>
                <p:oleObj name="" r:id="rId1" imgW="1079500" imgH="457200" progId="Equation.DSMT4">
                  <p:embed/>
                  <p:pic>
                    <p:nvPicPr>
                      <p:cNvPr id="0" name="对象 119811"/>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902502" y="856836"/>
                        <a:ext cx="2987675" cy="1265238"/>
                      </a:xfrm>
                      <a:prstGeom prst="rect">
                        <a:avLst/>
                      </a:prstGeom>
                      <a:noFill/>
                      <a:ln w="25400">
                        <a:solidFill>
                          <a:srgbClr val="FF0000"/>
                        </a:solidFill>
                        <a:miter lim="800000"/>
                        <a:headEnd/>
                        <a:tailEnd/>
                      </a:ln>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72706" name="矩形 119813"/>
          <p:cNvSpPr>
            <a:spLocks noChangeArrowheads="1"/>
          </p:cNvSpPr>
          <p:nvPr/>
        </p:nvSpPr>
        <p:spPr bwMode="auto">
          <a:xfrm>
            <a:off x="0" y="321945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graphicFrame>
        <p:nvGraphicFramePr>
          <p:cNvPr id="72707" name="对象 119812"/>
          <p:cNvGraphicFramePr/>
          <p:nvPr/>
        </p:nvGraphicFramePr>
        <p:xfrm>
          <a:off x="3193808" y="2481643"/>
          <a:ext cx="2376488" cy="1147762"/>
        </p:xfrm>
        <a:graphic>
          <a:graphicData uri="http://schemas.openxmlformats.org/presentationml/2006/ole">
            <mc:AlternateContent xmlns:mc="http://schemas.openxmlformats.org/markup-compatibility/2006">
              <mc:Choice xmlns:v="urn:schemas-microsoft-com:vml" Requires="v">
                <p:oleObj spid="_x0000_s26655" name="" r:id="rId3" imgW="862965" imgH="419100" progId="Equation.DSMT4">
                  <p:embed/>
                </p:oleObj>
              </mc:Choice>
              <mc:Fallback>
                <p:oleObj name="" r:id="rId3" imgW="862965" imgH="419100" progId="Equation.DSMT4">
                  <p:embed/>
                  <p:pic>
                    <p:nvPicPr>
                      <p:cNvPr id="0" name="对象 119812"/>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193808" y="2481643"/>
                        <a:ext cx="2376488" cy="11477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72708" name="对象 119814"/>
          <p:cNvGraphicFramePr/>
          <p:nvPr/>
        </p:nvGraphicFramePr>
        <p:xfrm>
          <a:off x="472040" y="2657061"/>
          <a:ext cx="1965325" cy="587375"/>
        </p:xfrm>
        <a:graphic>
          <a:graphicData uri="http://schemas.openxmlformats.org/presentationml/2006/ole">
            <mc:AlternateContent xmlns:mc="http://schemas.openxmlformats.org/markup-compatibility/2006">
              <mc:Choice xmlns:v="urn:schemas-microsoft-com:vml" Requires="v">
                <p:oleObj spid="_x0000_s26656" name="" r:id="rId5" imgW="761365" imgH="228600" progId="Equation.DSMT4">
                  <p:embed/>
                </p:oleObj>
              </mc:Choice>
              <mc:Fallback>
                <p:oleObj name="" r:id="rId5" imgW="761365" imgH="228600" progId="Equation.DSMT4">
                  <p:embed/>
                  <p:pic>
                    <p:nvPicPr>
                      <p:cNvPr id="0" name="对象 119814"/>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72040" y="2657061"/>
                        <a:ext cx="1965325" cy="587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72709" name="右箭头 119815"/>
          <p:cNvSpPr>
            <a:spLocks noChangeArrowheads="1"/>
          </p:cNvSpPr>
          <p:nvPr/>
        </p:nvSpPr>
        <p:spPr bwMode="auto">
          <a:xfrm>
            <a:off x="2416727" y="2799936"/>
            <a:ext cx="647700" cy="288925"/>
          </a:xfrm>
          <a:prstGeom prst="rightArrow">
            <a:avLst>
              <a:gd name="adj1" fmla="val 50000"/>
              <a:gd name="adj2" fmla="val 55951"/>
            </a:avLst>
          </a:prstGeom>
          <a:solidFill>
            <a:schemeClr val="accent1"/>
          </a:solidFill>
          <a:ln w="9525">
            <a:solidFill>
              <a:schemeClr val="tx1"/>
            </a:solidFill>
            <a:miter lim="800000"/>
          </a:ln>
        </p:spPr>
        <p:txBody>
          <a:bodyPr/>
          <a:lstStyle/>
          <a:p>
            <a:endParaRPr lang="zh-CN" altLang="en-US"/>
          </a:p>
        </p:txBody>
      </p:sp>
      <p:sp>
        <p:nvSpPr>
          <p:cNvPr id="72710" name="右大括号 119816"/>
          <p:cNvSpPr/>
          <p:nvPr/>
        </p:nvSpPr>
        <p:spPr bwMode="auto">
          <a:xfrm>
            <a:off x="6017177" y="1504536"/>
            <a:ext cx="287338" cy="1584325"/>
          </a:xfrm>
          <a:prstGeom prst="rightBrace">
            <a:avLst>
              <a:gd name="adj1" fmla="val 45719"/>
              <a:gd name="adj2" fmla="val 52755"/>
            </a:avLst>
          </a:pr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graphicFrame>
        <p:nvGraphicFramePr>
          <p:cNvPr id="72712" name="对象 119817"/>
          <p:cNvGraphicFramePr/>
          <p:nvPr/>
        </p:nvGraphicFramePr>
        <p:xfrm>
          <a:off x="6377540" y="1791874"/>
          <a:ext cx="2447925" cy="1263650"/>
        </p:xfrm>
        <a:graphic>
          <a:graphicData uri="http://schemas.openxmlformats.org/presentationml/2006/ole">
            <mc:AlternateContent xmlns:mc="http://schemas.openxmlformats.org/markup-compatibility/2006">
              <mc:Choice xmlns:v="urn:schemas-microsoft-com:vml" Requires="v">
                <p:oleObj spid="_x0000_s26657" name="" r:id="rId7" imgW="889000" imgH="457200" progId="Equation.DSMT4">
                  <p:embed/>
                </p:oleObj>
              </mc:Choice>
              <mc:Fallback>
                <p:oleObj name="" r:id="rId7" imgW="889000" imgH="457200" progId="Equation.DSMT4">
                  <p:embed/>
                  <p:pic>
                    <p:nvPicPr>
                      <p:cNvPr id="0" name="对象 119817"/>
                      <p:cNvPicPr>
                        <a:picLocks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377540" y="1791874"/>
                        <a:ext cx="2447925" cy="1263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72713" name="矩形 119819"/>
          <p:cNvSpPr>
            <a:spLocks noChangeArrowheads="1"/>
          </p:cNvSpPr>
          <p:nvPr/>
        </p:nvSpPr>
        <p:spPr bwMode="auto">
          <a:xfrm>
            <a:off x="329165" y="4168361"/>
            <a:ext cx="8135937" cy="1373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r>
              <a:rPr lang="zh-CN" altLang="en-US" sz="2800" b="1" dirty="0">
                <a:ea typeface="黑体" panose="02010609060101010101" pitchFamily="49" charset="-122"/>
              </a:rPr>
              <a:t>理想气体定熵流动过程中其比体积的变化趋势与流速的变化趋势是相同的：流速增加时，比体积增加；流速减小时，比体积减小 </a:t>
            </a:r>
            <a:endParaRPr lang="zh-CN" altLang="en-US" sz="2800" b="1" dirty="0">
              <a:ea typeface="黑体" panose="02010609060101010101" pitchFamily="49" charset="-122"/>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29" name="文本占位符 120834"/>
          <p:cNvSpPr>
            <a:spLocks noGrp="1" noChangeArrowheads="1"/>
          </p:cNvSpPr>
          <p:nvPr>
            <p:ph idx="1"/>
          </p:nvPr>
        </p:nvSpPr>
        <p:spPr>
          <a:xfrm>
            <a:off x="468313" y="2205038"/>
            <a:ext cx="8229600" cy="4525962"/>
          </a:xfrm>
        </p:spPr>
        <p:txBody>
          <a:bodyPr>
            <a:normAutofit/>
          </a:bodyPr>
          <a:lstStyle/>
          <a:p>
            <a:pPr>
              <a:lnSpc>
                <a:spcPct val="90000"/>
              </a:lnSpc>
            </a:pPr>
            <a:r>
              <a:rPr lang="zh-CN" altLang="en-US" sz="2800" b="1" dirty="0" smtClean="0">
                <a:latin typeface="黑体" panose="02010609060101010101" pitchFamily="49" charset="-122"/>
                <a:ea typeface="黑体" panose="02010609060101010101" pitchFamily="49" charset="-122"/>
              </a:rPr>
              <a:t>若想使气流加速，必须使气流膨胀（即比体积增加）以降低其压力</a:t>
            </a:r>
            <a:r>
              <a:rPr lang="zh-CN" altLang="en-US" sz="2800" dirty="0" smtClean="0">
                <a:latin typeface="黑体" panose="02010609060101010101" pitchFamily="49" charset="-122"/>
                <a:ea typeface="黑体" panose="02010609060101010101" pitchFamily="49" charset="-122"/>
              </a:rPr>
              <a:t>，</a:t>
            </a:r>
            <a:r>
              <a:rPr lang="zh-CN" altLang="en-US" sz="2800" dirty="0" smtClean="0">
                <a:solidFill>
                  <a:srgbClr val="3333CC"/>
                </a:solidFill>
                <a:latin typeface="黑体" panose="02010609060101010101" pitchFamily="49" charset="-122"/>
                <a:ea typeface="黑体" panose="02010609060101010101" pitchFamily="49" charset="-122"/>
              </a:rPr>
              <a:t>如火箭的尾喷管、气轮机的喷管，就是使气流膨胀以获得高速流动的设备。</a:t>
            </a:r>
            <a:endParaRPr lang="zh-CN" altLang="en-US" sz="2800" dirty="0" smtClean="0">
              <a:solidFill>
                <a:srgbClr val="3333CC"/>
              </a:solidFill>
              <a:latin typeface="黑体" panose="02010609060101010101" pitchFamily="49" charset="-122"/>
              <a:ea typeface="黑体" panose="02010609060101010101" pitchFamily="49" charset="-122"/>
            </a:endParaRPr>
          </a:p>
          <a:p>
            <a:pPr>
              <a:lnSpc>
                <a:spcPct val="90000"/>
              </a:lnSpc>
            </a:pPr>
            <a:r>
              <a:rPr lang="zh-CN" altLang="en-US" sz="2800" b="1" dirty="0" smtClean="0">
                <a:latin typeface="黑体" panose="02010609060101010101" pitchFamily="49" charset="-122"/>
                <a:ea typeface="黑体" panose="02010609060101010101" pitchFamily="49" charset="-122"/>
              </a:rPr>
              <a:t>反之，若想使气流压力升高，必须使高速气流的流速降低</a:t>
            </a:r>
            <a:r>
              <a:rPr lang="zh-CN" altLang="en-US" sz="2800" dirty="0" smtClean="0">
                <a:latin typeface="黑体" panose="02010609060101010101" pitchFamily="49" charset="-122"/>
                <a:ea typeface="黑体" panose="02010609060101010101" pitchFamily="49" charset="-122"/>
              </a:rPr>
              <a:t>。</a:t>
            </a:r>
            <a:r>
              <a:rPr lang="zh-CN" altLang="en-US" sz="2800" dirty="0" smtClean="0">
                <a:solidFill>
                  <a:srgbClr val="3333CC"/>
                </a:solidFill>
                <a:latin typeface="黑体" panose="02010609060101010101" pitchFamily="49" charset="-122"/>
                <a:ea typeface="黑体" panose="02010609060101010101" pitchFamily="49" charset="-122"/>
              </a:rPr>
              <a:t>叶轮式压气机以及涡轮喷气式发动机和引射式压缩器的扩压管就是使高速气流降低流速而获得高压气体的设备 </a:t>
            </a:r>
            <a:endParaRPr lang="zh-CN" altLang="en-US" sz="2800" dirty="0" smtClean="0">
              <a:solidFill>
                <a:srgbClr val="3333CC"/>
              </a:solidFill>
              <a:latin typeface="黑体" panose="02010609060101010101" pitchFamily="49" charset="-122"/>
              <a:ea typeface="黑体" panose="02010609060101010101" pitchFamily="49" charset="-122"/>
            </a:endParaRPr>
          </a:p>
        </p:txBody>
      </p:sp>
      <p:graphicFrame>
        <p:nvGraphicFramePr>
          <p:cNvPr id="73730" name="对象 120838"/>
          <p:cNvGraphicFramePr/>
          <p:nvPr/>
        </p:nvGraphicFramePr>
        <p:xfrm>
          <a:off x="1098550" y="549275"/>
          <a:ext cx="2989263" cy="1265238"/>
        </p:xfrm>
        <a:graphic>
          <a:graphicData uri="http://schemas.openxmlformats.org/presentationml/2006/ole">
            <mc:AlternateContent xmlns:mc="http://schemas.openxmlformats.org/markup-compatibility/2006">
              <mc:Choice xmlns:v="urn:schemas-microsoft-com:vml" Requires="v">
                <p:oleObj spid="_x0000_s27664" name="" r:id="rId1" imgW="1079500" imgH="457200" progId="Equation.DSMT4">
                  <p:embed/>
                </p:oleObj>
              </mc:Choice>
              <mc:Fallback>
                <p:oleObj name="" r:id="rId1" imgW="1079500" imgH="457200" progId="Equation.DSMT4">
                  <p:embed/>
                  <p:pic>
                    <p:nvPicPr>
                      <p:cNvPr id="0" name="对象 120838"/>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98550" y="549275"/>
                        <a:ext cx="2989263" cy="1265238"/>
                      </a:xfrm>
                      <a:prstGeom prst="rect">
                        <a:avLst/>
                      </a:prstGeom>
                      <a:noFill/>
                      <a:ln w="25400">
                        <a:solidFill>
                          <a:srgbClr val="FF0000"/>
                        </a:solidFill>
                        <a:miter lim="800000"/>
                        <a:headEnd/>
                        <a:tailEnd/>
                      </a:ln>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73731" name="对象 120842"/>
          <p:cNvGraphicFramePr/>
          <p:nvPr/>
        </p:nvGraphicFramePr>
        <p:xfrm>
          <a:off x="5148263" y="549275"/>
          <a:ext cx="2447925" cy="1263650"/>
        </p:xfrm>
        <a:graphic>
          <a:graphicData uri="http://schemas.openxmlformats.org/presentationml/2006/ole">
            <mc:AlternateContent xmlns:mc="http://schemas.openxmlformats.org/markup-compatibility/2006">
              <mc:Choice xmlns:v="urn:schemas-microsoft-com:vml" Requires="v">
                <p:oleObj spid="_x0000_s27665" name="" r:id="rId3" imgW="889000" imgH="457200" progId="Equation.DSMT4">
                  <p:embed/>
                </p:oleObj>
              </mc:Choice>
              <mc:Fallback>
                <p:oleObj name="" r:id="rId3" imgW="889000" imgH="457200" progId="Equation.DSMT4">
                  <p:embed/>
                  <p:pic>
                    <p:nvPicPr>
                      <p:cNvPr id="0" name="对象 120842"/>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148263" y="549275"/>
                        <a:ext cx="2447925" cy="1263650"/>
                      </a:xfrm>
                      <a:prstGeom prst="rect">
                        <a:avLst/>
                      </a:prstGeom>
                      <a:noFill/>
                      <a:ln w="25400">
                        <a:solidFill>
                          <a:srgbClr val="FF0000"/>
                        </a:solidFill>
                        <a:miter lim="800000"/>
                        <a:headEnd/>
                        <a:tailEnd/>
                      </a:ln>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7650" name="对象 27649"/>
          <p:cNvGraphicFramePr/>
          <p:nvPr/>
        </p:nvGraphicFramePr>
        <p:xfrm>
          <a:off x="4932363" y="1773238"/>
          <a:ext cx="3357562" cy="1285875"/>
        </p:xfrm>
        <a:graphic>
          <a:graphicData uri="http://schemas.openxmlformats.org/presentationml/2006/ole">
            <mc:AlternateContent xmlns:mc="http://schemas.openxmlformats.org/markup-compatibility/2006">
              <mc:Choice xmlns:v="urn:schemas-microsoft-com:vml" Requires="v">
                <p:oleObj spid="_x0000_s28695" name="" r:id="rId1" imgW="795655" imgH="304800" progId="Equation.DSMT4">
                  <p:embed/>
                </p:oleObj>
              </mc:Choice>
              <mc:Fallback>
                <p:oleObj name="" r:id="rId1" imgW="795655" imgH="304800" progId="Equation.DSMT4">
                  <p:embed/>
                  <p:pic>
                    <p:nvPicPr>
                      <p:cNvPr id="0" name="对象 27649"/>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932363" y="1773238"/>
                        <a:ext cx="3357562" cy="1285875"/>
                      </a:xfrm>
                      <a:prstGeom prst="rect">
                        <a:avLst/>
                      </a:prstGeom>
                      <a:noFill/>
                      <a:ln w="38100">
                        <a:solidFill>
                          <a:srgbClr val="FF0000"/>
                        </a:solidFill>
                        <a:miter lim="800000"/>
                        <a:headEnd/>
                        <a:tailEnd/>
                      </a:ln>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74754" name="对象 27650"/>
          <p:cNvGraphicFramePr/>
          <p:nvPr/>
        </p:nvGraphicFramePr>
        <p:xfrm>
          <a:off x="1150938" y="998538"/>
          <a:ext cx="2444750" cy="1257300"/>
        </p:xfrm>
        <a:graphic>
          <a:graphicData uri="http://schemas.openxmlformats.org/presentationml/2006/ole">
            <mc:AlternateContent xmlns:mc="http://schemas.openxmlformats.org/markup-compatibility/2006">
              <mc:Choice xmlns:v="urn:schemas-microsoft-com:vml" Requires="v">
                <p:oleObj spid="_x0000_s28696" name="" r:id="rId3" imgW="889000" imgH="457200" progId="Equation.DSMT4">
                  <p:embed/>
                </p:oleObj>
              </mc:Choice>
              <mc:Fallback>
                <p:oleObj name="" r:id="rId3" imgW="889000" imgH="457200" progId="Equation.DSMT4">
                  <p:embed/>
                  <p:pic>
                    <p:nvPicPr>
                      <p:cNvPr id="0" name="对象 27650"/>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50938" y="998538"/>
                        <a:ext cx="2444750" cy="1257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74755" name="对象 27651"/>
          <p:cNvGraphicFramePr/>
          <p:nvPr/>
        </p:nvGraphicFramePr>
        <p:xfrm>
          <a:off x="1149350" y="2365375"/>
          <a:ext cx="2979738" cy="1204913"/>
        </p:xfrm>
        <a:graphic>
          <a:graphicData uri="http://schemas.openxmlformats.org/presentationml/2006/ole">
            <mc:AlternateContent xmlns:mc="http://schemas.openxmlformats.org/markup-compatibility/2006">
              <mc:Choice xmlns:v="urn:schemas-microsoft-com:vml" Requires="v">
                <p:oleObj spid="_x0000_s28697" name="" r:id="rId5" imgW="753745" imgH="304800" progId="Equation.DSMT4">
                  <p:embed/>
                </p:oleObj>
              </mc:Choice>
              <mc:Fallback>
                <p:oleObj name="" r:id="rId5" imgW="753745" imgH="304800" progId="Equation.DSMT4">
                  <p:embed/>
                  <p:pic>
                    <p:nvPicPr>
                      <p:cNvPr id="0" name="对象 27651"/>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149350" y="2365375"/>
                        <a:ext cx="2979738" cy="1204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27653" name="右大括号 27652"/>
          <p:cNvSpPr/>
          <p:nvPr/>
        </p:nvSpPr>
        <p:spPr bwMode="auto">
          <a:xfrm>
            <a:off x="4191000" y="1323975"/>
            <a:ext cx="152400" cy="1981200"/>
          </a:xfrm>
          <a:prstGeom prst="rightBrace">
            <a:avLst>
              <a:gd name="adj1" fmla="val 107792"/>
              <a:gd name="adj2" fmla="val 50000"/>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7655" name="文本框 27654"/>
          <p:cNvSpPr txBox="1">
            <a:spLocks noChangeArrowheads="1"/>
          </p:cNvSpPr>
          <p:nvPr/>
        </p:nvSpPr>
        <p:spPr bwMode="auto">
          <a:xfrm>
            <a:off x="611188" y="4005263"/>
            <a:ext cx="7696200" cy="2227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spcBef>
                <a:spcPct val="50000"/>
              </a:spcBef>
            </a:pPr>
            <a:r>
              <a:rPr lang="zh-CN" altLang="en-US" sz="2800" b="1" i="1" dirty="0">
                <a:latin typeface="Times New Roman" panose="02020603050405020304" pitchFamily="18" charset="0"/>
              </a:rPr>
              <a:t>　　</a:t>
            </a:r>
            <a:r>
              <a:rPr lang="zh-CN" altLang="en-US" sz="2800" b="1" dirty="0">
                <a:solidFill>
                  <a:srgbClr val="000000"/>
                </a:solidFill>
                <a:latin typeface="黑体" panose="02010609060101010101" pitchFamily="49" charset="-122"/>
                <a:ea typeface="黑体" panose="02010609060101010101" pitchFamily="49" charset="-122"/>
              </a:rPr>
              <a:t>上式反映了气流的流速、热力状态（体现在马赫数中）以及流道截面面积变化的相互制约关系。可以看到，若想使气流的流速发生改变，在选择管道的</a:t>
            </a:r>
            <a:r>
              <a:rPr lang="zh-CN" altLang="en-US" sz="2800" b="1" dirty="0">
                <a:solidFill>
                  <a:srgbClr val="FF0000"/>
                </a:solidFill>
                <a:latin typeface="黑体" panose="02010609060101010101" pitchFamily="49" charset="-122"/>
                <a:ea typeface="黑体" panose="02010609060101010101" pitchFamily="49" charset="-122"/>
              </a:rPr>
              <a:t>具体形状</a:t>
            </a:r>
            <a:r>
              <a:rPr lang="zh-CN" altLang="en-US" sz="2800" b="1" dirty="0">
                <a:solidFill>
                  <a:srgbClr val="000000"/>
                </a:solidFill>
                <a:latin typeface="黑体" panose="02010609060101010101" pitchFamily="49" charset="-122"/>
                <a:ea typeface="黑体" panose="02010609060101010101" pitchFamily="49" charset="-122"/>
              </a:rPr>
              <a:t>（是渐缩还是渐扩）时，还要考虑气流</a:t>
            </a:r>
            <a:r>
              <a:rPr lang="zh-CN" altLang="en-US" sz="2800" b="1" dirty="0">
                <a:solidFill>
                  <a:srgbClr val="FF0000"/>
                </a:solidFill>
                <a:latin typeface="黑体" panose="02010609060101010101" pitchFamily="49" charset="-122"/>
                <a:ea typeface="黑体" panose="02010609060101010101" pitchFamily="49" charset="-122"/>
              </a:rPr>
              <a:t>马赫数</a:t>
            </a:r>
            <a:r>
              <a:rPr lang="zh-CN" altLang="en-US" sz="2800" b="1" dirty="0">
                <a:solidFill>
                  <a:srgbClr val="000000"/>
                </a:solidFill>
                <a:latin typeface="黑体" panose="02010609060101010101" pitchFamily="49" charset="-122"/>
                <a:ea typeface="黑体" panose="02010609060101010101" pitchFamily="49" charset="-122"/>
              </a:rPr>
              <a:t>的影响。下面将具体说明。</a:t>
            </a:r>
            <a:r>
              <a:rPr lang="zh-CN" altLang="en-US" sz="2800" b="1" dirty="0">
                <a:latin typeface="Times New Roman" panose="02020603050405020304" pitchFamily="18" charset="0"/>
              </a:rPr>
              <a:t> </a:t>
            </a:r>
            <a:endParaRPr lang="zh-CN" altLang="en-US" sz="2800" b="1" dirty="0">
              <a:latin typeface="Times New Roman" panose="02020603050405020304" pitchFamily="18" charset="0"/>
            </a:endParaRPr>
          </a:p>
        </p:txBody>
      </p:sp>
      <p:sp>
        <p:nvSpPr>
          <p:cNvPr id="74758" name="矩形 27655"/>
          <p:cNvSpPr>
            <a:spLocks noChangeArrowheads="1"/>
          </p:cNvSpPr>
          <p:nvPr/>
        </p:nvSpPr>
        <p:spPr bwMode="auto">
          <a:xfrm>
            <a:off x="539750" y="260350"/>
            <a:ext cx="3608388"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spcBef>
                <a:spcPct val="20000"/>
              </a:spcBef>
              <a:buClr>
                <a:schemeClr val="folHlink"/>
              </a:buClr>
              <a:buSzPct val="60000"/>
              <a:buFont typeface="Wingdings" panose="05000000000000000000" pitchFamily="2" charset="2"/>
              <a:buNone/>
            </a:pPr>
            <a:r>
              <a:rPr lang="zh-CN" altLang="en-US" sz="3600" b="1">
                <a:latin typeface="Tahoma" panose="020B0604030504040204" pitchFamily="34" charset="0"/>
                <a:ea typeface="黑体" panose="02010609060101010101" pitchFamily="49" charset="-122"/>
              </a:rPr>
              <a:t>二、几何条件</a:t>
            </a:r>
            <a:endParaRPr lang="zh-CN" altLang="en-US" sz="3600" b="1">
              <a:latin typeface="Tahoma" panose="020B0604030504040204" pitchFamily="34" charset="0"/>
              <a:ea typeface="黑体" panose="02010609060101010101" pitchFamily="49" charset="-122"/>
            </a:endParaRPr>
          </a:p>
        </p:txBody>
      </p:sp>
    </p:spTree>
    <p:custDataLst>
      <p:tags r:id="rId7"/>
    </p:custData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nodeType="clickEffect">
                                  <p:stCondLst>
                                    <p:cond delay="0"/>
                                  </p:stCondLst>
                                  <p:childTnLst>
                                    <p:set>
                                      <p:cBhvr>
                                        <p:cTn id="6" dur="1" fill="hold">
                                          <p:stCondLst>
                                            <p:cond delay="0"/>
                                          </p:stCondLst>
                                        </p:cTn>
                                        <p:tgtEl>
                                          <p:spTgt spid="27653"/>
                                        </p:tgtEl>
                                        <p:attrNameLst>
                                          <p:attrName>style.visibility</p:attrName>
                                        </p:attrNameLst>
                                      </p:cBhvr>
                                      <p:to>
                                        <p:strVal val="visible"/>
                                      </p:to>
                                    </p:set>
                                    <p:animEffect transition="in" filter="box(in)">
                                      <p:cBhvr>
                                        <p:cTn id="7" dur="500"/>
                                        <p:tgtEl>
                                          <p:spTgt spid="27653"/>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nodeType="clickEffect">
                                  <p:stCondLst>
                                    <p:cond delay="0"/>
                                  </p:stCondLst>
                                  <p:childTnLst>
                                    <p:set>
                                      <p:cBhvr>
                                        <p:cTn id="11" dur="1" fill="hold">
                                          <p:stCondLst>
                                            <p:cond delay="0"/>
                                          </p:stCondLst>
                                        </p:cTn>
                                        <p:tgtEl>
                                          <p:spTgt spid="27650"/>
                                        </p:tgtEl>
                                        <p:attrNameLst>
                                          <p:attrName>style.visibility</p:attrName>
                                        </p:attrNameLst>
                                      </p:cBhvr>
                                      <p:to>
                                        <p:strVal val="visible"/>
                                      </p:to>
                                    </p:set>
                                    <p:animEffect transition="in" filter="box(in)">
                                      <p:cBhvr>
                                        <p:cTn id="12" dur="500"/>
                                        <p:tgtEl>
                                          <p:spTgt spid="27650"/>
                                        </p:tgtEl>
                                      </p:cBhvr>
                                    </p:animEffect>
                                  </p:childTnLst>
                                </p:cTn>
                              </p:par>
                              <p:par>
                                <p:cTn id="13" presetID="4" presetClass="entr" presetSubtype="16" fill="hold" grpId="0" nodeType="withEffect">
                                  <p:stCondLst>
                                    <p:cond delay="0"/>
                                  </p:stCondLst>
                                  <p:childTnLst>
                                    <p:set>
                                      <p:cBhvr>
                                        <p:cTn id="14" dur="1" fill="hold">
                                          <p:stCondLst>
                                            <p:cond delay="0"/>
                                          </p:stCondLst>
                                        </p:cTn>
                                        <p:tgtEl>
                                          <p:spTgt spid="27655"/>
                                        </p:tgtEl>
                                        <p:attrNameLst>
                                          <p:attrName>style.visibility</p:attrName>
                                        </p:attrNameLst>
                                      </p:cBhvr>
                                      <p:to>
                                        <p:strVal val="visible"/>
                                      </p:to>
                                    </p:set>
                                    <p:animEffect transition="in" filter="box(in)">
                                      <p:cBhvr>
                                        <p:cTn id="15" dur="500"/>
                                        <p:tgtEl>
                                          <p:spTgt spid="2765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655" grpId="0"/>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7" name="矩形 125955"/>
          <p:cNvSpPr>
            <a:spLocks noChangeArrowheads="1"/>
          </p:cNvSpPr>
          <p:nvPr/>
        </p:nvSpPr>
        <p:spPr bwMode="auto">
          <a:xfrm>
            <a:off x="755650" y="2133600"/>
            <a:ext cx="7699375" cy="1373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r>
              <a:rPr lang="zh-CN" altLang="en-US" sz="2800" b="1">
                <a:latin typeface="黑体" panose="02010609060101010101" pitchFamily="49" charset="-122"/>
                <a:ea typeface="黑体" panose="02010609060101010101" pitchFamily="49" charset="-122"/>
              </a:rPr>
              <a:t>喷管（用于增加气体流速的管道）的选择：</a:t>
            </a:r>
            <a:endParaRPr lang="zh-CN" altLang="en-US" sz="2800" b="1">
              <a:latin typeface="黑体" panose="02010609060101010101" pitchFamily="49" charset="-122"/>
              <a:ea typeface="黑体" panose="02010609060101010101" pitchFamily="49" charset="-122"/>
            </a:endParaRPr>
          </a:p>
          <a:p>
            <a:r>
              <a:rPr lang="zh-CN" altLang="en-US" sz="2800" b="1">
                <a:latin typeface="黑体" panose="02010609060101010101" pitchFamily="49" charset="-122"/>
                <a:ea typeface="黑体" panose="02010609060101010101" pitchFamily="49" charset="-122"/>
              </a:rPr>
              <a:t>若来流为亚声速，选择（ 渐缩   ）管道；若来流为超声速，选择（渐扩 ）管道</a:t>
            </a:r>
            <a:endParaRPr lang="zh-CN" altLang="en-US" sz="2800" b="1">
              <a:latin typeface="黑体" panose="02010609060101010101" pitchFamily="49" charset="-122"/>
              <a:ea typeface="黑体" panose="02010609060101010101" pitchFamily="49" charset="-122"/>
            </a:endParaRPr>
          </a:p>
        </p:txBody>
      </p:sp>
      <p:graphicFrame>
        <p:nvGraphicFramePr>
          <p:cNvPr id="75778" name="对象 125957"/>
          <p:cNvGraphicFramePr/>
          <p:nvPr/>
        </p:nvGraphicFramePr>
        <p:xfrm>
          <a:off x="2916238" y="404813"/>
          <a:ext cx="3357562" cy="1285875"/>
        </p:xfrm>
        <a:graphic>
          <a:graphicData uri="http://schemas.openxmlformats.org/presentationml/2006/ole">
            <mc:AlternateContent xmlns:mc="http://schemas.openxmlformats.org/markup-compatibility/2006">
              <mc:Choice xmlns:v="urn:schemas-microsoft-com:vml" Requires="v">
                <p:oleObj spid="_x0000_s29709" name="" r:id="rId1" imgW="795655" imgH="304800" progId="Equation.DSMT4">
                  <p:embed/>
                </p:oleObj>
              </mc:Choice>
              <mc:Fallback>
                <p:oleObj name="" r:id="rId1" imgW="795655" imgH="304800" progId="Equation.DSMT4">
                  <p:embed/>
                  <p:pic>
                    <p:nvPicPr>
                      <p:cNvPr id="0" name="对象 125957"/>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916238" y="404813"/>
                        <a:ext cx="3357562" cy="1285875"/>
                      </a:xfrm>
                      <a:prstGeom prst="rect">
                        <a:avLst/>
                      </a:prstGeom>
                      <a:noFill/>
                      <a:ln w="38100">
                        <a:solidFill>
                          <a:srgbClr val="FF0000"/>
                        </a:solidFill>
                        <a:miter lim="800000"/>
                        <a:headEnd/>
                        <a:tailEnd/>
                      </a:ln>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75779" name="矩形 125959"/>
          <p:cNvSpPr>
            <a:spLocks noChangeArrowheads="1"/>
          </p:cNvSpPr>
          <p:nvPr/>
        </p:nvSpPr>
        <p:spPr bwMode="auto">
          <a:xfrm>
            <a:off x="0" y="271938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75781" name="矩形 125961"/>
          <p:cNvSpPr>
            <a:spLocks noChangeArrowheads="1"/>
          </p:cNvSpPr>
          <p:nvPr/>
        </p:nvSpPr>
        <p:spPr bwMode="auto">
          <a:xfrm>
            <a:off x="0" y="271938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pic>
        <p:nvPicPr>
          <p:cNvPr id="2" name="图片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25741" y="3789391"/>
            <a:ext cx="3651821" cy="1871634"/>
          </a:xfrm>
          <a:prstGeom prst="rect">
            <a:avLst/>
          </a:prstGeom>
        </p:spPr>
      </p:pic>
      <p:pic>
        <p:nvPicPr>
          <p:cNvPr id="3" name="图片 2"/>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677458" y="3768053"/>
            <a:ext cx="3724979" cy="191431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1" name="矩形 126977"/>
          <p:cNvSpPr>
            <a:spLocks noChangeArrowheads="1"/>
          </p:cNvSpPr>
          <p:nvPr/>
        </p:nvSpPr>
        <p:spPr bwMode="auto">
          <a:xfrm>
            <a:off x="755650" y="2133600"/>
            <a:ext cx="7699375" cy="1373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r>
              <a:rPr lang="zh-CN" altLang="en-US" sz="2800" b="1">
                <a:latin typeface="黑体" panose="02010609060101010101" pitchFamily="49" charset="-122"/>
                <a:ea typeface="黑体" panose="02010609060101010101" pitchFamily="49" charset="-122"/>
              </a:rPr>
              <a:t>扩压管（用于增加气体压力的管道）的选择：</a:t>
            </a:r>
            <a:endParaRPr lang="zh-CN" altLang="en-US" sz="2800" b="1">
              <a:latin typeface="黑体" panose="02010609060101010101" pitchFamily="49" charset="-122"/>
              <a:ea typeface="黑体" panose="02010609060101010101" pitchFamily="49" charset="-122"/>
            </a:endParaRPr>
          </a:p>
          <a:p>
            <a:r>
              <a:rPr lang="zh-CN" altLang="en-US" sz="2800" b="1">
                <a:latin typeface="黑体" panose="02010609060101010101" pitchFamily="49" charset="-122"/>
                <a:ea typeface="黑体" panose="02010609060101010101" pitchFamily="49" charset="-122"/>
              </a:rPr>
              <a:t>若来流为亚声速，选择（  渐扩  ）管道；若来流为超声速，选择（渐缩 ）管道</a:t>
            </a:r>
            <a:endParaRPr lang="zh-CN" altLang="en-US" sz="2800" b="1">
              <a:latin typeface="黑体" panose="02010609060101010101" pitchFamily="49" charset="-122"/>
              <a:ea typeface="黑体" panose="02010609060101010101" pitchFamily="49" charset="-122"/>
            </a:endParaRPr>
          </a:p>
        </p:txBody>
      </p:sp>
      <p:graphicFrame>
        <p:nvGraphicFramePr>
          <p:cNvPr id="76802" name="对象 126978"/>
          <p:cNvGraphicFramePr/>
          <p:nvPr/>
        </p:nvGraphicFramePr>
        <p:xfrm>
          <a:off x="2916238" y="404813"/>
          <a:ext cx="3357562" cy="1285875"/>
        </p:xfrm>
        <a:graphic>
          <a:graphicData uri="http://schemas.openxmlformats.org/presentationml/2006/ole">
            <mc:AlternateContent xmlns:mc="http://schemas.openxmlformats.org/markup-compatibility/2006">
              <mc:Choice xmlns:v="urn:schemas-microsoft-com:vml" Requires="v">
                <p:oleObj spid="_x0000_s30733" name="" r:id="rId1" imgW="795655" imgH="304800" progId="Equation.DSMT4">
                  <p:embed/>
                </p:oleObj>
              </mc:Choice>
              <mc:Fallback>
                <p:oleObj name="" r:id="rId1" imgW="795655" imgH="304800" progId="Equation.DSMT4">
                  <p:embed/>
                  <p:pic>
                    <p:nvPicPr>
                      <p:cNvPr id="0" name="对象 126978"/>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916238" y="404813"/>
                        <a:ext cx="3357562" cy="1285875"/>
                      </a:xfrm>
                      <a:prstGeom prst="rect">
                        <a:avLst/>
                      </a:prstGeom>
                      <a:noFill/>
                      <a:ln w="38100">
                        <a:solidFill>
                          <a:srgbClr val="FF0000"/>
                        </a:solidFill>
                        <a:miter lim="800000"/>
                        <a:headEnd/>
                        <a:tailEnd/>
                      </a:ln>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76803" name="矩形 126979"/>
          <p:cNvSpPr>
            <a:spLocks noChangeArrowheads="1"/>
          </p:cNvSpPr>
          <p:nvPr/>
        </p:nvSpPr>
        <p:spPr bwMode="auto">
          <a:xfrm>
            <a:off x="0" y="271938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76804" name="矩形 126981"/>
          <p:cNvSpPr>
            <a:spLocks noChangeArrowheads="1"/>
          </p:cNvSpPr>
          <p:nvPr/>
        </p:nvSpPr>
        <p:spPr bwMode="auto">
          <a:xfrm>
            <a:off x="0" y="271938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76805" name="矩形 126984"/>
          <p:cNvSpPr>
            <a:spLocks noChangeArrowheads="1"/>
          </p:cNvSpPr>
          <p:nvPr/>
        </p:nvSpPr>
        <p:spPr bwMode="auto">
          <a:xfrm>
            <a:off x="0" y="271938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76807" name="矩形 126986"/>
          <p:cNvSpPr>
            <a:spLocks noChangeArrowheads="1"/>
          </p:cNvSpPr>
          <p:nvPr/>
        </p:nvSpPr>
        <p:spPr bwMode="auto">
          <a:xfrm>
            <a:off x="0" y="271938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pic>
        <p:nvPicPr>
          <p:cNvPr id="3" name="图片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76118" y="3716338"/>
            <a:ext cx="3792041" cy="1950889"/>
          </a:xfrm>
          <a:prstGeom prst="rect">
            <a:avLst/>
          </a:prstGeom>
        </p:spPr>
      </p:pic>
      <p:pic>
        <p:nvPicPr>
          <p:cNvPr id="4" name="图片 3"/>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729795" y="3682806"/>
            <a:ext cx="3938357" cy="2017951"/>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5" name="文本占位符 129026"/>
          <p:cNvSpPr>
            <a:spLocks noGrp="1" noChangeArrowheads="1"/>
          </p:cNvSpPr>
          <p:nvPr>
            <p:ph idx="1"/>
          </p:nvPr>
        </p:nvSpPr>
        <p:spPr>
          <a:xfrm>
            <a:off x="539750" y="2060575"/>
            <a:ext cx="8229600" cy="4608513"/>
          </a:xfrm>
        </p:spPr>
        <p:txBody>
          <a:bodyPr/>
          <a:lstStyle/>
          <a:p>
            <a:r>
              <a:rPr lang="zh-CN" altLang="en-US" sz="2800" b="1" dirty="0" smtClean="0">
                <a:latin typeface="Times New Roman" panose="02020603050405020304" pitchFamily="18" charset="0"/>
                <a:ea typeface="黑体" panose="02010609060101010101" pitchFamily="49" charset="-122"/>
                <a:cs typeface="Times New Roman" panose="02020603050405020304" pitchFamily="18" charset="0"/>
              </a:rPr>
              <a:t>喷管形状的选择，取决于马赫数。在来流马赫数小于</a:t>
            </a:r>
            <a:r>
              <a:rPr lang="en-US" altLang="zh-CN" sz="2800" b="1" dirty="0" smtClean="0">
                <a:latin typeface="Times New Roman" panose="02020603050405020304" pitchFamily="18" charset="0"/>
                <a:ea typeface="黑体" panose="02010609060101010101" pitchFamily="49" charset="-122"/>
                <a:cs typeface="Times New Roman" panose="02020603050405020304" pitchFamily="18" charset="0"/>
              </a:rPr>
              <a:t>1</a:t>
            </a:r>
            <a:r>
              <a:rPr lang="zh-CN" altLang="en-US" sz="2800" b="1" dirty="0" smtClean="0">
                <a:latin typeface="Times New Roman" panose="02020603050405020304" pitchFamily="18" charset="0"/>
                <a:ea typeface="黑体" panose="02010609060101010101" pitchFamily="49" charset="-122"/>
                <a:cs typeface="Times New Roman" panose="02020603050405020304" pitchFamily="18" charset="0"/>
              </a:rPr>
              <a:t>时，应选择渐缩喷管。但对于这种喷管，最多只能将气流的流速提高至声速（此时</a:t>
            </a:r>
            <a:r>
              <a:rPr lang="en-US" altLang="zh-CN" sz="2800" b="1" i="1" dirty="0" smtClean="0">
                <a:latin typeface="Times New Roman" panose="02020603050405020304" pitchFamily="18" charset="0"/>
                <a:ea typeface="黑体" panose="02010609060101010101" pitchFamily="49" charset="-122"/>
                <a:cs typeface="Times New Roman" panose="02020603050405020304" pitchFamily="18" charset="0"/>
              </a:rPr>
              <a:t>Ma</a:t>
            </a:r>
            <a:r>
              <a:rPr lang="en-US" altLang="zh-CN" sz="2800" b="1" dirty="0" smtClean="0">
                <a:latin typeface="Times New Roman" panose="02020603050405020304" pitchFamily="18" charset="0"/>
                <a:ea typeface="黑体" panose="02010609060101010101" pitchFamily="49" charset="-122"/>
                <a:cs typeface="Times New Roman" panose="02020603050405020304" pitchFamily="18" charset="0"/>
              </a:rPr>
              <a:t>=1</a:t>
            </a:r>
            <a:r>
              <a:rPr lang="zh-CN" altLang="en-US" sz="2800" b="1" dirty="0" smtClean="0">
                <a:latin typeface="Times New Roman" panose="02020603050405020304" pitchFamily="18" charset="0"/>
                <a:ea typeface="黑体" panose="02010609060101010101" pitchFamily="49" charset="-122"/>
                <a:cs typeface="Times New Roman" panose="02020603050405020304" pitchFamily="18" charset="0"/>
              </a:rPr>
              <a:t>，它出现在喷管出口处）。如果想进一步提高流速至超声速（即</a:t>
            </a:r>
            <a:r>
              <a:rPr lang="en-US" altLang="zh-CN" sz="2800" b="1" i="1" dirty="0" smtClean="0">
                <a:latin typeface="Times New Roman" panose="02020603050405020304" pitchFamily="18" charset="0"/>
                <a:ea typeface="黑体" panose="02010609060101010101" pitchFamily="49" charset="-122"/>
                <a:cs typeface="Times New Roman" panose="02020603050405020304" pitchFamily="18" charset="0"/>
              </a:rPr>
              <a:t>Ma</a:t>
            </a:r>
            <a:r>
              <a:rPr lang="en-US" altLang="zh-CN" sz="2800" b="1" dirty="0" smtClean="0">
                <a:latin typeface="Times New Roman" panose="02020603050405020304" pitchFamily="18" charset="0"/>
                <a:ea typeface="黑体" panose="02010609060101010101" pitchFamily="49" charset="-122"/>
                <a:cs typeface="Times New Roman" panose="02020603050405020304" pitchFamily="18" charset="0"/>
              </a:rPr>
              <a:t>&gt;1</a:t>
            </a:r>
            <a:r>
              <a:rPr lang="zh-CN" altLang="en-US" sz="2800" b="1" dirty="0" smtClean="0">
                <a:latin typeface="Times New Roman" panose="02020603050405020304" pitchFamily="18" charset="0"/>
                <a:ea typeface="黑体" panose="02010609060101010101" pitchFamily="49" charset="-122"/>
                <a:cs typeface="Times New Roman" panose="02020603050405020304" pitchFamily="18" charset="0"/>
              </a:rPr>
              <a:t>），渐缩喷管就无能为力了。</a:t>
            </a:r>
            <a:endParaRPr lang="zh-CN" altLang="en-US" sz="2800" b="1" dirty="0" smtClean="0">
              <a:latin typeface="Times New Roman" panose="02020603050405020304" pitchFamily="18" charset="0"/>
              <a:ea typeface="黑体" panose="02010609060101010101" pitchFamily="49" charset="-122"/>
              <a:cs typeface="Times New Roman" panose="02020603050405020304" pitchFamily="18" charset="0"/>
            </a:endParaRPr>
          </a:p>
          <a:p>
            <a:r>
              <a:rPr lang="zh-CN" altLang="en-US" sz="2800" b="1" dirty="0" smtClean="0">
                <a:latin typeface="Times New Roman" panose="02020603050405020304" pitchFamily="18" charset="0"/>
                <a:ea typeface="黑体" panose="02010609060101010101" pitchFamily="49" charset="-122"/>
                <a:cs typeface="Times New Roman" panose="02020603050405020304" pitchFamily="18" charset="0"/>
              </a:rPr>
              <a:t>也就是说，气流在渐缩喷管出口截面的流速只能小于或等于当地声速，这是渐缩喷管工作能力的限制。</a:t>
            </a:r>
            <a:endParaRPr lang="zh-CN" altLang="en-US" sz="2800" b="1" dirty="0" smtClean="0">
              <a:latin typeface="Times New Roman" panose="02020603050405020304" pitchFamily="18" charset="0"/>
              <a:ea typeface="黑体" panose="02010609060101010101" pitchFamily="49" charset="-122"/>
              <a:cs typeface="Times New Roman" panose="02020603050405020304" pitchFamily="18" charset="0"/>
            </a:endParaRPr>
          </a:p>
        </p:txBody>
      </p:sp>
      <p:graphicFrame>
        <p:nvGraphicFramePr>
          <p:cNvPr id="77826" name="对象 129030"/>
          <p:cNvGraphicFramePr/>
          <p:nvPr/>
        </p:nvGraphicFramePr>
        <p:xfrm>
          <a:off x="684213" y="333375"/>
          <a:ext cx="3357562" cy="1285875"/>
        </p:xfrm>
        <a:graphic>
          <a:graphicData uri="http://schemas.openxmlformats.org/presentationml/2006/ole">
            <mc:AlternateContent xmlns:mc="http://schemas.openxmlformats.org/markup-compatibility/2006">
              <mc:Choice xmlns:v="urn:schemas-microsoft-com:vml" Requires="v">
                <p:oleObj spid="_x0000_s31755" name="" r:id="rId1" imgW="795655" imgH="304800" progId="Equation.DSMT4">
                  <p:embed/>
                </p:oleObj>
              </mc:Choice>
              <mc:Fallback>
                <p:oleObj name="" r:id="rId1" imgW="795655" imgH="304800" progId="Equation.DSMT4">
                  <p:embed/>
                  <p:pic>
                    <p:nvPicPr>
                      <p:cNvPr id="0" name="对象 129030"/>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4213" y="333375"/>
                        <a:ext cx="3357562" cy="1285875"/>
                      </a:xfrm>
                      <a:prstGeom prst="rect">
                        <a:avLst/>
                      </a:prstGeom>
                      <a:noFill/>
                      <a:ln w="38100">
                        <a:solidFill>
                          <a:srgbClr val="FF0000"/>
                        </a:solidFill>
                        <a:miter lim="800000"/>
                        <a:headEnd/>
                        <a:tailEnd/>
                      </a:ln>
                      <a:extLst>
                        <a:ext uri="{909E8E84-426E-40DD-AFC4-6F175D3DCCD1}">
                          <a14:hiddenFill xmlns:a14="http://schemas.microsoft.com/office/drawing/2010/main">
                            <a:solidFill>
                              <a:srgbClr val="FFFFFF"/>
                            </a:solidFill>
                          </a14:hiddenFill>
                        </a:ext>
                      </a:extLst>
                    </p:spPr>
                  </p:pic>
                </p:oleObj>
              </mc:Fallback>
            </mc:AlternateContent>
          </a:graphicData>
        </a:graphic>
      </p:graphicFrame>
      <p:pic>
        <p:nvPicPr>
          <p:cNvPr id="2" name="图片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030127" y="260911"/>
            <a:ext cx="3072650" cy="1579001"/>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49" name="文本占位符 131074"/>
          <p:cNvSpPr>
            <a:spLocks noGrp="1" noChangeArrowheads="1"/>
          </p:cNvSpPr>
          <p:nvPr>
            <p:ph idx="1"/>
          </p:nvPr>
        </p:nvSpPr>
        <p:spPr>
          <a:xfrm>
            <a:off x="468313" y="2060575"/>
            <a:ext cx="8229600" cy="4525963"/>
          </a:xfrm>
        </p:spPr>
        <p:txBody>
          <a:bodyPr/>
          <a:lstStyle/>
          <a:p>
            <a:r>
              <a:rPr lang="zh-CN" altLang="en-US" sz="2800" b="1" dirty="0" smtClean="0">
                <a:latin typeface="Times New Roman" panose="02020603050405020304" pitchFamily="18" charset="0"/>
                <a:ea typeface="黑体" panose="02010609060101010101" pitchFamily="49" charset="-122"/>
                <a:cs typeface="Times New Roman" panose="02020603050405020304" pitchFamily="18" charset="0"/>
              </a:rPr>
              <a:t>限制的原因：若</a:t>
            </a:r>
            <a:r>
              <a:rPr lang="en-US" altLang="zh-CN" sz="2800" b="1" i="1" dirty="0" smtClean="0">
                <a:latin typeface="Times New Roman" panose="02020603050405020304" pitchFamily="18" charset="0"/>
                <a:ea typeface="黑体" panose="02010609060101010101" pitchFamily="49" charset="-122"/>
                <a:cs typeface="Times New Roman" panose="02020603050405020304" pitchFamily="18" charset="0"/>
              </a:rPr>
              <a:t>Ma</a:t>
            </a:r>
            <a:r>
              <a:rPr lang="en-US" altLang="zh-CN" sz="2800" b="1" dirty="0" smtClean="0">
                <a:latin typeface="Times New Roman" panose="02020603050405020304" pitchFamily="18" charset="0"/>
                <a:ea typeface="黑体" panose="02010609060101010101" pitchFamily="49" charset="-122"/>
                <a:cs typeface="Times New Roman" panose="02020603050405020304" pitchFamily="18" charset="0"/>
              </a:rPr>
              <a:t>&gt;1</a:t>
            </a:r>
            <a:r>
              <a:rPr lang="zh-CN" altLang="en-US" sz="2800" b="1" dirty="0" smtClean="0">
                <a:latin typeface="Times New Roman" panose="02020603050405020304" pitchFamily="18" charset="0"/>
                <a:ea typeface="黑体" panose="02010609060101010101" pitchFamily="49" charset="-122"/>
                <a:cs typeface="Times New Roman" panose="02020603050405020304" pitchFamily="18" charset="0"/>
              </a:rPr>
              <a:t>，由上式可知，若想进一步加速，则要求</a:t>
            </a:r>
            <a:r>
              <a:rPr lang="en-US" altLang="zh-CN" sz="2800" b="1" dirty="0" err="1" smtClean="0">
                <a:latin typeface="Times New Roman" panose="02020603050405020304" pitchFamily="18" charset="0"/>
                <a:ea typeface="黑体" panose="02010609060101010101" pitchFamily="49" charset="-122"/>
                <a:cs typeface="Times New Roman" panose="02020603050405020304" pitchFamily="18" charset="0"/>
              </a:rPr>
              <a:t>d</a:t>
            </a:r>
            <a:r>
              <a:rPr lang="en-US" altLang="zh-CN" sz="2800" b="1" i="1" dirty="0" err="1" smtClean="0">
                <a:latin typeface="Times New Roman" panose="02020603050405020304" pitchFamily="18" charset="0"/>
                <a:ea typeface="黑体" panose="02010609060101010101" pitchFamily="49" charset="-122"/>
                <a:cs typeface="Times New Roman" panose="02020603050405020304" pitchFamily="18" charset="0"/>
              </a:rPr>
              <a:t>A</a:t>
            </a:r>
            <a:r>
              <a:rPr lang="en-US" altLang="zh-CN" sz="2800" b="1" dirty="0" smtClean="0">
                <a:latin typeface="Times New Roman" panose="02020603050405020304" pitchFamily="18" charset="0"/>
                <a:ea typeface="黑体" panose="02010609060101010101" pitchFamily="49" charset="-122"/>
                <a:cs typeface="Times New Roman" panose="02020603050405020304" pitchFamily="18" charset="0"/>
              </a:rPr>
              <a:t>&gt;0</a:t>
            </a:r>
            <a:r>
              <a:rPr lang="zh-CN" altLang="en-US" sz="2800" b="1" dirty="0" smtClean="0">
                <a:latin typeface="Times New Roman" panose="02020603050405020304" pitchFamily="18" charset="0"/>
                <a:ea typeface="黑体" panose="02010609060101010101" pitchFamily="49" charset="-122"/>
                <a:cs typeface="Times New Roman" panose="02020603050405020304" pitchFamily="18" charset="0"/>
              </a:rPr>
              <a:t>，而渐缩喷管的</a:t>
            </a:r>
            <a:r>
              <a:rPr lang="en-US" altLang="zh-CN" sz="2800" b="1" dirty="0" err="1" smtClean="0">
                <a:latin typeface="Times New Roman" panose="02020603050405020304" pitchFamily="18" charset="0"/>
                <a:ea typeface="黑体" panose="02010609060101010101" pitchFamily="49" charset="-122"/>
                <a:cs typeface="Times New Roman" panose="02020603050405020304" pitchFamily="18" charset="0"/>
              </a:rPr>
              <a:t>d</a:t>
            </a:r>
            <a:r>
              <a:rPr lang="en-US" altLang="zh-CN" sz="2800" b="1" i="1" dirty="0" err="1" smtClean="0">
                <a:latin typeface="Times New Roman" panose="02020603050405020304" pitchFamily="18" charset="0"/>
                <a:ea typeface="黑体" panose="02010609060101010101" pitchFamily="49" charset="-122"/>
                <a:cs typeface="Times New Roman" panose="02020603050405020304" pitchFamily="18" charset="0"/>
              </a:rPr>
              <a:t>A</a:t>
            </a:r>
            <a:r>
              <a:rPr lang="en-US" altLang="zh-CN" sz="2800" b="1" dirty="0" smtClean="0">
                <a:latin typeface="Times New Roman" panose="02020603050405020304" pitchFamily="18" charset="0"/>
                <a:ea typeface="黑体" panose="02010609060101010101" pitchFamily="49" charset="-122"/>
                <a:cs typeface="Times New Roman" panose="02020603050405020304" pitchFamily="18" charset="0"/>
              </a:rPr>
              <a:t>&lt;0</a:t>
            </a:r>
            <a:r>
              <a:rPr lang="zh-CN" altLang="en-US" sz="2800" b="1" dirty="0" smtClean="0">
                <a:latin typeface="Times New Roman" panose="02020603050405020304" pitchFamily="18" charset="0"/>
                <a:ea typeface="黑体" panose="02010609060101010101" pitchFamily="49" charset="-122"/>
                <a:cs typeface="Times New Roman" panose="02020603050405020304" pitchFamily="18" charset="0"/>
              </a:rPr>
              <a:t>，无法满足要求。</a:t>
            </a:r>
            <a:endParaRPr lang="zh-CN" altLang="en-US" sz="2800" b="1" dirty="0" smtClean="0">
              <a:latin typeface="Times New Roman" panose="02020603050405020304" pitchFamily="18" charset="0"/>
              <a:ea typeface="黑体" panose="02010609060101010101" pitchFamily="49" charset="-122"/>
              <a:cs typeface="Times New Roman" panose="02020603050405020304" pitchFamily="18" charset="0"/>
            </a:endParaRPr>
          </a:p>
          <a:p>
            <a:r>
              <a:rPr lang="zh-CN" altLang="en-US" sz="2800" b="1" dirty="0" smtClean="0">
                <a:latin typeface="Times New Roman" panose="02020603050405020304" pitchFamily="18" charset="0"/>
                <a:ea typeface="黑体" panose="02010609060101010101" pitchFamily="49" charset="-122"/>
                <a:cs typeface="Times New Roman" panose="02020603050405020304" pitchFamily="18" charset="0"/>
              </a:rPr>
              <a:t>如何才能使气流速度达到声速后还能进一步增加至超声速呢？这就需要用到</a:t>
            </a:r>
            <a:r>
              <a:rPr lang="zh-CN" altLang="en-US" sz="2800" b="1" dirty="0" smtClean="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拉伐尔喷管</a:t>
            </a:r>
            <a:r>
              <a:rPr lang="zh-CN" altLang="en-US" sz="2800" b="1" dirty="0" smtClean="0">
                <a:latin typeface="Times New Roman" panose="02020603050405020304" pitchFamily="18" charset="0"/>
                <a:ea typeface="黑体" panose="02010609060101010101" pitchFamily="49" charset="-122"/>
                <a:cs typeface="Times New Roman" panose="02020603050405020304" pitchFamily="18" charset="0"/>
              </a:rPr>
              <a:t>，即在渐缩喷管之后再加上一段渐扩段用以满足</a:t>
            </a:r>
            <a:r>
              <a:rPr lang="en-US" altLang="zh-CN" sz="2800" b="1" dirty="0" err="1" smtClean="0">
                <a:latin typeface="Times New Roman" panose="02020603050405020304" pitchFamily="18" charset="0"/>
                <a:ea typeface="黑体" panose="02010609060101010101" pitchFamily="49" charset="-122"/>
                <a:cs typeface="Times New Roman" panose="02020603050405020304" pitchFamily="18" charset="0"/>
              </a:rPr>
              <a:t>d</a:t>
            </a:r>
            <a:r>
              <a:rPr lang="en-US" altLang="zh-CN" sz="2800" b="1" i="1" dirty="0" err="1" smtClean="0">
                <a:latin typeface="Times New Roman" panose="02020603050405020304" pitchFamily="18" charset="0"/>
                <a:ea typeface="黑体" panose="02010609060101010101" pitchFamily="49" charset="-122"/>
                <a:cs typeface="Times New Roman" panose="02020603050405020304" pitchFamily="18" charset="0"/>
              </a:rPr>
              <a:t>A</a:t>
            </a:r>
            <a:r>
              <a:rPr lang="en-US" altLang="zh-CN" sz="2800" b="1" dirty="0" smtClean="0">
                <a:latin typeface="Times New Roman" panose="02020603050405020304" pitchFamily="18" charset="0"/>
                <a:ea typeface="黑体" panose="02010609060101010101" pitchFamily="49" charset="-122"/>
                <a:cs typeface="Times New Roman" panose="02020603050405020304" pitchFamily="18" charset="0"/>
              </a:rPr>
              <a:t>&gt;0</a:t>
            </a:r>
            <a:r>
              <a:rPr lang="zh-CN" altLang="en-US" sz="2800" b="1" dirty="0" smtClean="0">
                <a:latin typeface="Times New Roman" panose="02020603050405020304" pitchFamily="18" charset="0"/>
                <a:ea typeface="黑体" panose="02010609060101010101" pitchFamily="49" charset="-122"/>
                <a:cs typeface="Times New Roman" panose="02020603050405020304" pitchFamily="18" charset="0"/>
              </a:rPr>
              <a:t>的要求。</a:t>
            </a:r>
            <a:r>
              <a:rPr lang="zh-CN" altLang="en-US" dirty="0" smtClean="0">
                <a:latin typeface="Times New Roman" panose="02020603050405020304" pitchFamily="18" charset="0"/>
                <a:ea typeface="黑体" panose="02010609060101010101" pitchFamily="49" charset="-122"/>
                <a:cs typeface="Times New Roman" panose="02020603050405020304" pitchFamily="18" charset="0"/>
              </a:rPr>
              <a:t> </a:t>
            </a:r>
            <a:endParaRPr lang="zh-CN" altLang="en-US" dirty="0" smtClean="0">
              <a:latin typeface="Times New Roman" panose="02020603050405020304" pitchFamily="18" charset="0"/>
              <a:ea typeface="黑体" panose="02010609060101010101" pitchFamily="49" charset="-122"/>
              <a:cs typeface="Times New Roman" panose="02020603050405020304" pitchFamily="18" charset="0"/>
            </a:endParaRPr>
          </a:p>
          <a:p>
            <a:endParaRPr lang="zh-CN" altLang="en-US" dirty="0" smtClean="0">
              <a:latin typeface="Times New Roman" panose="02020603050405020304" pitchFamily="18" charset="0"/>
            </a:endParaRPr>
          </a:p>
        </p:txBody>
      </p:sp>
      <p:graphicFrame>
        <p:nvGraphicFramePr>
          <p:cNvPr id="78850" name="对象 131078"/>
          <p:cNvGraphicFramePr/>
          <p:nvPr/>
        </p:nvGraphicFramePr>
        <p:xfrm>
          <a:off x="2987675" y="333375"/>
          <a:ext cx="3357563" cy="1285875"/>
        </p:xfrm>
        <a:graphic>
          <a:graphicData uri="http://schemas.openxmlformats.org/presentationml/2006/ole">
            <mc:AlternateContent xmlns:mc="http://schemas.openxmlformats.org/markup-compatibility/2006">
              <mc:Choice xmlns:v="urn:schemas-microsoft-com:vml" Requires="v">
                <p:oleObj spid="_x0000_s32777" name="" r:id="rId1" imgW="795655" imgH="304800" progId="Equation.DSMT4">
                  <p:embed/>
                </p:oleObj>
              </mc:Choice>
              <mc:Fallback>
                <p:oleObj name="" r:id="rId1" imgW="795655" imgH="304800" progId="Equation.DSMT4">
                  <p:embed/>
                  <p:pic>
                    <p:nvPicPr>
                      <p:cNvPr id="0" name="对象 131078"/>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987675" y="333375"/>
                        <a:ext cx="3357563" cy="1285875"/>
                      </a:xfrm>
                      <a:prstGeom prst="rect">
                        <a:avLst/>
                      </a:prstGeom>
                      <a:noFill/>
                      <a:ln w="38100">
                        <a:solidFill>
                          <a:srgbClr val="FF0000"/>
                        </a:solidFill>
                        <a:miter lim="800000"/>
                        <a:headEnd/>
                        <a:tailEnd/>
                      </a:ln>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3" name="矩形 29697"/>
          <p:cNvSpPr>
            <a:spLocks noChangeArrowheads="1"/>
          </p:cNvSpPr>
          <p:nvPr/>
        </p:nvSpPr>
        <p:spPr bwMode="auto">
          <a:xfrm>
            <a:off x="342072" y="273603"/>
            <a:ext cx="6048375"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spcBef>
                <a:spcPct val="20000"/>
              </a:spcBef>
              <a:buClr>
                <a:schemeClr val="folHlink"/>
              </a:buClr>
              <a:buSzPct val="60000"/>
              <a:buFont typeface="Wingdings" panose="05000000000000000000" pitchFamily="2" charset="2"/>
              <a:buNone/>
            </a:pPr>
            <a:r>
              <a:rPr lang="zh-CN" altLang="en-US" sz="3200" b="1" dirty="0">
                <a:latin typeface="黑体" panose="02010609060101010101" pitchFamily="49" charset="-122"/>
                <a:ea typeface="黑体" panose="02010609060101010101" pitchFamily="49" charset="-122"/>
              </a:rPr>
              <a:t>缩放喷管（拉伐尔喷管）：</a:t>
            </a:r>
            <a:endParaRPr lang="zh-CN" altLang="en-US" sz="3200" b="1" dirty="0">
              <a:latin typeface="黑体" panose="02010609060101010101" pitchFamily="49" charset="-122"/>
              <a:ea typeface="黑体" panose="02010609060101010101" pitchFamily="49" charset="-122"/>
            </a:endParaRPr>
          </a:p>
        </p:txBody>
      </p:sp>
      <p:sp>
        <p:nvSpPr>
          <p:cNvPr id="79874" name="矩形 29698"/>
          <p:cNvSpPr>
            <a:spLocks noChangeArrowheads="1"/>
          </p:cNvSpPr>
          <p:nvPr/>
        </p:nvSpPr>
        <p:spPr bwMode="auto">
          <a:xfrm>
            <a:off x="468313" y="1052513"/>
            <a:ext cx="8305800" cy="1373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spcBef>
                <a:spcPct val="20000"/>
              </a:spcBef>
              <a:buClr>
                <a:schemeClr val="folHlink"/>
              </a:buClr>
              <a:buSzPct val="60000"/>
              <a:buFont typeface="Wingdings" panose="05000000000000000000" pitchFamily="2" charset="2"/>
              <a:buNone/>
            </a:pPr>
            <a:r>
              <a:rPr lang="zh-CN" altLang="en-US" sz="2800" b="1" dirty="0">
                <a:latin typeface="Tahoma" panose="020B0604030504040204" pitchFamily="34" charset="0"/>
              </a:rPr>
              <a:t>　</a:t>
            </a:r>
            <a:r>
              <a:rPr lang="zh-CN" altLang="en-US" sz="2800" b="1" dirty="0">
                <a:latin typeface="Times New Roman" panose="02020603050405020304" pitchFamily="18" charset="0"/>
                <a:ea typeface="黑体" panose="02010609060101010101" pitchFamily="49" charset="-122"/>
                <a:cs typeface="Times New Roman" panose="02020603050405020304" pitchFamily="18" charset="0"/>
              </a:rPr>
              <a:t>气流在收缩部分处于亚声速，在扩张部分处于超声速，在喷管最小截面处，流速恰好达到当地声速，即</a:t>
            </a:r>
            <a:r>
              <a:rPr lang="en-US" altLang="zh-CN" sz="2800" b="1" i="1" dirty="0">
                <a:latin typeface="Times New Roman" panose="02020603050405020304" pitchFamily="18" charset="0"/>
                <a:ea typeface="黑体" panose="02010609060101010101" pitchFamily="49" charset="-122"/>
                <a:cs typeface="Times New Roman" panose="02020603050405020304" pitchFamily="18" charset="0"/>
              </a:rPr>
              <a:t>Ma</a:t>
            </a:r>
            <a:r>
              <a:rPr lang="en-US" altLang="zh-CN" sz="2800" b="1" dirty="0">
                <a:latin typeface="Times New Roman" panose="02020603050405020304" pitchFamily="18" charset="0"/>
                <a:ea typeface="黑体" panose="02010609060101010101" pitchFamily="49" charset="-122"/>
                <a:cs typeface="Times New Roman" panose="02020603050405020304" pitchFamily="18" charset="0"/>
              </a:rPr>
              <a:t>=1</a:t>
            </a:r>
            <a:endParaRPr lang="en-US" altLang="zh-CN" sz="2800" b="1" dirty="0">
              <a:latin typeface="Times New Roman" panose="02020603050405020304" pitchFamily="18" charset="0"/>
              <a:ea typeface="黑体" panose="02010609060101010101" pitchFamily="49" charset="-122"/>
              <a:cs typeface="Times New Roman" panose="02020603050405020304" pitchFamily="18" charset="0"/>
            </a:endParaRPr>
          </a:p>
        </p:txBody>
      </p:sp>
      <p:pic>
        <p:nvPicPr>
          <p:cNvPr id="2" name="图片 1"/>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644517" y="2792776"/>
            <a:ext cx="7669433" cy="2743438"/>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7" name="矩形 134148"/>
          <p:cNvSpPr>
            <a:spLocks noChangeArrowheads="1"/>
          </p:cNvSpPr>
          <p:nvPr/>
        </p:nvSpPr>
        <p:spPr bwMode="auto">
          <a:xfrm>
            <a:off x="0" y="271938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80899" name="矩形 134149"/>
          <p:cNvSpPr>
            <a:spLocks noChangeArrowheads="1"/>
          </p:cNvSpPr>
          <p:nvPr/>
        </p:nvSpPr>
        <p:spPr bwMode="auto">
          <a:xfrm>
            <a:off x="611188" y="2636838"/>
            <a:ext cx="7848600" cy="1373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r>
              <a:rPr lang="zh-CN" altLang="en-US" sz="2800" b="1" dirty="0">
                <a:latin typeface="黑体" panose="02010609060101010101" pitchFamily="49" charset="-122"/>
                <a:ea typeface="黑体" panose="02010609060101010101" pitchFamily="49" charset="-122"/>
              </a:rPr>
              <a:t>最小截面也称为喉部，此处气流处于从亚声速变为超声速的转折点，气流在该点的状态称为流动</a:t>
            </a:r>
            <a:r>
              <a:rPr lang="zh-CN" altLang="en-US" sz="2800" b="1" dirty="0">
                <a:solidFill>
                  <a:srgbClr val="FF0000"/>
                </a:solidFill>
                <a:latin typeface="黑体" panose="02010609060101010101" pitchFamily="49" charset="-122"/>
                <a:ea typeface="黑体" panose="02010609060101010101" pitchFamily="49" charset="-122"/>
              </a:rPr>
              <a:t>临界状态</a:t>
            </a:r>
            <a:r>
              <a:rPr lang="zh-CN" altLang="en-US" sz="2800" b="1" dirty="0">
                <a:latin typeface="黑体" panose="02010609060101010101" pitchFamily="49" charset="-122"/>
                <a:ea typeface="黑体" panose="02010609060101010101" pitchFamily="49" charset="-122"/>
              </a:rPr>
              <a:t>，此时气流的各种参数称为</a:t>
            </a:r>
            <a:r>
              <a:rPr lang="zh-CN" altLang="en-US" sz="2800" b="1" dirty="0">
                <a:solidFill>
                  <a:srgbClr val="FF0000"/>
                </a:solidFill>
                <a:latin typeface="黑体" panose="02010609060101010101" pitchFamily="49" charset="-122"/>
                <a:ea typeface="黑体" panose="02010609060101010101" pitchFamily="49" charset="-122"/>
              </a:rPr>
              <a:t>临界参数</a:t>
            </a:r>
            <a:r>
              <a:rPr lang="zh-CN" altLang="en-US" sz="2800" b="1" dirty="0">
                <a:latin typeface="黑体" panose="02010609060101010101" pitchFamily="49" charset="-122"/>
                <a:ea typeface="黑体" panose="02010609060101010101" pitchFamily="49" charset="-122"/>
              </a:rPr>
              <a:t> </a:t>
            </a:r>
            <a:endParaRPr lang="zh-CN" altLang="en-US" sz="2800" b="1" dirty="0">
              <a:latin typeface="黑体" panose="02010609060101010101" pitchFamily="49" charset="-122"/>
              <a:ea typeface="黑体" panose="02010609060101010101" pitchFamily="49" charset="-122"/>
            </a:endParaRPr>
          </a:p>
        </p:txBody>
      </p:sp>
      <p:sp>
        <p:nvSpPr>
          <p:cNvPr id="80900" name="矩形 134150"/>
          <p:cNvSpPr>
            <a:spLocks noChangeArrowheads="1"/>
          </p:cNvSpPr>
          <p:nvPr/>
        </p:nvSpPr>
        <p:spPr bwMode="auto">
          <a:xfrm>
            <a:off x="755650" y="4437063"/>
            <a:ext cx="4827588"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r>
              <a:rPr lang="zh-CN" altLang="en-US" sz="2800" b="1" dirty="0">
                <a:latin typeface="黑体" panose="02010609060101010101" pitchFamily="49" charset="-122"/>
                <a:ea typeface="黑体" panose="02010609060101010101" pitchFamily="49" charset="-122"/>
              </a:rPr>
              <a:t>气流的临界流速等于临界声速</a:t>
            </a:r>
            <a:endParaRPr lang="zh-CN" altLang="en-US" sz="2800" b="1" dirty="0">
              <a:latin typeface="黑体" panose="02010609060101010101" pitchFamily="49" charset="-122"/>
              <a:ea typeface="黑体" panose="02010609060101010101" pitchFamily="49" charset="-122"/>
            </a:endParaRPr>
          </a:p>
        </p:txBody>
      </p:sp>
      <p:sp>
        <p:nvSpPr>
          <p:cNvPr id="80901" name="矩形 134152"/>
          <p:cNvSpPr>
            <a:spLocks noChangeArrowheads="1"/>
          </p:cNvSpPr>
          <p:nvPr/>
        </p:nvSpPr>
        <p:spPr bwMode="auto">
          <a:xfrm>
            <a:off x="0" y="329088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graphicFrame>
        <p:nvGraphicFramePr>
          <p:cNvPr id="80902" name="对象 134151"/>
          <p:cNvGraphicFramePr/>
          <p:nvPr/>
        </p:nvGraphicFramePr>
        <p:xfrm>
          <a:off x="1849438" y="5805488"/>
          <a:ext cx="4494212" cy="657225"/>
        </p:xfrm>
        <a:graphic>
          <a:graphicData uri="http://schemas.openxmlformats.org/presentationml/2006/ole">
            <mc:AlternateContent xmlns:mc="http://schemas.openxmlformats.org/markup-compatibility/2006">
              <mc:Choice xmlns:v="urn:schemas-microsoft-com:vml" Requires="v">
                <p:oleObj spid="_x0000_s34834" name="" r:id="rId1" imgW="1892300" imgH="279400" progId="Equation.DSMT4">
                  <p:embed/>
                </p:oleObj>
              </mc:Choice>
              <mc:Fallback>
                <p:oleObj name="" r:id="rId1" imgW="1892300" imgH="279400" progId="Equation.DSMT4">
                  <p:embed/>
                  <p:pic>
                    <p:nvPicPr>
                      <p:cNvPr id="0" name="对象 134151"/>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49438" y="5805488"/>
                        <a:ext cx="4494212" cy="657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80903" name="对象 134154"/>
          <p:cNvGraphicFramePr/>
          <p:nvPr/>
        </p:nvGraphicFramePr>
        <p:xfrm>
          <a:off x="5651500" y="4437063"/>
          <a:ext cx="1368425" cy="619125"/>
        </p:xfrm>
        <a:graphic>
          <a:graphicData uri="http://schemas.openxmlformats.org/presentationml/2006/ole">
            <mc:AlternateContent xmlns:mc="http://schemas.openxmlformats.org/markup-compatibility/2006">
              <mc:Choice xmlns:v="urn:schemas-microsoft-com:vml" Requires="v">
                <p:oleObj spid="_x0000_s34835" name="" r:id="rId3" imgW="533400" imgH="241300" progId="Equation.DSMT4">
                  <p:embed/>
                </p:oleObj>
              </mc:Choice>
              <mc:Fallback>
                <p:oleObj name="" r:id="rId3" imgW="533400" imgH="241300" progId="Equation.DSMT4">
                  <p:embed/>
                  <p:pic>
                    <p:nvPicPr>
                      <p:cNvPr id="0" name="对象 134154"/>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651500" y="4437063"/>
                        <a:ext cx="1368425" cy="619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80904" name="矩形 134155"/>
          <p:cNvSpPr>
            <a:spLocks noChangeArrowheads="1"/>
          </p:cNvSpPr>
          <p:nvPr/>
        </p:nvSpPr>
        <p:spPr bwMode="auto">
          <a:xfrm>
            <a:off x="827088" y="5157788"/>
            <a:ext cx="2327275"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r>
              <a:rPr lang="zh-CN" altLang="en-US" sz="2800" b="1" dirty="0">
                <a:latin typeface="黑体" panose="02010609060101010101" pitchFamily="49" charset="-122"/>
                <a:ea typeface="黑体" panose="02010609060101010101" pitchFamily="49" charset="-122"/>
              </a:rPr>
              <a:t>对于理想气体</a:t>
            </a:r>
            <a:endParaRPr lang="zh-CN" altLang="en-US" sz="2800" b="1" dirty="0">
              <a:latin typeface="黑体" panose="02010609060101010101" pitchFamily="49" charset="-122"/>
              <a:ea typeface="黑体" panose="02010609060101010101" pitchFamily="49" charset="-122"/>
            </a:endParaRPr>
          </a:p>
        </p:txBody>
      </p:sp>
      <p:pic>
        <p:nvPicPr>
          <p:cNvPr id="3" name="图片 2"/>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174605" y="309244"/>
            <a:ext cx="6100839" cy="2182335"/>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5" name="文本占位符 139266"/>
          <p:cNvSpPr>
            <a:spLocks noGrp="1" noChangeArrowheads="1"/>
          </p:cNvSpPr>
          <p:nvPr>
            <p:ph idx="1"/>
          </p:nvPr>
        </p:nvSpPr>
        <p:spPr>
          <a:xfrm>
            <a:off x="468313" y="692150"/>
            <a:ext cx="8229600" cy="4525963"/>
          </a:xfrm>
        </p:spPr>
        <p:txBody>
          <a:bodyPr/>
          <a:lstStyle/>
          <a:p>
            <a:pPr>
              <a:lnSpc>
                <a:spcPct val="90000"/>
              </a:lnSpc>
            </a:pPr>
            <a:r>
              <a:rPr lang="zh-CN" altLang="en-US" sz="2800" b="1" dirty="0" smtClean="0">
                <a:latin typeface="黑体" panose="02010609060101010101" pitchFamily="49" charset="-122"/>
                <a:ea typeface="黑体" panose="02010609060101010101" pitchFamily="49" charset="-122"/>
              </a:rPr>
              <a:t>形状如拉伐尔喷管的管道也可以作为扩压管，即超声速的气流定熵流过管道时，可以从超声速减至亚声速，起到这种作用的管道称为</a:t>
            </a:r>
            <a:r>
              <a:rPr lang="zh-CN" altLang="en-US" sz="2800" b="1" dirty="0" smtClean="0">
                <a:solidFill>
                  <a:srgbClr val="FF0000"/>
                </a:solidFill>
                <a:latin typeface="黑体" panose="02010609060101010101" pitchFamily="49" charset="-122"/>
                <a:ea typeface="黑体" panose="02010609060101010101" pitchFamily="49" charset="-122"/>
              </a:rPr>
              <a:t>组合扩压管</a:t>
            </a:r>
            <a:endParaRPr lang="zh-CN" altLang="en-US" sz="2800" b="1" dirty="0" smtClean="0">
              <a:latin typeface="黑体" panose="02010609060101010101" pitchFamily="49" charset="-122"/>
              <a:ea typeface="黑体" panose="02010609060101010101" pitchFamily="49" charset="-122"/>
            </a:endParaRPr>
          </a:p>
          <a:p>
            <a:pPr>
              <a:lnSpc>
                <a:spcPct val="90000"/>
              </a:lnSpc>
            </a:pPr>
            <a:r>
              <a:rPr lang="zh-CN" altLang="en-US" sz="2800" b="1" dirty="0" smtClean="0">
                <a:latin typeface="黑体" panose="02010609060101010101" pitchFamily="49" charset="-122"/>
                <a:ea typeface="黑体" panose="02010609060101010101" pitchFamily="49" charset="-122"/>
              </a:rPr>
              <a:t>但组合扩压管的进气气流为超声速，而在超声速进气道内一般会产生多道激波，这使得组合扩压管内的流动过程很复杂，</a:t>
            </a:r>
            <a:r>
              <a:rPr lang="zh-CN" altLang="en-US" sz="2800" b="1" dirty="0" smtClean="0">
                <a:solidFill>
                  <a:srgbClr val="FF0000"/>
                </a:solidFill>
                <a:latin typeface="黑体" panose="02010609060101010101" pitchFamily="49" charset="-122"/>
                <a:ea typeface="黑体" panose="02010609060101010101" pitchFamily="49" charset="-122"/>
              </a:rPr>
              <a:t>不能按照理想定熵流动的规律实现超声速到亚声速的连续转变</a:t>
            </a:r>
            <a:r>
              <a:rPr lang="zh-CN" altLang="en-US" sz="2800" b="1" dirty="0" smtClean="0">
                <a:latin typeface="黑体" panose="02010609060101010101" pitchFamily="49" charset="-122"/>
                <a:ea typeface="黑体" panose="02010609060101010101" pitchFamily="49" charset="-122"/>
              </a:rPr>
              <a:t>，这使得我们不能按照定熵过程来计算气流在组合扩压管道内的热力参数（但一般可采用经验公式推算）</a:t>
            </a:r>
            <a:r>
              <a:rPr lang="zh-CN" altLang="en-US" sz="2800" dirty="0" smtClean="0">
                <a:latin typeface="黑体" panose="02010609060101010101" pitchFamily="49" charset="-122"/>
                <a:ea typeface="黑体" panose="02010609060101010101" pitchFamily="49" charset="-122"/>
              </a:rPr>
              <a:t> </a:t>
            </a:r>
            <a:r>
              <a:rPr lang="zh-CN" altLang="en-US" sz="2800" b="1" dirty="0" smtClean="0">
                <a:latin typeface="黑体" panose="02010609060101010101" pitchFamily="49" charset="-122"/>
                <a:ea typeface="黑体" panose="02010609060101010101" pitchFamily="49" charset="-122"/>
              </a:rPr>
              <a:t> </a:t>
            </a:r>
            <a:endParaRPr lang="zh-CN" altLang="en-US" sz="2800" b="1" dirty="0" smtClean="0">
              <a:latin typeface="黑体" panose="02010609060101010101" pitchFamily="49" charset="-122"/>
              <a:ea typeface="黑体" panose="02010609060101010101" pitchFamily="49" charset="-122"/>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3" name="标题 135169"/>
          <p:cNvSpPr>
            <a:spLocks noGrp="1" noChangeArrowheads="1"/>
          </p:cNvSpPr>
          <p:nvPr>
            <p:ph type="title"/>
          </p:nvPr>
        </p:nvSpPr>
        <p:spPr/>
        <p:txBody>
          <a:bodyPr/>
          <a:lstStyle/>
          <a:p>
            <a:pPr algn="l"/>
            <a:r>
              <a:rPr lang="zh-CN" altLang="en-US" sz="3200" b="1" dirty="0" smtClean="0">
                <a:latin typeface="黑体" panose="02010609060101010101" pitchFamily="49" charset="-122"/>
                <a:ea typeface="黑体" panose="02010609060101010101" pitchFamily="49" charset="-122"/>
              </a:rPr>
              <a:t>例题：判断气体在渐扩通道中的状态参数变化</a:t>
            </a:r>
            <a:r>
              <a:rPr lang="zh-CN" altLang="en-US" sz="4000" dirty="0" smtClean="0"/>
              <a:t> </a:t>
            </a:r>
            <a:endParaRPr lang="zh-CN" altLang="en-US" sz="4000" dirty="0" smtClean="0"/>
          </a:p>
        </p:txBody>
      </p:sp>
      <p:sp>
        <p:nvSpPr>
          <p:cNvPr id="84994" name="文本占位符 135170"/>
          <p:cNvSpPr>
            <a:spLocks noGrp="1" noChangeArrowheads="1"/>
          </p:cNvSpPr>
          <p:nvPr>
            <p:ph idx="1"/>
          </p:nvPr>
        </p:nvSpPr>
        <p:spPr>
          <a:xfrm>
            <a:off x="457200" y="1600200"/>
            <a:ext cx="8229600" cy="1612900"/>
          </a:xfrm>
        </p:spPr>
        <p:txBody>
          <a:bodyPr>
            <a:normAutofit/>
          </a:bodyPr>
          <a:lstStyle/>
          <a:p>
            <a:r>
              <a:rPr lang="en-US" altLang="zh-CN" sz="2800" b="1" i="1" dirty="0" smtClean="0">
                <a:latin typeface="Times New Roman" panose="02020603050405020304" pitchFamily="18" charset="0"/>
                <a:ea typeface="黑体" panose="02010609060101010101" pitchFamily="49" charset="-122"/>
                <a:cs typeface="Times New Roman" panose="02020603050405020304" pitchFamily="18" charset="0"/>
              </a:rPr>
              <a:t>Ma</a:t>
            </a:r>
            <a:r>
              <a:rPr lang="en-US" altLang="zh-CN" sz="2800" b="1" dirty="0" smtClean="0">
                <a:latin typeface="Times New Roman" panose="02020603050405020304" pitchFamily="18" charset="0"/>
                <a:ea typeface="黑体" panose="02010609060101010101" pitchFamily="49" charset="-122"/>
                <a:cs typeface="Times New Roman" panose="02020603050405020304" pitchFamily="18" charset="0"/>
              </a:rPr>
              <a:t>&gt;1</a:t>
            </a:r>
            <a:r>
              <a:rPr lang="zh-CN" altLang="en-US" sz="2800" b="1" dirty="0" smtClean="0">
                <a:latin typeface="Times New Roman" panose="02020603050405020304" pitchFamily="18" charset="0"/>
                <a:ea typeface="黑体" panose="02010609060101010101" pitchFamily="49" charset="-122"/>
                <a:cs typeface="Times New Roman" panose="02020603050405020304" pitchFamily="18" charset="0"/>
              </a:rPr>
              <a:t>的理想气体流过一渐扩通道，试判断气体流过该通道时流动速度、压力、马赫数、温度和密度的变化情况 </a:t>
            </a:r>
            <a:endParaRPr lang="zh-CN" altLang="en-US" sz="2800" b="1" dirty="0" smtClean="0">
              <a:latin typeface="Times New Roman" panose="02020603050405020304" pitchFamily="18" charset="0"/>
              <a:ea typeface="黑体" panose="02010609060101010101" pitchFamily="49" charset="-122"/>
              <a:cs typeface="Times New Roman" panose="02020603050405020304" pitchFamily="18" charset="0"/>
            </a:endParaRPr>
          </a:p>
        </p:txBody>
      </p:sp>
      <p:sp>
        <p:nvSpPr>
          <p:cNvPr id="84997" name="矩形 135174"/>
          <p:cNvSpPr>
            <a:spLocks noChangeArrowheads="1"/>
          </p:cNvSpPr>
          <p:nvPr/>
        </p:nvSpPr>
        <p:spPr bwMode="auto">
          <a:xfrm>
            <a:off x="0" y="320040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graphicFrame>
        <p:nvGraphicFramePr>
          <p:cNvPr id="135174" name="对象 135173"/>
          <p:cNvGraphicFramePr/>
          <p:nvPr/>
        </p:nvGraphicFramePr>
        <p:xfrm>
          <a:off x="3779838" y="3284538"/>
          <a:ext cx="2376487" cy="898525"/>
        </p:xfrm>
        <a:graphic>
          <a:graphicData uri="http://schemas.openxmlformats.org/presentationml/2006/ole">
            <mc:AlternateContent xmlns:mc="http://schemas.openxmlformats.org/markup-compatibility/2006">
              <mc:Choice xmlns:v="urn:schemas-microsoft-com:vml" Requires="v">
                <p:oleObj spid="_x0000_s35879" name="" r:id="rId1" imgW="1206500" imgH="457200" progId="Equation.DSMT4">
                  <p:embed/>
                </p:oleObj>
              </mc:Choice>
              <mc:Fallback>
                <p:oleObj name="" r:id="rId1" imgW="1206500" imgH="457200" progId="Equation.DSMT4">
                  <p:embed/>
                  <p:pic>
                    <p:nvPicPr>
                      <p:cNvPr id="0" name="对象 135173"/>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779838" y="3284538"/>
                        <a:ext cx="2376487" cy="898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84999" name="矩形 135176"/>
          <p:cNvSpPr>
            <a:spLocks noChangeArrowheads="1"/>
          </p:cNvSpPr>
          <p:nvPr/>
        </p:nvSpPr>
        <p:spPr bwMode="auto">
          <a:xfrm>
            <a:off x="0" y="320040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graphicFrame>
        <p:nvGraphicFramePr>
          <p:cNvPr id="135176" name="对象 135175"/>
          <p:cNvGraphicFramePr/>
          <p:nvPr/>
        </p:nvGraphicFramePr>
        <p:xfrm>
          <a:off x="6575425" y="3284538"/>
          <a:ext cx="2259013" cy="957262"/>
        </p:xfrm>
        <a:graphic>
          <a:graphicData uri="http://schemas.openxmlformats.org/presentationml/2006/ole">
            <mc:AlternateContent xmlns:mc="http://schemas.openxmlformats.org/markup-compatibility/2006">
              <mc:Choice xmlns:v="urn:schemas-microsoft-com:vml" Requires="v">
                <p:oleObj spid="_x0000_s35880" name="" r:id="rId3" imgW="1079500" imgH="457200" progId="Equation.DSMT4">
                  <p:embed/>
                </p:oleObj>
              </mc:Choice>
              <mc:Fallback>
                <p:oleObj name="" r:id="rId3" imgW="1079500" imgH="457200" progId="Equation.DSMT4">
                  <p:embed/>
                  <p:pic>
                    <p:nvPicPr>
                      <p:cNvPr id="0" name="对象 135175"/>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575425" y="3284538"/>
                        <a:ext cx="2259013" cy="957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85001" name="矩形 135178"/>
          <p:cNvSpPr>
            <a:spLocks noChangeArrowheads="1"/>
          </p:cNvSpPr>
          <p:nvPr/>
        </p:nvSpPr>
        <p:spPr bwMode="auto">
          <a:xfrm>
            <a:off x="0" y="319563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graphicFrame>
        <p:nvGraphicFramePr>
          <p:cNvPr id="135178" name="对象 135177"/>
          <p:cNvGraphicFramePr/>
          <p:nvPr/>
        </p:nvGraphicFramePr>
        <p:xfrm>
          <a:off x="4643438" y="5589588"/>
          <a:ext cx="2735262" cy="1081087"/>
        </p:xfrm>
        <a:graphic>
          <a:graphicData uri="http://schemas.openxmlformats.org/presentationml/2006/ole">
            <mc:AlternateContent xmlns:mc="http://schemas.openxmlformats.org/markup-compatibility/2006">
              <mc:Choice xmlns:v="urn:schemas-microsoft-com:vml" Requires="v">
                <p:oleObj spid="_x0000_s35881" name="" r:id="rId5" imgW="1180465" imgH="469900" progId="Equation.DSMT4">
                  <p:embed/>
                </p:oleObj>
              </mc:Choice>
              <mc:Fallback>
                <p:oleObj name="" r:id="rId5" imgW="1180465" imgH="469900" progId="Equation.DSMT4">
                  <p:embed/>
                  <p:pic>
                    <p:nvPicPr>
                      <p:cNvPr id="0" name="对象 135177"/>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643438" y="5589588"/>
                        <a:ext cx="2735262" cy="1081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135182" name="对象 135181"/>
          <p:cNvGraphicFramePr/>
          <p:nvPr/>
        </p:nvGraphicFramePr>
        <p:xfrm>
          <a:off x="6372225" y="4424363"/>
          <a:ext cx="2376488" cy="963612"/>
        </p:xfrm>
        <a:graphic>
          <a:graphicData uri="http://schemas.openxmlformats.org/presentationml/2006/ole">
            <mc:AlternateContent xmlns:mc="http://schemas.openxmlformats.org/markup-compatibility/2006">
              <mc:Choice xmlns:v="urn:schemas-microsoft-com:vml" Requires="v">
                <p:oleObj spid="_x0000_s35882" name="" r:id="rId7" imgW="965200" imgH="393700" progId="Equation.DSMT4">
                  <p:embed/>
                </p:oleObj>
              </mc:Choice>
              <mc:Fallback>
                <p:oleObj name="" r:id="rId7" imgW="965200" imgH="393700" progId="Equation.DSMT4">
                  <p:embed/>
                  <p:pic>
                    <p:nvPicPr>
                      <p:cNvPr id="0" name="对象 135181"/>
                      <p:cNvPicPr>
                        <a:picLocks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372225" y="4424363"/>
                        <a:ext cx="2376488" cy="9636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135185" name="对象 135184"/>
          <p:cNvGraphicFramePr/>
          <p:nvPr/>
        </p:nvGraphicFramePr>
        <p:xfrm>
          <a:off x="3924300" y="4403725"/>
          <a:ext cx="2016125" cy="1041400"/>
        </p:xfrm>
        <a:graphic>
          <a:graphicData uri="http://schemas.openxmlformats.org/presentationml/2006/ole">
            <mc:AlternateContent xmlns:mc="http://schemas.openxmlformats.org/markup-compatibility/2006">
              <mc:Choice xmlns:v="urn:schemas-microsoft-com:vml" Requires="v">
                <p:oleObj spid="_x0000_s35883" name="" r:id="rId9" imgW="889000" imgH="457200" progId="Equation.DSMT4">
                  <p:embed/>
                </p:oleObj>
              </mc:Choice>
              <mc:Fallback>
                <p:oleObj name="" r:id="rId9" imgW="889000" imgH="457200" progId="Equation.DSMT4">
                  <p:embed/>
                  <p:pic>
                    <p:nvPicPr>
                      <p:cNvPr id="0" name="对象 135184"/>
                      <p:cNvPicPr>
                        <a:picLocks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924300" y="4403725"/>
                        <a:ext cx="2016125" cy="1041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pic>
        <p:nvPicPr>
          <p:cNvPr id="2" name="图片 1"/>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184608" y="3525780"/>
            <a:ext cx="4249280" cy="2152075"/>
          </a:xfrm>
          <a:prstGeom prst="rect">
            <a:avLst/>
          </a:prstGeom>
        </p:spPr>
      </p:pic>
    </p:spTree>
    <p:custDataLst>
      <p:tags r:id="rId12"/>
    </p:custData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135174"/>
                                        </p:tgtEl>
                                        <p:attrNameLst>
                                          <p:attrName>style.visibility</p:attrName>
                                        </p:attrNameLst>
                                      </p:cBhvr>
                                      <p:to>
                                        <p:strVal val="visible"/>
                                      </p:to>
                                    </p:set>
                                    <p:animEffect transition="in" filter="blinds(horizontal)">
                                      <p:cBhvr>
                                        <p:cTn id="7" dur="500"/>
                                        <p:tgtEl>
                                          <p:spTgt spid="135174"/>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135176"/>
                                        </p:tgtEl>
                                        <p:attrNameLst>
                                          <p:attrName>style.visibility</p:attrName>
                                        </p:attrNameLst>
                                      </p:cBhvr>
                                      <p:to>
                                        <p:strVal val="visible"/>
                                      </p:to>
                                    </p:set>
                                    <p:animEffect transition="in" filter="blinds(horizontal)">
                                      <p:cBhvr>
                                        <p:cTn id="12" dur="500"/>
                                        <p:tgtEl>
                                          <p:spTgt spid="135176"/>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135185"/>
                                        </p:tgtEl>
                                        <p:attrNameLst>
                                          <p:attrName>style.visibility</p:attrName>
                                        </p:attrNameLst>
                                      </p:cBhvr>
                                      <p:to>
                                        <p:strVal val="visible"/>
                                      </p:to>
                                    </p:set>
                                    <p:animEffect transition="in" filter="blinds(horizontal)">
                                      <p:cBhvr>
                                        <p:cTn id="17" dur="500"/>
                                        <p:tgtEl>
                                          <p:spTgt spid="135185"/>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135182"/>
                                        </p:tgtEl>
                                        <p:attrNameLst>
                                          <p:attrName>style.visibility</p:attrName>
                                        </p:attrNameLst>
                                      </p:cBhvr>
                                      <p:to>
                                        <p:strVal val="visible"/>
                                      </p:to>
                                    </p:set>
                                    <p:animEffect transition="in" filter="blinds(horizontal)">
                                      <p:cBhvr>
                                        <p:cTn id="22" dur="500"/>
                                        <p:tgtEl>
                                          <p:spTgt spid="135182"/>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nodeType="clickEffect">
                                  <p:stCondLst>
                                    <p:cond delay="0"/>
                                  </p:stCondLst>
                                  <p:childTnLst>
                                    <p:set>
                                      <p:cBhvr>
                                        <p:cTn id="26" dur="1" fill="hold">
                                          <p:stCondLst>
                                            <p:cond delay="0"/>
                                          </p:stCondLst>
                                        </p:cTn>
                                        <p:tgtEl>
                                          <p:spTgt spid="135178"/>
                                        </p:tgtEl>
                                        <p:attrNameLst>
                                          <p:attrName>style.visibility</p:attrName>
                                        </p:attrNameLst>
                                      </p:cBhvr>
                                      <p:to>
                                        <p:strVal val="visible"/>
                                      </p:to>
                                    </p:set>
                                    <p:animEffect transition="in" filter="blinds(horizontal)">
                                      <p:cBhvr>
                                        <p:cTn id="27" dur="500"/>
                                        <p:tgtEl>
                                          <p:spTgt spid="13517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1" name="矩形 32769"/>
          <p:cNvSpPr>
            <a:spLocks noChangeArrowheads="1"/>
          </p:cNvSpPr>
          <p:nvPr/>
        </p:nvSpPr>
        <p:spPr bwMode="auto">
          <a:xfrm>
            <a:off x="519871" y="2084664"/>
            <a:ext cx="7993063" cy="1452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lstStyle/>
          <a:p>
            <a:pPr algn="ctr"/>
            <a:r>
              <a:rPr lang="zh-CN" altLang="en-US" sz="4400" b="1" dirty="0"/>
              <a:t>§</a:t>
            </a:r>
            <a:r>
              <a:rPr lang="en-US" altLang="zh-CN" sz="4400" b="1" dirty="0">
                <a:latin typeface="黑体" panose="02010609060101010101" pitchFamily="49" charset="-122"/>
                <a:ea typeface="黑体" panose="02010609060101010101" pitchFamily="49" charset="-122"/>
              </a:rPr>
              <a:t>10-6 </a:t>
            </a:r>
            <a:r>
              <a:rPr lang="zh-CN" altLang="en-US" sz="4400" b="1" dirty="0">
                <a:latin typeface="黑体" panose="02010609060101010101" pitchFamily="49" charset="-122"/>
                <a:ea typeface="黑体" panose="02010609060101010101" pitchFamily="49" charset="-122"/>
              </a:rPr>
              <a:t>喷管内的可逆绝热流动</a:t>
            </a:r>
            <a:br>
              <a:rPr lang="zh-CN" altLang="en-US" sz="4400" b="1" dirty="0">
                <a:latin typeface="黑体" panose="02010609060101010101" pitchFamily="49" charset="-122"/>
                <a:ea typeface="黑体" panose="02010609060101010101" pitchFamily="49" charset="-122"/>
              </a:rPr>
            </a:br>
            <a:r>
              <a:rPr lang="zh-CN" altLang="en-US" sz="4400" dirty="0">
                <a:solidFill>
                  <a:schemeClr val="tx2"/>
                </a:solidFill>
              </a:rPr>
              <a:t> </a:t>
            </a:r>
            <a:endParaRPr lang="zh-CN" altLang="en-US" sz="4400" dirty="0">
              <a:solidFill>
                <a:schemeClr val="tx2"/>
              </a:solidFill>
            </a:endParaRPr>
          </a:p>
        </p:txBody>
      </p:sp>
    </p:spTree>
  </p:cSld>
  <p:clrMapOvr>
    <a:masterClrMapping/>
  </p:clrMapOvr>
  <p:transition/>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8065" name="对象 40961"/>
          <p:cNvGraphicFramePr>
            <a:graphicFrameLocks noChangeAspect="1"/>
          </p:cNvGraphicFramePr>
          <p:nvPr/>
        </p:nvGraphicFramePr>
        <p:xfrm>
          <a:off x="2228851" y="2708276"/>
          <a:ext cx="2891835" cy="799059"/>
        </p:xfrm>
        <a:graphic>
          <a:graphicData uri="http://schemas.openxmlformats.org/presentationml/2006/ole">
            <mc:AlternateContent xmlns:mc="http://schemas.openxmlformats.org/markup-compatibility/2006">
              <mc:Choice xmlns:v="urn:schemas-microsoft-com:vml" Requires="v">
                <p:oleObj spid="_x0000_s36894" name="" r:id="rId1" imgW="643255" imgH="177800" progId="Equation.DSMT4">
                  <p:embed/>
                </p:oleObj>
              </mc:Choice>
              <mc:Fallback>
                <p:oleObj name="" r:id="rId1" imgW="643255" imgH="177800" progId="Equation.DSMT4">
                  <p:embed/>
                  <p:pic>
                    <p:nvPicPr>
                      <p:cNvPr id="0" name="对象 4096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28851" y="2708276"/>
                        <a:ext cx="2891835" cy="7990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88066" name="对象 40962"/>
          <p:cNvGraphicFramePr/>
          <p:nvPr/>
        </p:nvGraphicFramePr>
        <p:xfrm>
          <a:off x="1187450" y="4076700"/>
          <a:ext cx="6788150" cy="914400"/>
        </p:xfrm>
        <a:graphic>
          <a:graphicData uri="http://schemas.openxmlformats.org/presentationml/2006/ole">
            <mc:AlternateContent xmlns:mc="http://schemas.openxmlformats.org/markup-compatibility/2006">
              <mc:Choice xmlns:v="urn:schemas-microsoft-com:vml" Requires="v">
                <p:oleObj spid="_x0000_s36895" name="" r:id="rId3" imgW="1447800" imgH="194945" progId="Equation.DSMT4">
                  <p:embed/>
                </p:oleObj>
              </mc:Choice>
              <mc:Fallback>
                <p:oleObj name="" r:id="rId3" imgW="1447800" imgH="194945" progId="Equation.DSMT4">
                  <p:embed/>
                  <p:pic>
                    <p:nvPicPr>
                      <p:cNvPr id="0" name="对象 40962"/>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87450" y="4076700"/>
                        <a:ext cx="6788150" cy="91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88067" name="对象 40963"/>
          <p:cNvGraphicFramePr/>
          <p:nvPr/>
        </p:nvGraphicFramePr>
        <p:xfrm>
          <a:off x="3419475" y="5303838"/>
          <a:ext cx="3405188" cy="862012"/>
        </p:xfrm>
        <a:graphic>
          <a:graphicData uri="http://schemas.openxmlformats.org/presentationml/2006/ole">
            <mc:AlternateContent xmlns:mc="http://schemas.openxmlformats.org/markup-compatibility/2006">
              <mc:Choice xmlns:v="urn:schemas-microsoft-com:vml" Requires="v">
                <p:oleObj spid="_x0000_s36896" name="" r:id="rId5" imgW="702945" imgH="177800" progId="Equation.DSMT4">
                  <p:embed/>
                </p:oleObj>
              </mc:Choice>
              <mc:Fallback>
                <p:oleObj name="" r:id="rId5" imgW="702945" imgH="177800" progId="Equation.DSMT4">
                  <p:embed/>
                  <p:pic>
                    <p:nvPicPr>
                      <p:cNvPr id="0" name="对象 40963"/>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419475" y="5303838"/>
                        <a:ext cx="3405188" cy="8620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88068" name="矩形 40964"/>
          <p:cNvSpPr>
            <a:spLocks noChangeArrowheads="1"/>
          </p:cNvSpPr>
          <p:nvPr/>
        </p:nvSpPr>
        <p:spPr bwMode="auto">
          <a:xfrm>
            <a:off x="179388" y="260350"/>
            <a:ext cx="6769100" cy="644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nSpc>
                <a:spcPct val="90000"/>
              </a:lnSpc>
              <a:spcBef>
                <a:spcPct val="20000"/>
              </a:spcBef>
              <a:buClr>
                <a:schemeClr val="folHlink"/>
              </a:buClr>
              <a:buSzPct val="60000"/>
              <a:buFont typeface="Wingdings" panose="05000000000000000000" pitchFamily="2" charset="2"/>
              <a:buNone/>
            </a:pPr>
            <a:r>
              <a:rPr lang="zh-CN" altLang="en-US" sz="4000" b="1" dirty="0">
                <a:latin typeface="黑体" panose="02010609060101010101" pitchFamily="49" charset="-122"/>
                <a:ea typeface="黑体" panose="02010609060101010101" pitchFamily="49" charset="-122"/>
              </a:rPr>
              <a:t>一、流速的计算及其分析</a:t>
            </a:r>
            <a:endParaRPr lang="zh-CN" altLang="en-US" sz="4000" b="1" dirty="0">
              <a:latin typeface="黑体" panose="02010609060101010101" pitchFamily="49" charset="-122"/>
              <a:ea typeface="黑体" panose="02010609060101010101" pitchFamily="49" charset="-122"/>
            </a:endParaRPr>
          </a:p>
        </p:txBody>
      </p:sp>
      <p:sp>
        <p:nvSpPr>
          <p:cNvPr id="88069" name="矩形 40965"/>
          <p:cNvSpPr>
            <a:spLocks noChangeArrowheads="1"/>
          </p:cNvSpPr>
          <p:nvPr/>
        </p:nvSpPr>
        <p:spPr bwMode="auto">
          <a:xfrm>
            <a:off x="685800" y="990600"/>
            <a:ext cx="4462463"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zh-CN" sz="2800" b="1" dirty="0">
                <a:latin typeface="黑体" panose="02010609060101010101" pitchFamily="49" charset="-122"/>
                <a:ea typeface="黑体" panose="02010609060101010101" pitchFamily="49" charset="-122"/>
              </a:rPr>
              <a:t>1</a:t>
            </a:r>
            <a:r>
              <a:rPr lang="zh-CN" altLang="en-US" sz="2800" b="1" dirty="0">
                <a:latin typeface="黑体" panose="02010609060101010101" pitchFamily="49" charset="-122"/>
                <a:ea typeface="黑体" panose="02010609060101010101" pitchFamily="49" charset="-122"/>
              </a:rPr>
              <a:t>、计算流速的公式：</a:t>
            </a:r>
            <a:endParaRPr lang="zh-CN" altLang="en-US" sz="2800" b="1" dirty="0">
              <a:latin typeface="黑体" panose="02010609060101010101" pitchFamily="49" charset="-122"/>
              <a:ea typeface="黑体" panose="02010609060101010101" pitchFamily="49" charset="-122"/>
            </a:endParaRPr>
          </a:p>
        </p:txBody>
      </p:sp>
      <p:sp>
        <p:nvSpPr>
          <p:cNvPr id="88070" name="矩形 40966"/>
          <p:cNvSpPr>
            <a:spLocks noChangeArrowheads="1"/>
          </p:cNvSpPr>
          <p:nvPr/>
        </p:nvSpPr>
        <p:spPr bwMode="auto">
          <a:xfrm>
            <a:off x="395288" y="3573463"/>
            <a:ext cx="2949575"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sz="2800" b="1" dirty="0">
                <a:latin typeface="黑体" panose="02010609060101010101" pitchFamily="49" charset="-122"/>
                <a:ea typeface="黑体" panose="02010609060101010101" pitchFamily="49" charset="-122"/>
              </a:rPr>
              <a:t>出口流速：</a:t>
            </a:r>
            <a:endParaRPr lang="zh-CN" altLang="en-US" sz="2800" b="1" dirty="0">
              <a:latin typeface="黑体" panose="02010609060101010101" pitchFamily="49" charset="-122"/>
              <a:ea typeface="黑体" panose="02010609060101010101" pitchFamily="49" charset="-122"/>
            </a:endParaRPr>
          </a:p>
        </p:txBody>
      </p:sp>
      <p:sp>
        <p:nvSpPr>
          <p:cNvPr id="88071" name="矩形 40967"/>
          <p:cNvSpPr>
            <a:spLocks noChangeArrowheads="1"/>
          </p:cNvSpPr>
          <p:nvPr/>
        </p:nvSpPr>
        <p:spPr bwMode="auto">
          <a:xfrm>
            <a:off x="685800" y="5545138"/>
            <a:ext cx="3165475"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sz="2800" b="1" dirty="0">
                <a:latin typeface="Times New Roman" panose="02020603050405020304" pitchFamily="18" charset="0"/>
                <a:ea typeface="黑体" panose="02010609060101010101" pitchFamily="49" charset="-122"/>
                <a:cs typeface="Times New Roman" panose="02020603050405020304" pitchFamily="18" charset="0"/>
              </a:rPr>
              <a:t>不计</a:t>
            </a:r>
            <a:r>
              <a:rPr lang="en-US" altLang="zh-CN" sz="2800" b="1" i="1" dirty="0" smtClean="0">
                <a:latin typeface="Times New Roman" panose="02020603050405020304" pitchFamily="18" charset="0"/>
                <a:ea typeface="黑体" panose="02010609060101010101" pitchFamily="49" charset="-122"/>
                <a:cs typeface="Times New Roman" panose="02020603050405020304" pitchFamily="18" charset="0"/>
              </a:rPr>
              <a:t>c</a:t>
            </a:r>
            <a:r>
              <a:rPr lang="en-US" altLang="zh-CN" sz="2800" b="1" baseline="-30000" dirty="0" smtClean="0">
                <a:latin typeface="Times New Roman" panose="02020603050405020304" pitchFamily="18" charset="0"/>
                <a:ea typeface="黑体" panose="02010609060101010101" pitchFamily="49" charset="-122"/>
                <a:cs typeface="Times New Roman" panose="02020603050405020304" pitchFamily="18" charset="0"/>
              </a:rPr>
              <a:t>f1</a:t>
            </a:r>
            <a:r>
              <a:rPr lang="zh-CN" altLang="en-US" sz="2800" b="1" dirty="0">
                <a:latin typeface="Times New Roman" panose="02020603050405020304" pitchFamily="18" charset="0"/>
                <a:ea typeface="黑体" panose="02010609060101010101" pitchFamily="49" charset="-122"/>
                <a:cs typeface="Times New Roman" panose="02020603050405020304" pitchFamily="18" charset="0"/>
              </a:rPr>
              <a:t>，则</a:t>
            </a:r>
            <a:endParaRPr lang="zh-CN" altLang="en-US" sz="2800" b="1" dirty="0">
              <a:latin typeface="Times New Roman" panose="02020603050405020304" pitchFamily="18" charset="0"/>
              <a:ea typeface="黑体" panose="02010609060101010101" pitchFamily="49" charset="-122"/>
              <a:cs typeface="Times New Roman" panose="02020603050405020304" pitchFamily="18" charset="0"/>
            </a:endParaRPr>
          </a:p>
        </p:txBody>
      </p:sp>
      <p:graphicFrame>
        <p:nvGraphicFramePr>
          <p:cNvPr id="88072" name="对象 40968"/>
          <p:cNvGraphicFramePr/>
          <p:nvPr/>
        </p:nvGraphicFramePr>
        <p:xfrm>
          <a:off x="1928813" y="1539875"/>
          <a:ext cx="4981575" cy="1101725"/>
        </p:xfrm>
        <a:graphic>
          <a:graphicData uri="http://schemas.openxmlformats.org/presentationml/2006/ole">
            <mc:AlternateContent xmlns:mc="http://schemas.openxmlformats.org/markup-compatibility/2006">
              <mc:Choice xmlns:v="urn:schemas-microsoft-com:vml" Requires="v">
                <p:oleObj spid="_x0000_s36897" name="" r:id="rId7" imgW="1261745" imgH="279400" progId="Equation.DSMT4">
                  <p:embed/>
                </p:oleObj>
              </mc:Choice>
              <mc:Fallback>
                <p:oleObj name="" r:id="rId7" imgW="1261745" imgH="279400" progId="Equation.DSMT4">
                  <p:embed/>
                  <p:pic>
                    <p:nvPicPr>
                      <p:cNvPr id="0" name="对象 40968"/>
                      <p:cNvPicPr>
                        <a:picLocks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928813" y="1539875"/>
                        <a:ext cx="4981575" cy="1101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88073" name="矩形标注 40969"/>
          <p:cNvSpPr>
            <a:spLocks noChangeArrowheads="1"/>
          </p:cNvSpPr>
          <p:nvPr/>
        </p:nvSpPr>
        <p:spPr bwMode="auto">
          <a:xfrm>
            <a:off x="6346825" y="2641600"/>
            <a:ext cx="2061679" cy="1152525"/>
          </a:xfrm>
          <a:prstGeom prst="wedgeRectCallout">
            <a:avLst>
              <a:gd name="adj1" fmla="val -93347"/>
              <a:gd name="adj2" fmla="val -17769"/>
            </a:avLst>
          </a:prstGeom>
          <a:gradFill rotWithShape="0">
            <a:gsLst>
              <a:gs pos="0">
                <a:schemeClr val="accent1"/>
              </a:gs>
              <a:gs pos="100000">
                <a:schemeClr val="bg1"/>
              </a:gs>
            </a:gsLst>
            <a:lin ang="0" scaled="1"/>
          </a:gradFill>
          <a:ln w="9525">
            <a:solidFill>
              <a:schemeClr val="tx1"/>
            </a:solidFill>
            <a:miter lim="800000"/>
          </a:ln>
        </p:spPr>
        <p:txBody>
          <a:bodyPr anchor="b"/>
          <a:lstStyle/>
          <a:p>
            <a:pPr eaLnBrk="0" hangingPunct="0"/>
            <a:r>
              <a:rPr lang="zh-CN" altLang="en-US" sz="2400" dirty="0">
                <a:latin typeface="黑体" panose="02010609060101010101" pitchFamily="49" charset="-122"/>
                <a:ea typeface="黑体" panose="02010609060101010101" pitchFamily="49" charset="-122"/>
              </a:rPr>
              <a:t>适用于任何工质，也不论过程是否可逆</a:t>
            </a:r>
            <a:endParaRPr lang="zh-CN" altLang="en-US" sz="2400" dirty="0">
              <a:latin typeface="黑体" panose="02010609060101010101" pitchFamily="49" charset="-122"/>
              <a:ea typeface="黑体" panose="02010609060101010101" pitchFamily="49" charset="-122"/>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89" name="矩形 45057"/>
          <p:cNvSpPr>
            <a:spLocks noChangeArrowheads="1"/>
          </p:cNvSpPr>
          <p:nvPr/>
        </p:nvSpPr>
        <p:spPr bwMode="auto">
          <a:xfrm>
            <a:off x="1060450" y="1979613"/>
            <a:ext cx="6373813" cy="3524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spcBef>
                <a:spcPct val="20000"/>
              </a:spcBef>
            </a:pPr>
            <a:r>
              <a:rPr lang="zh-CN" altLang="en-US" sz="3200" b="1" dirty="0">
                <a:latin typeface="黑体" panose="02010609060101010101" pitchFamily="49" charset="-122"/>
                <a:ea typeface="黑体" panose="02010609060101010101" pitchFamily="49" charset="-122"/>
              </a:rPr>
              <a:t>假设：　</a:t>
            </a:r>
            <a:r>
              <a:rPr lang="en-US" altLang="zh-CN" sz="3200" b="1" dirty="0">
                <a:latin typeface="黑体" panose="02010609060101010101" pitchFamily="49" charset="-122"/>
                <a:ea typeface="黑体" panose="02010609060101010101" pitchFamily="49" charset="-122"/>
              </a:rPr>
              <a:t>1</a:t>
            </a:r>
            <a:r>
              <a:rPr lang="zh-CN" altLang="en-US" sz="3200" b="1" dirty="0">
                <a:latin typeface="黑体" panose="02010609060101010101" pitchFamily="49" charset="-122"/>
                <a:ea typeface="黑体" panose="02010609060101010101" pitchFamily="49" charset="-122"/>
              </a:rPr>
              <a:t>）理想气体；</a:t>
            </a:r>
            <a:endParaRPr lang="zh-CN" altLang="en-US" sz="3200" b="1" dirty="0">
              <a:latin typeface="黑体" panose="02010609060101010101" pitchFamily="49" charset="-122"/>
              <a:ea typeface="黑体" panose="02010609060101010101" pitchFamily="49" charset="-122"/>
            </a:endParaRPr>
          </a:p>
          <a:p>
            <a:pPr>
              <a:spcBef>
                <a:spcPct val="20000"/>
              </a:spcBef>
            </a:pPr>
            <a:r>
              <a:rPr lang="zh-CN" altLang="en-US" sz="3200" b="1" dirty="0">
                <a:latin typeface="黑体" panose="02010609060101010101" pitchFamily="49" charset="-122"/>
                <a:ea typeface="黑体" panose="02010609060101010101" pitchFamily="49" charset="-122"/>
              </a:rPr>
              <a:t>　　　　</a:t>
            </a:r>
            <a:r>
              <a:rPr lang="en-US" altLang="zh-CN" sz="3200" b="1" dirty="0">
                <a:latin typeface="黑体" panose="02010609060101010101" pitchFamily="49" charset="-122"/>
                <a:ea typeface="黑体" panose="02010609060101010101" pitchFamily="49" charset="-122"/>
              </a:rPr>
              <a:t>2</a:t>
            </a:r>
            <a:r>
              <a:rPr lang="zh-CN" altLang="en-US" sz="3200" b="1" dirty="0">
                <a:latin typeface="黑体" panose="02010609060101010101" pitchFamily="49" charset="-122"/>
                <a:ea typeface="黑体" panose="02010609060101010101" pitchFamily="49" charset="-122"/>
              </a:rPr>
              <a:t>）定值比热容；</a:t>
            </a:r>
            <a:endParaRPr lang="zh-CN" altLang="en-US" sz="3200" b="1" dirty="0">
              <a:latin typeface="黑体" panose="02010609060101010101" pitchFamily="49" charset="-122"/>
              <a:ea typeface="黑体" panose="02010609060101010101" pitchFamily="49" charset="-122"/>
            </a:endParaRPr>
          </a:p>
          <a:p>
            <a:pPr>
              <a:spcBef>
                <a:spcPct val="20000"/>
              </a:spcBef>
            </a:pPr>
            <a:r>
              <a:rPr lang="zh-CN" altLang="en-US" sz="3200" b="1" dirty="0">
                <a:latin typeface="黑体" panose="02010609060101010101" pitchFamily="49" charset="-122"/>
                <a:ea typeface="黑体" panose="02010609060101010101" pitchFamily="49" charset="-122"/>
              </a:rPr>
              <a:t>　　　　</a:t>
            </a:r>
            <a:r>
              <a:rPr lang="en-US" altLang="zh-CN" sz="3200" b="1" dirty="0">
                <a:latin typeface="黑体" panose="02010609060101010101" pitchFamily="49" charset="-122"/>
                <a:ea typeface="黑体" panose="02010609060101010101" pitchFamily="49" charset="-122"/>
              </a:rPr>
              <a:t>3</a:t>
            </a:r>
            <a:r>
              <a:rPr lang="zh-CN" altLang="en-US" sz="3200" b="1" dirty="0">
                <a:latin typeface="黑体" panose="02010609060101010101" pitchFamily="49" charset="-122"/>
                <a:ea typeface="黑体" panose="02010609060101010101" pitchFamily="49" charset="-122"/>
              </a:rPr>
              <a:t>）流动可逆绝热</a:t>
            </a:r>
            <a:endParaRPr lang="zh-CN" altLang="en-US" sz="3200" b="1" dirty="0">
              <a:latin typeface="黑体" panose="02010609060101010101" pitchFamily="49" charset="-122"/>
              <a:ea typeface="黑体" panose="02010609060101010101" pitchFamily="49" charset="-122"/>
            </a:endParaRPr>
          </a:p>
          <a:p>
            <a:pPr>
              <a:spcBef>
                <a:spcPct val="20000"/>
              </a:spcBef>
            </a:pPr>
            <a:r>
              <a:rPr lang="zh-CN" altLang="en-US" sz="3200" b="1" dirty="0"/>
              <a:t>　　　</a:t>
            </a:r>
            <a:endParaRPr lang="zh-CN" altLang="en-US" sz="3200" b="1" dirty="0"/>
          </a:p>
        </p:txBody>
      </p:sp>
      <p:sp>
        <p:nvSpPr>
          <p:cNvPr id="89090" name="矩形 45058"/>
          <p:cNvSpPr>
            <a:spLocks noChangeArrowheads="1"/>
          </p:cNvSpPr>
          <p:nvPr/>
        </p:nvSpPr>
        <p:spPr bwMode="auto">
          <a:xfrm>
            <a:off x="827088" y="549275"/>
            <a:ext cx="7694612" cy="10772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en-US" altLang="zh-CN" sz="3200" b="1" dirty="0">
                <a:latin typeface="黑体" panose="02010609060101010101" pitchFamily="49" charset="-122"/>
                <a:ea typeface="黑体" panose="02010609060101010101" pitchFamily="49" charset="-122"/>
              </a:rPr>
              <a:t>2</a:t>
            </a:r>
            <a:r>
              <a:rPr lang="zh-CN" altLang="en-US" sz="3200" b="1" dirty="0">
                <a:latin typeface="黑体" panose="02010609060101010101" pitchFamily="49" charset="-122"/>
                <a:ea typeface="黑体" panose="02010609060101010101" pitchFamily="49" charset="-122"/>
              </a:rPr>
              <a:t>、出口截面上的</a:t>
            </a:r>
            <a:r>
              <a:rPr lang="zh-CN" altLang="en-US" sz="3200" b="1" dirty="0" smtClean="0">
                <a:latin typeface="黑体" panose="02010609060101010101" pitchFamily="49" charset="-122"/>
                <a:ea typeface="黑体" panose="02010609060101010101" pitchFamily="49" charset="-122"/>
              </a:rPr>
              <a:t>流速和出口截面压力之间的关系</a:t>
            </a:r>
            <a:endParaRPr lang="zh-CN" altLang="en-US" sz="3200" b="1" dirty="0">
              <a:latin typeface="黑体" panose="02010609060101010101" pitchFamily="49" charset="-122"/>
              <a:ea typeface="黑体" panose="02010609060101010101" pitchFamily="49" charset="-122"/>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0113" name="对象 46081"/>
          <p:cNvGraphicFramePr/>
          <p:nvPr/>
        </p:nvGraphicFramePr>
        <p:xfrm>
          <a:off x="2051050" y="333375"/>
          <a:ext cx="5040313" cy="4567238"/>
        </p:xfrm>
        <a:graphic>
          <a:graphicData uri="http://schemas.openxmlformats.org/presentationml/2006/ole">
            <mc:AlternateContent xmlns:mc="http://schemas.openxmlformats.org/markup-compatibility/2006">
              <mc:Choice xmlns:v="urn:schemas-microsoft-com:vml" Requires="v">
                <p:oleObj spid="_x0000_s37904" name="" r:id="rId1" imgW="2019300" imgH="1828800" progId="Equation.DSMT4">
                  <p:embed/>
                </p:oleObj>
              </mc:Choice>
              <mc:Fallback>
                <p:oleObj name="" r:id="rId1" imgW="2019300" imgH="1828800" progId="Equation.DSMT4">
                  <p:embed/>
                  <p:pic>
                    <p:nvPicPr>
                      <p:cNvPr id="0" name="对象 46081"/>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51050" y="333375"/>
                        <a:ext cx="5040313" cy="4567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90114" name="右箭头 46082"/>
          <p:cNvSpPr>
            <a:spLocks noChangeArrowheads="1"/>
          </p:cNvSpPr>
          <p:nvPr/>
        </p:nvSpPr>
        <p:spPr bwMode="auto">
          <a:xfrm>
            <a:off x="755650" y="476250"/>
            <a:ext cx="762000" cy="457200"/>
          </a:xfrm>
          <a:prstGeom prst="rightArrow">
            <a:avLst>
              <a:gd name="adj1" fmla="val 50000"/>
              <a:gd name="adj2" fmla="val 41597"/>
            </a:avLst>
          </a:prstGeom>
          <a:solidFill>
            <a:schemeClr val="tx2"/>
          </a:solidFill>
          <a:ln w="9525">
            <a:noFill/>
            <a:miter lim="800000"/>
          </a:ln>
        </p:spPr>
        <p:txBody>
          <a:bodyPr/>
          <a:lstStyle/>
          <a:p>
            <a:endParaRPr lang="zh-CN" altLang="en-US"/>
          </a:p>
        </p:txBody>
      </p:sp>
      <p:sp>
        <p:nvSpPr>
          <p:cNvPr id="90115" name="文本框 46083"/>
          <p:cNvSpPr txBox="1">
            <a:spLocks noChangeArrowheads="1"/>
          </p:cNvSpPr>
          <p:nvPr/>
        </p:nvSpPr>
        <p:spPr bwMode="auto">
          <a:xfrm>
            <a:off x="468313" y="5084763"/>
            <a:ext cx="8135937"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457200" indent="-457200">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spcBef>
                <a:spcPct val="50000"/>
              </a:spcBef>
            </a:pPr>
            <a:r>
              <a:rPr lang="zh-CN" altLang="en-US" sz="3200" b="1" dirty="0">
                <a:latin typeface="Times New Roman" panose="02020603050405020304" pitchFamily="18" charset="0"/>
                <a:ea typeface="黑体" panose="02010609060101010101" pitchFamily="49" charset="-122"/>
                <a:cs typeface="Times New Roman" panose="02020603050405020304" pitchFamily="18" charset="0"/>
              </a:rPr>
              <a:t>当滞止参数给定后，出口流速仅为</a:t>
            </a:r>
            <a:r>
              <a:rPr lang="en-US" altLang="zh-CN" sz="3200" b="1" i="1" dirty="0">
                <a:latin typeface="Times New Roman" panose="02020603050405020304" pitchFamily="18" charset="0"/>
                <a:ea typeface="黑体" panose="02010609060101010101" pitchFamily="49" charset="-122"/>
                <a:cs typeface="Times New Roman" panose="02020603050405020304" pitchFamily="18" charset="0"/>
              </a:rPr>
              <a:t>p</a:t>
            </a:r>
            <a:r>
              <a:rPr lang="en-US" altLang="zh-CN" sz="3200" b="1" baseline="-25000" dirty="0">
                <a:latin typeface="Times New Roman" panose="02020603050405020304" pitchFamily="18" charset="0"/>
                <a:ea typeface="黑体" panose="02010609060101010101" pitchFamily="49" charset="-122"/>
                <a:cs typeface="Times New Roman" panose="02020603050405020304" pitchFamily="18" charset="0"/>
              </a:rPr>
              <a:t>2</a:t>
            </a:r>
            <a:r>
              <a:rPr lang="zh-CN" altLang="en-US" sz="3200" b="1" dirty="0">
                <a:latin typeface="Times New Roman" panose="02020603050405020304" pitchFamily="18" charset="0"/>
                <a:ea typeface="黑体" panose="02010609060101010101" pitchFamily="49" charset="-122"/>
                <a:cs typeface="Times New Roman" panose="02020603050405020304" pitchFamily="18" charset="0"/>
              </a:rPr>
              <a:t>的函数</a:t>
            </a:r>
            <a:endParaRPr lang="zh-CN" altLang="en-US" sz="3200" b="1" dirty="0">
              <a:latin typeface="Times New Roman" panose="02020603050405020304" pitchFamily="18" charset="0"/>
              <a:ea typeface="黑体" panose="02010609060101010101" pitchFamily="49" charset="-122"/>
              <a:cs typeface="Times New Roman" panose="02020603050405020304" pitchFamily="18" charset="0"/>
            </a:endParaRPr>
          </a:p>
        </p:txBody>
      </p:sp>
      <p:graphicFrame>
        <p:nvGraphicFramePr>
          <p:cNvPr id="90116" name="对象 46084"/>
          <p:cNvGraphicFramePr/>
          <p:nvPr/>
        </p:nvGraphicFramePr>
        <p:xfrm>
          <a:off x="3519488" y="5876925"/>
          <a:ext cx="1966912" cy="600075"/>
        </p:xfrm>
        <a:graphic>
          <a:graphicData uri="http://schemas.openxmlformats.org/presentationml/2006/ole">
            <mc:AlternateContent xmlns:mc="http://schemas.openxmlformats.org/markup-compatibility/2006">
              <mc:Choice xmlns:v="urn:schemas-microsoft-com:vml" Requires="v">
                <p:oleObj spid="_x0000_s37905" name="Equation" r:id="rId3" imgW="17983200" imgH="5486400" progId="Equation.DSMT4">
                  <p:embed/>
                </p:oleObj>
              </mc:Choice>
              <mc:Fallback>
                <p:oleObj name="Equation" r:id="rId3" imgW="17983200" imgH="5486400" progId="Equation.DSMT4">
                  <p:embed/>
                  <p:pic>
                    <p:nvPicPr>
                      <p:cNvPr id="0" name="对象 46084"/>
                      <p:cNvPicPr>
                        <a:picLocks noChangeArrowheads="1"/>
                      </p:cNvPicPr>
                      <p:nvPr/>
                    </p:nvPicPr>
                    <p:blipFill>
                      <a:blip r:embed="rId4"/>
                      <a:srcRect/>
                      <a:stretch>
                        <a:fillRect/>
                      </a:stretch>
                    </p:blipFill>
                    <p:spPr bwMode="auto">
                      <a:xfrm>
                        <a:off x="3519488" y="5876925"/>
                        <a:ext cx="1966912" cy="600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7" name="矩形 47110"/>
          <p:cNvSpPr>
            <a:spLocks noChangeArrowheads="1"/>
          </p:cNvSpPr>
          <p:nvPr/>
        </p:nvSpPr>
        <p:spPr bwMode="auto">
          <a:xfrm>
            <a:off x="0" y="244316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pic>
        <p:nvPicPr>
          <p:cNvPr id="2" name="图片 1"/>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1764548" y="737382"/>
            <a:ext cx="5614903" cy="5383235"/>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2161" name="对象 49153"/>
          <p:cNvGraphicFramePr/>
          <p:nvPr/>
        </p:nvGraphicFramePr>
        <p:xfrm>
          <a:off x="3276600" y="3213100"/>
          <a:ext cx="5505450" cy="1058863"/>
        </p:xfrm>
        <a:graphic>
          <a:graphicData uri="http://schemas.openxmlformats.org/presentationml/2006/ole">
            <mc:AlternateContent xmlns:mc="http://schemas.openxmlformats.org/markup-compatibility/2006">
              <mc:Choice xmlns:v="urn:schemas-microsoft-com:vml" Requires="v">
                <p:oleObj spid="_x0000_s39961" name="" r:id="rId1" imgW="1541145" imgH="296545" progId="Equation.DSMT4">
                  <p:embed/>
                </p:oleObj>
              </mc:Choice>
              <mc:Fallback>
                <p:oleObj name="" r:id="rId1" imgW="1541145" imgH="296545" progId="Equation.DSMT4">
                  <p:embed/>
                  <p:pic>
                    <p:nvPicPr>
                      <p:cNvPr id="0" name="对象 49153"/>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76600" y="3213100"/>
                        <a:ext cx="5505450" cy="1058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92162" name="矩形 49154"/>
          <p:cNvSpPr>
            <a:spLocks noChangeArrowheads="1"/>
          </p:cNvSpPr>
          <p:nvPr/>
        </p:nvSpPr>
        <p:spPr bwMode="auto">
          <a:xfrm>
            <a:off x="3563938" y="2349500"/>
            <a:ext cx="67818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spcBef>
                <a:spcPct val="50000"/>
              </a:spcBef>
              <a:buClr>
                <a:schemeClr val="folHlink"/>
              </a:buClr>
              <a:buSzPct val="60000"/>
              <a:buFont typeface="Wingdings" panose="05000000000000000000" pitchFamily="2" charset="2"/>
              <a:buNone/>
            </a:pPr>
            <a:r>
              <a:rPr lang="zh-CN" altLang="en-US" sz="2800" b="1" dirty="0">
                <a:latin typeface="Times New Roman" panose="02020603050405020304" pitchFamily="18" charset="0"/>
                <a:ea typeface="黑体" panose="02010609060101010101" pitchFamily="49" charset="-122"/>
                <a:cs typeface="Times New Roman" panose="02020603050405020304" pitchFamily="18" charset="0"/>
              </a:rPr>
              <a:t>当</a:t>
            </a:r>
            <a:r>
              <a:rPr lang="en-US" altLang="zh-CN" sz="2800" b="1" i="1" dirty="0">
                <a:latin typeface="Times New Roman" panose="02020603050405020304" pitchFamily="18" charset="0"/>
                <a:ea typeface="黑体" panose="02010609060101010101" pitchFamily="49" charset="-122"/>
                <a:cs typeface="Times New Roman" panose="02020603050405020304" pitchFamily="18" charset="0"/>
              </a:rPr>
              <a:t>p</a:t>
            </a:r>
            <a:r>
              <a:rPr lang="en-US" altLang="zh-CN" sz="2800" b="1" baseline="-25000" dirty="0">
                <a:latin typeface="Times New Roman" panose="02020603050405020304" pitchFamily="18" charset="0"/>
                <a:ea typeface="黑体" panose="02010609060101010101" pitchFamily="49" charset="-122"/>
                <a:cs typeface="Times New Roman" panose="02020603050405020304" pitchFamily="18" charset="0"/>
              </a:rPr>
              <a:t>2</a:t>
            </a:r>
            <a:r>
              <a:rPr lang="zh-CN" altLang="en-US" sz="2800" b="1" dirty="0">
                <a:latin typeface="Times New Roman" panose="02020603050405020304" pitchFamily="18" charset="0"/>
                <a:ea typeface="黑体" panose="02010609060101010101" pitchFamily="49" charset="-122"/>
                <a:cs typeface="Times New Roman" panose="02020603050405020304" pitchFamily="18" charset="0"/>
              </a:rPr>
              <a:t>＝</a:t>
            </a:r>
            <a:r>
              <a:rPr lang="en-US" altLang="zh-CN" sz="2800" b="1" dirty="0">
                <a:latin typeface="Times New Roman" panose="02020603050405020304" pitchFamily="18" charset="0"/>
                <a:ea typeface="黑体" panose="02010609060101010101" pitchFamily="49" charset="-122"/>
                <a:cs typeface="Times New Roman" panose="02020603050405020304" pitchFamily="18" charset="0"/>
              </a:rPr>
              <a:t>0</a:t>
            </a:r>
            <a:r>
              <a:rPr lang="zh-CN" altLang="en-US" sz="2800" b="1" dirty="0">
                <a:latin typeface="Times New Roman" panose="02020603050405020304" pitchFamily="18" charset="0"/>
                <a:ea typeface="黑体" panose="02010609060101010101" pitchFamily="49" charset="-122"/>
                <a:cs typeface="Times New Roman" panose="02020603050405020304" pitchFamily="18" charset="0"/>
              </a:rPr>
              <a:t>时，出口速度达最大，即：</a:t>
            </a:r>
            <a:endParaRPr lang="zh-CN" altLang="en-US" sz="2800" b="1" dirty="0">
              <a:latin typeface="Times New Roman" panose="02020603050405020304" pitchFamily="18" charset="0"/>
              <a:ea typeface="黑体" panose="02010609060101010101" pitchFamily="49" charset="-122"/>
              <a:cs typeface="Times New Roman" panose="02020603050405020304" pitchFamily="18" charset="0"/>
            </a:endParaRPr>
          </a:p>
        </p:txBody>
      </p:sp>
      <p:sp>
        <p:nvSpPr>
          <p:cNvPr id="92163" name="矩形 49155"/>
          <p:cNvSpPr>
            <a:spLocks noChangeArrowheads="1"/>
          </p:cNvSpPr>
          <p:nvPr/>
        </p:nvSpPr>
        <p:spPr bwMode="auto">
          <a:xfrm>
            <a:off x="684213" y="4508500"/>
            <a:ext cx="8001000" cy="1800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buClr>
                <a:schemeClr val="hlink"/>
              </a:buClr>
              <a:buFont typeface="Webdings" panose="05030102010509060703" pitchFamily="18" charset="2"/>
              <a:buChar char="ÿ"/>
            </a:pPr>
            <a:r>
              <a:rPr lang="zh-CN" altLang="en-US" sz="2800" b="1" dirty="0">
                <a:latin typeface="黑体" panose="02010609060101010101" pitchFamily="49" charset="-122"/>
                <a:ea typeface="黑体" panose="02010609060101010101" pitchFamily="49" charset="-122"/>
              </a:rPr>
              <a:t>此速度实际上是达不到的，因为压力趋于零时，比体积趋于无穷大，而由流量</a:t>
            </a:r>
            <a:r>
              <a:rPr lang="zh-CN" altLang="en-US" sz="2800" b="1" dirty="0" smtClean="0">
                <a:latin typeface="黑体" panose="02010609060101010101" pitchFamily="49" charset="-122"/>
                <a:ea typeface="黑体" panose="02010609060101010101" pitchFamily="49" charset="-122"/>
              </a:rPr>
              <a:t>公式            可知</a:t>
            </a:r>
            <a:r>
              <a:rPr lang="zh-CN" altLang="en-US" sz="2800" b="1" dirty="0">
                <a:latin typeface="黑体" panose="02010609060101010101" pitchFamily="49" charset="-122"/>
                <a:ea typeface="黑体" panose="02010609060101010101" pitchFamily="49" charset="-122"/>
              </a:rPr>
              <a:t>，此时要求喷管出口截面积应为无穷大，显然这是无法实现的</a:t>
            </a:r>
            <a:endParaRPr lang="zh-CN" altLang="en-US" sz="2800" b="1" dirty="0">
              <a:latin typeface="黑体" panose="02010609060101010101" pitchFamily="49" charset="-122"/>
              <a:ea typeface="黑体" panose="02010609060101010101" pitchFamily="49" charset="-122"/>
            </a:endParaRPr>
          </a:p>
        </p:txBody>
      </p:sp>
      <p:graphicFrame>
        <p:nvGraphicFramePr>
          <p:cNvPr id="92164" name="对象 49156"/>
          <p:cNvGraphicFramePr/>
          <p:nvPr/>
        </p:nvGraphicFramePr>
        <p:xfrm>
          <a:off x="3563938" y="188913"/>
          <a:ext cx="5003800" cy="2008187"/>
        </p:xfrm>
        <a:graphic>
          <a:graphicData uri="http://schemas.openxmlformats.org/presentationml/2006/ole">
            <mc:AlternateContent xmlns:mc="http://schemas.openxmlformats.org/markup-compatibility/2006">
              <mc:Choice xmlns:v="urn:schemas-microsoft-com:vml" Requires="v">
                <p:oleObj spid="_x0000_s39962" name="" r:id="rId3" imgW="1202055" imgH="482600" progId="Equation.DSMT4">
                  <p:embed/>
                </p:oleObj>
              </mc:Choice>
              <mc:Fallback>
                <p:oleObj name="" r:id="rId3" imgW="1202055" imgH="482600" progId="Equation.DSMT4">
                  <p:embed/>
                  <p:pic>
                    <p:nvPicPr>
                      <p:cNvPr id="0" name="对象 49156"/>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563938" y="188913"/>
                        <a:ext cx="5003800" cy="2008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92165" name="对象 49158"/>
          <p:cNvGraphicFramePr/>
          <p:nvPr/>
        </p:nvGraphicFramePr>
        <p:xfrm>
          <a:off x="6194425" y="4994275"/>
          <a:ext cx="2314575" cy="461963"/>
        </p:xfrm>
        <a:graphic>
          <a:graphicData uri="http://schemas.openxmlformats.org/presentationml/2006/ole">
            <mc:AlternateContent xmlns:mc="http://schemas.openxmlformats.org/markup-compatibility/2006">
              <mc:Choice xmlns:v="urn:schemas-microsoft-com:vml" Requires="v">
                <p:oleObj spid="_x0000_s39963" name="Equation" r:id="rId5" imgW="27432000" imgH="5486400" progId="Equation.DSMT4">
                  <p:embed/>
                </p:oleObj>
              </mc:Choice>
              <mc:Fallback>
                <p:oleObj name="Equation" r:id="rId5" imgW="27432000" imgH="5486400" progId="Equation.DSMT4">
                  <p:embed/>
                  <p:pic>
                    <p:nvPicPr>
                      <p:cNvPr id="0" name="对象 49158"/>
                      <p:cNvPicPr>
                        <a:picLocks noChangeArrowheads="1"/>
                      </p:cNvPicPr>
                      <p:nvPr/>
                    </p:nvPicPr>
                    <p:blipFill>
                      <a:blip r:embed="rId6"/>
                      <a:srcRect/>
                      <a:stretch>
                        <a:fillRect/>
                      </a:stretch>
                    </p:blipFill>
                    <p:spPr bwMode="auto">
                      <a:xfrm>
                        <a:off x="6194425" y="4994275"/>
                        <a:ext cx="231457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pic>
        <p:nvPicPr>
          <p:cNvPr id="2" name="图片 1"/>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0" y="0"/>
            <a:ext cx="3578662" cy="3432345"/>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5" name="矩形 242691"/>
          <p:cNvSpPr>
            <a:spLocks noChangeArrowheads="1"/>
          </p:cNvSpPr>
          <p:nvPr/>
        </p:nvSpPr>
        <p:spPr bwMode="auto">
          <a:xfrm>
            <a:off x="395288" y="432628"/>
            <a:ext cx="7129462" cy="644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nSpc>
                <a:spcPct val="90000"/>
              </a:lnSpc>
              <a:spcBef>
                <a:spcPct val="20000"/>
              </a:spcBef>
              <a:buClr>
                <a:schemeClr val="folHlink"/>
              </a:buClr>
              <a:buSzPct val="60000"/>
              <a:buFont typeface="Wingdings" panose="05000000000000000000" pitchFamily="2" charset="2"/>
              <a:buNone/>
            </a:pPr>
            <a:r>
              <a:rPr lang="zh-CN" altLang="en-US" sz="4000" b="1" dirty="0">
                <a:latin typeface="黑体" panose="02010609060101010101" pitchFamily="49" charset="-122"/>
                <a:ea typeface="黑体" panose="02010609060101010101" pitchFamily="49" charset="-122"/>
              </a:rPr>
              <a:t>二、临界参数的计算</a:t>
            </a:r>
            <a:endParaRPr lang="zh-CN" altLang="en-US" sz="4000" b="1" dirty="0">
              <a:latin typeface="黑体" panose="02010609060101010101" pitchFamily="49" charset="-122"/>
              <a:ea typeface="黑体" panose="02010609060101010101" pitchFamily="49" charset="-122"/>
            </a:endParaRPr>
          </a:p>
        </p:txBody>
      </p:sp>
      <p:sp>
        <p:nvSpPr>
          <p:cNvPr id="93186" name="矩形 242692"/>
          <p:cNvSpPr>
            <a:spLocks noChangeArrowheads="1"/>
          </p:cNvSpPr>
          <p:nvPr/>
        </p:nvSpPr>
        <p:spPr bwMode="auto">
          <a:xfrm>
            <a:off x="539750" y="1825625"/>
            <a:ext cx="8064500" cy="3536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r>
              <a:rPr lang="en-US" altLang="zh-CN" sz="2800" b="1" dirty="0">
                <a:solidFill>
                  <a:srgbClr val="000000"/>
                </a:solidFill>
                <a:latin typeface="Times New Roman" panose="02020603050405020304" pitchFamily="18" charset="0"/>
              </a:rPr>
              <a:t>        </a:t>
            </a:r>
            <a:r>
              <a:rPr lang="zh-CN" altLang="en-US" sz="2800" b="1" dirty="0">
                <a:solidFill>
                  <a:srgbClr val="000000"/>
                </a:solidFill>
                <a:latin typeface="黑体" panose="02010609060101010101" pitchFamily="49" charset="-122"/>
                <a:ea typeface="黑体" panose="02010609060101010101" pitchFamily="49" charset="-122"/>
              </a:rPr>
              <a:t>为了获得临界参数的表达式，可以先将流体的状态参数（温度、压力、密度）和与之对应的滞止参数（滞止温度、滞止压力、滞止密度）之比用定熵指数和马赫数表示出来。在推导过程中，假设：（</a:t>
            </a:r>
            <a:r>
              <a:rPr lang="en-US" altLang="zh-CN" sz="2800" b="1" dirty="0">
                <a:solidFill>
                  <a:srgbClr val="000000"/>
                </a:solidFill>
                <a:latin typeface="黑体" panose="02010609060101010101" pitchFamily="49" charset="-122"/>
                <a:ea typeface="黑体" panose="02010609060101010101" pitchFamily="49" charset="-122"/>
              </a:rPr>
              <a:t>1</a:t>
            </a:r>
            <a:r>
              <a:rPr lang="zh-CN" altLang="en-US" sz="2800" b="1" dirty="0">
                <a:solidFill>
                  <a:srgbClr val="000000"/>
                </a:solidFill>
                <a:latin typeface="黑体" panose="02010609060101010101" pitchFamily="49" charset="-122"/>
                <a:ea typeface="黑体" panose="02010609060101010101" pitchFamily="49" charset="-122"/>
              </a:rPr>
              <a:t>）流体为理想气体；</a:t>
            </a:r>
            <a:endParaRPr lang="zh-CN" altLang="en-US" sz="2800" b="1" dirty="0">
              <a:solidFill>
                <a:srgbClr val="000000"/>
              </a:solidFill>
              <a:latin typeface="黑体" panose="02010609060101010101" pitchFamily="49" charset="-122"/>
              <a:ea typeface="黑体" panose="02010609060101010101" pitchFamily="49" charset="-122"/>
            </a:endParaRPr>
          </a:p>
          <a:p>
            <a:r>
              <a:rPr lang="zh-CN" altLang="en-US" sz="2800" b="1" dirty="0">
                <a:solidFill>
                  <a:srgbClr val="000000"/>
                </a:solidFill>
                <a:latin typeface="黑体" panose="02010609060101010101" pitchFamily="49" charset="-122"/>
                <a:ea typeface="黑体" panose="02010609060101010101" pitchFamily="49" charset="-122"/>
              </a:rPr>
              <a:t>（</a:t>
            </a:r>
            <a:r>
              <a:rPr lang="en-US" altLang="zh-CN" sz="2800" b="1" dirty="0">
                <a:solidFill>
                  <a:srgbClr val="000000"/>
                </a:solidFill>
                <a:latin typeface="黑体" panose="02010609060101010101" pitchFamily="49" charset="-122"/>
                <a:ea typeface="黑体" panose="02010609060101010101" pitchFamily="49" charset="-122"/>
              </a:rPr>
              <a:t>2</a:t>
            </a:r>
            <a:r>
              <a:rPr lang="zh-CN" altLang="en-US" sz="2800" b="1" dirty="0">
                <a:solidFill>
                  <a:srgbClr val="000000"/>
                </a:solidFill>
                <a:latin typeface="黑体" panose="02010609060101010101" pitchFamily="49" charset="-122"/>
                <a:ea typeface="黑体" panose="02010609060101010101" pitchFamily="49" charset="-122"/>
              </a:rPr>
              <a:t>）比热容为常数；</a:t>
            </a:r>
            <a:endParaRPr lang="zh-CN" altLang="en-US" sz="2800" b="1" dirty="0">
              <a:solidFill>
                <a:srgbClr val="000000"/>
              </a:solidFill>
              <a:latin typeface="黑体" panose="02010609060101010101" pitchFamily="49" charset="-122"/>
              <a:ea typeface="黑体" panose="02010609060101010101" pitchFamily="49" charset="-122"/>
            </a:endParaRPr>
          </a:p>
          <a:p>
            <a:r>
              <a:rPr lang="zh-CN" altLang="en-US" sz="2800" b="1" dirty="0">
                <a:solidFill>
                  <a:srgbClr val="000000"/>
                </a:solidFill>
                <a:latin typeface="黑体" panose="02010609060101010101" pitchFamily="49" charset="-122"/>
                <a:ea typeface="黑体" panose="02010609060101010101" pitchFamily="49" charset="-122"/>
              </a:rPr>
              <a:t>（</a:t>
            </a:r>
            <a:r>
              <a:rPr lang="en-US" altLang="zh-CN" sz="2800" b="1" dirty="0">
                <a:solidFill>
                  <a:srgbClr val="000000"/>
                </a:solidFill>
                <a:latin typeface="黑体" panose="02010609060101010101" pitchFamily="49" charset="-122"/>
                <a:ea typeface="黑体" panose="02010609060101010101" pitchFamily="49" charset="-122"/>
              </a:rPr>
              <a:t>3</a:t>
            </a:r>
            <a:r>
              <a:rPr lang="zh-CN" altLang="en-US" sz="2800" b="1" dirty="0">
                <a:solidFill>
                  <a:srgbClr val="000000"/>
                </a:solidFill>
                <a:latin typeface="黑体" panose="02010609060101010101" pitchFamily="49" charset="-122"/>
                <a:ea typeface="黑体" panose="02010609060101010101" pitchFamily="49" charset="-122"/>
              </a:rPr>
              <a:t>）流动过程可逆绝热。</a:t>
            </a:r>
            <a:endParaRPr lang="zh-CN" altLang="en-US" sz="2800" b="1" dirty="0">
              <a:solidFill>
                <a:srgbClr val="000000"/>
              </a:solidFill>
              <a:latin typeface="黑体" panose="02010609060101010101" pitchFamily="49" charset="-122"/>
              <a:ea typeface="黑体" panose="02010609060101010101" pitchFamily="49" charset="-122"/>
            </a:endParaRPr>
          </a:p>
          <a:p>
            <a:r>
              <a:rPr lang="zh-CN" altLang="en-US" sz="2800" b="1" dirty="0">
                <a:solidFill>
                  <a:srgbClr val="000000"/>
                </a:solidFill>
                <a:latin typeface="黑体" panose="02010609060101010101" pitchFamily="49" charset="-122"/>
                <a:ea typeface="黑体" panose="02010609060101010101" pitchFamily="49" charset="-122"/>
              </a:rPr>
              <a:t>        </a:t>
            </a:r>
            <a:endParaRPr lang="el-GR" altLang="zh-CN" sz="2800" b="1" dirty="0">
              <a:latin typeface="黑体" panose="02010609060101010101" pitchFamily="49" charset="-122"/>
              <a:ea typeface="黑体" panose="02010609060101010101" pitchFamily="49" charset="-122"/>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09" name="矩形 140292"/>
          <p:cNvSpPr>
            <a:spLocks noChangeArrowheads="1"/>
          </p:cNvSpPr>
          <p:nvPr/>
        </p:nvSpPr>
        <p:spPr bwMode="auto">
          <a:xfrm>
            <a:off x="0" y="321468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graphicFrame>
        <p:nvGraphicFramePr>
          <p:cNvPr id="94210" name="对象 140291"/>
          <p:cNvGraphicFramePr/>
          <p:nvPr/>
        </p:nvGraphicFramePr>
        <p:xfrm>
          <a:off x="885825" y="3429000"/>
          <a:ext cx="2800350" cy="952500"/>
        </p:xfrm>
        <a:graphic>
          <a:graphicData uri="http://schemas.openxmlformats.org/presentationml/2006/ole">
            <mc:AlternateContent xmlns:mc="http://schemas.openxmlformats.org/markup-compatibility/2006">
              <mc:Choice xmlns:v="urn:schemas-microsoft-com:vml" Requires="v">
                <p:oleObj spid="_x0000_s41025" name="" r:id="rId1" imgW="1256665" imgH="431800" progId="Equation.DSMT4">
                  <p:embed/>
                </p:oleObj>
              </mc:Choice>
              <mc:Fallback>
                <p:oleObj name="" r:id="rId1" imgW="1256665" imgH="431800" progId="Equation.DSMT4">
                  <p:embed/>
                  <p:pic>
                    <p:nvPicPr>
                      <p:cNvPr id="0" name="对象 140291"/>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85825" y="3429000"/>
                        <a:ext cx="2800350" cy="952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94211" name="矩形 140294"/>
          <p:cNvSpPr>
            <a:spLocks noChangeArrowheads="1"/>
          </p:cNvSpPr>
          <p:nvPr/>
        </p:nvSpPr>
        <p:spPr bwMode="auto">
          <a:xfrm>
            <a:off x="0" y="319563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graphicFrame>
        <p:nvGraphicFramePr>
          <p:cNvPr id="94212" name="对象 140293"/>
          <p:cNvGraphicFramePr/>
          <p:nvPr/>
        </p:nvGraphicFramePr>
        <p:xfrm>
          <a:off x="539750" y="260350"/>
          <a:ext cx="2160588" cy="1163638"/>
        </p:xfrm>
        <a:graphic>
          <a:graphicData uri="http://schemas.openxmlformats.org/presentationml/2006/ole">
            <mc:AlternateContent xmlns:mc="http://schemas.openxmlformats.org/markup-compatibility/2006">
              <mc:Choice xmlns:v="urn:schemas-microsoft-com:vml" Requires="v">
                <p:oleObj spid="_x0000_s41026" name="" r:id="rId3" imgW="862965" imgH="469900" progId="Equation.DSMT4">
                  <p:embed/>
                </p:oleObj>
              </mc:Choice>
              <mc:Fallback>
                <p:oleObj name="" r:id="rId3" imgW="862965" imgH="469900" progId="Equation.DSMT4">
                  <p:embed/>
                  <p:pic>
                    <p:nvPicPr>
                      <p:cNvPr id="0" name="对象 140293"/>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39750" y="260350"/>
                        <a:ext cx="2160588" cy="1163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94213" name="矩形 140296"/>
          <p:cNvSpPr>
            <a:spLocks noChangeArrowheads="1"/>
          </p:cNvSpPr>
          <p:nvPr/>
        </p:nvSpPr>
        <p:spPr bwMode="auto">
          <a:xfrm>
            <a:off x="0" y="318135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graphicFrame>
        <p:nvGraphicFramePr>
          <p:cNvPr id="94214" name="对象 140295"/>
          <p:cNvGraphicFramePr/>
          <p:nvPr/>
        </p:nvGraphicFramePr>
        <p:xfrm>
          <a:off x="409575" y="1557338"/>
          <a:ext cx="6632575" cy="1041400"/>
        </p:xfrm>
        <a:graphic>
          <a:graphicData uri="http://schemas.openxmlformats.org/presentationml/2006/ole">
            <mc:AlternateContent xmlns:mc="http://schemas.openxmlformats.org/markup-compatibility/2006">
              <mc:Choice xmlns:v="urn:schemas-microsoft-com:vml" Requires="v">
                <p:oleObj spid="_x0000_s41027" name="" r:id="rId5" imgW="3148965" imgH="495300" progId="Equation.DSMT4">
                  <p:embed/>
                </p:oleObj>
              </mc:Choice>
              <mc:Fallback>
                <p:oleObj name="" r:id="rId5" imgW="3148965" imgH="495300" progId="Equation.DSMT4">
                  <p:embed/>
                  <p:pic>
                    <p:nvPicPr>
                      <p:cNvPr id="0" name="对象 140295"/>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09575" y="1557338"/>
                        <a:ext cx="6632575" cy="1041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94215" name="矩形 140297"/>
          <p:cNvSpPr>
            <a:spLocks noChangeArrowheads="1"/>
          </p:cNvSpPr>
          <p:nvPr/>
        </p:nvSpPr>
        <p:spPr bwMode="auto">
          <a:xfrm>
            <a:off x="395288" y="260350"/>
            <a:ext cx="6769100" cy="2520950"/>
          </a:xfrm>
          <a:prstGeom prst="rect">
            <a:avLst/>
          </a:prstGeom>
          <a:noFill/>
          <a:ln w="25400">
            <a:solidFill>
              <a:srgbClr val="FF0000"/>
            </a:solidFill>
            <a:miter lim="800000"/>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94216" name="直接连接符 140298"/>
          <p:cNvSpPr>
            <a:spLocks noChangeShapeType="1"/>
          </p:cNvSpPr>
          <p:nvPr/>
        </p:nvSpPr>
        <p:spPr bwMode="auto">
          <a:xfrm>
            <a:off x="3132138" y="2781300"/>
            <a:ext cx="0" cy="647700"/>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94217" name="矩形 140300"/>
          <p:cNvSpPr>
            <a:spLocks noChangeArrowheads="1"/>
          </p:cNvSpPr>
          <p:nvPr/>
        </p:nvSpPr>
        <p:spPr bwMode="auto">
          <a:xfrm>
            <a:off x="0" y="315753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graphicFrame>
        <p:nvGraphicFramePr>
          <p:cNvPr id="94218" name="对象 140299"/>
          <p:cNvGraphicFramePr/>
          <p:nvPr/>
        </p:nvGraphicFramePr>
        <p:xfrm>
          <a:off x="812800" y="4292600"/>
          <a:ext cx="3846513" cy="1301750"/>
        </p:xfrm>
        <a:graphic>
          <a:graphicData uri="http://schemas.openxmlformats.org/presentationml/2006/ole">
            <mc:AlternateContent xmlns:mc="http://schemas.openxmlformats.org/markup-compatibility/2006">
              <mc:Choice xmlns:v="urn:schemas-microsoft-com:vml" Requires="v">
                <p:oleObj spid="_x0000_s41028" name="" r:id="rId7" imgW="1599565" imgH="546100" progId="Equation.DSMT4">
                  <p:embed/>
                </p:oleObj>
              </mc:Choice>
              <mc:Fallback>
                <p:oleObj name="" r:id="rId7" imgW="1599565" imgH="546100" progId="Equation.DSMT4">
                  <p:embed/>
                  <p:pic>
                    <p:nvPicPr>
                      <p:cNvPr id="0" name="对象 140299"/>
                      <p:cNvPicPr>
                        <a:picLocks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812800" y="4292600"/>
                        <a:ext cx="3846513" cy="1301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94219" name="对象 140301"/>
          <p:cNvGraphicFramePr/>
          <p:nvPr/>
        </p:nvGraphicFramePr>
        <p:xfrm>
          <a:off x="887413" y="5445125"/>
          <a:ext cx="3446462" cy="1166813"/>
        </p:xfrm>
        <a:graphic>
          <a:graphicData uri="http://schemas.openxmlformats.org/presentationml/2006/ole">
            <mc:AlternateContent xmlns:mc="http://schemas.openxmlformats.org/markup-compatibility/2006">
              <mc:Choice xmlns:v="urn:schemas-microsoft-com:vml" Requires="v">
                <p:oleObj spid="_x0000_s41029" name="" r:id="rId9" imgW="1599565" imgH="546100" progId="Equation.DSMT4">
                  <p:embed/>
                </p:oleObj>
              </mc:Choice>
              <mc:Fallback>
                <p:oleObj name="" r:id="rId9" imgW="1599565" imgH="546100" progId="Equation.DSMT4">
                  <p:embed/>
                  <p:pic>
                    <p:nvPicPr>
                      <p:cNvPr id="0" name="对象 140301"/>
                      <p:cNvPicPr>
                        <a:picLocks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887413" y="5445125"/>
                        <a:ext cx="3446462" cy="1166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94220" name="矩形 140305"/>
          <p:cNvSpPr>
            <a:spLocks noChangeArrowheads="1"/>
          </p:cNvSpPr>
          <p:nvPr/>
        </p:nvSpPr>
        <p:spPr bwMode="auto">
          <a:xfrm>
            <a:off x="0" y="321468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graphicFrame>
        <p:nvGraphicFramePr>
          <p:cNvPr id="94221" name="对象 140304"/>
          <p:cNvGraphicFramePr/>
          <p:nvPr/>
        </p:nvGraphicFramePr>
        <p:xfrm>
          <a:off x="6588125" y="3213100"/>
          <a:ext cx="1512888" cy="958850"/>
        </p:xfrm>
        <a:graphic>
          <a:graphicData uri="http://schemas.openxmlformats.org/presentationml/2006/ole">
            <mc:AlternateContent xmlns:mc="http://schemas.openxmlformats.org/markup-compatibility/2006">
              <mc:Choice xmlns:v="urn:schemas-microsoft-com:vml" Requires="v">
                <p:oleObj spid="_x0000_s41030" name="" r:id="rId11" imgW="673100" imgH="431800" progId="Equation.DSMT4">
                  <p:embed/>
                </p:oleObj>
              </mc:Choice>
              <mc:Fallback>
                <p:oleObj name="" r:id="rId11" imgW="673100" imgH="431800" progId="Equation.DSMT4">
                  <p:embed/>
                  <p:pic>
                    <p:nvPicPr>
                      <p:cNvPr id="0" name="对象 140304"/>
                      <p:cNvPicPr>
                        <a:picLocks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6588125" y="3213100"/>
                        <a:ext cx="1512888" cy="958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94222" name="直接连接符 140306"/>
          <p:cNvSpPr>
            <a:spLocks noChangeShapeType="1"/>
          </p:cNvSpPr>
          <p:nvPr/>
        </p:nvSpPr>
        <p:spPr bwMode="auto">
          <a:xfrm>
            <a:off x="4356100" y="3716338"/>
            <a:ext cx="863600"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94223" name="直接连接符 140307"/>
          <p:cNvSpPr>
            <a:spLocks noChangeShapeType="1"/>
          </p:cNvSpPr>
          <p:nvPr/>
        </p:nvSpPr>
        <p:spPr bwMode="auto">
          <a:xfrm>
            <a:off x="5219700" y="3716338"/>
            <a:ext cx="0" cy="2449512"/>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94224" name="直接连接符 140308"/>
          <p:cNvSpPr>
            <a:spLocks noChangeShapeType="1"/>
          </p:cNvSpPr>
          <p:nvPr/>
        </p:nvSpPr>
        <p:spPr bwMode="auto">
          <a:xfrm flipH="1">
            <a:off x="4427538" y="6165850"/>
            <a:ext cx="792162"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94225" name="直接连接符 140309"/>
          <p:cNvSpPr>
            <a:spLocks noChangeShapeType="1"/>
          </p:cNvSpPr>
          <p:nvPr/>
        </p:nvSpPr>
        <p:spPr bwMode="auto">
          <a:xfrm>
            <a:off x="5219700" y="4941888"/>
            <a:ext cx="1152525" cy="0"/>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graphicFrame>
        <p:nvGraphicFramePr>
          <p:cNvPr id="94226" name="对象 140310"/>
          <p:cNvGraphicFramePr/>
          <p:nvPr/>
        </p:nvGraphicFramePr>
        <p:xfrm>
          <a:off x="5292725" y="4437063"/>
          <a:ext cx="1025525" cy="395287"/>
        </p:xfrm>
        <a:graphic>
          <a:graphicData uri="http://schemas.openxmlformats.org/presentationml/2006/ole">
            <mc:AlternateContent xmlns:mc="http://schemas.openxmlformats.org/markup-compatibility/2006">
              <mc:Choice xmlns:v="urn:schemas-microsoft-com:vml" Requires="v">
                <p:oleObj spid="_x0000_s41031" name="" r:id="rId13" imgW="456565" imgH="177800" progId="Equation.DSMT4">
                  <p:embed/>
                </p:oleObj>
              </mc:Choice>
              <mc:Fallback>
                <p:oleObj name="" r:id="rId13" imgW="456565" imgH="177800" progId="Equation.DSMT4">
                  <p:embed/>
                  <p:pic>
                    <p:nvPicPr>
                      <p:cNvPr id="0" name="对象 140310"/>
                      <p:cNvPicPr>
                        <a:picLocks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5292725" y="4437063"/>
                        <a:ext cx="1025525" cy="395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94227" name="矩形 140312"/>
          <p:cNvSpPr>
            <a:spLocks noChangeArrowheads="1"/>
          </p:cNvSpPr>
          <p:nvPr/>
        </p:nvSpPr>
        <p:spPr bwMode="auto">
          <a:xfrm>
            <a:off x="0" y="315753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graphicFrame>
        <p:nvGraphicFramePr>
          <p:cNvPr id="94228" name="对象 140311"/>
          <p:cNvGraphicFramePr/>
          <p:nvPr/>
        </p:nvGraphicFramePr>
        <p:xfrm>
          <a:off x="6503988" y="4162425"/>
          <a:ext cx="2041525" cy="1068388"/>
        </p:xfrm>
        <a:graphic>
          <a:graphicData uri="http://schemas.openxmlformats.org/presentationml/2006/ole">
            <mc:AlternateContent xmlns:mc="http://schemas.openxmlformats.org/markup-compatibility/2006">
              <mc:Choice xmlns:v="urn:schemas-microsoft-com:vml" Requires="v">
                <p:oleObj spid="_x0000_s41032" name="" r:id="rId15" imgW="1015365" imgH="533400" progId="Equation.DSMT4">
                  <p:embed/>
                </p:oleObj>
              </mc:Choice>
              <mc:Fallback>
                <p:oleObj name="" r:id="rId15" imgW="1015365" imgH="533400" progId="Equation.DSMT4">
                  <p:embed/>
                  <p:pic>
                    <p:nvPicPr>
                      <p:cNvPr id="0" name="对象 140311"/>
                      <p:cNvPicPr>
                        <a:picLocks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6503988" y="4162425"/>
                        <a:ext cx="2041525" cy="1068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94229" name="矩形 140314"/>
          <p:cNvSpPr>
            <a:spLocks noChangeArrowheads="1"/>
          </p:cNvSpPr>
          <p:nvPr/>
        </p:nvSpPr>
        <p:spPr bwMode="auto">
          <a:xfrm>
            <a:off x="0" y="315753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graphicFrame>
        <p:nvGraphicFramePr>
          <p:cNvPr id="94230" name="对象 140313"/>
          <p:cNvGraphicFramePr/>
          <p:nvPr/>
        </p:nvGraphicFramePr>
        <p:xfrm>
          <a:off x="6575425" y="5386388"/>
          <a:ext cx="2041525" cy="1069975"/>
        </p:xfrm>
        <a:graphic>
          <a:graphicData uri="http://schemas.openxmlformats.org/presentationml/2006/ole">
            <mc:AlternateContent xmlns:mc="http://schemas.openxmlformats.org/markup-compatibility/2006">
              <mc:Choice xmlns:v="urn:schemas-microsoft-com:vml" Requires="v">
                <p:oleObj spid="_x0000_s41033" name="" r:id="rId17" imgW="1015365" imgH="533400" progId="Equation.DSMT4">
                  <p:embed/>
                </p:oleObj>
              </mc:Choice>
              <mc:Fallback>
                <p:oleObj name="" r:id="rId17" imgW="1015365" imgH="533400" progId="Equation.DSMT4">
                  <p:embed/>
                  <p:pic>
                    <p:nvPicPr>
                      <p:cNvPr id="0" name="对象 140313"/>
                      <p:cNvPicPr>
                        <a:picLocks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6575425" y="5386388"/>
                        <a:ext cx="2041525" cy="1069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94231" name="矩形 140315"/>
          <p:cNvSpPr>
            <a:spLocks noChangeArrowheads="1"/>
          </p:cNvSpPr>
          <p:nvPr/>
        </p:nvSpPr>
        <p:spPr bwMode="auto">
          <a:xfrm>
            <a:off x="6443663" y="3213100"/>
            <a:ext cx="2449512" cy="3311525"/>
          </a:xfrm>
          <a:prstGeom prst="rect">
            <a:avLst/>
          </a:prstGeom>
          <a:noFill/>
          <a:ln w="25400">
            <a:solidFill>
              <a:srgbClr val="FF0000"/>
            </a:solidFill>
            <a:miter lim="800000"/>
          </a:ln>
          <a:extLst>
            <a:ext uri="{909E8E84-426E-40DD-AFC4-6F175D3DCCD1}">
              <a14:hiddenFill xmlns:a14="http://schemas.microsoft.com/office/drawing/2010/main">
                <a:solidFill>
                  <a:srgbClr val="FFFFFF"/>
                </a:solidFill>
              </a14:hiddenFill>
            </a:ext>
          </a:extLst>
        </p:spPr>
        <p:txBody>
          <a:bodyPr/>
          <a:lstStyle/>
          <a:p>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3" name="矩形 142345"/>
          <p:cNvSpPr>
            <a:spLocks noChangeArrowheads="1"/>
          </p:cNvSpPr>
          <p:nvPr/>
        </p:nvSpPr>
        <p:spPr bwMode="auto">
          <a:xfrm>
            <a:off x="395288" y="4008438"/>
            <a:ext cx="8064500" cy="2227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r>
              <a:rPr lang="zh-CN" altLang="en-US" sz="2800" b="1" dirty="0">
                <a:latin typeface="Times New Roman" panose="02020603050405020304" pitchFamily="18" charset="0"/>
                <a:ea typeface="黑体" panose="02010609060101010101" pitchFamily="49" charset="-122"/>
                <a:cs typeface="Times New Roman" panose="02020603050405020304" pitchFamily="18" charset="0"/>
              </a:rPr>
              <a:t>这些比值仅与气体的</a:t>
            </a:r>
            <a:r>
              <a:rPr lang="en-US" altLang="zh-CN" sz="2800" b="1" i="1" dirty="0">
                <a:latin typeface="Times New Roman" panose="02020603050405020304" pitchFamily="18" charset="0"/>
                <a:ea typeface="黑体" panose="02010609060101010101" pitchFamily="49" charset="-122"/>
                <a:cs typeface="Times New Roman" panose="02020603050405020304" pitchFamily="18" charset="0"/>
              </a:rPr>
              <a:t>κ</a:t>
            </a:r>
            <a:r>
              <a:rPr lang="zh-CN" altLang="en-US" sz="2800" b="1" dirty="0">
                <a:latin typeface="Times New Roman" panose="02020603050405020304" pitchFamily="18" charset="0"/>
                <a:ea typeface="黑体" panose="02010609060101010101" pitchFamily="49" charset="-122"/>
                <a:cs typeface="Times New Roman" panose="02020603050405020304" pitchFamily="18" charset="0"/>
              </a:rPr>
              <a:t>有关。对于理想气体，假设比热容为定值，则根据附表可以查取每种气体的</a:t>
            </a:r>
            <a:r>
              <a:rPr lang="en-US" altLang="zh-CN" sz="2800" b="1" i="1" dirty="0">
                <a:latin typeface="Times New Roman" panose="02020603050405020304" pitchFamily="18" charset="0"/>
                <a:ea typeface="黑体" panose="02010609060101010101" pitchFamily="49" charset="-122"/>
                <a:cs typeface="Times New Roman" panose="02020603050405020304" pitchFamily="18" charset="0"/>
              </a:rPr>
              <a:t>κ</a:t>
            </a:r>
            <a:r>
              <a:rPr lang="en-US" altLang="zh-CN" sz="2800" b="1" dirty="0">
                <a:latin typeface="Times New Roman" panose="02020603050405020304" pitchFamily="18" charset="0"/>
                <a:ea typeface="黑体" panose="02010609060101010101" pitchFamily="49" charset="-122"/>
                <a:cs typeface="Times New Roman" panose="02020603050405020304" pitchFamily="18" charset="0"/>
              </a:rPr>
              <a:t> </a:t>
            </a:r>
            <a:r>
              <a:rPr lang="zh-CN" altLang="en-US" sz="2800" b="1" dirty="0">
                <a:latin typeface="Times New Roman" panose="02020603050405020304" pitchFamily="18" charset="0"/>
                <a:ea typeface="黑体" panose="02010609060101010101" pitchFamily="49" charset="-122"/>
                <a:cs typeface="Times New Roman" panose="02020603050405020304" pitchFamily="18" charset="0"/>
              </a:rPr>
              <a:t>（</a:t>
            </a:r>
            <a:r>
              <a:rPr lang="en-US" altLang="zh-CN" sz="2800" b="1" dirty="0">
                <a:latin typeface="Times New Roman" panose="02020603050405020304" pitchFamily="18" charset="0"/>
                <a:ea typeface="黑体" panose="02010609060101010101" pitchFamily="49" charset="-122"/>
                <a:cs typeface="Times New Roman" panose="02020603050405020304" pitchFamily="18" charset="0"/>
              </a:rPr>
              <a:t>=</a:t>
            </a:r>
            <a:r>
              <a:rPr lang="el-GR" altLang="zh-CN" sz="2800" b="1" i="1" dirty="0">
                <a:latin typeface="Times New Roman" panose="02020603050405020304" pitchFamily="18" charset="0"/>
                <a:ea typeface="黑体" panose="02010609060101010101" pitchFamily="49" charset="-122"/>
                <a:cs typeface="Times New Roman" panose="02020603050405020304" pitchFamily="18" charset="0"/>
              </a:rPr>
              <a:t>γ</a:t>
            </a:r>
            <a:r>
              <a:rPr lang="zh-CN" altLang="el-GR" sz="2800" b="1" dirty="0">
                <a:latin typeface="Times New Roman" panose="02020603050405020304" pitchFamily="18" charset="0"/>
                <a:ea typeface="黑体" panose="02010609060101010101" pitchFamily="49" charset="-122"/>
                <a:cs typeface="Times New Roman" panose="02020603050405020304" pitchFamily="18" charset="0"/>
              </a:rPr>
              <a:t>）</a:t>
            </a:r>
            <a:r>
              <a:rPr lang="zh-CN" altLang="en-US" sz="2800" b="1" dirty="0">
                <a:latin typeface="Times New Roman" panose="02020603050405020304" pitchFamily="18" charset="0"/>
                <a:ea typeface="黑体" panose="02010609060101010101" pitchFamily="49" charset="-122"/>
                <a:cs typeface="Times New Roman" panose="02020603050405020304" pitchFamily="18" charset="0"/>
              </a:rPr>
              <a:t>值，代入以上三式中可得到相应的临界参数比。 </a:t>
            </a:r>
            <a:endParaRPr lang="zh-CN" altLang="en-US" sz="2800" b="1" dirty="0">
              <a:latin typeface="Times New Roman" panose="02020603050405020304" pitchFamily="18" charset="0"/>
              <a:ea typeface="黑体" panose="02010609060101010101" pitchFamily="49" charset="-122"/>
              <a:cs typeface="Times New Roman" panose="02020603050405020304" pitchFamily="18" charset="0"/>
            </a:endParaRPr>
          </a:p>
          <a:p>
            <a:endParaRPr lang="el-GR" altLang="zh-CN" sz="2800" b="1" dirty="0">
              <a:latin typeface="Times New Roman" panose="02020603050405020304" pitchFamily="18" charset="0"/>
              <a:cs typeface="Times New Roman" panose="02020603050405020304" pitchFamily="18" charset="0"/>
            </a:endParaRPr>
          </a:p>
        </p:txBody>
      </p:sp>
      <p:sp>
        <p:nvSpPr>
          <p:cNvPr id="95234" name="矩形 142349"/>
          <p:cNvSpPr>
            <a:spLocks noChangeArrowheads="1"/>
          </p:cNvSpPr>
          <p:nvPr/>
        </p:nvSpPr>
        <p:spPr bwMode="auto">
          <a:xfrm>
            <a:off x="4932363" y="549275"/>
            <a:ext cx="1970087"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2800" b="1" dirty="0">
                <a:solidFill>
                  <a:srgbClr val="FF0000"/>
                </a:solidFill>
                <a:latin typeface="黑体" panose="02010609060101010101" pitchFamily="49" charset="-122"/>
                <a:ea typeface="黑体" panose="02010609060101010101" pitchFamily="49" charset="-122"/>
              </a:rPr>
              <a:t>临界温度比</a:t>
            </a:r>
            <a:endParaRPr lang="zh-CN" altLang="en-US" sz="2800" b="1" dirty="0">
              <a:solidFill>
                <a:srgbClr val="FF0000"/>
              </a:solidFill>
              <a:latin typeface="黑体" panose="02010609060101010101" pitchFamily="49" charset="-122"/>
              <a:ea typeface="黑体" panose="02010609060101010101" pitchFamily="49" charset="-122"/>
              <a:cs typeface="Times New Roman" panose="02020603050405020304" pitchFamily="18" charset="0"/>
            </a:endParaRPr>
          </a:p>
        </p:txBody>
      </p:sp>
      <p:sp>
        <p:nvSpPr>
          <p:cNvPr id="95235" name="矩形 142351"/>
          <p:cNvSpPr>
            <a:spLocks noChangeArrowheads="1"/>
          </p:cNvSpPr>
          <p:nvPr/>
        </p:nvSpPr>
        <p:spPr bwMode="auto">
          <a:xfrm>
            <a:off x="5005388" y="1701800"/>
            <a:ext cx="1970087"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2800" b="1" dirty="0">
                <a:solidFill>
                  <a:srgbClr val="FF0000"/>
                </a:solidFill>
                <a:latin typeface="黑体" panose="02010609060101010101" pitchFamily="49" charset="-122"/>
                <a:ea typeface="黑体" panose="02010609060101010101" pitchFamily="49" charset="-122"/>
              </a:rPr>
              <a:t>临界压力比</a:t>
            </a:r>
            <a:endParaRPr lang="zh-CN" altLang="en-US" sz="2800" b="1" dirty="0">
              <a:solidFill>
                <a:srgbClr val="FF0000"/>
              </a:solidFill>
              <a:latin typeface="黑体" panose="02010609060101010101" pitchFamily="49" charset="-122"/>
              <a:ea typeface="黑体" panose="02010609060101010101" pitchFamily="49" charset="-122"/>
              <a:cs typeface="Times New Roman" panose="02020603050405020304" pitchFamily="18" charset="0"/>
            </a:endParaRPr>
          </a:p>
        </p:txBody>
      </p:sp>
      <p:sp>
        <p:nvSpPr>
          <p:cNvPr id="95236" name="矩形 142353"/>
          <p:cNvSpPr>
            <a:spLocks noChangeArrowheads="1"/>
          </p:cNvSpPr>
          <p:nvPr/>
        </p:nvSpPr>
        <p:spPr bwMode="auto">
          <a:xfrm>
            <a:off x="5005388" y="2925763"/>
            <a:ext cx="1970087"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2800" b="1" dirty="0">
                <a:solidFill>
                  <a:srgbClr val="FF0000"/>
                </a:solidFill>
                <a:latin typeface="黑体" panose="02010609060101010101" pitchFamily="49" charset="-122"/>
                <a:ea typeface="黑体" panose="02010609060101010101" pitchFamily="49" charset="-122"/>
              </a:rPr>
              <a:t>临界密度比</a:t>
            </a:r>
            <a:endParaRPr lang="zh-CN" altLang="en-US" sz="2800" b="1" dirty="0">
              <a:solidFill>
                <a:srgbClr val="FF0000"/>
              </a:solidFill>
              <a:latin typeface="黑体" panose="02010609060101010101" pitchFamily="49" charset="-122"/>
              <a:ea typeface="黑体" panose="02010609060101010101" pitchFamily="49" charset="-122"/>
              <a:cs typeface="Times New Roman" panose="02020603050405020304" pitchFamily="18" charset="0"/>
            </a:endParaRPr>
          </a:p>
        </p:txBody>
      </p:sp>
      <p:graphicFrame>
        <p:nvGraphicFramePr>
          <p:cNvPr id="95237" name="对象 142354"/>
          <p:cNvGraphicFramePr/>
          <p:nvPr/>
        </p:nvGraphicFramePr>
        <p:xfrm>
          <a:off x="2554288" y="404813"/>
          <a:ext cx="1512887" cy="958850"/>
        </p:xfrm>
        <a:graphic>
          <a:graphicData uri="http://schemas.openxmlformats.org/presentationml/2006/ole">
            <mc:AlternateContent xmlns:mc="http://schemas.openxmlformats.org/markup-compatibility/2006">
              <mc:Choice xmlns:v="urn:schemas-microsoft-com:vml" Requires="v">
                <p:oleObj spid="_x0000_s42007" name="" r:id="rId1" imgW="673100" imgH="431800" progId="Equation.DSMT4">
                  <p:embed/>
                </p:oleObj>
              </mc:Choice>
              <mc:Fallback>
                <p:oleObj name="" r:id="rId1" imgW="673100" imgH="431800" progId="Equation.DSMT4">
                  <p:embed/>
                  <p:pic>
                    <p:nvPicPr>
                      <p:cNvPr id="0" name="对象 142354"/>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54288" y="404813"/>
                        <a:ext cx="1512887" cy="958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95238" name="对象 142355"/>
          <p:cNvGraphicFramePr/>
          <p:nvPr/>
        </p:nvGraphicFramePr>
        <p:xfrm>
          <a:off x="2484438" y="1341438"/>
          <a:ext cx="2041525" cy="1068387"/>
        </p:xfrm>
        <a:graphic>
          <a:graphicData uri="http://schemas.openxmlformats.org/presentationml/2006/ole">
            <mc:AlternateContent xmlns:mc="http://schemas.openxmlformats.org/markup-compatibility/2006">
              <mc:Choice xmlns:v="urn:schemas-microsoft-com:vml" Requires="v">
                <p:oleObj spid="_x0000_s42008" name="" r:id="rId3" imgW="1015365" imgH="533400" progId="Equation.DSMT4">
                  <p:embed/>
                </p:oleObj>
              </mc:Choice>
              <mc:Fallback>
                <p:oleObj name="" r:id="rId3" imgW="1015365" imgH="533400" progId="Equation.DSMT4">
                  <p:embed/>
                  <p:pic>
                    <p:nvPicPr>
                      <p:cNvPr id="0" name="对象 142355"/>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484438" y="1341438"/>
                        <a:ext cx="2041525" cy="1068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95239" name="对象 142356"/>
          <p:cNvGraphicFramePr/>
          <p:nvPr/>
        </p:nvGraphicFramePr>
        <p:xfrm>
          <a:off x="2541588" y="2578100"/>
          <a:ext cx="2041525" cy="1069975"/>
        </p:xfrm>
        <a:graphic>
          <a:graphicData uri="http://schemas.openxmlformats.org/presentationml/2006/ole">
            <mc:AlternateContent xmlns:mc="http://schemas.openxmlformats.org/markup-compatibility/2006">
              <mc:Choice xmlns:v="urn:schemas-microsoft-com:vml" Requires="v">
                <p:oleObj spid="_x0000_s42009" name="" r:id="rId5" imgW="1015365" imgH="533400" progId="Equation.DSMT4">
                  <p:embed/>
                </p:oleObj>
              </mc:Choice>
              <mc:Fallback>
                <p:oleObj name="" r:id="rId5" imgW="1015365" imgH="533400" progId="Equation.DSMT4">
                  <p:embed/>
                  <p:pic>
                    <p:nvPicPr>
                      <p:cNvPr id="0" name="对象 142356"/>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541588" y="2578100"/>
                        <a:ext cx="2041525" cy="1069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95240" name="矩形 142357"/>
          <p:cNvSpPr>
            <a:spLocks noChangeArrowheads="1"/>
          </p:cNvSpPr>
          <p:nvPr/>
        </p:nvSpPr>
        <p:spPr bwMode="auto">
          <a:xfrm>
            <a:off x="2409825" y="404813"/>
            <a:ext cx="2449513" cy="3311525"/>
          </a:xfrm>
          <a:prstGeom prst="rect">
            <a:avLst/>
          </a:prstGeom>
          <a:noFill/>
          <a:ln w="25400">
            <a:solidFill>
              <a:srgbClr val="FF0000"/>
            </a:solidFill>
            <a:miter lim="800000"/>
          </a:ln>
          <a:extLst>
            <a:ext uri="{909E8E84-426E-40DD-AFC4-6F175D3DCCD1}">
              <a14:hiddenFill xmlns:a14="http://schemas.microsoft.com/office/drawing/2010/main">
                <a:solidFill>
                  <a:srgbClr val="FFFFFF"/>
                </a:solidFill>
              </a14:hiddenFill>
            </a:ext>
          </a:extLst>
        </p:spPr>
        <p:txBody>
          <a:bodyPr/>
          <a:lstStyle/>
          <a:p>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7" name="矩形 51205"/>
          <p:cNvSpPr>
            <a:spLocks noChangeArrowheads="1"/>
          </p:cNvSpPr>
          <p:nvPr/>
        </p:nvSpPr>
        <p:spPr bwMode="auto">
          <a:xfrm>
            <a:off x="526497" y="330776"/>
            <a:ext cx="30861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sz="2800" b="1" dirty="0">
                <a:latin typeface="黑体" panose="02010609060101010101" pitchFamily="49" charset="-122"/>
                <a:ea typeface="黑体" panose="02010609060101010101" pitchFamily="49" charset="-122"/>
              </a:rPr>
              <a:t>临界压力比：</a:t>
            </a:r>
            <a:endParaRPr lang="zh-CN" altLang="en-US" sz="2800" b="1" dirty="0">
              <a:latin typeface="黑体" panose="02010609060101010101" pitchFamily="49" charset="-122"/>
              <a:ea typeface="黑体" panose="02010609060101010101" pitchFamily="49" charset="-122"/>
            </a:endParaRPr>
          </a:p>
        </p:txBody>
      </p:sp>
      <p:sp>
        <p:nvSpPr>
          <p:cNvPr id="96258" name="矩形 51209"/>
          <p:cNvSpPr>
            <a:spLocks noChangeArrowheads="1"/>
          </p:cNvSpPr>
          <p:nvPr/>
        </p:nvSpPr>
        <p:spPr bwMode="auto">
          <a:xfrm>
            <a:off x="3194465" y="4545772"/>
            <a:ext cx="3159028" cy="1569660"/>
          </a:xfrm>
          <a:prstGeom prst="rect">
            <a:avLst/>
          </a:prstGeom>
          <a:noFill/>
          <a:ln w="25400">
            <a:solidFill>
              <a:srgbClr val="FF0000"/>
            </a:solidFill>
            <a:miter lim="800000"/>
          </a:ln>
          <a:extLst>
            <a:ext uri="{909E8E84-426E-40DD-AFC4-6F175D3DCCD1}">
              <a14:hiddenFill xmlns:a14="http://schemas.microsoft.com/office/drawing/2010/main">
                <a:solidFill>
                  <a:srgbClr val="FFFFFF"/>
                </a:solidFill>
              </a14:hiddenFill>
            </a:ext>
          </a:extLst>
        </p:spPr>
        <p:txBody>
          <a:bodyPr wrap="square">
            <a:spAutoFit/>
          </a:bodyPr>
          <a:lstStyle/>
          <a:p>
            <a:pPr>
              <a:spcBef>
                <a:spcPct val="50000"/>
              </a:spcBef>
              <a:buClr>
                <a:schemeClr val="folHlink"/>
              </a:buClr>
              <a:buSzPct val="60000"/>
              <a:buFont typeface="Wingdings" panose="05000000000000000000" pitchFamily="2" charset="2"/>
              <a:buNone/>
            </a:pPr>
            <a:r>
              <a:rPr lang="zh-CN" altLang="en-US" sz="2400" dirty="0">
                <a:latin typeface="黑体" panose="02010609060101010101" pitchFamily="49" charset="-122"/>
                <a:ea typeface="黑体" panose="02010609060101010101" pitchFamily="49" charset="-122"/>
              </a:rPr>
              <a:t>双原子</a:t>
            </a:r>
            <a:r>
              <a:rPr lang="zh-CN" altLang="en-US" sz="2400" dirty="0" smtClean="0">
                <a:latin typeface="黑体" panose="02010609060101010101" pitchFamily="49" charset="-122"/>
                <a:ea typeface="黑体" panose="02010609060101010101" pitchFamily="49" charset="-122"/>
              </a:rPr>
              <a:t>气体（空气）：</a:t>
            </a:r>
            <a:endParaRPr lang="zh-CN" altLang="en-US" sz="2400" dirty="0">
              <a:latin typeface="黑体" panose="02010609060101010101" pitchFamily="49" charset="-122"/>
              <a:ea typeface="黑体" panose="02010609060101010101" pitchFamily="49" charset="-122"/>
            </a:endParaRPr>
          </a:p>
          <a:p>
            <a:pPr>
              <a:spcBef>
                <a:spcPct val="50000"/>
              </a:spcBef>
              <a:buClr>
                <a:schemeClr val="folHlink"/>
              </a:buClr>
              <a:buSzPct val="60000"/>
              <a:buFont typeface="Wingdings" panose="05000000000000000000" pitchFamily="2" charset="2"/>
              <a:buNone/>
            </a:pPr>
            <a:endParaRPr lang="zh-CN" altLang="en-US" sz="2400" dirty="0">
              <a:latin typeface="Tahoma" panose="020B0604030504040204" pitchFamily="34" charset="0"/>
            </a:endParaRPr>
          </a:p>
          <a:p>
            <a:pPr>
              <a:spcBef>
                <a:spcPct val="50000"/>
              </a:spcBef>
              <a:buClr>
                <a:schemeClr val="folHlink"/>
              </a:buClr>
              <a:buSzPct val="60000"/>
              <a:buFont typeface="Wingdings" panose="05000000000000000000" pitchFamily="2" charset="2"/>
              <a:buNone/>
            </a:pPr>
            <a:r>
              <a:rPr lang="zh-CN" altLang="en-US" sz="2400" dirty="0">
                <a:latin typeface="Tahoma" panose="020B0604030504040204" pitchFamily="34" charset="0"/>
              </a:rPr>
              <a:t> </a:t>
            </a:r>
            <a:endParaRPr lang="zh-CN" altLang="en-US" sz="2400" dirty="0">
              <a:latin typeface="Tahoma" panose="020B0604030504040204" pitchFamily="34" charset="0"/>
              <a:cs typeface="Times New Roman" panose="02020603050405020304" pitchFamily="18" charset="0"/>
            </a:endParaRPr>
          </a:p>
        </p:txBody>
      </p:sp>
      <p:graphicFrame>
        <p:nvGraphicFramePr>
          <p:cNvPr id="96259" name="对象 51212"/>
          <p:cNvGraphicFramePr>
            <a:graphicFrameLocks noChangeAspect="1"/>
          </p:cNvGraphicFramePr>
          <p:nvPr/>
        </p:nvGraphicFramePr>
        <p:xfrm>
          <a:off x="3052925" y="1103095"/>
          <a:ext cx="3300568" cy="1332923"/>
        </p:xfrm>
        <a:graphic>
          <a:graphicData uri="http://schemas.openxmlformats.org/presentationml/2006/ole">
            <mc:AlternateContent xmlns:mc="http://schemas.openxmlformats.org/markup-compatibility/2006">
              <mc:Choice xmlns:v="urn:schemas-microsoft-com:vml" Requires="v">
                <p:oleObj spid="_x0000_s43031" name="" r:id="rId1" imgW="1320165" imgH="533400" progId="Equation.DSMT4">
                  <p:embed/>
                </p:oleObj>
              </mc:Choice>
              <mc:Fallback>
                <p:oleObj name="" r:id="rId1" imgW="1320165" imgH="533400" progId="Equation.DSMT4">
                  <p:embed/>
                  <p:pic>
                    <p:nvPicPr>
                      <p:cNvPr id="0" name="对象 51212"/>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52925" y="1103095"/>
                        <a:ext cx="3300568" cy="13329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96260" name="矩形 51213"/>
          <p:cNvSpPr>
            <a:spLocks noChangeArrowheads="1"/>
          </p:cNvSpPr>
          <p:nvPr/>
        </p:nvSpPr>
        <p:spPr bwMode="auto">
          <a:xfrm>
            <a:off x="526497" y="2689224"/>
            <a:ext cx="8353425" cy="13849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r>
              <a:rPr lang="zh-CN" altLang="en-US" sz="2800" b="1" dirty="0">
                <a:latin typeface="黑体" panose="02010609060101010101" pitchFamily="49" charset="-122"/>
                <a:ea typeface="黑体" panose="02010609060101010101" pitchFamily="49" charset="-122"/>
              </a:rPr>
              <a:t>它等于气流速度达到当地声速（即马赫数等于</a:t>
            </a:r>
            <a:r>
              <a:rPr lang="en-US" altLang="zh-CN" sz="2800" b="1" dirty="0">
                <a:latin typeface="黑体" panose="02010609060101010101" pitchFamily="49" charset="-122"/>
                <a:ea typeface="黑体" panose="02010609060101010101" pitchFamily="49" charset="-122"/>
              </a:rPr>
              <a:t>1</a:t>
            </a:r>
            <a:r>
              <a:rPr lang="zh-CN" altLang="en-US" sz="2800" b="1" dirty="0">
                <a:latin typeface="黑体" panose="02010609060101010101" pitchFamily="49" charset="-122"/>
                <a:ea typeface="黑体" panose="02010609060101010101" pitchFamily="49" charset="-122"/>
              </a:rPr>
              <a:t>）时气流的压力与滞止压力之比，它是分析喷管内流动过程的一个非常重要的</a:t>
            </a:r>
            <a:r>
              <a:rPr lang="zh-CN" altLang="en-US" sz="2800" b="1" dirty="0" smtClean="0">
                <a:latin typeface="黑体" panose="02010609060101010101" pitchFamily="49" charset="-122"/>
                <a:ea typeface="黑体" panose="02010609060101010101" pitchFamily="49" charset="-122"/>
              </a:rPr>
              <a:t>物理量</a:t>
            </a:r>
            <a:endParaRPr lang="zh-CN" altLang="en-US" sz="2800" b="1" dirty="0">
              <a:latin typeface="黑体" panose="02010609060101010101" pitchFamily="49" charset="-122"/>
              <a:ea typeface="黑体" panose="02010609060101010101" pitchFamily="49" charset="-122"/>
            </a:endParaRPr>
          </a:p>
        </p:txBody>
      </p:sp>
      <p:graphicFrame>
        <p:nvGraphicFramePr>
          <p:cNvPr id="96261" name="对象 51214"/>
          <p:cNvGraphicFramePr/>
          <p:nvPr/>
        </p:nvGraphicFramePr>
        <p:xfrm>
          <a:off x="3309525" y="5558392"/>
          <a:ext cx="1584325" cy="519112"/>
        </p:xfrm>
        <a:graphic>
          <a:graphicData uri="http://schemas.openxmlformats.org/presentationml/2006/ole">
            <mc:AlternateContent xmlns:mc="http://schemas.openxmlformats.org/markup-compatibility/2006">
              <mc:Choice xmlns:v="urn:schemas-microsoft-com:vml" Requires="v">
                <p:oleObj spid="_x0000_s43032" name="" r:id="rId3" imgW="698500" imgH="228600" progId="Equation.DSMT4">
                  <p:embed/>
                </p:oleObj>
              </mc:Choice>
              <mc:Fallback>
                <p:oleObj name="" r:id="rId3" imgW="698500" imgH="228600" progId="Equation.DSMT4">
                  <p:embed/>
                  <p:pic>
                    <p:nvPicPr>
                      <p:cNvPr id="0" name="对象 51214"/>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309525" y="5558392"/>
                        <a:ext cx="1584325"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96262" name="对象 51216"/>
          <p:cNvGraphicFramePr/>
          <p:nvPr/>
        </p:nvGraphicFramePr>
        <p:xfrm>
          <a:off x="3309525" y="5115652"/>
          <a:ext cx="1065212" cy="404813"/>
        </p:xfrm>
        <a:graphic>
          <a:graphicData uri="http://schemas.openxmlformats.org/presentationml/2006/ole">
            <mc:AlternateContent xmlns:mc="http://schemas.openxmlformats.org/markup-compatibility/2006">
              <mc:Choice xmlns:v="urn:schemas-microsoft-com:vml" Requires="v">
                <p:oleObj spid="_x0000_s43033" name="" r:id="rId5" imgW="469265" imgH="177800" progId="Equation.DSMT4">
                  <p:embed/>
                </p:oleObj>
              </mc:Choice>
              <mc:Fallback>
                <p:oleObj name="" r:id="rId5" imgW="469265" imgH="177800" progId="Equation.DSMT4">
                  <p:embed/>
                  <p:pic>
                    <p:nvPicPr>
                      <p:cNvPr id="0" name="对象 51216"/>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309525" y="5115652"/>
                        <a:ext cx="1065212" cy="404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Tree>
    <p:custDataLst>
      <p:tags r:id="rId7"/>
    </p:custData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625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96261"/>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9626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6258" grpId="0" animBg="1"/>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1" name="矩形 53251"/>
          <p:cNvSpPr>
            <a:spLocks noChangeArrowheads="1"/>
          </p:cNvSpPr>
          <p:nvPr/>
        </p:nvSpPr>
        <p:spPr bwMode="auto">
          <a:xfrm>
            <a:off x="340761" y="2977789"/>
            <a:ext cx="6048375"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sz="3200" b="1" dirty="0">
                <a:latin typeface="黑体" panose="02010609060101010101" pitchFamily="49" charset="-122"/>
                <a:ea typeface="黑体" panose="02010609060101010101" pitchFamily="49" charset="-122"/>
              </a:rPr>
              <a:t>临界</a:t>
            </a:r>
            <a:r>
              <a:rPr lang="zh-CN" altLang="en-US" sz="3200" b="1" dirty="0" smtClean="0">
                <a:latin typeface="黑体" panose="02010609060101010101" pitchFamily="49" charset="-122"/>
                <a:ea typeface="黑体" panose="02010609060101010101" pitchFamily="49" charset="-122"/>
              </a:rPr>
              <a:t>流速</a:t>
            </a:r>
            <a:r>
              <a:rPr lang="en-US" altLang="zh-CN" sz="3200" b="1" dirty="0" smtClean="0">
                <a:latin typeface="黑体" panose="02010609060101010101" pitchFamily="49" charset="-122"/>
                <a:ea typeface="黑体" panose="02010609060101010101" pitchFamily="49" charset="-122"/>
              </a:rPr>
              <a:t>(</a:t>
            </a:r>
            <a:r>
              <a:rPr lang="zh-CN" altLang="en-US" sz="3200" b="1" dirty="0" smtClean="0">
                <a:latin typeface="黑体" panose="02010609060101010101" pitchFamily="49" charset="-122"/>
                <a:ea typeface="黑体" panose="02010609060101010101" pitchFamily="49" charset="-122"/>
              </a:rPr>
              <a:t>此时马赫数为</a:t>
            </a:r>
            <a:r>
              <a:rPr lang="en-US" altLang="zh-CN" sz="3200" b="1" dirty="0" smtClean="0">
                <a:latin typeface="黑体" panose="02010609060101010101" pitchFamily="49" charset="-122"/>
                <a:ea typeface="黑体" panose="02010609060101010101" pitchFamily="49" charset="-122"/>
              </a:rPr>
              <a:t>1):</a:t>
            </a:r>
            <a:endParaRPr lang="zh-CN" altLang="en-US" sz="3200" b="1" dirty="0">
              <a:latin typeface="黑体" panose="02010609060101010101" pitchFamily="49" charset="-122"/>
              <a:ea typeface="黑体" panose="02010609060101010101" pitchFamily="49" charset="-122"/>
            </a:endParaRPr>
          </a:p>
        </p:txBody>
      </p:sp>
      <p:sp>
        <p:nvSpPr>
          <p:cNvPr id="97282" name="矩形 53254"/>
          <p:cNvSpPr>
            <a:spLocks noChangeArrowheads="1"/>
          </p:cNvSpPr>
          <p:nvPr/>
        </p:nvSpPr>
        <p:spPr bwMode="auto">
          <a:xfrm>
            <a:off x="815975" y="5432633"/>
            <a:ext cx="7705725"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sz="3200" b="1" dirty="0">
                <a:latin typeface="黑体" panose="02010609060101010101" pitchFamily="49" charset="-122"/>
                <a:ea typeface="黑体" panose="02010609060101010101" pitchFamily="49" charset="-122"/>
              </a:rPr>
              <a:t>理想气体的临界流速只取决于滞止参数</a:t>
            </a:r>
            <a:endParaRPr lang="zh-CN" altLang="en-US" sz="3200" b="1" dirty="0">
              <a:latin typeface="黑体" panose="02010609060101010101" pitchFamily="49" charset="-122"/>
              <a:ea typeface="黑体" panose="02010609060101010101" pitchFamily="49" charset="-122"/>
            </a:endParaRPr>
          </a:p>
        </p:txBody>
      </p:sp>
      <p:sp>
        <p:nvSpPr>
          <p:cNvPr id="97284" name="矩形 53267"/>
          <p:cNvSpPr>
            <a:spLocks noChangeArrowheads="1"/>
          </p:cNvSpPr>
          <p:nvPr/>
        </p:nvSpPr>
        <p:spPr bwMode="auto">
          <a:xfrm>
            <a:off x="0" y="319563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graphicFrame>
        <p:nvGraphicFramePr>
          <p:cNvPr id="97286" name="对象 53268"/>
          <p:cNvGraphicFramePr/>
          <p:nvPr/>
        </p:nvGraphicFramePr>
        <p:xfrm>
          <a:off x="664610" y="3797376"/>
          <a:ext cx="5400675" cy="1225550"/>
        </p:xfrm>
        <a:graphic>
          <a:graphicData uri="http://schemas.openxmlformats.org/presentationml/2006/ole">
            <mc:AlternateContent xmlns:mc="http://schemas.openxmlformats.org/markup-compatibility/2006">
              <mc:Choice xmlns:v="urn:schemas-microsoft-com:vml" Requires="v">
                <p:oleObj spid="_x0000_s44055" name="" r:id="rId1" imgW="1968500" imgH="444500" progId="Equation.DSMT4">
                  <p:embed/>
                </p:oleObj>
              </mc:Choice>
              <mc:Fallback>
                <p:oleObj name="" r:id="rId1" imgW="1968500" imgH="444500" progId="Equation.DSMT4">
                  <p:embed/>
                  <p:pic>
                    <p:nvPicPr>
                      <p:cNvPr id="0" name="对象 53268"/>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64610" y="3797376"/>
                        <a:ext cx="5400675" cy="1225550"/>
                      </a:xfrm>
                      <a:prstGeom prst="rect">
                        <a:avLst/>
                      </a:prstGeom>
                      <a:noFill/>
                      <a:ln w="25400">
                        <a:solidFill>
                          <a:srgbClr val="FF0000"/>
                        </a:solidFill>
                      </a:ln>
                    </p:spPr>
                  </p:pic>
                </p:oleObj>
              </mc:Fallback>
            </mc:AlternateContent>
          </a:graphicData>
        </a:graphic>
      </p:graphicFrame>
      <p:graphicFrame>
        <p:nvGraphicFramePr>
          <p:cNvPr id="10" name="对象 49156"/>
          <p:cNvGraphicFramePr/>
          <p:nvPr/>
        </p:nvGraphicFramePr>
        <p:xfrm>
          <a:off x="576302" y="179088"/>
          <a:ext cx="5003800" cy="2008187"/>
        </p:xfrm>
        <a:graphic>
          <a:graphicData uri="http://schemas.openxmlformats.org/presentationml/2006/ole">
            <mc:AlternateContent xmlns:mc="http://schemas.openxmlformats.org/markup-compatibility/2006">
              <mc:Choice xmlns:v="urn:schemas-microsoft-com:vml" Requires="v">
                <p:oleObj spid="_x0000_s44056" name="" r:id="rId3" imgW="1202055" imgH="482600" progId="Equation.DSMT4">
                  <p:embed/>
                </p:oleObj>
              </mc:Choice>
              <mc:Fallback>
                <p:oleObj name="" r:id="rId3" imgW="1202055" imgH="482600" progId="Equation.DSMT4">
                  <p:embed/>
                  <p:pic>
                    <p:nvPicPr>
                      <p:cNvPr id="0" name="对象 49156"/>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76302" y="179088"/>
                        <a:ext cx="5003800" cy="2008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11" name="对象 51212"/>
          <p:cNvGraphicFramePr>
            <a:graphicFrameLocks noChangeAspect="1"/>
          </p:cNvGraphicFramePr>
          <p:nvPr/>
        </p:nvGraphicFramePr>
        <p:xfrm>
          <a:off x="4977424" y="1738662"/>
          <a:ext cx="3300568" cy="1332923"/>
        </p:xfrm>
        <a:graphic>
          <a:graphicData uri="http://schemas.openxmlformats.org/presentationml/2006/ole">
            <mc:AlternateContent xmlns:mc="http://schemas.openxmlformats.org/markup-compatibility/2006">
              <mc:Choice xmlns:v="urn:schemas-microsoft-com:vml" Requires="v">
                <p:oleObj spid="_x0000_s44057" name="" r:id="rId5" imgW="1320165" imgH="533400" progId="Equation.DSMT4">
                  <p:embed/>
                </p:oleObj>
              </mc:Choice>
              <mc:Fallback>
                <p:oleObj name="" r:id="rId5" imgW="1320165" imgH="533400" progId="Equation.DSMT4">
                  <p:embed/>
                  <p:pic>
                    <p:nvPicPr>
                      <p:cNvPr id="0" name="对象 51212"/>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977424" y="1738662"/>
                        <a:ext cx="3300568" cy="13329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5" name="右箭头 4"/>
          <p:cNvSpPr/>
          <p:nvPr/>
        </p:nvSpPr>
        <p:spPr>
          <a:xfrm rot="13225941">
            <a:off x="4292708" y="1944959"/>
            <a:ext cx="752259" cy="48463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5" name="矩形 143363"/>
          <p:cNvSpPr>
            <a:spLocks noChangeArrowheads="1"/>
          </p:cNvSpPr>
          <p:nvPr/>
        </p:nvSpPr>
        <p:spPr bwMode="auto">
          <a:xfrm>
            <a:off x="468313" y="333375"/>
            <a:ext cx="6048375" cy="706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spcBef>
                <a:spcPct val="20000"/>
              </a:spcBef>
              <a:buClr>
                <a:schemeClr val="folHlink"/>
              </a:buClr>
              <a:buSzPct val="60000"/>
              <a:buFont typeface="Wingdings" panose="05000000000000000000" pitchFamily="2" charset="2"/>
              <a:buNone/>
            </a:pPr>
            <a:r>
              <a:rPr lang="zh-CN" altLang="en-US" sz="4000" b="1" dirty="0">
                <a:latin typeface="黑体" panose="02010609060101010101" pitchFamily="49" charset="-122"/>
                <a:ea typeface="黑体" panose="02010609060101010101" pitchFamily="49" charset="-122"/>
              </a:rPr>
              <a:t>三、质量流量的计算</a:t>
            </a:r>
            <a:endParaRPr lang="zh-CN" altLang="en-US" sz="4000" b="1" dirty="0">
              <a:latin typeface="黑体" panose="02010609060101010101" pitchFamily="49" charset="-122"/>
              <a:ea typeface="黑体" panose="02010609060101010101" pitchFamily="49" charset="-122"/>
            </a:endParaRPr>
          </a:p>
        </p:txBody>
      </p:sp>
      <p:sp>
        <p:nvSpPr>
          <p:cNvPr id="98306" name="矩形 143365"/>
          <p:cNvSpPr>
            <a:spLocks noChangeArrowheads="1"/>
          </p:cNvSpPr>
          <p:nvPr/>
        </p:nvSpPr>
        <p:spPr bwMode="auto">
          <a:xfrm>
            <a:off x="0" y="323373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graphicFrame>
        <p:nvGraphicFramePr>
          <p:cNvPr id="98307" name="对象 143364"/>
          <p:cNvGraphicFramePr>
            <a:graphicFrameLocks noChangeAspect="1"/>
          </p:cNvGraphicFramePr>
          <p:nvPr/>
        </p:nvGraphicFramePr>
        <p:xfrm>
          <a:off x="2749136" y="1799741"/>
          <a:ext cx="2913386" cy="1062528"/>
        </p:xfrm>
        <a:graphic>
          <a:graphicData uri="http://schemas.openxmlformats.org/presentationml/2006/ole">
            <mc:AlternateContent xmlns:mc="http://schemas.openxmlformats.org/markup-compatibility/2006">
              <mc:Choice xmlns:v="urn:schemas-microsoft-com:vml" Requires="v">
                <p:oleObj spid="_x0000_s45065" name="" r:id="rId1" imgW="1078865" imgH="393700" progId="Equation.DSMT4">
                  <p:embed/>
                </p:oleObj>
              </mc:Choice>
              <mc:Fallback>
                <p:oleObj name="" r:id="rId1" imgW="1078865" imgH="393700" progId="Equation.DSMT4">
                  <p:embed/>
                  <p:pic>
                    <p:nvPicPr>
                      <p:cNvPr id="0" name="对象 143364"/>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749136" y="1799741"/>
                        <a:ext cx="2913386" cy="10625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98308" name="矩形 143366"/>
          <p:cNvSpPr>
            <a:spLocks noChangeArrowheads="1"/>
          </p:cNvSpPr>
          <p:nvPr/>
        </p:nvSpPr>
        <p:spPr bwMode="auto">
          <a:xfrm>
            <a:off x="611188" y="3429000"/>
            <a:ext cx="7921625" cy="1373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r>
              <a:rPr lang="zh-CN" altLang="en-US" sz="2800" b="1" dirty="0">
                <a:latin typeface="黑体" panose="02010609060101010101" pitchFamily="49" charset="-122"/>
                <a:ea typeface="黑体" panose="02010609060101010101" pitchFamily="49" charset="-122"/>
              </a:rPr>
              <a:t>由于喷管各截面的质量流量相等，因此，在利用上式计算流量时，无论按照哪一个截面来计算，得到的结果都应该是一样的 </a:t>
            </a:r>
            <a:endParaRPr lang="zh-CN" altLang="en-US" sz="2800" b="1" dirty="0">
              <a:latin typeface="黑体" panose="02010609060101010101" pitchFamily="49" charset="-122"/>
              <a:ea typeface="黑体" panose="02010609060101010101" pitchFamily="49" charset="-122"/>
            </a:endParaRPr>
          </a:p>
        </p:txBody>
      </p:sp>
      <p:sp>
        <p:nvSpPr>
          <p:cNvPr id="98309" name="矩形 143369"/>
          <p:cNvSpPr>
            <a:spLocks noChangeArrowheads="1"/>
          </p:cNvSpPr>
          <p:nvPr/>
        </p:nvSpPr>
        <p:spPr bwMode="auto">
          <a:xfrm>
            <a:off x="0" y="318135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29" name="矩形 144387"/>
          <p:cNvSpPr>
            <a:spLocks noChangeArrowheads="1"/>
          </p:cNvSpPr>
          <p:nvPr/>
        </p:nvSpPr>
        <p:spPr bwMode="auto">
          <a:xfrm>
            <a:off x="539750" y="258297"/>
            <a:ext cx="6136616"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r>
              <a:rPr lang="zh-CN" altLang="en-US" sz="2800" b="1" dirty="0">
                <a:latin typeface="黑体" panose="02010609060101010101" pitchFamily="49" charset="-122"/>
                <a:ea typeface="黑体" panose="02010609060101010101" pitchFamily="49" charset="-122"/>
              </a:rPr>
              <a:t>质量流量还可以表示为马赫数的函数 </a:t>
            </a:r>
            <a:endParaRPr lang="zh-CN" altLang="en-US" sz="2800" b="1" dirty="0">
              <a:latin typeface="黑体" panose="02010609060101010101" pitchFamily="49" charset="-122"/>
              <a:ea typeface="黑体" panose="02010609060101010101" pitchFamily="49" charset="-122"/>
            </a:endParaRPr>
          </a:p>
        </p:txBody>
      </p:sp>
      <p:graphicFrame>
        <p:nvGraphicFramePr>
          <p:cNvPr id="99330" name="对象 144388"/>
          <p:cNvGraphicFramePr/>
          <p:nvPr/>
        </p:nvGraphicFramePr>
        <p:xfrm>
          <a:off x="611188" y="981075"/>
          <a:ext cx="7704137" cy="1054100"/>
        </p:xfrm>
        <a:graphic>
          <a:graphicData uri="http://schemas.openxmlformats.org/presentationml/2006/ole">
            <mc:AlternateContent xmlns:mc="http://schemas.openxmlformats.org/markup-compatibility/2006">
              <mc:Choice xmlns:v="urn:schemas-microsoft-com:vml" Requires="v">
                <p:oleObj spid="_x0000_s46096" name="" r:id="rId1" imgW="3618230" imgH="495300" progId="Equation.DSMT4">
                  <p:embed/>
                </p:oleObj>
              </mc:Choice>
              <mc:Fallback>
                <p:oleObj name="" r:id="rId1" imgW="3618230" imgH="495300" progId="Equation.DSMT4">
                  <p:embed/>
                  <p:pic>
                    <p:nvPicPr>
                      <p:cNvPr id="0" name="对象 144388"/>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11188" y="981075"/>
                        <a:ext cx="7704137" cy="1054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99331" name="矩形 144390"/>
          <p:cNvSpPr>
            <a:spLocks noChangeArrowheads="1"/>
          </p:cNvSpPr>
          <p:nvPr/>
        </p:nvSpPr>
        <p:spPr bwMode="auto">
          <a:xfrm>
            <a:off x="0" y="313848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99332" name="矩形 144391"/>
          <p:cNvSpPr>
            <a:spLocks noChangeArrowheads="1"/>
          </p:cNvSpPr>
          <p:nvPr/>
        </p:nvSpPr>
        <p:spPr bwMode="auto">
          <a:xfrm>
            <a:off x="468313" y="4292600"/>
            <a:ext cx="8351837" cy="1800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r>
              <a:rPr lang="zh-CN" altLang="en-US" sz="2800" b="1" dirty="0">
                <a:latin typeface="Times New Roman" panose="02020603050405020304" pitchFamily="18" charset="0"/>
                <a:ea typeface="黑体" panose="02010609060101010101" pitchFamily="49" charset="-122"/>
                <a:cs typeface="Times New Roman" panose="02020603050405020304" pitchFamily="18" charset="0"/>
              </a:rPr>
              <a:t>对于某一特定的理想气体（</a:t>
            </a:r>
            <a:r>
              <a:rPr lang="en-US" altLang="zh-CN" sz="2800" b="1" i="1" dirty="0">
                <a:latin typeface="Times New Roman" panose="02020603050405020304" pitchFamily="18" charset="0"/>
                <a:ea typeface="黑体" panose="02010609060101010101" pitchFamily="49" charset="-122"/>
                <a:cs typeface="Times New Roman" panose="02020603050405020304" pitchFamily="18" charset="0"/>
              </a:rPr>
              <a:t>κ</a:t>
            </a:r>
            <a:r>
              <a:rPr lang="zh-CN" altLang="en-US" sz="2800" b="1" dirty="0">
                <a:latin typeface="Times New Roman" panose="02020603050405020304" pitchFamily="18" charset="0"/>
                <a:ea typeface="黑体" panose="02010609060101010101" pitchFamily="49" charset="-122"/>
                <a:cs typeface="Times New Roman" panose="02020603050405020304" pitchFamily="18" charset="0"/>
              </a:rPr>
              <a:t>一定），滞止参数给定后，通过喷管的质量流量取决于</a:t>
            </a:r>
            <a:r>
              <a:rPr lang="zh-CN" altLang="en-US" sz="2800" b="1" dirty="0">
                <a:solidFill>
                  <a:srgbClr val="0066FF"/>
                </a:solidFill>
                <a:latin typeface="Times New Roman" panose="02020603050405020304" pitchFamily="18" charset="0"/>
                <a:ea typeface="黑体" panose="02010609060101010101" pitchFamily="49" charset="-122"/>
                <a:cs typeface="Times New Roman" panose="02020603050405020304" pitchFamily="18" charset="0"/>
              </a:rPr>
              <a:t>流道截面积以及马赫数</a:t>
            </a:r>
            <a:r>
              <a:rPr lang="zh-CN" altLang="en-US" sz="2800" b="1" dirty="0">
                <a:latin typeface="Times New Roman" panose="02020603050405020304" pitchFamily="18" charset="0"/>
                <a:ea typeface="黑体" panose="02010609060101010101" pitchFamily="49" charset="-122"/>
                <a:cs typeface="Times New Roman" panose="02020603050405020304" pitchFamily="18" charset="0"/>
              </a:rPr>
              <a:t>。同样地，上式对于喷管的任一截面均适用，按照哪一个截面计算得到的结果都是一样的。</a:t>
            </a:r>
            <a:endParaRPr lang="zh-CN" altLang="en-US" sz="2800" b="1" dirty="0">
              <a:latin typeface="Times New Roman" panose="02020603050405020304" pitchFamily="18" charset="0"/>
              <a:ea typeface="黑体" panose="02010609060101010101" pitchFamily="49" charset="-122"/>
              <a:cs typeface="Times New Roman" panose="02020603050405020304" pitchFamily="18" charset="0"/>
            </a:endParaRPr>
          </a:p>
        </p:txBody>
      </p:sp>
      <p:sp>
        <p:nvSpPr>
          <p:cNvPr id="99333" name="矩形 144393"/>
          <p:cNvSpPr>
            <a:spLocks noChangeArrowheads="1"/>
          </p:cNvSpPr>
          <p:nvPr/>
        </p:nvSpPr>
        <p:spPr bwMode="auto">
          <a:xfrm>
            <a:off x="0" y="313848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graphicFrame>
        <p:nvGraphicFramePr>
          <p:cNvPr id="99334" name="对象 144392"/>
          <p:cNvGraphicFramePr/>
          <p:nvPr/>
        </p:nvGraphicFramePr>
        <p:xfrm>
          <a:off x="1908175" y="2492375"/>
          <a:ext cx="4679950" cy="1257300"/>
        </p:xfrm>
        <a:graphic>
          <a:graphicData uri="http://schemas.openxmlformats.org/presentationml/2006/ole">
            <mc:AlternateContent xmlns:mc="http://schemas.openxmlformats.org/markup-compatibility/2006">
              <mc:Choice xmlns:v="urn:schemas-microsoft-com:vml" Requires="v">
                <p:oleObj spid="_x0000_s46097" name="" r:id="rId3" imgW="2159000" imgH="584200" progId="Equation.DSMT4">
                  <p:embed/>
                </p:oleObj>
              </mc:Choice>
              <mc:Fallback>
                <p:oleObj name="" r:id="rId3" imgW="2159000" imgH="584200" progId="Equation.DSMT4">
                  <p:embed/>
                  <p:pic>
                    <p:nvPicPr>
                      <p:cNvPr id="0" name="对象 144392"/>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908175" y="2492375"/>
                        <a:ext cx="4679950" cy="1257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3" name="矩形 145411"/>
          <p:cNvSpPr>
            <a:spLocks noChangeArrowheads="1"/>
          </p:cNvSpPr>
          <p:nvPr/>
        </p:nvSpPr>
        <p:spPr bwMode="auto">
          <a:xfrm>
            <a:off x="468313" y="333375"/>
            <a:ext cx="7920037" cy="706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spcBef>
                <a:spcPct val="20000"/>
              </a:spcBef>
              <a:buClr>
                <a:schemeClr val="folHlink"/>
              </a:buClr>
              <a:buSzPct val="60000"/>
              <a:buFont typeface="Wingdings" panose="05000000000000000000" pitchFamily="2" charset="2"/>
              <a:buNone/>
            </a:pPr>
            <a:r>
              <a:rPr lang="zh-CN" altLang="en-US" sz="4000" b="1" dirty="0">
                <a:latin typeface="黑体" panose="02010609060101010101" pitchFamily="49" charset="-122"/>
                <a:ea typeface="黑体" panose="02010609060101010101" pitchFamily="49" charset="-122"/>
              </a:rPr>
              <a:t>四、背压对喷管内流动的影响</a:t>
            </a:r>
            <a:endParaRPr lang="zh-CN" altLang="en-US" sz="4000" b="1" dirty="0">
              <a:latin typeface="黑体" panose="02010609060101010101" pitchFamily="49" charset="-122"/>
              <a:ea typeface="黑体" panose="02010609060101010101" pitchFamily="49" charset="-122"/>
            </a:endParaRPr>
          </a:p>
        </p:txBody>
      </p:sp>
      <p:sp>
        <p:nvSpPr>
          <p:cNvPr id="100354" name="文本占位符 145413"/>
          <p:cNvSpPr>
            <a:spLocks noGrp="1" noChangeArrowheads="1"/>
          </p:cNvSpPr>
          <p:nvPr>
            <p:ph idx="1"/>
          </p:nvPr>
        </p:nvSpPr>
        <p:spPr>
          <a:xfrm>
            <a:off x="684213" y="1196975"/>
            <a:ext cx="7993062" cy="2663825"/>
          </a:xfrm>
        </p:spPr>
        <p:txBody>
          <a:bodyPr/>
          <a:lstStyle/>
          <a:p>
            <a:r>
              <a:rPr lang="zh-CN" altLang="en-US" sz="2800" b="1" dirty="0" smtClean="0">
                <a:solidFill>
                  <a:srgbClr val="0066FF"/>
                </a:solidFill>
                <a:latin typeface="Times New Roman" panose="02020603050405020304" pitchFamily="18" charset="0"/>
                <a:ea typeface="黑体" panose="02010609060101010101" pitchFamily="49" charset="-122"/>
                <a:cs typeface="Times New Roman" panose="02020603050405020304" pitchFamily="18" charset="0"/>
              </a:rPr>
              <a:t>背压</a:t>
            </a:r>
            <a:r>
              <a:rPr lang="en-US" altLang="zh-CN" sz="2800" b="1" i="1" dirty="0" err="1" smtClean="0">
                <a:latin typeface="Times New Roman" panose="02020603050405020304" pitchFamily="18" charset="0"/>
                <a:ea typeface="黑体" panose="02010609060101010101" pitchFamily="49" charset="-122"/>
                <a:cs typeface="Times New Roman" panose="02020603050405020304" pitchFamily="18" charset="0"/>
              </a:rPr>
              <a:t>p</a:t>
            </a:r>
            <a:r>
              <a:rPr lang="en-US" altLang="zh-CN" sz="2800" b="1" baseline="-25000" dirty="0" err="1" smtClean="0">
                <a:latin typeface="Times New Roman" panose="02020603050405020304" pitchFamily="18" charset="0"/>
                <a:ea typeface="黑体" panose="02010609060101010101" pitchFamily="49" charset="-122"/>
                <a:cs typeface="Times New Roman" panose="02020603050405020304" pitchFamily="18" charset="0"/>
              </a:rPr>
              <a:t>b</a:t>
            </a:r>
            <a:r>
              <a:rPr lang="zh-CN" altLang="en-US" sz="2800" b="1" dirty="0" smtClean="0">
                <a:latin typeface="Times New Roman" panose="02020603050405020304" pitchFamily="18" charset="0"/>
                <a:ea typeface="黑体" panose="02010609060101010101" pitchFamily="49" charset="-122"/>
                <a:cs typeface="Times New Roman" panose="02020603050405020304" pitchFamily="18" charset="0"/>
              </a:rPr>
              <a:t>是指喷管出口截面</a:t>
            </a:r>
            <a:r>
              <a:rPr lang="en-US" altLang="zh-CN" sz="2800" b="1" i="1" dirty="0" smtClean="0">
                <a:latin typeface="Times New Roman" panose="02020603050405020304" pitchFamily="18" charset="0"/>
                <a:ea typeface="黑体" panose="02010609060101010101" pitchFamily="49" charset="-122"/>
                <a:cs typeface="Times New Roman" panose="02020603050405020304" pitchFamily="18" charset="0"/>
              </a:rPr>
              <a:t>A</a:t>
            </a:r>
            <a:r>
              <a:rPr lang="en-US" altLang="zh-CN" sz="2800" b="1" baseline="-25000" dirty="0" smtClean="0">
                <a:latin typeface="Times New Roman" panose="02020603050405020304" pitchFamily="18" charset="0"/>
                <a:ea typeface="黑体" panose="02010609060101010101" pitchFamily="49" charset="-122"/>
                <a:cs typeface="Times New Roman" panose="02020603050405020304" pitchFamily="18" charset="0"/>
              </a:rPr>
              <a:t>2</a:t>
            </a:r>
            <a:r>
              <a:rPr lang="zh-CN" altLang="en-US" sz="2800" b="1" dirty="0" smtClean="0">
                <a:latin typeface="Times New Roman" panose="02020603050405020304" pitchFamily="18" charset="0"/>
                <a:ea typeface="黑体" panose="02010609060101010101" pitchFamily="49" charset="-122"/>
                <a:cs typeface="Times New Roman" panose="02020603050405020304" pitchFamily="18" charset="0"/>
              </a:rPr>
              <a:t>外</a:t>
            </a:r>
            <a:r>
              <a:rPr lang="zh-CN" altLang="en-US" sz="2800" b="1" dirty="0" smtClean="0">
                <a:solidFill>
                  <a:srgbClr val="0066FF"/>
                </a:solidFill>
                <a:latin typeface="Times New Roman" panose="02020603050405020304" pitchFamily="18" charset="0"/>
                <a:ea typeface="黑体" panose="02010609060101010101" pitchFamily="49" charset="-122"/>
                <a:cs typeface="Times New Roman" panose="02020603050405020304" pitchFamily="18" charset="0"/>
              </a:rPr>
              <a:t>工作环境的压力</a:t>
            </a:r>
            <a:endParaRPr lang="zh-CN" altLang="en-US" sz="2800" b="1" dirty="0" smtClean="0">
              <a:solidFill>
                <a:srgbClr val="0066FF"/>
              </a:solidFill>
              <a:latin typeface="Times New Roman" panose="02020603050405020304" pitchFamily="18" charset="0"/>
              <a:ea typeface="黑体" panose="02010609060101010101" pitchFamily="49" charset="-122"/>
              <a:cs typeface="Times New Roman" panose="02020603050405020304" pitchFamily="18" charset="0"/>
            </a:endParaRPr>
          </a:p>
          <a:p>
            <a:r>
              <a:rPr lang="zh-CN" altLang="en-US" sz="2800" b="1" dirty="0" smtClean="0">
                <a:latin typeface="Times New Roman" panose="02020603050405020304" pitchFamily="18" charset="0"/>
                <a:ea typeface="黑体" panose="02010609060101010101" pitchFamily="49" charset="-122"/>
                <a:cs typeface="Times New Roman" panose="02020603050405020304" pitchFamily="18" charset="0"/>
              </a:rPr>
              <a:t>流体在出口截面上的压力</a:t>
            </a:r>
            <a:r>
              <a:rPr lang="en-US" altLang="zh-CN" sz="2800" b="1" i="1" dirty="0" smtClean="0">
                <a:latin typeface="Times New Roman" panose="02020603050405020304" pitchFamily="18" charset="0"/>
                <a:ea typeface="黑体" panose="02010609060101010101" pitchFamily="49" charset="-122"/>
                <a:cs typeface="Times New Roman" panose="02020603050405020304" pitchFamily="18" charset="0"/>
              </a:rPr>
              <a:t>p</a:t>
            </a:r>
            <a:r>
              <a:rPr lang="en-US" altLang="zh-CN" sz="2800" b="1" baseline="-25000" dirty="0" smtClean="0">
                <a:latin typeface="Times New Roman" panose="02020603050405020304" pitchFamily="18" charset="0"/>
                <a:ea typeface="黑体" panose="02010609060101010101" pitchFamily="49" charset="-122"/>
                <a:cs typeface="Times New Roman" panose="02020603050405020304" pitchFamily="18" charset="0"/>
              </a:rPr>
              <a:t>2</a:t>
            </a:r>
            <a:r>
              <a:rPr lang="zh-CN" altLang="en-US" sz="2800" b="1" dirty="0" smtClean="0">
                <a:latin typeface="Times New Roman" panose="02020603050405020304" pitchFamily="18" charset="0"/>
                <a:ea typeface="黑体" panose="02010609060101010101" pitchFamily="49" charset="-122"/>
                <a:cs typeface="Times New Roman" panose="02020603050405020304" pitchFamily="18" charset="0"/>
              </a:rPr>
              <a:t>是不是一定等于背压</a:t>
            </a:r>
            <a:r>
              <a:rPr lang="en-US" altLang="zh-CN" sz="2800" b="1" i="1" dirty="0" err="1" smtClean="0">
                <a:latin typeface="Times New Roman" panose="02020603050405020304" pitchFamily="18" charset="0"/>
                <a:ea typeface="黑体" panose="02010609060101010101" pitchFamily="49" charset="-122"/>
                <a:cs typeface="Times New Roman" panose="02020603050405020304" pitchFamily="18" charset="0"/>
              </a:rPr>
              <a:t>p</a:t>
            </a:r>
            <a:r>
              <a:rPr lang="en-US" altLang="zh-CN" sz="2800" b="1" baseline="-25000" dirty="0" err="1" smtClean="0">
                <a:latin typeface="Times New Roman" panose="02020603050405020304" pitchFamily="18" charset="0"/>
                <a:ea typeface="黑体" panose="02010609060101010101" pitchFamily="49" charset="-122"/>
                <a:cs typeface="Times New Roman" panose="02020603050405020304" pitchFamily="18" charset="0"/>
              </a:rPr>
              <a:t>b</a:t>
            </a:r>
            <a:r>
              <a:rPr lang="zh-CN" altLang="en-US" sz="2800" b="1" dirty="0" smtClean="0">
                <a:latin typeface="Times New Roman" panose="02020603050405020304" pitchFamily="18" charset="0"/>
                <a:ea typeface="黑体" panose="02010609060101010101" pitchFamily="49" charset="-122"/>
                <a:cs typeface="Times New Roman" panose="02020603050405020304" pitchFamily="18" charset="0"/>
              </a:rPr>
              <a:t>？背压的变化对流经喷管的质量流量又会产生什么影响？</a:t>
            </a:r>
            <a:endParaRPr lang="zh-CN" altLang="en-US" sz="2800" b="1" dirty="0" smtClean="0">
              <a:latin typeface="Times New Roman" panose="02020603050405020304" pitchFamily="18" charset="0"/>
              <a:ea typeface="黑体" panose="02010609060101010101" pitchFamily="49" charset="-122"/>
              <a:cs typeface="Times New Roman" panose="02020603050405020304" pitchFamily="18" charset="0"/>
            </a:endParaRPr>
          </a:p>
          <a:p>
            <a:r>
              <a:rPr lang="zh-CN" altLang="en-US" sz="2800" b="1" dirty="0" smtClean="0">
                <a:latin typeface="Times New Roman" panose="02020603050405020304" pitchFamily="18" charset="0"/>
                <a:ea typeface="黑体" panose="02010609060101010101" pitchFamily="49" charset="-122"/>
                <a:cs typeface="Times New Roman" panose="02020603050405020304" pitchFamily="18" charset="0"/>
              </a:rPr>
              <a:t>下面分别针对渐缩喷管和缩放喷管进行讨论</a:t>
            </a:r>
            <a:endParaRPr lang="zh-CN" altLang="en-US" sz="2800" b="1" dirty="0" smtClean="0">
              <a:latin typeface="Times New Roman" panose="02020603050405020304" pitchFamily="18" charset="0"/>
              <a:ea typeface="黑体" panose="02010609060101010101" pitchFamily="49" charset="-122"/>
              <a:cs typeface="Times New Roman" panose="02020603050405020304" pitchFamily="18" charset="0"/>
            </a:endParaRPr>
          </a:p>
        </p:txBody>
      </p:sp>
      <p:pic>
        <p:nvPicPr>
          <p:cNvPr id="100355" name="图片 145414"/>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555875" y="4691063"/>
            <a:ext cx="3313113" cy="1833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0356" name="矩形 145416"/>
          <p:cNvSpPr>
            <a:spLocks noChangeArrowheads="1"/>
          </p:cNvSpPr>
          <p:nvPr/>
        </p:nvSpPr>
        <p:spPr bwMode="auto">
          <a:xfrm>
            <a:off x="5219700" y="5267325"/>
            <a:ext cx="517525"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3200" i="1">
                <a:latin typeface="Times New Roman" panose="02020603050405020304" pitchFamily="18" charset="0"/>
                <a:ea typeface="黑体" panose="02010609060101010101" pitchFamily="49" charset="-122"/>
              </a:rPr>
              <a:t>p</a:t>
            </a:r>
            <a:r>
              <a:rPr lang="en-US" altLang="zh-CN" sz="3200" baseline="-25000">
                <a:latin typeface="Times New Roman" panose="02020603050405020304" pitchFamily="18" charset="0"/>
                <a:ea typeface="黑体" panose="02010609060101010101" pitchFamily="49" charset="-122"/>
              </a:rPr>
              <a:t>2</a:t>
            </a:r>
            <a:endParaRPr lang="en-US" altLang="zh-CN" sz="3200" baseline="-25000">
              <a:latin typeface="Times New Roman" panose="02020603050405020304" pitchFamily="18" charset="0"/>
              <a:ea typeface="黑体" panose="02010609060101010101" pitchFamily="49" charset="-122"/>
            </a:endParaRPr>
          </a:p>
        </p:txBody>
      </p:sp>
      <p:sp>
        <p:nvSpPr>
          <p:cNvPr id="100357" name="矩形 145417"/>
          <p:cNvSpPr>
            <a:spLocks noChangeArrowheads="1"/>
          </p:cNvSpPr>
          <p:nvPr/>
        </p:nvSpPr>
        <p:spPr bwMode="auto">
          <a:xfrm>
            <a:off x="2555875" y="5194300"/>
            <a:ext cx="517525"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3200" i="1">
                <a:latin typeface="Times New Roman" panose="02020603050405020304" pitchFamily="18" charset="0"/>
                <a:ea typeface="黑体" panose="02010609060101010101" pitchFamily="49" charset="-122"/>
              </a:rPr>
              <a:t>p</a:t>
            </a:r>
            <a:r>
              <a:rPr lang="en-US" altLang="zh-CN" sz="3200" baseline="-25000">
                <a:latin typeface="Times New Roman" panose="02020603050405020304" pitchFamily="18" charset="0"/>
                <a:ea typeface="黑体" panose="02010609060101010101" pitchFamily="49" charset="-122"/>
              </a:rPr>
              <a:t>1</a:t>
            </a:r>
            <a:endParaRPr lang="en-US" altLang="zh-CN" sz="3200" baseline="-25000">
              <a:latin typeface="Times New Roman" panose="02020603050405020304" pitchFamily="18" charset="0"/>
              <a:ea typeface="黑体" panose="02010609060101010101" pitchFamily="49" charset="-122"/>
            </a:endParaRPr>
          </a:p>
        </p:txBody>
      </p:sp>
      <p:sp>
        <p:nvSpPr>
          <p:cNvPr id="100358" name="矩形 145419"/>
          <p:cNvSpPr>
            <a:spLocks noChangeArrowheads="1"/>
          </p:cNvSpPr>
          <p:nvPr/>
        </p:nvSpPr>
        <p:spPr bwMode="auto">
          <a:xfrm>
            <a:off x="5940425" y="5194300"/>
            <a:ext cx="517525"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3200" i="1">
                <a:latin typeface="Times New Roman" panose="02020603050405020304" pitchFamily="18" charset="0"/>
                <a:ea typeface="黑体" panose="02010609060101010101" pitchFamily="49" charset="-122"/>
              </a:rPr>
              <a:t>p</a:t>
            </a:r>
            <a:r>
              <a:rPr lang="en-US" altLang="zh-CN" sz="3200" baseline="-25000">
                <a:latin typeface="Times New Roman" panose="02020603050405020304" pitchFamily="18" charset="0"/>
                <a:ea typeface="黑体" panose="02010609060101010101" pitchFamily="49" charset="-122"/>
              </a:rPr>
              <a:t>b</a:t>
            </a:r>
            <a:endParaRPr lang="en-US" altLang="zh-CN" sz="3200" baseline="-25000">
              <a:latin typeface="Times New Roman" panose="02020603050405020304" pitchFamily="18" charset="0"/>
              <a:ea typeface="黑体" panose="02010609060101010101" pitchFamily="49" charset="-122"/>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7" name="文本占位符 202754"/>
          <p:cNvSpPr>
            <a:spLocks noGrp="1" noChangeArrowheads="1"/>
          </p:cNvSpPr>
          <p:nvPr>
            <p:ph idx="1"/>
          </p:nvPr>
        </p:nvSpPr>
        <p:spPr>
          <a:xfrm>
            <a:off x="528638" y="427038"/>
            <a:ext cx="8229600" cy="4525962"/>
          </a:xfrm>
        </p:spPr>
        <p:txBody>
          <a:bodyPr/>
          <a:lstStyle/>
          <a:p>
            <a:r>
              <a:rPr lang="zh-CN" altLang="en-US" sz="2800" b="1" dirty="0" smtClean="0">
                <a:latin typeface="Times New Roman" panose="02020603050405020304" pitchFamily="18" charset="0"/>
                <a:ea typeface="黑体" panose="02010609060101010101" pitchFamily="49" charset="-122"/>
                <a:cs typeface="Times New Roman" panose="02020603050405020304" pitchFamily="18" charset="0"/>
              </a:rPr>
              <a:t>在讨论时，假设喷管的进口与某大容器相连，即气体从大容器中经过喷管流出。</a:t>
            </a:r>
            <a:endParaRPr lang="zh-CN" altLang="en-US" sz="2800" b="1" dirty="0" smtClean="0">
              <a:latin typeface="Times New Roman" panose="02020603050405020304" pitchFamily="18" charset="0"/>
              <a:ea typeface="黑体" panose="02010609060101010101" pitchFamily="49" charset="-122"/>
              <a:cs typeface="Times New Roman" panose="02020603050405020304" pitchFamily="18" charset="0"/>
            </a:endParaRPr>
          </a:p>
          <a:p>
            <a:r>
              <a:rPr lang="zh-CN" altLang="en-US" sz="2800" b="1" dirty="0" smtClean="0">
                <a:latin typeface="Times New Roman" panose="02020603050405020304" pitchFamily="18" charset="0"/>
                <a:ea typeface="黑体" panose="02010609060101010101" pitchFamily="49" charset="-122"/>
                <a:cs typeface="Times New Roman" panose="02020603050405020304" pitchFamily="18" charset="0"/>
              </a:rPr>
              <a:t>假设大容器的尺寸远大于管道的直径，则可以认为大容器中气体的速度约为</a:t>
            </a:r>
            <a:r>
              <a:rPr lang="en-US" altLang="zh-CN" sz="2800" b="1" dirty="0" smtClean="0">
                <a:latin typeface="Times New Roman" panose="02020603050405020304" pitchFamily="18" charset="0"/>
                <a:ea typeface="黑体" panose="02010609060101010101" pitchFamily="49" charset="-122"/>
                <a:cs typeface="Times New Roman" panose="02020603050405020304" pitchFamily="18" charset="0"/>
              </a:rPr>
              <a:t>0</a:t>
            </a:r>
            <a:r>
              <a:rPr lang="zh-CN" altLang="en-US" sz="2800" b="1" dirty="0" smtClean="0">
                <a:latin typeface="Times New Roman" panose="02020603050405020304" pitchFamily="18" charset="0"/>
                <a:ea typeface="黑体" panose="02010609060101010101" pitchFamily="49" charset="-122"/>
                <a:cs typeface="Times New Roman" panose="02020603050405020304" pitchFamily="18" charset="0"/>
              </a:rPr>
              <a:t>，即喷管进口处气流速度约为</a:t>
            </a:r>
            <a:r>
              <a:rPr lang="en-US" altLang="zh-CN" sz="2800" b="1" dirty="0" smtClean="0">
                <a:latin typeface="Times New Roman" panose="02020603050405020304" pitchFamily="18" charset="0"/>
                <a:ea typeface="黑体" panose="02010609060101010101" pitchFamily="49" charset="-122"/>
                <a:cs typeface="Times New Roman" panose="02020603050405020304" pitchFamily="18" charset="0"/>
              </a:rPr>
              <a:t>0</a:t>
            </a:r>
            <a:r>
              <a:rPr lang="zh-CN" altLang="en-US" sz="2800" b="1" dirty="0" smtClean="0">
                <a:latin typeface="Times New Roman" panose="02020603050405020304" pitchFamily="18" charset="0"/>
                <a:ea typeface="黑体" panose="02010609060101010101" pitchFamily="49" charset="-122"/>
                <a:cs typeface="Times New Roman" panose="02020603050405020304" pitchFamily="18" charset="0"/>
              </a:rPr>
              <a:t>。此时，气流在进口处的温度和压力分别就是滞止温度和滞止压力（即</a:t>
            </a:r>
            <a:r>
              <a:rPr lang="en-US" altLang="zh-CN" sz="2800" b="1" i="1" dirty="0" smtClean="0">
                <a:latin typeface="Times New Roman" panose="02020603050405020304" pitchFamily="18" charset="0"/>
                <a:ea typeface="黑体" panose="02010609060101010101" pitchFamily="49" charset="-122"/>
                <a:cs typeface="Times New Roman" panose="02020603050405020304" pitchFamily="18" charset="0"/>
              </a:rPr>
              <a:t>T</a:t>
            </a:r>
            <a:r>
              <a:rPr lang="en-US" altLang="zh-CN" sz="2800" b="1" baseline="-25000" dirty="0" smtClean="0">
                <a:latin typeface="Times New Roman" panose="02020603050405020304" pitchFamily="18" charset="0"/>
                <a:ea typeface="黑体" panose="02010609060101010101" pitchFamily="49" charset="-122"/>
                <a:cs typeface="Times New Roman" panose="02020603050405020304" pitchFamily="18" charset="0"/>
              </a:rPr>
              <a:t>1</a:t>
            </a:r>
            <a:r>
              <a:rPr lang="en-US" altLang="zh-CN" sz="2800" b="1" dirty="0" smtClean="0">
                <a:latin typeface="Times New Roman" panose="02020603050405020304" pitchFamily="18" charset="0"/>
                <a:ea typeface="黑体" panose="02010609060101010101" pitchFamily="49" charset="-122"/>
                <a:cs typeface="Times New Roman" panose="02020603050405020304" pitchFamily="18" charset="0"/>
              </a:rPr>
              <a:t>=</a:t>
            </a:r>
            <a:r>
              <a:rPr lang="en-US" altLang="zh-CN" sz="2800" b="1" i="1" dirty="0" smtClean="0">
                <a:latin typeface="Times New Roman" panose="02020603050405020304" pitchFamily="18" charset="0"/>
                <a:ea typeface="黑体" panose="02010609060101010101" pitchFamily="49" charset="-122"/>
                <a:cs typeface="Times New Roman" panose="02020603050405020304" pitchFamily="18" charset="0"/>
              </a:rPr>
              <a:t> T</a:t>
            </a:r>
            <a:r>
              <a:rPr lang="en-US" altLang="zh-CN" sz="2800" b="1" baseline="-25000" dirty="0" smtClean="0">
                <a:latin typeface="Times New Roman" panose="02020603050405020304" pitchFamily="18" charset="0"/>
                <a:ea typeface="黑体" panose="02010609060101010101" pitchFamily="49" charset="-122"/>
                <a:cs typeface="Times New Roman" panose="02020603050405020304" pitchFamily="18" charset="0"/>
              </a:rPr>
              <a:t>0</a:t>
            </a:r>
            <a:r>
              <a:rPr lang="zh-CN" altLang="en-US" sz="2800" b="1" dirty="0" smtClean="0">
                <a:latin typeface="Times New Roman" panose="02020603050405020304" pitchFamily="18" charset="0"/>
                <a:ea typeface="黑体" panose="02010609060101010101" pitchFamily="49" charset="-122"/>
                <a:cs typeface="Times New Roman" panose="02020603050405020304" pitchFamily="18" charset="0"/>
              </a:rPr>
              <a:t>，</a:t>
            </a:r>
            <a:r>
              <a:rPr lang="en-US" altLang="zh-CN" sz="2800" b="1" i="1" dirty="0" smtClean="0">
                <a:latin typeface="Times New Roman" panose="02020603050405020304" pitchFamily="18" charset="0"/>
                <a:ea typeface="黑体" panose="02010609060101010101" pitchFamily="49" charset="-122"/>
                <a:cs typeface="Times New Roman" panose="02020603050405020304" pitchFamily="18" charset="0"/>
              </a:rPr>
              <a:t>p</a:t>
            </a:r>
            <a:r>
              <a:rPr lang="en-US" altLang="zh-CN" sz="2800" b="1" baseline="-25000" dirty="0" smtClean="0">
                <a:latin typeface="Times New Roman" panose="02020603050405020304" pitchFamily="18" charset="0"/>
                <a:ea typeface="黑体" panose="02010609060101010101" pitchFamily="49" charset="-122"/>
                <a:cs typeface="Times New Roman" panose="02020603050405020304" pitchFamily="18" charset="0"/>
              </a:rPr>
              <a:t>1</a:t>
            </a:r>
            <a:r>
              <a:rPr lang="en-US" altLang="zh-CN" sz="2800" b="1" dirty="0" smtClean="0">
                <a:latin typeface="Times New Roman" panose="02020603050405020304" pitchFamily="18" charset="0"/>
                <a:ea typeface="黑体" panose="02010609060101010101" pitchFamily="49" charset="-122"/>
                <a:cs typeface="Times New Roman" panose="02020603050405020304" pitchFamily="18" charset="0"/>
              </a:rPr>
              <a:t>=</a:t>
            </a:r>
            <a:r>
              <a:rPr lang="en-US" altLang="zh-CN" sz="2800" b="1" i="1" dirty="0" smtClean="0">
                <a:latin typeface="Times New Roman" panose="02020603050405020304" pitchFamily="18" charset="0"/>
                <a:ea typeface="黑体" panose="02010609060101010101" pitchFamily="49" charset="-122"/>
                <a:cs typeface="Times New Roman" panose="02020603050405020304" pitchFamily="18" charset="0"/>
              </a:rPr>
              <a:t> p</a:t>
            </a:r>
            <a:r>
              <a:rPr lang="en-US" altLang="zh-CN" sz="2800" b="1" baseline="-25000" dirty="0" smtClean="0">
                <a:latin typeface="Times New Roman" panose="02020603050405020304" pitchFamily="18" charset="0"/>
                <a:ea typeface="黑体" panose="02010609060101010101" pitchFamily="49" charset="-122"/>
                <a:cs typeface="Times New Roman" panose="02020603050405020304" pitchFamily="18" charset="0"/>
              </a:rPr>
              <a:t>0</a:t>
            </a:r>
            <a:r>
              <a:rPr lang="zh-CN" altLang="en-US" sz="2800" b="1" dirty="0" smtClean="0">
                <a:latin typeface="Times New Roman" panose="02020603050405020304" pitchFamily="18" charset="0"/>
                <a:ea typeface="黑体" panose="02010609060101010101" pitchFamily="49" charset="-122"/>
                <a:cs typeface="Times New Roman" panose="02020603050405020304" pitchFamily="18" charset="0"/>
              </a:rPr>
              <a:t>） </a:t>
            </a:r>
            <a:endParaRPr lang="zh-CN" altLang="en-US" sz="2800" b="1" dirty="0" smtClean="0">
              <a:latin typeface="Times New Roman" panose="02020603050405020304" pitchFamily="18" charset="0"/>
              <a:ea typeface="黑体" panose="02010609060101010101" pitchFamily="49" charset="-122"/>
              <a:cs typeface="Times New Roman" panose="02020603050405020304" pitchFamily="18" charset="0"/>
            </a:endParaRPr>
          </a:p>
        </p:txBody>
      </p:sp>
      <p:pic>
        <p:nvPicPr>
          <p:cNvPr id="2" name="图片 1"/>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2353677" y="3147653"/>
            <a:ext cx="3999323" cy="3133616"/>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1" name="标题 206849"/>
          <p:cNvSpPr>
            <a:spLocks noGrp="1" noChangeArrowheads="1"/>
          </p:cNvSpPr>
          <p:nvPr>
            <p:ph type="title"/>
          </p:nvPr>
        </p:nvSpPr>
        <p:spPr>
          <a:xfrm>
            <a:off x="323850" y="0"/>
            <a:ext cx="8229600" cy="1143000"/>
          </a:xfrm>
        </p:spPr>
        <p:txBody>
          <a:bodyPr>
            <a:normAutofit/>
          </a:bodyPr>
          <a:lstStyle/>
          <a:p>
            <a:r>
              <a:rPr lang="en-US" altLang="zh-CN" sz="3600" b="1" dirty="0" smtClean="0">
                <a:ea typeface="黑体" panose="02010609060101010101" pitchFamily="49" charset="-122"/>
              </a:rPr>
              <a:t>1</a:t>
            </a:r>
            <a:r>
              <a:rPr lang="zh-CN" altLang="en-US" sz="3600" b="1" dirty="0" smtClean="0">
                <a:ea typeface="黑体" panose="02010609060101010101" pitchFamily="49" charset="-122"/>
              </a:rPr>
              <a:t>、背压</a:t>
            </a:r>
            <a:r>
              <a:rPr lang="zh-CN" altLang="en-US" sz="3600" b="1" dirty="0">
                <a:ea typeface="黑体" panose="02010609060101010101" pitchFamily="49" charset="-122"/>
              </a:rPr>
              <a:t>对渐缩喷管</a:t>
            </a:r>
            <a:r>
              <a:rPr lang="zh-CN" altLang="en-US" sz="3600" b="1" dirty="0" smtClean="0">
                <a:ea typeface="黑体" panose="02010609060101010101" pitchFamily="49" charset="-122"/>
              </a:rPr>
              <a:t>内流动的影响</a:t>
            </a:r>
            <a:endParaRPr lang="zh-CN" altLang="en-US" dirty="0" smtClean="0"/>
          </a:p>
        </p:txBody>
      </p:sp>
      <p:sp>
        <p:nvSpPr>
          <p:cNvPr id="102403" name="矩形 206853"/>
          <p:cNvSpPr>
            <a:spLocks noChangeArrowheads="1"/>
          </p:cNvSpPr>
          <p:nvPr/>
        </p:nvSpPr>
        <p:spPr bwMode="auto">
          <a:xfrm>
            <a:off x="0" y="188118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pic>
        <p:nvPicPr>
          <p:cNvPr id="102404" name="图片 1"/>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688285" y="892727"/>
            <a:ext cx="3800475" cy="4344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矩形 3"/>
          <p:cNvSpPr/>
          <p:nvPr/>
        </p:nvSpPr>
        <p:spPr>
          <a:xfrm>
            <a:off x="4094801" y="1316416"/>
            <a:ext cx="4725350" cy="3416320"/>
          </a:xfrm>
          <a:prstGeom prst="rect">
            <a:avLst/>
          </a:prstGeom>
        </p:spPr>
        <p:txBody>
          <a:bodyPr wrap="square">
            <a:spAutoFit/>
          </a:bodyPr>
          <a:lstStyle/>
          <a:p>
            <a:pPr marL="342900" indent="-342900">
              <a:buFont typeface="Arial" panose="020B0604020202020204" pitchFamily="34" charset="0"/>
              <a:buChar char="•"/>
            </a:pPr>
            <a:r>
              <a:rPr lang="zh-CN" altLang="en-US" sz="2400" b="1" dirty="0" smtClean="0">
                <a:solidFill>
                  <a:srgbClr val="0066FF"/>
                </a:solidFill>
                <a:latin typeface="Times New Roman" panose="02020603050405020304" pitchFamily="18" charset="0"/>
                <a:ea typeface="黑体" panose="02010609060101010101" pitchFamily="49" charset="-122"/>
                <a:cs typeface="Times New Roman" panose="02020603050405020304" pitchFamily="18" charset="0"/>
              </a:rPr>
              <a:t>气体以非常低的流速流入喷管</a:t>
            </a:r>
            <a:endParaRPr lang="en-US" altLang="zh-CN" sz="2400" b="1" dirty="0" smtClean="0">
              <a:solidFill>
                <a:srgbClr val="0066FF"/>
              </a:solidFill>
              <a:latin typeface="Times New Roman" panose="02020603050405020304" pitchFamily="18" charset="0"/>
              <a:ea typeface="黑体" panose="02010609060101010101" pitchFamily="49" charset="-122"/>
              <a:cs typeface="Times New Roman" panose="02020603050405020304" pitchFamily="18" charset="0"/>
            </a:endParaRPr>
          </a:p>
          <a:p>
            <a:pPr marL="342900" indent="-342900">
              <a:buFont typeface="Arial" panose="020B0604020202020204" pitchFamily="34" charset="0"/>
              <a:buChar char="•"/>
            </a:pPr>
            <a:r>
              <a:rPr lang="zh-CN" altLang="en-US" sz="2400" b="1" dirty="0">
                <a:solidFill>
                  <a:srgbClr val="0066FF"/>
                </a:solidFill>
                <a:latin typeface="Times New Roman" panose="02020603050405020304" pitchFamily="18" charset="0"/>
                <a:ea typeface="黑体" panose="02010609060101010101" pitchFamily="49" charset="-122"/>
                <a:cs typeface="Times New Roman" panose="02020603050405020304" pitchFamily="18" charset="0"/>
              </a:rPr>
              <a:t>进口</a:t>
            </a:r>
            <a:r>
              <a:rPr lang="zh-CN" altLang="en-US" sz="2400" b="1" dirty="0" smtClean="0">
                <a:solidFill>
                  <a:srgbClr val="0066FF"/>
                </a:solidFill>
                <a:latin typeface="Times New Roman" panose="02020603050405020304" pitchFamily="18" charset="0"/>
                <a:ea typeface="黑体" panose="02010609060101010101" pitchFamily="49" charset="-122"/>
                <a:cs typeface="Times New Roman" panose="02020603050405020304" pitchFamily="18" charset="0"/>
              </a:rPr>
              <a:t>压力近似为滞止压力，进口温度近似为滞止温度</a:t>
            </a:r>
            <a:endParaRPr lang="en-US" altLang="zh-CN" sz="2400" b="1" dirty="0" smtClean="0">
              <a:solidFill>
                <a:srgbClr val="0066FF"/>
              </a:solidFill>
              <a:latin typeface="Times New Roman" panose="02020603050405020304" pitchFamily="18" charset="0"/>
              <a:ea typeface="黑体" panose="02010609060101010101" pitchFamily="49" charset="-122"/>
              <a:cs typeface="Times New Roman" panose="02020603050405020304" pitchFamily="18" charset="0"/>
            </a:endParaRPr>
          </a:p>
          <a:p>
            <a:pPr marL="342900" indent="-342900">
              <a:buFont typeface="Arial" panose="020B0604020202020204" pitchFamily="34" charset="0"/>
              <a:buChar char="•"/>
            </a:pPr>
            <a:r>
              <a:rPr lang="zh-CN" altLang="en-US" sz="2400" b="1" dirty="0" smtClean="0">
                <a:solidFill>
                  <a:srgbClr val="0066FF"/>
                </a:solidFill>
                <a:latin typeface="Times New Roman" panose="02020603050405020304" pitchFamily="18" charset="0"/>
                <a:ea typeface="黑体" panose="02010609060101010101" pitchFamily="49" charset="-122"/>
                <a:cs typeface="Times New Roman" panose="02020603050405020304" pitchFamily="18" charset="0"/>
              </a:rPr>
              <a:t>假设该喷管的背压可以连续调节</a:t>
            </a:r>
            <a:endParaRPr lang="en-US" altLang="zh-CN" sz="2400" b="1" dirty="0" smtClean="0">
              <a:solidFill>
                <a:srgbClr val="0066FF"/>
              </a:solidFill>
              <a:latin typeface="Times New Roman" panose="02020603050405020304" pitchFamily="18" charset="0"/>
              <a:ea typeface="黑体" panose="02010609060101010101" pitchFamily="49" charset="-122"/>
              <a:cs typeface="Times New Roman" panose="02020603050405020304" pitchFamily="18" charset="0"/>
            </a:endParaRPr>
          </a:p>
          <a:p>
            <a:pPr marL="342900" indent="-342900">
              <a:buFont typeface="Arial" panose="020B0604020202020204" pitchFamily="34" charset="0"/>
              <a:buChar char="•"/>
            </a:pPr>
            <a:r>
              <a:rPr lang="zh-CN" altLang="en-US" sz="2400" b="1" dirty="0" smtClean="0">
                <a:solidFill>
                  <a:srgbClr val="0066FF"/>
                </a:solidFill>
                <a:latin typeface="Times New Roman" panose="02020603050405020304" pitchFamily="18" charset="0"/>
                <a:ea typeface="黑体" panose="02010609060101010101" pitchFamily="49" charset="-122"/>
                <a:cs typeface="Times New Roman" panose="02020603050405020304" pitchFamily="18" charset="0"/>
              </a:rPr>
              <a:t>下面考察当气体的滞止参数给定时，随着背压的不断降低，气体的出口压力</a:t>
            </a:r>
            <a:r>
              <a:rPr lang="en-US" altLang="zh-CN" sz="2400" b="1" i="1" dirty="0" smtClean="0">
                <a:solidFill>
                  <a:srgbClr val="0066FF"/>
                </a:solidFill>
                <a:latin typeface="Times New Roman" panose="02020603050405020304" pitchFamily="18" charset="0"/>
                <a:ea typeface="黑体" panose="02010609060101010101" pitchFamily="49" charset="-122"/>
                <a:cs typeface="Times New Roman" panose="02020603050405020304" pitchFamily="18" charset="0"/>
              </a:rPr>
              <a:t>p</a:t>
            </a:r>
            <a:r>
              <a:rPr lang="en-US" altLang="zh-CN" sz="2400" b="1" baseline="-25000" dirty="0" smtClean="0">
                <a:solidFill>
                  <a:srgbClr val="0066FF"/>
                </a:solidFill>
                <a:latin typeface="Times New Roman" panose="02020603050405020304" pitchFamily="18" charset="0"/>
                <a:ea typeface="黑体" panose="02010609060101010101" pitchFamily="49" charset="-122"/>
                <a:cs typeface="Times New Roman" panose="02020603050405020304" pitchFamily="18" charset="0"/>
              </a:rPr>
              <a:t>2</a:t>
            </a:r>
            <a:r>
              <a:rPr lang="zh-CN" altLang="en-US" sz="2400" b="1" dirty="0" smtClean="0">
                <a:solidFill>
                  <a:srgbClr val="0066FF"/>
                </a:solidFill>
                <a:latin typeface="Times New Roman" panose="02020603050405020304" pitchFamily="18" charset="0"/>
                <a:ea typeface="黑体" panose="02010609060101010101" pitchFamily="49" charset="-122"/>
                <a:cs typeface="Times New Roman" panose="02020603050405020304" pitchFamily="18" charset="0"/>
              </a:rPr>
              <a:t>和流经喷管的质量流量</a:t>
            </a:r>
            <a:r>
              <a:rPr lang="en-US" altLang="zh-CN" sz="2400" b="1" i="1" dirty="0" err="1" smtClean="0">
                <a:solidFill>
                  <a:srgbClr val="0066FF"/>
                </a:solidFill>
                <a:latin typeface="Times New Roman" panose="02020603050405020304" pitchFamily="18" charset="0"/>
                <a:ea typeface="黑体" panose="02010609060101010101" pitchFamily="49" charset="-122"/>
                <a:cs typeface="Times New Roman" panose="02020603050405020304" pitchFamily="18" charset="0"/>
              </a:rPr>
              <a:t>q</a:t>
            </a:r>
            <a:r>
              <a:rPr lang="en-US" altLang="zh-CN" sz="2400" b="1" baseline="-25000" dirty="0" err="1" smtClean="0">
                <a:solidFill>
                  <a:srgbClr val="0066FF"/>
                </a:solidFill>
                <a:latin typeface="Times New Roman" panose="02020603050405020304" pitchFamily="18" charset="0"/>
                <a:ea typeface="黑体" panose="02010609060101010101" pitchFamily="49" charset="-122"/>
                <a:cs typeface="Times New Roman" panose="02020603050405020304" pitchFamily="18" charset="0"/>
              </a:rPr>
              <a:t>m</a:t>
            </a:r>
            <a:r>
              <a:rPr lang="zh-CN" altLang="en-US" sz="2400" b="1" dirty="0" smtClean="0">
                <a:solidFill>
                  <a:srgbClr val="0066FF"/>
                </a:solidFill>
                <a:latin typeface="Times New Roman" panose="02020603050405020304" pitchFamily="18" charset="0"/>
                <a:ea typeface="黑体" panose="02010609060101010101" pitchFamily="49" charset="-122"/>
                <a:cs typeface="Times New Roman" panose="02020603050405020304" pitchFamily="18" charset="0"/>
              </a:rPr>
              <a:t>如何改变</a:t>
            </a:r>
            <a:endParaRPr lang="zh-CN" altLang="en-US" sz="2400" dirty="0">
              <a:latin typeface="Times New Roman" panose="02020603050405020304" pitchFamily="18" charset="0"/>
              <a:ea typeface="黑体" panose="02010609060101010101" pitchFamily="49" charset="-122"/>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内容占位符 2"/>
          <p:cNvPicPr>
            <a:picLocks noGrp="1" noChangeAspect="1" noChangeArrowheads="1"/>
          </p:cNvPicPr>
          <p:nvPr>
            <p:ph sz="half" idx="1"/>
          </p:nvPr>
        </p:nvPicPr>
        <p:blipFill>
          <a:blip r:embed="rId1" cstate="print">
            <a:extLst>
              <a:ext uri="{28A0092B-C50C-407E-A947-70E740481C1C}">
                <a14:useLocalDpi xmlns:a14="http://schemas.microsoft.com/office/drawing/2010/main" val="0"/>
              </a:ext>
            </a:extLst>
          </a:blip>
          <a:srcRect/>
          <a:stretch>
            <a:fillRect/>
          </a:stretch>
        </p:blipFill>
        <p:spPr>
          <a:xfrm>
            <a:off x="480529" y="649771"/>
            <a:ext cx="3787775" cy="4330700"/>
          </a:xfrm>
        </p:spPr>
      </p:pic>
      <p:sp>
        <p:nvSpPr>
          <p:cNvPr id="6" name="文本占位符 206850"/>
          <p:cNvSpPr>
            <a:spLocks noGrp="1" noChangeArrowheads="1"/>
          </p:cNvSpPr>
          <p:nvPr>
            <p:ph sz="half" idx="2"/>
          </p:nvPr>
        </p:nvSpPr>
        <p:spPr>
          <a:xfrm>
            <a:off x="4023139" y="1927778"/>
            <a:ext cx="4669459" cy="2107510"/>
          </a:xfrm>
        </p:spPr>
        <p:txBody>
          <a:bodyPr>
            <a:normAutofit fontScale="92500" lnSpcReduction="20000"/>
          </a:bodyPr>
          <a:lstStyle/>
          <a:p>
            <a:pPr>
              <a:lnSpc>
                <a:spcPct val="110000"/>
              </a:lnSpc>
            </a:pPr>
            <a:r>
              <a:rPr lang="en-US" altLang="zh-CN" sz="2400" b="1" i="1" dirty="0" err="1" smtClean="0">
                <a:latin typeface="Times New Roman" panose="02020603050405020304" pitchFamily="18" charset="0"/>
                <a:ea typeface="黑体" panose="02010609060101010101" pitchFamily="49" charset="-122"/>
                <a:cs typeface="Times New Roman" panose="02020603050405020304" pitchFamily="18" charset="0"/>
              </a:rPr>
              <a:t>p</a:t>
            </a:r>
            <a:r>
              <a:rPr lang="en-US" altLang="zh-CN" sz="2400" b="1" baseline="-25000" dirty="0" err="1" smtClean="0">
                <a:latin typeface="Times New Roman" panose="02020603050405020304" pitchFamily="18" charset="0"/>
                <a:ea typeface="黑体" panose="02010609060101010101" pitchFamily="49" charset="-122"/>
                <a:cs typeface="Times New Roman" panose="02020603050405020304" pitchFamily="18" charset="0"/>
              </a:rPr>
              <a:t>b</a:t>
            </a:r>
            <a:r>
              <a:rPr lang="en-US" altLang="zh-CN" sz="2400" b="1" dirty="0" smtClean="0">
                <a:latin typeface="Times New Roman" panose="02020603050405020304" pitchFamily="18" charset="0"/>
                <a:ea typeface="黑体" panose="02010609060101010101" pitchFamily="49" charset="-122"/>
                <a:cs typeface="Times New Roman" panose="02020603050405020304" pitchFamily="18" charset="0"/>
              </a:rPr>
              <a:t>=</a:t>
            </a:r>
            <a:r>
              <a:rPr lang="en-US" altLang="zh-CN" sz="2400" b="1" i="1" dirty="0" smtClean="0">
                <a:latin typeface="Times New Roman" panose="02020603050405020304" pitchFamily="18" charset="0"/>
                <a:ea typeface="黑体" panose="02010609060101010101" pitchFamily="49" charset="-122"/>
                <a:cs typeface="Times New Roman" panose="02020603050405020304" pitchFamily="18" charset="0"/>
              </a:rPr>
              <a:t>p</a:t>
            </a:r>
            <a:r>
              <a:rPr lang="en-US" altLang="zh-CN" sz="2400" b="1" baseline="-25000" dirty="0" smtClean="0">
                <a:latin typeface="Times New Roman" panose="02020603050405020304" pitchFamily="18" charset="0"/>
                <a:ea typeface="黑体" panose="02010609060101010101" pitchFamily="49" charset="-122"/>
                <a:cs typeface="Times New Roman" panose="02020603050405020304" pitchFamily="18" charset="0"/>
              </a:rPr>
              <a:t>0</a:t>
            </a:r>
            <a:r>
              <a:rPr lang="zh-CN" altLang="en-US" sz="2400" b="1" dirty="0" smtClean="0">
                <a:latin typeface="Times New Roman" panose="02020603050405020304" pitchFamily="18" charset="0"/>
                <a:ea typeface="黑体" panose="02010609060101010101" pitchFamily="49" charset="-122"/>
                <a:cs typeface="Times New Roman" panose="02020603050405020304" pitchFamily="18" charset="0"/>
              </a:rPr>
              <a:t>（情况</a:t>
            </a:r>
            <a:r>
              <a:rPr lang="en-US" altLang="zh-CN" sz="2400" b="1" dirty="0" smtClean="0">
                <a:latin typeface="Times New Roman" panose="02020603050405020304" pitchFamily="18" charset="0"/>
                <a:ea typeface="黑体" panose="02010609060101010101" pitchFamily="49" charset="-122"/>
                <a:cs typeface="Times New Roman" panose="02020603050405020304" pitchFamily="18" charset="0"/>
              </a:rPr>
              <a:t>a</a:t>
            </a:r>
            <a:r>
              <a:rPr lang="zh-CN" altLang="en-US" sz="2400" b="1" dirty="0" smtClean="0">
                <a:latin typeface="Times New Roman" panose="02020603050405020304" pitchFamily="18" charset="0"/>
                <a:ea typeface="黑体" panose="02010609060101010101" pitchFamily="49" charset="-122"/>
                <a:cs typeface="Times New Roman" panose="02020603050405020304" pitchFamily="18" charset="0"/>
              </a:rPr>
              <a:t>）：没有气体流过喷管，此时</a:t>
            </a:r>
            <a:r>
              <a:rPr lang="en-US" altLang="zh-CN" sz="2400" b="1" i="1" dirty="0" smtClean="0">
                <a:latin typeface="Times New Roman" panose="02020603050405020304" pitchFamily="18" charset="0"/>
                <a:ea typeface="黑体" panose="02010609060101010101" pitchFamily="49" charset="-122"/>
                <a:cs typeface="Times New Roman" panose="02020603050405020304" pitchFamily="18" charset="0"/>
              </a:rPr>
              <a:t>p</a:t>
            </a:r>
            <a:r>
              <a:rPr lang="en-US" altLang="zh-CN" sz="2400" b="1" baseline="-25000" dirty="0" smtClean="0">
                <a:latin typeface="Times New Roman" panose="02020603050405020304" pitchFamily="18" charset="0"/>
                <a:ea typeface="黑体" panose="02010609060101010101" pitchFamily="49" charset="-122"/>
                <a:cs typeface="Times New Roman" panose="02020603050405020304" pitchFamily="18" charset="0"/>
              </a:rPr>
              <a:t>2</a:t>
            </a:r>
            <a:r>
              <a:rPr lang="en-US" altLang="zh-CN" sz="2400" b="1" dirty="0" smtClean="0">
                <a:latin typeface="Times New Roman" panose="02020603050405020304" pitchFamily="18" charset="0"/>
                <a:ea typeface="黑体" panose="02010609060101010101" pitchFamily="49" charset="-122"/>
                <a:cs typeface="Times New Roman" panose="02020603050405020304" pitchFamily="18" charset="0"/>
              </a:rPr>
              <a:t>=</a:t>
            </a:r>
            <a:r>
              <a:rPr lang="en-US" altLang="zh-CN" sz="2400" b="1" i="1" dirty="0" smtClean="0">
                <a:latin typeface="Times New Roman" panose="02020603050405020304" pitchFamily="18" charset="0"/>
                <a:ea typeface="黑体" panose="02010609060101010101" pitchFamily="49" charset="-122"/>
                <a:cs typeface="Times New Roman" panose="02020603050405020304" pitchFamily="18" charset="0"/>
              </a:rPr>
              <a:t>p</a:t>
            </a:r>
            <a:r>
              <a:rPr lang="en-US" altLang="zh-CN" sz="2400" b="1" baseline="-25000" dirty="0" smtClean="0">
                <a:latin typeface="Times New Roman" panose="02020603050405020304" pitchFamily="18" charset="0"/>
                <a:ea typeface="黑体" panose="02010609060101010101" pitchFamily="49" charset="-122"/>
                <a:cs typeface="Times New Roman" panose="02020603050405020304" pitchFamily="18" charset="0"/>
              </a:rPr>
              <a:t>0</a:t>
            </a:r>
            <a:r>
              <a:rPr lang="zh-CN" altLang="en-US" sz="2400" b="1" dirty="0">
                <a:latin typeface="Times New Roman" panose="02020603050405020304" pitchFamily="18" charset="0"/>
                <a:ea typeface="黑体" panose="02010609060101010101" pitchFamily="49" charset="-122"/>
                <a:cs typeface="Times New Roman" panose="02020603050405020304" pitchFamily="18" charset="0"/>
              </a:rPr>
              <a:t> </a:t>
            </a:r>
            <a:r>
              <a:rPr lang="zh-CN" altLang="en-US" sz="2400" b="1" dirty="0" smtClean="0">
                <a:latin typeface="Times New Roman" panose="02020603050405020304" pitchFamily="18" charset="0"/>
                <a:ea typeface="黑体" panose="02010609060101010101" pitchFamily="49" charset="-122"/>
                <a:cs typeface="Times New Roman" panose="02020603050405020304" pitchFamily="18" charset="0"/>
              </a:rPr>
              <a:t>，</a:t>
            </a:r>
            <a:r>
              <a:rPr lang="en-US" altLang="zh-CN" sz="2400" b="1" i="1" dirty="0" err="1" smtClean="0">
                <a:latin typeface="Times New Roman" panose="02020603050405020304" pitchFamily="18" charset="0"/>
                <a:ea typeface="黑体" panose="02010609060101010101" pitchFamily="49" charset="-122"/>
                <a:cs typeface="Times New Roman" panose="02020603050405020304" pitchFamily="18" charset="0"/>
              </a:rPr>
              <a:t>q</a:t>
            </a:r>
            <a:r>
              <a:rPr lang="en-US" altLang="zh-CN" sz="2400" b="1" baseline="-25000" dirty="0" err="1" smtClean="0">
                <a:latin typeface="Times New Roman" panose="02020603050405020304" pitchFamily="18" charset="0"/>
                <a:ea typeface="黑体" panose="02010609060101010101" pitchFamily="49" charset="-122"/>
                <a:cs typeface="Times New Roman" panose="02020603050405020304" pitchFamily="18" charset="0"/>
              </a:rPr>
              <a:t>m</a:t>
            </a:r>
            <a:r>
              <a:rPr lang="en-US" altLang="zh-CN" sz="2400" b="1" dirty="0" smtClean="0">
                <a:latin typeface="Times New Roman" panose="02020603050405020304" pitchFamily="18" charset="0"/>
                <a:ea typeface="黑体" panose="02010609060101010101" pitchFamily="49" charset="-122"/>
                <a:cs typeface="Times New Roman" panose="02020603050405020304" pitchFamily="18" charset="0"/>
              </a:rPr>
              <a:t>=0</a:t>
            </a:r>
            <a:endParaRPr lang="en-US" altLang="zh-CN" sz="2400" b="1" dirty="0" smtClean="0">
              <a:latin typeface="Times New Roman" panose="02020603050405020304" pitchFamily="18" charset="0"/>
              <a:ea typeface="黑体" panose="02010609060101010101" pitchFamily="49" charset="-122"/>
              <a:cs typeface="Times New Roman" panose="02020603050405020304" pitchFamily="18" charset="0"/>
            </a:endParaRPr>
          </a:p>
          <a:p>
            <a:pPr>
              <a:lnSpc>
                <a:spcPct val="110000"/>
              </a:lnSpc>
            </a:pPr>
            <a:r>
              <a:rPr lang="zh-CN" altLang="en-US" sz="2400" b="1" dirty="0" smtClean="0">
                <a:latin typeface="Times New Roman" panose="02020603050405020304" pitchFamily="18" charset="0"/>
                <a:ea typeface="黑体" panose="02010609060101010101" pitchFamily="49" charset="-122"/>
                <a:cs typeface="Times New Roman" panose="02020603050405020304" pitchFamily="18" charset="0"/>
              </a:rPr>
              <a:t>原因：气体流动驱动力为进、出口的压差，气体的进口压力和背压相等</a:t>
            </a:r>
            <a:r>
              <a:rPr lang="zh-CN" altLang="en-US" sz="2400" b="1" dirty="0">
                <a:latin typeface="Times New Roman" panose="02020603050405020304" pitchFamily="18" charset="0"/>
                <a:ea typeface="黑体" panose="02010609060101010101" pitchFamily="49" charset="-122"/>
                <a:cs typeface="Times New Roman" panose="02020603050405020304" pitchFamily="18" charset="0"/>
              </a:rPr>
              <a:t>（</a:t>
            </a:r>
            <a:r>
              <a:rPr lang="zh-CN" altLang="en-US" sz="2400" b="1" dirty="0" smtClean="0">
                <a:latin typeface="Times New Roman" panose="02020603050405020304" pitchFamily="18" charset="0"/>
                <a:ea typeface="黑体" panose="02010609060101010101" pitchFamily="49" charset="-122"/>
                <a:cs typeface="Times New Roman" panose="02020603050405020304" pitchFamily="18" charset="0"/>
              </a:rPr>
              <a:t>均为</a:t>
            </a:r>
            <a:r>
              <a:rPr lang="en-US" altLang="zh-CN" sz="2400" b="1" i="1" dirty="0" smtClean="0">
                <a:latin typeface="Times New Roman" panose="02020603050405020304" pitchFamily="18" charset="0"/>
                <a:ea typeface="黑体" panose="02010609060101010101" pitchFamily="49" charset="-122"/>
                <a:cs typeface="Times New Roman" panose="02020603050405020304" pitchFamily="18" charset="0"/>
              </a:rPr>
              <a:t>p</a:t>
            </a:r>
            <a:r>
              <a:rPr lang="en-US" altLang="zh-CN" sz="2400" b="1" baseline="-25000" dirty="0" smtClean="0">
                <a:latin typeface="Times New Roman" panose="02020603050405020304" pitchFamily="18" charset="0"/>
                <a:ea typeface="黑体" panose="02010609060101010101" pitchFamily="49" charset="-122"/>
                <a:cs typeface="Times New Roman" panose="02020603050405020304" pitchFamily="18" charset="0"/>
              </a:rPr>
              <a:t>0</a:t>
            </a:r>
            <a:r>
              <a:rPr lang="zh-CN" altLang="en-US" sz="2400" b="1" dirty="0" smtClean="0">
                <a:latin typeface="Times New Roman" panose="02020603050405020304" pitchFamily="18" charset="0"/>
                <a:ea typeface="黑体" panose="02010609060101010101" pitchFamily="49" charset="-122"/>
                <a:cs typeface="Times New Roman" panose="02020603050405020304" pitchFamily="18" charset="0"/>
              </a:rPr>
              <a:t> ），没有驱动力，自然就没有流动</a:t>
            </a:r>
            <a:endParaRPr lang="zh-CN" altLang="en-US" sz="2400" b="1" dirty="0" smtClean="0">
              <a:latin typeface="Times New Roman" panose="02020603050405020304" pitchFamily="18" charset="0"/>
              <a:ea typeface="黑体" panose="02010609060101010101" pitchFamily="49" charset="-122"/>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6" name="文本占位符 207874"/>
          <p:cNvSpPr>
            <a:spLocks noGrp="1" noChangeArrowheads="1"/>
          </p:cNvSpPr>
          <p:nvPr>
            <p:ph type="body" sz="half" idx="2"/>
          </p:nvPr>
        </p:nvSpPr>
        <p:spPr>
          <a:xfrm>
            <a:off x="3671957" y="305006"/>
            <a:ext cx="5359400" cy="6287950"/>
          </a:xfrm>
        </p:spPr>
        <p:txBody>
          <a:bodyPr>
            <a:noAutofit/>
          </a:bodyPr>
          <a:lstStyle/>
          <a:p>
            <a:pPr>
              <a:lnSpc>
                <a:spcPct val="100000"/>
              </a:lnSpc>
              <a:spcBef>
                <a:spcPts val="0"/>
              </a:spcBef>
            </a:pPr>
            <a:r>
              <a:rPr lang="zh-CN" altLang="en-US" sz="2200" b="1" dirty="0" smtClean="0">
                <a:latin typeface="Times New Roman" panose="02020603050405020304" pitchFamily="18" charset="0"/>
                <a:ea typeface="黑体" panose="02010609060101010101" pitchFamily="49" charset="-122"/>
                <a:cs typeface="Times New Roman" panose="02020603050405020304" pitchFamily="18" charset="0"/>
              </a:rPr>
              <a:t>降低背压后</a:t>
            </a:r>
            <a:r>
              <a:rPr lang="zh-CN" altLang="en-US" sz="2000" b="1" dirty="0">
                <a:latin typeface="Times New Roman" panose="02020603050405020304" pitchFamily="18" charset="0"/>
                <a:ea typeface="黑体" panose="02010609060101010101" pitchFamily="49" charset="-122"/>
                <a:cs typeface="Times New Roman" panose="02020603050405020304" pitchFamily="18" charset="0"/>
              </a:rPr>
              <a:t>（ </a:t>
            </a:r>
            <a:r>
              <a:rPr lang="en-US" altLang="zh-CN" sz="2200" b="1" dirty="0" smtClean="0">
                <a:latin typeface="Times New Roman" panose="02020603050405020304" pitchFamily="18" charset="0"/>
                <a:ea typeface="黑体" panose="02010609060101010101" pitchFamily="49" charset="-122"/>
                <a:cs typeface="Times New Roman" panose="02020603050405020304" pitchFamily="18" charset="0"/>
              </a:rPr>
              <a:t>b</a:t>
            </a:r>
            <a:r>
              <a:rPr lang="zh-CN" altLang="en-US" sz="2200" b="1" dirty="0" smtClean="0">
                <a:latin typeface="Times New Roman" panose="02020603050405020304" pitchFamily="18" charset="0"/>
                <a:ea typeface="黑体" panose="02010609060101010101" pitchFamily="49" charset="-122"/>
                <a:cs typeface="Times New Roman" panose="02020603050405020304" pitchFamily="18" charset="0"/>
              </a:rPr>
              <a:t>和</a:t>
            </a:r>
            <a:r>
              <a:rPr lang="en-US" altLang="zh-CN" sz="2200" b="1" dirty="0" smtClean="0">
                <a:latin typeface="Times New Roman" panose="02020603050405020304" pitchFamily="18" charset="0"/>
                <a:ea typeface="黑体" panose="02010609060101010101" pitchFamily="49" charset="-122"/>
                <a:cs typeface="Times New Roman" panose="02020603050405020304" pitchFamily="18" charset="0"/>
              </a:rPr>
              <a:t>c</a:t>
            </a:r>
            <a:r>
              <a:rPr lang="zh-CN" altLang="en-US" sz="2000" b="1" dirty="0">
                <a:latin typeface="Times New Roman" panose="02020603050405020304" pitchFamily="18" charset="0"/>
                <a:ea typeface="黑体" panose="02010609060101010101" pitchFamily="49" charset="-122"/>
                <a:cs typeface="Times New Roman" panose="02020603050405020304" pitchFamily="18" charset="0"/>
              </a:rPr>
              <a:t> ） </a:t>
            </a:r>
            <a:r>
              <a:rPr lang="zh-CN" altLang="en-US" sz="2200" b="1" dirty="0" smtClean="0">
                <a:latin typeface="Times New Roman" panose="02020603050405020304" pitchFamily="18" charset="0"/>
                <a:ea typeface="黑体" panose="02010609060101010101" pitchFamily="49" charset="-122"/>
                <a:cs typeface="Times New Roman" panose="02020603050405020304" pitchFamily="18" charset="0"/>
              </a:rPr>
              <a:t>，有气体流过喷管</a:t>
            </a:r>
            <a:endParaRPr lang="zh-CN" altLang="en-US" sz="2200" b="1" dirty="0" smtClean="0">
              <a:latin typeface="Times New Roman" panose="02020603050405020304" pitchFamily="18" charset="0"/>
              <a:ea typeface="黑体" panose="02010609060101010101" pitchFamily="49" charset="-122"/>
              <a:cs typeface="Times New Roman" panose="02020603050405020304" pitchFamily="18" charset="0"/>
            </a:endParaRPr>
          </a:p>
          <a:p>
            <a:pPr>
              <a:lnSpc>
                <a:spcPct val="100000"/>
              </a:lnSpc>
              <a:spcBef>
                <a:spcPts val="0"/>
              </a:spcBef>
            </a:pPr>
            <a:r>
              <a:rPr lang="zh-CN" altLang="en-US" sz="2200" b="1" dirty="0" smtClean="0">
                <a:latin typeface="Times New Roman" panose="02020603050405020304" pitchFamily="18" charset="0"/>
                <a:ea typeface="黑体" panose="02010609060101010101" pitchFamily="49" charset="-122"/>
                <a:cs typeface="Times New Roman" panose="02020603050405020304" pitchFamily="18" charset="0"/>
              </a:rPr>
              <a:t>气体在喷管中以亚声速流动，在出口处仍为亚声速</a:t>
            </a:r>
            <a:endParaRPr lang="zh-CN" altLang="en-US" sz="2200" b="1" dirty="0" smtClean="0">
              <a:latin typeface="Times New Roman" panose="02020603050405020304" pitchFamily="18" charset="0"/>
              <a:ea typeface="黑体" panose="02010609060101010101" pitchFamily="49" charset="-122"/>
              <a:cs typeface="Times New Roman" panose="02020603050405020304" pitchFamily="18" charset="0"/>
            </a:endParaRPr>
          </a:p>
          <a:p>
            <a:pPr>
              <a:lnSpc>
                <a:spcPct val="100000"/>
              </a:lnSpc>
              <a:spcBef>
                <a:spcPts val="0"/>
              </a:spcBef>
            </a:pPr>
            <a:r>
              <a:rPr lang="zh-CN" altLang="en-US" sz="2200" b="1" dirty="0" smtClean="0">
                <a:latin typeface="Times New Roman" panose="02020603050405020304" pitchFamily="18" charset="0"/>
                <a:ea typeface="黑体" panose="02010609060101010101" pitchFamily="49" charset="-122"/>
                <a:cs typeface="Times New Roman" panose="02020603050405020304" pitchFamily="18" charset="0"/>
              </a:rPr>
              <a:t>根据亚声速流动性质</a:t>
            </a:r>
            <a:r>
              <a:rPr lang="zh-CN" altLang="en-US" sz="2000" b="1" dirty="0">
                <a:latin typeface="Times New Roman" panose="02020603050405020304" pitchFamily="18" charset="0"/>
                <a:ea typeface="黑体" panose="02010609060101010101" pitchFamily="49" charset="-122"/>
                <a:cs typeface="Times New Roman" panose="02020603050405020304" pitchFamily="18" charset="0"/>
              </a:rPr>
              <a:t>（</a:t>
            </a:r>
            <a:r>
              <a:rPr lang="zh-CN" altLang="en-US" sz="2200" b="1" dirty="0" smtClean="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扰动可以向上游传播，因为扰动的传播速度是当地声速，而亚声速气流的速度小于当地声速</a:t>
            </a:r>
            <a:r>
              <a:rPr lang="zh-CN" altLang="en-US" sz="2000" b="1" dirty="0">
                <a:latin typeface="Times New Roman" panose="02020603050405020304" pitchFamily="18" charset="0"/>
                <a:ea typeface="黑体" panose="02010609060101010101" pitchFamily="49" charset="-122"/>
                <a:cs typeface="Times New Roman" panose="02020603050405020304" pitchFamily="18" charset="0"/>
              </a:rPr>
              <a:t>） </a:t>
            </a:r>
            <a:r>
              <a:rPr lang="zh-CN" altLang="en-US" sz="2200" b="1" dirty="0" smtClean="0">
                <a:latin typeface="Times New Roman" panose="02020603050405020304" pitchFamily="18" charset="0"/>
                <a:ea typeface="黑体" panose="02010609060101010101" pitchFamily="49" charset="-122"/>
                <a:cs typeface="Times New Roman" panose="02020603050405020304" pitchFamily="18" charset="0"/>
              </a:rPr>
              <a:t>，管道出口截面外环境条件的变化可以向上游传播</a:t>
            </a:r>
            <a:endParaRPr lang="zh-CN" altLang="en-US" sz="2200" b="1" dirty="0" smtClean="0">
              <a:latin typeface="Times New Roman" panose="02020603050405020304" pitchFamily="18" charset="0"/>
              <a:ea typeface="黑体" panose="02010609060101010101" pitchFamily="49" charset="-122"/>
              <a:cs typeface="Times New Roman" panose="02020603050405020304" pitchFamily="18" charset="0"/>
            </a:endParaRPr>
          </a:p>
          <a:p>
            <a:pPr>
              <a:lnSpc>
                <a:spcPct val="100000"/>
              </a:lnSpc>
              <a:spcBef>
                <a:spcPts val="0"/>
              </a:spcBef>
            </a:pPr>
            <a:r>
              <a:rPr lang="zh-CN" altLang="en-US" sz="2200" b="1" dirty="0" smtClean="0">
                <a:latin typeface="Times New Roman" panose="02020603050405020304" pitchFamily="18" charset="0"/>
                <a:ea typeface="黑体" panose="02010609060101010101" pitchFamily="49" charset="-122"/>
                <a:cs typeface="Times New Roman" panose="02020603050405020304" pitchFamily="18" charset="0"/>
              </a:rPr>
              <a:t>因此，背压每降低到一个新的数值，气体的出口截面压力也会跟着背压降低到这个新的数值，喷管中气体的压力就会有一个新的分布 </a:t>
            </a:r>
            <a:endParaRPr lang="zh-CN" altLang="en-US" sz="2200" b="1" dirty="0" smtClean="0">
              <a:latin typeface="Times New Roman" panose="02020603050405020304" pitchFamily="18" charset="0"/>
              <a:ea typeface="黑体" panose="02010609060101010101" pitchFamily="49" charset="-122"/>
              <a:cs typeface="Times New Roman" panose="02020603050405020304" pitchFamily="18" charset="0"/>
            </a:endParaRPr>
          </a:p>
          <a:p>
            <a:pPr>
              <a:lnSpc>
                <a:spcPct val="100000"/>
              </a:lnSpc>
              <a:spcBef>
                <a:spcPts val="0"/>
              </a:spcBef>
            </a:pPr>
            <a:r>
              <a:rPr lang="zh-CN" altLang="en-US" sz="2200" b="1" dirty="0" smtClean="0">
                <a:latin typeface="Times New Roman" panose="02020603050405020304" pitchFamily="18" charset="0"/>
                <a:ea typeface="黑体" panose="02010609060101010101" pitchFamily="49" charset="-122"/>
                <a:cs typeface="Times New Roman" panose="02020603050405020304" pitchFamily="18" charset="0"/>
              </a:rPr>
              <a:t>且背压越低，出口马赫数越大，流经喷管的质量流量也越大 </a:t>
            </a:r>
            <a:endParaRPr lang="zh-CN" altLang="en-US" sz="2200" b="1" dirty="0" smtClean="0">
              <a:latin typeface="Times New Roman" panose="02020603050405020304" pitchFamily="18" charset="0"/>
              <a:ea typeface="黑体" panose="02010609060101010101" pitchFamily="49" charset="-122"/>
              <a:cs typeface="Times New Roman" panose="02020603050405020304" pitchFamily="18" charset="0"/>
            </a:endParaRPr>
          </a:p>
          <a:p>
            <a:pPr>
              <a:lnSpc>
                <a:spcPct val="100000"/>
              </a:lnSpc>
              <a:spcBef>
                <a:spcPts val="0"/>
              </a:spcBef>
            </a:pPr>
            <a:r>
              <a:rPr lang="zh-CN" altLang="en-US" sz="2200" b="1" dirty="0" smtClean="0">
                <a:latin typeface="Times New Roman" panose="02020603050405020304" pitchFamily="18" charset="0"/>
                <a:ea typeface="黑体" panose="02010609060101010101" pitchFamily="49" charset="-122"/>
                <a:cs typeface="Times New Roman" panose="02020603050405020304" pitchFamily="18" charset="0"/>
              </a:rPr>
              <a:t>当背压降低到临界压力</a:t>
            </a:r>
            <a:r>
              <a:rPr lang="en-US" altLang="zh-CN" sz="2200" b="1" i="1" dirty="0" err="1" smtClean="0">
                <a:latin typeface="Times New Roman" panose="02020603050405020304" pitchFamily="18" charset="0"/>
                <a:ea typeface="黑体" panose="02010609060101010101" pitchFamily="49" charset="-122"/>
                <a:cs typeface="Times New Roman" panose="02020603050405020304" pitchFamily="18" charset="0"/>
              </a:rPr>
              <a:t>p</a:t>
            </a:r>
            <a:r>
              <a:rPr lang="en-US" altLang="zh-CN" sz="2200" b="1" baseline="-25000" dirty="0" err="1" smtClean="0">
                <a:latin typeface="Times New Roman" panose="02020603050405020304" pitchFamily="18" charset="0"/>
                <a:ea typeface="黑体" panose="02010609060101010101" pitchFamily="49" charset="-122"/>
                <a:cs typeface="Times New Roman" panose="02020603050405020304" pitchFamily="18" charset="0"/>
              </a:rPr>
              <a:t>cr</a:t>
            </a:r>
            <a:r>
              <a:rPr lang="zh-CN" altLang="en-US" sz="2200" b="1" dirty="0" smtClean="0">
                <a:latin typeface="Times New Roman" panose="02020603050405020304" pitchFamily="18" charset="0"/>
                <a:ea typeface="黑体" panose="02010609060101010101" pitchFamily="49" charset="-122"/>
                <a:cs typeface="Times New Roman" panose="02020603050405020304" pitchFamily="18" charset="0"/>
              </a:rPr>
              <a:t>时，气体的出口截面压力等于</a:t>
            </a:r>
            <a:r>
              <a:rPr lang="en-US" altLang="zh-CN" sz="2200" b="1" i="1" dirty="0" err="1" smtClean="0">
                <a:latin typeface="Times New Roman" panose="02020603050405020304" pitchFamily="18" charset="0"/>
                <a:ea typeface="黑体" panose="02010609060101010101" pitchFamily="49" charset="-122"/>
                <a:cs typeface="Times New Roman" panose="02020603050405020304" pitchFamily="18" charset="0"/>
              </a:rPr>
              <a:t>p</a:t>
            </a:r>
            <a:r>
              <a:rPr lang="en-US" altLang="zh-CN" sz="2200" b="1" baseline="-25000" dirty="0" err="1" smtClean="0">
                <a:latin typeface="Times New Roman" panose="02020603050405020304" pitchFamily="18" charset="0"/>
                <a:ea typeface="黑体" panose="02010609060101010101" pitchFamily="49" charset="-122"/>
                <a:cs typeface="Times New Roman" panose="02020603050405020304" pitchFamily="18" charset="0"/>
              </a:rPr>
              <a:t>cr</a:t>
            </a:r>
            <a:r>
              <a:rPr lang="zh-CN" altLang="en-US" sz="2200" b="1" dirty="0" smtClean="0">
                <a:latin typeface="Times New Roman" panose="02020603050405020304" pitchFamily="18" charset="0"/>
                <a:ea typeface="黑体" panose="02010609060101010101" pitchFamily="49" charset="-122"/>
                <a:cs typeface="Times New Roman" panose="02020603050405020304" pitchFamily="18" charset="0"/>
              </a:rPr>
              <a:t>，出口</a:t>
            </a:r>
            <a:r>
              <a:rPr lang="en-US" altLang="zh-CN" sz="2200" b="1" i="1" dirty="0" smtClean="0">
                <a:latin typeface="Times New Roman" panose="02020603050405020304" pitchFamily="18" charset="0"/>
                <a:ea typeface="黑体" panose="02010609060101010101" pitchFamily="49" charset="-122"/>
                <a:cs typeface="Times New Roman" panose="02020603050405020304" pitchFamily="18" charset="0"/>
              </a:rPr>
              <a:t>Ma</a:t>
            </a:r>
            <a:r>
              <a:rPr lang="en-US" altLang="zh-CN" sz="2200" b="1" dirty="0" smtClean="0">
                <a:latin typeface="Times New Roman" panose="02020603050405020304" pitchFamily="18" charset="0"/>
                <a:ea typeface="黑体" panose="02010609060101010101" pitchFamily="49" charset="-122"/>
                <a:cs typeface="Times New Roman" panose="02020603050405020304" pitchFamily="18" charset="0"/>
              </a:rPr>
              <a:t>=1</a:t>
            </a:r>
            <a:r>
              <a:rPr lang="zh-CN" altLang="en-US" sz="2000" b="1" dirty="0">
                <a:latin typeface="Times New Roman" panose="02020603050405020304" pitchFamily="18" charset="0"/>
                <a:ea typeface="黑体" panose="02010609060101010101" pitchFamily="49" charset="-122"/>
                <a:cs typeface="Times New Roman" panose="02020603050405020304" pitchFamily="18" charset="0"/>
              </a:rPr>
              <a:t> （</a:t>
            </a:r>
            <a:r>
              <a:rPr lang="zh-CN" altLang="en-US" sz="2200" b="1" dirty="0" smtClean="0">
                <a:latin typeface="Times New Roman" panose="02020603050405020304" pitchFamily="18" charset="0"/>
                <a:ea typeface="黑体" panose="02010609060101010101" pitchFamily="49" charset="-122"/>
                <a:cs typeface="Times New Roman" panose="02020603050405020304" pitchFamily="18" charset="0"/>
              </a:rPr>
              <a:t>情况</a:t>
            </a:r>
            <a:r>
              <a:rPr lang="en-US" altLang="zh-CN" sz="2200" b="1" dirty="0" smtClean="0">
                <a:latin typeface="Times New Roman" panose="02020603050405020304" pitchFamily="18" charset="0"/>
                <a:ea typeface="黑体" panose="02010609060101010101" pitchFamily="49" charset="-122"/>
                <a:cs typeface="Times New Roman" panose="02020603050405020304" pitchFamily="18" charset="0"/>
              </a:rPr>
              <a:t>d</a:t>
            </a:r>
            <a:r>
              <a:rPr lang="zh-CN" altLang="en-US" sz="2000" b="1" dirty="0">
                <a:latin typeface="Times New Roman" panose="02020603050405020304" pitchFamily="18" charset="0"/>
                <a:ea typeface="黑体" panose="02010609060101010101" pitchFamily="49" charset="-122"/>
                <a:cs typeface="Times New Roman" panose="02020603050405020304" pitchFamily="18" charset="0"/>
              </a:rPr>
              <a:t> ）</a:t>
            </a:r>
            <a:r>
              <a:rPr lang="zh-CN" altLang="en-US" sz="2200" b="1" dirty="0" smtClean="0">
                <a:latin typeface="Times New Roman" panose="02020603050405020304" pitchFamily="18" charset="0"/>
                <a:ea typeface="黑体" panose="02010609060101010101" pitchFamily="49" charset="-122"/>
                <a:cs typeface="Times New Roman" panose="02020603050405020304" pitchFamily="18" charset="0"/>
              </a:rPr>
              <a:t> </a:t>
            </a:r>
            <a:endParaRPr lang="zh-CN" altLang="en-US" sz="2200" b="1" dirty="0" smtClean="0">
              <a:latin typeface="Times New Roman" panose="02020603050405020304" pitchFamily="18" charset="0"/>
              <a:ea typeface="黑体" panose="02010609060101010101" pitchFamily="49" charset="-122"/>
              <a:cs typeface="Times New Roman" panose="02020603050405020304" pitchFamily="18" charset="0"/>
            </a:endParaRPr>
          </a:p>
        </p:txBody>
      </p:sp>
      <p:pic>
        <p:nvPicPr>
          <p:cNvPr id="103427" name="内容占位符 2"/>
          <p:cNvPicPr>
            <a:picLocks noGrp="1" noChangeAspect="1" noChangeArrowheads="1"/>
          </p:cNvPicPr>
          <p:nvPr>
            <p:ph sz="half" idx="1"/>
          </p:nvPr>
        </p:nvPicPr>
        <p:blipFill>
          <a:blip r:embed="rId1" cstate="print">
            <a:extLst>
              <a:ext uri="{28A0092B-C50C-407E-A947-70E740481C1C}">
                <a14:useLocalDpi xmlns:a14="http://schemas.microsoft.com/office/drawing/2010/main" val="0"/>
              </a:ext>
            </a:extLst>
          </a:blip>
          <a:srcRect/>
          <a:stretch>
            <a:fillRect/>
          </a:stretch>
        </p:blipFill>
        <p:spPr>
          <a:xfrm>
            <a:off x="-3175" y="1133475"/>
            <a:ext cx="3787775" cy="4330700"/>
          </a:xfrm>
        </p:spPr>
      </p:pic>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50" name="文本占位符 208897"/>
          <p:cNvSpPr>
            <a:spLocks noGrp="1" noChangeArrowheads="1"/>
          </p:cNvSpPr>
          <p:nvPr>
            <p:ph type="body" sz="half" idx="2"/>
          </p:nvPr>
        </p:nvSpPr>
        <p:spPr>
          <a:xfrm>
            <a:off x="3957430" y="358225"/>
            <a:ext cx="4608513" cy="4525963"/>
          </a:xfrm>
        </p:spPr>
        <p:txBody>
          <a:bodyPr/>
          <a:lstStyle/>
          <a:p>
            <a:r>
              <a:rPr lang="zh-CN" altLang="en-US" sz="2400" b="1" dirty="0" smtClean="0">
                <a:latin typeface="Times New Roman" panose="02020603050405020304" pitchFamily="18" charset="0"/>
                <a:ea typeface="黑体" panose="02010609060101010101" pitchFamily="49" charset="-122"/>
                <a:cs typeface="Times New Roman" panose="02020603050405020304" pitchFamily="18" charset="0"/>
              </a:rPr>
              <a:t>在情况</a:t>
            </a:r>
            <a:r>
              <a:rPr lang="en-US" altLang="zh-CN" sz="2400" b="1" dirty="0" smtClean="0">
                <a:latin typeface="Times New Roman" panose="02020603050405020304" pitchFamily="18" charset="0"/>
                <a:ea typeface="黑体" panose="02010609060101010101" pitchFamily="49" charset="-122"/>
                <a:cs typeface="Times New Roman" panose="02020603050405020304" pitchFamily="18" charset="0"/>
              </a:rPr>
              <a:t>d</a:t>
            </a:r>
            <a:r>
              <a:rPr lang="zh-CN" altLang="en-US" sz="2400" b="1" dirty="0" smtClean="0">
                <a:latin typeface="Times New Roman" panose="02020603050405020304" pitchFamily="18" charset="0"/>
                <a:ea typeface="黑体" panose="02010609060101010101" pitchFamily="49" charset="-122"/>
                <a:cs typeface="Times New Roman" panose="02020603050405020304" pitchFamily="18" charset="0"/>
              </a:rPr>
              <a:t>之后，无论再怎样降低背压（如情况</a:t>
            </a:r>
            <a:r>
              <a:rPr lang="en-US" altLang="zh-CN" sz="2400" b="1" dirty="0" smtClean="0">
                <a:latin typeface="Times New Roman" panose="02020603050405020304" pitchFamily="18" charset="0"/>
                <a:ea typeface="黑体" panose="02010609060101010101" pitchFamily="49" charset="-122"/>
                <a:cs typeface="Times New Roman" panose="02020603050405020304" pitchFamily="18" charset="0"/>
              </a:rPr>
              <a:t>e</a:t>
            </a:r>
            <a:r>
              <a:rPr lang="zh-CN" altLang="en-US" sz="2400" b="1" dirty="0" smtClean="0">
                <a:latin typeface="Times New Roman" panose="02020603050405020304" pitchFamily="18" charset="0"/>
                <a:ea typeface="黑体" panose="02010609060101010101" pitchFamily="49" charset="-122"/>
                <a:cs typeface="Times New Roman" panose="02020603050405020304" pitchFamily="18" charset="0"/>
              </a:rPr>
              <a:t>），都不会对喷管内的流动产生任何影响：喷管内的压力分布和流过喷管的质量流量与情况</a:t>
            </a:r>
            <a:r>
              <a:rPr lang="en-US" altLang="zh-CN" sz="2400" b="1" dirty="0" smtClean="0">
                <a:latin typeface="Times New Roman" panose="02020603050405020304" pitchFamily="18" charset="0"/>
                <a:ea typeface="黑体" panose="02010609060101010101" pitchFamily="49" charset="-122"/>
                <a:cs typeface="Times New Roman" panose="02020603050405020304" pitchFamily="18" charset="0"/>
              </a:rPr>
              <a:t>d</a:t>
            </a:r>
            <a:r>
              <a:rPr lang="zh-CN" altLang="en-US" sz="2400" b="1" dirty="0" smtClean="0">
                <a:latin typeface="Times New Roman" panose="02020603050405020304" pitchFamily="18" charset="0"/>
                <a:ea typeface="黑体" panose="02010609060101010101" pitchFamily="49" charset="-122"/>
                <a:cs typeface="Times New Roman" panose="02020603050405020304" pitchFamily="18" charset="0"/>
              </a:rPr>
              <a:t>相同，出口马赫数仍为</a:t>
            </a:r>
            <a:r>
              <a:rPr lang="en-US" altLang="zh-CN" sz="2400" b="1" dirty="0" smtClean="0">
                <a:latin typeface="Times New Roman" panose="02020603050405020304" pitchFamily="18" charset="0"/>
                <a:ea typeface="黑体" panose="02010609060101010101" pitchFamily="49" charset="-122"/>
                <a:cs typeface="Times New Roman" panose="02020603050405020304" pitchFamily="18" charset="0"/>
              </a:rPr>
              <a:t>1 </a:t>
            </a:r>
            <a:endParaRPr lang="en-US" altLang="zh-CN" sz="2400" b="1" dirty="0" smtClean="0">
              <a:latin typeface="Times New Roman" panose="02020603050405020304" pitchFamily="18" charset="0"/>
              <a:ea typeface="黑体" panose="02010609060101010101" pitchFamily="49" charset="-122"/>
              <a:cs typeface="Times New Roman" panose="02020603050405020304" pitchFamily="18" charset="0"/>
            </a:endParaRPr>
          </a:p>
          <a:p>
            <a:r>
              <a:rPr lang="zh-CN" altLang="en-US" sz="2400" b="1" dirty="0" smtClean="0">
                <a:latin typeface="Times New Roman" panose="02020603050405020304" pitchFamily="18" charset="0"/>
                <a:ea typeface="黑体" panose="02010609060101010101" pitchFamily="49" charset="-122"/>
                <a:cs typeface="Times New Roman" panose="02020603050405020304" pitchFamily="18" charset="0"/>
              </a:rPr>
              <a:t>从扰动传播的角度来解释，此时出口马赫数等于</a:t>
            </a:r>
            <a:r>
              <a:rPr lang="en-US" altLang="zh-CN" sz="2400" b="1" dirty="0" smtClean="0">
                <a:latin typeface="Times New Roman" panose="02020603050405020304" pitchFamily="18" charset="0"/>
                <a:ea typeface="黑体" panose="02010609060101010101" pitchFamily="49" charset="-122"/>
                <a:cs typeface="Times New Roman" panose="02020603050405020304" pitchFamily="18" charset="0"/>
              </a:rPr>
              <a:t>1</a:t>
            </a:r>
            <a:r>
              <a:rPr lang="zh-CN" altLang="en-US" sz="2400" b="1" dirty="0" smtClean="0">
                <a:latin typeface="Times New Roman" panose="02020603050405020304" pitchFamily="18" charset="0"/>
                <a:ea typeface="黑体" panose="02010609060101010101" pitchFamily="49" charset="-122"/>
                <a:cs typeface="Times New Roman" panose="02020603050405020304" pitchFamily="18" charset="0"/>
              </a:rPr>
              <a:t>时，出口流速等于当地声速，管道出口截面外环境条件的变化不能再向上游传播了 </a:t>
            </a:r>
            <a:endParaRPr lang="zh-CN" altLang="en-US" sz="2400" b="1" dirty="0" smtClean="0">
              <a:latin typeface="Times New Roman" panose="02020603050405020304" pitchFamily="18" charset="0"/>
              <a:ea typeface="黑体" panose="02010609060101010101" pitchFamily="49" charset="-122"/>
              <a:cs typeface="Times New Roman" panose="02020603050405020304" pitchFamily="18" charset="0"/>
            </a:endParaRPr>
          </a:p>
        </p:txBody>
      </p:sp>
      <p:sp>
        <p:nvSpPr>
          <p:cNvPr id="208901" name="矩形 208900"/>
          <p:cNvSpPr>
            <a:spLocks noChangeArrowheads="1"/>
          </p:cNvSpPr>
          <p:nvPr/>
        </p:nvSpPr>
        <p:spPr bwMode="auto">
          <a:xfrm>
            <a:off x="415305" y="5133975"/>
            <a:ext cx="8208962" cy="120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r>
              <a:rPr lang="en-US" altLang="zh-CN" sz="2400" b="1" i="1" dirty="0" err="1">
                <a:latin typeface="Times New Roman" panose="02020603050405020304" pitchFamily="18" charset="0"/>
                <a:ea typeface="黑体" panose="02010609060101010101" pitchFamily="49" charset="-122"/>
                <a:cs typeface="Times New Roman" panose="02020603050405020304" pitchFamily="18" charset="0"/>
              </a:rPr>
              <a:t>p</a:t>
            </a:r>
            <a:r>
              <a:rPr lang="en-US" altLang="zh-CN" sz="2400" b="1" baseline="-25000" dirty="0" err="1">
                <a:latin typeface="Times New Roman" panose="02020603050405020304" pitchFamily="18" charset="0"/>
                <a:ea typeface="黑体" panose="02010609060101010101" pitchFamily="49" charset="-122"/>
                <a:cs typeface="Times New Roman" panose="02020603050405020304" pitchFamily="18" charset="0"/>
              </a:rPr>
              <a:t>b</a:t>
            </a:r>
            <a:r>
              <a:rPr lang="en-US" altLang="zh-CN" sz="2400" b="1" dirty="0">
                <a:latin typeface="Times New Roman" panose="02020603050405020304" pitchFamily="18" charset="0"/>
                <a:ea typeface="黑体" panose="02010609060101010101" pitchFamily="49" charset="-122"/>
                <a:cs typeface="Times New Roman" panose="02020603050405020304" pitchFamily="18" charset="0"/>
              </a:rPr>
              <a:t>&lt;</a:t>
            </a:r>
            <a:r>
              <a:rPr lang="en-US" altLang="zh-CN" sz="2400" b="1" i="1" dirty="0" err="1">
                <a:latin typeface="Times New Roman" panose="02020603050405020304" pitchFamily="18" charset="0"/>
                <a:ea typeface="黑体" panose="02010609060101010101" pitchFamily="49" charset="-122"/>
                <a:cs typeface="Times New Roman" panose="02020603050405020304" pitchFamily="18" charset="0"/>
              </a:rPr>
              <a:t>p</a:t>
            </a:r>
            <a:r>
              <a:rPr lang="en-US" altLang="zh-CN" sz="2400" b="1" baseline="-25000" dirty="0" err="1">
                <a:latin typeface="Times New Roman" panose="02020603050405020304" pitchFamily="18" charset="0"/>
                <a:ea typeface="黑体" panose="02010609060101010101" pitchFamily="49" charset="-122"/>
                <a:cs typeface="Times New Roman" panose="02020603050405020304" pitchFamily="18" charset="0"/>
              </a:rPr>
              <a:t>cr</a:t>
            </a:r>
            <a:r>
              <a:rPr lang="zh-CN" altLang="en-US" sz="2400" b="1" dirty="0">
                <a:latin typeface="Times New Roman" panose="02020603050405020304" pitchFamily="18" charset="0"/>
                <a:ea typeface="黑体" panose="02010609060101010101" pitchFamily="49" charset="-122"/>
                <a:cs typeface="Times New Roman" panose="02020603050405020304" pitchFamily="18" charset="0"/>
              </a:rPr>
              <a:t>的情况，喷管被“堵塞”（</a:t>
            </a:r>
            <a:r>
              <a:rPr lang="en-US" altLang="zh-CN" sz="2400" b="1" dirty="0">
                <a:latin typeface="Times New Roman" panose="02020603050405020304" pitchFamily="18" charset="0"/>
                <a:ea typeface="黑体" panose="02010609060101010101" pitchFamily="49" charset="-122"/>
                <a:cs typeface="Times New Roman" panose="02020603050405020304" pitchFamily="18" charset="0"/>
              </a:rPr>
              <a:t>choked</a:t>
            </a:r>
            <a:r>
              <a:rPr lang="zh-CN" altLang="en-US" sz="2400" b="1" dirty="0">
                <a:latin typeface="Times New Roman" panose="02020603050405020304" pitchFamily="18" charset="0"/>
                <a:ea typeface="黑体" panose="02010609060101010101" pitchFamily="49" charset="-122"/>
                <a:cs typeface="Times New Roman" panose="02020603050405020304" pitchFamily="18" charset="0"/>
              </a:rPr>
              <a:t>）了，此时通过喷管的质量流量是给定滞止参数下的最大质量流量，也称为</a:t>
            </a:r>
            <a:r>
              <a:rPr lang="zh-CN" altLang="en-US" sz="2400" b="1"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堵塞流量 </a:t>
            </a:r>
            <a:endParaRPr lang="zh-CN" altLang="en-US" sz="2400" b="1"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endParaRPr>
          </a:p>
        </p:txBody>
      </p:sp>
      <p:pic>
        <p:nvPicPr>
          <p:cNvPr id="104452" name="图片 2"/>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206168" y="358225"/>
            <a:ext cx="3800475" cy="4344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ustDataLst>
      <p:tags r:id="rId2"/>
    </p:custData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08901"/>
                                        </p:tgtEl>
                                        <p:attrNameLst>
                                          <p:attrName>style.visibility</p:attrName>
                                        </p:attrNameLst>
                                      </p:cBhvr>
                                      <p:to>
                                        <p:strVal val="visible"/>
                                      </p:to>
                                    </p:set>
                                    <p:animEffect transition="in" filter="blinds(horizontal)">
                                      <p:cBhvr>
                                        <p:cTn id="7" dur="500"/>
                                        <p:tgtEl>
                                          <p:spTgt spid="20890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8901" grpId="0"/>
    </p:bld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3" name="文本占位符 209921"/>
          <p:cNvSpPr>
            <a:spLocks noGrp="1" noChangeArrowheads="1"/>
          </p:cNvSpPr>
          <p:nvPr>
            <p:ph type="body" sz="half" idx="2"/>
          </p:nvPr>
        </p:nvSpPr>
        <p:spPr>
          <a:xfrm>
            <a:off x="4067175" y="1341438"/>
            <a:ext cx="4679950" cy="4525962"/>
          </a:xfrm>
        </p:spPr>
        <p:txBody>
          <a:bodyPr/>
          <a:lstStyle/>
          <a:p>
            <a:r>
              <a:rPr lang="zh-CN" altLang="en-US" sz="2800" b="1" dirty="0" smtClean="0">
                <a:latin typeface="Times New Roman" panose="02020603050405020304" pitchFamily="18" charset="0"/>
                <a:ea typeface="黑体" panose="02010609060101010101" pitchFamily="49" charset="-122"/>
                <a:cs typeface="Times New Roman" panose="02020603050405020304" pitchFamily="18" charset="0"/>
              </a:rPr>
              <a:t>在诸如情况</a:t>
            </a:r>
            <a:r>
              <a:rPr lang="en-US" altLang="zh-CN" sz="2800" b="1" dirty="0" smtClean="0">
                <a:latin typeface="Times New Roman" panose="02020603050405020304" pitchFamily="18" charset="0"/>
                <a:ea typeface="黑体" panose="02010609060101010101" pitchFamily="49" charset="-122"/>
                <a:cs typeface="Times New Roman" panose="02020603050405020304" pitchFamily="18" charset="0"/>
              </a:rPr>
              <a:t>e</a:t>
            </a:r>
            <a:r>
              <a:rPr lang="zh-CN" altLang="en-US" sz="2800" b="1" dirty="0" smtClean="0">
                <a:latin typeface="Times New Roman" panose="02020603050405020304" pitchFamily="18" charset="0"/>
                <a:ea typeface="黑体" panose="02010609060101010101" pitchFamily="49" charset="-122"/>
                <a:cs typeface="Times New Roman" panose="02020603050405020304" pitchFamily="18" charset="0"/>
              </a:rPr>
              <a:t>的条件下，气体流出喷管后，还要在管外继续膨胀，使其最终压力等于背压</a:t>
            </a:r>
            <a:r>
              <a:rPr lang="en-US" altLang="zh-CN" sz="2800" b="1" i="1" dirty="0" err="1" smtClean="0">
                <a:latin typeface="Times New Roman" panose="02020603050405020304" pitchFamily="18" charset="0"/>
                <a:ea typeface="黑体" panose="02010609060101010101" pitchFamily="49" charset="-122"/>
                <a:cs typeface="Times New Roman" panose="02020603050405020304" pitchFamily="18" charset="0"/>
              </a:rPr>
              <a:t>p</a:t>
            </a:r>
            <a:r>
              <a:rPr lang="en-US" altLang="zh-CN" sz="2800" b="1" baseline="-25000" dirty="0" err="1" smtClean="0">
                <a:latin typeface="Times New Roman" panose="02020603050405020304" pitchFamily="18" charset="0"/>
                <a:ea typeface="黑体" panose="02010609060101010101" pitchFamily="49" charset="-122"/>
                <a:cs typeface="Times New Roman" panose="02020603050405020304" pitchFamily="18" charset="0"/>
              </a:rPr>
              <a:t>b</a:t>
            </a:r>
            <a:r>
              <a:rPr lang="zh-CN" altLang="en-US" sz="2800" b="1" dirty="0" smtClean="0">
                <a:latin typeface="Times New Roman" panose="02020603050405020304" pitchFamily="18" charset="0"/>
                <a:ea typeface="黑体" panose="02010609060101010101" pitchFamily="49" charset="-122"/>
                <a:cs typeface="Times New Roman" panose="02020603050405020304" pitchFamily="18" charset="0"/>
              </a:rPr>
              <a:t>。这种情况称为膨胀不足</a:t>
            </a:r>
            <a:endParaRPr lang="zh-CN" altLang="en-US" sz="2800" b="1" dirty="0" smtClean="0">
              <a:latin typeface="Times New Roman" panose="02020603050405020304" pitchFamily="18" charset="0"/>
              <a:ea typeface="黑体" panose="02010609060101010101" pitchFamily="49" charset="-122"/>
              <a:cs typeface="Times New Roman" panose="02020603050405020304" pitchFamily="18" charset="0"/>
            </a:endParaRPr>
          </a:p>
          <a:p>
            <a:r>
              <a:rPr lang="zh-CN" altLang="en-US" sz="2800" b="1" dirty="0" smtClean="0">
                <a:latin typeface="Times New Roman" panose="02020603050405020304" pitchFamily="18" charset="0"/>
                <a:ea typeface="黑体" panose="02010609060101010101" pitchFamily="49" charset="-122"/>
                <a:cs typeface="Times New Roman" panose="02020603050405020304" pitchFamily="18" charset="0"/>
              </a:rPr>
              <a:t>继续膨胀时的情况较为复杂，不能采用一维流动模型来分析（参考气体力学书籍</a:t>
            </a:r>
            <a:r>
              <a:rPr lang="zh-CN" altLang="en-US" sz="2800" dirty="0" smtClean="0">
                <a:latin typeface="Times New Roman" panose="02020603050405020304" pitchFamily="18" charset="0"/>
                <a:ea typeface="黑体" panose="02010609060101010101" pitchFamily="49" charset="-122"/>
                <a:cs typeface="Times New Roman" panose="02020603050405020304" pitchFamily="18" charset="0"/>
              </a:rPr>
              <a:t> ）</a:t>
            </a:r>
            <a:endParaRPr lang="zh-CN" altLang="en-US" sz="2800" dirty="0" smtClean="0">
              <a:latin typeface="Times New Roman" panose="02020603050405020304" pitchFamily="18" charset="0"/>
              <a:ea typeface="黑体" panose="02010609060101010101" pitchFamily="49" charset="-122"/>
              <a:cs typeface="Times New Roman" panose="02020603050405020304" pitchFamily="18" charset="0"/>
            </a:endParaRPr>
          </a:p>
        </p:txBody>
      </p:sp>
      <p:pic>
        <p:nvPicPr>
          <p:cNvPr id="105475" name="图片 2"/>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266700" y="831230"/>
            <a:ext cx="3800475" cy="4344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7" name="矩形 210945"/>
          <p:cNvSpPr>
            <a:spLocks noChangeArrowheads="1"/>
          </p:cNvSpPr>
          <p:nvPr/>
        </p:nvSpPr>
        <p:spPr bwMode="auto">
          <a:xfrm>
            <a:off x="0" y="352425"/>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06499" name="矩形 210947"/>
          <p:cNvSpPr>
            <a:spLocks noChangeArrowheads="1"/>
          </p:cNvSpPr>
          <p:nvPr/>
        </p:nvSpPr>
        <p:spPr bwMode="auto">
          <a:xfrm>
            <a:off x="5003800" y="3068638"/>
            <a:ext cx="3600450" cy="822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r>
              <a:rPr lang="zh-CN" altLang="en-US" sz="2400" dirty="0">
                <a:latin typeface="黑体" panose="02010609060101010101" pitchFamily="49" charset="-122"/>
                <a:ea typeface="黑体" panose="02010609060101010101" pitchFamily="49" charset="-122"/>
              </a:rPr>
              <a:t>渐缩喷管的质量流量和出口压力随背压的变化关系</a:t>
            </a:r>
            <a:endParaRPr lang="zh-CN" altLang="en-US" sz="2400" dirty="0">
              <a:latin typeface="黑体" panose="02010609060101010101" pitchFamily="49" charset="-122"/>
              <a:ea typeface="黑体" panose="02010609060101010101" pitchFamily="49" charset="-122"/>
            </a:endParaRPr>
          </a:p>
        </p:txBody>
      </p:sp>
      <p:pic>
        <p:nvPicPr>
          <p:cNvPr id="2" name="图片 1"/>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692274" y="352425"/>
            <a:ext cx="3505504" cy="6151397"/>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1" name="标题 211969"/>
          <p:cNvSpPr>
            <a:spLocks noGrp="1" noChangeArrowheads="1"/>
          </p:cNvSpPr>
          <p:nvPr>
            <p:ph type="title"/>
          </p:nvPr>
        </p:nvSpPr>
        <p:spPr>
          <a:xfrm>
            <a:off x="323850" y="0"/>
            <a:ext cx="8229600" cy="1143000"/>
          </a:xfrm>
        </p:spPr>
        <p:txBody>
          <a:bodyPr>
            <a:normAutofit/>
          </a:bodyPr>
          <a:lstStyle/>
          <a:p>
            <a:r>
              <a:rPr lang="en-US" altLang="zh-CN" sz="3600" b="1" dirty="0" smtClean="0">
                <a:ea typeface="黑体" panose="02010609060101010101" pitchFamily="49" charset="-122"/>
              </a:rPr>
              <a:t>2</a:t>
            </a:r>
            <a:r>
              <a:rPr lang="zh-CN" altLang="en-US" sz="3600" b="1" dirty="0" smtClean="0">
                <a:ea typeface="黑体" panose="02010609060101010101" pitchFamily="49" charset="-122"/>
              </a:rPr>
              <a:t>、背</a:t>
            </a:r>
            <a:r>
              <a:rPr lang="zh-CN" altLang="en-US" sz="3600" b="1" dirty="0">
                <a:ea typeface="黑体" panose="02010609060101010101" pitchFamily="49" charset="-122"/>
              </a:rPr>
              <a:t>压</a:t>
            </a:r>
            <a:r>
              <a:rPr lang="zh-CN" altLang="en-US" sz="3600" b="1" dirty="0" smtClean="0">
                <a:ea typeface="黑体" panose="02010609060101010101" pitchFamily="49" charset="-122"/>
              </a:rPr>
              <a:t>对</a:t>
            </a:r>
            <a:r>
              <a:rPr lang="zh-CN" altLang="en-US" sz="3600" b="1" dirty="0">
                <a:ea typeface="黑体" panose="02010609060101010101" pitchFamily="49" charset="-122"/>
              </a:rPr>
              <a:t>缩放</a:t>
            </a:r>
            <a:r>
              <a:rPr lang="zh-CN" altLang="en-US" sz="3600" b="1" dirty="0" smtClean="0">
                <a:ea typeface="黑体" panose="02010609060101010101" pitchFamily="49" charset="-122"/>
              </a:rPr>
              <a:t>喷管</a:t>
            </a:r>
            <a:r>
              <a:rPr lang="zh-CN" altLang="en-US" sz="3600" b="1" dirty="0">
                <a:ea typeface="黑体" panose="02010609060101010101" pitchFamily="49" charset="-122"/>
              </a:rPr>
              <a:t>内流动的</a:t>
            </a:r>
            <a:r>
              <a:rPr lang="zh-CN" altLang="en-US" sz="3600" b="1" dirty="0" smtClean="0">
                <a:ea typeface="黑体" panose="02010609060101010101" pitchFamily="49" charset="-122"/>
              </a:rPr>
              <a:t>影响</a:t>
            </a:r>
            <a:endParaRPr lang="zh-CN" altLang="en-US" sz="3600" b="1" dirty="0">
              <a:ea typeface="黑体" panose="02010609060101010101" pitchFamily="49" charset="-122"/>
            </a:endParaRPr>
          </a:p>
        </p:txBody>
      </p:sp>
      <p:sp>
        <p:nvSpPr>
          <p:cNvPr id="107522" name="矩形 211972"/>
          <p:cNvSpPr>
            <a:spLocks noChangeArrowheads="1"/>
          </p:cNvSpPr>
          <p:nvPr/>
        </p:nvSpPr>
        <p:spPr bwMode="auto">
          <a:xfrm>
            <a:off x="0" y="1533525"/>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pic>
        <p:nvPicPr>
          <p:cNvPr id="107523" name="图片 1"/>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531191" y="1011238"/>
            <a:ext cx="3606800" cy="5559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矩形 5"/>
          <p:cNvSpPr/>
          <p:nvPr/>
        </p:nvSpPr>
        <p:spPr>
          <a:xfrm>
            <a:off x="3967171" y="1435685"/>
            <a:ext cx="4725350" cy="3416320"/>
          </a:xfrm>
          <a:prstGeom prst="rect">
            <a:avLst/>
          </a:prstGeom>
        </p:spPr>
        <p:txBody>
          <a:bodyPr wrap="square">
            <a:spAutoFit/>
          </a:bodyPr>
          <a:lstStyle/>
          <a:p>
            <a:pPr marL="342900" indent="-342900">
              <a:buFont typeface="Arial" panose="020B0604020202020204" pitchFamily="34" charset="0"/>
              <a:buChar char="•"/>
            </a:pPr>
            <a:r>
              <a:rPr lang="zh-CN" altLang="en-US" sz="2400" b="1" dirty="0" smtClean="0">
                <a:solidFill>
                  <a:srgbClr val="0066FF"/>
                </a:solidFill>
                <a:latin typeface="Times New Roman" panose="02020603050405020304" pitchFamily="18" charset="0"/>
                <a:ea typeface="黑体" panose="02010609060101010101" pitchFamily="49" charset="-122"/>
                <a:cs typeface="Times New Roman" panose="02020603050405020304" pitchFamily="18" charset="0"/>
              </a:rPr>
              <a:t>气体以非常低的流速流入喷管</a:t>
            </a:r>
            <a:endParaRPr lang="en-US" altLang="zh-CN" sz="2400" b="1" dirty="0" smtClean="0">
              <a:solidFill>
                <a:srgbClr val="0066FF"/>
              </a:solidFill>
              <a:latin typeface="Times New Roman" panose="02020603050405020304" pitchFamily="18" charset="0"/>
              <a:ea typeface="黑体" panose="02010609060101010101" pitchFamily="49" charset="-122"/>
              <a:cs typeface="Times New Roman" panose="02020603050405020304" pitchFamily="18" charset="0"/>
            </a:endParaRPr>
          </a:p>
          <a:p>
            <a:pPr marL="342900" indent="-342900">
              <a:buFont typeface="Arial" panose="020B0604020202020204" pitchFamily="34" charset="0"/>
              <a:buChar char="•"/>
            </a:pPr>
            <a:r>
              <a:rPr lang="zh-CN" altLang="en-US" sz="2400" b="1" dirty="0">
                <a:solidFill>
                  <a:srgbClr val="0066FF"/>
                </a:solidFill>
                <a:latin typeface="Times New Roman" panose="02020603050405020304" pitchFamily="18" charset="0"/>
                <a:ea typeface="黑体" panose="02010609060101010101" pitchFamily="49" charset="-122"/>
                <a:cs typeface="Times New Roman" panose="02020603050405020304" pitchFamily="18" charset="0"/>
              </a:rPr>
              <a:t>进口</a:t>
            </a:r>
            <a:r>
              <a:rPr lang="zh-CN" altLang="en-US" sz="2400" b="1" dirty="0" smtClean="0">
                <a:solidFill>
                  <a:srgbClr val="0066FF"/>
                </a:solidFill>
                <a:latin typeface="Times New Roman" panose="02020603050405020304" pitchFamily="18" charset="0"/>
                <a:ea typeface="黑体" panose="02010609060101010101" pitchFamily="49" charset="-122"/>
                <a:cs typeface="Times New Roman" panose="02020603050405020304" pitchFamily="18" charset="0"/>
              </a:rPr>
              <a:t>压力近似为滞止压力，进口温度近似为滞止温度</a:t>
            </a:r>
            <a:endParaRPr lang="en-US" altLang="zh-CN" sz="2400" b="1" dirty="0" smtClean="0">
              <a:solidFill>
                <a:srgbClr val="0066FF"/>
              </a:solidFill>
              <a:latin typeface="Times New Roman" panose="02020603050405020304" pitchFamily="18" charset="0"/>
              <a:ea typeface="黑体" panose="02010609060101010101" pitchFamily="49" charset="-122"/>
              <a:cs typeface="Times New Roman" panose="02020603050405020304" pitchFamily="18" charset="0"/>
            </a:endParaRPr>
          </a:p>
          <a:p>
            <a:pPr marL="342900" indent="-342900">
              <a:buFont typeface="Arial" panose="020B0604020202020204" pitchFamily="34" charset="0"/>
              <a:buChar char="•"/>
            </a:pPr>
            <a:r>
              <a:rPr lang="zh-CN" altLang="en-US" sz="2400" b="1" dirty="0" smtClean="0">
                <a:solidFill>
                  <a:srgbClr val="0066FF"/>
                </a:solidFill>
                <a:latin typeface="Times New Roman" panose="02020603050405020304" pitchFamily="18" charset="0"/>
                <a:ea typeface="黑体" panose="02010609060101010101" pitchFamily="49" charset="-122"/>
                <a:cs typeface="Times New Roman" panose="02020603050405020304" pitchFamily="18" charset="0"/>
              </a:rPr>
              <a:t>假设该喷管的背压可以连续调节</a:t>
            </a:r>
            <a:endParaRPr lang="en-US" altLang="zh-CN" sz="2400" b="1" dirty="0" smtClean="0">
              <a:solidFill>
                <a:srgbClr val="0066FF"/>
              </a:solidFill>
              <a:latin typeface="Times New Roman" panose="02020603050405020304" pitchFamily="18" charset="0"/>
              <a:ea typeface="黑体" panose="02010609060101010101" pitchFamily="49" charset="-122"/>
              <a:cs typeface="Times New Roman" panose="02020603050405020304" pitchFamily="18" charset="0"/>
            </a:endParaRPr>
          </a:p>
          <a:p>
            <a:pPr marL="342900" indent="-342900">
              <a:buFont typeface="Arial" panose="020B0604020202020204" pitchFamily="34" charset="0"/>
              <a:buChar char="•"/>
            </a:pPr>
            <a:r>
              <a:rPr lang="zh-CN" altLang="en-US" sz="2400" b="1" dirty="0" smtClean="0">
                <a:solidFill>
                  <a:srgbClr val="0066FF"/>
                </a:solidFill>
                <a:latin typeface="Times New Roman" panose="02020603050405020304" pitchFamily="18" charset="0"/>
                <a:ea typeface="黑体" panose="02010609060101010101" pitchFamily="49" charset="-122"/>
                <a:cs typeface="Times New Roman" panose="02020603050405020304" pitchFamily="18" charset="0"/>
              </a:rPr>
              <a:t>下面考察当气体的滞止参数给定时，随着背压的不断降低，气体的出口压力</a:t>
            </a:r>
            <a:r>
              <a:rPr lang="en-US" altLang="zh-CN" sz="2400" b="1" i="1" dirty="0" smtClean="0">
                <a:solidFill>
                  <a:srgbClr val="0066FF"/>
                </a:solidFill>
                <a:latin typeface="Times New Roman" panose="02020603050405020304" pitchFamily="18" charset="0"/>
                <a:ea typeface="黑体" panose="02010609060101010101" pitchFamily="49" charset="-122"/>
                <a:cs typeface="Times New Roman" panose="02020603050405020304" pitchFamily="18" charset="0"/>
              </a:rPr>
              <a:t>p</a:t>
            </a:r>
            <a:r>
              <a:rPr lang="en-US" altLang="zh-CN" sz="2400" b="1" baseline="-25000" dirty="0" smtClean="0">
                <a:solidFill>
                  <a:srgbClr val="0066FF"/>
                </a:solidFill>
                <a:latin typeface="Times New Roman" panose="02020603050405020304" pitchFamily="18" charset="0"/>
                <a:ea typeface="黑体" panose="02010609060101010101" pitchFamily="49" charset="-122"/>
                <a:cs typeface="Times New Roman" panose="02020603050405020304" pitchFamily="18" charset="0"/>
              </a:rPr>
              <a:t>2</a:t>
            </a:r>
            <a:r>
              <a:rPr lang="zh-CN" altLang="en-US" sz="2400" b="1" dirty="0" smtClean="0">
                <a:solidFill>
                  <a:srgbClr val="0066FF"/>
                </a:solidFill>
                <a:latin typeface="Times New Roman" panose="02020603050405020304" pitchFamily="18" charset="0"/>
                <a:ea typeface="黑体" panose="02010609060101010101" pitchFamily="49" charset="-122"/>
                <a:cs typeface="Times New Roman" panose="02020603050405020304" pitchFamily="18" charset="0"/>
              </a:rPr>
              <a:t>和流经喷管的质量流量</a:t>
            </a:r>
            <a:r>
              <a:rPr lang="en-US" altLang="zh-CN" sz="2400" b="1" i="1" dirty="0" err="1" smtClean="0">
                <a:solidFill>
                  <a:srgbClr val="0066FF"/>
                </a:solidFill>
                <a:latin typeface="Times New Roman" panose="02020603050405020304" pitchFamily="18" charset="0"/>
                <a:ea typeface="黑体" panose="02010609060101010101" pitchFamily="49" charset="-122"/>
                <a:cs typeface="Times New Roman" panose="02020603050405020304" pitchFamily="18" charset="0"/>
              </a:rPr>
              <a:t>q</a:t>
            </a:r>
            <a:r>
              <a:rPr lang="en-US" altLang="zh-CN" sz="2400" b="1" baseline="-25000" dirty="0" err="1" smtClean="0">
                <a:solidFill>
                  <a:srgbClr val="0066FF"/>
                </a:solidFill>
                <a:latin typeface="Times New Roman" panose="02020603050405020304" pitchFamily="18" charset="0"/>
                <a:ea typeface="黑体" panose="02010609060101010101" pitchFamily="49" charset="-122"/>
                <a:cs typeface="Times New Roman" panose="02020603050405020304" pitchFamily="18" charset="0"/>
              </a:rPr>
              <a:t>m</a:t>
            </a:r>
            <a:r>
              <a:rPr lang="zh-CN" altLang="en-US" sz="2400" b="1" dirty="0" smtClean="0">
                <a:solidFill>
                  <a:srgbClr val="0066FF"/>
                </a:solidFill>
                <a:latin typeface="Times New Roman" panose="02020603050405020304" pitchFamily="18" charset="0"/>
                <a:ea typeface="黑体" panose="02010609060101010101" pitchFamily="49" charset="-122"/>
                <a:cs typeface="Times New Roman" panose="02020603050405020304" pitchFamily="18" charset="0"/>
              </a:rPr>
              <a:t>如何改变</a:t>
            </a:r>
            <a:endParaRPr lang="zh-CN" altLang="en-US" sz="2400" dirty="0">
              <a:latin typeface="Times New Roman" panose="02020603050405020304" pitchFamily="18" charset="0"/>
              <a:ea typeface="黑体" panose="02010609060101010101" pitchFamily="49" charset="-122"/>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5" name="矩形 212993"/>
          <p:cNvSpPr>
            <a:spLocks noChangeArrowheads="1"/>
          </p:cNvSpPr>
          <p:nvPr/>
        </p:nvSpPr>
        <p:spPr bwMode="auto">
          <a:xfrm>
            <a:off x="4692650" y="1708150"/>
            <a:ext cx="4057650" cy="1377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spcBef>
                <a:spcPct val="20000"/>
              </a:spcBef>
              <a:buFontTx/>
              <a:buChar char="•"/>
            </a:pPr>
            <a:r>
              <a:rPr lang="en-US" altLang="zh-CN" sz="2400" b="1" i="1" dirty="0" err="1">
                <a:latin typeface="Times New Roman" panose="02020603050405020304" pitchFamily="18" charset="0"/>
                <a:ea typeface="黑体" panose="02010609060101010101" pitchFamily="49" charset="-122"/>
                <a:cs typeface="Times New Roman" panose="02020603050405020304" pitchFamily="18" charset="0"/>
              </a:rPr>
              <a:t>p</a:t>
            </a:r>
            <a:r>
              <a:rPr lang="en-US" altLang="zh-CN" sz="2400" b="1" baseline="-25000" dirty="0" err="1">
                <a:latin typeface="Times New Roman" panose="02020603050405020304" pitchFamily="18" charset="0"/>
                <a:ea typeface="黑体" panose="02010609060101010101" pitchFamily="49" charset="-122"/>
                <a:cs typeface="Times New Roman" panose="02020603050405020304" pitchFamily="18" charset="0"/>
              </a:rPr>
              <a:t>b</a:t>
            </a:r>
            <a:r>
              <a:rPr lang="en-US" altLang="zh-CN" sz="2400" b="1" dirty="0">
                <a:latin typeface="Times New Roman" panose="02020603050405020304" pitchFamily="18" charset="0"/>
                <a:ea typeface="黑体" panose="02010609060101010101" pitchFamily="49" charset="-122"/>
                <a:cs typeface="Times New Roman" panose="02020603050405020304" pitchFamily="18" charset="0"/>
              </a:rPr>
              <a:t>=</a:t>
            </a:r>
            <a:r>
              <a:rPr lang="en-US" altLang="zh-CN" sz="2400" b="1" i="1" dirty="0">
                <a:latin typeface="Times New Roman" panose="02020603050405020304" pitchFamily="18" charset="0"/>
                <a:ea typeface="黑体" panose="02010609060101010101" pitchFamily="49" charset="-122"/>
                <a:cs typeface="Times New Roman" panose="02020603050405020304" pitchFamily="18" charset="0"/>
              </a:rPr>
              <a:t>p</a:t>
            </a:r>
            <a:r>
              <a:rPr lang="en-US" altLang="zh-CN" sz="2400" b="1" baseline="-25000" dirty="0">
                <a:latin typeface="Times New Roman" panose="02020603050405020304" pitchFamily="18" charset="0"/>
                <a:ea typeface="黑体" panose="02010609060101010101" pitchFamily="49" charset="-122"/>
                <a:cs typeface="Times New Roman" panose="02020603050405020304" pitchFamily="18" charset="0"/>
              </a:rPr>
              <a:t>0</a:t>
            </a:r>
            <a:r>
              <a:rPr lang="zh-CN" altLang="en-US" sz="2400" b="1" dirty="0">
                <a:latin typeface="Times New Roman" panose="02020603050405020304" pitchFamily="18" charset="0"/>
                <a:ea typeface="黑体" panose="02010609060101010101" pitchFamily="49" charset="-122"/>
                <a:cs typeface="Times New Roman" panose="02020603050405020304" pitchFamily="18" charset="0"/>
              </a:rPr>
              <a:t>（情况</a:t>
            </a:r>
            <a:r>
              <a:rPr lang="en-US" altLang="zh-CN" sz="2400" b="1" dirty="0">
                <a:latin typeface="Times New Roman" panose="02020603050405020304" pitchFamily="18" charset="0"/>
                <a:ea typeface="黑体" panose="02010609060101010101" pitchFamily="49" charset="-122"/>
                <a:cs typeface="Times New Roman" panose="02020603050405020304" pitchFamily="18" charset="0"/>
              </a:rPr>
              <a:t>a</a:t>
            </a:r>
            <a:r>
              <a:rPr lang="zh-CN" altLang="en-US" sz="2400" b="1" dirty="0">
                <a:latin typeface="Times New Roman" panose="02020603050405020304" pitchFamily="18" charset="0"/>
                <a:ea typeface="黑体" panose="02010609060101010101" pitchFamily="49" charset="-122"/>
                <a:cs typeface="Times New Roman" panose="02020603050405020304" pitchFamily="18" charset="0"/>
              </a:rPr>
              <a:t>），无流动，无流量，原因同渐缩喷管的</a:t>
            </a:r>
            <a:r>
              <a:rPr lang="zh-CN" altLang="en-US" sz="2400" b="1" dirty="0" smtClean="0">
                <a:latin typeface="Times New Roman" panose="02020603050405020304" pitchFamily="18" charset="0"/>
                <a:ea typeface="黑体" panose="02010609060101010101" pitchFamily="49" charset="-122"/>
                <a:cs typeface="Times New Roman" panose="02020603050405020304" pitchFamily="18" charset="0"/>
              </a:rPr>
              <a:t>分析</a:t>
            </a:r>
            <a:endParaRPr lang="zh-CN" altLang="en-US" sz="2400" b="1" dirty="0">
              <a:latin typeface="Times New Roman" panose="02020603050405020304" pitchFamily="18" charset="0"/>
              <a:ea typeface="黑体" panose="02010609060101010101" pitchFamily="49" charset="-122"/>
              <a:cs typeface="Times New Roman" panose="02020603050405020304" pitchFamily="18" charset="0"/>
            </a:endParaRPr>
          </a:p>
        </p:txBody>
      </p:sp>
      <p:pic>
        <p:nvPicPr>
          <p:cNvPr id="108546" name="图片 1"/>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696913" y="306388"/>
            <a:ext cx="4052887" cy="6245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69" name="矩形 214017"/>
          <p:cNvSpPr>
            <a:spLocks noChangeArrowheads="1"/>
          </p:cNvSpPr>
          <p:nvPr/>
        </p:nvSpPr>
        <p:spPr bwMode="auto">
          <a:xfrm>
            <a:off x="4427538" y="1125538"/>
            <a:ext cx="4464050" cy="31747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spcBef>
                <a:spcPct val="20000"/>
              </a:spcBef>
              <a:buFontTx/>
              <a:buChar char="•"/>
            </a:pPr>
            <a:r>
              <a:rPr lang="zh-CN" altLang="en-US" sz="2400" b="1" dirty="0">
                <a:latin typeface="Times New Roman" panose="02020603050405020304" pitchFamily="18" charset="0"/>
                <a:ea typeface="黑体" panose="02010609060101010101" pitchFamily="49" charset="-122"/>
                <a:cs typeface="Times New Roman" panose="02020603050405020304" pitchFamily="18" charset="0"/>
              </a:rPr>
              <a:t>稍降</a:t>
            </a:r>
            <a:r>
              <a:rPr lang="en-US" altLang="zh-CN" sz="2400" b="1" i="1" dirty="0" err="1">
                <a:latin typeface="Times New Roman" panose="02020603050405020304" pitchFamily="18" charset="0"/>
                <a:ea typeface="黑体" panose="02010609060101010101" pitchFamily="49" charset="-122"/>
                <a:cs typeface="Times New Roman" panose="02020603050405020304" pitchFamily="18" charset="0"/>
              </a:rPr>
              <a:t>p</a:t>
            </a:r>
            <a:r>
              <a:rPr lang="en-US" altLang="zh-CN" sz="2400" b="1" baseline="-25000" dirty="0" err="1">
                <a:latin typeface="Times New Roman" panose="02020603050405020304" pitchFamily="18" charset="0"/>
                <a:ea typeface="黑体" panose="02010609060101010101" pitchFamily="49" charset="-122"/>
                <a:cs typeface="Times New Roman" panose="02020603050405020304" pitchFamily="18" charset="0"/>
              </a:rPr>
              <a:t>b</a:t>
            </a:r>
            <a:r>
              <a:rPr lang="zh-CN" altLang="en-US" sz="2400" b="1" dirty="0">
                <a:latin typeface="Times New Roman" panose="02020603050405020304" pitchFamily="18" charset="0"/>
                <a:ea typeface="黑体" panose="02010609060101010101" pitchFamily="49" charset="-122"/>
                <a:cs typeface="Times New Roman" panose="02020603050405020304" pitchFamily="18" charset="0"/>
              </a:rPr>
              <a:t>（情况</a:t>
            </a:r>
            <a:r>
              <a:rPr lang="en-US" altLang="zh-CN" sz="2400" b="1" dirty="0">
                <a:latin typeface="Times New Roman" panose="02020603050405020304" pitchFamily="18" charset="0"/>
                <a:ea typeface="黑体" panose="02010609060101010101" pitchFamily="49" charset="-122"/>
                <a:cs typeface="Times New Roman" panose="02020603050405020304" pitchFamily="18" charset="0"/>
              </a:rPr>
              <a:t>b</a:t>
            </a:r>
            <a:r>
              <a:rPr lang="zh-CN" altLang="en-US" sz="2400" b="1" dirty="0">
                <a:latin typeface="Times New Roman" panose="02020603050405020304" pitchFamily="18" charset="0"/>
                <a:ea typeface="黑体" panose="02010609060101010101" pitchFamily="49" charset="-122"/>
                <a:cs typeface="Times New Roman" panose="02020603050405020304" pitchFamily="18" charset="0"/>
              </a:rPr>
              <a:t>），开始有气体流过</a:t>
            </a:r>
            <a:r>
              <a:rPr lang="zh-CN" altLang="en-US" sz="2400" b="1" dirty="0" smtClean="0">
                <a:latin typeface="Times New Roman" panose="02020603050405020304" pitchFamily="18" charset="0"/>
                <a:ea typeface="黑体" panose="02010609060101010101" pitchFamily="49" charset="-122"/>
                <a:cs typeface="Times New Roman" panose="02020603050405020304" pitchFamily="18" charset="0"/>
              </a:rPr>
              <a:t>喷管</a:t>
            </a:r>
            <a:endParaRPr lang="zh-CN" altLang="en-US" sz="2400" b="1" dirty="0">
              <a:latin typeface="Times New Roman" panose="02020603050405020304" pitchFamily="18" charset="0"/>
              <a:ea typeface="黑体" panose="02010609060101010101" pitchFamily="49" charset="-122"/>
              <a:cs typeface="Times New Roman" panose="02020603050405020304" pitchFamily="18" charset="0"/>
            </a:endParaRPr>
          </a:p>
          <a:p>
            <a:pPr>
              <a:spcBef>
                <a:spcPct val="20000"/>
              </a:spcBef>
              <a:buFontTx/>
              <a:buChar char="•"/>
            </a:pPr>
            <a:r>
              <a:rPr lang="zh-CN" altLang="en-US" sz="2400" b="1" dirty="0">
                <a:latin typeface="Times New Roman" panose="02020603050405020304" pitchFamily="18" charset="0"/>
                <a:ea typeface="黑体" panose="02010609060101010101" pitchFamily="49" charset="-122"/>
                <a:cs typeface="Times New Roman" panose="02020603050405020304" pitchFamily="18" charset="0"/>
              </a:rPr>
              <a:t>气体在喷管中始终以亚声速流动。气体的最大速度和最低压力位于喉部，在渐扩段，速度逐渐减小，压力逐渐增加，因此渐扩段起到扩压管的作用 </a:t>
            </a:r>
            <a:endParaRPr lang="zh-CN" altLang="en-US" sz="2400" b="1" dirty="0">
              <a:latin typeface="Times New Roman" panose="02020603050405020304" pitchFamily="18" charset="0"/>
              <a:ea typeface="黑体" panose="02010609060101010101" pitchFamily="49" charset="-122"/>
              <a:cs typeface="Times New Roman" panose="02020603050405020304" pitchFamily="18" charset="0"/>
            </a:endParaRPr>
          </a:p>
        </p:txBody>
      </p:sp>
      <p:pic>
        <p:nvPicPr>
          <p:cNvPr id="109570" name="图片 1"/>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485775" y="355600"/>
            <a:ext cx="3989388" cy="6146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3" name="矩形 215041"/>
          <p:cNvSpPr>
            <a:spLocks noChangeArrowheads="1"/>
          </p:cNvSpPr>
          <p:nvPr/>
        </p:nvSpPr>
        <p:spPr bwMode="auto">
          <a:xfrm>
            <a:off x="4255399" y="791542"/>
            <a:ext cx="4378394" cy="2520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spcBef>
                <a:spcPct val="20000"/>
              </a:spcBef>
              <a:buFontTx/>
              <a:buChar char="•"/>
            </a:pPr>
            <a:r>
              <a:rPr lang="zh-CN" altLang="en-US" sz="2400" b="1" dirty="0">
                <a:latin typeface="Times New Roman" panose="02020603050405020304" pitchFamily="18" charset="0"/>
                <a:ea typeface="黑体" panose="02010609060101010101" pitchFamily="49" charset="-122"/>
                <a:cs typeface="Times New Roman" panose="02020603050405020304" pitchFamily="18" charset="0"/>
              </a:rPr>
              <a:t>进一步降低</a:t>
            </a:r>
            <a:r>
              <a:rPr lang="en-US" altLang="zh-CN" sz="2400" b="1" i="1" dirty="0" err="1">
                <a:latin typeface="Times New Roman" panose="02020603050405020304" pitchFamily="18" charset="0"/>
                <a:ea typeface="黑体" panose="02010609060101010101" pitchFamily="49" charset="-122"/>
                <a:cs typeface="Times New Roman" panose="02020603050405020304" pitchFamily="18" charset="0"/>
              </a:rPr>
              <a:t>p</a:t>
            </a:r>
            <a:r>
              <a:rPr lang="en-US" altLang="zh-CN" sz="2400" b="1" baseline="-25000" dirty="0" err="1">
                <a:latin typeface="Times New Roman" panose="02020603050405020304" pitchFamily="18" charset="0"/>
                <a:ea typeface="黑体" panose="02010609060101010101" pitchFamily="49" charset="-122"/>
                <a:cs typeface="Times New Roman" panose="02020603050405020304" pitchFamily="18" charset="0"/>
              </a:rPr>
              <a:t>b</a:t>
            </a:r>
            <a:r>
              <a:rPr lang="en-US" altLang="zh-CN" sz="2400" b="1" dirty="0">
                <a:latin typeface="Times New Roman" panose="02020603050405020304" pitchFamily="18" charset="0"/>
                <a:ea typeface="黑体" panose="02010609060101010101" pitchFamily="49" charset="-122"/>
                <a:cs typeface="Times New Roman" panose="02020603050405020304" pitchFamily="18" charset="0"/>
              </a:rPr>
              <a:t> </a:t>
            </a:r>
            <a:r>
              <a:rPr lang="zh-CN" altLang="en-US" sz="2400" b="1" dirty="0">
                <a:latin typeface="Times New Roman" panose="02020603050405020304" pitchFamily="18" charset="0"/>
                <a:ea typeface="黑体" panose="02010609060101010101" pitchFamily="49" charset="-122"/>
                <a:cs typeface="Times New Roman" panose="02020603050405020304" pitchFamily="18" charset="0"/>
              </a:rPr>
              <a:t>（情况</a:t>
            </a:r>
            <a:r>
              <a:rPr lang="en-US" altLang="zh-CN" sz="2400" b="1" dirty="0">
                <a:latin typeface="Times New Roman" panose="02020603050405020304" pitchFamily="18" charset="0"/>
                <a:ea typeface="黑体" panose="02010609060101010101" pitchFamily="49" charset="-122"/>
                <a:cs typeface="Times New Roman" panose="02020603050405020304" pitchFamily="18" charset="0"/>
              </a:rPr>
              <a:t>c</a:t>
            </a:r>
            <a:r>
              <a:rPr lang="zh-CN" altLang="en-US" sz="2400" b="1" dirty="0">
                <a:latin typeface="Times New Roman" panose="02020603050405020304" pitchFamily="18" charset="0"/>
                <a:ea typeface="黑体" panose="02010609060101010101" pitchFamily="49" charset="-122"/>
                <a:cs typeface="Times New Roman" panose="02020603050405020304" pitchFamily="18" charset="0"/>
              </a:rPr>
              <a:t>），喉部处的速度、马赫数和流过喷管的质量流量进一步增加</a:t>
            </a:r>
            <a:endParaRPr lang="zh-CN" altLang="en-US" sz="2400" b="1" dirty="0">
              <a:latin typeface="Times New Roman" panose="02020603050405020304" pitchFamily="18" charset="0"/>
              <a:ea typeface="黑体" panose="02010609060101010101" pitchFamily="49" charset="-122"/>
              <a:cs typeface="Times New Roman" panose="02020603050405020304" pitchFamily="18" charset="0"/>
            </a:endParaRPr>
          </a:p>
          <a:p>
            <a:pPr>
              <a:spcBef>
                <a:spcPct val="20000"/>
              </a:spcBef>
              <a:buFontTx/>
              <a:buChar char="•"/>
            </a:pPr>
            <a:r>
              <a:rPr lang="zh-CN" altLang="en-US" sz="2400" b="1" dirty="0">
                <a:latin typeface="Times New Roman" panose="02020603050405020304" pitchFamily="18" charset="0"/>
                <a:ea typeface="黑体" panose="02010609060101010101" pitchFamily="49" charset="-122"/>
                <a:cs typeface="Times New Roman" panose="02020603050405020304" pitchFamily="18" charset="0"/>
              </a:rPr>
              <a:t>但气体在喷管中仍然始终以亚声速流动，出口压力等于背压</a:t>
            </a:r>
            <a:r>
              <a:rPr lang="zh-CN" altLang="en-US" sz="2800" dirty="0">
                <a:latin typeface="Times New Roman" panose="02020603050405020304" pitchFamily="18" charset="0"/>
                <a:ea typeface="黑体" panose="02010609060101010101" pitchFamily="49" charset="-122"/>
                <a:cs typeface="Times New Roman" panose="02020603050405020304" pitchFamily="18" charset="0"/>
              </a:rPr>
              <a:t> </a:t>
            </a:r>
            <a:endParaRPr lang="zh-CN" altLang="en-US" sz="2800" dirty="0">
              <a:latin typeface="Times New Roman" panose="02020603050405020304" pitchFamily="18" charset="0"/>
              <a:ea typeface="黑体" panose="02010609060101010101" pitchFamily="49" charset="-122"/>
              <a:cs typeface="Times New Roman" panose="02020603050405020304" pitchFamily="18" charset="0"/>
            </a:endParaRPr>
          </a:p>
        </p:txBody>
      </p:sp>
      <p:pic>
        <p:nvPicPr>
          <p:cNvPr id="110594" name="图片 1"/>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385763" y="295275"/>
            <a:ext cx="4005262" cy="6172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7" name="矩形 216065"/>
          <p:cNvSpPr>
            <a:spLocks noChangeArrowheads="1"/>
          </p:cNvSpPr>
          <p:nvPr/>
        </p:nvSpPr>
        <p:spPr bwMode="auto">
          <a:xfrm>
            <a:off x="4179888" y="954570"/>
            <a:ext cx="4681538" cy="5329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spcBef>
                <a:spcPct val="20000"/>
              </a:spcBef>
              <a:buFontTx/>
              <a:buChar char="•"/>
            </a:pPr>
            <a:r>
              <a:rPr lang="zh-CN" altLang="en-US" sz="2400" b="1" dirty="0">
                <a:latin typeface="Times New Roman" panose="02020603050405020304" pitchFamily="18" charset="0"/>
                <a:ea typeface="黑体" panose="02010609060101010101" pitchFamily="49" charset="-122"/>
                <a:cs typeface="Times New Roman" panose="02020603050405020304" pitchFamily="18" charset="0"/>
              </a:rPr>
              <a:t>继续减小</a:t>
            </a:r>
            <a:r>
              <a:rPr lang="en-US" altLang="zh-CN" sz="2400" b="1" i="1" dirty="0" err="1">
                <a:latin typeface="Times New Roman" panose="02020603050405020304" pitchFamily="18" charset="0"/>
                <a:ea typeface="黑体" panose="02010609060101010101" pitchFamily="49" charset="-122"/>
                <a:cs typeface="Times New Roman" panose="02020603050405020304" pitchFamily="18" charset="0"/>
              </a:rPr>
              <a:t>p</a:t>
            </a:r>
            <a:r>
              <a:rPr lang="en-US" altLang="zh-CN" sz="2400" b="1" baseline="-25000" dirty="0" err="1">
                <a:latin typeface="Times New Roman" panose="02020603050405020304" pitchFamily="18" charset="0"/>
                <a:ea typeface="黑体" panose="02010609060101010101" pitchFamily="49" charset="-122"/>
                <a:cs typeface="Times New Roman" panose="02020603050405020304" pitchFamily="18" charset="0"/>
              </a:rPr>
              <a:t>b</a:t>
            </a:r>
            <a:r>
              <a:rPr lang="en-US" altLang="zh-CN" sz="2400" b="1" dirty="0">
                <a:latin typeface="Times New Roman" panose="02020603050405020304" pitchFamily="18" charset="0"/>
                <a:ea typeface="黑体" panose="02010609060101010101" pitchFamily="49" charset="-122"/>
                <a:cs typeface="Times New Roman" panose="02020603050405020304" pitchFamily="18" charset="0"/>
              </a:rPr>
              <a:t> </a:t>
            </a:r>
            <a:r>
              <a:rPr lang="zh-CN" altLang="en-US" sz="2400" b="1" dirty="0">
                <a:latin typeface="Times New Roman" panose="02020603050405020304" pitchFamily="18" charset="0"/>
                <a:ea typeface="黑体" panose="02010609060101010101" pitchFamily="49" charset="-122"/>
                <a:cs typeface="Times New Roman" panose="02020603050405020304" pitchFamily="18" charset="0"/>
              </a:rPr>
              <a:t>，喉部的马赫数继续增加，最终达到</a:t>
            </a:r>
            <a:r>
              <a:rPr lang="en-US" altLang="zh-CN" sz="2400" b="1" dirty="0">
                <a:latin typeface="Times New Roman" panose="02020603050405020304" pitchFamily="18" charset="0"/>
                <a:ea typeface="黑体" panose="02010609060101010101" pitchFamily="49" charset="-122"/>
                <a:cs typeface="Times New Roman" panose="02020603050405020304" pitchFamily="18" charset="0"/>
              </a:rPr>
              <a:t>1</a:t>
            </a:r>
            <a:r>
              <a:rPr lang="zh-CN" altLang="en-US" sz="2400" b="1" dirty="0">
                <a:latin typeface="Times New Roman" panose="02020603050405020304" pitchFamily="18" charset="0"/>
                <a:ea typeface="黑体" panose="02010609060101010101" pitchFamily="49" charset="-122"/>
                <a:cs typeface="Times New Roman" panose="02020603050405020304" pitchFamily="18" charset="0"/>
              </a:rPr>
              <a:t>（情况</a:t>
            </a:r>
            <a:r>
              <a:rPr lang="en-US" altLang="zh-CN" sz="2400" b="1" dirty="0">
                <a:latin typeface="Times New Roman" panose="02020603050405020304" pitchFamily="18" charset="0"/>
                <a:ea typeface="黑体" panose="02010609060101010101" pitchFamily="49" charset="-122"/>
                <a:cs typeface="Times New Roman" panose="02020603050405020304" pitchFamily="18" charset="0"/>
              </a:rPr>
              <a:t>d</a:t>
            </a:r>
            <a:r>
              <a:rPr lang="zh-CN" altLang="en-US" sz="2400" b="1" dirty="0">
                <a:latin typeface="Times New Roman" panose="02020603050405020304" pitchFamily="18" charset="0"/>
                <a:ea typeface="黑体" panose="02010609060101010101" pitchFamily="49" charset="-122"/>
                <a:cs typeface="Times New Roman" panose="02020603050405020304" pitchFamily="18" charset="0"/>
              </a:rPr>
              <a:t>）</a:t>
            </a:r>
            <a:endParaRPr lang="zh-CN" altLang="en-US" sz="2400" b="1" dirty="0">
              <a:latin typeface="Times New Roman" panose="02020603050405020304" pitchFamily="18" charset="0"/>
              <a:ea typeface="黑体" panose="02010609060101010101" pitchFamily="49" charset="-122"/>
              <a:cs typeface="Times New Roman" panose="02020603050405020304" pitchFamily="18" charset="0"/>
            </a:endParaRPr>
          </a:p>
          <a:p>
            <a:pPr>
              <a:spcBef>
                <a:spcPct val="20000"/>
              </a:spcBef>
              <a:buFontTx/>
              <a:buChar char="•"/>
            </a:pPr>
            <a:r>
              <a:rPr lang="zh-CN" altLang="en-US" sz="2400" b="1" dirty="0">
                <a:latin typeface="Times New Roman" panose="02020603050405020304" pitchFamily="18" charset="0"/>
                <a:ea typeface="黑体" panose="02010609060101010101" pitchFamily="49" charset="-122"/>
                <a:cs typeface="Times New Roman" panose="02020603050405020304" pitchFamily="18" charset="0"/>
              </a:rPr>
              <a:t>由于此时气体在喉部处为声速，拉伐尔喷管被“堵塞” 了：此时通过拉伐尔喷管的质量流量是给定滞止参数下的最大质量流量。</a:t>
            </a:r>
            <a:endParaRPr lang="zh-CN" altLang="en-US" sz="2400" b="1" dirty="0">
              <a:latin typeface="Times New Roman" panose="02020603050405020304" pitchFamily="18" charset="0"/>
              <a:ea typeface="黑体" panose="02010609060101010101" pitchFamily="49" charset="-122"/>
              <a:cs typeface="Times New Roman" panose="02020603050405020304" pitchFamily="18" charset="0"/>
            </a:endParaRPr>
          </a:p>
          <a:p>
            <a:pPr>
              <a:spcBef>
                <a:spcPct val="20000"/>
              </a:spcBef>
              <a:buFontTx/>
              <a:buChar char="•"/>
            </a:pPr>
            <a:r>
              <a:rPr lang="zh-CN" altLang="en-US" sz="2400" b="1" dirty="0">
                <a:latin typeface="Times New Roman" panose="02020603050405020304" pitchFamily="18" charset="0"/>
                <a:ea typeface="黑体" panose="02010609060101010101" pitchFamily="49" charset="-122"/>
                <a:cs typeface="Times New Roman" panose="02020603050405020304" pitchFamily="18" charset="0"/>
              </a:rPr>
              <a:t>在此之后，进一步降低背压不会使质量流量增加</a:t>
            </a:r>
            <a:endParaRPr lang="zh-CN" altLang="en-US" sz="2400" b="1" dirty="0">
              <a:latin typeface="Times New Roman" panose="02020603050405020304" pitchFamily="18" charset="0"/>
              <a:ea typeface="黑体" panose="02010609060101010101" pitchFamily="49" charset="-122"/>
              <a:cs typeface="Times New Roman" panose="02020603050405020304" pitchFamily="18" charset="0"/>
            </a:endParaRPr>
          </a:p>
        </p:txBody>
      </p:sp>
      <p:pic>
        <p:nvPicPr>
          <p:cNvPr id="111618" name="图片 1"/>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527050" y="257175"/>
            <a:ext cx="3992563" cy="6153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1" name="矩形 217089"/>
          <p:cNvSpPr>
            <a:spLocks noChangeArrowheads="1"/>
          </p:cNvSpPr>
          <p:nvPr/>
        </p:nvSpPr>
        <p:spPr bwMode="auto">
          <a:xfrm>
            <a:off x="4203700" y="1268413"/>
            <a:ext cx="4608513" cy="2952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spcBef>
                <a:spcPct val="20000"/>
              </a:spcBef>
              <a:buFontTx/>
              <a:buChar char="•"/>
            </a:pPr>
            <a:r>
              <a:rPr lang="zh-CN" altLang="en-US" sz="2400" b="1" dirty="0">
                <a:latin typeface="Times New Roman" panose="02020603050405020304" pitchFamily="18" charset="0"/>
                <a:ea typeface="黑体" panose="02010609060101010101" pitchFamily="49" charset="-122"/>
                <a:cs typeface="Times New Roman" panose="02020603050405020304" pitchFamily="18" charset="0"/>
              </a:rPr>
              <a:t>进一步降低</a:t>
            </a:r>
            <a:r>
              <a:rPr lang="en-US" altLang="zh-CN" sz="2400" b="1" i="1" dirty="0" err="1">
                <a:latin typeface="Times New Roman" panose="02020603050405020304" pitchFamily="18" charset="0"/>
                <a:ea typeface="黑体" panose="02010609060101010101" pitchFamily="49" charset="-122"/>
                <a:cs typeface="Times New Roman" panose="02020603050405020304" pitchFamily="18" charset="0"/>
              </a:rPr>
              <a:t>p</a:t>
            </a:r>
            <a:r>
              <a:rPr lang="en-US" altLang="zh-CN" sz="2400" b="1" baseline="-25000" dirty="0" err="1">
                <a:latin typeface="Times New Roman" panose="02020603050405020304" pitchFamily="18" charset="0"/>
                <a:ea typeface="黑体" panose="02010609060101010101" pitchFamily="49" charset="-122"/>
                <a:cs typeface="Times New Roman" panose="02020603050405020304" pitchFamily="18" charset="0"/>
              </a:rPr>
              <a:t>b</a:t>
            </a:r>
            <a:r>
              <a:rPr lang="en-US" altLang="zh-CN" sz="2400" b="1" dirty="0">
                <a:latin typeface="Times New Roman" panose="02020603050405020304" pitchFamily="18" charset="0"/>
                <a:ea typeface="黑体" panose="02010609060101010101" pitchFamily="49" charset="-122"/>
                <a:cs typeface="Times New Roman" panose="02020603050405020304" pitchFamily="18" charset="0"/>
              </a:rPr>
              <a:t> </a:t>
            </a:r>
            <a:r>
              <a:rPr lang="zh-CN" altLang="en-US" sz="2400" b="1" dirty="0">
                <a:latin typeface="Times New Roman" panose="02020603050405020304" pitchFamily="18" charset="0"/>
                <a:ea typeface="黑体" panose="02010609060101010101" pitchFamily="49" charset="-122"/>
                <a:cs typeface="Times New Roman" panose="02020603050405020304" pitchFamily="18" charset="0"/>
              </a:rPr>
              <a:t>（小于情况</a:t>
            </a:r>
            <a:r>
              <a:rPr lang="en-US" altLang="zh-CN" sz="2400" b="1" dirty="0">
                <a:latin typeface="Times New Roman" panose="02020603050405020304" pitchFamily="18" charset="0"/>
                <a:ea typeface="黑体" panose="02010609060101010101" pitchFamily="49" charset="-122"/>
                <a:cs typeface="Times New Roman" panose="02020603050405020304" pitchFamily="18" charset="0"/>
              </a:rPr>
              <a:t>d</a:t>
            </a:r>
            <a:r>
              <a:rPr lang="zh-CN" altLang="en-US" sz="2400" b="1" dirty="0">
                <a:latin typeface="Times New Roman" panose="02020603050405020304" pitchFamily="18" charset="0"/>
                <a:ea typeface="黑体" panose="02010609060101010101" pitchFamily="49" charset="-122"/>
                <a:cs typeface="Times New Roman" panose="02020603050405020304" pitchFamily="18" charset="0"/>
              </a:rPr>
              <a:t>的背压</a:t>
            </a:r>
            <a:r>
              <a:rPr lang="zh-CN" altLang="en-US" sz="2400" dirty="0">
                <a:latin typeface="Times New Roman" panose="02020603050405020304" pitchFamily="18" charset="0"/>
                <a:ea typeface="黑体" panose="02010609060101010101" pitchFamily="49" charset="-122"/>
                <a:cs typeface="Times New Roman" panose="02020603050405020304" pitchFamily="18" charset="0"/>
              </a:rPr>
              <a:t> </a:t>
            </a:r>
            <a:r>
              <a:rPr lang="zh-CN" altLang="en-US" sz="2400" b="1" dirty="0">
                <a:latin typeface="Times New Roman" panose="02020603050405020304" pitchFamily="18" charset="0"/>
                <a:ea typeface="黑体" panose="02010609060101010101" pitchFamily="49" charset="-122"/>
                <a:cs typeface="Times New Roman" panose="02020603050405020304" pitchFamily="18" charset="0"/>
              </a:rPr>
              <a:t>），整个渐缩段和喉部位置的流动状况不发生任何改变</a:t>
            </a:r>
            <a:endParaRPr lang="zh-CN" altLang="en-US" sz="2400" b="1" dirty="0">
              <a:latin typeface="Times New Roman" panose="02020603050405020304" pitchFamily="18" charset="0"/>
              <a:ea typeface="黑体" panose="02010609060101010101" pitchFamily="49" charset="-122"/>
              <a:cs typeface="Times New Roman" panose="02020603050405020304" pitchFamily="18" charset="0"/>
            </a:endParaRPr>
          </a:p>
          <a:p>
            <a:pPr>
              <a:spcBef>
                <a:spcPct val="20000"/>
              </a:spcBef>
              <a:buFontTx/>
              <a:buChar char="•"/>
            </a:pPr>
            <a:r>
              <a:rPr lang="zh-CN" altLang="en-US" sz="2400" b="1" dirty="0">
                <a:latin typeface="Times New Roman" panose="02020603050405020304" pitchFamily="18" charset="0"/>
                <a:ea typeface="黑体" panose="02010609060101010101" pitchFamily="49" charset="-122"/>
                <a:cs typeface="Times New Roman" panose="02020603050405020304" pitchFamily="18" charset="0"/>
              </a:rPr>
              <a:t>但渐扩段的流动情况将发生改变</a:t>
            </a:r>
            <a:r>
              <a:rPr lang="zh-CN" altLang="en-US" sz="2400" dirty="0">
                <a:latin typeface="Times New Roman" panose="02020603050405020304" pitchFamily="18" charset="0"/>
                <a:ea typeface="黑体" panose="02010609060101010101" pitchFamily="49" charset="-122"/>
                <a:cs typeface="Times New Roman" panose="02020603050405020304" pitchFamily="18" charset="0"/>
              </a:rPr>
              <a:t> </a:t>
            </a:r>
            <a:endParaRPr lang="zh-CN" altLang="en-US" sz="2400" dirty="0">
              <a:latin typeface="Times New Roman" panose="02020603050405020304" pitchFamily="18" charset="0"/>
              <a:ea typeface="黑体" panose="02010609060101010101" pitchFamily="49" charset="-122"/>
              <a:cs typeface="Times New Roman" panose="02020603050405020304" pitchFamily="18" charset="0"/>
            </a:endParaRPr>
          </a:p>
        </p:txBody>
      </p:sp>
      <p:pic>
        <p:nvPicPr>
          <p:cNvPr id="112642" name="图片 1"/>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588963" y="274638"/>
            <a:ext cx="4019550" cy="6194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5" name="矩形 218113"/>
          <p:cNvSpPr>
            <a:spLocks noChangeArrowheads="1"/>
          </p:cNvSpPr>
          <p:nvPr/>
        </p:nvSpPr>
        <p:spPr bwMode="auto">
          <a:xfrm>
            <a:off x="4116387" y="437944"/>
            <a:ext cx="4608513" cy="48244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spcBef>
                <a:spcPct val="20000"/>
              </a:spcBef>
            </a:pPr>
            <a:endParaRPr lang="en-US" altLang="zh-CN" sz="2800" b="1" dirty="0"/>
          </a:p>
          <a:p>
            <a:pPr>
              <a:spcBef>
                <a:spcPct val="20000"/>
              </a:spcBef>
              <a:buFontTx/>
              <a:buChar char="•"/>
            </a:pPr>
            <a:r>
              <a:rPr lang="zh-CN" altLang="en-US" sz="2400" b="1" dirty="0">
                <a:latin typeface="Times New Roman" panose="02020603050405020304" pitchFamily="18" charset="0"/>
                <a:ea typeface="黑体" panose="02010609060101010101" pitchFamily="49" charset="-122"/>
                <a:cs typeface="Times New Roman" panose="02020603050405020304" pitchFamily="18" charset="0"/>
              </a:rPr>
              <a:t>情况</a:t>
            </a:r>
            <a:r>
              <a:rPr lang="en-US" altLang="zh-CN" sz="2400" b="1" dirty="0">
                <a:latin typeface="Times New Roman" panose="02020603050405020304" pitchFamily="18" charset="0"/>
                <a:ea typeface="黑体" panose="02010609060101010101" pitchFamily="49" charset="-122"/>
                <a:cs typeface="Times New Roman" panose="02020603050405020304" pitchFamily="18" charset="0"/>
              </a:rPr>
              <a:t>e</a:t>
            </a:r>
            <a:r>
              <a:rPr lang="zh-CN" altLang="en-US" sz="2400" b="1" dirty="0">
                <a:latin typeface="Times New Roman" panose="02020603050405020304" pitchFamily="18" charset="0"/>
                <a:ea typeface="黑体" panose="02010609060101010101" pitchFamily="49" charset="-122"/>
                <a:cs typeface="Times New Roman" panose="02020603050405020304" pitchFamily="18" charset="0"/>
              </a:rPr>
              <a:t>中，气体通过喉部后不断压力降低，速度不断增加，因此通过喉部后以超声速流动，但会在喉部和出口截面之间产生一个</a:t>
            </a:r>
            <a:r>
              <a:rPr lang="zh-CN" altLang="en-US" sz="2400" b="1"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正激波</a:t>
            </a:r>
            <a:r>
              <a:rPr lang="zh-CN" altLang="en-US" sz="2400" b="1" dirty="0">
                <a:latin typeface="Times New Roman" panose="02020603050405020304" pitchFamily="18" charset="0"/>
                <a:ea typeface="黑体" panose="02010609060101010101" pitchFamily="49" charset="-122"/>
                <a:cs typeface="Times New Roman" panose="02020603050405020304" pitchFamily="18" charset="0"/>
              </a:rPr>
              <a:t>，使得压力跃升，气流速度急剧降至</a:t>
            </a:r>
            <a:r>
              <a:rPr lang="zh-CN" altLang="en-US" sz="2400" b="1" dirty="0" smtClean="0">
                <a:latin typeface="Times New Roman" panose="02020603050405020304" pitchFamily="18" charset="0"/>
                <a:ea typeface="黑体" panose="02010609060101010101" pitchFamily="49" charset="-122"/>
                <a:cs typeface="Times New Roman" panose="02020603050405020304" pitchFamily="18" charset="0"/>
              </a:rPr>
              <a:t>亚声速</a:t>
            </a:r>
            <a:endParaRPr lang="zh-CN" altLang="en-US" sz="2400" b="1" dirty="0">
              <a:latin typeface="Times New Roman" panose="02020603050405020304" pitchFamily="18" charset="0"/>
              <a:ea typeface="黑体" panose="02010609060101010101" pitchFamily="49" charset="-122"/>
              <a:cs typeface="Times New Roman" panose="02020603050405020304" pitchFamily="18" charset="0"/>
            </a:endParaRPr>
          </a:p>
          <a:p>
            <a:pPr>
              <a:spcBef>
                <a:spcPct val="20000"/>
              </a:spcBef>
              <a:buFontTx/>
              <a:buChar char="•"/>
            </a:pPr>
            <a:r>
              <a:rPr lang="zh-CN" altLang="en-US" sz="2400" b="1" dirty="0">
                <a:latin typeface="Times New Roman" panose="02020603050405020304" pitchFamily="18" charset="0"/>
                <a:ea typeface="黑体" panose="02010609060101010101" pitchFamily="49" charset="-122"/>
                <a:cs typeface="Times New Roman" panose="02020603050405020304" pitchFamily="18" charset="0"/>
              </a:rPr>
              <a:t>在激波下游，气体速度减小，压力升高（即扩张段起到扩压管的作用），在出口截面处气体压力升至背压而流出喷管</a:t>
            </a:r>
            <a:endParaRPr lang="zh-CN" altLang="en-US" sz="2400" b="1" dirty="0">
              <a:latin typeface="Times New Roman" panose="02020603050405020304" pitchFamily="18" charset="0"/>
              <a:ea typeface="黑体" panose="02010609060101010101" pitchFamily="49" charset="-122"/>
              <a:cs typeface="Times New Roman" panose="02020603050405020304" pitchFamily="18" charset="0"/>
            </a:endParaRPr>
          </a:p>
        </p:txBody>
      </p:sp>
      <p:pic>
        <p:nvPicPr>
          <p:cNvPr id="113666" name="图片 1"/>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506413" y="279400"/>
            <a:ext cx="4087812" cy="6299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89" name="矩形 219137"/>
          <p:cNvSpPr>
            <a:spLocks noChangeArrowheads="1"/>
          </p:cNvSpPr>
          <p:nvPr/>
        </p:nvSpPr>
        <p:spPr bwMode="auto">
          <a:xfrm>
            <a:off x="4262023" y="562527"/>
            <a:ext cx="4319587" cy="4535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spcBef>
                <a:spcPct val="20000"/>
              </a:spcBef>
            </a:pPr>
            <a:endParaRPr lang="en-US" altLang="zh-CN" sz="2800" b="1" dirty="0"/>
          </a:p>
          <a:p>
            <a:pPr>
              <a:spcBef>
                <a:spcPct val="20000"/>
              </a:spcBef>
              <a:buFontTx/>
              <a:buChar char="•"/>
            </a:pPr>
            <a:r>
              <a:rPr lang="zh-CN" altLang="en-US" sz="2400" b="1" dirty="0">
                <a:latin typeface="Times New Roman" panose="02020603050405020304" pitchFamily="18" charset="0"/>
                <a:ea typeface="黑体" panose="02010609060101010101" pitchFamily="49" charset="-122"/>
                <a:cs typeface="Times New Roman" panose="02020603050405020304" pitchFamily="18" charset="0"/>
              </a:rPr>
              <a:t>若</a:t>
            </a:r>
            <a:r>
              <a:rPr lang="en-US" altLang="zh-CN" sz="2400" b="1" i="1" dirty="0" err="1">
                <a:latin typeface="Times New Roman" panose="02020603050405020304" pitchFamily="18" charset="0"/>
                <a:ea typeface="黑体" panose="02010609060101010101" pitchFamily="49" charset="-122"/>
                <a:cs typeface="Times New Roman" panose="02020603050405020304" pitchFamily="18" charset="0"/>
              </a:rPr>
              <a:t>p</a:t>
            </a:r>
            <a:r>
              <a:rPr lang="en-US" altLang="zh-CN" sz="2400" b="1" baseline="-25000" dirty="0" err="1">
                <a:latin typeface="Times New Roman" panose="02020603050405020304" pitchFamily="18" charset="0"/>
                <a:ea typeface="黑体" panose="02010609060101010101" pitchFamily="49" charset="-122"/>
                <a:cs typeface="Times New Roman" panose="02020603050405020304" pitchFamily="18" charset="0"/>
              </a:rPr>
              <a:t>b</a:t>
            </a:r>
            <a:r>
              <a:rPr lang="zh-CN" altLang="en-US" sz="2400" b="1" dirty="0">
                <a:latin typeface="Times New Roman" panose="02020603050405020304" pitchFamily="18" charset="0"/>
                <a:ea typeface="黑体" panose="02010609060101010101" pitchFamily="49" charset="-122"/>
                <a:cs typeface="Times New Roman" panose="02020603050405020304" pitchFamily="18" charset="0"/>
              </a:rPr>
              <a:t>进一步降低（情况</a:t>
            </a:r>
            <a:r>
              <a:rPr lang="en-US" altLang="zh-CN" sz="2400" b="1" dirty="0">
                <a:latin typeface="Times New Roman" panose="02020603050405020304" pitchFamily="18" charset="0"/>
                <a:ea typeface="黑体" panose="02010609060101010101" pitchFamily="49" charset="-122"/>
                <a:cs typeface="Times New Roman" panose="02020603050405020304" pitchFamily="18" charset="0"/>
              </a:rPr>
              <a:t>f</a:t>
            </a:r>
            <a:r>
              <a:rPr lang="zh-CN" altLang="en-US" sz="2400" b="1" dirty="0">
                <a:latin typeface="Times New Roman" panose="02020603050405020304" pitchFamily="18" charset="0"/>
                <a:ea typeface="黑体" panose="02010609060101010101" pitchFamily="49" charset="-122"/>
                <a:cs typeface="Times New Roman" panose="02020603050405020304" pitchFamily="18" charset="0"/>
              </a:rPr>
              <a:t>），正激波产生的截面位置进一步向出口处移动，但喷管内的流动特性与情况</a:t>
            </a:r>
            <a:r>
              <a:rPr lang="en-US" altLang="zh-CN" sz="2400" b="1" dirty="0">
                <a:latin typeface="Times New Roman" panose="02020603050405020304" pitchFamily="18" charset="0"/>
                <a:ea typeface="黑体" panose="02010609060101010101" pitchFamily="49" charset="-122"/>
                <a:cs typeface="Times New Roman" panose="02020603050405020304" pitchFamily="18" charset="0"/>
              </a:rPr>
              <a:t>e</a:t>
            </a:r>
            <a:r>
              <a:rPr lang="zh-CN" altLang="en-US" sz="2400" b="1" dirty="0" smtClean="0">
                <a:latin typeface="Times New Roman" panose="02020603050405020304" pitchFamily="18" charset="0"/>
                <a:ea typeface="黑体" panose="02010609060101010101" pitchFamily="49" charset="-122"/>
                <a:cs typeface="Times New Roman" panose="02020603050405020304" pitchFamily="18" charset="0"/>
              </a:rPr>
              <a:t>相同</a:t>
            </a:r>
            <a:endParaRPr lang="zh-CN" altLang="en-US" sz="2400" b="1" dirty="0">
              <a:latin typeface="Times New Roman" panose="02020603050405020304" pitchFamily="18" charset="0"/>
              <a:ea typeface="黑体" panose="02010609060101010101" pitchFamily="49" charset="-122"/>
              <a:cs typeface="Times New Roman" panose="02020603050405020304" pitchFamily="18" charset="0"/>
            </a:endParaRPr>
          </a:p>
          <a:p>
            <a:pPr>
              <a:spcBef>
                <a:spcPct val="20000"/>
              </a:spcBef>
              <a:buFontTx/>
              <a:buChar char="•"/>
            </a:pPr>
            <a:r>
              <a:rPr lang="zh-CN" altLang="en-US" sz="2400" b="1"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产生激波的过程是不可逆的，激波发生前后，气体的熵增加，为非定熵流</a:t>
            </a:r>
            <a:r>
              <a:rPr lang="zh-CN" altLang="en-US" sz="2400" b="1" dirty="0" smtClean="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动</a:t>
            </a:r>
            <a:r>
              <a:rPr lang="zh-CN" altLang="en-US" sz="2400" dirty="0" smtClean="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  </a:t>
            </a:r>
            <a:endParaRPr lang="zh-CN" altLang="en-US" sz="2400"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endParaRPr>
          </a:p>
        </p:txBody>
      </p:sp>
      <p:pic>
        <p:nvPicPr>
          <p:cNvPr id="114690" name="图片 1"/>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595313" y="269875"/>
            <a:ext cx="4100512" cy="6319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3" name="矩形 220161"/>
          <p:cNvSpPr>
            <a:spLocks noChangeArrowheads="1"/>
          </p:cNvSpPr>
          <p:nvPr/>
        </p:nvSpPr>
        <p:spPr bwMode="auto">
          <a:xfrm>
            <a:off x="4209015" y="437943"/>
            <a:ext cx="4464050" cy="5040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spcBef>
                <a:spcPct val="20000"/>
              </a:spcBef>
            </a:pPr>
            <a:endParaRPr lang="en-US" altLang="zh-CN" sz="2800" b="1" dirty="0"/>
          </a:p>
          <a:p>
            <a:pPr>
              <a:spcBef>
                <a:spcPct val="20000"/>
              </a:spcBef>
              <a:buFontTx/>
              <a:buChar char="•"/>
            </a:pPr>
            <a:r>
              <a:rPr lang="zh-CN" altLang="en-US" sz="2400" b="1" dirty="0">
                <a:latin typeface="Times New Roman" panose="02020603050405020304" pitchFamily="18" charset="0"/>
                <a:ea typeface="黑体" panose="02010609060101010101" pitchFamily="49" charset="-122"/>
                <a:cs typeface="Times New Roman" panose="02020603050405020304" pitchFamily="18" charset="0"/>
              </a:rPr>
              <a:t>若</a:t>
            </a:r>
            <a:r>
              <a:rPr lang="en-US" altLang="zh-CN" sz="2400" b="1" i="1" dirty="0" err="1">
                <a:latin typeface="Times New Roman" panose="02020603050405020304" pitchFamily="18" charset="0"/>
                <a:ea typeface="黑体" panose="02010609060101010101" pitchFamily="49" charset="-122"/>
                <a:cs typeface="Times New Roman" panose="02020603050405020304" pitchFamily="18" charset="0"/>
              </a:rPr>
              <a:t>p</a:t>
            </a:r>
            <a:r>
              <a:rPr lang="en-US" altLang="zh-CN" sz="2400" b="1" baseline="-25000" dirty="0" err="1">
                <a:latin typeface="Times New Roman" panose="02020603050405020304" pitchFamily="18" charset="0"/>
                <a:ea typeface="黑体" panose="02010609060101010101" pitchFamily="49" charset="-122"/>
                <a:cs typeface="Times New Roman" panose="02020603050405020304" pitchFamily="18" charset="0"/>
              </a:rPr>
              <a:t>b</a:t>
            </a:r>
            <a:r>
              <a:rPr lang="zh-CN" altLang="en-US" sz="2400" b="1" dirty="0">
                <a:latin typeface="Times New Roman" panose="02020603050405020304" pitchFamily="18" charset="0"/>
                <a:ea typeface="黑体" panose="02010609060101010101" pitchFamily="49" charset="-122"/>
                <a:cs typeface="Times New Roman" panose="02020603050405020304" pitchFamily="18" charset="0"/>
              </a:rPr>
              <a:t>继续减小，正激波产生的截面位置继续向出口处移动，直至位于出口截面处（情况</a:t>
            </a:r>
            <a:r>
              <a:rPr lang="en-US" altLang="zh-CN" sz="2400" b="1" dirty="0">
                <a:latin typeface="Times New Roman" panose="02020603050405020304" pitchFamily="18" charset="0"/>
                <a:ea typeface="黑体" panose="02010609060101010101" pitchFamily="49" charset="-122"/>
                <a:cs typeface="Times New Roman" panose="02020603050405020304" pitchFamily="18" charset="0"/>
              </a:rPr>
              <a:t>g</a:t>
            </a:r>
            <a:r>
              <a:rPr lang="zh-CN" altLang="en-US" sz="2400" b="1" dirty="0">
                <a:latin typeface="Times New Roman" panose="02020603050405020304" pitchFamily="18" charset="0"/>
                <a:ea typeface="黑体" panose="02010609060101010101" pitchFamily="49" charset="-122"/>
                <a:cs typeface="Times New Roman" panose="02020603050405020304" pitchFamily="18" charset="0"/>
              </a:rPr>
              <a:t>） </a:t>
            </a:r>
            <a:endParaRPr lang="zh-CN" altLang="en-US" sz="2400" b="1" dirty="0">
              <a:latin typeface="Times New Roman" panose="02020603050405020304" pitchFamily="18" charset="0"/>
              <a:ea typeface="黑体" panose="02010609060101010101" pitchFamily="49" charset="-122"/>
              <a:cs typeface="Times New Roman" panose="02020603050405020304" pitchFamily="18" charset="0"/>
            </a:endParaRPr>
          </a:p>
          <a:p>
            <a:pPr>
              <a:spcBef>
                <a:spcPct val="20000"/>
              </a:spcBef>
              <a:buFontTx/>
              <a:buChar char="•"/>
            </a:pPr>
            <a:r>
              <a:rPr lang="zh-CN" altLang="en-US" sz="2400" b="1" dirty="0">
                <a:latin typeface="Times New Roman" panose="02020603050405020304" pitchFamily="18" charset="0"/>
                <a:ea typeface="黑体" panose="02010609060101010101" pitchFamily="49" charset="-122"/>
                <a:cs typeface="Times New Roman" panose="02020603050405020304" pitchFamily="18" charset="0"/>
              </a:rPr>
              <a:t>在情况</a:t>
            </a:r>
            <a:r>
              <a:rPr lang="en-US" altLang="zh-CN" sz="2400" b="1" dirty="0">
                <a:latin typeface="Times New Roman" panose="02020603050405020304" pitchFamily="18" charset="0"/>
                <a:ea typeface="黑体" panose="02010609060101010101" pitchFamily="49" charset="-122"/>
                <a:cs typeface="Times New Roman" panose="02020603050405020304" pitchFamily="18" charset="0"/>
              </a:rPr>
              <a:t>g</a:t>
            </a:r>
            <a:r>
              <a:rPr lang="zh-CN" altLang="en-US" sz="2400" b="1" dirty="0">
                <a:latin typeface="Times New Roman" panose="02020603050405020304" pitchFamily="18" charset="0"/>
                <a:ea typeface="黑体" panose="02010609060101010101" pitchFamily="49" charset="-122"/>
                <a:cs typeface="Times New Roman" panose="02020603050405020304" pitchFamily="18" charset="0"/>
              </a:rPr>
              <a:t>中，整个喷管内的流动是定熵的，气体在渐缩段为亚声速，在喉部</a:t>
            </a:r>
            <a:r>
              <a:rPr lang="en-US" altLang="zh-CN" sz="2400" b="1" i="1" dirty="0">
                <a:latin typeface="Times New Roman" panose="02020603050405020304" pitchFamily="18" charset="0"/>
                <a:ea typeface="黑体" panose="02010609060101010101" pitchFamily="49" charset="-122"/>
                <a:cs typeface="Times New Roman" panose="02020603050405020304" pitchFamily="18" charset="0"/>
              </a:rPr>
              <a:t>Ma</a:t>
            </a:r>
            <a:r>
              <a:rPr lang="en-US" altLang="zh-CN" sz="2400" b="1" dirty="0">
                <a:latin typeface="Times New Roman" panose="02020603050405020304" pitchFamily="18" charset="0"/>
                <a:ea typeface="黑体" panose="02010609060101010101" pitchFamily="49" charset="-122"/>
                <a:cs typeface="Times New Roman" panose="02020603050405020304" pitchFamily="18" charset="0"/>
              </a:rPr>
              <a:t>=1</a:t>
            </a:r>
            <a:r>
              <a:rPr lang="zh-CN" altLang="en-US" sz="2400" b="1" dirty="0">
                <a:latin typeface="Times New Roman" panose="02020603050405020304" pitchFamily="18" charset="0"/>
                <a:ea typeface="黑体" panose="02010609060101010101" pitchFamily="49" charset="-122"/>
                <a:cs typeface="Times New Roman" panose="02020603050405020304" pitchFamily="18" charset="0"/>
              </a:rPr>
              <a:t>，在渐扩段为超声速。然而，就在流体要流出喷管之前，流体的速度在激波之后降至亚声速，压力升高至背压</a:t>
            </a:r>
            <a:endParaRPr lang="zh-CN" altLang="en-US" sz="2400" b="1" dirty="0">
              <a:latin typeface="Times New Roman" panose="02020603050405020304" pitchFamily="18" charset="0"/>
              <a:ea typeface="黑体" panose="02010609060101010101" pitchFamily="49" charset="-122"/>
              <a:cs typeface="Times New Roman" panose="02020603050405020304" pitchFamily="18" charset="0"/>
            </a:endParaRPr>
          </a:p>
        </p:txBody>
      </p:sp>
      <p:pic>
        <p:nvPicPr>
          <p:cNvPr id="115714" name="图片 1"/>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527050" y="233363"/>
            <a:ext cx="4019550" cy="6194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37" name="矩形 221185"/>
          <p:cNvSpPr>
            <a:spLocks noChangeArrowheads="1"/>
          </p:cNvSpPr>
          <p:nvPr/>
        </p:nvSpPr>
        <p:spPr bwMode="auto">
          <a:xfrm>
            <a:off x="4049851" y="994327"/>
            <a:ext cx="4392612" cy="3600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spcBef>
                <a:spcPct val="20000"/>
              </a:spcBef>
              <a:buFontTx/>
              <a:buChar char="•"/>
            </a:pPr>
            <a:r>
              <a:rPr lang="zh-CN" altLang="en-US" sz="2400" b="1" dirty="0">
                <a:latin typeface="Times New Roman" panose="02020603050405020304" pitchFamily="18" charset="0"/>
                <a:ea typeface="黑体" panose="02010609060101010101" pitchFamily="49" charset="-122"/>
                <a:cs typeface="Times New Roman" panose="02020603050405020304" pitchFamily="18" charset="0"/>
              </a:rPr>
              <a:t>进一步降低背压，有情况</a:t>
            </a:r>
            <a:r>
              <a:rPr lang="en-US" altLang="zh-CN" sz="2400" b="1" dirty="0">
                <a:latin typeface="Times New Roman" panose="02020603050405020304" pitchFamily="18" charset="0"/>
                <a:ea typeface="黑体" panose="02010609060101010101" pitchFamily="49" charset="-122"/>
                <a:cs typeface="Times New Roman" panose="02020603050405020304" pitchFamily="18" charset="0"/>
              </a:rPr>
              <a:t>h</a:t>
            </a:r>
            <a:r>
              <a:rPr lang="zh-CN" altLang="en-US" sz="2400" b="1" dirty="0">
                <a:latin typeface="Times New Roman" panose="02020603050405020304" pitchFamily="18" charset="0"/>
                <a:ea typeface="黑体" panose="02010609060101010101" pitchFamily="49" charset="-122"/>
                <a:cs typeface="Times New Roman" panose="02020603050405020304" pitchFamily="18" charset="0"/>
              </a:rPr>
              <a:t>、</a:t>
            </a:r>
            <a:r>
              <a:rPr lang="en-US" altLang="zh-CN" sz="2400" b="1" dirty="0" err="1">
                <a:latin typeface="Times New Roman" panose="02020603050405020304" pitchFamily="18" charset="0"/>
                <a:ea typeface="黑体" panose="02010609060101010101" pitchFamily="49" charset="-122"/>
                <a:cs typeface="Times New Roman" panose="02020603050405020304" pitchFamily="18" charset="0"/>
              </a:rPr>
              <a:t>i</a:t>
            </a:r>
            <a:r>
              <a:rPr lang="zh-CN" altLang="en-US" sz="2400" b="1" dirty="0">
                <a:latin typeface="Times New Roman" panose="02020603050405020304" pitchFamily="18" charset="0"/>
                <a:ea typeface="黑体" panose="02010609060101010101" pitchFamily="49" charset="-122"/>
                <a:cs typeface="Times New Roman" panose="02020603050405020304" pitchFamily="18" charset="0"/>
              </a:rPr>
              <a:t>和</a:t>
            </a:r>
            <a:r>
              <a:rPr lang="en-US" altLang="zh-CN" sz="2400" b="1" dirty="0">
                <a:latin typeface="Times New Roman" panose="02020603050405020304" pitchFamily="18" charset="0"/>
                <a:ea typeface="黑体" panose="02010609060101010101" pitchFamily="49" charset="-122"/>
                <a:cs typeface="Times New Roman" panose="02020603050405020304" pitchFamily="18" charset="0"/>
              </a:rPr>
              <a:t>j</a:t>
            </a:r>
            <a:r>
              <a:rPr lang="zh-CN" altLang="en-US" sz="2400" b="1" dirty="0">
                <a:latin typeface="Times New Roman" panose="02020603050405020304" pitchFamily="18" charset="0"/>
                <a:ea typeface="黑体" panose="02010609060101010101" pitchFamily="49" charset="-122"/>
                <a:cs typeface="Times New Roman" panose="02020603050405020304" pitchFamily="18" charset="0"/>
              </a:rPr>
              <a:t>发生</a:t>
            </a:r>
            <a:endParaRPr lang="zh-CN" altLang="en-US" sz="2400" b="1" dirty="0">
              <a:latin typeface="Times New Roman" panose="02020603050405020304" pitchFamily="18" charset="0"/>
              <a:ea typeface="黑体" panose="02010609060101010101" pitchFamily="49" charset="-122"/>
              <a:cs typeface="Times New Roman" panose="02020603050405020304" pitchFamily="18" charset="0"/>
            </a:endParaRPr>
          </a:p>
          <a:p>
            <a:pPr>
              <a:spcBef>
                <a:spcPct val="20000"/>
              </a:spcBef>
              <a:buFontTx/>
              <a:buChar char="•"/>
            </a:pPr>
            <a:r>
              <a:rPr lang="zh-CN" altLang="en-US" sz="2400" b="1" dirty="0">
                <a:latin typeface="Times New Roman" panose="02020603050405020304" pitchFamily="18" charset="0"/>
                <a:ea typeface="黑体" panose="02010609060101010101" pitchFamily="49" charset="-122"/>
                <a:cs typeface="Times New Roman" panose="02020603050405020304" pitchFamily="18" charset="0"/>
              </a:rPr>
              <a:t>这三种情况的背压虽不相同，但背压的大小并不影响气体在喷管中的流动状况，只会影响喷管外的情况 </a:t>
            </a:r>
            <a:endParaRPr lang="zh-CN" altLang="en-US" sz="2400" b="1" dirty="0">
              <a:latin typeface="Times New Roman" panose="02020603050405020304" pitchFamily="18" charset="0"/>
              <a:ea typeface="黑体" panose="02010609060101010101" pitchFamily="49" charset="-122"/>
              <a:cs typeface="Times New Roman" panose="02020603050405020304" pitchFamily="18" charset="0"/>
            </a:endParaRPr>
          </a:p>
        </p:txBody>
      </p:sp>
      <p:pic>
        <p:nvPicPr>
          <p:cNvPr id="116738" name="图片 1"/>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514350" y="328613"/>
            <a:ext cx="3959225" cy="61007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1" name="矩形 222209"/>
          <p:cNvSpPr>
            <a:spLocks noChangeArrowheads="1"/>
          </p:cNvSpPr>
          <p:nvPr/>
        </p:nvSpPr>
        <p:spPr bwMode="auto">
          <a:xfrm>
            <a:off x="4301332" y="1261787"/>
            <a:ext cx="4392612" cy="3455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spcBef>
                <a:spcPct val="20000"/>
              </a:spcBef>
              <a:buFontTx/>
              <a:buChar char="•"/>
            </a:pPr>
            <a:r>
              <a:rPr lang="zh-CN" altLang="en-US" sz="2400" b="1" dirty="0">
                <a:latin typeface="Times New Roman" panose="02020603050405020304" pitchFamily="18" charset="0"/>
                <a:ea typeface="黑体" panose="02010609060101010101" pitchFamily="49" charset="-122"/>
                <a:cs typeface="Times New Roman" panose="02020603050405020304" pitchFamily="18" charset="0"/>
              </a:rPr>
              <a:t>在情况</a:t>
            </a:r>
            <a:r>
              <a:rPr lang="en-US" altLang="zh-CN" sz="2400" b="1" dirty="0">
                <a:latin typeface="Times New Roman" panose="02020603050405020304" pitchFamily="18" charset="0"/>
                <a:ea typeface="黑体" panose="02010609060101010101" pitchFamily="49" charset="-122"/>
                <a:cs typeface="Times New Roman" panose="02020603050405020304" pitchFamily="18" charset="0"/>
              </a:rPr>
              <a:t>h</a:t>
            </a:r>
            <a:r>
              <a:rPr lang="zh-CN" altLang="en-US" sz="2400" b="1" dirty="0">
                <a:latin typeface="Times New Roman" panose="02020603050405020304" pitchFamily="18" charset="0"/>
                <a:ea typeface="黑体" panose="02010609060101010101" pitchFamily="49" charset="-122"/>
                <a:cs typeface="Times New Roman" panose="02020603050405020304" pitchFamily="18" charset="0"/>
              </a:rPr>
              <a:t>中，气体定熵流过喷管时压力连续下降，在出口截面处压力为</a:t>
            </a:r>
            <a:r>
              <a:rPr lang="en-US" altLang="zh-CN" sz="2400" b="1" i="1" dirty="0">
                <a:latin typeface="Times New Roman" panose="02020603050405020304" pitchFamily="18" charset="0"/>
                <a:ea typeface="黑体" panose="02010609060101010101" pitchFamily="49" charset="-122"/>
                <a:cs typeface="Times New Roman" panose="02020603050405020304" pitchFamily="18" charset="0"/>
              </a:rPr>
              <a:t>p</a:t>
            </a:r>
            <a:r>
              <a:rPr lang="en-US" altLang="zh-CN" sz="2400" b="1" baseline="-25000" dirty="0">
                <a:latin typeface="Times New Roman" panose="02020603050405020304" pitchFamily="18" charset="0"/>
                <a:ea typeface="黑体" panose="02010609060101010101" pitchFamily="49" charset="-122"/>
                <a:cs typeface="Times New Roman" panose="02020603050405020304" pitchFamily="18" charset="0"/>
              </a:rPr>
              <a:t>i</a:t>
            </a:r>
            <a:r>
              <a:rPr lang="zh-CN" altLang="en-US" sz="2400" b="1" dirty="0">
                <a:latin typeface="Times New Roman" panose="02020603050405020304" pitchFamily="18" charset="0"/>
                <a:ea typeface="黑体" panose="02010609060101010101" pitchFamily="49" charset="-122"/>
                <a:cs typeface="Times New Roman" panose="02020603050405020304" pitchFamily="18" charset="0"/>
              </a:rPr>
              <a:t>，流出喷管后，会产生斜激波，气流的压力由</a:t>
            </a:r>
            <a:r>
              <a:rPr lang="en-US" altLang="zh-CN" sz="2400" b="1" i="1" dirty="0">
                <a:latin typeface="Times New Roman" panose="02020603050405020304" pitchFamily="18" charset="0"/>
                <a:ea typeface="黑体" panose="02010609060101010101" pitchFamily="49" charset="-122"/>
                <a:cs typeface="Times New Roman" panose="02020603050405020304" pitchFamily="18" charset="0"/>
              </a:rPr>
              <a:t>p</a:t>
            </a:r>
            <a:r>
              <a:rPr lang="en-US" altLang="zh-CN" sz="2400" b="1" baseline="-25000" dirty="0">
                <a:latin typeface="Times New Roman" panose="02020603050405020304" pitchFamily="18" charset="0"/>
                <a:ea typeface="黑体" panose="02010609060101010101" pitchFamily="49" charset="-122"/>
                <a:cs typeface="Times New Roman" panose="02020603050405020304" pitchFamily="18" charset="0"/>
              </a:rPr>
              <a:t>i</a:t>
            </a:r>
            <a:r>
              <a:rPr lang="zh-CN" altLang="en-US" sz="2400" b="1" dirty="0">
                <a:latin typeface="Times New Roman" panose="02020603050405020304" pitchFamily="18" charset="0"/>
                <a:ea typeface="黑体" panose="02010609060101010101" pitchFamily="49" charset="-122"/>
                <a:cs typeface="Times New Roman" panose="02020603050405020304" pitchFamily="18" charset="0"/>
              </a:rPr>
              <a:t>升至背压</a:t>
            </a:r>
            <a:r>
              <a:rPr lang="en-US" altLang="zh-CN" sz="2400" b="1" i="1" dirty="0" err="1">
                <a:latin typeface="Times New Roman" panose="02020603050405020304" pitchFamily="18" charset="0"/>
                <a:ea typeface="黑体" panose="02010609060101010101" pitchFamily="49" charset="-122"/>
                <a:cs typeface="Times New Roman" panose="02020603050405020304" pitchFamily="18" charset="0"/>
              </a:rPr>
              <a:t>p</a:t>
            </a:r>
            <a:r>
              <a:rPr lang="en-US" altLang="zh-CN" sz="2400" b="1" baseline="-25000" dirty="0" err="1">
                <a:latin typeface="Times New Roman" panose="02020603050405020304" pitchFamily="18" charset="0"/>
                <a:ea typeface="黑体" panose="02010609060101010101" pitchFamily="49" charset="-122"/>
                <a:cs typeface="Times New Roman" panose="02020603050405020304" pitchFamily="18" charset="0"/>
              </a:rPr>
              <a:t>h</a:t>
            </a:r>
            <a:r>
              <a:rPr lang="en-US" altLang="zh-CN" sz="2400" b="1" dirty="0">
                <a:latin typeface="Times New Roman" panose="02020603050405020304" pitchFamily="18" charset="0"/>
                <a:ea typeface="黑体" panose="02010609060101010101" pitchFamily="49" charset="-122"/>
                <a:cs typeface="Times New Roman" panose="02020603050405020304" pitchFamily="18" charset="0"/>
              </a:rPr>
              <a:t> </a:t>
            </a:r>
            <a:endParaRPr lang="en-US" altLang="zh-CN" sz="2400" b="1" dirty="0">
              <a:latin typeface="Times New Roman" panose="02020603050405020304" pitchFamily="18" charset="0"/>
              <a:ea typeface="黑体" panose="02010609060101010101" pitchFamily="49" charset="-122"/>
              <a:cs typeface="Times New Roman" panose="02020603050405020304" pitchFamily="18" charset="0"/>
            </a:endParaRPr>
          </a:p>
        </p:txBody>
      </p:sp>
      <p:pic>
        <p:nvPicPr>
          <p:cNvPr id="117762" name="图片 1"/>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514350" y="328613"/>
            <a:ext cx="3959225" cy="61007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785" name="矩形 223233"/>
          <p:cNvSpPr>
            <a:spLocks noChangeArrowheads="1"/>
          </p:cNvSpPr>
          <p:nvPr/>
        </p:nvSpPr>
        <p:spPr bwMode="auto">
          <a:xfrm>
            <a:off x="4195625" y="1602271"/>
            <a:ext cx="4465637" cy="1511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spcBef>
                <a:spcPct val="20000"/>
              </a:spcBef>
              <a:buFontTx/>
              <a:buChar char="•"/>
            </a:pPr>
            <a:r>
              <a:rPr lang="zh-CN" altLang="en-US" sz="2400" b="1" dirty="0">
                <a:latin typeface="Times New Roman" panose="02020603050405020304" pitchFamily="18" charset="0"/>
                <a:ea typeface="黑体" panose="02010609060101010101" pitchFamily="49" charset="-122"/>
                <a:cs typeface="Times New Roman" panose="02020603050405020304" pitchFamily="18" charset="0"/>
              </a:rPr>
              <a:t>在情况</a:t>
            </a:r>
            <a:r>
              <a:rPr lang="en-US" altLang="zh-CN" sz="2400" b="1" dirty="0" err="1">
                <a:latin typeface="Times New Roman" panose="02020603050405020304" pitchFamily="18" charset="0"/>
                <a:ea typeface="黑体" panose="02010609060101010101" pitchFamily="49" charset="-122"/>
                <a:cs typeface="Times New Roman" panose="02020603050405020304" pitchFamily="18" charset="0"/>
              </a:rPr>
              <a:t>i</a:t>
            </a:r>
            <a:r>
              <a:rPr lang="zh-CN" altLang="en-US" sz="2400" b="1" dirty="0">
                <a:latin typeface="Times New Roman" panose="02020603050405020304" pitchFamily="18" charset="0"/>
                <a:ea typeface="黑体" panose="02010609060101010101" pitchFamily="49" charset="-122"/>
                <a:cs typeface="Times New Roman" panose="02020603050405020304" pitchFamily="18" charset="0"/>
              </a:rPr>
              <a:t>中，气体定熵膨胀至背压</a:t>
            </a:r>
            <a:r>
              <a:rPr lang="en-US" altLang="zh-CN" sz="2400" b="1" i="1" dirty="0">
                <a:latin typeface="Times New Roman" panose="02020603050405020304" pitchFamily="18" charset="0"/>
                <a:ea typeface="黑体" panose="02010609060101010101" pitchFamily="49" charset="-122"/>
                <a:cs typeface="Times New Roman" panose="02020603050405020304" pitchFamily="18" charset="0"/>
              </a:rPr>
              <a:t>p</a:t>
            </a:r>
            <a:r>
              <a:rPr lang="en-US" altLang="zh-CN" sz="2400" b="1" baseline="-25000" dirty="0">
                <a:latin typeface="Times New Roman" panose="02020603050405020304" pitchFamily="18" charset="0"/>
                <a:ea typeface="黑体" panose="02010609060101010101" pitchFamily="49" charset="-122"/>
                <a:cs typeface="Times New Roman" panose="02020603050405020304" pitchFamily="18" charset="0"/>
              </a:rPr>
              <a:t>i</a:t>
            </a:r>
            <a:r>
              <a:rPr lang="zh-CN" altLang="en-US" sz="2400" b="1" dirty="0">
                <a:latin typeface="Times New Roman" panose="02020603050405020304" pitchFamily="18" charset="0"/>
                <a:ea typeface="黑体" panose="02010609060101010101" pitchFamily="49" charset="-122"/>
                <a:cs typeface="Times New Roman" panose="02020603050405020304" pitchFamily="18" charset="0"/>
              </a:rPr>
              <a:t>，并且在喷管内和喷管外均无激波产生</a:t>
            </a:r>
            <a:r>
              <a:rPr lang="zh-CN" altLang="en-US" sz="2800" dirty="0">
                <a:latin typeface="Times New Roman" panose="02020603050405020304" pitchFamily="18" charset="0"/>
                <a:ea typeface="黑体" panose="02010609060101010101" pitchFamily="49" charset="-122"/>
                <a:cs typeface="Times New Roman" panose="02020603050405020304" pitchFamily="18" charset="0"/>
              </a:rPr>
              <a:t> </a:t>
            </a:r>
            <a:endParaRPr lang="zh-CN" altLang="en-US" sz="2800" dirty="0">
              <a:latin typeface="Times New Roman" panose="02020603050405020304" pitchFamily="18" charset="0"/>
              <a:ea typeface="黑体" panose="02010609060101010101" pitchFamily="49" charset="-122"/>
              <a:cs typeface="Times New Roman" panose="02020603050405020304" pitchFamily="18" charset="0"/>
            </a:endParaRPr>
          </a:p>
        </p:txBody>
      </p:sp>
      <p:pic>
        <p:nvPicPr>
          <p:cNvPr id="118786" name="图片 1"/>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514350" y="328613"/>
            <a:ext cx="3959225" cy="61007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09" name="矩形 224257"/>
          <p:cNvSpPr>
            <a:spLocks noChangeArrowheads="1"/>
          </p:cNvSpPr>
          <p:nvPr/>
        </p:nvSpPr>
        <p:spPr bwMode="auto">
          <a:xfrm>
            <a:off x="4067969" y="1730583"/>
            <a:ext cx="4859337" cy="2305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spcBef>
                <a:spcPct val="20000"/>
              </a:spcBef>
              <a:buFontTx/>
              <a:buChar char="•"/>
            </a:pPr>
            <a:r>
              <a:rPr lang="zh-CN" altLang="en-US" sz="2400" b="1" dirty="0">
                <a:latin typeface="Times New Roman" panose="02020603050405020304" pitchFamily="18" charset="0"/>
                <a:ea typeface="黑体" panose="02010609060101010101" pitchFamily="49" charset="-122"/>
                <a:cs typeface="Times New Roman" panose="02020603050405020304" pitchFamily="18" charset="0"/>
              </a:rPr>
              <a:t>在情况</a:t>
            </a:r>
            <a:r>
              <a:rPr lang="en-US" altLang="zh-CN" sz="2400" b="1" dirty="0">
                <a:latin typeface="Times New Roman" panose="02020603050405020304" pitchFamily="18" charset="0"/>
                <a:ea typeface="黑体" panose="02010609060101010101" pitchFamily="49" charset="-122"/>
                <a:cs typeface="Times New Roman" panose="02020603050405020304" pitchFamily="18" charset="0"/>
              </a:rPr>
              <a:t>j</a:t>
            </a:r>
            <a:r>
              <a:rPr lang="zh-CN" altLang="en-US" sz="2400" b="1" dirty="0">
                <a:latin typeface="Times New Roman" panose="02020603050405020304" pitchFamily="18" charset="0"/>
                <a:ea typeface="黑体" panose="02010609060101010101" pitchFamily="49" charset="-122"/>
                <a:cs typeface="Times New Roman" panose="02020603050405020304" pitchFamily="18" charset="0"/>
              </a:rPr>
              <a:t>中，气体出口截面处压力为</a:t>
            </a:r>
            <a:r>
              <a:rPr lang="en-US" altLang="zh-CN" sz="2400" b="1" i="1" dirty="0">
                <a:latin typeface="Times New Roman" panose="02020603050405020304" pitchFamily="18" charset="0"/>
                <a:ea typeface="黑体" panose="02010609060101010101" pitchFamily="49" charset="-122"/>
                <a:cs typeface="Times New Roman" panose="02020603050405020304" pitchFamily="18" charset="0"/>
              </a:rPr>
              <a:t>p</a:t>
            </a:r>
            <a:r>
              <a:rPr lang="en-US" altLang="zh-CN" sz="2400" b="1" baseline="-25000" dirty="0">
                <a:latin typeface="Times New Roman" panose="02020603050405020304" pitchFamily="18" charset="0"/>
                <a:ea typeface="黑体" panose="02010609060101010101" pitchFamily="49" charset="-122"/>
                <a:cs typeface="Times New Roman" panose="02020603050405020304" pitchFamily="18" charset="0"/>
              </a:rPr>
              <a:t>i</a:t>
            </a:r>
            <a:r>
              <a:rPr lang="zh-CN" altLang="en-US" sz="2400" b="1" dirty="0">
                <a:latin typeface="Times New Roman" panose="02020603050405020304" pitchFamily="18" charset="0"/>
                <a:ea typeface="黑体" panose="02010609060101010101" pitchFamily="49" charset="-122"/>
                <a:cs typeface="Times New Roman" panose="02020603050405020304" pitchFamily="18" charset="0"/>
              </a:rPr>
              <a:t>，流出喷管后自由膨胀，压力降至背压</a:t>
            </a:r>
            <a:r>
              <a:rPr lang="en-US" altLang="zh-CN" sz="2400" b="1" i="1" dirty="0" err="1">
                <a:latin typeface="Times New Roman" panose="02020603050405020304" pitchFamily="18" charset="0"/>
                <a:ea typeface="黑体" panose="02010609060101010101" pitchFamily="49" charset="-122"/>
                <a:cs typeface="Times New Roman" panose="02020603050405020304" pitchFamily="18" charset="0"/>
              </a:rPr>
              <a:t>p</a:t>
            </a:r>
            <a:r>
              <a:rPr lang="en-US" altLang="zh-CN" sz="2400" b="1" baseline="-25000" dirty="0" err="1">
                <a:latin typeface="Times New Roman" panose="02020603050405020304" pitchFamily="18" charset="0"/>
                <a:ea typeface="黑体" panose="02010609060101010101" pitchFamily="49" charset="-122"/>
                <a:cs typeface="Times New Roman" panose="02020603050405020304" pitchFamily="18" charset="0"/>
              </a:rPr>
              <a:t>j</a:t>
            </a:r>
            <a:r>
              <a:rPr lang="en-US" altLang="zh-CN" sz="2400" dirty="0">
                <a:latin typeface="Times New Roman" panose="02020603050405020304" pitchFamily="18" charset="0"/>
                <a:ea typeface="黑体" panose="02010609060101010101" pitchFamily="49" charset="-122"/>
                <a:cs typeface="Times New Roman" panose="02020603050405020304" pitchFamily="18" charset="0"/>
              </a:rPr>
              <a:t> </a:t>
            </a:r>
            <a:endParaRPr lang="en-US" altLang="zh-CN" sz="2400" dirty="0">
              <a:latin typeface="Times New Roman" panose="02020603050405020304" pitchFamily="18" charset="0"/>
              <a:ea typeface="黑体" panose="02010609060101010101" pitchFamily="49" charset="-122"/>
              <a:cs typeface="Times New Roman" panose="02020603050405020304" pitchFamily="18" charset="0"/>
            </a:endParaRPr>
          </a:p>
        </p:txBody>
      </p:sp>
      <p:pic>
        <p:nvPicPr>
          <p:cNvPr id="119810" name="图片 1"/>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514350" y="328613"/>
            <a:ext cx="3959225" cy="61007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833" name="矩形 225281"/>
          <p:cNvSpPr>
            <a:spLocks noChangeArrowheads="1"/>
          </p:cNvSpPr>
          <p:nvPr/>
        </p:nvSpPr>
        <p:spPr bwMode="auto">
          <a:xfrm>
            <a:off x="4200525" y="973000"/>
            <a:ext cx="4321175" cy="3816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spcBef>
                <a:spcPct val="20000"/>
              </a:spcBef>
              <a:buFontTx/>
              <a:buChar char="•"/>
            </a:pPr>
            <a:r>
              <a:rPr lang="zh-CN" altLang="en-US" sz="2400" b="1" dirty="0">
                <a:latin typeface="Times New Roman" panose="02020603050405020304" pitchFamily="18" charset="0"/>
                <a:ea typeface="黑体" panose="02010609060101010101" pitchFamily="49" charset="-122"/>
                <a:cs typeface="Times New Roman" panose="02020603050405020304" pitchFamily="18" charset="0"/>
              </a:rPr>
              <a:t>再次指出，一旦喉部</a:t>
            </a:r>
            <a:r>
              <a:rPr lang="en-US" altLang="zh-CN" sz="2400" b="1" i="1" dirty="0">
                <a:latin typeface="Times New Roman" panose="02020603050405020304" pitchFamily="18" charset="0"/>
                <a:ea typeface="黑体" panose="02010609060101010101" pitchFamily="49" charset="-122"/>
                <a:cs typeface="Times New Roman" panose="02020603050405020304" pitchFamily="18" charset="0"/>
              </a:rPr>
              <a:t>Ma</a:t>
            </a:r>
            <a:r>
              <a:rPr lang="zh-CN" altLang="en-US" sz="2400" b="1" dirty="0">
                <a:latin typeface="Times New Roman" panose="02020603050405020304" pitchFamily="18" charset="0"/>
                <a:ea typeface="黑体" panose="02010609060101010101" pitchFamily="49" charset="-122"/>
                <a:cs typeface="Times New Roman" panose="02020603050405020304" pitchFamily="18" charset="0"/>
              </a:rPr>
              <a:t>等于</a:t>
            </a:r>
            <a:r>
              <a:rPr lang="en-US" altLang="zh-CN" sz="2400" b="1" dirty="0">
                <a:latin typeface="Times New Roman" panose="02020603050405020304" pitchFamily="18" charset="0"/>
                <a:ea typeface="黑体" panose="02010609060101010101" pitchFamily="49" charset="-122"/>
                <a:cs typeface="Times New Roman" panose="02020603050405020304" pitchFamily="18" charset="0"/>
              </a:rPr>
              <a:t>1</a:t>
            </a:r>
            <a:r>
              <a:rPr lang="zh-CN" altLang="en-US" sz="2400" b="1" dirty="0">
                <a:latin typeface="Times New Roman" panose="02020603050405020304" pitchFamily="18" charset="0"/>
                <a:ea typeface="黑体" panose="02010609060101010101" pitchFamily="49" charset="-122"/>
                <a:cs typeface="Times New Roman" panose="02020603050405020304" pitchFamily="18" charset="0"/>
              </a:rPr>
              <a:t>，通过拉伐尔喷管的质量流量就是给定滞止参数下的最大</a:t>
            </a:r>
            <a:r>
              <a:rPr lang="zh-CN" altLang="en-US" sz="2400" b="1" dirty="0" smtClean="0">
                <a:latin typeface="Times New Roman" panose="02020603050405020304" pitchFamily="18" charset="0"/>
                <a:ea typeface="黑体" panose="02010609060101010101" pitchFamily="49" charset="-122"/>
                <a:cs typeface="Times New Roman" panose="02020603050405020304" pitchFamily="18" charset="0"/>
              </a:rPr>
              <a:t>质量</a:t>
            </a:r>
            <a:r>
              <a:rPr lang="zh-CN" altLang="en-US" sz="2400" b="1" dirty="0">
                <a:latin typeface="Times New Roman" panose="02020603050405020304" pitchFamily="18" charset="0"/>
                <a:ea typeface="黑体" panose="02010609060101010101" pitchFamily="49" charset="-122"/>
                <a:cs typeface="Times New Roman" panose="02020603050405020304" pitchFamily="18" charset="0"/>
              </a:rPr>
              <a:t>流量</a:t>
            </a:r>
            <a:r>
              <a:rPr lang="zh-CN" altLang="en-US" sz="2400" b="1" dirty="0" smtClean="0">
                <a:latin typeface="Times New Roman" panose="02020603050405020304" pitchFamily="18" charset="0"/>
                <a:ea typeface="黑体" panose="02010609060101010101" pitchFamily="49" charset="-122"/>
                <a:cs typeface="Times New Roman" panose="02020603050405020304" pitchFamily="18" charset="0"/>
              </a:rPr>
              <a:t>，</a:t>
            </a:r>
            <a:r>
              <a:rPr lang="zh-CN" altLang="en-US" sz="2400" b="1" dirty="0">
                <a:latin typeface="Times New Roman" panose="02020603050405020304" pitchFamily="18" charset="0"/>
                <a:ea typeface="黑体" panose="02010609060101010101" pitchFamily="49" charset="-122"/>
                <a:cs typeface="Times New Roman" panose="02020603050405020304" pitchFamily="18" charset="0"/>
              </a:rPr>
              <a:t>所以对于情况</a:t>
            </a:r>
            <a:r>
              <a:rPr lang="en-US" altLang="zh-CN" sz="2400" b="1" dirty="0" err="1">
                <a:latin typeface="Times New Roman" panose="02020603050405020304" pitchFamily="18" charset="0"/>
                <a:ea typeface="黑体" panose="02010609060101010101" pitchFamily="49" charset="-122"/>
                <a:cs typeface="Times New Roman" panose="02020603050405020304" pitchFamily="18" charset="0"/>
              </a:rPr>
              <a:t>d~j</a:t>
            </a:r>
            <a:r>
              <a:rPr lang="zh-CN" altLang="en-US" sz="2400" b="1" dirty="0">
                <a:latin typeface="Times New Roman" panose="02020603050405020304" pitchFamily="18" charset="0"/>
                <a:ea typeface="黑体" panose="02010609060101010101" pitchFamily="49" charset="-122"/>
                <a:cs typeface="Times New Roman" panose="02020603050405020304" pitchFamily="18" charset="0"/>
              </a:rPr>
              <a:t>，流过喷管的质量流量是相同</a:t>
            </a:r>
            <a:r>
              <a:rPr lang="zh-CN" altLang="en-US" sz="2400" b="1" dirty="0" smtClean="0">
                <a:latin typeface="Times New Roman" panose="02020603050405020304" pitchFamily="18" charset="0"/>
                <a:ea typeface="黑体" panose="02010609060101010101" pitchFamily="49" charset="-122"/>
                <a:cs typeface="Times New Roman" panose="02020603050405020304" pitchFamily="18" charset="0"/>
              </a:rPr>
              <a:t>的</a:t>
            </a:r>
            <a:endParaRPr lang="zh-CN" altLang="en-US" sz="2400" b="1" dirty="0">
              <a:latin typeface="Times New Roman" panose="02020603050405020304" pitchFamily="18" charset="0"/>
              <a:ea typeface="黑体" panose="02010609060101010101" pitchFamily="49" charset="-122"/>
              <a:cs typeface="Times New Roman" panose="02020603050405020304" pitchFamily="18" charset="0"/>
            </a:endParaRPr>
          </a:p>
          <a:p>
            <a:pPr>
              <a:spcBef>
                <a:spcPct val="20000"/>
              </a:spcBef>
              <a:buFontTx/>
              <a:buChar char="•"/>
            </a:pPr>
            <a:r>
              <a:rPr lang="zh-CN" altLang="en-US" sz="2400" b="1" dirty="0">
                <a:latin typeface="Times New Roman" panose="02020603050405020304" pitchFamily="18" charset="0"/>
                <a:ea typeface="黑体" panose="02010609060101010101" pitchFamily="49" charset="-122"/>
                <a:cs typeface="Times New Roman" panose="02020603050405020304" pitchFamily="18" charset="0"/>
              </a:rPr>
              <a:t>涉及到喷管外产生激波的情况较为复杂，不能采用一维流动模型来分析</a:t>
            </a:r>
            <a:r>
              <a:rPr lang="zh-CN" altLang="en-US" sz="2400" dirty="0">
                <a:latin typeface="Times New Roman" panose="02020603050405020304" pitchFamily="18" charset="0"/>
                <a:ea typeface="黑体" panose="02010609060101010101" pitchFamily="49" charset="-122"/>
                <a:cs typeface="Times New Roman" panose="02020603050405020304" pitchFamily="18" charset="0"/>
              </a:rPr>
              <a:t> </a:t>
            </a:r>
            <a:endParaRPr lang="zh-CN" altLang="en-US" sz="2400" dirty="0">
              <a:latin typeface="Times New Roman" panose="02020603050405020304" pitchFamily="18" charset="0"/>
              <a:ea typeface="黑体" panose="02010609060101010101" pitchFamily="49" charset="-122"/>
              <a:cs typeface="Times New Roman" panose="02020603050405020304" pitchFamily="18" charset="0"/>
            </a:endParaRPr>
          </a:p>
        </p:txBody>
      </p:sp>
      <p:pic>
        <p:nvPicPr>
          <p:cNvPr id="120834" name="图片 1"/>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514350" y="328613"/>
            <a:ext cx="3959225" cy="61007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857" name="文本占位符 226305"/>
          <p:cNvSpPr>
            <a:spLocks noGrp="1" noChangeArrowheads="1"/>
          </p:cNvSpPr>
          <p:nvPr>
            <p:ph idx="1"/>
          </p:nvPr>
        </p:nvSpPr>
        <p:spPr>
          <a:xfrm>
            <a:off x="4115766" y="483600"/>
            <a:ext cx="4657173" cy="5552765"/>
          </a:xfrm>
        </p:spPr>
        <p:txBody>
          <a:bodyPr>
            <a:noAutofit/>
          </a:bodyPr>
          <a:lstStyle/>
          <a:p>
            <a:pPr>
              <a:lnSpc>
                <a:spcPct val="100000"/>
              </a:lnSpc>
            </a:pPr>
            <a:r>
              <a:rPr lang="zh-CN" altLang="en-US" sz="2400" b="1" dirty="0" smtClean="0">
                <a:latin typeface="Times New Roman" panose="02020603050405020304" pitchFamily="18" charset="0"/>
                <a:ea typeface="黑体" panose="02010609060101010101" pitchFamily="49" charset="-122"/>
                <a:cs typeface="Times New Roman" panose="02020603050405020304" pitchFamily="18" charset="0"/>
              </a:rPr>
              <a:t>对于给定尺寸的拉伐尔喷管，只要背压不等于出口截面的设计压力</a:t>
            </a:r>
            <a:r>
              <a:rPr lang="en-US" altLang="zh-CN" sz="2400" b="1" i="1" dirty="0" err="1" smtClean="0">
                <a:latin typeface="Times New Roman" panose="02020603050405020304" pitchFamily="18" charset="0"/>
                <a:ea typeface="黑体" panose="02010609060101010101" pitchFamily="49" charset="-122"/>
                <a:cs typeface="Times New Roman" panose="02020603050405020304" pitchFamily="18" charset="0"/>
              </a:rPr>
              <a:t>p</a:t>
            </a:r>
            <a:r>
              <a:rPr lang="en-US" altLang="zh-CN" sz="2400" b="1" baseline="-25000" dirty="0" err="1" smtClean="0">
                <a:latin typeface="Times New Roman" panose="02020603050405020304" pitchFamily="18" charset="0"/>
                <a:ea typeface="黑体" panose="02010609060101010101" pitchFamily="49" charset="-122"/>
                <a:cs typeface="Times New Roman" panose="02020603050405020304" pitchFamily="18" charset="0"/>
              </a:rPr>
              <a:t>i</a:t>
            </a:r>
            <a:r>
              <a:rPr lang="en-US" altLang="zh-CN" sz="2400" b="1" dirty="0" err="1" smtClean="0">
                <a:latin typeface="Times New Roman" panose="02020603050405020304" pitchFamily="18" charset="0"/>
                <a:ea typeface="黑体" panose="02010609060101010101" pitchFamily="49" charset="-122"/>
                <a:cs typeface="Times New Roman" panose="02020603050405020304" pitchFamily="18" charset="0"/>
              </a:rPr>
              <a:t>（对应于情况i</a:t>
            </a:r>
            <a:r>
              <a:rPr lang="en-US" altLang="zh-CN" sz="2400" b="1" dirty="0" smtClean="0">
                <a:latin typeface="Times New Roman" panose="02020603050405020304" pitchFamily="18" charset="0"/>
                <a:ea typeface="黑体" panose="02010609060101010101" pitchFamily="49" charset="-122"/>
                <a:cs typeface="Times New Roman" panose="02020603050405020304" pitchFamily="18" charset="0"/>
              </a:rPr>
              <a:t>）</a:t>
            </a:r>
            <a:r>
              <a:rPr lang="zh-CN" altLang="en-US" sz="2400" b="1" dirty="0" smtClean="0">
                <a:latin typeface="Times New Roman" panose="02020603050405020304" pitchFamily="18" charset="0"/>
                <a:ea typeface="黑体" panose="02010609060101010101" pitchFamily="49" charset="-122"/>
                <a:cs typeface="Times New Roman" panose="02020603050405020304" pitchFamily="18" charset="0"/>
              </a:rPr>
              <a:t>，则可能：</a:t>
            </a:r>
            <a:endParaRPr lang="en-US" altLang="zh-CN" sz="2400" b="1" dirty="0" smtClean="0">
              <a:latin typeface="Times New Roman" panose="02020603050405020304" pitchFamily="18" charset="0"/>
              <a:ea typeface="黑体" panose="02010609060101010101" pitchFamily="49" charset="-122"/>
              <a:cs typeface="Times New Roman" panose="02020603050405020304" pitchFamily="18" charset="0"/>
            </a:endParaRPr>
          </a:p>
          <a:p>
            <a:pPr marL="0" indent="0">
              <a:lnSpc>
                <a:spcPct val="100000"/>
              </a:lnSpc>
              <a:buNone/>
            </a:pPr>
            <a:r>
              <a:rPr lang="zh-CN" altLang="en-US" sz="2400" b="1" dirty="0" smtClean="0">
                <a:latin typeface="Times New Roman" panose="02020603050405020304" pitchFamily="18" charset="0"/>
                <a:ea typeface="黑体" panose="02010609060101010101" pitchFamily="49" charset="-122"/>
                <a:cs typeface="Times New Roman" panose="02020603050405020304" pitchFamily="18" charset="0"/>
              </a:rPr>
              <a:t>（</a:t>
            </a:r>
            <a:r>
              <a:rPr lang="en-US" altLang="zh-CN" sz="2400" b="1" dirty="0" smtClean="0">
                <a:latin typeface="Times New Roman" panose="02020603050405020304" pitchFamily="18" charset="0"/>
                <a:ea typeface="黑体" panose="02010609060101010101" pitchFamily="49" charset="-122"/>
                <a:cs typeface="Times New Roman" panose="02020603050405020304" pitchFamily="18" charset="0"/>
              </a:rPr>
              <a:t>1</a:t>
            </a:r>
            <a:r>
              <a:rPr lang="zh-CN" altLang="en-US" sz="2400" b="1" dirty="0" smtClean="0">
                <a:latin typeface="Times New Roman" panose="02020603050405020304" pitchFamily="18" charset="0"/>
                <a:ea typeface="黑体" panose="02010609060101010101" pitchFamily="49" charset="-122"/>
                <a:cs typeface="Times New Roman" panose="02020603050405020304" pitchFamily="18" charset="0"/>
              </a:rPr>
              <a:t>）无法实现拉伐尔喷管使气流从亚声速加速到超声速的功能（如情况</a:t>
            </a:r>
            <a:r>
              <a:rPr lang="en-US" altLang="zh-CN" sz="2400" b="1" dirty="0" smtClean="0">
                <a:latin typeface="Times New Roman" panose="02020603050405020304" pitchFamily="18" charset="0"/>
                <a:ea typeface="黑体" panose="02010609060101010101" pitchFamily="49" charset="-122"/>
                <a:cs typeface="Times New Roman" panose="02020603050405020304" pitchFamily="18" charset="0"/>
              </a:rPr>
              <a:t>a</a:t>
            </a:r>
            <a:r>
              <a:rPr lang="zh-CN" altLang="en-US" sz="2400" b="1" dirty="0" smtClean="0">
                <a:latin typeface="Times New Roman" panose="02020603050405020304" pitchFamily="18" charset="0"/>
                <a:ea typeface="黑体" panose="02010609060101010101" pitchFamily="49" charset="-122"/>
                <a:cs typeface="Times New Roman" panose="02020603050405020304" pitchFamily="18" charset="0"/>
              </a:rPr>
              <a:t>，</a:t>
            </a:r>
            <a:r>
              <a:rPr lang="en-US" altLang="zh-CN" sz="2400" b="1" dirty="0" smtClean="0">
                <a:latin typeface="Times New Roman" panose="02020603050405020304" pitchFamily="18" charset="0"/>
                <a:ea typeface="黑体" panose="02010609060101010101" pitchFamily="49" charset="-122"/>
                <a:cs typeface="Times New Roman" panose="02020603050405020304" pitchFamily="18" charset="0"/>
              </a:rPr>
              <a:t>b</a:t>
            </a:r>
            <a:r>
              <a:rPr lang="zh-CN" altLang="en-US" sz="2400" b="1" dirty="0" smtClean="0">
                <a:latin typeface="Times New Roman" panose="02020603050405020304" pitchFamily="18" charset="0"/>
                <a:ea typeface="黑体" panose="02010609060101010101" pitchFamily="49" charset="-122"/>
                <a:cs typeface="Times New Roman" panose="02020603050405020304" pitchFamily="18" charset="0"/>
              </a:rPr>
              <a:t>，</a:t>
            </a:r>
            <a:r>
              <a:rPr lang="en-US" altLang="zh-CN" sz="2400" b="1" dirty="0" smtClean="0">
                <a:latin typeface="Times New Roman" panose="02020603050405020304" pitchFamily="18" charset="0"/>
                <a:ea typeface="黑体" panose="02010609060101010101" pitchFamily="49" charset="-122"/>
                <a:cs typeface="Times New Roman" panose="02020603050405020304" pitchFamily="18" charset="0"/>
              </a:rPr>
              <a:t>c</a:t>
            </a:r>
            <a:r>
              <a:rPr lang="zh-CN" altLang="en-US" sz="2400" b="1" dirty="0" smtClean="0">
                <a:latin typeface="Times New Roman" panose="02020603050405020304" pitchFamily="18" charset="0"/>
                <a:ea typeface="黑体" panose="02010609060101010101" pitchFamily="49" charset="-122"/>
                <a:cs typeface="Times New Roman" panose="02020603050405020304" pitchFamily="18" charset="0"/>
              </a:rPr>
              <a:t>，</a:t>
            </a:r>
            <a:r>
              <a:rPr lang="en-US" altLang="zh-CN" sz="2400" b="1" dirty="0" smtClean="0">
                <a:latin typeface="Times New Roman" panose="02020603050405020304" pitchFamily="18" charset="0"/>
                <a:ea typeface="黑体" panose="02010609060101010101" pitchFamily="49" charset="-122"/>
                <a:cs typeface="Times New Roman" panose="02020603050405020304" pitchFamily="18" charset="0"/>
              </a:rPr>
              <a:t>d</a:t>
            </a:r>
            <a:r>
              <a:rPr lang="zh-CN" altLang="en-US" sz="2400" b="1" dirty="0" smtClean="0">
                <a:latin typeface="Times New Roman" panose="02020603050405020304" pitchFamily="18" charset="0"/>
                <a:ea typeface="黑体" panose="02010609060101010101" pitchFamily="49" charset="-122"/>
                <a:cs typeface="Times New Roman" panose="02020603050405020304" pitchFamily="18" charset="0"/>
              </a:rPr>
              <a:t>和</a:t>
            </a:r>
            <a:r>
              <a:rPr lang="en-US" altLang="zh-CN" sz="2400" b="1" dirty="0" smtClean="0">
                <a:latin typeface="Times New Roman" panose="02020603050405020304" pitchFamily="18" charset="0"/>
                <a:ea typeface="黑体" panose="02010609060101010101" pitchFamily="49" charset="-122"/>
                <a:cs typeface="Times New Roman" panose="02020603050405020304" pitchFamily="18" charset="0"/>
              </a:rPr>
              <a:t>e</a:t>
            </a:r>
            <a:r>
              <a:rPr lang="zh-CN" altLang="en-US" sz="2400" b="1" dirty="0" smtClean="0">
                <a:latin typeface="Times New Roman" panose="02020603050405020304" pitchFamily="18" charset="0"/>
                <a:ea typeface="黑体" panose="02010609060101010101" pitchFamily="49" charset="-122"/>
                <a:cs typeface="Times New Roman" panose="02020603050405020304" pitchFamily="18" charset="0"/>
              </a:rPr>
              <a:t>）；</a:t>
            </a:r>
            <a:endParaRPr lang="en-US" altLang="zh-CN" sz="2400" b="1" dirty="0" smtClean="0">
              <a:latin typeface="Times New Roman" panose="02020603050405020304" pitchFamily="18" charset="0"/>
              <a:ea typeface="黑体" panose="02010609060101010101" pitchFamily="49" charset="-122"/>
              <a:cs typeface="Times New Roman" panose="02020603050405020304" pitchFamily="18" charset="0"/>
            </a:endParaRPr>
          </a:p>
          <a:p>
            <a:pPr marL="0" indent="0">
              <a:lnSpc>
                <a:spcPct val="100000"/>
              </a:lnSpc>
              <a:buNone/>
            </a:pPr>
            <a:r>
              <a:rPr lang="zh-CN" altLang="en-US" sz="2400" b="1" dirty="0" smtClean="0">
                <a:latin typeface="Times New Roman" panose="02020603050405020304" pitchFamily="18" charset="0"/>
                <a:ea typeface="黑体" panose="02010609060101010101" pitchFamily="49" charset="-122"/>
                <a:cs typeface="Times New Roman" panose="02020603050405020304" pitchFamily="18" charset="0"/>
              </a:rPr>
              <a:t>（</a:t>
            </a:r>
            <a:r>
              <a:rPr lang="en-US" altLang="zh-CN" sz="2400" b="1" dirty="0" smtClean="0">
                <a:latin typeface="Times New Roman" panose="02020603050405020304" pitchFamily="18" charset="0"/>
                <a:ea typeface="黑体" panose="02010609060101010101" pitchFamily="49" charset="-122"/>
                <a:cs typeface="Times New Roman" panose="02020603050405020304" pitchFamily="18" charset="0"/>
              </a:rPr>
              <a:t>2</a:t>
            </a:r>
            <a:r>
              <a:rPr lang="zh-CN" altLang="en-US" sz="2400" b="1" dirty="0" smtClean="0">
                <a:latin typeface="Times New Roman" panose="02020603050405020304" pitchFamily="18" charset="0"/>
                <a:ea typeface="黑体" panose="02010609060101010101" pitchFamily="49" charset="-122"/>
                <a:cs typeface="Times New Roman" panose="02020603050405020304" pitchFamily="18" charset="0"/>
              </a:rPr>
              <a:t>）在流动过程中产生强不可逆性（如情况</a:t>
            </a:r>
            <a:r>
              <a:rPr lang="en-US" altLang="zh-CN" sz="2400" b="1" dirty="0" smtClean="0">
                <a:latin typeface="Times New Roman" panose="02020603050405020304" pitchFamily="18" charset="0"/>
                <a:ea typeface="黑体" panose="02010609060101010101" pitchFamily="49" charset="-122"/>
                <a:cs typeface="Times New Roman" panose="02020603050405020304" pitchFamily="18" charset="0"/>
              </a:rPr>
              <a:t>e</a:t>
            </a:r>
            <a:r>
              <a:rPr lang="zh-CN" altLang="en-US" sz="2400" b="1" dirty="0" smtClean="0">
                <a:latin typeface="Times New Roman" panose="02020603050405020304" pitchFamily="18" charset="0"/>
                <a:ea typeface="黑体" panose="02010609060101010101" pitchFamily="49" charset="-122"/>
                <a:cs typeface="Times New Roman" panose="02020603050405020304" pitchFamily="18" charset="0"/>
              </a:rPr>
              <a:t>，</a:t>
            </a:r>
            <a:r>
              <a:rPr lang="en-US" altLang="zh-CN" sz="2400" b="1" dirty="0" smtClean="0">
                <a:latin typeface="Times New Roman" panose="02020603050405020304" pitchFamily="18" charset="0"/>
                <a:ea typeface="黑体" panose="02010609060101010101" pitchFamily="49" charset="-122"/>
                <a:cs typeface="Times New Roman" panose="02020603050405020304" pitchFamily="18" charset="0"/>
              </a:rPr>
              <a:t>f</a:t>
            </a:r>
            <a:r>
              <a:rPr lang="zh-CN" altLang="en-US" sz="2400" b="1" dirty="0" smtClean="0">
                <a:latin typeface="Times New Roman" panose="02020603050405020304" pitchFamily="18" charset="0"/>
                <a:ea typeface="黑体" panose="02010609060101010101" pitchFamily="49" charset="-122"/>
                <a:cs typeface="Times New Roman" panose="02020603050405020304" pitchFamily="18" charset="0"/>
              </a:rPr>
              <a:t>，</a:t>
            </a:r>
            <a:r>
              <a:rPr lang="en-US" altLang="zh-CN" sz="2400" b="1" dirty="0" smtClean="0">
                <a:latin typeface="Times New Roman" panose="02020603050405020304" pitchFamily="18" charset="0"/>
                <a:ea typeface="黑体" panose="02010609060101010101" pitchFamily="49" charset="-122"/>
                <a:cs typeface="Times New Roman" panose="02020603050405020304" pitchFamily="18" charset="0"/>
              </a:rPr>
              <a:t>g</a:t>
            </a:r>
            <a:r>
              <a:rPr lang="zh-CN" altLang="en-US" sz="2400" b="1" dirty="0" smtClean="0">
                <a:latin typeface="Times New Roman" panose="02020603050405020304" pitchFamily="18" charset="0"/>
                <a:ea typeface="黑体" panose="02010609060101010101" pitchFamily="49" charset="-122"/>
                <a:cs typeface="Times New Roman" panose="02020603050405020304" pitchFamily="18" charset="0"/>
              </a:rPr>
              <a:t>和</a:t>
            </a:r>
            <a:r>
              <a:rPr lang="en-US" altLang="zh-CN" sz="2400" b="1" dirty="0" smtClean="0">
                <a:latin typeface="Times New Roman" panose="02020603050405020304" pitchFamily="18" charset="0"/>
                <a:ea typeface="黑体" panose="02010609060101010101" pitchFamily="49" charset="-122"/>
                <a:cs typeface="Times New Roman" panose="02020603050405020304" pitchFamily="18" charset="0"/>
              </a:rPr>
              <a:t>h</a:t>
            </a:r>
            <a:r>
              <a:rPr lang="zh-CN" altLang="en-US" sz="2400" b="1" dirty="0" smtClean="0">
                <a:latin typeface="Times New Roman" panose="02020603050405020304" pitchFamily="18" charset="0"/>
                <a:ea typeface="黑体" panose="02010609060101010101" pitchFamily="49" charset="-122"/>
                <a:cs typeface="Times New Roman" panose="02020603050405020304" pitchFamily="18" charset="0"/>
              </a:rPr>
              <a:t>）；</a:t>
            </a:r>
            <a:endParaRPr lang="en-US" altLang="zh-CN" sz="2400" b="1" dirty="0" smtClean="0">
              <a:latin typeface="Times New Roman" panose="02020603050405020304" pitchFamily="18" charset="0"/>
              <a:ea typeface="黑体" panose="02010609060101010101" pitchFamily="49" charset="-122"/>
              <a:cs typeface="Times New Roman" panose="02020603050405020304" pitchFamily="18" charset="0"/>
            </a:endParaRPr>
          </a:p>
          <a:p>
            <a:pPr marL="0" indent="0">
              <a:lnSpc>
                <a:spcPct val="100000"/>
              </a:lnSpc>
              <a:buNone/>
            </a:pPr>
            <a:r>
              <a:rPr lang="zh-CN" altLang="en-US" sz="2400" b="1" dirty="0" smtClean="0">
                <a:latin typeface="Times New Roman" panose="02020603050405020304" pitchFamily="18" charset="0"/>
                <a:ea typeface="黑体" panose="02010609060101010101" pitchFamily="49" charset="-122"/>
                <a:cs typeface="Times New Roman" panose="02020603050405020304" pitchFamily="18" charset="0"/>
              </a:rPr>
              <a:t>（</a:t>
            </a:r>
            <a:r>
              <a:rPr lang="en-US" altLang="zh-CN" sz="2400" b="1" dirty="0" smtClean="0">
                <a:latin typeface="Times New Roman" panose="02020603050405020304" pitchFamily="18" charset="0"/>
                <a:ea typeface="黑体" panose="02010609060101010101" pitchFamily="49" charset="-122"/>
                <a:cs typeface="Times New Roman" panose="02020603050405020304" pitchFamily="18" charset="0"/>
              </a:rPr>
              <a:t>3</a:t>
            </a:r>
            <a:r>
              <a:rPr lang="zh-CN" altLang="en-US" sz="2400" b="1" dirty="0" smtClean="0">
                <a:latin typeface="Times New Roman" panose="02020603050405020304" pitchFamily="18" charset="0"/>
                <a:ea typeface="黑体" panose="02010609060101010101" pitchFamily="49" charset="-122"/>
                <a:cs typeface="Times New Roman" panose="02020603050405020304" pitchFamily="18" charset="0"/>
              </a:rPr>
              <a:t>）气体在喷管出口处作自由膨胀而浪费压差（如情况</a:t>
            </a:r>
            <a:r>
              <a:rPr lang="en-US" altLang="zh-CN" sz="2400" b="1" dirty="0" smtClean="0">
                <a:latin typeface="Times New Roman" panose="02020603050405020304" pitchFamily="18" charset="0"/>
                <a:ea typeface="黑体" panose="02010609060101010101" pitchFamily="49" charset="-122"/>
                <a:cs typeface="Times New Roman" panose="02020603050405020304" pitchFamily="18" charset="0"/>
              </a:rPr>
              <a:t>j</a:t>
            </a:r>
            <a:r>
              <a:rPr lang="zh-CN" altLang="en-US" sz="2400" b="1" dirty="0" smtClean="0">
                <a:latin typeface="Times New Roman" panose="02020603050405020304" pitchFamily="18" charset="0"/>
                <a:ea typeface="黑体" panose="02010609060101010101" pitchFamily="49" charset="-122"/>
                <a:cs typeface="Times New Roman" panose="02020603050405020304" pitchFamily="18" charset="0"/>
              </a:rPr>
              <a:t>）。</a:t>
            </a:r>
            <a:endParaRPr lang="zh-CN" altLang="en-US" sz="2400" b="1" dirty="0" smtClean="0">
              <a:latin typeface="Times New Roman" panose="02020603050405020304" pitchFamily="18" charset="0"/>
              <a:ea typeface="黑体" panose="02010609060101010101" pitchFamily="49" charset="-122"/>
              <a:cs typeface="Times New Roman" panose="02020603050405020304" pitchFamily="18" charset="0"/>
            </a:endParaRPr>
          </a:p>
          <a:p>
            <a:pPr>
              <a:lnSpc>
                <a:spcPct val="100000"/>
              </a:lnSpc>
            </a:pPr>
            <a:r>
              <a:rPr lang="zh-CN" altLang="en-US" sz="2400" b="1" dirty="0" smtClean="0">
                <a:latin typeface="Times New Roman" panose="02020603050405020304" pitchFamily="18" charset="0"/>
                <a:ea typeface="黑体" panose="02010609060101010101" pitchFamily="49" charset="-122"/>
                <a:cs typeface="Times New Roman" panose="02020603050405020304" pitchFamily="18" charset="0"/>
              </a:rPr>
              <a:t>这说明，</a:t>
            </a:r>
            <a:r>
              <a:rPr lang="zh-CN" altLang="en-US" sz="2400" b="1" dirty="0" smtClean="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根据气体的来流参数和喷管的背压来正确设计喷管的尺寸是十分必要的</a:t>
            </a:r>
            <a:endParaRPr lang="zh-CN" altLang="en-US" sz="2400" b="1" dirty="0" smtClean="0">
              <a:solidFill>
                <a:srgbClr val="FF0000"/>
              </a:solidFill>
              <a:latin typeface="Times New Roman" panose="02020603050405020304" pitchFamily="18" charset="0"/>
              <a:ea typeface="黑体" panose="02010609060101010101" pitchFamily="49" charset="-122"/>
              <a:cs typeface="Times New Roman" panose="02020603050405020304" pitchFamily="18" charset="0"/>
            </a:endParaRPr>
          </a:p>
          <a:p>
            <a:pPr>
              <a:lnSpc>
                <a:spcPct val="100000"/>
              </a:lnSpc>
            </a:pPr>
            <a:r>
              <a:rPr lang="zh-CN" altLang="en-US" sz="2400" b="1" dirty="0" smtClean="0">
                <a:latin typeface="Times New Roman" panose="02020603050405020304" pitchFamily="18" charset="0"/>
                <a:ea typeface="黑体" panose="02010609060101010101" pitchFamily="49" charset="-122"/>
                <a:cs typeface="Times New Roman" panose="02020603050405020304" pitchFamily="18" charset="0"/>
              </a:rPr>
              <a:t>下一节将讨论如何正确设计喷管</a:t>
            </a:r>
            <a:endParaRPr lang="zh-CN" altLang="en-US" sz="2400" b="1" dirty="0" smtClean="0">
              <a:latin typeface="Times New Roman" panose="02020603050405020304" pitchFamily="18" charset="0"/>
              <a:ea typeface="黑体" panose="02010609060101010101" pitchFamily="49" charset="-122"/>
              <a:cs typeface="Times New Roman" panose="02020603050405020304" pitchFamily="18" charset="0"/>
            </a:endParaRPr>
          </a:p>
        </p:txBody>
      </p:sp>
      <p:pic>
        <p:nvPicPr>
          <p:cNvPr id="121858" name="图片 1"/>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55932" y="318259"/>
            <a:ext cx="3959225" cy="61007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1" name="矩形 159745"/>
          <p:cNvSpPr>
            <a:spLocks noChangeArrowheads="1"/>
          </p:cNvSpPr>
          <p:nvPr/>
        </p:nvSpPr>
        <p:spPr bwMode="auto">
          <a:xfrm>
            <a:off x="539750" y="1773238"/>
            <a:ext cx="7993063" cy="1452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lstStyle/>
          <a:p>
            <a:pPr algn="ctr"/>
            <a:r>
              <a:rPr lang="zh-CN" altLang="en-US" sz="4400" b="1" dirty="0"/>
              <a:t>§</a:t>
            </a:r>
            <a:r>
              <a:rPr lang="en-US" altLang="zh-CN" sz="4400" b="1" dirty="0">
                <a:latin typeface="黑体" panose="02010609060101010101" pitchFamily="49" charset="-122"/>
                <a:ea typeface="黑体" panose="02010609060101010101" pitchFamily="49" charset="-122"/>
              </a:rPr>
              <a:t>10-7 </a:t>
            </a:r>
            <a:r>
              <a:rPr lang="zh-CN" altLang="en-US" sz="4400" b="1" dirty="0">
                <a:latin typeface="黑体" panose="02010609060101010101" pitchFamily="49" charset="-122"/>
                <a:ea typeface="黑体" panose="02010609060101010101" pitchFamily="49" charset="-122"/>
              </a:rPr>
              <a:t>喷管的计算</a:t>
            </a:r>
            <a:r>
              <a:rPr lang="zh-CN" altLang="en-US" sz="4400" b="1" dirty="0"/>
              <a:t> </a:t>
            </a:r>
            <a:endParaRPr lang="zh-CN" altLang="en-US" sz="4400" b="1" dirty="0"/>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905" name="标题 158723"/>
          <p:cNvSpPr>
            <a:spLocks noGrp="1" noChangeArrowheads="1"/>
          </p:cNvSpPr>
          <p:nvPr>
            <p:ph type="title"/>
          </p:nvPr>
        </p:nvSpPr>
        <p:spPr/>
        <p:txBody>
          <a:bodyPr/>
          <a:lstStyle/>
          <a:p>
            <a:r>
              <a:rPr lang="zh-CN" altLang="en-US" sz="3600" b="1" smtClean="0">
                <a:ea typeface="黑体" panose="02010609060101010101" pitchFamily="49" charset="-122"/>
              </a:rPr>
              <a:t>分为设计计算和校核计算两类</a:t>
            </a:r>
            <a:endParaRPr lang="zh-CN" altLang="en-US" sz="3600" b="1" smtClean="0">
              <a:ea typeface="黑体" panose="02010609060101010101" pitchFamily="49" charset="-122"/>
            </a:endParaRPr>
          </a:p>
        </p:txBody>
      </p:sp>
      <p:sp>
        <p:nvSpPr>
          <p:cNvPr id="123906" name="文本占位符 158724"/>
          <p:cNvSpPr>
            <a:spLocks noGrp="1" noChangeArrowheads="1"/>
          </p:cNvSpPr>
          <p:nvPr>
            <p:ph idx="1"/>
          </p:nvPr>
        </p:nvSpPr>
        <p:spPr/>
        <p:txBody>
          <a:bodyPr>
            <a:normAutofit/>
          </a:bodyPr>
          <a:lstStyle/>
          <a:p>
            <a:pPr>
              <a:lnSpc>
                <a:spcPct val="100000"/>
              </a:lnSpc>
            </a:pPr>
            <a:r>
              <a:rPr lang="zh-CN" altLang="en-US" sz="2800" b="1" dirty="0" smtClean="0">
                <a:solidFill>
                  <a:srgbClr val="FF0000"/>
                </a:solidFill>
                <a:ea typeface="黑体" panose="02010609060101010101" pitchFamily="49" charset="-122"/>
              </a:rPr>
              <a:t>设计计算</a:t>
            </a:r>
            <a:r>
              <a:rPr lang="zh-CN" altLang="en-US" sz="2800" b="1" dirty="0" smtClean="0">
                <a:ea typeface="黑体" panose="02010609060101010101" pitchFamily="49" charset="-122"/>
              </a:rPr>
              <a:t>是指在给定气流初参数（进口压力、进口温度、进口流速）、流量及背压的情况下，若实现气流在喷管中的</a:t>
            </a:r>
            <a:r>
              <a:rPr lang="zh-CN" altLang="en-US" sz="2800" b="1" dirty="0" smtClean="0">
                <a:solidFill>
                  <a:srgbClr val="FF0000"/>
                </a:solidFill>
                <a:ea typeface="黑体" panose="02010609060101010101" pitchFamily="49" charset="-122"/>
              </a:rPr>
              <a:t>完全膨胀</a:t>
            </a:r>
            <a:r>
              <a:rPr lang="zh-CN" altLang="en-US" sz="2800" b="1" dirty="0" smtClean="0">
                <a:ea typeface="黑体" panose="02010609060101010101" pitchFamily="49" charset="-122"/>
              </a:rPr>
              <a:t>所要求的喷管外形，计算气流所能获得的出口速度，以及为流过给定的流量所要求的喷管截面面积</a:t>
            </a:r>
            <a:endParaRPr lang="zh-CN" altLang="en-US" sz="2800" b="1" dirty="0" smtClean="0">
              <a:ea typeface="黑体" panose="02010609060101010101" pitchFamily="49" charset="-122"/>
            </a:endParaRPr>
          </a:p>
          <a:p>
            <a:pPr>
              <a:lnSpc>
                <a:spcPct val="100000"/>
              </a:lnSpc>
            </a:pPr>
            <a:r>
              <a:rPr lang="zh-CN" altLang="en-US" sz="2800" b="1" dirty="0" smtClean="0">
                <a:ea typeface="黑体" panose="02010609060101010101" pitchFamily="49" charset="-122"/>
              </a:rPr>
              <a:t>完全膨胀是指气体在给定喷管进、出口参数下能够将其对应的焓降完全转变为动能的情况，与前面提到的膨胀不足正相反</a:t>
            </a:r>
            <a:endParaRPr lang="zh-CN" altLang="en-US" sz="2800" b="1" dirty="0" smtClean="0">
              <a:ea typeface="黑体" panose="02010609060101010101" pitchFamily="49" charset="-122"/>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29" name="文本占位符 161796"/>
          <p:cNvSpPr>
            <a:spLocks noGrp="1" noChangeArrowheads="1"/>
          </p:cNvSpPr>
          <p:nvPr>
            <p:ph idx="1"/>
          </p:nvPr>
        </p:nvSpPr>
        <p:spPr>
          <a:xfrm>
            <a:off x="468313" y="836613"/>
            <a:ext cx="8229600" cy="4525962"/>
          </a:xfrm>
        </p:spPr>
        <p:txBody>
          <a:bodyPr>
            <a:normAutofit/>
          </a:bodyPr>
          <a:lstStyle/>
          <a:p>
            <a:pPr>
              <a:lnSpc>
                <a:spcPct val="100000"/>
              </a:lnSpc>
            </a:pPr>
            <a:r>
              <a:rPr lang="zh-CN" altLang="en-US" sz="2800" b="1" dirty="0" smtClean="0">
                <a:solidFill>
                  <a:srgbClr val="FF0000"/>
                </a:solidFill>
                <a:latin typeface="Times New Roman" panose="02020603050405020304" pitchFamily="18" charset="0"/>
                <a:ea typeface="黑体" panose="02010609060101010101" pitchFamily="49" charset="-122"/>
              </a:rPr>
              <a:t>校核计算</a:t>
            </a:r>
            <a:r>
              <a:rPr lang="zh-CN" altLang="en-US" sz="2800" b="1" dirty="0" smtClean="0">
                <a:latin typeface="Times New Roman" panose="02020603050405020304" pitchFamily="18" charset="0"/>
                <a:ea typeface="黑体" panose="02010609060101010101" pitchFamily="49" charset="-122"/>
              </a:rPr>
              <a:t>是指在已知喷管的形状和尺寸的情况下，根据给定的进、出口参数校验气流在喷管内是否能够实现完全膨胀，同时计算出喷管在给定条件下的实际流速和流量</a:t>
            </a:r>
            <a:endParaRPr lang="zh-CN" altLang="en-US" sz="2800" b="1" dirty="0" smtClean="0">
              <a:latin typeface="Times New Roman" panose="02020603050405020304" pitchFamily="18" charset="0"/>
              <a:ea typeface="黑体" panose="02010609060101010101" pitchFamily="49" charset="-122"/>
            </a:endParaRPr>
          </a:p>
          <a:p>
            <a:pPr>
              <a:lnSpc>
                <a:spcPct val="100000"/>
              </a:lnSpc>
            </a:pPr>
            <a:r>
              <a:rPr lang="zh-CN" altLang="en-US" sz="2800" b="1" dirty="0" smtClean="0">
                <a:latin typeface="Times New Roman" panose="02020603050405020304" pitchFamily="18" charset="0"/>
                <a:ea typeface="黑体" panose="02010609060101010101" pitchFamily="49" charset="-122"/>
              </a:rPr>
              <a:t>在校核计算中，如果有膨胀不足的情况发生，则喷管的出口压力</a:t>
            </a:r>
            <a:r>
              <a:rPr lang="en-US" altLang="zh-CN" sz="2800" b="1" i="1" dirty="0" smtClean="0">
                <a:latin typeface="Times New Roman" panose="02020603050405020304" pitchFamily="18" charset="0"/>
                <a:ea typeface="黑体" panose="02010609060101010101" pitchFamily="49" charset="-122"/>
              </a:rPr>
              <a:t>p</a:t>
            </a:r>
            <a:r>
              <a:rPr lang="en-US" altLang="zh-CN" sz="2800" b="1" baseline="-25000" dirty="0" smtClean="0">
                <a:latin typeface="Times New Roman" panose="02020603050405020304" pitchFamily="18" charset="0"/>
                <a:ea typeface="黑体" panose="02010609060101010101" pitchFamily="49" charset="-122"/>
              </a:rPr>
              <a:t>2</a:t>
            </a:r>
            <a:r>
              <a:rPr lang="zh-CN" altLang="en-US" sz="2800" b="1" dirty="0" smtClean="0">
                <a:latin typeface="Times New Roman" panose="02020603050405020304" pitchFamily="18" charset="0"/>
                <a:ea typeface="黑体" panose="02010609060101010101" pitchFamily="49" charset="-122"/>
              </a:rPr>
              <a:t>就不一定等于背压</a:t>
            </a:r>
            <a:r>
              <a:rPr lang="en-US" altLang="zh-CN" sz="2800" b="1" i="1" dirty="0" err="1" smtClean="0">
                <a:latin typeface="Times New Roman" panose="02020603050405020304" pitchFamily="18" charset="0"/>
                <a:ea typeface="黑体" panose="02010609060101010101" pitchFamily="49" charset="-122"/>
              </a:rPr>
              <a:t>p</a:t>
            </a:r>
            <a:r>
              <a:rPr lang="en-US" altLang="zh-CN" sz="2800" b="1" baseline="-25000" dirty="0" err="1" smtClean="0">
                <a:latin typeface="Times New Roman" panose="02020603050405020304" pitchFamily="18" charset="0"/>
                <a:ea typeface="黑体" panose="02010609060101010101" pitchFamily="49" charset="-122"/>
              </a:rPr>
              <a:t>b</a:t>
            </a:r>
            <a:r>
              <a:rPr lang="zh-CN" altLang="en-US" sz="2800" b="1" dirty="0" smtClean="0">
                <a:latin typeface="Times New Roman" panose="02020603050405020304" pitchFamily="18" charset="0"/>
                <a:ea typeface="黑体" panose="02010609060101010101" pitchFamily="49" charset="-122"/>
              </a:rPr>
              <a:t>了 </a:t>
            </a:r>
            <a:endParaRPr lang="zh-CN" altLang="en-US" sz="2800" b="1" dirty="0" smtClean="0">
              <a:latin typeface="Times New Roman" panose="02020603050405020304" pitchFamily="18" charset="0"/>
              <a:ea typeface="黑体" panose="02010609060101010101" pitchFamily="49" charset="-122"/>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953" name="标题 163844"/>
          <p:cNvSpPr>
            <a:spLocks noGrp="1" noChangeArrowheads="1"/>
          </p:cNvSpPr>
          <p:nvPr>
            <p:ph type="title"/>
          </p:nvPr>
        </p:nvSpPr>
        <p:spPr>
          <a:xfrm>
            <a:off x="457200" y="53975"/>
            <a:ext cx="8229600" cy="1143000"/>
          </a:xfrm>
        </p:spPr>
        <p:txBody>
          <a:bodyPr/>
          <a:lstStyle/>
          <a:p>
            <a:pPr algn="l"/>
            <a:r>
              <a:rPr lang="zh-CN" altLang="en-US" sz="4000" b="1" smtClean="0">
                <a:ea typeface="黑体" panose="02010609060101010101" pitchFamily="49" charset="-122"/>
              </a:rPr>
              <a:t>一、喷管的设计计算</a:t>
            </a:r>
            <a:endParaRPr lang="zh-CN" altLang="en-US" sz="4000" b="1" smtClean="0">
              <a:ea typeface="黑体" panose="02010609060101010101" pitchFamily="49" charset="-122"/>
            </a:endParaRPr>
          </a:p>
        </p:txBody>
      </p:sp>
      <p:sp>
        <p:nvSpPr>
          <p:cNvPr id="125954" name="文本占位符 163845"/>
          <p:cNvSpPr>
            <a:spLocks noGrp="1" noChangeArrowheads="1"/>
          </p:cNvSpPr>
          <p:nvPr>
            <p:ph idx="1"/>
          </p:nvPr>
        </p:nvSpPr>
        <p:spPr>
          <a:xfrm>
            <a:off x="611188" y="1268413"/>
            <a:ext cx="7991475" cy="4968875"/>
          </a:xfrm>
        </p:spPr>
        <p:txBody>
          <a:bodyPr/>
          <a:lstStyle/>
          <a:p>
            <a:pPr>
              <a:lnSpc>
                <a:spcPct val="100000"/>
              </a:lnSpc>
            </a:pPr>
            <a:r>
              <a:rPr lang="zh-CN" altLang="en-US" sz="2800" b="1" dirty="0" smtClean="0">
                <a:solidFill>
                  <a:srgbClr val="FF0000"/>
                </a:solidFill>
                <a:latin typeface="Times New Roman" panose="02020603050405020304" pitchFamily="18" charset="0"/>
                <a:ea typeface="黑体" panose="02010609060101010101" pitchFamily="49" charset="-122"/>
              </a:rPr>
              <a:t>已知</a:t>
            </a:r>
            <a:r>
              <a:rPr lang="zh-CN" altLang="en-US" sz="2800" b="1" dirty="0" smtClean="0">
                <a:latin typeface="Times New Roman" panose="02020603050405020304" pitchFamily="18" charset="0"/>
                <a:ea typeface="黑体" panose="02010609060101010101" pitchFamily="49" charset="-122"/>
              </a:rPr>
              <a:t>：气流的初参数</a:t>
            </a:r>
            <a:r>
              <a:rPr lang="en-US" altLang="zh-CN" sz="2800" b="1" i="1" dirty="0" smtClean="0">
                <a:latin typeface="Times New Roman" panose="02020603050405020304" pitchFamily="18" charset="0"/>
                <a:ea typeface="黑体" panose="02010609060101010101" pitchFamily="49" charset="-122"/>
              </a:rPr>
              <a:t>p</a:t>
            </a:r>
            <a:r>
              <a:rPr lang="en-US" altLang="zh-CN" sz="2800" b="1" baseline="-25000" dirty="0" smtClean="0">
                <a:latin typeface="Times New Roman" panose="02020603050405020304" pitchFamily="18" charset="0"/>
                <a:ea typeface="黑体" panose="02010609060101010101" pitchFamily="49" charset="-122"/>
              </a:rPr>
              <a:t>1</a:t>
            </a:r>
            <a:r>
              <a:rPr lang="zh-CN" altLang="en-US" sz="2800" b="1" dirty="0" smtClean="0">
                <a:latin typeface="Times New Roman" panose="02020603050405020304" pitchFamily="18" charset="0"/>
                <a:ea typeface="黑体" panose="02010609060101010101" pitchFamily="49" charset="-122"/>
              </a:rPr>
              <a:t>，</a:t>
            </a:r>
            <a:r>
              <a:rPr lang="en-US" altLang="zh-CN" sz="2800" b="1" i="1" dirty="0" smtClean="0">
                <a:latin typeface="Times New Roman" panose="02020603050405020304" pitchFamily="18" charset="0"/>
                <a:ea typeface="黑体" panose="02010609060101010101" pitchFamily="49" charset="-122"/>
              </a:rPr>
              <a:t>t</a:t>
            </a:r>
            <a:r>
              <a:rPr lang="en-US" altLang="zh-CN" sz="2800" b="1" baseline="-25000" dirty="0" smtClean="0">
                <a:latin typeface="Times New Roman" panose="02020603050405020304" pitchFamily="18" charset="0"/>
                <a:ea typeface="黑体" panose="02010609060101010101" pitchFamily="49" charset="-122"/>
              </a:rPr>
              <a:t>1</a:t>
            </a:r>
            <a:r>
              <a:rPr lang="zh-CN" altLang="en-US" sz="2800" b="1" dirty="0" smtClean="0">
                <a:latin typeface="Times New Roman" panose="02020603050405020304" pitchFamily="18" charset="0"/>
                <a:ea typeface="黑体" panose="02010609060101010101" pitchFamily="49" charset="-122"/>
              </a:rPr>
              <a:t>，</a:t>
            </a:r>
            <a:r>
              <a:rPr lang="en-US" altLang="zh-CN" sz="2800" b="1" i="1" dirty="0" smtClean="0">
                <a:latin typeface="Times New Roman" panose="02020603050405020304" pitchFamily="18" charset="0"/>
                <a:ea typeface="黑体" panose="02010609060101010101" pitchFamily="49" charset="-122"/>
              </a:rPr>
              <a:t>c</a:t>
            </a:r>
            <a:r>
              <a:rPr lang="en-US" altLang="zh-CN" sz="2800" b="1" baseline="-25000" dirty="0" smtClean="0">
                <a:latin typeface="Times New Roman" panose="02020603050405020304" pitchFamily="18" charset="0"/>
                <a:ea typeface="黑体" panose="02010609060101010101" pitchFamily="49" charset="-122"/>
              </a:rPr>
              <a:t>f1</a:t>
            </a:r>
            <a:r>
              <a:rPr lang="zh-CN" altLang="en-US" sz="2800" b="1" dirty="0" smtClean="0">
                <a:latin typeface="Times New Roman" panose="02020603050405020304" pitchFamily="18" charset="0"/>
                <a:ea typeface="黑体" panose="02010609060101010101" pitchFamily="49" charset="-122"/>
              </a:rPr>
              <a:t>，流量</a:t>
            </a:r>
            <a:r>
              <a:rPr lang="en-US" altLang="zh-CN" sz="2800" b="1" i="1" dirty="0" err="1" smtClean="0">
                <a:latin typeface="Times New Roman" panose="02020603050405020304" pitchFamily="18" charset="0"/>
                <a:ea typeface="黑体" panose="02010609060101010101" pitchFamily="49" charset="-122"/>
              </a:rPr>
              <a:t>q</a:t>
            </a:r>
            <a:r>
              <a:rPr lang="en-US" altLang="zh-CN" sz="2800" b="1" baseline="-25000" dirty="0" err="1" smtClean="0">
                <a:latin typeface="Times New Roman" panose="02020603050405020304" pitchFamily="18" charset="0"/>
                <a:ea typeface="黑体" panose="02010609060101010101" pitchFamily="49" charset="-122"/>
              </a:rPr>
              <a:t>m</a:t>
            </a:r>
            <a:r>
              <a:rPr lang="zh-CN" altLang="en-US" sz="2800" b="1" dirty="0" smtClean="0">
                <a:latin typeface="Times New Roman" panose="02020603050405020304" pitchFamily="18" charset="0"/>
                <a:ea typeface="黑体" panose="02010609060101010101" pitchFamily="49" charset="-122"/>
              </a:rPr>
              <a:t>，背压</a:t>
            </a:r>
            <a:r>
              <a:rPr lang="en-US" altLang="zh-CN" sz="2800" b="1" i="1" dirty="0" err="1" smtClean="0">
                <a:latin typeface="Times New Roman" panose="02020603050405020304" pitchFamily="18" charset="0"/>
                <a:ea typeface="黑体" panose="02010609060101010101" pitchFamily="49" charset="-122"/>
              </a:rPr>
              <a:t>p</a:t>
            </a:r>
            <a:r>
              <a:rPr lang="en-US" altLang="zh-CN" sz="2800" b="1" baseline="-25000" dirty="0" err="1" smtClean="0">
                <a:latin typeface="Times New Roman" panose="02020603050405020304" pitchFamily="18" charset="0"/>
                <a:ea typeface="黑体" panose="02010609060101010101" pitchFamily="49" charset="-122"/>
              </a:rPr>
              <a:t>b</a:t>
            </a:r>
            <a:endParaRPr lang="en-US" altLang="zh-CN" sz="2800" b="1" baseline="-25000" dirty="0" smtClean="0">
              <a:latin typeface="Times New Roman" panose="02020603050405020304" pitchFamily="18" charset="0"/>
              <a:ea typeface="黑体" panose="02010609060101010101" pitchFamily="49" charset="-122"/>
            </a:endParaRPr>
          </a:p>
          <a:p>
            <a:pPr>
              <a:lnSpc>
                <a:spcPct val="100000"/>
              </a:lnSpc>
            </a:pPr>
            <a:r>
              <a:rPr lang="zh-CN" altLang="en-US" sz="2800" b="1" dirty="0" smtClean="0">
                <a:solidFill>
                  <a:srgbClr val="FF0000"/>
                </a:solidFill>
                <a:latin typeface="Times New Roman" panose="02020603050405020304" pitchFamily="18" charset="0"/>
                <a:ea typeface="黑体" panose="02010609060101010101" pitchFamily="49" charset="-122"/>
              </a:rPr>
              <a:t>任务</a:t>
            </a:r>
            <a:r>
              <a:rPr lang="zh-CN" altLang="en-US" sz="2800" b="1" dirty="0" smtClean="0">
                <a:latin typeface="Times New Roman" panose="02020603050405020304" pitchFamily="18" charset="0"/>
                <a:ea typeface="黑体" panose="02010609060101010101" pitchFamily="49" charset="-122"/>
              </a:rPr>
              <a:t>：选择喷管的形状，并计算喷管的尺寸。具体来说，对于渐缩喷管，求出口截面积</a:t>
            </a:r>
            <a:r>
              <a:rPr lang="en-US" altLang="zh-CN" sz="2800" b="1" i="1" dirty="0" smtClean="0">
                <a:latin typeface="Times New Roman" panose="02020603050405020304" pitchFamily="18" charset="0"/>
                <a:ea typeface="黑体" panose="02010609060101010101" pitchFamily="49" charset="-122"/>
              </a:rPr>
              <a:t>A</a:t>
            </a:r>
            <a:r>
              <a:rPr lang="en-US" altLang="zh-CN" sz="2800" b="1" baseline="-25000" dirty="0" smtClean="0">
                <a:latin typeface="Times New Roman" panose="02020603050405020304" pitchFamily="18" charset="0"/>
                <a:ea typeface="黑体" panose="02010609060101010101" pitchFamily="49" charset="-122"/>
              </a:rPr>
              <a:t>2</a:t>
            </a:r>
            <a:r>
              <a:rPr lang="zh-CN" altLang="en-US" sz="2800" b="1" dirty="0" smtClean="0">
                <a:latin typeface="Times New Roman" panose="02020603050405020304" pitchFamily="18" charset="0"/>
                <a:ea typeface="黑体" panose="02010609060101010101" pitchFamily="49" charset="-122"/>
              </a:rPr>
              <a:t>；对于缩放喷管，求临界截面积</a:t>
            </a:r>
            <a:r>
              <a:rPr lang="en-US" altLang="zh-CN" sz="2800" b="1" i="1" dirty="0" smtClean="0">
                <a:latin typeface="Times New Roman" panose="02020603050405020304" pitchFamily="18" charset="0"/>
                <a:ea typeface="黑体" panose="02010609060101010101" pitchFamily="49" charset="-122"/>
              </a:rPr>
              <a:t>A</a:t>
            </a:r>
            <a:r>
              <a:rPr lang="en-US" altLang="zh-CN" sz="2800" b="1" baseline="-25000" dirty="0" smtClean="0">
                <a:latin typeface="Times New Roman" panose="02020603050405020304" pitchFamily="18" charset="0"/>
                <a:ea typeface="黑体" panose="02010609060101010101" pitchFamily="49" charset="-122"/>
              </a:rPr>
              <a:t>min</a:t>
            </a:r>
            <a:r>
              <a:rPr lang="zh-CN" altLang="en-US" sz="2800" b="1" dirty="0" smtClean="0">
                <a:latin typeface="Times New Roman" panose="02020603050405020304" pitchFamily="18" charset="0"/>
                <a:ea typeface="黑体" panose="02010609060101010101" pitchFamily="49" charset="-122"/>
              </a:rPr>
              <a:t>，出口截面积</a:t>
            </a:r>
            <a:r>
              <a:rPr lang="en-US" altLang="zh-CN" sz="2800" b="1" i="1" dirty="0" smtClean="0">
                <a:latin typeface="Times New Roman" panose="02020603050405020304" pitchFamily="18" charset="0"/>
                <a:ea typeface="黑体" panose="02010609060101010101" pitchFamily="49" charset="-122"/>
              </a:rPr>
              <a:t>A</a:t>
            </a:r>
            <a:r>
              <a:rPr lang="en-US" altLang="zh-CN" sz="2800" b="1" baseline="-25000" dirty="0" smtClean="0">
                <a:latin typeface="Times New Roman" panose="02020603050405020304" pitchFamily="18" charset="0"/>
                <a:ea typeface="黑体" panose="02010609060101010101" pitchFamily="49" charset="-122"/>
              </a:rPr>
              <a:t>2</a:t>
            </a:r>
            <a:r>
              <a:rPr lang="zh-CN" altLang="en-US" sz="2800" b="1" dirty="0" smtClean="0">
                <a:latin typeface="Times New Roman" panose="02020603050405020304" pitchFamily="18" charset="0"/>
                <a:ea typeface="黑体" panose="02010609060101010101" pitchFamily="49" charset="-122"/>
              </a:rPr>
              <a:t>以及渐扩段的长度</a:t>
            </a:r>
            <a:endParaRPr lang="zh-CN" altLang="en-US" sz="2800" b="1" dirty="0" smtClean="0">
              <a:latin typeface="Times New Roman" panose="02020603050405020304" pitchFamily="18" charset="0"/>
              <a:ea typeface="黑体" panose="02010609060101010101" pitchFamily="49" charset="-122"/>
            </a:endParaRPr>
          </a:p>
          <a:p>
            <a:pPr>
              <a:lnSpc>
                <a:spcPct val="100000"/>
              </a:lnSpc>
            </a:pPr>
            <a:r>
              <a:rPr lang="zh-CN" altLang="en-US" sz="2800" b="1" dirty="0" smtClean="0">
                <a:solidFill>
                  <a:srgbClr val="FF0000"/>
                </a:solidFill>
                <a:latin typeface="Times New Roman" panose="02020603050405020304" pitchFamily="18" charset="0"/>
                <a:ea typeface="黑体" panose="02010609060101010101" pitchFamily="49" charset="-122"/>
              </a:rPr>
              <a:t>设计原则</a:t>
            </a:r>
            <a:r>
              <a:rPr lang="zh-CN" altLang="en-US" sz="2800" b="1" dirty="0" smtClean="0">
                <a:solidFill>
                  <a:srgbClr val="000000"/>
                </a:solidFill>
                <a:latin typeface="Times New Roman" panose="02020603050405020304" pitchFamily="18" charset="0"/>
                <a:ea typeface="黑体" panose="02010609060101010101" pitchFamily="49" charset="-122"/>
              </a:rPr>
              <a:t>：设计出的喷管的外形和尺寸应符合气流定熵膨胀所需要的截面积变化，保证气流充分膨胀，使出口压力</a:t>
            </a:r>
            <a:r>
              <a:rPr lang="en-US" altLang="zh-CN" sz="2800" b="1" i="1" dirty="0" smtClean="0">
                <a:solidFill>
                  <a:srgbClr val="000000"/>
                </a:solidFill>
                <a:latin typeface="Times New Roman" panose="02020603050405020304" pitchFamily="18" charset="0"/>
                <a:ea typeface="黑体" panose="02010609060101010101" pitchFamily="49" charset="-122"/>
              </a:rPr>
              <a:t>p</a:t>
            </a:r>
            <a:r>
              <a:rPr lang="en-US" altLang="zh-CN" sz="2800" b="1" baseline="-25000" dirty="0" smtClean="0">
                <a:solidFill>
                  <a:srgbClr val="000000"/>
                </a:solidFill>
                <a:latin typeface="Times New Roman" panose="02020603050405020304" pitchFamily="18" charset="0"/>
                <a:ea typeface="黑体" panose="02010609060101010101" pitchFamily="49" charset="-122"/>
              </a:rPr>
              <a:t>2</a:t>
            </a:r>
            <a:r>
              <a:rPr lang="zh-CN" altLang="en-US" sz="2800" b="1" dirty="0" smtClean="0">
                <a:solidFill>
                  <a:srgbClr val="000000"/>
                </a:solidFill>
                <a:latin typeface="Times New Roman" panose="02020603050405020304" pitchFamily="18" charset="0"/>
                <a:ea typeface="黑体" panose="02010609060101010101" pitchFamily="49" charset="-122"/>
              </a:rPr>
              <a:t>能降到背压</a:t>
            </a:r>
            <a:r>
              <a:rPr lang="en-US" altLang="zh-CN" sz="2800" b="1" i="1" dirty="0" err="1" smtClean="0">
                <a:solidFill>
                  <a:srgbClr val="000000"/>
                </a:solidFill>
                <a:latin typeface="Times New Roman" panose="02020603050405020304" pitchFamily="18" charset="0"/>
                <a:ea typeface="黑体" panose="02010609060101010101" pitchFamily="49" charset="-122"/>
              </a:rPr>
              <a:t>p</a:t>
            </a:r>
            <a:r>
              <a:rPr lang="en-US" altLang="zh-CN" sz="2800" b="1" baseline="-25000" dirty="0" err="1" smtClean="0">
                <a:solidFill>
                  <a:srgbClr val="000000"/>
                </a:solidFill>
                <a:latin typeface="Times New Roman" panose="02020603050405020304" pitchFamily="18" charset="0"/>
                <a:ea typeface="黑体" panose="02010609060101010101" pitchFamily="49" charset="-122"/>
              </a:rPr>
              <a:t>b</a:t>
            </a:r>
            <a:r>
              <a:rPr lang="zh-CN" altLang="en-US" sz="2800" b="1" dirty="0" smtClean="0">
                <a:solidFill>
                  <a:srgbClr val="000000"/>
                </a:solidFill>
                <a:latin typeface="Times New Roman" panose="02020603050405020304" pitchFamily="18" charset="0"/>
                <a:ea typeface="黑体" panose="02010609060101010101" pitchFamily="49" charset="-122"/>
              </a:rPr>
              <a:t>，以达到使气流的焓充分转换为动能的目的</a:t>
            </a:r>
            <a:r>
              <a:rPr lang="zh-CN" altLang="en-US" sz="2800" b="1" dirty="0" smtClean="0">
                <a:latin typeface="Times New Roman" panose="02020603050405020304" pitchFamily="18" charset="0"/>
                <a:ea typeface="黑体" panose="02010609060101010101" pitchFamily="49" charset="-122"/>
              </a:rPr>
              <a:t>  </a:t>
            </a:r>
            <a:endParaRPr lang="zh-CN" altLang="en-US" sz="2800" b="1" dirty="0" smtClean="0">
              <a:latin typeface="Times New Roman" panose="02020603050405020304" pitchFamily="18" charset="0"/>
              <a:ea typeface="黑体" panose="02010609060101010101" pitchFamily="49" charset="-122"/>
            </a:endParaRPr>
          </a:p>
          <a:p>
            <a:pPr>
              <a:buFontTx/>
              <a:buNone/>
            </a:pPr>
            <a:r>
              <a:rPr lang="zh-CN" altLang="en-US" sz="2800" b="1" dirty="0" smtClean="0">
                <a:latin typeface="Times New Roman" panose="02020603050405020304" pitchFamily="18" charset="0"/>
                <a:ea typeface="黑体" panose="02010609060101010101" pitchFamily="49" charset="-122"/>
              </a:rPr>
              <a:t>               </a:t>
            </a:r>
            <a:endParaRPr lang="zh-CN" altLang="en-US" sz="2800" b="1" dirty="0" smtClean="0">
              <a:latin typeface="Times New Roman" panose="02020603050405020304" pitchFamily="18" charset="0"/>
              <a:ea typeface="黑体" panose="02010609060101010101" pitchFamily="49" charset="-122"/>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977" name="标题 166913"/>
          <p:cNvSpPr>
            <a:spLocks noGrp="1" noChangeArrowheads="1"/>
          </p:cNvSpPr>
          <p:nvPr>
            <p:ph type="title" idx="4294967295"/>
          </p:nvPr>
        </p:nvSpPr>
        <p:spPr>
          <a:xfrm>
            <a:off x="468313" y="260350"/>
            <a:ext cx="8229600" cy="1143000"/>
          </a:xfrm>
        </p:spPr>
        <p:txBody>
          <a:bodyPr/>
          <a:lstStyle/>
          <a:p>
            <a:pPr algn="l"/>
            <a:r>
              <a:rPr lang="zh-CN" altLang="en-US" sz="3600" b="1" smtClean="0">
                <a:ea typeface="黑体" panose="02010609060101010101" pitchFamily="49" charset="-122"/>
              </a:rPr>
              <a:t>求解步骤</a:t>
            </a:r>
            <a:endParaRPr lang="zh-CN" altLang="en-US" sz="4000" smtClean="0"/>
          </a:p>
        </p:txBody>
      </p:sp>
      <p:sp>
        <p:nvSpPr>
          <p:cNvPr id="126978" name="文本占位符 166914"/>
          <p:cNvSpPr>
            <a:spLocks noGrp="1" noChangeArrowheads="1"/>
          </p:cNvSpPr>
          <p:nvPr>
            <p:ph type="body" idx="4294967295"/>
          </p:nvPr>
        </p:nvSpPr>
        <p:spPr>
          <a:xfrm>
            <a:off x="539750" y="1557338"/>
            <a:ext cx="8229600" cy="719137"/>
          </a:xfrm>
        </p:spPr>
        <p:txBody>
          <a:bodyPr>
            <a:normAutofit/>
          </a:bodyPr>
          <a:lstStyle/>
          <a:p>
            <a:pPr>
              <a:buFontTx/>
              <a:buNone/>
            </a:pPr>
            <a:r>
              <a:rPr lang="en-US" altLang="zh-CN" sz="3200" b="1" dirty="0" smtClean="0">
                <a:ea typeface="黑体" panose="02010609060101010101" pitchFamily="49" charset="-122"/>
              </a:rPr>
              <a:t>①</a:t>
            </a:r>
            <a:r>
              <a:rPr lang="zh-CN" altLang="en-US" sz="3200" b="1" dirty="0" smtClean="0">
                <a:ea typeface="黑体" panose="02010609060101010101" pitchFamily="49" charset="-122"/>
              </a:rPr>
              <a:t>求滞止参数</a:t>
            </a:r>
            <a:endParaRPr lang="zh-CN" altLang="en-US" sz="3200" b="1" dirty="0" smtClean="0">
              <a:ea typeface="黑体" panose="02010609060101010101" pitchFamily="49" charset="-122"/>
            </a:endParaRPr>
          </a:p>
        </p:txBody>
      </p:sp>
      <p:sp>
        <p:nvSpPr>
          <p:cNvPr id="126979" name="矩形 166916"/>
          <p:cNvSpPr>
            <a:spLocks noChangeArrowheads="1"/>
          </p:cNvSpPr>
          <p:nvPr/>
        </p:nvSpPr>
        <p:spPr bwMode="auto">
          <a:xfrm>
            <a:off x="0" y="319563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graphicFrame>
        <p:nvGraphicFramePr>
          <p:cNvPr id="126980" name="对象 166915"/>
          <p:cNvGraphicFramePr/>
          <p:nvPr/>
        </p:nvGraphicFramePr>
        <p:xfrm>
          <a:off x="3962400" y="2190750"/>
          <a:ext cx="2016125" cy="1162050"/>
        </p:xfrm>
        <a:graphic>
          <a:graphicData uri="http://schemas.openxmlformats.org/presentationml/2006/ole">
            <mc:AlternateContent xmlns:mc="http://schemas.openxmlformats.org/markup-compatibility/2006">
              <mc:Choice xmlns:v="urn:schemas-microsoft-com:vml" Requires="v">
                <p:oleObj spid="_x0000_s49182" name="" r:id="rId1" imgW="812165" imgH="469900" progId="Equation.DSMT4">
                  <p:embed/>
                </p:oleObj>
              </mc:Choice>
              <mc:Fallback>
                <p:oleObj name="" r:id="rId1" imgW="812165" imgH="469900" progId="Equation.DSMT4">
                  <p:embed/>
                  <p:pic>
                    <p:nvPicPr>
                      <p:cNvPr id="0" name="对象 166915"/>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962400" y="2190750"/>
                        <a:ext cx="2016125" cy="1162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126981" name="矩形 166918"/>
          <p:cNvSpPr>
            <a:spLocks noChangeArrowheads="1"/>
          </p:cNvSpPr>
          <p:nvPr/>
        </p:nvSpPr>
        <p:spPr bwMode="auto">
          <a:xfrm>
            <a:off x="0" y="314325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graphicFrame>
        <p:nvGraphicFramePr>
          <p:cNvPr id="126982" name="对象 166917"/>
          <p:cNvGraphicFramePr/>
          <p:nvPr/>
        </p:nvGraphicFramePr>
        <p:xfrm>
          <a:off x="3911600" y="3429000"/>
          <a:ext cx="2116138" cy="1241425"/>
        </p:xfrm>
        <a:graphic>
          <a:graphicData uri="http://schemas.openxmlformats.org/presentationml/2006/ole">
            <mc:AlternateContent xmlns:mc="http://schemas.openxmlformats.org/markup-compatibility/2006">
              <mc:Choice xmlns:v="urn:schemas-microsoft-com:vml" Requires="v">
                <p:oleObj spid="_x0000_s49183" name="" r:id="rId3" imgW="977265" imgH="571500" progId="Equation.DSMT4">
                  <p:embed/>
                </p:oleObj>
              </mc:Choice>
              <mc:Fallback>
                <p:oleObj name="" r:id="rId3" imgW="977265" imgH="571500" progId="Equation.DSMT4">
                  <p:embed/>
                  <p:pic>
                    <p:nvPicPr>
                      <p:cNvPr id="0" name="对象 166917"/>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911600" y="3429000"/>
                        <a:ext cx="2116138" cy="1241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126983" name="矩形 166920"/>
          <p:cNvSpPr>
            <a:spLocks noChangeArrowheads="1"/>
          </p:cNvSpPr>
          <p:nvPr/>
        </p:nvSpPr>
        <p:spPr bwMode="auto">
          <a:xfrm>
            <a:off x="0" y="314325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graphicFrame>
        <p:nvGraphicFramePr>
          <p:cNvPr id="126984" name="对象 166919"/>
          <p:cNvGraphicFramePr/>
          <p:nvPr/>
        </p:nvGraphicFramePr>
        <p:xfrm>
          <a:off x="3908425" y="4724400"/>
          <a:ext cx="2263775" cy="1409700"/>
        </p:xfrm>
        <a:graphic>
          <a:graphicData uri="http://schemas.openxmlformats.org/presentationml/2006/ole">
            <mc:AlternateContent xmlns:mc="http://schemas.openxmlformats.org/markup-compatibility/2006">
              <mc:Choice xmlns:v="urn:schemas-microsoft-com:vml" Requires="v">
                <p:oleObj spid="_x0000_s49184" name="" r:id="rId5" imgW="913765" imgH="571500" progId="Equation.DSMT4">
                  <p:embed/>
                </p:oleObj>
              </mc:Choice>
              <mc:Fallback>
                <p:oleObj name="" r:id="rId5" imgW="913765" imgH="571500" progId="Equation.DSMT4">
                  <p:embed/>
                  <p:pic>
                    <p:nvPicPr>
                      <p:cNvPr id="0" name="对象 166919"/>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908425" y="4724400"/>
                        <a:ext cx="2263775" cy="1409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126985" name="对象 166921"/>
          <p:cNvGraphicFramePr/>
          <p:nvPr/>
        </p:nvGraphicFramePr>
        <p:xfrm>
          <a:off x="6891338" y="5084763"/>
          <a:ext cx="1411287" cy="1030287"/>
        </p:xfrm>
        <a:graphic>
          <a:graphicData uri="http://schemas.openxmlformats.org/presentationml/2006/ole">
            <mc:AlternateContent xmlns:mc="http://schemas.openxmlformats.org/markup-compatibility/2006">
              <mc:Choice xmlns:v="urn:schemas-microsoft-com:vml" Requires="v">
                <p:oleObj spid="_x0000_s49185" name="Equation" r:id="rId7" imgW="14935200" imgH="10972800" progId="Equation.DSMT4">
                  <p:embed/>
                </p:oleObj>
              </mc:Choice>
              <mc:Fallback>
                <p:oleObj name="Equation" r:id="rId7" imgW="14935200" imgH="10972800" progId="Equation.DSMT4">
                  <p:embed/>
                  <p:pic>
                    <p:nvPicPr>
                      <p:cNvPr id="0" name="对象 166921"/>
                      <p:cNvPicPr>
                        <a:picLocks noChangeArrowheads="1"/>
                      </p:cNvPicPr>
                      <p:nvPr/>
                    </p:nvPicPr>
                    <p:blipFill>
                      <a:blip r:embed="rId8"/>
                      <a:srcRect/>
                      <a:stretch>
                        <a:fillRect/>
                      </a:stretch>
                    </p:blipFill>
                    <p:spPr bwMode="auto">
                      <a:xfrm>
                        <a:off x="6891338" y="5084763"/>
                        <a:ext cx="1411287" cy="1030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126986" name="矩形 166924"/>
          <p:cNvSpPr>
            <a:spLocks noChangeArrowheads="1"/>
          </p:cNvSpPr>
          <p:nvPr/>
        </p:nvSpPr>
        <p:spPr bwMode="auto">
          <a:xfrm>
            <a:off x="6227763" y="5300663"/>
            <a:ext cx="545342"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2800" b="1" dirty="0">
                <a:ea typeface="黑体" panose="02010609060101010101" pitchFamily="49" charset="-122"/>
              </a:rPr>
              <a:t>或</a:t>
            </a:r>
            <a:endParaRPr lang="zh-CN" altLang="en-US" sz="2800" b="1" dirty="0">
              <a:ea typeface="黑体" panose="02010609060101010101" pitchFamily="49" charset="-122"/>
            </a:endParaRPr>
          </a:p>
        </p:txBody>
      </p:sp>
      <p:sp>
        <p:nvSpPr>
          <p:cNvPr id="126987" name="矩形 166925"/>
          <p:cNvSpPr>
            <a:spLocks noChangeArrowheads="1"/>
          </p:cNvSpPr>
          <p:nvPr/>
        </p:nvSpPr>
        <p:spPr bwMode="auto">
          <a:xfrm>
            <a:off x="379274" y="2447905"/>
            <a:ext cx="3529151" cy="9541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zh-CN" altLang="en-US" sz="2800" b="1" dirty="0">
                <a:solidFill>
                  <a:srgbClr val="0000FF"/>
                </a:solidFill>
                <a:ea typeface="黑体" panose="02010609060101010101" pitchFamily="49" charset="-122"/>
              </a:rPr>
              <a:t>对于</a:t>
            </a:r>
            <a:r>
              <a:rPr lang="zh-CN" altLang="en-US" sz="2800" b="1" dirty="0" smtClean="0">
                <a:solidFill>
                  <a:srgbClr val="0000FF"/>
                </a:solidFill>
                <a:ea typeface="黑体" panose="02010609060101010101" pitchFamily="49" charset="-122"/>
              </a:rPr>
              <a:t>理想气体</a:t>
            </a:r>
            <a:endParaRPr lang="en-US" altLang="zh-CN" sz="2800" b="1" dirty="0" smtClean="0">
              <a:solidFill>
                <a:srgbClr val="0000FF"/>
              </a:solidFill>
              <a:ea typeface="黑体" panose="02010609060101010101" pitchFamily="49" charset="-122"/>
            </a:endParaRPr>
          </a:p>
          <a:p>
            <a:r>
              <a:rPr lang="zh-CN" altLang="en-US" sz="2800" b="1" dirty="0" smtClean="0">
                <a:solidFill>
                  <a:srgbClr val="0000FF"/>
                </a:solidFill>
                <a:ea typeface="黑体" panose="02010609060101010101" pitchFamily="49" charset="-122"/>
              </a:rPr>
              <a:t>假设比热容为常数</a:t>
            </a:r>
            <a:endParaRPr lang="zh-CN" altLang="en-US" sz="2800" b="1" dirty="0">
              <a:solidFill>
                <a:srgbClr val="0000FF"/>
              </a:solidFill>
              <a:ea typeface="黑体" panose="02010609060101010101" pitchFamily="49" charset="-122"/>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001" name="标题 247809"/>
          <p:cNvSpPr>
            <a:spLocks noGrp="1" noChangeArrowheads="1"/>
          </p:cNvSpPr>
          <p:nvPr>
            <p:ph type="title" idx="4294967295"/>
          </p:nvPr>
        </p:nvSpPr>
        <p:spPr>
          <a:xfrm>
            <a:off x="468313" y="260350"/>
            <a:ext cx="8229600" cy="1143000"/>
          </a:xfrm>
        </p:spPr>
        <p:txBody>
          <a:bodyPr/>
          <a:lstStyle/>
          <a:p>
            <a:pPr algn="l"/>
            <a:r>
              <a:rPr lang="zh-CN" altLang="en-US" sz="3600" b="1" smtClean="0">
                <a:ea typeface="黑体" panose="02010609060101010101" pitchFamily="49" charset="-122"/>
              </a:rPr>
              <a:t>求解步骤</a:t>
            </a:r>
            <a:endParaRPr lang="zh-CN" altLang="en-US" sz="4000" smtClean="0"/>
          </a:p>
        </p:txBody>
      </p:sp>
      <p:sp>
        <p:nvSpPr>
          <p:cNvPr id="128002" name="文本占位符 247810"/>
          <p:cNvSpPr>
            <a:spLocks noGrp="1" noChangeArrowheads="1"/>
          </p:cNvSpPr>
          <p:nvPr>
            <p:ph type="body" idx="4294967295"/>
          </p:nvPr>
        </p:nvSpPr>
        <p:spPr>
          <a:xfrm>
            <a:off x="539750" y="1557338"/>
            <a:ext cx="8229600" cy="719137"/>
          </a:xfrm>
        </p:spPr>
        <p:txBody>
          <a:bodyPr>
            <a:normAutofit/>
          </a:bodyPr>
          <a:lstStyle/>
          <a:p>
            <a:pPr>
              <a:buFontTx/>
              <a:buNone/>
            </a:pPr>
            <a:r>
              <a:rPr lang="en-US" altLang="zh-CN" sz="3200" b="1" dirty="0" smtClean="0">
                <a:ea typeface="黑体" panose="02010609060101010101" pitchFamily="49" charset="-122"/>
              </a:rPr>
              <a:t>①</a:t>
            </a:r>
            <a:r>
              <a:rPr lang="zh-CN" altLang="en-US" sz="3200" b="1" dirty="0" smtClean="0">
                <a:ea typeface="黑体" panose="02010609060101010101" pitchFamily="49" charset="-122"/>
              </a:rPr>
              <a:t>求滞止参数</a:t>
            </a:r>
            <a:endParaRPr lang="zh-CN" altLang="en-US" sz="3200" b="1" dirty="0" smtClean="0">
              <a:ea typeface="黑体" panose="02010609060101010101" pitchFamily="49" charset="-122"/>
            </a:endParaRPr>
          </a:p>
        </p:txBody>
      </p:sp>
      <p:sp>
        <p:nvSpPr>
          <p:cNvPr id="128003" name="矩形 247811"/>
          <p:cNvSpPr>
            <a:spLocks noChangeArrowheads="1"/>
          </p:cNvSpPr>
          <p:nvPr/>
        </p:nvSpPr>
        <p:spPr bwMode="auto">
          <a:xfrm>
            <a:off x="0" y="319563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28004" name="矩形 247813"/>
          <p:cNvSpPr>
            <a:spLocks noChangeArrowheads="1"/>
          </p:cNvSpPr>
          <p:nvPr/>
        </p:nvSpPr>
        <p:spPr bwMode="auto">
          <a:xfrm>
            <a:off x="0" y="314325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28005" name="矩形 247815"/>
          <p:cNvSpPr>
            <a:spLocks noChangeArrowheads="1"/>
          </p:cNvSpPr>
          <p:nvPr/>
        </p:nvSpPr>
        <p:spPr bwMode="auto">
          <a:xfrm>
            <a:off x="0" y="314325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28006" name="矩形 247818"/>
          <p:cNvSpPr>
            <a:spLocks noChangeArrowheads="1"/>
          </p:cNvSpPr>
          <p:nvPr/>
        </p:nvSpPr>
        <p:spPr bwMode="auto">
          <a:xfrm>
            <a:off x="755650" y="4776788"/>
            <a:ext cx="7993063" cy="946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sz="2800" b="1" dirty="0">
                <a:latin typeface="Times New Roman" panose="02020603050405020304" pitchFamily="18" charset="0"/>
                <a:ea typeface="黑体" panose="02010609060101010101" pitchFamily="49" charset="-122"/>
              </a:rPr>
              <a:t>求得滞止焓</a:t>
            </a:r>
            <a:r>
              <a:rPr lang="en-US" altLang="zh-CN" sz="2800" b="1" i="1" dirty="0">
                <a:latin typeface="Times New Roman" panose="02020603050405020304" pitchFamily="18" charset="0"/>
                <a:ea typeface="黑体" panose="02010609060101010101" pitchFamily="49" charset="-122"/>
              </a:rPr>
              <a:t>h</a:t>
            </a:r>
            <a:r>
              <a:rPr lang="en-US" altLang="zh-CN" sz="2800" b="1" baseline="-25000" dirty="0">
                <a:latin typeface="Times New Roman" panose="02020603050405020304" pitchFamily="18" charset="0"/>
                <a:ea typeface="黑体" panose="02010609060101010101" pitchFamily="49" charset="-122"/>
              </a:rPr>
              <a:t>0</a:t>
            </a:r>
            <a:r>
              <a:rPr lang="zh-CN" altLang="en-US" sz="2800" b="1" dirty="0">
                <a:latin typeface="Times New Roman" panose="02020603050405020304" pitchFamily="18" charset="0"/>
                <a:ea typeface="黑体" panose="02010609060101010101" pitchFamily="49" charset="-122"/>
              </a:rPr>
              <a:t>，再根据</a:t>
            </a:r>
            <a:r>
              <a:rPr lang="en-US" altLang="zh-CN" sz="2800" b="1" i="1" dirty="0">
                <a:latin typeface="Times New Roman" panose="02020603050405020304" pitchFamily="18" charset="0"/>
                <a:ea typeface="黑体" panose="02010609060101010101" pitchFamily="49" charset="-122"/>
              </a:rPr>
              <a:t>h</a:t>
            </a:r>
            <a:r>
              <a:rPr lang="en-US" altLang="zh-CN" sz="2800" b="1" baseline="-25000" dirty="0">
                <a:latin typeface="Times New Roman" panose="02020603050405020304" pitchFamily="18" charset="0"/>
                <a:ea typeface="黑体" panose="02010609060101010101" pitchFamily="49" charset="-122"/>
              </a:rPr>
              <a:t>0</a:t>
            </a:r>
            <a:r>
              <a:rPr lang="zh-CN" altLang="en-US" sz="2800" b="1" dirty="0">
                <a:latin typeface="Times New Roman" panose="02020603050405020304" pitchFamily="18" charset="0"/>
                <a:ea typeface="黑体" panose="02010609060101010101" pitchFamily="49" charset="-122"/>
              </a:rPr>
              <a:t>以及            查热力性质图或表得到</a:t>
            </a:r>
            <a:r>
              <a:rPr lang="en-US" altLang="zh-CN" sz="2800" b="1" i="1" dirty="0">
                <a:latin typeface="Times New Roman" panose="02020603050405020304" pitchFamily="18" charset="0"/>
                <a:ea typeface="黑体" panose="02010609060101010101" pitchFamily="49" charset="-122"/>
              </a:rPr>
              <a:t>p</a:t>
            </a:r>
            <a:r>
              <a:rPr lang="en-US" altLang="zh-CN" sz="2800" b="1" baseline="-25000" dirty="0">
                <a:latin typeface="Times New Roman" panose="02020603050405020304" pitchFamily="18" charset="0"/>
                <a:ea typeface="黑体" panose="02010609060101010101" pitchFamily="49" charset="-122"/>
              </a:rPr>
              <a:t>0</a:t>
            </a:r>
            <a:r>
              <a:rPr lang="zh-CN" altLang="en-US" sz="2800" b="1" dirty="0">
                <a:latin typeface="Times New Roman" panose="02020603050405020304" pitchFamily="18" charset="0"/>
                <a:ea typeface="黑体" panose="02010609060101010101" pitchFamily="49" charset="-122"/>
              </a:rPr>
              <a:t>和</a:t>
            </a:r>
            <a:r>
              <a:rPr lang="en-US" altLang="zh-CN" sz="2800" b="1" i="1" dirty="0">
                <a:latin typeface="Times New Roman" panose="02020603050405020304" pitchFamily="18" charset="0"/>
                <a:ea typeface="黑体" panose="02010609060101010101" pitchFamily="49" charset="-122"/>
              </a:rPr>
              <a:t>v</a:t>
            </a:r>
            <a:r>
              <a:rPr lang="en-US" altLang="zh-CN" sz="2800" b="1" baseline="-25000" dirty="0">
                <a:latin typeface="Times New Roman" panose="02020603050405020304" pitchFamily="18" charset="0"/>
                <a:ea typeface="黑体" panose="02010609060101010101" pitchFamily="49" charset="-122"/>
              </a:rPr>
              <a:t>0</a:t>
            </a:r>
            <a:endParaRPr lang="en-US" altLang="zh-CN" sz="2800" b="1" baseline="-25000" dirty="0">
              <a:latin typeface="Times New Roman" panose="02020603050405020304" pitchFamily="18" charset="0"/>
              <a:ea typeface="黑体" panose="02010609060101010101" pitchFamily="49" charset="-122"/>
            </a:endParaRPr>
          </a:p>
        </p:txBody>
      </p:sp>
      <p:sp>
        <p:nvSpPr>
          <p:cNvPr id="128007" name="矩形 247819"/>
          <p:cNvSpPr>
            <a:spLocks noChangeArrowheads="1"/>
          </p:cNvSpPr>
          <p:nvPr/>
        </p:nvSpPr>
        <p:spPr bwMode="auto">
          <a:xfrm>
            <a:off x="539750" y="2420938"/>
            <a:ext cx="8172450" cy="946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sz="2800" b="1" dirty="0">
                <a:solidFill>
                  <a:srgbClr val="0000FF"/>
                </a:solidFill>
                <a:ea typeface="黑体" panose="02010609060101010101" pitchFamily="49" charset="-122"/>
              </a:rPr>
              <a:t>对于实际气体（如水蒸气），</a:t>
            </a:r>
            <a:r>
              <a:rPr lang="zh-CN" altLang="en-US" sz="2800" b="1" dirty="0">
                <a:ea typeface="黑体" panose="02010609060101010101" pitchFamily="49" charset="-122"/>
              </a:rPr>
              <a:t>由于其热物性比理想气体要复杂得多，需借助于水蒸气图表，先利用</a:t>
            </a:r>
            <a:endParaRPr lang="zh-CN" altLang="en-US" sz="2800" b="1" dirty="0">
              <a:ea typeface="黑体" panose="02010609060101010101" pitchFamily="49" charset="-122"/>
            </a:endParaRPr>
          </a:p>
        </p:txBody>
      </p:sp>
      <p:sp>
        <p:nvSpPr>
          <p:cNvPr id="128008" name="矩形 247821"/>
          <p:cNvSpPr>
            <a:spLocks noChangeArrowheads="1"/>
          </p:cNvSpPr>
          <p:nvPr/>
        </p:nvSpPr>
        <p:spPr bwMode="auto">
          <a:xfrm>
            <a:off x="0" y="321945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graphicFrame>
        <p:nvGraphicFramePr>
          <p:cNvPr id="128009" name="对象 247820"/>
          <p:cNvGraphicFramePr/>
          <p:nvPr/>
        </p:nvGraphicFramePr>
        <p:xfrm>
          <a:off x="3276600" y="3644900"/>
          <a:ext cx="1835150" cy="1022350"/>
        </p:xfrm>
        <a:graphic>
          <a:graphicData uri="http://schemas.openxmlformats.org/presentationml/2006/ole">
            <mc:AlternateContent xmlns:mc="http://schemas.openxmlformats.org/markup-compatibility/2006">
              <mc:Choice xmlns:v="urn:schemas-microsoft-com:vml" Requires="v">
                <p:oleObj spid="_x0000_s50192" name="" r:id="rId1" imgW="749300" imgH="419100" progId="Equation.DSMT4">
                  <p:embed/>
                </p:oleObj>
              </mc:Choice>
              <mc:Fallback>
                <p:oleObj name="" r:id="rId1" imgW="749300" imgH="419100" progId="Equation.DSMT4">
                  <p:embed/>
                  <p:pic>
                    <p:nvPicPr>
                      <p:cNvPr id="0" name="对象 247820"/>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76600" y="3644900"/>
                        <a:ext cx="1835150" cy="1022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128010" name="矩形 247823"/>
          <p:cNvSpPr>
            <a:spLocks noChangeArrowheads="1"/>
          </p:cNvSpPr>
          <p:nvPr/>
        </p:nvSpPr>
        <p:spPr bwMode="auto">
          <a:xfrm>
            <a:off x="0" y="331470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graphicFrame>
        <p:nvGraphicFramePr>
          <p:cNvPr id="128011" name="对象 247822"/>
          <p:cNvGraphicFramePr/>
          <p:nvPr/>
        </p:nvGraphicFramePr>
        <p:xfrm>
          <a:off x="5364163" y="4797425"/>
          <a:ext cx="1008062" cy="550863"/>
        </p:xfrm>
        <a:graphic>
          <a:graphicData uri="http://schemas.openxmlformats.org/presentationml/2006/ole">
            <mc:AlternateContent xmlns:mc="http://schemas.openxmlformats.org/markup-compatibility/2006">
              <mc:Choice xmlns:v="urn:schemas-microsoft-com:vml" Requires="v">
                <p:oleObj spid="_x0000_s50193" name="" r:id="rId3" imgW="419100" imgH="228600" progId="Equation.DSMT4">
                  <p:embed/>
                </p:oleObj>
              </mc:Choice>
              <mc:Fallback>
                <p:oleObj name="" r:id="rId3" imgW="419100" imgH="228600" progId="Equation.DSMT4">
                  <p:embed/>
                  <p:pic>
                    <p:nvPicPr>
                      <p:cNvPr id="0" name="对象 247822"/>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364163" y="4797425"/>
                        <a:ext cx="1008062" cy="550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025" name="矩形 167939"/>
          <p:cNvSpPr>
            <a:spLocks noChangeArrowheads="1"/>
          </p:cNvSpPr>
          <p:nvPr/>
        </p:nvSpPr>
        <p:spPr bwMode="auto">
          <a:xfrm>
            <a:off x="395288" y="333375"/>
            <a:ext cx="8229600" cy="719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spcBef>
                <a:spcPct val="20000"/>
              </a:spcBef>
            </a:pPr>
            <a:r>
              <a:rPr lang="en-US" altLang="zh-CN" sz="3200" b="1" dirty="0">
                <a:ea typeface="黑体" panose="02010609060101010101" pitchFamily="49" charset="-122"/>
              </a:rPr>
              <a:t>②</a:t>
            </a:r>
            <a:r>
              <a:rPr lang="zh-CN" altLang="en-US" sz="3200" b="1" dirty="0">
                <a:ea typeface="黑体" panose="02010609060101010101" pitchFamily="49" charset="-122"/>
              </a:rPr>
              <a:t>选型</a:t>
            </a:r>
            <a:endParaRPr lang="zh-CN" altLang="en-US" sz="3200" b="1" dirty="0">
              <a:ea typeface="黑体" panose="02010609060101010101" pitchFamily="49" charset="-122"/>
            </a:endParaRPr>
          </a:p>
        </p:txBody>
      </p:sp>
      <p:graphicFrame>
        <p:nvGraphicFramePr>
          <p:cNvPr id="129026" name="对象 167950"/>
          <p:cNvGraphicFramePr/>
          <p:nvPr/>
        </p:nvGraphicFramePr>
        <p:xfrm>
          <a:off x="2268538" y="981075"/>
          <a:ext cx="558800" cy="1047750"/>
        </p:xfrm>
        <a:graphic>
          <a:graphicData uri="http://schemas.openxmlformats.org/presentationml/2006/ole">
            <mc:AlternateContent xmlns:mc="http://schemas.openxmlformats.org/markup-compatibility/2006">
              <mc:Choice xmlns:v="urn:schemas-microsoft-com:vml" Requires="v">
                <p:oleObj spid="_x0000_s51237" name="" r:id="rId1" imgW="228600" imgH="431800" progId="Equation.DSMT4">
                  <p:embed/>
                </p:oleObj>
              </mc:Choice>
              <mc:Fallback>
                <p:oleObj name="" r:id="rId1" imgW="228600" imgH="431800" progId="Equation.DSMT4">
                  <p:embed/>
                  <p:pic>
                    <p:nvPicPr>
                      <p:cNvPr id="0" name="对象 167950"/>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68538" y="981075"/>
                        <a:ext cx="558800" cy="1047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129027" name="对象 167949"/>
          <p:cNvGraphicFramePr/>
          <p:nvPr/>
        </p:nvGraphicFramePr>
        <p:xfrm>
          <a:off x="3563938" y="1052513"/>
          <a:ext cx="1368425" cy="1027112"/>
        </p:xfrm>
        <a:graphic>
          <a:graphicData uri="http://schemas.openxmlformats.org/presentationml/2006/ole">
            <mc:AlternateContent xmlns:mc="http://schemas.openxmlformats.org/markup-compatibility/2006">
              <mc:Choice xmlns:v="urn:schemas-microsoft-com:vml" Requires="v">
                <p:oleObj spid="_x0000_s51238" name="" r:id="rId3" imgW="571500" imgH="431800" progId="Equation.DSMT4">
                  <p:embed/>
                </p:oleObj>
              </mc:Choice>
              <mc:Fallback>
                <p:oleObj name="" r:id="rId3" imgW="571500" imgH="431800" progId="Equation.DSMT4">
                  <p:embed/>
                  <p:pic>
                    <p:nvPicPr>
                      <p:cNvPr id="0" name="对象 167949"/>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563938" y="1052513"/>
                        <a:ext cx="1368425" cy="1027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129028" name="对象 167948"/>
          <p:cNvGraphicFramePr/>
          <p:nvPr/>
        </p:nvGraphicFramePr>
        <p:xfrm>
          <a:off x="2268538" y="2060575"/>
          <a:ext cx="1368425" cy="1119188"/>
        </p:xfrm>
        <a:graphic>
          <a:graphicData uri="http://schemas.openxmlformats.org/presentationml/2006/ole">
            <mc:AlternateContent xmlns:mc="http://schemas.openxmlformats.org/markup-compatibility/2006">
              <mc:Choice xmlns:v="urn:schemas-microsoft-com:vml" Requires="v">
                <p:oleObj spid="_x0000_s51239" name="" r:id="rId5" imgW="520700" imgH="431800" progId="Equation.DSMT4">
                  <p:embed/>
                </p:oleObj>
              </mc:Choice>
              <mc:Fallback>
                <p:oleObj name="" r:id="rId5" imgW="520700" imgH="431800" progId="Equation.DSMT4">
                  <p:embed/>
                  <p:pic>
                    <p:nvPicPr>
                      <p:cNvPr id="0" name="对象 167948"/>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268538" y="2060575"/>
                        <a:ext cx="1368425" cy="1119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129029" name="对象 167947"/>
          <p:cNvGraphicFramePr/>
          <p:nvPr/>
        </p:nvGraphicFramePr>
        <p:xfrm>
          <a:off x="2195513" y="3140075"/>
          <a:ext cx="1368425" cy="1119188"/>
        </p:xfrm>
        <a:graphic>
          <a:graphicData uri="http://schemas.openxmlformats.org/presentationml/2006/ole">
            <mc:AlternateContent xmlns:mc="http://schemas.openxmlformats.org/markup-compatibility/2006">
              <mc:Choice xmlns:v="urn:schemas-microsoft-com:vml" Requires="v">
                <p:oleObj spid="_x0000_s51240" name="" r:id="rId7" imgW="520700" imgH="431800" progId="Equation.DSMT4">
                  <p:embed/>
                </p:oleObj>
              </mc:Choice>
              <mc:Fallback>
                <p:oleObj name="" r:id="rId7" imgW="520700" imgH="431800" progId="Equation.DSMT4">
                  <p:embed/>
                  <p:pic>
                    <p:nvPicPr>
                      <p:cNvPr id="0" name="对象 167947"/>
                      <p:cNvPicPr>
                        <a:picLocks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195513" y="3140075"/>
                        <a:ext cx="1368425" cy="1119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129030" name="对象 167946"/>
          <p:cNvGraphicFramePr/>
          <p:nvPr/>
        </p:nvGraphicFramePr>
        <p:xfrm>
          <a:off x="3830638" y="4581525"/>
          <a:ext cx="525462" cy="630238"/>
        </p:xfrm>
        <a:graphic>
          <a:graphicData uri="http://schemas.openxmlformats.org/presentationml/2006/ole">
            <mc:AlternateContent xmlns:mc="http://schemas.openxmlformats.org/markup-compatibility/2006">
              <mc:Choice xmlns:v="urn:schemas-microsoft-com:vml" Requires="v">
                <p:oleObj spid="_x0000_s51241" name="" r:id="rId9" imgW="190500" imgH="228600" progId="Equation.DSMT4">
                  <p:embed/>
                </p:oleObj>
              </mc:Choice>
              <mc:Fallback>
                <p:oleObj name="" r:id="rId9" imgW="190500" imgH="228600" progId="Equation.DSMT4">
                  <p:embed/>
                  <p:pic>
                    <p:nvPicPr>
                      <p:cNvPr id="0" name="对象 167946"/>
                      <p:cNvPicPr>
                        <a:picLocks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830638" y="4581525"/>
                        <a:ext cx="525462" cy="630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129031" name="矩形 167951"/>
          <p:cNvSpPr>
            <a:spLocks noChangeArrowheads="1"/>
          </p:cNvSpPr>
          <p:nvPr/>
        </p:nvSpPr>
        <p:spPr bwMode="auto">
          <a:xfrm>
            <a:off x="792163" y="1194307"/>
            <a:ext cx="1420582"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r>
              <a:rPr lang="zh-CN" altLang="en-US" sz="3200" b="1" dirty="0">
                <a:ea typeface="黑体" panose="02010609060101010101" pitchFamily="49" charset="-122"/>
              </a:rPr>
              <a:t>计算出</a:t>
            </a:r>
            <a:endParaRPr lang="zh-CN" altLang="en-US" sz="3200" b="1" dirty="0">
              <a:ea typeface="黑体" panose="02010609060101010101" pitchFamily="49" charset="-122"/>
            </a:endParaRPr>
          </a:p>
        </p:txBody>
      </p:sp>
      <p:sp>
        <p:nvSpPr>
          <p:cNvPr id="129032" name="矩形 167952"/>
          <p:cNvSpPr>
            <a:spLocks noChangeArrowheads="1"/>
          </p:cNvSpPr>
          <p:nvPr/>
        </p:nvSpPr>
        <p:spPr bwMode="auto">
          <a:xfrm>
            <a:off x="2555875" y="1194307"/>
            <a:ext cx="1007007"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r>
              <a:rPr lang="zh-CN" altLang="en-US" sz="3200" dirty="0">
                <a:ea typeface="黑体" panose="02010609060101010101" pitchFamily="49" charset="-122"/>
              </a:rPr>
              <a:t>，</a:t>
            </a:r>
            <a:r>
              <a:rPr lang="zh-CN" altLang="en-US" sz="3200" b="1" dirty="0">
                <a:ea typeface="黑体" panose="02010609060101010101" pitchFamily="49" charset="-122"/>
              </a:rPr>
              <a:t>与</a:t>
            </a:r>
            <a:endParaRPr lang="zh-CN" altLang="en-US" sz="3200" b="1" dirty="0">
              <a:ea typeface="黑体" panose="02010609060101010101" pitchFamily="49" charset="-122"/>
            </a:endParaRPr>
          </a:p>
        </p:txBody>
      </p:sp>
      <p:sp>
        <p:nvSpPr>
          <p:cNvPr id="129033" name="矩形 167953"/>
          <p:cNvSpPr>
            <a:spLocks noChangeArrowheads="1"/>
          </p:cNvSpPr>
          <p:nvPr/>
        </p:nvSpPr>
        <p:spPr bwMode="auto">
          <a:xfrm>
            <a:off x="5076825" y="1194307"/>
            <a:ext cx="2244525"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r>
              <a:rPr lang="zh-CN" altLang="en-US" sz="3200" b="1" dirty="0">
                <a:ea typeface="黑体" panose="02010609060101010101" pitchFamily="49" charset="-122"/>
              </a:rPr>
              <a:t>进行比较：</a:t>
            </a:r>
            <a:endParaRPr lang="zh-CN" altLang="en-US" sz="3200" b="1" dirty="0">
              <a:ea typeface="黑体" panose="02010609060101010101" pitchFamily="49" charset="-122"/>
            </a:endParaRPr>
          </a:p>
        </p:txBody>
      </p:sp>
      <p:sp>
        <p:nvSpPr>
          <p:cNvPr id="129034" name="矩形 167954"/>
          <p:cNvSpPr>
            <a:spLocks noChangeArrowheads="1"/>
          </p:cNvSpPr>
          <p:nvPr/>
        </p:nvSpPr>
        <p:spPr bwMode="auto">
          <a:xfrm>
            <a:off x="3492500" y="2273807"/>
            <a:ext cx="3478837"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r>
              <a:rPr lang="zh-CN" altLang="en-US" sz="3200" dirty="0">
                <a:ea typeface="黑体" panose="02010609060101010101" pitchFamily="49" charset="-122"/>
              </a:rPr>
              <a:t>，</a:t>
            </a:r>
            <a:r>
              <a:rPr lang="zh-CN" altLang="en-US" sz="3200" b="1" dirty="0">
                <a:ea typeface="黑体" panose="02010609060101010101" pitchFamily="49" charset="-122"/>
              </a:rPr>
              <a:t>选择渐缩喷管；</a:t>
            </a:r>
            <a:endParaRPr lang="zh-CN" altLang="en-US" sz="3200" b="1" dirty="0">
              <a:ea typeface="黑体" panose="02010609060101010101" pitchFamily="49" charset="-122"/>
            </a:endParaRPr>
          </a:p>
        </p:txBody>
      </p:sp>
      <p:sp>
        <p:nvSpPr>
          <p:cNvPr id="129035" name="矩形 167955"/>
          <p:cNvSpPr>
            <a:spLocks noChangeArrowheads="1"/>
          </p:cNvSpPr>
          <p:nvPr/>
        </p:nvSpPr>
        <p:spPr bwMode="auto">
          <a:xfrm>
            <a:off x="3559175" y="3278694"/>
            <a:ext cx="3478837"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r>
              <a:rPr lang="zh-CN" altLang="en-US" sz="3200" dirty="0">
                <a:ea typeface="黑体" panose="02010609060101010101" pitchFamily="49" charset="-122"/>
              </a:rPr>
              <a:t>，</a:t>
            </a:r>
            <a:r>
              <a:rPr lang="zh-CN" altLang="en-US" sz="3200" b="1" dirty="0">
                <a:ea typeface="黑体" panose="02010609060101010101" pitchFamily="49" charset="-122"/>
              </a:rPr>
              <a:t>选择缩放喷管。</a:t>
            </a:r>
            <a:endParaRPr lang="zh-CN" altLang="en-US" sz="3200" b="1" dirty="0">
              <a:ea typeface="黑体" panose="02010609060101010101" pitchFamily="49" charset="-122"/>
            </a:endParaRPr>
          </a:p>
        </p:txBody>
      </p:sp>
      <p:sp>
        <p:nvSpPr>
          <p:cNvPr id="129036" name="矩形 167959"/>
          <p:cNvSpPr>
            <a:spLocks noChangeArrowheads="1"/>
          </p:cNvSpPr>
          <p:nvPr/>
        </p:nvSpPr>
        <p:spPr bwMode="auto">
          <a:xfrm>
            <a:off x="1547813" y="2205038"/>
            <a:ext cx="596638"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3200" b="1" dirty="0">
                <a:ea typeface="黑体" panose="02010609060101010101" pitchFamily="49" charset="-122"/>
              </a:rPr>
              <a:t>若</a:t>
            </a:r>
            <a:endParaRPr lang="zh-CN" altLang="en-US" sz="3200" b="1" dirty="0">
              <a:ea typeface="黑体" panose="02010609060101010101" pitchFamily="49" charset="-122"/>
            </a:endParaRPr>
          </a:p>
        </p:txBody>
      </p:sp>
      <p:sp>
        <p:nvSpPr>
          <p:cNvPr id="129037" name="矩形 167960"/>
          <p:cNvSpPr>
            <a:spLocks noChangeArrowheads="1"/>
          </p:cNvSpPr>
          <p:nvPr/>
        </p:nvSpPr>
        <p:spPr bwMode="auto">
          <a:xfrm>
            <a:off x="1547813" y="3284538"/>
            <a:ext cx="596638"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3200" b="1" dirty="0">
                <a:ea typeface="黑体" panose="02010609060101010101" pitchFamily="49" charset="-122"/>
              </a:rPr>
              <a:t>若</a:t>
            </a:r>
            <a:endParaRPr lang="zh-CN" altLang="en-US" sz="3200" b="1" dirty="0">
              <a:ea typeface="黑体" panose="02010609060101010101" pitchFamily="49" charset="-122"/>
            </a:endParaRPr>
          </a:p>
        </p:txBody>
      </p:sp>
      <p:sp>
        <p:nvSpPr>
          <p:cNvPr id="129038" name="矩形 167962"/>
          <p:cNvSpPr>
            <a:spLocks noChangeArrowheads="1"/>
          </p:cNvSpPr>
          <p:nvPr/>
        </p:nvSpPr>
        <p:spPr bwMode="auto">
          <a:xfrm>
            <a:off x="468313" y="4605338"/>
            <a:ext cx="8135937" cy="1066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sz="3200" b="1" dirty="0">
                <a:ea typeface="黑体" panose="02010609060101010101" pitchFamily="49" charset="-122"/>
              </a:rPr>
              <a:t>可见，临界压力比     非常重要，它提供了选择喷管的依据。</a:t>
            </a:r>
            <a:endParaRPr lang="zh-CN" altLang="en-US" sz="3200" b="1" dirty="0">
              <a:ea typeface="黑体" panose="02010609060101010101" pitchFamily="49" charset="-122"/>
            </a:endParaRPr>
          </a:p>
        </p:txBody>
      </p:sp>
      <p:sp>
        <p:nvSpPr>
          <p:cNvPr id="129039" name="矩形 167963"/>
          <p:cNvSpPr>
            <a:spLocks noChangeArrowheads="1"/>
          </p:cNvSpPr>
          <p:nvPr/>
        </p:nvSpPr>
        <p:spPr bwMode="auto">
          <a:xfrm>
            <a:off x="1404938" y="2060575"/>
            <a:ext cx="5688012" cy="2232025"/>
          </a:xfrm>
          <a:prstGeom prst="rect">
            <a:avLst/>
          </a:prstGeom>
          <a:noFill/>
          <a:ln w="25400">
            <a:solidFill>
              <a:schemeClr val="folHlink"/>
            </a:solidFill>
            <a:miter lim="800000"/>
          </a:ln>
          <a:extLst>
            <a:ext uri="{909E8E84-426E-40DD-AFC4-6F175D3DCCD1}">
              <a14:hiddenFill xmlns:a14="http://schemas.microsoft.com/office/drawing/2010/main">
                <a:solidFill>
                  <a:srgbClr val="FFFFFF"/>
                </a:solidFill>
              </a14:hiddenFill>
            </a:ext>
          </a:extLst>
        </p:spPr>
        <p:txBody>
          <a:bodyPr/>
          <a:lstStyle/>
          <a:p>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049" name="矩形 248836"/>
          <p:cNvSpPr>
            <a:spLocks noChangeArrowheads="1"/>
          </p:cNvSpPr>
          <p:nvPr/>
        </p:nvSpPr>
        <p:spPr bwMode="auto">
          <a:xfrm>
            <a:off x="539750" y="1844675"/>
            <a:ext cx="5134739"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2400" b="1" dirty="0">
                <a:ea typeface="黑体" panose="02010609060101010101" pitchFamily="49" charset="-122"/>
              </a:rPr>
              <a:t>对于双原子理想气体（如空气），取</a:t>
            </a:r>
            <a:endParaRPr lang="zh-CN" altLang="en-US" sz="2400" b="1" dirty="0">
              <a:ea typeface="黑体" panose="02010609060101010101" pitchFamily="49" charset="-122"/>
            </a:endParaRPr>
          </a:p>
        </p:txBody>
      </p:sp>
      <p:graphicFrame>
        <p:nvGraphicFramePr>
          <p:cNvPr id="130050" name="对象 248837"/>
          <p:cNvGraphicFramePr/>
          <p:nvPr/>
        </p:nvGraphicFramePr>
        <p:xfrm>
          <a:off x="7235825" y="1854200"/>
          <a:ext cx="1441450" cy="474663"/>
        </p:xfrm>
        <a:graphic>
          <a:graphicData uri="http://schemas.openxmlformats.org/presentationml/2006/ole">
            <mc:AlternateContent xmlns:mc="http://schemas.openxmlformats.org/markup-compatibility/2006">
              <mc:Choice xmlns:v="urn:schemas-microsoft-com:vml" Requires="v">
                <p:oleObj spid="_x0000_s52303" name="" r:id="rId1" imgW="698500" imgH="228600" progId="Equation.DSMT4">
                  <p:embed/>
                </p:oleObj>
              </mc:Choice>
              <mc:Fallback>
                <p:oleObj name="" r:id="rId1" imgW="698500" imgH="228600" progId="Equation.DSMT4">
                  <p:embed/>
                  <p:pic>
                    <p:nvPicPr>
                      <p:cNvPr id="0" name="对象 248837"/>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235825" y="1854200"/>
                        <a:ext cx="1441450" cy="474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130051" name="对象 248838"/>
          <p:cNvGraphicFramePr/>
          <p:nvPr/>
        </p:nvGraphicFramePr>
        <p:xfrm>
          <a:off x="3203575" y="476250"/>
          <a:ext cx="2654300" cy="1068388"/>
        </p:xfrm>
        <a:graphic>
          <a:graphicData uri="http://schemas.openxmlformats.org/presentationml/2006/ole">
            <mc:AlternateContent xmlns:mc="http://schemas.openxmlformats.org/markup-compatibility/2006">
              <mc:Choice xmlns:v="urn:schemas-microsoft-com:vml" Requires="v">
                <p:oleObj spid="_x0000_s52304" name="" r:id="rId3" imgW="1320165" imgH="533400" progId="Equation.DSMT4">
                  <p:embed/>
                </p:oleObj>
              </mc:Choice>
              <mc:Fallback>
                <p:oleObj name="" r:id="rId3" imgW="1320165" imgH="533400" progId="Equation.DSMT4">
                  <p:embed/>
                  <p:pic>
                    <p:nvPicPr>
                      <p:cNvPr id="0" name="对象 248838"/>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203575" y="476250"/>
                        <a:ext cx="2654300" cy="1068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130052" name="对象 248839"/>
          <p:cNvGraphicFramePr/>
          <p:nvPr/>
        </p:nvGraphicFramePr>
        <p:xfrm>
          <a:off x="5580063" y="1916113"/>
          <a:ext cx="962025" cy="365125"/>
        </p:xfrm>
        <a:graphic>
          <a:graphicData uri="http://schemas.openxmlformats.org/presentationml/2006/ole">
            <mc:AlternateContent xmlns:mc="http://schemas.openxmlformats.org/markup-compatibility/2006">
              <mc:Choice xmlns:v="urn:schemas-microsoft-com:vml" Requires="v">
                <p:oleObj spid="_x0000_s52305" name="" r:id="rId5" imgW="469265" imgH="177800" progId="Equation.DSMT4">
                  <p:embed/>
                </p:oleObj>
              </mc:Choice>
              <mc:Fallback>
                <p:oleObj name="" r:id="rId5" imgW="469265" imgH="177800" progId="Equation.DSMT4">
                  <p:embed/>
                  <p:pic>
                    <p:nvPicPr>
                      <p:cNvPr id="0" name="对象 248839"/>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580063" y="1916113"/>
                        <a:ext cx="962025"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130053" name="右箭头 248840"/>
          <p:cNvSpPr>
            <a:spLocks noChangeArrowheads="1"/>
          </p:cNvSpPr>
          <p:nvPr/>
        </p:nvSpPr>
        <p:spPr bwMode="auto">
          <a:xfrm>
            <a:off x="6597650" y="2022475"/>
            <a:ext cx="504825" cy="144463"/>
          </a:xfrm>
          <a:prstGeom prst="rightArrow">
            <a:avLst>
              <a:gd name="adj1" fmla="val 50000"/>
              <a:gd name="adj2" fmla="val 87217"/>
            </a:avLst>
          </a:prstGeom>
          <a:solidFill>
            <a:schemeClr val="accent1"/>
          </a:solidFill>
          <a:ln w="9525">
            <a:solidFill>
              <a:schemeClr val="tx1"/>
            </a:solidFill>
            <a:miter lim="800000"/>
          </a:ln>
        </p:spPr>
        <p:txBody>
          <a:bodyPr/>
          <a:lstStyle/>
          <a:p>
            <a:endParaRPr lang="zh-CN" altLang="en-US"/>
          </a:p>
        </p:txBody>
      </p:sp>
      <p:sp>
        <p:nvSpPr>
          <p:cNvPr id="130054" name="矩形 248841"/>
          <p:cNvSpPr>
            <a:spLocks noChangeArrowheads="1"/>
          </p:cNvSpPr>
          <p:nvPr/>
        </p:nvSpPr>
        <p:spPr bwMode="auto">
          <a:xfrm>
            <a:off x="539750" y="2439988"/>
            <a:ext cx="3587842"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2400" b="1" dirty="0">
                <a:ea typeface="黑体" panose="02010609060101010101" pitchFamily="49" charset="-122"/>
              </a:rPr>
              <a:t>对于三原子理想气体，取</a:t>
            </a:r>
            <a:endParaRPr lang="zh-CN" altLang="en-US" sz="2400" b="1" dirty="0">
              <a:ea typeface="黑体" panose="02010609060101010101" pitchFamily="49" charset="-122"/>
            </a:endParaRPr>
          </a:p>
        </p:txBody>
      </p:sp>
      <p:graphicFrame>
        <p:nvGraphicFramePr>
          <p:cNvPr id="130055" name="对象 248842"/>
          <p:cNvGraphicFramePr/>
          <p:nvPr/>
        </p:nvGraphicFramePr>
        <p:xfrm>
          <a:off x="5795963" y="2420938"/>
          <a:ext cx="1441450" cy="474662"/>
        </p:xfrm>
        <a:graphic>
          <a:graphicData uri="http://schemas.openxmlformats.org/presentationml/2006/ole">
            <mc:AlternateContent xmlns:mc="http://schemas.openxmlformats.org/markup-compatibility/2006">
              <mc:Choice xmlns:v="urn:schemas-microsoft-com:vml" Requires="v">
                <p:oleObj spid="_x0000_s52306" name="" r:id="rId7" imgW="698500" imgH="228600" progId="Equation.DSMT4">
                  <p:embed/>
                </p:oleObj>
              </mc:Choice>
              <mc:Fallback>
                <p:oleObj name="" r:id="rId7" imgW="698500" imgH="228600" progId="Equation.DSMT4">
                  <p:embed/>
                  <p:pic>
                    <p:nvPicPr>
                      <p:cNvPr id="0" name="对象 248842"/>
                      <p:cNvPicPr>
                        <a:picLocks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795963" y="2420938"/>
                        <a:ext cx="1441450" cy="474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130056" name="对象 248843"/>
          <p:cNvGraphicFramePr/>
          <p:nvPr/>
        </p:nvGraphicFramePr>
        <p:xfrm>
          <a:off x="4079875" y="2492375"/>
          <a:ext cx="935038" cy="365125"/>
        </p:xfrm>
        <a:graphic>
          <a:graphicData uri="http://schemas.openxmlformats.org/presentationml/2006/ole">
            <mc:AlternateContent xmlns:mc="http://schemas.openxmlformats.org/markup-compatibility/2006">
              <mc:Choice xmlns:v="urn:schemas-microsoft-com:vml" Requires="v">
                <p:oleObj spid="_x0000_s52307" name="" r:id="rId9" imgW="456565" imgH="177800" progId="Equation.DSMT4">
                  <p:embed/>
                </p:oleObj>
              </mc:Choice>
              <mc:Fallback>
                <p:oleObj name="" r:id="rId9" imgW="456565" imgH="177800" progId="Equation.DSMT4">
                  <p:embed/>
                  <p:pic>
                    <p:nvPicPr>
                      <p:cNvPr id="0" name="对象 248843"/>
                      <p:cNvPicPr>
                        <a:picLocks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079875" y="2492375"/>
                        <a:ext cx="935038"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130057" name="右箭头 248844"/>
          <p:cNvSpPr>
            <a:spLocks noChangeArrowheads="1"/>
          </p:cNvSpPr>
          <p:nvPr/>
        </p:nvSpPr>
        <p:spPr bwMode="auto">
          <a:xfrm>
            <a:off x="5148263" y="2584450"/>
            <a:ext cx="504825" cy="142875"/>
          </a:xfrm>
          <a:prstGeom prst="rightArrow">
            <a:avLst>
              <a:gd name="adj1" fmla="val 50000"/>
              <a:gd name="adj2" fmla="val 88186"/>
            </a:avLst>
          </a:prstGeom>
          <a:solidFill>
            <a:schemeClr val="accent1"/>
          </a:solidFill>
          <a:ln w="9525">
            <a:solidFill>
              <a:schemeClr val="tx1"/>
            </a:solidFill>
            <a:miter lim="800000"/>
          </a:ln>
        </p:spPr>
        <p:txBody>
          <a:bodyPr/>
          <a:lstStyle/>
          <a:p>
            <a:endParaRPr lang="zh-CN" altLang="en-US"/>
          </a:p>
        </p:txBody>
      </p:sp>
      <p:sp>
        <p:nvSpPr>
          <p:cNvPr id="130058" name="矩形 248845"/>
          <p:cNvSpPr>
            <a:spLocks noChangeArrowheads="1"/>
          </p:cNvSpPr>
          <p:nvPr/>
        </p:nvSpPr>
        <p:spPr bwMode="auto">
          <a:xfrm>
            <a:off x="539750" y="3016250"/>
            <a:ext cx="7777163" cy="15696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sz="2400" b="1" dirty="0">
                <a:ea typeface="黑体" panose="02010609060101010101" pitchFamily="49" charset="-122"/>
              </a:rPr>
              <a:t>对于水蒸气，其流动过程中的临界压力比仍可按照上式（基于理想气体假设得到）进行计算，但不同的是，对于理想气体，上式中的    值具有比热容比的含义，而对于水蒸气，    不是比热容比，纯为一经验数据 </a:t>
            </a:r>
            <a:endParaRPr lang="zh-CN" altLang="en-US" sz="2400" b="1" dirty="0">
              <a:ea typeface="黑体" panose="02010609060101010101" pitchFamily="49" charset="-122"/>
            </a:endParaRPr>
          </a:p>
        </p:txBody>
      </p:sp>
      <p:graphicFrame>
        <p:nvGraphicFramePr>
          <p:cNvPr id="130059" name="对象 248851"/>
          <p:cNvGraphicFramePr/>
          <p:nvPr/>
        </p:nvGraphicFramePr>
        <p:xfrm>
          <a:off x="3708400" y="3860800"/>
          <a:ext cx="285750" cy="260350"/>
        </p:xfrm>
        <a:graphic>
          <a:graphicData uri="http://schemas.openxmlformats.org/presentationml/2006/ole">
            <mc:AlternateContent xmlns:mc="http://schemas.openxmlformats.org/markup-compatibility/2006">
              <mc:Choice xmlns:v="urn:schemas-microsoft-com:vml" Requires="v">
                <p:oleObj spid="_x0000_s52308" name="" r:id="rId11" imgW="139700" imgH="127000" progId="Equation.DSMT4">
                  <p:embed/>
                </p:oleObj>
              </mc:Choice>
              <mc:Fallback>
                <p:oleObj name="" r:id="rId11" imgW="139700" imgH="127000" progId="Equation.DSMT4">
                  <p:embed/>
                  <p:pic>
                    <p:nvPicPr>
                      <p:cNvPr id="0" name="对象 248851"/>
                      <p:cNvPicPr>
                        <a:picLocks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3708400" y="3860800"/>
                        <a:ext cx="285750" cy="260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130060" name="对象 248852"/>
          <p:cNvGraphicFramePr/>
          <p:nvPr/>
        </p:nvGraphicFramePr>
        <p:xfrm>
          <a:off x="2124075" y="4221163"/>
          <a:ext cx="285750" cy="260350"/>
        </p:xfrm>
        <a:graphic>
          <a:graphicData uri="http://schemas.openxmlformats.org/presentationml/2006/ole">
            <mc:AlternateContent xmlns:mc="http://schemas.openxmlformats.org/markup-compatibility/2006">
              <mc:Choice xmlns:v="urn:schemas-microsoft-com:vml" Requires="v">
                <p:oleObj spid="_x0000_s52309" name="" r:id="rId13" imgW="139700" imgH="127000" progId="Equation.DSMT4">
                  <p:embed/>
                </p:oleObj>
              </mc:Choice>
              <mc:Fallback>
                <p:oleObj name="" r:id="rId13" imgW="139700" imgH="127000" progId="Equation.DSMT4">
                  <p:embed/>
                  <p:pic>
                    <p:nvPicPr>
                      <p:cNvPr id="0" name="对象 248852"/>
                      <p:cNvPicPr>
                        <a:picLocks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2124075" y="4221163"/>
                        <a:ext cx="285750" cy="260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130061" name="矩形 248853"/>
          <p:cNvSpPr>
            <a:spLocks noChangeArrowheads="1"/>
          </p:cNvSpPr>
          <p:nvPr/>
        </p:nvSpPr>
        <p:spPr bwMode="auto">
          <a:xfrm>
            <a:off x="539750" y="4795193"/>
            <a:ext cx="4584909"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r>
              <a:rPr lang="zh-CN" altLang="en-US" sz="2400" b="1" dirty="0">
                <a:ea typeface="黑体" panose="02010609060101010101" pitchFamily="49" charset="-122"/>
              </a:rPr>
              <a:t>若入口截面处为过热水蒸气，取 </a:t>
            </a:r>
            <a:endParaRPr lang="zh-CN" altLang="en-US" sz="2400" b="1" dirty="0">
              <a:ea typeface="黑体" panose="02010609060101010101" pitchFamily="49" charset="-122"/>
            </a:endParaRPr>
          </a:p>
        </p:txBody>
      </p:sp>
      <p:graphicFrame>
        <p:nvGraphicFramePr>
          <p:cNvPr id="130062" name="对象 248854"/>
          <p:cNvGraphicFramePr/>
          <p:nvPr/>
        </p:nvGraphicFramePr>
        <p:xfrm>
          <a:off x="6732588" y="4778375"/>
          <a:ext cx="1441450" cy="474663"/>
        </p:xfrm>
        <a:graphic>
          <a:graphicData uri="http://schemas.openxmlformats.org/presentationml/2006/ole">
            <mc:AlternateContent xmlns:mc="http://schemas.openxmlformats.org/markup-compatibility/2006">
              <mc:Choice xmlns:v="urn:schemas-microsoft-com:vml" Requires="v">
                <p:oleObj spid="_x0000_s52310" name="" r:id="rId15" imgW="698500" imgH="228600" progId="Equation.DSMT4">
                  <p:embed/>
                </p:oleObj>
              </mc:Choice>
              <mc:Fallback>
                <p:oleObj name="" r:id="rId15" imgW="698500" imgH="228600" progId="Equation.DSMT4">
                  <p:embed/>
                  <p:pic>
                    <p:nvPicPr>
                      <p:cNvPr id="0" name="对象 248854"/>
                      <p:cNvPicPr>
                        <a:picLocks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6732588" y="4778375"/>
                        <a:ext cx="1441450" cy="474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130063" name="对象 248855"/>
          <p:cNvGraphicFramePr/>
          <p:nvPr/>
        </p:nvGraphicFramePr>
        <p:xfrm>
          <a:off x="5016500" y="4849813"/>
          <a:ext cx="935038" cy="365125"/>
        </p:xfrm>
        <a:graphic>
          <a:graphicData uri="http://schemas.openxmlformats.org/presentationml/2006/ole">
            <mc:AlternateContent xmlns:mc="http://schemas.openxmlformats.org/markup-compatibility/2006">
              <mc:Choice xmlns:v="urn:schemas-microsoft-com:vml" Requires="v">
                <p:oleObj spid="_x0000_s52311" name="" r:id="rId17" imgW="456565" imgH="177800" progId="Equation.DSMT4">
                  <p:embed/>
                </p:oleObj>
              </mc:Choice>
              <mc:Fallback>
                <p:oleObj name="" r:id="rId17" imgW="456565" imgH="177800" progId="Equation.DSMT4">
                  <p:embed/>
                  <p:pic>
                    <p:nvPicPr>
                      <p:cNvPr id="0" name="对象 248855"/>
                      <p:cNvPicPr>
                        <a:picLocks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5016500" y="4849813"/>
                        <a:ext cx="935038"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130064" name="右箭头 248856"/>
          <p:cNvSpPr>
            <a:spLocks noChangeArrowheads="1"/>
          </p:cNvSpPr>
          <p:nvPr/>
        </p:nvSpPr>
        <p:spPr bwMode="auto">
          <a:xfrm>
            <a:off x="6084888" y="4941888"/>
            <a:ext cx="504825" cy="142875"/>
          </a:xfrm>
          <a:prstGeom prst="rightArrow">
            <a:avLst>
              <a:gd name="adj1" fmla="val 50000"/>
              <a:gd name="adj2" fmla="val 88186"/>
            </a:avLst>
          </a:prstGeom>
          <a:solidFill>
            <a:schemeClr val="accent1"/>
          </a:solidFill>
          <a:ln w="9525">
            <a:solidFill>
              <a:schemeClr val="tx1"/>
            </a:solidFill>
            <a:miter lim="800000"/>
          </a:ln>
        </p:spPr>
        <p:txBody>
          <a:bodyPr/>
          <a:lstStyle/>
          <a:p>
            <a:endParaRPr lang="zh-CN" altLang="en-US"/>
          </a:p>
        </p:txBody>
      </p:sp>
      <p:sp>
        <p:nvSpPr>
          <p:cNvPr id="130065" name="矩形 248857"/>
          <p:cNvSpPr>
            <a:spLocks noChangeArrowheads="1"/>
          </p:cNvSpPr>
          <p:nvPr/>
        </p:nvSpPr>
        <p:spPr bwMode="auto">
          <a:xfrm>
            <a:off x="539750" y="5390506"/>
            <a:ext cx="4894289"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r>
              <a:rPr lang="zh-CN" altLang="en-US" sz="2400" b="1" dirty="0">
                <a:ea typeface="黑体" panose="02010609060101010101" pitchFamily="49" charset="-122"/>
              </a:rPr>
              <a:t>若入口截面处为干饱和水蒸气，取 </a:t>
            </a:r>
            <a:endParaRPr lang="zh-CN" altLang="en-US" sz="2400" b="1" dirty="0">
              <a:ea typeface="黑体" panose="02010609060101010101" pitchFamily="49" charset="-122"/>
            </a:endParaRPr>
          </a:p>
        </p:txBody>
      </p:sp>
      <p:graphicFrame>
        <p:nvGraphicFramePr>
          <p:cNvPr id="130066" name="对象 248858"/>
          <p:cNvGraphicFramePr/>
          <p:nvPr/>
        </p:nvGraphicFramePr>
        <p:xfrm>
          <a:off x="7018338" y="5373688"/>
          <a:ext cx="1441450" cy="474662"/>
        </p:xfrm>
        <a:graphic>
          <a:graphicData uri="http://schemas.openxmlformats.org/presentationml/2006/ole">
            <mc:AlternateContent xmlns:mc="http://schemas.openxmlformats.org/markup-compatibility/2006">
              <mc:Choice xmlns:v="urn:schemas-microsoft-com:vml" Requires="v">
                <p:oleObj spid="_x0000_s52312" name="" r:id="rId19" imgW="698500" imgH="228600" progId="Equation.DSMT4">
                  <p:embed/>
                </p:oleObj>
              </mc:Choice>
              <mc:Fallback>
                <p:oleObj name="" r:id="rId19" imgW="698500" imgH="228600" progId="Equation.DSMT4">
                  <p:embed/>
                  <p:pic>
                    <p:nvPicPr>
                      <p:cNvPr id="0" name="对象 248858"/>
                      <p:cNvPicPr>
                        <a:picLocks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7018338" y="5373688"/>
                        <a:ext cx="1441450" cy="474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130067" name="对象 248859"/>
          <p:cNvGraphicFramePr/>
          <p:nvPr/>
        </p:nvGraphicFramePr>
        <p:xfrm>
          <a:off x="5170488" y="5445125"/>
          <a:ext cx="1273175" cy="365125"/>
        </p:xfrm>
        <a:graphic>
          <a:graphicData uri="http://schemas.openxmlformats.org/presentationml/2006/ole">
            <mc:AlternateContent xmlns:mc="http://schemas.openxmlformats.org/markup-compatibility/2006">
              <mc:Choice xmlns:v="urn:schemas-microsoft-com:vml" Requires="v">
                <p:oleObj spid="_x0000_s52313" name="" r:id="rId21" imgW="621030" imgH="177800" progId="Equation.DSMT4">
                  <p:embed/>
                </p:oleObj>
              </mc:Choice>
              <mc:Fallback>
                <p:oleObj name="" r:id="rId21" imgW="621030" imgH="177800" progId="Equation.DSMT4">
                  <p:embed/>
                  <p:pic>
                    <p:nvPicPr>
                      <p:cNvPr id="0" name="对象 248859"/>
                      <p:cNvPicPr>
                        <a:picLocks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5170488" y="5445125"/>
                        <a:ext cx="1273175"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130068" name="右箭头 248860"/>
          <p:cNvSpPr>
            <a:spLocks noChangeArrowheads="1"/>
          </p:cNvSpPr>
          <p:nvPr/>
        </p:nvSpPr>
        <p:spPr bwMode="auto">
          <a:xfrm>
            <a:off x="6443663" y="5518150"/>
            <a:ext cx="504825" cy="142875"/>
          </a:xfrm>
          <a:prstGeom prst="rightArrow">
            <a:avLst>
              <a:gd name="adj1" fmla="val 50000"/>
              <a:gd name="adj2" fmla="val 88186"/>
            </a:avLst>
          </a:prstGeom>
          <a:solidFill>
            <a:schemeClr val="accent1"/>
          </a:solidFill>
          <a:ln w="9525">
            <a:solidFill>
              <a:schemeClr val="tx1"/>
            </a:solidFill>
            <a:miter lim="800000"/>
          </a:ln>
        </p:spPr>
        <p:txBody>
          <a:bodyPr/>
          <a:lstStyle/>
          <a:p>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1073" name="矩形 168963"/>
          <p:cNvSpPr>
            <a:spLocks noChangeArrowheads="1"/>
          </p:cNvSpPr>
          <p:nvPr/>
        </p:nvSpPr>
        <p:spPr bwMode="auto">
          <a:xfrm>
            <a:off x="412405" y="283876"/>
            <a:ext cx="8012130"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r>
              <a:rPr lang="en-US" altLang="zh-CN" sz="3200" b="1" dirty="0">
                <a:ea typeface="黑体" panose="02010609060101010101" pitchFamily="49" charset="-122"/>
              </a:rPr>
              <a:t>③</a:t>
            </a:r>
            <a:r>
              <a:rPr lang="zh-CN" altLang="en-US" sz="3200" b="1" dirty="0">
                <a:ea typeface="黑体" panose="02010609060101010101" pitchFamily="49" charset="-122"/>
              </a:rPr>
              <a:t>求临界截面和出口截面上气体的状态参数</a:t>
            </a:r>
            <a:endParaRPr lang="zh-CN" altLang="en-US" sz="3200" b="1" dirty="0">
              <a:ea typeface="黑体" panose="02010609060101010101" pitchFamily="49" charset="-122"/>
            </a:endParaRPr>
          </a:p>
        </p:txBody>
      </p:sp>
      <p:sp>
        <p:nvSpPr>
          <p:cNvPr id="131074" name="矩形 168965"/>
          <p:cNvSpPr>
            <a:spLocks noChangeArrowheads="1"/>
          </p:cNvSpPr>
          <p:nvPr/>
        </p:nvSpPr>
        <p:spPr bwMode="auto">
          <a:xfrm>
            <a:off x="1331913" y="1196975"/>
            <a:ext cx="5315879"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2800" b="1" dirty="0">
                <a:ea typeface="黑体" panose="02010609060101010101" pitchFamily="49" charset="-122"/>
              </a:rPr>
              <a:t>临界截面和出口截面压力分别为 </a:t>
            </a:r>
            <a:endParaRPr lang="zh-CN" altLang="en-US" sz="2800" b="1" dirty="0">
              <a:ea typeface="黑体" panose="02010609060101010101" pitchFamily="49" charset="-122"/>
            </a:endParaRPr>
          </a:p>
        </p:txBody>
      </p:sp>
      <p:graphicFrame>
        <p:nvGraphicFramePr>
          <p:cNvPr id="131075" name="对象 168968"/>
          <p:cNvGraphicFramePr/>
          <p:nvPr/>
        </p:nvGraphicFramePr>
        <p:xfrm>
          <a:off x="2484438" y="1989138"/>
          <a:ext cx="1584325" cy="534987"/>
        </p:xfrm>
        <a:graphic>
          <a:graphicData uri="http://schemas.openxmlformats.org/presentationml/2006/ole">
            <mc:AlternateContent xmlns:mc="http://schemas.openxmlformats.org/markup-compatibility/2006">
              <mc:Choice xmlns:v="urn:schemas-microsoft-com:vml" Requires="v">
                <p:oleObj spid="_x0000_s53299" name="" r:id="rId1" imgW="673100" imgH="228600" progId="Equation.DSMT4">
                  <p:embed/>
                </p:oleObj>
              </mc:Choice>
              <mc:Fallback>
                <p:oleObj name="" r:id="rId1" imgW="673100" imgH="228600" progId="Equation.DSMT4">
                  <p:embed/>
                  <p:pic>
                    <p:nvPicPr>
                      <p:cNvPr id="0" name="对象 168968"/>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84438" y="1989138"/>
                        <a:ext cx="1584325" cy="534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131076" name="对象 168967"/>
          <p:cNvGraphicFramePr/>
          <p:nvPr/>
        </p:nvGraphicFramePr>
        <p:xfrm>
          <a:off x="468313" y="3716338"/>
          <a:ext cx="1512887" cy="733425"/>
        </p:xfrm>
        <a:graphic>
          <a:graphicData uri="http://schemas.openxmlformats.org/presentationml/2006/ole">
            <mc:AlternateContent xmlns:mc="http://schemas.openxmlformats.org/markup-compatibility/2006">
              <mc:Choice xmlns:v="urn:schemas-microsoft-com:vml" Requires="v">
                <p:oleObj spid="_x0000_s53300" name="" r:id="rId3" imgW="711200" imgH="342900" progId="Equation.DSMT4">
                  <p:embed/>
                </p:oleObj>
              </mc:Choice>
              <mc:Fallback>
                <p:oleObj name="" r:id="rId3" imgW="711200" imgH="342900" progId="Equation.DSMT4">
                  <p:embed/>
                  <p:pic>
                    <p:nvPicPr>
                      <p:cNvPr id="0" name="对象 168967"/>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68313" y="3716338"/>
                        <a:ext cx="1512887" cy="733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131077" name="对象 168966"/>
          <p:cNvGraphicFramePr/>
          <p:nvPr/>
        </p:nvGraphicFramePr>
        <p:xfrm>
          <a:off x="5136492" y="3694113"/>
          <a:ext cx="1511300" cy="1025525"/>
        </p:xfrm>
        <a:graphic>
          <a:graphicData uri="http://schemas.openxmlformats.org/presentationml/2006/ole">
            <mc:AlternateContent xmlns:mc="http://schemas.openxmlformats.org/markup-compatibility/2006">
              <mc:Choice xmlns:v="urn:schemas-microsoft-com:vml" Requires="v">
                <p:oleObj spid="_x0000_s53301" name="" r:id="rId5" imgW="673100" imgH="457200" progId="Equation.DSMT4">
                  <p:embed/>
                </p:oleObj>
              </mc:Choice>
              <mc:Fallback>
                <p:oleObj name="" r:id="rId5" imgW="673100" imgH="457200" progId="Equation.DSMT4">
                  <p:embed/>
                  <p:pic>
                    <p:nvPicPr>
                      <p:cNvPr id="0" name="对象 168966"/>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136492" y="3694113"/>
                        <a:ext cx="1511300" cy="1025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131078" name="矩形 168971"/>
          <p:cNvSpPr>
            <a:spLocks noChangeArrowheads="1"/>
          </p:cNvSpPr>
          <p:nvPr/>
        </p:nvSpPr>
        <p:spPr bwMode="auto">
          <a:xfrm>
            <a:off x="0" y="350043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31079" name="矩形 168972"/>
          <p:cNvSpPr>
            <a:spLocks noChangeArrowheads="1"/>
          </p:cNvSpPr>
          <p:nvPr/>
        </p:nvSpPr>
        <p:spPr bwMode="auto">
          <a:xfrm>
            <a:off x="827088" y="2925763"/>
            <a:ext cx="3127375"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2800" b="1" dirty="0">
                <a:ea typeface="黑体" panose="02010609060101010101" pitchFamily="49" charset="-122"/>
              </a:rPr>
              <a:t>对于理想气体，有 </a:t>
            </a:r>
            <a:endParaRPr lang="zh-CN" altLang="en-US" sz="2800" b="1" dirty="0">
              <a:ea typeface="黑体" panose="02010609060101010101" pitchFamily="49" charset="-122"/>
            </a:endParaRPr>
          </a:p>
        </p:txBody>
      </p:sp>
      <p:graphicFrame>
        <p:nvGraphicFramePr>
          <p:cNvPr id="131080" name="对象 168975"/>
          <p:cNvGraphicFramePr/>
          <p:nvPr/>
        </p:nvGraphicFramePr>
        <p:xfrm>
          <a:off x="5076825" y="1989138"/>
          <a:ext cx="1225550" cy="565150"/>
        </p:xfrm>
        <a:graphic>
          <a:graphicData uri="http://schemas.openxmlformats.org/presentationml/2006/ole">
            <mc:AlternateContent xmlns:mc="http://schemas.openxmlformats.org/markup-compatibility/2006">
              <mc:Choice xmlns:v="urn:schemas-microsoft-com:vml" Requires="v">
                <p:oleObj spid="_x0000_s53302" name="" r:id="rId7" imgW="495300" imgH="228600" progId="Equation.DSMT4">
                  <p:embed/>
                </p:oleObj>
              </mc:Choice>
              <mc:Fallback>
                <p:oleObj name="" r:id="rId7" imgW="495300" imgH="228600" progId="Equation.DSMT4">
                  <p:embed/>
                  <p:pic>
                    <p:nvPicPr>
                      <p:cNvPr id="0" name="对象 168975"/>
                      <p:cNvPicPr>
                        <a:picLocks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076825" y="1989138"/>
                        <a:ext cx="1225550" cy="565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131081" name="对象 168974"/>
          <p:cNvGraphicFramePr/>
          <p:nvPr/>
        </p:nvGraphicFramePr>
        <p:xfrm>
          <a:off x="2484438" y="3440113"/>
          <a:ext cx="2262187" cy="1338263"/>
        </p:xfrm>
        <a:graphic>
          <a:graphicData uri="http://schemas.openxmlformats.org/presentationml/2006/ole">
            <mc:AlternateContent xmlns:mc="http://schemas.openxmlformats.org/markup-compatibility/2006">
              <mc:Choice xmlns:v="urn:schemas-microsoft-com:vml" Requires="v">
                <p:oleObj spid="_x0000_s53303" name="" r:id="rId9" imgW="964565" imgH="571500" progId="Equation.DSMT4">
                  <p:embed/>
                </p:oleObj>
              </mc:Choice>
              <mc:Fallback>
                <p:oleObj name="" r:id="rId9" imgW="964565" imgH="571500" progId="Equation.DSMT4">
                  <p:embed/>
                  <p:pic>
                    <p:nvPicPr>
                      <p:cNvPr id="0" name="对象 168974"/>
                      <p:cNvPicPr>
                        <a:picLocks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484438" y="3440113"/>
                        <a:ext cx="2262187" cy="1338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131082" name="对象 168973"/>
          <p:cNvGraphicFramePr/>
          <p:nvPr/>
        </p:nvGraphicFramePr>
        <p:xfrm>
          <a:off x="7174879" y="3716338"/>
          <a:ext cx="1411287" cy="1031875"/>
        </p:xfrm>
        <a:graphic>
          <a:graphicData uri="http://schemas.openxmlformats.org/presentationml/2006/ole">
            <mc:AlternateContent xmlns:mc="http://schemas.openxmlformats.org/markup-compatibility/2006">
              <mc:Choice xmlns:v="urn:schemas-microsoft-com:vml" Requires="v">
                <p:oleObj spid="_x0000_s53304" name="" r:id="rId11" imgW="622300" imgH="457200" progId="Equation.DSMT4">
                  <p:embed/>
                </p:oleObj>
              </mc:Choice>
              <mc:Fallback>
                <p:oleObj name="" r:id="rId11" imgW="622300" imgH="457200" progId="Equation.DSMT4">
                  <p:embed/>
                  <p:pic>
                    <p:nvPicPr>
                      <p:cNvPr id="0" name="对象 168973"/>
                      <p:cNvPicPr>
                        <a:picLocks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7174879" y="3716338"/>
                        <a:ext cx="1411287" cy="1031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131083" name="矩形 168977"/>
          <p:cNvSpPr>
            <a:spLocks noChangeArrowheads="1"/>
          </p:cNvSpPr>
          <p:nvPr/>
        </p:nvSpPr>
        <p:spPr bwMode="auto">
          <a:xfrm>
            <a:off x="0" y="299720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31084" name="矩形 168978"/>
          <p:cNvSpPr>
            <a:spLocks noChangeArrowheads="1"/>
          </p:cNvSpPr>
          <p:nvPr/>
        </p:nvSpPr>
        <p:spPr bwMode="auto">
          <a:xfrm>
            <a:off x="0" y="360045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31085" name="矩形 168979"/>
          <p:cNvSpPr>
            <a:spLocks noChangeArrowheads="1"/>
          </p:cNvSpPr>
          <p:nvPr/>
        </p:nvSpPr>
        <p:spPr bwMode="auto">
          <a:xfrm>
            <a:off x="971550" y="5013325"/>
            <a:ext cx="7449475"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2800" b="1" dirty="0">
                <a:ea typeface="黑体" panose="02010609060101010101" pitchFamily="49" charset="-122"/>
              </a:rPr>
              <a:t>对于实际气体（如水蒸气），根据</a:t>
            </a:r>
            <a:r>
              <a:rPr lang="en-US" altLang="zh-CN" sz="2800" b="1" i="1" dirty="0" err="1">
                <a:latin typeface="Times New Roman" panose="02020603050405020304" pitchFamily="18" charset="0"/>
                <a:ea typeface="黑体" panose="02010609060101010101" pitchFamily="49" charset="-122"/>
              </a:rPr>
              <a:t>p</a:t>
            </a:r>
            <a:r>
              <a:rPr lang="en-US" altLang="zh-CN" sz="2800" b="1" baseline="-25000" dirty="0" err="1">
                <a:latin typeface="Times New Roman" panose="02020603050405020304" pitchFamily="18" charset="0"/>
                <a:ea typeface="黑体" panose="02010609060101010101" pitchFamily="49" charset="-122"/>
              </a:rPr>
              <a:t>cr</a:t>
            </a:r>
            <a:r>
              <a:rPr lang="zh-CN" altLang="en-US" sz="2800" b="1" dirty="0">
                <a:latin typeface="Times New Roman" panose="02020603050405020304" pitchFamily="18" charset="0"/>
                <a:ea typeface="黑体" panose="02010609060101010101" pitchFamily="49" charset="-122"/>
              </a:rPr>
              <a:t>、</a:t>
            </a:r>
            <a:r>
              <a:rPr lang="en-US" altLang="zh-CN" sz="2800" b="1" i="1" dirty="0">
                <a:latin typeface="Times New Roman" panose="02020603050405020304" pitchFamily="18" charset="0"/>
                <a:ea typeface="黑体" panose="02010609060101010101" pitchFamily="49" charset="-122"/>
              </a:rPr>
              <a:t>p</a:t>
            </a:r>
            <a:r>
              <a:rPr lang="en-US" altLang="zh-CN" sz="2800" b="1" baseline="-25000" dirty="0">
                <a:latin typeface="Times New Roman" panose="02020603050405020304" pitchFamily="18" charset="0"/>
                <a:ea typeface="黑体" panose="02010609060101010101" pitchFamily="49" charset="-122"/>
              </a:rPr>
              <a:t>2</a:t>
            </a:r>
            <a:r>
              <a:rPr lang="zh-CN" altLang="en-US" sz="2800" b="1" dirty="0">
                <a:latin typeface="Times New Roman" panose="02020603050405020304" pitchFamily="18" charset="0"/>
                <a:ea typeface="黑体" panose="02010609060101010101" pitchFamily="49" charset="-122"/>
              </a:rPr>
              <a:t>以及</a:t>
            </a:r>
            <a:r>
              <a:rPr lang="zh-CN" altLang="en-US" sz="2800" b="1" dirty="0">
                <a:ea typeface="黑体" panose="02010609060101010101" pitchFamily="49" charset="-122"/>
              </a:rPr>
              <a:t> </a:t>
            </a:r>
            <a:endParaRPr lang="zh-CN" altLang="en-US" sz="2800" b="1" dirty="0">
              <a:ea typeface="黑体" panose="02010609060101010101" pitchFamily="49" charset="-122"/>
            </a:endParaRPr>
          </a:p>
        </p:txBody>
      </p:sp>
      <p:sp>
        <p:nvSpPr>
          <p:cNvPr id="131086" name="矩形 168981"/>
          <p:cNvSpPr>
            <a:spLocks noChangeArrowheads="1"/>
          </p:cNvSpPr>
          <p:nvPr/>
        </p:nvSpPr>
        <p:spPr bwMode="auto">
          <a:xfrm>
            <a:off x="0" y="331470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graphicFrame>
        <p:nvGraphicFramePr>
          <p:cNvPr id="131087" name="对象 168980"/>
          <p:cNvGraphicFramePr/>
          <p:nvPr/>
        </p:nvGraphicFramePr>
        <p:xfrm>
          <a:off x="1042988" y="5589588"/>
          <a:ext cx="1619250" cy="519112"/>
        </p:xfrm>
        <a:graphic>
          <a:graphicData uri="http://schemas.openxmlformats.org/presentationml/2006/ole">
            <mc:AlternateContent xmlns:mc="http://schemas.openxmlformats.org/markup-compatibility/2006">
              <mc:Choice xmlns:v="urn:schemas-microsoft-com:vml" Requires="v">
                <p:oleObj spid="_x0000_s53305" name="" r:id="rId13" imgW="711200" imgH="228600" progId="Equation.DSMT4">
                  <p:embed/>
                </p:oleObj>
              </mc:Choice>
              <mc:Fallback>
                <p:oleObj name="" r:id="rId13" imgW="711200" imgH="228600" progId="Equation.DSMT4">
                  <p:embed/>
                  <p:pic>
                    <p:nvPicPr>
                      <p:cNvPr id="0" name="对象 168980"/>
                      <p:cNvPicPr>
                        <a:picLocks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1042988" y="5589588"/>
                        <a:ext cx="16192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131088" name="矩形 168982"/>
          <p:cNvSpPr>
            <a:spLocks noChangeArrowheads="1"/>
          </p:cNvSpPr>
          <p:nvPr/>
        </p:nvSpPr>
        <p:spPr bwMode="auto">
          <a:xfrm>
            <a:off x="2627313" y="5591175"/>
            <a:ext cx="604837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sz="2800" b="1" dirty="0">
                <a:ea typeface="黑体" panose="02010609060101010101" pitchFamily="49" charset="-122"/>
              </a:rPr>
              <a:t>查热力性质图或表，确定</a:t>
            </a:r>
            <a:r>
              <a:rPr lang="en-US" altLang="zh-CN" sz="2800" b="1" i="1" dirty="0" err="1">
                <a:latin typeface="Times New Roman" panose="02020603050405020304" pitchFamily="18" charset="0"/>
                <a:ea typeface="黑体" panose="02010609060101010101" pitchFamily="49" charset="-122"/>
              </a:rPr>
              <a:t>h</a:t>
            </a:r>
            <a:r>
              <a:rPr lang="en-US" altLang="zh-CN" sz="2800" b="1" baseline="-25000" dirty="0" err="1">
                <a:latin typeface="Times New Roman" panose="02020603050405020304" pitchFamily="18" charset="0"/>
                <a:ea typeface="黑体" panose="02010609060101010101" pitchFamily="49" charset="-122"/>
              </a:rPr>
              <a:t>cr</a:t>
            </a:r>
            <a:r>
              <a:rPr lang="zh-CN" altLang="en-US" sz="2800" b="1" dirty="0">
                <a:latin typeface="Times New Roman" panose="02020603050405020304" pitchFamily="18" charset="0"/>
                <a:ea typeface="黑体" panose="02010609060101010101" pitchFamily="49" charset="-122"/>
              </a:rPr>
              <a:t>、</a:t>
            </a:r>
            <a:r>
              <a:rPr lang="en-US" altLang="zh-CN" sz="2800" b="1" i="1" dirty="0">
                <a:latin typeface="Times New Roman" panose="02020603050405020304" pitchFamily="18" charset="0"/>
                <a:ea typeface="黑体" panose="02010609060101010101" pitchFamily="49" charset="-122"/>
              </a:rPr>
              <a:t>h</a:t>
            </a:r>
            <a:r>
              <a:rPr lang="en-US" altLang="zh-CN" sz="2800" b="1" baseline="-25000" dirty="0">
                <a:latin typeface="Times New Roman" panose="02020603050405020304" pitchFamily="18" charset="0"/>
                <a:ea typeface="黑体" panose="02010609060101010101" pitchFamily="49" charset="-122"/>
              </a:rPr>
              <a:t>2</a:t>
            </a:r>
            <a:r>
              <a:rPr lang="zh-CN" altLang="en-US" sz="2800" b="1" dirty="0">
                <a:latin typeface="Times New Roman" panose="02020603050405020304" pitchFamily="18" charset="0"/>
                <a:ea typeface="黑体" panose="02010609060101010101" pitchFamily="49" charset="-122"/>
              </a:rPr>
              <a:t>以及</a:t>
            </a:r>
            <a:endParaRPr lang="zh-CN" altLang="en-US" sz="2800" b="1" baseline="-25000" dirty="0">
              <a:latin typeface="Times New Roman" panose="02020603050405020304" pitchFamily="18" charset="0"/>
              <a:ea typeface="黑体" panose="02010609060101010101" pitchFamily="49" charset="-122"/>
            </a:endParaRPr>
          </a:p>
        </p:txBody>
      </p:sp>
      <p:sp>
        <p:nvSpPr>
          <p:cNvPr id="131089" name="矩形 168984"/>
          <p:cNvSpPr>
            <a:spLocks noChangeArrowheads="1"/>
          </p:cNvSpPr>
          <p:nvPr/>
        </p:nvSpPr>
        <p:spPr bwMode="auto">
          <a:xfrm>
            <a:off x="1116013" y="6092825"/>
            <a:ext cx="1194558"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800" b="1" i="1" dirty="0" err="1">
                <a:latin typeface="Times New Roman" panose="02020603050405020304" pitchFamily="18" charset="0"/>
                <a:ea typeface="黑体" panose="02010609060101010101" pitchFamily="49" charset="-122"/>
              </a:rPr>
              <a:t>v</a:t>
            </a:r>
            <a:r>
              <a:rPr lang="en-US" altLang="zh-CN" sz="2800" b="1" baseline="-25000" dirty="0" err="1">
                <a:latin typeface="Times New Roman" panose="02020603050405020304" pitchFamily="18" charset="0"/>
                <a:ea typeface="黑体" panose="02010609060101010101" pitchFamily="49" charset="-122"/>
              </a:rPr>
              <a:t>cr</a:t>
            </a:r>
            <a:r>
              <a:rPr lang="zh-CN" altLang="en-US" sz="2800" b="1" dirty="0">
                <a:latin typeface="Times New Roman" panose="02020603050405020304" pitchFamily="18" charset="0"/>
                <a:ea typeface="黑体" panose="02010609060101010101" pitchFamily="49" charset="-122"/>
              </a:rPr>
              <a:t>、</a:t>
            </a:r>
            <a:r>
              <a:rPr lang="en-US" altLang="zh-CN" sz="2800" b="1" i="1" dirty="0">
                <a:latin typeface="Times New Roman" panose="02020603050405020304" pitchFamily="18" charset="0"/>
                <a:ea typeface="黑体" panose="02010609060101010101" pitchFamily="49" charset="-122"/>
              </a:rPr>
              <a:t>v</a:t>
            </a:r>
            <a:r>
              <a:rPr lang="en-US" altLang="zh-CN" sz="2800" b="1" baseline="-25000" dirty="0">
                <a:latin typeface="Times New Roman" panose="02020603050405020304" pitchFamily="18" charset="0"/>
                <a:ea typeface="黑体" panose="02010609060101010101" pitchFamily="49" charset="-122"/>
              </a:rPr>
              <a:t>2</a:t>
            </a:r>
            <a:endParaRPr lang="en-US" altLang="zh-CN" sz="2800" b="1" baseline="-25000" dirty="0">
              <a:latin typeface="Times New Roman" panose="02020603050405020304" pitchFamily="18" charset="0"/>
              <a:ea typeface="黑体" panose="02010609060101010101" pitchFamily="49" charset="-122"/>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097" name="矩形 169987"/>
          <p:cNvSpPr>
            <a:spLocks noChangeArrowheads="1"/>
          </p:cNvSpPr>
          <p:nvPr/>
        </p:nvSpPr>
        <p:spPr bwMode="auto">
          <a:xfrm>
            <a:off x="684213" y="473582"/>
            <a:ext cx="5593198"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r>
              <a:rPr lang="en-US" altLang="zh-CN" sz="3200" b="1" dirty="0">
                <a:ea typeface="黑体" panose="02010609060101010101" pitchFamily="49" charset="-122"/>
              </a:rPr>
              <a:t>④</a:t>
            </a:r>
            <a:r>
              <a:rPr lang="zh-CN" altLang="en-US" sz="3200" b="1" dirty="0">
                <a:ea typeface="黑体" panose="02010609060101010101" pitchFamily="49" charset="-122"/>
              </a:rPr>
              <a:t>求临界流速和出口截面流速</a:t>
            </a:r>
            <a:r>
              <a:rPr lang="zh-CN" altLang="en-US" b="1" dirty="0">
                <a:ea typeface="黑体" panose="02010609060101010101" pitchFamily="49" charset="-122"/>
              </a:rPr>
              <a:t> </a:t>
            </a:r>
            <a:endParaRPr lang="zh-CN" altLang="en-US" b="1" dirty="0">
              <a:ea typeface="黑体" panose="02010609060101010101" pitchFamily="49" charset="-122"/>
            </a:endParaRPr>
          </a:p>
        </p:txBody>
      </p:sp>
      <p:sp>
        <p:nvSpPr>
          <p:cNvPr id="132098" name="矩形 169989"/>
          <p:cNvSpPr>
            <a:spLocks noChangeArrowheads="1"/>
          </p:cNvSpPr>
          <p:nvPr/>
        </p:nvSpPr>
        <p:spPr bwMode="auto">
          <a:xfrm>
            <a:off x="0" y="319563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32099" name="矩形 169991"/>
          <p:cNvSpPr>
            <a:spLocks noChangeArrowheads="1"/>
          </p:cNvSpPr>
          <p:nvPr/>
        </p:nvSpPr>
        <p:spPr bwMode="auto">
          <a:xfrm>
            <a:off x="0" y="328136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graphicFrame>
        <p:nvGraphicFramePr>
          <p:cNvPr id="132100" name="对象 169990"/>
          <p:cNvGraphicFramePr/>
          <p:nvPr/>
        </p:nvGraphicFramePr>
        <p:xfrm>
          <a:off x="3059113" y="3429000"/>
          <a:ext cx="2592387" cy="633413"/>
        </p:xfrm>
        <a:graphic>
          <a:graphicData uri="http://schemas.openxmlformats.org/presentationml/2006/ole">
            <mc:AlternateContent xmlns:mc="http://schemas.openxmlformats.org/markup-compatibility/2006">
              <mc:Choice xmlns:v="urn:schemas-microsoft-com:vml" Requires="v">
                <p:oleObj spid="_x0000_s54302" name="" r:id="rId1" imgW="1206500" imgH="292100" progId="Equation.DSMT4">
                  <p:embed/>
                </p:oleObj>
              </mc:Choice>
              <mc:Fallback>
                <p:oleObj name="" r:id="rId1" imgW="1206500" imgH="292100" progId="Equation.DSMT4">
                  <p:embed/>
                  <p:pic>
                    <p:nvPicPr>
                      <p:cNvPr id="0" name="对象 169990"/>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59113" y="3429000"/>
                        <a:ext cx="2592387" cy="633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132101" name="矩形 169995"/>
          <p:cNvSpPr>
            <a:spLocks noChangeArrowheads="1"/>
          </p:cNvSpPr>
          <p:nvPr/>
        </p:nvSpPr>
        <p:spPr bwMode="auto">
          <a:xfrm>
            <a:off x="0" y="328136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graphicFrame>
        <p:nvGraphicFramePr>
          <p:cNvPr id="132102" name="对象 169994"/>
          <p:cNvGraphicFramePr/>
          <p:nvPr/>
        </p:nvGraphicFramePr>
        <p:xfrm>
          <a:off x="1476375" y="5229225"/>
          <a:ext cx="2663825" cy="687388"/>
        </p:xfrm>
        <a:graphic>
          <a:graphicData uri="http://schemas.openxmlformats.org/presentationml/2006/ole">
            <mc:AlternateContent xmlns:mc="http://schemas.openxmlformats.org/markup-compatibility/2006">
              <mc:Choice xmlns:v="urn:schemas-microsoft-com:vml" Requires="v">
                <p:oleObj spid="_x0000_s54303" name="" r:id="rId3" imgW="1143000" imgH="292100" progId="Equation.DSMT4">
                  <p:embed/>
                </p:oleObj>
              </mc:Choice>
              <mc:Fallback>
                <p:oleObj name="" r:id="rId3" imgW="1143000" imgH="292100" progId="Equation.DSMT4">
                  <p:embed/>
                  <p:pic>
                    <p:nvPicPr>
                      <p:cNvPr id="0" name="对象 169994"/>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476375" y="5229225"/>
                        <a:ext cx="2663825" cy="687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132103" name="矩形 169997"/>
          <p:cNvSpPr>
            <a:spLocks noChangeArrowheads="1"/>
          </p:cNvSpPr>
          <p:nvPr/>
        </p:nvSpPr>
        <p:spPr bwMode="auto">
          <a:xfrm>
            <a:off x="0" y="328136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graphicFrame>
        <p:nvGraphicFramePr>
          <p:cNvPr id="132104" name="对象 169996"/>
          <p:cNvGraphicFramePr/>
          <p:nvPr/>
        </p:nvGraphicFramePr>
        <p:xfrm>
          <a:off x="5219700" y="5157788"/>
          <a:ext cx="2447925" cy="676275"/>
        </p:xfrm>
        <a:graphic>
          <a:graphicData uri="http://schemas.openxmlformats.org/presentationml/2006/ole">
            <mc:AlternateContent xmlns:mc="http://schemas.openxmlformats.org/markup-compatibility/2006">
              <mc:Choice xmlns:v="urn:schemas-microsoft-com:vml" Requires="v">
                <p:oleObj spid="_x0000_s54304" name="" r:id="rId5" imgW="1066800" imgH="292100" progId="Equation.DSMT4">
                  <p:embed/>
                </p:oleObj>
              </mc:Choice>
              <mc:Fallback>
                <p:oleObj name="" r:id="rId5" imgW="1066800" imgH="292100" progId="Equation.DSMT4">
                  <p:embed/>
                  <p:pic>
                    <p:nvPicPr>
                      <p:cNvPr id="0" name="对象 169996"/>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219700" y="5157788"/>
                        <a:ext cx="2447925" cy="676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132105" name="矩形 169998"/>
          <p:cNvSpPr>
            <a:spLocks noChangeArrowheads="1"/>
          </p:cNvSpPr>
          <p:nvPr/>
        </p:nvSpPr>
        <p:spPr bwMode="auto">
          <a:xfrm>
            <a:off x="827088" y="1341438"/>
            <a:ext cx="3127375"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2800" b="1" dirty="0">
                <a:ea typeface="黑体" panose="02010609060101010101" pitchFamily="49" charset="-122"/>
              </a:rPr>
              <a:t>对于理想气体，有 </a:t>
            </a:r>
            <a:endParaRPr lang="zh-CN" altLang="en-US" sz="2800" b="1" dirty="0">
              <a:ea typeface="黑体" panose="02010609060101010101" pitchFamily="49" charset="-122"/>
            </a:endParaRPr>
          </a:p>
        </p:txBody>
      </p:sp>
      <p:sp>
        <p:nvSpPr>
          <p:cNvPr id="132106" name="矩形 170000"/>
          <p:cNvSpPr>
            <a:spLocks noChangeArrowheads="1"/>
          </p:cNvSpPr>
          <p:nvPr/>
        </p:nvSpPr>
        <p:spPr bwMode="auto">
          <a:xfrm>
            <a:off x="0" y="320516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graphicFrame>
        <p:nvGraphicFramePr>
          <p:cNvPr id="132107" name="对象 169999"/>
          <p:cNvGraphicFramePr/>
          <p:nvPr/>
        </p:nvGraphicFramePr>
        <p:xfrm>
          <a:off x="1403350" y="2276475"/>
          <a:ext cx="6588125" cy="806450"/>
        </p:xfrm>
        <a:graphic>
          <a:graphicData uri="http://schemas.openxmlformats.org/presentationml/2006/ole">
            <mc:AlternateContent xmlns:mc="http://schemas.openxmlformats.org/markup-compatibility/2006">
              <mc:Choice xmlns:v="urn:schemas-microsoft-com:vml" Requires="v">
                <p:oleObj spid="_x0000_s54305" name="" r:id="rId7" imgW="3657600" imgH="444500" progId="Equation.DSMT4">
                  <p:embed/>
                </p:oleObj>
              </mc:Choice>
              <mc:Fallback>
                <p:oleObj name="" r:id="rId7" imgW="3657600" imgH="444500" progId="Equation.DSMT4">
                  <p:embed/>
                  <p:pic>
                    <p:nvPicPr>
                      <p:cNvPr id="0" name="对象 169999"/>
                      <p:cNvPicPr>
                        <a:picLocks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403350" y="2276475"/>
                        <a:ext cx="6588125" cy="806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132108" name="矩形 170001"/>
          <p:cNvSpPr>
            <a:spLocks noChangeArrowheads="1"/>
          </p:cNvSpPr>
          <p:nvPr/>
        </p:nvSpPr>
        <p:spPr bwMode="auto">
          <a:xfrm>
            <a:off x="1042988" y="4365625"/>
            <a:ext cx="5315879"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2800" b="1" dirty="0">
                <a:ea typeface="黑体" panose="02010609060101010101" pitchFamily="49" charset="-122"/>
              </a:rPr>
              <a:t>对于实际气体（如水蒸气），有 </a:t>
            </a:r>
            <a:endParaRPr lang="zh-CN" altLang="en-US" sz="2800" b="1" dirty="0">
              <a:ea typeface="黑体" panose="02010609060101010101" pitchFamily="49" charset="-122"/>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21" name="矩形 171011"/>
          <p:cNvSpPr>
            <a:spLocks noChangeArrowheads="1"/>
          </p:cNvSpPr>
          <p:nvPr/>
        </p:nvSpPr>
        <p:spPr bwMode="auto">
          <a:xfrm>
            <a:off x="611188" y="260350"/>
            <a:ext cx="5173662"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r>
              <a:rPr lang="en-US" altLang="zh-CN" sz="3200" b="1" dirty="0">
                <a:ea typeface="黑体" panose="02010609060101010101" pitchFamily="49" charset="-122"/>
              </a:rPr>
              <a:t>⑤</a:t>
            </a:r>
            <a:r>
              <a:rPr lang="zh-CN" altLang="en-US" sz="3200" b="1" dirty="0">
                <a:ea typeface="黑体" panose="02010609060101010101" pitchFamily="49" charset="-122"/>
              </a:rPr>
              <a:t>求临界截面和出口截面积 </a:t>
            </a:r>
            <a:endParaRPr lang="zh-CN" altLang="en-US" sz="3200" b="1" dirty="0">
              <a:ea typeface="黑体" panose="02010609060101010101" pitchFamily="49" charset="-122"/>
            </a:endParaRPr>
          </a:p>
        </p:txBody>
      </p:sp>
      <p:sp>
        <p:nvSpPr>
          <p:cNvPr id="133122" name="矩形 171013"/>
          <p:cNvSpPr>
            <a:spLocks noChangeArrowheads="1"/>
          </p:cNvSpPr>
          <p:nvPr/>
        </p:nvSpPr>
        <p:spPr bwMode="auto">
          <a:xfrm>
            <a:off x="0" y="320516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graphicFrame>
        <p:nvGraphicFramePr>
          <p:cNvPr id="133123" name="对象 171012"/>
          <p:cNvGraphicFramePr/>
          <p:nvPr/>
        </p:nvGraphicFramePr>
        <p:xfrm>
          <a:off x="2122488" y="979488"/>
          <a:ext cx="1692275" cy="1089025"/>
        </p:xfrm>
        <a:graphic>
          <a:graphicData uri="http://schemas.openxmlformats.org/presentationml/2006/ole">
            <mc:AlternateContent xmlns:mc="http://schemas.openxmlformats.org/markup-compatibility/2006">
              <mc:Choice xmlns:v="urn:schemas-microsoft-com:vml" Requires="v">
                <p:oleObj spid="_x0000_s55315" name="" r:id="rId1" imgW="698500" imgH="444500" progId="Equation.DSMT4">
                  <p:embed/>
                </p:oleObj>
              </mc:Choice>
              <mc:Fallback>
                <p:oleObj name="" r:id="rId1" imgW="698500" imgH="444500" progId="Equation.DSMT4">
                  <p:embed/>
                  <p:pic>
                    <p:nvPicPr>
                      <p:cNvPr id="0" name="对象 171012"/>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22488" y="979488"/>
                        <a:ext cx="1692275" cy="1089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133124" name="矩形 171015"/>
          <p:cNvSpPr>
            <a:spLocks noChangeArrowheads="1"/>
          </p:cNvSpPr>
          <p:nvPr/>
        </p:nvSpPr>
        <p:spPr bwMode="auto">
          <a:xfrm>
            <a:off x="0" y="321468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graphicFrame>
        <p:nvGraphicFramePr>
          <p:cNvPr id="133125" name="对象 171014"/>
          <p:cNvGraphicFramePr/>
          <p:nvPr/>
        </p:nvGraphicFramePr>
        <p:xfrm>
          <a:off x="5003800" y="908050"/>
          <a:ext cx="1692275" cy="1119188"/>
        </p:xfrm>
        <a:graphic>
          <a:graphicData uri="http://schemas.openxmlformats.org/presentationml/2006/ole">
            <mc:AlternateContent xmlns:mc="http://schemas.openxmlformats.org/markup-compatibility/2006">
              <mc:Choice xmlns:v="urn:schemas-microsoft-com:vml" Requires="v">
                <p:oleObj spid="_x0000_s55316" name="" r:id="rId3" imgW="647700" imgH="431800" progId="Equation.DSMT4">
                  <p:embed/>
                </p:oleObj>
              </mc:Choice>
              <mc:Fallback>
                <p:oleObj name="" r:id="rId3" imgW="647700" imgH="431800" progId="Equation.DSMT4">
                  <p:embed/>
                  <p:pic>
                    <p:nvPicPr>
                      <p:cNvPr id="0" name="对象 171014"/>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003800" y="908050"/>
                        <a:ext cx="1692275" cy="1119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133126" name="矩形 171016"/>
          <p:cNvSpPr>
            <a:spLocks noChangeArrowheads="1"/>
          </p:cNvSpPr>
          <p:nvPr/>
        </p:nvSpPr>
        <p:spPr bwMode="auto">
          <a:xfrm>
            <a:off x="539750" y="2133600"/>
            <a:ext cx="8135938" cy="2654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r>
              <a:rPr lang="zh-CN" altLang="en-US" sz="2800" b="1" dirty="0">
                <a:ea typeface="黑体" panose="02010609060101010101" pitchFamily="49" charset="-122"/>
              </a:rPr>
              <a:t>以上公式只是确定了流道必须的截面面积，并未涉及流道截面的具体形状。</a:t>
            </a:r>
            <a:endParaRPr lang="zh-CN" altLang="en-US" sz="2800" b="1" dirty="0">
              <a:ea typeface="黑体" panose="02010609060101010101" pitchFamily="49" charset="-122"/>
            </a:endParaRPr>
          </a:p>
          <a:p>
            <a:r>
              <a:rPr lang="zh-CN" altLang="en-US" sz="2800" b="1" dirty="0">
                <a:ea typeface="黑体" panose="02010609060101010101" pitchFamily="49" charset="-122"/>
              </a:rPr>
              <a:t>事实上，流道截面可以是圆台形，也可以是方形或是其它形状。只要保证流道截面面积变化的规律（渐缩、渐扩或缩放）和必需的流道尺寸，并使流道尽量光滑以减小摩擦阻力即可。 </a:t>
            </a:r>
            <a:endParaRPr lang="zh-CN" altLang="en-US" sz="2800" b="1" dirty="0">
              <a:ea typeface="黑体" panose="02010609060101010101" pitchFamily="49" charset="-122"/>
            </a:endParaRPr>
          </a:p>
        </p:txBody>
      </p:sp>
      <p:sp>
        <p:nvSpPr>
          <p:cNvPr id="133127" name="矩形 171018"/>
          <p:cNvSpPr>
            <a:spLocks noChangeArrowheads="1"/>
          </p:cNvSpPr>
          <p:nvPr/>
        </p:nvSpPr>
        <p:spPr bwMode="auto">
          <a:xfrm>
            <a:off x="0" y="271938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33128" name="矩形 171022"/>
          <p:cNvSpPr>
            <a:spLocks noChangeArrowheads="1"/>
          </p:cNvSpPr>
          <p:nvPr/>
        </p:nvSpPr>
        <p:spPr bwMode="auto">
          <a:xfrm>
            <a:off x="0" y="246221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33129" name="矩形 171024"/>
          <p:cNvSpPr>
            <a:spLocks noChangeArrowheads="1"/>
          </p:cNvSpPr>
          <p:nvPr/>
        </p:nvSpPr>
        <p:spPr bwMode="auto">
          <a:xfrm>
            <a:off x="0" y="2447925"/>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pic>
        <p:nvPicPr>
          <p:cNvPr id="2" name="图片 1"/>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794466" y="4403972"/>
            <a:ext cx="4901609" cy="2341067"/>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4145" name="矩形 172035"/>
          <p:cNvSpPr>
            <a:spLocks noChangeArrowheads="1"/>
          </p:cNvSpPr>
          <p:nvPr/>
        </p:nvSpPr>
        <p:spPr bwMode="auto">
          <a:xfrm>
            <a:off x="539750" y="465961"/>
            <a:ext cx="8135938" cy="20621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r>
              <a:rPr lang="zh-CN" altLang="en-US" sz="3200" b="1" dirty="0">
                <a:ea typeface="黑体" panose="02010609060101010101" pitchFamily="49" charset="-122"/>
              </a:rPr>
              <a:t>对于渐缩喷管，以上步骤</a:t>
            </a:r>
            <a:r>
              <a:rPr lang="en-US" altLang="zh-CN" sz="3200" b="1" dirty="0">
                <a:ea typeface="黑体" panose="02010609060101010101" pitchFamily="49" charset="-122"/>
              </a:rPr>
              <a:t>③~⑤</a:t>
            </a:r>
            <a:r>
              <a:rPr lang="zh-CN" altLang="en-US" sz="3200" b="1" dirty="0">
                <a:ea typeface="黑体" panose="02010609060101010101" pitchFamily="49" charset="-122"/>
              </a:rPr>
              <a:t>中只需要计算出口截面上的参数即可。对于缩放喷管，除上述计算外，往往还需要求解渐扩段的长度 </a:t>
            </a:r>
            <a:endParaRPr lang="zh-CN" altLang="en-US" sz="3200" b="1" dirty="0">
              <a:ea typeface="黑体" panose="02010609060101010101" pitchFamily="49" charset="-122"/>
            </a:endParaRPr>
          </a:p>
        </p:txBody>
      </p:sp>
      <p:sp>
        <p:nvSpPr>
          <p:cNvPr id="134146" name="矩形 172037"/>
          <p:cNvSpPr>
            <a:spLocks noChangeArrowheads="1"/>
          </p:cNvSpPr>
          <p:nvPr/>
        </p:nvSpPr>
        <p:spPr bwMode="auto">
          <a:xfrm>
            <a:off x="0" y="320516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graphicFrame>
        <p:nvGraphicFramePr>
          <p:cNvPr id="134147" name="对象 172036"/>
          <p:cNvGraphicFramePr/>
          <p:nvPr/>
        </p:nvGraphicFramePr>
        <p:xfrm>
          <a:off x="3203575" y="2492375"/>
          <a:ext cx="2160588" cy="1016000"/>
        </p:xfrm>
        <a:graphic>
          <a:graphicData uri="http://schemas.openxmlformats.org/presentationml/2006/ole">
            <mc:AlternateContent xmlns:mc="http://schemas.openxmlformats.org/markup-compatibility/2006">
              <mc:Choice xmlns:v="urn:schemas-microsoft-com:vml" Requires="v">
                <p:oleObj spid="_x0000_s56332" name="" r:id="rId1" imgW="951865" imgH="444500" progId="Equation.DSMT4">
                  <p:embed/>
                </p:oleObj>
              </mc:Choice>
              <mc:Fallback>
                <p:oleObj name="" r:id="rId1" imgW="951865" imgH="444500" progId="Equation.DSMT4">
                  <p:embed/>
                  <p:pic>
                    <p:nvPicPr>
                      <p:cNvPr id="0" name="对象 172036"/>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03575" y="2492375"/>
                        <a:ext cx="2160588" cy="101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134148" name="矩形 172039"/>
          <p:cNvSpPr>
            <a:spLocks noChangeArrowheads="1"/>
          </p:cNvSpPr>
          <p:nvPr/>
        </p:nvSpPr>
        <p:spPr bwMode="auto">
          <a:xfrm>
            <a:off x="0" y="2409825"/>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34149" name="矩形 172041"/>
          <p:cNvSpPr>
            <a:spLocks noChangeArrowheads="1"/>
          </p:cNvSpPr>
          <p:nvPr/>
        </p:nvSpPr>
        <p:spPr bwMode="auto">
          <a:xfrm>
            <a:off x="0" y="2409825"/>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pic>
        <p:nvPicPr>
          <p:cNvPr id="3" name="图片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241951" y="3667033"/>
            <a:ext cx="4249280" cy="2505673"/>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169" name="文本占位符 173058"/>
          <p:cNvSpPr>
            <a:spLocks noGrp="1" noChangeArrowheads="1"/>
          </p:cNvSpPr>
          <p:nvPr>
            <p:ph idx="1"/>
          </p:nvPr>
        </p:nvSpPr>
        <p:spPr>
          <a:xfrm>
            <a:off x="539750" y="2492374"/>
            <a:ext cx="7991475" cy="2072999"/>
          </a:xfrm>
        </p:spPr>
        <p:txBody>
          <a:bodyPr>
            <a:noAutofit/>
          </a:bodyPr>
          <a:lstStyle/>
          <a:p>
            <a:pPr>
              <a:lnSpc>
                <a:spcPct val="120000"/>
              </a:lnSpc>
            </a:pPr>
            <a:r>
              <a:rPr lang="zh-CN" altLang="en-US" sz="3200" b="1" dirty="0" smtClean="0">
                <a:solidFill>
                  <a:srgbClr val="FF0000"/>
                </a:solidFill>
                <a:latin typeface="黑体" panose="02010609060101010101" pitchFamily="49" charset="-122"/>
                <a:ea typeface="黑体" panose="02010609060101010101" pitchFamily="49" charset="-122"/>
              </a:rPr>
              <a:t>已知</a:t>
            </a:r>
            <a:r>
              <a:rPr lang="zh-CN" altLang="en-US" sz="3200" b="1" dirty="0" smtClean="0">
                <a:latin typeface="黑体" panose="02010609060101010101" pitchFamily="49" charset="-122"/>
                <a:ea typeface="黑体" panose="02010609060101010101" pitchFamily="49" charset="-122"/>
              </a:rPr>
              <a:t>：</a:t>
            </a:r>
            <a:r>
              <a:rPr lang="zh-CN" altLang="zh-CN" sz="3200" b="1" dirty="0" smtClean="0">
                <a:ea typeface="黑体" panose="02010609060101010101" pitchFamily="49" charset="-122"/>
              </a:rPr>
              <a:t>喷管的形状和尺寸，以及不同的工作条件（即初参数和背压）</a:t>
            </a:r>
            <a:endParaRPr lang="zh-CN" altLang="en-US" sz="3200" b="1" dirty="0" smtClean="0">
              <a:ea typeface="黑体" panose="02010609060101010101" pitchFamily="49" charset="-122"/>
            </a:endParaRPr>
          </a:p>
          <a:p>
            <a:pPr>
              <a:lnSpc>
                <a:spcPct val="110000"/>
              </a:lnSpc>
            </a:pPr>
            <a:r>
              <a:rPr lang="zh-CN" altLang="en-US" sz="3200" b="1" dirty="0" smtClean="0">
                <a:solidFill>
                  <a:srgbClr val="FF0000"/>
                </a:solidFill>
                <a:ea typeface="黑体" panose="02010609060101010101" pitchFamily="49" charset="-122"/>
              </a:rPr>
              <a:t>任务</a:t>
            </a:r>
            <a:r>
              <a:rPr lang="zh-CN" altLang="en-US" sz="3200" b="1" dirty="0" smtClean="0">
                <a:ea typeface="黑体" panose="02010609060101010101" pitchFamily="49" charset="-122"/>
              </a:rPr>
              <a:t>：确定出口流速和通过喷管的流量</a:t>
            </a:r>
            <a:endParaRPr lang="zh-CN" altLang="en-US" sz="3200" b="1" dirty="0" smtClean="0">
              <a:latin typeface="黑体" panose="02010609060101010101" pitchFamily="49" charset="-122"/>
              <a:ea typeface="黑体" panose="02010609060101010101" pitchFamily="49" charset="-122"/>
            </a:endParaRPr>
          </a:p>
          <a:p>
            <a:pPr>
              <a:lnSpc>
                <a:spcPct val="110000"/>
              </a:lnSpc>
              <a:buFontTx/>
              <a:buNone/>
            </a:pPr>
            <a:r>
              <a:rPr lang="zh-CN" altLang="en-US" sz="2800" b="1" dirty="0" smtClean="0">
                <a:latin typeface="黑体" panose="02010609060101010101" pitchFamily="49" charset="-122"/>
                <a:ea typeface="黑体" panose="02010609060101010101" pitchFamily="49" charset="-122"/>
              </a:rPr>
              <a:t>               </a:t>
            </a:r>
            <a:endParaRPr lang="zh-CN" altLang="en-US" sz="2800" b="1" dirty="0" smtClean="0">
              <a:latin typeface="黑体" panose="02010609060101010101" pitchFamily="49" charset="-122"/>
              <a:ea typeface="黑体" panose="02010609060101010101" pitchFamily="49" charset="-122"/>
            </a:endParaRPr>
          </a:p>
        </p:txBody>
      </p:sp>
      <p:sp>
        <p:nvSpPr>
          <p:cNvPr id="135170" name="标题 173061"/>
          <p:cNvSpPr>
            <a:spLocks noGrp="1" noChangeArrowheads="1"/>
          </p:cNvSpPr>
          <p:nvPr>
            <p:ph type="title"/>
          </p:nvPr>
        </p:nvSpPr>
        <p:spPr/>
        <p:txBody>
          <a:bodyPr/>
          <a:lstStyle/>
          <a:p>
            <a:pPr algn="l"/>
            <a:r>
              <a:rPr lang="zh-CN" altLang="en-US" sz="4000" b="1" smtClean="0">
                <a:ea typeface="黑体" panose="02010609060101010101" pitchFamily="49" charset="-122"/>
              </a:rPr>
              <a:t>二、喷管的校核计算</a:t>
            </a:r>
            <a:endParaRPr lang="zh-CN" altLang="en-US" sz="4000" b="1" smtClean="0">
              <a:ea typeface="黑体" panose="02010609060101010101" pitchFamily="49" charset="-122"/>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6193" name="标题 174081"/>
          <p:cNvSpPr>
            <a:spLocks noGrp="1" noChangeArrowheads="1"/>
          </p:cNvSpPr>
          <p:nvPr>
            <p:ph type="title" idx="4294967295"/>
          </p:nvPr>
        </p:nvSpPr>
        <p:spPr>
          <a:xfrm>
            <a:off x="457200" y="505515"/>
            <a:ext cx="8229600" cy="1143000"/>
          </a:xfrm>
        </p:spPr>
        <p:txBody>
          <a:bodyPr/>
          <a:lstStyle/>
          <a:p>
            <a:r>
              <a:rPr lang="zh-CN" altLang="en-US" sz="3600" b="1" dirty="0" smtClean="0">
                <a:ea typeface="黑体" panose="02010609060101010101" pitchFamily="49" charset="-122"/>
              </a:rPr>
              <a:t>校核计算求解步骤</a:t>
            </a:r>
            <a:br>
              <a:rPr lang="zh-CN" altLang="en-US" sz="3600" b="1" dirty="0" smtClean="0">
                <a:ea typeface="黑体" panose="02010609060101010101" pitchFamily="49" charset="-122"/>
              </a:rPr>
            </a:br>
            <a:endParaRPr lang="zh-CN" altLang="en-US" sz="4000" dirty="0" smtClean="0"/>
          </a:p>
        </p:txBody>
      </p:sp>
      <p:sp>
        <p:nvSpPr>
          <p:cNvPr id="136194" name="文本占位符 174082"/>
          <p:cNvSpPr>
            <a:spLocks noGrp="1" noChangeArrowheads="1"/>
          </p:cNvSpPr>
          <p:nvPr>
            <p:ph type="body" idx="4294967295"/>
          </p:nvPr>
        </p:nvSpPr>
        <p:spPr>
          <a:xfrm>
            <a:off x="539750" y="1557338"/>
            <a:ext cx="8229600" cy="719137"/>
          </a:xfrm>
        </p:spPr>
        <p:txBody>
          <a:bodyPr>
            <a:normAutofit/>
          </a:bodyPr>
          <a:lstStyle/>
          <a:p>
            <a:pPr>
              <a:buFontTx/>
              <a:buNone/>
            </a:pPr>
            <a:r>
              <a:rPr lang="en-US" altLang="zh-CN" sz="3200" b="1" dirty="0" smtClean="0">
                <a:ea typeface="黑体" panose="02010609060101010101" pitchFamily="49" charset="-122"/>
              </a:rPr>
              <a:t>①</a:t>
            </a:r>
            <a:r>
              <a:rPr lang="zh-CN" altLang="en-US" sz="3200" b="1" dirty="0" smtClean="0">
                <a:ea typeface="黑体" panose="02010609060101010101" pitchFamily="49" charset="-122"/>
              </a:rPr>
              <a:t>求滞止参数（同设计计算）</a:t>
            </a:r>
            <a:endParaRPr lang="zh-CN" altLang="en-US" sz="3200" b="1" dirty="0" smtClean="0">
              <a:ea typeface="黑体" panose="02010609060101010101" pitchFamily="49" charset="-122"/>
            </a:endParaRPr>
          </a:p>
        </p:txBody>
      </p:sp>
      <p:sp>
        <p:nvSpPr>
          <p:cNvPr id="136195" name="矩形 174083"/>
          <p:cNvSpPr>
            <a:spLocks noChangeArrowheads="1"/>
          </p:cNvSpPr>
          <p:nvPr/>
        </p:nvSpPr>
        <p:spPr bwMode="auto">
          <a:xfrm>
            <a:off x="0" y="319563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36196" name="矩形 174085"/>
          <p:cNvSpPr>
            <a:spLocks noChangeArrowheads="1"/>
          </p:cNvSpPr>
          <p:nvPr/>
        </p:nvSpPr>
        <p:spPr bwMode="auto">
          <a:xfrm>
            <a:off x="0" y="314325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36197" name="矩形 174087"/>
          <p:cNvSpPr>
            <a:spLocks noChangeArrowheads="1"/>
          </p:cNvSpPr>
          <p:nvPr/>
        </p:nvSpPr>
        <p:spPr bwMode="auto">
          <a:xfrm>
            <a:off x="0" y="314325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7217" name="矩形 175107"/>
          <p:cNvSpPr>
            <a:spLocks noChangeArrowheads="1"/>
          </p:cNvSpPr>
          <p:nvPr/>
        </p:nvSpPr>
        <p:spPr bwMode="auto">
          <a:xfrm>
            <a:off x="468313" y="476250"/>
            <a:ext cx="8229600" cy="1295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609600" indent="-609600">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spcBef>
                <a:spcPct val="20000"/>
              </a:spcBef>
              <a:buFontTx/>
              <a:buAutoNum type="circleNumDbPlain" startAt="2"/>
            </a:pPr>
            <a:r>
              <a:rPr lang="zh-CN" altLang="en-US" sz="3200" b="1" dirty="0">
                <a:ea typeface="黑体" panose="02010609060101010101" pitchFamily="49" charset="-122"/>
              </a:rPr>
              <a:t>确定喷管出口截面上的压力（这是与设计计算不同的一步 ） </a:t>
            </a:r>
            <a:endParaRPr lang="zh-CN" altLang="en-US" sz="3200" b="1" dirty="0">
              <a:ea typeface="黑体" panose="02010609060101010101" pitchFamily="49" charset="-122"/>
            </a:endParaRPr>
          </a:p>
        </p:txBody>
      </p:sp>
      <p:sp>
        <p:nvSpPr>
          <p:cNvPr id="137218" name="矩形 175108"/>
          <p:cNvSpPr>
            <a:spLocks noChangeArrowheads="1"/>
          </p:cNvSpPr>
          <p:nvPr/>
        </p:nvSpPr>
        <p:spPr bwMode="auto">
          <a:xfrm>
            <a:off x="612775" y="2492375"/>
            <a:ext cx="3141663"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r>
              <a:rPr lang="zh-CN" altLang="en-US" sz="3200" b="1" dirty="0">
                <a:ea typeface="黑体" panose="02010609060101010101" pitchFamily="49" charset="-122"/>
              </a:rPr>
              <a:t>对于渐缩喷管： </a:t>
            </a:r>
            <a:endParaRPr lang="zh-CN" altLang="en-US" sz="3200" b="1" dirty="0">
              <a:ea typeface="黑体" panose="02010609060101010101" pitchFamily="49" charset="-122"/>
            </a:endParaRPr>
          </a:p>
        </p:txBody>
      </p:sp>
      <p:sp>
        <p:nvSpPr>
          <p:cNvPr id="137219" name="矩形 175109"/>
          <p:cNvSpPr>
            <a:spLocks noChangeArrowheads="1"/>
          </p:cNvSpPr>
          <p:nvPr/>
        </p:nvSpPr>
        <p:spPr bwMode="auto">
          <a:xfrm>
            <a:off x="684213" y="3355975"/>
            <a:ext cx="703262"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r>
              <a:rPr lang="zh-CN" altLang="en-US" sz="3200" b="1" dirty="0">
                <a:ea typeface="黑体" panose="02010609060101010101" pitchFamily="49" charset="-122"/>
              </a:rPr>
              <a:t>若 </a:t>
            </a:r>
            <a:endParaRPr lang="zh-CN" altLang="en-US" sz="3200" b="1" dirty="0">
              <a:ea typeface="黑体" panose="02010609060101010101" pitchFamily="49" charset="-122"/>
            </a:endParaRPr>
          </a:p>
        </p:txBody>
      </p:sp>
      <p:sp>
        <p:nvSpPr>
          <p:cNvPr id="137220" name="矩形 175110"/>
          <p:cNvSpPr>
            <a:spLocks noChangeArrowheads="1"/>
          </p:cNvSpPr>
          <p:nvPr/>
        </p:nvSpPr>
        <p:spPr bwMode="auto">
          <a:xfrm>
            <a:off x="2844800" y="3350132"/>
            <a:ext cx="596638"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r>
              <a:rPr lang="zh-CN" altLang="en-US" sz="3200" b="1" dirty="0">
                <a:ea typeface="黑体" panose="02010609060101010101" pitchFamily="49" charset="-122"/>
              </a:rPr>
              <a:t>即</a:t>
            </a:r>
            <a:endParaRPr lang="zh-CN" altLang="en-US" sz="3200" b="1" dirty="0">
              <a:ea typeface="黑体" panose="02010609060101010101" pitchFamily="49" charset="-122"/>
            </a:endParaRPr>
          </a:p>
        </p:txBody>
      </p:sp>
      <p:sp>
        <p:nvSpPr>
          <p:cNvPr id="137221" name="矩形 175111"/>
          <p:cNvSpPr>
            <a:spLocks noChangeArrowheads="1"/>
          </p:cNvSpPr>
          <p:nvPr/>
        </p:nvSpPr>
        <p:spPr bwMode="auto">
          <a:xfrm>
            <a:off x="5221288" y="3355975"/>
            <a:ext cx="703262"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r>
              <a:rPr lang="zh-CN" altLang="en-US" sz="3200" b="1" dirty="0">
                <a:ea typeface="黑体" panose="02010609060101010101" pitchFamily="49" charset="-122"/>
              </a:rPr>
              <a:t>则</a:t>
            </a:r>
            <a:r>
              <a:rPr lang="zh-CN" altLang="en-US" sz="3200" dirty="0">
                <a:ea typeface="黑体" panose="02010609060101010101" pitchFamily="49" charset="-122"/>
              </a:rPr>
              <a:t> </a:t>
            </a:r>
            <a:endParaRPr lang="zh-CN" altLang="en-US" sz="3200" dirty="0">
              <a:ea typeface="黑体" panose="02010609060101010101" pitchFamily="49" charset="-122"/>
            </a:endParaRPr>
          </a:p>
        </p:txBody>
      </p:sp>
      <p:sp>
        <p:nvSpPr>
          <p:cNvPr id="137222" name="矩形 175113"/>
          <p:cNvSpPr>
            <a:spLocks noChangeArrowheads="1"/>
          </p:cNvSpPr>
          <p:nvPr/>
        </p:nvSpPr>
        <p:spPr bwMode="auto">
          <a:xfrm>
            <a:off x="0" y="2854325"/>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graphicFrame>
        <p:nvGraphicFramePr>
          <p:cNvPr id="137223" name="对象 175112"/>
          <p:cNvGraphicFramePr/>
          <p:nvPr/>
        </p:nvGraphicFramePr>
        <p:xfrm>
          <a:off x="1404938" y="3160713"/>
          <a:ext cx="1295400" cy="1060450"/>
        </p:xfrm>
        <a:graphic>
          <a:graphicData uri="http://schemas.openxmlformats.org/presentationml/2006/ole">
            <mc:AlternateContent xmlns:mc="http://schemas.openxmlformats.org/markup-compatibility/2006">
              <mc:Choice xmlns:v="urn:schemas-microsoft-com:vml" Requires="v">
                <p:oleObj spid="_x0000_s57388" name="" r:id="rId1" imgW="520700" imgH="431800" progId="Equation.DSMT4">
                  <p:embed/>
                </p:oleObj>
              </mc:Choice>
              <mc:Fallback>
                <p:oleObj name="" r:id="rId1" imgW="520700" imgH="431800" progId="Equation.DSMT4">
                  <p:embed/>
                  <p:pic>
                    <p:nvPicPr>
                      <p:cNvPr id="0" name="对象 175112"/>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04938" y="3160713"/>
                        <a:ext cx="1295400" cy="1060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137224" name="矩形 175115"/>
          <p:cNvSpPr>
            <a:spLocks noChangeArrowheads="1"/>
          </p:cNvSpPr>
          <p:nvPr/>
        </p:nvSpPr>
        <p:spPr bwMode="auto">
          <a:xfrm>
            <a:off x="0" y="295433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graphicFrame>
        <p:nvGraphicFramePr>
          <p:cNvPr id="137225" name="对象 175114"/>
          <p:cNvGraphicFramePr/>
          <p:nvPr/>
        </p:nvGraphicFramePr>
        <p:xfrm>
          <a:off x="3779838" y="3355975"/>
          <a:ext cx="1258887" cy="549275"/>
        </p:xfrm>
        <a:graphic>
          <a:graphicData uri="http://schemas.openxmlformats.org/presentationml/2006/ole">
            <mc:AlternateContent xmlns:mc="http://schemas.openxmlformats.org/markup-compatibility/2006">
              <mc:Choice xmlns:v="urn:schemas-microsoft-com:vml" Requires="v">
                <p:oleObj spid="_x0000_s57389" name="" r:id="rId3" imgW="520700" imgH="228600" progId="Equation.DSMT4">
                  <p:embed/>
                </p:oleObj>
              </mc:Choice>
              <mc:Fallback>
                <p:oleObj name="" r:id="rId3" imgW="520700" imgH="228600" progId="Equation.DSMT4">
                  <p:embed/>
                  <p:pic>
                    <p:nvPicPr>
                      <p:cNvPr id="0" name="对象 175114"/>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779838" y="3355975"/>
                        <a:ext cx="1258887" cy="549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137226" name="矩形 175117"/>
          <p:cNvSpPr>
            <a:spLocks noChangeArrowheads="1"/>
          </p:cNvSpPr>
          <p:nvPr/>
        </p:nvSpPr>
        <p:spPr bwMode="auto">
          <a:xfrm>
            <a:off x="0" y="295433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graphicFrame>
        <p:nvGraphicFramePr>
          <p:cNvPr id="137227" name="对象 175116"/>
          <p:cNvGraphicFramePr/>
          <p:nvPr/>
        </p:nvGraphicFramePr>
        <p:xfrm>
          <a:off x="5868988" y="3355975"/>
          <a:ext cx="1295400" cy="596900"/>
        </p:xfrm>
        <a:graphic>
          <a:graphicData uri="http://schemas.openxmlformats.org/presentationml/2006/ole">
            <mc:AlternateContent xmlns:mc="http://schemas.openxmlformats.org/markup-compatibility/2006">
              <mc:Choice xmlns:v="urn:schemas-microsoft-com:vml" Requires="v">
                <p:oleObj spid="_x0000_s57390" name="" r:id="rId5" imgW="495300" imgH="228600" progId="Equation.DSMT4">
                  <p:embed/>
                </p:oleObj>
              </mc:Choice>
              <mc:Fallback>
                <p:oleObj name="" r:id="rId5" imgW="495300" imgH="228600" progId="Equation.DSMT4">
                  <p:embed/>
                  <p:pic>
                    <p:nvPicPr>
                      <p:cNvPr id="0" name="对象 175116"/>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868988" y="3355975"/>
                        <a:ext cx="1295400" cy="596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137228" name="矩形 175118"/>
          <p:cNvSpPr>
            <a:spLocks noChangeArrowheads="1"/>
          </p:cNvSpPr>
          <p:nvPr/>
        </p:nvSpPr>
        <p:spPr bwMode="auto">
          <a:xfrm>
            <a:off x="684213" y="4292600"/>
            <a:ext cx="703262"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r>
              <a:rPr lang="zh-CN" altLang="en-US" sz="3200" b="1" dirty="0">
                <a:ea typeface="黑体" panose="02010609060101010101" pitchFamily="49" charset="-122"/>
              </a:rPr>
              <a:t>若</a:t>
            </a:r>
            <a:r>
              <a:rPr lang="zh-CN" altLang="en-US" sz="3200" dirty="0">
                <a:ea typeface="黑体" panose="02010609060101010101" pitchFamily="49" charset="-122"/>
              </a:rPr>
              <a:t> </a:t>
            </a:r>
            <a:endParaRPr lang="zh-CN" altLang="en-US" sz="3200" dirty="0">
              <a:ea typeface="黑体" panose="02010609060101010101" pitchFamily="49" charset="-122"/>
            </a:endParaRPr>
          </a:p>
        </p:txBody>
      </p:sp>
      <p:sp>
        <p:nvSpPr>
          <p:cNvPr id="137229" name="矩形 175119"/>
          <p:cNvSpPr>
            <a:spLocks noChangeArrowheads="1"/>
          </p:cNvSpPr>
          <p:nvPr/>
        </p:nvSpPr>
        <p:spPr bwMode="auto">
          <a:xfrm>
            <a:off x="2844800" y="4286757"/>
            <a:ext cx="596638"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r>
              <a:rPr lang="zh-CN" altLang="en-US" sz="3200" b="1" dirty="0">
                <a:ea typeface="黑体" panose="02010609060101010101" pitchFamily="49" charset="-122"/>
              </a:rPr>
              <a:t>即</a:t>
            </a:r>
            <a:endParaRPr lang="zh-CN" altLang="en-US" sz="3200" b="1" dirty="0">
              <a:ea typeface="黑体" panose="02010609060101010101" pitchFamily="49" charset="-122"/>
            </a:endParaRPr>
          </a:p>
        </p:txBody>
      </p:sp>
      <p:sp>
        <p:nvSpPr>
          <p:cNvPr id="137230" name="矩形 175120"/>
          <p:cNvSpPr>
            <a:spLocks noChangeArrowheads="1"/>
          </p:cNvSpPr>
          <p:nvPr/>
        </p:nvSpPr>
        <p:spPr bwMode="auto">
          <a:xfrm>
            <a:off x="5221288" y="4292600"/>
            <a:ext cx="703262"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r>
              <a:rPr lang="zh-CN" altLang="en-US" sz="3200" b="1" dirty="0">
                <a:ea typeface="黑体" panose="02010609060101010101" pitchFamily="49" charset="-122"/>
              </a:rPr>
              <a:t>则</a:t>
            </a:r>
            <a:r>
              <a:rPr lang="zh-CN" altLang="en-US" sz="3200" dirty="0">
                <a:ea typeface="黑体" panose="02010609060101010101" pitchFamily="49" charset="-122"/>
              </a:rPr>
              <a:t> </a:t>
            </a:r>
            <a:endParaRPr lang="zh-CN" altLang="en-US" sz="3200" dirty="0">
              <a:ea typeface="黑体" panose="02010609060101010101" pitchFamily="49" charset="-122"/>
            </a:endParaRPr>
          </a:p>
        </p:txBody>
      </p:sp>
      <p:graphicFrame>
        <p:nvGraphicFramePr>
          <p:cNvPr id="137231" name="对象 175121"/>
          <p:cNvGraphicFramePr/>
          <p:nvPr/>
        </p:nvGraphicFramePr>
        <p:xfrm>
          <a:off x="1404938" y="4097338"/>
          <a:ext cx="1295400" cy="1060450"/>
        </p:xfrm>
        <a:graphic>
          <a:graphicData uri="http://schemas.openxmlformats.org/presentationml/2006/ole">
            <mc:AlternateContent xmlns:mc="http://schemas.openxmlformats.org/markup-compatibility/2006">
              <mc:Choice xmlns:v="urn:schemas-microsoft-com:vml" Requires="v">
                <p:oleObj spid="_x0000_s57391" name="" r:id="rId7" imgW="520700" imgH="431800" progId="Equation.DSMT4">
                  <p:embed/>
                </p:oleObj>
              </mc:Choice>
              <mc:Fallback>
                <p:oleObj name="" r:id="rId7" imgW="520700" imgH="431800" progId="Equation.DSMT4">
                  <p:embed/>
                  <p:pic>
                    <p:nvPicPr>
                      <p:cNvPr id="0" name="对象 175121"/>
                      <p:cNvPicPr>
                        <a:picLocks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404938" y="4097338"/>
                        <a:ext cx="1295400" cy="1060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137232" name="对象 175122"/>
          <p:cNvGraphicFramePr/>
          <p:nvPr/>
        </p:nvGraphicFramePr>
        <p:xfrm>
          <a:off x="3779838" y="4292600"/>
          <a:ext cx="1258887" cy="549275"/>
        </p:xfrm>
        <a:graphic>
          <a:graphicData uri="http://schemas.openxmlformats.org/presentationml/2006/ole">
            <mc:AlternateContent xmlns:mc="http://schemas.openxmlformats.org/markup-compatibility/2006">
              <mc:Choice xmlns:v="urn:schemas-microsoft-com:vml" Requires="v">
                <p:oleObj spid="_x0000_s57392" name="" r:id="rId9" imgW="520700" imgH="228600" progId="Equation.DSMT4">
                  <p:embed/>
                </p:oleObj>
              </mc:Choice>
              <mc:Fallback>
                <p:oleObj name="" r:id="rId9" imgW="520700" imgH="228600" progId="Equation.DSMT4">
                  <p:embed/>
                  <p:pic>
                    <p:nvPicPr>
                      <p:cNvPr id="0" name="对象 175122"/>
                      <p:cNvPicPr>
                        <a:picLocks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779838" y="4292600"/>
                        <a:ext cx="1258887" cy="549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137233" name="矩形 175125"/>
          <p:cNvSpPr>
            <a:spLocks noChangeArrowheads="1"/>
          </p:cNvSpPr>
          <p:nvPr/>
        </p:nvSpPr>
        <p:spPr bwMode="auto">
          <a:xfrm>
            <a:off x="0" y="295433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graphicFrame>
        <p:nvGraphicFramePr>
          <p:cNvPr id="137234" name="对象 175124"/>
          <p:cNvGraphicFramePr/>
          <p:nvPr/>
        </p:nvGraphicFramePr>
        <p:xfrm>
          <a:off x="5940425" y="4313238"/>
          <a:ext cx="2519363" cy="587375"/>
        </p:xfrm>
        <a:graphic>
          <a:graphicData uri="http://schemas.openxmlformats.org/presentationml/2006/ole">
            <mc:AlternateContent xmlns:mc="http://schemas.openxmlformats.org/markup-compatibility/2006">
              <mc:Choice xmlns:v="urn:schemas-microsoft-com:vml" Requires="v">
                <p:oleObj spid="_x0000_s57393" name="" r:id="rId11" imgW="977900" imgH="228600" progId="Equation.DSMT4">
                  <p:embed/>
                </p:oleObj>
              </mc:Choice>
              <mc:Fallback>
                <p:oleObj name="" r:id="rId11" imgW="977900" imgH="228600" progId="Equation.DSMT4">
                  <p:embed/>
                  <p:pic>
                    <p:nvPicPr>
                      <p:cNvPr id="0" name="对象 175124"/>
                      <p:cNvPicPr>
                        <a:picLocks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5940425" y="4313238"/>
                        <a:ext cx="2519363" cy="587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8241" name="矩形 232451"/>
          <p:cNvSpPr>
            <a:spLocks noChangeArrowheads="1"/>
          </p:cNvSpPr>
          <p:nvPr/>
        </p:nvSpPr>
        <p:spPr bwMode="auto">
          <a:xfrm>
            <a:off x="684213" y="549275"/>
            <a:ext cx="3141662"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r>
              <a:rPr lang="zh-CN" altLang="en-US" sz="3200" b="1" dirty="0">
                <a:ea typeface="黑体" panose="02010609060101010101" pitchFamily="49" charset="-122"/>
              </a:rPr>
              <a:t>对于缩放喷管： </a:t>
            </a:r>
            <a:endParaRPr lang="zh-CN" altLang="en-US" sz="3200" b="1" dirty="0">
              <a:ea typeface="黑体" panose="02010609060101010101" pitchFamily="49" charset="-122"/>
            </a:endParaRPr>
          </a:p>
        </p:txBody>
      </p:sp>
      <p:sp>
        <p:nvSpPr>
          <p:cNvPr id="138242" name="矩形 232452"/>
          <p:cNvSpPr>
            <a:spLocks noChangeArrowheads="1"/>
          </p:cNvSpPr>
          <p:nvPr/>
        </p:nvSpPr>
        <p:spPr bwMode="auto">
          <a:xfrm>
            <a:off x="1476375" y="5445125"/>
            <a:ext cx="1922463"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r>
              <a:rPr lang="zh-CN" altLang="en-US" sz="3200" b="1" dirty="0">
                <a:ea typeface="黑体" panose="02010609060101010101" pitchFamily="49" charset="-122"/>
              </a:rPr>
              <a:t>这里假设 </a:t>
            </a:r>
            <a:endParaRPr lang="zh-CN" altLang="en-US" sz="3200" b="1" dirty="0">
              <a:ea typeface="黑体" panose="02010609060101010101" pitchFamily="49" charset="-122"/>
            </a:endParaRPr>
          </a:p>
        </p:txBody>
      </p:sp>
      <p:sp>
        <p:nvSpPr>
          <p:cNvPr id="138243" name="矩形 232454"/>
          <p:cNvSpPr>
            <a:spLocks noChangeArrowheads="1"/>
          </p:cNvSpPr>
          <p:nvPr/>
        </p:nvSpPr>
        <p:spPr bwMode="auto">
          <a:xfrm>
            <a:off x="5292725" y="5445125"/>
            <a:ext cx="703263"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r>
              <a:rPr lang="zh-CN" altLang="en-US" sz="3200" b="1" dirty="0">
                <a:ea typeface="黑体" panose="02010609060101010101" pitchFamily="49" charset="-122"/>
              </a:rPr>
              <a:t>则</a:t>
            </a:r>
            <a:r>
              <a:rPr lang="zh-CN" altLang="en-US" sz="3200" dirty="0">
                <a:ea typeface="黑体" panose="02010609060101010101" pitchFamily="49" charset="-122"/>
              </a:rPr>
              <a:t> </a:t>
            </a:r>
            <a:endParaRPr lang="zh-CN" altLang="en-US" sz="3200" dirty="0">
              <a:ea typeface="黑体" panose="02010609060101010101" pitchFamily="49" charset="-122"/>
            </a:endParaRPr>
          </a:p>
        </p:txBody>
      </p:sp>
      <p:graphicFrame>
        <p:nvGraphicFramePr>
          <p:cNvPr id="138244" name="对象 232456"/>
          <p:cNvGraphicFramePr/>
          <p:nvPr/>
        </p:nvGraphicFramePr>
        <p:xfrm>
          <a:off x="3708400" y="5445125"/>
          <a:ext cx="1166813" cy="549275"/>
        </p:xfrm>
        <a:graphic>
          <a:graphicData uri="http://schemas.openxmlformats.org/presentationml/2006/ole">
            <mc:AlternateContent xmlns:mc="http://schemas.openxmlformats.org/markup-compatibility/2006">
              <mc:Choice xmlns:v="urn:schemas-microsoft-com:vml" Requires="v">
                <p:oleObj spid="_x0000_s58384" name="" r:id="rId1" imgW="482600" imgH="228600" progId="Equation.DSMT4">
                  <p:embed/>
                </p:oleObj>
              </mc:Choice>
              <mc:Fallback>
                <p:oleObj name="" r:id="rId1" imgW="482600" imgH="228600" progId="Equation.DSMT4">
                  <p:embed/>
                  <p:pic>
                    <p:nvPicPr>
                      <p:cNvPr id="0" name="对象 232456"/>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708400" y="5445125"/>
                        <a:ext cx="1166813" cy="549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138245" name="对象 232457"/>
          <p:cNvGraphicFramePr/>
          <p:nvPr/>
        </p:nvGraphicFramePr>
        <p:xfrm>
          <a:off x="5940425" y="5445125"/>
          <a:ext cx="1295400" cy="596900"/>
        </p:xfrm>
        <a:graphic>
          <a:graphicData uri="http://schemas.openxmlformats.org/presentationml/2006/ole">
            <mc:AlternateContent xmlns:mc="http://schemas.openxmlformats.org/markup-compatibility/2006">
              <mc:Choice xmlns:v="urn:schemas-microsoft-com:vml" Requires="v">
                <p:oleObj spid="_x0000_s58385" name="" r:id="rId3" imgW="495300" imgH="228600" progId="Equation.DSMT4">
                  <p:embed/>
                </p:oleObj>
              </mc:Choice>
              <mc:Fallback>
                <p:oleObj name="" r:id="rId3" imgW="495300" imgH="228600" progId="Equation.DSMT4">
                  <p:embed/>
                  <p:pic>
                    <p:nvPicPr>
                      <p:cNvPr id="0" name="对象 232457"/>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940425" y="5445125"/>
                        <a:ext cx="1295400" cy="596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138246" name="矩形 232458"/>
          <p:cNvSpPr>
            <a:spLocks noChangeArrowheads="1"/>
          </p:cNvSpPr>
          <p:nvPr/>
        </p:nvSpPr>
        <p:spPr bwMode="auto">
          <a:xfrm>
            <a:off x="1042988" y="1613406"/>
            <a:ext cx="7058025" cy="3046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r>
              <a:rPr lang="zh-CN" altLang="en-US" sz="3200" b="1" dirty="0">
                <a:latin typeface="Times New Roman" panose="02020603050405020304" pitchFamily="18" charset="0"/>
                <a:ea typeface="黑体" panose="02010609060101010101" pitchFamily="49" charset="-122"/>
              </a:rPr>
              <a:t>如上节的分析，只有</a:t>
            </a:r>
            <a:r>
              <a:rPr lang="en-US" altLang="zh-CN" sz="3200" b="1" i="1" dirty="0" err="1">
                <a:latin typeface="Times New Roman" panose="02020603050405020304" pitchFamily="18" charset="0"/>
                <a:ea typeface="黑体" panose="02010609060101010101" pitchFamily="49" charset="-122"/>
              </a:rPr>
              <a:t>p</a:t>
            </a:r>
            <a:r>
              <a:rPr lang="en-US" altLang="zh-CN" sz="3200" b="1" baseline="-25000" dirty="0" err="1">
                <a:latin typeface="Times New Roman" panose="02020603050405020304" pitchFamily="18" charset="0"/>
                <a:ea typeface="黑体" panose="02010609060101010101" pitchFamily="49" charset="-122"/>
              </a:rPr>
              <a:t>b</a:t>
            </a:r>
            <a:r>
              <a:rPr lang="zh-CN" altLang="en-US" sz="3200" b="1" dirty="0">
                <a:latin typeface="Times New Roman" panose="02020603050405020304" pitchFamily="18" charset="0"/>
                <a:ea typeface="黑体" panose="02010609060101010101" pitchFamily="49" charset="-122"/>
              </a:rPr>
              <a:t>的大小正好等于设计压力</a:t>
            </a:r>
            <a:r>
              <a:rPr lang="en-US" altLang="zh-CN" sz="3200" b="1" i="1" dirty="0">
                <a:latin typeface="Times New Roman" panose="02020603050405020304" pitchFamily="18" charset="0"/>
                <a:ea typeface="黑体" panose="02010609060101010101" pitchFamily="49" charset="-122"/>
              </a:rPr>
              <a:t>p</a:t>
            </a:r>
            <a:r>
              <a:rPr lang="en-US" altLang="zh-CN" sz="3200" b="1" baseline="-25000" dirty="0">
                <a:latin typeface="Times New Roman" panose="02020603050405020304" pitchFamily="18" charset="0"/>
                <a:ea typeface="黑体" panose="02010609060101010101" pitchFamily="49" charset="-122"/>
              </a:rPr>
              <a:t>i</a:t>
            </a:r>
            <a:r>
              <a:rPr lang="zh-CN" altLang="en-US" sz="3200" b="1" dirty="0">
                <a:latin typeface="Times New Roman" panose="02020603050405020304" pitchFamily="18" charset="0"/>
                <a:ea typeface="黑体" panose="02010609060101010101" pitchFamily="49" charset="-122"/>
              </a:rPr>
              <a:t>时，气流在喷管中才能实现完全膨胀，否则会出现膨胀不足或激波等复杂情况。</a:t>
            </a:r>
            <a:endParaRPr lang="zh-CN" altLang="en-US" sz="3200" b="1" dirty="0">
              <a:latin typeface="Times New Roman" panose="02020603050405020304" pitchFamily="18" charset="0"/>
              <a:ea typeface="黑体" panose="02010609060101010101" pitchFamily="49" charset="-122"/>
            </a:endParaRPr>
          </a:p>
          <a:p>
            <a:r>
              <a:rPr lang="zh-CN" altLang="en-US" sz="3200" b="1" dirty="0">
                <a:latin typeface="Times New Roman" panose="02020603050405020304" pitchFamily="18" charset="0"/>
                <a:ea typeface="黑体" panose="02010609060101010101" pitchFamily="49" charset="-122"/>
              </a:rPr>
              <a:t>在具体校核时，可基于上节的分析，按照实际情况进行计算。</a:t>
            </a:r>
            <a:endParaRPr lang="zh-CN" altLang="en-US" sz="3200" b="1" dirty="0">
              <a:latin typeface="Times New Roman" panose="02020603050405020304" pitchFamily="18" charset="0"/>
              <a:ea typeface="黑体" panose="02010609060101010101" pitchFamily="49" charset="-122"/>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265" name="矩形 176129"/>
          <p:cNvSpPr>
            <a:spLocks noChangeArrowheads="1"/>
          </p:cNvSpPr>
          <p:nvPr/>
        </p:nvSpPr>
        <p:spPr bwMode="auto">
          <a:xfrm>
            <a:off x="684213" y="679211"/>
            <a:ext cx="8012130" cy="10772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r>
              <a:rPr lang="en-US" altLang="zh-CN" sz="3200" b="1" dirty="0">
                <a:ea typeface="黑体" panose="02010609060101010101" pitchFamily="49" charset="-122"/>
              </a:rPr>
              <a:t>③</a:t>
            </a:r>
            <a:r>
              <a:rPr lang="zh-CN" altLang="en-US" sz="3200" b="1" dirty="0">
                <a:ea typeface="黑体" panose="02010609060101010101" pitchFamily="49" charset="-122"/>
              </a:rPr>
              <a:t>求临界截面和出口截面上气体的状态参数</a:t>
            </a:r>
            <a:endParaRPr lang="zh-CN" altLang="en-US" sz="3200" b="1" dirty="0">
              <a:ea typeface="黑体" panose="02010609060101010101" pitchFamily="49" charset="-122"/>
            </a:endParaRPr>
          </a:p>
          <a:p>
            <a:r>
              <a:rPr lang="zh-CN" altLang="en-US" sz="3200" b="1" dirty="0">
                <a:ea typeface="黑体" panose="02010609060101010101" pitchFamily="49" charset="-122"/>
              </a:rPr>
              <a:t>（同设计计算）</a:t>
            </a:r>
            <a:endParaRPr lang="zh-CN" altLang="en-US" sz="3200" b="1" dirty="0">
              <a:ea typeface="黑体" panose="02010609060101010101" pitchFamily="49" charset="-122"/>
            </a:endParaRPr>
          </a:p>
        </p:txBody>
      </p:sp>
      <p:sp>
        <p:nvSpPr>
          <p:cNvPr id="139266" name="矩形 176134"/>
          <p:cNvSpPr>
            <a:spLocks noChangeArrowheads="1"/>
          </p:cNvSpPr>
          <p:nvPr/>
        </p:nvSpPr>
        <p:spPr bwMode="auto">
          <a:xfrm>
            <a:off x="0" y="312896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39267" name="矩形 176135"/>
          <p:cNvSpPr>
            <a:spLocks noChangeArrowheads="1"/>
          </p:cNvSpPr>
          <p:nvPr/>
        </p:nvSpPr>
        <p:spPr bwMode="auto">
          <a:xfrm>
            <a:off x="0" y="350043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39268" name="矩形 176140"/>
          <p:cNvSpPr>
            <a:spLocks noChangeArrowheads="1"/>
          </p:cNvSpPr>
          <p:nvPr/>
        </p:nvSpPr>
        <p:spPr bwMode="auto">
          <a:xfrm>
            <a:off x="0" y="280035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39269" name="矩形 176141"/>
          <p:cNvSpPr>
            <a:spLocks noChangeArrowheads="1"/>
          </p:cNvSpPr>
          <p:nvPr/>
        </p:nvSpPr>
        <p:spPr bwMode="auto">
          <a:xfrm>
            <a:off x="0" y="302895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39270" name="矩形 176142"/>
          <p:cNvSpPr>
            <a:spLocks noChangeArrowheads="1"/>
          </p:cNvSpPr>
          <p:nvPr/>
        </p:nvSpPr>
        <p:spPr bwMode="auto">
          <a:xfrm>
            <a:off x="0" y="360045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39271" name="矩形 176143"/>
          <p:cNvSpPr>
            <a:spLocks noChangeArrowheads="1"/>
          </p:cNvSpPr>
          <p:nvPr/>
        </p:nvSpPr>
        <p:spPr bwMode="auto">
          <a:xfrm>
            <a:off x="684213" y="2185473"/>
            <a:ext cx="5593198" cy="10772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r>
              <a:rPr lang="en-US" altLang="zh-CN" sz="3200" b="1" dirty="0">
                <a:ea typeface="黑体" panose="02010609060101010101" pitchFamily="49" charset="-122"/>
              </a:rPr>
              <a:t>④</a:t>
            </a:r>
            <a:r>
              <a:rPr lang="zh-CN" altLang="en-US" sz="3200" b="1" dirty="0">
                <a:ea typeface="黑体" panose="02010609060101010101" pitchFamily="49" charset="-122"/>
              </a:rPr>
              <a:t>求临界流速和出口截面流速</a:t>
            </a:r>
            <a:r>
              <a:rPr lang="zh-CN" altLang="en-US" b="1" dirty="0">
                <a:ea typeface="黑体" panose="02010609060101010101" pitchFamily="49" charset="-122"/>
              </a:rPr>
              <a:t> </a:t>
            </a:r>
            <a:endParaRPr lang="zh-CN" altLang="en-US" b="1" dirty="0">
              <a:ea typeface="黑体" panose="02010609060101010101" pitchFamily="49" charset="-122"/>
            </a:endParaRPr>
          </a:p>
          <a:p>
            <a:r>
              <a:rPr lang="zh-CN" altLang="en-US" sz="3200" b="1" dirty="0">
                <a:ea typeface="黑体" panose="02010609060101010101" pitchFamily="49" charset="-122"/>
              </a:rPr>
              <a:t>（同设计计算）</a:t>
            </a:r>
            <a:endParaRPr lang="zh-CN" altLang="en-US" sz="3200" b="1" dirty="0">
              <a:ea typeface="黑体" panose="02010609060101010101" pitchFamily="49" charset="-122"/>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289" name="矩形 178179"/>
          <p:cNvSpPr>
            <a:spLocks noChangeArrowheads="1"/>
          </p:cNvSpPr>
          <p:nvPr/>
        </p:nvSpPr>
        <p:spPr bwMode="auto">
          <a:xfrm>
            <a:off x="539750" y="476250"/>
            <a:ext cx="7921625" cy="1066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r>
              <a:rPr lang="en-US" altLang="zh-CN" sz="3200" b="1" dirty="0">
                <a:ea typeface="黑体" panose="02010609060101010101" pitchFamily="49" charset="-122"/>
              </a:rPr>
              <a:t>⑤</a:t>
            </a:r>
            <a:r>
              <a:rPr lang="zh-CN" altLang="en-US" sz="3200" b="1" dirty="0">
                <a:ea typeface="黑体" panose="02010609060101010101" pitchFamily="49" charset="-122"/>
              </a:rPr>
              <a:t>求通过喷管的流量（可用临界截面参数求，也可用出口截面参数求）</a:t>
            </a:r>
            <a:r>
              <a:rPr lang="zh-CN" altLang="en-US" b="1" dirty="0">
                <a:ea typeface="黑体" panose="02010609060101010101" pitchFamily="49" charset="-122"/>
              </a:rPr>
              <a:t> </a:t>
            </a:r>
            <a:endParaRPr lang="zh-CN" altLang="en-US" b="1" dirty="0">
              <a:ea typeface="黑体" panose="02010609060101010101" pitchFamily="49" charset="-122"/>
            </a:endParaRPr>
          </a:p>
        </p:txBody>
      </p:sp>
      <p:sp>
        <p:nvSpPr>
          <p:cNvPr id="140290" name="矩形 178181"/>
          <p:cNvSpPr>
            <a:spLocks noChangeArrowheads="1"/>
          </p:cNvSpPr>
          <p:nvPr/>
        </p:nvSpPr>
        <p:spPr bwMode="auto">
          <a:xfrm>
            <a:off x="0" y="320516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graphicFrame>
        <p:nvGraphicFramePr>
          <p:cNvPr id="140291" name="对象 178180"/>
          <p:cNvGraphicFramePr/>
          <p:nvPr/>
        </p:nvGraphicFramePr>
        <p:xfrm>
          <a:off x="2627313" y="2420938"/>
          <a:ext cx="3455987" cy="1258887"/>
        </p:xfrm>
        <a:graphic>
          <a:graphicData uri="http://schemas.openxmlformats.org/presentationml/2006/ole">
            <mc:AlternateContent xmlns:mc="http://schemas.openxmlformats.org/markup-compatibility/2006">
              <mc:Choice xmlns:v="urn:schemas-microsoft-com:vml" Requires="v">
                <p:oleObj spid="_x0000_s59401" name="" r:id="rId1" imgW="1231265" imgH="444500" progId="Equation.DSMT4">
                  <p:embed/>
                </p:oleObj>
              </mc:Choice>
              <mc:Fallback>
                <p:oleObj name="" r:id="rId1" imgW="1231265" imgH="444500" progId="Equation.DSMT4">
                  <p:embed/>
                  <p:pic>
                    <p:nvPicPr>
                      <p:cNvPr id="0" name="对象 178180"/>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27313" y="2420938"/>
                        <a:ext cx="3455987" cy="1258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61" name="标题 191489"/>
          <p:cNvSpPr>
            <a:spLocks noGrp="1" noChangeArrowheads="1"/>
          </p:cNvSpPr>
          <p:nvPr>
            <p:ph type="title" idx="4294967295"/>
          </p:nvPr>
        </p:nvSpPr>
        <p:spPr>
          <a:xfrm>
            <a:off x="507932" y="377205"/>
            <a:ext cx="8229600" cy="1143000"/>
          </a:xfrm>
        </p:spPr>
        <p:txBody>
          <a:bodyPr/>
          <a:lstStyle/>
          <a:p>
            <a:r>
              <a:rPr lang="zh-CN" altLang="en-US" sz="3600" b="1" dirty="0" smtClean="0">
                <a:ea typeface="黑体" panose="02010609060101010101" pitchFamily="49" charset="-122"/>
              </a:rPr>
              <a:t>例题：喷管切去一段后出口流速和流量的判断</a:t>
            </a:r>
            <a:r>
              <a:rPr lang="zh-CN" altLang="en-US" sz="4000" dirty="0" smtClean="0"/>
              <a:t> </a:t>
            </a:r>
            <a:endParaRPr lang="zh-CN" altLang="en-US" sz="4000" dirty="0" smtClean="0"/>
          </a:p>
        </p:txBody>
      </p:sp>
      <p:sp>
        <p:nvSpPr>
          <p:cNvPr id="143362" name="矩形 191491"/>
          <p:cNvSpPr>
            <a:spLocks noChangeArrowheads="1"/>
          </p:cNvSpPr>
          <p:nvPr/>
        </p:nvSpPr>
        <p:spPr bwMode="auto">
          <a:xfrm>
            <a:off x="708025" y="1805126"/>
            <a:ext cx="7604125" cy="40564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spcBef>
                <a:spcPct val="20000"/>
              </a:spcBef>
            </a:pPr>
            <a:r>
              <a:rPr lang="zh-CN" altLang="en-US" sz="2800" b="1" dirty="0">
                <a:latin typeface="Times New Roman" panose="02020603050405020304" pitchFamily="18" charset="0"/>
                <a:ea typeface="黑体" panose="02010609060101010101" pitchFamily="49" charset="-122"/>
                <a:cs typeface="Times New Roman" panose="02020603050405020304" pitchFamily="18" charset="0"/>
              </a:rPr>
              <a:t>渐缩喷管工作在初压</a:t>
            </a:r>
            <a:r>
              <a:rPr lang="en-US" altLang="zh-CN" sz="2800" b="1" i="1" dirty="0">
                <a:latin typeface="Times New Roman" panose="02020603050405020304" pitchFamily="18" charset="0"/>
                <a:ea typeface="黑体" panose="02010609060101010101" pitchFamily="49" charset="-122"/>
                <a:cs typeface="Times New Roman" panose="02020603050405020304" pitchFamily="18" charset="0"/>
              </a:rPr>
              <a:t>p</a:t>
            </a:r>
            <a:r>
              <a:rPr lang="en-US" altLang="zh-CN" sz="2800" b="1" baseline="-25000" dirty="0">
                <a:latin typeface="Times New Roman" panose="02020603050405020304" pitchFamily="18" charset="0"/>
                <a:ea typeface="黑体" panose="02010609060101010101" pitchFamily="49" charset="-122"/>
                <a:cs typeface="Times New Roman" panose="02020603050405020304" pitchFamily="18" charset="0"/>
              </a:rPr>
              <a:t>1</a:t>
            </a:r>
            <a:r>
              <a:rPr lang="en-US" altLang="zh-CN" sz="2800" b="1" dirty="0">
                <a:latin typeface="Times New Roman" panose="02020603050405020304" pitchFamily="18" charset="0"/>
                <a:ea typeface="黑体" panose="02010609060101010101" pitchFamily="49" charset="-122"/>
                <a:cs typeface="Times New Roman" panose="02020603050405020304" pitchFamily="18" charset="0"/>
              </a:rPr>
              <a:t>=9MPa</a:t>
            </a:r>
            <a:r>
              <a:rPr lang="zh-CN" altLang="en-US" sz="2800" b="1" dirty="0">
                <a:latin typeface="Times New Roman" panose="02020603050405020304" pitchFamily="18" charset="0"/>
                <a:ea typeface="黑体" panose="02010609060101010101" pitchFamily="49" charset="-122"/>
                <a:cs typeface="Times New Roman" panose="02020603050405020304" pitchFamily="18" charset="0"/>
              </a:rPr>
              <a:t>和某极低背压</a:t>
            </a:r>
            <a:r>
              <a:rPr lang="en-US" altLang="zh-CN" sz="2800" b="1" i="1" dirty="0" err="1">
                <a:latin typeface="Times New Roman" panose="02020603050405020304" pitchFamily="18" charset="0"/>
                <a:ea typeface="黑体" panose="02010609060101010101" pitchFamily="49" charset="-122"/>
                <a:cs typeface="Times New Roman" panose="02020603050405020304" pitchFamily="18" charset="0"/>
              </a:rPr>
              <a:t>p</a:t>
            </a:r>
            <a:r>
              <a:rPr lang="en-US" altLang="zh-CN" sz="2800" b="1" baseline="-25000" dirty="0" err="1">
                <a:latin typeface="Times New Roman" panose="02020603050405020304" pitchFamily="18" charset="0"/>
                <a:ea typeface="黑体" panose="02010609060101010101" pitchFamily="49" charset="-122"/>
                <a:cs typeface="Times New Roman" panose="02020603050405020304" pitchFamily="18" charset="0"/>
              </a:rPr>
              <a:t>b</a:t>
            </a:r>
            <a:r>
              <a:rPr lang="zh-CN" altLang="en-US" sz="2800" b="1" dirty="0">
                <a:latin typeface="Times New Roman" panose="02020603050405020304" pitchFamily="18" charset="0"/>
                <a:ea typeface="黑体" panose="02010609060101010101" pitchFamily="49" charset="-122"/>
                <a:cs typeface="Times New Roman" panose="02020603050405020304" pitchFamily="18" charset="0"/>
              </a:rPr>
              <a:t>之间，已知空气在喷管出口处的马赫数等于</a:t>
            </a:r>
            <a:r>
              <a:rPr lang="en-US" altLang="zh-CN" sz="2800" b="1" dirty="0">
                <a:latin typeface="Times New Roman" panose="02020603050405020304" pitchFamily="18" charset="0"/>
                <a:ea typeface="黑体" panose="02010609060101010101" pitchFamily="49" charset="-122"/>
                <a:cs typeface="Times New Roman" panose="02020603050405020304" pitchFamily="18" charset="0"/>
              </a:rPr>
              <a:t>1</a:t>
            </a:r>
            <a:r>
              <a:rPr lang="zh-CN" altLang="en-US" sz="2800" b="1" dirty="0">
                <a:latin typeface="Times New Roman" panose="02020603050405020304" pitchFamily="18" charset="0"/>
                <a:ea typeface="黑体" panose="02010609060101010101" pitchFamily="49" charset="-122"/>
                <a:cs typeface="Times New Roman" panose="02020603050405020304" pitchFamily="18" charset="0"/>
              </a:rPr>
              <a:t>。若将喷管切去一段，试判断空气在喷管出口处的</a:t>
            </a:r>
            <a:r>
              <a:rPr lang="zh-CN" altLang="en-US" sz="2800" b="1" dirty="0">
                <a:solidFill>
                  <a:srgbClr val="3333FF"/>
                </a:solidFill>
                <a:latin typeface="Times New Roman" panose="02020603050405020304" pitchFamily="18" charset="0"/>
                <a:ea typeface="黑体" panose="02010609060101010101" pitchFamily="49" charset="-122"/>
                <a:cs typeface="Times New Roman" panose="02020603050405020304" pitchFamily="18" charset="0"/>
              </a:rPr>
              <a:t>流速和流量与没有切去相比如何变化</a:t>
            </a:r>
            <a:r>
              <a:rPr lang="zh-CN" altLang="en-US" sz="2800" b="1" dirty="0">
                <a:latin typeface="Times New Roman" panose="02020603050405020304" pitchFamily="18" charset="0"/>
                <a:ea typeface="黑体" panose="02010609060101010101" pitchFamily="49" charset="-122"/>
                <a:cs typeface="Times New Roman" panose="02020603050405020304" pitchFamily="18" charset="0"/>
              </a:rPr>
              <a:t>。</a:t>
            </a:r>
            <a:endParaRPr lang="zh-CN" altLang="en-US" sz="2800" b="1" dirty="0">
              <a:latin typeface="Times New Roman" panose="02020603050405020304" pitchFamily="18" charset="0"/>
              <a:ea typeface="黑体" panose="02010609060101010101" pitchFamily="49" charset="-122"/>
              <a:cs typeface="Times New Roman" panose="02020603050405020304" pitchFamily="18" charset="0"/>
            </a:endParaRPr>
          </a:p>
          <a:p>
            <a:pPr>
              <a:spcBef>
                <a:spcPct val="20000"/>
              </a:spcBef>
            </a:pPr>
            <a:r>
              <a:rPr lang="zh-CN" altLang="en-US" sz="2800" b="1" dirty="0">
                <a:latin typeface="Times New Roman" panose="02020603050405020304" pitchFamily="18" charset="0"/>
                <a:ea typeface="黑体" panose="02010609060101010101" pitchFamily="49" charset="-122"/>
                <a:cs typeface="Times New Roman" panose="02020603050405020304" pitchFamily="18" charset="0"/>
              </a:rPr>
              <a:t>已知：空气的入口温度</a:t>
            </a:r>
            <a:r>
              <a:rPr lang="en-US" altLang="zh-CN" sz="2800" b="1" i="1" dirty="0">
                <a:latin typeface="Times New Roman" panose="02020603050405020304" pitchFamily="18" charset="0"/>
                <a:ea typeface="黑体" panose="02010609060101010101" pitchFamily="49" charset="-122"/>
                <a:cs typeface="Times New Roman" panose="02020603050405020304" pitchFamily="18" charset="0"/>
              </a:rPr>
              <a:t>t</a:t>
            </a:r>
            <a:r>
              <a:rPr lang="en-US" altLang="zh-CN" sz="2800" b="1" baseline="-25000" dirty="0">
                <a:latin typeface="Times New Roman" panose="02020603050405020304" pitchFamily="18" charset="0"/>
                <a:ea typeface="黑体" panose="02010609060101010101" pitchFamily="49" charset="-122"/>
                <a:cs typeface="Times New Roman" panose="02020603050405020304" pitchFamily="18" charset="0"/>
              </a:rPr>
              <a:t>1</a:t>
            </a:r>
            <a:r>
              <a:rPr lang="en-US" altLang="zh-CN" sz="2800" b="1" dirty="0">
                <a:latin typeface="Times New Roman" panose="02020603050405020304" pitchFamily="18" charset="0"/>
                <a:ea typeface="黑体" panose="02010609060101010101" pitchFamily="49" charset="-122"/>
                <a:cs typeface="Times New Roman" panose="02020603050405020304" pitchFamily="18" charset="0"/>
              </a:rPr>
              <a:t>=500℃</a:t>
            </a:r>
            <a:r>
              <a:rPr lang="zh-CN" altLang="en-US" sz="2800" b="1" dirty="0">
                <a:latin typeface="Times New Roman" panose="02020603050405020304" pitchFamily="18" charset="0"/>
                <a:ea typeface="黑体" panose="02010609060101010101" pitchFamily="49" charset="-122"/>
                <a:cs typeface="Times New Roman" panose="02020603050405020304" pitchFamily="18" charset="0"/>
              </a:rPr>
              <a:t>，进口截面积</a:t>
            </a:r>
            <a:r>
              <a:rPr lang="en-US" altLang="zh-CN" sz="2800" b="1" i="1" dirty="0">
                <a:latin typeface="Times New Roman" panose="02020603050405020304" pitchFamily="18" charset="0"/>
                <a:ea typeface="黑体" panose="02010609060101010101" pitchFamily="49" charset="-122"/>
                <a:cs typeface="Times New Roman" panose="02020603050405020304" pitchFamily="18" charset="0"/>
              </a:rPr>
              <a:t>A</a:t>
            </a:r>
            <a:r>
              <a:rPr lang="en-US" altLang="zh-CN" sz="2800" b="1" baseline="-25000" dirty="0">
                <a:latin typeface="Times New Roman" panose="02020603050405020304" pitchFamily="18" charset="0"/>
                <a:ea typeface="黑体" panose="02010609060101010101" pitchFamily="49" charset="-122"/>
                <a:cs typeface="Times New Roman" panose="02020603050405020304" pitchFamily="18" charset="0"/>
              </a:rPr>
              <a:t>1</a:t>
            </a:r>
            <a:r>
              <a:rPr lang="en-US" altLang="zh-CN" sz="2800" b="1" dirty="0">
                <a:latin typeface="Times New Roman" panose="02020603050405020304" pitchFamily="18" charset="0"/>
                <a:ea typeface="黑体" panose="02010609060101010101" pitchFamily="49" charset="-122"/>
                <a:cs typeface="Times New Roman" panose="02020603050405020304" pitchFamily="18" charset="0"/>
              </a:rPr>
              <a:t>=40cm</a:t>
            </a:r>
            <a:r>
              <a:rPr lang="en-US" altLang="zh-CN" sz="2800" b="1" baseline="30000" dirty="0">
                <a:latin typeface="Times New Roman" panose="02020603050405020304" pitchFamily="18" charset="0"/>
                <a:ea typeface="黑体" panose="02010609060101010101" pitchFamily="49" charset="-122"/>
                <a:cs typeface="Times New Roman" panose="02020603050405020304" pitchFamily="18" charset="0"/>
              </a:rPr>
              <a:t>2</a:t>
            </a:r>
            <a:r>
              <a:rPr lang="zh-CN" altLang="en-US" sz="2800" b="1" dirty="0">
                <a:latin typeface="Times New Roman" panose="02020603050405020304" pitchFamily="18" charset="0"/>
                <a:ea typeface="黑体" panose="02010609060101010101" pitchFamily="49" charset="-122"/>
                <a:cs typeface="Times New Roman" panose="02020603050405020304" pitchFamily="18" charset="0"/>
              </a:rPr>
              <a:t>，出口截面积</a:t>
            </a:r>
            <a:r>
              <a:rPr lang="en-US" altLang="zh-CN" sz="2800" b="1" i="1" dirty="0">
                <a:latin typeface="Times New Roman" panose="02020603050405020304" pitchFamily="18" charset="0"/>
                <a:ea typeface="黑体" panose="02010609060101010101" pitchFamily="49" charset="-122"/>
                <a:cs typeface="Times New Roman" panose="02020603050405020304" pitchFamily="18" charset="0"/>
              </a:rPr>
              <a:t>A</a:t>
            </a:r>
            <a:r>
              <a:rPr lang="en-US" altLang="zh-CN" sz="2800" b="1" baseline="-25000" dirty="0">
                <a:latin typeface="Times New Roman" panose="02020603050405020304" pitchFamily="18" charset="0"/>
                <a:ea typeface="黑体" panose="02010609060101010101" pitchFamily="49" charset="-122"/>
                <a:cs typeface="Times New Roman" panose="02020603050405020304" pitchFamily="18" charset="0"/>
              </a:rPr>
              <a:t>2</a:t>
            </a:r>
            <a:r>
              <a:rPr lang="en-US" altLang="zh-CN" sz="2800" b="1" dirty="0">
                <a:latin typeface="Times New Roman" panose="02020603050405020304" pitchFamily="18" charset="0"/>
                <a:ea typeface="黑体" panose="02010609060101010101" pitchFamily="49" charset="-122"/>
                <a:cs typeface="Times New Roman" panose="02020603050405020304" pitchFamily="18" charset="0"/>
              </a:rPr>
              <a:t>=25cm</a:t>
            </a:r>
            <a:r>
              <a:rPr lang="en-US" altLang="zh-CN" sz="2800" b="1" baseline="30000" dirty="0">
                <a:latin typeface="Times New Roman" panose="02020603050405020304" pitchFamily="18" charset="0"/>
                <a:ea typeface="黑体" panose="02010609060101010101" pitchFamily="49" charset="-122"/>
                <a:cs typeface="Times New Roman" panose="02020603050405020304" pitchFamily="18" charset="0"/>
              </a:rPr>
              <a:t>2</a:t>
            </a:r>
            <a:r>
              <a:rPr lang="zh-CN" altLang="en-US" sz="2800" b="1" dirty="0">
                <a:latin typeface="Times New Roman" panose="02020603050405020304" pitchFamily="18" charset="0"/>
                <a:ea typeface="黑体" panose="02010609060101010101" pitchFamily="49" charset="-122"/>
                <a:cs typeface="Times New Roman" panose="02020603050405020304" pitchFamily="18" charset="0"/>
              </a:rPr>
              <a:t>，切去一段后的出口截面积为</a:t>
            </a:r>
            <a:r>
              <a:rPr lang="en-US" altLang="zh-CN" sz="2800" b="1" i="1" dirty="0">
                <a:latin typeface="Times New Roman" panose="02020603050405020304" pitchFamily="18" charset="0"/>
                <a:ea typeface="黑体" panose="02010609060101010101" pitchFamily="49" charset="-122"/>
                <a:cs typeface="Times New Roman" panose="02020603050405020304" pitchFamily="18" charset="0"/>
              </a:rPr>
              <a:t>A</a:t>
            </a:r>
            <a:r>
              <a:rPr lang="en-US" altLang="zh-CN" sz="2800" b="1" baseline="-25000" dirty="0">
                <a:latin typeface="Times New Roman" panose="02020603050405020304" pitchFamily="18" charset="0"/>
                <a:ea typeface="黑体" panose="02010609060101010101" pitchFamily="49" charset="-122"/>
                <a:cs typeface="Times New Roman" panose="02020603050405020304" pitchFamily="18" charset="0"/>
              </a:rPr>
              <a:t>2</a:t>
            </a:r>
            <a:r>
              <a:rPr lang="en-US" altLang="zh-CN" sz="2800" b="1" dirty="0">
                <a:latin typeface="Times New Roman" panose="02020603050405020304" pitchFamily="18" charset="0"/>
                <a:ea typeface="黑体" panose="02010609060101010101" pitchFamily="49" charset="-122"/>
                <a:cs typeface="Times New Roman" panose="02020603050405020304" pitchFamily="18" charset="0"/>
              </a:rPr>
              <a:t>=30cm</a:t>
            </a:r>
            <a:r>
              <a:rPr lang="en-US" altLang="zh-CN" sz="2800" b="1" baseline="30000" dirty="0">
                <a:latin typeface="Times New Roman" panose="02020603050405020304" pitchFamily="18" charset="0"/>
                <a:ea typeface="黑体" panose="02010609060101010101" pitchFamily="49" charset="-122"/>
                <a:cs typeface="Times New Roman" panose="02020603050405020304" pitchFamily="18" charset="0"/>
              </a:rPr>
              <a:t>2</a:t>
            </a:r>
            <a:r>
              <a:rPr lang="zh-CN" altLang="en-US" sz="2800" b="1" dirty="0">
                <a:latin typeface="Times New Roman" panose="02020603050405020304" pitchFamily="18" charset="0"/>
                <a:ea typeface="黑体" panose="02010609060101010101" pitchFamily="49" charset="-122"/>
                <a:cs typeface="Times New Roman" panose="02020603050405020304" pitchFamily="18" charset="0"/>
              </a:rPr>
              <a:t>，背压固定，来流速度可忽略不计</a:t>
            </a:r>
            <a:r>
              <a:rPr lang="en-US" altLang="zh-CN" sz="2800" b="1" dirty="0">
                <a:latin typeface="Times New Roman" panose="02020603050405020304" pitchFamily="18" charset="0"/>
                <a:ea typeface="黑体" panose="02010609060101010101" pitchFamily="49" charset="-122"/>
                <a:cs typeface="Times New Roman" panose="02020603050405020304" pitchFamily="18" charset="0"/>
              </a:rPr>
              <a:t>. </a:t>
            </a:r>
            <a:r>
              <a:rPr lang="zh-CN" altLang="en-US" sz="2800" b="1" dirty="0" smtClean="0">
                <a:latin typeface="Times New Roman" panose="02020603050405020304" pitchFamily="18" charset="0"/>
                <a:ea typeface="黑体" panose="02010609060101010101" pitchFamily="49" charset="-122"/>
                <a:cs typeface="Times New Roman" panose="02020603050405020304" pitchFamily="18" charset="0"/>
              </a:rPr>
              <a:t>空气视为理想气体，</a:t>
            </a:r>
            <a:r>
              <a:rPr lang="el-GR" altLang="zh-CN" sz="2800" b="1" i="1" dirty="0" smtClean="0">
                <a:latin typeface="Times New Roman" panose="02020603050405020304" pitchFamily="18" charset="0"/>
                <a:ea typeface="微软雅黑" panose="020B0503020204020204" charset="-122"/>
                <a:cs typeface="Times New Roman" panose="02020603050405020304" pitchFamily="18" charset="0"/>
              </a:rPr>
              <a:t>κ</a:t>
            </a:r>
            <a:r>
              <a:rPr lang="en-US" altLang="zh-CN" sz="2800" b="1" dirty="0" smtClean="0">
                <a:latin typeface="Times New Roman" panose="02020603050405020304" pitchFamily="18" charset="0"/>
                <a:ea typeface="微软雅黑" panose="020B0503020204020204" charset="-122"/>
                <a:cs typeface="Times New Roman" panose="02020603050405020304" pitchFamily="18" charset="0"/>
              </a:rPr>
              <a:t>=1.4</a:t>
            </a:r>
            <a:r>
              <a:rPr lang="zh-CN" altLang="en-US" sz="2800" b="1" dirty="0" smtClean="0">
                <a:latin typeface="Times New Roman" panose="02020603050405020304" pitchFamily="18" charset="0"/>
                <a:ea typeface="微软雅黑" panose="020B0503020204020204" charset="-122"/>
                <a:cs typeface="Times New Roman" panose="02020603050405020304" pitchFamily="18" charset="0"/>
              </a:rPr>
              <a:t>，</a:t>
            </a:r>
            <a:r>
              <a:rPr lang="en-US" altLang="zh-CN" sz="2800" b="1" i="1" dirty="0" err="1" smtClean="0">
                <a:latin typeface="Times New Roman" panose="02020603050405020304" pitchFamily="18" charset="0"/>
                <a:ea typeface="微软雅黑" panose="020B0503020204020204" charset="-122"/>
                <a:cs typeface="Times New Roman" panose="02020603050405020304" pitchFamily="18" charset="0"/>
              </a:rPr>
              <a:t>R</a:t>
            </a:r>
            <a:r>
              <a:rPr lang="en-US" altLang="zh-CN" sz="2800" b="1" baseline="-25000" dirty="0" err="1" smtClean="0">
                <a:latin typeface="Times New Roman" panose="02020603050405020304" pitchFamily="18" charset="0"/>
                <a:ea typeface="微软雅黑" panose="020B0503020204020204" charset="-122"/>
                <a:cs typeface="Times New Roman" panose="02020603050405020304" pitchFamily="18" charset="0"/>
              </a:rPr>
              <a:t>g</a:t>
            </a:r>
            <a:r>
              <a:rPr lang="en-US" altLang="zh-CN" sz="2800" b="1" dirty="0" smtClean="0">
                <a:latin typeface="Times New Roman" panose="02020603050405020304" pitchFamily="18" charset="0"/>
                <a:ea typeface="微软雅黑" panose="020B0503020204020204" charset="-122"/>
                <a:cs typeface="Times New Roman" panose="02020603050405020304" pitchFamily="18" charset="0"/>
              </a:rPr>
              <a:t>=287J/(</a:t>
            </a:r>
            <a:r>
              <a:rPr lang="en-US" altLang="zh-CN" sz="2800" b="1" dirty="0" err="1" smtClean="0">
                <a:latin typeface="Times New Roman" panose="02020603050405020304" pitchFamily="18" charset="0"/>
                <a:ea typeface="微软雅黑" panose="020B0503020204020204" charset="-122"/>
                <a:cs typeface="Times New Roman" panose="02020603050405020304" pitchFamily="18" charset="0"/>
              </a:rPr>
              <a:t>kg∙K</a:t>
            </a:r>
            <a:r>
              <a:rPr lang="en-US" altLang="zh-CN" sz="2800" b="1" dirty="0" smtClean="0">
                <a:latin typeface="Times New Roman" panose="02020603050405020304" pitchFamily="18" charset="0"/>
                <a:ea typeface="微软雅黑" panose="020B0503020204020204" charset="-122"/>
                <a:cs typeface="Times New Roman" panose="02020603050405020304" pitchFamily="18" charset="0"/>
              </a:rPr>
              <a:t>)</a:t>
            </a:r>
            <a:endParaRPr lang="en-US" altLang="zh-CN" sz="2800" b="1" dirty="0">
              <a:latin typeface="Times New Roman" panose="02020603050405020304" pitchFamily="18" charset="0"/>
              <a:ea typeface="黑体" panose="02010609060101010101" pitchFamily="49" charset="-122"/>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19880" y="426086"/>
            <a:ext cx="4316342" cy="5834378"/>
          </a:xfrm>
          <a:prstGeom prst="rect">
            <a:avLst/>
          </a:prstGeom>
        </p:spPr>
      </p:pic>
      <p:sp>
        <p:nvSpPr>
          <p:cNvPr id="144385" name="矩形 192516"/>
          <p:cNvSpPr>
            <a:spLocks noChangeArrowheads="1"/>
          </p:cNvSpPr>
          <p:nvPr/>
        </p:nvSpPr>
        <p:spPr bwMode="auto">
          <a:xfrm>
            <a:off x="0" y="131921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44387" name="矩形 192517"/>
          <p:cNvSpPr>
            <a:spLocks noChangeArrowheads="1"/>
          </p:cNvSpPr>
          <p:nvPr/>
        </p:nvSpPr>
        <p:spPr bwMode="auto">
          <a:xfrm>
            <a:off x="4500563" y="133004"/>
            <a:ext cx="3743332" cy="461665"/>
          </a:xfrm>
          <a:prstGeom prst="rect">
            <a:avLst/>
          </a:prstGeom>
          <a:solidFill>
            <a:schemeClr val="accent1">
              <a:lumMod val="40000"/>
              <a:lumOff val="60000"/>
            </a:schemeClr>
          </a:solidFill>
          <a:ln>
            <a:noFill/>
          </a:ln>
        </p:spPr>
        <p:txBody>
          <a:bodyPr wrap="none" anchor="ctr">
            <a:spAutoFit/>
          </a:bodyPr>
          <a:lstStyle/>
          <a:p>
            <a:r>
              <a:rPr lang="zh-CN" altLang="en-US" sz="2400" b="1" dirty="0">
                <a:latin typeface="黑体" panose="02010609060101010101" pitchFamily="49" charset="-122"/>
                <a:ea typeface="黑体" panose="02010609060101010101" pitchFamily="49" charset="-122"/>
              </a:rPr>
              <a:t>先来看切去前的流动情况 </a:t>
            </a:r>
            <a:endParaRPr lang="zh-CN" altLang="en-US" sz="2400" b="1" dirty="0">
              <a:latin typeface="黑体" panose="02010609060101010101" pitchFamily="49" charset="-122"/>
              <a:ea typeface="黑体" panose="02010609060101010101" pitchFamily="49" charset="-122"/>
            </a:endParaRPr>
          </a:p>
        </p:txBody>
      </p:sp>
      <p:sp>
        <p:nvSpPr>
          <p:cNvPr id="144388" name="矩形 192518"/>
          <p:cNvSpPr>
            <a:spLocks noChangeArrowheads="1"/>
          </p:cNvSpPr>
          <p:nvPr/>
        </p:nvSpPr>
        <p:spPr bwMode="auto">
          <a:xfrm>
            <a:off x="4500563" y="760839"/>
            <a:ext cx="4283075" cy="830997"/>
          </a:xfrm>
          <a:prstGeom prst="rect">
            <a:avLst/>
          </a:prstGeom>
          <a:solidFill>
            <a:schemeClr val="accent1">
              <a:lumMod val="40000"/>
              <a:lumOff val="60000"/>
            </a:schemeClr>
          </a:solidFill>
          <a:ln>
            <a:noFill/>
          </a:ln>
        </p:spPr>
        <p:txBody>
          <a:bodyPr anchor="ctr">
            <a:spAutoFit/>
          </a:bodyPr>
          <a:lstStyle/>
          <a:p>
            <a:r>
              <a:rPr lang="zh-CN" altLang="en-US" sz="2400" b="1" dirty="0">
                <a:latin typeface="黑体" panose="02010609060101010101" pitchFamily="49" charset="-122"/>
                <a:ea typeface="黑体" panose="02010609060101010101" pitchFamily="49" charset="-122"/>
              </a:rPr>
              <a:t>空气在喷管出口处的马赫数正好等于</a:t>
            </a:r>
            <a:r>
              <a:rPr lang="en-US" altLang="zh-CN" sz="2400" b="1" dirty="0">
                <a:latin typeface="黑体" panose="02010609060101010101" pitchFamily="49" charset="-122"/>
                <a:ea typeface="黑体" panose="02010609060101010101" pitchFamily="49" charset="-122"/>
              </a:rPr>
              <a:t>1</a:t>
            </a:r>
            <a:r>
              <a:rPr lang="zh-CN" altLang="en-US" sz="2400" b="1" dirty="0">
                <a:latin typeface="黑体" panose="02010609060101010101" pitchFamily="49" charset="-122"/>
                <a:ea typeface="黑体" panose="02010609060101010101" pitchFamily="49" charset="-122"/>
              </a:rPr>
              <a:t>，这</a:t>
            </a:r>
            <a:r>
              <a:rPr lang="zh-CN" altLang="en-US" sz="2400" b="1" dirty="0" smtClean="0">
                <a:latin typeface="黑体" panose="02010609060101010101" pitchFamily="49" charset="-122"/>
                <a:ea typeface="黑体" panose="02010609060101010101" pitchFamily="49" charset="-122"/>
              </a:rPr>
              <a:t>说明： </a:t>
            </a:r>
            <a:endParaRPr lang="zh-CN" altLang="en-US" sz="2400" b="1" dirty="0">
              <a:latin typeface="黑体" panose="02010609060101010101" pitchFamily="49" charset="-122"/>
              <a:ea typeface="黑体" panose="02010609060101010101" pitchFamily="49" charset="-122"/>
            </a:endParaRPr>
          </a:p>
        </p:txBody>
      </p:sp>
      <p:sp>
        <p:nvSpPr>
          <p:cNvPr id="144389" name="矩形 192520"/>
          <p:cNvSpPr>
            <a:spLocks noChangeArrowheads="1"/>
          </p:cNvSpPr>
          <p:nvPr/>
        </p:nvSpPr>
        <p:spPr bwMode="auto">
          <a:xfrm>
            <a:off x="0" y="331470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44390" name="矩形 192522"/>
          <p:cNvSpPr>
            <a:spLocks noChangeArrowheads="1"/>
          </p:cNvSpPr>
          <p:nvPr/>
        </p:nvSpPr>
        <p:spPr bwMode="auto">
          <a:xfrm>
            <a:off x="0" y="331470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graphicFrame>
        <p:nvGraphicFramePr>
          <p:cNvPr id="144391" name="对象 192521"/>
          <p:cNvGraphicFramePr/>
          <p:nvPr/>
        </p:nvGraphicFramePr>
        <p:xfrm>
          <a:off x="3995738" y="1700213"/>
          <a:ext cx="5003800" cy="406400"/>
        </p:xfrm>
        <a:graphic>
          <a:graphicData uri="http://schemas.openxmlformats.org/presentationml/2006/ole">
            <mc:AlternateContent xmlns:mc="http://schemas.openxmlformats.org/markup-compatibility/2006">
              <mc:Choice xmlns:v="urn:schemas-microsoft-com:vml" Requires="v">
                <p:oleObj spid="_x0000_s60456" name="" r:id="rId2" imgW="2806700" imgH="228600" progId="Equation.DSMT4">
                  <p:embed/>
                </p:oleObj>
              </mc:Choice>
              <mc:Fallback>
                <p:oleObj name="" r:id="rId2" imgW="2806700" imgH="228600" progId="Equation.DSMT4">
                  <p:embed/>
                  <p:pic>
                    <p:nvPicPr>
                      <p:cNvPr id="0" name="对象 192521"/>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995738" y="1700213"/>
                        <a:ext cx="5003800" cy="406400"/>
                      </a:xfrm>
                      <a:prstGeom prst="rect">
                        <a:avLst/>
                      </a:prstGeom>
                      <a:solidFill>
                        <a:schemeClr val="accent1">
                          <a:lumMod val="40000"/>
                          <a:lumOff val="60000"/>
                        </a:schemeClr>
                      </a:solidFill>
                      <a:ln>
                        <a:noFill/>
                      </a:ln>
                    </p:spPr>
                  </p:pic>
                </p:oleObj>
              </mc:Fallback>
            </mc:AlternateContent>
          </a:graphicData>
        </a:graphic>
      </p:graphicFrame>
      <p:sp>
        <p:nvSpPr>
          <p:cNvPr id="144392" name="矩形 192523"/>
          <p:cNvSpPr>
            <a:spLocks noChangeArrowheads="1"/>
          </p:cNvSpPr>
          <p:nvPr/>
        </p:nvSpPr>
        <p:spPr bwMode="auto">
          <a:xfrm>
            <a:off x="3995738" y="2200702"/>
            <a:ext cx="5005387" cy="830997"/>
          </a:xfrm>
          <a:prstGeom prst="rect">
            <a:avLst/>
          </a:prstGeom>
          <a:solidFill>
            <a:schemeClr val="accent1">
              <a:lumMod val="40000"/>
              <a:lumOff val="60000"/>
            </a:schemeClr>
          </a:solidFill>
          <a:ln>
            <a:noFill/>
          </a:ln>
        </p:spPr>
        <p:txBody>
          <a:bodyPr wrap="square" anchor="ctr">
            <a:spAutoFit/>
          </a:bodyPr>
          <a:lstStyle/>
          <a:p>
            <a:r>
              <a:rPr lang="zh-CN" altLang="en-US" sz="2400" b="1" dirty="0">
                <a:latin typeface="Times New Roman" panose="02020603050405020304" pitchFamily="18" charset="0"/>
                <a:ea typeface="黑体" panose="02010609060101010101" pitchFamily="49" charset="-122"/>
                <a:cs typeface="Times New Roman" panose="02020603050405020304" pitchFamily="18" charset="0"/>
              </a:rPr>
              <a:t>出口</a:t>
            </a:r>
            <a:r>
              <a:rPr lang="en-US" altLang="zh-CN" sz="2400" b="1" dirty="0">
                <a:latin typeface="Times New Roman" panose="02020603050405020304" pitchFamily="18" charset="0"/>
                <a:ea typeface="黑体" panose="02010609060101010101" pitchFamily="49" charset="-122"/>
                <a:cs typeface="Times New Roman" panose="02020603050405020304" pitchFamily="18" charset="0"/>
              </a:rPr>
              <a:t>Ma=1</a:t>
            </a:r>
            <a:r>
              <a:rPr lang="zh-CN" altLang="en-US" sz="2400" b="1" dirty="0">
                <a:latin typeface="Times New Roman" panose="02020603050405020304" pitchFamily="18" charset="0"/>
                <a:ea typeface="黑体" panose="02010609060101010101" pitchFamily="49" charset="-122"/>
                <a:cs typeface="Times New Roman" panose="02020603050405020304" pitchFamily="18" charset="0"/>
              </a:rPr>
              <a:t>，得流体在出口处参数</a:t>
            </a:r>
            <a:r>
              <a:rPr lang="en-US" altLang="zh-CN" sz="2400" b="1" dirty="0">
                <a:latin typeface="Times New Roman" panose="02020603050405020304" pitchFamily="18" charset="0"/>
                <a:ea typeface="黑体" panose="02010609060101010101" pitchFamily="49" charset="-122"/>
                <a:cs typeface="Times New Roman" panose="02020603050405020304" pitchFamily="18" charset="0"/>
              </a:rPr>
              <a:t>(</a:t>
            </a:r>
            <a:r>
              <a:rPr lang="zh-CN" altLang="en-US" sz="2400" b="1" dirty="0">
                <a:latin typeface="Times New Roman" panose="02020603050405020304" pitchFamily="18" charset="0"/>
                <a:ea typeface="黑体" panose="02010609060101010101" pitchFamily="49" charset="-122"/>
                <a:cs typeface="Times New Roman" panose="02020603050405020304" pitchFamily="18" charset="0"/>
              </a:rPr>
              <a:t>临界参数</a:t>
            </a:r>
            <a:r>
              <a:rPr lang="en-US" altLang="zh-CN" sz="2400" b="1" dirty="0">
                <a:latin typeface="Times New Roman" panose="02020603050405020304" pitchFamily="18" charset="0"/>
                <a:ea typeface="黑体" panose="02010609060101010101" pitchFamily="49" charset="-122"/>
                <a:cs typeface="Times New Roman" panose="02020603050405020304" pitchFamily="18" charset="0"/>
              </a:rPr>
              <a:t>)</a:t>
            </a:r>
            <a:r>
              <a:rPr lang="en-US" altLang="zh-CN" dirty="0">
                <a:latin typeface="Times New Roman" panose="02020603050405020304" pitchFamily="18" charset="0"/>
                <a:ea typeface="黑体" panose="02010609060101010101" pitchFamily="49" charset="-122"/>
                <a:cs typeface="Times New Roman" panose="02020603050405020304" pitchFamily="18" charset="0"/>
              </a:rPr>
              <a:t> </a:t>
            </a:r>
            <a:endParaRPr lang="en-US" altLang="zh-CN" dirty="0">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44393" name="矩形 192525"/>
          <p:cNvSpPr>
            <a:spLocks noChangeArrowheads="1"/>
          </p:cNvSpPr>
          <p:nvPr/>
        </p:nvSpPr>
        <p:spPr bwMode="auto">
          <a:xfrm>
            <a:off x="0" y="331470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graphicFrame>
        <p:nvGraphicFramePr>
          <p:cNvPr id="144394" name="对象 192524"/>
          <p:cNvGraphicFramePr>
            <a:graphicFrameLocks noChangeAspect="1"/>
          </p:cNvGraphicFramePr>
          <p:nvPr/>
        </p:nvGraphicFramePr>
        <p:xfrm>
          <a:off x="5003800" y="3141663"/>
          <a:ext cx="2019300" cy="342900"/>
        </p:xfrm>
        <a:graphic>
          <a:graphicData uri="http://schemas.openxmlformats.org/presentationml/2006/ole">
            <mc:AlternateContent xmlns:mc="http://schemas.openxmlformats.org/markup-compatibility/2006">
              <mc:Choice xmlns:v="urn:schemas-microsoft-com:vml" Requires="v">
                <p:oleObj spid="_x0000_s60457" name="" r:id="rId4" imgW="1346200" imgH="228600" progId="Equation.DSMT4">
                  <p:embed/>
                </p:oleObj>
              </mc:Choice>
              <mc:Fallback>
                <p:oleObj name="" r:id="rId4" imgW="1346200" imgH="228600" progId="Equation.DSMT4">
                  <p:embed/>
                  <p:pic>
                    <p:nvPicPr>
                      <p:cNvPr id="0" name="对象 192524"/>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003800" y="3141663"/>
                        <a:ext cx="2019300" cy="342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144395" name="对象 192526"/>
          <p:cNvGraphicFramePr/>
          <p:nvPr/>
        </p:nvGraphicFramePr>
        <p:xfrm>
          <a:off x="3851275" y="3573463"/>
          <a:ext cx="5008563" cy="927100"/>
        </p:xfrm>
        <a:graphic>
          <a:graphicData uri="http://schemas.openxmlformats.org/presentationml/2006/ole">
            <mc:AlternateContent xmlns:mc="http://schemas.openxmlformats.org/markup-compatibility/2006">
              <mc:Choice xmlns:v="urn:schemas-microsoft-com:vml" Requires="v">
                <p:oleObj spid="_x0000_s60458" name="" r:id="rId6" imgW="3084830" imgH="571500" progId="Equation.DSMT4">
                  <p:embed/>
                </p:oleObj>
              </mc:Choice>
              <mc:Fallback>
                <p:oleObj name="" r:id="rId6" imgW="3084830" imgH="571500" progId="Equation.DSMT4">
                  <p:embed/>
                  <p:pic>
                    <p:nvPicPr>
                      <p:cNvPr id="0" name="对象 192526"/>
                      <p:cNvPicPr>
                        <a:picLocks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851275" y="3573463"/>
                        <a:ext cx="5008563" cy="927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144396" name="对象 192528"/>
          <p:cNvGraphicFramePr/>
          <p:nvPr/>
        </p:nvGraphicFramePr>
        <p:xfrm>
          <a:off x="3644900" y="4581525"/>
          <a:ext cx="5238750" cy="657225"/>
        </p:xfrm>
        <a:graphic>
          <a:graphicData uri="http://schemas.openxmlformats.org/presentationml/2006/ole">
            <mc:AlternateContent xmlns:mc="http://schemas.openxmlformats.org/markup-compatibility/2006">
              <mc:Choice xmlns:v="urn:schemas-microsoft-com:vml" Requires="v">
                <p:oleObj spid="_x0000_s60459" name="" r:id="rId8" imgW="3644900" imgH="457200" progId="Equation.DSMT4">
                  <p:embed/>
                </p:oleObj>
              </mc:Choice>
              <mc:Fallback>
                <p:oleObj name="" r:id="rId8" imgW="3644900" imgH="457200" progId="Equation.DSMT4">
                  <p:embed/>
                  <p:pic>
                    <p:nvPicPr>
                      <p:cNvPr id="0" name="对象 192528"/>
                      <p:cNvPicPr>
                        <a:picLocks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644900" y="4581525"/>
                        <a:ext cx="5238750" cy="657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144397" name="对象 192530"/>
          <p:cNvGraphicFramePr/>
          <p:nvPr/>
        </p:nvGraphicFramePr>
        <p:xfrm>
          <a:off x="3851275" y="5443538"/>
          <a:ext cx="4608513" cy="1200150"/>
        </p:xfrm>
        <a:graphic>
          <a:graphicData uri="http://schemas.openxmlformats.org/presentationml/2006/ole">
            <mc:AlternateContent xmlns:mc="http://schemas.openxmlformats.org/markup-compatibility/2006">
              <mc:Choice xmlns:v="urn:schemas-microsoft-com:vml" Requires="v">
                <p:oleObj spid="_x0000_s60460" name="" r:id="rId10" imgW="3619500" imgH="939800" progId="Equation.DSMT4">
                  <p:embed/>
                </p:oleObj>
              </mc:Choice>
              <mc:Fallback>
                <p:oleObj name="" r:id="rId10" imgW="3619500" imgH="939800" progId="Equation.DSMT4">
                  <p:embed/>
                  <p:pic>
                    <p:nvPicPr>
                      <p:cNvPr id="0" name="对象 192530"/>
                      <p:cNvPicPr>
                        <a:picLocks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3851275" y="5443538"/>
                        <a:ext cx="4608513" cy="120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144398" name="矩形 192536"/>
          <p:cNvSpPr>
            <a:spLocks noChangeArrowheads="1"/>
          </p:cNvSpPr>
          <p:nvPr/>
        </p:nvSpPr>
        <p:spPr bwMode="auto">
          <a:xfrm>
            <a:off x="3635375" y="3068638"/>
            <a:ext cx="5400675" cy="3673475"/>
          </a:xfrm>
          <a:prstGeom prst="rect">
            <a:avLst/>
          </a:prstGeom>
          <a:noFill/>
          <a:ln w="25400">
            <a:solidFill>
              <a:schemeClr val="folHlink"/>
            </a:solidFill>
            <a:miter lim="800000"/>
          </a:ln>
          <a:extLst>
            <a:ext uri="{909E8E84-426E-40DD-AFC4-6F175D3DCCD1}">
              <a14:hiddenFill xmlns:a14="http://schemas.microsoft.com/office/drawing/2010/main">
                <a:solidFill>
                  <a:srgbClr val="FFFFFF"/>
                </a:solidFill>
              </a14:hiddenFill>
            </a:ext>
          </a:extLst>
        </p:spPr>
        <p:txBody>
          <a:bodyPr/>
          <a:lstStyle/>
          <a:p>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0" y="779463"/>
            <a:ext cx="4316342" cy="5834378"/>
          </a:xfrm>
          <a:prstGeom prst="rect">
            <a:avLst/>
          </a:prstGeom>
        </p:spPr>
      </p:pic>
      <p:sp>
        <p:nvSpPr>
          <p:cNvPr id="145409" name="矩形 193541"/>
          <p:cNvSpPr>
            <a:spLocks noChangeArrowheads="1"/>
          </p:cNvSpPr>
          <p:nvPr/>
        </p:nvSpPr>
        <p:spPr bwMode="auto">
          <a:xfrm>
            <a:off x="0" y="320040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graphicFrame>
        <p:nvGraphicFramePr>
          <p:cNvPr id="145410" name="对象 193540"/>
          <p:cNvGraphicFramePr/>
          <p:nvPr/>
        </p:nvGraphicFramePr>
        <p:xfrm>
          <a:off x="3492500" y="115888"/>
          <a:ext cx="4537075" cy="663575"/>
        </p:xfrm>
        <a:graphic>
          <a:graphicData uri="http://schemas.openxmlformats.org/presentationml/2006/ole">
            <mc:AlternateContent xmlns:mc="http://schemas.openxmlformats.org/markup-compatibility/2006">
              <mc:Choice xmlns:v="urn:schemas-microsoft-com:vml" Requires="v">
                <p:oleObj spid="_x0000_s61487" name="" r:id="rId2" imgW="3124200" imgH="457200" progId="Equation.DSMT4">
                  <p:embed/>
                </p:oleObj>
              </mc:Choice>
              <mc:Fallback>
                <p:oleObj name="" r:id="rId2" imgW="3124200" imgH="457200" progId="Equation.DSMT4">
                  <p:embed/>
                  <p:pic>
                    <p:nvPicPr>
                      <p:cNvPr id="0" name="对象 193540"/>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492500" y="115888"/>
                        <a:ext cx="4537075" cy="663575"/>
                      </a:xfrm>
                      <a:prstGeom prst="rect">
                        <a:avLst/>
                      </a:prstGeom>
                      <a:noFill/>
                      <a:ln w="25400">
                        <a:solidFill>
                          <a:schemeClr val="folHlink"/>
                        </a:solidFill>
                        <a:miter lim="800000"/>
                        <a:headEnd/>
                        <a:tailEnd/>
                      </a:ln>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45412" name="矩形 193545"/>
          <p:cNvSpPr>
            <a:spLocks noChangeArrowheads="1"/>
          </p:cNvSpPr>
          <p:nvPr/>
        </p:nvSpPr>
        <p:spPr bwMode="auto">
          <a:xfrm>
            <a:off x="1116013" y="186681"/>
            <a:ext cx="2196435" cy="461665"/>
          </a:xfrm>
          <a:prstGeom prst="rect">
            <a:avLst/>
          </a:prstGeom>
          <a:solidFill>
            <a:schemeClr val="accent1">
              <a:lumMod val="40000"/>
              <a:lumOff val="60000"/>
            </a:schemeClr>
          </a:solidFill>
          <a:ln>
            <a:noFill/>
          </a:ln>
        </p:spPr>
        <p:txBody>
          <a:bodyPr wrap="none" anchor="ctr">
            <a:spAutoFit/>
          </a:bodyPr>
          <a:lstStyle/>
          <a:p>
            <a:r>
              <a:rPr lang="zh-CN" altLang="en-US" sz="2400" b="1" dirty="0">
                <a:latin typeface="黑体" panose="02010609060101010101" pitchFamily="49" charset="-122"/>
                <a:ea typeface="黑体" panose="02010609060101010101" pitchFamily="49" charset="-122"/>
              </a:rPr>
              <a:t>切去前的流量 </a:t>
            </a:r>
            <a:endParaRPr lang="zh-CN" altLang="en-US" sz="2400" b="1" dirty="0">
              <a:latin typeface="黑体" panose="02010609060101010101" pitchFamily="49" charset="-122"/>
              <a:ea typeface="黑体" panose="02010609060101010101" pitchFamily="49" charset="-122"/>
            </a:endParaRPr>
          </a:p>
        </p:txBody>
      </p:sp>
      <p:sp>
        <p:nvSpPr>
          <p:cNvPr id="193547" name="矩形 193546"/>
          <p:cNvSpPr>
            <a:spLocks noChangeArrowheads="1"/>
          </p:cNvSpPr>
          <p:nvPr/>
        </p:nvSpPr>
        <p:spPr bwMode="auto">
          <a:xfrm>
            <a:off x="4284663" y="897404"/>
            <a:ext cx="4608512" cy="1938992"/>
          </a:xfrm>
          <a:prstGeom prst="rect">
            <a:avLst/>
          </a:prstGeom>
          <a:solidFill>
            <a:schemeClr val="accent1">
              <a:lumMod val="40000"/>
              <a:lumOff val="60000"/>
            </a:schemeClr>
          </a:solidFill>
          <a:ln>
            <a:noFill/>
          </a:ln>
        </p:spPr>
        <p:txBody>
          <a:bodyPr anchor="ctr">
            <a:spAutoFit/>
          </a:bodyPr>
          <a:lstStyle/>
          <a:p>
            <a:r>
              <a:rPr lang="zh-CN" altLang="en-US" sz="2400" b="1" dirty="0">
                <a:latin typeface="黑体" panose="02010609060101010101" pitchFamily="49" charset="-122"/>
                <a:ea typeface="黑体" panose="02010609060101010101" pitchFamily="49" charset="-122"/>
              </a:rPr>
              <a:t>若将喷管切去一段，根据题意，背压是固定的（仍然小于临界压力），因此喷管出口处的马赫数仍为</a:t>
            </a:r>
            <a:r>
              <a:rPr lang="en-US" altLang="zh-CN" sz="2400" b="1" dirty="0">
                <a:latin typeface="黑体" panose="02010609060101010101" pitchFamily="49" charset="-122"/>
                <a:ea typeface="黑体" panose="02010609060101010101" pitchFamily="49" charset="-122"/>
              </a:rPr>
              <a:t>1</a:t>
            </a:r>
            <a:r>
              <a:rPr lang="zh-CN" altLang="en-US" sz="2400" b="1" dirty="0">
                <a:latin typeface="黑体" panose="02010609060101010101" pitchFamily="49" charset="-122"/>
                <a:ea typeface="黑体" panose="02010609060101010101" pitchFamily="49" charset="-122"/>
              </a:rPr>
              <a:t>，这说明喷管出口处的参数仍为临界参数，即 </a:t>
            </a:r>
            <a:endParaRPr lang="zh-CN" altLang="en-US" sz="2400" b="1" dirty="0">
              <a:latin typeface="黑体" panose="02010609060101010101" pitchFamily="49" charset="-122"/>
              <a:ea typeface="黑体" panose="02010609060101010101" pitchFamily="49" charset="-122"/>
            </a:endParaRPr>
          </a:p>
        </p:txBody>
      </p:sp>
      <p:sp>
        <p:nvSpPr>
          <p:cNvPr id="145414" name="矩形 193548"/>
          <p:cNvSpPr>
            <a:spLocks noChangeArrowheads="1"/>
          </p:cNvSpPr>
          <p:nvPr/>
        </p:nvSpPr>
        <p:spPr bwMode="auto">
          <a:xfrm>
            <a:off x="0" y="331470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45415" name="矩形 193550"/>
          <p:cNvSpPr>
            <a:spLocks noChangeArrowheads="1"/>
          </p:cNvSpPr>
          <p:nvPr/>
        </p:nvSpPr>
        <p:spPr bwMode="auto">
          <a:xfrm>
            <a:off x="0" y="331470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45416" name="矩形 193552"/>
          <p:cNvSpPr>
            <a:spLocks noChangeArrowheads="1"/>
          </p:cNvSpPr>
          <p:nvPr/>
        </p:nvSpPr>
        <p:spPr bwMode="auto">
          <a:xfrm>
            <a:off x="0" y="330993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45417" name="矩形 193554"/>
          <p:cNvSpPr>
            <a:spLocks noChangeArrowheads="1"/>
          </p:cNvSpPr>
          <p:nvPr/>
        </p:nvSpPr>
        <p:spPr bwMode="auto">
          <a:xfrm>
            <a:off x="0" y="3305175"/>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grpSp>
        <p:nvGrpSpPr>
          <p:cNvPr id="193560" name="组合 193559"/>
          <p:cNvGrpSpPr/>
          <p:nvPr/>
        </p:nvGrpSpPr>
        <p:grpSpPr bwMode="auto">
          <a:xfrm>
            <a:off x="4787900" y="2924175"/>
            <a:ext cx="3529013" cy="2159000"/>
            <a:chOff x="3016" y="1842"/>
            <a:chExt cx="2223" cy="1360"/>
          </a:xfrm>
        </p:grpSpPr>
        <p:graphicFrame>
          <p:nvGraphicFramePr>
            <p:cNvPr id="145419" name="对象 193547"/>
            <p:cNvGraphicFramePr/>
            <p:nvPr/>
          </p:nvGraphicFramePr>
          <p:xfrm>
            <a:off x="3152" y="1842"/>
            <a:ext cx="1769" cy="301"/>
          </p:xfrm>
          <a:graphic>
            <a:graphicData uri="http://schemas.openxmlformats.org/presentationml/2006/ole">
              <mc:AlternateContent xmlns:mc="http://schemas.openxmlformats.org/markup-compatibility/2006">
                <mc:Choice xmlns:v="urn:schemas-microsoft-com:vml" Requires="v">
                  <p:oleObj spid="_x0000_s61488" name="" r:id="rId4" imgW="1346200" imgH="228600" progId="Equation.DSMT4">
                    <p:embed/>
                  </p:oleObj>
                </mc:Choice>
                <mc:Fallback>
                  <p:oleObj name="" r:id="rId4" imgW="1346200" imgH="228600" progId="Equation.DSMT4">
                    <p:embed/>
                    <p:pic>
                      <p:nvPicPr>
                        <p:cNvPr id="0" name="对象 193547"/>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152" y="1842"/>
                          <a:ext cx="1769" cy="3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145420" name="对象 193549"/>
            <p:cNvGraphicFramePr/>
            <p:nvPr/>
          </p:nvGraphicFramePr>
          <p:xfrm>
            <a:off x="3152" y="2204"/>
            <a:ext cx="1406" cy="293"/>
          </p:xfrm>
          <a:graphic>
            <a:graphicData uri="http://schemas.openxmlformats.org/presentationml/2006/ole">
              <mc:AlternateContent xmlns:mc="http://schemas.openxmlformats.org/markup-compatibility/2006">
                <mc:Choice xmlns:v="urn:schemas-microsoft-com:vml" Requires="v">
                  <p:oleObj spid="_x0000_s61489" name="" r:id="rId6" imgW="1091565" imgH="228600" progId="Equation.DSMT4">
                    <p:embed/>
                  </p:oleObj>
                </mc:Choice>
                <mc:Fallback>
                  <p:oleObj name="" r:id="rId6" imgW="1091565" imgH="228600" progId="Equation.DSMT4">
                    <p:embed/>
                    <p:pic>
                      <p:nvPicPr>
                        <p:cNvPr id="0" name="对象 193549"/>
                        <p:cNvPicPr>
                          <a:picLocks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152" y="2204"/>
                          <a:ext cx="1406" cy="2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145421" name="对象 193551"/>
            <p:cNvGraphicFramePr/>
            <p:nvPr/>
          </p:nvGraphicFramePr>
          <p:xfrm>
            <a:off x="3062" y="2522"/>
            <a:ext cx="2086" cy="318"/>
          </p:xfrm>
          <a:graphic>
            <a:graphicData uri="http://schemas.openxmlformats.org/presentationml/2006/ole">
              <mc:AlternateContent xmlns:mc="http://schemas.openxmlformats.org/markup-compatibility/2006">
                <mc:Choice xmlns:v="urn:schemas-microsoft-com:vml" Requires="v">
                  <p:oleObj spid="_x0000_s61490" name="" r:id="rId8" imgW="1562100" imgH="241300" progId="Equation.DSMT4">
                    <p:embed/>
                  </p:oleObj>
                </mc:Choice>
                <mc:Fallback>
                  <p:oleObj name="" r:id="rId8" imgW="1562100" imgH="241300" progId="Equation.DSMT4">
                    <p:embed/>
                    <p:pic>
                      <p:nvPicPr>
                        <p:cNvPr id="0" name="对象 193551"/>
                        <p:cNvPicPr>
                          <a:picLocks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062" y="2522"/>
                          <a:ext cx="2086" cy="3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145422" name="对象 193553"/>
            <p:cNvGraphicFramePr/>
            <p:nvPr/>
          </p:nvGraphicFramePr>
          <p:xfrm>
            <a:off x="3107" y="2885"/>
            <a:ext cx="1542" cy="291"/>
          </p:xfrm>
          <a:graphic>
            <a:graphicData uri="http://schemas.openxmlformats.org/presentationml/2006/ole">
              <mc:AlternateContent xmlns:mc="http://schemas.openxmlformats.org/markup-compatibility/2006">
                <mc:Choice xmlns:v="urn:schemas-microsoft-com:vml" Requires="v">
                  <p:oleObj spid="_x0000_s61491" name="" r:id="rId10" imgW="1345565" imgH="254000" progId="Equation.DSMT4">
                    <p:embed/>
                  </p:oleObj>
                </mc:Choice>
                <mc:Fallback>
                  <p:oleObj name="" r:id="rId10" imgW="1345565" imgH="254000" progId="Equation.DSMT4">
                    <p:embed/>
                    <p:pic>
                      <p:nvPicPr>
                        <p:cNvPr id="0" name="对象 193553"/>
                        <p:cNvPicPr>
                          <a:picLocks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3107" y="2885"/>
                          <a:ext cx="1542"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145423" name="矩形 193555"/>
            <p:cNvSpPr>
              <a:spLocks noChangeArrowheads="1"/>
            </p:cNvSpPr>
            <p:nvPr/>
          </p:nvSpPr>
          <p:spPr bwMode="auto">
            <a:xfrm>
              <a:off x="3016" y="1842"/>
              <a:ext cx="2223" cy="1360"/>
            </a:xfrm>
            <a:prstGeom prst="rect">
              <a:avLst/>
            </a:prstGeom>
            <a:noFill/>
            <a:ln w="25400">
              <a:solidFill>
                <a:schemeClr val="folHlink"/>
              </a:solidFill>
              <a:miter lim="800000"/>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sp>
        <p:nvSpPr>
          <p:cNvPr id="193557" name="矩形 193556"/>
          <p:cNvSpPr>
            <a:spLocks noChangeArrowheads="1"/>
          </p:cNvSpPr>
          <p:nvPr/>
        </p:nvSpPr>
        <p:spPr bwMode="auto">
          <a:xfrm>
            <a:off x="3348038" y="5300663"/>
            <a:ext cx="5472112" cy="457200"/>
          </a:xfrm>
          <a:prstGeom prst="rect">
            <a:avLst/>
          </a:prstGeom>
          <a:solidFill>
            <a:schemeClr val="accent1">
              <a:lumMod val="40000"/>
              <a:lumOff val="60000"/>
            </a:schemeClr>
          </a:solidFill>
          <a:ln>
            <a:noFill/>
          </a:ln>
        </p:spPr>
        <p:txBody>
          <a:bodyPr anchor="ctr">
            <a:spAutoFit/>
          </a:bodyPr>
          <a:lstStyle/>
          <a:p>
            <a:r>
              <a:rPr lang="zh-CN" altLang="en-US" sz="2400" b="1" dirty="0">
                <a:latin typeface="黑体" panose="02010609060101010101" pitchFamily="49" charset="-122"/>
                <a:ea typeface="黑体" panose="02010609060101010101" pitchFamily="49" charset="-122"/>
              </a:rPr>
              <a:t>则喷管切去一段后流速不变，流量增加 </a:t>
            </a:r>
            <a:endParaRPr lang="zh-CN" altLang="en-US" sz="2400" b="1" dirty="0">
              <a:latin typeface="黑体" panose="02010609060101010101" pitchFamily="49" charset="-122"/>
              <a:ea typeface="黑体" panose="02010609060101010101" pitchFamily="49" charset="-122"/>
            </a:endParaRPr>
          </a:p>
        </p:txBody>
      </p:sp>
      <p:sp>
        <p:nvSpPr>
          <p:cNvPr id="145425" name="矩形 193558"/>
          <p:cNvSpPr>
            <a:spLocks noChangeArrowheads="1"/>
          </p:cNvSpPr>
          <p:nvPr/>
        </p:nvSpPr>
        <p:spPr bwMode="auto">
          <a:xfrm>
            <a:off x="0" y="320040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graphicFrame>
        <p:nvGraphicFramePr>
          <p:cNvPr id="193558" name="对象 193557"/>
          <p:cNvGraphicFramePr/>
          <p:nvPr/>
        </p:nvGraphicFramePr>
        <p:xfrm>
          <a:off x="3563938" y="5949950"/>
          <a:ext cx="4826000" cy="704850"/>
        </p:xfrm>
        <a:graphic>
          <a:graphicData uri="http://schemas.openxmlformats.org/presentationml/2006/ole">
            <mc:AlternateContent xmlns:mc="http://schemas.openxmlformats.org/markup-compatibility/2006">
              <mc:Choice xmlns:v="urn:schemas-microsoft-com:vml" Requires="v">
                <p:oleObj spid="_x0000_s61492" name="" r:id="rId12" imgW="3136900" imgH="457200" progId="Equation.DSMT4">
                  <p:embed/>
                </p:oleObj>
              </mc:Choice>
              <mc:Fallback>
                <p:oleObj name="" r:id="rId12" imgW="3136900" imgH="457200" progId="Equation.DSMT4">
                  <p:embed/>
                  <p:pic>
                    <p:nvPicPr>
                      <p:cNvPr id="0" name="对象 193557"/>
                      <p:cNvPicPr>
                        <a:picLocks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3563938" y="5949950"/>
                        <a:ext cx="4826000" cy="704850"/>
                      </a:xfrm>
                      <a:prstGeom prst="rect">
                        <a:avLst/>
                      </a:prstGeom>
                      <a:noFill/>
                      <a:ln w="25400">
                        <a:solidFill>
                          <a:schemeClr val="folHlink"/>
                        </a:solidFill>
                        <a:miter lim="800000"/>
                        <a:headEnd/>
                        <a:tailEnd/>
                      </a:ln>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ustDataLst>
      <p:tags r:id="rId14"/>
    </p:custData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93547"/>
                                        </p:tgtEl>
                                        <p:attrNameLst>
                                          <p:attrName>style.visibility</p:attrName>
                                        </p:attrNameLst>
                                      </p:cBhvr>
                                      <p:to>
                                        <p:strVal val="visible"/>
                                      </p:to>
                                    </p:set>
                                    <p:animEffect transition="in" filter="blinds(horizontal)">
                                      <p:cBhvr>
                                        <p:cTn id="7" dur="500"/>
                                        <p:tgtEl>
                                          <p:spTgt spid="193547"/>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193560"/>
                                        </p:tgtEl>
                                        <p:attrNameLst>
                                          <p:attrName>style.visibility</p:attrName>
                                        </p:attrNameLst>
                                      </p:cBhvr>
                                      <p:to>
                                        <p:strVal val="visible"/>
                                      </p:to>
                                    </p:set>
                                    <p:animEffect transition="in" filter="blinds(horizontal)">
                                      <p:cBhvr>
                                        <p:cTn id="12" dur="500"/>
                                        <p:tgtEl>
                                          <p:spTgt spid="193560"/>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193557"/>
                                        </p:tgtEl>
                                        <p:attrNameLst>
                                          <p:attrName>style.visibility</p:attrName>
                                        </p:attrNameLst>
                                      </p:cBhvr>
                                      <p:to>
                                        <p:strVal val="visible"/>
                                      </p:to>
                                    </p:set>
                                    <p:animEffect transition="in" filter="blinds(horizontal)">
                                      <p:cBhvr>
                                        <p:cTn id="17" dur="500"/>
                                        <p:tgtEl>
                                          <p:spTgt spid="193557"/>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193558"/>
                                        </p:tgtEl>
                                        <p:attrNameLst>
                                          <p:attrName>style.visibility</p:attrName>
                                        </p:attrNameLst>
                                      </p:cBhvr>
                                      <p:to>
                                        <p:strVal val="visible"/>
                                      </p:to>
                                    </p:set>
                                    <p:animEffect transition="in" filter="blinds(horizontal)">
                                      <p:cBhvr>
                                        <p:cTn id="22" dur="500"/>
                                        <p:tgtEl>
                                          <p:spTgt spid="19355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3547" grpId="0" animBg="1"/>
      <p:bldP spid="193557" grpId="0" animBg="1"/>
    </p:bldLst>
  </p:timing>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6433" name="标题 194563"/>
          <p:cNvSpPr>
            <a:spLocks noGrp="1" noChangeArrowheads="1"/>
          </p:cNvSpPr>
          <p:nvPr>
            <p:ph type="title"/>
          </p:nvPr>
        </p:nvSpPr>
        <p:spPr>
          <a:xfrm>
            <a:off x="541201" y="669234"/>
            <a:ext cx="8229600" cy="1401763"/>
          </a:xfrm>
        </p:spPr>
        <p:txBody>
          <a:bodyPr>
            <a:normAutofit/>
          </a:bodyPr>
          <a:lstStyle/>
          <a:p>
            <a:r>
              <a:rPr lang="zh-CN" altLang="en-US" sz="2800" b="1" dirty="0" smtClean="0">
                <a:latin typeface="黑体" panose="02010609060101010101" pitchFamily="49" charset="-122"/>
                <a:ea typeface="黑体" panose="02010609060101010101" pitchFamily="49" charset="-122"/>
              </a:rPr>
              <a:t>讨论</a:t>
            </a:r>
            <a:r>
              <a:rPr lang="en-US" altLang="zh-CN" sz="2800" b="1" dirty="0" smtClean="0">
                <a:latin typeface="Times New Roman" panose="02020603050405020304" pitchFamily="18" charset="0"/>
                <a:ea typeface="黑体" panose="02010609060101010101" pitchFamily="49" charset="-122"/>
                <a:cs typeface="Times New Roman" panose="02020603050405020304" pitchFamily="18" charset="0"/>
              </a:rPr>
              <a:t>1</a:t>
            </a:r>
            <a:r>
              <a:rPr lang="en-US" altLang="zh-CN" sz="2800" b="1" dirty="0" smtClean="0">
                <a:latin typeface="黑体" panose="02010609060101010101" pitchFamily="49" charset="-122"/>
                <a:ea typeface="黑体" panose="02010609060101010101" pitchFamily="49" charset="-122"/>
              </a:rPr>
              <a:t>:</a:t>
            </a:r>
            <a:r>
              <a:rPr lang="zh-CN" altLang="en-US" sz="2800" b="1" dirty="0">
                <a:latin typeface="黑体" panose="02010609060101010101" pitchFamily="49" charset="-122"/>
                <a:ea typeface="黑体" panose="02010609060101010101" pitchFamily="49" charset="-122"/>
              </a:rPr>
              <a:t>若仍然是渐缩喷管，但延长一段，则结果如何</a:t>
            </a:r>
            <a:r>
              <a:rPr lang="zh-CN" altLang="en-US" sz="2800" b="1" dirty="0" smtClean="0">
                <a:latin typeface="黑体" panose="02010609060101010101" pitchFamily="49" charset="-122"/>
                <a:ea typeface="黑体" panose="02010609060101010101" pitchFamily="49" charset="-122"/>
              </a:rPr>
              <a:t>？</a:t>
            </a:r>
            <a:endParaRPr lang="en-US" altLang="zh-CN" sz="2800" b="1" dirty="0" smtClean="0">
              <a:latin typeface="黑体" panose="02010609060101010101" pitchFamily="49" charset="-122"/>
              <a:ea typeface="黑体" panose="02010609060101010101" pitchFamily="49" charset="-122"/>
            </a:endParaRPr>
          </a:p>
        </p:txBody>
      </p:sp>
      <p:sp>
        <p:nvSpPr>
          <p:cNvPr id="194565" name="内容占位符 194564"/>
          <p:cNvSpPr>
            <a:spLocks noGrp="1" noChangeArrowheads="1"/>
          </p:cNvSpPr>
          <p:nvPr>
            <p:ph idx="1"/>
          </p:nvPr>
        </p:nvSpPr>
        <p:spPr>
          <a:xfrm>
            <a:off x="495300" y="2376418"/>
            <a:ext cx="8229600" cy="3712956"/>
          </a:xfrm>
        </p:spPr>
        <p:txBody>
          <a:bodyPr>
            <a:noAutofit/>
          </a:bodyPr>
          <a:lstStyle/>
          <a:p>
            <a:pPr marL="0" indent="0">
              <a:buFontTx/>
              <a:buNone/>
            </a:pPr>
            <a:r>
              <a:rPr lang="zh-CN" altLang="en-US" sz="2800" b="1" dirty="0" smtClean="0">
                <a:solidFill>
                  <a:srgbClr val="0070C0"/>
                </a:solidFill>
                <a:latin typeface="黑体" panose="02010609060101010101" pitchFamily="49" charset="-122"/>
                <a:ea typeface="黑体" panose="02010609060101010101" pitchFamily="49" charset="-122"/>
              </a:rPr>
              <a:t>答：空气的出口流速不变，但流量减小（因为出口截面积减小了）</a:t>
            </a:r>
            <a:endParaRPr lang="en-US" altLang="zh-CN" sz="2800" b="1" dirty="0" smtClean="0">
              <a:solidFill>
                <a:srgbClr val="0070C0"/>
              </a:solidFill>
              <a:latin typeface="黑体" panose="02010609060101010101" pitchFamily="49" charset="-122"/>
              <a:ea typeface="黑体" panose="02010609060101010101" pitchFamily="49" charset="-122"/>
            </a:endParaRPr>
          </a:p>
          <a:p>
            <a:pPr marL="0" indent="0">
              <a:buFontTx/>
              <a:buNone/>
            </a:pPr>
            <a:r>
              <a:rPr lang="zh-CN" altLang="en-US" sz="2800" b="1" dirty="0">
                <a:solidFill>
                  <a:srgbClr val="0070C0"/>
                </a:solidFill>
                <a:latin typeface="黑体" panose="02010609060101010101" pitchFamily="49" charset="-122"/>
                <a:ea typeface="黑体" panose="02010609060101010101" pitchFamily="49" charset="-122"/>
              </a:rPr>
              <a:t>这</a:t>
            </a:r>
            <a:r>
              <a:rPr lang="zh-CN" altLang="en-US" sz="2800" b="1" dirty="0" smtClean="0">
                <a:solidFill>
                  <a:srgbClr val="0070C0"/>
                </a:solidFill>
                <a:latin typeface="黑体" panose="02010609060101010101" pitchFamily="49" charset="-122"/>
                <a:ea typeface="黑体" panose="02010609060101010101" pitchFamily="49" charset="-122"/>
              </a:rPr>
              <a:t>也说明，若一个渐缩喷管的出口截面（记为</a:t>
            </a:r>
            <a:r>
              <a:rPr lang="en-US" altLang="zh-CN" sz="2800" b="1" i="1" dirty="0" smtClean="0">
                <a:solidFill>
                  <a:srgbClr val="0070C0"/>
                </a:solidFill>
                <a:latin typeface="Times New Roman" panose="02020603050405020304" pitchFamily="18" charset="0"/>
                <a:ea typeface="黑体" panose="02010609060101010101" pitchFamily="49" charset="-122"/>
                <a:cs typeface="Times New Roman" panose="02020603050405020304" pitchFamily="18" charset="0"/>
              </a:rPr>
              <a:t>A</a:t>
            </a:r>
            <a:r>
              <a:rPr lang="en-US" altLang="zh-CN" sz="2800" b="1" baseline="-25000" dirty="0" smtClean="0">
                <a:solidFill>
                  <a:srgbClr val="0070C0"/>
                </a:solidFill>
                <a:latin typeface="Times New Roman" panose="02020603050405020304" pitchFamily="18" charset="0"/>
                <a:ea typeface="黑体" panose="02010609060101010101" pitchFamily="49" charset="-122"/>
                <a:cs typeface="Times New Roman" panose="02020603050405020304" pitchFamily="18" charset="0"/>
              </a:rPr>
              <a:t>2</a:t>
            </a:r>
            <a:r>
              <a:rPr lang="zh-CN" altLang="en-US" sz="2800" b="1" dirty="0" smtClean="0">
                <a:solidFill>
                  <a:srgbClr val="0070C0"/>
                </a:solidFill>
                <a:latin typeface="黑体" panose="02010609060101010101" pitchFamily="49" charset="-122"/>
                <a:ea typeface="黑体" panose="02010609060101010101" pitchFamily="49" charset="-122"/>
              </a:rPr>
              <a:t>）流速已达声速，我们不可能通过将此喷管再延长一段而得到超声速气流，因为这样做只会使得延长后的出口截面（记为</a:t>
            </a:r>
            <a:r>
              <a:rPr lang="en-US" altLang="zh-CN" sz="2800" b="1" i="1" dirty="0" smtClean="0">
                <a:solidFill>
                  <a:srgbClr val="0070C0"/>
                </a:solidFill>
                <a:latin typeface="Times New Roman" panose="02020603050405020304" pitchFamily="18" charset="0"/>
                <a:ea typeface="黑体" panose="02010609060101010101" pitchFamily="49" charset="-122"/>
                <a:cs typeface="Times New Roman" panose="02020603050405020304" pitchFamily="18" charset="0"/>
              </a:rPr>
              <a:t>A</a:t>
            </a:r>
            <a:r>
              <a:rPr lang="en-US" altLang="zh-CN" sz="2800" b="1" baseline="-25000" dirty="0" smtClean="0">
                <a:solidFill>
                  <a:srgbClr val="0070C0"/>
                </a:solidFill>
                <a:latin typeface="Times New Roman" panose="02020603050405020304" pitchFamily="18" charset="0"/>
                <a:ea typeface="黑体" panose="02010609060101010101" pitchFamily="49" charset="-122"/>
                <a:cs typeface="Times New Roman" panose="02020603050405020304" pitchFamily="18" charset="0"/>
              </a:rPr>
              <a:t>3</a:t>
            </a:r>
            <a:r>
              <a:rPr lang="zh-CN" altLang="en-US" sz="2800" b="1" dirty="0" smtClean="0">
                <a:solidFill>
                  <a:srgbClr val="0070C0"/>
                </a:solidFill>
                <a:latin typeface="黑体" panose="02010609060101010101" pitchFamily="49" charset="-122"/>
                <a:ea typeface="黑体" panose="02010609060101010101" pitchFamily="49" charset="-122"/>
              </a:rPr>
              <a:t>）流速达到声速，而截面</a:t>
            </a:r>
            <a:r>
              <a:rPr lang="en-US" altLang="zh-CN" sz="2800" b="1" i="1" dirty="0">
                <a:solidFill>
                  <a:srgbClr val="0070C0"/>
                </a:solidFill>
                <a:latin typeface="Times New Roman" panose="02020603050405020304" pitchFamily="18" charset="0"/>
                <a:ea typeface="黑体" panose="02010609060101010101" pitchFamily="49" charset="-122"/>
                <a:cs typeface="Times New Roman" panose="02020603050405020304" pitchFamily="18" charset="0"/>
              </a:rPr>
              <a:t>A</a:t>
            </a:r>
            <a:r>
              <a:rPr lang="en-US" altLang="zh-CN" sz="2800" b="1" baseline="-25000" dirty="0">
                <a:solidFill>
                  <a:srgbClr val="0070C0"/>
                </a:solidFill>
                <a:latin typeface="Times New Roman" panose="02020603050405020304" pitchFamily="18" charset="0"/>
                <a:ea typeface="黑体" panose="02010609060101010101" pitchFamily="49" charset="-122"/>
                <a:cs typeface="Times New Roman" panose="02020603050405020304" pitchFamily="18" charset="0"/>
              </a:rPr>
              <a:t>2</a:t>
            </a:r>
            <a:r>
              <a:rPr lang="zh-CN" altLang="en-US" sz="2800" b="1" dirty="0" smtClean="0">
                <a:solidFill>
                  <a:srgbClr val="0070C0"/>
                </a:solidFill>
                <a:latin typeface="黑体" panose="02010609060101010101" pitchFamily="49" charset="-122"/>
                <a:ea typeface="黑体" panose="02010609060101010101" pitchFamily="49" charset="-122"/>
              </a:rPr>
              <a:t>处流体变为亚声速。</a:t>
            </a:r>
            <a:endParaRPr lang="zh-CN" altLang="en-US" sz="2800" b="1" dirty="0" smtClean="0">
              <a:solidFill>
                <a:srgbClr val="0070C0"/>
              </a:solidFill>
              <a:latin typeface="黑体" panose="02010609060101010101" pitchFamily="49" charset="-122"/>
              <a:ea typeface="黑体" panose="02010609060101010101" pitchFamily="49" charset="-122"/>
            </a:endParaRPr>
          </a:p>
        </p:txBody>
      </p:sp>
    </p:spTree>
    <p:custDataLst>
      <p:tags r:id="rId1"/>
    </p:custData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194565">
                                            <p:txEl>
                                              <p:pRg st="0" end="0"/>
                                            </p:txEl>
                                          </p:spTgt>
                                        </p:tgtEl>
                                        <p:attrNameLst>
                                          <p:attrName>style.visibility</p:attrName>
                                        </p:attrNameLst>
                                      </p:cBhvr>
                                      <p:to>
                                        <p:strVal val="visible"/>
                                      </p:to>
                                    </p:set>
                                    <p:animEffect transition="in" filter="blinds(horizontal)">
                                      <p:cBhvr>
                                        <p:cTn id="7" dur="500"/>
                                        <p:tgtEl>
                                          <p:spTgt spid="19456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194565">
                                            <p:txEl>
                                              <p:pRg st="1" end="1"/>
                                            </p:txEl>
                                          </p:spTgt>
                                        </p:tgtEl>
                                        <p:attrNameLst>
                                          <p:attrName>style.visibility</p:attrName>
                                        </p:attrNameLst>
                                      </p:cBhvr>
                                      <p:to>
                                        <p:strVal val="visible"/>
                                      </p:to>
                                    </p:set>
                                    <p:animEffect transition="in" filter="blinds(horizontal)">
                                      <p:cBhvr>
                                        <p:cTn id="12" dur="500"/>
                                        <p:tgtEl>
                                          <p:spTgt spid="194565">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7457" name="矩形 196611"/>
          <p:cNvSpPr>
            <a:spLocks noChangeArrowheads="1"/>
          </p:cNvSpPr>
          <p:nvPr/>
        </p:nvSpPr>
        <p:spPr bwMode="auto">
          <a:xfrm>
            <a:off x="468313" y="1989138"/>
            <a:ext cx="8229600" cy="3660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spcBef>
                <a:spcPct val="20000"/>
              </a:spcBef>
              <a:buFontTx/>
              <a:buChar char="•"/>
            </a:pPr>
            <a:endParaRPr lang="en-US" altLang="zh-CN" sz="2800" b="1">
              <a:solidFill>
                <a:srgbClr val="3333CC"/>
              </a:solidFill>
            </a:endParaRPr>
          </a:p>
          <a:p>
            <a:pPr lvl="1">
              <a:spcBef>
                <a:spcPct val="20000"/>
              </a:spcBef>
              <a:buFont typeface="Wingdings" panose="05000000000000000000" pitchFamily="2" charset="2"/>
              <a:buChar char="Ø"/>
            </a:pPr>
            <a:endParaRPr lang="en-US" altLang="zh-CN" sz="2400"/>
          </a:p>
          <a:p>
            <a:pPr lvl="1">
              <a:spcBef>
                <a:spcPct val="20000"/>
              </a:spcBef>
              <a:buFont typeface="Wingdings" panose="05000000000000000000" pitchFamily="2" charset="2"/>
              <a:buChar char="Ø"/>
            </a:pPr>
            <a:endParaRPr lang="en-US" altLang="zh-CN" sz="2400" b="1"/>
          </a:p>
        </p:txBody>
      </p:sp>
      <p:sp>
        <p:nvSpPr>
          <p:cNvPr id="147458" name="矩形 196613"/>
          <p:cNvSpPr>
            <a:spLocks noChangeArrowheads="1"/>
          </p:cNvSpPr>
          <p:nvPr/>
        </p:nvSpPr>
        <p:spPr bwMode="auto">
          <a:xfrm>
            <a:off x="179388" y="280988"/>
            <a:ext cx="8713787" cy="946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sz="2800" b="1" dirty="0">
                <a:latin typeface="黑体" panose="02010609060101010101" pitchFamily="49" charset="-122"/>
                <a:ea typeface="黑体" panose="02010609060101010101" pitchFamily="49" charset="-122"/>
              </a:rPr>
              <a:t>讨论</a:t>
            </a:r>
            <a:r>
              <a:rPr lang="en-US" altLang="zh-CN" sz="2800" b="1" dirty="0">
                <a:latin typeface="Times New Roman" panose="02020603050405020304" pitchFamily="18" charset="0"/>
                <a:ea typeface="黑体" panose="02010609060101010101" pitchFamily="49" charset="-122"/>
                <a:cs typeface="Times New Roman" panose="02020603050405020304" pitchFamily="18" charset="0"/>
              </a:rPr>
              <a:t>2</a:t>
            </a:r>
            <a:r>
              <a:rPr lang="zh-CN" altLang="en-US" sz="2800" b="1" dirty="0">
                <a:latin typeface="黑体" panose="02010609060101010101" pitchFamily="49" charset="-122"/>
                <a:ea typeface="黑体" panose="02010609060101010101" pitchFamily="49" charset="-122"/>
              </a:rPr>
              <a:t>：若为缩放喷管</a:t>
            </a:r>
            <a:r>
              <a:rPr lang="zh-CN" altLang="en-US" sz="2800" b="1" dirty="0" smtClean="0">
                <a:latin typeface="黑体" panose="02010609060101010101" pitchFamily="49" charset="-122"/>
                <a:ea typeface="黑体" panose="02010609060101010101" pitchFamily="49" charset="-122"/>
              </a:rPr>
              <a:t>，将扩张段切</a:t>
            </a:r>
            <a:r>
              <a:rPr lang="zh-CN" altLang="en-US" sz="2800" b="1" dirty="0">
                <a:latin typeface="黑体" panose="02010609060101010101" pitchFamily="49" charset="-122"/>
                <a:ea typeface="黑体" panose="02010609060101010101" pitchFamily="49" charset="-122"/>
              </a:rPr>
              <a:t>去或延长一段</a:t>
            </a:r>
            <a:r>
              <a:rPr lang="zh-CN" altLang="en-US" sz="2800" b="1" dirty="0" smtClean="0">
                <a:latin typeface="黑体" panose="02010609060101010101" pitchFamily="49" charset="-122"/>
                <a:ea typeface="黑体" panose="02010609060101010101" pitchFamily="49" charset="-122"/>
              </a:rPr>
              <a:t>，出口截面的流速和流经喷管的流量</a:t>
            </a:r>
            <a:r>
              <a:rPr lang="zh-CN" altLang="en-US" sz="2800" b="1" dirty="0">
                <a:latin typeface="黑体" panose="02010609060101010101" pitchFamily="49" charset="-122"/>
                <a:ea typeface="黑体" panose="02010609060101010101" pitchFamily="49" charset="-122"/>
              </a:rPr>
              <a:t>如何变化？</a:t>
            </a:r>
            <a:endParaRPr lang="zh-CN" altLang="en-US" sz="2800" b="1" dirty="0">
              <a:latin typeface="黑体" panose="02010609060101010101" pitchFamily="49" charset="-122"/>
              <a:ea typeface="黑体" panose="02010609060101010101" pitchFamily="49" charset="-122"/>
            </a:endParaRPr>
          </a:p>
        </p:txBody>
      </p:sp>
      <p:sp>
        <p:nvSpPr>
          <p:cNvPr id="196617" name="矩形 196616"/>
          <p:cNvSpPr>
            <a:spLocks noChangeArrowheads="1"/>
          </p:cNvSpPr>
          <p:nvPr/>
        </p:nvSpPr>
        <p:spPr bwMode="auto">
          <a:xfrm>
            <a:off x="550863" y="1611858"/>
            <a:ext cx="8064500" cy="13849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sz="2800" b="1" dirty="0" smtClean="0">
                <a:solidFill>
                  <a:srgbClr val="0070C0"/>
                </a:solidFill>
                <a:latin typeface="Times New Roman" panose="02020603050405020304" pitchFamily="18" charset="0"/>
                <a:ea typeface="黑体" panose="02010609060101010101" pitchFamily="49" charset="-122"/>
                <a:cs typeface="Times New Roman" panose="02020603050405020304" pitchFamily="18" charset="0"/>
              </a:rPr>
              <a:t>由于题目中给出了背</a:t>
            </a:r>
            <a:r>
              <a:rPr lang="zh-CN" altLang="en-US" sz="2800" b="1" dirty="0">
                <a:solidFill>
                  <a:srgbClr val="0070C0"/>
                </a:solidFill>
                <a:latin typeface="Times New Roman" panose="02020603050405020304" pitchFamily="18" charset="0"/>
                <a:ea typeface="黑体" panose="02010609060101010101" pitchFamily="49" charset="-122"/>
                <a:cs typeface="Times New Roman" panose="02020603050405020304" pitchFamily="18" charset="0"/>
              </a:rPr>
              <a:t>压</a:t>
            </a:r>
            <a:r>
              <a:rPr lang="en-US" altLang="zh-CN" sz="2800" b="1" i="1" dirty="0" err="1">
                <a:solidFill>
                  <a:srgbClr val="0070C0"/>
                </a:solidFill>
                <a:latin typeface="Times New Roman" panose="02020603050405020304" pitchFamily="18" charset="0"/>
                <a:ea typeface="黑体" panose="02010609060101010101" pitchFamily="49" charset="-122"/>
                <a:cs typeface="Times New Roman" panose="02020603050405020304" pitchFamily="18" charset="0"/>
              </a:rPr>
              <a:t>p</a:t>
            </a:r>
            <a:r>
              <a:rPr lang="en-US" altLang="zh-CN" sz="2800" b="1" baseline="-25000" dirty="0" err="1">
                <a:solidFill>
                  <a:srgbClr val="0070C0"/>
                </a:solidFill>
                <a:latin typeface="Times New Roman" panose="02020603050405020304" pitchFamily="18" charset="0"/>
                <a:ea typeface="黑体" panose="02010609060101010101" pitchFamily="49" charset="-122"/>
                <a:cs typeface="Times New Roman" panose="02020603050405020304" pitchFamily="18" charset="0"/>
              </a:rPr>
              <a:t>b</a:t>
            </a:r>
            <a:r>
              <a:rPr lang="zh-CN" altLang="en-US" sz="2800" b="1" dirty="0">
                <a:solidFill>
                  <a:srgbClr val="0070C0"/>
                </a:solidFill>
                <a:latin typeface="Times New Roman" panose="02020603050405020304" pitchFamily="18" charset="0"/>
                <a:ea typeface="黑体" panose="02010609060101010101" pitchFamily="49" charset="-122"/>
                <a:cs typeface="Times New Roman" panose="02020603050405020304" pitchFamily="18" charset="0"/>
              </a:rPr>
              <a:t>极</a:t>
            </a:r>
            <a:r>
              <a:rPr lang="zh-CN" altLang="en-US" sz="2800" b="1" dirty="0" smtClean="0">
                <a:solidFill>
                  <a:srgbClr val="0070C0"/>
                </a:solidFill>
                <a:latin typeface="Times New Roman" panose="02020603050405020304" pitchFamily="18" charset="0"/>
                <a:ea typeface="黑体" panose="02010609060101010101" pitchFamily="49" charset="-122"/>
                <a:cs typeface="Times New Roman" panose="02020603050405020304" pitchFamily="18" charset="0"/>
              </a:rPr>
              <a:t>低这个条件，因此可认为属于</a:t>
            </a:r>
            <a:r>
              <a:rPr lang="en-US" altLang="zh-CN" sz="2800" b="1" i="1" dirty="0" err="1">
                <a:solidFill>
                  <a:srgbClr val="0070C0"/>
                </a:solidFill>
                <a:latin typeface="Times New Roman" panose="02020603050405020304" pitchFamily="18" charset="0"/>
                <a:ea typeface="黑体" panose="02010609060101010101" pitchFamily="49" charset="-122"/>
                <a:cs typeface="Times New Roman" panose="02020603050405020304" pitchFamily="18" charset="0"/>
              </a:rPr>
              <a:t>p</a:t>
            </a:r>
            <a:r>
              <a:rPr lang="en-US" altLang="zh-CN" sz="2800" b="1" baseline="-25000" dirty="0" err="1">
                <a:solidFill>
                  <a:srgbClr val="0070C0"/>
                </a:solidFill>
                <a:latin typeface="Times New Roman" panose="02020603050405020304" pitchFamily="18" charset="0"/>
                <a:ea typeface="黑体" panose="02010609060101010101" pitchFamily="49" charset="-122"/>
                <a:cs typeface="Times New Roman" panose="02020603050405020304" pitchFamily="18" charset="0"/>
              </a:rPr>
              <a:t>b</a:t>
            </a:r>
            <a:r>
              <a:rPr lang="en-US" altLang="zh-CN" sz="2800" b="1" baseline="-25000" dirty="0">
                <a:solidFill>
                  <a:srgbClr val="0070C0"/>
                </a:solidFill>
                <a:latin typeface="Times New Roman" panose="02020603050405020304" pitchFamily="18" charset="0"/>
                <a:ea typeface="黑体" panose="02010609060101010101" pitchFamily="49" charset="-122"/>
                <a:cs typeface="Times New Roman" panose="02020603050405020304" pitchFamily="18" charset="0"/>
              </a:rPr>
              <a:t> </a:t>
            </a:r>
            <a:r>
              <a:rPr lang="en-US" altLang="zh-CN" sz="2800" b="1" dirty="0" smtClean="0">
                <a:solidFill>
                  <a:srgbClr val="0070C0"/>
                </a:solidFill>
                <a:latin typeface="Times New Roman" panose="02020603050405020304" pitchFamily="18" charset="0"/>
                <a:ea typeface="黑体" panose="02010609060101010101" pitchFamily="49" charset="-122"/>
                <a:cs typeface="Times New Roman" panose="02020603050405020304" pitchFamily="18" charset="0"/>
              </a:rPr>
              <a:t>&lt;</a:t>
            </a:r>
            <a:r>
              <a:rPr lang="en-US" altLang="zh-CN" sz="2800" b="1" i="1" dirty="0" smtClean="0">
                <a:solidFill>
                  <a:srgbClr val="0070C0"/>
                </a:solidFill>
                <a:latin typeface="Times New Roman" panose="02020603050405020304" pitchFamily="18" charset="0"/>
                <a:ea typeface="黑体" panose="02010609060101010101" pitchFamily="49" charset="-122"/>
                <a:cs typeface="Times New Roman" panose="02020603050405020304" pitchFamily="18" charset="0"/>
              </a:rPr>
              <a:t>p</a:t>
            </a:r>
            <a:r>
              <a:rPr lang="en-US" altLang="zh-CN" sz="2800" b="1" baseline="-25000" dirty="0" smtClean="0">
                <a:solidFill>
                  <a:srgbClr val="0070C0"/>
                </a:solidFill>
                <a:latin typeface="Times New Roman" panose="02020603050405020304" pitchFamily="18" charset="0"/>
                <a:ea typeface="黑体" panose="02010609060101010101" pitchFamily="49" charset="-122"/>
                <a:cs typeface="Times New Roman" panose="02020603050405020304" pitchFamily="18" charset="0"/>
              </a:rPr>
              <a:t>i</a:t>
            </a:r>
            <a:r>
              <a:rPr lang="zh-CN" altLang="en-US" sz="2800" b="1" dirty="0" smtClean="0">
                <a:solidFill>
                  <a:srgbClr val="0070C0"/>
                </a:solidFill>
                <a:latin typeface="Times New Roman" panose="02020603050405020304" pitchFamily="18" charset="0"/>
                <a:ea typeface="黑体" panose="02010609060101010101" pitchFamily="49" charset="-122"/>
                <a:cs typeface="Times New Roman" panose="02020603050405020304" pitchFamily="18" charset="0"/>
              </a:rPr>
              <a:t>的情况，其中</a:t>
            </a:r>
            <a:r>
              <a:rPr lang="en-US" altLang="zh-CN" sz="2800" b="1" i="1" dirty="0" smtClean="0">
                <a:solidFill>
                  <a:srgbClr val="0070C0"/>
                </a:solidFill>
                <a:latin typeface="Times New Roman" panose="02020603050405020304" pitchFamily="18" charset="0"/>
                <a:ea typeface="黑体" panose="02010609060101010101" pitchFamily="49" charset="-122"/>
                <a:cs typeface="Times New Roman" panose="02020603050405020304" pitchFamily="18" charset="0"/>
              </a:rPr>
              <a:t>p</a:t>
            </a:r>
            <a:r>
              <a:rPr lang="en-US" altLang="zh-CN" sz="2800" b="1" baseline="-25000" dirty="0" smtClean="0">
                <a:solidFill>
                  <a:srgbClr val="0070C0"/>
                </a:solidFill>
                <a:latin typeface="Times New Roman" panose="02020603050405020304" pitchFamily="18" charset="0"/>
                <a:ea typeface="黑体" panose="02010609060101010101" pitchFamily="49" charset="-122"/>
                <a:cs typeface="Times New Roman" panose="02020603050405020304" pitchFamily="18" charset="0"/>
              </a:rPr>
              <a:t>i</a:t>
            </a:r>
            <a:r>
              <a:rPr lang="zh-CN" altLang="en-US" sz="2800" b="1" dirty="0">
                <a:solidFill>
                  <a:srgbClr val="0070C0"/>
                </a:solidFill>
                <a:latin typeface="Times New Roman" panose="02020603050405020304" pitchFamily="18" charset="0"/>
                <a:ea typeface="黑体" panose="02010609060101010101" pitchFamily="49" charset="-122"/>
                <a:cs typeface="Times New Roman" panose="02020603050405020304" pitchFamily="18" charset="0"/>
              </a:rPr>
              <a:t>表示在正确设计的工况下，气体在出口截面处的</a:t>
            </a:r>
            <a:r>
              <a:rPr lang="zh-CN" altLang="en-US" sz="2800" b="1" dirty="0" smtClean="0">
                <a:solidFill>
                  <a:srgbClr val="0070C0"/>
                </a:solidFill>
                <a:latin typeface="Times New Roman" panose="02020603050405020304" pitchFamily="18" charset="0"/>
                <a:ea typeface="黑体" panose="02010609060101010101" pitchFamily="49" charset="-122"/>
                <a:cs typeface="Times New Roman" panose="02020603050405020304" pitchFamily="18" charset="0"/>
              </a:rPr>
              <a:t>压力。</a:t>
            </a:r>
            <a:endParaRPr lang="zh-CN" altLang="en-US" sz="2800" b="1" dirty="0">
              <a:solidFill>
                <a:srgbClr val="0070C0"/>
              </a:solidFill>
              <a:latin typeface="黑体" panose="02010609060101010101" pitchFamily="49" charset="-122"/>
              <a:ea typeface="黑体" panose="02010609060101010101" pitchFamily="49" charset="-122"/>
            </a:endParaRPr>
          </a:p>
        </p:txBody>
      </p:sp>
      <p:sp>
        <p:nvSpPr>
          <p:cNvPr id="17" name="矩形 16"/>
          <p:cNvSpPr>
            <a:spLocks noChangeArrowheads="1"/>
          </p:cNvSpPr>
          <p:nvPr/>
        </p:nvSpPr>
        <p:spPr bwMode="auto">
          <a:xfrm>
            <a:off x="550863" y="3646210"/>
            <a:ext cx="8064500" cy="18158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sz="2800" b="1" dirty="0" smtClean="0">
                <a:latin typeface="Times New Roman" panose="02020603050405020304" pitchFamily="18" charset="0"/>
                <a:ea typeface="黑体" panose="02010609060101010101" pitchFamily="49" charset="-122"/>
                <a:cs typeface="Times New Roman" panose="02020603050405020304" pitchFamily="18" charset="0"/>
              </a:rPr>
              <a:t>在这种情况下，无论</a:t>
            </a:r>
            <a:r>
              <a:rPr lang="zh-CN" altLang="en-US" sz="2800" b="1" dirty="0">
                <a:latin typeface="Times New Roman" panose="02020603050405020304" pitchFamily="18" charset="0"/>
                <a:ea typeface="黑体" panose="02010609060101010101" pitchFamily="49" charset="-122"/>
                <a:cs typeface="Times New Roman" panose="02020603050405020304" pitchFamily="18" charset="0"/>
              </a:rPr>
              <a:t>扩张段是切去还是延长一段，喷管喉部处的马赫数始终为</a:t>
            </a:r>
            <a:r>
              <a:rPr lang="en-US" altLang="zh-CN" sz="2800" b="1" dirty="0">
                <a:latin typeface="Times New Roman" panose="02020603050405020304" pitchFamily="18" charset="0"/>
                <a:ea typeface="黑体" panose="02010609060101010101" pitchFamily="49" charset="-122"/>
                <a:cs typeface="Times New Roman" panose="02020603050405020304" pitchFamily="18" charset="0"/>
              </a:rPr>
              <a:t>1</a:t>
            </a:r>
            <a:r>
              <a:rPr lang="zh-CN" altLang="en-US" sz="2800" b="1" dirty="0">
                <a:latin typeface="Times New Roman" panose="02020603050405020304" pitchFamily="18" charset="0"/>
                <a:ea typeface="黑体" panose="02010609060101010101" pitchFamily="49" charset="-122"/>
                <a:cs typeface="Times New Roman" panose="02020603050405020304" pitchFamily="18" charset="0"/>
              </a:rPr>
              <a:t>，即喉部处的压力、温度、比体积和流速始终不变，又</a:t>
            </a:r>
            <a:r>
              <a:rPr lang="zh-CN" altLang="en-US" sz="2800" b="1" dirty="0">
                <a:latin typeface="黑体" panose="02010609060101010101" pitchFamily="49" charset="-122"/>
                <a:ea typeface="黑体" panose="02010609060101010101" pitchFamily="49" charset="-122"/>
              </a:rPr>
              <a:t>因切去或延长一段不影响喉部面积，因此流过喷管的</a:t>
            </a:r>
            <a:r>
              <a:rPr lang="zh-CN" altLang="en-US" sz="2800" b="1" dirty="0">
                <a:solidFill>
                  <a:srgbClr val="FF0000"/>
                </a:solidFill>
                <a:latin typeface="黑体" panose="02010609060101010101" pitchFamily="49" charset="-122"/>
                <a:ea typeface="黑体" panose="02010609060101010101" pitchFamily="49" charset="-122"/>
              </a:rPr>
              <a:t>流量不变</a:t>
            </a:r>
            <a:r>
              <a:rPr lang="zh-CN" altLang="en-US" sz="2800" b="1" dirty="0" smtClean="0">
                <a:latin typeface="黑体" panose="02010609060101010101" pitchFamily="49" charset="-122"/>
                <a:ea typeface="黑体" panose="02010609060101010101" pitchFamily="49" charset="-122"/>
              </a:rPr>
              <a:t>。</a:t>
            </a:r>
            <a:endParaRPr lang="zh-CN" altLang="en-US" sz="2800" b="1" dirty="0">
              <a:latin typeface="黑体" panose="02010609060101010101" pitchFamily="49" charset="-122"/>
              <a:ea typeface="黑体" panose="02010609060101010101" pitchFamily="49" charset="-122"/>
            </a:endParaRPr>
          </a:p>
        </p:txBody>
      </p:sp>
    </p:spTree>
    <p:custDataLst>
      <p:tags r:id="rId1"/>
    </p:custData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96617"/>
                                        </p:tgtEl>
                                        <p:attrNameLst>
                                          <p:attrName>style.visibility</p:attrName>
                                        </p:attrNameLst>
                                      </p:cBhvr>
                                      <p:to>
                                        <p:strVal val="visible"/>
                                      </p:to>
                                    </p:set>
                                    <p:animEffect transition="in" filter="blinds(horizontal)">
                                      <p:cBhvr>
                                        <p:cTn id="7" dur="500"/>
                                        <p:tgtEl>
                                          <p:spTgt spid="196617"/>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17"/>
                                        </p:tgtEl>
                                        <p:attrNameLst>
                                          <p:attrName>style.visibility</p:attrName>
                                        </p:attrNameLst>
                                      </p:cBhvr>
                                      <p:to>
                                        <p:strVal val="visible"/>
                                      </p:to>
                                    </p:set>
                                    <p:animEffect transition="in" filter="blinds(horizontal)">
                                      <p:cBhvr>
                                        <p:cTn id="12"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6617" grpId="0"/>
      <p:bldP spid="17" grpId="0"/>
    </p:bldLst>
  </p:timing>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7457" name="矩形 196611"/>
          <p:cNvSpPr>
            <a:spLocks noChangeArrowheads="1"/>
          </p:cNvSpPr>
          <p:nvPr/>
        </p:nvSpPr>
        <p:spPr bwMode="auto">
          <a:xfrm>
            <a:off x="468313" y="1989138"/>
            <a:ext cx="8229600" cy="3660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spcBef>
                <a:spcPct val="20000"/>
              </a:spcBef>
              <a:buFontTx/>
              <a:buChar char="•"/>
            </a:pPr>
            <a:endParaRPr lang="en-US" altLang="zh-CN" sz="2800" b="1">
              <a:solidFill>
                <a:srgbClr val="3333CC"/>
              </a:solidFill>
            </a:endParaRPr>
          </a:p>
          <a:p>
            <a:pPr lvl="1">
              <a:spcBef>
                <a:spcPct val="20000"/>
              </a:spcBef>
              <a:buFont typeface="Wingdings" panose="05000000000000000000" pitchFamily="2" charset="2"/>
              <a:buChar char="Ø"/>
            </a:pPr>
            <a:endParaRPr lang="en-US" altLang="zh-CN" sz="2400"/>
          </a:p>
          <a:p>
            <a:pPr lvl="1">
              <a:spcBef>
                <a:spcPct val="20000"/>
              </a:spcBef>
              <a:buFont typeface="Wingdings" panose="05000000000000000000" pitchFamily="2" charset="2"/>
              <a:buChar char="Ø"/>
            </a:pPr>
            <a:endParaRPr lang="en-US" altLang="zh-CN" sz="2400" b="1"/>
          </a:p>
        </p:txBody>
      </p:sp>
      <p:sp>
        <p:nvSpPr>
          <p:cNvPr id="147458" name="矩形 196613"/>
          <p:cNvSpPr>
            <a:spLocks noChangeArrowheads="1"/>
          </p:cNvSpPr>
          <p:nvPr/>
        </p:nvSpPr>
        <p:spPr bwMode="auto">
          <a:xfrm>
            <a:off x="179388" y="280988"/>
            <a:ext cx="8713787" cy="946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sz="2800" b="1" dirty="0">
                <a:latin typeface="黑体" panose="02010609060101010101" pitchFamily="49" charset="-122"/>
                <a:ea typeface="黑体" panose="02010609060101010101" pitchFamily="49" charset="-122"/>
              </a:rPr>
              <a:t>讨论</a:t>
            </a:r>
            <a:r>
              <a:rPr lang="en-US" altLang="zh-CN" sz="2800" b="1" dirty="0">
                <a:latin typeface="Times New Roman" panose="02020603050405020304" pitchFamily="18" charset="0"/>
                <a:ea typeface="黑体" panose="02010609060101010101" pitchFamily="49" charset="-122"/>
                <a:cs typeface="Times New Roman" panose="02020603050405020304" pitchFamily="18" charset="0"/>
              </a:rPr>
              <a:t>2</a:t>
            </a:r>
            <a:r>
              <a:rPr lang="zh-CN" altLang="en-US" sz="2800" b="1" dirty="0">
                <a:latin typeface="黑体" panose="02010609060101010101" pitchFamily="49" charset="-122"/>
                <a:ea typeface="黑体" panose="02010609060101010101" pitchFamily="49" charset="-122"/>
              </a:rPr>
              <a:t>：若为缩放喷管</a:t>
            </a:r>
            <a:r>
              <a:rPr lang="zh-CN" altLang="en-US" sz="2800" b="1" dirty="0" smtClean="0">
                <a:latin typeface="黑体" panose="02010609060101010101" pitchFamily="49" charset="-122"/>
                <a:ea typeface="黑体" panose="02010609060101010101" pitchFamily="49" charset="-122"/>
              </a:rPr>
              <a:t>，将扩张段切</a:t>
            </a:r>
            <a:r>
              <a:rPr lang="zh-CN" altLang="en-US" sz="2800" b="1" dirty="0">
                <a:latin typeface="黑体" panose="02010609060101010101" pitchFamily="49" charset="-122"/>
                <a:ea typeface="黑体" panose="02010609060101010101" pitchFamily="49" charset="-122"/>
              </a:rPr>
              <a:t>去或延长一段</a:t>
            </a:r>
            <a:r>
              <a:rPr lang="zh-CN" altLang="en-US" sz="2800" b="1" dirty="0" smtClean="0">
                <a:latin typeface="黑体" panose="02010609060101010101" pitchFamily="49" charset="-122"/>
                <a:ea typeface="黑体" panose="02010609060101010101" pitchFamily="49" charset="-122"/>
              </a:rPr>
              <a:t>，出口截面的流速和流经喷管的流量</a:t>
            </a:r>
            <a:r>
              <a:rPr lang="zh-CN" altLang="en-US" sz="2800" b="1" dirty="0">
                <a:latin typeface="黑体" panose="02010609060101010101" pitchFamily="49" charset="-122"/>
                <a:ea typeface="黑体" panose="02010609060101010101" pitchFamily="49" charset="-122"/>
              </a:rPr>
              <a:t>如何变化？</a:t>
            </a:r>
            <a:endParaRPr lang="zh-CN" altLang="en-US" sz="2800" b="1" dirty="0">
              <a:latin typeface="黑体" panose="02010609060101010101" pitchFamily="49" charset="-122"/>
              <a:ea typeface="黑体" panose="02010609060101010101" pitchFamily="49" charset="-122"/>
            </a:endParaRPr>
          </a:p>
        </p:txBody>
      </p:sp>
      <p:sp>
        <p:nvSpPr>
          <p:cNvPr id="196620" name="矩形 196619"/>
          <p:cNvSpPr>
            <a:spLocks noChangeArrowheads="1"/>
          </p:cNvSpPr>
          <p:nvPr/>
        </p:nvSpPr>
        <p:spPr bwMode="auto">
          <a:xfrm>
            <a:off x="515144" y="2243207"/>
            <a:ext cx="8135937" cy="22467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sz="2800" b="1" dirty="0" smtClean="0">
                <a:latin typeface="黑体" panose="02010609060101010101" pitchFamily="49" charset="-122"/>
                <a:ea typeface="黑体" panose="02010609060101010101" pitchFamily="49" charset="-122"/>
              </a:rPr>
              <a:t>在分析出口流速的变化情况时，考虑到</a:t>
            </a:r>
            <a:r>
              <a:rPr lang="en-US" altLang="zh-CN" sz="2800" b="1" i="1" dirty="0" err="1">
                <a:latin typeface="Times New Roman" panose="02020603050405020304" pitchFamily="18" charset="0"/>
                <a:ea typeface="黑体" panose="02010609060101010101" pitchFamily="49" charset="-122"/>
                <a:cs typeface="Times New Roman" panose="02020603050405020304" pitchFamily="18" charset="0"/>
              </a:rPr>
              <a:t>p</a:t>
            </a:r>
            <a:r>
              <a:rPr lang="en-US" altLang="zh-CN" sz="2800" b="1" baseline="-25000" dirty="0" err="1">
                <a:latin typeface="Times New Roman" panose="02020603050405020304" pitchFamily="18" charset="0"/>
                <a:ea typeface="黑体" panose="02010609060101010101" pitchFamily="49" charset="-122"/>
                <a:cs typeface="Times New Roman" panose="02020603050405020304" pitchFamily="18" charset="0"/>
              </a:rPr>
              <a:t>b</a:t>
            </a:r>
            <a:r>
              <a:rPr lang="en-US" altLang="zh-CN" sz="2800" b="1" baseline="-25000" dirty="0">
                <a:latin typeface="Times New Roman" panose="02020603050405020304" pitchFamily="18" charset="0"/>
                <a:ea typeface="黑体" panose="02010609060101010101" pitchFamily="49" charset="-122"/>
                <a:cs typeface="Times New Roman" panose="02020603050405020304" pitchFamily="18" charset="0"/>
              </a:rPr>
              <a:t> </a:t>
            </a:r>
            <a:r>
              <a:rPr lang="en-US" altLang="zh-CN" sz="2800" b="1" dirty="0">
                <a:latin typeface="Times New Roman" panose="02020603050405020304" pitchFamily="18" charset="0"/>
                <a:ea typeface="黑体" panose="02010609060101010101" pitchFamily="49" charset="-122"/>
                <a:cs typeface="Times New Roman" panose="02020603050405020304" pitchFamily="18" charset="0"/>
              </a:rPr>
              <a:t>&lt;</a:t>
            </a:r>
            <a:r>
              <a:rPr lang="en-US" altLang="zh-CN" sz="2800" b="1" i="1" dirty="0" smtClean="0">
                <a:latin typeface="Times New Roman" panose="02020603050405020304" pitchFamily="18" charset="0"/>
                <a:ea typeface="黑体" panose="02010609060101010101" pitchFamily="49" charset="-122"/>
                <a:cs typeface="Times New Roman" panose="02020603050405020304" pitchFamily="18" charset="0"/>
              </a:rPr>
              <a:t>p</a:t>
            </a:r>
            <a:r>
              <a:rPr lang="en-US" altLang="zh-CN" sz="2800" b="1" baseline="-25000" dirty="0" smtClean="0">
                <a:latin typeface="Times New Roman" panose="02020603050405020304" pitchFamily="18" charset="0"/>
                <a:ea typeface="黑体" panose="02010609060101010101" pitchFamily="49" charset="-122"/>
                <a:cs typeface="Times New Roman" panose="02020603050405020304" pitchFamily="18" charset="0"/>
              </a:rPr>
              <a:t>i</a:t>
            </a:r>
            <a:r>
              <a:rPr lang="zh-CN" altLang="en-US" sz="2800" b="1" dirty="0" smtClean="0">
                <a:latin typeface="黑体" panose="02010609060101010101" pitchFamily="49" charset="-122"/>
                <a:ea typeface="黑体" panose="02010609060101010101" pitchFamily="49" charset="-122"/>
              </a:rPr>
              <a:t>，则流体在出口处压力降为</a:t>
            </a:r>
            <a:r>
              <a:rPr lang="en-US" altLang="zh-CN" sz="2800" b="1" i="1" dirty="0" smtClean="0">
                <a:latin typeface="Times New Roman" panose="02020603050405020304" pitchFamily="18" charset="0"/>
                <a:ea typeface="黑体" panose="02010609060101010101" pitchFamily="49" charset="-122"/>
                <a:cs typeface="Times New Roman" panose="02020603050405020304" pitchFamily="18" charset="0"/>
              </a:rPr>
              <a:t>p</a:t>
            </a:r>
            <a:r>
              <a:rPr lang="en-US" altLang="zh-CN" sz="2800" b="1" baseline="-25000" dirty="0" smtClean="0">
                <a:latin typeface="Times New Roman" panose="02020603050405020304" pitchFamily="18" charset="0"/>
                <a:ea typeface="黑体" panose="02010609060101010101" pitchFamily="49" charset="-122"/>
                <a:cs typeface="Times New Roman" panose="02020603050405020304" pitchFamily="18" charset="0"/>
              </a:rPr>
              <a:t>i</a:t>
            </a:r>
            <a:r>
              <a:rPr lang="zh-CN" altLang="en-US" sz="2800" b="1" dirty="0" smtClean="0">
                <a:latin typeface="黑体" panose="02010609060101010101" pitchFamily="49" charset="-122"/>
                <a:ea typeface="黑体" panose="02010609060101010101" pitchFamily="49" charset="-122"/>
              </a:rPr>
              <a:t>，流出喷管后自由膨胀，压力再降至</a:t>
            </a:r>
            <a:r>
              <a:rPr lang="en-US" altLang="zh-CN" sz="2800" b="1" i="1" dirty="0" err="1" smtClean="0">
                <a:latin typeface="Times New Roman" panose="02020603050405020304" pitchFamily="18" charset="0"/>
                <a:ea typeface="黑体" panose="02010609060101010101" pitchFamily="49" charset="-122"/>
                <a:cs typeface="Times New Roman" panose="02020603050405020304" pitchFamily="18" charset="0"/>
              </a:rPr>
              <a:t>p</a:t>
            </a:r>
            <a:r>
              <a:rPr lang="en-US" altLang="zh-CN" sz="2800" b="1" baseline="-25000" dirty="0" err="1" smtClean="0">
                <a:latin typeface="Times New Roman" panose="02020603050405020304" pitchFamily="18" charset="0"/>
                <a:ea typeface="黑体" panose="02010609060101010101" pitchFamily="49" charset="-122"/>
                <a:cs typeface="Times New Roman" panose="02020603050405020304" pitchFamily="18" charset="0"/>
              </a:rPr>
              <a:t>b</a:t>
            </a:r>
            <a:r>
              <a:rPr lang="zh-CN" altLang="en-US" sz="2800" b="1" dirty="0" smtClean="0">
                <a:latin typeface="黑体" panose="02010609060101010101" pitchFamily="49" charset="-122"/>
                <a:ea typeface="黑体" panose="02010609060101010101" pitchFamily="49" charset="-122"/>
              </a:rPr>
              <a:t>。因此，缩放喷管</a:t>
            </a:r>
            <a:r>
              <a:rPr lang="zh-CN" altLang="en-US" sz="2800" b="1" dirty="0">
                <a:latin typeface="黑体" panose="02010609060101010101" pitchFamily="49" charset="-122"/>
                <a:ea typeface="黑体" panose="02010609060101010101" pitchFamily="49" charset="-122"/>
              </a:rPr>
              <a:t>的扩张段越长，出口的流速越大。即扩张段</a:t>
            </a:r>
            <a:r>
              <a:rPr lang="zh-CN" altLang="en-US" sz="2800" b="1" dirty="0">
                <a:solidFill>
                  <a:srgbClr val="FF0000"/>
                </a:solidFill>
                <a:latin typeface="黑体" panose="02010609060101010101" pitchFamily="49" charset="-122"/>
                <a:ea typeface="黑体" panose="02010609060101010101" pitchFamily="49" charset="-122"/>
              </a:rPr>
              <a:t>延长一段</a:t>
            </a:r>
            <a:r>
              <a:rPr lang="zh-CN" altLang="en-US" sz="2800" b="1" dirty="0">
                <a:latin typeface="黑体" panose="02010609060101010101" pitchFamily="49" charset="-122"/>
                <a:ea typeface="黑体" panose="02010609060101010101" pitchFamily="49" charset="-122"/>
              </a:rPr>
              <a:t>后，</a:t>
            </a:r>
            <a:r>
              <a:rPr lang="zh-CN" altLang="en-US" sz="2800" b="1" dirty="0">
                <a:solidFill>
                  <a:srgbClr val="FF0000"/>
                </a:solidFill>
                <a:latin typeface="黑体" panose="02010609060101010101" pitchFamily="49" charset="-122"/>
                <a:ea typeface="黑体" panose="02010609060101010101" pitchFamily="49" charset="-122"/>
              </a:rPr>
              <a:t>出口流速增加</a:t>
            </a:r>
            <a:r>
              <a:rPr lang="zh-CN" altLang="en-US" sz="2800" b="1" dirty="0">
                <a:latin typeface="黑体" panose="02010609060101010101" pitchFamily="49" charset="-122"/>
                <a:ea typeface="黑体" panose="02010609060101010101" pitchFamily="49" charset="-122"/>
              </a:rPr>
              <a:t>；扩张段</a:t>
            </a:r>
            <a:r>
              <a:rPr lang="zh-CN" altLang="en-US" sz="2800" b="1" dirty="0">
                <a:solidFill>
                  <a:srgbClr val="FF0000"/>
                </a:solidFill>
                <a:latin typeface="黑体" panose="02010609060101010101" pitchFamily="49" charset="-122"/>
                <a:ea typeface="黑体" panose="02010609060101010101" pitchFamily="49" charset="-122"/>
              </a:rPr>
              <a:t>切去一段后，出口流速减小</a:t>
            </a:r>
            <a:endParaRPr lang="zh-CN" altLang="en-US" sz="2800" b="1" dirty="0">
              <a:solidFill>
                <a:srgbClr val="FF0000"/>
              </a:solidFill>
              <a:latin typeface="黑体" panose="02010609060101010101" pitchFamily="49" charset="-122"/>
              <a:ea typeface="黑体" panose="02010609060101010101" pitchFamily="49" charset="-122"/>
            </a:endParaRPr>
          </a:p>
        </p:txBody>
      </p:sp>
    </p:spTree>
    <p:custDataLst>
      <p:tags r:id="rId1"/>
    </p:custData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96620"/>
                                        </p:tgtEl>
                                        <p:attrNameLst>
                                          <p:attrName>style.visibility</p:attrName>
                                        </p:attrNameLst>
                                      </p:cBhvr>
                                      <p:to>
                                        <p:strVal val="visible"/>
                                      </p:to>
                                    </p:set>
                                    <p:animEffect transition="in" filter="blinds(horizontal)">
                                      <p:cBhvr>
                                        <p:cTn id="7" dur="500"/>
                                        <p:tgtEl>
                                          <p:spTgt spid="1966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6620" grpId="0"/>
    </p:bldLst>
  </p:timing>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481" name="矩形 197636"/>
          <p:cNvSpPr>
            <a:spLocks noChangeArrowheads="1"/>
          </p:cNvSpPr>
          <p:nvPr/>
        </p:nvSpPr>
        <p:spPr bwMode="auto">
          <a:xfrm>
            <a:off x="0" y="144780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48482" name="矩形 197638"/>
          <p:cNvSpPr>
            <a:spLocks noChangeArrowheads="1"/>
          </p:cNvSpPr>
          <p:nvPr/>
        </p:nvSpPr>
        <p:spPr bwMode="auto">
          <a:xfrm>
            <a:off x="0" y="1704975"/>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5" name="矩形 4"/>
          <p:cNvSpPr>
            <a:spLocks noChangeArrowheads="1"/>
          </p:cNvSpPr>
          <p:nvPr/>
        </p:nvSpPr>
        <p:spPr bwMode="auto">
          <a:xfrm>
            <a:off x="5438844" y="1201040"/>
            <a:ext cx="3073607" cy="31085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zh-CN" altLang="en-US" sz="2800" b="1" dirty="0" smtClean="0">
                <a:solidFill>
                  <a:srgbClr val="0070C0"/>
                </a:solidFill>
                <a:latin typeface="Times New Roman" panose="02020603050405020304" pitchFamily="18" charset="0"/>
                <a:ea typeface="黑体" panose="02010609060101010101" pitchFamily="49" charset="-122"/>
                <a:cs typeface="Times New Roman" panose="02020603050405020304" pitchFamily="18" charset="0"/>
              </a:rPr>
              <a:t>缩放喷管切去一段后，流量不变，出口流速变小，其中</a:t>
            </a:r>
            <a:r>
              <a:rPr lang="en-US" altLang="zh-CN" sz="2800" b="1" i="1" dirty="0" smtClean="0">
                <a:solidFill>
                  <a:srgbClr val="0070C0"/>
                </a:solidFill>
                <a:latin typeface="Times New Roman" panose="02020603050405020304" pitchFamily="18" charset="0"/>
                <a:ea typeface="黑体" panose="02010609060101010101" pitchFamily="49" charset="-122"/>
                <a:cs typeface="Times New Roman" panose="02020603050405020304" pitchFamily="18" charset="0"/>
              </a:rPr>
              <a:t>p</a:t>
            </a:r>
            <a:r>
              <a:rPr lang="en-US" altLang="zh-CN" sz="2800" b="1" baseline="-25000" dirty="0" smtClean="0">
                <a:solidFill>
                  <a:srgbClr val="0070C0"/>
                </a:solidFill>
                <a:latin typeface="Times New Roman" panose="02020603050405020304" pitchFamily="18" charset="0"/>
                <a:ea typeface="黑体" panose="02010609060101010101" pitchFamily="49" charset="-122"/>
                <a:cs typeface="Times New Roman" panose="02020603050405020304" pitchFamily="18" charset="0"/>
              </a:rPr>
              <a:t>i</a:t>
            </a:r>
            <a:r>
              <a:rPr lang="zh-CN" altLang="en-US" sz="2800" b="1" dirty="0" smtClean="0">
                <a:solidFill>
                  <a:srgbClr val="0070C0"/>
                </a:solidFill>
                <a:latin typeface="Times New Roman" panose="02020603050405020304" pitchFamily="18" charset="0"/>
                <a:ea typeface="黑体" panose="02010609060101010101" pitchFamily="49" charset="-122"/>
                <a:cs typeface="Times New Roman" panose="02020603050405020304" pitchFamily="18" charset="0"/>
              </a:rPr>
              <a:t>和</a:t>
            </a:r>
            <a:r>
              <a:rPr lang="en-US" altLang="zh-CN" sz="2800" b="1" i="1" dirty="0" err="1" smtClean="0">
                <a:solidFill>
                  <a:srgbClr val="0070C0"/>
                </a:solidFill>
                <a:latin typeface="Times New Roman" panose="02020603050405020304" pitchFamily="18" charset="0"/>
                <a:ea typeface="黑体" panose="02010609060101010101" pitchFamily="49" charset="-122"/>
                <a:cs typeface="Times New Roman" panose="02020603050405020304" pitchFamily="18" charset="0"/>
              </a:rPr>
              <a:t>p</a:t>
            </a:r>
            <a:r>
              <a:rPr lang="en-US" altLang="zh-CN" sz="2800" b="1" baseline="-25000" dirty="0" err="1" smtClean="0">
                <a:solidFill>
                  <a:srgbClr val="0070C0"/>
                </a:solidFill>
                <a:latin typeface="Times New Roman" panose="02020603050405020304" pitchFamily="18" charset="0"/>
                <a:ea typeface="黑体" panose="02010609060101010101" pitchFamily="49" charset="-122"/>
                <a:cs typeface="Times New Roman" panose="02020603050405020304" pitchFamily="18" charset="0"/>
              </a:rPr>
              <a:t>i,new</a:t>
            </a:r>
            <a:r>
              <a:rPr lang="zh-CN" altLang="en-US" sz="2800" b="1" dirty="0" smtClean="0">
                <a:solidFill>
                  <a:srgbClr val="0070C0"/>
                </a:solidFill>
                <a:latin typeface="Times New Roman" panose="02020603050405020304" pitchFamily="18" charset="0"/>
                <a:ea typeface="黑体" panose="02010609060101010101" pitchFamily="49" charset="-122"/>
                <a:cs typeface="Times New Roman" panose="02020603050405020304" pitchFamily="18" charset="0"/>
              </a:rPr>
              <a:t>分别为切去前和切去后气体</a:t>
            </a:r>
            <a:r>
              <a:rPr lang="zh-CN" altLang="en-US" sz="2800" b="1" dirty="0">
                <a:solidFill>
                  <a:srgbClr val="0070C0"/>
                </a:solidFill>
                <a:latin typeface="Times New Roman" panose="02020603050405020304" pitchFamily="18" charset="0"/>
                <a:ea typeface="黑体" panose="02010609060101010101" pitchFamily="49" charset="-122"/>
                <a:cs typeface="Times New Roman" panose="02020603050405020304" pitchFamily="18" charset="0"/>
              </a:rPr>
              <a:t>在出口截面处的</a:t>
            </a:r>
            <a:r>
              <a:rPr lang="zh-CN" altLang="en-US" sz="2800" b="1" dirty="0" smtClean="0">
                <a:solidFill>
                  <a:srgbClr val="0070C0"/>
                </a:solidFill>
                <a:latin typeface="Times New Roman" panose="02020603050405020304" pitchFamily="18" charset="0"/>
                <a:ea typeface="黑体" panose="02010609060101010101" pitchFamily="49" charset="-122"/>
                <a:cs typeface="Times New Roman" panose="02020603050405020304" pitchFamily="18" charset="0"/>
              </a:rPr>
              <a:t>压力</a:t>
            </a:r>
            <a:endParaRPr lang="zh-CN" altLang="en-US" sz="2800" b="1" dirty="0">
              <a:solidFill>
                <a:srgbClr val="0070C0"/>
              </a:solidFill>
              <a:latin typeface="黑体" panose="02010609060101010101" pitchFamily="49" charset="-122"/>
              <a:ea typeface="黑体" panose="02010609060101010101" pitchFamily="49" charset="-122"/>
            </a:endParaRPr>
          </a:p>
        </p:txBody>
      </p:sp>
      <p:pic>
        <p:nvPicPr>
          <p:cNvPr id="2" name="图片 1"/>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516494" y="374769"/>
            <a:ext cx="4797968" cy="6187976"/>
          </a:xfrm>
          <a:prstGeom prst="rect">
            <a:avLst/>
          </a:prstGeom>
        </p:spPr>
      </p:pic>
    </p:spTree>
    <p:custDataLst>
      <p:tags r:id="rId2"/>
    </p:custData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blinds(horizontal)">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8355" name="内容占位符 228354"/>
          <p:cNvSpPr>
            <a:spLocks noGrp="1" noChangeArrowheads="1"/>
          </p:cNvSpPr>
          <p:nvPr>
            <p:ph idx="1"/>
          </p:nvPr>
        </p:nvSpPr>
        <p:spPr>
          <a:xfrm>
            <a:off x="468313" y="1196975"/>
            <a:ext cx="8229600" cy="4525963"/>
          </a:xfrm>
        </p:spPr>
        <p:txBody>
          <a:bodyPr/>
          <a:lstStyle/>
          <a:p>
            <a:endParaRPr lang="en-US" altLang="zh-CN" sz="2800" b="1" dirty="0" smtClean="0"/>
          </a:p>
          <a:p>
            <a:pPr marL="0" indent="0">
              <a:buNone/>
            </a:pPr>
            <a:r>
              <a:rPr lang="zh-CN" altLang="en-US" sz="2800" b="1" dirty="0" smtClean="0">
                <a:latin typeface="黑体" panose="02010609060101010101" pitchFamily="49" charset="-122"/>
                <a:ea typeface="黑体" panose="02010609060101010101" pitchFamily="49" charset="-122"/>
              </a:rPr>
              <a:t>讨论</a:t>
            </a:r>
            <a:r>
              <a:rPr lang="en-US" altLang="zh-CN" sz="2800" b="1" dirty="0" smtClean="0">
                <a:latin typeface="Times New Roman" panose="02020603050405020304" pitchFamily="18" charset="0"/>
                <a:ea typeface="黑体" panose="02010609060101010101" pitchFamily="49" charset="-122"/>
                <a:cs typeface="Times New Roman" panose="02020603050405020304" pitchFamily="18" charset="0"/>
              </a:rPr>
              <a:t>3</a:t>
            </a:r>
            <a:r>
              <a:rPr lang="zh-CN" altLang="en-US" sz="2800" b="1" dirty="0" smtClean="0">
                <a:latin typeface="黑体" panose="02010609060101010101" pitchFamily="49" charset="-122"/>
                <a:ea typeface="黑体" panose="02010609060101010101" pitchFamily="49" charset="-122"/>
              </a:rPr>
              <a:t>：本例中给出的具体数据（如初压、初温、截面积等）是为了使大家有更为直观的认识。实际上，若没有具体数据，基于喷管的流动特性也可以进行流速和流量的判断。  </a:t>
            </a:r>
            <a:endParaRPr lang="zh-CN" altLang="en-US" sz="2800" b="1" dirty="0" smtClean="0">
              <a:latin typeface="黑体" panose="02010609060101010101" pitchFamily="49" charset="-122"/>
              <a:ea typeface="黑体" panose="02010609060101010101" pitchFamily="49" charset="-122"/>
            </a:endParaRPr>
          </a:p>
        </p:txBody>
      </p:sp>
    </p:spTree>
    <p:custDataLst>
      <p:tags r:id="rId1"/>
    </p:custData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0529" name="矩形 64513"/>
          <p:cNvSpPr>
            <a:spLocks noChangeArrowheads="1"/>
          </p:cNvSpPr>
          <p:nvPr/>
        </p:nvSpPr>
        <p:spPr bwMode="auto">
          <a:xfrm>
            <a:off x="611188" y="2420938"/>
            <a:ext cx="7848600"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lstStyle/>
          <a:p>
            <a:pPr algn="ctr"/>
            <a:r>
              <a:rPr lang="zh-CN" altLang="en-US" sz="4400" b="1"/>
              <a:t>§</a:t>
            </a:r>
            <a:r>
              <a:rPr lang="en-US" altLang="zh-CN" sz="4400" b="1">
                <a:latin typeface="黑体" panose="02010609060101010101" pitchFamily="49" charset="-122"/>
                <a:ea typeface="黑体" panose="02010609060101010101" pitchFamily="49" charset="-122"/>
              </a:rPr>
              <a:t>10-8 </a:t>
            </a:r>
            <a:r>
              <a:rPr lang="zh-CN" altLang="en-US" sz="4400" b="1">
                <a:latin typeface="黑体" panose="02010609060101010101" pitchFamily="49" charset="-122"/>
                <a:ea typeface="黑体" panose="02010609060101010101" pitchFamily="49" charset="-122"/>
              </a:rPr>
              <a:t>喷管内的实际流动</a:t>
            </a:r>
            <a:endParaRPr lang="zh-CN" altLang="en-US" sz="4400" b="1">
              <a:latin typeface="黑体" panose="02010609060101010101" pitchFamily="49" charset="-122"/>
              <a:ea typeface="黑体" panose="02010609060101010101" pitchFamily="49" charset="-122"/>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1553" name="矩形 249859"/>
          <p:cNvSpPr>
            <a:spLocks noChangeArrowheads="1"/>
          </p:cNvSpPr>
          <p:nvPr/>
        </p:nvSpPr>
        <p:spPr bwMode="auto">
          <a:xfrm>
            <a:off x="684212" y="2225192"/>
            <a:ext cx="7704138" cy="1382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r>
              <a:rPr lang="zh-CN" altLang="en-US" sz="2800" b="1" dirty="0" smtClean="0">
                <a:latin typeface="黑体" panose="02010609060101010101" pitchFamily="49" charset="-122"/>
                <a:ea typeface="黑体" panose="02010609060101010101" pitchFamily="49" charset="-122"/>
              </a:rPr>
              <a:t>如果</a:t>
            </a:r>
            <a:r>
              <a:rPr lang="zh-CN" altLang="en-US" sz="2800" b="1" dirty="0">
                <a:latin typeface="黑体" panose="02010609060101010101" pitchFamily="49" charset="-122"/>
                <a:ea typeface="黑体" panose="02010609060101010101" pitchFamily="49" charset="-122"/>
              </a:rPr>
              <a:t>想</a:t>
            </a:r>
            <a:r>
              <a:rPr lang="zh-CN" altLang="en-US" sz="2800" b="1" dirty="0" smtClean="0">
                <a:latin typeface="黑体" panose="02010609060101010101" pitchFamily="49" charset="-122"/>
                <a:ea typeface="黑体" panose="02010609060101010101" pitchFamily="49" charset="-122"/>
              </a:rPr>
              <a:t>了解可逆绝热的这个假设</a:t>
            </a:r>
            <a:r>
              <a:rPr lang="zh-CN" altLang="en-US" sz="2800" b="1" dirty="0">
                <a:latin typeface="黑体" panose="02010609060101010101" pitchFamily="49" charset="-122"/>
                <a:ea typeface="黑体" panose="02010609060101010101" pitchFamily="49" charset="-122"/>
              </a:rPr>
              <a:t>与实际流动的差别，可以实际测量喷管出口处所需要的参数，再与定熵假设条件下的理论值进行比较。 </a:t>
            </a:r>
            <a:endParaRPr lang="zh-CN" altLang="en-US" sz="2800" b="1" dirty="0">
              <a:latin typeface="黑体" panose="02010609060101010101" pitchFamily="49" charset="-122"/>
              <a:ea typeface="黑体" panose="02010609060101010101" pitchFamily="49" charset="-122"/>
            </a:endParaRPr>
          </a:p>
        </p:txBody>
      </p:sp>
      <p:sp>
        <p:nvSpPr>
          <p:cNvPr id="151554" name="矩形 249860"/>
          <p:cNvSpPr>
            <a:spLocks noChangeArrowheads="1"/>
          </p:cNvSpPr>
          <p:nvPr/>
        </p:nvSpPr>
        <p:spPr bwMode="auto">
          <a:xfrm>
            <a:off x="684213" y="908050"/>
            <a:ext cx="7704137" cy="9531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sz="2800" b="1" dirty="0" smtClean="0">
                <a:latin typeface="黑体" panose="02010609060101010101" pitchFamily="49" charset="-122"/>
                <a:ea typeface="黑体" panose="02010609060101010101" pitchFamily="49" charset="-122"/>
              </a:rPr>
              <a:t>本章</a:t>
            </a:r>
            <a:r>
              <a:rPr lang="zh-CN" altLang="en-US" sz="2800" b="1" dirty="0" smtClean="0">
                <a:latin typeface="黑体" panose="02010609060101010101" pitchFamily="49" charset="-122"/>
                <a:ea typeface="黑体" panose="02010609060101010101" pitchFamily="49" charset="-122"/>
              </a:rPr>
              <a:t>前面</a:t>
            </a:r>
            <a:r>
              <a:rPr lang="zh-CN" altLang="en-US" sz="2800" b="1" dirty="0">
                <a:latin typeface="黑体" panose="02010609060101010101" pitchFamily="49" charset="-122"/>
                <a:ea typeface="黑体" panose="02010609060101010101" pitchFamily="49" charset="-122"/>
              </a:rPr>
              <a:t>的讨论均是假设流体在喷管中作</a:t>
            </a:r>
            <a:r>
              <a:rPr lang="zh-CN" altLang="en-US" sz="2800" b="1" dirty="0">
                <a:solidFill>
                  <a:srgbClr val="FF0000"/>
                </a:solidFill>
                <a:latin typeface="黑体" panose="02010609060101010101" pitchFamily="49" charset="-122"/>
                <a:ea typeface="黑体" panose="02010609060101010101" pitchFamily="49" charset="-122"/>
              </a:rPr>
              <a:t>可逆</a:t>
            </a:r>
            <a:r>
              <a:rPr lang="zh-CN" altLang="en-US" sz="2800" b="1" dirty="0">
                <a:latin typeface="黑体" panose="02010609060101010101" pitchFamily="49" charset="-122"/>
                <a:ea typeface="黑体" panose="02010609060101010101" pitchFamily="49" charset="-122"/>
              </a:rPr>
              <a:t>绝热流动（即定熵流动）。</a:t>
            </a:r>
            <a:endParaRPr lang="zh-CN" altLang="en-US" sz="2800" b="1" dirty="0">
              <a:latin typeface="黑体" panose="02010609060101010101" pitchFamily="49" charset="-122"/>
              <a:ea typeface="黑体" panose="02010609060101010101" pitchFamily="49" charset="-122"/>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2577" name="文本占位符 180226"/>
          <p:cNvSpPr>
            <a:spLocks noGrp="1" noChangeArrowheads="1"/>
          </p:cNvSpPr>
          <p:nvPr>
            <p:ph idx="1"/>
          </p:nvPr>
        </p:nvSpPr>
        <p:spPr>
          <a:xfrm>
            <a:off x="468313" y="404813"/>
            <a:ext cx="8229600" cy="5111750"/>
          </a:xfrm>
        </p:spPr>
        <p:txBody>
          <a:bodyPr/>
          <a:lstStyle/>
          <a:p>
            <a:pPr>
              <a:lnSpc>
                <a:spcPct val="100000"/>
              </a:lnSpc>
            </a:pPr>
            <a:r>
              <a:rPr lang="zh-CN" altLang="en-US" sz="2800" b="1" dirty="0" smtClean="0">
                <a:latin typeface="黑体" panose="02010609060101010101" pitchFamily="49" charset="-122"/>
                <a:ea typeface="黑体" panose="02010609060101010101" pitchFamily="49" charset="-122"/>
              </a:rPr>
              <a:t>在工程应用中，通常将流体在喷管出口截面的实际动能与定熵条件下的理想动能之比定义为</a:t>
            </a:r>
            <a:r>
              <a:rPr lang="zh-CN" altLang="en-US" sz="2800" b="1" dirty="0" smtClean="0">
                <a:solidFill>
                  <a:srgbClr val="FF0000"/>
                </a:solidFill>
                <a:latin typeface="黑体" panose="02010609060101010101" pitchFamily="49" charset="-122"/>
                <a:ea typeface="黑体" panose="02010609060101010101" pitchFamily="49" charset="-122"/>
              </a:rPr>
              <a:t>喷管效率（</a:t>
            </a:r>
            <a:r>
              <a:rPr lang="en-US" altLang="zh-CN" sz="2800" b="1" dirty="0" smtClean="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Nozzle efficiency</a:t>
            </a:r>
            <a:r>
              <a:rPr lang="zh-CN" altLang="en-US" sz="2800" b="1" dirty="0" smtClean="0">
                <a:solidFill>
                  <a:srgbClr val="FF0000"/>
                </a:solidFill>
                <a:latin typeface="黑体" panose="02010609060101010101" pitchFamily="49" charset="-122"/>
                <a:ea typeface="黑体" panose="02010609060101010101" pitchFamily="49" charset="-122"/>
              </a:rPr>
              <a:t>）</a:t>
            </a:r>
            <a:endParaRPr lang="zh-CN" altLang="en-US" sz="2800" b="1" dirty="0" smtClean="0">
              <a:solidFill>
                <a:srgbClr val="FF0000"/>
              </a:solidFill>
              <a:latin typeface="黑体" panose="02010609060101010101" pitchFamily="49" charset="-122"/>
              <a:ea typeface="黑体" panose="02010609060101010101" pitchFamily="49" charset="-122"/>
            </a:endParaRPr>
          </a:p>
          <a:p>
            <a:endParaRPr lang="zh-CN" altLang="en-US" sz="2800" dirty="0" smtClean="0">
              <a:latin typeface="黑体" panose="02010609060101010101" pitchFamily="49" charset="-122"/>
              <a:ea typeface="黑体" panose="02010609060101010101" pitchFamily="49" charset="-122"/>
            </a:endParaRPr>
          </a:p>
          <a:p>
            <a:endParaRPr lang="zh-CN" altLang="en-US" dirty="0" smtClean="0"/>
          </a:p>
          <a:p>
            <a:pPr marL="0" indent="0">
              <a:buNone/>
            </a:pPr>
            <a:endParaRPr lang="zh-CN" altLang="en-US" dirty="0" smtClean="0"/>
          </a:p>
          <a:p>
            <a:pPr marL="0" indent="0">
              <a:buNone/>
            </a:pPr>
            <a:endParaRPr lang="en-US" altLang="zh-CN" sz="2800" b="1" dirty="0" smtClean="0">
              <a:latin typeface="黑体" panose="02010609060101010101" pitchFamily="49" charset="-122"/>
              <a:ea typeface="黑体" panose="02010609060101010101" pitchFamily="49" charset="-122"/>
            </a:endParaRPr>
          </a:p>
          <a:p>
            <a:pPr>
              <a:lnSpc>
                <a:spcPct val="100000"/>
              </a:lnSpc>
            </a:pPr>
            <a:r>
              <a:rPr lang="zh-CN" altLang="en-US" sz="2800" b="1" dirty="0" smtClean="0">
                <a:latin typeface="黑体" panose="02010609060101010101" pitchFamily="49" charset="-122"/>
                <a:ea typeface="黑体" panose="02010609060101010101" pitchFamily="49" charset="-122"/>
              </a:rPr>
              <a:t>根据实际过程和定熵过程的能量守恒方程，并利用滞止焓的概念，喷管效率可进一步表示为  </a:t>
            </a:r>
            <a:endParaRPr lang="zh-CN" altLang="en-US" sz="2800" b="1" dirty="0" smtClean="0">
              <a:latin typeface="黑体" panose="02010609060101010101" pitchFamily="49" charset="-122"/>
              <a:ea typeface="黑体" panose="02010609060101010101" pitchFamily="49" charset="-122"/>
            </a:endParaRPr>
          </a:p>
        </p:txBody>
      </p:sp>
      <p:sp>
        <p:nvSpPr>
          <p:cNvPr id="152578" name="矩形 180228"/>
          <p:cNvSpPr>
            <a:spLocks noChangeArrowheads="1"/>
          </p:cNvSpPr>
          <p:nvPr/>
        </p:nvSpPr>
        <p:spPr bwMode="auto">
          <a:xfrm>
            <a:off x="0" y="320040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52579" name="矩形 180230"/>
          <p:cNvSpPr>
            <a:spLocks noChangeArrowheads="1"/>
          </p:cNvSpPr>
          <p:nvPr/>
        </p:nvSpPr>
        <p:spPr bwMode="auto">
          <a:xfrm>
            <a:off x="0" y="321468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52580" name="矩形 180232"/>
          <p:cNvSpPr>
            <a:spLocks noChangeArrowheads="1"/>
          </p:cNvSpPr>
          <p:nvPr/>
        </p:nvSpPr>
        <p:spPr bwMode="auto">
          <a:xfrm>
            <a:off x="0" y="318611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graphicFrame>
        <p:nvGraphicFramePr>
          <p:cNvPr id="152581" name="对象 180231"/>
          <p:cNvGraphicFramePr>
            <a:graphicFrameLocks noChangeAspect="1"/>
          </p:cNvGraphicFramePr>
          <p:nvPr/>
        </p:nvGraphicFramePr>
        <p:xfrm>
          <a:off x="1530764" y="1852220"/>
          <a:ext cx="1841400" cy="1206000"/>
        </p:xfrm>
        <a:graphic>
          <a:graphicData uri="http://schemas.openxmlformats.org/presentationml/2006/ole">
            <mc:AlternateContent xmlns:mc="http://schemas.openxmlformats.org/markup-compatibility/2006">
              <mc:Choice xmlns:v="urn:schemas-microsoft-com:vml" Requires="v">
                <p:oleObj spid="_x0000_s63504" name="" r:id="rId1" imgW="736600" imgH="482600" progId="Equation.DSMT4">
                  <p:embed/>
                </p:oleObj>
              </mc:Choice>
              <mc:Fallback>
                <p:oleObj name="" r:id="rId1" imgW="736600" imgH="482600" progId="Equation.DSMT4">
                  <p:embed/>
                  <p:pic>
                    <p:nvPicPr>
                      <p:cNvPr id="0" name="对象 180231"/>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30764" y="1852220"/>
                        <a:ext cx="1841400" cy="120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152582" name="对象 180233"/>
          <p:cNvGraphicFramePr>
            <a:graphicFrameLocks noChangeAspect="1"/>
          </p:cNvGraphicFramePr>
          <p:nvPr/>
        </p:nvGraphicFramePr>
        <p:xfrm>
          <a:off x="1530764" y="4733626"/>
          <a:ext cx="2031118" cy="1142505"/>
        </p:xfrm>
        <a:graphic>
          <a:graphicData uri="http://schemas.openxmlformats.org/presentationml/2006/ole">
            <mc:AlternateContent xmlns:mc="http://schemas.openxmlformats.org/markup-compatibility/2006">
              <mc:Choice xmlns:v="urn:schemas-microsoft-com:vml" Requires="v">
                <p:oleObj spid="_x0000_s63505" name="" r:id="rId3" imgW="812165" imgH="457200" progId="Equation.DSMT4">
                  <p:embed/>
                </p:oleObj>
              </mc:Choice>
              <mc:Fallback>
                <p:oleObj name="" r:id="rId3" imgW="812165" imgH="457200" progId="Equation.DSMT4">
                  <p:embed/>
                  <p:pic>
                    <p:nvPicPr>
                      <p:cNvPr id="0" name="对象 180233"/>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30764" y="4733626"/>
                        <a:ext cx="2031118" cy="11425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4" name="矩形 3"/>
          <p:cNvSpPr/>
          <p:nvPr/>
        </p:nvSpPr>
        <p:spPr>
          <a:xfrm>
            <a:off x="4255742" y="1364447"/>
            <a:ext cx="4106380" cy="830997"/>
          </a:xfrm>
          <a:prstGeom prst="rect">
            <a:avLst/>
          </a:prstGeom>
        </p:spPr>
        <p:txBody>
          <a:bodyPr wrap="square">
            <a:spAutoFit/>
          </a:bodyPr>
          <a:lstStyle/>
          <a:p>
            <a:r>
              <a:rPr lang="en-US" altLang="zh-CN" sz="2400" b="1" i="1" dirty="0" smtClean="0">
                <a:solidFill>
                  <a:srgbClr val="0070C0"/>
                </a:solidFill>
                <a:latin typeface="Times New Roman" panose="02020603050405020304" pitchFamily="18" charset="0"/>
                <a:ea typeface="黑体" panose="02010609060101010101" pitchFamily="49" charset="-122"/>
                <a:cs typeface="Times New Roman" panose="02020603050405020304" pitchFamily="18" charset="0"/>
              </a:rPr>
              <a:t>c</a:t>
            </a:r>
            <a:r>
              <a:rPr lang="en-US" altLang="zh-CN" sz="2400" b="1" baseline="-25000" dirty="0" smtClean="0">
                <a:solidFill>
                  <a:srgbClr val="0070C0"/>
                </a:solidFill>
                <a:latin typeface="Times New Roman" panose="02020603050405020304" pitchFamily="18" charset="0"/>
                <a:ea typeface="黑体" panose="02010609060101010101" pitchFamily="49" charset="-122"/>
                <a:cs typeface="Times New Roman" panose="02020603050405020304" pitchFamily="18" charset="0"/>
              </a:rPr>
              <a:t>f2</a:t>
            </a:r>
            <a:r>
              <a:rPr lang="zh-CN" altLang="en-US" sz="2400" b="1" dirty="0" smtClean="0">
                <a:solidFill>
                  <a:srgbClr val="0070C0"/>
                </a:solidFill>
                <a:latin typeface="黑体" panose="02010609060101010101" pitchFamily="49" charset="-122"/>
                <a:ea typeface="黑体" panose="02010609060101010101" pitchFamily="49" charset="-122"/>
              </a:rPr>
              <a:t>：实际流动中流体在喷管出口处的速度</a:t>
            </a:r>
            <a:endParaRPr lang="zh-CN" altLang="en-US" sz="2400" dirty="0">
              <a:solidFill>
                <a:srgbClr val="0070C0"/>
              </a:solidFill>
            </a:endParaRPr>
          </a:p>
        </p:txBody>
      </p:sp>
      <p:sp>
        <p:nvSpPr>
          <p:cNvPr id="11" name="矩形 10"/>
          <p:cNvSpPr/>
          <p:nvPr/>
        </p:nvSpPr>
        <p:spPr>
          <a:xfrm>
            <a:off x="4255742" y="2170450"/>
            <a:ext cx="3987110" cy="1200329"/>
          </a:xfrm>
          <a:prstGeom prst="rect">
            <a:avLst/>
          </a:prstGeom>
        </p:spPr>
        <p:txBody>
          <a:bodyPr wrap="square">
            <a:spAutoFit/>
          </a:bodyPr>
          <a:lstStyle/>
          <a:p>
            <a:r>
              <a:rPr lang="en-US" altLang="zh-CN" sz="2400" b="1" i="1" dirty="0" smtClean="0">
                <a:solidFill>
                  <a:srgbClr val="0070C0"/>
                </a:solidFill>
                <a:latin typeface="Times New Roman" panose="02020603050405020304" pitchFamily="18" charset="0"/>
                <a:ea typeface="黑体" panose="02010609060101010101" pitchFamily="49" charset="-122"/>
                <a:cs typeface="Times New Roman" panose="02020603050405020304" pitchFamily="18" charset="0"/>
              </a:rPr>
              <a:t>c</a:t>
            </a:r>
            <a:r>
              <a:rPr lang="en-US" altLang="zh-CN" sz="2400" b="1" baseline="-25000" dirty="0" smtClean="0">
                <a:solidFill>
                  <a:srgbClr val="0070C0"/>
                </a:solidFill>
                <a:latin typeface="Times New Roman" panose="02020603050405020304" pitchFamily="18" charset="0"/>
                <a:ea typeface="黑体" panose="02010609060101010101" pitchFamily="49" charset="-122"/>
                <a:cs typeface="Times New Roman" panose="02020603050405020304" pitchFamily="18" charset="0"/>
              </a:rPr>
              <a:t>f2</a:t>
            </a:r>
            <a:r>
              <a:rPr lang="en-US" altLang="zh-CN" sz="2000" b="1" i="1" baseline="-25000" dirty="0" smtClean="0">
                <a:solidFill>
                  <a:srgbClr val="0070C0"/>
                </a:solidFill>
                <a:latin typeface="Times New Roman" panose="02020603050405020304" pitchFamily="18" charset="0"/>
                <a:ea typeface="黑体" panose="02010609060101010101" pitchFamily="49" charset="-122"/>
                <a:cs typeface="Times New Roman" panose="02020603050405020304" pitchFamily="18" charset="0"/>
              </a:rPr>
              <a:t>s</a:t>
            </a:r>
            <a:r>
              <a:rPr lang="zh-CN" altLang="en-US" sz="2400" b="1" dirty="0" smtClean="0">
                <a:solidFill>
                  <a:srgbClr val="0070C0"/>
                </a:solidFill>
                <a:latin typeface="黑体" panose="02010609060101010101" pitchFamily="49" charset="-122"/>
                <a:ea typeface="黑体" panose="02010609060101010101" pitchFamily="49" charset="-122"/>
              </a:rPr>
              <a:t>：同样出口压力下，流体定熵流动时在喷管出口处的速度</a:t>
            </a:r>
            <a:endParaRPr lang="zh-CN" altLang="en-US" sz="2400" dirty="0">
              <a:solidFill>
                <a:srgbClr val="0070C0"/>
              </a:solidFill>
            </a:endParaRPr>
          </a:p>
        </p:txBody>
      </p:sp>
      <p:sp>
        <p:nvSpPr>
          <p:cNvPr id="12" name="矩形 11"/>
          <p:cNvSpPr/>
          <p:nvPr/>
        </p:nvSpPr>
        <p:spPr>
          <a:xfrm>
            <a:off x="4255742" y="4465954"/>
            <a:ext cx="4106380" cy="830997"/>
          </a:xfrm>
          <a:prstGeom prst="rect">
            <a:avLst/>
          </a:prstGeom>
        </p:spPr>
        <p:txBody>
          <a:bodyPr wrap="square">
            <a:spAutoFit/>
          </a:bodyPr>
          <a:lstStyle/>
          <a:p>
            <a:r>
              <a:rPr lang="en-US" altLang="zh-CN" sz="2400" b="1" i="1" dirty="0" smtClean="0">
                <a:solidFill>
                  <a:srgbClr val="0070C0"/>
                </a:solidFill>
                <a:latin typeface="Times New Roman" panose="02020603050405020304" pitchFamily="18" charset="0"/>
                <a:ea typeface="黑体" panose="02010609060101010101" pitchFamily="49" charset="-122"/>
                <a:cs typeface="Times New Roman" panose="02020603050405020304" pitchFamily="18" charset="0"/>
              </a:rPr>
              <a:t>h</a:t>
            </a:r>
            <a:r>
              <a:rPr lang="en-US" altLang="zh-CN" sz="2400" b="1" baseline="-25000" dirty="0" smtClean="0">
                <a:solidFill>
                  <a:srgbClr val="0070C0"/>
                </a:solidFill>
                <a:latin typeface="Times New Roman" panose="02020603050405020304" pitchFamily="18" charset="0"/>
                <a:ea typeface="黑体" panose="02010609060101010101" pitchFamily="49" charset="-122"/>
                <a:cs typeface="Times New Roman" panose="02020603050405020304" pitchFamily="18" charset="0"/>
              </a:rPr>
              <a:t>2</a:t>
            </a:r>
            <a:r>
              <a:rPr lang="zh-CN" altLang="en-US" sz="2400" b="1" dirty="0" smtClean="0">
                <a:solidFill>
                  <a:srgbClr val="0070C0"/>
                </a:solidFill>
                <a:latin typeface="黑体" panose="02010609060101010101" pitchFamily="49" charset="-122"/>
                <a:ea typeface="黑体" panose="02010609060101010101" pitchFamily="49" charset="-122"/>
              </a:rPr>
              <a:t>：实际</a:t>
            </a:r>
            <a:r>
              <a:rPr lang="zh-CN" altLang="en-US" sz="2400" b="1" dirty="0">
                <a:solidFill>
                  <a:srgbClr val="0070C0"/>
                </a:solidFill>
                <a:latin typeface="黑体" panose="02010609060101010101" pitchFamily="49" charset="-122"/>
                <a:ea typeface="黑体" panose="02010609060101010101" pitchFamily="49" charset="-122"/>
              </a:rPr>
              <a:t>绝热</a:t>
            </a:r>
            <a:r>
              <a:rPr lang="zh-CN" altLang="en-US" sz="2400" b="1" dirty="0" smtClean="0">
                <a:solidFill>
                  <a:srgbClr val="0070C0"/>
                </a:solidFill>
                <a:latin typeface="黑体" panose="02010609060101010101" pitchFamily="49" charset="-122"/>
                <a:ea typeface="黑体" panose="02010609060101010101" pitchFamily="49" charset="-122"/>
              </a:rPr>
              <a:t>流动中流体在喷管出口处的焓值</a:t>
            </a:r>
            <a:endParaRPr lang="zh-CN" altLang="en-US" sz="2400" dirty="0">
              <a:solidFill>
                <a:srgbClr val="0070C0"/>
              </a:solidFill>
            </a:endParaRPr>
          </a:p>
        </p:txBody>
      </p:sp>
      <p:sp>
        <p:nvSpPr>
          <p:cNvPr id="13" name="矩形 12"/>
          <p:cNvSpPr/>
          <p:nvPr/>
        </p:nvSpPr>
        <p:spPr>
          <a:xfrm>
            <a:off x="4255742" y="5250569"/>
            <a:ext cx="4106380" cy="1200329"/>
          </a:xfrm>
          <a:prstGeom prst="rect">
            <a:avLst/>
          </a:prstGeom>
        </p:spPr>
        <p:txBody>
          <a:bodyPr wrap="square">
            <a:spAutoFit/>
          </a:bodyPr>
          <a:lstStyle/>
          <a:p>
            <a:r>
              <a:rPr lang="en-US" altLang="zh-CN" sz="2400" b="1" i="1" dirty="0" smtClean="0">
                <a:solidFill>
                  <a:srgbClr val="0070C0"/>
                </a:solidFill>
                <a:latin typeface="Times New Roman" panose="02020603050405020304" pitchFamily="18" charset="0"/>
                <a:ea typeface="黑体" panose="02010609060101010101" pitchFamily="49" charset="-122"/>
                <a:cs typeface="Times New Roman" panose="02020603050405020304" pitchFamily="18" charset="0"/>
              </a:rPr>
              <a:t>h</a:t>
            </a:r>
            <a:r>
              <a:rPr lang="en-US" altLang="zh-CN" sz="2400" b="1" baseline="-25000" dirty="0" smtClean="0">
                <a:solidFill>
                  <a:srgbClr val="0070C0"/>
                </a:solidFill>
                <a:latin typeface="Times New Roman" panose="02020603050405020304" pitchFamily="18" charset="0"/>
                <a:ea typeface="黑体" panose="02010609060101010101" pitchFamily="49" charset="-122"/>
                <a:cs typeface="Times New Roman" panose="02020603050405020304" pitchFamily="18" charset="0"/>
              </a:rPr>
              <a:t>2</a:t>
            </a:r>
            <a:r>
              <a:rPr lang="en-US" altLang="zh-CN" sz="2000" b="1" i="1" baseline="-25000" dirty="0" smtClean="0">
                <a:solidFill>
                  <a:srgbClr val="0070C0"/>
                </a:solidFill>
                <a:latin typeface="Times New Roman" panose="02020603050405020304" pitchFamily="18" charset="0"/>
                <a:ea typeface="黑体" panose="02010609060101010101" pitchFamily="49" charset="-122"/>
                <a:cs typeface="Times New Roman" panose="02020603050405020304" pitchFamily="18" charset="0"/>
              </a:rPr>
              <a:t>s</a:t>
            </a:r>
            <a:r>
              <a:rPr lang="zh-CN" altLang="en-US" sz="2400" b="1" dirty="0" smtClean="0">
                <a:solidFill>
                  <a:srgbClr val="0070C0"/>
                </a:solidFill>
                <a:latin typeface="黑体" panose="02010609060101010101" pitchFamily="49" charset="-122"/>
                <a:ea typeface="黑体" panose="02010609060101010101" pitchFamily="49" charset="-122"/>
              </a:rPr>
              <a:t>：同样出口压力下，流体定熵流动时在喷管出口处的焓值</a:t>
            </a:r>
            <a:endParaRPr lang="zh-CN" altLang="en-US" sz="2400" dirty="0">
              <a:solidFill>
                <a:srgbClr val="0070C0"/>
              </a:solidFill>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01" name="矩形 181252"/>
          <p:cNvSpPr>
            <a:spLocks noChangeArrowheads="1"/>
          </p:cNvSpPr>
          <p:nvPr/>
        </p:nvSpPr>
        <p:spPr bwMode="auto">
          <a:xfrm>
            <a:off x="0" y="220980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graphicFrame>
        <p:nvGraphicFramePr>
          <p:cNvPr id="153602" name="对象 181253"/>
          <p:cNvGraphicFramePr/>
          <p:nvPr/>
        </p:nvGraphicFramePr>
        <p:xfrm>
          <a:off x="4572000" y="1582260"/>
          <a:ext cx="3255962" cy="1166813"/>
        </p:xfrm>
        <a:graphic>
          <a:graphicData uri="http://schemas.openxmlformats.org/presentationml/2006/ole">
            <mc:AlternateContent xmlns:mc="http://schemas.openxmlformats.org/markup-compatibility/2006">
              <mc:Choice xmlns:v="urn:schemas-microsoft-com:vml" Requires="v">
                <p:oleObj spid="_x0000_s64546" name="" r:id="rId1" imgW="1332865" imgH="482600" progId="Equation.DSMT4">
                  <p:embed/>
                </p:oleObj>
              </mc:Choice>
              <mc:Fallback>
                <p:oleObj name="" r:id="rId1" imgW="1332865" imgH="482600" progId="Equation.DSMT4">
                  <p:embed/>
                  <p:pic>
                    <p:nvPicPr>
                      <p:cNvPr id="0" name="对象 181253"/>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72000" y="1582260"/>
                        <a:ext cx="3255962" cy="1166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153604" name="矩形 181257"/>
          <p:cNvSpPr>
            <a:spLocks noChangeArrowheads="1"/>
          </p:cNvSpPr>
          <p:nvPr/>
        </p:nvSpPr>
        <p:spPr bwMode="auto">
          <a:xfrm>
            <a:off x="673100" y="4029887"/>
            <a:ext cx="7848600" cy="1200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r>
              <a:rPr lang="zh-CN" altLang="en-US" sz="2400" b="1" dirty="0">
                <a:latin typeface="黑体" panose="02010609060101010101" pitchFamily="49" charset="-122"/>
                <a:ea typeface="黑体" panose="02010609060101010101" pitchFamily="49" charset="-122"/>
              </a:rPr>
              <a:t>喷管内的不可逆性主要来自于摩擦。由于流体存在粘性，在流动过程中存在摩擦，使过程中发生能量的耗散，部分动能又耗散为热量被流体吸收，因此</a:t>
            </a:r>
            <a:endParaRPr lang="zh-CN" altLang="en-US" sz="2400" b="1" dirty="0">
              <a:latin typeface="黑体" panose="02010609060101010101" pitchFamily="49" charset="-122"/>
              <a:ea typeface="黑体" panose="02010609060101010101" pitchFamily="49" charset="-122"/>
            </a:endParaRPr>
          </a:p>
        </p:txBody>
      </p:sp>
      <p:sp>
        <p:nvSpPr>
          <p:cNvPr id="153605" name="矩形 181259"/>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graphicFrame>
        <p:nvGraphicFramePr>
          <p:cNvPr id="153606" name="对象 181258"/>
          <p:cNvGraphicFramePr/>
          <p:nvPr/>
        </p:nvGraphicFramePr>
        <p:xfrm>
          <a:off x="1346994" y="5398950"/>
          <a:ext cx="1123950" cy="561975"/>
        </p:xfrm>
        <a:graphic>
          <a:graphicData uri="http://schemas.openxmlformats.org/presentationml/2006/ole">
            <mc:AlternateContent xmlns:mc="http://schemas.openxmlformats.org/markup-compatibility/2006">
              <mc:Choice xmlns:v="urn:schemas-microsoft-com:vml" Requires="v">
                <p:oleObj spid="_x0000_s64547" name="" r:id="rId3" imgW="482600" imgH="241300" progId="Equation.DSMT4">
                  <p:embed/>
                </p:oleObj>
              </mc:Choice>
              <mc:Fallback>
                <p:oleObj name="" r:id="rId3" imgW="482600" imgH="241300" progId="Equation.DSMT4">
                  <p:embed/>
                  <p:pic>
                    <p:nvPicPr>
                      <p:cNvPr id="0" name="对象 181258"/>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346994" y="5398950"/>
                        <a:ext cx="1123950" cy="561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153607" name="右箭头 181260"/>
          <p:cNvSpPr>
            <a:spLocks noChangeArrowheads="1"/>
          </p:cNvSpPr>
          <p:nvPr/>
        </p:nvSpPr>
        <p:spPr bwMode="auto">
          <a:xfrm>
            <a:off x="4572794" y="5556112"/>
            <a:ext cx="1008062" cy="215900"/>
          </a:xfrm>
          <a:prstGeom prst="rightArrow">
            <a:avLst>
              <a:gd name="adj1" fmla="val 50000"/>
              <a:gd name="adj2" fmla="val 116533"/>
            </a:avLst>
          </a:prstGeom>
          <a:solidFill>
            <a:schemeClr val="accent1"/>
          </a:solidFill>
          <a:ln w="9525">
            <a:solidFill>
              <a:schemeClr val="tx1"/>
            </a:solidFill>
            <a:miter lim="800000"/>
          </a:ln>
        </p:spPr>
        <p:txBody>
          <a:bodyPr wrap="none" anchor="ctr"/>
          <a:lstStyle/>
          <a:p>
            <a:pPr algn="ctr"/>
            <a:endParaRPr lang="zh-CN" altLang="zh-CN"/>
          </a:p>
        </p:txBody>
      </p:sp>
      <p:sp>
        <p:nvSpPr>
          <p:cNvPr id="153608" name="矩形 181262"/>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graphicFrame>
        <p:nvGraphicFramePr>
          <p:cNvPr id="153609" name="对象 181261"/>
          <p:cNvGraphicFramePr/>
          <p:nvPr/>
        </p:nvGraphicFramePr>
        <p:xfrm>
          <a:off x="6228556" y="5413237"/>
          <a:ext cx="936625" cy="527050"/>
        </p:xfrm>
        <a:graphic>
          <a:graphicData uri="http://schemas.openxmlformats.org/presentationml/2006/ole">
            <mc:AlternateContent xmlns:mc="http://schemas.openxmlformats.org/markup-compatibility/2006">
              <mc:Choice xmlns:v="urn:schemas-microsoft-com:vml" Requires="v">
                <p:oleObj spid="_x0000_s64548" name="" r:id="rId5" imgW="405765" imgH="228600" progId="Equation.DSMT4">
                  <p:embed/>
                </p:oleObj>
              </mc:Choice>
              <mc:Fallback>
                <p:oleObj name="" r:id="rId5" imgW="405765" imgH="228600" progId="Equation.DSMT4">
                  <p:embed/>
                  <p:pic>
                    <p:nvPicPr>
                      <p:cNvPr id="0" name="对象 181261"/>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228556" y="5413237"/>
                        <a:ext cx="936625" cy="527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153610" name="矩形 181264"/>
          <p:cNvSpPr>
            <a:spLocks noChangeArrowheads="1"/>
          </p:cNvSpPr>
          <p:nvPr/>
        </p:nvSpPr>
        <p:spPr bwMode="auto">
          <a:xfrm>
            <a:off x="0" y="331470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53611" name="矩形 181266"/>
          <p:cNvSpPr>
            <a:spLocks noChangeArrowheads="1"/>
          </p:cNvSpPr>
          <p:nvPr/>
        </p:nvSpPr>
        <p:spPr bwMode="auto">
          <a:xfrm>
            <a:off x="0" y="188118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graphicFrame>
        <p:nvGraphicFramePr>
          <p:cNvPr id="153614" name="对象 181267"/>
          <p:cNvGraphicFramePr/>
          <p:nvPr/>
        </p:nvGraphicFramePr>
        <p:xfrm>
          <a:off x="2772569" y="5398950"/>
          <a:ext cx="1368425" cy="576262"/>
        </p:xfrm>
        <a:graphic>
          <a:graphicData uri="http://schemas.openxmlformats.org/presentationml/2006/ole">
            <mc:AlternateContent xmlns:mc="http://schemas.openxmlformats.org/markup-compatibility/2006">
              <mc:Choice xmlns:v="urn:schemas-microsoft-com:vml" Requires="v">
                <p:oleObj spid="_x0000_s64549" name="" r:id="rId7" imgW="571500" imgH="241300" progId="Equation.DSMT4">
                  <p:embed/>
                </p:oleObj>
              </mc:Choice>
              <mc:Fallback>
                <p:oleObj name="" r:id="rId7" imgW="571500" imgH="241300" progId="Equation.DSMT4">
                  <p:embed/>
                  <p:pic>
                    <p:nvPicPr>
                      <p:cNvPr id="0" name="对象 181267"/>
                      <p:cNvPicPr>
                        <a:picLocks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772569" y="5398950"/>
                        <a:ext cx="1368425" cy="576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26" name="矩形 25"/>
          <p:cNvSpPr/>
          <p:nvPr/>
        </p:nvSpPr>
        <p:spPr>
          <a:xfrm>
            <a:off x="4005331" y="421522"/>
            <a:ext cx="4641091" cy="830997"/>
          </a:xfrm>
          <a:prstGeom prst="rect">
            <a:avLst/>
          </a:prstGeom>
        </p:spPr>
        <p:txBody>
          <a:bodyPr wrap="square">
            <a:spAutoFit/>
          </a:bodyPr>
          <a:lstStyle/>
          <a:p>
            <a:r>
              <a:rPr lang="zh-CN" altLang="zh-CN" sz="2400" b="1" dirty="0">
                <a:latin typeface="Times New Roman" panose="02020603050405020304" pitchFamily="18" charset="0"/>
                <a:ea typeface="黑体" panose="02010609060101010101" pitchFamily="49" charset="-122"/>
                <a:cs typeface="Times New Roman" panose="02020603050405020304" pitchFamily="18" charset="0"/>
              </a:rPr>
              <a:t>在</a:t>
            </a:r>
            <a:r>
              <a:rPr lang="en-US" altLang="zh-CN" sz="2400" b="1" i="1" dirty="0">
                <a:latin typeface="Times New Roman" panose="02020603050405020304" pitchFamily="18" charset="0"/>
                <a:ea typeface="黑体" panose="02010609060101010101" pitchFamily="49" charset="-122"/>
                <a:cs typeface="Times New Roman" panose="02020603050405020304" pitchFamily="18" charset="0"/>
              </a:rPr>
              <a:t>h-s</a:t>
            </a:r>
            <a:r>
              <a:rPr lang="zh-CN" altLang="zh-CN" sz="2400" b="1" dirty="0">
                <a:latin typeface="Times New Roman" panose="02020603050405020304" pitchFamily="18" charset="0"/>
                <a:ea typeface="黑体" panose="02010609060101010101" pitchFamily="49" charset="-122"/>
                <a:cs typeface="Times New Roman" panose="02020603050405020304" pitchFamily="18" charset="0"/>
              </a:rPr>
              <a:t>图上分别表示出流体的定熵流动和实际流动（假设</a:t>
            </a:r>
            <a:r>
              <a:rPr lang="en-US" altLang="zh-CN" sz="2400" b="1" dirty="0">
                <a:latin typeface="Times New Roman" panose="02020603050405020304" pitchFamily="18" charset="0"/>
                <a:ea typeface="黑体" panose="02010609060101010101" pitchFamily="49" charset="-122"/>
                <a:cs typeface="Times New Roman" panose="02020603050405020304" pitchFamily="18" charset="0"/>
              </a:rPr>
              <a:t>1</a:t>
            </a:r>
            <a:r>
              <a:rPr lang="zh-CN" altLang="zh-CN" sz="2400" b="1" dirty="0">
                <a:latin typeface="Times New Roman" panose="02020603050405020304" pitchFamily="18" charset="0"/>
                <a:ea typeface="黑体" panose="02010609060101010101" pitchFamily="49" charset="-122"/>
                <a:cs typeface="Times New Roman" panose="02020603050405020304" pitchFamily="18" charset="0"/>
              </a:rPr>
              <a:t>为滞止态）</a:t>
            </a:r>
            <a:endParaRPr lang="zh-CN" altLang="en-US" sz="2400" b="1" dirty="0">
              <a:solidFill>
                <a:srgbClr val="0070C0"/>
              </a:solidFill>
              <a:latin typeface="Times New Roman" panose="02020603050405020304" pitchFamily="18" charset="0"/>
              <a:ea typeface="黑体" panose="02010609060101010101" pitchFamily="49" charset="-122"/>
              <a:cs typeface="Times New Roman" panose="02020603050405020304" pitchFamily="18" charset="0"/>
            </a:endParaRPr>
          </a:p>
        </p:txBody>
      </p:sp>
      <p:pic>
        <p:nvPicPr>
          <p:cNvPr id="2" name="图片 1"/>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490702" y="508882"/>
            <a:ext cx="3670110" cy="3097036"/>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4625" name="文本占位符 182274"/>
          <p:cNvSpPr>
            <a:spLocks noGrp="1" noChangeArrowheads="1"/>
          </p:cNvSpPr>
          <p:nvPr>
            <p:ph idx="1"/>
          </p:nvPr>
        </p:nvSpPr>
        <p:spPr>
          <a:xfrm>
            <a:off x="468313" y="1052513"/>
            <a:ext cx="8229600" cy="4525962"/>
          </a:xfrm>
        </p:spPr>
        <p:txBody>
          <a:bodyPr>
            <a:normAutofit/>
          </a:bodyPr>
          <a:lstStyle/>
          <a:p>
            <a:pPr>
              <a:lnSpc>
                <a:spcPct val="100000"/>
              </a:lnSpc>
            </a:pPr>
            <a:r>
              <a:rPr lang="zh-CN" altLang="en-US" sz="2800" b="1" dirty="0" smtClean="0">
                <a:latin typeface="Times New Roman" panose="02020603050405020304" pitchFamily="18" charset="0"/>
                <a:ea typeface="黑体" panose="02010609060101010101" pitchFamily="49" charset="-122"/>
              </a:rPr>
              <a:t>喷管效率可作为度量喷管中能量转换效果的指标，它越接近于</a:t>
            </a:r>
            <a:r>
              <a:rPr lang="en-US" altLang="zh-CN" sz="2800" b="1" dirty="0" smtClean="0">
                <a:latin typeface="Times New Roman" panose="02020603050405020304" pitchFamily="18" charset="0"/>
                <a:ea typeface="黑体" panose="02010609060101010101" pitchFamily="49" charset="-122"/>
              </a:rPr>
              <a:t>1</a:t>
            </a:r>
            <a:r>
              <a:rPr lang="zh-CN" altLang="en-US" sz="2800" b="1" dirty="0" smtClean="0">
                <a:latin typeface="Times New Roman" panose="02020603050405020304" pitchFamily="18" charset="0"/>
                <a:ea typeface="黑体" panose="02010609060101010101" pitchFamily="49" charset="-122"/>
              </a:rPr>
              <a:t>，喷管内的流动越接近于定熵流动</a:t>
            </a:r>
            <a:endParaRPr lang="zh-CN" altLang="en-US" sz="2800" b="1" dirty="0" smtClean="0">
              <a:latin typeface="Times New Roman" panose="02020603050405020304" pitchFamily="18" charset="0"/>
              <a:ea typeface="黑体" panose="02010609060101010101" pitchFamily="49" charset="-122"/>
            </a:endParaRPr>
          </a:p>
          <a:p>
            <a:pPr>
              <a:lnSpc>
                <a:spcPct val="100000"/>
              </a:lnSpc>
            </a:pPr>
            <a:r>
              <a:rPr lang="zh-CN" altLang="en-US" sz="2800" b="1" dirty="0" smtClean="0">
                <a:latin typeface="Times New Roman" panose="02020603050405020304" pitchFamily="18" charset="0"/>
                <a:ea typeface="黑体" panose="02010609060101010101" pitchFamily="49" charset="-122"/>
              </a:rPr>
              <a:t>喷管效率与流体的性质，喷管的型式、尺寸、壁面粗糙度和膨胀压力比等因素相关，通常由实验方法测定，一般在</a:t>
            </a:r>
            <a:r>
              <a:rPr lang="en-US" altLang="zh-CN" sz="2800" b="1" dirty="0" smtClean="0">
                <a:latin typeface="Times New Roman" panose="02020603050405020304" pitchFamily="18" charset="0"/>
                <a:ea typeface="黑体" panose="02010609060101010101" pitchFamily="49" charset="-122"/>
              </a:rPr>
              <a:t>0.90~0.99</a:t>
            </a:r>
            <a:r>
              <a:rPr lang="zh-CN" altLang="en-US" sz="2800" b="1" dirty="0" smtClean="0">
                <a:latin typeface="Times New Roman" panose="02020603050405020304" pitchFamily="18" charset="0"/>
                <a:ea typeface="黑体" panose="02010609060101010101" pitchFamily="49" charset="-122"/>
              </a:rPr>
              <a:t>范围内</a:t>
            </a:r>
            <a:endParaRPr lang="zh-CN" altLang="en-US" sz="2800" b="1" dirty="0" smtClean="0">
              <a:latin typeface="Times New Roman" panose="02020603050405020304" pitchFamily="18" charset="0"/>
              <a:ea typeface="黑体" panose="02010609060101010101" pitchFamily="49" charset="-122"/>
            </a:endParaRPr>
          </a:p>
          <a:p>
            <a:pPr>
              <a:lnSpc>
                <a:spcPct val="100000"/>
              </a:lnSpc>
            </a:pPr>
            <a:r>
              <a:rPr lang="zh-CN" altLang="en-US" sz="2800" b="1" dirty="0" smtClean="0">
                <a:latin typeface="Times New Roman" panose="02020603050405020304" pitchFamily="18" charset="0"/>
                <a:ea typeface="黑体" panose="02010609060101010101" pitchFamily="49" charset="-122"/>
              </a:rPr>
              <a:t>由此可见，在大多数情况下，可以将喷管内的实际流动近似为定熵流动</a:t>
            </a:r>
            <a:endParaRPr lang="zh-CN" altLang="en-US" sz="2800" b="1" dirty="0" smtClean="0">
              <a:latin typeface="Times New Roman" panose="02020603050405020304" pitchFamily="18" charset="0"/>
              <a:ea typeface="黑体" panose="02010609060101010101" pitchFamily="49" charset="-122"/>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5649" name="文本占位符 183298"/>
          <p:cNvSpPr>
            <a:spLocks noGrp="1" noChangeArrowheads="1"/>
          </p:cNvSpPr>
          <p:nvPr>
            <p:ph idx="1"/>
          </p:nvPr>
        </p:nvSpPr>
        <p:spPr>
          <a:xfrm>
            <a:off x="539750" y="620712"/>
            <a:ext cx="8229600" cy="3547097"/>
          </a:xfrm>
        </p:spPr>
        <p:txBody>
          <a:bodyPr>
            <a:noAutofit/>
          </a:bodyPr>
          <a:lstStyle/>
          <a:p>
            <a:pPr>
              <a:lnSpc>
                <a:spcPct val="100000"/>
              </a:lnSpc>
            </a:pPr>
            <a:r>
              <a:rPr lang="zh-CN" altLang="en-US" sz="2800" b="1" dirty="0" smtClean="0">
                <a:ea typeface="黑体" panose="02010609060101010101" pitchFamily="49" charset="-122"/>
              </a:rPr>
              <a:t>除了喷管效率之外，表征喷管性能的另一个参数为</a:t>
            </a:r>
            <a:r>
              <a:rPr lang="zh-CN" altLang="en-US" sz="2800" b="1" dirty="0" smtClean="0">
                <a:solidFill>
                  <a:srgbClr val="FF0000"/>
                </a:solidFill>
                <a:ea typeface="黑体" panose="02010609060101010101" pitchFamily="49" charset="-122"/>
              </a:rPr>
              <a:t>速度系数</a:t>
            </a:r>
            <a:r>
              <a:rPr lang="zh-CN" altLang="en-US" sz="2800" b="1" dirty="0" smtClean="0">
                <a:ea typeface="黑体" panose="02010609060101010101" pitchFamily="49" charset="-122"/>
              </a:rPr>
              <a:t>，其定义为</a:t>
            </a:r>
            <a:endParaRPr lang="zh-CN" altLang="en-US" sz="2800" b="1" dirty="0" smtClean="0">
              <a:ea typeface="黑体" panose="02010609060101010101" pitchFamily="49" charset="-122"/>
            </a:endParaRPr>
          </a:p>
          <a:p>
            <a:endParaRPr lang="zh-CN" altLang="en-US" sz="2800" b="1" dirty="0" smtClean="0">
              <a:ea typeface="黑体" panose="02010609060101010101" pitchFamily="49" charset="-122"/>
            </a:endParaRPr>
          </a:p>
          <a:p>
            <a:endParaRPr lang="zh-CN" altLang="en-US" sz="2800" dirty="0" smtClean="0"/>
          </a:p>
          <a:p>
            <a:endParaRPr lang="zh-CN" altLang="en-US" sz="2800" dirty="0" smtClean="0"/>
          </a:p>
          <a:p>
            <a:r>
              <a:rPr lang="zh-CN" altLang="en-US" sz="2800" b="1" dirty="0" smtClean="0">
                <a:latin typeface="黑体" panose="02010609060101010101" pitchFamily="49" charset="-122"/>
                <a:ea typeface="黑体" panose="02010609060101010101" pitchFamily="49" charset="-122"/>
              </a:rPr>
              <a:t>速度系数与喷管效率的关系为  </a:t>
            </a:r>
            <a:endParaRPr lang="zh-CN" altLang="en-US" sz="2800" b="1" dirty="0" smtClean="0">
              <a:latin typeface="黑体" panose="02010609060101010101" pitchFamily="49" charset="-122"/>
              <a:ea typeface="黑体" panose="02010609060101010101" pitchFamily="49" charset="-122"/>
            </a:endParaRPr>
          </a:p>
        </p:txBody>
      </p:sp>
      <p:sp>
        <p:nvSpPr>
          <p:cNvPr id="155650" name="矩形 183300"/>
          <p:cNvSpPr>
            <a:spLocks noChangeArrowheads="1"/>
          </p:cNvSpPr>
          <p:nvPr/>
        </p:nvSpPr>
        <p:spPr bwMode="auto">
          <a:xfrm>
            <a:off x="0" y="320040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graphicFrame>
        <p:nvGraphicFramePr>
          <p:cNvPr id="155651" name="对象 183299"/>
          <p:cNvGraphicFramePr>
            <a:graphicFrameLocks noChangeAspect="1"/>
          </p:cNvGraphicFramePr>
          <p:nvPr/>
        </p:nvGraphicFramePr>
        <p:xfrm>
          <a:off x="3635375" y="1629916"/>
          <a:ext cx="1269450" cy="1205978"/>
        </p:xfrm>
        <a:graphic>
          <a:graphicData uri="http://schemas.openxmlformats.org/presentationml/2006/ole">
            <mc:AlternateContent xmlns:mc="http://schemas.openxmlformats.org/markup-compatibility/2006">
              <mc:Choice xmlns:v="urn:schemas-microsoft-com:vml" Requires="v">
                <p:oleObj spid="_x0000_s65552" name="" r:id="rId1" imgW="508000" imgH="482600" progId="Equation.DSMT4">
                  <p:embed/>
                </p:oleObj>
              </mc:Choice>
              <mc:Fallback>
                <p:oleObj name="" r:id="rId1" imgW="508000" imgH="482600" progId="Equation.DSMT4">
                  <p:embed/>
                  <p:pic>
                    <p:nvPicPr>
                      <p:cNvPr id="0" name="对象 183299"/>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635375" y="1629916"/>
                        <a:ext cx="1269450" cy="12059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155652" name="矩形 183302"/>
          <p:cNvSpPr>
            <a:spLocks noChangeArrowheads="1"/>
          </p:cNvSpPr>
          <p:nvPr/>
        </p:nvSpPr>
        <p:spPr bwMode="auto">
          <a:xfrm>
            <a:off x="0" y="330993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graphicFrame>
        <p:nvGraphicFramePr>
          <p:cNvPr id="155653" name="对象 183301"/>
          <p:cNvGraphicFramePr>
            <a:graphicFrameLocks noChangeAspect="1"/>
          </p:cNvGraphicFramePr>
          <p:nvPr/>
        </p:nvGraphicFramePr>
        <p:xfrm>
          <a:off x="3635375" y="3852863"/>
          <a:ext cx="1270000" cy="603250"/>
        </p:xfrm>
        <a:graphic>
          <a:graphicData uri="http://schemas.openxmlformats.org/presentationml/2006/ole">
            <mc:AlternateContent xmlns:mc="http://schemas.openxmlformats.org/markup-compatibility/2006">
              <mc:Choice xmlns:v="urn:schemas-microsoft-com:vml" Requires="v">
                <p:oleObj spid="_x0000_s65553" name="" r:id="rId3" imgW="508000" imgH="241300" progId="Equation.DSMT4">
                  <p:embed/>
                </p:oleObj>
              </mc:Choice>
              <mc:Fallback>
                <p:oleObj name="" r:id="rId3" imgW="508000" imgH="241300" progId="Equation.DSMT4">
                  <p:embed/>
                  <p:pic>
                    <p:nvPicPr>
                      <p:cNvPr id="0" name="对象 183301"/>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635375" y="3852863"/>
                        <a:ext cx="1270000" cy="603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6673" name="矩形 250881"/>
          <p:cNvSpPr>
            <a:spLocks noChangeArrowheads="1"/>
          </p:cNvSpPr>
          <p:nvPr/>
        </p:nvSpPr>
        <p:spPr bwMode="auto">
          <a:xfrm>
            <a:off x="1619250" y="2492375"/>
            <a:ext cx="5832475"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lstStyle/>
          <a:p>
            <a:pPr algn="ctr"/>
            <a:r>
              <a:rPr lang="zh-CN" altLang="en-US" sz="4400" b="1">
                <a:latin typeface="黑体" panose="02010609060101010101" pitchFamily="49" charset="-122"/>
                <a:ea typeface="黑体" panose="02010609060101010101" pitchFamily="49" charset="-122"/>
              </a:rPr>
              <a:t>§</a:t>
            </a:r>
            <a:r>
              <a:rPr lang="en-US" altLang="zh-CN" sz="4400" b="1">
                <a:latin typeface="黑体" panose="02010609060101010101" pitchFamily="49" charset="-122"/>
                <a:ea typeface="黑体" panose="02010609060101010101" pitchFamily="49" charset="-122"/>
              </a:rPr>
              <a:t>10</a:t>
            </a:r>
            <a:r>
              <a:rPr lang="zh-CN" altLang="en-US" sz="4400" b="1">
                <a:latin typeface="黑体" panose="02010609060101010101" pitchFamily="49" charset="-122"/>
                <a:ea typeface="黑体" panose="02010609060101010101" pitchFamily="49" charset="-122"/>
              </a:rPr>
              <a:t>－</a:t>
            </a:r>
            <a:r>
              <a:rPr lang="en-US" altLang="zh-CN" sz="4400" b="1">
                <a:latin typeface="黑体" panose="02010609060101010101" pitchFamily="49" charset="-122"/>
                <a:ea typeface="黑体" panose="02010609060101010101" pitchFamily="49" charset="-122"/>
              </a:rPr>
              <a:t>9  </a:t>
            </a:r>
            <a:r>
              <a:rPr lang="zh-CN" altLang="en-US" sz="4400" b="1">
                <a:latin typeface="黑体" panose="02010609060101010101" pitchFamily="49" charset="-122"/>
                <a:ea typeface="黑体" panose="02010609060101010101" pitchFamily="49" charset="-122"/>
              </a:rPr>
              <a:t>绝热节流</a:t>
            </a:r>
            <a:endParaRPr lang="zh-CN" altLang="en-US" sz="4400" b="1">
              <a:latin typeface="黑体" panose="02010609060101010101" pitchFamily="49" charset="-122"/>
              <a:ea typeface="黑体" panose="02010609060101010101" pitchFamily="49" charset="-122"/>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7697" name="文本框 67586"/>
          <p:cNvSpPr txBox="1">
            <a:spLocks noChangeArrowheads="1"/>
          </p:cNvSpPr>
          <p:nvPr/>
        </p:nvSpPr>
        <p:spPr bwMode="auto">
          <a:xfrm>
            <a:off x="395288" y="4459288"/>
            <a:ext cx="8208962" cy="18158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spcBef>
                <a:spcPct val="50000"/>
              </a:spcBef>
            </a:pPr>
            <a:r>
              <a:rPr lang="zh-CN" altLang="en-US" sz="2800" b="1" dirty="0">
                <a:latin typeface="Tahoma" panose="020B0604030504040204" pitchFamily="34" charset="0"/>
              </a:rPr>
              <a:t>　　</a:t>
            </a:r>
            <a:r>
              <a:rPr lang="zh-CN" altLang="en-US" sz="2800" b="1" dirty="0">
                <a:latin typeface="黑体" panose="02010609060101010101" pitchFamily="49" charset="-122"/>
                <a:ea typeface="黑体" panose="02010609060101010101" pitchFamily="49" charset="-122"/>
              </a:rPr>
              <a:t>节流过程是指</a:t>
            </a:r>
            <a:r>
              <a:rPr lang="zh-CN" altLang="en-US" sz="2800" b="1" dirty="0" smtClean="0">
                <a:latin typeface="黑体" panose="02010609060101010101" pitchFamily="49" charset="-122"/>
                <a:ea typeface="黑体" panose="02010609060101010101" pitchFamily="49" charset="-122"/>
              </a:rPr>
              <a:t>流体在流道中流经</a:t>
            </a:r>
            <a:r>
              <a:rPr lang="zh-CN" altLang="en-US" sz="2800" b="1" dirty="0">
                <a:latin typeface="黑体" panose="02010609060101010101" pitchFamily="49" charset="-122"/>
                <a:ea typeface="黑体" panose="02010609060101010101" pitchFamily="49" charset="-122"/>
              </a:rPr>
              <a:t>阀门、</a:t>
            </a:r>
            <a:r>
              <a:rPr lang="zh-CN" altLang="en-US" sz="2800" b="1" dirty="0" smtClean="0">
                <a:latin typeface="黑体" panose="02010609060101010101" pitchFamily="49" charset="-122"/>
                <a:ea typeface="黑体" panose="02010609060101010101" pitchFamily="49" charset="-122"/>
              </a:rPr>
              <a:t>孔板或多孔塞等</a:t>
            </a:r>
            <a:r>
              <a:rPr lang="zh-CN" altLang="en-US" sz="2800" b="1" dirty="0">
                <a:latin typeface="黑体" panose="02010609060101010101" pitchFamily="49" charset="-122"/>
                <a:ea typeface="黑体" panose="02010609060101010101" pitchFamily="49" charset="-122"/>
              </a:rPr>
              <a:t>设备</a:t>
            </a:r>
            <a:r>
              <a:rPr lang="zh-CN" altLang="en-US" sz="2800" b="1" dirty="0" smtClean="0">
                <a:latin typeface="黑体" panose="02010609060101010101" pitchFamily="49" charset="-122"/>
                <a:ea typeface="黑体" panose="02010609060101010101" pitchFamily="49" charset="-122"/>
              </a:rPr>
              <a:t>时压力降低的一种特殊流动过程。如果节流过程中流体与外界没有热量的交换，</a:t>
            </a:r>
            <a:r>
              <a:rPr lang="zh-CN" altLang="en-US" sz="2800" b="1" dirty="0">
                <a:latin typeface="黑体" panose="02010609060101010101" pitchFamily="49" charset="-122"/>
                <a:ea typeface="黑体" panose="02010609060101010101" pitchFamily="49" charset="-122"/>
              </a:rPr>
              <a:t>则为绝热节流。</a:t>
            </a:r>
            <a:endParaRPr lang="zh-CN" altLang="en-US" sz="2800" b="1" dirty="0">
              <a:latin typeface="黑体" panose="02010609060101010101" pitchFamily="49" charset="-122"/>
              <a:ea typeface="黑体" panose="02010609060101010101" pitchFamily="49" charset="-122"/>
            </a:endParaRPr>
          </a:p>
        </p:txBody>
      </p:sp>
      <p:pic>
        <p:nvPicPr>
          <p:cNvPr id="157698" name="图片 67587" descr="msotw9_temp0"/>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5364163" y="930275"/>
            <a:ext cx="2895600" cy="2740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57699" name="图片 67588" descr="msotw9_temp0"/>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68313" y="1827213"/>
            <a:ext cx="4033837" cy="2559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57700" name="图片 67589"/>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71550" y="549275"/>
            <a:ext cx="3067050" cy="1028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8721" name="图片 184323" descr="图8－12"/>
          <p:cNvPicPr>
            <a:picLocks noChangeAspect="1" noChangeArrowheads="1"/>
          </p:cNvPicPr>
          <p:nvPr/>
        </p:nvPicPr>
        <p:blipFill>
          <a:blip r:embed="rId1">
            <a:extLst>
              <a:ext uri="{28A0092B-C50C-407E-A947-70E740481C1C}">
                <a14:useLocalDpi xmlns:a14="http://schemas.microsoft.com/office/drawing/2010/main" val="0"/>
              </a:ext>
            </a:extLst>
          </a:blip>
          <a:srcRect b="16072"/>
          <a:stretch>
            <a:fillRect/>
          </a:stretch>
        </p:blipFill>
        <p:spPr bwMode="auto">
          <a:xfrm>
            <a:off x="2411413" y="260350"/>
            <a:ext cx="3733800" cy="3154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8722" name="矩形 184324"/>
          <p:cNvSpPr>
            <a:spLocks noChangeArrowheads="1"/>
          </p:cNvSpPr>
          <p:nvPr/>
        </p:nvSpPr>
        <p:spPr bwMode="auto">
          <a:xfrm>
            <a:off x="250825" y="3785959"/>
            <a:ext cx="8424863" cy="22467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r>
              <a:rPr lang="zh-CN" altLang="en-US" sz="2800" b="1" dirty="0">
                <a:latin typeface="Times New Roman" panose="02020603050405020304" pitchFamily="18" charset="0"/>
                <a:ea typeface="黑体" panose="02010609060101010101" pitchFamily="49" charset="-122"/>
              </a:rPr>
              <a:t>节流过程是典型的不可逆过程，</a:t>
            </a:r>
            <a:r>
              <a:rPr lang="zh-CN" altLang="en-US" sz="2800" b="1" dirty="0">
                <a:solidFill>
                  <a:srgbClr val="FF0000"/>
                </a:solidFill>
                <a:latin typeface="Times New Roman" panose="02020603050405020304" pitchFamily="18" charset="0"/>
                <a:ea typeface="黑体" panose="02010609060101010101" pitchFamily="49" charset="-122"/>
              </a:rPr>
              <a:t>流体在孔口附近发生强烈的扰动及涡流</a:t>
            </a:r>
            <a:r>
              <a:rPr lang="zh-CN" altLang="en-US" sz="2800" b="1" dirty="0">
                <a:latin typeface="Times New Roman" panose="02020603050405020304" pitchFamily="18" charset="0"/>
                <a:ea typeface="黑体" panose="02010609060101010101" pitchFamily="49" charset="-122"/>
              </a:rPr>
              <a:t>，此时流体处于非平衡状态，故不能用平衡态热力学方法分析孔口附近的情况。但是在距孔口较远的地方，如</a:t>
            </a:r>
            <a:r>
              <a:rPr lang="en-US" altLang="zh-CN" sz="2800" b="1" dirty="0">
                <a:latin typeface="Times New Roman" panose="02020603050405020304" pitchFamily="18" charset="0"/>
                <a:ea typeface="黑体" panose="02010609060101010101" pitchFamily="49" charset="-122"/>
              </a:rPr>
              <a:t>1-1</a:t>
            </a:r>
            <a:r>
              <a:rPr lang="zh-CN" altLang="en-US" sz="2800" b="1" dirty="0">
                <a:latin typeface="Times New Roman" panose="02020603050405020304" pitchFamily="18" charset="0"/>
                <a:ea typeface="黑体" panose="02010609060101010101" pitchFamily="49" charset="-122"/>
              </a:rPr>
              <a:t>截面和</a:t>
            </a:r>
            <a:r>
              <a:rPr lang="en-US" altLang="zh-CN" sz="2800" b="1" dirty="0">
                <a:latin typeface="Times New Roman" panose="02020603050405020304" pitchFamily="18" charset="0"/>
                <a:ea typeface="黑体" panose="02010609060101010101" pitchFamily="49" charset="-122"/>
              </a:rPr>
              <a:t>2-2</a:t>
            </a:r>
            <a:r>
              <a:rPr lang="zh-CN" altLang="en-US" sz="2800" b="1" dirty="0">
                <a:latin typeface="Times New Roman" panose="02020603050405020304" pitchFamily="18" charset="0"/>
                <a:ea typeface="黑体" panose="02010609060101010101" pitchFamily="49" charset="-122"/>
              </a:rPr>
              <a:t>截面，流体仍处于平衡状态。 </a:t>
            </a:r>
            <a:endParaRPr lang="zh-CN" altLang="en-US" sz="2800" b="1" dirty="0">
              <a:latin typeface="Times New Roman" panose="02020603050405020304" pitchFamily="18" charset="0"/>
              <a:ea typeface="黑体" panose="02010609060101010101" pitchFamily="49" charset="-122"/>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9745" name="图片 68609" descr="图8－12"/>
          <p:cNvPicPr>
            <a:picLocks noChangeAspect="1" noChangeArrowheads="1"/>
          </p:cNvPicPr>
          <p:nvPr/>
        </p:nvPicPr>
        <p:blipFill>
          <a:blip r:embed="rId1">
            <a:extLst>
              <a:ext uri="{28A0092B-C50C-407E-A947-70E740481C1C}">
                <a14:useLocalDpi xmlns:a14="http://schemas.microsoft.com/office/drawing/2010/main" val="0"/>
              </a:ext>
            </a:extLst>
          </a:blip>
          <a:srcRect b="16072"/>
          <a:stretch>
            <a:fillRect/>
          </a:stretch>
        </p:blipFill>
        <p:spPr bwMode="auto">
          <a:xfrm>
            <a:off x="5219700" y="260350"/>
            <a:ext cx="3733800" cy="3154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9746" name="矩形 68610"/>
          <p:cNvSpPr>
            <a:spLocks noChangeArrowheads="1"/>
          </p:cNvSpPr>
          <p:nvPr/>
        </p:nvSpPr>
        <p:spPr bwMode="auto">
          <a:xfrm>
            <a:off x="468313" y="260350"/>
            <a:ext cx="6054725"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sz="3200" b="1" dirty="0">
                <a:latin typeface="黑体" panose="02010609060101010101" pitchFamily="49" charset="-122"/>
                <a:ea typeface="黑体" panose="02010609060101010101" pitchFamily="49" charset="-122"/>
              </a:rPr>
              <a:t>一、绝热节流的特点</a:t>
            </a:r>
            <a:endParaRPr lang="zh-CN" altLang="en-US" sz="3200" b="1" dirty="0">
              <a:latin typeface="黑体" panose="02010609060101010101" pitchFamily="49" charset="-122"/>
              <a:ea typeface="黑体" panose="02010609060101010101" pitchFamily="49" charset="-122"/>
            </a:endParaRPr>
          </a:p>
        </p:txBody>
      </p:sp>
      <p:sp>
        <p:nvSpPr>
          <p:cNvPr id="68614" name="矩形 68613"/>
          <p:cNvSpPr/>
          <p:nvPr/>
        </p:nvSpPr>
        <p:spPr>
          <a:xfrm>
            <a:off x="698498" y="2699872"/>
            <a:ext cx="5529263" cy="519113"/>
          </a:xfrm>
          <a:prstGeom prst="rect">
            <a:avLst/>
          </a:prstGeom>
          <a:noFill/>
          <a:ln w="9525">
            <a:noFill/>
          </a:ln>
        </p:spPr>
        <p:txBody>
          <a:bodyPr>
            <a:spAutoFit/>
          </a:bodyPr>
          <a:lstStyle/>
          <a:p>
            <a:pPr marL="457200" indent="-457200">
              <a:buFont typeface="Arial" panose="020B0604020202020204" pitchFamily="34" charset="0"/>
              <a:buChar char="•"/>
            </a:pPr>
            <a:r>
              <a:rPr lang="zh-CN" altLang="en-US" sz="2800" b="1" noProof="1" smtClean="0">
                <a:latin typeface="黑体" panose="02010609060101010101" pitchFamily="49" charset="-122"/>
                <a:ea typeface="黑体" panose="02010609060101010101" pitchFamily="49" charset="-122"/>
              </a:rPr>
              <a:t>节流</a:t>
            </a:r>
            <a:r>
              <a:rPr lang="zh-CN" altLang="en-US" sz="2800" b="1" noProof="1">
                <a:latin typeface="黑体" panose="02010609060101010101" pitchFamily="49" charset="-122"/>
                <a:ea typeface="黑体" panose="02010609060101010101" pitchFamily="49" charset="-122"/>
              </a:rPr>
              <a:t>前后流体的焓不变</a:t>
            </a:r>
            <a:endParaRPr lang="zh-CN" altLang="en-US" sz="2800" b="1" noProof="1">
              <a:latin typeface="黑体" panose="02010609060101010101" pitchFamily="49" charset="-122"/>
              <a:ea typeface="黑体" panose="02010609060101010101" pitchFamily="49" charset="-122"/>
            </a:endParaRPr>
          </a:p>
        </p:txBody>
      </p:sp>
      <p:graphicFrame>
        <p:nvGraphicFramePr>
          <p:cNvPr id="159750" name="对象 68614"/>
          <p:cNvGraphicFramePr>
            <a:graphicFrameLocks noChangeAspect="1"/>
          </p:cNvGraphicFramePr>
          <p:nvPr/>
        </p:nvGraphicFramePr>
        <p:xfrm>
          <a:off x="1755946" y="3365190"/>
          <a:ext cx="1203154" cy="601577"/>
        </p:xfrm>
        <a:graphic>
          <a:graphicData uri="http://schemas.openxmlformats.org/presentationml/2006/ole">
            <mc:AlternateContent xmlns:mc="http://schemas.openxmlformats.org/markup-compatibility/2006">
              <mc:Choice xmlns:v="urn:schemas-microsoft-com:vml" Requires="v">
                <p:oleObj spid="_x0000_s66583" name="" r:id="rId2" imgW="287655" imgH="144145" progId="Equation.3">
                  <p:embed/>
                </p:oleObj>
              </mc:Choice>
              <mc:Fallback>
                <p:oleObj name="" r:id="rId2" imgW="287655" imgH="144145" progId="Equation.3">
                  <p:embed/>
                  <p:pic>
                    <p:nvPicPr>
                      <p:cNvPr id="0" name="对象 68614"/>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55946" y="3365190"/>
                        <a:ext cx="1203154" cy="6015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68616" name="矩形 68615"/>
          <p:cNvSpPr/>
          <p:nvPr/>
        </p:nvSpPr>
        <p:spPr>
          <a:xfrm>
            <a:off x="698499" y="1159135"/>
            <a:ext cx="5529263" cy="519113"/>
          </a:xfrm>
          <a:prstGeom prst="rect">
            <a:avLst/>
          </a:prstGeom>
          <a:noFill/>
          <a:ln w="9525">
            <a:noFill/>
          </a:ln>
        </p:spPr>
        <p:txBody>
          <a:bodyPr>
            <a:spAutoFit/>
          </a:bodyPr>
          <a:lstStyle/>
          <a:p>
            <a:pPr marL="457200" indent="-457200">
              <a:buFont typeface="Arial" panose="020B0604020202020204" pitchFamily="34" charset="0"/>
              <a:buChar char="•"/>
            </a:pPr>
            <a:r>
              <a:rPr lang="zh-CN" altLang="en-US" sz="2800" b="1" noProof="1" smtClean="0">
                <a:latin typeface="黑体" panose="02010609060101010101" pitchFamily="49" charset="-122"/>
                <a:ea typeface="黑体" panose="02010609060101010101" pitchFamily="49" charset="-122"/>
              </a:rPr>
              <a:t>节流</a:t>
            </a:r>
            <a:r>
              <a:rPr lang="zh-CN" altLang="en-US" sz="2800" b="1" noProof="1">
                <a:latin typeface="黑体" panose="02010609060101010101" pitchFamily="49" charset="-122"/>
                <a:ea typeface="黑体" panose="02010609060101010101" pitchFamily="49" charset="-122"/>
              </a:rPr>
              <a:t>后压力下降</a:t>
            </a:r>
            <a:endParaRPr lang="zh-CN" altLang="en-US" sz="2800" b="1" noProof="1">
              <a:latin typeface="黑体" panose="02010609060101010101" pitchFamily="49" charset="-122"/>
              <a:ea typeface="黑体" panose="02010609060101010101" pitchFamily="49" charset="-122"/>
            </a:endParaRPr>
          </a:p>
        </p:txBody>
      </p:sp>
      <p:graphicFrame>
        <p:nvGraphicFramePr>
          <p:cNvPr id="159752" name="对象 68616"/>
          <p:cNvGraphicFramePr>
            <a:graphicFrameLocks noChangeAspect="1"/>
          </p:cNvGraphicFramePr>
          <p:nvPr/>
        </p:nvGraphicFramePr>
        <p:xfrm>
          <a:off x="1745878" y="1808491"/>
          <a:ext cx="1345871" cy="637518"/>
        </p:xfrm>
        <a:graphic>
          <a:graphicData uri="http://schemas.openxmlformats.org/presentationml/2006/ole">
            <mc:AlternateContent xmlns:mc="http://schemas.openxmlformats.org/markup-compatibility/2006">
              <mc:Choice xmlns:v="urn:schemas-microsoft-com:vml" Requires="v">
                <p:oleObj spid="_x0000_s66584" name="" r:id="rId4" imgW="321945" imgH="152400" progId="Equation.DSMT4">
                  <p:embed/>
                </p:oleObj>
              </mc:Choice>
              <mc:Fallback>
                <p:oleObj name="" r:id="rId4" imgW="321945" imgH="152400" progId="Equation.DSMT4">
                  <p:embed/>
                  <p:pic>
                    <p:nvPicPr>
                      <p:cNvPr id="0" name="对象 68616"/>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745878" y="1808491"/>
                        <a:ext cx="1345871" cy="6375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159754" name="矩形 68618"/>
          <p:cNvSpPr>
            <a:spLocks noChangeArrowheads="1"/>
          </p:cNvSpPr>
          <p:nvPr/>
        </p:nvSpPr>
        <p:spPr bwMode="auto">
          <a:xfrm>
            <a:off x="5012980" y="3833772"/>
            <a:ext cx="3846097" cy="23083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p>
            <a:r>
              <a:rPr lang="zh-CN" altLang="en-US" sz="2400" b="1" dirty="0">
                <a:solidFill>
                  <a:srgbClr val="0070C0"/>
                </a:solidFill>
                <a:latin typeface="黑体" panose="02010609060101010101" pitchFamily="49" charset="-122"/>
                <a:ea typeface="黑体" panose="02010609060101010101" pitchFamily="49" charset="-122"/>
              </a:rPr>
              <a:t>需要注意的是，不能把节流过程视为定焓过程。这是因为，</a:t>
            </a:r>
            <a:r>
              <a:rPr lang="zh-CN" altLang="en-US" sz="2400" b="1" dirty="0">
                <a:solidFill>
                  <a:srgbClr val="0070C0"/>
                </a:solidFill>
                <a:latin typeface="Times New Roman" panose="02020603050405020304" pitchFamily="18" charset="0"/>
                <a:ea typeface="黑体" panose="02010609060101010101" pitchFamily="49" charset="-122"/>
                <a:cs typeface="Times New Roman" panose="02020603050405020304" pitchFamily="18" charset="0"/>
              </a:rPr>
              <a:t>在</a:t>
            </a:r>
            <a:r>
              <a:rPr lang="en-US" altLang="zh-CN" sz="2400" b="1" dirty="0">
                <a:solidFill>
                  <a:srgbClr val="0070C0"/>
                </a:solidFill>
                <a:latin typeface="Times New Roman" panose="02020603050405020304" pitchFamily="18" charset="0"/>
                <a:ea typeface="黑体" panose="02010609060101010101" pitchFamily="49" charset="-122"/>
                <a:cs typeface="Times New Roman" panose="02020603050405020304" pitchFamily="18" charset="0"/>
              </a:rPr>
              <a:t>1-1</a:t>
            </a:r>
            <a:r>
              <a:rPr lang="zh-CN" altLang="en-US" sz="2400" b="1" dirty="0">
                <a:solidFill>
                  <a:srgbClr val="0070C0"/>
                </a:solidFill>
                <a:latin typeface="Times New Roman" panose="02020603050405020304" pitchFamily="18" charset="0"/>
                <a:ea typeface="黑体" panose="02010609060101010101" pitchFamily="49" charset="-122"/>
                <a:cs typeface="Times New Roman" panose="02020603050405020304" pitchFamily="18" charset="0"/>
              </a:rPr>
              <a:t>截面和</a:t>
            </a:r>
            <a:r>
              <a:rPr lang="en-US" altLang="zh-CN" sz="2400" b="1" dirty="0">
                <a:solidFill>
                  <a:srgbClr val="0070C0"/>
                </a:solidFill>
                <a:latin typeface="Times New Roman" panose="02020603050405020304" pitchFamily="18" charset="0"/>
                <a:ea typeface="黑体" panose="02010609060101010101" pitchFamily="49" charset="-122"/>
                <a:cs typeface="Times New Roman" panose="02020603050405020304" pitchFamily="18" charset="0"/>
              </a:rPr>
              <a:t>2-2</a:t>
            </a:r>
            <a:r>
              <a:rPr lang="zh-CN" altLang="en-US" sz="2400" b="1" dirty="0">
                <a:solidFill>
                  <a:srgbClr val="0070C0"/>
                </a:solidFill>
                <a:latin typeface="Times New Roman" panose="02020603050405020304" pitchFamily="18" charset="0"/>
                <a:ea typeface="黑体" panose="02010609060101010101" pitchFamily="49" charset="-122"/>
                <a:cs typeface="Times New Roman" panose="02020603050405020304" pitchFamily="18" charset="0"/>
              </a:rPr>
              <a:t>截面之间流体处于非平衡状态</a:t>
            </a:r>
            <a:r>
              <a:rPr lang="zh-CN" altLang="en-US" sz="2400" b="1" dirty="0">
                <a:solidFill>
                  <a:srgbClr val="0070C0"/>
                </a:solidFill>
                <a:latin typeface="黑体" panose="02010609060101010101" pitchFamily="49" charset="-122"/>
                <a:ea typeface="黑体" panose="02010609060101010101" pitchFamily="49" charset="-122"/>
              </a:rPr>
              <a:t>，因而无法确定这两个截面之间流体的焓值。</a:t>
            </a:r>
            <a:r>
              <a:rPr lang="zh-CN" altLang="en-US" b="1" dirty="0">
                <a:solidFill>
                  <a:srgbClr val="0070C0"/>
                </a:solidFill>
                <a:latin typeface="黑体" panose="02010609060101010101" pitchFamily="49" charset="-122"/>
                <a:ea typeface="黑体" panose="02010609060101010101" pitchFamily="49" charset="-122"/>
              </a:rPr>
              <a:t> </a:t>
            </a:r>
            <a:endParaRPr lang="zh-CN" altLang="en-US" b="1" dirty="0">
              <a:solidFill>
                <a:srgbClr val="0070C0"/>
              </a:solidFill>
              <a:latin typeface="黑体" panose="02010609060101010101" pitchFamily="49" charset="-122"/>
              <a:ea typeface="黑体" panose="02010609060101010101" pitchFamily="49" charset="-122"/>
            </a:endParaRPr>
          </a:p>
        </p:txBody>
      </p:sp>
      <p:sp>
        <p:nvSpPr>
          <p:cNvPr id="13" name="矩形 12"/>
          <p:cNvSpPr/>
          <p:nvPr/>
        </p:nvSpPr>
        <p:spPr>
          <a:xfrm>
            <a:off x="698531" y="4299380"/>
            <a:ext cx="5097463" cy="519113"/>
          </a:xfrm>
          <a:prstGeom prst="rect">
            <a:avLst/>
          </a:prstGeom>
          <a:noFill/>
          <a:ln w="9525">
            <a:noFill/>
          </a:ln>
        </p:spPr>
        <p:txBody>
          <a:bodyPr>
            <a:spAutoFit/>
          </a:bodyPr>
          <a:lstStyle/>
          <a:p>
            <a:pPr marL="457200" indent="-457200">
              <a:buFont typeface="Arial" panose="020B0604020202020204" pitchFamily="34" charset="0"/>
              <a:buChar char="•"/>
            </a:pPr>
            <a:r>
              <a:rPr lang="zh-CN" altLang="en-US" sz="2800" b="1" noProof="1" smtClean="0">
                <a:latin typeface="黑体" panose="02010609060101010101" pitchFamily="49" charset="-122"/>
                <a:ea typeface="黑体" panose="02010609060101010101" pitchFamily="49" charset="-122"/>
              </a:rPr>
              <a:t>节流过程</a:t>
            </a:r>
            <a:r>
              <a:rPr lang="zh-CN" altLang="en-US" sz="2800" b="1" noProof="1">
                <a:latin typeface="黑体" panose="02010609060101010101" pitchFamily="49" charset="-122"/>
                <a:ea typeface="黑体" panose="02010609060101010101" pitchFamily="49" charset="-122"/>
              </a:rPr>
              <a:t>不可逆</a:t>
            </a:r>
            <a:endParaRPr lang="zh-CN" altLang="en-US" sz="2800" b="1" noProof="1">
              <a:latin typeface="黑体" panose="02010609060101010101" pitchFamily="49" charset="-122"/>
              <a:ea typeface="黑体" panose="02010609060101010101" pitchFamily="49" charset="-122"/>
            </a:endParaRPr>
          </a:p>
        </p:txBody>
      </p:sp>
      <p:graphicFrame>
        <p:nvGraphicFramePr>
          <p:cNvPr id="14" name="对象 68612"/>
          <p:cNvGraphicFramePr>
            <a:graphicFrameLocks noChangeAspect="1"/>
          </p:cNvGraphicFramePr>
          <p:nvPr/>
        </p:nvGraphicFramePr>
        <p:xfrm>
          <a:off x="1745878" y="5079069"/>
          <a:ext cx="1167768" cy="601577"/>
        </p:xfrm>
        <a:graphic>
          <a:graphicData uri="http://schemas.openxmlformats.org/presentationml/2006/ole">
            <mc:AlternateContent xmlns:mc="http://schemas.openxmlformats.org/markup-compatibility/2006">
              <mc:Choice xmlns:v="urn:schemas-microsoft-com:vml" Requires="v">
                <p:oleObj spid="_x0000_s66585" name="" r:id="rId6" imgW="279400" imgH="144145" progId="Equation.3">
                  <p:embed/>
                </p:oleObj>
              </mc:Choice>
              <mc:Fallback>
                <p:oleObj name="" r:id="rId6" imgW="279400" imgH="144145" progId="Equation.3">
                  <p:embed/>
                  <p:pic>
                    <p:nvPicPr>
                      <p:cNvPr id="0" name="对象 68612"/>
                      <p:cNvPicPr>
                        <a:picLocks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745878" y="5079069"/>
                        <a:ext cx="1167768" cy="6015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0769" name="矩形 70657"/>
          <p:cNvSpPr>
            <a:spLocks noChangeArrowheads="1"/>
          </p:cNvSpPr>
          <p:nvPr/>
        </p:nvSpPr>
        <p:spPr bwMode="auto">
          <a:xfrm>
            <a:off x="533400" y="260350"/>
            <a:ext cx="6630988"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sz="3200" b="1" dirty="0">
                <a:latin typeface="黑体" panose="02010609060101010101" pitchFamily="49" charset="-122"/>
                <a:ea typeface="黑体" panose="02010609060101010101" pitchFamily="49" charset="-122"/>
              </a:rPr>
              <a:t>二、节流的温度效应</a:t>
            </a:r>
            <a:endParaRPr lang="zh-CN" altLang="en-US" sz="3200" b="1" dirty="0">
              <a:latin typeface="黑体" panose="02010609060101010101" pitchFamily="49" charset="-122"/>
              <a:ea typeface="黑体" panose="02010609060101010101" pitchFamily="49" charset="-122"/>
            </a:endParaRPr>
          </a:p>
        </p:txBody>
      </p:sp>
      <p:sp>
        <p:nvSpPr>
          <p:cNvPr id="70659" name="矩形 70658"/>
          <p:cNvSpPr/>
          <p:nvPr/>
        </p:nvSpPr>
        <p:spPr>
          <a:xfrm>
            <a:off x="838200" y="1250950"/>
            <a:ext cx="9063038" cy="519113"/>
          </a:xfrm>
          <a:prstGeom prst="rect">
            <a:avLst/>
          </a:prstGeom>
          <a:noFill/>
          <a:ln w="9525">
            <a:noFill/>
          </a:ln>
        </p:spPr>
        <p:txBody>
          <a:bodyPr>
            <a:spAutoFit/>
          </a:bodyPr>
          <a:lstStyle/>
          <a:p>
            <a:pPr>
              <a:buFont typeface="Wingdings" panose="05000000000000000000" pitchFamily="2" charset="2"/>
              <a:buNone/>
            </a:pPr>
            <a:r>
              <a:rPr lang="en-US" altLang="zh-CN" sz="2800" b="1" noProof="1">
                <a:effectLst>
                  <a:outerShdw blurRad="38100" dist="38100" dir="2700000">
                    <a:srgbClr val="C0C0C0"/>
                  </a:outerShdw>
                </a:effectLst>
                <a:latin typeface="Tahoma" panose="020B0604030504040204" pitchFamily="34" charset="0"/>
              </a:rPr>
              <a:t> </a:t>
            </a:r>
            <a:r>
              <a:rPr lang="zh-CN" altLang="en-US" sz="2800" b="1" noProof="1">
                <a:latin typeface="黑体" panose="02010609060101010101" pitchFamily="49" charset="-122"/>
                <a:ea typeface="黑体" panose="02010609060101010101" pitchFamily="49" charset="-122"/>
              </a:rPr>
              <a:t>绝热节流后流体的温度变化称为节流的温度效应</a:t>
            </a:r>
            <a:endParaRPr lang="zh-CN" altLang="en-US" sz="2800" b="1" noProof="1">
              <a:latin typeface="黑体" panose="02010609060101010101" pitchFamily="49" charset="-122"/>
              <a:ea typeface="黑体" panose="02010609060101010101" pitchFamily="49" charset="-122"/>
            </a:endParaRPr>
          </a:p>
        </p:txBody>
      </p:sp>
      <p:graphicFrame>
        <p:nvGraphicFramePr>
          <p:cNvPr id="160772" name="对象 70660"/>
          <p:cNvGraphicFramePr>
            <a:graphicFrameLocks noChangeAspect="1"/>
          </p:cNvGraphicFramePr>
          <p:nvPr/>
        </p:nvGraphicFramePr>
        <p:xfrm>
          <a:off x="1905000" y="2317750"/>
          <a:ext cx="1203154" cy="601577"/>
        </p:xfrm>
        <a:graphic>
          <a:graphicData uri="http://schemas.openxmlformats.org/presentationml/2006/ole">
            <mc:AlternateContent xmlns:mc="http://schemas.openxmlformats.org/markup-compatibility/2006">
              <mc:Choice xmlns:v="urn:schemas-microsoft-com:vml" Requires="v">
                <p:oleObj spid="_x0000_s67628" name="公式" r:id="rId1" imgW="287655" imgH="144145" progId="Equation.3">
                  <p:embed/>
                </p:oleObj>
              </mc:Choice>
              <mc:Fallback>
                <p:oleObj name="公式" r:id="rId1" imgW="287655" imgH="144145" progId="Equation.3">
                  <p:embed/>
                  <p:pic>
                    <p:nvPicPr>
                      <p:cNvPr id="0" name="对象 70660"/>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05000" y="2317750"/>
                        <a:ext cx="1203154" cy="6015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160773" name="右箭头 70661"/>
          <p:cNvSpPr>
            <a:spLocks noChangeArrowheads="1"/>
          </p:cNvSpPr>
          <p:nvPr/>
        </p:nvSpPr>
        <p:spPr bwMode="auto">
          <a:xfrm>
            <a:off x="3581400" y="2546350"/>
            <a:ext cx="533400" cy="228600"/>
          </a:xfrm>
          <a:prstGeom prst="rightArrow">
            <a:avLst>
              <a:gd name="adj1" fmla="val 50000"/>
              <a:gd name="adj2" fmla="val 58236"/>
            </a:avLst>
          </a:prstGeom>
          <a:solidFill>
            <a:srgbClr val="FF0000"/>
          </a:solidFill>
          <a:ln w="9525">
            <a:solidFill>
              <a:schemeClr val="tx1"/>
            </a:solidFill>
            <a:miter lim="800000"/>
          </a:ln>
        </p:spPr>
        <p:txBody>
          <a:bodyPr/>
          <a:lstStyle/>
          <a:p>
            <a:endParaRPr lang="zh-CN" altLang="en-US"/>
          </a:p>
        </p:txBody>
      </p:sp>
      <p:sp>
        <p:nvSpPr>
          <p:cNvPr id="160774" name="矩形 70662"/>
          <p:cNvSpPr>
            <a:spLocks noChangeArrowheads="1"/>
          </p:cNvSpPr>
          <p:nvPr/>
        </p:nvSpPr>
        <p:spPr bwMode="auto">
          <a:xfrm>
            <a:off x="4343400" y="2393950"/>
            <a:ext cx="29654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sz="2800" b="1" dirty="0">
                <a:latin typeface="黑体" panose="02010609060101010101" pitchFamily="49" charset="-122"/>
                <a:ea typeface="黑体" panose="02010609060101010101" pitchFamily="49" charset="-122"/>
              </a:rPr>
              <a:t>节流冷效应</a:t>
            </a:r>
            <a:endParaRPr lang="zh-CN" altLang="en-US" sz="2800" b="1" dirty="0">
              <a:latin typeface="黑体" panose="02010609060101010101" pitchFamily="49" charset="-122"/>
              <a:ea typeface="黑体" panose="02010609060101010101" pitchFamily="49" charset="-122"/>
            </a:endParaRPr>
          </a:p>
        </p:txBody>
      </p:sp>
      <p:graphicFrame>
        <p:nvGraphicFramePr>
          <p:cNvPr id="160776" name="对象 70664"/>
          <p:cNvGraphicFramePr/>
          <p:nvPr/>
        </p:nvGraphicFramePr>
        <p:xfrm>
          <a:off x="1905000" y="3232150"/>
          <a:ext cx="1203154" cy="601663"/>
        </p:xfrm>
        <a:graphic>
          <a:graphicData uri="http://schemas.openxmlformats.org/presentationml/2006/ole">
            <mc:AlternateContent xmlns:mc="http://schemas.openxmlformats.org/markup-compatibility/2006">
              <mc:Choice xmlns:v="urn:schemas-microsoft-com:vml" Requires="v">
                <p:oleObj spid="_x0000_s67629" name="" r:id="rId3" imgW="287655" imgH="144145" progId="Equation.3">
                  <p:embed/>
                </p:oleObj>
              </mc:Choice>
              <mc:Fallback>
                <p:oleObj name="" r:id="rId3" imgW="287655" imgH="144145" progId="Equation.3">
                  <p:embed/>
                  <p:pic>
                    <p:nvPicPr>
                      <p:cNvPr id="0" name="对象 70664"/>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905000" y="3232150"/>
                        <a:ext cx="1203154" cy="601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160777" name="右箭头 70665"/>
          <p:cNvSpPr>
            <a:spLocks noChangeArrowheads="1"/>
          </p:cNvSpPr>
          <p:nvPr/>
        </p:nvSpPr>
        <p:spPr bwMode="auto">
          <a:xfrm>
            <a:off x="3581400" y="3460750"/>
            <a:ext cx="533400" cy="228600"/>
          </a:xfrm>
          <a:prstGeom prst="rightArrow">
            <a:avLst>
              <a:gd name="adj1" fmla="val 50000"/>
              <a:gd name="adj2" fmla="val 58236"/>
            </a:avLst>
          </a:prstGeom>
          <a:solidFill>
            <a:srgbClr val="FF0000"/>
          </a:solidFill>
          <a:ln w="9525">
            <a:solidFill>
              <a:schemeClr val="tx1"/>
            </a:solidFill>
            <a:miter lim="800000"/>
          </a:ln>
        </p:spPr>
        <p:txBody>
          <a:bodyPr/>
          <a:lstStyle/>
          <a:p>
            <a:endParaRPr lang="zh-CN" altLang="en-US"/>
          </a:p>
        </p:txBody>
      </p:sp>
      <p:sp>
        <p:nvSpPr>
          <p:cNvPr id="160778" name="矩形 70666"/>
          <p:cNvSpPr>
            <a:spLocks noChangeArrowheads="1"/>
          </p:cNvSpPr>
          <p:nvPr/>
        </p:nvSpPr>
        <p:spPr bwMode="auto">
          <a:xfrm>
            <a:off x="4343400" y="3308350"/>
            <a:ext cx="3541713"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sz="2800" b="1" dirty="0">
                <a:latin typeface="黑体" panose="02010609060101010101" pitchFamily="49" charset="-122"/>
                <a:ea typeface="黑体" panose="02010609060101010101" pitchFamily="49" charset="-122"/>
              </a:rPr>
              <a:t>节流热效应</a:t>
            </a:r>
            <a:endParaRPr lang="zh-CN" altLang="en-US" sz="2800" b="1" dirty="0">
              <a:latin typeface="黑体" panose="02010609060101010101" pitchFamily="49" charset="-122"/>
              <a:ea typeface="黑体" panose="02010609060101010101" pitchFamily="49" charset="-122"/>
            </a:endParaRPr>
          </a:p>
        </p:txBody>
      </p:sp>
      <p:graphicFrame>
        <p:nvGraphicFramePr>
          <p:cNvPr id="160780" name="对象 70668"/>
          <p:cNvGraphicFramePr/>
          <p:nvPr/>
        </p:nvGraphicFramePr>
        <p:xfrm>
          <a:off x="1905000" y="4222750"/>
          <a:ext cx="1203154" cy="601663"/>
        </p:xfrm>
        <a:graphic>
          <a:graphicData uri="http://schemas.openxmlformats.org/presentationml/2006/ole">
            <mc:AlternateContent xmlns:mc="http://schemas.openxmlformats.org/markup-compatibility/2006">
              <mc:Choice xmlns:v="urn:schemas-microsoft-com:vml" Requires="v">
                <p:oleObj spid="_x0000_s67630" name="" r:id="rId5" imgW="287655" imgH="144145" progId="Equation.3">
                  <p:embed/>
                </p:oleObj>
              </mc:Choice>
              <mc:Fallback>
                <p:oleObj name="" r:id="rId5" imgW="287655" imgH="144145" progId="Equation.3">
                  <p:embed/>
                  <p:pic>
                    <p:nvPicPr>
                      <p:cNvPr id="0" name="对象 70668"/>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905000" y="4222750"/>
                        <a:ext cx="1203154" cy="601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160781" name="右箭头 70669"/>
          <p:cNvSpPr>
            <a:spLocks noChangeArrowheads="1"/>
          </p:cNvSpPr>
          <p:nvPr/>
        </p:nvSpPr>
        <p:spPr bwMode="auto">
          <a:xfrm>
            <a:off x="3581400" y="4451350"/>
            <a:ext cx="533400" cy="228600"/>
          </a:xfrm>
          <a:prstGeom prst="rightArrow">
            <a:avLst>
              <a:gd name="adj1" fmla="val 50000"/>
              <a:gd name="adj2" fmla="val 58236"/>
            </a:avLst>
          </a:prstGeom>
          <a:solidFill>
            <a:srgbClr val="FF0000"/>
          </a:solidFill>
          <a:ln w="9525">
            <a:solidFill>
              <a:schemeClr val="tx1"/>
            </a:solidFill>
            <a:miter lim="800000"/>
          </a:ln>
        </p:spPr>
        <p:txBody>
          <a:bodyPr/>
          <a:lstStyle/>
          <a:p>
            <a:endParaRPr lang="zh-CN" altLang="en-US"/>
          </a:p>
        </p:txBody>
      </p:sp>
      <p:sp>
        <p:nvSpPr>
          <p:cNvPr id="160782" name="矩形 70670"/>
          <p:cNvSpPr>
            <a:spLocks noChangeArrowheads="1"/>
          </p:cNvSpPr>
          <p:nvPr/>
        </p:nvSpPr>
        <p:spPr bwMode="auto">
          <a:xfrm>
            <a:off x="4343400" y="4298950"/>
            <a:ext cx="3468688"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sz="2800" b="1" dirty="0">
                <a:latin typeface="黑体" panose="02010609060101010101" pitchFamily="49" charset="-122"/>
                <a:ea typeface="黑体" panose="02010609060101010101" pitchFamily="49" charset="-122"/>
              </a:rPr>
              <a:t>节流零效应</a:t>
            </a:r>
            <a:endParaRPr lang="zh-CN" altLang="en-US" sz="2800" b="1" dirty="0">
              <a:latin typeface="黑体" panose="02010609060101010101" pitchFamily="49" charset="-122"/>
              <a:ea typeface="黑体" panose="02010609060101010101" pitchFamily="49" charset="-122"/>
            </a:endParaRPr>
          </a:p>
        </p:txBody>
      </p:sp>
      <p:sp>
        <p:nvSpPr>
          <p:cNvPr id="160783" name="矩形 70671"/>
          <p:cNvSpPr>
            <a:spLocks noChangeArrowheads="1"/>
          </p:cNvSpPr>
          <p:nvPr/>
        </p:nvSpPr>
        <p:spPr bwMode="auto">
          <a:xfrm>
            <a:off x="990600" y="5137150"/>
            <a:ext cx="7758113"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buFont typeface="Wingdings" panose="05000000000000000000" pitchFamily="2" charset="2"/>
              <a:buNone/>
            </a:pPr>
            <a:r>
              <a:rPr lang="en-US" altLang="zh-CN" sz="2800" b="1" dirty="0">
                <a:latin typeface="Tahoma" panose="020B0604030504040204" pitchFamily="34" charset="0"/>
              </a:rPr>
              <a:t> </a:t>
            </a:r>
            <a:r>
              <a:rPr lang="zh-CN" altLang="en-US" sz="2800" b="1" dirty="0">
                <a:latin typeface="黑体" panose="02010609060101010101" pitchFamily="49" charset="-122"/>
                <a:ea typeface="黑体" panose="02010609060101010101" pitchFamily="49" charset="-122"/>
              </a:rPr>
              <a:t>对于理想气体，只有节流零效应，因为</a:t>
            </a:r>
            <a:endParaRPr lang="zh-CN" altLang="en-US" sz="2800" b="1" dirty="0">
              <a:latin typeface="黑体" panose="02010609060101010101" pitchFamily="49" charset="-122"/>
              <a:ea typeface="黑体" panose="02010609060101010101" pitchFamily="49" charset="-122"/>
            </a:endParaRPr>
          </a:p>
        </p:txBody>
      </p:sp>
      <p:graphicFrame>
        <p:nvGraphicFramePr>
          <p:cNvPr id="160785" name="对象 70673"/>
          <p:cNvGraphicFramePr/>
          <p:nvPr/>
        </p:nvGraphicFramePr>
        <p:xfrm>
          <a:off x="6172200" y="5822950"/>
          <a:ext cx="1203154" cy="601663"/>
        </p:xfrm>
        <a:graphic>
          <a:graphicData uri="http://schemas.openxmlformats.org/presentationml/2006/ole">
            <mc:AlternateContent xmlns:mc="http://schemas.openxmlformats.org/markup-compatibility/2006">
              <mc:Choice xmlns:v="urn:schemas-microsoft-com:vml" Requires="v">
                <p:oleObj spid="_x0000_s67631" name="" r:id="rId7" imgW="287655" imgH="144145" progId="Equation.3">
                  <p:embed/>
                </p:oleObj>
              </mc:Choice>
              <mc:Fallback>
                <p:oleObj name="" r:id="rId7" imgW="287655" imgH="144145" progId="Equation.3">
                  <p:embed/>
                  <p:pic>
                    <p:nvPicPr>
                      <p:cNvPr id="0" name="对象 70673"/>
                      <p:cNvPicPr>
                        <a:picLocks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172200" y="5822950"/>
                        <a:ext cx="1203154" cy="601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160786" name="对象 70674"/>
          <p:cNvGraphicFramePr/>
          <p:nvPr/>
        </p:nvGraphicFramePr>
        <p:xfrm>
          <a:off x="1676400" y="5822950"/>
          <a:ext cx="1628503" cy="566738"/>
        </p:xfrm>
        <a:graphic>
          <a:graphicData uri="http://schemas.openxmlformats.org/presentationml/2006/ole">
            <mc:AlternateContent xmlns:mc="http://schemas.openxmlformats.org/markup-compatibility/2006">
              <mc:Choice xmlns:v="urn:schemas-microsoft-com:vml" Requires="v">
                <p:oleObj spid="_x0000_s67632" name="" r:id="rId9" imgW="389255" imgH="135255" progId="Equation.3">
                  <p:embed/>
                </p:oleObj>
              </mc:Choice>
              <mc:Fallback>
                <p:oleObj name="" r:id="rId9" imgW="389255" imgH="135255" progId="Equation.3">
                  <p:embed/>
                  <p:pic>
                    <p:nvPicPr>
                      <p:cNvPr id="0" name="对象 70674"/>
                      <p:cNvPicPr>
                        <a:picLocks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676400" y="5822950"/>
                        <a:ext cx="1628503" cy="5667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160787" name="对象 70675"/>
          <p:cNvGraphicFramePr/>
          <p:nvPr/>
        </p:nvGraphicFramePr>
        <p:xfrm>
          <a:off x="3794296" y="5812578"/>
          <a:ext cx="1203154" cy="601663"/>
        </p:xfrm>
        <a:graphic>
          <a:graphicData uri="http://schemas.openxmlformats.org/presentationml/2006/ole">
            <mc:AlternateContent xmlns:mc="http://schemas.openxmlformats.org/markup-compatibility/2006">
              <mc:Choice xmlns:v="urn:schemas-microsoft-com:vml" Requires="v">
                <p:oleObj spid="_x0000_s67633" name="" r:id="rId11" imgW="287655" imgH="144145" progId="Equation.3">
                  <p:embed/>
                </p:oleObj>
              </mc:Choice>
              <mc:Fallback>
                <p:oleObj name="" r:id="rId11" imgW="287655" imgH="144145" progId="Equation.3">
                  <p:embed/>
                  <p:pic>
                    <p:nvPicPr>
                      <p:cNvPr id="0" name="对象 70675"/>
                      <p:cNvPicPr>
                        <a:picLocks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3794296" y="5812578"/>
                        <a:ext cx="1203154" cy="601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160788" name="右箭头 70676"/>
          <p:cNvSpPr>
            <a:spLocks noChangeArrowheads="1"/>
          </p:cNvSpPr>
          <p:nvPr/>
        </p:nvSpPr>
        <p:spPr bwMode="auto">
          <a:xfrm>
            <a:off x="5332327" y="6051550"/>
            <a:ext cx="533400" cy="228600"/>
          </a:xfrm>
          <a:prstGeom prst="rightArrow">
            <a:avLst>
              <a:gd name="adj1" fmla="val 50000"/>
              <a:gd name="adj2" fmla="val 58236"/>
            </a:avLst>
          </a:prstGeom>
          <a:solidFill>
            <a:srgbClr val="FF0000"/>
          </a:solidFill>
          <a:ln w="9525">
            <a:solidFill>
              <a:schemeClr val="tx1"/>
            </a:solidFill>
            <a:miter lim="800000"/>
          </a:ln>
        </p:spPr>
        <p:txBody>
          <a:bodyPr/>
          <a:lstStyle/>
          <a:p>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1793" name="矩形 71681"/>
          <p:cNvSpPr>
            <a:spLocks noChangeArrowheads="1"/>
          </p:cNvSpPr>
          <p:nvPr/>
        </p:nvSpPr>
        <p:spPr bwMode="auto">
          <a:xfrm>
            <a:off x="533400" y="457200"/>
            <a:ext cx="6702425"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sz="3200" b="1" dirty="0">
                <a:latin typeface="黑体" panose="02010609060101010101" pitchFamily="49" charset="-122"/>
                <a:ea typeface="黑体" panose="02010609060101010101" pitchFamily="49" charset="-122"/>
              </a:rPr>
              <a:t>二、节流的温度效应（续）</a:t>
            </a:r>
            <a:endParaRPr lang="zh-CN" altLang="en-US" sz="3200" b="1" dirty="0">
              <a:latin typeface="黑体" panose="02010609060101010101" pitchFamily="49" charset="-122"/>
              <a:ea typeface="黑体" panose="02010609060101010101" pitchFamily="49" charset="-122"/>
            </a:endParaRPr>
          </a:p>
        </p:txBody>
      </p:sp>
      <p:sp>
        <p:nvSpPr>
          <p:cNvPr id="71683" name="矩形 71682"/>
          <p:cNvSpPr/>
          <p:nvPr/>
        </p:nvSpPr>
        <p:spPr>
          <a:xfrm>
            <a:off x="914400" y="1219200"/>
            <a:ext cx="7402513" cy="519113"/>
          </a:xfrm>
          <a:prstGeom prst="rect">
            <a:avLst/>
          </a:prstGeom>
          <a:noFill/>
          <a:ln w="9525">
            <a:noFill/>
          </a:ln>
        </p:spPr>
        <p:txBody>
          <a:bodyPr>
            <a:spAutoFit/>
          </a:bodyPr>
          <a:lstStyle/>
          <a:p>
            <a:pPr>
              <a:buFont typeface="Wingdings" panose="05000000000000000000" pitchFamily="2" charset="2"/>
              <a:buNone/>
            </a:pPr>
            <a:r>
              <a:rPr lang="en-US" altLang="zh-CN" sz="2800" b="1" noProof="1">
                <a:effectLst>
                  <a:outerShdw blurRad="38100" dist="38100" dir="2700000">
                    <a:srgbClr val="C0C0C0"/>
                  </a:outerShdw>
                </a:effectLst>
                <a:latin typeface="Tahoma" panose="020B0604030504040204" pitchFamily="34" charset="0"/>
              </a:rPr>
              <a:t> </a:t>
            </a:r>
            <a:r>
              <a:rPr lang="zh-CN" altLang="en-US" sz="2800" b="1" noProof="1">
                <a:latin typeface="黑体" panose="02010609060101010101" pitchFamily="49" charset="-122"/>
                <a:ea typeface="黑体" panose="02010609060101010101" pitchFamily="49" charset="-122"/>
              </a:rPr>
              <a:t>绝热节流系数（焦耳－汤姆逊系数）：</a:t>
            </a:r>
            <a:endParaRPr lang="zh-CN" altLang="en-US" sz="2800" b="1" noProof="1">
              <a:latin typeface="黑体" panose="02010609060101010101" pitchFamily="49" charset="-122"/>
              <a:ea typeface="黑体" panose="02010609060101010101" pitchFamily="49" charset="-122"/>
            </a:endParaRPr>
          </a:p>
        </p:txBody>
      </p:sp>
      <p:graphicFrame>
        <p:nvGraphicFramePr>
          <p:cNvPr id="161795" name="对象 71683"/>
          <p:cNvGraphicFramePr>
            <a:graphicFrameLocks noChangeAspect="1"/>
          </p:cNvGraphicFramePr>
          <p:nvPr/>
        </p:nvGraphicFramePr>
        <p:xfrm>
          <a:off x="2555875" y="4076700"/>
          <a:ext cx="1288490" cy="662653"/>
        </p:xfrm>
        <a:graphic>
          <a:graphicData uri="http://schemas.openxmlformats.org/presentationml/2006/ole">
            <mc:AlternateContent xmlns:mc="http://schemas.openxmlformats.org/markup-compatibility/2006">
              <mc:Choice xmlns:v="urn:schemas-microsoft-com:vml" Requires="v">
                <p:oleObj spid="_x0000_s68638" name="" r:id="rId1" imgW="296545" imgH="152400" progId="Equation.3">
                  <p:embed/>
                </p:oleObj>
              </mc:Choice>
              <mc:Fallback>
                <p:oleObj name="" r:id="rId1" imgW="296545" imgH="152400" progId="Equation.3">
                  <p:embed/>
                  <p:pic>
                    <p:nvPicPr>
                      <p:cNvPr id="0" name="对象 71683"/>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55875" y="4076700"/>
                        <a:ext cx="1288490" cy="6626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161796" name="右箭头 71684"/>
          <p:cNvSpPr>
            <a:spLocks noChangeArrowheads="1"/>
          </p:cNvSpPr>
          <p:nvPr/>
        </p:nvSpPr>
        <p:spPr bwMode="auto">
          <a:xfrm>
            <a:off x="4267200" y="4267200"/>
            <a:ext cx="533400" cy="228600"/>
          </a:xfrm>
          <a:prstGeom prst="rightArrow">
            <a:avLst>
              <a:gd name="adj1" fmla="val 50000"/>
              <a:gd name="adj2" fmla="val 58236"/>
            </a:avLst>
          </a:prstGeom>
          <a:solidFill>
            <a:srgbClr val="FF0000"/>
          </a:solidFill>
          <a:ln w="9525">
            <a:solidFill>
              <a:schemeClr val="tx1"/>
            </a:solidFill>
            <a:miter lim="800000"/>
          </a:ln>
        </p:spPr>
        <p:txBody>
          <a:bodyPr/>
          <a:lstStyle/>
          <a:p>
            <a:endParaRPr lang="zh-CN" altLang="en-US"/>
          </a:p>
        </p:txBody>
      </p:sp>
      <p:sp>
        <p:nvSpPr>
          <p:cNvPr id="161797" name="矩形 71685"/>
          <p:cNvSpPr>
            <a:spLocks noChangeArrowheads="1"/>
          </p:cNvSpPr>
          <p:nvPr/>
        </p:nvSpPr>
        <p:spPr bwMode="auto">
          <a:xfrm>
            <a:off x="5029200" y="4114800"/>
            <a:ext cx="2782888"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sz="2800" b="1" dirty="0">
                <a:latin typeface="黑体" panose="02010609060101010101" pitchFamily="49" charset="-122"/>
                <a:ea typeface="黑体" panose="02010609060101010101" pitchFamily="49" charset="-122"/>
              </a:rPr>
              <a:t>节流冷效应</a:t>
            </a:r>
            <a:endParaRPr lang="zh-CN" altLang="en-US" sz="2800" b="1" dirty="0">
              <a:latin typeface="黑体" panose="02010609060101010101" pitchFamily="49" charset="-122"/>
              <a:ea typeface="黑体" panose="02010609060101010101" pitchFamily="49" charset="-122"/>
            </a:endParaRPr>
          </a:p>
        </p:txBody>
      </p:sp>
      <p:sp>
        <p:nvSpPr>
          <p:cNvPr id="161798" name="右箭头 71686"/>
          <p:cNvSpPr>
            <a:spLocks noChangeArrowheads="1"/>
          </p:cNvSpPr>
          <p:nvPr/>
        </p:nvSpPr>
        <p:spPr bwMode="auto">
          <a:xfrm>
            <a:off x="4267200" y="4953000"/>
            <a:ext cx="533400" cy="228600"/>
          </a:xfrm>
          <a:prstGeom prst="rightArrow">
            <a:avLst>
              <a:gd name="adj1" fmla="val 50000"/>
              <a:gd name="adj2" fmla="val 58236"/>
            </a:avLst>
          </a:prstGeom>
          <a:solidFill>
            <a:srgbClr val="FF0000"/>
          </a:solidFill>
          <a:ln w="9525">
            <a:solidFill>
              <a:schemeClr val="tx1"/>
            </a:solidFill>
            <a:miter lim="800000"/>
          </a:ln>
        </p:spPr>
        <p:txBody>
          <a:bodyPr/>
          <a:lstStyle/>
          <a:p>
            <a:endParaRPr lang="zh-CN" altLang="en-US"/>
          </a:p>
        </p:txBody>
      </p:sp>
      <p:sp>
        <p:nvSpPr>
          <p:cNvPr id="161799" name="矩形 71687"/>
          <p:cNvSpPr>
            <a:spLocks noChangeArrowheads="1"/>
          </p:cNvSpPr>
          <p:nvPr/>
        </p:nvSpPr>
        <p:spPr bwMode="auto">
          <a:xfrm>
            <a:off x="5029200" y="4800600"/>
            <a:ext cx="3214688"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sz="2800" b="1" dirty="0">
                <a:latin typeface="黑体" panose="02010609060101010101" pitchFamily="49" charset="-122"/>
                <a:ea typeface="黑体" panose="02010609060101010101" pitchFamily="49" charset="-122"/>
              </a:rPr>
              <a:t>节流热效应</a:t>
            </a:r>
            <a:endParaRPr lang="zh-CN" altLang="en-US" sz="2800" b="1" dirty="0">
              <a:latin typeface="黑体" panose="02010609060101010101" pitchFamily="49" charset="-122"/>
              <a:ea typeface="黑体" panose="02010609060101010101" pitchFamily="49" charset="-122"/>
            </a:endParaRPr>
          </a:p>
        </p:txBody>
      </p:sp>
      <p:sp>
        <p:nvSpPr>
          <p:cNvPr id="161800" name="右箭头 71688"/>
          <p:cNvSpPr>
            <a:spLocks noChangeArrowheads="1"/>
          </p:cNvSpPr>
          <p:nvPr/>
        </p:nvSpPr>
        <p:spPr bwMode="auto">
          <a:xfrm>
            <a:off x="4267200" y="5715000"/>
            <a:ext cx="533400" cy="228600"/>
          </a:xfrm>
          <a:prstGeom prst="rightArrow">
            <a:avLst>
              <a:gd name="adj1" fmla="val 50000"/>
              <a:gd name="adj2" fmla="val 58236"/>
            </a:avLst>
          </a:prstGeom>
          <a:solidFill>
            <a:srgbClr val="FF0000"/>
          </a:solidFill>
          <a:ln w="9525">
            <a:solidFill>
              <a:schemeClr val="tx1"/>
            </a:solidFill>
            <a:miter lim="800000"/>
          </a:ln>
        </p:spPr>
        <p:txBody>
          <a:bodyPr/>
          <a:lstStyle/>
          <a:p>
            <a:endParaRPr lang="zh-CN" altLang="en-US"/>
          </a:p>
        </p:txBody>
      </p:sp>
      <p:sp>
        <p:nvSpPr>
          <p:cNvPr id="161801" name="矩形 71689"/>
          <p:cNvSpPr>
            <a:spLocks noChangeArrowheads="1"/>
          </p:cNvSpPr>
          <p:nvPr/>
        </p:nvSpPr>
        <p:spPr bwMode="auto">
          <a:xfrm>
            <a:off x="5029200" y="5562600"/>
            <a:ext cx="24955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sz="2800" b="1" dirty="0">
                <a:latin typeface="黑体" panose="02010609060101010101" pitchFamily="49" charset="-122"/>
                <a:ea typeface="黑体" panose="02010609060101010101" pitchFamily="49" charset="-122"/>
              </a:rPr>
              <a:t>节流零效应</a:t>
            </a:r>
            <a:endParaRPr lang="zh-CN" altLang="en-US" sz="2800" b="1" dirty="0">
              <a:latin typeface="黑体" panose="02010609060101010101" pitchFamily="49" charset="-122"/>
              <a:ea typeface="黑体" panose="02010609060101010101" pitchFamily="49" charset="-122"/>
            </a:endParaRPr>
          </a:p>
        </p:txBody>
      </p:sp>
      <p:sp>
        <p:nvSpPr>
          <p:cNvPr id="71692" name="矩形 71691"/>
          <p:cNvSpPr/>
          <p:nvPr/>
        </p:nvSpPr>
        <p:spPr>
          <a:xfrm>
            <a:off x="990600" y="3276600"/>
            <a:ext cx="7181850" cy="519113"/>
          </a:xfrm>
          <a:prstGeom prst="rect">
            <a:avLst/>
          </a:prstGeom>
          <a:noFill/>
          <a:ln w="9525">
            <a:noFill/>
          </a:ln>
        </p:spPr>
        <p:txBody>
          <a:bodyPr>
            <a:spAutoFit/>
          </a:bodyPr>
          <a:lstStyle/>
          <a:p>
            <a:pPr>
              <a:buFont typeface="Wingdings" panose="05000000000000000000" pitchFamily="2" charset="2"/>
              <a:buNone/>
            </a:pPr>
            <a:r>
              <a:rPr lang="en-US" altLang="zh-CN" sz="2800" b="1" noProof="1">
                <a:effectLst>
                  <a:outerShdw blurRad="38100" dist="38100" dir="2700000">
                    <a:srgbClr val="C0C0C0"/>
                  </a:outerShdw>
                </a:effectLst>
                <a:latin typeface="Tahoma" panose="020B0604030504040204" pitchFamily="34" charset="0"/>
              </a:rPr>
              <a:t> </a:t>
            </a:r>
            <a:r>
              <a:rPr lang="zh-CN" altLang="en-US" sz="2800" b="1" noProof="1">
                <a:latin typeface="黑体" panose="02010609060101010101" pitchFamily="49" charset="-122"/>
                <a:ea typeface="黑体" panose="02010609060101010101" pitchFamily="49" charset="-122"/>
              </a:rPr>
              <a:t>因为节流过程压力下降，即</a:t>
            </a:r>
            <a:r>
              <a:rPr lang="en-US" altLang="zh-CN" sz="2800" noProof="1">
                <a:latin typeface="Times New Roman" panose="02020603050405020304" pitchFamily="18" charset="0"/>
              </a:rPr>
              <a:t>d</a:t>
            </a:r>
            <a:r>
              <a:rPr lang="en-US" altLang="zh-CN" sz="2800" i="1" noProof="1">
                <a:latin typeface="Times New Roman" panose="02020603050405020304" pitchFamily="18" charset="0"/>
              </a:rPr>
              <a:t>p&lt;</a:t>
            </a:r>
            <a:r>
              <a:rPr lang="en-US" altLang="zh-CN" sz="2800" noProof="1">
                <a:latin typeface="Times New Roman" panose="02020603050405020304" pitchFamily="18" charset="0"/>
              </a:rPr>
              <a:t>0</a:t>
            </a:r>
            <a:endParaRPr lang="en-US" altLang="zh-CN" sz="2800" noProof="1">
              <a:latin typeface="Times New Roman" panose="02020603050405020304" pitchFamily="18" charset="0"/>
            </a:endParaRPr>
          </a:p>
        </p:txBody>
      </p:sp>
      <p:sp>
        <p:nvSpPr>
          <p:cNvPr id="161804" name="右箭头 71692"/>
          <p:cNvSpPr>
            <a:spLocks noChangeArrowheads="1"/>
          </p:cNvSpPr>
          <p:nvPr/>
        </p:nvSpPr>
        <p:spPr bwMode="auto">
          <a:xfrm>
            <a:off x="1524000" y="4191000"/>
            <a:ext cx="762000" cy="304800"/>
          </a:xfrm>
          <a:prstGeom prst="rightArrow">
            <a:avLst>
              <a:gd name="adj1" fmla="val 50000"/>
              <a:gd name="adj2" fmla="val 62500"/>
            </a:avLst>
          </a:prstGeom>
          <a:solidFill>
            <a:srgbClr val="FFFF00"/>
          </a:solidFill>
          <a:ln w="9525">
            <a:solidFill>
              <a:schemeClr val="tx1"/>
            </a:solidFill>
            <a:miter lim="800000"/>
          </a:ln>
        </p:spPr>
        <p:txBody>
          <a:bodyPr/>
          <a:lstStyle/>
          <a:p>
            <a:endParaRPr lang="zh-CN" altLang="en-US"/>
          </a:p>
        </p:txBody>
      </p:sp>
      <p:graphicFrame>
        <p:nvGraphicFramePr>
          <p:cNvPr id="161805" name="对象 71693"/>
          <p:cNvGraphicFramePr>
            <a:graphicFrameLocks noChangeAspect="1"/>
          </p:cNvGraphicFramePr>
          <p:nvPr/>
        </p:nvGraphicFramePr>
        <p:xfrm>
          <a:off x="2555875" y="4728829"/>
          <a:ext cx="1288490" cy="662653"/>
        </p:xfrm>
        <a:graphic>
          <a:graphicData uri="http://schemas.openxmlformats.org/presentationml/2006/ole">
            <mc:AlternateContent xmlns:mc="http://schemas.openxmlformats.org/markup-compatibility/2006">
              <mc:Choice xmlns:v="urn:schemas-microsoft-com:vml" Requires="v">
                <p:oleObj spid="_x0000_s68639" name="" r:id="rId3" imgW="296545" imgH="152400" progId="Equation.3">
                  <p:embed/>
                </p:oleObj>
              </mc:Choice>
              <mc:Fallback>
                <p:oleObj name="" r:id="rId3" imgW="296545" imgH="152400" progId="Equation.3">
                  <p:embed/>
                  <p:pic>
                    <p:nvPicPr>
                      <p:cNvPr id="0" name="对象 71693"/>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555875" y="4728829"/>
                        <a:ext cx="1288490" cy="6626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161806" name="对象 71694"/>
          <p:cNvGraphicFramePr>
            <a:graphicFrameLocks noChangeAspect="1"/>
          </p:cNvGraphicFramePr>
          <p:nvPr/>
        </p:nvGraphicFramePr>
        <p:xfrm>
          <a:off x="2555875" y="5490829"/>
          <a:ext cx="1288490" cy="662653"/>
        </p:xfrm>
        <a:graphic>
          <a:graphicData uri="http://schemas.openxmlformats.org/presentationml/2006/ole">
            <mc:AlternateContent xmlns:mc="http://schemas.openxmlformats.org/markup-compatibility/2006">
              <mc:Choice xmlns:v="urn:schemas-microsoft-com:vml" Requires="v">
                <p:oleObj spid="_x0000_s68640" name="" r:id="rId5" imgW="296545" imgH="152400" progId="Equation.3">
                  <p:embed/>
                </p:oleObj>
              </mc:Choice>
              <mc:Fallback>
                <p:oleObj name="" r:id="rId5" imgW="296545" imgH="152400" progId="Equation.3">
                  <p:embed/>
                  <p:pic>
                    <p:nvPicPr>
                      <p:cNvPr id="0" name="对象 71694"/>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555875" y="5490829"/>
                        <a:ext cx="1288490" cy="6626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7" name="对象 6"/>
          <p:cNvGraphicFramePr>
            <a:graphicFrameLocks noChangeAspect="1"/>
          </p:cNvGraphicFramePr>
          <p:nvPr/>
        </p:nvGraphicFramePr>
        <p:xfrm>
          <a:off x="3070916" y="1961357"/>
          <a:ext cx="1873250" cy="1174750"/>
        </p:xfrm>
        <a:graphic>
          <a:graphicData uri="http://schemas.openxmlformats.org/presentationml/2006/ole">
            <mc:AlternateContent xmlns:mc="http://schemas.openxmlformats.org/markup-compatibility/2006">
              <mc:Choice xmlns:v="urn:schemas-microsoft-com:vml" Requires="v">
                <p:oleObj spid="_x0000_s68641" name="Equation" r:id="rId7" imgW="749300" imgH="469900" progId="Equation.DSMT4">
                  <p:embed/>
                </p:oleObj>
              </mc:Choice>
              <mc:Fallback>
                <p:oleObj name="Equation" r:id="rId7" imgW="749300" imgH="469900" progId="Equation.DSMT4">
                  <p:embed/>
                  <p:pic>
                    <p:nvPicPr>
                      <p:cNvPr id="0" name="对象 6"/>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070916" y="1961357"/>
                        <a:ext cx="1873250" cy="11747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2817" name="矩形 72705"/>
          <p:cNvSpPr>
            <a:spLocks noChangeArrowheads="1"/>
          </p:cNvSpPr>
          <p:nvPr/>
        </p:nvSpPr>
        <p:spPr bwMode="auto">
          <a:xfrm>
            <a:off x="533400" y="457200"/>
            <a:ext cx="6630988"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sz="3200" b="1" dirty="0">
                <a:latin typeface="黑体" panose="02010609060101010101" pitchFamily="49" charset="-122"/>
                <a:ea typeface="黑体" panose="02010609060101010101" pitchFamily="49" charset="-122"/>
              </a:rPr>
              <a:t>三、节流过程的应用</a:t>
            </a:r>
            <a:endParaRPr lang="zh-CN" altLang="en-US" sz="3200" b="1" dirty="0">
              <a:latin typeface="黑体" panose="02010609060101010101" pitchFamily="49" charset="-122"/>
              <a:ea typeface="黑体" panose="02010609060101010101" pitchFamily="49" charset="-122"/>
            </a:endParaRPr>
          </a:p>
        </p:txBody>
      </p:sp>
      <p:sp>
        <p:nvSpPr>
          <p:cNvPr id="162818" name="文本框 72706"/>
          <p:cNvSpPr txBox="1">
            <a:spLocks noChangeArrowheads="1"/>
          </p:cNvSpPr>
          <p:nvPr/>
        </p:nvSpPr>
        <p:spPr bwMode="auto">
          <a:xfrm>
            <a:off x="778911" y="1405076"/>
            <a:ext cx="7532687" cy="38472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spcBef>
                <a:spcPct val="50000"/>
              </a:spcBef>
              <a:buClr>
                <a:schemeClr val="hlink"/>
              </a:buClr>
              <a:buFont typeface="Wingdings" panose="05000000000000000000" pitchFamily="2" charset="2"/>
              <a:buChar char="Ø"/>
            </a:pPr>
            <a:r>
              <a:rPr lang="en-US" altLang="zh-CN" sz="2800" b="1" dirty="0">
                <a:latin typeface="Tahoma" panose="020B0604030504040204" pitchFamily="34" charset="0"/>
              </a:rPr>
              <a:t> </a:t>
            </a:r>
            <a:r>
              <a:rPr lang="zh-CN" altLang="en-US" sz="2800" b="1" dirty="0">
                <a:latin typeface="黑体" panose="02010609060101010101" pitchFamily="49" charset="-122"/>
                <a:ea typeface="黑体" panose="02010609060101010101" pitchFamily="49" charset="-122"/>
              </a:rPr>
              <a:t>制冷</a:t>
            </a:r>
            <a:r>
              <a:rPr lang="zh-CN" altLang="en-US" sz="2800" b="1" dirty="0" smtClean="0">
                <a:latin typeface="黑体" panose="02010609060101010101" pitchFamily="49" charset="-122"/>
                <a:ea typeface="黑体" panose="02010609060101010101" pitchFamily="49" charset="-122"/>
              </a:rPr>
              <a:t>：</a:t>
            </a:r>
            <a:r>
              <a:rPr lang="zh-CN" altLang="zh-CN" sz="2800" b="1" dirty="0">
                <a:latin typeface="黑体" panose="02010609060101010101" pitchFamily="49" charset="-122"/>
                <a:ea typeface="黑体" panose="02010609060101010101" pitchFamily="49" charset="-122"/>
              </a:rPr>
              <a:t>由以上分析知，流体在绝热节流后的温度可能会降低，因此节流致冷是节流过程的一个重要应用，特别是在空气和其他气体的液化以及低沸点制冷剂的致冷工程中</a:t>
            </a:r>
            <a:endParaRPr lang="zh-CN" altLang="en-US" sz="2800" b="1" dirty="0">
              <a:latin typeface="黑体" panose="02010609060101010101" pitchFamily="49" charset="-122"/>
              <a:ea typeface="黑体" panose="02010609060101010101" pitchFamily="49" charset="-122"/>
            </a:endParaRPr>
          </a:p>
          <a:p>
            <a:pPr>
              <a:spcBef>
                <a:spcPct val="50000"/>
              </a:spcBef>
              <a:buClr>
                <a:schemeClr val="hlink"/>
              </a:buClr>
              <a:buFont typeface="Wingdings" panose="05000000000000000000" pitchFamily="2" charset="2"/>
              <a:buChar char="Ø"/>
            </a:pPr>
            <a:r>
              <a:rPr lang="zh-CN" altLang="en-US" sz="2800" b="1" dirty="0">
                <a:latin typeface="Tahoma" panose="020B0604030504040204" pitchFamily="34" charset="0"/>
              </a:rPr>
              <a:t> </a:t>
            </a:r>
            <a:r>
              <a:rPr lang="zh-CN" altLang="en-US" sz="2800" b="1" dirty="0">
                <a:latin typeface="黑体" panose="02010609060101010101" pitchFamily="49" charset="-122"/>
                <a:ea typeface="黑体" panose="02010609060101010101" pitchFamily="49" charset="-122"/>
              </a:rPr>
              <a:t>调节发动机的功率</a:t>
            </a:r>
            <a:r>
              <a:rPr lang="zh-CN" altLang="en-US" sz="2400" b="1" dirty="0" smtClean="0">
                <a:latin typeface="黑体" panose="02010609060101010101" pitchFamily="49" charset="-122"/>
                <a:ea typeface="黑体" panose="02010609060101010101" pitchFamily="49" charset="-122"/>
              </a:rPr>
              <a:t>（</a:t>
            </a:r>
            <a:r>
              <a:rPr lang="zh-CN" altLang="en-US" sz="2400" b="1" dirty="0" smtClean="0">
                <a:solidFill>
                  <a:srgbClr val="0070C0"/>
                </a:solidFill>
                <a:latin typeface="Times New Roman" panose="02020603050405020304" pitchFamily="18" charset="0"/>
                <a:ea typeface="黑体" panose="02010609060101010101" pitchFamily="49" charset="-122"/>
                <a:cs typeface="Times New Roman" panose="02020603050405020304" pitchFamily="18" charset="0"/>
              </a:rPr>
              <a:t>教材</a:t>
            </a:r>
            <a:r>
              <a:rPr lang="zh-CN" altLang="en-US" sz="2400" b="1" dirty="0">
                <a:solidFill>
                  <a:srgbClr val="0070C0"/>
                </a:solidFill>
                <a:latin typeface="Times New Roman" panose="02020603050405020304" pitchFamily="18" charset="0"/>
                <a:ea typeface="黑体" panose="02010609060101010101" pitchFamily="49" charset="-122"/>
                <a:cs typeface="Times New Roman" panose="02020603050405020304" pitchFamily="18" charset="0"/>
              </a:rPr>
              <a:t>中</a:t>
            </a:r>
            <a:r>
              <a:rPr lang="zh-CN" altLang="en-US" sz="2400" b="1" dirty="0" smtClean="0">
                <a:solidFill>
                  <a:srgbClr val="0070C0"/>
                </a:solidFill>
                <a:latin typeface="Times New Roman" panose="02020603050405020304" pitchFamily="18" charset="0"/>
                <a:ea typeface="黑体" panose="02010609060101010101" pitchFamily="49" charset="-122"/>
                <a:cs typeface="Times New Roman" panose="02020603050405020304" pitchFamily="18" charset="0"/>
              </a:rPr>
              <a:t>例题</a:t>
            </a:r>
            <a:r>
              <a:rPr lang="en-US" altLang="zh-CN" sz="2400" b="1" dirty="0" smtClean="0">
                <a:solidFill>
                  <a:srgbClr val="0070C0"/>
                </a:solidFill>
                <a:latin typeface="Times New Roman" panose="02020603050405020304" pitchFamily="18" charset="0"/>
                <a:ea typeface="黑体" panose="02010609060101010101" pitchFamily="49" charset="-122"/>
                <a:cs typeface="Times New Roman" panose="02020603050405020304" pitchFamily="18" charset="0"/>
              </a:rPr>
              <a:t>10-7</a:t>
            </a:r>
            <a:r>
              <a:rPr lang="zh-CN" altLang="en-US" sz="2400" b="1" dirty="0" smtClean="0">
                <a:solidFill>
                  <a:srgbClr val="0070C0"/>
                </a:solidFill>
                <a:latin typeface="Times New Roman" panose="02020603050405020304" pitchFamily="18" charset="0"/>
                <a:ea typeface="黑体" panose="02010609060101010101" pitchFamily="49" charset="-122"/>
                <a:cs typeface="Times New Roman" panose="02020603050405020304" pitchFamily="18" charset="0"/>
              </a:rPr>
              <a:t>；</a:t>
            </a:r>
            <a:r>
              <a:rPr lang="zh-CN" altLang="en-US" sz="2400" b="1" dirty="0" smtClean="0">
                <a:latin typeface="黑体" panose="02010609060101010101" pitchFamily="49" charset="-122"/>
                <a:ea typeface="黑体" panose="02010609060101010101" pitchFamily="49" charset="-122"/>
              </a:rPr>
              <a:t>原理：</a:t>
            </a:r>
            <a:r>
              <a:rPr lang="zh-CN" altLang="en-US" sz="2400" b="1" dirty="0" smtClean="0">
                <a:latin typeface="黑体" panose="02010609060101010101" pitchFamily="49" charset="-122"/>
                <a:ea typeface="黑体" panose="02010609060101010101" pitchFamily="49" charset="-122"/>
                <a:sym typeface="Symbol" panose="05050102010706020507" pitchFamily="18" charset="2"/>
              </a:rPr>
              <a:t>节流过程</a:t>
            </a:r>
            <a:r>
              <a:rPr lang="zh-CN" altLang="en-US" sz="2400" b="1" dirty="0">
                <a:latin typeface="黑体" panose="02010609060101010101" pitchFamily="49" charset="-122"/>
                <a:ea typeface="黑体" panose="02010609060101010101" pitchFamily="49" charset="-122"/>
                <a:sym typeface="Symbol" panose="05050102010706020507" pitchFamily="18" charset="2"/>
              </a:rPr>
              <a:t>不可逆，熵增加，工质的有效能减少，输出的功率减少）</a:t>
            </a:r>
            <a:endParaRPr lang="zh-CN" altLang="en-US" sz="2400" b="1" dirty="0">
              <a:latin typeface="黑体" panose="02010609060101010101" pitchFamily="49" charset="-122"/>
              <a:ea typeface="黑体" panose="02010609060101010101" pitchFamily="49" charset="-122"/>
            </a:endParaRPr>
          </a:p>
          <a:p>
            <a:pPr>
              <a:spcBef>
                <a:spcPct val="50000"/>
              </a:spcBef>
              <a:buClr>
                <a:schemeClr val="hlink"/>
              </a:buClr>
              <a:buFont typeface="Wingdings" panose="05000000000000000000" pitchFamily="2" charset="2"/>
              <a:buChar char="Ø"/>
            </a:pPr>
            <a:r>
              <a:rPr lang="zh-CN" altLang="en-US" sz="2800" b="1" dirty="0" smtClean="0">
                <a:latin typeface="黑体" panose="02010609060101010101" pitchFamily="49" charset="-122"/>
                <a:ea typeface="黑体" panose="02010609060101010101" pitchFamily="49" charset="-122"/>
              </a:rPr>
              <a:t>测定</a:t>
            </a:r>
            <a:r>
              <a:rPr lang="zh-CN" altLang="en-US" sz="2800" b="1" dirty="0">
                <a:latin typeface="黑体" panose="02010609060101010101" pitchFamily="49" charset="-122"/>
                <a:ea typeface="黑体" panose="02010609060101010101" pitchFamily="49" charset="-122"/>
              </a:rPr>
              <a:t>湿蒸汽的</a:t>
            </a:r>
            <a:r>
              <a:rPr lang="zh-CN" altLang="en-US" sz="2800" b="1" dirty="0" smtClean="0">
                <a:latin typeface="黑体" panose="02010609060101010101" pitchFamily="49" charset="-122"/>
                <a:ea typeface="黑体" panose="02010609060101010101" pitchFamily="49" charset="-122"/>
              </a:rPr>
              <a:t>干度（</a:t>
            </a:r>
            <a:r>
              <a:rPr lang="zh-CN" altLang="en-US" sz="2400" b="1" dirty="0">
                <a:solidFill>
                  <a:srgbClr val="0070C0"/>
                </a:solidFill>
                <a:latin typeface="Times New Roman" panose="02020603050405020304" pitchFamily="18" charset="0"/>
                <a:ea typeface="黑体" panose="02010609060101010101" pitchFamily="49" charset="-122"/>
                <a:cs typeface="Times New Roman" panose="02020603050405020304" pitchFamily="18" charset="0"/>
              </a:rPr>
              <a:t>教材</a:t>
            </a:r>
            <a:r>
              <a:rPr lang="zh-CN" altLang="en-US" sz="2400" b="1" dirty="0" smtClean="0">
                <a:solidFill>
                  <a:srgbClr val="0070C0"/>
                </a:solidFill>
                <a:latin typeface="Times New Roman" panose="02020603050405020304" pitchFamily="18" charset="0"/>
                <a:ea typeface="黑体" panose="02010609060101010101" pitchFamily="49" charset="-122"/>
                <a:cs typeface="Times New Roman" panose="02020603050405020304" pitchFamily="18" charset="0"/>
              </a:rPr>
              <a:t>中例题</a:t>
            </a:r>
            <a:r>
              <a:rPr lang="en-US" altLang="zh-CN" sz="2400" b="1" dirty="0" smtClean="0">
                <a:solidFill>
                  <a:srgbClr val="0070C0"/>
                </a:solidFill>
                <a:latin typeface="Times New Roman" panose="02020603050405020304" pitchFamily="18" charset="0"/>
                <a:ea typeface="黑体" panose="02010609060101010101" pitchFamily="49" charset="-122"/>
                <a:cs typeface="Times New Roman" panose="02020603050405020304" pitchFamily="18" charset="0"/>
              </a:rPr>
              <a:t>10-8 </a:t>
            </a:r>
            <a:r>
              <a:rPr lang="zh-CN" altLang="en-US" sz="2800" b="1" dirty="0" smtClean="0">
                <a:latin typeface="黑体" panose="02010609060101010101" pitchFamily="49" charset="-122"/>
                <a:ea typeface="黑体" panose="02010609060101010101" pitchFamily="49" charset="-122"/>
              </a:rPr>
              <a:t>）</a:t>
            </a:r>
            <a:endParaRPr lang="en-US" altLang="zh-CN" sz="2800" b="1" dirty="0" smtClean="0">
              <a:latin typeface="黑体" panose="02010609060101010101" pitchFamily="49" charset="-122"/>
              <a:ea typeface="黑体" panose="02010609060101010101" pitchFamily="49" charset="-122"/>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72705"/>
          <p:cNvSpPr>
            <a:spLocks noChangeArrowheads="1"/>
          </p:cNvSpPr>
          <p:nvPr/>
        </p:nvSpPr>
        <p:spPr bwMode="auto">
          <a:xfrm>
            <a:off x="533400" y="457200"/>
            <a:ext cx="6630988"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sz="3200" b="1" dirty="0">
                <a:latin typeface="黑体" panose="02010609060101010101" pitchFamily="49" charset="-122"/>
                <a:ea typeface="黑体" panose="02010609060101010101" pitchFamily="49" charset="-122"/>
              </a:rPr>
              <a:t>三、节流过程的</a:t>
            </a:r>
            <a:r>
              <a:rPr lang="zh-CN" altLang="en-US" sz="3200" b="1" dirty="0" smtClean="0">
                <a:latin typeface="黑体" panose="02010609060101010101" pitchFamily="49" charset="-122"/>
                <a:ea typeface="黑体" panose="02010609060101010101" pitchFamily="49" charset="-122"/>
              </a:rPr>
              <a:t>应用</a:t>
            </a:r>
            <a:r>
              <a:rPr lang="en-US" altLang="zh-CN" sz="3200" b="1" dirty="0" smtClean="0">
                <a:latin typeface="黑体" panose="02010609060101010101" pitchFamily="49" charset="-122"/>
                <a:ea typeface="黑体" panose="02010609060101010101" pitchFamily="49" charset="-122"/>
              </a:rPr>
              <a:t>(</a:t>
            </a:r>
            <a:r>
              <a:rPr lang="zh-CN" altLang="en-US" sz="3200" b="1" dirty="0" smtClean="0">
                <a:latin typeface="黑体" panose="02010609060101010101" pitchFamily="49" charset="-122"/>
                <a:ea typeface="黑体" panose="02010609060101010101" pitchFamily="49" charset="-122"/>
              </a:rPr>
              <a:t>续</a:t>
            </a:r>
            <a:r>
              <a:rPr lang="en-US" altLang="zh-CN" sz="3200" b="1" dirty="0" smtClean="0">
                <a:latin typeface="黑体" panose="02010609060101010101" pitchFamily="49" charset="-122"/>
                <a:ea typeface="黑体" panose="02010609060101010101" pitchFamily="49" charset="-122"/>
              </a:rPr>
              <a:t>)</a:t>
            </a:r>
            <a:endParaRPr lang="zh-CN" altLang="en-US" sz="3200" b="1" dirty="0">
              <a:latin typeface="黑体" panose="02010609060101010101" pitchFamily="49" charset="-122"/>
              <a:ea typeface="黑体" panose="02010609060101010101" pitchFamily="49" charset="-122"/>
            </a:endParaRPr>
          </a:p>
        </p:txBody>
      </p:sp>
      <p:sp>
        <p:nvSpPr>
          <p:cNvPr id="3" name="文本框 72706"/>
          <p:cNvSpPr txBox="1">
            <a:spLocks noChangeArrowheads="1"/>
          </p:cNvSpPr>
          <p:nvPr/>
        </p:nvSpPr>
        <p:spPr bwMode="auto">
          <a:xfrm>
            <a:off x="725902" y="1458085"/>
            <a:ext cx="7532687" cy="22467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spcBef>
                <a:spcPct val="50000"/>
              </a:spcBef>
              <a:buClr>
                <a:schemeClr val="hlink"/>
              </a:buClr>
              <a:buFont typeface="Wingdings" panose="05000000000000000000" pitchFamily="2" charset="2"/>
              <a:buChar char="Ø"/>
            </a:pPr>
            <a:r>
              <a:rPr lang="zh-CN" altLang="en-US" sz="2800" b="1" dirty="0">
                <a:latin typeface="黑体" panose="02010609060101010101" pitchFamily="49" charset="-122"/>
                <a:ea typeface="黑体" panose="02010609060101010101" pitchFamily="49" charset="-122"/>
              </a:rPr>
              <a:t>测量</a:t>
            </a:r>
            <a:r>
              <a:rPr lang="zh-CN" altLang="en-US" sz="2800" b="1" dirty="0" smtClean="0">
                <a:latin typeface="黑体" panose="02010609060101010101" pitchFamily="49" charset="-122"/>
                <a:ea typeface="黑体" panose="02010609060101010101" pitchFamily="49" charset="-122"/>
              </a:rPr>
              <a:t>流体流量（</a:t>
            </a:r>
            <a:r>
              <a:rPr lang="zh-CN" altLang="en-US" sz="2800" b="1" dirty="0">
                <a:latin typeface="黑体" panose="02010609060101010101" pitchFamily="49" charset="-122"/>
                <a:ea typeface="黑体" panose="02010609060101010101" pitchFamily="49" charset="-122"/>
              </a:rPr>
              <a:t>孔板流量计</a:t>
            </a:r>
            <a:r>
              <a:rPr lang="zh-CN" altLang="en-US" sz="2800" b="1" dirty="0" smtClean="0">
                <a:latin typeface="黑体" panose="02010609060101010101" pitchFamily="49" charset="-122"/>
                <a:ea typeface="黑体" panose="02010609060101010101" pitchFamily="49" charset="-122"/>
              </a:rPr>
              <a:t>）</a:t>
            </a:r>
            <a:r>
              <a:rPr lang="en-US" altLang="zh-CN" sz="2800" b="1" dirty="0">
                <a:latin typeface="黑体" panose="02010609060101010101" pitchFamily="49" charset="-122"/>
                <a:ea typeface="黑体" panose="02010609060101010101" pitchFamily="49" charset="-122"/>
              </a:rPr>
              <a:t>:</a:t>
            </a:r>
            <a:r>
              <a:rPr lang="zh-CN" altLang="zh-CN" sz="2800" b="1" dirty="0">
                <a:latin typeface="黑体" panose="02010609060101010101" pitchFamily="49" charset="-122"/>
                <a:ea typeface="黑体" panose="02010609060101010101" pitchFamily="49" charset="-122"/>
              </a:rPr>
              <a:t>利用节流现象测量流体流量的常用仪器，它利用孔板使流体产生节流，再用压差计测定孔板前后的压力差，利用压力差与流量的定量关系精确地计算出流体流量</a:t>
            </a:r>
            <a:endParaRPr lang="zh-CN" altLang="en-US" sz="2800" b="1" dirty="0">
              <a:latin typeface="黑体" panose="02010609060101010101" pitchFamily="49" charset="-122"/>
              <a:ea typeface="黑体" panose="02010609060101010101" pitchFamily="49" charset="-122"/>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tags/tag1.xml><?xml version="1.0" encoding="utf-8"?>
<p:tagLst xmlns:p="http://schemas.openxmlformats.org/presentationml/2006/main">
  <p:tag name="TIMING" val="|23.4"/>
</p:tagLst>
</file>

<file path=ppt/tags/tag2.xml><?xml version="1.0" encoding="utf-8"?>
<p:tagLst xmlns:p="http://schemas.openxmlformats.org/presentationml/2006/main">
  <p:tag name="TIMING" val="|88.5|0.9|0.9|0.6"/>
</p:tagLst>
</file>

<file path=ppt/tags/tag3.xml><?xml version="1.0" encoding="utf-8"?>
<p:tagLst xmlns:p="http://schemas.openxmlformats.org/presentationml/2006/main">
  <p:tag name="TIMING" val="|18.1|0.9"/>
</p:tagLst>
</file>

<file path=ppt/tags/tag4.xml><?xml version="1.0" encoding="utf-8"?>
<p:tagLst xmlns:p="http://schemas.openxmlformats.org/presentationml/2006/main">
  <p:tag name="TIMING" val="|10.7|0.7|0.4|0.6|0.7"/>
</p:tagLst>
</file>

<file path=ppt/tags/tag5.xml><?xml version="1.0" encoding="utf-8"?>
<p:tagLst xmlns:p="http://schemas.openxmlformats.org/presentationml/2006/main">
  <p:tag name="TIMING" val="|44.1"/>
</p:tagLst>
</file>

<file path=ppt/tags/tag6.xml><?xml version="1.0" encoding="utf-8"?>
<p:tagLst xmlns:p="http://schemas.openxmlformats.org/presentationml/2006/main">
  <p:tag name="TIMING" val="|135.6"/>
</p:tagLst>
</file>

<file path=ppt/tags/tag7.xml><?xml version="1.0" encoding="utf-8"?>
<p:tagLst xmlns:p="http://schemas.openxmlformats.org/presentationml/2006/main">
  <p:tag name="TIMING" val="|19|37.6|6.6|8.3"/>
</p:tagLst>
</file>

<file path=ppt/tags/tag8.xml><?xml version="1.0" encoding="utf-8"?>
<p:tagLst xmlns:p="http://schemas.openxmlformats.org/presentationml/2006/main">
  <p:tag name="TIMING" val="|15.9"/>
</p:tagLst>
</file>

<file path=ppt/tags/tag9.xml><?xml version="1.0" encoding="utf-8"?>
<p:tagLst xmlns:p="http://schemas.openxmlformats.org/presentationml/2006/main">
  <p:tag name="TIMING" val="|29.6|26.3"/>
</p:tagLst>
</file>

<file path=ppt/tags/tag10.xml><?xml version="1.0" encoding="utf-8"?>
<p:tagLst xmlns:p="http://schemas.openxmlformats.org/presentationml/2006/main">
  <p:tag name="TIMING" val="|0.7"/>
</p:tagLst>
</file>

<file path=ppt/tags/tag11.xml><?xml version="1.0" encoding="utf-8"?>
<p:tagLst xmlns:p="http://schemas.openxmlformats.org/presentationml/2006/main">
  <p:tag name="TIMING" val="|5.6"/>
</p:tagLst>
</file>

<file path=ppt/tags/tag12.xml><?xml version="1.0" encoding="utf-8"?>
<p:tagLst xmlns:p="http://schemas.openxmlformats.org/presentationml/2006/main">
  <p:tag name="TIMING" val="|0.8"/>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a:ea typeface=""/>
        <a:cs typeface=""/>
        <a:font script="Jpan" typeface="ＭＳ Ｐゴシック"/>
        <a:font script="Hang" typeface="맑은 고딕"/>
        <a:font script="Hans" typeface="微软雅黑"/>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微软雅黑"/>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10656</Words>
  <Application>WPS 演示</Application>
  <PresentationFormat>全屏显示(4:3)</PresentationFormat>
  <Paragraphs>648</Paragraphs>
  <Slides>124</Slides>
  <Notes>0</Notes>
  <HiddenSlides>0</HiddenSlides>
  <MMClips>0</MMClips>
  <ScaleCrop>false</ScaleCrop>
  <HeadingPairs>
    <vt:vector size="8" baseType="variant">
      <vt:variant>
        <vt:lpstr>已用的字体</vt:lpstr>
      </vt:variant>
      <vt:variant>
        <vt:i4>11</vt:i4>
      </vt:variant>
      <vt:variant>
        <vt:lpstr>主题</vt:lpstr>
      </vt:variant>
      <vt:variant>
        <vt:i4>1</vt:i4>
      </vt:variant>
      <vt:variant>
        <vt:lpstr>嵌入 OLE 服务器</vt:lpstr>
      </vt:variant>
      <vt:variant>
        <vt:i4>194</vt:i4>
      </vt:variant>
      <vt:variant>
        <vt:lpstr>幻灯片标题</vt:lpstr>
      </vt:variant>
      <vt:variant>
        <vt:i4>124</vt:i4>
      </vt:variant>
    </vt:vector>
  </HeadingPairs>
  <TitlesOfParts>
    <vt:vector size="330" baseType="lpstr">
      <vt:lpstr>Arial</vt:lpstr>
      <vt:lpstr>宋体</vt:lpstr>
      <vt:lpstr>Wingdings</vt:lpstr>
      <vt:lpstr>黑体</vt:lpstr>
      <vt:lpstr>Times New Roman</vt:lpstr>
      <vt:lpstr>Tahoma</vt:lpstr>
      <vt:lpstr>微软雅黑</vt:lpstr>
      <vt:lpstr>Arial Unicode MS</vt:lpstr>
      <vt:lpstr>Calibri</vt:lpstr>
      <vt:lpstr>Webdings</vt:lpstr>
      <vt:lpstr>Symbol</vt:lpstr>
      <vt:lpstr>Office 主题</vt:lpstr>
      <vt:lpstr>Paint.Picture</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Equation.3</vt:lpstr>
      <vt:lpstr>Equation.DSMT4</vt:lpstr>
      <vt:lpstr>Equation.3</vt:lpstr>
      <vt:lpstr>Equation.3</vt:lpstr>
      <vt:lpstr>Equation.3</vt:lpstr>
      <vt:lpstr>Equation.3</vt:lpstr>
      <vt:lpstr>Equation.3</vt:lpstr>
      <vt:lpstr>Equation.3</vt:lpstr>
      <vt:lpstr>Equation.DSMT4</vt:lpstr>
      <vt:lpstr>Equation.3</vt:lpstr>
      <vt:lpstr>Equation.3</vt:lpstr>
      <vt:lpstr>Equation.3</vt:lpstr>
      <vt:lpstr>Equation.3</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Equation.3</vt:lpstr>
      <vt:lpstr>Equation.3</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一、声速</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一、力学条件</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例题：判断气体在渐扩通道中的状态参数变化 </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1、背压对渐缩喷管内流动的影响</vt:lpstr>
      <vt:lpstr>PowerPoint 演示文稿</vt:lpstr>
      <vt:lpstr>PowerPoint 演示文稿</vt:lpstr>
      <vt:lpstr>PowerPoint 演示文稿</vt:lpstr>
      <vt:lpstr>PowerPoint 演示文稿</vt:lpstr>
      <vt:lpstr>PowerPoint 演示文稿</vt:lpstr>
      <vt:lpstr>2、背压对缩放喷管内流动的影响</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分为设计计算和校核计算两类</vt:lpstr>
      <vt:lpstr>PowerPoint 演示文稿</vt:lpstr>
      <vt:lpstr>一、喷管的设计计算</vt:lpstr>
      <vt:lpstr>求解步骤</vt:lpstr>
      <vt:lpstr>求解步骤</vt:lpstr>
      <vt:lpstr>PowerPoint 演示文稿</vt:lpstr>
      <vt:lpstr>PowerPoint 演示文稿</vt:lpstr>
      <vt:lpstr>PowerPoint 演示文稿</vt:lpstr>
      <vt:lpstr>PowerPoint 演示文稿</vt:lpstr>
      <vt:lpstr>PowerPoint 演示文稿</vt:lpstr>
      <vt:lpstr>PowerPoint 演示文稿</vt:lpstr>
      <vt:lpstr>二、喷管的校核计算</vt:lpstr>
      <vt:lpstr>校核计算求解步骤 </vt:lpstr>
      <vt:lpstr>PowerPoint 演示文稿</vt:lpstr>
      <vt:lpstr>PowerPoint 演示文稿</vt:lpstr>
      <vt:lpstr>PowerPoint 演示文稿</vt:lpstr>
      <vt:lpstr>PowerPoint 演示文稿</vt:lpstr>
      <vt:lpstr>例题：喷管切去一段后出口流速和流量的判断 </vt:lpstr>
      <vt:lpstr>PowerPoint 演示文稿</vt:lpstr>
      <vt:lpstr>PowerPoint 演示文稿</vt:lpstr>
      <vt:lpstr>讨论1:若仍然是渐缩喷管，但延长一段，则结果如何？</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jing wu</dc:creator>
  <cp:lastModifiedBy>jingwu</cp:lastModifiedBy>
  <cp:revision>20</cp:revision>
  <dcterms:created xsi:type="dcterms:W3CDTF">2020-04-25T02:37:00Z</dcterms:created>
  <dcterms:modified xsi:type="dcterms:W3CDTF">2020-09-29T13:00:03Z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2052-11.1.0.9999</vt:lpwstr>
  </property>
</Properties>
</file>