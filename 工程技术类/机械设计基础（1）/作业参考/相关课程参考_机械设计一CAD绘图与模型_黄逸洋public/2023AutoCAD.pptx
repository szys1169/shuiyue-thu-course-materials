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33" r:id="rId2"/>
    <p:sldId id="265" r:id="rId3"/>
    <p:sldId id="335" r:id="rId4"/>
    <p:sldId id="349" r:id="rId5"/>
    <p:sldId id="354" r:id="rId6"/>
    <p:sldId id="355" r:id="rId7"/>
    <p:sldId id="342" r:id="rId8"/>
    <p:sldId id="351" r:id="rId9"/>
    <p:sldId id="357" r:id="rId10"/>
    <p:sldId id="377" r:id="rId11"/>
    <p:sldId id="376" r:id="rId12"/>
    <p:sldId id="379" r:id="rId13"/>
    <p:sldId id="380" r:id="rId14"/>
    <p:sldId id="378" r:id="rId15"/>
    <p:sldId id="361" r:id="rId16"/>
    <p:sldId id="385" r:id="rId17"/>
    <p:sldId id="362" r:id="rId18"/>
    <p:sldId id="364" r:id="rId19"/>
    <p:sldId id="386" r:id="rId20"/>
    <p:sldId id="366" r:id="rId21"/>
    <p:sldId id="393" r:id="rId22"/>
    <p:sldId id="367" r:id="rId23"/>
    <p:sldId id="389" r:id="rId24"/>
    <p:sldId id="368" r:id="rId25"/>
    <p:sldId id="369" r:id="rId26"/>
    <p:sldId id="370" r:id="rId27"/>
    <p:sldId id="371" r:id="rId28"/>
    <p:sldId id="372" r:id="rId29"/>
    <p:sldId id="373" r:id="rId30"/>
    <p:sldId id="374" r:id="rId31"/>
    <p:sldId id="395" r:id="rId32"/>
    <p:sldId id="396" r:id="rId33"/>
    <p:sldId id="397" r:id="rId34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84">
          <p15:clr>
            <a:srgbClr val="A4A3A4"/>
          </p15:clr>
        </p15:guide>
        <p15:guide id="2" orient="horz" pos="882">
          <p15:clr>
            <a:srgbClr val="A4A3A4"/>
          </p15:clr>
        </p15:guide>
        <p15:guide id="3" pos="391">
          <p15:clr>
            <a:srgbClr val="A4A3A4"/>
          </p15:clr>
        </p15:guide>
        <p15:guide id="4" pos="904">
          <p15:clr>
            <a:srgbClr val="A4A3A4"/>
          </p15:clr>
        </p15:guide>
        <p15:guide id="5" pos="18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FFFF66"/>
    <a:srgbClr val="00FF00"/>
    <a:srgbClr val="00FFCC"/>
    <a:srgbClr val="FFCCFF"/>
    <a:srgbClr val="6699FF"/>
    <a:srgbClr val="FF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0" autoAdjust="0"/>
    <p:restoredTop sz="94600" autoAdjust="0"/>
  </p:normalViewPr>
  <p:slideViewPr>
    <p:cSldViewPr snapToGrid="0">
      <p:cViewPr varScale="1">
        <p:scale>
          <a:sx n="113" d="100"/>
          <a:sy n="113" d="100"/>
        </p:scale>
        <p:origin x="804" y="60"/>
      </p:cViewPr>
      <p:guideLst>
        <p:guide orient="horz" pos="584"/>
        <p:guide orient="horz" pos="882"/>
        <p:guide pos="391"/>
        <p:guide pos="904"/>
        <p:guide pos="187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image" Target="../media/image6.png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86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86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B7B3B29-588C-475F-8334-0809E56300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22049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D120514-4700-4F20-B266-1016D4649B73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10</a:t>
            </a:fld>
            <a:endParaRPr lang="en-US" altLang="zh-CN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绘图概要：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、画出</a:t>
            </a:r>
            <a:r>
              <a:rPr lang="zh-CN" altLang="en-US" i="1" dirty="0">
                <a:sym typeface="Symbol" panose="05050102010706020507" pitchFamily="18" charset="2"/>
              </a:rPr>
              <a:t></a:t>
            </a:r>
            <a:r>
              <a:rPr lang="en-US" altLang="zh-CN" dirty="0">
                <a:sym typeface="Symbol" panose="05050102010706020507" pitchFamily="18" charset="2"/>
              </a:rPr>
              <a:t>40</a:t>
            </a:r>
            <a:r>
              <a:rPr lang="zh-CN" altLang="en-US" dirty="0">
                <a:sym typeface="Symbol" panose="05050102010706020507" pitchFamily="18" charset="2"/>
              </a:rPr>
              <a:t>的外接圆；</a:t>
            </a:r>
            <a:endParaRPr lang="en-US" altLang="zh-CN" dirty="0">
              <a:sym typeface="Symbol" panose="05050102010706020507" pitchFamily="18" charset="2"/>
            </a:endParaRPr>
          </a:p>
          <a:p>
            <a:r>
              <a:rPr lang="en-US" altLang="zh-CN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、在外接圆上画出</a:t>
            </a:r>
            <a:r>
              <a:rPr lang="en-US" altLang="zh-CN" dirty="0">
                <a:sym typeface="Symbol" panose="05050102010706020507" pitchFamily="18" charset="2"/>
              </a:rPr>
              <a:t>R3</a:t>
            </a:r>
            <a:r>
              <a:rPr lang="zh-CN" altLang="en-US" dirty="0">
                <a:sym typeface="Symbol" panose="05050102010706020507" pitchFamily="18" charset="2"/>
              </a:rPr>
              <a:t>的小圆；</a:t>
            </a:r>
            <a:endParaRPr lang="en-US" altLang="zh-CN" dirty="0">
              <a:sym typeface="Symbol" panose="05050102010706020507" pitchFamily="18" charset="2"/>
            </a:endParaRPr>
          </a:p>
          <a:p>
            <a:r>
              <a:rPr lang="en-US" altLang="zh-CN" dirty="0">
                <a:sym typeface="Symbol" panose="05050102010706020507" pitchFamily="18" charset="2"/>
              </a:rPr>
              <a:t>3</a:t>
            </a:r>
            <a:r>
              <a:rPr lang="zh-CN" altLang="en-US" dirty="0">
                <a:sym typeface="Symbol" panose="05050102010706020507" pitchFamily="18" charset="2"/>
              </a:rPr>
              <a:t>、画出通过外接圆圆心，且与小圆外切的两条切线；</a:t>
            </a:r>
            <a:endParaRPr lang="en-US" altLang="zh-CN" dirty="0">
              <a:sym typeface="Symbol" panose="05050102010706020507" pitchFamily="18" charset="2"/>
            </a:endParaRPr>
          </a:p>
          <a:p>
            <a:r>
              <a:rPr lang="en-US" altLang="zh-CN" dirty="0">
                <a:sym typeface="Symbol" panose="05050102010706020507" pitchFamily="18" charset="2"/>
              </a:rPr>
              <a:t>4</a:t>
            </a:r>
            <a:r>
              <a:rPr lang="zh-CN" altLang="en-US" dirty="0">
                <a:sym typeface="Symbol" panose="05050102010706020507" pitchFamily="18" charset="2"/>
              </a:rPr>
              <a:t>、使用“裁剪”命令，裁剪小圆；</a:t>
            </a:r>
            <a:endParaRPr lang="en-US" altLang="zh-CN" dirty="0">
              <a:sym typeface="Symbol" panose="05050102010706020507" pitchFamily="18" charset="2"/>
            </a:endParaRPr>
          </a:p>
          <a:p>
            <a:r>
              <a:rPr lang="en-US" altLang="zh-CN" dirty="0">
                <a:sym typeface="Symbol" panose="05050102010706020507" pitchFamily="18" charset="2"/>
              </a:rPr>
              <a:t>5</a:t>
            </a:r>
            <a:r>
              <a:rPr lang="zh-CN" altLang="en-US" dirty="0">
                <a:sym typeface="Symbol" panose="05050102010706020507" pitchFamily="18" charset="2"/>
              </a:rPr>
              <a:t>、使用“环形阵列”命令，画出其余相同部分；</a:t>
            </a:r>
            <a:endParaRPr lang="en-US" altLang="zh-CN" dirty="0">
              <a:sym typeface="Symbol" panose="05050102010706020507" pitchFamily="18" charset="2"/>
            </a:endParaRPr>
          </a:p>
          <a:p>
            <a:r>
              <a:rPr lang="en-US" altLang="zh-CN" dirty="0">
                <a:sym typeface="Symbol" panose="05050102010706020507" pitchFamily="18" charset="2"/>
              </a:rPr>
              <a:t>6</a:t>
            </a:r>
            <a:r>
              <a:rPr lang="zh-CN" altLang="en-US" dirty="0">
                <a:sym typeface="Symbol" panose="05050102010706020507" pitchFamily="18" charset="2"/>
              </a:rPr>
              <a:t>、画出一个小圆的中心线，并使用“镜像”命令完成其他小圆的中心线。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7B3B29-588C-475F-8334-0809E563006C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1984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绘图概要：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、画出</a:t>
            </a:r>
            <a:r>
              <a:rPr lang="zh-CN" altLang="en-US" i="1" dirty="0">
                <a:sym typeface="Symbol" panose="05050102010706020507" pitchFamily="18" charset="2"/>
              </a:rPr>
              <a:t></a:t>
            </a:r>
            <a:r>
              <a:rPr lang="en-US" altLang="zh-CN" dirty="0">
                <a:sym typeface="Symbol" panose="05050102010706020507" pitchFamily="18" charset="2"/>
              </a:rPr>
              <a:t>40</a:t>
            </a:r>
            <a:r>
              <a:rPr lang="zh-CN" altLang="en-US" dirty="0">
                <a:sym typeface="Symbol" panose="05050102010706020507" pitchFamily="18" charset="2"/>
              </a:rPr>
              <a:t>的外接圆；</a:t>
            </a:r>
            <a:endParaRPr lang="en-US" altLang="zh-CN" dirty="0">
              <a:sym typeface="Symbol" panose="05050102010706020507" pitchFamily="18" charset="2"/>
            </a:endParaRPr>
          </a:p>
          <a:p>
            <a:r>
              <a:rPr lang="en-US" altLang="zh-CN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、使用“定数等分”（</a:t>
            </a:r>
            <a:r>
              <a:rPr lang="en-US" altLang="zh-CN" dirty="0">
                <a:sym typeface="Symbol" panose="05050102010706020507" pitchFamily="18" charset="2"/>
              </a:rPr>
              <a:t>divide</a:t>
            </a:r>
            <a:r>
              <a:rPr lang="zh-CN" altLang="en-US" dirty="0">
                <a:sym typeface="Symbol" panose="05050102010706020507" pitchFamily="18" charset="2"/>
              </a:rPr>
              <a:t>）命令将外接圆五等份；</a:t>
            </a:r>
            <a:endParaRPr lang="en-US" altLang="zh-CN" dirty="0">
              <a:sym typeface="Symbol" panose="05050102010706020507" pitchFamily="18" charset="2"/>
            </a:endParaRPr>
          </a:p>
          <a:p>
            <a:r>
              <a:rPr lang="en-US" altLang="zh-CN" dirty="0">
                <a:sym typeface="Symbol" panose="05050102010706020507" pitchFamily="18" charset="2"/>
              </a:rPr>
              <a:t>3</a:t>
            </a:r>
            <a:r>
              <a:rPr lang="zh-CN" altLang="en-US" dirty="0">
                <a:sym typeface="Symbol" panose="05050102010706020507" pitchFamily="18" charset="2"/>
              </a:rPr>
              <a:t>、连接互不相邻的点，将五角星补充完整；</a:t>
            </a:r>
            <a:endParaRPr lang="en-US" altLang="zh-CN" dirty="0">
              <a:sym typeface="Symbol" panose="05050102010706020507" pitchFamily="18" charset="2"/>
            </a:endParaRPr>
          </a:p>
          <a:p>
            <a:r>
              <a:rPr lang="en-US" altLang="zh-CN" dirty="0">
                <a:sym typeface="Symbol" panose="05050102010706020507" pitchFamily="18" charset="2"/>
              </a:rPr>
              <a:t>4</a:t>
            </a:r>
            <a:r>
              <a:rPr lang="zh-CN" altLang="en-US" dirty="0">
                <a:sym typeface="Symbol" panose="05050102010706020507" pitchFamily="18" charset="2"/>
              </a:rPr>
              <a:t>、使用“旋转”命令，将五角星旋转到正确的角度（逆时针旋转</a:t>
            </a:r>
            <a:r>
              <a:rPr lang="en-US" altLang="zh-CN" dirty="0">
                <a:sym typeface="Symbol" panose="05050102010706020507" pitchFamily="18" charset="2"/>
              </a:rPr>
              <a:t>18°</a:t>
            </a:r>
            <a:r>
              <a:rPr lang="zh-CN" altLang="en-US" dirty="0">
                <a:sym typeface="Symbol" panose="05050102010706020507" pitchFamily="18" charset="2"/>
              </a:rPr>
              <a:t>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7B3B29-588C-475F-8334-0809E563006C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4631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985C03-E450-4FFB-A872-B6C8ADAA41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9949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10A28B-7EC8-49DB-AC51-1630F71203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7363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A33C52-B563-45C6-A7A5-E013A410A3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565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F792EB-F022-4DBB-A302-A197106F41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4995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AE7A7E-558F-4931-8166-9CD9B55025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9035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75D2EE-90DA-4C3B-BE27-F37F6AD596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4512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44B26B-3FDC-4CC7-A192-42D4801FE2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0036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95AF14-8431-4166-97AA-01F3200A01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4732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40EFE5-9F7E-4F01-B7D0-3E5856DDAA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724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930D80-4E3D-467C-830B-01D9A7C275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1340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2D25AA-2C66-4A66-8266-371478CB23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2274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6CB4FAE-0242-4426-91C3-D0E3925656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oleObject" Target="../embeddings/oleObject8.bin"/><Relationship Id="rId18" Type="http://schemas.openxmlformats.org/officeDocument/2006/relationships/image" Target="../media/image13.png"/><Relationship Id="rId3" Type="http://schemas.openxmlformats.org/officeDocument/2006/relationships/oleObject" Target="../embeddings/oleObject3.bin"/><Relationship Id="rId21" Type="http://schemas.openxmlformats.org/officeDocument/2006/relationships/oleObject" Target="../embeddings/oleObject12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0.png"/><Relationship Id="rId17" Type="http://schemas.openxmlformats.org/officeDocument/2006/relationships/oleObject" Target="../embeddings/oleObject10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2.png"/><Relationship Id="rId20" Type="http://schemas.openxmlformats.org/officeDocument/2006/relationships/image" Target="../media/image14.png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png"/><Relationship Id="rId11" Type="http://schemas.openxmlformats.org/officeDocument/2006/relationships/oleObject" Target="../embeddings/oleObject7.bin"/><Relationship Id="rId24" Type="http://schemas.openxmlformats.org/officeDocument/2006/relationships/image" Target="../media/image16.png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23" Type="http://schemas.openxmlformats.org/officeDocument/2006/relationships/oleObject" Target="../embeddings/oleObject13.bin"/><Relationship Id="rId10" Type="http://schemas.openxmlformats.org/officeDocument/2006/relationships/image" Target="../media/image9.png"/><Relationship Id="rId19" Type="http://schemas.openxmlformats.org/officeDocument/2006/relationships/oleObject" Target="../embeddings/oleObject11.bin"/><Relationship Id="rId4" Type="http://schemas.openxmlformats.org/officeDocument/2006/relationships/image" Target="../media/image6.png"/><Relationship Id="rId9" Type="http://schemas.openxmlformats.org/officeDocument/2006/relationships/oleObject" Target="../embeddings/oleObject6.bin"/><Relationship Id="rId14" Type="http://schemas.openxmlformats.org/officeDocument/2006/relationships/image" Target="../media/image11.png"/><Relationship Id="rId22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24.png"/><Relationship Id="rId26" Type="http://schemas.openxmlformats.org/officeDocument/2006/relationships/image" Target="../media/image28.png"/><Relationship Id="rId3" Type="http://schemas.openxmlformats.org/officeDocument/2006/relationships/oleObject" Target="../embeddings/oleObject14.bin"/><Relationship Id="rId21" Type="http://schemas.openxmlformats.org/officeDocument/2006/relationships/oleObject" Target="../embeddings/oleObject23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1.png"/><Relationship Id="rId17" Type="http://schemas.openxmlformats.org/officeDocument/2006/relationships/oleObject" Target="../embeddings/oleObject21.bin"/><Relationship Id="rId25" Type="http://schemas.openxmlformats.org/officeDocument/2006/relationships/oleObject" Target="../embeddings/oleObject25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3.png"/><Relationship Id="rId20" Type="http://schemas.openxmlformats.org/officeDocument/2006/relationships/image" Target="../media/image25.png"/><Relationship Id="rId29" Type="http://schemas.openxmlformats.org/officeDocument/2006/relationships/oleObject" Target="../embeddings/oleObject27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png"/><Relationship Id="rId11" Type="http://schemas.openxmlformats.org/officeDocument/2006/relationships/oleObject" Target="../embeddings/oleObject18.bin"/><Relationship Id="rId24" Type="http://schemas.openxmlformats.org/officeDocument/2006/relationships/image" Target="../media/image27.png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23" Type="http://schemas.openxmlformats.org/officeDocument/2006/relationships/oleObject" Target="../embeddings/oleObject24.bin"/><Relationship Id="rId28" Type="http://schemas.openxmlformats.org/officeDocument/2006/relationships/image" Target="../media/image29.png"/><Relationship Id="rId10" Type="http://schemas.openxmlformats.org/officeDocument/2006/relationships/image" Target="../media/image20.png"/><Relationship Id="rId19" Type="http://schemas.openxmlformats.org/officeDocument/2006/relationships/oleObject" Target="../embeddings/oleObject22.bin"/><Relationship Id="rId4" Type="http://schemas.openxmlformats.org/officeDocument/2006/relationships/image" Target="../media/image17.png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2.png"/><Relationship Id="rId22" Type="http://schemas.openxmlformats.org/officeDocument/2006/relationships/image" Target="../media/image26.png"/><Relationship Id="rId27" Type="http://schemas.openxmlformats.org/officeDocument/2006/relationships/oleObject" Target="../embeddings/oleObject26.bin"/><Relationship Id="rId30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2.png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34.png"/><Relationship Id="rId4" Type="http://schemas.openxmlformats.org/officeDocument/2006/relationships/oleObject" Target="../embeddings/oleObject31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21AF71F-477F-4F66-8493-16217C4AD501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 smtClean="0"/>
          </a:p>
        </p:txBody>
      </p:sp>
      <p:sp>
        <p:nvSpPr>
          <p:cNvPr id="2051" name="Text Box 4"/>
          <p:cNvSpPr txBox="1">
            <a:spLocks noChangeArrowheads="1"/>
          </p:cNvSpPr>
          <p:nvPr/>
        </p:nvSpPr>
        <p:spPr bwMode="auto">
          <a:xfrm>
            <a:off x="727075" y="2074863"/>
            <a:ext cx="7775575" cy="173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b="1">
                <a:latin typeface="黑体" pitchFamily="2" charset="-122"/>
                <a:ea typeface="黑体" pitchFamily="2" charset="-122"/>
              </a:rPr>
              <a:t>计算机辅助绘图基础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ea typeface="黑体" pitchFamily="2" charset="-122"/>
              </a:rPr>
              <a:t>Fundamentals of Computer Aided Drafting</a:t>
            </a:r>
            <a:r>
              <a:rPr lang="en-US" altLang="zh-CN" sz="4400" b="1">
                <a:ea typeface="黑体" pitchFamily="2" charset="-122"/>
              </a:rPr>
              <a:t> </a:t>
            </a:r>
            <a:r>
              <a:rPr lang="en-US" altLang="zh-CN" sz="5400" b="1">
                <a:latin typeface="黑体" pitchFamily="2" charset="-122"/>
                <a:ea typeface="黑体" pitchFamily="2" charset="-122"/>
              </a:rPr>
              <a:t>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8869F15-3A29-4CD1-9B85-53B63B33C717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 smtClean="0"/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236538" y="107950"/>
            <a:ext cx="8543925" cy="625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800" b="1">
                <a:ea typeface="黑体" pitchFamily="2" charset="-122"/>
              </a:rPr>
              <a:t>一．绘图环境简介</a:t>
            </a:r>
            <a:endParaRPr lang="zh-CN" altLang="en-US" sz="4800" b="1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400" b="1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 b="1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    计算机辅助设计是信息技术在工业领域的一项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重要应用，是现代设计工程的一项关键技术。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 b="1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    计算机辅助设计，</a:t>
            </a:r>
            <a:r>
              <a:rPr lang="zh-CN" altLang="en-US" sz="2800" b="1">
                <a:ea typeface="黑体" pitchFamily="2" charset="-122"/>
              </a:rPr>
              <a:t>“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Computer Aided Design</a:t>
            </a:r>
            <a:r>
              <a:rPr lang="en-US" altLang="zh-CN" sz="2800" b="1">
                <a:ea typeface="黑体" pitchFamily="2" charset="-122"/>
              </a:rPr>
              <a:t>”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简写为</a:t>
            </a:r>
            <a:r>
              <a:rPr lang="zh-CN" altLang="en-US" sz="2800" b="1">
                <a:ea typeface="黑体" pitchFamily="2" charset="-122"/>
              </a:rPr>
              <a:t>“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CAD</a:t>
            </a:r>
            <a:r>
              <a:rPr lang="en-US" altLang="zh-CN" sz="2800" b="1">
                <a:ea typeface="黑体" pitchFamily="2" charset="-122"/>
              </a:rPr>
              <a:t>”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，是指利用计算机的计算功能和高效的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图形处理能力，对产品进行辅助设计、分析、优化、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工程绘图等。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 b="1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AutoCAD 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是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Autodesk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公司开发的一个二、三维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交互式图形软件系统。是我国目前应用最广的图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形软件之一。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2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2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411F626-56BE-4FCF-B8A3-3C195182A73F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 smtClean="0"/>
          </a:p>
        </p:txBody>
      </p:sp>
      <p:sp>
        <p:nvSpPr>
          <p:cNvPr id="4099" name="Rectangle 2"/>
          <p:cNvSpPr>
            <a:spLocks noChangeArrowheads="1"/>
          </p:cNvSpPr>
          <p:nvPr/>
        </p:nvSpPr>
        <p:spPr bwMode="auto">
          <a:xfrm>
            <a:off x="169863" y="141288"/>
            <a:ext cx="8232775" cy="65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1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4000" b="1">
                <a:latin typeface="黑体" pitchFamily="2" charset="-122"/>
                <a:ea typeface="黑体" pitchFamily="2" charset="-122"/>
              </a:rPr>
              <a:t>．</a:t>
            </a:r>
            <a:r>
              <a:rPr lang="en-US" altLang="zh-CN" sz="4000" b="1">
                <a:ea typeface="黑体" pitchFamily="2" charset="-122"/>
              </a:rPr>
              <a:t>AutoCAD</a:t>
            </a:r>
            <a:r>
              <a:rPr lang="zh-CN" altLang="en-US" sz="4000" b="1">
                <a:ea typeface="黑体" pitchFamily="2" charset="-122"/>
              </a:rPr>
              <a:t>的界面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    </a:t>
            </a:r>
            <a:endParaRPr lang="zh-CN" altLang="en-US" sz="2800" b="1"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410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3" y="1116013"/>
            <a:ext cx="8763000" cy="4929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B248020-11A3-4691-95DA-2F99A868C2F2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 smtClean="0"/>
          </a:p>
        </p:txBody>
      </p:sp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233363" y="257175"/>
            <a:ext cx="8647112" cy="618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坐标及坐标系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b="1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世界坐标系</a:t>
            </a:r>
            <a:r>
              <a:rPr lang="en-US" altLang="zh-CN" sz="2400" b="1">
                <a:ea typeface="黑体" pitchFamily="2" charset="-122"/>
              </a:rPr>
              <a:t>(WCS</a:t>
            </a:r>
            <a:r>
              <a:rPr lang="zh-CN" altLang="en-US" sz="2400" b="1">
                <a:ea typeface="黑体" pitchFamily="2" charset="-122"/>
              </a:rPr>
              <a:t>－</a:t>
            </a:r>
            <a:r>
              <a:rPr lang="en-US" altLang="zh-CN" sz="2400" b="1">
                <a:ea typeface="黑体" pitchFamily="2" charset="-122"/>
              </a:rPr>
              <a:t>world coordinate system)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黑体" pitchFamily="2" charset="-122"/>
                <a:ea typeface="黑体" pitchFamily="2" charset="-122"/>
              </a:rPr>
              <a:t>WCS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的原点在图形区的左下角点，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X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轴水平向右，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Y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轴垂直向上。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坐标的输入方式：绝对坐标 </a:t>
            </a:r>
            <a:r>
              <a:rPr lang="en-US" altLang="zh-CN" sz="2400" b="1" i="1">
                <a:ea typeface="黑体" pitchFamily="2" charset="-122"/>
              </a:rPr>
              <a:t>x,y   </a:t>
            </a:r>
            <a:r>
              <a:rPr lang="zh-CN" altLang="en-US" sz="2400" b="1">
                <a:ea typeface="黑体" pitchFamily="2" charset="-122"/>
              </a:rPr>
              <a:t>例如：</a:t>
            </a:r>
            <a:r>
              <a:rPr lang="en-US" altLang="zh-CN" sz="2400" b="1"/>
              <a:t>125,60</a:t>
            </a:r>
            <a:r>
              <a:rPr lang="en-US" altLang="zh-CN" sz="2400"/>
              <a:t> </a:t>
            </a:r>
            <a:endParaRPr lang="en-US" altLang="zh-CN" sz="2400" b="1" i="1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黑体" pitchFamily="2" charset="-122"/>
                <a:ea typeface="黑体" pitchFamily="2" charset="-122"/>
              </a:rPr>
              <a:t>                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相对坐标 </a:t>
            </a:r>
            <a:r>
              <a:rPr lang="en-US" altLang="zh-CN" sz="2400" b="1" i="1">
                <a:ea typeface="黑体" pitchFamily="2" charset="-122"/>
              </a:rPr>
              <a:t>@dx</a:t>
            </a:r>
            <a:r>
              <a:rPr lang="en-US" altLang="zh-CN" sz="2400" b="1">
                <a:ea typeface="黑体" pitchFamily="2" charset="-122"/>
              </a:rPr>
              <a:t>,</a:t>
            </a:r>
            <a:r>
              <a:rPr lang="en-US" altLang="zh-CN" sz="2400" b="1" i="1">
                <a:ea typeface="黑体" pitchFamily="2" charset="-122"/>
              </a:rPr>
              <a:t>dy  </a:t>
            </a:r>
            <a:r>
              <a:rPr lang="zh-CN" altLang="en-US" sz="2400" b="1">
                <a:ea typeface="黑体" pitchFamily="2" charset="-122"/>
              </a:rPr>
              <a:t>例如：</a:t>
            </a:r>
            <a:r>
              <a:rPr lang="en-US" altLang="zh-CN" sz="2400" b="1">
                <a:ea typeface="黑体" pitchFamily="2" charset="-122"/>
              </a:rPr>
              <a:t>@10,10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b="1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角度的输入方式：单位</a:t>
            </a:r>
            <a:r>
              <a:rPr lang="zh-CN" altLang="en-US" sz="2400" b="1">
                <a:ea typeface="黑体" pitchFamily="2" charset="-122"/>
              </a:rPr>
              <a:t>“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度</a:t>
            </a:r>
            <a:r>
              <a:rPr lang="zh-CN" altLang="en-US" sz="2400" b="1">
                <a:ea typeface="黑体" pitchFamily="2" charset="-122"/>
              </a:rPr>
              <a:t>”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，逆时针方向。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极坐标输入方式：例如：  </a:t>
            </a:r>
            <a:r>
              <a:rPr lang="en-US" altLang="zh-CN" sz="2400" b="1">
                <a:ea typeface="黑体" pitchFamily="2" charset="-122"/>
              </a:rPr>
              <a:t>100&lt;60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（绝对坐标）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                      </a:t>
            </a:r>
            <a:r>
              <a:rPr lang="en-US" altLang="zh-CN" sz="2400" b="1">
                <a:ea typeface="黑体" pitchFamily="2" charset="-122"/>
              </a:rPr>
              <a:t>@100&lt;60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（相对坐标）</a:t>
            </a:r>
          </a:p>
        </p:txBody>
      </p:sp>
      <p:grpSp>
        <p:nvGrpSpPr>
          <p:cNvPr id="5124" name="Group 14"/>
          <p:cNvGrpSpPr>
            <a:grpSpLocks/>
          </p:cNvGrpSpPr>
          <p:nvPr/>
        </p:nvGrpSpPr>
        <p:grpSpPr bwMode="auto">
          <a:xfrm>
            <a:off x="5678488" y="3475038"/>
            <a:ext cx="2525712" cy="2208212"/>
            <a:chOff x="1729" y="2260"/>
            <a:chExt cx="1591" cy="1391"/>
          </a:xfrm>
        </p:grpSpPr>
        <p:sp>
          <p:nvSpPr>
            <p:cNvPr id="5125" name="Line 5"/>
            <p:cNvSpPr>
              <a:spLocks noChangeShapeType="1"/>
            </p:cNvSpPr>
            <p:nvPr/>
          </p:nvSpPr>
          <p:spPr bwMode="auto">
            <a:xfrm>
              <a:off x="1940" y="3075"/>
              <a:ext cx="114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6" name="Line 6"/>
            <p:cNvSpPr>
              <a:spLocks noChangeShapeType="1"/>
            </p:cNvSpPr>
            <p:nvPr/>
          </p:nvSpPr>
          <p:spPr bwMode="auto">
            <a:xfrm flipV="1">
              <a:off x="1930" y="2260"/>
              <a:ext cx="818" cy="8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7" name="Line 7"/>
            <p:cNvSpPr>
              <a:spLocks noChangeShapeType="1"/>
            </p:cNvSpPr>
            <p:nvPr/>
          </p:nvSpPr>
          <p:spPr bwMode="auto">
            <a:xfrm>
              <a:off x="1930" y="3078"/>
              <a:ext cx="992" cy="5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8" name="Arc 8"/>
            <p:cNvSpPr>
              <a:spLocks/>
            </p:cNvSpPr>
            <p:nvPr/>
          </p:nvSpPr>
          <p:spPr bwMode="auto">
            <a:xfrm>
              <a:off x="1935" y="2514"/>
              <a:ext cx="786" cy="562"/>
            </a:xfrm>
            <a:custGeom>
              <a:avLst/>
              <a:gdLst>
                <a:gd name="T0" fmla="*/ 0 w 21600"/>
                <a:gd name="T1" fmla="*/ 0 h 15437"/>
                <a:gd name="T2" fmla="*/ 0 w 21600"/>
                <a:gd name="T3" fmla="*/ 0 h 15437"/>
                <a:gd name="T4" fmla="*/ 0 w 21600"/>
                <a:gd name="T5" fmla="*/ 0 h 15437"/>
                <a:gd name="T6" fmla="*/ 0 60000 65536"/>
                <a:gd name="T7" fmla="*/ 0 60000 65536"/>
                <a:gd name="T8" fmla="*/ 0 60000 65536"/>
                <a:gd name="T9" fmla="*/ 0 w 21600"/>
                <a:gd name="T10" fmla="*/ 0 h 15437"/>
                <a:gd name="T11" fmla="*/ 21600 w 21600"/>
                <a:gd name="T12" fmla="*/ 15437 h 154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5437" fill="none" extrusionOk="0">
                  <a:moveTo>
                    <a:pt x="15108" y="-1"/>
                  </a:moveTo>
                  <a:cubicBezTo>
                    <a:pt x="19259" y="4063"/>
                    <a:pt x="21600" y="9627"/>
                    <a:pt x="21600" y="15437"/>
                  </a:cubicBezTo>
                </a:path>
                <a:path w="21600" h="15437" stroke="0" extrusionOk="0">
                  <a:moveTo>
                    <a:pt x="15108" y="-1"/>
                  </a:moveTo>
                  <a:cubicBezTo>
                    <a:pt x="19259" y="4063"/>
                    <a:pt x="21600" y="9627"/>
                    <a:pt x="21600" y="15437"/>
                  </a:cubicBezTo>
                  <a:lnTo>
                    <a:pt x="0" y="15437"/>
                  </a:lnTo>
                  <a:lnTo>
                    <a:pt x="15108" y="-1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sm" len="lg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9" name="Arc 9"/>
            <p:cNvSpPr>
              <a:spLocks/>
            </p:cNvSpPr>
            <p:nvPr/>
          </p:nvSpPr>
          <p:spPr bwMode="auto">
            <a:xfrm flipV="1">
              <a:off x="1934" y="3077"/>
              <a:ext cx="786" cy="392"/>
            </a:xfrm>
            <a:custGeom>
              <a:avLst/>
              <a:gdLst>
                <a:gd name="T0" fmla="*/ 0 w 21600"/>
                <a:gd name="T1" fmla="*/ 0 h 10760"/>
                <a:gd name="T2" fmla="*/ 0 w 21600"/>
                <a:gd name="T3" fmla="*/ 0 h 10760"/>
                <a:gd name="T4" fmla="*/ 0 w 21600"/>
                <a:gd name="T5" fmla="*/ 0 h 10760"/>
                <a:gd name="T6" fmla="*/ 0 60000 65536"/>
                <a:gd name="T7" fmla="*/ 0 60000 65536"/>
                <a:gd name="T8" fmla="*/ 0 60000 65536"/>
                <a:gd name="T9" fmla="*/ 0 w 21600"/>
                <a:gd name="T10" fmla="*/ 0 h 10760"/>
                <a:gd name="T11" fmla="*/ 21600 w 21600"/>
                <a:gd name="T12" fmla="*/ 10760 h 107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0760" fill="none" extrusionOk="0">
                  <a:moveTo>
                    <a:pt x="18729" y="-1"/>
                  </a:moveTo>
                  <a:cubicBezTo>
                    <a:pt x="20610" y="3274"/>
                    <a:pt x="21600" y="6984"/>
                    <a:pt x="21600" y="10760"/>
                  </a:cubicBezTo>
                </a:path>
                <a:path w="21600" h="10760" stroke="0" extrusionOk="0">
                  <a:moveTo>
                    <a:pt x="18729" y="-1"/>
                  </a:moveTo>
                  <a:cubicBezTo>
                    <a:pt x="20610" y="3274"/>
                    <a:pt x="21600" y="6984"/>
                    <a:pt x="21600" y="10760"/>
                  </a:cubicBezTo>
                  <a:lnTo>
                    <a:pt x="0" y="10760"/>
                  </a:lnTo>
                  <a:lnTo>
                    <a:pt x="18729" y="-1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sm" len="lg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0" name="Text Box 10"/>
            <p:cNvSpPr txBox="1">
              <a:spLocks noChangeArrowheads="1"/>
            </p:cNvSpPr>
            <p:nvPr/>
          </p:nvSpPr>
          <p:spPr bwMode="auto">
            <a:xfrm>
              <a:off x="2631" y="2612"/>
              <a:ext cx="3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1800" i="1">
                  <a:latin typeface="ISOCPEUR" pitchFamily="34" charset="0"/>
                </a:rPr>
                <a:t>45</a:t>
              </a:r>
              <a:r>
                <a:rPr kumimoji="0" lang="en-US" altLang="zh-CN" sz="1800" i="1">
                  <a:latin typeface="ISOCPEUR" pitchFamily="34" charset="0"/>
                  <a:cs typeface="ISOCP" pitchFamily="2" charset="0"/>
                </a:rPr>
                <a:t>̊ </a:t>
              </a:r>
            </a:p>
          </p:txBody>
        </p:sp>
        <p:sp>
          <p:nvSpPr>
            <p:cNvPr id="5131" name="Text Box 11"/>
            <p:cNvSpPr txBox="1">
              <a:spLocks noChangeArrowheads="1"/>
            </p:cNvSpPr>
            <p:nvPr/>
          </p:nvSpPr>
          <p:spPr bwMode="auto">
            <a:xfrm>
              <a:off x="2655" y="3169"/>
              <a:ext cx="37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1800" i="1">
                  <a:latin typeface="ISOCPEUR" pitchFamily="34" charset="0"/>
                </a:rPr>
                <a:t>-30</a:t>
              </a:r>
              <a:r>
                <a:rPr kumimoji="0" lang="en-US" altLang="zh-CN" sz="1800" i="1">
                  <a:latin typeface="ISOCPEUR" pitchFamily="34" charset="0"/>
                  <a:cs typeface="ISOCP" pitchFamily="2" charset="0"/>
                </a:rPr>
                <a:t>̊ </a:t>
              </a:r>
            </a:p>
          </p:txBody>
        </p:sp>
        <p:sp>
          <p:nvSpPr>
            <p:cNvPr id="5132" name="Text Box 12"/>
            <p:cNvSpPr txBox="1">
              <a:spLocks noChangeArrowheads="1"/>
            </p:cNvSpPr>
            <p:nvPr/>
          </p:nvSpPr>
          <p:spPr bwMode="auto">
            <a:xfrm>
              <a:off x="3079" y="2953"/>
              <a:ext cx="24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1800" i="1">
                  <a:latin typeface="ISOCPEUR" pitchFamily="34" charset="0"/>
                </a:rPr>
                <a:t>0</a:t>
              </a:r>
              <a:r>
                <a:rPr kumimoji="0" lang="en-US" altLang="zh-CN" sz="1800" i="1">
                  <a:latin typeface="ISOCPEUR" pitchFamily="34" charset="0"/>
                  <a:cs typeface="ISOCP" pitchFamily="2" charset="0"/>
                </a:rPr>
                <a:t>̊ </a:t>
              </a:r>
            </a:p>
          </p:txBody>
        </p:sp>
        <p:sp>
          <p:nvSpPr>
            <p:cNvPr id="5133" name="Text Box 13"/>
            <p:cNvSpPr txBox="1">
              <a:spLocks noChangeArrowheads="1"/>
            </p:cNvSpPr>
            <p:nvPr/>
          </p:nvSpPr>
          <p:spPr bwMode="auto">
            <a:xfrm>
              <a:off x="1729" y="2947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1800" i="1">
                  <a:latin typeface="ISOCPEUR" pitchFamily="34" charset="0"/>
                </a:rPr>
                <a:t>O</a:t>
              </a:r>
              <a:endParaRPr kumimoji="0" lang="en-US" altLang="zh-CN" sz="1800" i="1">
                <a:latin typeface="ISOCPEUR" pitchFamily="34" charset="0"/>
                <a:cs typeface="ISOCP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774DB69-5BCB-4B1D-A796-0895CD3CE5AE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 smtClean="0"/>
          </a:p>
        </p:txBody>
      </p:sp>
      <p:sp>
        <p:nvSpPr>
          <p:cNvPr id="156674" name="Rectangle 2"/>
          <p:cNvSpPr>
            <a:spLocks noChangeArrowheads="1"/>
          </p:cNvSpPr>
          <p:nvPr/>
        </p:nvSpPr>
        <p:spPr bwMode="auto">
          <a:xfrm>
            <a:off x="352425" y="317500"/>
            <a:ext cx="8802688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tabLst>
                <a:tab pos="304800" algn="l"/>
                <a:tab pos="342900" algn="l"/>
              </a:tabLst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tabLst>
                <a:tab pos="304800" algn="l"/>
                <a:tab pos="342900" algn="l"/>
              </a:tabLs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tabLst>
                <a:tab pos="304800" algn="l"/>
                <a:tab pos="3429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kumimoji="0" lang="zh-CN" altLang="en-US" b="1">
                <a:latin typeface="Arial Unicode MS" pitchFamily="34" charset="-122"/>
                <a:ea typeface="黑体" pitchFamily="2" charset="-122"/>
              </a:rPr>
              <a:t>输入形式（绝对坐标或相对坐标）</a:t>
            </a:r>
          </a:p>
        </p:txBody>
      </p:sp>
      <p:sp>
        <p:nvSpPr>
          <p:cNvPr id="156675" name="Rectangle 3"/>
          <p:cNvSpPr>
            <a:spLocks noChangeArrowheads="1"/>
          </p:cNvSpPr>
          <p:nvPr/>
        </p:nvSpPr>
        <p:spPr bwMode="auto">
          <a:xfrm>
            <a:off x="341313" y="998538"/>
            <a:ext cx="4370387" cy="206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① 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笛卡儿坐标输入示例：</a:t>
            </a:r>
          </a:p>
          <a:p>
            <a:pPr eaLnBrk="1" hangingPunct="1">
              <a:buFontTx/>
              <a:buNone/>
            </a:pP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绝对坐标：点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A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的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X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坐标为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100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               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Y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坐标为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80</a:t>
            </a:r>
          </a:p>
          <a:p>
            <a:pPr eaLnBrk="1" hangingPunct="1">
              <a:buFontTx/>
              <a:buNone/>
            </a:pP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          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表示为：</a:t>
            </a:r>
            <a:r>
              <a:rPr kumimoji="0" lang="en-US" altLang="zh-CN" sz="2400" b="1" u="sng">
                <a:latin typeface="黑体" pitchFamily="2" charset="-122"/>
                <a:ea typeface="黑体" pitchFamily="2" charset="-122"/>
              </a:rPr>
              <a:t>100</a:t>
            </a:r>
            <a:r>
              <a:rPr kumimoji="0" lang="zh-CN" altLang="en-US" sz="2400" b="1" u="sng">
                <a:latin typeface="黑体" pitchFamily="2" charset="-122"/>
                <a:ea typeface="黑体" pitchFamily="2" charset="-122"/>
              </a:rPr>
              <a:t>，</a:t>
            </a:r>
            <a:r>
              <a:rPr kumimoji="0" lang="en-US" altLang="zh-CN" sz="2400" b="1" u="sng">
                <a:latin typeface="黑体" pitchFamily="2" charset="-122"/>
                <a:ea typeface="黑体" pitchFamily="2" charset="-122"/>
              </a:rPr>
              <a:t>80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en-US" altLang="zh-CN" sz="2400" b="1"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156676" name="Object 4"/>
          <p:cNvGraphicFramePr>
            <a:graphicFrameLocks noChangeAspect="1"/>
          </p:cNvGraphicFramePr>
          <p:nvPr/>
        </p:nvGraphicFramePr>
        <p:xfrm>
          <a:off x="4922838" y="1254125"/>
          <a:ext cx="3373437" cy="294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位图图像" r:id="rId3" imgW="4600000" imgH="4009524" progId="Paint.Picture">
                  <p:embed/>
                </p:oleObj>
              </mc:Choice>
              <mc:Fallback>
                <p:oleObj name="位图图像" r:id="rId3" imgW="4600000" imgH="4009524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838" y="1254125"/>
                        <a:ext cx="3373437" cy="294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77" name="Rectangle 5"/>
          <p:cNvSpPr>
            <a:spLocks noChangeArrowheads="1"/>
          </p:cNvSpPr>
          <p:nvPr/>
        </p:nvSpPr>
        <p:spPr bwMode="auto">
          <a:xfrm>
            <a:off x="319088" y="3130550"/>
            <a:ext cx="457200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相对坐标：点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B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相对于点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A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          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X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坐标位移为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100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          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Y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坐标位移为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80</a:t>
            </a:r>
          </a:p>
          <a:p>
            <a:pPr eaLnBrk="1" hangingPunct="1">
              <a:buFontTx/>
              <a:buNone/>
            </a:pP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          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表示为：</a:t>
            </a:r>
            <a:r>
              <a:rPr kumimoji="0" lang="en-US" altLang="zh-CN" sz="2400" b="1" u="sng">
                <a:latin typeface="黑体" pitchFamily="2" charset="-122"/>
                <a:ea typeface="黑体" pitchFamily="2" charset="-122"/>
              </a:rPr>
              <a:t>@100</a:t>
            </a:r>
            <a:r>
              <a:rPr kumimoji="0" lang="zh-CN" altLang="en-US" sz="2400" b="1" u="sng">
                <a:latin typeface="黑体" pitchFamily="2" charset="-122"/>
                <a:ea typeface="黑体" pitchFamily="2" charset="-122"/>
              </a:rPr>
              <a:t>，</a:t>
            </a:r>
            <a:r>
              <a:rPr kumimoji="0" lang="en-US" altLang="zh-CN" sz="2400" b="1" u="sng">
                <a:latin typeface="黑体" pitchFamily="2" charset="-122"/>
                <a:ea typeface="黑体" pitchFamily="2" charset="-122"/>
              </a:rPr>
              <a:t>80</a:t>
            </a:r>
            <a:endParaRPr kumimoji="0" lang="en-US" altLang="zh-CN" sz="2400" b="1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6678" name="Line 6"/>
          <p:cNvSpPr>
            <a:spLocks noChangeShapeType="1"/>
          </p:cNvSpPr>
          <p:nvPr/>
        </p:nvSpPr>
        <p:spPr bwMode="auto">
          <a:xfrm flipV="1">
            <a:off x="6621463" y="2857500"/>
            <a:ext cx="0" cy="1060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6679" name="Line 7"/>
          <p:cNvSpPr>
            <a:spLocks noChangeShapeType="1"/>
          </p:cNvSpPr>
          <p:nvPr/>
        </p:nvSpPr>
        <p:spPr bwMode="auto">
          <a:xfrm>
            <a:off x="5289550" y="2860675"/>
            <a:ext cx="1327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6680" name="Text Box 8"/>
          <p:cNvSpPr txBox="1">
            <a:spLocks noChangeArrowheads="1"/>
          </p:cNvSpPr>
          <p:nvPr/>
        </p:nvSpPr>
        <p:spPr bwMode="auto">
          <a:xfrm>
            <a:off x="6340475" y="2530475"/>
            <a:ext cx="322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1800" b="1" i="1">
                <a:latin typeface="ISOCPEUR" pitchFamily="34" charset="0"/>
              </a:rPr>
              <a:t>A</a:t>
            </a:r>
          </a:p>
        </p:txBody>
      </p:sp>
      <p:sp>
        <p:nvSpPr>
          <p:cNvPr id="156681" name="Line 9"/>
          <p:cNvSpPr>
            <a:spLocks noChangeShapeType="1"/>
          </p:cNvSpPr>
          <p:nvPr/>
        </p:nvSpPr>
        <p:spPr bwMode="auto">
          <a:xfrm>
            <a:off x="6618288" y="2860675"/>
            <a:ext cx="1327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6682" name="Line 10"/>
          <p:cNvSpPr>
            <a:spLocks noChangeShapeType="1"/>
          </p:cNvSpPr>
          <p:nvPr/>
        </p:nvSpPr>
        <p:spPr bwMode="auto">
          <a:xfrm flipV="1">
            <a:off x="7945438" y="1785938"/>
            <a:ext cx="0" cy="1073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6683" name="Text Box 11"/>
          <p:cNvSpPr txBox="1">
            <a:spLocks noChangeArrowheads="1"/>
          </p:cNvSpPr>
          <p:nvPr/>
        </p:nvSpPr>
        <p:spPr bwMode="auto">
          <a:xfrm>
            <a:off x="7675563" y="1439863"/>
            <a:ext cx="3063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1800" b="1" i="1">
                <a:latin typeface="ISOCPEUR" pitchFamily="34" charset="0"/>
              </a:rPr>
              <a:t>B</a:t>
            </a:r>
          </a:p>
        </p:txBody>
      </p:sp>
      <p:sp>
        <p:nvSpPr>
          <p:cNvPr id="156684" name="Oval 12"/>
          <p:cNvSpPr>
            <a:spLocks noChangeArrowheads="1"/>
          </p:cNvSpPr>
          <p:nvPr/>
        </p:nvSpPr>
        <p:spPr bwMode="auto">
          <a:xfrm>
            <a:off x="6584950" y="2824163"/>
            <a:ext cx="71438" cy="71437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56685" name="Oval 13"/>
          <p:cNvSpPr>
            <a:spLocks noChangeArrowheads="1"/>
          </p:cNvSpPr>
          <p:nvPr/>
        </p:nvSpPr>
        <p:spPr bwMode="auto">
          <a:xfrm>
            <a:off x="7907338" y="1755775"/>
            <a:ext cx="71437" cy="7143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56686" name="Text Box 14"/>
          <p:cNvSpPr txBox="1">
            <a:spLocks noChangeArrowheads="1"/>
          </p:cNvSpPr>
          <p:nvPr/>
        </p:nvSpPr>
        <p:spPr bwMode="auto">
          <a:xfrm>
            <a:off x="6975475" y="2525713"/>
            <a:ext cx="6572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1800" b="1" i="1">
                <a:latin typeface="ISOCPEUR" pitchFamily="34" charset="0"/>
              </a:rPr>
              <a:t>100  </a:t>
            </a:r>
          </a:p>
        </p:txBody>
      </p:sp>
      <p:sp>
        <p:nvSpPr>
          <p:cNvPr id="156687" name="Text Box 15"/>
          <p:cNvSpPr txBox="1">
            <a:spLocks noChangeArrowheads="1"/>
          </p:cNvSpPr>
          <p:nvPr/>
        </p:nvSpPr>
        <p:spPr bwMode="auto">
          <a:xfrm>
            <a:off x="7897813" y="2100263"/>
            <a:ext cx="673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1800" b="1" i="1">
                <a:latin typeface="ISOCPEUR" pitchFamily="34" charset="0"/>
              </a:rPr>
              <a:t>80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6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6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56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4" grpId="0"/>
      <p:bldP spid="156675" grpId="0" build="p"/>
      <p:bldP spid="156677" grpId="0" build="p"/>
      <p:bldP spid="156678" grpId="0" animBg="1"/>
      <p:bldP spid="156679" grpId="0" animBg="1"/>
      <p:bldP spid="156680" grpId="0"/>
      <p:bldP spid="156681" grpId="0" animBg="1"/>
      <p:bldP spid="156682" grpId="0" animBg="1"/>
      <p:bldP spid="156683" grpId="0"/>
      <p:bldP spid="156684" grpId="0" animBg="1"/>
      <p:bldP spid="156685" grpId="0" animBg="1"/>
      <p:bldP spid="156686" grpId="0"/>
      <p:bldP spid="15668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2F1CF8D-F0B3-4628-BA7C-F01CF7D50118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 smtClean="0"/>
          </a:p>
        </p:txBody>
      </p:sp>
      <p:pic>
        <p:nvPicPr>
          <p:cNvPr id="157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838" y="1254125"/>
            <a:ext cx="3373437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7700" name="Rectangle 4"/>
          <p:cNvSpPr>
            <a:spLocks noChangeArrowheads="1"/>
          </p:cNvSpPr>
          <p:nvPr/>
        </p:nvSpPr>
        <p:spPr bwMode="auto">
          <a:xfrm>
            <a:off x="341313" y="998538"/>
            <a:ext cx="8802687" cy="164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② 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极坐标输入示例：</a:t>
            </a:r>
          </a:p>
          <a:p>
            <a:pPr eaLnBrk="1" hangingPunct="1">
              <a:buFontTx/>
              <a:buNone/>
            </a:pP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绝对坐标：点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C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的矢径为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125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               极角为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60</a:t>
            </a:r>
            <a:r>
              <a:rPr kumimoji="0" lang="ar-SA" altLang="zh-CN" sz="2400" b="1">
                <a:latin typeface="黑体" pitchFamily="2" charset="-122"/>
                <a:ea typeface="黑体" pitchFamily="2" charset="-122"/>
                <a:cs typeface="Arial" charset="0"/>
              </a:rPr>
              <a:t>ْ</a:t>
            </a:r>
            <a:endParaRPr kumimoji="0" lang="en-US" altLang="zh-CN" sz="2400" b="1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          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表示为：</a:t>
            </a:r>
            <a:r>
              <a:rPr kumimoji="0" lang="en-US" altLang="zh-CN" sz="2400" b="1" u="sng">
                <a:latin typeface="黑体" pitchFamily="2" charset="-122"/>
                <a:ea typeface="黑体" pitchFamily="2" charset="-122"/>
              </a:rPr>
              <a:t>125&lt; 60</a:t>
            </a:r>
            <a:endParaRPr kumimoji="0" lang="en-US" altLang="zh-CN" sz="2400" b="1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7701" name="Rectangle 5"/>
          <p:cNvSpPr>
            <a:spLocks noChangeArrowheads="1"/>
          </p:cNvSpPr>
          <p:nvPr/>
        </p:nvSpPr>
        <p:spPr bwMode="auto">
          <a:xfrm>
            <a:off x="341313" y="3144838"/>
            <a:ext cx="8802687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相对坐标：点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D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相对于点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C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          位移矢径为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125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          极角为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60</a:t>
            </a:r>
            <a:r>
              <a:rPr kumimoji="0" lang="ar-SA" altLang="zh-CN" sz="2400" b="1">
                <a:latin typeface="黑体" pitchFamily="2" charset="-122"/>
                <a:cs typeface="Arial" charset="0"/>
              </a:rPr>
              <a:t>ْ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          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表示为：</a:t>
            </a:r>
            <a:r>
              <a:rPr kumimoji="0" lang="en-US" altLang="zh-CN" sz="2400" b="1" u="sng">
                <a:latin typeface="黑体" pitchFamily="2" charset="-122"/>
                <a:ea typeface="黑体" pitchFamily="2" charset="-122"/>
              </a:rPr>
              <a:t>@125&lt; 60</a:t>
            </a:r>
          </a:p>
        </p:txBody>
      </p:sp>
      <p:sp>
        <p:nvSpPr>
          <p:cNvPr id="157702" name="Text Box 6"/>
          <p:cNvSpPr txBox="1">
            <a:spLocks noChangeArrowheads="1"/>
          </p:cNvSpPr>
          <p:nvPr/>
        </p:nvSpPr>
        <p:spPr bwMode="auto">
          <a:xfrm>
            <a:off x="5781675" y="2168525"/>
            <a:ext cx="3825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1800" b="1" i="1">
                <a:latin typeface="ISOCPEUR" pitchFamily="34" charset="0"/>
              </a:rPr>
              <a:t>C </a:t>
            </a:r>
          </a:p>
        </p:txBody>
      </p:sp>
      <p:sp>
        <p:nvSpPr>
          <p:cNvPr id="157703" name="Text Box 7"/>
          <p:cNvSpPr txBox="1">
            <a:spLocks noChangeArrowheads="1"/>
          </p:cNvSpPr>
          <p:nvPr/>
        </p:nvSpPr>
        <p:spPr bwMode="auto">
          <a:xfrm>
            <a:off x="5426075" y="2741613"/>
            <a:ext cx="6572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1800" b="1" i="1">
                <a:latin typeface="ISOCPEUR" pitchFamily="34" charset="0"/>
              </a:rPr>
              <a:t>125  </a:t>
            </a:r>
          </a:p>
        </p:txBody>
      </p:sp>
      <p:sp>
        <p:nvSpPr>
          <p:cNvPr id="157704" name="Text Box 8"/>
          <p:cNvSpPr txBox="1">
            <a:spLocks noChangeArrowheads="1"/>
          </p:cNvSpPr>
          <p:nvPr/>
        </p:nvSpPr>
        <p:spPr bwMode="auto">
          <a:xfrm>
            <a:off x="5827713" y="3370263"/>
            <a:ext cx="673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1800" b="1" i="1">
                <a:latin typeface="ISOCPEUR" pitchFamily="34" charset="0"/>
              </a:rPr>
              <a:t>60</a:t>
            </a:r>
            <a:r>
              <a:rPr kumimoji="0" lang="en-US" altLang="zh-CN" sz="1800" b="1" i="1">
                <a:latin typeface="ISOCP" pitchFamily="2" charset="0"/>
                <a:cs typeface="ISOCP" pitchFamily="2" charset="0"/>
              </a:rPr>
              <a:t>̊</a:t>
            </a:r>
            <a:r>
              <a:rPr kumimoji="0" lang="en-US" altLang="zh-CN" sz="1800" b="1" i="1">
                <a:latin typeface="ISOCPEUR" pitchFamily="34" charset="0"/>
              </a:rPr>
              <a:t>   </a:t>
            </a:r>
          </a:p>
        </p:txBody>
      </p:sp>
      <p:sp>
        <p:nvSpPr>
          <p:cNvPr id="157705" name="Arc 9"/>
          <p:cNvSpPr>
            <a:spLocks/>
          </p:cNvSpPr>
          <p:nvPr/>
        </p:nvSpPr>
        <p:spPr bwMode="auto">
          <a:xfrm>
            <a:off x="5283200" y="3368675"/>
            <a:ext cx="628650" cy="542925"/>
          </a:xfrm>
          <a:custGeom>
            <a:avLst/>
            <a:gdLst>
              <a:gd name="T0" fmla="*/ 2147483647 w 21600"/>
              <a:gd name="T1" fmla="*/ 0 h 18673"/>
              <a:gd name="T2" fmla="*/ 2147483647 w 21600"/>
              <a:gd name="T3" fmla="*/ 2147483647 h 18673"/>
              <a:gd name="T4" fmla="*/ 0 w 21600"/>
              <a:gd name="T5" fmla="*/ 2147483647 h 18673"/>
              <a:gd name="T6" fmla="*/ 0 60000 65536"/>
              <a:gd name="T7" fmla="*/ 0 60000 65536"/>
              <a:gd name="T8" fmla="*/ 0 60000 65536"/>
              <a:gd name="T9" fmla="*/ 0 w 21600"/>
              <a:gd name="T10" fmla="*/ 0 h 18673"/>
              <a:gd name="T11" fmla="*/ 21600 w 21600"/>
              <a:gd name="T12" fmla="*/ 18673 h 186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8673" fill="none" extrusionOk="0">
                <a:moveTo>
                  <a:pt x="10856" y="-1"/>
                </a:moveTo>
                <a:cubicBezTo>
                  <a:pt x="17507" y="3866"/>
                  <a:pt x="21600" y="10979"/>
                  <a:pt x="21600" y="18673"/>
                </a:cubicBezTo>
              </a:path>
              <a:path w="21600" h="18673" stroke="0" extrusionOk="0">
                <a:moveTo>
                  <a:pt x="10856" y="-1"/>
                </a:moveTo>
                <a:cubicBezTo>
                  <a:pt x="17507" y="3866"/>
                  <a:pt x="21600" y="10979"/>
                  <a:pt x="21600" y="18673"/>
                </a:cubicBezTo>
                <a:lnTo>
                  <a:pt x="0" y="18673"/>
                </a:lnTo>
                <a:lnTo>
                  <a:pt x="10856" y="-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6" name="Line 10"/>
          <p:cNvSpPr>
            <a:spLocks noChangeShapeType="1"/>
          </p:cNvSpPr>
          <p:nvPr/>
        </p:nvSpPr>
        <p:spPr bwMode="auto">
          <a:xfrm flipV="1">
            <a:off x="5289550" y="2471738"/>
            <a:ext cx="831850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7707" name="Line 11"/>
          <p:cNvSpPr>
            <a:spLocks noChangeShapeType="1"/>
          </p:cNvSpPr>
          <p:nvPr/>
        </p:nvSpPr>
        <p:spPr bwMode="auto">
          <a:xfrm flipV="1">
            <a:off x="6122988" y="1025525"/>
            <a:ext cx="831850" cy="1439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7708" name="Text Box 12"/>
          <p:cNvSpPr txBox="1">
            <a:spLocks noChangeArrowheads="1"/>
          </p:cNvSpPr>
          <p:nvPr/>
        </p:nvSpPr>
        <p:spPr bwMode="auto">
          <a:xfrm>
            <a:off x="6691313" y="684213"/>
            <a:ext cx="3984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1800" b="1" i="1">
                <a:latin typeface="ISOCPEUR" pitchFamily="34" charset="0"/>
              </a:rPr>
              <a:t>D </a:t>
            </a:r>
          </a:p>
        </p:txBody>
      </p:sp>
      <p:sp>
        <p:nvSpPr>
          <p:cNvPr id="157709" name="Oval 13"/>
          <p:cNvSpPr>
            <a:spLocks noChangeArrowheads="1"/>
          </p:cNvSpPr>
          <p:nvPr/>
        </p:nvSpPr>
        <p:spPr bwMode="auto">
          <a:xfrm>
            <a:off x="6923088" y="987425"/>
            <a:ext cx="71437" cy="7143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57710" name="Text Box 14"/>
          <p:cNvSpPr txBox="1">
            <a:spLocks noChangeArrowheads="1"/>
          </p:cNvSpPr>
          <p:nvPr/>
        </p:nvSpPr>
        <p:spPr bwMode="auto">
          <a:xfrm>
            <a:off x="6259513" y="1295400"/>
            <a:ext cx="657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1800" b="1" i="1">
                <a:latin typeface="ISOCPEUR" pitchFamily="34" charset="0"/>
              </a:rPr>
              <a:t>125  </a:t>
            </a:r>
          </a:p>
        </p:txBody>
      </p:sp>
      <p:sp>
        <p:nvSpPr>
          <p:cNvPr id="157711" name="Text Box 15"/>
          <p:cNvSpPr txBox="1">
            <a:spLocks noChangeArrowheads="1"/>
          </p:cNvSpPr>
          <p:nvPr/>
        </p:nvSpPr>
        <p:spPr bwMode="auto">
          <a:xfrm>
            <a:off x="6661150" y="1924050"/>
            <a:ext cx="673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1800" b="1" i="1">
                <a:latin typeface="ISOCPEUR" pitchFamily="34" charset="0"/>
              </a:rPr>
              <a:t>60</a:t>
            </a:r>
            <a:r>
              <a:rPr kumimoji="0" lang="en-US" altLang="zh-CN" sz="1800" b="1" i="1">
                <a:latin typeface="ISOCP" pitchFamily="2" charset="0"/>
                <a:cs typeface="ISOCP" pitchFamily="2" charset="0"/>
              </a:rPr>
              <a:t>̊</a:t>
            </a:r>
            <a:r>
              <a:rPr kumimoji="0" lang="en-US" altLang="zh-CN" sz="1800" b="1" i="1">
                <a:latin typeface="ISOCPEUR" pitchFamily="34" charset="0"/>
              </a:rPr>
              <a:t>   </a:t>
            </a:r>
          </a:p>
        </p:txBody>
      </p:sp>
      <p:sp>
        <p:nvSpPr>
          <p:cNvPr id="157712" name="Arc 16"/>
          <p:cNvSpPr>
            <a:spLocks/>
          </p:cNvSpPr>
          <p:nvPr/>
        </p:nvSpPr>
        <p:spPr bwMode="auto">
          <a:xfrm>
            <a:off x="6116638" y="1917700"/>
            <a:ext cx="628650" cy="542925"/>
          </a:xfrm>
          <a:custGeom>
            <a:avLst/>
            <a:gdLst>
              <a:gd name="T0" fmla="*/ 2147483647 w 21600"/>
              <a:gd name="T1" fmla="*/ 0 h 18673"/>
              <a:gd name="T2" fmla="*/ 2147483647 w 21600"/>
              <a:gd name="T3" fmla="*/ 2147483647 h 18673"/>
              <a:gd name="T4" fmla="*/ 0 w 21600"/>
              <a:gd name="T5" fmla="*/ 2147483647 h 18673"/>
              <a:gd name="T6" fmla="*/ 0 60000 65536"/>
              <a:gd name="T7" fmla="*/ 0 60000 65536"/>
              <a:gd name="T8" fmla="*/ 0 60000 65536"/>
              <a:gd name="T9" fmla="*/ 0 w 21600"/>
              <a:gd name="T10" fmla="*/ 0 h 18673"/>
              <a:gd name="T11" fmla="*/ 21600 w 21600"/>
              <a:gd name="T12" fmla="*/ 18673 h 186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8673" fill="none" extrusionOk="0">
                <a:moveTo>
                  <a:pt x="10856" y="-1"/>
                </a:moveTo>
                <a:cubicBezTo>
                  <a:pt x="17507" y="3866"/>
                  <a:pt x="21600" y="10979"/>
                  <a:pt x="21600" y="18673"/>
                </a:cubicBezTo>
              </a:path>
              <a:path w="21600" h="18673" stroke="0" extrusionOk="0">
                <a:moveTo>
                  <a:pt x="10856" y="-1"/>
                </a:moveTo>
                <a:cubicBezTo>
                  <a:pt x="17507" y="3866"/>
                  <a:pt x="21600" y="10979"/>
                  <a:pt x="21600" y="18673"/>
                </a:cubicBezTo>
                <a:lnTo>
                  <a:pt x="0" y="18673"/>
                </a:lnTo>
                <a:lnTo>
                  <a:pt x="10856" y="-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13" name="Line 17"/>
          <p:cNvSpPr>
            <a:spLocks noChangeShapeType="1"/>
          </p:cNvSpPr>
          <p:nvPr/>
        </p:nvSpPr>
        <p:spPr bwMode="auto">
          <a:xfrm>
            <a:off x="6115050" y="2463800"/>
            <a:ext cx="96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7714" name="Oval 18"/>
          <p:cNvSpPr>
            <a:spLocks noChangeArrowheads="1"/>
          </p:cNvSpPr>
          <p:nvPr/>
        </p:nvSpPr>
        <p:spPr bwMode="auto">
          <a:xfrm>
            <a:off x="6083300" y="2430463"/>
            <a:ext cx="71438" cy="71437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7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57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5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0" grpId="0"/>
      <p:bldP spid="157701" grpId="0"/>
      <p:bldP spid="157702" grpId="0"/>
      <p:bldP spid="157703" grpId="0"/>
      <p:bldP spid="157704" grpId="0"/>
      <p:bldP spid="157705" grpId="0" animBg="1"/>
      <p:bldP spid="157706" grpId="0" animBg="1"/>
      <p:bldP spid="157707" grpId="0" animBg="1"/>
      <p:bldP spid="157708" grpId="0"/>
      <p:bldP spid="157709" grpId="0" animBg="1"/>
      <p:bldP spid="157710" grpId="0"/>
      <p:bldP spid="157711" grpId="0"/>
      <p:bldP spid="157712" grpId="0" animBg="1"/>
      <p:bldP spid="157713" grpId="0" animBg="1"/>
      <p:bldP spid="1577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925422C-B897-4495-9214-57033648B6A7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400" smtClean="0"/>
          </a:p>
        </p:txBody>
      </p:sp>
      <p:sp>
        <p:nvSpPr>
          <p:cNvPr id="144386" name="Rectangle 2"/>
          <p:cNvSpPr>
            <a:spLocks noChangeArrowheads="1"/>
          </p:cNvSpPr>
          <p:nvPr/>
        </p:nvSpPr>
        <p:spPr bwMode="auto">
          <a:xfrm>
            <a:off x="307975" y="1030288"/>
            <a:ext cx="8585200" cy="98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黑体" pitchFamily="2" charset="-122"/>
              </a:rPr>
              <a:t>AutoCAD</a:t>
            </a:r>
            <a:r>
              <a:rPr lang="zh-CN" altLang="en-US" sz="2800" b="1">
                <a:ea typeface="黑体" pitchFamily="2" charset="-122"/>
              </a:rPr>
              <a:t>任何一项操作可以通过以下方式完成：</a:t>
            </a:r>
            <a:endParaRPr lang="zh-CN" altLang="en-US" sz="2800" b="1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180975" y="411163"/>
            <a:ext cx="8232775" cy="65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1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4000" b="1">
                <a:latin typeface="黑体" pitchFamily="2" charset="-122"/>
                <a:ea typeface="黑体" pitchFamily="2" charset="-122"/>
              </a:rPr>
              <a:t>．</a:t>
            </a:r>
            <a:r>
              <a:rPr lang="en-US" altLang="zh-CN" sz="4000" b="1">
                <a:latin typeface="黑体" pitchFamily="2" charset="-122"/>
                <a:ea typeface="黑体" pitchFamily="2" charset="-122"/>
              </a:rPr>
              <a:t>AutoCAD</a:t>
            </a:r>
            <a:r>
              <a:rPr lang="zh-CN" altLang="en-US" sz="4000" b="1">
                <a:latin typeface="黑体" pitchFamily="2" charset="-122"/>
                <a:ea typeface="黑体" pitchFamily="2" charset="-122"/>
              </a:rPr>
              <a:t>工作方式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    </a:t>
            </a:r>
            <a:endParaRPr lang="zh-CN" altLang="en-US" sz="2800" b="1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4389" name="Text Box 5"/>
          <p:cNvSpPr txBox="1">
            <a:spLocks noChangeArrowheads="1"/>
          </p:cNvSpPr>
          <p:nvPr/>
        </p:nvSpPr>
        <p:spPr bwMode="auto">
          <a:xfrm>
            <a:off x="1601788" y="1778000"/>
            <a:ext cx="421322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itchFamily="2" charset="-122"/>
              </a:rPr>
              <a:t>下拉菜单</a:t>
            </a:r>
            <a:r>
              <a:rPr lang="zh-CN" altLang="en-US" sz="2400" b="1"/>
              <a:t>（点击）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itchFamily="2" charset="-122"/>
              </a:rPr>
              <a:t>工具栏</a:t>
            </a:r>
            <a:r>
              <a:rPr lang="zh-CN" altLang="en-US" sz="2400" b="1"/>
              <a:t>（点击）</a:t>
            </a:r>
            <a:endParaRPr lang="zh-CN" altLang="en-US" sz="2800" b="1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70C0"/>
                </a:solidFill>
                <a:ea typeface="黑体" pitchFamily="2" charset="-122"/>
              </a:rPr>
              <a:t>命令</a:t>
            </a:r>
            <a:r>
              <a:rPr lang="zh-CN" altLang="en-US" sz="2400" b="1">
                <a:solidFill>
                  <a:srgbClr val="0070C0"/>
                </a:solidFill>
              </a:rPr>
              <a:t>（键入）</a:t>
            </a:r>
          </a:p>
        </p:txBody>
      </p:sp>
      <p:sp>
        <p:nvSpPr>
          <p:cNvPr id="144390" name="Rectangle 6"/>
          <p:cNvSpPr>
            <a:spLocks noChangeArrowheads="1"/>
          </p:cNvSpPr>
          <p:nvPr/>
        </p:nvSpPr>
        <p:spPr bwMode="auto">
          <a:xfrm>
            <a:off x="608013" y="4764088"/>
            <a:ext cx="6756400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itchFamily="2" charset="-122"/>
              </a:rPr>
              <a:t>动宾式：命令 － 选择对象 － 执行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itchFamily="2" charset="-122"/>
              </a:rPr>
              <a:t>                           （回答提问）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itchFamily="2" charset="-122"/>
              </a:rPr>
              <a:t>宾动式：选择对象 － 命令 － 执行</a:t>
            </a:r>
            <a:endParaRPr lang="zh-CN" altLang="en-US" sz="2800" b="1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4391" name="Rectangle 7"/>
          <p:cNvSpPr>
            <a:spLocks noChangeArrowheads="1"/>
          </p:cNvSpPr>
          <p:nvPr/>
        </p:nvSpPr>
        <p:spPr bwMode="auto">
          <a:xfrm>
            <a:off x="327025" y="3838575"/>
            <a:ext cx="4337050" cy="98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ea typeface="黑体" pitchFamily="2" charset="-122"/>
              </a:rPr>
              <a:t>交互式的工作方式</a:t>
            </a:r>
            <a:endParaRPr lang="zh-CN" altLang="en-US" b="1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4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4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4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4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4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298DA7C-8A49-4C80-BB46-15732A36F8BE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 smtClean="0"/>
          </a:p>
        </p:txBody>
      </p:sp>
      <p:sp>
        <p:nvSpPr>
          <p:cNvPr id="153602" name="Rectangle 2"/>
          <p:cNvSpPr>
            <a:spLocks noChangeArrowheads="1"/>
          </p:cNvSpPr>
          <p:nvPr/>
        </p:nvSpPr>
        <p:spPr bwMode="auto">
          <a:xfrm>
            <a:off x="415925" y="1330325"/>
            <a:ext cx="8585200" cy="98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itchFamily="2" charset="-122"/>
              </a:rPr>
              <a:t>实体：图形操作的最小单位。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itchFamily="2" charset="-122"/>
              </a:rPr>
              <a:t>            如：点、线、面、三维几何要素等</a:t>
            </a:r>
            <a:endParaRPr lang="zh-CN" altLang="en-US" sz="2800" b="1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180975" y="411163"/>
            <a:ext cx="3886200" cy="65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latin typeface="黑体" pitchFamily="2" charset="-122"/>
                <a:ea typeface="黑体" pitchFamily="2" charset="-122"/>
              </a:rPr>
              <a:t>4. </a:t>
            </a:r>
            <a:r>
              <a:rPr lang="zh-CN" altLang="en-US" sz="3600" b="1">
                <a:latin typeface="黑体" pitchFamily="2" charset="-122"/>
                <a:ea typeface="黑体" pitchFamily="2" charset="-122"/>
              </a:rPr>
              <a:t>选择实体的方式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    </a:t>
            </a:r>
            <a:endParaRPr lang="zh-CN" altLang="en-US" sz="2800" b="1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3605" name="Rectangle 5"/>
          <p:cNvSpPr>
            <a:spLocks noChangeArrowheads="1"/>
          </p:cNvSpPr>
          <p:nvPr/>
        </p:nvSpPr>
        <p:spPr bwMode="auto">
          <a:xfrm>
            <a:off x="706438" y="2568575"/>
            <a:ext cx="6756400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itchFamily="2" charset="-122"/>
              </a:rPr>
              <a:t>选择方式：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itchFamily="2" charset="-122"/>
              </a:rPr>
              <a:t>   单个实体选择</a:t>
            </a:r>
            <a:r>
              <a:rPr lang="en-US" altLang="zh-CN" sz="2800" b="1">
                <a:ea typeface="黑体" pitchFamily="2" charset="-122"/>
              </a:rPr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黑体" pitchFamily="2" charset="-122"/>
              </a:rPr>
              <a:t>   </a:t>
            </a:r>
            <a:r>
              <a:rPr lang="zh-CN" altLang="en-US" sz="2800" b="1">
                <a:ea typeface="黑体" pitchFamily="2" charset="-122"/>
              </a:rPr>
              <a:t>多个实体选择：包含式（</a:t>
            </a:r>
            <a:r>
              <a:rPr lang="en-US" altLang="zh-CN" sz="2800" b="1">
                <a:ea typeface="黑体" pitchFamily="2" charset="-122"/>
              </a:rPr>
              <a:t>window</a:t>
            </a:r>
            <a:r>
              <a:rPr lang="zh-CN" altLang="en-US" sz="2800" b="1">
                <a:ea typeface="黑体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itchFamily="2" charset="-122"/>
              </a:rPr>
              <a:t>                               交叉式（</a:t>
            </a:r>
            <a:r>
              <a:rPr lang="en-US" altLang="zh-CN" sz="2800" b="1">
                <a:ea typeface="黑体" pitchFamily="2" charset="-122"/>
              </a:rPr>
              <a:t>cross</a:t>
            </a:r>
            <a:r>
              <a:rPr lang="zh-CN" altLang="en-US" sz="2800" b="1">
                <a:ea typeface="黑体" pitchFamily="2" charset="-122"/>
              </a:rPr>
              <a:t>）</a:t>
            </a:r>
            <a:endParaRPr lang="zh-CN" altLang="en-US" sz="2800" b="1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3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36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36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36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6FB75EF-B8A2-4AE7-9D6F-D4D8D95BDD76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400" smtClean="0"/>
          </a:p>
        </p:txBody>
      </p:sp>
      <p:sp>
        <p:nvSpPr>
          <p:cNvPr id="159747" name="Rectangle 3"/>
          <p:cNvSpPr>
            <a:spLocks noChangeArrowheads="1"/>
          </p:cNvSpPr>
          <p:nvPr/>
        </p:nvSpPr>
        <p:spPr bwMode="auto">
          <a:xfrm>
            <a:off x="404813" y="163513"/>
            <a:ext cx="80486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tabLst>
                <a:tab pos="304800" algn="l"/>
                <a:tab pos="342900" algn="l"/>
              </a:tabLst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tabLst>
                <a:tab pos="304800" algn="l"/>
                <a:tab pos="342900" algn="l"/>
              </a:tabLs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tabLst>
                <a:tab pos="304800" algn="l"/>
                <a:tab pos="3429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3600" b="1">
                <a:latin typeface="黑体" pitchFamily="2" charset="-122"/>
                <a:ea typeface="黑体" pitchFamily="2" charset="-122"/>
              </a:rPr>
              <a:t>5. </a:t>
            </a:r>
            <a:r>
              <a:rPr kumimoji="0" lang="zh-CN" altLang="en-US" sz="3600" b="1">
                <a:latin typeface="黑体" pitchFamily="2" charset="-122"/>
                <a:ea typeface="黑体" pitchFamily="2" charset="-122"/>
              </a:rPr>
              <a:t>图层</a:t>
            </a:r>
          </a:p>
        </p:txBody>
      </p:sp>
      <p:sp>
        <p:nvSpPr>
          <p:cNvPr id="159749" name="Text Box 5"/>
          <p:cNvSpPr txBox="1">
            <a:spLocks noChangeArrowheads="1"/>
          </p:cNvSpPr>
          <p:nvPr/>
        </p:nvSpPr>
        <p:spPr bwMode="auto">
          <a:xfrm>
            <a:off x="455613" y="1020763"/>
            <a:ext cx="835183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一个图形对象，除了自身几何数据外，还具有颜色、线型等非几何信息，这些非几何信息统称为图形的属性。</a:t>
            </a:r>
          </a:p>
        </p:txBody>
      </p:sp>
      <p:sp>
        <p:nvSpPr>
          <p:cNvPr id="159750" name="Text Box 6"/>
          <p:cNvSpPr txBox="1">
            <a:spLocks noChangeArrowheads="1"/>
          </p:cNvSpPr>
          <p:nvPr/>
        </p:nvSpPr>
        <p:spPr bwMode="auto">
          <a:xfrm>
            <a:off x="482600" y="2047875"/>
            <a:ext cx="83518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我们把具有共性的对象组合在一个组，以对组的特性描述代替对个体的描述，便于图形的管理。</a:t>
            </a:r>
          </a:p>
        </p:txBody>
      </p:sp>
      <p:sp>
        <p:nvSpPr>
          <p:cNvPr id="159751" name="Text Box 7"/>
          <p:cNvSpPr txBox="1">
            <a:spLocks noChangeArrowheads="1"/>
          </p:cNvSpPr>
          <p:nvPr/>
        </p:nvSpPr>
        <p:spPr bwMode="auto">
          <a:xfrm>
            <a:off x="555625" y="3240088"/>
            <a:ext cx="7372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我们把这个</a:t>
            </a:r>
            <a:r>
              <a:rPr lang="zh-CN" altLang="en-US" sz="2400" b="1">
                <a:ea typeface="黑体" pitchFamily="2" charset="-122"/>
              </a:rPr>
              <a:t>“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组</a:t>
            </a:r>
            <a:r>
              <a:rPr lang="zh-CN" altLang="en-US" sz="2400" b="1">
                <a:ea typeface="黑体" pitchFamily="2" charset="-122"/>
              </a:rPr>
              <a:t>”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叫做</a:t>
            </a:r>
            <a:r>
              <a:rPr lang="zh-CN" altLang="en-US" sz="2400" b="1">
                <a:ea typeface="黑体" pitchFamily="2" charset="-122"/>
              </a:rPr>
              <a:t>“</a:t>
            </a:r>
            <a:r>
              <a:rPr lang="zh-CN" altLang="en-US" sz="2400" b="1" u="sng">
                <a:latin typeface="黑体" pitchFamily="2" charset="-122"/>
                <a:ea typeface="黑体" pitchFamily="2" charset="-122"/>
              </a:rPr>
              <a:t>图层</a:t>
            </a:r>
            <a:r>
              <a:rPr lang="zh-CN" altLang="en-US" sz="2400" b="1">
                <a:ea typeface="黑体" pitchFamily="2" charset="-122"/>
              </a:rPr>
              <a:t>”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400" b="1" u="sng">
                <a:latin typeface="黑体" pitchFamily="2" charset="-122"/>
                <a:ea typeface="黑体" pitchFamily="2" charset="-122"/>
              </a:rPr>
              <a:t>LAYER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sp>
        <p:nvSpPr>
          <p:cNvPr id="159752" name="Text Box 8"/>
          <p:cNvSpPr txBox="1">
            <a:spLocks noChangeArrowheads="1"/>
          </p:cNvSpPr>
          <p:nvPr/>
        </p:nvSpPr>
        <p:spPr bwMode="auto">
          <a:xfrm>
            <a:off x="617538" y="4148138"/>
            <a:ext cx="8375650" cy="161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引入了图层这个概念后，只要指定每一图层的</a:t>
            </a:r>
            <a:r>
              <a:rPr lang="zh-CN" altLang="en-US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线型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颜色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、</a:t>
            </a:r>
            <a:r>
              <a:rPr lang="zh-CN" altLang="en-US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线宽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和</a:t>
            </a:r>
            <a:r>
              <a:rPr lang="zh-CN" altLang="en-US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状态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，使凡具有相同特性的对象都放置在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相应的同一图层上。这样，在绘图时，只需确定图形的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几何数据和所在的图层。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5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build="p"/>
      <p:bldP spid="159749" grpId="0" autoUpdateAnimBg="0"/>
      <p:bldP spid="159750" grpId="0" autoUpdateAnimBg="0"/>
      <p:bldP spid="159751" grpId="0" autoUpdateAnimBg="0"/>
      <p:bldP spid="1597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0E65B77-2DF5-4F8F-AACF-6D382F09A7C0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 smtClean="0"/>
          </a:p>
        </p:txBody>
      </p:sp>
      <p:sp>
        <p:nvSpPr>
          <p:cNvPr id="183298" name="AutoShape 2"/>
          <p:cNvSpPr>
            <a:spLocks noChangeArrowheads="1"/>
          </p:cNvSpPr>
          <p:nvPr/>
        </p:nvSpPr>
        <p:spPr bwMode="auto">
          <a:xfrm>
            <a:off x="1085850" y="3867150"/>
            <a:ext cx="285750" cy="342900"/>
          </a:xfrm>
          <a:prstGeom prst="wedgeRectCallout">
            <a:avLst>
              <a:gd name="adj1" fmla="val 87778"/>
              <a:gd name="adj2" fmla="val 65741"/>
            </a:avLst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C</a:t>
            </a:r>
            <a:endParaRPr lang="en-US" altLang="zh-CN" sz="2400" b="1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268" name="Freeform 3"/>
          <p:cNvSpPr>
            <a:spLocks/>
          </p:cNvSpPr>
          <p:nvPr/>
        </p:nvSpPr>
        <p:spPr bwMode="auto">
          <a:xfrm>
            <a:off x="1371600" y="3505200"/>
            <a:ext cx="2895600" cy="1600200"/>
          </a:xfrm>
          <a:custGeom>
            <a:avLst/>
            <a:gdLst>
              <a:gd name="T0" fmla="*/ 0 w 1440"/>
              <a:gd name="T1" fmla="*/ 2147483647 h 1008"/>
              <a:gd name="T2" fmla="*/ 2147483647 w 1440"/>
              <a:gd name="T3" fmla="*/ 0 h 1008"/>
              <a:gd name="T4" fmla="*/ 2147483647 w 1440"/>
              <a:gd name="T5" fmla="*/ 2147483647 h 1008"/>
              <a:gd name="T6" fmla="*/ 2147483647 w 1440"/>
              <a:gd name="T7" fmla="*/ 2147483647 h 1008"/>
              <a:gd name="T8" fmla="*/ 0 w 1440"/>
              <a:gd name="T9" fmla="*/ 2147483647 h 10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0"/>
              <a:gd name="T16" fmla="*/ 0 h 1008"/>
              <a:gd name="T17" fmla="*/ 1440 w 1440"/>
              <a:gd name="T18" fmla="*/ 1008 h 100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0" h="1008">
                <a:moveTo>
                  <a:pt x="0" y="480"/>
                </a:moveTo>
                <a:lnTo>
                  <a:pt x="720" y="0"/>
                </a:lnTo>
                <a:lnTo>
                  <a:pt x="1440" y="480"/>
                </a:lnTo>
                <a:lnTo>
                  <a:pt x="720" y="1008"/>
                </a:lnTo>
                <a:lnTo>
                  <a:pt x="0" y="480"/>
                </a:lnTo>
                <a:close/>
              </a:path>
            </a:pathLst>
          </a:custGeom>
          <a:solidFill>
            <a:schemeClr val="bg1">
              <a:alpha val="50195"/>
            </a:schemeClr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00" name="Oval 4"/>
          <p:cNvSpPr>
            <a:spLocks noChangeArrowheads="1"/>
          </p:cNvSpPr>
          <p:nvPr/>
        </p:nvSpPr>
        <p:spPr bwMode="auto">
          <a:xfrm>
            <a:off x="1997075" y="3778250"/>
            <a:ext cx="1600200" cy="9906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1270" name="Line 5"/>
          <p:cNvSpPr>
            <a:spLocks noChangeShapeType="1"/>
          </p:cNvSpPr>
          <p:nvPr/>
        </p:nvSpPr>
        <p:spPr bwMode="auto">
          <a:xfrm>
            <a:off x="1371600" y="4276725"/>
            <a:ext cx="1438275" cy="8286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1" name="Line 6"/>
          <p:cNvSpPr>
            <a:spLocks noChangeShapeType="1"/>
          </p:cNvSpPr>
          <p:nvPr/>
        </p:nvSpPr>
        <p:spPr bwMode="auto">
          <a:xfrm flipV="1">
            <a:off x="2809875" y="4276725"/>
            <a:ext cx="1457325" cy="8286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2" name="Line 7"/>
          <p:cNvSpPr>
            <a:spLocks noChangeShapeType="1"/>
          </p:cNvSpPr>
          <p:nvPr/>
        </p:nvSpPr>
        <p:spPr bwMode="auto">
          <a:xfrm>
            <a:off x="1371600" y="3124200"/>
            <a:ext cx="1438275" cy="838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3" name="Line 8"/>
          <p:cNvSpPr>
            <a:spLocks noChangeShapeType="1"/>
          </p:cNvSpPr>
          <p:nvPr/>
        </p:nvSpPr>
        <p:spPr bwMode="auto">
          <a:xfrm flipV="1">
            <a:off x="2809875" y="3124200"/>
            <a:ext cx="1457325" cy="838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05" name="AutoShape 9"/>
          <p:cNvSpPr>
            <a:spLocks noChangeArrowheads="1"/>
          </p:cNvSpPr>
          <p:nvPr/>
        </p:nvSpPr>
        <p:spPr bwMode="auto">
          <a:xfrm>
            <a:off x="1085850" y="2709863"/>
            <a:ext cx="285750" cy="342900"/>
          </a:xfrm>
          <a:prstGeom prst="wedgeRectCallout">
            <a:avLst>
              <a:gd name="adj1" fmla="val 86111"/>
              <a:gd name="adj2" fmla="val 65741"/>
            </a:avLst>
          </a:prstGeom>
          <a:solidFill>
            <a:schemeClr val="bg1">
              <a:alpha val="50195"/>
            </a:schemeClr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B</a:t>
            </a:r>
            <a:endParaRPr lang="en-US" altLang="zh-CN" sz="2400" b="1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275" name="Freeform 10"/>
          <p:cNvSpPr>
            <a:spLocks/>
          </p:cNvSpPr>
          <p:nvPr/>
        </p:nvSpPr>
        <p:spPr bwMode="auto">
          <a:xfrm>
            <a:off x="1371600" y="2362200"/>
            <a:ext cx="2895600" cy="1600200"/>
          </a:xfrm>
          <a:custGeom>
            <a:avLst/>
            <a:gdLst>
              <a:gd name="T0" fmla="*/ 0 w 1440"/>
              <a:gd name="T1" fmla="*/ 2147483647 h 1008"/>
              <a:gd name="T2" fmla="*/ 2147483647 w 1440"/>
              <a:gd name="T3" fmla="*/ 0 h 1008"/>
              <a:gd name="T4" fmla="*/ 2147483647 w 1440"/>
              <a:gd name="T5" fmla="*/ 2147483647 h 1008"/>
              <a:gd name="T6" fmla="*/ 2147483647 w 1440"/>
              <a:gd name="T7" fmla="*/ 2147483647 h 1008"/>
              <a:gd name="T8" fmla="*/ 0 w 1440"/>
              <a:gd name="T9" fmla="*/ 2147483647 h 10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0"/>
              <a:gd name="T16" fmla="*/ 0 h 1008"/>
              <a:gd name="T17" fmla="*/ 1440 w 1440"/>
              <a:gd name="T18" fmla="*/ 1008 h 100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0" h="1008">
                <a:moveTo>
                  <a:pt x="0" y="480"/>
                </a:moveTo>
                <a:lnTo>
                  <a:pt x="720" y="0"/>
                </a:lnTo>
                <a:lnTo>
                  <a:pt x="1440" y="480"/>
                </a:lnTo>
                <a:lnTo>
                  <a:pt x="720" y="1008"/>
                </a:lnTo>
                <a:lnTo>
                  <a:pt x="0" y="480"/>
                </a:lnTo>
                <a:close/>
              </a:path>
            </a:pathLst>
          </a:custGeom>
          <a:solidFill>
            <a:schemeClr val="bg1">
              <a:alpha val="50195"/>
            </a:schemeClr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07" name="Oval 11"/>
          <p:cNvSpPr>
            <a:spLocks noChangeArrowheads="1"/>
          </p:cNvSpPr>
          <p:nvPr/>
        </p:nvSpPr>
        <p:spPr bwMode="auto">
          <a:xfrm>
            <a:off x="2176463" y="2819400"/>
            <a:ext cx="1312862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83308" name="AutoShape 12"/>
          <p:cNvSpPr>
            <a:spLocks noChangeArrowheads="1"/>
          </p:cNvSpPr>
          <p:nvPr/>
        </p:nvSpPr>
        <p:spPr bwMode="auto">
          <a:xfrm>
            <a:off x="1085850" y="1558925"/>
            <a:ext cx="285750" cy="342900"/>
          </a:xfrm>
          <a:prstGeom prst="wedgeRectCallout">
            <a:avLst>
              <a:gd name="adj1" fmla="val 86111"/>
              <a:gd name="adj2" fmla="val 69907"/>
            </a:avLst>
          </a:prstGeom>
          <a:solidFill>
            <a:schemeClr val="bg1">
              <a:alpha val="50195"/>
            </a:schemeClr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黑体" pitchFamily="2" charset="-122"/>
                <a:ea typeface="黑体" pitchFamily="2" charset="-122"/>
              </a:rPr>
              <a:t>A</a:t>
            </a:r>
          </a:p>
        </p:txBody>
      </p:sp>
      <p:sp>
        <p:nvSpPr>
          <p:cNvPr id="11278" name="Line 13"/>
          <p:cNvSpPr>
            <a:spLocks noChangeShapeType="1"/>
          </p:cNvSpPr>
          <p:nvPr/>
        </p:nvSpPr>
        <p:spPr bwMode="auto">
          <a:xfrm>
            <a:off x="1371600" y="1981200"/>
            <a:ext cx="1433513" cy="8286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9" name="Line 14"/>
          <p:cNvSpPr>
            <a:spLocks noChangeShapeType="1"/>
          </p:cNvSpPr>
          <p:nvPr/>
        </p:nvSpPr>
        <p:spPr bwMode="auto">
          <a:xfrm flipH="1">
            <a:off x="2805113" y="1981200"/>
            <a:ext cx="1462087" cy="8429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0" name="Freeform 15"/>
          <p:cNvSpPr>
            <a:spLocks/>
          </p:cNvSpPr>
          <p:nvPr/>
        </p:nvSpPr>
        <p:spPr bwMode="auto">
          <a:xfrm>
            <a:off x="1371600" y="1209675"/>
            <a:ext cx="2895600" cy="1600200"/>
          </a:xfrm>
          <a:custGeom>
            <a:avLst/>
            <a:gdLst>
              <a:gd name="T0" fmla="*/ 0 w 1440"/>
              <a:gd name="T1" fmla="*/ 2147483647 h 1008"/>
              <a:gd name="T2" fmla="*/ 2147483647 w 1440"/>
              <a:gd name="T3" fmla="*/ 0 h 1008"/>
              <a:gd name="T4" fmla="*/ 2147483647 w 1440"/>
              <a:gd name="T5" fmla="*/ 2147483647 h 1008"/>
              <a:gd name="T6" fmla="*/ 2147483647 w 1440"/>
              <a:gd name="T7" fmla="*/ 2147483647 h 1008"/>
              <a:gd name="T8" fmla="*/ 0 w 1440"/>
              <a:gd name="T9" fmla="*/ 2147483647 h 10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0"/>
              <a:gd name="T16" fmla="*/ 0 h 1008"/>
              <a:gd name="T17" fmla="*/ 1440 w 1440"/>
              <a:gd name="T18" fmla="*/ 1008 h 100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0" h="1008">
                <a:moveTo>
                  <a:pt x="0" y="480"/>
                </a:moveTo>
                <a:lnTo>
                  <a:pt x="720" y="0"/>
                </a:lnTo>
                <a:lnTo>
                  <a:pt x="1440" y="480"/>
                </a:lnTo>
                <a:lnTo>
                  <a:pt x="720" y="1008"/>
                </a:lnTo>
                <a:lnTo>
                  <a:pt x="0" y="480"/>
                </a:lnTo>
                <a:close/>
              </a:path>
            </a:pathLst>
          </a:cu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12" name="Oval 16"/>
          <p:cNvSpPr>
            <a:spLocks noChangeArrowheads="1"/>
          </p:cNvSpPr>
          <p:nvPr/>
        </p:nvSpPr>
        <p:spPr bwMode="auto">
          <a:xfrm>
            <a:off x="2243138" y="1727200"/>
            <a:ext cx="1066800" cy="533400"/>
          </a:xfrm>
          <a:prstGeom prst="ellipse">
            <a:avLst/>
          </a:prstGeom>
          <a:noFill/>
          <a:ln w="6350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83313" name="Rectangle 17"/>
          <p:cNvSpPr>
            <a:spLocks noChangeArrowheads="1"/>
          </p:cNvSpPr>
          <p:nvPr/>
        </p:nvSpPr>
        <p:spPr bwMode="auto">
          <a:xfrm>
            <a:off x="5122863" y="2147888"/>
            <a:ext cx="2790825" cy="26797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83314" name="Oval 18"/>
          <p:cNvSpPr>
            <a:spLocks noChangeArrowheads="1"/>
          </p:cNvSpPr>
          <p:nvPr/>
        </p:nvSpPr>
        <p:spPr bwMode="auto">
          <a:xfrm>
            <a:off x="5483225" y="2400300"/>
            <a:ext cx="2182813" cy="2182813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83315" name="Oval 19"/>
          <p:cNvSpPr>
            <a:spLocks noChangeArrowheads="1"/>
          </p:cNvSpPr>
          <p:nvPr/>
        </p:nvSpPr>
        <p:spPr bwMode="auto">
          <a:xfrm>
            <a:off x="5794375" y="2709863"/>
            <a:ext cx="1558925" cy="1558925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83316" name="Oval 20"/>
          <p:cNvSpPr>
            <a:spLocks noChangeArrowheads="1"/>
          </p:cNvSpPr>
          <p:nvPr/>
        </p:nvSpPr>
        <p:spPr bwMode="auto">
          <a:xfrm>
            <a:off x="6075363" y="2971800"/>
            <a:ext cx="1017587" cy="1017588"/>
          </a:xfrm>
          <a:prstGeom prst="ellipse">
            <a:avLst/>
          </a:prstGeom>
          <a:noFill/>
          <a:ln w="6350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83317" name="AutoShape 21"/>
          <p:cNvSpPr>
            <a:spLocks noChangeArrowheads="1"/>
          </p:cNvSpPr>
          <p:nvPr/>
        </p:nvSpPr>
        <p:spPr bwMode="auto">
          <a:xfrm>
            <a:off x="5746750" y="1281113"/>
            <a:ext cx="1177925" cy="609600"/>
          </a:xfrm>
          <a:prstGeom prst="wedgeRectCallout">
            <a:avLst>
              <a:gd name="adj1" fmla="val -28435"/>
              <a:gd name="adj2" fmla="val 11302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黑体" pitchFamily="2" charset="-122"/>
                <a:ea typeface="黑体" pitchFamily="2" charset="-122"/>
              </a:rPr>
              <a:t>A, </a:t>
            </a:r>
            <a:r>
              <a:rPr lang="en-US" altLang="zh-CN" sz="2400" b="1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, </a:t>
            </a:r>
            <a:r>
              <a:rPr lang="en-US" altLang="zh-CN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C</a:t>
            </a:r>
            <a:endParaRPr lang="en-US" altLang="zh-CN" sz="2400" b="1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83318" name="Line 22"/>
          <p:cNvSpPr>
            <a:spLocks noChangeShapeType="1"/>
          </p:cNvSpPr>
          <p:nvPr/>
        </p:nvSpPr>
        <p:spPr bwMode="auto">
          <a:xfrm flipV="1">
            <a:off x="2168525" y="1612900"/>
            <a:ext cx="1214438" cy="70167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19" name="Line 23"/>
          <p:cNvSpPr>
            <a:spLocks noChangeShapeType="1"/>
          </p:cNvSpPr>
          <p:nvPr/>
        </p:nvSpPr>
        <p:spPr bwMode="auto">
          <a:xfrm>
            <a:off x="2200275" y="1641475"/>
            <a:ext cx="1250950" cy="722313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20" name="Line 24"/>
          <p:cNvSpPr>
            <a:spLocks noChangeShapeType="1"/>
          </p:cNvSpPr>
          <p:nvPr/>
        </p:nvSpPr>
        <p:spPr bwMode="auto">
          <a:xfrm>
            <a:off x="5270500" y="3479800"/>
            <a:ext cx="2522538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21" name="Line 25"/>
          <p:cNvSpPr>
            <a:spLocks noChangeShapeType="1"/>
          </p:cNvSpPr>
          <p:nvPr/>
        </p:nvSpPr>
        <p:spPr bwMode="auto">
          <a:xfrm>
            <a:off x="6569075" y="2233613"/>
            <a:ext cx="0" cy="249555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3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83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8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8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8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83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83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8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83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8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8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8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8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8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8" grpId="0" animBg="1" autoUpdateAnimBg="0"/>
      <p:bldP spid="183300" grpId="0" animBg="1"/>
      <p:bldP spid="183305" grpId="0" animBg="1" autoUpdateAnimBg="0"/>
      <p:bldP spid="183307" grpId="0" animBg="1"/>
      <p:bldP spid="183308" grpId="0" animBg="1" autoUpdateAnimBg="0"/>
      <p:bldP spid="183312" grpId="0" animBg="1"/>
      <p:bldP spid="183313" grpId="0" animBg="1"/>
      <p:bldP spid="183314" grpId="0" animBg="1"/>
      <p:bldP spid="183315" grpId="0" animBg="1"/>
      <p:bldP spid="183316" grpId="0" animBg="1"/>
      <p:bldP spid="183317" grpId="0" animBg="1" autoUpdateAnimBg="0"/>
      <p:bldP spid="183318" grpId="0" animBg="1"/>
      <p:bldP spid="183319" grpId="0" animBg="1"/>
      <p:bldP spid="183320" grpId="0" animBg="1"/>
      <p:bldP spid="1833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BA751CD-2B3A-4837-8DA9-0D5F850A3B0B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400" smtClean="0"/>
          </a:p>
        </p:txBody>
      </p:sp>
      <p:sp>
        <p:nvSpPr>
          <p:cNvPr id="182279" name="Text Box 7"/>
          <p:cNvSpPr txBox="1">
            <a:spLocks noChangeArrowheads="1"/>
          </p:cNvSpPr>
          <p:nvPr/>
        </p:nvSpPr>
        <p:spPr bwMode="auto">
          <a:xfrm>
            <a:off x="519113" y="814388"/>
            <a:ext cx="83216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每个图层都有一个层名。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    系统自动生成层名</a:t>
            </a:r>
            <a:r>
              <a:rPr lang="zh-CN" altLang="zh-CN" sz="2400" b="1">
                <a:latin typeface="黑体" pitchFamily="2" charset="-122"/>
                <a:ea typeface="黑体" pitchFamily="2" charset="-122"/>
              </a:rPr>
              <a:t>为</a:t>
            </a:r>
            <a:r>
              <a:rPr lang="zh-CN" altLang="en-US" sz="2400" b="1">
                <a:ea typeface="黑体" pitchFamily="2" charset="-122"/>
              </a:rPr>
              <a:t>“</a:t>
            </a:r>
            <a:r>
              <a:rPr lang="en-US" altLang="zh-CN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sz="2400" b="1">
                <a:ea typeface="黑体" pitchFamily="2" charset="-122"/>
              </a:rPr>
              <a:t>”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的层。</a:t>
            </a:r>
            <a:r>
              <a:rPr lang="zh-CN" altLang="en-US" sz="2400" b="1">
                <a:ea typeface="黑体" pitchFamily="2" charset="-122"/>
              </a:rPr>
              <a:t>“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sz="2400" b="1">
                <a:ea typeface="黑体" pitchFamily="2" charset="-122"/>
              </a:rPr>
              <a:t>”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层名不能改动。</a:t>
            </a:r>
          </a:p>
        </p:txBody>
      </p:sp>
      <p:sp>
        <p:nvSpPr>
          <p:cNvPr id="182282" name="Text Box 10"/>
          <p:cNvSpPr txBox="1">
            <a:spLocks noChangeArrowheads="1"/>
          </p:cNvSpPr>
          <p:nvPr/>
        </p:nvSpPr>
        <p:spPr bwMode="auto">
          <a:xfrm>
            <a:off x="457200" y="2257425"/>
            <a:ext cx="8351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图层的控制主要包括以下内容：</a:t>
            </a:r>
          </a:p>
        </p:txBody>
      </p:sp>
      <p:sp>
        <p:nvSpPr>
          <p:cNvPr id="182283" name="Text Box 11"/>
          <p:cNvSpPr txBox="1">
            <a:spLocks noChangeArrowheads="1"/>
          </p:cNvSpPr>
          <p:nvPr/>
        </p:nvSpPr>
        <p:spPr bwMode="auto">
          <a:xfrm>
            <a:off x="1193800" y="3117850"/>
            <a:ext cx="5153025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　 </a:t>
            </a:r>
            <a:r>
              <a:rPr lang="zh-CN" altLang="en-US" sz="2400" b="1" dirty="0" smtClean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建立</a:t>
            </a:r>
            <a:r>
              <a:rPr lang="zh-CN" altLang="en-US" sz="2400" b="1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新层</a:t>
            </a:r>
            <a:r>
              <a:rPr lang="en-US" altLang="zh-CN" sz="2400" b="1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(New)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　 设置当前层</a:t>
            </a:r>
            <a:r>
              <a:rPr lang="en-US" altLang="zh-CN" sz="2400" b="1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(Current)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 </a:t>
            </a:r>
            <a:r>
              <a:rPr lang="zh-CN" altLang="en-US" sz="2400" b="1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　 设置层的颜色</a:t>
            </a:r>
            <a:r>
              <a:rPr lang="en-US" altLang="zh-CN" sz="2400" b="1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(Color)</a:t>
            </a:r>
            <a:r>
              <a:rPr lang="zh-CN" altLang="en-US" sz="2400" b="1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            </a:t>
            </a:r>
            <a:r>
              <a:rPr lang="zh-CN" altLang="en-US" sz="2400" b="1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线型</a:t>
            </a:r>
            <a:r>
              <a:rPr lang="en-US" altLang="zh-CN" sz="2400" b="1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en-US" altLang="zh-CN" sz="2400" b="1" dirty="0" err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Linetype</a:t>
            </a:r>
            <a:r>
              <a:rPr lang="en-US" altLang="zh-CN" sz="2400" b="1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sz="2400" b="1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            </a:t>
            </a:r>
            <a:r>
              <a:rPr lang="zh-CN" altLang="en-US" sz="2400" b="1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线宽</a:t>
            </a:r>
            <a:r>
              <a:rPr lang="en-US" altLang="zh-CN" sz="2400" b="1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en-US" altLang="zh-CN" sz="2400" b="1" dirty="0" err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Lineweight</a:t>
            </a:r>
            <a:r>
              <a:rPr lang="en-US" altLang="zh-CN" sz="2400" b="1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)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 b="1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控制层的其它状态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8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9" grpId="0"/>
      <p:bldP spid="182282" grpId="0"/>
      <p:bldP spid="18228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023641E-A226-446D-9EEF-58A2BA4F6F83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 smtClean="0"/>
          </a:p>
        </p:txBody>
      </p:sp>
      <p:sp>
        <p:nvSpPr>
          <p:cNvPr id="13315" name="Text Box 5"/>
          <p:cNvSpPr txBox="1">
            <a:spLocks noChangeArrowheads="1"/>
          </p:cNvSpPr>
          <p:nvPr/>
        </p:nvSpPr>
        <p:spPr bwMode="auto">
          <a:xfrm>
            <a:off x="685800" y="566738"/>
            <a:ext cx="47577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常用的线型</a:t>
            </a:r>
          </a:p>
        </p:txBody>
      </p:sp>
      <p:sp>
        <p:nvSpPr>
          <p:cNvPr id="13316" name="Text Box 6"/>
          <p:cNvSpPr txBox="1">
            <a:spLocks noChangeArrowheads="1"/>
          </p:cNvSpPr>
          <p:nvPr/>
        </p:nvSpPr>
        <p:spPr bwMode="auto">
          <a:xfrm>
            <a:off x="577850" y="1658938"/>
            <a:ext cx="83518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线型名称           式样    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22300" y="2309813"/>
            <a:ext cx="7210425" cy="1936750"/>
            <a:chOff x="428" y="1119"/>
            <a:chExt cx="4542" cy="1220"/>
          </a:xfrm>
        </p:grpSpPr>
        <p:sp>
          <p:nvSpPr>
            <p:cNvPr id="13318" name="Text Box 8"/>
            <p:cNvSpPr txBox="1">
              <a:spLocks noChangeArrowheads="1"/>
            </p:cNvSpPr>
            <p:nvPr/>
          </p:nvSpPr>
          <p:spPr bwMode="auto">
            <a:xfrm>
              <a:off x="428" y="1119"/>
              <a:ext cx="1365" cy="1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200" b="1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CONTINUOUS: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200" b="1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CENTER: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200" b="1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DASHED: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200" b="1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PHANTOM:</a:t>
              </a:r>
            </a:p>
          </p:txBody>
        </p:sp>
        <p:graphicFrame>
          <p:nvGraphicFramePr>
            <p:cNvPr id="13319" name="Object 9"/>
            <p:cNvGraphicFramePr>
              <a:graphicFrameLocks noChangeAspect="1"/>
            </p:cNvGraphicFramePr>
            <p:nvPr/>
          </p:nvGraphicFramePr>
          <p:xfrm>
            <a:off x="1440" y="1235"/>
            <a:ext cx="3530" cy="10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2" name="位图图像" r:id="rId3" imgW="5095238" imgH="1886213" progId="Paint.Picture">
                    <p:embed/>
                  </p:oleObj>
                </mc:Choice>
                <mc:Fallback>
                  <p:oleObj name="位图图像" r:id="rId3" imgW="5095238" imgH="1886213" progId="Paint.Picture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235"/>
                          <a:ext cx="3530" cy="10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BD54AFB-DA3D-40CA-BAD4-738FF37B79A5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 smtClean="0"/>
          </a:p>
        </p:txBody>
      </p:sp>
      <p:grpSp>
        <p:nvGrpSpPr>
          <p:cNvPr id="14339" name="Group 7"/>
          <p:cNvGrpSpPr>
            <a:grpSpLocks/>
          </p:cNvGrpSpPr>
          <p:nvPr/>
        </p:nvGrpSpPr>
        <p:grpSpPr bwMode="auto">
          <a:xfrm>
            <a:off x="977900" y="495300"/>
            <a:ext cx="7023100" cy="5715000"/>
            <a:chOff x="616" y="312"/>
            <a:chExt cx="4424" cy="3600"/>
          </a:xfrm>
        </p:grpSpPr>
        <p:sp>
          <p:nvSpPr>
            <p:cNvPr id="14340" name="Text Box 8"/>
            <p:cNvSpPr txBox="1">
              <a:spLocks noChangeArrowheads="1"/>
            </p:cNvSpPr>
            <p:nvPr/>
          </p:nvSpPr>
          <p:spPr bwMode="auto">
            <a:xfrm>
              <a:off x="625" y="374"/>
              <a:ext cx="4183" cy="3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图层号      描述                     颜色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  </a:t>
              </a:r>
              <a:r>
                <a:rPr lang="en-US" altLang="zh-CN" sz="2400" b="1">
                  <a:latin typeface="黑体" pitchFamily="2" charset="-122"/>
                  <a:ea typeface="黑体" pitchFamily="2" charset="-122"/>
                </a:rPr>
                <a:t>01       </a:t>
              </a: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粗实线                      绿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  </a:t>
              </a:r>
              <a:r>
                <a:rPr lang="en-US" altLang="zh-CN" sz="2400" b="1">
                  <a:latin typeface="黑体" pitchFamily="2" charset="-122"/>
                  <a:ea typeface="黑体" pitchFamily="2" charset="-122"/>
                </a:rPr>
                <a:t>02       </a:t>
              </a: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细实线、波浪线、折线        白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  </a:t>
              </a:r>
              <a:r>
                <a:rPr lang="en-US" altLang="zh-CN" sz="2400" b="1">
                  <a:latin typeface="黑体" pitchFamily="2" charset="-122"/>
                  <a:ea typeface="黑体" pitchFamily="2" charset="-122"/>
                </a:rPr>
                <a:t>03       </a:t>
              </a: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粗虚线                      黄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  </a:t>
              </a:r>
              <a:r>
                <a:rPr lang="en-US" altLang="zh-CN" sz="2400" b="1">
                  <a:latin typeface="黑体" pitchFamily="2" charset="-122"/>
                  <a:ea typeface="黑体" pitchFamily="2" charset="-122"/>
                </a:rPr>
                <a:t>04       </a:t>
              </a: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细虚线                      黄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  </a:t>
              </a:r>
              <a:r>
                <a:rPr lang="en-US" altLang="zh-CN" sz="2400" b="1">
                  <a:latin typeface="黑体" pitchFamily="2" charset="-122"/>
                  <a:ea typeface="黑体" pitchFamily="2" charset="-122"/>
                </a:rPr>
                <a:t>05       </a:t>
              </a: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细点画线                    红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  </a:t>
              </a:r>
              <a:r>
                <a:rPr lang="en-US" altLang="zh-CN" sz="2400" b="1">
                  <a:latin typeface="黑体" pitchFamily="2" charset="-122"/>
                  <a:ea typeface="黑体" pitchFamily="2" charset="-122"/>
                </a:rPr>
                <a:t>06       </a:t>
              </a: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粗点画线                    棕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  </a:t>
              </a:r>
              <a:r>
                <a:rPr lang="en-US" altLang="zh-CN" sz="2400" b="1">
                  <a:latin typeface="黑体" pitchFamily="2" charset="-122"/>
                  <a:ea typeface="黑体" pitchFamily="2" charset="-122"/>
                </a:rPr>
                <a:t>07       </a:t>
              </a: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细双点画线                 粉红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  </a:t>
              </a:r>
              <a:r>
                <a:rPr lang="en-US" altLang="zh-CN" sz="2400" b="1">
                  <a:latin typeface="黑体" pitchFamily="2" charset="-122"/>
                  <a:ea typeface="黑体" pitchFamily="2" charset="-122"/>
                </a:rPr>
                <a:t>08       </a:t>
              </a: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尺寸线、投影连线            白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  </a:t>
              </a:r>
              <a:r>
                <a:rPr lang="en-US" altLang="zh-CN" sz="2400" b="1">
                  <a:latin typeface="黑体" pitchFamily="2" charset="-122"/>
                  <a:ea typeface="黑体" pitchFamily="2" charset="-122"/>
                </a:rPr>
                <a:t>09       </a:t>
              </a: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参考圆、引出线              白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  </a:t>
              </a:r>
              <a:r>
                <a:rPr lang="en-US" altLang="zh-CN" sz="2400" b="1">
                  <a:latin typeface="黑体" pitchFamily="2" charset="-122"/>
                  <a:ea typeface="黑体" pitchFamily="2" charset="-122"/>
                </a:rPr>
                <a:t>10       </a:t>
              </a: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剖面符号                    白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  </a:t>
              </a:r>
              <a:r>
                <a:rPr lang="en-US" altLang="zh-CN" sz="2400" b="1">
                  <a:latin typeface="黑体" pitchFamily="2" charset="-122"/>
                  <a:ea typeface="黑体" pitchFamily="2" charset="-122"/>
                </a:rPr>
                <a:t>11       </a:t>
              </a: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文本（细实线）              白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  </a:t>
              </a:r>
              <a:r>
                <a:rPr lang="en-US" altLang="zh-CN" sz="2400" b="1">
                  <a:latin typeface="黑体" pitchFamily="2" charset="-122"/>
                  <a:ea typeface="黑体" pitchFamily="2" charset="-122"/>
                </a:rPr>
                <a:t>12       </a:t>
              </a: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尺寸值、公差                白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  </a:t>
              </a:r>
              <a:r>
                <a:rPr lang="en-US" altLang="zh-CN" sz="2400" b="1">
                  <a:latin typeface="黑体" pitchFamily="2" charset="-122"/>
                  <a:ea typeface="黑体" pitchFamily="2" charset="-122"/>
                </a:rPr>
                <a:t>13       </a:t>
              </a: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文本（粗实线）              绿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黑体" pitchFamily="2" charset="-122"/>
                  <a:ea typeface="黑体" pitchFamily="2" charset="-122"/>
                </a:rPr>
                <a:t>14</a:t>
              </a: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、</a:t>
              </a:r>
              <a:r>
                <a:rPr lang="en-US" altLang="zh-CN" sz="2400" b="1">
                  <a:latin typeface="黑体" pitchFamily="2" charset="-122"/>
                  <a:ea typeface="黑体" pitchFamily="2" charset="-122"/>
                </a:rPr>
                <a:t>15</a:t>
              </a: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、</a:t>
              </a:r>
              <a:r>
                <a:rPr lang="en-US" altLang="zh-CN" sz="2400" b="1">
                  <a:latin typeface="黑体" pitchFamily="2" charset="-122"/>
                  <a:ea typeface="黑体" pitchFamily="2" charset="-122"/>
                </a:rPr>
                <a:t>16      </a:t>
              </a: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用户选用</a:t>
              </a:r>
            </a:p>
          </p:txBody>
        </p:sp>
        <p:sp>
          <p:nvSpPr>
            <p:cNvPr id="14341" name="Rectangle 9"/>
            <p:cNvSpPr>
              <a:spLocks noChangeArrowheads="1"/>
            </p:cNvSpPr>
            <p:nvPr/>
          </p:nvSpPr>
          <p:spPr bwMode="auto">
            <a:xfrm>
              <a:off x="625" y="312"/>
              <a:ext cx="4399" cy="36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4342" name="Line 10"/>
            <p:cNvSpPr>
              <a:spLocks noChangeShapeType="1"/>
            </p:cNvSpPr>
            <p:nvPr/>
          </p:nvSpPr>
          <p:spPr bwMode="auto">
            <a:xfrm>
              <a:off x="624" y="648"/>
              <a:ext cx="4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3" name="Line 11"/>
            <p:cNvSpPr>
              <a:spLocks noChangeShapeType="1"/>
            </p:cNvSpPr>
            <p:nvPr/>
          </p:nvSpPr>
          <p:spPr bwMode="auto">
            <a:xfrm>
              <a:off x="624" y="872"/>
              <a:ext cx="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4" name="Line 12"/>
            <p:cNvSpPr>
              <a:spLocks noChangeShapeType="1"/>
            </p:cNvSpPr>
            <p:nvPr/>
          </p:nvSpPr>
          <p:spPr bwMode="auto">
            <a:xfrm>
              <a:off x="624" y="1112"/>
              <a:ext cx="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5" name="Line 13"/>
            <p:cNvSpPr>
              <a:spLocks noChangeShapeType="1"/>
            </p:cNvSpPr>
            <p:nvPr/>
          </p:nvSpPr>
          <p:spPr bwMode="auto">
            <a:xfrm>
              <a:off x="632" y="2248"/>
              <a:ext cx="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6" name="Line 14"/>
            <p:cNvSpPr>
              <a:spLocks noChangeShapeType="1"/>
            </p:cNvSpPr>
            <p:nvPr/>
          </p:nvSpPr>
          <p:spPr bwMode="auto">
            <a:xfrm>
              <a:off x="632" y="2472"/>
              <a:ext cx="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7" name="Line 15"/>
            <p:cNvSpPr>
              <a:spLocks noChangeShapeType="1"/>
            </p:cNvSpPr>
            <p:nvPr/>
          </p:nvSpPr>
          <p:spPr bwMode="auto">
            <a:xfrm>
              <a:off x="616" y="2720"/>
              <a:ext cx="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8" name="Line 16"/>
            <p:cNvSpPr>
              <a:spLocks noChangeShapeType="1"/>
            </p:cNvSpPr>
            <p:nvPr/>
          </p:nvSpPr>
          <p:spPr bwMode="auto">
            <a:xfrm>
              <a:off x="624" y="2944"/>
              <a:ext cx="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9" name="Line 17"/>
            <p:cNvSpPr>
              <a:spLocks noChangeShapeType="1"/>
            </p:cNvSpPr>
            <p:nvPr/>
          </p:nvSpPr>
          <p:spPr bwMode="auto">
            <a:xfrm>
              <a:off x="640" y="3168"/>
              <a:ext cx="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0" name="Line 18"/>
            <p:cNvSpPr>
              <a:spLocks noChangeShapeType="1"/>
            </p:cNvSpPr>
            <p:nvPr/>
          </p:nvSpPr>
          <p:spPr bwMode="auto">
            <a:xfrm>
              <a:off x="624" y="3400"/>
              <a:ext cx="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1" name="Line 19"/>
            <p:cNvSpPr>
              <a:spLocks noChangeShapeType="1"/>
            </p:cNvSpPr>
            <p:nvPr/>
          </p:nvSpPr>
          <p:spPr bwMode="auto">
            <a:xfrm>
              <a:off x="624" y="3640"/>
              <a:ext cx="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2" name="Line 20"/>
            <p:cNvSpPr>
              <a:spLocks noChangeShapeType="1"/>
            </p:cNvSpPr>
            <p:nvPr/>
          </p:nvSpPr>
          <p:spPr bwMode="auto">
            <a:xfrm>
              <a:off x="624" y="1328"/>
              <a:ext cx="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3" name="Line 21"/>
            <p:cNvSpPr>
              <a:spLocks noChangeShapeType="1"/>
            </p:cNvSpPr>
            <p:nvPr/>
          </p:nvSpPr>
          <p:spPr bwMode="auto">
            <a:xfrm>
              <a:off x="624" y="1552"/>
              <a:ext cx="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4" name="Line 22"/>
            <p:cNvSpPr>
              <a:spLocks noChangeShapeType="1"/>
            </p:cNvSpPr>
            <p:nvPr/>
          </p:nvSpPr>
          <p:spPr bwMode="auto">
            <a:xfrm>
              <a:off x="632" y="1784"/>
              <a:ext cx="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5" name="Line 23"/>
            <p:cNvSpPr>
              <a:spLocks noChangeShapeType="1"/>
            </p:cNvSpPr>
            <p:nvPr/>
          </p:nvSpPr>
          <p:spPr bwMode="auto">
            <a:xfrm>
              <a:off x="624" y="2024"/>
              <a:ext cx="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6" name="Line 24"/>
            <p:cNvSpPr>
              <a:spLocks noChangeShapeType="1"/>
            </p:cNvSpPr>
            <p:nvPr/>
          </p:nvSpPr>
          <p:spPr bwMode="auto">
            <a:xfrm>
              <a:off x="1448" y="312"/>
              <a:ext cx="0" cy="33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7" name="Line 25"/>
            <p:cNvSpPr>
              <a:spLocks noChangeShapeType="1"/>
            </p:cNvSpPr>
            <p:nvPr/>
          </p:nvSpPr>
          <p:spPr bwMode="auto">
            <a:xfrm>
              <a:off x="4000" y="312"/>
              <a:ext cx="0" cy="3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8" name="Line 26"/>
            <p:cNvSpPr>
              <a:spLocks noChangeShapeType="1"/>
            </p:cNvSpPr>
            <p:nvPr/>
          </p:nvSpPr>
          <p:spPr bwMode="auto">
            <a:xfrm>
              <a:off x="1752" y="364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EAB01F6-CABC-41EC-B844-CCAAB7703CD2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400" smtClean="0"/>
          </a:p>
        </p:txBody>
      </p:sp>
      <p:sp>
        <p:nvSpPr>
          <p:cNvPr id="185347" name="Rectangle 3"/>
          <p:cNvSpPr>
            <a:spLocks noChangeArrowheads="1"/>
          </p:cNvSpPr>
          <p:nvPr/>
        </p:nvSpPr>
        <p:spPr bwMode="auto">
          <a:xfrm>
            <a:off x="649288" y="141288"/>
            <a:ext cx="7683500" cy="21288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6700" algn="l" eaLnBrk="0" hangingPunct="0">
              <a:spcBef>
                <a:spcPct val="20000"/>
              </a:spcBef>
              <a:buChar char="•"/>
              <a:tabLst>
                <a:tab pos="304800" algn="l"/>
                <a:tab pos="342900" algn="l"/>
              </a:tabLst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tabLst>
                <a:tab pos="304800" algn="l"/>
                <a:tab pos="342900" algn="l"/>
              </a:tabLs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tabLst>
                <a:tab pos="304800" algn="l"/>
                <a:tab pos="3429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kumimoji="0" lang="zh-CN" altLang="en-US" sz="2800" b="1">
                <a:latin typeface="黑体" pitchFamily="2" charset="-122"/>
                <a:ea typeface="黑体" pitchFamily="2" charset="-122"/>
              </a:rPr>
              <a:t>操作举例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设置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4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个图层：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图层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1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，绿色、粗实线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(Continuous)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、线宽为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0.3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图层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2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，黑色、细实线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(Continuous)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、线宽为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0.15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图层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3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，蓝色、虚线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(Dashed)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、线宽为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0.15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图层</a:t>
            </a:r>
            <a:r>
              <a:rPr kumimoji="0" lang="en-US" altLang="zh-CN" sz="2000" b="1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kumimoji="0" lang="zh-CN" altLang="en-US" sz="2000" b="1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，红色、点画线</a:t>
            </a:r>
            <a:r>
              <a:rPr kumimoji="0" lang="en-US" altLang="zh-CN" sz="2000" b="1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(Center)</a:t>
            </a:r>
            <a:r>
              <a:rPr kumimoji="0" lang="zh-CN" altLang="en-US" sz="2000" b="1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、线宽为</a:t>
            </a:r>
            <a:r>
              <a:rPr kumimoji="0" lang="en-US" altLang="zh-CN" sz="2000" b="1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0.15</a:t>
            </a:r>
          </a:p>
        </p:txBody>
      </p:sp>
      <p:sp>
        <p:nvSpPr>
          <p:cNvPr id="185348" name="Rectangle 4"/>
          <p:cNvSpPr>
            <a:spLocks noChangeArrowheads="1"/>
          </p:cNvSpPr>
          <p:nvPr/>
        </p:nvSpPr>
        <p:spPr bwMode="auto">
          <a:xfrm>
            <a:off x="190500" y="2322513"/>
            <a:ext cx="8802688" cy="10064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6700" algn="l" eaLnBrk="0" hangingPunct="0">
              <a:spcBef>
                <a:spcPct val="20000"/>
              </a:spcBef>
              <a:buChar char="•"/>
              <a:tabLst>
                <a:tab pos="304800" algn="l"/>
                <a:tab pos="342900" algn="l"/>
              </a:tabLst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tabLst>
                <a:tab pos="304800" algn="l"/>
                <a:tab pos="342900" algn="l"/>
              </a:tabLs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tabLst>
                <a:tab pos="304800" algn="l"/>
                <a:tab pos="3429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设置新图层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4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，颜色为红色、线型为点画线，操作步骤如下：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① 点击标准工具栏中图层图标   ，出现 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Layer Properties Manager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对话框</a:t>
            </a:r>
          </a:p>
        </p:txBody>
      </p:sp>
      <p:pic>
        <p:nvPicPr>
          <p:cNvPr id="18535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3838" y="2695575"/>
            <a:ext cx="333375" cy="30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5351" name="Rectangle 7"/>
          <p:cNvSpPr>
            <a:spLocks noChangeArrowheads="1"/>
          </p:cNvSpPr>
          <p:nvPr/>
        </p:nvSpPr>
        <p:spPr bwMode="auto">
          <a:xfrm>
            <a:off x="185738" y="3325813"/>
            <a:ext cx="8802687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6700" algn="l" eaLnBrk="0" hangingPunct="0">
              <a:spcBef>
                <a:spcPct val="20000"/>
              </a:spcBef>
              <a:buChar char="•"/>
              <a:tabLst>
                <a:tab pos="304800" algn="l"/>
                <a:tab pos="342900" algn="l"/>
              </a:tabLst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tabLst>
                <a:tab pos="304800" algn="l"/>
                <a:tab pos="342900" algn="l"/>
              </a:tabLs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tabLst>
                <a:tab pos="304800" algn="l"/>
                <a:tab pos="3429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② 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点击 </a:t>
            </a:r>
            <a:r>
              <a:rPr kumimoji="0" lang="zh-CN" altLang="en-US" sz="2000" b="1">
                <a:latin typeface="Arial" charset="0"/>
                <a:ea typeface="黑体" pitchFamily="2" charset="-122"/>
              </a:rPr>
              <a:t>“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New</a:t>
            </a:r>
            <a:r>
              <a:rPr kumimoji="0" lang="en-US" altLang="zh-CN" sz="2000" b="1">
                <a:latin typeface="Arial" charset="0"/>
                <a:ea typeface="黑体" pitchFamily="2" charset="-122"/>
              </a:rPr>
              <a:t>”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，将</a:t>
            </a:r>
            <a:r>
              <a:rPr kumimoji="0" lang="zh-CN" altLang="en-US" sz="2000" b="1">
                <a:latin typeface="Arial" charset="0"/>
                <a:ea typeface="黑体" pitchFamily="2" charset="-122"/>
              </a:rPr>
              <a:t>“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Name</a:t>
            </a:r>
            <a:r>
              <a:rPr kumimoji="0" lang="en-US" altLang="zh-CN" sz="2000" b="1">
                <a:latin typeface="Arial" charset="0"/>
                <a:ea typeface="黑体" pitchFamily="2" charset="-122"/>
              </a:rPr>
              <a:t>”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设为</a:t>
            </a:r>
            <a:r>
              <a:rPr kumimoji="0" lang="zh-CN" altLang="en-US" sz="2000" b="1">
                <a:latin typeface="Arial" charset="0"/>
                <a:ea typeface="黑体" pitchFamily="2" charset="-122"/>
              </a:rPr>
              <a:t>“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4</a:t>
            </a:r>
            <a:r>
              <a:rPr kumimoji="0" lang="en-US" altLang="zh-CN" sz="2000" b="1">
                <a:latin typeface="Arial" charset="0"/>
                <a:ea typeface="黑体" pitchFamily="2" charset="-122"/>
              </a:rPr>
              <a:t>”</a:t>
            </a:r>
            <a:endParaRPr kumimoji="0" lang="en-US" altLang="zh-CN" sz="2000" b="1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③ 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将</a:t>
            </a:r>
            <a:r>
              <a:rPr kumimoji="0" lang="zh-CN" altLang="en-US" sz="2000" b="1">
                <a:latin typeface="Arial" charset="0"/>
                <a:ea typeface="黑体" pitchFamily="2" charset="-122"/>
              </a:rPr>
              <a:t>“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Color</a:t>
            </a:r>
            <a:r>
              <a:rPr kumimoji="0" lang="en-US" altLang="zh-CN" sz="2000" b="1">
                <a:latin typeface="Arial" charset="0"/>
                <a:ea typeface="黑体" pitchFamily="2" charset="-122"/>
              </a:rPr>
              <a:t>”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设置为</a:t>
            </a:r>
            <a:r>
              <a:rPr kumimoji="0" lang="zh-CN" altLang="en-US" sz="2000" b="1">
                <a:latin typeface="Arial" charset="0"/>
                <a:ea typeface="黑体" pitchFamily="2" charset="-122"/>
              </a:rPr>
              <a:t>“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红色</a:t>
            </a:r>
            <a:r>
              <a:rPr kumimoji="0" lang="zh-CN" altLang="en-US" sz="2000" b="1">
                <a:latin typeface="Arial" charset="0"/>
                <a:ea typeface="黑体" pitchFamily="2" charset="-122"/>
              </a:rPr>
              <a:t>”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④ 将</a:t>
            </a:r>
            <a:r>
              <a:rPr kumimoji="0" lang="zh-CN" altLang="en-US" sz="2000" b="1">
                <a:latin typeface="Arial" charset="0"/>
                <a:ea typeface="黑体" pitchFamily="2" charset="-122"/>
              </a:rPr>
              <a:t>“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Linetype</a:t>
            </a:r>
            <a:r>
              <a:rPr kumimoji="0" lang="en-US" altLang="zh-CN" sz="2000" b="1">
                <a:latin typeface="Arial" charset="0"/>
                <a:ea typeface="黑体" pitchFamily="2" charset="-122"/>
              </a:rPr>
              <a:t>”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设置为点画线：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 </a:t>
            </a:r>
            <a:r>
              <a:rPr kumimoji="0" lang="en-US" altLang="zh-CN" sz="2000" b="1">
                <a:latin typeface="Arial" charset="0"/>
                <a:ea typeface="黑体" pitchFamily="2" charset="-122"/>
              </a:rPr>
              <a:t>•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点击层</a:t>
            </a:r>
            <a:r>
              <a:rPr kumimoji="0" lang="zh-CN" altLang="en-US" sz="2000" b="1">
                <a:latin typeface="Arial" charset="0"/>
                <a:ea typeface="黑体" pitchFamily="2" charset="-122"/>
              </a:rPr>
              <a:t>“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4</a:t>
            </a:r>
            <a:r>
              <a:rPr kumimoji="0" lang="en-US" altLang="zh-CN" sz="2000" b="1">
                <a:latin typeface="Arial" charset="0"/>
                <a:ea typeface="黑体" pitchFamily="2" charset="-122"/>
              </a:rPr>
              <a:t>”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中的</a:t>
            </a:r>
            <a:r>
              <a:rPr kumimoji="0" lang="zh-CN" altLang="en-US" sz="2000" b="1">
                <a:latin typeface="Arial" charset="0"/>
                <a:ea typeface="黑体" pitchFamily="2" charset="-122"/>
              </a:rPr>
              <a:t>“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Linetype</a:t>
            </a:r>
            <a:r>
              <a:rPr kumimoji="0" lang="en-US" altLang="zh-CN" sz="2000" b="1">
                <a:latin typeface="Arial" charset="0"/>
                <a:ea typeface="黑体" pitchFamily="2" charset="-122"/>
              </a:rPr>
              <a:t>”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项，出现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Select Linetype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对话框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 </a:t>
            </a:r>
            <a:r>
              <a:rPr kumimoji="0" lang="en-US" altLang="zh-CN" sz="2000" b="1">
                <a:latin typeface="Arial" charset="0"/>
                <a:ea typeface="黑体" pitchFamily="2" charset="-122"/>
              </a:rPr>
              <a:t>•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单击</a:t>
            </a:r>
            <a:r>
              <a:rPr kumimoji="0" lang="zh-CN" altLang="en-US" sz="2000" b="1">
                <a:latin typeface="Arial" charset="0"/>
                <a:ea typeface="黑体" pitchFamily="2" charset="-122"/>
              </a:rPr>
              <a:t>“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Load</a:t>
            </a:r>
            <a:r>
              <a:rPr kumimoji="0" lang="en-US" altLang="zh-CN" sz="2000" b="1">
                <a:latin typeface="Arial" charset="0"/>
                <a:ea typeface="黑体" pitchFamily="2" charset="-122"/>
              </a:rPr>
              <a:t>”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按钮，在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Load or reload Linetype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对话框中拾取</a:t>
            </a:r>
            <a:r>
              <a:rPr kumimoji="0" lang="zh-CN" altLang="en-US" sz="2000" b="1">
                <a:latin typeface="Arial" charset="0"/>
                <a:ea typeface="黑体" pitchFamily="2" charset="-122"/>
              </a:rPr>
              <a:t>“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Center</a:t>
            </a:r>
            <a:r>
              <a:rPr kumimoji="0" lang="en-US" altLang="zh-CN" sz="2000" b="1">
                <a:latin typeface="Arial" charset="0"/>
                <a:ea typeface="黑体" pitchFamily="2" charset="-122"/>
              </a:rPr>
              <a:t>”</a:t>
            </a:r>
            <a:endParaRPr kumimoji="0" lang="en-US" altLang="zh-CN" sz="2000" b="1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   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线型，按</a:t>
            </a:r>
            <a:r>
              <a:rPr kumimoji="0" lang="zh-CN" altLang="en-US" sz="2000" b="1">
                <a:latin typeface="Arial" charset="0"/>
                <a:ea typeface="黑体" pitchFamily="2" charset="-122"/>
              </a:rPr>
              <a:t>“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OK</a:t>
            </a:r>
            <a:r>
              <a:rPr kumimoji="0" lang="en-US" altLang="zh-CN" sz="2000" b="1">
                <a:latin typeface="Arial" charset="0"/>
                <a:ea typeface="黑体" pitchFamily="2" charset="-122"/>
              </a:rPr>
              <a:t>”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按钮，返回到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Select Linetype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对话框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 </a:t>
            </a:r>
            <a:r>
              <a:rPr kumimoji="0" lang="en-US" altLang="zh-CN" sz="2000" b="1">
                <a:latin typeface="Arial" charset="0"/>
                <a:ea typeface="黑体" pitchFamily="2" charset="-122"/>
              </a:rPr>
              <a:t>•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拾取</a:t>
            </a:r>
            <a:r>
              <a:rPr kumimoji="0" lang="zh-CN" altLang="en-US" sz="2000" b="1">
                <a:latin typeface="Arial" charset="0"/>
                <a:ea typeface="黑体" pitchFamily="2" charset="-122"/>
              </a:rPr>
              <a:t>“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Center</a:t>
            </a:r>
            <a:r>
              <a:rPr kumimoji="0" lang="en-US" altLang="zh-CN" sz="2000" b="1">
                <a:latin typeface="Arial" charset="0"/>
                <a:ea typeface="黑体" pitchFamily="2" charset="-122"/>
              </a:rPr>
              <a:t>”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线型，按</a:t>
            </a:r>
            <a:r>
              <a:rPr kumimoji="0" lang="zh-CN" altLang="en-US" sz="2000" b="1">
                <a:latin typeface="Arial" charset="0"/>
                <a:ea typeface="黑体" pitchFamily="2" charset="-122"/>
              </a:rPr>
              <a:t>“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OK</a:t>
            </a:r>
            <a:r>
              <a:rPr kumimoji="0" lang="en-US" altLang="zh-CN" sz="2000" b="1">
                <a:latin typeface="Arial" charset="0"/>
                <a:ea typeface="黑体" pitchFamily="2" charset="-122"/>
              </a:rPr>
              <a:t>”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按钮，返回到 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Layer Properties Manager 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对话框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 </a:t>
            </a:r>
            <a:r>
              <a:rPr kumimoji="0" lang="en-US" altLang="zh-CN" sz="2000" b="1">
                <a:latin typeface="Arial" charset="0"/>
                <a:ea typeface="黑体" pitchFamily="2" charset="-122"/>
              </a:rPr>
              <a:t>•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将</a:t>
            </a:r>
            <a:r>
              <a:rPr kumimoji="0" lang="zh-CN" altLang="en-US" sz="2000" b="1">
                <a:latin typeface="Arial" charset="0"/>
                <a:ea typeface="黑体" pitchFamily="2" charset="-122"/>
              </a:rPr>
              <a:t>“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Lineweight</a:t>
            </a:r>
            <a:r>
              <a:rPr kumimoji="0" lang="en-US" altLang="zh-CN" sz="2000" b="1">
                <a:latin typeface="Arial" charset="0"/>
                <a:ea typeface="黑体" pitchFamily="2" charset="-122"/>
              </a:rPr>
              <a:t>”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设置为</a:t>
            </a:r>
            <a:r>
              <a:rPr kumimoji="0" lang="zh-CN" altLang="en-US" sz="2000" b="1">
                <a:latin typeface="Arial" charset="0"/>
                <a:ea typeface="黑体" pitchFamily="2" charset="-122"/>
              </a:rPr>
              <a:t>“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0.15</a:t>
            </a:r>
            <a:r>
              <a:rPr kumimoji="0" lang="en-US" altLang="zh-CN" sz="2000" b="1">
                <a:latin typeface="Arial" charset="0"/>
                <a:ea typeface="黑体" pitchFamily="2" charset="-122"/>
              </a:rPr>
              <a:t>”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其他图层的设置同②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-④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5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5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7" grpId="0" animBg="1"/>
      <p:bldP spid="185348" grpId="0" animBg="1"/>
      <p:bldP spid="18535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A9EB96F-BA76-4886-AFC3-856FD057DF27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400" smtClean="0"/>
          </a:p>
        </p:txBody>
      </p:sp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269875" y="209550"/>
            <a:ext cx="4603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tabLst>
                <a:tab pos="304800" algn="l"/>
                <a:tab pos="342900" algn="l"/>
              </a:tabLst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tabLst>
                <a:tab pos="304800" algn="l"/>
                <a:tab pos="342900" algn="l"/>
              </a:tabLs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tabLst>
                <a:tab pos="304800" algn="l"/>
                <a:tab pos="3429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b="1">
                <a:latin typeface="黑体" pitchFamily="2" charset="-122"/>
                <a:ea typeface="黑体" pitchFamily="2" charset="-122"/>
              </a:rPr>
              <a:t>二</a:t>
            </a:r>
            <a:r>
              <a:rPr kumimoji="0" lang="en-US" altLang="zh-CN" b="1">
                <a:latin typeface="黑体" pitchFamily="2" charset="-122"/>
                <a:ea typeface="黑体" pitchFamily="2" charset="-122"/>
              </a:rPr>
              <a:t>.</a:t>
            </a:r>
            <a:r>
              <a:rPr kumimoji="0" lang="zh-CN" altLang="en-US" b="1">
                <a:latin typeface="黑体" pitchFamily="2" charset="-122"/>
                <a:ea typeface="黑体" pitchFamily="2" charset="-122"/>
              </a:rPr>
              <a:t>常用绘图命令</a:t>
            </a:r>
            <a:r>
              <a:rPr kumimoji="0" lang="zh-CN" altLang="en-US" b="1">
                <a:latin typeface="黑体" pitchFamily="2" charset="-122"/>
                <a:ea typeface="黑体" pitchFamily="2" charset="-122"/>
                <a:cs typeface="Times New Roman" pitchFamily="18" charset="0"/>
              </a:rPr>
              <a:t>	</a:t>
            </a:r>
          </a:p>
        </p:txBody>
      </p:sp>
      <p:graphicFrame>
        <p:nvGraphicFramePr>
          <p:cNvPr id="163843" name="Object 3"/>
          <p:cNvGraphicFramePr>
            <a:graphicFrameLocks noChangeAspect="1"/>
          </p:cNvGraphicFramePr>
          <p:nvPr/>
        </p:nvGraphicFramePr>
        <p:xfrm>
          <a:off x="1722438" y="1470025"/>
          <a:ext cx="201612" cy="20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4" name="位图图像" r:id="rId3" imgW="181096" imgH="181096" progId="Paint.Picture">
                  <p:embed/>
                </p:oleObj>
              </mc:Choice>
              <mc:Fallback>
                <p:oleObj name="位图图像" r:id="rId3" imgW="181096" imgH="181096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2438" y="1470025"/>
                        <a:ext cx="201612" cy="20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4" name="Object 4"/>
          <p:cNvGraphicFramePr>
            <a:graphicFrameLocks noChangeAspect="1"/>
          </p:cNvGraphicFramePr>
          <p:nvPr/>
        </p:nvGraphicFramePr>
        <p:xfrm>
          <a:off x="1733550" y="1776413"/>
          <a:ext cx="1905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5" name="位图图像" r:id="rId5" imgW="181096" imgH="161990" progId="Paint.Picture">
                  <p:embed/>
                </p:oleObj>
              </mc:Choice>
              <mc:Fallback>
                <p:oleObj name="位图图像" r:id="rId5" imgW="181096" imgH="16199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1776413"/>
                        <a:ext cx="1905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5" name="Object 5"/>
          <p:cNvGraphicFramePr>
            <a:graphicFrameLocks noChangeAspect="1"/>
          </p:cNvGraphicFramePr>
          <p:nvPr/>
        </p:nvGraphicFramePr>
        <p:xfrm>
          <a:off x="1757363" y="2089150"/>
          <a:ext cx="161925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6" name="位图图像" r:id="rId7" imgW="144731" imgH="144731" progId="Paint.Picture">
                  <p:embed/>
                </p:oleObj>
              </mc:Choice>
              <mc:Fallback>
                <p:oleObj name="位图图像" r:id="rId7" imgW="144731" imgH="144731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363" y="2089150"/>
                        <a:ext cx="161925" cy="16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6" name="Object 6"/>
          <p:cNvGraphicFramePr>
            <a:graphicFrameLocks noChangeAspect="1"/>
          </p:cNvGraphicFramePr>
          <p:nvPr/>
        </p:nvGraphicFramePr>
        <p:xfrm>
          <a:off x="1722438" y="2406650"/>
          <a:ext cx="190500" cy="13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7" name="位图图像" r:id="rId9" imgW="167761" imgH="122034" progId="Paint.Picture">
                  <p:embed/>
                </p:oleObj>
              </mc:Choice>
              <mc:Fallback>
                <p:oleObj name="位图图像" r:id="rId9" imgW="167761" imgH="122034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2438" y="2406650"/>
                        <a:ext cx="190500" cy="13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7" name="Object 7"/>
          <p:cNvGraphicFramePr>
            <a:graphicFrameLocks noChangeAspect="1"/>
          </p:cNvGraphicFramePr>
          <p:nvPr/>
        </p:nvGraphicFramePr>
        <p:xfrm>
          <a:off x="1733550" y="2705100"/>
          <a:ext cx="147638" cy="13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8" name="位图图像" r:id="rId11" imgW="129606" imgH="122034" progId="Paint.Picture">
                  <p:embed/>
                </p:oleObj>
              </mc:Choice>
              <mc:Fallback>
                <p:oleObj name="位图图像" r:id="rId11" imgW="129606" imgH="122034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2705100"/>
                        <a:ext cx="147638" cy="136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8" name="Object 8"/>
          <p:cNvGraphicFramePr>
            <a:graphicFrameLocks noChangeAspect="1"/>
          </p:cNvGraphicFramePr>
          <p:nvPr/>
        </p:nvGraphicFramePr>
        <p:xfrm>
          <a:off x="1719263" y="3025775"/>
          <a:ext cx="169862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9" name="位图图像" r:id="rId13" imgW="144731" imgH="99006" progId="Paint.Picture">
                  <p:embed/>
                </p:oleObj>
              </mc:Choice>
              <mc:Fallback>
                <p:oleObj name="位图图像" r:id="rId13" imgW="144731" imgH="99006" progId="Paint.Picture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9263" y="3025775"/>
                        <a:ext cx="169862" cy="112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9" name="Object 9"/>
          <p:cNvGraphicFramePr>
            <a:graphicFrameLocks noChangeAspect="1"/>
          </p:cNvGraphicFramePr>
          <p:nvPr/>
        </p:nvGraphicFramePr>
        <p:xfrm>
          <a:off x="1730375" y="3416300"/>
          <a:ext cx="161925" cy="11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0" name="位图图像" r:id="rId15" imgW="144731" imgH="106554" progId="Paint.Picture">
                  <p:embed/>
                </p:oleObj>
              </mc:Choice>
              <mc:Fallback>
                <p:oleObj name="位图图像" r:id="rId15" imgW="144731" imgH="106554" progId="Paint.Picture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375" y="3416300"/>
                        <a:ext cx="161925" cy="119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50" name="Object 10"/>
          <p:cNvGraphicFramePr>
            <a:graphicFrameLocks noChangeAspect="1"/>
          </p:cNvGraphicFramePr>
          <p:nvPr/>
        </p:nvGraphicFramePr>
        <p:xfrm>
          <a:off x="1731963" y="3841750"/>
          <a:ext cx="179387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1" name="位图图像" r:id="rId17" imgW="152284" imgH="99006" progId="Paint.Picture">
                  <p:embed/>
                </p:oleObj>
              </mc:Choice>
              <mc:Fallback>
                <p:oleObj name="位图图像" r:id="rId17" imgW="152284" imgH="99006" progId="Paint.Picture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1963" y="3841750"/>
                        <a:ext cx="179387" cy="112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51" name="Object 11"/>
          <p:cNvGraphicFramePr>
            <a:graphicFrameLocks noChangeAspect="1"/>
          </p:cNvGraphicFramePr>
          <p:nvPr/>
        </p:nvGraphicFramePr>
        <p:xfrm>
          <a:off x="1755775" y="4152900"/>
          <a:ext cx="119063" cy="11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2" name="位图图像" r:id="rId19" imgW="106554" imgH="106554" progId="Paint.Picture">
                  <p:embed/>
                </p:oleObj>
              </mc:Choice>
              <mc:Fallback>
                <p:oleObj name="位图图像" r:id="rId19" imgW="106554" imgH="106554" progId="Paint.Picture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5775" y="4152900"/>
                        <a:ext cx="119063" cy="119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52" name="Object 12"/>
          <p:cNvGraphicFramePr>
            <a:graphicFrameLocks noChangeAspect="1"/>
          </p:cNvGraphicFramePr>
          <p:nvPr/>
        </p:nvGraphicFramePr>
        <p:xfrm>
          <a:off x="1731963" y="4500563"/>
          <a:ext cx="173037" cy="15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3" name="位图图像" r:id="rId21" imgW="152284" imgH="137172" progId="Paint.Picture">
                  <p:embed/>
                </p:oleObj>
              </mc:Choice>
              <mc:Fallback>
                <p:oleObj name="位图图像" r:id="rId21" imgW="152284" imgH="137172" progId="Paint.Picture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1963" y="4500563"/>
                        <a:ext cx="173037" cy="150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53" name="Object 13"/>
          <p:cNvGraphicFramePr>
            <a:graphicFrameLocks noChangeAspect="1"/>
          </p:cNvGraphicFramePr>
          <p:nvPr/>
        </p:nvGraphicFramePr>
        <p:xfrm>
          <a:off x="1728788" y="5470525"/>
          <a:ext cx="18415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4" name="位图图像" r:id="rId23" imgW="160203" imgH="137172" progId="Paint.Picture">
                  <p:embed/>
                </p:oleObj>
              </mc:Choice>
              <mc:Fallback>
                <p:oleObj name="位图图像" r:id="rId23" imgW="160203" imgH="137172" progId="Paint.Picture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788" y="5470525"/>
                        <a:ext cx="18415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54" name="Group 14"/>
          <p:cNvGraphicFramePr>
            <a:graphicFrameLocks noGrp="1"/>
          </p:cNvGraphicFramePr>
          <p:nvPr/>
        </p:nvGraphicFramePr>
        <p:xfrm>
          <a:off x="341313" y="1090613"/>
          <a:ext cx="8447087" cy="4602272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4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命令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图标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功 能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命  令  操  作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Line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绘制直线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输入线段起点、终点：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1" lang="en-US" altLang="zh-CN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1" lang="en-US" altLang="zh-CN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1" lang="en-US" altLang="zh-CN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1" lang="en-US" altLang="zh-CN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n  </a:t>
                      </a: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回车结束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Circle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绘制圆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输入圆心、半径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Arc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绘制圆弧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输入确定圆弧的三个点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Rectang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绘制矩形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输入矩形的第一个角点，输入矩形的对角角点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Polygon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绘制正多边形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输入边数、多边形中心、多边形内切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[</a:t>
                      </a: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外接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]</a:t>
                      </a: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圆半径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Ellipse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绘制椭圆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输入椭圆第一个轴的两个端点、第二个轴的一个端点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Pline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绘制多义线  或绘制箭头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绘制多义线：输入起点、下一点、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回车结束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绘制箭头：输入起点、选择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W(</a:t>
                      </a: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定义起、终点线宽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)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7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Spline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绘制样条曲线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输入第一点、下一点、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回车，回车，回车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7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Point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绘制点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指定点、指定点、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按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Esc</a:t>
                      </a: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键结束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81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Hatch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图样填充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在对话框内选取图案式样、点击</a:t>
                      </a: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“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Pick Points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”</a:t>
                      </a: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按钮、在填充区域内指定一点、回车、按</a:t>
                      </a: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“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OK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”</a:t>
                      </a: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按钮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181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Text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添加单行文字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输</a:t>
                      </a: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“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s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”</a:t>
                      </a: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选择文字字型、指定文字书写起点、输入字高、旋转角度、输入文字、回车、回车。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7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Mtext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添加多行文字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通过对话框操作完成多行或单行文本的输入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63926" name="Rectangle 86"/>
          <p:cNvSpPr>
            <a:spLocks noChangeArrowheads="1"/>
          </p:cNvSpPr>
          <p:nvPr/>
        </p:nvSpPr>
        <p:spPr bwMode="auto">
          <a:xfrm>
            <a:off x="341313" y="5641975"/>
            <a:ext cx="8802687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tabLst>
                <a:tab pos="304800" algn="l"/>
                <a:tab pos="342900" algn="l"/>
              </a:tabLst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tabLst>
                <a:tab pos="304800" algn="l"/>
                <a:tab pos="342900" algn="l"/>
              </a:tabLs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tabLst>
                <a:tab pos="304800" algn="l"/>
                <a:tab pos="3429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en-US" altLang="zh-CN" sz="1400" b="1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en-US" sz="1400" b="1">
                <a:latin typeface="黑体" pitchFamily="2" charset="-122"/>
                <a:ea typeface="黑体" pitchFamily="2" charset="-122"/>
              </a:rPr>
              <a:t>特殊符号：</a:t>
            </a:r>
            <a:r>
              <a:rPr kumimoji="0" lang="zh-CN" altLang="en-US" sz="1400" b="1">
                <a:latin typeface="黑体" pitchFamily="2" charset="-122"/>
                <a:ea typeface="黑体" pitchFamily="2" charset="-122"/>
              </a:rPr>
              <a:t>直径符号</a:t>
            </a:r>
            <a:r>
              <a:rPr kumimoji="0" lang="en-US" altLang="en-US" sz="1400" b="1">
                <a:latin typeface="黑体" pitchFamily="2" charset="-122"/>
                <a:ea typeface="黑体" pitchFamily="2" charset="-122"/>
              </a:rPr>
              <a:t> </a:t>
            </a:r>
            <a:r>
              <a:rPr kumimoji="0" lang="en-US" altLang="en-US" sz="1400" b="1">
                <a:latin typeface="Arial" charset="0"/>
                <a:ea typeface="黑体" pitchFamily="2" charset="-122"/>
              </a:rPr>
              <a:t>“Ø”</a:t>
            </a:r>
            <a:r>
              <a:rPr kumimoji="0" lang="zh-CN" altLang="en-US" sz="1400" b="1">
                <a:latin typeface="黑体" pitchFamily="2" charset="-122"/>
                <a:ea typeface="黑体" pitchFamily="2" charset="-122"/>
              </a:rPr>
              <a:t>：</a:t>
            </a:r>
            <a:r>
              <a:rPr kumimoji="0" lang="en-US" altLang="en-US" sz="1400" b="1">
                <a:latin typeface="黑体" pitchFamily="2" charset="-122"/>
                <a:ea typeface="黑体" pitchFamily="2" charset="-122"/>
              </a:rPr>
              <a:t>％％c</a:t>
            </a:r>
            <a:r>
              <a:rPr kumimoji="0" lang="zh-CN" altLang="en-US" sz="1400" b="1">
                <a:latin typeface="黑体" pitchFamily="2" charset="-122"/>
                <a:ea typeface="黑体" pitchFamily="2" charset="-122"/>
              </a:rPr>
              <a:t>；  度数符号</a:t>
            </a:r>
            <a:r>
              <a:rPr kumimoji="0" lang="en-US" altLang="en-US" sz="1400" b="1">
                <a:latin typeface="Arial" charset="0"/>
                <a:ea typeface="黑体" pitchFamily="2" charset="-122"/>
              </a:rPr>
              <a:t>“</a:t>
            </a:r>
            <a:r>
              <a:rPr kumimoji="0" lang="en-US" altLang="en-US" sz="1400" b="1">
                <a:latin typeface="黑体" pitchFamily="2" charset="-122"/>
                <a:ea typeface="黑体" pitchFamily="2" charset="-122"/>
              </a:rPr>
              <a:t> </a:t>
            </a:r>
            <a:r>
              <a:rPr kumimoji="0" lang="en-US" altLang="en-US" sz="1400" b="1">
                <a:latin typeface="Arial" charset="0"/>
                <a:ea typeface="黑体" pitchFamily="2" charset="-122"/>
              </a:rPr>
              <a:t>º</a:t>
            </a:r>
            <a:r>
              <a:rPr kumimoji="0" lang="en-US" altLang="zh-CN" sz="1400" b="1">
                <a:latin typeface="黑体" pitchFamily="2" charset="-122"/>
                <a:ea typeface="黑体" pitchFamily="2" charset="-122"/>
              </a:rPr>
              <a:t> </a:t>
            </a:r>
            <a:r>
              <a:rPr kumimoji="0" lang="en-US" altLang="en-US" sz="1400" b="1">
                <a:latin typeface="Arial" charset="0"/>
                <a:ea typeface="黑体" pitchFamily="2" charset="-122"/>
              </a:rPr>
              <a:t>”</a:t>
            </a:r>
            <a:r>
              <a:rPr kumimoji="0" lang="zh-CN" altLang="en-US" sz="1400" b="1">
                <a:latin typeface="黑体" pitchFamily="2" charset="-122"/>
                <a:ea typeface="黑体" pitchFamily="2" charset="-122"/>
              </a:rPr>
              <a:t>：</a:t>
            </a:r>
            <a:r>
              <a:rPr kumimoji="0" lang="en-US" altLang="en-US" sz="1400" b="1">
                <a:latin typeface="黑体" pitchFamily="2" charset="-122"/>
                <a:ea typeface="黑体" pitchFamily="2" charset="-122"/>
              </a:rPr>
              <a:t>％％d</a:t>
            </a:r>
            <a:r>
              <a:rPr kumimoji="0" lang="zh-CN" altLang="en-US" sz="1400" b="1">
                <a:latin typeface="黑体" pitchFamily="2" charset="-122"/>
                <a:ea typeface="黑体" pitchFamily="2" charset="-122"/>
              </a:rPr>
              <a:t>；  </a:t>
            </a:r>
            <a:r>
              <a:rPr kumimoji="0" lang="en-US" altLang="en-US" sz="1400" b="1">
                <a:latin typeface="黑体" pitchFamily="2" charset="-122"/>
                <a:ea typeface="黑体" pitchFamily="2" charset="-122"/>
              </a:rPr>
              <a:t>公差符号</a:t>
            </a:r>
            <a:r>
              <a:rPr kumimoji="0" lang="en-US" altLang="en-US" sz="1400" b="1">
                <a:latin typeface="Arial" charset="0"/>
                <a:ea typeface="黑体" pitchFamily="2" charset="-122"/>
              </a:rPr>
              <a:t>“</a:t>
            </a:r>
            <a:r>
              <a:rPr kumimoji="0" lang="en-US" altLang="en-US" sz="1400" b="1">
                <a:latin typeface="黑体" pitchFamily="2" charset="-122"/>
                <a:ea typeface="黑体" pitchFamily="2" charset="-122"/>
              </a:rPr>
              <a:t>±</a:t>
            </a:r>
            <a:r>
              <a:rPr kumimoji="0" lang="en-US" altLang="en-US" sz="1400" b="1">
                <a:latin typeface="Arial" charset="0"/>
                <a:ea typeface="黑体" pitchFamily="2" charset="-122"/>
              </a:rPr>
              <a:t>”</a:t>
            </a:r>
            <a:r>
              <a:rPr kumimoji="0" lang="zh-CN" altLang="en-US" sz="1400" b="1">
                <a:latin typeface="黑体" pitchFamily="2" charset="-122"/>
                <a:ea typeface="黑体" pitchFamily="2" charset="-122"/>
              </a:rPr>
              <a:t>：</a:t>
            </a:r>
            <a:r>
              <a:rPr kumimoji="0" lang="en-US" altLang="en-US" sz="1400" b="1">
                <a:latin typeface="黑体" pitchFamily="2" charset="-122"/>
                <a:ea typeface="黑体" pitchFamily="2" charset="-122"/>
              </a:rPr>
              <a:t>％％p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1DE1BEF-CCBE-4602-8783-F7B7D267529B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400" smtClean="0"/>
          </a:p>
        </p:txBody>
      </p:sp>
      <p:sp>
        <p:nvSpPr>
          <p:cNvPr id="17411" name="Text Box 2"/>
          <p:cNvSpPr txBox="1">
            <a:spLocks noChangeArrowheads="1"/>
          </p:cNvSpPr>
          <p:nvPr/>
        </p:nvSpPr>
        <p:spPr bwMode="auto">
          <a:xfrm>
            <a:off x="771525" y="501650"/>
            <a:ext cx="8372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latin typeface="黑体" pitchFamily="2" charset="-122"/>
                <a:ea typeface="黑体" pitchFamily="2" charset="-122"/>
              </a:rPr>
              <a:t>三．编辑命令</a:t>
            </a:r>
          </a:p>
        </p:txBody>
      </p:sp>
      <p:sp>
        <p:nvSpPr>
          <p:cNvPr id="192516" name="Text Box 4"/>
          <p:cNvSpPr txBox="1">
            <a:spLocks noChangeArrowheads="1"/>
          </p:cNvSpPr>
          <p:nvPr/>
        </p:nvSpPr>
        <p:spPr bwMode="auto">
          <a:xfrm>
            <a:off x="501650" y="1312863"/>
            <a:ext cx="8372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1 Windows 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提供的编辑命令</a:t>
            </a:r>
          </a:p>
        </p:txBody>
      </p:sp>
      <p:sp>
        <p:nvSpPr>
          <p:cNvPr id="192517" name="Text Box 5"/>
          <p:cNvSpPr txBox="1">
            <a:spLocks noChangeArrowheads="1"/>
          </p:cNvSpPr>
          <p:nvPr/>
        </p:nvSpPr>
        <p:spPr bwMode="auto">
          <a:xfrm>
            <a:off x="1547813" y="2111375"/>
            <a:ext cx="5210175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Esc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Undo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Redo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Cut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Copy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Paste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Del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Select All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6" grpId="0" autoUpdateAnimBg="0"/>
      <p:bldP spid="192517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1548F82-9D4D-40DF-9F4C-188F248F3DB1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400" smtClean="0"/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146050" y="358775"/>
            <a:ext cx="88026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tabLst>
                <a:tab pos="304800" algn="l"/>
                <a:tab pos="342900" algn="l"/>
              </a:tabLst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tabLst>
                <a:tab pos="304800" algn="l"/>
                <a:tab pos="342900" algn="l"/>
              </a:tabLs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tabLst>
                <a:tab pos="304800" algn="l"/>
                <a:tab pos="3429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latin typeface="黑体" pitchFamily="2" charset="-122"/>
                <a:ea typeface="黑体" pitchFamily="2" charset="-122"/>
              </a:rPr>
              <a:t>2.AutoCAD</a:t>
            </a:r>
            <a:r>
              <a:rPr kumimoji="0" lang="zh-CN" altLang="en-US" sz="2800" b="1">
                <a:latin typeface="黑体" pitchFamily="2" charset="-122"/>
                <a:ea typeface="黑体" pitchFamily="2" charset="-122"/>
              </a:rPr>
              <a:t>常用编辑命令</a:t>
            </a:r>
            <a:endParaRPr kumimoji="0" lang="zh-CN" altLang="en-US" sz="2000" b="1"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164867" name="Object 3"/>
          <p:cNvGraphicFramePr>
            <a:graphicFrameLocks noChangeAspect="1"/>
          </p:cNvGraphicFramePr>
          <p:nvPr/>
        </p:nvGraphicFramePr>
        <p:xfrm>
          <a:off x="1433513" y="1677988"/>
          <a:ext cx="185737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0" name="位图图像" r:id="rId3" imgW="167761" imgH="160203" progId="Paint.Picture">
                  <p:embed/>
                </p:oleObj>
              </mc:Choice>
              <mc:Fallback>
                <p:oleObj name="位图图像" r:id="rId3" imgW="167761" imgH="160203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513" y="1677988"/>
                        <a:ext cx="185737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68" name="Object 4"/>
          <p:cNvGraphicFramePr>
            <a:graphicFrameLocks noChangeAspect="1"/>
          </p:cNvGraphicFramePr>
          <p:nvPr/>
        </p:nvGraphicFramePr>
        <p:xfrm>
          <a:off x="1433513" y="1995488"/>
          <a:ext cx="168275" cy="16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1" name="位图图像" r:id="rId5" imgW="152284" imgH="144731" progId="Paint.Picture">
                  <p:embed/>
                </p:oleObj>
              </mc:Choice>
              <mc:Fallback>
                <p:oleObj name="位图图像" r:id="rId5" imgW="152284" imgH="144731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513" y="1995488"/>
                        <a:ext cx="168275" cy="160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69" name="Object 5"/>
          <p:cNvGraphicFramePr>
            <a:graphicFrameLocks noChangeAspect="1"/>
          </p:cNvGraphicFramePr>
          <p:nvPr/>
        </p:nvGraphicFramePr>
        <p:xfrm>
          <a:off x="1433513" y="2287588"/>
          <a:ext cx="160337" cy="16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2" name="位图图像" r:id="rId7" imgW="144731" imgH="152284" progId="Paint.Picture">
                  <p:embed/>
                </p:oleObj>
              </mc:Choice>
              <mc:Fallback>
                <p:oleObj name="位图图像" r:id="rId7" imgW="144731" imgH="152284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513" y="2287588"/>
                        <a:ext cx="160337" cy="16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0" name="Object 6"/>
          <p:cNvGraphicFramePr>
            <a:graphicFrameLocks noChangeAspect="1"/>
          </p:cNvGraphicFramePr>
          <p:nvPr/>
        </p:nvGraphicFramePr>
        <p:xfrm>
          <a:off x="1433513" y="2581275"/>
          <a:ext cx="1778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3" name="位图图像" r:id="rId9" imgW="160203" imgH="137172" progId="Paint.Picture">
                  <p:embed/>
                </p:oleObj>
              </mc:Choice>
              <mc:Fallback>
                <p:oleObj name="位图图像" r:id="rId9" imgW="160203" imgH="137172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513" y="2581275"/>
                        <a:ext cx="1778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1" name="Object 7"/>
          <p:cNvGraphicFramePr>
            <a:graphicFrameLocks noChangeAspect="1"/>
          </p:cNvGraphicFramePr>
          <p:nvPr/>
        </p:nvGraphicFramePr>
        <p:xfrm>
          <a:off x="1433513" y="2908300"/>
          <a:ext cx="168275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4" name="位图图像" r:id="rId11" imgW="152284" imgH="129606" progId="Paint.Picture">
                  <p:embed/>
                </p:oleObj>
              </mc:Choice>
              <mc:Fallback>
                <p:oleObj name="位图图像" r:id="rId11" imgW="152284" imgH="129606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513" y="2908300"/>
                        <a:ext cx="168275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2" name="Object 8"/>
          <p:cNvGraphicFramePr>
            <a:graphicFrameLocks noChangeAspect="1"/>
          </p:cNvGraphicFramePr>
          <p:nvPr/>
        </p:nvGraphicFramePr>
        <p:xfrm>
          <a:off x="1433513" y="3205163"/>
          <a:ext cx="185737" cy="134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5" name="位图图像" r:id="rId13" imgW="167761" imgH="122034" progId="Paint.Picture">
                  <p:embed/>
                </p:oleObj>
              </mc:Choice>
              <mc:Fallback>
                <p:oleObj name="位图图像" r:id="rId13" imgW="167761" imgH="122034" progId="Paint.Picture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513" y="3205163"/>
                        <a:ext cx="185737" cy="134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3" name="Object 9"/>
          <p:cNvGraphicFramePr>
            <a:graphicFrameLocks noChangeAspect="1"/>
          </p:cNvGraphicFramePr>
          <p:nvPr/>
        </p:nvGraphicFramePr>
        <p:xfrm>
          <a:off x="1433513" y="3500438"/>
          <a:ext cx="177800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6" name="位图图像" r:id="rId15" imgW="160203" imgH="129606" progId="Paint.Picture">
                  <p:embed/>
                </p:oleObj>
              </mc:Choice>
              <mc:Fallback>
                <p:oleObj name="位图图像" r:id="rId15" imgW="160203" imgH="129606" progId="Paint.Picture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513" y="3500438"/>
                        <a:ext cx="177800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4" name="Object 10"/>
          <p:cNvGraphicFramePr>
            <a:graphicFrameLocks noChangeAspect="1"/>
          </p:cNvGraphicFramePr>
          <p:nvPr/>
        </p:nvGraphicFramePr>
        <p:xfrm>
          <a:off x="1433513" y="3814763"/>
          <a:ext cx="185737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7" name="位图图像" r:id="rId17" imgW="167761" imgH="114480" progId="Paint.Picture">
                  <p:embed/>
                </p:oleObj>
              </mc:Choice>
              <mc:Fallback>
                <p:oleObj name="位图图像" r:id="rId17" imgW="167761" imgH="114480" progId="Paint.Picture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513" y="3814763"/>
                        <a:ext cx="185737" cy="12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5" name="Object 11"/>
          <p:cNvGraphicFramePr>
            <a:graphicFrameLocks noChangeAspect="1"/>
          </p:cNvGraphicFramePr>
          <p:nvPr/>
        </p:nvGraphicFramePr>
        <p:xfrm>
          <a:off x="1433513" y="4119563"/>
          <a:ext cx="160337" cy="134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8" name="位图图像" r:id="rId19" imgW="144731" imgH="122034" progId="Paint.Picture">
                  <p:embed/>
                </p:oleObj>
              </mc:Choice>
              <mc:Fallback>
                <p:oleObj name="位图图像" r:id="rId19" imgW="144731" imgH="122034" progId="Paint.Picture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513" y="4119563"/>
                        <a:ext cx="160337" cy="134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6" name="Object 12"/>
          <p:cNvGraphicFramePr>
            <a:graphicFrameLocks noChangeAspect="1"/>
          </p:cNvGraphicFramePr>
          <p:nvPr/>
        </p:nvGraphicFramePr>
        <p:xfrm>
          <a:off x="1433513" y="5049838"/>
          <a:ext cx="1524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9" name="位图图像" r:id="rId21" imgW="137172" imgH="137172" progId="Paint.Picture">
                  <p:embed/>
                </p:oleObj>
              </mc:Choice>
              <mc:Fallback>
                <p:oleObj name="位图图像" r:id="rId21" imgW="137172" imgH="137172" progId="Paint.Picture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513" y="5049838"/>
                        <a:ext cx="1524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7" name="Object 13"/>
          <p:cNvGraphicFramePr>
            <a:graphicFrameLocks noChangeAspect="1"/>
          </p:cNvGraphicFramePr>
          <p:nvPr/>
        </p:nvGraphicFramePr>
        <p:xfrm>
          <a:off x="1433513" y="5462588"/>
          <a:ext cx="168275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10" name="位图图像" r:id="rId23" imgW="152284" imgH="129606" progId="Paint.Picture">
                  <p:embed/>
                </p:oleObj>
              </mc:Choice>
              <mc:Fallback>
                <p:oleObj name="位图图像" r:id="rId23" imgW="152284" imgH="129606" progId="Paint.Picture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513" y="5462588"/>
                        <a:ext cx="168275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8" name="Object 14"/>
          <p:cNvGraphicFramePr>
            <a:graphicFrameLocks noChangeAspect="1"/>
          </p:cNvGraphicFramePr>
          <p:nvPr/>
        </p:nvGraphicFramePr>
        <p:xfrm>
          <a:off x="1433513" y="5867400"/>
          <a:ext cx="152400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11" name="位图图像" r:id="rId25" imgW="137172" imgH="129606" progId="Paint.Picture">
                  <p:embed/>
                </p:oleObj>
              </mc:Choice>
              <mc:Fallback>
                <p:oleObj name="位图图像" r:id="rId25" imgW="137172" imgH="129606" progId="Paint.Picture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513" y="5867400"/>
                        <a:ext cx="152400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9" name="Group 15"/>
          <p:cNvGraphicFramePr>
            <a:graphicFrameLocks noGrp="1"/>
          </p:cNvGraphicFramePr>
          <p:nvPr/>
        </p:nvGraphicFramePr>
        <p:xfrm>
          <a:off x="334963" y="1293813"/>
          <a:ext cx="8451850" cy="4829203"/>
        </p:xfrm>
        <a:graphic>
          <a:graphicData uri="http://schemas.openxmlformats.org/drawingml/2006/table">
            <a:tbl>
              <a:tblPr/>
              <a:tblGrid>
                <a:gridCol w="887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9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命令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图标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功 能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命  令  操  作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Erase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删除对象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拾取要删除的对象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Move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移动对象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拾取要移动的对象，指定位移的基点、距离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Rotate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旋转对象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拾取要旋转的对象，指定旋转基点、旋转角度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Copy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复制对象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拾取要复制的对象，指定复制的基点、位移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Mirror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镜像对象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拾取要镜像的对象，再拾取镜像线上的第一点、第二点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Extend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延伸对象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拾取延伸边界，再拾取被延伸对象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9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Trim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修剪对象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拾取作为剪切边的对象，再拾取被修剪的对象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9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Break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断开对象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拾取断开对象的第一个断点、第二个断点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9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Offset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偏移对象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指定偏移距离，拾取要偏移的对象、选择偏移方位（复制）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9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Scale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缩放对象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拾取要缩放的对象，指定缩放的基点、比例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9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Array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阵列对象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通过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Array</a:t>
                      </a: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对话框设置阵列形式等选项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69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Fillet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将两相交对象倒圆角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选择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，输入圆角半径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,</a:t>
                      </a: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拾取第一边、第二边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317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Chamfer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将两相交对象倒角</a:t>
                      </a:r>
                    </a:p>
                  </a:txBody>
                  <a:tcPr marL="90000" marR="90000" marT="46799" marB="46799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选择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，输入第一边的倒角距离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en-US" altLang="zh-CN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，输入第二边的倒角距离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en-US" altLang="zh-CN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，拾取第一边、第二边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69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Stretch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拉伸改变对象形状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必须用交叉窗口拾取需拉伸的对象，指定基点、位移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164961" name="Object 97"/>
          <p:cNvGraphicFramePr>
            <a:graphicFrameLocks noChangeAspect="1"/>
          </p:cNvGraphicFramePr>
          <p:nvPr/>
        </p:nvGraphicFramePr>
        <p:xfrm>
          <a:off x="1438275" y="4702175"/>
          <a:ext cx="187325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12" name="位图图像" r:id="rId27" imgW="228571" imgH="247685" progId="Paint.Picture">
                  <p:embed/>
                </p:oleObj>
              </mc:Choice>
              <mc:Fallback>
                <p:oleObj name="位图图像" r:id="rId27" imgW="228571" imgH="247685" progId="Paint.Picture">
                  <p:embed/>
                  <p:pic>
                    <p:nvPicPr>
                      <p:cNvPr id="0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300" t="5814" r="3149" b="2907"/>
                      <a:stretch>
                        <a:fillRect/>
                      </a:stretch>
                    </p:blipFill>
                    <p:spPr bwMode="auto">
                      <a:xfrm>
                        <a:off x="1438275" y="4702175"/>
                        <a:ext cx="187325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962" name="Object 98"/>
          <p:cNvGraphicFramePr>
            <a:graphicFrameLocks noChangeAspect="1"/>
          </p:cNvGraphicFramePr>
          <p:nvPr/>
        </p:nvGraphicFramePr>
        <p:xfrm>
          <a:off x="1438275" y="4400550"/>
          <a:ext cx="177800" cy="17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13" name="位图图像" r:id="rId29" imgW="247685" imgH="3315163" progId="Paint.Picture">
                  <p:embed/>
                </p:oleObj>
              </mc:Choice>
              <mc:Fallback>
                <p:oleObj name="位图图像" r:id="rId29" imgW="247685" imgH="3315163" progId="Paint.Picture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2715" t="47099" r="12715" b="47316"/>
                      <a:stretch>
                        <a:fillRect/>
                      </a:stretch>
                    </p:blipFill>
                    <p:spPr bwMode="auto">
                      <a:xfrm>
                        <a:off x="1438275" y="4400550"/>
                        <a:ext cx="177800" cy="179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164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D5D717B-3C21-4E31-8687-06031D36D59F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400" smtClean="0"/>
          </a:p>
        </p:txBody>
      </p:sp>
      <p:sp>
        <p:nvSpPr>
          <p:cNvPr id="19459" name="Rectangle 2"/>
          <p:cNvSpPr>
            <a:spLocks noChangeArrowheads="1"/>
          </p:cNvSpPr>
          <p:nvPr/>
        </p:nvSpPr>
        <p:spPr bwMode="auto">
          <a:xfrm>
            <a:off x="212725" y="452438"/>
            <a:ext cx="8802688" cy="157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tabLst>
                <a:tab pos="304800" algn="l"/>
                <a:tab pos="342900" algn="l"/>
              </a:tabLst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tabLst>
                <a:tab pos="304800" algn="l"/>
                <a:tab pos="342900" algn="l"/>
              </a:tabLs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tabLst>
                <a:tab pos="304800" algn="l"/>
                <a:tab pos="3429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b="1">
                <a:latin typeface="黑体" pitchFamily="2" charset="-122"/>
                <a:ea typeface="黑体" pitchFamily="2" charset="-122"/>
              </a:rPr>
              <a:t>四</a:t>
            </a:r>
            <a:r>
              <a:rPr kumimoji="0" lang="en-US" altLang="zh-CN" b="1">
                <a:latin typeface="黑体" pitchFamily="2" charset="-122"/>
                <a:ea typeface="黑体" pitchFamily="2" charset="-122"/>
              </a:rPr>
              <a:t>.</a:t>
            </a:r>
            <a:r>
              <a:rPr kumimoji="0" lang="zh-CN" altLang="en-US" b="1">
                <a:latin typeface="黑体" pitchFamily="2" charset="-122"/>
                <a:ea typeface="黑体" pitchFamily="2" charset="-122"/>
              </a:rPr>
              <a:t>辅助绘图命令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b="1">
              <a:latin typeface="黑体" pitchFamily="2" charset="-122"/>
              <a:ea typeface="黑体" pitchFamily="2" charset="-122"/>
            </a:endParaRPr>
          </a:p>
          <a:p>
            <a:pPr eaLnBrk="1" hangingPunct="1">
              <a:buFontTx/>
              <a:buNone/>
            </a:pPr>
            <a:r>
              <a:rPr kumimoji="0" lang="en-US" altLang="zh-CN" sz="2800" b="1">
                <a:latin typeface="黑体" pitchFamily="2" charset="-122"/>
                <a:ea typeface="黑体" pitchFamily="2" charset="-122"/>
              </a:rPr>
              <a:t>1.</a:t>
            </a:r>
            <a:r>
              <a:rPr kumimoji="0" lang="zh-CN" altLang="en-US" sz="2800" b="1">
                <a:latin typeface="黑体" pitchFamily="2" charset="-122"/>
                <a:ea typeface="黑体" pitchFamily="2" charset="-122"/>
              </a:rPr>
              <a:t>目标捕捉</a:t>
            </a:r>
          </a:p>
        </p:txBody>
      </p:sp>
      <p:sp>
        <p:nvSpPr>
          <p:cNvPr id="169987" name="Rectangle 3"/>
          <p:cNvSpPr>
            <a:spLocks noChangeArrowheads="1"/>
          </p:cNvSpPr>
          <p:nvPr/>
        </p:nvSpPr>
        <p:spPr bwMode="auto">
          <a:xfrm>
            <a:off x="341313" y="2362200"/>
            <a:ext cx="880268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tabLst>
                <a:tab pos="304800" algn="l"/>
                <a:tab pos="342900" algn="l"/>
              </a:tabLst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tabLst>
                <a:tab pos="304800" algn="l"/>
                <a:tab pos="342900" algn="l"/>
              </a:tabLs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tabLst>
                <a:tab pos="304800" algn="l"/>
                <a:tab pos="3429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操作方法：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① 单点对象捕捉：调出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Objects Snap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工具栏，在执行绘图或编辑命令时执行一次对象捕捉操作。</a:t>
            </a:r>
          </a:p>
        </p:txBody>
      </p:sp>
      <p:sp>
        <p:nvSpPr>
          <p:cNvPr id="169988" name="Rectangle 4"/>
          <p:cNvSpPr>
            <a:spLocks noChangeArrowheads="1"/>
          </p:cNvSpPr>
          <p:nvPr/>
        </p:nvSpPr>
        <p:spPr bwMode="auto">
          <a:xfrm>
            <a:off x="341313" y="3965575"/>
            <a:ext cx="880268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tabLst>
                <a:tab pos="304800" algn="l"/>
                <a:tab pos="342900" algn="l"/>
              </a:tabLst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tabLst>
                <a:tab pos="304800" algn="l"/>
                <a:tab pos="342900" algn="l"/>
              </a:tabLs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tabLst>
                <a:tab pos="304800" algn="l"/>
                <a:tab pos="3429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② 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运行对象捕捉：右键状态栏中</a:t>
            </a:r>
            <a:r>
              <a:rPr kumimoji="0" lang="zh-CN" altLang="en-US" sz="2000" b="1">
                <a:latin typeface="Arial" charset="0"/>
                <a:ea typeface="黑体" pitchFamily="2" charset="-122"/>
              </a:rPr>
              <a:t>“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OSNAP</a:t>
            </a:r>
            <a:r>
              <a:rPr kumimoji="0" lang="en-US" altLang="zh-CN" sz="2000" b="1">
                <a:latin typeface="Arial" charset="0"/>
                <a:ea typeface="黑体" pitchFamily="2" charset="-122"/>
              </a:rPr>
              <a:t>”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按钮，选择</a:t>
            </a:r>
            <a:r>
              <a:rPr kumimoji="0" lang="zh-CN" altLang="en-US" sz="2000" b="1">
                <a:latin typeface="Arial" charset="0"/>
                <a:ea typeface="黑体" pitchFamily="2" charset="-122"/>
              </a:rPr>
              <a:t>“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Settings</a:t>
            </a:r>
            <a:r>
              <a:rPr kumimoji="0" lang="en-US" altLang="zh-CN" sz="2000" b="1">
                <a:latin typeface="Arial" charset="0"/>
                <a:ea typeface="黑体" pitchFamily="2" charset="-122"/>
              </a:rPr>
              <a:t>…”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项，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在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Drafting Settings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对话框中设置多种对象捕捉功能。所设置的对象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捕捉模式在</a:t>
            </a:r>
            <a:r>
              <a:rPr kumimoji="0" lang="zh-CN" altLang="en-US" sz="2000" b="1">
                <a:latin typeface="Arial" charset="0"/>
                <a:ea typeface="黑体" pitchFamily="2" charset="-122"/>
              </a:rPr>
              <a:t>“</a:t>
            </a:r>
            <a:r>
              <a:rPr kumimoji="0" lang="en-US" altLang="zh-CN" sz="2000" b="1">
                <a:latin typeface="黑体" pitchFamily="2" charset="-122"/>
                <a:ea typeface="黑体" pitchFamily="2" charset="-122"/>
              </a:rPr>
              <a:t>OSNAP</a:t>
            </a:r>
            <a:r>
              <a:rPr kumimoji="0" lang="en-US" altLang="zh-CN" sz="2000" b="1">
                <a:latin typeface="Arial" charset="0"/>
                <a:ea typeface="黑体" pitchFamily="2" charset="-122"/>
              </a:rPr>
              <a:t>”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</a:rPr>
              <a:t>激活期间始终起作用。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/>
      <p:bldP spid="16998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58DA26B-5BF3-49B3-B4F5-3311D56630D4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400" smtClean="0"/>
          </a:p>
        </p:txBody>
      </p:sp>
      <p:sp>
        <p:nvSpPr>
          <p:cNvPr id="20483" name="Text Box 2"/>
          <p:cNvSpPr txBox="1">
            <a:spLocks noChangeArrowheads="1"/>
          </p:cNvSpPr>
          <p:nvPr/>
        </p:nvSpPr>
        <p:spPr bwMode="auto">
          <a:xfrm>
            <a:off x="485775" y="215900"/>
            <a:ext cx="83137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latin typeface="黑体" pitchFamily="2" charset="-122"/>
                <a:ea typeface="黑体" pitchFamily="2" charset="-122"/>
              </a:rPr>
              <a:t>目标捕捉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(OSNAP)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模式</a:t>
            </a:r>
          </a:p>
        </p:txBody>
      </p:sp>
      <p:sp>
        <p:nvSpPr>
          <p:cNvPr id="198659" name="Text Box 3"/>
          <p:cNvSpPr txBox="1">
            <a:spLocks noChangeArrowheads="1"/>
          </p:cNvSpPr>
          <p:nvPr/>
        </p:nvSpPr>
        <p:spPr bwMode="auto">
          <a:xfrm>
            <a:off x="539750" y="958850"/>
            <a:ext cx="8604250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Temporary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Track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:  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选择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[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多个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临时对象追踪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            </a:t>
            </a:r>
            <a:r>
              <a:rPr lang="en-US" altLang="zh-CN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From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:  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选择参考点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        </a:t>
            </a:r>
            <a:r>
              <a:rPr lang="en-US" altLang="zh-CN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Endpoint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:  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端点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        </a:t>
            </a:r>
            <a:r>
              <a:rPr lang="en-US" altLang="zh-CN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Midpoint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:  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中点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 b="1">
                <a:latin typeface="黑体" pitchFamily="2" charset="-122"/>
                <a:ea typeface="黑体" pitchFamily="2" charset="-122"/>
              </a:rPr>
              <a:t>　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zh-CN" sz="2400" b="1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Intersection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:  </a:t>
            </a:r>
            <a:r>
              <a:rPr lang="zh-CN" altLang="zh-CN" sz="2400" b="1">
                <a:latin typeface="黑体" pitchFamily="2" charset="-122"/>
                <a:ea typeface="黑体" pitchFamily="2" charset="-122"/>
              </a:rPr>
              <a:t>交点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Apparect inter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:  </a:t>
            </a:r>
            <a:r>
              <a:rPr lang="zh-CN" altLang="zh-CN" sz="2400" b="1">
                <a:latin typeface="黑体" pitchFamily="2" charset="-122"/>
                <a:ea typeface="黑体" pitchFamily="2" charset="-122"/>
              </a:rPr>
              <a:t>外观交点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       </a:t>
            </a:r>
            <a:r>
              <a:rPr lang="en-US" altLang="zh-CN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Extension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:  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延长线上的点</a:t>
            </a:r>
            <a:endParaRPr lang="zh-CN" altLang="zh-CN" sz="2400" b="1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          </a:t>
            </a:r>
            <a:r>
              <a:rPr lang="en-US" altLang="zh-CN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Center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:  </a:t>
            </a:r>
            <a:r>
              <a:rPr lang="zh-CN" altLang="zh-CN" sz="2400" b="1">
                <a:latin typeface="黑体" pitchFamily="2" charset="-122"/>
                <a:ea typeface="黑体" pitchFamily="2" charset="-122"/>
              </a:rPr>
              <a:t>圆心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zh-CN" sz="2400" b="1">
                <a:latin typeface="黑体" pitchFamily="2" charset="-122"/>
                <a:ea typeface="黑体" pitchFamily="2" charset="-122"/>
              </a:rPr>
              <a:t>       </a:t>
            </a:r>
            <a:r>
              <a:rPr lang="en-US" altLang="zh-CN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Quadrant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:  </a:t>
            </a:r>
            <a:r>
              <a:rPr lang="zh-CN" altLang="zh-CN" sz="2400" b="1">
                <a:latin typeface="黑体" pitchFamily="2" charset="-122"/>
                <a:ea typeface="黑体" pitchFamily="2" charset="-122"/>
              </a:rPr>
              <a:t>圆周象限点</a:t>
            </a:r>
            <a:endParaRPr lang="zh-CN" altLang="en-US" sz="2400" b="1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 b="1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        </a:t>
            </a:r>
            <a:r>
              <a:rPr lang="en-US" altLang="zh-CN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Tangent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:  </a:t>
            </a:r>
            <a:r>
              <a:rPr lang="zh-CN" altLang="zh-CN" sz="2400" b="1">
                <a:latin typeface="黑体" pitchFamily="2" charset="-122"/>
                <a:ea typeface="黑体" pitchFamily="2" charset="-122"/>
              </a:rPr>
              <a:t>切点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 b="1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zh-CN" sz="2400" b="1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Perpendicular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:  </a:t>
            </a:r>
            <a:r>
              <a:rPr lang="zh-CN" altLang="zh-CN" sz="2400" b="1">
                <a:latin typeface="黑体" pitchFamily="2" charset="-122"/>
                <a:ea typeface="黑体" pitchFamily="2" charset="-122"/>
              </a:rPr>
              <a:t>垂足</a:t>
            </a:r>
            <a:endParaRPr lang="zh-CN" altLang="en-US" sz="2400" b="1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Parallel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:  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平行</a:t>
            </a:r>
            <a:endParaRPr lang="zh-CN" altLang="zh-CN" sz="2400" b="1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      </a:t>
            </a:r>
            <a:r>
              <a:rPr lang="en-US" altLang="zh-CN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Insert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:  </a:t>
            </a:r>
            <a:r>
              <a:rPr lang="zh-CN" altLang="zh-CN" sz="2400" b="1">
                <a:latin typeface="黑体" pitchFamily="2" charset="-122"/>
                <a:ea typeface="黑体" pitchFamily="2" charset="-122"/>
              </a:rPr>
              <a:t>插入点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      </a:t>
            </a:r>
            <a:r>
              <a:rPr lang="en-US" altLang="zh-CN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Node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:  </a:t>
            </a:r>
            <a:r>
              <a:rPr lang="zh-CN" altLang="zh-CN" sz="2400" b="1">
                <a:latin typeface="黑体" pitchFamily="2" charset="-122"/>
                <a:ea typeface="黑体" pitchFamily="2" charset="-122"/>
              </a:rPr>
              <a:t>点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 </a:t>
            </a:r>
            <a:endParaRPr lang="zh-CN" altLang="zh-CN" sz="2400" b="1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    </a:t>
            </a:r>
            <a:r>
              <a:rPr lang="en-US" altLang="zh-CN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Nearest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:  </a:t>
            </a:r>
            <a:r>
              <a:rPr lang="zh-CN" altLang="zh-CN" sz="2400" b="1">
                <a:latin typeface="黑体" pitchFamily="2" charset="-122"/>
                <a:ea typeface="黑体" pitchFamily="2" charset="-122"/>
              </a:rPr>
              <a:t>最近点</a:t>
            </a:r>
          </a:p>
        </p:txBody>
      </p:sp>
      <p:graphicFrame>
        <p:nvGraphicFramePr>
          <p:cNvPr id="198660" name="Object 4"/>
          <p:cNvGraphicFramePr>
            <a:graphicFrameLocks noChangeAspect="1"/>
          </p:cNvGraphicFramePr>
          <p:nvPr/>
        </p:nvGraphicFramePr>
        <p:xfrm>
          <a:off x="3155950" y="1004888"/>
          <a:ext cx="387350" cy="552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6" name="位图图像" r:id="rId3" imgW="247685" imgH="3533333" progId="Paint.Picture">
                  <p:embed/>
                </p:oleObj>
              </mc:Choice>
              <mc:Fallback>
                <p:oleObj name="位图图像" r:id="rId3" imgW="247685" imgH="3533333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5950" y="1004888"/>
                        <a:ext cx="387350" cy="552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838825" y="2087563"/>
            <a:ext cx="3305175" cy="2100262"/>
            <a:chOff x="3225" y="950"/>
            <a:chExt cx="1874" cy="1323"/>
          </a:xfrm>
        </p:grpSpPr>
        <p:sp>
          <p:nvSpPr>
            <p:cNvPr id="20487" name="Text Box 6"/>
            <p:cNvSpPr txBox="1">
              <a:spLocks noChangeArrowheads="1"/>
            </p:cNvSpPr>
            <p:nvPr/>
          </p:nvSpPr>
          <p:spPr bwMode="auto">
            <a:xfrm>
              <a:off x="3364" y="950"/>
              <a:ext cx="1735" cy="1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2400" b="1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Snap to None</a:t>
              </a:r>
              <a:r>
                <a:rPr lang="en-US" altLang="zh-CN" sz="2400" b="1">
                  <a:latin typeface="黑体" pitchFamily="2" charset="-122"/>
                  <a:ea typeface="黑体" pitchFamily="2" charset="-122"/>
                </a:rPr>
                <a:t>: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黑体" pitchFamily="2" charset="-122"/>
                  <a:ea typeface="黑体" pitchFamily="2" charset="-122"/>
                </a:rPr>
                <a:t> </a:t>
              </a: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临时关闭</a:t>
              </a:r>
              <a:r>
                <a:rPr lang="en-US" altLang="zh-CN" sz="2400" b="1">
                  <a:latin typeface="黑体" pitchFamily="2" charset="-122"/>
                  <a:ea typeface="黑体" pitchFamily="2" charset="-122"/>
                </a:rPr>
                <a:t>OSNAP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2400" b="1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Object Snap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 Settings</a:t>
              </a:r>
              <a:r>
                <a:rPr lang="en-US" altLang="zh-CN" sz="2400" b="1">
                  <a:latin typeface="黑体" pitchFamily="2" charset="-122"/>
                  <a:ea typeface="黑体" pitchFamily="2" charset="-122"/>
                </a:rPr>
                <a:t>: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黑体" pitchFamily="2" charset="-122"/>
                  <a:ea typeface="黑体" pitchFamily="2" charset="-122"/>
                </a:rPr>
                <a:t> </a:t>
              </a:r>
              <a:r>
                <a:rPr lang="zh-CN" altLang="en-US" sz="2400" b="1">
                  <a:latin typeface="黑体" pitchFamily="2" charset="-122"/>
                  <a:ea typeface="黑体" pitchFamily="2" charset="-122"/>
                </a:rPr>
                <a:t>设置</a:t>
              </a:r>
              <a:r>
                <a:rPr lang="en-US" altLang="zh-CN" sz="2400" b="1">
                  <a:latin typeface="黑体" pitchFamily="2" charset="-122"/>
                  <a:ea typeface="黑体" pitchFamily="2" charset="-122"/>
                </a:rPr>
                <a:t>OSNAP </a:t>
              </a:r>
            </a:p>
          </p:txBody>
        </p:sp>
        <p:graphicFrame>
          <p:nvGraphicFramePr>
            <p:cNvPr id="20488" name="Object 7"/>
            <p:cNvGraphicFramePr>
              <a:graphicFrameLocks noChangeAspect="1"/>
            </p:cNvGraphicFramePr>
            <p:nvPr/>
          </p:nvGraphicFramePr>
          <p:xfrm>
            <a:off x="3225" y="1616"/>
            <a:ext cx="238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7" name="位图图像" r:id="rId5" imgW="247685" imgH="247685" progId="Paint.Picture">
                    <p:embed/>
                  </p:oleObj>
                </mc:Choice>
                <mc:Fallback>
                  <p:oleObj name="位图图像" r:id="rId5" imgW="247685" imgH="247685" progId="Paint.Picture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5" y="1616"/>
                          <a:ext cx="238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9" name="Object 8"/>
            <p:cNvGraphicFramePr>
              <a:graphicFrameLocks noChangeAspect="1"/>
            </p:cNvGraphicFramePr>
            <p:nvPr/>
          </p:nvGraphicFramePr>
          <p:xfrm>
            <a:off x="3227" y="1046"/>
            <a:ext cx="237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8" name="位图图像" r:id="rId7" imgW="257007" imgH="228571" progId="Paint.Picture">
                    <p:embed/>
                  </p:oleObj>
                </mc:Choice>
                <mc:Fallback>
                  <p:oleObj name="位图图像" r:id="rId7" imgW="257007" imgH="228571" progId="Paint.Picture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7" y="1046"/>
                          <a:ext cx="237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2B8E6E0-B056-44A9-8859-999F0A105999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1400" smtClean="0"/>
          </a:p>
        </p:txBody>
      </p:sp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352425" y="376238"/>
            <a:ext cx="8791575" cy="88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黑体" pitchFamily="2" charset="-122"/>
                <a:ea typeface="黑体" pitchFamily="2" charset="-122"/>
                <a:cs typeface="Times New Roman" pitchFamily="18" charset="0"/>
              </a:rPr>
              <a:t>五</a:t>
            </a:r>
            <a:r>
              <a:rPr kumimoji="0" lang="en-US" altLang="zh-CN" sz="2800" b="1">
                <a:latin typeface="黑体" pitchFamily="2" charset="-122"/>
                <a:ea typeface="黑体" pitchFamily="2" charset="-122"/>
                <a:cs typeface="Times New Roman" pitchFamily="18" charset="0"/>
              </a:rPr>
              <a:t>. </a:t>
            </a:r>
            <a:r>
              <a:rPr kumimoji="0" lang="zh-CN" altLang="en-US" sz="2800" b="1">
                <a:latin typeface="黑体" pitchFamily="2" charset="-122"/>
                <a:ea typeface="黑体" pitchFamily="2" charset="-122"/>
                <a:cs typeface="Times New Roman" pitchFamily="18" charset="0"/>
              </a:rPr>
              <a:t>显示控制命令</a:t>
            </a:r>
          </a:p>
          <a:p>
            <a:pPr>
              <a:buFontTx/>
              <a:buNone/>
            </a:pPr>
            <a:r>
              <a:rPr kumimoji="0" lang="en-US" altLang="zh-CN" sz="2000" b="1">
                <a:latin typeface="黑体" pitchFamily="2" charset="-122"/>
                <a:ea typeface="黑体" pitchFamily="2" charset="-122"/>
                <a:cs typeface="Times New Roman" pitchFamily="18" charset="0"/>
              </a:rPr>
              <a:t>1 Zoom 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  <a:cs typeface="Times New Roman" pitchFamily="18" charset="0"/>
              </a:rPr>
              <a:t>命令</a:t>
            </a:r>
          </a:p>
        </p:txBody>
      </p:sp>
      <p:graphicFrame>
        <p:nvGraphicFramePr>
          <p:cNvPr id="172035" name="Group 3"/>
          <p:cNvGraphicFramePr>
            <a:graphicFrameLocks noGrp="1"/>
          </p:cNvGraphicFramePr>
          <p:nvPr/>
        </p:nvGraphicFramePr>
        <p:xfrm>
          <a:off x="352425" y="1279525"/>
          <a:ext cx="8221663" cy="2460625"/>
        </p:xfrm>
        <a:graphic>
          <a:graphicData uri="http://schemas.openxmlformats.org/drawingml/2006/table">
            <a:tbl>
              <a:tblPr/>
              <a:tblGrid>
                <a:gridCol w="1500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5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4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命令名称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图标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        </a:t>
                      </a: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功   能   说   明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324">
                <a:tc gridSpan="2">
                  <a:txBody>
                    <a:bodyPr/>
                    <a:lstStyle/>
                    <a:p>
                      <a:pPr marL="0" marR="0" lvl="0" indent="17145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View→Zoom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控制图形缩放显示而不影响其实际尺寸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17">
                <a:tc>
                  <a:txBody>
                    <a:bodyPr/>
                    <a:lstStyle/>
                    <a:p>
                      <a:pPr marL="0" marR="0" lvl="0" indent="17145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Realtime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7145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拖动鼠标实时缩放，向上放大、向下缩小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917">
                <a:tc>
                  <a:txBody>
                    <a:bodyPr/>
                    <a:lstStyle/>
                    <a:p>
                      <a:pPr marL="0" marR="0" lvl="0" indent="17145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Window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7145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将拾取窗口内的图形充满显示窗口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917">
                <a:tc>
                  <a:txBody>
                    <a:bodyPr/>
                    <a:lstStyle/>
                    <a:p>
                      <a:pPr marL="0" marR="0" lvl="0" indent="17145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Extents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7145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将图形最大限度充满显示窗口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208">
                <a:tc>
                  <a:txBody>
                    <a:bodyPr/>
                    <a:lstStyle/>
                    <a:p>
                      <a:pPr marL="0" marR="0" lvl="0" indent="17145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All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7145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将图形按图形界限充满显示窗口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72065" name="Picture 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4" r="87512" b="10359"/>
          <a:stretch>
            <a:fillRect/>
          </a:stretch>
        </p:blipFill>
        <p:spPr bwMode="auto">
          <a:xfrm>
            <a:off x="2076450" y="2524125"/>
            <a:ext cx="388938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2066" name="Picture 3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59" r="12256" b="7968"/>
          <a:stretch>
            <a:fillRect/>
          </a:stretch>
        </p:blipFill>
        <p:spPr bwMode="auto">
          <a:xfrm>
            <a:off x="2066925" y="3360738"/>
            <a:ext cx="406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2067" name="Picture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698" t="4382" b="9561"/>
          <a:stretch>
            <a:fillRect/>
          </a:stretch>
        </p:blipFill>
        <p:spPr bwMode="auto">
          <a:xfrm>
            <a:off x="2066925" y="2946400"/>
            <a:ext cx="420688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72068" name="Object 36"/>
          <p:cNvGraphicFramePr>
            <a:graphicFrameLocks noChangeAspect="1"/>
          </p:cNvGraphicFramePr>
          <p:nvPr/>
        </p:nvGraphicFramePr>
        <p:xfrm>
          <a:off x="2066925" y="2155825"/>
          <a:ext cx="376238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8" name="位图图像" r:id="rId4" imgW="237969" imgH="200159" progId="Paint.Picture">
                  <p:embed/>
                </p:oleObj>
              </mc:Choice>
              <mc:Fallback>
                <p:oleObj name="位图图像" r:id="rId4" imgW="237969" imgH="200159" progId="Paint.Picture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6925" y="2155825"/>
                        <a:ext cx="376238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69" name="Object 37"/>
          <p:cNvGraphicFramePr>
            <a:graphicFrameLocks noChangeAspect="1"/>
          </p:cNvGraphicFramePr>
          <p:nvPr/>
        </p:nvGraphicFramePr>
        <p:xfrm>
          <a:off x="2101850" y="4757738"/>
          <a:ext cx="37941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9" name="位图图像" r:id="rId6" imgW="219222" imgH="209524" progId="Paint.Picture">
                  <p:embed/>
                </p:oleObj>
              </mc:Choice>
              <mc:Fallback>
                <p:oleObj name="位图图像" r:id="rId6" imgW="219222" imgH="209524" progId="Paint.Picture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1850" y="4757738"/>
                        <a:ext cx="379413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70" name="Group 38"/>
          <p:cNvGraphicFramePr>
            <a:graphicFrameLocks noGrp="1"/>
          </p:cNvGraphicFramePr>
          <p:nvPr/>
        </p:nvGraphicFramePr>
        <p:xfrm>
          <a:off x="352425" y="4318000"/>
          <a:ext cx="8191500" cy="1622424"/>
        </p:xfrm>
        <a:graphic>
          <a:graphicData uri="http://schemas.openxmlformats.org/drawingml/2006/table">
            <a:tbl>
              <a:tblPr/>
              <a:tblGrid>
                <a:gridCol w="1490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30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命令名称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图标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功   能   说   明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1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  Pan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平移显示图形以观察其任意部位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1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  View→Redraw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刷新屏幕显示，清除编辑修改后留下的非图形痕迹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47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  View→Regen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重新生成图形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2090" name="Rectangle 58"/>
          <p:cNvSpPr>
            <a:spLocks noChangeArrowheads="1"/>
          </p:cNvSpPr>
          <p:nvPr/>
        </p:nvSpPr>
        <p:spPr bwMode="auto">
          <a:xfrm>
            <a:off x="352425" y="3827463"/>
            <a:ext cx="8791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buFontTx/>
              <a:buNone/>
            </a:pPr>
            <a:r>
              <a:rPr kumimoji="0" lang="en-US" altLang="zh-CN" sz="2000" b="1">
                <a:latin typeface="黑体" pitchFamily="2" charset="-122"/>
                <a:ea typeface="黑体" pitchFamily="2" charset="-122"/>
                <a:cs typeface="Times New Roman" pitchFamily="18" charset="0"/>
              </a:rPr>
              <a:t>2 </a:t>
            </a:r>
            <a:r>
              <a:rPr kumimoji="0" lang="zh-CN" altLang="en-US" sz="2000" b="1">
                <a:latin typeface="黑体" pitchFamily="2" charset="-122"/>
                <a:ea typeface="黑体" pitchFamily="2" charset="-122"/>
                <a:cs typeface="Times New Roman" pitchFamily="18" charset="0"/>
              </a:rPr>
              <a:t>屏幕控制命令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9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80B4446-E00A-4888-B7F6-D719CF554F05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400" smtClean="0"/>
          </a:p>
        </p:txBody>
      </p:sp>
      <p:sp>
        <p:nvSpPr>
          <p:cNvPr id="207930" name="Rectangle 58"/>
          <p:cNvSpPr>
            <a:spLocks noChangeArrowheads="1"/>
          </p:cNvSpPr>
          <p:nvPr/>
        </p:nvSpPr>
        <p:spPr bwMode="auto">
          <a:xfrm>
            <a:off x="215900" y="708025"/>
            <a:ext cx="8791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buFontTx/>
              <a:buNone/>
            </a:pPr>
            <a:r>
              <a:rPr kumimoji="0" lang="en-US" altLang="zh-CN" sz="2800" b="1">
                <a:latin typeface="黑体" pitchFamily="2" charset="-122"/>
                <a:ea typeface="黑体" pitchFamily="2" charset="-122"/>
                <a:cs typeface="Times New Roman" pitchFamily="18" charset="0"/>
              </a:rPr>
              <a:t>3 </a:t>
            </a:r>
            <a:r>
              <a:rPr kumimoji="0" lang="zh-CN" altLang="en-US" sz="2800" b="1">
                <a:latin typeface="黑体" pitchFamily="2" charset="-122"/>
                <a:ea typeface="黑体" pitchFamily="2" charset="-122"/>
                <a:cs typeface="Times New Roman" pitchFamily="18" charset="0"/>
              </a:rPr>
              <a:t>图层、颜色、线型和线宽控制命令</a:t>
            </a:r>
          </a:p>
        </p:txBody>
      </p:sp>
      <p:sp>
        <p:nvSpPr>
          <p:cNvPr id="207932" name="Rectangle 60"/>
          <p:cNvSpPr>
            <a:spLocks noChangeArrowheads="1"/>
          </p:cNvSpPr>
          <p:nvPr/>
        </p:nvSpPr>
        <p:spPr bwMode="auto">
          <a:xfrm>
            <a:off x="971550" y="1697038"/>
            <a:ext cx="7446963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tabLst>
                <a:tab pos="304800" algn="l"/>
                <a:tab pos="342900" algn="l"/>
              </a:tabLst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tabLst>
                <a:tab pos="304800" algn="l"/>
                <a:tab pos="342900" algn="l"/>
              </a:tabLs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tabLst>
                <a:tab pos="304800" algn="l"/>
                <a:tab pos="3429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04800" algn="l"/>
                <a:tab pos="342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dirty="0">
                <a:latin typeface="黑体" pitchFamily="2" charset="-122"/>
                <a:ea typeface="黑体" pitchFamily="2" charset="-122"/>
              </a:rPr>
              <a:t>Layer</a:t>
            </a:r>
            <a:r>
              <a:rPr kumimoji="0" lang="zh-CN" altLang="en-US" sz="2400" b="1" dirty="0">
                <a:latin typeface="黑体" pitchFamily="2" charset="-122"/>
                <a:ea typeface="黑体" pitchFamily="2" charset="-122"/>
              </a:rPr>
              <a:t>：管理图形和图层特性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2400" b="1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dirty="0">
                <a:latin typeface="黑体" pitchFamily="2" charset="-122"/>
                <a:ea typeface="黑体" pitchFamily="2" charset="-122"/>
              </a:rPr>
              <a:t>Color</a:t>
            </a:r>
            <a:r>
              <a:rPr kumimoji="0" lang="zh-CN" altLang="en-US" sz="2400" b="1" dirty="0">
                <a:latin typeface="黑体" pitchFamily="2" charset="-122"/>
                <a:ea typeface="黑体" pitchFamily="2" charset="-122"/>
              </a:rPr>
              <a:t>：设置新对象的颜色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2400" b="1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dirty="0" err="1">
                <a:latin typeface="黑体" pitchFamily="2" charset="-122"/>
                <a:ea typeface="黑体" pitchFamily="2" charset="-122"/>
              </a:rPr>
              <a:t>Linetype</a:t>
            </a:r>
            <a:r>
              <a:rPr kumimoji="0" lang="zh-CN" altLang="en-US" sz="2400" b="1" dirty="0">
                <a:latin typeface="黑体" pitchFamily="2" charset="-122"/>
                <a:ea typeface="黑体" pitchFamily="2" charset="-122"/>
              </a:rPr>
              <a:t>：加载、设置和修改线型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2400" b="1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dirty="0" err="1">
                <a:latin typeface="黑体" pitchFamily="2" charset="-122"/>
                <a:ea typeface="黑体" pitchFamily="2" charset="-122"/>
              </a:rPr>
              <a:t>Lweight</a:t>
            </a:r>
            <a:r>
              <a:rPr kumimoji="0" lang="zh-CN" altLang="en-US" sz="2400" b="1" dirty="0">
                <a:latin typeface="黑体" pitchFamily="2" charset="-122"/>
                <a:ea typeface="黑体" pitchFamily="2" charset="-122"/>
              </a:rPr>
              <a:t>：设置当前线宽、线宽显示选项和线宽单位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2400" b="1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dirty="0" err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Ltscale</a:t>
            </a:r>
            <a:r>
              <a:rPr kumimoji="0" lang="zh-CN" altLang="en-US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：设置全局线型比例因子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930" grpId="0"/>
      <p:bldP spid="20793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9DFD6F1E-C62C-4B0C-B86B-808D426C17E2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400" smtClean="0"/>
          </a:p>
        </p:txBody>
      </p:sp>
      <p:graphicFrame>
        <p:nvGraphicFramePr>
          <p:cNvPr id="173058" name="Object 2"/>
          <p:cNvGraphicFramePr>
            <a:graphicFrameLocks noChangeAspect="1"/>
          </p:cNvGraphicFramePr>
          <p:nvPr/>
        </p:nvGraphicFramePr>
        <p:xfrm>
          <a:off x="1504950" y="2065338"/>
          <a:ext cx="57150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7" name="位图图像" r:id="rId3" imgW="3742857" imgH="247685" progId="Paint.Picture">
                  <p:embed/>
                </p:oleObj>
              </mc:Choice>
              <mc:Fallback>
                <p:oleObj name="位图图像" r:id="rId3" imgW="3742857" imgH="247685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950" y="2065338"/>
                        <a:ext cx="57150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59" name="Text Box 3"/>
          <p:cNvSpPr txBox="1">
            <a:spLocks noChangeArrowheads="1"/>
          </p:cNvSpPr>
          <p:nvPr/>
        </p:nvSpPr>
        <p:spPr bwMode="auto">
          <a:xfrm>
            <a:off x="1550988" y="2497138"/>
            <a:ext cx="458787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1800" b="1">
                <a:latin typeface="Arial" charset="0"/>
                <a:ea typeface="黑体" pitchFamily="2" charset="-122"/>
              </a:rPr>
              <a:t>栅格捕捉</a:t>
            </a:r>
          </a:p>
        </p:txBody>
      </p:sp>
      <p:sp>
        <p:nvSpPr>
          <p:cNvPr id="173060" name="Text Box 4"/>
          <p:cNvSpPr txBox="1">
            <a:spLocks noChangeArrowheads="1"/>
          </p:cNvSpPr>
          <p:nvPr/>
        </p:nvSpPr>
        <p:spPr bwMode="auto">
          <a:xfrm>
            <a:off x="2225675" y="2497138"/>
            <a:ext cx="458788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1800" b="1">
                <a:latin typeface="Arial" charset="0"/>
                <a:ea typeface="黑体" pitchFamily="2" charset="-122"/>
              </a:rPr>
              <a:t>栅格显示</a:t>
            </a:r>
          </a:p>
        </p:txBody>
      </p:sp>
      <p:sp>
        <p:nvSpPr>
          <p:cNvPr id="173061" name="Text Box 5"/>
          <p:cNvSpPr txBox="1">
            <a:spLocks noChangeArrowheads="1"/>
          </p:cNvSpPr>
          <p:nvPr/>
        </p:nvSpPr>
        <p:spPr bwMode="auto">
          <a:xfrm>
            <a:off x="2846388" y="2497138"/>
            <a:ext cx="458787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1800" b="1">
                <a:latin typeface="Arial" charset="0"/>
                <a:ea typeface="黑体" pitchFamily="2" charset="-122"/>
              </a:rPr>
              <a:t>正交模式</a:t>
            </a:r>
          </a:p>
        </p:txBody>
      </p:sp>
      <p:sp>
        <p:nvSpPr>
          <p:cNvPr id="173062" name="Text Box 6"/>
          <p:cNvSpPr txBox="1">
            <a:spLocks noChangeArrowheads="1"/>
          </p:cNvSpPr>
          <p:nvPr/>
        </p:nvSpPr>
        <p:spPr bwMode="auto">
          <a:xfrm>
            <a:off x="3594100" y="2497138"/>
            <a:ext cx="458788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Arial" charset="0"/>
                <a:ea typeface="黑体" pitchFamily="2" charset="-122"/>
              </a:rPr>
              <a:t>角度追踪</a:t>
            </a:r>
          </a:p>
        </p:txBody>
      </p:sp>
      <p:sp>
        <p:nvSpPr>
          <p:cNvPr id="173063" name="Text Box 7"/>
          <p:cNvSpPr txBox="1">
            <a:spLocks noChangeArrowheads="1"/>
          </p:cNvSpPr>
          <p:nvPr/>
        </p:nvSpPr>
        <p:spPr bwMode="auto">
          <a:xfrm>
            <a:off x="4386263" y="2497138"/>
            <a:ext cx="458787" cy="244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Arial" charset="0"/>
                <a:ea typeface="黑体" pitchFamily="2" charset="-122"/>
              </a:rPr>
              <a:t>对象捕捉</a:t>
            </a:r>
          </a:p>
        </p:txBody>
      </p:sp>
      <p:sp>
        <p:nvSpPr>
          <p:cNvPr id="173064" name="Text Box 8"/>
          <p:cNvSpPr txBox="1">
            <a:spLocks noChangeArrowheads="1"/>
          </p:cNvSpPr>
          <p:nvPr/>
        </p:nvSpPr>
        <p:spPr bwMode="auto">
          <a:xfrm>
            <a:off x="5249863" y="2497138"/>
            <a:ext cx="458787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Arial" charset="0"/>
                <a:ea typeface="黑体" pitchFamily="2" charset="-122"/>
              </a:rPr>
              <a:t>对象追踪</a:t>
            </a:r>
          </a:p>
        </p:txBody>
      </p:sp>
      <p:sp>
        <p:nvSpPr>
          <p:cNvPr id="173065" name="Text Box 9"/>
          <p:cNvSpPr txBox="1">
            <a:spLocks noChangeArrowheads="1"/>
          </p:cNvSpPr>
          <p:nvPr/>
        </p:nvSpPr>
        <p:spPr bwMode="auto">
          <a:xfrm>
            <a:off x="5897563" y="2497138"/>
            <a:ext cx="458787" cy="251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Arial" charset="0"/>
                <a:ea typeface="黑体" pitchFamily="2" charset="-122"/>
              </a:rPr>
              <a:t>线宽显示</a:t>
            </a:r>
          </a:p>
        </p:txBody>
      </p:sp>
      <p:sp>
        <p:nvSpPr>
          <p:cNvPr id="173066" name="Text Box 10"/>
          <p:cNvSpPr txBox="1">
            <a:spLocks noChangeArrowheads="1"/>
          </p:cNvSpPr>
          <p:nvPr/>
        </p:nvSpPr>
        <p:spPr bwMode="auto">
          <a:xfrm>
            <a:off x="6618288" y="2497138"/>
            <a:ext cx="458787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Arial" charset="0"/>
                <a:ea typeface="黑体" pitchFamily="2" charset="-122"/>
              </a:rPr>
              <a:t>模型模式／图纸模式</a:t>
            </a:r>
          </a:p>
        </p:txBody>
      </p:sp>
      <p:sp>
        <p:nvSpPr>
          <p:cNvPr id="173067" name="Rectangle 11"/>
          <p:cNvSpPr>
            <a:spLocks noChangeArrowheads="1"/>
          </p:cNvSpPr>
          <p:nvPr/>
        </p:nvSpPr>
        <p:spPr bwMode="auto">
          <a:xfrm>
            <a:off x="534988" y="622300"/>
            <a:ext cx="30686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latin typeface="黑体" pitchFamily="2" charset="-122"/>
                <a:ea typeface="黑体" pitchFamily="2" charset="-122"/>
              </a:rPr>
              <a:t>六 状态栏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7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7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7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73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7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7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7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9" grpId="0"/>
      <p:bldP spid="173060" grpId="0"/>
      <p:bldP spid="173061" grpId="0"/>
      <p:bldP spid="173062" grpId="0"/>
      <p:bldP spid="173063" grpId="0"/>
      <p:bldP spid="173064" grpId="0"/>
      <p:bldP spid="173065" grpId="0"/>
      <p:bldP spid="173066" grpId="0"/>
      <p:bldP spid="17306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4747A01-7230-4D2A-B08B-6BE472E46BBE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400" smtClean="0"/>
          </a:p>
        </p:txBody>
      </p:sp>
      <p:sp>
        <p:nvSpPr>
          <p:cNvPr id="31747" name="AutoShape 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actionButtonBlank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01734" name="Text Box 6"/>
          <p:cNvSpPr txBox="1">
            <a:spLocks noChangeArrowheads="1"/>
          </p:cNvSpPr>
          <p:nvPr/>
        </p:nvSpPr>
        <p:spPr bwMode="auto">
          <a:xfrm>
            <a:off x="555625" y="1701800"/>
            <a:ext cx="8320088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ea typeface="黑体" pitchFamily="2" charset="-122"/>
              </a:rPr>
              <a:t>I really hate this damned machine;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ea typeface="黑体" pitchFamily="2" charset="-122"/>
              </a:rPr>
              <a:t>I wish that they would sell it.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ea typeface="黑体" pitchFamily="2" charset="-122"/>
              </a:rPr>
              <a:t>It never does quite what I want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ea typeface="黑体" pitchFamily="2" charset="-122"/>
              </a:rPr>
              <a:t>But only what I tell it. </a:t>
            </a:r>
            <a:endParaRPr lang="en-US" altLang="zh-CN" sz="2800" b="1" dirty="0" smtClean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800" b="1" dirty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800" b="1" dirty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From The Fortune Database, Berkeley Unix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90E66C5-9F5D-482A-9CF8-F75A9A91852F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1400" smtClean="0"/>
          </a:p>
        </p:txBody>
      </p:sp>
      <p:sp>
        <p:nvSpPr>
          <p:cNvPr id="174082" name="Text Box 2"/>
          <p:cNvSpPr txBox="1">
            <a:spLocks noChangeArrowheads="1"/>
          </p:cNvSpPr>
          <p:nvPr/>
        </p:nvSpPr>
        <p:spPr bwMode="auto">
          <a:xfrm>
            <a:off x="352425" y="841113"/>
            <a:ext cx="8791575" cy="2012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AutoCAD </a:t>
            </a:r>
            <a:r>
              <a:rPr lang="zh-CN" altLang="en-US" b="1" dirty="0" smtClean="0">
                <a:latin typeface="黑体" pitchFamily="2" charset="-122"/>
                <a:ea typeface="黑体" pitchFamily="2" charset="-122"/>
              </a:rPr>
              <a:t>绘图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作业</a:t>
            </a:r>
            <a:r>
              <a:rPr lang="zh-CN" altLang="en-US" b="1" dirty="0" smtClean="0">
                <a:latin typeface="黑体" pitchFamily="2" charset="-122"/>
                <a:ea typeface="黑体" pitchFamily="2" charset="-122"/>
              </a:rPr>
              <a:t>说明：</a:t>
            </a:r>
            <a:endParaRPr lang="en-US" altLang="zh-CN" b="1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spcAft>
                <a:spcPct val="20000"/>
              </a:spcAft>
              <a:buFontTx/>
              <a:buNone/>
            </a:pPr>
            <a:endParaRPr lang="zh-CN" altLang="en-US" b="1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上机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地点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：李兆基科技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大楼 </a:t>
            </a: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A302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。</a:t>
            </a:r>
            <a:endParaRPr lang="zh-CN" altLang="en-US" sz="2400" b="1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.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完成练习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题目，按 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1 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比例绘制，不标注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尺寸。</a:t>
            </a:r>
            <a:endParaRPr lang="en-US" altLang="zh-CN" sz="2400" b="1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74087" name="Text Box 7"/>
          <p:cNvSpPr txBox="1">
            <a:spLocks noChangeArrowheads="1"/>
          </p:cNvSpPr>
          <p:nvPr/>
        </p:nvSpPr>
        <p:spPr bwMode="auto">
          <a:xfrm>
            <a:off x="352425" y="2920816"/>
            <a:ext cx="8232177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.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选择</a:t>
            </a: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A4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图幅（</a:t>
            </a: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210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×</a:t>
            </a: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297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），绘制边框和零件图标题栏</a:t>
            </a:r>
            <a:endParaRPr lang="en-US" altLang="zh-CN" sz="2400" b="1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P9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，图</a:t>
            </a: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2-4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a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）），填写标题栏。</a:t>
            </a:r>
            <a:endParaRPr lang="en-US" altLang="zh-CN" sz="2400" b="1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4.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设置图层，线型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随图层，精确作图，独立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完成。</a:t>
            </a:r>
            <a:endParaRPr lang="en-US" altLang="zh-CN" sz="2400" b="1" dirty="0">
              <a:solidFill>
                <a:srgbClr val="FF33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5</a:t>
            </a: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.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将所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绘制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的</a:t>
            </a: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个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图形置于一个图形文件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，</a:t>
            </a:r>
            <a:endParaRPr lang="en-US" altLang="zh-CN" sz="2400" b="1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文件名：</a:t>
            </a:r>
            <a:r>
              <a:rPr lang="zh-CN" altLang="en-US" sz="2400" b="1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学号</a:t>
            </a:r>
            <a:r>
              <a:rPr lang="en-US" altLang="zh-CN" sz="2400" b="1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.</a:t>
            </a:r>
            <a:r>
              <a:rPr lang="en-US" altLang="zh-CN" sz="2400" b="1" dirty="0" err="1" smtClean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dwg</a:t>
            </a:r>
            <a:r>
              <a:rPr lang="zh-CN" altLang="en-US" sz="2400" b="1" dirty="0" smtClean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文件版本不高于</a:t>
            </a: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AutoCAD 2020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。</a:t>
            </a:r>
            <a:endParaRPr lang="zh-CN" altLang="en-US" sz="2400" b="1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6.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作业在</a:t>
            </a:r>
            <a:r>
              <a:rPr lang="zh-CN" altLang="en-US" sz="2400" b="1" dirty="0">
                <a:ea typeface="黑体" pitchFamily="2" charset="-122"/>
              </a:rPr>
              <a:t>“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网络学堂</a:t>
            </a:r>
            <a:r>
              <a:rPr lang="zh-CN" altLang="en-US" sz="2400" b="1" dirty="0">
                <a:ea typeface="黑体" pitchFamily="2" charset="-122"/>
              </a:rPr>
              <a:t>”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提交，截止日期：</a:t>
            </a: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11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月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6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日 </a:t>
            </a: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9:50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。</a:t>
            </a:r>
            <a:endParaRPr lang="zh-CN" altLang="en-US" sz="2400" b="1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2" grpId="0" build="p"/>
      <p:bldP spid="17408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2B3153B-97DF-4269-BE20-5B0B139C1973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400" smtClean="0"/>
          </a:p>
        </p:txBody>
      </p:sp>
      <p:sp>
        <p:nvSpPr>
          <p:cNvPr id="25603" name="Text Box 2"/>
          <p:cNvSpPr txBox="1">
            <a:spLocks noChangeArrowheads="1"/>
          </p:cNvSpPr>
          <p:nvPr/>
        </p:nvSpPr>
        <p:spPr bwMode="auto">
          <a:xfrm>
            <a:off x="771525" y="631825"/>
            <a:ext cx="8372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000" b="1" dirty="0">
                <a:latin typeface="黑体" pitchFamily="2" charset="-122"/>
                <a:ea typeface="黑体" pitchFamily="2" charset="-122"/>
              </a:rPr>
              <a:t>练习题</a:t>
            </a:r>
            <a:r>
              <a:rPr lang="en-US" altLang="zh-CN" sz="2000" b="1" dirty="0">
                <a:latin typeface="黑体" pitchFamily="2" charset="-122"/>
                <a:ea typeface="黑体" pitchFamily="2" charset="-122"/>
              </a:rPr>
              <a:t>1</a:t>
            </a:r>
          </a:p>
        </p:txBody>
      </p:sp>
      <p:pic>
        <p:nvPicPr>
          <p:cNvPr id="2560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8" y="844550"/>
            <a:ext cx="3886200" cy="305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314C39E-1010-4860-ADBC-ED6AF98BB1BB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400" smtClean="0"/>
          </a:p>
        </p:txBody>
      </p:sp>
      <p:sp>
        <p:nvSpPr>
          <p:cNvPr id="26627" name="Text Box 2"/>
          <p:cNvSpPr txBox="1">
            <a:spLocks noChangeArrowheads="1"/>
          </p:cNvSpPr>
          <p:nvPr/>
        </p:nvSpPr>
        <p:spPr bwMode="auto">
          <a:xfrm>
            <a:off x="771525" y="631825"/>
            <a:ext cx="8372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000" b="1">
                <a:latin typeface="黑体" pitchFamily="2" charset="-122"/>
                <a:ea typeface="黑体" pitchFamily="2" charset="-122"/>
              </a:rPr>
              <a:t>练习题</a:t>
            </a:r>
            <a:r>
              <a:rPr lang="en-US" altLang="zh-CN" sz="2000" b="1">
                <a:latin typeface="黑体" pitchFamily="2" charset="-122"/>
                <a:ea typeface="黑体" pitchFamily="2" charset="-122"/>
              </a:rPr>
              <a:t>2</a:t>
            </a:r>
          </a:p>
        </p:txBody>
      </p:sp>
      <p:graphicFrame>
        <p:nvGraphicFramePr>
          <p:cNvPr id="26628" name="Object 3"/>
          <p:cNvGraphicFramePr>
            <a:graphicFrameLocks noChangeAspect="1"/>
          </p:cNvGraphicFramePr>
          <p:nvPr/>
        </p:nvGraphicFramePr>
        <p:xfrm>
          <a:off x="2043113" y="844550"/>
          <a:ext cx="5086350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1" name="位图图像" r:id="rId3" imgW="5087060" imgH="4382112" progId="Paint.Picture">
                  <p:embed/>
                </p:oleObj>
              </mc:Choice>
              <mc:Fallback>
                <p:oleObj name="位图图像" r:id="rId3" imgW="5087060" imgH="4382112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113" y="844550"/>
                        <a:ext cx="5086350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776096A-D7E1-4164-835F-D3A116A9B14A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400" smtClean="0"/>
          </a:p>
        </p:txBody>
      </p:sp>
      <p:sp>
        <p:nvSpPr>
          <p:cNvPr id="27651" name="Text Box 2"/>
          <p:cNvSpPr txBox="1">
            <a:spLocks noChangeArrowheads="1"/>
          </p:cNvSpPr>
          <p:nvPr/>
        </p:nvSpPr>
        <p:spPr bwMode="auto">
          <a:xfrm>
            <a:off x="771525" y="631825"/>
            <a:ext cx="8372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000" b="1">
                <a:latin typeface="黑体" pitchFamily="2" charset="-122"/>
                <a:ea typeface="黑体" pitchFamily="2" charset="-122"/>
              </a:rPr>
              <a:t>练习题</a:t>
            </a:r>
            <a:r>
              <a:rPr lang="en-US" altLang="zh-CN" sz="2000" b="1">
                <a:latin typeface="黑体" pitchFamily="2" charset="-122"/>
                <a:ea typeface="黑体" pitchFamily="2" charset="-122"/>
              </a:rPr>
              <a:t>3</a:t>
            </a:r>
          </a:p>
        </p:txBody>
      </p:sp>
      <p:graphicFrame>
        <p:nvGraphicFramePr>
          <p:cNvPr id="27652" name="Object 3"/>
          <p:cNvGraphicFramePr>
            <a:graphicFrameLocks noChangeAspect="1"/>
          </p:cNvGraphicFramePr>
          <p:nvPr/>
        </p:nvGraphicFramePr>
        <p:xfrm>
          <a:off x="2184400" y="844550"/>
          <a:ext cx="4730750" cy="346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5" name="位图图像" r:id="rId3" imgW="5619048" imgH="4114286" progId="Paint.Picture">
                  <p:embed/>
                </p:oleObj>
              </mc:Choice>
              <mc:Fallback>
                <p:oleObj name="位图图像" r:id="rId3" imgW="5619048" imgH="4114286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4400" y="844550"/>
                        <a:ext cx="4730750" cy="346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AF89708-6720-49D0-853F-7A5F6E2F0AEC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400" smtClean="0"/>
          </a:p>
        </p:txBody>
      </p:sp>
      <p:graphicFrame>
        <p:nvGraphicFramePr>
          <p:cNvPr id="28675" name="Object 2"/>
          <p:cNvGraphicFramePr>
            <a:graphicFrameLocks noChangeAspect="1"/>
          </p:cNvGraphicFramePr>
          <p:nvPr/>
        </p:nvGraphicFramePr>
        <p:xfrm>
          <a:off x="1939925" y="844550"/>
          <a:ext cx="5048250" cy="329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9" name="位图图像" r:id="rId3" imgW="5047619" imgH="3296110" progId="Paint.Picture">
                  <p:embed/>
                </p:oleObj>
              </mc:Choice>
              <mc:Fallback>
                <p:oleObj name="位图图像" r:id="rId3" imgW="5047619" imgH="3296110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9925" y="844550"/>
                        <a:ext cx="5048250" cy="329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6" name="Text Box 3"/>
          <p:cNvSpPr txBox="1">
            <a:spLocks noChangeArrowheads="1"/>
          </p:cNvSpPr>
          <p:nvPr/>
        </p:nvSpPr>
        <p:spPr bwMode="auto">
          <a:xfrm>
            <a:off x="771525" y="631825"/>
            <a:ext cx="8372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000" b="1">
                <a:latin typeface="黑体" pitchFamily="2" charset="-122"/>
                <a:ea typeface="黑体" pitchFamily="2" charset="-122"/>
              </a:rPr>
              <a:t>练习题</a:t>
            </a:r>
            <a:r>
              <a:rPr lang="en-US" altLang="zh-CN" sz="2000" b="1">
                <a:latin typeface="黑体" pitchFamily="2" charset="-122"/>
                <a:ea typeface="黑体" pitchFamily="2" charset="-122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95B1904C-FFD9-4E93-8A50-9BBA94D401E1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1400" smtClean="0"/>
          </a:p>
        </p:txBody>
      </p:sp>
      <p:graphicFrame>
        <p:nvGraphicFramePr>
          <p:cNvPr id="29699" name="Object 2"/>
          <p:cNvGraphicFramePr>
            <a:graphicFrameLocks noChangeAspect="1"/>
          </p:cNvGraphicFramePr>
          <p:nvPr/>
        </p:nvGraphicFramePr>
        <p:xfrm>
          <a:off x="1482725" y="844550"/>
          <a:ext cx="58674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3" name="位图图像" r:id="rId3" imgW="5866667" imgH="3657143" progId="Paint.Picture">
                  <p:embed/>
                </p:oleObj>
              </mc:Choice>
              <mc:Fallback>
                <p:oleObj name="位图图像" r:id="rId3" imgW="5866667" imgH="3657143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2725" y="844550"/>
                        <a:ext cx="5867400" cy="365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0" name="Text Box 3"/>
          <p:cNvSpPr txBox="1">
            <a:spLocks noChangeArrowheads="1"/>
          </p:cNvSpPr>
          <p:nvPr/>
        </p:nvSpPr>
        <p:spPr bwMode="auto">
          <a:xfrm>
            <a:off x="771525" y="631825"/>
            <a:ext cx="8372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000" b="1">
                <a:latin typeface="黑体" pitchFamily="2" charset="-122"/>
                <a:ea typeface="黑体" pitchFamily="2" charset="-122"/>
              </a:rPr>
              <a:t>练习题</a:t>
            </a:r>
            <a:r>
              <a:rPr lang="en-US" altLang="zh-CN" sz="2000" b="1">
                <a:latin typeface="黑体" pitchFamily="2" charset="-122"/>
                <a:ea typeface="黑体" pitchFamily="2" charset="-122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9FBEFB95-4C9B-4812-9C89-B62F6D49C80F}" type="slidenum">
              <a:rPr lang="en-US" altLang="zh-CN" sz="1400" smtClean="0"/>
              <a:pPr algn="r"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1400" smtClean="0"/>
          </a:p>
        </p:txBody>
      </p:sp>
      <p:graphicFrame>
        <p:nvGraphicFramePr>
          <p:cNvPr id="30723" name="Object 2"/>
          <p:cNvGraphicFramePr>
            <a:graphicFrameLocks noChangeAspect="1"/>
          </p:cNvGraphicFramePr>
          <p:nvPr/>
        </p:nvGraphicFramePr>
        <p:xfrm>
          <a:off x="1952625" y="844550"/>
          <a:ext cx="5267325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7" name="位图图像" r:id="rId3" imgW="5266667" imgH="4420217" progId="Paint.Picture">
                  <p:embed/>
                </p:oleObj>
              </mc:Choice>
              <mc:Fallback>
                <p:oleObj name="位图图像" r:id="rId3" imgW="5266667" imgH="4420217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625" y="844550"/>
                        <a:ext cx="5267325" cy="441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Text Box 3"/>
          <p:cNvSpPr txBox="1">
            <a:spLocks noChangeArrowheads="1"/>
          </p:cNvSpPr>
          <p:nvPr/>
        </p:nvSpPr>
        <p:spPr bwMode="auto">
          <a:xfrm>
            <a:off x="771525" y="631825"/>
            <a:ext cx="8372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000" b="1">
                <a:latin typeface="黑体" pitchFamily="2" charset="-122"/>
                <a:ea typeface="黑体" pitchFamily="2" charset="-122"/>
              </a:rPr>
              <a:t>练习题</a:t>
            </a:r>
            <a:r>
              <a:rPr lang="en-US" altLang="zh-CN" sz="2000" b="1">
                <a:latin typeface="黑体" pitchFamily="2" charset="-122"/>
                <a:ea typeface="黑体" pitchFamily="2" charset="-122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77B6A13-B5FD-4D70-A0B6-05CD7C52E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44B26B-3FDC-4CC7-A192-42D4801FE22A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E3D50C6-817F-432C-8646-F81B1DCC5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404" y="1143052"/>
            <a:ext cx="4099748" cy="3822075"/>
          </a:xfrm>
          <a:prstGeom prst="rect">
            <a:avLst/>
          </a:prstGeom>
        </p:spPr>
      </p:pic>
      <p:sp>
        <p:nvSpPr>
          <p:cNvPr id="4" name="Text Box 3">
            <a:extLst>
              <a:ext uri="{FF2B5EF4-FFF2-40B4-BE49-F238E27FC236}">
                <a16:creationId xmlns:a16="http://schemas.microsoft.com/office/drawing/2014/main" id="{AA1B762E-7FC5-4A84-AAF1-197900970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" y="631825"/>
            <a:ext cx="8372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000" b="1" dirty="0">
                <a:latin typeface="黑体" pitchFamily="2" charset="-122"/>
                <a:ea typeface="黑体" pitchFamily="2" charset="-122"/>
              </a:rPr>
              <a:t>练习题</a:t>
            </a:r>
            <a:r>
              <a:rPr lang="en-US" altLang="zh-CN" sz="2000" b="1" dirty="0">
                <a:latin typeface="黑体" pitchFamily="2" charset="-122"/>
                <a:ea typeface="黑体" pitchFamily="2" charset="-122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0695240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8E86249-C95C-42A9-9546-3BA042859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44B26B-3FDC-4CC7-A192-42D4801FE22A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2ED3D499-8CA8-4504-BD00-287D10D97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" y="631825"/>
            <a:ext cx="8372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000" b="1" dirty="0">
                <a:latin typeface="黑体" pitchFamily="2" charset="-122"/>
                <a:ea typeface="黑体" pitchFamily="2" charset="-122"/>
              </a:rPr>
              <a:t>练习题</a:t>
            </a:r>
            <a:r>
              <a:rPr lang="en-US" altLang="zh-CN" sz="2000" b="1" dirty="0">
                <a:latin typeface="黑体" pitchFamily="2" charset="-122"/>
                <a:ea typeface="黑体" pitchFamily="2" charset="-122"/>
              </a:rPr>
              <a:t>8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03306B-4DA6-4B06-93F6-53E2EE6B7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249" y="1519972"/>
            <a:ext cx="4129244" cy="356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676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102E22E-6647-4CC3-A9E0-A1D0964D6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44B26B-3FDC-4CC7-A192-42D4801FE22A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B498776-460A-4BE3-A8EA-10300AD98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59" y="505330"/>
            <a:ext cx="8002951" cy="551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57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4441</TotalTime>
  <Words>2145</Words>
  <Application>Microsoft Office PowerPoint</Application>
  <PresentationFormat>全屏显示(4:3)</PresentationFormat>
  <Paragraphs>387</Paragraphs>
  <Slides>33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Arial Unicode MS</vt:lpstr>
      <vt:lpstr>黑体</vt:lpstr>
      <vt:lpstr>宋体</vt:lpstr>
      <vt:lpstr>Arial</vt:lpstr>
      <vt:lpstr>ISOCP</vt:lpstr>
      <vt:lpstr>ISOCPEUR</vt:lpstr>
      <vt:lpstr>Symbol</vt:lpstr>
      <vt:lpstr>Times New Roman</vt:lpstr>
      <vt:lpstr>默认设计模板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AutoCAD</dc:title>
  <dc:creator>litm</dc:creator>
  <cp:lastModifiedBy>李铁民</cp:lastModifiedBy>
  <cp:revision>186</cp:revision>
  <dcterms:created xsi:type="dcterms:W3CDTF">1998-10-07T06:41:44Z</dcterms:created>
  <dcterms:modified xsi:type="dcterms:W3CDTF">2023-10-08T13:53:55Z</dcterms:modified>
</cp:coreProperties>
</file>