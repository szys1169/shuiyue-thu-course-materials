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320" r:id="rId32"/>
    <p:sldId id="321" r:id="rId33"/>
    <p:sldId id="322" r:id="rId34"/>
    <p:sldId id="323" r:id="rId35"/>
    <p:sldId id="324" r:id="rId36"/>
    <p:sldId id="325" r:id="rId37"/>
    <p:sldId id="326" r:id="rId38"/>
    <p:sldId id="327" r:id="rId39"/>
    <p:sldId id="328" r:id="rId40"/>
    <p:sldId id="329" r:id="rId41"/>
    <p:sldId id="330" r:id="rId42"/>
    <p:sldId id="331" r:id="rId43"/>
    <p:sldId id="332" r:id="rId44"/>
    <p:sldId id="333" r:id="rId45"/>
    <p:sldId id="334" r:id="rId46"/>
    <p:sldId id="335"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9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5.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32.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6.wmf"/><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38.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7.wmf"/><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56.wmf"/><Relationship Id="rId4" Type="http://schemas.openxmlformats.org/officeDocument/2006/relationships/image" Target="../media/image55.wmf"/><Relationship Id="rId3" Type="http://schemas.openxmlformats.org/officeDocument/2006/relationships/image" Target="../media/image54.emf"/><Relationship Id="rId2" Type="http://schemas.openxmlformats.org/officeDocument/2006/relationships/image" Target="../media/image53.wmf"/><Relationship Id="rId1" Type="http://schemas.openxmlformats.org/officeDocument/2006/relationships/image" Target="../media/image5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21.vml.rels><?xml version="1.0" encoding="UTF-8" standalone="yes"?>
<Relationships xmlns="http://schemas.openxmlformats.org/package/2006/relationships"><Relationship Id="rId7" Type="http://schemas.openxmlformats.org/officeDocument/2006/relationships/image" Target="../media/image84.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emf"/><Relationship Id="rId1" Type="http://schemas.openxmlformats.org/officeDocument/2006/relationships/image" Target="../media/image78.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6.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9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91.w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116.wmf"/><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wmf"/><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0.wmf"/><Relationship Id="rId7" Type="http://schemas.openxmlformats.org/officeDocument/2006/relationships/oleObject" Target="../embeddings/oleObject4.bin"/><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5" Type="http://schemas.openxmlformats.org/officeDocument/2006/relationships/vmlDrawing" Target="../drawings/vmlDrawing1.vml"/><Relationship Id="rId14" Type="http://schemas.openxmlformats.org/officeDocument/2006/relationships/slideLayout" Target="../slideLayouts/slideLayout7.xml"/><Relationship Id="rId13" Type="http://schemas.openxmlformats.org/officeDocument/2006/relationships/tags" Target="../tags/tag3.xml"/><Relationship Id="rId12" Type="http://schemas.openxmlformats.org/officeDocument/2006/relationships/image" Target="../media/image12.wmf"/><Relationship Id="rId11" Type="http://schemas.openxmlformats.org/officeDocument/2006/relationships/oleObject" Target="../embeddings/oleObject6.bin"/><Relationship Id="rId10" Type="http://schemas.openxmlformats.org/officeDocument/2006/relationships/image" Target="../media/image11.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tags" Target="../tags/tag5.xml"/><Relationship Id="rId3" Type="http://schemas.openxmlformats.org/officeDocument/2006/relationships/image" Target="../media/image13.png"/><Relationship Id="rId2" Type="http://schemas.openxmlformats.org/officeDocument/2006/relationships/image" Target="../media/image15.wmf"/><Relationship Id="rId1"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9.wmf"/><Relationship Id="rId7" Type="http://schemas.openxmlformats.org/officeDocument/2006/relationships/oleObject" Target="../embeddings/oleObject11.bin"/><Relationship Id="rId6" Type="http://schemas.openxmlformats.org/officeDocument/2006/relationships/image" Target="../media/image18.wmf"/><Relationship Id="rId5" Type="http://schemas.openxmlformats.org/officeDocument/2006/relationships/oleObject" Target="../embeddings/oleObject10.bin"/><Relationship Id="rId4" Type="http://schemas.openxmlformats.org/officeDocument/2006/relationships/image" Target="../media/image17.wmf"/><Relationship Id="rId3" Type="http://schemas.openxmlformats.org/officeDocument/2006/relationships/oleObject" Target="../embeddings/oleObject9.bin"/><Relationship Id="rId2" Type="http://schemas.openxmlformats.org/officeDocument/2006/relationships/image" Target="../media/image16.wmf"/><Relationship Id="rId15" Type="http://schemas.openxmlformats.org/officeDocument/2006/relationships/vmlDrawing" Target="../drawings/vmlDrawing3.vml"/><Relationship Id="rId14" Type="http://schemas.openxmlformats.org/officeDocument/2006/relationships/slideLayout" Target="../slideLayouts/slideLayout7.xml"/><Relationship Id="rId13" Type="http://schemas.openxmlformats.org/officeDocument/2006/relationships/tags" Target="../tags/tag6.xml"/><Relationship Id="rId12" Type="http://schemas.openxmlformats.org/officeDocument/2006/relationships/image" Target="../media/image15.wmf"/><Relationship Id="rId11" Type="http://schemas.openxmlformats.org/officeDocument/2006/relationships/oleObject" Target="../embeddings/oleObject13.bin"/><Relationship Id="rId10" Type="http://schemas.openxmlformats.org/officeDocument/2006/relationships/image" Target="../media/image20.wmf"/><Relationship Id="rId1"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xml"/><Relationship Id="rId7" Type="http://schemas.openxmlformats.org/officeDocument/2006/relationships/image" Target="../media/image23.png"/><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image" Target="../media/image21.wmf"/><Relationship Id="rId3" Type="http://schemas.openxmlformats.org/officeDocument/2006/relationships/oleObject" Target="../embeddings/oleObject15.bin"/><Relationship Id="rId2" Type="http://schemas.openxmlformats.org/officeDocument/2006/relationships/image" Target="../media/image16.wmf"/><Relationship Id="rId10" Type="http://schemas.openxmlformats.org/officeDocument/2006/relationships/vmlDrawing" Target="../drawings/vmlDrawing4.vml"/><Relationship Id="rId1"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9.wmf"/><Relationship Id="rId7" Type="http://schemas.openxmlformats.org/officeDocument/2006/relationships/oleObject" Target="../embeddings/oleObject20.bin"/><Relationship Id="rId6" Type="http://schemas.openxmlformats.org/officeDocument/2006/relationships/image" Target="../media/image28.wmf"/><Relationship Id="rId5" Type="http://schemas.openxmlformats.org/officeDocument/2006/relationships/oleObject" Target="../embeddings/oleObject19.bin"/><Relationship Id="rId4" Type="http://schemas.openxmlformats.org/officeDocument/2006/relationships/image" Target="../media/image27.wmf"/><Relationship Id="rId3" Type="http://schemas.openxmlformats.org/officeDocument/2006/relationships/oleObject" Target="../embeddings/oleObject18.bin"/><Relationship Id="rId2" Type="http://schemas.openxmlformats.org/officeDocument/2006/relationships/image" Target="../media/image26.wmf"/><Relationship Id="rId18" Type="http://schemas.openxmlformats.org/officeDocument/2006/relationships/vmlDrawing" Target="../drawings/vmlDrawing5.vml"/><Relationship Id="rId17" Type="http://schemas.openxmlformats.org/officeDocument/2006/relationships/slideLayout" Target="../slideLayouts/slideLayout7.xml"/><Relationship Id="rId16" Type="http://schemas.openxmlformats.org/officeDocument/2006/relationships/tags" Target="../tags/tag10.xml"/><Relationship Id="rId15" Type="http://schemas.openxmlformats.org/officeDocument/2006/relationships/image" Target="../media/image33.png"/><Relationship Id="rId14" Type="http://schemas.openxmlformats.org/officeDocument/2006/relationships/image" Target="../media/image32.wmf"/><Relationship Id="rId13" Type="http://schemas.openxmlformats.org/officeDocument/2006/relationships/oleObject" Target="../embeddings/oleObject23.bin"/><Relationship Id="rId12" Type="http://schemas.openxmlformats.org/officeDocument/2006/relationships/image" Target="../media/image31.wmf"/><Relationship Id="rId11" Type="http://schemas.openxmlformats.org/officeDocument/2006/relationships/oleObject" Target="../embeddings/oleObject22.bin"/><Relationship Id="rId10" Type="http://schemas.openxmlformats.org/officeDocument/2006/relationships/image" Target="../media/image30.wmf"/><Relationship Id="rId1"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34.wmf"/><Relationship Id="rId1" Type="http://schemas.openxmlformats.org/officeDocument/2006/relationships/oleObject" Target="../embeddings/oleObject24.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tags" Target="../tags/tag11.xml"/><Relationship Id="rId3" Type="http://schemas.openxmlformats.org/officeDocument/2006/relationships/image" Target="../media/image35.png"/><Relationship Id="rId2" Type="http://schemas.openxmlformats.org/officeDocument/2006/relationships/image" Target="../media/image36.wmf"/><Relationship Id="rId1" Type="http://schemas.openxmlformats.org/officeDocument/2006/relationships/oleObject" Target="../embeddings/oleObject25.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39.wmf"/><Relationship Id="rId7" Type="http://schemas.openxmlformats.org/officeDocument/2006/relationships/oleObject" Target="../embeddings/oleObject29.bin"/><Relationship Id="rId6" Type="http://schemas.openxmlformats.org/officeDocument/2006/relationships/image" Target="../media/image36.wmf"/><Relationship Id="rId5" Type="http://schemas.openxmlformats.org/officeDocument/2006/relationships/oleObject" Target="../embeddings/oleObject28.bin"/><Relationship Id="rId4" Type="http://schemas.openxmlformats.org/officeDocument/2006/relationships/image" Target="../media/image38.wmf"/><Relationship Id="rId3" Type="http://schemas.openxmlformats.org/officeDocument/2006/relationships/oleObject" Target="../embeddings/oleObject27.bin"/><Relationship Id="rId2" Type="http://schemas.openxmlformats.org/officeDocument/2006/relationships/image" Target="../media/image37.wmf"/><Relationship Id="rId12" Type="http://schemas.openxmlformats.org/officeDocument/2006/relationships/vmlDrawing" Target="../drawings/vmlDrawing8.vml"/><Relationship Id="rId11" Type="http://schemas.openxmlformats.org/officeDocument/2006/relationships/slideLayout" Target="../slideLayouts/slideLayout7.xml"/><Relationship Id="rId10" Type="http://schemas.openxmlformats.org/officeDocument/2006/relationships/image" Target="../media/image40.wmf"/><Relationship Id="rId1" Type="http://schemas.openxmlformats.org/officeDocument/2006/relationships/oleObject" Target="../embeddings/oleObject26.bin"/></Relationships>
</file>

<file path=ppt/slides/_rels/slide25.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8.wmf"/><Relationship Id="rId7" Type="http://schemas.openxmlformats.org/officeDocument/2006/relationships/oleObject" Target="../embeddings/oleObject34.bin"/><Relationship Id="rId6" Type="http://schemas.openxmlformats.org/officeDocument/2006/relationships/image" Target="../media/image43.wmf"/><Relationship Id="rId5" Type="http://schemas.openxmlformats.org/officeDocument/2006/relationships/oleObject" Target="../embeddings/oleObject33.bin"/><Relationship Id="rId4" Type="http://schemas.openxmlformats.org/officeDocument/2006/relationships/image" Target="../media/image42.wmf"/><Relationship Id="rId3" Type="http://schemas.openxmlformats.org/officeDocument/2006/relationships/oleObject" Target="../embeddings/oleObject32.bin"/><Relationship Id="rId2" Type="http://schemas.openxmlformats.org/officeDocument/2006/relationships/image" Target="../media/image41.wmf"/><Relationship Id="rId12" Type="http://schemas.openxmlformats.org/officeDocument/2006/relationships/vmlDrawing" Target="../drawings/vmlDrawing9.vml"/><Relationship Id="rId11" Type="http://schemas.openxmlformats.org/officeDocument/2006/relationships/slideLayout" Target="../slideLayouts/slideLayout7.xml"/><Relationship Id="rId10" Type="http://schemas.openxmlformats.org/officeDocument/2006/relationships/tags" Target="../tags/tag12.xml"/><Relationship Id="rId1" Type="http://schemas.openxmlformats.org/officeDocument/2006/relationships/oleObject" Target="../embeddings/oleObject31.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tags" Target="../tags/tag13.xml"/><Relationship Id="rId3" Type="http://schemas.openxmlformats.org/officeDocument/2006/relationships/image" Target="../media/image44.png"/><Relationship Id="rId2" Type="http://schemas.openxmlformats.org/officeDocument/2006/relationships/image" Target="../media/image43.wmf"/><Relationship Id="rId1" Type="http://schemas.openxmlformats.org/officeDocument/2006/relationships/oleObject" Target="../embeddings/oleObject35.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image" Target="../media/image45.png"/></Relationships>
</file>

<file path=ppt/slides/_rels/slide28.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7.xml"/><Relationship Id="rId7" Type="http://schemas.openxmlformats.org/officeDocument/2006/relationships/image" Target="../media/image48.png"/><Relationship Id="rId6" Type="http://schemas.openxmlformats.org/officeDocument/2006/relationships/image" Target="../media/image43.wmf"/><Relationship Id="rId5" Type="http://schemas.openxmlformats.org/officeDocument/2006/relationships/oleObject" Target="../embeddings/oleObject38.bin"/><Relationship Id="rId4" Type="http://schemas.openxmlformats.org/officeDocument/2006/relationships/image" Target="../media/image47.wmf"/><Relationship Id="rId3" Type="http://schemas.openxmlformats.org/officeDocument/2006/relationships/oleObject" Target="../embeddings/oleObject37.bin"/><Relationship Id="rId2" Type="http://schemas.openxmlformats.org/officeDocument/2006/relationships/image" Target="../media/image46.wmf"/><Relationship Id="rId1" Type="http://schemas.openxmlformats.org/officeDocument/2006/relationships/oleObject" Target="../embeddings/oleObject36.bin"/></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50.wmf"/><Relationship Id="rId3" Type="http://schemas.openxmlformats.org/officeDocument/2006/relationships/oleObject" Target="../embeddings/oleObject40.bin"/><Relationship Id="rId2" Type="http://schemas.openxmlformats.org/officeDocument/2006/relationships/image" Target="../media/image49.wmf"/><Relationship Id="rId1" Type="http://schemas.openxmlformats.org/officeDocument/2006/relationships/oleObject" Target="../embeddings/oleObject39.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41.wmf"/><Relationship Id="rId1" Type="http://schemas.openxmlformats.org/officeDocument/2006/relationships/oleObject" Target="../embeddings/oleObject41.bin"/></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1.wmf"/><Relationship Id="rId3" Type="http://schemas.openxmlformats.org/officeDocument/2006/relationships/oleObject" Target="../embeddings/oleObject43.bin"/><Relationship Id="rId2" Type="http://schemas.openxmlformats.org/officeDocument/2006/relationships/image" Target="../media/image51.wmf"/><Relationship Id="rId1" Type="http://schemas.openxmlformats.org/officeDocument/2006/relationships/oleObject" Target="../embeddings/oleObject42.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55.wmf"/><Relationship Id="rId7" Type="http://schemas.openxmlformats.org/officeDocument/2006/relationships/oleObject" Target="../embeddings/oleObject47.bin"/><Relationship Id="rId6" Type="http://schemas.openxmlformats.org/officeDocument/2006/relationships/image" Target="../media/image54.emf"/><Relationship Id="rId5" Type="http://schemas.openxmlformats.org/officeDocument/2006/relationships/oleObject" Target="../embeddings/oleObject46.bin"/><Relationship Id="rId4" Type="http://schemas.openxmlformats.org/officeDocument/2006/relationships/image" Target="../media/image53.wmf"/><Relationship Id="rId3" Type="http://schemas.openxmlformats.org/officeDocument/2006/relationships/oleObject" Target="../embeddings/oleObject45.bin"/><Relationship Id="rId2" Type="http://schemas.openxmlformats.org/officeDocument/2006/relationships/image" Target="../media/image52.wmf"/><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56.wmf"/><Relationship Id="rId1" Type="http://schemas.openxmlformats.org/officeDocument/2006/relationships/oleObject" Target="../embeddings/oleObject4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jpeg"/></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59.wmf"/><Relationship Id="rId3" Type="http://schemas.openxmlformats.org/officeDocument/2006/relationships/oleObject" Target="../embeddings/oleObject50.bin"/><Relationship Id="rId2" Type="http://schemas.openxmlformats.org/officeDocument/2006/relationships/image" Target="../media/image58.wmf"/><Relationship Id="rId1" Type="http://schemas.openxmlformats.org/officeDocument/2006/relationships/oleObject" Target="../embeddings/oleObject49.bin"/></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7.xml"/><Relationship Id="rId3" Type="http://schemas.openxmlformats.org/officeDocument/2006/relationships/image" Target="../media/image62.emf"/><Relationship Id="rId2" Type="http://schemas.openxmlformats.org/officeDocument/2006/relationships/oleObject" Target="../embeddings/oleObject51.bin"/><Relationship Id="rId1" Type="http://schemas.openxmlformats.org/officeDocument/2006/relationships/image" Target="../media/image6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44.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7.xml"/><Relationship Id="rId3" Type="http://schemas.openxmlformats.org/officeDocument/2006/relationships/image" Target="../media/image65.png"/><Relationship Id="rId2" Type="http://schemas.openxmlformats.org/officeDocument/2006/relationships/image" Target="../media/image64.emf"/><Relationship Id="rId1" Type="http://schemas.openxmlformats.org/officeDocument/2006/relationships/oleObject" Target="../embeddings/oleObject52.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7.xml"/><Relationship Id="rId3" Type="http://schemas.openxmlformats.org/officeDocument/2006/relationships/image" Target="../media/image67.png"/><Relationship Id="rId2" Type="http://schemas.openxmlformats.org/officeDocument/2006/relationships/image" Target="../media/image66.emf"/><Relationship Id="rId1" Type="http://schemas.openxmlformats.org/officeDocument/2006/relationships/oleObject" Target="../embeddings/oleObject53.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68.png"/></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73.wmf"/><Relationship Id="rId7" Type="http://schemas.openxmlformats.org/officeDocument/2006/relationships/oleObject" Target="../embeddings/oleObject57.bin"/><Relationship Id="rId6" Type="http://schemas.openxmlformats.org/officeDocument/2006/relationships/image" Target="../media/image72.wmf"/><Relationship Id="rId5" Type="http://schemas.openxmlformats.org/officeDocument/2006/relationships/oleObject" Target="../embeddings/oleObject56.bin"/><Relationship Id="rId4" Type="http://schemas.openxmlformats.org/officeDocument/2006/relationships/image" Target="../media/image71.wmf"/><Relationship Id="rId3" Type="http://schemas.openxmlformats.org/officeDocument/2006/relationships/oleObject" Target="../embeddings/oleObject55.bin"/><Relationship Id="rId2" Type="http://schemas.openxmlformats.org/officeDocument/2006/relationships/image" Target="../media/image70.wmf"/><Relationship Id="rId14" Type="http://schemas.openxmlformats.org/officeDocument/2006/relationships/vmlDrawing" Target="../drawings/vmlDrawing20.vml"/><Relationship Id="rId13" Type="http://schemas.openxmlformats.org/officeDocument/2006/relationships/slideLayout" Target="../slideLayouts/slideLayout7.xml"/><Relationship Id="rId12" Type="http://schemas.openxmlformats.org/officeDocument/2006/relationships/image" Target="../media/image75.wmf"/><Relationship Id="rId11" Type="http://schemas.openxmlformats.org/officeDocument/2006/relationships/oleObject" Target="../embeddings/oleObject59.bin"/><Relationship Id="rId10" Type="http://schemas.openxmlformats.org/officeDocument/2006/relationships/image" Target="../media/image74.wmf"/><Relationship Id="rId1" Type="http://schemas.openxmlformats.org/officeDocument/2006/relationships/oleObject" Target="../embeddings/oleObject54.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50.xml.rels><?xml version="1.0" encoding="UTF-8" standalone="yes"?>
<Relationships xmlns="http://schemas.openxmlformats.org/package/2006/relationships"><Relationship Id="rId9" Type="http://schemas.openxmlformats.org/officeDocument/2006/relationships/image" Target="../media/image81.wmf"/><Relationship Id="rId8" Type="http://schemas.openxmlformats.org/officeDocument/2006/relationships/oleObject" Target="../embeddings/oleObject63.bin"/><Relationship Id="rId7" Type="http://schemas.openxmlformats.org/officeDocument/2006/relationships/image" Target="../media/image80.wmf"/><Relationship Id="rId6" Type="http://schemas.openxmlformats.org/officeDocument/2006/relationships/oleObject" Target="../embeddings/oleObject62.bin"/><Relationship Id="rId5" Type="http://schemas.openxmlformats.org/officeDocument/2006/relationships/image" Target="../media/image79.emf"/><Relationship Id="rId4" Type="http://schemas.openxmlformats.org/officeDocument/2006/relationships/oleObject" Target="../embeddings/oleObject61.bin"/><Relationship Id="rId3" Type="http://schemas.openxmlformats.org/officeDocument/2006/relationships/image" Target="../media/image78.emf"/><Relationship Id="rId2" Type="http://schemas.openxmlformats.org/officeDocument/2006/relationships/oleObject" Target="../embeddings/oleObject60.bin"/><Relationship Id="rId17" Type="http://schemas.openxmlformats.org/officeDocument/2006/relationships/vmlDrawing" Target="../drawings/vmlDrawing21.vml"/><Relationship Id="rId16" Type="http://schemas.openxmlformats.org/officeDocument/2006/relationships/slideLayout" Target="../slideLayouts/slideLayout7.xml"/><Relationship Id="rId15" Type="http://schemas.openxmlformats.org/officeDocument/2006/relationships/image" Target="../media/image84.wmf"/><Relationship Id="rId14" Type="http://schemas.openxmlformats.org/officeDocument/2006/relationships/oleObject" Target="../embeddings/oleObject66.bin"/><Relationship Id="rId13" Type="http://schemas.openxmlformats.org/officeDocument/2006/relationships/image" Target="../media/image83.wmf"/><Relationship Id="rId12" Type="http://schemas.openxmlformats.org/officeDocument/2006/relationships/oleObject" Target="../embeddings/oleObject65.bin"/><Relationship Id="rId11" Type="http://schemas.openxmlformats.org/officeDocument/2006/relationships/image" Target="../media/image82.wmf"/><Relationship Id="rId10" Type="http://schemas.openxmlformats.org/officeDocument/2006/relationships/oleObject" Target="../embeddings/oleObject64.bin"/><Relationship Id="rId1" Type="http://schemas.openxmlformats.org/officeDocument/2006/relationships/image" Target="../media/image77.png"/></Relationships>
</file>

<file path=ppt/slides/_rels/slide51.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7.xml"/><Relationship Id="rId7" Type="http://schemas.openxmlformats.org/officeDocument/2006/relationships/image" Target="../media/image82.wmf"/><Relationship Id="rId6" Type="http://schemas.openxmlformats.org/officeDocument/2006/relationships/oleObject" Target="../embeddings/oleObject69.bin"/><Relationship Id="rId5" Type="http://schemas.openxmlformats.org/officeDocument/2006/relationships/image" Target="../media/image81.wmf"/><Relationship Id="rId4" Type="http://schemas.openxmlformats.org/officeDocument/2006/relationships/oleObject" Target="../embeddings/oleObject68.bin"/><Relationship Id="rId3" Type="http://schemas.openxmlformats.org/officeDocument/2006/relationships/image" Target="../media/image86.emf"/><Relationship Id="rId2" Type="http://schemas.openxmlformats.org/officeDocument/2006/relationships/oleObject" Target="../embeddings/oleObject67.bin"/><Relationship Id="rId1" Type="http://schemas.openxmlformats.org/officeDocument/2006/relationships/image" Target="../media/image8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wmf"/><Relationship Id="rId3" Type="http://schemas.openxmlformats.org/officeDocument/2006/relationships/oleObject" Target="../embeddings/oleObject71.bin"/><Relationship Id="rId2" Type="http://schemas.openxmlformats.org/officeDocument/2006/relationships/image" Target="../media/image87.wmf"/><Relationship Id="rId1" Type="http://schemas.openxmlformats.org/officeDocument/2006/relationships/oleObject" Target="../embeddings/oleObject70.bin"/></Relationships>
</file>

<file path=ppt/slides/_rels/slide55.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image" Target="../media/image94.wmf"/><Relationship Id="rId7" Type="http://schemas.openxmlformats.org/officeDocument/2006/relationships/oleObject" Target="../embeddings/oleObject75.bin"/><Relationship Id="rId6" Type="http://schemas.openxmlformats.org/officeDocument/2006/relationships/image" Target="../media/image93.wmf"/><Relationship Id="rId5" Type="http://schemas.openxmlformats.org/officeDocument/2006/relationships/oleObject" Target="../embeddings/oleObject74.bin"/><Relationship Id="rId4" Type="http://schemas.openxmlformats.org/officeDocument/2006/relationships/image" Target="../media/image92.wmf"/><Relationship Id="rId3" Type="http://schemas.openxmlformats.org/officeDocument/2006/relationships/oleObject" Target="../embeddings/oleObject73.bin"/><Relationship Id="rId2" Type="http://schemas.openxmlformats.org/officeDocument/2006/relationships/image" Target="../media/image91.wmf"/><Relationship Id="rId11" Type="http://schemas.openxmlformats.org/officeDocument/2006/relationships/vmlDrawing" Target="../drawings/vmlDrawing24.vml"/><Relationship Id="rId10" Type="http://schemas.openxmlformats.org/officeDocument/2006/relationships/slideLayout" Target="../slideLayouts/slideLayout7.xml"/><Relationship Id="rId1" Type="http://schemas.openxmlformats.org/officeDocument/2006/relationships/oleObject" Target="../embeddings/oleObject72.bin"/></Relationships>
</file>

<file path=ppt/slides/_rels/slide56.xml.rels><?xml version="1.0" encoding="UTF-8" standalone="yes"?>
<Relationships xmlns="http://schemas.openxmlformats.org/package/2006/relationships"><Relationship Id="rId7" Type="http://schemas.openxmlformats.org/officeDocument/2006/relationships/vmlDrawing" Target="../drawings/vmlDrawing25.v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image" Target="../media/image96.wmf"/><Relationship Id="rId3" Type="http://schemas.openxmlformats.org/officeDocument/2006/relationships/oleObject" Target="../embeddings/oleObject77.bin"/><Relationship Id="rId2" Type="http://schemas.openxmlformats.org/officeDocument/2006/relationships/image" Target="../media/image95.wmf"/><Relationship Id="rId1" Type="http://schemas.openxmlformats.org/officeDocument/2006/relationships/oleObject" Target="../embeddings/oleObject76.bin"/></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wmf"/><Relationship Id="rId3" Type="http://schemas.openxmlformats.org/officeDocument/2006/relationships/oleObject" Target="../embeddings/oleObject79.bin"/><Relationship Id="rId2" Type="http://schemas.openxmlformats.org/officeDocument/2006/relationships/image" Target="../media/image97.wmf"/><Relationship Id="rId1" Type="http://schemas.openxmlformats.org/officeDocument/2006/relationships/oleObject" Target="../embeddings/oleObject78.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4.wmf"/><Relationship Id="rId7" Type="http://schemas.openxmlformats.org/officeDocument/2006/relationships/oleObject" Target="../embeddings/oleObject83.bin"/><Relationship Id="rId6" Type="http://schemas.openxmlformats.org/officeDocument/2006/relationships/image" Target="../media/image93.wmf"/><Relationship Id="rId5" Type="http://schemas.openxmlformats.org/officeDocument/2006/relationships/oleObject" Target="../embeddings/oleObject82.bin"/><Relationship Id="rId4" Type="http://schemas.openxmlformats.org/officeDocument/2006/relationships/image" Target="../media/image92.wmf"/><Relationship Id="rId3" Type="http://schemas.openxmlformats.org/officeDocument/2006/relationships/oleObject" Target="../embeddings/oleObject81.bin"/><Relationship Id="rId2" Type="http://schemas.openxmlformats.org/officeDocument/2006/relationships/image" Target="../media/image91.wmf"/><Relationship Id="rId10" Type="http://schemas.openxmlformats.org/officeDocument/2006/relationships/vmlDrawing" Target="../drawings/vmlDrawing27.vml"/><Relationship Id="rId1" Type="http://schemas.openxmlformats.org/officeDocument/2006/relationships/oleObject" Target="../embeddings/oleObject80.bin"/></Relationships>
</file>

<file path=ppt/slides/_rels/slide60.xml.rels><?xml version="1.0" encoding="UTF-8" standalone="yes"?>
<Relationships xmlns="http://schemas.openxmlformats.org/package/2006/relationships"><Relationship Id="rId7" Type="http://schemas.openxmlformats.org/officeDocument/2006/relationships/vmlDrawing" Target="../drawings/vmlDrawing28.vml"/><Relationship Id="rId6" Type="http://schemas.openxmlformats.org/officeDocument/2006/relationships/slideLayout" Target="../slideLayouts/slideLayout7.xml"/><Relationship Id="rId5" Type="http://schemas.openxmlformats.org/officeDocument/2006/relationships/tags" Target="../tags/tag17.xml"/><Relationship Id="rId4" Type="http://schemas.openxmlformats.org/officeDocument/2006/relationships/image" Target="../media/image101.wmf"/><Relationship Id="rId3" Type="http://schemas.openxmlformats.org/officeDocument/2006/relationships/oleObject" Target="../embeddings/oleObject85.bin"/><Relationship Id="rId2" Type="http://schemas.openxmlformats.org/officeDocument/2006/relationships/image" Target="../media/image91.wmf"/><Relationship Id="rId1" Type="http://schemas.openxmlformats.org/officeDocument/2006/relationships/oleObject" Target="../embeddings/oleObject84.bin"/></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102.wmf"/><Relationship Id="rId3" Type="http://schemas.openxmlformats.org/officeDocument/2006/relationships/oleObject" Target="../embeddings/oleObject87.bin"/><Relationship Id="rId2" Type="http://schemas.openxmlformats.org/officeDocument/2006/relationships/image" Target="../media/image91.wmf"/><Relationship Id="rId1" Type="http://schemas.openxmlformats.org/officeDocument/2006/relationships/oleObject" Target="../embeddings/oleObject86.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3.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xml"/><Relationship Id="rId1" Type="http://schemas.openxmlformats.org/officeDocument/2006/relationships/image" Target="../media/image104.png"/></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108.wmf"/><Relationship Id="rId7" Type="http://schemas.openxmlformats.org/officeDocument/2006/relationships/oleObject" Target="../embeddings/oleObject91.bin"/><Relationship Id="rId6" Type="http://schemas.openxmlformats.org/officeDocument/2006/relationships/image" Target="../media/image107.wmf"/><Relationship Id="rId5" Type="http://schemas.openxmlformats.org/officeDocument/2006/relationships/oleObject" Target="../embeddings/oleObject90.bin"/><Relationship Id="rId4" Type="http://schemas.openxmlformats.org/officeDocument/2006/relationships/image" Target="../media/image106.wmf"/><Relationship Id="rId3" Type="http://schemas.openxmlformats.org/officeDocument/2006/relationships/oleObject" Target="../embeddings/oleObject89.bin"/><Relationship Id="rId2" Type="http://schemas.openxmlformats.org/officeDocument/2006/relationships/image" Target="../media/image105.wmf"/><Relationship Id="rId14" Type="http://schemas.openxmlformats.org/officeDocument/2006/relationships/vmlDrawing" Target="../drawings/vmlDrawing30.vml"/><Relationship Id="rId13" Type="http://schemas.openxmlformats.org/officeDocument/2006/relationships/slideLayout" Target="../slideLayouts/slideLayout7.xml"/><Relationship Id="rId12" Type="http://schemas.openxmlformats.org/officeDocument/2006/relationships/tags" Target="../tags/tag19.xml"/><Relationship Id="rId11" Type="http://schemas.openxmlformats.org/officeDocument/2006/relationships/image" Target="../media/image104.png"/><Relationship Id="rId10" Type="http://schemas.openxmlformats.org/officeDocument/2006/relationships/image" Target="../media/image109.wmf"/><Relationship Id="rId1" Type="http://schemas.openxmlformats.org/officeDocument/2006/relationships/oleObject" Target="../embeddings/oleObject88.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97.bin"/><Relationship Id="rId8" Type="http://schemas.openxmlformats.org/officeDocument/2006/relationships/image" Target="../media/image113.wmf"/><Relationship Id="rId7" Type="http://schemas.openxmlformats.org/officeDocument/2006/relationships/oleObject" Target="../embeddings/oleObject96.bin"/><Relationship Id="rId6" Type="http://schemas.openxmlformats.org/officeDocument/2006/relationships/image" Target="../media/image112.wmf"/><Relationship Id="rId5" Type="http://schemas.openxmlformats.org/officeDocument/2006/relationships/oleObject" Target="../embeddings/oleObject95.bin"/><Relationship Id="rId4" Type="http://schemas.openxmlformats.org/officeDocument/2006/relationships/image" Target="../media/image111.wmf"/><Relationship Id="rId3" Type="http://schemas.openxmlformats.org/officeDocument/2006/relationships/oleObject" Target="../embeddings/oleObject94.bin"/><Relationship Id="rId2" Type="http://schemas.openxmlformats.org/officeDocument/2006/relationships/image" Target="../media/image110.wmf"/><Relationship Id="rId18" Type="http://schemas.openxmlformats.org/officeDocument/2006/relationships/vmlDrawing" Target="../drawings/vmlDrawing31.vml"/><Relationship Id="rId17" Type="http://schemas.openxmlformats.org/officeDocument/2006/relationships/slideLayout" Target="../slideLayouts/slideLayout7.xml"/><Relationship Id="rId16" Type="http://schemas.openxmlformats.org/officeDocument/2006/relationships/tags" Target="../tags/tag20.xml"/><Relationship Id="rId15" Type="http://schemas.openxmlformats.org/officeDocument/2006/relationships/image" Target="../media/image104.png"/><Relationship Id="rId14" Type="http://schemas.openxmlformats.org/officeDocument/2006/relationships/image" Target="../media/image116.wmf"/><Relationship Id="rId13" Type="http://schemas.openxmlformats.org/officeDocument/2006/relationships/oleObject" Target="../embeddings/oleObject99.bin"/><Relationship Id="rId12" Type="http://schemas.openxmlformats.org/officeDocument/2006/relationships/image" Target="../media/image115.wmf"/><Relationship Id="rId11" Type="http://schemas.openxmlformats.org/officeDocument/2006/relationships/oleObject" Target="../embeddings/oleObject98.bin"/><Relationship Id="rId10" Type="http://schemas.openxmlformats.org/officeDocument/2006/relationships/image" Target="../media/image114.wmf"/><Relationship Id="rId1" Type="http://schemas.openxmlformats.org/officeDocument/2006/relationships/oleObject" Target="../embeddings/oleObject93.bin"/></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image" Target="../media/image1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5121"/>
          <p:cNvSpPr>
            <a:spLocks noGrp="1" noChangeArrowheads="1"/>
          </p:cNvSpPr>
          <p:nvPr>
            <p:ph type="ctrTitle"/>
          </p:nvPr>
        </p:nvSpPr>
        <p:spPr>
          <a:xfrm>
            <a:off x="685800" y="2130425"/>
            <a:ext cx="7772400" cy="1470025"/>
          </a:xfrm>
        </p:spPr>
        <p:txBody>
          <a:bodyPr anchor="ctr"/>
          <a:lstStyle/>
          <a:p>
            <a:pPr eaLnBrk="1" hangingPunct="1"/>
            <a:r>
              <a:rPr lang="en-US" altLang="zh-CN" sz="4600" b="1" smtClean="0">
                <a:solidFill>
                  <a:schemeClr val="tx1"/>
                </a:solidFill>
                <a:latin typeface="黑体" panose="02010609060101010101" pitchFamily="49" charset="-122"/>
                <a:ea typeface="黑体" panose="02010609060101010101" pitchFamily="49" charset="-122"/>
              </a:rPr>
              <a:t>03</a:t>
            </a:r>
            <a:r>
              <a:rPr lang="zh-CN" altLang="en-US" sz="4600" b="1" smtClean="0">
                <a:solidFill>
                  <a:schemeClr val="tx1"/>
                </a:solidFill>
                <a:latin typeface="黑体" panose="02010609060101010101" pitchFamily="49" charset="-122"/>
                <a:ea typeface="黑体" panose="02010609060101010101" pitchFamily="49" charset="-122"/>
              </a:rPr>
              <a:t> 热力学第一定律</a:t>
            </a:r>
            <a:endParaRPr lang="zh-CN" altLang="en-US" sz="4600" b="1" smtClean="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10243"/>
          <p:cNvSpPr>
            <a:spLocks noChangeArrowheads="1"/>
          </p:cNvSpPr>
          <p:nvPr/>
        </p:nvSpPr>
        <p:spPr bwMode="auto">
          <a:xfrm>
            <a:off x="609600"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3600" b="1" dirty="0">
                <a:latin typeface="黑体" panose="02010609060101010101" pitchFamily="49" charset="-122"/>
                <a:ea typeface="黑体" panose="02010609060101010101" pitchFamily="49" charset="-122"/>
              </a:rPr>
              <a:t>3</a:t>
            </a:r>
            <a:r>
              <a:rPr lang="zh-CN" altLang="en-US" sz="3600" b="1" dirty="0">
                <a:latin typeface="黑体" panose="02010609060101010101" pitchFamily="49" charset="-122"/>
                <a:ea typeface="黑体" panose="02010609060101010101" pitchFamily="49" charset="-122"/>
              </a:rPr>
              <a:t>－</a:t>
            </a:r>
            <a:r>
              <a:rPr lang="en-US" altLang="zh-CN" sz="3600" b="1" dirty="0">
                <a:latin typeface="黑体" panose="02010609060101010101" pitchFamily="49" charset="-122"/>
                <a:ea typeface="黑体" panose="02010609060101010101" pitchFamily="49" charset="-122"/>
              </a:rPr>
              <a:t>1</a:t>
            </a:r>
            <a:r>
              <a:rPr lang="zh-CN" altLang="en-US" sz="3600" b="1" dirty="0">
                <a:latin typeface="黑体" panose="02010609060101010101" pitchFamily="49" charset="-122"/>
                <a:ea typeface="黑体" panose="02010609060101010101" pitchFamily="49" charset="-122"/>
              </a:rPr>
              <a:t>　热力学第一定律的实质</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13324"/>
          <p:cNvSpPr>
            <a:spLocks noChangeArrowheads="1"/>
          </p:cNvSpPr>
          <p:nvPr/>
        </p:nvSpPr>
        <p:spPr bwMode="auto">
          <a:xfrm>
            <a:off x="1827213" y="368300"/>
            <a:ext cx="58943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4800">
                <a:ea typeface="黑体" panose="02010609060101010101" pitchFamily="49" charset="-122"/>
              </a:rPr>
              <a:t>能量守恒与转换定律</a:t>
            </a:r>
            <a:endParaRPr lang="zh-CN" altLang="en-US" sz="4800">
              <a:ea typeface="黑体" panose="02010609060101010101" pitchFamily="49" charset="-122"/>
            </a:endParaRPr>
          </a:p>
        </p:txBody>
      </p:sp>
      <p:sp>
        <p:nvSpPr>
          <p:cNvPr id="15363" name="文本框 13335"/>
          <p:cNvSpPr txBox="1">
            <a:spLocks noChangeArrowheads="1"/>
          </p:cNvSpPr>
          <p:nvPr/>
        </p:nvSpPr>
        <p:spPr bwMode="auto">
          <a:xfrm>
            <a:off x="611188" y="1403350"/>
            <a:ext cx="8101012"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a:latin typeface="黑体" panose="02010609060101010101" pitchFamily="49" charset="-122"/>
                <a:ea typeface="黑体" panose="02010609060101010101" pitchFamily="49" charset="-122"/>
              </a:rPr>
              <a:t>自然界中的一切物质都具有能量，能量不可能被创造，也不可能被消灭，但能量可以从一种形态转换为另一种形态，在转换的过程中，能量的总量保持不变。</a:t>
            </a:r>
            <a:endParaRPr lang="zh-CN" altLang="en-US" sz="400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框 69635"/>
          <p:cNvSpPr txBox="1">
            <a:spLocks noChangeArrowheads="1"/>
          </p:cNvSpPr>
          <p:nvPr/>
        </p:nvSpPr>
        <p:spPr bwMode="auto">
          <a:xfrm>
            <a:off x="746125" y="1493838"/>
            <a:ext cx="76517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a:latin typeface="黑体" panose="02010609060101010101" pitchFamily="49" charset="-122"/>
                <a:ea typeface="黑体" panose="02010609060101010101" pitchFamily="49" charset="-122"/>
              </a:rPr>
              <a:t>至今为止，没有一个人提出一个事实不符合这条自然规律的，相反，在各个领域：天文、地理、生物、化学、电磁学、光学都遵循这条规律。</a:t>
            </a:r>
            <a:endParaRPr lang="zh-CN" altLang="en-US" sz="2800" b="0">
              <a:latin typeface="黑体" panose="02010609060101010101" pitchFamily="49" charset="-122"/>
              <a:ea typeface="黑体" panose="02010609060101010101" pitchFamily="49" charset="-122"/>
            </a:endParaRPr>
          </a:p>
        </p:txBody>
      </p:sp>
      <p:pic>
        <p:nvPicPr>
          <p:cNvPr id="16387" name="图片 69642" descr="astronom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6000" y="3519488"/>
            <a:ext cx="375285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图片 69644" descr="d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7175" y="3068638"/>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矩形 13324"/>
          <p:cNvSpPr>
            <a:spLocks noChangeArrowheads="1"/>
          </p:cNvSpPr>
          <p:nvPr/>
        </p:nvSpPr>
        <p:spPr bwMode="auto">
          <a:xfrm>
            <a:off x="1827213" y="368300"/>
            <a:ext cx="58943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4800">
                <a:ea typeface="黑体" panose="02010609060101010101" pitchFamily="49" charset="-122"/>
              </a:rPr>
              <a:t>能量守恒与转换定律</a:t>
            </a:r>
            <a:endParaRPr lang="zh-CN" altLang="en-US" sz="480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框 13335"/>
          <p:cNvSpPr txBox="1">
            <a:spLocks noChangeArrowheads="1"/>
          </p:cNvSpPr>
          <p:nvPr/>
        </p:nvSpPr>
        <p:spPr bwMode="auto">
          <a:xfrm>
            <a:off x="476250" y="414338"/>
            <a:ext cx="8101013"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a:latin typeface="黑体" panose="02010609060101010101" pitchFamily="49" charset="-122"/>
                <a:ea typeface="黑体" panose="02010609060101010101" pitchFamily="49" charset="-122"/>
              </a:rPr>
              <a:t>热力学第一定律是能量守恒与转换定律</a:t>
            </a:r>
            <a:r>
              <a:rPr lang="zh-CN" altLang="en-US">
                <a:solidFill>
                  <a:srgbClr val="FF0000"/>
                </a:solidFill>
                <a:latin typeface="黑体" panose="02010609060101010101" pitchFamily="49" charset="-122"/>
                <a:ea typeface="黑体" panose="02010609060101010101" pitchFamily="49" charset="-122"/>
              </a:rPr>
              <a:t>在热力学中的应用</a:t>
            </a:r>
            <a:r>
              <a:rPr lang="zh-CN" altLang="en-US">
                <a:latin typeface="黑体" panose="02010609060101010101" pitchFamily="49" charset="-122"/>
                <a:ea typeface="黑体" panose="02010609060101010101" pitchFamily="49" charset="-122"/>
              </a:rPr>
              <a:t>，确定了热力过程中各种能量在数量上的相互关系</a:t>
            </a:r>
            <a:endParaRPr lang="en-US" altLang="zh-CN">
              <a:latin typeface="黑体" panose="02010609060101010101" pitchFamily="49" charset="-122"/>
              <a:ea typeface="黑体" panose="02010609060101010101" pitchFamily="49" charset="-122"/>
            </a:endParaRPr>
          </a:p>
          <a:p>
            <a:pPr eaLnBrk="1" hangingPunct="1">
              <a:spcBef>
                <a:spcPct val="0"/>
              </a:spcBef>
            </a:pPr>
            <a:r>
              <a:rPr lang="zh-CN" altLang="en-US">
                <a:latin typeface="黑体" panose="02010609060101010101" pitchFamily="49" charset="-122"/>
                <a:ea typeface="黑体" panose="02010609060101010101" pitchFamily="49" charset="-122"/>
              </a:rPr>
              <a:t>热力学主要研究热能与其他形式的能量之间相互转换的规律，因此热力学第一定律可以表述为：</a:t>
            </a:r>
            <a:endParaRPr lang="zh-CN" altLang="en-US">
              <a:latin typeface="黑体" panose="02010609060101010101" pitchFamily="49" charset="-122"/>
              <a:ea typeface="黑体" panose="02010609060101010101" pitchFamily="49" charset="-122"/>
            </a:endParaRPr>
          </a:p>
        </p:txBody>
      </p:sp>
      <p:sp>
        <p:nvSpPr>
          <p:cNvPr id="6148" name="Rectangle 4"/>
          <p:cNvSpPr>
            <a:spLocks noChangeArrowheads="1"/>
          </p:cNvSpPr>
          <p:nvPr/>
        </p:nvSpPr>
        <p:spPr bwMode="auto">
          <a:xfrm>
            <a:off x="701675" y="3833813"/>
            <a:ext cx="7116763" cy="243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solidFill>
                  <a:srgbClr val="FFCCFF"/>
                </a:solidFill>
                <a:ea typeface="楷体_GB2312" pitchFamily="49" charset="-122"/>
              </a:rPr>
              <a:t>	</a:t>
            </a:r>
            <a:r>
              <a:rPr lang="zh-CN" altLang="en-US" sz="3600">
                <a:solidFill>
                  <a:srgbClr val="0000D2"/>
                </a:solidFill>
                <a:latin typeface="黑体" panose="02010609060101010101" pitchFamily="49" charset="-122"/>
                <a:ea typeface="黑体" panose="02010609060101010101" pitchFamily="49" charset="-122"/>
              </a:rPr>
              <a:t>在任何发生能量传递和转换的热力过程中，传递和转换前后能量的总量保持不变。</a:t>
            </a:r>
            <a:endParaRPr lang="zh-CN" altLang="en-US" sz="3600" b="0">
              <a:solidFill>
                <a:srgbClr val="FFCCFF"/>
              </a:solidFill>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6148">
                                            <p:txEl>
                                              <p:pRg st="0" end="0"/>
                                            </p:txEl>
                                          </p:spTgt>
                                        </p:tgtEl>
                                        <p:attrNameLst>
                                          <p:attrName>style.visibility</p:attrName>
                                        </p:attrNameLst>
                                      </p:cBhvr>
                                      <p:to>
                                        <p:strVal val="visible"/>
                                      </p:to>
                                    </p:set>
                                    <p:anim calcmode="discrete" valueType="clr">
                                      <p:cBhvr override="childStyle">
                                        <p:cTn id="7" dur="80"/>
                                        <p:tgtEl>
                                          <p:spTgt spid="614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148">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6148">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矩形 14341"/>
          <p:cNvSpPr>
            <a:spLocks noChangeArrowheads="1"/>
          </p:cNvSpPr>
          <p:nvPr/>
        </p:nvSpPr>
        <p:spPr bwMode="auto">
          <a:xfrm>
            <a:off x="522288" y="5049838"/>
            <a:ext cx="83439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solidFill>
                  <a:srgbClr val="FF0000"/>
                </a:solidFill>
                <a:ea typeface="黑体" panose="02010609060101010101" pitchFamily="49" charset="-122"/>
              </a:rPr>
              <a:t>根据热力学第一定律，为了获得机械能，必须</a:t>
            </a:r>
            <a:endParaRPr lang="zh-CN" altLang="en-US">
              <a:solidFill>
                <a:srgbClr val="FF0000"/>
              </a:solidFill>
              <a:ea typeface="黑体" panose="02010609060101010101" pitchFamily="49" charset="-122"/>
            </a:endParaRPr>
          </a:p>
          <a:p>
            <a:pPr eaLnBrk="1" hangingPunct="1">
              <a:spcBef>
                <a:spcPct val="0"/>
              </a:spcBef>
              <a:buFontTx/>
              <a:buNone/>
            </a:pPr>
            <a:r>
              <a:rPr lang="zh-CN" altLang="en-US">
                <a:solidFill>
                  <a:srgbClr val="FF0000"/>
                </a:solidFill>
                <a:ea typeface="黑体" panose="02010609060101010101" pitchFamily="49" charset="-122"/>
              </a:rPr>
              <a:t>花费热能或其他形式能量</a:t>
            </a:r>
            <a:endParaRPr lang="zh-CN" altLang="en-US">
              <a:solidFill>
                <a:srgbClr val="FF0000"/>
              </a:solidFill>
              <a:ea typeface="黑体" panose="02010609060101010101" pitchFamily="49" charset="-122"/>
            </a:endParaRPr>
          </a:p>
        </p:txBody>
      </p:sp>
      <p:pic>
        <p:nvPicPr>
          <p:cNvPr id="14354" name="图片 14353" descr="b879855025e1d34f853524f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86325" y="381000"/>
            <a:ext cx="1905000"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矩形 14339"/>
          <p:cNvSpPr>
            <a:spLocks noChangeArrowheads="1"/>
          </p:cNvSpPr>
          <p:nvPr/>
        </p:nvSpPr>
        <p:spPr bwMode="auto">
          <a:xfrm>
            <a:off x="522288" y="2708275"/>
            <a:ext cx="648335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ea typeface="黑体" panose="02010609060101010101" pitchFamily="49" charset="-122"/>
              </a:rPr>
              <a:t>第一类永动机</a:t>
            </a:r>
            <a:r>
              <a:rPr lang="zh-CN" altLang="en-US" b="0">
                <a:ea typeface="黑体" panose="02010609060101010101" pitchFamily="49" charset="-122"/>
              </a:rPr>
              <a:t>：某物质循环一周回复到初始状态，不吸热而对外作功</a:t>
            </a:r>
            <a:endParaRPr lang="zh-CN" altLang="en-US" b="0">
              <a:ea typeface="黑体" panose="02010609060101010101" pitchFamily="49" charset="-122"/>
            </a:endParaRPr>
          </a:p>
        </p:txBody>
      </p:sp>
      <p:pic>
        <p:nvPicPr>
          <p:cNvPr id="18437" name="图片 14355" descr="0b3a1c0873d10cfc62d986f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3" y="381000"/>
            <a:ext cx="1905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8" name="图片 14357" descr="6398ecd35b0517f2a9ec9af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6350" y="381000"/>
            <a:ext cx="1895475"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59" name="组合 14358"/>
          <p:cNvGrpSpPr/>
          <p:nvPr/>
        </p:nvGrpSpPr>
        <p:grpSpPr bwMode="auto">
          <a:xfrm>
            <a:off x="7046913" y="233363"/>
            <a:ext cx="1571625" cy="4038600"/>
            <a:chOff x="4368" y="144"/>
            <a:chExt cx="990" cy="2544"/>
          </a:xfrm>
        </p:grpSpPr>
        <p:pic>
          <p:nvPicPr>
            <p:cNvPr id="18441" name="图片 14359" descr="W0200703153461685602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 y="144"/>
              <a:ext cx="990" cy="2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矩形 14360"/>
            <p:cNvSpPr>
              <a:spLocks noChangeArrowheads="1"/>
            </p:cNvSpPr>
            <p:nvPr/>
          </p:nvSpPr>
          <p:spPr bwMode="auto">
            <a:xfrm>
              <a:off x="4464" y="2496"/>
              <a:ext cx="816"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14341" name="文本框 14340"/>
          <p:cNvSpPr txBox="1">
            <a:spLocks noChangeArrowheads="1"/>
          </p:cNvSpPr>
          <p:nvPr/>
        </p:nvSpPr>
        <p:spPr bwMode="auto">
          <a:xfrm>
            <a:off x="792163" y="3968750"/>
            <a:ext cx="7296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b="0">
                <a:latin typeface="隶书" panose="02010509060101010101" pitchFamily="49" charset="-122"/>
                <a:ea typeface="隶书" panose="02010509060101010101" pitchFamily="49" charset="-122"/>
              </a:rPr>
              <a:t>第一类永动机为什么不能实现？</a:t>
            </a:r>
            <a:endParaRPr lang="zh-CN" altLang="en-US" sz="4000" b="0">
              <a:solidFill>
                <a:srgbClr val="FF0000"/>
              </a:solidFill>
              <a:latin typeface="隶书" panose="02010509060101010101" pitchFamily="49" charset="-122"/>
              <a:ea typeface="隶书" panose="02010509060101010101" pitchFamily="49" charset="-122"/>
            </a:endParaRPr>
          </a:p>
        </p:txBody>
      </p:sp>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58"/>
                                        </p:tgtEl>
                                        <p:attrNameLst>
                                          <p:attrName>style.visibility</p:attrName>
                                        </p:attrNameLst>
                                      </p:cBhvr>
                                      <p:to>
                                        <p:strVal val="visible"/>
                                      </p:to>
                                    </p:set>
                                    <p:animEffect transition="in" filter="blinds(horizontal)">
                                      <p:cBhvr>
                                        <p:cTn id="12" dur="500"/>
                                        <p:tgtEl>
                                          <p:spTgt spid="1435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354"/>
                                        </p:tgtEl>
                                        <p:attrNameLst>
                                          <p:attrName>style.visibility</p:attrName>
                                        </p:attrNameLst>
                                      </p:cBhvr>
                                      <p:to>
                                        <p:strVal val="visible"/>
                                      </p:to>
                                    </p:set>
                                    <p:animEffect transition="in" filter="blinds(horizontal)">
                                      <p:cBhvr>
                                        <p:cTn id="17" dur="500"/>
                                        <p:tgtEl>
                                          <p:spTgt spid="1435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359"/>
                                        </p:tgtEl>
                                        <p:attrNameLst>
                                          <p:attrName>style.visibility</p:attrName>
                                        </p:attrNameLst>
                                      </p:cBhvr>
                                      <p:to>
                                        <p:strVal val="visible"/>
                                      </p:to>
                                    </p:set>
                                    <p:animEffect transition="in" filter="blinds(horizontal)">
                                      <p:cBhvr>
                                        <p:cTn id="22" dur="500"/>
                                        <p:tgtEl>
                                          <p:spTgt spid="1435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41"/>
                                        </p:tgtEl>
                                        <p:attrNameLst>
                                          <p:attrName>style.visibility</p:attrName>
                                        </p:attrNameLst>
                                      </p:cBhvr>
                                      <p:to>
                                        <p:strVal val="visible"/>
                                      </p:to>
                                    </p:set>
                                    <p:animEffect transition="in" filter="blinds(horizontal)">
                                      <p:cBhvr>
                                        <p:cTn id="27" dur="500"/>
                                        <p:tgtEl>
                                          <p:spTgt spid="1434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blinds(horizontal)">
                                      <p:cBhvr>
                                        <p:cTn id="32"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p:bldP spid="14340" grpId="0" animBg="1"/>
      <p:bldP spid="143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32771"/>
          <p:cNvSpPr>
            <a:spLocks noChangeArrowheads="1"/>
          </p:cNvSpPr>
          <p:nvPr/>
        </p:nvSpPr>
        <p:spPr bwMode="auto">
          <a:xfrm>
            <a:off x="927100" y="2033588"/>
            <a:ext cx="74263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4800" b="1" dirty="0">
                <a:latin typeface="黑体" panose="02010609060101010101" pitchFamily="49" charset="-122"/>
                <a:ea typeface="黑体" panose="02010609060101010101" pitchFamily="49" charset="-122"/>
              </a:rPr>
              <a:t>3</a:t>
            </a:r>
            <a:r>
              <a:rPr lang="zh-CN" altLang="en-US" sz="4800" b="1" dirty="0">
                <a:latin typeface="黑体" panose="02010609060101010101" pitchFamily="49" charset="-122"/>
                <a:ea typeface="黑体" panose="02010609060101010101" pitchFamily="49" charset="-122"/>
              </a:rPr>
              <a:t>－</a:t>
            </a:r>
            <a:r>
              <a:rPr lang="en-US" altLang="zh-CN" sz="4800" b="1" dirty="0">
                <a:latin typeface="黑体" panose="02010609060101010101" pitchFamily="49" charset="-122"/>
                <a:ea typeface="黑体" panose="02010609060101010101" pitchFamily="49" charset="-122"/>
              </a:rPr>
              <a:t>2 </a:t>
            </a:r>
            <a:r>
              <a:rPr lang="zh-CN" altLang="en-US" sz="4800" b="1" dirty="0">
                <a:latin typeface="黑体" panose="02010609060101010101" pitchFamily="49" charset="-122"/>
                <a:ea typeface="黑体" panose="02010609060101010101" pitchFamily="49" charset="-122"/>
              </a:rPr>
              <a:t>热力学第一定律的一般数学表达式</a:t>
            </a:r>
            <a:endParaRPr lang="zh-CN" altLang="en-US" sz="48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组合 29706"/>
          <p:cNvGrpSpPr/>
          <p:nvPr/>
        </p:nvGrpSpPr>
        <p:grpSpPr bwMode="auto">
          <a:xfrm>
            <a:off x="685800" y="3276600"/>
            <a:ext cx="7620000" cy="1066800"/>
            <a:chOff x="432" y="1447"/>
            <a:chExt cx="4800" cy="672"/>
          </a:xfrm>
        </p:grpSpPr>
        <p:sp>
          <p:nvSpPr>
            <p:cNvPr id="20486" name="矩形 29700"/>
            <p:cNvSpPr>
              <a:spLocks noChangeArrowheads="1"/>
            </p:cNvSpPr>
            <p:nvPr/>
          </p:nvSpPr>
          <p:spPr bwMode="auto">
            <a:xfrm>
              <a:off x="432" y="1447"/>
              <a:ext cx="120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进入系统的能量</a:t>
              </a:r>
              <a:endParaRPr lang="zh-CN" altLang="en-US">
                <a:latin typeface="Tahoma" panose="020B0604030504040204" pitchFamily="34" charset="0"/>
                <a:ea typeface="黑体" panose="02010609060101010101" pitchFamily="49" charset="-122"/>
              </a:endParaRPr>
            </a:p>
          </p:txBody>
        </p:sp>
        <p:sp>
          <p:nvSpPr>
            <p:cNvPr id="20487" name="矩形 29701"/>
            <p:cNvSpPr>
              <a:spLocks noChangeArrowheads="1"/>
            </p:cNvSpPr>
            <p:nvPr/>
          </p:nvSpPr>
          <p:spPr bwMode="auto">
            <a:xfrm>
              <a:off x="2160" y="1447"/>
              <a:ext cx="115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离开系统的能量</a:t>
              </a:r>
              <a:endParaRPr lang="zh-CN" altLang="en-US">
                <a:latin typeface="Tahoma" panose="020B0604030504040204" pitchFamily="34" charset="0"/>
                <a:ea typeface="黑体" panose="02010609060101010101" pitchFamily="49" charset="-122"/>
              </a:endParaRPr>
            </a:p>
          </p:txBody>
        </p:sp>
        <p:sp>
          <p:nvSpPr>
            <p:cNvPr id="20488" name="矩形 29702"/>
            <p:cNvSpPr>
              <a:spLocks noChangeArrowheads="1"/>
            </p:cNvSpPr>
            <p:nvPr/>
          </p:nvSpPr>
          <p:spPr bwMode="auto">
            <a:xfrm>
              <a:off x="3792" y="1447"/>
              <a:ext cx="144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Tahoma" panose="020B0604030504040204" pitchFamily="34" charset="0"/>
                  <a:ea typeface="黑体" panose="02010609060101010101" pitchFamily="49" charset="-122"/>
                </a:rPr>
                <a:t>系统中储存总能的变化</a:t>
              </a:r>
              <a:endParaRPr lang="zh-CN" altLang="en-US">
                <a:latin typeface="Tahoma" panose="020B0604030504040204" pitchFamily="34" charset="0"/>
                <a:ea typeface="黑体" panose="02010609060101010101" pitchFamily="49" charset="-122"/>
              </a:endParaRPr>
            </a:p>
          </p:txBody>
        </p:sp>
        <p:sp>
          <p:nvSpPr>
            <p:cNvPr id="20489" name="矩形 29703"/>
            <p:cNvSpPr>
              <a:spLocks noChangeArrowheads="1"/>
            </p:cNvSpPr>
            <p:nvPr/>
          </p:nvSpPr>
          <p:spPr bwMode="auto">
            <a:xfrm>
              <a:off x="3360"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sp>
          <p:nvSpPr>
            <p:cNvPr id="20490" name="矩形 29704"/>
            <p:cNvSpPr>
              <a:spLocks noChangeArrowheads="1"/>
            </p:cNvSpPr>
            <p:nvPr/>
          </p:nvSpPr>
          <p:spPr bwMode="auto">
            <a:xfrm>
              <a:off x="1728"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grpSp>
      <p:sp>
        <p:nvSpPr>
          <p:cNvPr id="20483" name="矩形 29707"/>
          <p:cNvSpPr>
            <a:spLocks noChangeArrowheads="1"/>
          </p:cNvSpPr>
          <p:nvPr/>
        </p:nvSpPr>
        <p:spPr bwMode="auto">
          <a:xfrm>
            <a:off x="762000" y="3200400"/>
            <a:ext cx="7543800" cy="1295400"/>
          </a:xfrm>
          <a:prstGeom prst="rect">
            <a:avLst/>
          </a:prstGeom>
          <a:noFill/>
          <a:ln w="158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4" name="矩形 29708"/>
          <p:cNvSpPr>
            <a:spLocks noChangeArrowheads="1"/>
          </p:cNvSpPr>
          <p:nvPr/>
        </p:nvSpPr>
        <p:spPr bwMode="auto">
          <a:xfrm>
            <a:off x="685800" y="12954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3600">
                <a:latin typeface="黑体" panose="02010609060101010101" pitchFamily="49" charset="-122"/>
                <a:ea typeface="黑体" panose="02010609060101010101" pitchFamily="49" charset="-122"/>
              </a:rPr>
              <a:t>通用表达式</a:t>
            </a:r>
            <a:endParaRPr lang="zh-CN" altLang="en-US" sz="3600">
              <a:latin typeface="黑体" panose="02010609060101010101" pitchFamily="49" charset="-122"/>
              <a:ea typeface="黑体" panose="02010609060101010101" pitchFamily="49" charset="-122"/>
            </a:endParaRPr>
          </a:p>
        </p:txBody>
      </p:sp>
      <p:sp>
        <p:nvSpPr>
          <p:cNvPr id="20485" name="矩形 29709"/>
          <p:cNvSpPr>
            <a:spLocks noChangeArrowheads="1"/>
          </p:cNvSpPr>
          <p:nvPr/>
        </p:nvSpPr>
        <p:spPr bwMode="auto">
          <a:xfrm>
            <a:off x="152400" y="722313"/>
            <a:ext cx="9829800"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zh-CN" altLang="en-US" sz="2800">
                <a:solidFill>
                  <a:srgbClr val="FF0000"/>
                </a:solidFill>
                <a:latin typeface="黑体" panose="02010609060101010101" pitchFamily="49" charset="-122"/>
                <a:ea typeface="黑体" panose="02010609060101010101" pitchFamily="49" charset="-122"/>
              </a:rPr>
              <a:t>任何系统、任何过程</a:t>
            </a:r>
            <a:r>
              <a:rPr lang="zh-CN" altLang="en-US" sz="2800">
                <a:latin typeface="黑体" panose="02010609060101010101" pitchFamily="49" charset="-122"/>
                <a:ea typeface="黑体" panose="02010609060101010101" pitchFamily="49" charset="-122"/>
              </a:rPr>
              <a:t>均可根据以下原则建立能量方程式：</a:t>
            </a:r>
            <a:endParaRPr lang="zh-CN" altLang="en-US" sz="2800">
              <a:solidFill>
                <a:schemeClr val="folHlink"/>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207876"/>
          <p:cNvGrpSpPr/>
          <p:nvPr/>
        </p:nvGrpSpPr>
        <p:grpSpPr bwMode="auto">
          <a:xfrm>
            <a:off x="777875" y="490538"/>
            <a:ext cx="7620000" cy="1066800"/>
            <a:chOff x="432" y="1447"/>
            <a:chExt cx="4800" cy="672"/>
          </a:xfrm>
        </p:grpSpPr>
        <p:sp>
          <p:nvSpPr>
            <p:cNvPr id="21524" name="矩形 207877"/>
            <p:cNvSpPr>
              <a:spLocks noChangeArrowheads="1"/>
            </p:cNvSpPr>
            <p:nvPr/>
          </p:nvSpPr>
          <p:spPr bwMode="auto">
            <a:xfrm>
              <a:off x="432" y="1447"/>
              <a:ext cx="120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进入系统的能量</a:t>
              </a:r>
              <a:endParaRPr lang="zh-CN" altLang="en-US">
                <a:latin typeface="Tahoma" panose="020B0604030504040204" pitchFamily="34" charset="0"/>
                <a:ea typeface="黑体" panose="02010609060101010101" pitchFamily="49" charset="-122"/>
              </a:endParaRPr>
            </a:p>
          </p:txBody>
        </p:sp>
        <p:sp>
          <p:nvSpPr>
            <p:cNvPr id="21525" name="矩形 207878"/>
            <p:cNvSpPr>
              <a:spLocks noChangeArrowheads="1"/>
            </p:cNvSpPr>
            <p:nvPr/>
          </p:nvSpPr>
          <p:spPr bwMode="auto">
            <a:xfrm>
              <a:off x="2160" y="1447"/>
              <a:ext cx="115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离开系统的能量</a:t>
              </a:r>
              <a:endParaRPr lang="zh-CN" altLang="en-US">
                <a:latin typeface="Tahoma" panose="020B0604030504040204" pitchFamily="34" charset="0"/>
                <a:ea typeface="黑体" panose="02010609060101010101" pitchFamily="49" charset="-122"/>
              </a:endParaRPr>
            </a:p>
          </p:txBody>
        </p:sp>
        <p:sp>
          <p:nvSpPr>
            <p:cNvPr id="21526" name="矩形 207879"/>
            <p:cNvSpPr>
              <a:spLocks noChangeArrowheads="1"/>
            </p:cNvSpPr>
            <p:nvPr/>
          </p:nvSpPr>
          <p:spPr bwMode="auto">
            <a:xfrm>
              <a:off x="3792" y="1447"/>
              <a:ext cx="144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Tahoma" panose="020B0604030504040204" pitchFamily="34" charset="0"/>
                  <a:ea typeface="黑体" panose="02010609060101010101" pitchFamily="49" charset="-122"/>
                </a:rPr>
                <a:t>系统中储存总能的变化</a:t>
              </a:r>
              <a:endParaRPr lang="zh-CN" altLang="en-US">
                <a:latin typeface="Tahoma" panose="020B0604030504040204" pitchFamily="34" charset="0"/>
                <a:ea typeface="黑体" panose="02010609060101010101" pitchFamily="49" charset="-122"/>
              </a:endParaRPr>
            </a:p>
          </p:txBody>
        </p:sp>
        <p:sp>
          <p:nvSpPr>
            <p:cNvPr id="21527" name="矩形 207880"/>
            <p:cNvSpPr>
              <a:spLocks noChangeArrowheads="1"/>
            </p:cNvSpPr>
            <p:nvPr/>
          </p:nvSpPr>
          <p:spPr bwMode="auto">
            <a:xfrm>
              <a:off x="3360"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sp>
          <p:nvSpPr>
            <p:cNvPr id="21528" name="矩形 207881"/>
            <p:cNvSpPr>
              <a:spLocks noChangeArrowheads="1"/>
            </p:cNvSpPr>
            <p:nvPr/>
          </p:nvSpPr>
          <p:spPr bwMode="auto">
            <a:xfrm>
              <a:off x="1728"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grpSp>
      <p:sp>
        <p:nvSpPr>
          <p:cNvPr id="21507" name="矩形 207882"/>
          <p:cNvSpPr>
            <a:spLocks noChangeArrowheads="1"/>
          </p:cNvSpPr>
          <p:nvPr/>
        </p:nvSpPr>
        <p:spPr bwMode="auto">
          <a:xfrm>
            <a:off x="854075" y="414338"/>
            <a:ext cx="7543800" cy="1295400"/>
          </a:xfrm>
          <a:prstGeom prst="rect">
            <a:avLst/>
          </a:prstGeom>
          <a:noFill/>
          <a:ln w="158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07884" name="对象 207883"/>
          <p:cNvGraphicFramePr/>
          <p:nvPr/>
        </p:nvGraphicFramePr>
        <p:xfrm>
          <a:off x="6097588" y="2057400"/>
          <a:ext cx="1989137" cy="549275"/>
        </p:xfrm>
        <a:graphic>
          <a:graphicData uri="http://schemas.openxmlformats.org/presentationml/2006/ole">
            <mc:AlternateContent xmlns:mc="http://schemas.openxmlformats.org/markup-compatibility/2006">
              <mc:Choice xmlns:v="urn:schemas-microsoft-com:vml" Requires="v">
                <p:oleObj spid="_x0000_s20494" name="" r:id="rId1" imgW="812165" imgH="228600" progId="Equation.DSMT4">
                  <p:embed/>
                </p:oleObj>
              </mc:Choice>
              <mc:Fallback>
                <p:oleObj name="" r:id="rId1" imgW="812165" imgH="228600" progId="Equation.DSMT4">
                  <p:embed/>
                  <p:pic>
                    <p:nvPicPr>
                      <p:cNvPr id="0" name="对象 2078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7588" y="2057400"/>
                        <a:ext cx="19891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7885" name="椭圆 207884"/>
          <p:cNvSpPr>
            <a:spLocks noChangeArrowheads="1"/>
          </p:cNvSpPr>
          <p:nvPr/>
        </p:nvSpPr>
        <p:spPr bwMode="auto">
          <a:xfrm>
            <a:off x="5995988" y="307975"/>
            <a:ext cx="2519362" cy="153035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7887" name="矩形 207886"/>
          <p:cNvSpPr>
            <a:spLocks noChangeArrowheads="1"/>
          </p:cNvSpPr>
          <p:nvPr/>
        </p:nvSpPr>
        <p:spPr bwMode="auto">
          <a:xfrm>
            <a:off x="3311525" y="3109913"/>
            <a:ext cx="41862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总能包括热力学能、宏观动能、重力势能、电能、磁能等 </a:t>
            </a:r>
            <a:endParaRPr lang="zh-CN" altLang="en-US" sz="2400">
              <a:latin typeface="黑体" panose="02010609060101010101" pitchFamily="49" charset="-122"/>
              <a:ea typeface="黑体" panose="02010609060101010101" pitchFamily="49" charset="-122"/>
            </a:endParaRPr>
          </a:p>
        </p:txBody>
      </p:sp>
      <p:sp>
        <p:nvSpPr>
          <p:cNvPr id="21511" name="矩形 20788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07888" name="对象 207887"/>
          <p:cNvGraphicFramePr/>
          <p:nvPr/>
        </p:nvGraphicFramePr>
        <p:xfrm>
          <a:off x="3979863" y="4149725"/>
          <a:ext cx="2697162" cy="468313"/>
        </p:xfrm>
        <a:graphic>
          <a:graphicData uri="http://schemas.openxmlformats.org/presentationml/2006/ole">
            <mc:AlternateContent xmlns:mc="http://schemas.openxmlformats.org/markup-compatibility/2006">
              <mc:Choice xmlns:v="urn:schemas-microsoft-com:vml" Requires="v">
                <p:oleObj spid="_x0000_s20495" name="" r:id="rId3" imgW="1371600" imgH="241300" progId="Equation.DSMT4">
                  <p:embed/>
                </p:oleObj>
              </mc:Choice>
              <mc:Fallback>
                <p:oleObj name="" r:id="rId3" imgW="1371600" imgH="241300" progId="Equation.DSMT4">
                  <p:embed/>
                  <p:pic>
                    <p:nvPicPr>
                      <p:cNvPr id="0" name="对象 2078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9863" y="4149725"/>
                        <a:ext cx="2697162"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7890" name="直接连接符 207889"/>
          <p:cNvSpPr>
            <a:spLocks noChangeShapeType="1"/>
          </p:cNvSpPr>
          <p:nvPr/>
        </p:nvSpPr>
        <p:spPr bwMode="auto">
          <a:xfrm flipV="1">
            <a:off x="5019675" y="3597275"/>
            <a:ext cx="676275" cy="269875"/>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891" name="直接连接符 207890"/>
          <p:cNvSpPr>
            <a:spLocks noChangeShapeType="1"/>
          </p:cNvSpPr>
          <p:nvPr/>
        </p:nvSpPr>
        <p:spPr bwMode="auto">
          <a:xfrm flipV="1">
            <a:off x="5741988" y="3654425"/>
            <a:ext cx="585787" cy="179388"/>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15" name="矩形 20789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07892" name="对象 207891"/>
          <p:cNvGraphicFramePr>
            <a:graphicFrameLocks noChangeAspect="1"/>
          </p:cNvGraphicFramePr>
          <p:nvPr/>
        </p:nvGraphicFramePr>
        <p:xfrm>
          <a:off x="1101725" y="4837113"/>
          <a:ext cx="3487738" cy="468312"/>
        </p:xfrm>
        <a:graphic>
          <a:graphicData uri="http://schemas.openxmlformats.org/presentationml/2006/ole">
            <mc:AlternateContent xmlns:mc="http://schemas.openxmlformats.org/markup-compatibility/2006">
              <mc:Choice xmlns:v="urn:schemas-microsoft-com:vml" Requires="v">
                <p:oleObj spid="_x0000_s20496" name="" r:id="rId5" imgW="1701800" imgH="228600" progId="Equation.DSMT4">
                  <p:embed/>
                </p:oleObj>
              </mc:Choice>
              <mc:Fallback>
                <p:oleObj name="" r:id="rId5" imgW="1701800" imgH="228600" progId="Equation.DSMT4">
                  <p:embed/>
                  <p:pic>
                    <p:nvPicPr>
                      <p:cNvPr id="0" name="对象 2078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725" y="4837113"/>
                        <a:ext cx="3487738"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7894" name="对象 207893"/>
          <p:cNvGraphicFramePr>
            <a:graphicFrameLocks noChangeAspect="1"/>
          </p:cNvGraphicFramePr>
          <p:nvPr/>
        </p:nvGraphicFramePr>
        <p:xfrm>
          <a:off x="1081088" y="5245100"/>
          <a:ext cx="2889250" cy="806450"/>
        </p:xfrm>
        <a:graphic>
          <a:graphicData uri="http://schemas.openxmlformats.org/presentationml/2006/ole">
            <mc:AlternateContent xmlns:mc="http://schemas.openxmlformats.org/markup-compatibility/2006">
              <mc:Choice xmlns:v="urn:schemas-microsoft-com:vml" Requires="v">
                <p:oleObj spid="_x0000_s20497" name="" r:id="rId7" imgW="1409700" imgH="393700" progId="Equation.DSMT4">
                  <p:embed/>
                </p:oleObj>
              </mc:Choice>
              <mc:Fallback>
                <p:oleObj name="" r:id="rId7" imgW="1409700" imgH="393700" progId="Equation.DSMT4">
                  <p:embed/>
                  <p:pic>
                    <p:nvPicPr>
                      <p:cNvPr id="0" name="对象 20789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1088" y="5245100"/>
                        <a:ext cx="28892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18" name="矩形 20789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07896" name="对象 207895"/>
          <p:cNvGraphicFramePr>
            <a:graphicFrameLocks noChangeAspect="1"/>
          </p:cNvGraphicFramePr>
          <p:nvPr/>
        </p:nvGraphicFramePr>
        <p:xfrm>
          <a:off x="1065213" y="6034088"/>
          <a:ext cx="2601912" cy="495300"/>
        </p:xfrm>
        <a:graphic>
          <a:graphicData uri="http://schemas.openxmlformats.org/presentationml/2006/ole">
            <mc:AlternateContent xmlns:mc="http://schemas.openxmlformats.org/markup-compatibility/2006">
              <mc:Choice xmlns:v="urn:schemas-microsoft-com:vml" Requires="v">
                <p:oleObj spid="_x0000_s20498" name="" r:id="rId9" imgW="1269365" imgH="241300" progId="Equation.DSMT4">
                  <p:embed/>
                </p:oleObj>
              </mc:Choice>
              <mc:Fallback>
                <p:oleObj name="" r:id="rId9" imgW="1269365" imgH="241300" progId="Equation.DSMT4">
                  <p:embed/>
                  <p:pic>
                    <p:nvPicPr>
                      <p:cNvPr id="0" name="对象 2078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5213" y="6034088"/>
                        <a:ext cx="26019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7898" name="矩形 207897"/>
          <p:cNvSpPr>
            <a:spLocks noChangeArrowheads="1"/>
          </p:cNvSpPr>
          <p:nvPr/>
        </p:nvSpPr>
        <p:spPr bwMode="auto">
          <a:xfrm>
            <a:off x="5562600" y="4954588"/>
            <a:ext cx="29670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若不考虑宏观动能和重力势能的变化，则 </a:t>
            </a:r>
            <a:endParaRPr lang="zh-CN" altLang="en-US" sz="2400">
              <a:latin typeface="黑体" panose="02010609060101010101" pitchFamily="49" charset="-122"/>
              <a:ea typeface="黑体" panose="02010609060101010101" pitchFamily="49" charset="-122"/>
            </a:endParaRPr>
          </a:p>
        </p:txBody>
      </p:sp>
      <p:sp>
        <p:nvSpPr>
          <p:cNvPr id="207899" name="矩形 207898"/>
          <p:cNvSpPr>
            <a:spLocks noChangeArrowheads="1"/>
          </p:cNvSpPr>
          <p:nvPr/>
        </p:nvSpPr>
        <p:spPr bwMode="auto">
          <a:xfrm>
            <a:off x="5562600" y="4959350"/>
            <a:ext cx="3059113" cy="1619250"/>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07900" name="对象 207899"/>
          <p:cNvGraphicFramePr/>
          <p:nvPr/>
        </p:nvGraphicFramePr>
        <p:xfrm>
          <a:off x="6486525" y="5965825"/>
          <a:ext cx="1223963" cy="344488"/>
        </p:xfrm>
        <a:graphic>
          <a:graphicData uri="http://schemas.openxmlformats.org/presentationml/2006/ole">
            <mc:AlternateContent xmlns:mc="http://schemas.openxmlformats.org/markup-compatibility/2006">
              <mc:Choice xmlns:v="urn:schemas-microsoft-com:vml" Requires="v">
                <p:oleObj spid="_x0000_s20499" name="" r:id="rId11" imgW="622300" imgH="177165" progId="Equation.DSMT4">
                  <p:embed/>
                </p:oleObj>
              </mc:Choice>
              <mc:Fallback>
                <p:oleObj name="" r:id="rId11" imgW="622300" imgH="177165" progId="Equation.DSMT4">
                  <p:embed/>
                  <p:pic>
                    <p:nvPicPr>
                      <p:cNvPr id="0" name="对象 20789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86525" y="5965825"/>
                        <a:ext cx="1223963"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下箭头 9"/>
          <p:cNvSpPr/>
          <p:nvPr/>
        </p:nvSpPr>
        <p:spPr>
          <a:xfrm>
            <a:off x="6391275" y="2520950"/>
            <a:ext cx="190500" cy="5810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ustDataLst>
      <p:tags r:id="rId1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7885"/>
                                        </p:tgtEl>
                                        <p:attrNameLst>
                                          <p:attrName>style.visibility</p:attrName>
                                        </p:attrNameLst>
                                      </p:cBhvr>
                                      <p:to>
                                        <p:strVal val="visible"/>
                                      </p:to>
                                    </p:set>
                                    <p:animEffect transition="in" filter="blinds(horizontal)">
                                      <p:cBhvr>
                                        <p:cTn id="7" dur="500"/>
                                        <p:tgtEl>
                                          <p:spTgt spid="20788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788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07887"/>
                                        </p:tgtEl>
                                        <p:attrNameLst>
                                          <p:attrName>style.visibility</p:attrName>
                                        </p:attrNameLst>
                                      </p:cBhvr>
                                      <p:to>
                                        <p:strVal val="visible"/>
                                      </p:to>
                                    </p:set>
                                    <p:animEffect transition="in" filter="blinds(horizontal)">
                                      <p:cBhvr>
                                        <p:cTn id="21" dur="500"/>
                                        <p:tgtEl>
                                          <p:spTgt spid="20788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07890"/>
                                        </p:tgtEl>
                                        <p:attrNameLst>
                                          <p:attrName>style.visibility</p:attrName>
                                        </p:attrNameLst>
                                      </p:cBhvr>
                                      <p:to>
                                        <p:strVal val="visible"/>
                                      </p:to>
                                    </p:set>
                                    <p:animEffect transition="in" filter="wipe(down)">
                                      <p:cBhvr>
                                        <p:cTn id="26" dur="500"/>
                                        <p:tgtEl>
                                          <p:spTgt spid="207890"/>
                                        </p:tgtEl>
                                      </p:cBhvr>
                                    </p:animEffect>
                                  </p:childTnLst>
                                </p:cTn>
                              </p:par>
                              <p:par>
                                <p:cTn id="27" presetID="22" presetClass="entr" presetSubtype="4" fill="hold" nodeType="withEffect">
                                  <p:stCondLst>
                                    <p:cond delay="0"/>
                                  </p:stCondLst>
                                  <p:childTnLst>
                                    <p:set>
                                      <p:cBhvr>
                                        <p:cTn id="28" dur="1" fill="hold">
                                          <p:stCondLst>
                                            <p:cond delay="0"/>
                                          </p:stCondLst>
                                        </p:cTn>
                                        <p:tgtEl>
                                          <p:spTgt spid="207891"/>
                                        </p:tgtEl>
                                        <p:attrNameLst>
                                          <p:attrName>style.visibility</p:attrName>
                                        </p:attrNameLst>
                                      </p:cBhvr>
                                      <p:to>
                                        <p:strVal val="visible"/>
                                      </p:to>
                                    </p:set>
                                    <p:animEffect transition="in" filter="wipe(down)">
                                      <p:cBhvr>
                                        <p:cTn id="29" dur="500"/>
                                        <p:tgtEl>
                                          <p:spTgt spid="207891"/>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07888"/>
                                        </p:tgtEl>
                                        <p:attrNameLst>
                                          <p:attrName>style.visibility</p:attrName>
                                        </p:attrNameLst>
                                      </p:cBhvr>
                                      <p:to>
                                        <p:strVal val="visible"/>
                                      </p:to>
                                    </p:set>
                                    <p:animEffect transition="in" filter="blinds(horizontal)">
                                      <p:cBhvr>
                                        <p:cTn id="34" dur="500"/>
                                        <p:tgtEl>
                                          <p:spTgt spid="20788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07892"/>
                                        </p:tgtEl>
                                        <p:attrNameLst>
                                          <p:attrName>style.visibility</p:attrName>
                                        </p:attrNameLst>
                                      </p:cBhvr>
                                      <p:to>
                                        <p:strVal val="visible"/>
                                      </p:to>
                                    </p:set>
                                    <p:animEffect transition="in" filter="blinds(horizontal)">
                                      <p:cBhvr>
                                        <p:cTn id="39" dur="500"/>
                                        <p:tgtEl>
                                          <p:spTgt spid="207892"/>
                                        </p:tgtEl>
                                      </p:cBhvr>
                                    </p:animEffect>
                                  </p:childTnLst>
                                </p:cTn>
                              </p:par>
                              <p:par>
                                <p:cTn id="40" presetID="3" presetClass="entr" presetSubtype="10" fill="hold" nodeType="withEffect">
                                  <p:stCondLst>
                                    <p:cond delay="0"/>
                                  </p:stCondLst>
                                  <p:childTnLst>
                                    <p:set>
                                      <p:cBhvr>
                                        <p:cTn id="41" dur="1" fill="hold">
                                          <p:stCondLst>
                                            <p:cond delay="0"/>
                                          </p:stCondLst>
                                        </p:cTn>
                                        <p:tgtEl>
                                          <p:spTgt spid="207894"/>
                                        </p:tgtEl>
                                        <p:attrNameLst>
                                          <p:attrName>style.visibility</p:attrName>
                                        </p:attrNameLst>
                                      </p:cBhvr>
                                      <p:to>
                                        <p:strVal val="visible"/>
                                      </p:to>
                                    </p:set>
                                    <p:animEffect transition="in" filter="blinds(horizontal)">
                                      <p:cBhvr>
                                        <p:cTn id="42" dur="500"/>
                                        <p:tgtEl>
                                          <p:spTgt spid="207894"/>
                                        </p:tgtEl>
                                      </p:cBhvr>
                                    </p:animEffect>
                                  </p:childTnLst>
                                </p:cTn>
                              </p:par>
                              <p:par>
                                <p:cTn id="43" presetID="3" presetClass="entr" presetSubtype="10" fill="hold" nodeType="withEffect">
                                  <p:stCondLst>
                                    <p:cond delay="0"/>
                                  </p:stCondLst>
                                  <p:childTnLst>
                                    <p:set>
                                      <p:cBhvr>
                                        <p:cTn id="44" dur="1" fill="hold">
                                          <p:stCondLst>
                                            <p:cond delay="0"/>
                                          </p:stCondLst>
                                        </p:cTn>
                                        <p:tgtEl>
                                          <p:spTgt spid="207896"/>
                                        </p:tgtEl>
                                        <p:attrNameLst>
                                          <p:attrName>style.visibility</p:attrName>
                                        </p:attrNameLst>
                                      </p:cBhvr>
                                      <p:to>
                                        <p:strVal val="visible"/>
                                      </p:to>
                                    </p:set>
                                    <p:animEffect transition="in" filter="blinds(horizontal)">
                                      <p:cBhvr>
                                        <p:cTn id="45" dur="500"/>
                                        <p:tgtEl>
                                          <p:spTgt spid="20789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07898"/>
                                        </p:tgtEl>
                                        <p:attrNameLst>
                                          <p:attrName>style.visibility</p:attrName>
                                        </p:attrNameLst>
                                      </p:cBhvr>
                                      <p:to>
                                        <p:strVal val="visible"/>
                                      </p:to>
                                    </p:set>
                                    <p:animEffect transition="in" filter="blinds(horizontal)">
                                      <p:cBhvr>
                                        <p:cTn id="50" dur="500"/>
                                        <p:tgtEl>
                                          <p:spTgt spid="207898"/>
                                        </p:tgtEl>
                                      </p:cBhvr>
                                    </p:animEffect>
                                  </p:childTnLst>
                                </p:cTn>
                              </p:par>
                              <p:par>
                                <p:cTn id="51" presetID="3" presetClass="entr" presetSubtype="10" fill="hold" nodeType="withEffect">
                                  <p:stCondLst>
                                    <p:cond delay="0"/>
                                  </p:stCondLst>
                                  <p:childTnLst>
                                    <p:set>
                                      <p:cBhvr>
                                        <p:cTn id="52" dur="1" fill="hold">
                                          <p:stCondLst>
                                            <p:cond delay="0"/>
                                          </p:stCondLst>
                                        </p:cTn>
                                        <p:tgtEl>
                                          <p:spTgt spid="207899"/>
                                        </p:tgtEl>
                                        <p:attrNameLst>
                                          <p:attrName>style.visibility</p:attrName>
                                        </p:attrNameLst>
                                      </p:cBhvr>
                                      <p:to>
                                        <p:strVal val="visible"/>
                                      </p:to>
                                    </p:set>
                                    <p:animEffect transition="in" filter="blinds(horizontal)">
                                      <p:cBhvr>
                                        <p:cTn id="53" dur="500"/>
                                        <p:tgtEl>
                                          <p:spTgt spid="207899"/>
                                        </p:tgtEl>
                                      </p:cBhvr>
                                    </p:animEffect>
                                  </p:childTnLst>
                                </p:cTn>
                              </p:par>
                              <p:par>
                                <p:cTn id="54" presetID="3" presetClass="entr" presetSubtype="10" fill="hold" nodeType="withEffect">
                                  <p:stCondLst>
                                    <p:cond delay="0"/>
                                  </p:stCondLst>
                                  <p:childTnLst>
                                    <p:set>
                                      <p:cBhvr>
                                        <p:cTn id="55" dur="1" fill="hold">
                                          <p:stCondLst>
                                            <p:cond delay="0"/>
                                          </p:stCondLst>
                                        </p:cTn>
                                        <p:tgtEl>
                                          <p:spTgt spid="207900"/>
                                        </p:tgtEl>
                                        <p:attrNameLst>
                                          <p:attrName>style.visibility</p:attrName>
                                        </p:attrNameLst>
                                      </p:cBhvr>
                                      <p:to>
                                        <p:strVal val="visible"/>
                                      </p:to>
                                    </p:set>
                                    <p:animEffect transition="in" filter="blinds(horizontal)">
                                      <p:cBhvr>
                                        <p:cTn id="56" dur="500"/>
                                        <p:tgtEl>
                                          <p:spTgt spid="207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87" grpId="0"/>
      <p:bldP spid="207898" grpId="0"/>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组合 208899"/>
          <p:cNvGrpSpPr/>
          <p:nvPr/>
        </p:nvGrpSpPr>
        <p:grpSpPr bwMode="auto">
          <a:xfrm>
            <a:off x="957263" y="444500"/>
            <a:ext cx="7620000" cy="1066800"/>
            <a:chOff x="432" y="1447"/>
            <a:chExt cx="4800" cy="672"/>
          </a:xfrm>
        </p:grpSpPr>
        <p:sp>
          <p:nvSpPr>
            <p:cNvPr id="22549" name="矩形 208900"/>
            <p:cNvSpPr>
              <a:spLocks noChangeArrowheads="1"/>
            </p:cNvSpPr>
            <p:nvPr/>
          </p:nvSpPr>
          <p:spPr bwMode="auto">
            <a:xfrm>
              <a:off x="432" y="1447"/>
              <a:ext cx="120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进入系统的能量</a:t>
              </a:r>
              <a:endParaRPr lang="zh-CN" altLang="en-US">
                <a:latin typeface="Tahoma" panose="020B0604030504040204" pitchFamily="34" charset="0"/>
                <a:ea typeface="黑体" panose="02010609060101010101" pitchFamily="49" charset="-122"/>
              </a:endParaRPr>
            </a:p>
          </p:txBody>
        </p:sp>
        <p:sp>
          <p:nvSpPr>
            <p:cNvPr id="22550" name="矩形 208901"/>
            <p:cNvSpPr>
              <a:spLocks noChangeArrowheads="1"/>
            </p:cNvSpPr>
            <p:nvPr/>
          </p:nvSpPr>
          <p:spPr bwMode="auto">
            <a:xfrm>
              <a:off x="2160" y="1447"/>
              <a:ext cx="115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离开系统的能量</a:t>
              </a:r>
              <a:endParaRPr lang="zh-CN" altLang="en-US">
                <a:latin typeface="Tahoma" panose="020B0604030504040204" pitchFamily="34" charset="0"/>
                <a:ea typeface="黑体" panose="02010609060101010101" pitchFamily="49" charset="-122"/>
              </a:endParaRPr>
            </a:p>
          </p:txBody>
        </p:sp>
        <p:sp>
          <p:nvSpPr>
            <p:cNvPr id="22551" name="矩形 208902"/>
            <p:cNvSpPr>
              <a:spLocks noChangeArrowheads="1"/>
            </p:cNvSpPr>
            <p:nvPr/>
          </p:nvSpPr>
          <p:spPr bwMode="auto">
            <a:xfrm>
              <a:off x="3792" y="1447"/>
              <a:ext cx="144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Tahoma" panose="020B0604030504040204" pitchFamily="34" charset="0"/>
                  <a:ea typeface="黑体" panose="02010609060101010101" pitchFamily="49" charset="-122"/>
                </a:rPr>
                <a:t>系统中储存总能的变化</a:t>
              </a:r>
              <a:endParaRPr lang="zh-CN" altLang="en-US">
                <a:latin typeface="Tahoma" panose="020B0604030504040204" pitchFamily="34" charset="0"/>
                <a:ea typeface="黑体" panose="02010609060101010101" pitchFamily="49" charset="-122"/>
              </a:endParaRPr>
            </a:p>
          </p:txBody>
        </p:sp>
        <p:sp>
          <p:nvSpPr>
            <p:cNvPr id="22552" name="矩形 208903"/>
            <p:cNvSpPr>
              <a:spLocks noChangeArrowheads="1"/>
            </p:cNvSpPr>
            <p:nvPr/>
          </p:nvSpPr>
          <p:spPr bwMode="auto">
            <a:xfrm>
              <a:off x="3360"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sp>
          <p:nvSpPr>
            <p:cNvPr id="22553" name="矩形 208904"/>
            <p:cNvSpPr>
              <a:spLocks noChangeArrowheads="1"/>
            </p:cNvSpPr>
            <p:nvPr/>
          </p:nvSpPr>
          <p:spPr bwMode="auto">
            <a:xfrm>
              <a:off x="1728"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grpSp>
      <p:sp>
        <p:nvSpPr>
          <p:cNvPr id="22531" name="矩形 208905"/>
          <p:cNvSpPr>
            <a:spLocks noChangeArrowheads="1"/>
          </p:cNvSpPr>
          <p:nvPr/>
        </p:nvSpPr>
        <p:spPr bwMode="auto">
          <a:xfrm>
            <a:off x="1033463" y="368300"/>
            <a:ext cx="7543800" cy="1295400"/>
          </a:xfrm>
          <a:prstGeom prst="rect">
            <a:avLst/>
          </a:prstGeom>
          <a:noFill/>
          <a:ln w="158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8908" name="椭圆 208907"/>
          <p:cNvSpPr>
            <a:spLocks noChangeArrowheads="1"/>
          </p:cNvSpPr>
          <p:nvPr/>
        </p:nvSpPr>
        <p:spPr bwMode="auto">
          <a:xfrm>
            <a:off x="792163" y="188913"/>
            <a:ext cx="5040312" cy="153035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5" name="组合 4"/>
          <p:cNvGrpSpPr/>
          <p:nvPr/>
        </p:nvGrpSpPr>
        <p:grpSpPr bwMode="auto">
          <a:xfrm>
            <a:off x="1341438" y="1473200"/>
            <a:ext cx="793750" cy="1182688"/>
            <a:chOff x="1341946" y="1472487"/>
            <a:chExt cx="793750" cy="1183481"/>
          </a:xfrm>
        </p:grpSpPr>
        <p:sp>
          <p:nvSpPr>
            <p:cNvPr id="22547" name="矩形 208915"/>
            <p:cNvSpPr>
              <a:spLocks noChangeArrowheads="1"/>
            </p:cNvSpPr>
            <p:nvPr/>
          </p:nvSpPr>
          <p:spPr bwMode="auto">
            <a:xfrm>
              <a:off x="1341946" y="2198768"/>
              <a:ext cx="793750" cy="457200"/>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传热</a:t>
              </a:r>
              <a:endParaRPr lang="zh-CN" altLang="en-US" sz="2400">
                <a:latin typeface="Tahoma" panose="020B0604030504040204" pitchFamily="34" charset="0"/>
                <a:ea typeface="黑体" panose="02010609060101010101" pitchFamily="49" charset="-122"/>
              </a:endParaRPr>
            </a:p>
          </p:txBody>
        </p:sp>
        <p:sp>
          <p:nvSpPr>
            <p:cNvPr id="2" name="下箭头 1"/>
            <p:cNvSpPr/>
            <p:nvPr/>
          </p:nvSpPr>
          <p:spPr>
            <a:xfrm>
              <a:off x="1407033" y="1472487"/>
              <a:ext cx="698500" cy="7259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 name="组合 5"/>
          <p:cNvGrpSpPr/>
          <p:nvPr/>
        </p:nvGrpSpPr>
        <p:grpSpPr bwMode="auto">
          <a:xfrm>
            <a:off x="2835275" y="1604963"/>
            <a:ext cx="803275" cy="1143000"/>
            <a:chOff x="2834943" y="1604566"/>
            <a:chExt cx="803575" cy="1143139"/>
          </a:xfrm>
        </p:grpSpPr>
        <p:sp>
          <p:nvSpPr>
            <p:cNvPr id="22545" name="矩形 208916"/>
            <p:cNvSpPr>
              <a:spLocks noChangeArrowheads="1"/>
            </p:cNvSpPr>
            <p:nvPr/>
          </p:nvSpPr>
          <p:spPr bwMode="auto">
            <a:xfrm>
              <a:off x="2834943" y="2286000"/>
              <a:ext cx="803575" cy="461705"/>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作功</a:t>
              </a:r>
              <a:endParaRPr lang="zh-CN" altLang="en-US" sz="2400">
                <a:latin typeface="Tahoma" panose="020B0604030504040204" pitchFamily="34" charset="0"/>
                <a:ea typeface="黑体" panose="02010609060101010101" pitchFamily="49" charset="-122"/>
              </a:endParaRPr>
            </a:p>
          </p:txBody>
        </p:sp>
        <p:sp>
          <p:nvSpPr>
            <p:cNvPr id="20" name="下箭头 19"/>
            <p:cNvSpPr/>
            <p:nvPr/>
          </p:nvSpPr>
          <p:spPr>
            <a:xfrm>
              <a:off x="2930229" y="1604566"/>
              <a:ext cx="698761" cy="7255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7" name="组合 6"/>
          <p:cNvGrpSpPr/>
          <p:nvPr/>
        </p:nvGrpSpPr>
        <p:grpSpPr bwMode="auto">
          <a:xfrm>
            <a:off x="3995738" y="1535113"/>
            <a:ext cx="1790700" cy="1511300"/>
            <a:chOff x="3995738" y="1535509"/>
            <a:chExt cx="1790083" cy="1510904"/>
          </a:xfrm>
        </p:grpSpPr>
        <p:sp>
          <p:nvSpPr>
            <p:cNvPr id="22543" name="矩形 208917"/>
            <p:cNvSpPr>
              <a:spLocks noChangeArrowheads="1"/>
            </p:cNvSpPr>
            <p:nvPr/>
          </p:nvSpPr>
          <p:spPr bwMode="auto">
            <a:xfrm>
              <a:off x="3995738" y="2215416"/>
              <a:ext cx="1790083" cy="830997"/>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质量流动所携带的能量</a:t>
              </a:r>
              <a:endParaRPr lang="zh-CN" altLang="en-US" sz="2400">
                <a:latin typeface="Tahoma" panose="020B0604030504040204" pitchFamily="34" charset="0"/>
                <a:ea typeface="黑体" panose="02010609060101010101" pitchFamily="49" charset="-122"/>
              </a:endParaRPr>
            </a:p>
          </p:txBody>
        </p:sp>
        <p:sp>
          <p:nvSpPr>
            <p:cNvPr id="21" name="下箭头 20"/>
            <p:cNvSpPr/>
            <p:nvPr/>
          </p:nvSpPr>
          <p:spPr>
            <a:xfrm>
              <a:off x="4392476" y="1535509"/>
              <a:ext cx="696672" cy="7268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2" name="矩形 21"/>
          <p:cNvSpPr>
            <a:spLocks noChangeArrowheads="1"/>
          </p:cNvSpPr>
          <p:nvPr/>
        </p:nvSpPr>
        <p:spPr bwMode="auto">
          <a:xfrm>
            <a:off x="395288" y="5689600"/>
            <a:ext cx="793750" cy="457200"/>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传热</a:t>
            </a:r>
            <a:endParaRPr lang="zh-CN" altLang="en-US" sz="2400">
              <a:latin typeface="Tahoma" panose="020B0604030504040204" pitchFamily="34" charset="0"/>
              <a:ea typeface="黑体" panose="02010609060101010101" pitchFamily="49" charset="-122"/>
            </a:endParaRPr>
          </a:p>
        </p:txBody>
      </p:sp>
      <p:sp>
        <p:nvSpPr>
          <p:cNvPr id="23" name="矩形 22"/>
          <p:cNvSpPr>
            <a:spLocks noChangeArrowheads="1"/>
          </p:cNvSpPr>
          <p:nvPr/>
        </p:nvSpPr>
        <p:spPr bwMode="auto">
          <a:xfrm>
            <a:off x="1446213" y="5684838"/>
            <a:ext cx="803275" cy="461962"/>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作功</a:t>
            </a:r>
            <a:endParaRPr lang="zh-CN" altLang="en-US" sz="2400">
              <a:latin typeface="Tahoma" panose="020B0604030504040204" pitchFamily="34" charset="0"/>
              <a:ea typeface="黑体" panose="02010609060101010101" pitchFamily="49" charset="-122"/>
            </a:endParaRPr>
          </a:p>
        </p:txBody>
      </p:sp>
      <p:sp>
        <p:nvSpPr>
          <p:cNvPr id="24" name="矩形 23"/>
          <p:cNvSpPr>
            <a:spLocks noChangeArrowheads="1"/>
          </p:cNvSpPr>
          <p:nvPr/>
        </p:nvSpPr>
        <p:spPr bwMode="auto">
          <a:xfrm>
            <a:off x="4992688" y="5819775"/>
            <a:ext cx="793750" cy="457200"/>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传热</a:t>
            </a:r>
            <a:endParaRPr lang="zh-CN" altLang="en-US" sz="2400">
              <a:latin typeface="Tahoma" panose="020B0604030504040204" pitchFamily="34" charset="0"/>
              <a:ea typeface="黑体" panose="02010609060101010101" pitchFamily="49" charset="-122"/>
            </a:endParaRPr>
          </a:p>
        </p:txBody>
      </p:sp>
      <p:sp>
        <p:nvSpPr>
          <p:cNvPr id="25" name="矩形 24"/>
          <p:cNvSpPr>
            <a:spLocks noChangeArrowheads="1"/>
          </p:cNvSpPr>
          <p:nvPr/>
        </p:nvSpPr>
        <p:spPr bwMode="auto">
          <a:xfrm>
            <a:off x="5900738" y="5819775"/>
            <a:ext cx="803275" cy="461963"/>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作功</a:t>
            </a:r>
            <a:endParaRPr lang="zh-CN" altLang="en-US" sz="2400">
              <a:latin typeface="Tahoma" panose="020B0604030504040204" pitchFamily="34" charset="0"/>
              <a:ea typeface="黑体" panose="02010609060101010101" pitchFamily="49" charset="-122"/>
            </a:endParaRPr>
          </a:p>
        </p:txBody>
      </p:sp>
      <p:sp>
        <p:nvSpPr>
          <p:cNvPr id="26" name="矩形 25"/>
          <p:cNvSpPr>
            <a:spLocks noChangeArrowheads="1"/>
          </p:cNvSpPr>
          <p:nvPr/>
        </p:nvSpPr>
        <p:spPr bwMode="auto">
          <a:xfrm>
            <a:off x="6818313" y="5730875"/>
            <a:ext cx="1758950" cy="831850"/>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质量流动所携带的能量</a:t>
            </a:r>
            <a:endParaRPr lang="zh-CN" altLang="en-US" sz="2400">
              <a:latin typeface="Tahoma" panose="020B0604030504040204" pitchFamily="34" charset="0"/>
              <a:ea typeface="黑体" panose="02010609060101010101" pitchFamily="49"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7150" y="3232150"/>
            <a:ext cx="374332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1113" y="3278188"/>
            <a:ext cx="50419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9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additive="base">
                                        <p:cTn id="30" dur="500" fill="hold"/>
                                        <p:tgtEl>
                                          <p:spTgt spid="23"/>
                                        </p:tgtEl>
                                        <p:attrNameLst>
                                          <p:attrName>ppt_x</p:attrName>
                                        </p:attrNameLst>
                                      </p:cBhvr>
                                      <p:tavLst>
                                        <p:tav tm="0">
                                          <p:val>
                                            <p:strVal val="#ppt_x"/>
                                          </p:val>
                                        </p:tav>
                                        <p:tav tm="100000">
                                          <p:val>
                                            <p:strVal val="#ppt_x"/>
                                          </p:val>
                                        </p:tav>
                                      </p:tavLst>
                                    </p:anim>
                                    <p:anim calcmode="lin" valueType="num">
                                      <p:cBhvr additive="base">
                                        <p:cTn id="31" dur="500" fill="hold"/>
                                        <p:tgtEl>
                                          <p:spTgt spid="2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fill="hold"/>
                                        <p:tgtEl>
                                          <p:spTgt spid="22"/>
                                        </p:tgtEl>
                                        <p:attrNameLst>
                                          <p:attrName>ppt_x</p:attrName>
                                        </p:attrNameLst>
                                      </p:cBhvr>
                                      <p:tavLst>
                                        <p:tav tm="0">
                                          <p:val>
                                            <p:strVal val="#ppt_x"/>
                                          </p:val>
                                        </p:tav>
                                        <p:tav tm="100000">
                                          <p:val>
                                            <p:strVal val="#ppt_x"/>
                                          </p:val>
                                        </p:tav>
                                      </p:tavLst>
                                    </p:anim>
                                    <p:anim calcmode="lin" valueType="num">
                                      <p:cBhvr additive="base">
                                        <p:cTn id="3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500" fill="hold"/>
                                        <p:tgtEl>
                                          <p:spTgt spid="24"/>
                                        </p:tgtEl>
                                        <p:attrNameLst>
                                          <p:attrName>ppt_x</p:attrName>
                                        </p:attrNameLst>
                                      </p:cBhvr>
                                      <p:tavLst>
                                        <p:tav tm="0">
                                          <p:val>
                                            <p:strVal val="#ppt_x"/>
                                          </p:val>
                                        </p:tav>
                                        <p:tav tm="100000">
                                          <p:val>
                                            <p:strVal val="#ppt_x"/>
                                          </p:val>
                                        </p:tav>
                                      </p:tavLst>
                                    </p:anim>
                                    <p:anim calcmode="lin" valueType="num">
                                      <p:cBhvr additive="base">
                                        <p:cTn id="45" dur="500" fill="hold"/>
                                        <p:tgtEl>
                                          <p:spTgt spid="24"/>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fill="hold"/>
                                        <p:tgtEl>
                                          <p:spTgt spid="25"/>
                                        </p:tgtEl>
                                        <p:attrNameLst>
                                          <p:attrName>ppt_x</p:attrName>
                                        </p:attrNameLst>
                                      </p:cBhvr>
                                      <p:tavLst>
                                        <p:tav tm="0">
                                          <p:val>
                                            <p:strVal val="#ppt_x"/>
                                          </p:val>
                                        </p:tav>
                                        <p:tav tm="100000">
                                          <p:val>
                                            <p:strVal val="#ppt_x"/>
                                          </p:val>
                                        </p:tav>
                                      </p:tavLst>
                                    </p:anim>
                                    <p:anim calcmode="lin" valueType="num">
                                      <p:cBhvr additive="base">
                                        <p:cTn id="49" dur="500" fill="hold"/>
                                        <p:tgtEl>
                                          <p:spTgt spid="25"/>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additive="base">
                                        <p:cTn id="52" dur="500" fill="hold"/>
                                        <p:tgtEl>
                                          <p:spTgt spid="26"/>
                                        </p:tgtEl>
                                        <p:attrNameLst>
                                          <p:attrName>ppt_x</p:attrName>
                                        </p:attrNameLst>
                                      </p:cBhvr>
                                      <p:tavLst>
                                        <p:tav tm="0">
                                          <p:val>
                                            <p:strVal val="#ppt_x"/>
                                          </p:val>
                                        </p:tav>
                                        <p:tav tm="100000">
                                          <p:val>
                                            <p:strVal val="#ppt_x"/>
                                          </p:val>
                                        </p:tav>
                                      </p:tavLst>
                                    </p:anim>
                                    <p:anim calcmode="lin" valueType="num">
                                      <p:cBhvr additive="base">
                                        <p:cTn id="5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8" grpId="0" animBg="1"/>
      <p:bldP spid="22" grpId="0" animBg="1"/>
      <p:bldP spid="23" grpId="0" animBg="1"/>
      <p:bldP spid="24" grpId="0" animBg="1"/>
      <p:bldP spid="25"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09921"/>
          <p:cNvSpPr>
            <a:spLocks noChangeArrowheads="1"/>
          </p:cNvSpPr>
          <p:nvPr/>
        </p:nvSpPr>
        <p:spPr bwMode="auto">
          <a:xfrm>
            <a:off x="566738" y="1898650"/>
            <a:ext cx="79930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4800" b="1" dirty="0">
                <a:latin typeface="黑体" panose="02010609060101010101" pitchFamily="49" charset="-122"/>
                <a:ea typeface="黑体" panose="02010609060101010101" pitchFamily="49" charset="-122"/>
              </a:rPr>
              <a:t>3</a:t>
            </a:r>
            <a:r>
              <a:rPr lang="zh-CN" altLang="en-US" sz="4800" b="1" dirty="0">
                <a:latin typeface="黑体" panose="02010609060101010101" pitchFamily="49" charset="-122"/>
                <a:ea typeface="黑体" panose="02010609060101010101" pitchFamily="49" charset="-122"/>
              </a:rPr>
              <a:t>－</a:t>
            </a:r>
            <a:r>
              <a:rPr lang="en-US" altLang="zh-CN" sz="4800" b="1" dirty="0">
                <a:latin typeface="黑体" panose="02010609060101010101" pitchFamily="49" charset="-122"/>
                <a:ea typeface="黑体" panose="02010609060101010101" pitchFamily="49" charset="-122"/>
              </a:rPr>
              <a:t>3 </a:t>
            </a:r>
            <a:r>
              <a:rPr lang="zh-CN" altLang="en-US" sz="4800" b="1" dirty="0">
                <a:latin typeface="黑体" panose="02010609060101010101" pitchFamily="49" charset="-122"/>
                <a:ea typeface="黑体" panose="02010609060101010101" pitchFamily="49" charset="-122"/>
              </a:rPr>
              <a:t>闭口系的能量方程</a:t>
            </a:r>
            <a:endParaRPr lang="zh-CN" altLang="en-US" sz="48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210951"/>
          <p:cNvSpPr>
            <a:spLocks noChangeArrowheads="1"/>
          </p:cNvSpPr>
          <p:nvPr/>
        </p:nvSpPr>
        <p:spPr bwMode="auto">
          <a:xfrm>
            <a:off x="1847850" y="120967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传热</a:t>
            </a:r>
            <a:endParaRPr lang="zh-CN" altLang="en-US" sz="2800">
              <a:latin typeface="Tahoma" panose="020B0604030504040204" pitchFamily="34" charset="0"/>
              <a:ea typeface="黑体" panose="02010609060101010101" pitchFamily="49" charset="-122"/>
            </a:endParaRPr>
          </a:p>
        </p:txBody>
      </p:sp>
      <p:sp>
        <p:nvSpPr>
          <p:cNvPr id="24579" name="矩形 210952"/>
          <p:cNvSpPr>
            <a:spLocks noChangeArrowheads="1"/>
          </p:cNvSpPr>
          <p:nvPr/>
        </p:nvSpPr>
        <p:spPr bwMode="auto">
          <a:xfrm>
            <a:off x="3557588" y="1189038"/>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作功</a:t>
            </a:r>
            <a:endParaRPr lang="zh-CN" altLang="en-US" sz="2800">
              <a:latin typeface="Tahoma" panose="020B0604030504040204" pitchFamily="34" charset="0"/>
              <a:ea typeface="黑体" panose="02010609060101010101" pitchFamily="49" charset="-122"/>
            </a:endParaRPr>
          </a:p>
        </p:txBody>
      </p:sp>
      <p:sp>
        <p:nvSpPr>
          <p:cNvPr id="24580" name="矩形 210953"/>
          <p:cNvSpPr>
            <a:spLocks noChangeArrowheads="1"/>
          </p:cNvSpPr>
          <p:nvPr/>
        </p:nvSpPr>
        <p:spPr bwMode="auto">
          <a:xfrm>
            <a:off x="4857750" y="1233488"/>
            <a:ext cx="27908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质量流动所携带的能量</a:t>
            </a:r>
            <a:endParaRPr lang="zh-CN" altLang="en-US" sz="2800">
              <a:latin typeface="Tahoma" panose="020B0604030504040204" pitchFamily="34" charset="0"/>
              <a:ea typeface="黑体" panose="02010609060101010101" pitchFamily="49" charset="-122"/>
            </a:endParaRPr>
          </a:p>
        </p:txBody>
      </p:sp>
      <p:sp>
        <p:nvSpPr>
          <p:cNvPr id="210955" name="直接连接符 210954"/>
          <p:cNvSpPr>
            <a:spLocks noChangeShapeType="1"/>
          </p:cNvSpPr>
          <p:nvPr/>
        </p:nvSpPr>
        <p:spPr bwMode="auto">
          <a:xfrm flipH="1">
            <a:off x="5080000" y="1189038"/>
            <a:ext cx="2101850" cy="1050925"/>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82" name="矩形 210956"/>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10956" name="对象 210955"/>
          <p:cNvGraphicFramePr/>
          <p:nvPr/>
        </p:nvGraphicFramePr>
        <p:xfrm>
          <a:off x="3311525" y="5845175"/>
          <a:ext cx="1692275" cy="438150"/>
        </p:xfrm>
        <a:graphic>
          <a:graphicData uri="http://schemas.openxmlformats.org/presentationml/2006/ole">
            <mc:AlternateContent xmlns:mc="http://schemas.openxmlformats.org/markup-compatibility/2006">
              <mc:Choice xmlns:v="urn:schemas-microsoft-com:vml" Requires="v">
                <p:oleObj spid="_x0000_s21508" name="" r:id="rId1" imgW="774065" imgH="203200" progId="Equation.DSMT4">
                  <p:embed/>
                </p:oleObj>
              </mc:Choice>
              <mc:Fallback>
                <p:oleObj name="" r:id="rId1" imgW="774065" imgH="203200" progId="Equation.DSMT4">
                  <p:embed/>
                  <p:pic>
                    <p:nvPicPr>
                      <p:cNvPr id="0" name="对象 21095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5845175"/>
                        <a:ext cx="16922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4" name="矩形 210958"/>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5" name="矩形 21096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95525" y="2452688"/>
            <a:ext cx="4865688" cy="339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4"/>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0955"/>
                                        </p:tgtEl>
                                        <p:attrNameLst>
                                          <p:attrName>style.visibility</p:attrName>
                                        </p:attrNameLst>
                                      </p:cBhvr>
                                      <p:to>
                                        <p:strVal val="visible"/>
                                      </p:to>
                                    </p:set>
                                    <p:animEffect transition="in" filter="wipe(down)">
                                      <p:cBhvr>
                                        <p:cTn id="7" dur="500"/>
                                        <p:tgtEl>
                                          <p:spTgt spid="210955"/>
                                        </p:tgtEl>
                                      </p:cBhvr>
                                    </p:animEffect>
                                  </p:childTnLst>
                                </p:cTn>
                              </p:par>
                              <p:par>
                                <p:cTn id="8" presetID="22" presetClass="entr" presetSubtype="8" fill="hold" nodeType="withEffect">
                                  <p:stCondLst>
                                    <p:cond delay="0"/>
                                  </p:stCondLst>
                                  <p:childTnLst>
                                    <p:set>
                                      <p:cBhvr>
                                        <p:cTn id="9" dur="1" fill="hold">
                                          <p:stCondLst>
                                            <p:cond delay="0"/>
                                          </p:stCondLst>
                                        </p:cTn>
                                        <p:tgtEl>
                                          <p:spTgt spid="210956"/>
                                        </p:tgtEl>
                                        <p:attrNameLst>
                                          <p:attrName>style.visibility</p:attrName>
                                        </p:attrNameLst>
                                      </p:cBhvr>
                                      <p:to>
                                        <p:strVal val="visible"/>
                                      </p:to>
                                    </p:set>
                                    <p:animEffect transition="in" filter="wipe(left)">
                                      <p:cBhvr>
                                        <p:cTn id="10" dur="500"/>
                                        <p:tgtEl>
                                          <p:spTgt spid="21095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11971"/>
          <p:cNvSpPr>
            <a:spLocks noChangeArrowheads="1"/>
          </p:cNvSpPr>
          <p:nvPr/>
        </p:nvSpPr>
        <p:spPr bwMode="auto">
          <a:xfrm>
            <a:off x="476250" y="261938"/>
            <a:ext cx="80565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黑体" panose="02010609060101010101" pitchFamily="49" charset="-122"/>
                <a:ea typeface="黑体" panose="02010609060101010101" pitchFamily="49" charset="-122"/>
              </a:rPr>
              <a:t>若系统的宏观动能和重力势能的变化忽略不计，且不考虑总能中的其它能量，如电能、磁能等 </a:t>
            </a:r>
            <a:endParaRPr lang="zh-CN" altLang="en-US" sz="2800">
              <a:latin typeface="黑体" panose="02010609060101010101" pitchFamily="49" charset="-122"/>
              <a:ea typeface="黑体" panose="02010609060101010101" pitchFamily="49" charset="-122"/>
            </a:endParaRPr>
          </a:p>
        </p:txBody>
      </p:sp>
      <p:graphicFrame>
        <p:nvGraphicFramePr>
          <p:cNvPr id="211973" name="对象 211972"/>
          <p:cNvGraphicFramePr>
            <a:graphicFrameLocks noChangeAspect="1"/>
          </p:cNvGraphicFramePr>
          <p:nvPr/>
        </p:nvGraphicFramePr>
        <p:xfrm>
          <a:off x="4797425" y="1538288"/>
          <a:ext cx="2022475" cy="514350"/>
        </p:xfrm>
        <a:graphic>
          <a:graphicData uri="http://schemas.openxmlformats.org/presentationml/2006/ole">
            <mc:AlternateContent xmlns:mc="http://schemas.openxmlformats.org/markup-compatibility/2006">
              <mc:Choice xmlns:v="urn:schemas-microsoft-com:vml" Requires="v">
                <p:oleObj spid="_x0000_s22542" name="" r:id="rId1" imgW="799465" imgH="203200" progId="Equation.DSMT4">
                  <p:embed/>
                </p:oleObj>
              </mc:Choice>
              <mc:Fallback>
                <p:oleObj name="" r:id="rId1" imgW="799465" imgH="203200" progId="Equation.DSMT4">
                  <p:embed/>
                  <p:pic>
                    <p:nvPicPr>
                      <p:cNvPr id="0" name="对象 2119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7425" y="1538288"/>
                        <a:ext cx="20224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974" name="文本框 211973"/>
          <p:cNvSpPr txBox="1">
            <a:spLocks noChangeArrowheads="1"/>
          </p:cNvSpPr>
          <p:nvPr/>
        </p:nvSpPr>
        <p:spPr bwMode="auto">
          <a:xfrm>
            <a:off x="657225" y="3813175"/>
            <a:ext cx="815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a:latin typeface="黑体" panose="02010609060101010101" pitchFamily="49" charset="-122"/>
                <a:ea typeface="黑体" panose="02010609060101010101" pitchFamily="49" charset="-122"/>
              </a:rPr>
              <a:t>对于</a:t>
            </a:r>
            <a:r>
              <a:rPr lang="en-US" altLang="zh-CN" sz="2800">
                <a:latin typeface="Times New Roman" panose="02020603050405020304" pitchFamily="18" charset="0"/>
                <a:ea typeface="黑体" panose="02010609060101010101" pitchFamily="49" charset="-122"/>
                <a:cs typeface="Times New Roman" panose="02020603050405020304" pitchFamily="18" charset="0"/>
              </a:rPr>
              <a:t>1kg</a:t>
            </a:r>
            <a:r>
              <a:rPr lang="zh-CN" altLang="en-US" sz="2800">
                <a:latin typeface="黑体" panose="02010609060101010101" pitchFamily="49" charset="-122"/>
                <a:ea typeface="黑体" panose="02010609060101010101" pitchFamily="49" charset="-122"/>
              </a:rPr>
              <a:t>工质，能量方程式为：</a:t>
            </a:r>
            <a:endParaRPr lang="zh-CN" altLang="en-US" sz="2800">
              <a:latin typeface="黑体" panose="02010609060101010101" pitchFamily="49" charset="-122"/>
              <a:ea typeface="黑体" panose="02010609060101010101" pitchFamily="49" charset="-122"/>
            </a:endParaRPr>
          </a:p>
        </p:txBody>
      </p:sp>
      <p:graphicFrame>
        <p:nvGraphicFramePr>
          <p:cNvPr id="211975" name="对象 211974"/>
          <p:cNvGraphicFramePr/>
          <p:nvPr/>
        </p:nvGraphicFramePr>
        <p:xfrm>
          <a:off x="3251200" y="4621213"/>
          <a:ext cx="1906588" cy="554037"/>
        </p:xfrm>
        <a:graphic>
          <a:graphicData uri="http://schemas.openxmlformats.org/presentationml/2006/ole">
            <mc:AlternateContent xmlns:mc="http://schemas.openxmlformats.org/markup-compatibility/2006">
              <mc:Choice xmlns:v="urn:schemas-microsoft-com:vml" Requires="v">
                <p:oleObj spid="_x0000_s22543" name="" r:id="rId3" imgW="697865" imgH="203200" progId="Equation.DSMT4">
                  <p:embed/>
                </p:oleObj>
              </mc:Choice>
              <mc:Fallback>
                <p:oleObj name="" r:id="rId3" imgW="697865" imgH="203200" progId="Equation.DSMT4">
                  <p:embed/>
                  <p:pic>
                    <p:nvPicPr>
                      <p:cNvPr id="0" name="对象 21197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1200" y="4621213"/>
                        <a:ext cx="19065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6" name="矩形 21197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11977" name="对象 211976"/>
          <p:cNvGraphicFramePr/>
          <p:nvPr/>
        </p:nvGraphicFramePr>
        <p:xfrm>
          <a:off x="3311525" y="3114675"/>
          <a:ext cx="2205038" cy="468313"/>
        </p:xfrm>
        <a:graphic>
          <a:graphicData uri="http://schemas.openxmlformats.org/presentationml/2006/ole">
            <mc:AlternateContent xmlns:mc="http://schemas.openxmlformats.org/markup-compatibility/2006">
              <mc:Choice xmlns:v="urn:schemas-microsoft-com:vml" Requires="v">
                <p:oleObj spid="_x0000_s22544" name="" r:id="rId5" imgW="939165" imgH="203200" progId="Equation.DSMT4">
                  <p:embed/>
                </p:oleObj>
              </mc:Choice>
              <mc:Fallback>
                <p:oleObj name="" r:id="rId5" imgW="939165" imgH="203200" progId="Equation.DSMT4">
                  <p:embed/>
                  <p:pic>
                    <p:nvPicPr>
                      <p:cNvPr id="0" name="对象 21197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1525" y="3114675"/>
                        <a:ext cx="220503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980" name="矩形 211979"/>
          <p:cNvSpPr>
            <a:spLocks noChangeArrowheads="1"/>
          </p:cNvSpPr>
          <p:nvPr/>
        </p:nvSpPr>
        <p:spPr bwMode="auto">
          <a:xfrm>
            <a:off x="657225" y="2573338"/>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微元过程：</a:t>
            </a:r>
            <a:endParaRPr lang="zh-CN" altLang="en-US" sz="2800">
              <a:latin typeface="Tahoma" panose="020B0604030504040204" pitchFamily="34" charset="0"/>
              <a:ea typeface="黑体" panose="02010609060101010101" pitchFamily="49" charset="-122"/>
            </a:endParaRPr>
          </a:p>
        </p:txBody>
      </p:sp>
      <p:sp>
        <p:nvSpPr>
          <p:cNvPr id="25609" name="矩形 211981"/>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11981" name="对象 211980"/>
          <p:cNvGraphicFramePr/>
          <p:nvPr/>
        </p:nvGraphicFramePr>
        <p:xfrm>
          <a:off x="3222625" y="5364163"/>
          <a:ext cx="1979613" cy="488950"/>
        </p:xfrm>
        <a:graphic>
          <a:graphicData uri="http://schemas.openxmlformats.org/presentationml/2006/ole">
            <mc:AlternateContent xmlns:mc="http://schemas.openxmlformats.org/markup-compatibility/2006">
              <mc:Choice xmlns:v="urn:schemas-microsoft-com:vml" Requires="v">
                <p:oleObj spid="_x0000_s22545" name="" r:id="rId7" imgW="812165" imgH="203200" progId="Equation.DSMT4">
                  <p:embed/>
                </p:oleObj>
              </mc:Choice>
              <mc:Fallback>
                <p:oleObj name="" r:id="rId7" imgW="812165" imgH="203200" progId="Equation.DSMT4">
                  <p:embed/>
                  <p:pic>
                    <p:nvPicPr>
                      <p:cNvPr id="0" name="对象 21198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2625" y="5364163"/>
                        <a:ext cx="19796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983" name="文本框 211982"/>
          <p:cNvSpPr txBox="1">
            <a:spLocks noChangeArrowheads="1"/>
          </p:cNvSpPr>
          <p:nvPr/>
        </p:nvSpPr>
        <p:spPr bwMode="auto">
          <a:xfrm>
            <a:off x="693738" y="5975350"/>
            <a:ext cx="815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a:latin typeface="黑体" panose="02010609060101010101" pitchFamily="49" charset="-122"/>
                <a:ea typeface="黑体" panose="02010609060101010101" pitchFamily="49" charset="-122"/>
              </a:rPr>
              <a:t>循环过程                  净热量</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净功量</a:t>
            </a:r>
            <a:endParaRPr lang="zh-CN" altLang="en-US" sz="2800">
              <a:latin typeface="黑体" panose="02010609060101010101" pitchFamily="49" charset="-122"/>
              <a:ea typeface="黑体" panose="02010609060101010101" pitchFamily="49" charset="-122"/>
            </a:endParaRPr>
          </a:p>
        </p:txBody>
      </p:sp>
      <p:sp>
        <p:nvSpPr>
          <p:cNvPr id="25612" name="矩形 21198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11984" name="对象 211983"/>
          <p:cNvGraphicFramePr/>
          <p:nvPr/>
        </p:nvGraphicFramePr>
        <p:xfrm>
          <a:off x="2906713" y="6038850"/>
          <a:ext cx="1350962" cy="476250"/>
        </p:xfrm>
        <a:graphic>
          <a:graphicData uri="http://schemas.openxmlformats.org/presentationml/2006/ole">
            <mc:AlternateContent xmlns:mc="http://schemas.openxmlformats.org/markup-compatibility/2006">
              <mc:Choice xmlns:v="urn:schemas-microsoft-com:vml" Requires="v">
                <p:oleObj spid="_x0000_s22546" name="" r:id="rId9" imgW="647700" imgH="228600" progId="Equation.DSMT4">
                  <p:embed/>
                </p:oleObj>
              </mc:Choice>
              <mc:Fallback>
                <p:oleObj name="" r:id="rId9" imgW="647700" imgH="228600" progId="Equation.DSMT4">
                  <p:embed/>
                  <p:pic>
                    <p:nvPicPr>
                      <p:cNvPr id="0" name="对象 21198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6713" y="6038850"/>
                        <a:ext cx="13509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14" name="对象 211985"/>
          <p:cNvGraphicFramePr/>
          <p:nvPr/>
        </p:nvGraphicFramePr>
        <p:xfrm>
          <a:off x="1511300" y="1538288"/>
          <a:ext cx="1981200" cy="512762"/>
        </p:xfrm>
        <a:graphic>
          <a:graphicData uri="http://schemas.openxmlformats.org/presentationml/2006/ole">
            <mc:AlternateContent xmlns:mc="http://schemas.openxmlformats.org/markup-compatibility/2006">
              <mc:Choice xmlns:v="urn:schemas-microsoft-com:vml" Requires="v">
                <p:oleObj spid="_x0000_s22547" name="" r:id="rId11" imgW="774065" imgH="203200" progId="Equation.DSMT4">
                  <p:embed/>
                </p:oleObj>
              </mc:Choice>
              <mc:Fallback>
                <p:oleObj name="" r:id="rId11" imgW="774065" imgH="203200" progId="Equation.DSMT4">
                  <p:embed/>
                  <p:pic>
                    <p:nvPicPr>
                      <p:cNvPr id="0" name="对象 21198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11300" y="1538288"/>
                        <a:ext cx="19812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987" name="右箭头 211986"/>
          <p:cNvSpPr>
            <a:spLocks noChangeArrowheads="1"/>
          </p:cNvSpPr>
          <p:nvPr/>
        </p:nvSpPr>
        <p:spPr bwMode="auto">
          <a:xfrm>
            <a:off x="3627438" y="1719263"/>
            <a:ext cx="1035050" cy="179387"/>
          </a:xfrm>
          <a:prstGeom prst="rightArrow">
            <a:avLst>
              <a:gd name="adj1" fmla="val 50000"/>
              <a:gd name="adj2" fmla="val 144195"/>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ustDataLst>
      <p:tags r:id="rId1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1987"/>
                                        </p:tgtEl>
                                        <p:attrNameLst>
                                          <p:attrName>style.visibility</p:attrName>
                                        </p:attrNameLst>
                                      </p:cBhvr>
                                      <p:to>
                                        <p:strVal val="visible"/>
                                      </p:to>
                                    </p:set>
                                    <p:animEffect transition="in" filter="wipe(left)">
                                      <p:cBhvr>
                                        <p:cTn id="7" dur="500"/>
                                        <p:tgtEl>
                                          <p:spTgt spid="211987"/>
                                        </p:tgtEl>
                                      </p:cBhvr>
                                    </p:animEffect>
                                  </p:childTnLst>
                                </p:cTn>
                              </p:par>
                              <p:par>
                                <p:cTn id="8" presetID="22" presetClass="entr" presetSubtype="8" fill="hold" nodeType="withEffect">
                                  <p:stCondLst>
                                    <p:cond delay="0"/>
                                  </p:stCondLst>
                                  <p:childTnLst>
                                    <p:set>
                                      <p:cBhvr>
                                        <p:cTn id="9" dur="1" fill="hold">
                                          <p:stCondLst>
                                            <p:cond delay="0"/>
                                          </p:stCondLst>
                                        </p:cTn>
                                        <p:tgtEl>
                                          <p:spTgt spid="211973"/>
                                        </p:tgtEl>
                                        <p:attrNameLst>
                                          <p:attrName>style.visibility</p:attrName>
                                        </p:attrNameLst>
                                      </p:cBhvr>
                                      <p:to>
                                        <p:strVal val="visible"/>
                                      </p:to>
                                    </p:set>
                                    <p:animEffect transition="in" filter="wipe(left)">
                                      <p:cBhvr>
                                        <p:cTn id="10" dur="500"/>
                                        <p:tgtEl>
                                          <p:spTgt spid="21197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11974"/>
                                        </p:tgtEl>
                                        <p:attrNameLst>
                                          <p:attrName>style.visibility</p:attrName>
                                        </p:attrNameLst>
                                      </p:cBhvr>
                                      <p:to>
                                        <p:strVal val="visible"/>
                                      </p:to>
                                    </p:set>
                                    <p:animEffect transition="in" filter="blinds(horizontal)">
                                      <p:cBhvr>
                                        <p:cTn id="15" dur="500"/>
                                        <p:tgtEl>
                                          <p:spTgt spid="211974"/>
                                        </p:tgtEl>
                                      </p:cBhvr>
                                    </p:animEffect>
                                  </p:childTnLst>
                                </p:cTn>
                              </p:par>
                              <p:par>
                                <p:cTn id="16" presetID="3" presetClass="entr" presetSubtype="10" fill="hold" nodeType="withEffect">
                                  <p:stCondLst>
                                    <p:cond delay="0"/>
                                  </p:stCondLst>
                                  <p:childTnLst>
                                    <p:set>
                                      <p:cBhvr>
                                        <p:cTn id="17" dur="1" fill="hold">
                                          <p:stCondLst>
                                            <p:cond delay="0"/>
                                          </p:stCondLst>
                                        </p:cTn>
                                        <p:tgtEl>
                                          <p:spTgt spid="211975"/>
                                        </p:tgtEl>
                                        <p:attrNameLst>
                                          <p:attrName>style.visibility</p:attrName>
                                        </p:attrNameLst>
                                      </p:cBhvr>
                                      <p:to>
                                        <p:strVal val="visible"/>
                                      </p:to>
                                    </p:set>
                                    <p:animEffect transition="in" filter="blinds(horizontal)">
                                      <p:cBhvr>
                                        <p:cTn id="18" dur="500"/>
                                        <p:tgtEl>
                                          <p:spTgt spid="211975"/>
                                        </p:tgtEl>
                                      </p:cBhvr>
                                    </p:animEffect>
                                  </p:childTnLst>
                                </p:cTn>
                              </p:par>
                              <p:par>
                                <p:cTn id="19" presetID="3" presetClass="entr" presetSubtype="10" fill="hold" nodeType="withEffect">
                                  <p:stCondLst>
                                    <p:cond delay="0"/>
                                  </p:stCondLst>
                                  <p:childTnLst>
                                    <p:set>
                                      <p:cBhvr>
                                        <p:cTn id="20" dur="1" fill="hold">
                                          <p:stCondLst>
                                            <p:cond delay="0"/>
                                          </p:stCondLst>
                                        </p:cTn>
                                        <p:tgtEl>
                                          <p:spTgt spid="211977"/>
                                        </p:tgtEl>
                                        <p:attrNameLst>
                                          <p:attrName>style.visibility</p:attrName>
                                        </p:attrNameLst>
                                      </p:cBhvr>
                                      <p:to>
                                        <p:strVal val="visible"/>
                                      </p:to>
                                    </p:set>
                                    <p:animEffect transition="in" filter="blinds(horizontal)">
                                      <p:cBhvr>
                                        <p:cTn id="21" dur="500"/>
                                        <p:tgtEl>
                                          <p:spTgt spid="21197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11980"/>
                                        </p:tgtEl>
                                        <p:attrNameLst>
                                          <p:attrName>style.visibility</p:attrName>
                                        </p:attrNameLst>
                                      </p:cBhvr>
                                      <p:to>
                                        <p:strVal val="visible"/>
                                      </p:to>
                                    </p:set>
                                    <p:animEffect transition="in" filter="blinds(horizontal)">
                                      <p:cBhvr>
                                        <p:cTn id="24" dur="500"/>
                                        <p:tgtEl>
                                          <p:spTgt spid="211980"/>
                                        </p:tgtEl>
                                      </p:cBhvr>
                                    </p:animEffect>
                                  </p:childTnLst>
                                </p:cTn>
                              </p:par>
                              <p:par>
                                <p:cTn id="25" presetID="3" presetClass="entr" presetSubtype="10" fill="hold" nodeType="withEffect">
                                  <p:stCondLst>
                                    <p:cond delay="0"/>
                                  </p:stCondLst>
                                  <p:childTnLst>
                                    <p:set>
                                      <p:cBhvr>
                                        <p:cTn id="26" dur="1" fill="hold">
                                          <p:stCondLst>
                                            <p:cond delay="0"/>
                                          </p:stCondLst>
                                        </p:cTn>
                                        <p:tgtEl>
                                          <p:spTgt spid="211981"/>
                                        </p:tgtEl>
                                        <p:attrNameLst>
                                          <p:attrName>style.visibility</p:attrName>
                                        </p:attrNameLst>
                                      </p:cBhvr>
                                      <p:to>
                                        <p:strVal val="visible"/>
                                      </p:to>
                                    </p:set>
                                    <p:animEffect transition="in" filter="blinds(horizontal)">
                                      <p:cBhvr>
                                        <p:cTn id="27" dur="500"/>
                                        <p:tgtEl>
                                          <p:spTgt spid="211981"/>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11983"/>
                                        </p:tgtEl>
                                        <p:attrNameLst>
                                          <p:attrName>style.visibility</p:attrName>
                                        </p:attrNameLst>
                                      </p:cBhvr>
                                      <p:to>
                                        <p:strVal val="visible"/>
                                      </p:to>
                                    </p:set>
                                    <p:animEffect transition="in" filter="blinds(horizontal)">
                                      <p:cBhvr>
                                        <p:cTn id="30" dur="500"/>
                                        <p:tgtEl>
                                          <p:spTgt spid="211983"/>
                                        </p:tgtEl>
                                      </p:cBhvr>
                                    </p:animEffect>
                                  </p:childTnLst>
                                </p:cTn>
                              </p:par>
                              <p:par>
                                <p:cTn id="31" presetID="3" presetClass="entr" presetSubtype="10" fill="hold" nodeType="withEffect">
                                  <p:stCondLst>
                                    <p:cond delay="0"/>
                                  </p:stCondLst>
                                  <p:childTnLst>
                                    <p:set>
                                      <p:cBhvr>
                                        <p:cTn id="32" dur="1" fill="hold">
                                          <p:stCondLst>
                                            <p:cond delay="0"/>
                                          </p:stCondLst>
                                        </p:cTn>
                                        <p:tgtEl>
                                          <p:spTgt spid="211984"/>
                                        </p:tgtEl>
                                        <p:attrNameLst>
                                          <p:attrName>style.visibility</p:attrName>
                                        </p:attrNameLst>
                                      </p:cBhvr>
                                      <p:to>
                                        <p:strVal val="visible"/>
                                      </p:to>
                                    </p:set>
                                    <p:animEffect transition="in" filter="blinds(horizontal)">
                                      <p:cBhvr>
                                        <p:cTn id="33" dur="500"/>
                                        <p:tgtEl>
                                          <p:spTgt spid="211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4" grpId="0"/>
      <p:bldP spid="211980" grpId="0"/>
      <p:bldP spid="21198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对象 212995"/>
          <p:cNvGraphicFramePr/>
          <p:nvPr/>
        </p:nvGraphicFramePr>
        <p:xfrm>
          <a:off x="3176588" y="368300"/>
          <a:ext cx="2393950" cy="608013"/>
        </p:xfrm>
        <a:graphic>
          <a:graphicData uri="http://schemas.openxmlformats.org/presentationml/2006/ole">
            <mc:AlternateContent xmlns:mc="http://schemas.openxmlformats.org/markup-compatibility/2006">
              <mc:Choice xmlns:v="urn:schemas-microsoft-com:vml" Requires="v">
                <p:oleObj spid="_x0000_s23560" name="" r:id="rId1" imgW="799465" imgH="203200" progId="Equation.DSMT4">
                  <p:embed/>
                </p:oleObj>
              </mc:Choice>
              <mc:Fallback>
                <p:oleObj name="" r:id="rId1" imgW="799465" imgH="203200" progId="Equation.DSMT4">
                  <p:embed/>
                  <p:pic>
                    <p:nvPicPr>
                      <p:cNvPr id="0" name="对象 21299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6588" y="368300"/>
                        <a:ext cx="2393950" cy="6080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27" name="下箭头 212998"/>
          <p:cNvSpPr>
            <a:spLocks noChangeArrowheads="1"/>
          </p:cNvSpPr>
          <p:nvPr/>
        </p:nvSpPr>
        <p:spPr bwMode="auto">
          <a:xfrm rot="-1992397">
            <a:off x="5430838" y="893763"/>
            <a:ext cx="315912" cy="765175"/>
          </a:xfrm>
          <a:prstGeom prst="downArrow">
            <a:avLst>
              <a:gd name="adj1" fmla="val 50000"/>
              <a:gd name="adj2" fmla="val 60530"/>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3001" name="矩形 213000"/>
          <p:cNvSpPr>
            <a:spLocks noChangeArrowheads="1"/>
          </p:cNvSpPr>
          <p:nvPr/>
        </p:nvSpPr>
        <p:spPr bwMode="auto">
          <a:xfrm>
            <a:off x="566738" y="1493838"/>
            <a:ext cx="30908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latin typeface="Times New Roman" panose="02020603050405020304" pitchFamily="18" charset="0"/>
                <a:ea typeface="黑体" panose="02010609060101010101" pitchFamily="49" charset="-122"/>
              </a:rPr>
              <a:t>W</a:t>
            </a:r>
            <a:r>
              <a:rPr lang="en-US" altLang="zh-CN" sz="2800" baseline="-25000">
                <a:latin typeface="Times New Roman" panose="02020603050405020304" pitchFamily="18" charset="0"/>
                <a:ea typeface="黑体" panose="02010609060101010101" pitchFamily="49" charset="-122"/>
              </a:rPr>
              <a:t>b</a:t>
            </a:r>
            <a:r>
              <a:rPr lang="en-US" altLang="zh-CN" sz="2800">
                <a:ea typeface="黑体" panose="02010609060101010101" pitchFamily="49" charset="-122"/>
              </a:rPr>
              <a:t>——</a:t>
            </a:r>
            <a:r>
              <a:rPr lang="zh-CN" altLang="en-US" sz="2800">
                <a:latin typeface="黑体" panose="02010609060101010101" pitchFamily="49" charset="-122"/>
                <a:ea typeface="黑体" panose="02010609060101010101" pitchFamily="49" charset="-122"/>
              </a:rPr>
              <a:t>体积变化功</a:t>
            </a:r>
            <a:endParaRPr lang="zh-CN" altLang="en-US" sz="2800">
              <a:latin typeface="黑体" panose="02010609060101010101" pitchFamily="49" charset="-122"/>
              <a:ea typeface="黑体" panose="02010609060101010101" pitchFamily="49" charset="-122"/>
            </a:endParaRPr>
          </a:p>
        </p:txBody>
      </p:sp>
      <p:sp>
        <p:nvSpPr>
          <p:cNvPr id="213005" name="矩形 213004"/>
          <p:cNvSpPr>
            <a:spLocks noChangeArrowheads="1"/>
          </p:cNvSpPr>
          <p:nvPr/>
        </p:nvSpPr>
        <p:spPr bwMode="auto">
          <a:xfrm>
            <a:off x="566738" y="2349500"/>
            <a:ext cx="19907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latin typeface="Times New Roman" panose="02020603050405020304" pitchFamily="18" charset="0"/>
                <a:ea typeface="黑体" panose="02010609060101010101" pitchFamily="49" charset="-122"/>
              </a:rPr>
              <a:t>W</a:t>
            </a:r>
            <a:r>
              <a:rPr lang="en-US" altLang="zh-CN" sz="2800" baseline="-25000">
                <a:latin typeface="Times New Roman" panose="02020603050405020304" pitchFamily="18" charset="0"/>
                <a:ea typeface="黑体" panose="02010609060101010101" pitchFamily="49" charset="-122"/>
              </a:rPr>
              <a:t>s</a:t>
            </a:r>
            <a:r>
              <a:rPr lang="en-US" altLang="zh-CN" sz="2800">
                <a:ea typeface="黑体" panose="02010609060101010101" pitchFamily="49" charset="-122"/>
              </a:rPr>
              <a:t>——</a:t>
            </a:r>
            <a:r>
              <a:rPr lang="zh-CN" altLang="en-US" sz="2800">
                <a:latin typeface="黑体" panose="02010609060101010101" pitchFamily="49" charset="-122"/>
                <a:ea typeface="黑体" panose="02010609060101010101" pitchFamily="49" charset="-122"/>
              </a:rPr>
              <a:t>轴功</a:t>
            </a:r>
            <a:endParaRPr lang="zh-CN" altLang="en-US" sz="2800">
              <a:latin typeface="黑体" panose="02010609060101010101" pitchFamily="49" charset="-122"/>
              <a:ea typeface="黑体" panose="02010609060101010101" pitchFamily="49" charset="-122"/>
            </a:endParaRPr>
          </a:p>
        </p:txBody>
      </p:sp>
      <p:sp>
        <p:nvSpPr>
          <p:cNvPr id="213006" name="矩形 213005"/>
          <p:cNvSpPr>
            <a:spLocks noChangeArrowheads="1"/>
          </p:cNvSpPr>
          <p:nvPr/>
        </p:nvSpPr>
        <p:spPr bwMode="auto">
          <a:xfrm>
            <a:off x="611188" y="3249613"/>
            <a:ext cx="2009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latin typeface="Times New Roman" panose="02020603050405020304" pitchFamily="18" charset="0"/>
                <a:ea typeface="黑体" panose="02010609060101010101" pitchFamily="49" charset="-122"/>
              </a:rPr>
              <a:t>W</a:t>
            </a:r>
            <a:r>
              <a:rPr lang="en-US" altLang="zh-CN" sz="2800" baseline="-25000">
                <a:latin typeface="Times New Roman" panose="02020603050405020304" pitchFamily="18" charset="0"/>
                <a:ea typeface="黑体" panose="02010609060101010101" pitchFamily="49" charset="-122"/>
              </a:rPr>
              <a:t>e</a:t>
            </a:r>
            <a:r>
              <a:rPr lang="en-US" altLang="zh-CN" sz="2800">
                <a:ea typeface="黑体" panose="02010609060101010101" pitchFamily="49" charset="-122"/>
              </a:rPr>
              <a:t>——</a:t>
            </a:r>
            <a:r>
              <a:rPr lang="zh-CN" altLang="en-US" sz="2800">
                <a:latin typeface="黑体" panose="02010609060101010101" pitchFamily="49" charset="-122"/>
                <a:ea typeface="黑体" panose="02010609060101010101" pitchFamily="49" charset="-122"/>
              </a:rPr>
              <a:t>电功</a:t>
            </a:r>
            <a:endParaRPr lang="zh-CN" altLang="en-US" sz="2800">
              <a:latin typeface="黑体" panose="02010609060101010101" pitchFamily="49" charset="-122"/>
              <a:ea typeface="黑体" panose="02010609060101010101" pitchFamily="49" charset="-122"/>
            </a:endParaRPr>
          </a:p>
        </p:txBody>
      </p:sp>
      <p:sp>
        <p:nvSpPr>
          <p:cNvPr id="213007" name="矩形 213006"/>
          <p:cNvSpPr>
            <a:spLocks noChangeArrowheads="1"/>
          </p:cNvSpPr>
          <p:nvPr/>
        </p:nvSpPr>
        <p:spPr bwMode="auto">
          <a:xfrm>
            <a:off x="758825" y="4300538"/>
            <a:ext cx="1606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imes New Roman" panose="02020603050405020304" pitchFamily="18" charset="0"/>
                <a:ea typeface="黑体" panose="02010609060101010101" pitchFamily="49" charset="-122"/>
              </a:rPr>
              <a:t>可逆过程</a:t>
            </a:r>
            <a:endParaRPr lang="zh-CN" altLang="en-US" sz="2800">
              <a:latin typeface="Times New Roman" panose="02020603050405020304" pitchFamily="18" charset="0"/>
              <a:ea typeface="黑体" panose="02010609060101010101" pitchFamily="49" charset="-122"/>
            </a:endParaRPr>
          </a:p>
        </p:txBody>
      </p:sp>
      <p:graphicFrame>
        <p:nvGraphicFramePr>
          <p:cNvPr id="213008" name="对象 213007"/>
          <p:cNvGraphicFramePr/>
          <p:nvPr/>
        </p:nvGraphicFramePr>
        <p:xfrm>
          <a:off x="801688" y="5005388"/>
          <a:ext cx="2538412" cy="673100"/>
        </p:xfrm>
        <a:graphic>
          <a:graphicData uri="http://schemas.openxmlformats.org/presentationml/2006/ole">
            <mc:AlternateContent xmlns:mc="http://schemas.openxmlformats.org/markup-compatibility/2006">
              <mc:Choice xmlns:v="urn:schemas-microsoft-com:vml" Requires="v">
                <p:oleObj spid="_x0000_s23561" name="Equation" r:id="rId3" imgW="1040765" imgH="279400" progId="Equation.DSMT4">
                  <p:embed/>
                </p:oleObj>
              </mc:Choice>
              <mc:Fallback>
                <p:oleObj name="Equation" r:id="rId3" imgW="1040765" imgH="279400" progId="Equation.DSMT4">
                  <p:embed/>
                  <p:pic>
                    <p:nvPicPr>
                      <p:cNvPr id="0" name="对象 21300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688" y="5005388"/>
                        <a:ext cx="253841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33" name="矩形 213009"/>
          <p:cNvSpPr>
            <a:spLocks noChangeArrowheads="1"/>
          </p:cNvSpPr>
          <p:nvPr/>
        </p:nvSpPr>
        <p:spPr bwMode="auto">
          <a:xfrm>
            <a:off x="0" y="3263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13009" name="对象 213008"/>
          <p:cNvGraphicFramePr/>
          <p:nvPr/>
        </p:nvGraphicFramePr>
        <p:xfrm>
          <a:off x="777875" y="5632450"/>
          <a:ext cx="2897188" cy="866775"/>
        </p:xfrm>
        <a:graphic>
          <a:graphicData uri="http://schemas.openxmlformats.org/presentationml/2006/ole">
            <mc:AlternateContent xmlns:mc="http://schemas.openxmlformats.org/markup-compatibility/2006">
              <mc:Choice xmlns:v="urn:schemas-microsoft-com:vml" Requires="v">
                <p:oleObj spid="_x0000_s23562" name="" r:id="rId5" imgW="1104265" imgH="330200" progId="Equation.DSMT4">
                  <p:embed/>
                </p:oleObj>
              </mc:Choice>
              <mc:Fallback>
                <p:oleObj name="" r:id="rId5" imgW="1104265" imgH="330200" progId="Equation.DSMT4">
                  <p:embed/>
                  <p:pic>
                    <p:nvPicPr>
                      <p:cNvPr id="0" name="对象 21300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875" y="5632450"/>
                        <a:ext cx="28971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373563" y="1646238"/>
            <a:ext cx="3913187" cy="485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8"/>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13001"/>
                                        </p:tgtEl>
                                        <p:attrNameLst>
                                          <p:attrName>style.visibility</p:attrName>
                                        </p:attrNameLst>
                                      </p:cBhvr>
                                      <p:to>
                                        <p:strVal val="visible"/>
                                      </p:to>
                                    </p:set>
                                    <p:animEffect transition="in" filter="blinds(horizontal)">
                                      <p:cBhvr>
                                        <p:cTn id="11" dur="500"/>
                                        <p:tgtEl>
                                          <p:spTgt spid="21300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13005"/>
                                        </p:tgtEl>
                                        <p:attrNameLst>
                                          <p:attrName>style.visibility</p:attrName>
                                        </p:attrNameLst>
                                      </p:cBhvr>
                                      <p:to>
                                        <p:strVal val="visible"/>
                                      </p:to>
                                    </p:set>
                                    <p:animEffect transition="in" filter="blinds(horizontal)">
                                      <p:cBhvr>
                                        <p:cTn id="16" dur="500"/>
                                        <p:tgtEl>
                                          <p:spTgt spid="21300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13006"/>
                                        </p:tgtEl>
                                        <p:attrNameLst>
                                          <p:attrName>style.visibility</p:attrName>
                                        </p:attrNameLst>
                                      </p:cBhvr>
                                      <p:to>
                                        <p:strVal val="visible"/>
                                      </p:to>
                                    </p:set>
                                    <p:animEffect transition="in" filter="blinds(horizontal)">
                                      <p:cBhvr>
                                        <p:cTn id="21" dur="500"/>
                                        <p:tgtEl>
                                          <p:spTgt spid="21300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13007"/>
                                        </p:tgtEl>
                                        <p:attrNameLst>
                                          <p:attrName>style.visibility</p:attrName>
                                        </p:attrNameLst>
                                      </p:cBhvr>
                                      <p:to>
                                        <p:strVal val="visible"/>
                                      </p:to>
                                    </p:set>
                                    <p:animEffect transition="in" filter="blinds(horizontal)">
                                      <p:cBhvr>
                                        <p:cTn id="26" dur="500"/>
                                        <p:tgtEl>
                                          <p:spTgt spid="213007"/>
                                        </p:tgtEl>
                                      </p:cBhvr>
                                    </p:animEffect>
                                  </p:childTnLst>
                                </p:cTn>
                              </p:par>
                              <p:par>
                                <p:cTn id="27" presetID="3" presetClass="entr" presetSubtype="10" fill="hold" nodeType="withEffect">
                                  <p:stCondLst>
                                    <p:cond delay="0"/>
                                  </p:stCondLst>
                                  <p:childTnLst>
                                    <p:set>
                                      <p:cBhvr>
                                        <p:cTn id="28" dur="1" fill="hold">
                                          <p:stCondLst>
                                            <p:cond delay="0"/>
                                          </p:stCondLst>
                                        </p:cTn>
                                        <p:tgtEl>
                                          <p:spTgt spid="213008"/>
                                        </p:tgtEl>
                                        <p:attrNameLst>
                                          <p:attrName>style.visibility</p:attrName>
                                        </p:attrNameLst>
                                      </p:cBhvr>
                                      <p:to>
                                        <p:strVal val="visible"/>
                                      </p:to>
                                    </p:set>
                                    <p:animEffect transition="in" filter="blinds(horizontal)">
                                      <p:cBhvr>
                                        <p:cTn id="29" dur="500"/>
                                        <p:tgtEl>
                                          <p:spTgt spid="21300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13009"/>
                                        </p:tgtEl>
                                        <p:attrNameLst>
                                          <p:attrName>style.visibility</p:attrName>
                                        </p:attrNameLst>
                                      </p:cBhvr>
                                      <p:to>
                                        <p:strVal val="visible"/>
                                      </p:to>
                                    </p:set>
                                    <p:animEffect transition="in" filter="wipe(down)">
                                      <p:cBhvr>
                                        <p:cTn id="34" dur="500"/>
                                        <p:tgtEl>
                                          <p:spTgt spid="213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1" grpId="0"/>
      <p:bldP spid="213005" grpId="0"/>
      <p:bldP spid="213006" grpId="0"/>
      <p:bldP spid="21300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216065"/>
          <p:cNvSpPr>
            <a:spLocks noChangeArrowheads="1"/>
          </p:cNvSpPr>
          <p:nvPr/>
        </p:nvSpPr>
        <p:spPr bwMode="auto">
          <a:xfrm>
            <a:off x="522288" y="1854200"/>
            <a:ext cx="79930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4400" b="1" dirty="0">
                <a:latin typeface="黑体" panose="02010609060101010101" pitchFamily="49" charset="-122"/>
                <a:ea typeface="黑体" panose="02010609060101010101" pitchFamily="49" charset="-122"/>
              </a:rPr>
              <a:t>3</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4 </a:t>
            </a:r>
            <a:r>
              <a:rPr lang="zh-CN" altLang="en-US" sz="4400" b="1" dirty="0">
                <a:latin typeface="黑体" panose="02010609060101010101" pitchFamily="49" charset="-122"/>
                <a:ea typeface="黑体" panose="02010609060101010101" pitchFamily="49" charset="-122"/>
              </a:rPr>
              <a:t>稳定流动的能量方程</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90819"/>
          <p:cNvSpPr>
            <a:spLocks noChangeArrowheads="1"/>
          </p:cNvSpPr>
          <p:nvPr/>
        </p:nvSpPr>
        <p:spPr bwMode="auto">
          <a:xfrm>
            <a:off x="2141538" y="2124075"/>
            <a:ext cx="48180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Tahoma" panose="020B0604030504040204" pitchFamily="34" charset="0"/>
                <a:ea typeface="黑体" panose="02010609060101010101" pitchFamily="49" charset="-122"/>
              </a:rPr>
              <a:t>一、什么是稳定流动？</a:t>
            </a:r>
            <a:endParaRPr lang="zh-CN" altLang="en-US" sz="3600" b="1" dirty="0">
              <a:latin typeface="Tahoma" panose="020B0604030504040204" pitchFamily="34" charset="0"/>
              <a:ea typeface="黑体" panose="02010609060101010101" pitchFamily="49" charset="-122"/>
            </a:endParaRPr>
          </a:p>
        </p:txBody>
      </p:sp>
      <p:sp>
        <p:nvSpPr>
          <p:cNvPr id="28675" name="矩形 290821"/>
          <p:cNvSpPr>
            <a:spLocks noChangeArrowheads="1"/>
          </p:cNvSpPr>
          <p:nvPr/>
        </p:nvSpPr>
        <p:spPr bwMode="auto">
          <a:xfrm>
            <a:off x="2411413" y="3384550"/>
            <a:ext cx="3849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黑体" panose="02010609060101010101" pitchFamily="49" charset="-122"/>
                <a:ea typeface="黑体" panose="02010609060101010101" pitchFamily="49" charset="-122"/>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rPr>
              <a:t>steady flow process</a:t>
            </a:r>
            <a:r>
              <a:rPr lang="zh-CN" altLang="en-US" sz="2800" b="0">
                <a:latin typeface="黑体" panose="02010609060101010101" pitchFamily="49" charset="-122"/>
                <a:ea typeface="黑体" panose="02010609060101010101" pitchFamily="49" charset="-122"/>
              </a:rPr>
              <a:t>）</a:t>
            </a:r>
            <a:endParaRPr lang="zh-CN" altLang="en-US" sz="2800" b="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5" name="矩形 217094"/>
          <p:cNvSpPr>
            <a:spLocks noChangeArrowheads="1"/>
          </p:cNvSpPr>
          <p:nvPr/>
        </p:nvSpPr>
        <p:spPr bwMode="auto">
          <a:xfrm>
            <a:off x="701675" y="2979738"/>
            <a:ext cx="80105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2800" b="1" dirty="0" smtClean="0">
                <a:latin typeface="黑体" panose="02010609060101010101" pitchFamily="49" charset="-122"/>
                <a:ea typeface="黑体" panose="02010609060101010101" pitchFamily="49" charset="-122"/>
              </a:rPr>
              <a:t>特点：设备在不变的工况下长时间地运行</a:t>
            </a:r>
            <a:endParaRPr lang="zh-CN" altLang="en-US" sz="2800" b="1" dirty="0" smtClean="0">
              <a:latin typeface="黑体" panose="02010609060101010101" pitchFamily="49" charset="-122"/>
              <a:ea typeface="黑体" panose="02010609060101010101" pitchFamily="49" charset="-122"/>
            </a:endParaRPr>
          </a:p>
          <a:p>
            <a:pPr marL="457200" indent="-457200" eaLnBrk="1" hangingPunct="1">
              <a:spcBef>
                <a:spcPct val="0"/>
              </a:spcBef>
              <a:defRPr/>
            </a:pPr>
            <a:r>
              <a:rPr lang="zh-CN" altLang="en-US" sz="2800" b="1" dirty="0" smtClean="0">
                <a:latin typeface="黑体" panose="02010609060101010101" pitchFamily="49" charset="-122"/>
                <a:ea typeface="黑体" panose="02010609060101010101" pitchFamily="49" charset="-122"/>
              </a:rPr>
              <a:t>系统与外界的能量交换</a:t>
            </a:r>
            <a:r>
              <a:rPr lang="zh-CN" altLang="en-US" sz="2800" b="1" dirty="0" smtClean="0">
                <a:solidFill>
                  <a:srgbClr val="FF0000"/>
                </a:solidFill>
                <a:latin typeface="黑体" panose="02010609060101010101" pitchFamily="49" charset="-122"/>
                <a:ea typeface="黑体" panose="02010609060101010101" pitchFamily="49" charset="-122"/>
              </a:rPr>
              <a:t>不随时间变化</a:t>
            </a:r>
            <a:endParaRPr lang="zh-CN" altLang="en-US" sz="2800" b="1" dirty="0" smtClean="0">
              <a:latin typeface="黑体" panose="02010609060101010101" pitchFamily="49" charset="-122"/>
              <a:ea typeface="黑体" panose="02010609060101010101" pitchFamily="49" charset="-122"/>
            </a:endParaRPr>
          </a:p>
          <a:p>
            <a:pPr marL="457200" indent="-457200" eaLnBrk="1" hangingPunct="1">
              <a:spcBef>
                <a:spcPct val="0"/>
              </a:spcBef>
              <a:defRPr/>
            </a:pPr>
            <a:r>
              <a:rPr lang="zh-CN" altLang="en-US" sz="2800" b="1" dirty="0" smtClean="0">
                <a:latin typeface="黑体" panose="02010609060101010101" pitchFamily="49" charset="-122"/>
                <a:ea typeface="黑体" panose="02010609060101010101" pitchFamily="49" charset="-122"/>
              </a:rPr>
              <a:t>进、出口的流动情况</a:t>
            </a:r>
            <a:r>
              <a:rPr lang="zh-CN" altLang="en-US" sz="2800" b="1" dirty="0" smtClean="0">
                <a:solidFill>
                  <a:srgbClr val="FF0000"/>
                </a:solidFill>
                <a:latin typeface="黑体" panose="02010609060101010101" pitchFamily="49" charset="-122"/>
                <a:ea typeface="黑体" panose="02010609060101010101" pitchFamily="49" charset="-122"/>
              </a:rPr>
              <a:t>不随时间变化</a:t>
            </a:r>
            <a:endParaRPr lang="en-US" altLang="zh-CN" sz="2800" b="1" dirty="0" smtClean="0">
              <a:solidFill>
                <a:srgbClr val="FF0000"/>
              </a:solidFill>
              <a:latin typeface="黑体" panose="02010609060101010101" pitchFamily="49" charset="-122"/>
              <a:ea typeface="黑体" panose="02010609060101010101" pitchFamily="49" charset="-122"/>
            </a:endParaRPr>
          </a:p>
          <a:p>
            <a:pPr marL="457200" indent="-457200" eaLnBrk="1" hangingPunct="1">
              <a:spcBef>
                <a:spcPct val="0"/>
              </a:spcBef>
              <a:defRPr/>
            </a:pPr>
            <a:r>
              <a:rPr lang="zh-CN" altLang="en-US" sz="2800" b="1" dirty="0" smtClean="0">
                <a:latin typeface="黑体" panose="02010609060101010101" pitchFamily="49" charset="-122"/>
                <a:ea typeface="黑体" panose="02010609060101010101" pitchFamily="49" charset="-122"/>
              </a:rPr>
              <a:t>系统内各处流体的热力状态和流动情况也</a:t>
            </a:r>
            <a:r>
              <a:rPr lang="zh-CN" altLang="en-US" sz="2800" b="1" dirty="0" smtClean="0">
                <a:solidFill>
                  <a:srgbClr val="FF0000"/>
                </a:solidFill>
                <a:latin typeface="黑体" panose="02010609060101010101" pitchFamily="49" charset="-122"/>
                <a:ea typeface="黑体" panose="02010609060101010101" pitchFamily="49" charset="-122"/>
              </a:rPr>
              <a:t>不随时间变化</a:t>
            </a:r>
            <a:endParaRPr lang="zh-CN" altLang="en-US" sz="2800" b="1" dirty="0" smtClean="0">
              <a:latin typeface="黑体" panose="02010609060101010101" pitchFamily="49" charset="-122"/>
              <a:ea typeface="黑体" panose="02010609060101010101" pitchFamily="49" charset="-122"/>
            </a:endParaRPr>
          </a:p>
          <a:p>
            <a:pPr eaLnBrk="1" hangingPunct="1">
              <a:spcBef>
                <a:spcPct val="0"/>
              </a:spcBef>
              <a:buFontTx/>
              <a:buNone/>
              <a:defRPr/>
            </a:pPr>
            <a:endParaRPr lang="zh-CN" altLang="en-US" sz="2800" dirty="0" smtClean="0">
              <a:latin typeface="黑体" panose="02010609060101010101" pitchFamily="49" charset="-122"/>
              <a:ea typeface="黑体" panose="02010609060101010101" pitchFamily="49" charset="-122"/>
            </a:endParaRPr>
          </a:p>
        </p:txBody>
      </p:sp>
      <p:sp>
        <p:nvSpPr>
          <p:cNvPr id="217096" name="矩形 217095"/>
          <p:cNvSpPr>
            <a:spLocks noChangeArrowheads="1"/>
          </p:cNvSpPr>
          <p:nvPr/>
        </p:nvSpPr>
        <p:spPr bwMode="auto">
          <a:xfrm>
            <a:off x="566738" y="5319713"/>
            <a:ext cx="8280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设备在启动、停机、加速等变工况下工作时，设备中流体的流动一般是非稳定流动（</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3-6</a:t>
            </a:r>
            <a:r>
              <a:rPr lang="zh-CN" altLang="en-US"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节介绍） </a:t>
            </a:r>
            <a:endParaRPr lang="zh-CN" altLang="en-US"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700" name="矩形 217097"/>
          <p:cNvSpPr>
            <a:spLocks noChangeArrowheads="1"/>
          </p:cNvSpPr>
          <p:nvPr/>
        </p:nvSpPr>
        <p:spPr bwMode="auto">
          <a:xfrm>
            <a:off x="3762375" y="638175"/>
            <a:ext cx="4140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latin typeface="黑体" panose="02010609060101010101" pitchFamily="49" charset="-122"/>
                <a:ea typeface="黑体" panose="02010609060101010101" pitchFamily="49" charset="-122"/>
              </a:rPr>
              <a:t>稳定流动</a:t>
            </a:r>
            <a:r>
              <a:rPr lang="en-US" altLang="zh-CN" sz="2800" b="1" dirty="0">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针对开口系（有流体流入、流出）</a:t>
            </a:r>
            <a:endParaRPr lang="zh-CN" altLang="en-US" sz="2800" b="1" dirty="0">
              <a:latin typeface="黑体" panose="02010609060101010101" pitchFamily="49" charset="-122"/>
              <a:ea typeface="黑体" panose="02010609060101010101" pitchFamily="49" charset="-122"/>
            </a:endParaRPr>
          </a:p>
        </p:txBody>
      </p:sp>
      <p:pic>
        <p:nvPicPr>
          <p:cNvPr id="2970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49275" y="188913"/>
            <a:ext cx="32131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7095">
                                            <p:txEl>
                                              <p:pRg st="0" end="0"/>
                                            </p:txEl>
                                          </p:spTgt>
                                        </p:tgtEl>
                                        <p:attrNameLst>
                                          <p:attrName>style.visibility</p:attrName>
                                        </p:attrNameLst>
                                      </p:cBhvr>
                                      <p:to>
                                        <p:strVal val="visible"/>
                                      </p:to>
                                    </p:set>
                                    <p:animEffect transition="in" filter="blinds(horizontal)">
                                      <p:cBhvr>
                                        <p:cTn id="7" dur="500"/>
                                        <p:tgtEl>
                                          <p:spTgt spid="2170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7095">
                                            <p:txEl>
                                              <p:pRg st="1" end="1"/>
                                            </p:txEl>
                                          </p:spTgt>
                                        </p:tgtEl>
                                        <p:attrNameLst>
                                          <p:attrName>style.visibility</p:attrName>
                                        </p:attrNameLst>
                                      </p:cBhvr>
                                      <p:to>
                                        <p:strVal val="visible"/>
                                      </p:to>
                                    </p:set>
                                    <p:animEffect transition="in" filter="blinds(horizontal)">
                                      <p:cBhvr>
                                        <p:cTn id="12" dur="500"/>
                                        <p:tgtEl>
                                          <p:spTgt spid="2170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7095">
                                            <p:txEl>
                                              <p:pRg st="2" end="2"/>
                                            </p:txEl>
                                          </p:spTgt>
                                        </p:tgtEl>
                                        <p:attrNameLst>
                                          <p:attrName>style.visibility</p:attrName>
                                        </p:attrNameLst>
                                      </p:cBhvr>
                                      <p:to>
                                        <p:strVal val="visible"/>
                                      </p:to>
                                    </p:set>
                                    <p:animEffect transition="in" filter="blinds(horizontal)">
                                      <p:cBhvr>
                                        <p:cTn id="17" dur="500"/>
                                        <p:tgtEl>
                                          <p:spTgt spid="2170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7095">
                                            <p:txEl>
                                              <p:pRg st="3" end="3"/>
                                            </p:txEl>
                                          </p:spTgt>
                                        </p:tgtEl>
                                        <p:attrNameLst>
                                          <p:attrName>style.visibility</p:attrName>
                                        </p:attrNameLst>
                                      </p:cBhvr>
                                      <p:to>
                                        <p:strVal val="visible"/>
                                      </p:to>
                                    </p:set>
                                    <p:animEffect transition="in" filter="blinds(horizontal)">
                                      <p:cBhvr>
                                        <p:cTn id="22" dur="500"/>
                                        <p:tgtEl>
                                          <p:spTgt spid="2170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7096"/>
                                        </p:tgtEl>
                                        <p:attrNameLst>
                                          <p:attrName>style.visibility</p:attrName>
                                        </p:attrNameLst>
                                      </p:cBhvr>
                                      <p:to>
                                        <p:strVal val="visible"/>
                                      </p:to>
                                    </p:set>
                                    <p:animEffect transition="in" filter="blinds(horizontal)">
                                      <p:cBhvr>
                                        <p:cTn id="27" dur="500"/>
                                        <p:tgtEl>
                                          <p:spTgt spid="21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p:cNvSpPr>
            <a:spLocks noChangeArrowheads="1"/>
          </p:cNvSpPr>
          <p:nvPr/>
        </p:nvSpPr>
        <p:spPr bwMode="auto">
          <a:xfrm>
            <a:off x="341313" y="287338"/>
            <a:ext cx="8353425"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1" dirty="0">
                <a:latin typeface="黑体" panose="02010609060101010101" pitchFamily="49" charset="-122"/>
                <a:ea typeface="黑体" panose="02010609060101010101" pitchFamily="49" charset="-122"/>
              </a:rPr>
              <a:t>在稳定流动中，虽然流体的热力状态和流动情况不随“</a:t>
            </a:r>
            <a:r>
              <a:rPr lang="zh-CN" altLang="en-US" b="1" dirty="0">
                <a:solidFill>
                  <a:srgbClr val="FF0000"/>
                </a:solidFill>
                <a:latin typeface="黑体" panose="02010609060101010101" pitchFamily="49" charset="-122"/>
                <a:ea typeface="黑体" panose="02010609060101010101" pitchFamily="49" charset="-122"/>
              </a:rPr>
              <a:t>时间</a:t>
            </a:r>
            <a:r>
              <a:rPr lang="zh-CN" altLang="en-US" b="1" dirty="0">
                <a:latin typeface="黑体" panose="02010609060101010101" pitchFamily="49" charset="-122"/>
                <a:ea typeface="黑体" panose="02010609060101010101" pitchFamily="49" charset="-122"/>
              </a:rPr>
              <a:t>”变化，但它们在“</a:t>
            </a:r>
            <a:r>
              <a:rPr lang="zh-CN" altLang="en-US" b="1" dirty="0">
                <a:solidFill>
                  <a:srgbClr val="FF0000"/>
                </a:solidFill>
                <a:latin typeface="黑体" panose="02010609060101010101" pitchFamily="49" charset="-122"/>
                <a:ea typeface="黑体" panose="02010609060101010101" pitchFamily="49" charset="-122"/>
              </a:rPr>
              <a:t>空间</a:t>
            </a:r>
            <a:r>
              <a:rPr lang="zh-CN" altLang="en-US" b="1" dirty="0">
                <a:latin typeface="黑体" panose="02010609060101010101" pitchFamily="49" charset="-122"/>
                <a:ea typeface="黑体" panose="02010609060101010101" pitchFamily="49" charset="-122"/>
              </a:rPr>
              <a:t>”上是可以变化的，即流体的热力状态和流动情况可以有三维的空间分布。</a:t>
            </a:r>
            <a:endParaRPr lang="zh-CN" altLang="en-US" b="1" dirty="0">
              <a:latin typeface="Times New Roman" panose="02020603050405020304" pitchFamily="18" charset="0"/>
              <a:ea typeface="黑体" panose="02010609060101010101" pitchFamily="49" charset="-122"/>
            </a:endParaRPr>
          </a:p>
        </p:txBody>
      </p:sp>
      <p:sp>
        <p:nvSpPr>
          <p:cNvPr id="6" name="矩形 5"/>
          <p:cNvSpPr/>
          <p:nvPr/>
        </p:nvSpPr>
        <p:spPr>
          <a:xfrm>
            <a:off x="792163" y="5364163"/>
            <a:ext cx="8010525" cy="954087"/>
          </a:xfrm>
          <a:prstGeom prst="rect">
            <a:avLst/>
          </a:prstGeom>
        </p:spPr>
        <p:txBody>
          <a:bodyPr>
            <a:spAutoFit/>
          </a:bodyPr>
          <a:lstStyle/>
          <a:p>
            <a:pPr>
              <a:defRPr/>
            </a:pPr>
            <a:r>
              <a:rPr lang="zh-CN" altLang="en-US" sz="2800" b="1" kern="100" dirty="0">
                <a:latin typeface="黑体" panose="02010609060101010101" pitchFamily="49" charset="-122"/>
                <a:ea typeface="黑体" panose="02010609060101010101" pitchFamily="49" charset="-122"/>
                <a:cs typeface="Times New Roman" panose="02020603050405020304" pitchFamily="18" charset="0"/>
              </a:rPr>
              <a:t>上图表明，</a:t>
            </a:r>
            <a:r>
              <a:rPr lang="zh-CN" altLang="zh-CN" sz="2800" b="1" kern="100" dirty="0">
                <a:latin typeface="黑体" panose="02010609060101010101" pitchFamily="49" charset="-122"/>
                <a:ea typeface="黑体" panose="02010609060101010101" pitchFamily="49" charset="-122"/>
                <a:cs typeface="Times New Roman" panose="02020603050405020304" pitchFamily="18" charset="0"/>
              </a:rPr>
              <a:t>流体稳定流过某管道时，流体的热力状态和流动情况在流动方向上</a:t>
            </a:r>
            <a:r>
              <a:rPr lang="zh-CN" altLang="en-US" sz="2800" b="1" kern="100" dirty="0">
                <a:latin typeface="黑体" panose="02010609060101010101" pitchFamily="49" charset="-122"/>
                <a:ea typeface="黑体" panose="02010609060101010101" pitchFamily="49" charset="-122"/>
                <a:cs typeface="Times New Roman" panose="02020603050405020304" pitchFamily="18" charset="0"/>
              </a:rPr>
              <a:t>会</a:t>
            </a:r>
            <a:r>
              <a:rPr lang="zh-CN" altLang="zh-CN" sz="2800" b="1" kern="100" dirty="0">
                <a:latin typeface="黑体" panose="02010609060101010101" pitchFamily="49" charset="-122"/>
                <a:ea typeface="黑体" panose="02010609060101010101" pitchFamily="49" charset="-122"/>
                <a:cs typeface="Times New Roman" panose="02020603050405020304" pitchFamily="18" charset="0"/>
              </a:rPr>
              <a:t>发生连续性</a:t>
            </a:r>
            <a:r>
              <a:rPr lang="zh-CN" altLang="zh-CN" sz="2800" b="1" kern="100" dirty="0" smtClean="0">
                <a:latin typeface="黑体" panose="02010609060101010101" pitchFamily="49" charset="-122"/>
                <a:ea typeface="黑体" panose="02010609060101010101" pitchFamily="49" charset="-122"/>
                <a:cs typeface="Times New Roman" panose="02020603050405020304" pitchFamily="18" charset="0"/>
              </a:rPr>
              <a:t>变化</a:t>
            </a:r>
            <a:r>
              <a:rPr lang="zh-CN" altLang="en-US" sz="2800" b="1" kern="100" dirty="0" smtClean="0">
                <a:latin typeface="黑体" panose="02010609060101010101" pitchFamily="49" charset="-122"/>
                <a:ea typeface="黑体" panose="02010609060101010101" pitchFamily="49" charset="-122"/>
                <a:cs typeface="Times New Roman" panose="02020603050405020304" pitchFamily="18" charset="0"/>
              </a:rPr>
              <a:t>。</a:t>
            </a:r>
            <a:endParaRPr lang="zh-CN" altLang="en-US" sz="28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71663" y="2620963"/>
            <a:ext cx="5029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291843"/>
          <p:cNvSpPr>
            <a:spLocks noChangeArrowheads="1"/>
          </p:cNvSpPr>
          <p:nvPr/>
        </p:nvSpPr>
        <p:spPr bwMode="auto">
          <a:xfrm>
            <a:off x="1601788" y="2346325"/>
            <a:ext cx="63214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Tahoma" panose="020B0604030504040204" pitchFamily="34" charset="0"/>
                <a:ea typeface="黑体" panose="02010609060101010101" pitchFamily="49" charset="-122"/>
              </a:rPr>
              <a:t>二、流动过程的质量守恒方程</a:t>
            </a:r>
            <a:r>
              <a:rPr lang="zh-CN" altLang="en-US" b="1" dirty="0"/>
              <a:t> </a:t>
            </a:r>
            <a:endParaRPr lang="zh-CN" altLang="en-US" b="1" dirty="0"/>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289793"/>
          <p:cNvSpPr>
            <a:spLocks noChangeArrowheads="1"/>
          </p:cNvSpPr>
          <p:nvPr/>
        </p:nvSpPr>
        <p:spPr bwMode="auto">
          <a:xfrm>
            <a:off x="0" y="3013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289795" name="对象 289794"/>
          <p:cNvGraphicFramePr/>
          <p:nvPr/>
        </p:nvGraphicFramePr>
        <p:xfrm>
          <a:off x="3590925" y="404813"/>
          <a:ext cx="4824413" cy="633412"/>
        </p:xfrm>
        <a:graphic>
          <a:graphicData uri="http://schemas.openxmlformats.org/presentationml/2006/ole">
            <mc:AlternateContent xmlns:mc="http://schemas.openxmlformats.org/markup-compatibility/2006">
              <mc:Choice xmlns:v="urn:schemas-microsoft-com:vml" Requires="v">
                <p:oleObj spid="_x0000_s24592" name="" r:id="rId1" imgW="1955165" imgH="254000" progId="Equation.DSMT4">
                  <p:embed/>
                </p:oleObj>
              </mc:Choice>
              <mc:Fallback>
                <p:oleObj name="" r:id="rId1" imgW="1955165" imgH="254000" progId="Equation.DSMT4">
                  <p:embed/>
                  <p:pic>
                    <p:nvPicPr>
                      <p:cNvPr id="0" name="对象 28979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925" y="404813"/>
                        <a:ext cx="4824413"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2" name="矩形 289795"/>
          <p:cNvSpPr>
            <a:spLocks noChangeArrowheads="1"/>
          </p:cNvSpPr>
          <p:nvPr/>
        </p:nvSpPr>
        <p:spPr bwMode="auto">
          <a:xfrm>
            <a:off x="0" y="2946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51204" name="对象 289796"/>
          <p:cNvGraphicFramePr/>
          <p:nvPr/>
        </p:nvGraphicFramePr>
        <p:xfrm>
          <a:off x="4437063" y="2619375"/>
          <a:ext cx="2968625" cy="931863"/>
        </p:xfrm>
        <a:graphic>
          <a:graphicData uri="http://schemas.openxmlformats.org/presentationml/2006/ole">
            <mc:AlternateContent xmlns:mc="http://schemas.openxmlformats.org/markup-compatibility/2006">
              <mc:Choice xmlns:v="urn:schemas-microsoft-com:vml" Requires="v">
                <p:oleObj spid="_x0000_s24593" name="" r:id="rId3" imgW="1243965" imgH="393700" progId="Equation.DSMT4">
                  <p:embed/>
                </p:oleObj>
              </mc:Choice>
              <mc:Fallback>
                <p:oleObj name="" r:id="rId3" imgW="1243965" imgH="393700" progId="Equation.DSMT4">
                  <p:embed/>
                  <p:pic>
                    <p:nvPicPr>
                      <p:cNvPr id="0" name="对象 28979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7063" y="2619375"/>
                        <a:ext cx="2968625"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9800" name="矩形 289799"/>
          <p:cNvSpPr>
            <a:spLocks noChangeArrowheads="1"/>
          </p:cNvSpPr>
          <p:nvPr/>
        </p:nvSpPr>
        <p:spPr bwMode="auto">
          <a:xfrm>
            <a:off x="5175250" y="1412875"/>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0">
                <a:latin typeface="黑体" panose="02010609060101010101" pitchFamily="49" charset="-122"/>
                <a:ea typeface="黑体" panose="02010609060101010101" pitchFamily="49" charset="-122"/>
              </a:rPr>
              <a:t>控制体内部流体在</a:t>
            </a:r>
            <a:endParaRPr lang="zh-CN" altLang="en-US" sz="2400" b="0">
              <a:latin typeface="黑体" panose="02010609060101010101" pitchFamily="49" charset="-122"/>
              <a:ea typeface="黑体" panose="02010609060101010101" pitchFamily="49" charset="-122"/>
            </a:endParaRPr>
          </a:p>
        </p:txBody>
      </p:sp>
      <p:graphicFrame>
        <p:nvGraphicFramePr>
          <p:cNvPr id="289801" name="对象 289800"/>
          <p:cNvGraphicFramePr/>
          <p:nvPr/>
        </p:nvGraphicFramePr>
        <p:xfrm>
          <a:off x="7767638" y="1484313"/>
          <a:ext cx="431800" cy="341312"/>
        </p:xfrm>
        <a:graphic>
          <a:graphicData uri="http://schemas.openxmlformats.org/presentationml/2006/ole">
            <mc:AlternateContent xmlns:mc="http://schemas.openxmlformats.org/markup-compatibility/2006">
              <mc:Choice xmlns:v="urn:schemas-microsoft-com:vml" Requires="v">
                <p:oleObj spid="_x0000_s24594" name="" r:id="rId5" imgW="228600" imgH="177800" progId="Equation.DSMT4">
                  <p:embed/>
                </p:oleObj>
              </mc:Choice>
              <mc:Fallback>
                <p:oleObj name="" r:id="rId5" imgW="228600" imgH="177800" progId="Equation.DSMT4">
                  <p:embed/>
                  <p:pic>
                    <p:nvPicPr>
                      <p:cNvPr id="0" name="对象 28980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7638" y="1484313"/>
                        <a:ext cx="4318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9802" name="矩形 289801"/>
          <p:cNvSpPr>
            <a:spLocks noChangeArrowheads="1"/>
          </p:cNvSpPr>
          <p:nvPr/>
        </p:nvSpPr>
        <p:spPr bwMode="auto">
          <a:xfrm>
            <a:off x="5205413" y="1914525"/>
            <a:ext cx="341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0">
                <a:latin typeface="黑体" panose="02010609060101010101" pitchFamily="49" charset="-122"/>
                <a:ea typeface="黑体" panose="02010609060101010101" pitchFamily="49" charset="-122"/>
              </a:rPr>
              <a:t>时间间隔内质量的变化 </a:t>
            </a:r>
            <a:endParaRPr lang="zh-CN" altLang="en-US" sz="2400" b="0">
              <a:latin typeface="黑体" panose="02010609060101010101" pitchFamily="49" charset="-122"/>
              <a:ea typeface="黑体" panose="02010609060101010101" pitchFamily="49" charset="-122"/>
            </a:endParaRPr>
          </a:p>
        </p:txBody>
      </p:sp>
      <p:graphicFrame>
        <p:nvGraphicFramePr>
          <p:cNvPr id="51210" name="对象 289804"/>
          <p:cNvGraphicFramePr/>
          <p:nvPr/>
        </p:nvGraphicFramePr>
        <p:xfrm>
          <a:off x="522288" y="5589588"/>
          <a:ext cx="1331912" cy="492125"/>
        </p:xfrm>
        <a:graphic>
          <a:graphicData uri="http://schemas.openxmlformats.org/presentationml/2006/ole">
            <mc:AlternateContent xmlns:mc="http://schemas.openxmlformats.org/markup-compatibility/2006">
              <mc:Choice xmlns:v="urn:schemas-microsoft-com:vml" Requires="v">
                <p:oleObj spid="_x0000_s24595" name="" r:id="rId7" imgW="622300" imgH="228600" progId="Equation.DSMT4">
                  <p:embed/>
                </p:oleObj>
              </mc:Choice>
              <mc:Fallback>
                <p:oleObj name="" r:id="rId7" imgW="622300" imgH="228600" progId="Equation.DSMT4">
                  <p:embed/>
                  <p:pic>
                    <p:nvPicPr>
                      <p:cNvPr id="0" name="对象 28980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288" y="5589588"/>
                        <a:ext cx="13319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211" name="对象 289806"/>
          <p:cNvGraphicFramePr/>
          <p:nvPr/>
        </p:nvGraphicFramePr>
        <p:xfrm>
          <a:off x="2141538" y="5634038"/>
          <a:ext cx="1430337" cy="461962"/>
        </p:xfrm>
        <a:graphic>
          <a:graphicData uri="http://schemas.openxmlformats.org/presentationml/2006/ole">
            <mc:AlternateContent xmlns:mc="http://schemas.openxmlformats.org/markup-compatibility/2006">
              <mc:Choice xmlns:v="urn:schemas-microsoft-com:vml" Requires="v">
                <p:oleObj spid="_x0000_s24596" name="" r:id="rId9" imgW="748665" imgH="241300" progId="Equation.DSMT4">
                  <p:embed/>
                </p:oleObj>
              </mc:Choice>
              <mc:Fallback>
                <p:oleObj name="" r:id="rId9" imgW="748665" imgH="241300" progId="Equation.DSMT4">
                  <p:embed/>
                  <p:pic>
                    <p:nvPicPr>
                      <p:cNvPr id="0" name="对象 28980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1538" y="5634038"/>
                        <a:ext cx="1430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89809" name="对象 289808"/>
          <p:cNvGraphicFramePr/>
          <p:nvPr/>
        </p:nvGraphicFramePr>
        <p:xfrm>
          <a:off x="3978275" y="5589588"/>
          <a:ext cx="2051050" cy="638175"/>
        </p:xfrm>
        <a:graphic>
          <a:graphicData uri="http://schemas.openxmlformats.org/presentationml/2006/ole">
            <mc:AlternateContent xmlns:mc="http://schemas.openxmlformats.org/markup-compatibility/2006">
              <mc:Choice xmlns:v="urn:schemas-microsoft-com:vml" Requires="v">
                <p:oleObj spid="_x0000_s24597" name="Equation" r:id="rId11" imgW="1129665" imgH="355600" progId="Equation.DSMT4">
                  <p:embed/>
                </p:oleObj>
              </mc:Choice>
              <mc:Fallback>
                <p:oleObj name="Equation" r:id="rId11" imgW="1129665" imgH="355600" progId="Equation.DSMT4">
                  <p:embed/>
                  <p:pic>
                    <p:nvPicPr>
                      <p:cNvPr id="0" name="对象 28980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8275" y="5589588"/>
                        <a:ext cx="20510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213" name="对象 289809"/>
          <p:cNvGraphicFramePr/>
          <p:nvPr/>
        </p:nvGraphicFramePr>
        <p:xfrm>
          <a:off x="6507163" y="5589588"/>
          <a:ext cx="2016125" cy="603250"/>
        </p:xfrm>
        <a:graphic>
          <a:graphicData uri="http://schemas.openxmlformats.org/presentationml/2006/ole">
            <mc:AlternateContent xmlns:mc="http://schemas.openxmlformats.org/markup-compatibility/2006">
              <mc:Choice xmlns:v="urn:schemas-microsoft-com:vml" Requires="v">
                <p:oleObj spid="_x0000_s24598" name="" r:id="rId13" imgW="1129665" imgH="342900" progId="Equation.DSMT4">
                  <p:embed/>
                </p:oleObj>
              </mc:Choice>
              <mc:Fallback>
                <p:oleObj name="" r:id="rId13" imgW="1129665" imgH="342900" progId="Equation.DSMT4">
                  <p:embed/>
                  <p:pic>
                    <p:nvPicPr>
                      <p:cNvPr id="0" name="对象 28980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07163" y="5589588"/>
                        <a:ext cx="201612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9811" name="矩形 289810"/>
          <p:cNvSpPr>
            <a:spLocks noChangeArrowheads="1"/>
          </p:cNvSpPr>
          <p:nvPr/>
        </p:nvSpPr>
        <p:spPr bwMode="auto">
          <a:xfrm>
            <a:off x="5175250" y="1412875"/>
            <a:ext cx="3311525" cy="1008063"/>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289812" name="直接连接符 289811"/>
          <p:cNvSpPr>
            <a:spLocks noChangeShapeType="1"/>
          </p:cNvSpPr>
          <p:nvPr/>
        </p:nvSpPr>
        <p:spPr bwMode="auto">
          <a:xfrm flipV="1">
            <a:off x="6831013" y="981075"/>
            <a:ext cx="647700" cy="43180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9813" name="矩形 289812"/>
          <p:cNvSpPr>
            <a:spLocks noChangeArrowheads="1"/>
          </p:cNvSpPr>
          <p:nvPr/>
        </p:nvSpPr>
        <p:spPr bwMode="auto">
          <a:xfrm>
            <a:off x="1285875" y="2865438"/>
            <a:ext cx="2032000" cy="460375"/>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0">
                <a:latin typeface="黑体" panose="02010609060101010101" pitchFamily="49" charset="-122"/>
                <a:ea typeface="黑体" panose="02010609060101010101" pitchFamily="49" charset="-122"/>
              </a:rPr>
              <a:t>考虑单位时间</a:t>
            </a:r>
            <a:endParaRPr lang="zh-CN" altLang="en-US" sz="2400" b="0">
              <a:latin typeface="黑体" panose="02010609060101010101" pitchFamily="49" charset="-122"/>
              <a:ea typeface="黑体" panose="02010609060101010101" pitchFamily="49" charset="-122"/>
            </a:endParaRPr>
          </a:p>
        </p:txBody>
      </p:sp>
      <p:sp>
        <p:nvSpPr>
          <p:cNvPr id="289814" name="直接连接符 289813"/>
          <p:cNvSpPr>
            <a:spLocks noChangeShapeType="1"/>
          </p:cNvSpPr>
          <p:nvPr/>
        </p:nvSpPr>
        <p:spPr bwMode="auto">
          <a:xfrm flipV="1">
            <a:off x="3625850" y="3124200"/>
            <a:ext cx="71913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9815" name="矩形 289814"/>
          <p:cNvSpPr>
            <a:spLocks noChangeArrowheads="1"/>
          </p:cNvSpPr>
          <p:nvPr/>
        </p:nvSpPr>
        <p:spPr bwMode="auto">
          <a:xfrm>
            <a:off x="431800" y="3789363"/>
            <a:ext cx="83534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3000" b="1" dirty="0">
                <a:solidFill>
                  <a:srgbClr val="0000FF"/>
                </a:solidFill>
                <a:latin typeface="黑体" panose="02010609060101010101" pitchFamily="49" charset="-122"/>
                <a:ea typeface="黑体" panose="02010609060101010101" pitchFamily="49" charset="-122"/>
              </a:rPr>
              <a:t>稳定流动过程上式</a:t>
            </a:r>
            <a:r>
              <a:rPr lang="zh-CN" altLang="en-US" sz="3000" b="1" dirty="0">
                <a:solidFill>
                  <a:srgbClr val="0000FF"/>
                </a:solidFill>
                <a:latin typeface="Times New Roman" panose="02020603050405020304" pitchFamily="18" charset="0"/>
                <a:ea typeface="黑体" panose="02010609060101010101" pitchFamily="49" charset="-122"/>
              </a:rPr>
              <a:t>还能不能进一步简化？</a:t>
            </a:r>
            <a:endParaRPr lang="zh-CN" altLang="en-US" sz="3000" b="1" dirty="0">
              <a:solidFill>
                <a:srgbClr val="0000FF"/>
              </a:solidFill>
              <a:latin typeface="Times New Roman" panose="02020603050405020304" pitchFamily="18" charset="0"/>
              <a:ea typeface="黑体" panose="02010609060101010101" pitchFamily="49" charset="-122"/>
            </a:endParaRPr>
          </a:p>
        </p:txBody>
      </p:sp>
      <p:sp>
        <p:nvSpPr>
          <p:cNvPr id="289817" name="矩形 289816"/>
          <p:cNvSpPr>
            <a:spLocks noChangeArrowheads="1"/>
          </p:cNvSpPr>
          <p:nvPr/>
        </p:nvSpPr>
        <p:spPr bwMode="auto">
          <a:xfrm>
            <a:off x="354013" y="4705350"/>
            <a:ext cx="8410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3000" b="1" dirty="0">
                <a:latin typeface="黑体" panose="02010609060101010101" pitchFamily="49" charset="-122"/>
                <a:ea typeface="黑体" panose="02010609060101010101" pitchFamily="49" charset="-122"/>
              </a:rPr>
              <a:t>系统的</a:t>
            </a:r>
            <a:r>
              <a:rPr lang="zh-CN" altLang="en-US" sz="3000" b="1" dirty="0">
                <a:solidFill>
                  <a:srgbClr val="FF0000"/>
                </a:solidFill>
                <a:latin typeface="黑体" panose="02010609060101010101" pitchFamily="49" charset="-122"/>
                <a:ea typeface="黑体" panose="02010609060101010101" pitchFamily="49" charset="-122"/>
              </a:rPr>
              <a:t>状态参数</a:t>
            </a:r>
            <a:r>
              <a:rPr lang="zh-CN" altLang="en-US" sz="3000" b="1" dirty="0">
                <a:latin typeface="黑体" panose="02010609060101010101" pitchFamily="49" charset="-122"/>
                <a:ea typeface="黑体" panose="02010609060101010101" pitchFamily="49" charset="-122"/>
              </a:rPr>
              <a:t>不随时间变化，上式等号右边为</a:t>
            </a:r>
            <a:r>
              <a:rPr lang="en-US" altLang="zh-CN" sz="3000" b="1" dirty="0">
                <a:latin typeface="黑体" panose="02010609060101010101" pitchFamily="49" charset="-122"/>
                <a:ea typeface="黑体" panose="02010609060101010101" pitchFamily="49" charset="-122"/>
              </a:rPr>
              <a:t>0</a:t>
            </a:r>
            <a:endParaRPr lang="en-US" altLang="zh-CN" sz="3000" b="1" dirty="0">
              <a:latin typeface="黑体" panose="02010609060101010101" pitchFamily="49" charset="-122"/>
              <a:ea typeface="黑体" panose="02010609060101010101" pitchFamily="49" charset="-122"/>
            </a:endParaRPr>
          </a:p>
        </p:txBody>
      </p:sp>
      <p:sp>
        <p:nvSpPr>
          <p:cNvPr id="289818" name="直接连接符 289817"/>
          <p:cNvSpPr>
            <a:spLocks noChangeShapeType="1"/>
          </p:cNvSpPr>
          <p:nvPr/>
        </p:nvSpPr>
        <p:spPr bwMode="auto">
          <a:xfrm>
            <a:off x="1287463" y="4373563"/>
            <a:ext cx="361950" cy="395287"/>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32788" name="图片 1"/>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77813" y="331788"/>
            <a:ext cx="388937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6"/>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9795"/>
                                        </p:tgtEl>
                                        <p:attrNameLst>
                                          <p:attrName>style.visibility</p:attrName>
                                        </p:attrNameLst>
                                      </p:cBhvr>
                                      <p:to>
                                        <p:strVal val="visible"/>
                                      </p:to>
                                    </p:set>
                                    <p:animEffect transition="in" filter="blinds(horizontal)">
                                      <p:cBhvr>
                                        <p:cTn id="7" dur="500"/>
                                        <p:tgtEl>
                                          <p:spTgt spid="28979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9800"/>
                                        </p:tgtEl>
                                        <p:attrNameLst>
                                          <p:attrName>style.visibility</p:attrName>
                                        </p:attrNameLst>
                                      </p:cBhvr>
                                      <p:to>
                                        <p:strVal val="visible"/>
                                      </p:to>
                                    </p:set>
                                    <p:animEffect transition="in" filter="blinds(horizontal)">
                                      <p:cBhvr>
                                        <p:cTn id="10" dur="500"/>
                                        <p:tgtEl>
                                          <p:spTgt spid="289800"/>
                                        </p:tgtEl>
                                      </p:cBhvr>
                                    </p:animEffect>
                                  </p:childTnLst>
                                </p:cTn>
                              </p:par>
                              <p:par>
                                <p:cTn id="11" presetID="3" presetClass="entr" presetSubtype="10" fill="hold" nodeType="withEffect">
                                  <p:stCondLst>
                                    <p:cond delay="0"/>
                                  </p:stCondLst>
                                  <p:childTnLst>
                                    <p:set>
                                      <p:cBhvr>
                                        <p:cTn id="12" dur="1" fill="hold">
                                          <p:stCondLst>
                                            <p:cond delay="0"/>
                                          </p:stCondLst>
                                        </p:cTn>
                                        <p:tgtEl>
                                          <p:spTgt spid="289801"/>
                                        </p:tgtEl>
                                        <p:attrNameLst>
                                          <p:attrName>style.visibility</p:attrName>
                                        </p:attrNameLst>
                                      </p:cBhvr>
                                      <p:to>
                                        <p:strVal val="visible"/>
                                      </p:to>
                                    </p:set>
                                    <p:animEffect transition="in" filter="blinds(horizontal)">
                                      <p:cBhvr>
                                        <p:cTn id="13" dur="500"/>
                                        <p:tgtEl>
                                          <p:spTgt spid="28980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89802"/>
                                        </p:tgtEl>
                                        <p:attrNameLst>
                                          <p:attrName>style.visibility</p:attrName>
                                        </p:attrNameLst>
                                      </p:cBhvr>
                                      <p:to>
                                        <p:strVal val="visible"/>
                                      </p:to>
                                    </p:set>
                                    <p:animEffect transition="in" filter="blinds(horizontal)">
                                      <p:cBhvr>
                                        <p:cTn id="16" dur="500"/>
                                        <p:tgtEl>
                                          <p:spTgt spid="289802"/>
                                        </p:tgtEl>
                                      </p:cBhvr>
                                    </p:animEffect>
                                  </p:childTnLst>
                                </p:cTn>
                              </p:par>
                              <p:par>
                                <p:cTn id="17" presetID="3" presetClass="entr" presetSubtype="10" fill="hold" nodeType="withEffect">
                                  <p:stCondLst>
                                    <p:cond delay="0"/>
                                  </p:stCondLst>
                                  <p:childTnLst>
                                    <p:set>
                                      <p:cBhvr>
                                        <p:cTn id="18" dur="1" fill="hold">
                                          <p:stCondLst>
                                            <p:cond delay="0"/>
                                          </p:stCondLst>
                                        </p:cTn>
                                        <p:tgtEl>
                                          <p:spTgt spid="289811"/>
                                        </p:tgtEl>
                                        <p:attrNameLst>
                                          <p:attrName>style.visibility</p:attrName>
                                        </p:attrNameLst>
                                      </p:cBhvr>
                                      <p:to>
                                        <p:strVal val="visible"/>
                                      </p:to>
                                    </p:set>
                                    <p:animEffect transition="in" filter="blinds(horizontal)">
                                      <p:cBhvr>
                                        <p:cTn id="19" dur="500"/>
                                        <p:tgtEl>
                                          <p:spTgt spid="289811"/>
                                        </p:tgtEl>
                                      </p:cBhvr>
                                    </p:animEffect>
                                  </p:childTnLst>
                                </p:cTn>
                              </p:par>
                              <p:par>
                                <p:cTn id="20" presetID="3" presetClass="entr" presetSubtype="10" fill="hold" nodeType="withEffect">
                                  <p:stCondLst>
                                    <p:cond delay="0"/>
                                  </p:stCondLst>
                                  <p:childTnLst>
                                    <p:set>
                                      <p:cBhvr>
                                        <p:cTn id="21" dur="1" fill="hold">
                                          <p:stCondLst>
                                            <p:cond delay="0"/>
                                          </p:stCondLst>
                                        </p:cTn>
                                        <p:tgtEl>
                                          <p:spTgt spid="289812"/>
                                        </p:tgtEl>
                                        <p:attrNameLst>
                                          <p:attrName>style.visibility</p:attrName>
                                        </p:attrNameLst>
                                      </p:cBhvr>
                                      <p:to>
                                        <p:strVal val="visible"/>
                                      </p:to>
                                    </p:set>
                                    <p:animEffect transition="in" filter="blinds(horizontal)">
                                      <p:cBhvr>
                                        <p:cTn id="22" dur="500"/>
                                        <p:tgtEl>
                                          <p:spTgt spid="2898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89813"/>
                                        </p:tgtEl>
                                        <p:attrNameLst>
                                          <p:attrName>style.visibility</p:attrName>
                                        </p:attrNameLst>
                                      </p:cBhvr>
                                      <p:to>
                                        <p:strVal val="visible"/>
                                      </p:to>
                                    </p:set>
                                    <p:animEffect transition="in" filter="blinds(horizontal)">
                                      <p:cBhvr>
                                        <p:cTn id="27" dur="500"/>
                                        <p:tgtEl>
                                          <p:spTgt spid="2898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9814"/>
                                        </p:tgtEl>
                                        <p:attrNameLst>
                                          <p:attrName>style.visibility</p:attrName>
                                        </p:attrNameLst>
                                      </p:cBhvr>
                                      <p:to>
                                        <p:strVal val="visible"/>
                                      </p:to>
                                    </p:set>
                                    <p:animEffect transition="in" filter="wipe(left)">
                                      <p:cBhvr>
                                        <p:cTn id="32" dur="500"/>
                                        <p:tgtEl>
                                          <p:spTgt spid="2898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1204"/>
                                        </p:tgtEl>
                                        <p:attrNameLst>
                                          <p:attrName>style.visibility</p:attrName>
                                        </p:attrNameLst>
                                      </p:cBhvr>
                                      <p:to>
                                        <p:strVal val="visible"/>
                                      </p:to>
                                    </p:set>
                                    <p:animEffect transition="in" filter="blinds(horizontal)">
                                      <p:cBhvr>
                                        <p:cTn id="37" dur="500"/>
                                        <p:tgtEl>
                                          <p:spTgt spid="5120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89815"/>
                                        </p:tgtEl>
                                        <p:attrNameLst>
                                          <p:attrName>style.visibility</p:attrName>
                                        </p:attrNameLst>
                                      </p:cBhvr>
                                      <p:to>
                                        <p:strVal val="visible"/>
                                      </p:to>
                                    </p:set>
                                    <p:animEffect transition="in" filter="blinds(horizontal)">
                                      <p:cBhvr>
                                        <p:cTn id="42" dur="500"/>
                                        <p:tgtEl>
                                          <p:spTgt spid="2898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9818"/>
                                        </p:tgtEl>
                                        <p:attrNameLst>
                                          <p:attrName>style.visibility</p:attrName>
                                        </p:attrNameLst>
                                      </p:cBhvr>
                                      <p:to>
                                        <p:strVal val="visible"/>
                                      </p:to>
                                    </p:set>
                                    <p:animEffect transition="in" filter="wipe(left)">
                                      <p:cBhvr>
                                        <p:cTn id="47" dur="500"/>
                                        <p:tgtEl>
                                          <p:spTgt spid="28981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89817"/>
                                        </p:tgtEl>
                                        <p:attrNameLst>
                                          <p:attrName>style.visibility</p:attrName>
                                        </p:attrNameLst>
                                      </p:cBhvr>
                                      <p:to>
                                        <p:strVal val="visible"/>
                                      </p:to>
                                    </p:set>
                                    <p:animEffect transition="in" filter="blinds(horizontal)">
                                      <p:cBhvr>
                                        <p:cTn id="52" dur="500"/>
                                        <p:tgtEl>
                                          <p:spTgt spid="28981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1210"/>
                                        </p:tgtEl>
                                        <p:attrNameLst>
                                          <p:attrName>style.visibility</p:attrName>
                                        </p:attrNameLst>
                                      </p:cBhvr>
                                      <p:to>
                                        <p:strVal val="visible"/>
                                      </p:to>
                                    </p:set>
                                    <p:animEffect transition="in" filter="blinds(horizontal)">
                                      <p:cBhvr>
                                        <p:cTn id="57" dur="500"/>
                                        <p:tgtEl>
                                          <p:spTgt spid="51210"/>
                                        </p:tgtEl>
                                      </p:cBhvr>
                                    </p:animEffect>
                                  </p:childTnLst>
                                </p:cTn>
                              </p:par>
                              <p:par>
                                <p:cTn id="58" presetID="3" presetClass="entr" presetSubtype="10" fill="hold" nodeType="withEffect">
                                  <p:stCondLst>
                                    <p:cond delay="0"/>
                                  </p:stCondLst>
                                  <p:childTnLst>
                                    <p:set>
                                      <p:cBhvr>
                                        <p:cTn id="59" dur="1" fill="hold">
                                          <p:stCondLst>
                                            <p:cond delay="0"/>
                                          </p:stCondLst>
                                        </p:cTn>
                                        <p:tgtEl>
                                          <p:spTgt spid="51211"/>
                                        </p:tgtEl>
                                        <p:attrNameLst>
                                          <p:attrName>style.visibility</p:attrName>
                                        </p:attrNameLst>
                                      </p:cBhvr>
                                      <p:to>
                                        <p:strVal val="visible"/>
                                      </p:to>
                                    </p:set>
                                    <p:animEffect transition="in" filter="blinds(horizontal)">
                                      <p:cBhvr>
                                        <p:cTn id="60" dur="500"/>
                                        <p:tgtEl>
                                          <p:spTgt spid="51211"/>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289809"/>
                                        </p:tgtEl>
                                        <p:attrNameLst>
                                          <p:attrName>style.visibility</p:attrName>
                                        </p:attrNameLst>
                                      </p:cBhvr>
                                      <p:to>
                                        <p:strVal val="visible"/>
                                      </p:to>
                                    </p:set>
                                    <p:animEffect transition="in" filter="blinds(horizontal)">
                                      <p:cBhvr>
                                        <p:cTn id="65" dur="500"/>
                                        <p:tgtEl>
                                          <p:spTgt spid="289809"/>
                                        </p:tgtEl>
                                      </p:cBhvr>
                                    </p:animEffect>
                                  </p:childTnLst>
                                </p:cTn>
                              </p:par>
                              <p:par>
                                <p:cTn id="66" presetID="3" presetClass="entr" presetSubtype="10" fill="hold" nodeType="withEffect">
                                  <p:stCondLst>
                                    <p:cond delay="0"/>
                                  </p:stCondLst>
                                  <p:childTnLst>
                                    <p:set>
                                      <p:cBhvr>
                                        <p:cTn id="67" dur="1" fill="hold">
                                          <p:stCondLst>
                                            <p:cond delay="0"/>
                                          </p:stCondLst>
                                        </p:cTn>
                                        <p:tgtEl>
                                          <p:spTgt spid="51213"/>
                                        </p:tgtEl>
                                        <p:attrNameLst>
                                          <p:attrName>style.visibility</p:attrName>
                                        </p:attrNameLst>
                                      </p:cBhvr>
                                      <p:to>
                                        <p:strVal val="visible"/>
                                      </p:to>
                                    </p:set>
                                    <p:animEffect transition="in" filter="blinds(horizontal)">
                                      <p:cBhvr>
                                        <p:cTn id="68" dur="500"/>
                                        <p:tgtEl>
                                          <p:spTgt spid="51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00" grpId="0"/>
      <p:bldP spid="289802" grpId="0"/>
      <p:bldP spid="289815" grpId="0"/>
      <p:bldP spid="2898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292867"/>
          <p:cNvSpPr>
            <a:spLocks noChangeArrowheads="1"/>
          </p:cNvSpPr>
          <p:nvPr/>
        </p:nvSpPr>
        <p:spPr bwMode="auto">
          <a:xfrm>
            <a:off x="1331913" y="2076450"/>
            <a:ext cx="63420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Tahoma" panose="020B0604030504040204" pitchFamily="34" charset="0"/>
                <a:ea typeface="黑体" panose="02010609060101010101" pitchFamily="49" charset="-122"/>
              </a:rPr>
              <a:t>三、稳定流动的能量守恒方程 </a:t>
            </a:r>
            <a:endParaRPr lang="zh-CN" altLang="en-US" sz="3600" b="1" dirty="0">
              <a:latin typeface="Tahoma" panose="020B0604030504040204" pitchFamily="34" charset="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218117"/>
          <p:cNvSpPr>
            <a:spLocks noChangeArrowheads="1"/>
          </p:cNvSpPr>
          <p:nvPr/>
        </p:nvSpPr>
        <p:spPr bwMode="auto">
          <a:xfrm>
            <a:off x="4316413" y="742950"/>
            <a:ext cx="4911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黑体" panose="02010609060101010101" pitchFamily="49" charset="-122"/>
                <a:ea typeface="黑体" panose="02010609060101010101" pitchFamily="49" charset="-122"/>
              </a:rPr>
              <a:t>假设质量为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m</a:t>
            </a:r>
            <a:r>
              <a:rPr lang="zh-CN" altLang="en-US" sz="2400" b="1" dirty="0">
                <a:latin typeface="黑体" panose="02010609060101010101" pitchFamily="49" charset="-122"/>
                <a:ea typeface="黑体" panose="02010609060101010101" pitchFamily="49" charset="-122"/>
              </a:rPr>
              <a:t>的流体流过开口系统 </a:t>
            </a:r>
            <a:endParaRPr lang="zh-CN" altLang="en-US" sz="2400" b="1" dirty="0">
              <a:latin typeface="黑体" panose="02010609060101010101" pitchFamily="49" charset="-122"/>
              <a:ea typeface="黑体" panose="02010609060101010101" pitchFamily="49" charset="-122"/>
            </a:endParaRPr>
          </a:p>
        </p:txBody>
      </p:sp>
      <p:graphicFrame>
        <p:nvGraphicFramePr>
          <p:cNvPr id="34819" name="对象 218118"/>
          <p:cNvGraphicFramePr>
            <a:graphicFrameLocks noChangeAspect="1"/>
          </p:cNvGraphicFramePr>
          <p:nvPr/>
        </p:nvGraphicFramePr>
        <p:xfrm>
          <a:off x="4932363" y="1182688"/>
          <a:ext cx="400050" cy="479425"/>
        </p:xfrm>
        <a:graphic>
          <a:graphicData uri="http://schemas.openxmlformats.org/presentationml/2006/ole">
            <mc:AlternateContent xmlns:mc="http://schemas.openxmlformats.org/markup-compatibility/2006">
              <mc:Choice xmlns:v="urn:schemas-microsoft-com:vml" Requires="v">
                <p:oleObj spid="_x0000_s25604" name="" r:id="rId1" imgW="190500" imgH="228600" progId="Equation.DSMT4">
                  <p:embed/>
                </p:oleObj>
              </mc:Choice>
              <mc:Fallback>
                <p:oleObj name="" r:id="rId1" imgW="190500" imgH="228600" progId="Equation.DSMT4">
                  <p:embed/>
                  <p:pic>
                    <p:nvPicPr>
                      <p:cNvPr id="0" name="对象 2181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182688"/>
                        <a:ext cx="4000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0" name="矩形 218121"/>
          <p:cNvSpPr>
            <a:spLocks noChangeArrowheads="1"/>
          </p:cNvSpPr>
          <p:nvPr/>
        </p:nvSpPr>
        <p:spPr bwMode="auto">
          <a:xfrm>
            <a:off x="5227638" y="1204913"/>
            <a:ext cx="23860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黑体" panose="02010609060101010101" pitchFamily="49" charset="-122"/>
                <a:ea typeface="黑体" panose="02010609060101010101" pitchFamily="49" charset="-122"/>
              </a:rPr>
              <a:t>表示质量流量</a:t>
            </a:r>
            <a:endParaRPr lang="zh-CN" altLang="en-US" sz="2400" b="1" dirty="0">
              <a:latin typeface="黑体" panose="02010609060101010101" pitchFamily="49" charset="-122"/>
              <a:ea typeface="黑体" panose="02010609060101010101" pitchFamily="49" charset="-122"/>
            </a:endParaRPr>
          </a:p>
        </p:txBody>
      </p:sp>
      <p:grpSp>
        <p:nvGrpSpPr>
          <p:cNvPr id="34821" name="组合 218127"/>
          <p:cNvGrpSpPr/>
          <p:nvPr/>
        </p:nvGrpSpPr>
        <p:grpSpPr bwMode="auto">
          <a:xfrm>
            <a:off x="804863" y="3100388"/>
            <a:ext cx="7620000" cy="1066800"/>
            <a:chOff x="432" y="1447"/>
            <a:chExt cx="4800" cy="672"/>
          </a:xfrm>
        </p:grpSpPr>
        <p:sp>
          <p:nvSpPr>
            <p:cNvPr id="34828" name="矩形 218128"/>
            <p:cNvSpPr>
              <a:spLocks noChangeArrowheads="1"/>
            </p:cNvSpPr>
            <p:nvPr/>
          </p:nvSpPr>
          <p:spPr bwMode="auto">
            <a:xfrm>
              <a:off x="432" y="1447"/>
              <a:ext cx="120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b="0" dirty="0">
                  <a:latin typeface="Tahoma" panose="020B0604030504040204" pitchFamily="34" charset="0"/>
                  <a:ea typeface="黑体" panose="02010609060101010101" pitchFamily="49" charset="-122"/>
                </a:rPr>
                <a:t>进入系统的能量</a:t>
              </a:r>
              <a:endParaRPr lang="zh-CN" altLang="en-US" b="0" dirty="0">
                <a:latin typeface="Tahoma" panose="020B0604030504040204" pitchFamily="34" charset="0"/>
                <a:ea typeface="黑体" panose="02010609060101010101" pitchFamily="49" charset="-122"/>
              </a:endParaRPr>
            </a:p>
          </p:txBody>
        </p:sp>
        <p:sp>
          <p:nvSpPr>
            <p:cNvPr id="34829" name="矩形 218129"/>
            <p:cNvSpPr>
              <a:spLocks noChangeArrowheads="1"/>
            </p:cNvSpPr>
            <p:nvPr/>
          </p:nvSpPr>
          <p:spPr bwMode="auto">
            <a:xfrm>
              <a:off x="2160" y="1447"/>
              <a:ext cx="115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b="0">
                  <a:latin typeface="Tahoma" panose="020B0604030504040204" pitchFamily="34" charset="0"/>
                  <a:ea typeface="黑体" panose="02010609060101010101" pitchFamily="49" charset="-122"/>
                </a:rPr>
                <a:t>离开系统的能量</a:t>
              </a:r>
              <a:endParaRPr lang="zh-CN" altLang="en-US" b="0">
                <a:latin typeface="Tahoma" panose="020B0604030504040204" pitchFamily="34" charset="0"/>
                <a:ea typeface="黑体" panose="02010609060101010101" pitchFamily="49" charset="-122"/>
              </a:endParaRPr>
            </a:p>
          </p:txBody>
        </p:sp>
        <p:sp>
          <p:nvSpPr>
            <p:cNvPr id="34830" name="矩形 218130"/>
            <p:cNvSpPr>
              <a:spLocks noChangeArrowheads="1"/>
            </p:cNvSpPr>
            <p:nvPr/>
          </p:nvSpPr>
          <p:spPr bwMode="auto">
            <a:xfrm>
              <a:off x="3792" y="1447"/>
              <a:ext cx="144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0">
                  <a:latin typeface="Tahoma" panose="020B0604030504040204" pitchFamily="34" charset="0"/>
                  <a:ea typeface="黑体" panose="02010609060101010101" pitchFamily="49" charset="-122"/>
                </a:rPr>
                <a:t>系统中储存总能的变化</a:t>
              </a:r>
              <a:endParaRPr lang="zh-CN" altLang="en-US" b="0">
                <a:latin typeface="Tahoma" panose="020B0604030504040204" pitchFamily="34" charset="0"/>
                <a:ea typeface="黑体" panose="02010609060101010101" pitchFamily="49" charset="-122"/>
              </a:endParaRPr>
            </a:p>
          </p:txBody>
        </p:sp>
        <p:sp>
          <p:nvSpPr>
            <p:cNvPr id="34831" name="矩形 218131"/>
            <p:cNvSpPr>
              <a:spLocks noChangeArrowheads="1"/>
            </p:cNvSpPr>
            <p:nvPr/>
          </p:nvSpPr>
          <p:spPr bwMode="auto">
            <a:xfrm>
              <a:off x="3360"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0">
                  <a:latin typeface="Tahoma" panose="020B0604030504040204" pitchFamily="34" charset="0"/>
                  <a:ea typeface="黑体" panose="02010609060101010101" pitchFamily="49" charset="-122"/>
                </a:rPr>
                <a:t>＝</a:t>
              </a:r>
              <a:endParaRPr lang="zh-CN" altLang="en-US" sz="2800" b="0">
                <a:latin typeface="Tahoma" panose="020B0604030504040204" pitchFamily="34" charset="0"/>
                <a:ea typeface="黑体" panose="02010609060101010101" pitchFamily="49" charset="-122"/>
              </a:endParaRPr>
            </a:p>
          </p:txBody>
        </p:sp>
        <p:sp>
          <p:nvSpPr>
            <p:cNvPr id="34832" name="矩形 218132"/>
            <p:cNvSpPr>
              <a:spLocks noChangeArrowheads="1"/>
            </p:cNvSpPr>
            <p:nvPr/>
          </p:nvSpPr>
          <p:spPr bwMode="auto">
            <a:xfrm>
              <a:off x="1728"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0">
                  <a:latin typeface="Tahoma" panose="020B0604030504040204" pitchFamily="34" charset="0"/>
                  <a:ea typeface="黑体" panose="02010609060101010101" pitchFamily="49" charset="-122"/>
                </a:rPr>
                <a:t>－</a:t>
              </a:r>
              <a:endParaRPr lang="zh-CN" altLang="en-US" sz="2800" b="0">
                <a:latin typeface="Tahoma" panose="020B0604030504040204" pitchFamily="34" charset="0"/>
                <a:ea typeface="黑体" panose="02010609060101010101" pitchFamily="49" charset="-122"/>
              </a:endParaRPr>
            </a:p>
          </p:txBody>
        </p:sp>
      </p:grpSp>
      <p:sp>
        <p:nvSpPr>
          <p:cNvPr id="34822" name="矩形 218133"/>
          <p:cNvSpPr>
            <a:spLocks noChangeArrowheads="1"/>
          </p:cNvSpPr>
          <p:nvPr/>
        </p:nvSpPr>
        <p:spPr bwMode="auto">
          <a:xfrm>
            <a:off x="881063" y="3024188"/>
            <a:ext cx="7543800" cy="1295400"/>
          </a:xfrm>
          <a:prstGeom prst="rect">
            <a:avLst/>
          </a:prstGeom>
          <a:noFill/>
          <a:ln w="158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4823" name="矩形 218134"/>
          <p:cNvSpPr>
            <a:spLocks noChangeArrowheads="1"/>
          </p:cNvSpPr>
          <p:nvPr/>
        </p:nvSpPr>
        <p:spPr bwMode="auto">
          <a:xfrm>
            <a:off x="1155700" y="5048250"/>
            <a:ext cx="69564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1" dirty="0">
                <a:latin typeface="Tahoma" panose="020B0604030504040204" pitchFamily="34" charset="0"/>
                <a:ea typeface="黑体" panose="02010609060101010101" pitchFamily="49" charset="-122"/>
              </a:rPr>
              <a:t>稳定流动</a:t>
            </a:r>
            <a:r>
              <a:rPr lang="en-US" altLang="zh-CN" b="1" dirty="0">
                <a:latin typeface="黑体" panose="02010609060101010101" pitchFamily="49" charset="-122"/>
                <a:ea typeface="黑体" panose="02010609060101010101" pitchFamily="49" charset="-122"/>
              </a:rPr>
              <a:t>——</a:t>
            </a:r>
            <a:r>
              <a:rPr lang="zh-CN" altLang="en-US" b="1" dirty="0">
                <a:latin typeface="Tahoma" panose="020B0604030504040204" pitchFamily="34" charset="0"/>
                <a:ea typeface="黑体" panose="02010609060101010101" pitchFamily="49" charset="-122"/>
              </a:rPr>
              <a:t>系统储存总能的变化为</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0</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4824" name="矩形 21813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4825" name="矩形 53264"/>
          <p:cNvSpPr>
            <a:spLocks noChangeArrowheads="1"/>
          </p:cNvSpPr>
          <p:nvPr/>
        </p:nvSpPr>
        <p:spPr bwMode="auto">
          <a:xfrm>
            <a:off x="0" y="2581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4" name="上箭头 3"/>
          <p:cNvSpPr/>
          <p:nvPr/>
        </p:nvSpPr>
        <p:spPr>
          <a:xfrm>
            <a:off x="7497763" y="4238625"/>
            <a:ext cx="314325" cy="8096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4827"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 y="477838"/>
            <a:ext cx="4365625" cy="228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组合 208899"/>
          <p:cNvGrpSpPr/>
          <p:nvPr/>
        </p:nvGrpSpPr>
        <p:grpSpPr bwMode="auto">
          <a:xfrm>
            <a:off x="146050" y="444500"/>
            <a:ext cx="7620000" cy="1066800"/>
            <a:chOff x="432" y="1447"/>
            <a:chExt cx="4800" cy="672"/>
          </a:xfrm>
        </p:grpSpPr>
        <p:sp>
          <p:nvSpPr>
            <p:cNvPr id="35857" name="矩形 208900"/>
            <p:cNvSpPr>
              <a:spLocks noChangeArrowheads="1"/>
            </p:cNvSpPr>
            <p:nvPr/>
          </p:nvSpPr>
          <p:spPr bwMode="auto">
            <a:xfrm>
              <a:off x="432" y="1447"/>
              <a:ext cx="1200"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进入系统的能量</a:t>
              </a:r>
              <a:endParaRPr lang="zh-CN" altLang="en-US">
                <a:latin typeface="Tahoma" panose="020B0604030504040204" pitchFamily="34" charset="0"/>
                <a:ea typeface="黑体" panose="02010609060101010101" pitchFamily="49" charset="-122"/>
              </a:endParaRPr>
            </a:p>
          </p:txBody>
        </p:sp>
        <p:sp>
          <p:nvSpPr>
            <p:cNvPr id="35858" name="矩形 208901"/>
            <p:cNvSpPr>
              <a:spLocks noChangeArrowheads="1"/>
            </p:cNvSpPr>
            <p:nvPr/>
          </p:nvSpPr>
          <p:spPr bwMode="auto">
            <a:xfrm>
              <a:off x="2160" y="1447"/>
              <a:ext cx="115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a:latin typeface="Tahoma" panose="020B0604030504040204" pitchFamily="34" charset="0"/>
                  <a:ea typeface="黑体" panose="02010609060101010101" pitchFamily="49" charset="-122"/>
                </a:rPr>
                <a:t>离开系统的能量</a:t>
              </a:r>
              <a:endParaRPr lang="zh-CN" altLang="en-US">
                <a:latin typeface="Tahoma" panose="020B0604030504040204" pitchFamily="34" charset="0"/>
                <a:ea typeface="黑体" panose="02010609060101010101" pitchFamily="49" charset="-122"/>
              </a:endParaRPr>
            </a:p>
          </p:txBody>
        </p:sp>
        <p:sp>
          <p:nvSpPr>
            <p:cNvPr id="35859" name="矩形 208902"/>
            <p:cNvSpPr>
              <a:spLocks noChangeArrowheads="1"/>
            </p:cNvSpPr>
            <p:nvPr/>
          </p:nvSpPr>
          <p:spPr bwMode="auto">
            <a:xfrm>
              <a:off x="3792" y="1584"/>
              <a:ext cx="144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latin typeface="Tahoma" panose="020B0604030504040204" pitchFamily="34" charset="0"/>
                  <a:ea typeface="黑体" panose="02010609060101010101" pitchFamily="49" charset="-122"/>
                </a:rPr>
                <a:t>0</a:t>
              </a:r>
              <a:endParaRPr lang="zh-CN" altLang="en-US">
                <a:latin typeface="Tahoma" panose="020B0604030504040204" pitchFamily="34" charset="0"/>
                <a:ea typeface="黑体" panose="02010609060101010101" pitchFamily="49" charset="-122"/>
              </a:endParaRPr>
            </a:p>
          </p:txBody>
        </p:sp>
        <p:sp>
          <p:nvSpPr>
            <p:cNvPr id="35860" name="矩形 208903"/>
            <p:cNvSpPr>
              <a:spLocks noChangeArrowheads="1"/>
            </p:cNvSpPr>
            <p:nvPr/>
          </p:nvSpPr>
          <p:spPr bwMode="auto">
            <a:xfrm>
              <a:off x="3360"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sp>
          <p:nvSpPr>
            <p:cNvPr id="35861" name="矩形 208904"/>
            <p:cNvSpPr>
              <a:spLocks noChangeArrowheads="1"/>
            </p:cNvSpPr>
            <p:nvPr/>
          </p:nvSpPr>
          <p:spPr bwMode="auto">
            <a:xfrm>
              <a:off x="1728" y="159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Tahoma" panose="020B0604030504040204" pitchFamily="34" charset="0"/>
                  <a:ea typeface="黑体" panose="02010609060101010101" pitchFamily="49" charset="-122"/>
                </a:rPr>
                <a:t>－</a:t>
              </a:r>
              <a:endParaRPr lang="zh-CN" altLang="en-US" sz="2800">
                <a:latin typeface="Tahoma" panose="020B0604030504040204" pitchFamily="34" charset="0"/>
                <a:ea typeface="黑体" panose="02010609060101010101" pitchFamily="49" charset="-122"/>
              </a:endParaRPr>
            </a:p>
          </p:txBody>
        </p:sp>
      </p:grpSp>
      <p:sp>
        <p:nvSpPr>
          <p:cNvPr id="35843" name="矩形 208905"/>
          <p:cNvSpPr>
            <a:spLocks noChangeArrowheads="1"/>
          </p:cNvSpPr>
          <p:nvPr/>
        </p:nvSpPr>
        <p:spPr bwMode="auto">
          <a:xfrm>
            <a:off x="222250" y="368300"/>
            <a:ext cx="5789613" cy="1295400"/>
          </a:xfrm>
          <a:prstGeom prst="rect">
            <a:avLst/>
          </a:prstGeom>
          <a:noFill/>
          <a:ln w="158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44" name="椭圆 208907"/>
          <p:cNvSpPr>
            <a:spLocks noChangeArrowheads="1"/>
          </p:cNvSpPr>
          <p:nvPr/>
        </p:nvSpPr>
        <p:spPr bwMode="auto">
          <a:xfrm>
            <a:off x="-19050" y="188913"/>
            <a:ext cx="5040313" cy="153035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5845" name="组合 4"/>
          <p:cNvGrpSpPr/>
          <p:nvPr/>
        </p:nvGrpSpPr>
        <p:grpSpPr bwMode="auto">
          <a:xfrm>
            <a:off x="530225" y="1473200"/>
            <a:ext cx="793750" cy="1182688"/>
            <a:chOff x="1341946" y="1472487"/>
            <a:chExt cx="793750" cy="1183481"/>
          </a:xfrm>
        </p:grpSpPr>
        <p:sp>
          <p:nvSpPr>
            <p:cNvPr id="35855" name="矩形 208915"/>
            <p:cNvSpPr>
              <a:spLocks noChangeArrowheads="1"/>
            </p:cNvSpPr>
            <p:nvPr/>
          </p:nvSpPr>
          <p:spPr bwMode="auto">
            <a:xfrm>
              <a:off x="1341946" y="2198768"/>
              <a:ext cx="793750" cy="457200"/>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传热</a:t>
              </a:r>
              <a:endParaRPr lang="zh-CN" altLang="en-US" sz="2400">
                <a:latin typeface="Tahoma" panose="020B0604030504040204" pitchFamily="34" charset="0"/>
                <a:ea typeface="黑体" panose="02010609060101010101" pitchFamily="49" charset="-122"/>
              </a:endParaRPr>
            </a:p>
          </p:txBody>
        </p:sp>
        <p:sp>
          <p:nvSpPr>
            <p:cNvPr id="2" name="下箭头 1"/>
            <p:cNvSpPr/>
            <p:nvPr/>
          </p:nvSpPr>
          <p:spPr>
            <a:xfrm>
              <a:off x="1407034" y="1472487"/>
              <a:ext cx="698500" cy="7259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5846" name="组合 5"/>
          <p:cNvGrpSpPr/>
          <p:nvPr/>
        </p:nvGrpSpPr>
        <p:grpSpPr bwMode="auto">
          <a:xfrm>
            <a:off x="2024063" y="1604963"/>
            <a:ext cx="803275" cy="1143000"/>
            <a:chOff x="2834943" y="1604566"/>
            <a:chExt cx="803575" cy="1143139"/>
          </a:xfrm>
        </p:grpSpPr>
        <p:sp>
          <p:nvSpPr>
            <p:cNvPr id="35853" name="矩形 208916"/>
            <p:cNvSpPr>
              <a:spLocks noChangeArrowheads="1"/>
            </p:cNvSpPr>
            <p:nvPr/>
          </p:nvSpPr>
          <p:spPr bwMode="auto">
            <a:xfrm>
              <a:off x="2834943" y="2286000"/>
              <a:ext cx="803575" cy="461705"/>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作功</a:t>
              </a:r>
              <a:endParaRPr lang="zh-CN" altLang="en-US" sz="2400">
                <a:latin typeface="Tahoma" panose="020B0604030504040204" pitchFamily="34" charset="0"/>
                <a:ea typeface="黑体" panose="02010609060101010101" pitchFamily="49" charset="-122"/>
              </a:endParaRPr>
            </a:p>
          </p:txBody>
        </p:sp>
        <p:sp>
          <p:nvSpPr>
            <p:cNvPr id="20" name="下箭头 19"/>
            <p:cNvSpPr/>
            <p:nvPr/>
          </p:nvSpPr>
          <p:spPr>
            <a:xfrm>
              <a:off x="2930229" y="1604566"/>
              <a:ext cx="698761" cy="7255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5847" name="组合 6"/>
          <p:cNvGrpSpPr/>
          <p:nvPr/>
        </p:nvGrpSpPr>
        <p:grpSpPr bwMode="auto">
          <a:xfrm>
            <a:off x="3184525" y="1535113"/>
            <a:ext cx="1790700" cy="1511300"/>
            <a:chOff x="3995738" y="1535509"/>
            <a:chExt cx="1790083" cy="1510904"/>
          </a:xfrm>
        </p:grpSpPr>
        <p:sp>
          <p:nvSpPr>
            <p:cNvPr id="35851" name="矩形 208917"/>
            <p:cNvSpPr>
              <a:spLocks noChangeArrowheads="1"/>
            </p:cNvSpPr>
            <p:nvPr/>
          </p:nvSpPr>
          <p:spPr bwMode="auto">
            <a:xfrm>
              <a:off x="3995738" y="2215416"/>
              <a:ext cx="1790083" cy="830997"/>
            </a:xfrm>
            <a:prstGeom prst="rect">
              <a:avLst/>
            </a:prstGeom>
            <a:noFill/>
            <a:ln w="127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ahoma" panose="020B0604030504040204" pitchFamily="34" charset="0"/>
                  <a:ea typeface="黑体" panose="02010609060101010101" pitchFamily="49" charset="-122"/>
                </a:rPr>
                <a:t>质量流动所携带的能量</a:t>
              </a:r>
              <a:endParaRPr lang="zh-CN" altLang="en-US" sz="2400">
                <a:latin typeface="Tahoma" panose="020B0604030504040204" pitchFamily="34" charset="0"/>
                <a:ea typeface="黑体" panose="02010609060101010101" pitchFamily="49" charset="-122"/>
              </a:endParaRPr>
            </a:p>
          </p:txBody>
        </p:sp>
        <p:sp>
          <p:nvSpPr>
            <p:cNvPr id="21" name="下箭头 20"/>
            <p:cNvSpPr/>
            <p:nvPr/>
          </p:nvSpPr>
          <p:spPr>
            <a:xfrm>
              <a:off x="4392476" y="1535509"/>
              <a:ext cx="696673" cy="7268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35848" name="矩形 23"/>
          <p:cNvSpPr>
            <a:spLocks noChangeArrowheads="1"/>
          </p:cNvSpPr>
          <p:nvPr/>
        </p:nvSpPr>
        <p:spPr bwMode="auto">
          <a:xfrm>
            <a:off x="512763" y="4424363"/>
            <a:ext cx="8585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黑体" panose="02010609060101010101" pitchFamily="49" charset="-122"/>
                <a:ea typeface="黑体" panose="02010609060101010101" pitchFamily="49" charset="-122"/>
              </a:rPr>
              <a:t>与闭口系不同，开口系与外界交换能量的方式有三种：</a:t>
            </a:r>
            <a:endParaRPr lang="zh-CN" altLang="en-US" sz="2400" b="1" dirty="0">
              <a:latin typeface="黑体" panose="02010609060101010101" pitchFamily="49" charset="-122"/>
              <a:ea typeface="黑体" panose="02010609060101010101" pitchFamily="49" charset="-122"/>
            </a:endParaRPr>
          </a:p>
          <a:p>
            <a:pPr>
              <a:spcBef>
                <a:spcPct val="0"/>
              </a:spcBef>
              <a:buFontTx/>
              <a:buNone/>
            </a:pP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、热量交换；</a:t>
            </a: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、功量交换；</a:t>
            </a:r>
            <a:r>
              <a:rPr lang="en-US" altLang="zh-CN" sz="2400" b="1" dirty="0">
                <a:solidFill>
                  <a:srgbClr val="FF0000"/>
                </a:solidFill>
                <a:latin typeface="黑体" panose="02010609060101010101" pitchFamily="49" charset="-122"/>
                <a:ea typeface="黑体" panose="02010609060101010101" pitchFamily="49" charset="-122"/>
              </a:rPr>
              <a:t>3</a:t>
            </a:r>
            <a:r>
              <a:rPr lang="zh-CN" altLang="en-US" sz="2400" b="1" dirty="0">
                <a:solidFill>
                  <a:srgbClr val="FF0000"/>
                </a:solidFill>
                <a:latin typeface="黑体" panose="02010609060101010101" pitchFamily="49" charset="-122"/>
                <a:ea typeface="黑体" panose="02010609060101010101" pitchFamily="49" charset="-122"/>
              </a:rPr>
              <a:t>、随质量进、出的能量迁移 </a:t>
            </a:r>
            <a:endParaRPr lang="zh-CN" altLang="en-US" sz="2400" b="1" dirty="0">
              <a:solidFill>
                <a:srgbClr val="FF0000"/>
              </a:solidFill>
              <a:latin typeface="黑体" panose="02010609060101010101" pitchFamily="49" charset="-122"/>
              <a:ea typeface="黑体" panose="02010609060101010101" pitchFamily="49" charset="-122"/>
            </a:endParaRPr>
          </a:p>
        </p:txBody>
      </p:sp>
      <p:graphicFrame>
        <p:nvGraphicFramePr>
          <p:cNvPr id="35849" name="对象 54278"/>
          <p:cNvGraphicFramePr/>
          <p:nvPr/>
        </p:nvGraphicFramePr>
        <p:xfrm>
          <a:off x="1033463" y="5549900"/>
          <a:ext cx="6615112" cy="925513"/>
        </p:xfrm>
        <a:graphic>
          <a:graphicData uri="http://schemas.openxmlformats.org/presentationml/2006/ole">
            <mc:AlternateContent xmlns:mc="http://schemas.openxmlformats.org/markup-compatibility/2006">
              <mc:Choice xmlns:v="urn:schemas-microsoft-com:vml" Requires="v">
                <p:oleObj spid="_x0000_s26628" name="" r:id="rId1" imgW="2794000" imgH="393700" progId="Equation.DSMT4">
                  <p:embed/>
                </p:oleObj>
              </mc:Choice>
              <mc:Fallback>
                <p:oleObj name="" r:id="rId1" imgW="2794000" imgH="393700" progId="Equation.DSMT4">
                  <p:embed/>
                  <p:pic>
                    <p:nvPicPr>
                      <p:cNvPr id="0" name="对象 5427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63" y="5549900"/>
                        <a:ext cx="6615112"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5850"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5363" y="1952625"/>
            <a:ext cx="43656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4"/>
    </p:custData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22213"/>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6867" name="矩形 22221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6868" name="对象 222216"/>
          <p:cNvGraphicFramePr/>
          <p:nvPr/>
        </p:nvGraphicFramePr>
        <p:xfrm>
          <a:off x="752475" y="2259013"/>
          <a:ext cx="2943225" cy="1009650"/>
        </p:xfrm>
        <a:graphic>
          <a:graphicData uri="http://schemas.openxmlformats.org/presentationml/2006/ole">
            <mc:AlternateContent xmlns:mc="http://schemas.openxmlformats.org/markup-compatibility/2006">
              <mc:Choice xmlns:v="urn:schemas-microsoft-com:vml" Requires="v">
                <p:oleObj spid="_x0000_s27660" name="" r:id="rId1" imgW="1383665" imgH="482600" progId="Equation.DSMT4">
                  <p:embed/>
                </p:oleObj>
              </mc:Choice>
              <mc:Fallback>
                <p:oleObj name="" r:id="rId1" imgW="1383665" imgH="482600" progId="Equation.DSMT4">
                  <p:embed/>
                  <p:pic>
                    <p:nvPicPr>
                      <p:cNvPr id="0" name="对象 2222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75" y="2259013"/>
                        <a:ext cx="294322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9" name="矩形 222218"/>
          <p:cNvSpPr>
            <a:spLocks noChangeArrowheads="1"/>
          </p:cNvSpPr>
          <p:nvPr/>
        </p:nvSpPr>
        <p:spPr bwMode="auto">
          <a:xfrm>
            <a:off x="701675" y="2195513"/>
            <a:ext cx="3105150" cy="1143000"/>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6870" name="直接连接符 222219"/>
          <p:cNvSpPr>
            <a:spLocks noChangeShapeType="1"/>
          </p:cNvSpPr>
          <p:nvPr/>
        </p:nvSpPr>
        <p:spPr bwMode="auto">
          <a:xfrm flipV="1">
            <a:off x="3695700" y="1427163"/>
            <a:ext cx="700088" cy="76835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1" name="矩形 22222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6872" name="矩形 222222"/>
          <p:cNvSpPr>
            <a:spLocks noChangeArrowheads="1"/>
          </p:cNvSpPr>
          <p:nvPr/>
        </p:nvSpPr>
        <p:spPr bwMode="auto">
          <a:xfrm>
            <a:off x="341313" y="4737100"/>
            <a:ext cx="858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latin typeface="黑体" panose="02010609060101010101" pitchFamily="49" charset="-122"/>
                <a:ea typeface="黑体" panose="02010609060101010101" pitchFamily="49" charset="-122"/>
              </a:rPr>
              <a:t>单股进、单股出：</a:t>
            </a:r>
            <a:endParaRPr lang="zh-CN" altLang="en-US" sz="2400">
              <a:solidFill>
                <a:srgbClr val="FF0000"/>
              </a:solidFill>
              <a:latin typeface="黑体" panose="02010609060101010101" pitchFamily="49" charset="-122"/>
              <a:ea typeface="黑体" panose="02010609060101010101" pitchFamily="49" charset="-122"/>
            </a:endParaRPr>
          </a:p>
        </p:txBody>
      </p:sp>
      <p:sp>
        <p:nvSpPr>
          <p:cNvPr id="36873" name="矩形 22222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6874" name="矩形 22222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6875" name="对象 222225"/>
          <p:cNvGraphicFramePr/>
          <p:nvPr/>
        </p:nvGraphicFramePr>
        <p:xfrm>
          <a:off x="1781175" y="5499100"/>
          <a:ext cx="5654675" cy="850900"/>
        </p:xfrm>
        <a:graphic>
          <a:graphicData uri="http://schemas.openxmlformats.org/presentationml/2006/ole">
            <mc:AlternateContent xmlns:mc="http://schemas.openxmlformats.org/markup-compatibility/2006">
              <mc:Choice xmlns:v="urn:schemas-microsoft-com:vml" Requires="v">
                <p:oleObj spid="_x0000_s27661" name="" r:id="rId3" imgW="2843530" imgH="431800" progId="Equation.DSMT4">
                  <p:embed/>
                </p:oleObj>
              </mc:Choice>
              <mc:Fallback>
                <p:oleObj name="" r:id="rId3" imgW="2843530" imgH="431800" progId="Equation.DSMT4">
                  <p:embed/>
                  <p:pic>
                    <p:nvPicPr>
                      <p:cNvPr id="0" name="对象 22222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1175" y="5499100"/>
                        <a:ext cx="565467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876" name="对象 55310"/>
          <p:cNvGraphicFramePr/>
          <p:nvPr/>
        </p:nvGraphicFramePr>
        <p:xfrm>
          <a:off x="1241425" y="458788"/>
          <a:ext cx="6615113" cy="925512"/>
        </p:xfrm>
        <a:graphic>
          <a:graphicData uri="http://schemas.openxmlformats.org/presentationml/2006/ole">
            <mc:AlternateContent xmlns:mc="http://schemas.openxmlformats.org/markup-compatibility/2006">
              <mc:Choice xmlns:v="urn:schemas-microsoft-com:vml" Requires="v">
                <p:oleObj spid="_x0000_s27662" name="" r:id="rId5" imgW="2794000" imgH="393700" progId="Equation.DSMT4">
                  <p:embed/>
                </p:oleObj>
              </mc:Choice>
              <mc:Fallback>
                <p:oleObj name="" r:id="rId5" imgW="2794000" imgH="393700" progId="Equation.DSMT4">
                  <p:embed/>
                  <p:pic>
                    <p:nvPicPr>
                      <p:cNvPr id="0" name="对象 5531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1425" y="458788"/>
                        <a:ext cx="6615113"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77" name="矩形 55312"/>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6878" name="对象 55311"/>
          <p:cNvGraphicFramePr/>
          <p:nvPr/>
        </p:nvGraphicFramePr>
        <p:xfrm>
          <a:off x="701675" y="3563938"/>
          <a:ext cx="7902575" cy="957262"/>
        </p:xfrm>
        <a:graphic>
          <a:graphicData uri="http://schemas.openxmlformats.org/presentationml/2006/ole">
            <mc:AlternateContent xmlns:mc="http://schemas.openxmlformats.org/markup-compatibility/2006">
              <mc:Choice xmlns:v="urn:schemas-microsoft-com:vml" Requires="v">
                <p:oleObj spid="_x0000_s27663" name="" r:id="rId7" imgW="3695700" imgH="444500" progId="Equation.DSMT4">
                  <p:embed/>
                </p:oleObj>
              </mc:Choice>
              <mc:Fallback>
                <p:oleObj name="" r:id="rId7" imgW="3695700" imgH="444500" progId="Equation.DSMT4">
                  <p:embed/>
                  <p:pic>
                    <p:nvPicPr>
                      <p:cNvPr id="0" name="对象 553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675" y="3563938"/>
                        <a:ext cx="7902575"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79" name="矩形 5531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6880" name="对象 55313"/>
          <p:cNvGraphicFramePr/>
          <p:nvPr/>
        </p:nvGraphicFramePr>
        <p:xfrm>
          <a:off x="3041650" y="4689475"/>
          <a:ext cx="2457450" cy="549275"/>
        </p:xfrm>
        <a:graphic>
          <a:graphicData uri="http://schemas.openxmlformats.org/presentationml/2006/ole">
            <mc:AlternateContent xmlns:mc="http://schemas.openxmlformats.org/markup-compatibility/2006">
              <mc:Choice xmlns:v="urn:schemas-microsoft-com:vml" Requires="v">
                <p:oleObj spid="_x0000_s27664" name="" r:id="rId9" imgW="1066800" imgH="241300" progId="Equation.DSMT4">
                  <p:embed/>
                </p:oleObj>
              </mc:Choice>
              <mc:Fallback>
                <p:oleObj name="" r:id="rId9" imgW="1066800" imgH="241300" progId="Equation.DSMT4">
                  <p:embed/>
                  <p:pic>
                    <p:nvPicPr>
                      <p:cNvPr id="0" name="对象 5531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1650" y="4689475"/>
                        <a:ext cx="24574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288770"/>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7891" name="对象 288771"/>
          <p:cNvGraphicFramePr/>
          <p:nvPr/>
        </p:nvGraphicFramePr>
        <p:xfrm>
          <a:off x="341313" y="1466850"/>
          <a:ext cx="5310187" cy="836613"/>
        </p:xfrm>
        <a:graphic>
          <a:graphicData uri="http://schemas.openxmlformats.org/presentationml/2006/ole">
            <mc:AlternateContent xmlns:mc="http://schemas.openxmlformats.org/markup-compatibility/2006">
              <mc:Choice xmlns:v="urn:schemas-microsoft-com:vml" Requires="v">
                <p:oleObj spid="_x0000_s28682" name="" r:id="rId1" imgW="2476500" imgH="393700" progId="Equation.DSMT4">
                  <p:embed/>
                </p:oleObj>
              </mc:Choice>
              <mc:Fallback>
                <p:oleObj name="" r:id="rId1" imgW="2476500" imgH="393700" progId="Equation.DSMT4">
                  <p:embed/>
                  <p:pic>
                    <p:nvPicPr>
                      <p:cNvPr id="0" name="对象 28877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3" y="1466850"/>
                        <a:ext cx="5310187"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2" name="下箭头 288772"/>
          <p:cNvSpPr>
            <a:spLocks noChangeArrowheads="1"/>
          </p:cNvSpPr>
          <p:nvPr/>
        </p:nvSpPr>
        <p:spPr bwMode="auto">
          <a:xfrm>
            <a:off x="2997200" y="1179513"/>
            <a:ext cx="134938" cy="315912"/>
          </a:xfrm>
          <a:prstGeom prst="downArrow">
            <a:avLst>
              <a:gd name="adj1" fmla="val 50000"/>
              <a:gd name="adj2" fmla="val 58486"/>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pSp>
        <p:nvGrpSpPr>
          <p:cNvPr id="37893" name="组合 288773"/>
          <p:cNvGrpSpPr/>
          <p:nvPr/>
        </p:nvGrpSpPr>
        <p:grpSpPr bwMode="auto">
          <a:xfrm>
            <a:off x="971550" y="1044575"/>
            <a:ext cx="2520950" cy="461963"/>
            <a:chOff x="1179" y="796"/>
            <a:chExt cx="1588" cy="291"/>
          </a:xfrm>
        </p:grpSpPr>
        <p:sp>
          <p:nvSpPr>
            <p:cNvPr id="37901" name="矩形 288774"/>
            <p:cNvSpPr>
              <a:spLocks noChangeArrowheads="1"/>
            </p:cNvSpPr>
            <p:nvPr/>
          </p:nvSpPr>
          <p:spPr bwMode="auto">
            <a:xfrm>
              <a:off x="1179" y="799"/>
              <a:ext cx="15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楷体_GB2312" pitchFamily="49" charset="-122"/>
                  <a:ea typeface="楷体_GB2312" pitchFamily="49" charset="-122"/>
                </a:rPr>
                <a:t>同时除以</a:t>
              </a:r>
              <a:endParaRPr lang="zh-CN" altLang="en-US" sz="2400" b="1" dirty="0">
                <a:solidFill>
                  <a:srgbClr val="FF0000"/>
                </a:solidFill>
                <a:latin typeface="楷体_GB2312" pitchFamily="49" charset="-122"/>
                <a:ea typeface="楷体_GB2312" pitchFamily="49" charset="-122"/>
              </a:endParaRPr>
            </a:p>
          </p:txBody>
        </p:sp>
        <p:graphicFrame>
          <p:nvGraphicFramePr>
            <p:cNvPr id="37902" name="对象 288775"/>
            <p:cNvGraphicFramePr/>
            <p:nvPr/>
          </p:nvGraphicFramePr>
          <p:xfrm>
            <a:off x="1985" y="796"/>
            <a:ext cx="243" cy="290"/>
          </p:xfrm>
          <a:graphic>
            <a:graphicData uri="http://schemas.openxmlformats.org/presentationml/2006/ole">
              <mc:AlternateContent xmlns:mc="http://schemas.openxmlformats.org/markup-compatibility/2006">
                <mc:Choice xmlns:v="urn:schemas-microsoft-com:vml" Requires="v">
                  <p:oleObj spid="_x0000_s28683" name="" r:id="rId3" imgW="190500" imgH="228600" progId="Equation.DSMT4">
                    <p:embed/>
                  </p:oleObj>
                </mc:Choice>
                <mc:Fallback>
                  <p:oleObj name="" r:id="rId3" imgW="190500" imgH="228600" progId="Equation.DSMT4">
                    <p:embed/>
                    <p:pic>
                      <p:nvPicPr>
                        <p:cNvPr id="0" name="对象 2887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5" y="796"/>
                          <a:ext cx="2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7894" name="矩形 28877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7895" name="对象 288777"/>
          <p:cNvGraphicFramePr/>
          <p:nvPr/>
        </p:nvGraphicFramePr>
        <p:xfrm>
          <a:off x="161925" y="2528888"/>
          <a:ext cx="5849938" cy="790575"/>
        </p:xfrm>
        <a:graphic>
          <a:graphicData uri="http://schemas.openxmlformats.org/presentationml/2006/ole">
            <mc:AlternateContent xmlns:mc="http://schemas.openxmlformats.org/markup-compatibility/2006">
              <mc:Choice xmlns:v="urn:schemas-microsoft-com:vml" Requires="v">
                <p:oleObj spid="_x0000_s28684" name="" r:id="rId5" imgW="2882900" imgH="393700" progId="Equation.DSMT4">
                  <p:embed/>
                </p:oleObj>
              </mc:Choice>
              <mc:Fallback>
                <p:oleObj name="" r:id="rId5" imgW="2882900" imgH="393700" progId="Equation.DSMT4">
                  <p:embed/>
                  <p:pic>
                    <p:nvPicPr>
                      <p:cNvPr id="0" name="对象 28877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 y="2528888"/>
                        <a:ext cx="58499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6" name="下箭头 288779"/>
          <p:cNvSpPr>
            <a:spLocks noChangeArrowheads="1"/>
          </p:cNvSpPr>
          <p:nvPr/>
        </p:nvSpPr>
        <p:spPr bwMode="auto">
          <a:xfrm>
            <a:off x="2995613" y="2276475"/>
            <a:ext cx="134937" cy="360363"/>
          </a:xfrm>
          <a:prstGeom prst="downArrow">
            <a:avLst>
              <a:gd name="adj1" fmla="val 50000"/>
              <a:gd name="adj2" fmla="val 66716"/>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288787" name="矩形 288786"/>
          <p:cNvSpPr>
            <a:spLocks noChangeArrowheads="1"/>
          </p:cNvSpPr>
          <p:nvPr/>
        </p:nvSpPr>
        <p:spPr bwMode="auto">
          <a:xfrm>
            <a:off x="385763" y="3456494"/>
            <a:ext cx="841692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solidFill>
                  <a:srgbClr val="D60093"/>
                </a:solidFill>
                <a:latin typeface="楷体_GB2312" pitchFamily="49" charset="-122"/>
                <a:ea typeface="楷体_GB2312" pitchFamily="49" charset="-122"/>
              </a:rPr>
              <a:t>说明</a:t>
            </a:r>
            <a:r>
              <a:rPr lang="en-US" altLang="zh-CN" sz="2400" b="1" dirty="0">
                <a:solidFill>
                  <a:srgbClr val="D60093"/>
                </a:solidFill>
                <a:latin typeface="楷体_GB2312" pitchFamily="49" charset="-122"/>
                <a:ea typeface="楷体_GB2312" pitchFamily="49" charset="-122"/>
              </a:rPr>
              <a:t>1</a:t>
            </a:r>
            <a:endParaRPr lang="en-US" altLang="zh-CN" sz="2400" b="1" dirty="0">
              <a:solidFill>
                <a:srgbClr val="D60093"/>
              </a:solidFill>
              <a:latin typeface="楷体_GB2312" pitchFamily="49" charset="-122"/>
              <a:ea typeface="楷体_GB2312" pitchFamily="49" charset="-122"/>
            </a:endParaRPr>
          </a:p>
          <a:p>
            <a:pPr>
              <a:spcBef>
                <a:spcPct val="0"/>
              </a:spcBef>
              <a:buFontTx/>
              <a:buNone/>
            </a:pP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开口系（即控制体积）通过边界与外界交换的净热量</a:t>
            </a:r>
            <a:endParaRPr lang="zh-CN" altLang="en-US" sz="2400" b="1" dirty="0">
              <a:latin typeface="Times New Roman" panose="02020603050405020304" pitchFamily="18" charset="0"/>
            </a:endParaRPr>
          </a:p>
          <a:p>
            <a:pPr>
              <a:spcBef>
                <a:spcPct val="0"/>
              </a:spcBef>
              <a:buFontTx/>
              <a:buNone/>
            </a:pPr>
            <a:r>
              <a:rPr lang="en-US" altLang="zh-CN" sz="2400" b="1" i="1" dirty="0">
                <a:latin typeface="Times New Roman" panose="02020603050405020304" pitchFamily="18" charset="0"/>
              </a:rPr>
              <a:t>W</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开口系通过边界与外界交换的净功量</a:t>
            </a:r>
            <a:endParaRPr lang="zh-CN" altLang="en-US" sz="2400" b="1" dirty="0">
              <a:latin typeface="Times New Roman" panose="02020603050405020304" pitchFamily="18" charset="0"/>
            </a:endParaRPr>
          </a:p>
          <a:p>
            <a:pPr>
              <a:spcBef>
                <a:spcPct val="0"/>
              </a:spcBef>
              <a:buFontTx/>
              <a:buNone/>
            </a:pPr>
            <a:r>
              <a:rPr lang="en-US" altLang="zh-CN" sz="2400" b="1" i="1" dirty="0">
                <a:latin typeface="Times New Roman" panose="02020603050405020304" pitchFamily="18" charset="0"/>
              </a:rPr>
              <a:t>q</a:t>
            </a:r>
            <a:r>
              <a:rPr lang="zh-CN" altLang="en-US" sz="2400" b="1" dirty="0">
                <a:latin typeface="Times New Roman" panose="02020603050405020304" pitchFamily="18" charset="0"/>
              </a:rPr>
              <a:t>和</a:t>
            </a:r>
            <a:r>
              <a:rPr lang="en-US" altLang="zh-CN" sz="2400" b="1" i="1" dirty="0">
                <a:latin typeface="Times New Roman" panose="02020603050405020304" pitchFamily="18" charset="0"/>
              </a:rPr>
              <a:t>w</a:t>
            </a:r>
            <a:r>
              <a:rPr lang="zh-CN" altLang="en-US" sz="2400" b="1" dirty="0">
                <a:latin typeface="Times New Roman" panose="02020603050405020304" pitchFamily="18" charset="0"/>
              </a:rPr>
              <a:t>并不是以控制体积内的质量为标准，而是以流入或流出控制体积的工质质量为标准 </a:t>
            </a:r>
            <a:endParaRPr lang="zh-CN" altLang="en-US" sz="2400" b="1" dirty="0">
              <a:latin typeface="Times New Roman" panose="02020603050405020304" pitchFamily="18" charset="0"/>
            </a:endParaRPr>
          </a:p>
          <a:p>
            <a:pPr>
              <a:spcBef>
                <a:spcPct val="0"/>
              </a:spcBef>
              <a:buFontTx/>
              <a:buNone/>
            </a:pPr>
            <a:r>
              <a:rPr lang="zh-CN" altLang="en-US" sz="2400" b="1" dirty="0">
                <a:latin typeface="Times New Roman" panose="02020603050405020304" pitchFamily="18" charset="0"/>
              </a:rPr>
              <a:t>即</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净热量</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控制体的质量，</a:t>
            </a:r>
            <a:r>
              <a:rPr lang="en-US" altLang="zh-CN" sz="2400" b="1" i="1" dirty="0">
                <a:latin typeface="Times New Roman" panose="02020603050405020304" pitchFamily="18" charset="0"/>
              </a:rPr>
              <a:t>w</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净功量</a:t>
            </a:r>
            <a:r>
              <a:rPr lang="en-US" altLang="zh-CN" sz="2400" b="1" i="1" dirty="0">
                <a:latin typeface="Times New Roman" panose="02020603050405020304" pitchFamily="18" charset="0"/>
              </a:rPr>
              <a:t>W</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控制体的质量，而应为：</a:t>
            </a:r>
            <a:r>
              <a:rPr lang="en-US" altLang="zh-CN" sz="2400" b="1" i="1" dirty="0">
                <a:latin typeface="Times New Roman" panose="02020603050405020304" pitchFamily="18" charset="0"/>
              </a:rPr>
              <a:t>q</a:t>
            </a:r>
            <a:r>
              <a:rPr lang="zh-CN" altLang="en-US" sz="2400" b="1" dirty="0">
                <a:latin typeface="Times New Roman" panose="02020603050405020304" pitchFamily="18" charset="0"/>
              </a:rPr>
              <a:t>＝净热量</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流经开口系的质量，</a:t>
            </a:r>
            <a:r>
              <a:rPr lang="en-US" altLang="zh-CN" sz="2400" b="1" i="1" dirty="0">
                <a:latin typeface="Times New Roman" panose="02020603050405020304" pitchFamily="18" charset="0"/>
              </a:rPr>
              <a:t>w</a:t>
            </a:r>
            <a:r>
              <a:rPr lang="zh-CN" altLang="en-US" sz="2400" b="1" dirty="0">
                <a:latin typeface="Times New Roman" panose="02020603050405020304" pitchFamily="18" charset="0"/>
              </a:rPr>
              <a:t>＝净功量</a:t>
            </a:r>
            <a:r>
              <a:rPr lang="en-US" altLang="zh-CN" sz="2400" b="1" i="1" dirty="0">
                <a:latin typeface="Times New Roman" panose="02020603050405020304" pitchFamily="18" charset="0"/>
              </a:rPr>
              <a:t>W</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流经开口系的质量</a:t>
            </a:r>
            <a:r>
              <a:rPr lang="zh-CN" altLang="en-US" sz="1800" b="1" dirty="0">
                <a:latin typeface="Times New Roman" panose="02020603050405020304" pitchFamily="18" charset="0"/>
              </a:rPr>
              <a:t> </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graphicFrame>
        <p:nvGraphicFramePr>
          <p:cNvPr id="37898" name="对象 222225"/>
          <p:cNvGraphicFramePr/>
          <p:nvPr/>
        </p:nvGraphicFramePr>
        <p:xfrm>
          <a:off x="296863" y="368300"/>
          <a:ext cx="5265737" cy="715963"/>
        </p:xfrm>
        <a:graphic>
          <a:graphicData uri="http://schemas.openxmlformats.org/presentationml/2006/ole">
            <mc:AlternateContent xmlns:mc="http://schemas.openxmlformats.org/markup-compatibility/2006">
              <mc:Choice xmlns:v="urn:schemas-microsoft-com:vml" Requires="v">
                <p:oleObj spid="_x0000_s28685" name="" r:id="rId7" imgW="2843530" imgH="431800" progId="Equation.DSMT4">
                  <p:embed/>
                </p:oleObj>
              </mc:Choice>
              <mc:Fallback>
                <p:oleObj name="" r:id="rId7" imgW="2843530" imgH="431800" progId="Equation.DSMT4">
                  <p:embed/>
                  <p:pic>
                    <p:nvPicPr>
                      <p:cNvPr id="0" name="对象 22222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863" y="368300"/>
                        <a:ext cx="5265737"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7899" name="图片 15"/>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870450" y="944563"/>
            <a:ext cx="43656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0" name="矩形 288778"/>
          <p:cNvSpPr>
            <a:spLocks noChangeArrowheads="1"/>
          </p:cNvSpPr>
          <p:nvPr/>
        </p:nvSpPr>
        <p:spPr bwMode="auto">
          <a:xfrm>
            <a:off x="2095500" y="2187575"/>
            <a:ext cx="139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i="1">
                <a:latin typeface="Times New Roman" panose="02020603050405020304" pitchFamily="18" charset="0"/>
                <a:ea typeface="楷体_GB2312" pitchFamily="49" charset="-122"/>
              </a:rPr>
              <a:t>m </a:t>
            </a:r>
            <a:r>
              <a:rPr lang="en-US" altLang="zh-CN" sz="2400">
                <a:latin typeface="Times New Roman" panose="02020603050405020304" pitchFamily="18" charset="0"/>
                <a:ea typeface="楷体_GB2312" pitchFamily="49" charset="-122"/>
                <a:cs typeface="Times New Roman" panose="02020603050405020304" pitchFamily="18" charset="0"/>
              </a:rPr>
              <a:t>kg</a:t>
            </a:r>
            <a:endParaRPr lang="en-US" altLang="zh-CN" sz="240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Tree>
    <p:custDataLst>
      <p:tags r:id="rId10"/>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8787"/>
                                        </p:tgtEl>
                                        <p:attrNameLst>
                                          <p:attrName>style.visibility</p:attrName>
                                        </p:attrNameLst>
                                      </p:cBhvr>
                                      <p:to>
                                        <p:strVal val="visible"/>
                                      </p:to>
                                    </p:set>
                                    <p:animEffect transition="in" filter="blinds(horizontal)">
                                      <p:cBhvr>
                                        <p:cTn id="7" dur="500"/>
                                        <p:tgtEl>
                                          <p:spTgt spid="28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8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223237"/>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38915" name="矩形 223243"/>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38916" name="对象 223242"/>
          <p:cNvGraphicFramePr/>
          <p:nvPr/>
        </p:nvGraphicFramePr>
        <p:xfrm>
          <a:off x="1601788" y="188913"/>
          <a:ext cx="5849937" cy="790575"/>
        </p:xfrm>
        <a:graphic>
          <a:graphicData uri="http://schemas.openxmlformats.org/presentationml/2006/ole">
            <mc:AlternateContent xmlns:mc="http://schemas.openxmlformats.org/markup-compatibility/2006">
              <mc:Choice xmlns:v="urn:schemas-microsoft-com:vml" Requires="v">
                <p:oleObj spid="_x0000_s29700" name="" r:id="rId1" imgW="2882900" imgH="393700" progId="Equation.DSMT4">
                  <p:embed/>
                </p:oleObj>
              </mc:Choice>
              <mc:Fallback>
                <p:oleObj name="" r:id="rId1" imgW="2882900" imgH="393700" progId="Equation.DSMT4">
                  <p:embed/>
                  <p:pic>
                    <p:nvPicPr>
                      <p:cNvPr id="0" name="对象 22324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788" y="188913"/>
                        <a:ext cx="5849937"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3249" name="矩形 223248"/>
          <p:cNvSpPr>
            <a:spLocks noChangeArrowheads="1"/>
          </p:cNvSpPr>
          <p:nvPr/>
        </p:nvSpPr>
        <p:spPr bwMode="auto">
          <a:xfrm>
            <a:off x="522288" y="4988352"/>
            <a:ext cx="75152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dirty="0">
                <a:latin typeface="Times New Roman" panose="02020603050405020304" pitchFamily="18" charset="0"/>
                <a:ea typeface="楷体_GB2312" pitchFamily="49" charset="-122"/>
              </a:rPr>
              <a:t>W</a:t>
            </a:r>
            <a:r>
              <a:rPr lang="zh-CN" altLang="en-US" sz="2400" b="1" dirty="0">
                <a:latin typeface="楷体_GB2312" pitchFamily="49" charset="-122"/>
                <a:ea typeface="楷体_GB2312" pitchFamily="49" charset="-122"/>
              </a:rPr>
              <a:t>里面包括什么功？</a:t>
            </a:r>
            <a:endParaRPr lang="zh-CN" altLang="en-US" sz="2400" b="1" dirty="0">
              <a:latin typeface="楷体_GB2312" pitchFamily="49" charset="-122"/>
              <a:ea typeface="楷体_GB2312" pitchFamily="49" charset="-122"/>
            </a:endParaRPr>
          </a:p>
          <a:p>
            <a:pPr>
              <a:spcBef>
                <a:spcPct val="0"/>
              </a:spcBef>
              <a:buFontTx/>
              <a:buNone/>
            </a:pPr>
            <a:r>
              <a:rPr lang="zh-CN" altLang="en-US" sz="2400" b="1" dirty="0">
                <a:latin typeface="楷体_GB2312" pitchFamily="49" charset="-122"/>
                <a:ea typeface="楷体_GB2312" pitchFamily="49" charset="-122"/>
              </a:rPr>
              <a:t>轴功、电功、体积变化功、流动功</a:t>
            </a:r>
            <a:endParaRPr lang="zh-CN" altLang="en-US" sz="2400" b="1" dirty="0">
              <a:solidFill>
                <a:srgbClr val="FF0000"/>
              </a:solidFill>
              <a:latin typeface="楷体_GB2312" pitchFamily="49" charset="-122"/>
              <a:ea typeface="楷体_GB2312" pitchFamily="49" charset="-122"/>
            </a:endParaRPr>
          </a:p>
        </p:txBody>
      </p:sp>
      <p:sp>
        <p:nvSpPr>
          <p:cNvPr id="38918" name="矩形 223250"/>
          <p:cNvSpPr>
            <a:spLocks noChangeArrowheads="1"/>
          </p:cNvSpPr>
          <p:nvPr/>
        </p:nvSpPr>
        <p:spPr bwMode="auto">
          <a:xfrm>
            <a:off x="0" y="194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223252" name="直接连接符 223251"/>
          <p:cNvSpPr>
            <a:spLocks noChangeShapeType="1"/>
          </p:cNvSpPr>
          <p:nvPr/>
        </p:nvSpPr>
        <p:spPr bwMode="auto">
          <a:xfrm flipH="1">
            <a:off x="2366963" y="5408613"/>
            <a:ext cx="1935162" cy="360362"/>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3253" name="直接连接符 223252"/>
          <p:cNvSpPr>
            <a:spLocks noChangeShapeType="1"/>
          </p:cNvSpPr>
          <p:nvPr/>
        </p:nvSpPr>
        <p:spPr bwMode="auto">
          <a:xfrm flipH="1">
            <a:off x="4257675" y="5499100"/>
            <a:ext cx="1304925" cy="180975"/>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3254" name="矩形 223253"/>
          <p:cNvSpPr>
            <a:spLocks noChangeArrowheads="1"/>
          </p:cNvSpPr>
          <p:nvPr/>
        </p:nvSpPr>
        <p:spPr bwMode="auto">
          <a:xfrm>
            <a:off x="522288" y="6038850"/>
            <a:ext cx="7740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Times New Roman" panose="02020603050405020304" pitchFamily="18" charset="0"/>
                <a:ea typeface="楷体_GB2312" pitchFamily="49" charset="-122"/>
              </a:rPr>
              <a:t>若想让</a:t>
            </a:r>
            <a:r>
              <a:rPr lang="en-US" altLang="zh-CN" sz="2400" b="1" i="1" dirty="0">
                <a:latin typeface="Times New Roman" panose="02020603050405020304" pitchFamily="18" charset="0"/>
                <a:ea typeface="楷体_GB2312" pitchFamily="49" charset="-122"/>
              </a:rPr>
              <a:t>W</a:t>
            </a:r>
            <a:r>
              <a:rPr lang="zh-CN" altLang="en-US" sz="2400" b="1" dirty="0">
                <a:latin typeface="楷体_GB2312" pitchFamily="49" charset="-122"/>
                <a:ea typeface="楷体_GB2312" pitchFamily="49" charset="-122"/>
              </a:rPr>
              <a:t>里面包括流动功，方程如何改写？</a:t>
            </a:r>
            <a:endParaRPr lang="zh-CN" altLang="en-US" sz="2400" b="1" dirty="0">
              <a:latin typeface="楷体_GB2312" pitchFamily="49" charset="-122"/>
              <a:ea typeface="楷体_GB2312" pitchFamily="49" charset="-122"/>
            </a:endParaRPr>
          </a:p>
        </p:txBody>
      </p:sp>
      <p:sp>
        <p:nvSpPr>
          <p:cNvPr id="223257" name="矩形 223256"/>
          <p:cNvSpPr>
            <a:spLocks noChangeArrowheads="1"/>
          </p:cNvSpPr>
          <p:nvPr/>
        </p:nvSpPr>
        <p:spPr bwMode="auto">
          <a:xfrm>
            <a:off x="522288" y="4311650"/>
            <a:ext cx="1304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solidFill>
                  <a:srgbClr val="D60093"/>
                </a:solidFill>
                <a:latin typeface="楷体_GB2312" pitchFamily="49" charset="-122"/>
                <a:ea typeface="楷体_GB2312" pitchFamily="49" charset="-122"/>
              </a:rPr>
              <a:t>说明</a:t>
            </a:r>
            <a:r>
              <a:rPr lang="en-US" altLang="zh-CN" sz="2400" b="1" dirty="0">
                <a:solidFill>
                  <a:srgbClr val="D60093"/>
                </a:solidFill>
                <a:latin typeface="楷体_GB2312" pitchFamily="49" charset="-122"/>
                <a:ea typeface="楷体_GB2312" pitchFamily="49" charset="-122"/>
              </a:rPr>
              <a:t>2</a:t>
            </a:r>
            <a:endParaRPr lang="en-US" altLang="zh-CN" sz="2400" b="1" dirty="0">
              <a:solidFill>
                <a:srgbClr val="D60093"/>
              </a:solidFill>
              <a:latin typeface="楷体_GB2312" pitchFamily="49" charset="-122"/>
              <a:ea typeface="楷体_GB2312" pitchFamily="49" charset="-122"/>
            </a:endParaRPr>
          </a:p>
        </p:txBody>
      </p:sp>
      <p:pic>
        <p:nvPicPr>
          <p:cNvPr id="38923"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30438" y="1133475"/>
            <a:ext cx="4683125"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4"/>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3257"/>
                                        </p:tgtEl>
                                        <p:attrNameLst>
                                          <p:attrName>style.visibility</p:attrName>
                                        </p:attrNameLst>
                                      </p:cBhvr>
                                      <p:to>
                                        <p:strVal val="visible"/>
                                      </p:to>
                                    </p:set>
                                    <p:animEffect transition="in" filter="blinds(horizontal)">
                                      <p:cBhvr>
                                        <p:cTn id="7" dur="500"/>
                                        <p:tgtEl>
                                          <p:spTgt spid="22325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3249"/>
                                        </p:tgtEl>
                                        <p:attrNameLst>
                                          <p:attrName>style.visibility</p:attrName>
                                        </p:attrNameLst>
                                      </p:cBhvr>
                                      <p:to>
                                        <p:strVal val="visible"/>
                                      </p:to>
                                    </p:set>
                                    <p:animEffect transition="in" filter="blinds(horizontal)">
                                      <p:cBhvr>
                                        <p:cTn id="10" dur="500"/>
                                        <p:tgtEl>
                                          <p:spTgt spid="223249"/>
                                        </p:tgtEl>
                                      </p:cBhvr>
                                    </p:animEffect>
                                  </p:childTnLst>
                                </p:cTn>
                              </p:par>
                              <p:par>
                                <p:cTn id="11" presetID="3" presetClass="entr" presetSubtype="10" fill="hold" nodeType="withEffect">
                                  <p:stCondLst>
                                    <p:cond delay="0"/>
                                  </p:stCondLst>
                                  <p:childTnLst>
                                    <p:set>
                                      <p:cBhvr>
                                        <p:cTn id="12" dur="1" fill="hold">
                                          <p:stCondLst>
                                            <p:cond delay="0"/>
                                          </p:stCondLst>
                                        </p:cTn>
                                        <p:tgtEl>
                                          <p:spTgt spid="223252"/>
                                        </p:tgtEl>
                                        <p:attrNameLst>
                                          <p:attrName>style.visibility</p:attrName>
                                        </p:attrNameLst>
                                      </p:cBhvr>
                                      <p:to>
                                        <p:strVal val="visible"/>
                                      </p:to>
                                    </p:set>
                                    <p:animEffect transition="in" filter="blinds(horizontal)">
                                      <p:cBhvr>
                                        <p:cTn id="13" dur="500"/>
                                        <p:tgtEl>
                                          <p:spTgt spid="223252"/>
                                        </p:tgtEl>
                                      </p:cBhvr>
                                    </p:animEffect>
                                  </p:childTnLst>
                                </p:cTn>
                              </p:par>
                              <p:par>
                                <p:cTn id="14" presetID="3" presetClass="entr" presetSubtype="10" fill="hold" nodeType="withEffect">
                                  <p:stCondLst>
                                    <p:cond delay="0"/>
                                  </p:stCondLst>
                                  <p:childTnLst>
                                    <p:set>
                                      <p:cBhvr>
                                        <p:cTn id="15" dur="1" fill="hold">
                                          <p:stCondLst>
                                            <p:cond delay="0"/>
                                          </p:stCondLst>
                                        </p:cTn>
                                        <p:tgtEl>
                                          <p:spTgt spid="223253"/>
                                        </p:tgtEl>
                                        <p:attrNameLst>
                                          <p:attrName>style.visibility</p:attrName>
                                        </p:attrNameLst>
                                      </p:cBhvr>
                                      <p:to>
                                        <p:strVal val="visible"/>
                                      </p:to>
                                    </p:set>
                                    <p:animEffect transition="in" filter="blinds(horizontal)">
                                      <p:cBhvr>
                                        <p:cTn id="16" dur="500"/>
                                        <p:tgtEl>
                                          <p:spTgt spid="22325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23254"/>
                                        </p:tgtEl>
                                        <p:attrNameLst>
                                          <p:attrName>style.visibility</p:attrName>
                                        </p:attrNameLst>
                                      </p:cBhvr>
                                      <p:to>
                                        <p:strVal val="visible"/>
                                      </p:to>
                                    </p:set>
                                    <p:animEffect transition="in" filter="blinds(horizontal)">
                                      <p:cBhvr>
                                        <p:cTn id="19" dur="500"/>
                                        <p:tgtEl>
                                          <p:spTgt spid="223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9" grpId="0"/>
      <p:bldP spid="223254" grpId="0"/>
      <p:bldP spid="22325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7" name="矩形 225306"/>
          <p:cNvSpPr>
            <a:spLocks noChangeArrowheads="1"/>
          </p:cNvSpPr>
          <p:nvPr/>
        </p:nvSpPr>
        <p:spPr bwMode="auto">
          <a:xfrm>
            <a:off x="836613" y="5768975"/>
            <a:ext cx="782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Times New Roman" panose="02020603050405020304" pitchFamily="18" charset="0"/>
                <a:ea typeface="楷体_GB2312" pitchFamily="49" charset="-122"/>
              </a:rPr>
              <a:t>两种理解方式下得到的开口系能量守恒关系式是一致的</a:t>
            </a:r>
            <a:endParaRPr lang="zh-CN" altLang="en-US" sz="2400" b="1" dirty="0">
              <a:latin typeface="楷体_GB2312" pitchFamily="49" charset="-122"/>
              <a:ea typeface="楷体_GB2312" pitchFamily="49" charset="-122"/>
            </a:endParaRPr>
          </a:p>
        </p:txBody>
      </p:sp>
      <p:pic>
        <p:nvPicPr>
          <p:cNvPr id="3993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81175" y="593725"/>
            <a:ext cx="5591175"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07"/>
                                        </p:tgtEl>
                                        <p:attrNameLst>
                                          <p:attrName>style.visibility</p:attrName>
                                        </p:attrNameLst>
                                      </p:cBhvr>
                                      <p:to>
                                        <p:strVal val="visible"/>
                                      </p:to>
                                    </p:set>
                                    <p:animEffect transition="in" filter="blinds(horizontal)">
                                      <p:cBhvr>
                                        <p:cTn id="7" dur="500"/>
                                        <p:tgtEl>
                                          <p:spTgt spid="225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293892"/>
          <p:cNvSpPr>
            <a:spLocks noChangeArrowheads="1"/>
          </p:cNvSpPr>
          <p:nvPr/>
        </p:nvSpPr>
        <p:spPr bwMode="auto">
          <a:xfrm>
            <a:off x="296863" y="11684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dirty="0">
                <a:latin typeface="Times New Roman" panose="02020603050405020304" pitchFamily="18" charset="0"/>
                <a:ea typeface="楷体_GB2312" pitchFamily="49" charset="-122"/>
              </a:rPr>
              <a:t>W</a:t>
            </a:r>
            <a:r>
              <a:rPr lang="zh-CN" altLang="en-US" sz="2400" b="1" dirty="0">
                <a:latin typeface="Times New Roman" panose="02020603050405020304" pitchFamily="18" charset="0"/>
                <a:ea typeface="楷体_GB2312" pitchFamily="49" charset="-122"/>
              </a:rPr>
              <a:t>是</a:t>
            </a:r>
            <a:r>
              <a:rPr lang="zh-CN" altLang="en-US" sz="2400" b="1" dirty="0">
                <a:latin typeface="楷体_GB2312" pitchFamily="49" charset="-122"/>
                <a:ea typeface="楷体_GB2312" pitchFamily="49" charset="-122"/>
              </a:rPr>
              <a:t>电功的情况举例</a:t>
            </a:r>
            <a:endParaRPr lang="zh-CN" altLang="en-US" sz="2400" b="1" dirty="0">
              <a:latin typeface="楷体_GB2312" pitchFamily="49" charset="-122"/>
              <a:ea typeface="楷体_GB2312" pitchFamily="49" charset="-122"/>
            </a:endParaRPr>
          </a:p>
        </p:txBody>
      </p:sp>
      <p:sp>
        <p:nvSpPr>
          <p:cNvPr id="40963" name="矩形 293894"/>
          <p:cNvSpPr>
            <a:spLocks noChangeArrowheads="1"/>
          </p:cNvSpPr>
          <p:nvPr/>
        </p:nvSpPr>
        <p:spPr bwMode="auto">
          <a:xfrm>
            <a:off x="0" y="2352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40964" name="矩形 293896"/>
          <p:cNvSpPr>
            <a:spLocks noChangeArrowheads="1"/>
          </p:cNvSpPr>
          <p:nvPr/>
        </p:nvSpPr>
        <p:spPr bwMode="auto">
          <a:xfrm>
            <a:off x="522288" y="4373563"/>
            <a:ext cx="76866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dirty="0">
                <a:latin typeface="Times New Roman" panose="02020603050405020304" pitchFamily="18" charset="0"/>
              </a:rPr>
              <a:t>从能量守恒关系来看，入口处的冷水在流经水箱时经历一个总能不断增加的过程而到达出口，单位时间内总能的增加量等于电功率      减去热损失率</a:t>
            </a:r>
            <a:endParaRPr lang="zh-CN" altLang="en-US" sz="2800" b="1" dirty="0">
              <a:latin typeface="Times New Roman" panose="02020603050405020304" pitchFamily="18" charset="0"/>
            </a:endParaRPr>
          </a:p>
        </p:txBody>
      </p:sp>
      <p:sp>
        <p:nvSpPr>
          <p:cNvPr id="40965" name="矩形 29389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40966" name="对象 293897"/>
          <p:cNvGraphicFramePr/>
          <p:nvPr/>
        </p:nvGraphicFramePr>
        <p:xfrm>
          <a:off x="6011863" y="5241925"/>
          <a:ext cx="433387" cy="539750"/>
        </p:xfrm>
        <a:graphic>
          <a:graphicData uri="http://schemas.openxmlformats.org/presentationml/2006/ole">
            <mc:AlternateContent xmlns:mc="http://schemas.openxmlformats.org/markup-compatibility/2006">
              <mc:Choice xmlns:v="urn:schemas-microsoft-com:vml" Requires="v">
                <p:oleObj spid="_x0000_s30728" name="" r:id="rId1" imgW="190500" imgH="241300" progId="Equation.DSMT4">
                  <p:embed/>
                </p:oleObj>
              </mc:Choice>
              <mc:Fallback>
                <p:oleObj name="" r:id="rId1" imgW="190500" imgH="241300" progId="Equation.DSMT4">
                  <p:embed/>
                  <p:pic>
                    <p:nvPicPr>
                      <p:cNvPr id="0" name="对象 29389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5241925"/>
                        <a:ext cx="4333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7" name="矩形 29390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40968" name="对象 293899"/>
          <p:cNvGraphicFramePr/>
          <p:nvPr/>
        </p:nvGraphicFramePr>
        <p:xfrm>
          <a:off x="1376363" y="5673725"/>
          <a:ext cx="334962" cy="495300"/>
        </p:xfrm>
        <a:graphic>
          <a:graphicData uri="http://schemas.openxmlformats.org/presentationml/2006/ole">
            <mc:AlternateContent xmlns:mc="http://schemas.openxmlformats.org/markup-compatibility/2006">
              <mc:Choice xmlns:v="urn:schemas-microsoft-com:vml" Requires="v">
                <p:oleObj spid="_x0000_s30729" name="" r:id="rId3" imgW="152400" imgH="228600" progId="Equation.DSMT4">
                  <p:embed/>
                </p:oleObj>
              </mc:Choice>
              <mc:Fallback>
                <p:oleObj name="" r:id="rId3" imgW="152400" imgH="228600" progId="Equation.DSMT4">
                  <p:embed/>
                  <p:pic>
                    <p:nvPicPr>
                      <p:cNvPr id="0" name="对象 29389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363" y="5673725"/>
                        <a:ext cx="33496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9" name="矩形 60426"/>
          <p:cNvSpPr>
            <a:spLocks noChangeArrowheads="1"/>
          </p:cNvSpPr>
          <p:nvPr/>
        </p:nvSpPr>
        <p:spPr bwMode="auto">
          <a:xfrm>
            <a:off x="0" y="2357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40970" name="对象 223242"/>
          <p:cNvGraphicFramePr/>
          <p:nvPr/>
        </p:nvGraphicFramePr>
        <p:xfrm>
          <a:off x="1528763" y="136525"/>
          <a:ext cx="5849937" cy="790575"/>
        </p:xfrm>
        <a:graphic>
          <a:graphicData uri="http://schemas.openxmlformats.org/presentationml/2006/ole">
            <mc:AlternateContent xmlns:mc="http://schemas.openxmlformats.org/markup-compatibility/2006">
              <mc:Choice xmlns:v="urn:schemas-microsoft-com:vml" Requires="v">
                <p:oleObj spid="_x0000_s30730" name="" r:id="rId5" imgW="2882900" imgH="393700" progId="Equation.DSMT4">
                  <p:embed/>
                </p:oleObj>
              </mc:Choice>
              <mc:Fallback>
                <p:oleObj name="" r:id="rId5" imgW="2882900" imgH="393700" progId="Equation.DSMT4">
                  <p:embed/>
                  <p:pic>
                    <p:nvPicPr>
                      <p:cNvPr id="0" name="对象 22324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8763" y="136525"/>
                        <a:ext cx="5849937"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0971" name="图片 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00263" y="1268413"/>
            <a:ext cx="4706937"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229379"/>
          <p:cNvSpPr>
            <a:spLocks noChangeArrowheads="1"/>
          </p:cNvSpPr>
          <p:nvPr/>
        </p:nvSpPr>
        <p:spPr bwMode="auto">
          <a:xfrm>
            <a:off x="341313" y="225425"/>
            <a:ext cx="59102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solidFill>
                  <a:srgbClr val="D60093"/>
                </a:solidFill>
                <a:latin typeface="楷体_GB2312" pitchFamily="49" charset="-122"/>
                <a:ea typeface="楷体_GB2312" pitchFamily="49" charset="-122"/>
              </a:rPr>
              <a:t>说明</a:t>
            </a:r>
            <a:r>
              <a:rPr lang="en-US" altLang="zh-CN" sz="2400" b="1" dirty="0">
                <a:solidFill>
                  <a:srgbClr val="D60093"/>
                </a:solidFill>
                <a:latin typeface="楷体_GB2312" pitchFamily="49" charset="-122"/>
                <a:ea typeface="楷体_GB2312" pitchFamily="49" charset="-122"/>
              </a:rPr>
              <a:t>3 </a:t>
            </a:r>
            <a:r>
              <a:rPr lang="zh-CN" altLang="en-US" sz="2400" b="1" dirty="0">
                <a:solidFill>
                  <a:srgbClr val="D60093"/>
                </a:solidFill>
                <a:latin typeface="楷体_GB2312" pitchFamily="49" charset="-122"/>
                <a:ea typeface="楷体_GB2312" pitchFamily="49" charset="-122"/>
              </a:rPr>
              <a:t>宏观动能、重力势能变化忽略</a:t>
            </a:r>
            <a:endParaRPr lang="zh-CN" altLang="en-US" sz="2400" b="1" dirty="0">
              <a:solidFill>
                <a:srgbClr val="D60093"/>
              </a:solidFill>
              <a:latin typeface="楷体_GB2312" pitchFamily="49" charset="-122"/>
              <a:ea typeface="楷体_GB2312" pitchFamily="49" charset="-122"/>
            </a:endParaRPr>
          </a:p>
        </p:txBody>
      </p:sp>
      <p:sp>
        <p:nvSpPr>
          <p:cNvPr id="41987" name="矩形 229381"/>
          <p:cNvSpPr>
            <a:spLocks noChangeArrowheads="1"/>
          </p:cNvSpPr>
          <p:nvPr/>
        </p:nvSpPr>
        <p:spPr bwMode="auto">
          <a:xfrm>
            <a:off x="522288" y="715963"/>
            <a:ext cx="82359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1" dirty="0">
                <a:latin typeface="黑体" panose="02010609060101010101" pitchFamily="49" charset="-122"/>
                <a:ea typeface="黑体" panose="02010609060101010101" pitchFamily="49" charset="-122"/>
              </a:rPr>
              <a:t>流体流入、流出开口系统时的宏观动能和重力势能保持不变，或者变化量可以忽略不计（很多热力过程均是如此） </a:t>
            </a:r>
            <a:endParaRPr lang="zh-CN" altLang="en-US" b="1" dirty="0">
              <a:latin typeface="黑体" panose="02010609060101010101" pitchFamily="49" charset="-122"/>
              <a:ea typeface="黑体" panose="02010609060101010101" pitchFamily="49" charset="-122"/>
            </a:endParaRPr>
          </a:p>
        </p:txBody>
      </p:sp>
      <p:graphicFrame>
        <p:nvGraphicFramePr>
          <p:cNvPr id="41988" name="对象 229382"/>
          <p:cNvGraphicFramePr/>
          <p:nvPr/>
        </p:nvGraphicFramePr>
        <p:xfrm>
          <a:off x="1198563" y="2333625"/>
          <a:ext cx="5849937" cy="790575"/>
        </p:xfrm>
        <a:graphic>
          <a:graphicData uri="http://schemas.openxmlformats.org/presentationml/2006/ole">
            <mc:AlternateContent xmlns:mc="http://schemas.openxmlformats.org/markup-compatibility/2006">
              <mc:Choice xmlns:v="urn:schemas-microsoft-com:vml" Requires="v">
                <p:oleObj spid="_x0000_s31750" name="" r:id="rId1" imgW="2881630" imgH="393700" progId="Equation.DSMT4">
                  <p:embed/>
                </p:oleObj>
              </mc:Choice>
              <mc:Fallback>
                <p:oleObj name="" r:id="rId1" imgW="2881630" imgH="393700" progId="Equation.DSMT4">
                  <p:embed/>
                  <p:pic>
                    <p:nvPicPr>
                      <p:cNvPr id="0" name="对象 22938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8563" y="2333625"/>
                        <a:ext cx="5849937"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89" name="对象 229383"/>
          <p:cNvGraphicFramePr/>
          <p:nvPr/>
        </p:nvGraphicFramePr>
        <p:xfrm>
          <a:off x="2771775" y="4149725"/>
          <a:ext cx="3479800" cy="458788"/>
        </p:xfrm>
        <a:graphic>
          <a:graphicData uri="http://schemas.openxmlformats.org/presentationml/2006/ole">
            <mc:AlternateContent xmlns:mc="http://schemas.openxmlformats.org/markup-compatibility/2006">
              <mc:Choice xmlns:v="urn:schemas-microsoft-com:vml" Requires="v">
                <p:oleObj spid="_x0000_s31751" name="" r:id="rId3" imgW="1714500" imgH="228600" progId="Equation.DSMT4">
                  <p:embed/>
                </p:oleObj>
              </mc:Choice>
              <mc:Fallback>
                <p:oleObj name="" r:id="rId3" imgW="1714500" imgH="228600" progId="Equation.DSMT4">
                  <p:embed/>
                  <p:pic>
                    <p:nvPicPr>
                      <p:cNvPr id="0" name="对象 22938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4149725"/>
                        <a:ext cx="3479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0" name="下箭头 61447"/>
          <p:cNvSpPr>
            <a:spLocks noChangeArrowheads="1"/>
          </p:cNvSpPr>
          <p:nvPr/>
        </p:nvSpPr>
        <p:spPr bwMode="auto">
          <a:xfrm>
            <a:off x="4122738" y="3157538"/>
            <a:ext cx="449262" cy="900112"/>
          </a:xfrm>
          <a:prstGeom prst="downArrow">
            <a:avLst>
              <a:gd name="adj1" fmla="val 50000"/>
              <a:gd name="adj2" fmla="val 50070"/>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294915"/>
          <p:cNvSpPr>
            <a:spLocks noChangeArrowheads="1"/>
          </p:cNvSpPr>
          <p:nvPr/>
        </p:nvSpPr>
        <p:spPr bwMode="auto">
          <a:xfrm>
            <a:off x="2366963" y="928688"/>
            <a:ext cx="4151312"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latin typeface="Times New Roman" panose="02020603050405020304" pitchFamily="18" charset="0"/>
              </a:rPr>
              <a:t>不同速度水平下的动能差</a:t>
            </a:r>
            <a:endParaRPr lang="zh-CN" altLang="en-US" sz="2800" b="1" dirty="0"/>
          </a:p>
          <a:p>
            <a:pPr>
              <a:spcBef>
                <a:spcPct val="0"/>
              </a:spcBef>
              <a:buFontTx/>
              <a:buNone/>
            </a:pPr>
            <a:endParaRPr lang="zh-CN" altLang="en-US" dirty="0"/>
          </a:p>
        </p:txBody>
      </p:sp>
      <p:graphicFrame>
        <p:nvGraphicFramePr>
          <p:cNvPr id="295032" name="表格 295031"/>
          <p:cNvGraphicFramePr/>
          <p:nvPr/>
        </p:nvGraphicFramePr>
        <p:xfrm>
          <a:off x="2457450" y="1498600"/>
          <a:ext cx="4230688" cy="3108372"/>
        </p:xfrm>
        <a:graphic>
          <a:graphicData uri="http://schemas.openxmlformats.org/drawingml/2006/table">
            <a:tbl>
              <a:tblPr/>
              <a:tblGrid>
                <a:gridCol w="1409700"/>
                <a:gridCol w="1411288"/>
                <a:gridCol w="1409700"/>
              </a:tblGrid>
              <a:tr h="822848">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i="1">
                          <a:latin typeface="Times New Roman" panose="02020603050405020304" pitchFamily="18" charset="0"/>
                          <a:cs typeface="Times New Roman" panose="02020603050405020304" pitchFamily="18" charset="0"/>
                        </a:rPr>
                        <a:t>c</a:t>
                      </a:r>
                      <a:r>
                        <a:rPr lang="en-US" altLang="zh-CN" sz="2400" b="1" baseline="-30000">
                          <a:latin typeface="Times New Roman" panose="02020603050405020304" pitchFamily="18" charset="0"/>
                          <a:cs typeface="Times New Roman" panose="02020603050405020304" pitchFamily="18" charset="0"/>
                        </a:rPr>
                        <a:t>f1</a:t>
                      </a:r>
                      <a:endParaRPr lang="en-US" altLang="zh-CN" sz="2400" b="1">
                        <a:latin typeface="Times New Roman" panose="02020603050405020304" pitchFamily="18" charset="0"/>
                        <a:cs typeface="Times New Roman" panose="02020603050405020304" pitchFamily="18" charset="0"/>
                      </a:endParaRPr>
                    </a:p>
                    <a:p>
                      <a:pPr marL="0" lvl="0" indent="0" algn="ctr" eaLnBrk="0" hangingPunct="0">
                        <a:spcBef>
                          <a:spcPct val="0"/>
                        </a:spcBef>
                        <a:buNone/>
                      </a:pPr>
                      <a:r>
                        <a:rPr lang="en-US" altLang="zh-CN" sz="2400" b="1" err="1">
                          <a:latin typeface="Times New Roman" panose="02020603050405020304" pitchFamily="18" charset="0"/>
                          <a:cs typeface="Times New Roman" panose="02020603050405020304" pitchFamily="18" charset="0"/>
                        </a:rPr>
                        <a:t>m/s</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i="1">
                          <a:latin typeface="Times New Roman" panose="02020603050405020304" pitchFamily="18" charset="0"/>
                          <a:cs typeface="Times New Roman" panose="02020603050405020304" pitchFamily="18" charset="0"/>
                        </a:rPr>
                        <a:t>c</a:t>
                      </a:r>
                      <a:r>
                        <a:rPr lang="en-US" altLang="zh-CN" sz="2400" b="1" baseline="-30000">
                          <a:latin typeface="Times New Roman" panose="02020603050405020304" pitchFamily="18" charset="0"/>
                          <a:cs typeface="Times New Roman" panose="02020603050405020304" pitchFamily="18" charset="0"/>
                        </a:rPr>
                        <a:t>f2</a:t>
                      </a:r>
                      <a:endParaRPr lang="en-US" altLang="zh-CN" sz="2400" b="1">
                        <a:latin typeface="Times New Roman" panose="02020603050405020304" pitchFamily="18" charset="0"/>
                        <a:cs typeface="Times New Roman" panose="02020603050405020304" pitchFamily="18" charset="0"/>
                      </a:endParaRPr>
                    </a:p>
                    <a:p>
                      <a:pPr marL="0" lvl="0" indent="0" algn="ctr" eaLnBrk="0" hangingPunct="0">
                        <a:spcBef>
                          <a:spcPct val="0"/>
                        </a:spcBef>
                        <a:buNone/>
                      </a:pPr>
                      <a:r>
                        <a:rPr lang="en-US" altLang="zh-CN" sz="2400" b="1" err="1">
                          <a:latin typeface="Times New Roman" panose="02020603050405020304" pitchFamily="18" charset="0"/>
                          <a:cs typeface="Times New Roman" panose="02020603050405020304" pitchFamily="18" charset="0"/>
                        </a:rPr>
                        <a:t>m/s</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dirty="0">
                          <a:latin typeface="Times New Roman" panose="02020603050405020304" pitchFamily="18" charset="0"/>
                          <a:cs typeface="Times New Roman" panose="02020603050405020304" pitchFamily="18" charset="0"/>
                        </a:rPr>
                        <a:t>∆</a:t>
                      </a:r>
                      <a:r>
                        <a:rPr lang="en-US" altLang="zh-CN" sz="2400" b="1" i="1" err="1">
                          <a:latin typeface="Times New Roman" panose="02020603050405020304" pitchFamily="18" charset="0"/>
                          <a:cs typeface="Times New Roman" panose="02020603050405020304" pitchFamily="18" charset="0"/>
                        </a:rPr>
                        <a:t>e</a:t>
                      </a:r>
                      <a:r>
                        <a:rPr lang="en-US" altLang="zh-CN" sz="2400" b="1" baseline="-30000" err="1">
                          <a:latin typeface="Times New Roman" panose="02020603050405020304" pitchFamily="18" charset="0"/>
                          <a:cs typeface="Times New Roman" panose="02020603050405020304" pitchFamily="18" charset="0"/>
                        </a:rPr>
                        <a:t>k</a:t>
                      </a:r>
                      <a:endParaRPr lang="en-US" altLang="zh-CN" sz="2400" b="1">
                        <a:latin typeface="Times New Roman" panose="02020603050405020304" pitchFamily="18" charset="0"/>
                        <a:cs typeface="Times New Roman" panose="02020603050405020304" pitchFamily="18" charset="0"/>
                      </a:endParaRPr>
                    </a:p>
                    <a:p>
                      <a:pPr marL="0" lvl="0" indent="0" algn="ctr" eaLnBrk="0" hangingPunct="0">
                        <a:spcBef>
                          <a:spcPct val="0"/>
                        </a:spcBef>
                        <a:buNone/>
                      </a:pPr>
                      <a:r>
                        <a:rPr lang="en-US" altLang="zh-CN" sz="2400" b="1">
                          <a:latin typeface="Times New Roman" panose="02020603050405020304" pitchFamily="18" charset="0"/>
                          <a:cs typeface="Times New Roman" panose="02020603050405020304" pitchFamily="18" charset="0"/>
                        </a:rPr>
                        <a:t>kJ/kg</a:t>
                      </a:r>
                      <a:endParaRPr lang="zh-CN" altLang="en-US" sz="2400" b="1"/>
                    </a:p>
                  </a:txBody>
                  <a:tcPr marT="45671" marB="4567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709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0</a:t>
                      </a:r>
                      <a:endParaRPr lang="zh-CN" altLang="en-US" sz="2400" b="1"/>
                    </a:p>
                  </a:txBody>
                  <a:tcPr marT="45671" marB="4567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45</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a:t>
                      </a:r>
                      <a:endParaRPr lang="zh-CN" altLang="en-US" sz="2400" b="1"/>
                    </a:p>
                  </a:txBody>
                  <a:tcPr marT="45671" marB="4567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r>
              <a:tr h="45709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50</a:t>
                      </a:r>
                      <a:endParaRPr lang="zh-CN" altLang="en-US" sz="2400" b="1"/>
                    </a:p>
                  </a:txBody>
                  <a:tcPr marT="45671" marB="4567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67</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a:t>
                      </a:r>
                      <a:endParaRPr lang="zh-CN" altLang="en-US" sz="2400" b="1"/>
                    </a:p>
                  </a:txBody>
                  <a:tcPr marT="45671" marB="4567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r>
              <a:tr h="45709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100</a:t>
                      </a:r>
                      <a:endParaRPr lang="zh-CN" altLang="en-US" sz="2400" b="1"/>
                    </a:p>
                  </a:txBody>
                  <a:tcPr marT="45671" marB="4567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110</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a:t>
                      </a:r>
                      <a:endParaRPr lang="zh-CN" altLang="en-US" sz="2400" b="1"/>
                    </a:p>
                  </a:txBody>
                  <a:tcPr marT="45671" marB="4567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r>
              <a:tr h="45709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200</a:t>
                      </a:r>
                      <a:endParaRPr lang="zh-CN" altLang="en-US" sz="2400" b="1"/>
                    </a:p>
                  </a:txBody>
                  <a:tcPr marT="45671" marB="4567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205</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a:t>
                      </a:r>
                      <a:endParaRPr lang="zh-CN" altLang="en-US" sz="2400" b="1"/>
                    </a:p>
                  </a:txBody>
                  <a:tcPr marT="45671" marB="4567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r>
              <a:tr h="45709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500</a:t>
                      </a:r>
                      <a:endParaRPr lang="zh-CN" altLang="en-US" sz="2400" b="1"/>
                    </a:p>
                  </a:txBody>
                  <a:tcPr marT="45671" marB="4567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502</a:t>
                      </a:r>
                      <a:endParaRPr lang="zh-CN" altLang="en-US" sz="2400" b="1"/>
                    </a:p>
                  </a:txBody>
                  <a:tcPr marT="45671" marB="4567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2400" b="1">
                          <a:latin typeface="Times New Roman" panose="02020603050405020304" pitchFamily="18" charset="0"/>
                          <a:cs typeface="Times New Roman" panose="02020603050405020304" pitchFamily="18" charset="0"/>
                        </a:rPr>
                        <a:t>1</a:t>
                      </a:r>
                      <a:endParaRPr lang="zh-CN" altLang="en-US" sz="2400" b="1"/>
                    </a:p>
                  </a:txBody>
                  <a:tcPr marT="45671" marB="4567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3042" name="矩形 295033"/>
          <p:cNvSpPr>
            <a:spLocks noChangeArrowheads="1"/>
          </p:cNvSpPr>
          <p:nvPr/>
        </p:nvSpPr>
        <p:spPr bwMode="auto">
          <a:xfrm>
            <a:off x="0" y="3648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43" name="矩形 295034"/>
          <p:cNvSpPr>
            <a:spLocks noChangeArrowheads="1"/>
          </p:cNvSpPr>
          <p:nvPr/>
        </p:nvSpPr>
        <p:spPr bwMode="auto">
          <a:xfrm>
            <a:off x="476250" y="5910263"/>
            <a:ext cx="7791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latin typeface="Times New Roman" panose="02020603050405020304" pitchFamily="18" charset="0"/>
              </a:rPr>
              <a:t>1kJ/kg</a:t>
            </a:r>
            <a:r>
              <a:rPr lang="zh-CN" altLang="en-US">
                <a:latin typeface="Times New Roman" panose="02020603050405020304" pitchFamily="18" charset="0"/>
              </a:rPr>
              <a:t>的重力势能差对应于</a:t>
            </a:r>
            <a:r>
              <a:rPr lang="en-US" altLang="zh-CN">
                <a:latin typeface="Times New Roman" panose="02020603050405020304" pitchFamily="18" charset="0"/>
              </a:rPr>
              <a:t>102</a:t>
            </a:r>
            <a:r>
              <a:rPr lang="zh-CN" altLang="en-US">
                <a:latin typeface="Times New Roman" panose="02020603050405020304" pitchFamily="18" charset="0"/>
              </a:rPr>
              <a:t>米的高度差</a:t>
            </a:r>
            <a:r>
              <a:rPr lang="zh-CN" altLang="en-US"/>
              <a:t> </a:t>
            </a:r>
            <a:endParaRPr lang="zh-CN" altLang="en-US"/>
          </a:p>
        </p:txBody>
      </p:sp>
      <p:sp>
        <p:nvSpPr>
          <p:cNvPr id="43044" name="矩形 295035"/>
          <p:cNvSpPr>
            <a:spLocks noChangeArrowheads="1"/>
          </p:cNvSpPr>
          <p:nvPr/>
        </p:nvSpPr>
        <p:spPr bwMode="auto">
          <a:xfrm>
            <a:off x="476250" y="4875213"/>
            <a:ext cx="5783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rPr>
              <a:t>低速流动条件下，动能变化项常忽略不计 </a:t>
            </a:r>
            <a:endParaRPr lang="zh-CN" altLang="en-US" sz="2400" b="1" dirty="0">
              <a:solidFill>
                <a:srgbClr val="0000CC"/>
              </a:solidFill>
            </a:endParaRPr>
          </a:p>
        </p:txBody>
      </p:sp>
      <p:sp>
        <p:nvSpPr>
          <p:cNvPr id="43045" name="矩形 295036"/>
          <p:cNvSpPr>
            <a:spLocks noChangeArrowheads="1"/>
          </p:cNvSpPr>
          <p:nvPr/>
        </p:nvSpPr>
        <p:spPr bwMode="auto">
          <a:xfrm>
            <a:off x="476250" y="5370513"/>
            <a:ext cx="854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rPr>
              <a:t>在高速流动条件下，很小的速度变化就可能产生较大的动能差 </a:t>
            </a:r>
            <a:endParaRPr lang="zh-CN" altLang="en-US" sz="2400" b="1" dirty="0">
              <a:solidFill>
                <a:srgbClr val="0000CC"/>
              </a:solidFill>
            </a:endParaRPr>
          </a:p>
        </p:txBody>
      </p:sp>
      <p:graphicFrame>
        <p:nvGraphicFramePr>
          <p:cNvPr id="43046" name="对象 288771"/>
          <p:cNvGraphicFramePr/>
          <p:nvPr/>
        </p:nvGraphicFramePr>
        <p:xfrm>
          <a:off x="1787525" y="49213"/>
          <a:ext cx="5310188" cy="836612"/>
        </p:xfrm>
        <a:graphic>
          <a:graphicData uri="http://schemas.openxmlformats.org/presentationml/2006/ole">
            <mc:AlternateContent xmlns:mc="http://schemas.openxmlformats.org/markup-compatibility/2006">
              <mc:Choice xmlns:v="urn:schemas-microsoft-com:vml" Requires="v">
                <p:oleObj spid="_x0000_s32772" name="" r:id="rId1" imgW="2476500" imgH="393700" progId="Equation.DSMT4">
                  <p:embed/>
                </p:oleObj>
              </mc:Choice>
              <mc:Fallback>
                <p:oleObj name="" r:id="rId1" imgW="2476500" imgH="393700" progId="Equation.DSMT4">
                  <p:embed/>
                  <p:pic>
                    <p:nvPicPr>
                      <p:cNvPr id="0" name="对象 28877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7525" y="49213"/>
                        <a:ext cx="5310188"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椭圆 2"/>
          <p:cNvSpPr/>
          <p:nvPr/>
        </p:nvSpPr>
        <p:spPr>
          <a:xfrm>
            <a:off x="2727325" y="144463"/>
            <a:ext cx="1035050" cy="674687"/>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5" name="肘形连接符 4"/>
          <p:cNvCxnSpPr/>
          <p:nvPr/>
        </p:nvCxnSpPr>
        <p:spPr>
          <a:xfrm rot="10800000" flipV="1">
            <a:off x="701675" y="727075"/>
            <a:ext cx="2205038" cy="406400"/>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049" name="矩形 6"/>
          <p:cNvSpPr>
            <a:spLocks noChangeArrowheads="1"/>
          </p:cNvSpPr>
          <p:nvPr/>
        </p:nvSpPr>
        <p:spPr bwMode="auto">
          <a:xfrm>
            <a:off x="301625" y="646113"/>
            <a:ext cx="920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a:latin typeface="Times New Roman" panose="02020603050405020304" pitchFamily="18" charset="0"/>
              </a:rPr>
              <a:t>kJ/kg</a:t>
            </a:r>
            <a:endParaRPr lang="zh-CN" altLang="en-US" sz="2400"/>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p:cNvSpPr txBox="1">
            <a:spLocks noChangeArrowheads="1"/>
          </p:cNvSpPr>
          <p:nvPr/>
        </p:nvSpPr>
        <p:spPr bwMode="auto">
          <a:xfrm>
            <a:off x="341313" y="188913"/>
            <a:ext cx="8416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a:ea typeface="黑体" panose="02010609060101010101" pitchFamily="49" charset="-122"/>
              </a:rPr>
              <a:t>热力学问题经常可忽略动、位能变化</a:t>
            </a:r>
            <a:endParaRPr lang="zh-CN" altLang="en-US" sz="4000" b="1" dirty="0">
              <a:ea typeface="黑体" panose="02010609060101010101" pitchFamily="49" charset="-122"/>
            </a:endParaRPr>
          </a:p>
        </p:txBody>
      </p:sp>
      <p:sp>
        <p:nvSpPr>
          <p:cNvPr id="44035" name="Rectangle 6"/>
          <p:cNvSpPr>
            <a:spLocks noChangeArrowheads="1"/>
          </p:cNvSpPr>
          <p:nvPr/>
        </p:nvSpPr>
        <p:spPr bwMode="auto">
          <a:xfrm>
            <a:off x="1511300" y="3068638"/>
            <a:ext cx="6858000"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4000" b="1" i="1" dirty="0">
                <a:solidFill>
                  <a:srgbClr val="800080"/>
                </a:solidFill>
                <a:latin typeface="Times New Roman" panose="02020603050405020304" pitchFamily="18" charset="0"/>
                <a:ea typeface="幼圆" panose="02010509060101010101" pitchFamily="49" charset="-122"/>
              </a:rPr>
              <a:t>z</a:t>
            </a:r>
            <a:r>
              <a:rPr lang="en-US" altLang="zh-CN" sz="4000" b="1" baseline="-25000" dirty="0">
                <a:solidFill>
                  <a:srgbClr val="800080"/>
                </a:solidFill>
                <a:latin typeface="Times New Roman" panose="02020603050405020304" pitchFamily="18" charset="0"/>
                <a:ea typeface="幼圆" panose="02010509060101010101" pitchFamily="49" charset="-122"/>
              </a:rPr>
              <a:t>1</a:t>
            </a:r>
            <a:r>
              <a:rPr lang="en-US" altLang="zh-CN" sz="4000" b="1" dirty="0">
                <a:solidFill>
                  <a:srgbClr val="800080"/>
                </a:solidFill>
                <a:latin typeface="Times New Roman" panose="02020603050405020304" pitchFamily="18" charset="0"/>
                <a:ea typeface="幼圆" panose="02010509060101010101" pitchFamily="49" charset="-122"/>
              </a:rPr>
              <a:t> = 0 m             </a:t>
            </a:r>
            <a:r>
              <a:rPr lang="en-US" altLang="zh-CN" sz="4000" b="1" i="1" dirty="0">
                <a:solidFill>
                  <a:srgbClr val="800080"/>
                </a:solidFill>
                <a:latin typeface="Times New Roman" panose="02020603050405020304" pitchFamily="18" charset="0"/>
                <a:ea typeface="幼圆" panose="02010509060101010101" pitchFamily="49" charset="-122"/>
              </a:rPr>
              <a:t>z</a:t>
            </a:r>
            <a:r>
              <a:rPr lang="en-US" altLang="zh-CN" sz="4000" b="1" baseline="-25000" dirty="0">
                <a:solidFill>
                  <a:srgbClr val="800080"/>
                </a:solidFill>
                <a:latin typeface="Times New Roman" panose="02020603050405020304" pitchFamily="18" charset="0"/>
                <a:ea typeface="幼圆" panose="02010509060101010101" pitchFamily="49" charset="-122"/>
              </a:rPr>
              <a:t>2</a:t>
            </a:r>
            <a:r>
              <a:rPr lang="en-US" altLang="zh-CN" sz="4000" b="1" dirty="0">
                <a:solidFill>
                  <a:srgbClr val="800080"/>
                </a:solidFill>
                <a:latin typeface="Times New Roman" panose="02020603050405020304" pitchFamily="18" charset="0"/>
                <a:ea typeface="幼圆" panose="02010509060101010101" pitchFamily="49" charset="-122"/>
              </a:rPr>
              <a:t> = 30 m</a:t>
            </a:r>
            <a:endParaRPr lang="en-US" altLang="zh-CN" sz="4000" b="1" dirty="0">
              <a:solidFill>
                <a:srgbClr val="800080"/>
              </a:solidFill>
              <a:latin typeface="Times New Roman" panose="02020603050405020304" pitchFamily="18" charset="0"/>
              <a:ea typeface="幼圆" panose="02010509060101010101" pitchFamily="49" charset="-122"/>
            </a:endParaRPr>
          </a:p>
          <a:p>
            <a:pPr eaLnBrk="1" hangingPunct="1">
              <a:spcBef>
                <a:spcPct val="10000"/>
              </a:spcBef>
              <a:buFontTx/>
              <a:buNone/>
            </a:pPr>
            <a:r>
              <a:rPr lang="en-US" altLang="zh-CN" sz="3600" b="1" i="1" dirty="0">
                <a:latin typeface="Times New Roman" panose="02020603050405020304" pitchFamily="18" charset="0"/>
                <a:ea typeface="幼圆" panose="02010509060101010101" pitchFamily="49" charset="-122"/>
              </a:rPr>
              <a:t>g </a:t>
            </a:r>
            <a:r>
              <a:rPr lang="en-US" altLang="zh-CN" sz="3600" b="1" dirty="0">
                <a:latin typeface="Times New Roman" panose="02020603050405020304" pitchFamily="18" charset="0"/>
              </a:rPr>
              <a:t>( </a:t>
            </a:r>
            <a:r>
              <a:rPr lang="en-US" altLang="zh-CN" sz="3600" b="1" i="1" dirty="0">
                <a:latin typeface="Times New Roman" panose="02020603050405020304" pitchFamily="18" charset="0"/>
              </a:rPr>
              <a:t>z</a:t>
            </a:r>
            <a:r>
              <a:rPr lang="en-US" altLang="zh-CN" sz="3600" b="1" baseline="-25000" dirty="0">
                <a:latin typeface="Times New Roman" panose="02020603050405020304" pitchFamily="18" charset="0"/>
              </a:rPr>
              <a:t>2</a:t>
            </a:r>
            <a:r>
              <a:rPr lang="en-US" altLang="zh-CN" sz="3600" b="1" i="1" dirty="0">
                <a:latin typeface="Times New Roman" panose="02020603050405020304" pitchFamily="18" charset="0"/>
              </a:rPr>
              <a:t> - z</a:t>
            </a:r>
            <a:r>
              <a:rPr lang="en-US" altLang="zh-CN" sz="3600" b="1" baseline="-25000" dirty="0">
                <a:latin typeface="Times New Roman" panose="02020603050405020304" pitchFamily="18" charset="0"/>
              </a:rPr>
              <a:t>1</a:t>
            </a:r>
            <a:r>
              <a:rPr lang="en-US" altLang="zh-CN" sz="3600" b="1" dirty="0">
                <a:latin typeface="Times New Roman" panose="02020603050405020304" pitchFamily="18" charset="0"/>
              </a:rPr>
              <a:t>) </a:t>
            </a:r>
            <a:r>
              <a:rPr lang="en-US" altLang="zh-CN" sz="3600" b="1" i="1" dirty="0">
                <a:latin typeface="Times New Roman" panose="02020603050405020304" pitchFamily="18" charset="0"/>
              </a:rPr>
              <a:t>= </a:t>
            </a:r>
            <a:r>
              <a:rPr lang="en-US" altLang="zh-CN" sz="3600" b="1" dirty="0">
                <a:latin typeface="Times New Roman" panose="02020603050405020304" pitchFamily="18" charset="0"/>
              </a:rPr>
              <a:t>0.3 kJ/kg</a:t>
            </a:r>
            <a:endParaRPr lang="en-US" altLang="zh-CN" sz="3600" b="1" dirty="0">
              <a:latin typeface="Times New Roman" panose="02020603050405020304" pitchFamily="18" charset="0"/>
            </a:endParaRPr>
          </a:p>
        </p:txBody>
      </p:sp>
      <p:sp>
        <p:nvSpPr>
          <p:cNvPr id="44036" name="Rectangle 7"/>
          <p:cNvSpPr>
            <a:spLocks noChangeArrowheads="1"/>
          </p:cNvSpPr>
          <p:nvPr/>
        </p:nvSpPr>
        <p:spPr bwMode="auto">
          <a:xfrm>
            <a:off x="1150938" y="4508500"/>
            <a:ext cx="7566025"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zh-CN" sz="3600" b="1" dirty="0">
                <a:solidFill>
                  <a:srgbClr val="800080"/>
                </a:solidFill>
                <a:latin typeface="Times New Roman" panose="02020603050405020304" pitchFamily="18" charset="0"/>
              </a:rPr>
              <a:t>1bar下</a:t>
            </a:r>
            <a:r>
              <a:rPr lang="en-US" altLang="zh-CN" sz="3600" b="1" i="1" dirty="0">
                <a:solidFill>
                  <a:srgbClr val="800080"/>
                </a:solidFill>
                <a:latin typeface="Times New Roman" panose="02020603050405020304" pitchFamily="18" charset="0"/>
              </a:rPr>
              <a:t>, </a:t>
            </a:r>
            <a:r>
              <a:rPr lang="en-US" altLang="zh-CN" sz="3600" b="1" dirty="0">
                <a:solidFill>
                  <a:srgbClr val="800080"/>
                </a:solidFill>
                <a:latin typeface="Times New Roman" panose="02020603050405020304" pitchFamily="18" charset="0"/>
              </a:rPr>
              <a:t>0</a:t>
            </a:r>
            <a:r>
              <a:rPr lang="en-US" altLang="zh-CN" sz="3600" b="1" i="1" dirty="0">
                <a:solidFill>
                  <a:srgbClr val="800080"/>
                </a:solidFill>
                <a:latin typeface="Times New Roman" panose="02020603050405020304" pitchFamily="18" charset="0"/>
              </a:rPr>
              <a:t> </a:t>
            </a:r>
            <a:r>
              <a:rPr lang="en-US" altLang="zh-CN" sz="3600" b="1" baseline="30000" dirty="0" err="1">
                <a:solidFill>
                  <a:srgbClr val="800080"/>
                </a:solidFill>
                <a:latin typeface="Times New Roman" panose="02020603050405020304" pitchFamily="18" charset="0"/>
              </a:rPr>
              <a:t>o</a:t>
            </a:r>
            <a:r>
              <a:rPr lang="en-US" altLang="zh-CN" sz="3600" b="1" dirty="0" err="1">
                <a:solidFill>
                  <a:srgbClr val="800080"/>
                </a:solidFill>
                <a:latin typeface="Times New Roman" panose="02020603050405020304" pitchFamily="18" charset="0"/>
              </a:rPr>
              <a:t>C</a:t>
            </a:r>
            <a:r>
              <a:rPr lang="zh-CN" altLang="zh-CN" sz="3600" b="1" dirty="0">
                <a:solidFill>
                  <a:srgbClr val="800080"/>
                </a:solidFill>
                <a:latin typeface="Times New Roman" panose="02020603050405020304" pitchFamily="18" charset="0"/>
              </a:rPr>
              <a:t>水的</a:t>
            </a:r>
            <a:r>
              <a:rPr lang="zh-CN" altLang="zh-CN" sz="3600" b="1" dirty="0">
                <a:solidFill>
                  <a:srgbClr val="FFFF99"/>
                </a:solidFill>
                <a:latin typeface="Times New Roman" panose="02020603050405020304" pitchFamily="18" charset="0"/>
              </a:rPr>
              <a:t> </a:t>
            </a:r>
            <a:r>
              <a:rPr lang="en-US" altLang="zh-CN" sz="3600" b="1" i="1" dirty="0">
                <a:latin typeface="Times New Roman" panose="02020603050405020304" pitchFamily="18" charset="0"/>
              </a:rPr>
              <a:t>h</a:t>
            </a:r>
            <a:r>
              <a:rPr lang="en-US" altLang="zh-CN" sz="3600" b="1" baseline="-25000" dirty="0">
                <a:latin typeface="Times New Roman" panose="02020603050405020304" pitchFamily="18" charset="0"/>
              </a:rPr>
              <a:t>1</a:t>
            </a:r>
            <a:r>
              <a:rPr lang="en-US" altLang="zh-CN" sz="3600" b="1" i="1" dirty="0">
                <a:latin typeface="Times New Roman" panose="02020603050405020304" pitchFamily="18" charset="0"/>
              </a:rPr>
              <a:t> = </a:t>
            </a:r>
            <a:r>
              <a:rPr lang="en-US" altLang="zh-CN" sz="3600" b="1" dirty="0">
                <a:latin typeface="Times New Roman" panose="02020603050405020304" pitchFamily="18" charset="0"/>
              </a:rPr>
              <a:t>84 kJ/kg</a:t>
            </a:r>
            <a:endParaRPr lang="en-US" altLang="zh-CN" sz="3600" b="1" i="1" dirty="0">
              <a:latin typeface="Times New Roman" panose="02020603050405020304" pitchFamily="18" charset="0"/>
            </a:endParaRPr>
          </a:p>
          <a:p>
            <a:pPr eaLnBrk="1" hangingPunct="1">
              <a:spcBef>
                <a:spcPct val="10000"/>
              </a:spcBef>
              <a:buFontTx/>
              <a:buNone/>
            </a:pPr>
            <a:r>
              <a:rPr lang="en-US" altLang="zh-CN" sz="3600" b="1" dirty="0">
                <a:solidFill>
                  <a:srgbClr val="800080"/>
                </a:solidFill>
                <a:latin typeface="Times New Roman" panose="02020603050405020304" pitchFamily="18" charset="0"/>
              </a:rPr>
              <a:t>100 </a:t>
            </a:r>
            <a:r>
              <a:rPr lang="en-US" altLang="zh-CN" sz="3600" b="1" baseline="30000" dirty="0" err="1">
                <a:solidFill>
                  <a:srgbClr val="800080"/>
                </a:solidFill>
                <a:latin typeface="Times New Roman" panose="02020603050405020304" pitchFamily="18" charset="0"/>
              </a:rPr>
              <a:t>o</a:t>
            </a:r>
            <a:r>
              <a:rPr lang="en-US" altLang="zh-CN" sz="3600" b="1" dirty="0" err="1">
                <a:solidFill>
                  <a:srgbClr val="800080"/>
                </a:solidFill>
                <a:latin typeface="Times New Roman" panose="02020603050405020304" pitchFamily="18" charset="0"/>
              </a:rPr>
              <a:t>C</a:t>
            </a:r>
            <a:r>
              <a:rPr lang="zh-CN" altLang="zh-CN" sz="3600" b="1" dirty="0">
                <a:solidFill>
                  <a:srgbClr val="800080"/>
                </a:solidFill>
                <a:latin typeface="Times New Roman" panose="02020603050405020304" pitchFamily="18" charset="0"/>
              </a:rPr>
              <a:t>水蒸气</a:t>
            </a:r>
            <a:r>
              <a:rPr lang="zh-CN" altLang="en-US" sz="3600" b="1" dirty="0">
                <a:solidFill>
                  <a:srgbClr val="800080"/>
                </a:solidFill>
                <a:latin typeface="Times New Roman" panose="02020603050405020304" pitchFamily="18" charset="0"/>
              </a:rPr>
              <a:t>的</a:t>
            </a:r>
            <a:r>
              <a:rPr lang="zh-CN" altLang="en-US" sz="3600" b="1" dirty="0">
                <a:solidFill>
                  <a:srgbClr val="FFFF99"/>
                </a:solidFill>
                <a:latin typeface="Times New Roman" panose="02020603050405020304" pitchFamily="18" charset="0"/>
              </a:rPr>
              <a:t> </a:t>
            </a:r>
            <a:r>
              <a:rPr lang="en-US" altLang="zh-CN" sz="3600" b="1" i="1" dirty="0">
                <a:latin typeface="Times New Roman" panose="02020603050405020304" pitchFamily="18" charset="0"/>
              </a:rPr>
              <a:t>h</a:t>
            </a:r>
            <a:r>
              <a:rPr lang="en-US" altLang="zh-CN" sz="3600" b="1" baseline="-25000" dirty="0">
                <a:latin typeface="Times New Roman" panose="02020603050405020304" pitchFamily="18" charset="0"/>
              </a:rPr>
              <a:t>2 </a:t>
            </a:r>
            <a:r>
              <a:rPr lang="en-US" altLang="zh-CN" sz="3600" b="1" i="1" dirty="0">
                <a:latin typeface="Times New Roman" panose="02020603050405020304" pitchFamily="18" charset="0"/>
              </a:rPr>
              <a:t>= </a:t>
            </a:r>
            <a:r>
              <a:rPr lang="en-US" altLang="zh-CN" sz="3600" b="1" dirty="0">
                <a:latin typeface="Times New Roman" panose="02020603050405020304" pitchFamily="18" charset="0"/>
              </a:rPr>
              <a:t>2676 kJ/kg</a:t>
            </a:r>
            <a:endParaRPr lang="en-US" altLang="zh-CN" sz="3600" b="1" dirty="0">
              <a:latin typeface="Times New Roman" panose="02020603050405020304" pitchFamily="18" charset="0"/>
            </a:endParaRPr>
          </a:p>
        </p:txBody>
      </p:sp>
      <p:graphicFrame>
        <p:nvGraphicFramePr>
          <p:cNvPr id="44037" name="Object 8"/>
          <p:cNvGraphicFramePr>
            <a:graphicFrameLocks noChangeAspect="1"/>
          </p:cNvGraphicFramePr>
          <p:nvPr/>
        </p:nvGraphicFramePr>
        <p:xfrm>
          <a:off x="3101975" y="5930900"/>
          <a:ext cx="2233613" cy="661988"/>
        </p:xfrm>
        <a:graphic>
          <a:graphicData uri="http://schemas.openxmlformats.org/presentationml/2006/ole">
            <mc:AlternateContent xmlns:mc="http://schemas.openxmlformats.org/markup-compatibility/2006">
              <mc:Choice xmlns:v="urn:schemas-microsoft-com:vml" Requires="v">
                <p:oleObj spid="_x0000_s33798" name="" r:id="rId1" imgW="685165" imgH="203200" progId="Equation.DSMT4">
                  <p:embed/>
                </p:oleObj>
              </mc:Choice>
              <mc:Fallback>
                <p:oleObj name="" r:id="rId1" imgW="685165" imgH="203200"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1975" y="5930900"/>
                        <a:ext cx="2233613"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8" name="Rectangle 5"/>
          <p:cNvSpPr>
            <a:spLocks noChangeArrowheads="1"/>
          </p:cNvSpPr>
          <p:nvPr/>
        </p:nvSpPr>
        <p:spPr bwMode="auto">
          <a:xfrm>
            <a:off x="1016000" y="1673225"/>
            <a:ext cx="71913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solidFill>
                  <a:srgbClr val="800080"/>
                </a:solidFill>
                <a:latin typeface="Times New Roman" panose="02020603050405020304" pitchFamily="18" charset="0"/>
              </a:rPr>
              <a:t>例：</a:t>
            </a:r>
            <a:r>
              <a:rPr lang="en-US" altLang="zh-CN" sz="4000" b="1" i="1" dirty="0">
                <a:solidFill>
                  <a:srgbClr val="800080"/>
                </a:solidFill>
                <a:latin typeface="Times New Roman" panose="02020603050405020304" pitchFamily="18" charset="0"/>
                <a:ea typeface="幼圆" panose="02010509060101010101" pitchFamily="49" charset="-122"/>
              </a:rPr>
              <a:t>c</a:t>
            </a:r>
            <a:r>
              <a:rPr lang="en-US" altLang="zh-CN" sz="4000" b="1" baseline="-25000" dirty="0">
                <a:solidFill>
                  <a:srgbClr val="800080"/>
                </a:solidFill>
                <a:latin typeface="Times New Roman" panose="02020603050405020304" pitchFamily="18" charset="0"/>
                <a:ea typeface="幼圆" panose="02010509060101010101" pitchFamily="49" charset="-122"/>
              </a:rPr>
              <a:t>f1 </a:t>
            </a:r>
            <a:r>
              <a:rPr lang="en-US" altLang="zh-CN" sz="4000" b="1" i="1" dirty="0">
                <a:solidFill>
                  <a:srgbClr val="800080"/>
                </a:solidFill>
                <a:latin typeface="Times New Roman" panose="02020603050405020304" pitchFamily="18" charset="0"/>
                <a:ea typeface="幼圆" panose="02010509060101010101" pitchFamily="49" charset="-122"/>
              </a:rPr>
              <a:t>= </a:t>
            </a:r>
            <a:r>
              <a:rPr lang="en-US" altLang="zh-CN" sz="4000" b="1" dirty="0">
                <a:solidFill>
                  <a:srgbClr val="800080"/>
                </a:solidFill>
                <a:latin typeface="Times New Roman" panose="02020603050405020304" pitchFamily="18" charset="0"/>
                <a:ea typeface="幼圆" panose="02010509060101010101" pitchFamily="49" charset="-122"/>
              </a:rPr>
              <a:t>1</a:t>
            </a:r>
            <a:r>
              <a:rPr lang="en-US" altLang="zh-CN" sz="4000" b="1" i="1" dirty="0">
                <a:solidFill>
                  <a:srgbClr val="800080"/>
                </a:solidFill>
                <a:latin typeface="Times New Roman" panose="02020603050405020304" pitchFamily="18" charset="0"/>
                <a:ea typeface="幼圆" panose="02010509060101010101" pitchFamily="49" charset="-122"/>
              </a:rPr>
              <a:t> </a:t>
            </a:r>
            <a:r>
              <a:rPr lang="en-US" altLang="zh-CN" sz="4000" b="1" dirty="0">
                <a:solidFill>
                  <a:srgbClr val="800080"/>
                </a:solidFill>
                <a:latin typeface="Times New Roman" panose="02020603050405020304" pitchFamily="18" charset="0"/>
                <a:ea typeface="幼圆" panose="02010509060101010101" pitchFamily="49" charset="-122"/>
              </a:rPr>
              <a:t>m/s</a:t>
            </a:r>
            <a:r>
              <a:rPr lang="en-US" altLang="zh-CN" sz="4000" b="1" i="1" dirty="0">
                <a:solidFill>
                  <a:srgbClr val="800080"/>
                </a:solidFill>
                <a:latin typeface="Times New Roman" panose="02020603050405020304" pitchFamily="18" charset="0"/>
                <a:ea typeface="幼圆" panose="02010509060101010101" pitchFamily="49" charset="-122"/>
              </a:rPr>
              <a:t>       c</a:t>
            </a:r>
            <a:r>
              <a:rPr lang="en-US" altLang="zh-CN" sz="4000" b="1" baseline="-25000" dirty="0">
                <a:solidFill>
                  <a:srgbClr val="800080"/>
                </a:solidFill>
                <a:latin typeface="Times New Roman" panose="02020603050405020304" pitchFamily="18" charset="0"/>
                <a:ea typeface="幼圆" panose="02010509060101010101" pitchFamily="49" charset="-122"/>
              </a:rPr>
              <a:t>f2</a:t>
            </a:r>
            <a:r>
              <a:rPr lang="en-US" altLang="zh-CN" sz="4000" b="1" i="1" dirty="0">
                <a:solidFill>
                  <a:srgbClr val="800080"/>
                </a:solidFill>
                <a:latin typeface="Times New Roman" panose="02020603050405020304" pitchFamily="18" charset="0"/>
                <a:ea typeface="幼圆" panose="02010509060101010101" pitchFamily="49" charset="-122"/>
              </a:rPr>
              <a:t> = </a:t>
            </a:r>
            <a:r>
              <a:rPr lang="en-US" altLang="zh-CN" sz="4000" b="1" dirty="0">
                <a:solidFill>
                  <a:srgbClr val="800080"/>
                </a:solidFill>
                <a:latin typeface="Times New Roman" panose="02020603050405020304" pitchFamily="18" charset="0"/>
                <a:ea typeface="幼圆" panose="02010509060101010101" pitchFamily="49" charset="-122"/>
              </a:rPr>
              <a:t>30</a:t>
            </a:r>
            <a:r>
              <a:rPr lang="en-US" altLang="zh-CN" sz="4000" b="1" i="1" dirty="0">
                <a:solidFill>
                  <a:srgbClr val="800080"/>
                </a:solidFill>
                <a:latin typeface="Times New Roman" panose="02020603050405020304" pitchFamily="18" charset="0"/>
                <a:ea typeface="幼圆" panose="02010509060101010101" pitchFamily="49" charset="-122"/>
              </a:rPr>
              <a:t> </a:t>
            </a:r>
            <a:r>
              <a:rPr lang="en-US" altLang="zh-CN" sz="4000" b="1" dirty="0">
                <a:solidFill>
                  <a:srgbClr val="800080"/>
                </a:solidFill>
                <a:latin typeface="Times New Roman" panose="02020603050405020304" pitchFamily="18" charset="0"/>
                <a:ea typeface="幼圆" panose="02010509060101010101" pitchFamily="49" charset="-122"/>
              </a:rPr>
              <a:t>m/s</a:t>
            </a:r>
            <a:br>
              <a:rPr lang="en-US" altLang="zh-CN" sz="4000" b="1" i="1" dirty="0">
                <a:solidFill>
                  <a:srgbClr val="FFFF99"/>
                </a:solidFill>
                <a:latin typeface="Times New Roman" panose="02020603050405020304" pitchFamily="18" charset="0"/>
                <a:ea typeface="幼圆" panose="02010509060101010101" pitchFamily="49" charset="-122"/>
              </a:rPr>
            </a:br>
            <a:r>
              <a:rPr lang="en-US" altLang="zh-CN" sz="4000" b="1" i="1" dirty="0">
                <a:solidFill>
                  <a:srgbClr val="FFFF99"/>
                </a:solidFill>
                <a:latin typeface="Times New Roman" panose="02020603050405020304" pitchFamily="18" charset="0"/>
                <a:ea typeface="幼圆" panose="02010509060101010101" pitchFamily="49" charset="-122"/>
              </a:rPr>
              <a:t>        </a:t>
            </a:r>
            <a:r>
              <a:rPr lang="en-US" altLang="zh-CN" sz="4000" b="1" dirty="0">
                <a:solidFill>
                  <a:srgbClr val="000000"/>
                </a:solidFill>
                <a:latin typeface="Times New Roman" panose="02020603050405020304" pitchFamily="18" charset="0"/>
                <a:ea typeface="幼圆" panose="02010509060101010101" pitchFamily="49" charset="-122"/>
              </a:rPr>
              <a:t>(</a:t>
            </a:r>
            <a:r>
              <a:rPr lang="en-US" altLang="zh-CN" sz="4000" b="1" i="1" dirty="0">
                <a:solidFill>
                  <a:srgbClr val="000000"/>
                </a:solidFill>
                <a:latin typeface="Times New Roman" panose="02020603050405020304" pitchFamily="18" charset="0"/>
                <a:ea typeface="幼圆" panose="02010509060101010101" pitchFamily="49" charset="-122"/>
              </a:rPr>
              <a:t>c</a:t>
            </a:r>
            <a:r>
              <a:rPr lang="en-US" altLang="zh-CN" sz="4000" b="1" baseline="-25000" dirty="0">
                <a:solidFill>
                  <a:srgbClr val="000000"/>
                </a:solidFill>
                <a:latin typeface="Times New Roman" panose="02020603050405020304" pitchFamily="18" charset="0"/>
                <a:ea typeface="幼圆" panose="02010509060101010101" pitchFamily="49" charset="-122"/>
              </a:rPr>
              <a:t>f2</a:t>
            </a:r>
            <a:r>
              <a:rPr lang="en-US" altLang="zh-CN" sz="4000" b="1" baseline="30000" dirty="0">
                <a:solidFill>
                  <a:srgbClr val="000000"/>
                </a:solidFill>
                <a:latin typeface="Times New Roman" panose="02020603050405020304" pitchFamily="18" charset="0"/>
                <a:ea typeface="幼圆" panose="02010509060101010101" pitchFamily="49" charset="-122"/>
              </a:rPr>
              <a:t>2</a:t>
            </a:r>
            <a:r>
              <a:rPr lang="en-US" altLang="zh-CN" sz="4000" b="1" i="1" dirty="0">
                <a:solidFill>
                  <a:srgbClr val="000000"/>
                </a:solidFill>
                <a:latin typeface="Times New Roman" panose="02020603050405020304" pitchFamily="18" charset="0"/>
                <a:ea typeface="幼圆" panose="02010509060101010101" pitchFamily="49" charset="-122"/>
              </a:rPr>
              <a:t> - c</a:t>
            </a:r>
            <a:r>
              <a:rPr lang="en-US" altLang="zh-CN" sz="4000" b="1" baseline="-25000" dirty="0">
                <a:solidFill>
                  <a:srgbClr val="000000"/>
                </a:solidFill>
                <a:latin typeface="Times New Roman" panose="02020603050405020304" pitchFamily="18" charset="0"/>
                <a:ea typeface="幼圆" panose="02010509060101010101" pitchFamily="49" charset="-122"/>
              </a:rPr>
              <a:t>f1</a:t>
            </a:r>
            <a:r>
              <a:rPr lang="en-US" altLang="zh-CN" sz="4000" b="1" baseline="30000" dirty="0">
                <a:solidFill>
                  <a:srgbClr val="000000"/>
                </a:solidFill>
                <a:latin typeface="Times New Roman" panose="02020603050405020304" pitchFamily="18" charset="0"/>
                <a:ea typeface="幼圆" panose="02010509060101010101" pitchFamily="49" charset="-122"/>
              </a:rPr>
              <a:t>2</a:t>
            </a:r>
            <a:r>
              <a:rPr lang="en-US" altLang="zh-CN" sz="4000" b="1" dirty="0">
                <a:solidFill>
                  <a:srgbClr val="000000"/>
                </a:solidFill>
                <a:latin typeface="Times New Roman" panose="02020603050405020304" pitchFamily="18" charset="0"/>
                <a:ea typeface="幼圆" panose="02010509060101010101" pitchFamily="49" charset="-122"/>
              </a:rPr>
              <a:t>) /</a:t>
            </a:r>
            <a:r>
              <a:rPr lang="en-US" altLang="zh-CN" sz="4000" b="1" i="1" dirty="0">
                <a:solidFill>
                  <a:srgbClr val="000000"/>
                </a:solidFill>
                <a:latin typeface="Times New Roman" panose="02020603050405020304" pitchFamily="18" charset="0"/>
                <a:ea typeface="幼圆" panose="02010509060101010101" pitchFamily="49" charset="-122"/>
              </a:rPr>
              <a:t> </a:t>
            </a:r>
            <a:r>
              <a:rPr lang="en-US" altLang="zh-CN" sz="4000" b="1" dirty="0">
                <a:solidFill>
                  <a:srgbClr val="000000"/>
                </a:solidFill>
                <a:latin typeface="Times New Roman" panose="02020603050405020304" pitchFamily="18" charset="0"/>
                <a:ea typeface="幼圆" panose="02010509060101010101" pitchFamily="49" charset="-122"/>
              </a:rPr>
              <a:t>2</a:t>
            </a:r>
            <a:r>
              <a:rPr lang="en-US" altLang="zh-CN" sz="4000" b="1" i="1" dirty="0">
                <a:solidFill>
                  <a:srgbClr val="000000"/>
                </a:solidFill>
                <a:latin typeface="Times New Roman" panose="02020603050405020304" pitchFamily="18" charset="0"/>
                <a:ea typeface="幼圆" panose="02010509060101010101" pitchFamily="49" charset="-122"/>
              </a:rPr>
              <a:t> = </a:t>
            </a:r>
            <a:r>
              <a:rPr lang="en-US" altLang="zh-CN" sz="4000" b="1" dirty="0">
                <a:solidFill>
                  <a:srgbClr val="000000"/>
                </a:solidFill>
                <a:latin typeface="Times New Roman" panose="02020603050405020304" pitchFamily="18" charset="0"/>
                <a:ea typeface="幼圆" panose="02010509060101010101" pitchFamily="49" charset="-122"/>
              </a:rPr>
              <a:t>0.449</a:t>
            </a:r>
            <a:r>
              <a:rPr lang="en-US" altLang="zh-CN" sz="4000" b="1" i="1" dirty="0">
                <a:solidFill>
                  <a:srgbClr val="000000"/>
                </a:solidFill>
                <a:latin typeface="Times New Roman" panose="02020603050405020304" pitchFamily="18" charset="0"/>
                <a:ea typeface="幼圆" panose="02010509060101010101" pitchFamily="49" charset="-122"/>
              </a:rPr>
              <a:t> </a:t>
            </a:r>
            <a:r>
              <a:rPr lang="en-US" altLang="zh-CN" sz="4000" b="1" dirty="0">
                <a:solidFill>
                  <a:srgbClr val="000000"/>
                </a:solidFill>
                <a:latin typeface="Times New Roman" panose="02020603050405020304" pitchFamily="18" charset="0"/>
                <a:ea typeface="幼圆" panose="02010509060101010101" pitchFamily="49" charset="-122"/>
              </a:rPr>
              <a:t>kJ/ kg</a:t>
            </a:r>
            <a:endParaRPr lang="en-US" altLang="zh-CN" sz="4000" b="1" dirty="0">
              <a:solidFill>
                <a:srgbClr val="000000"/>
              </a:solidFill>
              <a:latin typeface="Times New Roman" panose="02020603050405020304" pitchFamily="18" charset="0"/>
              <a:ea typeface="幼圆" panose="02010509060101010101" pitchFamily="49" charset="-122"/>
            </a:endParaRPr>
          </a:p>
        </p:txBody>
      </p:sp>
      <p:graphicFrame>
        <p:nvGraphicFramePr>
          <p:cNvPr id="44039" name="对象 288771"/>
          <p:cNvGraphicFramePr/>
          <p:nvPr/>
        </p:nvGraphicFramePr>
        <p:xfrm>
          <a:off x="1646238" y="903288"/>
          <a:ext cx="5310187" cy="836612"/>
        </p:xfrm>
        <a:graphic>
          <a:graphicData uri="http://schemas.openxmlformats.org/presentationml/2006/ole">
            <mc:AlternateContent xmlns:mc="http://schemas.openxmlformats.org/markup-compatibility/2006">
              <mc:Choice xmlns:v="urn:schemas-microsoft-com:vml" Requires="v">
                <p:oleObj spid="_x0000_s33799" name="" r:id="rId3" imgW="2476500" imgH="393700" progId="Equation.DSMT4">
                  <p:embed/>
                </p:oleObj>
              </mc:Choice>
              <mc:Fallback>
                <p:oleObj name="" r:id="rId3" imgW="2476500" imgH="393700" progId="Equation.DSMT4">
                  <p:embed/>
                  <p:pic>
                    <p:nvPicPr>
                      <p:cNvPr id="0" name="对象 28877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238" y="903288"/>
                        <a:ext cx="5310187"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226307"/>
          <p:cNvSpPr>
            <a:spLocks noChangeArrowheads="1"/>
          </p:cNvSpPr>
          <p:nvPr/>
        </p:nvSpPr>
        <p:spPr bwMode="auto">
          <a:xfrm>
            <a:off x="341313" y="458788"/>
            <a:ext cx="580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solidFill>
                  <a:srgbClr val="D60093"/>
                </a:solidFill>
                <a:latin typeface="楷体_GB2312" pitchFamily="49" charset="-122"/>
                <a:ea typeface="楷体_GB2312" pitchFamily="49" charset="-122"/>
              </a:rPr>
              <a:t>说明</a:t>
            </a:r>
            <a:r>
              <a:rPr lang="en-US" altLang="zh-CN" sz="2400" b="1" dirty="0">
                <a:solidFill>
                  <a:srgbClr val="D60093"/>
                </a:solidFill>
                <a:latin typeface="楷体_GB2312" pitchFamily="49" charset="-122"/>
                <a:ea typeface="楷体_GB2312" pitchFamily="49" charset="-122"/>
              </a:rPr>
              <a:t>4 </a:t>
            </a:r>
            <a:r>
              <a:rPr lang="zh-CN" altLang="en-US" sz="2400" b="1" dirty="0">
                <a:solidFill>
                  <a:srgbClr val="D60093"/>
                </a:solidFill>
                <a:latin typeface="楷体_GB2312" pitchFamily="49" charset="-122"/>
                <a:ea typeface="楷体_GB2312" pitchFamily="49" charset="-122"/>
              </a:rPr>
              <a:t>若无电功，</a:t>
            </a:r>
            <a:r>
              <a:rPr lang="en-US" altLang="zh-CN" sz="2400" b="1" i="1" dirty="0">
                <a:solidFill>
                  <a:srgbClr val="D60093"/>
                </a:solidFill>
                <a:latin typeface="Times New Roman" panose="02020603050405020304" pitchFamily="18" charset="0"/>
                <a:ea typeface="楷体_GB2312" pitchFamily="49" charset="-122"/>
              </a:rPr>
              <a:t>W</a:t>
            </a:r>
            <a:r>
              <a:rPr lang="zh-CN" altLang="en-US" sz="2400" b="1" dirty="0">
                <a:solidFill>
                  <a:srgbClr val="D60093"/>
                </a:solidFill>
                <a:latin typeface="楷体_GB2312" pitchFamily="49" charset="-122"/>
                <a:ea typeface="楷体_GB2312" pitchFamily="49" charset="-122"/>
              </a:rPr>
              <a:t>仅为轴功</a:t>
            </a:r>
            <a:endParaRPr lang="zh-CN" altLang="en-US" sz="2400" b="1" dirty="0">
              <a:solidFill>
                <a:srgbClr val="D60093"/>
              </a:solidFill>
              <a:latin typeface="楷体_GB2312" pitchFamily="49" charset="-122"/>
              <a:ea typeface="楷体_GB2312" pitchFamily="49" charset="-122"/>
            </a:endParaRPr>
          </a:p>
        </p:txBody>
      </p:sp>
      <p:graphicFrame>
        <p:nvGraphicFramePr>
          <p:cNvPr id="45059" name="对象 226308"/>
          <p:cNvGraphicFramePr/>
          <p:nvPr/>
        </p:nvGraphicFramePr>
        <p:xfrm>
          <a:off x="1692275" y="1133475"/>
          <a:ext cx="5849938" cy="790575"/>
        </p:xfrm>
        <a:graphic>
          <a:graphicData uri="http://schemas.openxmlformats.org/presentationml/2006/ole">
            <mc:AlternateContent xmlns:mc="http://schemas.openxmlformats.org/markup-compatibility/2006">
              <mc:Choice xmlns:v="urn:schemas-microsoft-com:vml" Requires="v">
                <p:oleObj spid="_x0000_s34828" name="" r:id="rId1" imgW="2881630" imgH="393700" progId="Equation.DSMT4">
                  <p:embed/>
                </p:oleObj>
              </mc:Choice>
              <mc:Fallback>
                <p:oleObj name="" r:id="rId1" imgW="2881630" imgH="393700" progId="Equation.DSMT4">
                  <p:embed/>
                  <p:pic>
                    <p:nvPicPr>
                      <p:cNvPr id="0" name="对象 22630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133475"/>
                        <a:ext cx="58499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060" name="对象 226309"/>
          <p:cNvGraphicFramePr/>
          <p:nvPr/>
        </p:nvGraphicFramePr>
        <p:xfrm>
          <a:off x="1646238" y="2168525"/>
          <a:ext cx="5849937" cy="790575"/>
        </p:xfrm>
        <a:graphic>
          <a:graphicData uri="http://schemas.openxmlformats.org/presentationml/2006/ole">
            <mc:AlternateContent xmlns:mc="http://schemas.openxmlformats.org/markup-compatibility/2006">
              <mc:Choice xmlns:v="urn:schemas-microsoft-com:vml" Requires="v">
                <p:oleObj spid="_x0000_s34829" name="" r:id="rId3" imgW="2881630" imgH="393700" progId="Equation.DSMT4">
                  <p:embed/>
                </p:oleObj>
              </mc:Choice>
              <mc:Fallback>
                <p:oleObj name="" r:id="rId3" imgW="2881630" imgH="393700" progId="Equation.DSMT4">
                  <p:embed/>
                  <p:pic>
                    <p:nvPicPr>
                      <p:cNvPr id="0" name="对象 22630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238" y="2168525"/>
                        <a:ext cx="5849937"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1" name="文本框 226310"/>
          <p:cNvSpPr txBox="1">
            <a:spLocks noChangeArrowheads="1"/>
          </p:cNvSpPr>
          <p:nvPr/>
        </p:nvSpPr>
        <p:spPr bwMode="auto">
          <a:xfrm>
            <a:off x="2097088" y="3473450"/>
            <a:ext cx="6248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
                <a:schemeClr val="folHlink"/>
              </a:buClr>
              <a:buFont typeface="Webdings" panose="05030102010509060703" pitchFamily="18" charset="2"/>
              <a:buNone/>
            </a:pPr>
            <a:r>
              <a:rPr lang="zh-CN" altLang="en-US" sz="2800" b="1" dirty="0">
                <a:latin typeface="Tahoma" panose="020B0604030504040204" pitchFamily="34" charset="0"/>
                <a:ea typeface="黑体" panose="02010609060101010101" pitchFamily="49" charset="-122"/>
              </a:rPr>
              <a:t>此三项都属于机械能的范畴，总称为</a:t>
            </a:r>
            <a:r>
              <a:rPr lang="zh-CN" altLang="en-US" b="1" dirty="0">
                <a:solidFill>
                  <a:srgbClr val="0000CC"/>
                </a:solidFill>
                <a:latin typeface="Tahoma" panose="020B0604030504040204" pitchFamily="34" charset="0"/>
                <a:ea typeface="黑体" panose="02010609060101010101" pitchFamily="49" charset="-122"/>
              </a:rPr>
              <a:t>技术功</a:t>
            </a:r>
            <a:r>
              <a:rPr lang="zh-CN" altLang="en-US" b="1" dirty="0">
                <a:latin typeface="Tahoma" panose="020B0604030504040204" pitchFamily="34" charset="0"/>
                <a:ea typeface="黑体" panose="02010609060101010101" pitchFamily="49" charset="-122"/>
              </a:rPr>
              <a:t>，</a:t>
            </a:r>
            <a:r>
              <a:rPr lang="zh-CN" altLang="en-US" sz="2800" b="1" dirty="0">
                <a:latin typeface="Tahoma" panose="020B0604030504040204" pitchFamily="34" charset="0"/>
                <a:ea typeface="黑体" panose="02010609060101010101" pitchFamily="49" charset="-122"/>
              </a:rPr>
              <a:t>用　 表示</a:t>
            </a:r>
            <a:endParaRPr lang="zh-CN" altLang="en-US" sz="2800" b="1" dirty="0">
              <a:latin typeface="Tahoma" panose="020B0604030504040204" pitchFamily="34" charset="0"/>
              <a:ea typeface="黑体" panose="02010609060101010101" pitchFamily="49" charset="-122"/>
            </a:endParaRPr>
          </a:p>
        </p:txBody>
      </p:sp>
      <p:sp>
        <p:nvSpPr>
          <p:cNvPr id="45062" name="流程图: 过程 226311"/>
          <p:cNvSpPr>
            <a:spLocks noChangeArrowheads="1"/>
          </p:cNvSpPr>
          <p:nvPr/>
        </p:nvSpPr>
        <p:spPr bwMode="auto">
          <a:xfrm>
            <a:off x="3446463" y="2079625"/>
            <a:ext cx="4094162" cy="993775"/>
          </a:xfrm>
          <a:prstGeom prst="flowChartProcess">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45063" name="对象 226312"/>
          <p:cNvGraphicFramePr/>
          <p:nvPr/>
        </p:nvGraphicFramePr>
        <p:xfrm>
          <a:off x="4198938" y="3960813"/>
          <a:ext cx="433387" cy="519112"/>
        </p:xfrm>
        <a:graphic>
          <a:graphicData uri="http://schemas.openxmlformats.org/presentationml/2006/ole">
            <mc:AlternateContent xmlns:mc="http://schemas.openxmlformats.org/markup-compatibility/2006">
              <mc:Choice xmlns:v="urn:schemas-microsoft-com:vml" Requires="v">
                <p:oleObj spid="_x0000_s34830" name="Equation" r:id="rId5" imgW="88900" imgH="114300" progId="Equation.DSMT4">
                  <p:embed/>
                </p:oleObj>
              </mc:Choice>
              <mc:Fallback>
                <p:oleObj name="Equation" r:id="rId5" imgW="88900" imgH="114300" progId="Equation.DSMT4">
                  <p:embed/>
                  <p:pic>
                    <p:nvPicPr>
                      <p:cNvPr id="0" name="对象 2263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8938" y="3960813"/>
                        <a:ext cx="433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4" name="矩形 22631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45065" name="对象 226313"/>
          <p:cNvGraphicFramePr/>
          <p:nvPr/>
        </p:nvGraphicFramePr>
        <p:xfrm>
          <a:off x="2232025" y="4778375"/>
          <a:ext cx="3897313" cy="511175"/>
        </p:xfrm>
        <a:graphic>
          <a:graphicData uri="http://schemas.openxmlformats.org/presentationml/2006/ole">
            <mc:AlternateContent xmlns:mc="http://schemas.openxmlformats.org/markup-compatibility/2006">
              <mc:Choice xmlns:v="urn:schemas-microsoft-com:vml" Requires="v">
                <p:oleObj spid="_x0000_s34831" name="" r:id="rId7" imgW="1739900" imgH="228600" progId="Equation.DSMT4">
                  <p:embed/>
                </p:oleObj>
              </mc:Choice>
              <mc:Fallback>
                <p:oleObj name="" r:id="rId7" imgW="1739900" imgH="228600" progId="Equation.DSMT4">
                  <p:embed/>
                  <p:pic>
                    <p:nvPicPr>
                      <p:cNvPr id="0" name="对象 22631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2025" y="4778375"/>
                        <a:ext cx="389731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6" name="矩形 22631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graphicFrame>
        <p:nvGraphicFramePr>
          <p:cNvPr id="45067" name="对象 226315"/>
          <p:cNvGraphicFramePr/>
          <p:nvPr/>
        </p:nvGraphicFramePr>
        <p:xfrm>
          <a:off x="2276475" y="5422900"/>
          <a:ext cx="3870325" cy="581025"/>
        </p:xfrm>
        <a:graphic>
          <a:graphicData uri="http://schemas.openxmlformats.org/presentationml/2006/ole">
            <mc:AlternateContent xmlns:mc="http://schemas.openxmlformats.org/markup-compatibility/2006">
              <mc:Choice xmlns:v="urn:schemas-microsoft-com:vml" Requires="v">
                <p:oleObj spid="_x0000_s34832" name="" r:id="rId9" imgW="1524000" imgH="228600" progId="Equation.DSMT4">
                  <p:embed/>
                </p:oleObj>
              </mc:Choice>
              <mc:Fallback>
                <p:oleObj name="" r:id="rId9" imgW="1524000" imgH="228600" progId="Equation.DSMT4">
                  <p:embed/>
                  <p:pic>
                    <p:nvPicPr>
                      <p:cNvPr id="0" name="对象 22631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6475" y="5422900"/>
                        <a:ext cx="38703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8" name="下箭头 64523"/>
          <p:cNvSpPr>
            <a:spLocks noChangeArrowheads="1"/>
          </p:cNvSpPr>
          <p:nvPr/>
        </p:nvSpPr>
        <p:spPr bwMode="auto">
          <a:xfrm rot="2278296">
            <a:off x="5111750" y="3068638"/>
            <a:ext cx="225425" cy="495300"/>
          </a:xfrm>
          <a:prstGeom prst="downArrow">
            <a:avLst>
              <a:gd name="adj1" fmla="val 50000"/>
              <a:gd name="adj2" fmla="val 54909"/>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30401"/>
          <p:cNvSpPr>
            <a:spLocks noChangeArrowheads="1"/>
          </p:cNvSpPr>
          <p:nvPr/>
        </p:nvSpPr>
        <p:spPr bwMode="auto">
          <a:xfrm>
            <a:off x="1150938" y="1898650"/>
            <a:ext cx="69310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3600" b="1" dirty="0">
                <a:latin typeface="黑体" panose="02010609060101010101" pitchFamily="49" charset="-122"/>
                <a:ea typeface="黑体" panose="02010609060101010101" pitchFamily="49" charset="-122"/>
              </a:rPr>
              <a:t>3</a:t>
            </a:r>
            <a:r>
              <a:rPr lang="zh-CN" altLang="en-US" sz="3600" b="1" dirty="0">
                <a:latin typeface="黑体" panose="02010609060101010101" pitchFamily="49" charset="-122"/>
                <a:ea typeface="黑体" panose="02010609060101010101" pitchFamily="49" charset="-122"/>
              </a:rPr>
              <a:t>－</a:t>
            </a:r>
            <a:r>
              <a:rPr lang="en-US" altLang="zh-CN" sz="3600" b="1" dirty="0">
                <a:latin typeface="黑体" panose="02010609060101010101" pitchFamily="49" charset="-122"/>
                <a:ea typeface="黑体" panose="02010609060101010101" pitchFamily="49" charset="-122"/>
              </a:rPr>
              <a:t>5 </a:t>
            </a:r>
            <a:r>
              <a:rPr lang="zh-CN" altLang="en-US" sz="3600" b="1" dirty="0">
                <a:latin typeface="黑体" panose="02010609060101010101" pitchFamily="49" charset="-122"/>
                <a:ea typeface="黑体" panose="02010609060101010101" pitchFamily="49" charset="-122"/>
              </a:rPr>
              <a:t>稳定流动能量方程的应用</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
          <p:cNvSpPr>
            <a:spLocks noChangeArrowheads="1"/>
          </p:cNvSpPr>
          <p:nvPr/>
        </p:nvSpPr>
        <p:spPr bwMode="auto">
          <a:xfrm>
            <a:off x="566738" y="368300"/>
            <a:ext cx="78311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4000" b="1" dirty="0">
                <a:latin typeface="楷体_GB2312" pitchFamily="49" charset="-122"/>
                <a:ea typeface="黑体" panose="02010609060101010101" pitchFamily="49" charset="-122"/>
              </a:rPr>
              <a:t>应用能量方程分析具体问题时的步骤归纳如下</a:t>
            </a:r>
            <a:endParaRPr lang="zh-CN" altLang="en-US" sz="4000" b="1" dirty="0">
              <a:latin typeface="楷体_GB2312" pitchFamily="49" charset="-122"/>
              <a:ea typeface="黑体" panose="02010609060101010101" pitchFamily="49" charset="-122"/>
            </a:endParaRPr>
          </a:p>
        </p:txBody>
      </p:sp>
      <p:sp>
        <p:nvSpPr>
          <p:cNvPr id="47107" name="矩形 2"/>
          <p:cNvSpPr>
            <a:spLocks noChangeArrowheads="1"/>
          </p:cNvSpPr>
          <p:nvPr/>
        </p:nvSpPr>
        <p:spPr bwMode="auto">
          <a:xfrm>
            <a:off x="568325" y="1898650"/>
            <a:ext cx="78295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dirty="0">
                <a:solidFill>
                  <a:srgbClr val="0000CC"/>
                </a:solidFill>
                <a:latin typeface="楷体_GB2312" pitchFamily="49" charset="-122"/>
                <a:ea typeface="黑体" panose="02010609060101010101" pitchFamily="49" charset="-122"/>
              </a:rPr>
              <a:t>1</a:t>
            </a:r>
            <a:r>
              <a:rPr lang="zh-CN" altLang="en-US" sz="4000" b="1" dirty="0">
                <a:solidFill>
                  <a:srgbClr val="0000CC"/>
                </a:solidFill>
                <a:latin typeface="楷体_GB2312" pitchFamily="49" charset="-122"/>
                <a:ea typeface="黑体" panose="02010609060101010101" pitchFamily="49" charset="-122"/>
              </a:rPr>
              <a:t>、选定研究对象</a:t>
            </a:r>
            <a:endParaRPr lang="zh-CN" altLang="en-US" sz="4000" b="1" dirty="0">
              <a:solidFill>
                <a:srgbClr val="0000CC"/>
              </a:solidFill>
              <a:latin typeface="楷体_GB2312" pitchFamily="49" charset="-122"/>
              <a:ea typeface="黑体" panose="02010609060101010101" pitchFamily="49" charset="-122"/>
            </a:endParaRPr>
          </a:p>
        </p:txBody>
      </p:sp>
      <p:sp>
        <p:nvSpPr>
          <p:cNvPr id="47108" name="矩形 3"/>
          <p:cNvSpPr>
            <a:spLocks noChangeArrowheads="1"/>
          </p:cNvSpPr>
          <p:nvPr/>
        </p:nvSpPr>
        <p:spPr bwMode="auto">
          <a:xfrm>
            <a:off x="566738" y="2889250"/>
            <a:ext cx="7831137"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b="1" dirty="0">
                <a:latin typeface="楷体_GB2312" pitchFamily="49" charset="-122"/>
                <a:ea typeface="黑体" panose="02010609060101010101" pitchFamily="49" charset="-122"/>
              </a:rPr>
              <a:t>划定适当的边界，选择合适的热力系统。在分析</a:t>
            </a:r>
            <a:r>
              <a:rPr lang="zh-CN" altLang="zh-CN" b="1" dirty="0">
                <a:solidFill>
                  <a:srgbClr val="FF0000"/>
                </a:solidFill>
                <a:latin typeface="楷体_GB2312" pitchFamily="49" charset="-122"/>
                <a:ea typeface="黑体" panose="02010609060101010101" pitchFamily="49" charset="-122"/>
              </a:rPr>
              <a:t>定量工质时</a:t>
            </a:r>
            <a:r>
              <a:rPr lang="zh-CN" altLang="zh-CN" b="1" dirty="0">
                <a:latin typeface="楷体_GB2312" pitchFamily="49" charset="-122"/>
                <a:ea typeface="黑体" panose="02010609060101010101" pitchFamily="49" charset="-122"/>
              </a:rPr>
              <a:t>，一般热力系选控制质量系，即</a:t>
            </a:r>
            <a:r>
              <a:rPr lang="zh-CN" altLang="zh-CN" b="1" dirty="0">
                <a:solidFill>
                  <a:srgbClr val="FF0000"/>
                </a:solidFill>
                <a:latin typeface="楷体_GB2312" pitchFamily="49" charset="-122"/>
                <a:ea typeface="黑体" panose="02010609060101010101" pitchFamily="49" charset="-122"/>
              </a:rPr>
              <a:t>闭口系</a:t>
            </a:r>
            <a:r>
              <a:rPr lang="zh-CN" altLang="zh-CN" b="1" dirty="0">
                <a:latin typeface="楷体_GB2312" pitchFamily="49" charset="-122"/>
                <a:ea typeface="黑体" panose="02010609060101010101" pitchFamily="49" charset="-122"/>
              </a:rPr>
              <a:t>。在分析各种热力设备中的</a:t>
            </a:r>
            <a:r>
              <a:rPr lang="zh-CN" altLang="zh-CN" b="1" dirty="0">
                <a:solidFill>
                  <a:srgbClr val="FF00FF"/>
                </a:solidFill>
                <a:latin typeface="楷体_GB2312" pitchFamily="49" charset="-122"/>
                <a:ea typeface="黑体" panose="02010609060101010101" pitchFamily="49" charset="-122"/>
              </a:rPr>
              <a:t>流动工质时</a:t>
            </a:r>
            <a:r>
              <a:rPr lang="zh-CN" altLang="zh-CN" b="1" dirty="0">
                <a:solidFill>
                  <a:schemeClr val="tx2"/>
                </a:solidFill>
                <a:latin typeface="楷体_GB2312" pitchFamily="49" charset="-122"/>
                <a:ea typeface="黑体" panose="02010609060101010101" pitchFamily="49" charset="-122"/>
              </a:rPr>
              <a:t>（</a:t>
            </a:r>
            <a:r>
              <a:rPr lang="zh-CN" altLang="zh-CN" b="1" dirty="0">
                <a:latin typeface="楷体_GB2312" pitchFamily="49" charset="-122"/>
                <a:ea typeface="黑体" panose="02010609060101010101" pitchFamily="49" charset="-122"/>
              </a:rPr>
              <a:t>如本节），取固定空间为热力系，即</a:t>
            </a:r>
            <a:r>
              <a:rPr lang="zh-CN" altLang="zh-CN" b="1" dirty="0">
                <a:solidFill>
                  <a:srgbClr val="FF00FF"/>
                </a:solidFill>
                <a:latin typeface="楷体_GB2312" pitchFamily="49" charset="-122"/>
                <a:ea typeface="黑体" panose="02010609060101010101" pitchFamily="49" charset="-122"/>
              </a:rPr>
              <a:t>开口系</a:t>
            </a:r>
            <a:r>
              <a:rPr lang="zh-CN" altLang="zh-CN" b="1" dirty="0">
                <a:latin typeface="楷体_GB2312" pitchFamily="49" charset="-122"/>
                <a:ea typeface="黑体" panose="02010609060101010101" pitchFamily="49" charset="-122"/>
              </a:rPr>
              <a:t>（控制体积）。</a:t>
            </a:r>
            <a:endParaRPr lang="zh-CN" altLang="en-US"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
          <p:cNvSpPr>
            <a:spLocks noChangeArrowheads="1"/>
          </p:cNvSpPr>
          <p:nvPr/>
        </p:nvSpPr>
        <p:spPr bwMode="auto">
          <a:xfrm>
            <a:off x="476250" y="233363"/>
            <a:ext cx="7831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dirty="0">
                <a:solidFill>
                  <a:srgbClr val="0000CC"/>
                </a:solidFill>
                <a:latin typeface="楷体_GB2312" pitchFamily="49" charset="-122"/>
                <a:ea typeface="黑体" panose="02010609060101010101" pitchFamily="49" charset="-122"/>
              </a:rPr>
              <a:t>2</a:t>
            </a:r>
            <a:r>
              <a:rPr lang="zh-CN" altLang="en-US" sz="4000" b="1" dirty="0">
                <a:solidFill>
                  <a:srgbClr val="0000CC"/>
                </a:solidFill>
                <a:latin typeface="楷体_GB2312" pitchFamily="49" charset="-122"/>
                <a:ea typeface="黑体" panose="02010609060101010101" pitchFamily="49" charset="-122"/>
              </a:rPr>
              <a:t>、画出示意图</a:t>
            </a:r>
            <a:endParaRPr lang="zh-CN" altLang="en-US" sz="4000" b="1" dirty="0">
              <a:solidFill>
                <a:srgbClr val="0000CC"/>
              </a:solidFill>
              <a:latin typeface="楷体_GB2312" pitchFamily="49" charset="-122"/>
              <a:ea typeface="黑体" panose="02010609060101010101" pitchFamily="49" charset="-122"/>
            </a:endParaRPr>
          </a:p>
        </p:txBody>
      </p:sp>
      <p:sp>
        <p:nvSpPr>
          <p:cNvPr id="48131" name="矩形 2"/>
          <p:cNvSpPr>
            <a:spLocks noChangeArrowheads="1"/>
          </p:cNvSpPr>
          <p:nvPr/>
        </p:nvSpPr>
        <p:spPr bwMode="auto">
          <a:xfrm>
            <a:off x="387350" y="3349625"/>
            <a:ext cx="8594725"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b="1" dirty="0">
                <a:latin typeface="楷体_GB2312" pitchFamily="49" charset="-122"/>
                <a:ea typeface="黑体" panose="02010609060101010101" pitchFamily="49" charset="-122"/>
              </a:rPr>
              <a:t>闭口系：闭口系能量方程</a:t>
            </a:r>
            <a:endParaRPr lang="en-US" altLang="zh-CN" b="1" dirty="0">
              <a:latin typeface="楷体_GB2312" pitchFamily="49" charset="-122"/>
              <a:ea typeface="黑体" panose="02010609060101010101" pitchFamily="49" charset="-122"/>
            </a:endParaRPr>
          </a:p>
          <a:p>
            <a:pPr>
              <a:spcBef>
                <a:spcPct val="0"/>
              </a:spcBef>
            </a:pPr>
            <a:r>
              <a:rPr lang="zh-CN" altLang="en-US" b="1" dirty="0">
                <a:latin typeface="楷体_GB2312" pitchFamily="49" charset="-122"/>
                <a:ea typeface="黑体" panose="02010609060101010101" pitchFamily="49" charset="-122"/>
              </a:rPr>
              <a:t>开口系：</a:t>
            </a:r>
            <a:endParaRPr lang="en-US" altLang="zh-CN" b="1" dirty="0">
              <a:latin typeface="楷体_GB2312" pitchFamily="49" charset="-122"/>
              <a:ea typeface="黑体" panose="02010609060101010101" pitchFamily="49" charset="-122"/>
            </a:endParaRPr>
          </a:p>
          <a:p>
            <a:pPr lvl="1">
              <a:spcBef>
                <a:spcPct val="0"/>
              </a:spcBef>
              <a:buFont typeface="Wingdings" panose="05000000000000000000" pitchFamily="2" charset="2"/>
              <a:buChar char="Ø"/>
            </a:pPr>
            <a:r>
              <a:rPr lang="zh-CN" altLang="en-US" sz="3200" b="1" dirty="0">
                <a:latin typeface="楷体_GB2312" pitchFamily="49" charset="-122"/>
                <a:ea typeface="黑体" panose="02010609060101010101" pitchFamily="49" charset="-122"/>
              </a:rPr>
              <a:t>稳定流动</a:t>
            </a:r>
            <a:r>
              <a:rPr lang="en-US" altLang="zh-CN" sz="3200" b="1" dirty="0">
                <a:latin typeface="楷体_GB2312" pitchFamily="49" charset="-122"/>
                <a:ea typeface="黑体" panose="02010609060101010101" pitchFamily="49" charset="-122"/>
              </a:rPr>
              <a:t>——</a:t>
            </a:r>
            <a:r>
              <a:rPr lang="zh-CN" altLang="en-US" sz="3200" b="1" dirty="0">
                <a:latin typeface="楷体_GB2312" pitchFamily="49" charset="-122"/>
                <a:ea typeface="黑体" panose="02010609060101010101" pitchFamily="49" charset="-122"/>
              </a:rPr>
              <a:t>稳定流动能量方程</a:t>
            </a:r>
            <a:endParaRPr lang="en-US" altLang="zh-CN" sz="3200" b="1" dirty="0">
              <a:latin typeface="楷体_GB2312" pitchFamily="49" charset="-122"/>
              <a:ea typeface="黑体" panose="02010609060101010101" pitchFamily="49" charset="-122"/>
            </a:endParaRPr>
          </a:p>
          <a:p>
            <a:pPr lvl="1">
              <a:spcBef>
                <a:spcPct val="0"/>
              </a:spcBef>
              <a:buFont typeface="Wingdings" panose="05000000000000000000" pitchFamily="2" charset="2"/>
              <a:buChar char="Ø"/>
            </a:pPr>
            <a:r>
              <a:rPr lang="zh-CN" altLang="en-US" sz="3200" b="1" dirty="0">
                <a:latin typeface="楷体_GB2312" pitchFamily="49" charset="-122"/>
                <a:ea typeface="黑体" panose="02010609060101010101" pitchFamily="49" charset="-122"/>
              </a:rPr>
              <a:t>非稳定流动</a:t>
            </a:r>
            <a:r>
              <a:rPr lang="en-US" altLang="zh-CN" sz="3200" b="1" dirty="0">
                <a:latin typeface="楷体_GB2312" pitchFamily="49" charset="-122"/>
                <a:ea typeface="黑体" panose="02010609060101010101" pitchFamily="49" charset="-122"/>
              </a:rPr>
              <a:t>——</a:t>
            </a:r>
            <a:r>
              <a:rPr lang="zh-CN" altLang="en-US" sz="3200" b="1" dirty="0">
                <a:latin typeface="楷体_GB2312" pitchFamily="49" charset="-122"/>
                <a:ea typeface="黑体" panose="02010609060101010101" pitchFamily="49" charset="-122"/>
              </a:rPr>
              <a:t>一般开口系能量方程</a:t>
            </a:r>
            <a:endParaRPr lang="zh-CN" altLang="en-US" sz="3200" b="1" dirty="0">
              <a:latin typeface="楷体_GB2312" pitchFamily="49" charset="-122"/>
              <a:ea typeface="黑体" panose="02010609060101010101" pitchFamily="49" charset="-122"/>
            </a:endParaRPr>
          </a:p>
        </p:txBody>
      </p:sp>
      <p:sp>
        <p:nvSpPr>
          <p:cNvPr id="48132" name="矩形 3"/>
          <p:cNvSpPr>
            <a:spLocks noChangeArrowheads="1"/>
          </p:cNvSpPr>
          <p:nvPr/>
        </p:nvSpPr>
        <p:spPr bwMode="auto">
          <a:xfrm>
            <a:off x="476250" y="1776413"/>
            <a:ext cx="783113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dirty="0">
                <a:solidFill>
                  <a:srgbClr val="0000CC"/>
                </a:solidFill>
                <a:latin typeface="楷体_GB2312" pitchFamily="49" charset="-122"/>
                <a:ea typeface="黑体" panose="02010609060101010101" pitchFamily="49" charset="-122"/>
              </a:rPr>
              <a:t>3</a:t>
            </a:r>
            <a:r>
              <a:rPr lang="zh-CN" altLang="en-US" sz="4000" b="1" dirty="0">
                <a:solidFill>
                  <a:srgbClr val="0000CC"/>
                </a:solidFill>
                <a:latin typeface="楷体_GB2312" pitchFamily="49" charset="-122"/>
                <a:ea typeface="黑体" panose="02010609060101010101" pitchFamily="49" charset="-122"/>
              </a:rPr>
              <a:t>、写出所研究热力系对应的能量方程</a:t>
            </a:r>
            <a:endParaRPr lang="zh-CN" altLang="en-US" sz="4000" b="1" dirty="0">
              <a:solidFill>
                <a:srgbClr val="0000CC"/>
              </a:solidFill>
              <a:latin typeface="楷体_GB2312" pitchFamily="49" charset="-122"/>
              <a:ea typeface="黑体" panose="02010609060101010101" pitchFamily="49" charset="-122"/>
            </a:endParaRPr>
          </a:p>
        </p:txBody>
      </p:sp>
      <p:sp>
        <p:nvSpPr>
          <p:cNvPr id="48133" name="矩形 4"/>
          <p:cNvSpPr>
            <a:spLocks noChangeArrowheads="1"/>
          </p:cNvSpPr>
          <p:nvPr/>
        </p:nvSpPr>
        <p:spPr bwMode="auto">
          <a:xfrm>
            <a:off x="476250" y="1057275"/>
            <a:ext cx="85963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b="1" dirty="0">
                <a:latin typeface="楷体_GB2312" pitchFamily="49" charset="-122"/>
                <a:ea typeface="黑体" panose="02010609060101010101" pitchFamily="49" charset="-122"/>
              </a:rPr>
              <a:t>这样有利于问题的分析，有时也可省去这一步</a:t>
            </a:r>
            <a:endParaRPr lang="zh-CN" altLang="en-US"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1"/>
          <p:cNvSpPr>
            <a:spLocks noChangeArrowheads="1"/>
          </p:cNvSpPr>
          <p:nvPr/>
        </p:nvSpPr>
        <p:spPr bwMode="auto">
          <a:xfrm>
            <a:off x="476250" y="233363"/>
            <a:ext cx="783113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dirty="0">
                <a:solidFill>
                  <a:srgbClr val="0000CC"/>
                </a:solidFill>
                <a:latin typeface="楷体_GB2312" pitchFamily="49" charset="-122"/>
                <a:ea typeface="黑体" panose="02010609060101010101" pitchFamily="49" charset="-122"/>
              </a:rPr>
              <a:t>4</a:t>
            </a:r>
            <a:r>
              <a:rPr lang="zh-CN" altLang="en-US" sz="4000" b="1" dirty="0">
                <a:solidFill>
                  <a:srgbClr val="0000CC"/>
                </a:solidFill>
                <a:latin typeface="楷体_GB2312" pitchFamily="49" charset="-122"/>
                <a:ea typeface="黑体" panose="02010609060101010101" pitchFamily="49" charset="-122"/>
              </a:rPr>
              <a:t>、</a:t>
            </a:r>
            <a:r>
              <a:rPr lang="zh-CN" altLang="zh-CN" sz="4000" b="1" dirty="0">
                <a:solidFill>
                  <a:srgbClr val="0000CC"/>
                </a:solidFill>
                <a:latin typeface="楷体_GB2312" pitchFamily="49" charset="-122"/>
                <a:ea typeface="黑体" panose="02010609060101010101" pitchFamily="49" charset="-122"/>
              </a:rPr>
              <a:t>针对具体问题，分析系统与外界的相互作用，作出某些假定和简化，使方程简单明了</a:t>
            </a:r>
            <a:endParaRPr lang="zh-CN" altLang="en-US" sz="4000" b="1" dirty="0">
              <a:solidFill>
                <a:srgbClr val="0000CC"/>
              </a:solidFill>
              <a:latin typeface="楷体_GB2312" pitchFamily="49" charset="-122"/>
              <a:ea typeface="黑体" panose="02010609060101010101" pitchFamily="49" charset="-122"/>
            </a:endParaRPr>
          </a:p>
        </p:txBody>
      </p:sp>
      <p:sp>
        <p:nvSpPr>
          <p:cNvPr id="49155" name="矩形 4"/>
          <p:cNvSpPr>
            <a:spLocks noChangeArrowheads="1"/>
          </p:cNvSpPr>
          <p:nvPr/>
        </p:nvSpPr>
        <p:spPr bwMode="auto">
          <a:xfrm>
            <a:off x="387350" y="2438400"/>
            <a:ext cx="85947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b="1" dirty="0">
                <a:latin typeface="楷体_GB2312" pitchFamily="49" charset="-122"/>
                <a:ea typeface="黑体" panose="02010609060101010101" pitchFamily="49" charset="-122"/>
              </a:rPr>
              <a:t>在采用假定和简化时，应抓住主要因素，略去次要因素，把一个复杂的工程实际问题抽象成热力学模型</a:t>
            </a:r>
            <a:endParaRPr lang="zh-CN" altLang="en-US"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1"/>
          <p:cNvSpPr>
            <a:spLocks noChangeArrowheads="1"/>
          </p:cNvSpPr>
          <p:nvPr/>
        </p:nvSpPr>
        <p:spPr bwMode="auto">
          <a:xfrm>
            <a:off x="431800" y="414338"/>
            <a:ext cx="8189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dirty="0">
                <a:solidFill>
                  <a:srgbClr val="0000CC"/>
                </a:solidFill>
                <a:latin typeface="楷体_GB2312" pitchFamily="49" charset="-122"/>
                <a:ea typeface="黑体" panose="02010609060101010101" pitchFamily="49" charset="-122"/>
              </a:rPr>
              <a:t>5</a:t>
            </a:r>
            <a:r>
              <a:rPr lang="zh-CN" altLang="en-US" sz="4000" b="1" dirty="0">
                <a:solidFill>
                  <a:srgbClr val="0000CC"/>
                </a:solidFill>
                <a:latin typeface="楷体_GB2312" pitchFamily="49" charset="-122"/>
                <a:ea typeface="黑体" panose="02010609060101010101" pitchFamily="49" charset="-122"/>
              </a:rPr>
              <a:t>、</a:t>
            </a:r>
            <a:r>
              <a:rPr lang="zh-CN" altLang="zh-CN" sz="4000" b="1" dirty="0">
                <a:solidFill>
                  <a:srgbClr val="0000CC"/>
                </a:solidFill>
                <a:latin typeface="楷体_GB2312" pitchFamily="49" charset="-122"/>
                <a:ea typeface="黑体" panose="02010609060101010101" pitchFamily="49" charset="-122"/>
              </a:rPr>
              <a:t>求解简化后的方程，解出未知量</a:t>
            </a:r>
            <a:endParaRPr lang="zh-CN" altLang="en-US" sz="4000" b="1" dirty="0">
              <a:solidFill>
                <a:srgbClr val="0000CC"/>
              </a:solidFill>
              <a:latin typeface="楷体_GB2312" pitchFamily="49" charset="-122"/>
              <a:ea typeface="黑体" panose="02010609060101010101" pitchFamily="49" charset="-122"/>
            </a:endParaRPr>
          </a:p>
        </p:txBody>
      </p:sp>
      <p:sp>
        <p:nvSpPr>
          <p:cNvPr id="50179" name="矩形 3"/>
          <p:cNvSpPr>
            <a:spLocks noChangeArrowheads="1"/>
          </p:cNvSpPr>
          <p:nvPr/>
        </p:nvSpPr>
        <p:spPr bwMode="auto">
          <a:xfrm>
            <a:off x="431800" y="1595438"/>
            <a:ext cx="818991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000" b="1" dirty="0">
                <a:solidFill>
                  <a:srgbClr val="0000CC"/>
                </a:solidFill>
                <a:latin typeface="楷体_GB2312" pitchFamily="49" charset="-122"/>
                <a:ea typeface="黑体" panose="02010609060101010101" pitchFamily="49" charset="-122"/>
              </a:rPr>
              <a:t>6</a:t>
            </a:r>
            <a:r>
              <a:rPr lang="zh-CN" altLang="en-US" sz="4000" b="1" dirty="0">
                <a:solidFill>
                  <a:srgbClr val="0000CC"/>
                </a:solidFill>
                <a:latin typeface="楷体_GB2312" pitchFamily="49" charset="-122"/>
                <a:ea typeface="黑体" panose="02010609060101010101" pitchFamily="49" charset="-122"/>
              </a:rPr>
              <a:t>、</a:t>
            </a:r>
            <a:r>
              <a:rPr lang="zh-CN" altLang="zh-CN" sz="4000" b="1" dirty="0">
                <a:solidFill>
                  <a:srgbClr val="0000CC"/>
                </a:solidFill>
                <a:latin typeface="楷体_GB2312" pitchFamily="49" charset="-122"/>
                <a:ea typeface="黑体" panose="02010609060101010101" pitchFamily="49" charset="-122"/>
              </a:rPr>
              <a:t>对问题进行适当地分析和讨论，得出一些有益的结论和启示</a:t>
            </a:r>
            <a:endParaRPr lang="zh-CN" altLang="en-US" sz="4000" b="1" dirty="0">
              <a:solidFill>
                <a:srgbClr val="0000CC"/>
              </a:solidFill>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150534" y="434854"/>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1" dirty="0">
                <a:latin typeface="楷体_GB2312" pitchFamily="49" charset="-122"/>
                <a:ea typeface="黑体" panose="02010609060101010101" pitchFamily="49" charset="-122"/>
              </a:rPr>
              <a:t>一、喷管和扩压管</a:t>
            </a:r>
            <a:endParaRPr lang="zh-CN" altLang="en-US" sz="4400" b="1" dirty="0">
              <a:latin typeface="楷体_GB2312" pitchFamily="49" charset="-122"/>
              <a:ea typeface="黑体" panose="02010609060101010101" pitchFamily="49" charset="-122"/>
            </a:endParaRPr>
          </a:p>
        </p:txBody>
      </p:sp>
      <p:sp>
        <p:nvSpPr>
          <p:cNvPr id="51203" name="矩形 9"/>
          <p:cNvSpPr>
            <a:spLocks noChangeArrowheads="1"/>
          </p:cNvSpPr>
          <p:nvPr/>
        </p:nvSpPr>
        <p:spPr bwMode="auto">
          <a:xfrm>
            <a:off x="341313" y="1808163"/>
            <a:ext cx="8596312"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zh-CN" b="1" dirty="0">
                <a:latin typeface="楷体_GB2312" pitchFamily="49" charset="-122"/>
                <a:ea typeface="黑体" panose="02010609060101010101" pitchFamily="49" charset="-122"/>
              </a:rPr>
              <a:t>喷管和扩压管在工程中应用广泛，如火箭尾喷管、燃气轮机等</a:t>
            </a:r>
            <a:endParaRPr lang="en-US" altLang="zh-CN" b="1" dirty="0">
              <a:latin typeface="楷体_GB2312" pitchFamily="49" charset="-122"/>
              <a:ea typeface="黑体" panose="02010609060101010101" pitchFamily="49" charset="-122"/>
            </a:endParaRPr>
          </a:p>
          <a:p>
            <a:pPr>
              <a:spcBef>
                <a:spcPct val="0"/>
              </a:spcBef>
            </a:pPr>
            <a:r>
              <a:rPr lang="zh-CN" altLang="zh-CN" b="1" dirty="0">
                <a:latin typeface="楷体_GB2312" pitchFamily="49" charset="-122"/>
                <a:ea typeface="黑体" panose="02010609060101010101" pitchFamily="49" charset="-122"/>
              </a:rPr>
              <a:t>使气流膨胀</a:t>
            </a:r>
            <a:r>
              <a:rPr lang="zh-CN" altLang="zh-CN" b="1" dirty="0">
                <a:solidFill>
                  <a:srgbClr val="FF0000"/>
                </a:solidFill>
                <a:latin typeface="楷体_GB2312" pitchFamily="49" charset="-122"/>
                <a:ea typeface="黑体" panose="02010609060101010101" pitchFamily="49" charset="-122"/>
              </a:rPr>
              <a:t>降压</a:t>
            </a:r>
            <a:r>
              <a:rPr lang="zh-CN" altLang="en-US" b="1" dirty="0">
                <a:solidFill>
                  <a:srgbClr val="FF0000"/>
                </a:solidFill>
                <a:latin typeface="楷体_GB2312" pitchFamily="49" charset="-122"/>
                <a:ea typeface="黑体" panose="02010609060101010101" pitchFamily="49" charset="-122"/>
              </a:rPr>
              <a:t>而</a:t>
            </a:r>
            <a:r>
              <a:rPr lang="zh-CN" altLang="zh-CN" b="1" dirty="0">
                <a:solidFill>
                  <a:srgbClr val="FF0000"/>
                </a:solidFill>
                <a:latin typeface="楷体_GB2312" pitchFamily="49" charset="-122"/>
                <a:ea typeface="黑体" panose="02010609060101010101" pitchFamily="49" charset="-122"/>
              </a:rPr>
              <a:t>增加流速</a:t>
            </a:r>
            <a:r>
              <a:rPr lang="zh-CN" altLang="zh-CN" b="1" dirty="0">
                <a:latin typeface="楷体_GB2312" pitchFamily="49" charset="-122"/>
                <a:ea typeface="黑体" panose="02010609060101010101" pitchFamily="49" charset="-122"/>
              </a:rPr>
              <a:t>的管道称为</a:t>
            </a:r>
            <a:r>
              <a:rPr lang="zh-CN" altLang="zh-CN" b="1" dirty="0">
                <a:solidFill>
                  <a:srgbClr val="FF0000"/>
                </a:solidFill>
                <a:latin typeface="楷体_GB2312" pitchFamily="49" charset="-122"/>
                <a:ea typeface="黑体" panose="02010609060101010101" pitchFamily="49" charset="-122"/>
              </a:rPr>
              <a:t>喷管</a:t>
            </a:r>
            <a:r>
              <a:rPr lang="zh-CN" altLang="en-US" b="1" dirty="0">
                <a:solidFill>
                  <a:schemeClr val="tx2"/>
                </a:solidFill>
                <a:latin typeface="楷体_GB2312" pitchFamily="49" charset="-122"/>
                <a:ea typeface="黑体" panose="02010609060101010101" pitchFamily="49" charset="-122"/>
              </a:rPr>
              <a:t>；</a:t>
            </a:r>
            <a:r>
              <a:rPr lang="zh-CN" altLang="zh-CN" b="1" dirty="0">
                <a:latin typeface="楷体_GB2312" pitchFamily="49" charset="-122"/>
                <a:ea typeface="黑体" panose="02010609060101010101" pitchFamily="49" charset="-122"/>
              </a:rPr>
              <a:t>使气流</a:t>
            </a:r>
            <a:r>
              <a:rPr lang="zh-CN" altLang="zh-CN" b="1" dirty="0">
                <a:solidFill>
                  <a:srgbClr val="FF00FF"/>
                </a:solidFill>
                <a:latin typeface="楷体_GB2312" pitchFamily="49" charset="-122"/>
                <a:ea typeface="黑体" panose="02010609060101010101" pitchFamily="49" charset="-122"/>
              </a:rPr>
              <a:t>流速降低、压力升高</a:t>
            </a:r>
            <a:r>
              <a:rPr lang="zh-CN" altLang="zh-CN" b="1" dirty="0">
                <a:latin typeface="楷体_GB2312" pitchFamily="49" charset="-122"/>
                <a:ea typeface="黑体" panose="02010609060101010101" pitchFamily="49" charset="-122"/>
              </a:rPr>
              <a:t>的管道称为</a:t>
            </a:r>
            <a:r>
              <a:rPr lang="zh-CN" altLang="zh-CN" b="1" dirty="0">
                <a:solidFill>
                  <a:srgbClr val="FF00FF"/>
                </a:solidFill>
                <a:latin typeface="楷体_GB2312" pitchFamily="49" charset="-122"/>
                <a:ea typeface="黑体" panose="02010609060101010101" pitchFamily="49" charset="-122"/>
              </a:rPr>
              <a:t>扩压管</a:t>
            </a:r>
            <a:endParaRPr lang="en-US" altLang="zh-CN" b="1" dirty="0">
              <a:solidFill>
                <a:srgbClr val="FF00FF"/>
              </a:solidFill>
              <a:latin typeface="楷体_GB2312" pitchFamily="49" charset="-122"/>
              <a:ea typeface="黑体" panose="02010609060101010101" pitchFamily="49" charset="-122"/>
            </a:endParaRPr>
          </a:p>
          <a:p>
            <a:pPr>
              <a:spcBef>
                <a:spcPct val="0"/>
              </a:spcBef>
            </a:pPr>
            <a:r>
              <a:rPr lang="zh-CN" altLang="zh-CN" b="1" dirty="0">
                <a:latin typeface="楷体_GB2312" pitchFamily="49" charset="-122"/>
                <a:ea typeface="黑体" panose="02010609060101010101" pitchFamily="49" charset="-122"/>
              </a:rPr>
              <a:t>第</a:t>
            </a:r>
            <a:r>
              <a:rPr lang="en-US" altLang="zh-CN" b="1" dirty="0">
                <a:latin typeface="楷体_GB2312" pitchFamily="49" charset="-122"/>
                <a:ea typeface="黑体" panose="02010609060101010101" pitchFamily="49" charset="-122"/>
              </a:rPr>
              <a:t>10</a:t>
            </a:r>
            <a:r>
              <a:rPr lang="zh-CN" altLang="en-US" b="1" dirty="0">
                <a:latin typeface="楷体_GB2312" pitchFamily="49" charset="-122"/>
                <a:ea typeface="黑体" panose="02010609060101010101" pitchFamily="49" charset="-122"/>
              </a:rPr>
              <a:t>章</a:t>
            </a:r>
            <a:r>
              <a:rPr lang="zh-CN" altLang="zh-CN" b="1" dirty="0">
                <a:latin typeface="楷体_GB2312" pitchFamily="49" charset="-122"/>
                <a:ea typeface="黑体" panose="02010609060101010101" pitchFamily="49" charset="-122"/>
              </a:rPr>
              <a:t>详细介绍，这里仅讨论流体在喷管和扩压管中流动的能量方程</a:t>
            </a:r>
            <a:endParaRPr lang="zh-CN" altLang="en-US"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图片 268294" descr="Numerical Simulation of Launcher Nozzle Flow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288" y="1628775"/>
            <a:ext cx="3492500"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AutoShape 8"/>
          <p:cNvSpPr>
            <a:spLocks noChangeArrowheads="1"/>
          </p:cNvSpPr>
          <p:nvPr/>
        </p:nvSpPr>
        <p:spPr bwMode="auto">
          <a:xfrm rot="-5400000">
            <a:off x="5800725" y="2155825"/>
            <a:ext cx="1447800" cy="1295400"/>
          </a:xfrm>
          <a:custGeom>
            <a:avLst/>
            <a:gdLst>
              <a:gd name="T0" fmla="*/ 0 w 21600"/>
              <a:gd name="T1" fmla="*/ 0 h 21600"/>
              <a:gd name="T2" fmla="*/ 2147483646 w 21600"/>
              <a:gd name="T3" fmla="*/ 2147483646 h 21600"/>
              <a:gd name="T4" fmla="*/ 2147483646 w 21600"/>
              <a:gd name="T5" fmla="*/ 2147483646 h 21600"/>
              <a:gd name="T6" fmla="*/ 2147483646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5400" y="21600"/>
                </a:lnTo>
                <a:lnTo>
                  <a:pt x="16200" y="21600"/>
                </a:lnTo>
                <a:lnTo>
                  <a:pt x="21600" y="0"/>
                </a:lnTo>
                <a:lnTo>
                  <a:pt x="0" y="0"/>
                </a:lnTo>
                <a:close/>
              </a:path>
            </a:pathLst>
          </a:custGeom>
          <a:solidFill>
            <a:srgbClr val="FFFF99"/>
          </a:solidFill>
          <a:ln w="12700" cap="sq">
            <a:solidFill>
              <a:schemeClr val="tx1"/>
            </a:solidFill>
            <a:miter lim="800000"/>
            <a:headEnd type="none" w="sm" len="sm"/>
            <a:tailEnd type="none" w="sm" len="sm"/>
          </a:ln>
        </p:spPr>
        <p:txBody>
          <a:bodyPr/>
          <a:lstStyle/>
          <a:p>
            <a:endParaRPr lang="zh-CN" altLang="en-US"/>
          </a:p>
        </p:txBody>
      </p:sp>
      <p:sp>
        <p:nvSpPr>
          <p:cNvPr id="52228" name="AutoShape 9"/>
          <p:cNvSpPr>
            <a:spLocks noChangeArrowheads="1"/>
          </p:cNvSpPr>
          <p:nvPr/>
        </p:nvSpPr>
        <p:spPr bwMode="auto">
          <a:xfrm>
            <a:off x="5246688" y="2709863"/>
            <a:ext cx="533400" cy="219075"/>
          </a:xfrm>
          <a:prstGeom prst="rightArrow">
            <a:avLst>
              <a:gd name="adj1" fmla="val 50000"/>
              <a:gd name="adj2" fmla="val 60847"/>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800"/>
          </a:p>
        </p:txBody>
      </p:sp>
      <p:sp>
        <p:nvSpPr>
          <p:cNvPr id="52229" name="AutoShape 10"/>
          <p:cNvSpPr>
            <a:spLocks noChangeArrowheads="1"/>
          </p:cNvSpPr>
          <p:nvPr/>
        </p:nvSpPr>
        <p:spPr bwMode="auto">
          <a:xfrm>
            <a:off x="7324725" y="2689225"/>
            <a:ext cx="533400" cy="219075"/>
          </a:xfrm>
          <a:prstGeom prst="rightArrow">
            <a:avLst>
              <a:gd name="adj1" fmla="val 50000"/>
              <a:gd name="adj2" fmla="val 60847"/>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800"/>
          </a:p>
        </p:txBody>
      </p:sp>
      <p:sp>
        <p:nvSpPr>
          <p:cNvPr id="52230" name="文本框 268298"/>
          <p:cNvSpPr txBox="1">
            <a:spLocks noChangeArrowheads="1"/>
          </p:cNvSpPr>
          <p:nvPr/>
        </p:nvSpPr>
        <p:spPr bwMode="auto">
          <a:xfrm>
            <a:off x="4257675" y="253047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i="1">
                <a:latin typeface="Times New Roman" panose="02020603050405020304" pitchFamily="18" charset="0"/>
              </a:rPr>
              <a:t>c</a:t>
            </a:r>
            <a:r>
              <a:rPr lang="en-US" altLang="zh-CN" sz="2400" b="0" baseline="-25000">
                <a:latin typeface="Times New Roman" panose="02020603050405020304" pitchFamily="18" charset="0"/>
              </a:rPr>
              <a:t>f1 </a:t>
            </a:r>
            <a:r>
              <a:rPr lang="en-US" altLang="zh-CN" sz="2400" b="0">
                <a:latin typeface="Times New Roman" panose="02020603050405020304" pitchFamily="18" charset="0"/>
              </a:rPr>
              <a:t>, </a:t>
            </a:r>
            <a:r>
              <a:rPr lang="en-US" altLang="zh-CN" sz="2400" b="0" i="1">
                <a:latin typeface="Times New Roman" panose="02020603050405020304" pitchFamily="18" charset="0"/>
              </a:rPr>
              <a:t>h</a:t>
            </a:r>
            <a:r>
              <a:rPr lang="en-US" altLang="zh-CN" sz="2400" b="0" baseline="-25000">
                <a:latin typeface="Times New Roman" panose="02020603050405020304" pitchFamily="18" charset="0"/>
              </a:rPr>
              <a:t>1</a:t>
            </a:r>
            <a:endParaRPr lang="en-US" altLang="zh-CN" sz="2400" b="0" baseline="-25000">
              <a:latin typeface="Times New Roman" panose="02020603050405020304" pitchFamily="18" charset="0"/>
            </a:endParaRPr>
          </a:p>
        </p:txBody>
      </p:sp>
      <p:sp>
        <p:nvSpPr>
          <p:cNvPr id="52231" name="文本框 268299"/>
          <p:cNvSpPr txBox="1">
            <a:spLocks noChangeArrowheads="1"/>
          </p:cNvSpPr>
          <p:nvPr/>
        </p:nvSpPr>
        <p:spPr bwMode="auto">
          <a:xfrm>
            <a:off x="7947025" y="253047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i="1">
                <a:latin typeface="Times New Roman" panose="02020603050405020304" pitchFamily="18" charset="0"/>
              </a:rPr>
              <a:t>c</a:t>
            </a:r>
            <a:r>
              <a:rPr lang="en-US" altLang="zh-CN" sz="2400" b="0" baseline="-25000">
                <a:latin typeface="Times New Roman" panose="02020603050405020304" pitchFamily="18" charset="0"/>
              </a:rPr>
              <a:t>f2 </a:t>
            </a:r>
            <a:r>
              <a:rPr lang="en-US" altLang="zh-CN" sz="2400" b="0">
                <a:latin typeface="Times New Roman" panose="02020603050405020304" pitchFamily="18" charset="0"/>
              </a:rPr>
              <a:t>, </a:t>
            </a:r>
            <a:r>
              <a:rPr lang="en-US" altLang="zh-CN" sz="2400" b="0" i="1">
                <a:latin typeface="Times New Roman" panose="02020603050405020304" pitchFamily="18" charset="0"/>
              </a:rPr>
              <a:t>h</a:t>
            </a:r>
            <a:r>
              <a:rPr lang="en-US" altLang="zh-CN" sz="2400" b="0" baseline="-25000">
                <a:latin typeface="Times New Roman" panose="02020603050405020304" pitchFamily="18" charset="0"/>
              </a:rPr>
              <a:t>2</a:t>
            </a:r>
            <a:endParaRPr lang="en-US" altLang="zh-CN" sz="2400" b="0" baseline="-25000">
              <a:latin typeface="Times New Roman" panose="02020603050405020304" pitchFamily="18" charset="0"/>
            </a:endParaRPr>
          </a:p>
        </p:txBody>
      </p:sp>
      <p:sp>
        <p:nvSpPr>
          <p:cNvPr id="52232" name="矩形 268303"/>
          <p:cNvSpPr>
            <a:spLocks noChangeArrowheads="1"/>
          </p:cNvSpPr>
          <p:nvPr/>
        </p:nvSpPr>
        <p:spPr bwMode="auto">
          <a:xfrm>
            <a:off x="2141538" y="368300"/>
            <a:ext cx="527740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400" b="1" dirty="0">
                <a:latin typeface="楷体_GB2312" pitchFamily="49" charset="-122"/>
                <a:ea typeface="黑体" panose="02010609060101010101" pitchFamily="49" charset="-122"/>
              </a:rPr>
              <a:t>喷管和扩压管示意图</a:t>
            </a:r>
            <a:endParaRPr lang="zh-CN" altLang="en-US" sz="4400"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3"/>
          <p:cNvSpPr txBox="1">
            <a:spLocks noChangeArrowheads="1"/>
          </p:cNvSpPr>
          <p:nvPr/>
        </p:nvSpPr>
        <p:spPr bwMode="auto">
          <a:xfrm>
            <a:off x="927100" y="284163"/>
            <a:ext cx="2667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3600" b="1" dirty="0">
                <a:ea typeface="黑体" panose="02010609060101010101" pitchFamily="49" charset="-122"/>
              </a:rPr>
              <a:t>喷管目的：</a:t>
            </a:r>
            <a:endParaRPr lang="zh-CN" altLang="en-US" sz="3600" b="1" dirty="0">
              <a:ea typeface="黑体" panose="02010609060101010101" pitchFamily="49" charset="-122"/>
            </a:endParaRPr>
          </a:p>
        </p:txBody>
      </p:sp>
      <p:sp>
        <p:nvSpPr>
          <p:cNvPr id="53251" name="Rectangle 4"/>
          <p:cNvSpPr>
            <a:spLocks noChangeArrowheads="1"/>
          </p:cNvSpPr>
          <p:nvPr/>
        </p:nvSpPr>
        <p:spPr bwMode="auto">
          <a:xfrm>
            <a:off x="3196650" y="279400"/>
            <a:ext cx="43540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3600" b="1" dirty="0">
                <a:ea typeface="黑体" panose="02010609060101010101" pitchFamily="49" charset="-122"/>
              </a:rPr>
              <a:t>压力降低，速度提高</a:t>
            </a:r>
            <a:endParaRPr lang="zh-CN" altLang="en-US" sz="3600" b="1" dirty="0">
              <a:ea typeface="黑体" panose="02010609060101010101" pitchFamily="49" charset="-122"/>
            </a:endParaRPr>
          </a:p>
        </p:txBody>
      </p:sp>
      <p:sp>
        <p:nvSpPr>
          <p:cNvPr id="53252" name="Rectangle 5"/>
          <p:cNvSpPr>
            <a:spLocks noChangeArrowheads="1"/>
          </p:cNvSpPr>
          <p:nvPr/>
        </p:nvSpPr>
        <p:spPr bwMode="auto">
          <a:xfrm>
            <a:off x="891176" y="946150"/>
            <a:ext cx="296427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3600" b="1" dirty="0">
                <a:ea typeface="黑体" panose="02010609060101010101" pitchFamily="49" charset="-122"/>
              </a:rPr>
              <a:t>扩压管目的</a:t>
            </a:r>
            <a:r>
              <a:rPr lang="zh-CN" altLang="en-US" sz="3600" b="1" dirty="0"/>
              <a:t>：</a:t>
            </a:r>
            <a:endParaRPr lang="zh-CN" altLang="en-US" sz="3600" b="1" dirty="0"/>
          </a:p>
        </p:txBody>
      </p:sp>
      <p:sp>
        <p:nvSpPr>
          <p:cNvPr id="53253" name="Rectangle 6"/>
          <p:cNvSpPr>
            <a:spLocks noChangeArrowheads="1"/>
          </p:cNvSpPr>
          <p:nvPr/>
        </p:nvSpPr>
        <p:spPr bwMode="auto">
          <a:xfrm>
            <a:off x="2705971" y="5724525"/>
            <a:ext cx="389080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3600" b="1" dirty="0">
                <a:solidFill>
                  <a:srgbClr val="FF0000"/>
                </a:solidFill>
                <a:ea typeface="黑体" panose="02010609060101010101" pitchFamily="49" charset="-122"/>
              </a:rPr>
              <a:t>动能与焓相互转换</a:t>
            </a:r>
            <a:endParaRPr lang="zh-CN" altLang="en-US" sz="3600" b="1" dirty="0">
              <a:solidFill>
                <a:srgbClr val="FF0000"/>
              </a:solidFill>
              <a:ea typeface="黑体" panose="02010609060101010101" pitchFamily="49" charset="-122"/>
            </a:endParaRPr>
          </a:p>
        </p:txBody>
      </p:sp>
      <p:sp>
        <p:nvSpPr>
          <p:cNvPr id="53254" name="Rectangle 7"/>
          <p:cNvSpPr>
            <a:spLocks noChangeArrowheads="1"/>
          </p:cNvSpPr>
          <p:nvPr/>
        </p:nvSpPr>
        <p:spPr bwMode="auto">
          <a:xfrm>
            <a:off x="3485575" y="958850"/>
            <a:ext cx="43540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3600" b="1" dirty="0">
                <a:ea typeface="黑体" panose="02010609060101010101" pitchFamily="49" charset="-122"/>
              </a:rPr>
              <a:t>速度降低，压力升高</a:t>
            </a:r>
            <a:endParaRPr lang="zh-CN" altLang="en-US" sz="3600" b="1" dirty="0">
              <a:ea typeface="黑体" panose="02010609060101010101" pitchFamily="49" charset="-122"/>
            </a:endParaRPr>
          </a:p>
        </p:txBody>
      </p:sp>
      <p:sp>
        <p:nvSpPr>
          <p:cNvPr id="53255" name="Text Box 11"/>
          <p:cNvSpPr txBox="1">
            <a:spLocks noChangeArrowheads="1"/>
          </p:cNvSpPr>
          <p:nvPr/>
        </p:nvSpPr>
        <p:spPr bwMode="auto">
          <a:xfrm>
            <a:off x="1376363" y="1854200"/>
            <a:ext cx="7200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b="1" dirty="0">
                <a:solidFill>
                  <a:srgbClr val="0000CC"/>
                </a:solidFill>
                <a:ea typeface="黑体" panose="02010609060101010101" pitchFamily="49" charset="-122"/>
              </a:rPr>
              <a:t>动能参与转换，动能变化不能忽略！</a:t>
            </a:r>
            <a:endParaRPr lang="zh-CN" altLang="en-US" b="1" dirty="0">
              <a:solidFill>
                <a:srgbClr val="0000CC"/>
              </a:solidFill>
              <a:ea typeface="黑体" panose="02010609060101010101" pitchFamily="49" charset="-122"/>
            </a:endParaRPr>
          </a:p>
        </p:txBody>
      </p:sp>
      <p:graphicFrame>
        <p:nvGraphicFramePr>
          <p:cNvPr id="53256" name="Object 15"/>
          <p:cNvGraphicFramePr>
            <a:graphicFrameLocks noChangeAspect="1"/>
          </p:cNvGraphicFramePr>
          <p:nvPr/>
        </p:nvGraphicFramePr>
        <p:xfrm>
          <a:off x="5548313" y="4013200"/>
          <a:ext cx="2792412" cy="1273175"/>
        </p:xfrm>
        <a:graphic>
          <a:graphicData uri="http://schemas.openxmlformats.org/presentationml/2006/ole">
            <mc:AlternateContent xmlns:mc="http://schemas.openxmlformats.org/markup-compatibility/2006">
              <mc:Choice xmlns:v="urn:schemas-microsoft-com:vml" Requires="v">
                <p:oleObj spid="_x0000_s35846" name="" r:id="rId1" imgW="812800" imgH="393700" progId="Equation.DSMT4">
                  <p:embed/>
                </p:oleObj>
              </mc:Choice>
              <mc:Fallback>
                <p:oleObj name="" r:id="rId1" imgW="812800" imgH="393700" progId="Equation.DSMT4">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8313" y="4013200"/>
                        <a:ext cx="2792412" cy="1273175"/>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7" name="对象 264209"/>
          <p:cNvGraphicFramePr/>
          <p:nvPr/>
        </p:nvGraphicFramePr>
        <p:xfrm>
          <a:off x="657225" y="2619375"/>
          <a:ext cx="6915150" cy="2874963"/>
        </p:xfrm>
        <a:graphic>
          <a:graphicData uri="http://schemas.openxmlformats.org/presentationml/2006/ole">
            <mc:AlternateContent xmlns:mc="http://schemas.openxmlformats.org/markup-compatibility/2006">
              <mc:Choice xmlns:v="urn:schemas-microsoft-com:vml" Requires="v">
                <p:oleObj spid="_x0000_s35847" name="" r:id="rId3" imgW="2476500" imgH="1028700" progId="Equation.DSMT4">
                  <p:embed/>
                </p:oleObj>
              </mc:Choice>
              <mc:Fallback>
                <p:oleObj name="" r:id="rId3" imgW="2476500" imgH="1028700" progId="Equation.DSMT4">
                  <p:embed/>
                  <p:pic>
                    <p:nvPicPr>
                      <p:cNvPr id="0" name="对象 26420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25" y="2619375"/>
                        <a:ext cx="6915150" cy="287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8" name="右箭头 264210"/>
          <p:cNvSpPr>
            <a:spLocks noChangeArrowheads="1"/>
          </p:cNvSpPr>
          <p:nvPr/>
        </p:nvSpPr>
        <p:spPr bwMode="auto">
          <a:xfrm>
            <a:off x="4616450" y="4373563"/>
            <a:ext cx="765175" cy="360362"/>
          </a:xfrm>
          <a:prstGeom prst="rightArrow">
            <a:avLst>
              <a:gd name="adj1" fmla="val 50000"/>
              <a:gd name="adj2" fmla="val 53064"/>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468313" y="279400"/>
            <a:ext cx="47259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1" dirty="0">
                <a:latin typeface="楷体_GB2312" pitchFamily="49" charset="-122"/>
                <a:ea typeface="黑体" panose="02010609060101010101" pitchFamily="49" charset="-122"/>
              </a:rPr>
              <a:t>二、节流阀</a:t>
            </a:r>
            <a:endParaRPr lang="zh-CN" altLang="en-US" sz="4400" b="1" dirty="0">
              <a:latin typeface="楷体_GB2312" pitchFamily="49" charset="-122"/>
              <a:ea typeface="黑体" panose="02010609060101010101" pitchFamily="49" charset="-122"/>
            </a:endParaRPr>
          </a:p>
        </p:txBody>
      </p:sp>
      <p:sp>
        <p:nvSpPr>
          <p:cNvPr id="54275" name="矩形 6"/>
          <p:cNvSpPr>
            <a:spLocks noChangeArrowheads="1"/>
          </p:cNvSpPr>
          <p:nvPr/>
        </p:nvSpPr>
        <p:spPr bwMode="auto">
          <a:xfrm>
            <a:off x="206375" y="3429000"/>
            <a:ext cx="8596313"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zh-CN" b="1" dirty="0">
                <a:latin typeface="楷体_GB2312" pitchFamily="49" charset="-122"/>
                <a:ea typeface="黑体" panose="02010609060101010101" pitchFamily="49" charset="-122"/>
              </a:rPr>
              <a:t>对于某些流体，压力的降低往往伴随着温度的下降，因此节流阀常被用于制冷和空调设备</a:t>
            </a:r>
            <a:endParaRPr lang="en-US" altLang="zh-CN" b="1" dirty="0">
              <a:latin typeface="楷体_GB2312" pitchFamily="49" charset="-122"/>
              <a:ea typeface="黑体" panose="02010609060101010101" pitchFamily="49" charset="-122"/>
            </a:endParaRPr>
          </a:p>
          <a:p>
            <a:pPr>
              <a:spcBef>
                <a:spcPct val="0"/>
              </a:spcBef>
            </a:pPr>
            <a:r>
              <a:rPr lang="zh-CN" altLang="zh-CN" b="1" dirty="0">
                <a:latin typeface="楷体_GB2312" pitchFamily="49" charset="-122"/>
                <a:ea typeface="黑体" panose="02010609060101010101" pitchFamily="49" charset="-122"/>
              </a:rPr>
              <a:t>但对于另外一些流体，压力降低时温度反而会升高，温度是降低还是升高取决于流体的焦耳</a:t>
            </a:r>
            <a:r>
              <a:rPr lang="en-US" altLang="zh-CN" b="1" dirty="0">
                <a:latin typeface="楷体_GB2312" pitchFamily="49" charset="-122"/>
                <a:ea typeface="黑体" panose="02010609060101010101" pitchFamily="49" charset="-122"/>
              </a:rPr>
              <a:t>-</a:t>
            </a:r>
            <a:r>
              <a:rPr lang="zh-CN" altLang="zh-CN" b="1" dirty="0">
                <a:latin typeface="楷体_GB2312" pitchFamily="49" charset="-122"/>
                <a:ea typeface="黑体" panose="02010609060101010101" pitchFamily="49" charset="-122"/>
              </a:rPr>
              <a:t>汤姆森系数</a:t>
            </a:r>
            <a:r>
              <a:rPr lang="zh-CN" altLang="en-US" sz="2400" b="1" dirty="0">
                <a:latin typeface="楷体_GB2312" pitchFamily="49" charset="-122"/>
                <a:ea typeface="黑体" panose="02010609060101010101" pitchFamily="49" charset="-122"/>
              </a:rPr>
              <a:t>（</a:t>
            </a:r>
            <a:r>
              <a:rPr lang="zh-CN" altLang="zh-CN" sz="2400" b="1" dirty="0">
                <a:latin typeface="楷体_GB2312" pitchFamily="49" charset="-122"/>
                <a:ea typeface="黑体" panose="02010609060101010101" pitchFamily="49" charset="-122"/>
              </a:rPr>
              <a:t>节流过程在</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10-9</a:t>
            </a:r>
            <a:r>
              <a:rPr lang="zh-CN" altLang="zh-CN" sz="2400" b="1" dirty="0">
                <a:latin typeface="楷体_GB2312" pitchFamily="49" charset="-122"/>
                <a:ea typeface="黑体" panose="02010609060101010101" pitchFamily="49" charset="-122"/>
              </a:rPr>
              <a:t>节详细讨论</a:t>
            </a:r>
            <a:r>
              <a:rPr lang="zh-CN" altLang="en-US" sz="2400" b="1" dirty="0">
                <a:latin typeface="楷体_GB2312" pitchFamily="49" charset="-122"/>
                <a:ea typeface="黑体" panose="02010609060101010101" pitchFamily="49" charset="-122"/>
              </a:rPr>
              <a:t>）</a:t>
            </a:r>
            <a:endParaRPr lang="zh-CN" altLang="en-US" sz="2400" b="1" dirty="0">
              <a:latin typeface="楷体_GB2312" pitchFamily="49" charset="-122"/>
              <a:ea typeface="黑体" panose="02010609060101010101" pitchFamily="49" charset="-122"/>
            </a:endParaRPr>
          </a:p>
        </p:txBody>
      </p:sp>
      <p:pic>
        <p:nvPicPr>
          <p:cNvPr id="5427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741988" y="98425"/>
            <a:ext cx="2855912"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矩形 8"/>
          <p:cNvSpPr>
            <a:spLocks noChangeArrowheads="1"/>
          </p:cNvSpPr>
          <p:nvPr/>
        </p:nvSpPr>
        <p:spPr bwMode="auto">
          <a:xfrm>
            <a:off x="206375" y="1235075"/>
            <a:ext cx="580548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zh-CN" b="1" dirty="0">
                <a:latin typeface="楷体_GB2312" pitchFamily="49" charset="-122"/>
                <a:ea typeface="黑体" panose="02010609060101010101" pitchFamily="49" charset="-122"/>
              </a:rPr>
              <a:t>节流阀是一种阻碍流动的装置，它使得流过其中的流体压力降低</a:t>
            </a:r>
            <a:endParaRPr lang="en-US" altLang="zh-CN"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图片 233481" descr="图片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1650" y="549275"/>
            <a:ext cx="3284538"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直接连接符 233475"/>
          <p:cNvSpPr>
            <a:spLocks noChangeShapeType="1"/>
          </p:cNvSpPr>
          <p:nvPr/>
        </p:nvSpPr>
        <p:spPr bwMode="auto">
          <a:xfrm>
            <a:off x="2249488" y="1135063"/>
            <a:ext cx="838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0" name="直接连接符 233476"/>
          <p:cNvSpPr>
            <a:spLocks noChangeShapeType="1"/>
          </p:cNvSpPr>
          <p:nvPr/>
        </p:nvSpPr>
        <p:spPr bwMode="auto">
          <a:xfrm>
            <a:off x="6299200" y="1179513"/>
            <a:ext cx="838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1" name="文本框 233477"/>
          <p:cNvSpPr txBox="1">
            <a:spLocks noChangeArrowheads="1"/>
          </p:cNvSpPr>
          <p:nvPr/>
        </p:nvSpPr>
        <p:spPr bwMode="auto">
          <a:xfrm>
            <a:off x="2097088" y="549275"/>
            <a:ext cx="96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i="1">
                <a:solidFill>
                  <a:srgbClr val="FF0000"/>
                </a:solidFill>
                <a:latin typeface="Times New Roman" panose="02020603050405020304" pitchFamily="18" charset="0"/>
              </a:rPr>
              <a:t>c</a:t>
            </a:r>
            <a:r>
              <a:rPr lang="en-US" altLang="zh-CN" sz="2400" baseline="-25000">
                <a:solidFill>
                  <a:srgbClr val="FF0000"/>
                </a:solidFill>
                <a:latin typeface="Times New Roman" panose="02020603050405020304" pitchFamily="18" charset="0"/>
              </a:rPr>
              <a:t>f1 </a:t>
            </a:r>
            <a:r>
              <a:rPr lang="en-US" altLang="zh-CN" sz="2400">
                <a:solidFill>
                  <a:srgbClr val="FF0000"/>
                </a:solidFill>
                <a:latin typeface="Times New Roman" panose="02020603050405020304" pitchFamily="18" charset="0"/>
              </a:rPr>
              <a:t>, </a:t>
            </a:r>
            <a:r>
              <a:rPr lang="en-US" altLang="zh-CN" sz="2400" i="1">
                <a:solidFill>
                  <a:srgbClr val="FF0000"/>
                </a:solidFill>
                <a:latin typeface="Times New Roman" panose="02020603050405020304" pitchFamily="18" charset="0"/>
              </a:rPr>
              <a:t>h</a:t>
            </a:r>
            <a:r>
              <a:rPr lang="en-US" altLang="zh-CN" sz="2400" baseline="-25000">
                <a:solidFill>
                  <a:srgbClr val="FF0000"/>
                </a:solidFill>
                <a:latin typeface="Times New Roman" panose="02020603050405020304" pitchFamily="18" charset="0"/>
              </a:rPr>
              <a:t>1</a:t>
            </a:r>
            <a:endParaRPr lang="en-US" altLang="zh-CN" sz="2400" baseline="-25000">
              <a:solidFill>
                <a:srgbClr val="FF0000"/>
              </a:solidFill>
              <a:latin typeface="Times New Roman" panose="02020603050405020304" pitchFamily="18" charset="0"/>
            </a:endParaRPr>
          </a:p>
        </p:txBody>
      </p:sp>
      <p:sp>
        <p:nvSpPr>
          <p:cNvPr id="55302" name="文本框 233478"/>
          <p:cNvSpPr txBox="1">
            <a:spLocks noChangeArrowheads="1"/>
          </p:cNvSpPr>
          <p:nvPr/>
        </p:nvSpPr>
        <p:spPr bwMode="auto">
          <a:xfrm>
            <a:off x="6237288" y="504825"/>
            <a:ext cx="96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i="1">
                <a:solidFill>
                  <a:srgbClr val="FF0000"/>
                </a:solidFill>
                <a:latin typeface="Times New Roman" panose="02020603050405020304" pitchFamily="18" charset="0"/>
              </a:rPr>
              <a:t>c</a:t>
            </a:r>
            <a:r>
              <a:rPr lang="en-US" altLang="zh-CN" sz="2400" baseline="-25000">
                <a:solidFill>
                  <a:srgbClr val="FF0000"/>
                </a:solidFill>
                <a:latin typeface="Times New Roman" panose="02020603050405020304" pitchFamily="18" charset="0"/>
              </a:rPr>
              <a:t>f2 </a:t>
            </a:r>
            <a:r>
              <a:rPr lang="en-US" altLang="zh-CN" sz="2400">
                <a:solidFill>
                  <a:srgbClr val="FF0000"/>
                </a:solidFill>
                <a:latin typeface="Times New Roman" panose="02020603050405020304" pitchFamily="18" charset="0"/>
              </a:rPr>
              <a:t>, </a:t>
            </a:r>
            <a:r>
              <a:rPr lang="en-US" altLang="zh-CN" sz="2400" i="1">
                <a:solidFill>
                  <a:srgbClr val="FF0000"/>
                </a:solidFill>
                <a:latin typeface="Times New Roman" panose="02020603050405020304" pitchFamily="18" charset="0"/>
              </a:rPr>
              <a:t>h</a:t>
            </a:r>
            <a:r>
              <a:rPr lang="en-US" altLang="zh-CN" sz="2400" baseline="-25000">
                <a:solidFill>
                  <a:srgbClr val="FF0000"/>
                </a:solidFill>
                <a:latin typeface="Times New Roman" panose="02020603050405020304" pitchFamily="18" charset="0"/>
              </a:rPr>
              <a:t>2</a:t>
            </a:r>
            <a:endParaRPr lang="en-US" altLang="zh-CN" sz="2400" baseline="-25000">
              <a:solidFill>
                <a:srgbClr val="FF0000"/>
              </a:solidFill>
              <a:latin typeface="Times New Roman" panose="02020603050405020304" pitchFamily="18" charset="0"/>
            </a:endParaRPr>
          </a:p>
        </p:txBody>
      </p:sp>
      <p:graphicFrame>
        <p:nvGraphicFramePr>
          <p:cNvPr id="55303" name="对象 233480"/>
          <p:cNvGraphicFramePr/>
          <p:nvPr/>
        </p:nvGraphicFramePr>
        <p:xfrm>
          <a:off x="296863" y="2819400"/>
          <a:ext cx="8174037" cy="2894013"/>
        </p:xfrm>
        <a:graphic>
          <a:graphicData uri="http://schemas.openxmlformats.org/presentationml/2006/ole">
            <mc:AlternateContent xmlns:mc="http://schemas.openxmlformats.org/markup-compatibility/2006">
              <mc:Choice xmlns:v="urn:schemas-microsoft-com:vml" Requires="v">
                <p:oleObj spid="_x0000_s36868" name="" r:id="rId2" imgW="1595755" imgH="528955" progId="Equation.DSMT4">
                  <p:embed/>
                </p:oleObj>
              </mc:Choice>
              <mc:Fallback>
                <p:oleObj name="" r:id="rId2" imgW="1595755" imgH="528955" progId="Equation.DSMT4">
                  <p:embed/>
                  <p:pic>
                    <p:nvPicPr>
                      <p:cNvPr id="0" name="对象 23348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2819400"/>
                        <a:ext cx="8174037" cy="289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4" name="文本框 233482"/>
          <p:cNvSpPr txBox="1">
            <a:spLocks noChangeArrowheads="1"/>
          </p:cNvSpPr>
          <p:nvPr/>
        </p:nvSpPr>
        <p:spPr bwMode="auto">
          <a:xfrm>
            <a:off x="3284538" y="5049838"/>
            <a:ext cx="56975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绝热节流前后焓值不变</a:t>
            </a:r>
            <a:endParaRPr lang="zh-CN" altLang="en-US" sz="1800" b="1" dirty="0">
              <a:latin typeface="黑体" panose="02010609060101010101" pitchFamily="49" charset="-122"/>
              <a:ea typeface="黑体" panose="02010609060101010101" pitchFamily="49" charset="-122"/>
            </a:endParaRPr>
          </a:p>
        </p:txBody>
      </p:sp>
      <p:sp>
        <p:nvSpPr>
          <p:cNvPr id="55305" name="右箭头 233483"/>
          <p:cNvSpPr>
            <a:spLocks noChangeArrowheads="1"/>
          </p:cNvSpPr>
          <p:nvPr/>
        </p:nvSpPr>
        <p:spPr bwMode="auto">
          <a:xfrm>
            <a:off x="2592388" y="5229225"/>
            <a:ext cx="630237" cy="269875"/>
          </a:xfrm>
          <a:prstGeom prst="rightArrow">
            <a:avLst>
              <a:gd name="adj1" fmla="val 50000"/>
              <a:gd name="adj2" fmla="val 58361"/>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269313"/>
          <p:cNvSpPr>
            <a:spLocks noGrp="1" noChangeArrowheads="1"/>
          </p:cNvSpPr>
          <p:nvPr>
            <p:ph type="title"/>
          </p:nvPr>
        </p:nvSpPr>
        <p:spPr/>
        <p:txBody>
          <a:bodyPr/>
          <a:lstStyle/>
          <a:p>
            <a:pPr eaLnBrk="1" hangingPunct="1"/>
            <a:r>
              <a:rPr lang="zh-CN" altLang="en-US" b="1" dirty="0" smtClean="0">
                <a:ea typeface="黑体" panose="02010609060101010101" pitchFamily="49" charset="-122"/>
              </a:rPr>
              <a:t>三、热力发动机（透平机械）</a:t>
            </a:r>
            <a:endParaRPr lang="zh-CN" altLang="en-US" b="1" dirty="0" smtClean="0">
              <a:ea typeface="黑体" panose="02010609060101010101" pitchFamily="49" charset="-122"/>
            </a:endParaRPr>
          </a:p>
        </p:txBody>
      </p:sp>
      <p:sp>
        <p:nvSpPr>
          <p:cNvPr id="56323" name="矩形 8"/>
          <p:cNvSpPr>
            <a:spLocks noChangeArrowheads="1"/>
          </p:cNvSpPr>
          <p:nvPr/>
        </p:nvSpPr>
        <p:spPr bwMode="auto">
          <a:xfrm>
            <a:off x="395288" y="1417638"/>
            <a:ext cx="83534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zh-CN" sz="3000" b="1" dirty="0">
                <a:latin typeface="楷体_GB2312" pitchFamily="49" charset="-122"/>
                <a:ea typeface="黑体" panose="02010609060101010101" pitchFamily="49" charset="-122"/>
              </a:rPr>
              <a:t>热力发动机包括内燃机、蒸汽轮机、燃气轮机等</a:t>
            </a:r>
            <a:endParaRPr lang="en-US" altLang="zh-CN" sz="3000" b="1" dirty="0">
              <a:latin typeface="楷体_GB2312" pitchFamily="49" charset="-122"/>
              <a:ea typeface="黑体" panose="02010609060101010101" pitchFamily="49" charset="-122"/>
            </a:endParaRPr>
          </a:p>
          <a:p>
            <a:pPr>
              <a:spcBef>
                <a:spcPct val="0"/>
              </a:spcBef>
            </a:pPr>
            <a:r>
              <a:rPr lang="zh-CN" altLang="zh-CN" sz="3000" b="1" dirty="0">
                <a:latin typeface="楷体_GB2312" pitchFamily="49" charset="-122"/>
                <a:ea typeface="黑体" panose="02010609060101010101" pitchFamily="49" charset="-122"/>
              </a:rPr>
              <a:t>当流体流过这些装置时，流体对叶片作功而压力降低，使叶片带动与其连接的轴转动，从而输出轴功</a:t>
            </a:r>
            <a:endParaRPr lang="en-US" altLang="zh-CN" sz="3000" b="1" dirty="0">
              <a:latin typeface="楷体_GB2312" pitchFamily="49" charset="-122"/>
              <a:ea typeface="黑体" panose="02010609060101010101" pitchFamily="49" charset="-122"/>
            </a:endParaRPr>
          </a:p>
        </p:txBody>
      </p:sp>
      <p:pic>
        <p:nvPicPr>
          <p:cNvPr id="5632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472113" y="3654425"/>
            <a:ext cx="2836862" cy="281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矩形 10"/>
          <p:cNvSpPr>
            <a:spLocks noChangeArrowheads="1"/>
          </p:cNvSpPr>
          <p:nvPr/>
        </p:nvSpPr>
        <p:spPr bwMode="auto">
          <a:xfrm>
            <a:off x="395288" y="3873621"/>
            <a:ext cx="41719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zh-CN" sz="3000" b="1" dirty="0">
                <a:latin typeface="楷体_GB2312" pitchFamily="49" charset="-122"/>
                <a:ea typeface="黑体" panose="02010609060101010101" pitchFamily="49" charset="-122"/>
              </a:rPr>
              <a:t>这些轴若和发电机相连，则可带动发电机发电</a:t>
            </a:r>
            <a:endParaRPr lang="en-US" altLang="zh-CN" sz="3000"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270361"/>
          <p:cNvSpPr>
            <a:spLocks noChangeArrowheads="1"/>
          </p:cNvSpPr>
          <p:nvPr/>
        </p:nvSpPr>
        <p:spPr bwMode="auto">
          <a:xfrm>
            <a:off x="4460875" y="1012735"/>
            <a:ext cx="454352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ea typeface="黑体" panose="02010609060101010101" pitchFamily="49" charset="-122"/>
              </a:rPr>
              <a:t>流体进、出口动能、重力势能相差不多，忽略动能、势能变化；</a:t>
            </a:r>
            <a:endParaRPr lang="zh-CN" altLang="en-US" sz="2400" b="1" dirty="0">
              <a:ea typeface="黑体" panose="02010609060101010101" pitchFamily="49" charset="-122"/>
            </a:endParaRPr>
          </a:p>
          <a:p>
            <a:pPr eaLnBrk="1" hangingPunct="1">
              <a:spcBef>
                <a:spcPct val="0"/>
              </a:spcBef>
              <a:buFontTx/>
              <a:buNone/>
            </a:pPr>
            <a:r>
              <a:rPr lang="zh-CN" altLang="en-US" sz="2400" b="1" dirty="0">
                <a:ea typeface="黑体" panose="02010609060101010101" pitchFamily="49" charset="-122"/>
              </a:rPr>
              <a:t>一般绝热性较好，忽略散热</a:t>
            </a:r>
            <a:endParaRPr lang="zh-CN" altLang="en-US" sz="2400" b="1" dirty="0">
              <a:ea typeface="黑体" panose="02010609060101010101" pitchFamily="49" charset="-122"/>
            </a:endParaRPr>
          </a:p>
        </p:txBody>
      </p:sp>
      <p:graphicFrame>
        <p:nvGraphicFramePr>
          <p:cNvPr id="57347" name="对象 270362"/>
          <p:cNvGraphicFramePr/>
          <p:nvPr/>
        </p:nvGraphicFramePr>
        <p:xfrm>
          <a:off x="385763" y="3429000"/>
          <a:ext cx="8191500" cy="2101850"/>
        </p:xfrm>
        <a:graphic>
          <a:graphicData uri="http://schemas.openxmlformats.org/presentationml/2006/ole">
            <mc:AlternateContent xmlns:mc="http://schemas.openxmlformats.org/markup-compatibility/2006">
              <mc:Choice xmlns:v="urn:schemas-microsoft-com:vml" Requires="v">
                <p:oleObj spid="_x0000_s37893" name="" r:id="rId1" imgW="1595755" imgH="368300" progId="Equation.DSMT4">
                  <p:embed/>
                </p:oleObj>
              </mc:Choice>
              <mc:Fallback>
                <p:oleObj name="" r:id="rId1" imgW="1595755" imgH="368300" progId="Equation.DSMT4">
                  <p:embed/>
                  <p:pic>
                    <p:nvPicPr>
                      <p:cNvPr id="0" name="对象 27036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3" y="3429000"/>
                        <a:ext cx="8191500"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8" name="矩形 270364"/>
          <p:cNvSpPr>
            <a:spLocks noChangeArrowheads="1"/>
          </p:cNvSpPr>
          <p:nvPr/>
        </p:nvSpPr>
        <p:spPr bwMode="auto">
          <a:xfrm>
            <a:off x="1285875" y="5815013"/>
            <a:ext cx="75168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b="1" dirty="0">
                <a:ea typeface="黑体" panose="02010609060101010101" pitchFamily="49" charset="-122"/>
              </a:rPr>
              <a:t>输出的轴功是靠焓降转变的</a:t>
            </a:r>
            <a:endParaRPr lang="zh-CN" altLang="en-US" sz="4000" b="1" dirty="0">
              <a:ea typeface="黑体" panose="02010609060101010101" pitchFamily="49" charset="-122"/>
            </a:endParaRPr>
          </a:p>
        </p:txBody>
      </p:sp>
      <p:sp>
        <p:nvSpPr>
          <p:cNvPr id="2" name="矩形 1"/>
          <p:cNvSpPr/>
          <p:nvPr/>
        </p:nvSpPr>
        <p:spPr>
          <a:xfrm>
            <a:off x="2540775" y="1249447"/>
            <a:ext cx="69802" cy="907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763" y="629440"/>
            <a:ext cx="4194412" cy="2304488"/>
          </a:xfrm>
          <a:prstGeom prst="rect">
            <a:avLst/>
          </a:prstGeom>
        </p:spPr>
      </p:pic>
    </p:spTree>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273409"/>
          <p:cNvSpPr>
            <a:spLocks noGrp="1" noChangeArrowheads="1"/>
          </p:cNvSpPr>
          <p:nvPr>
            <p:ph type="title"/>
          </p:nvPr>
        </p:nvSpPr>
        <p:spPr>
          <a:xfrm>
            <a:off x="250825" y="395288"/>
            <a:ext cx="8229600" cy="1143000"/>
          </a:xfrm>
        </p:spPr>
        <p:txBody>
          <a:bodyPr/>
          <a:lstStyle/>
          <a:p>
            <a:pPr eaLnBrk="1" hangingPunct="1"/>
            <a:r>
              <a:rPr lang="en-US" altLang="zh-CN" b="1" smtClean="0">
                <a:ea typeface="黑体" panose="02010609060101010101" pitchFamily="49" charset="-122"/>
              </a:rPr>
              <a:t> </a:t>
            </a:r>
            <a:r>
              <a:rPr lang="zh-CN" altLang="en-US" b="1" smtClean="0">
                <a:ea typeface="黑体" panose="02010609060101010101" pitchFamily="49" charset="-122"/>
              </a:rPr>
              <a:t>四、压气机（压缩机械）</a:t>
            </a:r>
            <a:endParaRPr lang="zh-CN" altLang="en-US" b="1" smtClean="0">
              <a:ea typeface="黑体" panose="02010609060101010101" pitchFamily="49" charset="-122"/>
            </a:endParaRPr>
          </a:p>
        </p:txBody>
      </p:sp>
      <p:sp>
        <p:nvSpPr>
          <p:cNvPr id="58371" name="矩形 11"/>
          <p:cNvSpPr>
            <a:spLocks noChangeArrowheads="1"/>
          </p:cNvSpPr>
          <p:nvPr/>
        </p:nvSpPr>
        <p:spPr bwMode="auto">
          <a:xfrm>
            <a:off x="425450" y="1852395"/>
            <a:ext cx="80549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b="1" dirty="0">
                <a:latin typeface="楷体_GB2312" pitchFamily="49" charset="-122"/>
                <a:ea typeface="黑体" panose="02010609060101010101" pitchFamily="49" charset="-122"/>
              </a:rPr>
              <a:t>压气机的热力过程与</a:t>
            </a:r>
            <a:r>
              <a:rPr lang="zh-CN" altLang="zh-CN" b="1" dirty="0">
                <a:latin typeface="楷体_GB2312" pitchFamily="49" charset="-122"/>
                <a:ea typeface="黑体" panose="02010609060101010101" pitchFamily="49" charset="-122"/>
              </a:rPr>
              <a:t>热力发动机</a:t>
            </a:r>
            <a:r>
              <a:rPr lang="zh-CN" altLang="en-US" b="1" dirty="0">
                <a:latin typeface="楷体_GB2312" pitchFamily="49" charset="-122"/>
                <a:ea typeface="黑体" panose="02010609060101010101" pitchFamily="49" charset="-122"/>
              </a:rPr>
              <a:t>正相反</a:t>
            </a:r>
            <a:endParaRPr lang="en-US" altLang="zh-CN" b="1" dirty="0">
              <a:latin typeface="楷体_GB2312" pitchFamily="49" charset="-122"/>
              <a:ea typeface="黑体" panose="02010609060101010101" pitchFamily="49" charset="-122"/>
            </a:endParaRPr>
          </a:p>
          <a:p>
            <a:pPr>
              <a:spcBef>
                <a:spcPct val="0"/>
              </a:spcBef>
            </a:pPr>
            <a:r>
              <a:rPr lang="zh-CN" altLang="en-US" b="1" dirty="0">
                <a:latin typeface="楷体_GB2312" pitchFamily="49" charset="-122"/>
                <a:ea typeface="黑体" panose="02010609060101010101" pitchFamily="49" charset="-122"/>
              </a:rPr>
              <a:t>与热力发动机总是输出功不同，压气机需要外界输入功而使流体的压力升高</a:t>
            </a:r>
            <a:endParaRPr lang="en-US" altLang="zh-CN" b="1" dirty="0">
              <a:latin typeface="楷体_GB2312" pitchFamily="49" charset="-122"/>
              <a:ea typeface="黑体" panose="02010609060101010101" pitchFamily="49" charset="-122"/>
            </a:endParaRPr>
          </a:p>
          <a:p>
            <a:pPr>
              <a:spcBef>
                <a:spcPct val="0"/>
              </a:spcBef>
            </a:pPr>
            <a:r>
              <a:rPr lang="zh-CN" altLang="en-US" b="1" dirty="0">
                <a:latin typeface="楷体_GB2312" pitchFamily="49" charset="-122"/>
                <a:ea typeface="黑体" panose="02010609060101010101" pitchFamily="49" charset="-122"/>
              </a:rPr>
              <a:t>热力发动机一般绝热性较好，可忽略对外散热，但对压气机</a:t>
            </a:r>
            <a:r>
              <a:rPr lang="zh-CN" altLang="en-US" sz="2800" b="1" dirty="0">
                <a:latin typeface="楷体_GB2312" pitchFamily="49" charset="-122"/>
                <a:ea typeface="黑体" panose="02010609060101010101" pitchFamily="49" charset="-122"/>
              </a:rPr>
              <a:t>（特别是活塞式压气机，在</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11-2</a:t>
            </a:r>
            <a:r>
              <a:rPr lang="zh-CN" altLang="en-US" sz="2800" b="1" dirty="0">
                <a:latin typeface="楷体_GB2312" pitchFamily="49" charset="-122"/>
                <a:ea typeface="黑体" panose="02010609060101010101" pitchFamily="49" charset="-122"/>
              </a:rPr>
              <a:t>节会讲）</a:t>
            </a:r>
            <a:r>
              <a:rPr lang="zh-CN" altLang="en-US" b="1" dirty="0">
                <a:latin typeface="楷体_GB2312" pitchFamily="49" charset="-122"/>
                <a:ea typeface="黑体" panose="02010609060101010101" pitchFamily="49" charset="-122"/>
              </a:rPr>
              <a:t>，有时需要考虑对外散热</a:t>
            </a:r>
            <a:endParaRPr lang="en-US" altLang="zh-CN" b="1" dirty="0">
              <a:latin typeface="楷体_GB2312"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275457"/>
          <p:cNvSpPr>
            <a:spLocks noChangeArrowheads="1"/>
          </p:cNvSpPr>
          <p:nvPr/>
        </p:nvSpPr>
        <p:spPr bwMode="auto">
          <a:xfrm>
            <a:off x="3724275" y="1108075"/>
            <a:ext cx="524668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ea typeface="黑体" panose="02010609060101010101" pitchFamily="49" charset="-122"/>
              </a:rPr>
              <a:t>流体进、出口动能、重力势能相差不多，忽略动能、势能变化；</a:t>
            </a:r>
            <a:endParaRPr lang="zh-CN" altLang="en-US" sz="2800" b="1" dirty="0">
              <a:ea typeface="黑体" panose="02010609060101010101" pitchFamily="49" charset="-122"/>
            </a:endParaRPr>
          </a:p>
          <a:p>
            <a:pPr eaLnBrk="1" hangingPunct="1">
              <a:spcBef>
                <a:spcPct val="0"/>
              </a:spcBef>
              <a:buFontTx/>
              <a:buNone/>
            </a:pPr>
            <a:r>
              <a:rPr lang="zh-CN" altLang="en-US" sz="2800" b="1" dirty="0">
                <a:ea typeface="黑体" panose="02010609060101010101" pitchFamily="49" charset="-122"/>
              </a:rPr>
              <a:t>有时需要考虑对外散热</a:t>
            </a:r>
            <a:endParaRPr lang="zh-CN" altLang="en-US" sz="2800" b="1" dirty="0">
              <a:ea typeface="黑体" panose="02010609060101010101" pitchFamily="49" charset="-122"/>
            </a:endParaRPr>
          </a:p>
        </p:txBody>
      </p:sp>
      <p:sp>
        <p:nvSpPr>
          <p:cNvPr id="60419" name="矩形 275459"/>
          <p:cNvSpPr>
            <a:spLocks noChangeArrowheads="1"/>
          </p:cNvSpPr>
          <p:nvPr/>
        </p:nvSpPr>
        <p:spPr bwMode="auto">
          <a:xfrm>
            <a:off x="898525" y="5678488"/>
            <a:ext cx="75168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ea typeface="黑体" panose="02010609060101010101" pitchFamily="49" charset="-122"/>
              </a:rPr>
              <a:t>由于压气机消耗功（外界对压气机内的气体作功），有</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&lt;0</a:t>
            </a:r>
            <a:r>
              <a:rPr lang="zh-CN" altLang="en-US" sz="2800" b="1" dirty="0">
                <a:ea typeface="黑体" panose="02010609060101010101" pitchFamily="49" charset="-122"/>
              </a:rPr>
              <a:t>，即</a:t>
            </a:r>
            <a:r>
              <a:rPr lang="en-US" altLang="zh-CN"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w</a:t>
            </a:r>
            <a:r>
              <a:rPr lang="en-US" altLang="zh-CN" sz="2800" b="1" dirty="0">
                <a:latin typeface="Times New Roman" panose="02020603050405020304" pitchFamily="18" charset="0"/>
                <a:ea typeface="黑体" panose="02010609060101010101" pitchFamily="49" charset="-122"/>
              </a:rPr>
              <a:t>&gt;0</a:t>
            </a:r>
            <a:endParaRPr lang="zh-CN" altLang="en-US" sz="2800" b="1" dirty="0">
              <a:latin typeface="Times New Roman" panose="02020603050405020304" pitchFamily="18" charset="0"/>
              <a:ea typeface="黑体" panose="02010609060101010101" pitchFamily="49" charset="-122"/>
            </a:endParaRPr>
          </a:p>
        </p:txBody>
      </p:sp>
      <p:graphicFrame>
        <p:nvGraphicFramePr>
          <p:cNvPr id="60420" name="对象 275462"/>
          <p:cNvGraphicFramePr/>
          <p:nvPr/>
        </p:nvGraphicFramePr>
        <p:xfrm>
          <a:off x="898525" y="3400425"/>
          <a:ext cx="7483475" cy="1963738"/>
        </p:xfrm>
        <a:graphic>
          <a:graphicData uri="http://schemas.openxmlformats.org/presentationml/2006/ole">
            <mc:AlternateContent xmlns:mc="http://schemas.openxmlformats.org/markup-compatibility/2006">
              <mc:Choice xmlns:v="urn:schemas-microsoft-com:vml" Requires="v">
                <p:oleObj spid="_x0000_s38917" name="Equation" r:id="rId1" imgW="1612900" imgH="385445" progId="Equation.DSMT4">
                  <p:embed/>
                </p:oleObj>
              </mc:Choice>
              <mc:Fallback>
                <p:oleObj name="Equation" r:id="rId1" imgW="1612900" imgH="385445" progId="Equation.DSMT4">
                  <p:embed/>
                  <p:pic>
                    <p:nvPicPr>
                      <p:cNvPr id="0" name="对象 27546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525" y="3400425"/>
                        <a:ext cx="7483475" cy="196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61" y="421755"/>
            <a:ext cx="3454314" cy="2821507"/>
          </a:xfrm>
          <a:prstGeom prst="rect">
            <a:avLst/>
          </a:prstGeom>
        </p:spPr>
      </p:pic>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73409"/>
          <p:cNvSpPr txBox="1">
            <a:spLocks noChangeArrowheads="1"/>
          </p:cNvSpPr>
          <p:nvPr/>
        </p:nvSpPr>
        <p:spPr bwMode="auto">
          <a:xfrm>
            <a:off x="363538" y="2349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4400" dirty="0">
                <a:solidFill>
                  <a:schemeClr val="tx2"/>
                </a:solidFill>
                <a:ea typeface="黑体" panose="02010609060101010101" pitchFamily="49" charset="-122"/>
              </a:rPr>
              <a:t> </a:t>
            </a:r>
            <a:r>
              <a:rPr lang="zh-CN" altLang="en-US" sz="4400" b="1" dirty="0">
                <a:ea typeface="黑体" panose="02010609060101010101" pitchFamily="49" charset="-122"/>
              </a:rPr>
              <a:t>五、混合器</a:t>
            </a:r>
            <a:endParaRPr lang="zh-CN" altLang="en-US" sz="4400" b="1" dirty="0">
              <a:ea typeface="黑体" panose="02010609060101010101" pitchFamily="49" charset="-122"/>
            </a:endParaRPr>
          </a:p>
        </p:txBody>
      </p:sp>
      <p:sp>
        <p:nvSpPr>
          <p:cNvPr id="61443" name="矩形 2"/>
          <p:cNvSpPr>
            <a:spLocks noChangeArrowheads="1"/>
          </p:cNvSpPr>
          <p:nvPr/>
        </p:nvSpPr>
        <p:spPr bwMode="auto">
          <a:xfrm>
            <a:off x="536575" y="1377950"/>
            <a:ext cx="80565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b="1" dirty="0">
                <a:latin typeface="楷体_GB2312" pitchFamily="49" charset="-122"/>
                <a:ea typeface="黑体" panose="02010609060101010101" pitchFamily="49" charset="-122"/>
              </a:rPr>
              <a:t>冷热流体在混合器中进行混合</a:t>
            </a:r>
            <a:endParaRPr lang="en-US" altLang="zh-CN" b="1" dirty="0">
              <a:latin typeface="楷体_GB2312" pitchFamily="49" charset="-122"/>
              <a:ea typeface="黑体" panose="02010609060101010101" pitchFamily="49" charset="-122"/>
            </a:endParaRPr>
          </a:p>
          <a:p>
            <a:pPr>
              <a:spcBef>
                <a:spcPct val="0"/>
              </a:spcBef>
            </a:pPr>
            <a:r>
              <a:rPr lang="zh-CN" altLang="en-US" b="1" dirty="0">
                <a:latin typeface="楷体_GB2312" pitchFamily="49" charset="-122"/>
                <a:ea typeface="黑体" panose="02010609060101010101" pitchFamily="49" charset="-122"/>
              </a:rPr>
              <a:t>在混合过程中满足质量和能量守恒关系</a:t>
            </a:r>
            <a:endParaRPr lang="en-US" altLang="zh-CN" b="1" dirty="0">
              <a:latin typeface="楷体_GB2312" pitchFamily="49" charset="-122"/>
              <a:ea typeface="黑体" panose="02010609060101010101" pitchFamily="49" charset="-122"/>
            </a:endParaRPr>
          </a:p>
        </p:txBody>
      </p:sp>
      <p:pic>
        <p:nvPicPr>
          <p:cNvPr id="61444"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21263" y="2657475"/>
            <a:ext cx="3025775"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8850" y="3159125"/>
            <a:ext cx="4048125"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235526"/>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67" name="矩形 23552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2468" name="对象 235527"/>
          <p:cNvGraphicFramePr/>
          <p:nvPr/>
        </p:nvGraphicFramePr>
        <p:xfrm>
          <a:off x="1195388" y="2470150"/>
          <a:ext cx="6237287" cy="793750"/>
        </p:xfrm>
        <a:graphic>
          <a:graphicData uri="http://schemas.openxmlformats.org/presentationml/2006/ole">
            <mc:AlternateContent xmlns:mc="http://schemas.openxmlformats.org/markup-compatibility/2006">
              <mc:Choice xmlns:v="urn:schemas-microsoft-com:vml" Requires="v">
                <p:oleObj spid="_x0000_s39956" name="" r:id="rId1" imgW="3517900" imgH="444500" progId="Equation.DSMT4">
                  <p:embed/>
                </p:oleObj>
              </mc:Choice>
              <mc:Fallback>
                <p:oleObj name="" r:id="rId1" imgW="3517900" imgH="444500" progId="Equation.DSMT4">
                  <p:embed/>
                  <p:pic>
                    <p:nvPicPr>
                      <p:cNvPr id="0" name="对象 2355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388" y="2470150"/>
                        <a:ext cx="623728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69" name="矩形 235530"/>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70" name="矩形 235532"/>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71" name="矩形 235535"/>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2472" name="对象 235534"/>
          <p:cNvGraphicFramePr/>
          <p:nvPr/>
        </p:nvGraphicFramePr>
        <p:xfrm>
          <a:off x="1376363" y="4103688"/>
          <a:ext cx="2339975" cy="631825"/>
        </p:xfrm>
        <a:graphic>
          <a:graphicData uri="http://schemas.openxmlformats.org/presentationml/2006/ole">
            <mc:AlternateContent xmlns:mc="http://schemas.openxmlformats.org/markup-compatibility/2006">
              <mc:Choice xmlns:v="urn:schemas-microsoft-com:vml" Requires="v">
                <p:oleObj spid="_x0000_s39957" name="" r:id="rId3" imgW="1307465" imgH="355600" progId="Equation.DSMT4">
                  <p:embed/>
                </p:oleObj>
              </mc:Choice>
              <mc:Fallback>
                <p:oleObj name="" r:id="rId3" imgW="1307465" imgH="355600" progId="Equation.DSMT4">
                  <p:embed/>
                  <p:pic>
                    <p:nvPicPr>
                      <p:cNvPr id="0" name="对象 2355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363" y="4103688"/>
                        <a:ext cx="2339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73" name="矩形 235537"/>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2474" name="对象 235536"/>
          <p:cNvGraphicFramePr/>
          <p:nvPr/>
        </p:nvGraphicFramePr>
        <p:xfrm>
          <a:off x="1420813" y="4824413"/>
          <a:ext cx="2205037" cy="595312"/>
        </p:xfrm>
        <a:graphic>
          <a:graphicData uri="http://schemas.openxmlformats.org/presentationml/2006/ole">
            <mc:AlternateContent xmlns:mc="http://schemas.openxmlformats.org/markup-compatibility/2006">
              <mc:Choice xmlns:v="urn:schemas-microsoft-com:vml" Requires="v">
                <p:oleObj spid="_x0000_s39958" name="" r:id="rId5" imgW="1307465" imgH="355600" progId="Equation.DSMT4">
                  <p:embed/>
                </p:oleObj>
              </mc:Choice>
              <mc:Fallback>
                <p:oleObj name="" r:id="rId5" imgW="1307465" imgH="355600" progId="Equation.DSMT4">
                  <p:embed/>
                  <p:pic>
                    <p:nvPicPr>
                      <p:cNvPr id="0" name="对象 235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813" y="4824413"/>
                        <a:ext cx="2205037"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75" name="矩形 235539"/>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2476" name="对象 235538"/>
          <p:cNvGraphicFramePr/>
          <p:nvPr/>
        </p:nvGraphicFramePr>
        <p:xfrm>
          <a:off x="1555750" y="5545138"/>
          <a:ext cx="1484313" cy="598487"/>
        </p:xfrm>
        <a:graphic>
          <a:graphicData uri="http://schemas.openxmlformats.org/presentationml/2006/ole">
            <mc:AlternateContent xmlns:mc="http://schemas.openxmlformats.org/markup-compatibility/2006">
              <mc:Choice xmlns:v="urn:schemas-microsoft-com:vml" Requires="v">
                <p:oleObj spid="_x0000_s39959" name="" r:id="rId7" imgW="875665" imgH="355600" progId="Equation.DSMT4">
                  <p:embed/>
                </p:oleObj>
              </mc:Choice>
              <mc:Fallback>
                <p:oleObj name="" r:id="rId7" imgW="875665" imgH="355600" progId="Equation.DSMT4">
                  <p:embed/>
                  <p:pic>
                    <p:nvPicPr>
                      <p:cNvPr id="0" name="对象 23553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5750" y="5545138"/>
                        <a:ext cx="148431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77" name="文本框 235540"/>
          <p:cNvSpPr txBox="1">
            <a:spLocks noChangeArrowheads="1"/>
          </p:cNvSpPr>
          <p:nvPr/>
        </p:nvSpPr>
        <p:spPr bwMode="auto">
          <a:xfrm>
            <a:off x="3265488" y="5537200"/>
            <a:ext cx="1709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400" b="1" dirty="0">
                <a:latin typeface="楷体_GB2312" pitchFamily="49" charset="-122"/>
                <a:ea typeface="楷体_GB2312" pitchFamily="49" charset="-122"/>
              </a:rPr>
              <a:t>质量守恒</a:t>
            </a:r>
            <a:endParaRPr lang="zh-CN" altLang="en-US" sz="2400" b="1" dirty="0">
              <a:latin typeface="楷体_GB2312" pitchFamily="49" charset="-122"/>
              <a:ea typeface="楷体_GB2312" pitchFamily="49" charset="-122"/>
            </a:endParaRPr>
          </a:p>
        </p:txBody>
      </p:sp>
      <p:sp>
        <p:nvSpPr>
          <p:cNvPr id="62478" name="矩形 23554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2479" name="对象 235541"/>
          <p:cNvGraphicFramePr/>
          <p:nvPr/>
        </p:nvGraphicFramePr>
        <p:xfrm>
          <a:off x="5649913" y="4506913"/>
          <a:ext cx="2071687" cy="412750"/>
        </p:xfrm>
        <a:graphic>
          <a:graphicData uri="http://schemas.openxmlformats.org/presentationml/2006/ole">
            <mc:AlternateContent xmlns:mc="http://schemas.openxmlformats.org/markup-compatibility/2006">
              <mc:Choice xmlns:v="urn:schemas-microsoft-com:vml" Requires="v">
                <p:oleObj spid="_x0000_s39960" name="" r:id="rId9" imgW="1143000" imgH="228600" progId="Equation.DSMT4">
                  <p:embed/>
                </p:oleObj>
              </mc:Choice>
              <mc:Fallback>
                <p:oleObj name="" r:id="rId9" imgW="1143000" imgH="228600" progId="Equation.DSMT4">
                  <p:embed/>
                  <p:pic>
                    <p:nvPicPr>
                      <p:cNvPr id="0" name="对象 23554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49913" y="4506913"/>
                        <a:ext cx="207168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80" name="矩形 23554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2481" name="对象 235543"/>
          <p:cNvGraphicFramePr/>
          <p:nvPr/>
        </p:nvGraphicFramePr>
        <p:xfrm>
          <a:off x="5921375" y="5048250"/>
          <a:ext cx="1395413" cy="400050"/>
        </p:xfrm>
        <a:graphic>
          <a:graphicData uri="http://schemas.openxmlformats.org/presentationml/2006/ole">
            <mc:AlternateContent xmlns:mc="http://schemas.openxmlformats.org/markup-compatibility/2006">
              <mc:Choice xmlns:v="urn:schemas-microsoft-com:vml" Requires="v">
                <p:oleObj spid="_x0000_s39961" name="" r:id="rId11" imgW="800100" imgH="228600" progId="Equation.DSMT4">
                  <p:embed/>
                </p:oleObj>
              </mc:Choice>
              <mc:Fallback>
                <p:oleObj name="" r:id="rId11" imgW="800100" imgH="228600" progId="Equation.DSMT4">
                  <p:embed/>
                  <p:pic>
                    <p:nvPicPr>
                      <p:cNvPr id="0" name="对象 23554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21375" y="5048250"/>
                        <a:ext cx="1395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82" name="矩形 235545"/>
          <p:cNvSpPr>
            <a:spLocks noChangeArrowheads="1"/>
          </p:cNvSpPr>
          <p:nvPr/>
        </p:nvSpPr>
        <p:spPr bwMode="auto">
          <a:xfrm>
            <a:off x="5562600" y="4462463"/>
            <a:ext cx="2249488" cy="103505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83" name="矩形 235547"/>
          <p:cNvSpPr>
            <a:spLocks noChangeArrowheads="1"/>
          </p:cNvSpPr>
          <p:nvPr/>
        </p:nvSpPr>
        <p:spPr bwMode="auto">
          <a:xfrm>
            <a:off x="657225" y="522288"/>
            <a:ext cx="78295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00"/>
                </a:solidFill>
                <a:latin typeface="黑体" panose="02010609060101010101" pitchFamily="49" charset="-122"/>
                <a:ea typeface="黑体" panose="02010609060101010101" pitchFamily="49" charset="-122"/>
              </a:rPr>
              <a:t>一般可近似认为混合过程是一种</a:t>
            </a:r>
            <a:r>
              <a:rPr lang="zh-CN" altLang="en-US" sz="2800" b="1" dirty="0">
                <a:solidFill>
                  <a:srgbClr val="FF0000"/>
                </a:solidFill>
                <a:latin typeface="黑体" panose="02010609060101010101" pitchFamily="49" charset="-122"/>
                <a:ea typeface="黑体" panose="02010609060101010101" pitchFamily="49" charset="-122"/>
              </a:rPr>
              <a:t>绝热</a:t>
            </a:r>
            <a:r>
              <a:rPr lang="zh-CN" altLang="en-US" sz="2800" b="1" dirty="0">
                <a:solidFill>
                  <a:srgbClr val="000000"/>
                </a:solidFill>
                <a:latin typeface="黑体" panose="02010609060101010101" pitchFamily="49" charset="-122"/>
                <a:ea typeface="黑体" panose="02010609060101010101" pitchFamily="49" charset="-122"/>
              </a:rPr>
              <a:t>、设备</a:t>
            </a:r>
            <a:r>
              <a:rPr lang="zh-CN" altLang="en-US" sz="2800" b="1" dirty="0">
                <a:solidFill>
                  <a:srgbClr val="FF0000"/>
                </a:solidFill>
                <a:latin typeface="黑体" panose="02010609060101010101" pitchFamily="49" charset="-122"/>
                <a:ea typeface="黑体" panose="02010609060101010101" pitchFamily="49" charset="-122"/>
              </a:rPr>
              <a:t>不作功</a:t>
            </a:r>
            <a:r>
              <a:rPr lang="zh-CN" altLang="en-US" sz="2800" b="1" dirty="0">
                <a:solidFill>
                  <a:srgbClr val="000000"/>
                </a:solidFill>
                <a:latin typeface="黑体" panose="02010609060101010101" pitchFamily="49" charset="-122"/>
                <a:ea typeface="黑体" panose="02010609060101010101" pitchFamily="49" charset="-122"/>
              </a:rPr>
              <a:t>的稳定流动过程，并忽略流体的宏观动能和重力位能变化。</a:t>
            </a:r>
            <a:endParaRPr lang="zh-CN" altLang="en-US" sz="2800" b="1" dirty="0">
              <a:solidFill>
                <a:srgbClr val="000000"/>
              </a:solidFill>
              <a:latin typeface="黑体" panose="02010609060101010101" pitchFamily="49" charset="-122"/>
              <a:ea typeface="黑体" panose="02010609060101010101" pitchFamily="49" charset="-122"/>
            </a:endParaRPr>
          </a:p>
        </p:txBody>
      </p:sp>
      <p:sp>
        <p:nvSpPr>
          <p:cNvPr id="62484" name="矩形 235548"/>
          <p:cNvSpPr>
            <a:spLocks noChangeArrowheads="1"/>
          </p:cNvSpPr>
          <p:nvPr/>
        </p:nvSpPr>
        <p:spPr bwMode="auto">
          <a:xfrm>
            <a:off x="1195388" y="3878263"/>
            <a:ext cx="3646487" cy="2430462"/>
          </a:xfrm>
          <a:prstGeom prst="rect">
            <a:avLst/>
          </a:prstGeom>
          <a:noFill/>
          <a:ln w="25400">
            <a:solidFill>
              <a:srgbClr val="FF99CC"/>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85" name="右箭头 235549"/>
          <p:cNvSpPr>
            <a:spLocks noChangeArrowheads="1"/>
          </p:cNvSpPr>
          <p:nvPr/>
        </p:nvSpPr>
        <p:spPr bwMode="auto">
          <a:xfrm>
            <a:off x="4930775" y="4957763"/>
            <a:ext cx="495300" cy="269875"/>
          </a:xfrm>
          <a:prstGeom prst="rightArrow">
            <a:avLst>
              <a:gd name="adj1" fmla="val 50000"/>
              <a:gd name="adj2" fmla="val 45865"/>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277505"/>
          <p:cNvSpPr>
            <a:spLocks noGrp="1" noChangeArrowheads="1"/>
          </p:cNvSpPr>
          <p:nvPr>
            <p:ph type="title"/>
          </p:nvPr>
        </p:nvSpPr>
        <p:spPr>
          <a:xfrm>
            <a:off x="450850" y="98425"/>
            <a:ext cx="8229600" cy="1143000"/>
          </a:xfrm>
        </p:spPr>
        <p:txBody>
          <a:bodyPr/>
          <a:lstStyle/>
          <a:p>
            <a:pPr eaLnBrk="1" hangingPunct="1"/>
            <a:r>
              <a:rPr lang="zh-CN" altLang="en-US" sz="4800" b="1" smtClean="0">
                <a:solidFill>
                  <a:schemeClr val="tx1"/>
                </a:solidFill>
                <a:latin typeface="黑体" panose="02010609060101010101" pitchFamily="49" charset="-122"/>
                <a:ea typeface="黑体" panose="02010609060101010101" pitchFamily="49" charset="-122"/>
              </a:rPr>
              <a:t>六、换热器</a:t>
            </a:r>
            <a:endParaRPr lang="zh-CN" altLang="en-US" sz="4800" b="1" smtClean="0">
              <a:solidFill>
                <a:schemeClr val="tx1"/>
              </a:solidFill>
              <a:latin typeface="黑体" panose="02010609060101010101" pitchFamily="49" charset="-122"/>
              <a:ea typeface="黑体" panose="02010609060101010101" pitchFamily="49" charset="-122"/>
            </a:endParaRPr>
          </a:p>
        </p:txBody>
      </p:sp>
      <p:sp>
        <p:nvSpPr>
          <p:cNvPr id="63491" name="矩形 9"/>
          <p:cNvSpPr>
            <a:spLocks noChangeArrowheads="1"/>
          </p:cNvSpPr>
          <p:nvPr/>
        </p:nvSpPr>
        <p:spPr bwMode="auto">
          <a:xfrm>
            <a:off x="450850" y="1241425"/>
            <a:ext cx="83962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zh-CN" sz="3000" b="1" dirty="0">
                <a:latin typeface="楷体_GB2312" pitchFamily="49" charset="-122"/>
                <a:ea typeface="黑体" panose="02010609060101010101" pitchFamily="49" charset="-122"/>
              </a:rPr>
              <a:t>电厂中锅炉、冷凝器等换热设备均属于换热器</a:t>
            </a:r>
            <a:endParaRPr lang="en-US" altLang="zh-CN" sz="3000" b="1" dirty="0">
              <a:latin typeface="楷体_GB2312" pitchFamily="49" charset="-122"/>
              <a:ea typeface="黑体" panose="02010609060101010101" pitchFamily="49" charset="-122"/>
            </a:endParaRPr>
          </a:p>
          <a:p>
            <a:pPr>
              <a:spcBef>
                <a:spcPct val="0"/>
              </a:spcBef>
            </a:pPr>
            <a:r>
              <a:rPr lang="zh-CN" altLang="zh-CN" sz="3000" b="1" dirty="0">
                <a:latin typeface="楷体_GB2312" pitchFamily="49" charset="-122"/>
                <a:ea typeface="黑体" panose="02010609060101010101" pitchFamily="49" charset="-122"/>
              </a:rPr>
              <a:t>冷、热流体在不混合的情况下进行热量的交换</a:t>
            </a:r>
            <a:endParaRPr lang="en-US" altLang="zh-CN" sz="3000" b="1" dirty="0">
              <a:latin typeface="楷体_GB2312" pitchFamily="49" charset="-122"/>
              <a:ea typeface="黑体" panose="02010609060101010101" pitchFamily="49" charset="-122"/>
            </a:endParaRPr>
          </a:p>
          <a:p>
            <a:pPr>
              <a:spcBef>
                <a:spcPct val="0"/>
              </a:spcBef>
            </a:pPr>
            <a:r>
              <a:rPr lang="zh-CN" altLang="zh-CN" sz="3000" b="1" dirty="0">
                <a:latin typeface="楷体_GB2312" pitchFamily="49" charset="-122"/>
                <a:ea typeface="黑体" panose="02010609060101010101" pitchFamily="49" charset="-122"/>
              </a:rPr>
              <a:t>换热器中的冷、热流体各构成一个开口系</a:t>
            </a:r>
            <a:endParaRPr lang="en-US" altLang="zh-CN" sz="3000" b="1" dirty="0">
              <a:latin typeface="楷体_GB2312" pitchFamily="49" charset="-122"/>
              <a:ea typeface="黑体" panose="02010609060101010101" pitchFamily="49" charset="-122"/>
            </a:endParaRPr>
          </a:p>
        </p:txBody>
      </p:sp>
      <p:pic>
        <p:nvPicPr>
          <p:cNvPr id="63492" name="图片 1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62038" y="2889250"/>
            <a:ext cx="690245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3700" y="263525"/>
            <a:ext cx="4095750"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文本框 236547"/>
          <p:cNvSpPr txBox="1">
            <a:spLocks noChangeArrowheads="1"/>
          </p:cNvSpPr>
          <p:nvPr/>
        </p:nvSpPr>
        <p:spPr bwMode="auto">
          <a:xfrm>
            <a:off x="381000" y="209550"/>
            <a:ext cx="83772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endParaRPr lang="zh-CN" altLang="zh-CN" sz="4000">
              <a:latin typeface="黑体" panose="02010609060101010101" pitchFamily="49" charset="-122"/>
              <a:ea typeface="黑体" panose="02010609060101010101" pitchFamily="49" charset="-122"/>
            </a:endParaRPr>
          </a:p>
        </p:txBody>
      </p:sp>
      <p:sp>
        <p:nvSpPr>
          <p:cNvPr id="64516" name="文本框 236552"/>
          <p:cNvSpPr txBox="1">
            <a:spLocks noChangeArrowheads="1"/>
          </p:cNvSpPr>
          <p:nvPr/>
        </p:nvSpPr>
        <p:spPr bwMode="auto">
          <a:xfrm>
            <a:off x="4775200" y="1201738"/>
            <a:ext cx="40497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ea typeface="黑体" panose="02010609060101010101" pitchFamily="49" charset="-122"/>
              </a:rPr>
              <a:t>以热流体</a:t>
            </a:r>
            <a:r>
              <a:rPr lang="zh-CN" altLang="en-US" sz="3600" b="1" dirty="0">
                <a:solidFill>
                  <a:srgbClr val="FF0000"/>
                </a:solidFill>
                <a:ea typeface="黑体" panose="02010609060101010101" pitchFamily="49" charset="-122"/>
              </a:rPr>
              <a:t>和</a:t>
            </a:r>
            <a:r>
              <a:rPr lang="zh-CN" altLang="en-US" sz="3600" b="1" dirty="0">
                <a:ea typeface="黑体" panose="02010609060101010101" pitchFamily="49" charset="-122"/>
              </a:rPr>
              <a:t>冷流体</a:t>
            </a:r>
            <a:r>
              <a:rPr lang="zh-CN" altLang="en-US" sz="3600" b="1" dirty="0">
                <a:solidFill>
                  <a:srgbClr val="FF0000"/>
                </a:solidFill>
                <a:ea typeface="黑体" panose="02010609060101010101" pitchFamily="49" charset="-122"/>
              </a:rPr>
              <a:t>整体</a:t>
            </a:r>
            <a:r>
              <a:rPr lang="zh-CN" altLang="en-US" sz="3600" b="1" dirty="0">
                <a:ea typeface="黑体" panose="02010609060101010101" pitchFamily="49" charset="-122"/>
              </a:rPr>
              <a:t>为研究对象</a:t>
            </a:r>
            <a:endParaRPr lang="zh-CN" altLang="en-US" sz="3600" b="1" dirty="0">
              <a:ea typeface="黑体" panose="02010609060101010101" pitchFamily="49" charset="-122"/>
            </a:endParaRPr>
          </a:p>
        </p:txBody>
      </p:sp>
      <p:graphicFrame>
        <p:nvGraphicFramePr>
          <p:cNvPr id="64517" name="对象 236553"/>
          <p:cNvGraphicFramePr/>
          <p:nvPr/>
        </p:nvGraphicFramePr>
        <p:xfrm>
          <a:off x="3357563" y="3454400"/>
          <a:ext cx="5535612" cy="1028700"/>
        </p:xfrm>
        <a:graphic>
          <a:graphicData uri="http://schemas.openxmlformats.org/presentationml/2006/ole">
            <mc:AlternateContent xmlns:mc="http://schemas.openxmlformats.org/markup-compatibility/2006">
              <mc:Choice xmlns:v="urn:schemas-microsoft-com:vml" Requires="v">
                <p:oleObj spid="_x0000_s40983" name="" r:id="rId2" imgW="1358900" imgH="207645" progId="Equation.DSMT4">
                  <p:embed/>
                </p:oleObj>
              </mc:Choice>
              <mc:Fallback>
                <p:oleObj name="" r:id="rId2" imgW="1358900" imgH="207645" progId="Equation.DSMT4">
                  <p:embed/>
                  <p:pic>
                    <p:nvPicPr>
                      <p:cNvPr id="0" name="对象 23655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563" y="3454400"/>
                        <a:ext cx="5535612"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8" name="对象 236554"/>
          <p:cNvGraphicFramePr>
            <a:graphicFrameLocks noChangeAspect="1"/>
          </p:cNvGraphicFramePr>
          <p:nvPr/>
        </p:nvGraphicFramePr>
        <p:xfrm>
          <a:off x="927100" y="4568825"/>
          <a:ext cx="6057900" cy="1371600"/>
        </p:xfrm>
        <a:graphic>
          <a:graphicData uri="http://schemas.openxmlformats.org/presentationml/2006/ole">
            <mc:AlternateContent xmlns:mc="http://schemas.openxmlformats.org/markup-compatibility/2006">
              <mc:Choice xmlns:v="urn:schemas-microsoft-com:vml" Requires="v">
                <p:oleObj spid="_x0000_s40984" name="Equation" r:id="rId4" imgW="1329055" imgH="287655" progId="Equation.DSMT4">
                  <p:embed/>
                </p:oleObj>
              </mc:Choice>
              <mc:Fallback>
                <p:oleObj name="Equation" r:id="rId4" imgW="1329055" imgH="287655" progId="Equation.DSMT4">
                  <p:embed/>
                  <p:pic>
                    <p:nvPicPr>
                      <p:cNvPr id="0" name="对象 2365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100" y="4568825"/>
                        <a:ext cx="60579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9" name="对象 236555"/>
          <p:cNvGraphicFramePr>
            <a:graphicFrameLocks noChangeAspect="1"/>
          </p:cNvGraphicFramePr>
          <p:nvPr/>
        </p:nvGraphicFramePr>
        <p:xfrm>
          <a:off x="4200525" y="5319713"/>
          <a:ext cx="3543300" cy="685800"/>
        </p:xfrm>
        <a:graphic>
          <a:graphicData uri="http://schemas.openxmlformats.org/presentationml/2006/ole">
            <mc:AlternateContent xmlns:mc="http://schemas.openxmlformats.org/markup-compatibility/2006">
              <mc:Choice xmlns:v="urn:schemas-microsoft-com:vml" Requires="v">
                <p:oleObj spid="_x0000_s40985" name="Equation" r:id="rId6" imgW="1181100" imgH="228600" progId="Equation.DSMT4">
                  <p:embed/>
                </p:oleObj>
              </mc:Choice>
              <mc:Fallback>
                <p:oleObj name="Equation" r:id="rId6" imgW="1181100" imgH="228600" progId="Equation.DSMT4">
                  <p:embed/>
                  <p:pic>
                    <p:nvPicPr>
                      <p:cNvPr id="0" name="对象 2365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0525" y="5319713"/>
                        <a:ext cx="35433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20" name="对象 236557"/>
          <p:cNvGraphicFramePr/>
          <p:nvPr/>
        </p:nvGraphicFramePr>
        <p:xfrm>
          <a:off x="3852863" y="1573213"/>
          <a:ext cx="347662" cy="390525"/>
        </p:xfrm>
        <a:graphic>
          <a:graphicData uri="http://schemas.openxmlformats.org/presentationml/2006/ole">
            <mc:AlternateContent xmlns:mc="http://schemas.openxmlformats.org/markup-compatibility/2006">
              <mc:Choice xmlns:v="urn:schemas-microsoft-com:vml" Requires="v">
                <p:oleObj spid="_x0000_s40986" name="" r:id="rId8" imgW="203200" imgH="228600" progId="Equation.DSMT4">
                  <p:embed/>
                </p:oleObj>
              </mc:Choice>
              <mc:Fallback>
                <p:oleObj name="" r:id="rId8" imgW="203200" imgH="228600" progId="Equation.DSMT4">
                  <p:embed/>
                  <p:pic>
                    <p:nvPicPr>
                      <p:cNvPr id="0" name="对象 23655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2863" y="1573213"/>
                        <a:ext cx="347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21" name="对象 236558"/>
          <p:cNvGraphicFramePr/>
          <p:nvPr/>
        </p:nvGraphicFramePr>
        <p:xfrm>
          <a:off x="207963" y="1897063"/>
          <a:ext cx="371475" cy="390525"/>
        </p:xfrm>
        <a:graphic>
          <a:graphicData uri="http://schemas.openxmlformats.org/presentationml/2006/ole">
            <mc:AlternateContent xmlns:mc="http://schemas.openxmlformats.org/markup-compatibility/2006">
              <mc:Choice xmlns:v="urn:schemas-microsoft-com:vml" Requires="v">
                <p:oleObj spid="_x0000_s40987" name="" r:id="rId10" imgW="215900" imgH="228600" progId="Equation.DSMT4">
                  <p:embed/>
                </p:oleObj>
              </mc:Choice>
              <mc:Fallback>
                <p:oleObj name="" r:id="rId10" imgW="215900" imgH="228600" progId="Equation.DSMT4">
                  <p:embed/>
                  <p:pic>
                    <p:nvPicPr>
                      <p:cNvPr id="0" name="对象 23655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7963" y="1897063"/>
                        <a:ext cx="371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22" name="对象 236560"/>
          <p:cNvGraphicFramePr/>
          <p:nvPr/>
        </p:nvGraphicFramePr>
        <p:xfrm>
          <a:off x="2681288" y="3429000"/>
          <a:ext cx="371475" cy="390525"/>
        </p:xfrm>
        <a:graphic>
          <a:graphicData uri="http://schemas.openxmlformats.org/presentationml/2006/ole">
            <mc:AlternateContent xmlns:mc="http://schemas.openxmlformats.org/markup-compatibility/2006">
              <mc:Choice xmlns:v="urn:schemas-microsoft-com:vml" Requires="v">
                <p:oleObj spid="_x0000_s40988" name="" r:id="rId12" imgW="215900" imgH="228600" progId="Equation.DSMT4">
                  <p:embed/>
                </p:oleObj>
              </mc:Choice>
              <mc:Fallback>
                <p:oleObj name="" r:id="rId12" imgW="215900" imgH="228600" progId="Equation.DSMT4">
                  <p:embed/>
                  <p:pic>
                    <p:nvPicPr>
                      <p:cNvPr id="0" name="对象 23656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1288" y="3429000"/>
                        <a:ext cx="371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23" name="对象 236562"/>
          <p:cNvGraphicFramePr/>
          <p:nvPr/>
        </p:nvGraphicFramePr>
        <p:xfrm>
          <a:off x="1046163" y="520700"/>
          <a:ext cx="371475" cy="390525"/>
        </p:xfrm>
        <a:graphic>
          <a:graphicData uri="http://schemas.openxmlformats.org/presentationml/2006/ole">
            <mc:AlternateContent xmlns:mc="http://schemas.openxmlformats.org/markup-compatibility/2006">
              <mc:Choice xmlns:v="urn:schemas-microsoft-com:vml" Requires="v">
                <p:oleObj spid="_x0000_s40989" name="" r:id="rId14" imgW="215900" imgH="228600" progId="Equation.DSMT4">
                  <p:embed/>
                </p:oleObj>
              </mc:Choice>
              <mc:Fallback>
                <p:oleObj name="" r:id="rId14" imgW="215900" imgH="228600" progId="Equation.DSMT4">
                  <p:embed/>
                  <p:pic>
                    <p:nvPicPr>
                      <p:cNvPr id="0" name="对象 23656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46163" y="520700"/>
                        <a:ext cx="371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右箭头 3"/>
          <p:cNvSpPr/>
          <p:nvPr/>
        </p:nvSpPr>
        <p:spPr>
          <a:xfrm>
            <a:off x="3171825" y="5551488"/>
            <a:ext cx="849313" cy="2238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1925" y="-6350"/>
            <a:ext cx="421005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文本框 279557"/>
          <p:cNvSpPr txBox="1">
            <a:spLocks noChangeArrowheads="1"/>
          </p:cNvSpPr>
          <p:nvPr/>
        </p:nvSpPr>
        <p:spPr bwMode="auto">
          <a:xfrm>
            <a:off x="4813954" y="652463"/>
            <a:ext cx="40767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b="1" dirty="0">
                <a:ea typeface="黑体" panose="02010609060101010101" pitchFamily="49" charset="-122"/>
              </a:rPr>
              <a:t>以冷流体或热流体为研究对象</a:t>
            </a:r>
            <a:endParaRPr lang="zh-CN" altLang="en-US" sz="4000" b="1" dirty="0">
              <a:ea typeface="黑体" panose="02010609060101010101" pitchFamily="49" charset="-122"/>
            </a:endParaRPr>
          </a:p>
        </p:txBody>
      </p:sp>
      <p:graphicFrame>
        <p:nvGraphicFramePr>
          <p:cNvPr id="65540" name="对象 279558"/>
          <p:cNvGraphicFramePr>
            <a:graphicFrameLocks noChangeAspect="1"/>
          </p:cNvGraphicFramePr>
          <p:nvPr/>
        </p:nvGraphicFramePr>
        <p:xfrm>
          <a:off x="1441450" y="3924300"/>
          <a:ext cx="6362700" cy="2628900"/>
        </p:xfrm>
        <a:graphic>
          <a:graphicData uri="http://schemas.openxmlformats.org/presentationml/2006/ole">
            <mc:AlternateContent xmlns:mc="http://schemas.openxmlformats.org/markup-compatibility/2006">
              <mc:Choice xmlns:v="urn:schemas-microsoft-com:vml" Requires="v">
                <p:oleObj spid="_x0000_s41995" name="Equation" r:id="rId2" imgW="1397000" imgH="567055" progId="Equation.DSMT4">
                  <p:embed/>
                </p:oleObj>
              </mc:Choice>
              <mc:Fallback>
                <p:oleObj name="Equation" r:id="rId2" imgW="1397000" imgH="567055" progId="Equation.DSMT4">
                  <p:embed/>
                  <p:pic>
                    <p:nvPicPr>
                      <p:cNvPr id="0" name="对象 2795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450" y="3924300"/>
                        <a:ext cx="636270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41" name="对象 236557"/>
          <p:cNvGraphicFramePr/>
          <p:nvPr/>
        </p:nvGraphicFramePr>
        <p:xfrm>
          <a:off x="3852863" y="1573213"/>
          <a:ext cx="347662" cy="390525"/>
        </p:xfrm>
        <a:graphic>
          <a:graphicData uri="http://schemas.openxmlformats.org/presentationml/2006/ole">
            <mc:AlternateContent xmlns:mc="http://schemas.openxmlformats.org/markup-compatibility/2006">
              <mc:Choice xmlns:v="urn:schemas-microsoft-com:vml" Requires="v">
                <p:oleObj spid="_x0000_s41996" name="" r:id="rId4" imgW="203200" imgH="228600" progId="Equation.DSMT4">
                  <p:embed/>
                </p:oleObj>
              </mc:Choice>
              <mc:Fallback>
                <p:oleObj name="" r:id="rId4" imgW="203200" imgH="228600" progId="Equation.DSMT4">
                  <p:embed/>
                  <p:pic>
                    <p:nvPicPr>
                      <p:cNvPr id="0" name="对象 23655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2863" y="1573213"/>
                        <a:ext cx="347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42" name="对象 236558"/>
          <p:cNvGraphicFramePr/>
          <p:nvPr/>
        </p:nvGraphicFramePr>
        <p:xfrm>
          <a:off x="174625" y="1552575"/>
          <a:ext cx="371475" cy="390525"/>
        </p:xfrm>
        <a:graphic>
          <a:graphicData uri="http://schemas.openxmlformats.org/presentationml/2006/ole">
            <mc:AlternateContent xmlns:mc="http://schemas.openxmlformats.org/markup-compatibility/2006">
              <mc:Choice xmlns:v="urn:schemas-microsoft-com:vml" Requires="v">
                <p:oleObj spid="_x0000_s41997" name="" r:id="rId6" imgW="215900" imgH="228600" progId="Equation.DSMT4">
                  <p:embed/>
                </p:oleObj>
              </mc:Choice>
              <mc:Fallback>
                <p:oleObj name="" r:id="rId6" imgW="215900" imgH="228600" progId="Equation.DSMT4">
                  <p:embed/>
                  <p:pic>
                    <p:nvPicPr>
                      <p:cNvPr id="0" name="对象 23655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625" y="1552575"/>
                        <a:ext cx="371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238593"/>
          <p:cNvSpPr>
            <a:spLocks noChangeArrowheads="1"/>
          </p:cNvSpPr>
          <p:nvPr/>
        </p:nvSpPr>
        <p:spPr bwMode="auto">
          <a:xfrm>
            <a:off x="0" y="1925638"/>
            <a:ext cx="89392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4400" b="1" dirty="0">
                <a:latin typeface="黑体" panose="02010609060101010101" pitchFamily="49" charset="-122"/>
                <a:ea typeface="黑体" panose="02010609060101010101" pitchFamily="49" charset="-122"/>
              </a:rPr>
              <a:t>3</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6 </a:t>
            </a:r>
            <a:r>
              <a:rPr lang="zh-CN" altLang="en-US" sz="4400" b="1" dirty="0">
                <a:latin typeface="黑体" panose="02010609060101010101" pitchFamily="49" charset="-122"/>
                <a:ea typeface="黑体" panose="02010609060101010101" pitchFamily="49" charset="-122"/>
              </a:rPr>
              <a:t>非稳定流动的能量守恒方程</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237571"/>
          <p:cNvSpPr>
            <a:spLocks noChangeArrowheads="1"/>
          </p:cNvSpPr>
          <p:nvPr/>
        </p:nvSpPr>
        <p:spPr bwMode="auto">
          <a:xfrm>
            <a:off x="476250" y="536575"/>
            <a:ext cx="80549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3000" b="1" dirty="0">
                <a:latin typeface="黑体" panose="02010609060101010101" pitchFamily="49" charset="-122"/>
                <a:ea typeface="黑体" panose="02010609060101010101" pitchFamily="49" charset="-122"/>
              </a:rPr>
              <a:t>一些流动过程，如汽轮机</a:t>
            </a:r>
            <a:r>
              <a:rPr lang="zh-CN" altLang="en-US" sz="3000" b="1" dirty="0">
                <a:solidFill>
                  <a:srgbClr val="FF0000"/>
                </a:solidFill>
                <a:latin typeface="黑体" panose="02010609060101010101" pitchFamily="49" charset="-122"/>
                <a:ea typeface="黑体" panose="02010609060101010101" pitchFamily="49" charset="-122"/>
              </a:rPr>
              <a:t>负荷变化</a:t>
            </a:r>
            <a:r>
              <a:rPr lang="zh-CN" altLang="en-US" sz="3000" b="1" dirty="0">
                <a:latin typeface="黑体" panose="02010609060101010101" pitchFamily="49" charset="-122"/>
                <a:ea typeface="黑体" panose="02010609060101010101" pitchFamily="49" charset="-122"/>
              </a:rPr>
              <a:t>时流体的流动过程</a:t>
            </a:r>
            <a:r>
              <a:rPr lang="zh-CN" altLang="en-US" sz="3000" b="1" dirty="0" smtClean="0">
                <a:latin typeface="黑体" panose="02010609060101010101" pitchFamily="49" charset="-122"/>
                <a:ea typeface="黑体" panose="02010609060101010101" pitchFamily="49" charset="-122"/>
              </a:rPr>
              <a:t>，或容器</a:t>
            </a:r>
            <a:r>
              <a:rPr lang="zh-CN" altLang="en-US" sz="3000" b="1" dirty="0">
                <a:latin typeface="黑体" panose="02010609060101010101" pitchFamily="49" charset="-122"/>
                <a:ea typeface="黑体" panose="02010609060101010101" pitchFamily="49" charset="-122"/>
              </a:rPr>
              <a:t>的</a:t>
            </a:r>
            <a:r>
              <a:rPr lang="zh-CN" altLang="en-US" sz="3000" b="1" dirty="0">
                <a:solidFill>
                  <a:srgbClr val="FF0000"/>
                </a:solidFill>
                <a:latin typeface="黑体" panose="02010609060101010101" pitchFamily="49" charset="-122"/>
                <a:ea typeface="黑体" panose="02010609060101010101" pitchFamily="49" charset="-122"/>
              </a:rPr>
              <a:t>充气</a:t>
            </a:r>
            <a:r>
              <a:rPr lang="zh-CN" altLang="en-US" sz="3000" b="1" dirty="0">
                <a:latin typeface="黑体" panose="02010609060101010101" pitchFamily="49" charset="-122"/>
                <a:ea typeface="黑体" panose="02010609060101010101" pitchFamily="49" charset="-122"/>
              </a:rPr>
              <a:t>、</a:t>
            </a:r>
            <a:r>
              <a:rPr lang="zh-CN" altLang="en-US" sz="3000" b="1" dirty="0">
                <a:solidFill>
                  <a:srgbClr val="FF0000"/>
                </a:solidFill>
                <a:latin typeface="黑体" panose="02010609060101010101" pitchFamily="49" charset="-122"/>
                <a:ea typeface="黑体" panose="02010609060101010101" pitchFamily="49" charset="-122"/>
              </a:rPr>
              <a:t>放气</a:t>
            </a:r>
            <a:r>
              <a:rPr lang="zh-CN" altLang="en-US" sz="3000" b="1" dirty="0">
                <a:latin typeface="黑体" panose="02010609060101010101" pitchFamily="49" charset="-122"/>
                <a:ea typeface="黑体" panose="02010609060101010101" pitchFamily="49" charset="-122"/>
              </a:rPr>
              <a:t>过程等，是</a:t>
            </a:r>
            <a:r>
              <a:rPr lang="zh-CN" altLang="en-US" sz="3000" b="1" dirty="0">
                <a:solidFill>
                  <a:srgbClr val="FF0000"/>
                </a:solidFill>
                <a:latin typeface="黑体" panose="02010609060101010101" pitchFamily="49" charset="-122"/>
                <a:ea typeface="黑体" panose="02010609060101010101" pitchFamily="49" charset="-122"/>
              </a:rPr>
              <a:t>非稳定流动过程</a:t>
            </a:r>
            <a:r>
              <a:rPr lang="zh-CN" altLang="en-US" sz="3000" b="1" dirty="0" smtClean="0">
                <a:latin typeface="黑体" panose="02010609060101010101" pitchFamily="49" charset="-122"/>
                <a:ea typeface="黑体" panose="02010609060101010101" pitchFamily="49" charset="-122"/>
              </a:rPr>
              <a:t>。</a:t>
            </a:r>
            <a:endParaRPr lang="en-US" altLang="zh-CN" sz="3000" b="1" dirty="0" smtClean="0">
              <a:latin typeface="黑体" panose="02010609060101010101" pitchFamily="49" charset="-122"/>
              <a:ea typeface="黑体" panose="02010609060101010101" pitchFamily="49" charset="-122"/>
            </a:endParaRPr>
          </a:p>
          <a:p>
            <a:pPr eaLnBrk="1" hangingPunct="1">
              <a:spcBef>
                <a:spcPct val="0"/>
              </a:spcBef>
              <a:buFontTx/>
              <a:buNone/>
              <a:defRPr/>
            </a:pPr>
            <a:endParaRPr lang="zh-CN" altLang="en-US" sz="3000" dirty="0">
              <a:latin typeface="黑体" panose="02010609060101010101" pitchFamily="49" charset="-122"/>
              <a:ea typeface="黑体" panose="02010609060101010101" pitchFamily="49" charset="-122"/>
            </a:endParaRPr>
          </a:p>
          <a:p>
            <a:pPr eaLnBrk="1" hangingPunct="1">
              <a:spcBef>
                <a:spcPct val="0"/>
              </a:spcBef>
              <a:buFontTx/>
              <a:buNone/>
              <a:defRPr/>
            </a:pPr>
            <a:r>
              <a:rPr lang="zh-CN" altLang="en-US" sz="3000" b="1" dirty="0">
                <a:latin typeface="黑体" panose="02010609060101010101" pitchFamily="49" charset="-122"/>
                <a:ea typeface="黑体" panose="02010609060101010101" pitchFamily="49" charset="-122"/>
              </a:rPr>
              <a:t>特点</a:t>
            </a:r>
            <a:r>
              <a:rPr lang="zh-CN" altLang="en-US" sz="3000" b="1" dirty="0" smtClean="0">
                <a:latin typeface="黑体" panose="02010609060101010101" pitchFamily="49" charset="-122"/>
                <a:ea typeface="黑体" panose="02010609060101010101" pitchFamily="49" charset="-122"/>
              </a:rPr>
              <a:t>：</a:t>
            </a:r>
            <a:endParaRPr lang="en-US" altLang="zh-CN" sz="3000" b="1" dirty="0" smtClean="0">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latin typeface="黑体" panose="02010609060101010101" pitchFamily="49" charset="-122"/>
                <a:ea typeface="黑体" panose="02010609060101010101" pitchFamily="49" charset="-122"/>
              </a:rPr>
              <a:t>流体</a:t>
            </a:r>
            <a:r>
              <a:rPr lang="zh-CN" altLang="en-US" sz="3000" b="1" dirty="0">
                <a:latin typeface="黑体" panose="02010609060101010101" pitchFamily="49" charset="-122"/>
                <a:ea typeface="黑体" panose="02010609060101010101" pitchFamily="49" charset="-122"/>
              </a:rPr>
              <a:t>在流动过程中的</a:t>
            </a:r>
            <a:r>
              <a:rPr lang="zh-CN" altLang="en-US" sz="3000" b="1" dirty="0">
                <a:solidFill>
                  <a:srgbClr val="0000CC"/>
                </a:solidFill>
                <a:latin typeface="黑体" panose="02010609060101010101" pitchFamily="49" charset="-122"/>
                <a:ea typeface="黑体" panose="02010609060101010101" pitchFamily="49" charset="-122"/>
              </a:rPr>
              <a:t>状态将随时间</a:t>
            </a:r>
            <a:r>
              <a:rPr lang="zh-CN" altLang="en-US" sz="3000" b="1" dirty="0" smtClean="0">
                <a:solidFill>
                  <a:srgbClr val="0000CC"/>
                </a:solidFill>
                <a:latin typeface="黑体" panose="02010609060101010101" pitchFamily="49" charset="-122"/>
                <a:ea typeface="黑体" panose="02010609060101010101" pitchFamily="49" charset="-122"/>
              </a:rPr>
              <a:t>变化</a:t>
            </a:r>
            <a:endParaRPr lang="en-US" altLang="zh-CN" sz="3000" b="1" dirty="0" smtClean="0">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latin typeface="黑体" panose="02010609060101010101" pitchFamily="49" charset="-122"/>
                <a:ea typeface="黑体" panose="02010609060101010101" pitchFamily="49" charset="-122"/>
              </a:rPr>
              <a:t>与</a:t>
            </a:r>
            <a:r>
              <a:rPr lang="zh-CN" altLang="en-US" sz="3000" b="1" dirty="0">
                <a:latin typeface="黑体" panose="02010609060101010101" pitchFamily="49" charset="-122"/>
                <a:ea typeface="黑体" panose="02010609060101010101" pitchFamily="49" charset="-122"/>
              </a:rPr>
              <a:t>外界交换的</a:t>
            </a:r>
            <a:r>
              <a:rPr lang="zh-CN" altLang="en-US" sz="3000" b="1" dirty="0">
                <a:solidFill>
                  <a:srgbClr val="0000CC"/>
                </a:solidFill>
                <a:latin typeface="黑体" panose="02010609060101010101" pitchFamily="49" charset="-122"/>
                <a:ea typeface="黑体" panose="02010609060101010101" pitchFamily="49" charset="-122"/>
              </a:rPr>
              <a:t>热量和功量也随时间变化</a:t>
            </a:r>
            <a:r>
              <a:rPr lang="zh-CN" altLang="en-US" sz="3000" b="1" dirty="0">
                <a:latin typeface="黑体" panose="02010609060101010101" pitchFamily="49" charset="-122"/>
                <a:ea typeface="黑体" panose="02010609060101010101" pitchFamily="49" charset="-122"/>
              </a:rPr>
              <a:t> </a:t>
            </a:r>
            <a:endParaRPr lang="zh-CN" altLang="en-US" sz="3000" b="1" dirty="0">
              <a:latin typeface="黑体" panose="02010609060101010101" pitchFamily="49" charset="-122"/>
              <a:ea typeface="黑体" panose="02010609060101010101" pitchFamily="49" charset="-122"/>
            </a:endParaRPr>
          </a:p>
        </p:txBody>
      </p:sp>
      <p:sp>
        <p:nvSpPr>
          <p:cNvPr id="67587" name="矩形 237578"/>
          <p:cNvSpPr>
            <a:spLocks noChangeArrowheads="1"/>
          </p:cNvSpPr>
          <p:nvPr/>
        </p:nvSpPr>
        <p:spPr bwMode="auto">
          <a:xfrm>
            <a:off x="0" y="398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237575"/>
          <p:cNvSpPr>
            <a:spLocks noChangeArrowheads="1"/>
          </p:cNvSpPr>
          <p:nvPr/>
        </p:nvSpPr>
        <p:spPr bwMode="auto">
          <a:xfrm>
            <a:off x="1646238" y="5387975"/>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CC"/>
                </a:solidFill>
                <a:latin typeface="黑体" panose="02010609060101010101" pitchFamily="49" charset="-122"/>
                <a:ea typeface="黑体" panose="02010609060101010101" pitchFamily="49" charset="-122"/>
              </a:rPr>
              <a:t>稳定流动</a:t>
            </a:r>
            <a:endParaRPr lang="zh-CN" altLang="en-US" sz="2800" b="1" dirty="0">
              <a:solidFill>
                <a:srgbClr val="0000CC"/>
              </a:solidFill>
              <a:latin typeface="黑体" panose="02010609060101010101" pitchFamily="49" charset="-122"/>
              <a:ea typeface="黑体" panose="02010609060101010101" pitchFamily="49" charset="-122"/>
            </a:endParaRPr>
          </a:p>
        </p:txBody>
      </p:sp>
      <p:sp>
        <p:nvSpPr>
          <p:cNvPr id="68611" name="矩形 237578"/>
          <p:cNvSpPr>
            <a:spLocks noChangeArrowheads="1"/>
          </p:cNvSpPr>
          <p:nvPr/>
        </p:nvSpPr>
        <p:spPr bwMode="auto">
          <a:xfrm>
            <a:off x="0" y="398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8612" name="矩形 237580"/>
          <p:cNvSpPr>
            <a:spLocks noChangeArrowheads="1"/>
          </p:cNvSpPr>
          <p:nvPr/>
        </p:nvSpPr>
        <p:spPr bwMode="auto">
          <a:xfrm>
            <a:off x="5789613" y="5387975"/>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CC"/>
                </a:solidFill>
                <a:latin typeface="黑体" panose="02010609060101010101" pitchFamily="49" charset="-122"/>
                <a:ea typeface="黑体" panose="02010609060101010101" pitchFamily="49" charset="-122"/>
              </a:rPr>
              <a:t>非稳定流动</a:t>
            </a:r>
            <a:endParaRPr lang="zh-CN" altLang="en-US" sz="2800" b="1" dirty="0">
              <a:solidFill>
                <a:srgbClr val="0000CC"/>
              </a:solidFill>
              <a:latin typeface="黑体" panose="02010609060101010101" pitchFamily="49" charset="-122"/>
              <a:ea typeface="黑体" panose="02010609060101010101" pitchFamily="49" charset="-122"/>
            </a:endParaRPr>
          </a:p>
        </p:txBody>
      </p:sp>
      <p:sp>
        <p:nvSpPr>
          <p:cNvPr id="10" name="矩形 237571"/>
          <p:cNvSpPr>
            <a:spLocks noChangeArrowheads="1"/>
          </p:cNvSpPr>
          <p:nvPr/>
        </p:nvSpPr>
        <p:spPr bwMode="auto">
          <a:xfrm>
            <a:off x="544513" y="280988"/>
            <a:ext cx="805497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3000" b="1" dirty="0" smtClean="0">
                <a:latin typeface="黑体" panose="02010609060101010101" pitchFamily="49" charset="-122"/>
                <a:ea typeface="黑体" panose="02010609060101010101" pitchFamily="49" charset="-122"/>
              </a:rPr>
              <a:t>与稳定流动过程一样，非稳定流动过程中开口系与外界交换能量的方式有三种：</a:t>
            </a:r>
            <a:endParaRPr lang="en-US" altLang="zh-CN" sz="3000" b="1" dirty="0" smtClean="0">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latin typeface="黑体" panose="02010609060101010101" pitchFamily="49" charset="-122"/>
                <a:ea typeface="黑体" panose="02010609060101010101" pitchFamily="49" charset="-122"/>
              </a:rPr>
              <a:t>热量交换</a:t>
            </a:r>
            <a:endParaRPr lang="en-US" altLang="zh-CN" sz="3000" b="1" dirty="0" smtClean="0">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a:latin typeface="黑体" panose="02010609060101010101" pitchFamily="49" charset="-122"/>
                <a:ea typeface="黑体" panose="02010609060101010101" pitchFamily="49" charset="-122"/>
              </a:rPr>
              <a:t>功</a:t>
            </a:r>
            <a:r>
              <a:rPr lang="zh-CN" altLang="en-US" sz="3000" b="1" dirty="0" smtClean="0">
                <a:latin typeface="黑体" panose="02010609060101010101" pitchFamily="49" charset="-122"/>
                <a:ea typeface="黑体" panose="02010609060101010101" pitchFamily="49" charset="-122"/>
              </a:rPr>
              <a:t>量交换</a:t>
            </a:r>
            <a:endParaRPr lang="en-US" altLang="zh-CN" sz="3000" b="1" dirty="0" smtClean="0">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latin typeface="黑体" panose="02010609060101010101" pitchFamily="49" charset="-122"/>
                <a:ea typeface="黑体" panose="02010609060101010101" pitchFamily="49" charset="-122"/>
              </a:rPr>
              <a:t>伴随质量进、出的能量迁移</a:t>
            </a:r>
            <a:endParaRPr lang="zh-CN" altLang="en-US" sz="3000" b="1" dirty="0">
              <a:latin typeface="黑体" panose="02010609060101010101" pitchFamily="49" charset="-122"/>
              <a:ea typeface="黑体" panose="02010609060101010101" pitchFamily="49" charset="-122"/>
            </a:endParaRPr>
          </a:p>
        </p:txBody>
      </p:sp>
      <p:graphicFrame>
        <p:nvGraphicFramePr>
          <p:cNvPr id="68614" name="对象 12"/>
          <p:cNvGraphicFramePr>
            <a:graphicFrameLocks noChangeAspect="1"/>
          </p:cNvGraphicFramePr>
          <p:nvPr/>
        </p:nvGraphicFramePr>
        <p:xfrm>
          <a:off x="2020888" y="5911850"/>
          <a:ext cx="1047750" cy="676275"/>
        </p:xfrm>
        <a:graphic>
          <a:graphicData uri="http://schemas.openxmlformats.org/presentationml/2006/ole">
            <mc:AlternateContent xmlns:mc="http://schemas.openxmlformats.org/markup-compatibility/2006">
              <mc:Choice xmlns:v="urn:schemas-microsoft-com:vml" Requires="v">
                <p:oleObj spid="_x0000_s43016" name="Equation" r:id="rId1" imgW="609600" imgH="393700" progId="Equation.DSMT4">
                  <p:embed/>
                </p:oleObj>
              </mc:Choice>
              <mc:Fallback>
                <p:oleObj name="Equation" r:id="rId1" imgW="609600" imgH="393700" progId="Equation.DSMT4">
                  <p:embed/>
                  <p:pic>
                    <p:nvPicPr>
                      <p:cNvPr id="0" name="对象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888" y="5911850"/>
                        <a:ext cx="10477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5" name="对象 21"/>
          <p:cNvGraphicFramePr>
            <a:graphicFrameLocks noChangeAspect="1"/>
          </p:cNvGraphicFramePr>
          <p:nvPr/>
        </p:nvGraphicFramePr>
        <p:xfrm>
          <a:off x="6337300" y="5911850"/>
          <a:ext cx="1046163" cy="676275"/>
        </p:xfrm>
        <a:graphic>
          <a:graphicData uri="http://schemas.openxmlformats.org/presentationml/2006/ole">
            <mc:AlternateContent xmlns:mc="http://schemas.openxmlformats.org/markup-compatibility/2006">
              <mc:Choice xmlns:v="urn:schemas-microsoft-com:vml" Requires="v">
                <p:oleObj spid="_x0000_s43017" name="Equation" r:id="rId3" imgW="609600" imgH="393700" progId="Equation.DSMT4">
                  <p:embed/>
                </p:oleObj>
              </mc:Choice>
              <mc:Fallback>
                <p:oleObj name="Equation" r:id="rId3" imgW="609600" imgH="393700" progId="Equation.DSMT4">
                  <p:embed/>
                  <p:pic>
                    <p:nvPicPr>
                      <p:cNvPr id="0" name="对象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7300" y="5911850"/>
                        <a:ext cx="104616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8616"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6688" y="2984500"/>
            <a:ext cx="4579937"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7" name="图片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257675" y="2970213"/>
            <a:ext cx="4578350" cy="238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对象 1"/>
          <p:cNvGraphicFramePr/>
          <p:nvPr/>
        </p:nvGraphicFramePr>
        <p:xfrm>
          <a:off x="950913" y="1028700"/>
          <a:ext cx="7827962" cy="923925"/>
        </p:xfrm>
        <a:graphic>
          <a:graphicData uri="http://schemas.openxmlformats.org/presentationml/2006/ole">
            <mc:AlternateContent xmlns:mc="http://schemas.openxmlformats.org/markup-compatibility/2006">
              <mc:Choice xmlns:v="urn:schemas-microsoft-com:vml" Requires="v">
                <p:oleObj spid="_x0000_s44046" name="" r:id="rId1" imgW="8576945" imgH="1050290" progId="Equation.DSMT4">
                  <p:embed/>
                </p:oleObj>
              </mc:Choice>
              <mc:Fallback>
                <p:oleObj name="" r:id="rId1" imgW="8576945" imgH="1050290" progId="Equation.DSMT4">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913" y="1028700"/>
                        <a:ext cx="78279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35" name="矩形 240646"/>
          <p:cNvSpPr>
            <a:spLocks noChangeArrowheads="1"/>
          </p:cNvSpPr>
          <p:nvPr/>
        </p:nvSpPr>
        <p:spPr bwMode="auto">
          <a:xfrm>
            <a:off x="2051050" y="231775"/>
            <a:ext cx="48173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黑体" panose="02010609060101010101" pitchFamily="49" charset="-122"/>
                <a:ea typeface="黑体" panose="02010609060101010101" pitchFamily="49" charset="-122"/>
              </a:rPr>
              <a:t>非稳定流动的能量方程</a:t>
            </a:r>
            <a:endParaRPr lang="zh-CN" altLang="en-US" sz="3600" b="1" dirty="0">
              <a:latin typeface="黑体" panose="02010609060101010101" pitchFamily="49" charset="-122"/>
              <a:ea typeface="黑体" panose="02010609060101010101" pitchFamily="49" charset="-122"/>
            </a:endParaRPr>
          </a:p>
        </p:txBody>
      </p:sp>
      <p:graphicFrame>
        <p:nvGraphicFramePr>
          <p:cNvPr id="240650" name="对象 240649"/>
          <p:cNvGraphicFramePr/>
          <p:nvPr/>
        </p:nvGraphicFramePr>
        <p:xfrm>
          <a:off x="595313" y="2424113"/>
          <a:ext cx="2465387" cy="876300"/>
        </p:xfrm>
        <a:graphic>
          <a:graphicData uri="http://schemas.openxmlformats.org/presentationml/2006/ole">
            <mc:AlternateContent xmlns:mc="http://schemas.openxmlformats.org/markup-compatibility/2006">
              <mc:Choice xmlns:v="urn:schemas-microsoft-com:vml" Requires="v">
                <p:oleObj spid="_x0000_s44047" name="" r:id="rId3" imgW="1435100" imgH="508000" progId="Equation.DSMT4">
                  <p:embed/>
                </p:oleObj>
              </mc:Choice>
              <mc:Fallback>
                <p:oleObj name="" r:id="rId3" imgW="1435100" imgH="508000" progId="Equation.DSMT4">
                  <p:embed/>
                  <p:pic>
                    <p:nvPicPr>
                      <p:cNvPr id="0" name="对象 24064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2424113"/>
                        <a:ext cx="2465387"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0652" name="对象 240651"/>
          <p:cNvGraphicFramePr/>
          <p:nvPr/>
        </p:nvGraphicFramePr>
        <p:xfrm>
          <a:off x="595313" y="3784600"/>
          <a:ext cx="2201862" cy="438150"/>
        </p:xfrm>
        <a:graphic>
          <a:graphicData uri="http://schemas.openxmlformats.org/presentationml/2006/ole">
            <mc:AlternateContent xmlns:mc="http://schemas.openxmlformats.org/markup-compatibility/2006">
              <mc:Choice xmlns:v="urn:schemas-microsoft-com:vml" Requires="v">
                <p:oleObj spid="_x0000_s44048" name="" r:id="rId5" imgW="1281430" imgH="254000" progId="Equation.DSMT4">
                  <p:embed/>
                </p:oleObj>
              </mc:Choice>
              <mc:Fallback>
                <p:oleObj name="" r:id="rId5" imgW="1281430" imgH="254000" progId="Equation.DSMT4">
                  <p:embed/>
                  <p:pic>
                    <p:nvPicPr>
                      <p:cNvPr id="0" name="对象 24065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313" y="3784600"/>
                        <a:ext cx="22018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0653" name="对象 240652"/>
          <p:cNvGraphicFramePr/>
          <p:nvPr/>
        </p:nvGraphicFramePr>
        <p:xfrm>
          <a:off x="5440363" y="2424113"/>
          <a:ext cx="1979612" cy="447675"/>
        </p:xfrm>
        <a:graphic>
          <a:graphicData uri="http://schemas.openxmlformats.org/presentationml/2006/ole">
            <mc:AlternateContent xmlns:mc="http://schemas.openxmlformats.org/markup-compatibility/2006">
              <mc:Choice xmlns:v="urn:schemas-microsoft-com:vml" Requires="v">
                <p:oleObj spid="_x0000_s44049" name="" r:id="rId7" imgW="1066165" imgH="241300" progId="Equation.DSMT4">
                  <p:embed/>
                </p:oleObj>
              </mc:Choice>
              <mc:Fallback>
                <p:oleObj name="" r:id="rId7" imgW="1066165" imgH="241300" progId="Equation.DSMT4">
                  <p:embed/>
                  <p:pic>
                    <p:nvPicPr>
                      <p:cNvPr id="0" name="对象 24065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0363" y="2424113"/>
                        <a:ext cx="19796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0655" name="矩形 240654"/>
          <p:cNvSpPr>
            <a:spLocks noChangeArrowheads="1"/>
          </p:cNvSpPr>
          <p:nvPr/>
        </p:nvSpPr>
        <p:spPr bwMode="auto">
          <a:xfrm>
            <a:off x="5259388" y="3573374"/>
            <a:ext cx="34194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ea typeface="楷体_GB2312" pitchFamily="49" charset="-122"/>
              </a:rPr>
              <a:t>控制体内的流体被“限制”在控制体内，为非流动流体</a:t>
            </a:r>
            <a:r>
              <a:rPr lang="zh-CN" altLang="en-US" sz="1800" b="1" dirty="0"/>
              <a:t> </a:t>
            </a:r>
            <a:endParaRPr lang="zh-CN" altLang="en-US" sz="1800" b="1" dirty="0"/>
          </a:p>
        </p:txBody>
      </p:sp>
      <p:sp>
        <p:nvSpPr>
          <p:cNvPr id="240656" name="矩形 240655"/>
          <p:cNvSpPr>
            <a:spLocks noChangeArrowheads="1"/>
          </p:cNvSpPr>
          <p:nvPr/>
        </p:nvSpPr>
        <p:spPr bwMode="auto">
          <a:xfrm>
            <a:off x="5303838" y="3084513"/>
            <a:ext cx="355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dirty="0">
                <a:solidFill>
                  <a:srgbClr val="0000CC"/>
                </a:solidFill>
                <a:latin typeface="Times New Roman" panose="02020603050405020304" pitchFamily="18" charset="0"/>
                <a:ea typeface="楷体_GB2312" pitchFamily="49" charset="-122"/>
              </a:rPr>
              <a:t>e</a:t>
            </a:r>
            <a:r>
              <a:rPr lang="zh-CN" altLang="en-US" sz="2400" b="1" dirty="0">
                <a:solidFill>
                  <a:srgbClr val="0000CC"/>
                </a:solidFill>
                <a:latin typeface="楷体_GB2312" pitchFamily="49" charset="-122"/>
                <a:ea typeface="楷体_GB2312" pitchFamily="49" charset="-122"/>
              </a:rPr>
              <a:t>中为什么不包括</a:t>
            </a:r>
            <a:r>
              <a:rPr lang="en-US" altLang="zh-CN" sz="2400" b="1" i="1" dirty="0" err="1">
                <a:solidFill>
                  <a:srgbClr val="0000CC"/>
                </a:solidFill>
                <a:latin typeface="Times New Roman" panose="02020603050405020304" pitchFamily="18" charset="0"/>
                <a:ea typeface="楷体_GB2312" pitchFamily="49" charset="-122"/>
              </a:rPr>
              <a:t>pv</a:t>
            </a:r>
            <a:r>
              <a:rPr lang="zh-CN" altLang="en-US" sz="2400" b="1" dirty="0">
                <a:solidFill>
                  <a:srgbClr val="0000CC"/>
                </a:solidFill>
                <a:latin typeface="楷体_GB2312" pitchFamily="49" charset="-122"/>
                <a:ea typeface="楷体_GB2312" pitchFamily="49" charset="-122"/>
              </a:rPr>
              <a:t>项？</a:t>
            </a:r>
            <a:r>
              <a:rPr lang="zh-CN" altLang="en-US" sz="1800" b="1" dirty="0"/>
              <a:t> </a:t>
            </a:r>
            <a:endParaRPr lang="zh-CN" altLang="en-US" sz="1800" b="1" dirty="0"/>
          </a:p>
        </p:txBody>
      </p:sp>
      <p:sp>
        <p:nvSpPr>
          <p:cNvPr id="240662" name="直接连接符 240661"/>
          <p:cNvSpPr>
            <a:spLocks noChangeShapeType="1"/>
          </p:cNvSpPr>
          <p:nvPr/>
        </p:nvSpPr>
        <p:spPr bwMode="auto">
          <a:xfrm flipH="1">
            <a:off x="5592763" y="1747838"/>
            <a:ext cx="1952625" cy="728662"/>
          </a:xfrm>
          <a:prstGeom prst="line">
            <a:avLst/>
          </a:prstGeom>
          <a:noFill/>
          <a:ln w="25400">
            <a:solidFill>
              <a:srgbClr val="FF0000"/>
            </a:solidFill>
            <a:round/>
            <a:head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240663" name="直接连接符 240662"/>
          <p:cNvSpPr>
            <a:spLocks noChangeShapeType="1"/>
          </p:cNvSpPr>
          <p:nvPr/>
        </p:nvSpPr>
        <p:spPr bwMode="auto">
          <a:xfrm flipH="1">
            <a:off x="5664200" y="1747838"/>
            <a:ext cx="2743200" cy="750887"/>
          </a:xfrm>
          <a:prstGeom prst="line">
            <a:avLst/>
          </a:prstGeom>
          <a:noFill/>
          <a:ln w="25400">
            <a:solidFill>
              <a:srgbClr val="FF0000"/>
            </a:solidFill>
            <a:round/>
            <a:headEnd type="triangle" w="lg" len="med"/>
          </a:ln>
          <a:extLst>
            <a:ext uri="{909E8E84-426E-40DD-AFC4-6F175D3DCCD1}">
              <a14:hiddenFill xmlns:a14="http://schemas.microsoft.com/office/drawing/2010/main">
                <a:noFill/>
              </a14:hiddenFill>
            </a:ext>
          </a:extLst>
        </p:spPr>
        <p:txBody>
          <a:bodyPr/>
          <a:lstStyle/>
          <a:p>
            <a:endParaRPr lang="zh-CN" altLang="en-US"/>
          </a:p>
        </p:txBody>
      </p:sp>
    </p:spTree>
    <p:custDataLst>
      <p:tags r:id="rId9"/>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0650"/>
                                        </p:tgtEl>
                                        <p:attrNameLst>
                                          <p:attrName>style.visibility</p:attrName>
                                        </p:attrNameLst>
                                      </p:cBhvr>
                                      <p:to>
                                        <p:strVal val="visible"/>
                                      </p:to>
                                    </p:set>
                                    <p:animEffect transition="in" filter="wipe(down)">
                                      <p:cBhvr>
                                        <p:cTn id="7" dur="500"/>
                                        <p:tgtEl>
                                          <p:spTgt spid="2406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0652"/>
                                        </p:tgtEl>
                                        <p:attrNameLst>
                                          <p:attrName>style.visibility</p:attrName>
                                        </p:attrNameLst>
                                      </p:cBhvr>
                                      <p:to>
                                        <p:strVal val="visible"/>
                                      </p:to>
                                    </p:set>
                                    <p:animEffect transition="in" filter="wipe(down)">
                                      <p:cBhvr>
                                        <p:cTn id="12" dur="500"/>
                                        <p:tgtEl>
                                          <p:spTgt spid="2406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40653"/>
                                        </p:tgtEl>
                                        <p:attrNameLst>
                                          <p:attrName>style.visibility</p:attrName>
                                        </p:attrNameLst>
                                      </p:cBhvr>
                                      <p:to>
                                        <p:strVal val="visible"/>
                                      </p:to>
                                    </p:set>
                                    <p:animEffect transition="in" filter="wipe(down)">
                                      <p:cBhvr>
                                        <p:cTn id="17" dur="500"/>
                                        <p:tgtEl>
                                          <p:spTgt spid="240653"/>
                                        </p:tgtEl>
                                      </p:cBhvr>
                                    </p:animEffect>
                                  </p:childTnLst>
                                </p:cTn>
                              </p:par>
                              <p:par>
                                <p:cTn id="18" presetID="22" presetClass="entr" presetSubtype="4" fill="hold" nodeType="withEffect">
                                  <p:stCondLst>
                                    <p:cond delay="0"/>
                                  </p:stCondLst>
                                  <p:childTnLst>
                                    <p:set>
                                      <p:cBhvr>
                                        <p:cTn id="19" dur="1" fill="hold">
                                          <p:stCondLst>
                                            <p:cond delay="0"/>
                                          </p:stCondLst>
                                        </p:cTn>
                                        <p:tgtEl>
                                          <p:spTgt spid="240662"/>
                                        </p:tgtEl>
                                        <p:attrNameLst>
                                          <p:attrName>style.visibility</p:attrName>
                                        </p:attrNameLst>
                                      </p:cBhvr>
                                      <p:to>
                                        <p:strVal val="visible"/>
                                      </p:to>
                                    </p:set>
                                    <p:animEffect transition="in" filter="wipe(down)">
                                      <p:cBhvr>
                                        <p:cTn id="20" dur="500"/>
                                        <p:tgtEl>
                                          <p:spTgt spid="240662"/>
                                        </p:tgtEl>
                                      </p:cBhvr>
                                    </p:animEffect>
                                  </p:childTnLst>
                                </p:cTn>
                              </p:par>
                              <p:par>
                                <p:cTn id="21" presetID="22" presetClass="entr" presetSubtype="4" fill="hold" nodeType="withEffect">
                                  <p:stCondLst>
                                    <p:cond delay="0"/>
                                  </p:stCondLst>
                                  <p:childTnLst>
                                    <p:set>
                                      <p:cBhvr>
                                        <p:cTn id="22" dur="1" fill="hold">
                                          <p:stCondLst>
                                            <p:cond delay="0"/>
                                          </p:stCondLst>
                                        </p:cTn>
                                        <p:tgtEl>
                                          <p:spTgt spid="240663"/>
                                        </p:tgtEl>
                                        <p:attrNameLst>
                                          <p:attrName>style.visibility</p:attrName>
                                        </p:attrNameLst>
                                      </p:cBhvr>
                                      <p:to>
                                        <p:strVal val="visible"/>
                                      </p:to>
                                    </p:set>
                                    <p:animEffect transition="in" filter="wipe(down)">
                                      <p:cBhvr>
                                        <p:cTn id="23" dur="500"/>
                                        <p:tgtEl>
                                          <p:spTgt spid="24066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40656"/>
                                        </p:tgtEl>
                                        <p:attrNameLst>
                                          <p:attrName>style.visibility</p:attrName>
                                        </p:attrNameLst>
                                      </p:cBhvr>
                                      <p:to>
                                        <p:strVal val="visible"/>
                                      </p:to>
                                    </p:set>
                                    <p:animEffect transition="in" filter="blinds(horizontal)">
                                      <p:cBhvr>
                                        <p:cTn id="28" dur="500"/>
                                        <p:tgtEl>
                                          <p:spTgt spid="24065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40655"/>
                                        </p:tgtEl>
                                        <p:attrNameLst>
                                          <p:attrName>style.visibility</p:attrName>
                                        </p:attrNameLst>
                                      </p:cBhvr>
                                      <p:to>
                                        <p:strVal val="visible"/>
                                      </p:to>
                                    </p:set>
                                    <p:animEffect transition="in" filter="blinds(horizontal)">
                                      <p:cBhvr>
                                        <p:cTn id="33" dur="500"/>
                                        <p:tgtEl>
                                          <p:spTgt spid="240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55" grpId="0"/>
      <p:bldP spid="24065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241670"/>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659" name="矩形 241671"/>
          <p:cNvSpPr>
            <a:spLocks noChangeArrowheads="1"/>
          </p:cNvSpPr>
          <p:nvPr/>
        </p:nvSpPr>
        <p:spPr bwMode="auto">
          <a:xfrm>
            <a:off x="561975" y="492125"/>
            <a:ext cx="3041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CC"/>
                </a:solidFill>
                <a:latin typeface="楷体_GB2312" pitchFamily="49" charset="-122"/>
                <a:ea typeface="楷体_GB2312" pitchFamily="49" charset="-122"/>
              </a:rPr>
              <a:t>考虑单位时间</a:t>
            </a:r>
            <a:endParaRPr lang="zh-CN" altLang="en-US" sz="2800" b="1" dirty="0"/>
          </a:p>
        </p:txBody>
      </p:sp>
      <p:sp>
        <p:nvSpPr>
          <p:cNvPr id="70660" name="矩形 24167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0661" name="对象 1"/>
          <p:cNvGraphicFramePr/>
          <p:nvPr/>
        </p:nvGraphicFramePr>
        <p:xfrm>
          <a:off x="1935163" y="1335088"/>
          <a:ext cx="5116512" cy="1055687"/>
        </p:xfrm>
        <a:graphic>
          <a:graphicData uri="http://schemas.openxmlformats.org/presentationml/2006/ole">
            <mc:AlternateContent xmlns:mc="http://schemas.openxmlformats.org/markup-compatibility/2006">
              <mc:Choice xmlns:v="urn:schemas-microsoft-com:vml" Requires="v">
                <p:oleObj spid="_x0000_s45064" name="" r:id="rId1" imgW="2362200" imgH="482600" progId="Equation.DSMT4">
                  <p:embed/>
                </p:oleObj>
              </mc:Choice>
              <mc:Fallback>
                <p:oleObj name="" r:id="rId1" imgW="2362200" imgH="482600" progId="Equation.DSMT4">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1335088"/>
                        <a:ext cx="5116512"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911725" y="2982913"/>
          <a:ext cx="3397250" cy="603250"/>
        </p:xfrm>
        <a:graphic>
          <a:graphicData uri="http://schemas.openxmlformats.org/presentationml/2006/ole">
            <mc:AlternateContent xmlns:mc="http://schemas.openxmlformats.org/markup-compatibility/2006">
              <mc:Choice xmlns:v="urn:schemas-microsoft-com:vml" Requires="v">
                <p:oleObj spid="_x0000_s45065" name="" r:id="rId3" imgW="1358900" imgH="241300" progId="Equation.DSMT4">
                  <p:embed/>
                </p:oleObj>
              </mc:Choice>
              <mc:Fallback>
                <p:oleObj name="" r:id="rId3" imgW="1358900" imgH="2413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1725" y="2982913"/>
                        <a:ext cx="33972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0662" name="直接连接符 240661"/>
          <p:cNvSpPr>
            <a:spLocks noChangeShapeType="1"/>
          </p:cNvSpPr>
          <p:nvPr/>
        </p:nvSpPr>
        <p:spPr bwMode="auto">
          <a:xfrm flipH="1">
            <a:off x="5316538" y="2262188"/>
            <a:ext cx="1081087" cy="782637"/>
          </a:xfrm>
          <a:prstGeom prst="line">
            <a:avLst/>
          </a:prstGeom>
          <a:noFill/>
          <a:ln w="25400">
            <a:solidFill>
              <a:srgbClr val="FF0000"/>
            </a:solidFill>
            <a:round/>
            <a:headEnd type="triangle" w="lg" len="med"/>
          </a:ln>
          <a:extLst>
            <a:ext uri="{909E8E84-426E-40DD-AFC4-6F175D3DCCD1}">
              <a14:hiddenFill xmlns:a14="http://schemas.microsoft.com/office/drawing/2010/main">
                <a:noFill/>
              </a14:hiddenFill>
            </a:ext>
          </a:extLst>
        </p:spPr>
        <p:txBody>
          <a:bodyPr/>
          <a:lstStyle/>
          <a:p>
            <a:endParaRPr lang="zh-CN" altLang="en-US"/>
          </a:p>
        </p:txBody>
      </p:sp>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0662"/>
                                        </p:tgtEl>
                                        <p:attrNameLst>
                                          <p:attrName>style.visibility</p:attrName>
                                        </p:attrNameLst>
                                      </p:cBhvr>
                                      <p:to>
                                        <p:strVal val="visible"/>
                                      </p:to>
                                    </p:set>
                                    <p:animEffect transition="in" filter="wipe(down)">
                                      <p:cBhvr>
                                        <p:cTn id="7" dur="500"/>
                                        <p:tgtEl>
                                          <p:spTgt spid="2406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对象 242691"/>
          <p:cNvGraphicFramePr/>
          <p:nvPr/>
        </p:nvGraphicFramePr>
        <p:xfrm>
          <a:off x="431800" y="3519488"/>
          <a:ext cx="3600450" cy="1158875"/>
        </p:xfrm>
        <a:graphic>
          <a:graphicData uri="http://schemas.openxmlformats.org/presentationml/2006/ole">
            <mc:AlternateContent xmlns:mc="http://schemas.openxmlformats.org/markup-compatibility/2006">
              <mc:Choice xmlns:v="urn:schemas-microsoft-com:vml" Requires="v">
                <p:oleObj spid="_x0000_s46088" name="" r:id="rId1" imgW="2031365" imgH="660400" progId="Equation.DSMT4">
                  <p:embed/>
                </p:oleObj>
              </mc:Choice>
              <mc:Fallback>
                <p:oleObj name="" r:id="rId1" imgW="2031365" imgH="660400" progId="Equation.DSMT4">
                  <p:embed/>
                  <p:pic>
                    <p:nvPicPr>
                      <p:cNvPr id="0" name="对象 2426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3519488"/>
                        <a:ext cx="36004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3" name="矩形 242694"/>
          <p:cNvSpPr>
            <a:spLocks noChangeArrowheads="1"/>
          </p:cNvSpPr>
          <p:nvPr/>
        </p:nvSpPr>
        <p:spPr bwMode="auto">
          <a:xfrm>
            <a:off x="522288" y="5089525"/>
            <a:ext cx="30416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latin typeface="楷体_GB2312" pitchFamily="49" charset="-122"/>
                <a:ea typeface="楷体_GB2312" pitchFamily="49" charset="-122"/>
              </a:rPr>
              <a:t>稳定流动</a:t>
            </a:r>
            <a:r>
              <a:rPr lang="en-US" altLang="zh-CN" sz="2400" b="1" i="1" dirty="0">
                <a:solidFill>
                  <a:srgbClr val="0000CC"/>
                </a:solidFill>
                <a:latin typeface="Times New Roman" panose="02020603050405020304" pitchFamily="18" charset="0"/>
                <a:ea typeface="楷体_GB2312" pitchFamily="49" charset="-122"/>
                <a:cs typeface="Times New Roman" panose="02020603050405020304" pitchFamily="18" charset="0"/>
              </a:rPr>
              <a:t>W</a:t>
            </a:r>
            <a:r>
              <a:rPr lang="zh-CN" altLang="en-US" sz="2400" b="1" dirty="0">
                <a:solidFill>
                  <a:srgbClr val="0000CC"/>
                </a:solidFill>
                <a:latin typeface="楷体_GB2312" pitchFamily="49" charset="-122"/>
                <a:ea typeface="楷体_GB2312" pitchFamily="49" charset="-122"/>
              </a:rPr>
              <a:t>不包括体积变化功</a:t>
            </a:r>
            <a:endParaRPr lang="zh-CN" altLang="en-US" sz="1800" b="1" dirty="0"/>
          </a:p>
        </p:txBody>
      </p:sp>
      <p:sp>
        <p:nvSpPr>
          <p:cNvPr id="71684" name="矩形 242696"/>
          <p:cNvSpPr>
            <a:spLocks noChangeArrowheads="1"/>
          </p:cNvSpPr>
          <p:nvPr/>
        </p:nvSpPr>
        <p:spPr bwMode="auto">
          <a:xfrm>
            <a:off x="0" y="2133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1685" name="矩形 242698"/>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1686" name="直接连接符 242699"/>
          <p:cNvSpPr>
            <a:spLocks noChangeShapeType="1"/>
          </p:cNvSpPr>
          <p:nvPr/>
        </p:nvSpPr>
        <p:spPr bwMode="auto">
          <a:xfrm>
            <a:off x="4346575" y="684213"/>
            <a:ext cx="0" cy="5445125"/>
          </a:xfrm>
          <a:prstGeom prst="line">
            <a:avLst/>
          </a:prstGeom>
          <a:noFill/>
          <a:ln w="254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87" name="矩形 242700"/>
          <p:cNvSpPr>
            <a:spLocks noChangeArrowheads="1"/>
          </p:cNvSpPr>
          <p:nvPr/>
        </p:nvSpPr>
        <p:spPr bwMode="auto">
          <a:xfrm>
            <a:off x="4886325" y="5133975"/>
            <a:ext cx="35115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latin typeface="楷体_GB2312" pitchFamily="49" charset="-122"/>
                <a:ea typeface="楷体_GB2312" pitchFamily="49" charset="-122"/>
              </a:rPr>
              <a:t>非稳定流动</a:t>
            </a:r>
            <a:r>
              <a:rPr lang="en-US" altLang="zh-CN" sz="2400" b="1" i="1" dirty="0">
                <a:solidFill>
                  <a:srgbClr val="0000CC"/>
                </a:solidFill>
                <a:latin typeface="Times New Roman" panose="02020603050405020304" pitchFamily="18" charset="0"/>
                <a:ea typeface="楷体_GB2312" pitchFamily="49" charset="-122"/>
                <a:cs typeface="Times New Roman" panose="02020603050405020304" pitchFamily="18" charset="0"/>
              </a:rPr>
              <a:t>W</a:t>
            </a:r>
            <a:r>
              <a:rPr lang="zh-CN" altLang="en-US" sz="2400" b="1" dirty="0">
                <a:solidFill>
                  <a:srgbClr val="FF3300"/>
                </a:solidFill>
                <a:latin typeface="楷体_GB2312" pitchFamily="49" charset="-122"/>
                <a:ea typeface="楷体_GB2312" pitchFamily="49" charset="-122"/>
              </a:rPr>
              <a:t>可以</a:t>
            </a:r>
            <a:r>
              <a:rPr lang="zh-CN" altLang="en-US" sz="2400" b="1" dirty="0">
                <a:solidFill>
                  <a:srgbClr val="0000CC"/>
                </a:solidFill>
                <a:latin typeface="楷体_GB2312" pitchFamily="49" charset="-122"/>
                <a:ea typeface="楷体_GB2312" pitchFamily="49" charset="-122"/>
              </a:rPr>
              <a:t>包括体积变化功</a:t>
            </a:r>
            <a:endParaRPr lang="zh-CN" altLang="en-US" sz="1800" b="1" dirty="0"/>
          </a:p>
        </p:txBody>
      </p:sp>
      <p:graphicFrame>
        <p:nvGraphicFramePr>
          <p:cNvPr id="71688" name="对象 1"/>
          <p:cNvGraphicFramePr/>
          <p:nvPr/>
        </p:nvGraphicFramePr>
        <p:xfrm>
          <a:off x="5207000" y="3519488"/>
          <a:ext cx="2976563" cy="1417637"/>
        </p:xfrm>
        <a:graphic>
          <a:graphicData uri="http://schemas.openxmlformats.org/presentationml/2006/ole">
            <mc:AlternateContent xmlns:mc="http://schemas.openxmlformats.org/markup-compatibility/2006">
              <mc:Choice xmlns:v="urn:schemas-microsoft-com:vml" Requires="v">
                <p:oleObj spid="_x0000_s46089" name="" r:id="rId3" imgW="1752600" imgH="762000" progId="Equation.DSMT4">
                  <p:embed/>
                </p:oleObj>
              </mc:Choice>
              <mc:Fallback>
                <p:oleObj name="" r:id="rId3" imgW="1752600" imgH="762000" progId="Equation.DSMT4">
                  <p:embed/>
                  <p:pic>
                    <p:nvPicPr>
                      <p:cNvPr id="0" name="对象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7000" y="3519488"/>
                        <a:ext cx="2976563"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1689"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57188" y="211138"/>
            <a:ext cx="3548062"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图片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918075" y="671513"/>
            <a:ext cx="355441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237571"/>
          <p:cNvSpPr>
            <a:spLocks noChangeArrowheads="1"/>
          </p:cNvSpPr>
          <p:nvPr/>
        </p:nvSpPr>
        <p:spPr bwMode="auto">
          <a:xfrm>
            <a:off x="1508125" y="1531938"/>
            <a:ext cx="6213475" cy="1476375"/>
          </a:xfrm>
          <a:prstGeom prst="rect">
            <a:avLst/>
          </a:prstGeom>
          <a:noFill/>
          <a:ln w="25400">
            <a:solidFill>
              <a:schemeClr val="bg2">
                <a:lumMod val="50000"/>
              </a:schemeClr>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defRPr/>
            </a:pPr>
            <a:r>
              <a:rPr lang="zh-CN" altLang="en-US" sz="3000" b="1" dirty="0" smtClean="0">
                <a:solidFill>
                  <a:srgbClr val="FF0000"/>
                </a:solidFill>
                <a:latin typeface="黑体" panose="02010609060101010101" pitchFamily="49" charset="-122"/>
                <a:ea typeface="黑体" panose="02010609060101010101" pitchFamily="49" charset="-122"/>
              </a:rPr>
              <a:t>能量守恒方程</a:t>
            </a:r>
            <a:endParaRPr lang="en-US" altLang="zh-CN" sz="3000" b="1" dirty="0" smtClean="0">
              <a:solidFill>
                <a:srgbClr val="FF0000"/>
              </a:solidFill>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solidFill>
                  <a:srgbClr val="FF0000"/>
                </a:solidFill>
                <a:latin typeface="黑体" panose="02010609060101010101" pitchFamily="49" charset="-122"/>
                <a:ea typeface="黑体" panose="02010609060101010101" pitchFamily="49" charset="-122"/>
              </a:rPr>
              <a:t>质量守恒方程</a:t>
            </a:r>
            <a:endParaRPr lang="en-US" altLang="zh-CN" sz="3000" b="1" dirty="0" smtClean="0">
              <a:solidFill>
                <a:srgbClr val="FF0000"/>
              </a:solidFill>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solidFill>
                  <a:srgbClr val="FF0000"/>
                </a:solidFill>
                <a:latin typeface="黑体" panose="02010609060101010101" pitchFamily="49" charset="-122"/>
                <a:ea typeface="黑体" panose="02010609060101010101" pitchFamily="49" charset="-122"/>
              </a:rPr>
              <a:t>气体的特性方程</a:t>
            </a:r>
            <a:r>
              <a:rPr lang="zh-CN" altLang="en-US" sz="3000" b="1" dirty="0" smtClean="0">
                <a:latin typeface="黑体" panose="02010609060101010101" pitchFamily="49" charset="-122"/>
                <a:ea typeface="黑体" panose="02010609060101010101" pitchFamily="49" charset="-122"/>
              </a:rPr>
              <a:t>（如</a:t>
            </a:r>
            <a:r>
              <a:rPr lang="en-US" altLang="zh-CN" sz="3000" b="1" i="1" dirty="0" err="1" smtClean="0">
                <a:latin typeface="Times New Roman" panose="02020603050405020304" pitchFamily="18" charset="0"/>
                <a:ea typeface="黑体" panose="02010609060101010101" pitchFamily="49" charset="-122"/>
                <a:cs typeface="Times New Roman" panose="02020603050405020304" pitchFamily="18" charset="0"/>
              </a:rPr>
              <a:t>pV</a:t>
            </a:r>
            <a:r>
              <a:rPr lang="en-US" altLang="zh-CN" sz="30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000" b="1" i="1" dirty="0" err="1" smtClean="0">
                <a:latin typeface="Times New Roman" panose="02020603050405020304" pitchFamily="18" charset="0"/>
                <a:ea typeface="黑体" panose="02010609060101010101" pitchFamily="49" charset="-122"/>
                <a:cs typeface="Times New Roman" panose="02020603050405020304" pitchFamily="18" charset="0"/>
              </a:rPr>
              <a:t>nRT</a:t>
            </a:r>
            <a:r>
              <a:rPr lang="zh-CN" altLang="en-US" sz="3000" b="1" dirty="0" smtClean="0">
                <a:latin typeface="黑体" panose="02010609060101010101" pitchFamily="49" charset="-122"/>
                <a:ea typeface="黑体" panose="02010609060101010101" pitchFamily="49" charset="-122"/>
              </a:rPr>
              <a:t>）</a:t>
            </a:r>
            <a:endParaRPr lang="zh-CN" altLang="en-US" sz="3000" b="1" dirty="0">
              <a:latin typeface="黑体" panose="02010609060101010101" pitchFamily="49" charset="-122"/>
              <a:ea typeface="黑体" panose="02010609060101010101" pitchFamily="49" charset="-122"/>
            </a:endParaRPr>
          </a:p>
        </p:txBody>
      </p:sp>
      <p:sp>
        <p:nvSpPr>
          <p:cNvPr id="72707" name="矩形 3"/>
          <p:cNvSpPr>
            <a:spLocks noChangeArrowheads="1"/>
          </p:cNvSpPr>
          <p:nvPr/>
        </p:nvSpPr>
        <p:spPr bwMode="auto">
          <a:xfrm>
            <a:off x="1824038" y="422275"/>
            <a:ext cx="52816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3600" b="1" dirty="0">
                <a:solidFill>
                  <a:srgbClr val="000000"/>
                </a:solidFill>
                <a:latin typeface="黑体" panose="02010609060101010101" pitchFamily="49" charset="-122"/>
                <a:ea typeface="黑体" panose="02010609060101010101" pitchFamily="49" charset="-122"/>
              </a:rPr>
              <a:t>在分析非稳定流动问题时</a:t>
            </a:r>
            <a:endParaRPr lang="zh-CN" altLang="en-US" sz="3600" b="1" dirty="0"/>
          </a:p>
        </p:txBody>
      </p:sp>
      <p:sp>
        <p:nvSpPr>
          <p:cNvPr id="6" name="虚尾箭头 5"/>
          <p:cNvSpPr/>
          <p:nvPr/>
        </p:nvSpPr>
        <p:spPr>
          <a:xfrm rot="5400000">
            <a:off x="3656807" y="3558381"/>
            <a:ext cx="1270000" cy="73183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237571"/>
          <p:cNvSpPr>
            <a:spLocks noChangeArrowheads="1"/>
          </p:cNvSpPr>
          <p:nvPr/>
        </p:nvSpPr>
        <p:spPr bwMode="auto">
          <a:xfrm>
            <a:off x="922338" y="4697413"/>
            <a:ext cx="7178675" cy="1016000"/>
          </a:xfrm>
          <a:prstGeom prst="rect">
            <a:avLst/>
          </a:prstGeom>
          <a:noFill/>
          <a:ln w="25400">
            <a:solidFill>
              <a:schemeClr val="bg2">
                <a:lumMod val="50000"/>
              </a:schemeClr>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defRPr/>
            </a:pPr>
            <a:r>
              <a:rPr lang="zh-CN" altLang="en-US" sz="3000" b="1" dirty="0" smtClean="0">
                <a:latin typeface="黑体" panose="02010609060101010101" pitchFamily="49" charset="-122"/>
                <a:ea typeface="黑体" panose="02010609060101010101" pitchFamily="49" charset="-122"/>
              </a:rPr>
              <a:t>控制体积中物质的状态参数的变化规律</a:t>
            </a:r>
            <a:endParaRPr lang="en-US" altLang="zh-CN" sz="3000" b="1" dirty="0" smtClean="0">
              <a:latin typeface="黑体" panose="02010609060101010101" pitchFamily="49" charset="-122"/>
              <a:ea typeface="黑体" panose="02010609060101010101" pitchFamily="49" charset="-122"/>
            </a:endParaRPr>
          </a:p>
          <a:p>
            <a:pPr marL="457200" indent="-457200">
              <a:spcBef>
                <a:spcPct val="0"/>
              </a:spcBef>
              <a:defRPr/>
            </a:pPr>
            <a:r>
              <a:rPr lang="zh-CN" altLang="en-US" sz="3000" b="1" dirty="0" smtClean="0">
                <a:latin typeface="黑体" panose="02010609060101010101" pitchFamily="49" charset="-122"/>
                <a:ea typeface="黑体" panose="02010609060101010101" pitchFamily="49" charset="-122"/>
              </a:rPr>
              <a:t>通过边界与外界交换的热量、功量</a:t>
            </a:r>
            <a:endParaRPr lang="zh-CN" altLang="en-US" sz="3000" b="1" dirty="0">
              <a:latin typeface="黑体" panose="02010609060101010101" pitchFamily="49" charset="-122"/>
              <a:ea typeface="黑体" panose="02010609060101010101" pitchFamily="49" charset="-122"/>
            </a:endParaRPr>
          </a:p>
        </p:txBody>
      </p:sp>
      <p:sp>
        <p:nvSpPr>
          <p:cNvPr id="72710" name="矩形 14"/>
          <p:cNvSpPr>
            <a:spLocks noChangeArrowheads="1"/>
          </p:cNvSpPr>
          <p:nvPr/>
        </p:nvSpPr>
        <p:spPr bwMode="auto">
          <a:xfrm>
            <a:off x="4760913" y="3471863"/>
            <a:ext cx="11096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3600" b="1" dirty="0">
                <a:solidFill>
                  <a:srgbClr val="0070C0"/>
                </a:solidFill>
                <a:latin typeface="黑体" panose="02010609060101010101" pitchFamily="49" charset="-122"/>
                <a:ea typeface="黑体" panose="02010609060101010101" pitchFamily="49" charset="-122"/>
              </a:rPr>
              <a:t>确定</a:t>
            </a:r>
            <a:endParaRPr lang="zh-CN" altLang="en-US" sz="3600" b="1" dirty="0">
              <a:solidFill>
                <a:srgbClr val="0070C0"/>
              </a:solidFill>
            </a:endParaRPr>
          </a:p>
        </p:txBody>
      </p:sp>
    </p:spTree>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243720"/>
          <p:cNvSpPr>
            <a:spLocks noChangeArrowheads="1"/>
          </p:cNvSpPr>
          <p:nvPr/>
        </p:nvSpPr>
        <p:spPr bwMode="auto">
          <a:xfrm>
            <a:off x="566738" y="1077913"/>
            <a:ext cx="82804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、一般情况下，进、出边界流体的动能和重力势能变化可以忽略；开口系内流体在初态和末态之间的动能和重力势能变化也可以忽略。</a:t>
            </a:r>
            <a:endParaRPr lang="zh-CN" altLang="en-US" sz="2800" b="1" dirty="0">
              <a:latin typeface="黑体" panose="02010609060101010101" pitchFamily="49" charset="-122"/>
              <a:ea typeface="黑体" panose="02010609060101010101" pitchFamily="49" charset="-122"/>
            </a:endParaRPr>
          </a:p>
        </p:txBody>
      </p:sp>
      <p:sp>
        <p:nvSpPr>
          <p:cNvPr id="73731" name="矩形 243721"/>
          <p:cNvSpPr>
            <a:spLocks noChangeArrowheads="1"/>
          </p:cNvSpPr>
          <p:nvPr/>
        </p:nvSpPr>
        <p:spPr bwMode="auto">
          <a:xfrm>
            <a:off x="927100" y="323850"/>
            <a:ext cx="75969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黑体" panose="02010609060101010101" pitchFamily="49" charset="-122"/>
                <a:ea typeface="黑体" panose="02010609060101010101" pitchFamily="49" charset="-122"/>
              </a:rPr>
              <a:t>非稳定流动的能量方程各种简化形式</a:t>
            </a:r>
            <a:endParaRPr lang="zh-CN" altLang="en-US" sz="3600" b="1" dirty="0">
              <a:latin typeface="黑体" panose="02010609060101010101" pitchFamily="49" charset="-122"/>
              <a:ea typeface="黑体" panose="02010609060101010101" pitchFamily="49" charset="-122"/>
            </a:endParaRPr>
          </a:p>
        </p:txBody>
      </p:sp>
      <p:sp>
        <p:nvSpPr>
          <p:cNvPr id="73732" name="矩形 243726"/>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3733" name="对象 1"/>
          <p:cNvGraphicFramePr/>
          <p:nvPr/>
        </p:nvGraphicFramePr>
        <p:xfrm>
          <a:off x="950913" y="2717800"/>
          <a:ext cx="7827962" cy="923925"/>
        </p:xfrm>
        <a:graphic>
          <a:graphicData uri="http://schemas.openxmlformats.org/presentationml/2006/ole">
            <mc:AlternateContent xmlns:mc="http://schemas.openxmlformats.org/markup-compatibility/2006">
              <mc:Choice xmlns:v="urn:schemas-microsoft-com:vml" Requires="v">
                <p:oleObj spid="_x0000_s47118" name="" r:id="rId1" imgW="8576945" imgH="1050290" progId="Equation.DSMT4">
                  <p:embed/>
                </p:oleObj>
              </mc:Choice>
              <mc:Fallback>
                <p:oleObj name="" r:id="rId1" imgW="8576945" imgH="1050290" progId="Equation.DSMT4">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913" y="2717800"/>
                        <a:ext cx="78279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4" name="对象 240649"/>
          <p:cNvGraphicFramePr/>
          <p:nvPr/>
        </p:nvGraphicFramePr>
        <p:xfrm>
          <a:off x="595313" y="4113213"/>
          <a:ext cx="2465387" cy="876300"/>
        </p:xfrm>
        <a:graphic>
          <a:graphicData uri="http://schemas.openxmlformats.org/presentationml/2006/ole">
            <mc:AlternateContent xmlns:mc="http://schemas.openxmlformats.org/markup-compatibility/2006">
              <mc:Choice xmlns:v="urn:schemas-microsoft-com:vml" Requires="v">
                <p:oleObj spid="_x0000_s47119" name="" r:id="rId3" imgW="1435100" imgH="508000" progId="Equation.DSMT4">
                  <p:embed/>
                </p:oleObj>
              </mc:Choice>
              <mc:Fallback>
                <p:oleObj name="" r:id="rId3" imgW="1435100" imgH="508000" progId="Equation.DSMT4">
                  <p:embed/>
                  <p:pic>
                    <p:nvPicPr>
                      <p:cNvPr id="0" name="对象 24064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4113213"/>
                        <a:ext cx="2465387"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735" name="对象 240651"/>
          <p:cNvGraphicFramePr/>
          <p:nvPr/>
        </p:nvGraphicFramePr>
        <p:xfrm>
          <a:off x="595313" y="5473700"/>
          <a:ext cx="2201862" cy="438150"/>
        </p:xfrm>
        <a:graphic>
          <a:graphicData uri="http://schemas.openxmlformats.org/presentationml/2006/ole">
            <mc:AlternateContent xmlns:mc="http://schemas.openxmlformats.org/markup-compatibility/2006">
              <mc:Choice xmlns:v="urn:schemas-microsoft-com:vml" Requires="v">
                <p:oleObj spid="_x0000_s47120" name="" r:id="rId5" imgW="1281430" imgH="254000" progId="Equation.DSMT4">
                  <p:embed/>
                </p:oleObj>
              </mc:Choice>
              <mc:Fallback>
                <p:oleObj name="" r:id="rId5" imgW="1281430" imgH="254000" progId="Equation.DSMT4">
                  <p:embed/>
                  <p:pic>
                    <p:nvPicPr>
                      <p:cNvPr id="0" name="对象 24065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313" y="5473700"/>
                        <a:ext cx="22018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736" name="对象 240652"/>
          <p:cNvGraphicFramePr/>
          <p:nvPr/>
        </p:nvGraphicFramePr>
        <p:xfrm>
          <a:off x="5440363" y="4113213"/>
          <a:ext cx="1979612" cy="447675"/>
        </p:xfrm>
        <a:graphic>
          <a:graphicData uri="http://schemas.openxmlformats.org/presentationml/2006/ole">
            <mc:AlternateContent xmlns:mc="http://schemas.openxmlformats.org/markup-compatibility/2006">
              <mc:Choice xmlns:v="urn:schemas-microsoft-com:vml" Requires="v">
                <p:oleObj spid="_x0000_s47121" name="" r:id="rId7" imgW="1066165" imgH="241300" progId="Equation.DSMT4">
                  <p:embed/>
                </p:oleObj>
              </mc:Choice>
              <mc:Fallback>
                <p:oleObj name="" r:id="rId7" imgW="1066165" imgH="241300" progId="Equation.DSMT4">
                  <p:embed/>
                  <p:pic>
                    <p:nvPicPr>
                      <p:cNvPr id="0" name="对象 24065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0363" y="4113213"/>
                        <a:ext cx="19796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7" name="直接连接符 240661"/>
          <p:cNvSpPr>
            <a:spLocks noChangeShapeType="1"/>
          </p:cNvSpPr>
          <p:nvPr/>
        </p:nvSpPr>
        <p:spPr bwMode="auto">
          <a:xfrm flipH="1">
            <a:off x="5592763" y="3436938"/>
            <a:ext cx="1952625" cy="728662"/>
          </a:xfrm>
          <a:prstGeom prst="line">
            <a:avLst/>
          </a:prstGeom>
          <a:noFill/>
          <a:ln w="25400">
            <a:solidFill>
              <a:srgbClr val="FF0000"/>
            </a:solidFill>
            <a:round/>
            <a:head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73738" name="直接连接符 240662"/>
          <p:cNvSpPr>
            <a:spLocks noChangeShapeType="1"/>
          </p:cNvSpPr>
          <p:nvPr/>
        </p:nvSpPr>
        <p:spPr bwMode="auto">
          <a:xfrm flipH="1">
            <a:off x="5664200" y="3436938"/>
            <a:ext cx="2743200" cy="750887"/>
          </a:xfrm>
          <a:prstGeom prst="line">
            <a:avLst/>
          </a:prstGeom>
          <a:noFill/>
          <a:ln w="25400">
            <a:solidFill>
              <a:srgbClr val="FF0000"/>
            </a:solidFill>
            <a:round/>
            <a:head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73739" name="直接连接符 240661"/>
          <p:cNvSpPr>
            <a:spLocks noChangeShapeType="1"/>
          </p:cNvSpPr>
          <p:nvPr/>
        </p:nvSpPr>
        <p:spPr bwMode="auto">
          <a:xfrm flipH="1">
            <a:off x="1333500" y="4337050"/>
            <a:ext cx="1495425" cy="0"/>
          </a:xfrm>
          <a:prstGeom prst="line">
            <a:avLst/>
          </a:prstGeom>
          <a:noFill/>
          <a:ln w="25400">
            <a:solidFill>
              <a:srgbClr val="FF0000"/>
            </a:solidFill>
            <a:round/>
            <a:head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73740" name="直接连接符 240661"/>
          <p:cNvSpPr>
            <a:spLocks noChangeShapeType="1"/>
          </p:cNvSpPr>
          <p:nvPr/>
        </p:nvSpPr>
        <p:spPr bwMode="auto">
          <a:xfrm flipH="1">
            <a:off x="1697038" y="4795838"/>
            <a:ext cx="1495425" cy="0"/>
          </a:xfrm>
          <a:prstGeom prst="line">
            <a:avLst/>
          </a:prstGeom>
          <a:noFill/>
          <a:ln w="25400">
            <a:solidFill>
              <a:srgbClr val="FF0000"/>
            </a:solidFill>
            <a:round/>
            <a:head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73741" name="直接连接符 240661"/>
          <p:cNvSpPr>
            <a:spLocks noChangeShapeType="1"/>
          </p:cNvSpPr>
          <p:nvPr/>
        </p:nvSpPr>
        <p:spPr bwMode="auto">
          <a:xfrm flipH="1">
            <a:off x="1425575" y="5692775"/>
            <a:ext cx="1495425" cy="0"/>
          </a:xfrm>
          <a:prstGeom prst="line">
            <a:avLst/>
          </a:prstGeom>
          <a:noFill/>
          <a:ln w="25400">
            <a:solidFill>
              <a:srgbClr val="FF0000"/>
            </a:solidFill>
            <a:round/>
            <a:headEnd type="none" w="lg" len="med"/>
          </a:ln>
          <a:extLst>
            <a:ext uri="{909E8E84-426E-40DD-AFC4-6F175D3DCCD1}">
              <a14:hiddenFill xmlns:a14="http://schemas.microsoft.com/office/drawing/2010/main">
                <a:noFill/>
              </a14:hiddenFill>
            </a:ext>
          </a:extLst>
        </p:spPr>
        <p:txBody>
          <a:bodyPr/>
          <a:lstStyle/>
          <a:p>
            <a:endParaRPr lang="zh-CN" altLang="en-US"/>
          </a:p>
        </p:txBody>
      </p:sp>
      <p:sp>
        <p:nvSpPr>
          <p:cNvPr id="73742" name="直接连接符 240661"/>
          <p:cNvSpPr>
            <a:spLocks noChangeShapeType="1"/>
          </p:cNvSpPr>
          <p:nvPr/>
        </p:nvSpPr>
        <p:spPr bwMode="auto">
          <a:xfrm flipH="1">
            <a:off x="6103938" y="4364038"/>
            <a:ext cx="1495425" cy="0"/>
          </a:xfrm>
          <a:prstGeom prst="line">
            <a:avLst/>
          </a:prstGeom>
          <a:noFill/>
          <a:ln w="25400">
            <a:solidFill>
              <a:srgbClr val="FF0000"/>
            </a:solidFill>
            <a:round/>
            <a:headEnd type="none" w="lg"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244739"/>
          <p:cNvSpPr>
            <a:spLocks noChangeArrowheads="1"/>
          </p:cNvSpPr>
          <p:nvPr/>
        </p:nvSpPr>
        <p:spPr bwMode="auto">
          <a:xfrm>
            <a:off x="611188" y="1325563"/>
            <a:ext cx="828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、若系统边界无质量的流入和流出</a:t>
            </a:r>
            <a:endParaRPr lang="zh-CN" altLang="en-US" sz="2400" b="1" dirty="0">
              <a:latin typeface="楷体_GB2312" pitchFamily="49" charset="-122"/>
              <a:ea typeface="楷体_GB2312" pitchFamily="49" charset="-122"/>
            </a:endParaRPr>
          </a:p>
        </p:txBody>
      </p:sp>
      <p:sp>
        <p:nvSpPr>
          <p:cNvPr id="74755" name="矩形 244740"/>
          <p:cNvSpPr>
            <a:spLocks noChangeArrowheads="1"/>
          </p:cNvSpPr>
          <p:nvPr/>
        </p:nvSpPr>
        <p:spPr bwMode="auto">
          <a:xfrm>
            <a:off x="809625" y="319088"/>
            <a:ext cx="7524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黑体" panose="02010609060101010101" pitchFamily="49" charset="-122"/>
                <a:ea typeface="黑体" panose="02010609060101010101" pitchFamily="49" charset="-122"/>
              </a:rPr>
              <a:t>非稳定流动的能量方程各种简化形式</a:t>
            </a:r>
            <a:endParaRPr lang="zh-CN" altLang="en-US" sz="3600" b="1" dirty="0">
              <a:latin typeface="黑体" panose="02010609060101010101" pitchFamily="49" charset="-122"/>
              <a:ea typeface="黑体" panose="02010609060101010101" pitchFamily="49" charset="-122"/>
            </a:endParaRPr>
          </a:p>
        </p:txBody>
      </p:sp>
      <p:sp>
        <p:nvSpPr>
          <p:cNvPr id="74756" name="矩形 244743"/>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4757" name="对象 1"/>
          <p:cNvGraphicFramePr/>
          <p:nvPr/>
        </p:nvGraphicFramePr>
        <p:xfrm>
          <a:off x="950913" y="2273300"/>
          <a:ext cx="7827962" cy="923925"/>
        </p:xfrm>
        <a:graphic>
          <a:graphicData uri="http://schemas.openxmlformats.org/presentationml/2006/ole">
            <mc:AlternateContent xmlns:mc="http://schemas.openxmlformats.org/markup-compatibility/2006">
              <mc:Choice xmlns:v="urn:schemas-microsoft-com:vml" Requires="v">
                <p:oleObj spid="_x0000_s48136" name="" r:id="rId1" imgW="8576945" imgH="1050290" progId="Equation.DSMT4">
                  <p:embed/>
                </p:oleObj>
              </mc:Choice>
              <mc:Fallback>
                <p:oleObj name="" r:id="rId1" imgW="8576945" imgH="1050290" progId="Equation.DSMT4">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913" y="2273300"/>
                        <a:ext cx="78279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p:nvPr/>
        </p:nvGraphicFramePr>
        <p:xfrm>
          <a:off x="3351213" y="4314825"/>
          <a:ext cx="1570037" cy="406400"/>
        </p:xfrm>
        <a:graphic>
          <a:graphicData uri="http://schemas.openxmlformats.org/presentationml/2006/ole">
            <mc:AlternateContent xmlns:mc="http://schemas.openxmlformats.org/markup-compatibility/2006">
              <mc:Choice xmlns:v="urn:schemas-microsoft-com:vml" Requires="v">
                <p:oleObj spid="_x0000_s48137" name="Equation" r:id="rId3" imgW="774065" imgH="203200" progId="Equation.DSMT4">
                  <p:embed/>
                </p:oleObj>
              </mc:Choice>
              <mc:Fallback>
                <p:oleObj name="Equation" r:id="rId3" imgW="774065" imgH="203200" progId="Equation.DSMT4">
                  <p:embed/>
                  <p:pic>
                    <p:nvPicPr>
                      <p:cNvPr id="0"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1213" y="4314825"/>
                        <a:ext cx="15700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矩形 5"/>
          <p:cNvSpPr>
            <a:spLocks noChangeArrowheads="1"/>
          </p:cNvSpPr>
          <p:nvPr/>
        </p:nvSpPr>
        <p:spPr bwMode="auto">
          <a:xfrm>
            <a:off x="1949450" y="4887913"/>
            <a:ext cx="503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黑体" panose="02010609060101010101" pitchFamily="49" charset="-122"/>
                <a:ea typeface="黑体" panose="02010609060101010101" pitchFamily="49" charset="-122"/>
              </a:rPr>
              <a:t>退化为闭口系的能量守恒方程 </a:t>
            </a:r>
            <a:endParaRPr lang="zh-CN" altLang="en-US" sz="2800">
              <a:latin typeface="黑体" panose="02010609060101010101" pitchFamily="49" charset="-122"/>
              <a:ea typeface="黑体" panose="02010609060101010101" pitchFamily="49" charset="-122"/>
            </a:endParaRPr>
          </a:p>
        </p:txBody>
      </p:sp>
      <p:sp>
        <p:nvSpPr>
          <p:cNvPr id="7" name="右箭头 6"/>
          <p:cNvSpPr>
            <a:spLocks noChangeArrowheads="1"/>
          </p:cNvSpPr>
          <p:nvPr/>
        </p:nvSpPr>
        <p:spPr bwMode="auto">
          <a:xfrm rot="5400000">
            <a:off x="3908425" y="3689350"/>
            <a:ext cx="685800" cy="228600"/>
          </a:xfrm>
          <a:prstGeom prst="rightArrow">
            <a:avLst>
              <a:gd name="adj1" fmla="val 50000"/>
              <a:gd name="adj2" fmla="val 750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61" name="直接连接符 240661"/>
          <p:cNvSpPr>
            <a:spLocks noChangeShapeType="1"/>
          </p:cNvSpPr>
          <p:nvPr/>
        </p:nvSpPr>
        <p:spPr bwMode="auto">
          <a:xfrm flipH="1">
            <a:off x="1949450" y="2736850"/>
            <a:ext cx="2271713" cy="9525"/>
          </a:xfrm>
          <a:prstGeom prst="line">
            <a:avLst/>
          </a:prstGeom>
          <a:noFill/>
          <a:ln w="25400">
            <a:solidFill>
              <a:srgbClr val="FF0000"/>
            </a:solidFill>
            <a:round/>
            <a:headEnd type="none" w="lg" len="med"/>
          </a:ln>
          <a:extLst>
            <a:ext uri="{909E8E84-426E-40DD-AFC4-6F175D3DCCD1}">
              <a14:hiddenFill xmlns:a14="http://schemas.microsoft.com/office/drawing/2010/main">
                <a:noFill/>
              </a14:hiddenFill>
            </a:ext>
          </a:extLst>
        </p:spPr>
        <p:txBody>
          <a:bodyPr/>
          <a:lstStyle/>
          <a:p>
            <a:endParaRPr lang="zh-CN" altLang="en-US"/>
          </a:p>
        </p:txBody>
      </p:sp>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245761"/>
          <p:cNvSpPr>
            <a:spLocks noChangeArrowheads="1"/>
          </p:cNvSpPr>
          <p:nvPr/>
        </p:nvSpPr>
        <p:spPr bwMode="auto">
          <a:xfrm>
            <a:off x="1016000" y="1314450"/>
            <a:ext cx="828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、稳定流动</a:t>
            </a:r>
            <a:endParaRPr lang="zh-CN" altLang="en-US" sz="2800" b="1" dirty="0">
              <a:latin typeface="黑体" panose="02010609060101010101" pitchFamily="49" charset="-122"/>
              <a:ea typeface="黑体" panose="02010609060101010101" pitchFamily="49" charset="-122"/>
            </a:endParaRPr>
          </a:p>
        </p:txBody>
      </p:sp>
      <p:sp>
        <p:nvSpPr>
          <p:cNvPr id="75779" name="矩形 245762"/>
          <p:cNvSpPr>
            <a:spLocks noChangeArrowheads="1"/>
          </p:cNvSpPr>
          <p:nvPr/>
        </p:nvSpPr>
        <p:spPr bwMode="auto">
          <a:xfrm>
            <a:off x="728663" y="360363"/>
            <a:ext cx="7524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latin typeface="黑体" panose="02010609060101010101" pitchFamily="49" charset="-122"/>
                <a:ea typeface="黑体" panose="02010609060101010101" pitchFamily="49" charset="-122"/>
              </a:rPr>
              <a:t>非稳定流动的能量方程各种简化形式</a:t>
            </a:r>
            <a:endParaRPr lang="zh-CN" altLang="en-US" sz="3600" b="1" dirty="0">
              <a:latin typeface="黑体" panose="02010609060101010101" pitchFamily="49" charset="-122"/>
              <a:ea typeface="黑体" panose="02010609060101010101" pitchFamily="49" charset="-122"/>
            </a:endParaRPr>
          </a:p>
        </p:txBody>
      </p:sp>
      <p:sp>
        <p:nvSpPr>
          <p:cNvPr id="75780" name="矩形 245766"/>
          <p:cNvSpPr>
            <a:spLocks noChangeArrowheads="1"/>
          </p:cNvSpPr>
          <p:nvPr/>
        </p:nvSpPr>
        <p:spPr bwMode="auto">
          <a:xfrm>
            <a:off x="2098675" y="3519488"/>
            <a:ext cx="54149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latin typeface="黑体" panose="02010609060101010101" pitchFamily="49" charset="-122"/>
                <a:ea typeface="黑体" panose="02010609060101010101" pitchFamily="49" charset="-122"/>
              </a:rPr>
              <a:t>退化为稳定流动的能量守恒方程 </a:t>
            </a:r>
            <a:endParaRPr lang="zh-CN" altLang="en-US" sz="2800" b="1" dirty="0">
              <a:latin typeface="黑体" panose="02010609060101010101" pitchFamily="49" charset="-122"/>
              <a:ea typeface="黑体" panose="02010609060101010101" pitchFamily="49" charset="-122"/>
            </a:endParaRPr>
          </a:p>
        </p:txBody>
      </p:sp>
      <p:graphicFrame>
        <p:nvGraphicFramePr>
          <p:cNvPr id="75781" name="对象 1"/>
          <p:cNvGraphicFramePr/>
          <p:nvPr/>
        </p:nvGraphicFramePr>
        <p:xfrm>
          <a:off x="711200" y="2128838"/>
          <a:ext cx="7827963" cy="922337"/>
        </p:xfrm>
        <a:graphic>
          <a:graphicData uri="http://schemas.openxmlformats.org/presentationml/2006/ole">
            <mc:AlternateContent xmlns:mc="http://schemas.openxmlformats.org/markup-compatibility/2006">
              <mc:Choice xmlns:v="urn:schemas-microsoft-com:vml" Requires="v">
                <p:oleObj spid="_x0000_s49160" name="" r:id="rId1" imgW="8576945" imgH="1050290" progId="Equation.DSMT4">
                  <p:embed/>
                </p:oleObj>
              </mc:Choice>
              <mc:Fallback>
                <p:oleObj name="" r:id="rId1" imgW="8576945" imgH="1050290" progId="Equation.DSMT4">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2128838"/>
                        <a:ext cx="78279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2" name="对象 3"/>
          <p:cNvGraphicFramePr/>
          <p:nvPr/>
        </p:nvGraphicFramePr>
        <p:xfrm>
          <a:off x="1376363" y="4598988"/>
          <a:ext cx="5775325" cy="1158875"/>
        </p:xfrm>
        <a:graphic>
          <a:graphicData uri="http://schemas.openxmlformats.org/presentationml/2006/ole">
            <mc:AlternateContent xmlns:mc="http://schemas.openxmlformats.org/markup-compatibility/2006">
              <mc:Choice xmlns:v="urn:schemas-microsoft-com:vml" Requires="v">
                <p:oleObj spid="_x0000_s49161" name="" r:id="rId3" imgW="1981200" imgH="482600" progId="Equation.DSMT4">
                  <p:embed/>
                </p:oleObj>
              </mc:Choice>
              <mc:Fallback>
                <p:oleObj name="" r:id="rId3" imgW="1981200" imgH="482600" progId="Equation.DSMT4">
                  <p:embed/>
                  <p:pic>
                    <p:nvPicPr>
                      <p:cNvPr id="0"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363" y="4598988"/>
                        <a:ext cx="5775325"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3" name="直接连接符 240661"/>
          <p:cNvSpPr>
            <a:spLocks noChangeShapeType="1"/>
          </p:cNvSpPr>
          <p:nvPr/>
        </p:nvSpPr>
        <p:spPr bwMode="auto">
          <a:xfrm flipV="1">
            <a:off x="4246563" y="2589213"/>
            <a:ext cx="4227512" cy="26987"/>
          </a:xfrm>
          <a:prstGeom prst="line">
            <a:avLst/>
          </a:prstGeom>
          <a:noFill/>
          <a:ln w="25400">
            <a:solidFill>
              <a:srgbClr val="FF0000"/>
            </a:solidFill>
            <a:round/>
            <a:headEnd type="none" w="lg"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239619"/>
          <p:cNvSpPr>
            <a:spLocks noChangeArrowheads="1"/>
          </p:cNvSpPr>
          <p:nvPr/>
        </p:nvSpPr>
        <p:spPr bwMode="auto">
          <a:xfrm>
            <a:off x="206375" y="808038"/>
            <a:ext cx="89376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000" b="1" dirty="0">
                <a:latin typeface="黑体" panose="02010609060101010101" pitchFamily="49" charset="-122"/>
                <a:ea typeface="黑体" panose="02010609060101010101" pitchFamily="49" charset="-122"/>
              </a:rPr>
              <a:t>一般来说，</a:t>
            </a:r>
            <a:r>
              <a:rPr lang="zh-CN" altLang="en-US" sz="3000" b="1" dirty="0">
                <a:solidFill>
                  <a:srgbClr val="0070C0"/>
                </a:solidFill>
                <a:latin typeface="黑体" panose="02010609060101010101" pitchFamily="49" charset="-122"/>
                <a:ea typeface="黑体" panose="02010609060101010101" pitchFamily="49" charset="-122"/>
              </a:rPr>
              <a:t>非稳定流动非常复杂</a:t>
            </a:r>
            <a:r>
              <a:rPr lang="zh-CN" altLang="en-US" sz="3000" b="1" dirty="0">
                <a:latin typeface="黑体" panose="02010609060101010101" pitchFamily="49" charset="-122"/>
                <a:ea typeface="黑体" panose="02010609060101010101" pitchFamily="49" charset="-122"/>
              </a:rPr>
              <a:t>，必须在热力学第一定律、第二定律和自然界一般规律的指导下，根据具体条件具体分析。但对于一些过程，可以做适当</a:t>
            </a:r>
            <a:r>
              <a:rPr lang="zh-CN" altLang="en-US" sz="3000" b="1" dirty="0">
                <a:solidFill>
                  <a:srgbClr val="0070C0"/>
                </a:solidFill>
                <a:latin typeface="黑体" panose="02010609060101010101" pitchFamily="49" charset="-122"/>
                <a:ea typeface="黑体" panose="02010609060101010101" pitchFamily="49" charset="-122"/>
              </a:rPr>
              <a:t>简化</a:t>
            </a:r>
            <a:r>
              <a:rPr lang="zh-CN" altLang="en-US" sz="3000" b="1" dirty="0">
                <a:latin typeface="黑体" panose="02010609060101010101" pitchFamily="49" charset="-122"/>
                <a:ea typeface="黑体" panose="02010609060101010101" pitchFamily="49" charset="-122"/>
              </a:rPr>
              <a:t>。</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239619"/>
          <p:cNvSpPr>
            <a:spLocks noChangeArrowheads="1"/>
          </p:cNvSpPr>
          <p:nvPr/>
        </p:nvSpPr>
        <p:spPr bwMode="auto">
          <a:xfrm>
            <a:off x="3328988" y="611188"/>
            <a:ext cx="5211762"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000" b="1" dirty="0">
                <a:latin typeface="黑体" panose="02010609060101010101" pitchFamily="49" charset="-122"/>
                <a:ea typeface="黑体" panose="02010609060101010101" pitchFamily="49" charset="-122"/>
              </a:rPr>
              <a:t>例如，在</a:t>
            </a:r>
            <a:r>
              <a:rPr lang="zh-CN" altLang="en-US" sz="3000" b="1" dirty="0">
                <a:solidFill>
                  <a:srgbClr val="0070C0"/>
                </a:solidFill>
                <a:latin typeface="黑体" panose="02010609060101010101" pitchFamily="49" charset="-122"/>
                <a:ea typeface="黑体" panose="02010609060101010101" pitchFamily="49" charset="-122"/>
              </a:rPr>
              <a:t>充、放气过程</a:t>
            </a:r>
            <a:r>
              <a:rPr lang="zh-CN" altLang="en-US" sz="3000" b="1" dirty="0">
                <a:latin typeface="黑体" panose="02010609060101010101" pitchFamily="49" charset="-122"/>
                <a:ea typeface="黑体" panose="02010609060101010101" pitchFamily="49" charset="-122"/>
              </a:rPr>
              <a:t>中，尽管控制体积内气体的状态随时间不断变化，但可认为：</a:t>
            </a:r>
            <a:endParaRPr lang="zh-CN" altLang="en-US" sz="3000" b="1" dirty="0">
              <a:latin typeface="黑体" panose="02010609060101010101" pitchFamily="49" charset="-122"/>
              <a:ea typeface="黑体" panose="02010609060101010101" pitchFamily="49" charset="-122"/>
            </a:endParaRPr>
          </a:p>
          <a:p>
            <a:pPr>
              <a:spcBef>
                <a:spcPct val="0"/>
              </a:spcBef>
              <a:buFontTx/>
              <a:buNone/>
            </a:pPr>
            <a:r>
              <a:rPr lang="en-US" altLang="zh-CN" sz="3000" b="1" dirty="0">
                <a:latin typeface="黑体" panose="02010609060101010101" pitchFamily="49" charset="-122"/>
                <a:ea typeface="黑体" panose="02010609060101010101" pitchFamily="49" charset="-122"/>
              </a:rPr>
              <a:t>(1)</a:t>
            </a:r>
            <a:r>
              <a:rPr lang="zh-CN" altLang="en-US" sz="3000" b="1" dirty="0">
                <a:latin typeface="黑体" panose="02010609060101010101" pitchFamily="49" charset="-122"/>
                <a:ea typeface="黑体" panose="02010609060101010101" pitchFamily="49" charset="-122"/>
              </a:rPr>
              <a:t>在每一瞬间整个</a:t>
            </a:r>
            <a:r>
              <a:rPr lang="en-US" altLang="zh-CN" sz="3000" b="1" dirty="0" err="1">
                <a:latin typeface="黑体" panose="02010609060101010101" pitchFamily="49" charset="-122"/>
                <a:ea typeface="黑体" panose="02010609060101010101" pitchFamily="49" charset="-122"/>
              </a:rPr>
              <a:t>控制</a:t>
            </a:r>
            <a:r>
              <a:rPr lang="zh-CN" altLang="en-US" sz="3000" b="1" dirty="0">
                <a:latin typeface="黑体" panose="02010609060101010101" pitchFamily="49" charset="-122"/>
                <a:ea typeface="黑体" panose="02010609060101010101" pitchFamily="49" charset="-122"/>
              </a:rPr>
              <a:t>体积内气体各处的参数是一致的（即控制体积内的气体处于均匀状态）；</a:t>
            </a:r>
            <a:endParaRPr lang="zh-CN" altLang="en-US" sz="3000" b="1" dirty="0">
              <a:latin typeface="黑体" panose="02010609060101010101" pitchFamily="49" charset="-122"/>
              <a:ea typeface="黑体" panose="02010609060101010101" pitchFamily="49" charset="-122"/>
            </a:endParaRPr>
          </a:p>
          <a:p>
            <a:pPr eaLnBrk="1" hangingPunct="1">
              <a:spcBef>
                <a:spcPct val="0"/>
              </a:spcBef>
              <a:buFontTx/>
              <a:buNone/>
            </a:pPr>
            <a:r>
              <a:rPr lang="en-US" altLang="zh-CN" sz="3000" b="1" dirty="0">
                <a:latin typeface="黑体" panose="02010609060101010101" pitchFamily="49" charset="-122"/>
                <a:ea typeface="黑体" panose="02010609060101010101" pitchFamily="49" charset="-122"/>
              </a:rPr>
              <a:t>(2)</a:t>
            </a:r>
            <a:r>
              <a:rPr lang="zh-CN" altLang="en-US" sz="3000" b="1" dirty="0">
                <a:latin typeface="黑体" panose="02010609060101010101" pitchFamily="49" charset="-122"/>
                <a:ea typeface="黑体" panose="02010609060101010101" pitchFamily="49" charset="-122"/>
              </a:rPr>
              <a:t>很多情况下，供气状态保持稳定，即通过控制体边界进入控制体的气体状态不随时间变化</a:t>
            </a:r>
            <a:endParaRPr lang="en-US" altLang="zh-CN" sz="3000" b="1" dirty="0">
              <a:latin typeface="黑体" panose="02010609060101010101" pitchFamily="49" charset="-122"/>
              <a:ea typeface="黑体" panose="02010609060101010101" pitchFamily="49" charset="-122"/>
            </a:endParaRPr>
          </a:p>
        </p:txBody>
      </p:sp>
      <p:pic>
        <p:nvPicPr>
          <p:cNvPr id="7782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54013" y="1074738"/>
            <a:ext cx="2570162" cy="399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246787"/>
          <p:cNvSpPr>
            <a:spLocks noChangeArrowheads="1"/>
          </p:cNvSpPr>
          <p:nvPr/>
        </p:nvSpPr>
        <p:spPr bwMode="auto">
          <a:xfrm>
            <a:off x="566738" y="941339"/>
            <a:ext cx="818991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宋体" panose="02010600030101010101" pitchFamily="2" charset="-122"/>
              </a:rPr>
              <a:t>一刚性绝热容器初始时为真空状态，现将容器连接于供气压力为</a:t>
            </a:r>
            <a:r>
              <a:rPr lang="en-US" altLang="zh-CN" sz="2400" b="1" i="1" dirty="0">
                <a:latin typeface="Times New Roman" panose="02020603050405020304" pitchFamily="18" charset="0"/>
              </a:rPr>
              <a:t>p</a:t>
            </a:r>
            <a:r>
              <a:rPr lang="en-US" altLang="zh-CN" sz="2400" b="1" baseline="30000" dirty="0">
                <a:latin typeface="Times New Roman" panose="02020603050405020304" pitchFamily="18" charset="0"/>
              </a:rPr>
              <a:t>*</a:t>
            </a:r>
            <a:r>
              <a:rPr lang="zh-CN" altLang="en-US" sz="2400" b="1" dirty="0">
                <a:latin typeface="宋体" panose="02010600030101010101" pitchFamily="2" charset="-122"/>
              </a:rPr>
              <a:t>，供气温度为</a:t>
            </a:r>
            <a:r>
              <a:rPr lang="en-US" altLang="zh-CN" sz="2400" b="1" i="1" dirty="0">
                <a:latin typeface="Times New Roman" panose="02020603050405020304" pitchFamily="18" charset="0"/>
              </a:rPr>
              <a:t>T</a:t>
            </a:r>
            <a:r>
              <a:rPr lang="en-US" altLang="zh-CN" sz="2400" b="1" baseline="30000" dirty="0">
                <a:latin typeface="Times New Roman" panose="02020603050405020304" pitchFamily="18" charset="0"/>
              </a:rPr>
              <a:t>*</a:t>
            </a:r>
            <a:r>
              <a:rPr lang="zh-CN" altLang="en-US" sz="2400" b="1" dirty="0">
                <a:latin typeface="宋体" panose="02010600030101010101" pitchFamily="2" charset="-122"/>
              </a:rPr>
              <a:t>，且供气的状态始终保持稳定的高压供气管道上。打开阀门后，充气过程开始，管道内的气体不断地流入刚性容器内，直到容器内气体的压力与管道内的气体压力相等，充气过程结束，阀门关闭。试确定容器内气体的最终温度。</a:t>
            </a:r>
            <a:endParaRPr lang="zh-CN" altLang="en-US" sz="2400" b="1" dirty="0">
              <a:latin typeface="宋体" panose="02010600030101010101" pitchFamily="2" charset="-122"/>
            </a:endParaRPr>
          </a:p>
        </p:txBody>
      </p:sp>
      <p:sp>
        <p:nvSpPr>
          <p:cNvPr id="78851" name="矩形 246789"/>
          <p:cNvSpPr>
            <a:spLocks noChangeArrowheads="1"/>
          </p:cNvSpPr>
          <p:nvPr/>
        </p:nvSpPr>
        <p:spPr bwMode="auto">
          <a:xfrm>
            <a:off x="0" y="2500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52" name="矩形 246790"/>
          <p:cNvSpPr>
            <a:spLocks noChangeArrowheads="1"/>
          </p:cNvSpPr>
          <p:nvPr/>
        </p:nvSpPr>
        <p:spPr bwMode="auto">
          <a:xfrm>
            <a:off x="2546350" y="188913"/>
            <a:ext cx="56261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400" b="1" dirty="0">
                <a:latin typeface="黑体" panose="02010609060101010101" pitchFamily="49" charset="-122"/>
                <a:ea typeface="黑体" panose="02010609060101010101" pitchFamily="49" charset="-122"/>
              </a:rPr>
              <a:t>例题  充气问题</a:t>
            </a:r>
            <a:endParaRPr lang="zh-CN" altLang="en-US" sz="4400" b="1" dirty="0">
              <a:latin typeface="黑体" panose="02010609060101010101" pitchFamily="49" charset="-122"/>
              <a:ea typeface="黑体" panose="02010609060101010101" pitchFamily="49" charset="-122"/>
            </a:endParaRPr>
          </a:p>
        </p:txBody>
      </p:sp>
      <p:sp>
        <p:nvSpPr>
          <p:cNvPr id="246793" name="矩形 246792"/>
          <p:cNvSpPr>
            <a:spLocks noChangeArrowheads="1"/>
          </p:cNvSpPr>
          <p:nvPr/>
        </p:nvSpPr>
        <p:spPr bwMode="auto">
          <a:xfrm>
            <a:off x="5562600" y="3519488"/>
            <a:ext cx="2970213"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FF0000"/>
                </a:solidFill>
                <a:latin typeface="黑体" panose="02010609060101010101" pitchFamily="49" charset="-122"/>
                <a:ea typeface="黑体" panose="02010609060101010101" pitchFamily="49" charset="-122"/>
              </a:rPr>
              <a:t>直观上：最终温度等于</a:t>
            </a:r>
            <a:r>
              <a:rPr lang="en-US" altLang="zh-CN" sz="2800" b="1" i="1" dirty="0">
                <a:solidFill>
                  <a:srgbClr val="FF0000"/>
                </a:solidFill>
                <a:latin typeface="Times New Roman" panose="02020603050405020304" pitchFamily="18" charset="0"/>
                <a:ea typeface="黑体" panose="02010609060101010101" pitchFamily="49" charset="-122"/>
              </a:rPr>
              <a:t>T</a:t>
            </a:r>
            <a:r>
              <a:rPr lang="en-US" altLang="zh-CN" sz="2800" b="1" baseline="30000" dirty="0">
                <a:solidFill>
                  <a:srgbClr val="FF0000"/>
                </a:solidFill>
                <a:latin typeface="Times New Roman" panose="02020603050405020304" pitchFamily="18" charset="0"/>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么？高于还是低于？</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78854" name="矩形 91143"/>
          <p:cNvSpPr>
            <a:spLocks noChangeArrowheads="1"/>
          </p:cNvSpPr>
          <p:nvPr/>
        </p:nvSpPr>
        <p:spPr bwMode="auto">
          <a:xfrm>
            <a:off x="0" y="2652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7885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08025" y="3389313"/>
            <a:ext cx="3852863"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6793"/>
                                        </p:tgtEl>
                                        <p:attrNameLst>
                                          <p:attrName>style.visibility</p:attrName>
                                        </p:attrNameLst>
                                      </p:cBhvr>
                                      <p:to>
                                        <p:strVal val="visible"/>
                                      </p:to>
                                    </p:set>
                                    <p:animEffect transition="in" filter="blinds(horizontal)">
                                      <p:cBhvr>
                                        <p:cTn id="7" dur="500"/>
                                        <p:tgtEl>
                                          <p:spTgt spid="246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247812"/>
          <p:cNvSpPr>
            <a:spLocks noChangeArrowheads="1"/>
          </p:cNvSpPr>
          <p:nvPr/>
        </p:nvSpPr>
        <p:spPr bwMode="auto">
          <a:xfrm>
            <a:off x="0" y="2500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75" name="矩形 247813"/>
          <p:cNvSpPr>
            <a:spLocks noChangeArrowheads="1"/>
          </p:cNvSpPr>
          <p:nvPr/>
        </p:nvSpPr>
        <p:spPr bwMode="auto">
          <a:xfrm>
            <a:off x="3536950" y="285750"/>
            <a:ext cx="522128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楷体_GB2312" pitchFamily="49" charset="-122"/>
                <a:ea typeface="楷体_GB2312" pitchFamily="49" charset="-122"/>
              </a:rPr>
              <a:t>以容器内的气体为研究对象，有气体流入</a:t>
            </a:r>
            <a:r>
              <a:rPr lang="en-US" altLang="zh-CN" sz="2400" b="1" dirty="0">
                <a:ea typeface="楷体_GB2312" pitchFamily="49" charset="-122"/>
              </a:rPr>
              <a:t>——</a:t>
            </a:r>
            <a:r>
              <a:rPr lang="zh-CN" altLang="en-US" sz="2400" b="1" dirty="0">
                <a:latin typeface="楷体_GB2312" pitchFamily="49" charset="-122"/>
                <a:ea typeface="楷体_GB2312" pitchFamily="49" charset="-122"/>
              </a:rPr>
              <a:t>开口系</a:t>
            </a:r>
            <a:endParaRPr lang="zh-CN" altLang="en-US" sz="2400" b="1" dirty="0">
              <a:latin typeface="楷体_GB2312" pitchFamily="49" charset="-122"/>
              <a:ea typeface="楷体_GB2312" pitchFamily="49" charset="-122"/>
            </a:endParaRPr>
          </a:p>
          <a:p>
            <a:pPr eaLnBrk="1" hangingPunct="1">
              <a:spcBef>
                <a:spcPct val="0"/>
              </a:spcBef>
              <a:buFontTx/>
              <a:buNone/>
            </a:pPr>
            <a:r>
              <a:rPr lang="zh-CN" altLang="en-US" sz="2400" b="1" dirty="0">
                <a:latin typeface="楷体_GB2312" pitchFamily="49" charset="-122"/>
                <a:ea typeface="楷体_GB2312" pitchFamily="49" charset="-122"/>
              </a:rPr>
              <a:t>开口系的质量、温度、压力等状态参数随时间变化</a:t>
            </a:r>
            <a:r>
              <a:rPr lang="en-US" altLang="zh-CN" sz="2400" b="1" dirty="0">
                <a:ea typeface="楷体_GB2312" pitchFamily="49" charset="-122"/>
              </a:rPr>
              <a:t>——</a:t>
            </a:r>
            <a:r>
              <a:rPr lang="zh-CN" altLang="en-US" sz="2400" b="1" dirty="0">
                <a:latin typeface="楷体_GB2312" pitchFamily="49" charset="-122"/>
                <a:ea typeface="楷体_GB2312" pitchFamily="49" charset="-122"/>
              </a:rPr>
              <a:t>非稳定流动过程  </a:t>
            </a:r>
            <a:endParaRPr lang="zh-CN" altLang="en-US" sz="2400" b="1" dirty="0">
              <a:latin typeface="楷体_GB2312" pitchFamily="49" charset="-122"/>
              <a:ea typeface="楷体_GB2312" pitchFamily="49" charset="-122"/>
            </a:endParaRPr>
          </a:p>
        </p:txBody>
      </p:sp>
      <p:graphicFrame>
        <p:nvGraphicFramePr>
          <p:cNvPr id="79876" name="对象 247816"/>
          <p:cNvGraphicFramePr/>
          <p:nvPr/>
        </p:nvGraphicFramePr>
        <p:xfrm>
          <a:off x="881063" y="3159125"/>
          <a:ext cx="2054225" cy="415925"/>
        </p:xfrm>
        <a:graphic>
          <a:graphicData uri="http://schemas.openxmlformats.org/presentationml/2006/ole">
            <mc:AlternateContent xmlns:mc="http://schemas.openxmlformats.org/markup-compatibility/2006">
              <mc:Choice xmlns:v="urn:schemas-microsoft-com:vml" Requires="v">
                <p:oleObj spid="_x0000_s50193" name="" r:id="rId1" imgW="1193165" imgH="241300" progId="Equation.DSMT4">
                  <p:embed/>
                </p:oleObj>
              </mc:Choice>
              <mc:Fallback>
                <p:oleObj name="" r:id="rId1" imgW="1193165" imgH="241300" progId="Equation.DSMT4">
                  <p:embed/>
                  <p:pic>
                    <p:nvPicPr>
                      <p:cNvPr id="0" name="对象 2478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3" y="3159125"/>
                        <a:ext cx="20542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877" name="对象 247818"/>
          <p:cNvGraphicFramePr/>
          <p:nvPr/>
        </p:nvGraphicFramePr>
        <p:xfrm>
          <a:off x="971550" y="3608388"/>
          <a:ext cx="1979613" cy="446087"/>
        </p:xfrm>
        <a:graphic>
          <a:graphicData uri="http://schemas.openxmlformats.org/presentationml/2006/ole">
            <mc:AlternateContent xmlns:mc="http://schemas.openxmlformats.org/markup-compatibility/2006">
              <mc:Choice xmlns:v="urn:schemas-microsoft-com:vml" Requires="v">
                <p:oleObj spid="_x0000_s50194" name="" r:id="rId3" imgW="1066165" imgH="241300" progId="Equation.DSMT4">
                  <p:embed/>
                </p:oleObj>
              </mc:Choice>
              <mc:Fallback>
                <p:oleObj name="" r:id="rId3" imgW="1066165" imgH="241300" progId="Equation.DSMT4">
                  <p:embed/>
                  <p:pic>
                    <p:nvPicPr>
                      <p:cNvPr id="0" name="对象 2478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608388"/>
                        <a:ext cx="1979613"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67" name="对象 247823"/>
          <p:cNvGraphicFramePr/>
          <p:nvPr/>
        </p:nvGraphicFramePr>
        <p:xfrm>
          <a:off x="7375525" y="2573338"/>
          <a:ext cx="938213" cy="393700"/>
        </p:xfrm>
        <a:graphic>
          <a:graphicData uri="http://schemas.openxmlformats.org/presentationml/2006/ole">
            <mc:AlternateContent xmlns:mc="http://schemas.openxmlformats.org/markup-compatibility/2006">
              <mc:Choice xmlns:v="urn:schemas-microsoft-com:vml" Requires="v">
                <p:oleObj spid="_x0000_s50195" name="" r:id="rId5" imgW="546100" imgH="228600" progId="Equation.DSMT4">
                  <p:embed/>
                </p:oleObj>
              </mc:Choice>
              <mc:Fallback>
                <p:oleObj name="" r:id="rId5" imgW="546100" imgH="228600" progId="Equation.DSMT4">
                  <p:embed/>
                  <p:pic>
                    <p:nvPicPr>
                      <p:cNvPr id="0" name="对象 24782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5525" y="2573338"/>
                        <a:ext cx="9382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7826" name="矩形 247825"/>
          <p:cNvSpPr>
            <a:spLocks noChangeArrowheads="1"/>
          </p:cNvSpPr>
          <p:nvPr/>
        </p:nvSpPr>
        <p:spPr bwMode="auto">
          <a:xfrm>
            <a:off x="566738" y="4329113"/>
            <a:ext cx="80105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dirty="0">
              <a:latin typeface="楷体_GB2312" pitchFamily="49" charset="-122"/>
              <a:ea typeface="楷体_GB2312" pitchFamily="49" charset="-122"/>
            </a:endParaRPr>
          </a:p>
          <a:p>
            <a:pPr eaLnBrk="1" hangingPunct="1">
              <a:spcBef>
                <a:spcPct val="0"/>
              </a:spcBef>
              <a:buFontTx/>
              <a:buNone/>
            </a:pP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、在整个充气过程中，认为通过边界进入容器的气体在进口时的状态不随时间变化且均匀</a:t>
            </a:r>
            <a:endParaRPr lang="zh-CN" altLang="en-US" sz="2000" b="1" dirty="0">
              <a:latin typeface="楷体_GB2312" pitchFamily="49" charset="-122"/>
              <a:ea typeface="楷体_GB2312" pitchFamily="49" charset="-122"/>
            </a:endParaRPr>
          </a:p>
          <a:p>
            <a:pPr eaLnBrk="1" hangingPunct="1">
              <a:spcBef>
                <a:spcPct val="0"/>
              </a:spcBef>
              <a:buFontTx/>
              <a:buNone/>
            </a:pP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、忽略容器入口处来流气体的宏观动能和重力势能</a:t>
            </a:r>
            <a:endParaRPr lang="zh-CN" altLang="en-US" sz="2000" b="1" dirty="0">
              <a:latin typeface="楷体_GB2312" pitchFamily="49" charset="-122"/>
              <a:ea typeface="楷体_GB2312" pitchFamily="49" charset="-122"/>
            </a:endParaRPr>
          </a:p>
          <a:p>
            <a:pPr eaLnBrk="1" hangingPunct="1">
              <a:spcBef>
                <a:spcPct val="0"/>
              </a:spcBef>
              <a:buFontTx/>
              <a:buNone/>
            </a:pP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、忽略充气过程中容器内气体的宏观动能和重力势能</a:t>
            </a:r>
            <a:endParaRPr lang="zh-CN" altLang="en-US" sz="2000" b="1" dirty="0">
              <a:latin typeface="楷体_GB2312" pitchFamily="49" charset="-122"/>
              <a:ea typeface="楷体_GB2312" pitchFamily="49" charset="-122"/>
            </a:endParaRPr>
          </a:p>
          <a:p>
            <a:pPr eaLnBrk="1" hangingPunct="1">
              <a:spcBef>
                <a:spcPct val="0"/>
              </a:spcBef>
              <a:buFontTx/>
              <a:buNone/>
            </a:pP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、在充气过程中无功量的输入和输出 </a:t>
            </a:r>
            <a:endParaRPr lang="zh-CN" altLang="en-US" sz="2000" b="1" dirty="0">
              <a:latin typeface="楷体_GB2312" pitchFamily="49" charset="-122"/>
              <a:ea typeface="楷体_GB2312" pitchFamily="49" charset="-122"/>
            </a:endParaRPr>
          </a:p>
        </p:txBody>
      </p:sp>
      <p:graphicFrame>
        <p:nvGraphicFramePr>
          <p:cNvPr id="92170" name="对象 247833"/>
          <p:cNvGraphicFramePr/>
          <p:nvPr/>
        </p:nvGraphicFramePr>
        <p:xfrm>
          <a:off x="3875088" y="3608388"/>
          <a:ext cx="1354137" cy="488950"/>
        </p:xfrm>
        <a:graphic>
          <a:graphicData uri="http://schemas.openxmlformats.org/presentationml/2006/ole">
            <mc:AlternateContent xmlns:mc="http://schemas.openxmlformats.org/markup-compatibility/2006">
              <mc:Choice xmlns:v="urn:schemas-microsoft-com:vml" Requires="v">
                <p:oleObj spid="_x0000_s50196" name="" r:id="rId7" imgW="710565" imgH="254000" progId="Equation.DSMT4">
                  <p:embed/>
                </p:oleObj>
              </mc:Choice>
              <mc:Fallback>
                <p:oleObj name="" r:id="rId7" imgW="710565" imgH="254000" progId="Equation.DSMT4">
                  <p:embed/>
                  <p:pic>
                    <p:nvPicPr>
                      <p:cNvPr id="0" name="对象 24783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5088" y="3608388"/>
                        <a:ext cx="1354137" cy="4889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7836" name="矩形 247835"/>
          <p:cNvSpPr>
            <a:spLocks noChangeArrowheads="1"/>
          </p:cNvSpPr>
          <p:nvPr/>
        </p:nvSpPr>
        <p:spPr bwMode="auto">
          <a:xfrm>
            <a:off x="5630863" y="3316992"/>
            <a:ext cx="30305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latin typeface="楷体_GB2312" pitchFamily="49" charset="-122"/>
                <a:ea typeface="楷体_GB2312" pitchFamily="49" charset="-122"/>
              </a:rPr>
              <a:t>容器内气体的热力学能的数值等于充气管道内来流气体的焓值 </a:t>
            </a:r>
            <a:endParaRPr lang="zh-CN" altLang="en-US" sz="2400" b="1" dirty="0">
              <a:solidFill>
                <a:srgbClr val="0000CC"/>
              </a:solidFill>
              <a:latin typeface="楷体_GB2312" pitchFamily="49" charset="-122"/>
              <a:ea typeface="楷体_GB2312" pitchFamily="49" charset="-122"/>
            </a:endParaRPr>
          </a:p>
        </p:txBody>
      </p:sp>
      <p:graphicFrame>
        <p:nvGraphicFramePr>
          <p:cNvPr id="79882" name="对象 92173"/>
          <p:cNvGraphicFramePr/>
          <p:nvPr/>
        </p:nvGraphicFramePr>
        <p:xfrm>
          <a:off x="881063" y="2484438"/>
          <a:ext cx="5310187" cy="484187"/>
        </p:xfrm>
        <a:graphic>
          <a:graphicData uri="http://schemas.openxmlformats.org/presentationml/2006/ole">
            <mc:AlternateContent xmlns:mc="http://schemas.openxmlformats.org/markup-compatibility/2006">
              <mc:Choice xmlns:v="urn:schemas-microsoft-com:vml" Requires="v">
                <p:oleObj spid="_x0000_s50197" name="" r:id="rId9" imgW="3022600" imgH="279400" progId="Equation.DSMT4">
                  <p:embed/>
                </p:oleObj>
              </mc:Choice>
              <mc:Fallback>
                <p:oleObj name="" r:id="rId9" imgW="3022600" imgH="279400" progId="Equation.DSMT4">
                  <p:embed/>
                  <p:pic>
                    <p:nvPicPr>
                      <p:cNvPr id="0" name="对象 9217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1063" y="2484438"/>
                        <a:ext cx="531018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83" name="矩形 92175"/>
          <p:cNvSpPr>
            <a:spLocks noChangeArrowheads="1"/>
          </p:cNvSpPr>
          <p:nvPr/>
        </p:nvSpPr>
        <p:spPr bwMode="auto">
          <a:xfrm>
            <a:off x="746125" y="3159125"/>
            <a:ext cx="2339975" cy="944563"/>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84" name="右箭头 92178"/>
          <p:cNvSpPr>
            <a:spLocks noChangeArrowheads="1"/>
          </p:cNvSpPr>
          <p:nvPr/>
        </p:nvSpPr>
        <p:spPr bwMode="auto">
          <a:xfrm rot="-2734036">
            <a:off x="3002756" y="3253582"/>
            <a:ext cx="696913" cy="247650"/>
          </a:xfrm>
          <a:prstGeom prst="rightArrow">
            <a:avLst>
              <a:gd name="adj1" fmla="val 50000"/>
              <a:gd name="adj2" fmla="val 70327"/>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79885" name="图片 1"/>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374650" y="161925"/>
            <a:ext cx="3082925"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67"/>
                                        </p:tgtEl>
                                        <p:attrNameLst>
                                          <p:attrName>style.visibility</p:attrName>
                                        </p:attrNameLst>
                                      </p:cBhvr>
                                      <p:to>
                                        <p:strVal val="visible"/>
                                      </p:to>
                                    </p:set>
                                    <p:animEffect transition="in" filter="blinds(horizontal)">
                                      <p:cBhvr>
                                        <p:cTn id="7" dur="500"/>
                                        <p:tgtEl>
                                          <p:spTgt spid="921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7826"/>
                                        </p:tgtEl>
                                        <p:attrNameLst>
                                          <p:attrName>style.visibility</p:attrName>
                                        </p:attrNameLst>
                                      </p:cBhvr>
                                      <p:to>
                                        <p:strVal val="visible"/>
                                      </p:to>
                                    </p:set>
                                    <p:animEffect transition="in" filter="blinds(horizontal)">
                                      <p:cBhvr>
                                        <p:cTn id="12" dur="500"/>
                                        <p:tgtEl>
                                          <p:spTgt spid="2478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170"/>
                                        </p:tgtEl>
                                        <p:attrNameLst>
                                          <p:attrName>style.visibility</p:attrName>
                                        </p:attrNameLst>
                                      </p:cBhvr>
                                      <p:to>
                                        <p:strVal val="visible"/>
                                      </p:to>
                                    </p:set>
                                    <p:animEffect transition="in" filter="blinds(horizontal)">
                                      <p:cBhvr>
                                        <p:cTn id="17" dur="500"/>
                                        <p:tgtEl>
                                          <p:spTgt spid="92170"/>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247836">
                                            <p:txEl>
                                              <p:pRg st="0" end="0"/>
                                            </p:txEl>
                                          </p:spTgt>
                                        </p:tgtEl>
                                        <p:attrNameLst>
                                          <p:attrName>style.visibility</p:attrName>
                                        </p:attrNameLst>
                                      </p:cBhvr>
                                      <p:to>
                                        <p:strVal val="visible"/>
                                      </p:to>
                                    </p:set>
                                    <p:animEffect transition="in" filter="blinds(horizontal)">
                                      <p:cBhvr>
                                        <p:cTn id="21" dur="500"/>
                                        <p:tgtEl>
                                          <p:spTgt spid="2478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26" grpId="0" autoUpdateAnimBg="0"/>
      <p:bldP spid="247836" grpId="0" advAuto="0" autoUpdateAnimBg="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对象 248835"/>
          <p:cNvGraphicFramePr/>
          <p:nvPr/>
        </p:nvGraphicFramePr>
        <p:xfrm>
          <a:off x="4841875" y="368300"/>
          <a:ext cx="1352550" cy="488950"/>
        </p:xfrm>
        <a:graphic>
          <a:graphicData uri="http://schemas.openxmlformats.org/presentationml/2006/ole">
            <mc:AlternateContent xmlns:mc="http://schemas.openxmlformats.org/markup-compatibility/2006">
              <mc:Choice xmlns:v="urn:schemas-microsoft-com:vml" Requires="v">
                <p:oleObj spid="_x0000_s51216" name="" r:id="rId1" imgW="710565" imgH="254000" progId="Equation.DSMT4">
                  <p:embed/>
                </p:oleObj>
              </mc:Choice>
              <mc:Fallback>
                <p:oleObj name="" r:id="rId1" imgW="710565" imgH="254000" progId="Equation.DSMT4">
                  <p:embed/>
                  <p:pic>
                    <p:nvPicPr>
                      <p:cNvPr id="0" name="对象 24883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875" y="368300"/>
                        <a:ext cx="13525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899" name="矩形 248836"/>
          <p:cNvSpPr>
            <a:spLocks noChangeArrowheads="1"/>
          </p:cNvSpPr>
          <p:nvPr/>
        </p:nvSpPr>
        <p:spPr bwMode="auto">
          <a:xfrm>
            <a:off x="3492500" y="1131243"/>
            <a:ext cx="4052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黑体" panose="02010609060101010101" pitchFamily="49" charset="-122"/>
                <a:ea typeface="黑体" panose="02010609060101010101" pitchFamily="49" charset="-122"/>
              </a:rPr>
              <a:t>假设来流气体为过热水蒸气 </a:t>
            </a:r>
            <a:endParaRPr lang="zh-CN" altLang="en-US" sz="2400" b="1" dirty="0">
              <a:latin typeface="黑体" panose="02010609060101010101" pitchFamily="49" charset="-122"/>
              <a:ea typeface="黑体" panose="02010609060101010101" pitchFamily="49" charset="-122"/>
            </a:endParaRPr>
          </a:p>
        </p:txBody>
      </p:sp>
      <p:sp>
        <p:nvSpPr>
          <p:cNvPr id="80900" name="矩形 248838"/>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93188" name="对象 248837"/>
          <p:cNvGraphicFramePr/>
          <p:nvPr/>
        </p:nvGraphicFramePr>
        <p:xfrm>
          <a:off x="3838575" y="1719263"/>
          <a:ext cx="1493838" cy="488950"/>
        </p:xfrm>
        <a:graphic>
          <a:graphicData uri="http://schemas.openxmlformats.org/presentationml/2006/ole">
            <mc:AlternateContent xmlns:mc="http://schemas.openxmlformats.org/markup-compatibility/2006">
              <mc:Choice xmlns:v="urn:schemas-microsoft-com:vml" Requires="v">
                <p:oleObj spid="_x0000_s51217" name="" r:id="rId3" imgW="698500" imgH="228600" progId="Equation.DSMT4">
                  <p:embed/>
                </p:oleObj>
              </mc:Choice>
              <mc:Fallback>
                <p:oleObj name="" r:id="rId3" imgW="698500" imgH="228600" progId="Equation.DSMT4">
                  <p:embed/>
                  <p:pic>
                    <p:nvPicPr>
                      <p:cNvPr id="0" name="对象 2488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8575" y="1719263"/>
                        <a:ext cx="14938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2" name="矩形 24884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93190" name="对象 248839"/>
          <p:cNvGraphicFramePr/>
          <p:nvPr/>
        </p:nvGraphicFramePr>
        <p:xfrm>
          <a:off x="5657850" y="1757363"/>
          <a:ext cx="1501775" cy="415925"/>
        </p:xfrm>
        <a:graphic>
          <a:graphicData uri="http://schemas.openxmlformats.org/presentationml/2006/ole">
            <mc:AlternateContent xmlns:mc="http://schemas.openxmlformats.org/markup-compatibility/2006">
              <mc:Choice xmlns:v="urn:schemas-microsoft-com:vml" Requires="v">
                <p:oleObj spid="_x0000_s51218" name="" r:id="rId5" imgW="723265" imgH="203200" progId="Equation.DSMT4">
                  <p:embed/>
                </p:oleObj>
              </mc:Choice>
              <mc:Fallback>
                <p:oleObj name="" r:id="rId5" imgW="723265" imgH="203200" progId="Equation.DSMT4">
                  <p:embed/>
                  <p:pic>
                    <p:nvPicPr>
                      <p:cNvPr id="0" name="对象 24883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7850" y="1757363"/>
                        <a:ext cx="15017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4" name="矩形 24884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93192" name="对象 248841"/>
          <p:cNvGraphicFramePr/>
          <p:nvPr/>
        </p:nvGraphicFramePr>
        <p:xfrm>
          <a:off x="5543550" y="2619375"/>
          <a:ext cx="2420938" cy="493713"/>
        </p:xfrm>
        <a:graphic>
          <a:graphicData uri="http://schemas.openxmlformats.org/presentationml/2006/ole">
            <mc:AlternateContent xmlns:mc="http://schemas.openxmlformats.org/markup-compatibility/2006">
              <mc:Choice xmlns:v="urn:schemas-microsoft-com:vml" Requires="v">
                <p:oleObj spid="_x0000_s51219" name="" r:id="rId7" imgW="1117600" imgH="228600" progId="Equation.DSMT4">
                  <p:embed/>
                </p:oleObj>
              </mc:Choice>
              <mc:Fallback>
                <p:oleObj name="" r:id="rId7" imgW="1117600" imgH="228600" progId="Equation.DSMT4">
                  <p:embed/>
                  <p:pic>
                    <p:nvPicPr>
                      <p:cNvPr id="0" name="对象 24884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43550" y="2619375"/>
                        <a:ext cx="242093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8844" name="矩形 248843"/>
          <p:cNvSpPr>
            <a:spLocks noChangeArrowheads="1"/>
          </p:cNvSpPr>
          <p:nvPr/>
        </p:nvSpPr>
        <p:spPr bwMode="auto">
          <a:xfrm>
            <a:off x="927100" y="2571750"/>
            <a:ext cx="4187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2400" b="1" dirty="0">
                <a:latin typeface="黑体" panose="02010609060101010101" pitchFamily="49" charset="-122"/>
                <a:ea typeface="黑体" panose="02010609060101010101" pitchFamily="49" charset="-122"/>
              </a:rPr>
              <a:t>查过热蒸汽表（第</a:t>
            </a:r>
            <a:r>
              <a:rPr lang="en-US" altLang="zh-CN" sz="2400" b="1" dirty="0">
                <a:latin typeface="黑体" panose="02010609060101010101" pitchFamily="49" charset="-122"/>
                <a:ea typeface="黑体" panose="02010609060101010101" pitchFamily="49" charset="-122"/>
              </a:rPr>
              <a:t>9</a:t>
            </a:r>
            <a:r>
              <a:rPr lang="zh-CN" altLang="en-US" sz="2400" b="1" dirty="0">
                <a:latin typeface="黑体" panose="02010609060101010101" pitchFamily="49" charset="-122"/>
                <a:ea typeface="黑体" panose="02010609060101010101" pitchFamily="49" charset="-122"/>
              </a:rPr>
              <a:t>章）得到 </a:t>
            </a:r>
            <a:endParaRPr lang="zh-CN" altLang="en-US" sz="2400" b="1" dirty="0">
              <a:latin typeface="黑体" panose="02010609060101010101" pitchFamily="49" charset="-122"/>
              <a:ea typeface="黑体" panose="02010609060101010101" pitchFamily="49" charset="-122"/>
            </a:endParaRPr>
          </a:p>
        </p:txBody>
      </p:sp>
      <p:sp>
        <p:nvSpPr>
          <p:cNvPr id="80907" name="矩形 24884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48846" name="对象 248845"/>
          <p:cNvGraphicFramePr/>
          <p:nvPr/>
        </p:nvGraphicFramePr>
        <p:xfrm>
          <a:off x="4662488" y="3309938"/>
          <a:ext cx="2114550" cy="433387"/>
        </p:xfrm>
        <a:graphic>
          <a:graphicData uri="http://schemas.openxmlformats.org/presentationml/2006/ole">
            <mc:AlternateContent xmlns:mc="http://schemas.openxmlformats.org/markup-compatibility/2006">
              <mc:Choice xmlns:v="urn:schemas-microsoft-com:vml" Requires="v">
                <p:oleObj spid="_x0000_s51220" name="" r:id="rId9" imgW="1117600" imgH="228600" progId="Equation.DSMT4">
                  <p:embed/>
                </p:oleObj>
              </mc:Choice>
              <mc:Fallback>
                <p:oleObj name="" r:id="rId9" imgW="1117600" imgH="228600" progId="Equation.DSMT4">
                  <p:embed/>
                  <p:pic>
                    <p:nvPicPr>
                      <p:cNvPr id="0" name="对象 24884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62488" y="3309938"/>
                        <a:ext cx="21145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8848" name="矩形 248847"/>
          <p:cNvSpPr>
            <a:spLocks noChangeArrowheads="1"/>
          </p:cNvSpPr>
          <p:nvPr/>
        </p:nvSpPr>
        <p:spPr bwMode="auto">
          <a:xfrm>
            <a:off x="927100" y="3283893"/>
            <a:ext cx="21964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2400" b="1" dirty="0">
                <a:latin typeface="黑体" panose="02010609060101010101" pitchFamily="49" charset="-122"/>
                <a:ea typeface="黑体" panose="02010609060101010101" pitchFamily="49" charset="-122"/>
              </a:rPr>
              <a:t>充气结束后， </a:t>
            </a:r>
            <a:endParaRPr lang="zh-CN" altLang="en-US" sz="2400" b="1" dirty="0">
              <a:latin typeface="黑体" panose="02010609060101010101" pitchFamily="49" charset="-122"/>
              <a:ea typeface="黑体" panose="02010609060101010101" pitchFamily="49" charset="-122"/>
            </a:endParaRPr>
          </a:p>
        </p:txBody>
      </p:sp>
      <p:sp>
        <p:nvSpPr>
          <p:cNvPr id="80910" name="矩形 24884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48849" name="对象 248848"/>
          <p:cNvGraphicFramePr/>
          <p:nvPr/>
        </p:nvGraphicFramePr>
        <p:xfrm>
          <a:off x="2951163" y="3338513"/>
          <a:ext cx="1331912" cy="438150"/>
        </p:xfrm>
        <a:graphic>
          <a:graphicData uri="http://schemas.openxmlformats.org/presentationml/2006/ole">
            <mc:AlternateContent xmlns:mc="http://schemas.openxmlformats.org/markup-compatibility/2006">
              <mc:Choice xmlns:v="urn:schemas-microsoft-com:vml" Requires="v">
                <p:oleObj spid="_x0000_s51221" name="" r:id="rId11" imgW="698500" imgH="228600" progId="Equation.DSMT4">
                  <p:embed/>
                </p:oleObj>
              </mc:Choice>
              <mc:Fallback>
                <p:oleObj name="" r:id="rId11" imgW="698500" imgH="228600" progId="Equation.DSMT4">
                  <p:embed/>
                  <p:pic>
                    <p:nvPicPr>
                      <p:cNvPr id="0" name="对象 24884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1163" y="3338513"/>
                        <a:ext cx="13319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12" name="矩形 248852"/>
          <p:cNvSpPr>
            <a:spLocks noChangeArrowheads="1"/>
          </p:cNvSpPr>
          <p:nvPr/>
        </p:nvSpPr>
        <p:spPr bwMode="auto">
          <a:xfrm>
            <a:off x="3587750" y="3594100"/>
            <a:ext cx="2047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600" b="0"/>
              <a:t> </a:t>
            </a:r>
            <a:endParaRPr lang="en-US" altLang="zh-CN" sz="1800" b="0"/>
          </a:p>
        </p:txBody>
      </p:sp>
      <p:sp>
        <p:nvSpPr>
          <p:cNvPr id="248854" name="矩形 248853"/>
          <p:cNvSpPr>
            <a:spLocks noChangeArrowheads="1"/>
          </p:cNvSpPr>
          <p:nvPr/>
        </p:nvSpPr>
        <p:spPr bwMode="auto">
          <a:xfrm>
            <a:off x="927100" y="4057650"/>
            <a:ext cx="48021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2400" b="1" dirty="0">
                <a:latin typeface="黑体" panose="02010609060101010101" pitchFamily="49" charset="-122"/>
                <a:ea typeface="黑体" panose="02010609060101010101" pitchFamily="49" charset="-122"/>
              </a:rPr>
              <a:t>再次查过热蒸汽表（第</a:t>
            </a:r>
            <a:r>
              <a:rPr lang="en-US" altLang="zh-CN" sz="2400" b="1" dirty="0">
                <a:latin typeface="黑体" panose="02010609060101010101" pitchFamily="49" charset="-122"/>
                <a:ea typeface="黑体" panose="02010609060101010101" pitchFamily="49" charset="-122"/>
              </a:rPr>
              <a:t>9</a:t>
            </a:r>
            <a:r>
              <a:rPr lang="zh-CN" altLang="en-US" sz="2400" b="1" dirty="0">
                <a:latin typeface="黑体" panose="02010609060101010101" pitchFamily="49" charset="-122"/>
                <a:ea typeface="黑体" panose="02010609060101010101" pitchFamily="49" charset="-122"/>
              </a:rPr>
              <a:t>章）得到 </a:t>
            </a:r>
            <a:endParaRPr lang="zh-CN" altLang="en-US" sz="2400" b="1" dirty="0">
              <a:latin typeface="黑体" panose="02010609060101010101" pitchFamily="49" charset="-122"/>
              <a:ea typeface="黑体" panose="02010609060101010101" pitchFamily="49" charset="-122"/>
            </a:endParaRPr>
          </a:p>
        </p:txBody>
      </p:sp>
      <p:sp>
        <p:nvSpPr>
          <p:cNvPr id="248855" name="矩形 248854"/>
          <p:cNvSpPr>
            <a:spLocks noChangeArrowheads="1"/>
          </p:cNvSpPr>
          <p:nvPr/>
        </p:nvSpPr>
        <p:spPr bwMode="auto">
          <a:xfrm>
            <a:off x="3671888" y="1673225"/>
            <a:ext cx="3509962" cy="53975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8856" name="矩形 248855"/>
          <p:cNvSpPr>
            <a:spLocks noChangeArrowheads="1"/>
          </p:cNvSpPr>
          <p:nvPr/>
        </p:nvSpPr>
        <p:spPr bwMode="auto">
          <a:xfrm>
            <a:off x="2906713" y="3294063"/>
            <a:ext cx="3914775" cy="53975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8857" name="直接连接符 248856"/>
          <p:cNvSpPr>
            <a:spLocks noChangeShapeType="1"/>
          </p:cNvSpPr>
          <p:nvPr/>
        </p:nvSpPr>
        <p:spPr bwMode="auto">
          <a:xfrm>
            <a:off x="5607050" y="2259013"/>
            <a:ext cx="269875" cy="314325"/>
          </a:xfrm>
          <a:prstGeom prst="line">
            <a:avLst/>
          </a:prstGeom>
          <a:noFill/>
          <a:ln w="25400">
            <a:solidFill>
              <a:schemeClr val="fo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8858" name="直接连接符 248857"/>
          <p:cNvSpPr>
            <a:spLocks noChangeShapeType="1"/>
          </p:cNvSpPr>
          <p:nvPr/>
        </p:nvSpPr>
        <p:spPr bwMode="auto">
          <a:xfrm>
            <a:off x="6102350" y="3833813"/>
            <a:ext cx="269875" cy="314325"/>
          </a:xfrm>
          <a:prstGeom prst="line">
            <a:avLst/>
          </a:prstGeom>
          <a:noFill/>
          <a:ln w="25400">
            <a:solidFill>
              <a:schemeClr val="fo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8859" name="对象 248858"/>
          <p:cNvGraphicFramePr/>
          <p:nvPr/>
        </p:nvGraphicFramePr>
        <p:xfrm>
          <a:off x="6146800" y="4103688"/>
          <a:ext cx="1528763" cy="420687"/>
        </p:xfrm>
        <a:graphic>
          <a:graphicData uri="http://schemas.openxmlformats.org/presentationml/2006/ole">
            <mc:AlternateContent xmlns:mc="http://schemas.openxmlformats.org/markup-compatibility/2006">
              <mc:Choice xmlns:v="urn:schemas-microsoft-com:vml" Requires="v">
                <p:oleObj spid="_x0000_s51222" name="" r:id="rId13" imgW="862965" imgH="241300" progId="Equation.DSMT4">
                  <p:embed/>
                </p:oleObj>
              </mc:Choice>
              <mc:Fallback>
                <p:oleObj name="" r:id="rId13" imgW="862965" imgH="241300" progId="Equation.DSMT4">
                  <p:embed/>
                  <p:pic>
                    <p:nvPicPr>
                      <p:cNvPr id="0" name="对象 24885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46800" y="4103688"/>
                        <a:ext cx="15287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8861" name="矩形 248860"/>
          <p:cNvSpPr>
            <a:spLocks noChangeArrowheads="1"/>
          </p:cNvSpPr>
          <p:nvPr/>
        </p:nvSpPr>
        <p:spPr bwMode="auto">
          <a:xfrm>
            <a:off x="701675" y="4868863"/>
            <a:ext cx="7847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latin typeface="黑体" panose="02010609060101010101" pitchFamily="49" charset="-122"/>
                <a:ea typeface="黑体" panose="02010609060101010101" pitchFamily="49" charset="-122"/>
              </a:rPr>
              <a:t>容器中气体的温度</a:t>
            </a:r>
            <a:r>
              <a:rPr lang="zh-CN" altLang="en-US" sz="2400" b="1" dirty="0">
                <a:latin typeface="黑体" panose="02010609060101010101" pitchFamily="49" charset="-122"/>
                <a:ea typeface="黑体" panose="02010609060101010101" pitchFamily="49" charset="-122"/>
              </a:rPr>
              <a:t>比充气管道中气体的温度</a:t>
            </a:r>
            <a:r>
              <a:rPr lang="zh-CN" altLang="en-US" sz="2400" b="1" dirty="0">
                <a:solidFill>
                  <a:srgbClr val="0000CC"/>
                </a:solidFill>
                <a:latin typeface="黑体" panose="02010609060101010101" pitchFamily="49" charset="-122"/>
                <a:ea typeface="黑体" panose="02010609060101010101" pitchFamily="49" charset="-122"/>
              </a:rPr>
              <a:t>高了</a:t>
            </a:r>
            <a:r>
              <a:rPr lang="en-US" altLang="zh-CN" sz="2400" b="1" dirty="0">
                <a:solidFill>
                  <a:srgbClr val="0000CC"/>
                </a:solidFill>
                <a:latin typeface="黑体" panose="02010609060101010101" pitchFamily="49" charset="-122"/>
                <a:ea typeface="黑体" panose="02010609060101010101" pitchFamily="49" charset="-122"/>
              </a:rPr>
              <a:t>156℃</a:t>
            </a:r>
            <a:r>
              <a:rPr lang="zh-CN" altLang="en-US" sz="2400" b="1" dirty="0">
                <a:solidFill>
                  <a:srgbClr val="0000CC"/>
                </a:solidFill>
                <a:latin typeface="黑体" panose="02010609060101010101" pitchFamily="49" charset="-122"/>
                <a:ea typeface="黑体" panose="02010609060101010101" pitchFamily="49" charset="-122"/>
              </a:rPr>
              <a:t>！ </a:t>
            </a:r>
            <a:endParaRPr lang="zh-CN" altLang="en-US" sz="2400" b="1" dirty="0">
              <a:solidFill>
                <a:srgbClr val="0000CC"/>
              </a:solidFill>
              <a:latin typeface="黑体" panose="02010609060101010101" pitchFamily="49" charset="-122"/>
              <a:ea typeface="黑体" panose="02010609060101010101" pitchFamily="49" charset="-122"/>
            </a:endParaRPr>
          </a:p>
        </p:txBody>
      </p:sp>
      <p:pic>
        <p:nvPicPr>
          <p:cNvPr id="80920" name="图片 1"/>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41300" y="160338"/>
            <a:ext cx="3376613" cy="228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6"/>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blinds(horizontal)">
                                      <p:cBhvr>
                                        <p:cTn id="7" dur="500"/>
                                        <p:tgtEl>
                                          <p:spTgt spid="93188"/>
                                        </p:tgtEl>
                                      </p:cBhvr>
                                    </p:animEffect>
                                  </p:childTnLst>
                                </p:cTn>
                              </p:par>
                              <p:par>
                                <p:cTn id="8" presetID="3" presetClass="entr" presetSubtype="10" fill="hold" nodeType="withEffect">
                                  <p:stCondLst>
                                    <p:cond delay="0"/>
                                  </p:stCondLst>
                                  <p:childTnLst>
                                    <p:set>
                                      <p:cBhvr>
                                        <p:cTn id="9" dur="1" fill="hold">
                                          <p:stCondLst>
                                            <p:cond delay="0"/>
                                          </p:stCondLst>
                                        </p:cTn>
                                        <p:tgtEl>
                                          <p:spTgt spid="93190"/>
                                        </p:tgtEl>
                                        <p:attrNameLst>
                                          <p:attrName>style.visibility</p:attrName>
                                        </p:attrNameLst>
                                      </p:cBhvr>
                                      <p:to>
                                        <p:strVal val="visible"/>
                                      </p:to>
                                    </p:set>
                                    <p:animEffect transition="in" filter="blinds(horizontal)">
                                      <p:cBhvr>
                                        <p:cTn id="10" dur="500"/>
                                        <p:tgtEl>
                                          <p:spTgt spid="93190"/>
                                        </p:tgtEl>
                                      </p:cBhvr>
                                    </p:animEffect>
                                  </p:childTnLst>
                                </p:cTn>
                              </p:par>
                              <p:par>
                                <p:cTn id="11" presetID="3" presetClass="entr" presetSubtype="10" fill="hold" nodeType="withEffect">
                                  <p:stCondLst>
                                    <p:cond delay="0"/>
                                  </p:stCondLst>
                                  <p:childTnLst>
                                    <p:set>
                                      <p:cBhvr>
                                        <p:cTn id="12" dur="1" fill="hold">
                                          <p:stCondLst>
                                            <p:cond delay="0"/>
                                          </p:stCondLst>
                                        </p:cTn>
                                        <p:tgtEl>
                                          <p:spTgt spid="248855"/>
                                        </p:tgtEl>
                                        <p:attrNameLst>
                                          <p:attrName>style.visibility</p:attrName>
                                        </p:attrNameLst>
                                      </p:cBhvr>
                                      <p:to>
                                        <p:strVal val="visible"/>
                                      </p:to>
                                    </p:set>
                                    <p:animEffect transition="in" filter="blinds(horizontal)">
                                      <p:cBhvr>
                                        <p:cTn id="13" dur="500"/>
                                        <p:tgtEl>
                                          <p:spTgt spid="24885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48857"/>
                                        </p:tgtEl>
                                        <p:attrNameLst>
                                          <p:attrName>style.visibility</p:attrName>
                                        </p:attrNameLst>
                                      </p:cBhvr>
                                      <p:to>
                                        <p:strVal val="visible"/>
                                      </p:to>
                                    </p:set>
                                    <p:animEffect transition="in" filter="blinds(horizontal)">
                                      <p:cBhvr>
                                        <p:cTn id="18" dur="500"/>
                                        <p:tgtEl>
                                          <p:spTgt spid="24885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48844"/>
                                        </p:tgtEl>
                                        <p:attrNameLst>
                                          <p:attrName>style.visibility</p:attrName>
                                        </p:attrNameLst>
                                      </p:cBhvr>
                                      <p:to>
                                        <p:strVal val="visible"/>
                                      </p:to>
                                    </p:set>
                                    <p:animEffect transition="in" filter="blinds(horizontal)">
                                      <p:cBhvr>
                                        <p:cTn id="21" dur="500"/>
                                        <p:tgtEl>
                                          <p:spTgt spid="248844"/>
                                        </p:tgtEl>
                                      </p:cBhvr>
                                    </p:animEffect>
                                  </p:childTnLst>
                                </p:cTn>
                              </p:par>
                              <p:par>
                                <p:cTn id="22" presetID="3" presetClass="entr" presetSubtype="10" fill="hold" nodeType="withEffect">
                                  <p:stCondLst>
                                    <p:cond delay="0"/>
                                  </p:stCondLst>
                                  <p:childTnLst>
                                    <p:set>
                                      <p:cBhvr>
                                        <p:cTn id="23" dur="1" fill="hold">
                                          <p:stCondLst>
                                            <p:cond delay="0"/>
                                          </p:stCondLst>
                                        </p:cTn>
                                        <p:tgtEl>
                                          <p:spTgt spid="93192"/>
                                        </p:tgtEl>
                                        <p:attrNameLst>
                                          <p:attrName>style.visibility</p:attrName>
                                        </p:attrNameLst>
                                      </p:cBhvr>
                                      <p:to>
                                        <p:strVal val="visible"/>
                                      </p:to>
                                    </p:set>
                                    <p:animEffect transition="in" filter="blinds(horizontal)">
                                      <p:cBhvr>
                                        <p:cTn id="24" dur="500"/>
                                        <p:tgtEl>
                                          <p:spTgt spid="9319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48848"/>
                                        </p:tgtEl>
                                        <p:attrNameLst>
                                          <p:attrName>style.visibility</p:attrName>
                                        </p:attrNameLst>
                                      </p:cBhvr>
                                      <p:to>
                                        <p:strVal val="visible"/>
                                      </p:to>
                                    </p:set>
                                    <p:animEffect transition="in" filter="blinds(horizontal)">
                                      <p:cBhvr>
                                        <p:cTn id="29" dur="500"/>
                                        <p:tgtEl>
                                          <p:spTgt spid="248848"/>
                                        </p:tgtEl>
                                      </p:cBhvr>
                                    </p:animEffect>
                                  </p:childTnLst>
                                </p:cTn>
                              </p:par>
                              <p:par>
                                <p:cTn id="30" presetID="3" presetClass="entr" presetSubtype="10" fill="hold" nodeType="withEffect">
                                  <p:stCondLst>
                                    <p:cond delay="0"/>
                                  </p:stCondLst>
                                  <p:childTnLst>
                                    <p:set>
                                      <p:cBhvr>
                                        <p:cTn id="31" dur="1" fill="hold">
                                          <p:stCondLst>
                                            <p:cond delay="0"/>
                                          </p:stCondLst>
                                        </p:cTn>
                                        <p:tgtEl>
                                          <p:spTgt spid="248849"/>
                                        </p:tgtEl>
                                        <p:attrNameLst>
                                          <p:attrName>style.visibility</p:attrName>
                                        </p:attrNameLst>
                                      </p:cBhvr>
                                      <p:to>
                                        <p:strVal val="visible"/>
                                      </p:to>
                                    </p:set>
                                    <p:animEffect transition="in" filter="blinds(horizontal)">
                                      <p:cBhvr>
                                        <p:cTn id="32" dur="500"/>
                                        <p:tgtEl>
                                          <p:spTgt spid="248849"/>
                                        </p:tgtEl>
                                      </p:cBhvr>
                                    </p:animEffect>
                                  </p:childTnLst>
                                </p:cTn>
                              </p:par>
                              <p:par>
                                <p:cTn id="33" presetID="3" presetClass="entr" presetSubtype="10" fill="hold" nodeType="withEffect">
                                  <p:stCondLst>
                                    <p:cond delay="0"/>
                                  </p:stCondLst>
                                  <p:childTnLst>
                                    <p:set>
                                      <p:cBhvr>
                                        <p:cTn id="34" dur="1" fill="hold">
                                          <p:stCondLst>
                                            <p:cond delay="0"/>
                                          </p:stCondLst>
                                        </p:cTn>
                                        <p:tgtEl>
                                          <p:spTgt spid="248846"/>
                                        </p:tgtEl>
                                        <p:attrNameLst>
                                          <p:attrName>style.visibility</p:attrName>
                                        </p:attrNameLst>
                                      </p:cBhvr>
                                      <p:to>
                                        <p:strVal val="visible"/>
                                      </p:to>
                                    </p:set>
                                    <p:animEffect transition="in" filter="blinds(horizontal)">
                                      <p:cBhvr>
                                        <p:cTn id="35" dur="500"/>
                                        <p:tgtEl>
                                          <p:spTgt spid="248846"/>
                                        </p:tgtEl>
                                      </p:cBhvr>
                                    </p:animEffect>
                                  </p:childTnLst>
                                </p:cTn>
                              </p:par>
                              <p:par>
                                <p:cTn id="36" presetID="3" presetClass="entr" presetSubtype="10" fill="hold" nodeType="withEffect">
                                  <p:stCondLst>
                                    <p:cond delay="0"/>
                                  </p:stCondLst>
                                  <p:childTnLst>
                                    <p:set>
                                      <p:cBhvr>
                                        <p:cTn id="37" dur="1" fill="hold">
                                          <p:stCondLst>
                                            <p:cond delay="0"/>
                                          </p:stCondLst>
                                        </p:cTn>
                                        <p:tgtEl>
                                          <p:spTgt spid="248856"/>
                                        </p:tgtEl>
                                        <p:attrNameLst>
                                          <p:attrName>style.visibility</p:attrName>
                                        </p:attrNameLst>
                                      </p:cBhvr>
                                      <p:to>
                                        <p:strVal val="visible"/>
                                      </p:to>
                                    </p:set>
                                    <p:animEffect transition="in" filter="blinds(horizontal)">
                                      <p:cBhvr>
                                        <p:cTn id="38" dur="500"/>
                                        <p:tgtEl>
                                          <p:spTgt spid="248856"/>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48854"/>
                                        </p:tgtEl>
                                        <p:attrNameLst>
                                          <p:attrName>style.visibility</p:attrName>
                                        </p:attrNameLst>
                                      </p:cBhvr>
                                      <p:to>
                                        <p:strVal val="visible"/>
                                      </p:to>
                                    </p:set>
                                    <p:animEffect transition="in" filter="blinds(horizontal)">
                                      <p:cBhvr>
                                        <p:cTn id="43" dur="500"/>
                                        <p:tgtEl>
                                          <p:spTgt spid="248854"/>
                                        </p:tgtEl>
                                      </p:cBhvr>
                                    </p:animEffect>
                                  </p:childTnLst>
                                </p:cTn>
                              </p:par>
                              <p:par>
                                <p:cTn id="44" presetID="3" presetClass="entr" presetSubtype="10" fill="hold" nodeType="withEffect">
                                  <p:stCondLst>
                                    <p:cond delay="0"/>
                                  </p:stCondLst>
                                  <p:childTnLst>
                                    <p:set>
                                      <p:cBhvr>
                                        <p:cTn id="45" dur="1" fill="hold">
                                          <p:stCondLst>
                                            <p:cond delay="0"/>
                                          </p:stCondLst>
                                        </p:cTn>
                                        <p:tgtEl>
                                          <p:spTgt spid="248858"/>
                                        </p:tgtEl>
                                        <p:attrNameLst>
                                          <p:attrName>style.visibility</p:attrName>
                                        </p:attrNameLst>
                                      </p:cBhvr>
                                      <p:to>
                                        <p:strVal val="visible"/>
                                      </p:to>
                                    </p:set>
                                    <p:animEffect transition="in" filter="blinds(horizontal)">
                                      <p:cBhvr>
                                        <p:cTn id="46" dur="500"/>
                                        <p:tgtEl>
                                          <p:spTgt spid="248858"/>
                                        </p:tgtEl>
                                      </p:cBhvr>
                                    </p:animEffect>
                                  </p:childTnLst>
                                </p:cTn>
                              </p:par>
                              <p:par>
                                <p:cTn id="47" presetID="3" presetClass="entr" presetSubtype="10" fill="hold" nodeType="withEffect">
                                  <p:stCondLst>
                                    <p:cond delay="0"/>
                                  </p:stCondLst>
                                  <p:childTnLst>
                                    <p:set>
                                      <p:cBhvr>
                                        <p:cTn id="48" dur="1" fill="hold">
                                          <p:stCondLst>
                                            <p:cond delay="0"/>
                                          </p:stCondLst>
                                        </p:cTn>
                                        <p:tgtEl>
                                          <p:spTgt spid="248859"/>
                                        </p:tgtEl>
                                        <p:attrNameLst>
                                          <p:attrName>style.visibility</p:attrName>
                                        </p:attrNameLst>
                                      </p:cBhvr>
                                      <p:to>
                                        <p:strVal val="visible"/>
                                      </p:to>
                                    </p:set>
                                    <p:animEffect transition="in" filter="blinds(horizontal)">
                                      <p:cBhvr>
                                        <p:cTn id="49" dur="500"/>
                                        <p:tgtEl>
                                          <p:spTgt spid="24885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48861"/>
                                        </p:tgtEl>
                                        <p:attrNameLst>
                                          <p:attrName>style.visibility</p:attrName>
                                        </p:attrNameLst>
                                      </p:cBhvr>
                                      <p:to>
                                        <p:strVal val="visible"/>
                                      </p:to>
                                    </p:set>
                                    <p:animEffect transition="in" filter="blinds(horizontal)">
                                      <p:cBhvr>
                                        <p:cTn id="54" dur="500"/>
                                        <p:tgtEl>
                                          <p:spTgt spid="248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4" grpId="0"/>
      <p:bldP spid="248848" grpId="0"/>
      <p:bldP spid="248854" grpId="0"/>
      <p:bldP spid="24886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627438" y="188913"/>
            <a:ext cx="3005137"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63" name="矩形 249862"/>
          <p:cNvSpPr>
            <a:spLocks noChangeArrowheads="1"/>
          </p:cNvSpPr>
          <p:nvPr/>
        </p:nvSpPr>
        <p:spPr bwMode="auto">
          <a:xfrm>
            <a:off x="476250" y="4032250"/>
            <a:ext cx="81010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latin typeface="黑体" panose="02010609060101010101" pitchFamily="49" charset="-122"/>
                <a:ea typeface="黑体" panose="02010609060101010101" pitchFamily="49" charset="-122"/>
              </a:rPr>
              <a:t>管道中的气体在流入容器中时，其携带的能量为</a:t>
            </a:r>
            <a:r>
              <a:rPr lang="en-US" altLang="zh-CN" sz="2800" b="1" i="1" dirty="0">
                <a:latin typeface="Times New Roman" panose="02020603050405020304" pitchFamily="18" charset="0"/>
                <a:ea typeface="黑体" panose="02010609060101010101" pitchFamily="49" charset="-122"/>
              </a:rPr>
              <a:t>h</a:t>
            </a:r>
            <a:r>
              <a:rPr lang="en-US" altLang="zh-CN" sz="2800" b="1" i="1" baseline="30000" dirty="0">
                <a:latin typeface="Times New Roman" panose="02020603050405020304" pitchFamily="18" charset="0"/>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，这不仅包括了气体的热力学能</a:t>
            </a:r>
            <a:r>
              <a:rPr lang="en-US" altLang="zh-CN" sz="2800" b="1" i="1" dirty="0">
                <a:latin typeface="Times New Roman" panose="02020603050405020304" pitchFamily="18" charset="0"/>
                <a:ea typeface="黑体" panose="02010609060101010101" pitchFamily="49" charset="-122"/>
              </a:rPr>
              <a:t>u</a:t>
            </a:r>
            <a:r>
              <a:rPr lang="en-US" altLang="zh-CN" sz="2800" b="1" i="1" baseline="30000" dirty="0">
                <a:latin typeface="Times New Roman" panose="02020603050405020304" pitchFamily="18" charset="0"/>
                <a:ea typeface="黑体" panose="02010609060101010101" pitchFamily="49" charset="-122"/>
              </a:rPr>
              <a:t>*</a:t>
            </a:r>
            <a:r>
              <a:rPr lang="en-US" altLang="zh-CN" sz="2800" b="1" i="1" baseline="-25000" dirty="0">
                <a:latin typeface="Times New Roman" panose="02020603050405020304" pitchFamily="18" charset="0"/>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，还包括了其携带的流动功（也称为流动能）</a:t>
            </a:r>
            <a:r>
              <a:rPr lang="en-US" altLang="zh-CN" sz="2800" b="1" i="1" dirty="0">
                <a:latin typeface="Times New Roman" panose="02020603050405020304" pitchFamily="18" charset="0"/>
                <a:ea typeface="黑体" panose="02010609060101010101" pitchFamily="49" charset="-122"/>
              </a:rPr>
              <a:t>p</a:t>
            </a:r>
            <a:r>
              <a:rPr lang="en-US" altLang="zh-CN" sz="2800" b="1" i="1" baseline="30000" dirty="0">
                <a:latin typeface="Times New Roman" panose="02020603050405020304" pitchFamily="18" charset="0"/>
                <a:ea typeface="黑体" panose="02010609060101010101" pitchFamily="49" charset="-122"/>
              </a:rPr>
              <a:t>*</a:t>
            </a:r>
            <a:r>
              <a:rPr lang="en-US" altLang="zh-CN" sz="2800" b="1" baseline="30000" dirty="0"/>
              <a:t> </a:t>
            </a:r>
            <a:r>
              <a:rPr lang="en-US" altLang="zh-CN" sz="2800" b="1" i="1" dirty="0">
                <a:latin typeface="Times New Roman" panose="02020603050405020304" pitchFamily="18" charset="0"/>
                <a:ea typeface="黑体" panose="02010609060101010101" pitchFamily="49" charset="-122"/>
              </a:rPr>
              <a:t>v</a:t>
            </a:r>
            <a:r>
              <a:rPr lang="en-US" altLang="zh-CN" sz="2800" b="1" i="1" baseline="30000" dirty="0">
                <a:latin typeface="Times New Roman" panose="02020603050405020304" pitchFamily="18" charset="0"/>
                <a:ea typeface="黑体" panose="02010609060101010101" pitchFamily="49" charset="-122"/>
              </a:rPr>
              <a:t>*</a:t>
            </a:r>
            <a:r>
              <a:rPr lang="en-US" altLang="zh-CN" sz="2800" b="1" dirty="0"/>
              <a:t> </a:t>
            </a:r>
            <a:r>
              <a:rPr lang="zh-CN" altLang="en-US" sz="2800" b="1" dirty="0">
                <a:latin typeface="黑体" panose="02010609060101010101" pitchFamily="49" charset="-122"/>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这部分流动功也将转化为容器中气体的热力学能</a:t>
            </a:r>
            <a:r>
              <a:rPr lang="zh-CN" altLang="en-US" sz="2800" b="1" dirty="0">
                <a:latin typeface="黑体" panose="02010609060101010101" pitchFamily="49" charset="-122"/>
                <a:ea typeface="黑体" panose="02010609060101010101" pitchFamily="49" charset="-122"/>
              </a:rPr>
              <a:t>，从而使得容器中气体的温度比管道中气体的温度高。 </a:t>
            </a:r>
            <a:endParaRPr lang="zh-CN" altLang="en-US" sz="2800" b="1" dirty="0">
              <a:latin typeface="黑体" panose="02010609060101010101" pitchFamily="49" charset="-122"/>
              <a:ea typeface="黑体" panose="02010609060101010101" pitchFamily="49" charset="-122"/>
            </a:endParaRPr>
          </a:p>
        </p:txBody>
      </p:sp>
      <p:sp>
        <p:nvSpPr>
          <p:cNvPr id="81924" name="矩形 249867"/>
          <p:cNvSpPr>
            <a:spLocks noChangeArrowheads="1"/>
          </p:cNvSpPr>
          <p:nvPr/>
        </p:nvSpPr>
        <p:spPr bwMode="auto">
          <a:xfrm>
            <a:off x="393700" y="2738438"/>
            <a:ext cx="85772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黑体" panose="02010609060101010101" pitchFamily="49" charset="-122"/>
                <a:ea typeface="黑体" panose="02010609060101010101" pitchFamily="49" charset="-122"/>
              </a:rPr>
              <a:t>为什么容器中气体的温度比充气管道中气体的温度</a:t>
            </a:r>
            <a:r>
              <a:rPr lang="zh-CN" altLang="en-US" b="1" dirty="0">
                <a:solidFill>
                  <a:srgbClr val="0000CC"/>
                </a:solidFill>
                <a:latin typeface="黑体" panose="02010609060101010101" pitchFamily="49" charset="-122"/>
                <a:ea typeface="黑体" panose="02010609060101010101" pitchFamily="49" charset="-122"/>
              </a:rPr>
              <a:t>高</a:t>
            </a:r>
            <a:r>
              <a:rPr lang="en-US" altLang="zh-CN" b="1" dirty="0">
                <a:solidFill>
                  <a:srgbClr val="0000CC"/>
                </a:solidFill>
                <a:latin typeface="黑体" panose="02010609060101010101" pitchFamily="49" charset="-122"/>
                <a:ea typeface="黑体" panose="02010609060101010101" pitchFamily="49" charset="-122"/>
              </a:rPr>
              <a:t>156℃</a:t>
            </a:r>
            <a:r>
              <a:rPr lang="zh-CN" altLang="en-US" b="1" dirty="0">
                <a:solidFill>
                  <a:srgbClr val="0000CC"/>
                </a:solidFill>
                <a:latin typeface="黑体" panose="02010609060101010101" pitchFamily="49" charset="-122"/>
                <a:ea typeface="黑体" panose="02010609060101010101" pitchFamily="49" charset="-122"/>
              </a:rPr>
              <a:t>？</a:t>
            </a:r>
            <a:r>
              <a:rPr lang="zh-CN" altLang="en-US" sz="2400" b="1" dirty="0">
                <a:solidFill>
                  <a:srgbClr val="0000CC"/>
                </a:solidFill>
                <a:latin typeface="黑体" panose="02010609060101010101" pitchFamily="49" charset="-122"/>
                <a:ea typeface="黑体" panose="02010609060101010101" pitchFamily="49" charset="-122"/>
              </a:rPr>
              <a:t> </a:t>
            </a:r>
            <a:endParaRPr lang="zh-CN" altLang="en-US" sz="2400" b="1" dirty="0">
              <a:solidFill>
                <a:srgbClr val="0000CC"/>
              </a:solidFill>
              <a:latin typeface="黑体" panose="02010609060101010101" pitchFamily="49" charset="-122"/>
              <a:ea typeface="黑体" panose="02010609060101010101" pitchFamily="49" charset="-122"/>
            </a:endParaRPr>
          </a:p>
        </p:txBody>
      </p:sp>
      <p:sp>
        <p:nvSpPr>
          <p:cNvPr id="81925" name="矩形 249868"/>
          <p:cNvSpPr>
            <a:spLocks noChangeArrowheads="1"/>
          </p:cNvSpPr>
          <p:nvPr/>
        </p:nvSpPr>
        <p:spPr bwMode="auto">
          <a:xfrm>
            <a:off x="2906713" y="366713"/>
            <a:ext cx="1890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solidFill>
                  <a:srgbClr val="FF0000"/>
                </a:solidFill>
              </a:rPr>
              <a:t>300℃</a:t>
            </a:r>
            <a:endParaRPr lang="en-US" altLang="zh-CN" sz="1800">
              <a:solidFill>
                <a:srgbClr val="FF0000"/>
              </a:solidFill>
            </a:endParaRPr>
          </a:p>
        </p:txBody>
      </p:sp>
      <p:sp>
        <p:nvSpPr>
          <p:cNvPr id="81926" name="矩形 249869"/>
          <p:cNvSpPr>
            <a:spLocks noChangeArrowheads="1"/>
          </p:cNvSpPr>
          <p:nvPr/>
        </p:nvSpPr>
        <p:spPr bwMode="auto">
          <a:xfrm>
            <a:off x="4494213" y="1552575"/>
            <a:ext cx="1484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dirty="0">
                <a:solidFill>
                  <a:srgbClr val="FF0000"/>
                </a:solidFill>
              </a:rPr>
              <a:t>456.2℃</a:t>
            </a:r>
            <a:endParaRPr lang="en-US" altLang="zh-CN" sz="1800" dirty="0">
              <a:solidFill>
                <a:srgbClr val="FF0000"/>
              </a:solidFill>
            </a:endParaRP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863"/>
                                        </p:tgtEl>
                                        <p:attrNameLst>
                                          <p:attrName>style.visibility</p:attrName>
                                        </p:attrNameLst>
                                      </p:cBhvr>
                                      <p:to>
                                        <p:strVal val="visible"/>
                                      </p:to>
                                    </p:set>
                                    <p:animEffect transition="in" filter="blinds(horizontal)">
                                      <p:cBhvr>
                                        <p:cTn id="7" dur="500"/>
                                        <p:tgtEl>
                                          <p:spTgt spid="249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249867"/>
          <p:cNvSpPr>
            <a:spLocks noChangeArrowheads="1"/>
          </p:cNvSpPr>
          <p:nvPr/>
        </p:nvSpPr>
        <p:spPr bwMode="auto">
          <a:xfrm>
            <a:off x="407988" y="342424"/>
            <a:ext cx="8577262"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黑体" panose="02010609060101010101" pitchFamily="49" charset="-122"/>
                <a:ea typeface="黑体" panose="02010609060101010101" pitchFamily="49" charset="-122"/>
              </a:rPr>
              <a:t>充、放气</a:t>
            </a:r>
            <a:r>
              <a:rPr lang="zh-CN" altLang="en-US" b="1" dirty="0" smtClean="0">
                <a:latin typeface="黑体" panose="02010609060101010101" pitchFamily="49" charset="-122"/>
                <a:ea typeface="黑体" panose="02010609060101010101" pitchFamily="49" charset="-122"/>
              </a:rPr>
              <a:t>问题</a:t>
            </a:r>
            <a:r>
              <a:rPr lang="zh-CN" altLang="en-US" b="1" dirty="0">
                <a:latin typeface="黑体" panose="02010609060101010101" pitchFamily="49" charset="-122"/>
                <a:ea typeface="黑体" panose="02010609060101010101" pitchFamily="49" charset="-122"/>
              </a:rPr>
              <a:t>的</a:t>
            </a:r>
            <a:r>
              <a:rPr lang="zh-CN" altLang="en-US" b="1" dirty="0" smtClean="0">
                <a:latin typeface="黑体" panose="02010609060101010101" pitchFamily="49" charset="-122"/>
                <a:ea typeface="黑体" panose="02010609060101010101" pitchFamily="49" charset="-122"/>
              </a:rPr>
              <a:t>其他题型</a:t>
            </a:r>
            <a:endParaRPr lang="zh-CN" altLang="en-US" sz="2400" b="1" dirty="0">
              <a:solidFill>
                <a:srgbClr val="0000CC"/>
              </a:solidFill>
              <a:latin typeface="黑体" panose="02010609060101010101" pitchFamily="49" charset="-122"/>
              <a:ea typeface="黑体" panose="02010609060101010101" pitchFamily="49" charset="-122"/>
            </a:endParaRPr>
          </a:p>
        </p:txBody>
      </p:sp>
      <p:sp>
        <p:nvSpPr>
          <p:cNvPr id="82947" name="矩形 249867"/>
          <p:cNvSpPr>
            <a:spLocks noChangeArrowheads="1"/>
          </p:cNvSpPr>
          <p:nvPr/>
        </p:nvSpPr>
        <p:spPr bwMode="auto">
          <a:xfrm>
            <a:off x="354013" y="1222375"/>
            <a:ext cx="85772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）非真空的充气问题</a:t>
            </a:r>
            <a:endParaRPr lang="zh-CN" altLang="en-US" sz="2400" b="1" dirty="0">
              <a:solidFill>
                <a:srgbClr val="0000CC"/>
              </a:solidFill>
              <a:latin typeface="黑体" panose="02010609060101010101" pitchFamily="49" charset="-122"/>
              <a:ea typeface="黑体" panose="02010609060101010101" pitchFamily="49" charset="-122"/>
            </a:endParaRPr>
          </a:p>
        </p:txBody>
      </p:sp>
      <p:sp>
        <p:nvSpPr>
          <p:cNvPr id="82948" name="矩形 249867"/>
          <p:cNvSpPr>
            <a:spLocks noChangeArrowheads="1"/>
          </p:cNvSpPr>
          <p:nvPr/>
        </p:nvSpPr>
        <p:spPr bwMode="auto">
          <a:xfrm>
            <a:off x="347663" y="2409825"/>
            <a:ext cx="85772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）非刚性容器的充气问题</a:t>
            </a:r>
            <a:endParaRPr lang="zh-CN" altLang="en-US" sz="2400" b="1" dirty="0">
              <a:solidFill>
                <a:srgbClr val="0000CC"/>
              </a:solidFill>
              <a:latin typeface="黑体" panose="02010609060101010101" pitchFamily="49" charset="-122"/>
              <a:ea typeface="黑体" panose="02010609060101010101" pitchFamily="49" charset="-122"/>
            </a:endParaRPr>
          </a:p>
        </p:txBody>
      </p:sp>
      <p:sp>
        <p:nvSpPr>
          <p:cNvPr id="82949" name="矩形 249867"/>
          <p:cNvSpPr>
            <a:spLocks noChangeArrowheads="1"/>
          </p:cNvSpPr>
          <p:nvPr/>
        </p:nvSpPr>
        <p:spPr bwMode="auto">
          <a:xfrm>
            <a:off x="347663" y="3668713"/>
            <a:ext cx="85772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）放气问题（一般来说，比充气问题难）</a:t>
            </a:r>
            <a:endParaRPr lang="zh-CN" altLang="en-US" sz="2400" b="1" dirty="0">
              <a:solidFill>
                <a:srgbClr val="0000CC"/>
              </a:solidFill>
              <a:latin typeface="黑体" panose="02010609060101010101" pitchFamily="49" charset="-122"/>
              <a:ea typeface="黑体" panose="02010609060101010101" pitchFamily="49" charset="-122"/>
            </a:endParaRPr>
          </a:p>
        </p:txBody>
      </p:sp>
      <p:sp>
        <p:nvSpPr>
          <p:cNvPr id="82950" name="矩形 249867"/>
          <p:cNvSpPr>
            <a:spLocks noChangeArrowheads="1"/>
          </p:cNvSpPr>
          <p:nvPr/>
        </p:nvSpPr>
        <p:spPr bwMode="auto">
          <a:xfrm>
            <a:off x="619125" y="4832350"/>
            <a:ext cx="789463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黑体" panose="02010609060101010101" pitchFamily="49" charset="-122"/>
                <a:ea typeface="黑体" panose="02010609060101010101" pitchFamily="49" charset="-122"/>
              </a:rPr>
              <a:t>关于以上这</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种问题的求解思路和例题，详见教材对应内容</a:t>
            </a:r>
            <a:endParaRPr lang="zh-CN" altLang="en-US" sz="24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TIMING" val="|26.6"/>
</p:tagLst>
</file>

<file path=ppt/tags/tag2.xml><?xml version="1.0" encoding="utf-8"?>
<p:tagLst xmlns:p="http://schemas.openxmlformats.org/presentationml/2006/main">
  <p:tag name="TIMING" val="|6.7|21|12|1.5|11.1|3.8"/>
</p:tagLst>
</file>

<file path=ppt/tags/tag3.xml><?xml version="1.0" encoding="utf-8"?>
<p:tagLst xmlns:p="http://schemas.openxmlformats.org/presentationml/2006/main">
  <p:tag name="TIMING" val="|4.5|5.2|50.8|10|6.6|21.9|40.8"/>
</p:tagLst>
</file>

<file path=ppt/tags/tag4.xml><?xml version="1.0" encoding="utf-8"?>
<p:tagLst xmlns:p="http://schemas.openxmlformats.org/presentationml/2006/main">
  <p:tag name="TIMING" val="|5.2|8.6|8.3|7.1|10.9|6|7.5|8.3"/>
</p:tagLst>
</file>

<file path=ppt/tags/tag5.xml><?xml version="1.0" encoding="utf-8"?>
<p:tagLst xmlns:p="http://schemas.openxmlformats.org/presentationml/2006/main">
  <p:tag name="TIMING" val="|11.2"/>
</p:tagLst>
</file>

<file path=ppt/tags/tag6.xml><?xml version="1.0" encoding="utf-8"?>
<p:tagLst xmlns:p="http://schemas.openxmlformats.org/presentationml/2006/main">
  <p:tag name="TIMING" val="|12.8|13.4"/>
</p:tagLst>
</file>

<file path=ppt/tags/tag7.xml><?xml version="1.0" encoding="utf-8"?>
<p:tagLst xmlns:p="http://schemas.openxmlformats.org/presentationml/2006/main">
  <p:tag name="TIMING" val="|33.6|68.4|0.9|0.9|1.2|136"/>
</p:tagLst>
</file>

<file path=ppt/tags/tag8.xml><?xml version="1.0" encoding="utf-8"?>
<p:tagLst xmlns:p="http://schemas.openxmlformats.org/presentationml/2006/main">
  <p:tag name="TIMING" val="|37.1|5|5.5|0|73.2"/>
</p:tagLst>
</file>

<file path=ppt/tags/tag9.xml><?xml version="1.0" encoding="utf-8"?>
<p:tagLst xmlns:p="http://schemas.openxmlformats.org/presentationml/2006/main">
  <p:tag name="TIMING" val="|37.1|57.8"/>
</p:tagLst>
</file>

<file path=ppt/tags/tag10.xml><?xml version="1.0" encoding="utf-8"?>
<p:tagLst xmlns:p="http://schemas.openxmlformats.org/presentationml/2006/main">
  <p:tag name="TIMING" val="|50.7|30|3.4|2.8|53.5|20.8|1.1|33.3|19.3"/>
</p:tagLst>
</file>

<file path=ppt/tags/tag11.xml><?xml version="1.0" encoding="utf-8"?>
<p:tagLst xmlns:p="http://schemas.openxmlformats.org/presentationml/2006/main">
  <p:tag name="TIMING" val="|1.2|0.6|1.1|1"/>
</p:tagLst>
</file>

<file path=ppt/tags/tag12.xml><?xml version="1.0" encoding="utf-8"?>
<p:tagLst xmlns:p="http://schemas.openxmlformats.org/presentationml/2006/main">
  <p:tag name="TIMING" val="|36.3"/>
</p:tagLst>
</file>

<file path=ppt/tags/tag13.xml><?xml version="1.0" encoding="utf-8"?>
<p:tagLst xmlns:p="http://schemas.openxmlformats.org/presentationml/2006/main">
  <p:tag name="TIMING" val="|1.3"/>
</p:tagLst>
</file>

<file path=ppt/tags/tag14.xml><?xml version="1.0" encoding="utf-8"?>
<p:tagLst xmlns:p="http://schemas.openxmlformats.org/presentationml/2006/main">
  <p:tag name="TIMING" val="|11.8"/>
</p:tagLst>
</file>

<file path=ppt/tags/tag15.xml><?xml version="1.0" encoding="utf-8"?>
<p:tagLst xmlns:p="http://schemas.openxmlformats.org/presentationml/2006/main">
  <p:tag name="TIMING" val="|87.9|1.5|92.4|29|23.7"/>
</p:tagLst>
</file>

<file path=ppt/tags/tag16.xml><?xml version="1.0" encoding="utf-8"?>
<p:tagLst xmlns:p="http://schemas.openxmlformats.org/presentationml/2006/main">
  <p:tag name="TIMING" val="|31|1.1"/>
</p:tagLst>
</file>

<file path=ppt/tags/tag17.xml><?xml version="1.0" encoding="utf-8"?>
<p:tagLst xmlns:p="http://schemas.openxmlformats.org/presentationml/2006/main">
  <p:tag name="TIMING" val="|17.9"/>
</p:tagLst>
</file>

<file path=ppt/tags/tag18.xml><?xml version="1.0" encoding="utf-8"?>
<p:tagLst xmlns:p="http://schemas.openxmlformats.org/presentationml/2006/main">
  <p:tag name="TIMING" val="|121.8"/>
</p:tagLst>
</file>

<file path=ppt/tags/tag19.xml><?xml version="1.0" encoding="utf-8"?>
<p:tagLst xmlns:p="http://schemas.openxmlformats.org/presentationml/2006/main">
  <p:tag name="TIMING" val="|94|75.3|56.4"/>
</p:tagLst>
</file>

<file path=ppt/tags/tag20.xml><?xml version="1.0" encoding="utf-8"?>
<p:tagLst xmlns:p="http://schemas.openxmlformats.org/presentationml/2006/main">
  <p:tag name="TIMING" val="|33.3|7|32.2|38.6|41.7"/>
</p:tagLst>
</file>

<file path=ppt/tags/tag21.xml><?xml version="1.0" encoding="utf-8"?>
<p:tagLst xmlns:p="http://schemas.openxmlformats.org/presentationml/2006/main">
  <p:tag name="TIMING" val="|4.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4562</Words>
  <Application>WPS 演示</Application>
  <PresentationFormat>全屏显示(4:3)</PresentationFormat>
  <Paragraphs>480</Paragraphs>
  <Slides>68</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99</vt:i4>
      </vt:variant>
      <vt:variant>
        <vt:lpstr>幻灯片标题</vt:lpstr>
      </vt:variant>
      <vt:variant>
        <vt:i4>68</vt:i4>
      </vt:variant>
    </vt:vector>
  </HeadingPairs>
  <TitlesOfParts>
    <vt:vector size="182" baseType="lpstr">
      <vt:lpstr>Arial</vt:lpstr>
      <vt:lpstr>宋体</vt:lpstr>
      <vt:lpstr>Wingdings</vt:lpstr>
      <vt:lpstr>黑体</vt:lpstr>
      <vt:lpstr>楷体_GB2312</vt:lpstr>
      <vt:lpstr>新宋体</vt:lpstr>
      <vt:lpstr>隶书</vt:lpstr>
      <vt:lpstr>Tahoma</vt:lpstr>
      <vt:lpstr>微软雅黑</vt:lpstr>
      <vt:lpstr>Arial Unicode MS</vt:lpstr>
      <vt:lpstr>Calibri</vt:lpstr>
      <vt:lpstr>Times New Roman</vt:lpstr>
      <vt:lpstr>幼圆</vt:lpstr>
      <vt:lpstr>Webdings</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03 热力学第一定律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三、热力发动机（透平机械）</vt:lpstr>
      <vt:lpstr>PowerPoint 演示文稿</vt:lpstr>
      <vt:lpstr> 四、压气机（压缩机械）</vt:lpstr>
      <vt:lpstr>PowerPoint 演示文稿</vt:lpstr>
      <vt:lpstr>PowerPoint 演示文稿</vt:lpstr>
      <vt:lpstr>PowerPoint 演示文稿</vt:lpstr>
      <vt:lpstr>六、换热器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第15讲  实际气体的性质</dc:title>
  <dc:creator>jing wu</dc:creator>
  <cp:lastModifiedBy>神力猹</cp:lastModifiedBy>
  <cp:revision>49</cp:revision>
  <dcterms:created xsi:type="dcterms:W3CDTF">2020-05-28T02:02:00Z</dcterms:created>
  <dcterms:modified xsi:type="dcterms:W3CDTF">2021-03-10T05:49:35Z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