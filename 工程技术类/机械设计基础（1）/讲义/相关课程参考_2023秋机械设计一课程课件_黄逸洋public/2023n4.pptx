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9" r:id="rId1"/>
  </p:sldMasterIdLst>
  <p:notesMasterIdLst>
    <p:notesMasterId r:id="rId28"/>
  </p:notesMasterIdLst>
  <p:handoutMasterIdLst>
    <p:handoutMasterId r:id="rId29"/>
  </p:handoutMasterIdLst>
  <p:sldIdLst>
    <p:sldId id="256" r:id="rId2"/>
    <p:sldId id="346" r:id="rId3"/>
    <p:sldId id="340" r:id="rId4"/>
    <p:sldId id="342" r:id="rId5"/>
    <p:sldId id="343" r:id="rId6"/>
    <p:sldId id="344" r:id="rId7"/>
    <p:sldId id="345" r:id="rId8"/>
    <p:sldId id="341" r:id="rId9"/>
    <p:sldId id="347" r:id="rId10"/>
    <p:sldId id="364" r:id="rId11"/>
    <p:sldId id="366" r:id="rId12"/>
    <p:sldId id="349" r:id="rId13"/>
    <p:sldId id="350" r:id="rId14"/>
    <p:sldId id="352" r:id="rId15"/>
    <p:sldId id="353" r:id="rId16"/>
    <p:sldId id="354" r:id="rId17"/>
    <p:sldId id="356" r:id="rId18"/>
    <p:sldId id="357" r:id="rId19"/>
    <p:sldId id="358" r:id="rId20"/>
    <p:sldId id="359" r:id="rId21"/>
    <p:sldId id="360" r:id="rId22"/>
    <p:sldId id="361" r:id="rId23"/>
    <p:sldId id="333" r:id="rId24"/>
    <p:sldId id="368" r:id="rId25"/>
    <p:sldId id="365" r:id="rId26"/>
    <p:sldId id="363" r:id="rId27"/>
  </p:sldIdLst>
  <p:sldSz cx="9144000" cy="6858000" type="screen4x3"/>
  <p:notesSz cx="6858000" cy="9144000"/>
  <p:defaultTextStyle>
    <a:defPPr>
      <a:defRPr lang="zh-CN"/>
    </a:defPPr>
    <a:lvl1pPr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ctr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chemeClr val="tx1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0"/>
      </p:ext>
    </p:extLst>
  </p:showPr>
  <p:clrMru>
    <a:srgbClr val="FFFFCC"/>
    <a:srgbClr val="FFCC00"/>
    <a:srgbClr val="00FFCC"/>
    <a:srgbClr val="3399FF"/>
    <a:srgbClr val="FF3300"/>
    <a:srgbClr val="DDDDDD"/>
    <a:srgbClr val="FFFFFF"/>
    <a:srgbClr val="CCEC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543" autoAdjust="0"/>
    <p:restoredTop sz="94625" autoAdjust="0"/>
  </p:normalViewPr>
  <p:slideViewPr>
    <p:cSldViewPr snapToGrid="0">
      <p:cViewPr varScale="1">
        <p:scale>
          <a:sx n="83" d="100"/>
          <a:sy n="83" d="100"/>
        </p:scale>
        <p:origin x="-1430" y="-58"/>
      </p:cViewPr>
      <p:guideLst>
        <p:guide orient="horz" pos="4069"/>
        <p:guide orient="horz" pos="1787"/>
        <p:guide orient="horz" pos="1414"/>
        <p:guide orient="horz" pos="3172"/>
        <p:guide orient="horz" pos="550"/>
        <p:guide pos="226"/>
        <p:guide pos="3130"/>
        <p:guide pos="2637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40" d="100"/>
          <a:sy n="40" d="100"/>
        </p:scale>
        <p:origin x="-1488" y="-96"/>
      </p:cViewPr>
      <p:guideLst>
        <p:guide orient="horz" pos="2880"/>
        <p:guide pos="2160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defRPr kumimoji="1"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kumimoji="1"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458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l">
              <a:defRPr kumimoji="1"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458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kumimoji="1" sz="1200"/>
            </a:lvl1pPr>
          </a:lstStyle>
          <a:p>
            <a:pPr>
              <a:defRPr/>
            </a:pPr>
            <a:fld id="{115960B8-4D03-4828-9622-2394692B88FE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814235705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7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90488"/>
            <a:ext cx="29718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algn="l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397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90488"/>
            <a:ext cx="29718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>
            <a:lvl1pPr algn="r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29700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8397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5786438"/>
            <a:ext cx="5029200" cy="12271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lvl="0"/>
            <a:r>
              <a:rPr lang="zh-CN" altLang="en-US" noProof="0" smtClean="0"/>
              <a:t>单击此处编辑母版文本样式</a:t>
            </a:r>
          </a:p>
          <a:p>
            <a:pPr lvl="1"/>
            <a:r>
              <a:rPr lang="zh-CN" altLang="en-US" noProof="0" smtClean="0"/>
              <a:t>第二级</a:t>
            </a:r>
          </a:p>
          <a:p>
            <a:pPr lvl="2"/>
            <a:r>
              <a:rPr lang="zh-CN" altLang="en-US" noProof="0" smtClean="0"/>
              <a:t>第三级</a:t>
            </a:r>
          </a:p>
          <a:p>
            <a:pPr lvl="3"/>
            <a:r>
              <a:rPr lang="zh-CN" altLang="en-US" noProof="0" smtClean="0"/>
              <a:t>第四级</a:t>
            </a:r>
          </a:p>
          <a:p>
            <a:pPr lvl="4"/>
            <a:r>
              <a:rPr lang="zh-CN" altLang="en-US" noProof="0" smtClean="0"/>
              <a:t>第五级</a:t>
            </a:r>
          </a:p>
        </p:txBody>
      </p:sp>
      <p:sp>
        <p:nvSpPr>
          <p:cNvPr id="8397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69363"/>
            <a:ext cx="29718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lvl1pPr algn="l">
              <a:defRPr sz="1200"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397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869363"/>
            <a:ext cx="2971800" cy="2746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  <a:spAutoFit/>
          </a:bodyPr>
          <a:lstStyle>
            <a:lvl1pPr algn="r">
              <a:defRPr sz="1200"/>
            </a:lvl1pPr>
          </a:lstStyle>
          <a:p>
            <a:pPr>
              <a:defRPr/>
            </a:pPr>
            <a:fld id="{5D92FBA7-67B9-4166-9F64-5BBBFDFC77D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83935168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Times New Roman" pitchFamily="18" charset="0"/>
        <a:ea typeface="宋体" pitchFamily="2" charset="-122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2"/>
          <p:cNvSpPr>
            <a:spLocks/>
          </p:cNvSpPr>
          <p:nvPr/>
        </p:nvSpPr>
        <p:spPr bwMode="gray">
          <a:xfrm>
            <a:off x="690563" y="3340100"/>
            <a:ext cx="7653337" cy="485775"/>
          </a:xfrm>
          <a:custGeom>
            <a:avLst/>
            <a:gdLst>
              <a:gd name="T0" fmla="*/ 2147483647 w 4128"/>
              <a:gd name="T1" fmla="*/ 2147483647 h 479"/>
              <a:gd name="T2" fmla="*/ 2147483647 w 4128"/>
              <a:gd name="T3" fmla="*/ 2147483647 h 479"/>
              <a:gd name="T4" fmla="*/ 2147483647 w 4128"/>
              <a:gd name="T5" fmla="*/ 2147483647 h 479"/>
              <a:gd name="T6" fmla="*/ 0 w 4128"/>
              <a:gd name="T7" fmla="*/ 2147483647 h 479"/>
              <a:gd name="T8" fmla="*/ 2147483647 w 4128"/>
              <a:gd name="T9" fmla="*/ 2147483647 h 47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4128" h="479">
                <a:moveTo>
                  <a:pt x="163" y="200"/>
                </a:moveTo>
                <a:cubicBezTo>
                  <a:pt x="163" y="200"/>
                  <a:pt x="2054" y="0"/>
                  <a:pt x="4128" y="200"/>
                </a:cubicBezTo>
                <a:cubicBezTo>
                  <a:pt x="4128" y="200"/>
                  <a:pt x="4128" y="314"/>
                  <a:pt x="4128" y="429"/>
                </a:cubicBezTo>
                <a:cubicBezTo>
                  <a:pt x="2371" y="200"/>
                  <a:pt x="688" y="479"/>
                  <a:pt x="0" y="441"/>
                </a:cubicBezTo>
                <a:lnTo>
                  <a:pt x="163" y="200"/>
                </a:lnTo>
                <a:close/>
              </a:path>
            </a:pathLst>
          </a:custGeom>
          <a:solidFill>
            <a:schemeClr val="hlink">
              <a:alpha val="50195"/>
            </a:schemeClr>
          </a:solidFill>
          <a:ln>
            <a:noFill/>
          </a:ln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/>
              </a14:hiddenLine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ctrTitle"/>
          </p:nvPr>
        </p:nvSpPr>
        <p:spPr>
          <a:xfrm>
            <a:off x="685800" y="22860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zh-CN" altLang="en-US" noProof="0" smtClean="0"/>
              <a:t>单击此处编辑母版标题样式</a:t>
            </a:r>
            <a:endParaRPr lang="zh-CN" altLang="zh-CN" noProof="0" smtClean="0"/>
          </a:p>
        </p:txBody>
      </p:sp>
      <p:sp>
        <p:nvSpPr>
          <p:cNvPr id="4100" name="Rectangle 4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Monotype Sorts" pitchFamily="2" charset="2"/>
              <a:buNone/>
              <a:defRPr/>
            </a:lvl1pPr>
          </a:lstStyle>
          <a:p>
            <a:pPr lvl="0"/>
            <a:r>
              <a:rPr lang="zh-CN" altLang="en-US" noProof="0" smtClean="0"/>
              <a:t>单击此处编辑母版副标题样式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7"/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578963"/>
                </a:solidFill>
              </a:defRPr>
            </a:lvl1pPr>
          </a:lstStyle>
          <a:p>
            <a:pPr>
              <a:defRPr/>
            </a:pPr>
            <a:fld id="{F8973BB2-FA5D-450F-A010-AD108D8D4C69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86779928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BB61D0-6F12-4E15-AC75-5F0F45D503B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3757147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E4CDDEB1-039B-4226-AC4F-913B2B98B03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27128098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28FB47F-23A8-41F8-B192-8CB50280CE4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6605744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9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BA08580-0BC6-4105-B88B-E59231D0570F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1532447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D341E99-653B-4706-B53A-9761C75C8251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7950682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BC6D00B-8260-4FA4-BCD1-D1E4D83D89D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1198014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4FD0F8BA-5191-4A83-AB0B-CE86CEAF786B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39300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 smtClean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B9FE2BF-90B0-4A0A-9297-688601A74EAD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7801872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E7308CF-DCFD-4799-A829-408D9A4541C8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83083373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15100" y="457200"/>
            <a:ext cx="1943100" cy="5638800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85800" y="457200"/>
            <a:ext cx="5676900" cy="5638800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3828E053-A1D4-4DC8-A9D8-FC4929226584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341459546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AndTwoObj" preserve="1">
  <p:cSld name="标题，文本与两项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85800" y="457200"/>
            <a:ext cx="77724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quarter" idx="2"/>
          </p:nvPr>
        </p:nvSpPr>
        <p:spPr>
          <a:xfrm>
            <a:off x="4648200" y="1981200"/>
            <a:ext cx="3810000" cy="1981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内容占位符 4"/>
          <p:cNvSpPr>
            <a:spLocks noGrp="1"/>
          </p:cNvSpPr>
          <p:nvPr>
            <p:ph sz="quarter" idx="3"/>
          </p:nvPr>
        </p:nvSpPr>
        <p:spPr>
          <a:xfrm>
            <a:off x="4648200" y="4114800"/>
            <a:ext cx="3810000" cy="1981200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Rectangle 4"/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D4906A4A-462A-4643-8B8C-00D369A04E85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  <p:extLst>
      <p:ext uri="{BB962C8B-B14F-4D97-AF65-F5344CB8AC3E}">
        <p14:creationId xmlns:p14="http://schemas.microsoft.com/office/powerpoint/2010/main" val="1255813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457200"/>
            <a:ext cx="77724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3076" name="Rectangle 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l">
              <a:spcBef>
                <a:spcPct val="50000"/>
              </a:spcBef>
              <a:defRPr kumimoji="1" sz="140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7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spcBef>
                <a:spcPct val="50000"/>
              </a:spcBef>
              <a:defRPr kumimoji="1" sz="140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endParaRPr lang="en-US" altLang="zh-CN"/>
          </a:p>
        </p:txBody>
      </p:sp>
      <p:sp>
        <p:nvSpPr>
          <p:cNvPr id="3078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spcBef>
                <a:spcPct val="50000"/>
              </a:spcBef>
              <a:defRPr kumimoji="1" sz="1400">
                <a:solidFill>
                  <a:schemeClr val="bg2"/>
                </a:solidFill>
              </a:defRPr>
            </a:lvl1pPr>
          </a:lstStyle>
          <a:p>
            <a:pPr>
              <a:defRPr/>
            </a:pPr>
            <a:fld id="{FF41C036-AE9B-4149-8799-0777E02D84B6}" type="slidenum">
              <a:rPr lang="en-US" altLang="zh-CN"/>
              <a:pPr>
                <a:defRPr/>
              </a:pPr>
              <a:t>‹#›</a:t>
            </a:fld>
            <a:endParaRPr lang="en-US" altLang="zh-C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00" r:id="rId1"/>
    <p:sldLayoutId id="2147483689" r:id="rId2"/>
    <p:sldLayoutId id="2147483690" r:id="rId3"/>
    <p:sldLayoutId id="2147483691" r:id="rId4"/>
    <p:sldLayoutId id="2147483692" r:id="rId5"/>
    <p:sldLayoutId id="2147483693" r:id="rId6"/>
    <p:sldLayoutId id="2147483694" r:id="rId7"/>
    <p:sldLayoutId id="2147483695" r:id="rId8"/>
    <p:sldLayoutId id="2147483696" r:id="rId9"/>
    <p:sldLayoutId id="2147483697" r:id="rId10"/>
    <p:sldLayoutId id="2147483698" r:id="rId11"/>
    <p:sldLayoutId id="2147483699" r:id="rId12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5pPr>
      <a:lvl6pPr marL="4572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6pPr>
      <a:lvl7pPr marL="9144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kumimoji="1" sz="4400">
          <a:solidFill>
            <a:schemeClr val="tx2"/>
          </a:solidFill>
          <a:latin typeface="Times New Roman" pitchFamily="18" charset="0"/>
          <a:ea typeface="宋体" pitchFamily="2" charset="-122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Font typeface="Monotype Sorts" pitchFamily="2" charset="2"/>
        <a:buChar char="§"/>
        <a:defRPr kumimoji="1" sz="3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bg2"/>
        </a:buClr>
        <a:buSzPct val="50000"/>
        <a:buFont typeface="Monotype Sorts" pitchFamily="2" charset="2"/>
        <a:buChar char="l"/>
        <a:defRPr kumimoji="1" sz="28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har char="•"/>
        <a:defRPr kumimoji="1"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kumimoji="1" sz="20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kumimoji="1" sz="20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jpe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灯片编号占位符 7"/>
          <p:cNvSpPr>
            <a:spLocks noGrp="1"/>
          </p:cNvSpPr>
          <p:nvPr>
            <p:ph type="sldNum" sz="quarter" idx="12"/>
          </p:nvPr>
        </p:nvSpPr>
        <p:spPr>
          <a:xfrm>
            <a:off x="6858003" y="6248400"/>
            <a:ext cx="1905000" cy="457200"/>
          </a:xfrm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17E26B75-CD73-4F9D-A063-A899D5FBB648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1</a:t>
            </a:fld>
            <a:endParaRPr lang="en-US" altLang="zh-CN" sz="1400" smtClean="0">
              <a:solidFill>
                <a:schemeClr val="bg2"/>
              </a:solidFill>
            </a:endParaRPr>
          </a:p>
        </p:txBody>
      </p:sp>
      <p:sp>
        <p:nvSpPr>
          <p:cNvPr id="2050" name="Rectangle 2"/>
          <p:cNvSpPr>
            <a:spLocks noGrp="1" noChangeArrowheads="1"/>
          </p:cNvSpPr>
          <p:nvPr>
            <p:ph type="title"/>
          </p:nvPr>
        </p:nvSpPr>
        <p:spPr>
          <a:xfrm>
            <a:off x="0" y="163513"/>
            <a:ext cx="9144000" cy="868362"/>
          </a:xfrm>
          <a:extLst>
            <a:ext uri="{909E8E84-426E-40DD-AFC4-6F175D3DCCD1}">
              <a14:hiddenFill xmlns:a14="http://schemas.microsoft.com/office/drawing/2010/main">
                <a:solidFill>
                  <a:schemeClr val="folHlink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fol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/>
          <a:lstStyle/>
          <a:p>
            <a:pPr eaLnBrk="1" hangingPunct="1">
              <a:defRPr/>
            </a:pPr>
            <a:r>
              <a:rPr lang="en-US" altLang="zh-CN" sz="4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隶书" pitchFamily="49" charset="-122"/>
                <a:ea typeface="隶书" pitchFamily="49" charset="-122"/>
              </a:rPr>
              <a:t>   </a:t>
            </a:r>
            <a:r>
              <a:rPr lang="zh-CN" altLang="en-US" sz="48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</a:rPr>
              <a:t>第四讲   基本体的投影</a:t>
            </a:r>
            <a:endParaRPr lang="zh-CN" altLang="en-US" sz="4800" dirty="0" smtClean="0"/>
          </a:p>
        </p:txBody>
      </p:sp>
      <p:sp>
        <p:nvSpPr>
          <p:cNvPr id="3076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376238" y="1328738"/>
            <a:ext cx="8767762" cy="1973262"/>
          </a:xfrm>
        </p:spPr>
        <p:txBody>
          <a:bodyPr/>
          <a:lstStyle/>
          <a:p>
            <a:pPr eaLnBrk="1" hangingPunct="1">
              <a:lnSpc>
                <a:spcPct val="90000"/>
              </a:lnSpc>
              <a:buClr>
                <a:schemeClr val="tx1"/>
              </a:buClr>
              <a:buFontTx/>
              <a:buNone/>
            </a:pPr>
            <a:r>
              <a:rPr lang="zh-CN" altLang="en-US" b="1" dirty="0" smtClean="0">
                <a:latin typeface="黑体" pitchFamily="2" charset="-122"/>
                <a:ea typeface="黑体" pitchFamily="2" charset="-122"/>
              </a:rPr>
              <a:t>本讲内容：</a:t>
            </a:r>
          </a:p>
          <a:p>
            <a:pPr eaLnBrk="1" hangingPunct="1">
              <a:lnSpc>
                <a:spcPct val="90000"/>
              </a:lnSpc>
              <a:buClr>
                <a:schemeClr val="tx1"/>
              </a:buClr>
              <a:buFontTx/>
              <a:buChar char="•"/>
            </a:pPr>
            <a:r>
              <a:rPr lang="zh-CN" altLang="en-US" sz="2400" b="1" dirty="0" smtClean="0">
                <a:latin typeface="黑体" pitchFamily="2" charset="-122"/>
                <a:ea typeface="黑体" pitchFamily="2" charset="-122"/>
              </a:rPr>
              <a:t>平面体</a:t>
            </a:r>
          </a:p>
          <a:p>
            <a:pPr eaLnBrk="1" hangingPunct="1">
              <a:lnSpc>
                <a:spcPct val="90000"/>
              </a:lnSpc>
              <a:buClr>
                <a:schemeClr val="tx1"/>
              </a:buClr>
              <a:buFontTx/>
              <a:buChar char="•"/>
            </a:pPr>
            <a:r>
              <a:rPr lang="zh-CN" altLang="en-US" sz="2400" b="1" dirty="0">
                <a:latin typeface="黑体" pitchFamily="2" charset="-122"/>
                <a:ea typeface="黑体" pitchFamily="2" charset="-122"/>
              </a:rPr>
              <a:t>回转</a:t>
            </a:r>
            <a:r>
              <a:rPr lang="zh-CN" altLang="en-US" sz="2400" b="1" dirty="0" smtClean="0">
                <a:latin typeface="黑体" pitchFamily="2" charset="-122"/>
                <a:ea typeface="黑体" pitchFamily="2" charset="-122"/>
              </a:rPr>
              <a:t>体</a:t>
            </a:r>
          </a:p>
          <a:p>
            <a:pPr eaLnBrk="1" hangingPunct="1">
              <a:lnSpc>
                <a:spcPct val="90000"/>
              </a:lnSpc>
              <a:buClr>
                <a:schemeClr val="tx1"/>
              </a:buClr>
              <a:buFontTx/>
              <a:buChar char="•"/>
            </a:pPr>
            <a:r>
              <a:rPr lang="zh-CN" altLang="en-US" sz="2400" b="1" dirty="0" smtClean="0">
                <a:latin typeface="黑体" pitchFamily="2" charset="-122"/>
                <a:ea typeface="黑体" pitchFamily="2" charset="-122"/>
              </a:rPr>
              <a:t>轴线倾斜的回转体</a:t>
            </a:r>
          </a:p>
        </p:txBody>
      </p:sp>
      <p:sp>
        <p:nvSpPr>
          <p:cNvPr id="3077" name="Text Box 4"/>
          <p:cNvSpPr txBox="1">
            <a:spLocks noChangeArrowheads="1"/>
          </p:cNvSpPr>
          <p:nvPr/>
        </p:nvSpPr>
        <p:spPr bwMode="auto">
          <a:xfrm>
            <a:off x="5273678" y="1258888"/>
            <a:ext cx="3757433" cy="598487"/>
          </a:xfrm>
          <a:prstGeom prst="rect">
            <a:avLst/>
          </a:prstGeom>
          <a:noFill/>
          <a:ln w="19050">
            <a:solidFill>
              <a:srgbClr val="FFFFFF">
                <a:alpha val="50195"/>
              </a:srgbClr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>
                    <a:alpha val="50195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b="1">
                <a:latin typeface="黑体" pitchFamily="2" charset="-122"/>
                <a:ea typeface="黑体" pitchFamily="2" charset="-122"/>
              </a:rPr>
              <a:t>复习：</a:t>
            </a:r>
            <a:r>
              <a:rPr lang="en-US" altLang="zh-CN" b="1">
                <a:latin typeface="黑体" pitchFamily="2" charset="-122"/>
                <a:ea typeface="黑体" pitchFamily="2" charset="-122"/>
              </a:rPr>
              <a:t>P.135-149</a:t>
            </a:r>
          </a:p>
        </p:txBody>
      </p:sp>
      <p:sp>
        <p:nvSpPr>
          <p:cNvPr id="3078" name="Text Box 5"/>
          <p:cNvSpPr txBox="1">
            <a:spLocks noChangeArrowheads="1"/>
          </p:cNvSpPr>
          <p:nvPr/>
        </p:nvSpPr>
        <p:spPr bwMode="auto">
          <a:xfrm>
            <a:off x="5273678" y="3470449"/>
            <a:ext cx="3757433" cy="3036887"/>
          </a:xfrm>
          <a:prstGeom prst="rect">
            <a:avLst/>
          </a:prstGeom>
          <a:noFill/>
          <a:ln w="19050">
            <a:solidFill>
              <a:srgbClr val="FFFFFF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folHlink">
                    <a:alpha val="50195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b="1" dirty="0">
                <a:latin typeface="黑体" pitchFamily="2" charset="-122"/>
                <a:ea typeface="黑体" pitchFamily="2" charset="-122"/>
              </a:rPr>
              <a:t>作业</a:t>
            </a:r>
            <a:r>
              <a:rPr lang="zh-CN" altLang="en-US" sz="2800" b="1" dirty="0">
                <a:latin typeface="黑体" pitchFamily="2" charset="-122"/>
                <a:ea typeface="黑体" pitchFamily="2" charset="-122"/>
              </a:rPr>
              <a:t>：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b="1" dirty="0"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 sz="2800" b="1" dirty="0">
                <a:latin typeface="黑体" pitchFamily="2" charset="-122"/>
                <a:ea typeface="黑体" pitchFamily="2" charset="-122"/>
              </a:rPr>
              <a:t>P.18  2,3</a:t>
            </a:r>
            <a:endParaRPr lang="en-US" altLang="zh-CN" sz="2000" b="1" dirty="0"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b="1" dirty="0">
                <a:latin typeface="黑体" pitchFamily="2" charset="-122"/>
                <a:ea typeface="黑体" pitchFamily="2" charset="-122"/>
              </a:rPr>
              <a:t> P.19  1,2,3,4,5,6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b="1" dirty="0">
                <a:latin typeface="黑体" pitchFamily="2" charset="-122"/>
                <a:ea typeface="黑体" pitchFamily="2" charset="-122"/>
              </a:rPr>
              <a:t> P.20  1,2,3,4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zh-CN" sz="2800" b="1" dirty="0"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 dirty="0" smtClean="0">
                <a:solidFill>
                  <a:srgbClr val="C00000"/>
                </a:solidFill>
                <a:latin typeface="黑体" pitchFamily="2" charset="-122"/>
                <a:ea typeface="黑体" pitchFamily="2" charset="-122"/>
              </a:rPr>
              <a:t>  注意</a:t>
            </a:r>
            <a:r>
              <a:rPr lang="zh-CN" altLang="en-US" sz="2400" b="1" dirty="0">
                <a:solidFill>
                  <a:srgbClr val="C00000"/>
                </a:solidFill>
                <a:latin typeface="黑体" pitchFamily="2" charset="-122"/>
                <a:ea typeface="黑体" pitchFamily="2" charset="-122"/>
              </a:rPr>
              <a:t>：不允许画投影轴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endParaRPr lang="en-US" altLang="zh-CN" sz="2400" b="1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3079" name="Text Box 6"/>
          <p:cNvSpPr txBox="1">
            <a:spLocks noChangeArrowheads="1"/>
          </p:cNvSpPr>
          <p:nvPr/>
        </p:nvSpPr>
        <p:spPr bwMode="auto">
          <a:xfrm>
            <a:off x="347486" y="3451046"/>
            <a:ext cx="8785225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CCFF">
                    <a:alpha val="50195"/>
                  </a:srgbClr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FFFFFF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b="1" dirty="0">
                <a:latin typeface="黑体" pitchFamily="2" charset="-122"/>
                <a:ea typeface="黑体" pitchFamily="2" charset="-122"/>
              </a:rPr>
              <a:t>下讲内容</a:t>
            </a:r>
            <a:r>
              <a:rPr lang="zh-CN" altLang="en-US" sz="2800" b="1" dirty="0">
                <a:latin typeface="黑体" pitchFamily="2" charset="-122"/>
                <a:ea typeface="黑体" pitchFamily="2" charset="-122"/>
              </a:rPr>
              <a:t>：（</a:t>
            </a:r>
            <a:r>
              <a:rPr lang="en-US" altLang="zh-CN" sz="2800" b="1" dirty="0">
                <a:latin typeface="黑体" pitchFamily="2" charset="-122"/>
                <a:ea typeface="黑体" pitchFamily="2" charset="-122"/>
              </a:rPr>
              <a:t>P.150-166</a:t>
            </a:r>
            <a:r>
              <a:rPr lang="zh-CN" altLang="en-US" sz="2800" b="1" dirty="0">
                <a:latin typeface="黑体" pitchFamily="2" charset="-122"/>
                <a:ea typeface="黑体" pitchFamily="2" charset="-122"/>
              </a:rPr>
              <a:t>）</a:t>
            </a:r>
          </a:p>
          <a:p>
            <a:pPr eaLnBrk="1" hangingPunct="1">
              <a:spcBef>
                <a:spcPct val="0"/>
              </a:spcBef>
              <a:buClrTx/>
              <a:buFontTx/>
              <a:buChar char="•"/>
            </a:pPr>
            <a:r>
              <a:rPr lang="zh-CN" altLang="en-US" sz="2400" b="1" dirty="0">
                <a:latin typeface="黑体" pitchFamily="2" charset="-122"/>
                <a:ea typeface="黑体" pitchFamily="2" charset="-122"/>
              </a:rPr>
              <a:t> </a:t>
            </a:r>
            <a:r>
              <a:rPr lang="zh-CN" altLang="en-US" sz="2400" b="1" dirty="0" smtClean="0">
                <a:latin typeface="黑体" pitchFamily="2" charset="-122"/>
                <a:ea typeface="黑体" pitchFamily="2" charset="-122"/>
              </a:rPr>
              <a:t>平面及直线与立体相交</a:t>
            </a:r>
            <a:endParaRPr lang="zh-CN" altLang="en-US" sz="2400" b="1" dirty="0"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DAEED296-4EFC-488F-B074-3E6369E0AB5D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2</a:t>
            </a:fld>
            <a:endParaRPr lang="en-US" altLang="zh-CN" sz="1400" smtClean="0">
              <a:solidFill>
                <a:schemeClr val="bg2"/>
              </a:solidFill>
            </a:endParaRPr>
          </a:p>
        </p:txBody>
      </p:sp>
      <p:sp>
        <p:nvSpPr>
          <p:cNvPr id="4099" name="Text Box 2"/>
          <p:cNvSpPr txBox="1">
            <a:spLocks noChangeArrowheads="1"/>
          </p:cNvSpPr>
          <p:nvPr/>
        </p:nvSpPr>
        <p:spPr bwMode="auto">
          <a:xfrm>
            <a:off x="176213" y="233363"/>
            <a:ext cx="8785225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FF66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4000" b="1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第</a:t>
            </a:r>
            <a:r>
              <a:rPr lang="en-US" altLang="zh-CN" sz="4000" b="1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7</a:t>
            </a:r>
            <a:r>
              <a:rPr lang="zh-CN" altLang="en-US" sz="4000" b="1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章  基本体的投影</a:t>
            </a:r>
          </a:p>
        </p:txBody>
      </p:sp>
      <p:sp>
        <p:nvSpPr>
          <p:cNvPr id="119814" name="Text Box 6"/>
          <p:cNvSpPr txBox="1">
            <a:spLocks noChangeArrowheads="1"/>
          </p:cNvSpPr>
          <p:nvPr/>
        </p:nvSpPr>
        <p:spPr bwMode="auto">
          <a:xfrm>
            <a:off x="184150" y="1592263"/>
            <a:ext cx="8440738" cy="1674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b="1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  1 </a:t>
            </a:r>
            <a:r>
              <a:rPr lang="zh-CN" altLang="en-US" b="1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基本体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    单一的几何体称为基本体。如：棱柱、棱锥、圆柱、圆锥、球、环等。它们是构成形体的基本单元，在几何造型中又称为基本体素。</a:t>
            </a:r>
          </a:p>
        </p:txBody>
      </p:sp>
      <p:sp>
        <p:nvSpPr>
          <p:cNvPr id="119815" name="Text Box 7"/>
          <p:cNvSpPr txBox="1">
            <a:spLocks noChangeArrowheads="1"/>
          </p:cNvSpPr>
          <p:nvPr/>
        </p:nvSpPr>
        <p:spPr bwMode="auto">
          <a:xfrm>
            <a:off x="301625" y="973138"/>
            <a:ext cx="3633788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defRPr/>
            </a:pPr>
            <a:r>
              <a:rPr kumimoji="1" lang="zh-CN" altLang="en-US" sz="3600" b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一</a:t>
            </a:r>
            <a:r>
              <a:rPr kumimoji="1" lang="en-US" altLang="zh-CN" sz="3600" b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. </a:t>
            </a:r>
            <a:r>
              <a:rPr kumimoji="1" lang="zh-CN" altLang="en-US" sz="3600" b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基本概念</a:t>
            </a:r>
          </a:p>
        </p:txBody>
      </p:sp>
      <p:pic>
        <p:nvPicPr>
          <p:cNvPr id="119833" name="Picture 25" descr="球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506" t="18274" r="32336" b="18883"/>
          <a:stretch>
            <a:fillRect/>
          </a:stretch>
        </p:blipFill>
        <p:spPr bwMode="auto">
          <a:xfrm>
            <a:off x="4371975" y="5062538"/>
            <a:ext cx="1339850" cy="133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9834" name="Picture 26" descr="圆环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91" t="15228" r="29289" b="19493"/>
          <a:stretch>
            <a:fillRect/>
          </a:stretch>
        </p:blipFill>
        <p:spPr bwMode="auto">
          <a:xfrm>
            <a:off x="6492875" y="5149850"/>
            <a:ext cx="1939925" cy="130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9835" name="Picture 27" descr="圆锥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07" t="15837" r="51807" b="19797"/>
          <a:stretch>
            <a:fillRect/>
          </a:stretch>
        </p:blipFill>
        <p:spPr bwMode="auto">
          <a:xfrm>
            <a:off x="6707188" y="3198813"/>
            <a:ext cx="1425575" cy="179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9836" name="Picture 28" descr="圆柱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36" t="7005" r="32506" b="7005"/>
          <a:stretch>
            <a:fillRect/>
          </a:stretch>
        </p:blipFill>
        <p:spPr bwMode="auto">
          <a:xfrm>
            <a:off x="4503738" y="3206750"/>
            <a:ext cx="1279525" cy="173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9837" name="Picture 29" descr="书3-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36" t="19975" r="38377" b="7040"/>
          <a:stretch>
            <a:fillRect/>
          </a:stretch>
        </p:blipFill>
        <p:spPr bwMode="auto">
          <a:xfrm>
            <a:off x="2259013" y="3613150"/>
            <a:ext cx="1660525" cy="210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9838" name="Picture 30" descr="四棱柱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289" t="12679" r="35143" b="14017"/>
          <a:stretch>
            <a:fillRect/>
          </a:stretch>
        </p:blipFill>
        <p:spPr bwMode="auto">
          <a:xfrm>
            <a:off x="433388" y="3656013"/>
            <a:ext cx="1393825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198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75"/>
                                        <p:tgtEl>
                                          <p:spTgt spid="1198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75"/>
                                        <p:tgtEl>
                                          <p:spTgt spid="11981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198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1198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2" dur="500"/>
                                        <p:tgtEl>
                                          <p:spTgt spid="1198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7" dur="500"/>
                                        <p:tgtEl>
                                          <p:spTgt spid="1198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2" dur="500"/>
                                        <p:tgtEl>
                                          <p:spTgt spid="1198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98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1198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9814" grpId="0" build="p" autoUpdateAnimBg="0"/>
      <p:bldP spid="119815" grpId="0" build="p" autoUpdateAnimBg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灯片编号占位符 7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033C56D9-1EF1-4807-A1A0-98074839F38E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3</a:t>
            </a:fld>
            <a:endParaRPr lang="en-US" altLang="zh-CN" sz="1400" smtClean="0">
              <a:solidFill>
                <a:schemeClr val="bg2"/>
              </a:solidFill>
            </a:endParaRPr>
          </a:p>
        </p:txBody>
      </p:sp>
      <p:sp>
        <p:nvSpPr>
          <p:cNvPr id="125954" name="Text Box 2"/>
          <p:cNvSpPr txBox="1">
            <a:spLocks noChangeArrowheads="1"/>
          </p:cNvSpPr>
          <p:nvPr/>
        </p:nvSpPr>
        <p:spPr bwMode="auto">
          <a:xfrm>
            <a:off x="641350" y="1422400"/>
            <a:ext cx="4321175" cy="8604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FF33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lnSpc>
                <a:spcPct val="90000"/>
              </a:lnSpc>
              <a:spcBef>
                <a:spcPct val="0"/>
              </a:spcBef>
              <a:buClrTx/>
              <a:buFontTx/>
              <a:buNone/>
            </a:pPr>
            <a:r>
              <a:rPr lang="en-US" altLang="zh-CN" sz="2800" b="1">
                <a:solidFill>
                  <a:srgbClr val="000066"/>
                </a:solidFill>
                <a:latin typeface="宋体" pitchFamily="2" charset="-122"/>
              </a:rPr>
              <a:t>    </a:t>
            </a:r>
            <a:r>
              <a:rPr lang="zh-CN" altLang="en-US" sz="2800" b="1">
                <a:solidFill>
                  <a:srgbClr val="000066"/>
                </a:solidFill>
                <a:latin typeface="宋体" pitchFamily="2" charset="-122"/>
              </a:rPr>
              <a:t>用正投影法绘制的物体的投影图称为视图。</a:t>
            </a:r>
          </a:p>
        </p:txBody>
      </p:sp>
      <p:sp>
        <p:nvSpPr>
          <p:cNvPr id="125955" name="Rectangle 3"/>
          <p:cNvSpPr>
            <a:spLocks noChangeArrowheads="1"/>
          </p:cNvSpPr>
          <p:nvPr/>
        </p:nvSpPr>
        <p:spPr bwMode="auto">
          <a:xfrm>
            <a:off x="176213" y="152400"/>
            <a:ext cx="5129212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1pPr>
            <a:lvl2pPr algn="l"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2pPr>
            <a:lvl3pPr algn="l"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3pPr>
            <a:lvl4pPr algn="l"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4pPr>
            <a:lvl5pPr algn="l"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5pPr>
            <a:lvl6pPr marL="45720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6pPr>
            <a:lvl7pPr marL="91440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7pPr>
            <a:lvl8pPr marL="137160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8pPr>
            <a:lvl9pPr marL="1828800" fontAlgn="base">
              <a:spcBef>
                <a:spcPct val="0"/>
              </a:spcBef>
              <a:spcAft>
                <a:spcPct val="0"/>
              </a:spcAft>
              <a:defRPr kumimoji="1" sz="4400">
                <a:solidFill>
                  <a:schemeClr val="tx2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defRPr/>
            </a:pPr>
            <a:r>
              <a:rPr lang="en-US" altLang="zh-CN" sz="3600" b="1" smtClean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2 </a:t>
            </a:r>
            <a:r>
              <a:rPr lang="zh-CN" altLang="en-US" sz="3600" b="1" smtClean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体的投影与三视图</a:t>
            </a:r>
          </a:p>
        </p:txBody>
      </p:sp>
      <p:sp>
        <p:nvSpPr>
          <p:cNvPr id="125956" name="Text Box 4"/>
          <p:cNvSpPr txBox="1">
            <a:spLocks noChangeArrowheads="1"/>
          </p:cNvSpPr>
          <p:nvPr/>
        </p:nvSpPr>
        <p:spPr bwMode="auto">
          <a:xfrm>
            <a:off x="520700" y="798513"/>
            <a:ext cx="351790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b="1">
                <a:latin typeface="黑体" pitchFamily="2" charset="-122"/>
                <a:ea typeface="黑体" pitchFamily="2" charset="-122"/>
              </a:rPr>
              <a:t>(1) </a:t>
            </a:r>
            <a:r>
              <a:rPr lang="zh-CN" altLang="en-US" b="1">
                <a:latin typeface="黑体" pitchFamily="2" charset="-122"/>
                <a:ea typeface="黑体" pitchFamily="2" charset="-122"/>
              </a:rPr>
              <a:t>视图的概念</a:t>
            </a:r>
            <a:endParaRPr lang="zh-CN" altLang="en-US" b="1">
              <a:latin typeface="宋体" pitchFamily="2" charset="-122"/>
            </a:endParaRPr>
          </a:p>
        </p:txBody>
      </p:sp>
      <p:sp>
        <p:nvSpPr>
          <p:cNvPr id="125957" name="Text Box 5"/>
          <p:cNvSpPr txBox="1">
            <a:spLocks noChangeArrowheads="1"/>
          </p:cNvSpPr>
          <p:nvPr/>
        </p:nvSpPr>
        <p:spPr bwMode="auto">
          <a:xfrm>
            <a:off x="504825" y="2319338"/>
            <a:ext cx="44450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800" b="1">
                <a:solidFill>
                  <a:srgbClr val="FF3300"/>
                </a:solidFill>
                <a:latin typeface="宋体" pitchFamily="2" charset="-122"/>
              </a:rPr>
              <a:t>主视图 </a:t>
            </a:r>
            <a:r>
              <a:rPr lang="en-US" altLang="zh-CN" sz="2800" b="1"/>
              <a:t>——</a:t>
            </a:r>
            <a:r>
              <a:rPr lang="zh-CN" altLang="en-US" sz="2800" b="1">
                <a:latin typeface="宋体" pitchFamily="2" charset="-122"/>
              </a:rPr>
              <a:t>体的正面投影</a:t>
            </a:r>
          </a:p>
        </p:txBody>
      </p:sp>
      <p:sp>
        <p:nvSpPr>
          <p:cNvPr id="125958" name="Text Box 6"/>
          <p:cNvSpPr txBox="1">
            <a:spLocks noChangeArrowheads="1"/>
          </p:cNvSpPr>
          <p:nvPr/>
        </p:nvSpPr>
        <p:spPr bwMode="auto">
          <a:xfrm>
            <a:off x="504825" y="2776538"/>
            <a:ext cx="45164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800" b="1">
                <a:solidFill>
                  <a:srgbClr val="FF3300"/>
                </a:solidFill>
                <a:latin typeface="宋体" pitchFamily="2" charset="-122"/>
              </a:rPr>
              <a:t>俯视图</a:t>
            </a:r>
            <a:r>
              <a:rPr lang="zh-CN" altLang="en-US" sz="2800" b="1">
                <a:latin typeface="宋体" pitchFamily="2" charset="-122"/>
              </a:rPr>
              <a:t> </a:t>
            </a:r>
            <a:r>
              <a:rPr lang="en-US" altLang="zh-CN" sz="2800" b="1"/>
              <a:t>——</a:t>
            </a:r>
            <a:r>
              <a:rPr lang="zh-CN" altLang="en-US" sz="2800" b="1">
                <a:latin typeface="宋体" pitchFamily="2" charset="-122"/>
              </a:rPr>
              <a:t>体的水平投影</a:t>
            </a:r>
          </a:p>
        </p:txBody>
      </p:sp>
      <p:sp>
        <p:nvSpPr>
          <p:cNvPr id="125959" name="Text Box 7"/>
          <p:cNvSpPr txBox="1">
            <a:spLocks noChangeArrowheads="1"/>
          </p:cNvSpPr>
          <p:nvPr/>
        </p:nvSpPr>
        <p:spPr bwMode="auto">
          <a:xfrm>
            <a:off x="504825" y="3233738"/>
            <a:ext cx="45148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800" b="1">
                <a:solidFill>
                  <a:srgbClr val="FF3300"/>
                </a:solidFill>
                <a:latin typeface="宋体" pitchFamily="2" charset="-122"/>
              </a:rPr>
              <a:t>左视图</a:t>
            </a:r>
            <a:r>
              <a:rPr lang="zh-CN" altLang="en-US" sz="2800" b="1">
                <a:latin typeface="宋体" pitchFamily="2" charset="-122"/>
              </a:rPr>
              <a:t> </a:t>
            </a:r>
            <a:r>
              <a:rPr lang="en-US" altLang="zh-CN" sz="2800" b="1"/>
              <a:t>——</a:t>
            </a:r>
            <a:r>
              <a:rPr lang="zh-CN" altLang="en-US" sz="2800" b="1">
                <a:latin typeface="宋体" pitchFamily="2" charset="-122"/>
              </a:rPr>
              <a:t>体的侧面投影</a:t>
            </a:r>
          </a:p>
        </p:txBody>
      </p:sp>
      <p:sp>
        <p:nvSpPr>
          <p:cNvPr id="125960" name="Text Box 8"/>
          <p:cNvSpPr txBox="1">
            <a:spLocks noChangeArrowheads="1"/>
          </p:cNvSpPr>
          <p:nvPr/>
        </p:nvSpPr>
        <p:spPr bwMode="auto">
          <a:xfrm>
            <a:off x="471488" y="3895725"/>
            <a:ext cx="555783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b="1">
                <a:latin typeface="黑体" pitchFamily="2" charset="-122"/>
                <a:ea typeface="黑体" pitchFamily="2" charset="-122"/>
              </a:rPr>
              <a:t>(2) </a:t>
            </a:r>
            <a:r>
              <a:rPr lang="zh-CN" altLang="en-US" b="1">
                <a:latin typeface="黑体" pitchFamily="2" charset="-122"/>
                <a:ea typeface="黑体" pitchFamily="2" charset="-122"/>
              </a:rPr>
              <a:t>三视图之间的度量关系</a:t>
            </a:r>
          </a:p>
        </p:txBody>
      </p:sp>
      <p:grpSp>
        <p:nvGrpSpPr>
          <p:cNvPr id="125962" name="Group 10"/>
          <p:cNvGrpSpPr>
            <a:grpSpLocks/>
          </p:cNvGrpSpPr>
          <p:nvPr/>
        </p:nvGrpSpPr>
        <p:grpSpPr bwMode="auto">
          <a:xfrm>
            <a:off x="1065213" y="4708525"/>
            <a:ext cx="4746625" cy="1476375"/>
            <a:chOff x="752" y="2574"/>
            <a:chExt cx="2945" cy="930"/>
          </a:xfrm>
        </p:grpSpPr>
        <p:sp>
          <p:nvSpPr>
            <p:cNvPr id="5175" name="AutoShape 11"/>
            <p:cNvSpPr>
              <a:spLocks noChangeArrowheads="1"/>
            </p:cNvSpPr>
            <p:nvPr/>
          </p:nvSpPr>
          <p:spPr bwMode="auto">
            <a:xfrm>
              <a:off x="752" y="2615"/>
              <a:ext cx="2945" cy="889"/>
            </a:xfrm>
            <a:prstGeom prst="plaque">
              <a:avLst>
                <a:gd name="adj" fmla="val 16667"/>
              </a:avLst>
            </a:prstGeom>
            <a:noFill/>
            <a:ln w="12700">
              <a:solidFill>
                <a:srgbClr val="FF33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rgbClr val="FF99FF"/>
                      </a:gs>
                      <a:gs pos="50000">
                        <a:srgbClr val="FFFF00"/>
                      </a:gs>
                      <a:gs pos="100000">
                        <a:srgbClr val="FF99FF"/>
                      </a:gs>
                    </a:gsLst>
                    <a:lin ang="270000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400"/>
            </a:p>
          </p:txBody>
        </p:sp>
        <p:sp>
          <p:nvSpPr>
            <p:cNvPr id="5176" name="Text Box 12"/>
            <p:cNvSpPr txBox="1">
              <a:spLocks noChangeArrowheads="1"/>
            </p:cNvSpPr>
            <p:nvPr/>
          </p:nvSpPr>
          <p:spPr bwMode="auto">
            <a:xfrm>
              <a:off x="844" y="2574"/>
              <a:ext cx="2676" cy="36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zh-CN" altLang="en-US" b="1">
                  <a:solidFill>
                    <a:schemeClr val="tx2"/>
                  </a:solidFill>
                </a:rPr>
                <a:t>主视俯视长相等且对正</a:t>
              </a:r>
            </a:p>
          </p:txBody>
        </p:sp>
      </p:grpSp>
      <p:sp>
        <p:nvSpPr>
          <p:cNvPr id="125965" name="Text Box 13"/>
          <p:cNvSpPr txBox="1">
            <a:spLocks noChangeArrowheads="1"/>
          </p:cNvSpPr>
          <p:nvPr/>
        </p:nvSpPr>
        <p:spPr bwMode="auto">
          <a:xfrm>
            <a:off x="1243013" y="5151438"/>
            <a:ext cx="439102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b="1">
                <a:solidFill>
                  <a:schemeClr val="tx2"/>
                </a:solidFill>
              </a:rPr>
              <a:t>主视左视高相等且平齐</a:t>
            </a:r>
          </a:p>
        </p:txBody>
      </p:sp>
      <p:sp>
        <p:nvSpPr>
          <p:cNvPr id="125966" name="Text Box 14"/>
          <p:cNvSpPr txBox="1">
            <a:spLocks noChangeArrowheads="1"/>
          </p:cNvSpPr>
          <p:nvPr/>
        </p:nvSpPr>
        <p:spPr bwMode="auto">
          <a:xfrm>
            <a:off x="1243013" y="5608638"/>
            <a:ext cx="4587875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b="1">
                <a:solidFill>
                  <a:schemeClr val="tx2"/>
                </a:solidFill>
              </a:rPr>
              <a:t>俯视左视宽相等且对应</a:t>
            </a:r>
          </a:p>
        </p:txBody>
      </p:sp>
      <p:grpSp>
        <p:nvGrpSpPr>
          <p:cNvPr id="125967" name="Group 15"/>
          <p:cNvGrpSpPr>
            <a:grpSpLocks/>
          </p:cNvGrpSpPr>
          <p:nvPr/>
        </p:nvGrpSpPr>
        <p:grpSpPr bwMode="auto">
          <a:xfrm>
            <a:off x="5137150" y="1463675"/>
            <a:ext cx="1517650" cy="919163"/>
            <a:chOff x="3191" y="922"/>
            <a:chExt cx="1082" cy="579"/>
          </a:xfrm>
        </p:grpSpPr>
        <p:sp>
          <p:nvSpPr>
            <p:cNvPr id="5171" name="Freeform 16"/>
            <p:cNvSpPr>
              <a:spLocks/>
            </p:cNvSpPr>
            <p:nvPr/>
          </p:nvSpPr>
          <p:spPr bwMode="auto">
            <a:xfrm>
              <a:off x="3191" y="946"/>
              <a:ext cx="1" cy="555"/>
            </a:xfrm>
            <a:custGeom>
              <a:avLst/>
              <a:gdLst>
                <a:gd name="T0" fmla="*/ 0 w 1"/>
                <a:gd name="T1" fmla="*/ 0 h 371"/>
                <a:gd name="T2" fmla="*/ 0 w 1"/>
                <a:gd name="T3" fmla="*/ 1242 h 37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71">
                  <a:moveTo>
                    <a:pt x="0" y="0"/>
                  </a:moveTo>
                  <a:lnTo>
                    <a:pt x="0" y="371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72" name="Freeform 17"/>
            <p:cNvSpPr>
              <a:spLocks/>
            </p:cNvSpPr>
            <p:nvPr/>
          </p:nvSpPr>
          <p:spPr bwMode="auto">
            <a:xfrm>
              <a:off x="4267" y="922"/>
              <a:ext cx="1" cy="556"/>
            </a:xfrm>
            <a:custGeom>
              <a:avLst/>
              <a:gdLst>
                <a:gd name="T0" fmla="*/ 0 w 1"/>
                <a:gd name="T1" fmla="*/ 0 h 556"/>
                <a:gd name="T2" fmla="*/ 0 w 1"/>
                <a:gd name="T3" fmla="*/ 556 h 55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556">
                  <a:moveTo>
                    <a:pt x="0" y="0"/>
                  </a:moveTo>
                  <a:lnTo>
                    <a:pt x="0" y="556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73" name="Freeform 18"/>
            <p:cNvSpPr>
              <a:spLocks/>
            </p:cNvSpPr>
            <p:nvPr/>
          </p:nvSpPr>
          <p:spPr bwMode="auto">
            <a:xfrm>
              <a:off x="3191" y="1197"/>
              <a:ext cx="1082" cy="1"/>
            </a:xfrm>
            <a:custGeom>
              <a:avLst/>
              <a:gdLst>
                <a:gd name="T0" fmla="*/ 0 w 1082"/>
                <a:gd name="T1" fmla="*/ 1 h 1"/>
                <a:gd name="T2" fmla="*/ 1082 w 1082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82" h="1">
                  <a:moveTo>
                    <a:pt x="0" y="1"/>
                  </a:moveTo>
                  <a:lnTo>
                    <a:pt x="1082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74" name="Text Box 19"/>
            <p:cNvSpPr txBox="1">
              <a:spLocks noChangeArrowheads="1"/>
            </p:cNvSpPr>
            <p:nvPr/>
          </p:nvSpPr>
          <p:spPr bwMode="auto">
            <a:xfrm>
              <a:off x="3621" y="1024"/>
              <a:ext cx="276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600" b="1"/>
                <a:t>长</a:t>
              </a:r>
              <a:endParaRPr lang="zh-CN" altLang="en-US" sz="1800" b="1"/>
            </a:p>
          </p:txBody>
        </p:sp>
      </p:grpSp>
      <p:grpSp>
        <p:nvGrpSpPr>
          <p:cNvPr id="125972" name="Group 20"/>
          <p:cNvGrpSpPr>
            <a:grpSpLocks/>
          </p:cNvGrpSpPr>
          <p:nvPr/>
        </p:nvGrpSpPr>
        <p:grpSpPr bwMode="auto">
          <a:xfrm>
            <a:off x="6642100" y="1473200"/>
            <a:ext cx="1763713" cy="1771650"/>
            <a:chOff x="4265" y="928"/>
            <a:chExt cx="1111" cy="1116"/>
          </a:xfrm>
        </p:grpSpPr>
        <p:sp>
          <p:nvSpPr>
            <p:cNvPr id="5163" name="Line 21"/>
            <p:cNvSpPr>
              <a:spLocks noChangeShapeType="1"/>
            </p:cNvSpPr>
            <p:nvPr/>
          </p:nvSpPr>
          <p:spPr bwMode="auto">
            <a:xfrm>
              <a:off x="4283" y="1456"/>
              <a:ext cx="29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64" name="Line 22"/>
            <p:cNvSpPr>
              <a:spLocks noChangeShapeType="1"/>
            </p:cNvSpPr>
            <p:nvPr/>
          </p:nvSpPr>
          <p:spPr bwMode="auto">
            <a:xfrm>
              <a:off x="4265" y="2036"/>
              <a:ext cx="298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65" name="Freeform 23"/>
            <p:cNvSpPr>
              <a:spLocks/>
            </p:cNvSpPr>
            <p:nvPr/>
          </p:nvSpPr>
          <p:spPr bwMode="auto">
            <a:xfrm>
              <a:off x="4832" y="933"/>
              <a:ext cx="1" cy="311"/>
            </a:xfrm>
            <a:custGeom>
              <a:avLst/>
              <a:gdLst>
                <a:gd name="T0" fmla="*/ 0 w 1"/>
                <a:gd name="T1" fmla="*/ 311 h 311"/>
                <a:gd name="T2" fmla="*/ 0 w 1"/>
                <a:gd name="T3" fmla="*/ 0 h 31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11">
                  <a:moveTo>
                    <a:pt x="0" y="311"/>
                  </a:moveTo>
                  <a:lnTo>
                    <a:pt x="0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66" name="Freeform 24"/>
            <p:cNvSpPr>
              <a:spLocks/>
            </p:cNvSpPr>
            <p:nvPr/>
          </p:nvSpPr>
          <p:spPr bwMode="auto">
            <a:xfrm>
              <a:off x="5371" y="928"/>
              <a:ext cx="1" cy="290"/>
            </a:xfrm>
            <a:custGeom>
              <a:avLst/>
              <a:gdLst>
                <a:gd name="T0" fmla="*/ 0 w 1"/>
                <a:gd name="T1" fmla="*/ 290 h 290"/>
                <a:gd name="T2" fmla="*/ 0 w 1"/>
                <a:gd name="T3" fmla="*/ 0 h 29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90">
                  <a:moveTo>
                    <a:pt x="0" y="290"/>
                  </a:moveTo>
                  <a:lnTo>
                    <a:pt x="0" y="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67" name="Freeform 25"/>
            <p:cNvSpPr>
              <a:spLocks/>
            </p:cNvSpPr>
            <p:nvPr/>
          </p:nvSpPr>
          <p:spPr bwMode="auto">
            <a:xfrm>
              <a:off x="4534" y="1444"/>
              <a:ext cx="1" cy="600"/>
            </a:xfrm>
            <a:custGeom>
              <a:avLst/>
              <a:gdLst>
                <a:gd name="T0" fmla="*/ 0 w 1"/>
                <a:gd name="T1" fmla="*/ 0 h 600"/>
                <a:gd name="T2" fmla="*/ 0 w 1"/>
                <a:gd name="T3" fmla="*/ 600 h 60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600">
                  <a:moveTo>
                    <a:pt x="0" y="0"/>
                  </a:moveTo>
                  <a:lnTo>
                    <a:pt x="0" y="600"/>
                  </a:lnTo>
                </a:path>
              </a:pathLst>
            </a:custGeom>
            <a:noFill/>
            <a:ln w="19050" cmpd="sng">
              <a:solidFill>
                <a:schemeClr val="tx1"/>
              </a:solidFill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68" name="Text Box 26"/>
            <p:cNvSpPr txBox="1">
              <a:spLocks noChangeArrowheads="1"/>
            </p:cNvSpPr>
            <p:nvPr/>
          </p:nvSpPr>
          <p:spPr bwMode="auto">
            <a:xfrm rot="-5400000">
              <a:off x="4235" y="1573"/>
              <a:ext cx="41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600" b="1"/>
                <a:t>宽</a:t>
              </a:r>
            </a:p>
          </p:txBody>
        </p:sp>
        <p:sp>
          <p:nvSpPr>
            <p:cNvPr id="5169" name="Line 27"/>
            <p:cNvSpPr>
              <a:spLocks noChangeShapeType="1"/>
            </p:cNvSpPr>
            <p:nvPr/>
          </p:nvSpPr>
          <p:spPr bwMode="auto">
            <a:xfrm>
              <a:off x="4830" y="1200"/>
              <a:ext cx="546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70" name="Text Box 28"/>
            <p:cNvSpPr txBox="1">
              <a:spLocks noChangeArrowheads="1"/>
            </p:cNvSpPr>
            <p:nvPr/>
          </p:nvSpPr>
          <p:spPr bwMode="auto">
            <a:xfrm>
              <a:off x="4994" y="1002"/>
              <a:ext cx="342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600" b="1"/>
                <a:t>宽</a:t>
              </a:r>
              <a:endParaRPr lang="zh-CN" altLang="en-US" sz="1800" b="1"/>
            </a:p>
          </p:txBody>
        </p:sp>
      </p:grpSp>
      <p:sp>
        <p:nvSpPr>
          <p:cNvPr id="125981" name="Rectangle 29"/>
          <p:cNvSpPr>
            <a:spLocks noChangeArrowheads="1"/>
          </p:cNvSpPr>
          <p:nvPr/>
        </p:nvSpPr>
        <p:spPr bwMode="auto">
          <a:xfrm>
            <a:off x="5145088" y="2311400"/>
            <a:ext cx="1497012" cy="915988"/>
          </a:xfrm>
          <a:prstGeom prst="rect">
            <a:avLst/>
          </a:prstGeom>
          <a:noFill/>
          <a:ln w="3810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grpSp>
        <p:nvGrpSpPr>
          <p:cNvPr id="125982" name="Group 30"/>
          <p:cNvGrpSpPr>
            <a:grpSpLocks/>
          </p:cNvGrpSpPr>
          <p:nvPr/>
        </p:nvGrpSpPr>
        <p:grpSpPr bwMode="auto">
          <a:xfrm>
            <a:off x="5905500" y="4664075"/>
            <a:ext cx="2703513" cy="1581150"/>
            <a:chOff x="3711" y="2559"/>
            <a:chExt cx="1703" cy="996"/>
          </a:xfrm>
        </p:grpSpPr>
        <p:sp>
          <p:nvSpPr>
            <p:cNvPr id="5158" name="AutoShape 31"/>
            <p:cNvSpPr>
              <a:spLocks noChangeArrowheads="1"/>
            </p:cNvSpPr>
            <p:nvPr/>
          </p:nvSpPr>
          <p:spPr bwMode="auto">
            <a:xfrm>
              <a:off x="4541" y="2582"/>
              <a:ext cx="856" cy="973"/>
            </a:xfrm>
            <a:prstGeom prst="plaque">
              <a:avLst>
                <a:gd name="adj" fmla="val 10838"/>
              </a:avLst>
            </a:prstGeom>
            <a:noFill/>
            <a:ln w="12700">
              <a:solidFill>
                <a:srgbClr val="FF3300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rgbClr val="FF99FF"/>
                      </a:gs>
                      <a:gs pos="50000">
                        <a:srgbClr val="FFFF00"/>
                      </a:gs>
                      <a:gs pos="100000">
                        <a:srgbClr val="FF99FF"/>
                      </a:gs>
                    </a:gsLst>
                    <a:lin ang="270000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400"/>
            </a:p>
          </p:txBody>
        </p:sp>
        <p:sp>
          <p:nvSpPr>
            <p:cNvPr id="5159" name="Text Box 32"/>
            <p:cNvSpPr txBox="1">
              <a:spLocks noChangeArrowheads="1"/>
            </p:cNvSpPr>
            <p:nvPr/>
          </p:nvSpPr>
          <p:spPr bwMode="auto">
            <a:xfrm>
              <a:off x="4527" y="2559"/>
              <a:ext cx="887" cy="3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rgbClr val="FFCCFF"/>
                      </a:gs>
                      <a:gs pos="100000">
                        <a:srgbClr val="FFFF66"/>
                      </a:gs>
                    </a:gsLst>
                    <a:lin ang="2700000" scaled="1"/>
                  </a:gra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>
                <a:lnSpc>
                  <a:spcPct val="110000"/>
                </a:lnSpc>
                <a:spcBef>
                  <a:spcPct val="0"/>
                </a:spcBef>
                <a:buClrTx/>
                <a:buFontTx/>
                <a:buNone/>
              </a:pPr>
              <a:r>
                <a:rPr lang="zh-CN" altLang="en-US" b="1">
                  <a:solidFill>
                    <a:schemeClr val="tx2"/>
                  </a:solidFill>
                </a:rPr>
                <a:t>长对正</a:t>
              </a:r>
            </a:p>
          </p:txBody>
        </p:sp>
        <p:sp>
          <p:nvSpPr>
            <p:cNvPr id="5160" name="AutoShape 33"/>
            <p:cNvSpPr>
              <a:spLocks noChangeArrowheads="1"/>
            </p:cNvSpPr>
            <p:nvPr/>
          </p:nvSpPr>
          <p:spPr bwMode="auto">
            <a:xfrm>
              <a:off x="3711" y="2933"/>
              <a:ext cx="804" cy="363"/>
            </a:xfrm>
            <a:prstGeom prst="leftRightArrow">
              <a:avLst>
                <a:gd name="adj1" fmla="val 50000"/>
                <a:gd name="adj2" fmla="val 44298"/>
              </a:avLst>
            </a:prstGeom>
            <a:noFill/>
            <a:ln w="12700">
              <a:solidFill>
                <a:schemeClr val="tx2"/>
              </a:solidFill>
              <a:miter lim="800000"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gradFill rotWithShape="0">
                    <a:gsLst>
                      <a:gs pos="0">
                        <a:srgbClr val="00FF00"/>
                      </a:gs>
                      <a:gs pos="50000">
                        <a:srgbClr val="FFFF00"/>
                      </a:gs>
                      <a:gs pos="100000">
                        <a:srgbClr val="00FF00"/>
                      </a:gs>
                    </a:gsLst>
                    <a:lin ang="0" scaled="1"/>
                  </a:gra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400"/>
            </a:p>
          </p:txBody>
        </p:sp>
        <p:sp>
          <p:nvSpPr>
            <p:cNvPr id="5161" name="Text Box 34"/>
            <p:cNvSpPr txBox="1">
              <a:spLocks noChangeArrowheads="1"/>
            </p:cNvSpPr>
            <p:nvPr/>
          </p:nvSpPr>
          <p:spPr bwMode="auto">
            <a:xfrm>
              <a:off x="4513" y="3153"/>
              <a:ext cx="887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b="1">
                  <a:solidFill>
                    <a:schemeClr val="tx2"/>
                  </a:solidFill>
                </a:rPr>
                <a:t>宽相等</a:t>
              </a:r>
            </a:p>
          </p:txBody>
        </p:sp>
        <p:sp>
          <p:nvSpPr>
            <p:cNvPr id="5162" name="Text Box 35"/>
            <p:cNvSpPr txBox="1">
              <a:spLocks noChangeArrowheads="1"/>
            </p:cNvSpPr>
            <p:nvPr/>
          </p:nvSpPr>
          <p:spPr bwMode="auto">
            <a:xfrm>
              <a:off x="4527" y="2867"/>
              <a:ext cx="887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2700">
                  <a:solidFill>
                    <a:schemeClr val="tx2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zh-CN" altLang="en-US" b="1">
                  <a:solidFill>
                    <a:schemeClr val="tx2"/>
                  </a:solidFill>
                </a:rPr>
                <a:t>高平齐</a:t>
              </a:r>
            </a:p>
          </p:txBody>
        </p:sp>
      </p:grpSp>
      <p:sp>
        <p:nvSpPr>
          <p:cNvPr id="125988" name="Text Box 36"/>
          <p:cNvSpPr txBox="1">
            <a:spLocks noChangeArrowheads="1"/>
          </p:cNvSpPr>
          <p:nvPr/>
        </p:nvSpPr>
        <p:spPr bwMode="auto">
          <a:xfrm>
            <a:off x="5113338" y="401638"/>
            <a:ext cx="1528762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</a:rPr>
              <a:t>主视图</a:t>
            </a:r>
            <a:endParaRPr lang="zh-CN" altLang="en-US" sz="2400"/>
          </a:p>
        </p:txBody>
      </p:sp>
      <p:sp>
        <p:nvSpPr>
          <p:cNvPr id="125989" name="Text Box 37"/>
          <p:cNvSpPr txBox="1">
            <a:spLocks noChangeArrowheads="1"/>
          </p:cNvSpPr>
          <p:nvPr/>
        </p:nvSpPr>
        <p:spPr bwMode="auto">
          <a:xfrm>
            <a:off x="5227638" y="3302000"/>
            <a:ext cx="138588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</a:rPr>
              <a:t>俯视图</a:t>
            </a:r>
          </a:p>
        </p:txBody>
      </p:sp>
      <p:sp>
        <p:nvSpPr>
          <p:cNvPr id="125990" name="Text Box 38"/>
          <p:cNvSpPr txBox="1">
            <a:spLocks noChangeArrowheads="1"/>
          </p:cNvSpPr>
          <p:nvPr/>
        </p:nvSpPr>
        <p:spPr bwMode="auto">
          <a:xfrm>
            <a:off x="7240588" y="420688"/>
            <a:ext cx="14573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800" b="1">
                <a:solidFill>
                  <a:srgbClr val="FF0000"/>
                </a:solidFill>
              </a:rPr>
              <a:t>左视图</a:t>
            </a:r>
          </a:p>
        </p:txBody>
      </p:sp>
      <p:grpSp>
        <p:nvGrpSpPr>
          <p:cNvPr id="125991" name="Group 39"/>
          <p:cNvGrpSpPr>
            <a:grpSpLocks/>
          </p:cNvGrpSpPr>
          <p:nvPr/>
        </p:nvGrpSpPr>
        <p:grpSpPr bwMode="auto">
          <a:xfrm>
            <a:off x="7167563" y="2505075"/>
            <a:ext cx="1704975" cy="630238"/>
            <a:chOff x="1230" y="2487"/>
            <a:chExt cx="1074" cy="397"/>
          </a:xfrm>
        </p:grpSpPr>
        <p:sp>
          <p:nvSpPr>
            <p:cNvPr id="5155" name="Freeform 40"/>
            <p:cNvSpPr>
              <a:spLocks/>
            </p:cNvSpPr>
            <p:nvPr/>
          </p:nvSpPr>
          <p:spPr bwMode="auto">
            <a:xfrm>
              <a:off x="1232" y="2488"/>
              <a:ext cx="276" cy="396"/>
            </a:xfrm>
            <a:custGeom>
              <a:avLst/>
              <a:gdLst>
                <a:gd name="T0" fmla="*/ 0 w 276"/>
                <a:gd name="T1" fmla="*/ 0 h 396"/>
                <a:gd name="T2" fmla="*/ 0 w 276"/>
                <a:gd name="T3" fmla="*/ 120 h 396"/>
                <a:gd name="T4" fmla="*/ 276 w 276"/>
                <a:gd name="T5" fmla="*/ 396 h 396"/>
                <a:gd name="T6" fmla="*/ 276 w 276"/>
                <a:gd name="T7" fmla="*/ 272 h 396"/>
                <a:gd name="T8" fmla="*/ 0 w 276"/>
                <a:gd name="T9" fmla="*/ 0 h 39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6" h="396">
                  <a:moveTo>
                    <a:pt x="0" y="0"/>
                  </a:moveTo>
                  <a:lnTo>
                    <a:pt x="0" y="120"/>
                  </a:lnTo>
                  <a:lnTo>
                    <a:pt x="276" y="396"/>
                  </a:lnTo>
                  <a:lnTo>
                    <a:pt x="276" y="272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780000"/>
                </a:gs>
                <a:gs pos="100000">
                  <a:srgbClr val="FF000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56" name="Freeform 41"/>
            <p:cNvSpPr>
              <a:spLocks/>
            </p:cNvSpPr>
            <p:nvPr/>
          </p:nvSpPr>
          <p:spPr bwMode="auto">
            <a:xfrm>
              <a:off x="1504" y="2766"/>
              <a:ext cx="800" cy="114"/>
            </a:xfrm>
            <a:custGeom>
              <a:avLst/>
              <a:gdLst>
                <a:gd name="T0" fmla="*/ 0 w 800"/>
                <a:gd name="T1" fmla="*/ 0 h 108"/>
                <a:gd name="T2" fmla="*/ 800 w 800"/>
                <a:gd name="T3" fmla="*/ 4 h 108"/>
                <a:gd name="T4" fmla="*/ 800 w 800"/>
                <a:gd name="T5" fmla="*/ 122 h 108"/>
                <a:gd name="T6" fmla="*/ 0 w 800"/>
                <a:gd name="T7" fmla="*/ 127 h 108"/>
                <a:gd name="T8" fmla="*/ 0 w 800"/>
                <a:gd name="T9" fmla="*/ 0 h 10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00" h="108">
                  <a:moveTo>
                    <a:pt x="0" y="0"/>
                  </a:moveTo>
                  <a:lnTo>
                    <a:pt x="800" y="4"/>
                  </a:lnTo>
                  <a:lnTo>
                    <a:pt x="800" y="104"/>
                  </a:lnTo>
                  <a:lnTo>
                    <a:pt x="0" y="108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A20000"/>
                </a:gs>
                <a:gs pos="50000">
                  <a:srgbClr val="FF0000"/>
                </a:gs>
                <a:gs pos="100000">
                  <a:srgbClr val="A20000"/>
                </a:gs>
              </a:gsLst>
              <a:lin ang="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57" name="Freeform 42"/>
            <p:cNvSpPr>
              <a:spLocks/>
            </p:cNvSpPr>
            <p:nvPr/>
          </p:nvSpPr>
          <p:spPr bwMode="auto">
            <a:xfrm>
              <a:off x="1230" y="2487"/>
              <a:ext cx="1074" cy="288"/>
            </a:xfrm>
            <a:custGeom>
              <a:avLst/>
              <a:gdLst>
                <a:gd name="T0" fmla="*/ 324 w 1074"/>
                <a:gd name="T1" fmla="*/ 3 h 288"/>
                <a:gd name="T2" fmla="*/ 510 w 1074"/>
                <a:gd name="T3" fmla="*/ 0 h 288"/>
                <a:gd name="T4" fmla="*/ 789 w 1074"/>
                <a:gd name="T5" fmla="*/ 3 h 288"/>
                <a:gd name="T6" fmla="*/ 1074 w 1074"/>
                <a:gd name="T7" fmla="*/ 288 h 288"/>
                <a:gd name="T8" fmla="*/ 267 w 1074"/>
                <a:gd name="T9" fmla="*/ 288 h 288"/>
                <a:gd name="T10" fmla="*/ 0 w 1074"/>
                <a:gd name="T11" fmla="*/ 3 h 288"/>
                <a:gd name="T12" fmla="*/ 324 w 1074"/>
                <a:gd name="T13" fmla="*/ 3 h 28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74" h="288">
                  <a:moveTo>
                    <a:pt x="324" y="3"/>
                  </a:moveTo>
                  <a:lnTo>
                    <a:pt x="510" y="0"/>
                  </a:lnTo>
                  <a:lnTo>
                    <a:pt x="789" y="3"/>
                  </a:lnTo>
                  <a:lnTo>
                    <a:pt x="1074" y="288"/>
                  </a:lnTo>
                  <a:lnTo>
                    <a:pt x="267" y="288"/>
                  </a:lnTo>
                  <a:lnTo>
                    <a:pt x="0" y="3"/>
                  </a:lnTo>
                  <a:lnTo>
                    <a:pt x="324" y="3"/>
                  </a:lnTo>
                  <a:close/>
                </a:path>
              </a:pathLst>
            </a:custGeom>
            <a:gradFill rotWithShape="0">
              <a:gsLst>
                <a:gs pos="0">
                  <a:srgbClr val="8A0000"/>
                </a:gs>
                <a:gs pos="100000">
                  <a:srgbClr val="FF0000"/>
                </a:gs>
              </a:gsLst>
              <a:lin ang="5400000" scaled="1"/>
            </a:gra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19050" cap="flat" cmpd="sng">
                  <a:solidFill>
                    <a:srgbClr val="000000"/>
                  </a:solidFill>
                  <a:prstDash val="solid"/>
                  <a:round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25995" name="Group 43"/>
          <p:cNvGrpSpPr>
            <a:grpSpLocks/>
          </p:cNvGrpSpPr>
          <p:nvPr/>
        </p:nvGrpSpPr>
        <p:grpSpPr bwMode="auto">
          <a:xfrm>
            <a:off x="6605588" y="885825"/>
            <a:ext cx="923925" cy="900113"/>
            <a:chOff x="4242" y="558"/>
            <a:chExt cx="582" cy="567"/>
          </a:xfrm>
        </p:grpSpPr>
        <p:sp>
          <p:nvSpPr>
            <p:cNvPr id="5149" name="Line 44"/>
            <p:cNvSpPr>
              <a:spLocks noChangeShapeType="1"/>
            </p:cNvSpPr>
            <p:nvPr/>
          </p:nvSpPr>
          <p:spPr bwMode="auto">
            <a:xfrm>
              <a:off x="4242" y="941"/>
              <a:ext cx="575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50" name="Line 45"/>
            <p:cNvSpPr>
              <a:spLocks noChangeShapeType="1"/>
            </p:cNvSpPr>
            <p:nvPr/>
          </p:nvSpPr>
          <p:spPr bwMode="auto">
            <a:xfrm>
              <a:off x="4264" y="792"/>
              <a:ext cx="560" cy="0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51" name="Text Box 46"/>
            <p:cNvSpPr txBox="1">
              <a:spLocks noChangeArrowheads="1"/>
            </p:cNvSpPr>
            <p:nvPr/>
          </p:nvSpPr>
          <p:spPr bwMode="auto">
            <a:xfrm rot="-5400000">
              <a:off x="4350" y="579"/>
              <a:ext cx="244" cy="21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1600" b="1"/>
                <a:t>高</a:t>
              </a:r>
              <a:endParaRPr lang="zh-CN" altLang="en-US" sz="1800" b="1"/>
            </a:p>
          </p:txBody>
        </p:sp>
        <p:sp>
          <p:nvSpPr>
            <p:cNvPr id="5152" name="Line 47"/>
            <p:cNvSpPr>
              <a:spLocks noChangeShapeType="1"/>
            </p:cNvSpPr>
            <p:nvPr/>
          </p:nvSpPr>
          <p:spPr bwMode="auto">
            <a:xfrm>
              <a:off x="4590" y="558"/>
              <a:ext cx="0" cy="567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53" name="Line 48"/>
            <p:cNvSpPr>
              <a:spLocks noChangeShapeType="1"/>
            </p:cNvSpPr>
            <p:nvPr/>
          </p:nvSpPr>
          <p:spPr bwMode="auto">
            <a:xfrm flipV="1">
              <a:off x="4590" y="945"/>
              <a:ext cx="0" cy="72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5154" name="Line 49"/>
            <p:cNvSpPr>
              <a:spLocks noChangeShapeType="1"/>
            </p:cNvSpPr>
            <p:nvPr/>
          </p:nvSpPr>
          <p:spPr bwMode="auto">
            <a:xfrm>
              <a:off x="4590" y="693"/>
              <a:ext cx="0" cy="90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26002" name="Group 50"/>
          <p:cNvGrpSpPr>
            <a:grpSpLocks/>
          </p:cNvGrpSpPr>
          <p:nvPr/>
        </p:nvGrpSpPr>
        <p:grpSpPr bwMode="auto">
          <a:xfrm>
            <a:off x="7526338" y="1250950"/>
            <a:ext cx="874712" cy="255588"/>
            <a:chOff x="4822" y="788"/>
            <a:chExt cx="551" cy="161"/>
          </a:xfrm>
        </p:grpSpPr>
        <p:grpSp>
          <p:nvGrpSpPr>
            <p:cNvPr id="5144" name="Group 51"/>
            <p:cNvGrpSpPr>
              <a:grpSpLocks/>
            </p:cNvGrpSpPr>
            <p:nvPr/>
          </p:nvGrpSpPr>
          <p:grpSpPr bwMode="auto">
            <a:xfrm>
              <a:off x="4822" y="789"/>
              <a:ext cx="551" cy="160"/>
              <a:chOff x="4822" y="789"/>
              <a:chExt cx="551" cy="160"/>
            </a:xfrm>
          </p:grpSpPr>
          <p:sp>
            <p:nvSpPr>
              <p:cNvPr id="5146" name="Line 52"/>
              <p:cNvSpPr>
                <a:spLocks noChangeShapeType="1"/>
              </p:cNvSpPr>
              <p:nvPr/>
            </p:nvSpPr>
            <p:spPr bwMode="auto">
              <a:xfrm flipV="1">
                <a:off x="5368" y="791"/>
                <a:ext cx="0" cy="15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47" name="Freeform 53"/>
              <p:cNvSpPr>
                <a:spLocks/>
              </p:cNvSpPr>
              <p:nvPr/>
            </p:nvSpPr>
            <p:spPr bwMode="auto">
              <a:xfrm>
                <a:off x="4832" y="789"/>
                <a:ext cx="541" cy="3"/>
              </a:xfrm>
              <a:custGeom>
                <a:avLst/>
                <a:gdLst>
                  <a:gd name="T0" fmla="*/ 0 w 541"/>
                  <a:gd name="T1" fmla="*/ 0 h 3"/>
                  <a:gd name="T2" fmla="*/ 541 w 541"/>
                  <a:gd name="T3" fmla="*/ 3 h 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541" h="3">
                    <a:moveTo>
                      <a:pt x="0" y="0"/>
                    </a:moveTo>
                    <a:lnTo>
                      <a:pt x="541" y="3"/>
                    </a:lnTo>
                  </a:path>
                </a:pathLst>
              </a:cu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5148" name="Freeform 54"/>
              <p:cNvSpPr>
                <a:spLocks/>
              </p:cNvSpPr>
              <p:nvPr/>
            </p:nvSpPr>
            <p:spPr bwMode="auto">
              <a:xfrm>
                <a:off x="4822" y="936"/>
                <a:ext cx="551" cy="2"/>
              </a:xfrm>
              <a:custGeom>
                <a:avLst/>
                <a:gdLst>
                  <a:gd name="T0" fmla="*/ 0 w 551"/>
                  <a:gd name="T1" fmla="*/ 2 h 2"/>
                  <a:gd name="T2" fmla="*/ 551 w 551"/>
                  <a:gd name="T3" fmla="*/ 0 h 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551" h="2">
                    <a:moveTo>
                      <a:pt x="0" y="2"/>
                    </a:moveTo>
                    <a:lnTo>
                      <a:pt x="551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5145" name="Line 55"/>
            <p:cNvSpPr>
              <a:spLocks noChangeShapeType="1"/>
            </p:cNvSpPr>
            <p:nvPr/>
          </p:nvSpPr>
          <p:spPr bwMode="auto">
            <a:xfrm flipV="1">
              <a:off x="4834" y="788"/>
              <a:ext cx="0" cy="158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26008" name="Rectangle 56"/>
          <p:cNvSpPr>
            <a:spLocks noChangeArrowheads="1"/>
          </p:cNvSpPr>
          <p:nvPr/>
        </p:nvSpPr>
        <p:spPr bwMode="auto">
          <a:xfrm>
            <a:off x="5138738" y="1257300"/>
            <a:ext cx="1504950" cy="228600"/>
          </a:xfrm>
          <a:prstGeom prst="rect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12595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1259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1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lide(fromLeft)">
                                      <p:cBhvr>
                                        <p:cTn id="17" dur="500"/>
                                        <p:tgtEl>
                                          <p:spTgt spid="1259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2" dur="500"/>
                                        <p:tgtEl>
                                          <p:spTgt spid="126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259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2" dur="500" fill="hold"/>
                                        <p:tgtEl>
                                          <p:spTgt spid="12598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3" dur="500" fill="hold"/>
                                        <p:tgtEl>
                                          <p:spTgt spid="12598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1259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3" dur="500"/>
                                        <p:tgtEl>
                                          <p:spTgt spid="1259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8" dur="500" fill="hold"/>
                                        <p:tgtEl>
                                          <p:spTgt spid="1259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9" dur="500" fill="hold"/>
                                        <p:tgtEl>
                                          <p:spTgt spid="1259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260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1259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4" dur="500" fill="hold"/>
                                        <p:tgtEl>
                                          <p:spTgt spid="1259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5" dur="500" fill="hold"/>
                                        <p:tgtEl>
                                          <p:spTgt spid="12599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0" dur="75"/>
                                        <p:tgtEl>
                                          <p:spTgt spid="1259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6" presetClass="entr" presetSubtype="2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Horizontal)">
                                      <p:cBhvr>
                                        <p:cTn id="75" dur="500"/>
                                        <p:tgtEl>
                                          <p:spTgt spid="1259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259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85" dur="500"/>
                                        <p:tgtEl>
                                          <p:spTgt spid="1259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0" dur="500"/>
                                        <p:tgtEl>
                                          <p:spTgt spid="125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18" presetClass="entr" presetSubtype="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strips(downRight)">
                                      <p:cBhvr>
                                        <p:cTn id="95" dur="500"/>
                                        <p:tgtEl>
                                          <p:spTgt spid="1259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0" dur="500"/>
                                        <p:tgtEl>
                                          <p:spTgt spid="1259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59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5" dur="500"/>
                                        <p:tgtEl>
                                          <p:spTgt spid="1259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5954" grpId="0" autoUpdateAnimBg="0"/>
      <p:bldP spid="125956" grpId="0" build="p" autoUpdateAnimBg="0"/>
      <p:bldP spid="125957" grpId="0" autoUpdateAnimBg="0"/>
      <p:bldP spid="125958" grpId="0" autoUpdateAnimBg="0"/>
      <p:bldP spid="125959" grpId="0" autoUpdateAnimBg="0"/>
      <p:bldP spid="125960" grpId="0" build="p" autoUpdateAnimBg="0"/>
      <p:bldP spid="125965" grpId="0" autoUpdateAnimBg="0"/>
      <p:bldP spid="125966" grpId="0" autoUpdateAnimBg="0"/>
      <p:bldP spid="125981" grpId="0" animBg="1"/>
      <p:bldP spid="125988" grpId="0" autoUpdateAnimBg="0"/>
      <p:bldP spid="125989" grpId="0" autoUpdateAnimBg="0"/>
      <p:bldP spid="125990" grpId="0" autoUpdateAnimBg="0"/>
      <p:bldP spid="126008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灯片编号占位符 7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7F94F8B3-86A5-4987-B785-B88950D20C9B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4</a:t>
            </a:fld>
            <a:endParaRPr lang="en-US" altLang="zh-CN" sz="1400" smtClean="0">
              <a:solidFill>
                <a:schemeClr val="bg2"/>
              </a:solidFill>
            </a:endParaRPr>
          </a:p>
        </p:txBody>
      </p:sp>
      <p:sp>
        <p:nvSpPr>
          <p:cNvPr id="6147" name="Rectangle 2"/>
          <p:cNvSpPr>
            <a:spLocks noChangeArrowheads="1"/>
          </p:cNvSpPr>
          <p:nvPr/>
        </p:nvSpPr>
        <p:spPr bwMode="auto">
          <a:xfrm>
            <a:off x="925513" y="2790825"/>
            <a:ext cx="1406525" cy="684213"/>
          </a:xfrm>
          <a:prstGeom prst="rect">
            <a:avLst/>
          </a:prstGeom>
          <a:noFill/>
          <a:ln w="38100">
            <a:solidFill>
              <a:srgbClr val="000000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6148" name="Rectangle 3"/>
          <p:cNvSpPr>
            <a:spLocks noChangeArrowheads="1"/>
          </p:cNvSpPr>
          <p:nvPr/>
        </p:nvSpPr>
        <p:spPr bwMode="auto">
          <a:xfrm>
            <a:off x="223838" y="228600"/>
            <a:ext cx="7165975" cy="5318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1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(3) </a:t>
            </a:r>
            <a:r>
              <a:rPr lang="zh-CN" altLang="en-US" sz="3600" b="1">
                <a:solidFill>
                  <a:schemeClr val="tx2"/>
                </a:solidFill>
                <a:latin typeface="黑体" pitchFamily="2" charset="-122"/>
                <a:ea typeface="黑体" pitchFamily="2" charset="-122"/>
              </a:rPr>
              <a:t>三视图之间的方位关系</a:t>
            </a:r>
            <a:endParaRPr lang="zh-CN" altLang="en-US" sz="3600" b="1">
              <a:solidFill>
                <a:schemeClr val="tx2"/>
              </a:solidFill>
            </a:endParaRPr>
          </a:p>
        </p:txBody>
      </p:sp>
      <p:sp>
        <p:nvSpPr>
          <p:cNvPr id="123908" name="Text Box 4"/>
          <p:cNvSpPr txBox="1">
            <a:spLocks noChangeArrowheads="1"/>
          </p:cNvSpPr>
          <p:nvPr/>
        </p:nvSpPr>
        <p:spPr bwMode="auto">
          <a:xfrm>
            <a:off x="2466975" y="4102100"/>
            <a:ext cx="6521450" cy="1554163"/>
          </a:xfrm>
          <a:prstGeom prst="rect">
            <a:avLst/>
          </a:prstGeom>
          <a:gradFill rotWithShape="0">
            <a:gsLst>
              <a:gs pos="0">
                <a:srgbClr val="FFCCFF"/>
              </a:gs>
              <a:gs pos="50000">
                <a:srgbClr val="FFFF66"/>
              </a:gs>
              <a:gs pos="100000">
                <a:srgbClr val="FFCCFF"/>
              </a:gs>
            </a:gsLst>
            <a:lin ang="27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b="1">
                <a:solidFill>
                  <a:srgbClr val="FF3300"/>
                </a:solidFill>
                <a:latin typeface="宋体" pitchFamily="2" charset="-122"/>
                <a:sym typeface="Symbol" pitchFamily="18" charset="2"/>
              </a:rPr>
              <a:t></a:t>
            </a:r>
            <a:r>
              <a:rPr lang="zh-CN" altLang="en-US" b="1">
                <a:latin typeface="宋体" pitchFamily="2" charset="-122"/>
              </a:rPr>
              <a:t>主视图反映：上、下 、左、右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b="1">
                <a:solidFill>
                  <a:srgbClr val="FF3300"/>
                </a:solidFill>
                <a:latin typeface="宋体" pitchFamily="2" charset="-122"/>
                <a:sym typeface="Symbol" pitchFamily="18" charset="2"/>
              </a:rPr>
              <a:t></a:t>
            </a:r>
            <a:r>
              <a:rPr lang="zh-CN" altLang="en-US" b="1">
                <a:latin typeface="宋体" pitchFamily="2" charset="-122"/>
              </a:rPr>
              <a:t>俯视图反映：前、后 、左、右</a:t>
            </a:r>
          </a:p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b="1">
                <a:solidFill>
                  <a:srgbClr val="FF3300"/>
                </a:solidFill>
                <a:latin typeface="宋体" pitchFamily="2" charset="-122"/>
                <a:sym typeface="Symbol" pitchFamily="18" charset="2"/>
              </a:rPr>
              <a:t></a:t>
            </a:r>
            <a:r>
              <a:rPr lang="zh-CN" altLang="en-US" b="1">
                <a:latin typeface="宋体" pitchFamily="2" charset="-122"/>
              </a:rPr>
              <a:t>左视图反映：上、下 、前、后</a:t>
            </a:r>
          </a:p>
        </p:txBody>
      </p:sp>
      <p:sp>
        <p:nvSpPr>
          <p:cNvPr id="123909" name="Text Box 5"/>
          <p:cNvSpPr txBox="1">
            <a:spLocks noChangeArrowheads="1"/>
          </p:cNvSpPr>
          <p:nvPr/>
        </p:nvSpPr>
        <p:spPr bwMode="auto">
          <a:xfrm>
            <a:off x="1298575" y="968375"/>
            <a:ext cx="539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800" b="1"/>
              <a:t>上</a:t>
            </a:r>
          </a:p>
        </p:txBody>
      </p:sp>
      <p:sp>
        <p:nvSpPr>
          <p:cNvPr id="123910" name="Text Box 6"/>
          <p:cNvSpPr txBox="1">
            <a:spLocks noChangeArrowheads="1"/>
          </p:cNvSpPr>
          <p:nvPr/>
        </p:nvSpPr>
        <p:spPr bwMode="auto">
          <a:xfrm>
            <a:off x="1298575" y="1636713"/>
            <a:ext cx="5397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800" b="1"/>
              <a:t>下</a:t>
            </a:r>
          </a:p>
        </p:txBody>
      </p:sp>
      <p:sp>
        <p:nvSpPr>
          <p:cNvPr id="123911" name="Text Box 7"/>
          <p:cNvSpPr txBox="1">
            <a:spLocks noChangeArrowheads="1"/>
          </p:cNvSpPr>
          <p:nvPr/>
        </p:nvSpPr>
        <p:spPr bwMode="auto">
          <a:xfrm>
            <a:off x="401638" y="2770188"/>
            <a:ext cx="5397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800" b="1"/>
              <a:t>左</a:t>
            </a:r>
          </a:p>
        </p:txBody>
      </p:sp>
      <p:sp>
        <p:nvSpPr>
          <p:cNvPr id="123912" name="Text Box 8"/>
          <p:cNvSpPr txBox="1">
            <a:spLocks noChangeArrowheads="1"/>
          </p:cNvSpPr>
          <p:nvPr/>
        </p:nvSpPr>
        <p:spPr bwMode="auto">
          <a:xfrm>
            <a:off x="2287588" y="2770188"/>
            <a:ext cx="5397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800" b="1"/>
              <a:t>右</a:t>
            </a:r>
          </a:p>
        </p:txBody>
      </p:sp>
      <p:sp>
        <p:nvSpPr>
          <p:cNvPr id="123913" name="Text Box 9"/>
          <p:cNvSpPr txBox="1">
            <a:spLocks noChangeArrowheads="1"/>
          </p:cNvSpPr>
          <p:nvPr/>
        </p:nvSpPr>
        <p:spPr bwMode="auto">
          <a:xfrm>
            <a:off x="1298575" y="2254250"/>
            <a:ext cx="539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800" b="1"/>
              <a:t>后</a:t>
            </a:r>
          </a:p>
        </p:txBody>
      </p:sp>
      <p:sp>
        <p:nvSpPr>
          <p:cNvPr id="123914" name="Text Box 10"/>
          <p:cNvSpPr txBox="1">
            <a:spLocks noChangeArrowheads="1"/>
          </p:cNvSpPr>
          <p:nvPr/>
        </p:nvSpPr>
        <p:spPr bwMode="auto">
          <a:xfrm>
            <a:off x="1298575" y="3427413"/>
            <a:ext cx="53975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800" b="1"/>
              <a:t>前</a:t>
            </a:r>
          </a:p>
        </p:txBody>
      </p:sp>
      <p:sp>
        <p:nvSpPr>
          <p:cNvPr id="123915" name="Text Box 11"/>
          <p:cNvSpPr txBox="1">
            <a:spLocks noChangeArrowheads="1"/>
          </p:cNvSpPr>
          <p:nvPr/>
        </p:nvSpPr>
        <p:spPr bwMode="auto">
          <a:xfrm>
            <a:off x="3571875" y="968375"/>
            <a:ext cx="539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800" b="1"/>
              <a:t>上</a:t>
            </a:r>
          </a:p>
        </p:txBody>
      </p:sp>
      <p:sp>
        <p:nvSpPr>
          <p:cNvPr id="123916" name="Text Box 12"/>
          <p:cNvSpPr txBox="1">
            <a:spLocks noChangeArrowheads="1"/>
          </p:cNvSpPr>
          <p:nvPr/>
        </p:nvSpPr>
        <p:spPr bwMode="auto">
          <a:xfrm>
            <a:off x="3557588" y="1652588"/>
            <a:ext cx="56038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800" b="1"/>
              <a:t>下</a:t>
            </a:r>
          </a:p>
        </p:txBody>
      </p:sp>
      <p:sp>
        <p:nvSpPr>
          <p:cNvPr id="123917" name="Text Box 13"/>
          <p:cNvSpPr txBox="1">
            <a:spLocks noChangeArrowheads="1"/>
          </p:cNvSpPr>
          <p:nvPr/>
        </p:nvSpPr>
        <p:spPr bwMode="auto">
          <a:xfrm>
            <a:off x="4162425" y="1314450"/>
            <a:ext cx="539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800" b="1"/>
              <a:t>前</a:t>
            </a:r>
          </a:p>
        </p:txBody>
      </p:sp>
      <p:sp>
        <p:nvSpPr>
          <p:cNvPr id="123918" name="Text Box 14"/>
          <p:cNvSpPr txBox="1">
            <a:spLocks noChangeArrowheads="1"/>
          </p:cNvSpPr>
          <p:nvPr/>
        </p:nvSpPr>
        <p:spPr bwMode="auto">
          <a:xfrm>
            <a:off x="2913063" y="1314450"/>
            <a:ext cx="539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800" b="1"/>
              <a:t>后</a:t>
            </a:r>
          </a:p>
        </p:txBody>
      </p:sp>
      <p:sp>
        <p:nvSpPr>
          <p:cNvPr id="123919" name="Text Box 15"/>
          <p:cNvSpPr txBox="1">
            <a:spLocks noChangeArrowheads="1"/>
          </p:cNvSpPr>
          <p:nvPr/>
        </p:nvSpPr>
        <p:spPr bwMode="auto">
          <a:xfrm>
            <a:off x="377825" y="1314450"/>
            <a:ext cx="5603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800" b="1"/>
              <a:t>左</a:t>
            </a:r>
          </a:p>
        </p:txBody>
      </p:sp>
      <p:sp>
        <p:nvSpPr>
          <p:cNvPr id="123920" name="Text Box 16"/>
          <p:cNvSpPr txBox="1">
            <a:spLocks noChangeArrowheads="1"/>
          </p:cNvSpPr>
          <p:nvPr/>
        </p:nvSpPr>
        <p:spPr bwMode="auto">
          <a:xfrm>
            <a:off x="2298700" y="1314450"/>
            <a:ext cx="5397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2800" b="1"/>
              <a:t>右</a:t>
            </a:r>
          </a:p>
        </p:txBody>
      </p:sp>
      <p:sp>
        <p:nvSpPr>
          <p:cNvPr id="123921" name="Text Box 17"/>
          <p:cNvSpPr txBox="1">
            <a:spLocks noChangeArrowheads="1"/>
          </p:cNvSpPr>
          <p:nvPr/>
        </p:nvSpPr>
        <p:spPr bwMode="auto">
          <a:xfrm>
            <a:off x="231775" y="4011613"/>
            <a:ext cx="22161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b="1">
                <a:solidFill>
                  <a:srgbClr val="FF0000"/>
                </a:solidFill>
              </a:rPr>
              <a:t>从前往后看</a:t>
            </a:r>
            <a:endParaRPr lang="zh-CN" altLang="en-US"/>
          </a:p>
        </p:txBody>
      </p:sp>
      <p:sp>
        <p:nvSpPr>
          <p:cNvPr id="123922" name="Text Box 18"/>
          <p:cNvSpPr txBox="1">
            <a:spLocks noChangeArrowheads="1"/>
          </p:cNvSpPr>
          <p:nvPr/>
        </p:nvSpPr>
        <p:spPr bwMode="auto">
          <a:xfrm>
            <a:off x="231775" y="4506913"/>
            <a:ext cx="22161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b="1">
                <a:solidFill>
                  <a:srgbClr val="FF0000"/>
                </a:solidFill>
              </a:rPr>
              <a:t>从上往下看</a:t>
            </a:r>
          </a:p>
        </p:txBody>
      </p:sp>
      <p:sp>
        <p:nvSpPr>
          <p:cNvPr id="123923" name="Text Box 19"/>
          <p:cNvSpPr txBox="1">
            <a:spLocks noChangeArrowheads="1"/>
          </p:cNvSpPr>
          <p:nvPr/>
        </p:nvSpPr>
        <p:spPr bwMode="auto">
          <a:xfrm>
            <a:off x="231775" y="5002213"/>
            <a:ext cx="2216150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b="1">
                <a:solidFill>
                  <a:srgbClr val="FF0000"/>
                </a:solidFill>
              </a:rPr>
              <a:t>从左往右看</a:t>
            </a:r>
          </a:p>
        </p:txBody>
      </p:sp>
      <p:grpSp>
        <p:nvGrpSpPr>
          <p:cNvPr id="123924" name="Group 20"/>
          <p:cNvGrpSpPr>
            <a:grpSpLocks/>
          </p:cNvGrpSpPr>
          <p:nvPr/>
        </p:nvGrpSpPr>
        <p:grpSpPr bwMode="auto">
          <a:xfrm>
            <a:off x="2879725" y="5711825"/>
            <a:ext cx="2216150" cy="538163"/>
            <a:chOff x="1922" y="3616"/>
            <a:chExt cx="1396" cy="339"/>
          </a:xfrm>
        </p:grpSpPr>
        <p:sp>
          <p:nvSpPr>
            <p:cNvPr id="6234" name="Text Box 21"/>
            <p:cNvSpPr txBox="1">
              <a:spLocks noChangeArrowheads="1"/>
            </p:cNvSpPr>
            <p:nvPr/>
          </p:nvSpPr>
          <p:spPr bwMode="auto">
            <a:xfrm>
              <a:off x="1922" y="3628"/>
              <a:ext cx="34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 b="1">
                  <a:solidFill>
                    <a:srgbClr val="FF3300"/>
                  </a:solidFill>
                </a:rPr>
                <a:t>人</a:t>
              </a:r>
              <a:endParaRPr lang="zh-CN" altLang="en-US" sz="2800" b="1"/>
            </a:p>
          </p:txBody>
        </p:sp>
        <p:sp>
          <p:nvSpPr>
            <p:cNvPr id="6235" name="Text Box 22"/>
            <p:cNvSpPr txBox="1">
              <a:spLocks noChangeArrowheads="1"/>
            </p:cNvSpPr>
            <p:nvPr/>
          </p:nvSpPr>
          <p:spPr bwMode="auto">
            <a:xfrm>
              <a:off x="2450" y="3616"/>
              <a:ext cx="34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 b="1">
                  <a:solidFill>
                    <a:srgbClr val="FF3300"/>
                  </a:solidFill>
                </a:rPr>
                <a:t>物</a:t>
              </a:r>
              <a:endParaRPr lang="zh-CN" altLang="en-US" sz="2800" b="1"/>
            </a:p>
          </p:txBody>
        </p:sp>
        <p:sp>
          <p:nvSpPr>
            <p:cNvPr id="6236" name="Text Box 23"/>
            <p:cNvSpPr txBox="1">
              <a:spLocks noChangeArrowheads="1"/>
            </p:cNvSpPr>
            <p:nvPr/>
          </p:nvSpPr>
          <p:spPr bwMode="auto">
            <a:xfrm>
              <a:off x="2978" y="3628"/>
              <a:ext cx="34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 b="1">
                  <a:solidFill>
                    <a:srgbClr val="FF3300"/>
                  </a:solidFill>
                </a:rPr>
                <a:t>面</a:t>
              </a:r>
              <a:endParaRPr lang="zh-CN" altLang="en-US" sz="2800" b="1"/>
            </a:p>
          </p:txBody>
        </p:sp>
        <p:sp>
          <p:nvSpPr>
            <p:cNvPr id="6237" name="Line 24"/>
            <p:cNvSpPr>
              <a:spLocks noChangeShapeType="1"/>
            </p:cNvSpPr>
            <p:nvPr/>
          </p:nvSpPr>
          <p:spPr bwMode="auto">
            <a:xfrm>
              <a:off x="2244" y="3816"/>
              <a:ext cx="22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38" name="Line 25"/>
            <p:cNvSpPr>
              <a:spLocks noChangeShapeType="1"/>
            </p:cNvSpPr>
            <p:nvPr/>
          </p:nvSpPr>
          <p:spPr bwMode="auto">
            <a:xfrm>
              <a:off x="2784" y="3828"/>
              <a:ext cx="240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23930" name="Line 26"/>
          <p:cNvSpPr>
            <a:spLocks noChangeShapeType="1"/>
          </p:cNvSpPr>
          <p:nvPr/>
        </p:nvSpPr>
        <p:spPr bwMode="auto">
          <a:xfrm>
            <a:off x="3124200" y="4613275"/>
            <a:ext cx="11811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931" name="Line 27"/>
          <p:cNvSpPr>
            <a:spLocks noChangeShapeType="1"/>
          </p:cNvSpPr>
          <p:nvPr/>
        </p:nvSpPr>
        <p:spPr bwMode="auto">
          <a:xfrm>
            <a:off x="3108325" y="5108575"/>
            <a:ext cx="11811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3932" name="Line 28"/>
          <p:cNvSpPr>
            <a:spLocks noChangeShapeType="1"/>
          </p:cNvSpPr>
          <p:nvPr/>
        </p:nvSpPr>
        <p:spPr bwMode="auto">
          <a:xfrm>
            <a:off x="3087688" y="5614988"/>
            <a:ext cx="1181100" cy="0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6169" name="Group 29"/>
          <p:cNvGrpSpPr>
            <a:grpSpLocks/>
          </p:cNvGrpSpPr>
          <p:nvPr/>
        </p:nvGrpSpPr>
        <p:grpSpPr bwMode="auto">
          <a:xfrm>
            <a:off x="3475038" y="1519238"/>
            <a:ext cx="739775" cy="200025"/>
            <a:chOff x="2936" y="1092"/>
            <a:chExt cx="466" cy="126"/>
          </a:xfrm>
        </p:grpSpPr>
        <p:sp>
          <p:nvSpPr>
            <p:cNvPr id="6230" name="Line 30"/>
            <p:cNvSpPr>
              <a:spLocks noChangeShapeType="1"/>
            </p:cNvSpPr>
            <p:nvPr/>
          </p:nvSpPr>
          <p:spPr bwMode="auto">
            <a:xfrm flipV="1">
              <a:off x="3390" y="1092"/>
              <a:ext cx="0" cy="12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31" name="Line 31"/>
            <p:cNvSpPr>
              <a:spLocks noChangeShapeType="1"/>
            </p:cNvSpPr>
            <p:nvPr/>
          </p:nvSpPr>
          <p:spPr bwMode="auto">
            <a:xfrm>
              <a:off x="2942" y="1096"/>
              <a:ext cx="460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32" name="Freeform 32"/>
            <p:cNvSpPr>
              <a:spLocks/>
            </p:cNvSpPr>
            <p:nvPr/>
          </p:nvSpPr>
          <p:spPr bwMode="auto">
            <a:xfrm>
              <a:off x="2936" y="1204"/>
              <a:ext cx="462" cy="3"/>
            </a:xfrm>
            <a:custGeom>
              <a:avLst/>
              <a:gdLst>
                <a:gd name="T0" fmla="*/ 0 w 462"/>
                <a:gd name="T1" fmla="*/ 3 h 3"/>
                <a:gd name="T2" fmla="*/ 462 w 462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62" h="3">
                  <a:moveTo>
                    <a:pt x="0" y="3"/>
                  </a:moveTo>
                  <a:lnTo>
                    <a:pt x="462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33" name="Line 33"/>
            <p:cNvSpPr>
              <a:spLocks noChangeShapeType="1"/>
            </p:cNvSpPr>
            <p:nvPr/>
          </p:nvSpPr>
          <p:spPr bwMode="auto">
            <a:xfrm flipV="1">
              <a:off x="2946" y="1098"/>
              <a:ext cx="0" cy="12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6170" name="Group 34"/>
          <p:cNvGrpSpPr>
            <a:grpSpLocks/>
          </p:cNvGrpSpPr>
          <p:nvPr/>
        </p:nvGrpSpPr>
        <p:grpSpPr bwMode="auto">
          <a:xfrm>
            <a:off x="920750" y="1524000"/>
            <a:ext cx="1427163" cy="201613"/>
            <a:chOff x="1156" y="1095"/>
            <a:chExt cx="899" cy="127"/>
          </a:xfrm>
        </p:grpSpPr>
        <p:sp>
          <p:nvSpPr>
            <p:cNvPr id="6226" name="Freeform 35"/>
            <p:cNvSpPr>
              <a:spLocks/>
            </p:cNvSpPr>
            <p:nvPr/>
          </p:nvSpPr>
          <p:spPr bwMode="auto">
            <a:xfrm>
              <a:off x="1160" y="1107"/>
              <a:ext cx="1" cy="115"/>
            </a:xfrm>
            <a:custGeom>
              <a:avLst/>
              <a:gdLst>
                <a:gd name="T0" fmla="*/ 1 w 1"/>
                <a:gd name="T1" fmla="*/ 147 h 102"/>
                <a:gd name="T2" fmla="*/ 0 w 1"/>
                <a:gd name="T3" fmla="*/ 0 h 10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02">
                  <a:moveTo>
                    <a:pt x="1" y="102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27" name="Freeform 36"/>
            <p:cNvSpPr>
              <a:spLocks/>
            </p:cNvSpPr>
            <p:nvPr/>
          </p:nvSpPr>
          <p:spPr bwMode="auto">
            <a:xfrm>
              <a:off x="1159" y="1102"/>
              <a:ext cx="896" cy="2"/>
            </a:xfrm>
            <a:custGeom>
              <a:avLst/>
              <a:gdLst>
                <a:gd name="T0" fmla="*/ 0 w 786"/>
                <a:gd name="T1" fmla="*/ 0 h 1"/>
                <a:gd name="T2" fmla="*/ 1164 w 786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86" h="1">
                  <a:moveTo>
                    <a:pt x="0" y="0"/>
                  </a:moveTo>
                  <a:lnTo>
                    <a:pt x="786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28" name="Freeform 37"/>
            <p:cNvSpPr>
              <a:spLocks/>
            </p:cNvSpPr>
            <p:nvPr/>
          </p:nvSpPr>
          <p:spPr bwMode="auto">
            <a:xfrm>
              <a:off x="2039" y="1095"/>
              <a:ext cx="1" cy="115"/>
            </a:xfrm>
            <a:custGeom>
              <a:avLst/>
              <a:gdLst>
                <a:gd name="T0" fmla="*/ 1 w 1"/>
                <a:gd name="T1" fmla="*/ 147 h 102"/>
                <a:gd name="T2" fmla="*/ 0 w 1"/>
                <a:gd name="T3" fmla="*/ 0 h 10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02">
                  <a:moveTo>
                    <a:pt x="1" y="102"/>
                  </a:moveTo>
                  <a:lnTo>
                    <a:pt x="0" y="0"/>
                  </a:lnTo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29" name="Freeform 38"/>
            <p:cNvSpPr>
              <a:spLocks/>
            </p:cNvSpPr>
            <p:nvPr/>
          </p:nvSpPr>
          <p:spPr bwMode="auto">
            <a:xfrm>
              <a:off x="1156" y="1216"/>
              <a:ext cx="896" cy="2"/>
            </a:xfrm>
            <a:custGeom>
              <a:avLst/>
              <a:gdLst>
                <a:gd name="T0" fmla="*/ 0 w 786"/>
                <a:gd name="T1" fmla="*/ 0 h 1"/>
                <a:gd name="T2" fmla="*/ 1164 w 786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86" h="1">
                  <a:moveTo>
                    <a:pt x="0" y="0"/>
                  </a:moveTo>
                  <a:lnTo>
                    <a:pt x="786" y="0"/>
                  </a:lnTo>
                </a:path>
              </a:pathLst>
            </a:custGeom>
            <a:noFill/>
            <a:ln w="38100" cap="flat" cmpd="sng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6171" name="Group 39"/>
          <p:cNvGrpSpPr>
            <a:grpSpLocks/>
          </p:cNvGrpSpPr>
          <p:nvPr/>
        </p:nvGrpSpPr>
        <p:grpSpPr bwMode="auto">
          <a:xfrm>
            <a:off x="2962275" y="2287588"/>
            <a:ext cx="2387600" cy="1670050"/>
            <a:chOff x="2064" y="1495"/>
            <a:chExt cx="1504" cy="1052"/>
          </a:xfrm>
        </p:grpSpPr>
        <p:sp>
          <p:nvSpPr>
            <p:cNvPr id="6214" name="Text Box 40"/>
            <p:cNvSpPr txBox="1">
              <a:spLocks noChangeArrowheads="1"/>
            </p:cNvSpPr>
            <p:nvPr/>
          </p:nvSpPr>
          <p:spPr bwMode="auto">
            <a:xfrm>
              <a:off x="2684" y="2202"/>
              <a:ext cx="35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 b="1"/>
                <a:t>下</a:t>
              </a:r>
            </a:p>
          </p:txBody>
        </p:sp>
        <p:sp>
          <p:nvSpPr>
            <p:cNvPr id="6215" name="Text Box 41"/>
            <p:cNvSpPr txBox="1">
              <a:spLocks noChangeArrowheads="1"/>
            </p:cNvSpPr>
            <p:nvPr/>
          </p:nvSpPr>
          <p:spPr bwMode="auto">
            <a:xfrm>
              <a:off x="2064" y="1943"/>
              <a:ext cx="342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 b="1"/>
                <a:t>左</a:t>
              </a:r>
            </a:p>
          </p:txBody>
        </p:sp>
        <p:sp>
          <p:nvSpPr>
            <p:cNvPr id="6216" name="Text Box 42"/>
            <p:cNvSpPr txBox="1">
              <a:spLocks noChangeArrowheads="1"/>
            </p:cNvSpPr>
            <p:nvPr/>
          </p:nvSpPr>
          <p:spPr bwMode="auto">
            <a:xfrm>
              <a:off x="3228" y="1839"/>
              <a:ext cx="34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 b="1"/>
                <a:t>右</a:t>
              </a:r>
            </a:p>
          </p:txBody>
        </p:sp>
        <p:sp>
          <p:nvSpPr>
            <p:cNvPr id="6217" name="Text Box 43"/>
            <p:cNvSpPr txBox="1">
              <a:spLocks noChangeArrowheads="1"/>
            </p:cNvSpPr>
            <p:nvPr/>
          </p:nvSpPr>
          <p:spPr bwMode="auto">
            <a:xfrm>
              <a:off x="3168" y="2220"/>
              <a:ext cx="34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 b="1"/>
                <a:t>前</a:t>
              </a:r>
            </a:p>
          </p:txBody>
        </p:sp>
        <p:sp>
          <p:nvSpPr>
            <p:cNvPr id="6218" name="Text Box 44"/>
            <p:cNvSpPr txBox="1">
              <a:spLocks noChangeArrowheads="1"/>
            </p:cNvSpPr>
            <p:nvPr/>
          </p:nvSpPr>
          <p:spPr bwMode="auto">
            <a:xfrm>
              <a:off x="2287" y="1511"/>
              <a:ext cx="34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 b="1"/>
                <a:t>后</a:t>
              </a:r>
            </a:p>
          </p:txBody>
        </p:sp>
        <p:sp>
          <p:nvSpPr>
            <p:cNvPr id="6219" name="Line 45"/>
            <p:cNvSpPr>
              <a:spLocks noChangeShapeType="1"/>
            </p:cNvSpPr>
            <p:nvPr/>
          </p:nvSpPr>
          <p:spPr bwMode="auto">
            <a:xfrm>
              <a:off x="2602" y="1696"/>
              <a:ext cx="155" cy="164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6220" name="Line 46"/>
            <p:cNvSpPr>
              <a:spLocks noChangeShapeType="1"/>
            </p:cNvSpPr>
            <p:nvPr/>
          </p:nvSpPr>
          <p:spPr bwMode="auto">
            <a:xfrm flipH="1" flipV="1">
              <a:off x="3019" y="2277"/>
              <a:ext cx="191" cy="216"/>
            </a:xfrm>
            <a:prstGeom prst="line">
              <a:avLst/>
            </a:prstGeom>
            <a:noFill/>
            <a:ln w="19050">
              <a:solidFill>
                <a:srgbClr val="000000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6221" name="Group 47"/>
            <p:cNvGrpSpPr>
              <a:grpSpLocks/>
            </p:cNvGrpSpPr>
            <p:nvPr/>
          </p:nvGrpSpPr>
          <p:grpSpPr bwMode="auto">
            <a:xfrm>
              <a:off x="2292" y="1872"/>
              <a:ext cx="1074" cy="397"/>
              <a:chOff x="1230" y="2487"/>
              <a:chExt cx="1074" cy="397"/>
            </a:xfrm>
          </p:grpSpPr>
          <p:sp>
            <p:nvSpPr>
              <p:cNvPr id="6223" name="Freeform 48"/>
              <p:cNvSpPr>
                <a:spLocks/>
              </p:cNvSpPr>
              <p:nvPr/>
            </p:nvSpPr>
            <p:spPr bwMode="auto">
              <a:xfrm>
                <a:off x="1232" y="2488"/>
                <a:ext cx="276" cy="396"/>
              </a:xfrm>
              <a:custGeom>
                <a:avLst/>
                <a:gdLst>
                  <a:gd name="T0" fmla="*/ 0 w 276"/>
                  <a:gd name="T1" fmla="*/ 0 h 396"/>
                  <a:gd name="T2" fmla="*/ 0 w 276"/>
                  <a:gd name="T3" fmla="*/ 120 h 396"/>
                  <a:gd name="T4" fmla="*/ 276 w 276"/>
                  <a:gd name="T5" fmla="*/ 396 h 396"/>
                  <a:gd name="T6" fmla="*/ 276 w 276"/>
                  <a:gd name="T7" fmla="*/ 272 h 396"/>
                  <a:gd name="T8" fmla="*/ 0 w 276"/>
                  <a:gd name="T9" fmla="*/ 0 h 39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76" h="396">
                    <a:moveTo>
                      <a:pt x="0" y="0"/>
                    </a:moveTo>
                    <a:lnTo>
                      <a:pt x="0" y="120"/>
                    </a:lnTo>
                    <a:lnTo>
                      <a:pt x="276" y="396"/>
                    </a:lnTo>
                    <a:lnTo>
                      <a:pt x="276" y="272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780000"/>
                  </a:gs>
                  <a:gs pos="100000">
                    <a:srgbClr val="FF000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9050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24" name="Freeform 49"/>
              <p:cNvSpPr>
                <a:spLocks/>
              </p:cNvSpPr>
              <p:nvPr/>
            </p:nvSpPr>
            <p:spPr bwMode="auto">
              <a:xfrm>
                <a:off x="1504" y="2766"/>
                <a:ext cx="800" cy="114"/>
              </a:xfrm>
              <a:custGeom>
                <a:avLst/>
                <a:gdLst>
                  <a:gd name="T0" fmla="*/ 0 w 800"/>
                  <a:gd name="T1" fmla="*/ 0 h 108"/>
                  <a:gd name="T2" fmla="*/ 800 w 800"/>
                  <a:gd name="T3" fmla="*/ 4 h 108"/>
                  <a:gd name="T4" fmla="*/ 800 w 800"/>
                  <a:gd name="T5" fmla="*/ 122 h 108"/>
                  <a:gd name="T6" fmla="*/ 0 w 800"/>
                  <a:gd name="T7" fmla="*/ 127 h 108"/>
                  <a:gd name="T8" fmla="*/ 0 w 800"/>
                  <a:gd name="T9" fmla="*/ 0 h 10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00" h="108">
                    <a:moveTo>
                      <a:pt x="0" y="0"/>
                    </a:moveTo>
                    <a:lnTo>
                      <a:pt x="800" y="4"/>
                    </a:lnTo>
                    <a:lnTo>
                      <a:pt x="800" y="104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A20000"/>
                  </a:gs>
                  <a:gs pos="50000">
                    <a:srgbClr val="FF0000"/>
                  </a:gs>
                  <a:gs pos="100000">
                    <a:srgbClr val="A2000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9050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25" name="Freeform 50"/>
              <p:cNvSpPr>
                <a:spLocks/>
              </p:cNvSpPr>
              <p:nvPr/>
            </p:nvSpPr>
            <p:spPr bwMode="auto">
              <a:xfrm>
                <a:off x="1230" y="2487"/>
                <a:ext cx="1074" cy="288"/>
              </a:xfrm>
              <a:custGeom>
                <a:avLst/>
                <a:gdLst>
                  <a:gd name="T0" fmla="*/ 324 w 1074"/>
                  <a:gd name="T1" fmla="*/ 3 h 288"/>
                  <a:gd name="T2" fmla="*/ 510 w 1074"/>
                  <a:gd name="T3" fmla="*/ 0 h 288"/>
                  <a:gd name="T4" fmla="*/ 789 w 1074"/>
                  <a:gd name="T5" fmla="*/ 3 h 288"/>
                  <a:gd name="T6" fmla="*/ 1074 w 1074"/>
                  <a:gd name="T7" fmla="*/ 288 h 288"/>
                  <a:gd name="T8" fmla="*/ 267 w 1074"/>
                  <a:gd name="T9" fmla="*/ 288 h 288"/>
                  <a:gd name="T10" fmla="*/ 0 w 1074"/>
                  <a:gd name="T11" fmla="*/ 3 h 288"/>
                  <a:gd name="T12" fmla="*/ 324 w 1074"/>
                  <a:gd name="T13" fmla="*/ 3 h 28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074" h="288">
                    <a:moveTo>
                      <a:pt x="324" y="3"/>
                    </a:moveTo>
                    <a:lnTo>
                      <a:pt x="510" y="0"/>
                    </a:lnTo>
                    <a:lnTo>
                      <a:pt x="789" y="3"/>
                    </a:lnTo>
                    <a:lnTo>
                      <a:pt x="1074" y="288"/>
                    </a:lnTo>
                    <a:lnTo>
                      <a:pt x="267" y="288"/>
                    </a:lnTo>
                    <a:lnTo>
                      <a:pt x="0" y="3"/>
                    </a:lnTo>
                    <a:lnTo>
                      <a:pt x="324" y="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A0000"/>
                  </a:gs>
                  <a:gs pos="100000">
                    <a:srgbClr val="FF0000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9050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6222" name="Text Box 51"/>
            <p:cNvSpPr txBox="1">
              <a:spLocks noChangeArrowheads="1"/>
            </p:cNvSpPr>
            <p:nvPr/>
          </p:nvSpPr>
          <p:spPr bwMode="auto">
            <a:xfrm>
              <a:off x="2703" y="1495"/>
              <a:ext cx="340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>
                <a:spcBef>
                  <a:spcPct val="0"/>
                </a:spcBef>
                <a:buClrTx/>
                <a:buFontTx/>
                <a:buNone/>
              </a:pPr>
              <a:r>
                <a:rPr lang="zh-CN" altLang="en-US" sz="2800" b="1"/>
                <a:t>上</a:t>
              </a:r>
            </a:p>
          </p:txBody>
        </p:sp>
      </p:grpSp>
      <p:grpSp>
        <p:nvGrpSpPr>
          <p:cNvPr id="6172" name="Group 52"/>
          <p:cNvGrpSpPr>
            <a:grpSpLocks/>
          </p:cNvGrpSpPr>
          <p:nvPr/>
        </p:nvGrpSpPr>
        <p:grpSpPr bwMode="auto">
          <a:xfrm>
            <a:off x="4940300" y="900113"/>
            <a:ext cx="4003675" cy="3060700"/>
            <a:chOff x="709" y="1836"/>
            <a:chExt cx="2522" cy="1928"/>
          </a:xfrm>
        </p:grpSpPr>
        <p:grpSp>
          <p:nvGrpSpPr>
            <p:cNvPr id="6173" name="Group 53"/>
            <p:cNvGrpSpPr>
              <a:grpSpLocks/>
            </p:cNvGrpSpPr>
            <p:nvPr/>
          </p:nvGrpSpPr>
          <p:grpSpPr bwMode="auto">
            <a:xfrm>
              <a:off x="709" y="1836"/>
              <a:ext cx="2522" cy="1928"/>
              <a:chOff x="709" y="1836"/>
              <a:chExt cx="2522" cy="1928"/>
            </a:xfrm>
          </p:grpSpPr>
          <p:sp>
            <p:nvSpPr>
              <p:cNvPr id="6208" name="Freeform 54"/>
              <p:cNvSpPr>
                <a:spLocks/>
              </p:cNvSpPr>
              <p:nvPr/>
            </p:nvSpPr>
            <p:spPr bwMode="auto">
              <a:xfrm>
                <a:off x="2408" y="1836"/>
                <a:ext cx="813" cy="1868"/>
              </a:xfrm>
              <a:custGeom>
                <a:avLst/>
                <a:gdLst>
                  <a:gd name="T0" fmla="*/ 0 w 813"/>
                  <a:gd name="T1" fmla="*/ 1052 h 1868"/>
                  <a:gd name="T2" fmla="*/ 813 w 813"/>
                  <a:gd name="T3" fmla="*/ 1868 h 1868"/>
                  <a:gd name="T4" fmla="*/ 813 w 813"/>
                  <a:gd name="T5" fmla="*/ 813 h 1868"/>
                  <a:gd name="T6" fmla="*/ 0 w 813"/>
                  <a:gd name="T7" fmla="*/ 0 h 1868"/>
                  <a:gd name="T8" fmla="*/ 0 w 813"/>
                  <a:gd name="T9" fmla="*/ 1052 h 186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13" h="1868">
                    <a:moveTo>
                      <a:pt x="0" y="1052"/>
                    </a:moveTo>
                    <a:lnTo>
                      <a:pt x="813" y="1868"/>
                    </a:lnTo>
                    <a:lnTo>
                      <a:pt x="813" y="813"/>
                    </a:lnTo>
                    <a:lnTo>
                      <a:pt x="0" y="0"/>
                    </a:lnTo>
                    <a:lnTo>
                      <a:pt x="0" y="1052"/>
                    </a:lnTo>
                    <a:close/>
                  </a:path>
                </a:pathLst>
              </a:custGeom>
              <a:solidFill>
                <a:srgbClr val="FFFF00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09" name="Freeform 55"/>
              <p:cNvSpPr>
                <a:spLocks/>
              </p:cNvSpPr>
              <p:nvPr/>
            </p:nvSpPr>
            <p:spPr bwMode="auto">
              <a:xfrm>
                <a:off x="709" y="2895"/>
                <a:ext cx="2522" cy="816"/>
              </a:xfrm>
              <a:custGeom>
                <a:avLst/>
                <a:gdLst>
                  <a:gd name="T0" fmla="*/ 0 w 2522"/>
                  <a:gd name="T1" fmla="*/ 0 h 816"/>
                  <a:gd name="T2" fmla="*/ 1700 w 2522"/>
                  <a:gd name="T3" fmla="*/ 0 h 816"/>
                  <a:gd name="T4" fmla="*/ 2522 w 2522"/>
                  <a:gd name="T5" fmla="*/ 816 h 816"/>
                  <a:gd name="T6" fmla="*/ 818 w 2522"/>
                  <a:gd name="T7" fmla="*/ 813 h 816"/>
                  <a:gd name="T8" fmla="*/ 0 w 2522"/>
                  <a:gd name="T9" fmla="*/ 0 h 81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22" h="816">
                    <a:moveTo>
                      <a:pt x="0" y="0"/>
                    </a:moveTo>
                    <a:lnTo>
                      <a:pt x="1700" y="0"/>
                    </a:lnTo>
                    <a:lnTo>
                      <a:pt x="2522" y="816"/>
                    </a:lnTo>
                    <a:lnTo>
                      <a:pt x="818" y="813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00CC66"/>
              </a:solidFill>
              <a:ln w="9525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10" name="Rectangle 56"/>
              <p:cNvSpPr>
                <a:spLocks noChangeArrowheads="1"/>
              </p:cNvSpPr>
              <p:nvPr/>
            </p:nvSpPr>
            <p:spPr bwMode="auto">
              <a:xfrm>
                <a:off x="709" y="1845"/>
                <a:ext cx="1708" cy="1050"/>
              </a:xfrm>
              <a:prstGeom prst="rect">
                <a:avLst/>
              </a:prstGeom>
              <a:solidFill>
                <a:srgbClr val="FFCCFF"/>
              </a:solidFill>
              <a:ln w="9525">
                <a:solidFill>
                  <a:schemeClr val="tx1"/>
                </a:solidFill>
                <a:miter lim="800000"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400"/>
              </a:p>
            </p:txBody>
          </p:sp>
          <p:sp>
            <p:nvSpPr>
              <p:cNvPr id="6211" name="Text Box 57"/>
              <p:cNvSpPr txBox="1">
                <a:spLocks noChangeArrowheads="1"/>
              </p:cNvSpPr>
              <p:nvPr/>
            </p:nvSpPr>
            <p:spPr bwMode="auto">
              <a:xfrm>
                <a:off x="752" y="1873"/>
                <a:ext cx="228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800" b="1">
                    <a:latin typeface="宋体" pitchFamily="2" charset="-122"/>
                  </a:rPr>
                  <a:t>V</a:t>
                </a:r>
                <a:endParaRPr lang="en-US" altLang="zh-CN" sz="2800" b="1"/>
              </a:p>
            </p:txBody>
          </p:sp>
          <p:sp>
            <p:nvSpPr>
              <p:cNvPr id="6212" name="Text Box 58"/>
              <p:cNvSpPr txBox="1">
                <a:spLocks noChangeArrowheads="1"/>
              </p:cNvSpPr>
              <p:nvPr/>
            </p:nvSpPr>
            <p:spPr bwMode="auto">
              <a:xfrm rot="-32410">
                <a:off x="2933" y="2532"/>
                <a:ext cx="277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800" b="1">
                    <a:latin typeface="宋体" pitchFamily="2" charset="-122"/>
                  </a:rPr>
                  <a:t>W</a:t>
                </a:r>
                <a:endParaRPr lang="en-US" altLang="zh-CN" sz="2800" b="1"/>
              </a:p>
            </p:txBody>
          </p:sp>
          <p:sp>
            <p:nvSpPr>
              <p:cNvPr id="6213" name="Text Box 59"/>
              <p:cNvSpPr txBox="1">
                <a:spLocks noChangeArrowheads="1"/>
              </p:cNvSpPr>
              <p:nvPr/>
            </p:nvSpPr>
            <p:spPr bwMode="auto">
              <a:xfrm rot="-156909">
                <a:off x="1511" y="3437"/>
                <a:ext cx="228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CCFFFF"/>
                    </a:solidFill>
                  </a14:hiddenFill>
                </a:ext>
                <a:ext uri="{91240B29-F687-4F45-9708-019B960494DF}">
                  <a14:hiddenLine xmlns:a14="http://schemas.microsoft.com/office/drawing/2010/main" w="12700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800" b="1">
                    <a:latin typeface="宋体" pitchFamily="2" charset="-122"/>
                  </a:rPr>
                  <a:t>H</a:t>
                </a:r>
                <a:endParaRPr lang="en-US" altLang="zh-CN" sz="2800" b="1"/>
              </a:p>
            </p:txBody>
          </p:sp>
        </p:grpSp>
        <p:grpSp>
          <p:nvGrpSpPr>
            <p:cNvPr id="6174" name="Group 60"/>
            <p:cNvGrpSpPr>
              <a:grpSpLocks/>
            </p:cNvGrpSpPr>
            <p:nvPr/>
          </p:nvGrpSpPr>
          <p:grpSpPr bwMode="auto">
            <a:xfrm>
              <a:off x="1240" y="2546"/>
              <a:ext cx="1053" cy="849"/>
              <a:chOff x="1240" y="2546"/>
              <a:chExt cx="1053" cy="849"/>
            </a:xfrm>
          </p:grpSpPr>
          <p:sp>
            <p:nvSpPr>
              <p:cNvPr id="6204" name="Freeform 61"/>
              <p:cNvSpPr>
                <a:spLocks/>
              </p:cNvSpPr>
              <p:nvPr/>
            </p:nvSpPr>
            <p:spPr bwMode="auto">
              <a:xfrm>
                <a:off x="1240" y="2604"/>
                <a:ext cx="1" cy="508"/>
              </a:xfrm>
              <a:custGeom>
                <a:avLst/>
                <a:gdLst>
                  <a:gd name="T0" fmla="*/ 0 w 1"/>
                  <a:gd name="T1" fmla="*/ 0 h 508"/>
                  <a:gd name="T2" fmla="*/ 1 w 1"/>
                  <a:gd name="T3" fmla="*/ 508 h 50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508">
                    <a:moveTo>
                      <a:pt x="0" y="0"/>
                    </a:moveTo>
                    <a:lnTo>
                      <a:pt x="1" y="508"/>
                    </a:lnTo>
                  </a:path>
                </a:pathLst>
              </a:cu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05" name="Line 62"/>
              <p:cNvSpPr>
                <a:spLocks noChangeShapeType="1"/>
              </p:cNvSpPr>
              <p:nvPr/>
            </p:nvSpPr>
            <p:spPr bwMode="auto">
              <a:xfrm>
                <a:off x="1504" y="2864"/>
                <a:ext cx="0" cy="531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06" name="Line 63"/>
              <p:cNvSpPr>
                <a:spLocks noChangeShapeType="1"/>
              </p:cNvSpPr>
              <p:nvPr/>
            </p:nvSpPr>
            <p:spPr bwMode="auto">
              <a:xfrm>
                <a:off x="2293" y="2857"/>
                <a:ext cx="0" cy="538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07" name="Line 64"/>
              <p:cNvSpPr>
                <a:spLocks noChangeShapeType="1"/>
              </p:cNvSpPr>
              <p:nvPr/>
            </p:nvSpPr>
            <p:spPr bwMode="auto">
              <a:xfrm>
                <a:off x="2018" y="2546"/>
                <a:ext cx="0" cy="566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6175" name="Group 65"/>
            <p:cNvGrpSpPr>
              <a:grpSpLocks/>
            </p:cNvGrpSpPr>
            <p:nvPr/>
          </p:nvGrpSpPr>
          <p:grpSpPr bwMode="auto">
            <a:xfrm>
              <a:off x="1230" y="3110"/>
              <a:ext cx="1067" cy="281"/>
              <a:chOff x="1230" y="3110"/>
              <a:chExt cx="1067" cy="281"/>
            </a:xfrm>
          </p:grpSpPr>
          <p:sp>
            <p:nvSpPr>
              <p:cNvPr id="6200" name="Line 66"/>
              <p:cNvSpPr>
                <a:spLocks noChangeShapeType="1"/>
              </p:cNvSpPr>
              <p:nvPr/>
            </p:nvSpPr>
            <p:spPr bwMode="auto">
              <a:xfrm>
                <a:off x="1230" y="3110"/>
                <a:ext cx="79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01" name="Line 67"/>
              <p:cNvSpPr>
                <a:spLocks noChangeShapeType="1"/>
              </p:cNvSpPr>
              <p:nvPr/>
            </p:nvSpPr>
            <p:spPr bwMode="auto">
              <a:xfrm>
                <a:off x="1504" y="3384"/>
                <a:ext cx="793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02" name="Freeform 68"/>
              <p:cNvSpPr>
                <a:spLocks/>
              </p:cNvSpPr>
              <p:nvPr/>
            </p:nvSpPr>
            <p:spPr bwMode="auto">
              <a:xfrm>
                <a:off x="2021" y="3111"/>
                <a:ext cx="272" cy="273"/>
              </a:xfrm>
              <a:custGeom>
                <a:avLst/>
                <a:gdLst>
                  <a:gd name="T0" fmla="*/ 0 w 272"/>
                  <a:gd name="T1" fmla="*/ 0 h 273"/>
                  <a:gd name="T2" fmla="*/ 272 w 272"/>
                  <a:gd name="T3" fmla="*/ 273 h 27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72" h="273">
                    <a:moveTo>
                      <a:pt x="0" y="0"/>
                    </a:moveTo>
                    <a:lnTo>
                      <a:pt x="272" y="273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203" name="Freeform 69"/>
              <p:cNvSpPr>
                <a:spLocks/>
              </p:cNvSpPr>
              <p:nvPr/>
            </p:nvSpPr>
            <p:spPr bwMode="auto">
              <a:xfrm>
                <a:off x="1233" y="3118"/>
                <a:ext cx="274" cy="273"/>
              </a:xfrm>
              <a:custGeom>
                <a:avLst/>
                <a:gdLst>
                  <a:gd name="T0" fmla="*/ 0 w 272"/>
                  <a:gd name="T1" fmla="*/ 0 h 273"/>
                  <a:gd name="T2" fmla="*/ 278 w 272"/>
                  <a:gd name="T3" fmla="*/ 273 h 27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72" h="273">
                    <a:moveTo>
                      <a:pt x="0" y="0"/>
                    </a:moveTo>
                    <a:lnTo>
                      <a:pt x="272" y="273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6176" name="Group 70"/>
            <p:cNvGrpSpPr>
              <a:grpSpLocks/>
            </p:cNvGrpSpPr>
            <p:nvPr/>
          </p:nvGrpSpPr>
          <p:grpSpPr bwMode="auto">
            <a:xfrm>
              <a:off x="1013" y="2279"/>
              <a:ext cx="791" cy="107"/>
              <a:chOff x="1013" y="2279"/>
              <a:chExt cx="791" cy="107"/>
            </a:xfrm>
          </p:grpSpPr>
          <p:sp>
            <p:nvSpPr>
              <p:cNvPr id="6196" name="Line 71"/>
              <p:cNvSpPr>
                <a:spLocks noChangeShapeType="1"/>
              </p:cNvSpPr>
              <p:nvPr/>
            </p:nvSpPr>
            <p:spPr bwMode="auto">
              <a:xfrm flipH="1">
                <a:off x="1013" y="2376"/>
                <a:ext cx="791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97" name="Line 72"/>
              <p:cNvSpPr>
                <a:spLocks noChangeShapeType="1"/>
              </p:cNvSpPr>
              <p:nvPr/>
            </p:nvSpPr>
            <p:spPr bwMode="auto">
              <a:xfrm flipV="1">
                <a:off x="1020" y="2283"/>
                <a:ext cx="0" cy="87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98" name="Line 73"/>
              <p:cNvSpPr>
                <a:spLocks noChangeShapeType="1"/>
              </p:cNvSpPr>
              <p:nvPr/>
            </p:nvSpPr>
            <p:spPr bwMode="auto">
              <a:xfrm flipV="1">
                <a:off x="1793" y="2279"/>
                <a:ext cx="0" cy="107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99" name="Freeform 74"/>
              <p:cNvSpPr>
                <a:spLocks/>
              </p:cNvSpPr>
              <p:nvPr/>
            </p:nvSpPr>
            <p:spPr bwMode="auto">
              <a:xfrm>
                <a:off x="1014" y="2286"/>
                <a:ext cx="786" cy="1"/>
              </a:xfrm>
              <a:custGeom>
                <a:avLst/>
                <a:gdLst>
                  <a:gd name="T0" fmla="*/ 0 w 786"/>
                  <a:gd name="T1" fmla="*/ 0 h 1"/>
                  <a:gd name="T2" fmla="*/ 786 w 786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786" h="1">
                    <a:moveTo>
                      <a:pt x="0" y="0"/>
                    </a:moveTo>
                    <a:lnTo>
                      <a:pt x="786" y="0"/>
                    </a:lnTo>
                  </a:path>
                </a:pathLst>
              </a:custGeom>
              <a:noFill/>
              <a:ln w="38100" cap="flat" cmpd="sng">
                <a:solidFill>
                  <a:schemeClr val="tx1"/>
                </a:solidFill>
                <a:prstDash val="solid"/>
                <a:round/>
                <a:headEnd type="none" w="med" len="med"/>
                <a:tailEnd type="none" w="med" len="med"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6177" name="Group 75"/>
            <p:cNvGrpSpPr>
              <a:grpSpLocks/>
            </p:cNvGrpSpPr>
            <p:nvPr/>
          </p:nvGrpSpPr>
          <p:grpSpPr bwMode="auto">
            <a:xfrm>
              <a:off x="2634" y="2496"/>
              <a:ext cx="275" cy="382"/>
              <a:chOff x="2634" y="2496"/>
              <a:chExt cx="275" cy="382"/>
            </a:xfrm>
          </p:grpSpPr>
          <p:sp>
            <p:nvSpPr>
              <p:cNvPr id="6192" name="Line 76"/>
              <p:cNvSpPr>
                <a:spLocks noChangeShapeType="1"/>
              </p:cNvSpPr>
              <p:nvPr/>
            </p:nvSpPr>
            <p:spPr bwMode="auto">
              <a:xfrm>
                <a:off x="2634" y="2496"/>
                <a:ext cx="0" cy="116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93" name="Line 77"/>
              <p:cNvSpPr>
                <a:spLocks noChangeShapeType="1"/>
              </p:cNvSpPr>
              <p:nvPr/>
            </p:nvSpPr>
            <p:spPr bwMode="auto">
              <a:xfrm flipV="1">
                <a:off x="2906" y="2768"/>
                <a:ext cx="0" cy="110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94" name="Line 78"/>
              <p:cNvSpPr>
                <a:spLocks noChangeShapeType="1"/>
              </p:cNvSpPr>
              <p:nvPr/>
            </p:nvSpPr>
            <p:spPr bwMode="auto">
              <a:xfrm>
                <a:off x="2635" y="2497"/>
                <a:ext cx="274" cy="271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95" name="Line 79"/>
              <p:cNvSpPr>
                <a:spLocks noChangeShapeType="1"/>
              </p:cNvSpPr>
              <p:nvPr/>
            </p:nvSpPr>
            <p:spPr bwMode="auto">
              <a:xfrm flipH="1" flipV="1">
                <a:off x="2634" y="2597"/>
                <a:ext cx="272" cy="272"/>
              </a:xfrm>
              <a:prstGeom prst="line">
                <a:avLst/>
              </a:prstGeom>
              <a:noFill/>
              <a:ln w="38100">
                <a:solidFill>
                  <a:srgbClr val="000000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6178" name="Group 80"/>
            <p:cNvGrpSpPr>
              <a:grpSpLocks/>
            </p:cNvGrpSpPr>
            <p:nvPr/>
          </p:nvGrpSpPr>
          <p:grpSpPr bwMode="auto">
            <a:xfrm>
              <a:off x="1230" y="2487"/>
              <a:ext cx="1074" cy="397"/>
              <a:chOff x="1230" y="2487"/>
              <a:chExt cx="1074" cy="397"/>
            </a:xfrm>
          </p:grpSpPr>
          <p:sp>
            <p:nvSpPr>
              <p:cNvPr id="6189" name="Freeform 81"/>
              <p:cNvSpPr>
                <a:spLocks/>
              </p:cNvSpPr>
              <p:nvPr/>
            </p:nvSpPr>
            <p:spPr bwMode="auto">
              <a:xfrm>
                <a:off x="1232" y="2488"/>
                <a:ext cx="276" cy="396"/>
              </a:xfrm>
              <a:custGeom>
                <a:avLst/>
                <a:gdLst>
                  <a:gd name="T0" fmla="*/ 0 w 276"/>
                  <a:gd name="T1" fmla="*/ 0 h 396"/>
                  <a:gd name="T2" fmla="*/ 0 w 276"/>
                  <a:gd name="T3" fmla="*/ 120 h 396"/>
                  <a:gd name="T4" fmla="*/ 276 w 276"/>
                  <a:gd name="T5" fmla="*/ 396 h 396"/>
                  <a:gd name="T6" fmla="*/ 276 w 276"/>
                  <a:gd name="T7" fmla="*/ 272 h 396"/>
                  <a:gd name="T8" fmla="*/ 0 w 276"/>
                  <a:gd name="T9" fmla="*/ 0 h 39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76" h="396">
                    <a:moveTo>
                      <a:pt x="0" y="0"/>
                    </a:moveTo>
                    <a:lnTo>
                      <a:pt x="0" y="120"/>
                    </a:lnTo>
                    <a:lnTo>
                      <a:pt x="276" y="396"/>
                    </a:lnTo>
                    <a:lnTo>
                      <a:pt x="276" y="272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780000"/>
                  </a:gs>
                  <a:gs pos="100000">
                    <a:srgbClr val="FF000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9050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90" name="Freeform 82"/>
              <p:cNvSpPr>
                <a:spLocks/>
              </p:cNvSpPr>
              <p:nvPr/>
            </p:nvSpPr>
            <p:spPr bwMode="auto">
              <a:xfrm>
                <a:off x="1504" y="2766"/>
                <a:ext cx="800" cy="114"/>
              </a:xfrm>
              <a:custGeom>
                <a:avLst/>
                <a:gdLst>
                  <a:gd name="T0" fmla="*/ 0 w 800"/>
                  <a:gd name="T1" fmla="*/ 0 h 108"/>
                  <a:gd name="T2" fmla="*/ 800 w 800"/>
                  <a:gd name="T3" fmla="*/ 4 h 108"/>
                  <a:gd name="T4" fmla="*/ 800 w 800"/>
                  <a:gd name="T5" fmla="*/ 122 h 108"/>
                  <a:gd name="T6" fmla="*/ 0 w 800"/>
                  <a:gd name="T7" fmla="*/ 127 h 108"/>
                  <a:gd name="T8" fmla="*/ 0 w 800"/>
                  <a:gd name="T9" fmla="*/ 0 h 10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00" h="108">
                    <a:moveTo>
                      <a:pt x="0" y="0"/>
                    </a:moveTo>
                    <a:lnTo>
                      <a:pt x="800" y="4"/>
                    </a:lnTo>
                    <a:lnTo>
                      <a:pt x="800" y="104"/>
                    </a:lnTo>
                    <a:lnTo>
                      <a:pt x="0" y="108"/>
                    </a:lnTo>
                    <a:lnTo>
                      <a:pt x="0" y="0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A20000"/>
                  </a:gs>
                  <a:gs pos="50000">
                    <a:srgbClr val="FF0000"/>
                  </a:gs>
                  <a:gs pos="100000">
                    <a:srgbClr val="A20000"/>
                  </a:gs>
                </a:gsLst>
                <a:lin ang="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9050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91" name="Freeform 83"/>
              <p:cNvSpPr>
                <a:spLocks/>
              </p:cNvSpPr>
              <p:nvPr/>
            </p:nvSpPr>
            <p:spPr bwMode="auto">
              <a:xfrm>
                <a:off x="1230" y="2487"/>
                <a:ext cx="1074" cy="288"/>
              </a:xfrm>
              <a:custGeom>
                <a:avLst/>
                <a:gdLst>
                  <a:gd name="T0" fmla="*/ 324 w 1074"/>
                  <a:gd name="T1" fmla="*/ 3 h 288"/>
                  <a:gd name="T2" fmla="*/ 510 w 1074"/>
                  <a:gd name="T3" fmla="*/ 0 h 288"/>
                  <a:gd name="T4" fmla="*/ 789 w 1074"/>
                  <a:gd name="T5" fmla="*/ 3 h 288"/>
                  <a:gd name="T6" fmla="*/ 1074 w 1074"/>
                  <a:gd name="T7" fmla="*/ 288 h 288"/>
                  <a:gd name="T8" fmla="*/ 267 w 1074"/>
                  <a:gd name="T9" fmla="*/ 288 h 288"/>
                  <a:gd name="T10" fmla="*/ 0 w 1074"/>
                  <a:gd name="T11" fmla="*/ 3 h 288"/>
                  <a:gd name="T12" fmla="*/ 324 w 1074"/>
                  <a:gd name="T13" fmla="*/ 3 h 28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074" h="288">
                    <a:moveTo>
                      <a:pt x="324" y="3"/>
                    </a:moveTo>
                    <a:lnTo>
                      <a:pt x="510" y="0"/>
                    </a:lnTo>
                    <a:lnTo>
                      <a:pt x="789" y="3"/>
                    </a:lnTo>
                    <a:lnTo>
                      <a:pt x="1074" y="288"/>
                    </a:lnTo>
                    <a:lnTo>
                      <a:pt x="267" y="288"/>
                    </a:lnTo>
                    <a:lnTo>
                      <a:pt x="0" y="3"/>
                    </a:lnTo>
                    <a:lnTo>
                      <a:pt x="324" y="3"/>
                    </a:lnTo>
                    <a:close/>
                  </a:path>
                </a:pathLst>
              </a:custGeom>
              <a:gradFill rotWithShape="0">
                <a:gsLst>
                  <a:gs pos="0">
                    <a:srgbClr val="8A0000"/>
                  </a:gs>
                  <a:gs pos="100000">
                    <a:srgbClr val="FF0000"/>
                  </a:gs>
                </a:gsLst>
                <a:lin ang="5400000" scaled="1"/>
              </a:gra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19050" cap="flat" cmpd="sng">
                    <a:solidFill>
                      <a:srgbClr val="000000"/>
                    </a:solidFill>
                    <a:prstDash val="solid"/>
                    <a:round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6179" name="Group 84"/>
            <p:cNvGrpSpPr>
              <a:grpSpLocks/>
            </p:cNvGrpSpPr>
            <p:nvPr/>
          </p:nvGrpSpPr>
          <p:grpSpPr bwMode="auto">
            <a:xfrm>
              <a:off x="2007" y="2496"/>
              <a:ext cx="903" cy="379"/>
              <a:chOff x="2007" y="2496"/>
              <a:chExt cx="903" cy="379"/>
            </a:xfrm>
          </p:grpSpPr>
          <p:sp>
            <p:nvSpPr>
              <p:cNvPr id="6185" name="Line 85"/>
              <p:cNvSpPr>
                <a:spLocks noChangeShapeType="1"/>
              </p:cNvSpPr>
              <p:nvPr/>
            </p:nvSpPr>
            <p:spPr bwMode="auto">
              <a:xfrm>
                <a:off x="2292" y="2875"/>
                <a:ext cx="617" cy="0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86" name="Line 86"/>
              <p:cNvSpPr>
                <a:spLocks noChangeShapeType="1"/>
              </p:cNvSpPr>
              <p:nvPr/>
            </p:nvSpPr>
            <p:spPr bwMode="auto">
              <a:xfrm>
                <a:off x="2288" y="2771"/>
                <a:ext cx="622" cy="0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87" name="Line 87"/>
              <p:cNvSpPr>
                <a:spLocks noChangeShapeType="1"/>
              </p:cNvSpPr>
              <p:nvPr/>
            </p:nvSpPr>
            <p:spPr bwMode="auto">
              <a:xfrm flipH="1">
                <a:off x="2007" y="2496"/>
                <a:ext cx="634" cy="0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88" name="Line 88"/>
              <p:cNvSpPr>
                <a:spLocks noChangeShapeType="1"/>
              </p:cNvSpPr>
              <p:nvPr/>
            </p:nvSpPr>
            <p:spPr bwMode="auto">
              <a:xfrm flipH="1">
                <a:off x="2121" y="2601"/>
                <a:ext cx="517" cy="0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6180" name="Group 89"/>
            <p:cNvGrpSpPr>
              <a:grpSpLocks/>
            </p:cNvGrpSpPr>
            <p:nvPr/>
          </p:nvGrpSpPr>
          <p:grpSpPr bwMode="auto">
            <a:xfrm>
              <a:off x="1011" y="2275"/>
              <a:ext cx="1004" cy="338"/>
              <a:chOff x="1011" y="2275"/>
              <a:chExt cx="1004" cy="338"/>
            </a:xfrm>
          </p:grpSpPr>
          <p:sp>
            <p:nvSpPr>
              <p:cNvPr id="6181" name="Line 90"/>
              <p:cNvSpPr>
                <a:spLocks noChangeShapeType="1"/>
              </p:cNvSpPr>
              <p:nvPr/>
            </p:nvSpPr>
            <p:spPr bwMode="auto">
              <a:xfrm flipH="1" flipV="1">
                <a:off x="1791" y="2275"/>
                <a:ext cx="224" cy="224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82" name="Line 91"/>
              <p:cNvSpPr>
                <a:spLocks noChangeShapeType="1"/>
              </p:cNvSpPr>
              <p:nvPr/>
            </p:nvSpPr>
            <p:spPr bwMode="auto">
              <a:xfrm flipH="1" flipV="1">
                <a:off x="1014" y="2389"/>
                <a:ext cx="224" cy="224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83" name="Line 92"/>
              <p:cNvSpPr>
                <a:spLocks noChangeShapeType="1"/>
              </p:cNvSpPr>
              <p:nvPr/>
            </p:nvSpPr>
            <p:spPr bwMode="auto">
              <a:xfrm flipH="1" flipV="1">
                <a:off x="1011" y="2278"/>
                <a:ext cx="224" cy="224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6184" name="Line 93"/>
              <p:cNvSpPr>
                <a:spLocks noChangeShapeType="1"/>
              </p:cNvSpPr>
              <p:nvPr/>
            </p:nvSpPr>
            <p:spPr bwMode="auto">
              <a:xfrm flipH="1" flipV="1">
                <a:off x="1779" y="2371"/>
                <a:ext cx="134" cy="134"/>
              </a:xfrm>
              <a:prstGeom prst="line">
                <a:avLst/>
              </a:prstGeom>
              <a:noFill/>
              <a:ln w="19050">
                <a:solidFill>
                  <a:schemeClr val="accent2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75"/>
                                        <p:tgtEl>
                                          <p:spTgt spid="12390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75"/>
                                        <p:tgtEl>
                                          <p:spTgt spid="12391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75"/>
                                        <p:tgtEl>
                                          <p:spTgt spid="12391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75"/>
                                        <p:tgtEl>
                                          <p:spTgt spid="1239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7" dur="75"/>
                                        <p:tgtEl>
                                          <p:spTgt spid="12391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75"/>
                                        <p:tgtEl>
                                          <p:spTgt spid="12391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75"/>
                                        <p:tgtEl>
                                          <p:spTgt spid="12391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75"/>
                                        <p:tgtEl>
                                          <p:spTgt spid="12391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7" dur="75"/>
                                        <p:tgtEl>
                                          <p:spTgt spid="1239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75"/>
                                        <p:tgtEl>
                                          <p:spTgt spid="12391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75"/>
                                        <p:tgtEl>
                                          <p:spTgt spid="1239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2" dur="75"/>
                                        <p:tgtEl>
                                          <p:spTgt spid="12391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2390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2390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3" dur="500"/>
                                        <p:tgtEl>
                                          <p:spTgt spid="1239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8" dur="500"/>
                                        <p:tgtEl>
                                          <p:spTgt spid="1239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3" dur="500"/>
                                        <p:tgtEl>
                                          <p:spTgt spid="123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1239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123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1239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9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1239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908" grpId="0" animBg="1" autoUpdateAnimBg="0"/>
      <p:bldP spid="123909" grpId="0" build="p" autoUpdateAnimBg="0"/>
      <p:bldP spid="123910" grpId="0" build="p" autoUpdateAnimBg="0"/>
      <p:bldP spid="123911" grpId="0" build="p" autoUpdateAnimBg="0"/>
      <p:bldP spid="123912" grpId="0" build="p" autoUpdateAnimBg="0"/>
      <p:bldP spid="123913" grpId="0" build="p" autoUpdateAnimBg="0"/>
      <p:bldP spid="123914" grpId="0" build="p" autoUpdateAnimBg="0"/>
      <p:bldP spid="123915" grpId="0" build="p" autoUpdateAnimBg="0"/>
      <p:bldP spid="123916" grpId="0" build="p" autoUpdateAnimBg="0"/>
      <p:bldP spid="123917" grpId="0" build="p" autoUpdateAnimBg="0"/>
      <p:bldP spid="123918" grpId="0" build="p" autoUpdateAnimBg="0"/>
      <p:bldP spid="123919" grpId="0" build="p" autoUpdateAnimBg="0"/>
      <p:bldP spid="123920" grpId="0" build="p" autoUpdateAnimBg="0"/>
      <p:bldP spid="123921" grpId="0" autoUpdateAnimBg="0"/>
      <p:bldP spid="123922" grpId="0" autoUpdateAnimBg="0"/>
      <p:bldP spid="123923" grpId="0" autoUpdateAnimBg="0"/>
      <p:bldP spid="123930" grpId="0" animBg="1"/>
      <p:bldP spid="123931" grpId="0" animBg="1"/>
      <p:bldP spid="123932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灯片编号占位符 7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C0AEA661-3B0B-48D5-8B58-A5152CCDD06C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5</a:t>
            </a:fld>
            <a:endParaRPr lang="en-US" altLang="zh-CN" sz="1400" smtClean="0">
              <a:solidFill>
                <a:schemeClr val="bg2"/>
              </a:solidFill>
            </a:endParaRPr>
          </a:p>
        </p:txBody>
      </p:sp>
      <p:sp>
        <p:nvSpPr>
          <p:cNvPr id="7171" name="Rectangle 2"/>
          <p:cNvSpPr>
            <a:spLocks noChangeArrowheads="1"/>
          </p:cNvSpPr>
          <p:nvPr/>
        </p:nvSpPr>
        <p:spPr bwMode="auto">
          <a:xfrm>
            <a:off x="447675" y="142875"/>
            <a:ext cx="7197725" cy="7048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gradFill rotWithShape="0">
                  <a:gsLst>
                    <a:gs pos="0">
                      <a:srgbClr val="FF99FF"/>
                    </a:gs>
                    <a:gs pos="50000">
                      <a:srgbClr val="FFFF00"/>
                    </a:gs>
                    <a:gs pos="100000">
                      <a:srgbClr val="FF99FF"/>
                    </a:gs>
                  </a:gsLst>
                  <a:lin ang="5400000" scaled="1"/>
                </a:gradFill>
              </a14:hiddenFill>
            </a:ext>
            <a:ext uri="{91240B29-F687-4F45-9708-019B960494DF}">
              <a14:hiddenLine xmlns:a14="http://schemas.microsoft.com/office/drawing/2010/main" w="57150">
                <a:pattFill prst="smCheck">
                  <a:fgClr>
                    <a:srgbClr val="FF3300"/>
                  </a:fgClr>
                  <a:bgClr>
                    <a:srgbClr val="FFFF00"/>
                  </a:bgClr>
                </a:patt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4000" b="1">
                <a:latin typeface="黑体" pitchFamily="2" charset="-122"/>
                <a:ea typeface="黑体" pitchFamily="2" charset="-122"/>
              </a:rPr>
              <a:t>二  平面立体</a:t>
            </a:r>
            <a:endParaRPr lang="zh-CN" altLang="en-US" sz="4000">
              <a:ea typeface="黑体" pitchFamily="2" charset="-122"/>
            </a:endParaRPr>
          </a:p>
        </p:txBody>
      </p:sp>
      <p:sp>
        <p:nvSpPr>
          <p:cNvPr id="122883" name="Text Box 3"/>
          <p:cNvSpPr txBox="1">
            <a:spLocks noChangeArrowheads="1"/>
          </p:cNvSpPr>
          <p:nvPr/>
        </p:nvSpPr>
        <p:spPr bwMode="auto">
          <a:xfrm>
            <a:off x="2851150" y="909638"/>
            <a:ext cx="3532188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en-US" altLang="zh-CN" sz="3600" b="1">
                <a:latin typeface="宋体" pitchFamily="2" charset="-122"/>
              </a:rPr>
              <a:t> </a:t>
            </a:r>
            <a:r>
              <a:rPr lang="zh-CN" altLang="en-US" sz="3600" b="1">
                <a:latin typeface="宋体" pitchFamily="2" charset="-122"/>
              </a:rPr>
              <a:t>常见基本体</a:t>
            </a:r>
            <a:endParaRPr lang="zh-CN" altLang="en-US" sz="3600"/>
          </a:p>
        </p:txBody>
      </p:sp>
      <p:sp>
        <p:nvSpPr>
          <p:cNvPr id="122884" name="Text Box 4"/>
          <p:cNvSpPr txBox="1">
            <a:spLocks noChangeArrowheads="1"/>
          </p:cNvSpPr>
          <p:nvPr/>
        </p:nvSpPr>
        <p:spPr bwMode="auto">
          <a:xfrm>
            <a:off x="1362075" y="1890713"/>
            <a:ext cx="2452688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sz="3600" b="1"/>
              <a:t>平面立体</a:t>
            </a:r>
          </a:p>
        </p:txBody>
      </p:sp>
      <p:sp>
        <p:nvSpPr>
          <p:cNvPr id="122885" name="Text Box 5"/>
          <p:cNvSpPr txBox="1">
            <a:spLocks noChangeArrowheads="1"/>
          </p:cNvSpPr>
          <p:nvPr/>
        </p:nvSpPr>
        <p:spPr bwMode="auto">
          <a:xfrm>
            <a:off x="4610100" y="1890713"/>
            <a:ext cx="315912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chemeClr val="tx2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sz="3600" b="1"/>
              <a:t>回转体</a:t>
            </a:r>
          </a:p>
        </p:txBody>
      </p:sp>
      <p:sp>
        <p:nvSpPr>
          <p:cNvPr id="122886" name="AutoShape 6"/>
          <p:cNvSpPr>
            <a:spLocks/>
          </p:cNvSpPr>
          <p:nvPr/>
        </p:nvSpPr>
        <p:spPr bwMode="auto">
          <a:xfrm rot="5400000">
            <a:off x="4037013" y="-74612"/>
            <a:ext cx="485775" cy="3686175"/>
          </a:xfrm>
          <a:prstGeom prst="leftBrace">
            <a:avLst>
              <a:gd name="adj1" fmla="val 63235"/>
              <a:gd name="adj2" fmla="val 50028"/>
            </a:avLst>
          </a:prstGeom>
          <a:noFill/>
          <a:ln w="28575">
            <a:solidFill>
              <a:schemeClr val="tx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22887" name="Text Box 7"/>
          <p:cNvSpPr txBox="1">
            <a:spLocks noChangeArrowheads="1"/>
          </p:cNvSpPr>
          <p:nvPr/>
        </p:nvSpPr>
        <p:spPr bwMode="auto">
          <a:xfrm>
            <a:off x="874713" y="4640263"/>
            <a:ext cx="9731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sz="2400" b="1"/>
              <a:t>棱柱</a:t>
            </a:r>
          </a:p>
        </p:txBody>
      </p:sp>
      <p:sp>
        <p:nvSpPr>
          <p:cNvPr id="122888" name="Text Box 8"/>
          <p:cNvSpPr txBox="1">
            <a:spLocks noChangeArrowheads="1"/>
          </p:cNvSpPr>
          <p:nvPr/>
        </p:nvSpPr>
        <p:spPr bwMode="auto">
          <a:xfrm>
            <a:off x="2560638" y="4640263"/>
            <a:ext cx="12604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sz="2400" b="1"/>
              <a:t>棱锥</a:t>
            </a:r>
          </a:p>
        </p:txBody>
      </p:sp>
      <p:sp>
        <p:nvSpPr>
          <p:cNvPr id="122889" name="Text Box 9"/>
          <p:cNvSpPr txBox="1">
            <a:spLocks noChangeArrowheads="1"/>
          </p:cNvSpPr>
          <p:nvPr/>
        </p:nvSpPr>
        <p:spPr bwMode="auto">
          <a:xfrm>
            <a:off x="4960938" y="4154488"/>
            <a:ext cx="10271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sz="2400" b="1"/>
              <a:t>圆柱</a:t>
            </a:r>
          </a:p>
        </p:txBody>
      </p:sp>
      <p:sp>
        <p:nvSpPr>
          <p:cNvPr id="122890" name="Text Box 10"/>
          <p:cNvSpPr txBox="1">
            <a:spLocks noChangeArrowheads="1"/>
          </p:cNvSpPr>
          <p:nvPr/>
        </p:nvSpPr>
        <p:spPr bwMode="auto">
          <a:xfrm>
            <a:off x="6704013" y="4154488"/>
            <a:ext cx="10080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sz="2400" b="1"/>
              <a:t>圆锥</a:t>
            </a:r>
          </a:p>
        </p:txBody>
      </p:sp>
      <p:sp>
        <p:nvSpPr>
          <p:cNvPr id="122891" name="Text Box 11"/>
          <p:cNvSpPr txBox="1">
            <a:spLocks noChangeArrowheads="1"/>
          </p:cNvSpPr>
          <p:nvPr/>
        </p:nvSpPr>
        <p:spPr bwMode="auto">
          <a:xfrm>
            <a:off x="4710113" y="5907088"/>
            <a:ext cx="132397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sz="2400" b="1" dirty="0" smtClean="0"/>
              <a:t>圆球</a:t>
            </a:r>
            <a:endParaRPr lang="zh-CN" altLang="en-US" sz="2400" b="1" dirty="0"/>
          </a:p>
        </p:txBody>
      </p:sp>
      <p:sp>
        <p:nvSpPr>
          <p:cNvPr id="122892" name="Text Box 12"/>
          <p:cNvSpPr txBox="1">
            <a:spLocks noChangeArrowheads="1"/>
          </p:cNvSpPr>
          <p:nvPr/>
        </p:nvSpPr>
        <p:spPr bwMode="auto">
          <a:xfrm>
            <a:off x="6704013" y="5926138"/>
            <a:ext cx="1063625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zh-CN" altLang="en-US" sz="2400" b="1" dirty="0" smtClean="0"/>
              <a:t>圆环</a:t>
            </a:r>
            <a:endParaRPr lang="zh-CN" altLang="en-US" sz="2400" b="1" dirty="0"/>
          </a:p>
        </p:txBody>
      </p:sp>
      <p:pic>
        <p:nvPicPr>
          <p:cNvPr id="122893" name="Picture 13" descr="球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506" t="18274" r="32336" b="18883"/>
          <a:stretch>
            <a:fillRect/>
          </a:stretch>
        </p:blipFill>
        <p:spPr bwMode="auto">
          <a:xfrm>
            <a:off x="4694238" y="4619625"/>
            <a:ext cx="1339850" cy="13303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894" name="Picture 14" descr="圆环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591" t="15228" r="29289" b="19493"/>
          <a:stretch>
            <a:fillRect/>
          </a:stretch>
        </p:blipFill>
        <p:spPr bwMode="auto">
          <a:xfrm>
            <a:off x="6223000" y="4633913"/>
            <a:ext cx="1939925" cy="13017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895" name="Picture 15" descr="圆锥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9807" t="15837" r="51807" b="19797"/>
          <a:stretch>
            <a:fillRect/>
          </a:stretch>
        </p:blipFill>
        <p:spPr bwMode="auto">
          <a:xfrm>
            <a:off x="6308725" y="2436813"/>
            <a:ext cx="1425575" cy="17970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896" name="Picture 16" descr="圆柱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336" t="7005" r="32506" b="7005"/>
          <a:stretch>
            <a:fillRect/>
          </a:stretch>
        </p:blipFill>
        <p:spPr bwMode="auto">
          <a:xfrm>
            <a:off x="4710113" y="2487613"/>
            <a:ext cx="1279525" cy="17367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897" name="Picture 17" descr="书3-6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36" t="19975" r="38377" b="7040"/>
          <a:stretch>
            <a:fillRect/>
          </a:stretch>
        </p:blipFill>
        <p:spPr bwMode="auto">
          <a:xfrm>
            <a:off x="2217738" y="2547938"/>
            <a:ext cx="1660525" cy="210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898" name="Picture 18" descr="四棱柱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289" t="12679" r="35143" b="14017"/>
          <a:stretch>
            <a:fillRect/>
          </a:stretch>
        </p:blipFill>
        <p:spPr bwMode="auto">
          <a:xfrm>
            <a:off x="681038" y="2538413"/>
            <a:ext cx="1393825" cy="1981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288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288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1228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1228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9" presetID="3" presetClass="entr" presetSubtype="1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1" dur="500"/>
                                        <p:tgtEl>
                                          <p:spTgt spid="122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 nodeType="clickPar">
                      <p:stCondLst>
                        <p:cond delay="indefinite"/>
                      </p:stCondLst>
                      <p:childTnLst>
                        <p:par>
                          <p:cTn id="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6" dur="500"/>
                                        <p:tgtEl>
                                          <p:spTgt spid="1228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2288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2288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1228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2288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2288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9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48" dur="500"/>
                                        <p:tgtEl>
                                          <p:spTgt spid="1228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3" dur="500" fill="hold"/>
                                        <p:tgtEl>
                                          <p:spTgt spid="1228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4" dur="500" fill="hold"/>
                                        <p:tgtEl>
                                          <p:spTgt spid="1228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9" dur="500"/>
                                        <p:tgtEl>
                                          <p:spTgt spid="1228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4" dur="500" fill="hold"/>
                                        <p:tgtEl>
                                          <p:spTgt spid="12289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5" dur="500" fill="hold"/>
                                        <p:tgtEl>
                                          <p:spTgt spid="12289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 nodeType="clickPar">
                      <p:stCondLst>
                        <p:cond delay="indefinite"/>
                      </p:stCondLst>
                      <p:childTnLst>
                        <p:par>
                          <p:cTn id="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8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0" dur="500"/>
                                        <p:tgtEl>
                                          <p:spTgt spid="1228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228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6" dur="500" fill="hold"/>
                                        <p:tgtEl>
                                          <p:spTgt spid="1228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4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81" dur="500"/>
                                        <p:tgtEl>
                                          <p:spTgt spid="1228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2" fill="hold" nodeType="clickPar">
                      <p:stCondLst>
                        <p:cond delay="indefinite"/>
                      </p:stCondLst>
                      <p:childTnLst>
                        <p:par>
                          <p:cTn id="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4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28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86" dur="500" fill="hold"/>
                                        <p:tgtEl>
                                          <p:spTgt spid="12289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7" dur="500" fill="hold"/>
                                        <p:tgtEl>
                                          <p:spTgt spid="12289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2883" grpId="0" autoUpdateAnimBg="0"/>
      <p:bldP spid="122884" grpId="0" autoUpdateAnimBg="0"/>
      <p:bldP spid="122885" grpId="0" autoUpdateAnimBg="0"/>
      <p:bldP spid="122886" grpId="0" animBg="1"/>
      <p:bldP spid="122887" grpId="0" autoUpdateAnimBg="0"/>
      <p:bldP spid="122888" grpId="0" autoUpdateAnimBg="0"/>
      <p:bldP spid="122889" grpId="0" autoUpdateAnimBg="0"/>
      <p:bldP spid="122890" grpId="0" autoUpdateAnimBg="0"/>
      <p:bldP spid="122891" grpId="0" autoUpdateAnimBg="0"/>
      <p:bldP spid="122892" grpId="0" autoUpdateAnimBg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灯片编号占位符 7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48531F3A-8FA3-4DD2-AA17-59CFF8930B8F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6</a:t>
            </a:fld>
            <a:endParaRPr lang="en-US" altLang="zh-CN" sz="1400" smtClean="0">
              <a:solidFill>
                <a:schemeClr val="bg2"/>
              </a:solidFill>
            </a:endParaRPr>
          </a:p>
        </p:txBody>
      </p:sp>
      <p:grpSp>
        <p:nvGrpSpPr>
          <p:cNvPr id="121890" name="Group 34"/>
          <p:cNvGrpSpPr>
            <a:grpSpLocks/>
          </p:cNvGrpSpPr>
          <p:nvPr/>
        </p:nvGrpSpPr>
        <p:grpSpPr bwMode="auto">
          <a:xfrm>
            <a:off x="1406525" y="2405063"/>
            <a:ext cx="1560513" cy="1757362"/>
            <a:chOff x="762" y="1910"/>
            <a:chExt cx="983" cy="1107"/>
          </a:xfrm>
        </p:grpSpPr>
        <p:sp>
          <p:nvSpPr>
            <p:cNvPr id="8219" name="AutoShape 35"/>
            <p:cNvSpPr>
              <a:spLocks noChangeArrowheads="1"/>
            </p:cNvSpPr>
            <p:nvPr/>
          </p:nvSpPr>
          <p:spPr bwMode="auto">
            <a:xfrm>
              <a:off x="762" y="1910"/>
              <a:ext cx="983" cy="236"/>
            </a:xfrm>
            <a:prstGeom prst="hexagon">
              <a:avLst>
                <a:gd name="adj" fmla="val 104131"/>
                <a:gd name="vf" fmla="val 115470"/>
              </a:avLst>
            </a:prstGeom>
            <a:gradFill rotWithShape="0">
              <a:gsLst>
                <a:gs pos="0">
                  <a:srgbClr val="99FFCC"/>
                </a:gs>
                <a:gs pos="100000">
                  <a:srgbClr val="47765E"/>
                </a:gs>
              </a:gsLst>
              <a:lin ang="18900000" scaled="1"/>
            </a:gra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400"/>
            </a:p>
          </p:txBody>
        </p:sp>
        <p:sp>
          <p:nvSpPr>
            <p:cNvPr id="8220" name="Rectangle 36"/>
            <p:cNvSpPr>
              <a:spLocks noChangeArrowheads="1"/>
            </p:cNvSpPr>
            <p:nvPr/>
          </p:nvSpPr>
          <p:spPr bwMode="auto">
            <a:xfrm>
              <a:off x="1019" y="2145"/>
              <a:ext cx="492" cy="865"/>
            </a:xfrm>
            <a:prstGeom prst="rect">
              <a:avLst/>
            </a:prstGeom>
            <a:solidFill>
              <a:srgbClr val="99FFCC"/>
            </a:solidFill>
            <a:ln w="28575">
              <a:solidFill>
                <a:schemeClr val="tx1"/>
              </a:solidFill>
              <a:miter lim="800000"/>
              <a:headEnd/>
              <a:tailEnd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400"/>
            </a:p>
          </p:txBody>
        </p:sp>
        <p:sp>
          <p:nvSpPr>
            <p:cNvPr id="8221" name="Freeform 37"/>
            <p:cNvSpPr>
              <a:spLocks/>
            </p:cNvSpPr>
            <p:nvPr/>
          </p:nvSpPr>
          <p:spPr bwMode="auto">
            <a:xfrm>
              <a:off x="1513" y="2029"/>
              <a:ext cx="226" cy="981"/>
            </a:xfrm>
            <a:custGeom>
              <a:avLst/>
              <a:gdLst>
                <a:gd name="T0" fmla="*/ 0 w 226"/>
                <a:gd name="T1" fmla="*/ 135 h 917"/>
                <a:gd name="T2" fmla="*/ 0 w 226"/>
                <a:gd name="T3" fmla="*/ 1122 h 917"/>
                <a:gd name="T4" fmla="*/ 226 w 226"/>
                <a:gd name="T5" fmla="*/ 1005 h 917"/>
                <a:gd name="T6" fmla="*/ 226 w 226"/>
                <a:gd name="T7" fmla="*/ 0 h 917"/>
                <a:gd name="T8" fmla="*/ 0 w 226"/>
                <a:gd name="T9" fmla="*/ 135 h 9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6" h="917">
                  <a:moveTo>
                    <a:pt x="0" y="110"/>
                  </a:moveTo>
                  <a:lnTo>
                    <a:pt x="0" y="917"/>
                  </a:lnTo>
                  <a:lnTo>
                    <a:pt x="226" y="821"/>
                  </a:lnTo>
                  <a:lnTo>
                    <a:pt x="226" y="0"/>
                  </a:lnTo>
                  <a:lnTo>
                    <a:pt x="0" y="110"/>
                  </a:lnTo>
                  <a:close/>
                </a:path>
              </a:pathLst>
            </a:custGeom>
            <a:gradFill rotWithShape="0">
              <a:gsLst>
                <a:gs pos="0">
                  <a:srgbClr val="99FFCC"/>
                </a:gs>
                <a:gs pos="100000">
                  <a:srgbClr val="47765E"/>
                </a:gs>
              </a:gsLst>
              <a:lin ang="0" scaled="1"/>
            </a:gradFill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22" name="Freeform 38"/>
            <p:cNvSpPr>
              <a:spLocks/>
            </p:cNvSpPr>
            <p:nvPr/>
          </p:nvSpPr>
          <p:spPr bwMode="auto">
            <a:xfrm>
              <a:off x="773" y="2029"/>
              <a:ext cx="245" cy="988"/>
            </a:xfrm>
            <a:custGeom>
              <a:avLst/>
              <a:gdLst>
                <a:gd name="T0" fmla="*/ 1 w 245"/>
                <a:gd name="T1" fmla="*/ 0 h 917"/>
                <a:gd name="T2" fmla="*/ 245 w 245"/>
                <a:gd name="T3" fmla="*/ 144 h 917"/>
                <a:gd name="T4" fmla="*/ 245 w 245"/>
                <a:gd name="T5" fmla="*/ 1146 h 917"/>
                <a:gd name="T6" fmla="*/ 0 w 245"/>
                <a:gd name="T7" fmla="*/ 966 h 917"/>
                <a:gd name="T8" fmla="*/ 1 w 245"/>
                <a:gd name="T9" fmla="*/ 0 h 9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5" h="917">
                  <a:moveTo>
                    <a:pt x="1" y="0"/>
                  </a:moveTo>
                  <a:lnTo>
                    <a:pt x="245" y="115"/>
                  </a:lnTo>
                  <a:lnTo>
                    <a:pt x="245" y="917"/>
                  </a:lnTo>
                  <a:lnTo>
                    <a:pt x="0" y="773"/>
                  </a:lnTo>
                  <a:lnTo>
                    <a:pt x="1" y="0"/>
                  </a:lnTo>
                  <a:close/>
                </a:path>
              </a:pathLst>
            </a:custGeom>
            <a:gradFill rotWithShape="0">
              <a:gsLst>
                <a:gs pos="0">
                  <a:srgbClr val="47765E"/>
                </a:gs>
                <a:gs pos="100000">
                  <a:srgbClr val="99FFCC"/>
                </a:gs>
              </a:gsLst>
              <a:lin ang="0" scaled="1"/>
            </a:gradFill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21864" name="Text Box 8" descr="紫色网格"/>
          <p:cNvSpPr txBox="1">
            <a:spLocks noChangeArrowheads="1"/>
          </p:cNvSpPr>
          <p:nvPr/>
        </p:nvSpPr>
        <p:spPr bwMode="auto">
          <a:xfrm>
            <a:off x="647700" y="282575"/>
            <a:ext cx="2200275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4000" b="1">
                <a:latin typeface="黑体" pitchFamily="2" charset="-122"/>
                <a:ea typeface="黑体" pitchFamily="2" charset="-122"/>
              </a:rPr>
              <a:t>1 </a:t>
            </a:r>
            <a:r>
              <a:rPr lang="zh-CN" altLang="en-US" sz="4000" b="1">
                <a:latin typeface="黑体" pitchFamily="2" charset="-122"/>
                <a:ea typeface="黑体" pitchFamily="2" charset="-122"/>
              </a:rPr>
              <a:t>棱柱</a:t>
            </a:r>
            <a:endParaRPr lang="zh-CN" altLang="en-US" sz="400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21865" name="Text Box 9"/>
          <p:cNvSpPr txBox="1">
            <a:spLocks noChangeArrowheads="1"/>
          </p:cNvSpPr>
          <p:nvPr/>
        </p:nvSpPr>
        <p:spPr bwMode="auto">
          <a:xfrm>
            <a:off x="2963863" y="4346575"/>
            <a:ext cx="1779587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b="1">
                <a:solidFill>
                  <a:srgbClr val="000066"/>
                </a:solidFill>
                <a:ea typeface="黑体" pitchFamily="2" charset="-122"/>
                <a:sym typeface="Monotype Sorts" pitchFamily="2" charset="2"/>
              </a:rPr>
              <a:t>侧棱面</a:t>
            </a:r>
            <a:endParaRPr lang="zh-CN" altLang="en-US" b="1">
              <a:solidFill>
                <a:srgbClr val="000066"/>
              </a:solidFill>
              <a:ea typeface="黑体" pitchFamily="2" charset="-122"/>
            </a:endParaRPr>
          </a:p>
        </p:txBody>
      </p:sp>
      <p:sp>
        <p:nvSpPr>
          <p:cNvPr id="121866" name="Text Box 10"/>
          <p:cNvSpPr txBox="1">
            <a:spLocks noChangeArrowheads="1"/>
          </p:cNvSpPr>
          <p:nvPr/>
        </p:nvSpPr>
        <p:spPr bwMode="auto">
          <a:xfrm>
            <a:off x="3014663" y="1763713"/>
            <a:ext cx="11017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b="1">
                <a:solidFill>
                  <a:srgbClr val="000066"/>
                </a:solidFill>
                <a:ea typeface="黑体" pitchFamily="2" charset="-122"/>
              </a:rPr>
              <a:t>底面</a:t>
            </a:r>
          </a:p>
        </p:txBody>
      </p:sp>
      <p:sp>
        <p:nvSpPr>
          <p:cNvPr id="121867" name="Text Box 11"/>
          <p:cNvSpPr txBox="1">
            <a:spLocks noChangeArrowheads="1"/>
          </p:cNvSpPr>
          <p:nvPr/>
        </p:nvSpPr>
        <p:spPr bwMode="auto">
          <a:xfrm>
            <a:off x="514350" y="4348163"/>
            <a:ext cx="1331913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b="1">
                <a:solidFill>
                  <a:srgbClr val="000066"/>
                </a:solidFill>
                <a:ea typeface="黑体" pitchFamily="2" charset="-122"/>
              </a:rPr>
              <a:t>棱线</a:t>
            </a:r>
          </a:p>
        </p:txBody>
      </p:sp>
      <p:sp>
        <p:nvSpPr>
          <p:cNvPr id="121868" name="Text Box 12"/>
          <p:cNvSpPr txBox="1">
            <a:spLocks noChangeArrowheads="1"/>
          </p:cNvSpPr>
          <p:nvPr/>
        </p:nvSpPr>
        <p:spPr bwMode="auto">
          <a:xfrm>
            <a:off x="369888" y="1754188"/>
            <a:ext cx="11017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b="1">
                <a:solidFill>
                  <a:srgbClr val="000066"/>
                </a:solidFill>
                <a:ea typeface="黑体" pitchFamily="2" charset="-122"/>
              </a:rPr>
              <a:t>底边</a:t>
            </a:r>
          </a:p>
        </p:txBody>
      </p:sp>
      <p:sp>
        <p:nvSpPr>
          <p:cNvPr id="121873" name="Text Box 17" descr="绿色大理石"/>
          <p:cNvSpPr txBox="1">
            <a:spLocks noChangeArrowheads="1"/>
          </p:cNvSpPr>
          <p:nvPr/>
        </p:nvSpPr>
        <p:spPr bwMode="auto">
          <a:xfrm>
            <a:off x="495300" y="5410200"/>
            <a:ext cx="425926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b="1">
                <a:ea typeface="黑体" pitchFamily="2" charset="-122"/>
              </a:rPr>
              <a:t>特点：棱线相互平行</a:t>
            </a:r>
          </a:p>
        </p:txBody>
      </p:sp>
      <p:sp>
        <p:nvSpPr>
          <p:cNvPr id="121875" name="Text Box 19"/>
          <p:cNvSpPr txBox="1">
            <a:spLocks noChangeArrowheads="1"/>
          </p:cNvSpPr>
          <p:nvPr/>
        </p:nvSpPr>
        <p:spPr bwMode="auto">
          <a:xfrm>
            <a:off x="5589588" y="1112838"/>
            <a:ext cx="181927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3600" b="1">
                <a:ea typeface="黑体" pitchFamily="2" charset="-122"/>
              </a:rPr>
              <a:t>形成</a:t>
            </a:r>
          </a:p>
        </p:txBody>
      </p:sp>
      <p:sp>
        <p:nvSpPr>
          <p:cNvPr id="121876" name="Freeform 20"/>
          <p:cNvSpPr>
            <a:spLocks/>
          </p:cNvSpPr>
          <p:nvPr/>
        </p:nvSpPr>
        <p:spPr bwMode="auto">
          <a:xfrm>
            <a:off x="5678488" y="4065588"/>
            <a:ext cx="1562100" cy="476250"/>
          </a:xfrm>
          <a:custGeom>
            <a:avLst/>
            <a:gdLst>
              <a:gd name="T0" fmla="*/ 2147483647 w 984"/>
              <a:gd name="T1" fmla="*/ 0 h 246"/>
              <a:gd name="T2" fmla="*/ 2147483647 w 984"/>
              <a:gd name="T3" fmla="*/ 0 h 246"/>
              <a:gd name="T4" fmla="*/ 2147483647 w 984"/>
              <a:gd name="T5" fmla="*/ 2147483647 h 246"/>
              <a:gd name="T6" fmla="*/ 2147483647 w 984"/>
              <a:gd name="T7" fmla="*/ 2147483647 h 246"/>
              <a:gd name="T8" fmla="*/ 2147483647 w 984"/>
              <a:gd name="T9" fmla="*/ 2147483647 h 246"/>
              <a:gd name="T10" fmla="*/ 0 w 984"/>
              <a:gd name="T11" fmla="*/ 2147483647 h 246"/>
              <a:gd name="T12" fmla="*/ 2147483647 w 984"/>
              <a:gd name="T13" fmla="*/ 0 h 246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984" h="246">
                <a:moveTo>
                  <a:pt x="258" y="0"/>
                </a:moveTo>
                <a:lnTo>
                  <a:pt x="726" y="0"/>
                </a:lnTo>
                <a:lnTo>
                  <a:pt x="984" y="120"/>
                </a:lnTo>
                <a:lnTo>
                  <a:pt x="756" y="240"/>
                </a:lnTo>
                <a:lnTo>
                  <a:pt x="258" y="246"/>
                </a:lnTo>
                <a:lnTo>
                  <a:pt x="0" y="120"/>
                </a:lnTo>
                <a:lnTo>
                  <a:pt x="258" y="0"/>
                </a:lnTo>
                <a:close/>
              </a:path>
            </a:pathLst>
          </a:custGeom>
          <a:solidFill>
            <a:srgbClr val="99FFCC"/>
          </a:solidFill>
          <a:ln w="28575" cmpd="sng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1877" name="Line 21"/>
          <p:cNvSpPr>
            <a:spLocks noChangeShapeType="1"/>
          </p:cNvSpPr>
          <p:nvPr/>
        </p:nvSpPr>
        <p:spPr bwMode="auto">
          <a:xfrm flipV="1">
            <a:off x="6275388" y="2982913"/>
            <a:ext cx="0" cy="790575"/>
          </a:xfrm>
          <a:prstGeom prst="line">
            <a:avLst/>
          </a:prstGeom>
          <a:noFill/>
          <a:ln w="19050">
            <a:solidFill>
              <a:srgbClr val="990033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1878" name="Line 22"/>
          <p:cNvSpPr>
            <a:spLocks noChangeShapeType="1"/>
          </p:cNvSpPr>
          <p:nvPr/>
        </p:nvSpPr>
        <p:spPr bwMode="auto">
          <a:xfrm flipV="1">
            <a:off x="6731000" y="2974975"/>
            <a:ext cx="0" cy="876300"/>
          </a:xfrm>
          <a:prstGeom prst="line">
            <a:avLst/>
          </a:prstGeom>
          <a:noFill/>
          <a:ln w="38100">
            <a:solidFill>
              <a:srgbClr val="00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1879" name="Text Box 23"/>
          <p:cNvSpPr txBox="1">
            <a:spLocks noChangeArrowheads="1"/>
          </p:cNvSpPr>
          <p:nvPr/>
        </p:nvSpPr>
        <p:spPr bwMode="auto">
          <a:xfrm>
            <a:off x="5394325" y="1765300"/>
            <a:ext cx="3033713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b="1">
                <a:ea typeface="黑体" pitchFamily="2" charset="-122"/>
              </a:rPr>
              <a:t>由多边形沿直线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b="1">
                <a:ea typeface="黑体" pitchFamily="2" charset="-122"/>
              </a:rPr>
              <a:t>拉伸而成</a:t>
            </a:r>
          </a:p>
        </p:txBody>
      </p:sp>
      <p:sp>
        <p:nvSpPr>
          <p:cNvPr id="121880" name="Oval 24"/>
          <p:cNvSpPr>
            <a:spLocks noChangeArrowheads="1"/>
          </p:cNvSpPr>
          <p:nvPr/>
        </p:nvSpPr>
        <p:spPr bwMode="auto">
          <a:xfrm>
            <a:off x="5211763" y="1322388"/>
            <a:ext cx="265112" cy="265112"/>
          </a:xfrm>
          <a:prstGeom prst="ellipse">
            <a:avLst/>
          </a:prstGeom>
          <a:gradFill rotWithShape="0">
            <a:gsLst>
              <a:gs pos="0">
                <a:srgbClr val="FF7C80"/>
              </a:gs>
              <a:gs pos="100000">
                <a:srgbClr val="060303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21881" name="Text Box 25"/>
          <p:cNvSpPr txBox="1">
            <a:spLocks noChangeArrowheads="1"/>
          </p:cNvSpPr>
          <p:nvPr/>
        </p:nvSpPr>
        <p:spPr bwMode="auto">
          <a:xfrm>
            <a:off x="6788150" y="2974975"/>
            <a:ext cx="4206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defRPr/>
            </a:pPr>
            <a:r>
              <a:rPr kumimoji="1" lang="en-US" altLang="zh-CN" sz="2800" b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</a:rPr>
              <a:t>L</a:t>
            </a:r>
          </a:p>
        </p:txBody>
      </p:sp>
      <p:sp>
        <p:nvSpPr>
          <p:cNvPr id="121882" name="Text Box 26"/>
          <p:cNvSpPr txBox="1">
            <a:spLocks noChangeArrowheads="1"/>
          </p:cNvSpPr>
          <p:nvPr/>
        </p:nvSpPr>
        <p:spPr bwMode="auto">
          <a:xfrm>
            <a:off x="6189663" y="3968750"/>
            <a:ext cx="522287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defRPr/>
            </a:pPr>
            <a:r>
              <a:rPr kumimoji="1" lang="en-US" altLang="zh-CN" sz="3200" b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</a:rPr>
              <a:t>m</a:t>
            </a:r>
          </a:p>
        </p:txBody>
      </p:sp>
      <p:sp>
        <p:nvSpPr>
          <p:cNvPr id="121883" name="Text Box 27"/>
          <p:cNvSpPr txBox="1">
            <a:spLocks noChangeArrowheads="1"/>
          </p:cNvSpPr>
          <p:nvPr/>
        </p:nvSpPr>
        <p:spPr bwMode="auto">
          <a:xfrm>
            <a:off x="5359400" y="4702175"/>
            <a:ext cx="350837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b="1">
                <a:ea typeface="黑体" pitchFamily="2" charset="-122"/>
              </a:rPr>
              <a:t>L </a:t>
            </a:r>
            <a:r>
              <a:rPr lang="en-US" altLang="zh-CN" b="1">
                <a:ea typeface="黑体" pitchFamily="2" charset="-122"/>
                <a:sym typeface="Symbol" pitchFamily="18" charset="2"/>
              </a:rPr>
              <a:t> m —</a:t>
            </a:r>
            <a:r>
              <a:rPr lang="zh-CN" altLang="zh-CN" b="1">
                <a:ea typeface="黑体" pitchFamily="2" charset="-122"/>
                <a:sym typeface="Symbol" pitchFamily="18" charset="2"/>
              </a:rPr>
              <a:t>直棱柱</a:t>
            </a:r>
            <a:endParaRPr lang="zh-CN" altLang="en-US" b="1">
              <a:ea typeface="黑体" pitchFamily="2" charset="-122"/>
            </a:endParaRPr>
          </a:p>
        </p:txBody>
      </p:sp>
      <p:sp>
        <p:nvSpPr>
          <p:cNvPr id="121884" name="Text Box 28"/>
          <p:cNvSpPr txBox="1">
            <a:spLocks noChangeArrowheads="1"/>
          </p:cNvSpPr>
          <p:nvPr/>
        </p:nvSpPr>
        <p:spPr bwMode="auto">
          <a:xfrm>
            <a:off x="5387975" y="5286375"/>
            <a:ext cx="3398838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b="1">
                <a:ea typeface="黑体" pitchFamily="2" charset="-122"/>
              </a:rPr>
              <a:t>L    </a:t>
            </a:r>
            <a:r>
              <a:rPr lang="en-US" altLang="zh-CN" b="1">
                <a:ea typeface="黑体" pitchFamily="2" charset="-122"/>
                <a:sym typeface="Symbol" pitchFamily="18" charset="2"/>
              </a:rPr>
              <a:t>m —</a:t>
            </a:r>
            <a:r>
              <a:rPr lang="zh-CN" altLang="zh-CN" b="1">
                <a:ea typeface="黑体" pitchFamily="2" charset="-122"/>
                <a:sym typeface="Symbol" pitchFamily="18" charset="2"/>
              </a:rPr>
              <a:t>斜棱柱</a:t>
            </a:r>
            <a:endParaRPr lang="zh-CN" altLang="en-US" b="1">
              <a:ea typeface="黑体" pitchFamily="2" charset="-122"/>
            </a:endParaRPr>
          </a:p>
        </p:txBody>
      </p:sp>
      <p:grpSp>
        <p:nvGrpSpPr>
          <p:cNvPr id="121885" name="Group 29"/>
          <p:cNvGrpSpPr>
            <a:grpSpLocks/>
          </p:cNvGrpSpPr>
          <p:nvPr/>
        </p:nvGrpSpPr>
        <p:grpSpPr bwMode="auto">
          <a:xfrm>
            <a:off x="5788025" y="5440363"/>
            <a:ext cx="295275" cy="265112"/>
            <a:chOff x="4989" y="2695"/>
            <a:chExt cx="186" cy="167"/>
          </a:xfrm>
        </p:grpSpPr>
        <p:sp>
          <p:nvSpPr>
            <p:cNvPr id="8217" name="Line 30"/>
            <p:cNvSpPr>
              <a:spLocks noChangeShapeType="1"/>
            </p:cNvSpPr>
            <p:nvPr/>
          </p:nvSpPr>
          <p:spPr bwMode="auto">
            <a:xfrm flipH="1">
              <a:off x="5070" y="2695"/>
              <a:ext cx="78" cy="167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8218" name="Line 31"/>
            <p:cNvSpPr>
              <a:spLocks noChangeShapeType="1"/>
            </p:cNvSpPr>
            <p:nvPr/>
          </p:nvSpPr>
          <p:spPr bwMode="auto">
            <a:xfrm>
              <a:off x="4989" y="2862"/>
              <a:ext cx="186" cy="0"/>
            </a:xfrm>
            <a:prstGeom prst="line">
              <a:avLst/>
            </a:prstGeom>
            <a:noFill/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21869" name="Line 13"/>
          <p:cNvSpPr>
            <a:spLocks noChangeShapeType="1"/>
          </p:cNvSpPr>
          <p:nvPr/>
        </p:nvSpPr>
        <p:spPr bwMode="auto">
          <a:xfrm flipH="1">
            <a:off x="2552700" y="2174875"/>
            <a:ext cx="496888" cy="427038"/>
          </a:xfrm>
          <a:prstGeom prst="line">
            <a:avLst/>
          </a:prstGeom>
          <a:noFill/>
          <a:ln w="12700">
            <a:solidFill>
              <a:srgbClr val="00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1870" name="Line 14"/>
          <p:cNvSpPr>
            <a:spLocks noChangeShapeType="1"/>
          </p:cNvSpPr>
          <p:nvPr/>
        </p:nvSpPr>
        <p:spPr bwMode="auto">
          <a:xfrm flipH="1" flipV="1">
            <a:off x="2716213" y="3927475"/>
            <a:ext cx="425450" cy="425450"/>
          </a:xfrm>
          <a:prstGeom prst="line">
            <a:avLst/>
          </a:prstGeom>
          <a:noFill/>
          <a:ln w="12700">
            <a:solidFill>
              <a:srgbClr val="00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1872" name="Line 16"/>
          <p:cNvSpPr>
            <a:spLocks noChangeShapeType="1"/>
          </p:cNvSpPr>
          <p:nvPr/>
        </p:nvSpPr>
        <p:spPr bwMode="auto">
          <a:xfrm flipH="1">
            <a:off x="968375" y="3911600"/>
            <a:ext cx="827088" cy="508000"/>
          </a:xfrm>
          <a:prstGeom prst="line">
            <a:avLst/>
          </a:prstGeom>
          <a:noFill/>
          <a:ln w="12700">
            <a:solidFill>
              <a:srgbClr val="00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1871" name="Line 15"/>
          <p:cNvSpPr>
            <a:spLocks noChangeShapeType="1"/>
          </p:cNvSpPr>
          <p:nvPr/>
        </p:nvSpPr>
        <p:spPr bwMode="auto">
          <a:xfrm>
            <a:off x="1304925" y="2128838"/>
            <a:ext cx="333375" cy="338137"/>
          </a:xfrm>
          <a:prstGeom prst="line">
            <a:avLst/>
          </a:prstGeom>
          <a:noFill/>
          <a:ln w="12700">
            <a:solidFill>
              <a:srgbClr val="00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18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218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" dur="300" fill="hold"/>
                                        <p:tgtEl>
                                          <p:spTgt spid="1218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300" fill="hold"/>
                                        <p:tgtEl>
                                          <p:spTgt spid="1218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 nodeType="afterGroup">
                            <p:stCondLst>
                              <p:cond delay="300"/>
                            </p:stCondLst>
                            <p:childTnLst>
                              <p:par>
                                <p:cTn id="2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218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7" dur="500" fill="hold"/>
                                        <p:tgtEl>
                                          <p:spTgt spid="1218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500" fill="hold"/>
                                        <p:tgtEl>
                                          <p:spTgt spid="1218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2" dur="500"/>
                                        <p:tgtEl>
                                          <p:spTgt spid="1218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12186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12186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1218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7" dur="500" fill="hold"/>
                                        <p:tgtEl>
                                          <p:spTgt spid="12186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2186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0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2" dur="500"/>
                                        <p:tgtEl>
                                          <p:spTgt spid="1218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57" dur="500"/>
                                        <p:tgtEl>
                                          <p:spTgt spid="1218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9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12187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66" dur="500"/>
                                        <p:tgtEl>
                                          <p:spTgt spid="1218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0" dur="500"/>
                                        <p:tgtEl>
                                          <p:spTgt spid="1218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1" fill="hold" nodeType="clickPar">
                      <p:stCondLst>
                        <p:cond delay="indefinite"/>
                      </p:stCondLst>
                      <p:childTnLst>
                        <p:par>
                          <p:cTn id="7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18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8" dur="500"/>
                                        <p:tgtEl>
                                          <p:spTgt spid="12188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1218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75"/>
                                        <p:tgtEl>
                                          <p:spTgt spid="1218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1218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1218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0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2" dur="500"/>
                                        <p:tgtEl>
                                          <p:spTgt spid="1218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18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1218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1218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1864" grpId="0"/>
      <p:bldP spid="121865" grpId="0" autoUpdateAnimBg="0"/>
      <p:bldP spid="121866" grpId="0" autoUpdateAnimBg="0"/>
      <p:bldP spid="121867" grpId="0" autoUpdateAnimBg="0"/>
      <p:bldP spid="121868" grpId="0" autoUpdateAnimBg="0"/>
      <p:bldP spid="121873" grpId="0"/>
      <p:bldP spid="121875" grpId="0" build="p" autoUpdateAnimBg="0" advAuto="0"/>
      <p:bldP spid="121876" grpId="0" animBg="1"/>
      <p:bldP spid="121877" grpId="0" animBg="1"/>
      <p:bldP spid="121878" grpId="0" animBg="1"/>
      <p:bldP spid="121879" grpId="0" autoUpdateAnimBg="0"/>
      <p:bldP spid="121880" grpId="0" animBg="1"/>
      <p:bldP spid="121881" grpId="0" build="p" autoUpdateAnimBg="0" advAuto="0"/>
      <p:bldP spid="121882" grpId="0" build="p" autoUpdateAnimBg="0" advAuto="0"/>
      <p:bldP spid="121883" grpId="0" build="p" autoUpdateAnimBg="0"/>
      <p:bldP spid="121884" grpId="0" build="p" autoUpdateAnimBg="0"/>
      <p:bldP spid="121869" grpId="0" animBg="1"/>
      <p:bldP spid="121870" grpId="0" animBg="1"/>
      <p:bldP spid="121872" grpId="0" animBg="1"/>
      <p:bldP spid="121871" grpId="0" animBg="1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灯片编号占位符 7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074BA0E0-AAE2-455B-8FB7-1679E13EE4A1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7</a:t>
            </a:fld>
            <a:endParaRPr lang="en-US" altLang="zh-CN" sz="1400" smtClean="0">
              <a:solidFill>
                <a:schemeClr val="bg2"/>
              </a:solidFill>
            </a:endParaRPr>
          </a:p>
        </p:txBody>
      </p:sp>
      <p:sp>
        <p:nvSpPr>
          <p:cNvPr id="120905" name="Text Box 73"/>
          <p:cNvSpPr txBox="1">
            <a:spLocks noChangeArrowheads="1"/>
          </p:cNvSpPr>
          <p:nvPr/>
        </p:nvSpPr>
        <p:spPr bwMode="auto">
          <a:xfrm>
            <a:off x="739775" y="1001713"/>
            <a:ext cx="4681538" cy="1373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b="1">
                <a:latin typeface="黑体" pitchFamily="2" charset="-122"/>
                <a:ea typeface="黑体" pitchFamily="2" charset="-122"/>
              </a:rPr>
              <a:t>两底面为水平面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b="1">
                <a:latin typeface="黑体" pitchFamily="2" charset="-122"/>
                <a:ea typeface="黑体" pitchFamily="2" charset="-122"/>
              </a:rPr>
              <a:t>前后两侧棱面是正平面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b="1">
                <a:latin typeface="黑体" pitchFamily="2" charset="-122"/>
                <a:ea typeface="黑体" pitchFamily="2" charset="-122"/>
              </a:rPr>
              <a:t>其余四个侧棱面是铅垂面</a:t>
            </a:r>
          </a:p>
        </p:txBody>
      </p:sp>
      <p:sp>
        <p:nvSpPr>
          <p:cNvPr id="120906" name="Line 74"/>
          <p:cNvSpPr>
            <a:spLocks noChangeShapeType="1"/>
          </p:cNvSpPr>
          <p:nvPr/>
        </p:nvSpPr>
        <p:spPr bwMode="auto">
          <a:xfrm>
            <a:off x="7086600" y="4648200"/>
            <a:ext cx="1524000" cy="0"/>
          </a:xfrm>
          <a:prstGeom prst="line">
            <a:avLst/>
          </a:prstGeom>
          <a:noFill/>
          <a:ln w="19050">
            <a:solidFill>
              <a:srgbClr val="9933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0907" name="Freeform 75"/>
          <p:cNvSpPr>
            <a:spLocks/>
          </p:cNvSpPr>
          <p:nvPr/>
        </p:nvSpPr>
        <p:spPr bwMode="auto">
          <a:xfrm>
            <a:off x="7537450" y="4652963"/>
            <a:ext cx="1096963" cy="1587"/>
          </a:xfrm>
          <a:custGeom>
            <a:avLst/>
            <a:gdLst>
              <a:gd name="T0" fmla="*/ 0 w 691"/>
              <a:gd name="T1" fmla="*/ 0 h 1"/>
              <a:gd name="T2" fmla="*/ 2147483647 w 691"/>
              <a:gd name="T3" fmla="*/ 0 h 1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691" h="1">
                <a:moveTo>
                  <a:pt x="0" y="0"/>
                </a:moveTo>
                <a:lnTo>
                  <a:pt x="691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0908" name="Freeform 76"/>
          <p:cNvSpPr>
            <a:spLocks/>
          </p:cNvSpPr>
          <p:nvPr/>
        </p:nvSpPr>
        <p:spPr bwMode="auto">
          <a:xfrm>
            <a:off x="8077200" y="3367088"/>
            <a:ext cx="1588" cy="1433512"/>
          </a:xfrm>
          <a:custGeom>
            <a:avLst/>
            <a:gdLst>
              <a:gd name="T0" fmla="*/ 0 w 1"/>
              <a:gd name="T1" fmla="*/ 0 h 903"/>
              <a:gd name="T2" fmla="*/ 2147483647 w 1"/>
              <a:gd name="T3" fmla="*/ 2147483647 h 903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" h="903">
                <a:moveTo>
                  <a:pt x="0" y="0"/>
                </a:moveTo>
                <a:lnTo>
                  <a:pt x="1" y="903"/>
                </a:lnTo>
              </a:path>
            </a:pathLst>
          </a:custGeom>
          <a:noFill/>
          <a:ln w="19050" cmpd="sng">
            <a:solidFill>
              <a:schemeClr val="tx1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0909" name="Line 77"/>
          <p:cNvSpPr>
            <a:spLocks noChangeShapeType="1"/>
          </p:cNvSpPr>
          <p:nvPr/>
        </p:nvSpPr>
        <p:spPr bwMode="auto">
          <a:xfrm>
            <a:off x="7086600" y="3489325"/>
            <a:ext cx="1524000" cy="0"/>
          </a:xfrm>
          <a:prstGeom prst="line">
            <a:avLst/>
          </a:prstGeom>
          <a:noFill/>
          <a:ln w="19050">
            <a:solidFill>
              <a:srgbClr val="9933FF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0910" name="Text Box 78"/>
          <p:cNvSpPr txBox="1">
            <a:spLocks noChangeArrowheads="1"/>
          </p:cNvSpPr>
          <p:nvPr/>
        </p:nvSpPr>
        <p:spPr bwMode="auto">
          <a:xfrm>
            <a:off x="533400" y="231775"/>
            <a:ext cx="3617913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3600" b="1">
                <a:latin typeface="黑体" pitchFamily="2" charset="-122"/>
                <a:ea typeface="黑体" pitchFamily="2" charset="-122"/>
                <a:sym typeface="Symbol" pitchFamily="18" charset="2"/>
              </a:rPr>
              <a:t>棱柱的三视图</a:t>
            </a:r>
          </a:p>
        </p:txBody>
      </p:sp>
      <p:sp>
        <p:nvSpPr>
          <p:cNvPr id="120911" name="Freeform 79"/>
          <p:cNvSpPr>
            <a:spLocks/>
          </p:cNvSpPr>
          <p:nvPr/>
        </p:nvSpPr>
        <p:spPr bwMode="auto">
          <a:xfrm>
            <a:off x="5791200" y="3489325"/>
            <a:ext cx="1295400" cy="1158875"/>
          </a:xfrm>
          <a:custGeom>
            <a:avLst/>
            <a:gdLst>
              <a:gd name="T0" fmla="*/ 0 w 816"/>
              <a:gd name="T1" fmla="*/ 0 h 816"/>
              <a:gd name="T2" fmla="*/ 0 w 816"/>
              <a:gd name="T3" fmla="*/ 2147483647 h 816"/>
              <a:gd name="T4" fmla="*/ 2147483647 w 816"/>
              <a:gd name="T5" fmla="*/ 2147483647 h 816"/>
              <a:gd name="T6" fmla="*/ 2147483647 w 816"/>
              <a:gd name="T7" fmla="*/ 0 h 816"/>
              <a:gd name="T8" fmla="*/ 0 w 816"/>
              <a:gd name="T9" fmla="*/ 0 h 816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816" h="816">
                <a:moveTo>
                  <a:pt x="0" y="0"/>
                </a:moveTo>
                <a:lnTo>
                  <a:pt x="0" y="816"/>
                </a:lnTo>
                <a:lnTo>
                  <a:pt x="816" y="816"/>
                </a:lnTo>
                <a:lnTo>
                  <a:pt x="816" y="0"/>
                </a:lnTo>
                <a:lnTo>
                  <a:pt x="0" y="0"/>
                </a:lnTo>
                <a:close/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0912" name="Line 80"/>
          <p:cNvSpPr>
            <a:spLocks noChangeShapeType="1"/>
          </p:cNvSpPr>
          <p:nvPr/>
        </p:nvSpPr>
        <p:spPr bwMode="auto">
          <a:xfrm>
            <a:off x="6118225" y="3476625"/>
            <a:ext cx="0" cy="11715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0913" name="Line 81"/>
          <p:cNvSpPr>
            <a:spLocks noChangeShapeType="1"/>
          </p:cNvSpPr>
          <p:nvPr/>
        </p:nvSpPr>
        <p:spPr bwMode="auto">
          <a:xfrm>
            <a:off x="6759575" y="3489325"/>
            <a:ext cx="0" cy="11588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0914" name="AutoShape 82"/>
          <p:cNvSpPr>
            <a:spLocks noChangeArrowheads="1"/>
          </p:cNvSpPr>
          <p:nvPr/>
        </p:nvSpPr>
        <p:spPr bwMode="auto">
          <a:xfrm>
            <a:off x="5791200" y="4953000"/>
            <a:ext cx="1295400" cy="1066800"/>
          </a:xfrm>
          <a:prstGeom prst="hexagon">
            <a:avLst>
              <a:gd name="adj" fmla="val 30357"/>
              <a:gd name="vf" fmla="val 115470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20915" name="Line 83"/>
          <p:cNvSpPr>
            <a:spLocks noChangeShapeType="1"/>
          </p:cNvSpPr>
          <p:nvPr/>
        </p:nvSpPr>
        <p:spPr bwMode="auto">
          <a:xfrm>
            <a:off x="5943600" y="3810000"/>
            <a:ext cx="0" cy="1905000"/>
          </a:xfrm>
          <a:prstGeom prst="line">
            <a:avLst/>
          </a:prstGeom>
          <a:noFill/>
          <a:ln w="1905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0916" name="Line 84"/>
          <p:cNvSpPr>
            <a:spLocks noChangeShapeType="1"/>
          </p:cNvSpPr>
          <p:nvPr/>
        </p:nvSpPr>
        <p:spPr bwMode="auto">
          <a:xfrm>
            <a:off x="5943600" y="3821113"/>
            <a:ext cx="2438400" cy="0"/>
          </a:xfrm>
          <a:prstGeom prst="line">
            <a:avLst/>
          </a:prstGeom>
          <a:noFill/>
          <a:ln w="1905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0917" name="Line 85"/>
          <p:cNvSpPr>
            <a:spLocks noChangeShapeType="1"/>
          </p:cNvSpPr>
          <p:nvPr/>
        </p:nvSpPr>
        <p:spPr bwMode="auto">
          <a:xfrm flipH="1">
            <a:off x="5638800" y="5486400"/>
            <a:ext cx="1676400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0918" name="Freeform 86"/>
          <p:cNvSpPr>
            <a:spLocks/>
          </p:cNvSpPr>
          <p:nvPr/>
        </p:nvSpPr>
        <p:spPr bwMode="auto">
          <a:xfrm>
            <a:off x="6440488" y="4808538"/>
            <a:ext cx="1587" cy="1411287"/>
          </a:xfrm>
          <a:custGeom>
            <a:avLst/>
            <a:gdLst>
              <a:gd name="T0" fmla="*/ 0 w 1"/>
              <a:gd name="T1" fmla="*/ 0 h 889"/>
              <a:gd name="T2" fmla="*/ 0 w 1"/>
              <a:gd name="T3" fmla="*/ 2147483647 h 889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" h="889">
                <a:moveTo>
                  <a:pt x="0" y="0"/>
                </a:moveTo>
                <a:lnTo>
                  <a:pt x="0" y="889"/>
                </a:lnTo>
              </a:path>
            </a:pathLst>
          </a:custGeom>
          <a:noFill/>
          <a:ln w="19050" cmpd="sng">
            <a:solidFill>
              <a:schemeClr val="tx1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0919" name="Freeform 87"/>
          <p:cNvSpPr>
            <a:spLocks/>
          </p:cNvSpPr>
          <p:nvPr/>
        </p:nvSpPr>
        <p:spPr bwMode="auto">
          <a:xfrm>
            <a:off x="6440488" y="3394075"/>
            <a:ext cx="1587" cy="1325563"/>
          </a:xfrm>
          <a:custGeom>
            <a:avLst/>
            <a:gdLst>
              <a:gd name="T0" fmla="*/ 2147483647 w 1"/>
              <a:gd name="T1" fmla="*/ 0 h 835"/>
              <a:gd name="T2" fmla="*/ 0 w 1"/>
              <a:gd name="T3" fmla="*/ 2147483647 h 835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" h="835">
                <a:moveTo>
                  <a:pt x="1" y="0"/>
                </a:moveTo>
                <a:lnTo>
                  <a:pt x="0" y="835"/>
                </a:lnTo>
              </a:path>
            </a:pathLst>
          </a:custGeom>
          <a:noFill/>
          <a:ln w="19050" cmpd="sng">
            <a:solidFill>
              <a:schemeClr val="tx1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20920" name="Group 88"/>
          <p:cNvGrpSpPr>
            <a:grpSpLocks/>
          </p:cNvGrpSpPr>
          <p:nvPr/>
        </p:nvGrpSpPr>
        <p:grpSpPr bwMode="auto">
          <a:xfrm>
            <a:off x="5680075" y="3489325"/>
            <a:ext cx="463550" cy="473075"/>
            <a:chOff x="3578" y="2486"/>
            <a:chExt cx="292" cy="298"/>
          </a:xfrm>
        </p:grpSpPr>
        <p:sp>
          <p:nvSpPr>
            <p:cNvPr id="9277" name="Text Box 89"/>
            <p:cNvSpPr txBox="1">
              <a:spLocks noChangeArrowheads="1"/>
            </p:cNvSpPr>
            <p:nvPr/>
          </p:nvSpPr>
          <p:spPr bwMode="auto">
            <a:xfrm>
              <a:off x="3664" y="2630"/>
              <a:ext cx="176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000" b="1">
                  <a:solidFill>
                    <a:srgbClr val="FF3300"/>
                  </a:solidFill>
                  <a:sym typeface="Wingdings" pitchFamily="2" charset="2"/>
                </a:rPr>
                <a:t></a:t>
              </a:r>
              <a:endParaRPr lang="en-US" altLang="zh-CN" sz="1600" b="1"/>
            </a:p>
          </p:txBody>
        </p:sp>
        <p:sp>
          <p:nvSpPr>
            <p:cNvPr id="9278" name="Text Box 90"/>
            <p:cNvSpPr txBox="1">
              <a:spLocks noChangeArrowheads="1"/>
            </p:cNvSpPr>
            <p:nvPr/>
          </p:nvSpPr>
          <p:spPr bwMode="auto">
            <a:xfrm>
              <a:off x="3578" y="2486"/>
              <a:ext cx="2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 b="1"/>
                <a:t> </a:t>
              </a:r>
              <a:r>
                <a:rPr lang="en-US" altLang="zh-CN" sz="2400" b="1" i="1"/>
                <a:t>a</a:t>
              </a:r>
              <a:r>
                <a:rPr lang="en-US" altLang="zh-CN" sz="2400" b="1">
                  <a:sym typeface="Symbol" pitchFamily="18" charset="2"/>
                </a:rPr>
                <a:t></a:t>
              </a:r>
              <a:endParaRPr lang="en-US" altLang="zh-CN" sz="2400" b="1">
                <a:sym typeface="CommercialPi BT" pitchFamily="18" charset="2"/>
              </a:endParaRPr>
            </a:p>
          </p:txBody>
        </p:sp>
      </p:grpSp>
      <p:grpSp>
        <p:nvGrpSpPr>
          <p:cNvPr id="120923" name="Group 91"/>
          <p:cNvGrpSpPr>
            <a:grpSpLocks/>
          </p:cNvGrpSpPr>
          <p:nvPr/>
        </p:nvGrpSpPr>
        <p:grpSpPr bwMode="auto">
          <a:xfrm>
            <a:off x="5689600" y="5548313"/>
            <a:ext cx="381000" cy="457200"/>
            <a:chOff x="3600" y="3783"/>
            <a:chExt cx="240" cy="288"/>
          </a:xfrm>
        </p:grpSpPr>
        <p:sp>
          <p:nvSpPr>
            <p:cNvPr id="9275" name="Text Box 92"/>
            <p:cNvSpPr txBox="1">
              <a:spLocks noChangeArrowheads="1"/>
            </p:cNvSpPr>
            <p:nvPr/>
          </p:nvSpPr>
          <p:spPr bwMode="auto">
            <a:xfrm>
              <a:off x="3664" y="3830"/>
              <a:ext cx="176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000" b="1">
                  <a:solidFill>
                    <a:srgbClr val="FF3300"/>
                  </a:solidFill>
                  <a:sym typeface="Wingdings" pitchFamily="2" charset="2"/>
                </a:rPr>
                <a:t></a:t>
              </a:r>
              <a:endParaRPr lang="en-US" altLang="zh-CN" sz="1600" b="1"/>
            </a:p>
          </p:txBody>
        </p:sp>
        <p:sp>
          <p:nvSpPr>
            <p:cNvPr id="9276" name="Text Box 93"/>
            <p:cNvSpPr txBox="1">
              <a:spLocks noChangeArrowheads="1"/>
            </p:cNvSpPr>
            <p:nvPr/>
          </p:nvSpPr>
          <p:spPr bwMode="auto">
            <a:xfrm>
              <a:off x="3600" y="3783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i="1"/>
                <a:t>a</a:t>
              </a:r>
              <a:endParaRPr lang="en-US" altLang="zh-CN" sz="1600" b="1"/>
            </a:p>
          </p:txBody>
        </p:sp>
      </p:grpSp>
      <p:grpSp>
        <p:nvGrpSpPr>
          <p:cNvPr id="120926" name="Group 94"/>
          <p:cNvGrpSpPr>
            <a:grpSpLocks/>
          </p:cNvGrpSpPr>
          <p:nvPr/>
        </p:nvGrpSpPr>
        <p:grpSpPr bwMode="auto">
          <a:xfrm>
            <a:off x="8181975" y="3422650"/>
            <a:ext cx="512763" cy="509588"/>
            <a:chOff x="5154" y="2156"/>
            <a:chExt cx="323" cy="321"/>
          </a:xfrm>
        </p:grpSpPr>
        <p:sp>
          <p:nvSpPr>
            <p:cNvPr id="9273" name="Text Box 95"/>
            <p:cNvSpPr txBox="1">
              <a:spLocks noChangeArrowheads="1"/>
            </p:cNvSpPr>
            <p:nvPr/>
          </p:nvSpPr>
          <p:spPr bwMode="auto">
            <a:xfrm>
              <a:off x="5184" y="2323"/>
              <a:ext cx="192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000" b="1">
                  <a:solidFill>
                    <a:srgbClr val="FF3300"/>
                  </a:solidFill>
                  <a:sym typeface="Wingdings" pitchFamily="2" charset="2"/>
                </a:rPr>
                <a:t></a:t>
              </a:r>
              <a:endParaRPr lang="en-US" altLang="zh-CN" sz="1600" b="1"/>
            </a:p>
          </p:txBody>
        </p:sp>
        <p:sp>
          <p:nvSpPr>
            <p:cNvPr id="9274" name="Text Box 96"/>
            <p:cNvSpPr txBox="1">
              <a:spLocks noChangeArrowheads="1"/>
            </p:cNvSpPr>
            <p:nvPr/>
          </p:nvSpPr>
          <p:spPr bwMode="auto">
            <a:xfrm>
              <a:off x="5154" y="2156"/>
              <a:ext cx="3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 b="1"/>
                <a:t> </a:t>
              </a:r>
              <a:r>
                <a:rPr lang="en-US" altLang="zh-CN" sz="2400" b="1" i="1"/>
                <a:t>a</a:t>
              </a:r>
              <a:r>
                <a:rPr lang="en-US" altLang="zh-CN" sz="2400" b="1">
                  <a:sym typeface="Symbol" pitchFamily="18" charset="2"/>
                </a:rPr>
                <a:t></a:t>
              </a:r>
            </a:p>
          </p:txBody>
        </p:sp>
      </p:grpSp>
      <p:sp>
        <p:nvSpPr>
          <p:cNvPr id="120929" name="Freeform 97"/>
          <p:cNvSpPr>
            <a:spLocks/>
          </p:cNvSpPr>
          <p:nvPr/>
        </p:nvSpPr>
        <p:spPr bwMode="auto">
          <a:xfrm>
            <a:off x="5783263" y="4651375"/>
            <a:ext cx="1322387" cy="1588"/>
          </a:xfrm>
          <a:custGeom>
            <a:avLst/>
            <a:gdLst>
              <a:gd name="T0" fmla="*/ 0 w 833"/>
              <a:gd name="T1" fmla="*/ 0 h 1"/>
              <a:gd name="T2" fmla="*/ 2147483647 w 833"/>
              <a:gd name="T3" fmla="*/ 0 h 1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833" h="1">
                <a:moveTo>
                  <a:pt x="0" y="0"/>
                </a:moveTo>
                <a:lnTo>
                  <a:pt x="833" y="0"/>
                </a:lnTo>
              </a:path>
            </a:pathLst>
          </a:cu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20930" name="Group 98"/>
          <p:cNvGrpSpPr>
            <a:grpSpLocks/>
          </p:cNvGrpSpPr>
          <p:nvPr/>
        </p:nvGrpSpPr>
        <p:grpSpPr bwMode="auto">
          <a:xfrm>
            <a:off x="5791200" y="4648200"/>
            <a:ext cx="1295400" cy="838200"/>
            <a:chOff x="3648" y="3216"/>
            <a:chExt cx="816" cy="528"/>
          </a:xfrm>
        </p:grpSpPr>
        <p:sp>
          <p:nvSpPr>
            <p:cNvPr id="9271" name="Line 99"/>
            <p:cNvSpPr>
              <a:spLocks noChangeShapeType="1"/>
            </p:cNvSpPr>
            <p:nvPr/>
          </p:nvSpPr>
          <p:spPr bwMode="auto">
            <a:xfrm flipV="1">
              <a:off x="3648" y="3216"/>
              <a:ext cx="0" cy="528"/>
            </a:xfrm>
            <a:prstGeom prst="line">
              <a:avLst/>
            </a:prstGeom>
            <a:noFill/>
            <a:ln w="19050">
              <a:solidFill>
                <a:srgbClr val="9933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72" name="Line 100"/>
            <p:cNvSpPr>
              <a:spLocks noChangeShapeType="1"/>
            </p:cNvSpPr>
            <p:nvPr/>
          </p:nvSpPr>
          <p:spPr bwMode="auto">
            <a:xfrm flipV="1">
              <a:off x="4464" y="3216"/>
              <a:ext cx="0" cy="528"/>
            </a:xfrm>
            <a:prstGeom prst="line">
              <a:avLst/>
            </a:prstGeom>
            <a:noFill/>
            <a:ln w="19050">
              <a:solidFill>
                <a:srgbClr val="9933FF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20933" name="Freeform 101"/>
          <p:cNvSpPr>
            <a:spLocks/>
          </p:cNvSpPr>
          <p:nvPr/>
        </p:nvSpPr>
        <p:spPr bwMode="auto">
          <a:xfrm>
            <a:off x="6118225" y="4652963"/>
            <a:ext cx="1588" cy="1397000"/>
          </a:xfrm>
          <a:custGeom>
            <a:avLst/>
            <a:gdLst>
              <a:gd name="T0" fmla="*/ 0 w 1"/>
              <a:gd name="T1" fmla="*/ 2147483647 h 880"/>
              <a:gd name="T2" fmla="*/ 0 w 1"/>
              <a:gd name="T3" fmla="*/ 0 h 880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" h="880">
                <a:moveTo>
                  <a:pt x="0" y="880"/>
                </a:moveTo>
                <a:lnTo>
                  <a:pt x="0" y="0"/>
                </a:lnTo>
              </a:path>
            </a:pathLst>
          </a:custGeom>
          <a:noFill/>
          <a:ln w="19050" cmpd="sng">
            <a:solidFill>
              <a:srgbClr val="9933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0934" name="Freeform 102"/>
          <p:cNvSpPr>
            <a:spLocks/>
          </p:cNvSpPr>
          <p:nvPr/>
        </p:nvSpPr>
        <p:spPr bwMode="auto">
          <a:xfrm>
            <a:off x="6764338" y="4652963"/>
            <a:ext cx="1587" cy="1362075"/>
          </a:xfrm>
          <a:custGeom>
            <a:avLst/>
            <a:gdLst>
              <a:gd name="T0" fmla="*/ 0 w 1"/>
              <a:gd name="T1" fmla="*/ 2147483647 h 858"/>
              <a:gd name="T2" fmla="*/ 0 w 1"/>
              <a:gd name="T3" fmla="*/ 0 h 858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" h="858">
                <a:moveTo>
                  <a:pt x="0" y="858"/>
                </a:moveTo>
                <a:lnTo>
                  <a:pt x="0" y="0"/>
                </a:lnTo>
              </a:path>
            </a:pathLst>
          </a:custGeom>
          <a:noFill/>
          <a:ln w="19050" cmpd="sng">
            <a:solidFill>
              <a:srgbClr val="9933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20935" name="Group 103"/>
          <p:cNvGrpSpPr>
            <a:grpSpLocks/>
          </p:cNvGrpSpPr>
          <p:nvPr/>
        </p:nvGrpSpPr>
        <p:grpSpPr bwMode="auto">
          <a:xfrm>
            <a:off x="5943600" y="3810000"/>
            <a:ext cx="2438400" cy="1905000"/>
            <a:chOff x="3744" y="2400"/>
            <a:chExt cx="1536" cy="1200"/>
          </a:xfrm>
        </p:grpSpPr>
        <p:sp>
          <p:nvSpPr>
            <p:cNvPr id="9269" name="Line 104"/>
            <p:cNvSpPr>
              <a:spLocks noChangeShapeType="1"/>
            </p:cNvSpPr>
            <p:nvPr/>
          </p:nvSpPr>
          <p:spPr bwMode="auto">
            <a:xfrm>
              <a:off x="3744" y="3456"/>
              <a:ext cx="0" cy="144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70" name="Line 105"/>
            <p:cNvSpPr>
              <a:spLocks noChangeShapeType="1"/>
            </p:cNvSpPr>
            <p:nvPr/>
          </p:nvSpPr>
          <p:spPr bwMode="auto">
            <a:xfrm>
              <a:off x="5088" y="2400"/>
              <a:ext cx="192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20938" name="Group 106"/>
          <p:cNvGrpSpPr>
            <a:grpSpLocks/>
          </p:cNvGrpSpPr>
          <p:nvPr/>
        </p:nvGrpSpPr>
        <p:grpSpPr bwMode="auto">
          <a:xfrm>
            <a:off x="5999163" y="3870325"/>
            <a:ext cx="581025" cy="503238"/>
            <a:chOff x="3779" y="2726"/>
            <a:chExt cx="366" cy="317"/>
          </a:xfrm>
        </p:grpSpPr>
        <p:sp>
          <p:nvSpPr>
            <p:cNvPr id="9267" name="Text Box 107"/>
            <p:cNvSpPr txBox="1">
              <a:spLocks noChangeArrowheads="1"/>
            </p:cNvSpPr>
            <p:nvPr/>
          </p:nvSpPr>
          <p:spPr bwMode="auto">
            <a:xfrm>
              <a:off x="3902" y="2889"/>
              <a:ext cx="176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000" b="1">
                  <a:solidFill>
                    <a:srgbClr val="FF3300"/>
                  </a:solidFill>
                  <a:sym typeface="Wingdings" pitchFamily="2" charset="2"/>
                </a:rPr>
                <a:t></a:t>
              </a:r>
              <a:endParaRPr lang="en-US" altLang="zh-CN" sz="1600" b="1"/>
            </a:p>
          </p:txBody>
        </p:sp>
        <p:sp>
          <p:nvSpPr>
            <p:cNvPr id="9268" name="Text Box 108"/>
            <p:cNvSpPr txBox="1">
              <a:spLocks noChangeArrowheads="1"/>
            </p:cNvSpPr>
            <p:nvPr/>
          </p:nvSpPr>
          <p:spPr bwMode="auto">
            <a:xfrm>
              <a:off x="3779" y="2726"/>
              <a:ext cx="366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 b="1"/>
                <a:t> </a:t>
              </a:r>
              <a:r>
                <a:rPr lang="en-US" altLang="zh-CN" sz="1400" b="1"/>
                <a:t>(</a:t>
              </a:r>
              <a:r>
                <a:rPr lang="en-US" altLang="zh-CN" sz="2400" b="1" i="1"/>
                <a:t>b</a:t>
              </a:r>
              <a:r>
                <a:rPr lang="en-US" altLang="zh-CN" sz="2400" b="1">
                  <a:sym typeface="Symbol" pitchFamily="18" charset="2"/>
                </a:rPr>
                <a:t></a:t>
              </a:r>
              <a:r>
                <a:rPr lang="en-US" altLang="zh-CN" sz="1400" b="1"/>
                <a:t>)</a:t>
              </a:r>
            </a:p>
          </p:txBody>
        </p:sp>
      </p:grpSp>
      <p:sp>
        <p:nvSpPr>
          <p:cNvPr id="120941" name="Line 109"/>
          <p:cNvSpPr>
            <a:spLocks noChangeShapeType="1"/>
          </p:cNvSpPr>
          <p:nvPr/>
        </p:nvSpPr>
        <p:spPr bwMode="auto">
          <a:xfrm>
            <a:off x="6324600" y="4267200"/>
            <a:ext cx="0" cy="1752600"/>
          </a:xfrm>
          <a:prstGeom prst="line">
            <a:avLst/>
          </a:prstGeom>
          <a:noFill/>
          <a:ln w="19050">
            <a:solidFill>
              <a:srgbClr val="003399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20942" name="Group 110"/>
          <p:cNvGrpSpPr>
            <a:grpSpLocks/>
          </p:cNvGrpSpPr>
          <p:nvPr/>
        </p:nvGrpSpPr>
        <p:grpSpPr bwMode="auto">
          <a:xfrm>
            <a:off x="6069013" y="4613275"/>
            <a:ext cx="407987" cy="465138"/>
            <a:chOff x="3823" y="2895"/>
            <a:chExt cx="257" cy="293"/>
          </a:xfrm>
        </p:grpSpPr>
        <p:sp>
          <p:nvSpPr>
            <p:cNvPr id="9265" name="Text Box 111"/>
            <p:cNvSpPr txBox="1">
              <a:spLocks noChangeArrowheads="1"/>
            </p:cNvSpPr>
            <p:nvPr/>
          </p:nvSpPr>
          <p:spPr bwMode="auto">
            <a:xfrm>
              <a:off x="3888" y="3044"/>
              <a:ext cx="192" cy="14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900" b="1">
                  <a:solidFill>
                    <a:srgbClr val="FF3300"/>
                  </a:solidFill>
                  <a:sym typeface="Wingdings" pitchFamily="2" charset="2"/>
                </a:rPr>
                <a:t></a:t>
              </a:r>
              <a:endParaRPr lang="en-US" altLang="zh-CN" sz="1600" b="1"/>
            </a:p>
          </p:txBody>
        </p:sp>
        <p:sp>
          <p:nvSpPr>
            <p:cNvPr id="9266" name="Text Box 112"/>
            <p:cNvSpPr txBox="1">
              <a:spLocks noChangeArrowheads="1"/>
            </p:cNvSpPr>
            <p:nvPr/>
          </p:nvSpPr>
          <p:spPr bwMode="auto">
            <a:xfrm>
              <a:off x="3823" y="2895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i="1"/>
                <a:t>b</a:t>
              </a:r>
              <a:endParaRPr lang="en-US" altLang="zh-CN" sz="1600" b="1"/>
            </a:p>
          </p:txBody>
        </p:sp>
      </p:grpSp>
      <p:sp>
        <p:nvSpPr>
          <p:cNvPr id="120945" name="Freeform 113"/>
          <p:cNvSpPr>
            <a:spLocks/>
          </p:cNvSpPr>
          <p:nvPr/>
        </p:nvSpPr>
        <p:spPr bwMode="auto">
          <a:xfrm>
            <a:off x="6321425" y="4248150"/>
            <a:ext cx="1233488" cy="1588"/>
          </a:xfrm>
          <a:custGeom>
            <a:avLst/>
            <a:gdLst>
              <a:gd name="T0" fmla="*/ 0 w 777"/>
              <a:gd name="T1" fmla="*/ 0 h 1"/>
              <a:gd name="T2" fmla="*/ 2147483647 w 777"/>
              <a:gd name="T3" fmla="*/ 0 h 1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777" h="1">
                <a:moveTo>
                  <a:pt x="0" y="0"/>
                </a:moveTo>
                <a:lnTo>
                  <a:pt x="777" y="0"/>
                </a:lnTo>
              </a:path>
            </a:pathLst>
          </a:custGeom>
          <a:noFill/>
          <a:ln w="19050" cmpd="sng">
            <a:solidFill>
              <a:srgbClr val="003399"/>
            </a:solidFill>
            <a:round/>
            <a:headEnd type="none" w="med" len="med"/>
            <a:tailEnd type="none" w="med" len="med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20947" name="Group 115"/>
          <p:cNvGrpSpPr>
            <a:grpSpLocks/>
          </p:cNvGrpSpPr>
          <p:nvPr/>
        </p:nvGrpSpPr>
        <p:grpSpPr bwMode="auto">
          <a:xfrm>
            <a:off x="6454775" y="4648200"/>
            <a:ext cx="1600200" cy="838200"/>
            <a:chOff x="4080" y="2928"/>
            <a:chExt cx="1008" cy="528"/>
          </a:xfrm>
        </p:grpSpPr>
        <p:sp>
          <p:nvSpPr>
            <p:cNvPr id="9263" name="Line 116"/>
            <p:cNvSpPr>
              <a:spLocks noChangeShapeType="1"/>
            </p:cNvSpPr>
            <p:nvPr/>
          </p:nvSpPr>
          <p:spPr bwMode="auto">
            <a:xfrm>
              <a:off x="4080" y="3120"/>
              <a:ext cx="0" cy="336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64" name="Line 117"/>
            <p:cNvSpPr>
              <a:spLocks noChangeShapeType="1"/>
            </p:cNvSpPr>
            <p:nvPr/>
          </p:nvSpPr>
          <p:spPr bwMode="auto">
            <a:xfrm rot="5400000">
              <a:off x="4920" y="2760"/>
              <a:ext cx="0" cy="33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20950" name="Freeform 118"/>
          <p:cNvSpPr>
            <a:spLocks/>
          </p:cNvSpPr>
          <p:nvPr/>
        </p:nvSpPr>
        <p:spPr bwMode="auto">
          <a:xfrm>
            <a:off x="7537450" y="3490913"/>
            <a:ext cx="6350" cy="1171575"/>
          </a:xfrm>
          <a:custGeom>
            <a:avLst/>
            <a:gdLst>
              <a:gd name="T0" fmla="*/ 2147483647 w 4"/>
              <a:gd name="T1" fmla="*/ 2147483647 h 738"/>
              <a:gd name="T2" fmla="*/ 0 w 4"/>
              <a:gd name="T3" fmla="*/ 0 h 738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4" h="738">
                <a:moveTo>
                  <a:pt x="4" y="738"/>
                </a:moveTo>
                <a:lnTo>
                  <a:pt x="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0951" name="Freeform 119"/>
          <p:cNvSpPr>
            <a:spLocks/>
          </p:cNvSpPr>
          <p:nvPr/>
        </p:nvSpPr>
        <p:spPr bwMode="auto">
          <a:xfrm flipH="1">
            <a:off x="8534400" y="3489325"/>
            <a:ext cx="76200" cy="1163638"/>
          </a:xfrm>
          <a:custGeom>
            <a:avLst/>
            <a:gdLst>
              <a:gd name="T0" fmla="*/ 0 w 1"/>
              <a:gd name="T1" fmla="*/ 2147483647 h 816"/>
              <a:gd name="T2" fmla="*/ 0 w 1"/>
              <a:gd name="T3" fmla="*/ 0 h 816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" h="816">
                <a:moveTo>
                  <a:pt x="0" y="816"/>
                </a:moveTo>
                <a:lnTo>
                  <a:pt x="0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0952" name="Freeform 120"/>
          <p:cNvSpPr>
            <a:spLocks/>
          </p:cNvSpPr>
          <p:nvPr/>
        </p:nvSpPr>
        <p:spPr bwMode="auto">
          <a:xfrm>
            <a:off x="7532688" y="3476625"/>
            <a:ext cx="1090612" cy="4763"/>
          </a:xfrm>
          <a:custGeom>
            <a:avLst/>
            <a:gdLst>
              <a:gd name="T0" fmla="*/ 0 w 687"/>
              <a:gd name="T1" fmla="*/ 2147483647 h 3"/>
              <a:gd name="T2" fmla="*/ 2147483647 w 687"/>
              <a:gd name="T3" fmla="*/ 0 h 3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687" h="3">
                <a:moveTo>
                  <a:pt x="0" y="3"/>
                </a:moveTo>
                <a:lnTo>
                  <a:pt x="687" y="0"/>
                </a:lnTo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0953" name="Line 121"/>
          <p:cNvSpPr>
            <a:spLocks noChangeShapeType="1"/>
          </p:cNvSpPr>
          <p:nvPr/>
        </p:nvSpPr>
        <p:spPr bwMode="auto">
          <a:xfrm flipV="1">
            <a:off x="8077200" y="3473450"/>
            <a:ext cx="0" cy="11747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20954" name="Group 122"/>
          <p:cNvGrpSpPr>
            <a:grpSpLocks/>
          </p:cNvGrpSpPr>
          <p:nvPr/>
        </p:nvGrpSpPr>
        <p:grpSpPr bwMode="auto">
          <a:xfrm>
            <a:off x="7404100" y="3902075"/>
            <a:ext cx="584200" cy="473075"/>
            <a:chOff x="4664" y="2458"/>
            <a:chExt cx="368" cy="298"/>
          </a:xfrm>
        </p:grpSpPr>
        <p:sp>
          <p:nvSpPr>
            <p:cNvPr id="9261" name="Text Box 123"/>
            <p:cNvSpPr txBox="1">
              <a:spLocks noChangeArrowheads="1"/>
            </p:cNvSpPr>
            <p:nvPr/>
          </p:nvSpPr>
          <p:spPr bwMode="auto">
            <a:xfrm>
              <a:off x="4664" y="2602"/>
              <a:ext cx="176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000" b="1">
                  <a:solidFill>
                    <a:srgbClr val="FF3300"/>
                  </a:solidFill>
                  <a:sym typeface="Wingdings" pitchFamily="2" charset="2"/>
                </a:rPr>
                <a:t></a:t>
              </a:r>
              <a:endParaRPr lang="en-US" altLang="zh-CN" sz="1600" b="1"/>
            </a:p>
          </p:txBody>
        </p:sp>
        <p:sp>
          <p:nvSpPr>
            <p:cNvPr id="9262" name="Text Box 124"/>
            <p:cNvSpPr txBox="1">
              <a:spLocks noChangeArrowheads="1"/>
            </p:cNvSpPr>
            <p:nvPr/>
          </p:nvSpPr>
          <p:spPr bwMode="auto">
            <a:xfrm>
              <a:off x="4709" y="2458"/>
              <a:ext cx="3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 b="1"/>
                <a:t> </a:t>
              </a:r>
              <a:r>
                <a:rPr lang="en-US" altLang="zh-CN" sz="2400" b="1" i="1"/>
                <a:t>b</a:t>
              </a:r>
              <a:r>
                <a:rPr lang="en-US" altLang="zh-CN" sz="2400" b="1">
                  <a:sym typeface="Symbol" pitchFamily="18" charset="2"/>
                </a:rPr>
                <a:t></a:t>
              </a:r>
              <a:endParaRPr lang="en-US" altLang="zh-CN" sz="2400" b="1">
                <a:sym typeface="CommercialPi BT" pitchFamily="18" charset="2"/>
              </a:endParaRPr>
            </a:p>
          </p:txBody>
        </p:sp>
      </p:grpSp>
      <p:grpSp>
        <p:nvGrpSpPr>
          <p:cNvPr id="120957" name="Group 125"/>
          <p:cNvGrpSpPr>
            <a:grpSpLocks/>
          </p:cNvGrpSpPr>
          <p:nvPr/>
        </p:nvGrpSpPr>
        <p:grpSpPr bwMode="auto">
          <a:xfrm>
            <a:off x="6454775" y="4648200"/>
            <a:ext cx="2133600" cy="1371600"/>
            <a:chOff x="4080" y="2928"/>
            <a:chExt cx="1344" cy="864"/>
          </a:xfrm>
        </p:grpSpPr>
        <p:sp>
          <p:nvSpPr>
            <p:cNvPr id="9259" name="Line 126"/>
            <p:cNvSpPr>
              <a:spLocks noChangeShapeType="1"/>
            </p:cNvSpPr>
            <p:nvPr/>
          </p:nvSpPr>
          <p:spPr bwMode="auto">
            <a:xfrm rot="5400000">
              <a:off x="5256" y="2760"/>
              <a:ext cx="0" cy="33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9260" name="Line 127"/>
            <p:cNvSpPr>
              <a:spLocks noChangeShapeType="1"/>
            </p:cNvSpPr>
            <p:nvPr/>
          </p:nvSpPr>
          <p:spPr bwMode="auto">
            <a:xfrm>
              <a:off x="4080" y="3456"/>
              <a:ext cx="0" cy="336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pic>
        <p:nvPicPr>
          <p:cNvPr id="120963" name="Picture 131" descr="六棱柱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4210" t="14049" r="33736" b="11884"/>
          <a:stretch>
            <a:fillRect/>
          </a:stretch>
        </p:blipFill>
        <p:spPr bwMode="auto">
          <a:xfrm>
            <a:off x="6169025" y="800100"/>
            <a:ext cx="1581150" cy="2095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0964" name="Freeform 132"/>
          <p:cNvSpPr>
            <a:spLocks/>
          </p:cNvSpPr>
          <p:nvPr/>
        </p:nvSpPr>
        <p:spPr bwMode="auto">
          <a:xfrm>
            <a:off x="6200775" y="828675"/>
            <a:ext cx="1527175" cy="765175"/>
          </a:xfrm>
          <a:custGeom>
            <a:avLst/>
            <a:gdLst>
              <a:gd name="T0" fmla="*/ 2147483647 w 9752"/>
              <a:gd name="T1" fmla="*/ 0 h 4879"/>
              <a:gd name="T2" fmla="*/ 0 w 9752"/>
              <a:gd name="T3" fmla="*/ 2147483647 h 4879"/>
              <a:gd name="T4" fmla="*/ 2147483647 w 9752"/>
              <a:gd name="T5" fmla="*/ 2147483647 h 4879"/>
              <a:gd name="T6" fmla="*/ 2147483647 w 9752"/>
              <a:gd name="T7" fmla="*/ 2147483647 h 4879"/>
              <a:gd name="T8" fmla="*/ 2147483647 w 9752"/>
              <a:gd name="T9" fmla="*/ 2147483647 h 4879"/>
              <a:gd name="T10" fmla="*/ 2147483647 w 9752"/>
              <a:gd name="T11" fmla="*/ 0 h 4879"/>
              <a:gd name="T12" fmla="*/ 2147483647 w 9752"/>
              <a:gd name="T13" fmla="*/ 0 h 4879"/>
              <a:gd name="T14" fmla="*/ 0 60000 65536"/>
              <a:gd name="T15" fmla="*/ 0 60000 65536"/>
              <a:gd name="T16" fmla="*/ 0 60000 65536"/>
              <a:gd name="T17" fmla="*/ 0 60000 65536"/>
              <a:gd name="T18" fmla="*/ 0 60000 65536"/>
              <a:gd name="T19" fmla="*/ 0 60000 65536"/>
              <a:gd name="T20" fmla="*/ 0 60000 65536"/>
            </a:gdLst>
            <a:ahLst/>
            <a:cxnLst>
              <a:cxn ang="T14">
                <a:pos x="T0" y="T1"/>
              </a:cxn>
              <a:cxn ang="T15">
                <a:pos x="T2" y="T3"/>
              </a:cxn>
              <a:cxn ang="T16">
                <a:pos x="T4" y="T5"/>
              </a:cxn>
              <a:cxn ang="T17">
                <a:pos x="T6" y="T7"/>
              </a:cxn>
              <a:cxn ang="T18">
                <a:pos x="T8" y="T9"/>
              </a:cxn>
              <a:cxn ang="T19">
                <a:pos x="T10" y="T11"/>
              </a:cxn>
              <a:cxn ang="T20">
                <a:pos x="T12" y="T13"/>
              </a:cxn>
            </a:cxnLst>
            <a:rect l="0" t="0" r="r" b="b"/>
            <a:pathLst>
              <a:path w="9752" h="4879">
                <a:moveTo>
                  <a:pt x="2438" y="0"/>
                </a:moveTo>
                <a:lnTo>
                  <a:pt x="0" y="2439"/>
                </a:lnTo>
                <a:lnTo>
                  <a:pt x="2438" y="4879"/>
                </a:lnTo>
                <a:lnTo>
                  <a:pt x="7314" y="4879"/>
                </a:lnTo>
                <a:lnTo>
                  <a:pt x="9752" y="2439"/>
                </a:lnTo>
                <a:lnTo>
                  <a:pt x="7314" y="0"/>
                </a:lnTo>
                <a:lnTo>
                  <a:pt x="2438" y="0"/>
                </a:lnTo>
              </a:path>
            </a:pathLst>
          </a:custGeom>
          <a:solidFill>
            <a:srgbClr val="FF00FF"/>
          </a:solidFill>
          <a:ln>
            <a:noFill/>
          </a:ln>
          <a:extLst>
            <a:ext uri="{91240B29-F687-4F45-9708-019B960494DF}">
              <a14:hiddenLine xmlns:a14="http://schemas.microsoft.com/office/drawing/2010/main" w="3175" cmpd="sng">
                <a:solidFill>
                  <a:schemeClr val="tx1"/>
                </a:solidFill>
                <a:prstDash val="solid"/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20965" name="Rectangle 133"/>
          <p:cNvSpPr>
            <a:spLocks noChangeArrowheads="1"/>
          </p:cNvSpPr>
          <p:nvPr/>
        </p:nvSpPr>
        <p:spPr bwMode="auto">
          <a:xfrm>
            <a:off x="6580188" y="1593850"/>
            <a:ext cx="771525" cy="1279525"/>
          </a:xfrm>
          <a:prstGeom prst="rect">
            <a:avLst/>
          </a:prstGeom>
          <a:solidFill>
            <a:srgbClr val="FF9900"/>
          </a:solidFill>
          <a:ln>
            <a:noFill/>
          </a:ln>
          <a:extLst>
            <a:ext uri="{91240B29-F687-4F45-9708-019B960494DF}">
              <a14:hiddenLine xmlns:a14="http://schemas.microsoft.com/office/drawing/2010/main" w="317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20969" name="Text Box 137"/>
          <p:cNvSpPr txBox="1">
            <a:spLocks noChangeArrowheads="1"/>
          </p:cNvSpPr>
          <p:nvPr/>
        </p:nvSpPr>
        <p:spPr bwMode="auto">
          <a:xfrm>
            <a:off x="650875" y="5153025"/>
            <a:ext cx="4360863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b="1">
                <a:latin typeface="黑体" pitchFamily="2" charset="-122"/>
                <a:ea typeface="黑体" pitchFamily="2" charset="-122"/>
              </a:rPr>
              <a:t>棱柱表面取点与平面上取点的方法相同。</a:t>
            </a:r>
          </a:p>
        </p:txBody>
      </p:sp>
      <p:sp>
        <p:nvSpPr>
          <p:cNvPr id="120970" name="Text Box 138"/>
          <p:cNvSpPr txBox="1">
            <a:spLocks noChangeArrowheads="1"/>
          </p:cNvSpPr>
          <p:nvPr/>
        </p:nvSpPr>
        <p:spPr bwMode="auto">
          <a:xfrm>
            <a:off x="614363" y="3375025"/>
            <a:ext cx="4527550" cy="155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marL="457200" indent="-457200"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914400" indent="-45720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371600" indent="-4572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828800" indent="-4572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indent="-4572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AutoNum type="arabicParenBoth"/>
            </a:pPr>
            <a:r>
              <a:rPr lang="zh-CN" altLang="en-US" sz="2400" b="1">
                <a:ea typeface="黑体" pitchFamily="2" charset="-122"/>
              </a:rPr>
              <a:t>若点所在的平面的投影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>
                <a:ea typeface="黑体" pitchFamily="2" charset="-122"/>
              </a:rPr>
              <a:t>      可见，点的投影可见；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ea typeface="黑体" pitchFamily="2" charset="-122"/>
              </a:rPr>
              <a:t>(2) </a:t>
            </a:r>
            <a:r>
              <a:rPr lang="zh-CN" altLang="en-US" sz="2400" b="1">
                <a:ea typeface="黑体" pitchFamily="2" charset="-122"/>
              </a:rPr>
              <a:t>若平面的投影积聚成直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>
                <a:ea typeface="黑体" pitchFamily="2" charset="-122"/>
              </a:rPr>
              <a:t>      线，点的投影也可见。</a:t>
            </a:r>
          </a:p>
        </p:txBody>
      </p:sp>
      <p:sp>
        <p:nvSpPr>
          <p:cNvPr id="120972" name="Text Box 140"/>
          <p:cNvSpPr txBox="1">
            <a:spLocks noChangeArrowheads="1"/>
          </p:cNvSpPr>
          <p:nvPr/>
        </p:nvSpPr>
        <p:spPr bwMode="auto">
          <a:xfrm>
            <a:off x="550863" y="2563813"/>
            <a:ext cx="3455987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3600" b="1">
                <a:latin typeface="黑体" pitchFamily="2" charset="-122"/>
                <a:ea typeface="黑体" pitchFamily="2" charset="-122"/>
                <a:sym typeface="Symbol" pitchFamily="18" charset="2"/>
              </a:rPr>
              <a:t>棱柱表面取点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096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096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09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09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 nodeType="clickPar">
                      <p:stCondLst>
                        <p:cond delay="indefinite"/>
                      </p:stCondLst>
                      <p:childTnLst>
                        <p:par>
                          <p:cTn id="1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9" dur="500"/>
                                        <p:tgtEl>
                                          <p:spTgt spid="1209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 nodeType="clickPar">
                      <p:stCondLst>
                        <p:cond delay="indefinite"/>
                      </p:stCondLst>
                      <p:childTnLst>
                        <p:par>
                          <p:cTn id="2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4" dur="500"/>
                                        <p:tgtEl>
                                          <p:spTgt spid="1209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 nodeType="clickPar">
                      <p:stCondLst>
                        <p:cond delay="indefinite"/>
                      </p:stCondLst>
                      <p:childTnLst>
                        <p:par>
                          <p:cTn id="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4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Horizontal)">
                                      <p:cBhvr>
                                        <p:cTn id="29" dur="500"/>
                                        <p:tgtEl>
                                          <p:spTgt spid="1209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209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9" dur="500"/>
                                        <p:tgtEl>
                                          <p:spTgt spid="1209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4" dur="500"/>
                                        <p:tgtEl>
                                          <p:spTgt spid="1209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9" dur="500"/>
                                        <p:tgtEl>
                                          <p:spTgt spid="1209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209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209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120930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0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1209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120933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09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9" dur="500"/>
                                        <p:tgtEl>
                                          <p:spTgt spid="1209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4" dur="500"/>
                                        <p:tgtEl>
                                          <p:spTgt spid="120934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0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9" dur="500"/>
                                        <p:tgtEl>
                                          <p:spTgt spid="1209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1209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9" dur="500"/>
                                        <p:tgtEl>
                                          <p:spTgt spid="1209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0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8" dur="500"/>
                                        <p:tgtEl>
                                          <p:spTgt spid="120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09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7" dur="500"/>
                                        <p:tgtEl>
                                          <p:spTgt spid="1209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2" dur="500"/>
                                        <p:tgtEl>
                                          <p:spTgt spid="1209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3" fill="hold" nodeType="clickPar">
                      <p:stCondLst>
                        <p:cond delay="indefinite"/>
                      </p:stCondLst>
                      <p:childTnLst>
                        <p:par>
                          <p:cTn id="1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7" dur="500"/>
                                        <p:tgtEl>
                                          <p:spTgt spid="1209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 nodeType="clickPar">
                      <p:stCondLst>
                        <p:cond delay="indefinite"/>
                      </p:stCondLst>
                      <p:childTnLst>
                        <p:par>
                          <p:cTn id="1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2" dur="500"/>
                                        <p:tgtEl>
                                          <p:spTgt spid="1209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7" dur="500" fill="hold"/>
                                        <p:tgtEl>
                                          <p:spTgt spid="12097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38" dur="500" fill="hold"/>
                                        <p:tgtEl>
                                          <p:spTgt spid="12097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43" dur="500"/>
                                        <p:tgtEl>
                                          <p:spTgt spid="1209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 nodeType="clickPar">
                      <p:stCondLst>
                        <p:cond delay="indefinite"/>
                      </p:stCondLst>
                      <p:childTnLst>
                        <p:par>
                          <p:cTn id="1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6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12092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9" dur="500" fill="hold"/>
                                        <p:tgtEl>
                                          <p:spTgt spid="12092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0" fill="hold" nodeType="clickPar">
                      <p:stCondLst>
                        <p:cond delay="indefinite"/>
                      </p:stCondLst>
                      <p:childTnLst>
                        <p:par>
                          <p:cTn id="1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4" dur="500"/>
                                        <p:tgtEl>
                                          <p:spTgt spid="1209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 nodeType="clickPar">
                      <p:stCondLst>
                        <p:cond delay="indefinite"/>
                      </p:stCondLst>
                      <p:childTnLst>
                        <p:par>
                          <p:cTn id="1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7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9" dur="500" fill="hold"/>
                                        <p:tgtEl>
                                          <p:spTgt spid="12092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0" dur="500" fill="hold"/>
                                        <p:tgtEl>
                                          <p:spTgt spid="12092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 nodeType="clickPar">
                      <p:stCondLst>
                        <p:cond delay="indefinite"/>
                      </p:stCondLst>
                      <p:childTnLst>
                        <p:par>
                          <p:cTn id="1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5" dur="500"/>
                                        <p:tgtEl>
                                          <p:spTgt spid="1209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 nodeType="clickPar">
                      <p:stCondLst>
                        <p:cond delay="indefinite"/>
                      </p:stCondLst>
                      <p:childTnLst>
                        <p:par>
                          <p:cTn id="1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0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0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 nodeType="clickPar">
                      <p:stCondLst>
                        <p:cond delay="indefinite"/>
                      </p:stCondLst>
                      <p:childTnLst>
                        <p:par>
                          <p:cTn id="1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2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4" dur="500" fill="hold"/>
                                        <p:tgtEl>
                                          <p:spTgt spid="12092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5" dur="500" fill="hold"/>
                                        <p:tgtEl>
                                          <p:spTgt spid="12092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 nodeType="clickPar">
                      <p:stCondLst>
                        <p:cond delay="indefinite"/>
                      </p:stCondLst>
                      <p:childTnLst>
                        <p:par>
                          <p:cTn id="1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8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80" dur="500" fill="hold"/>
                                        <p:tgtEl>
                                          <p:spTgt spid="1209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1" dur="500" fill="hold"/>
                                        <p:tgtEl>
                                          <p:spTgt spid="1209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 nodeType="clickPar">
                      <p:stCondLst>
                        <p:cond delay="indefinite"/>
                      </p:stCondLst>
                      <p:childTnLst>
                        <p:par>
                          <p:cTn id="1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6" dur="500"/>
                                        <p:tgtEl>
                                          <p:spTgt spid="1209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 nodeType="clickPar">
                      <p:stCondLst>
                        <p:cond delay="indefinite"/>
                      </p:stCondLst>
                      <p:childTnLst>
                        <p:par>
                          <p:cTn id="1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9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1" dur="500" fill="hold"/>
                                        <p:tgtEl>
                                          <p:spTgt spid="12094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2" dur="500" fill="hold"/>
                                        <p:tgtEl>
                                          <p:spTgt spid="12094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 nodeType="clickPar">
                      <p:stCondLst>
                        <p:cond delay="indefinite"/>
                      </p:stCondLst>
                      <p:childTnLst>
                        <p:par>
                          <p:cTn id="1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7" dur="500"/>
                                        <p:tgtEl>
                                          <p:spTgt spid="120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 nodeType="clickPar">
                      <p:stCondLst>
                        <p:cond delay="indefinite"/>
                      </p:stCondLst>
                      <p:childTnLst>
                        <p:par>
                          <p:cTn id="1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0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2" dur="500" fill="hold"/>
                                        <p:tgtEl>
                                          <p:spTgt spid="12095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3" dur="500" fill="hold"/>
                                        <p:tgtEl>
                                          <p:spTgt spid="12095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4" fill="hold" nodeType="clickPar">
                      <p:stCondLst>
                        <p:cond delay="indefinite"/>
                      </p:stCondLst>
                      <p:childTnLst>
                        <p:par>
                          <p:cTn id="2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6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9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08" dur="500"/>
                                        <p:tgtEl>
                                          <p:spTgt spid="1209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0905" grpId="0" autoUpdateAnimBg="0"/>
      <p:bldP spid="120906" grpId="0" animBg="1"/>
      <p:bldP spid="120907" grpId="0" animBg="1"/>
      <p:bldP spid="120908" grpId="0" animBg="1"/>
      <p:bldP spid="120909" grpId="0" animBg="1"/>
      <p:bldP spid="120910" grpId="0" autoUpdateAnimBg="0"/>
      <p:bldP spid="120911" grpId="0" animBg="1"/>
      <p:bldP spid="120912" grpId="0" animBg="1"/>
      <p:bldP spid="120913" grpId="0" animBg="1"/>
      <p:bldP spid="120914" grpId="0" animBg="1"/>
      <p:bldP spid="120915" grpId="0" animBg="1"/>
      <p:bldP spid="120916" grpId="0" animBg="1"/>
      <p:bldP spid="120917" grpId="0" animBg="1"/>
      <p:bldP spid="120918" grpId="0" animBg="1"/>
      <p:bldP spid="120919" grpId="0" animBg="1"/>
      <p:bldP spid="120929" grpId="0" animBg="1"/>
      <p:bldP spid="120933" grpId="0" animBg="1"/>
      <p:bldP spid="120934" grpId="0" animBg="1"/>
      <p:bldP spid="120941" grpId="0" animBg="1"/>
      <p:bldP spid="120945" grpId="0" animBg="1"/>
      <p:bldP spid="120950" grpId="0" animBg="1"/>
      <p:bldP spid="120951" grpId="0" animBg="1"/>
      <p:bldP spid="120952" grpId="0" animBg="1"/>
      <p:bldP spid="120953" grpId="0" animBg="1"/>
      <p:bldP spid="120964" grpId="0" animBg="1"/>
      <p:bldP spid="120965" grpId="0" animBg="1"/>
      <p:bldP spid="120969" grpId="0"/>
      <p:bldP spid="120970" grpId="0" autoUpdateAnimBg="0"/>
      <p:bldP spid="120972" grpId="0" autoUpdateAnimBg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灯片编号占位符 7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10F8B87F-86CB-4307-9DA2-A20B658AEC5D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8</a:t>
            </a:fld>
            <a:endParaRPr lang="en-US" altLang="zh-CN" sz="1400" smtClean="0">
              <a:solidFill>
                <a:schemeClr val="bg2"/>
              </a:solidFill>
            </a:endParaRPr>
          </a:p>
        </p:txBody>
      </p:sp>
      <p:sp>
        <p:nvSpPr>
          <p:cNvPr id="124930" name="Freeform 2"/>
          <p:cNvSpPr>
            <a:spLocks/>
          </p:cNvSpPr>
          <p:nvPr/>
        </p:nvSpPr>
        <p:spPr bwMode="auto">
          <a:xfrm>
            <a:off x="5673725" y="4838700"/>
            <a:ext cx="1922463" cy="511175"/>
          </a:xfrm>
          <a:custGeom>
            <a:avLst/>
            <a:gdLst>
              <a:gd name="T0" fmla="*/ 0 w 1211"/>
              <a:gd name="T1" fmla="*/ 2147483647 h 322"/>
              <a:gd name="T2" fmla="*/ 2147483647 w 1211"/>
              <a:gd name="T3" fmla="*/ 2147483647 h 322"/>
              <a:gd name="T4" fmla="*/ 2147483647 w 1211"/>
              <a:gd name="T5" fmla="*/ 0 h 322"/>
              <a:gd name="T6" fmla="*/ 2147483647 w 1211"/>
              <a:gd name="T7" fmla="*/ 2147483647 h 322"/>
              <a:gd name="T8" fmla="*/ 0 w 1211"/>
              <a:gd name="T9" fmla="*/ 2147483647 h 322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211" h="322">
                <a:moveTo>
                  <a:pt x="0" y="75"/>
                </a:moveTo>
                <a:lnTo>
                  <a:pt x="790" y="322"/>
                </a:lnTo>
                <a:lnTo>
                  <a:pt x="1211" y="0"/>
                </a:lnTo>
                <a:lnTo>
                  <a:pt x="22" y="67"/>
                </a:lnTo>
                <a:lnTo>
                  <a:pt x="0" y="75"/>
                </a:lnTo>
                <a:close/>
              </a:path>
            </a:pathLst>
          </a:custGeom>
          <a:solidFill>
            <a:srgbClr val="CCCC00"/>
          </a:solidFill>
          <a:ln w="28575" cmpd="sng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24931" name="Group 3"/>
          <p:cNvGrpSpPr>
            <a:grpSpLocks/>
          </p:cNvGrpSpPr>
          <p:nvPr/>
        </p:nvGrpSpPr>
        <p:grpSpPr bwMode="auto">
          <a:xfrm>
            <a:off x="1808163" y="1982788"/>
            <a:ext cx="2068512" cy="2362200"/>
            <a:chOff x="867" y="1378"/>
            <a:chExt cx="1303" cy="1488"/>
          </a:xfrm>
        </p:grpSpPr>
        <p:sp>
          <p:nvSpPr>
            <p:cNvPr id="10265" name="Freeform 4"/>
            <p:cNvSpPr>
              <a:spLocks/>
            </p:cNvSpPr>
            <p:nvPr/>
          </p:nvSpPr>
          <p:spPr bwMode="auto">
            <a:xfrm>
              <a:off x="867" y="1378"/>
              <a:ext cx="822" cy="1488"/>
            </a:xfrm>
            <a:custGeom>
              <a:avLst/>
              <a:gdLst>
                <a:gd name="T0" fmla="*/ 656 w 822"/>
                <a:gd name="T1" fmla="*/ 0 h 1488"/>
                <a:gd name="T2" fmla="*/ 0 w 822"/>
                <a:gd name="T3" fmla="*/ 1267 h 1488"/>
                <a:gd name="T4" fmla="*/ 822 w 822"/>
                <a:gd name="T5" fmla="*/ 1488 h 1488"/>
                <a:gd name="T6" fmla="*/ 656 w 822"/>
                <a:gd name="T7" fmla="*/ 0 h 148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22" h="1488">
                  <a:moveTo>
                    <a:pt x="656" y="0"/>
                  </a:moveTo>
                  <a:lnTo>
                    <a:pt x="0" y="1267"/>
                  </a:lnTo>
                  <a:lnTo>
                    <a:pt x="822" y="1488"/>
                  </a:lnTo>
                  <a:lnTo>
                    <a:pt x="656" y="0"/>
                  </a:lnTo>
                  <a:close/>
                </a:path>
              </a:pathLst>
            </a:custGeom>
            <a:gradFill rotWithShape="0">
              <a:gsLst>
                <a:gs pos="0">
                  <a:srgbClr val="5E5E00"/>
                </a:gs>
                <a:gs pos="100000">
                  <a:srgbClr val="CCCC00"/>
                </a:gs>
              </a:gsLst>
              <a:lin ang="2700000" scaled="1"/>
            </a:gradFill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0266" name="Freeform 5"/>
            <p:cNvSpPr>
              <a:spLocks/>
            </p:cNvSpPr>
            <p:nvPr/>
          </p:nvSpPr>
          <p:spPr bwMode="auto">
            <a:xfrm>
              <a:off x="1523" y="1389"/>
              <a:ext cx="647" cy="1466"/>
            </a:xfrm>
            <a:custGeom>
              <a:avLst/>
              <a:gdLst>
                <a:gd name="T0" fmla="*/ 0 w 647"/>
                <a:gd name="T1" fmla="*/ 0 h 1466"/>
                <a:gd name="T2" fmla="*/ 166 w 647"/>
                <a:gd name="T3" fmla="*/ 1466 h 1466"/>
                <a:gd name="T4" fmla="*/ 647 w 647"/>
                <a:gd name="T5" fmla="*/ 1219 h 1466"/>
                <a:gd name="T6" fmla="*/ 0 w 647"/>
                <a:gd name="T7" fmla="*/ 0 h 146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47" h="1466">
                  <a:moveTo>
                    <a:pt x="0" y="0"/>
                  </a:moveTo>
                  <a:lnTo>
                    <a:pt x="166" y="1466"/>
                  </a:lnTo>
                  <a:lnTo>
                    <a:pt x="647" y="1219"/>
                  </a:lnTo>
                  <a:lnTo>
                    <a:pt x="0" y="0"/>
                  </a:lnTo>
                  <a:close/>
                </a:path>
              </a:pathLst>
            </a:custGeom>
            <a:gradFill rotWithShape="0">
              <a:gsLst>
                <a:gs pos="0">
                  <a:srgbClr val="CCCC00"/>
                </a:gs>
                <a:gs pos="100000">
                  <a:srgbClr val="5E5E00"/>
                </a:gs>
              </a:gsLst>
              <a:lin ang="0" scaled="1"/>
            </a:gradFill>
            <a:ln w="28575" cmpd="sng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24934" name="Text Box 6" descr="紫色网格"/>
          <p:cNvSpPr txBox="1">
            <a:spLocks noChangeArrowheads="1"/>
          </p:cNvSpPr>
          <p:nvPr/>
        </p:nvSpPr>
        <p:spPr bwMode="auto">
          <a:xfrm>
            <a:off x="649288" y="219075"/>
            <a:ext cx="2316162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4000" b="1">
                <a:latin typeface="黑体" pitchFamily="2" charset="-122"/>
                <a:ea typeface="黑体" pitchFamily="2" charset="-122"/>
              </a:rPr>
              <a:t>2 </a:t>
            </a:r>
            <a:r>
              <a:rPr lang="zh-CN" altLang="en-US" sz="4000" b="1">
                <a:latin typeface="黑体" pitchFamily="2" charset="-122"/>
                <a:ea typeface="黑体" pitchFamily="2" charset="-122"/>
              </a:rPr>
              <a:t>棱锥</a:t>
            </a:r>
          </a:p>
        </p:txBody>
      </p:sp>
      <p:sp>
        <p:nvSpPr>
          <p:cNvPr id="124935" name="Text Box 7"/>
          <p:cNvSpPr txBox="1">
            <a:spLocks noChangeArrowheads="1"/>
          </p:cNvSpPr>
          <p:nvPr/>
        </p:nvSpPr>
        <p:spPr bwMode="auto">
          <a:xfrm>
            <a:off x="2689225" y="1095375"/>
            <a:ext cx="1458913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3600" b="1">
                <a:solidFill>
                  <a:srgbClr val="000066"/>
                </a:solidFill>
                <a:ea typeface="黑体" pitchFamily="2" charset="-122"/>
              </a:rPr>
              <a:t>锥顶</a:t>
            </a:r>
          </a:p>
        </p:txBody>
      </p:sp>
      <p:sp>
        <p:nvSpPr>
          <p:cNvPr id="124936" name="Line 8"/>
          <p:cNvSpPr>
            <a:spLocks noChangeShapeType="1"/>
          </p:cNvSpPr>
          <p:nvPr/>
        </p:nvSpPr>
        <p:spPr bwMode="auto">
          <a:xfrm flipH="1">
            <a:off x="2889250" y="1677988"/>
            <a:ext cx="161925" cy="269875"/>
          </a:xfrm>
          <a:prstGeom prst="line">
            <a:avLst/>
          </a:prstGeom>
          <a:noFill/>
          <a:ln w="12700">
            <a:solidFill>
              <a:srgbClr val="00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4937" name="Text Box 9" descr="绿色大理石"/>
          <p:cNvSpPr txBox="1">
            <a:spLocks noChangeArrowheads="1"/>
          </p:cNvSpPr>
          <p:nvPr/>
        </p:nvSpPr>
        <p:spPr bwMode="auto">
          <a:xfrm>
            <a:off x="654050" y="5386388"/>
            <a:ext cx="4856163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b="1">
                <a:ea typeface="黑体" pitchFamily="2" charset="-122"/>
              </a:rPr>
              <a:t>特点：棱线相交于锥顶</a:t>
            </a:r>
          </a:p>
        </p:txBody>
      </p:sp>
      <p:sp>
        <p:nvSpPr>
          <p:cNvPr id="124938" name="Text Box 10"/>
          <p:cNvSpPr txBox="1">
            <a:spLocks noChangeArrowheads="1"/>
          </p:cNvSpPr>
          <p:nvPr/>
        </p:nvSpPr>
        <p:spPr bwMode="auto">
          <a:xfrm>
            <a:off x="941388" y="2041525"/>
            <a:ext cx="1560512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3600" b="1">
                <a:solidFill>
                  <a:srgbClr val="000066"/>
                </a:solidFill>
                <a:ea typeface="黑体" pitchFamily="2" charset="-122"/>
                <a:sym typeface="Monotype Sorts" pitchFamily="2" charset="2"/>
              </a:rPr>
              <a:t>侧棱面</a:t>
            </a:r>
            <a:endParaRPr lang="zh-CN" altLang="en-US" sz="3600" b="1">
              <a:solidFill>
                <a:srgbClr val="000066"/>
              </a:solidFill>
              <a:ea typeface="黑体" pitchFamily="2" charset="-122"/>
            </a:endParaRPr>
          </a:p>
        </p:txBody>
      </p:sp>
      <p:sp>
        <p:nvSpPr>
          <p:cNvPr id="124939" name="Text Box 11"/>
          <p:cNvSpPr txBox="1">
            <a:spLocks noChangeArrowheads="1"/>
          </p:cNvSpPr>
          <p:nvPr/>
        </p:nvSpPr>
        <p:spPr bwMode="auto">
          <a:xfrm>
            <a:off x="1808163" y="4313238"/>
            <a:ext cx="1443037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3600" b="1">
                <a:solidFill>
                  <a:srgbClr val="000066"/>
                </a:solidFill>
                <a:ea typeface="黑体" pitchFamily="2" charset="-122"/>
              </a:rPr>
              <a:t>底面</a:t>
            </a:r>
          </a:p>
        </p:txBody>
      </p:sp>
      <p:sp>
        <p:nvSpPr>
          <p:cNvPr id="124940" name="Text Box 12"/>
          <p:cNvSpPr txBox="1">
            <a:spLocks noChangeArrowheads="1"/>
          </p:cNvSpPr>
          <p:nvPr/>
        </p:nvSpPr>
        <p:spPr bwMode="auto">
          <a:xfrm>
            <a:off x="3527425" y="2430463"/>
            <a:ext cx="1354138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3600" b="1">
                <a:solidFill>
                  <a:srgbClr val="000066"/>
                </a:solidFill>
                <a:ea typeface="黑体" pitchFamily="2" charset="-122"/>
              </a:rPr>
              <a:t>棱线</a:t>
            </a:r>
          </a:p>
        </p:txBody>
      </p:sp>
      <p:sp>
        <p:nvSpPr>
          <p:cNvPr id="124941" name="Text Box 13"/>
          <p:cNvSpPr txBox="1">
            <a:spLocks noChangeArrowheads="1"/>
          </p:cNvSpPr>
          <p:nvPr/>
        </p:nvSpPr>
        <p:spPr bwMode="auto">
          <a:xfrm>
            <a:off x="3657600" y="4059238"/>
            <a:ext cx="12001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3600" b="1">
                <a:solidFill>
                  <a:srgbClr val="000066"/>
                </a:solidFill>
                <a:ea typeface="黑体" pitchFamily="2" charset="-122"/>
              </a:rPr>
              <a:t>底边</a:t>
            </a:r>
          </a:p>
        </p:txBody>
      </p:sp>
      <p:sp>
        <p:nvSpPr>
          <p:cNvPr id="124942" name="Line 14"/>
          <p:cNvSpPr>
            <a:spLocks noChangeShapeType="1"/>
          </p:cNvSpPr>
          <p:nvPr/>
        </p:nvSpPr>
        <p:spPr bwMode="auto">
          <a:xfrm flipH="1">
            <a:off x="2325688" y="4192588"/>
            <a:ext cx="122237" cy="338137"/>
          </a:xfrm>
          <a:prstGeom prst="line">
            <a:avLst/>
          </a:prstGeom>
          <a:noFill/>
          <a:ln w="12700">
            <a:solidFill>
              <a:srgbClr val="00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4943" name="Line 15"/>
          <p:cNvSpPr>
            <a:spLocks noChangeShapeType="1"/>
          </p:cNvSpPr>
          <p:nvPr/>
        </p:nvSpPr>
        <p:spPr bwMode="auto">
          <a:xfrm flipH="1" flipV="1">
            <a:off x="1730375" y="2628900"/>
            <a:ext cx="722313" cy="660400"/>
          </a:xfrm>
          <a:prstGeom prst="line">
            <a:avLst/>
          </a:prstGeom>
          <a:noFill/>
          <a:ln w="12700">
            <a:solidFill>
              <a:srgbClr val="00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4944" name="Line 16"/>
          <p:cNvSpPr>
            <a:spLocks noChangeShapeType="1"/>
          </p:cNvSpPr>
          <p:nvPr/>
        </p:nvSpPr>
        <p:spPr bwMode="auto">
          <a:xfrm>
            <a:off x="3368675" y="4192588"/>
            <a:ext cx="384175" cy="201612"/>
          </a:xfrm>
          <a:prstGeom prst="line">
            <a:avLst/>
          </a:prstGeom>
          <a:noFill/>
          <a:ln w="12700">
            <a:solidFill>
              <a:srgbClr val="00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4945" name="Line 17"/>
          <p:cNvSpPr>
            <a:spLocks noChangeShapeType="1"/>
          </p:cNvSpPr>
          <p:nvPr/>
        </p:nvSpPr>
        <p:spPr bwMode="auto">
          <a:xfrm flipV="1">
            <a:off x="3035300" y="3041650"/>
            <a:ext cx="863600" cy="601663"/>
          </a:xfrm>
          <a:prstGeom prst="line">
            <a:avLst/>
          </a:prstGeom>
          <a:noFill/>
          <a:ln w="12700">
            <a:solidFill>
              <a:srgbClr val="00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4946" name="Text Box 18"/>
          <p:cNvSpPr txBox="1">
            <a:spLocks noChangeArrowheads="1"/>
          </p:cNvSpPr>
          <p:nvPr/>
        </p:nvSpPr>
        <p:spPr bwMode="auto">
          <a:xfrm>
            <a:off x="5519738" y="458788"/>
            <a:ext cx="1839912" cy="7016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defRPr/>
            </a:pPr>
            <a:r>
              <a:rPr kumimoji="1" lang="zh-CN" altLang="en-US" sz="4000" b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itchFamily="2" charset="-122"/>
              </a:rPr>
              <a:t>形成</a:t>
            </a:r>
          </a:p>
        </p:txBody>
      </p:sp>
      <p:sp>
        <p:nvSpPr>
          <p:cNvPr id="124947" name="Line 19"/>
          <p:cNvSpPr>
            <a:spLocks noChangeShapeType="1"/>
          </p:cNvSpPr>
          <p:nvPr/>
        </p:nvSpPr>
        <p:spPr bwMode="auto">
          <a:xfrm flipV="1">
            <a:off x="6357938" y="3698875"/>
            <a:ext cx="0" cy="790575"/>
          </a:xfrm>
          <a:prstGeom prst="line">
            <a:avLst/>
          </a:prstGeom>
          <a:noFill/>
          <a:ln w="19050">
            <a:solidFill>
              <a:srgbClr val="990033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4948" name="Line 20"/>
          <p:cNvSpPr>
            <a:spLocks noChangeShapeType="1"/>
          </p:cNvSpPr>
          <p:nvPr/>
        </p:nvSpPr>
        <p:spPr bwMode="auto">
          <a:xfrm flipV="1">
            <a:off x="6813550" y="3690938"/>
            <a:ext cx="0" cy="876300"/>
          </a:xfrm>
          <a:prstGeom prst="line">
            <a:avLst/>
          </a:prstGeom>
          <a:noFill/>
          <a:ln w="38100">
            <a:solidFill>
              <a:srgbClr val="00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4949" name="Text Box 21"/>
          <p:cNvSpPr txBox="1">
            <a:spLocks noChangeArrowheads="1"/>
          </p:cNvSpPr>
          <p:nvPr/>
        </p:nvSpPr>
        <p:spPr bwMode="auto">
          <a:xfrm>
            <a:off x="4960938" y="1208088"/>
            <a:ext cx="4183062" cy="1373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b="1">
                <a:ea typeface="黑体" pitchFamily="2" charset="-122"/>
              </a:rPr>
              <a:t>由多边形沿直线拉伸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b="1">
                <a:ea typeface="黑体" pitchFamily="2" charset="-122"/>
              </a:rPr>
              <a:t>而成。但拉伸过程中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b="1">
                <a:ea typeface="黑体" pitchFamily="2" charset="-122"/>
              </a:rPr>
              <a:t>多边形大小均匀变化。</a:t>
            </a:r>
          </a:p>
        </p:txBody>
      </p:sp>
      <p:sp>
        <p:nvSpPr>
          <p:cNvPr id="124950" name="Oval 22"/>
          <p:cNvSpPr>
            <a:spLocks noChangeArrowheads="1"/>
          </p:cNvSpPr>
          <p:nvPr/>
        </p:nvSpPr>
        <p:spPr bwMode="auto">
          <a:xfrm>
            <a:off x="5057775" y="711200"/>
            <a:ext cx="265113" cy="265113"/>
          </a:xfrm>
          <a:prstGeom prst="ellipse">
            <a:avLst/>
          </a:prstGeom>
          <a:gradFill rotWithShape="0">
            <a:gsLst>
              <a:gs pos="0">
                <a:srgbClr val="FF7C80"/>
              </a:gs>
              <a:gs pos="100000">
                <a:srgbClr val="060303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24951" name="Text Box 23"/>
          <p:cNvSpPr txBox="1">
            <a:spLocks noChangeArrowheads="1"/>
          </p:cNvSpPr>
          <p:nvPr/>
        </p:nvSpPr>
        <p:spPr bwMode="auto">
          <a:xfrm>
            <a:off x="6870700" y="3690938"/>
            <a:ext cx="42068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defRPr/>
            </a:pPr>
            <a:r>
              <a:rPr kumimoji="1" lang="en-US" altLang="zh-CN" sz="2800" b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</a:rPr>
              <a:t>L</a:t>
            </a:r>
          </a:p>
        </p:txBody>
      </p:sp>
      <p:sp>
        <p:nvSpPr>
          <p:cNvPr id="124952" name="Text Box 24"/>
          <p:cNvSpPr txBox="1">
            <a:spLocks noChangeArrowheads="1"/>
          </p:cNvSpPr>
          <p:nvPr/>
        </p:nvSpPr>
        <p:spPr bwMode="auto">
          <a:xfrm>
            <a:off x="6537325" y="4722813"/>
            <a:ext cx="522288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defRPr/>
            </a:pPr>
            <a:r>
              <a:rPr kumimoji="1" lang="en-US" altLang="zh-CN" sz="3200" b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</a:rPr>
              <a:t>m</a:t>
            </a:r>
          </a:p>
        </p:txBody>
      </p:sp>
      <p:sp>
        <p:nvSpPr>
          <p:cNvPr id="124953" name="Text Box 25" descr="绿色大理石"/>
          <p:cNvSpPr txBox="1">
            <a:spLocks noChangeArrowheads="1"/>
          </p:cNvSpPr>
          <p:nvPr/>
        </p:nvSpPr>
        <p:spPr bwMode="auto">
          <a:xfrm>
            <a:off x="5095875" y="2673350"/>
            <a:ext cx="3503613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b="1">
                <a:solidFill>
                  <a:srgbClr val="FF3300"/>
                </a:solidFill>
                <a:ea typeface="黑体" pitchFamily="2" charset="-122"/>
              </a:rPr>
              <a:t>线性变截面拉伸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249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" dur="500"/>
                                        <p:tgtEl>
                                          <p:spTgt spid="1249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249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1" dur="300" fill="hold"/>
                                        <p:tgtEl>
                                          <p:spTgt spid="12493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2" dur="300" fill="hold"/>
                                        <p:tgtEl>
                                          <p:spTgt spid="12493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7" dur="500"/>
                                        <p:tgtEl>
                                          <p:spTgt spid="1249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9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1" dur="500" fill="hold"/>
                                        <p:tgtEl>
                                          <p:spTgt spid="124938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24938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7" dur="500"/>
                                        <p:tgtEl>
                                          <p:spTgt spid="1249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9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1" dur="500" fill="hold"/>
                                        <p:tgtEl>
                                          <p:spTgt spid="12494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2494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7" dur="500"/>
                                        <p:tgtEl>
                                          <p:spTgt spid="1249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9" presetID="23" presetClass="entr" presetSubtype="27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1" dur="500" fill="hold"/>
                                        <p:tgtEl>
                                          <p:spTgt spid="12494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2" dur="500" fill="hold"/>
                                        <p:tgtEl>
                                          <p:spTgt spid="12494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1249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1" dur="500"/>
                                        <p:tgtEl>
                                          <p:spTgt spid="1249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6" dur="500" fill="hold"/>
                                        <p:tgtEl>
                                          <p:spTgt spid="1249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7" dur="500" fill="hold"/>
                                        <p:tgtEl>
                                          <p:spTgt spid="1249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2" dur="500"/>
                                        <p:tgtEl>
                                          <p:spTgt spid="1249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6" dur="500"/>
                                        <p:tgtEl>
                                          <p:spTgt spid="1249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1" dur="500"/>
                                        <p:tgtEl>
                                          <p:spTgt spid="1249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5" dur="500"/>
                                        <p:tgtEl>
                                          <p:spTgt spid="12495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49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93" dur="500"/>
                                        <p:tgtEl>
                                          <p:spTgt spid="1249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8" dur="500"/>
                                        <p:tgtEl>
                                          <p:spTgt spid="1249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75"/>
                                        <p:tgtEl>
                                          <p:spTgt spid="12494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 nodeType="afterGroup">
                            <p:stCondLst>
                              <p:cond delay="675"/>
                            </p:stCondLst>
                            <p:childTnLst>
                              <p:par>
                                <p:cTn id="10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7" dur="75"/>
                                        <p:tgtEl>
                                          <p:spTgt spid="124949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0" dur="75"/>
                                        <p:tgtEl>
                                          <p:spTgt spid="124949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49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5" dur="500" fill="hold"/>
                                        <p:tgtEl>
                                          <p:spTgt spid="1249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1249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4930" grpId="0" animBg="1"/>
      <p:bldP spid="124934" grpId="0"/>
      <p:bldP spid="124935" grpId="0" autoUpdateAnimBg="0"/>
      <p:bldP spid="124936" grpId="0" animBg="1"/>
      <p:bldP spid="124937" grpId="0"/>
      <p:bldP spid="124938" grpId="0" autoUpdateAnimBg="0"/>
      <p:bldP spid="124939" grpId="0" autoUpdateAnimBg="0"/>
      <p:bldP spid="124940" grpId="0" autoUpdateAnimBg="0"/>
      <p:bldP spid="124941" grpId="0" autoUpdateAnimBg="0"/>
      <p:bldP spid="124942" grpId="0" animBg="1"/>
      <p:bldP spid="124943" grpId="0" animBg="1"/>
      <p:bldP spid="124944" grpId="0" animBg="1"/>
      <p:bldP spid="124945" grpId="0" animBg="1"/>
      <p:bldP spid="124946" grpId="0" build="p" autoUpdateAnimBg="0" advAuto="0"/>
      <p:bldP spid="124947" grpId="0" animBg="1"/>
      <p:bldP spid="124948" grpId="0" animBg="1"/>
      <p:bldP spid="124949" grpId="0" build="allAtOnce" autoUpdateAnimBg="0"/>
      <p:bldP spid="124950" grpId="0" animBg="1"/>
      <p:bldP spid="124951" grpId="0" build="p" autoUpdateAnimBg="0" advAuto="0"/>
      <p:bldP spid="124952" grpId="0" build="p" autoUpdateAnimBg="0" advAuto="0"/>
      <p:bldP spid="12495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灯片编号占位符 7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2F20A6AC-EA45-47B3-9438-4D636814FEBE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9</a:t>
            </a:fld>
            <a:endParaRPr lang="en-US" altLang="zh-CN" sz="1400" smtClean="0">
              <a:solidFill>
                <a:schemeClr val="bg2"/>
              </a:solidFill>
            </a:endParaRPr>
          </a:p>
        </p:txBody>
      </p:sp>
      <p:grpSp>
        <p:nvGrpSpPr>
          <p:cNvPr id="127002" name="Group 26"/>
          <p:cNvGrpSpPr>
            <a:grpSpLocks/>
          </p:cNvGrpSpPr>
          <p:nvPr/>
        </p:nvGrpSpPr>
        <p:grpSpPr bwMode="auto">
          <a:xfrm>
            <a:off x="6596063" y="2693988"/>
            <a:ext cx="1584325" cy="2773362"/>
            <a:chOff x="4042" y="1584"/>
            <a:chExt cx="998" cy="1747"/>
          </a:xfrm>
        </p:grpSpPr>
        <p:sp>
          <p:nvSpPr>
            <p:cNvPr id="11353" name="Line 27"/>
            <p:cNvSpPr>
              <a:spLocks noChangeShapeType="1"/>
            </p:cNvSpPr>
            <p:nvPr/>
          </p:nvSpPr>
          <p:spPr bwMode="auto">
            <a:xfrm>
              <a:off x="4042" y="3071"/>
              <a:ext cx="0" cy="26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54" name="Line 28"/>
            <p:cNvSpPr>
              <a:spLocks noChangeShapeType="1"/>
            </p:cNvSpPr>
            <p:nvPr/>
          </p:nvSpPr>
          <p:spPr bwMode="auto">
            <a:xfrm>
              <a:off x="4800" y="1584"/>
              <a:ext cx="240" cy="0"/>
            </a:xfrm>
            <a:prstGeom prst="line">
              <a:avLst/>
            </a:prstGeom>
            <a:noFill/>
            <a:ln w="38100">
              <a:solidFill>
                <a:srgbClr val="FF00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27005" name="Text Box 29"/>
          <p:cNvSpPr txBox="1">
            <a:spLocks noChangeArrowheads="1"/>
          </p:cNvSpPr>
          <p:nvPr/>
        </p:nvSpPr>
        <p:spPr bwMode="auto">
          <a:xfrm>
            <a:off x="411163" y="1374775"/>
            <a:ext cx="4646612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底面</a:t>
            </a:r>
            <a:r>
              <a:rPr lang="en-US" altLang="zh-CN" sz="2400" b="1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ABC</a:t>
            </a:r>
            <a:r>
              <a:rPr lang="zh-CN" altLang="en-US" sz="2400" b="1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是水平面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侧棱面</a:t>
            </a:r>
            <a:r>
              <a:rPr lang="en-US" altLang="zh-CN" sz="2400" b="1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SAC</a:t>
            </a:r>
            <a:r>
              <a:rPr lang="zh-CN" altLang="en-US" sz="2400" b="1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为侧垂面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另两个侧棱面为一般位置平面。</a:t>
            </a:r>
          </a:p>
        </p:txBody>
      </p:sp>
      <p:sp>
        <p:nvSpPr>
          <p:cNvPr id="127006" name="Text Box 30"/>
          <p:cNvSpPr txBox="1">
            <a:spLocks noChangeArrowheads="1"/>
          </p:cNvSpPr>
          <p:nvPr/>
        </p:nvSpPr>
        <p:spPr bwMode="auto">
          <a:xfrm>
            <a:off x="8153400" y="4065588"/>
            <a:ext cx="606425" cy="3968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91240B29-F687-4F45-9708-019B960494DF}">
              <a14:hiddenLine xmlns:a14="http://schemas.microsoft.com/office/drawing/2010/main" w="38100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000" b="1"/>
              <a:t>(    )</a:t>
            </a:r>
          </a:p>
        </p:txBody>
      </p:sp>
      <p:sp>
        <p:nvSpPr>
          <p:cNvPr id="127007" name="Line 31"/>
          <p:cNvSpPr>
            <a:spLocks noChangeShapeType="1"/>
          </p:cNvSpPr>
          <p:nvPr/>
        </p:nvSpPr>
        <p:spPr bwMode="auto">
          <a:xfrm>
            <a:off x="6580188" y="2692400"/>
            <a:ext cx="1600200" cy="0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7008" name="Line 32"/>
          <p:cNvSpPr>
            <a:spLocks noChangeShapeType="1"/>
          </p:cNvSpPr>
          <p:nvPr/>
        </p:nvSpPr>
        <p:spPr bwMode="auto">
          <a:xfrm flipV="1">
            <a:off x="7799388" y="2463800"/>
            <a:ext cx="0" cy="2057400"/>
          </a:xfrm>
          <a:prstGeom prst="line">
            <a:avLst/>
          </a:prstGeom>
          <a:noFill/>
          <a:ln w="12700">
            <a:solidFill>
              <a:srgbClr val="CC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27009" name="Group 33"/>
          <p:cNvGrpSpPr>
            <a:grpSpLocks/>
          </p:cNvGrpSpPr>
          <p:nvPr/>
        </p:nvGrpSpPr>
        <p:grpSpPr bwMode="auto">
          <a:xfrm>
            <a:off x="6437313" y="2297113"/>
            <a:ext cx="454025" cy="533400"/>
            <a:chOff x="3952" y="1738"/>
            <a:chExt cx="286" cy="336"/>
          </a:xfrm>
        </p:grpSpPr>
        <p:sp>
          <p:nvSpPr>
            <p:cNvPr id="11351" name="Text Box 34"/>
            <p:cNvSpPr txBox="1">
              <a:spLocks noChangeArrowheads="1"/>
            </p:cNvSpPr>
            <p:nvPr/>
          </p:nvSpPr>
          <p:spPr bwMode="auto">
            <a:xfrm>
              <a:off x="3967" y="1738"/>
              <a:ext cx="27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 b="1"/>
                <a:t> </a:t>
              </a:r>
              <a:r>
                <a:rPr lang="en-US" altLang="zh-CN" sz="2400" b="1" i="1"/>
                <a:t>s</a:t>
              </a:r>
              <a:r>
                <a:rPr lang="en-US" altLang="zh-CN" sz="2400" b="1">
                  <a:sym typeface="Symbol" pitchFamily="18" charset="2"/>
                </a:rPr>
                <a:t></a:t>
              </a:r>
            </a:p>
          </p:txBody>
        </p:sp>
        <p:sp>
          <p:nvSpPr>
            <p:cNvPr id="11352" name="Text Box 35"/>
            <p:cNvSpPr txBox="1">
              <a:spLocks noChangeArrowheads="1"/>
            </p:cNvSpPr>
            <p:nvPr/>
          </p:nvSpPr>
          <p:spPr bwMode="auto">
            <a:xfrm>
              <a:off x="3952" y="1920"/>
              <a:ext cx="176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000" b="1">
                  <a:solidFill>
                    <a:srgbClr val="FF66FF"/>
                  </a:solidFill>
                  <a:sym typeface="Wingdings" pitchFamily="2" charset="2"/>
                </a:rPr>
                <a:t></a:t>
              </a:r>
              <a:endParaRPr lang="en-US" altLang="zh-CN" sz="1600" b="1"/>
            </a:p>
          </p:txBody>
        </p:sp>
      </p:grpSp>
      <p:grpSp>
        <p:nvGrpSpPr>
          <p:cNvPr id="127012" name="Group 36"/>
          <p:cNvGrpSpPr>
            <a:grpSpLocks/>
          </p:cNvGrpSpPr>
          <p:nvPr/>
        </p:nvGrpSpPr>
        <p:grpSpPr bwMode="auto">
          <a:xfrm>
            <a:off x="7977188" y="2282825"/>
            <a:ext cx="479425" cy="533400"/>
            <a:chOff x="4922" y="1738"/>
            <a:chExt cx="302" cy="336"/>
          </a:xfrm>
        </p:grpSpPr>
        <p:sp>
          <p:nvSpPr>
            <p:cNvPr id="11349" name="Text Box 37"/>
            <p:cNvSpPr txBox="1">
              <a:spLocks noChangeArrowheads="1"/>
            </p:cNvSpPr>
            <p:nvPr/>
          </p:nvSpPr>
          <p:spPr bwMode="auto">
            <a:xfrm>
              <a:off x="4922" y="1738"/>
              <a:ext cx="30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 b="1"/>
                <a:t> </a:t>
              </a:r>
              <a:r>
                <a:rPr lang="en-US" altLang="zh-CN" sz="2400" b="1" i="1"/>
                <a:t>s</a:t>
              </a:r>
              <a:r>
                <a:rPr lang="en-US" altLang="zh-CN" sz="2400" b="1">
                  <a:sym typeface="Symbol" pitchFamily="18" charset="2"/>
                </a:rPr>
                <a:t></a:t>
              </a:r>
            </a:p>
          </p:txBody>
        </p:sp>
        <p:sp>
          <p:nvSpPr>
            <p:cNvPr id="11350" name="Text Box 38"/>
            <p:cNvSpPr txBox="1">
              <a:spLocks noChangeArrowheads="1"/>
            </p:cNvSpPr>
            <p:nvPr/>
          </p:nvSpPr>
          <p:spPr bwMode="auto">
            <a:xfrm>
              <a:off x="4960" y="1920"/>
              <a:ext cx="176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000" b="1">
                  <a:solidFill>
                    <a:srgbClr val="FF66FF"/>
                  </a:solidFill>
                  <a:sym typeface="Wingdings" pitchFamily="2" charset="2"/>
                </a:rPr>
                <a:t></a:t>
              </a:r>
              <a:endParaRPr lang="en-US" altLang="zh-CN" sz="1600" b="1"/>
            </a:p>
          </p:txBody>
        </p:sp>
      </p:grpSp>
      <p:sp>
        <p:nvSpPr>
          <p:cNvPr id="127015" name="AutoShape 39"/>
          <p:cNvSpPr>
            <a:spLocks noChangeArrowheads="1"/>
          </p:cNvSpPr>
          <p:nvPr/>
        </p:nvSpPr>
        <p:spPr bwMode="auto">
          <a:xfrm>
            <a:off x="5894388" y="2692400"/>
            <a:ext cx="1371600" cy="1828800"/>
          </a:xfrm>
          <a:prstGeom prst="triangle">
            <a:avLst>
              <a:gd name="adj" fmla="val 50000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zh-CN" altLang="zh-CN" sz="1600" b="1"/>
          </a:p>
        </p:txBody>
      </p:sp>
      <p:sp>
        <p:nvSpPr>
          <p:cNvPr id="127016" name="Line 40"/>
          <p:cNvSpPr>
            <a:spLocks noChangeShapeType="1"/>
          </p:cNvSpPr>
          <p:nvPr/>
        </p:nvSpPr>
        <p:spPr bwMode="auto">
          <a:xfrm>
            <a:off x="6580188" y="2465388"/>
            <a:ext cx="0" cy="2057400"/>
          </a:xfrm>
          <a:prstGeom prst="line">
            <a:avLst/>
          </a:prstGeom>
          <a:noFill/>
          <a:ln w="9525">
            <a:solidFill>
              <a:srgbClr val="CC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7018" name="Text Box 42"/>
          <p:cNvSpPr txBox="1">
            <a:spLocks noChangeArrowheads="1"/>
          </p:cNvSpPr>
          <p:nvPr/>
        </p:nvSpPr>
        <p:spPr bwMode="auto">
          <a:xfrm>
            <a:off x="369888" y="458788"/>
            <a:ext cx="348297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3600" b="1">
                <a:latin typeface="黑体" pitchFamily="2" charset="-122"/>
                <a:ea typeface="黑体" pitchFamily="2" charset="-122"/>
                <a:sym typeface="Symbol" pitchFamily="18" charset="2"/>
              </a:rPr>
              <a:t>棱锥的三视图</a:t>
            </a:r>
            <a:endParaRPr lang="zh-CN" altLang="en-US" sz="3600" b="1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27019" name="Text Box 43"/>
          <p:cNvSpPr txBox="1">
            <a:spLocks noChangeArrowheads="1"/>
          </p:cNvSpPr>
          <p:nvPr/>
        </p:nvSpPr>
        <p:spPr bwMode="auto">
          <a:xfrm>
            <a:off x="358775" y="3430588"/>
            <a:ext cx="3725863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>
              <a:spcBef>
                <a:spcPct val="0"/>
              </a:spcBef>
              <a:buClrTx/>
              <a:buFontTx/>
              <a:buNone/>
            </a:pPr>
            <a:r>
              <a:rPr lang="zh-CN" altLang="en-US" sz="3600" b="1">
                <a:latin typeface="黑体" pitchFamily="2" charset="-122"/>
                <a:ea typeface="黑体" pitchFamily="2" charset="-122"/>
                <a:sym typeface="Symbol" pitchFamily="18" charset="2"/>
              </a:rPr>
              <a:t>棱锥面上取点</a:t>
            </a:r>
            <a:endParaRPr lang="zh-CN" altLang="en-US" sz="3600" b="1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27020" name="AutoShape 44"/>
          <p:cNvSpPr>
            <a:spLocks noChangeArrowheads="1"/>
          </p:cNvSpPr>
          <p:nvPr/>
        </p:nvSpPr>
        <p:spPr bwMode="auto">
          <a:xfrm rot="10800000">
            <a:off x="5894388" y="5054600"/>
            <a:ext cx="1371600" cy="990600"/>
          </a:xfrm>
          <a:prstGeom prst="triangle">
            <a:avLst>
              <a:gd name="adj" fmla="val 50000"/>
            </a:avLst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rot="10800000"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endParaRPr lang="zh-CN" altLang="zh-CN" sz="1600" b="1"/>
          </a:p>
        </p:txBody>
      </p:sp>
      <p:sp>
        <p:nvSpPr>
          <p:cNvPr id="127021" name="Line 45"/>
          <p:cNvSpPr>
            <a:spLocks noChangeShapeType="1"/>
          </p:cNvSpPr>
          <p:nvPr/>
        </p:nvSpPr>
        <p:spPr bwMode="auto">
          <a:xfrm flipV="1">
            <a:off x="6580188" y="5435600"/>
            <a:ext cx="0" cy="6096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27022" name="Group 46"/>
          <p:cNvGrpSpPr>
            <a:grpSpLocks/>
          </p:cNvGrpSpPr>
          <p:nvPr/>
        </p:nvGrpSpPr>
        <p:grpSpPr bwMode="auto">
          <a:xfrm>
            <a:off x="5894388" y="5054600"/>
            <a:ext cx="1371600" cy="381000"/>
            <a:chOff x="3600" y="3504"/>
            <a:chExt cx="864" cy="240"/>
          </a:xfrm>
        </p:grpSpPr>
        <p:sp>
          <p:nvSpPr>
            <p:cNvPr id="11347" name="Line 47"/>
            <p:cNvSpPr>
              <a:spLocks noChangeShapeType="1"/>
            </p:cNvSpPr>
            <p:nvPr/>
          </p:nvSpPr>
          <p:spPr bwMode="auto">
            <a:xfrm>
              <a:off x="3600" y="3504"/>
              <a:ext cx="432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48" name="Line 48"/>
            <p:cNvSpPr>
              <a:spLocks noChangeShapeType="1"/>
            </p:cNvSpPr>
            <p:nvPr/>
          </p:nvSpPr>
          <p:spPr bwMode="auto">
            <a:xfrm flipV="1">
              <a:off x="4032" y="3504"/>
              <a:ext cx="432" cy="24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27025" name="Freeform 49"/>
          <p:cNvSpPr>
            <a:spLocks/>
          </p:cNvSpPr>
          <p:nvPr/>
        </p:nvSpPr>
        <p:spPr bwMode="auto">
          <a:xfrm>
            <a:off x="7799388" y="2692400"/>
            <a:ext cx="990600" cy="1828800"/>
          </a:xfrm>
          <a:custGeom>
            <a:avLst/>
            <a:gdLst>
              <a:gd name="T0" fmla="*/ 2147483647 w 624"/>
              <a:gd name="T1" fmla="*/ 0 h 1152"/>
              <a:gd name="T2" fmla="*/ 0 w 624"/>
              <a:gd name="T3" fmla="*/ 2147483647 h 1152"/>
              <a:gd name="T4" fmla="*/ 2147483647 w 624"/>
              <a:gd name="T5" fmla="*/ 2147483647 h 1152"/>
              <a:gd name="T6" fmla="*/ 2147483647 w 624"/>
              <a:gd name="T7" fmla="*/ 0 h 115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624" h="1152">
                <a:moveTo>
                  <a:pt x="240" y="0"/>
                </a:moveTo>
                <a:lnTo>
                  <a:pt x="0" y="1152"/>
                </a:lnTo>
                <a:lnTo>
                  <a:pt x="624" y="1152"/>
                </a:lnTo>
                <a:lnTo>
                  <a:pt x="240" y="0"/>
                </a:lnTo>
                <a:close/>
              </a:path>
            </a:pathLst>
          </a:custGeom>
          <a:noFill/>
          <a:ln w="38100" cap="flat" cmpd="sng">
            <a:solidFill>
              <a:schemeClr val="tx1"/>
            </a:solidFill>
            <a:prstDash val="solid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CC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7026" name="Line 50"/>
          <p:cNvSpPr>
            <a:spLocks noChangeShapeType="1"/>
          </p:cNvSpPr>
          <p:nvPr/>
        </p:nvSpPr>
        <p:spPr bwMode="auto">
          <a:xfrm>
            <a:off x="6122988" y="3925888"/>
            <a:ext cx="2209800" cy="0"/>
          </a:xfrm>
          <a:prstGeom prst="line">
            <a:avLst/>
          </a:prstGeom>
          <a:noFill/>
          <a:ln w="1905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7027" name="Line 51"/>
          <p:cNvSpPr>
            <a:spLocks noChangeShapeType="1"/>
          </p:cNvSpPr>
          <p:nvPr/>
        </p:nvSpPr>
        <p:spPr bwMode="auto">
          <a:xfrm>
            <a:off x="6122988" y="3911600"/>
            <a:ext cx="0" cy="1295400"/>
          </a:xfrm>
          <a:prstGeom prst="line">
            <a:avLst/>
          </a:prstGeom>
          <a:noFill/>
          <a:ln w="1905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7028" name="Line 52"/>
          <p:cNvSpPr>
            <a:spLocks noChangeShapeType="1"/>
          </p:cNvSpPr>
          <p:nvPr/>
        </p:nvSpPr>
        <p:spPr bwMode="auto">
          <a:xfrm>
            <a:off x="6122988" y="5207000"/>
            <a:ext cx="457200" cy="685800"/>
          </a:xfrm>
          <a:prstGeom prst="line">
            <a:avLst/>
          </a:prstGeom>
          <a:noFill/>
          <a:ln w="19050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7029" name="Freeform 53"/>
          <p:cNvSpPr>
            <a:spLocks/>
          </p:cNvSpPr>
          <p:nvPr/>
        </p:nvSpPr>
        <p:spPr bwMode="auto">
          <a:xfrm>
            <a:off x="6351588" y="3911600"/>
            <a:ext cx="1587" cy="1693863"/>
          </a:xfrm>
          <a:custGeom>
            <a:avLst/>
            <a:gdLst>
              <a:gd name="T0" fmla="*/ 0 w 1"/>
              <a:gd name="T1" fmla="*/ 0 h 1067"/>
              <a:gd name="T2" fmla="*/ 0 w 1"/>
              <a:gd name="T3" fmla="*/ 2147483647 h 1067"/>
              <a:gd name="T4" fmla="*/ 0 60000 65536"/>
              <a:gd name="T5" fmla="*/ 0 60000 65536"/>
            </a:gdLst>
            <a:ahLst/>
            <a:cxnLst>
              <a:cxn ang="T4">
                <a:pos x="T0" y="T1"/>
              </a:cxn>
              <a:cxn ang="T5">
                <a:pos x="T2" y="T3"/>
              </a:cxn>
            </a:cxnLst>
            <a:rect l="0" t="0" r="r" b="b"/>
            <a:pathLst>
              <a:path w="1" h="1067">
                <a:moveTo>
                  <a:pt x="0" y="0"/>
                </a:moveTo>
                <a:lnTo>
                  <a:pt x="0" y="1067"/>
                </a:lnTo>
              </a:path>
            </a:pathLst>
          </a:custGeom>
          <a:noFill/>
          <a:ln w="19050" cmpd="sng">
            <a:solidFill>
              <a:srgbClr val="003399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27030" name="Group 54"/>
          <p:cNvGrpSpPr>
            <a:grpSpLocks/>
          </p:cNvGrpSpPr>
          <p:nvPr/>
        </p:nvGrpSpPr>
        <p:grpSpPr bwMode="auto">
          <a:xfrm>
            <a:off x="6145213" y="3530600"/>
            <a:ext cx="463550" cy="533400"/>
            <a:chOff x="3758" y="2544"/>
            <a:chExt cx="292" cy="336"/>
          </a:xfrm>
        </p:grpSpPr>
        <p:sp>
          <p:nvSpPr>
            <p:cNvPr id="11345" name="Text Box 55"/>
            <p:cNvSpPr txBox="1">
              <a:spLocks noChangeArrowheads="1"/>
            </p:cNvSpPr>
            <p:nvPr/>
          </p:nvSpPr>
          <p:spPr bwMode="auto">
            <a:xfrm>
              <a:off x="3802" y="2707"/>
              <a:ext cx="188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200" b="1">
                  <a:solidFill>
                    <a:srgbClr val="FF3300"/>
                  </a:solidFill>
                  <a:sym typeface="Wingdings" pitchFamily="2" charset="2"/>
                </a:rPr>
                <a:t></a:t>
              </a:r>
              <a:endParaRPr lang="en-US" altLang="zh-CN" sz="1600" b="1"/>
            </a:p>
          </p:txBody>
        </p:sp>
        <p:sp>
          <p:nvSpPr>
            <p:cNvPr id="11346" name="Text Box 56"/>
            <p:cNvSpPr txBox="1">
              <a:spLocks noChangeArrowheads="1"/>
            </p:cNvSpPr>
            <p:nvPr/>
          </p:nvSpPr>
          <p:spPr bwMode="auto">
            <a:xfrm>
              <a:off x="3758" y="2544"/>
              <a:ext cx="2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 b="1"/>
                <a:t> </a:t>
              </a:r>
              <a:r>
                <a:rPr lang="en-US" altLang="zh-CN" sz="2400" b="1" i="1"/>
                <a:t>k</a:t>
              </a:r>
              <a:r>
                <a:rPr lang="en-US" altLang="zh-CN" sz="2400" b="1">
                  <a:sym typeface="Symbol" pitchFamily="18" charset="2"/>
                </a:rPr>
                <a:t></a:t>
              </a:r>
            </a:p>
          </p:txBody>
        </p:sp>
      </p:grpSp>
      <p:grpSp>
        <p:nvGrpSpPr>
          <p:cNvPr id="127033" name="Group 57"/>
          <p:cNvGrpSpPr>
            <a:grpSpLocks/>
          </p:cNvGrpSpPr>
          <p:nvPr/>
        </p:nvGrpSpPr>
        <p:grpSpPr bwMode="auto">
          <a:xfrm>
            <a:off x="6199188" y="5332413"/>
            <a:ext cx="463550" cy="457200"/>
            <a:chOff x="3792" y="3659"/>
            <a:chExt cx="292" cy="288"/>
          </a:xfrm>
        </p:grpSpPr>
        <p:sp>
          <p:nvSpPr>
            <p:cNvPr id="11343" name="Text Box 58"/>
            <p:cNvSpPr txBox="1">
              <a:spLocks noChangeArrowheads="1"/>
            </p:cNvSpPr>
            <p:nvPr/>
          </p:nvSpPr>
          <p:spPr bwMode="auto">
            <a:xfrm>
              <a:off x="3792" y="3715"/>
              <a:ext cx="188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200" b="1">
                  <a:solidFill>
                    <a:srgbClr val="FF3300"/>
                  </a:solidFill>
                  <a:sym typeface="Wingdings" pitchFamily="2" charset="2"/>
                </a:rPr>
                <a:t></a:t>
              </a:r>
              <a:endParaRPr lang="en-US" altLang="zh-CN" sz="1600" b="1"/>
            </a:p>
          </p:txBody>
        </p:sp>
        <p:sp>
          <p:nvSpPr>
            <p:cNvPr id="11344" name="Text Box 59"/>
            <p:cNvSpPr txBox="1">
              <a:spLocks noChangeArrowheads="1"/>
            </p:cNvSpPr>
            <p:nvPr/>
          </p:nvSpPr>
          <p:spPr bwMode="auto">
            <a:xfrm>
              <a:off x="3872" y="3659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i="1"/>
                <a:t>k</a:t>
              </a:r>
              <a:endParaRPr lang="en-US" altLang="zh-CN" sz="1600" b="1"/>
            </a:p>
          </p:txBody>
        </p:sp>
      </p:grpSp>
      <p:grpSp>
        <p:nvGrpSpPr>
          <p:cNvPr id="127036" name="Group 60"/>
          <p:cNvGrpSpPr>
            <a:grpSpLocks/>
          </p:cNvGrpSpPr>
          <p:nvPr/>
        </p:nvGrpSpPr>
        <p:grpSpPr bwMode="auto">
          <a:xfrm>
            <a:off x="8091488" y="3546475"/>
            <a:ext cx="512762" cy="517525"/>
            <a:chOff x="4984" y="2554"/>
            <a:chExt cx="323" cy="326"/>
          </a:xfrm>
        </p:grpSpPr>
        <p:sp>
          <p:nvSpPr>
            <p:cNvPr id="11341" name="Text Box 61"/>
            <p:cNvSpPr txBox="1">
              <a:spLocks noChangeArrowheads="1"/>
            </p:cNvSpPr>
            <p:nvPr/>
          </p:nvSpPr>
          <p:spPr bwMode="auto">
            <a:xfrm>
              <a:off x="5044" y="2707"/>
              <a:ext cx="188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200" b="1">
                  <a:solidFill>
                    <a:srgbClr val="FF3300"/>
                  </a:solidFill>
                  <a:sym typeface="Wingdings" pitchFamily="2" charset="2"/>
                </a:rPr>
                <a:t></a:t>
              </a:r>
              <a:endParaRPr lang="en-US" altLang="zh-CN" sz="1600" b="1"/>
            </a:p>
          </p:txBody>
        </p:sp>
        <p:sp>
          <p:nvSpPr>
            <p:cNvPr id="11342" name="Text Box 62"/>
            <p:cNvSpPr txBox="1">
              <a:spLocks noChangeArrowheads="1"/>
            </p:cNvSpPr>
            <p:nvPr/>
          </p:nvSpPr>
          <p:spPr bwMode="auto">
            <a:xfrm>
              <a:off x="4984" y="2554"/>
              <a:ext cx="3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 b="1"/>
                <a:t> </a:t>
              </a:r>
              <a:r>
                <a:rPr lang="en-US" altLang="zh-CN" sz="2400" b="1" i="1"/>
                <a:t>k</a:t>
              </a:r>
              <a:r>
                <a:rPr lang="en-US" altLang="zh-CN" sz="2400" b="1">
                  <a:sym typeface="Symbol" pitchFamily="18" charset="2"/>
                </a:rPr>
                <a:t></a:t>
              </a:r>
            </a:p>
          </p:txBody>
        </p:sp>
      </p:grpSp>
      <p:sp>
        <p:nvSpPr>
          <p:cNvPr id="127039" name="Text Box 63"/>
          <p:cNvSpPr txBox="1">
            <a:spLocks noChangeArrowheads="1"/>
          </p:cNvSpPr>
          <p:nvPr/>
        </p:nvSpPr>
        <p:spPr bwMode="auto">
          <a:xfrm>
            <a:off x="6373813" y="4429125"/>
            <a:ext cx="4635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1600" b="1"/>
              <a:t> </a:t>
            </a:r>
            <a:r>
              <a:rPr lang="en-US" altLang="zh-CN" sz="2400" b="1" i="1"/>
              <a:t>b</a:t>
            </a:r>
            <a:r>
              <a:rPr lang="en-US" altLang="zh-CN" sz="2400" b="1">
                <a:sym typeface="Symbol" pitchFamily="18" charset="2"/>
              </a:rPr>
              <a:t></a:t>
            </a:r>
          </a:p>
        </p:txBody>
      </p:sp>
      <p:grpSp>
        <p:nvGrpSpPr>
          <p:cNvPr id="127040" name="Group 64"/>
          <p:cNvGrpSpPr>
            <a:grpSpLocks/>
          </p:cNvGrpSpPr>
          <p:nvPr/>
        </p:nvGrpSpPr>
        <p:grpSpPr bwMode="auto">
          <a:xfrm>
            <a:off x="5559425" y="4810125"/>
            <a:ext cx="1957388" cy="1600200"/>
            <a:chOff x="3389" y="3350"/>
            <a:chExt cx="1233" cy="1008"/>
          </a:xfrm>
        </p:grpSpPr>
        <p:sp>
          <p:nvSpPr>
            <p:cNvPr id="11338" name="Text Box 65"/>
            <p:cNvSpPr txBox="1">
              <a:spLocks noChangeArrowheads="1"/>
            </p:cNvSpPr>
            <p:nvPr/>
          </p:nvSpPr>
          <p:spPr bwMode="auto">
            <a:xfrm>
              <a:off x="3389" y="3350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i="1"/>
                <a:t>a</a:t>
              </a:r>
              <a:endParaRPr lang="en-US" altLang="zh-CN" sz="1600" b="1"/>
            </a:p>
          </p:txBody>
        </p:sp>
        <p:sp>
          <p:nvSpPr>
            <p:cNvPr id="11339" name="Text Box 66"/>
            <p:cNvSpPr txBox="1">
              <a:spLocks noChangeArrowheads="1"/>
            </p:cNvSpPr>
            <p:nvPr/>
          </p:nvSpPr>
          <p:spPr bwMode="auto">
            <a:xfrm>
              <a:off x="3932" y="4070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i="1"/>
                <a:t>b</a:t>
              </a:r>
              <a:endParaRPr lang="en-US" altLang="zh-CN" sz="1600" b="1"/>
            </a:p>
          </p:txBody>
        </p:sp>
        <p:sp>
          <p:nvSpPr>
            <p:cNvPr id="11340" name="Text Box 67"/>
            <p:cNvSpPr txBox="1">
              <a:spLocks noChangeArrowheads="1"/>
            </p:cNvSpPr>
            <p:nvPr/>
          </p:nvSpPr>
          <p:spPr bwMode="auto">
            <a:xfrm>
              <a:off x="4421" y="3370"/>
              <a:ext cx="20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i="1"/>
                <a:t>c</a:t>
              </a:r>
              <a:endParaRPr lang="en-US" altLang="zh-CN" sz="1600" b="1" i="1"/>
            </a:p>
          </p:txBody>
        </p:sp>
      </p:grpSp>
      <p:sp>
        <p:nvSpPr>
          <p:cNvPr id="127044" name="Text Box 68"/>
          <p:cNvSpPr txBox="1">
            <a:spLocks noChangeArrowheads="1"/>
          </p:cNvSpPr>
          <p:nvPr/>
        </p:nvSpPr>
        <p:spPr bwMode="auto">
          <a:xfrm>
            <a:off x="7437438" y="4429125"/>
            <a:ext cx="9096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1600" b="1"/>
              <a:t> </a:t>
            </a:r>
            <a:r>
              <a:rPr lang="en-US" altLang="zh-CN" sz="2400" b="1" i="1"/>
              <a:t>a</a:t>
            </a:r>
            <a:r>
              <a:rPr lang="en-US" altLang="zh-CN" sz="2400" b="1">
                <a:sym typeface="Symbol" pitchFamily="18" charset="2"/>
              </a:rPr>
              <a:t></a:t>
            </a:r>
            <a:r>
              <a:rPr lang="en-US" altLang="zh-CN" sz="1600" b="1"/>
              <a:t>(</a:t>
            </a:r>
            <a:r>
              <a:rPr lang="en-US" altLang="zh-CN" sz="2400" b="1" i="1"/>
              <a:t>c</a:t>
            </a:r>
            <a:r>
              <a:rPr lang="en-US" altLang="zh-CN" sz="2400" b="1">
                <a:sym typeface="Symbol" pitchFamily="18" charset="2"/>
              </a:rPr>
              <a:t></a:t>
            </a:r>
            <a:r>
              <a:rPr lang="en-US" altLang="zh-CN" sz="1600" b="1"/>
              <a:t>)</a:t>
            </a:r>
          </a:p>
        </p:txBody>
      </p:sp>
      <p:sp>
        <p:nvSpPr>
          <p:cNvPr id="127045" name="Text Box 69"/>
          <p:cNvSpPr txBox="1">
            <a:spLocks noChangeArrowheads="1"/>
          </p:cNvSpPr>
          <p:nvPr/>
        </p:nvSpPr>
        <p:spPr bwMode="auto">
          <a:xfrm>
            <a:off x="8721725" y="4429125"/>
            <a:ext cx="46196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>
              <a:spcBef>
                <a:spcPct val="0"/>
              </a:spcBef>
              <a:buClrTx/>
              <a:buFontTx/>
              <a:buNone/>
            </a:pPr>
            <a:r>
              <a:rPr lang="en-US" altLang="zh-CN" sz="2400" b="1" i="1"/>
              <a:t>b</a:t>
            </a:r>
            <a:r>
              <a:rPr lang="en-US" altLang="zh-CN" sz="2400" b="1">
                <a:sym typeface="Symbol" pitchFamily="18" charset="2"/>
              </a:rPr>
              <a:t></a:t>
            </a:r>
          </a:p>
        </p:txBody>
      </p:sp>
      <p:sp>
        <p:nvSpPr>
          <p:cNvPr id="127046" name="Line 70"/>
          <p:cNvSpPr>
            <a:spLocks noChangeShapeType="1"/>
          </p:cNvSpPr>
          <p:nvPr/>
        </p:nvSpPr>
        <p:spPr bwMode="auto">
          <a:xfrm>
            <a:off x="5665788" y="4521200"/>
            <a:ext cx="1752600" cy="0"/>
          </a:xfrm>
          <a:prstGeom prst="line">
            <a:avLst/>
          </a:prstGeom>
          <a:noFill/>
          <a:ln w="9525">
            <a:solidFill>
              <a:srgbClr val="CC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7047" name="Line 71"/>
          <p:cNvSpPr>
            <a:spLocks noChangeShapeType="1"/>
          </p:cNvSpPr>
          <p:nvPr/>
        </p:nvSpPr>
        <p:spPr bwMode="auto">
          <a:xfrm>
            <a:off x="7646988" y="4521200"/>
            <a:ext cx="1371600" cy="0"/>
          </a:xfrm>
          <a:prstGeom prst="line">
            <a:avLst/>
          </a:prstGeom>
          <a:noFill/>
          <a:ln w="9525">
            <a:solidFill>
              <a:srgbClr val="CC00FF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27048" name="Group 72"/>
          <p:cNvGrpSpPr>
            <a:grpSpLocks/>
          </p:cNvGrpSpPr>
          <p:nvPr/>
        </p:nvGrpSpPr>
        <p:grpSpPr bwMode="auto">
          <a:xfrm>
            <a:off x="5894388" y="4522788"/>
            <a:ext cx="1371600" cy="533400"/>
            <a:chOff x="3600" y="3168"/>
            <a:chExt cx="864" cy="336"/>
          </a:xfrm>
        </p:grpSpPr>
        <p:sp>
          <p:nvSpPr>
            <p:cNvPr id="11336" name="Line 73"/>
            <p:cNvSpPr>
              <a:spLocks noChangeShapeType="1"/>
            </p:cNvSpPr>
            <p:nvPr/>
          </p:nvSpPr>
          <p:spPr bwMode="auto">
            <a:xfrm>
              <a:off x="3600" y="3168"/>
              <a:ext cx="0" cy="336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37" name="Line 74"/>
            <p:cNvSpPr>
              <a:spLocks noChangeShapeType="1"/>
            </p:cNvSpPr>
            <p:nvPr/>
          </p:nvSpPr>
          <p:spPr bwMode="auto">
            <a:xfrm>
              <a:off x="4464" y="3168"/>
              <a:ext cx="0" cy="336"/>
            </a:xfrm>
            <a:prstGeom prst="line">
              <a:avLst/>
            </a:prstGeom>
            <a:noFill/>
            <a:ln w="1905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27051" name="Line 75"/>
          <p:cNvSpPr>
            <a:spLocks noChangeShapeType="1"/>
          </p:cNvSpPr>
          <p:nvPr/>
        </p:nvSpPr>
        <p:spPr bwMode="auto">
          <a:xfrm>
            <a:off x="5894388" y="4521200"/>
            <a:ext cx="1371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7052" name="Line 76"/>
          <p:cNvSpPr>
            <a:spLocks noChangeShapeType="1"/>
          </p:cNvSpPr>
          <p:nvPr/>
        </p:nvSpPr>
        <p:spPr bwMode="auto">
          <a:xfrm>
            <a:off x="7799388" y="4519613"/>
            <a:ext cx="9906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27053" name="Group 77"/>
          <p:cNvGrpSpPr>
            <a:grpSpLocks/>
          </p:cNvGrpSpPr>
          <p:nvPr/>
        </p:nvGrpSpPr>
        <p:grpSpPr bwMode="auto">
          <a:xfrm>
            <a:off x="6448425" y="4984750"/>
            <a:ext cx="303213" cy="588963"/>
            <a:chOff x="3949" y="3036"/>
            <a:chExt cx="191" cy="371"/>
          </a:xfrm>
        </p:grpSpPr>
        <p:sp>
          <p:nvSpPr>
            <p:cNvPr id="11334" name="Text Box 78"/>
            <p:cNvSpPr txBox="1">
              <a:spLocks noChangeArrowheads="1"/>
            </p:cNvSpPr>
            <p:nvPr/>
          </p:nvSpPr>
          <p:spPr bwMode="auto">
            <a:xfrm>
              <a:off x="3949" y="3036"/>
              <a:ext cx="19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i="1"/>
                <a:t>s</a:t>
              </a:r>
              <a:endParaRPr lang="en-US" altLang="zh-CN" sz="1600" b="1"/>
            </a:p>
          </p:txBody>
        </p:sp>
        <p:sp>
          <p:nvSpPr>
            <p:cNvPr id="11335" name="Text Box 79"/>
            <p:cNvSpPr txBox="1">
              <a:spLocks noChangeArrowheads="1"/>
            </p:cNvSpPr>
            <p:nvPr/>
          </p:nvSpPr>
          <p:spPr bwMode="auto">
            <a:xfrm>
              <a:off x="3952" y="3253"/>
              <a:ext cx="176" cy="154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000" b="1">
                  <a:solidFill>
                    <a:srgbClr val="FF66FF"/>
                  </a:solidFill>
                  <a:sym typeface="Wingdings" pitchFamily="2" charset="2"/>
                </a:rPr>
                <a:t></a:t>
              </a:r>
              <a:endParaRPr lang="en-US" altLang="zh-CN" sz="1600" b="1"/>
            </a:p>
          </p:txBody>
        </p:sp>
      </p:grpSp>
      <p:grpSp>
        <p:nvGrpSpPr>
          <p:cNvPr id="127056" name="Group 80"/>
          <p:cNvGrpSpPr>
            <a:grpSpLocks/>
          </p:cNvGrpSpPr>
          <p:nvPr/>
        </p:nvGrpSpPr>
        <p:grpSpPr bwMode="auto">
          <a:xfrm>
            <a:off x="6351588" y="3911600"/>
            <a:ext cx="1981200" cy="1600200"/>
            <a:chOff x="3888" y="2351"/>
            <a:chExt cx="1248" cy="1008"/>
          </a:xfrm>
        </p:grpSpPr>
        <p:sp>
          <p:nvSpPr>
            <p:cNvPr id="11332" name="Line 81"/>
            <p:cNvSpPr>
              <a:spLocks noChangeShapeType="1"/>
            </p:cNvSpPr>
            <p:nvPr/>
          </p:nvSpPr>
          <p:spPr bwMode="auto">
            <a:xfrm>
              <a:off x="3888" y="3071"/>
              <a:ext cx="0" cy="288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33" name="Line 82"/>
            <p:cNvSpPr>
              <a:spLocks noChangeShapeType="1"/>
            </p:cNvSpPr>
            <p:nvPr/>
          </p:nvSpPr>
          <p:spPr bwMode="auto">
            <a:xfrm>
              <a:off x="4800" y="2351"/>
              <a:ext cx="336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27059" name="Line 83"/>
          <p:cNvSpPr>
            <a:spLocks noChangeShapeType="1"/>
          </p:cNvSpPr>
          <p:nvPr/>
        </p:nvSpPr>
        <p:spPr bwMode="auto">
          <a:xfrm>
            <a:off x="6580188" y="2693988"/>
            <a:ext cx="381000" cy="1828800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7060" name="Line 84"/>
          <p:cNvSpPr>
            <a:spLocks noChangeShapeType="1"/>
          </p:cNvSpPr>
          <p:nvPr/>
        </p:nvSpPr>
        <p:spPr bwMode="auto">
          <a:xfrm>
            <a:off x="6961188" y="4522788"/>
            <a:ext cx="0" cy="990600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7061" name="Line 85"/>
          <p:cNvSpPr>
            <a:spLocks noChangeShapeType="1"/>
          </p:cNvSpPr>
          <p:nvPr/>
        </p:nvSpPr>
        <p:spPr bwMode="auto">
          <a:xfrm>
            <a:off x="6580188" y="5437188"/>
            <a:ext cx="381000" cy="76200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7062" name="Line 86"/>
          <p:cNvSpPr>
            <a:spLocks noChangeShapeType="1"/>
          </p:cNvSpPr>
          <p:nvPr/>
        </p:nvSpPr>
        <p:spPr bwMode="auto">
          <a:xfrm>
            <a:off x="6884988" y="4141788"/>
            <a:ext cx="0" cy="1371600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7063" name="Line 87"/>
          <p:cNvSpPr>
            <a:spLocks noChangeShapeType="1"/>
          </p:cNvSpPr>
          <p:nvPr/>
        </p:nvSpPr>
        <p:spPr bwMode="auto">
          <a:xfrm>
            <a:off x="6884988" y="4141788"/>
            <a:ext cx="1371600" cy="0"/>
          </a:xfrm>
          <a:prstGeom prst="line">
            <a:avLst/>
          </a:prstGeom>
          <a:noFill/>
          <a:ln w="19050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27064" name="Group 88"/>
          <p:cNvGrpSpPr>
            <a:grpSpLocks/>
          </p:cNvGrpSpPr>
          <p:nvPr/>
        </p:nvGrpSpPr>
        <p:grpSpPr bwMode="auto">
          <a:xfrm>
            <a:off x="8080375" y="4000500"/>
            <a:ext cx="611188" cy="457200"/>
            <a:chOff x="2817" y="2794"/>
            <a:chExt cx="385" cy="288"/>
          </a:xfrm>
        </p:grpSpPr>
        <p:sp>
          <p:nvSpPr>
            <p:cNvPr id="11330" name="Text Box 89"/>
            <p:cNvSpPr txBox="1">
              <a:spLocks noChangeArrowheads="1"/>
            </p:cNvSpPr>
            <p:nvPr/>
          </p:nvSpPr>
          <p:spPr bwMode="auto">
            <a:xfrm>
              <a:off x="2817" y="2802"/>
              <a:ext cx="188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200" b="1">
                  <a:solidFill>
                    <a:srgbClr val="FF3300"/>
                  </a:solidFill>
                  <a:sym typeface="Wingdings" pitchFamily="2" charset="2"/>
                </a:rPr>
                <a:t></a:t>
              </a:r>
              <a:endParaRPr lang="en-US" altLang="zh-CN" sz="1600" b="1"/>
            </a:p>
          </p:txBody>
        </p:sp>
        <p:sp>
          <p:nvSpPr>
            <p:cNvPr id="11331" name="Text Box 90"/>
            <p:cNvSpPr txBox="1">
              <a:spLocks noChangeArrowheads="1"/>
            </p:cNvSpPr>
            <p:nvPr/>
          </p:nvSpPr>
          <p:spPr bwMode="auto">
            <a:xfrm>
              <a:off x="2868" y="2794"/>
              <a:ext cx="334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 b="1"/>
                <a:t> </a:t>
              </a:r>
              <a:r>
                <a:rPr lang="en-US" altLang="zh-CN" sz="2400" b="1" i="1"/>
                <a:t>n</a:t>
              </a:r>
              <a:r>
                <a:rPr lang="en-US" altLang="zh-CN" sz="2400" b="1">
                  <a:sym typeface="Symbol" pitchFamily="18" charset="2"/>
                </a:rPr>
                <a:t></a:t>
              </a:r>
            </a:p>
          </p:txBody>
        </p:sp>
      </p:grpSp>
      <p:grpSp>
        <p:nvGrpSpPr>
          <p:cNvPr id="127067" name="Group 91"/>
          <p:cNvGrpSpPr>
            <a:grpSpLocks/>
          </p:cNvGrpSpPr>
          <p:nvPr/>
        </p:nvGrpSpPr>
        <p:grpSpPr bwMode="auto">
          <a:xfrm>
            <a:off x="6884988" y="4141788"/>
            <a:ext cx="1371600" cy="1371600"/>
            <a:chOff x="4224" y="2496"/>
            <a:chExt cx="864" cy="864"/>
          </a:xfrm>
        </p:grpSpPr>
        <p:sp>
          <p:nvSpPr>
            <p:cNvPr id="11328" name="Line 92"/>
            <p:cNvSpPr>
              <a:spLocks noChangeShapeType="1"/>
            </p:cNvSpPr>
            <p:nvPr/>
          </p:nvSpPr>
          <p:spPr bwMode="auto">
            <a:xfrm>
              <a:off x="4224" y="3072"/>
              <a:ext cx="0" cy="288"/>
            </a:xfrm>
            <a:prstGeom prst="line">
              <a:avLst/>
            </a:prstGeom>
            <a:noFill/>
            <a:ln w="38100">
              <a:solidFill>
                <a:srgbClr val="9933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29" name="Line 93"/>
            <p:cNvSpPr>
              <a:spLocks noChangeShapeType="1"/>
            </p:cNvSpPr>
            <p:nvPr/>
          </p:nvSpPr>
          <p:spPr bwMode="auto">
            <a:xfrm>
              <a:off x="4800" y="2496"/>
              <a:ext cx="288" cy="0"/>
            </a:xfrm>
            <a:prstGeom prst="line">
              <a:avLst/>
            </a:prstGeom>
            <a:noFill/>
            <a:ln w="38100">
              <a:solidFill>
                <a:srgbClr val="993366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27071" name="Group 95"/>
          <p:cNvGrpSpPr>
            <a:grpSpLocks/>
          </p:cNvGrpSpPr>
          <p:nvPr/>
        </p:nvGrpSpPr>
        <p:grpSpPr bwMode="auto">
          <a:xfrm>
            <a:off x="6580188" y="4521200"/>
            <a:ext cx="2209800" cy="1524000"/>
            <a:chOff x="4032" y="2736"/>
            <a:chExt cx="1392" cy="960"/>
          </a:xfrm>
        </p:grpSpPr>
        <p:sp>
          <p:nvSpPr>
            <p:cNvPr id="11326" name="Line 96"/>
            <p:cNvSpPr>
              <a:spLocks noChangeShapeType="1"/>
            </p:cNvSpPr>
            <p:nvPr/>
          </p:nvSpPr>
          <p:spPr bwMode="auto">
            <a:xfrm>
              <a:off x="4032" y="3072"/>
              <a:ext cx="0" cy="624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1327" name="Line 97"/>
            <p:cNvSpPr>
              <a:spLocks noChangeShapeType="1"/>
            </p:cNvSpPr>
            <p:nvPr/>
          </p:nvSpPr>
          <p:spPr bwMode="auto">
            <a:xfrm>
              <a:off x="4800" y="2736"/>
              <a:ext cx="624" cy="0"/>
            </a:xfrm>
            <a:prstGeom prst="line">
              <a:avLst/>
            </a:prstGeom>
            <a:noFill/>
            <a:ln w="38100">
              <a:solidFill>
                <a:srgbClr val="FF33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27074" name="Line 98"/>
          <p:cNvSpPr>
            <a:spLocks noChangeShapeType="1"/>
          </p:cNvSpPr>
          <p:nvPr/>
        </p:nvSpPr>
        <p:spPr bwMode="auto">
          <a:xfrm flipV="1">
            <a:off x="6580188" y="4446588"/>
            <a:ext cx="0" cy="1598612"/>
          </a:xfrm>
          <a:prstGeom prst="line">
            <a:avLst/>
          </a:prstGeom>
          <a:noFill/>
          <a:ln w="9525">
            <a:solidFill>
              <a:srgbClr val="FF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27075" name="Line 99"/>
          <p:cNvSpPr>
            <a:spLocks noChangeShapeType="1"/>
          </p:cNvSpPr>
          <p:nvPr/>
        </p:nvSpPr>
        <p:spPr bwMode="auto">
          <a:xfrm flipV="1">
            <a:off x="6580188" y="2693988"/>
            <a:ext cx="0" cy="182880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27076" name="Group 100"/>
          <p:cNvGrpSpPr>
            <a:grpSpLocks/>
          </p:cNvGrpSpPr>
          <p:nvPr/>
        </p:nvGrpSpPr>
        <p:grpSpPr bwMode="auto">
          <a:xfrm>
            <a:off x="6656388" y="3760788"/>
            <a:ext cx="481012" cy="533400"/>
            <a:chOff x="3754" y="2544"/>
            <a:chExt cx="303" cy="336"/>
          </a:xfrm>
        </p:grpSpPr>
        <p:sp>
          <p:nvSpPr>
            <p:cNvPr id="11324" name="Text Box 101"/>
            <p:cNvSpPr txBox="1">
              <a:spLocks noChangeArrowheads="1"/>
            </p:cNvSpPr>
            <p:nvPr/>
          </p:nvSpPr>
          <p:spPr bwMode="auto">
            <a:xfrm>
              <a:off x="3802" y="2707"/>
              <a:ext cx="188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200" b="1">
                  <a:solidFill>
                    <a:srgbClr val="FF3300"/>
                  </a:solidFill>
                  <a:sym typeface="Wingdings" pitchFamily="2" charset="2"/>
                </a:rPr>
                <a:t></a:t>
              </a:r>
              <a:endParaRPr lang="en-US" altLang="zh-CN" sz="1600" b="1"/>
            </a:p>
          </p:txBody>
        </p:sp>
        <p:sp>
          <p:nvSpPr>
            <p:cNvPr id="11325" name="Text Box 102"/>
            <p:cNvSpPr txBox="1">
              <a:spLocks noChangeArrowheads="1"/>
            </p:cNvSpPr>
            <p:nvPr/>
          </p:nvSpPr>
          <p:spPr bwMode="auto">
            <a:xfrm>
              <a:off x="3754" y="2544"/>
              <a:ext cx="30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 b="1"/>
                <a:t> </a:t>
              </a:r>
              <a:r>
                <a:rPr lang="en-US" altLang="zh-CN" sz="2400" b="1" i="1"/>
                <a:t>n</a:t>
              </a:r>
              <a:r>
                <a:rPr lang="en-US" altLang="zh-CN" sz="2400" b="1">
                  <a:sym typeface="Symbol" pitchFamily="18" charset="2"/>
                </a:rPr>
                <a:t></a:t>
              </a:r>
            </a:p>
          </p:txBody>
        </p:sp>
      </p:grpSp>
      <p:sp>
        <p:nvSpPr>
          <p:cNvPr id="127080" name="Text Box 104"/>
          <p:cNvSpPr txBox="1">
            <a:spLocks noChangeArrowheads="1"/>
          </p:cNvSpPr>
          <p:nvPr/>
        </p:nvSpPr>
        <p:spPr bwMode="auto">
          <a:xfrm>
            <a:off x="468313" y="4219575"/>
            <a:ext cx="384016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38100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>
                <a:solidFill>
                  <a:srgbClr val="000099"/>
                </a:solidFill>
                <a:latin typeface="黑体" pitchFamily="2" charset="-122"/>
                <a:ea typeface="黑体" pitchFamily="2" charset="-122"/>
              </a:rPr>
              <a:t>与平面上取点方法相同。</a:t>
            </a:r>
          </a:p>
        </p:txBody>
      </p:sp>
      <p:grpSp>
        <p:nvGrpSpPr>
          <p:cNvPr id="127081" name="Group 105"/>
          <p:cNvGrpSpPr>
            <a:grpSpLocks/>
          </p:cNvGrpSpPr>
          <p:nvPr/>
        </p:nvGrpSpPr>
        <p:grpSpPr bwMode="auto">
          <a:xfrm>
            <a:off x="6548438" y="5268913"/>
            <a:ext cx="482600" cy="457200"/>
            <a:chOff x="3148" y="3754"/>
            <a:chExt cx="304" cy="288"/>
          </a:xfrm>
        </p:grpSpPr>
        <p:sp>
          <p:nvSpPr>
            <p:cNvPr id="11322" name="Text Box 106"/>
            <p:cNvSpPr txBox="1">
              <a:spLocks noChangeArrowheads="1"/>
            </p:cNvSpPr>
            <p:nvPr/>
          </p:nvSpPr>
          <p:spPr bwMode="auto">
            <a:xfrm>
              <a:off x="3264" y="3811"/>
              <a:ext cx="188" cy="17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200" b="1">
                  <a:solidFill>
                    <a:srgbClr val="FF3300"/>
                  </a:solidFill>
                  <a:sym typeface="Wingdings" pitchFamily="2" charset="2"/>
                </a:rPr>
                <a:t></a:t>
              </a:r>
              <a:endParaRPr lang="en-US" altLang="zh-CN" sz="1600" b="1"/>
            </a:p>
          </p:txBody>
        </p:sp>
        <p:sp>
          <p:nvSpPr>
            <p:cNvPr id="11323" name="Text Box 107"/>
            <p:cNvSpPr txBox="1">
              <a:spLocks noChangeArrowheads="1"/>
            </p:cNvSpPr>
            <p:nvPr/>
          </p:nvSpPr>
          <p:spPr bwMode="auto">
            <a:xfrm>
              <a:off x="3148" y="3754"/>
              <a:ext cx="223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i="1"/>
                <a:t>n</a:t>
              </a:r>
              <a:endParaRPr lang="en-US" altLang="zh-CN" sz="1600" b="1"/>
            </a:p>
          </p:txBody>
        </p:sp>
      </p:grpSp>
      <p:grpSp>
        <p:nvGrpSpPr>
          <p:cNvPr id="127084" name="Group 108"/>
          <p:cNvGrpSpPr>
            <a:grpSpLocks/>
          </p:cNvGrpSpPr>
          <p:nvPr/>
        </p:nvGrpSpPr>
        <p:grpSpPr bwMode="auto">
          <a:xfrm>
            <a:off x="4568825" y="496888"/>
            <a:ext cx="2139950" cy="2819400"/>
            <a:chOff x="2805" y="144"/>
            <a:chExt cx="1348" cy="1776"/>
          </a:xfrm>
        </p:grpSpPr>
        <p:sp>
          <p:nvSpPr>
            <p:cNvPr id="11318" name="Text Box 109"/>
            <p:cNvSpPr txBox="1">
              <a:spLocks noChangeArrowheads="1"/>
            </p:cNvSpPr>
            <p:nvPr/>
          </p:nvSpPr>
          <p:spPr bwMode="auto">
            <a:xfrm>
              <a:off x="2805" y="119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i="1">
                  <a:latin typeface="宋体" pitchFamily="2" charset="-122"/>
                </a:rPr>
                <a:t>A</a:t>
              </a:r>
              <a:endParaRPr lang="en-US" altLang="zh-CN" sz="2400" b="1"/>
            </a:p>
          </p:txBody>
        </p:sp>
        <p:sp>
          <p:nvSpPr>
            <p:cNvPr id="11319" name="Text Box 110"/>
            <p:cNvSpPr txBox="1">
              <a:spLocks noChangeArrowheads="1"/>
            </p:cNvSpPr>
            <p:nvPr/>
          </p:nvSpPr>
          <p:spPr bwMode="auto">
            <a:xfrm>
              <a:off x="3477" y="1632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i="1">
                  <a:latin typeface="宋体" pitchFamily="2" charset="-122"/>
                </a:rPr>
                <a:t>B</a:t>
              </a:r>
              <a:endParaRPr lang="en-US" altLang="zh-CN" sz="2400" b="1"/>
            </a:p>
          </p:txBody>
        </p:sp>
        <p:sp>
          <p:nvSpPr>
            <p:cNvPr id="11320" name="Text Box 111"/>
            <p:cNvSpPr txBox="1">
              <a:spLocks noChangeArrowheads="1"/>
            </p:cNvSpPr>
            <p:nvPr/>
          </p:nvSpPr>
          <p:spPr bwMode="auto">
            <a:xfrm>
              <a:off x="3941" y="98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i="1">
                  <a:latin typeface="宋体" pitchFamily="2" charset="-122"/>
                </a:rPr>
                <a:t>C</a:t>
              </a:r>
              <a:endParaRPr lang="en-US" altLang="zh-CN" sz="2400" b="1"/>
            </a:p>
          </p:txBody>
        </p:sp>
        <p:sp>
          <p:nvSpPr>
            <p:cNvPr id="11321" name="Text Box 112"/>
            <p:cNvSpPr txBox="1">
              <a:spLocks noChangeArrowheads="1"/>
            </p:cNvSpPr>
            <p:nvPr/>
          </p:nvSpPr>
          <p:spPr bwMode="auto">
            <a:xfrm>
              <a:off x="3397" y="144"/>
              <a:ext cx="21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400" b="1" i="1">
                  <a:latin typeface="宋体" pitchFamily="2" charset="-122"/>
                </a:rPr>
                <a:t>S</a:t>
              </a:r>
              <a:endParaRPr lang="en-US" altLang="zh-CN" sz="2400" b="1"/>
            </a:p>
          </p:txBody>
        </p:sp>
      </p:grpSp>
      <p:grpSp>
        <p:nvGrpSpPr>
          <p:cNvPr id="127089" name="Group 113"/>
          <p:cNvGrpSpPr>
            <a:grpSpLocks/>
          </p:cNvGrpSpPr>
          <p:nvPr/>
        </p:nvGrpSpPr>
        <p:grpSpPr bwMode="auto">
          <a:xfrm>
            <a:off x="5478463" y="4384675"/>
            <a:ext cx="2119312" cy="501650"/>
            <a:chOff x="3338" y="3081"/>
            <a:chExt cx="1335" cy="316"/>
          </a:xfrm>
        </p:grpSpPr>
        <p:sp>
          <p:nvSpPr>
            <p:cNvPr id="11316" name="Text Box 114"/>
            <p:cNvSpPr txBox="1">
              <a:spLocks noChangeArrowheads="1"/>
            </p:cNvSpPr>
            <p:nvPr/>
          </p:nvSpPr>
          <p:spPr bwMode="auto">
            <a:xfrm>
              <a:off x="3338" y="3081"/>
              <a:ext cx="292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 b="1"/>
                <a:t> </a:t>
              </a:r>
              <a:r>
                <a:rPr lang="en-US" altLang="zh-CN" sz="2400" b="1" i="1"/>
                <a:t>a</a:t>
              </a:r>
              <a:r>
                <a:rPr lang="en-US" altLang="zh-CN" sz="2400" b="1">
                  <a:sym typeface="Symbol" pitchFamily="18" charset="2"/>
                </a:rPr>
                <a:t></a:t>
              </a:r>
            </a:p>
          </p:txBody>
        </p:sp>
        <p:sp>
          <p:nvSpPr>
            <p:cNvPr id="11317" name="Text Box 115"/>
            <p:cNvSpPr txBox="1">
              <a:spLocks noChangeArrowheads="1"/>
            </p:cNvSpPr>
            <p:nvPr/>
          </p:nvSpPr>
          <p:spPr bwMode="auto">
            <a:xfrm>
              <a:off x="4392" y="3109"/>
              <a:ext cx="281" cy="288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1600" b="1"/>
                <a:t> </a:t>
              </a:r>
              <a:r>
                <a:rPr lang="en-US" altLang="zh-CN" sz="2400" b="1" i="1"/>
                <a:t>c</a:t>
              </a:r>
              <a:r>
                <a:rPr lang="en-US" altLang="zh-CN" sz="2400" b="1">
                  <a:sym typeface="Symbol" pitchFamily="18" charset="2"/>
                </a:rPr>
                <a:t></a:t>
              </a:r>
            </a:p>
          </p:txBody>
        </p:sp>
      </p:grpSp>
      <p:pic>
        <p:nvPicPr>
          <p:cNvPr id="127092" name="Picture 116" descr="书3-6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8636" t="19975" r="38377" b="7040"/>
          <a:stretch>
            <a:fillRect/>
          </a:stretch>
        </p:blipFill>
        <p:spPr bwMode="auto">
          <a:xfrm rot="254520">
            <a:off x="4783138" y="881063"/>
            <a:ext cx="1660525" cy="210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1270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1270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 nodeType="clickPar">
                      <p:stCondLst>
                        <p:cond delay="indefinite"/>
                      </p:stCondLst>
                      <p:childTnLst>
                        <p:par>
                          <p:cTn id="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" presetID="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3" dur="500" fill="hold"/>
                                        <p:tgtEl>
                                          <p:spTgt spid="12709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4" dur="500" fill="hold"/>
                                        <p:tgtEl>
                                          <p:spTgt spid="12709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6" presetID="4" presetClass="entr" presetSubtype="32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8" dur="500"/>
                                        <p:tgtEl>
                                          <p:spTgt spid="127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 nodeType="clickPar">
                      <p:stCondLst>
                        <p:cond delay="indefinite"/>
                      </p:stCondLst>
                      <p:childTnLst>
                        <p:par>
                          <p:cTn id="2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3" dur="500"/>
                                        <p:tgtEl>
                                          <p:spTgt spid="1270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8" dur="500"/>
                                        <p:tgtEl>
                                          <p:spTgt spid="1270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70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7" dur="500"/>
                                        <p:tgtEl>
                                          <p:spTgt spid="1270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270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7" dur="500"/>
                                        <p:tgtEl>
                                          <p:spTgt spid="1270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2" dur="500"/>
                                        <p:tgtEl>
                                          <p:spTgt spid="1270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7" dur="500"/>
                                        <p:tgtEl>
                                          <p:spTgt spid="127048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70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2" dur="500"/>
                                        <p:tgtEl>
                                          <p:spTgt spid="1270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500" fill="hold"/>
                                        <p:tgtEl>
                                          <p:spTgt spid="12708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500" fill="hold"/>
                                        <p:tgtEl>
                                          <p:spTgt spid="12708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7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70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7" dur="75"/>
                                        <p:tgtEl>
                                          <p:spTgt spid="12703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 nodeType="clickPar">
                      <p:stCondLst>
                        <p:cond delay="indefinite"/>
                      </p:stCondLst>
                      <p:childTnLst>
                        <p:par>
                          <p:cTn id="7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2" dur="75"/>
                                        <p:tgtEl>
                                          <p:spTgt spid="1270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3" fill="hold" nodeType="clickPar">
                      <p:stCondLst>
                        <p:cond delay="indefinite"/>
                      </p:stCondLst>
                      <p:childTnLst>
                        <p:par>
                          <p:cTn id="8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7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70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7" fill="hold" nodeType="clickPar">
                      <p:stCondLst>
                        <p:cond delay="indefinite"/>
                      </p:stCondLst>
                      <p:childTnLst>
                        <p:par>
                          <p:cTn id="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1" dur="500"/>
                                        <p:tgtEl>
                                          <p:spTgt spid="1270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96" dur="500"/>
                                        <p:tgtEl>
                                          <p:spTgt spid="1270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1" dur="500" fill="hold"/>
                                        <p:tgtEl>
                                          <p:spTgt spid="1270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2" dur="500" fill="hold"/>
                                        <p:tgtEl>
                                          <p:spTgt spid="1270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7" dur="500" fill="hold"/>
                                        <p:tgtEl>
                                          <p:spTgt spid="12700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8" dur="500" fill="hold"/>
                                        <p:tgtEl>
                                          <p:spTgt spid="12700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127007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70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4" fill="hold" nodeType="clickPar">
                      <p:stCondLst>
                        <p:cond delay="indefinite"/>
                      </p:stCondLst>
                      <p:childTnLst>
                        <p:par>
                          <p:cTn id="11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7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70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12701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3" dur="500" fill="hold"/>
                                        <p:tgtEl>
                                          <p:spTgt spid="12701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4" fill="hold" nodeType="clickPar">
                      <p:stCondLst>
                        <p:cond delay="indefinite"/>
                      </p:stCondLst>
                      <p:childTnLst>
                        <p:par>
                          <p:cTn id="1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8" dur="500"/>
                                        <p:tgtEl>
                                          <p:spTgt spid="1270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3" dur="500"/>
                                        <p:tgtEl>
                                          <p:spTgt spid="1270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4" fill="hold" nodeType="clickPar">
                      <p:stCondLst>
                        <p:cond delay="indefinite"/>
                      </p:stCondLst>
                      <p:childTnLst>
                        <p:par>
                          <p:cTn id="1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8" dur="500"/>
                                        <p:tgtEl>
                                          <p:spTgt spid="1270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3" dur="500"/>
                                        <p:tgtEl>
                                          <p:spTgt spid="1270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4" fill="hold" nodeType="clickPar">
                      <p:stCondLst>
                        <p:cond delay="indefinite"/>
                      </p:stCondLst>
                      <p:childTnLst>
                        <p:par>
                          <p:cTn id="1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8" dur="500"/>
                                        <p:tgtEl>
                                          <p:spTgt spid="1270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 nodeType="clickPar">
                      <p:stCondLst>
                        <p:cond delay="indefinite"/>
                      </p:stCondLst>
                      <p:childTnLst>
                        <p:par>
                          <p:cTn id="1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1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3" dur="500" fill="hold"/>
                                        <p:tgtEl>
                                          <p:spTgt spid="1270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54" dur="500" fill="hold"/>
                                        <p:tgtEl>
                                          <p:spTgt spid="1270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5" fill="hold" nodeType="clickPar">
                      <p:stCondLst>
                        <p:cond delay="indefinite"/>
                      </p:stCondLst>
                      <p:childTnLst>
                        <p:par>
                          <p:cTn id="1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7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59" dur="500"/>
                                        <p:tgtEl>
                                          <p:spTgt spid="1270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 nodeType="clickPar">
                      <p:stCondLst>
                        <p:cond delay="indefinite"/>
                      </p:stCondLst>
                      <p:childTnLst>
                        <p:par>
                          <p:cTn id="1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2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64" dur="500" fill="hold"/>
                                        <p:tgtEl>
                                          <p:spTgt spid="1270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5" dur="500" fill="hold"/>
                                        <p:tgtEl>
                                          <p:spTgt spid="1270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6" fill="hold" nodeType="clickPar">
                      <p:stCondLst>
                        <p:cond delay="indefinite"/>
                      </p:stCondLst>
                      <p:childTnLst>
                        <p:par>
                          <p:cTn id="16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8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0" dur="500" fill="hold"/>
                                        <p:tgtEl>
                                          <p:spTgt spid="12707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1" dur="500" fill="hold"/>
                                        <p:tgtEl>
                                          <p:spTgt spid="12707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2" fill="hold" nodeType="clickPar">
                      <p:stCondLst>
                        <p:cond delay="indefinite"/>
                      </p:stCondLst>
                      <p:childTnLst>
                        <p:par>
                          <p:cTn id="1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6" dur="500"/>
                                        <p:tgtEl>
                                          <p:spTgt spid="127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 nodeType="clickPar">
                      <p:stCondLst>
                        <p:cond delay="indefinite"/>
                      </p:stCondLst>
                      <p:childTnLst>
                        <p:par>
                          <p:cTn id="1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1" dur="500"/>
                                        <p:tgtEl>
                                          <p:spTgt spid="1270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2" fill="hold" nodeType="clickPar">
                      <p:stCondLst>
                        <p:cond delay="indefinite"/>
                      </p:stCondLst>
                      <p:childTnLst>
                        <p:par>
                          <p:cTn id="18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86" dur="500"/>
                                        <p:tgtEl>
                                          <p:spTgt spid="1270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7" fill="hold" nodeType="clickPar">
                      <p:stCondLst>
                        <p:cond delay="indefinite"/>
                      </p:stCondLst>
                      <p:childTnLst>
                        <p:par>
                          <p:cTn id="18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91" dur="500"/>
                                        <p:tgtEl>
                                          <p:spTgt spid="1270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2" fill="hold" nodeType="clickPar">
                      <p:stCondLst>
                        <p:cond delay="indefinite"/>
                      </p:stCondLst>
                      <p:childTnLst>
                        <p:par>
                          <p:cTn id="1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4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96" dur="500" fill="hold"/>
                                        <p:tgtEl>
                                          <p:spTgt spid="12703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7" dur="500" fill="hold"/>
                                        <p:tgtEl>
                                          <p:spTgt spid="12703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8" fill="hold" nodeType="clickPar">
                      <p:stCondLst>
                        <p:cond delay="indefinite"/>
                      </p:stCondLst>
                      <p:childTnLst>
                        <p:par>
                          <p:cTn id="1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7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70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2" fill="hold" nodeType="clickPar">
                      <p:stCondLst>
                        <p:cond delay="indefinite"/>
                      </p:stCondLst>
                      <p:childTnLst>
                        <p:par>
                          <p:cTn id="20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4" presetID="23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06" dur="500" fill="hold"/>
                                        <p:tgtEl>
                                          <p:spTgt spid="1270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07" dur="500" fill="hold"/>
                                        <p:tgtEl>
                                          <p:spTgt spid="1270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8" fill="hold" nodeType="clickPar">
                      <p:stCondLst>
                        <p:cond delay="indefinite"/>
                      </p:stCondLst>
                      <p:childTnLst>
                        <p:par>
                          <p:cTn id="2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2" dur="500"/>
                                        <p:tgtEl>
                                          <p:spTgt spid="1270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 nodeType="clickPar">
                      <p:stCondLst>
                        <p:cond delay="indefinite"/>
                      </p:stCondLst>
                      <p:childTnLst>
                        <p:par>
                          <p:cTn id="2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7" dur="500"/>
                                        <p:tgtEl>
                                          <p:spTgt spid="1270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 nodeType="clickPar">
                      <p:stCondLst>
                        <p:cond delay="indefinite"/>
                      </p:stCondLst>
                      <p:childTnLst>
                        <p:par>
                          <p:cTn id="2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2" dur="500"/>
                                        <p:tgtEl>
                                          <p:spTgt spid="1270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 nodeType="clickPar">
                      <p:stCondLst>
                        <p:cond delay="indefinite"/>
                      </p:stCondLst>
                      <p:childTnLst>
                        <p:par>
                          <p:cTn id="2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7" dur="500"/>
                                        <p:tgtEl>
                                          <p:spTgt spid="1270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8" fill="hold" nodeType="clickPar">
                      <p:stCondLst>
                        <p:cond delay="indefinite"/>
                      </p:stCondLst>
                      <p:childTnLst>
                        <p:par>
                          <p:cTn id="2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0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32" dur="500" fill="hold"/>
                                        <p:tgtEl>
                                          <p:spTgt spid="12708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3" dur="500" fill="hold"/>
                                        <p:tgtEl>
                                          <p:spTgt spid="12708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4" fill="hold" nodeType="clickPar">
                      <p:stCondLst>
                        <p:cond delay="indefinite"/>
                      </p:stCondLst>
                      <p:childTnLst>
                        <p:par>
                          <p:cTn id="2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8" dur="500"/>
                                        <p:tgtEl>
                                          <p:spTgt spid="1270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9" fill="hold" nodeType="clickPar">
                      <p:stCondLst>
                        <p:cond delay="indefinite"/>
                      </p:stCondLst>
                      <p:childTnLst>
                        <p:par>
                          <p:cTn id="2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27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1270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3" fill="hold" nodeType="clickPar">
                      <p:stCondLst>
                        <p:cond delay="indefinite"/>
                      </p:stCondLst>
                      <p:childTnLst>
                        <p:par>
                          <p:cTn id="2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5" presetID="23" presetClass="entr" presetSubtype="16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47" dur="500" fill="hold"/>
                                        <p:tgtEl>
                                          <p:spTgt spid="12706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8" dur="500" fill="hold"/>
                                        <p:tgtEl>
                                          <p:spTgt spid="12706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9" fill="hold" nodeType="clickPar">
                      <p:stCondLst>
                        <p:cond delay="indefinite"/>
                      </p:stCondLst>
                      <p:childTnLst>
                        <p:par>
                          <p:cTn id="2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1" presetID="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0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3" dur="500" fill="hold"/>
                                        <p:tgtEl>
                                          <p:spTgt spid="12700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54" dur="500" fill="hold"/>
                                        <p:tgtEl>
                                          <p:spTgt spid="12700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7005" grpId="0"/>
      <p:bldP spid="127006" grpId="0" autoUpdateAnimBg="0"/>
      <p:bldP spid="127007" grpId="0" animBg="1"/>
      <p:bldP spid="127008" grpId="0" animBg="1"/>
      <p:bldP spid="127015" grpId="0" animBg="1" autoUpdateAnimBg="0"/>
      <p:bldP spid="127016" grpId="0" animBg="1"/>
      <p:bldP spid="127018" grpId="0" autoUpdateAnimBg="0"/>
      <p:bldP spid="127019" grpId="0" autoUpdateAnimBg="0"/>
      <p:bldP spid="127020" grpId="0" animBg="1" autoUpdateAnimBg="0"/>
      <p:bldP spid="127021" grpId="0" animBg="1"/>
      <p:bldP spid="127025" grpId="0" animBg="1"/>
      <p:bldP spid="127026" grpId="0" animBg="1"/>
      <p:bldP spid="127027" grpId="0" animBg="1"/>
      <p:bldP spid="127028" grpId="0" animBg="1"/>
      <p:bldP spid="127029" grpId="0" animBg="1"/>
      <p:bldP spid="127039" grpId="0" build="p" autoUpdateAnimBg="0"/>
      <p:bldP spid="127044" grpId="0" build="p" autoUpdateAnimBg="0"/>
      <p:bldP spid="127045" grpId="0"/>
      <p:bldP spid="127046" grpId="0" animBg="1"/>
      <p:bldP spid="127047" grpId="0" animBg="1"/>
      <p:bldP spid="127051" grpId="0" animBg="1"/>
      <p:bldP spid="127052" grpId="0" animBg="1"/>
      <p:bldP spid="127059" grpId="0" animBg="1"/>
      <p:bldP spid="127060" grpId="0" animBg="1"/>
      <p:bldP spid="127061" grpId="0" animBg="1"/>
      <p:bldP spid="127062" grpId="0" animBg="1"/>
      <p:bldP spid="127063" grpId="0" animBg="1"/>
      <p:bldP spid="127074" grpId="0" animBg="1"/>
      <p:bldP spid="127075" grpId="0" animBg="1"/>
      <p:bldP spid="127080" grpId="0" autoUpdateAnimBg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985FB75B-543B-40E2-9538-4EDED1B19026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10</a:t>
            </a:fld>
            <a:endParaRPr lang="en-US" altLang="zh-CN" sz="1400" smtClean="0">
              <a:solidFill>
                <a:schemeClr val="bg2"/>
              </a:solidFill>
            </a:endParaRPr>
          </a:p>
        </p:txBody>
      </p:sp>
      <p:sp>
        <p:nvSpPr>
          <p:cNvPr id="149517" name="Text Box 13"/>
          <p:cNvSpPr txBox="1">
            <a:spLocks noChangeArrowheads="1"/>
          </p:cNvSpPr>
          <p:nvPr/>
        </p:nvSpPr>
        <p:spPr bwMode="auto">
          <a:xfrm>
            <a:off x="230188" y="1187450"/>
            <a:ext cx="87852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800" b="1">
                <a:latin typeface="黑体" pitchFamily="2" charset="-122"/>
                <a:ea typeface="黑体" pitchFamily="2" charset="-122"/>
              </a:rPr>
              <a:t>平面体投影的特点：</a:t>
            </a:r>
          </a:p>
        </p:txBody>
      </p:sp>
      <p:sp>
        <p:nvSpPr>
          <p:cNvPr id="149542" name="Text Box 38"/>
          <p:cNvSpPr txBox="1">
            <a:spLocks noChangeArrowheads="1"/>
          </p:cNvSpPr>
          <p:nvPr/>
        </p:nvSpPr>
        <p:spPr bwMode="auto">
          <a:xfrm>
            <a:off x="1854200" y="1749425"/>
            <a:ext cx="618172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400" b="1">
                <a:latin typeface="黑体" pitchFamily="2" charset="-122"/>
                <a:ea typeface="黑体" pitchFamily="2" charset="-122"/>
              </a:rPr>
              <a:t>各视图之间的关系：</a:t>
            </a:r>
            <a:r>
              <a:rPr kumimoji="0" lang="en-US" altLang="zh-CN" sz="2400" b="1">
                <a:latin typeface="黑体" pitchFamily="2" charset="-122"/>
                <a:ea typeface="黑体" pitchFamily="2" charset="-122"/>
              </a:rPr>
              <a:t>1. </a:t>
            </a:r>
            <a:r>
              <a:rPr kumimoji="0" lang="zh-CN" altLang="en-US" sz="2400" b="1">
                <a:latin typeface="黑体" pitchFamily="2" charset="-122"/>
                <a:ea typeface="黑体" pitchFamily="2" charset="-122"/>
              </a:rPr>
              <a:t>三等关系。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400" b="1">
                <a:latin typeface="黑体" pitchFamily="2" charset="-122"/>
                <a:ea typeface="黑体" pitchFamily="2" charset="-122"/>
              </a:rPr>
              <a:t>                  </a:t>
            </a:r>
            <a:r>
              <a:rPr kumimoji="0" lang="en-US" altLang="zh-CN" sz="2400" b="1">
                <a:latin typeface="黑体" pitchFamily="2" charset="-122"/>
                <a:ea typeface="黑体" pitchFamily="2" charset="-122"/>
              </a:rPr>
              <a:t>2. </a:t>
            </a:r>
            <a:r>
              <a:rPr kumimoji="0" lang="zh-CN" altLang="en-US" sz="2400" b="1">
                <a:latin typeface="黑体" pitchFamily="2" charset="-122"/>
                <a:ea typeface="黑体" pitchFamily="2" charset="-122"/>
              </a:rPr>
              <a:t>方位对应关系。</a:t>
            </a:r>
          </a:p>
        </p:txBody>
      </p:sp>
      <p:sp>
        <p:nvSpPr>
          <p:cNvPr id="149543" name="Text Box 39"/>
          <p:cNvSpPr txBox="1">
            <a:spLocks noChangeArrowheads="1"/>
          </p:cNvSpPr>
          <p:nvPr/>
        </p:nvSpPr>
        <p:spPr bwMode="auto">
          <a:xfrm>
            <a:off x="2436813" y="2641600"/>
            <a:ext cx="4945062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400" b="1">
                <a:latin typeface="黑体" pitchFamily="2" charset="-122"/>
                <a:ea typeface="黑体" pitchFamily="2" charset="-122"/>
              </a:rPr>
              <a:t>各表面的投影：</a:t>
            </a:r>
            <a:r>
              <a:rPr kumimoji="0" lang="en-US" altLang="zh-CN" sz="2400" b="1">
                <a:latin typeface="黑体" pitchFamily="2" charset="-122"/>
                <a:ea typeface="黑体" pitchFamily="2" charset="-122"/>
              </a:rPr>
              <a:t>1. </a:t>
            </a:r>
            <a:r>
              <a:rPr kumimoji="0" lang="zh-CN" altLang="en-US" sz="2400" b="1">
                <a:latin typeface="黑体" pitchFamily="2" charset="-122"/>
                <a:ea typeface="黑体" pitchFamily="2" charset="-122"/>
              </a:rPr>
              <a:t>积聚成直线。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400" b="1">
                <a:latin typeface="黑体" pitchFamily="2" charset="-122"/>
                <a:ea typeface="黑体" pitchFamily="2" charset="-122"/>
              </a:rPr>
              <a:t>              </a:t>
            </a:r>
            <a:r>
              <a:rPr kumimoji="0" lang="en-US" altLang="zh-CN" sz="2400" b="1">
                <a:latin typeface="黑体" pitchFamily="2" charset="-122"/>
                <a:ea typeface="黑体" pitchFamily="2" charset="-122"/>
              </a:rPr>
              <a:t>2. </a:t>
            </a:r>
            <a:r>
              <a:rPr kumimoji="0" lang="zh-CN" altLang="en-US" sz="2400" b="1">
                <a:latin typeface="黑体" pitchFamily="2" charset="-122"/>
                <a:ea typeface="黑体" pitchFamily="2" charset="-122"/>
              </a:rPr>
              <a:t>实形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400" b="1">
                <a:latin typeface="黑体" pitchFamily="2" charset="-122"/>
                <a:ea typeface="黑体" pitchFamily="2" charset="-122"/>
              </a:rPr>
              <a:t>              </a:t>
            </a:r>
            <a:r>
              <a:rPr kumimoji="0" lang="en-US" altLang="zh-CN" sz="2400" b="1">
                <a:latin typeface="黑体" pitchFamily="2" charset="-122"/>
                <a:ea typeface="黑体" pitchFamily="2" charset="-122"/>
              </a:rPr>
              <a:t>3. </a:t>
            </a:r>
            <a:r>
              <a:rPr kumimoji="0" lang="zh-CN" altLang="en-US" sz="2400" b="1">
                <a:latin typeface="黑体" pitchFamily="2" charset="-122"/>
                <a:ea typeface="黑体" pitchFamily="2" charset="-122"/>
              </a:rPr>
              <a:t>类似图形。</a:t>
            </a:r>
          </a:p>
        </p:txBody>
      </p:sp>
      <p:sp>
        <p:nvSpPr>
          <p:cNvPr id="149564" name="Text Box 60"/>
          <p:cNvSpPr txBox="1">
            <a:spLocks noChangeArrowheads="1"/>
          </p:cNvSpPr>
          <p:nvPr/>
        </p:nvSpPr>
        <p:spPr bwMode="auto">
          <a:xfrm>
            <a:off x="358775" y="354013"/>
            <a:ext cx="18288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3600" b="1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归纳</a:t>
            </a:r>
            <a:endParaRPr kumimoji="0" lang="zh-CN" altLang="en-US" sz="3600" b="1" baseline="30000">
              <a:solidFill>
                <a:srgbClr val="FF330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49565" name="Text Box 61"/>
          <p:cNvSpPr txBox="1">
            <a:spLocks noChangeArrowheads="1"/>
          </p:cNvSpPr>
          <p:nvPr/>
        </p:nvSpPr>
        <p:spPr bwMode="auto">
          <a:xfrm>
            <a:off x="174625" y="3808413"/>
            <a:ext cx="8269288" cy="8842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800" b="1">
                <a:latin typeface="黑体" pitchFamily="2" charset="-122"/>
                <a:ea typeface="黑体" pitchFamily="2" charset="-122"/>
              </a:rPr>
              <a:t>平面体上的点和线：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400" b="1">
                <a:latin typeface="黑体" pitchFamily="2" charset="-122"/>
                <a:ea typeface="黑体" pitchFamily="2" charset="-122"/>
              </a:rPr>
              <a:t>                   与平面上取点和取线的方法相同。</a:t>
            </a:r>
          </a:p>
        </p:txBody>
      </p:sp>
      <p:sp>
        <p:nvSpPr>
          <p:cNvPr id="149567" name="Text Box 63"/>
          <p:cNvSpPr txBox="1">
            <a:spLocks noChangeArrowheads="1"/>
          </p:cNvSpPr>
          <p:nvPr/>
        </p:nvSpPr>
        <p:spPr bwMode="auto">
          <a:xfrm>
            <a:off x="225425" y="4818063"/>
            <a:ext cx="6611938" cy="16144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marL="457200" indent="-457200"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914400" indent="-45720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371600" indent="-4572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828800" indent="-4572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indent="-4572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800" b="1">
                <a:latin typeface="黑体" pitchFamily="2" charset="-122"/>
                <a:ea typeface="黑体" pitchFamily="2" charset="-122"/>
              </a:rPr>
              <a:t>检查方法：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400" b="1">
                <a:latin typeface="黑体" pitchFamily="2" charset="-122"/>
                <a:ea typeface="黑体" pitchFamily="2" charset="-122"/>
              </a:rPr>
              <a:t>           </a:t>
            </a:r>
            <a:r>
              <a:rPr kumimoji="0" lang="en-US" altLang="zh-CN" sz="2400" b="1">
                <a:latin typeface="黑体" pitchFamily="2" charset="-122"/>
                <a:ea typeface="黑体" pitchFamily="2" charset="-122"/>
              </a:rPr>
              <a:t>1. </a:t>
            </a:r>
            <a:r>
              <a:rPr kumimoji="0" lang="zh-CN" altLang="en-US" sz="2400" b="1">
                <a:latin typeface="黑体" pitchFamily="2" charset="-122"/>
                <a:ea typeface="黑体" pitchFamily="2" charset="-122"/>
              </a:rPr>
              <a:t>类似形。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400" b="1">
                <a:latin typeface="黑体" pitchFamily="2" charset="-122"/>
                <a:ea typeface="黑体" pitchFamily="2" charset="-122"/>
              </a:rPr>
              <a:t>           </a:t>
            </a:r>
            <a:r>
              <a:rPr kumimoji="0" lang="en-US" altLang="zh-CN" sz="2400" b="1">
                <a:latin typeface="黑体" pitchFamily="2" charset="-122"/>
                <a:ea typeface="黑体" pitchFamily="2" charset="-122"/>
              </a:rPr>
              <a:t>2. </a:t>
            </a:r>
            <a:r>
              <a:rPr kumimoji="0" lang="zh-CN" altLang="en-US" sz="2400" b="1">
                <a:latin typeface="黑体" pitchFamily="2" charset="-122"/>
                <a:ea typeface="黑体" pitchFamily="2" charset="-122"/>
              </a:rPr>
              <a:t>三等关系。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400" b="1">
                <a:latin typeface="黑体" pitchFamily="2" charset="-122"/>
                <a:ea typeface="黑体" pitchFamily="2" charset="-122"/>
              </a:rPr>
              <a:t>           </a:t>
            </a:r>
            <a:r>
              <a:rPr kumimoji="0" lang="en-US" altLang="zh-CN" sz="2400" b="1">
                <a:latin typeface="黑体" pitchFamily="2" charset="-122"/>
                <a:ea typeface="黑体" pitchFamily="2" charset="-122"/>
              </a:rPr>
              <a:t>3. </a:t>
            </a:r>
            <a:r>
              <a:rPr kumimoji="0" lang="zh-CN" altLang="en-US" sz="2400" b="1">
                <a:latin typeface="黑体" pitchFamily="2" charset="-122"/>
                <a:ea typeface="黑体" pitchFamily="2" charset="-122"/>
              </a:rPr>
              <a:t>漏线。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49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495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49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" dur="500"/>
                                        <p:tgtEl>
                                          <p:spTgt spid="149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7" dur="500"/>
                                        <p:tgtEl>
                                          <p:spTgt spid="14956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2" dur="500"/>
                                        <p:tgtEl>
                                          <p:spTgt spid="14956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 nodeType="clickPar">
                      <p:stCondLst>
                        <p:cond delay="indefinite"/>
                      </p:stCondLst>
                      <p:childTnLst>
                        <p:par>
                          <p:cTn id="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7" dur="500"/>
                                        <p:tgtEl>
                                          <p:spTgt spid="1495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2" dur="500"/>
                                        <p:tgtEl>
                                          <p:spTgt spid="14956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7" dur="500"/>
                                        <p:tgtEl>
                                          <p:spTgt spid="149567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5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2" dur="500"/>
                                        <p:tgtEl>
                                          <p:spTgt spid="149567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9517" grpId="0" autoUpdateAnimBg="0"/>
      <p:bldP spid="149542" grpId="0" autoUpdateAnimBg="0"/>
      <p:bldP spid="149543" grpId="0" autoUpdateAnimBg="0"/>
      <p:bldP spid="149565" grpId="0" build="p" autoUpdateAnimBg="0"/>
      <p:bldP spid="149567" grpId="0" build="p" autoUpdateAnimBg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7049916" y="6361290"/>
            <a:ext cx="1905000" cy="457200"/>
          </a:xfrm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CCF49DDB-C0B3-49D5-AC00-710CABDC5700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11</a:t>
            </a:fld>
            <a:endParaRPr lang="en-US" altLang="zh-CN" sz="1400" smtClean="0">
              <a:solidFill>
                <a:schemeClr val="bg2"/>
              </a:solidFill>
            </a:endParaRPr>
          </a:p>
        </p:txBody>
      </p:sp>
      <p:sp>
        <p:nvSpPr>
          <p:cNvPr id="82084" name="Freeform 164"/>
          <p:cNvSpPr>
            <a:spLocks/>
          </p:cNvSpPr>
          <p:nvPr/>
        </p:nvSpPr>
        <p:spPr bwMode="auto">
          <a:xfrm>
            <a:off x="6799263" y="3364085"/>
            <a:ext cx="501650" cy="1408113"/>
          </a:xfrm>
          <a:custGeom>
            <a:avLst/>
            <a:gdLst>
              <a:gd name="T0" fmla="*/ 0 w 316"/>
              <a:gd name="T1" fmla="*/ 2147483647 h 887"/>
              <a:gd name="T2" fmla="*/ 0 w 316"/>
              <a:gd name="T3" fmla="*/ 2147483647 h 887"/>
              <a:gd name="T4" fmla="*/ 2147483647 w 316"/>
              <a:gd name="T5" fmla="*/ 2147483647 h 887"/>
              <a:gd name="T6" fmla="*/ 2147483647 w 316"/>
              <a:gd name="T7" fmla="*/ 0 h 887"/>
              <a:gd name="T8" fmla="*/ 0 w 316"/>
              <a:gd name="T9" fmla="*/ 2147483647 h 887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316" h="887">
                <a:moveTo>
                  <a:pt x="0" y="177"/>
                </a:moveTo>
                <a:lnTo>
                  <a:pt x="0" y="887"/>
                </a:lnTo>
                <a:lnTo>
                  <a:pt x="316" y="720"/>
                </a:lnTo>
                <a:lnTo>
                  <a:pt x="316" y="0"/>
                </a:lnTo>
                <a:lnTo>
                  <a:pt x="0" y="177"/>
                </a:lnTo>
                <a:close/>
              </a:path>
            </a:pathLst>
          </a:custGeom>
          <a:solidFill>
            <a:schemeClr val="accent1">
              <a:alpha val="50195"/>
            </a:schemeClr>
          </a:solidFill>
          <a:ln w="28575" cmpd="sng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82086" name="Group 166"/>
          <p:cNvGrpSpPr>
            <a:grpSpLocks/>
          </p:cNvGrpSpPr>
          <p:nvPr/>
        </p:nvGrpSpPr>
        <p:grpSpPr bwMode="auto">
          <a:xfrm>
            <a:off x="681741" y="2007302"/>
            <a:ext cx="1530350" cy="3414713"/>
            <a:chOff x="527" y="1215"/>
            <a:chExt cx="964" cy="2151"/>
          </a:xfrm>
        </p:grpSpPr>
        <p:sp>
          <p:nvSpPr>
            <p:cNvPr id="13378" name="AutoShape 167"/>
            <p:cNvSpPr>
              <a:spLocks noChangeArrowheads="1"/>
            </p:cNvSpPr>
            <p:nvPr/>
          </p:nvSpPr>
          <p:spPr bwMode="auto">
            <a:xfrm>
              <a:off x="527" y="1541"/>
              <a:ext cx="964" cy="1291"/>
            </a:xfrm>
            <a:prstGeom prst="can">
              <a:avLst>
                <a:gd name="adj" fmla="val 33480"/>
              </a:avLst>
            </a:prstGeom>
            <a:gradFill rotWithShape="0">
              <a:gsLst>
                <a:gs pos="0">
                  <a:srgbClr val="00FF99"/>
                </a:gs>
                <a:gs pos="100000">
                  <a:srgbClr val="00100A"/>
                </a:gs>
              </a:gsLst>
              <a:lin ang="0" scaled="1"/>
            </a:gra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400"/>
            </a:p>
          </p:txBody>
        </p:sp>
        <p:sp>
          <p:nvSpPr>
            <p:cNvPr id="13379" name="Line 168"/>
            <p:cNvSpPr>
              <a:spLocks noChangeShapeType="1"/>
            </p:cNvSpPr>
            <p:nvPr/>
          </p:nvSpPr>
          <p:spPr bwMode="auto">
            <a:xfrm flipV="1">
              <a:off x="1000" y="1398"/>
              <a:ext cx="0" cy="30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80" name="Line 169"/>
            <p:cNvSpPr>
              <a:spLocks noChangeShapeType="1"/>
            </p:cNvSpPr>
            <p:nvPr/>
          </p:nvSpPr>
          <p:spPr bwMode="auto">
            <a:xfrm>
              <a:off x="1036" y="2832"/>
              <a:ext cx="0" cy="383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81" name="Text Box 170"/>
            <p:cNvSpPr txBox="1">
              <a:spLocks noChangeArrowheads="1"/>
            </p:cNvSpPr>
            <p:nvPr/>
          </p:nvSpPr>
          <p:spPr bwMode="auto">
            <a:xfrm>
              <a:off x="978" y="1215"/>
              <a:ext cx="29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b="1"/>
                <a:t>O</a:t>
              </a:r>
            </a:p>
          </p:txBody>
        </p:sp>
        <p:sp>
          <p:nvSpPr>
            <p:cNvPr id="13382" name="Text Box 171"/>
            <p:cNvSpPr txBox="1">
              <a:spLocks noChangeArrowheads="1"/>
            </p:cNvSpPr>
            <p:nvPr/>
          </p:nvSpPr>
          <p:spPr bwMode="auto">
            <a:xfrm>
              <a:off x="1021" y="3039"/>
              <a:ext cx="29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b="1"/>
                <a:t>O</a:t>
              </a:r>
            </a:p>
          </p:txBody>
        </p:sp>
      </p:grpSp>
      <p:sp>
        <p:nvSpPr>
          <p:cNvPr id="82092" name="Text Box 172"/>
          <p:cNvSpPr txBox="1">
            <a:spLocks noChangeArrowheads="1"/>
          </p:cNvSpPr>
          <p:nvPr/>
        </p:nvSpPr>
        <p:spPr bwMode="auto">
          <a:xfrm>
            <a:off x="587375" y="176213"/>
            <a:ext cx="323056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4000" b="1">
                <a:latin typeface="黑体" pitchFamily="2" charset="-122"/>
                <a:ea typeface="黑体" pitchFamily="2" charset="-122"/>
              </a:rPr>
              <a:t>三 回转体</a:t>
            </a:r>
          </a:p>
        </p:txBody>
      </p:sp>
      <p:sp>
        <p:nvSpPr>
          <p:cNvPr id="82093" name="Text Box 173" descr="紫色网格"/>
          <p:cNvSpPr txBox="1">
            <a:spLocks noChangeArrowheads="1"/>
          </p:cNvSpPr>
          <p:nvPr/>
        </p:nvSpPr>
        <p:spPr bwMode="auto">
          <a:xfrm>
            <a:off x="315028" y="1050925"/>
            <a:ext cx="202088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1">
                <a:latin typeface="黑体" pitchFamily="2" charset="-122"/>
                <a:ea typeface="黑体" pitchFamily="2" charset="-122"/>
              </a:rPr>
              <a:t>1 </a:t>
            </a:r>
            <a:r>
              <a:rPr lang="zh-CN" altLang="en-US" sz="3600" b="1">
                <a:latin typeface="黑体" pitchFamily="2" charset="-122"/>
                <a:ea typeface="黑体" pitchFamily="2" charset="-122"/>
              </a:rPr>
              <a:t>圆柱体</a:t>
            </a:r>
          </a:p>
        </p:txBody>
      </p:sp>
      <p:sp>
        <p:nvSpPr>
          <p:cNvPr id="82094" name="Text Box 174"/>
          <p:cNvSpPr txBox="1">
            <a:spLocks noChangeArrowheads="1"/>
          </p:cNvSpPr>
          <p:nvPr/>
        </p:nvSpPr>
        <p:spPr bwMode="auto">
          <a:xfrm>
            <a:off x="5321300" y="166860"/>
            <a:ext cx="2151063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>
              <a:defRPr/>
            </a:pPr>
            <a:r>
              <a:rPr kumimoji="1" lang="zh-CN" altLang="en-US" sz="3600" b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itchFamily="2" charset="-122"/>
                <a:sym typeface="Marlett" pitchFamily="2" charset="2"/>
              </a:rPr>
              <a:t>形成</a:t>
            </a:r>
            <a:endParaRPr kumimoji="1" lang="zh-CN" altLang="en-US" sz="3600" b="1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ea typeface="黑体" pitchFamily="2" charset="-122"/>
            </a:endParaRPr>
          </a:p>
        </p:txBody>
      </p:sp>
      <p:sp>
        <p:nvSpPr>
          <p:cNvPr id="82095" name="Text Box 175"/>
          <p:cNvSpPr txBox="1">
            <a:spLocks noChangeArrowheads="1"/>
          </p:cNvSpPr>
          <p:nvPr/>
        </p:nvSpPr>
        <p:spPr bwMode="auto">
          <a:xfrm>
            <a:off x="2194628" y="4604452"/>
            <a:ext cx="1609725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b="1">
                <a:solidFill>
                  <a:srgbClr val="000066"/>
                </a:solidFill>
                <a:ea typeface="黑体" pitchFamily="2" charset="-122"/>
              </a:rPr>
              <a:t>轴线</a:t>
            </a:r>
          </a:p>
        </p:txBody>
      </p:sp>
      <p:sp>
        <p:nvSpPr>
          <p:cNvPr id="82096" name="Text Box 176"/>
          <p:cNvSpPr txBox="1">
            <a:spLocks noChangeArrowheads="1"/>
          </p:cNvSpPr>
          <p:nvPr/>
        </p:nvSpPr>
        <p:spPr bwMode="auto">
          <a:xfrm>
            <a:off x="2518478" y="1878715"/>
            <a:ext cx="1636713" cy="5794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b="1">
                <a:solidFill>
                  <a:srgbClr val="000066"/>
                </a:solidFill>
                <a:ea typeface="黑体" pitchFamily="2" charset="-122"/>
              </a:rPr>
              <a:t>底面</a:t>
            </a:r>
          </a:p>
        </p:txBody>
      </p:sp>
      <p:sp>
        <p:nvSpPr>
          <p:cNvPr id="82097" name="Text Box 177"/>
          <p:cNvSpPr txBox="1">
            <a:spLocks noChangeArrowheads="1"/>
          </p:cNvSpPr>
          <p:nvPr/>
        </p:nvSpPr>
        <p:spPr bwMode="auto">
          <a:xfrm>
            <a:off x="2629603" y="3167765"/>
            <a:ext cx="1757363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b="1">
                <a:solidFill>
                  <a:srgbClr val="000066"/>
                </a:solidFill>
                <a:ea typeface="黑体" pitchFamily="2" charset="-122"/>
              </a:rPr>
              <a:t>圆柱面</a:t>
            </a:r>
          </a:p>
        </p:txBody>
      </p:sp>
      <p:sp>
        <p:nvSpPr>
          <p:cNvPr id="82098" name="Line 178"/>
          <p:cNvSpPr>
            <a:spLocks noChangeShapeType="1"/>
          </p:cNvSpPr>
          <p:nvPr/>
        </p:nvSpPr>
        <p:spPr bwMode="auto">
          <a:xfrm flipV="1">
            <a:off x="1829503" y="2274002"/>
            <a:ext cx="727075" cy="496888"/>
          </a:xfrm>
          <a:prstGeom prst="line">
            <a:avLst/>
          </a:prstGeom>
          <a:noFill/>
          <a:ln w="12700">
            <a:solidFill>
              <a:srgbClr val="00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099" name="Line 179"/>
          <p:cNvSpPr>
            <a:spLocks noChangeShapeType="1"/>
          </p:cNvSpPr>
          <p:nvPr/>
        </p:nvSpPr>
        <p:spPr bwMode="auto">
          <a:xfrm flipV="1">
            <a:off x="2162878" y="3593215"/>
            <a:ext cx="527050" cy="241300"/>
          </a:xfrm>
          <a:prstGeom prst="line">
            <a:avLst/>
          </a:prstGeom>
          <a:noFill/>
          <a:ln w="12700">
            <a:solidFill>
              <a:srgbClr val="00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100" name="Line 180"/>
          <p:cNvSpPr>
            <a:spLocks noChangeShapeType="1"/>
          </p:cNvSpPr>
          <p:nvPr/>
        </p:nvSpPr>
        <p:spPr bwMode="auto">
          <a:xfrm>
            <a:off x="1497716" y="4810827"/>
            <a:ext cx="719137" cy="115888"/>
          </a:xfrm>
          <a:prstGeom prst="line">
            <a:avLst/>
          </a:prstGeom>
          <a:noFill/>
          <a:ln w="12700">
            <a:solidFill>
              <a:srgbClr val="00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101" name="Text Box 181"/>
          <p:cNvSpPr txBox="1">
            <a:spLocks noChangeArrowheads="1"/>
          </p:cNvSpPr>
          <p:nvPr/>
        </p:nvSpPr>
        <p:spPr bwMode="auto">
          <a:xfrm>
            <a:off x="4903788" y="784398"/>
            <a:ext cx="3887787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b="1" dirty="0">
                <a:latin typeface="黑体" pitchFamily="2" charset="-122"/>
                <a:ea typeface="黑体" pitchFamily="2" charset="-122"/>
                <a:sym typeface="Monotype Sorts" pitchFamily="2" charset="2"/>
              </a:rPr>
              <a:t>1. </a:t>
            </a:r>
            <a:r>
              <a:rPr lang="zh-CN" altLang="en-US" sz="2800" b="1" dirty="0">
                <a:latin typeface="黑体" pitchFamily="2" charset="-122"/>
                <a:ea typeface="黑体" pitchFamily="2" charset="-122"/>
              </a:rPr>
              <a:t>圆沿与其垂直的直线拉伸形成。</a:t>
            </a:r>
          </a:p>
        </p:txBody>
      </p:sp>
      <p:sp>
        <p:nvSpPr>
          <p:cNvPr id="82102" name="Oval 182"/>
          <p:cNvSpPr>
            <a:spLocks noChangeArrowheads="1"/>
          </p:cNvSpPr>
          <p:nvPr/>
        </p:nvSpPr>
        <p:spPr bwMode="auto">
          <a:xfrm>
            <a:off x="4360863" y="4200698"/>
            <a:ext cx="1433512" cy="515937"/>
          </a:xfrm>
          <a:prstGeom prst="ellipse">
            <a:avLst/>
          </a:prstGeom>
          <a:solidFill>
            <a:schemeClr val="accent1">
              <a:alpha val="50195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82103" name="Rectangle 183"/>
          <p:cNvSpPr>
            <a:spLocks noChangeArrowheads="1"/>
          </p:cNvSpPr>
          <p:nvPr/>
        </p:nvSpPr>
        <p:spPr bwMode="auto">
          <a:xfrm>
            <a:off x="4884738" y="1744835"/>
            <a:ext cx="410210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b="1">
                <a:latin typeface="黑体" pitchFamily="2" charset="-122"/>
                <a:ea typeface="黑体" pitchFamily="2" charset="-122"/>
                <a:sym typeface="Monotype Sorts" pitchFamily="2" charset="2"/>
              </a:rPr>
              <a:t>2. </a:t>
            </a:r>
            <a:r>
              <a:rPr lang="zh-CN" altLang="en-US" sz="2800" b="1">
                <a:latin typeface="黑体" pitchFamily="2" charset="-122"/>
                <a:ea typeface="黑体" pitchFamily="2" charset="-122"/>
                <a:sym typeface="Monotype Sorts" pitchFamily="2" charset="2"/>
              </a:rPr>
              <a:t>矩形绕其边</a:t>
            </a:r>
            <a:r>
              <a:rPr lang="zh-CN" altLang="en-US" sz="2800" b="1">
                <a:latin typeface="黑体" pitchFamily="2" charset="-122"/>
                <a:ea typeface="黑体" pitchFamily="2" charset="-122"/>
              </a:rPr>
              <a:t>旋转形成</a:t>
            </a:r>
          </a:p>
        </p:txBody>
      </p:sp>
      <p:sp>
        <p:nvSpPr>
          <p:cNvPr id="82104" name="Line 184"/>
          <p:cNvSpPr>
            <a:spLocks noChangeShapeType="1"/>
          </p:cNvSpPr>
          <p:nvPr/>
        </p:nvSpPr>
        <p:spPr bwMode="auto">
          <a:xfrm flipV="1">
            <a:off x="5829300" y="3406948"/>
            <a:ext cx="0" cy="8286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105" name="AutoShape 185"/>
          <p:cNvSpPr>
            <a:spLocks noChangeArrowheads="1"/>
          </p:cNvSpPr>
          <p:nvPr/>
        </p:nvSpPr>
        <p:spPr bwMode="auto">
          <a:xfrm flipV="1">
            <a:off x="6919913" y="3910185"/>
            <a:ext cx="877887" cy="254000"/>
          </a:xfrm>
          <a:custGeom>
            <a:avLst/>
            <a:gdLst>
              <a:gd name="T0" fmla="*/ 603080976 w 21600"/>
              <a:gd name="T1" fmla="*/ 248767 h 21600"/>
              <a:gd name="T2" fmla="*/ 120039708 w 21600"/>
              <a:gd name="T3" fmla="*/ 17561584 h 21600"/>
              <a:gd name="T4" fmla="*/ 643496698 w 21600"/>
              <a:gd name="T5" fmla="*/ 5982276 h 21600"/>
              <a:gd name="T6" fmla="*/ 1580110274 w 21600"/>
              <a:gd name="T7" fmla="*/ 10283343 h 21600"/>
              <a:gd name="T8" fmla="*/ 1395754289 w 21600"/>
              <a:gd name="T9" fmla="*/ 19589327 h 21600"/>
              <a:gd name="T10" fmla="*/ 1011536395 w 21600"/>
              <a:gd name="T11" fmla="*/ 15122454 h 216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3163 w 21600"/>
              <a:gd name="T19" fmla="*/ 3163 h 21600"/>
              <a:gd name="T20" fmla="*/ 18437 w 21600"/>
              <a:gd name="T21" fmla="*/ 18437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7614" y="8405"/>
                </a:moveTo>
                <a:cubicBezTo>
                  <a:pt x="16597" y="5512"/>
                  <a:pt x="13865" y="3577"/>
                  <a:pt x="10800" y="3577"/>
                </a:cubicBezTo>
                <a:cubicBezTo>
                  <a:pt x="6810" y="3577"/>
                  <a:pt x="3577" y="6810"/>
                  <a:pt x="3577" y="10800"/>
                </a:cubicBezTo>
                <a:lnTo>
                  <a:pt x="0" y="10800"/>
                </a:lnTo>
                <a:cubicBezTo>
                  <a:pt x="0" y="4835"/>
                  <a:pt x="4835" y="0"/>
                  <a:pt x="10800" y="0"/>
                </a:cubicBezTo>
                <a:cubicBezTo>
                  <a:pt x="15384" y="0"/>
                  <a:pt x="19469" y="2894"/>
                  <a:pt x="20989" y="7219"/>
                </a:cubicBezTo>
                <a:lnTo>
                  <a:pt x="23536" y="6324"/>
                </a:lnTo>
                <a:lnTo>
                  <a:pt x="20790" y="12047"/>
                </a:lnTo>
                <a:lnTo>
                  <a:pt x="15067" y="9300"/>
                </a:lnTo>
                <a:lnTo>
                  <a:pt x="17614" y="8405"/>
                </a:lnTo>
                <a:close/>
              </a:path>
            </a:pathLst>
          </a:custGeom>
          <a:solidFill>
            <a:srgbClr val="FFFFCC">
              <a:alpha val="50195"/>
            </a:srgb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106" name="Text Box 186"/>
          <p:cNvSpPr txBox="1">
            <a:spLocks noChangeArrowheads="1"/>
          </p:cNvSpPr>
          <p:nvPr/>
        </p:nvSpPr>
        <p:spPr bwMode="auto">
          <a:xfrm>
            <a:off x="5840413" y="3145010"/>
            <a:ext cx="38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solidFill>
                  <a:srgbClr val="000066"/>
                </a:solidFill>
              </a:rPr>
              <a:t>L</a:t>
            </a:r>
          </a:p>
        </p:txBody>
      </p:sp>
      <p:sp>
        <p:nvSpPr>
          <p:cNvPr id="82107" name="Line 187"/>
          <p:cNvSpPr>
            <a:spLocks noChangeShapeType="1"/>
          </p:cNvSpPr>
          <p:nvPr/>
        </p:nvSpPr>
        <p:spPr bwMode="auto">
          <a:xfrm>
            <a:off x="7289800" y="3198985"/>
            <a:ext cx="0" cy="1698625"/>
          </a:xfrm>
          <a:prstGeom prst="line">
            <a:avLst/>
          </a:prstGeom>
          <a:noFill/>
          <a:ln w="12700">
            <a:solidFill>
              <a:srgbClr val="A50021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109" name="Oval 189"/>
          <p:cNvSpPr>
            <a:spLocks noChangeArrowheads="1"/>
          </p:cNvSpPr>
          <p:nvPr/>
        </p:nvSpPr>
        <p:spPr bwMode="auto">
          <a:xfrm>
            <a:off x="4857750" y="400223"/>
            <a:ext cx="265113" cy="265112"/>
          </a:xfrm>
          <a:prstGeom prst="ellipse">
            <a:avLst/>
          </a:prstGeom>
          <a:gradFill rotWithShape="0">
            <a:gsLst>
              <a:gs pos="0">
                <a:srgbClr val="FF7C80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82110" name="Line 190"/>
          <p:cNvSpPr>
            <a:spLocks noChangeShapeType="1"/>
          </p:cNvSpPr>
          <p:nvPr/>
        </p:nvSpPr>
        <p:spPr bwMode="auto">
          <a:xfrm>
            <a:off x="6800850" y="3632373"/>
            <a:ext cx="0" cy="1147762"/>
          </a:xfrm>
          <a:prstGeom prst="line">
            <a:avLst/>
          </a:prstGeom>
          <a:noFill/>
          <a:ln w="38100">
            <a:solidFill>
              <a:srgbClr val="9900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82113" name="Group 193"/>
          <p:cNvGrpSpPr>
            <a:grpSpLocks/>
          </p:cNvGrpSpPr>
          <p:nvPr/>
        </p:nvGrpSpPr>
        <p:grpSpPr bwMode="auto">
          <a:xfrm>
            <a:off x="5067300" y="3392660"/>
            <a:ext cx="82550" cy="1050925"/>
            <a:chOff x="3139" y="2954"/>
            <a:chExt cx="47" cy="824"/>
          </a:xfrm>
        </p:grpSpPr>
        <p:sp>
          <p:nvSpPr>
            <p:cNvPr id="13376" name="Line 194"/>
            <p:cNvSpPr>
              <a:spLocks noChangeShapeType="1"/>
            </p:cNvSpPr>
            <p:nvPr/>
          </p:nvSpPr>
          <p:spPr bwMode="auto">
            <a:xfrm flipV="1">
              <a:off x="3163" y="3128"/>
              <a:ext cx="0" cy="650"/>
            </a:xfrm>
            <a:prstGeom prst="line">
              <a:avLst/>
            </a:prstGeom>
            <a:noFill/>
            <a:ln w="19050">
              <a:solidFill>
                <a:srgbClr val="99003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3377" name="AutoShape 195"/>
            <p:cNvSpPr>
              <a:spLocks noChangeArrowheads="1"/>
            </p:cNvSpPr>
            <p:nvPr/>
          </p:nvSpPr>
          <p:spPr bwMode="auto">
            <a:xfrm>
              <a:off x="3139" y="2954"/>
              <a:ext cx="47" cy="192"/>
            </a:xfrm>
            <a:prstGeom prst="triangle">
              <a:avLst>
                <a:gd name="adj" fmla="val 50000"/>
              </a:avLst>
            </a:prstGeom>
            <a:solidFill>
              <a:srgbClr val="A50021"/>
            </a:solidFill>
            <a:ln w="9525">
              <a:solidFill>
                <a:srgbClr val="990033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400"/>
            </a:p>
          </p:txBody>
        </p:sp>
      </p:grpSp>
      <p:sp>
        <p:nvSpPr>
          <p:cNvPr id="82116" name="Oval 196"/>
          <p:cNvSpPr>
            <a:spLocks noChangeArrowheads="1"/>
          </p:cNvSpPr>
          <p:nvPr/>
        </p:nvSpPr>
        <p:spPr bwMode="auto">
          <a:xfrm>
            <a:off x="6570663" y="3165648"/>
            <a:ext cx="1433512" cy="515937"/>
          </a:xfrm>
          <a:prstGeom prst="ellipse">
            <a:avLst/>
          </a:prstGeom>
          <a:noFill/>
          <a:ln w="28575">
            <a:solidFill>
              <a:srgbClr val="9900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CCFF">
                    <a:alpha val="50195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82117" name="Line 197"/>
          <p:cNvSpPr>
            <a:spLocks noChangeShapeType="1"/>
          </p:cNvSpPr>
          <p:nvPr/>
        </p:nvSpPr>
        <p:spPr bwMode="auto">
          <a:xfrm>
            <a:off x="6915150" y="3645073"/>
            <a:ext cx="0" cy="1147762"/>
          </a:xfrm>
          <a:prstGeom prst="line">
            <a:avLst/>
          </a:prstGeom>
          <a:noFill/>
          <a:ln w="38100">
            <a:solidFill>
              <a:srgbClr val="9900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118" name="Line 198"/>
          <p:cNvSpPr>
            <a:spLocks noChangeShapeType="1"/>
          </p:cNvSpPr>
          <p:nvPr/>
        </p:nvSpPr>
        <p:spPr bwMode="auto">
          <a:xfrm>
            <a:off x="7042150" y="3670473"/>
            <a:ext cx="0" cy="1147762"/>
          </a:xfrm>
          <a:prstGeom prst="line">
            <a:avLst/>
          </a:prstGeom>
          <a:noFill/>
          <a:ln w="38100">
            <a:solidFill>
              <a:srgbClr val="9900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119" name="Line 199"/>
          <p:cNvSpPr>
            <a:spLocks noChangeShapeType="1"/>
          </p:cNvSpPr>
          <p:nvPr/>
        </p:nvSpPr>
        <p:spPr bwMode="auto">
          <a:xfrm>
            <a:off x="7181850" y="3683173"/>
            <a:ext cx="0" cy="1147762"/>
          </a:xfrm>
          <a:prstGeom prst="line">
            <a:avLst/>
          </a:prstGeom>
          <a:noFill/>
          <a:ln w="38100">
            <a:solidFill>
              <a:srgbClr val="9900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120" name="Line 200"/>
          <p:cNvSpPr>
            <a:spLocks noChangeShapeType="1"/>
          </p:cNvSpPr>
          <p:nvPr/>
        </p:nvSpPr>
        <p:spPr bwMode="auto">
          <a:xfrm>
            <a:off x="7302500" y="3683173"/>
            <a:ext cx="0" cy="1147762"/>
          </a:xfrm>
          <a:prstGeom prst="line">
            <a:avLst/>
          </a:prstGeom>
          <a:noFill/>
          <a:ln w="38100">
            <a:solidFill>
              <a:srgbClr val="9900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121" name="Line 201"/>
          <p:cNvSpPr>
            <a:spLocks noChangeShapeType="1"/>
          </p:cNvSpPr>
          <p:nvPr/>
        </p:nvSpPr>
        <p:spPr bwMode="auto">
          <a:xfrm>
            <a:off x="7423150" y="3683173"/>
            <a:ext cx="0" cy="1147762"/>
          </a:xfrm>
          <a:prstGeom prst="line">
            <a:avLst/>
          </a:prstGeom>
          <a:noFill/>
          <a:ln w="38100">
            <a:solidFill>
              <a:srgbClr val="9900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122" name="Line 202"/>
          <p:cNvSpPr>
            <a:spLocks noChangeShapeType="1"/>
          </p:cNvSpPr>
          <p:nvPr/>
        </p:nvSpPr>
        <p:spPr bwMode="auto">
          <a:xfrm>
            <a:off x="7550150" y="3670473"/>
            <a:ext cx="0" cy="1147762"/>
          </a:xfrm>
          <a:prstGeom prst="line">
            <a:avLst/>
          </a:prstGeom>
          <a:noFill/>
          <a:ln w="38100">
            <a:solidFill>
              <a:srgbClr val="9900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123" name="Line 203"/>
          <p:cNvSpPr>
            <a:spLocks noChangeShapeType="1"/>
          </p:cNvSpPr>
          <p:nvPr/>
        </p:nvSpPr>
        <p:spPr bwMode="auto">
          <a:xfrm>
            <a:off x="7670800" y="3645073"/>
            <a:ext cx="0" cy="1147762"/>
          </a:xfrm>
          <a:prstGeom prst="line">
            <a:avLst/>
          </a:prstGeom>
          <a:noFill/>
          <a:ln w="38100">
            <a:solidFill>
              <a:srgbClr val="9900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124" name="Line 204"/>
          <p:cNvSpPr>
            <a:spLocks noChangeShapeType="1"/>
          </p:cNvSpPr>
          <p:nvPr/>
        </p:nvSpPr>
        <p:spPr bwMode="auto">
          <a:xfrm>
            <a:off x="7785100" y="3606973"/>
            <a:ext cx="0" cy="1147762"/>
          </a:xfrm>
          <a:prstGeom prst="line">
            <a:avLst/>
          </a:prstGeom>
          <a:noFill/>
          <a:ln w="38100">
            <a:solidFill>
              <a:srgbClr val="9900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125" name="Line 205"/>
          <p:cNvSpPr>
            <a:spLocks noChangeShapeType="1"/>
          </p:cNvSpPr>
          <p:nvPr/>
        </p:nvSpPr>
        <p:spPr bwMode="auto">
          <a:xfrm>
            <a:off x="7886700" y="3575223"/>
            <a:ext cx="0" cy="1147762"/>
          </a:xfrm>
          <a:prstGeom prst="line">
            <a:avLst/>
          </a:prstGeom>
          <a:noFill/>
          <a:ln w="38100">
            <a:solidFill>
              <a:srgbClr val="9900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126" name="Line 206"/>
          <p:cNvSpPr>
            <a:spLocks noChangeShapeType="1"/>
          </p:cNvSpPr>
          <p:nvPr/>
        </p:nvSpPr>
        <p:spPr bwMode="auto">
          <a:xfrm>
            <a:off x="7969250" y="3511723"/>
            <a:ext cx="0" cy="1147762"/>
          </a:xfrm>
          <a:prstGeom prst="line">
            <a:avLst/>
          </a:prstGeom>
          <a:noFill/>
          <a:ln w="38100">
            <a:solidFill>
              <a:srgbClr val="9900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127" name="Line 207"/>
          <p:cNvSpPr>
            <a:spLocks noChangeShapeType="1"/>
          </p:cNvSpPr>
          <p:nvPr/>
        </p:nvSpPr>
        <p:spPr bwMode="auto">
          <a:xfrm>
            <a:off x="8002588" y="3397423"/>
            <a:ext cx="0" cy="1147762"/>
          </a:xfrm>
          <a:prstGeom prst="line">
            <a:avLst/>
          </a:prstGeom>
          <a:noFill/>
          <a:ln w="38100">
            <a:solidFill>
              <a:srgbClr val="9900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128" name="Line 208"/>
          <p:cNvSpPr>
            <a:spLocks noChangeShapeType="1"/>
          </p:cNvSpPr>
          <p:nvPr/>
        </p:nvSpPr>
        <p:spPr bwMode="auto">
          <a:xfrm>
            <a:off x="7956550" y="3333923"/>
            <a:ext cx="0" cy="1147762"/>
          </a:xfrm>
          <a:prstGeom prst="line">
            <a:avLst/>
          </a:prstGeom>
          <a:noFill/>
          <a:ln w="38100">
            <a:solidFill>
              <a:srgbClr val="9900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129" name="Line 209"/>
          <p:cNvSpPr>
            <a:spLocks noChangeShapeType="1"/>
          </p:cNvSpPr>
          <p:nvPr/>
        </p:nvSpPr>
        <p:spPr bwMode="auto">
          <a:xfrm>
            <a:off x="7874000" y="3283123"/>
            <a:ext cx="0" cy="1147762"/>
          </a:xfrm>
          <a:prstGeom prst="line">
            <a:avLst/>
          </a:prstGeom>
          <a:noFill/>
          <a:ln w="38100">
            <a:solidFill>
              <a:srgbClr val="9900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130" name="Line 210"/>
          <p:cNvSpPr>
            <a:spLocks noChangeShapeType="1"/>
          </p:cNvSpPr>
          <p:nvPr/>
        </p:nvSpPr>
        <p:spPr bwMode="auto">
          <a:xfrm>
            <a:off x="7791450" y="3238673"/>
            <a:ext cx="0" cy="1147762"/>
          </a:xfrm>
          <a:prstGeom prst="line">
            <a:avLst/>
          </a:prstGeom>
          <a:noFill/>
          <a:ln w="38100">
            <a:solidFill>
              <a:srgbClr val="9900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131" name="Line 211"/>
          <p:cNvSpPr>
            <a:spLocks noChangeShapeType="1"/>
          </p:cNvSpPr>
          <p:nvPr/>
        </p:nvSpPr>
        <p:spPr bwMode="auto">
          <a:xfrm>
            <a:off x="7702550" y="3206923"/>
            <a:ext cx="0" cy="1147762"/>
          </a:xfrm>
          <a:prstGeom prst="line">
            <a:avLst/>
          </a:prstGeom>
          <a:noFill/>
          <a:ln w="38100">
            <a:solidFill>
              <a:srgbClr val="9900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132" name="Line 212"/>
          <p:cNvSpPr>
            <a:spLocks noChangeShapeType="1"/>
          </p:cNvSpPr>
          <p:nvPr/>
        </p:nvSpPr>
        <p:spPr bwMode="auto">
          <a:xfrm>
            <a:off x="7607300" y="3194223"/>
            <a:ext cx="0" cy="1147762"/>
          </a:xfrm>
          <a:prstGeom prst="line">
            <a:avLst/>
          </a:prstGeom>
          <a:noFill/>
          <a:ln w="38100">
            <a:solidFill>
              <a:srgbClr val="9900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133" name="Line 213"/>
          <p:cNvSpPr>
            <a:spLocks noChangeShapeType="1"/>
          </p:cNvSpPr>
          <p:nvPr/>
        </p:nvSpPr>
        <p:spPr bwMode="auto">
          <a:xfrm>
            <a:off x="7512050" y="3181523"/>
            <a:ext cx="0" cy="1147762"/>
          </a:xfrm>
          <a:prstGeom prst="line">
            <a:avLst/>
          </a:prstGeom>
          <a:noFill/>
          <a:ln w="38100">
            <a:solidFill>
              <a:srgbClr val="9900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134" name="Line 214"/>
          <p:cNvSpPr>
            <a:spLocks noChangeShapeType="1"/>
          </p:cNvSpPr>
          <p:nvPr/>
        </p:nvSpPr>
        <p:spPr bwMode="auto">
          <a:xfrm>
            <a:off x="7416800" y="3175173"/>
            <a:ext cx="0" cy="1147762"/>
          </a:xfrm>
          <a:prstGeom prst="line">
            <a:avLst/>
          </a:prstGeom>
          <a:noFill/>
          <a:ln w="38100">
            <a:solidFill>
              <a:srgbClr val="9900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135" name="Line 215"/>
          <p:cNvSpPr>
            <a:spLocks noChangeShapeType="1"/>
          </p:cNvSpPr>
          <p:nvPr/>
        </p:nvSpPr>
        <p:spPr bwMode="auto">
          <a:xfrm>
            <a:off x="7315200" y="3162473"/>
            <a:ext cx="0" cy="1147762"/>
          </a:xfrm>
          <a:prstGeom prst="line">
            <a:avLst/>
          </a:prstGeom>
          <a:noFill/>
          <a:ln w="38100">
            <a:solidFill>
              <a:srgbClr val="9900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136" name="Line 216"/>
          <p:cNvSpPr>
            <a:spLocks noChangeShapeType="1"/>
          </p:cNvSpPr>
          <p:nvPr/>
        </p:nvSpPr>
        <p:spPr bwMode="auto">
          <a:xfrm>
            <a:off x="7219950" y="3162473"/>
            <a:ext cx="0" cy="1147762"/>
          </a:xfrm>
          <a:prstGeom prst="line">
            <a:avLst/>
          </a:prstGeom>
          <a:noFill/>
          <a:ln w="38100">
            <a:solidFill>
              <a:srgbClr val="9900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137" name="Line 217"/>
          <p:cNvSpPr>
            <a:spLocks noChangeShapeType="1"/>
          </p:cNvSpPr>
          <p:nvPr/>
        </p:nvSpPr>
        <p:spPr bwMode="auto">
          <a:xfrm>
            <a:off x="7124700" y="3168823"/>
            <a:ext cx="0" cy="1147762"/>
          </a:xfrm>
          <a:prstGeom prst="line">
            <a:avLst/>
          </a:prstGeom>
          <a:noFill/>
          <a:ln w="38100">
            <a:solidFill>
              <a:srgbClr val="9900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138" name="Line 218"/>
          <p:cNvSpPr>
            <a:spLocks noChangeShapeType="1"/>
          </p:cNvSpPr>
          <p:nvPr/>
        </p:nvSpPr>
        <p:spPr bwMode="auto">
          <a:xfrm>
            <a:off x="7016750" y="3175173"/>
            <a:ext cx="0" cy="1147762"/>
          </a:xfrm>
          <a:prstGeom prst="line">
            <a:avLst/>
          </a:prstGeom>
          <a:noFill/>
          <a:ln w="38100">
            <a:solidFill>
              <a:srgbClr val="9900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139" name="Line 219"/>
          <p:cNvSpPr>
            <a:spLocks noChangeShapeType="1"/>
          </p:cNvSpPr>
          <p:nvPr/>
        </p:nvSpPr>
        <p:spPr bwMode="auto">
          <a:xfrm>
            <a:off x="6908800" y="3206923"/>
            <a:ext cx="0" cy="1147762"/>
          </a:xfrm>
          <a:prstGeom prst="line">
            <a:avLst/>
          </a:prstGeom>
          <a:noFill/>
          <a:ln w="38100">
            <a:solidFill>
              <a:srgbClr val="9900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140" name="Line 220"/>
          <p:cNvSpPr>
            <a:spLocks noChangeShapeType="1"/>
          </p:cNvSpPr>
          <p:nvPr/>
        </p:nvSpPr>
        <p:spPr bwMode="auto">
          <a:xfrm>
            <a:off x="6807200" y="3232323"/>
            <a:ext cx="0" cy="1147762"/>
          </a:xfrm>
          <a:prstGeom prst="line">
            <a:avLst/>
          </a:prstGeom>
          <a:noFill/>
          <a:ln w="38100">
            <a:solidFill>
              <a:srgbClr val="9900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141" name="Line 221"/>
          <p:cNvSpPr>
            <a:spLocks noChangeShapeType="1"/>
          </p:cNvSpPr>
          <p:nvPr/>
        </p:nvSpPr>
        <p:spPr bwMode="auto">
          <a:xfrm>
            <a:off x="6718300" y="3270423"/>
            <a:ext cx="0" cy="1147762"/>
          </a:xfrm>
          <a:prstGeom prst="line">
            <a:avLst/>
          </a:prstGeom>
          <a:noFill/>
          <a:ln w="38100">
            <a:solidFill>
              <a:srgbClr val="9900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142" name="Line 222"/>
          <p:cNvSpPr>
            <a:spLocks noChangeShapeType="1"/>
          </p:cNvSpPr>
          <p:nvPr/>
        </p:nvSpPr>
        <p:spPr bwMode="auto">
          <a:xfrm>
            <a:off x="6629400" y="3327573"/>
            <a:ext cx="0" cy="1147762"/>
          </a:xfrm>
          <a:prstGeom prst="line">
            <a:avLst/>
          </a:prstGeom>
          <a:noFill/>
          <a:ln w="38100">
            <a:solidFill>
              <a:srgbClr val="9900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143" name="Line 223"/>
          <p:cNvSpPr>
            <a:spLocks noChangeShapeType="1"/>
          </p:cNvSpPr>
          <p:nvPr/>
        </p:nvSpPr>
        <p:spPr bwMode="auto">
          <a:xfrm>
            <a:off x="6565900" y="3403773"/>
            <a:ext cx="0" cy="1147762"/>
          </a:xfrm>
          <a:prstGeom prst="line">
            <a:avLst/>
          </a:prstGeom>
          <a:noFill/>
          <a:ln w="38100">
            <a:solidFill>
              <a:srgbClr val="9900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144" name="Line 224"/>
          <p:cNvSpPr>
            <a:spLocks noChangeShapeType="1"/>
          </p:cNvSpPr>
          <p:nvPr/>
        </p:nvSpPr>
        <p:spPr bwMode="auto">
          <a:xfrm>
            <a:off x="6616700" y="3518073"/>
            <a:ext cx="0" cy="1147762"/>
          </a:xfrm>
          <a:prstGeom prst="line">
            <a:avLst/>
          </a:prstGeom>
          <a:noFill/>
          <a:ln w="38100">
            <a:solidFill>
              <a:srgbClr val="9900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145" name="Line 225"/>
          <p:cNvSpPr>
            <a:spLocks noChangeShapeType="1"/>
          </p:cNvSpPr>
          <p:nvPr/>
        </p:nvSpPr>
        <p:spPr bwMode="auto">
          <a:xfrm>
            <a:off x="6699250" y="3562523"/>
            <a:ext cx="0" cy="1147762"/>
          </a:xfrm>
          <a:prstGeom prst="line">
            <a:avLst/>
          </a:prstGeom>
          <a:noFill/>
          <a:ln w="38100">
            <a:solidFill>
              <a:srgbClr val="9900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146" name="Oval 226"/>
          <p:cNvSpPr>
            <a:spLocks noChangeArrowheads="1"/>
          </p:cNvSpPr>
          <p:nvPr/>
        </p:nvSpPr>
        <p:spPr bwMode="auto">
          <a:xfrm>
            <a:off x="6562725" y="4314998"/>
            <a:ext cx="1433513" cy="515937"/>
          </a:xfrm>
          <a:prstGeom prst="ellipse">
            <a:avLst/>
          </a:prstGeom>
          <a:noFill/>
          <a:ln w="28575">
            <a:solidFill>
              <a:srgbClr val="9900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99CCFF">
                    <a:alpha val="50195"/>
                  </a:srgb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82147" name="Line 227"/>
          <p:cNvSpPr>
            <a:spLocks noChangeShapeType="1"/>
          </p:cNvSpPr>
          <p:nvPr/>
        </p:nvSpPr>
        <p:spPr bwMode="auto">
          <a:xfrm flipV="1">
            <a:off x="7315200" y="2752897"/>
            <a:ext cx="385763" cy="5175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148" name="Text Box 228"/>
          <p:cNvSpPr txBox="1">
            <a:spLocks noChangeArrowheads="1"/>
          </p:cNvSpPr>
          <p:nvPr/>
        </p:nvSpPr>
        <p:spPr bwMode="auto">
          <a:xfrm>
            <a:off x="7696200" y="2446510"/>
            <a:ext cx="8953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defRPr/>
            </a:pPr>
            <a:r>
              <a:rPr kumimoji="1" lang="zh-CN" altLang="en-US" sz="2800">
                <a:solidFill>
                  <a:srgbClr val="99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itchFamily="2" charset="-122"/>
              </a:rPr>
              <a:t>轴线</a:t>
            </a:r>
          </a:p>
        </p:txBody>
      </p:sp>
      <p:sp>
        <p:nvSpPr>
          <p:cNvPr id="82149" name="Line 229"/>
          <p:cNvSpPr>
            <a:spLocks noChangeShapeType="1"/>
          </p:cNvSpPr>
          <p:nvPr/>
        </p:nvSpPr>
        <p:spPr bwMode="auto">
          <a:xfrm flipH="1">
            <a:off x="6200775" y="4180060"/>
            <a:ext cx="582613" cy="6000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150" name="Text Box 230"/>
          <p:cNvSpPr txBox="1">
            <a:spLocks noChangeArrowheads="1"/>
          </p:cNvSpPr>
          <p:nvPr/>
        </p:nvSpPr>
        <p:spPr bwMode="auto">
          <a:xfrm>
            <a:off x="5668963" y="4649960"/>
            <a:ext cx="8953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defRPr/>
            </a:pPr>
            <a:r>
              <a:rPr kumimoji="1" lang="zh-CN" altLang="en-US" sz="2800">
                <a:solidFill>
                  <a:srgbClr val="99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itchFamily="2" charset="-122"/>
              </a:rPr>
              <a:t>母线</a:t>
            </a:r>
          </a:p>
        </p:txBody>
      </p:sp>
      <p:sp>
        <p:nvSpPr>
          <p:cNvPr id="82151" name="Line 231"/>
          <p:cNvSpPr>
            <a:spLocks noChangeShapeType="1"/>
          </p:cNvSpPr>
          <p:nvPr/>
        </p:nvSpPr>
        <p:spPr bwMode="auto">
          <a:xfrm>
            <a:off x="7543800" y="4445173"/>
            <a:ext cx="352425" cy="47783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82152" name="Text Box 232"/>
          <p:cNvSpPr txBox="1">
            <a:spLocks noChangeArrowheads="1"/>
          </p:cNvSpPr>
          <p:nvPr/>
        </p:nvSpPr>
        <p:spPr bwMode="auto">
          <a:xfrm>
            <a:off x="7585075" y="4792835"/>
            <a:ext cx="8953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defRPr/>
            </a:pPr>
            <a:r>
              <a:rPr kumimoji="1" lang="zh-CN" altLang="en-US" sz="2800">
                <a:solidFill>
                  <a:srgbClr val="99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itchFamily="2" charset="-122"/>
              </a:rPr>
              <a:t>素线</a:t>
            </a:r>
          </a:p>
        </p:txBody>
      </p:sp>
      <p:sp>
        <p:nvSpPr>
          <p:cNvPr id="71" name="Text Box 181"/>
          <p:cNvSpPr txBox="1">
            <a:spLocks noChangeArrowheads="1"/>
          </p:cNvSpPr>
          <p:nvPr/>
        </p:nvSpPr>
        <p:spPr bwMode="auto">
          <a:xfrm>
            <a:off x="111605" y="5418531"/>
            <a:ext cx="8567080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b="1" dirty="0" smtClean="0">
                <a:latin typeface="黑体" pitchFamily="2" charset="-122"/>
                <a:ea typeface="黑体" pitchFamily="2" charset="-122"/>
                <a:sym typeface="Monotype Sorts" pitchFamily="2" charset="2"/>
              </a:rPr>
              <a:t>思考：</a:t>
            </a:r>
            <a:r>
              <a:rPr lang="zh-CN" altLang="en-US" sz="2800" b="1" dirty="0">
                <a:latin typeface="黑体" pitchFamily="2" charset="-122"/>
                <a:ea typeface="黑体" pitchFamily="2" charset="-122"/>
                <a:sym typeface="Monotype Sorts" pitchFamily="2" charset="2"/>
              </a:rPr>
              <a:t>圆柱面</a:t>
            </a:r>
            <a:r>
              <a:rPr lang="zh-CN" altLang="en-US" sz="2800" b="1" dirty="0" smtClean="0">
                <a:latin typeface="黑体" pitchFamily="2" charset="-122"/>
                <a:ea typeface="黑体" pitchFamily="2" charset="-122"/>
              </a:rPr>
              <a:t>上能做出直线吗？圆柱面上能做圆吗？</a:t>
            </a:r>
            <a:endParaRPr lang="zh-CN" altLang="en-US" sz="2800" b="1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72" name="Text Box 181"/>
          <p:cNvSpPr txBox="1">
            <a:spLocks noChangeArrowheads="1"/>
          </p:cNvSpPr>
          <p:nvPr/>
        </p:nvSpPr>
        <p:spPr bwMode="auto">
          <a:xfrm>
            <a:off x="83381" y="5841867"/>
            <a:ext cx="8060494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b="1" dirty="0">
                <a:latin typeface="黑体" pitchFamily="2" charset="-122"/>
                <a:ea typeface="黑体" pitchFamily="2" charset="-122"/>
                <a:sym typeface="Monotype Sorts" pitchFamily="2" charset="2"/>
              </a:rPr>
              <a:t>结论</a:t>
            </a:r>
            <a:r>
              <a:rPr lang="zh-CN" altLang="en-US" sz="2800" b="1" dirty="0" smtClean="0">
                <a:latin typeface="黑体" pitchFamily="2" charset="-122"/>
                <a:ea typeface="黑体" pitchFamily="2" charset="-122"/>
                <a:sym typeface="Monotype Sorts" pitchFamily="2" charset="2"/>
              </a:rPr>
              <a:t>：拉伸而成的回转面上包含</a:t>
            </a:r>
            <a:r>
              <a:rPr lang="zh-CN" altLang="en-US" sz="2800" b="1" dirty="0" smtClean="0">
                <a:latin typeface="黑体" pitchFamily="2" charset="-122"/>
                <a:ea typeface="黑体" pitchFamily="2" charset="-122"/>
              </a:rPr>
              <a:t>直线；</a:t>
            </a:r>
            <a:endParaRPr lang="en-US" altLang="zh-CN" sz="2800" b="1" dirty="0" smtClean="0"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b="1" dirty="0">
                <a:latin typeface="黑体" pitchFamily="2" charset="-122"/>
                <a:ea typeface="黑体" pitchFamily="2" charset="-122"/>
              </a:rPr>
              <a:t> </a:t>
            </a:r>
            <a:r>
              <a:rPr lang="en-US" altLang="zh-CN" sz="2800" b="1" dirty="0" smtClean="0">
                <a:latin typeface="黑体" pitchFamily="2" charset="-122"/>
                <a:ea typeface="黑体" pitchFamily="2" charset="-122"/>
              </a:rPr>
              <a:t>     </a:t>
            </a:r>
            <a:r>
              <a:rPr lang="zh-CN" altLang="en-US" sz="2800" b="1" dirty="0" smtClean="0">
                <a:latin typeface="黑体" pitchFamily="2" charset="-122"/>
                <a:ea typeface="黑体" pitchFamily="2" charset="-122"/>
              </a:rPr>
              <a:t>旋转而成的回转面上包含圆。</a:t>
            </a:r>
            <a:endParaRPr lang="zh-CN" altLang="en-US" sz="2800" b="1" dirty="0">
              <a:latin typeface="黑体" pitchFamily="2" charset="-122"/>
              <a:ea typeface="黑体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2342011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20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820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7" dur="500"/>
                                        <p:tgtEl>
                                          <p:spTgt spid="820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0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820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0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820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 nodeType="clickPar">
                      <p:stCondLst>
                        <p:cond delay="indefinite"/>
                      </p:stCondLst>
                      <p:childTnLst>
                        <p:par>
                          <p:cTn id="3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820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2" dur="500"/>
                                        <p:tgtEl>
                                          <p:spTgt spid="82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7" dur="500"/>
                                        <p:tgtEl>
                                          <p:spTgt spid="821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 nodeType="clickPar">
                      <p:stCondLst>
                        <p:cond delay="indefinite"/>
                      </p:stCondLst>
                      <p:childTnLst>
                        <p:par>
                          <p:cTn id="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0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52" dur="300"/>
                                        <p:tgtEl>
                                          <p:spTgt spid="820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7" dur="300"/>
                                        <p:tgtEl>
                                          <p:spTgt spid="821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 nodeType="clickPar">
                      <p:stCondLst>
                        <p:cond delay="indefinite"/>
                      </p:stCondLst>
                      <p:childTnLst>
                        <p:par>
                          <p:cTn id="5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0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2" dur="500"/>
                                        <p:tgtEl>
                                          <p:spTgt spid="821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1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1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821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9" dur="300"/>
                                        <p:tgtEl>
                                          <p:spTgt spid="821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0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4" dur="500"/>
                                        <p:tgtEl>
                                          <p:spTgt spid="820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821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821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9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1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1" fill="hold" nodeType="afterGroup">
                            <p:stCondLst>
                              <p:cond delay="1100"/>
                            </p:stCondLst>
                            <p:childTnLst>
                              <p:par>
                                <p:cTn id="102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1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4" fill="hold" nodeType="afterGroup">
                            <p:stCondLst>
                              <p:cond delay="1700"/>
                            </p:stCondLst>
                            <p:childTnLst>
                              <p:par>
                                <p:cTn id="105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1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 nodeType="afterGroup">
                            <p:stCondLst>
                              <p:cond delay="2300"/>
                            </p:stCondLst>
                            <p:childTnLst>
                              <p:par>
                                <p:cTn id="108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0" fill="hold" nodeType="afterGroup">
                            <p:stCondLst>
                              <p:cond delay="2900"/>
                            </p:stCondLst>
                            <p:childTnLst>
                              <p:par>
                                <p:cTn id="111" presetID="1" presetClass="entr" presetSubtype="0" fill="hold" grpId="0" nodeType="afterEffect">
                                  <p:stCondLst>
                                    <p:cond delay="10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1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 nodeType="afterGroup">
                            <p:stCondLst>
                              <p:cond delay="3500"/>
                            </p:stCondLst>
                            <p:childTnLst>
                              <p:par>
                                <p:cTn id="114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1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6" fill="hold" nodeType="afterGroup">
                            <p:stCondLst>
                              <p:cond delay="4500"/>
                            </p:stCondLst>
                            <p:childTnLst>
                              <p:par>
                                <p:cTn id="117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9" fill="hold" nodeType="afterGroup">
                            <p:stCondLst>
                              <p:cond delay="5500"/>
                            </p:stCondLst>
                            <p:childTnLst>
                              <p:par>
                                <p:cTn id="120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1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2" fill="hold" nodeType="afterGroup">
                            <p:stCondLst>
                              <p:cond delay="6500"/>
                            </p:stCondLst>
                            <p:childTnLst>
                              <p:par>
                                <p:cTn id="123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1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 nodeType="afterGroup">
                            <p:stCondLst>
                              <p:cond delay="7500"/>
                            </p:stCondLst>
                            <p:childTnLst>
                              <p:par>
                                <p:cTn id="126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8" fill="hold" nodeType="afterGroup">
                            <p:stCondLst>
                              <p:cond delay="8500"/>
                            </p:stCondLst>
                            <p:childTnLst>
                              <p:par>
                                <p:cTn id="129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1" fill="hold" nodeType="afterGroup">
                            <p:stCondLst>
                              <p:cond delay="9500"/>
                            </p:stCondLst>
                            <p:childTnLst>
                              <p:par>
                                <p:cTn id="132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4" fill="hold" nodeType="afterGroup">
                            <p:stCondLst>
                              <p:cond delay="10500"/>
                            </p:stCondLst>
                            <p:childTnLst>
                              <p:par>
                                <p:cTn id="135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7" fill="hold" nodeType="afterGroup">
                            <p:stCondLst>
                              <p:cond delay="11500"/>
                            </p:stCondLst>
                            <p:childTnLst>
                              <p:par>
                                <p:cTn id="13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1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 nodeType="afterGroup">
                            <p:stCondLst>
                              <p:cond delay="12500"/>
                            </p:stCondLst>
                            <p:childTnLst>
                              <p:par>
                                <p:cTn id="141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1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3" fill="hold" nodeType="afterGroup">
                            <p:stCondLst>
                              <p:cond delay="13500"/>
                            </p:stCondLst>
                            <p:childTnLst>
                              <p:par>
                                <p:cTn id="144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1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6" fill="hold" nodeType="afterGroup">
                            <p:stCondLst>
                              <p:cond delay="14500"/>
                            </p:stCondLst>
                            <p:childTnLst>
                              <p:par>
                                <p:cTn id="147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4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1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9" fill="hold" nodeType="afterGroup">
                            <p:stCondLst>
                              <p:cond delay="15500"/>
                            </p:stCondLst>
                            <p:childTnLst>
                              <p:par>
                                <p:cTn id="150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 nodeType="afterGroup">
                            <p:stCondLst>
                              <p:cond delay="16500"/>
                            </p:stCondLst>
                            <p:childTnLst>
                              <p:par>
                                <p:cTn id="153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5" fill="hold" nodeType="afterGroup">
                            <p:stCondLst>
                              <p:cond delay="17500"/>
                            </p:stCondLst>
                            <p:childTnLst>
                              <p:par>
                                <p:cTn id="156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1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8" fill="hold" nodeType="afterGroup">
                            <p:stCondLst>
                              <p:cond delay="18500"/>
                            </p:stCondLst>
                            <p:childTnLst>
                              <p:par>
                                <p:cTn id="159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1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1" fill="hold" nodeType="afterGroup">
                            <p:stCondLst>
                              <p:cond delay="19500"/>
                            </p:stCondLst>
                            <p:childTnLst>
                              <p:par>
                                <p:cTn id="162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1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4" fill="hold" nodeType="afterGroup">
                            <p:stCondLst>
                              <p:cond delay="20500"/>
                            </p:stCondLst>
                            <p:childTnLst>
                              <p:par>
                                <p:cTn id="165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1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 nodeType="afterGroup">
                            <p:stCondLst>
                              <p:cond delay="21500"/>
                            </p:stCondLst>
                            <p:childTnLst>
                              <p:par>
                                <p:cTn id="168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1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0" fill="hold" nodeType="afterGroup">
                            <p:stCondLst>
                              <p:cond delay="22500"/>
                            </p:stCondLst>
                            <p:childTnLst>
                              <p:par>
                                <p:cTn id="171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3" fill="hold" nodeType="afterGroup">
                            <p:stCondLst>
                              <p:cond delay="23500"/>
                            </p:stCondLst>
                            <p:childTnLst>
                              <p:par>
                                <p:cTn id="174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 nodeType="afterGroup">
                            <p:stCondLst>
                              <p:cond delay="24500"/>
                            </p:stCondLst>
                            <p:childTnLst>
                              <p:par>
                                <p:cTn id="177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9" fill="hold" nodeType="afterGroup">
                            <p:stCondLst>
                              <p:cond delay="25500"/>
                            </p:stCondLst>
                            <p:childTnLst>
                              <p:par>
                                <p:cTn id="180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2" fill="hold" nodeType="afterGroup">
                            <p:stCondLst>
                              <p:cond delay="26500"/>
                            </p:stCondLst>
                            <p:childTnLst>
                              <p:par>
                                <p:cTn id="183" presetID="1" presetClass="entr" presetSubtype="0" fill="hold" grpId="0" nodeType="after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5" fill="hold" nodeType="afterGroup">
                            <p:stCondLst>
                              <p:cond delay="27500"/>
                            </p:stCondLst>
                            <p:childTnLst>
                              <p:par>
                                <p:cTn id="186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8" fill="hold" nodeType="afterGroup">
                            <p:stCondLst>
                              <p:cond delay="28000"/>
                            </p:stCondLst>
                            <p:childTnLst>
                              <p:par>
                                <p:cTn id="18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82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1" fill="hold" nodeType="clickPar">
                      <p:stCondLst>
                        <p:cond delay="indefinite"/>
                      </p:stCondLst>
                      <p:childTnLst>
                        <p:par>
                          <p:cTn id="1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95" dur="500"/>
                                        <p:tgtEl>
                                          <p:spTgt spid="82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97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99" dur="500"/>
                                        <p:tgtEl>
                                          <p:spTgt spid="8214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0" fill="hold" nodeType="clickPar">
                      <p:stCondLst>
                        <p:cond delay="indefinite"/>
                      </p:stCondLst>
                      <p:childTnLst>
                        <p:par>
                          <p:cTn id="2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2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4" dur="500"/>
                                        <p:tgtEl>
                                          <p:spTgt spid="82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0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08" dur="500"/>
                                        <p:tgtEl>
                                          <p:spTgt spid="821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 nodeType="clickPar">
                      <p:stCondLst>
                        <p:cond delay="indefinite"/>
                      </p:stCondLst>
                      <p:childTnLst>
                        <p:par>
                          <p:cTn id="2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3" dur="500"/>
                                        <p:tgtEl>
                                          <p:spTgt spid="82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1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17" dur="500"/>
                                        <p:tgtEl>
                                          <p:spTgt spid="82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8" fill="hold">
                      <p:stCondLst>
                        <p:cond delay="indefinite"/>
                      </p:stCondLst>
                      <p:childTnLst>
                        <p:par>
                          <p:cTn id="219" fill="hold">
                            <p:stCondLst>
                              <p:cond delay="0"/>
                            </p:stCondLst>
                            <p:childTnLst>
                              <p:par>
                                <p:cTn id="22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2" dur="300"/>
                                        <p:tgtEl>
                                          <p:spTgt spid="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3" fill="hold">
                      <p:stCondLst>
                        <p:cond delay="indefinite"/>
                      </p:stCondLst>
                      <p:childTnLst>
                        <p:par>
                          <p:cTn id="224" fill="hold">
                            <p:stCondLst>
                              <p:cond delay="0"/>
                            </p:stCondLst>
                            <p:childTnLst>
                              <p:par>
                                <p:cTn id="22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7" dur="300"/>
                                        <p:tgtEl>
                                          <p:spTgt spid="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2084" grpId="0" animBg="1"/>
      <p:bldP spid="82092" grpId="0" build="p" autoUpdateAnimBg="0" advAuto="0"/>
      <p:bldP spid="82093" grpId="0"/>
      <p:bldP spid="82094" grpId="0" autoUpdateAnimBg="0"/>
      <p:bldP spid="82095" grpId="0" autoUpdateAnimBg="0"/>
      <p:bldP spid="82096" grpId="0" autoUpdateAnimBg="0"/>
      <p:bldP spid="82097" grpId="0" autoUpdateAnimBg="0"/>
      <p:bldP spid="82098" grpId="0" animBg="1"/>
      <p:bldP spid="82099" grpId="0" animBg="1"/>
      <p:bldP spid="82100" grpId="0" animBg="1"/>
      <p:bldP spid="82101" grpId="0" autoUpdateAnimBg="0"/>
      <p:bldP spid="82102" grpId="0" animBg="1"/>
      <p:bldP spid="82103" grpId="0" autoUpdateAnimBg="0"/>
      <p:bldP spid="82104" grpId="0" animBg="1"/>
      <p:bldP spid="82105" grpId="0" animBg="1"/>
      <p:bldP spid="82106" grpId="0" autoUpdateAnimBg="0"/>
      <p:bldP spid="82107" grpId="0" animBg="1"/>
      <p:bldP spid="82109" grpId="0" animBg="1"/>
      <p:bldP spid="82110" grpId="0" animBg="1"/>
      <p:bldP spid="82116" grpId="0" animBg="1"/>
      <p:bldP spid="82117" grpId="0" animBg="1"/>
      <p:bldP spid="82118" grpId="0" animBg="1"/>
      <p:bldP spid="82119" grpId="0" animBg="1"/>
      <p:bldP spid="82120" grpId="0" animBg="1"/>
      <p:bldP spid="82121" grpId="0" animBg="1"/>
      <p:bldP spid="82122" grpId="0" animBg="1"/>
      <p:bldP spid="82123" grpId="0" animBg="1"/>
      <p:bldP spid="82124" grpId="0" animBg="1"/>
      <p:bldP spid="82125" grpId="0" animBg="1"/>
      <p:bldP spid="82126" grpId="0" animBg="1"/>
      <p:bldP spid="82127" grpId="0" animBg="1"/>
      <p:bldP spid="82128" grpId="0" animBg="1"/>
      <p:bldP spid="82129" grpId="0" animBg="1"/>
      <p:bldP spid="82130" grpId="0" animBg="1"/>
      <p:bldP spid="82131" grpId="0" animBg="1"/>
      <p:bldP spid="82132" grpId="0" animBg="1"/>
      <p:bldP spid="82133" grpId="0" animBg="1"/>
      <p:bldP spid="82134" grpId="0" animBg="1"/>
      <p:bldP spid="82135" grpId="0" animBg="1"/>
      <p:bldP spid="82136" grpId="0" animBg="1"/>
      <p:bldP spid="82137" grpId="0" animBg="1"/>
      <p:bldP spid="82138" grpId="0" animBg="1"/>
      <p:bldP spid="82139" grpId="0" animBg="1"/>
      <p:bldP spid="82140" grpId="0" animBg="1"/>
      <p:bldP spid="82141" grpId="0" animBg="1"/>
      <p:bldP spid="82142" grpId="0" animBg="1"/>
      <p:bldP spid="82143" grpId="0" animBg="1"/>
      <p:bldP spid="82144" grpId="0" animBg="1"/>
      <p:bldP spid="82145" grpId="0" animBg="1"/>
      <p:bldP spid="82146" grpId="0" animBg="1"/>
      <p:bldP spid="82147" grpId="0" animBg="1"/>
      <p:bldP spid="82148" grpId="0" build="p" autoUpdateAnimBg="0" advAuto="0"/>
      <p:bldP spid="82149" grpId="0" animBg="1"/>
      <p:bldP spid="82150" grpId="0" build="p" autoUpdateAnimBg="0" advAuto="0"/>
      <p:bldP spid="82151" grpId="0" animBg="1"/>
      <p:bldP spid="82152" grpId="0" autoUpdateAnimBg="0"/>
      <p:bldP spid="71" grpId="0" autoUpdateAnimBg="0"/>
      <p:bldP spid="72" grpId="0" autoUpdateAnimBg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399C5BA2-FC5A-452C-BC75-A38AC462816A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12</a:t>
            </a:fld>
            <a:endParaRPr lang="en-US" altLang="zh-CN" sz="1400" smtClean="0">
              <a:solidFill>
                <a:schemeClr val="bg2"/>
              </a:solidFill>
            </a:endParaRPr>
          </a:p>
        </p:txBody>
      </p:sp>
      <p:grpSp>
        <p:nvGrpSpPr>
          <p:cNvPr id="14339" name="Group 2"/>
          <p:cNvGrpSpPr>
            <a:grpSpLocks/>
          </p:cNvGrpSpPr>
          <p:nvPr/>
        </p:nvGrpSpPr>
        <p:grpSpPr bwMode="auto">
          <a:xfrm>
            <a:off x="527050" y="1509713"/>
            <a:ext cx="3498850" cy="3376612"/>
            <a:chOff x="219" y="1234"/>
            <a:chExt cx="2204" cy="2127"/>
          </a:xfrm>
        </p:grpSpPr>
        <p:grpSp>
          <p:nvGrpSpPr>
            <p:cNvPr id="14420" name="Group 3"/>
            <p:cNvGrpSpPr>
              <a:grpSpLocks/>
            </p:cNvGrpSpPr>
            <p:nvPr/>
          </p:nvGrpSpPr>
          <p:grpSpPr bwMode="auto">
            <a:xfrm>
              <a:off x="219" y="1234"/>
              <a:ext cx="2204" cy="2107"/>
              <a:chOff x="219" y="1234"/>
              <a:chExt cx="2204" cy="2107"/>
            </a:xfrm>
          </p:grpSpPr>
          <p:sp>
            <p:nvSpPr>
              <p:cNvPr id="14422" name="Freeform 4"/>
              <p:cNvSpPr>
                <a:spLocks/>
              </p:cNvSpPr>
              <p:nvPr/>
            </p:nvSpPr>
            <p:spPr bwMode="auto">
              <a:xfrm>
                <a:off x="263" y="2719"/>
                <a:ext cx="2147" cy="622"/>
              </a:xfrm>
              <a:custGeom>
                <a:avLst/>
                <a:gdLst>
                  <a:gd name="T0" fmla="*/ 1125 w 2147"/>
                  <a:gd name="T1" fmla="*/ 0 h 622"/>
                  <a:gd name="T2" fmla="*/ 0 w 2147"/>
                  <a:gd name="T3" fmla="*/ 415 h 622"/>
                  <a:gd name="T4" fmla="*/ 1058 w 2147"/>
                  <a:gd name="T5" fmla="*/ 622 h 622"/>
                  <a:gd name="T6" fmla="*/ 2147 w 2147"/>
                  <a:gd name="T7" fmla="*/ 255 h 622"/>
                  <a:gd name="T8" fmla="*/ 1125 w 2147"/>
                  <a:gd name="T9" fmla="*/ 0 h 62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147" h="622">
                    <a:moveTo>
                      <a:pt x="1125" y="0"/>
                    </a:moveTo>
                    <a:lnTo>
                      <a:pt x="0" y="415"/>
                    </a:lnTo>
                    <a:lnTo>
                      <a:pt x="1058" y="622"/>
                    </a:lnTo>
                    <a:lnTo>
                      <a:pt x="2147" y="255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rgbClr val="CCFF99">
                  <a:alpha val="50195"/>
                </a:srgbClr>
              </a:solidFill>
              <a:ln w="28575" cmpd="sng">
                <a:solidFill>
                  <a:srgbClr val="CCFF99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423" name="Freeform 5"/>
              <p:cNvSpPr>
                <a:spLocks/>
              </p:cNvSpPr>
              <p:nvPr/>
            </p:nvSpPr>
            <p:spPr bwMode="auto">
              <a:xfrm>
                <a:off x="1367" y="1234"/>
                <a:ext cx="1056" cy="1744"/>
              </a:xfrm>
              <a:custGeom>
                <a:avLst/>
                <a:gdLst>
                  <a:gd name="T0" fmla="*/ 0 w 1056"/>
                  <a:gd name="T1" fmla="*/ 0 h 2156"/>
                  <a:gd name="T2" fmla="*/ 0 w 1056"/>
                  <a:gd name="T3" fmla="*/ 959 h 2156"/>
                  <a:gd name="T4" fmla="*/ 1056 w 1056"/>
                  <a:gd name="T5" fmla="*/ 1141 h 2156"/>
                  <a:gd name="T6" fmla="*/ 1056 w 1056"/>
                  <a:gd name="T7" fmla="*/ 183 h 2156"/>
                  <a:gd name="T8" fmla="*/ 0 w 1056"/>
                  <a:gd name="T9" fmla="*/ 0 h 21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56" h="2156">
                    <a:moveTo>
                      <a:pt x="0" y="0"/>
                    </a:moveTo>
                    <a:lnTo>
                      <a:pt x="0" y="1811"/>
                    </a:lnTo>
                    <a:lnTo>
                      <a:pt x="1056" y="2156"/>
                    </a:lnTo>
                    <a:lnTo>
                      <a:pt x="1056" y="34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99">
                  <a:alpha val="50195"/>
                </a:srgbClr>
              </a:solidFill>
              <a:ln w="28575" cmpd="sng">
                <a:solidFill>
                  <a:srgbClr val="FFFF99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424" name="Freeform 6"/>
              <p:cNvSpPr>
                <a:spLocks/>
              </p:cNvSpPr>
              <p:nvPr/>
            </p:nvSpPr>
            <p:spPr bwMode="auto">
              <a:xfrm>
                <a:off x="255" y="1236"/>
                <a:ext cx="1123" cy="1899"/>
              </a:xfrm>
              <a:custGeom>
                <a:avLst/>
                <a:gdLst>
                  <a:gd name="T0" fmla="*/ 0 w 1123"/>
                  <a:gd name="T1" fmla="*/ 384 h 1899"/>
                  <a:gd name="T2" fmla="*/ 1123 w 1123"/>
                  <a:gd name="T3" fmla="*/ 0 h 1899"/>
                  <a:gd name="T4" fmla="*/ 1123 w 1123"/>
                  <a:gd name="T5" fmla="*/ 1467 h 1899"/>
                  <a:gd name="T6" fmla="*/ 1 w 1123"/>
                  <a:gd name="T7" fmla="*/ 1899 h 1899"/>
                  <a:gd name="T8" fmla="*/ 0 w 1123"/>
                  <a:gd name="T9" fmla="*/ 384 h 189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123" h="1899">
                    <a:moveTo>
                      <a:pt x="0" y="384"/>
                    </a:moveTo>
                    <a:lnTo>
                      <a:pt x="1123" y="0"/>
                    </a:lnTo>
                    <a:lnTo>
                      <a:pt x="1123" y="1467"/>
                    </a:lnTo>
                    <a:lnTo>
                      <a:pt x="1" y="1899"/>
                    </a:lnTo>
                    <a:lnTo>
                      <a:pt x="0" y="384"/>
                    </a:lnTo>
                    <a:close/>
                  </a:path>
                </a:pathLst>
              </a:custGeom>
              <a:solidFill>
                <a:srgbClr val="CCFFCC">
                  <a:alpha val="50195"/>
                </a:srgbClr>
              </a:solidFill>
              <a:ln w="28575" cmpd="sng">
                <a:solidFill>
                  <a:srgbClr val="CCFFCC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8247" name="Text Box 7"/>
              <p:cNvSpPr txBox="1">
                <a:spLocks noChangeArrowheads="1"/>
              </p:cNvSpPr>
              <p:nvPr/>
            </p:nvSpPr>
            <p:spPr bwMode="auto">
              <a:xfrm>
                <a:off x="219" y="1555"/>
                <a:ext cx="301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>
                  <a:defRPr/>
                </a:pPr>
                <a:r>
                  <a:rPr kumimoji="1" lang="en-US" altLang="zh-CN" sz="3200" b="1">
                    <a:solidFill>
                      <a:srgbClr val="000066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ea typeface="隶书" pitchFamily="49" charset="-122"/>
                  </a:rPr>
                  <a:t>V</a:t>
                </a:r>
              </a:p>
            </p:txBody>
          </p:sp>
          <p:sp>
            <p:nvSpPr>
              <p:cNvPr id="138248" name="Text Box 8"/>
              <p:cNvSpPr txBox="1">
                <a:spLocks noChangeArrowheads="1"/>
              </p:cNvSpPr>
              <p:nvPr/>
            </p:nvSpPr>
            <p:spPr bwMode="auto">
              <a:xfrm>
                <a:off x="2048" y="1428"/>
                <a:ext cx="372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>
                  <a:defRPr/>
                </a:pPr>
                <a:r>
                  <a:rPr kumimoji="1" lang="en-US" altLang="zh-CN" sz="3200" b="1">
                    <a:solidFill>
                      <a:srgbClr val="000066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ea typeface="隶书" pitchFamily="49" charset="-122"/>
                  </a:rPr>
                  <a:t>W</a:t>
                </a:r>
              </a:p>
            </p:txBody>
          </p:sp>
        </p:grpSp>
        <p:sp>
          <p:nvSpPr>
            <p:cNvPr id="138249" name="Text Box 9"/>
            <p:cNvSpPr txBox="1">
              <a:spLocks noChangeArrowheads="1"/>
            </p:cNvSpPr>
            <p:nvPr/>
          </p:nvSpPr>
          <p:spPr bwMode="auto">
            <a:xfrm>
              <a:off x="1137" y="2996"/>
              <a:ext cx="315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defRPr/>
              </a:pPr>
              <a:r>
                <a:rPr kumimoji="1" lang="en-US" altLang="zh-CN" sz="3200" b="1">
                  <a:solidFill>
                    <a:srgbClr val="0000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隶书" pitchFamily="49" charset="-122"/>
                </a:rPr>
                <a:t>H</a:t>
              </a:r>
            </a:p>
          </p:txBody>
        </p:sp>
      </p:grpSp>
      <p:grpSp>
        <p:nvGrpSpPr>
          <p:cNvPr id="14340" name="Group 10"/>
          <p:cNvGrpSpPr>
            <a:grpSpLocks/>
          </p:cNvGrpSpPr>
          <p:nvPr/>
        </p:nvGrpSpPr>
        <p:grpSpPr bwMode="auto">
          <a:xfrm>
            <a:off x="1495425" y="1527175"/>
            <a:ext cx="1530350" cy="2974975"/>
            <a:chOff x="829" y="1245"/>
            <a:chExt cx="964" cy="1874"/>
          </a:xfrm>
        </p:grpSpPr>
        <p:sp>
          <p:nvSpPr>
            <p:cNvPr id="14415" name="AutoShape 11"/>
            <p:cNvSpPr>
              <a:spLocks noChangeArrowheads="1"/>
            </p:cNvSpPr>
            <p:nvPr/>
          </p:nvSpPr>
          <p:spPr bwMode="auto">
            <a:xfrm>
              <a:off x="829" y="1571"/>
              <a:ext cx="964" cy="1291"/>
            </a:xfrm>
            <a:prstGeom prst="can">
              <a:avLst>
                <a:gd name="adj" fmla="val 33480"/>
              </a:avLst>
            </a:prstGeom>
            <a:gradFill rotWithShape="0">
              <a:gsLst>
                <a:gs pos="0">
                  <a:srgbClr val="00FF99"/>
                </a:gs>
                <a:gs pos="100000">
                  <a:srgbClr val="00100A"/>
                </a:gs>
              </a:gsLst>
              <a:lin ang="0" scaled="1"/>
            </a:gra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400"/>
            </a:p>
          </p:txBody>
        </p:sp>
        <p:sp>
          <p:nvSpPr>
            <p:cNvPr id="14416" name="Line 12"/>
            <p:cNvSpPr>
              <a:spLocks noChangeShapeType="1"/>
            </p:cNvSpPr>
            <p:nvPr/>
          </p:nvSpPr>
          <p:spPr bwMode="auto">
            <a:xfrm flipV="1">
              <a:off x="1302" y="1428"/>
              <a:ext cx="0" cy="30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417" name="Line 13"/>
            <p:cNvSpPr>
              <a:spLocks noChangeShapeType="1"/>
            </p:cNvSpPr>
            <p:nvPr/>
          </p:nvSpPr>
          <p:spPr bwMode="auto">
            <a:xfrm>
              <a:off x="1338" y="2862"/>
              <a:ext cx="0" cy="1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418" name="Text Box 14"/>
            <p:cNvSpPr txBox="1">
              <a:spLocks noChangeArrowheads="1"/>
            </p:cNvSpPr>
            <p:nvPr/>
          </p:nvSpPr>
          <p:spPr bwMode="auto">
            <a:xfrm>
              <a:off x="1280" y="1245"/>
              <a:ext cx="29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b="1"/>
                <a:t>O</a:t>
              </a:r>
            </a:p>
          </p:txBody>
        </p:sp>
        <p:sp>
          <p:nvSpPr>
            <p:cNvPr id="14419" name="Text Box 15"/>
            <p:cNvSpPr txBox="1">
              <a:spLocks noChangeArrowheads="1"/>
            </p:cNvSpPr>
            <p:nvPr/>
          </p:nvSpPr>
          <p:spPr bwMode="auto">
            <a:xfrm>
              <a:off x="1379" y="2792"/>
              <a:ext cx="29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b="1"/>
                <a:t>O</a:t>
              </a:r>
            </a:p>
          </p:txBody>
        </p:sp>
      </p:grpSp>
      <p:sp>
        <p:nvSpPr>
          <p:cNvPr id="138256" name="Oval 16"/>
          <p:cNvSpPr>
            <a:spLocks noChangeArrowheads="1"/>
          </p:cNvSpPr>
          <p:nvPr/>
        </p:nvSpPr>
        <p:spPr bwMode="auto">
          <a:xfrm>
            <a:off x="4878388" y="3789363"/>
            <a:ext cx="1570037" cy="1570037"/>
          </a:xfrm>
          <a:prstGeom prst="ellipse">
            <a:avLst/>
          </a:prstGeom>
          <a:solidFill>
            <a:srgbClr val="99CCFF"/>
          </a:solidFill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38257" name="Text Box 17"/>
          <p:cNvSpPr txBox="1">
            <a:spLocks noChangeArrowheads="1"/>
          </p:cNvSpPr>
          <p:nvPr/>
        </p:nvSpPr>
        <p:spPr bwMode="auto">
          <a:xfrm>
            <a:off x="990600" y="381000"/>
            <a:ext cx="426243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>
              <a:defRPr/>
            </a:pPr>
            <a:r>
              <a:rPr kumimoji="1" lang="zh-CN" altLang="en-US" sz="3600" b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  <a:sym typeface="Marlett" pitchFamily="2" charset="2"/>
              </a:rPr>
              <a:t>圆柱体的投影</a:t>
            </a:r>
            <a:endParaRPr kumimoji="1" lang="zh-CN" altLang="en-US" sz="3600" b="1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38258" name="AutoShape 18"/>
          <p:cNvSpPr>
            <a:spLocks noChangeArrowheads="1"/>
          </p:cNvSpPr>
          <p:nvPr/>
        </p:nvSpPr>
        <p:spPr bwMode="auto">
          <a:xfrm>
            <a:off x="2184400" y="1085850"/>
            <a:ext cx="358775" cy="323850"/>
          </a:xfrm>
          <a:prstGeom prst="downArrow">
            <a:avLst>
              <a:gd name="adj1" fmla="val 50000"/>
              <a:gd name="adj2" fmla="val 25000"/>
            </a:avLst>
          </a:prstGeom>
          <a:gradFill rotWithShape="0">
            <a:gsLst>
              <a:gs pos="0">
                <a:srgbClr val="764747"/>
              </a:gs>
              <a:gs pos="100000">
                <a:srgbClr val="FF9999"/>
              </a:gs>
            </a:gsLst>
            <a:lin ang="5400000" scaled="1"/>
          </a:gra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 vert="eaVert"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38259" name="AutoShape 19"/>
          <p:cNvSpPr>
            <a:spLocks noChangeArrowheads="1"/>
          </p:cNvSpPr>
          <p:nvPr/>
        </p:nvSpPr>
        <p:spPr bwMode="auto">
          <a:xfrm rot="7054636">
            <a:off x="3249612" y="4011613"/>
            <a:ext cx="358775" cy="323850"/>
          </a:xfrm>
          <a:prstGeom prst="downArrow">
            <a:avLst>
              <a:gd name="adj1" fmla="val 50000"/>
              <a:gd name="adj2" fmla="val 25000"/>
            </a:avLst>
          </a:prstGeom>
          <a:gradFill rotWithShape="0">
            <a:gsLst>
              <a:gs pos="0">
                <a:srgbClr val="FF9999"/>
              </a:gs>
              <a:gs pos="100000">
                <a:srgbClr val="764747"/>
              </a:gs>
            </a:gsLst>
            <a:lin ang="0" scaled="1"/>
          </a:gra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 vert="eaVert"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38260" name="AutoShape 20"/>
          <p:cNvSpPr>
            <a:spLocks noChangeArrowheads="1"/>
          </p:cNvSpPr>
          <p:nvPr/>
        </p:nvSpPr>
        <p:spPr bwMode="auto">
          <a:xfrm rot="-7302223">
            <a:off x="723900" y="3421063"/>
            <a:ext cx="358775" cy="323850"/>
          </a:xfrm>
          <a:prstGeom prst="downArrow">
            <a:avLst>
              <a:gd name="adj1" fmla="val 50000"/>
              <a:gd name="adj2" fmla="val 25000"/>
            </a:avLst>
          </a:prstGeom>
          <a:gradFill rotWithShape="0">
            <a:gsLst>
              <a:gs pos="0">
                <a:srgbClr val="764747"/>
              </a:gs>
              <a:gs pos="100000">
                <a:srgbClr val="FF9999"/>
              </a:gs>
            </a:gsLst>
            <a:lin ang="0" scaled="1"/>
          </a:gra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 vert="eaVert"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38261" name="Line 21"/>
          <p:cNvSpPr>
            <a:spLocks noChangeShapeType="1"/>
          </p:cNvSpPr>
          <p:nvPr/>
        </p:nvSpPr>
        <p:spPr bwMode="auto">
          <a:xfrm>
            <a:off x="4610100" y="4573588"/>
            <a:ext cx="2106613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8262" name="Line 22"/>
          <p:cNvSpPr>
            <a:spLocks noChangeShapeType="1"/>
          </p:cNvSpPr>
          <p:nvPr/>
        </p:nvSpPr>
        <p:spPr bwMode="auto">
          <a:xfrm>
            <a:off x="5662613" y="3611563"/>
            <a:ext cx="0" cy="2017712"/>
          </a:xfrm>
          <a:prstGeom prst="line">
            <a:avLst/>
          </a:prstGeom>
          <a:noFill/>
          <a:ln w="12700">
            <a:solidFill>
              <a:schemeClr val="tx1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8263" name="Line 23"/>
          <p:cNvSpPr>
            <a:spLocks noChangeShapeType="1"/>
          </p:cNvSpPr>
          <p:nvPr/>
        </p:nvSpPr>
        <p:spPr bwMode="auto">
          <a:xfrm flipV="1">
            <a:off x="5662613" y="1146175"/>
            <a:ext cx="0" cy="2284413"/>
          </a:xfrm>
          <a:prstGeom prst="line">
            <a:avLst/>
          </a:prstGeom>
          <a:noFill/>
          <a:ln w="12700">
            <a:solidFill>
              <a:schemeClr val="tx1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8264" name="Line 24"/>
          <p:cNvSpPr>
            <a:spLocks noChangeShapeType="1"/>
          </p:cNvSpPr>
          <p:nvPr/>
        </p:nvSpPr>
        <p:spPr bwMode="auto">
          <a:xfrm>
            <a:off x="4868863" y="1370013"/>
            <a:ext cx="158432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8265" name="Line 25"/>
          <p:cNvSpPr>
            <a:spLocks noChangeShapeType="1"/>
          </p:cNvSpPr>
          <p:nvPr/>
        </p:nvSpPr>
        <p:spPr bwMode="auto">
          <a:xfrm>
            <a:off x="4857750" y="3275013"/>
            <a:ext cx="15906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8266" name="Line 26"/>
          <p:cNvSpPr>
            <a:spLocks noChangeShapeType="1"/>
          </p:cNvSpPr>
          <p:nvPr/>
        </p:nvSpPr>
        <p:spPr bwMode="auto">
          <a:xfrm flipV="1">
            <a:off x="4857750" y="1350963"/>
            <a:ext cx="0" cy="194151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8267" name="Line 27"/>
          <p:cNvSpPr>
            <a:spLocks noChangeShapeType="1"/>
          </p:cNvSpPr>
          <p:nvPr/>
        </p:nvSpPr>
        <p:spPr bwMode="auto">
          <a:xfrm flipV="1">
            <a:off x="6457950" y="1358900"/>
            <a:ext cx="0" cy="19335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8268" name="Line 28"/>
          <p:cNvSpPr>
            <a:spLocks noChangeShapeType="1"/>
          </p:cNvSpPr>
          <p:nvPr/>
        </p:nvSpPr>
        <p:spPr bwMode="auto">
          <a:xfrm flipV="1">
            <a:off x="5656263" y="5635625"/>
            <a:ext cx="0" cy="422275"/>
          </a:xfrm>
          <a:prstGeom prst="line">
            <a:avLst/>
          </a:prstGeom>
          <a:noFill/>
          <a:ln w="38100">
            <a:solidFill>
              <a:srgbClr val="A50021"/>
            </a:solidFill>
            <a:round/>
            <a:headEnd/>
            <a:tailEnd type="triangle" w="med" len="med"/>
          </a:ln>
          <a:effectLst>
            <a:outerShdw dist="35921" dir="2700000" algn="ctr" rotWithShape="0">
              <a:srgbClr val="808080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8269" name="Line 29"/>
          <p:cNvSpPr>
            <a:spLocks noChangeShapeType="1"/>
          </p:cNvSpPr>
          <p:nvPr/>
        </p:nvSpPr>
        <p:spPr bwMode="auto">
          <a:xfrm>
            <a:off x="4221163" y="4556125"/>
            <a:ext cx="401637" cy="0"/>
          </a:xfrm>
          <a:prstGeom prst="line">
            <a:avLst/>
          </a:prstGeom>
          <a:noFill/>
          <a:ln w="38100">
            <a:solidFill>
              <a:srgbClr val="A50021"/>
            </a:solidFill>
            <a:round/>
            <a:headEnd/>
            <a:tailEnd type="triangle" w="med" len="med"/>
          </a:ln>
          <a:effectLst>
            <a:outerShdw dist="35921" dir="2700000" algn="ctr" rotWithShape="0">
              <a:srgbClr val="808080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8270" name="Line 30"/>
          <p:cNvSpPr>
            <a:spLocks noChangeShapeType="1"/>
          </p:cNvSpPr>
          <p:nvPr/>
        </p:nvSpPr>
        <p:spPr bwMode="auto">
          <a:xfrm flipV="1">
            <a:off x="7704138" y="1163638"/>
            <a:ext cx="0" cy="2284412"/>
          </a:xfrm>
          <a:prstGeom prst="line">
            <a:avLst/>
          </a:prstGeom>
          <a:noFill/>
          <a:ln w="12700">
            <a:solidFill>
              <a:schemeClr val="tx1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8271" name="Line 31"/>
          <p:cNvSpPr>
            <a:spLocks noChangeShapeType="1"/>
          </p:cNvSpPr>
          <p:nvPr/>
        </p:nvSpPr>
        <p:spPr bwMode="auto">
          <a:xfrm>
            <a:off x="6929438" y="1366838"/>
            <a:ext cx="1576387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8272" name="Line 32"/>
          <p:cNvSpPr>
            <a:spLocks noChangeShapeType="1"/>
          </p:cNvSpPr>
          <p:nvPr/>
        </p:nvSpPr>
        <p:spPr bwMode="auto">
          <a:xfrm>
            <a:off x="6927850" y="3263900"/>
            <a:ext cx="157797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8273" name="Line 33"/>
          <p:cNvSpPr>
            <a:spLocks noChangeShapeType="1"/>
          </p:cNvSpPr>
          <p:nvPr/>
        </p:nvSpPr>
        <p:spPr bwMode="auto">
          <a:xfrm flipV="1">
            <a:off x="6937375" y="1354138"/>
            <a:ext cx="0" cy="19113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8274" name="Line 34"/>
          <p:cNvSpPr>
            <a:spLocks noChangeShapeType="1"/>
          </p:cNvSpPr>
          <p:nvPr/>
        </p:nvSpPr>
        <p:spPr bwMode="auto">
          <a:xfrm flipV="1">
            <a:off x="8483600" y="1360488"/>
            <a:ext cx="0" cy="19113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8275" name="Arc 35"/>
          <p:cNvSpPr>
            <a:spLocks/>
          </p:cNvSpPr>
          <p:nvPr/>
        </p:nvSpPr>
        <p:spPr bwMode="auto">
          <a:xfrm rot="-10671741">
            <a:off x="4860925" y="4538663"/>
            <a:ext cx="1584325" cy="833437"/>
          </a:xfrm>
          <a:custGeom>
            <a:avLst/>
            <a:gdLst>
              <a:gd name="T0" fmla="*/ 8484244 w 43200"/>
              <a:gd name="T1" fmla="*/ 978954764 h 24318"/>
              <a:gd name="T2" fmla="*/ 2130812934 w 43200"/>
              <a:gd name="T3" fmla="*/ 881252732 h 24318"/>
              <a:gd name="T4" fmla="*/ 1065456215 w 43200"/>
              <a:gd name="T5" fmla="*/ 869538449 h 2431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00" h="24318" fill="none" extrusionOk="0">
                <a:moveTo>
                  <a:pt x="171" y="24318"/>
                </a:moveTo>
                <a:cubicBezTo>
                  <a:pt x="57" y="23416"/>
                  <a:pt x="0" y="22508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21697"/>
                  <a:pt x="43199" y="21794"/>
                  <a:pt x="43198" y="21891"/>
                </a:cubicBezTo>
              </a:path>
              <a:path w="43200" h="24318" stroke="0" extrusionOk="0">
                <a:moveTo>
                  <a:pt x="171" y="24318"/>
                </a:moveTo>
                <a:cubicBezTo>
                  <a:pt x="57" y="23416"/>
                  <a:pt x="0" y="22508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21697"/>
                  <a:pt x="43199" y="21794"/>
                  <a:pt x="43198" y="21891"/>
                </a:cubicBezTo>
                <a:lnTo>
                  <a:pt x="21600" y="21600"/>
                </a:lnTo>
                <a:lnTo>
                  <a:pt x="171" y="24318"/>
                </a:lnTo>
                <a:close/>
              </a:path>
            </a:pathLst>
          </a:custGeom>
          <a:noFill/>
          <a:ln w="762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8276" name="Arc 36"/>
          <p:cNvSpPr>
            <a:spLocks/>
          </p:cNvSpPr>
          <p:nvPr/>
        </p:nvSpPr>
        <p:spPr bwMode="auto">
          <a:xfrm rot="-10671741">
            <a:off x="4857750" y="4535488"/>
            <a:ext cx="1584325" cy="833437"/>
          </a:xfrm>
          <a:custGeom>
            <a:avLst/>
            <a:gdLst>
              <a:gd name="T0" fmla="*/ 8484244 w 43200"/>
              <a:gd name="T1" fmla="*/ 978954764 h 24318"/>
              <a:gd name="T2" fmla="*/ 2130812934 w 43200"/>
              <a:gd name="T3" fmla="*/ 881252732 h 24318"/>
              <a:gd name="T4" fmla="*/ 1065456215 w 43200"/>
              <a:gd name="T5" fmla="*/ 869538449 h 2431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00" h="24318" fill="none" extrusionOk="0">
                <a:moveTo>
                  <a:pt x="171" y="24318"/>
                </a:moveTo>
                <a:cubicBezTo>
                  <a:pt x="57" y="23416"/>
                  <a:pt x="0" y="22508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21697"/>
                  <a:pt x="43199" y="21794"/>
                  <a:pt x="43198" y="21891"/>
                </a:cubicBezTo>
              </a:path>
              <a:path w="43200" h="24318" stroke="0" extrusionOk="0">
                <a:moveTo>
                  <a:pt x="171" y="24318"/>
                </a:moveTo>
                <a:cubicBezTo>
                  <a:pt x="57" y="23416"/>
                  <a:pt x="0" y="22508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21697"/>
                  <a:pt x="43199" y="21794"/>
                  <a:pt x="43198" y="21891"/>
                </a:cubicBezTo>
                <a:lnTo>
                  <a:pt x="21600" y="21600"/>
                </a:lnTo>
                <a:lnTo>
                  <a:pt x="171" y="24318"/>
                </a:lnTo>
                <a:close/>
              </a:path>
            </a:pathLst>
          </a:custGeom>
          <a:noFill/>
          <a:ln w="762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8277" name="Rectangle 37"/>
          <p:cNvSpPr>
            <a:spLocks noChangeArrowheads="1"/>
          </p:cNvSpPr>
          <p:nvPr/>
        </p:nvSpPr>
        <p:spPr bwMode="auto">
          <a:xfrm>
            <a:off x="4870450" y="1381125"/>
            <a:ext cx="1581150" cy="1881188"/>
          </a:xfrm>
          <a:prstGeom prst="rect">
            <a:avLst/>
          </a:prstGeom>
          <a:solidFill>
            <a:srgbClr val="FFCC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38278" name="Rectangle 38"/>
          <p:cNvSpPr>
            <a:spLocks noChangeArrowheads="1"/>
          </p:cNvSpPr>
          <p:nvPr/>
        </p:nvSpPr>
        <p:spPr bwMode="auto">
          <a:xfrm>
            <a:off x="4868863" y="1377950"/>
            <a:ext cx="1581150" cy="1881188"/>
          </a:xfrm>
          <a:prstGeom prst="rect">
            <a:avLst/>
          </a:prstGeom>
          <a:solidFill>
            <a:srgbClr val="FFCCFF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38279" name="Oval 39"/>
          <p:cNvSpPr>
            <a:spLocks noChangeArrowheads="1"/>
          </p:cNvSpPr>
          <p:nvPr/>
        </p:nvSpPr>
        <p:spPr bwMode="auto">
          <a:xfrm>
            <a:off x="4759325" y="4452938"/>
            <a:ext cx="230188" cy="230187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40000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38280" name="Rectangle 40"/>
          <p:cNvSpPr>
            <a:spLocks noChangeArrowheads="1"/>
          </p:cNvSpPr>
          <p:nvPr/>
        </p:nvSpPr>
        <p:spPr bwMode="auto">
          <a:xfrm>
            <a:off x="6945313" y="1381125"/>
            <a:ext cx="1522412" cy="1881188"/>
          </a:xfrm>
          <a:prstGeom prst="rect">
            <a:avLst/>
          </a:prstGeom>
          <a:solidFill>
            <a:srgbClr val="66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38281" name="Rectangle 41"/>
          <p:cNvSpPr>
            <a:spLocks noChangeArrowheads="1"/>
          </p:cNvSpPr>
          <p:nvPr/>
        </p:nvSpPr>
        <p:spPr bwMode="auto">
          <a:xfrm>
            <a:off x="6942138" y="1377950"/>
            <a:ext cx="1522412" cy="1881188"/>
          </a:xfrm>
          <a:prstGeom prst="rect">
            <a:avLst/>
          </a:prstGeom>
          <a:solidFill>
            <a:srgbClr val="66FFCC">
              <a:alpha val="50195"/>
            </a:srgb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38282" name="Arc 42"/>
          <p:cNvSpPr>
            <a:spLocks/>
          </p:cNvSpPr>
          <p:nvPr/>
        </p:nvSpPr>
        <p:spPr bwMode="auto">
          <a:xfrm rot="-5172632">
            <a:off x="4495801" y="4156075"/>
            <a:ext cx="1573212" cy="808037"/>
          </a:xfrm>
          <a:custGeom>
            <a:avLst/>
            <a:gdLst>
              <a:gd name="T0" fmla="*/ 7581862 w 43200"/>
              <a:gd name="T1" fmla="*/ 901169710 h 24196"/>
              <a:gd name="T2" fmla="*/ 2083486335 w 43200"/>
              <a:gd name="T3" fmla="*/ 864148718 h 24196"/>
              <a:gd name="T4" fmla="*/ 1043192034 w 43200"/>
              <a:gd name="T5" fmla="*/ 804482419 h 2419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00" h="24196" fill="none" extrusionOk="0">
                <a:moveTo>
                  <a:pt x="156" y="24196"/>
                </a:moveTo>
                <a:cubicBezTo>
                  <a:pt x="52" y="23334"/>
                  <a:pt x="0" y="22467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22134"/>
                  <a:pt x="43180" y="22668"/>
                  <a:pt x="43140" y="23202"/>
                </a:cubicBezTo>
              </a:path>
              <a:path w="43200" h="24196" stroke="0" extrusionOk="0">
                <a:moveTo>
                  <a:pt x="156" y="24196"/>
                </a:moveTo>
                <a:cubicBezTo>
                  <a:pt x="52" y="23334"/>
                  <a:pt x="0" y="22467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22134"/>
                  <a:pt x="43180" y="22668"/>
                  <a:pt x="43140" y="23202"/>
                </a:cubicBezTo>
                <a:lnTo>
                  <a:pt x="21600" y="21600"/>
                </a:lnTo>
                <a:lnTo>
                  <a:pt x="156" y="24196"/>
                </a:lnTo>
                <a:close/>
              </a:path>
            </a:pathLst>
          </a:custGeom>
          <a:noFill/>
          <a:ln w="76200">
            <a:solidFill>
              <a:srgbClr val="3399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8283" name="Arc 43"/>
          <p:cNvSpPr>
            <a:spLocks/>
          </p:cNvSpPr>
          <p:nvPr/>
        </p:nvSpPr>
        <p:spPr bwMode="auto">
          <a:xfrm rot="-5295012">
            <a:off x="4506119" y="4160044"/>
            <a:ext cx="1566863" cy="803275"/>
          </a:xfrm>
          <a:custGeom>
            <a:avLst/>
            <a:gdLst>
              <a:gd name="T0" fmla="*/ 7492172 w 43199"/>
              <a:gd name="T1" fmla="*/ 885330856 h 24196"/>
              <a:gd name="T2" fmla="*/ 2061321278 w 43199"/>
              <a:gd name="T3" fmla="*/ 782220172 h 24196"/>
              <a:gd name="T4" fmla="*/ 1030684977 w 43199"/>
              <a:gd name="T5" fmla="*/ 790343023 h 2419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199" h="24196" fill="none" extrusionOk="0">
                <a:moveTo>
                  <a:pt x="156" y="24196"/>
                </a:moveTo>
                <a:cubicBezTo>
                  <a:pt x="52" y="23334"/>
                  <a:pt x="0" y="22467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442" y="-1"/>
                  <a:pt x="43077" y="9535"/>
                  <a:pt x="43198" y="21378"/>
                </a:cubicBezTo>
              </a:path>
              <a:path w="43199" h="24196" stroke="0" extrusionOk="0">
                <a:moveTo>
                  <a:pt x="156" y="24196"/>
                </a:moveTo>
                <a:cubicBezTo>
                  <a:pt x="52" y="23334"/>
                  <a:pt x="0" y="22467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442" y="-1"/>
                  <a:pt x="43077" y="9535"/>
                  <a:pt x="43198" y="21378"/>
                </a:cubicBezTo>
                <a:lnTo>
                  <a:pt x="21600" y="21600"/>
                </a:lnTo>
                <a:lnTo>
                  <a:pt x="156" y="24196"/>
                </a:lnTo>
                <a:close/>
              </a:path>
            </a:pathLst>
          </a:custGeom>
          <a:noFill/>
          <a:ln w="76200">
            <a:solidFill>
              <a:srgbClr val="3399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8284" name="Oval 44"/>
          <p:cNvSpPr>
            <a:spLocks noChangeArrowheads="1"/>
          </p:cNvSpPr>
          <p:nvPr/>
        </p:nvSpPr>
        <p:spPr bwMode="auto">
          <a:xfrm>
            <a:off x="6343650" y="4452938"/>
            <a:ext cx="230188" cy="230187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40000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38285" name="Line 45"/>
          <p:cNvSpPr>
            <a:spLocks noChangeShapeType="1"/>
          </p:cNvSpPr>
          <p:nvPr/>
        </p:nvSpPr>
        <p:spPr bwMode="auto">
          <a:xfrm>
            <a:off x="4862513" y="1349375"/>
            <a:ext cx="0" cy="1938338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8286" name="Line 46"/>
          <p:cNvSpPr>
            <a:spLocks noChangeShapeType="1"/>
          </p:cNvSpPr>
          <p:nvPr/>
        </p:nvSpPr>
        <p:spPr bwMode="auto">
          <a:xfrm>
            <a:off x="4849813" y="1363663"/>
            <a:ext cx="0" cy="1919287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8287" name="Line 47"/>
          <p:cNvSpPr>
            <a:spLocks noChangeShapeType="1"/>
          </p:cNvSpPr>
          <p:nvPr/>
        </p:nvSpPr>
        <p:spPr bwMode="auto">
          <a:xfrm>
            <a:off x="6459538" y="1357313"/>
            <a:ext cx="0" cy="1919287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8288" name="Line 48"/>
          <p:cNvSpPr>
            <a:spLocks noChangeShapeType="1"/>
          </p:cNvSpPr>
          <p:nvPr/>
        </p:nvSpPr>
        <p:spPr bwMode="auto">
          <a:xfrm>
            <a:off x="6459538" y="1371600"/>
            <a:ext cx="0" cy="1919288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8289" name="Text Box 49" descr="紫色网格"/>
          <p:cNvSpPr txBox="1">
            <a:spLocks noChangeArrowheads="1"/>
          </p:cNvSpPr>
          <p:nvPr/>
        </p:nvSpPr>
        <p:spPr bwMode="auto">
          <a:xfrm>
            <a:off x="609600" y="5299075"/>
            <a:ext cx="1824038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>
                <a:latin typeface="黑体" pitchFamily="2" charset="-122"/>
                <a:ea typeface="黑体" pitchFamily="2" charset="-122"/>
              </a:rPr>
              <a:t>对</a:t>
            </a:r>
            <a:r>
              <a:rPr lang="en-US" altLang="zh-CN" sz="2400" b="1">
                <a:latin typeface="黑体" pitchFamily="2" charset="-122"/>
                <a:ea typeface="黑体" pitchFamily="2" charset="-122"/>
              </a:rPr>
              <a:t>V</a:t>
            </a:r>
            <a:r>
              <a:rPr lang="zh-CN" altLang="en-US" sz="2400" b="1">
                <a:latin typeface="黑体" pitchFamily="2" charset="-122"/>
                <a:ea typeface="黑体" pitchFamily="2" charset="-122"/>
              </a:rPr>
              <a:t>面的外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>
                <a:latin typeface="黑体" pitchFamily="2" charset="-122"/>
                <a:ea typeface="黑体" pitchFamily="2" charset="-122"/>
              </a:rPr>
              <a:t>形轮廓线</a:t>
            </a:r>
          </a:p>
        </p:txBody>
      </p:sp>
      <p:sp>
        <p:nvSpPr>
          <p:cNvPr id="138290" name="Line 50"/>
          <p:cNvSpPr>
            <a:spLocks noChangeShapeType="1"/>
          </p:cNvSpPr>
          <p:nvPr/>
        </p:nvSpPr>
        <p:spPr bwMode="auto">
          <a:xfrm>
            <a:off x="1685925" y="2470150"/>
            <a:ext cx="0" cy="1538288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8291" name="Line 51"/>
          <p:cNvSpPr>
            <a:spLocks noChangeShapeType="1"/>
          </p:cNvSpPr>
          <p:nvPr/>
        </p:nvSpPr>
        <p:spPr bwMode="auto">
          <a:xfrm flipH="1">
            <a:off x="1203325" y="3733800"/>
            <a:ext cx="508000" cy="15128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38292" name="Group 52"/>
          <p:cNvGrpSpPr>
            <a:grpSpLocks/>
          </p:cNvGrpSpPr>
          <p:nvPr/>
        </p:nvGrpSpPr>
        <p:grpSpPr bwMode="auto">
          <a:xfrm>
            <a:off x="1143000" y="2339975"/>
            <a:ext cx="554038" cy="1651000"/>
            <a:chOff x="552" y="1471"/>
            <a:chExt cx="349" cy="1040"/>
          </a:xfrm>
        </p:grpSpPr>
        <p:sp>
          <p:nvSpPr>
            <p:cNvPr id="14406" name="Line 53"/>
            <p:cNvSpPr>
              <a:spLocks noChangeShapeType="1"/>
            </p:cNvSpPr>
            <p:nvPr/>
          </p:nvSpPr>
          <p:spPr bwMode="auto">
            <a:xfrm flipH="1" flipV="1">
              <a:off x="563" y="1471"/>
              <a:ext cx="337" cy="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407" name="Line 54"/>
            <p:cNvSpPr>
              <a:spLocks noChangeShapeType="1"/>
            </p:cNvSpPr>
            <p:nvPr/>
          </p:nvSpPr>
          <p:spPr bwMode="auto">
            <a:xfrm flipH="1" flipV="1">
              <a:off x="568" y="1578"/>
              <a:ext cx="333" cy="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408" name="Line 55"/>
            <p:cNvSpPr>
              <a:spLocks noChangeShapeType="1"/>
            </p:cNvSpPr>
            <p:nvPr/>
          </p:nvSpPr>
          <p:spPr bwMode="auto">
            <a:xfrm flipH="1" flipV="1">
              <a:off x="560" y="1705"/>
              <a:ext cx="337" cy="7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409" name="Line 56"/>
            <p:cNvSpPr>
              <a:spLocks noChangeShapeType="1"/>
            </p:cNvSpPr>
            <p:nvPr/>
          </p:nvSpPr>
          <p:spPr bwMode="auto">
            <a:xfrm flipH="1" flipV="1">
              <a:off x="552" y="1933"/>
              <a:ext cx="341" cy="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410" name="Line 57"/>
            <p:cNvSpPr>
              <a:spLocks noChangeShapeType="1"/>
            </p:cNvSpPr>
            <p:nvPr/>
          </p:nvSpPr>
          <p:spPr bwMode="auto">
            <a:xfrm flipH="1" flipV="1">
              <a:off x="552" y="2066"/>
              <a:ext cx="345" cy="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411" name="Line 58"/>
            <p:cNvSpPr>
              <a:spLocks noChangeShapeType="1"/>
            </p:cNvSpPr>
            <p:nvPr/>
          </p:nvSpPr>
          <p:spPr bwMode="auto">
            <a:xfrm flipH="1" flipV="1">
              <a:off x="560" y="2194"/>
              <a:ext cx="337" cy="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412" name="Line 59"/>
            <p:cNvSpPr>
              <a:spLocks noChangeShapeType="1"/>
            </p:cNvSpPr>
            <p:nvPr/>
          </p:nvSpPr>
          <p:spPr bwMode="auto">
            <a:xfrm flipH="1" flipV="1">
              <a:off x="552" y="2429"/>
              <a:ext cx="341" cy="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413" name="Line 60"/>
            <p:cNvSpPr>
              <a:spLocks noChangeShapeType="1"/>
            </p:cNvSpPr>
            <p:nvPr/>
          </p:nvSpPr>
          <p:spPr bwMode="auto">
            <a:xfrm flipH="1" flipV="1">
              <a:off x="560" y="1821"/>
              <a:ext cx="337" cy="8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414" name="Line 61"/>
            <p:cNvSpPr>
              <a:spLocks noChangeShapeType="1"/>
            </p:cNvSpPr>
            <p:nvPr/>
          </p:nvSpPr>
          <p:spPr bwMode="auto">
            <a:xfrm flipH="1" flipV="1">
              <a:off x="561" y="2306"/>
              <a:ext cx="337" cy="8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38302" name="Group 62"/>
          <p:cNvGrpSpPr>
            <a:grpSpLocks/>
          </p:cNvGrpSpPr>
          <p:nvPr/>
        </p:nvGrpSpPr>
        <p:grpSpPr bwMode="auto">
          <a:xfrm>
            <a:off x="2892425" y="2270125"/>
            <a:ext cx="477838" cy="1709738"/>
            <a:chOff x="1654" y="1427"/>
            <a:chExt cx="301" cy="1077"/>
          </a:xfrm>
        </p:grpSpPr>
        <p:sp>
          <p:nvSpPr>
            <p:cNvPr id="14397" name="Line 63"/>
            <p:cNvSpPr>
              <a:spLocks noChangeShapeType="1"/>
            </p:cNvSpPr>
            <p:nvPr/>
          </p:nvSpPr>
          <p:spPr bwMode="auto">
            <a:xfrm flipV="1">
              <a:off x="1654" y="1427"/>
              <a:ext cx="288" cy="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98" name="Line 64"/>
            <p:cNvSpPr>
              <a:spLocks noChangeShapeType="1"/>
            </p:cNvSpPr>
            <p:nvPr/>
          </p:nvSpPr>
          <p:spPr bwMode="auto">
            <a:xfrm flipV="1">
              <a:off x="1660" y="1547"/>
              <a:ext cx="282" cy="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399" name="Line 65"/>
            <p:cNvSpPr>
              <a:spLocks noChangeShapeType="1"/>
            </p:cNvSpPr>
            <p:nvPr/>
          </p:nvSpPr>
          <p:spPr bwMode="auto">
            <a:xfrm flipV="1">
              <a:off x="1660" y="1673"/>
              <a:ext cx="286" cy="1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400" name="Line 66"/>
            <p:cNvSpPr>
              <a:spLocks noChangeShapeType="1"/>
            </p:cNvSpPr>
            <p:nvPr/>
          </p:nvSpPr>
          <p:spPr bwMode="auto">
            <a:xfrm flipV="1">
              <a:off x="1661" y="1788"/>
              <a:ext cx="290" cy="10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401" name="Line 67"/>
            <p:cNvSpPr>
              <a:spLocks noChangeShapeType="1"/>
            </p:cNvSpPr>
            <p:nvPr/>
          </p:nvSpPr>
          <p:spPr bwMode="auto">
            <a:xfrm flipV="1">
              <a:off x="1654" y="1906"/>
              <a:ext cx="298" cy="1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402" name="Line 68"/>
            <p:cNvSpPr>
              <a:spLocks noChangeShapeType="1"/>
            </p:cNvSpPr>
            <p:nvPr/>
          </p:nvSpPr>
          <p:spPr bwMode="auto">
            <a:xfrm flipV="1">
              <a:off x="1660" y="2029"/>
              <a:ext cx="290" cy="10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403" name="Line 69"/>
            <p:cNvSpPr>
              <a:spLocks noChangeShapeType="1"/>
            </p:cNvSpPr>
            <p:nvPr/>
          </p:nvSpPr>
          <p:spPr bwMode="auto">
            <a:xfrm flipV="1">
              <a:off x="1661" y="2148"/>
              <a:ext cx="294" cy="1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404" name="Line 70"/>
            <p:cNvSpPr>
              <a:spLocks noChangeShapeType="1"/>
            </p:cNvSpPr>
            <p:nvPr/>
          </p:nvSpPr>
          <p:spPr bwMode="auto">
            <a:xfrm flipV="1">
              <a:off x="1662" y="2276"/>
              <a:ext cx="286" cy="1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405" name="Line 71"/>
            <p:cNvSpPr>
              <a:spLocks noChangeShapeType="1"/>
            </p:cNvSpPr>
            <p:nvPr/>
          </p:nvSpPr>
          <p:spPr bwMode="auto">
            <a:xfrm flipV="1">
              <a:off x="1655" y="2388"/>
              <a:ext cx="298" cy="1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38312" name="Line 72"/>
          <p:cNvSpPr>
            <a:spLocks noChangeShapeType="1"/>
          </p:cNvSpPr>
          <p:nvPr/>
        </p:nvSpPr>
        <p:spPr bwMode="auto">
          <a:xfrm>
            <a:off x="2894013" y="2424113"/>
            <a:ext cx="0" cy="1570037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8313" name="Line 73"/>
          <p:cNvSpPr>
            <a:spLocks noChangeShapeType="1"/>
          </p:cNvSpPr>
          <p:nvPr/>
        </p:nvSpPr>
        <p:spPr bwMode="auto">
          <a:xfrm>
            <a:off x="2884488" y="3843338"/>
            <a:ext cx="774700" cy="14033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8314" name="Text Box 74" descr="紫色网格"/>
          <p:cNvSpPr txBox="1">
            <a:spLocks noChangeArrowheads="1"/>
          </p:cNvSpPr>
          <p:nvPr/>
        </p:nvSpPr>
        <p:spPr bwMode="auto">
          <a:xfrm>
            <a:off x="2678113" y="5307013"/>
            <a:ext cx="211137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>
                <a:latin typeface="黑体" pitchFamily="2" charset="-122"/>
                <a:ea typeface="黑体" pitchFamily="2" charset="-122"/>
              </a:rPr>
              <a:t>对</a:t>
            </a:r>
            <a:r>
              <a:rPr lang="en-US" altLang="zh-CN" sz="2400" b="1">
                <a:latin typeface="黑体" pitchFamily="2" charset="-122"/>
                <a:ea typeface="黑体" pitchFamily="2" charset="-122"/>
              </a:rPr>
              <a:t>W</a:t>
            </a:r>
            <a:r>
              <a:rPr lang="zh-CN" altLang="en-US" sz="2400" b="1">
                <a:latin typeface="黑体" pitchFamily="2" charset="-122"/>
                <a:ea typeface="黑体" pitchFamily="2" charset="-122"/>
              </a:rPr>
              <a:t>面的外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>
                <a:latin typeface="黑体" pitchFamily="2" charset="-122"/>
                <a:ea typeface="黑体" pitchFamily="2" charset="-122"/>
              </a:rPr>
              <a:t>形轮廓线</a:t>
            </a:r>
          </a:p>
        </p:txBody>
      </p:sp>
      <p:sp>
        <p:nvSpPr>
          <p:cNvPr id="138315" name="Line 75"/>
          <p:cNvSpPr>
            <a:spLocks noChangeShapeType="1"/>
          </p:cNvSpPr>
          <p:nvPr/>
        </p:nvSpPr>
        <p:spPr bwMode="auto">
          <a:xfrm>
            <a:off x="7705725" y="1360488"/>
            <a:ext cx="0" cy="1919287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8316" name="Line 76"/>
          <p:cNvSpPr>
            <a:spLocks noChangeShapeType="1"/>
          </p:cNvSpPr>
          <p:nvPr/>
        </p:nvSpPr>
        <p:spPr bwMode="auto">
          <a:xfrm>
            <a:off x="7705725" y="1358900"/>
            <a:ext cx="0" cy="1919288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8318" name="Rectangle 78"/>
          <p:cNvSpPr>
            <a:spLocks noChangeArrowheads="1"/>
          </p:cNvSpPr>
          <p:nvPr/>
        </p:nvSpPr>
        <p:spPr bwMode="auto">
          <a:xfrm>
            <a:off x="6773863" y="3870325"/>
            <a:ext cx="222885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>
                <a:ea typeface="黑体" pitchFamily="2" charset="-122"/>
              </a:rPr>
              <a:t>外形轮廓线投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>
                <a:ea typeface="黑体" pitchFamily="2" charset="-122"/>
              </a:rPr>
              <a:t>影的对应关系</a:t>
            </a:r>
          </a:p>
        </p:txBody>
      </p:sp>
      <p:sp>
        <p:nvSpPr>
          <p:cNvPr id="138320" name="Text Box 80"/>
          <p:cNvSpPr txBox="1">
            <a:spLocks noChangeArrowheads="1"/>
          </p:cNvSpPr>
          <p:nvPr/>
        </p:nvSpPr>
        <p:spPr bwMode="auto">
          <a:xfrm>
            <a:off x="6851650" y="5135563"/>
            <a:ext cx="2057400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>
                <a:ea typeface="黑体" pitchFamily="2" charset="-122"/>
              </a:rPr>
              <a:t>圆柱面投影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>
                <a:ea typeface="黑体" pitchFamily="2" charset="-122"/>
              </a:rPr>
              <a:t>可见性判断</a:t>
            </a:r>
          </a:p>
        </p:txBody>
      </p:sp>
      <p:sp>
        <p:nvSpPr>
          <p:cNvPr id="138321" name="Oval 81"/>
          <p:cNvSpPr>
            <a:spLocks noChangeArrowheads="1"/>
          </p:cNvSpPr>
          <p:nvPr/>
        </p:nvSpPr>
        <p:spPr bwMode="auto">
          <a:xfrm>
            <a:off x="5553075" y="5248275"/>
            <a:ext cx="230188" cy="230188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40000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38322" name="Oval 82"/>
          <p:cNvSpPr>
            <a:spLocks noChangeArrowheads="1"/>
          </p:cNvSpPr>
          <p:nvPr/>
        </p:nvSpPr>
        <p:spPr bwMode="auto">
          <a:xfrm>
            <a:off x="5551488" y="3662363"/>
            <a:ext cx="230187" cy="230187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40000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38323" name="Line 83"/>
          <p:cNvSpPr>
            <a:spLocks noChangeShapeType="1"/>
          </p:cNvSpPr>
          <p:nvPr/>
        </p:nvSpPr>
        <p:spPr bwMode="auto">
          <a:xfrm>
            <a:off x="8489950" y="1355725"/>
            <a:ext cx="0" cy="1919288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8324" name="Line 84"/>
          <p:cNvSpPr>
            <a:spLocks noChangeShapeType="1"/>
          </p:cNvSpPr>
          <p:nvPr/>
        </p:nvSpPr>
        <p:spPr bwMode="auto">
          <a:xfrm>
            <a:off x="8494713" y="1365250"/>
            <a:ext cx="0" cy="1919288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8325" name="Line 85"/>
          <p:cNvSpPr>
            <a:spLocks noChangeShapeType="1"/>
          </p:cNvSpPr>
          <p:nvPr/>
        </p:nvSpPr>
        <p:spPr bwMode="auto">
          <a:xfrm>
            <a:off x="6929438" y="1365250"/>
            <a:ext cx="0" cy="1919288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8326" name="Line 86"/>
          <p:cNvSpPr>
            <a:spLocks noChangeShapeType="1"/>
          </p:cNvSpPr>
          <p:nvPr/>
        </p:nvSpPr>
        <p:spPr bwMode="auto">
          <a:xfrm>
            <a:off x="6929438" y="1366838"/>
            <a:ext cx="0" cy="1919287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8327" name="Line 87"/>
          <p:cNvSpPr>
            <a:spLocks noChangeShapeType="1"/>
          </p:cNvSpPr>
          <p:nvPr/>
        </p:nvSpPr>
        <p:spPr bwMode="auto">
          <a:xfrm>
            <a:off x="5670550" y="1381125"/>
            <a:ext cx="0" cy="1900238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8328" name="Line 88"/>
          <p:cNvSpPr>
            <a:spLocks noChangeShapeType="1"/>
          </p:cNvSpPr>
          <p:nvPr/>
        </p:nvSpPr>
        <p:spPr bwMode="auto">
          <a:xfrm>
            <a:off x="5668963" y="1363663"/>
            <a:ext cx="0" cy="1919287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8329" name="Line 89"/>
          <p:cNvSpPr>
            <a:spLocks noChangeShapeType="1"/>
          </p:cNvSpPr>
          <p:nvPr/>
        </p:nvSpPr>
        <p:spPr bwMode="auto">
          <a:xfrm flipV="1">
            <a:off x="4859338" y="3273425"/>
            <a:ext cx="0" cy="12446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8330" name="Line 90"/>
          <p:cNvSpPr>
            <a:spLocks noChangeShapeType="1"/>
          </p:cNvSpPr>
          <p:nvPr/>
        </p:nvSpPr>
        <p:spPr bwMode="auto">
          <a:xfrm flipV="1">
            <a:off x="6465888" y="3284538"/>
            <a:ext cx="0" cy="1241425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8331" name="Oval 91"/>
          <p:cNvSpPr>
            <a:spLocks noChangeArrowheads="1"/>
          </p:cNvSpPr>
          <p:nvPr/>
        </p:nvSpPr>
        <p:spPr bwMode="auto">
          <a:xfrm>
            <a:off x="655638" y="612775"/>
            <a:ext cx="265112" cy="265113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383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38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38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38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38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382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1382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4" dur="500"/>
                                        <p:tgtEl>
                                          <p:spTgt spid="1382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382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382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59" dur="500"/>
                                        <p:tgtEl>
                                          <p:spTgt spid="138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500"/>
                                        <p:tgtEl>
                                          <p:spTgt spid="138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0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2" dur="500"/>
                                        <p:tgtEl>
                                          <p:spTgt spid="138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78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0" dur="500"/>
                                        <p:tgtEl>
                                          <p:spTgt spid="1382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5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8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8" dur="500"/>
                                        <p:tgtEl>
                                          <p:spTgt spid="1382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3" dur="500"/>
                                        <p:tgtEl>
                                          <p:spTgt spid="1382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 nodeType="clickPar">
                      <p:stCondLst>
                        <p:cond delay="indefinite"/>
                      </p:stCondLst>
                      <p:childTnLst>
                        <p:par>
                          <p:cTn id="9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1382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1382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1382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3" fill="hold" nodeType="clickPar">
                      <p:stCondLst>
                        <p:cond delay="indefinite"/>
                      </p:stCondLst>
                      <p:childTnLst>
                        <p:par>
                          <p:cTn id="1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1383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8" fill="hold" nodeType="clickPar">
                      <p:stCondLst>
                        <p:cond delay="indefinite"/>
                      </p:stCondLst>
                      <p:childTnLst>
                        <p:par>
                          <p:cTn id="1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8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6" dur="500"/>
                                        <p:tgtEl>
                                          <p:spTgt spid="138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28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0" dur="500"/>
                                        <p:tgtEl>
                                          <p:spTgt spid="138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1" fill="hold" nodeType="clickPar">
                      <p:stCondLst>
                        <p:cond delay="indefinite"/>
                      </p:stCondLst>
                      <p:childTnLst>
                        <p:par>
                          <p:cTn id="1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5" dur="500"/>
                                        <p:tgtEl>
                                          <p:spTgt spid="1382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6" fill="hold" nodeType="clickPar">
                      <p:stCondLst>
                        <p:cond delay="indefinite"/>
                      </p:stCondLst>
                      <p:childTnLst>
                        <p:par>
                          <p:cTn id="1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0" dur="500"/>
                                        <p:tgtEl>
                                          <p:spTgt spid="1382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1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4" dur="300"/>
                                        <p:tgtEl>
                                          <p:spTgt spid="1383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5" fill="hold" nodeType="clickPar">
                      <p:stCondLst>
                        <p:cond delay="indefinite"/>
                      </p:stCondLst>
                      <p:childTnLst>
                        <p:par>
                          <p:cTn id="1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7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8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9" fill="hold" nodeType="clickPar">
                      <p:stCondLst>
                        <p:cond delay="indefinite"/>
                      </p:stCondLst>
                      <p:childTnLst>
                        <p:par>
                          <p:cTn id="1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1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2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 nodeType="clickPar">
                      <p:stCondLst>
                        <p:cond delay="indefinite"/>
                      </p:stCondLst>
                      <p:childTnLst>
                        <p:par>
                          <p:cTn id="1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5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 nodeType="clickPar">
                      <p:stCondLst>
                        <p:cond delay="indefinite"/>
                      </p:stCondLst>
                      <p:childTnLst>
                        <p:par>
                          <p:cTn id="1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9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 nodeType="clickPar">
                      <p:stCondLst>
                        <p:cond delay="indefinite"/>
                      </p:stCondLst>
                      <p:childTnLst>
                        <p:par>
                          <p:cTn id="1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3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 nodeType="clickPar">
                      <p:stCondLst>
                        <p:cond delay="indefinite"/>
                      </p:stCondLst>
                      <p:childTnLst>
                        <p:par>
                          <p:cTn id="1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7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 nodeType="clickPar">
                      <p:stCondLst>
                        <p:cond delay="indefinite"/>
                      </p:stCondLst>
                      <p:childTnLst>
                        <p:par>
                          <p:cTn id="1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1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 nodeType="clickPar">
                      <p:stCondLst>
                        <p:cond delay="indefinite"/>
                      </p:stCondLst>
                      <p:childTnLst>
                        <p:par>
                          <p:cTn id="1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5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 nodeType="clickPar">
                      <p:stCondLst>
                        <p:cond delay="indefinite"/>
                      </p:stCondLst>
                      <p:childTnLst>
                        <p:par>
                          <p:cTn id="1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9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 nodeType="clickPar">
                      <p:stCondLst>
                        <p:cond delay="indefinite"/>
                      </p:stCondLst>
                      <p:childTnLst>
                        <p:par>
                          <p:cTn id="1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3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 nodeType="clickPar">
                      <p:stCondLst>
                        <p:cond delay="indefinite"/>
                      </p:stCondLst>
                      <p:childTnLst>
                        <p:par>
                          <p:cTn id="1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7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 nodeType="clickPar">
                      <p:stCondLst>
                        <p:cond delay="indefinite"/>
                      </p:stCondLst>
                      <p:childTnLst>
                        <p:par>
                          <p:cTn id="1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1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 nodeType="clickPar">
                      <p:stCondLst>
                        <p:cond delay="indefinite"/>
                      </p:stCondLst>
                      <p:childTnLst>
                        <p:par>
                          <p:cTn id="1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5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 nodeType="clickPar">
                      <p:stCondLst>
                        <p:cond delay="indefinite"/>
                      </p:stCondLst>
                      <p:childTnLst>
                        <p:par>
                          <p:cTn id="1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9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 nodeType="clickPar">
                      <p:stCondLst>
                        <p:cond delay="indefinite"/>
                      </p:stCondLst>
                      <p:childTnLst>
                        <p:par>
                          <p:cTn id="2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3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 nodeType="clickPar">
                      <p:stCondLst>
                        <p:cond delay="indefinite"/>
                      </p:stCondLst>
                      <p:childTnLst>
                        <p:par>
                          <p:cTn id="2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7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1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2" dur="75"/>
                                        <p:tgtEl>
                                          <p:spTgt spid="13832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3" fill="hold" nodeType="afterGroup">
                            <p:stCondLst>
                              <p:cond delay="1375"/>
                            </p:stCondLst>
                            <p:childTnLst>
                              <p:par>
                                <p:cTn id="2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3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6" dur="75"/>
                                        <p:tgtEl>
                                          <p:spTgt spid="138320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7" fill="hold" nodeType="clickPar">
                      <p:stCondLst>
                        <p:cond delay="indefinite"/>
                      </p:stCondLst>
                      <p:childTnLst>
                        <p:par>
                          <p:cTn id="2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9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0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1" fill="hold" nodeType="clickPar">
                      <p:stCondLst>
                        <p:cond delay="indefinite"/>
                      </p:stCondLst>
                      <p:childTnLst>
                        <p:par>
                          <p:cTn id="2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3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 nodeType="clickPar">
                      <p:stCondLst>
                        <p:cond delay="indefinite"/>
                      </p:stCondLst>
                      <p:childTnLst>
                        <p:par>
                          <p:cTn id="2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7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 nodeType="clickPar">
                      <p:stCondLst>
                        <p:cond delay="indefinite"/>
                      </p:stCondLst>
                      <p:childTnLst>
                        <p:par>
                          <p:cTn id="2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1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 nodeType="clickPar">
                      <p:stCondLst>
                        <p:cond delay="indefinite"/>
                      </p:stCondLst>
                      <p:childTnLst>
                        <p:par>
                          <p:cTn id="2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5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 nodeType="clickPar">
                      <p:stCondLst>
                        <p:cond delay="indefinite"/>
                      </p:stCondLst>
                      <p:childTnLst>
                        <p:par>
                          <p:cTn id="2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9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1" fill="hold" nodeType="clickPar">
                      <p:stCondLst>
                        <p:cond delay="indefinite"/>
                      </p:stCondLst>
                      <p:childTnLst>
                        <p:par>
                          <p:cTn id="2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3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5" fill="hold" nodeType="clickPar">
                      <p:stCondLst>
                        <p:cond delay="indefinite"/>
                      </p:stCondLst>
                      <p:childTnLst>
                        <p:par>
                          <p:cTn id="2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47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8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8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8256" grpId="0" animBg="1"/>
      <p:bldP spid="138257" grpId="0" autoUpdateAnimBg="0"/>
      <p:bldP spid="138258" grpId="0" animBg="1"/>
      <p:bldP spid="138259" grpId="0" animBg="1"/>
      <p:bldP spid="138260" grpId="0" animBg="1"/>
      <p:bldP spid="138261" grpId="0" animBg="1"/>
      <p:bldP spid="138262" grpId="0" animBg="1"/>
      <p:bldP spid="138263" grpId="0" animBg="1"/>
      <p:bldP spid="138264" grpId="0" animBg="1"/>
      <p:bldP spid="138265" grpId="0" animBg="1"/>
      <p:bldP spid="138266" grpId="0" animBg="1"/>
      <p:bldP spid="138267" grpId="0" animBg="1"/>
      <p:bldP spid="138268" grpId="0" animBg="1"/>
      <p:bldP spid="138269" grpId="0" animBg="1"/>
      <p:bldP spid="138270" grpId="0" animBg="1"/>
      <p:bldP spid="138271" grpId="0" animBg="1"/>
      <p:bldP spid="138272" grpId="0" animBg="1"/>
      <p:bldP spid="138273" grpId="0" animBg="1"/>
      <p:bldP spid="138274" grpId="0" animBg="1"/>
      <p:bldP spid="138275" grpId="0" animBg="1"/>
      <p:bldP spid="138276" grpId="0" animBg="1"/>
      <p:bldP spid="138277" grpId="0" animBg="1"/>
      <p:bldP spid="138278" grpId="0" animBg="1"/>
      <p:bldP spid="138279" grpId="0" animBg="1"/>
      <p:bldP spid="138280" grpId="0" animBg="1"/>
      <p:bldP spid="138281" grpId="0" animBg="1"/>
      <p:bldP spid="138282" grpId="0" animBg="1"/>
      <p:bldP spid="138283" grpId="0" animBg="1"/>
      <p:bldP spid="138284" grpId="0" animBg="1"/>
      <p:bldP spid="138285" grpId="0" animBg="1"/>
      <p:bldP spid="138286" grpId="0" animBg="1"/>
      <p:bldP spid="138287" grpId="0" animBg="1"/>
      <p:bldP spid="138288" grpId="0" animBg="1"/>
      <p:bldP spid="138289" grpId="0"/>
      <p:bldP spid="138290" grpId="0" animBg="1"/>
      <p:bldP spid="138291" grpId="0" animBg="1"/>
      <p:bldP spid="138312" grpId="0" animBg="1"/>
      <p:bldP spid="138313" grpId="0" animBg="1"/>
      <p:bldP spid="138314" grpId="0"/>
      <p:bldP spid="138315" grpId="0" animBg="1"/>
      <p:bldP spid="138316" grpId="0" animBg="1"/>
      <p:bldP spid="138318" grpId="0" autoUpdateAnimBg="0"/>
      <p:bldP spid="138320" grpId="0" build="p" autoUpdateAnimBg="0" advAuto="0"/>
      <p:bldP spid="138321" grpId="0" animBg="1"/>
      <p:bldP spid="138322" grpId="0" animBg="1"/>
      <p:bldP spid="138323" grpId="0" animBg="1"/>
      <p:bldP spid="138324" grpId="0" animBg="1"/>
      <p:bldP spid="138325" grpId="0" animBg="1"/>
      <p:bldP spid="138326" grpId="0" animBg="1"/>
      <p:bldP spid="138327" grpId="0" animBg="1"/>
      <p:bldP spid="138328" grpId="0" animBg="1"/>
      <p:bldP spid="138329" grpId="0" animBg="1"/>
      <p:bldP spid="138330" grpId="0" animBg="1"/>
      <p:bldP spid="138331" grpId="0" animBg="1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8259D0B3-83F4-44B5-A93B-31B0DCD48482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13</a:t>
            </a:fld>
            <a:endParaRPr lang="en-US" altLang="zh-CN" sz="1400" smtClean="0">
              <a:solidFill>
                <a:schemeClr val="bg2"/>
              </a:solidFill>
            </a:endParaRPr>
          </a:p>
        </p:txBody>
      </p:sp>
      <p:grpSp>
        <p:nvGrpSpPr>
          <p:cNvPr id="137218" name="Group 2"/>
          <p:cNvGrpSpPr>
            <a:grpSpLocks/>
          </p:cNvGrpSpPr>
          <p:nvPr/>
        </p:nvGrpSpPr>
        <p:grpSpPr bwMode="auto">
          <a:xfrm>
            <a:off x="4049713" y="1773238"/>
            <a:ext cx="3898900" cy="4446587"/>
            <a:chOff x="2486" y="1285"/>
            <a:chExt cx="2456" cy="2801"/>
          </a:xfrm>
        </p:grpSpPr>
        <p:grpSp>
          <p:nvGrpSpPr>
            <p:cNvPr id="15393" name="Group 3"/>
            <p:cNvGrpSpPr>
              <a:grpSpLocks/>
            </p:cNvGrpSpPr>
            <p:nvPr/>
          </p:nvGrpSpPr>
          <p:grpSpPr bwMode="auto">
            <a:xfrm>
              <a:off x="2486" y="1285"/>
              <a:ext cx="2456" cy="2801"/>
              <a:chOff x="2486" y="1285"/>
              <a:chExt cx="2456" cy="2801"/>
            </a:xfrm>
          </p:grpSpPr>
          <p:sp>
            <p:nvSpPr>
              <p:cNvPr id="15395" name="Oval 4"/>
              <p:cNvSpPr>
                <a:spLocks noChangeArrowheads="1"/>
              </p:cNvSpPr>
              <p:nvPr/>
            </p:nvSpPr>
            <p:spPr bwMode="auto">
              <a:xfrm>
                <a:off x="2620" y="2950"/>
                <a:ext cx="989" cy="989"/>
              </a:xfrm>
              <a:prstGeom prst="ellipse">
                <a:avLst/>
              </a:prstGeom>
              <a:solidFill>
                <a:srgbClr val="99CCFF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400"/>
              </a:p>
            </p:txBody>
          </p:sp>
          <p:sp>
            <p:nvSpPr>
              <p:cNvPr id="15396" name="Line 5"/>
              <p:cNvSpPr>
                <a:spLocks noChangeShapeType="1"/>
              </p:cNvSpPr>
              <p:nvPr/>
            </p:nvSpPr>
            <p:spPr bwMode="auto">
              <a:xfrm flipV="1">
                <a:off x="3114" y="1285"/>
                <a:ext cx="0" cy="1439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lgDash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397" name="Line 6"/>
              <p:cNvSpPr>
                <a:spLocks noChangeShapeType="1"/>
              </p:cNvSpPr>
              <p:nvPr/>
            </p:nvSpPr>
            <p:spPr bwMode="auto">
              <a:xfrm flipV="1">
                <a:off x="4432" y="1292"/>
                <a:ext cx="0" cy="1439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lgDash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398" name="Line 7"/>
              <p:cNvSpPr>
                <a:spLocks noChangeShapeType="1"/>
              </p:cNvSpPr>
              <p:nvPr/>
            </p:nvSpPr>
            <p:spPr bwMode="auto">
              <a:xfrm>
                <a:off x="3945" y="1425"/>
                <a:ext cx="997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399" name="Line 8"/>
              <p:cNvSpPr>
                <a:spLocks noChangeShapeType="1"/>
              </p:cNvSpPr>
              <p:nvPr/>
            </p:nvSpPr>
            <p:spPr bwMode="auto">
              <a:xfrm flipV="1">
                <a:off x="3954" y="2610"/>
                <a:ext cx="987" cy="7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400" name="Line 9"/>
              <p:cNvSpPr>
                <a:spLocks noChangeShapeType="1"/>
              </p:cNvSpPr>
              <p:nvPr/>
            </p:nvSpPr>
            <p:spPr bwMode="auto">
              <a:xfrm>
                <a:off x="3112" y="2836"/>
                <a:ext cx="0" cy="125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lgDash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401" name="Line 10"/>
              <p:cNvSpPr>
                <a:spLocks noChangeShapeType="1"/>
              </p:cNvSpPr>
              <p:nvPr/>
            </p:nvSpPr>
            <p:spPr bwMode="auto">
              <a:xfrm>
                <a:off x="2486" y="3461"/>
                <a:ext cx="1258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lgDash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402" name="Line 11"/>
              <p:cNvSpPr>
                <a:spLocks noChangeShapeType="1"/>
              </p:cNvSpPr>
              <p:nvPr/>
            </p:nvSpPr>
            <p:spPr bwMode="auto">
              <a:xfrm flipV="1">
                <a:off x="3607" y="1433"/>
                <a:ext cx="0" cy="119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403" name="Line 12"/>
              <p:cNvSpPr>
                <a:spLocks noChangeShapeType="1"/>
              </p:cNvSpPr>
              <p:nvPr/>
            </p:nvSpPr>
            <p:spPr bwMode="auto">
              <a:xfrm>
                <a:off x="2611" y="2618"/>
                <a:ext cx="1003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404" name="Line 13"/>
              <p:cNvSpPr>
                <a:spLocks noChangeShapeType="1"/>
              </p:cNvSpPr>
              <p:nvPr/>
            </p:nvSpPr>
            <p:spPr bwMode="auto">
              <a:xfrm>
                <a:off x="2604" y="1424"/>
                <a:ext cx="1016" cy="1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405" name="Line 14"/>
              <p:cNvSpPr>
                <a:spLocks noChangeShapeType="1"/>
              </p:cNvSpPr>
              <p:nvPr/>
            </p:nvSpPr>
            <p:spPr bwMode="auto">
              <a:xfrm flipV="1">
                <a:off x="3956" y="1426"/>
                <a:ext cx="0" cy="120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406" name="Line 15"/>
              <p:cNvSpPr>
                <a:spLocks noChangeShapeType="1"/>
              </p:cNvSpPr>
              <p:nvPr/>
            </p:nvSpPr>
            <p:spPr bwMode="auto">
              <a:xfrm flipV="1">
                <a:off x="4931" y="1418"/>
                <a:ext cx="0" cy="120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15394" name="Line 16"/>
            <p:cNvSpPr>
              <a:spLocks noChangeShapeType="1"/>
            </p:cNvSpPr>
            <p:nvPr/>
          </p:nvSpPr>
          <p:spPr bwMode="auto">
            <a:xfrm flipV="1">
              <a:off x="2600" y="1419"/>
              <a:ext cx="0" cy="1211"/>
            </a:xfrm>
            <a:prstGeom prst="line">
              <a:avLst/>
            </a:prstGeom>
            <a:noFill/>
            <a:ln w="38100">
              <a:solidFill>
                <a:srgbClr val="000066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5364" name="Group 17"/>
          <p:cNvGrpSpPr>
            <a:grpSpLocks/>
          </p:cNvGrpSpPr>
          <p:nvPr/>
        </p:nvGrpSpPr>
        <p:grpSpPr bwMode="auto">
          <a:xfrm>
            <a:off x="450850" y="1849438"/>
            <a:ext cx="3498850" cy="3376612"/>
            <a:chOff x="219" y="1234"/>
            <a:chExt cx="2204" cy="2127"/>
          </a:xfrm>
        </p:grpSpPr>
        <p:grpSp>
          <p:nvGrpSpPr>
            <p:cNvPr id="15386" name="Group 18"/>
            <p:cNvGrpSpPr>
              <a:grpSpLocks/>
            </p:cNvGrpSpPr>
            <p:nvPr/>
          </p:nvGrpSpPr>
          <p:grpSpPr bwMode="auto">
            <a:xfrm>
              <a:off x="219" y="1234"/>
              <a:ext cx="2204" cy="2107"/>
              <a:chOff x="219" y="1234"/>
              <a:chExt cx="2204" cy="2107"/>
            </a:xfrm>
          </p:grpSpPr>
          <p:sp>
            <p:nvSpPr>
              <p:cNvPr id="15388" name="Freeform 19"/>
              <p:cNvSpPr>
                <a:spLocks/>
              </p:cNvSpPr>
              <p:nvPr/>
            </p:nvSpPr>
            <p:spPr bwMode="auto">
              <a:xfrm>
                <a:off x="263" y="2719"/>
                <a:ext cx="2147" cy="622"/>
              </a:xfrm>
              <a:custGeom>
                <a:avLst/>
                <a:gdLst>
                  <a:gd name="T0" fmla="*/ 1125 w 2147"/>
                  <a:gd name="T1" fmla="*/ 0 h 622"/>
                  <a:gd name="T2" fmla="*/ 0 w 2147"/>
                  <a:gd name="T3" fmla="*/ 415 h 622"/>
                  <a:gd name="T4" fmla="*/ 1058 w 2147"/>
                  <a:gd name="T5" fmla="*/ 622 h 622"/>
                  <a:gd name="T6" fmla="*/ 2147 w 2147"/>
                  <a:gd name="T7" fmla="*/ 255 h 622"/>
                  <a:gd name="T8" fmla="*/ 1125 w 2147"/>
                  <a:gd name="T9" fmla="*/ 0 h 62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147" h="622">
                    <a:moveTo>
                      <a:pt x="1125" y="0"/>
                    </a:moveTo>
                    <a:lnTo>
                      <a:pt x="0" y="415"/>
                    </a:lnTo>
                    <a:lnTo>
                      <a:pt x="1058" y="622"/>
                    </a:lnTo>
                    <a:lnTo>
                      <a:pt x="2147" y="255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rgbClr val="CCFF99">
                  <a:alpha val="50195"/>
                </a:srgbClr>
              </a:solidFill>
              <a:ln w="28575" cmpd="sng">
                <a:solidFill>
                  <a:srgbClr val="CCFF99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389" name="Freeform 20"/>
              <p:cNvSpPr>
                <a:spLocks/>
              </p:cNvSpPr>
              <p:nvPr/>
            </p:nvSpPr>
            <p:spPr bwMode="auto">
              <a:xfrm>
                <a:off x="1367" y="1234"/>
                <a:ext cx="1056" cy="1744"/>
              </a:xfrm>
              <a:custGeom>
                <a:avLst/>
                <a:gdLst>
                  <a:gd name="T0" fmla="*/ 0 w 1056"/>
                  <a:gd name="T1" fmla="*/ 0 h 2156"/>
                  <a:gd name="T2" fmla="*/ 0 w 1056"/>
                  <a:gd name="T3" fmla="*/ 959 h 2156"/>
                  <a:gd name="T4" fmla="*/ 1056 w 1056"/>
                  <a:gd name="T5" fmla="*/ 1141 h 2156"/>
                  <a:gd name="T6" fmla="*/ 1056 w 1056"/>
                  <a:gd name="T7" fmla="*/ 183 h 2156"/>
                  <a:gd name="T8" fmla="*/ 0 w 1056"/>
                  <a:gd name="T9" fmla="*/ 0 h 21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56" h="2156">
                    <a:moveTo>
                      <a:pt x="0" y="0"/>
                    </a:moveTo>
                    <a:lnTo>
                      <a:pt x="0" y="1811"/>
                    </a:lnTo>
                    <a:lnTo>
                      <a:pt x="1056" y="2156"/>
                    </a:lnTo>
                    <a:lnTo>
                      <a:pt x="1056" y="34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99">
                  <a:alpha val="50195"/>
                </a:srgbClr>
              </a:solidFill>
              <a:ln w="28575" cmpd="sng">
                <a:solidFill>
                  <a:srgbClr val="FFFF99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5390" name="Freeform 21"/>
              <p:cNvSpPr>
                <a:spLocks/>
              </p:cNvSpPr>
              <p:nvPr/>
            </p:nvSpPr>
            <p:spPr bwMode="auto">
              <a:xfrm>
                <a:off x="255" y="1236"/>
                <a:ext cx="1123" cy="1899"/>
              </a:xfrm>
              <a:custGeom>
                <a:avLst/>
                <a:gdLst>
                  <a:gd name="T0" fmla="*/ 0 w 1123"/>
                  <a:gd name="T1" fmla="*/ 384 h 1899"/>
                  <a:gd name="T2" fmla="*/ 1123 w 1123"/>
                  <a:gd name="T3" fmla="*/ 0 h 1899"/>
                  <a:gd name="T4" fmla="*/ 1123 w 1123"/>
                  <a:gd name="T5" fmla="*/ 1467 h 1899"/>
                  <a:gd name="T6" fmla="*/ 1 w 1123"/>
                  <a:gd name="T7" fmla="*/ 1899 h 1899"/>
                  <a:gd name="T8" fmla="*/ 0 w 1123"/>
                  <a:gd name="T9" fmla="*/ 384 h 189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123" h="1899">
                    <a:moveTo>
                      <a:pt x="0" y="384"/>
                    </a:moveTo>
                    <a:lnTo>
                      <a:pt x="1123" y="0"/>
                    </a:lnTo>
                    <a:lnTo>
                      <a:pt x="1123" y="1467"/>
                    </a:lnTo>
                    <a:lnTo>
                      <a:pt x="1" y="1899"/>
                    </a:lnTo>
                    <a:lnTo>
                      <a:pt x="0" y="384"/>
                    </a:lnTo>
                    <a:close/>
                  </a:path>
                </a:pathLst>
              </a:custGeom>
              <a:solidFill>
                <a:srgbClr val="CCFFCC">
                  <a:alpha val="50195"/>
                </a:srgbClr>
              </a:solidFill>
              <a:ln w="28575" cmpd="sng">
                <a:solidFill>
                  <a:srgbClr val="CCFFCC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7238" name="Text Box 22"/>
              <p:cNvSpPr txBox="1">
                <a:spLocks noChangeArrowheads="1"/>
              </p:cNvSpPr>
              <p:nvPr/>
            </p:nvSpPr>
            <p:spPr bwMode="auto">
              <a:xfrm>
                <a:off x="219" y="1555"/>
                <a:ext cx="301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>
                  <a:defRPr/>
                </a:pPr>
                <a:r>
                  <a:rPr kumimoji="1" lang="en-US" altLang="zh-CN" sz="3200" b="1">
                    <a:solidFill>
                      <a:srgbClr val="000066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ea typeface="隶书" pitchFamily="49" charset="-122"/>
                  </a:rPr>
                  <a:t>V</a:t>
                </a:r>
              </a:p>
            </p:txBody>
          </p:sp>
          <p:sp>
            <p:nvSpPr>
              <p:cNvPr id="137239" name="Text Box 23"/>
              <p:cNvSpPr txBox="1">
                <a:spLocks noChangeArrowheads="1"/>
              </p:cNvSpPr>
              <p:nvPr/>
            </p:nvSpPr>
            <p:spPr bwMode="auto">
              <a:xfrm>
                <a:off x="2048" y="1428"/>
                <a:ext cx="372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>
                  <a:defRPr/>
                </a:pPr>
                <a:r>
                  <a:rPr kumimoji="1" lang="en-US" altLang="zh-CN" sz="3200" b="1">
                    <a:solidFill>
                      <a:srgbClr val="000066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ea typeface="隶书" pitchFamily="49" charset="-122"/>
                  </a:rPr>
                  <a:t>W</a:t>
                </a:r>
              </a:p>
            </p:txBody>
          </p:sp>
        </p:grpSp>
        <p:sp>
          <p:nvSpPr>
            <p:cNvPr id="137240" name="Text Box 24"/>
            <p:cNvSpPr txBox="1">
              <a:spLocks noChangeArrowheads="1"/>
            </p:cNvSpPr>
            <p:nvPr/>
          </p:nvSpPr>
          <p:spPr bwMode="auto">
            <a:xfrm>
              <a:off x="1137" y="2996"/>
              <a:ext cx="315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defRPr/>
              </a:pPr>
              <a:r>
                <a:rPr kumimoji="1" lang="en-US" altLang="zh-CN" sz="3200" b="1">
                  <a:solidFill>
                    <a:srgbClr val="0000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隶书" pitchFamily="49" charset="-122"/>
                </a:rPr>
                <a:t>H</a:t>
              </a:r>
            </a:p>
          </p:txBody>
        </p:sp>
      </p:grpSp>
      <p:grpSp>
        <p:nvGrpSpPr>
          <p:cNvPr id="15365" name="Group 25"/>
          <p:cNvGrpSpPr>
            <a:grpSpLocks/>
          </p:cNvGrpSpPr>
          <p:nvPr/>
        </p:nvGrpSpPr>
        <p:grpSpPr bwMode="auto">
          <a:xfrm>
            <a:off x="1419225" y="1866900"/>
            <a:ext cx="1530350" cy="2974975"/>
            <a:chOff x="829" y="1245"/>
            <a:chExt cx="964" cy="1874"/>
          </a:xfrm>
        </p:grpSpPr>
        <p:sp>
          <p:nvSpPr>
            <p:cNvPr id="15381" name="AutoShape 26"/>
            <p:cNvSpPr>
              <a:spLocks noChangeArrowheads="1"/>
            </p:cNvSpPr>
            <p:nvPr/>
          </p:nvSpPr>
          <p:spPr bwMode="auto">
            <a:xfrm>
              <a:off x="829" y="1571"/>
              <a:ext cx="964" cy="1291"/>
            </a:xfrm>
            <a:prstGeom prst="can">
              <a:avLst>
                <a:gd name="adj" fmla="val 33480"/>
              </a:avLst>
            </a:prstGeom>
            <a:gradFill rotWithShape="0">
              <a:gsLst>
                <a:gs pos="0">
                  <a:srgbClr val="00FF99"/>
                </a:gs>
                <a:gs pos="100000">
                  <a:srgbClr val="00100A"/>
                </a:gs>
              </a:gsLst>
              <a:lin ang="0" scaled="1"/>
            </a:gra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400"/>
            </a:p>
          </p:txBody>
        </p:sp>
        <p:sp>
          <p:nvSpPr>
            <p:cNvPr id="15382" name="Line 27"/>
            <p:cNvSpPr>
              <a:spLocks noChangeShapeType="1"/>
            </p:cNvSpPr>
            <p:nvPr/>
          </p:nvSpPr>
          <p:spPr bwMode="auto">
            <a:xfrm flipV="1">
              <a:off x="1302" y="1428"/>
              <a:ext cx="0" cy="30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83" name="Line 28"/>
            <p:cNvSpPr>
              <a:spLocks noChangeShapeType="1"/>
            </p:cNvSpPr>
            <p:nvPr/>
          </p:nvSpPr>
          <p:spPr bwMode="auto">
            <a:xfrm>
              <a:off x="1338" y="2862"/>
              <a:ext cx="0" cy="15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5384" name="Text Box 29"/>
            <p:cNvSpPr txBox="1">
              <a:spLocks noChangeArrowheads="1"/>
            </p:cNvSpPr>
            <p:nvPr/>
          </p:nvSpPr>
          <p:spPr bwMode="auto">
            <a:xfrm>
              <a:off x="1280" y="1245"/>
              <a:ext cx="29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b="1"/>
                <a:t>O</a:t>
              </a:r>
            </a:p>
          </p:txBody>
        </p:sp>
        <p:sp>
          <p:nvSpPr>
            <p:cNvPr id="15385" name="Text Box 30"/>
            <p:cNvSpPr txBox="1">
              <a:spLocks noChangeArrowheads="1"/>
            </p:cNvSpPr>
            <p:nvPr/>
          </p:nvSpPr>
          <p:spPr bwMode="auto">
            <a:xfrm>
              <a:off x="1379" y="2792"/>
              <a:ext cx="29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b="1"/>
                <a:t>O</a:t>
              </a:r>
            </a:p>
          </p:txBody>
        </p:sp>
      </p:grpSp>
      <p:sp>
        <p:nvSpPr>
          <p:cNvPr id="137247" name="Text Box 31"/>
          <p:cNvSpPr txBox="1">
            <a:spLocks noChangeArrowheads="1"/>
          </p:cNvSpPr>
          <p:nvPr/>
        </p:nvSpPr>
        <p:spPr bwMode="auto">
          <a:xfrm>
            <a:off x="869950" y="242888"/>
            <a:ext cx="50196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>
              <a:defRPr/>
            </a:pPr>
            <a:r>
              <a:rPr kumimoji="1" lang="zh-CN" altLang="en-US" sz="36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itchFamily="2" charset="-122"/>
                <a:sym typeface="Marlett" pitchFamily="2" charset="2"/>
              </a:rPr>
              <a:t>圆柱体表面取</a:t>
            </a:r>
            <a:r>
              <a:rPr kumimoji="1" lang="zh-CN" altLang="en-US" sz="3600" b="1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itchFamily="2" charset="-122"/>
                <a:sym typeface="Marlett" pitchFamily="2" charset="2"/>
              </a:rPr>
              <a:t>点</a:t>
            </a:r>
            <a:endParaRPr kumimoji="1" lang="zh-CN" altLang="en-US" sz="3600" b="1" dirty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ea typeface="黑体" pitchFamily="2" charset="-122"/>
            </a:endParaRPr>
          </a:p>
        </p:txBody>
      </p:sp>
      <p:sp>
        <p:nvSpPr>
          <p:cNvPr id="137249" name="Oval 33"/>
          <p:cNvSpPr>
            <a:spLocks noChangeArrowheads="1"/>
          </p:cNvSpPr>
          <p:nvPr/>
        </p:nvSpPr>
        <p:spPr bwMode="auto">
          <a:xfrm>
            <a:off x="2801938" y="3235325"/>
            <a:ext cx="207962" cy="207963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3C000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37250" name="Text Box 34"/>
          <p:cNvSpPr txBox="1">
            <a:spLocks noChangeArrowheads="1"/>
          </p:cNvSpPr>
          <p:nvPr/>
        </p:nvSpPr>
        <p:spPr bwMode="auto">
          <a:xfrm>
            <a:off x="2963863" y="2778125"/>
            <a:ext cx="5191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defRPr/>
            </a:pPr>
            <a:r>
              <a:rPr kumimoji="1" lang="en-US" altLang="zh-CN" sz="2800" b="1">
                <a:solidFill>
                  <a:srgbClr val="990033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</a:t>
            </a:r>
          </a:p>
        </p:txBody>
      </p:sp>
      <p:sp>
        <p:nvSpPr>
          <p:cNvPr id="137251" name="Text Box 35"/>
          <p:cNvSpPr txBox="1">
            <a:spLocks noChangeArrowheads="1"/>
          </p:cNvSpPr>
          <p:nvPr/>
        </p:nvSpPr>
        <p:spPr bwMode="auto">
          <a:xfrm>
            <a:off x="5245100" y="2170113"/>
            <a:ext cx="5794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b="1">
                <a:solidFill>
                  <a:srgbClr val="990033"/>
                </a:solidFill>
              </a:rPr>
              <a:t>m'</a:t>
            </a:r>
          </a:p>
        </p:txBody>
      </p:sp>
      <p:sp>
        <p:nvSpPr>
          <p:cNvPr id="137252" name="Line 36"/>
          <p:cNvSpPr>
            <a:spLocks noChangeShapeType="1"/>
          </p:cNvSpPr>
          <p:nvPr/>
        </p:nvSpPr>
        <p:spPr bwMode="auto">
          <a:xfrm>
            <a:off x="5354638" y="2700338"/>
            <a:ext cx="0" cy="32448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7253" name="Oval 37"/>
          <p:cNvSpPr>
            <a:spLocks noChangeArrowheads="1"/>
          </p:cNvSpPr>
          <p:nvPr/>
        </p:nvSpPr>
        <p:spPr bwMode="auto">
          <a:xfrm>
            <a:off x="5276850" y="5830888"/>
            <a:ext cx="173038" cy="173037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3C000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37254" name="Text Box 38"/>
          <p:cNvSpPr txBox="1">
            <a:spLocks noChangeArrowheads="1"/>
          </p:cNvSpPr>
          <p:nvPr/>
        </p:nvSpPr>
        <p:spPr bwMode="auto">
          <a:xfrm>
            <a:off x="5424488" y="5695950"/>
            <a:ext cx="4810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b="1">
                <a:solidFill>
                  <a:srgbClr val="990033"/>
                </a:solidFill>
              </a:rPr>
              <a:t>m</a:t>
            </a:r>
          </a:p>
        </p:txBody>
      </p:sp>
      <p:sp>
        <p:nvSpPr>
          <p:cNvPr id="137255" name="Line 39"/>
          <p:cNvSpPr>
            <a:spLocks noChangeShapeType="1"/>
          </p:cNvSpPr>
          <p:nvPr/>
        </p:nvSpPr>
        <p:spPr bwMode="auto">
          <a:xfrm>
            <a:off x="5332413" y="2724150"/>
            <a:ext cx="2540000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7256" name="Oval 40"/>
          <p:cNvSpPr>
            <a:spLocks noChangeArrowheads="1"/>
          </p:cNvSpPr>
          <p:nvPr/>
        </p:nvSpPr>
        <p:spPr bwMode="auto">
          <a:xfrm>
            <a:off x="5273675" y="2630488"/>
            <a:ext cx="174625" cy="174625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3C000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37257" name="Line 41"/>
          <p:cNvSpPr>
            <a:spLocks noChangeShapeType="1"/>
          </p:cNvSpPr>
          <p:nvPr/>
        </p:nvSpPr>
        <p:spPr bwMode="auto">
          <a:xfrm rot="-221450">
            <a:off x="5273675" y="5437188"/>
            <a:ext cx="173038" cy="69850"/>
          </a:xfrm>
          <a:prstGeom prst="line">
            <a:avLst/>
          </a:prstGeom>
          <a:noFill/>
          <a:ln w="57150">
            <a:solidFill>
              <a:srgbClr val="9900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7258" name="Line 42"/>
          <p:cNvSpPr>
            <a:spLocks noChangeShapeType="1"/>
          </p:cNvSpPr>
          <p:nvPr/>
        </p:nvSpPr>
        <p:spPr bwMode="auto">
          <a:xfrm rot="2583510">
            <a:off x="7389813" y="2701925"/>
            <a:ext cx="173037" cy="69850"/>
          </a:xfrm>
          <a:prstGeom prst="line">
            <a:avLst/>
          </a:prstGeom>
          <a:noFill/>
          <a:ln w="57150">
            <a:solidFill>
              <a:srgbClr val="9900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7259" name="Oval 43"/>
          <p:cNvSpPr>
            <a:spLocks noChangeArrowheads="1"/>
          </p:cNvSpPr>
          <p:nvPr/>
        </p:nvSpPr>
        <p:spPr bwMode="auto">
          <a:xfrm>
            <a:off x="7761288" y="2620963"/>
            <a:ext cx="160337" cy="160337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3C000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37260" name="Text Box 44"/>
          <p:cNvSpPr txBox="1">
            <a:spLocks noChangeArrowheads="1"/>
          </p:cNvSpPr>
          <p:nvPr/>
        </p:nvSpPr>
        <p:spPr bwMode="auto">
          <a:xfrm>
            <a:off x="8039100" y="2214563"/>
            <a:ext cx="6778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b="1">
                <a:solidFill>
                  <a:srgbClr val="990033"/>
                </a:solidFill>
              </a:rPr>
              <a:t>m"</a:t>
            </a:r>
          </a:p>
        </p:txBody>
      </p:sp>
      <p:sp>
        <p:nvSpPr>
          <p:cNvPr id="137261" name="Text Box 45"/>
          <p:cNvSpPr txBox="1">
            <a:spLocks noChangeArrowheads="1"/>
          </p:cNvSpPr>
          <p:nvPr/>
        </p:nvSpPr>
        <p:spPr bwMode="auto">
          <a:xfrm>
            <a:off x="7862888" y="2185988"/>
            <a:ext cx="10445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b="1">
                <a:solidFill>
                  <a:srgbClr val="990033"/>
                </a:solidFill>
              </a:rPr>
              <a:t>(       )</a:t>
            </a:r>
          </a:p>
        </p:txBody>
      </p:sp>
      <p:sp>
        <p:nvSpPr>
          <p:cNvPr id="137262" name="Oval 46"/>
          <p:cNvSpPr>
            <a:spLocks noChangeArrowheads="1"/>
          </p:cNvSpPr>
          <p:nvPr/>
        </p:nvSpPr>
        <p:spPr bwMode="auto">
          <a:xfrm>
            <a:off x="544513" y="465138"/>
            <a:ext cx="265112" cy="265112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372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372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724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3724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3724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8" dur="500"/>
                                        <p:tgtEl>
                                          <p:spTgt spid="13725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 nodeType="clickPar">
                      <p:stCondLst>
                        <p:cond delay="indefinite"/>
                      </p:stCondLst>
                      <p:childTnLst>
                        <p:par>
                          <p:cTn id="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1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372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500" fill="hold"/>
                                        <p:tgtEl>
                                          <p:spTgt spid="1372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6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8" dur="500"/>
                                        <p:tgtEl>
                                          <p:spTgt spid="13725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3" dur="500"/>
                                        <p:tgtEl>
                                          <p:spTgt spid="1372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372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372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1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3" dur="500"/>
                                        <p:tgtEl>
                                          <p:spTgt spid="1372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372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3" dur="500"/>
                                        <p:tgtEl>
                                          <p:spTgt spid="1372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372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3" dur="500" fill="hold"/>
                                        <p:tgtEl>
                                          <p:spTgt spid="13725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3725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79" dur="500"/>
                                        <p:tgtEl>
                                          <p:spTgt spid="1372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 nodeType="clickPar">
                      <p:stCondLst>
                        <p:cond delay="indefinite"/>
                      </p:stCondLst>
                      <p:childTnLst>
                        <p:par>
                          <p:cTn id="8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2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1372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7247" grpId="0" build="p" autoUpdateAnimBg="0"/>
      <p:bldP spid="137249" grpId="0" animBg="1"/>
      <p:bldP spid="137250" grpId="0" build="p" autoUpdateAnimBg="0"/>
      <p:bldP spid="137251" grpId="0" build="p" autoUpdateAnimBg="0" advAuto="0"/>
      <p:bldP spid="137252" grpId="0" animBg="1"/>
      <p:bldP spid="137253" grpId="0" animBg="1"/>
      <p:bldP spid="137254" grpId="0" build="p" autoUpdateAnimBg="0" advAuto="0"/>
      <p:bldP spid="137255" grpId="0" animBg="1"/>
      <p:bldP spid="137256" grpId="0" animBg="1"/>
      <p:bldP spid="137257" grpId="0" animBg="1"/>
      <p:bldP spid="137258" grpId="0" animBg="1"/>
      <p:bldP spid="137259" grpId="0" animBg="1"/>
      <p:bldP spid="137260" grpId="0" build="p" autoUpdateAnimBg="0"/>
      <p:bldP spid="137261" grpId="0" autoUpdateAnimBg="0"/>
      <p:bldP spid="137262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6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7765DAA1-2936-4B0C-8F2E-F6C846DADF2A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14</a:t>
            </a:fld>
            <a:endParaRPr lang="en-US" altLang="zh-CN" sz="1400" smtClean="0">
              <a:solidFill>
                <a:schemeClr val="bg2"/>
              </a:solidFill>
            </a:endParaRPr>
          </a:p>
        </p:txBody>
      </p:sp>
      <p:grpSp>
        <p:nvGrpSpPr>
          <p:cNvPr id="16387" name="Group 2"/>
          <p:cNvGrpSpPr>
            <a:grpSpLocks/>
          </p:cNvGrpSpPr>
          <p:nvPr/>
        </p:nvGrpSpPr>
        <p:grpSpPr bwMode="auto">
          <a:xfrm>
            <a:off x="708025" y="1220788"/>
            <a:ext cx="2527300" cy="3094037"/>
            <a:chOff x="3039" y="1265"/>
            <a:chExt cx="1267" cy="1551"/>
          </a:xfrm>
        </p:grpSpPr>
        <p:sp>
          <p:nvSpPr>
            <p:cNvPr id="16419" name="Line 3"/>
            <p:cNvSpPr>
              <a:spLocks noChangeShapeType="1"/>
            </p:cNvSpPr>
            <p:nvPr/>
          </p:nvSpPr>
          <p:spPr bwMode="auto">
            <a:xfrm>
              <a:off x="3667" y="1265"/>
              <a:ext cx="0" cy="1551"/>
            </a:xfrm>
            <a:prstGeom prst="line">
              <a:avLst/>
            </a:prstGeom>
            <a:noFill/>
            <a:ln w="28575">
              <a:solidFill>
                <a:srgbClr val="990033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pic>
          <p:nvPicPr>
            <p:cNvPr id="16420" name="Picture 4"/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39" y="1265"/>
              <a:ext cx="1267" cy="14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16388" name="Text Box 5" descr="紫色网格"/>
          <p:cNvSpPr txBox="1">
            <a:spLocks noChangeArrowheads="1"/>
          </p:cNvSpPr>
          <p:nvPr/>
        </p:nvSpPr>
        <p:spPr bwMode="auto">
          <a:xfrm>
            <a:off x="415925" y="239713"/>
            <a:ext cx="202088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3600" b="1">
                <a:latin typeface="黑体" pitchFamily="2" charset="-122"/>
                <a:ea typeface="黑体" pitchFamily="2" charset="-122"/>
              </a:rPr>
              <a:t>2 </a:t>
            </a:r>
            <a:r>
              <a:rPr lang="zh-CN" altLang="en-US" sz="3600" b="1">
                <a:latin typeface="黑体" pitchFamily="2" charset="-122"/>
                <a:ea typeface="黑体" pitchFamily="2" charset="-122"/>
              </a:rPr>
              <a:t>圆锥体</a:t>
            </a:r>
          </a:p>
        </p:txBody>
      </p:sp>
      <p:sp>
        <p:nvSpPr>
          <p:cNvPr id="135174" name="Text Box 6"/>
          <p:cNvSpPr txBox="1">
            <a:spLocks noChangeArrowheads="1"/>
          </p:cNvSpPr>
          <p:nvPr/>
        </p:nvSpPr>
        <p:spPr bwMode="auto">
          <a:xfrm>
            <a:off x="6251575" y="290513"/>
            <a:ext cx="194468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>
              <a:defRPr/>
            </a:pPr>
            <a:r>
              <a:rPr kumimoji="1" lang="zh-CN" altLang="en-US" sz="3600" b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itchFamily="2" charset="-122"/>
                <a:sym typeface="Marlett" pitchFamily="2" charset="2"/>
              </a:rPr>
              <a:t>形成</a:t>
            </a:r>
            <a:endParaRPr kumimoji="1" lang="zh-CN" altLang="en-US" sz="3600" b="1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ea typeface="黑体" pitchFamily="2" charset="-122"/>
            </a:endParaRPr>
          </a:p>
        </p:txBody>
      </p:sp>
      <p:sp>
        <p:nvSpPr>
          <p:cNvPr id="135175" name="Text Box 7"/>
          <p:cNvSpPr txBox="1">
            <a:spLocks noChangeArrowheads="1"/>
          </p:cNvSpPr>
          <p:nvPr/>
        </p:nvSpPr>
        <p:spPr bwMode="auto">
          <a:xfrm>
            <a:off x="1587500" y="1025525"/>
            <a:ext cx="382588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b="1">
                <a:solidFill>
                  <a:srgbClr val="660033"/>
                </a:solidFill>
              </a:rPr>
              <a:t>S</a:t>
            </a:r>
          </a:p>
        </p:txBody>
      </p:sp>
      <p:sp>
        <p:nvSpPr>
          <p:cNvPr id="135176" name="Text Box 8"/>
          <p:cNvSpPr txBox="1">
            <a:spLocks noChangeArrowheads="1"/>
          </p:cNvSpPr>
          <p:nvPr/>
        </p:nvSpPr>
        <p:spPr bwMode="auto">
          <a:xfrm>
            <a:off x="2995613" y="3800475"/>
            <a:ext cx="1771650" cy="5794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b="1">
                <a:solidFill>
                  <a:srgbClr val="000066"/>
                </a:solidFill>
                <a:ea typeface="黑体" pitchFamily="2" charset="-122"/>
              </a:rPr>
              <a:t>底面</a:t>
            </a:r>
          </a:p>
        </p:txBody>
      </p:sp>
      <p:sp>
        <p:nvSpPr>
          <p:cNvPr id="135177" name="Text Box 9"/>
          <p:cNvSpPr txBox="1">
            <a:spLocks noChangeArrowheads="1"/>
          </p:cNvSpPr>
          <p:nvPr/>
        </p:nvSpPr>
        <p:spPr bwMode="auto">
          <a:xfrm>
            <a:off x="3028950" y="1811338"/>
            <a:ext cx="2017713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b="1">
                <a:solidFill>
                  <a:srgbClr val="000066"/>
                </a:solidFill>
                <a:ea typeface="黑体" pitchFamily="2" charset="-122"/>
              </a:rPr>
              <a:t>圆锥面</a:t>
            </a:r>
          </a:p>
        </p:txBody>
      </p:sp>
      <p:sp>
        <p:nvSpPr>
          <p:cNvPr id="135178" name="Text Box 10"/>
          <p:cNvSpPr txBox="1">
            <a:spLocks noChangeArrowheads="1"/>
          </p:cNvSpPr>
          <p:nvPr/>
        </p:nvSpPr>
        <p:spPr bwMode="auto">
          <a:xfrm>
            <a:off x="2643188" y="801688"/>
            <a:ext cx="16097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b="1">
                <a:solidFill>
                  <a:srgbClr val="000066"/>
                </a:solidFill>
                <a:ea typeface="黑体" pitchFamily="2" charset="-122"/>
              </a:rPr>
              <a:t>锥顶</a:t>
            </a:r>
          </a:p>
        </p:txBody>
      </p:sp>
      <p:sp>
        <p:nvSpPr>
          <p:cNvPr id="135179" name="Text Box 11"/>
          <p:cNvSpPr txBox="1">
            <a:spLocks noChangeArrowheads="1"/>
          </p:cNvSpPr>
          <p:nvPr/>
        </p:nvSpPr>
        <p:spPr bwMode="auto">
          <a:xfrm>
            <a:off x="461963" y="4065588"/>
            <a:ext cx="19780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b="1">
                <a:solidFill>
                  <a:srgbClr val="000066"/>
                </a:solidFill>
                <a:ea typeface="黑体" pitchFamily="2" charset="-122"/>
              </a:rPr>
              <a:t>轴线</a:t>
            </a:r>
          </a:p>
        </p:txBody>
      </p:sp>
      <p:sp>
        <p:nvSpPr>
          <p:cNvPr id="135180" name="Line 12"/>
          <p:cNvSpPr>
            <a:spLocks noChangeShapeType="1"/>
          </p:cNvSpPr>
          <p:nvPr/>
        </p:nvSpPr>
        <p:spPr bwMode="auto">
          <a:xfrm flipH="1">
            <a:off x="2027238" y="1220788"/>
            <a:ext cx="644525" cy="255587"/>
          </a:xfrm>
          <a:prstGeom prst="line">
            <a:avLst/>
          </a:prstGeom>
          <a:noFill/>
          <a:ln w="12700">
            <a:solidFill>
              <a:srgbClr val="00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5181" name="Line 13"/>
          <p:cNvSpPr>
            <a:spLocks noChangeShapeType="1"/>
          </p:cNvSpPr>
          <p:nvPr/>
        </p:nvSpPr>
        <p:spPr bwMode="auto">
          <a:xfrm flipH="1">
            <a:off x="2297113" y="2193925"/>
            <a:ext cx="806450" cy="473075"/>
          </a:xfrm>
          <a:prstGeom prst="line">
            <a:avLst/>
          </a:prstGeom>
          <a:noFill/>
          <a:ln w="12700">
            <a:solidFill>
              <a:srgbClr val="00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5182" name="Line 14"/>
          <p:cNvSpPr>
            <a:spLocks noChangeShapeType="1"/>
          </p:cNvSpPr>
          <p:nvPr/>
        </p:nvSpPr>
        <p:spPr bwMode="auto">
          <a:xfrm flipH="1" flipV="1">
            <a:off x="2665413" y="3825875"/>
            <a:ext cx="473075" cy="276225"/>
          </a:xfrm>
          <a:prstGeom prst="line">
            <a:avLst/>
          </a:prstGeom>
          <a:noFill/>
          <a:ln w="12700">
            <a:solidFill>
              <a:srgbClr val="00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5183" name="Line 15"/>
          <p:cNvSpPr>
            <a:spLocks noChangeShapeType="1"/>
          </p:cNvSpPr>
          <p:nvPr/>
        </p:nvSpPr>
        <p:spPr bwMode="auto">
          <a:xfrm flipV="1">
            <a:off x="1460500" y="4065588"/>
            <a:ext cx="493713" cy="268287"/>
          </a:xfrm>
          <a:prstGeom prst="line">
            <a:avLst/>
          </a:prstGeom>
          <a:noFill/>
          <a:ln w="12700">
            <a:solidFill>
              <a:srgbClr val="00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5184" name="Freeform 16"/>
          <p:cNvSpPr>
            <a:spLocks/>
          </p:cNvSpPr>
          <p:nvPr/>
        </p:nvSpPr>
        <p:spPr bwMode="auto">
          <a:xfrm>
            <a:off x="7297738" y="3486150"/>
            <a:ext cx="900112" cy="1939925"/>
          </a:xfrm>
          <a:custGeom>
            <a:avLst/>
            <a:gdLst>
              <a:gd name="T0" fmla="*/ 2147483647 w 567"/>
              <a:gd name="T1" fmla="*/ 0 h 1222"/>
              <a:gd name="T2" fmla="*/ 0 w 567"/>
              <a:gd name="T3" fmla="*/ 2147483647 h 1222"/>
              <a:gd name="T4" fmla="*/ 2147483647 w 567"/>
              <a:gd name="T5" fmla="*/ 2147483647 h 1222"/>
              <a:gd name="T6" fmla="*/ 2147483647 w 567"/>
              <a:gd name="T7" fmla="*/ 0 h 1222"/>
              <a:gd name="T8" fmla="*/ 0 60000 65536"/>
              <a:gd name="T9" fmla="*/ 0 60000 65536"/>
              <a:gd name="T10" fmla="*/ 0 60000 65536"/>
              <a:gd name="T11" fmla="*/ 0 60000 6553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0" t="0" r="r" b="b"/>
            <a:pathLst>
              <a:path w="567" h="1222">
                <a:moveTo>
                  <a:pt x="567" y="0"/>
                </a:moveTo>
                <a:lnTo>
                  <a:pt x="0" y="1222"/>
                </a:lnTo>
                <a:lnTo>
                  <a:pt x="567" y="989"/>
                </a:lnTo>
                <a:lnTo>
                  <a:pt x="567" y="0"/>
                </a:lnTo>
                <a:close/>
              </a:path>
            </a:pathLst>
          </a:custGeom>
          <a:solidFill>
            <a:schemeClr val="accent1">
              <a:alpha val="50195"/>
            </a:schemeClr>
          </a:solidFill>
          <a:ln w="28575" cmpd="sng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5185" name="AutoShape 17"/>
          <p:cNvSpPr>
            <a:spLocks noChangeArrowheads="1"/>
          </p:cNvSpPr>
          <p:nvPr/>
        </p:nvSpPr>
        <p:spPr bwMode="auto">
          <a:xfrm flipV="1">
            <a:off x="7862888" y="4456113"/>
            <a:ext cx="877887" cy="254000"/>
          </a:xfrm>
          <a:custGeom>
            <a:avLst/>
            <a:gdLst>
              <a:gd name="T0" fmla="*/ 603080976 w 21600"/>
              <a:gd name="T1" fmla="*/ 248767 h 21600"/>
              <a:gd name="T2" fmla="*/ 120039708 w 21600"/>
              <a:gd name="T3" fmla="*/ 17561584 h 21600"/>
              <a:gd name="T4" fmla="*/ 643496698 w 21600"/>
              <a:gd name="T5" fmla="*/ 5982276 h 21600"/>
              <a:gd name="T6" fmla="*/ 1580110274 w 21600"/>
              <a:gd name="T7" fmla="*/ 10283343 h 21600"/>
              <a:gd name="T8" fmla="*/ 1395754289 w 21600"/>
              <a:gd name="T9" fmla="*/ 19589327 h 21600"/>
              <a:gd name="T10" fmla="*/ 1011536395 w 21600"/>
              <a:gd name="T11" fmla="*/ 15122454 h 216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3163 w 21600"/>
              <a:gd name="T19" fmla="*/ 3163 h 21600"/>
              <a:gd name="T20" fmla="*/ 18437 w 21600"/>
              <a:gd name="T21" fmla="*/ 18437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7614" y="8405"/>
                </a:moveTo>
                <a:cubicBezTo>
                  <a:pt x="16597" y="5512"/>
                  <a:pt x="13865" y="3577"/>
                  <a:pt x="10800" y="3577"/>
                </a:cubicBezTo>
                <a:cubicBezTo>
                  <a:pt x="6810" y="3577"/>
                  <a:pt x="3577" y="6810"/>
                  <a:pt x="3577" y="10800"/>
                </a:cubicBezTo>
                <a:lnTo>
                  <a:pt x="0" y="10800"/>
                </a:lnTo>
                <a:cubicBezTo>
                  <a:pt x="0" y="4835"/>
                  <a:pt x="4835" y="0"/>
                  <a:pt x="10800" y="0"/>
                </a:cubicBezTo>
                <a:cubicBezTo>
                  <a:pt x="15384" y="0"/>
                  <a:pt x="19469" y="2894"/>
                  <a:pt x="20989" y="7219"/>
                </a:cubicBezTo>
                <a:lnTo>
                  <a:pt x="23536" y="6324"/>
                </a:lnTo>
                <a:lnTo>
                  <a:pt x="20790" y="12047"/>
                </a:lnTo>
                <a:lnTo>
                  <a:pt x="15067" y="9300"/>
                </a:lnTo>
                <a:lnTo>
                  <a:pt x="17614" y="8405"/>
                </a:lnTo>
                <a:close/>
              </a:path>
            </a:pathLst>
          </a:custGeom>
          <a:solidFill>
            <a:srgbClr val="FFFFCC">
              <a:alpha val="50195"/>
            </a:srgbClr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5186" name="Text Box 18"/>
          <p:cNvSpPr txBox="1">
            <a:spLocks noChangeArrowheads="1"/>
          </p:cNvSpPr>
          <p:nvPr/>
        </p:nvSpPr>
        <p:spPr bwMode="auto">
          <a:xfrm>
            <a:off x="5414963" y="2320925"/>
            <a:ext cx="345757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黑体" pitchFamily="2" charset="-122"/>
                <a:ea typeface="黑体" pitchFamily="2" charset="-122"/>
                <a:sym typeface="Monotype Sorts" pitchFamily="2" charset="2"/>
              </a:rPr>
              <a:t>2 </a:t>
            </a:r>
            <a:r>
              <a:rPr lang="zh-CN" altLang="en-US" sz="2400" b="1">
                <a:latin typeface="黑体" pitchFamily="2" charset="-122"/>
                <a:ea typeface="黑体" pitchFamily="2" charset="-122"/>
              </a:rPr>
              <a:t>直角三角形绕其直角边旋转而成。</a:t>
            </a:r>
          </a:p>
        </p:txBody>
      </p:sp>
      <p:sp>
        <p:nvSpPr>
          <p:cNvPr id="135187" name="Line 19"/>
          <p:cNvSpPr>
            <a:spLocks noChangeShapeType="1"/>
          </p:cNvSpPr>
          <p:nvPr/>
        </p:nvSpPr>
        <p:spPr bwMode="auto">
          <a:xfrm flipH="1">
            <a:off x="1335088" y="1497013"/>
            <a:ext cx="646112" cy="2355850"/>
          </a:xfrm>
          <a:prstGeom prst="line">
            <a:avLst/>
          </a:prstGeom>
          <a:noFill/>
          <a:ln w="2857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5188" name="Arc 20"/>
          <p:cNvSpPr>
            <a:spLocks/>
          </p:cNvSpPr>
          <p:nvPr/>
        </p:nvSpPr>
        <p:spPr bwMode="auto">
          <a:xfrm flipV="1">
            <a:off x="1169988" y="2949575"/>
            <a:ext cx="1563687" cy="444500"/>
          </a:xfrm>
          <a:custGeom>
            <a:avLst/>
            <a:gdLst>
              <a:gd name="T0" fmla="*/ 43250460 w 43200"/>
              <a:gd name="T1" fmla="*/ 78978635 h 31388"/>
              <a:gd name="T2" fmla="*/ 1937507371 w 43200"/>
              <a:gd name="T3" fmla="*/ 89143152 h 31388"/>
              <a:gd name="T4" fmla="*/ 1024359192 w 43200"/>
              <a:gd name="T5" fmla="*/ 61344937 h 31388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00" h="31388" fill="none" extrusionOk="0">
                <a:moveTo>
                  <a:pt x="911" y="27809"/>
                </a:moveTo>
                <a:cubicBezTo>
                  <a:pt x="307" y="25794"/>
                  <a:pt x="0" y="23703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25001"/>
                  <a:pt x="42396" y="28355"/>
                  <a:pt x="40855" y="31388"/>
                </a:cubicBezTo>
              </a:path>
              <a:path w="43200" h="31388" stroke="0" extrusionOk="0">
                <a:moveTo>
                  <a:pt x="911" y="27809"/>
                </a:moveTo>
                <a:cubicBezTo>
                  <a:pt x="307" y="25794"/>
                  <a:pt x="0" y="23703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25001"/>
                  <a:pt x="42396" y="28355"/>
                  <a:pt x="40855" y="31388"/>
                </a:cubicBezTo>
                <a:lnTo>
                  <a:pt x="21600" y="21600"/>
                </a:lnTo>
                <a:lnTo>
                  <a:pt x="911" y="27809"/>
                </a:lnTo>
                <a:close/>
              </a:path>
            </a:pathLst>
          </a:cu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5189" name="Oval 21"/>
          <p:cNvSpPr>
            <a:spLocks noChangeArrowheads="1"/>
          </p:cNvSpPr>
          <p:nvPr/>
        </p:nvSpPr>
        <p:spPr bwMode="auto">
          <a:xfrm>
            <a:off x="1344613" y="3181350"/>
            <a:ext cx="255587" cy="255588"/>
          </a:xfrm>
          <a:prstGeom prst="ellipse">
            <a:avLst/>
          </a:prstGeom>
          <a:gradFill rotWithShape="0">
            <a:gsLst>
              <a:gs pos="0">
                <a:srgbClr val="FFFFCC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35190" name="Line 22"/>
          <p:cNvSpPr>
            <a:spLocks noChangeShapeType="1"/>
          </p:cNvSpPr>
          <p:nvPr/>
        </p:nvSpPr>
        <p:spPr bwMode="auto">
          <a:xfrm>
            <a:off x="8199438" y="3319463"/>
            <a:ext cx="0" cy="2066925"/>
          </a:xfrm>
          <a:prstGeom prst="line">
            <a:avLst/>
          </a:prstGeom>
          <a:noFill/>
          <a:ln w="12700">
            <a:solidFill>
              <a:srgbClr val="A50021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5191" name="Oval 23"/>
          <p:cNvSpPr>
            <a:spLocks noChangeArrowheads="1"/>
          </p:cNvSpPr>
          <p:nvPr/>
        </p:nvSpPr>
        <p:spPr bwMode="auto">
          <a:xfrm>
            <a:off x="5956300" y="515938"/>
            <a:ext cx="265113" cy="265112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35192" name="Oval 24"/>
          <p:cNvSpPr>
            <a:spLocks noChangeArrowheads="1"/>
          </p:cNvSpPr>
          <p:nvPr/>
        </p:nvSpPr>
        <p:spPr bwMode="auto">
          <a:xfrm>
            <a:off x="5381625" y="4687888"/>
            <a:ext cx="1433513" cy="515937"/>
          </a:xfrm>
          <a:prstGeom prst="ellipse">
            <a:avLst/>
          </a:prstGeom>
          <a:solidFill>
            <a:schemeClr val="accent1">
              <a:alpha val="50195"/>
            </a:schemeClr>
          </a:solidFill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35193" name="Line 25"/>
          <p:cNvSpPr>
            <a:spLocks noChangeShapeType="1"/>
          </p:cNvSpPr>
          <p:nvPr/>
        </p:nvSpPr>
        <p:spPr bwMode="auto">
          <a:xfrm flipV="1">
            <a:off x="6850063" y="3894138"/>
            <a:ext cx="0" cy="828675"/>
          </a:xfrm>
          <a:prstGeom prst="lin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5194" name="Text Box 26"/>
          <p:cNvSpPr txBox="1">
            <a:spLocks noChangeArrowheads="1"/>
          </p:cNvSpPr>
          <p:nvPr/>
        </p:nvSpPr>
        <p:spPr bwMode="auto">
          <a:xfrm>
            <a:off x="6861175" y="3632200"/>
            <a:ext cx="3873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solidFill>
                  <a:srgbClr val="000066"/>
                </a:solidFill>
              </a:rPr>
              <a:t>L</a:t>
            </a:r>
          </a:p>
        </p:txBody>
      </p:sp>
      <p:sp>
        <p:nvSpPr>
          <p:cNvPr id="135195" name="Text Box 27"/>
          <p:cNvSpPr txBox="1">
            <a:spLocks noChangeArrowheads="1"/>
          </p:cNvSpPr>
          <p:nvPr/>
        </p:nvSpPr>
        <p:spPr bwMode="auto">
          <a:xfrm>
            <a:off x="5399088" y="960438"/>
            <a:ext cx="3595687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400" b="1">
                <a:latin typeface="黑体" pitchFamily="2" charset="-122"/>
                <a:ea typeface="黑体" pitchFamily="2" charset="-122"/>
                <a:sym typeface="Monotype Sorts" pitchFamily="2" charset="2"/>
              </a:rPr>
              <a:t>1 </a:t>
            </a:r>
            <a:r>
              <a:rPr lang="zh-CN" altLang="en-US" sz="2400" b="1">
                <a:latin typeface="黑体" pitchFamily="2" charset="-122"/>
                <a:ea typeface="黑体" pitchFamily="2" charset="-122"/>
              </a:rPr>
              <a:t>圆沿与其垂直的直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>
                <a:latin typeface="黑体" pitchFamily="2" charset="-122"/>
                <a:ea typeface="黑体" pitchFamily="2" charset="-122"/>
              </a:rPr>
              <a:t>线拉伸形成。拉伸过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>
                <a:latin typeface="黑体" pitchFamily="2" charset="-122"/>
                <a:ea typeface="黑体" pitchFamily="2" charset="-122"/>
              </a:rPr>
              <a:t>程中其直径均匀变化。</a:t>
            </a:r>
          </a:p>
        </p:txBody>
      </p:sp>
      <p:grpSp>
        <p:nvGrpSpPr>
          <p:cNvPr id="135198" name="Group 30"/>
          <p:cNvGrpSpPr>
            <a:grpSpLocks/>
          </p:cNvGrpSpPr>
          <p:nvPr/>
        </p:nvGrpSpPr>
        <p:grpSpPr bwMode="auto">
          <a:xfrm>
            <a:off x="6105525" y="3860800"/>
            <a:ext cx="74613" cy="1042988"/>
            <a:chOff x="3139" y="2954"/>
            <a:chExt cx="47" cy="824"/>
          </a:xfrm>
        </p:grpSpPr>
        <p:sp>
          <p:nvSpPr>
            <p:cNvPr id="16417" name="Line 31"/>
            <p:cNvSpPr>
              <a:spLocks noChangeShapeType="1"/>
            </p:cNvSpPr>
            <p:nvPr/>
          </p:nvSpPr>
          <p:spPr bwMode="auto">
            <a:xfrm flipV="1">
              <a:off x="3163" y="3128"/>
              <a:ext cx="0" cy="650"/>
            </a:xfrm>
            <a:prstGeom prst="line">
              <a:avLst/>
            </a:prstGeom>
            <a:noFill/>
            <a:ln w="19050">
              <a:solidFill>
                <a:srgbClr val="A5002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6418" name="AutoShape 32"/>
            <p:cNvSpPr>
              <a:spLocks noChangeArrowheads="1"/>
            </p:cNvSpPr>
            <p:nvPr/>
          </p:nvSpPr>
          <p:spPr bwMode="auto">
            <a:xfrm>
              <a:off x="3139" y="2954"/>
              <a:ext cx="47" cy="192"/>
            </a:xfrm>
            <a:prstGeom prst="triangle">
              <a:avLst>
                <a:gd name="adj" fmla="val 50000"/>
              </a:avLst>
            </a:prstGeom>
            <a:solidFill>
              <a:srgbClr val="A50021"/>
            </a:solidFill>
            <a:ln w="9525">
              <a:solidFill>
                <a:srgbClr val="A5002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400"/>
            </a:p>
          </p:txBody>
        </p:sp>
      </p:grpSp>
      <p:sp>
        <p:nvSpPr>
          <p:cNvPr id="135203" name="Text Box 35" descr="绿色大理石"/>
          <p:cNvSpPr txBox="1">
            <a:spLocks noChangeArrowheads="1"/>
          </p:cNvSpPr>
          <p:nvPr/>
        </p:nvSpPr>
        <p:spPr bwMode="auto">
          <a:xfrm>
            <a:off x="547688" y="5594703"/>
            <a:ext cx="7839956" cy="95410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b="1" dirty="0">
                <a:ea typeface="黑体" pitchFamily="2" charset="-122"/>
              </a:rPr>
              <a:t>过圆锥面上任一点可</a:t>
            </a:r>
            <a:r>
              <a:rPr lang="zh-CN" altLang="en-US" sz="2800" b="1" dirty="0" smtClean="0">
                <a:ea typeface="黑体" pitchFamily="2" charset="-122"/>
              </a:rPr>
              <a:t>作一</a:t>
            </a:r>
            <a:r>
              <a:rPr lang="zh-CN" altLang="en-US" sz="2800" b="1" dirty="0">
                <a:ea typeface="黑体" pitchFamily="2" charset="-122"/>
              </a:rPr>
              <a:t>条直线通过锥顶</a:t>
            </a:r>
            <a:r>
              <a:rPr lang="zh-CN" altLang="en-US" sz="2800" b="1" dirty="0" smtClean="0">
                <a:ea typeface="黑体" pitchFamily="2" charset="-122"/>
              </a:rPr>
              <a:t>，</a:t>
            </a:r>
            <a:endParaRPr lang="en-US" altLang="zh-CN" sz="2800" b="1" dirty="0" smtClean="0"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b="1" dirty="0" smtClean="0">
                <a:ea typeface="黑体" pitchFamily="2" charset="-122"/>
              </a:rPr>
              <a:t>亦可</a:t>
            </a:r>
            <a:r>
              <a:rPr lang="zh-CN" altLang="en-US" sz="2800" b="1" dirty="0">
                <a:ea typeface="黑体" pitchFamily="2" charset="-122"/>
              </a:rPr>
              <a:t>在圆锥面上作一</a:t>
            </a:r>
            <a:r>
              <a:rPr lang="zh-CN" altLang="en-US" sz="2800" b="1" dirty="0" smtClean="0">
                <a:ea typeface="黑体" pitchFamily="2" charset="-122"/>
              </a:rPr>
              <a:t>个垂直于轴线的圆。</a:t>
            </a:r>
            <a:endParaRPr lang="zh-CN" altLang="en-US" sz="2800" b="1" dirty="0">
              <a:ea typeface="黑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35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1" dur="500"/>
                                        <p:tgtEl>
                                          <p:spTgt spid="1351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6" dur="300"/>
                                        <p:tgtEl>
                                          <p:spTgt spid="135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 nodeType="afterGroup">
                            <p:stCondLst>
                              <p:cond delay="300"/>
                            </p:stCondLst>
                            <p:childTnLst>
                              <p:par>
                                <p:cTn id="18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0" dur="500"/>
                                        <p:tgtEl>
                                          <p:spTgt spid="1351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 nodeType="clickPar">
                      <p:stCondLst>
                        <p:cond delay="indefinite"/>
                      </p:stCondLst>
                      <p:childTnLst>
                        <p:par>
                          <p:cTn id="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25" dur="500"/>
                                        <p:tgtEl>
                                          <p:spTgt spid="135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9" dur="500"/>
                                        <p:tgtEl>
                                          <p:spTgt spid="135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 nodeType="clickPar">
                      <p:stCondLst>
                        <p:cond delay="indefinite"/>
                      </p:stCondLst>
                      <p:childTnLst>
                        <p:par>
                          <p:cTn id="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2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34" dur="300"/>
                                        <p:tgtEl>
                                          <p:spTgt spid="135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600"/>
                            </p:stCondLst>
                            <p:childTnLst>
                              <p:par>
                                <p:cTn id="36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8" dur="500"/>
                                        <p:tgtEl>
                                          <p:spTgt spid="135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1100"/>
                            </p:stCondLst>
                            <p:childTnLst>
                              <p:par>
                                <p:cTn id="4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5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46" dur="500"/>
                                        <p:tgtEl>
                                          <p:spTgt spid="1351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3517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300"/>
                                        <p:tgtEl>
                                          <p:spTgt spid="1351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61" dur="500"/>
                                        <p:tgtEl>
                                          <p:spTgt spid="1351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51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51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3" dur="500"/>
                                        <p:tgtEl>
                                          <p:spTgt spid="1351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300"/>
                                        <p:tgtEl>
                                          <p:spTgt spid="135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3" dur="500"/>
                                        <p:tgtEl>
                                          <p:spTgt spid="135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135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9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0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51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2" fill="hold" nodeType="clickPar">
                      <p:stCondLst>
                        <p:cond delay="indefinite"/>
                      </p:stCondLst>
                      <p:childTnLst>
                        <p:par>
                          <p:cTn id="9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4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135189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135189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8" fill="hold" nodeType="clickPar">
                      <p:stCondLst>
                        <p:cond delay="indefinite"/>
                      </p:stCondLst>
                      <p:childTnLst>
                        <p:par>
                          <p:cTn id="9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2" dur="500"/>
                                        <p:tgtEl>
                                          <p:spTgt spid="1351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3" fill="hold" nodeType="clickPar">
                      <p:stCondLst>
                        <p:cond delay="indefinite"/>
                      </p:stCondLst>
                      <p:childTnLst>
                        <p:par>
                          <p:cTn id="10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1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7" dur="500"/>
                                        <p:tgtEl>
                                          <p:spTgt spid="1351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75"/>
                                        <p:tgtEl>
                                          <p:spTgt spid="135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5174" grpId="0" build="p" autoUpdateAnimBg="0"/>
      <p:bldP spid="135175" grpId="0" autoUpdateAnimBg="0"/>
      <p:bldP spid="135176" grpId="0" autoUpdateAnimBg="0"/>
      <p:bldP spid="135177" grpId="0" autoUpdateAnimBg="0"/>
      <p:bldP spid="135178" grpId="0" autoUpdateAnimBg="0"/>
      <p:bldP spid="135179" grpId="0" autoUpdateAnimBg="0"/>
      <p:bldP spid="135180" grpId="0" animBg="1"/>
      <p:bldP spid="135181" grpId="0" animBg="1"/>
      <p:bldP spid="135182" grpId="0" animBg="1"/>
      <p:bldP spid="135183" grpId="0" animBg="1"/>
      <p:bldP spid="135184" grpId="0" animBg="1"/>
      <p:bldP spid="135185" grpId="0" animBg="1"/>
      <p:bldP spid="135186" grpId="0" autoUpdateAnimBg="0"/>
      <p:bldP spid="135187" grpId="0" animBg="1"/>
      <p:bldP spid="135188" grpId="0" animBg="1"/>
      <p:bldP spid="135189" grpId="0" animBg="1"/>
      <p:bldP spid="135190" grpId="0" animBg="1"/>
      <p:bldP spid="135191" grpId="0" animBg="1"/>
      <p:bldP spid="135192" grpId="0" animBg="1"/>
      <p:bldP spid="135193" grpId="0" animBg="1"/>
      <p:bldP spid="135194" grpId="0" autoUpdateAnimBg="0"/>
      <p:bldP spid="135195" grpId="0" autoUpdateAnimBg="0"/>
      <p:bldP spid="135203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D67379BA-5684-4B71-9365-ABB65299912B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15</a:t>
            </a:fld>
            <a:endParaRPr lang="en-US" altLang="zh-CN" sz="1400" smtClean="0">
              <a:solidFill>
                <a:schemeClr val="bg2"/>
              </a:solidFill>
            </a:endParaRPr>
          </a:p>
        </p:txBody>
      </p:sp>
      <p:grpSp>
        <p:nvGrpSpPr>
          <p:cNvPr id="17411" name="Group 2"/>
          <p:cNvGrpSpPr>
            <a:grpSpLocks/>
          </p:cNvGrpSpPr>
          <p:nvPr/>
        </p:nvGrpSpPr>
        <p:grpSpPr bwMode="auto">
          <a:xfrm>
            <a:off x="384175" y="1243013"/>
            <a:ext cx="3622675" cy="3492500"/>
            <a:chOff x="362" y="1003"/>
            <a:chExt cx="2204" cy="2124"/>
          </a:xfrm>
        </p:grpSpPr>
        <p:grpSp>
          <p:nvGrpSpPr>
            <p:cNvPr id="17490" name="Group 3"/>
            <p:cNvGrpSpPr>
              <a:grpSpLocks/>
            </p:cNvGrpSpPr>
            <p:nvPr/>
          </p:nvGrpSpPr>
          <p:grpSpPr bwMode="auto">
            <a:xfrm>
              <a:off x="362" y="1003"/>
              <a:ext cx="2204" cy="2107"/>
              <a:chOff x="362" y="1003"/>
              <a:chExt cx="2204" cy="2107"/>
            </a:xfrm>
          </p:grpSpPr>
          <p:sp>
            <p:nvSpPr>
              <p:cNvPr id="17492" name="Freeform 4"/>
              <p:cNvSpPr>
                <a:spLocks/>
              </p:cNvSpPr>
              <p:nvPr/>
            </p:nvSpPr>
            <p:spPr bwMode="auto">
              <a:xfrm>
                <a:off x="406" y="2488"/>
                <a:ext cx="2147" cy="622"/>
              </a:xfrm>
              <a:custGeom>
                <a:avLst/>
                <a:gdLst>
                  <a:gd name="T0" fmla="*/ 1125 w 2147"/>
                  <a:gd name="T1" fmla="*/ 0 h 622"/>
                  <a:gd name="T2" fmla="*/ 0 w 2147"/>
                  <a:gd name="T3" fmla="*/ 415 h 622"/>
                  <a:gd name="T4" fmla="*/ 1058 w 2147"/>
                  <a:gd name="T5" fmla="*/ 622 h 622"/>
                  <a:gd name="T6" fmla="*/ 2147 w 2147"/>
                  <a:gd name="T7" fmla="*/ 255 h 622"/>
                  <a:gd name="T8" fmla="*/ 1125 w 2147"/>
                  <a:gd name="T9" fmla="*/ 0 h 62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147" h="622">
                    <a:moveTo>
                      <a:pt x="1125" y="0"/>
                    </a:moveTo>
                    <a:lnTo>
                      <a:pt x="0" y="415"/>
                    </a:lnTo>
                    <a:lnTo>
                      <a:pt x="1058" y="622"/>
                    </a:lnTo>
                    <a:lnTo>
                      <a:pt x="2147" y="255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rgbClr val="CCFF99">
                  <a:alpha val="50195"/>
                </a:srgbClr>
              </a:solidFill>
              <a:ln w="28575" cmpd="sng">
                <a:solidFill>
                  <a:srgbClr val="CCFF99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493" name="Freeform 5"/>
              <p:cNvSpPr>
                <a:spLocks/>
              </p:cNvSpPr>
              <p:nvPr/>
            </p:nvSpPr>
            <p:spPr bwMode="auto">
              <a:xfrm>
                <a:off x="1510" y="1003"/>
                <a:ext cx="1056" cy="1744"/>
              </a:xfrm>
              <a:custGeom>
                <a:avLst/>
                <a:gdLst>
                  <a:gd name="T0" fmla="*/ 0 w 1056"/>
                  <a:gd name="T1" fmla="*/ 0 h 2156"/>
                  <a:gd name="T2" fmla="*/ 0 w 1056"/>
                  <a:gd name="T3" fmla="*/ 959 h 2156"/>
                  <a:gd name="T4" fmla="*/ 1056 w 1056"/>
                  <a:gd name="T5" fmla="*/ 1141 h 2156"/>
                  <a:gd name="T6" fmla="*/ 1056 w 1056"/>
                  <a:gd name="T7" fmla="*/ 183 h 2156"/>
                  <a:gd name="T8" fmla="*/ 0 w 1056"/>
                  <a:gd name="T9" fmla="*/ 0 h 21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56" h="2156">
                    <a:moveTo>
                      <a:pt x="0" y="0"/>
                    </a:moveTo>
                    <a:lnTo>
                      <a:pt x="0" y="1811"/>
                    </a:lnTo>
                    <a:lnTo>
                      <a:pt x="1056" y="2156"/>
                    </a:lnTo>
                    <a:lnTo>
                      <a:pt x="1056" y="34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99">
                  <a:alpha val="50195"/>
                </a:srgbClr>
              </a:solidFill>
              <a:ln w="28575" cmpd="sng">
                <a:solidFill>
                  <a:srgbClr val="FFFF99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7494" name="Freeform 6"/>
              <p:cNvSpPr>
                <a:spLocks/>
              </p:cNvSpPr>
              <p:nvPr/>
            </p:nvSpPr>
            <p:spPr bwMode="auto">
              <a:xfrm>
                <a:off x="398" y="1005"/>
                <a:ext cx="1123" cy="1899"/>
              </a:xfrm>
              <a:custGeom>
                <a:avLst/>
                <a:gdLst>
                  <a:gd name="T0" fmla="*/ 0 w 1123"/>
                  <a:gd name="T1" fmla="*/ 384 h 1899"/>
                  <a:gd name="T2" fmla="*/ 1123 w 1123"/>
                  <a:gd name="T3" fmla="*/ 0 h 1899"/>
                  <a:gd name="T4" fmla="*/ 1123 w 1123"/>
                  <a:gd name="T5" fmla="*/ 1467 h 1899"/>
                  <a:gd name="T6" fmla="*/ 1 w 1123"/>
                  <a:gd name="T7" fmla="*/ 1899 h 1899"/>
                  <a:gd name="T8" fmla="*/ 0 w 1123"/>
                  <a:gd name="T9" fmla="*/ 384 h 189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123" h="1899">
                    <a:moveTo>
                      <a:pt x="0" y="384"/>
                    </a:moveTo>
                    <a:lnTo>
                      <a:pt x="1123" y="0"/>
                    </a:lnTo>
                    <a:lnTo>
                      <a:pt x="1123" y="1467"/>
                    </a:lnTo>
                    <a:lnTo>
                      <a:pt x="1" y="1899"/>
                    </a:lnTo>
                    <a:lnTo>
                      <a:pt x="0" y="384"/>
                    </a:lnTo>
                    <a:close/>
                  </a:path>
                </a:pathLst>
              </a:custGeom>
              <a:solidFill>
                <a:srgbClr val="CCFFCC">
                  <a:alpha val="50195"/>
                </a:srgbClr>
              </a:solidFill>
              <a:ln w="28575" cmpd="sng">
                <a:solidFill>
                  <a:srgbClr val="CCFFCC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4151" name="Text Box 7"/>
              <p:cNvSpPr txBox="1">
                <a:spLocks noChangeArrowheads="1"/>
              </p:cNvSpPr>
              <p:nvPr/>
            </p:nvSpPr>
            <p:spPr bwMode="auto">
              <a:xfrm>
                <a:off x="362" y="1324"/>
                <a:ext cx="291" cy="352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>
                  <a:defRPr/>
                </a:pPr>
                <a:r>
                  <a:rPr kumimoji="1" lang="en-US" altLang="zh-CN" sz="3200" b="1">
                    <a:solidFill>
                      <a:srgbClr val="000066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ea typeface="隶书" pitchFamily="49" charset="-122"/>
                  </a:rPr>
                  <a:t>V</a:t>
                </a:r>
              </a:p>
            </p:txBody>
          </p:sp>
          <p:sp>
            <p:nvSpPr>
              <p:cNvPr id="134152" name="Text Box 8"/>
              <p:cNvSpPr txBox="1">
                <a:spLocks noChangeArrowheads="1"/>
              </p:cNvSpPr>
              <p:nvPr/>
            </p:nvSpPr>
            <p:spPr bwMode="auto">
              <a:xfrm>
                <a:off x="2191" y="1197"/>
                <a:ext cx="357" cy="349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>
                  <a:defRPr/>
                </a:pPr>
                <a:r>
                  <a:rPr kumimoji="1" lang="en-US" altLang="zh-CN" sz="3200" b="1">
                    <a:solidFill>
                      <a:srgbClr val="000066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ea typeface="隶书" pitchFamily="49" charset="-122"/>
                  </a:rPr>
                  <a:t>W</a:t>
                </a:r>
              </a:p>
            </p:txBody>
          </p:sp>
        </p:grpSp>
        <p:sp>
          <p:nvSpPr>
            <p:cNvPr id="134153" name="Text Box 9"/>
            <p:cNvSpPr txBox="1">
              <a:spLocks noChangeArrowheads="1"/>
            </p:cNvSpPr>
            <p:nvPr/>
          </p:nvSpPr>
          <p:spPr bwMode="auto">
            <a:xfrm>
              <a:off x="1335" y="2775"/>
              <a:ext cx="304" cy="35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defRPr/>
              </a:pPr>
              <a:r>
                <a:rPr kumimoji="1" lang="en-US" altLang="zh-CN" sz="3200" b="1">
                  <a:solidFill>
                    <a:srgbClr val="0000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隶书" pitchFamily="49" charset="-122"/>
                </a:rPr>
                <a:t>H</a:t>
              </a:r>
            </a:p>
          </p:txBody>
        </p:sp>
      </p:grpSp>
      <p:sp>
        <p:nvSpPr>
          <p:cNvPr id="134154" name="Text Box 10"/>
          <p:cNvSpPr txBox="1">
            <a:spLocks noChangeArrowheads="1"/>
          </p:cNvSpPr>
          <p:nvPr/>
        </p:nvSpPr>
        <p:spPr bwMode="auto">
          <a:xfrm>
            <a:off x="885825" y="211138"/>
            <a:ext cx="3671888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>
              <a:defRPr/>
            </a:pPr>
            <a:r>
              <a:rPr kumimoji="1" lang="zh-CN" altLang="en-US" sz="3600" b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itchFamily="2" charset="-122"/>
                <a:sym typeface="Marlett" pitchFamily="2" charset="2"/>
              </a:rPr>
              <a:t>圆锥体的投影</a:t>
            </a:r>
            <a:endParaRPr kumimoji="1" lang="zh-CN" altLang="en-US" sz="3600" b="1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ea typeface="黑体" pitchFamily="2" charset="-122"/>
            </a:endParaRPr>
          </a:p>
        </p:txBody>
      </p:sp>
      <p:grpSp>
        <p:nvGrpSpPr>
          <p:cNvPr id="17413" name="Group 11"/>
          <p:cNvGrpSpPr>
            <a:grpSpLocks/>
          </p:cNvGrpSpPr>
          <p:nvPr/>
        </p:nvGrpSpPr>
        <p:grpSpPr bwMode="auto">
          <a:xfrm>
            <a:off x="838200" y="1577975"/>
            <a:ext cx="2527300" cy="3094038"/>
            <a:chOff x="3039" y="1265"/>
            <a:chExt cx="1267" cy="1551"/>
          </a:xfrm>
        </p:grpSpPr>
        <p:sp>
          <p:nvSpPr>
            <p:cNvPr id="17488" name="Line 12"/>
            <p:cNvSpPr>
              <a:spLocks noChangeShapeType="1"/>
            </p:cNvSpPr>
            <p:nvPr/>
          </p:nvSpPr>
          <p:spPr bwMode="auto">
            <a:xfrm>
              <a:off x="3667" y="1265"/>
              <a:ext cx="0" cy="1551"/>
            </a:xfrm>
            <a:prstGeom prst="line">
              <a:avLst/>
            </a:prstGeom>
            <a:noFill/>
            <a:ln w="28575">
              <a:solidFill>
                <a:srgbClr val="990033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pic>
          <p:nvPicPr>
            <p:cNvPr id="17489" name="Picture 13"/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39" y="1265"/>
              <a:ext cx="1267" cy="14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sp>
        <p:nvSpPr>
          <p:cNvPr id="17414" name="Text Box 14"/>
          <p:cNvSpPr txBox="1">
            <a:spLocks noChangeArrowheads="1"/>
          </p:cNvSpPr>
          <p:nvPr/>
        </p:nvSpPr>
        <p:spPr bwMode="auto">
          <a:xfrm>
            <a:off x="1763713" y="1320800"/>
            <a:ext cx="3825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b="1">
                <a:solidFill>
                  <a:srgbClr val="660033"/>
                </a:solidFill>
              </a:rPr>
              <a:t>S</a:t>
            </a:r>
          </a:p>
        </p:txBody>
      </p:sp>
      <p:sp>
        <p:nvSpPr>
          <p:cNvPr id="134159" name="AutoShape 15"/>
          <p:cNvSpPr>
            <a:spLocks noChangeArrowheads="1"/>
          </p:cNvSpPr>
          <p:nvPr/>
        </p:nvSpPr>
        <p:spPr bwMode="auto">
          <a:xfrm>
            <a:off x="1919288" y="1049338"/>
            <a:ext cx="358775" cy="323850"/>
          </a:xfrm>
          <a:prstGeom prst="downArrow">
            <a:avLst>
              <a:gd name="adj1" fmla="val 50000"/>
              <a:gd name="adj2" fmla="val 25000"/>
            </a:avLst>
          </a:prstGeom>
          <a:gradFill rotWithShape="0">
            <a:gsLst>
              <a:gs pos="0">
                <a:srgbClr val="764747"/>
              </a:gs>
              <a:gs pos="100000">
                <a:srgbClr val="FF9999"/>
              </a:gs>
            </a:gsLst>
            <a:lin ang="5400000" scaled="1"/>
          </a:gra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 vert="eaVert"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34160" name="AutoShape 16"/>
          <p:cNvSpPr>
            <a:spLocks noChangeArrowheads="1"/>
          </p:cNvSpPr>
          <p:nvPr/>
        </p:nvSpPr>
        <p:spPr bwMode="auto">
          <a:xfrm rot="7054636">
            <a:off x="3522662" y="2916238"/>
            <a:ext cx="358775" cy="323850"/>
          </a:xfrm>
          <a:prstGeom prst="downArrow">
            <a:avLst>
              <a:gd name="adj1" fmla="val 50000"/>
              <a:gd name="adj2" fmla="val 25000"/>
            </a:avLst>
          </a:prstGeom>
          <a:gradFill rotWithShape="0">
            <a:gsLst>
              <a:gs pos="0">
                <a:srgbClr val="FF9999"/>
              </a:gs>
              <a:gs pos="100000">
                <a:srgbClr val="764747"/>
              </a:gs>
            </a:gsLst>
            <a:lin ang="0" scaled="1"/>
          </a:gra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 vert="eaVert"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34161" name="AutoShape 17"/>
          <p:cNvSpPr>
            <a:spLocks noChangeArrowheads="1"/>
          </p:cNvSpPr>
          <p:nvPr/>
        </p:nvSpPr>
        <p:spPr bwMode="auto">
          <a:xfrm rot="-6534470">
            <a:off x="515937" y="2859088"/>
            <a:ext cx="358775" cy="323850"/>
          </a:xfrm>
          <a:prstGeom prst="downArrow">
            <a:avLst>
              <a:gd name="adj1" fmla="val 50000"/>
              <a:gd name="adj2" fmla="val 25000"/>
            </a:avLst>
          </a:prstGeom>
          <a:gradFill rotWithShape="0">
            <a:gsLst>
              <a:gs pos="0">
                <a:srgbClr val="764747"/>
              </a:gs>
              <a:gs pos="100000">
                <a:srgbClr val="FF9999"/>
              </a:gs>
            </a:gsLst>
            <a:lin ang="0" scaled="1"/>
          </a:gra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 vert="eaVert"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34162" name="Oval 18"/>
          <p:cNvSpPr>
            <a:spLocks noChangeArrowheads="1"/>
          </p:cNvSpPr>
          <p:nvPr/>
        </p:nvSpPr>
        <p:spPr bwMode="auto">
          <a:xfrm>
            <a:off x="4400550" y="3768725"/>
            <a:ext cx="1846263" cy="1846263"/>
          </a:xfrm>
          <a:prstGeom prst="ellipse">
            <a:avLst/>
          </a:prstGeom>
          <a:solidFill>
            <a:srgbClr val="99CCFF"/>
          </a:solidFill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34163" name="Line 19"/>
          <p:cNvSpPr>
            <a:spLocks noChangeShapeType="1"/>
          </p:cNvSpPr>
          <p:nvPr/>
        </p:nvSpPr>
        <p:spPr bwMode="auto">
          <a:xfrm>
            <a:off x="4171950" y="4692650"/>
            <a:ext cx="2201863" cy="0"/>
          </a:xfrm>
          <a:prstGeom prst="line">
            <a:avLst/>
          </a:prstGeom>
          <a:noFill/>
          <a:ln w="12700">
            <a:solidFill>
              <a:schemeClr val="tx1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4164" name="Line 20"/>
          <p:cNvSpPr>
            <a:spLocks noChangeShapeType="1"/>
          </p:cNvSpPr>
          <p:nvPr/>
        </p:nvSpPr>
        <p:spPr bwMode="auto">
          <a:xfrm>
            <a:off x="5324475" y="3560763"/>
            <a:ext cx="0" cy="2238375"/>
          </a:xfrm>
          <a:prstGeom prst="line">
            <a:avLst/>
          </a:prstGeom>
          <a:noFill/>
          <a:ln w="12700">
            <a:solidFill>
              <a:schemeClr val="tx1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4165" name="Line 21"/>
          <p:cNvSpPr>
            <a:spLocks noChangeShapeType="1"/>
          </p:cNvSpPr>
          <p:nvPr/>
        </p:nvSpPr>
        <p:spPr bwMode="auto">
          <a:xfrm>
            <a:off x="5326063" y="896938"/>
            <a:ext cx="0" cy="2446337"/>
          </a:xfrm>
          <a:prstGeom prst="line">
            <a:avLst/>
          </a:prstGeom>
          <a:noFill/>
          <a:ln w="12700">
            <a:solidFill>
              <a:schemeClr val="tx1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4166" name="Line 22"/>
          <p:cNvSpPr>
            <a:spLocks noChangeShapeType="1"/>
          </p:cNvSpPr>
          <p:nvPr/>
        </p:nvSpPr>
        <p:spPr bwMode="auto">
          <a:xfrm>
            <a:off x="4400550" y="3114675"/>
            <a:ext cx="1863725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4167" name="Line 23"/>
          <p:cNvSpPr>
            <a:spLocks noChangeShapeType="1"/>
          </p:cNvSpPr>
          <p:nvPr/>
        </p:nvSpPr>
        <p:spPr bwMode="auto">
          <a:xfrm flipH="1">
            <a:off x="1528763" y="1878013"/>
            <a:ext cx="577850" cy="2354262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34168" name="Group 24"/>
          <p:cNvGrpSpPr>
            <a:grpSpLocks/>
          </p:cNvGrpSpPr>
          <p:nvPr/>
        </p:nvGrpSpPr>
        <p:grpSpPr bwMode="auto">
          <a:xfrm>
            <a:off x="801688" y="1643063"/>
            <a:ext cx="1262062" cy="2574925"/>
            <a:chOff x="405" y="1277"/>
            <a:chExt cx="795" cy="1622"/>
          </a:xfrm>
        </p:grpSpPr>
        <p:sp>
          <p:nvSpPr>
            <p:cNvPr id="17478" name="Line 25"/>
            <p:cNvSpPr>
              <a:spLocks noChangeShapeType="1"/>
            </p:cNvSpPr>
            <p:nvPr/>
          </p:nvSpPr>
          <p:spPr bwMode="auto">
            <a:xfrm flipH="1" flipV="1">
              <a:off x="794" y="1277"/>
              <a:ext cx="406" cy="1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79" name="Line 26"/>
            <p:cNvSpPr>
              <a:spLocks noChangeShapeType="1"/>
            </p:cNvSpPr>
            <p:nvPr/>
          </p:nvSpPr>
          <p:spPr bwMode="auto">
            <a:xfrm flipH="1" flipV="1">
              <a:off x="738" y="1439"/>
              <a:ext cx="424" cy="1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80" name="Line 27"/>
            <p:cNvSpPr>
              <a:spLocks noChangeShapeType="1"/>
            </p:cNvSpPr>
            <p:nvPr/>
          </p:nvSpPr>
          <p:spPr bwMode="auto">
            <a:xfrm flipH="1" flipV="1">
              <a:off x="697" y="1628"/>
              <a:ext cx="424" cy="1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81" name="Line 28"/>
            <p:cNvSpPr>
              <a:spLocks noChangeShapeType="1"/>
            </p:cNvSpPr>
            <p:nvPr/>
          </p:nvSpPr>
          <p:spPr bwMode="auto">
            <a:xfrm flipH="1" flipV="1">
              <a:off x="651" y="1785"/>
              <a:ext cx="430" cy="13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82" name="Line 29"/>
            <p:cNvSpPr>
              <a:spLocks noChangeShapeType="1"/>
            </p:cNvSpPr>
            <p:nvPr/>
          </p:nvSpPr>
          <p:spPr bwMode="auto">
            <a:xfrm flipH="1" flipV="1">
              <a:off x="603" y="1947"/>
              <a:ext cx="430" cy="14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83" name="Line 30"/>
            <p:cNvSpPr>
              <a:spLocks noChangeShapeType="1"/>
            </p:cNvSpPr>
            <p:nvPr/>
          </p:nvSpPr>
          <p:spPr bwMode="auto">
            <a:xfrm flipH="1" flipV="1">
              <a:off x="564" y="2118"/>
              <a:ext cx="424" cy="12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84" name="Line 31"/>
            <p:cNvSpPr>
              <a:spLocks noChangeShapeType="1"/>
            </p:cNvSpPr>
            <p:nvPr/>
          </p:nvSpPr>
          <p:spPr bwMode="auto">
            <a:xfrm flipH="1" flipV="1">
              <a:off x="520" y="2297"/>
              <a:ext cx="430" cy="1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85" name="Line 32"/>
            <p:cNvSpPr>
              <a:spLocks noChangeShapeType="1"/>
            </p:cNvSpPr>
            <p:nvPr/>
          </p:nvSpPr>
          <p:spPr bwMode="auto">
            <a:xfrm flipH="1" flipV="1">
              <a:off x="478" y="2458"/>
              <a:ext cx="424" cy="1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86" name="Line 33"/>
            <p:cNvSpPr>
              <a:spLocks noChangeShapeType="1"/>
            </p:cNvSpPr>
            <p:nvPr/>
          </p:nvSpPr>
          <p:spPr bwMode="auto">
            <a:xfrm flipH="1" flipV="1">
              <a:off x="452" y="2620"/>
              <a:ext cx="418" cy="11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87" name="Line 34"/>
            <p:cNvSpPr>
              <a:spLocks noChangeShapeType="1"/>
            </p:cNvSpPr>
            <p:nvPr/>
          </p:nvSpPr>
          <p:spPr bwMode="auto">
            <a:xfrm flipH="1" flipV="1">
              <a:off x="405" y="2777"/>
              <a:ext cx="412" cy="12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34179" name="Line 35"/>
          <p:cNvSpPr>
            <a:spLocks noChangeShapeType="1"/>
          </p:cNvSpPr>
          <p:nvPr/>
        </p:nvSpPr>
        <p:spPr bwMode="auto">
          <a:xfrm flipV="1">
            <a:off x="4389438" y="1071563"/>
            <a:ext cx="938212" cy="2043112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4180" name="Line 36"/>
          <p:cNvSpPr>
            <a:spLocks noChangeShapeType="1"/>
          </p:cNvSpPr>
          <p:nvPr/>
        </p:nvSpPr>
        <p:spPr bwMode="auto">
          <a:xfrm flipH="1" flipV="1">
            <a:off x="5326063" y="1044575"/>
            <a:ext cx="922337" cy="2058988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4181" name="Text Box 37"/>
          <p:cNvSpPr txBox="1">
            <a:spLocks noChangeArrowheads="1"/>
          </p:cNvSpPr>
          <p:nvPr/>
        </p:nvSpPr>
        <p:spPr bwMode="auto">
          <a:xfrm>
            <a:off x="5334000" y="620713"/>
            <a:ext cx="42068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b="1"/>
              <a:t>s'</a:t>
            </a:r>
          </a:p>
        </p:txBody>
      </p:sp>
      <p:sp>
        <p:nvSpPr>
          <p:cNvPr id="134182" name="Line 38"/>
          <p:cNvSpPr>
            <a:spLocks noChangeShapeType="1"/>
          </p:cNvSpPr>
          <p:nvPr/>
        </p:nvSpPr>
        <p:spPr bwMode="auto">
          <a:xfrm>
            <a:off x="2098675" y="1878013"/>
            <a:ext cx="900113" cy="2192337"/>
          </a:xfrm>
          <a:prstGeom prst="line">
            <a:avLst/>
          </a:pr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4183" name="Line 39"/>
          <p:cNvSpPr>
            <a:spLocks noChangeShapeType="1"/>
          </p:cNvSpPr>
          <p:nvPr/>
        </p:nvSpPr>
        <p:spPr bwMode="auto">
          <a:xfrm>
            <a:off x="7653338" y="903288"/>
            <a:ext cx="0" cy="2446337"/>
          </a:xfrm>
          <a:prstGeom prst="line">
            <a:avLst/>
          </a:prstGeom>
          <a:noFill/>
          <a:ln w="12700">
            <a:solidFill>
              <a:schemeClr val="tx1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4184" name="Line 40"/>
          <p:cNvSpPr>
            <a:spLocks noChangeShapeType="1"/>
          </p:cNvSpPr>
          <p:nvPr/>
        </p:nvSpPr>
        <p:spPr bwMode="auto">
          <a:xfrm>
            <a:off x="6748463" y="3113088"/>
            <a:ext cx="1790700" cy="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4185" name="Line 41"/>
          <p:cNvSpPr>
            <a:spLocks noChangeShapeType="1"/>
          </p:cNvSpPr>
          <p:nvPr/>
        </p:nvSpPr>
        <p:spPr bwMode="auto">
          <a:xfrm flipV="1">
            <a:off x="6761163" y="1082675"/>
            <a:ext cx="889000" cy="20288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34186" name="Group 42"/>
          <p:cNvGrpSpPr>
            <a:grpSpLocks/>
          </p:cNvGrpSpPr>
          <p:nvPr/>
        </p:nvGrpSpPr>
        <p:grpSpPr bwMode="auto">
          <a:xfrm>
            <a:off x="2109788" y="1676400"/>
            <a:ext cx="1443037" cy="2403475"/>
            <a:chOff x="1229" y="1298"/>
            <a:chExt cx="909" cy="1514"/>
          </a:xfrm>
        </p:grpSpPr>
        <p:sp>
          <p:nvSpPr>
            <p:cNvPr id="17468" name="Line 43"/>
            <p:cNvSpPr>
              <a:spLocks noChangeShapeType="1"/>
            </p:cNvSpPr>
            <p:nvPr/>
          </p:nvSpPr>
          <p:spPr bwMode="auto">
            <a:xfrm flipV="1">
              <a:off x="1229" y="1298"/>
              <a:ext cx="339" cy="112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69" name="Line 44"/>
            <p:cNvSpPr>
              <a:spLocks noChangeShapeType="1"/>
            </p:cNvSpPr>
            <p:nvPr/>
          </p:nvSpPr>
          <p:spPr bwMode="auto">
            <a:xfrm flipV="1">
              <a:off x="1281" y="1448"/>
              <a:ext cx="357" cy="13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70" name="Line 45"/>
            <p:cNvSpPr>
              <a:spLocks noChangeShapeType="1"/>
            </p:cNvSpPr>
            <p:nvPr/>
          </p:nvSpPr>
          <p:spPr bwMode="auto">
            <a:xfrm flipV="1">
              <a:off x="1349" y="1609"/>
              <a:ext cx="351" cy="1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71" name="Line 46"/>
            <p:cNvSpPr>
              <a:spLocks noChangeShapeType="1"/>
            </p:cNvSpPr>
            <p:nvPr/>
          </p:nvSpPr>
          <p:spPr bwMode="auto">
            <a:xfrm flipV="1">
              <a:off x="1416" y="1744"/>
              <a:ext cx="351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72" name="Line 47"/>
            <p:cNvSpPr>
              <a:spLocks noChangeShapeType="1"/>
            </p:cNvSpPr>
            <p:nvPr/>
          </p:nvSpPr>
          <p:spPr bwMode="auto">
            <a:xfrm flipV="1">
              <a:off x="1474" y="1904"/>
              <a:ext cx="345" cy="1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73" name="Line 48"/>
            <p:cNvSpPr>
              <a:spLocks noChangeShapeType="1"/>
            </p:cNvSpPr>
            <p:nvPr/>
          </p:nvSpPr>
          <p:spPr bwMode="auto">
            <a:xfrm flipV="1">
              <a:off x="1549" y="2045"/>
              <a:ext cx="351" cy="13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74" name="Line 49"/>
            <p:cNvSpPr>
              <a:spLocks noChangeShapeType="1"/>
            </p:cNvSpPr>
            <p:nvPr/>
          </p:nvSpPr>
          <p:spPr bwMode="auto">
            <a:xfrm flipV="1">
              <a:off x="1609" y="2212"/>
              <a:ext cx="351" cy="13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75" name="Line 50"/>
            <p:cNvSpPr>
              <a:spLocks noChangeShapeType="1"/>
            </p:cNvSpPr>
            <p:nvPr/>
          </p:nvSpPr>
          <p:spPr bwMode="auto">
            <a:xfrm flipV="1">
              <a:off x="1669" y="2379"/>
              <a:ext cx="351" cy="1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76" name="Line 51"/>
            <p:cNvSpPr>
              <a:spLocks noChangeShapeType="1"/>
            </p:cNvSpPr>
            <p:nvPr/>
          </p:nvSpPr>
          <p:spPr bwMode="auto">
            <a:xfrm flipV="1">
              <a:off x="1736" y="2527"/>
              <a:ext cx="339" cy="1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7477" name="Line 52"/>
            <p:cNvSpPr>
              <a:spLocks noChangeShapeType="1"/>
            </p:cNvSpPr>
            <p:nvPr/>
          </p:nvSpPr>
          <p:spPr bwMode="auto">
            <a:xfrm flipV="1">
              <a:off x="1787" y="2688"/>
              <a:ext cx="351" cy="12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34197" name="Line 53"/>
          <p:cNvSpPr>
            <a:spLocks noChangeShapeType="1"/>
          </p:cNvSpPr>
          <p:nvPr/>
        </p:nvSpPr>
        <p:spPr bwMode="auto">
          <a:xfrm flipH="1" flipV="1">
            <a:off x="7653338" y="1060450"/>
            <a:ext cx="877887" cy="206057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4198" name="Text Box 54"/>
          <p:cNvSpPr txBox="1">
            <a:spLocks noChangeArrowheads="1"/>
          </p:cNvSpPr>
          <p:nvPr/>
        </p:nvSpPr>
        <p:spPr bwMode="auto">
          <a:xfrm>
            <a:off x="7661275" y="646113"/>
            <a:ext cx="51911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b="1"/>
              <a:t>s"</a:t>
            </a:r>
          </a:p>
        </p:txBody>
      </p:sp>
      <p:sp>
        <p:nvSpPr>
          <p:cNvPr id="134199" name="Line 55"/>
          <p:cNvSpPr>
            <a:spLocks noChangeShapeType="1"/>
          </p:cNvSpPr>
          <p:nvPr/>
        </p:nvSpPr>
        <p:spPr bwMode="auto">
          <a:xfrm flipV="1">
            <a:off x="5326063" y="5797550"/>
            <a:ext cx="0" cy="422275"/>
          </a:xfrm>
          <a:prstGeom prst="line">
            <a:avLst/>
          </a:prstGeom>
          <a:noFill/>
          <a:ln w="38100">
            <a:solidFill>
              <a:srgbClr val="A50021"/>
            </a:solidFill>
            <a:round/>
            <a:headEnd/>
            <a:tailEnd type="triangle" w="med" len="med"/>
          </a:ln>
          <a:effectLst>
            <a:outerShdw dist="35921" dir="2700000" algn="ctr" rotWithShape="0">
              <a:srgbClr val="808080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4200" name="Line 56"/>
          <p:cNvSpPr>
            <a:spLocks noChangeShapeType="1"/>
          </p:cNvSpPr>
          <p:nvPr/>
        </p:nvSpPr>
        <p:spPr bwMode="auto">
          <a:xfrm>
            <a:off x="3840163" y="4689475"/>
            <a:ext cx="401637" cy="0"/>
          </a:xfrm>
          <a:prstGeom prst="line">
            <a:avLst/>
          </a:prstGeom>
          <a:noFill/>
          <a:ln w="38100">
            <a:solidFill>
              <a:srgbClr val="A50021"/>
            </a:solidFill>
            <a:round/>
            <a:headEnd/>
            <a:tailEnd type="triangle" w="med" len="med"/>
          </a:ln>
          <a:effectLst>
            <a:outerShdw dist="35921" dir="2700000" algn="ctr" rotWithShape="0">
              <a:srgbClr val="808080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4201" name="Text Box 57" descr="紫色网格"/>
          <p:cNvSpPr txBox="1">
            <a:spLocks noChangeArrowheads="1"/>
          </p:cNvSpPr>
          <p:nvPr/>
        </p:nvSpPr>
        <p:spPr bwMode="auto">
          <a:xfrm>
            <a:off x="414338" y="5367338"/>
            <a:ext cx="1927225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b="1">
                <a:latin typeface="黑体" pitchFamily="2" charset="-122"/>
                <a:ea typeface="黑体" pitchFamily="2" charset="-122"/>
              </a:rPr>
              <a:t>对</a:t>
            </a:r>
            <a:r>
              <a:rPr lang="en-US" altLang="zh-CN" sz="2800" b="1">
                <a:latin typeface="黑体" pitchFamily="2" charset="-122"/>
                <a:ea typeface="黑体" pitchFamily="2" charset="-122"/>
              </a:rPr>
              <a:t>V</a:t>
            </a:r>
            <a:r>
              <a:rPr lang="zh-CN" altLang="en-US" sz="2800" b="1">
                <a:latin typeface="黑体" pitchFamily="2" charset="-122"/>
                <a:ea typeface="黑体" pitchFamily="2" charset="-122"/>
              </a:rPr>
              <a:t>面的外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b="1">
                <a:latin typeface="黑体" pitchFamily="2" charset="-122"/>
                <a:ea typeface="黑体" pitchFamily="2" charset="-122"/>
              </a:rPr>
              <a:t>形轮廓线</a:t>
            </a:r>
          </a:p>
        </p:txBody>
      </p:sp>
      <p:sp>
        <p:nvSpPr>
          <p:cNvPr id="134202" name="Line 58"/>
          <p:cNvSpPr>
            <a:spLocks noChangeShapeType="1"/>
          </p:cNvSpPr>
          <p:nvPr/>
        </p:nvSpPr>
        <p:spPr bwMode="auto">
          <a:xfrm>
            <a:off x="1581150" y="3948113"/>
            <a:ext cx="85725" cy="140335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4203" name="Line 59"/>
          <p:cNvSpPr>
            <a:spLocks noChangeShapeType="1"/>
          </p:cNvSpPr>
          <p:nvPr/>
        </p:nvSpPr>
        <p:spPr bwMode="auto">
          <a:xfrm flipH="1">
            <a:off x="2676525" y="3921125"/>
            <a:ext cx="214313" cy="1525588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4204" name="Text Box 60" descr="紫色网格"/>
          <p:cNvSpPr txBox="1">
            <a:spLocks noChangeArrowheads="1"/>
          </p:cNvSpPr>
          <p:nvPr/>
        </p:nvSpPr>
        <p:spPr bwMode="auto">
          <a:xfrm>
            <a:off x="2325688" y="5375275"/>
            <a:ext cx="2241550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b="1">
                <a:latin typeface="黑体" pitchFamily="2" charset="-122"/>
                <a:ea typeface="黑体" pitchFamily="2" charset="-122"/>
              </a:rPr>
              <a:t>对</a:t>
            </a:r>
            <a:r>
              <a:rPr lang="en-US" altLang="zh-CN" sz="2800" b="1">
                <a:latin typeface="黑体" pitchFamily="2" charset="-122"/>
                <a:ea typeface="黑体" pitchFamily="2" charset="-122"/>
              </a:rPr>
              <a:t>W</a:t>
            </a:r>
            <a:r>
              <a:rPr lang="zh-CN" altLang="en-US" sz="2800" b="1">
                <a:latin typeface="黑体" pitchFamily="2" charset="-122"/>
                <a:ea typeface="黑体" pitchFamily="2" charset="-122"/>
              </a:rPr>
              <a:t>面的外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b="1">
                <a:latin typeface="黑体" pitchFamily="2" charset="-122"/>
                <a:ea typeface="黑体" pitchFamily="2" charset="-122"/>
              </a:rPr>
              <a:t>形轮廓线</a:t>
            </a:r>
          </a:p>
        </p:txBody>
      </p:sp>
      <p:sp>
        <p:nvSpPr>
          <p:cNvPr id="134206" name="Rectangle 62" descr="紫色网格"/>
          <p:cNvSpPr>
            <a:spLocks noChangeArrowheads="1"/>
          </p:cNvSpPr>
          <p:nvPr/>
        </p:nvSpPr>
        <p:spPr bwMode="auto">
          <a:xfrm>
            <a:off x="6437313" y="4021138"/>
            <a:ext cx="2706687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b="1">
                <a:latin typeface="黑体" pitchFamily="2" charset="-122"/>
                <a:ea typeface="黑体" pitchFamily="2" charset="-122"/>
              </a:rPr>
              <a:t>外形轮廓线投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b="1">
                <a:latin typeface="黑体" pitchFamily="2" charset="-122"/>
                <a:ea typeface="黑体" pitchFamily="2" charset="-122"/>
              </a:rPr>
              <a:t>影的对应关系</a:t>
            </a:r>
          </a:p>
        </p:txBody>
      </p:sp>
      <p:sp>
        <p:nvSpPr>
          <p:cNvPr id="134207" name="Line 63"/>
          <p:cNvSpPr>
            <a:spLocks noChangeShapeType="1"/>
          </p:cNvSpPr>
          <p:nvPr/>
        </p:nvSpPr>
        <p:spPr bwMode="auto">
          <a:xfrm flipH="1">
            <a:off x="4411663" y="1063625"/>
            <a:ext cx="917575" cy="2033588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4208" name="Line 64"/>
          <p:cNvSpPr>
            <a:spLocks noChangeShapeType="1"/>
          </p:cNvSpPr>
          <p:nvPr/>
        </p:nvSpPr>
        <p:spPr bwMode="auto">
          <a:xfrm flipH="1">
            <a:off x="4392613" y="1031875"/>
            <a:ext cx="966787" cy="2062163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4209" name="Line 65"/>
          <p:cNvSpPr>
            <a:spLocks noChangeShapeType="1"/>
          </p:cNvSpPr>
          <p:nvPr/>
        </p:nvSpPr>
        <p:spPr bwMode="auto">
          <a:xfrm flipH="1" flipV="1">
            <a:off x="4368800" y="4689475"/>
            <a:ext cx="957263" cy="9525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4210" name="Line 66"/>
          <p:cNvSpPr>
            <a:spLocks noChangeShapeType="1"/>
          </p:cNvSpPr>
          <p:nvPr/>
        </p:nvSpPr>
        <p:spPr bwMode="auto">
          <a:xfrm flipH="1" flipV="1">
            <a:off x="4378325" y="4699000"/>
            <a:ext cx="957263" cy="9525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4211" name="Line 67"/>
          <p:cNvSpPr>
            <a:spLocks noChangeShapeType="1"/>
          </p:cNvSpPr>
          <p:nvPr/>
        </p:nvSpPr>
        <p:spPr bwMode="auto">
          <a:xfrm>
            <a:off x="5348288" y="1090613"/>
            <a:ext cx="906462" cy="2036762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4212" name="Line 68"/>
          <p:cNvSpPr>
            <a:spLocks noChangeShapeType="1"/>
          </p:cNvSpPr>
          <p:nvPr/>
        </p:nvSpPr>
        <p:spPr bwMode="auto">
          <a:xfrm>
            <a:off x="5345113" y="1069975"/>
            <a:ext cx="906462" cy="2036763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4213" name="Line 69"/>
          <p:cNvSpPr>
            <a:spLocks noChangeShapeType="1"/>
          </p:cNvSpPr>
          <p:nvPr/>
        </p:nvSpPr>
        <p:spPr bwMode="auto">
          <a:xfrm>
            <a:off x="5324475" y="4689475"/>
            <a:ext cx="920750" cy="9525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4214" name="Line 70"/>
          <p:cNvSpPr>
            <a:spLocks noChangeShapeType="1"/>
          </p:cNvSpPr>
          <p:nvPr/>
        </p:nvSpPr>
        <p:spPr bwMode="auto">
          <a:xfrm>
            <a:off x="5334000" y="4699000"/>
            <a:ext cx="920750" cy="9525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4217" name="Text Box 73" descr="紫色网格"/>
          <p:cNvSpPr txBox="1">
            <a:spLocks noChangeArrowheads="1"/>
          </p:cNvSpPr>
          <p:nvPr/>
        </p:nvSpPr>
        <p:spPr bwMode="auto">
          <a:xfrm>
            <a:off x="6683375" y="5213350"/>
            <a:ext cx="2460625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b="1">
                <a:latin typeface="黑体" pitchFamily="2" charset="-122"/>
                <a:ea typeface="黑体" pitchFamily="2" charset="-122"/>
              </a:rPr>
              <a:t>圆锥面投影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b="1">
                <a:latin typeface="黑体" pitchFamily="2" charset="-122"/>
                <a:ea typeface="黑体" pitchFamily="2" charset="-122"/>
              </a:rPr>
              <a:t>可见性判断</a:t>
            </a:r>
          </a:p>
        </p:txBody>
      </p:sp>
      <p:sp>
        <p:nvSpPr>
          <p:cNvPr id="134218" name="Text Box 74"/>
          <p:cNvSpPr txBox="1">
            <a:spLocks noChangeArrowheads="1"/>
          </p:cNvSpPr>
          <p:nvPr/>
        </p:nvSpPr>
        <p:spPr bwMode="auto">
          <a:xfrm>
            <a:off x="5327650" y="4227513"/>
            <a:ext cx="3222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b="1"/>
              <a:t>s</a:t>
            </a:r>
          </a:p>
        </p:txBody>
      </p:sp>
      <p:sp>
        <p:nvSpPr>
          <p:cNvPr id="134220" name="Freeform 76"/>
          <p:cNvSpPr>
            <a:spLocks/>
          </p:cNvSpPr>
          <p:nvPr/>
        </p:nvSpPr>
        <p:spPr bwMode="auto">
          <a:xfrm>
            <a:off x="4414838" y="4727575"/>
            <a:ext cx="1800225" cy="862013"/>
          </a:xfrm>
          <a:custGeom>
            <a:avLst/>
            <a:gdLst>
              <a:gd name="T0" fmla="*/ 0 w 1134"/>
              <a:gd name="T1" fmla="*/ 0 h 543"/>
              <a:gd name="T2" fmla="*/ 2147483647 w 1134"/>
              <a:gd name="T3" fmla="*/ 2147483647 h 543"/>
              <a:gd name="T4" fmla="*/ 2147483647 w 1134"/>
              <a:gd name="T5" fmla="*/ 2147483647 h 543"/>
              <a:gd name="T6" fmla="*/ 2147483647 w 1134"/>
              <a:gd name="T7" fmla="*/ 2147483647 h 543"/>
              <a:gd name="T8" fmla="*/ 2147483647 w 1134"/>
              <a:gd name="T9" fmla="*/ 2147483647 h 543"/>
              <a:gd name="T10" fmla="*/ 2147483647 w 1134"/>
              <a:gd name="T11" fmla="*/ 2147483647 h 543"/>
              <a:gd name="T12" fmla="*/ 2147483647 w 1134"/>
              <a:gd name="T13" fmla="*/ 2147483647 h 543"/>
              <a:gd name="T14" fmla="*/ 2147483647 w 1134"/>
              <a:gd name="T15" fmla="*/ 2147483647 h 543"/>
              <a:gd name="T16" fmla="*/ 2147483647 w 1134"/>
              <a:gd name="T17" fmla="*/ 2147483647 h 543"/>
              <a:gd name="T18" fmla="*/ 2147483647 w 1134"/>
              <a:gd name="T19" fmla="*/ 2147483647 h 543"/>
              <a:gd name="T20" fmla="*/ 2147483647 w 1134"/>
              <a:gd name="T21" fmla="*/ 2147483647 h 543"/>
              <a:gd name="T22" fmla="*/ 2147483647 w 1134"/>
              <a:gd name="T23" fmla="*/ 2147483647 h 543"/>
              <a:gd name="T24" fmla="*/ 2147483647 w 1134"/>
              <a:gd name="T25" fmla="*/ 2147483647 h 543"/>
              <a:gd name="T26" fmla="*/ 2147483647 w 1134"/>
              <a:gd name="T27" fmla="*/ 2147483647 h 543"/>
              <a:gd name="T28" fmla="*/ 2147483647 w 1134"/>
              <a:gd name="T29" fmla="*/ 2147483647 h 543"/>
              <a:gd name="T30" fmla="*/ 2147483647 w 1134"/>
              <a:gd name="T31" fmla="*/ 2147483647 h 543"/>
              <a:gd name="T32" fmla="*/ 2147483647 w 1134"/>
              <a:gd name="T33" fmla="*/ 2147483647 h 543"/>
              <a:gd name="T34" fmla="*/ 2147483647 w 1134"/>
              <a:gd name="T35" fmla="*/ 2147483647 h 543"/>
              <a:gd name="T36" fmla="*/ 2147483647 w 1134"/>
              <a:gd name="T37" fmla="*/ 2147483647 h 543"/>
              <a:gd name="T38" fmla="*/ 2147483647 w 1134"/>
              <a:gd name="T39" fmla="*/ 2147483647 h 543"/>
              <a:gd name="T40" fmla="*/ 2147483647 w 1134"/>
              <a:gd name="T41" fmla="*/ 2147483647 h 543"/>
              <a:gd name="T42" fmla="*/ 2147483647 w 1134"/>
              <a:gd name="T43" fmla="*/ 2147483647 h 543"/>
              <a:gd name="T44" fmla="*/ 0 w 1134"/>
              <a:gd name="T45" fmla="*/ 0 h 543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1134" h="543">
                <a:moveTo>
                  <a:pt x="0" y="0"/>
                </a:moveTo>
                <a:lnTo>
                  <a:pt x="1134" y="8"/>
                </a:lnTo>
                <a:lnTo>
                  <a:pt x="1128" y="80"/>
                </a:lnTo>
                <a:lnTo>
                  <a:pt x="1098" y="176"/>
                </a:lnTo>
                <a:lnTo>
                  <a:pt x="1068" y="248"/>
                </a:lnTo>
                <a:lnTo>
                  <a:pt x="1020" y="320"/>
                </a:lnTo>
                <a:lnTo>
                  <a:pt x="966" y="392"/>
                </a:lnTo>
                <a:lnTo>
                  <a:pt x="903" y="438"/>
                </a:lnTo>
                <a:lnTo>
                  <a:pt x="840" y="480"/>
                </a:lnTo>
                <a:lnTo>
                  <a:pt x="765" y="510"/>
                </a:lnTo>
                <a:lnTo>
                  <a:pt x="690" y="531"/>
                </a:lnTo>
                <a:lnTo>
                  <a:pt x="615" y="543"/>
                </a:lnTo>
                <a:lnTo>
                  <a:pt x="507" y="537"/>
                </a:lnTo>
                <a:lnTo>
                  <a:pt x="438" y="525"/>
                </a:lnTo>
                <a:lnTo>
                  <a:pt x="363" y="501"/>
                </a:lnTo>
                <a:lnTo>
                  <a:pt x="273" y="462"/>
                </a:lnTo>
                <a:lnTo>
                  <a:pt x="210" y="410"/>
                </a:lnTo>
                <a:lnTo>
                  <a:pt x="144" y="344"/>
                </a:lnTo>
                <a:lnTo>
                  <a:pt x="108" y="290"/>
                </a:lnTo>
                <a:lnTo>
                  <a:pt x="60" y="212"/>
                </a:lnTo>
                <a:lnTo>
                  <a:pt x="30" y="134"/>
                </a:lnTo>
                <a:lnTo>
                  <a:pt x="6" y="50"/>
                </a:lnTo>
                <a:lnTo>
                  <a:pt x="0" y="0"/>
                </a:lnTo>
                <a:close/>
              </a:path>
            </a:pathLst>
          </a:custGeom>
          <a:solidFill>
            <a:srgbClr val="FFCCFF">
              <a:alpha val="50195"/>
            </a:srgbClr>
          </a:solidFill>
          <a:ln w="9525">
            <a:solidFill>
              <a:srgbClr val="FFCCFF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4221" name="Freeform 77"/>
          <p:cNvSpPr>
            <a:spLocks/>
          </p:cNvSpPr>
          <p:nvPr/>
        </p:nvSpPr>
        <p:spPr bwMode="auto">
          <a:xfrm>
            <a:off x="4419600" y="3779838"/>
            <a:ext cx="876300" cy="1806575"/>
          </a:xfrm>
          <a:custGeom>
            <a:avLst/>
            <a:gdLst>
              <a:gd name="T0" fmla="*/ 2147483647 w 552"/>
              <a:gd name="T1" fmla="*/ 0 h 1138"/>
              <a:gd name="T2" fmla="*/ 2147483647 w 552"/>
              <a:gd name="T3" fmla="*/ 2147483647 h 1138"/>
              <a:gd name="T4" fmla="*/ 2147483647 w 552"/>
              <a:gd name="T5" fmla="*/ 2147483647 h 1138"/>
              <a:gd name="T6" fmla="*/ 2147483647 w 552"/>
              <a:gd name="T7" fmla="*/ 2147483647 h 1138"/>
              <a:gd name="T8" fmla="*/ 2147483647 w 552"/>
              <a:gd name="T9" fmla="*/ 2147483647 h 1138"/>
              <a:gd name="T10" fmla="*/ 2147483647 w 552"/>
              <a:gd name="T11" fmla="*/ 2147483647 h 1138"/>
              <a:gd name="T12" fmla="*/ 2147483647 w 552"/>
              <a:gd name="T13" fmla="*/ 2147483647 h 1138"/>
              <a:gd name="T14" fmla="*/ 2147483647 w 552"/>
              <a:gd name="T15" fmla="*/ 2147483647 h 1138"/>
              <a:gd name="T16" fmla="*/ 2147483647 w 552"/>
              <a:gd name="T17" fmla="*/ 2147483647 h 1138"/>
              <a:gd name="T18" fmla="*/ 2147483647 w 552"/>
              <a:gd name="T19" fmla="*/ 2147483647 h 1138"/>
              <a:gd name="T20" fmla="*/ 2147483647 w 552"/>
              <a:gd name="T21" fmla="*/ 2147483647 h 1138"/>
              <a:gd name="T22" fmla="*/ 2147483647 w 552"/>
              <a:gd name="T23" fmla="*/ 2147483647 h 1138"/>
              <a:gd name="T24" fmla="*/ 0 w 552"/>
              <a:gd name="T25" fmla="*/ 2147483647 h 1138"/>
              <a:gd name="T26" fmla="*/ 0 w 552"/>
              <a:gd name="T27" fmla="*/ 2147483647 h 1138"/>
              <a:gd name="T28" fmla="*/ 2147483647 w 552"/>
              <a:gd name="T29" fmla="*/ 2147483647 h 1138"/>
              <a:gd name="T30" fmla="*/ 2147483647 w 552"/>
              <a:gd name="T31" fmla="*/ 2147483647 h 1138"/>
              <a:gd name="T32" fmla="*/ 2147483647 w 552"/>
              <a:gd name="T33" fmla="*/ 2147483647 h 1138"/>
              <a:gd name="T34" fmla="*/ 2147483647 w 552"/>
              <a:gd name="T35" fmla="*/ 2147483647 h 1138"/>
              <a:gd name="T36" fmla="*/ 2147483647 w 552"/>
              <a:gd name="T37" fmla="*/ 2147483647 h 1138"/>
              <a:gd name="T38" fmla="*/ 2147483647 w 552"/>
              <a:gd name="T39" fmla="*/ 2147483647 h 1138"/>
              <a:gd name="T40" fmla="*/ 2147483647 w 552"/>
              <a:gd name="T41" fmla="*/ 2147483647 h 1138"/>
              <a:gd name="T42" fmla="*/ 2147483647 w 552"/>
              <a:gd name="T43" fmla="*/ 2147483647 h 1138"/>
              <a:gd name="T44" fmla="*/ 2147483647 w 552"/>
              <a:gd name="T45" fmla="*/ 2147483647 h 1138"/>
              <a:gd name="T46" fmla="*/ 2147483647 w 552"/>
              <a:gd name="T47" fmla="*/ 2147483647 h 1138"/>
              <a:gd name="T48" fmla="*/ 2147483647 w 552"/>
              <a:gd name="T49" fmla="*/ 2147483647 h 1138"/>
              <a:gd name="T50" fmla="*/ 2147483647 w 552"/>
              <a:gd name="T51" fmla="*/ 2147483647 h 1138"/>
              <a:gd name="T52" fmla="*/ 2147483647 w 552"/>
              <a:gd name="T53" fmla="*/ 0 h 1138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</a:gdLst>
            <a:ahLst/>
            <a:cxnLst>
              <a:cxn ang="T54">
                <a:pos x="T0" y="T1"/>
              </a:cxn>
              <a:cxn ang="T55">
                <a:pos x="T2" y="T3"/>
              </a:cxn>
              <a:cxn ang="T56">
                <a:pos x="T4" y="T5"/>
              </a:cxn>
              <a:cxn ang="T57">
                <a:pos x="T6" y="T7"/>
              </a:cxn>
              <a:cxn ang="T58">
                <a:pos x="T8" y="T9"/>
              </a:cxn>
              <a:cxn ang="T59">
                <a:pos x="T10" y="T11"/>
              </a:cxn>
              <a:cxn ang="T60">
                <a:pos x="T12" y="T13"/>
              </a:cxn>
              <a:cxn ang="T61">
                <a:pos x="T14" y="T15"/>
              </a:cxn>
              <a:cxn ang="T62">
                <a:pos x="T16" y="T17"/>
              </a:cxn>
              <a:cxn ang="T63">
                <a:pos x="T18" y="T19"/>
              </a:cxn>
              <a:cxn ang="T64">
                <a:pos x="T20" y="T21"/>
              </a:cxn>
              <a:cxn ang="T65">
                <a:pos x="T22" y="T23"/>
              </a:cxn>
              <a:cxn ang="T66">
                <a:pos x="T24" y="T25"/>
              </a:cxn>
              <a:cxn ang="T67">
                <a:pos x="T26" y="T27"/>
              </a:cxn>
              <a:cxn ang="T68">
                <a:pos x="T28" y="T29"/>
              </a:cxn>
              <a:cxn ang="T69">
                <a:pos x="T30" y="T31"/>
              </a:cxn>
              <a:cxn ang="T70">
                <a:pos x="T32" y="T33"/>
              </a:cxn>
              <a:cxn ang="T71">
                <a:pos x="T34" y="T35"/>
              </a:cxn>
              <a:cxn ang="T72">
                <a:pos x="T36" y="T37"/>
              </a:cxn>
              <a:cxn ang="T73">
                <a:pos x="T38" y="T39"/>
              </a:cxn>
              <a:cxn ang="T74">
                <a:pos x="T40" y="T41"/>
              </a:cxn>
              <a:cxn ang="T75">
                <a:pos x="T42" y="T43"/>
              </a:cxn>
              <a:cxn ang="T76">
                <a:pos x="T44" y="T45"/>
              </a:cxn>
              <a:cxn ang="T77">
                <a:pos x="T46" y="T47"/>
              </a:cxn>
              <a:cxn ang="T78">
                <a:pos x="T48" y="T49"/>
              </a:cxn>
              <a:cxn ang="T79">
                <a:pos x="T50" y="T51"/>
              </a:cxn>
              <a:cxn ang="T80">
                <a:pos x="T52" y="T53"/>
              </a:cxn>
            </a:cxnLst>
            <a:rect l="0" t="0" r="r" b="b"/>
            <a:pathLst>
              <a:path w="552" h="1138">
                <a:moveTo>
                  <a:pt x="552" y="0"/>
                </a:moveTo>
                <a:lnTo>
                  <a:pt x="548" y="1138"/>
                </a:lnTo>
                <a:lnTo>
                  <a:pt x="476" y="1132"/>
                </a:lnTo>
                <a:lnTo>
                  <a:pt x="380" y="1102"/>
                </a:lnTo>
                <a:lnTo>
                  <a:pt x="308" y="1072"/>
                </a:lnTo>
                <a:lnTo>
                  <a:pt x="236" y="1024"/>
                </a:lnTo>
                <a:lnTo>
                  <a:pt x="164" y="970"/>
                </a:lnTo>
                <a:lnTo>
                  <a:pt x="114" y="909"/>
                </a:lnTo>
                <a:lnTo>
                  <a:pt x="81" y="864"/>
                </a:lnTo>
                <a:lnTo>
                  <a:pt x="48" y="801"/>
                </a:lnTo>
                <a:lnTo>
                  <a:pt x="21" y="738"/>
                </a:lnTo>
                <a:lnTo>
                  <a:pt x="9" y="687"/>
                </a:lnTo>
                <a:lnTo>
                  <a:pt x="0" y="612"/>
                </a:lnTo>
                <a:lnTo>
                  <a:pt x="0" y="522"/>
                </a:lnTo>
                <a:lnTo>
                  <a:pt x="9" y="450"/>
                </a:lnTo>
                <a:lnTo>
                  <a:pt x="30" y="387"/>
                </a:lnTo>
                <a:lnTo>
                  <a:pt x="57" y="330"/>
                </a:lnTo>
                <a:lnTo>
                  <a:pt x="90" y="276"/>
                </a:lnTo>
                <a:lnTo>
                  <a:pt x="129" y="216"/>
                </a:lnTo>
                <a:lnTo>
                  <a:pt x="174" y="171"/>
                </a:lnTo>
                <a:lnTo>
                  <a:pt x="216" y="129"/>
                </a:lnTo>
                <a:lnTo>
                  <a:pt x="273" y="93"/>
                </a:lnTo>
                <a:lnTo>
                  <a:pt x="327" y="60"/>
                </a:lnTo>
                <a:lnTo>
                  <a:pt x="387" y="33"/>
                </a:lnTo>
                <a:lnTo>
                  <a:pt x="447" y="15"/>
                </a:lnTo>
                <a:lnTo>
                  <a:pt x="504" y="3"/>
                </a:lnTo>
                <a:lnTo>
                  <a:pt x="552" y="0"/>
                </a:lnTo>
                <a:close/>
              </a:path>
            </a:pathLst>
          </a:custGeom>
          <a:solidFill>
            <a:srgbClr val="FFFFCC">
              <a:alpha val="50195"/>
            </a:srgbClr>
          </a:solidFill>
          <a:ln w="9525">
            <a:solidFill>
              <a:srgbClr val="FFFFCC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4222" name="AutoShape 78"/>
          <p:cNvSpPr>
            <a:spLocks noChangeArrowheads="1"/>
          </p:cNvSpPr>
          <p:nvPr/>
        </p:nvSpPr>
        <p:spPr bwMode="auto">
          <a:xfrm>
            <a:off x="6784975" y="1182688"/>
            <a:ext cx="1704975" cy="1905000"/>
          </a:xfrm>
          <a:prstGeom prst="triangle">
            <a:avLst>
              <a:gd name="adj" fmla="val 50000"/>
            </a:avLst>
          </a:prstGeom>
          <a:solidFill>
            <a:srgbClr val="FFFFCC">
              <a:alpha val="50195"/>
            </a:srgbClr>
          </a:solidFill>
          <a:ln w="9525">
            <a:solidFill>
              <a:srgbClr val="FFFFCC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34223" name="Oval 79"/>
          <p:cNvSpPr>
            <a:spLocks noChangeArrowheads="1"/>
          </p:cNvSpPr>
          <p:nvPr/>
        </p:nvSpPr>
        <p:spPr bwMode="auto">
          <a:xfrm>
            <a:off x="392113" y="417513"/>
            <a:ext cx="265112" cy="265112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34224" name="Line 80"/>
          <p:cNvSpPr>
            <a:spLocks noChangeShapeType="1"/>
          </p:cNvSpPr>
          <p:nvPr/>
        </p:nvSpPr>
        <p:spPr bwMode="auto">
          <a:xfrm flipH="1">
            <a:off x="6757988" y="1057275"/>
            <a:ext cx="912812" cy="2027238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4225" name="Line 81"/>
          <p:cNvSpPr>
            <a:spLocks noChangeShapeType="1"/>
          </p:cNvSpPr>
          <p:nvPr/>
        </p:nvSpPr>
        <p:spPr bwMode="auto">
          <a:xfrm flipH="1">
            <a:off x="6732588" y="1066800"/>
            <a:ext cx="938212" cy="2052638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4226" name="Line 82"/>
          <p:cNvSpPr>
            <a:spLocks noChangeShapeType="1"/>
          </p:cNvSpPr>
          <p:nvPr/>
        </p:nvSpPr>
        <p:spPr bwMode="auto">
          <a:xfrm>
            <a:off x="5327650" y="3762375"/>
            <a:ext cx="1588" cy="941388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4227" name="Line 83"/>
          <p:cNvSpPr>
            <a:spLocks noChangeShapeType="1"/>
          </p:cNvSpPr>
          <p:nvPr/>
        </p:nvSpPr>
        <p:spPr bwMode="auto">
          <a:xfrm>
            <a:off x="5327650" y="3771900"/>
            <a:ext cx="1588" cy="941388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4228" name="Line 84"/>
          <p:cNvSpPr>
            <a:spLocks noChangeShapeType="1"/>
          </p:cNvSpPr>
          <p:nvPr/>
        </p:nvSpPr>
        <p:spPr bwMode="auto">
          <a:xfrm>
            <a:off x="7661275" y="1066800"/>
            <a:ext cx="887413" cy="2046288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4229" name="Line 85"/>
          <p:cNvSpPr>
            <a:spLocks noChangeShapeType="1"/>
          </p:cNvSpPr>
          <p:nvPr/>
        </p:nvSpPr>
        <p:spPr bwMode="auto">
          <a:xfrm>
            <a:off x="7661275" y="1085850"/>
            <a:ext cx="887413" cy="2046288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4230" name="Line 86"/>
          <p:cNvSpPr>
            <a:spLocks noChangeShapeType="1"/>
          </p:cNvSpPr>
          <p:nvPr/>
        </p:nvSpPr>
        <p:spPr bwMode="auto">
          <a:xfrm>
            <a:off x="5327650" y="4695825"/>
            <a:ext cx="1588" cy="922338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4231" name="Line 87"/>
          <p:cNvSpPr>
            <a:spLocks noChangeShapeType="1"/>
          </p:cNvSpPr>
          <p:nvPr/>
        </p:nvSpPr>
        <p:spPr bwMode="auto">
          <a:xfrm>
            <a:off x="5327650" y="4686300"/>
            <a:ext cx="1588" cy="922338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4234" name="AutoShape 90"/>
          <p:cNvSpPr>
            <a:spLocks noChangeArrowheads="1"/>
          </p:cNvSpPr>
          <p:nvPr/>
        </p:nvSpPr>
        <p:spPr bwMode="auto">
          <a:xfrm>
            <a:off x="4456113" y="1143000"/>
            <a:ext cx="1730375" cy="1943100"/>
          </a:xfrm>
          <a:prstGeom prst="triangle">
            <a:avLst>
              <a:gd name="adj" fmla="val 50000"/>
            </a:avLst>
          </a:prstGeom>
          <a:solidFill>
            <a:srgbClr val="FFCCFF">
              <a:alpha val="50195"/>
            </a:srgbClr>
          </a:solidFill>
          <a:ln w="9525">
            <a:solidFill>
              <a:srgbClr val="FFCCFF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34235" name="Line 91"/>
          <p:cNvSpPr>
            <a:spLocks noChangeShapeType="1"/>
          </p:cNvSpPr>
          <p:nvPr/>
        </p:nvSpPr>
        <p:spPr bwMode="auto">
          <a:xfrm>
            <a:off x="5329238" y="1074738"/>
            <a:ext cx="2328862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4236" name="Oval 92"/>
          <p:cNvSpPr>
            <a:spLocks noChangeArrowheads="1"/>
          </p:cNvSpPr>
          <p:nvPr/>
        </p:nvSpPr>
        <p:spPr bwMode="auto">
          <a:xfrm>
            <a:off x="5283200" y="1016000"/>
            <a:ext cx="106363" cy="106363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34237" name="Oval 93"/>
          <p:cNvSpPr>
            <a:spLocks noChangeArrowheads="1"/>
          </p:cNvSpPr>
          <p:nvPr/>
        </p:nvSpPr>
        <p:spPr bwMode="auto">
          <a:xfrm>
            <a:off x="7607300" y="1025525"/>
            <a:ext cx="106363" cy="106363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34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3415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 nodeType="clickPar">
                      <p:stCondLst>
                        <p:cond delay="indefinite"/>
                      </p:stCondLst>
                      <p:childTnLst>
                        <p:par>
                          <p:cTn id="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134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34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134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0" dur="500"/>
                                        <p:tgtEl>
                                          <p:spTgt spid="134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42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9" dur="500"/>
                                        <p:tgtEl>
                                          <p:spTgt spid="134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0" fill="hold" nodeType="clickPar">
                      <p:stCondLst>
                        <p:cond delay="indefinite"/>
                      </p:stCondLst>
                      <p:childTnLst>
                        <p:par>
                          <p:cTn id="4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2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41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134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3" dur="500"/>
                                        <p:tgtEl>
                                          <p:spTgt spid="134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 nodeType="clickPar">
                      <p:stCondLst>
                        <p:cond delay="indefinite"/>
                      </p:stCondLst>
                      <p:childTnLst>
                        <p:par>
                          <p:cTn id="5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6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58" dur="500" fill="hold"/>
                                        <p:tgtEl>
                                          <p:spTgt spid="13423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9" dur="500" fill="hold"/>
                                        <p:tgtEl>
                                          <p:spTgt spid="13423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4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 nodeType="clickPar">
                      <p:stCondLst>
                        <p:cond delay="indefinite"/>
                      </p:stCondLst>
                      <p:childTnLst>
                        <p:par>
                          <p:cTn id="6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5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7" dur="500"/>
                                        <p:tgtEl>
                                          <p:spTgt spid="134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4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2" fill="hold" nodeType="clickPar">
                      <p:stCondLst>
                        <p:cond delay="indefinite"/>
                      </p:stCondLst>
                      <p:childTnLst>
                        <p:par>
                          <p:cTn id="7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6" dur="500"/>
                                        <p:tgtEl>
                                          <p:spTgt spid="134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8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80" dur="500"/>
                                        <p:tgtEl>
                                          <p:spTgt spid="1342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1341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9" dur="500"/>
                                        <p:tgtEl>
                                          <p:spTgt spid="1341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4" dur="500"/>
                                        <p:tgtEl>
                                          <p:spTgt spid="134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 nodeType="clickPar">
                      <p:stCondLst>
                        <p:cond delay="indefinite"/>
                      </p:stCondLst>
                      <p:childTnLst>
                        <p:par>
                          <p:cTn id="9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42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3" dur="500"/>
                                        <p:tgtEl>
                                          <p:spTgt spid="1341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8" dur="500"/>
                                        <p:tgtEl>
                                          <p:spTgt spid="1341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4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16" dur="500" fill="hold"/>
                                        <p:tgtEl>
                                          <p:spTgt spid="13423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7" dur="500" fill="hold"/>
                                        <p:tgtEl>
                                          <p:spTgt spid="13423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19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41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5" dur="500"/>
                                        <p:tgtEl>
                                          <p:spTgt spid="1341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4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0" fill="hold" nodeType="clickPar">
                      <p:stCondLst>
                        <p:cond delay="indefinite"/>
                      </p:stCondLst>
                      <p:childTnLst>
                        <p:par>
                          <p:cTn id="13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4" dur="500"/>
                                        <p:tgtEl>
                                          <p:spTgt spid="1342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36" presetID="4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8" dur="500"/>
                                        <p:tgtEl>
                                          <p:spTgt spid="1342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9" fill="hold" nodeType="clickPar">
                      <p:stCondLst>
                        <p:cond delay="indefinite"/>
                      </p:stCondLst>
                      <p:childTnLst>
                        <p:par>
                          <p:cTn id="1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3" dur="500"/>
                                        <p:tgtEl>
                                          <p:spTgt spid="1341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1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7" dur="500"/>
                                        <p:tgtEl>
                                          <p:spTgt spid="1341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 nodeType="clickPar">
                      <p:stCondLst>
                        <p:cond delay="indefinite"/>
                      </p:stCondLst>
                      <p:childTnLst>
                        <p:par>
                          <p:cTn id="14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2" dur="300"/>
                                        <p:tgtEl>
                                          <p:spTgt spid="13420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3" fill="hold" nodeType="clickPar">
                      <p:stCondLst>
                        <p:cond delay="indefinite"/>
                      </p:stCondLst>
                      <p:childTnLst>
                        <p:par>
                          <p:cTn id="1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5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6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 nodeType="clickPar">
                      <p:stCondLst>
                        <p:cond delay="indefinite"/>
                      </p:stCondLst>
                      <p:childTnLst>
                        <p:par>
                          <p:cTn id="1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9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1" fill="hold" nodeType="clickPar">
                      <p:stCondLst>
                        <p:cond delay="indefinite"/>
                      </p:stCondLst>
                      <p:childTnLst>
                        <p:par>
                          <p:cTn id="1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3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 nodeType="clickPar">
                      <p:stCondLst>
                        <p:cond delay="indefinite"/>
                      </p:stCondLst>
                      <p:childTnLst>
                        <p:par>
                          <p:cTn id="1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7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 nodeType="clickPar">
                      <p:stCondLst>
                        <p:cond delay="indefinite"/>
                      </p:stCondLst>
                      <p:childTnLst>
                        <p:par>
                          <p:cTn id="1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1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3" fill="hold" nodeType="clickPar">
                      <p:stCondLst>
                        <p:cond delay="indefinite"/>
                      </p:stCondLst>
                      <p:childTnLst>
                        <p:par>
                          <p:cTn id="1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5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6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7" fill="hold" nodeType="clickPar">
                      <p:stCondLst>
                        <p:cond delay="indefinite"/>
                      </p:stCondLst>
                      <p:childTnLst>
                        <p:par>
                          <p:cTn id="1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79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0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 nodeType="clickPar">
                      <p:stCondLst>
                        <p:cond delay="indefinite"/>
                      </p:stCondLst>
                      <p:childTnLst>
                        <p:par>
                          <p:cTn id="1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3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5" fill="hold" nodeType="clickPar">
                      <p:stCondLst>
                        <p:cond delay="indefinite"/>
                      </p:stCondLst>
                      <p:childTnLst>
                        <p:par>
                          <p:cTn id="1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7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9" fill="hold" nodeType="clickPar">
                      <p:stCondLst>
                        <p:cond delay="indefinite"/>
                      </p:stCondLst>
                      <p:childTnLst>
                        <p:par>
                          <p:cTn id="1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1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2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3" fill="hold" nodeType="clickPar">
                      <p:stCondLst>
                        <p:cond delay="indefinite"/>
                      </p:stCondLst>
                      <p:childTnLst>
                        <p:par>
                          <p:cTn id="1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5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7" fill="hold" nodeType="clickPar">
                      <p:stCondLst>
                        <p:cond delay="indefinite"/>
                      </p:stCondLst>
                      <p:childTnLst>
                        <p:par>
                          <p:cTn id="1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9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0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1" fill="hold" nodeType="clickPar">
                      <p:stCondLst>
                        <p:cond delay="indefinite"/>
                      </p:stCondLst>
                      <p:childTnLst>
                        <p:par>
                          <p:cTn id="2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3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5" fill="hold" nodeType="clickPar">
                      <p:stCondLst>
                        <p:cond delay="indefinite"/>
                      </p:stCondLst>
                      <p:childTnLst>
                        <p:par>
                          <p:cTn id="2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7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8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9" fill="hold" nodeType="clickPar">
                      <p:stCondLst>
                        <p:cond delay="indefinite"/>
                      </p:stCondLst>
                      <p:childTnLst>
                        <p:par>
                          <p:cTn id="2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1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2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3" fill="hold" nodeType="clickPar">
                      <p:stCondLst>
                        <p:cond delay="indefinite"/>
                      </p:stCondLst>
                      <p:childTnLst>
                        <p:par>
                          <p:cTn id="2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15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6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1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0" dur="75"/>
                                        <p:tgtEl>
                                          <p:spTgt spid="13421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1" fill="hold" nodeType="afterGroup">
                            <p:stCondLst>
                              <p:cond delay="1375"/>
                            </p:stCondLst>
                            <p:childTnLst>
                              <p:par>
                                <p:cTn id="22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24" dur="75"/>
                                        <p:tgtEl>
                                          <p:spTgt spid="134217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5" fill="hold" nodeType="clickPar">
                      <p:stCondLst>
                        <p:cond delay="indefinite"/>
                      </p:stCondLst>
                      <p:childTnLst>
                        <p:par>
                          <p:cTn id="2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27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8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9" fill="hold" nodeType="clickPar">
                      <p:stCondLst>
                        <p:cond delay="indefinite"/>
                      </p:stCondLst>
                      <p:childTnLst>
                        <p:par>
                          <p:cTn id="2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1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2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3" fill="hold" nodeType="clickPar">
                      <p:stCondLst>
                        <p:cond delay="indefinite"/>
                      </p:stCondLst>
                      <p:childTnLst>
                        <p:par>
                          <p:cTn id="2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5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6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7" fill="hold" nodeType="clickPar">
                      <p:stCondLst>
                        <p:cond delay="indefinite"/>
                      </p:stCondLst>
                      <p:childTnLst>
                        <p:par>
                          <p:cTn id="2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39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0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4154" grpId="0" build="p" autoUpdateAnimBg="0" advAuto="0"/>
      <p:bldP spid="134159" grpId="0" animBg="1"/>
      <p:bldP spid="134160" grpId="0" animBg="1"/>
      <p:bldP spid="134161" grpId="0" animBg="1"/>
      <p:bldP spid="134162" grpId="0" animBg="1"/>
      <p:bldP spid="134163" grpId="0" animBg="1"/>
      <p:bldP spid="134164" grpId="0" animBg="1"/>
      <p:bldP spid="134165" grpId="0" animBg="1"/>
      <p:bldP spid="134166" grpId="0" animBg="1"/>
      <p:bldP spid="134167" grpId="0" animBg="1"/>
      <p:bldP spid="134179" grpId="0" animBg="1"/>
      <p:bldP spid="134180" grpId="0" animBg="1"/>
      <p:bldP spid="134181" grpId="0" autoUpdateAnimBg="0"/>
      <p:bldP spid="134182" grpId="0" animBg="1"/>
      <p:bldP spid="134183" grpId="0" animBg="1"/>
      <p:bldP spid="134184" grpId="0" animBg="1"/>
      <p:bldP spid="134185" grpId="0" animBg="1"/>
      <p:bldP spid="134197" grpId="0" animBg="1"/>
      <p:bldP spid="134198" grpId="0" autoUpdateAnimBg="0"/>
      <p:bldP spid="134199" grpId="0" animBg="1"/>
      <p:bldP spid="134200" grpId="0" animBg="1"/>
      <p:bldP spid="134201" grpId="0"/>
      <p:bldP spid="134202" grpId="0" animBg="1"/>
      <p:bldP spid="134203" grpId="0" animBg="1"/>
      <p:bldP spid="134204" grpId="0"/>
      <p:bldP spid="134206" grpId="0" autoUpdateAnimBg="0"/>
      <p:bldP spid="134207" grpId="0" animBg="1"/>
      <p:bldP spid="134208" grpId="0" animBg="1"/>
      <p:bldP spid="134209" grpId="0" animBg="1"/>
      <p:bldP spid="134210" grpId="0" animBg="1"/>
      <p:bldP spid="134211" grpId="0" animBg="1"/>
      <p:bldP spid="134212" grpId="0" animBg="1"/>
      <p:bldP spid="134213" grpId="0" animBg="1"/>
      <p:bldP spid="134214" grpId="0" animBg="1"/>
      <p:bldP spid="134217" grpId="0" build="p" autoUpdateAnimBg="0" advAuto="0"/>
      <p:bldP spid="134218" grpId="0" autoUpdateAnimBg="0"/>
      <p:bldP spid="134220" grpId="0" animBg="1"/>
      <p:bldP spid="134221" grpId="0" animBg="1"/>
      <p:bldP spid="134222" grpId="0" animBg="1"/>
      <p:bldP spid="134223" grpId="0" animBg="1"/>
      <p:bldP spid="134224" grpId="0" animBg="1"/>
      <p:bldP spid="134225" grpId="0" animBg="1"/>
      <p:bldP spid="134226" grpId="0" animBg="1"/>
      <p:bldP spid="134227" grpId="0" animBg="1"/>
      <p:bldP spid="134228" grpId="0" animBg="1"/>
      <p:bldP spid="134229" grpId="0" animBg="1"/>
      <p:bldP spid="134230" grpId="0" animBg="1"/>
      <p:bldP spid="134231" grpId="0" animBg="1"/>
      <p:bldP spid="134234" grpId="0" animBg="1"/>
      <p:bldP spid="134235" grpId="0" animBg="1"/>
      <p:bldP spid="134236" grpId="0" animBg="1"/>
      <p:bldP spid="134237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8F1088C3-D3A7-496D-885B-D18AE0DE345E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16</a:t>
            </a:fld>
            <a:endParaRPr lang="en-US" altLang="zh-CN" sz="1400" smtClean="0">
              <a:solidFill>
                <a:schemeClr val="bg2"/>
              </a:solidFill>
            </a:endParaRPr>
          </a:p>
        </p:txBody>
      </p:sp>
      <p:grpSp>
        <p:nvGrpSpPr>
          <p:cNvPr id="18435" name="Group 88"/>
          <p:cNvGrpSpPr>
            <a:grpSpLocks/>
          </p:cNvGrpSpPr>
          <p:nvPr/>
        </p:nvGrpSpPr>
        <p:grpSpPr bwMode="auto">
          <a:xfrm>
            <a:off x="528638" y="1546225"/>
            <a:ext cx="3498850" cy="3392488"/>
            <a:chOff x="362" y="1003"/>
            <a:chExt cx="2204" cy="2137"/>
          </a:xfrm>
        </p:grpSpPr>
        <p:grpSp>
          <p:nvGrpSpPr>
            <p:cNvPr id="18483" name="Group 89"/>
            <p:cNvGrpSpPr>
              <a:grpSpLocks/>
            </p:cNvGrpSpPr>
            <p:nvPr/>
          </p:nvGrpSpPr>
          <p:grpSpPr bwMode="auto">
            <a:xfrm>
              <a:off x="362" y="1003"/>
              <a:ext cx="2204" cy="2107"/>
              <a:chOff x="362" y="1003"/>
              <a:chExt cx="2204" cy="2107"/>
            </a:xfrm>
          </p:grpSpPr>
          <p:sp>
            <p:nvSpPr>
              <p:cNvPr id="18485" name="Freeform 90"/>
              <p:cNvSpPr>
                <a:spLocks/>
              </p:cNvSpPr>
              <p:nvPr/>
            </p:nvSpPr>
            <p:spPr bwMode="auto">
              <a:xfrm>
                <a:off x="406" y="2488"/>
                <a:ext cx="2147" cy="622"/>
              </a:xfrm>
              <a:custGeom>
                <a:avLst/>
                <a:gdLst>
                  <a:gd name="T0" fmla="*/ 1125 w 2147"/>
                  <a:gd name="T1" fmla="*/ 0 h 622"/>
                  <a:gd name="T2" fmla="*/ 0 w 2147"/>
                  <a:gd name="T3" fmla="*/ 415 h 622"/>
                  <a:gd name="T4" fmla="*/ 1058 w 2147"/>
                  <a:gd name="T5" fmla="*/ 622 h 622"/>
                  <a:gd name="T6" fmla="*/ 2147 w 2147"/>
                  <a:gd name="T7" fmla="*/ 255 h 622"/>
                  <a:gd name="T8" fmla="*/ 1125 w 2147"/>
                  <a:gd name="T9" fmla="*/ 0 h 62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147" h="622">
                    <a:moveTo>
                      <a:pt x="1125" y="0"/>
                    </a:moveTo>
                    <a:lnTo>
                      <a:pt x="0" y="415"/>
                    </a:lnTo>
                    <a:lnTo>
                      <a:pt x="1058" y="622"/>
                    </a:lnTo>
                    <a:lnTo>
                      <a:pt x="2147" y="255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rgbClr val="CCFF99">
                  <a:alpha val="50195"/>
                </a:srgbClr>
              </a:solidFill>
              <a:ln w="28575" cmpd="sng">
                <a:solidFill>
                  <a:srgbClr val="CCFF99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86" name="Freeform 91"/>
              <p:cNvSpPr>
                <a:spLocks/>
              </p:cNvSpPr>
              <p:nvPr/>
            </p:nvSpPr>
            <p:spPr bwMode="auto">
              <a:xfrm>
                <a:off x="1510" y="1003"/>
                <a:ext cx="1056" cy="1744"/>
              </a:xfrm>
              <a:custGeom>
                <a:avLst/>
                <a:gdLst>
                  <a:gd name="T0" fmla="*/ 0 w 1056"/>
                  <a:gd name="T1" fmla="*/ 0 h 2156"/>
                  <a:gd name="T2" fmla="*/ 0 w 1056"/>
                  <a:gd name="T3" fmla="*/ 959 h 2156"/>
                  <a:gd name="T4" fmla="*/ 1056 w 1056"/>
                  <a:gd name="T5" fmla="*/ 1141 h 2156"/>
                  <a:gd name="T6" fmla="*/ 1056 w 1056"/>
                  <a:gd name="T7" fmla="*/ 183 h 2156"/>
                  <a:gd name="T8" fmla="*/ 0 w 1056"/>
                  <a:gd name="T9" fmla="*/ 0 h 21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56" h="2156">
                    <a:moveTo>
                      <a:pt x="0" y="0"/>
                    </a:moveTo>
                    <a:lnTo>
                      <a:pt x="0" y="1811"/>
                    </a:lnTo>
                    <a:lnTo>
                      <a:pt x="1056" y="2156"/>
                    </a:lnTo>
                    <a:lnTo>
                      <a:pt x="1056" y="34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99">
                  <a:alpha val="50195"/>
                </a:srgbClr>
              </a:solidFill>
              <a:ln w="28575" cmpd="sng">
                <a:solidFill>
                  <a:srgbClr val="FFFF99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87" name="Freeform 92"/>
              <p:cNvSpPr>
                <a:spLocks/>
              </p:cNvSpPr>
              <p:nvPr/>
            </p:nvSpPr>
            <p:spPr bwMode="auto">
              <a:xfrm>
                <a:off x="398" y="1005"/>
                <a:ext cx="1123" cy="1899"/>
              </a:xfrm>
              <a:custGeom>
                <a:avLst/>
                <a:gdLst>
                  <a:gd name="T0" fmla="*/ 0 w 1123"/>
                  <a:gd name="T1" fmla="*/ 384 h 1899"/>
                  <a:gd name="T2" fmla="*/ 1123 w 1123"/>
                  <a:gd name="T3" fmla="*/ 0 h 1899"/>
                  <a:gd name="T4" fmla="*/ 1123 w 1123"/>
                  <a:gd name="T5" fmla="*/ 1467 h 1899"/>
                  <a:gd name="T6" fmla="*/ 1 w 1123"/>
                  <a:gd name="T7" fmla="*/ 1899 h 1899"/>
                  <a:gd name="T8" fmla="*/ 0 w 1123"/>
                  <a:gd name="T9" fmla="*/ 384 h 189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123" h="1899">
                    <a:moveTo>
                      <a:pt x="0" y="384"/>
                    </a:moveTo>
                    <a:lnTo>
                      <a:pt x="1123" y="0"/>
                    </a:lnTo>
                    <a:lnTo>
                      <a:pt x="1123" y="1467"/>
                    </a:lnTo>
                    <a:lnTo>
                      <a:pt x="1" y="1899"/>
                    </a:lnTo>
                    <a:lnTo>
                      <a:pt x="0" y="384"/>
                    </a:lnTo>
                    <a:close/>
                  </a:path>
                </a:pathLst>
              </a:custGeom>
              <a:solidFill>
                <a:srgbClr val="CCFFCC">
                  <a:alpha val="50195"/>
                </a:srgbClr>
              </a:solidFill>
              <a:ln w="28575" cmpd="sng">
                <a:solidFill>
                  <a:srgbClr val="CCFFCC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39357" name="Text Box 93"/>
              <p:cNvSpPr txBox="1">
                <a:spLocks noChangeArrowheads="1"/>
              </p:cNvSpPr>
              <p:nvPr/>
            </p:nvSpPr>
            <p:spPr bwMode="auto">
              <a:xfrm>
                <a:off x="362" y="1324"/>
                <a:ext cx="301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>
                  <a:defRPr/>
                </a:pPr>
                <a:r>
                  <a:rPr kumimoji="1" lang="en-US" altLang="zh-CN" sz="3200" b="1">
                    <a:solidFill>
                      <a:srgbClr val="000066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ea typeface="隶书" pitchFamily="49" charset="-122"/>
                  </a:rPr>
                  <a:t>V</a:t>
                </a:r>
              </a:p>
            </p:txBody>
          </p:sp>
          <p:sp>
            <p:nvSpPr>
              <p:cNvPr id="139358" name="Text Box 94"/>
              <p:cNvSpPr txBox="1">
                <a:spLocks noChangeArrowheads="1"/>
              </p:cNvSpPr>
              <p:nvPr/>
            </p:nvSpPr>
            <p:spPr bwMode="auto">
              <a:xfrm>
                <a:off x="2191" y="1197"/>
                <a:ext cx="372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>
                  <a:defRPr/>
                </a:pPr>
                <a:r>
                  <a:rPr kumimoji="1" lang="en-US" altLang="zh-CN" sz="3200" b="1">
                    <a:solidFill>
                      <a:srgbClr val="000066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ea typeface="隶书" pitchFamily="49" charset="-122"/>
                  </a:rPr>
                  <a:t>W</a:t>
                </a:r>
              </a:p>
            </p:txBody>
          </p:sp>
        </p:grpSp>
        <p:sp>
          <p:nvSpPr>
            <p:cNvPr id="139359" name="Text Box 95"/>
            <p:cNvSpPr txBox="1">
              <a:spLocks noChangeArrowheads="1"/>
            </p:cNvSpPr>
            <p:nvPr/>
          </p:nvSpPr>
          <p:spPr bwMode="auto">
            <a:xfrm>
              <a:off x="1335" y="2775"/>
              <a:ext cx="315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defRPr/>
              </a:pPr>
              <a:r>
                <a:rPr kumimoji="1" lang="en-US" altLang="zh-CN" sz="3200" b="1">
                  <a:solidFill>
                    <a:srgbClr val="0000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隶书" pitchFamily="49" charset="-122"/>
                </a:rPr>
                <a:t>H</a:t>
              </a:r>
            </a:p>
          </p:txBody>
        </p:sp>
      </p:grpSp>
      <p:grpSp>
        <p:nvGrpSpPr>
          <p:cNvPr id="18436" name="Group 96"/>
          <p:cNvGrpSpPr>
            <a:grpSpLocks/>
          </p:cNvGrpSpPr>
          <p:nvPr/>
        </p:nvGrpSpPr>
        <p:grpSpPr bwMode="auto">
          <a:xfrm>
            <a:off x="912813" y="1625600"/>
            <a:ext cx="2527300" cy="3094038"/>
            <a:chOff x="3039" y="1265"/>
            <a:chExt cx="1267" cy="1551"/>
          </a:xfrm>
        </p:grpSpPr>
        <p:sp>
          <p:nvSpPr>
            <p:cNvPr id="18481" name="Line 97"/>
            <p:cNvSpPr>
              <a:spLocks noChangeShapeType="1"/>
            </p:cNvSpPr>
            <p:nvPr/>
          </p:nvSpPr>
          <p:spPr bwMode="auto">
            <a:xfrm>
              <a:off x="3667" y="1265"/>
              <a:ext cx="0" cy="1551"/>
            </a:xfrm>
            <a:prstGeom prst="line">
              <a:avLst/>
            </a:prstGeom>
            <a:noFill/>
            <a:ln w="28575">
              <a:solidFill>
                <a:srgbClr val="990033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pic>
          <p:nvPicPr>
            <p:cNvPr id="18482" name="Picture 98"/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3039" y="1265"/>
              <a:ext cx="1267" cy="1482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</p:grpSp>
      <p:grpSp>
        <p:nvGrpSpPr>
          <p:cNvPr id="139363" name="Group 99"/>
          <p:cNvGrpSpPr>
            <a:grpSpLocks/>
          </p:cNvGrpSpPr>
          <p:nvPr/>
        </p:nvGrpSpPr>
        <p:grpSpPr bwMode="auto">
          <a:xfrm>
            <a:off x="4298950" y="1450975"/>
            <a:ext cx="4297363" cy="4967288"/>
            <a:chOff x="2737" y="943"/>
            <a:chExt cx="2707" cy="3129"/>
          </a:xfrm>
        </p:grpSpPr>
        <p:grpSp>
          <p:nvGrpSpPr>
            <p:cNvPr id="18466" name="Group 100"/>
            <p:cNvGrpSpPr>
              <a:grpSpLocks/>
            </p:cNvGrpSpPr>
            <p:nvPr/>
          </p:nvGrpSpPr>
          <p:grpSpPr bwMode="auto">
            <a:xfrm>
              <a:off x="2737" y="943"/>
              <a:ext cx="2707" cy="3129"/>
              <a:chOff x="2550" y="987"/>
              <a:chExt cx="2707" cy="3129"/>
            </a:xfrm>
          </p:grpSpPr>
          <p:sp>
            <p:nvSpPr>
              <p:cNvPr id="18468" name="Oval 101"/>
              <p:cNvSpPr>
                <a:spLocks noChangeArrowheads="1"/>
              </p:cNvSpPr>
              <p:nvPr/>
            </p:nvSpPr>
            <p:spPr bwMode="auto">
              <a:xfrm>
                <a:off x="2661" y="2837"/>
                <a:ext cx="1163" cy="1163"/>
              </a:xfrm>
              <a:prstGeom prst="ellipse">
                <a:avLst/>
              </a:prstGeom>
              <a:solidFill>
                <a:srgbClr val="99CCFF"/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400"/>
              </a:p>
            </p:txBody>
          </p:sp>
          <p:sp>
            <p:nvSpPr>
              <p:cNvPr id="18469" name="Line 102"/>
              <p:cNvSpPr>
                <a:spLocks noChangeShapeType="1"/>
              </p:cNvSpPr>
              <p:nvPr/>
            </p:nvSpPr>
            <p:spPr bwMode="auto">
              <a:xfrm>
                <a:off x="2550" y="3419"/>
                <a:ext cx="1420" cy="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lgDash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70" name="Line 103"/>
              <p:cNvSpPr>
                <a:spLocks noChangeShapeType="1"/>
              </p:cNvSpPr>
              <p:nvPr/>
            </p:nvSpPr>
            <p:spPr bwMode="auto">
              <a:xfrm>
                <a:off x="3243" y="2706"/>
                <a:ext cx="0" cy="1410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lgDash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71" name="Line 104"/>
              <p:cNvSpPr>
                <a:spLocks noChangeShapeType="1"/>
              </p:cNvSpPr>
              <p:nvPr/>
            </p:nvSpPr>
            <p:spPr bwMode="auto">
              <a:xfrm>
                <a:off x="3244" y="1116"/>
                <a:ext cx="0" cy="154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lgDash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72" name="Line 105"/>
              <p:cNvSpPr>
                <a:spLocks noChangeShapeType="1"/>
              </p:cNvSpPr>
              <p:nvPr/>
            </p:nvSpPr>
            <p:spPr bwMode="auto">
              <a:xfrm>
                <a:off x="2661" y="2513"/>
                <a:ext cx="1174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73" name="Line 106"/>
              <p:cNvSpPr>
                <a:spLocks noChangeShapeType="1"/>
              </p:cNvSpPr>
              <p:nvPr/>
            </p:nvSpPr>
            <p:spPr bwMode="auto">
              <a:xfrm flipV="1">
                <a:off x="2654" y="1226"/>
                <a:ext cx="591" cy="1287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74" name="Line 107"/>
              <p:cNvSpPr>
                <a:spLocks noChangeShapeType="1"/>
              </p:cNvSpPr>
              <p:nvPr/>
            </p:nvSpPr>
            <p:spPr bwMode="auto">
              <a:xfrm flipH="1" flipV="1">
                <a:off x="3244" y="1209"/>
                <a:ext cx="581" cy="1297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75" name="Text Box 108"/>
              <p:cNvSpPr txBox="1">
                <a:spLocks noChangeArrowheads="1"/>
              </p:cNvSpPr>
              <p:nvPr/>
            </p:nvSpPr>
            <p:spPr bwMode="auto">
              <a:xfrm>
                <a:off x="3249" y="987"/>
                <a:ext cx="265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800" b="1"/>
                  <a:t>s'</a:t>
                </a:r>
              </a:p>
            </p:txBody>
          </p:sp>
          <p:sp>
            <p:nvSpPr>
              <p:cNvPr id="18476" name="Line 109"/>
              <p:cNvSpPr>
                <a:spLocks noChangeShapeType="1"/>
              </p:cNvSpPr>
              <p:nvPr/>
            </p:nvSpPr>
            <p:spPr bwMode="auto">
              <a:xfrm>
                <a:off x="4699" y="1120"/>
                <a:ext cx="0" cy="1541"/>
              </a:xfrm>
              <a:prstGeom prst="line">
                <a:avLst/>
              </a:prstGeom>
              <a:noFill/>
              <a:ln w="12700">
                <a:solidFill>
                  <a:schemeClr val="tx1"/>
                </a:solidFill>
                <a:prstDash val="lgDash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77" name="Line 110"/>
              <p:cNvSpPr>
                <a:spLocks noChangeShapeType="1"/>
              </p:cNvSpPr>
              <p:nvPr/>
            </p:nvSpPr>
            <p:spPr bwMode="auto">
              <a:xfrm>
                <a:off x="4129" y="2512"/>
                <a:ext cx="112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78" name="Line 111"/>
              <p:cNvSpPr>
                <a:spLocks noChangeShapeType="1"/>
              </p:cNvSpPr>
              <p:nvPr/>
            </p:nvSpPr>
            <p:spPr bwMode="auto">
              <a:xfrm flipV="1">
                <a:off x="4137" y="1233"/>
                <a:ext cx="560" cy="127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79" name="Line 112"/>
              <p:cNvSpPr>
                <a:spLocks noChangeShapeType="1"/>
              </p:cNvSpPr>
              <p:nvPr/>
            </p:nvSpPr>
            <p:spPr bwMode="auto">
              <a:xfrm flipH="1" flipV="1">
                <a:off x="4699" y="1219"/>
                <a:ext cx="553" cy="1298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8480" name="Text Box 113"/>
              <p:cNvSpPr txBox="1">
                <a:spLocks noChangeArrowheads="1"/>
              </p:cNvSpPr>
              <p:nvPr/>
            </p:nvSpPr>
            <p:spPr bwMode="auto">
              <a:xfrm>
                <a:off x="4704" y="988"/>
                <a:ext cx="327" cy="327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eaLnBrk="1" hangingPunct="1">
                  <a:spcBef>
                    <a:spcPct val="0"/>
                  </a:spcBef>
                  <a:buClrTx/>
                  <a:buFontTx/>
                  <a:buNone/>
                </a:pPr>
                <a:r>
                  <a:rPr lang="en-US" altLang="zh-CN" sz="2800" b="1"/>
                  <a:t>s"</a:t>
                </a:r>
              </a:p>
            </p:txBody>
          </p:sp>
        </p:grpSp>
        <p:sp>
          <p:nvSpPr>
            <p:cNvPr id="18467" name="Text Box 114"/>
            <p:cNvSpPr txBox="1">
              <a:spLocks noChangeArrowheads="1"/>
            </p:cNvSpPr>
            <p:nvPr/>
          </p:nvSpPr>
          <p:spPr bwMode="auto">
            <a:xfrm>
              <a:off x="3421" y="3101"/>
              <a:ext cx="203" cy="32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b="1"/>
                <a:t>s</a:t>
              </a:r>
            </a:p>
          </p:txBody>
        </p:sp>
      </p:grpSp>
      <p:sp>
        <p:nvSpPr>
          <p:cNvPr id="139379" name="Text Box 115"/>
          <p:cNvSpPr txBox="1">
            <a:spLocks noChangeArrowheads="1"/>
          </p:cNvSpPr>
          <p:nvPr/>
        </p:nvSpPr>
        <p:spPr bwMode="auto">
          <a:xfrm>
            <a:off x="1030288" y="184150"/>
            <a:ext cx="5424487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>
              <a:defRPr/>
            </a:pPr>
            <a:r>
              <a:rPr kumimoji="1" lang="zh-CN" altLang="en-US" sz="36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itchFamily="2" charset="-122"/>
                <a:sym typeface="Marlett" pitchFamily="2" charset="2"/>
              </a:rPr>
              <a:t>圆锥体表面取</a:t>
            </a:r>
            <a:r>
              <a:rPr kumimoji="1" lang="zh-CN" altLang="en-US" sz="3600" b="1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itchFamily="2" charset="-122"/>
                <a:sym typeface="Marlett" pitchFamily="2" charset="2"/>
              </a:rPr>
              <a:t>点</a:t>
            </a:r>
            <a:endParaRPr kumimoji="1" lang="zh-CN" altLang="en-US" sz="3600" b="1" dirty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ea typeface="黑体" pitchFamily="2" charset="-122"/>
            </a:endParaRPr>
          </a:p>
        </p:txBody>
      </p:sp>
      <p:sp>
        <p:nvSpPr>
          <p:cNvPr id="18439" name="Text Box 117"/>
          <p:cNvSpPr txBox="1">
            <a:spLocks noChangeArrowheads="1"/>
          </p:cNvSpPr>
          <p:nvPr/>
        </p:nvSpPr>
        <p:spPr bwMode="auto">
          <a:xfrm>
            <a:off x="1765300" y="1608138"/>
            <a:ext cx="3825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b="1">
                <a:solidFill>
                  <a:srgbClr val="660033"/>
                </a:solidFill>
              </a:rPr>
              <a:t>S</a:t>
            </a:r>
          </a:p>
        </p:txBody>
      </p:sp>
      <p:sp>
        <p:nvSpPr>
          <p:cNvPr id="139382" name="Text Box 118"/>
          <p:cNvSpPr txBox="1">
            <a:spLocks noChangeArrowheads="1"/>
          </p:cNvSpPr>
          <p:nvPr/>
        </p:nvSpPr>
        <p:spPr bwMode="auto">
          <a:xfrm>
            <a:off x="2879725" y="3060700"/>
            <a:ext cx="51911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defRPr/>
            </a:pPr>
            <a:r>
              <a:rPr kumimoji="1" lang="en-US" altLang="zh-CN" sz="2800" b="1">
                <a:solidFill>
                  <a:srgbClr val="000099"/>
                </a:solidFill>
                <a:effectLst>
                  <a:outerShdw blurRad="38100" dist="38100" dir="2700000" algn="tl">
                    <a:srgbClr val="C0C0C0"/>
                  </a:outerShdw>
                </a:effectLst>
              </a:rPr>
              <a:t>M</a:t>
            </a:r>
          </a:p>
        </p:txBody>
      </p:sp>
      <p:sp>
        <p:nvSpPr>
          <p:cNvPr id="139383" name="Text Box 119"/>
          <p:cNvSpPr txBox="1">
            <a:spLocks noChangeArrowheads="1"/>
          </p:cNvSpPr>
          <p:nvPr/>
        </p:nvSpPr>
        <p:spPr bwMode="auto">
          <a:xfrm>
            <a:off x="5446713" y="5343525"/>
            <a:ext cx="4810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b="1">
                <a:solidFill>
                  <a:srgbClr val="000099"/>
                </a:solidFill>
              </a:rPr>
              <a:t>m</a:t>
            </a:r>
          </a:p>
        </p:txBody>
      </p:sp>
      <p:sp>
        <p:nvSpPr>
          <p:cNvPr id="139384" name="Line 120"/>
          <p:cNvSpPr>
            <a:spLocks noChangeShapeType="1"/>
          </p:cNvSpPr>
          <p:nvPr/>
        </p:nvSpPr>
        <p:spPr bwMode="auto">
          <a:xfrm flipH="1" flipV="1">
            <a:off x="5381625" y="5278438"/>
            <a:ext cx="776288" cy="519112"/>
          </a:xfrm>
          <a:prstGeom prst="line">
            <a:avLst/>
          </a:prstGeom>
          <a:noFill/>
          <a:ln w="12700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9385" name="Line 121"/>
          <p:cNvSpPr>
            <a:spLocks noChangeShapeType="1"/>
          </p:cNvSpPr>
          <p:nvPr/>
        </p:nvSpPr>
        <p:spPr bwMode="auto">
          <a:xfrm flipV="1">
            <a:off x="6184900" y="3849688"/>
            <a:ext cx="0" cy="1962150"/>
          </a:xfrm>
          <a:prstGeom prst="line">
            <a:avLst/>
          </a:prstGeom>
          <a:noFill/>
          <a:ln w="12700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9386" name="Line 122"/>
          <p:cNvSpPr>
            <a:spLocks noChangeShapeType="1"/>
          </p:cNvSpPr>
          <p:nvPr/>
        </p:nvSpPr>
        <p:spPr bwMode="auto">
          <a:xfrm flipH="1" flipV="1">
            <a:off x="5408613" y="1809750"/>
            <a:ext cx="766762" cy="2043113"/>
          </a:xfrm>
          <a:prstGeom prst="line">
            <a:avLst/>
          </a:prstGeom>
          <a:noFill/>
          <a:ln w="12700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9387" name="Line 123"/>
          <p:cNvSpPr>
            <a:spLocks noChangeShapeType="1"/>
          </p:cNvSpPr>
          <p:nvPr/>
        </p:nvSpPr>
        <p:spPr bwMode="auto">
          <a:xfrm flipV="1">
            <a:off x="5927725" y="3162300"/>
            <a:ext cx="0" cy="2535238"/>
          </a:xfrm>
          <a:prstGeom prst="line">
            <a:avLst/>
          </a:prstGeom>
          <a:noFill/>
          <a:ln w="12700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9388" name="Line 124"/>
          <p:cNvSpPr>
            <a:spLocks noChangeShapeType="1"/>
          </p:cNvSpPr>
          <p:nvPr/>
        </p:nvSpPr>
        <p:spPr bwMode="auto">
          <a:xfrm>
            <a:off x="5902325" y="3182938"/>
            <a:ext cx="2195513" cy="0"/>
          </a:xfrm>
          <a:prstGeom prst="line">
            <a:avLst/>
          </a:prstGeom>
          <a:noFill/>
          <a:ln w="12700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9389" name="Line 125"/>
          <p:cNvSpPr>
            <a:spLocks noChangeShapeType="1"/>
          </p:cNvSpPr>
          <p:nvPr/>
        </p:nvSpPr>
        <p:spPr bwMode="auto">
          <a:xfrm rot="2646592" flipV="1">
            <a:off x="5822950" y="5399088"/>
            <a:ext cx="233363" cy="69850"/>
          </a:xfrm>
          <a:prstGeom prst="line">
            <a:avLst/>
          </a:prstGeom>
          <a:noFill/>
          <a:ln w="57150">
            <a:solidFill>
              <a:srgbClr val="99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9390" name="Line 126"/>
          <p:cNvSpPr>
            <a:spLocks noChangeShapeType="1"/>
          </p:cNvSpPr>
          <p:nvPr/>
        </p:nvSpPr>
        <p:spPr bwMode="auto">
          <a:xfrm rot="4063433" flipV="1">
            <a:off x="7733507" y="3147219"/>
            <a:ext cx="233362" cy="69850"/>
          </a:xfrm>
          <a:prstGeom prst="line">
            <a:avLst/>
          </a:prstGeom>
          <a:noFill/>
          <a:ln w="57150">
            <a:solidFill>
              <a:srgbClr val="9900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9391" name="Oval 127"/>
          <p:cNvSpPr>
            <a:spLocks noChangeArrowheads="1"/>
          </p:cNvSpPr>
          <p:nvPr/>
        </p:nvSpPr>
        <p:spPr bwMode="auto">
          <a:xfrm>
            <a:off x="7980363" y="3095625"/>
            <a:ext cx="168275" cy="171450"/>
          </a:xfrm>
          <a:prstGeom prst="ellipse">
            <a:avLst/>
          </a:prstGeom>
          <a:gradFill rotWithShape="0">
            <a:gsLst>
              <a:gs pos="0">
                <a:srgbClr val="99FFCC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39392" name="Text Box 128"/>
          <p:cNvSpPr txBox="1">
            <a:spLocks noChangeArrowheads="1"/>
          </p:cNvSpPr>
          <p:nvPr/>
        </p:nvSpPr>
        <p:spPr bwMode="auto">
          <a:xfrm>
            <a:off x="5338763" y="3057525"/>
            <a:ext cx="579437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b="1">
                <a:solidFill>
                  <a:srgbClr val="000099"/>
                </a:solidFill>
              </a:rPr>
              <a:t>m'</a:t>
            </a:r>
          </a:p>
        </p:txBody>
      </p:sp>
      <p:sp>
        <p:nvSpPr>
          <p:cNvPr id="139393" name="Text Box 129"/>
          <p:cNvSpPr txBox="1">
            <a:spLocks noChangeArrowheads="1"/>
          </p:cNvSpPr>
          <p:nvPr/>
        </p:nvSpPr>
        <p:spPr bwMode="auto">
          <a:xfrm>
            <a:off x="7486650" y="3152775"/>
            <a:ext cx="95567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b="1">
                <a:solidFill>
                  <a:srgbClr val="000099"/>
                </a:solidFill>
              </a:rPr>
              <a:t>(      )</a:t>
            </a:r>
          </a:p>
        </p:txBody>
      </p:sp>
      <p:sp>
        <p:nvSpPr>
          <p:cNvPr id="139394" name="Text Box 130"/>
          <p:cNvSpPr txBox="1">
            <a:spLocks noChangeArrowheads="1"/>
          </p:cNvSpPr>
          <p:nvPr/>
        </p:nvSpPr>
        <p:spPr bwMode="auto">
          <a:xfrm>
            <a:off x="7651750" y="3167063"/>
            <a:ext cx="6778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b="1">
                <a:solidFill>
                  <a:srgbClr val="000099"/>
                </a:solidFill>
              </a:rPr>
              <a:t>m"</a:t>
            </a:r>
          </a:p>
        </p:txBody>
      </p:sp>
      <p:sp>
        <p:nvSpPr>
          <p:cNvPr id="139395" name="Text Box 131"/>
          <p:cNvSpPr txBox="1">
            <a:spLocks noChangeArrowheads="1"/>
          </p:cNvSpPr>
          <p:nvPr/>
        </p:nvSpPr>
        <p:spPr bwMode="auto">
          <a:xfrm>
            <a:off x="338138" y="5116513"/>
            <a:ext cx="37211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b="1" dirty="0" smtClean="0">
                <a:ea typeface="黑体" pitchFamily="2" charset="-122"/>
              </a:rPr>
              <a:t>如何在</a:t>
            </a:r>
            <a:r>
              <a:rPr lang="zh-CN" altLang="en-US" sz="2800" b="1" dirty="0">
                <a:ea typeface="黑体" pitchFamily="2" charset="-122"/>
              </a:rPr>
              <a:t>回转</a:t>
            </a:r>
            <a:r>
              <a:rPr lang="zh-CN" altLang="en-US" sz="2800" b="1" dirty="0" smtClean="0">
                <a:ea typeface="黑体" pitchFamily="2" charset="-122"/>
              </a:rPr>
              <a:t>面</a:t>
            </a:r>
            <a:r>
              <a:rPr lang="zh-CN" altLang="en-US" sz="2800" b="1" dirty="0">
                <a:ea typeface="黑体" pitchFamily="2" charset="-122"/>
              </a:rPr>
              <a:t>内取点？</a:t>
            </a:r>
          </a:p>
        </p:txBody>
      </p:sp>
      <p:sp>
        <p:nvSpPr>
          <p:cNvPr id="139396" name="Text Box 132"/>
          <p:cNvSpPr txBox="1">
            <a:spLocks noChangeArrowheads="1"/>
          </p:cNvSpPr>
          <p:nvPr/>
        </p:nvSpPr>
        <p:spPr bwMode="auto">
          <a:xfrm>
            <a:off x="352425" y="5616575"/>
            <a:ext cx="33750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b="1" dirty="0">
                <a:ea typeface="黑体" pitchFamily="2" charset="-122"/>
              </a:rPr>
              <a:t>辅助线</a:t>
            </a:r>
            <a:r>
              <a:rPr lang="zh-CN" altLang="en-US" sz="2800" b="1" dirty="0" smtClean="0">
                <a:ea typeface="黑体" pitchFamily="2" charset="-122"/>
              </a:rPr>
              <a:t>如何做？</a:t>
            </a:r>
            <a:endParaRPr lang="zh-CN" altLang="en-US" sz="2800" b="1" dirty="0">
              <a:ea typeface="黑体" pitchFamily="2" charset="-122"/>
            </a:endParaRPr>
          </a:p>
        </p:txBody>
      </p:sp>
      <p:sp>
        <p:nvSpPr>
          <p:cNvPr id="139397" name="Line 133"/>
          <p:cNvSpPr>
            <a:spLocks noChangeShapeType="1"/>
          </p:cNvSpPr>
          <p:nvPr/>
        </p:nvSpPr>
        <p:spPr bwMode="auto">
          <a:xfrm>
            <a:off x="2160588" y="1924050"/>
            <a:ext cx="857250" cy="2287588"/>
          </a:xfrm>
          <a:prstGeom prst="line">
            <a:avLst/>
          </a:prstGeom>
          <a:noFill/>
          <a:ln w="19050">
            <a:solidFill>
              <a:srgbClr val="FFFF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9398" name="Oval 134"/>
          <p:cNvSpPr>
            <a:spLocks noChangeArrowheads="1"/>
          </p:cNvSpPr>
          <p:nvPr/>
        </p:nvSpPr>
        <p:spPr bwMode="auto">
          <a:xfrm>
            <a:off x="590550" y="406400"/>
            <a:ext cx="265113" cy="265113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39399" name="Arc 135"/>
          <p:cNvSpPr>
            <a:spLocks/>
          </p:cNvSpPr>
          <p:nvPr/>
        </p:nvSpPr>
        <p:spPr bwMode="auto">
          <a:xfrm flipV="1">
            <a:off x="1455738" y="3263900"/>
            <a:ext cx="1439862" cy="369888"/>
          </a:xfrm>
          <a:custGeom>
            <a:avLst/>
            <a:gdLst>
              <a:gd name="T0" fmla="*/ 0 w 40351"/>
              <a:gd name="T1" fmla="*/ 74034796 h 21600"/>
              <a:gd name="T2" fmla="*/ 1833386408 w 40351"/>
              <a:gd name="T3" fmla="*/ 65904538 h 21600"/>
              <a:gd name="T4" fmla="*/ 930665193 w 40351"/>
              <a:gd name="T5" fmla="*/ 108468406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0351" h="21600" fill="none" extrusionOk="0">
                <a:moveTo>
                  <a:pt x="0" y="14743"/>
                </a:moveTo>
                <a:cubicBezTo>
                  <a:pt x="2948" y="5936"/>
                  <a:pt x="11195" y="-1"/>
                  <a:pt x="20483" y="0"/>
                </a:cubicBezTo>
                <a:cubicBezTo>
                  <a:pt x="29136" y="0"/>
                  <a:pt x="36954" y="5164"/>
                  <a:pt x="40350" y="13124"/>
                </a:cubicBezTo>
              </a:path>
              <a:path w="40351" h="21600" stroke="0" extrusionOk="0">
                <a:moveTo>
                  <a:pt x="0" y="14743"/>
                </a:moveTo>
                <a:cubicBezTo>
                  <a:pt x="2948" y="5936"/>
                  <a:pt x="11195" y="-1"/>
                  <a:pt x="20483" y="0"/>
                </a:cubicBezTo>
                <a:cubicBezTo>
                  <a:pt x="29136" y="0"/>
                  <a:pt x="36954" y="5164"/>
                  <a:pt x="40350" y="13124"/>
                </a:cubicBezTo>
                <a:lnTo>
                  <a:pt x="20483" y="21600"/>
                </a:lnTo>
                <a:lnTo>
                  <a:pt x="0" y="14743"/>
                </a:lnTo>
                <a:close/>
              </a:path>
            </a:pathLst>
          </a:custGeom>
          <a:noFill/>
          <a:ln w="28575">
            <a:solidFill>
              <a:srgbClr val="99FFCC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9400" name="Oval 136"/>
          <p:cNvSpPr>
            <a:spLocks noChangeArrowheads="1"/>
          </p:cNvSpPr>
          <p:nvPr/>
        </p:nvSpPr>
        <p:spPr bwMode="auto">
          <a:xfrm>
            <a:off x="2647950" y="3413125"/>
            <a:ext cx="207963" cy="207963"/>
          </a:xfrm>
          <a:prstGeom prst="ellipse">
            <a:avLst/>
          </a:prstGeom>
          <a:gradFill rotWithShape="0">
            <a:gsLst>
              <a:gs pos="0">
                <a:srgbClr val="FFFFCC"/>
              </a:gs>
              <a:gs pos="100000">
                <a:srgbClr val="27271F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39401" name="Arc 137"/>
          <p:cNvSpPr>
            <a:spLocks/>
          </p:cNvSpPr>
          <p:nvPr/>
        </p:nvSpPr>
        <p:spPr bwMode="auto">
          <a:xfrm>
            <a:off x="4789488" y="4692650"/>
            <a:ext cx="1219200" cy="1217613"/>
          </a:xfrm>
          <a:custGeom>
            <a:avLst/>
            <a:gdLst>
              <a:gd name="T0" fmla="*/ 888183023 w 43200"/>
              <a:gd name="T1" fmla="*/ 753955384 h 43200"/>
              <a:gd name="T2" fmla="*/ 933928028 w 43200"/>
              <a:gd name="T3" fmla="*/ 669227135 h 43200"/>
              <a:gd name="T4" fmla="*/ 485542646 w 43200"/>
              <a:gd name="T5" fmla="*/ 483649441 h 432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00" h="43200" fill="none" extrusionOk="0">
                <a:moveTo>
                  <a:pt x="39511" y="33671"/>
                </a:moveTo>
                <a:cubicBezTo>
                  <a:pt x="35497" y="39628"/>
                  <a:pt x="28783" y="43199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24444"/>
                  <a:pt x="42638" y="27261"/>
                  <a:pt x="41546" y="29887"/>
                </a:cubicBezTo>
              </a:path>
              <a:path w="43200" h="43200" stroke="0" extrusionOk="0">
                <a:moveTo>
                  <a:pt x="39511" y="33671"/>
                </a:moveTo>
                <a:cubicBezTo>
                  <a:pt x="35497" y="39628"/>
                  <a:pt x="28783" y="43199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24444"/>
                  <a:pt x="42638" y="27261"/>
                  <a:pt x="41546" y="29887"/>
                </a:cubicBezTo>
                <a:lnTo>
                  <a:pt x="21600" y="21600"/>
                </a:lnTo>
                <a:lnTo>
                  <a:pt x="39511" y="33671"/>
                </a:lnTo>
                <a:close/>
              </a:path>
            </a:pathLst>
          </a:custGeom>
          <a:noFill/>
          <a:ln w="19050">
            <a:solidFill>
              <a:srgbClr val="00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9402" name="Oval 138"/>
          <p:cNvSpPr>
            <a:spLocks noChangeArrowheads="1"/>
          </p:cNvSpPr>
          <p:nvPr/>
        </p:nvSpPr>
        <p:spPr bwMode="auto">
          <a:xfrm>
            <a:off x="5829300" y="5545138"/>
            <a:ext cx="185738" cy="185737"/>
          </a:xfrm>
          <a:prstGeom prst="ellipse">
            <a:avLst/>
          </a:prstGeom>
          <a:gradFill rotWithShape="0">
            <a:gsLst>
              <a:gs pos="0">
                <a:srgbClr val="99FFCC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39403" name="Line 139"/>
          <p:cNvSpPr>
            <a:spLocks noChangeShapeType="1"/>
          </p:cNvSpPr>
          <p:nvPr/>
        </p:nvSpPr>
        <p:spPr bwMode="auto">
          <a:xfrm flipV="1">
            <a:off x="4783138" y="3163888"/>
            <a:ext cx="0" cy="2133600"/>
          </a:xfrm>
          <a:prstGeom prst="line">
            <a:avLst/>
          </a:prstGeom>
          <a:noFill/>
          <a:ln w="9525">
            <a:solidFill>
              <a:srgbClr val="00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9404" name="Line 140"/>
          <p:cNvSpPr>
            <a:spLocks noChangeShapeType="1"/>
          </p:cNvSpPr>
          <p:nvPr/>
        </p:nvSpPr>
        <p:spPr bwMode="auto">
          <a:xfrm>
            <a:off x="4773613" y="3182938"/>
            <a:ext cx="1257300" cy="0"/>
          </a:xfrm>
          <a:prstGeom prst="line">
            <a:avLst/>
          </a:prstGeom>
          <a:noFill/>
          <a:ln w="9525">
            <a:solidFill>
              <a:srgbClr val="0066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39405" name="Oval 141"/>
          <p:cNvSpPr>
            <a:spLocks noChangeArrowheads="1"/>
          </p:cNvSpPr>
          <p:nvPr/>
        </p:nvSpPr>
        <p:spPr bwMode="auto">
          <a:xfrm>
            <a:off x="5845175" y="3105150"/>
            <a:ext cx="174625" cy="174625"/>
          </a:xfrm>
          <a:prstGeom prst="ellipse">
            <a:avLst/>
          </a:prstGeom>
          <a:gradFill rotWithShape="0">
            <a:gsLst>
              <a:gs pos="0">
                <a:srgbClr val="99FFCC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39406" name="Text Box 142"/>
          <p:cNvSpPr txBox="1">
            <a:spLocks noChangeArrowheads="1"/>
          </p:cNvSpPr>
          <p:nvPr/>
        </p:nvSpPr>
        <p:spPr bwMode="auto">
          <a:xfrm>
            <a:off x="6688138" y="4989513"/>
            <a:ext cx="2122487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defRPr/>
            </a:pPr>
            <a:r>
              <a:rPr kumimoji="1" lang="en-US" altLang="zh-CN" sz="2800" b="1">
                <a:solidFill>
                  <a:srgbClr val="99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  <a:sym typeface="Monotype Sorts" pitchFamily="2" charset="2"/>
              </a:rPr>
              <a:t>1. </a:t>
            </a:r>
            <a:r>
              <a:rPr kumimoji="1" lang="zh-CN" altLang="en-US" sz="2800" b="1">
                <a:solidFill>
                  <a:srgbClr val="99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  <a:sym typeface="Monotype Sorts" pitchFamily="2" charset="2"/>
              </a:rPr>
              <a:t>素线法</a:t>
            </a:r>
            <a:endParaRPr kumimoji="1" lang="zh-CN" altLang="en-US" sz="2800" b="1">
              <a:solidFill>
                <a:srgbClr val="990033"/>
              </a:solidFill>
              <a:effectLst>
                <a:outerShdw blurRad="38100" dist="38100" dir="2700000" algn="tl">
                  <a:srgbClr val="C0C0C0"/>
                </a:outerShdw>
              </a:effectLst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39407" name="Rectangle 143"/>
          <p:cNvSpPr>
            <a:spLocks noChangeArrowheads="1"/>
          </p:cNvSpPr>
          <p:nvPr/>
        </p:nvSpPr>
        <p:spPr bwMode="auto">
          <a:xfrm>
            <a:off x="6692900" y="5453063"/>
            <a:ext cx="21209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defRPr/>
            </a:pPr>
            <a:r>
              <a:rPr kumimoji="1" lang="en-US" altLang="zh-CN" sz="2800" b="1">
                <a:solidFill>
                  <a:srgbClr val="99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  <a:sym typeface="Monotype Sorts" pitchFamily="2" charset="2"/>
              </a:rPr>
              <a:t>2. </a:t>
            </a:r>
            <a:r>
              <a:rPr kumimoji="1" lang="zh-CN" altLang="en-US" sz="2800" b="1">
                <a:solidFill>
                  <a:srgbClr val="990033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  <a:sym typeface="Monotype Sorts" pitchFamily="2" charset="2"/>
              </a:rPr>
              <a:t>纬圆法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393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3939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3937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4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3940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3940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39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4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3940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3940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3938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3939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3939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 nodeType="clickPar">
                      <p:stCondLst>
                        <p:cond delay="indefinite"/>
                      </p:stCondLst>
                      <p:childTnLst>
                        <p:par>
                          <p:cTn id="4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6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8" dur="500" fill="hold"/>
                                        <p:tgtEl>
                                          <p:spTgt spid="13939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9" dur="500" fill="hold"/>
                                        <p:tgtEl>
                                          <p:spTgt spid="13939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4" dur="500"/>
                                        <p:tgtEl>
                                          <p:spTgt spid="13939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 nodeType="clickPar">
                      <p:stCondLst>
                        <p:cond delay="indefinite"/>
                      </p:stCondLst>
                      <p:childTnLst>
                        <p:par>
                          <p:cTn id="5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9" dur="500"/>
                                        <p:tgtEl>
                                          <p:spTgt spid="13938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0" fill="hold" nodeType="clickPar">
                      <p:stCondLst>
                        <p:cond delay="indefinite"/>
                      </p:stCondLst>
                      <p:childTnLst>
                        <p:par>
                          <p:cTn id="6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4" dur="500"/>
                                        <p:tgtEl>
                                          <p:spTgt spid="139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9" dur="500"/>
                                        <p:tgtEl>
                                          <p:spTgt spid="1393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4" dur="500"/>
                                        <p:tgtEl>
                                          <p:spTgt spid="1393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 nodeType="clickPar">
                      <p:stCondLst>
                        <p:cond delay="indefinite"/>
                      </p:stCondLst>
                      <p:childTnLst>
                        <p:par>
                          <p:cTn id="7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7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4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9" dur="500" fill="hold"/>
                                        <p:tgtEl>
                                          <p:spTgt spid="13940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0" dur="500" fill="hold"/>
                                        <p:tgtEl>
                                          <p:spTgt spid="13940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85" dur="500"/>
                                        <p:tgtEl>
                                          <p:spTgt spid="1393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393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1393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0" dur="500"/>
                                        <p:tgtEl>
                                          <p:spTgt spid="139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05" dur="500" fill="hold"/>
                                        <p:tgtEl>
                                          <p:spTgt spid="13939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6" dur="500" fill="hold"/>
                                        <p:tgtEl>
                                          <p:spTgt spid="13939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7" fill="hold" nodeType="clickPar">
                      <p:stCondLst>
                        <p:cond delay="indefinite"/>
                      </p:stCondLst>
                      <p:childTnLst>
                        <p:par>
                          <p:cTn id="10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11" dur="500"/>
                                        <p:tgtEl>
                                          <p:spTgt spid="1393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2" fill="hold" nodeType="clickPar">
                      <p:stCondLst>
                        <p:cond delay="indefinite"/>
                      </p:stCondLst>
                      <p:childTnLst>
                        <p:par>
                          <p:cTn id="11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6" dur="500"/>
                                        <p:tgtEl>
                                          <p:spTgt spid="139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3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1" dur="500"/>
                                        <p:tgtEl>
                                          <p:spTgt spid="1393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2" fill="hold" nodeType="clickPar">
                      <p:stCondLst>
                        <p:cond delay="indefinite"/>
                      </p:stCondLst>
                      <p:childTnLst>
                        <p:par>
                          <p:cTn id="12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4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6" dur="500"/>
                                        <p:tgtEl>
                                          <p:spTgt spid="1394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4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31" dur="500"/>
                                        <p:tgtEl>
                                          <p:spTgt spid="13940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4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13940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 nodeType="clickPar">
                      <p:stCondLst>
                        <p:cond delay="indefinite"/>
                      </p:stCondLst>
                      <p:childTnLst>
                        <p:par>
                          <p:cTn id="1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9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4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1" dur="500" fill="hold"/>
                                        <p:tgtEl>
                                          <p:spTgt spid="13940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2" dur="500" fill="hold"/>
                                        <p:tgtEl>
                                          <p:spTgt spid="13940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 nodeType="clickPar">
                      <p:stCondLst>
                        <p:cond delay="indefinite"/>
                      </p:stCondLst>
                      <p:childTnLst>
                        <p:par>
                          <p:cTn id="1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5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9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47" dur="500" fill="hold"/>
                                        <p:tgtEl>
                                          <p:spTgt spid="13940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8" dur="500" fill="hold"/>
                                        <p:tgtEl>
                                          <p:spTgt spid="13940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9379" grpId="0" build="p" autoUpdateAnimBg="0"/>
      <p:bldP spid="139382" grpId="0" autoUpdateAnimBg="0"/>
      <p:bldP spid="139383" grpId="0" build="p" autoUpdateAnimBg="0" advAuto="0"/>
      <p:bldP spid="139384" grpId="0" animBg="1"/>
      <p:bldP spid="139385" grpId="0" animBg="1"/>
      <p:bldP spid="139386" grpId="0" animBg="1"/>
      <p:bldP spid="139387" grpId="0" animBg="1"/>
      <p:bldP spid="139388" grpId="0" animBg="1"/>
      <p:bldP spid="139389" grpId="0" animBg="1"/>
      <p:bldP spid="139390" grpId="0" animBg="1"/>
      <p:bldP spid="139391" grpId="0" animBg="1"/>
      <p:bldP spid="139392" grpId="0" build="p" autoUpdateAnimBg="0"/>
      <p:bldP spid="139393" grpId="0" autoUpdateAnimBg="0"/>
      <p:bldP spid="139394" grpId="0" build="p" autoUpdateAnimBg="0"/>
      <p:bldP spid="139395" grpId="0" autoUpdateAnimBg="0"/>
      <p:bldP spid="139396" grpId="0" autoUpdateAnimBg="0"/>
      <p:bldP spid="139397" grpId="0" animBg="1"/>
      <p:bldP spid="139398" grpId="0" animBg="1"/>
      <p:bldP spid="139399" grpId="0" animBg="1"/>
      <p:bldP spid="139400" grpId="0" animBg="1"/>
      <p:bldP spid="139401" grpId="0" animBg="1"/>
      <p:bldP spid="139402" grpId="0" animBg="1"/>
      <p:bldP spid="139403" grpId="0" animBg="1"/>
      <p:bldP spid="139404" grpId="0" animBg="1"/>
      <p:bldP spid="139405" grpId="0" animBg="1"/>
      <p:bldP spid="139406" grpId="0" autoUpdateAnimBg="0"/>
      <p:bldP spid="139407" grpId="0" autoUpdateAnimBg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54EF9B36-7F66-44D2-89F4-2CD69A85EE8C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17</a:t>
            </a:fld>
            <a:endParaRPr lang="en-US" altLang="zh-CN" sz="1400" smtClean="0">
              <a:solidFill>
                <a:schemeClr val="bg2"/>
              </a:solidFill>
            </a:endParaRPr>
          </a:p>
        </p:txBody>
      </p:sp>
      <p:sp>
        <p:nvSpPr>
          <p:cNvPr id="143362" name="Text Box 2" descr="紫色网格"/>
          <p:cNvSpPr txBox="1">
            <a:spLocks noChangeArrowheads="1"/>
          </p:cNvSpPr>
          <p:nvPr/>
        </p:nvSpPr>
        <p:spPr bwMode="auto">
          <a:xfrm>
            <a:off x="752475" y="274638"/>
            <a:ext cx="2532063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4000" b="1">
                <a:latin typeface="黑体" pitchFamily="2" charset="-122"/>
                <a:ea typeface="黑体" pitchFamily="2" charset="-122"/>
              </a:rPr>
              <a:t>3 </a:t>
            </a:r>
            <a:r>
              <a:rPr lang="zh-CN" altLang="en-US" sz="4000" b="1">
                <a:latin typeface="黑体" pitchFamily="2" charset="-122"/>
                <a:ea typeface="黑体" pitchFamily="2" charset="-122"/>
              </a:rPr>
              <a:t>圆球体</a:t>
            </a:r>
          </a:p>
        </p:txBody>
      </p:sp>
      <p:grpSp>
        <p:nvGrpSpPr>
          <p:cNvPr id="19460" name="Group 3"/>
          <p:cNvGrpSpPr>
            <a:grpSpLocks/>
          </p:cNvGrpSpPr>
          <p:nvPr/>
        </p:nvGrpSpPr>
        <p:grpSpPr bwMode="auto">
          <a:xfrm>
            <a:off x="1028700" y="1216025"/>
            <a:ext cx="2135188" cy="3616325"/>
            <a:chOff x="3841" y="911"/>
            <a:chExt cx="1345" cy="2278"/>
          </a:xfrm>
        </p:grpSpPr>
        <p:sp>
          <p:nvSpPr>
            <p:cNvPr id="19480" name="Oval 4"/>
            <p:cNvSpPr>
              <a:spLocks noChangeArrowheads="1"/>
            </p:cNvSpPr>
            <p:nvPr/>
          </p:nvSpPr>
          <p:spPr bwMode="auto">
            <a:xfrm>
              <a:off x="3841" y="1374"/>
              <a:ext cx="1345" cy="1345"/>
            </a:xfrm>
            <a:prstGeom prst="ellipse">
              <a:avLst/>
            </a:prstGeom>
            <a:gradFill rotWithShape="0">
              <a:gsLst>
                <a:gs pos="0">
                  <a:srgbClr val="99CCFF"/>
                </a:gs>
                <a:gs pos="100000">
                  <a:srgbClr val="3C5064"/>
                </a:gs>
              </a:gsLst>
              <a:path path="shape">
                <a:fillToRect l="50000" t="50000" r="50000" b="50000"/>
              </a:path>
            </a:gra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400"/>
            </a:p>
          </p:txBody>
        </p:sp>
        <p:sp>
          <p:nvSpPr>
            <p:cNvPr id="19481" name="Line 5"/>
            <p:cNvSpPr>
              <a:spLocks noChangeShapeType="1"/>
            </p:cNvSpPr>
            <p:nvPr/>
          </p:nvSpPr>
          <p:spPr bwMode="auto">
            <a:xfrm>
              <a:off x="4507" y="1097"/>
              <a:ext cx="0" cy="386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82" name="Line 6"/>
            <p:cNvSpPr>
              <a:spLocks noChangeShapeType="1"/>
            </p:cNvSpPr>
            <p:nvPr/>
          </p:nvSpPr>
          <p:spPr bwMode="auto">
            <a:xfrm>
              <a:off x="4504" y="2722"/>
              <a:ext cx="0" cy="389"/>
            </a:xfrm>
            <a:prstGeom prst="line">
              <a:avLst/>
            </a:prstGeom>
            <a:noFill/>
            <a:ln w="9525">
              <a:solidFill>
                <a:srgbClr val="990033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83" name="Text Box 7"/>
            <p:cNvSpPr txBox="1">
              <a:spLocks noChangeArrowheads="1"/>
            </p:cNvSpPr>
            <p:nvPr/>
          </p:nvSpPr>
          <p:spPr bwMode="auto">
            <a:xfrm>
              <a:off x="4234" y="911"/>
              <a:ext cx="29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b="1"/>
                <a:t>O</a:t>
              </a:r>
            </a:p>
          </p:txBody>
        </p:sp>
        <p:sp>
          <p:nvSpPr>
            <p:cNvPr id="19484" name="Text Box 8"/>
            <p:cNvSpPr txBox="1">
              <a:spLocks noChangeArrowheads="1"/>
            </p:cNvSpPr>
            <p:nvPr/>
          </p:nvSpPr>
          <p:spPr bwMode="auto">
            <a:xfrm>
              <a:off x="4195" y="2862"/>
              <a:ext cx="29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b="1"/>
                <a:t>O</a:t>
              </a:r>
            </a:p>
          </p:txBody>
        </p:sp>
      </p:grpSp>
      <p:sp>
        <p:nvSpPr>
          <p:cNvPr id="143369" name="Text Box 9"/>
          <p:cNvSpPr txBox="1">
            <a:spLocks noChangeArrowheads="1"/>
          </p:cNvSpPr>
          <p:nvPr/>
        </p:nvSpPr>
        <p:spPr bwMode="auto">
          <a:xfrm>
            <a:off x="2700338" y="4383088"/>
            <a:ext cx="1639887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3600" b="1">
                <a:solidFill>
                  <a:srgbClr val="000066"/>
                </a:solidFill>
                <a:ea typeface="黑体" pitchFamily="2" charset="-122"/>
              </a:rPr>
              <a:t>轴线</a:t>
            </a:r>
          </a:p>
        </p:txBody>
      </p:sp>
      <p:sp>
        <p:nvSpPr>
          <p:cNvPr id="143370" name="Text Box 10"/>
          <p:cNvSpPr txBox="1">
            <a:spLocks noChangeArrowheads="1"/>
          </p:cNvSpPr>
          <p:nvPr/>
        </p:nvSpPr>
        <p:spPr bwMode="auto">
          <a:xfrm>
            <a:off x="622300" y="5477406"/>
            <a:ext cx="413385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3600" b="1" dirty="0">
                <a:solidFill>
                  <a:srgbClr val="000066"/>
                </a:solidFill>
                <a:ea typeface="黑体" pitchFamily="2" charset="-122"/>
              </a:rPr>
              <a:t>圆球表面无直线！</a:t>
            </a:r>
          </a:p>
        </p:txBody>
      </p:sp>
      <p:sp>
        <p:nvSpPr>
          <p:cNvPr id="143371" name="Arc 11"/>
          <p:cNvSpPr>
            <a:spLocks/>
          </p:cNvSpPr>
          <p:nvPr/>
        </p:nvSpPr>
        <p:spPr bwMode="auto">
          <a:xfrm flipV="1">
            <a:off x="1243013" y="2244725"/>
            <a:ext cx="1712912" cy="527050"/>
          </a:xfrm>
          <a:custGeom>
            <a:avLst/>
            <a:gdLst>
              <a:gd name="T0" fmla="*/ 56851629 w 43200"/>
              <a:gd name="T1" fmla="*/ 103705566 h 33987"/>
              <a:gd name="T2" fmla="*/ 2147483647 w 43200"/>
              <a:gd name="T3" fmla="*/ 126744693 h 33987"/>
              <a:gd name="T4" fmla="*/ 1346504065 w 43200"/>
              <a:gd name="T5" fmla="*/ 80551002 h 3398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00" h="33987" fill="none" extrusionOk="0">
                <a:moveTo>
                  <a:pt x="911" y="27809"/>
                </a:moveTo>
                <a:cubicBezTo>
                  <a:pt x="307" y="25794"/>
                  <a:pt x="0" y="23703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26031"/>
                  <a:pt x="41836" y="30356"/>
                  <a:pt x="39295" y="33987"/>
                </a:cubicBezTo>
              </a:path>
              <a:path w="43200" h="33987" stroke="0" extrusionOk="0">
                <a:moveTo>
                  <a:pt x="911" y="27809"/>
                </a:moveTo>
                <a:cubicBezTo>
                  <a:pt x="307" y="25794"/>
                  <a:pt x="0" y="23703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26031"/>
                  <a:pt x="41836" y="30356"/>
                  <a:pt x="39295" y="33987"/>
                </a:cubicBezTo>
                <a:lnTo>
                  <a:pt x="21600" y="21600"/>
                </a:lnTo>
                <a:lnTo>
                  <a:pt x="911" y="27809"/>
                </a:lnTo>
                <a:close/>
              </a:path>
            </a:pathLst>
          </a:custGeom>
          <a:noFill/>
          <a:ln w="38100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372" name="Line 12"/>
          <p:cNvSpPr>
            <a:spLocks noChangeShapeType="1"/>
          </p:cNvSpPr>
          <p:nvPr/>
        </p:nvSpPr>
        <p:spPr bwMode="auto">
          <a:xfrm>
            <a:off x="2087563" y="4386263"/>
            <a:ext cx="646112" cy="300037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373" name="Text Box 13"/>
          <p:cNvSpPr txBox="1">
            <a:spLocks noChangeArrowheads="1"/>
          </p:cNvSpPr>
          <p:nvPr/>
        </p:nvSpPr>
        <p:spPr bwMode="auto">
          <a:xfrm>
            <a:off x="5265738" y="590550"/>
            <a:ext cx="1951037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>
              <a:defRPr/>
            </a:pPr>
            <a:r>
              <a:rPr kumimoji="1" lang="zh-CN" altLang="en-US" sz="3600" b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itchFamily="2" charset="-122"/>
                <a:sym typeface="Marlett" pitchFamily="2" charset="2"/>
              </a:rPr>
              <a:t>形成</a:t>
            </a:r>
            <a:endParaRPr kumimoji="1" lang="zh-CN" altLang="en-US" sz="3600" b="1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ea typeface="黑体" pitchFamily="2" charset="-122"/>
            </a:endParaRPr>
          </a:p>
        </p:txBody>
      </p:sp>
      <p:grpSp>
        <p:nvGrpSpPr>
          <p:cNvPr id="143374" name="Group 14"/>
          <p:cNvGrpSpPr>
            <a:grpSpLocks/>
          </p:cNvGrpSpPr>
          <p:nvPr/>
        </p:nvGrpSpPr>
        <p:grpSpPr bwMode="auto">
          <a:xfrm>
            <a:off x="5214938" y="2501900"/>
            <a:ext cx="2540000" cy="2586038"/>
            <a:chOff x="3345" y="1766"/>
            <a:chExt cx="1600" cy="1629"/>
          </a:xfrm>
        </p:grpSpPr>
        <p:sp>
          <p:nvSpPr>
            <p:cNvPr id="19477" name="Oval 15"/>
            <p:cNvSpPr>
              <a:spLocks noChangeArrowheads="1"/>
            </p:cNvSpPr>
            <p:nvPr/>
          </p:nvSpPr>
          <p:spPr bwMode="auto">
            <a:xfrm>
              <a:off x="3476" y="1926"/>
              <a:ext cx="1309" cy="1309"/>
            </a:xfrm>
            <a:prstGeom prst="ellipse">
              <a:avLst/>
            </a:prstGeom>
            <a:solidFill>
              <a:srgbClr val="33CCCC">
                <a:alpha val="50195"/>
              </a:srgbClr>
            </a:solidFill>
            <a:ln w="28575">
              <a:solidFill>
                <a:schemeClr val="tx1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400"/>
            </a:p>
          </p:txBody>
        </p:sp>
        <p:sp>
          <p:nvSpPr>
            <p:cNvPr id="19478" name="Line 16"/>
            <p:cNvSpPr>
              <a:spLocks noChangeShapeType="1"/>
            </p:cNvSpPr>
            <p:nvPr/>
          </p:nvSpPr>
          <p:spPr bwMode="auto">
            <a:xfrm>
              <a:off x="4130" y="1766"/>
              <a:ext cx="0" cy="1629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9479" name="Line 17"/>
            <p:cNvSpPr>
              <a:spLocks noChangeShapeType="1"/>
            </p:cNvSpPr>
            <p:nvPr/>
          </p:nvSpPr>
          <p:spPr bwMode="auto">
            <a:xfrm>
              <a:off x="3345" y="2580"/>
              <a:ext cx="1600" cy="0"/>
            </a:xfrm>
            <a:prstGeom prst="line">
              <a:avLst/>
            </a:prstGeom>
            <a:noFill/>
            <a:ln w="12700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43378" name="AutoShape 18"/>
          <p:cNvSpPr>
            <a:spLocks noChangeArrowheads="1"/>
          </p:cNvSpPr>
          <p:nvPr/>
        </p:nvSpPr>
        <p:spPr bwMode="auto">
          <a:xfrm flipV="1">
            <a:off x="6037263" y="3160713"/>
            <a:ext cx="901700" cy="261937"/>
          </a:xfrm>
          <a:custGeom>
            <a:avLst/>
            <a:gdLst>
              <a:gd name="T0" fmla="*/ 785612262 w 21600"/>
              <a:gd name="T1" fmla="*/ 0 h 21600"/>
              <a:gd name="T2" fmla="*/ 196422237 w 21600"/>
              <a:gd name="T3" fmla="*/ 19259779 h 21600"/>
              <a:gd name="T4" fmla="*/ 785612262 w 21600"/>
              <a:gd name="T5" fmla="*/ 9629896 h 21600"/>
              <a:gd name="T6" fmla="*/ 1767793119 w 21600"/>
              <a:gd name="T7" fmla="*/ 19259779 h 21600"/>
              <a:gd name="T8" fmla="*/ 1374950399 w 21600"/>
              <a:gd name="T9" fmla="*/ 28889820 h 21600"/>
              <a:gd name="T10" fmla="*/ 982107678 w 21600"/>
              <a:gd name="T11" fmla="*/ 19259779 h 21600"/>
              <a:gd name="T12" fmla="*/ 0 60000 65536"/>
              <a:gd name="T13" fmla="*/ 0 60000 65536"/>
              <a:gd name="T14" fmla="*/ 0 60000 65536"/>
              <a:gd name="T15" fmla="*/ 0 60000 65536"/>
              <a:gd name="T16" fmla="*/ 0 60000 65536"/>
              <a:gd name="T17" fmla="*/ 0 60000 65536"/>
              <a:gd name="T18" fmla="*/ 3163 w 21600"/>
              <a:gd name="T19" fmla="*/ 3163 h 21600"/>
              <a:gd name="T20" fmla="*/ 18437 w 21600"/>
              <a:gd name="T21" fmla="*/ 18437 h 21600"/>
            </a:gdLst>
            <a:ahLst/>
            <a:cxnLst>
              <a:cxn ang="T12">
                <a:pos x="T0" y="T1"/>
              </a:cxn>
              <a:cxn ang="T13">
                <a:pos x="T2" y="T3"/>
              </a:cxn>
              <a:cxn ang="T14">
                <a:pos x="T4" y="T5"/>
              </a:cxn>
              <a:cxn ang="T15">
                <a:pos x="T6" y="T7"/>
              </a:cxn>
              <a:cxn ang="T16">
                <a:pos x="T8" y="T9"/>
              </a:cxn>
              <a:cxn ang="T17">
                <a:pos x="T10" y="T11"/>
              </a:cxn>
            </a:cxnLst>
            <a:rect l="T18" t="T19" r="T20" b="T21"/>
            <a:pathLst>
              <a:path w="21600" h="21600">
                <a:moveTo>
                  <a:pt x="16200" y="10800"/>
                </a:moveTo>
                <a:cubicBezTo>
                  <a:pt x="16200" y="7817"/>
                  <a:pt x="13782" y="5400"/>
                  <a:pt x="10800" y="5400"/>
                </a:cubicBezTo>
                <a:cubicBezTo>
                  <a:pt x="7817" y="5400"/>
                  <a:pt x="5400" y="7817"/>
                  <a:pt x="5400" y="10800"/>
                </a:cubicBezTo>
                <a:lnTo>
                  <a:pt x="0" y="10800"/>
                </a:lnTo>
                <a:cubicBezTo>
                  <a:pt x="0" y="4835"/>
                  <a:pt x="4835" y="0"/>
                  <a:pt x="10800" y="0"/>
                </a:cubicBezTo>
                <a:cubicBezTo>
                  <a:pt x="16764" y="0"/>
                  <a:pt x="21599" y="4835"/>
                  <a:pt x="21600" y="10799"/>
                </a:cubicBezTo>
                <a:lnTo>
                  <a:pt x="21600" y="10800"/>
                </a:lnTo>
                <a:lnTo>
                  <a:pt x="24300" y="10800"/>
                </a:lnTo>
                <a:lnTo>
                  <a:pt x="18900" y="16200"/>
                </a:lnTo>
                <a:lnTo>
                  <a:pt x="13500" y="10800"/>
                </a:lnTo>
                <a:lnTo>
                  <a:pt x="16200" y="10800"/>
                </a:lnTo>
                <a:close/>
              </a:path>
            </a:pathLst>
          </a:custGeom>
          <a:solidFill>
            <a:srgbClr val="FFFFFF"/>
          </a:solidFill>
          <a:ln w="2857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379" name="Arc 19"/>
          <p:cNvSpPr>
            <a:spLocks/>
          </p:cNvSpPr>
          <p:nvPr/>
        </p:nvSpPr>
        <p:spPr bwMode="auto">
          <a:xfrm flipH="1">
            <a:off x="1190625" y="2008188"/>
            <a:ext cx="941388" cy="2081212"/>
          </a:xfrm>
          <a:custGeom>
            <a:avLst/>
            <a:gdLst>
              <a:gd name="T0" fmla="*/ 0 w 22123"/>
              <a:gd name="T1" fmla="*/ 672101 h 43157"/>
              <a:gd name="T2" fmla="*/ 145778589 w 22123"/>
              <a:gd name="T3" fmla="*/ 2147483647 h 43157"/>
              <a:gd name="T4" fmla="*/ 40297389 w 22123"/>
              <a:gd name="T5" fmla="*/ 2147483647 h 4315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2123" h="43157" fill="none" extrusionOk="0">
                <a:moveTo>
                  <a:pt x="0" y="6"/>
                </a:moveTo>
                <a:cubicBezTo>
                  <a:pt x="174" y="2"/>
                  <a:pt x="348" y="-1"/>
                  <a:pt x="523" y="0"/>
                </a:cubicBezTo>
                <a:cubicBezTo>
                  <a:pt x="12452" y="0"/>
                  <a:pt x="22123" y="9670"/>
                  <a:pt x="22123" y="21600"/>
                </a:cubicBezTo>
                <a:cubicBezTo>
                  <a:pt x="22123" y="32997"/>
                  <a:pt x="13266" y="42434"/>
                  <a:pt x="1891" y="43156"/>
                </a:cubicBezTo>
              </a:path>
              <a:path w="22123" h="43157" stroke="0" extrusionOk="0">
                <a:moveTo>
                  <a:pt x="0" y="6"/>
                </a:moveTo>
                <a:cubicBezTo>
                  <a:pt x="174" y="2"/>
                  <a:pt x="348" y="-1"/>
                  <a:pt x="523" y="0"/>
                </a:cubicBezTo>
                <a:cubicBezTo>
                  <a:pt x="12452" y="0"/>
                  <a:pt x="22123" y="9670"/>
                  <a:pt x="22123" y="21600"/>
                </a:cubicBezTo>
                <a:cubicBezTo>
                  <a:pt x="22123" y="32997"/>
                  <a:pt x="13266" y="42434"/>
                  <a:pt x="1891" y="43156"/>
                </a:cubicBezTo>
                <a:lnTo>
                  <a:pt x="523" y="21600"/>
                </a:lnTo>
                <a:lnTo>
                  <a:pt x="0" y="6"/>
                </a:lnTo>
                <a:close/>
              </a:path>
            </a:pathLst>
          </a:custGeom>
          <a:noFill/>
          <a:ln w="38100">
            <a:solidFill>
              <a:srgbClr val="FFFF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380" name="Oval 20"/>
          <p:cNvSpPr>
            <a:spLocks noChangeArrowheads="1"/>
          </p:cNvSpPr>
          <p:nvPr/>
        </p:nvSpPr>
        <p:spPr bwMode="auto">
          <a:xfrm>
            <a:off x="1176338" y="2443163"/>
            <a:ext cx="314325" cy="314325"/>
          </a:xfrm>
          <a:prstGeom prst="ellipse">
            <a:avLst/>
          </a:prstGeom>
          <a:gradFill rotWithShape="0">
            <a:gsLst>
              <a:gs pos="0">
                <a:srgbClr val="FFCCCC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38100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43381" name="Text Box 21"/>
          <p:cNvSpPr txBox="1">
            <a:spLocks noChangeArrowheads="1"/>
          </p:cNvSpPr>
          <p:nvPr/>
        </p:nvSpPr>
        <p:spPr bwMode="auto">
          <a:xfrm>
            <a:off x="4833938" y="1379538"/>
            <a:ext cx="4157662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b="1">
                <a:ea typeface="黑体" pitchFamily="2" charset="-122"/>
              </a:rPr>
              <a:t>圆绕其直径旋转而成</a:t>
            </a:r>
          </a:p>
        </p:txBody>
      </p:sp>
      <p:sp>
        <p:nvSpPr>
          <p:cNvPr id="143382" name="Arc 22"/>
          <p:cNvSpPr>
            <a:spLocks/>
          </p:cNvSpPr>
          <p:nvPr/>
        </p:nvSpPr>
        <p:spPr bwMode="auto">
          <a:xfrm flipH="1">
            <a:off x="2139950" y="2009775"/>
            <a:ext cx="474663" cy="833438"/>
          </a:xfrm>
          <a:custGeom>
            <a:avLst/>
            <a:gdLst>
              <a:gd name="T0" fmla="*/ 0 w 10826"/>
              <a:gd name="T1" fmla="*/ 130861882 h 21600"/>
              <a:gd name="T2" fmla="*/ 912473149 w 10826"/>
              <a:gd name="T3" fmla="*/ 1838695 h 21600"/>
              <a:gd name="T4" fmla="*/ 813690763 w 10826"/>
              <a:gd name="T5" fmla="*/ 1240830289 h 216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10826" h="21600" fill="none" extrusionOk="0">
                <a:moveTo>
                  <a:pt x="-1" y="2277"/>
                </a:moveTo>
                <a:cubicBezTo>
                  <a:pt x="2997" y="779"/>
                  <a:pt x="6302" y="-1"/>
                  <a:pt x="9654" y="0"/>
                </a:cubicBezTo>
                <a:cubicBezTo>
                  <a:pt x="10044" y="0"/>
                  <a:pt x="10435" y="10"/>
                  <a:pt x="10826" y="31"/>
                </a:cubicBezTo>
              </a:path>
              <a:path w="10826" h="21600" stroke="0" extrusionOk="0">
                <a:moveTo>
                  <a:pt x="-1" y="2277"/>
                </a:moveTo>
                <a:cubicBezTo>
                  <a:pt x="2997" y="779"/>
                  <a:pt x="6302" y="-1"/>
                  <a:pt x="9654" y="0"/>
                </a:cubicBezTo>
                <a:cubicBezTo>
                  <a:pt x="10044" y="0"/>
                  <a:pt x="10435" y="10"/>
                  <a:pt x="10826" y="31"/>
                </a:cubicBezTo>
                <a:lnTo>
                  <a:pt x="9654" y="21600"/>
                </a:lnTo>
                <a:lnTo>
                  <a:pt x="-1" y="2277"/>
                </a:lnTo>
                <a:close/>
              </a:path>
            </a:pathLst>
          </a:custGeom>
          <a:noFill/>
          <a:ln w="38100">
            <a:solidFill>
              <a:srgbClr val="FFFFCC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3383" name="Oval 23"/>
          <p:cNvSpPr>
            <a:spLocks noChangeArrowheads="1"/>
          </p:cNvSpPr>
          <p:nvPr/>
        </p:nvSpPr>
        <p:spPr bwMode="auto">
          <a:xfrm>
            <a:off x="4970463" y="817563"/>
            <a:ext cx="265112" cy="265112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43384" name="Text Box 24"/>
          <p:cNvSpPr txBox="1">
            <a:spLocks noChangeArrowheads="1"/>
          </p:cNvSpPr>
          <p:nvPr/>
        </p:nvSpPr>
        <p:spPr bwMode="auto">
          <a:xfrm>
            <a:off x="3063875" y="1395413"/>
            <a:ext cx="134937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3600" b="1">
                <a:solidFill>
                  <a:srgbClr val="000066"/>
                </a:solidFill>
                <a:ea typeface="黑体" pitchFamily="2" charset="-122"/>
              </a:rPr>
              <a:t>球面</a:t>
            </a:r>
          </a:p>
        </p:txBody>
      </p:sp>
      <p:sp>
        <p:nvSpPr>
          <p:cNvPr id="143385" name="Line 25"/>
          <p:cNvSpPr>
            <a:spLocks noChangeShapeType="1"/>
          </p:cNvSpPr>
          <p:nvPr/>
        </p:nvSpPr>
        <p:spPr bwMode="auto">
          <a:xfrm flipV="1">
            <a:off x="2611438" y="1839913"/>
            <a:ext cx="450850" cy="423862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433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75"/>
                                        <p:tgtEl>
                                          <p:spTgt spid="14338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150"/>
                            </p:stCondLst>
                            <p:childTnLst>
                              <p:par>
                                <p:cTn id="14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6" dur="500"/>
                                        <p:tgtEl>
                                          <p:spTgt spid="1433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75"/>
                                        <p:tgtEl>
                                          <p:spTgt spid="143369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150"/>
                            </p:stCondLst>
                            <p:childTnLst>
                              <p:par>
                                <p:cTn id="23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5" dur="500"/>
                                        <p:tgtEl>
                                          <p:spTgt spid="1433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143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4337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300"/>
                                        <p:tgtEl>
                                          <p:spTgt spid="1433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5" dur="500"/>
                                        <p:tgtEl>
                                          <p:spTgt spid="1433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1433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55" dur="500"/>
                                        <p:tgtEl>
                                          <p:spTgt spid="143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0" dur="500"/>
                                        <p:tgtEl>
                                          <p:spTgt spid="1433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500"/>
                            </p:stCondLst>
                            <p:childTnLst>
                              <p:par>
                                <p:cTn id="6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4" dur="500"/>
                                        <p:tgtEl>
                                          <p:spTgt spid="1433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9" dur="500"/>
                                        <p:tgtEl>
                                          <p:spTgt spid="1433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 nodeType="clickPar">
                      <p:stCondLst>
                        <p:cond delay="indefinite"/>
                      </p:stCondLst>
                      <p:childTnLst>
                        <p:par>
                          <p:cTn id="7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2" presetID="17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3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4" dur="500" fill="hold"/>
                                        <p:tgtEl>
                                          <p:spTgt spid="14337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5" dur="500" fill="hold"/>
                                        <p:tgtEl>
                                          <p:spTgt spid="14337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3362" grpId="0"/>
      <p:bldP spid="143369" grpId="0" build="p" autoUpdateAnimBg="0"/>
      <p:bldP spid="143370" grpId="0"/>
      <p:bldP spid="143371" grpId="0" animBg="1"/>
      <p:bldP spid="143372" grpId="0" animBg="1"/>
      <p:bldP spid="143373" grpId="0" build="p" autoUpdateAnimBg="0"/>
      <p:bldP spid="143378" grpId="0" animBg="1"/>
      <p:bldP spid="143379" grpId="0" animBg="1"/>
      <p:bldP spid="143380" grpId="0" animBg="1"/>
      <p:bldP spid="143381" grpId="0" autoUpdateAnimBg="0"/>
      <p:bldP spid="143382" grpId="0" animBg="1"/>
      <p:bldP spid="143383" grpId="0" animBg="1"/>
      <p:bldP spid="143384" grpId="0" build="p" autoUpdateAnimBg="0"/>
      <p:bldP spid="14338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3908E8B4-3A2D-4945-8A3E-D7DD0576C52E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18</a:t>
            </a:fld>
            <a:endParaRPr lang="en-US" altLang="zh-CN" sz="1400" smtClean="0">
              <a:solidFill>
                <a:schemeClr val="bg2"/>
              </a:solidFill>
            </a:endParaRPr>
          </a:p>
        </p:txBody>
      </p:sp>
      <p:grpSp>
        <p:nvGrpSpPr>
          <p:cNvPr id="20483" name="Group 2"/>
          <p:cNvGrpSpPr>
            <a:grpSpLocks/>
          </p:cNvGrpSpPr>
          <p:nvPr/>
        </p:nvGrpSpPr>
        <p:grpSpPr bwMode="auto">
          <a:xfrm>
            <a:off x="555625" y="1412875"/>
            <a:ext cx="3219450" cy="3027363"/>
            <a:chOff x="163" y="957"/>
            <a:chExt cx="2028" cy="1907"/>
          </a:xfrm>
        </p:grpSpPr>
        <p:sp>
          <p:nvSpPr>
            <p:cNvPr id="20531" name="Freeform 3"/>
            <p:cNvSpPr>
              <a:spLocks/>
            </p:cNvSpPr>
            <p:nvPr/>
          </p:nvSpPr>
          <p:spPr bwMode="auto">
            <a:xfrm>
              <a:off x="203" y="2301"/>
              <a:ext cx="1944" cy="563"/>
            </a:xfrm>
            <a:custGeom>
              <a:avLst/>
              <a:gdLst>
                <a:gd name="T0" fmla="*/ 836 w 2147"/>
                <a:gd name="T1" fmla="*/ 0 h 622"/>
                <a:gd name="T2" fmla="*/ 0 w 2147"/>
                <a:gd name="T3" fmla="*/ 308 h 622"/>
                <a:gd name="T4" fmla="*/ 785 w 2147"/>
                <a:gd name="T5" fmla="*/ 462 h 622"/>
                <a:gd name="T6" fmla="*/ 1594 w 2147"/>
                <a:gd name="T7" fmla="*/ 189 h 622"/>
                <a:gd name="T8" fmla="*/ 836 w 2147"/>
                <a:gd name="T9" fmla="*/ 0 h 6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47" h="622">
                  <a:moveTo>
                    <a:pt x="1125" y="0"/>
                  </a:moveTo>
                  <a:lnTo>
                    <a:pt x="0" y="415"/>
                  </a:lnTo>
                  <a:lnTo>
                    <a:pt x="1058" y="622"/>
                  </a:lnTo>
                  <a:lnTo>
                    <a:pt x="2147" y="255"/>
                  </a:lnTo>
                  <a:lnTo>
                    <a:pt x="1125" y="0"/>
                  </a:lnTo>
                  <a:close/>
                </a:path>
              </a:pathLst>
            </a:custGeom>
            <a:solidFill>
              <a:srgbClr val="CCFF99">
                <a:alpha val="50195"/>
              </a:srgbClr>
            </a:solidFill>
            <a:ln w="28575" cmpd="sng">
              <a:solidFill>
                <a:srgbClr val="CCFF99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32" name="Freeform 4"/>
            <p:cNvSpPr>
              <a:spLocks/>
            </p:cNvSpPr>
            <p:nvPr/>
          </p:nvSpPr>
          <p:spPr bwMode="auto">
            <a:xfrm>
              <a:off x="1202" y="957"/>
              <a:ext cx="956" cy="1578"/>
            </a:xfrm>
            <a:custGeom>
              <a:avLst/>
              <a:gdLst>
                <a:gd name="T0" fmla="*/ 0 w 1056"/>
                <a:gd name="T1" fmla="*/ 0 h 2156"/>
                <a:gd name="T2" fmla="*/ 0 w 1056"/>
                <a:gd name="T3" fmla="*/ 710 h 2156"/>
                <a:gd name="T4" fmla="*/ 783 w 1056"/>
                <a:gd name="T5" fmla="*/ 845 h 2156"/>
                <a:gd name="T6" fmla="*/ 783 w 1056"/>
                <a:gd name="T7" fmla="*/ 135 h 2156"/>
                <a:gd name="T8" fmla="*/ 0 w 1056"/>
                <a:gd name="T9" fmla="*/ 0 h 21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56" h="2156">
                  <a:moveTo>
                    <a:pt x="0" y="0"/>
                  </a:moveTo>
                  <a:lnTo>
                    <a:pt x="0" y="1811"/>
                  </a:lnTo>
                  <a:lnTo>
                    <a:pt x="1056" y="2156"/>
                  </a:lnTo>
                  <a:lnTo>
                    <a:pt x="1056" y="345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FFFF99">
                <a:alpha val="50195"/>
              </a:srgbClr>
            </a:solidFill>
            <a:ln w="28575" cmpd="sng">
              <a:solidFill>
                <a:srgbClr val="FFFF99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33" name="Freeform 5"/>
            <p:cNvSpPr>
              <a:spLocks/>
            </p:cNvSpPr>
            <p:nvPr/>
          </p:nvSpPr>
          <p:spPr bwMode="auto">
            <a:xfrm>
              <a:off x="196" y="959"/>
              <a:ext cx="1016" cy="1719"/>
            </a:xfrm>
            <a:custGeom>
              <a:avLst/>
              <a:gdLst>
                <a:gd name="T0" fmla="*/ 0 w 1123"/>
                <a:gd name="T1" fmla="*/ 285 h 1899"/>
                <a:gd name="T2" fmla="*/ 831 w 1123"/>
                <a:gd name="T3" fmla="*/ 0 h 1899"/>
                <a:gd name="T4" fmla="*/ 831 w 1123"/>
                <a:gd name="T5" fmla="*/ 1088 h 1899"/>
                <a:gd name="T6" fmla="*/ 1 w 1123"/>
                <a:gd name="T7" fmla="*/ 1409 h 1899"/>
                <a:gd name="T8" fmla="*/ 0 w 1123"/>
                <a:gd name="T9" fmla="*/ 285 h 189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23" h="1899">
                  <a:moveTo>
                    <a:pt x="0" y="384"/>
                  </a:moveTo>
                  <a:lnTo>
                    <a:pt x="1123" y="0"/>
                  </a:lnTo>
                  <a:lnTo>
                    <a:pt x="1123" y="1467"/>
                  </a:lnTo>
                  <a:lnTo>
                    <a:pt x="1" y="1899"/>
                  </a:lnTo>
                  <a:lnTo>
                    <a:pt x="0" y="384"/>
                  </a:lnTo>
                  <a:close/>
                </a:path>
              </a:pathLst>
            </a:custGeom>
            <a:solidFill>
              <a:srgbClr val="CCFFCC">
                <a:alpha val="50195"/>
              </a:srgbClr>
            </a:solidFill>
            <a:ln w="28575" cmpd="sng">
              <a:solidFill>
                <a:srgbClr val="CCFFCC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142342" name="Text Box 6"/>
            <p:cNvSpPr txBox="1">
              <a:spLocks noChangeArrowheads="1"/>
            </p:cNvSpPr>
            <p:nvPr/>
          </p:nvSpPr>
          <p:spPr bwMode="auto">
            <a:xfrm>
              <a:off x="163" y="1248"/>
              <a:ext cx="301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defRPr/>
              </a:pPr>
              <a:r>
                <a:rPr kumimoji="1" lang="en-US" altLang="zh-CN" sz="3200" b="1">
                  <a:solidFill>
                    <a:srgbClr val="0000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隶书" pitchFamily="49" charset="-122"/>
                </a:rPr>
                <a:t>V</a:t>
              </a:r>
            </a:p>
          </p:txBody>
        </p:sp>
        <p:sp>
          <p:nvSpPr>
            <p:cNvPr id="142343" name="Text Box 7"/>
            <p:cNvSpPr txBox="1">
              <a:spLocks noChangeArrowheads="1"/>
            </p:cNvSpPr>
            <p:nvPr/>
          </p:nvSpPr>
          <p:spPr bwMode="auto">
            <a:xfrm>
              <a:off x="1819" y="1133"/>
              <a:ext cx="372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defRPr/>
              </a:pPr>
              <a:r>
                <a:rPr kumimoji="1" lang="en-US" altLang="zh-CN" sz="3200" b="1">
                  <a:solidFill>
                    <a:srgbClr val="0000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隶书" pitchFamily="49" charset="-122"/>
                </a:rPr>
                <a:t>W</a:t>
              </a:r>
            </a:p>
          </p:txBody>
        </p:sp>
      </p:grpSp>
      <p:grpSp>
        <p:nvGrpSpPr>
          <p:cNvPr id="142344" name="Group 8"/>
          <p:cNvGrpSpPr>
            <a:grpSpLocks/>
          </p:cNvGrpSpPr>
          <p:nvPr/>
        </p:nvGrpSpPr>
        <p:grpSpPr bwMode="auto">
          <a:xfrm>
            <a:off x="4106863" y="909638"/>
            <a:ext cx="4298950" cy="3971925"/>
            <a:chOff x="2510" y="871"/>
            <a:chExt cx="2708" cy="2502"/>
          </a:xfrm>
        </p:grpSpPr>
        <p:sp>
          <p:nvSpPr>
            <p:cNvPr id="20522" name="Oval 9"/>
            <p:cNvSpPr>
              <a:spLocks noChangeArrowheads="1"/>
            </p:cNvSpPr>
            <p:nvPr/>
          </p:nvSpPr>
          <p:spPr bwMode="auto">
            <a:xfrm>
              <a:off x="2661" y="2226"/>
              <a:ext cx="981" cy="981"/>
            </a:xfrm>
            <a:prstGeom prst="ellipse">
              <a:avLst/>
            </a:prstGeom>
            <a:solidFill>
              <a:srgbClr val="99CCFF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400"/>
            </a:p>
          </p:txBody>
        </p:sp>
        <p:sp>
          <p:nvSpPr>
            <p:cNvPr id="20523" name="Oval 10"/>
            <p:cNvSpPr>
              <a:spLocks noChangeArrowheads="1"/>
            </p:cNvSpPr>
            <p:nvPr/>
          </p:nvSpPr>
          <p:spPr bwMode="auto">
            <a:xfrm>
              <a:off x="4074" y="998"/>
              <a:ext cx="981" cy="981"/>
            </a:xfrm>
            <a:prstGeom prst="ellipse">
              <a:avLst/>
            </a:prstGeom>
            <a:solidFill>
              <a:srgbClr val="99CCFF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400"/>
            </a:p>
          </p:txBody>
        </p:sp>
        <p:sp>
          <p:nvSpPr>
            <p:cNvPr id="20524" name="Oval 11"/>
            <p:cNvSpPr>
              <a:spLocks noChangeArrowheads="1"/>
            </p:cNvSpPr>
            <p:nvPr/>
          </p:nvSpPr>
          <p:spPr bwMode="auto">
            <a:xfrm>
              <a:off x="2668" y="984"/>
              <a:ext cx="981" cy="981"/>
            </a:xfrm>
            <a:prstGeom prst="ellipse">
              <a:avLst/>
            </a:prstGeom>
            <a:solidFill>
              <a:srgbClr val="99CCFF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400"/>
            </a:p>
          </p:txBody>
        </p:sp>
        <p:sp>
          <p:nvSpPr>
            <p:cNvPr id="20525" name="Line 12"/>
            <p:cNvSpPr>
              <a:spLocks noChangeShapeType="1"/>
            </p:cNvSpPr>
            <p:nvPr/>
          </p:nvSpPr>
          <p:spPr bwMode="auto">
            <a:xfrm>
              <a:off x="2539" y="1483"/>
              <a:ext cx="125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26" name="Line 13"/>
            <p:cNvSpPr>
              <a:spLocks noChangeShapeType="1"/>
            </p:cNvSpPr>
            <p:nvPr/>
          </p:nvSpPr>
          <p:spPr bwMode="auto">
            <a:xfrm>
              <a:off x="3927" y="1483"/>
              <a:ext cx="129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27" name="Line 14"/>
            <p:cNvSpPr>
              <a:spLocks noChangeShapeType="1"/>
            </p:cNvSpPr>
            <p:nvPr/>
          </p:nvSpPr>
          <p:spPr bwMode="auto">
            <a:xfrm>
              <a:off x="4560" y="871"/>
              <a:ext cx="0" cy="12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28" name="Line 15"/>
            <p:cNvSpPr>
              <a:spLocks noChangeShapeType="1"/>
            </p:cNvSpPr>
            <p:nvPr/>
          </p:nvSpPr>
          <p:spPr bwMode="auto">
            <a:xfrm>
              <a:off x="3163" y="883"/>
              <a:ext cx="0" cy="11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29" name="Line 16"/>
            <p:cNvSpPr>
              <a:spLocks noChangeShapeType="1"/>
            </p:cNvSpPr>
            <p:nvPr/>
          </p:nvSpPr>
          <p:spPr bwMode="auto">
            <a:xfrm>
              <a:off x="3163" y="2100"/>
              <a:ext cx="0" cy="127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30" name="Line 17"/>
            <p:cNvSpPr>
              <a:spLocks noChangeShapeType="1"/>
            </p:cNvSpPr>
            <p:nvPr/>
          </p:nvSpPr>
          <p:spPr bwMode="auto">
            <a:xfrm>
              <a:off x="2510" y="2719"/>
              <a:ext cx="12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42354" name="Text Box 18"/>
          <p:cNvSpPr txBox="1">
            <a:spLocks noChangeArrowheads="1"/>
          </p:cNvSpPr>
          <p:nvPr/>
        </p:nvSpPr>
        <p:spPr bwMode="auto">
          <a:xfrm>
            <a:off x="1123950" y="285750"/>
            <a:ext cx="34893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>
              <a:defRPr/>
            </a:pPr>
            <a:r>
              <a:rPr kumimoji="1" lang="zh-CN" altLang="en-US" sz="3600" b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itchFamily="2" charset="-122"/>
                <a:sym typeface="Marlett" pitchFamily="2" charset="2"/>
              </a:rPr>
              <a:t>圆球的投影</a:t>
            </a:r>
            <a:endParaRPr kumimoji="1" lang="zh-CN" altLang="en-US" sz="3600" b="1">
              <a:effectLst>
                <a:outerShdw blurRad="38100" dist="38100" dir="2700000" algn="tl">
                  <a:srgbClr val="C0C0C0"/>
                </a:outerShdw>
              </a:effectLst>
              <a:ea typeface="黑体" pitchFamily="2" charset="-122"/>
            </a:endParaRPr>
          </a:p>
        </p:txBody>
      </p:sp>
      <p:sp>
        <p:nvSpPr>
          <p:cNvPr id="142355" name="Line 19"/>
          <p:cNvSpPr>
            <a:spLocks noChangeShapeType="1"/>
          </p:cNvSpPr>
          <p:nvPr/>
        </p:nvSpPr>
        <p:spPr bwMode="auto">
          <a:xfrm>
            <a:off x="5741988" y="2325688"/>
            <a:ext cx="239712" cy="247650"/>
          </a:xfrm>
          <a:prstGeom prst="line">
            <a:avLst/>
          </a:prstGeom>
          <a:noFill/>
          <a:ln w="1270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2356" name="Text Box 20"/>
          <p:cNvSpPr txBox="1">
            <a:spLocks noChangeArrowheads="1"/>
          </p:cNvSpPr>
          <p:nvPr/>
        </p:nvSpPr>
        <p:spPr bwMode="auto">
          <a:xfrm>
            <a:off x="5927725" y="2265363"/>
            <a:ext cx="5826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b="1">
                <a:solidFill>
                  <a:srgbClr val="990033"/>
                </a:solidFill>
              </a:rPr>
              <a:t>a'</a:t>
            </a:r>
          </a:p>
        </p:txBody>
      </p:sp>
      <p:sp>
        <p:nvSpPr>
          <p:cNvPr id="142357" name="Line 21"/>
          <p:cNvSpPr>
            <a:spLocks noChangeShapeType="1"/>
          </p:cNvSpPr>
          <p:nvPr/>
        </p:nvSpPr>
        <p:spPr bwMode="auto">
          <a:xfrm flipH="1">
            <a:off x="4522788" y="4591050"/>
            <a:ext cx="319087" cy="230188"/>
          </a:xfrm>
          <a:prstGeom prst="line">
            <a:avLst/>
          </a:prstGeom>
          <a:noFill/>
          <a:ln w="1270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2358" name="Text Box 22"/>
          <p:cNvSpPr txBox="1">
            <a:spLocks noChangeArrowheads="1"/>
          </p:cNvSpPr>
          <p:nvPr/>
        </p:nvSpPr>
        <p:spPr bwMode="auto">
          <a:xfrm>
            <a:off x="4233863" y="4533900"/>
            <a:ext cx="382587" cy="519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b="1">
                <a:solidFill>
                  <a:srgbClr val="000066"/>
                </a:solidFill>
              </a:rPr>
              <a:t>b</a:t>
            </a:r>
            <a:endParaRPr lang="en-US" altLang="zh-CN" sz="2800" b="1"/>
          </a:p>
        </p:txBody>
      </p:sp>
      <p:sp>
        <p:nvSpPr>
          <p:cNvPr id="142359" name="Line 23"/>
          <p:cNvSpPr>
            <a:spLocks noChangeShapeType="1"/>
          </p:cNvSpPr>
          <p:nvPr/>
        </p:nvSpPr>
        <p:spPr bwMode="auto">
          <a:xfrm>
            <a:off x="7813675" y="2513013"/>
            <a:ext cx="252413" cy="157162"/>
          </a:xfrm>
          <a:prstGeom prst="line">
            <a:avLst/>
          </a:prstGeom>
          <a:noFill/>
          <a:ln w="12700">
            <a:solidFill>
              <a:srgbClr val="0033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2360" name="Text Box 24"/>
          <p:cNvSpPr txBox="1">
            <a:spLocks noChangeArrowheads="1"/>
          </p:cNvSpPr>
          <p:nvPr/>
        </p:nvSpPr>
        <p:spPr bwMode="auto">
          <a:xfrm>
            <a:off x="8027988" y="2408238"/>
            <a:ext cx="538162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b="1">
                <a:solidFill>
                  <a:srgbClr val="336600"/>
                </a:solidFill>
              </a:rPr>
              <a:t>c"</a:t>
            </a:r>
          </a:p>
        </p:txBody>
      </p:sp>
      <p:sp>
        <p:nvSpPr>
          <p:cNvPr id="142361" name="Line 25"/>
          <p:cNvSpPr>
            <a:spLocks noChangeShapeType="1"/>
          </p:cNvSpPr>
          <p:nvPr/>
        </p:nvSpPr>
        <p:spPr bwMode="auto">
          <a:xfrm>
            <a:off x="4321175" y="3835400"/>
            <a:ext cx="1587500" cy="9525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2362" name="Line 26"/>
          <p:cNvSpPr>
            <a:spLocks noChangeShapeType="1"/>
          </p:cNvSpPr>
          <p:nvPr/>
        </p:nvSpPr>
        <p:spPr bwMode="auto">
          <a:xfrm>
            <a:off x="7366000" y="1125538"/>
            <a:ext cx="0" cy="1530350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2363" name="Line 27"/>
          <p:cNvSpPr>
            <a:spLocks noChangeShapeType="1"/>
          </p:cNvSpPr>
          <p:nvPr/>
        </p:nvSpPr>
        <p:spPr bwMode="auto">
          <a:xfrm>
            <a:off x="4341813" y="1885950"/>
            <a:ext cx="1558925" cy="0"/>
          </a:xfrm>
          <a:prstGeom prst="line">
            <a:avLst/>
          </a:prstGeom>
          <a:noFill/>
          <a:ln w="5715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2364" name="Line 28"/>
          <p:cNvSpPr>
            <a:spLocks noChangeShapeType="1"/>
          </p:cNvSpPr>
          <p:nvPr/>
        </p:nvSpPr>
        <p:spPr bwMode="auto">
          <a:xfrm>
            <a:off x="6586538" y="1884363"/>
            <a:ext cx="1558925" cy="0"/>
          </a:xfrm>
          <a:prstGeom prst="line">
            <a:avLst/>
          </a:prstGeom>
          <a:noFill/>
          <a:ln w="5715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2365" name="Line 29"/>
          <p:cNvSpPr>
            <a:spLocks noChangeShapeType="1"/>
          </p:cNvSpPr>
          <p:nvPr/>
        </p:nvSpPr>
        <p:spPr bwMode="auto">
          <a:xfrm>
            <a:off x="5143500" y="1095375"/>
            <a:ext cx="0" cy="1549400"/>
          </a:xfrm>
          <a:prstGeom prst="line">
            <a:avLst/>
          </a:prstGeom>
          <a:noFill/>
          <a:ln w="57150">
            <a:solidFill>
              <a:srgbClr val="3399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2366" name="Line 30"/>
          <p:cNvSpPr>
            <a:spLocks noChangeShapeType="1"/>
          </p:cNvSpPr>
          <p:nvPr/>
        </p:nvSpPr>
        <p:spPr bwMode="auto">
          <a:xfrm>
            <a:off x="5143500" y="3059113"/>
            <a:ext cx="0" cy="1558925"/>
          </a:xfrm>
          <a:prstGeom prst="line">
            <a:avLst/>
          </a:prstGeom>
          <a:noFill/>
          <a:ln w="57150">
            <a:solidFill>
              <a:srgbClr val="3399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20498" name="Group 31"/>
          <p:cNvGrpSpPr>
            <a:grpSpLocks/>
          </p:cNvGrpSpPr>
          <p:nvPr/>
        </p:nvGrpSpPr>
        <p:grpSpPr bwMode="auto">
          <a:xfrm>
            <a:off x="1009650" y="1147763"/>
            <a:ext cx="2135188" cy="3616325"/>
            <a:chOff x="3841" y="911"/>
            <a:chExt cx="1345" cy="2278"/>
          </a:xfrm>
        </p:grpSpPr>
        <p:sp>
          <p:nvSpPr>
            <p:cNvPr id="20517" name="Oval 32"/>
            <p:cNvSpPr>
              <a:spLocks noChangeArrowheads="1"/>
            </p:cNvSpPr>
            <p:nvPr/>
          </p:nvSpPr>
          <p:spPr bwMode="auto">
            <a:xfrm>
              <a:off x="3841" y="1374"/>
              <a:ext cx="1345" cy="1345"/>
            </a:xfrm>
            <a:prstGeom prst="ellipse">
              <a:avLst/>
            </a:prstGeom>
            <a:gradFill rotWithShape="0">
              <a:gsLst>
                <a:gs pos="0">
                  <a:srgbClr val="99CCFF"/>
                </a:gs>
                <a:gs pos="100000">
                  <a:srgbClr val="3C5064"/>
                </a:gs>
              </a:gsLst>
              <a:path path="shape">
                <a:fillToRect l="50000" t="50000" r="50000" b="50000"/>
              </a:path>
            </a:gra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400"/>
            </a:p>
          </p:txBody>
        </p:sp>
        <p:sp>
          <p:nvSpPr>
            <p:cNvPr id="20518" name="Line 33"/>
            <p:cNvSpPr>
              <a:spLocks noChangeShapeType="1"/>
            </p:cNvSpPr>
            <p:nvPr/>
          </p:nvSpPr>
          <p:spPr bwMode="auto">
            <a:xfrm>
              <a:off x="4507" y="1097"/>
              <a:ext cx="0" cy="386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19" name="Line 34"/>
            <p:cNvSpPr>
              <a:spLocks noChangeShapeType="1"/>
            </p:cNvSpPr>
            <p:nvPr/>
          </p:nvSpPr>
          <p:spPr bwMode="auto">
            <a:xfrm>
              <a:off x="4504" y="2722"/>
              <a:ext cx="0" cy="389"/>
            </a:xfrm>
            <a:prstGeom prst="line">
              <a:avLst/>
            </a:prstGeom>
            <a:noFill/>
            <a:ln w="9525">
              <a:solidFill>
                <a:srgbClr val="990033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0520" name="Text Box 35"/>
            <p:cNvSpPr txBox="1">
              <a:spLocks noChangeArrowheads="1"/>
            </p:cNvSpPr>
            <p:nvPr/>
          </p:nvSpPr>
          <p:spPr bwMode="auto">
            <a:xfrm>
              <a:off x="4234" y="911"/>
              <a:ext cx="29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b="1"/>
                <a:t>O</a:t>
              </a:r>
            </a:p>
          </p:txBody>
        </p:sp>
        <p:sp>
          <p:nvSpPr>
            <p:cNvPr id="20521" name="Text Box 36"/>
            <p:cNvSpPr txBox="1">
              <a:spLocks noChangeArrowheads="1"/>
            </p:cNvSpPr>
            <p:nvPr/>
          </p:nvSpPr>
          <p:spPr bwMode="auto">
            <a:xfrm>
              <a:off x="4195" y="2862"/>
              <a:ext cx="29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b="1"/>
                <a:t>O</a:t>
              </a:r>
            </a:p>
          </p:txBody>
        </p:sp>
      </p:grpSp>
      <p:sp>
        <p:nvSpPr>
          <p:cNvPr id="142373" name="Line 37"/>
          <p:cNvSpPr>
            <a:spLocks noChangeShapeType="1"/>
          </p:cNvSpPr>
          <p:nvPr/>
        </p:nvSpPr>
        <p:spPr bwMode="auto">
          <a:xfrm flipV="1">
            <a:off x="4316413" y="3833813"/>
            <a:ext cx="1568450" cy="11112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2374" name="Line 38"/>
          <p:cNvSpPr>
            <a:spLocks noChangeShapeType="1"/>
          </p:cNvSpPr>
          <p:nvPr/>
        </p:nvSpPr>
        <p:spPr bwMode="auto">
          <a:xfrm>
            <a:off x="7362825" y="1169988"/>
            <a:ext cx="0" cy="1530350"/>
          </a:xfrm>
          <a:prstGeom prst="line">
            <a:avLst/>
          </a:prstGeom>
          <a:noFill/>
          <a:ln w="57150">
            <a:solidFill>
              <a:srgbClr val="CC0000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2375" name="Line 39"/>
          <p:cNvSpPr>
            <a:spLocks noChangeShapeType="1"/>
          </p:cNvSpPr>
          <p:nvPr/>
        </p:nvSpPr>
        <p:spPr bwMode="auto">
          <a:xfrm>
            <a:off x="4341813" y="1889125"/>
            <a:ext cx="1558925" cy="0"/>
          </a:xfrm>
          <a:prstGeom prst="line">
            <a:avLst/>
          </a:prstGeom>
          <a:noFill/>
          <a:ln w="5715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2376" name="Line 40"/>
          <p:cNvSpPr>
            <a:spLocks noChangeShapeType="1"/>
          </p:cNvSpPr>
          <p:nvPr/>
        </p:nvSpPr>
        <p:spPr bwMode="auto">
          <a:xfrm>
            <a:off x="6586538" y="1884363"/>
            <a:ext cx="1558925" cy="0"/>
          </a:xfrm>
          <a:prstGeom prst="line">
            <a:avLst/>
          </a:prstGeom>
          <a:noFill/>
          <a:ln w="57150">
            <a:solidFill>
              <a:schemeClr val="accent2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2377" name="Line 41"/>
          <p:cNvSpPr>
            <a:spLocks noChangeShapeType="1"/>
          </p:cNvSpPr>
          <p:nvPr/>
        </p:nvSpPr>
        <p:spPr bwMode="auto">
          <a:xfrm>
            <a:off x="5143500" y="1095375"/>
            <a:ext cx="0" cy="1549400"/>
          </a:xfrm>
          <a:prstGeom prst="line">
            <a:avLst/>
          </a:prstGeom>
          <a:noFill/>
          <a:ln w="57150">
            <a:solidFill>
              <a:srgbClr val="3399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2378" name="Line 42"/>
          <p:cNvSpPr>
            <a:spLocks noChangeShapeType="1"/>
          </p:cNvSpPr>
          <p:nvPr/>
        </p:nvSpPr>
        <p:spPr bwMode="auto">
          <a:xfrm>
            <a:off x="5146675" y="3070225"/>
            <a:ext cx="0" cy="1558925"/>
          </a:xfrm>
          <a:prstGeom prst="line">
            <a:avLst/>
          </a:prstGeom>
          <a:noFill/>
          <a:ln w="57150">
            <a:solidFill>
              <a:srgbClr val="339933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2380" name="Rectangle 44"/>
          <p:cNvSpPr>
            <a:spLocks noChangeArrowheads="1"/>
          </p:cNvSpPr>
          <p:nvPr/>
        </p:nvSpPr>
        <p:spPr bwMode="auto">
          <a:xfrm>
            <a:off x="3630613" y="5170488"/>
            <a:ext cx="2671762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b="1">
                <a:ea typeface="黑体" pitchFamily="2" charset="-122"/>
              </a:rPr>
              <a:t>外形轮廓线投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b="1">
                <a:ea typeface="黑体" pitchFamily="2" charset="-122"/>
              </a:rPr>
              <a:t>影的对应关系</a:t>
            </a:r>
          </a:p>
        </p:txBody>
      </p:sp>
      <p:sp>
        <p:nvSpPr>
          <p:cNvPr id="142382" name="Text Box 46"/>
          <p:cNvSpPr txBox="1">
            <a:spLocks noChangeArrowheads="1"/>
          </p:cNvSpPr>
          <p:nvPr/>
        </p:nvSpPr>
        <p:spPr bwMode="auto">
          <a:xfrm>
            <a:off x="6503988" y="5205413"/>
            <a:ext cx="2303462" cy="9461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b="1">
                <a:ea typeface="黑体" pitchFamily="2" charset="-122"/>
              </a:rPr>
              <a:t>球面投影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b="1">
                <a:ea typeface="黑体" pitchFamily="2" charset="-122"/>
              </a:rPr>
              <a:t>可见性判断</a:t>
            </a:r>
          </a:p>
        </p:txBody>
      </p:sp>
      <p:sp>
        <p:nvSpPr>
          <p:cNvPr id="142383" name="Oval 47"/>
          <p:cNvSpPr>
            <a:spLocks noChangeArrowheads="1"/>
          </p:cNvSpPr>
          <p:nvPr/>
        </p:nvSpPr>
        <p:spPr bwMode="auto">
          <a:xfrm>
            <a:off x="741363" y="485775"/>
            <a:ext cx="265112" cy="265113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42384" name="Freeform 48"/>
          <p:cNvSpPr>
            <a:spLocks/>
          </p:cNvSpPr>
          <p:nvPr/>
        </p:nvSpPr>
        <p:spPr bwMode="auto">
          <a:xfrm>
            <a:off x="4348163" y="3843338"/>
            <a:ext cx="1543050" cy="755650"/>
          </a:xfrm>
          <a:custGeom>
            <a:avLst/>
            <a:gdLst>
              <a:gd name="T0" fmla="*/ 0 w 972"/>
              <a:gd name="T1" fmla="*/ 0 h 476"/>
              <a:gd name="T2" fmla="*/ 2147483647 w 972"/>
              <a:gd name="T3" fmla="*/ 0 h 476"/>
              <a:gd name="T4" fmla="*/ 2147483647 w 972"/>
              <a:gd name="T5" fmla="*/ 2147483647 h 476"/>
              <a:gd name="T6" fmla="*/ 2147483647 w 972"/>
              <a:gd name="T7" fmla="*/ 2147483647 h 476"/>
              <a:gd name="T8" fmla="*/ 2147483647 w 972"/>
              <a:gd name="T9" fmla="*/ 2147483647 h 476"/>
              <a:gd name="T10" fmla="*/ 2147483647 w 972"/>
              <a:gd name="T11" fmla="*/ 2147483647 h 476"/>
              <a:gd name="T12" fmla="*/ 2147483647 w 972"/>
              <a:gd name="T13" fmla="*/ 2147483647 h 476"/>
              <a:gd name="T14" fmla="*/ 2147483647 w 972"/>
              <a:gd name="T15" fmla="*/ 2147483647 h 476"/>
              <a:gd name="T16" fmla="*/ 2147483647 w 972"/>
              <a:gd name="T17" fmla="*/ 2147483647 h 476"/>
              <a:gd name="T18" fmla="*/ 2147483647 w 972"/>
              <a:gd name="T19" fmla="*/ 2147483647 h 476"/>
              <a:gd name="T20" fmla="*/ 2147483647 w 972"/>
              <a:gd name="T21" fmla="*/ 2147483647 h 476"/>
              <a:gd name="T22" fmla="*/ 2147483647 w 972"/>
              <a:gd name="T23" fmla="*/ 2147483647 h 476"/>
              <a:gd name="T24" fmla="*/ 2147483647 w 972"/>
              <a:gd name="T25" fmla="*/ 2147483647 h 476"/>
              <a:gd name="T26" fmla="*/ 2147483647 w 972"/>
              <a:gd name="T27" fmla="*/ 2147483647 h 476"/>
              <a:gd name="T28" fmla="*/ 2147483647 w 972"/>
              <a:gd name="T29" fmla="*/ 2147483647 h 476"/>
              <a:gd name="T30" fmla="*/ 2147483647 w 972"/>
              <a:gd name="T31" fmla="*/ 2147483647 h 476"/>
              <a:gd name="T32" fmla="*/ 2147483647 w 972"/>
              <a:gd name="T33" fmla="*/ 2147483647 h 476"/>
              <a:gd name="T34" fmla="*/ 2147483647 w 972"/>
              <a:gd name="T35" fmla="*/ 2147483647 h 476"/>
              <a:gd name="T36" fmla="*/ 2147483647 w 972"/>
              <a:gd name="T37" fmla="*/ 2147483647 h 476"/>
              <a:gd name="T38" fmla="*/ 2147483647 w 972"/>
              <a:gd name="T39" fmla="*/ 2147483647 h 476"/>
              <a:gd name="T40" fmla="*/ 2147483647 w 972"/>
              <a:gd name="T41" fmla="*/ 2147483647 h 476"/>
              <a:gd name="T42" fmla="*/ 2147483647 w 972"/>
              <a:gd name="T43" fmla="*/ 2147483647 h 476"/>
              <a:gd name="T44" fmla="*/ 2147483647 w 972"/>
              <a:gd name="T45" fmla="*/ 2147483647 h 476"/>
              <a:gd name="T46" fmla="*/ 2147483647 w 972"/>
              <a:gd name="T47" fmla="*/ 2147483647 h 476"/>
              <a:gd name="T48" fmla="*/ 0 w 972"/>
              <a:gd name="T49" fmla="*/ 0 h 47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</a:gdLst>
            <a:ahLst/>
            <a:cxnLst>
              <a:cxn ang="T50">
                <a:pos x="T0" y="T1"/>
              </a:cxn>
              <a:cxn ang="T51">
                <a:pos x="T2" y="T3"/>
              </a:cxn>
              <a:cxn ang="T52">
                <a:pos x="T4" y="T5"/>
              </a:cxn>
              <a:cxn ang="T53">
                <a:pos x="T6" y="T7"/>
              </a:cxn>
              <a:cxn ang="T54">
                <a:pos x="T8" y="T9"/>
              </a:cxn>
              <a:cxn ang="T55">
                <a:pos x="T10" y="T11"/>
              </a:cxn>
              <a:cxn ang="T56">
                <a:pos x="T12" y="T13"/>
              </a:cxn>
              <a:cxn ang="T57">
                <a:pos x="T14" y="T15"/>
              </a:cxn>
              <a:cxn ang="T58">
                <a:pos x="T16" y="T17"/>
              </a:cxn>
              <a:cxn ang="T59">
                <a:pos x="T18" y="T19"/>
              </a:cxn>
              <a:cxn ang="T60">
                <a:pos x="T20" y="T21"/>
              </a:cxn>
              <a:cxn ang="T61">
                <a:pos x="T22" y="T23"/>
              </a:cxn>
              <a:cxn ang="T62">
                <a:pos x="T24" y="T25"/>
              </a:cxn>
              <a:cxn ang="T63">
                <a:pos x="T26" y="T27"/>
              </a:cxn>
              <a:cxn ang="T64">
                <a:pos x="T28" y="T29"/>
              </a:cxn>
              <a:cxn ang="T65">
                <a:pos x="T30" y="T31"/>
              </a:cxn>
              <a:cxn ang="T66">
                <a:pos x="T32" y="T33"/>
              </a:cxn>
              <a:cxn ang="T67">
                <a:pos x="T34" y="T35"/>
              </a:cxn>
              <a:cxn ang="T68">
                <a:pos x="T36" y="T37"/>
              </a:cxn>
              <a:cxn ang="T69">
                <a:pos x="T38" y="T39"/>
              </a:cxn>
              <a:cxn ang="T70">
                <a:pos x="T40" y="T41"/>
              </a:cxn>
              <a:cxn ang="T71">
                <a:pos x="T42" y="T43"/>
              </a:cxn>
              <a:cxn ang="T72">
                <a:pos x="T44" y="T45"/>
              </a:cxn>
              <a:cxn ang="T73">
                <a:pos x="T46" y="T47"/>
              </a:cxn>
              <a:cxn ang="T74">
                <a:pos x="T48" y="T49"/>
              </a:cxn>
            </a:cxnLst>
            <a:rect l="0" t="0" r="r" b="b"/>
            <a:pathLst>
              <a:path w="972" h="476">
                <a:moveTo>
                  <a:pt x="0" y="0"/>
                </a:moveTo>
                <a:lnTo>
                  <a:pt x="972" y="0"/>
                </a:lnTo>
                <a:lnTo>
                  <a:pt x="964" y="72"/>
                </a:lnTo>
                <a:lnTo>
                  <a:pt x="956" y="124"/>
                </a:lnTo>
                <a:lnTo>
                  <a:pt x="936" y="176"/>
                </a:lnTo>
                <a:lnTo>
                  <a:pt x="920" y="220"/>
                </a:lnTo>
                <a:lnTo>
                  <a:pt x="896" y="256"/>
                </a:lnTo>
                <a:lnTo>
                  <a:pt x="860" y="308"/>
                </a:lnTo>
                <a:lnTo>
                  <a:pt x="828" y="348"/>
                </a:lnTo>
                <a:lnTo>
                  <a:pt x="768" y="388"/>
                </a:lnTo>
                <a:lnTo>
                  <a:pt x="708" y="420"/>
                </a:lnTo>
                <a:lnTo>
                  <a:pt x="656" y="444"/>
                </a:lnTo>
                <a:lnTo>
                  <a:pt x="568" y="468"/>
                </a:lnTo>
                <a:lnTo>
                  <a:pt x="512" y="476"/>
                </a:lnTo>
                <a:lnTo>
                  <a:pt x="428" y="468"/>
                </a:lnTo>
                <a:lnTo>
                  <a:pt x="352" y="452"/>
                </a:lnTo>
                <a:lnTo>
                  <a:pt x="280" y="424"/>
                </a:lnTo>
                <a:lnTo>
                  <a:pt x="212" y="388"/>
                </a:lnTo>
                <a:lnTo>
                  <a:pt x="156" y="340"/>
                </a:lnTo>
                <a:lnTo>
                  <a:pt x="116" y="296"/>
                </a:lnTo>
                <a:lnTo>
                  <a:pt x="76" y="244"/>
                </a:lnTo>
                <a:lnTo>
                  <a:pt x="44" y="184"/>
                </a:lnTo>
                <a:lnTo>
                  <a:pt x="24" y="120"/>
                </a:lnTo>
                <a:lnTo>
                  <a:pt x="12" y="60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>
              <a:alpha val="50195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2385" name="Oval 49"/>
          <p:cNvSpPr>
            <a:spLocks noChangeArrowheads="1"/>
          </p:cNvSpPr>
          <p:nvPr/>
        </p:nvSpPr>
        <p:spPr bwMode="auto">
          <a:xfrm>
            <a:off x="4373563" y="1100138"/>
            <a:ext cx="1524000" cy="1524000"/>
          </a:xfrm>
          <a:prstGeom prst="ellipse">
            <a:avLst/>
          </a:prstGeom>
          <a:solidFill>
            <a:schemeClr val="accent1">
              <a:alpha val="50195"/>
            </a:scheme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42386" name="Freeform 50"/>
          <p:cNvSpPr>
            <a:spLocks/>
          </p:cNvSpPr>
          <p:nvPr/>
        </p:nvSpPr>
        <p:spPr bwMode="auto">
          <a:xfrm>
            <a:off x="4373563" y="1093788"/>
            <a:ext cx="762000" cy="1536700"/>
          </a:xfrm>
          <a:custGeom>
            <a:avLst/>
            <a:gdLst>
              <a:gd name="T0" fmla="*/ 2147483647 w 480"/>
              <a:gd name="T1" fmla="*/ 0 h 968"/>
              <a:gd name="T2" fmla="*/ 2147483647 w 480"/>
              <a:gd name="T3" fmla="*/ 2147483647 h 968"/>
              <a:gd name="T4" fmla="*/ 2147483647 w 480"/>
              <a:gd name="T5" fmla="*/ 2147483647 h 968"/>
              <a:gd name="T6" fmla="*/ 2147483647 w 480"/>
              <a:gd name="T7" fmla="*/ 2147483647 h 968"/>
              <a:gd name="T8" fmla="*/ 2147483647 w 480"/>
              <a:gd name="T9" fmla="*/ 2147483647 h 968"/>
              <a:gd name="T10" fmla="*/ 2147483647 w 480"/>
              <a:gd name="T11" fmla="*/ 2147483647 h 968"/>
              <a:gd name="T12" fmla="*/ 2147483647 w 480"/>
              <a:gd name="T13" fmla="*/ 2147483647 h 968"/>
              <a:gd name="T14" fmla="*/ 2147483647 w 480"/>
              <a:gd name="T15" fmla="*/ 2147483647 h 968"/>
              <a:gd name="T16" fmla="*/ 2147483647 w 480"/>
              <a:gd name="T17" fmla="*/ 2147483647 h 968"/>
              <a:gd name="T18" fmla="*/ 2147483647 w 480"/>
              <a:gd name="T19" fmla="*/ 2147483647 h 968"/>
              <a:gd name="T20" fmla="*/ 2147483647 w 480"/>
              <a:gd name="T21" fmla="*/ 2147483647 h 968"/>
              <a:gd name="T22" fmla="*/ 2147483647 w 480"/>
              <a:gd name="T23" fmla="*/ 2147483647 h 968"/>
              <a:gd name="T24" fmla="*/ 2147483647 w 480"/>
              <a:gd name="T25" fmla="*/ 2147483647 h 968"/>
              <a:gd name="T26" fmla="*/ 0 w 480"/>
              <a:gd name="T27" fmla="*/ 2147483647 h 968"/>
              <a:gd name="T28" fmla="*/ 0 w 480"/>
              <a:gd name="T29" fmla="*/ 2147483647 h 968"/>
              <a:gd name="T30" fmla="*/ 2147483647 w 480"/>
              <a:gd name="T31" fmla="*/ 2147483647 h 968"/>
              <a:gd name="T32" fmla="*/ 2147483647 w 480"/>
              <a:gd name="T33" fmla="*/ 2147483647 h 968"/>
              <a:gd name="T34" fmla="*/ 2147483647 w 480"/>
              <a:gd name="T35" fmla="*/ 2147483647 h 968"/>
              <a:gd name="T36" fmla="*/ 2147483647 w 480"/>
              <a:gd name="T37" fmla="*/ 2147483647 h 968"/>
              <a:gd name="T38" fmla="*/ 2147483647 w 480"/>
              <a:gd name="T39" fmla="*/ 2147483647 h 968"/>
              <a:gd name="T40" fmla="*/ 2147483647 w 480"/>
              <a:gd name="T41" fmla="*/ 2147483647 h 968"/>
              <a:gd name="T42" fmla="*/ 2147483647 w 480"/>
              <a:gd name="T43" fmla="*/ 2147483647 h 968"/>
              <a:gd name="T44" fmla="*/ 2147483647 w 480"/>
              <a:gd name="T45" fmla="*/ 0 h 968"/>
              <a:gd name="T46" fmla="*/ 0 60000 65536"/>
              <a:gd name="T47" fmla="*/ 0 60000 65536"/>
              <a:gd name="T48" fmla="*/ 0 60000 65536"/>
              <a:gd name="T49" fmla="*/ 0 60000 65536"/>
              <a:gd name="T50" fmla="*/ 0 60000 65536"/>
              <a:gd name="T51" fmla="*/ 0 60000 65536"/>
              <a:gd name="T52" fmla="*/ 0 60000 65536"/>
              <a:gd name="T53" fmla="*/ 0 60000 65536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</a:gdLst>
            <a:ahLst/>
            <a:cxnLst>
              <a:cxn ang="T46">
                <a:pos x="T0" y="T1"/>
              </a:cxn>
              <a:cxn ang="T47">
                <a:pos x="T2" y="T3"/>
              </a:cxn>
              <a:cxn ang="T48">
                <a:pos x="T4" y="T5"/>
              </a:cxn>
              <a:cxn ang="T49">
                <a:pos x="T6" y="T7"/>
              </a:cxn>
              <a:cxn ang="T50">
                <a:pos x="T8" y="T9"/>
              </a:cxn>
              <a:cxn ang="T51">
                <a:pos x="T10" y="T11"/>
              </a:cxn>
              <a:cxn ang="T52">
                <a:pos x="T12" y="T13"/>
              </a:cxn>
              <a:cxn ang="T53">
                <a:pos x="T14" y="T15"/>
              </a:cxn>
              <a:cxn ang="T54">
                <a:pos x="T16" y="T17"/>
              </a:cxn>
              <a:cxn ang="T55">
                <a:pos x="T18" y="T19"/>
              </a:cxn>
              <a:cxn ang="T56">
                <a:pos x="T20" y="T21"/>
              </a:cxn>
              <a:cxn ang="T57">
                <a:pos x="T22" y="T23"/>
              </a:cxn>
              <a:cxn ang="T58">
                <a:pos x="T24" y="T25"/>
              </a:cxn>
              <a:cxn ang="T59">
                <a:pos x="T26" y="T27"/>
              </a:cxn>
              <a:cxn ang="T60">
                <a:pos x="T28" y="T29"/>
              </a:cxn>
              <a:cxn ang="T61">
                <a:pos x="T30" y="T31"/>
              </a:cxn>
              <a:cxn ang="T62">
                <a:pos x="T32" y="T33"/>
              </a:cxn>
              <a:cxn ang="T63">
                <a:pos x="T34" y="T35"/>
              </a:cxn>
              <a:cxn ang="T64">
                <a:pos x="T36" y="T37"/>
              </a:cxn>
              <a:cxn ang="T65">
                <a:pos x="T38" y="T39"/>
              </a:cxn>
              <a:cxn ang="T66">
                <a:pos x="T40" y="T41"/>
              </a:cxn>
              <a:cxn ang="T67">
                <a:pos x="T42" y="T43"/>
              </a:cxn>
              <a:cxn ang="T68">
                <a:pos x="T44" y="T45"/>
              </a:cxn>
            </a:cxnLst>
            <a:rect l="0" t="0" r="r" b="b"/>
            <a:pathLst>
              <a:path w="480" h="968">
                <a:moveTo>
                  <a:pt x="480" y="0"/>
                </a:moveTo>
                <a:lnTo>
                  <a:pt x="480" y="968"/>
                </a:lnTo>
                <a:lnTo>
                  <a:pt x="436" y="964"/>
                </a:lnTo>
                <a:lnTo>
                  <a:pt x="381" y="951"/>
                </a:lnTo>
                <a:lnTo>
                  <a:pt x="332" y="940"/>
                </a:lnTo>
                <a:lnTo>
                  <a:pt x="276" y="908"/>
                </a:lnTo>
                <a:lnTo>
                  <a:pt x="228" y="888"/>
                </a:lnTo>
                <a:lnTo>
                  <a:pt x="188" y="856"/>
                </a:lnTo>
                <a:lnTo>
                  <a:pt x="140" y="816"/>
                </a:lnTo>
                <a:lnTo>
                  <a:pt x="96" y="768"/>
                </a:lnTo>
                <a:lnTo>
                  <a:pt x="64" y="716"/>
                </a:lnTo>
                <a:lnTo>
                  <a:pt x="27" y="654"/>
                </a:lnTo>
                <a:lnTo>
                  <a:pt x="9" y="591"/>
                </a:lnTo>
                <a:lnTo>
                  <a:pt x="0" y="524"/>
                </a:lnTo>
                <a:lnTo>
                  <a:pt x="0" y="440"/>
                </a:lnTo>
                <a:lnTo>
                  <a:pt x="16" y="376"/>
                </a:lnTo>
                <a:lnTo>
                  <a:pt x="54" y="267"/>
                </a:lnTo>
                <a:lnTo>
                  <a:pt x="90" y="204"/>
                </a:lnTo>
                <a:lnTo>
                  <a:pt x="144" y="140"/>
                </a:lnTo>
                <a:lnTo>
                  <a:pt x="228" y="76"/>
                </a:lnTo>
                <a:lnTo>
                  <a:pt x="296" y="36"/>
                </a:lnTo>
                <a:lnTo>
                  <a:pt x="396" y="8"/>
                </a:lnTo>
                <a:lnTo>
                  <a:pt x="480" y="0"/>
                </a:lnTo>
                <a:close/>
              </a:path>
            </a:pathLst>
          </a:custGeom>
          <a:solidFill>
            <a:srgbClr val="FFFF99">
              <a:alpha val="50195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2387" name="Oval 51"/>
          <p:cNvSpPr>
            <a:spLocks noChangeArrowheads="1"/>
          </p:cNvSpPr>
          <p:nvPr/>
        </p:nvSpPr>
        <p:spPr bwMode="auto">
          <a:xfrm>
            <a:off x="6608763" y="1125538"/>
            <a:ext cx="1517650" cy="1517650"/>
          </a:xfrm>
          <a:prstGeom prst="ellipse">
            <a:avLst/>
          </a:prstGeom>
          <a:solidFill>
            <a:srgbClr val="FFFF99">
              <a:alpha val="50195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42388" name="Freeform 52"/>
          <p:cNvSpPr>
            <a:spLocks/>
          </p:cNvSpPr>
          <p:nvPr/>
        </p:nvSpPr>
        <p:spPr bwMode="auto">
          <a:xfrm>
            <a:off x="4360863" y="1098550"/>
            <a:ext cx="1543050" cy="788988"/>
          </a:xfrm>
          <a:custGeom>
            <a:avLst/>
            <a:gdLst>
              <a:gd name="T0" fmla="*/ 0 w 972"/>
              <a:gd name="T1" fmla="*/ 2147483647 h 497"/>
              <a:gd name="T2" fmla="*/ 2147483647 w 972"/>
              <a:gd name="T3" fmla="*/ 2147483647 h 497"/>
              <a:gd name="T4" fmla="*/ 2147483647 w 972"/>
              <a:gd name="T5" fmla="*/ 2147483647 h 497"/>
              <a:gd name="T6" fmla="*/ 2147483647 w 972"/>
              <a:gd name="T7" fmla="*/ 2147483647 h 497"/>
              <a:gd name="T8" fmla="*/ 2147483647 w 972"/>
              <a:gd name="T9" fmla="*/ 2147483647 h 497"/>
              <a:gd name="T10" fmla="*/ 2147483647 w 972"/>
              <a:gd name="T11" fmla="*/ 2147483647 h 497"/>
              <a:gd name="T12" fmla="*/ 2147483647 w 972"/>
              <a:gd name="T13" fmla="*/ 2147483647 h 497"/>
              <a:gd name="T14" fmla="*/ 2147483647 w 972"/>
              <a:gd name="T15" fmla="*/ 2147483647 h 497"/>
              <a:gd name="T16" fmla="*/ 2147483647 w 972"/>
              <a:gd name="T17" fmla="*/ 2147483647 h 497"/>
              <a:gd name="T18" fmla="*/ 2147483647 w 972"/>
              <a:gd name="T19" fmla="*/ 2147483647 h 497"/>
              <a:gd name="T20" fmla="*/ 2147483647 w 972"/>
              <a:gd name="T21" fmla="*/ 2147483647 h 497"/>
              <a:gd name="T22" fmla="*/ 2147483647 w 972"/>
              <a:gd name="T23" fmla="*/ 2147483647 h 497"/>
              <a:gd name="T24" fmla="*/ 2147483647 w 972"/>
              <a:gd name="T25" fmla="*/ 2147483647 h 497"/>
              <a:gd name="T26" fmla="*/ 2147483647 w 972"/>
              <a:gd name="T27" fmla="*/ 2147483647 h 497"/>
              <a:gd name="T28" fmla="*/ 2147483647 w 972"/>
              <a:gd name="T29" fmla="*/ 0 h 497"/>
              <a:gd name="T30" fmla="*/ 2147483647 w 972"/>
              <a:gd name="T31" fmla="*/ 2147483647 h 497"/>
              <a:gd name="T32" fmla="*/ 2147483647 w 972"/>
              <a:gd name="T33" fmla="*/ 2147483647 h 497"/>
              <a:gd name="T34" fmla="*/ 2147483647 w 972"/>
              <a:gd name="T35" fmla="*/ 2147483647 h 497"/>
              <a:gd name="T36" fmla="*/ 2147483647 w 972"/>
              <a:gd name="T37" fmla="*/ 2147483647 h 497"/>
              <a:gd name="T38" fmla="*/ 2147483647 w 972"/>
              <a:gd name="T39" fmla="*/ 2147483647 h 497"/>
              <a:gd name="T40" fmla="*/ 2147483647 w 972"/>
              <a:gd name="T41" fmla="*/ 2147483647 h 497"/>
              <a:gd name="T42" fmla="*/ 2147483647 w 972"/>
              <a:gd name="T43" fmla="*/ 2147483647 h 497"/>
              <a:gd name="T44" fmla="*/ 2147483647 w 972"/>
              <a:gd name="T45" fmla="*/ 2147483647 h 497"/>
              <a:gd name="T46" fmla="*/ 2147483647 w 972"/>
              <a:gd name="T47" fmla="*/ 2147483647 h 497"/>
              <a:gd name="T48" fmla="*/ 2147483647 w 972"/>
              <a:gd name="T49" fmla="*/ 2147483647 h 497"/>
              <a:gd name="T50" fmla="*/ 2147483647 w 972"/>
              <a:gd name="T51" fmla="*/ 2147483647 h 497"/>
              <a:gd name="T52" fmla="*/ 0 w 972"/>
              <a:gd name="T53" fmla="*/ 2147483647 h 497"/>
              <a:gd name="T54" fmla="*/ 0 60000 65536"/>
              <a:gd name="T55" fmla="*/ 0 60000 65536"/>
              <a:gd name="T56" fmla="*/ 0 60000 65536"/>
              <a:gd name="T57" fmla="*/ 0 60000 65536"/>
              <a:gd name="T58" fmla="*/ 0 60000 65536"/>
              <a:gd name="T59" fmla="*/ 0 60000 65536"/>
              <a:gd name="T60" fmla="*/ 0 60000 65536"/>
              <a:gd name="T61" fmla="*/ 0 60000 65536"/>
              <a:gd name="T62" fmla="*/ 0 60000 65536"/>
              <a:gd name="T63" fmla="*/ 0 60000 65536"/>
              <a:gd name="T64" fmla="*/ 0 60000 65536"/>
              <a:gd name="T65" fmla="*/ 0 60000 65536"/>
              <a:gd name="T66" fmla="*/ 0 60000 65536"/>
              <a:gd name="T67" fmla="*/ 0 60000 65536"/>
              <a:gd name="T68" fmla="*/ 0 60000 65536"/>
              <a:gd name="T69" fmla="*/ 0 60000 65536"/>
              <a:gd name="T70" fmla="*/ 0 60000 65536"/>
              <a:gd name="T71" fmla="*/ 0 60000 65536"/>
              <a:gd name="T72" fmla="*/ 0 60000 65536"/>
              <a:gd name="T73" fmla="*/ 0 60000 65536"/>
              <a:gd name="T74" fmla="*/ 0 60000 65536"/>
              <a:gd name="T75" fmla="*/ 0 60000 65536"/>
              <a:gd name="T76" fmla="*/ 0 60000 65536"/>
              <a:gd name="T77" fmla="*/ 0 60000 65536"/>
              <a:gd name="T78" fmla="*/ 0 60000 65536"/>
              <a:gd name="T79" fmla="*/ 0 60000 65536"/>
              <a:gd name="T80" fmla="*/ 0 60000 65536"/>
            </a:gdLst>
            <a:ahLst/>
            <a:cxnLst>
              <a:cxn ang="T54">
                <a:pos x="T0" y="T1"/>
              </a:cxn>
              <a:cxn ang="T55">
                <a:pos x="T2" y="T3"/>
              </a:cxn>
              <a:cxn ang="T56">
                <a:pos x="T4" y="T5"/>
              </a:cxn>
              <a:cxn ang="T57">
                <a:pos x="T6" y="T7"/>
              </a:cxn>
              <a:cxn ang="T58">
                <a:pos x="T8" y="T9"/>
              </a:cxn>
              <a:cxn ang="T59">
                <a:pos x="T10" y="T11"/>
              </a:cxn>
              <a:cxn ang="T60">
                <a:pos x="T12" y="T13"/>
              </a:cxn>
              <a:cxn ang="T61">
                <a:pos x="T14" y="T15"/>
              </a:cxn>
              <a:cxn ang="T62">
                <a:pos x="T16" y="T17"/>
              </a:cxn>
              <a:cxn ang="T63">
                <a:pos x="T18" y="T19"/>
              </a:cxn>
              <a:cxn ang="T64">
                <a:pos x="T20" y="T21"/>
              </a:cxn>
              <a:cxn ang="T65">
                <a:pos x="T22" y="T23"/>
              </a:cxn>
              <a:cxn ang="T66">
                <a:pos x="T24" y="T25"/>
              </a:cxn>
              <a:cxn ang="T67">
                <a:pos x="T26" y="T27"/>
              </a:cxn>
              <a:cxn ang="T68">
                <a:pos x="T28" y="T29"/>
              </a:cxn>
              <a:cxn ang="T69">
                <a:pos x="T30" y="T31"/>
              </a:cxn>
              <a:cxn ang="T70">
                <a:pos x="T32" y="T33"/>
              </a:cxn>
              <a:cxn ang="T71">
                <a:pos x="T34" y="T35"/>
              </a:cxn>
              <a:cxn ang="T72">
                <a:pos x="T36" y="T37"/>
              </a:cxn>
              <a:cxn ang="T73">
                <a:pos x="T38" y="T39"/>
              </a:cxn>
              <a:cxn ang="T74">
                <a:pos x="T40" y="T41"/>
              </a:cxn>
              <a:cxn ang="T75">
                <a:pos x="T42" y="T43"/>
              </a:cxn>
              <a:cxn ang="T76">
                <a:pos x="T44" y="T45"/>
              </a:cxn>
              <a:cxn ang="T77">
                <a:pos x="T46" y="T47"/>
              </a:cxn>
              <a:cxn ang="T78">
                <a:pos x="T48" y="T49"/>
              </a:cxn>
              <a:cxn ang="T79">
                <a:pos x="T50" y="T51"/>
              </a:cxn>
              <a:cxn ang="T80">
                <a:pos x="T52" y="T53"/>
              </a:cxn>
            </a:cxnLst>
            <a:rect l="0" t="0" r="r" b="b"/>
            <a:pathLst>
              <a:path w="972" h="497">
                <a:moveTo>
                  <a:pt x="0" y="497"/>
                </a:moveTo>
                <a:lnTo>
                  <a:pt x="972" y="497"/>
                </a:lnTo>
                <a:lnTo>
                  <a:pt x="964" y="433"/>
                </a:lnTo>
                <a:lnTo>
                  <a:pt x="956" y="365"/>
                </a:lnTo>
                <a:lnTo>
                  <a:pt x="941" y="309"/>
                </a:lnTo>
                <a:lnTo>
                  <a:pt x="914" y="264"/>
                </a:lnTo>
                <a:lnTo>
                  <a:pt x="892" y="225"/>
                </a:lnTo>
                <a:lnTo>
                  <a:pt x="857" y="180"/>
                </a:lnTo>
                <a:lnTo>
                  <a:pt x="818" y="138"/>
                </a:lnTo>
                <a:lnTo>
                  <a:pt x="782" y="105"/>
                </a:lnTo>
                <a:lnTo>
                  <a:pt x="737" y="72"/>
                </a:lnTo>
                <a:lnTo>
                  <a:pt x="686" y="36"/>
                </a:lnTo>
                <a:lnTo>
                  <a:pt x="626" y="18"/>
                </a:lnTo>
                <a:lnTo>
                  <a:pt x="568" y="9"/>
                </a:lnTo>
                <a:lnTo>
                  <a:pt x="494" y="0"/>
                </a:lnTo>
                <a:lnTo>
                  <a:pt x="440" y="3"/>
                </a:lnTo>
                <a:lnTo>
                  <a:pt x="383" y="12"/>
                </a:lnTo>
                <a:lnTo>
                  <a:pt x="312" y="33"/>
                </a:lnTo>
                <a:lnTo>
                  <a:pt x="257" y="60"/>
                </a:lnTo>
                <a:lnTo>
                  <a:pt x="218" y="84"/>
                </a:lnTo>
                <a:lnTo>
                  <a:pt x="179" y="111"/>
                </a:lnTo>
                <a:lnTo>
                  <a:pt x="140" y="153"/>
                </a:lnTo>
                <a:lnTo>
                  <a:pt x="88" y="217"/>
                </a:lnTo>
                <a:lnTo>
                  <a:pt x="44" y="297"/>
                </a:lnTo>
                <a:lnTo>
                  <a:pt x="20" y="369"/>
                </a:lnTo>
                <a:lnTo>
                  <a:pt x="8" y="447"/>
                </a:lnTo>
                <a:lnTo>
                  <a:pt x="0" y="497"/>
                </a:lnTo>
                <a:close/>
              </a:path>
            </a:pathLst>
          </a:custGeom>
          <a:solidFill>
            <a:srgbClr val="FF9999">
              <a:alpha val="50195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2389" name="Oval 53"/>
          <p:cNvSpPr>
            <a:spLocks noChangeArrowheads="1"/>
          </p:cNvSpPr>
          <p:nvPr/>
        </p:nvSpPr>
        <p:spPr bwMode="auto">
          <a:xfrm>
            <a:off x="4360863" y="3086100"/>
            <a:ext cx="1524000" cy="1524000"/>
          </a:xfrm>
          <a:prstGeom prst="ellipse">
            <a:avLst/>
          </a:prstGeom>
          <a:solidFill>
            <a:srgbClr val="FF9999">
              <a:alpha val="50195"/>
            </a:srgbClr>
          </a:soli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42390" name="AutoShape 54"/>
          <p:cNvSpPr>
            <a:spLocks noChangeArrowheads="1"/>
          </p:cNvSpPr>
          <p:nvPr/>
        </p:nvSpPr>
        <p:spPr bwMode="auto">
          <a:xfrm>
            <a:off x="2071688" y="1235075"/>
            <a:ext cx="358775" cy="323850"/>
          </a:xfrm>
          <a:prstGeom prst="downArrow">
            <a:avLst>
              <a:gd name="adj1" fmla="val 50000"/>
              <a:gd name="adj2" fmla="val 25000"/>
            </a:avLst>
          </a:prstGeom>
          <a:gradFill rotWithShape="0">
            <a:gsLst>
              <a:gs pos="0">
                <a:srgbClr val="764747"/>
              </a:gs>
              <a:gs pos="100000">
                <a:srgbClr val="FF9999"/>
              </a:gs>
            </a:gsLst>
            <a:lin ang="5400000" scaled="1"/>
          </a:gra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 vert="eaVert"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42391" name="AutoShape 55"/>
          <p:cNvSpPr>
            <a:spLocks noChangeArrowheads="1"/>
          </p:cNvSpPr>
          <p:nvPr/>
        </p:nvSpPr>
        <p:spPr bwMode="auto">
          <a:xfrm rot="7054636">
            <a:off x="3394075" y="3087688"/>
            <a:ext cx="358775" cy="323850"/>
          </a:xfrm>
          <a:prstGeom prst="downArrow">
            <a:avLst>
              <a:gd name="adj1" fmla="val 50000"/>
              <a:gd name="adj2" fmla="val 25000"/>
            </a:avLst>
          </a:prstGeom>
          <a:gradFill rotWithShape="0">
            <a:gsLst>
              <a:gs pos="0">
                <a:srgbClr val="FF9999"/>
              </a:gs>
              <a:gs pos="100000">
                <a:srgbClr val="764747"/>
              </a:gs>
            </a:gsLst>
            <a:lin ang="0" scaled="1"/>
          </a:gra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 vert="eaVert"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42392" name="AutoShape 56"/>
          <p:cNvSpPr>
            <a:spLocks noChangeArrowheads="1"/>
          </p:cNvSpPr>
          <p:nvPr/>
        </p:nvSpPr>
        <p:spPr bwMode="auto">
          <a:xfrm rot="-6534470">
            <a:off x="546100" y="3346451"/>
            <a:ext cx="358775" cy="323850"/>
          </a:xfrm>
          <a:prstGeom prst="downArrow">
            <a:avLst>
              <a:gd name="adj1" fmla="val 50000"/>
              <a:gd name="adj2" fmla="val 25000"/>
            </a:avLst>
          </a:prstGeom>
          <a:gradFill rotWithShape="0">
            <a:gsLst>
              <a:gs pos="0">
                <a:srgbClr val="764747"/>
              </a:gs>
              <a:gs pos="100000">
                <a:srgbClr val="FF9999"/>
              </a:gs>
            </a:gsLst>
            <a:lin ang="0" scaled="1"/>
          </a:gra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 vert="eaVert"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423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423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423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2" dur="500"/>
                                        <p:tgtEl>
                                          <p:spTgt spid="1423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 nodeType="clickPar">
                      <p:stCondLst>
                        <p:cond delay="indefinite"/>
                      </p:stCondLst>
                      <p:childTnLst>
                        <p:par>
                          <p:cTn id="2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42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32" dur="500"/>
                                        <p:tgtEl>
                                          <p:spTgt spid="142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6" dur="300"/>
                                        <p:tgtEl>
                                          <p:spTgt spid="1423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423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3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500"/>
                                        <p:tgtEl>
                                          <p:spTgt spid="1423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67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5" fill="hold" nodeType="clickPar">
                      <p:stCondLst>
                        <p:cond delay="indefinite"/>
                      </p:stCondLst>
                      <p:childTnLst>
                        <p:par>
                          <p:cTn id="8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1423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1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2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 nodeType="clickPar">
                      <p:stCondLst>
                        <p:cond delay="indefinite"/>
                      </p:stCondLst>
                      <p:childTnLst>
                        <p:par>
                          <p:cTn id="9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5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7" fill="hold" nodeType="clickPar">
                      <p:stCondLst>
                        <p:cond delay="indefinite"/>
                      </p:stCondLst>
                      <p:childTnLst>
                        <p:par>
                          <p:cTn id="9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9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0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 nodeType="clickPar">
                      <p:stCondLst>
                        <p:cond delay="indefinite"/>
                      </p:stCondLst>
                      <p:childTnLst>
                        <p:par>
                          <p:cTn id="10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7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9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2" dur="75"/>
                                        <p:tgtEl>
                                          <p:spTgt spid="14238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3" fill="hold" nodeType="afterGroup">
                            <p:stCondLst>
                              <p:cond delay="1300"/>
                            </p:stCondLst>
                            <p:childTnLst>
                              <p:par>
                                <p:cTn id="11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1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6" dur="75"/>
                                        <p:tgtEl>
                                          <p:spTgt spid="142382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7" fill="hold" nodeType="clickPar">
                      <p:stCondLst>
                        <p:cond delay="indefinite"/>
                      </p:stCondLst>
                      <p:childTnLst>
                        <p:par>
                          <p:cTn id="1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9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5" fill="hold" nodeType="clickPar">
                      <p:stCondLst>
                        <p:cond delay="indefinite"/>
                      </p:stCondLst>
                      <p:childTnLst>
                        <p:par>
                          <p:cTn id="12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7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9" fill="hold" nodeType="clickPar">
                      <p:stCondLst>
                        <p:cond delay="indefinite"/>
                      </p:stCondLst>
                      <p:childTnLst>
                        <p:par>
                          <p:cTn id="13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1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 nodeType="clickPar">
                      <p:stCondLst>
                        <p:cond delay="indefinite"/>
                      </p:stCondLst>
                      <p:childTnLst>
                        <p:par>
                          <p:cTn id="13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5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 nodeType="clickPar">
                      <p:stCondLst>
                        <p:cond delay="indefinite"/>
                      </p:stCondLst>
                      <p:childTnLst>
                        <p:par>
                          <p:cTn id="1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9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3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2354" grpId="0" autoUpdateAnimBg="0"/>
      <p:bldP spid="142355" grpId="0" animBg="1"/>
      <p:bldP spid="142356" grpId="0" autoUpdateAnimBg="0"/>
      <p:bldP spid="142357" grpId="0" animBg="1"/>
      <p:bldP spid="142358" grpId="0" autoUpdateAnimBg="0"/>
      <p:bldP spid="142359" grpId="0" animBg="1"/>
      <p:bldP spid="142360" grpId="0" autoUpdateAnimBg="0"/>
      <p:bldP spid="142361" grpId="0" animBg="1"/>
      <p:bldP spid="142362" grpId="0" animBg="1"/>
      <p:bldP spid="142363" grpId="0" animBg="1"/>
      <p:bldP spid="142364" grpId="0" animBg="1"/>
      <p:bldP spid="142365" grpId="0" animBg="1"/>
      <p:bldP spid="142366" grpId="0" animBg="1"/>
      <p:bldP spid="142373" grpId="0" animBg="1"/>
      <p:bldP spid="142374" grpId="0" animBg="1"/>
      <p:bldP spid="142375" grpId="0" animBg="1"/>
      <p:bldP spid="142376" grpId="0" animBg="1"/>
      <p:bldP spid="142377" grpId="0" animBg="1"/>
      <p:bldP spid="142378" grpId="0" animBg="1"/>
      <p:bldP spid="142380" grpId="0" autoUpdateAnimBg="0"/>
      <p:bldP spid="142382" grpId="0" build="p" autoUpdateAnimBg="0" advAuto="0"/>
      <p:bldP spid="142383" grpId="0" animBg="1"/>
      <p:bldP spid="142384" grpId="0" animBg="1"/>
      <p:bldP spid="142385" grpId="0" animBg="1"/>
      <p:bldP spid="142386" grpId="0" animBg="1"/>
      <p:bldP spid="142387" grpId="0" animBg="1"/>
      <p:bldP spid="142388" grpId="0" animBg="1"/>
      <p:bldP spid="142389" grpId="0" animBg="1"/>
      <p:bldP spid="142390" grpId="0" animBg="1"/>
      <p:bldP spid="142391" grpId="0" animBg="1"/>
      <p:bldP spid="142392" grpId="0" animBg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7853DA52-F3A4-4E78-9439-950ABF7D1592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19</a:t>
            </a:fld>
            <a:endParaRPr lang="en-US" altLang="zh-CN" sz="1400" smtClean="0">
              <a:solidFill>
                <a:schemeClr val="bg2"/>
              </a:solidFill>
            </a:endParaRPr>
          </a:p>
        </p:txBody>
      </p:sp>
      <p:grpSp>
        <p:nvGrpSpPr>
          <p:cNvPr id="141314" name="Group 2"/>
          <p:cNvGrpSpPr>
            <a:grpSpLocks/>
          </p:cNvGrpSpPr>
          <p:nvPr/>
        </p:nvGrpSpPr>
        <p:grpSpPr bwMode="auto">
          <a:xfrm>
            <a:off x="4213225" y="1831975"/>
            <a:ext cx="4298950" cy="3971925"/>
            <a:chOff x="2510" y="871"/>
            <a:chExt cx="2708" cy="2502"/>
          </a:xfrm>
        </p:grpSpPr>
        <p:sp>
          <p:nvSpPr>
            <p:cNvPr id="21534" name="Oval 3"/>
            <p:cNvSpPr>
              <a:spLocks noChangeArrowheads="1"/>
            </p:cNvSpPr>
            <p:nvPr/>
          </p:nvSpPr>
          <p:spPr bwMode="auto">
            <a:xfrm>
              <a:off x="2661" y="2226"/>
              <a:ext cx="981" cy="981"/>
            </a:xfrm>
            <a:prstGeom prst="ellipse">
              <a:avLst/>
            </a:prstGeom>
            <a:solidFill>
              <a:srgbClr val="99CCFF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400"/>
            </a:p>
          </p:txBody>
        </p:sp>
        <p:sp>
          <p:nvSpPr>
            <p:cNvPr id="21535" name="Oval 4"/>
            <p:cNvSpPr>
              <a:spLocks noChangeArrowheads="1"/>
            </p:cNvSpPr>
            <p:nvPr/>
          </p:nvSpPr>
          <p:spPr bwMode="auto">
            <a:xfrm>
              <a:off x="4074" y="998"/>
              <a:ext cx="981" cy="981"/>
            </a:xfrm>
            <a:prstGeom prst="ellipse">
              <a:avLst/>
            </a:prstGeom>
            <a:solidFill>
              <a:srgbClr val="99CCFF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400"/>
            </a:p>
          </p:txBody>
        </p:sp>
        <p:sp>
          <p:nvSpPr>
            <p:cNvPr id="21536" name="Oval 5"/>
            <p:cNvSpPr>
              <a:spLocks noChangeArrowheads="1"/>
            </p:cNvSpPr>
            <p:nvPr/>
          </p:nvSpPr>
          <p:spPr bwMode="auto">
            <a:xfrm>
              <a:off x="2668" y="984"/>
              <a:ext cx="981" cy="981"/>
            </a:xfrm>
            <a:prstGeom prst="ellipse">
              <a:avLst/>
            </a:prstGeom>
            <a:solidFill>
              <a:srgbClr val="99CCFF"/>
            </a:solidFill>
            <a:ln w="38100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400"/>
            </a:p>
          </p:txBody>
        </p:sp>
        <p:sp>
          <p:nvSpPr>
            <p:cNvPr id="21537" name="Line 6"/>
            <p:cNvSpPr>
              <a:spLocks noChangeShapeType="1"/>
            </p:cNvSpPr>
            <p:nvPr/>
          </p:nvSpPr>
          <p:spPr bwMode="auto">
            <a:xfrm>
              <a:off x="2539" y="1483"/>
              <a:ext cx="125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38" name="Line 7"/>
            <p:cNvSpPr>
              <a:spLocks noChangeShapeType="1"/>
            </p:cNvSpPr>
            <p:nvPr/>
          </p:nvSpPr>
          <p:spPr bwMode="auto">
            <a:xfrm>
              <a:off x="3927" y="1483"/>
              <a:ext cx="1291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39" name="Line 8"/>
            <p:cNvSpPr>
              <a:spLocks noChangeShapeType="1"/>
            </p:cNvSpPr>
            <p:nvPr/>
          </p:nvSpPr>
          <p:spPr bwMode="auto">
            <a:xfrm>
              <a:off x="4560" y="871"/>
              <a:ext cx="0" cy="129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40" name="Line 9"/>
            <p:cNvSpPr>
              <a:spLocks noChangeShapeType="1"/>
            </p:cNvSpPr>
            <p:nvPr/>
          </p:nvSpPr>
          <p:spPr bwMode="auto">
            <a:xfrm>
              <a:off x="3163" y="883"/>
              <a:ext cx="0" cy="1164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41" name="Line 10"/>
            <p:cNvSpPr>
              <a:spLocks noChangeShapeType="1"/>
            </p:cNvSpPr>
            <p:nvPr/>
          </p:nvSpPr>
          <p:spPr bwMode="auto">
            <a:xfrm>
              <a:off x="3163" y="2100"/>
              <a:ext cx="0" cy="127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42" name="Line 11"/>
            <p:cNvSpPr>
              <a:spLocks noChangeShapeType="1"/>
            </p:cNvSpPr>
            <p:nvPr/>
          </p:nvSpPr>
          <p:spPr bwMode="auto">
            <a:xfrm>
              <a:off x="2510" y="2719"/>
              <a:ext cx="1272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41324" name="Text Box 12"/>
          <p:cNvSpPr txBox="1">
            <a:spLocks noChangeArrowheads="1"/>
          </p:cNvSpPr>
          <p:nvPr/>
        </p:nvSpPr>
        <p:spPr bwMode="auto">
          <a:xfrm>
            <a:off x="1060450" y="5294313"/>
            <a:ext cx="2817813" cy="9461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>
              <a:defRPr/>
            </a:pPr>
            <a:r>
              <a:rPr kumimoji="1" lang="zh-CN" altLang="en-US" sz="2800" b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点</a:t>
            </a:r>
            <a:r>
              <a:rPr kumimoji="1" lang="en-US" altLang="zh-CN" sz="2800" b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N</a:t>
            </a:r>
            <a:r>
              <a:rPr kumimoji="1" lang="zh-CN" altLang="en-US" sz="2800" b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在球面的</a:t>
            </a:r>
          </a:p>
          <a:p>
            <a:pPr algn="l">
              <a:defRPr/>
            </a:pPr>
            <a:r>
              <a:rPr kumimoji="1" lang="zh-CN" altLang="en-US" sz="2800" b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黑体" pitchFamily="2" charset="-122"/>
                <a:ea typeface="黑体" pitchFamily="2" charset="-122"/>
              </a:rPr>
              <a:t>一水平圆上</a:t>
            </a:r>
          </a:p>
        </p:txBody>
      </p:sp>
      <p:sp>
        <p:nvSpPr>
          <p:cNvPr id="141325" name="Oval 13"/>
          <p:cNvSpPr>
            <a:spLocks noChangeArrowheads="1"/>
          </p:cNvSpPr>
          <p:nvPr/>
        </p:nvSpPr>
        <p:spPr bwMode="auto">
          <a:xfrm>
            <a:off x="5441950" y="2317750"/>
            <a:ext cx="173038" cy="173038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30000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41326" name="Text Box 14"/>
          <p:cNvSpPr txBox="1">
            <a:spLocks noChangeArrowheads="1"/>
          </p:cNvSpPr>
          <p:nvPr/>
        </p:nvSpPr>
        <p:spPr bwMode="auto">
          <a:xfrm>
            <a:off x="5175250" y="1944688"/>
            <a:ext cx="481013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b="1">
                <a:solidFill>
                  <a:srgbClr val="A50021"/>
                </a:solidFill>
              </a:rPr>
              <a:t>n'</a:t>
            </a:r>
          </a:p>
        </p:txBody>
      </p:sp>
      <p:sp>
        <p:nvSpPr>
          <p:cNvPr id="141327" name="Line 15"/>
          <p:cNvSpPr>
            <a:spLocks noChangeShapeType="1"/>
          </p:cNvSpPr>
          <p:nvPr/>
        </p:nvSpPr>
        <p:spPr bwMode="auto">
          <a:xfrm>
            <a:off x="4548188" y="2411413"/>
            <a:ext cx="1385887" cy="0"/>
          </a:xfrm>
          <a:prstGeom prst="line">
            <a:avLst/>
          </a:prstGeom>
          <a:noFill/>
          <a:ln w="12700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1328" name="Line 16"/>
          <p:cNvSpPr>
            <a:spLocks noChangeShapeType="1"/>
          </p:cNvSpPr>
          <p:nvPr/>
        </p:nvSpPr>
        <p:spPr bwMode="auto">
          <a:xfrm>
            <a:off x="5899150" y="2428875"/>
            <a:ext cx="0" cy="2336800"/>
          </a:xfrm>
          <a:prstGeom prst="line">
            <a:avLst/>
          </a:prstGeom>
          <a:noFill/>
          <a:ln w="12700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1329" name="Line 17"/>
          <p:cNvSpPr>
            <a:spLocks noChangeShapeType="1"/>
          </p:cNvSpPr>
          <p:nvPr/>
        </p:nvSpPr>
        <p:spPr bwMode="auto">
          <a:xfrm>
            <a:off x="5527675" y="2419350"/>
            <a:ext cx="0" cy="2963863"/>
          </a:xfrm>
          <a:prstGeom prst="line">
            <a:avLst/>
          </a:prstGeom>
          <a:noFill/>
          <a:ln w="12700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1330" name="Oval 18"/>
          <p:cNvSpPr>
            <a:spLocks noChangeArrowheads="1"/>
          </p:cNvSpPr>
          <p:nvPr/>
        </p:nvSpPr>
        <p:spPr bwMode="auto">
          <a:xfrm>
            <a:off x="7954963" y="2325688"/>
            <a:ext cx="173037" cy="173037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38000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41331" name="Oval 19"/>
          <p:cNvSpPr>
            <a:spLocks noChangeArrowheads="1"/>
          </p:cNvSpPr>
          <p:nvPr/>
        </p:nvSpPr>
        <p:spPr bwMode="auto">
          <a:xfrm>
            <a:off x="5441950" y="5254625"/>
            <a:ext cx="173038" cy="173038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3C000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41332" name="Text Box 20"/>
          <p:cNvSpPr txBox="1">
            <a:spLocks noChangeArrowheads="1"/>
          </p:cNvSpPr>
          <p:nvPr/>
        </p:nvSpPr>
        <p:spPr bwMode="auto">
          <a:xfrm>
            <a:off x="5553075" y="5275263"/>
            <a:ext cx="382588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b="1">
                <a:solidFill>
                  <a:srgbClr val="A50021"/>
                </a:solidFill>
              </a:rPr>
              <a:t>n</a:t>
            </a:r>
          </a:p>
        </p:txBody>
      </p:sp>
      <p:sp>
        <p:nvSpPr>
          <p:cNvPr id="141333" name="Line 21"/>
          <p:cNvSpPr>
            <a:spLocks noChangeShapeType="1"/>
          </p:cNvSpPr>
          <p:nvPr/>
        </p:nvSpPr>
        <p:spPr bwMode="auto">
          <a:xfrm rot="2617279" flipV="1">
            <a:off x="5367338" y="5008563"/>
            <a:ext cx="284162" cy="42862"/>
          </a:xfrm>
          <a:prstGeom prst="line">
            <a:avLst/>
          </a:prstGeom>
          <a:noFill/>
          <a:ln w="57150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1334" name="Line 22"/>
          <p:cNvSpPr>
            <a:spLocks noChangeShapeType="1"/>
          </p:cNvSpPr>
          <p:nvPr/>
        </p:nvSpPr>
        <p:spPr bwMode="auto">
          <a:xfrm>
            <a:off x="7640638" y="2276475"/>
            <a:ext cx="87312" cy="257175"/>
          </a:xfrm>
          <a:prstGeom prst="line">
            <a:avLst/>
          </a:prstGeom>
          <a:noFill/>
          <a:ln w="57150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1335" name="Text Box 23"/>
          <p:cNvSpPr txBox="1">
            <a:spLocks noChangeArrowheads="1"/>
          </p:cNvSpPr>
          <p:nvPr/>
        </p:nvSpPr>
        <p:spPr bwMode="auto">
          <a:xfrm>
            <a:off x="8015288" y="1906588"/>
            <a:ext cx="579437" cy="5191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b="1">
                <a:solidFill>
                  <a:srgbClr val="A50021"/>
                </a:solidFill>
              </a:rPr>
              <a:t>n"</a:t>
            </a:r>
          </a:p>
        </p:txBody>
      </p:sp>
      <p:sp>
        <p:nvSpPr>
          <p:cNvPr id="141336" name="Line 24"/>
          <p:cNvSpPr>
            <a:spLocks noChangeShapeType="1"/>
          </p:cNvSpPr>
          <p:nvPr/>
        </p:nvSpPr>
        <p:spPr bwMode="auto">
          <a:xfrm>
            <a:off x="5967413" y="2416175"/>
            <a:ext cx="2006600" cy="0"/>
          </a:xfrm>
          <a:prstGeom prst="line">
            <a:avLst/>
          </a:prstGeom>
          <a:noFill/>
          <a:ln w="12700">
            <a:solidFill>
              <a:srgbClr val="A5002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1337" name="Text Box 25"/>
          <p:cNvSpPr txBox="1">
            <a:spLocks noChangeArrowheads="1"/>
          </p:cNvSpPr>
          <p:nvPr/>
        </p:nvSpPr>
        <p:spPr bwMode="auto">
          <a:xfrm>
            <a:off x="1244600" y="228600"/>
            <a:ext cx="4746625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>
              <a:defRPr/>
            </a:pPr>
            <a:r>
              <a:rPr kumimoji="1" lang="zh-CN" altLang="en-US" sz="36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itchFamily="2" charset="-122"/>
                <a:sym typeface="Marlett" pitchFamily="2" charset="2"/>
              </a:rPr>
              <a:t>圆球表面取</a:t>
            </a:r>
            <a:r>
              <a:rPr kumimoji="1" lang="zh-CN" altLang="en-US" sz="3600" b="1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itchFamily="2" charset="-122"/>
                <a:sym typeface="Marlett" pitchFamily="2" charset="2"/>
              </a:rPr>
              <a:t>点</a:t>
            </a:r>
            <a:endParaRPr kumimoji="1" lang="zh-CN" altLang="en-US" sz="3600" b="1" dirty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ea typeface="黑体" pitchFamily="2" charset="-122"/>
            </a:endParaRPr>
          </a:p>
        </p:txBody>
      </p:sp>
      <p:grpSp>
        <p:nvGrpSpPr>
          <p:cNvPr id="21522" name="Group 26"/>
          <p:cNvGrpSpPr>
            <a:grpSpLocks/>
          </p:cNvGrpSpPr>
          <p:nvPr/>
        </p:nvGrpSpPr>
        <p:grpSpPr bwMode="auto">
          <a:xfrm>
            <a:off x="1087438" y="1612900"/>
            <a:ext cx="2135187" cy="3616325"/>
            <a:chOff x="3841" y="911"/>
            <a:chExt cx="1345" cy="2278"/>
          </a:xfrm>
        </p:grpSpPr>
        <p:sp>
          <p:nvSpPr>
            <p:cNvPr id="21529" name="Oval 27"/>
            <p:cNvSpPr>
              <a:spLocks noChangeArrowheads="1"/>
            </p:cNvSpPr>
            <p:nvPr/>
          </p:nvSpPr>
          <p:spPr bwMode="auto">
            <a:xfrm>
              <a:off x="3841" y="1374"/>
              <a:ext cx="1345" cy="1345"/>
            </a:xfrm>
            <a:prstGeom prst="ellipse">
              <a:avLst/>
            </a:prstGeom>
            <a:gradFill rotWithShape="0">
              <a:gsLst>
                <a:gs pos="0">
                  <a:srgbClr val="99CCFF"/>
                </a:gs>
                <a:gs pos="100000">
                  <a:srgbClr val="3C5064"/>
                </a:gs>
              </a:gsLst>
              <a:path path="shape">
                <a:fillToRect l="50000" t="50000" r="50000" b="50000"/>
              </a:path>
            </a:gradFill>
            <a:ln w="28575">
              <a:solidFill>
                <a:schemeClr val="tx1"/>
              </a:solidFill>
              <a:round/>
              <a:headEnd/>
              <a:tailEnd/>
            </a:ln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400"/>
            </a:p>
          </p:txBody>
        </p:sp>
        <p:sp>
          <p:nvSpPr>
            <p:cNvPr id="21530" name="Line 28"/>
            <p:cNvSpPr>
              <a:spLocks noChangeShapeType="1"/>
            </p:cNvSpPr>
            <p:nvPr/>
          </p:nvSpPr>
          <p:spPr bwMode="auto">
            <a:xfrm>
              <a:off x="4507" y="1097"/>
              <a:ext cx="0" cy="386"/>
            </a:xfrm>
            <a:prstGeom prst="line">
              <a:avLst/>
            </a:prstGeom>
            <a:noFill/>
            <a:ln w="12700">
              <a:solidFill>
                <a:srgbClr val="CC0000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31" name="Line 29"/>
            <p:cNvSpPr>
              <a:spLocks noChangeShapeType="1"/>
            </p:cNvSpPr>
            <p:nvPr/>
          </p:nvSpPr>
          <p:spPr bwMode="auto">
            <a:xfrm>
              <a:off x="4504" y="2722"/>
              <a:ext cx="0" cy="389"/>
            </a:xfrm>
            <a:prstGeom prst="line">
              <a:avLst/>
            </a:prstGeom>
            <a:noFill/>
            <a:ln w="9525">
              <a:solidFill>
                <a:srgbClr val="990033"/>
              </a:solidFill>
              <a:prstDash val="lgDashDot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1532" name="Text Box 30"/>
            <p:cNvSpPr txBox="1">
              <a:spLocks noChangeArrowheads="1"/>
            </p:cNvSpPr>
            <p:nvPr/>
          </p:nvSpPr>
          <p:spPr bwMode="auto">
            <a:xfrm>
              <a:off x="4234" y="911"/>
              <a:ext cx="29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b="1"/>
                <a:t>O</a:t>
              </a:r>
            </a:p>
          </p:txBody>
        </p:sp>
        <p:sp>
          <p:nvSpPr>
            <p:cNvPr id="21533" name="Text Box 31"/>
            <p:cNvSpPr txBox="1">
              <a:spLocks noChangeArrowheads="1"/>
            </p:cNvSpPr>
            <p:nvPr/>
          </p:nvSpPr>
          <p:spPr bwMode="auto">
            <a:xfrm>
              <a:off x="4195" y="2862"/>
              <a:ext cx="290" cy="32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lang="en-US" altLang="zh-CN" sz="2800" b="1"/>
                <a:t>O</a:t>
              </a:r>
            </a:p>
          </p:txBody>
        </p:sp>
      </p:grpSp>
      <p:sp>
        <p:nvSpPr>
          <p:cNvPr id="141344" name="Text Box 32"/>
          <p:cNvSpPr txBox="1">
            <a:spLocks noChangeArrowheads="1"/>
          </p:cNvSpPr>
          <p:nvPr/>
        </p:nvSpPr>
        <p:spPr bwMode="auto">
          <a:xfrm>
            <a:off x="2252663" y="2363788"/>
            <a:ext cx="44132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b="1">
                <a:solidFill>
                  <a:schemeClr val="bg1"/>
                </a:solidFill>
              </a:rPr>
              <a:t>N</a:t>
            </a:r>
          </a:p>
        </p:txBody>
      </p:sp>
      <p:sp>
        <p:nvSpPr>
          <p:cNvPr id="141345" name="Arc 33"/>
          <p:cNvSpPr>
            <a:spLocks/>
          </p:cNvSpPr>
          <p:nvPr/>
        </p:nvSpPr>
        <p:spPr bwMode="auto">
          <a:xfrm flipV="1">
            <a:off x="4565650" y="4097338"/>
            <a:ext cx="1330325" cy="1330325"/>
          </a:xfrm>
          <a:custGeom>
            <a:avLst/>
            <a:gdLst>
              <a:gd name="T0" fmla="*/ 630777356 w 43200"/>
              <a:gd name="T1" fmla="*/ 0 h 43200"/>
              <a:gd name="T2" fmla="*/ 603121931 w 43200"/>
              <a:gd name="T3" fmla="*/ 613551 h 43200"/>
              <a:gd name="T4" fmla="*/ 630777356 w 43200"/>
              <a:gd name="T5" fmla="*/ 630777356 h 432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00" h="43200" fill="none" extrusionOk="0">
                <a:moveTo>
                  <a:pt x="21600" y="0"/>
                </a:move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-1" y="10038"/>
                  <a:pt x="9103" y="527"/>
                  <a:pt x="20652" y="20"/>
                </a:cubicBezTo>
              </a:path>
              <a:path w="43200" h="43200" stroke="0" extrusionOk="0">
                <a:moveTo>
                  <a:pt x="21600" y="0"/>
                </a:move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-1" y="10038"/>
                  <a:pt x="9103" y="527"/>
                  <a:pt x="20652" y="20"/>
                </a:cubicBez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noFill/>
          <a:ln w="12700">
            <a:solidFill>
              <a:srgbClr val="A5002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1346" name="Arc 34"/>
          <p:cNvSpPr>
            <a:spLocks/>
          </p:cNvSpPr>
          <p:nvPr/>
        </p:nvSpPr>
        <p:spPr bwMode="auto">
          <a:xfrm flipV="1">
            <a:off x="1433513" y="2503488"/>
            <a:ext cx="1436687" cy="441325"/>
          </a:xfrm>
          <a:custGeom>
            <a:avLst/>
            <a:gdLst>
              <a:gd name="T0" fmla="*/ 33545112 w 43200"/>
              <a:gd name="T1" fmla="*/ 60886710 h 33987"/>
              <a:gd name="T2" fmla="*/ 1445348593 w 43200"/>
              <a:gd name="T3" fmla="*/ 74413197 h 33987"/>
              <a:gd name="T4" fmla="*/ 794490472 w 43200"/>
              <a:gd name="T5" fmla="*/ 47292271 h 33987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00" h="33987" fill="none" extrusionOk="0">
                <a:moveTo>
                  <a:pt x="911" y="27809"/>
                </a:moveTo>
                <a:cubicBezTo>
                  <a:pt x="307" y="25794"/>
                  <a:pt x="0" y="23703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26031"/>
                  <a:pt x="41836" y="30356"/>
                  <a:pt x="39295" y="33987"/>
                </a:cubicBezTo>
              </a:path>
              <a:path w="43200" h="33987" stroke="0" extrusionOk="0">
                <a:moveTo>
                  <a:pt x="911" y="27809"/>
                </a:moveTo>
                <a:cubicBezTo>
                  <a:pt x="307" y="25794"/>
                  <a:pt x="0" y="23703"/>
                  <a:pt x="0" y="21600"/>
                </a:cubicBezTo>
                <a:cubicBezTo>
                  <a:pt x="0" y="9670"/>
                  <a:pt x="9670" y="0"/>
                  <a:pt x="21600" y="0"/>
                </a:cubicBezTo>
                <a:cubicBezTo>
                  <a:pt x="33529" y="0"/>
                  <a:pt x="43200" y="9670"/>
                  <a:pt x="43200" y="21600"/>
                </a:cubicBezTo>
                <a:cubicBezTo>
                  <a:pt x="43200" y="26031"/>
                  <a:pt x="41836" y="30356"/>
                  <a:pt x="39295" y="33987"/>
                </a:cubicBezTo>
                <a:lnTo>
                  <a:pt x="21600" y="21600"/>
                </a:lnTo>
                <a:lnTo>
                  <a:pt x="911" y="27809"/>
                </a:lnTo>
                <a:close/>
              </a:path>
            </a:pathLst>
          </a:custGeom>
          <a:noFill/>
          <a:ln w="28575">
            <a:solidFill>
              <a:schemeClr val="bg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1347" name="Oval 35"/>
          <p:cNvSpPr>
            <a:spLocks noChangeArrowheads="1"/>
          </p:cNvSpPr>
          <p:nvPr/>
        </p:nvSpPr>
        <p:spPr bwMode="auto">
          <a:xfrm>
            <a:off x="2578100" y="2751138"/>
            <a:ext cx="252413" cy="252412"/>
          </a:xfrm>
          <a:prstGeom prst="ellipse">
            <a:avLst/>
          </a:prstGeom>
          <a:gradFill rotWithShape="0">
            <a:gsLst>
              <a:gs pos="0">
                <a:srgbClr val="FFFFCC"/>
              </a:gs>
              <a:gs pos="100000">
                <a:srgbClr val="464638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41348" name="Text Box 36"/>
          <p:cNvSpPr txBox="1">
            <a:spLocks noChangeArrowheads="1"/>
          </p:cNvSpPr>
          <p:nvPr/>
        </p:nvSpPr>
        <p:spPr bwMode="auto">
          <a:xfrm>
            <a:off x="7912100" y="1852613"/>
            <a:ext cx="8667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b="1">
                <a:solidFill>
                  <a:srgbClr val="A50021"/>
                </a:solidFill>
              </a:rPr>
              <a:t>(     )</a:t>
            </a:r>
          </a:p>
        </p:txBody>
      </p:sp>
      <p:sp>
        <p:nvSpPr>
          <p:cNvPr id="141349" name="Oval 37"/>
          <p:cNvSpPr>
            <a:spLocks noChangeArrowheads="1"/>
          </p:cNvSpPr>
          <p:nvPr/>
        </p:nvSpPr>
        <p:spPr bwMode="auto">
          <a:xfrm>
            <a:off x="803275" y="423863"/>
            <a:ext cx="265113" cy="265112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7" dur="500"/>
                                        <p:tgtEl>
                                          <p:spTgt spid="1413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413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133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3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41347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41347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 nodeType="clickPar">
                      <p:stCondLst>
                        <p:cond delay="indefinite"/>
                      </p:stCondLst>
                      <p:childTnLst>
                        <p:par>
                          <p:cTn id="2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1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3" presetClass="entr" presetSubtype="27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4132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4132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2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13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1" dur="500"/>
                                        <p:tgtEl>
                                          <p:spTgt spid="1413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 nodeType="clickPar">
                      <p:stCondLst>
                        <p:cond delay="indefinite"/>
                      </p:stCondLst>
                      <p:childTnLst>
                        <p:par>
                          <p:cTn id="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300"/>
                                        <p:tgtEl>
                                          <p:spTgt spid="1413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1" dur="500"/>
                                        <p:tgtEl>
                                          <p:spTgt spid="141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6" dur="500"/>
                                        <p:tgtEl>
                                          <p:spTgt spid="141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1" dur="500"/>
                                        <p:tgtEl>
                                          <p:spTgt spid="1413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 nodeType="clickPar">
                      <p:stCondLst>
                        <p:cond delay="indefinite"/>
                      </p:stCondLst>
                      <p:childTnLst>
                        <p:par>
                          <p:cTn id="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4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1413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 nodeType="clickPar">
                      <p:stCondLst>
                        <p:cond delay="indefinite"/>
                      </p:stCondLst>
                      <p:childTnLst>
                        <p:par>
                          <p:cTn id="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9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1" dur="500" fill="hold"/>
                                        <p:tgtEl>
                                          <p:spTgt spid="14133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72" dur="500" fill="hold"/>
                                        <p:tgtEl>
                                          <p:spTgt spid="14133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7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13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6" fill="hold" nodeType="clickPar">
                      <p:stCondLst>
                        <p:cond delay="indefinite"/>
                      </p:stCondLst>
                      <p:childTnLst>
                        <p:par>
                          <p:cTn id="7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413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1413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1413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5" dur="500" fill="hold"/>
                                        <p:tgtEl>
                                          <p:spTgt spid="141330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6" dur="500" fill="hold"/>
                                        <p:tgtEl>
                                          <p:spTgt spid="141330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8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13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 nodeType="clickPar">
                      <p:stCondLst>
                        <p:cond delay="indefinite"/>
                      </p:stCondLst>
                      <p:childTnLst>
                        <p:par>
                          <p:cTn id="10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3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1413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1324" grpId="0" autoUpdateAnimBg="0"/>
      <p:bldP spid="141325" grpId="0" animBg="1"/>
      <p:bldP spid="141326" grpId="0" autoUpdateAnimBg="0"/>
      <p:bldP spid="141327" grpId="0" animBg="1"/>
      <p:bldP spid="141328" grpId="0" animBg="1"/>
      <p:bldP spid="141329" grpId="0" animBg="1"/>
      <p:bldP spid="141330" grpId="0" animBg="1"/>
      <p:bldP spid="141331" grpId="0" animBg="1"/>
      <p:bldP spid="141332" grpId="0" autoUpdateAnimBg="0"/>
      <p:bldP spid="141333" grpId="0" animBg="1"/>
      <p:bldP spid="141334" grpId="0" animBg="1"/>
      <p:bldP spid="141335" grpId="0" autoUpdateAnimBg="0"/>
      <p:bldP spid="141336" grpId="0" animBg="1"/>
      <p:bldP spid="141337" grpId="0" build="p" autoUpdateAnimBg="0"/>
      <p:bldP spid="141344" grpId="0" autoUpdateAnimBg="0"/>
      <p:bldP spid="141345" grpId="0" animBg="1"/>
      <p:bldP spid="141346" grpId="0" animBg="1"/>
      <p:bldP spid="141347" grpId="0" animBg="1"/>
      <p:bldP spid="141348" grpId="0" autoUpdateAnimBg="0"/>
      <p:bldP spid="141349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A6F022AA-7A60-4CA0-AB85-2DCB50F4A6FD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20</a:t>
            </a:fld>
            <a:endParaRPr lang="en-US" altLang="zh-CN" sz="1400" smtClean="0">
              <a:solidFill>
                <a:schemeClr val="bg2"/>
              </a:solidFill>
            </a:endParaRPr>
          </a:p>
        </p:txBody>
      </p:sp>
      <p:sp>
        <p:nvSpPr>
          <p:cNvPr id="140290" name="Text Box 2" descr="紫色网格"/>
          <p:cNvSpPr txBox="1">
            <a:spLocks noChangeArrowheads="1"/>
          </p:cNvSpPr>
          <p:nvPr/>
        </p:nvSpPr>
        <p:spPr bwMode="auto">
          <a:xfrm>
            <a:off x="762000" y="407988"/>
            <a:ext cx="2876550" cy="7016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4000" b="1">
                <a:latin typeface="黑体" pitchFamily="2" charset="-122"/>
                <a:ea typeface="黑体" pitchFamily="2" charset="-122"/>
              </a:rPr>
              <a:t>4 </a:t>
            </a:r>
            <a:r>
              <a:rPr lang="zh-CN" altLang="en-US" sz="4000" b="1">
                <a:latin typeface="黑体" pitchFamily="2" charset="-122"/>
                <a:ea typeface="黑体" pitchFamily="2" charset="-122"/>
              </a:rPr>
              <a:t>圆环</a:t>
            </a:r>
          </a:p>
        </p:txBody>
      </p:sp>
      <p:sp>
        <p:nvSpPr>
          <p:cNvPr id="140291" name="Text Box 3"/>
          <p:cNvSpPr txBox="1">
            <a:spLocks noChangeArrowheads="1"/>
          </p:cNvSpPr>
          <p:nvPr/>
        </p:nvSpPr>
        <p:spPr bwMode="auto">
          <a:xfrm>
            <a:off x="5341938" y="728663"/>
            <a:ext cx="2446337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>
              <a:defRPr/>
            </a:pPr>
            <a:r>
              <a:rPr kumimoji="1" lang="zh-CN" altLang="en-US" sz="3600" b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itchFamily="2" charset="-122"/>
                <a:sym typeface="Marlett" pitchFamily="2" charset="2"/>
              </a:rPr>
              <a:t>形成</a:t>
            </a:r>
            <a:endParaRPr kumimoji="1" lang="zh-CN" altLang="en-US" sz="3600" b="1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ea typeface="黑体" pitchFamily="2" charset="-122"/>
            </a:endParaRPr>
          </a:p>
        </p:txBody>
      </p:sp>
      <p:sp>
        <p:nvSpPr>
          <p:cNvPr id="140292" name="Oval 4"/>
          <p:cNvSpPr>
            <a:spLocks noChangeArrowheads="1"/>
          </p:cNvSpPr>
          <p:nvPr/>
        </p:nvSpPr>
        <p:spPr bwMode="auto">
          <a:xfrm>
            <a:off x="4994275" y="955675"/>
            <a:ext cx="265113" cy="265113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grpSp>
        <p:nvGrpSpPr>
          <p:cNvPr id="140293" name="Group 5"/>
          <p:cNvGrpSpPr>
            <a:grpSpLocks/>
          </p:cNvGrpSpPr>
          <p:nvPr/>
        </p:nvGrpSpPr>
        <p:grpSpPr bwMode="auto">
          <a:xfrm>
            <a:off x="4799013" y="3216275"/>
            <a:ext cx="1552575" cy="1552575"/>
            <a:chOff x="2645" y="1455"/>
            <a:chExt cx="767" cy="767"/>
          </a:xfrm>
        </p:grpSpPr>
        <p:grpSp>
          <p:nvGrpSpPr>
            <p:cNvPr id="22546" name="Group 6"/>
            <p:cNvGrpSpPr>
              <a:grpSpLocks/>
            </p:cNvGrpSpPr>
            <p:nvPr/>
          </p:nvGrpSpPr>
          <p:grpSpPr bwMode="auto">
            <a:xfrm>
              <a:off x="2645" y="1478"/>
              <a:ext cx="700" cy="711"/>
              <a:chOff x="2645" y="1478"/>
              <a:chExt cx="700" cy="711"/>
            </a:xfrm>
          </p:grpSpPr>
          <p:sp>
            <p:nvSpPr>
              <p:cNvPr id="22549" name="Oval 7"/>
              <p:cNvSpPr>
                <a:spLocks noChangeArrowheads="1"/>
              </p:cNvSpPr>
              <p:nvPr/>
            </p:nvSpPr>
            <p:spPr bwMode="auto">
              <a:xfrm>
                <a:off x="2734" y="1577"/>
                <a:ext cx="500" cy="500"/>
              </a:xfrm>
              <a:prstGeom prst="ellipse">
                <a:avLst/>
              </a:prstGeom>
              <a:solidFill>
                <a:schemeClr val="accent1">
                  <a:alpha val="50195"/>
                </a:schemeClr>
              </a:solidFill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400"/>
              </a:p>
            </p:txBody>
          </p:sp>
          <p:sp>
            <p:nvSpPr>
              <p:cNvPr id="22550" name="Line 8"/>
              <p:cNvSpPr>
                <a:spLocks noChangeShapeType="1"/>
              </p:cNvSpPr>
              <p:nvPr/>
            </p:nvSpPr>
            <p:spPr bwMode="auto">
              <a:xfrm>
                <a:off x="2989" y="1478"/>
                <a:ext cx="0" cy="711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2551" name="Line 9"/>
              <p:cNvSpPr>
                <a:spLocks noChangeShapeType="1"/>
              </p:cNvSpPr>
              <p:nvPr/>
            </p:nvSpPr>
            <p:spPr bwMode="auto">
              <a:xfrm>
                <a:off x="2645" y="1822"/>
                <a:ext cx="700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sp>
          <p:nvSpPr>
            <p:cNvPr id="22547" name="Line 10"/>
            <p:cNvSpPr>
              <a:spLocks noChangeShapeType="1"/>
            </p:cNvSpPr>
            <p:nvPr/>
          </p:nvSpPr>
          <p:spPr bwMode="auto">
            <a:xfrm>
              <a:off x="3412" y="1455"/>
              <a:ext cx="0" cy="767"/>
            </a:xfrm>
            <a:prstGeom prst="line">
              <a:avLst/>
            </a:prstGeom>
            <a:noFill/>
            <a:ln w="9525">
              <a:solidFill>
                <a:srgbClr val="990033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48" name="AutoShape 11"/>
            <p:cNvSpPr>
              <a:spLocks noChangeArrowheads="1"/>
            </p:cNvSpPr>
            <p:nvPr/>
          </p:nvSpPr>
          <p:spPr bwMode="auto">
            <a:xfrm>
              <a:off x="3260" y="1539"/>
              <a:ext cx="140" cy="122"/>
            </a:xfrm>
            <a:prstGeom prst="curvedRightArrow">
              <a:avLst>
                <a:gd name="adj1" fmla="val 20000"/>
                <a:gd name="adj2" fmla="val 40000"/>
                <a:gd name="adj3" fmla="val 38251"/>
              </a:avLst>
            </a:prstGeom>
            <a:solidFill>
              <a:srgbClr val="FFFF99">
                <a:alpha val="50195"/>
              </a:srgbClr>
            </a:solidFill>
            <a:ln w="19050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400"/>
            </a:p>
          </p:txBody>
        </p:sp>
      </p:grpSp>
      <p:sp>
        <p:nvSpPr>
          <p:cNvPr id="140300" name="Text Box 12"/>
          <p:cNvSpPr txBox="1">
            <a:spLocks noChangeArrowheads="1"/>
          </p:cNvSpPr>
          <p:nvPr/>
        </p:nvSpPr>
        <p:spPr bwMode="auto">
          <a:xfrm>
            <a:off x="4702175" y="1449388"/>
            <a:ext cx="4116388" cy="13731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b="1">
                <a:ea typeface="黑体" pitchFamily="2" charset="-122"/>
              </a:rPr>
              <a:t>圆绕与其共面、但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b="1">
                <a:ea typeface="黑体" pitchFamily="2" charset="-122"/>
              </a:rPr>
              <a:t>不通过圆心的轴线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b="1">
                <a:ea typeface="黑体" pitchFamily="2" charset="-122"/>
              </a:rPr>
              <a:t>旋转而成</a:t>
            </a:r>
          </a:p>
        </p:txBody>
      </p:sp>
      <p:grpSp>
        <p:nvGrpSpPr>
          <p:cNvPr id="22536" name="Group 13"/>
          <p:cNvGrpSpPr>
            <a:grpSpLocks/>
          </p:cNvGrpSpPr>
          <p:nvPr/>
        </p:nvGrpSpPr>
        <p:grpSpPr bwMode="auto">
          <a:xfrm>
            <a:off x="787400" y="2254250"/>
            <a:ext cx="2493963" cy="1881188"/>
            <a:chOff x="517" y="993"/>
            <a:chExt cx="1571" cy="1185"/>
          </a:xfrm>
        </p:grpSpPr>
        <p:pic>
          <p:nvPicPr>
            <p:cNvPr id="22543" name="Picture 14"/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7" y="993"/>
              <a:ext cx="1571" cy="10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2544" name="Line 15"/>
            <p:cNvSpPr>
              <a:spLocks noChangeShapeType="1"/>
            </p:cNvSpPr>
            <p:nvPr/>
          </p:nvSpPr>
          <p:spPr bwMode="auto">
            <a:xfrm>
              <a:off x="1277" y="1167"/>
              <a:ext cx="0" cy="533"/>
            </a:xfrm>
            <a:prstGeom prst="line">
              <a:avLst/>
            </a:prstGeom>
            <a:noFill/>
            <a:ln w="9525">
              <a:solidFill>
                <a:srgbClr val="990033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2545" name="Line 16"/>
            <p:cNvSpPr>
              <a:spLocks noChangeShapeType="1"/>
            </p:cNvSpPr>
            <p:nvPr/>
          </p:nvSpPr>
          <p:spPr bwMode="auto">
            <a:xfrm>
              <a:off x="1266" y="2000"/>
              <a:ext cx="0" cy="178"/>
            </a:xfrm>
            <a:prstGeom prst="line">
              <a:avLst/>
            </a:prstGeom>
            <a:noFill/>
            <a:ln w="9525">
              <a:solidFill>
                <a:srgbClr val="990033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40305" name="Line 17"/>
          <p:cNvSpPr>
            <a:spLocks noChangeShapeType="1"/>
          </p:cNvSpPr>
          <p:nvPr/>
        </p:nvSpPr>
        <p:spPr bwMode="auto">
          <a:xfrm flipV="1">
            <a:off x="2011363" y="2124075"/>
            <a:ext cx="493712" cy="4762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0306" name="Text Box 18"/>
          <p:cNvSpPr txBox="1">
            <a:spLocks noChangeArrowheads="1"/>
          </p:cNvSpPr>
          <p:nvPr/>
        </p:nvSpPr>
        <p:spPr bwMode="auto">
          <a:xfrm>
            <a:off x="2555875" y="1746250"/>
            <a:ext cx="1516063" cy="5794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b="1">
                <a:ea typeface="黑体" pitchFamily="2" charset="-122"/>
              </a:rPr>
              <a:t>轴线</a:t>
            </a:r>
          </a:p>
        </p:txBody>
      </p:sp>
      <p:sp>
        <p:nvSpPr>
          <p:cNvPr id="140307" name="Line 19"/>
          <p:cNvSpPr>
            <a:spLocks noChangeShapeType="1"/>
          </p:cNvSpPr>
          <p:nvPr/>
        </p:nvSpPr>
        <p:spPr bwMode="auto">
          <a:xfrm>
            <a:off x="2241550" y="3711575"/>
            <a:ext cx="387350" cy="652463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0308" name="Text Box 20"/>
          <p:cNvSpPr txBox="1">
            <a:spLocks noChangeArrowheads="1"/>
          </p:cNvSpPr>
          <p:nvPr/>
        </p:nvSpPr>
        <p:spPr bwMode="auto">
          <a:xfrm>
            <a:off x="2413000" y="4233863"/>
            <a:ext cx="2054225" cy="5794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b="1">
                <a:ea typeface="黑体" pitchFamily="2" charset="-122"/>
              </a:rPr>
              <a:t>圆环面</a:t>
            </a:r>
          </a:p>
        </p:txBody>
      </p:sp>
      <p:sp>
        <p:nvSpPr>
          <p:cNvPr id="24" name="Text Box 35" descr="绿色大理石"/>
          <p:cNvSpPr txBox="1">
            <a:spLocks noChangeArrowheads="1"/>
          </p:cNvSpPr>
          <p:nvPr/>
        </p:nvSpPr>
        <p:spPr bwMode="auto">
          <a:xfrm>
            <a:off x="547687" y="5526969"/>
            <a:ext cx="8270875" cy="5232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blipFill dpi="0" rotWithShape="0">
                  <a:blip/>
                  <a:srcRect/>
                  <a:tile tx="0" ty="0" sx="100000" sy="100000" flip="none" algn="tl"/>
                </a:blip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b="1" dirty="0" smtClean="0">
                <a:ea typeface="黑体" pitchFamily="2" charset="-122"/>
              </a:rPr>
              <a:t>过圆环面内任意一点，都能做一个垂直于轴线的圆。</a:t>
            </a:r>
            <a:endParaRPr lang="zh-CN" altLang="en-US" sz="2800" b="1" dirty="0">
              <a:ea typeface="黑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40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403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" dur="500"/>
                                        <p:tgtEl>
                                          <p:spTgt spid="14030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1" dur="500"/>
                                        <p:tgtEl>
                                          <p:spTgt spid="14030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5" dur="500"/>
                                        <p:tgtEl>
                                          <p:spTgt spid="14030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 nodeType="clickPar">
                      <p:stCondLst>
                        <p:cond delay="indefinite"/>
                      </p:stCondLst>
                      <p:childTnLst>
                        <p:par>
                          <p:cTn id="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8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30" dur="500"/>
                                        <p:tgtEl>
                                          <p:spTgt spid="1402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40291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 nodeType="clickPar">
                      <p:stCondLst>
                        <p:cond delay="indefinite"/>
                      </p:stCondLst>
                      <p:childTnLst>
                        <p:par>
                          <p:cTn id="3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wd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0" dur="300"/>
                                        <p:tgtEl>
                                          <p:spTgt spid="1403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02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5" dur="500"/>
                                        <p:tgtEl>
                                          <p:spTgt spid="1402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75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0290" grpId="0"/>
      <p:bldP spid="140291" grpId="0" build="p" autoUpdateAnimBg="0"/>
      <p:bldP spid="140292" grpId="0" animBg="1"/>
      <p:bldP spid="140300" grpId="0" autoUpdateAnimBg="0"/>
      <p:bldP spid="140305" grpId="0" animBg="1"/>
      <p:bldP spid="140306" grpId="0" build="p" autoUpdateAnimBg="0" advAuto="0"/>
      <p:bldP spid="140307" grpId="0" animBg="1"/>
      <p:bldP spid="140308" grpId="0" build="p" autoUpdateAnimBg="0" advAuto="0"/>
      <p:bldP spid="24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608BB457-03E3-463D-A26A-2C692DA2046D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21</a:t>
            </a:fld>
            <a:endParaRPr lang="en-US" altLang="zh-CN" sz="1400" smtClean="0">
              <a:solidFill>
                <a:schemeClr val="bg2"/>
              </a:solidFill>
            </a:endParaRPr>
          </a:p>
        </p:txBody>
      </p:sp>
      <p:grpSp>
        <p:nvGrpSpPr>
          <p:cNvPr id="23555" name="Group 2"/>
          <p:cNvGrpSpPr>
            <a:grpSpLocks/>
          </p:cNvGrpSpPr>
          <p:nvPr/>
        </p:nvGrpSpPr>
        <p:grpSpPr bwMode="auto">
          <a:xfrm>
            <a:off x="258763" y="1519238"/>
            <a:ext cx="3219450" cy="3081337"/>
            <a:chOff x="163" y="957"/>
            <a:chExt cx="2028" cy="1941"/>
          </a:xfrm>
        </p:grpSpPr>
        <p:grpSp>
          <p:nvGrpSpPr>
            <p:cNvPr id="23613" name="Group 3"/>
            <p:cNvGrpSpPr>
              <a:grpSpLocks/>
            </p:cNvGrpSpPr>
            <p:nvPr/>
          </p:nvGrpSpPr>
          <p:grpSpPr bwMode="auto">
            <a:xfrm>
              <a:off x="163" y="957"/>
              <a:ext cx="2028" cy="1907"/>
              <a:chOff x="163" y="957"/>
              <a:chExt cx="2028" cy="1907"/>
            </a:xfrm>
          </p:grpSpPr>
          <p:sp>
            <p:nvSpPr>
              <p:cNvPr id="23615" name="Freeform 4"/>
              <p:cNvSpPr>
                <a:spLocks/>
              </p:cNvSpPr>
              <p:nvPr/>
            </p:nvSpPr>
            <p:spPr bwMode="auto">
              <a:xfrm>
                <a:off x="203" y="2301"/>
                <a:ext cx="1944" cy="563"/>
              </a:xfrm>
              <a:custGeom>
                <a:avLst/>
                <a:gdLst>
                  <a:gd name="T0" fmla="*/ 836 w 2147"/>
                  <a:gd name="T1" fmla="*/ 0 h 622"/>
                  <a:gd name="T2" fmla="*/ 0 w 2147"/>
                  <a:gd name="T3" fmla="*/ 308 h 622"/>
                  <a:gd name="T4" fmla="*/ 785 w 2147"/>
                  <a:gd name="T5" fmla="*/ 462 h 622"/>
                  <a:gd name="T6" fmla="*/ 1594 w 2147"/>
                  <a:gd name="T7" fmla="*/ 189 h 622"/>
                  <a:gd name="T8" fmla="*/ 836 w 2147"/>
                  <a:gd name="T9" fmla="*/ 0 h 62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147" h="622">
                    <a:moveTo>
                      <a:pt x="1125" y="0"/>
                    </a:moveTo>
                    <a:lnTo>
                      <a:pt x="0" y="415"/>
                    </a:lnTo>
                    <a:lnTo>
                      <a:pt x="1058" y="622"/>
                    </a:lnTo>
                    <a:lnTo>
                      <a:pt x="2147" y="255"/>
                    </a:lnTo>
                    <a:lnTo>
                      <a:pt x="1125" y="0"/>
                    </a:lnTo>
                    <a:close/>
                  </a:path>
                </a:pathLst>
              </a:custGeom>
              <a:solidFill>
                <a:srgbClr val="CCFF99">
                  <a:alpha val="50195"/>
                </a:srgbClr>
              </a:solidFill>
              <a:ln w="28575" cmpd="sng">
                <a:solidFill>
                  <a:srgbClr val="CCFF99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616" name="Freeform 5"/>
              <p:cNvSpPr>
                <a:spLocks/>
              </p:cNvSpPr>
              <p:nvPr/>
            </p:nvSpPr>
            <p:spPr bwMode="auto">
              <a:xfrm>
                <a:off x="1202" y="957"/>
                <a:ext cx="956" cy="1578"/>
              </a:xfrm>
              <a:custGeom>
                <a:avLst/>
                <a:gdLst>
                  <a:gd name="T0" fmla="*/ 0 w 1056"/>
                  <a:gd name="T1" fmla="*/ 0 h 2156"/>
                  <a:gd name="T2" fmla="*/ 0 w 1056"/>
                  <a:gd name="T3" fmla="*/ 710 h 2156"/>
                  <a:gd name="T4" fmla="*/ 783 w 1056"/>
                  <a:gd name="T5" fmla="*/ 845 h 2156"/>
                  <a:gd name="T6" fmla="*/ 783 w 1056"/>
                  <a:gd name="T7" fmla="*/ 135 h 2156"/>
                  <a:gd name="T8" fmla="*/ 0 w 1056"/>
                  <a:gd name="T9" fmla="*/ 0 h 215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56" h="2156">
                    <a:moveTo>
                      <a:pt x="0" y="0"/>
                    </a:moveTo>
                    <a:lnTo>
                      <a:pt x="0" y="1811"/>
                    </a:lnTo>
                    <a:lnTo>
                      <a:pt x="1056" y="2156"/>
                    </a:lnTo>
                    <a:lnTo>
                      <a:pt x="1056" y="345"/>
                    </a:lnTo>
                    <a:lnTo>
                      <a:pt x="0" y="0"/>
                    </a:lnTo>
                    <a:close/>
                  </a:path>
                </a:pathLst>
              </a:custGeom>
              <a:solidFill>
                <a:srgbClr val="FFFF99">
                  <a:alpha val="50195"/>
                </a:srgbClr>
              </a:solidFill>
              <a:ln w="28575" cmpd="sng">
                <a:solidFill>
                  <a:srgbClr val="FFFF99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3617" name="Freeform 6"/>
              <p:cNvSpPr>
                <a:spLocks/>
              </p:cNvSpPr>
              <p:nvPr/>
            </p:nvSpPr>
            <p:spPr bwMode="auto">
              <a:xfrm>
                <a:off x="196" y="959"/>
                <a:ext cx="1016" cy="1719"/>
              </a:xfrm>
              <a:custGeom>
                <a:avLst/>
                <a:gdLst>
                  <a:gd name="T0" fmla="*/ 0 w 1123"/>
                  <a:gd name="T1" fmla="*/ 285 h 1899"/>
                  <a:gd name="T2" fmla="*/ 831 w 1123"/>
                  <a:gd name="T3" fmla="*/ 0 h 1899"/>
                  <a:gd name="T4" fmla="*/ 831 w 1123"/>
                  <a:gd name="T5" fmla="*/ 1088 h 1899"/>
                  <a:gd name="T6" fmla="*/ 1 w 1123"/>
                  <a:gd name="T7" fmla="*/ 1409 h 1899"/>
                  <a:gd name="T8" fmla="*/ 0 w 1123"/>
                  <a:gd name="T9" fmla="*/ 285 h 189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123" h="1899">
                    <a:moveTo>
                      <a:pt x="0" y="384"/>
                    </a:moveTo>
                    <a:lnTo>
                      <a:pt x="1123" y="0"/>
                    </a:lnTo>
                    <a:lnTo>
                      <a:pt x="1123" y="1467"/>
                    </a:lnTo>
                    <a:lnTo>
                      <a:pt x="1" y="1899"/>
                    </a:lnTo>
                    <a:lnTo>
                      <a:pt x="0" y="384"/>
                    </a:lnTo>
                    <a:close/>
                  </a:path>
                </a:pathLst>
              </a:custGeom>
              <a:solidFill>
                <a:srgbClr val="CCFFCC">
                  <a:alpha val="50195"/>
                </a:srgbClr>
              </a:solidFill>
              <a:ln w="28575" cmpd="sng">
                <a:solidFill>
                  <a:srgbClr val="CCFFCC"/>
                </a:solidFill>
                <a:round/>
                <a:headEnd/>
                <a:tailEnd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146439" name="Text Box 7"/>
              <p:cNvSpPr txBox="1">
                <a:spLocks noChangeArrowheads="1"/>
              </p:cNvSpPr>
              <p:nvPr/>
            </p:nvSpPr>
            <p:spPr bwMode="auto">
              <a:xfrm>
                <a:off x="163" y="1248"/>
                <a:ext cx="301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>
                  <a:defRPr/>
                </a:pPr>
                <a:r>
                  <a:rPr kumimoji="1" lang="en-US" altLang="zh-CN" sz="3200" b="1">
                    <a:solidFill>
                      <a:srgbClr val="000066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ea typeface="隶书" pitchFamily="49" charset="-122"/>
                  </a:rPr>
                  <a:t>V</a:t>
                </a:r>
              </a:p>
            </p:txBody>
          </p:sp>
          <p:sp>
            <p:nvSpPr>
              <p:cNvPr id="146440" name="Text Box 8"/>
              <p:cNvSpPr txBox="1">
                <a:spLocks noChangeArrowheads="1"/>
              </p:cNvSpPr>
              <p:nvPr/>
            </p:nvSpPr>
            <p:spPr bwMode="auto">
              <a:xfrm>
                <a:off x="1819" y="1133"/>
                <a:ext cx="372" cy="365"/>
              </a:xfrm>
              <a:prstGeom prst="rect">
                <a:avLst/>
              </a:prstGeom>
              <a:noFill/>
              <a:ln>
                <a:noFill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chemeClr val="tx1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>
                <a:spAutoFit/>
              </a:bodyPr>
              <a:lstStyle/>
              <a:p>
                <a:pPr algn="l">
                  <a:defRPr/>
                </a:pPr>
                <a:r>
                  <a:rPr kumimoji="1" lang="en-US" altLang="zh-CN" sz="3200" b="1">
                    <a:solidFill>
                      <a:srgbClr val="000066"/>
                    </a:solidFill>
                    <a:effectLst>
                      <a:outerShdw blurRad="38100" dist="38100" dir="2700000" algn="tl">
                        <a:srgbClr val="C0C0C0"/>
                      </a:outerShdw>
                    </a:effectLst>
                    <a:ea typeface="隶书" pitchFamily="49" charset="-122"/>
                  </a:rPr>
                  <a:t>W</a:t>
                </a:r>
              </a:p>
            </p:txBody>
          </p:sp>
        </p:grpSp>
        <p:sp>
          <p:nvSpPr>
            <p:cNvPr id="146441" name="Text Box 9"/>
            <p:cNvSpPr txBox="1">
              <a:spLocks noChangeArrowheads="1"/>
            </p:cNvSpPr>
            <p:nvPr/>
          </p:nvSpPr>
          <p:spPr bwMode="auto">
            <a:xfrm>
              <a:off x="993" y="2533"/>
              <a:ext cx="315" cy="365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>
              <a:spAutoFit/>
            </a:bodyPr>
            <a:lstStyle/>
            <a:p>
              <a:pPr algn="l">
                <a:defRPr/>
              </a:pPr>
              <a:r>
                <a:rPr kumimoji="1" lang="en-US" altLang="zh-CN" sz="3200" b="1">
                  <a:solidFill>
                    <a:srgbClr val="000066"/>
                  </a:solidFill>
                  <a:effectLst>
                    <a:outerShdw blurRad="38100" dist="38100" dir="2700000" algn="tl">
                      <a:srgbClr val="C0C0C0"/>
                    </a:outerShdw>
                  </a:effectLst>
                  <a:ea typeface="隶书" pitchFamily="49" charset="-122"/>
                </a:rPr>
                <a:t>H</a:t>
              </a:r>
            </a:p>
          </p:txBody>
        </p:sp>
      </p:grpSp>
      <p:sp>
        <p:nvSpPr>
          <p:cNvPr id="146442" name="Text Box 10"/>
          <p:cNvSpPr txBox="1">
            <a:spLocks noChangeArrowheads="1"/>
          </p:cNvSpPr>
          <p:nvPr/>
        </p:nvSpPr>
        <p:spPr bwMode="auto">
          <a:xfrm>
            <a:off x="1036638" y="341313"/>
            <a:ext cx="3090862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>
              <a:defRPr/>
            </a:pPr>
            <a:r>
              <a:rPr kumimoji="1" lang="zh-CN" altLang="en-US" sz="3600" b="1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itchFamily="2" charset="-122"/>
                <a:sym typeface="Marlett" pitchFamily="2" charset="2"/>
              </a:rPr>
              <a:t>圆环的投影</a:t>
            </a:r>
            <a:endParaRPr kumimoji="1" lang="zh-CN" altLang="en-US" sz="3600" b="1">
              <a:effectLst>
                <a:outerShdw blurRad="38100" dist="38100" dir="2700000" algn="tl">
                  <a:srgbClr val="C0C0C0"/>
                </a:outerShdw>
              </a:effectLst>
              <a:ea typeface="黑体" pitchFamily="2" charset="-122"/>
            </a:endParaRPr>
          </a:p>
        </p:txBody>
      </p:sp>
      <p:sp>
        <p:nvSpPr>
          <p:cNvPr id="146443" name="Oval 11"/>
          <p:cNvSpPr>
            <a:spLocks noChangeArrowheads="1"/>
          </p:cNvSpPr>
          <p:nvPr/>
        </p:nvSpPr>
        <p:spPr bwMode="auto">
          <a:xfrm>
            <a:off x="681038" y="547688"/>
            <a:ext cx="265112" cy="265112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grpSp>
        <p:nvGrpSpPr>
          <p:cNvPr id="23558" name="Group 12"/>
          <p:cNvGrpSpPr>
            <a:grpSpLocks/>
          </p:cNvGrpSpPr>
          <p:nvPr/>
        </p:nvGrpSpPr>
        <p:grpSpPr bwMode="auto">
          <a:xfrm>
            <a:off x="839788" y="2370138"/>
            <a:ext cx="2103437" cy="1585912"/>
            <a:chOff x="517" y="993"/>
            <a:chExt cx="1571" cy="1185"/>
          </a:xfrm>
        </p:grpSpPr>
        <p:pic>
          <p:nvPicPr>
            <p:cNvPr id="23610" name="Picture 13"/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17" y="993"/>
              <a:ext cx="1571" cy="1096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</p:pic>
        <p:sp>
          <p:nvSpPr>
            <p:cNvPr id="23611" name="Line 14"/>
            <p:cNvSpPr>
              <a:spLocks noChangeShapeType="1"/>
            </p:cNvSpPr>
            <p:nvPr/>
          </p:nvSpPr>
          <p:spPr bwMode="auto">
            <a:xfrm>
              <a:off x="1277" y="1167"/>
              <a:ext cx="0" cy="533"/>
            </a:xfrm>
            <a:prstGeom prst="line">
              <a:avLst/>
            </a:prstGeom>
            <a:noFill/>
            <a:ln w="9525">
              <a:solidFill>
                <a:srgbClr val="990033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12" name="Line 15"/>
            <p:cNvSpPr>
              <a:spLocks noChangeShapeType="1"/>
            </p:cNvSpPr>
            <p:nvPr/>
          </p:nvSpPr>
          <p:spPr bwMode="auto">
            <a:xfrm>
              <a:off x="1266" y="2000"/>
              <a:ext cx="0" cy="178"/>
            </a:xfrm>
            <a:prstGeom prst="line">
              <a:avLst/>
            </a:prstGeom>
            <a:noFill/>
            <a:ln w="9525">
              <a:solidFill>
                <a:srgbClr val="990033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46448" name="AutoShape 16"/>
          <p:cNvSpPr>
            <a:spLocks noChangeArrowheads="1"/>
          </p:cNvSpPr>
          <p:nvPr/>
        </p:nvSpPr>
        <p:spPr bwMode="auto">
          <a:xfrm>
            <a:off x="1774825" y="2049463"/>
            <a:ext cx="358775" cy="323850"/>
          </a:xfrm>
          <a:prstGeom prst="downArrow">
            <a:avLst>
              <a:gd name="adj1" fmla="val 50000"/>
              <a:gd name="adj2" fmla="val 25000"/>
            </a:avLst>
          </a:prstGeom>
          <a:gradFill rotWithShape="0">
            <a:gsLst>
              <a:gs pos="0">
                <a:srgbClr val="764747"/>
              </a:gs>
              <a:gs pos="100000">
                <a:srgbClr val="FF9999"/>
              </a:gs>
            </a:gsLst>
            <a:lin ang="5400000" scaled="1"/>
          </a:gra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 vert="eaVert"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46449" name="AutoShape 17"/>
          <p:cNvSpPr>
            <a:spLocks noChangeArrowheads="1"/>
          </p:cNvSpPr>
          <p:nvPr/>
        </p:nvSpPr>
        <p:spPr bwMode="auto">
          <a:xfrm rot="7054636">
            <a:off x="3062287" y="3387726"/>
            <a:ext cx="358775" cy="323850"/>
          </a:xfrm>
          <a:prstGeom prst="downArrow">
            <a:avLst>
              <a:gd name="adj1" fmla="val 50000"/>
              <a:gd name="adj2" fmla="val 25000"/>
            </a:avLst>
          </a:prstGeom>
          <a:gradFill rotWithShape="0">
            <a:gsLst>
              <a:gs pos="0">
                <a:srgbClr val="FF9999"/>
              </a:gs>
              <a:gs pos="100000">
                <a:srgbClr val="764747"/>
              </a:gs>
            </a:gsLst>
            <a:lin ang="0" scaled="1"/>
          </a:gra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 vert="eaVert"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46450" name="AutoShape 18"/>
          <p:cNvSpPr>
            <a:spLocks noChangeArrowheads="1"/>
          </p:cNvSpPr>
          <p:nvPr/>
        </p:nvSpPr>
        <p:spPr bwMode="auto">
          <a:xfrm rot="-6534470">
            <a:off x="496887" y="3522663"/>
            <a:ext cx="358775" cy="323850"/>
          </a:xfrm>
          <a:prstGeom prst="downArrow">
            <a:avLst>
              <a:gd name="adj1" fmla="val 50000"/>
              <a:gd name="adj2" fmla="val 25000"/>
            </a:avLst>
          </a:prstGeom>
          <a:gradFill rotWithShape="0">
            <a:gsLst>
              <a:gs pos="0">
                <a:srgbClr val="764747"/>
              </a:gs>
              <a:gs pos="100000">
                <a:srgbClr val="FF9999"/>
              </a:gs>
            </a:gsLst>
            <a:lin ang="0" scaled="1"/>
          </a:gradFill>
          <a:ln w="28575">
            <a:solidFill>
              <a:schemeClr val="tx1"/>
            </a:solidFill>
            <a:miter lim="800000"/>
            <a:headEnd/>
            <a:tailEnd/>
          </a:ln>
          <a:effectLst>
            <a:outerShdw dist="35921" dir="2700000" algn="ctr" rotWithShape="0">
              <a:srgbClr val="808080"/>
            </a:outerShdw>
          </a:effectLst>
        </p:spPr>
        <p:txBody>
          <a:bodyPr vert="eaVert"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46451" name="Line 19"/>
          <p:cNvSpPr>
            <a:spLocks noChangeShapeType="1"/>
          </p:cNvSpPr>
          <p:nvPr/>
        </p:nvSpPr>
        <p:spPr bwMode="auto">
          <a:xfrm>
            <a:off x="3497263" y="4498975"/>
            <a:ext cx="2840037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6452" name="Line 20"/>
          <p:cNvSpPr>
            <a:spLocks noChangeShapeType="1"/>
          </p:cNvSpPr>
          <p:nvPr/>
        </p:nvSpPr>
        <p:spPr bwMode="auto">
          <a:xfrm>
            <a:off x="4926013" y="3121025"/>
            <a:ext cx="0" cy="280670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Dot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46453" name="Group 21"/>
          <p:cNvGrpSpPr>
            <a:grpSpLocks/>
          </p:cNvGrpSpPr>
          <p:nvPr/>
        </p:nvGrpSpPr>
        <p:grpSpPr bwMode="auto">
          <a:xfrm>
            <a:off x="3725863" y="3298825"/>
            <a:ext cx="2381250" cy="2381250"/>
            <a:chOff x="2534" y="2078"/>
            <a:chExt cx="1500" cy="1500"/>
          </a:xfrm>
        </p:grpSpPr>
        <p:sp>
          <p:nvSpPr>
            <p:cNvPr id="23607" name="Oval 22"/>
            <p:cNvSpPr>
              <a:spLocks noChangeArrowheads="1"/>
            </p:cNvSpPr>
            <p:nvPr/>
          </p:nvSpPr>
          <p:spPr bwMode="auto">
            <a:xfrm>
              <a:off x="2534" y="2078"/>
              <a:ext cx="1500" cy="1500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99CC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400"/>
            </a:p>
          </p:txBody>
        </p:sp>
        <p:sp>
          <p:nvSpPr>
            <p:cNvPr id="23608" name="Oval 23"/>
            <p:cNvSpPr>
              <a:spLocks noChangeArrowheads="1"/>
            </p:cNvSpPr>
            <p:nvPr/>
          </p:nvSpPr>
          <p:spPr bwMode="auto">
            <a:xfrm>
              <a:off x="2779" y="2322"/>
              <a:ext cx="1022" cy="1022"/>
            </a:xfrm>
            <a:prstGeom prst="ellipse">
              <a:avLst/>
            </a:prstGeom>
            <a:noFill/>
            <a:ln w="9525">
              <a:solidFill>
                <a:srgbClr val="990033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400"/>
            </a:p>
          </p:txBody>
        </p:sp>
        <p:sp>
          <p:nvSpPr>
            <p:cNvPr id="23609" name="Oval 24"/>
            <p:cNvSpPr>
              <a:spLocks noChangeArrowheads="1"/>
            </p:cNvSpPr>
            <p:nvPr/>
          </p:nvSpPr>
          <p:spPr bwMode="auto">
            <a:xfrm>
              <a:off x="3021" y="2554"/>
              <a:ext cx="545" cy="545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400"/>
            </a:p>
          </p:txBody>
        </p:sp>
      </p:grpSp>
      <p:sp>
        <p:nvSpPr>
          <p:cNvPr id="146457" name="Line 25"/>
          <p:cNvSpPr>
            <a:spLocks noChangeShapeType="1"/>
          </p:cNvSpPr>
          <p:nvPr/>
        </p:nvSpPr>
        <p:spPr bwMode="auto">
          <a:xfrm flipV="1">
            <a:off x="4921250" y="5921375"/>
            <a:ext cx="0" cy="422275"/>
          </a:xfrm>
          <a:prstGeom prst="line">
            <a:avLst/>
          </a:prstGeom>
          <a:noFill/>
          <a:ln w="38100">
            <a:solidFill>
              <a:srgbClr val="A50021"/>
            </a:solidFill>
            <a:round/>
            <a:headEnd/>
            <a:tailEnd type="triangle" w="med" len="med"/>
          </a:ln>
          <a:effectLst>
            <a:outerShdw dist="35921" dir="2700000" algn="ctr" rotWithShape="0">
              <a:srgbClr val="808080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6458" name="Line 26"/>
          <p:cNvSpPr>
            <a:spLocks noChangeShapeType="1"/>
          </p:cNvSpPr>
          <p:nvPr/>
        </p:nvSpPr>
        <p:spPr bwMode="auto">
          <a:xfrm>
            <a:off x="3065463" y="4495800"/>
            <a:ext cx="401637" cy="0"/>
          </a:xfrm>
          <a:prstGeom prst="line">
            <a:avLst/>
          </a:prstGeom>
          <a:noFill/>
          <a:ln w="38100">
            <a:solidFill>
              <a:srgbClr val="A50021"/>
            </a:solidFill>
            <a:round/>
            <a:headEnd/>
            <a:tailEnd type="triangle" w="med" len="med"/>
          </a:ln>
          <a:effectLst>
            <a:outerShdw dist="35921" dir="2700000" algn="ctr" rotWithShape="0">
              <a:srgbClr val="808080"/>
            </a:outerShdw>
          </a:effectLst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grpSp>
        <p:nvGrpSpPr>
          <p:cNvPr id="146459" name="Group 27"/>
          <p:cNvGrpSpPr>
            <a:grpSpLocks/>
          </p:cNvGrpSpPr>
          <p:nvPr/>
        </p:nvGrpSpPr>
        <p:grpSpPr bwMode="auto">
          <a:xfrm>
            <a:off x="3602038" y="1589088"/>
            <a:ext cx="2628900" cy="1216025"/>
            <a:chOff x="2269" y="1001"/>
            <a:chExt cx="1656" cy="766"/>
          </a:xfrm>
        </p:grpSpPr>
        <p:sp>
          <p:nvSpPr>
            <p:cNvPr id="23595" name="Oval 28"/>
            <p:cNvSpPr>
              <a:spLocks noChangeArrowheads="1"/>
            </p:cNvSpPr>
            <p:nvPr/>
          </p:nvSpPr>
          <p:spPr bwMode="auto">
            <a:xfrm>
              <a:off x="3367" y="1133"/>
              <a:ext cx="477" cy="477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400"/>
            </a:p>
          </p:txBody>
        </p:sp>
        <p:sp>
          <p:nvSpPr>
            <p:cNvPr id="23596" name="Oval 29"/>
            <p:cNvSpPr>
              <a:spLocks noChangeArrowheads="1"/>
            </p:cNvSpPr>
            <p:nvPr/>
          </p:nvSpPr>
          <p:spPr bwMode="auto">
            <a:xfrm>
              <a:off x="2363" y="1130"/>
              <a:ext cx="477" cy="477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400"/>
            </a:p>
          </p:txBody>
        </p:sp>
        <p:sp>
          <p:nvSpPr>
            <p:cNvPr id="23597" name="Line 30"/>
            <p:cNvSpPr>
              <a:spLocks noChangeShapeType="1"/>
            </p:cNvSpPr>
            <p:nvPr/>
          </p:nvSpPr>
          <p:spPr bwMode="auto">
            <a:xfrm flipV="1">
              <a:off x="2591" y="1022"/>
              <a:ext cx="0" cy="66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98" name="Line 31"/>
            <p:cNvSpPr>
              <a:spLocks noChangeShapeType="1"/>
            </p:cNvSpPr>
            <p:nvPr/>
          </p:nvSpPr>
          <p:spPr bwMode="auto">
            <a:xfrm flipV="1">
              <a:off x="3614" y="1011"/>
              <a:ext cx="0" cy="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99" name="Rectangle 32"/>
            <p:cNvSpPr>
              <a:spLocks noChangeArrowheads="1"/>
            </p:cNvSpPr>
            <p:nvPr/>
          </p:nvSpPr>
          <p:spPr bwMode="auto">
            <a:xfrm>
              <a:off x="2603" y="1092"/>
              <a:ext cx="1002" cy="54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400"/>
            </a:p>
          </p:txBody>
        </p:sp>
        <p:sp>
          <p:nvSpPr>
            <p:cNvPr id="23600" name="Line 33"/>
            <p:cNvSpPr>
              <a:spLocks noChangeShapeType="1"/>
            </p:cNvSpPr>
            <p:nvPr/>
          </p:nvSpPr>
          <p:spPr bwMode="auto">
            <a:xfrm>
              <a:off x="2577" y="1131"/>
              <a:ext cx="104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01" name="Line 34"/>
            <p:cNvSpPr>
              <a:spLocks noChangeShapeType="1"/>
            </p:cNvSpPr>
            <p:nvPr/>
          </p:nvSpPr>
          <p:spPr bwMode="auto">
            <a:xfrm>
              <a:off x="2591" y="1611"/>
              <a:ext cx="101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02" name="Line 35"/>
            <p:cNvSpPr>
              <a:spLocks noChangeShapeType="1"/>
            </p:cNvSpPr>
            <p:nvPr/>
          </p:nvSpPr>
          <p:spPr bwMode="auto">
            <a:xfrm>
              <a:off x="2269" y="1367"/>
              <a:ext cx="63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03" name="Line 36"/>
            <p:cNvSpPr>
              <a:spLocks noChangeShapeType="1"/>
            </p:cNvSpPr>
            <p:nvPr/>
          </p:nvSpPr>
          <p:spPr bwMode="auto">
            <a:xfrm flipH="1">
              <a:off x="3280" y="1367"/>
              <a:ext cx="6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04" name="Line 37"/>
            <p:cNvSpPr>
              <a:spLocks noChangeShapeType="1"/>
            </p:cNvSpPr>
            <p:nvPr/>
          </p:nvSpPr>
          <p:spPr bwMode="auto">
            <a:xfrm flipV="1">
              <a:off x="3102" y="1001"/>
              <a:ext cx="0" cy="7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05" name="Arc 38"/>
            <p:cNvSpPr>
              <a:spLocks/>
            </p:cNvSpPr>
            <p:nvPr/>
          </p:nvSpPr>
          <p:spPr bwMode="auto">
            <a:xfrm flipV="1">
              <a:off x="2591" y="1125"/>
              <a:ext cx="245" cy="486"/>
            </a:xfrm>
            <a:custGeom>
              <a:avLst/>
              <a:gdLst>
                <a:gd name="T0" fmla="*/ 0 w 21731"/>
                <a:gd name="T1" fmla="*/ 0 h 43200"/>
                <a:gd name="T2" fmla="*/ 0 w 21731"/>
                <a:gd name="T3" fmla="*/ 0 h 43200"/>
                <a:gd name="T4" fmla="*/ 0 w 21731"/>
                <a:gd name="T5" fmla="*/ 0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731" h="43200" fill="none" extrusionOk="0">
                  <a:moveTo>
                    <a:pt x="131" y="0"/>
                  </a:moveTo>
                  <a:cubicBezTo>
                    <a:pt x="12060" y="0"/>
                    <a:pt x="21731" y="9670"/>
                    <a:pt x="21731" y="21600"/>
                  </a:cubicBezTo>
                  <a:cubicBezTo>
                    <a:pt x="21731" y="33529"/>
                    <a:pt x="12060" y="43200"/>
                    <a:pt x="131" y="43200"/>
                  </a:cubicBezTo>
                  <a:cubicBezTo>
                    <a:pt x="87" y="43200"/>
                    <a:pt x="43" y="43199"/>
                    <a:pt x="0" y="43199"/>
                  </a:cubicBezTo>
                </a:path>
                <a:path w="21731" h="43200" stroke="0" extrusionOk="0">
                  <a:moveTo>
                    <a:pt x="131" y="0"/>
                  </a:moveTo>
                  <a:cubicBezTo>
                    <a:pt x="12060" y="0"/>
                    <a:pt x="21731" y="9670"/>
                    <a:pt x="21731" y="21600"/>
                  </a:cubicBezTo>
                  <a:cubicBezTo>
                    <a:pt x="21731" y="33529"/>
                    <a:pt x="12060" y="43200"/>
                    <a:pt x="131" y="43200"/>
                  </a:cubicBezTo>
                  <a:cubicBezTo>
                    <a:pt x="87" y="43200"/>
                    <a:pt x="43" y="43199"/>
                    <a:pt x="0" y="43199"/>
                  </a:cubicBezTo>
                  <a:lnTo>
                    <a:pt x="131" y="21600"/>
                  </a:lnTo>
                  <a:lnTo>
                    <a:pt x="131" y="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606" name="Arc 39"/>
            <p:cNvSpPr>
              <a:spLocks/>
            </p:cNvSpPr>
            <p:nvPr/>
          </p:nvSpPr>
          <p:spPr bwMode="auto">
            <a:xfrm flipH="1" flipV="1">
              <a:off x="3368" y="1128"/>
              <a:ext cx="245" cy="486"/>
            </a:xfrm>
            <a:custGeom>
              <a:avLst/>
              <a:gdLst>
                <a:gd name="T0" fmla="*/ 0 w 21731"/>
                <a:gd name="T1" fmla="*/ 0 h 43200"/>
                <a:gd name="T2" fmla="*/ 0 w 21731"/>
                <a:gd name="T3" fmla="*/ 0 h 43200"/>
                <a:gd name="T4" fmla="*/ 0 w 21731"/>
                <a:gd name="T5" fmla="*/ 0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731" h="43200" fill="none" extrusionOk="0">
                  <a:moveTo>
                    <a:pt x="131" y="0"/>
                  </a:moveTo>
                  <a:cubicBezTo>
                    <a:pt x="12060" y="0"/>
                    <a:pt x="21731" y="9670"/>
                    <a:pt x="21731" y="21600"/>
                  </a:cubicBezTo>
                  <a:cubicBezTo>
                    <a:pt x="21731" y="33529"/>
                    <a:pt x="12060" y="43200"/>
                    <a:pt x="131" y="43200"/>
                  </a:cubicBezTo>
                  <a:cubicBezTo>
                    <a:pt x="87" y="43200"/>
                    <a:pt x="43" y="43199"/>
                    <a:pt x="0" y="43199"/>
                  </a:cubicBezTo>
                </a:path>
                <a:path w="21731" h="43200" stroke="0" extrusionOk="0">
                  <a:moveTo>
                    <a:pt x="131" y="0"/>
                  </a:moveTo>
                  <a:cubicBezTo>
                    <a:pt x="12060" y="0"/>
                    <a:pt x="21731" y="9670"/>
                    <a:pt x="21731" y="21600"/>
                  </a:cubicBezTo>
                  <a:cubicBezTo>
                    <a:pt x="21731" y="33529"/>
                    <a:pt x="12060" y="43200"/>
                    <a:pt x="131" y="43200"/>
                  </a:cubicBezTo>
                  <a:cubicBezTo>
                    <a:pt x="87" y="43200"/>
                    <a:pt x="43" y="43199"/>
                    <a:pt x="0" y="43199"/>
                  </a:cubicBezTo>
                  <a:lnTo>
                    <a:pt x="131" y="21600"/>
                  </a:lnTo>
                  <a:lnTo>
                    <a:pt x="131" y="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pSp>
        <p:nvGrpSpPr>
          <p:cNvPr id="146472" name="Group 40"/>
          <p:cNvGrpSpPr>
            <a:grpSpLocks/>
          </p:cNvGrpSpPr>
          <p:nvPr/>
        </p:nvGrpSpPr>
        <p:grpSpPr bwMode="auto">
          <a:xfrm>
            <a:off x="6335713" y="1589088"/>
            <a:ext cx="2628900" cy="1216025"/>
            <a:chOff x="3991" y="1001"/>
            <a:chExt cx="1656" cy="766"/>
          </a:xfrm>
        </p:grpSpPr>
        <p:sp>
          <p:nvSpPr>
            <p:cNvPr id="23583" name="Oval 41"/>
            <p:cNvSpPr>
              <a:spLocks noChangeArrowheads="1"/>
            </p:cNvSpPr>
            <p:nvPr/>
          </p:nvSpPr>
          <p:spPr bwMode="auto">
            <a:xfrm>
              <a:off x="5089" y="1133"/>
              <a:ext cx="477" cy="477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400"/>
            </a:p>
          </p:txBody>
        </p:sp>
        <p:sp>
          <p:nvSpPr>
            <p:cNvPr id="23584" name="Oval 42"/>
            <p:cNvSpPr>
              <a:spLocks noChangeArrowheads="1"/>
            </p:cNvSpPr>
            <p:nvPr/>
          </p:nvSpPr>
          <p:spPr bwMode="auto">
            <a:xfrm>
              <a:off x="4085" y="1130"/>
              <a:ext cx="477" cy="477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400"/>
            </a:p>
          </p:txBody>
        </p:sp>
        <p:sp>
          <p:nvSpPr>
            <p:cNvPr id="23585" name="Line 43"/>
            <p:cNvSpPr>
              <a:spLocks noChangeShapeType="1"/>
            </p:cNvSpPr>
            <p:nvPr/>
          </p:nvSpPr>
          <p:spPr bwMode="auto">
            <a:xfrm flipV="1">
              <a:off x="4313" y="1022"/>
              <a:ext cx="0" cy="667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86" name="Line 44"/>
            <p:cNvSpPr>
              <a:spLocks noChangeShapeType="1"/>
            </p:cNvSpPr>
            <p:nvPr/>
          </p:nvSpPr>
          <p:spPr bwMode="auto">
            <a:xfrm flipV="1">
              <a:off x="5336" y="1011"/>
              <a:ext cx="0" cy="70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87" name="Rectangle 45"/>
            <p:cNvSpPr>
              <a:spLocks noChangeArrowheads="1"/>
            </p:cNvSpPr>
            <p:nvPr/>
          </p:nvSpPr>
          <p:spPr bwMode="auto">
            <a:xfrm>
              <a:off x="4325" y="1092"/>
              <a:ext cx="1002" cy="540"/>
            </a:xfrm>
            <a:prstGeom prst="rect">
              <a:avLst/>
            </a:prstGeom>
            <a:solidFill>
              <a:srgbClr val="FFFFFF"/>
            </a:solidFill>
            <a:ln>
              <a:noFill/>
            </a:ln>
            <a:effectLst/>
            <a:extLst>
              <a:ext uri="{91240B29-F687-4F45-9708-019B960494DF}">
                <a14:hiddenLine xmlns:a14="http://schemas.microsoft.com/office/drawing/2010/main" w="9525">
                  <a:solidFill>
                    <a:srgbClr val="99CCFF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400"/>
            </a:p>
          </p:txBody>
        </p:sp>
        <p:sp>
          <p:nvSpPr>
            <p:cNvPr id="23588" name="Line 46"/>
            <p:cNvSpPr>
              <a:spLocks noChangeShapeType="1"/>
            </p:cNvSpPr>
            <p:nvPr/>
          </p:nvSpPr>
          <p:spPr bwMode="auto">
            <a:xfrm>
              <a:off x="4299" y="1131"/>
              <a:ext cx="1048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89" name="Line 47"/>
            <p:cNvSpPr>
              <a:spLocks noChangeShapeType="1"/>
            </p:cNvSpPr>
            <p:nvPr/>
          </p:nvSpPr>
          <p:spPr bwMode="auto">
            <a:xfrm>
              <a:off x="4313" y="1611"/>
              <a:ext cx="101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90" name="Line 48"/>
            <p:cNvSpPr>
              <a:spLocks noChangeShapeType="1"/>
            </p:cNvSpPr>
            <p:nvPr/>
          </p:nvSpPr>
          <p:spPr bwMode="auto">
            <a:xfrm>
              <a:off x="3991" y="1367"/>
              <a:ext cx="63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91" name="Line 49"/>
            <p:cNvSpPr>
              <a:spLocks noChangeShapeType="1"/>
            </p:cNvSpPr>
            <p:nvPr/>
          </p:nvSpPr>
          <p:spPr bwMode="auto">
            <a:xfrm flipH="1">
              <a:off x="5002" y="1367"/>
              <a:ext cx="6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92" name="Line 50"/>
            <p:cNvSpPr>
              <a:spLocks noChangeShapeType="1"/>
            </p:cNvSpPr>
            <p:nvPr/>
          </p:nvSpPr>
          <p:spPr bwMode="auto">
            <a:xfrm flipV="1">
              <a:off x="4824" y="1001"/>
              <a:ext cx="0" cy="76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93" name="Arc 51"/>
            <p:cNvSpPr>
              <a:spLocks/>
            </p:cNvSpPr>
            <p:nvPr/>
          </p:nvSpPr>
          <p:spPr bwMode="auto">
            <a:xfrm flipV="1">
              <a:off x="4316" y="1122"/>
              <a:ext cx="245" cy="486"/>
            </a:xfrm>
            <a:custGeom>
              <a:avLst/>
              <a:gdLst>
                <a:gd name="T0" fmla="*/ 0 w 21731"/>
                <a:gd name="T1" fmla="*/ 0 h 43200"/>
                <a:gd name="T2" fmla="*/ 0 w 21731"/>
                <a:gd name="T3" fmla="*/ 0 h 43200"/>
                <a:gd name="T4" fmla="*/ 0 w 21731"/>
                <a:gd name="T5" fmla="*/ 0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731" h="43200" fill="none" extrusionOk="0">
                  <a:moveTo>
                    <a:pt x="131" y="0"/>
                  </a:moveTo>
                  <a:cubicBezTo>
                    <a:pt x="12060" y="0"/>
                    <a:pt x="21731" y="9670"/>
                    <a:pt x="21731" y="21600"/>
                  </a:cubicBezTo>
                  <a:cubicBezTo>
                    <a:pt x="21731" y="33529"/>
                    <a:pt x="12060" y="43200"/>
                    <a:pt x="131" y="43200"/>
                  </a:cubicBezTo>
                  <a:cubicBezTo>
                    <a:pt x="87" y="43200"/>
                    <a:pt x="43" y="43199"/>
                    <a:pt x="0" y="43199"/>
                  </a:cubicBezTo>
                </a:path>
                <a:path w="21731" h="43200" stroke="0" extrusionOk="0">
                  <a:moveTo>
                    <a:pt x="131" y="0"/>
                  </a:moveTo>
                  <a:cubicBezTo>
                    <a:pt x="12060" y="0"/>
                    <a:pt x="21731" y="9670"/>
                    <a:pt x="21731" y="21600"/>
                  </a:cubicBezTo>
                  <a:cubicBezTo>
                    <a:pt x="21731" y="33529"/>
                    <a:pt x="12060" y="43200"/>
                    <a:pt x="131" y="43200"/>
                  </a:cubicBezTo>
                  <a:cubicBezTo>
                    <a:pt x="87" y="43200"/>
                    <a:pt x="43" y="43199"/>
                    <a:pt x="0" y="43199"/>
                  </a:cubicBezTo>
                  <a:lnTo>
                    <a:pt x="131" y="21600"/>
                  </a:lnTo>
                  <a:lnTo>
                    <a:pt x="131" y="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94" name="Arc 52"/>
            <p:cNvSpPr>
              <a:spLocks/>
            </p:cNvSpPr>
            <p:nvPr/>
          </p:nvSpPr>
          <p:spPr bwMode="auto">
            <a:xfrm flipH="1" flipV="1">
              <a:off x="5090" y="1128"/>
              <a:ext cx="245" cy="486"/>
            </a:xfrm>
            <a:custGeom>
              <a:avLst/>
              <a:gdLst>
                <a:gd name="T0" fmla="*/ 0 w 21731"/>
                <a:gd name="T1" fmla="*/ 0 h 43200"/>
                <a:gd name="T2" fmla="*/ 0 w 21731"/>
                <a:gd name="T3" fmla="*/ 0 h 43200"/>
                <a:gd name="T4" fmla="*/ 0 w 21731"/>
                <a:gd name="T5" fmla="*/ 0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731" h="43200" fill="none" extrusionOk="0">
                  <a:moveTo>
                    <a:pt x="131" y="0"/>
                  </a:moveTo>
                  <a:cubicBezTo>
                    <a:pt x="12060" y="0"/>
                    <a:pt x="21731" y="9670"/>
                    <a:pt x="21731" y="21600"/>
                  </a:cubicBezTo>
                  <a:cubicBezTo>
                    <a:pt x="21731" y="33529"/>
                    <a:pt x="12060" y="43200"/>
                    <a:pt x="131" y="43200"/>
                  </a:cubicBezTo>
                  <a:cubicBezTo>
                    <a:pt x="87" y="43200"/>
                    <a:pt x="43" y="43199"/>
                    <a:pt x="0" y="43199"/>
                  </a:cubicBezTo>
                </a:path>
                <a:path w="21731" h="43200" stroke="0" extrusionOk="0">
                  <a:moveTo>
                    <a:pt x="131" y="0"/>
                  </a:moveTo>
                  <a:cubicBezTo>
                    <a:pt x="12060" y="0"/>
                    <a:pt x="21731" y="9670"/>
                    <a:pt x="21731" y="21600"/>
                  </a:cubicBezTo>
                  <a:cubicBezTo>
                    <a:pt x="21731" y="33529"/>
                    <a:pt x="12060" y="43200"/>
                    <a:pt x="131" y="43200"/>
                  </a:cubicBezTo>
                  <a:cubicBezTo>
                    <a:pt x="87" y="43200"/>
                    <a:pt x="43" y="43199"/>
                    <a:pt x="0" y="43199"/>
                  </a:cubicBezTo>
                  <a:lnTo>
                    <a:pt x="131" y="21600"/>
                  </a:lnTo>
                  <a:lnTo>
                    <a:pt x="131" y="0"/>
                  </a:lnTo>
                  <a:close/>
                </a:path>
              </a:pathLst>
            </a:custGeom>
            <a:noFill/>
            <a:ln w="19050">
              <a:solidFill>
                <a:schemeClr val="tx1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  <p:sp>
        <p:nvSpPr>
          <p:cNvPr id="146485" name="AutoShape 53" descr="紫色网格"/>
          <p:cNvSpPr>
            <a:spLocks noChangeArrowheads="1"/>
          </p:cNvSpPr>
          <p:nvPr/>
        </p:nvSpPr>
        <p:spPr bwMode="auto">
          <a:xfrm>
            <a:off x="6773863" y="4056063"/>
            <a:ext cx="1254125" cy="530225"/>
          </a:xfrm>
          <a:prstGeom prst="wedgeRoundRectCallout">
            <a:avLst>
              <a:gd name="adj1" fmla="val -113167"/>
              <a:gd name="adj2" fmla="val -69463"/>
              <a:gd name="adj3" fmla="val 16667"/>
            </a:avLst>
          </a:prstGeom>
          <a:blipFill dpi="0" rotWithShape="0">
            <a:blip r:embed="rId3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>
              <a:ea typeface="隶书" pitchFamily="49" charset="-122"/>
            </a:endParaRPr>
          </a:p>
        </p:txBody>
      </p:sp>
      <p:sp>
        <p:nvSpPr>
          <p:cNvPr id="146486" name="Text Box 54"/>
          <p:cNvSpPr txBox="1">
            <a:spLocks noChangeArrowheads="1"/>
          </p:cNvSpPr>
          <p:nvPr/>
        </p:nvSpPr>
        <p:spPr bwMode="auto">
          <a:xfrm>
            <a:off x="6770688" y="4049713"/>
            <a:ext cx="14605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b="1">
                <a:solidFill>
                  <a:schemeClr val="bg1"/>
                </a:solidFill>
                <a:ea typeface="黑体" pitchFamily="2" charset="-122"/>
              </a:rPr>
              <a:t>赤道圆</a:t>
            </a:r>
          </a:p>
        </p:txBody>
      </p:sp>
      <p:sp>
        <p:nvSpPr>
          <p:cNvPr id="146487" name="AutoShape 55" descr="紫色网格"/>
          <p:cNvSpPr>
            <a:spLocks noChangeArrowheads="1"/>
          </p:cNvSpPr>
          <p:nvPr/>
        </p:nvSpPr>
        <p:spPr bwMode="auto">
          <a:xfrm>
            <a:off x="6032500" y="5327650"/>
            <a:ext cx="935038" cy="458788"/>
          </a:xfrm>
          <a:prstGeom prst="wedgeRoundRectCallout">
            <a:avLst>
              <a:gd name="adj1" fmla="val -124194"/>
              <a:gd name="adj2" fmla="val -195329"/>
              <a:gd name="adj3" fmla="val 16667"/>
            </a:avLst>
          </a:prstGeom>
          <a:blipFill dpi="0" rotWithShape="0">
            <a:blip r:embed="rId3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>
              <a:ea typeface="隶书" pitchFamily="49" charset="-122"/>
            </a:endParaRPr>
          </a:p>
        </p:txBody>
      </p:sp>
      <p:sp>
        <p:nvSpPr>
          <p:cNvPr id="146488" name="Text Box 56"/>
          <p:cNvSpPr txBox="1">
            <a:spLocks noChangeArrowheads="1"/>
          </p:cNvSpPr>
          <p:nvPr/>
        </p:nvSpPr>
        <p:spPr bwMode="auto">
          <a:xfrm>
            <a:off x="6064250" y="5284788"/>
            <a:ext cx="13509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b="1">
                <a:solidFill>
                  <a:schemeClr val="bg1"/>
                </a:solidFill>
                <a:ea typeface="黑体" pitchFamily="2" charset="-122"/>
              </a:rPr>
              <a:t>喉圆</a:t>
            </a:r>
          </a:p>
        </p:txBody>
      </p:sp>
      <p:sp>
        <p:nvSpPr>
          <p:cNvPr id="146489" name="AutoShape 57" descr="紫色网格"/>
          <p:cNvSpPr>
            <a:spLocks noChangeArrowheads="1"/>
          </p:cNvSpPr>
          <p:nvPr/>
        </p:nvSpPr>
        <p:spPr bwMode="auto">
          <a:xfrm>
            <a:off x="1128713" y="5503863"/>
            <a:ext cx="2717800" cy="528637"/>
          </a:xfrm>
          <a:prstGeom prst="wedgeRoundRectCallout">
            <a:avLst>
              <a:gd name="adj1" fmla="val 70912"/>
              <a:gd name="adj2" fmla="val -115468"/>
              <a:gd name="adj3" fmla="val 16667"/>
            </a:avLst>
          </a:prstGeom>
          <a:blipFill dpi="0" rotWithShape="0">
            <a:blip r:embed="rId3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>
              <a:ea typeface="隶书" pitchFamily="49" charset="-122"/>
            </a:endParaRPr>
          </a:p>
        </p:txBody>
      </p:sp>
      <p:sp>
        <p:nvSpPr>
          <p:cNvPr id="146490" name="Text Box 58"/>
          <p:cNvSpPr txBox="1">
            <a:spLocks noChangeArrowheads="1"/>
          </p:cNvSpPr>
          <p:nvPr/>
        </p:nvSpPr>
        <p:spPr bwMode="auto">
          <a:xfrm>
            <a:off x="1162050" y="5495925"/>
            <a:ext cx="2909888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b="1">
                <a:solidFill>
                  <a:schemeClr val="bg1"/>
                </a:solidFill>
                <a:ea typeface="黑体" pitchFamily="2" charset="-122"/>
              </a:rPr>
              <a:t>母线圆圆心轨迹</a:t>
            </a:r>
          </a:p>
        </p:txBody>
      </p:sp>
      <p:sp>
        <p:nvSpPr>
          <p:cNvPr id="146491" name="AutoShape 59" descr="紫色网格"/>
          <p:cNvSpPr>
            <a:spLocks noChangeArrowheads="1"/>
          </p:cNvSpPr>
          <p:nvPr/>
        </p:nvSpPr>
        <p:spPr bwMode="auto">
          <a:xfrm>
            <a:off x="3951288" y="989013"/>
            <a:ext cx="1217612" cy="476250"/>
          </a:xfrm>
          <a:prstGeom prst="wedgeRoundRectCallout">
            <a:avLst>
              <a:gd name="adj1" fmla="val 66819"/>
              <a:gd name="adj2" fmla="val 157333"/>
              <a:gd name="adj3" fmla="val 16667"/>
            </a:avLst>
          </a:prstGeom>
          <a:blipFill dpi="0" rotWithShape="0">
            <a:blip r:embed="rId3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>
              <a:ea typeface="隶书" pitchFamily="49" charset="-122"/>
            </a:endParaRPr>
          </a:p>
        </p:txBody>
      </p:sp>
      <p:sp>
        <p:nvSpPr>
          <p:cNvPr id="146492" name="Text Box 60"/>
          <p:cNvSpPr txBox="1">
            <a:spLocks noChangeArrowheads="1"/>
          </p:cNvSpPr>
          <p:nvPr/>
        </p:nvSpPr>
        <p:spPr bwMode="auto">
          <a:xfrm>
            <a:off x="3930650" y="944563"/>
            <a:ext cx="13843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b="1">
                <a:solidFill>
                  <a:schemeClr val="bg1"/>
                </a:solidFill>
                <a:ea typeface="黑体" pitchFamily="2" charset="-122"/>
              </a:rPr>
              <a:t>内环面</a:t>
            </a:r>
          </a:p>
        </p:txBody>
      </p:sp>
      <p:sp>
        <p:nvSpPr>
          <p:cNvPr id="146493" name="AutoShape 61" descr="紫色网格"/>
          <p:cNvSpPr>
            <a:spLocks noChangeArrowheads="1"/>
          </p:cNvSpPr>
          <p:nvPr/>
        </p:nvSpPr>
        <p:spPr bwMode="auto">
          <a:xfrm>
            <a:off x="6297613" y="987425"/>
            <a:ext cx="1236662" cy="457200"/>
          </a:xfrm>
          <a:prstGeom prst="wedgeRoundRectCallout">
            <a:avLst>
              <a:gd name="adj1" fmla="val -78241"/>
              <a:gd name="adj2" fmla="val 137500"/>
              <a:gd name="adj3" fmla="val 16667"/>
            </a:avLst>
          </a:prstGeom>
          <a:blipFill dpi="0" rotWithShape="0">
            <a:blip r:embed="rId3"/>
            <a:srcRect/>
            <a:tile tx="0" ty="0" sx="100000" sy="100000" flip="none" algn="tl"/>
          </a:blipFill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>
              <a:ea typeface="隶书" pitchFamily="49" charset="-122"/>
            </a:endParaRPr>
          </a:p>
        </p:txBody>
      </p:sp>
      <p:sp>
        <p:nvSpPr>
          <p:cNvPr id="146494" name="Text Box 62"/>
          <p:cNvSpPr txBox="1">
            <a:spLocks noChangeArrowheads="1"/>
          </p:cNvSpPr>
          <p:nvPr/>
        </p:nvSpPr>
        <p:spPr bwMode="auto">
          <a:xfrm>
            <a:off x="6292850" y="946150"/>
            <a:ext cx="1439863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800" b="1">
                <a:solidFill>
                  <a:schemeClr val="bg1"/>
                </a:solidFill>
                <a:ea typeface="黑体" pitchFamily="2" charset="-122"/>
              </a:rPr>
              <a:t>外环面</a:t>
            </a:r>
          </a:p>
        </p:txBody>
      </p:sp>
      <p:sp>
        <p:nvSpPr>
          <p:cNvPr id="146495" name="Oval 63"/>
          <p:cNvSpPr>
            <a:spLocks noChangeArrowheads="1"/>
          </p:cNvSpPr>
          <p:nvPr/>
        </p:nvSpPr>
        <p:spPr bwMode="auto">
          <a:xfrm>
            <a:off x="4108450" y="3684588"/>
            <a:ext cx="1622425" cy="1622425"/>
          </a:xfrm>
          <a:prstGeom prst="ellipse">
            <a:avLst/>
          </a:prstGeom>
          <a:noFill/>
          <a:ln w="5715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>
                    <a:alpha val="50195"/>
                  </a:schemeClr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grpSp>
        <p:nvGrpSpPr>
          <p:cNvPr id="146496" name="Group 64"/>
          <p:cNvGrpSpPr>
            <a:grpSpLocks/>
          </p:cNvGrpSpPr>
          <p:nvPr/>
        </p:nvGrpSpPr>
        <p:grpSpPr bwMode="auto">
          <a:xfrm>
            <a:off x="4568825" y="1798638"/>
            <a:ext cx="1287463" cy="1428750"/>
            <a:chOff x="2878" y="1133"/>
            <a:chExt cx="811" cy="900"/>
          </a:xfrm>
        </p:grpSpPr>
        <p:sp>
          <p:nvSpPr>
            <p:cNvPr id="23581" name="Line 65"/>
            <p:cNvSpPr>
              <a:spLocks noChangeShapeType="1"/>
            </p:cNvSpPr>
            <p:nvPr/>
          </p:nvSpPr>
          <p:spPr bwMode="auto">
            <a:xfrm>
              <a:off x="2967" y="1133"/>
              <a:ext cx="722" cy="900"/>
            </a:xfrm>
            <a:prstGeom prst="line">
              <a:avLst/>
            </a:prstGeom>
            <a:noFill/>
            <a:ln w="38100">
              <a:solidFill>
                <a:srgbClr val="99003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3582" name="Line 66"/>
            <p:cNvSpPr>
              <a:spLocks noChangeShapeType="1"/>
            </p:cNvSpPr>
            <p:nvPr/>
          </p:nvSpPr>
          <p:spPr bwMode="auto">
            <a:xfrm>
              <a:off x="2878" y="1611"/>
              <a:ext cx="800" cy="422"/>
            </a:xfrm>
            <a:prstGeom prst="line">
              <a:avLst/>
            </a:prstGeom>
            <a:noFill/>
            <a:ln w="38100">
              <a:solidFill>
                <a:srgbClr val="990033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46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5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12" dur="500"/>
                                        <p:tgtEl>
                                          <p:spTgt spid="1464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46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46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6" dur="500"/>
                                        <p:tgtEl>
                                          <p:spTgt spid="1464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5" presetClass="entr" presetSubtype="5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down)">
                                      <p:cBhvr>
                                        <p:cTn id="31" dur="500"/>
                                        <p:tgtEl>
                                          <p:spTgt spid="1464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 nodeType="clickPar">
                      <p:stCondLst>
                        <p:cond delay="indefinite"/>
                      </p:stCondLst>
                      <p:childTnLst>
                        <p:par>
                          <p:cTn id="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36" dur="500"/>
                                        <p:tgtEl>
                                          <p:spTgt spid="1464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14648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 nodeType="clickPar">
                      <p:stCondLst>
                        <p:cond delay="indefinite"/>
                      </p:stCondLst>
                      <p:childTnLst>
                        <p:par>
                          <p:cTn id="4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3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45" dur="500"/>
                                        <p:tgtEl>
                                          <p:spTgt spid="1464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146488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0" fill="hold" nodeType="clickPar">
                      <p:stCondLst>
                        <p:cond delay="indefinite"/>
                      </p:stCondLst>
                      <p:childTnLst>
                        <p:par>
                          <p:cTn id="5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1464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8" dur="500"/>
                                        <p:tgtEl>
                                          <p:spTgt spid="14649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 nodeType="clickPar">
                      <p:stCondLst>
                        <p:cond delay="indefinite"/>
                      </p:stCondLst>
                      <p:childTnLst>
                        <p:par>
                          <p:cTn id="6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3" dur="500"/>
                                        <p:tgtEl>
                                          <p:spTgt spid="146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6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 nodeType="clickPar">
                      <p:stCondLst>
                        <p:cond delay="indefinite"/>
                      </p:stCondLst>
                      <p:childTnLst>
                        <p:par>
                          <p:cTn id="6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46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00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5" dur="500"/>
                                        <p:tgtEl>
                                          <p:spTgt spid="1464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8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9" dur="500"/>
                                        <p:tgtEl>
                                          <p:spTgt spid="14649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0" fill="hold" nodeType="clickPar">
                      <p:stCondLst>
                        <p:cond delay="indefinite"/>
                      </p:stCondLst>
                      <p:childTnLst>
                        <p:par>
                          <p:cTn id="91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1464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5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8" dur="500"/>
                                        <p:tgtEl>
                                          <p:spTgt spid="14649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3" dur="500"/>
                                        <p:tgtEl>
                                          <p:spTgt spid="146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146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8" fill="hold" nodeType="clickPar">
                      <p:stCondLst>
                        <p:cond delay="indefinite"/>
                      </p:stCondLst>
                      <p:childTnLst>
                        <p:par>
                          <p:cTn id="10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4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2" dur="500"/>
                                        <p:tgtEl>
                                          <p:spTgt spid="1464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6442" grpId="0" autoUpdateAnimBg="0"/>
      <p:bldP spid="146443" grpId="0" animBg="1"/>
      <p:bldP spid="146448" grpId="0" animBg="1"/>
      <p:bldP spid="146449" grpId="0" animBg="1"/>
      <p:bldP spid="146450" grpId="0" animBg="1"/>
      <p:bldP spid="146451" grpId="0" animBg="1"/>
      <p:bldP spid="146452" grpId="0" animBg="1"/>
      <p:bldP spid="146457" grpId="0" animBg="1"/>
      <p:bldP spid="146458" grpId="0" animBg="1"/>
      <p:bldP spid="146485" grpId="0" animBg="1" autoUpdateAnimBg="0"/>
      <p:bldP spid="146486" grpId="0" build="p" autoUpdateAnimBg="0" advAuto="0"/>
      <p:bldP spid="146487" grpId="0" animBg="1" autoUpdateAnimBg="0"/>
      <p:bldP spid="146488" grpId="0" build="p" autoUpdateAnimBg="0" advAuto="0"/>
      <p:bldP spid="146489" grpId="0" animBg="1" autoUpdateAnimBg="0"/>
      <p:bldP spid="146490" grpId="0" build="p" autoUpdateAnimBg="0" advAuto="0"/>
      <p:bldP spid="146491" grpId="0" animBg="1" autoUpdateAnimBg="0"/>
      <p:bldP spid="146492" grpId="0" build="p" autoUpdateAnimBg="0" advAuto="0"/>
      <p:bldP spid="146493" grpId="0" animBg="1" autoUpdateAnimBg="0"/>
      <p:bldP spid="146494" grpId="0" build="p" autoUpdateAnimBg="0" advAuto="0"/>
      <p:bldP spid="146495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40400864-ACB6-4BFD-9543-C92876B79524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22</a:t>
            </a:fld>
            <a:endParaRPr lang="en-US" altLang="zh-CN" sz="1400" smtClean="0">
              <a:solidFill>
                <a:schemeClr val="bg2"/>
              </a:solidFill>
            </a:endParaRPr>
          </a:p>
        </p:txBody>
      </p:sp>
      <p:grpSp>
        <p:nvGrpSpPr>
          <p:cNvPr id="145410" name="Group 2"/>
          <p:cNvGrpSpPr>
            <a:grpSpLocks/>
          </p:cNvGrpSpPr>
          <p:nvPr/>
        </p:nvGrpSpPr>
        <p:grpSpPr bwMode="auto">
          <a:xfrm>
            <a:off x="490538" y="1784350"/>
            <a:ext cx="5467350" cy="4338638"/>
            <a:chOff x="1181" y="1187"/>
            <a:chExt cx="3444" cy="2733"/>
          </a:xfrm>
        </p:grpSpPr>
        <p:sp>
          <p:nvSpPr>
            <p:cNvPr id="24615" name="Line 3"/>
            <p:cNvSpPr>
              <a:spLocks noChangeShapeType="1"/>
            </p:cNvSpPr>
            <p:nvPr/>
          </p:nvSpPr>
          <p:spPr bwMode="auto">
            <a:xfrm>
              <a:off x="1181" y="3020"/>
              <a:ext cx="1789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sp>
          <p:nvSpPr>
            <p:cNvPr id="24616" name="Line 4"/>
            <p:cNvSpPr>
              <a:spLocks noChangeShapeType="1"/>
            </p:cNvSpPr>
            <p:nvPr/>
          </p:nvSpPr>
          <p:spPr bwMode="auto">
            <a:xfrm>
              <a:off x="2081" y="2152"/>
              <a:ext cx="0" cy="1768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zh-CN" altLang="en-US"/>
            </a:p>
          </p:txBody>
        </p:sp>
        <p:grpSp>
          <p:nvGrpSpPr>
            <p:cNvPr id="24617" name="Group 5"/>
            <p:cNvGrpSpPr>
              <a:grpSpLocks/>
            </p:cNvGrpSpPr>
            <p:nvPr/>
          </p:nvGrpSpPr>
          <p:grpSpPr bwMode="auto">
            <a:xfrm>
              <a:off x="1325" y="2264"/>
              <a:ext cx="1500" cy="1500"/>
              <a:chOff x="2534" y="2078"/>
              <a:chExt cx="1500" cy="1500"/>
            </a:xfrm>
          </p:grpSpPr>
          <p:sp>
            <p:nvSpPr>
              <p:cNvPr id="24644" name="Oval 6"/>
              <p:cNvSpPr>
                <a:spLocks noChangeArrowheads="1"/>
              </p:cNvSpPr>
              <p:nvPr/>
            </p:nvSpPr>
            <p:spPr bwMode="auto">
              <a:xfrm>
                <a:off x="2534" y="2078"/>
                <a:ext cx="1500" cy="1500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rgbClr val="99CCFF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400"/>
              </a:p>
            </p:txBody>
          </p:sp>
          <p:sp>
            <p:nvSpPr>
              <p:cNvPr id="24645" name="Oval 7"/>
              <p:cNvSpPr>
                <a:spLocks noChangeArrowheads="1"/>
              </p:cNvSpPr>
              <p:nvPr/>
            </p:nvSpPr>
            <p:spPr bwMode="auto">
              <a:xfrm>
                <a:off x="2779" y="2322"/>
                <a:ext cx="1022" cy="1022"/>
              </a:xfrm>
              <a:prstGeom prst="ellipse">
                <a:avLst/>
              </a:prstGeom>
              <a:noFill/>
              <a:ln w="9525">
                <a:solidFill>
                  <a:srgbClr val="990033"/>
                </a:solidFill>
                <a:prstDash val="lgDash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400"/>
              </a:p>
            </p:txBody>
          </p:sp>
          <p:sp>
            <p:nvSpPr>
              <p:cNvPr id="24646" name="Oval 8"/>
              <p:cNvSpPr>
                <a:spLocks noChangeArrowheads="1"/>
              </p:cNvSpPr>
              <p:nvPr/>
            </p:nvSpPr>
            <p:spPr bwMode="auto">
              <a:xfrm>
                <a:off x="3021" y="2554"/>
                <a:ext cx="545" cy="545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400"/>
              </a:p>
            </p:txBody>
          </p:sp>
        </p:grpSp>
        <p:grpSp>
          <p:nvGrpSpPr>
            <p:cNvPr id="24618" name="Group 9"/>
            <p:cNvGrpSpPr>
              <a:grpSpLocks/>
            </p:cNvGrpSpPr>
            <p:nvPr/>
          </p:nvGrpSpPr>
          <p:grpSpPr bwMode="auto">
            <a:xfrm>
              <a:off x="1247" y="1187"/>
              <a:ext cx="1656" cy="766"/>
              <a:chOff x="2269" y="1001"/>
              <a:chExt cx="1656" cy="766"/>
            </a:xfrm>
          </p:grpSpPr>
          <p:sp>
            <p:nvSpPr>
              <p:cNvPr id="24632" name="Oval 10"/>
              <p:cNvSpPr>
                <a:spLocks noChangeArrowheads="1"/>
              </p:cNvSpPr>
              <p:nvPr/>
            </p:nvSpPr>
            <p:spPr bwMode="auto">
              <a:xfrm>
                <a:off x="3367" y="1133"/>
                <a:ext cx="477" cy="477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400"/>
              </a:p>
            </p:txBody>
          </p:sp>
          <p:sp>
            <p:nvSpPr>
              <p:cNvPr id="24633" name="Oval 11"/>
              <p:cNvSpPr>
                <a:spLocks noChangeArrowheads="1"/>
              </p:cNvSpPr>
              <p:nvPr/>
            </p:nvSpPr>
            <p:spPr bwMode="auto">
              <a:xfrm>
                <a:off x="2363" y="1130"/>
                <a:ext cx="477" cy="477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400"/>
              </a:p>
            </p:txBody>
          </p:sp>
          <p:sp>
            <p:nvSpPr>
              <p:cNvPr id="24634" name="Line 12"/>
              <p:cNvSpPr>
                <a:spLocks noChangeShapeType="1"/>
              </p:cNvSpPr>
              <p:nvPr/>
            </p:nvSpPr>
            <p:spPr bwMode="auto">
              <a:xfrm flipV="1">
                <a:off x="2591" y="1022"/>
                <a:ext cx="0" cy="66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635" name="Line 13"/>
              <p:cNvSpPr>
                <a:spLocks noChangeShapeType="1"/>
              </p:cNvSpPr>
              <p:nvPr/>
            </p:nvSpPr>
            <p:spPr bwMode="auto">
              <a:xfrm flipV="1">
                <a:off x="3614" y="1011"/>
                <a:ext cx="0" cy="7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636" name="Rectangle 14"/>
              <p:cNvSpPr>
                <a:spLocks noChangeArrowheads="1"/>
              </p:cNvSpPr>
              <p:nvPr/>
            </p:nvSpPr>
            <p:spPr bwMode="auto">
              <a:xfrm>
                <a:off x="2603" y="1092"/>
                <a:ext cx="1002" cy="54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99CC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400"/>
              </a:p>
            </p:txBody>
          </p:sp>
          <p:sp>
            <p:nvSpPr>
              <p:cNvPr id="24637" name="Line 15"/>
              <p:cNvSpPr>
                <a:spLocks noChangeShapeType="1"/>
              </p:cNvSpPr>
              <p:nvPr/>
            </p:nvSpPr>
            <p:spPr bwMode="auto">
              <a:xfrm>
                <a:off x="2577" y="1131"/>
                <a:ext cx="104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638" name="Line 16"/>
              <p:cNvSpPr>
                <a:spLocks noChangeShapeType="1"/>
              </p:cNvSpPr>
              <p:nvPr/>
            </p:nvSpPr>
            <p:spPr bwMode="auto">
              <a:xfrm>
                <a:off x="2591" y="1611"/>
                <a:ext cx="101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639" name="Line 17"/>
              <p:cNvSpPr>
                <a:spLocks noChangeShapeType="1"/>
              </p:cNvSpPr>
              <p:nvPr/>
            </p:nvSpPr>
            <p:spPr bwMode="auto">
              <a:xfrm>
                <a:off x="2269" y="1367"/>
                <a:ext cx="63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640" name="Line 18"/>
              <p:cNvSpPr>
                <a:spLocks noChangeShapeType="1"/>
              </p:cNvSpPr>
              <p:nvPr/>
            </p:nvSpPr>
            <p:spPr bwMode="auto">
              <a:xfrm flipH="1">
                <a:off x="3280" y="1367"/>
                <a:ext cx="64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641" name="Line 19"/>
              <p:cNvSpPr>
                <a:spLocks noChangeShapeType="1"/>
              </p:cNvSpPr>
              <p:nvPr/>
            </p:nvSpPr>
            <p:spPr bwMode="auto">
              <a:xfrm flipV="1">
                <a:off x="3102" y="1001"/>
                <a:ext cx="0" cy="76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642" name="Arc 20"/>
              <p:cNvSpPr>
                <a:spLocks/>
              </p:cNvSpPr>
              <p:nvPr/>
            </p:nvSpPr>
            <p:spPr bwMode="auto">
              <a:xfrm flipV="1">
                <a:off x="2591" y="1125"/>
                <a:ext cx="245" cy="486"/>
              </a:xfrm>
              <a:custGeom>
                <a:avLst/>
                <a:gdLst>
                  <a:gd name="T0" fmla="*/ 0 w 21731"/>
                  <a:gd name="T1" fmla="*/ 0 h 43200"/>
                  <a:gd name="T2" fmla="*/ 0 w 21731"/>
                  <a:gd name="T3" fmla="*/ 0 h 43200"/>
                  <a:gd name="T4" fmla="*/ 0 w 21731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731" h="43200" fill="none" extrusionOk="0">
                    <a:moveTo>
                      <a:pt x="131" y="0"/>
                    </a:moveTo>
                    <a:cubicBezTo>
                      <a:pt x="12060" y="0"/>
                      <a:pt x="21731" y="9670"/>
                      <a:pt x="21731" y="21600"/>
                    </a:cubicBezTo>
                    <a:cubicBezTo>
                      <a:pt x="21731" y="33529"/>
                      <a:pt x="12060" y="43200"/>
                      <a:pt x="131" y="43200"/>
                    </a:cubicBezTo>
                    <a:cubicBezTo>
                      <a:pt x="87" y="43200"/>
                      <a:pt x="43" y="43199"/>
                      <a:pt x="0" y="43199"/>
                    </a:cubicBezTo>
                  </a:path>
                  <a:path w="21731" h="43200" stroke="0" extrusionOk="0">
                    <a:moveTo>
                      <a:pt x="131" y="0"/>
                    </a:moveTo>
                    <a:cubicBezTo>
                      <a:pt x="12060" y="0"/>
                      <a:pt x="21731" y="9670"/>
                      <a:pt x="21731" y="21600"/>
                    </a:cubicBezTo>
                    <a:cubicBezTo>
                      <a:pt x="21731" y="33529"/>
                      <a:pt x="12060" y="43200"/>
                      <a:pt x="131" y="43200"/>
                    </a:cubicBezTo>
                    <a:cubicBezTo>
                      <a:pt x="87" y="43200"/>
                      <a:pt x="43" y="43199"/>
                      <a:pt x="0" y="43199"/>
                    </a:cubicBezTo>
                    <a:lnTo>
                      <a:pt x="131" y="21600"/>
                    </a:lnTo>
                    <a:lnTo>
                      <a:pt x="131" y="0"/>
                    </a:lnTo>
                    <a:close/>
                  </a:path>
                </a:pathLst>
              </a:custGeom>
              <a:noFill/>
              <a:ln w="19050">
                <a:solidFill>
                  <a:schemeClr val="tx1"/>
                </a:solidFill>
                <a:prstDash val="lg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643" name="Arc 21"/>
              <p:cNvSpPr>
                <a:spLocks/>
              </p:cNvSpPr>
              <p:nvPr/>
            </p:nvSpPr>
            <p:spPr bwMode="auto">
              <a:xfrm flipH="1" flipV="1">
                <a:off x="3368" y="1128"/>
                <a:ext cx="245" cy="486"/>
              </a:xfrm>
              <a:custGeom>
                <a:avLst/>
                <a:gdLst>
                  <a:gd name="T0" fmla="*/ 0 w 21731"/>
                  <a:gd name="T1" fmla="*/ 0 h 43200"/>
                  <a:gd name="T2" fmla="*/ 0 w 21731"/>
                  <a:gd name="T3" fmla="*/ 0 h 43200"/>
                  <a:gd name="T4" fmla="*/ 0 w 21731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731" h="43200" fill="none" extrusionOk="0">
                    <a:moveTo>
                      <a:pt x="131" y="0"/>
                    </a:moveTo>
                    <a:cubicBezTo>
                      <a:pt x="12060" y="0"/>
                      <a:pt x="21731" y="9670"/>
                      <a:pt x="21731" y="21600"/>
                    </a:cubicBezTo>
                    <a:cubicBezTo>
                      <a:pt x="21731" y="33529"/>
                      <a:pt x="12060" y="43200"/>
                      <a:pt x="131" y="43200"/>
                    </a:cubicBezTo>
                    <a:cubicBezTo>
                      <a:pt x="87" y="43200"/>
                      <a:pt x="43" y="43199"/>
                      <a:pt x="0" y="43199"/>
                    </a:cubicBezTo>
                  </a:path>
                  <a:path w="21731" h="43200" stroke="0" extrusionOk="0">
                    <a:moveTo>
                      <a:pt x="131" y="0"/>
                    </a:moveTo>
                    <a:cubicBezTo>
                      <a:pt x="12060" y="0"/>
                      <a:pt x="21731" y="9670"/>
                      <a:pt x="21731" y="21600"/>
                    </a:cubicBezTo>
                    <a:cubicBezTo>
                      <a:pt x="21731" y="33529"/>
                      <a:pt x="12060" y="43200"/>
                      <a:pt x="131" y="43200"/>
                    </a:cubicBezTo>
                    <a:cubicBezTo>
                      <a:pt x="87" y="43200"/>
                      <a:pt x="43" y="43199"/>
                      <a:pt x="0" y="43199"/>
                    </a:cubicBezTo>
                    <a:lnTo>
                      <a:pt x="131" y="21600"/>
                    </a:lnTo>
                    <a:lnTo>
                      <a:pt x="131" y="0"/>
                    </a:lnTo>
                    <a:close/>
                  </a:path>
                </a:pathLst>
              </a:custGeom>
              <a:noFill/>
              <a:ln w="19050">
                <a:solidFill>
                  <a:schemeClr val="tx1"/>
                </a:solidFill>
                <a:prstDash val="lg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  <p:grpSp>
          <p:nvGrpSpPr>
            <p:cNvPr id="24619" name="Group 22"/>
            <p:cNvGrpSpPr>
              <a:grpSpLocks/>
            </p:cNvGrpSpPr>
            <p:nvPr/>
          </p:nvGrpSpPr>
          <p:grpSpPr bwMode="auto">
            <a:xfrm>
              <a:off x="2969" y="1187"/>
              <a:ext cx="1656" cy="766"/>
              <a:chOff x="3991" y="1001"/>
              <a:chExt cx="1656" cy="766"/>
            </a:xfrm>
          </p:grpSpPr>
          <p:sp>
            <p:nvSpPr>
              <p:cNvPr id="24620" name="Oval 23"/>
              <p:cNvSpPr>
                <a:spLocks noChangeArrowheads="1"/>
              </p:cNvSpPr>
              <p:nvPr/>
            </p:nvSpPr>
            <p:spPr bwMode="auto">
              <a:xfrm>
                <a:off x="5089" y="1133"/>
                <a:ext cx="477" cy="477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400"/>
              </a:p>
            </p:txBody>
          </p:sp>
          <p:sp>
            <p:nvSpPr>
              <p:cNvPr id="24621" name="Oval 24"/>
              <p:cNvSpPr>
                <a:spLocks noChangeArrowheads="1"/>
              </p:cNvSpPr>
              <p:nvPr/>
            </p:nvSpPr>
            <p:spPr bwMode="auto">
              <a:xfrm>
                <a:off x="4085" y="1130"/>
                <a:ext cx="477" cy="477"/>
              </a:xfrm>
              <a:prstGeom prst="ellips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400"/>
              </a:p>
            </p:txBody>
          </p:sp>
          <p:sp>
            <p:nvSpPr>
              <p:cNvPr id="24622" name="Line 25"/>
              <p:cNvSpPr>
                <a:spLocks noChangeShapeType="1"/>
              </p:cNvSpPr>
              <p:nvPr/>
            </p:nvSpPr>
            <p:spPr bwMode="auto">
              <a:xfrm flipV="1">
                <a:off x="4313" y="1022"/>
                <a:ext cx="0" cy="667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623" name="Line 26"/>
              <p:cNvSpPr>
                <a:spLocks noChangeShapeType="1"/>
              </p:cNvSpPr>
              <p:nvPr/>
            </p:nvSpPr>
            <p:spPr bwMode="auto">
              <a:xfrm flipV="1">
                <a:off x="5336" y="1011"/>
                <a:ext cx="0" cy="70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624" name="Rectangle 27"/>
              <p:cNvSpPr>
                <a:spLocks noChangeArrowheads="1"/>
              </p:cNvSpPr>
              <p:nvPr/>
            </p:nvSpPr>
            <p:spPr bwMode="auto">
              <a:xfrm>
                <a:off x="4325" y="1092"/>
                <a:ext cx="1002" cy="540"/>
              </a:xfrm>
              <a:prstGeom prst="rect">
                <a:avLst/>
              </a:prstGeom>
              <a:solidFill>
                <a:srgbClr val="FFFFFF"/>
              </a:solidFill>
              <a:ln>
                <a:noFill/>
              </a:ln>
              <a:effectLst/>
              <a:extLst>
                <a:ext uri="{91240B29-F687-4F45-9708-019B960494DF}">
                  <a14:hiddenLine xmlns:a14="http://schemas.microsoft.com/office/drawing/2010/main" w="9525">
                    <a:solidFill>
                      <a:srgbClr val="99CCFF"/>
                    </a:solidFill>
                    <a:miter lim="800000"/>
                    <a:headEnd/>
                    <a:tailEnd/>
                  </a14:hiddenLine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>
                <a:lvl1pPr algn="l" eaLnBrk="0" hangingPunct="0">
                  <a:spcBef>
                    <a:spcPct val="20000"/>
                  </a:spcBef>
                  <a:buClr>
                    <a:schemeClr val="bg2"/>
                  </a:buClr>
                  <a:buFont typeface="Monotype Sorts" pitchFamily="2" charset="2"/>
                  <a:buChar char="§"/>
                  <a:defRPr kumimoji="1" sz="32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1pPr>
                <a:lvl2pPr marL="742950" indent="-285750" algn="l" eaLnBrk="0" hangingPunct="0">
                  <a:spcBef>
                    <a:spcPct val="20000"/>
                  </a:spcBef>
                  <a:buClr>
                    <a:schemeClr val="bg2"/>
                  </a:buClr>
                  <a:buSzPct val="50000"/>
                  <a:buFont typeface="Monotype Sorts" pitchFamily="2" charset="2"/>
                  <a:buChar char="l"/>
                  <a:defRPr kumimoji="1" sz="28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2pPr>
                <a:lvl3pPr marL="1143000" indent="-228600" algn="l" eaLnBrk="0" hangingPunct="0">
                  <a:spcBef>
                    <a:spcPct val="20000"/>
                  </a:spcBef>
                  <a:buChar char="•"/>
                  <a:defRPr kumimoji="1" sz="24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3pPr>
                <a:lvl4pPr marL="1600200" indent="-228600" algn="l" eaLnBrk="0" hangingPunct="0">
                  <a:spcBef>
                    <a:spcPct val="20000"/>
                  </a:spcBef>
                  <a:buChar char="–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4pPr>
                <a:lvl5pPr marL="2057400" indent="-228600" algn="l" eaLnBrk="0" hangingPunct="0">
                  <a:spcBef>
                    <a:spcPct val="20000"/>
                  </a:spcBef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5pPr>
                <a:lvl6pPr marL="25146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6pPr>
                <a:lvl7pPr marL="29718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7pPr>
                <a:lvl8pPr marL="34290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8pPr>
                <a:lvl9pPr marL="3886200" indent="-228600" eaLnBrk="0" fontAlgn="base" hangingPunct="0">
                  <a:spcBef>
                    <a:spcPct val="20000"/>
                  </a:spcBef>
                  <a:spcAft>
                    <a:spcPct val="0"/>
                  </a:spcAft>
                  <a:buChar char="»"/>
                  <a:defRPr kumimoji="1" sz="2000">
                    <a:solidFill>
                      <a:schemeClr val="tx1"/>
                    </a:solidFill>
                    <a:latin typeface="Times New Roman" pitchFamily="18" charset="0"/>
                    <a:ea typeface="宋体" pitchFamily="2" charset="-122"/>
                  </a:defRPr>
                </a:lvl9pPr>
              </a:lstStyle>
              <a:p>
                <a:pPr algn="ctr" eaLnBrk="1" hangingPunct="1">
                  <a:spcBef>
                    <a:spcPct val="0"/>
                  </a:spcBef>
                  <a:buClrTx/>
                  <a:buFontTx/>
                  <a:buNone/>
                </a:pPr>
                <a:endParaRPr kumimoji="0" lang="zh-CN" altLang="en-US" sz="2400"/>
              </a:p>
            </p:txBody>
          </p:sp>
          <p:sp>
            <p:nvSpPr>
              <p:cNvPr id="24625" name="Line 28"/>
              <p:cNvSpPr>
                <a:spLocks noChangeShapeType="1"/>
              </p:cNvSpPr>
              <p:nvPr/>
            </p:nvSpPr>
            <p:spPr bwMode="auto">
              <a:xfrm>
                <a:off x="4299" y="1131"/>
                <a:ext cx="1048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626" name="Line 29"/>
              <p:cNvSpPr>
                <a:spLocks noChangeShapeType="1"/>
              </p:cNvSpPr>
              <p:nvPr/>
            </p:nvSpPr>
            <p:spPr bwMode="auto">
              <a:xfrm>
                <a:off x="4313" y="1611"/>
                <a:ext cx="1016" cy="0"/>
              </a:xfrm>
              <a:prstGeom prst="line">
                <a:avLst/>
              </a:prstGeom>
              <a:noFill/>
              <a:ln w="38100">
                <a:solidFill>
                  <a:schemeClr val="tx1"/>
                </a:solidFill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627" name="Line 30"/>
              <p:cNvSpPr>
                <a:spLocks noChangeShapeType="1"/>
              </p:cNvSpPr>
              <p:nvPr/>
            </p:nvSpPr>
            <p:spPr bwMode="auto">
              <a:xfrm>
                <a:off x="3991" y="1367"/>
                <a:ext cx="634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628" name="Line 31"/>
              <p:cNvSpPr>
                <a:spLocks noChangeShapeType="1"/>
              </p:cNvSpPr>
              <p:nvPr/>
            </p:nvSpPr>
            <p:spPr bwMode="auto">
              <a:xfrm flipH="1">
                <a:off x="5002" y="1367"/>
                <a:ext cx="645" cy="0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629" name="Line 32"/>
              <p:cNvSpPr>
                <a:spLocks noChangeShapeType="1"/>
              </p:cNvSpPr>
              <p:nvPr/>
            </p:nvSpPr>
            <p:spPr bwMode="auto">
              <a:xfrm flipV="1">
                <a:off x="4824" y="1001"/>
                <a:ext cx="0" cy="766"/>
              </a:xfrm>
              <a:prstGeom prst="line">
                <a:avLst/>
              </a:prstGeom>
              <a:noFill/>
              <a:ln w="9525">
                <a:solidFill>
                  <a:schemeClr val="tx1"/>
                </a:solidFill>
                <a:prstDash val="lgDashDot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630" name="Arc 33"/>
              <p:cNvSpPr>
                <a:spLocks/>
              </p:cNvSpPr>
              <p:nvPr/>
            </p:nvSpPr>
            <p:spPr bwMode="auto">
              <a:xfrm flipV="1">
                <a:off x="4316" y="1122"/>
                <a:ext cx="245" cy="486"/>
              </a:xfrm>
              <a:custGeom>
                <a:avLst/>
                <a:gdLst>
                  <a:gd name="T0" fmla="*/ 0 w 21731"/>
                  <a:gd name="T1" fmla="*/ 0 h 43200"/>
                  <a:gd name="T2" fmla="*/ 0 w 21731"/>
                  <a:gd name="T3" fmla="*/ 0 h 43200"/>
                  <a:gd name="T4" fmla="*/ 0 w 21731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731" h="43200" fill="none" extrusionOk="0">
                    <a:moveTo>
                      <a:pt x="131" y="0"/>
                    </a:moveTo>
                    <a:cubicBezTo>
                      <a:pt x="12060" y="0"/>
                      <a:pt x="21731" y="9670"/>
                      <a:pt x="21731" y="21600"/>
                    </a:cubicBezTo>
                    <a:cubicBezTo>
                      <a:pt x="21731" y="33529"/>
                      <a:pt x="12060" y="43200"/>
                      <a:pt x="131" y="43200"/>
                    </a:cubicBezTo>
                    <a:cubicBezTo>
                      <a:pt x="87" y="43200"/>
                      <a:pt x="43" y="43199"/>
                      <a:pt x="0" y="43199"/>
                    </a:cubicBezTo>
                  </a:path>
                  <a:path w="21731" h="43200" stroke="0" extrusionOk="0">
                    <a:moveTo>
                      <a:pt x="131" y="0"/>
                    </a:moveTo>
                    <a:cubicBezTo>
                      <a:pt x="12060" y="0"/>
                      <a:pt x="21731" y="9670"/>
                      <a:pt x="21731" y="21600"/>
                    </a:cubicBezTo>
                    <a:cubicBezTo>
                      <a:pt x="21731" y="33529"/>
                      <a:pt x="12060" y="43200"/>
                      <a:pt x="131" y="43200"/>
                    </a:cubicBezTo>
                    <a:cubicBezTo>
                      <a:pt x="87" y="43200"/>
                      <a:pt x="43" y="43199"/>
                      <a:pt x="0" y="43199"/>
                    </a:cubicBezTo>
                    <a:lnTo>
                      <a:pt x="131" y="21600"/>
                    </a:lnTo>
                    <a:lnTo>
                      <a:pt x="131" y="0"/>
                    </a:lnTo>
                    <a:close/>
                  </a:path>
                </a:pathLst>
              </a:custGeom>
              <a:noFill/>
              <a:ln w="19050">
                <a:solidFill>
                  <a:schemeClr val="tx1"/>
                </a:solidFill>
                <a:prstDash val="lg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  <p:sp>
            <p:nvSpPr>
              <p:cNvPr id="24631" name="Arc 34"/>
              <p:cNvSpPr>
                <a:spLocks/>
              </p:cNvSpPr>
              <p:nvPr/>
            </p:nvSpPr>
            <p:spPr bwMode="auto">
              <a:xfrm flipH="1" flipV="1">
                <a:off x="5090" y="1128"/>
                <a:ext cx="245" cy="486"/>
              </a:xfrm>
              <a:custGeom>
                <a:avLst/>
                <a:gdLst>
                  <a:gd name="T0" fmla="*/ 0 w 21731"/>
                  <a:gd name="T1" fmla="*/ 0 h 43200"/>
                  <a:gd name="T2" fmla="*/ 0 w 21731"/>
                  <a:gd name="T3" fmla="*/ 0 h 43200"/>
                  <a:gd name="T4" fmla="*/ 0 w 21731"/>
                  <a:gd name="T5" fmla="*/ 0 h 4320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731" h="43200" fill="none" extrusionOk="0">
                    <a:moveTo>
                      <a:pt x="131" y="0"/>
                    </a:moveTo>
                    <a:cubicBezTo>
                      <a:pt x="12060" y="0"/>
                      <a:pt x="21731" y="9670"/>
                      <a:pt x="21731" y="21600"/>
                    </a:cubicBezTo>
                    <a:cubicBezTo>
                      <a:pt x="21731" y="33529"/>
                      <a:pt x="12060" y="43200"/>
                      <a:pt x="131" y="43200"/>
                    </a:cubicBezTo>
                    <a:cubicBezTo>
                      <a:pt x="87" y="43200"/>
                      <a:pt x="43" y="43199"/>
                      <a:pt x="0" y="43199"/>
                    </a:cubicBezTo>
                  </a:path>
                  <a:path w="21731" h="43200" stroke="0" extrusionOk="0">
                    <a:moveTo>
                      <a:pt x="131" y="0"/>
                    </a:moveTo>
                    <a:cubicBezTo>
                      <a:pt x="12060" y="0"/>
                      <a:pt x="21731" y="9670"/>
                      <a:pt x="21731" y="21600"/>
                    </a:cubicBezTo>
                    <a:cubicBezTo>
                      <a:pt x="21731" y="33529"/>
                      <a:pt x="12060" y="43200"/>
                      <a:pt x="131" y="43200"/>
                    </a:cubicBezTo>
                    <a:cubicBezTo>
                      <a:pt x="87" y="43200"/>
                      <a:pt x="43" y="43199"/>
                      <a:pt x="0" y="43199"/>
                    </a:cubicBezTo>
                    <a:lnTo>
                      <a:pt x="131" y="21600"/>
                    </a:lnTo>
                    <a:lnTo>
                      <a:pt x="131" y="0"/>
                    </a:lnTo>
                    <a:close/>
                  </a:path>
                </a:pathLst>
              </a:custGeom>
              <a:noFill/>
              <a:ln w="19050">
                <a:solidFill>
                  <a:schemeClr val="tx1"/>
                </a:solidFill>
                <a:prstDash val="lgDash"/>
                <a:round/>
                <a:headEnd/>
                <a:tailEnd/>
              </a:ln>
              <a:effectLst/>
              <a:extLst>
                <a:ext uri="{909E8E84-426E-40DD-AFC4-6F175D3DCCD1}">
                  <a14:hiddenFill xmlns:a14="http://schemas.microsoft.com/office/drawing/2010/main">
                    <a:solidFill>
                      <a:schemeClr val="accent1"/>
                    </a:solidFill>
                  </a14:hiddenFill>
                </a:ext>
                <a:ext uri="{AF507438-7753-43E0-B8FC-AC1667EBCBE1}">
                  <a14:hiddenEffects xmlns:a14="http://schemas.microsoft.com/office/drawing/2010/main">
                    <a:effectLst>
                      <a:outerShdw dist="35921" dir="2700000" algn="ctr" rotWithShape="0">
                        <a:schemeClr val="bg2"/>
                      </a:outerShdw>
                    </a:effectLst>
                  </a14:hiddenEffects>
                </a:ext>
              </a:extLst>
            </p:spPr>
            <p:txBody>
              <a:bodyPr wrap="none" anchor="ctr"/>
              <a:lstStyle/>
              <a:p>
                <a:endParaRPr lang="zh-CN" altLang="en-US"/>
              </a:p>
            </p:txBody>
          </p:sp>
        </p:grpSp>
      </p:grpSp>
      <p:sp>
        <p:nvSpPr>
          <p:cNvPr id="145443" name="Oval 35"/>
          <p:cNvSpPr>
            <a:spLocks noChangeArrowheads="1"/>
          </p:cNvSpPr>
          <p:nvPr/>
        </p:nvSpPr>
        <p:spPr bwMode="auto">
          <a:xfrm>
            <a:off x="727075" y="517525"/>
            <a:ext cx="265113" cy="265113"/>
          </a:xfrm>
          <a:prstGeom prst="ellipse">
            <a:avLst/>
          </a:prstGeom>
          <a:gradFill rotWithShape="0">
            <a:gsLst>
              <a:gs pos="0">
                <a:srgbClr val="CC0000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45444" name="Text Box 36"/>
          <p:cNvSpPr txBox="1">
            <a:spLocks noChangeArrowheads="1"/>
          </p:cNvSpPr>
          <p:nvPr/>
        </p:nvSpPr>
        <p:spPr bwMode="auto">
          <a:xfrm>
            <a:off x="1179513" y="314325"/>
            <a:ext cx="4929187" cy="6413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/>
          <a:p>
            <a:pPr algn="l">
              <a:defRPr/>
            </a:pPr>
            <a:r>
              <a:rPr kumimoji="1" lang="zh-CN" altLang="en-US" sz="3600" b="1" dirty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itchFamily="2" charset="-122"/>
                <a:sym typeface="Marlett" pitchFamily="2" charset="2"/>
              </a:rPr>
              <a:t>圆环表面取</a:t>
            </a:r>
            <a:r>
              <a:rPr kumimoji="1" lang="zh-CN" altLang="en-US" sz="3600" b="1" dirty="0" smtClean="0">
                <a:solidFill>
                  <a:srgbClr val="000066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itchFamily="2" charset="-122"/>
                <a:sym typeface="Marlett" pitchFamily="2" charset="2"/>
              </a:rPr>
              <a:t>点</a:t>
            </a:r>
            <a:endParaRPr kumimoji="1" lang="zh-CN" altLang="en-US" sz="3600" b="1" dirty="0">
              <a:solidFill>
                <a:srgbClr val="000066"/>
              </a:solidFill>
              <a:effectLst>
                <a:outerShdw blurRad="38100" dist="38100" dir="2700000" algn="tl">
                  <a:srgbClr val="C0C0C0"/>
                </a:outerShdw>
              </a:effectLst>
              <a:ea typeface="黑体" pitchFamily="2" charset="-122"/>
            </a:endParaRPr>
          </a:p>
        </p:txBody>
      </p:sp>
      <p:sp>
        <p:nvSpPr>
          <p:cNvPr id="145445" name="Rectangle 37"/>
          <p:cNvSpPr>
            <a:spLocks noChangeArrowheads="1"/>
          </p:cNvSpPr>
          <p:nvPr/>
        </p:nvSpPr>
        <p:spPr bwMode="auto">
          <a:xfrm>
            <a:off x="1095375" y="4787900"/>
            <a:ext cx="361950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b="1">
                <a:solidFill>
                  <a:srgbClr val="990033"/>
                </a:solidFill>
                <a:ea typeface="隶书" pitchFamily="49" charset="-122"/>
              </a:rPr>
              <a:t>a</a:t>
            </a:r>
          </a:p>
        </p:txBody>
      </p:sp>
      <p:sp>
        <p:nvSpPr>
          <p:cNvPr id="145446" name="Text Box 38"/>
          <p:cNvSpPr txBox="1">
            <a:spLocks noChangeArrowheads="1"/>
          </p:cNvSpPr>
          <p:nvPr/>
        </p:nvSpPr>
        <p:spPr bwMode="auto">
          <a:xfrm>
            <a:off x="2811463" y="3597275"/>
            <a:ext cx="620712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b="1">
                <a:solidFill>
                  <a:srgbClr val="990033"/>
                </a:solidFill>
                <a:ea typeface="隶书" pitchFamily="49" charset="-122"/>
              </a:rPr>
              <a:t>(b)</a:t>
            </a:r>
          </a:p>
        </p:txBody>
      </p:sp>
      <p:sp>
        <p:nvSpPr>
          <p:cNvPr id="145448" name="Arc 40"/>
          <p:cNvSpPr>
            <a:spLocks/>
          </p:cNvSpPr>
          <p:nvPr/>
        </p:nvSpPr>
        <p:spPr bwMode="auto">
          <a:xfrm flipH="1">
            <a:off x="1311275" y="4079875"/>
            <a:ext cx="1211263" cy="1211263"/>
          </a:xfrm>
          <a:custGeom>
            <a:avLst/>
            <a:gdLst>
              <a:gd name="T0" fmla="*/ 476121970 w 43200"/>
              <a:gd name="T1" fmla="*/ 0 h 43200"/>
              <a:gd name="T2" fmla="*/ 433557067 w 43200"/>
              <a:gd name="T3" fmla="*/ 1895430 h 43200"/>
              <a:gd name="T4" fmla="*/ 476121970 w 43200"/>
              <a:gd name="T5" fmla="*/ 476121970 h 432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00" h="43200" fill="none" extrusionOk="0">
                <a:moveTo>
                  <a:pt x="21600" y="0"/>
                </a:move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-1" y="10418"/>
                  <a:pt x="8532" y="1086"/>
                  <a:pt x="19669" y="86"/>
                </a:cubicBezTo>
              </a:path>
              <a:path w="43200" h="43200" stroke="0" extrusionOk="0">
                <a:moveTo>
                  <a:pt x="21600" y="0"/>
                </a:move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-1" y="10418"/>
                  <a:pt x="8532" y="1086"/>
                  <a:pt x="19669" y="86"/>
                </a:cubicBez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noFill/>
          <a:ln w="9525">
            <a:solidFill>
              <a:srgbClr val="00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5449" name="Line 41"/>
          <p:cNvSpPr>
            <a:spLocks noChangeShapeType="1"/>
          </p:cNvSpPr>
          <p:nvPr/>
        </p:nvSpPr>
        <p:spPr bwMode="auto">
          <a:xfrm flipV="1">
            <a:off x="1311275" y="2024063"/>
            <a:ext cx="0" cy="2657475"/>
          </a:xfrm>
          <a:prstGeom prst="line">
            <a:avLst/>
          </a:prstGeom>
          <a:noFill/>
          <a:ln w="9525">
            <a:solidFill>
              <a:srgbClr val="00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5450" name="Line 42"/>
          <p:cNvSpPr>
            <a:spLocks noChangeShapeType="1"/>
          </p:cNvSpPr>
          <p:nvPr/>
        </p:nvSpPr>
        <p:spPr bwMode="auto">
          <a:xfrm flipV="1">
            <a:off x="1473200" y="2014538"/>
            <a:ext cx="0" cy="3095625"/>
          </a:xfrm>
          <a:prstGeom prst="line">
            <a:avLst/>
          </a:prstGeom>
          <a:noFill/>
          <a:ln w="9525">
            <a:solidFill>
              <a:srgbClr val="00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5451" name="Line 43"/>
          <p:cNvSpPr>
            <a:spLocks noChangeShapeType="1"/>
          </p:cNvSpPr>
          <p:nvPr/>
        </p:nvSpPr>
        <p:spPr bwMode="auto">
          <a:xfrm>
            <a:off x="1311275" y="2033588"/>
            <a:ext cx="3790950" cy="0"/>
          </a:xfrm>
          <a:prstGeom prst="line">
            <a:avLst/>
          </a:prstGeom>
          <a:noFill/>
          <a:ln w="9525">
            <a:solidFill>
              <a:srgbClr val="000066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5452" name="Oval 44"/>
          <p:cNvSpPr>
            <a:spLocks noChangeArrowheads="1"/>
          </p:cNvSpPr>
          <p:nvPr/>
        </p:nvSpPr>
        <p:spPr bwMode="auto">
          <a:xfrm>
            <a:off x="1395413" y="5008563"/>
            <a:ext cx="177800" cy="177800"/>
          </a:xfrm>
          <a:prstGeom prst="ellipse">
            <a:avLst/>
          </a:prstGeom>
          <a:gradFill rotWithShape="0">
            <a:gsLst>
              <a:gs pos="0">
                <a:srgbClr val="FFFF99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>
              <a:ea typeface="隶书" pitchFamily="49" charset="-122"/>
            </a:endParaRPr>
          </a:p>
        </p:txBody>
      </p:sp>
      <p:sp>
        <p:nvSpPr>
          <p:cNvPr id="145453" name="Oval 45"/>
          <p:cNvSpPr>
            <a:spLocks noChangeArrowheads="1"/>
          </p:cNvSpPr>
          <p:nvPr/>
        </p:nvSpPr>
        <p:spPr bwMode="auto">
          <a:xfrm>
            <a:off x="1385888" y="1951038"/>
            <a:ext cx="177800" cy="177800"/>
          </a:xfrm>
          <a:prstGeom prst="ellipse">
            <a:avLst/>
          </a:prstGeom>
          <a:gradFill rotWithShape="0">
            <a:gsLst>
              <a:gs pos="0">
                <a:srgbClr val="FFFF99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>
              <a:ea typeface="隶书" pitchFamily="49" charset="-122"/>
            </a:endParaRPr>
          </a:p>
        </p:txBody>
      </p:sp>
      <p:sp>
        <p:nvSpPr>
          <p:cNvPr id="145454" name="Text Box 46"/>
          <p:cNvSpPr txBox="1">
            <a:spLocks noChangeArrowheads="1"/>
          </p:cNvSpPr>
          <p:nvPr/>
        </p:nvSpPr>
        <p:spPr bwMode="auto">
          <a:xfrm>
            <a:off x="1285875" y="1500188"/>
            <a:ext cx="4603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defRPr/>
            </a:pPr>
            <a:r>
              <a:rPr kumimoji="1" lang="en-US" altLang="zh-CN" sz="2800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</a:rPr>
              <a:t>a'</a:t>
            </a:r>
          </a:p>
        </p:txBody>
      </p:sp>
      <p:sp>
        <p:nvSpPr>
          <p:cNvPr id="145455" name="Text Box 47"/>
          <p:cNvSpPr txBox="1">
            <a:spLocks noChangeArrowheads="1"/>
          </p:cNvSpPr>
          <p:nvPr/>
        </p:nvSpPr>
        <p:spPr bwMode="auto">
          <a:xfrm>
            <a:off x="1181100" y="1500188"/>
            <a:ext cx="6889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b="1">
                <a:solidFill>
                  <a:srgbClr val="A50021"/>
                </a:solidFill>
                <a:ea typeface="隶书" pitchFamily="49" charset="-122"/>
              </a:rPr>
              <a:t>(   )</a:t>
            </a:r>
          </a:p>
        </p:txBody>
      </p:sp>
      <p:sp>
        <p:nvSpPr>
          <p:cNvPr id="145456" name="Oval 48"/>
          <p:cNvSpPr>
            <a:spLocks noChangeArrowheads="1"/>
          </p:cNvSpPr>
          <p:nvPr/>
        </p:nvSpPr>
        <p:spPr bwMode="auto">
          <a:xfrm>
            <a:off x="4995863" y="1951038"/>
            <a:ext cx="177800" cy="177800"/>
          </a:xfrm>
          <a:prstGeom prst="ellipse">
            <a:avLst/>
          </a:prstGeom>
          <a:gradFill rotWithShape="0">
            <a:gsLst>
              <a:gs pos="0">
                <a:srgbClr val="FFFF99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lang="zh-CN" altLang="zh-CN">
              <a:ea typeface="隶书" pitchFamily="49" charset="-122"/>
            </a:endParaRPr>
          </a:p>
        </p:txBody>
      </p:sp>
      <p:sp>
        <p:nvSpPr>
          <p:cNvPr id="145457" name="Line 49"/>
          <p:cNvSpPr>
            <a:spLocks noChangeShapeType="1"/>
          </p:cNvSpPr>
          <p:nvPr/>
        </p:nvSpPr>
        <p:spPr bwMode="auto">
          <a:xfrm>
            <a:off x="1397000" y="4872038"/>
            <a:ext cx="171450" cy="85725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5458" name="Line 50"/>
          <p:cNvSpPr>
            <a:spLocks noChangeShapeType="1"/>
          </p:cNvSpPr>
          <p:nvPr/>
        </p:nvSpPr>
        <p:spPr bwMode="auto">
          <a:xfrm>
            <a:off x="4768850" y="1947863"/>
            <a:ext cx="114300" cy="152400"/>
          </a:xfrm>
          <a:prstGeom prst="line">
            <a:avLst/>
          </a:prstGeom>
          <a:noFill/>
          <a:ln w="38100">
            <a:solidFill>
              <a:schemeClr val="accent2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5459" name="Text Box 51"/>
          <p:cNvSpPr txBox="1">
            <a:spLocks noChangeArrowheads="1"/>
          </p:cNvSpPr>
          <p:nvPr/>
        </p:nvSpPr>
        <p:spPr bwMode="auto">
          <a:xfrm>
            <a:off x="4886325" y="1528763"/>
            <a:ext cx="558800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defRPr/>
            </a:pPr>
            <a:r>
              <a:rPr kumimoji="1" lang="en-US" altLang="zh-CN" sz="2800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</a:rPr>
              <a:t>a"</a:t>
            </a:r>
          </a:p>
        </p:txBody>
      </p:sp>
      <p:sp>
        <p:nvSpPr>
          <p:cNvPr id="145460" name="Text Box 52"/>
          <p:cNvSpPr txBox="1">
            <a:spLocks noChangeArrowheads="1"/>
          </p:cNvSpPr>
          <p:nvPr/>
        </p:nvSpPr>
        <p:spPr bwMode="auto">
          <a:xfrm>
            <a:off x="4772025" y="1509713"/>
            <a:ext cx="777875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b="1">
                <a:solidFill>
                  <a:srgbClr val="A50021"/>
                </a:solidFill>
                <a:ea typeface="隶书" pitchFamily="49" charset="-122"/>
              </a:rPr>
              <a:t>(    )</a:t>
            </a:r>
          </a:p>
        </p:txBody>
      </p:sp>
      <p:sp>
        <p:nvSpPr>
          <p:cNvPr id="145461" name="Arc 53"/>
          <p:cNvSpPr>
            <a:spLocks/>
          </p:cNvSpPr>
          <p:nvPr/>
        </p:nvSpPr>
        <p:spPr bwMode="auto">
          <a:xfrm flipV="1">
            <a:off x="846138" y="3614738"/>
            <a:ext cx="2143125" cy="2143125"/>
          </a:xfrm>
          <a:custGeom>
            <a:avLst/>
            <a:gdLst>
              <a:gd name="T0" fmla="*/ 2147483647 w 43200"/>
              <a:gd name="T1" fmla="*/ 0 h 43200"/>
              <a:gd name="T2" fmla="*/ 32966323 w 43200"/>
              <a:gd name="T3" fmla="*/ 2147483647 h 43200"/>
              <a:gd name="T4" fmla="*/ 2147483647 w 43200"/>
              <a:gd name="T5" fmla="*/ 2147483647 h 432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43200" h="43200" fill="none" extrusionOk="0">
                <a:moveTo>
                  <a:pt x="21600" y="0"/>
                </a:move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-1" y="20458"/>
                  <a:pt x="90" y="19319"/>
                  <a:pt x="270" y="18193"/>
                </a:cubicBezTo>
              </a:path>
              <a:path w="43200" h="43200" stroke="0" extrusionOk="0">
                <a:moveTo>
                  <a:pt x="21600" y="0"/>
                </a:moveTo>
                <a:cubicBezTo>
                  <a:pt x="33529" y="0"/>
                  <a:pt x="43200" y="9670"/>
                  <a:pt x="43200" y="21600"/>
                </a:cubicBezTo>
                <a:cubicBezTo>
                  <a:pt x="43200" y="33529"/>
                  <a:pt x="33529" y="43200"/>
                  <a:pt x="21600" y="43200"/>
                </a:cubicBezTo>
                <a:cubicBezTo>
                  <a:pt x="9670" y="43200"/>
                  <a:pt x="0" y="33529"/>
                  <a:pt x="0" y="21600"/>
                </a:cubicBezTo>
                <a:cubicBezTo>
                  <a:pt x="-1" y="20458"/>
                  <a:pt x="90" y="19319"/>
                  <a:pt x="270" y="18193"/>
                </a:cubicBezTo>
                <a:lnTo>
                  <a:pt x="21600" y="21600"/>
                </a:lnTo>
                <a:lnTo>
                  <a:pt x="21600" y="0"/>
                </a:lnTo>
                <a:close/>
              </a:path>
            </a:pathLst>
          </a:custGeom>
          <a:noFill/>
          <a:ln w="9525">
            <a:solidFill>
              <a:srgbClr val="9900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5462" name="Line 54"/>
          <p:cNvSpPr>
            <a:spLocks noChangeShapeType="1"/>
          </p:cNvSpPr>
          <p:nvPr/>
        </p:nvSpPr>
        <p:spPr bwMode="auto">
          <a:xfrm flipV="1">
            <a:off x="2987675" y="2620963"/>
            <a:ext cx="0" cy="2070100"/>
          </a:xfrm>
          <a:prstGeom prst="line">
            <a:avLst/>
          </a:prstGeom>
          <a:noFill/>
          <a:ln w="9525">
            <a:solidFill>
              <a:srgbClr val="9900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5463" name="Line 55"/>
          <p:cNvSpPr>
            <a:spLocks noChangeShapeType="1"/>
          </p:cNvSpPr>
          <p:nvPr/>
        </p:nvSpPr>
        <p:spPr bwMode="auto">
          <a:xfrm flipH="1">
            <a:off x="2168525" y="2624138"/>
            <a:ext cx="819150" cy="0"/>
          </a:xfrm>
          <a:prstGeom prst="line">
            <a:avLst/>
          </a:prstGeom>
          <a:noFill/>
          <a:ln w="9525">
            <a:solidFill>
              <a:srgbClr val="9900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5464" name="Line 56"/>
          <p:cNvSpPr>
            <a:spLocks noChangeShapeType="1"/>
          </p:cNvSpPr>
          <p:nvPr/>
        </p:nvSpPr>
        <p:spPr bwMode="auto">
          <a:xfrm flipV="1">
            <a:off x="2778125" y="2614613"/>
            <a:ext cx="0" cy="2066925"/>
          </a:xfrm>
          <a:prstGeom prst="line">
            <a:avLst/>
          </a:prstGeom>
          <a:noFill/>
          <a:ln w="9525">
            <a:solidFill>
              <a:srgbClr val="9900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5465" name="Oval 57"/>
          <p:cNvSpPr>
            <a:spLocks noChangeArrowheads="1"/>
          </p:cNvSpPr>
          <p:nvPr/>
        </p:nvSpPr>
        <p:spPr bwMode="auto">
          <a:xfrm>
            <a:off x="2697163" y="3962400"/>
            <a:ext cx="177800" cy="177800"/>
          </a:xfrm>
          <a:prstGeom prst="ellipse">
            <a:avLst/>
          </a:prstGeom>
          <a:gradFill rotWithShape="0">
            <a:gsLst>
              <a:gs pos="0">
                <a:srgbClr val="FFFF99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45466" name="Oval 58"/>
          <p:cNvSpPr>
            <a:spLocks noChangeArrowheads="1"/>
          </p:cNvSpPr>
          <p:nvPr/>
        </p:nvSpPr>
        <p:spPr bwMode="auto">
          <a:xfrm>
            <a:off x="2689225" y="2533650"/>
            <a:ext cx="177800" cy="177800"/>
          </a:xfrm>
          <a:prstGeom prst="ellipse">
            <a:avLst/>
          </a:prstGeom>
          <a:gradFill rotWithShape="0">
            <a:gsLst>
              <a:gs pos="0">
                <a:srgbClr val="FFFF99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45467" name="Text Box 59"/>
          <p:cNvSpPr txBox="1">
            <a:spLocks noChangeArrowheads="1"/>
          </p:cNvSpPr>
          <p:nvPr/>
        </p:nvSpPr>
        <p:spPr bwMode="auto">
          <a:xfrm>
            <a:off x="2133600" y="2652713"/>
            <a:ext cx="719138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defRPr/>
            </a:pPr>
            <a:r>
              <a:rPr kumimoji="1" lang="en-US" altLang="zh-CN" sz="2800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</a:rPr>
              <a:t>(b')</a:t>
            </a:r>
          </a:p>
        </p:txBody>
      </p:sp>
      <p:sp>
        <p:nvSpPr>
          <p:cNvPr id="145468" name="Line 60"/>
          <p:cNvSpPr>
            <a:spLocks noChangeShapeType="1"/>
          </p:cNvSpPr>
          <p:nvPr/>
        </p:nvSpPr>
        <p:spPr bwMode="auto">
          <a:xfrm>
            <a:off x="2701925" y="4338638"/>
            <a:ext cx="152400" cy="57150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5469" name="Line 61"/>
          <p:cNvSpPr>
            <a:spLocks noChangeShapeType="1"/>
          </p:cNvSpPr>
          <p:nvPr/>
        </p:nvSpPr>
        <p:spPr bwMode="auto">
          <a:xfrm>
            <a:off x="2987675" y="2624138"/>
            <a:ext cx="1676400" cy="0"/>
          </a:xfrm>
          <a:prstGeom prst="line">
            <a:avLst/>
          </a:prstGeom>
          <a:noFill/>
          <a:ln w="9525">
            <a:solidFill>
              <a:srgbClr val="990033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5470" name="Line 62"/>
          <p:cNvSpPr>
            <a:spLocks noChangeShapeType="1"/>
          </p:cNvSpPr>
          <p:nvPr/>
        </p:nvSpPr>
        <p:spPr bwMode="auto">
          <a:xfrm>
            <a:off x="4292600" y="2566988"/>
            <a:ext cx="104775" cy="123825"/>
          </a:xfrm>
          <a:prstGeom prst="line">
            <a:avLst/>
          </a:prstGeom>
          <a:noFill/>
          <a:ln w="38100">
            <a:solidFill>
              <a:srgbClr val="CC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zh-CN" altLang="en-US"/>
          </a:p>
        </p:txBody>
      </p:sp>
      <p:sp>
        <p:nvSpPr>
          <p:cNvPr id="145471" name="Oval 63"/>
          <p:cNvSpPr>
            <a:spLocks noChangeArrowheads="1"/>
          </p:cNvSpPr>
          <p:nvPr/>
        </p:nvSpPr>
        <p:spPr bwMode="auto">
          <a:xfrm>
            <a:off x="3927475" y="2533650"/>
            <a:ext cx="177800" cy="177800"/>
          </a:xfrm>
          <a:prstGeom prst="ellipse">
            <a:avLst/>
          </a:prstGeom>
          <a:gradFill rotWithShape="0">
            <a:gsLst>
              <a:gs pos="0">
                <a:srgbClr val="FFFF99"/>
              </a:gs>
              <a:gs pos="100000">
                <a:srgbClr val="000000"/>
              </a:gs>
            </a:gsLst>
            <a:path path="shape">
              <a:fillToRect l="50000" t="50000" r="50000" b="50000"/>
            </a:path>
          </a:gradFill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45472" name="Text Box 64"/>
          <p:cNvSpPr txBox="1">
            <a:spLocks noChangeArrowheads="1"/>
          </p:cNvSpPr>
          <p:nvPr/>
        </p:nvSpPr>
        <p:spPr bwMode="auto">
          <a:xfrm>
            <a:off x="3609975" y="2652713"/>
            <a:ext cx="817563" cy="5191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defRPr/>
            </a:pPr>
            <a:r>
              <a:rPr kumimoji="1" lang="en-US" altLang="zh-CN" sz="2800" b="1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隶书" pitchFamily="49" charset="-122"/>
              </a:rPr>
              <a:t>(b")</a:t>
            </a:r>
          </a:p>
        </p:txBody>
      </p:sp>
      <p:sp>
        <p:nvSpPr>
          <p:cNvPr id="145473" name="Text Box 65"/>
          <p:cNvSpPr txBox="1">
            <a:spLocks noChangeArrowheads="1"/>
          </p:cNvSpPr>
          <p:nvPr/>
        </p:nvSpPr>
        <p:spPr bwMode="auto">
          <a:xfrm>
            <a:off x="6642100" y="1285875"/>
            <a:ext cx="146367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l">
              <a:defRPr/>
            </a:pPr>
            <a:r>
              <a:rPr kumimoji="1" lang="zh-CN" altLang="en-US" sz="360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itchFamily="2" charset="-122"/>
              </a:rPr>
              <a:t>分析</a:t>
            </a:r>
          </a:p>
        </p:txBody>
      </p:sp>
      <p:sp>
        <p:nvSpPr>
          <p:cNvPr id="145474" name="Text Box 66"/>
          <p:cNvSpPr txBox="1">
            <a:spLocks noChangeArrowheads="1"/>
          </p:cNvSpPr>
          <p:nvPr/>
        </p:nvSpPr>
        <p:spPr bwMode="auto">
          <a:xfrm>
            <a:off x="6184900" y="4324350"/>
            <a:ext cx="2959100" cy="11874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过圆环表面任一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点均可作一垂直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于轴线的圆。</a:t>
            </a:r>
          </a:p>
        </p:txBody>
      </p:sp>
      <p:sp>
        <p:nvSpPr>
          <p:cNvPr id="145475" name="Text Box 67"/>
          <p:cNvSpPr txBox="1">
            <a:spLocks noChangeArrowheads="1"/>
          </p:cNvSpPr>
          <p:nvPr/>
        </p:nvSpPr>
        <p:spPr bwMode="auto">
          <a:xfrm>
            <a:off x="6699250" y="3665538"/>
            <a:ext cx="1107996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/>
          <a:p>
            <a:pPr algn="l">
              <a:defRPr/>
            </a:pPr>
            <a:r>
              <a:rPr kumimoji="1" lang="zh-CN" altLang="en-US" sz="3600" dirty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itchFamily="2" charset="-122"/>
              </a:rPr>
              <a:t>做</a:t>
            </a:r>
            <a:r>
              <a:rPr kumimoji="1" lang="zh-CN" altLang="en-US" sz="3600" dirty="0" smtClean="0">
                <a:solidFill>
                  <a:srgbClr val="A5002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ea typeface="黑体" pitchFamily="2" charset="-122"/>
              </a:rPr>
              <a:t>图</a:t>
            </a:r>
            <a:endParaRPr kumimoji="1" lang="zh-CN" altLang="en-US" sz="3600" dirty="0">
              <a:solidFill>
                <a:srgbClr val="A50021"/>
              </a:solidFill>
              <a:effectLst>
                <a:outerShdw blurRad="38100" dist="38100" dir="2700000" algn="tl">
                  <a:srgbClr val="C0C0C0"/>
                </a:outerShdw>
              </a:effectLst>
              <a:ea typeface="黑体" pitchFamily="2" charset="-122"/>
            </a:endParaRPr>
          </a:p>
        </p:txBody>
      </p:sp>
      <p:sp>
        <p:nvSpPr>
          <p:cNvPr id="145476" name="Text Box 68"/>
          <p:cNvSpPr txBox="1">
            <a:spLocks noChangeArrowheads="1"/>
          </p:cNvSpPr>
          <p:nvPr/>
        </p:nvSpPr>
        <p:spPr bwMode="auto">
          <a:xfrm>
            <a:off x="6249988" y="1989138"/>
            <a:ext cx="2466975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点</a:t>
            </a:r>
            <a:r>
              <a:rPr lang="en-US" altLang="zh-CN" sz="2400" b="1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A</a:t>
            </a:r>
            <a:r>
              <a:rPr lang="zh-CN" altLang="en-US" sz="2400" b="1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在内环面的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上半部</a:t>
            </a:r>
          </a:p>
        </p:txBody>
      </p:sp>
      <p:sp>
        <p:nvSpPr>
          <p:cNvPr id="145477" name="Text Box 69"/>
          <p:cNvSpPr txBox="1">
            <a:spLocks noChangeArrowheads="1"/>
          </p:cNvSpPr>
          <p:nvPr/>
        </p:nvSpPr>
        <p:spPr bwMode="auto">
          <a:xfrm>
            <a:off x="6227763" y="2827338"/>
            <a:ext cx="2916237" cy="822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点</a:t>
            </a:r>
            <a:r>
              <a:rPr lang="en-US" altLang="zh-CN" sz="2400" b="1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B</a:t>
            </a:r>
            <a:r>
              <a:rPr lang="zh-CN" altLang="en-US" sz="2400" b="1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在外环面的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下半部</a:t>
            </a:r>
          </a:p>
        </p:txBody>
      </p:sp>
      <p:sp>
        <p:nvSpPr>
          <p:cNvPr id="145478" name="Text Box 70"/>
          <p:cNvSpPr txBox="1">
            <a:spLocks noChangeArrowheads="1"/>
          </p:cNvSpPr>
          <p:nvPr/>
        </p:nvSpPr>
        <p:spPr bwMode="auto">
          <a:xfrm>
            <a:off x="6143625" y="5611813"/>
            <a:ext cx="30003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2400" b="1">
                <a:solidFill>
                  <a:srgbClr val="000066"/>
                </a:solidFill>
                <a:latin typeface="黑体" pitchFamily="2" charset="-122"/>
                <a:ea typeface="黑体" pitchFamily="2" charset="-122"/>
              </a:rPr>
              <a:t>注意判断可见性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5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vertical)">
                                      <p:cBhvr>
                                        <p:cTn id="7" dur="500"/>
                                        <p:tgtEl>
                                          <p:spTgt spid="1454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4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2" dur="500"/>
                                        <p:tgtEl>
                                          <p:spTgt spid="1454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" dur="500"/>
                                        <p:tgtEl>
                                          <p:spTgt spid="14544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22" dur="500" fill="hold"/>
                                        <p:tgtEl>
                                          <p:spTgt spid="14545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500" fill="hold"/>
                                        <p:tgtEl>
                                          <p:spTgt spid="14545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27" dur="500"/>
                                        <p:tgtEl>
                                          <p:spTgt spid="14544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 nodeType="clickPar">
                      <p:stCondLst>
                        <p:cond delay="indefinite"/>
                      </p:stCondLst>
                      <p:childTnLst>
                        <p:par>
                          <p:cTn id="2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0" presetID="23" presetClass="entr" presetSubtype="28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2" dur="500" fill="hold"/>
                                        <p:tgtEl>
                                          <p:spTgt spid="14546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500" fill="hold"/>
                                        <p:tgtEl>
                                          <p:spTgt spid="14546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35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37" dur="500"/>
                                        <p:tgtEl>
                                          <p:spTgt spid="14544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 nodeType="clickPar">
                      <p:stCondLst>
                        <p:cond delay="indefinite"/>
                      </p:stCondLst>
                      <p:childTnLst>
                        <p:par>
                          <p:cTn id="3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0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42" dur="500" fill="hold"/>
                                        <p:tgtEl>
                                          <p:spTgt spid="14547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500" fill="hold"/>
                                        <p:tgtEl>
                                          <p:spTgt spid="14547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4" dur="500" fill="hold"/>
                                        <p:tgtEl>
                                          <p:spTgt spid="14547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5" dur="500" fill="hold"/>
                                        <p:tgtEl>
                                          <p:spTgt spid="14547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 nodeType="clickPar">
                      <p:stCondLst>
                        <p:cond delay="indefinite"/>
                      </p:stCondLst>
                      <p:childTnLst>
                        <p:par>
                          <p:cTn id="4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0" dur="75"/>
                                        <p:tgtEl>
                                          <p:spTgt spid="1454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75"/>
                                        <p:tgtEl>
                                          <p:spTgt spid="1454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 nodeType="clickPar">
                      <p:stCondLst>
                        <p:cond delay="indefinite"/>
                      </p:stCondLst>
                      <p:childTnLst>
                        <p:par>
                          <p:cTn id="5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8" presetID="17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60" dur="500" fill="hold"/>
                                        <p:tgtEl>
                                          <p:spTgt spid="14547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1" dur="500" fill="hold"/>
                                        <p:tgtEl>
                                          <p:spTgt spid="14547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2" dur="500" fill="hold"/>
                                        <p:tgtEl>
                                          <p:spTgt spid="1454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63" dur="500" fill="hold"/>
                                        <p:tgtEl>
                                          <p:spTgt spid="1454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 nodeType="clickPar">
                      <p:stCondLst>
                        <p:cond delay="indefinite"/>
                      </p:stCondLst>
                      <p:childTnLst>
                        <p:par>
                          <p:cTn id="6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8" dur="75"/>
                                        <p:tgtEl>
                                          <p:spTgt spid="1454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0"/>
                                  </p:iterate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3" dur="75"/>
                                        <p:tgtEl>
                                          <p:spTgt spid="1454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4" fill="hold" nodeType="clickPar">
                      <p:stCondLst>
                        <p:cond delay="indefinite"/>
                      </p:stCondLst>
                      <p:childTnLst>
                        <p:par>
                          <p:cTn id="7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8" dur="500"/>
                                        <p:tgtEl>
                                          <p:spTgt spid="1454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 nodeType="clickPar">
                      <p:stCondLst>
                        <p:cond delay="indefinite"/>
                      </p:stCondLst>
                      <p:childTnLst>
                        <p:par>
                          <p:cTn id="8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3" dur="500"/>
                                        <p:tgtEl>
                                          <p:spTgt spid="1454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 nodeType="clickPar">
                      <p:stCondLst>
                        <p:cond delay="indefinite"/>
                      </p:stCondLst>
                      <p:childTnLst>
                        <p:par>
                          <p:cTn id="8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8" dur="500"/>
                                        <p:tgtEl>
                                          <p:spTgt spid="1454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 nodeType="clickPar">
                      <p:stCondLst>
                        <p:cond delay="indefinite"/>
                      </p:stCondLst>
                      <p:childTnLst>
                        <p:par>
                          <p:cTn id="9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93" dur="500"/>
                                        <p:tgtEl>
                                          <p:spTgt spid="1454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95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97" dur="500" fill="hold"/>
                                        <p:tgtEl>
                                          <p:spTgt spid="145453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8" dur="500" fill="hold"/>
                                        <p:tgtEl>
                                          <p:spTgt spid="145453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9" fill="hold" nodeType="clickPar">
                      <p:stCondLst>
                        <p:cond delay="indefinite"/>
                      </p:stCondLst>
                      <p:childTnLst>
                        <p:par>
                          <p:cTn id="10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1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3" dur="500"/>
                                        <p:tgtEl>
                                          <p:spTgt spid="1454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4" fill="hold" nodeType="clickPar">
                      <p:stCondLst>
                        <p:cond delay="indefinite"/>
                      </p:stCondLst>
                      <p:childTnLst>
                        <p:par>
                          <p:cTn id="105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6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08" dur="500"/>
                                        <p:tgtEl>
                                          <p:spTgt spid="14545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9" fill="hold" nodeType="clickPar">
                      <p:stCondLst>
                        <p:cond delay="indefinite"/>
                      </p:stCondLst>
                      <p:childTnLst>
                        <p:par>
                          <p:cTn id="11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3" dur="500"/>
                                        <p:tgtEl>
                                          <p:spTgt spid="1454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4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1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7" dur="500"/>
                                        <p:tgtEl>
                                          <p:spTgt spid="1454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8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19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21" dur="500" fill="hold"/>
                                        <p:tgtEl>
                                          <p:spTgt spid="14545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2" dur="500" fill="hold"/>
                                        <p:tgtEl>
                                          <p:spTgt spid="14545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3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124" presetID="9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26" dur="500"/>
                                        <p:tgtEl>
                                          <p:spTgt spid="1454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7" fill="hold" nodeType="clickPar">
                      <p:stCondLst>
                        <p:cond delay="indefinite"/>
                      </p:stCondLst>
                      <p:childTnLst>
                        <p:par>
                          <p:cTn id="1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31" dur="500"/>
                                        <p:tgtEl>
                                          <p:spTgt spid="145460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2" fill="hold" nodeType="clickPar">
                      <p:stCondLst>
                        <p:cond delay="indefinite"/>
                      </p:stCondLst>
                      <p:childTnLst>
                        <p:par>
                          <p:cTn id="13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6" dur="500"/>
                                        <p:tgtEl>
                                          <p:spTgt spid="1454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7" fill="hold" nodeType="clickPar">
                      <p:stCondLst>
                        <p:cond delay="indefinite"/>
                      </p:stCondLst>
                      <p:childTnLst>
                        <p:par>
                          <p:cTn id="1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1" dur="500"/>
                                        <p:tgtEl>
                                          <p:spTgt spid="1454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2" fill="hold" nodeType="clickPar">
                      <p:stCondLst>
                        <p:cond delay="indefinite"/>
                      </p:stCondLst>
                      <p:childTnLst>
                        <p:par>
                          <p:cTn id="14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4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46" dur="500"/>
                                        <p:tgtEl>
                                          <p:spTgt spid="1454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 nodeType="clickPar">
                      <p:stCondLst>
                        <p:cond delay="indefinite"/>
                      </p:stCondLst>
                      <p:childTnLst>
                        <p:par>
                          <p:cTn id="1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1" dur="500"/>
                                        <p:tgtEl>
                                          <p:spTgt spid="1454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53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55" dur="500" fill="hold"/>
                                        <p:tgtEl>
                                          <p:spTgt spid="145466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56" dur="500" fill="hold"/>
                                        <p:tgtEl>
                                          <p:spTgt spid="145466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7" fill="hold" nodeType="clickPar">
                      <p:stCondLst>
                        <p:cond delay="indefinite"/>
                      </p:stCondLst>
                      <p:childTnLst>
                        <p:par>
                          <p:cTn id="1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9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61" dur="500"/>
                                        <p:tgtEl>
                                          <p:spTgt spid="145467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2" fill="hold" nodeType="clickPar">
                      <p:stCondLst>
                        <p:cond delay="indefinite"/>
                      </p:stCondLst>
                      <p:childTnLst>
                        <p:par>
                          <p:cTn id="16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6" dur="500"/>
                                        <p:tgtEl>
                                          <p:spTgt spid="1454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7" fill="hold" nodeType="clickPar">
                      <p:stCondLst>
                        <p:cond delay="indefinite"/>
                      </p:stCondLst>
                      <p:childTnLst>
                        <p:par>
                          <p:cTn id="16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69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1" dur="500"/>
                                        <p:tgtEl>
                                          <p:spTgt spid="1454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73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5" dur="500"/>
                                        <p:tgtEl>
                                          <p:spTgt spid="1454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177" presetID="23" presetClass="entr" presetSubtype="28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179" dur="500" fill="hold"/>
                                        <p:tgtEl>
                                          <p:spTgt spid="145471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0" dur="500" fill="hold"/>
                                        <p:tgtEl>
                                          <p:spTgt spid="145471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/3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1" fill="hold" nodeType="clickPar">
                      <p:stCondLst>
                        <p:cond delay="indefinite"/>
                      </p:stCondLst>
                      <p:childTnLst>
                        <p:par>
                          <p:cTn id="1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83" presetID="9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4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85" dur="500"/>
                                        <p:tgtEl>
                                          <p:spTgt spid="145472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5443" grpId="0" animBg="1"/>
      <p:bldP spid="145444" grpId="0" build="p" autoUpdateAnimBg="0"/>
      <p:bldP spid="145445" grpId="0" build="p" autoUpdateAnimBg="0" advAuto="0"/>
      <p:bldP spid="145446" grpId="0" build="p" autoUpdateAnimBg="0" advAuto="0"/>
      <p:bldP spid="145448" grpId="0" animBg="1"/>
      <p:bldP spid="145449" grpId="0" animBg="1"/>
      <p:bldP spid="145450" grpId="0" animBg="1"/>
      <p:bldP spid="145451" grpId="0" animBg="1"/>
      <p:bldP spid="145452" grpId="0" animBg="1" autoUpdateAnimBg="0"/>
      <p:bldP spid="145453" grpId="0" animBg="1" autoUpdateAnimBg="0"/>
      <p:bldP spid="145454" grpId="0" autoUpdateAnimBg="0"/>
      <p:bldP spid="145455" grpId="0" build="p" autoUpdateAnimBg="0"/>
      <p:bldP spid="145456" grpId="0" animBg="1" autoUpdateAnimBg="0"/>
      <p:bldP spid="145457" grpId="0" animBg="1"/>
      <p:bldP spid="145458" grpId="0" animBg="1"/>
      <p:bldP spid="145459" grpId="0" autoUpdateAnimBg="0"/>
      <p:bldP spid="145460" grpId="0" build="p" autoUpdateAnimBg="0"/>
      <p:bldP spid="145461" grpId="0" animBg="1"/>
      <p:bldP spid="145462" grpId="0" animBg="1"/>
      <p:bldP spid="145463" grpId="0" animBg="1"/>
      <p:bldP spid="145464" grpId="0" animBg="1"/>
      <p:bldP spid="145465" grpId="0" animBg="1"/>
      <p:bldP spid="145466" grpId="0" animBg="1"/>
      <p:bldP spid="145467" grpId="0" build="p" autoUpdateAnimBg="0"/>
      <p:bldP spid="145468" grpId="0" animBg="1"/>
      <p:bldP spid="145469" grpId="0" animBg="1"/>
      <p:bldP spid="145470" grpId="0" animBg="1"/>
      <p:bldP spid="145471" grpId="0" animBg="1"/>
      <p:bldP spid="145472" grpId="0" build="p" autoUpdateAnimBg="0"/>
      <p:bldP spid="145473" grpId="0" autoUpdateAnimBg="0"/>
      <p:bldP spid="145474" grpId="0" autoUpdateAnimBg="0"/>
      <p:bldP spid="145475" grpId="0" autoUpdateAnimBg="0"/>
      <p:bldP spid="145476" grpId="0" autoUpdateAnimBg="0"/>
      <p:bldP spid="145477" grpId="0" autoUpdateAnimBg="0"/>
      <p:bldP spid="145478" grpId="0" autoUpdateAnimBg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7016049" y="6248400"/>
            <a:ext cx="1905000" cy="457200"/>
          </a:xfrm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91343C04-1620-4CB3-A041-734E92C91742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23</a:t>
            </a:fld>
            <a:endParaRPr lang="en-US" altLang="zh-CN" sz="1400" dirty="0" smtClean="0">
              <a:solidFill>
                <a:schemeClr val="bg2"/>
              </a:solidFill>
            </a:endParaRPr>
          </a:p>
        </p:txBody>
      </p:sp>
      <p:sp>
        <p:nvSpPr>
          <p:cNvPr id="25603" name="Line 65"/>
          <p:cNvSpPr>
            <a:spLocks noChangeShapeType="1"/>
          </p:cNvSpPr>
          <p:nvPr/>
        </p:nvSpPr>
        <p:spPr bwMode="auto">
          <a:xfrm>
            <a:off x="5142451" y="152400"/>
            <a:ext cx="0" cy="2076450"/>
          </a:xfrm>
          <a:prstGeom prst="line">
            <a:avLst/>
          </a:prstGeom>
          <a:noFill/>
          <a:ln w="101600">
            <a:solidFill>
              <a:srgbClr val="FFFFFF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90166" name="Line 54"/>
          <p:cNvSpPr>
            <a:spLocks noChangeShapeType="1"/>
          </p:cNvSpPr>
          <p:nvPr/>
        </p:nvSpPr>
        <p:spPr bwMode="auto">
          <a:xfrm flipV="1">
            <a:off x="5147214" y="1763713"/>
            <a:ext cx="741362" cy="4937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90167" name="Line 55"/>
          <p:cNvSpPr>
            <a:spLocks noChangeShapeType="1"/>
          </p:cNvSpPr>
          <p:nvPr/>
        </p:nvSpPr>
        <p:spPr bwMode="auto">
          <a:xfrm>
            <a:off x="5910801" y="1763713"/>
            <a:ext cx="0" cy="41973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90168" name="Line 56"/>
          <p:cNvSpPr>
            <a:spLocks noChangeShapeType="1"/>
          </p:cNvSpPr>
          <p:nvPr/>
        </p:nvSpPr>
        <p:spPr bwMode="auto">
          <a:xfrm flipH="1">
            <a:off x="3554951" y="5961063"/>
            <a:ext cx="235585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90169" name="Line 57"/>
          <p:cNvSpPr>
            <a:spLocks noChangeShapeType="1"/>
          </p:cNvSpPr>
          <p:nvPr/>
        </p:nvSpPr>
        <p:spPr bwMode="auto">
          <a:xfrm>
            <a:off x="5147214" y="2257425"/>
            <a:ext cx="0" cy="370363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90175" name="AutoShape 63"/>
          <p:cNvSpPr>
            <a:spLocks noChangeArrowheads="1"/>
          </p:cNvSpPr>
          <p:nvPr/>
        </p:nvSpPr>
        <p:spPr bwMode="auto">
          <a:xfrm>
            <a:off x="5110701" y="5926138"/>
            <a:ext cx="74613" cy="74612"/>
          </a:xfrm>
          <a:prstGeom prst="flowChartConnector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grpSp>
        <p:nvGrpSpPr>
          <p:cNvPr id="90174" name="Group 62"/>
          <p:cNvGrpSpPr>
            <a:grpSpLocks/>
          </p:cNvGrpSpPr>
          <p:nvPr/>
        </p:nvGrpSpPr>
        <p:grpSpPr bwMode="auto">
          <a:xfrm>
            <a:off x="4955126" y="4232275"/>
            <a:ext cx="1181100" cy="1570038"/>
            <a:chOff x="2223" y="2455"/>
            <a:chExt cx="744" cy="989"/>
          </a:xfrm>
        </p:grpSpPr>
        <p:sp>
          <p:nvSpPr>
            <p:cNvPr id="25640" name="Line 60"/>
            <p:cNvSpPr>
              <a:spLocks noChangeShapeType="1"/>
            </p:cNvSpPr>
            <p:nvPr/>
          </p:nvSpPr>
          <p:spPr bwMode="auto">
            <a:xfrm flipH="1">
              <a:off x="2223" y="2455"/>
              <a:ext cx="744" cy="956"/>
            </a:xfrm>
            <a:prstGeom prst="line">
              <a:avLst/>
            </a:prstGeom>
            <a:noFill/>
            <a:ln w="76200">
              <a:solidFill>
                <a:srgbClr val="FF3300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5641" name="Line 61"/>
            <p:cNvSpPr>
              <a:spLocks noChangeShapeType="1"/>
            </p:cNvSpPr>
            <p:nvPr/>
          </p:nvSpPr>
          <p:spPr bwMode="auto">
            <a:xfrm>
              <a:off x="2267" y="2466"/>
              <a:ext cx="611" cy="978"/>
            </a:xfrm>
            <a:prstGeom prst="line">
              <a:avLst/>
            </a:prstGeom>
            <a:noFill/>
            <a:ln w="76200">
              <a:solidFill>
                <a:srgbClr val="FF3300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90170" name="Rectangle 58"/>
          <p:cNvSpPr>
            <a:spLocks noChangeArrowheads="1"/>
          </p:cNvSpPr>
          <p:nvPr/>
        </p:nvSpPr>
        <p:spPr bwMode="auto">
          <a:xfrm>
            <a:off x="3154901" y="950913"/>
            <a:ext cx="3635375" cy="5591175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0164" name="Line 52"/>
          <p:cNvSpPr>
            <a:spLocks noChangeShapeType="1"/>
          </p:cNvSpPr>
          <p:nvPr/>
        </p:nvSpPr>
        <p:spPr bwMode="auto">
          <a:xfrm>
            <a:off x="5148801" y="4067175"/>
            <a:ext cx="0" cy="18859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90160" name="Line 48"/>
          <p:cNvSpPr>
            <a:spLocks noChangeShapeType="1"/>
          </p:cNvSpPr>
          <p:nvPr/>
        </p:nvSpPr>
        <p:spPr bwMode="auto">
          <a:xfrm>
            <a:off x="5147214" y="2255838"/>
            <a:ext cx="0" cy="18478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90153" name="Line 41"/>
          <p:cNvSpPr>
            <a:spLocks noChangeShapeType="1"/>
          </p:cNvSpPr>
          <p:nvPr/>
        </p:nvSpPr>
        <p:spPr bwMode="auto">
          <a:xfrm flipV="1">
            <a:off x="5166264" y="1612900"/>
            <a:ext cx="995362" cy="623888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25614" name="Text Box 4"/>
          <p:cNvSpPr txBox="1">
            <a:spLocks noChangeArrowheads="1"/>
          </p:cNvSpPr>
          <p:nvPr/>
        </p:nvSpPr>
        <p:spPr bwMode="auto">
          <a:xfrm>
            <a:off x="358775" y="263525"/>
            <a:ext cx="8524875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lang="zh-CN" altLang="en-US" sz="3600" b="1">
                <a:latin typeface="黑体" pitchFamily="2" charset="-122"/>
                <a:ea typeface="黑体" pitchFamily="2" charset="-122"/>
              </a:rPr>
              <a:t>四 轴线倾斜的回转体</a:t>
            </a:r>
          </a:p>
        </p:txBody>
      </p:sp>
      <p:grpSp>
        <p:nvGrpSpPr>
          <p:cNvPr id="90176" name="Group 64"/>
          <p:cNvGrpSpPr>
            <a:grpSpLocks/>
          </p:cNvGrpSpPr>
          <p:nvPr/>
        </p:nvGrpSpPr>
        <p:grpSpPr bwMode="auto">
          <a:xfrm>
            <a:off x="3315239" y="2135188"/>
            <a:ext cx="3582987" cy="4133850"/>
            <a:chOff x="1491" y="1345"/>
            <a:chExt cx="2257" cy="2604"/>
          </a:xfrm>
        </p:grpSpPr>
        <p:sp>
          <p:nvSpPr>
            <p:cNvPr id="25630" name="Rectangle 10"/>
            <p:cNvSpPr>
              <a:spLocks noChangeArrowheads="1"/>
            </p:cNvSpPr>
            <p:nvPr/>
          </p:nvSpPr>
          <p:spPr bwMode="auto">
            <a:xfrm rot="-1919514">
              <a:off x="1685" y="1345"/>
              <a:ext cx="1744" cy="989"/>
            </a:xfrm>
            <a:prstGeom prst="rect">
              <a:avLst/>
            </a:prstGeom>
            <a:noFill/>
            <a:ln w="38100">
              <a:solidFill>
                <a:schemeClr val="tx1"/>
              </a:solidFill>
              <a:miter lim="800000"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400"/>
            </a:p>
          </p:txBody>
        </p:sp>
        <p:sp>
          <p:nvSpPr>
            <p:cNvPr id="25631" name="Line 11"/>
            <p:cNvSpPr>
              <a:spLocks noChangeShapeType="1"/>
            </p:cNvSpPr>
            <p:nvPr/>
          </p:nvSpPr>
          <p:spPr bwMode="auto">
            <a:xfrm rot="-1921375">
              <a:off x="1517" y="1845"/>
              <a:ext cx="2078" cy="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5632" name="Line 12"/>
            <p:cNvSpPr>
              <a:spLocks noChangeShapeType="1"/>
            </p:cNvSpPr>
            <p:nvPr/>
          </p:nvSpPr>
          <p:spPr bwMode="auto">
            <a:xfrm>
              <a:off x="1829" y="2826"/>
              <a:ext cx="0" cy="1123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5633" name="Line 15"/>
            <p:cNvSpPr>
              <a:spLocks noChangeShapeType="1"/>
            </p:cNvSpPr>
            <p:nvPr/>
          </p:nvSpPr>
          <p:spPr bwMode="auto">
            <a:xfrm>
              <a:off x="3301" y="2834"/>
              <a:ext cx="0" cy="1109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5634" name="Line 16"/>
            <p:cNvSpPr>
              <a:spLocks noChangeShapeType="1"/>
            </p:cNvSpPr>
            <p:nvPr/>
          </p:nvSpPr>
          <p:spPr bwMode="auto">
            <a:xfrm>
              <a:off x="1491" y="3390"/>
              <a:ext cx="2257" cy="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squar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5635" name="Oval 23"/>
            <p:cNvSpPr>
              <a:spLocks noChangeArrowheads="1"/>
            </p:cNvSpPr>
            <p:nvPr/>
          </p:nvSpPr>
          <p:spPr bwMode="auto">
            <a:xfrm>
              <a:off x="3039" y="2902"/>
              <a:ext cx="515" cy="988"/>
            </a:xfrm>
            <a:prstGeom prst="ellips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400"/>
            </a:p>
          </p:txBody>
        </p:sp>
        <p:sp>
          <p:nvSpPr>
            <p:cNvPr id="25636" name="Arc 24"/>
            <p:cNvSpPr>
              <a:spLocks/>
            </p:cNvSpPr>
            <p:nvPr/>
          </p:nvSpPr>
          <p:spPr bwMode="auto">
            <a:xfrm>
              <a:off x="1823" y="2906"/>
              <a:ext cx="258" cy="990"/>
            </a:xfrm>
            <a:custGeom>
              <a:avLst/>
              <a:gdLst>
                <a:gd name="T0" fmla="*/ 0 w 22114"/>
                <a:gd name="T1" fmla="*/ 0 h 43200"/>
                <a:gd name="T2" fmla="*/ 0 w 22114"/>
                <a:gd name="T3" fmla="*/ 1 h 43200"/>
                <a:gd name="T4" fmla="*/ 0 w 22114"/>
                <a:gd name="T5" fmla="*/ 0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114" h="43200" fill="none" extrusionOk="0">
                  <a:moveTo>
                    <a:pt x="514" y="0"/>
                  </a:moveTo>
                  <a:cubicBezTo>
                    <a:pt x="12443" y="0"/>
                    <a:pt x="22114" y="9670"/>
                    <a:pt x="22114" y="21600"/>
                  </a:cubicBezTo>
                  <a:cubicBezTo>
                    <a:pt x="22114" y="33529"/>
                    <a:pt x="12443" y="43200"/>
                    <a:pt x="514" y="43200"/>
                  </a:cubicBezTo>
                  <a:cubicBezTo>
                    <a:pt x="342" y="43200"/>
                    <a:pt x="171" y="43197"/>
                    <a:pt x="0" y="43193"/>
                  </a:cubicBezTo>
                </a:path>
                <a:path w="22114" h="43200" stroke="0" extrusionOk="0">
                  <a:moveTo>
                    <a:pt x="514" y="0"/>
                  </a:moveTo>
                  <a:cubicBezTo>
                    <a:pt x="12443" y="0"/>
                    <a:pt x="22114" y="9670"/>
                    <a:pt x="22114" y="21600"/>
                  </a:cubicBezTo>
                  <a:cubicBezTo>
                    <a:pt x="22114" y="33529"/>
                    <a:pt x="12443" y="43200"/>
                    <a:pt x="514" y="43200"/>
                  </a:cubicBezTo>
                  <a:cubicBezTo>
                    <a:pt x="342" y="43200"/>
                    <a:pt x="171" y="43197"/>
                    <a:pt x="0" y="43193"/>
                  </a:cubicBezTo>
                  <a:lnTo>
                    <a:pt x="514" y="21600"/>
                  </a:lnTo>
                  <a:lnTo>
                    <a:pt x="514" y="0"/>
                  </a:lnTo>
                  <a:close/>
                </a:path>
              </a:pathLst>
            </a:custGeom>
            <a:noFill/>
            <a:ln w="9525">
              <a:solidFill>
                <a:schemeClr val="tx1"/>
              </a:solidFill>
              <a:prstDash val="lgDash"/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5637" name="Arc 25"/>
            <p:cNvSpPr>
              <a:spLocks/>
            </p:cNvSpPr>
            <p:nvPr/>
          </p:nvSpPr>
          <p:spPr bwMode="auto">
            <a:xfrm flipH="1">
              <a:off x="1565" y="2900"/>
              <a:ext cx="258" cy="990"/>
            </a:xfrm>
            <a:custGeom>
              <a:avLst/>
              <a:gdLst>
                <a:gd name="T0" fmla="*/ 0 w 22114"/>
                <a:gd name="T1" fmla="*/ 0 h 43200"/>
                <a:gd name="T2" fmla="*/ 0 w 22114"/>
                <a:gd name="T3" fmla="*/ 1 h 43200"/>
                <a:gd name="T4" fmla="*/ 0 w 22114"/>
                <a:gd name="T5" fmla="*/ 0 h 4320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114" h="43200" fill="none" extrusionOk="0">
                  <a:moveTo>
                    <a:pt x="514" y="0"/>
                  </a:moveTo>
                  <a:cubicBezTo>
                    <a:pt x="12443" y="0"/>
                    <a:pt x="22114" y="9670"/>
                    <a:pt x="22114" y="21600"/>
                  </a:cubicBezTo>
                  <a:cubicBezTo>
                    <a:pt x="22114" y="33529"/>
                    <a:pt x="12443" y="43200"/>
                    <a:pt x="514" y="43200"/>
                  </a:cubicBezTo>
                  <a:cubicBezTo>
                    <a:pt x="342" y="43200"/>
                    <a:pt x="171" y="43197"/>
                    <a:pt x="0" y="43193"/>
                  </a:cubicBezTo>
                </a:path>
                <a:path w="22114" h="43200" stroke="0" extrusionOk="0">
                  <a:moveTo>
                    <a:pt x="514" y="0"/>
                  </a:moveTo>
                  <a:cubicBezTo>
                    <a:pt x="12443" y="0"/>
                    <a:pt x="22114" y="9670"/>
                    <a:pt x="22114" y="21600"/>
                  </a:cubicBezTo>
                  <a:cubicBezTo>
                    <a:pt x="22114" y="33529"/>
                    <a:pt x="12443" y="43200"/>
                    <a:pt x="514" y="43200"/>
                  </a:cubicBezTo>
                  <a:cubicBezTo>
                    <a:pt x="342" y="43200"/>
                    <a:pt x="171" y="43197"/>
                    <a:pt x="0" y="43193"/>
                  </a:cubicBezTo>
                  <a:lnTo>
                    <a:pt x="514" y="21600"/>
                  </a:lnTo>
                  <a:lnTo>
                    <a:pt x="514" y="0"/>
                  </a:lnTo>
                  <a:close/>
                </a:path>
              </a:pathLst>
            </a:custGeom>
            <a:noFill/>
            <a:ln w="38100">
              <a:solidFill>
                <a:schemeClr val="tx1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5638" name="Line 26"/>
            <p:cNvSpPr>
              <a:spLocks noChangeShapeType="1"/>
            </p:cNvSpPr>
            <p:nvPr/>
          </p:nvSpPr>
          <p:spPr bwMode="auto">
            <a:xfrm>
              <a:off x="1806" y="2900"/>
              <a:ext cx="147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5639" name="Line 27"/>
            <p:cNvSpPr>
              <a:spLocks noChangeShapeType="1"/>
            </p:cNvSpPr>
            <p:nvPr/>
          </p:nvSpPr>
          <p:spPr bwMode="auto">
            <a:xfrm>
              <a:off x="1816" y="3889"/>
              <a:ext cx="1476" cy="0"/>
            </a:xfrm>
            <a:prstGeom prst="line">
              <a:avLst/>
            </a:prstGeom>
            <a:noFill/>
            <a:ln w="38100">
              <a:solidFill>
                <a:schemeClr val="tx1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90142" name="AutoShape 30"/>
          <p:cNvSpPr>
            <a:spLocks noChangeArrowheads="1"/>
          </p:cNvSpPr>
          <p:nvPr/>
        </p:nvSpPr>
        <p:spPr bwMode="auto">
          <a:xfrm>
            <a:off x="5112289" y="2222500"/>
            <a:ext cx="74612" cy="74613"/>
          </a:xfrm>
          <a:prstGeom prst="flowChartConnector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0143" name="Text Box 31"/>
          <p:cNvSpPr txBox="1">
            <a:spLocks noChangeArrowheads="1"/>
          </p:cNvSpPr>
          <p:nvPr/>
        </p:nvSpPr>
        <p:spPr bwMode="auto">
          <a:xfrm>
            <a:off x="4893214" y="1852613"/>
            <a:ext cx="5842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b="1" i="1">
                <a:latin typeface="ISOCPEUR" pitchFamily="34" charset="0"/>
              </a:rPr>
              <a:t>a’</a:t>
            </a:r>
          </a:p>
        </p:txBody>
      </p:sp>
      <p:sp>
        <p:nvSpPr>
          <p:cNvPr id="90150" name="Line 38"/>
          <p:cNvSpPr>
            <a:spLocks noChangeShapeType="1"/>
          </p:cNvSpPr>
          <p:nvPr/>
        </p:nvSpPr>
        <p:spPr bwMode="auto">
          <a:xfrm flipV="1">
            <a:off x="6469601" y="989013"/>
            <a:ext cx="1624013" cy="1004887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Dot"/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90151" name="Line 39"/>
          <p:cNvSpPr>
            <a:spLocks noChangeShapeType="1"/>
          </p:cNvSpPr>
          <p:nvPr/>
        </p:nvSpPr>
        <p:spPr bwMode="auto">
          <a:xfrm>
            <a:off x="6717251" y="704850"/>
            <a:ext cx="1076325" cy="174625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Dot"/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90152" name="Oval 40"/>
          <p:cNvSpPr>
            <a:spLocks noChangeArrowheads="1"/>
          </p:cNvSpPr>
          <p:nvPr/>
        </p:nvSpPr>
        <p:spPr bwMode="auto">
          <a:xfrm>
            <a:off x="6469601" y="762000"/>
            <a:ext cx="1550988" cy="1550988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0154" name="Text Box 42"/>
          <p:cNvSpPr txBox="1">
            <a:spLocks noChangeArrowheads="1"/>
          </p:cNvSpPr>
          <p:nvPr/>
        </p:nvSpPr>
        <p:spPr bwMode="auto">
          <a:xfrm>
            <a:off x="7320501" y="457200"/>
            <a:ext cx="59213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b="1" i="1">
                <a:latin typeface="ISOCPEUR" pitchFamily="34" charset="0"/>
              </a:rPr>
              <a:t>a</a:t>
            </a:r>
            <a:r>
              <a:rPr kumimoji="0" lang="en-US" altLang="zh-CN" sz="1800" b="1" i="1">
                <a:latin typeface="ISOCPEUR" pitchFamily="34" charset="0"/>
              </a:rPr>
              <a:t>1</a:t>
            </a:r>
            <a:endParaRPr kumimoji="0" lang="en-US" altLang="zh-CN" sz="2400">
              <a:latin typeface="ISOCPEUR" pitchFamily="34" charset="0"/>
            </a:endParaRPr>
          </a:p>
        </p:txBody>
      </p:sp>
      <p:sp>
        <p:nvSpPr>
          <p:cNvPr id="90155" name="AutoShape 43"/>
          <p:cNvSpPr>
            <a:spLocks noChangeArrowheads="1"/>
          </p:cNvSpPr>
          <p:nvPr/>
        </p:nvSpPr>
        <p:spPr bwMode="auto">
          <a:xfrm>
            <a:off x="7088726" y="915988"/>
            <a:ext cx="158750" cy="123825"/>
          </a:xfrm>
          <a:prstGeom prst="flowChartDecision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0156" name="AutoShape 44"/>
          <p:cNvSpPr>
            <a:spLocks noChangeArrowheads="1"/>
          </p:cNvSpPr>
          <p:nvPr/>
        </p:nvSpPr>
        <p:spPr bwMode="auto">
          <a:xfrm>
            <a:off x="6098126" y="5583238"/>
            <a:ext cx="158750" cy="123825"/>
          </a:xfrm>
          <a:prstGeom prst="flowChartDecision">
            <a:avLst/>
          </a:prstGeom>
          <a:noFill/>
          <a:ln w="19050">
            <a:solidFill>
              <a:schemeClr val="tx1"/>
            </a:solidFill>
            <a:miter lim="800000"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0159" name="Line 47"/>
          <p:cNvSpPr>
            <a:spLocks noChangeShapeType="1"/>
          </p:cNvSpPr>
          <p:nvPr/>
        </p:nvSpPr>
        <p:spPr bwMode="auto">
          <a:xfrm flipH="1">
            <a:off x="3558126" y="5962650"/>
            <a:ext cx="26289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90161" name="AutoShape 49"/>
          <p:cNvSpPr>
            <a:spLocks noChangeArrowheads="1"/>
          </p:cNvSpPr>
          <p:nvPr/>
        </p:nvSpPr>
        <p:spPr bwMode="auto">
          <a:xfrm>
            <a:off x="5110701" y="5924550"/>
            <a:ext cx="74613" cy="74613"/>
          </a:xfrm>
          <a:prstGeom prst="flowChartConnector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0162" name="Text Box 50"/>
          <p:cNvSpPr txBox="1">
            <a:spLocks noChangeArrowheads="1"/>
          </p:cNvSpPr>
          <p:nvPr/>
        </p:nvSpPr>
        <p:spPr bwMode="auto">
          <a:xfrm>
            <a:off x="5120226" y="5610225"/>
            <a:ext cx="3270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b="1" i="1">
                <a:latin typeface="ISOCPEUR" pitchFamily="34" charset="0"/>
              </a:rPr>
              <a:t>a</a:t>
            </a:r>
            <a:endParaRPr kumimoji="0" lang="en-US" altLang="zh-CN" sz="2400">
              <a:latin typeface="ISOCPEUR" pitchFamily="34" charset="0"/>
            </a:endParaRPr>
          </a:p>
        </p:txBody>
      </p:sp>
      <p:sp>
        <p:nvSpPr>
          <p:cNvPr id="90163" name="Line 51"/>
          <p:cNvSpPr>
            <a:spLocks noChangeShapeType="1"/>
          </p:cNvSpPr>
          <p:nvPr/>
        </p:nvSpPr>
        <p:spPr bwMode="auto">
          <a:xfrm flipV="1">
            <a:off x="6112414" y="809625"/>
            <a:ext cx="1343025" cy="8413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90165" name="AutoShape 53"/>
          <p:cNvSpPr>
            <a:spLocks noChangeArrowheads="1"/>
          </p:cNvSpPr>
          <p:nvPr/>
        </p:nvSpPr>
        <p:spPr bwMode="auto">
          <a:xfrm>
            <a:off x="7431626" y="765175"/>
            <a:ext cx="74613" cy="74613"/>
          </a:xfrm>
          <a:prstGeom prst="flowChartConnector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90171" name="Text Box 59"/>
          <p:cNvSpPr txBox="1">
            <a:spLocks noChangeArrowheads="1"/>
          </p:cNvSpPr>
          <p:nvPr/>
        </p:nvSpPr>
        <p:spPr bwMode="auto">
          <a:xfrm>
            <a:off x="10344" y="3946071"/>
            <a:ext cx="3144557" cy="83099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400" b="1" dirty="0">
                <a:latin typeface="黑体" pitchFamily="2" charset="-122"/>
                <a:ea typeface="黑体" pitchFamily="2" charset="-122"/>
              </a:rPr>
              <a:t>求解思路</a:t>
            </a:r>
            <a:r>
              <a:rPr kumimoji="0" lang="zh-CN" altLang="en-US" sz="2400" b="1" dirty="0" smtClean="0">
                <a:latin typeface="黑体" pitchFamily="2" charset="-122"/>
                <a:ea typeface="黑体" pitchFamily="2" charset="-122"/>
              </a:rPr>
              <a:t>：</a:t>
            </a:r>
            <a:endParaRPr kumimoji="0" lang="zh-CN" altLang="en-US" sz="2400" b="1" dirty="0"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400" b="1" dirty="0" smtClean="0">
                <a:latin typeface="黑体" pitchFamily="2" charset="-122"/>
                <a:ea typeface="黑体" pitchFamily="2" charset="-122"/>
              </a:rPr>
              <a:t>如果处理倾斜问题？</a:t>
            </a:r>
            <a:endParaRPr kumimoji="0" lang="en-US" altLang="zh-CN" sz="2400" b="1" dirty="0" smtClean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42" name="Text Box 59"/>
          <p:cNvSpPr txBox="1">
            <a:spLocks noChangeArrowheads="1"/>
          </p:cNvSpPr>
          <p:nvPr/>
        </p:nvSpPr>
        <p:spPr bwMode="auto">
          <a:xfrm>
            <a:off x="10344" y="1720940"/>
            <a:ext cx="2840037" cy="156966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400" b="1" dirty="0" smtClean="0">
                <a:latin typeface="黑体" pitchFamily="2" charset="-122"/>
                <a:ea typeface="黑体" pitchFamily="2" charset="-122"/>
              </a:rPr>
              <a:t>绘图原则：</a:t>
            </a:r>
            <a:endParaRPr kumimoji="0" lang="zh-CN" altLang="en-US" sz="2400" b="1" dirty="0">
              <a:latin typeface="黑体" pitchFamily="2" charset="-122"/>
              <a:ea typeface="黑体" pitchFamily="2" charset="-122"/>
            </a:endParaRP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400" b="1" dirty="0" smtClean="0">
                <a:latin typeface="黑体" pitchFamily="2" charset="-122"/>
                <a:ea typeface="黑体" pitchFamily="2" charset="-122"/>
              </a:rPr>
              <a:t>椭圆均采用近似画法获得，不能作为准确绘图的基准。</a:t>
            </a:r>
            <a:endParaRPr kumimoji="0" lang="zh-CN" altLang="en-US" sz="2400" b="1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43" name="Text Box 59"/>
          <p:cNvSpPr txBox="1">
            <a:spLocks noChangeArrowheads="1"/>
          </p:cNvSpPr>
          <p:nvPr/>
        </p:nvSpPr>
        <p:spPr bwMode="auto">
          <a:xfrm>
            <a:off x="4698" y="4847587"/>
            <a:ext cx="3144557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400" b="1" dirty="0" smtClean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换</a:t>
            </a:r>
            <a:r>
              <a:rPr kumimoji="0" lang="zh-CN" altLang="en-US" sz="2400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面法</a:t>
            </a:r>
          </a:p>
        </p:txBody>
      </p:sp>
      <p:sp>
        <p:nvSpPr>
          <p:cNvPr id="44" name="Text Box 59"/>
          <p:cNvSpPr txBox="1">
            <a:spLocks noChangeArrowheads="1"/>
          </p:cNvSpPr>
          <p:nvPr/>
        </p:nvSpPr>
        <p:spPr bwMode="auto">
          <a:xfrm>
            <a:off x="6404779" y="3832174"/>
            <a:ext cx="273922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400" b="1" dirty="0" smtClean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前后方位的基准面</a:t>
            </a:r>
            <a:endParaRPr kumimoji="0" lang="zh-CN" altLang="en-US" sz="2400" b="1" dirty="0">
              <a:solidFill>
                <a:srgbClr val="FF000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45" name="Line 47"/>
          <p:cNvSpPr>
            <a:spLocks noChangeShapeType="1"/>
          </p:cNvSpPr>
          <p:nvPr/>
        </p:nvSpPr>
        <p:spPr bwMode="auto">
          <a:xfrm flipH="1">
            <a:off x="6898226" y="5399089"/>
            <a:ext cx="876163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46" name="Text Box 59"/>
          <p:cNvSpPr txBox="1">
            <a:spLocks noChangeArrowheads="1"/>
          </p:cNvSpPr>
          <p:nvPr/>
        </p:nvSpPr>
        <p:spPr bwMode="auto">
          <a:xfrm>
            <a:off x="7819373" y="5199034"/>
            <a:ext cx="54848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b="1" dirty="0" smtClean="0">
                <a:latin typeface="黑体" pitchFamily="2" charset="-122"/>
                <a:ea typeface="黑体" pitchFamily="2" charset="-122"/>
              </a:rPr>
              <a:t>P</a:t>
            </a:r>
            <a:r>
              <a:rPr kumimoji="0" lang="en-US" altLang="zh-CN" sz="2000" b="1" baseline="-25000" dirty="0" smtClean="0">
                <a:latin typeface="黑体" pitchFamily="2" charset="-122"/>
                <a:ea typeface="黑体" pitchFamily="2" charset="-122"/>
              </a:rPr>
              <a:t>H</a:t>
            </a:r>
          </a:p>
        </p:txBody>
      </p:sp>
      <p:sp>
        <p:nvSpPr>
          <p:cNvPr id="47" name="Line 47"/>
          <p:cNvSpPr>
            <a:spLocks noChangeShapeType="1"/>
          </p:cNvSpPr>
          <p:nvPr/>
        </p:nvSpPr>
        <p:spPr bwMode="auto">
          <a:xfrm flipH="1" flipV="1">
            <a:off x="7787435" y="2444750"/>
            <a:ext cx="385719" cy="63341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48" name="Text Box 59"/>
          <p:cNvSpPr txBox="1">
            <a:spLocks noChangeArrowheads="1"/>
          </p:cNvSpPr>
          <p:nvPr/>
        </p:nvSpPr>
        <p:spPr bwMode="auto">
          <a:xfrm>
            <a:off x="8141108" y="2766253"/>
            <a:ext cx="54848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000" b="1" dirty="0" smtClean="0">
                <a:latin typeface="黑体" pitchFamily="2" charset="-122"/>
                <a:ea typeface="黑体" pitchFamily="2" charset="-122"/>
              </a:rPr>
              <a:t>P</a:t>
            </a:r>
            <a:r>
              <a:rPr kumimoji="0" lang="en-US" altLang="zh-CN" sz="2000" b="1" baseline="-25000" dirty="0" smtClean="0">
                <a:latin typeface="黑体" pitchFamily="2" charset="-122"/>
                <a:ea typeface="黑体" pitchFamily="2" charset="-122"/>
              </a:rPr>
              <a:t>1</a:t>
            </a:r>
          </a:p>
        </p:txBody>
      </p:sp>
      <p:sp>
        <p:nvSpPr>
          <p:cNvPr id="49" name="Line 48"/>
          <p:cNvSpPr>
            <a:spLocks noChangeShapeType="1"/>
          </p:cNvSpPr>
          <p:nvPr/>
        </p:nvSpPr>
        <p:spPr bwMode="auto">
          <a:xfrm flipV="1">
            <a:off x="7260538" y="3179763"/>
            <a:ext cx="912616" cy="652411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50" name="Line 48"/>
          <p:cNvSpPr>
            <a:spLocks noChangeShapeType="1"/>
          </p:cNvSpPr>
          <p:nvPr/>
        </p:nvSpPr>
        <p:spPr bwMode="auto">
          <a:xfrm>
            <a:off x="7255413" y="4265615"/>
            <a:ext cx="657226" cy="93342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51" name="Text Box 59"/>
          <p:cNvSpPr txBox="1">
            <a:spLocks noChangeArrowheads="1"/>
          </p:cNvSpPr>
          <p:nvPr/>
        </p:nvSpPr>
        <p:spPr bwMode="auto">
          <a:xfrm>
            <a:off x="6963367" y="5723236"/>
            <a:ext cx="71426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400" b="1" dirty="0" smtClean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前</a:t>
            </a:r>
            <a:endParaRPr kumimoji="0" lang="zh-CN" altLang="en-US" sz="2400" b="1" dirty="0">
              <a:solidFill>
                <a:srgbClr val="FF000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52" name="Text Box 59"/>
          <p:cNvSpPr txBox="1">
            <a:spLocks noChangeArrowheads="1"/>
          </p:cNvSpPr>
          <p:nvPr/>
        </p:nvSpPr>
        <p:spPr bwMode="auto">
          <a:xfrm rot="19686208">
            <a:off x="6791971" y="190268"/>
            <a:ext cx="71426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400" b="1" dirty="0" smtClean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前</a:t>
            </a:r>
            <a:endParaRPr kumimoji="0" lang="zh-CN" altLang="en-US" sz="2400" b="1" dirty="0">
              <a:solidFill>
                <a:srgbClr val="FF000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53" name="Text Box 59"/>
          <p:cNvSpPr txBox="1">
            <a:spLocks noChangeArrowheads="1"/>
          </p:cNvSpPr>
          <p:nvPr/>
        </p:nvSpPr>
        <p:spPr bwMode="auto">
          <a:xfrm>
            <a:off x="6957721" y="4599979"/>
            <a:ext cx="71426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400" b="1" dirty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后</a:t>
            </a:r>
          </a:p>
        </p:txBody>
      </p:sp>
      <p:sp>
        <p:nvSpPr>
          <p:cNvPr id="54" name="Text Box 59"/>
          <p:cNvSpPr txBox="1">
            <a:spLocks noChangeArrowheads="1"/>
          </p:cNvSpPr>
          <p:nvPr/>
        </p:nvSpPr>
        <p:spPr bwMode="auto">
          <a:xfrm rot="19686208">
            <a:off x="6052540" y="636182"/>
            <a:ext cx="714268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400" b="1" dirty="0" smtClean="0">
                <a:solidFill>
                  <a:srgbClr val="FF0000"/>
                </a:solidFill>
                <a:latin typeface="黑体" pitchFamily="2" charset="-122"/>
                <a:ea typeface="黑体" pitchFamily="2" charset="-122"/>
              </a:rPr>
              <a:t>后</a:t>
            </a:r>
            <a:endParaRPr kumimoji="0" lang="zh-CN" altLang="en-US" sz="2400" b="1" dirty="0">
              <a:solidFill>
                <a:srgbClr val="FF0000"/>
              </a:solidFill>
              <a:latin typeface="黑体" pitchFamily="2" charset="-122"/>
              <a:ea typeface="黑体" pitchFamily="2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901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90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1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6" dur="500"/>
                                        <p:tgtEl>
                                          <p:spTgt spid="90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 nodeType="clickPar">
                      <p:stCondLst>
                        <p:cond delay="indefinite"/>
                      </p:stCondLst>
                      <p:childTnLst>
                        <p:par>
                          <p:cTn id="1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901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5" dur="500"/>
                                        <p:tgtEl>
                                          <p:spTgt spid="90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7" presetID="22" presetClass="entr" presetSubtype="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29" dur="500"/>
                                        <p:tgtEl>
                                          <p:spTgt spid="90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90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4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5" presetID="23" presetClass="entr" presetSubtype="32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37" dur="500" fill="hold"/>
                                        <p:tgtEl>
                                          <p:spTgt spid="90175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w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500" fill="hold"/>
                                        <p:tgtEl>
                                          <p:spTgt spid="90175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4*#ppt_h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4" presetClass="entr" presetSubtype="3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43" dur="500"/>
                                        <p:tgtEl>
                                          <p:spTgt spid="901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8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3" dur="500"/>
                                        <p:tgtEl>
                                          <p:spTgt spid="90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8" dur="500"/>
                                        <p:tgtEl>
                                          <p:spTgt spid="90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68" dur="500"/>
                                        <p:tgtEl>
                                          <p:spTgt spid="90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500"/>
                            </p:stCondLst>
                            <p:childTnLst>
                              <p:par>
                                <p:cTn id="7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2" dur="500"/>
                                        <p:tgtEl>
                                          <p:spTgt spid="90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7" dur="500"/>
                                        <p:tgtEl>
                                          <p:spTgt spid="901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8" fill="hold">
                      <p:stCondLst>
                        <p:cond delay="indefinite"/>
                      </p:stCondLst>
                      <p:childTnLst>
                        <p:par>
                          <p:cTn id="79" fill="hold">
                            <p:stCondLst>
                              <p:cond delay="0"/>
                            </p:stCondLst>
                            <p:childTnLst>
                              <p:par>
                                <p:cTn id="8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2" dur="500"/>
                                        <p:tgtEl>
                                          <p:spTgt spid="901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3" fill="hold">
                            <p:stCondLst>
                              <p:cond delay="500"/>
                            </p:stCondLst>
                            <p:childTnLst>
                              <p:par>
                                <p:cTn id="84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6" dur="500"/>
                                        <p:tgtEl>
                                          <p:spTgt spid="90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7" fill="hold">
                            <p:stCondLst>
                              <p:cond delay="1000"/>
                            </p:stCondLst>
                            <p:childTnLst>
                              <p:par>
                                <p:cTn id="88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0" dur="500"/>
                                        <p:tgtEl>
                                          <p:spTgt spid="90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1" fill="hold">
                            <p:stCondLst>
                              <p:cond delay="1500"/>
                            </p:stCondLst>
                            <p:childTnLst>
                              <p:par>
                                <p:cTn id="92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4" dur="500"/>
                                        <p:tgtEl>
                                          <p:spTgt spid="901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5" fill="hold">
                      <p:stCondLst>
                        <p:cond delay="indefinite"/>
                      </p:stCondLst>
                      <p:childTnLst>
                        <p:par>
                          <p:cTn id="96" fill="hold">
                            <p:stCondLst>
                              <p:cond delay="0"/>
                            </p:stCondLst>
                            <p:childTnLst>
                              <p:par>
                                <p:cTn id="9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9" dur="500"/>
                                        <p:tgtEl>
                                          <p:spTgt spid="901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0" fill="hold">
                      <p:stCondLst>
                        <p:cond delay="indefinite"/>
                      </p:stCondLst>
                      <p:childTnLst>
                        <p:par>
                          <p:cTn id="101" fill="hold">
                            <p:stCondLst>
                              <p:cond delay="0"/>
                            </p:stCondLst>
                            <p:childTnLst>
                              <p:par>
                                <p:cTn id="10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4" dur="500"/>
                                        <p:tgtEl>
                                          <p:spTgt spid="901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5" fill="hold">
                      <p:stCondLst>
                        <p:cond delay="indefinite"/>
                      </p:stCondLst>
                      <p:childTnLst>
                        <p:par>
                          <p:cTn id="106" fill="hold">
                            <p:stCondLst>
                              <p:cond delay="0"/>
                            </p:stCondLst>
                            <p:childTnLst>
                              <p:par>
                                <p:cTn id="107" presetID="22" presetClass="entr" presetSubtype="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9" dur="500"/>
                                        <p:tgtEl>
                                          <p:spTgt spid="901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0" fill="hold">
                      <p:stCondLst>
                        <p:cond delay="indefinite"/>
                      </p:stCondLst>
                      <p:childTnLst>
                        <p:par>
                          <p:cTn id="111" fill="hold">
                            <p:stCondLst>
                              <p:cond delay="0"/>
                            </p:stCondLst>
                            <p:childTnLst>
                              <p:par>
                                <p:cTn id="11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4" dur="500"/>
                                        <p:tgtEl>
                                          <p:spTgt spid="901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5" fill="hold">
                            <p:stCondLst>
                              <p:cond delay="500"/>
                            </p:stCondLst>
                            <p:childTnLst>
                              <p:par>
                                <p:cTn id="116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8" dur="500"/>
                                        <p:tgtEl>
                                          <p:spTgt spid="90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3" dur="500"/>
                                        <p:tgtEl>
                                          <p:spTgt spid="90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4" fill="hold">
                            <p:stCondLst>
                              <p:cond delay="500"/>
                            </p:stCondLst>
                            <p:childTnLst>
                              <p:par>
                                <p:cTn id="125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7" dur="500"/>
                                        <p:tgtEl>
                                          <p:spTgt spid="901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8" fill="hold">
                      <p:stCondLst>
                        <p:cond delay="indefinite"/>
                      </p:stCondLst>
                      <p:childTnLst>
                        <p:par>
                          <p:cTn id="129" fill="hold">
                            <p:stCondLst>
                              <p:cond delay="0"/>
                            </p:stCondLst>
                            <p:childTnLst>
                              <p:par>
                                <p:cTn id="13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4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8" fill="hold">
                      <p:stCondLst>
                        <p:cond delay="indefinite"/>
                      </p:stCondLst>
                      <p:childTnLst>
                        <p:par>
                          <p:cTn id="149" fill="hold">
                            <p:stCondLst>
                              <p:cond delay="0"/>
                            </p:stCondLst>
                            <p:childTnLst>
                              <p:par>
                                <p:cTn id="15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2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3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5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6" presetID="22" presetClass="entr" presetSubtype="8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8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9" fill="hold">
                      <p:stCondLst>
                        <p:cond delay="indefinite"/>
                      </p:stCondLst>
                      <p:childTnLst>
                        <p:par>
                          <p:cTn id="160" fill="hold">
                            <p:stCondLst>
                              <p:cond delay="0"/>
                            </p:stCondLst>
                            <p:childTnLst>
                              <p:par>
                                <p:cTn id="16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3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4" fill="hold">
                      <p:stCondLst>
                        <p:cond delay="indefinite"/>
                      </p:stCondLst>
                      <p:childTnLst>
                        <p:par>
                          <p:cTn id="165" fill="hold">
                            <p:stCondLst>
                              <p:cond delay="0"/>
                            </p:stCondLst>
                            <p:childTnLst>
                              <p:par>
                                <p:cTn id="16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8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9" fill="hold">
                      <p:stCondLst>
                        <p:cond delay="indefinite"/>
                      </p:stCondLst>
                      <p:childTnLst>
                        <p:par>
                          <p:cTn id="170" fill="hold">
                            <p:stCondLst>
                              <p:cond delay="0"/>
                            </p:stCondLst>
                            <p:childTnLst>
                              <p:par>
                                <p:cTn id="17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3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4" fill="hold">
                      <p:stCondLst>
                        <p:cond delay="indefinite"/>
                      </p:stCondLst>
                      <p:childTnLst>
                        <p:par>
                          <p:cTn id="175" fill="hold">
                            <p:stCondLst>
                              <p:cond delay="0"/>
                            </p:stCondLst>
                            <p:childTnLst>
                              <p:par>
                                <p:cTn id="17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8" dur="500"/>
                                        <p:tgtEl>
                                          <p:spTgt spid="5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0166" grpId="0" animBg="1"/>
      <p:bldP spid="90167" grpId="0" animBg="1"/>
      <p:bldP spid="90168" grpId="0" animBg="1"/>
      <p:bldP spid="90169" grpId="0" animBg="1"/>
      <p:bldP spid="90175" grpId="0" animBg="1"/>
      <p:bldP spid="90170" grpId="0" animBg="1"/>
      <p:bldP spid="90164" grpId="0" animBg="1"/>
      <p:bldP spid="90160" grpId="0" animBg="1"/>
      <p:bldP spid="90153" grpId="0" animBg="1"/>
      <p:bldP spid="90142" grpId="0" animBg="1"/>
      <p:bldP spid="90143" grpId="0" autoUpdateAnimBg="0"/>
      <p:bldP spid="90150" grpId="0" animBg="1"/>
      <p:bldP spid="90151" grpId="0" animBg="1"/>
      <p:bldP spid="90152" grpId="0" animBg="1"/>
      <p:bldP spid="90154" grpId="0" autoUpdateAnimBg="0"/>
      <p:bldP spid="90155" grpId="0" animBg="1"/>
      <p:bldP spid="90156" grpId="0" animBg="1"/>
      <p:bldP spid="90159" grpId="0" animBg="1"/>
      <p:bldP spid="90161" grpId="0" animBg="1"/>
      <p:bldP spid="90162" grpId="0" autoUpdateAnimBg="0"/>
      <p:bldP spid="90163" grpId="0" animBg="1"/>
      <p:bldP spid="90165" grpId="0" animBg="1"/>
      <p:bldP spid="90171" grpId="0" autoUpdateAnimBg="0"/>
      <p:bldP spid="42" grpId="0" autoUpdateAnimBg="0"/>
      <p:bldP spid="43" grpId="0" autoUpdateAnimBg="0"/>
      <p:bldP spid="44" grpId="0" autoUpdateAnimBg="0"/>
      <p:bldP spid="45" grpId="0" animBg="1"/>
      <p:bldP spid="46" grpId="0" autoUpdateAnimBg="0"/>
      <p:bldP spid="47" grpId="0" animBg="1"/>
      <p:bldP spid="48" grpId="0" autoUpdateAnimBg="0"/>
      <p:bldP spid="49" grpId="0" animBg="1"/>
      <p:bldP spid="50" grpId="0" animBg="1"/>
      <p:bldP spid="51" grpId="0" autoUpdateAnimBg="0"/>
      <p:bldP spid="52" grpId="0" autoUpdateAnimBg="0"/>
      <p:bldP spid="53" grpId="0" autoUpdateAnimBg="0"/>
      <p:bldP spid="54" grpId="0" autoUpdateAnimBg="0"/>
    </p:bld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722535" y="6248400"/>
            <a:ext cx="1905000" cy="457200"/>
          </a:xfrm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C6F37D9A-DA9B-4617-A4C1-2B89ADAD7224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24</a:t>
            </a:fld>
            <a:endParaRPr lang="en-US" altLang="zh-CN" sz="1400" dirty="0" smtClean="0">
              <a:solidFill>
                <a:schemeClr val="bg2"/>
              </a:solidFill>
            </a:endParaRPr>
          </a:p>
        </p:txBody>
      </p:sp>
      <p:sp>
        <p:nvSpPr>
          <p:cNvPr id="73807" name="Oval 79"/>
          <p:cNvSpPr>
            <a:spLocks noChangeArrowheads="1"/>
          </p:cNvSpPr>
          <p:nvPr/>
        </p:nvSpPr>
        <p:spPr bwMode="auto">
          <a:xfrm>
            <a:off x="3966635" y="4035425"/>
            <a:ext cx="990600" cy="1857375"/>
          </a:xfrm>
          <a:prstGeom prst="ellips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73808" name="Rectangle 80"/>
          <p:cNvSpPr>
            <a:spLocks noChangeArrowheads="1"/>
          </p:cNvSpPr>
          <p:nvPr/>
        </p:nvSpPr>
        <p:spPr bwMode="auto">
          <a:xfrm>
            <a:off x="3604685" y="3852863"/>
            <a:ext cx="1500188" cy="2363787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73771" name="Line 43"/>
          <p:cNvSpPr>
            <a:spLocks noChangeShapeType="1"/>
          </p:cNvSpPr>
          <p:nvPr/>
        </p:nvSpPr>
        <p:spPr bwMode="auto">
          <a:xfrm>
            <a:off x="3971398" y="2044700"/>
            <a:ext cx="0" cy="291147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73772" name="Line 44"/>
          <p:cNvSpPr>
            <a:spLocks noChangeShapeType="1"/>
          </p:cNvSpPr>
          <p:nvPr/>
        </p:nvSpPr>
        <p:spPr bwMode="auto">
          <a:xfrm>
            <a:off x="4450823" y="2868613"/>
            <a:ext cx="0" cy="104140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73773" name="Line 45"/>
          <p:cNvSpPr>
            <a:spLocks noChangeShapeType="1"/>
          </p:cNvSpPr>
          <p:nvPr/>
        </p:nvSpPr>
        <p:spPr bwMode="auto">
          <a:xfrm>
            <a:off x="6943198" y="1366838"/>
            <a:ext cx="0" cy="3586162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26633" name="Group 117"/>
          <p:cNvGrpSpPr>
            <a:grpSpLocks/>
          </p:cNvGrpSpPr>
          <p:nvPr/>
        </p:nvGrpSpPr>
        <p:grpSpPr bwMode="auto">
          <a:xfrm>
            <a:off x="4077760" y="1177925"/>
            <a:ext cx="3192463" cy="1870075"/>
            <a:chOff x="2462" y="742"/>
            <a:chExt cx="2011" cy="1178"/>
          </a:xfrm>
        </p:grpSpPr>
        <p:sp>
          <p:nvSpPr>
            <p:cNvPr id="26708" name="AutoShape 39"/>
            <p:cNvSpPr>
              <a:spLocks noChangeArrowheads="1"/>
            </p:cNvSpPr>
            <p:nvPr/>
          </p:nvSpPr>
          <p:spPr bwMode="auto">
            <a:xfrm rot="3533123">
              <a:off x="2887" y="436"/>
              <a:ext cx="1178" cy="1790"/>
            </a:xfrm>
            <a:prstGeom prst="triangle">
              <a:avLst>
                <a:gd name="adj" fmla="val 50000"/>
              </a:avLst>
            </a:prstGeom>
            <a:noFill/>
            <a:ln w="38100">
              <a:solidFill>
                <a:schemeClr val="tx1"/>
              </a:solidFill>
              <a:miter lim="800000"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400"/>
            </a:p>
          </p:txBody>
        </p:sp>
        <p:sp>
          <p:nvSpPr>
            <p:cNvPr id="26709" name="Line 40"/>
            <p:cNvSpPr>
              <a:spLocks noChangeShapeType="1"/>
            </p:cNvSpPr>
            <p:nvPr/>
          </p:nvSpPr>
          <p:spPr bwMode="auto">
            <a:xfrm rot="3533123">
              <a:off x="3468" y="331"/>
              <a:ext cx="0" cy="2011"/>
            </a:xfrm>
            <a:prstGeom prst="line">
              <a:avLst/>
            </a:prstGeom>
            <a:noFill/>
            <a:ln w="19050">
              <a:solidFill>
                <a:schemeClr val="tx1"/>
              </a:solidFill>
              <a:prstDash val="lgDashDot"/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73756" name="Line 28"/>
          <p:cNvSpPr>
            <a:spLocks noChangeShapeType="1"/>
          </p:cNvSpPr>
          <p:nvPr/>
        </p:nvSpPr>
        <p:spPr bwMode="auto">
          <a:xfrm>
            <a:off x="4455585" y="3910013"/>
            <a:ext cx="0" cy="2125662"/>
          </a:xfrm>
          <a:prstGeom prst="line">
            <a:avLst/>
          </a:prstGeom>
          <a:noFill/>
          <a:ln w="19050">
            <a:solidFill>
              <a:schemeClr val="tx1"/>
            </a:solidFill>
            <a:prstDash val="lgDashDot"/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73758" name="Line 30"/>
          <p:cNvSpPr>
            <a:spLocks noChangeShapeType="1"/>
          </p:cNvSpPr>
          <p:nvPr/>
        </p:nvSpPr>
        <p:spPr bwMode="auto">
          <a:xfrm>
            <a:off x="3893610" y="4957763"/>
            <a:ext cx="3151188" cy="0"/>
          </a:xfrm>
          <a:prstGeom prst="line">
            <a:avLst/>
          </a:prstGeom>
          <a:noFill/>
          <a:ln w="19050">
            <a:solidFill>
              <a:schemeClr val="tx1"/>
            </a:solidFill>
            <a:prstDash val="lgDashDot"/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73760" name="Arc 32"/>
          <p:cNvSpPr>
            <a:spLocks/>
          </p:cNvSpPr>
          <p:nvPr/>
        </p:nvSpPr>
        <p:spPr bwMode="auto">
          <a:xfrm>
            <a:off x="4498448" y="4049713"/>
            <a:ext cx="465137" cy="1811337"/>
          </a:xfrm>
          <a:custGeom>
            <a:avLst/>
            <a:gdLst>
              <a:gd name="T0" fmla="*/ 53523767 w 21600"/>
              <a:gd name="T1" fmla="*/ 0 h 41756"/>
              <a:gd name="T2" fmla="*/ 56998857 w 21600"/>
              <a:gd name="T3" fmla="*/ 2147483647 h 41756"/>
              <a:gd name="T4" fmla="*/ 0 w 21600"/>
              <a:gd name="T5" fmla="*/ 1707992060 h 41756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1600" h="41756" fill="none" extrusionOk="0">
                <a:moveTo>
                  <a:pt x="5360" y="-1"/>
                </a:moveTo>
                <a:cubicBezTo>
                  <a:pt x="14916" y="2447"/>
                  <a:pt x="21600" y="11059"/>
                  <a:pt x="21600" y="20924"/>
                </a:cubicBezTo>
                <a:cubicBezTo>
                  <a:pt x="21600" y="30655"/>
                  <a:pt x="15093" y="39184"/>
                  <a:pt x="5708" y="41756"/>
                </a:cubicBezTo>
              </a:path>
              <a:path w="21600" h="41756" stroke="0" extrusionOk="0">
                <a:moveTo>
                  <a:pt x="5360" y="-1"/>
                </a:moveTo>
                <a:cubicBezTo>
                  <a:pt x="14916" y="2447"/>
                  <a:pt x="21600" y="11059"/>
                  <a:pt x="21600" y="20924"/>
                </a:cubicBezTo>
                <a:cubicBezTo>
                  <a:pt x="21600" y="30655"/>
                  <a:pt x="15093" y="39184"/>
                  <a:pt x="5708" y="41756"/>
                </a:cubicBezTo>
                <a:lnTo>
                  <a:pt x="0" y="20924"/>
                </a:lnTo>
                <a:lnTo>
                  <a:pt x="5360" y="-1"/>
                </a:lnTo>
                <a:close/>
              </a:path>
            </a:pathLst>
          </a:custGeom>
          <a:noFill/>
          <a:ln w="19050">
            <a:solidFill>
              <a:schemeClr val="tx1"/>
            </a:solidFill>
            <a:prstDash val="lgDash"/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73761" name="Arc 33"/>
          <p:cNvSpPr>
            <a:spLocks/>
          </p:cNvSpPr>
          <p:nvPr/>
        </p:nvSpPr>
        <p:spPr bwMode="auto">
          <a:xfrm flipH="1">
            <a:off x="3979335" y="4016375"/>
            <a:ext cx="614363" cy="1868488"/>
          </a:xfrm>
          <a:custGeom>
            <a:avLst/>
            <a:gdLst>
              <a:gd name="T0" fmla="*/ 8797243 w 27395"/>
              <a:gd name="T1" fmla="*/ 47739393 h 43200"/>
              <a:gd name="T2" fmla="*/ 0 w 27395"/>
              <a:gd name="T3" fmla="*/ 2147483647 h 43200"/>
              <a:gd name="T4" fmla="*/ 65360262 w 27395"/>
              <a:gd name="T5" fmla="*/ 1747726410 h 43200"/>
              <a:gd name="T6" fmla="*/ 0 60000 65536"/>
              <a:gd name="T7" fmla="*/ 0 60000 65536"/>
              <a:gd name="T8" fmla="*/ 0 60000 65536"/>
            </a:gdLst>
            <a:ahLst/>
            <a:cxnLst>
              <a:cxn ang="T6">
                <a:pos x="T0" y="T1"/>
              </a:cxn>
              <a:cxn ang="T7">
                <a:pos x="T2" y="T3"/>
              </a:cxn>
              <a:cxn ang="T8">
                <a:pos x="T4" y="T5"/>
              </a:cxn>
            </a:cxnLst>
            <a:rect l="0" t="0" r="r" b="b"/>
            <a:pathLst>
              <a:path w="27395" h="43200" fill="none" extrusionOk="0">
                <a:moveTo>
                  <a:pt x="780" y="590"/>
                </a:moveTo>
                <a:cubicBezTo>
                  <a:pt x="2422" y="198"/>
                  <a:pt x="4106" y="-1"/>
                  <a:pt x="5795" y="0"/>
                </a:cubicBezTo>
                <a:cubicBezTo>
                  <a:pt x="17724" y="0"/>
                  <a:pt x="27395" y="9670"/>
                  <a:pt x="27395" y="21600"/>
                </a:cubicBezTo>
                <a:cubicBezTo>
                  <a:pt x="27395" y="33529"/>
                  <a:pt x="17724" y="43200"/>
                  <a:pt x="5795" y="43200"/>
                </a:cubicBezTo>
                <a:cubicBezTo>
                  <a:pt x="3836" y="43200"/>
                  <a:pt x="1886" y="42933"/>
                  <a:pt x="-1" y="42408"/>
                </a:cubicBezTo>
              </a:path>
              <a:path w="27395" h="43200" stroke="0" extrusionOk="0">
                <a:moveTo>
                  <a:pt x="780" y="590"/>
                </a:moveTo>
                <a:cubicBezTo>
                  <a:pt x="2422" y="198"/>
                  <a:pt x="4106" y="-1"/>
                  <a:pt x="5795" y="0"/>
                </a:cubicBezTo>
                <a:cubicBezTo>
                  <a:pt x="17724" y="0"/>
                  <a:pt x="27395" y="9670"/>
                  <a:pt x="27395" y="21600"/>
                </a:cubicBezTo>
                <a:cubicBezTo>
                  <a:pt x="27395" y="33529"/>
                  <a:pt x="17724" y="43200"/>
                  <a:pt x="5795" y="43200"/>
                </a:cubicBezTo>
                <a:cubicBezTo>
                  <a:pt x="3836" y="43200"/>
                  <a:pt x="1886" y="42933"/>
                  <a:pt x="-1" y="42408"/>
                </a:cubicBezTo>
                <a:lnTo>
                  <a:pt x="5795" y="21600"/>
                </a:lnTo>
                <a:lnTo>
                  <a:pt x="780" y="590"/>
                </a:lnTo>
                <a:close/>
              </a:path>
            </a:pathLst>
          </a:custGeom>
          <a:noFill/>
          <a:ln w="38100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73776" name="Line 48"/>
          <p:cNvSpPr>
            <a:spLocks noChangeShapeType="1"/>
          </p:cNvSpPr>
          <p:nvPr/>
        </p:nvSpPr>
        <p:spPr bwMode="auto">
          <a:xfrm flipH="1" flipV="1">
            <a:off x="4547660" y="4029075"/>
            <a:ext cx="2390775" cy="933450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73777" name="Line 49"/>
          <p:cNvSpPr>
            <a:spLocks noChangeShapeType="1"/>
          </p:cNvSpPr>
          <p:nvPr/>
        </p:nvSpPr>
        <p:spPr bwMode="auto">
          <a:xfrm flipH="1">
            <a:off x="4568298" y="4953000"/>
            <a:ext cx="2374900" cy="911225"/>
          </a:xfrm>
          <a:prstGeom prst="line">
            <a:avLst/>
          </a:prstGeom>
          <a:noFill/>
          <a:ln w="38100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73790" name="AutoShape 62"/>
          <p:cNvSpPr>
            <a:spLocks noChangeArrowheads="1"/>
          </p:cNvSpPr>
          <p:nvPr/>
        </p:nvSpPr>
        <p:spPr bwMode="auto">
          <a:xfrm rot="3163794">
            <a:off x="4619098" y="3019425"/>
            <a:ext cx="123825" cy="257175"/>
          </a:xfrm>
          <a:prstGeom prst="triangle">
            <a:avLst>
              <a:gd name="adj" fmla="val 50000"/>
            </a:avLst>
          </a:prstGeom>
          <a:noFill/>
          <a:ln w="28575">
            <a:solidFill>
              <a:schemeClr val="tx1"/>
            </a:solidFill>
            <a:miter lim="800000"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73791" name="AutoShape 63"/>
          <p:cNvSpPr>
            <a:spLocks noChangeArrowheads="1"/>
          </p:cNvSpPr>
          <p:nvPr/>
        </p:nvSpPr>
        <p:spPr bwMode="auto">
          <a:xfrm rot="5158340">
            <a:off x="4390498" y="5257800"/>
            <a:ext cx="123825" cy="257175"/>
          </a:xfrm>
          <a:prstGeom prst="triangle">
            <a:avLst>
              <a:gd name="adj" fmla="val 50000"/>
            </a:avLst>
          </a:prstGeom>
          <a:noFill/>
          <a:ln w="28575">
            <a:solidFill>
              <a:schemeClr val="tx1"/>
            </a:solidFill>
            <a:miter lim="800000"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73793" name="Line 65"/>
          <p:cNvSpPr>
            <a:spLocks noChangeShapeType="1"/>
          </p:cNvSpPr>
          <p:nvPr/>
        </p:nvSpPr>
        <p:spPr bwMode="auto">
          <a:xfrm flipH="1">
            <a:off x="4542898" y="1362075"/>
            <a:ext cx="2395537" cy="1609725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sp>
        <p:nvSpPr>
          <p:cNvPr id="73796" name="Line 68"/>
          <p:cNvSpPr>
            <a:spLocks noChangeShapeType="1"/>
          </p:cNvSpPr>
          <p:nvPr/>
        </p:nvSpPr>
        <p:spPr bwMode="auto">
          <a:xfrm>
            <a:off x="4957235" y="3673475"/>
            <a:ext cx="0" cy="12890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  <p:grpSp>
        <p:nvGrpSpPr>
          <p:cNvPr id="73811" name="Group 83"/>
          <p:cNvGrpSpPr>
            <a:grpSpLocks/>
          </p:cNvGrpSpPr>
          <p:nvPr/>
        </p:nvGrpSpPr>
        <p:grpSpPr bwMode="auto">
          <a:xfrm>
            <a:off x="4449235" y="4033838"/>
            <a:ext cx="2495550" cy="1860550"/>
            <a:chOff x="2296" y="2608"/>
            <a:chExt cx="1572" cy="1172"/>
          </a:xfrm>
        </p:grpSpPr>
        <p:sp>
          <p:nvSpPr>
            <p:cNvPr id="26702" name="Line 81"/>
            <p:cNvSpPr>
              <a:spLocks noChangeShapeType="1"/>
            </p:cNvSpPr>
            <p:nvPr/>
          </p:nvSpPr>
          <p:spPr bwMode="auto">
            <a:xfrm flipH="1" flipV="1">
              <a:off x="2296" y="2608"/>
              <a:ext cx="1572" cy="57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  <p:sp>
          <p:nvSpPr>
            <p:cNvPr id="26703" name="Line 82"/>
            <p:cNvSpPr>
              <a:spLocks noChangeShapeType="1"/>
            </p:cNvSpPr>
            <p:nvPr/>
          </p:nvSpPr>
          <p:spPr bwMode="auto">
            <a:xfrm flipH="1">
              <a:off x="2300" y="3184"/>
              <a:ext cx="1568" cy="596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73812" name="Line 84"/>
          <p:cNvSpPr>
            <a:spLocks noChangeShapeType="1"/>
          </p:cNvSpPr>
          <p:nvPr/>
        </p:nvSpPr>
        <p:spPr bwMode="auto">
          <a:xfrm flipV="1">
            <a:off x="4963585" y="5862638"/>
            <a:ext cx="635000" cy="139700"/>
          </a:xfrm>
          <a:prstGeom prst="line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round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3814" name="Line 86"/>
          <p:cNvSpPr>
            <a:spLocks noChangeShapeType="1"/>
          </p:cNvSpPr>
          <p:nvPr/>
        </p:nvSpPr>
        <p:spPr bwMode="auto">
          <a:xfrm>
            <a:off x="4544485" y="2973388"/>
            <a:ext cx="0" cy="290195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/>
          <a:p>
            <a:endParaRPr lang="zh-CN" altLang="en-US"/>
          </a:p>
        </p:txBody>
      </p:sp>
      <p:sp>
        <p:nvSpPr>
          <p:cNvPr id="73813" name="AutoShape 85"/>
          <p:cNvSpPr>
            <a:spLocks noChangeArrowheads="1"/>
          </p:cNvSpPr>
          <p:nvPr/>
        </p:nvSpPr>
        <p:spPr bwMode="auto">
          <a:xfrm>
            <a:off x="4506385" y="2935288"/>
            <a:ext cx="74613" cy="74612"/>
          </a:xfrm>
          <a:prstGeom prst="flowChartConnector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73855" name="AutoShape 127"/>
          <p:cNvSpPr>
            <a:spLocks noChangeArrowheads="1"/>
          </p:cNvSpPr>
          <p:nvPr/>
        </p:nvSpPr>
        <p:spPr bwMode="auto">
          <a:xfrm>
            <a:off x="4501623" y="3987800"/>
            <a:ext cx="74612" cy="74613"/>
          </a:xfrm>
          <a:prstGeom prst="flowChartConnector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73856" name="AutoShape 128"/>
          <p:cNvSpPr>
            <a:spLocks noChangeArrowheads="1"/>
          </p:cNvSpPr>
          <p:nvPr/>
        </p:nvSpPr>
        <p:spPr bwMode="auto">
          <a:xfrm>
            <a:off x="4506385" y="5835650"/>
            <a:ext cx="74613" cy="74613"/>
          </a:xfrm>
          <a:prstGeom prst="flowChartConnector">
            <a:avLst/>
          </a:prstGeom>
          <a:solidFill>
            <a:srgbClr val="FF3300"/>
          </a:solidFill>
          <a:ln w="9525">
            <a:solidFill>
              <a:schemeClr val="tx1"/>
            </a:solidFill>
            <a:round/>
            <a:headEnd/>
            <a:tailEnd type="none" w="sm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73859" name="Text Box 131"/>
          <p:cNvSpPr txBox="1">
            <a:spLocks noChangeArrowheads="1"/>
          </p:cNvSpPr>
          <p:nvPr/>
        </p:nvSpPr>
        <p:spPr bwMode="auto">
          <a:xfrm>
            <a:off x="5326413" y="5734463"/>
            <a:ext cx="37159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400" b="1" dirty="0">
                <a:latin typeface="黑体" pitchFamily="2" charset="-122"/>
                <a:ea typeface="黑体" pitchFamily="2" charset="-122"/>
              </a:rPr>
              <a:t>轮廓线与</a:t>
            </a:r>
            <a:r>
              <a:rPr kumimoji="0" lang="zh-CN" altLang="en-US" sz="2400" b="1" dirty="0" smtClean="0">
                <a:latin typeface="黑体" pitchFamily="2" charset="-122"/>
                <a:ea typeface="黑体" pitchFamily="2" charset="-122"/>
              </a:rPr>
              <a:t>底面椭圆</a:t>
            </a:r>
            <a:r>
              <a:rPr kumimoji="0" lang="zh-CN" altLang="en-US" sz="2400" b="1" dirty="0">
                <a:latin typeface="黑体" pitchFamily="2" charset="-122"/>
                <a:ea typeface="黑体" pitchFamily="2" charset="-122"/>
              </a:rPr>
              <a:t>的</a:t>
            </a:r>
            <a:r>
              <a:rPr kumimoji="0" lang="zh-CN" altLang="en-US" sz="2400" b="1" dirty="0" smtClean="0">
                <a:latin typeface="黑体" pitchFamily="2" charset="-122"/>
                <a:ea typeface="黑体" pitchFamily="2" charset="-122"/>
              </a:rPr>
              <a:t>切点</a:t>
            </a:r>
            <a:endParaRPr kumimoji="0" lang="zh-CN" altLang="en-US" sz="2400" b="1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73860" name="Line 132"/>
          <p:cNvSpPr>
            <a:spLocks noChangeShapeType="1"/>
          </p:cNvSpPr>
          <p:nvPr/>
        </p:nvSpPr>
        <p:spPr bwMode="auto">
          <a:xfrm flipH="1" flipV="1">
            <a:off x="4590523" y="5894388"/>
            <a:ext cx="690562" cy="141287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 type="triangl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/>
          <a:p>
            <a:endParaRPr lang="zh-CN" altLang="en-US"/>
          </a:p>
        </p:txBody>
      </p:sp>
      <p:sp>
        <p:nvSpPr>
          <p:cNvPr id="73861" name="Text Box 133"/>
          <p:cNvSpPr txBox="1">
            <a:spLocks noChangeArrowheads="1"/>
          </p:cNvSpPr>
          <p:nvPr/>
        </p:nvSpPr>
        <p:spPr bwMode="auto">
          <a:xfrm>
            <a:off x="6819373" y="1058863"/>
            <a:ext cx="79375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b="1" i="1">
                <a:latin typeface="ISOCPEUR" pitchFamily="34" charset="0"/>
              </a:rPr>
              <a:t>s’</a:t>
            </a:r>
          </a:p>
        </p:txBody>
      </p:sp>
      <p:sp>
        <p:nvSpPr>
          <p:cNvPr id="73863" name="Text Box 135"/>
          <p:cNvSpPr txBox="1">
            <a:spLocks noChangeArrowheads="1"/>
          </p:cNvSpPr>
          <p:nvPr/>
        </p:nvSpPr>
        <p:spPr bwMode="auto">
          <a:xfrm>
            <a:off x="6471710" y="4506913"/>
            <a:ext cx="6699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b="1" i="1">
                <a:latin typeface="ISOCPEUR" pitchFamily="34" charset="0"/>
              </a:rPr>
              <a:t>s</a:t>
            </a:r>
          </a:p>
        </p:txBody>
      </p:sp>
      <p:sp>
        <p:nvSpPr>
          <p:cNvPr id="73866" name="Text Box 138"/>
          <p:cNvSpPr txBox="1">
            <a:spLocks noChangeArrowheads="1"/>
          </p:cNvSpPr>
          <p:nvPr/>
        </p:nvSpPr>
        <p:spPr bwMode="auto">
          <a:xfrm>
            <a:off x="3942823" y="2892425"/>
            <a:ext cx="6207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b="1" i="1" dirty="0">
                <a:latin typeface="ISOCPEUR" pitchFamily="34" charset="0"/>
              </a:rPr>
              <a:t>b’</a:t>
            </a:r>
          </a:p>
        </p:txBody>
      </p:sp>
      <p:sp>
        <p:nvSpPr>
          <p:cNvPr id="73867" name="Text Box 139"/>
          <p:cNvSpPr txBox="1">
            <a:spLocks noChangeArrowheads="1"/>
          </p:cNvSpPr>
          <p:nvPr/>
        </p:nvSpPr>
        <p:spPr bwMode="auto">
          <a:xfrm>
            <a:off x="4245771" y="5916963"/>
            <a:ext cx="620713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b="1" i="1" dirty="0">
                <a:latin typeface="ISOCPEUR" pitchFamily="34" charset="0"/>
              </a:rPr>
              <a:t>b</a:t>
            </a:r>
          </a:p>
        </p:txBody>
      </p:sp>
      <p:sp>
        <p:nvSpPr>
          <p:cNvPr id="86" name="Text Box 131"/>
          <p:cNvSpPr txBox="1">
            <a:spLocks noChangeArrowheads="1"/>
          </p:cNvSpPr>
          <p:nvPr/>
        </p:nvSpPr>
        <p:spPr bwMode="auto">
          <a:xfrm>
            <a:off x="3683862" y="524588"/>
            <a:ext cx="3715984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400" b="1" dirty="0" smtClean="0">
                <a:latin typeface="黑体" pitchFamily="2" charset="-122"/>
                <a:ea typeface="黑体" pitchFamily="2" charset="-122"/>
              </a:rPr>
              <a:t>例题：求画俯视图</a:t>
            </a:r>
            <a:endParaRPr kumimoji="0" lang="zh-CN" altLang="en-US" sz="2400" b="1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87" name="AutoShape 63"/>
          <p:cNvSpPr>
            <a:spLocks noChangeArrowheads="1"/>
          </p:cNvSpPr>
          <p:nvPr/>
        </p:nvSpPr>
        <p:spPr bwMode="auto">
          <a:xfrm rot="5158340">
            <a:off x="4386308" y="4378325"/>
            <a:ext cx="123825" cy="257175"/>
          </a:xfrm>
          <a:prstGeom prst="triangle">
            <a:avLst>
              <a:gd name="adj" fmla="val 50000"/>
            </a:avLst>
          </a:prstGeom>
          <a:noFill/>
          <a:ln w="28575">
            <a:solidFill>
              <a:schemeClr val="tx1"/>
            </a:solidFill>
            <a:miter lim="800000"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grpSp>
        <p:nvGrpSpPr>
          <p:cNvPr id="61" name="Group 118"/>
          <p:cNvGrpSpPr>
            <a:grpSpLocks/>
          </p:cNvGrpSpPr>
          <p:nvPr/>
        </p:nvGrpSpPr>
        <p:grpSpPr bwMode="auto">
          <a:xfrm>
            <a:off x="386114" y="1099788"/>
            <a:ext cx="1128712" cy="741362"/>
            <a:chOff x="1188" y="515"/>
            <a:chExt cx="711" cy="467"/>
          </a:xfrm>
        </p:grpSpPr>
        <p:sp>
          <p:nvSpPr>
            <p:cNvPr id="62" name="AutoShape 89"/>
            <p:cNvSpPr>
              <a:spLocks noChangeArrowheads="1"/>
            </p:cNvSpPr>
            <p:nvPr/>
          </p:nvSpPr>
          <p:spPr bwMode="auto">
            <a:xfrm rot="5400000">
              <a:off x="1316" y="477"/>
              <a:ext cx="467" cy="544"/>
            </a:xfrm>
            <a:prstGeom prst="triangle">
              <a:avLst>
                <a:gd name="adj" fmla="val 50000"/>
              </a:avLst>
            </a:prstGeom>
            <a:gradFill rotWithShape="0">
              <a:gsLst>
                <a:gs pos="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28575">
              <a:solidFill>
                <a:schemeClr val="tx1"/>
              </a:solidFill>
              <a:miter lim="800000"/>
              <a:headEnd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400"/>
            </a:p>
          </p:txBody>
        </p:sp>
        <p:sp>
          <p:nvSpPr>
            <p:cNvPr id="63" name="Line 90"/>
            <p:cNvSpPr>
              <a:spLocks noChangeShapeType="1"/>
            </p:cNvSpPr>
            <p:nvPr/>
          </p:nvSpPr>
          <p:spPr bwMode="auto">
            <a:xfrm rot="5400000">
              <a:off x="1544" y="392"/>
              <a:ext cx="0" cy="7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64" name="Group 122"/>
          <p:cNvGrpSpPr>
            <a:grpSpLocks/>
          </p:cNvGrpSpPr>
          <p:nvPr/>
        </p:nvGrpSpPr>
        <p:grpSpPr bwMode="auto">
          <a:xfrm>
            <a:off x="1022701" y="5536850"/>
            <a:ext cx="741363" cy="1128713"/>
            <a:chOff x="1253" y="3310"/>
            <a:chExt cx="467" cy="711"/>
          </a:xfrm>
        </p:grpSpPr>
        <p:sp>
          <p:nvSpPr>
            <p:cNvPr id="65" name="AutoShape 93"/>
            <p:cNvSpPr>
              <a:spLocks noChangeArrowheads="1"/>
            </p:cNvSpPr>
            <p:nvPr/>
          </p:nvSpPr>
          <p:spPr bwMode="auto">
            <a:xfrm>
              <a:off x="1253" y="3388"/>
              <a:ext cx="467" cy="544"/>
            </a:xfrm>
            <a:prstGeom prst="triangle">
              <a:avLst>
                <a:gd name="adj" fmla="val 50000"/>
              </a:avLst>
            </a:prstGeom>
            <a:gradFill rotWithShape="0">
              <a:gsLst>
                <a:gs pos="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28575">
              <a:solidFill>
                <a:schemeClr val="tx1"/>
              </a:solidFill>
              <a:miter lim="800000"/>
              <a:headEnd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400"/>
            </a:p>
          </p:txBody>
        </p:sp>
        <p:sp>
          <p:nvSpPr>
            <p:cNvPr id="66" name="Line 94"/>
            <p:cNvSpPr>
              <a:spLocks noChangeShapeType="1"/>
            </p:cNvSpPr>
            <p:nvPr/>
          </p:nvSpPr>
          <p:spPr bwMode="auto">
            <a:xfrm>
              <a:off x="1486" y="3310"/>
              <a:ext cx="0" cy="7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67" name="Group 119"/>
          <p:cNvGrpSpPr>
            <a:grpSpLocks/>
          </p:cNvGrpSpPr>
          <p:nvPr/>
        </p:nvGrpSpPr>
        <p:grpSpPr bwMode="auto">
          <a:xfrm>
            <a:off x="482951" y="2004663"/>
            <a:ext cx="1128713" cy="741362"/>
            <a:chOff x="1209" y="1085"/>
            <a:chExt cx="711" cy="467"/>
          </a:xfrm>
        </p:grpSpPr>
        <p:sp>
          <p:nvSpPr>
            <p:cNvPr id="68" name="AutoShape 96"/>
            <p:cNvSpPr>
              <a:spLocks noChangeArrowheads="1"/>
            </p:cNvSpPr>
            <p:nvPr/>
          </p:nvSpPr>
          <p:spPr bwMode="auto">
            <a:xfrm rot="2871893">
              <a:off x="1340" y="1047"/>
              <a:ext cx="467" cy="544"/>
            </a:xfrm>
            <a:prstGeom prst="triangle">
              <a:avLst>
                <a:gd name="adj" fmla="val 50000"/>
              </a:avLst>
            </a:prstGeom>
            <a:gradFill rotWithShape="0">
              <a:gsLst>
                <a:gs pos="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28575">
              <a:solidFill>
                <a:schemeClr val="tx1"/>
              </a:solidFill>
              <a:miter lim="800000"/>
              <a:headEnd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400"/>
            </a:p>
          </p:txBody>
        </p:sp>
        <p:sp>
          <p:nvSpPr>
            <p:cNvPr id="69" name="Line 97"/>
            <p:cNvSpPr>
              <a:spLocks noChangeShapeType="1"/>
            </p:cNvSpPr>
            <p:nvPr/>
          </p:nvSpPr>
          <p:spPr bwMode="auto">
            <a:xfrm rot="2871893">
              <a:off x="1565" y="971"/>
              <a:ext cx="0" cy="7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70" name="Group 120"/>
          <p:cNvGrpSpPr>
            <a:grpSpLocks/>
          </p:cNvGrpSpPr>
          <p:nvPr/>
        </p:nvGrpSpPr>
        <p:grpSpPr bwMode="auto">
          <a:xfrm>
            <a:off x="846489" y="3054000"/>
            <a:ext cx="750887" cy="1128713"/>
            <a:chOff x="1286" y="1746"/>
            <a:chExt cx="467" cy="711"/>
          </a:xfrm>
        </p:grpSpPr>
        <p:sp>
          <p:nvSpPr>
            <p:cNvPr id="71" name="AutoShape 99"/>
            <p:cNvSpPr>
              <a:spLocks noChangeArrowheads="1"/>
            </p:cNvSpPr>
            <p:nvPr/>
          </p:nvSpPr>
          <p:spPr bwMode="auto">
            <a:xfrm rot="1404378">
              <a:off x="1286" y="1830"/>
              <a:ext cx="467" cy="544"/>
            </a:xfrm>
            <a:prstGeom prst="triangle">
              <a:avLst>
                <a:gd name="adj" fmla="val 50000"/>
              </a:avLst>
            </a:prstGeom>
            <a:gradFill rotWithShape="0">
              <a:gsLst>
                <a:gs pos="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28575">
              <a:solidFill>
                <a:schemeClr val="tx1"/>
              </a:solidFill>
              <a:miter lim="800000"/>
              <a:headEnd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400"/>
            </a:p>
          </p:txBody>
        </p:sp>
        <p:sp>
          <p:nvSpPr>
            <p:cNvPr id="72" name="Line 100"/>
            <p:cNvSpPr>
              <a:spLocks noChangeShapeType="1"/>
            </p:cNvSpPr>
            <p:nvPr/>
          </p:nvSpPr>
          <p:spPr bwMode="auto">
            <a:xfrm rot="1404378">
              <a:off x="1520" y="1746"/>
              <a:ext cx="0" cy="7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grpSp>
        <p:nvGrpSpPr>
          <p:cNvPr id="73" name="Group 121"/>
          <p:cNvGrpSpPr>
            <a:grpSpLocks/>
          </p:cNvGrpSpPr>
          <p:nvPr/>
        </p:nvGrpSpPr>
        <p:grpSpPr bwMode="auto">
          <a:xfrm>
            <a:off x="924276" y="4273200"/>
            <a:ext cx="741363" cy="1128713"/>
            <a:chOff x="1271" y="2514"/>
            <a:chExt cx="467" cy="711"/>
          </a:xfrm>
        </p:grpSpPr>
        <p:sp>
          <p:nvSpPr>
            <p:cNvPr id="74" name="AutoShape 102"/>
            <p:cNvSpPr>
              <a:spLocks noChangeArrowheads="1"/>
            </p:cNvSpPr>
            <p:nvPr/>
          </p:nvSpPr>
          <p:spPr bwMode="auto">
            <a:xfrm rot="862066">
              <a:off x="1271" y="2594"/>
              <a:ext cx="467" cy="544"/>
            </a:xfrm>
            <a:prstGeom prst="triangle">
              <a:avLst>
                <a:gd name="adj" fmla="val 50000"/>
              </a:avLst>
            </a:prstGeom>
            <a:gradFill rotWithShape="0">
              <a:gsLst>
                <a:gs pos="0">
                  <a:srgbClr val="FFFFFF"/>
                </a:gs>
                <a:gs pos="100000">
                  <a:srgbClr val="767676"/>
                </a:gs>
              </a:gsLst>
              <a:lin ang="5400000" scaled="1"/>
            </a:gradFill>
            <a:ln w="28575">
              <a:solidFill>
                <a:schemeClr val="tx1"/>
              </a:solidFill>
              <a:miter lim="800000"/>
              <a:headEnd/>
              <a:tailEnd type="none" w="sm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400"/>
            </a:p>
          </p:txBody>
        </p:sp>
        <p:sp>
          <p:nvSpPr>
            <p:cNvPr id="75" name="Line 103"/>
            <p:cNvSpPr>
              <a:spLocks noChangeShapeType="1"/>
            </p:cNvSpPr>
            <p:nvPr/>
          </p:nvSpPr>
          <p:spPr bwMode="auto">
            <a:xfrm rot="862066">
              <a:off x="1503" y="2514"/>
              <a:ext cx="0" cy="711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Dot"/>
              <a:round/>
              <a:headEnd/>
              <a:tailEnd type="non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>
              <a:spAutoFit/>
            </a:bodyPr>
            <a:lstStyle/>
            <a:p>
              <a:endParaRPr lang="zh-CN" altLang="en-US"/>
            </a:p>
          </p:txBody>
        </p:sp>
      </p:grpSp>
      <p:sp>
        <p:nvSpPr>
          <p:cNvPr id="76" name="Text Box 105"/>
          <p:cNvSpPr txBox="1">
            <a:spLocks noChangeArrowheads="1"/>
          </p:cNvSpPr>
          <p:nvPr/>
        </p:nvSpPr>
        <p:spPr bwMode="auto">
          <a:xfrm>
            <a:off x="126985" y="417750"/>
            <a:ext cx="2910681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50000"/>
              </a:spcBef>
              <a:buClrTx/>
              <a:buFontTx/>
              <a:buNone/>
            </a:pPr>
            <a:r>
              <a:rPr kumimoji="0" lang="zh-CN" altLang="en-US" sz="2400" b="1" dirty="0" smtClean="0">
                <a:latin typeface="黑体" pitchFamily="2" charset="-122"/>
                <a:ea typeface="黑体" pitchFamily="2" charset="-122"/>
              </a:rPr>
              <a:t>俯视图可见</a:t>
            </a:r>
            <a:r>
              <a:rPr kumimoji="0" lang="zh-CN" altLang="en-US" sz="2400" b="1" dirty="0">
                <a:latin typeface="黑体" pitchFamily="2" charset="-122"/>
                <a:ea typeface="黑体" pitchFamily="2" charset="-122"/>
              </a:rPr>
              <a:t>面积</a:t>
            </a:r>
            <a:endParaRPr kumimoji="0" lang="zh-CN" altLang="en-US" sz="2400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77" name="Text Box 106"/>
          <p:cNvSpPr txBox="1">
            <a:spLocks noChangeArrowheads="1"/>
          </p:cNvSpPr>
          <p:nvPr/>
        </p:nvSpPr>
        <p:spPr bwMode="auto">
          <a:xfrm>
            <a:off x="1629126" y="1218850"/>
            <a:ext cx="903288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b="1">
                <a:latin typeface="黑体" pitchFamily="2" charset="-122"/>
                <a:ea typeface="黑体" pitchFamily="2" charset="-122"/>
              </a:rPr>
              <a:t>=1/2</a:t>
            </a:r>
          </a:p>
        </p:txBody>
      </p:sp>
      <p:sp>
        <p:nvSpPr>
          <p:cNvPr id="78" name="Text Box 107"/>
          <p:cNvSpPr txBox="1">
            <a:spLocks noChangeArrowheads="1"/>
          </p:cNvSpPr>
          <p:nvPr/>
        </p:nvSpPr>
        <p:spPr bwMode="auto">
          <a:xfrm>
            <a:off x="1684689" y="2311050"/>
            <a:ext cx="13541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b="1">
                <a:latin typeface="黑体" pitchFamily="2" charset="-122"/>
                <a:ea typeface="黑体" pitchFamily="2" charset="-122"/>
              </a:rPr>
              <a:t>1&gt;S&gt;1/2</a:t>
            </a:r>
          </a:p>
        </p:txBody>
      </p:sp>
      <p:sp>
        <p:nvSpPr>
          <p:cNvPr id="79" name="Text Box 108"/>
          <p:cNvSpPr txBox="1">
            <a:spLocks noChangeArrowheads="1"/>
          </p:cNvSpPr>
          <p:nvPr/>
        </p:nvSpPr>
        <p:spPr bwMode="auto">
          <a:xfrm>
            <a:off x="1818039" y="3442938"/>
            <a:ext cx="595312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b="1">
                <a:latin typeface="黑体" pitchFamily="2" charset="-122"/>
                <a:ea typeface="黑体" pitchFamily="2" charset="-122"/>
              </a:rPr>
              <a:t>=1</a:t>
            </a:r>
          </a:p>
        </p:txBody>
      </p:sp>
      <p:sp>
        <p:nvSpPr>
          <p:cNvPr id="80" name="Text Box 109"/>
          <p:cNvSpPr txBox="1">
            <a:spLocks noChangeArrowheads="1"/>
          </p:cNvSpPr>
          <p:nvPr/>
        </p:nvSpPr>
        <p:spPr bwMode="auto">
          <a:xfrm>
            <a:off x="1816451" y="4712938"/>
            <a:ext cx="66357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b="1">
                <a:latin typeface="黑体" pitchFamily="2" charset="-122"/>
                <a:ea typeface="黑体" pitchFamily="2" charset="-122"/>
              </a:rPr>
              <a:t>=1</a:t>
            </a:r>
          </a:p>
        </p:txBody>
      </p:sp>
      <p:sp>
        <p:nvSpPr>
          <p:cNvPr id="81" name="Text Box 110"/>
          <p:cNvSpPr txBox="1">
            <a:spLocks noChangeArrowheads="1"/>
          </p:cNvSpPr>
          <p:nvPr/>
        </p:nvSpPr>
        <p:spPr bwMode="auto">
          <a:xfrm>
            <a:off x="1798989" y="5911500"/>
            <a:ext cx="630237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b="1">
                <a:latin typeface="黑体" pitchFamily="2" charset="-122"/>
                <a:ea typeface="黑体" pitchFamily="2" charset="-122"/>
              </a:rPr>
              <a:t>=1</a:t>
            </a:r>
          </a:p>
        </p:txBody>
      </p:sp>
      <p:sp>
        <p:nvSpPr>
          <p:cNvPr id="82" name="Line 140"/>
          <p:cNvSpPr>
            <a:spLocks noChangeShapeType="1"/>
          </p:cNvSpPr>
          <p:nvPr/>
        </p:nvSpPr>
        <p:spPr bwMode="auto">
          <a:xfrm>
            <a:off x="1397351" y="1183925"/>
            <a:ext cx="0" cy="5673725"/>
          </a:xfrm>
          <a:prstGeom prst="line">
            <a:avLst/>
          </a:prstGeom>
          <a:noFill/>
          <a:ln w="19050" cap="rnd">
            <a:solidFill>
              <a:schemeClr val="tx1"/>
            </a:solidFill>
            <a:prstDash val="sysDot"/>
            <a:round/>
            <a:headEnd/>
            <a:tailEnd type="none" w="sm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/>
          <a:p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242108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" dur="500"/>
                                        <p:tgtEl>
                                          <p:spTgt spid="737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8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737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8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6" fill="hold">
                            <p:stCondLst>
                              <p:cond delay="500"/>
                            </p:stCondLst>
                            <p:childTnLst>
                              <p:par>
                                <p:cTn id="27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737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0" fill="hold">
                            <p:stCondLst>
                              <p:cond delay="1000"/>
                            </p:stCondLst>
                            <p:childTnLst>
                              <p:par>
                                <p:cTn id="31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3" dur="500"/>
                                        <p:tgtEl>
                                          <p:spTgt spid="737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8" dur="500"/>
                                        <p:tgtEl>
                                          <p:spTgt spid="737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737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1000"/>
                            </p:stCondLst>
                            <p:childTnLst>
                              <p:par>
                                <p:cTn id="44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6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1" dur="500"/>
                                        <p:tgtEl>
                                          <p:spTgt spid="7379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2" fill="hold">
                            <p:stCondLst>
                              <p:cond delay="500"/>
                            </p:stCondLst>
                            <p:childTnLst>
                              <p:par>
                                <p:cTn id="53" presetID="22" presetClass="entr" presetSubtype="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55" dur="500"/>
                                        <p:tgtEl>
                                          <p:spTgt spid="737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0" dur="500"/>
                                        <p:tgtEl>
                                          <p:spTgt spid="738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22" presetClass="entr" presetSubtype="2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65" dur="500"/>
                                        <p:tgtEl>
                                          <p:spTgt spid="73811"/>
                                        </p:tgtEl>
                                      </p:cBhvr>
                                    </p:animEffect>
                                  </p:childTnLst>
                                  <p:subTnLst>
                                    <p:set>
                                      <p:cBhvr override="childStyle">
                                        <p:cTn dur="1" fill="hold" display="0" masterRel="nextClick" afterEffect="1"/>
                                        <p:tgtEl>
                                          <p:spTgt spid="738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sub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6" fill="hold">
                      <p:stCondLst>
                        <p:cond delay="indefinite"/>
                      </p:stCondLst>
                      <p:childTnLst>
                        <p:par>
                          <p:cTn id="67" fill="hold">
                            <p:stCondLst>
                              <p:cond delay="0"/>
                            </p:stCondLst>
                            <p:childTnLst>
                              <p:par>
                                <p:cTn id="68" presetID="1" presetClass="entr" presetSubtype="0" fill="hold" grpId="0" nodeType="click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6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0" fill="hold">
                      <p:stCondLst>
                        <p:cond delay="indefinite"/>
                      </p:stCondLst>
                      <p:childTnLst>
                        <p:par>
                          <p:cTn id="71" fill="hold">
                            <p:stCondLst>
                              <p:cond delay="0"/>
                            </p:stCondLst>
                            <p:childTnLst>
                              <p:par>
                                <p:cTn id="72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737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5" fill="hold">
                            <p:stCondLst>
                              <p:cond delay="500"/>
                            </p:stCondLst>
                            <p:childTnLst>
                              <p:par>
                                <p:cTn id="76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8" dur="500"/>
                                        <p:tgtEl>
                                          <p:spTgt spid="737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9" fill="hold">
                      <p:stCondLst>
                        <p:cond delay="indefinite"/>
                      </p:stCondLst>
                      <p:childTnLst>
                        <p:par>
                          <p:cTn id="80" fill="hold">
                            <p:stCondLst>
                              <p:cond delay="0"/>
                            </p:stCondLst>
                            <p:childTnLst>
                              <p:par>
                                <p:cTn id="81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3" dur="500"/>
                                        <p:tgtEl>
                                          <p:spTgt spid="738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4" fill="hold">
                      <p:stCondLst>
                        <p:cond delay="indefinite"/>
                      </p:stCondLst>
                      <p:childTnLst>
                        <p:par>
                          <p:cTn id="85" fill="hold">
                            <p:stCondLst>
                              <p:cond delay="0"/>
                            </p:stCondLst>
                            <p:childTnLst>
                              <p:par>
                                <p:cTn id="86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8" dur="500"/>
                                        <p:tgtEl>
                                          <p:spTgt spid="738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9" fill="hold">
                      <p:stCondLst>
                        <p:cond delay="indefinite"/>
                      </p:stCondLst>
                      <p:childTnLst>
                        <p:par>
                          <p:cTn id="90" fill="hold">
                            <p:stCondLst>
                              <p:cond delay="0"/>
                            </p:stCondLst>
                            <p:childTnLst>
                              <p:par>
                                <p:cTn id="9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8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7" dur="500"/>
                                        <p:tgtEl>
                                          <p:spTgt spid="738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2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right)">
                                      <p:cBhvr>
                                        <p:cTn id="100" dur="500"/>
                                        <p:tgtEl>
                                          <p:spTgt spid="738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>
                      <p:stCondLst>
                        <p:cond delay="indefinite"/>
                      </p:stCondLst>
                      <p:childTnLst>
                        <p:par>
                          <p:cTn id="102" fill="hold">
                            <p:stCondLst>
                              <p:cond delay="0"/>
                            </p:stCondLst>
                            <p:childTnLst>
                              <p:par>
                                <p:cTn id="103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05" dur="500"/>
                                        <p:tgtEl>
                                          <p:spTgt spid="738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>
                      <p:stCondLst>
                        <p:cond delay="indefinite"/>
                      </p:stCondLst>
                      <p:childTnLst>
                        <p:par>
                          <p:cTn id="107" fill="hold">
                            <p:stCondLst>
                              <p:cond delay="0"/>
                            </p:stCondLst>
                            <p:childTnLst>
                              <p:par>
                                <p:cTn id="10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0" dur="500"/>
                                        <p:tgtEl>
                                          <p:spTgt spid="738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>
                      <p:stCondLst>
                        <p:cond delay="indefinite"/>
                      </p:stCondLst>
                      <p:childTnLst>
                        <p:par>
                          <p:cTn id="112" fill="hold">
                            <p:stCondLst>
                              <p:cond delay="0"/>
                            </p:stCondLst>
                            <p:childTnLst>
                              <p:par>
                                <p:cTn id="1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38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5" fill="hold">
                      <p:stCondLst>
                        <p:cond delay="indefinite"/>
                      </p:stCondLst>
                      <p:childTnLst>
                        <p:par>
                          <p:cTn id="116" fill="hold">
                            <p:stCondLst>
                              <p:cond delay="0"/>
                            </p:stCondLst>
                            <p:childTnLst>
                              <p:par>
                                <p:cTn id="117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9" dur="500"/>
                                        <p:tgtEl>
                                          <p:spTgt spid="737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0" fill="hold">
                      <p:stCondLst>
                        <p:cond delay="indefinite"/>
                      </p:stCondLst>
                      <p:childTnLst>
                        <p:par>
                          <p:cTn id="121" fill="hold">
                            <p:stCondLst>
                              <p:cond delay="0"/>
                            </p:stCondLst>
                            <p:childTnLst>
                              <p:par>
                                <p:cTn id="12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4" dur="500"/>
                                        <p:tgtEl>
                                          <p:spTgt spid="737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5" fill="hold">
                            <p:stCondLst>
                              <p:cond delay="500"/>
                            </p:stCondLst>
                            <p:childTnLst>
                              <p:par>
                                <p:cTn id="12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8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28" dur="500"/>
                                        <p:tgtEl>
                                          <p:spTgt spid="738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9" fill="hold">
                            <p:stCondLst>
                              <p:cond delay="1000"/>
                            </p:stCondLst>
                            <p:childTnLst>
                              <p:par>
                                <p:cTn id="13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7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32" dur="500"/>
                                        <p:tgtEl>
                                          <p:spTgt spid="737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3" fill="hold">
                      <p:stCondLst>
                        <p:cond delay="indefinite"/>
                      </p:stCondLst>
                      <p:childTnLst>
                        <p:par>
                          <p:cTn id="134" fill="hold">
                            <p:stCondLst>
                              <p:cond delay="0"/>
                            </p:stCondLst>
                            <p:childTnLst>
                              <p:par>
                                <p:cTn id="13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7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8" fill="hold">
                      <p:stCondLst>
                        <p:cond delay="indefinite"/>
                      </p:stCondLst>
                      <p:childTnLst>
                        <p:par>
                          <p:cTn id="139" fill="hold">
                            <p:stCondLst>
                              <p:cond delay="0"/>
                            </p:stCondLst>
                            <p:childTnLst>
                              <p:par>
                                <p:cTn id="14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2"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3" fill="hold">
                      <p:stCondLst>
                        <p:cond delay="indefinite"/>
                      </p:stCondLst>
                      <p:childTnLst>
                        <p:par>
                          <p:cTn id="144" fill="hold">
                            <p:stCondLst>
                              <p:cond delay="0"/>
                            </p:stCondLst>
                            <p:childTnLst>
                              <p:par>
                                <p:cTn id="14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7" dur="500"/>
                                        <p:tgtEl>
                                          <p:spTgt spid="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8" fill="hold">
                            <p:stCondLst>
                              <p:cond delay="500"/>
                            </p:stCondLst>
                            <p:childTnLst>
                              <p:par>
                                <p:cTn id="14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1" dur="500"/>
                                        <p:tgtEl>
                                          <p:spTgt spid="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2" fill="hold">
                            <p:stCondLst>
                              <p:cond delay="1000"/>
                            </p:stCondLst>
                            <p:childTnLst>
                              <p:par>
                                <p:cTn id="153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5" dur="500"/>
                                        <p:tgtEl>
                                          <p:spTgt spid="7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56" fill="hold">
                            <p:stCondLst>
                              <p:cond delay="1500"/>
                            </p:stCondLst>
                            <p:childTnLst>
                              <p:par>
                                <p:cTn id="157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59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0" fill="hold">
                      <p:stCondLst>
                        <p:cond delay="indefinite"/>
                      </p:stCondLst>
                      <p:childTnLst>
                        <p:par>
                          <p:cTn id="161" fill="hold">
                            <p:stCondLst>
                              <p:cond delay="0"/>
                            </p:stCondLst>
                            <p:childTnLst>
                              <p:par>
                                <p:cTn id="16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4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5" fill="hold">
                      <p:stCondLst>
                        <p:cond delay="indefinite"/>
                      </p:stCondLst>
                      <p:childTnLst>
                        <p:par>
                          <p:cTn id="166" fill="hold">
                            <p:stCondLst>
                              <p:cond delay="0"/>
                            </p:stCondLst>
                            <p:childTnLst>
                              <p:par>
                                <p:cTn id="16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9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0" fill="hold">
                      <p:stCondLst>
                        <p:cond delay="indefinite"/>
                      </p:stCondLst>
                      <p:childTnLst>
                        <p:par>
                          <p:cTn id="171" fill="hold">
                            <p:stCondLst>
                              <p:cond delay="0"/>
                            </p:stCondLst>
                            <p:childTnLst>
                              <p:par>
                                <p:cTn id="172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4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5" fill="hold">
                      <p:stCondLst>
                        <p:cond delay="indefinite"/>
                      </p:stCondLst>
                      <p:childTnLst>
                        <p:par>
                          <p:cTn id="176" fill="hold">
                            <p:stCondLst>
                              <p:cond delay="0"/>
                            </p:stCondLst>
                            <p:childTnLst>
                              <p:par>
                                <p:cTn id="177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79" dur="500"/>
                                        <p:tgtEl>
                                          <p:spTgt spid="7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0" fill="hold">
                            <p:stCondLst>
                              <p:cond delay="500"/>
                            </p:stCondLst>
                            <p:childTnLst>
                              <p:par>
                                <p:cTn id="181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3" dur="500"/>
                                        <p:tgtEl>
                                          <p:spTgt spid="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4" fill="hold">
                            <p:stCondLst>
                              <p:cond delay="1000"/>
                            </p:stCondLst>
                            <p:childTnLst>
                              <p:par>
                                <p:cTn id="185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7" dur="500"/>
                                        <p:tgtEl>
                                          <p:spTgt spid="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3807" grpId="0" animBg="1"/>
      <p:bldP spid="73808" grpId="0" animBg="1"/>
      <p:bldP spid="73771" grpId="0" animBg="1"/>
      <p:bldP spid="73772" grpId="0" animBg="1"/>
      <p:bldP spid="73773" grpId="0" animBg="1"/>
      <p:bldP spid="73756" grpId="0" animBg="1"/>
      <p:bldP spid="73758" grpId="0" animBg="1"/>
      <p:bldP spid="73760" grpId="0" animBg="1"/>
      <p:bldP spid="73761" grpId="0" animBg="1"/>
      <p:bldP spid="73776" grpId="0" animBg="1"/>
      <p:bldP spid="73777" grpId="0" animBg="1"/>
      <p:bldP spid="73790" grpId="0" animBg="1"/>
      <p:bldP spid="73791" grpId="0" animBg="1"/>
      <p:bldP spid="73793" grpId="0" animBg="1"/>
      <p:bldP spid="73796" grpId="0" animBg="1"/>
      <p:bldP spid="73812" grpId="0" animBg="1"/>
      <p:bldP spid="73814" grpId="0" animBg="1"/>
      <p:bldP spid="73813" grpId="0" animBg="1"/>
      <p:bldP spid="73855" grpId="0" animBg="1"/>
      <p:bldP spid="73856" grpId="0" animBg="1"/>
      <p:bldP spid="73859" grpId="0" autoUpdateAnimBg="0"/>
      <p:bldP spid="73860" grpId="0" animBg="1"/>
      <p:bldP spid="73861" grpId="0" autoUpdateAnimBg="0"/>
      <p:bldP spid="73863" grpId="0" autoUpdateAnimBg="0"/>
      <p:bldP spid="73866" grpId="0" autoUpdateAnimBg="0"/>
      <p:bldP spid="73867" grpId="0" autoUpdateAnimBg="0"/>
      <p:bldP spid="86" grpId="0" autoUpdateAnimBg="0"/>
      <p:bldP spid="87" grpId="0" animBg="1"/>
      <p:bldP spid="76" grpId="0" autoUpdateAnimBg="0"/>
      <p:bldP spid="77" grpId="0" autoUpdateAnimBg="0"/>
      <p:bldP spid="78" grpId="0" autoUpdateAnimBg="0"/>
      <p:bldP spid="79" grpId="0" autoUpdateAnimBg="0"/>
      <p:bldP spid="80" grpId="0" autoUpdateAnimBg="0"/>
      <p:bldP spid="81" grpId="0" autoUpdateAnimBg="0"/>
      <p:bldP spid="82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F1B35584-BA83-4961-AB59-6B8C32F1F9C4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25</a:t>
            </a:fld>
            <a:endParaRPr lang="en-US" altLang="zh-CN" sz="1400" smtClean="0">
              <a:solidFill>
                <a:schemeClr val="bg2"/>
              </a:solidFill>
            </a:endParaRPr>
          </a:p>
        </p:txBody>
      </p:sp>
      <p:sp>
        <p:nvSpPr>
          <p:cNvPr id="150530" name="Text Box 2"/>
          <p:cNvSpPr txBox="1">
            <a:spLocks noChangeArrowheads="1"/>
          </p:cNvSpPr>
          <p:nvPr/>
        </p:nvSpPr>
        <p:spPr bwMode="auto">
          <a:xfrm>
            <a:off x="239713" y="1009650"/>
            <a:ext cx="8785225" cy="5191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800" b="1">
                <a:latin typeface="黑体" pitchFamily="2" charset="-122"/>
                <a:ea typeface="黑体" pitchFamily="2" charset="-122"/>
              </a:rPr>
              <a:t>回转体投影的特点：</a:t>
            </a:r>
          </a:p>
        </p:txBody>
      </p:sp>
      <p:sp>
        <p:nvSpPr>
          <p:cNvPr id="150531" name="Text Box 3"/>
          <p:cNvSpPr txBox="1">
            <a:spLocks noChangeArrowheads="1"/>
          </p:cNvSpPr>
          <p:nvPr/>
        </p:nvSpPr>
        <p:spPr bwMode="auto">
          <a:xfrm>
            <a:off x="1901825" y="1573213"/>
            <a:ext cx="6181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marL="457200" indent="-457200"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914400" indent="-45720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371600" indent="-4572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828800" indent="-4572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indent="-4572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AutoNum type="arabicPeriod"/>
            </a:pPr>
            <a:r>
              <a:rPr kumimoji="0" lang="zh-CN" altLang="en-US" sz="2400" b="1">
                <a:latin typeface="黑体" pitchFamily="2" charset="-122"/>
                <a:ea typeface="黑体" pitchFamily="2" charset="-122"/>
              </a:rPr>
              <a:t>必须画出回转轴的投影（点画线）。</a:t>
            </a:r>
          </a:p>
        </p:txBody>
      </p:sp>
      <p:sp>
        <p:nvSpPr>
          <p:cNvPr id="150533" name="Text Box 5"/>
          <p:cNvSpPr txBox="1">
            <a:spLocks noChangeArrowheads="1"/>
          </p:cNvSpPr>
          <p:nvPr/>
        </p:nvSpPr>
        <p:spPr bwMode="auto">
          <a:xfrm>
            <a:off x="358775" y="354013"/>
            <a:ext cx="1828800" cy="6413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3600" b="1">
                <a:solidFill>
                  <a:srgbClr val="FF3300"/>
                </a:solidFill>
                <a:latin typeface="黑体" pitchFamily="2" charset="-122"/>
                <a:ea typeface="黑体" pitchFamily="2" charset="-122"/>
              </a:rPr>
              <a:t>归纳</a:t>
            </a:r>
            <a:endParaRPr kumimoji="0" lang="zh-CN" altLang="en-US" sz="3600" b="1" baseline="30000">
              <a:solidFill>
                <a:srgbClr val="FF3300"/>
              </a:solidFill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50534" name="Text Box 6"/>
          <p:cNvSpPr txBox="1">
            <a:spLocks noChangeArrowheads="1"/>
          </p:cNvSpPr>
          <p:nvPr/>
        </p:nvSpPr>
        <p:spPr bwMode="auto">
          <a:xfrm>
            <a:off x="254000" y="4138613"/>
            <a:ext cx="8269288" cy="124936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800" b="1">
                <a:latin typeface="黑体" pitchFamily="2" charset="-122"/>
                <a:ea typeface="黑体" pitchFamily="2" charset="-122"/>
              </a:rPr>
              <a:t>回转体上的点和线：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400" b="1">
                <a:latin typeface="黑体" pitchFamily="2" charset="-122"/>
                <a:ea typeface="黑体" pitchFamily="2" charset="-122"/>
              </a:rPr>
              <a:t>            基本方法：辅助线法。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400" b="1">
                <a:latin typeface="黑体" pitchFamily="2" charset="-122"/>
                <a:ea typeface="黑体" pitchFamily="2" charset="-122"/>
              </a:rPr>
              <a:t>                      注意回转体形成的特点。</a:t>
            </a:r>
          </a:p>
        </p:txBody>
      </p:sp>
      <p:sp>
        <p:nvSpPr>
          <p:cNvPr id="150535" name="Text Box 7"/>
          <p:cNvSpPr txBox="1">
            <a:spLocks noChangeArrowheads="1"/>
          </p:cNvSpPr>
          <p:nvPr/>
        </p:nvSpPr>
        <p:spPr bwMode="auto">
          <a:xfrm>
            <a:off x="215900" y="5229315"/>
            <a:ext cx="8809038" cy="126188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marL="457200" indent="-457200"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914400" indent="-45720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371600" indent="-4572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828800" indent="-4572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indent="-4572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800" b="1" dirty="0">
                <a:latin typeface="黑体" pitchFamily="2" charset="-122"/>
                <a:ea typeface="黑体" pitchFamily="2" charset="-122"/>
              </a:rPr>
              <a:t>轴线倾斜的回转体：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400" b="1" dirty="0">
                <a:latin typeface="黑体" pitchFamily="2" charset="-122"/>
                <a:ea typeface="黑体" pitchFamily="2" charset="-122"/>
              </a:rPr>
              <a:t>           </a:t>
            </a:r>
            <a:r>
              <a:rPr kumimoji="0" lang="en-US" altLang="zh-CN" sz="2400" b="1" dirty="0">
                <a:latin typeface="黑体" pitchFamily="2" charset="-122"/>
                <a:ea typeface="黑体" pitchFamily="2" charset="-122"/>
              </a:rPr>
              <a:t>1. </a:t>
            </a:r>
            <a:r>
              <a:rPr kumimoji="0" lang="zh-CN" altLang="en-US" sz="2400" b="1" dirty="0">
                <a:latin typeface="黑体" pitchFamily="2" charset="-122"/>
                <a:ea typeface="黑体" pitchFamily="2" charset="-122"/>
              </a:rPr>
              <a:t>在回转体面上取点。（利用换面法的思想）</a:t>
            </a:r>
          </a:p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zh-CN" altLang="en-US" sz="2400" b="1" dirty="0">
                <a:latin typeface="黑体" pitchFamily="2" charset="-122"/>
                <a:ea typeface="黑体" pitchFamily="2" charset="-122"/>
              </a:rPr>
              <a:t>           </a:t>
            </a:r>
            <a:r>
              <a:rPr kumimoji="0" lang="en-US" altLang="zh-CN" sz="2400" b="1" dirty="0">
                <a:latin typeface="黑体" pitchFamily="2" charset="-122"/>
                <a:ea typeface="黑体" pitchFamily="2" charset="-122"/>
              </a:rPr>
              <a:t>2. </a:t>
            </a:r>
            <a:r>
              <a:rPr kumimoji="0" lang="zh-CN" altLang="en-US" sz="2400" b="1" dirty="0">
                <a:latin typeface="黑体" pitchFamily="2" charset="-122"/>
                <a:ea typeface="黑体" pitchFamily="2" charset="-122"/>
              </a:rPr>
              <a:t>可见性判断。</a:t>
            </a:r>
            <a:r>
              <a:rPr kumimoji="0" lang="zh-CN" altLang="en-US" sz="2400" b="1" dirty="0" smtClean="0">
                <a:latin typeface="黑体" pitchFamily="2" charset="-122"/>
                <a:ea typeface="黑体" pitchFamily="2" charset="-122"/>
              </a:rPr>
              <a:t>（外形轮廓线与底面曲线相切）</a:t>
            </a:r>
            <a:endParaRPr kumimoji="0" lang="zh-CN" altLang="en-US" sz="2400" b="1" dirty="0">
              <a:latin typeface="黑体" pitchFamily="2" charset="-122"/>
              <a:ea typeface="黑体" pitchFamily="2" charset="-122"/>
            </a:endParaRPr>
          </a:p>
        </p:txBody>
      </p:sp>
      <p:sp>
        <p:nvSpPr>
          <p:cNvPr id="150536" name="Line 8"/>
          <p:cNvSpPr>
            <a:spLocks noChangeShapeType="1"/>
          </p:cNvSpPr>
          <p:nvPr/>
        </p:nvSpPr>
        <p:spPr bwMode="auto">
          <a:xfrm>
            <a:off x="2371725" y="2701925"/>
            <a:ext cx="7778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0537" name="Line 9"/>
          <p:cNvSpPr>
            <a:spLocks noChangeShapeType="1"/>
          </p:cNvSpPr>
          <p:nvPr/>
        </p:nvSpPr>
        <p:spPr bwMode="auto">
          <a:xfrm>
            <a:off x="3354388" y="2703513"/>
            <a:ext cx="7778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0538" name="Line 10"/>
          <p:cNvSpPr>
            <a:spLocks noChangeShapeType="1"/>
          </p:cNvSpPr>
          <p:nvPr/>
        </p:nvSpPr>
        <p:spPr bwMode="auto">
          <a:xfrm>
            <a:off x="4310063" y="2705100"/>
            <a:ext cx="7778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0539" name="Line 11"/>
          <p:cNvSpPr>
            <a:spLocks noChangeShapeType="1"/>
          </p:cNvSpPr>
          <p:nvPr/>
        </p:nvSpPr>
        <p:spPr bwMode="auto">
          <a:xfrm>
            <a:off x="5267325" y="2703513"/>
            <a:ext cx="7778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0540" name="Line 12"/>
          <p:cNvSpPr>
            <a:spLocks noChangeShapeType="1"/>
          </p:cNvSpPr>
          <p:nvPr/>
        </p:nvSpPr>
        <p:spPr bwMode="auto">
          <a:xfrm>
            <a:off x="3224213" y="2705100"/>
            <a:ext cx="603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0541" name="Line 13"/>
          <p:cNvSpPr>
            <a:spLocks noChangeShapeType="1"/>
          </p:cNvSpPr>
          <p:nvPr/>
        </p:nvSpPr>
        <p:spPr bwMode="auto">
          <a:xfrm>
            <a:off x="4194175" y="2705100"/>
            <a:ext cx="603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0542" name="Line 14"/>
          <p:cNvSpPr>
            <a:spLocks noChangeShapeType="1"/>
          </p:cNvSpPr>
          <p:nvPr/>
        </p:nvSpPr>
        <p:spPr bwMode="auto">
          <a:xfrm>
            <a:off x="5153025" y="2705100"/>
            <a:ext cx="6032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50543" name="Group 15"/>
          <p:cNvGrpSpPr>
            <a:grpSpLocks/>
          </p:cNvGrpSpPr>
          <p:nvPr/>
        </p:nvGrpSpPr>
        <p:grpSpPr bwMode="auto">
          <a:xfrm>
            <a:off x="2341563" y="1917700"/>
            <a:ext cx="1289050" cy="785813"/>
            <a:chOff x="925" y="1776"/>
            <a:chExt cx="812" cy="495"/>
          </a:xfrm>
        </p:grpSpPr>
        <p:sp>
          <p:nvSpPr>
            <p:cNvPr id="27683" name="Line 16"/>
            <p:cNvSpPr>
              <a:spLocks noChangeShapeType="1"/>
            </p:cNvSpPr>
            <p:nvPr/>
          </p:nvSpPr>
          <p:spPr bwMode="auto">
            <a:xfrm flipV="1">
              <a:off x="1431" y="2083"/>
              <a:ext cx="0" cy="186"/>
            </a:xfrm>
            <a:prstGeom prst="line">
              <a:avLst/>
            </a:prstGeom>
            <a:noFill/>
            <a:ln w="9525">
              <a:solidFill>
                <a:srgbClr val="0000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84" name="Line 17"/>
            <p:cNvSpPr>
              <a:spLocks noChangeShapeType="1"/>
            </p:cNvSpPr>
            <p:nvPr/>
          </p:nvSpPr>
          <p:spPr bwMode="auto">
            <a:xfrm flipV="1">
              <a:off x="1481" y="2085"/>
              <a:ext cx="0" cy="186"/>
            </a:xfrm>
            <a:prstGeom prst="line">
              <a:avLst/>
            </a:prstGeom>
            <a:noFill/>
            <a:ln w="9525">
              <a:solidFill>
                <a:srgbClr val="0000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85" name="Line 18"/>
            <p:cNvSpPr>
              <a:spLocks noChangeShapeType="1"/>
            </p:cNvSpPr>
            <p:nvPr/>
          </p:nvSpPr>
          <p:spPr bwMode="auto">
            <a:xfrm flipV="1">
              <a:off x="1518" y="2085"/>
              <a:ext cx="0" cy="186"/>
            </a:xfrm>
            <a:prstGeom prst="line">
              <a:avLst/>
            </a:prstGeom>
            <a:noFill/>
            <a:ln w="9525">
              <a:solidFill>
                <a:srgbClr val="0000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86" name="Line 19"/>
            <p:cNvSpPr>
              <a:spLocks noChangeShapeType="1"/>
            </p:cNvSpPr>
            <p:nvPr/>
          </p:nvSpPr>
          <p:spPr bwMode="auto">
            <a:xfrm flipV="1">
              <a:off x="1563" y="2085"/>
              <a:ext cx="0" cy="186"/>
            </a:xfrm>
            <a:prstGeom prst="line">
              <a:avLst/>
            </a:prstGeom>
            <a:noFill/>
            <a:ln w="9525">
              <a:solidFill>
                <a:srgbClr val="0000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87" name="Line 20"/>
            <p:cNvSpPr>
              <a:spLocks noChangeShapeType="1"/>
            </p:cNvSpPr>
            <p:nvPr/>
          </p:nvSpPr>
          <p:spPr bwMode="auto">
            <a:xfrm flipV="1">
              <a:off x="944" y="2083"/>
              <a:ext cx="0" cy="186"/>
            </a:xfrm>
            <a:prstGeom prst="line">
              <a:avLst/>
            </a:prstGeom>
            <a:noFill/>
            <a:ln w="9525">
              <a:solidFill>
                <a:srgbClr val="0000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88" name="Line 21"/>
            <p:cNvSpPr>
              <a:spLocks noChangeShapeType="1"/>
            </p:cNvSpPr>
            <p:nvPr/>
          </p:nvSpPr>
          <p:spPr bwMode="auto">
            <a:xfrm>
              <a:off x="945" y="2133"/>
              <a:ext cx="487" cy="0"/>
            </a:xfrm>
            <a:prstGeom prst="line">
              <a:avLst/>
            </a:prstGeom>
            <a:noFill/>
            <a:ln w="9525">
              <a:solidFill>
                <a:srgbClr val="0000CC"/>
              </a:solidFill>
              <a:round/>
              <a:headEnd type="triangle" w="sm" len="lg"/>
              <a:tailEnd type="triangle" w="sm" len="lg"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89" name="Line 22"/>
            <p:cNvSpPr>
              <a:spLocks noChangeShapeType="1"/>
            </p:cNvSpPr>
            <p:nvPr/>
          </p:nvSpPr>
          <p:spPr bwMode="auto">
            <a:xfrm>
              <a:off x="1567" y="2133"/>
              <a:ext cx="170" cy="0"/>
            </a:xfrm>
            <a:prstGeom prst="line">
              <a:avLst/>
            </a:prstGeom>
            <a:noFill/>
            <a:ln w="9525">
              <a:solidFill>
                <a:srgbClr val="0000CC"/>
              </a:solidFill>
              <a:round/>
              <a:headEnd type="triangle" w="sm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90" name="Line 23"/>
            <p:cNvSpPr>
              <a:spLocks noChangeShapeType="1"/>
            </p:cNvSpPr>
            <p:nvPr/>
          </p:nvSpPr>
          <p:spPr bwMode="auto">
            <a:xfrm>
              <a:off x="1431" y="2133"/>
              <a:ext cx="135" cy="0"/>
            </a:xfrm>
            <a:prstGeom prst="line">
              <a:avLst/>
            </a:prstGeom>
            <a:noFill/>
            <a:ln w="9525">
              <a:solidFill>
                <a:srgbClr val="0000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91" name="Oval 24"/>
            <p:cNvSpPr>
              <a:spLocks noChangeArrowheads="1"/>
            </p:cNvSpPr>
            <p:nvPr/>
          </p:nvSpPr>
          <p:spPr bwMode="auto">
            <a:xfrm>
              <a:off x="1468" y="2121"/>
              <a:ext cx="23" cy="23"/>
            </a:xfrm>
            <a:prstGeom prst="ellipse">
              <a:avLst/>
            </a:prstGeom>
            <a:solidFill>
              <a:srgbClr val="0000CC"/>
            </a:solidFill>
            <a:ln w="9525">
              <a:solidFill>
                <a:srgbClr val="0000CC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400"/>
            </a:p>
          </p:txBody>
        </p:sp>
        <p:sp>
          <p:nvSpPr>
            <p:cNvPr id="27692" name="Oval 25"/>
            <p:cNvSpPr>
              <a:spLocks noChangeArrowheads="1"/>
            </p:cNvSpPr>
            <p:nvPr/>
          </p:nvSpPr>
          <p:spPr bwMode="auto">
            <a:xfrm>
              <a:off x="1508" y="2121"/>
              <a:ext cx="23" cy="23"/>
            </a:xfrm>
            <a:prstGeom prst="ellipse">
              <a:avLst/>
            </a:prstGeom>
            <a:solidFill>
              <a:srgbClr val="0000CC"/>
            </a:solidFill>
            <a:ln w="9525">
              <a:solidFill>
                <a:srgbClr val="0000CC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400"/>
            </a:p>
          </p:txBody>
        </p:sp>
        <p:sp>
          <p:nvSpPr>
            <p:cNvPr id="27693" name="Text Box 26"/>
            <p:cNvSpPr txBox="1">
              <a:spLocks noChangeArrowheads="1"/>
            </p:cNvSpPr>
            <p:nvPr/>
          </p:nvSpPr>
          <p:spPr bwMode="auto">
            <a:xfrm>
              <a:off x="925" y="1950"/>
              <a:ext cx="463" cy="187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000" b="1" i="1" baseline="-10000">
                  <a:solidFill>
                    <a:srgbClr val="0000CC"/>
                  </a:solidFill>
                  <a:latin typeface="ISOCPEUR" pitchFamily="34" charset="0"/>
                </a:rPr>
                <a:t>10~20</a:t>
              </a:r>
            </a:p>
          </p:txBody>
        </p:sp>
        <p:sp>
          <p:nvSpPr>
            <p:cNvPr id="27694" name="Text Box 27"/>
            <p:cNvSpPr txBox="1">
              <a:spLocks noChangeArrowheads="1"/>
            </p:cNvSpPr>
            <p:nvPr/>
          </p:nvSpPr>
          <p:spPr bwMode="auto">
            <a:xfrm>
              <a:off x="1325" y="1776"/>
              <a:ext cx="186" cy="1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000" b="1" i="1" baseline="-10000">
                  <a:solidFill>
                    <a:srgbClr val="0000CC"/>
                  </a:solidFill>
                  <a:latin typeface="ISOCPEUR" pitchFamily="34" charset="0"/>
                </a:rPr>
                <a:t>1 </a:t>
              </a:r>
            </a:p>
          </p:txBody>
        </p:sp>
        <p:sp>
          <p:nvSpPr>
            <p:cNvPr id="27695" name="Text Box 28"/>
            <p:cNvSpPr txBox="1">
              <a:spLocks noChangeArrowheads="1"/>
            </p:cNvSpPr>
            <p:nvPr/>
          </p:nvSpPr>
          <p:spPr bwMode="auto">
            <a:xfrm>
              <a:off x="1419" y="1776"/>
              <a:ext cx="186" cy="1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000" b="1" i="1" baseline="-10000">
                  <a:solidFill>
                    <a:srgbClr val="0000CC"/>
                  </a:solidFill>
                  <a:latin typeface="ISOCPEUR" pitchFamily="34" charset="0"/>
                </a:rPr>
                <a:t>1 </a:t>
              </a:r>
            </a:p>
          </p:txBody>
        </p:sp>
        <p:sp>
          <p:nvSpPr>
            <p:cNvPr id="27696" name="Text Box 29"/>
            <p:cNvSpPr txBox="1">
              <a:spLocks noChangeArrowheads="1"/>
            </p:cNvSpPr>
            <p:nvPr/>
          </p:nvSpPr>
          <p:spPr bwMode="auto">
            <a:xfrm>
              <a:off x="1523" y="1776"/>
              <a:ext cx="186" cy="1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000" b="1" i="1" baseline="-10000">
                  <a:solidFill>
                    <a:srgbClr val="0000CC"/>
                  </a:solidFill>
                  <a:latin typeface="ISOCPEUR" pitchFamily="34" charset="0"/>
                </a:rPr>
                <a:t>1 </a:t>
              </a:r>
            </a:p>
          </p:txBody>
        </p:sp>
        <p:sp>
          <p:nvSpPr>
            <p:cNvPr id="27697" name="Line 30"/>
            <p:cNvSpPr>
              <a:spLocks noChangeShapeType="1"/>
            </p:cNvSpPr>
            <p:nvPr/>
          </p:nvSpPr>
          <p:spPr bwMode="auto">
            <a:xfrm flipH="1" flipV="1">
              <a:off x="1440" y="1932"/>
              <a:ext cx="6" cy="201"/>
            </a:xfrm>
            <a:prstGeom prst="line">
              <a:avLst/>
            </a:prstGeom>
            <a:noFill/>
            <a:ln w="9525">
              <a:solidFill>
                <a:srgbClr val="0000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98" name="Line 31"/>
            <p:cNvSpPr>
              <a:spLocks noChangeShapeType="1"/>
            </p:cNvSpPr>
            <p:nvPr/>
          </p:nvSpPr>
          <p:spPr bwMode="auto">
            <a:xfrm flipV="1">
              <a:off x="1499" y="1929"/>
              <a:ext cx="27" cy="204"/>
            </a:xfrm>
            <a:prstGeom prst="line">
              <a:avLst/>
            </a:prstGeom>
            <a:noFill/>
            <a:ln w="9525">
              <a:solidFill>
                <a:srgbClr val="0000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99" name="Line 32"/>
            <p:cNvSpPr>
              <a:spLocks noChangeShapeType="1"/>
            </p:cNvSpPr>
            <p:nvPr/>
          </p:nvSpPr>
          <p:spPr bwMode="auto">
            <a:xfrm flipV="1">
              <a:off x="1544" y="1929"/>
              <a:ext cx="48" cy="204"/>
            </a:xfrm>
            <a:prstGeom prst="line">
              <a:avLst/>
            </a:prstGeom>
            <a:noFill/>
            <a:ln w="9525">
              <a:solidFill>
                <a:srgbClr val="0000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00" name="Line 33"/>
            <p:cNvSpPr>
              <a:spLocks noChangeShapeType="1"/>
            </p:cNvSpPr>
            <p:nvPr/>
          </p:nvSpPr>
          <p:spPr bwMode="auto">
            <a:xfrm>
              <a:off x="1379" y="1931"/>
              <a:ext cx="59" cy="0"/>
            </a:xfrm>
            <a:prstGeom prst="line">
              <a:avLst/>
            </a:prstGeom>
            <a:noFill/>
            <a:ln w="9525">
              <a:solidFill>
                <a:srgbClr val="0000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01" name="Line 34"/>
            <p:cNvSpPr>
              <a:spLocks noChangeShapeType="1"/>
            </p:cNvSpPr>
            <p:nvPr/>
          </p:nvSpPr>
          <p:spPr bwMode="auto">
            <a:xfrm>
              <a:off x="1466" y="1929"/>
              <a:ext cx="59" cy="0"/>
            </a:xfrm>
            <a:prstGeom prst="line">
              <a:avLst/>
            </a:prstGeom>
            <a:noFill/>
            <a:ln w="9525">
              <a:solidFill>
                <a:srgbClr val="0000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702" name="Line 35"/>
            <p:cNvSpPr>
              <a:spLocks noChangeShapeType="1"/>
            </p:cNvSpPr>
            <p:nvPr/>
          </p:nvSpPr>
          <p:spPr bwMode="auto">
            <a:xfrm>
              <a:off x="1593" y="1929"/>
              <a:ext cx="59" cy="0"/>
            </a:xfrm>
            <a:prstGeom prst="line">
              <a:avLst/>
            </a:prstGeom>
            <a:noFill/>
            <a:ln w="9525">
              <a:solidFill>
                <a:srgbClr val="0000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50564" name="Line 36"/>
          <p:cNvSpPr>
            <a:spLocks noChangeShapeType="1"/>
          </p:cNvSpPr>
          <p:nvPr/>
        </p:nvSpPr>
        <p:spPr bwMode="auto">
          <a:xfrm>
            <a:off x="2341563" y="3251200"/>
            <a:ext cx="2698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0565" name="Line 37"/>
          <p:cNvSpPr>
            <a:spLocks noChangeShapeType="1"/>
          </p:cNvSpPr>
          <p:nvPr/>
        </p:nvSpPr>
        <p:spPr bwMode="auto">
          <a:xfrm>
            <a:off x="2681288" y="3251200"/>
            <a:ext cx="2698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0566" name="Line 38"/>
          <p:cNvSpPr>
            <a:spLocks noChangeShapeType="1"/>
          </p:cNvSpPr>
          <p:nvPr/>
        </p:nvSpPr>
        <p:spPr bwMode="auto">
          <a:xfrm>
            <a:off x="3017838" y="3251200"/>
            <a:ext cx="2698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0567" name="Line 39"/>
          <p:cNvSpPr>
            <a:spLocks noChangeShapeType="1"/>
          </p:cNvSpPr>
          <p:nvPr/>
        </p:nvSpPr>
        <p:spPr bwMode="auto">
          <a:xfrm>
            <a:off x="3354388" y="3252788"/>
            <a:ext cx="2698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0568" name="Line 40"/>
          <p:cNvSpPr>
            <a:spLocks noChangeShapeType="1"/>
          </p:cNvSpPr>
          <p:nvPr/>
        </p:nvSpPr>
        <p:spPr bwMode="auto">
          <a:xfrm>
            <a:off x="3687763" y="3251200"/>
            <a:ext cx="2698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0569" name="Line 41"/>
          <p:cNvSpPr>
            <a:spLocks noChangeShapeType="1"/>
          </p:cNvSpPr>
          <p:nvPr/>
        </p:nvSpPr>
        <p:spPr bwMode="auto">
          <a:xfrm>
            <a:off x="4024313" y="3251200"/>
            <a:ext cx="2698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0570" name="Line 42"/>
          <p:cNvSpPr>
            <a:spLocks noChangeShapeType="1"/>
          </p:cNvSpPr>
          <p:nvPr/>
        </p:nvSpPr>
        <p:spPr bwMode="auto">
          <a:xfrm>
            <a:off x="4357688" y="3251200"/>
            <a:ext cx="2698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grpSp>
        <p:nvGrpSpPr>
          <p:cNvPr id="150571" name="Group 43"/>
          <p:cNvGrpSpPr>
            <a:grpSpLocks/>
          </p:cNvGrpSpPr>
          <p:nvPr/>
        </p:nvGrpSpPr>
        <p:grpSpPr bwMode="auto">
          <a:xfrm>
            <a:off x="2081213" y="2727325"/>
            <a:ext cx="863600" cy="527050"/>
            <a:chOff x="758" y="2412"/>
            <a:chExt cx="544" cy="332"/>
          </a:xfrm>
        </p:grpSpPr>
        <p:sp>
          <p:nvSpPr>
            <p:cNvPr id="27675" name="Line 44"/>
            <p:cNvSpPr>
              <a:spLocks noChangeShapeType="1"/>
            </p:cNvSpPr>
            <p:nvPr/>
          </p:nvSpPr>
          <p:spPr bwMode="auto">
            <a:xfrm>
              <a:off x="1132" y="2603"/>
              <a:ext cx="170" cy="0"/>
            </a:xfrm>
            <a:prstGeom prst="line">
              <a:avLst/>
            </a:prstGeom>
            <a:noFill/>
            <a:ln w="9525">
              <a:solidFill>
                <a:srgbClr val="0000CC"/>
              </a:solidFill>
              <a:round/>
              <a:headEnd type="triangle" w="sm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76" name="Line 45"/>
            <p:cNvSpPr>
              <a:spLocks noChangeShapeType="1"/>
            </p:cNvSpPr>
            <p:nvPr/>
          </p:nvSpPr>
          <p:spPr bwMode="auto">
            <a:xfrm flipH="1">
              <a:off x="758" y="2601"/>
              <a:ext cx="170" cy="0"/>
            </a:xfrm>
            <a:prstGeom prst="line">
              <a:avLst/>
            </a:prstGeom>
            <a:noFill/>
            <a:ln w="9525">
              <a:solidFill>
                <a:srgbClr val="0000CC"/>
              </a:solidFill>
              <a:round/>
              <a:headEnd type="triangle" w="sm" len="lg"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77" name="Oval 46"/>
            <p:cNvSpPr>
              <a:spLocks noChangeArrowheads="1"/>
            </p:cNvSpPr>
            <p:nvPr/>
          </p:nvSpPr>
          <p:spPr bwMode="auto">
            <a:xfrm>
              <a:off x="1079" y="2590"/>
              <a:ext cx="23" cy="23"/>
            </a:xfrm>
            <a:prstGeom prst="ellipse">
              <a:avLst/>
            </a:prstGeom>
            <a:solidFill>
              <a:srgbClr val="0000CC"/>
            </a:solidFill>
            <a:ln w="9525">
              <a:solidFill>
                <a:srgbClr val="0000CC"/>
              </a:solidFill>
              <a:round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ClrTx/>
                <a:buFontTx/>
                <a:buNone/>
              </a:pPr>
              <a:endParaRPr kumimoji="0" lang="zh-CN" altLang="en-US" sz="2400"/>
            </a:p>
          </p:txBody>
        </p:sp>
        <p:sp>
          <p:nvSpPr>
            <p:cNvPr id="27678" name="Line 47"/>
            <p:cNvSpPr>
              <a:spLocks noChangeShapeType="1"/>
            </p:cNvSpPr>
            <p:nvPr/>
          </p:nvSpPr>
          <p:spPr bwMode="auto">
            <a:xfrm>
              <a:off x="925" y="2603"/>
              <a:ext cx="209" cy="0"/>
            </a:xfrm>
            <a:prstGeom prst="line">
              <a:avLst/>
            </a:prstGeom>
            <a:noFill/>
            <a:ln w="9525">
              <a:solidFill>
                <a:srgbClr val="0000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79" name="Line 48"/>
            <p:cNvSpPr>
              <a:spLocks noChangeShapeType="1"/>
            </p:cNvSpPr>
            <p:nvPr/>
          </p:nvSpPr>
          <p:spPr bwMode="auto">
            <a:xfrm flipV="1">
              <a:off x="927" y="2557"/>
              <a:ext cx="0" cy="186"/>
            </a:xfrm>
            <a:prstGeom prst="line">
              <a:avLst/>
            </a:prstGeom>
            <a:noFill/>
            <a:ln w="9525">
              <a:solidFill>
                <a:srgbClr val="0000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80" name="Text Box 49"/>
            <p:cNvSpPr txBox="1">
              <a:spLocks noChangeArrowheads="1"/>
            </p:cNvSpPr>
            <p:nvPr/>
          </p:nvSpPr>
          <p:spPr bwMode="auto">
            <a:xfrm>
              <a:off x="924" y="2412"/>
              <a:ext cx="324" cy="183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>
              <a:lvl1pPr algn="l" eaLnBrk="0" hangingPunct="0">
                <a:spcBef>
                  <a:spcPct val="20000"/>
                </a:spcBef>
                <a:buClr>
                  <a:schemeClr val="bg2"/>
                </a:buClr>
                <a:buFont typeface="Monotype Sorts" pitchFamily="2" charset="2"/>
                <a:buChar char="§"/>
                <a:defRPr kumimoji="1" sz="32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1pPr>
              <a:lvl2pPr marL="742950" indent="-285750" algn="l" eaLnBrk="0" hangingPunct="0">
                <a:spcBef>
                  <a:spcPct val="20000"/>
                </a:spcBef>
                <a:buClr>
                  <a:schemeClr val="bg2"/>
                </a:buClr>
                <a:buSzPct val="50000"/>
                <a:buFont typeface="Monotype Sorts" pitchFamily="2" charset="2"/>
                <a:buChar char="l"/>
                <a:defRPr kumimoji="1" sz="28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2pPr>
              <a:lvl3pPr marL="1143000" indent="-228600" algn="l" eaLnBrk="0" hangingPunct="0">
                <a:spcBef>
                  <a:spcPct val="20000"/>
                </a:spcBef>
                <a:buChar char="•"/>
                <a:defRPr kumimoji="1" sz="24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3pPr>
              <a:lvl4pPr marL="1600200" indent="-228600" algn="l" eaLnBrk="0" hangingPunct="0">
                <a:spcBef>
                  <a:spcPct val="20000"/>
                </a:spcBef>
                <a:buChar char="–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4pPr>
              <a:lvl5pPr marL="2057400" indent="-228600" algn="l" eaLnBrk="0" hangingPunct="0">
                <a:spcBef>
                  <a:spcPct val="20000"/>
                </a:spcBef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kumimoji="1" sz="2000">
                  <a:solidFill>
                    <a:schemeClr val="tx1"/>
                  </a:solidFill>
                  <a:latin typeface="Times New Roman" pitchFamily="18" charset="0"/>
                  <a:ea typeface="宋体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FontTx/>
                <a:buNone/>
              </a:pPr>
              <a:r>
                <a:rPr kumimoji="0" lang="en-US" altLang="zh-CN" sz="2000" b="1" i="1" baseline="-10000">
                  <a:solidFill>
                    <a:srgbClr val="0000CC"/>
                  </a:solidFill>
                  <a:latin typeface="ISOCPEUR" pitchFamily="34" charset="0"/>
                </a:rPr>
                <a:t>4 1 </a:t>
              </a:r>
            </a:p>
          </p:txBody>
        </p:sp>
        <p:sp>
          <p:nvSpPr>
            <p:cNvPr id="27681" name="Line 50"/>
            <p:cNvSpPr>
              <a:spLocks noChangeShapeType="1"/>
            </p:cNvSpPr>
            <p:nvPr/>
          </p:nvSpPr>
          <p:spPr bwMode="auto">
            <a:xfrm flipV="1">
              <a:off x="1093" y="2554"/>
              <a:ext cx="0" cy="186"/>
            </a:xfrm>
            <a:prstGeom prst="line">
              <a:avLst/>
            </a:prstGeom>
            <a:noFill/>
            <a:ln w="9525">
              <a:solidFill>
                <a:srgbClr val="0000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27682" name="Line 51"/>
            <p:cNvSpPr>
              <a:spLocks noChangeShapeType="1"/>
            </p:cNvSpPr>
            <p:nvPr/>
          </p:nvSpPr>
          <p:spPr bwMode="auto">
            <a:xfrm flipV="1">
              <a:off x="1133" y="2558"/>
              <a:ext cx="0" cy="186"/>
            </a:xfrm>
            <a:prstGeom prst="line">
              <a:avLst/>
            </a:prstGeom>
            <a:noFill/>
            <a:ln w="9525">
              <a:solidFill>
                <a:srgbClr val="0000CC"/>
              </a:solidFill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50580" name="Line 52"/>
          <p:cNvSpPr>
            <a:spLocks noChangeShapeType="1"/>
          </p:cNvSpPr>
          <p:nvPr/>
        </p:nvSpPr>
        <p:spPr bwMode="auto">
          <a:xfrm>
            <a:off x="5402263" y="3195638"/>
            <a:ext cx="2290762" cy="0"/>
          </a:xfrm>
          <a:prstGeom prst="line">
            <a:avLst/>
          </a:prstGeom>
          <a:noFill/>
          <a:ln w="1905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0581" name="Line 53"/>
          <p:cNvSpPr>
            <a:spLocks noChangeShapeType="1"/>
          </p:cNvSpPr>
          <p:nvPr/>
        </p:nvSpPr>
        <p:spPr bwMode="auto">
          <a:xfrm>
            <a:off x="5399088" y="2935288"/>
            <a:ext cx="2289175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zh-CN" altLang="en-US"/>
          </a:p>
        </p:txBody>
      </p:sp>
      <p:sp>
        <p:nvSpPr>
          <p:cNvPr id="150582" name="Text Box 54"/>
          <p:cNvSpPr txBox="1">
            <a:spLocks noChangeArrowheads="1"/>
          </p:cNvSpPr>
          <p:nvPr/>
        </p:nvSpPr>
        <p:spPr bwMode="auto">
          <a:xfrm>
            <a:off x="1924050" y="3524250"/>
            <a:ext cx="6181725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marL="457200" indent="-457200"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914400" indent="-45720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371600" indent="-4572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828800" indent="-4572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indent="-4572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eaLnBrk="1" hangingPunct="1">
              <a:spcBef>
                <a:spcPct val="0"/>
              </a:spcBef>
              <a:buClrTx/>
              <a:buFontTx/>
              <a:buNone/>
            </a:pPr>
            <a:r>
              <a:rPr kumimoji="0" lang="en-US" altLang="zh-CN" sz="2400" b="1">
                <a:latin typeface="黑体" pitchFamily="2" charset="-122"/>
                <a:ea typeface="黑体" pitchFamily="2" charset="-122"/>
              </a:rPr>
              <a:t>2. </a:t>
            </a:r>
            <a:r>
              <a:rPr kumimoji="0" lang="zh-CN" altLang="en-US" sz="2400" b="1">
                <a:latin typeface="黑体" pitchFamily="2" charset="-122"/>
                <a:ea typeface="黑体" pitchFamily="2" charset="-122"/>
              </a:rPr>
              <a:t>注意各回转体外形轮廓线的对应关系。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505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 nodeType="clickPar">
                      <p:stCondLst>
                        <p:cond delay="indefinite"/>
                      </p:stCondLst>
                      <p:childTnLst>
                        <p:par>
                          <p:cTn id="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2" dur="500"/>
                                        <p:tgtEl>
                                          <p:spTgt spid="1505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 nodeType="clickPar">
                      <p:stCondLst>
                        <p:cond delay="indefinite"/>
                      </p:stCondLst>
                      <p:childTnLst>
                        <p:par>
                          <p:cTn id="1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7" dur="500"/>
                                        <p:tgtEl>
                                          <p:spTgt spid="1505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2" dur="500"/>
                                        <p:tgtEl>
                                          <p:spTgt spid="1505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6" dur="500"/>
                                        <p:tgtEl>
                                          <p:spTgt spid="1505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505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505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505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4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1505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4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6" dur="500"/>
                                        <p:tgtEl>
                                          <p:spTgt spid="1505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51" dur="500"/>
                                        <p:tgtEl>
                                          <p:spTgt spid="1505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 nodeType="clickPar">
                      <p:stCondLst>
                        <p:cond delay="indefinite"/>
                      </p:stCondLst>
                      <p:childTnLst>
                        <p:par>
                          <p:cTn id="53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4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500"/>
                                        <p:tgtEl>
                                          <p:spTgt spid="1505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 nodeType="afterGroup">
                            <p:stCondLst>
                              <p:cond delay="500"/>
                            </p:stCondLst>
                            <p:childTnLst>
                              <p:par>
                                <p:cTn id="5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1505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 nodeType="afterGroup">
                            <p:stCondLst>
                              <p:cond delay="1000"/>
                            </p:stCondLst>
                            <p:childTnLst>
                              <p:par>
                                <p:cTn id="6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500"/>
                                        <p:tgtEl>
                                          <p:spTgt spid="1505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 nodeType="afterGroup">
                            <p:stCondLst>
                              <p:cond delay="1500"/>
                            </p:stCondLst>
                            <p:childTnLst>
                              <p:par>
                                <p:cTn id="6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1505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 nodeType="afterGroup">
                            <p:stCondLst>
                              <p:cond delay="2000"/>
                            </p:stCondLst>
                            <p:childTnLst>
                              <p:par>
                                <p:cTn id="70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500"/>
                                        <p:tgtEl>
                                          <p:spTgt spid="1505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 nodeType="afterGroup">
                            <p:stCondLst>
                              <p:cond delay="2500"/>
                            </p:stCondLst>
                            <p:childTnLst>
                              <p:par>
                                <p:cTn id="74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1505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7" fill="hold" nodeType="afterGroup">
                            <p:stCondLst>
                              <p:cond delay="3000"/>
                            </p:stCondLst>
                            <p:childTnLst>
                              <p:par>
                                <p:cTn id="7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0" dur="500"/>
                                        <p:tgtEl>
                                          <p:spTgt spid="1505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1505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6" fill="hold" nodeType="clickPar">
                      <p:stCondLst>
                        <p:cond delay="indefinite"/>
                      </p:stCondLst>
                      <p:childTnLst>
                        <p:par>
                          <p:cTn id="8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8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0" dur="500"/>
                                        <p:tgtEl>
                                          <p:spTgt spid="1505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1" fill="hold" nodeType="clickPar">
                      <p:stCondLst>
                        <p:cond delay="indefinite"/>
                      </p:stCondLst>
                      <p:childTnLst>
                        <p:par>
                          <p:cTn id="9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95" dur="500"/>
                                        <p:tgtEl>
                                          <p:spTgt spid="1505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6" fill="hold" nodeType="clickPar">
                      <p:stCondLst>
                        <p:cond delay="indefinite"/>
                      </p:stCondLst>
                      <p:childTnLst>
                        <p:par>
                          <p:cTn id="9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98" presetID="22" presetClass="entr" presetSubtype="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500"/>
                                        <p:tgtEl>
                                          <p:spTgt spid="15058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1" fill="hold" nodeType="clickPar">
                      <p:stCondLst>
                        <p:cond delay="indefinite"/>
                      </p:stCondLst>
                      <p:childTnLst>
                        <p:par>
                          <p:cTn id="10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3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05" dur="500"/>
                                        <p:tgtEl>
                                          <p:spTgt spid="15053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6" fill="hold" nodeType="clickPar">
                      <p:stCondLst>
                        <p:cond delay="indefinite"/>
                      </p:stCondLst>
                      <p:childTnLst>
                        <p:par>
                          <p:cTn id="10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08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0" dur="500"/>
                                        <p:tgtEl>
                                          <p:spTgt spid="15053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1" fill="hold" nodeType="clickPar">
                      <p:stCondLst>
                        <p:cond delay="indefinite"/>
                      </p:stCondLst>
                      <p:childTnLst>
                        <p:par>
                          <p:cTn id="1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3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15" dur="500"/>
                                        <p:tgtEl>
                                          <p:spTgt spid="15053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6" fill="hold" nodeType="clickPar">
                      <p:stCondLst>
                        <p:cond delay="indefinite"/>
                      </p:stCondLst>
                      <p:childTnLst>
                        <p:par>
                          <p:cTn id="11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18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0" dur="500"/>
                                        <p:tgtEl>
                                          <p:spTgt spid="1505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1" fill="hold" nodeType="clickPar">
                      <p:stCondLst>
                        <p:cond delay="indefinite"/>
                      </p:stCondLst>
                      <p:childTnLst>
                        <p:par>
                          <p:cTn id="12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3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25" dur="500"/>
                                        <p:tgtEl>
                                          <p:spTgt spid="1505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6" fill="hold" nodeType="clickPar">
                      <p:stCondLst>
                        <p:cond delay="indefinite"/>
                      </p:stCondLst>
                      <p:childTnLst>
                        <p:par>
                          <p:cTn id="127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28" presetID="4" presetClass="entr" presetSubtype="32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5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out)">
                                      <p:cBhvr>
                                        <p:cTn id="130" dur="500"/>
                                        <p:tgtEl>
                                          <p:spTgt spid="1505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50530" grpId="0" autoUpdateAnimBg="0"/>
      <p:bldP spid="150531" grpId="0" autoUpdateAnimBg="0"/>
      <p:bldP spid="150534" grpId="0" build="p" autoUpdateAnimBg="0"/>
      <p:bldP spid="150535" grpId="0" build="p" autoUpdateAnimBg="0"/>
      <p:bldP spid="150536" grpId="0" animBg="1"/>
      <p:bldP spid="150537" grpId="0" animBg="1"/>
      <p:bldP spid="150538" grpId="0" animBg="1"/>
      <p:bldP spid="150539" grpId="0" animBg="1"/>
      <p:bldP spid="150540" grpId="0" animBg="1"/>
      <p:bldP spid="150541" grpId="0" animBg="1"/>
      <p:bldP spid="150542" grpId="0" animBg="1"/>
      <p:bldP spid="150564" grpId="0" animBg="1"/>
      <p:bldP spid="150565" grpId="0" animBg="1"/>
      <p:bldP spid="150566" grpId="0" animBg="1"/>
      <p:bldP spid="150567" grpId="0" animBg="1"/>
      <p:bldP spid="150568" grpId="0" animBg="1"/>
      <p:bldP spid="150569" grpId="0" animBg="1"/>
      <p:bldP spid="150570" grpId="0" animBg="1"/>
      <p:bldP spid="150580" grpId="0" animBg="1"/>
      <p:bldP spid="150581" grpId="0" animBg="1"/>
      <p:bldP spid="150582" grpId="0" autoUpdateAnimBg="0"/>
    </p:bld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灯片编号占位符 3"/>
          <p:cNvSpPr>
            <a:spLocks noGrp="1"/>
          </p:cNvSpPr>
          <p:nvPr>
            <p:ph type="sldNum" sz="quarter" idx="12"/>
          </p:nvPr>
        </p:nvSpPr>
        <p:spPr>
          <a:noFill/>
        </p:spPr>
        <p:txBody>
          <a:bodyPr/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r" eaLnBrk="1" hangingPunct="1">
              <a:spcBef>
                <a:spcPct val="50000"/>
              </a:spcBef>
              <a:buClrTx/>
              <a:buFontTx/>
              <a:buNone/>
            </a:pPr>
            <a:fld id="{7B8CBC5C-CE97-416B-8E87-304723CE7B6A}" type="slidenum">
              <a:rPr lang="en-US" altLang="zh-CN" sz="1400" smtClean="0">
                <a:solidFill>
                  <a:schemeClr val="bg2"/>
                </a:solidFill>
              </a:rPr>
              <a:pPr algn="r" eaLnBrk="1" hangingPunct="1">
                <a:spcBef>
                  <a:spcPct val="50000"/>
                </a:spcBef>
                <a:buClrTx/>
                <a:buFontTx/>
                <a:buNone/>
              </a:pPr>
              <a:t>26</a:t>
            </a:fld>
            <a:endParaRPr lang="en-US" altLang="zh-CN" sz="1400" smtClean="0">
              <a:solidFill>
                <a:schemeClr val="bg2"/>
              </a:solidFill>
            </a:endParaRPr>
          </a:p>
        </p:txBody>
      </p:sp>
      <p:sp>
        <p:nvSpPr>
          <p:cNvPr id="28675" name="AutoShape 2">
            <a:hlinkClick r:id="" action="ppaction://hlinkshowjump?jump=firstslide" highlightClick="1"/>
          </p:cNvPr>
          <p:cNvSpPr>
            <a:spLocks noChangeArrowheads="1"/>
          </p:cNvSpPr>
          <p:nvPr/>
        </p:nvSpPr>
        <p:spPr bwMode="auto">
          <a:xfrm>
            <a:off x="0" y="0"/>
            <a:ext cx="9144000" cy="6858000"/>
          </a:xfrm>
          <a:prstGeom prst="actionButtonBlank">
            <a:avLst/>
          </a:prstGeom>
          <a:solidFill>
            <a:srgbClr val="CCCCFF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 type="none" w="sm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ctr">
            <a:spAutoFit/>
          </a:bodyPr>
          <a:lstStyle>
            <a:lvl1pPr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742950" indent="-28575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143000" indent="-2286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600200" indent="-2286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057400" indent="-2286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ctr" eaLnBrk="1" hangingPunct="1">
              <a:spcBef>
                <a:spcPct val="0"/>
              </a:spcBef>
              <a:buClrTx/>
              <a:buFontTx/>
              <a:buNone/>
            </a:pPr>
            <a:endParaRPr kumimoji="0" lang="zh-CN" altLang="en-US" sz="2400"/>
          </a:p>
        </p:txBody>
      </p:sp>
      <p:sp>
        <p:nvSpPr>
          <p:cNvPr id="148483" name="Rectangle 3"/>
          <p:cNvSpPr>
            <a:spLocks noChangeArrowheads="1"/>
          </p:cNvSpPr>
          <p:nvPr/>
        </p:nvSpPr>
        <p:spPr bwMode="auto">
          <a:xfrm>
            <a:off x="557212" y="2249657"/>
            <a:ext cx="8202965" cy="10156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anchor="ctr">
            <a:spAutoFit/>
          </a:bodyPr>
          <a:lstStyle>
            <a:lvl1pPr marL="457200" indent="-457200" algn="l" eaLnBrk="0" hangingPunct="0">
              <a:spcBef>
                <a:spcPct val="20000"/>
              </a:spcBef>
              <a:buClr>
                <a:schemeClr val="bg2"/>
              </a:buClr>
              <a:buFont typeface="Monotype Sorts" pitchFamily="2" charset="2"/>
              <a:buChar char="§"/>
              <a:defRPr kumimoji="1" sz="32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1pPr>
            <a:lvl2pPr marL="914400" indent="-457200" algn="l" eaLnBrk="0" hangingPunct="0">
              <a:spcBef>
                <a:spcPct val="20000"/>
              </a:spcBef>
              <a:buClr>
                <a:schemeClr val="bg2"/>
              </a:buClr>
              <a:buSzPct val="50000"/>
              <a:buFont typeface="Monotype Sorts" pitchFamily="2" charset="2"/>
              <a:buChar char="l"/>
              <a:defRPr kumimoji="1" sz="28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2pPr>
            <a:lvl3pPr marL="1371600" indent="-457200" algn="l" eaLnBrk="0" hangingPunct="0">
              <a:spcBef>
                <a:spcPct val="20000"/>
              </a:spcBef>
              <a:buChar char="•"/>
              <a:defRPr kumimoji="1" sz="24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3pPr>
            <a:lvl4pPr marL="1828800" indent="-457200" algn="l" eaLnBrk="0" hangingPunct="0">
              <a:spcBef>
                <a:spcPct val="20000"/>
              </a:spcBef>
              <a:buChar char="–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4pPr>
            <a:lvl5pPr marL="2286000" indent="-457200" algn="l" eaLnBrk="0" hangingPunct="0">
              <a:spcBef>
                <a:spcPct val="20000"/>
              </a:spcBef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5pPr>
            <a:lvl6pPr marL="27432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6pPr>
            <a:lvl7pPr marL="32004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7pPr>
            <a:lvl8pPr marL="36576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8pPr>
            <a:lvl9pPr marL="4114800" indent="-457200" eaLnBrk="0" fontAlgn="base" hangingPunct="0">
              <a:spcBef>
                <a:spcPct val="20000"/>
              </a:spcBef>
              <a:spcAft>
                <a:spcPct val="0"/>
              </a:spcAft>
              <a:buChar char="»"/>
              <a:defRPr kumimoji="1" sz="2000">
                <a:solidFill>
                  <a:schemeClr val="tx1"/>
                </a:solidFill>
                <a:latin typeface="Times New Roman" pitchFamily="18" charset="0"/>
                <a:ea typeface="宋体" pitchFamily="2" charset="-122"/>
              </a:defRPr>
            </a:lvl9pPr>
          </a:lstStyle>
          <a:p>
            <a:pPr algn="just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sz="2800" b="1" dirty="0" smtClean="0"/>
              <a:t>It </a:t>
            </a:r>
            <a:r>
              <a:rPr lang="en-US" altLang="zh-CN" sz="2800" b="1" dirty="0"/>
              <a:t>adds a precious seeing to the </a:t>
            </a:r>
            <a:r>
              <a:rPr lang="en-US" altLang="zh-CN" sz="2800" b="1" dirty="0" smtClean="0"/>
              <a:t>eye.               </a:t>
            </a:r>
            <a:endParaRPr lang="en-US" altLang="zh-CN" sz="2800" b="1" dirty="0"/>
          </a:p>
          <a:p>
            <a:pPr algn="just" eaLnBrk="1" hangingPunct="1">
              <a:spcBef>
                <a:spcPct val="0"/>
              </a:spcBef>
              <a:buClrTx/>
              <a:buFontTx/>
              <a:buNone/>
            </a:pPr>
            <a:r>
              <a:rPr lang="en-US" altLang="zh-CN" b="1" dirty="0"/>
              <a:t>                                  </a:t>
            </a:r>
            <a:r>
              <a:rPr lang="en-US" altLang="zh-CN" b="1" dirty="0" smtClean="0"/>
              <a:t>       </a:t>
            </a:r>
            <a:r>
              <a:rPr lang="en-US" altLang="zh-CN" b="1" dirty="0"/>
              <a:t>William Shakespeare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4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14848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8483" grpId="0"/>
    </p:bldLst>
  </p:timing>
</p:sld>
</file>

<file path=ppt/theme/theme1.xml><?xml version="1.0" encoding="utf-8"?>
<a:theme xmlns:a="http://schemas.openxmlformats.org/drawingml/2006/main" name="场景型模板">
  <a:themeElements>
    <a:clrScheme name="场景型模板 1">
      <a:dk1>
        <a:srgbClr val="333333"/>
      </a:dk1>
      <a:lt1>
        <a:srgbClr val="A9BDA9"/>
      </a:lt1>
      <a:dk2>
        <a:srgbClr val="004C2B"/>
      </a:dk2>
      <a:lt2>
        <a:srgbClr val="578963"/>
      </a:lt2>
      <a:accent1>
        <a:srgbClr val="E1B7B7"/>
      </a:accent1>
      <a:accent2>
        <a:srgbClr val="B3E1B3"/>
      </a:accent2>
      <a:accent3>
        <a:srgbClr val="D1DBD1"/>
      </a:accent3>
      <a:accent4>
        <a:srgbClr val="2A2A2A"/>
      </a:accent4>
      <a:accent5>
        <a:srgbClr val="EED8D8"/>
      </a:accent5>
      <a:accent6>
        <a:srgbClr val="A2CCA2"/>
      </a:accent6>
      <a:hlink>
        <a:srgbClr val="BDD7E5"/>
      </a:hlink>
      <a:folHlink>
        <a:srgbClr val="D2AAD2"/>
      </a:folHlink>
    </a:clrScheme>
    <a:fontScheme name="场景型模板">
      <a:majorFont>
        <a:latin typeface="Times New Roman"/>
        <a:ea typeface="宋体"/>
        <a:cs typeface=""/>
      </a:majorFont>
      <a:minorFont>
        <a:latin typeface="Times New Roman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triangle" w="sm" len="lg"/>
          <a:tailEnd type="triangle" w="sm" len="lg"/>
        </a:ln>
        <a:effectLst/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solidFill>
            <a:schemeClr val="tx1"/>
          </a:solidFill>
          <a:prstDash val="solid"/>
          <a:round/>
          <a:headEnd type="triangle" w="sm" len="lg"/>
          <a:tailEnd type="triangle" w="sm" len="lg"/>
        </a:ln>
        <a:effectLst/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ctr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zh-CN" alt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Times New Roman" pitchFamily="18" charset="0"/>
            <a:ea typeface="宋体" pitchFamily="2" charset="-122"/>
          </a:defRPr>
        </a:defPPr>
      </a:lstStyle>
    </a:lnDef>
  </a:objectDefaults>
  <a:extraClrSchemeLst>
    <a:extraClrScheme>
      <a:clrScheme name="场景型模板 1">
        <a:dk1>
          <a:srgbClr val="333333"/>
        </a:dk1>
        <a:lt1>
          <a:srgbClr val="A9BDA9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D1DBD1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场景型模板 2">
        <a:dk1>
          <a:srgbClr val="333333"/>
        </a:dk1>
        <a:lt1>
          <a:srgbClr val="FFFFFF"/>
        </a:lt1>
        <a:dk2>
          <a:srgbClr val="004C2B"/>
        </a:dk2>
        <a:lt2>
          <a:srgbClr val="578963"/>
        </a:lt2>
        <a:accent1>
          <a:srgbClr val="E1B7B7"/>
        </a:accent1>
        <a:accent2>
          <a:srgbClr val="B3E1B3"/>
        </a:accent2>
        <a:accent3>
          <a:srgbClr val="FFFFFF"/>
        </a:accent3>
        <a:accent4>
          <a:srgbClr val="2A2A2A"/>
        </a:accent4>
        <a:accent5>
          <a:srgbClr val="EED8D8"/>
        </a:accent5>
        <a:accent6>
          <a:srgbClr val="A2CCA2"/>
        </a:accent6>
        <a:hlink>
          <a:srgbClr val="BDD7E5"/>
        </a:hlink>
        <a:folHlink>
          <a:srgbClr val="D2AAD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场景型模板 3">
        <a:dk1>
          <a:srgbClr val="000000"/>
        </a:dk1>
        <a:lt1>
          <a:srgbClr val="FFFFFF"/>
        </a:lt1>
        <a:dk2>
          <a:srgbClr val="000000"/>
        </a:dk2>
        <a:lt2>
          <a:srgbClr val="393939"/>
        </a:lt2>
        <a:accent1>
          <a:srgbClr val="CBCBCB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2E2E2"/>
        </a:accent5>
        <a:accent6>
          <a:srgbClr val="737373"/>
        </a:accent6>
        <a:hlink>
          <a:srgbClr val="B2B2B2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主题​​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Office\Templates\演示文稿设计\场景型模板.pot</Template>
  <TotalTime>12437</TotalTime>
  <Words>1327</Words>
  <Application>Microsoft Office PowerPoint</Application>
  <PresentationFormat>全屏显示(4:3)</PresentationFormat>
  <Paragraphs>404</Paragraphs>
  <Slides>26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27" baseType="lpstr">
      <vt:lpstr>场景型模板</vt:lpstr>
      <vt:lpstr>   第四讲   基本体的投影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ENGINEERING GRAPHICS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第一讲            1999.9.29</dc:title>
  <dc:creator>TSINGHUA UNIVERSITY</dc:creator>
  <cp:lastModifiedBy>Li Tiemin</cp:lastModifiedBy>
  <cp:revision>334</cp:revision>
  <dcterms:created xsi:type="dcterms:W3CDTF">1999-09-22T00:31:18Z</dcterms:created>
  <dcterms:modified xsi:type="dcterms:W3CDTF">2023-10-15T09:39:48Z</dcterms:modified>
</cp:coreProperties>
</file>