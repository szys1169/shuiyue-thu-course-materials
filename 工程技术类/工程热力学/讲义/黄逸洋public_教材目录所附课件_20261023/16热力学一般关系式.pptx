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91" r:id="rId2"/>
    <p:sldId id="292"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9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5.emf"/><Relationship Id="rId4"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B9BE8A-5346-442A-B2D7-2AD174C1B67A}" type="datetimeFigureOut">
              <a:rPr lang="zh-CN" altLang="en-US" smtClean="0"/>
              <a:t>2020/10/1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4C612-FE0F-4D4B-8632-E7BE58A85F1A}" type="slidenum">
              <a:rPr lang="zh-CN" altLang="en-US" smtClean="0"/>
              <a:t>‹#›</a:t>
            </a:fld>
            <a:endParaRPr lang="zh-CN" altLang="en-US"/>
          </a:p>
        </p:txBody>
      </p:sp>
    </p:spTree>
    <p:extLst>
      <p:ext uri="{BB962C8B-B14F-4D97-AF65-F5344CB8AC3E}">
        <p14:creationId xmlns:p14="http://schemas.microsoft.com/office/powerpoint/2010/main" val="4290541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ChangeArrowheads="1" noTextEdit="1"/>
          </p:cNvSpPr>
          <p:nvPr>
            <p:ph type="sldImg" idx="4294967295"/>
          </p:nvPr>
        </p:nvSpPr>
        <p:spPr>
          <a:ln>
            <a:miter lim="800000"/>
          </a:ln>
        </p:spPr>
      </p:sp>
      <p:sp>
        <p:nvSpPr>
          <p:cNvPr id="38914" name="文本占位符 2"/>
          <p:cNvSpPr>
            <a:spLocks noChangeArrowheads="1"/>
          </p:cNvSpPr>
          <p:nvPr>
            <p:ph type="body" idx="4294967295"/>
          </p:nvPr>
        </p:nvSpPr>
        <p:spPr/>
        <p:txBody>
          <a:bodyPr>
            <a:prstTxWarp prst="textNoShape">
              <a:avLst/>
            </a:prstTxWarp>
          </a:bodyPr>
          <a:lstStyle/>
          <a:p>
            <a:pPr eaLnBrk="1" hangingPunct="1"/>
            <a:endParaRPr lang="zh-CN" altLang="en-US" smtClean="0"/>
          </a:p>
        </p:txBody>
      </p:sp>
    </p:spTree>
    <p:extLst>
      <p:ext uri="{BB962C8B-B14F-4D97-AF65-F5344CB8AC3E}">
        <p14:creationId xmlns:p14="http://schemas.microsoft.com/office/powerpoint/2010/main" val="330035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ChangeArrowheads="1" noTextEdit="1"/>
          </p:cNvSpPr>
          <p:nvPr>
            <p:ph type="sldImg" idx="4294967295"/>
          </p:nvPr>
        </p:nvSpPr>
        <p:spPr>
          <a:ln>
            <a:miter lim="800000"/>
          </a:ln>
        </p:spPr>
      </p:sp>
      <p:sp>
        <p:nvSpPr>
          <p:cNvPr id="40962" name="文本占位符 2"/>
          <p:cNvSpPr>
            <a:spLocks noChangeArrowheads="1"/>
          </p:cNvSpPr>
          <p:nvPr>
            <p:ph type="body" idx="4294967295"/>
          </p:nvPr>
        </p:nvSpPr>
        <p:spPr/>
        <p:txBody>
          <a:bodyPr>
            <a:prstTxWarp prst="textNoShape">
              <a:avLst/>
            </a:prstTxWarp>
          </a:bodyPr>
          <a:lstStyle/>
          <a:p>
            <a:pPr eaLnBrk="1" hangingPunct="1"/>
            <a:endParaRPr lang="zh-CN" altLang="en-US" smtClean="0"/>
          </a:p>
        </p:txBody>
      </p:sp>
    </p:spTree>
    <p:extLst>
      <p:ext uri="{BB962C8B-B14F-4D97-AF65-F5344CB8AC3E}">
        <p14:creationId xmlns:p14="http://schemas.microsoft.com/office/powerpoint/2010/main" val="2423840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ChangeArrowheads="1" noTextEdit="1"/>
          </p:cNvSpPr>
          <p:nvPr>
            <p:ph type="sldImg" idx="4294967295"/>
          </p:nvPr>
        </p:nvSpPr>
        <p:spPr>
          <a:ln>
            <a:miter lim="800000"/>
          </a:ln>
        </p:spPr>
      </p:sp>
      <p:sp>
        <p:nvSpPr>
          <p:cNvPr id="43010" name="文本占位符 2"/>
          <p:cNvSpPr>
            <a:spLocks noChangeArrowheads="1"/>
          </p:cNvSpPr>
          <p:nvPr>
            <p:ph type="body" idx="4294967295"/>
          </p:nvPr>
        </p:nvSpPr>
        <p:spPr/>
        <p:txBody>
          <a:bodyPr>
            <a:prstTxWarp prst="textNoShape">
              <a:avLst/>
            </a:prstTxWarp>
          </a:bodyPr>
          <a:lstStyle/>
          <a:p>
            <a:pPr eaLnBrk="1" hangingPunct="1"/>
            <a:endParaRPr lang="zh-CN" altLang="en-US" smtClean="0"/>
          </a:p>
        </p:txBody>
      </p:sp>
    </p:spTree>
    <p:extLst>
      <p:ext uri="{BB962C8B-B14F-4D97-AF65-F5344CB8AC3E}">
        <p14:creationId xmlns:p14="http://schemas.microsoft.com/office/powerpoint/2010/main" val="1565531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ChangeArrowheads="1" noTextEdit="1"/>
          </p:cNvSpPr>
          <p:nvPr>
            <p:ph type="sldImg" idx="4294967295"/>
          </p:nvPr>
        </p:nvSpPr>
        <p:spPr>
          <a:ln>
            <a:miter lim="800000"/>
          </a:ln>
        </p:spPr>
      </p:sp>
      <p:sp>
        <p:nvSpPr>
          <p:cNvPr id="45058" name="文本占位符 2"/>
          <p:cNvSpPr>
            <a:spLocks noChangeArrowheads="1"/>
          </p:cNvSpPr>
          <p:nvPr>
            <p:ph type="body" idx="4294967295"/>
          </p:nvPr>
        </p:nvSpPr>
        <p:spPr/>
        <p:txBody>
          <a:bodyPr>
            <a:prstTxWarp prst="textNoShape">
              <a:avLst/>
            </a:prstTxWarp>
          </a:bodyPr>
          <a:lstStyle/>
          <a:p>
            <a:pPr eaLnBrk="1" hangingPunct="1"/>
            <a:endParaRPr lang="zh-CN" altLang="en-US" smtClean="0"/>
          </a:p>
        </p:txBody>
      </p:sp>
    </p:spTree>
    <p:extLst>
      <p:ext uri="{BB962C8B-B14F-4D97-AF65-F5344CB8AC3E}">
        <p14:creationId xmlns:p14="http://schemas.microsoft.com/office/powerpoint/2010/main" val="3026577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2020/10/1</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8.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1.emf"/><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5.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1.wmf"/><Relationship Id="rId11" Type="http://schemas.openxmlformats.org/officeDocument/2006/relationships/image" Target="../media/image24.emf"/><Relationship Id="rId5" Type="http://schemas.openxmlformats.org/officeDocument/2006/relationships/oleObject" Target="../embeddings/oleObject11.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3.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15.bin"/><Relationship Id="rId4" Type="http://schemas.openxmlformats.org/officeDocument/2006/relationships/image" Target="../media/image2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26.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7.e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2.wmf"/><Relationship Id="rId5" Type="http://schemas.openxmlformats.org/officeDocument/2006/relationships/oleObject" Target="../embeddings/oleObject19.bin"/><Relationship Id="rId4" Type="http://schemas.openxmlformats.org/officeDocument/2006/relationships/image" Target="../media/image21.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0.e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9.wmf"/><Relationship Id="rId5" Type="http://schemas.openxmlformats.org/officeDocument/2006/relationships/oleObject" Target="../embeddings/oleObject21.bin"/><Relationship Id="rId4" Type="http://schemas.openxmlformats.org/officeDocument/2006/relationships/image" Target="../media/image28.wmf"/></Relationships>
</file>

<file path=ppt/slides/_rels/slide25.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35.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2.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38.e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7.wmf"/><Relationship Id="rId5" Type="http://schemas.openxmlformats.org/officeDocument/2006/relationships/oleObject" Target="../embeddings/oleObject28.bin"/><Relationship Id="rId4" Type="http://schemas.openxmlformats.org/officeDocument/2006/relationships/image" Target="../media/image36.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7" name="标题 6145"/>
          <p:cNvSpPr>
            <a:spLocks noGrp="1" noChangeArrowheads="1"/>
          </p:cNvSpPr>
          <p:nvPr>
            <p:ph type="ctrTitle"/>
          </p:nvPr>
        </p:nvSpPr>
        <p:spPr>
          <a:xfrm>
            <a:off x="685800" y="1782763"/>
            <a:ext cx="7772400" cy="1447800"/>
          </a:xfrm>
        </p:spPr>
        <p:txBody>
          <a:bodyPr anchor="ctr"/>
          <a:lstStyle/>
          <a:p>
            <a:pPr eaLnBrk="1" hangingPunct="1"/>
            <a:r>
              <a:rPr lang="en-US" altLang="zh-CN" sz="4400" b="1" smtClean="0">
                <a:latin typeface="黑体" panose="02010609060101010101" pitchFamily="49" charset="-122"/>
                <a:ea typeface="黑体" panose="02010609060101010101" pitchFamily="49" charset="-122"/>
              </a:rPr>
              <a:t>16</a:t>
            </a:r>
            <a:r>
              <a:rPr lang="zh-CN" altLang="en-US" sz="4400" b="1" smtClean="0">
                <a:latin typeface="黑体" panose="02010609060101010101" pitchFamily="49" charset="-122"/>
                <a:ea typeface="黑体" panose="02010609060101010101" pitchFamily="49" charset="-122"/>
              </a:rPr>
              <a:t>   热力学一般关系式</a:t>
            </a:r>
          </a:p>
        </p:txBody>
      </p:sp>
    </p:spTree>
    <p:extLst>
      <p:ext uri="{BB962C8B-B14F-4D97-AF65-F5344CB8AC3E}">
        <p14:creationId xmlns:p14="http://schemas.microsoft.com/office/powerpoint/2010/main" val="144439110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94211"/>
          <p:cNvSpPr>
            <a:spLocks noChangeArrowheads="1"/>
          </p:cNvSpPr>
          <p:nvPr/>
        </p:nvSpPr>
        <p:spPr bwMode="auto">
          <a:xfrm>
            <a:off x="1357313" y="1905000"/>
            <a:ext cx="601662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buFontTx/>
              <a:buChar char="§"/>
            </a:pPr>
            <a:r>
              <a:rPr lang="en-US" altLang="zh-CN" sz="4000" b="1">
                <a:latin typeface="黑体" panose="02010609060101010101" pitchFamily="49" charset="-122"/>
                <a:ea typeface="黑体" panose="02010609060101010101" pitchFamily="49" charset="-122"/>
              </a:rPr>
              <a:t>16-1 </a:t>
            </a:r>
            <a:r>
              <a:rPr lang="zh-CN" altLang="en-US" sz="4000" b="1">
                <a:latin typeface="黑体" panose="02010609060101010101" pitchFamily="49" charset="-122"/>
                <a:ea typeface="黑体" panose="02010609060101010101" pitchFamily="49" charset="-122"/>
              </a:rPr>
              <a:t>为什么需要热力学一般关系式</a:t>
            </a:r>
          </a:p>
        </p:txBody>
      </p:sp>
    </p:spTree>
    <p:extLst>
      <p:ext uri="{BB962C8B-B14F-4D97-AF65-F5344CB8AC3E}">
        <p14:creationId xmlns:p14="http://schemas.microsoft.com/office/powerpoint/2010/main" val="4079978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矩形 94212"/>
          <p:cNvSpPr>
            <a:spLocks noChangeArrowheads="1"/>
          </p:cNvSpPr>
          <p:nvPr/>
        </p:nvSpPr>
        <p:spPr bwMode="auto">
          <a:xfrm>
            <a:off x="782638" y="636588"/>
            <a:ext cx="76962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pPr>
            <a:r>
              <a:rPr lang="zh-CN" altLang="en-US" sz="3200" b="1" dirty="0" smtClean="0">
                <a:latin typeface="Times New Roman" panose="02020603050405020304" pitchFamily="18" charset="0"/>
                <a:ea typeface="黑体" panose="02010609060101010101" pitchFamily="49" charset="-122"/>
              </a:rPr>
              <a:t>分析</a:t>
            </a:r>
            <a:r>
              <a:rPr lang="zh-CN" altLang="en-US" sz="3200" b="1" dirty="0">
                <a:latin typeface="Times New Roman" panose="02020603050405020304" pitchFamily="18" charset="0"/>
                <a:ea typeface="黑体" panose="02010609060101010101" pitchFamily="49" charset="-122"/>
              </a:rPr>
              <a:t>工质的热力过程和热力循环时，需要确定工质的各种热力参数数值。常见的热力参数中，只有</a:t>
            </a:r>
            <a:r>
              <a:rPr lang="en-US" altLang="zh-CN" sz="3200" b="1" i="1" dirty="0">
                <a:solidFill>
                  <a:srgbClr val="FF0000"/>
                </a:solidFill>
                <a:latin typeface="Times New Roman" panose="02020603050405020304" pitchFamily="18" charset="0"/>
                <a:ea typeface="黑体" panose="02010609060101010101" pitchFamily="49" charset="-122"/>
              </a:rPr>
              <a:t>p</a:t>
            </a:r>
            <a:r>
              <a:rPr lang="zh-CN" altLang="en-US" sz="3200" b="1" dirty="0">
                <a:latin typeface="Times New Roman" panose="02020603050405020304" pitchFamily="18" charset="0"/>
                <a:ea typeface="黑体" panose="02010609060101010101" pitchFamily="49" charset="-122"/>
              </a:rPr>
              <a:t>，</a:t>
            </a:r>
            <a:r>
              <a:rPr lang="en-US" altLang="zh-CN" sz="3200" b="1" i="1" dirty="0">
                <a:solidFill>
                  <a:srgbClr val="FF0000"/>
                </a:solidFill>
                <a:latin typeface="Times New Roman" panose="02020603050405020304" pitchFamily="18" charset="0"/>
                <a:ea typeface="黑体" panose="02010609060101010101" pitchFamily="49" charset="-122"/>
              </a:rPr>
              <a:t>v</a:t>
            </a:r>
            <a:r>
              <a:rPr lang="zh-CN" altLang="en-US" sz="3200" b="1" dirty="0">
                <a:latin typeface="Times New Roman" panose="02020603050405020304" pitchFamily="18" charset="0"/>
                <a:ea typeface="黑体" panose="02010609060101010101" pitchFamily="49" charset="-122"/>
              </a:rPr>
              <a:t>，</a:t>
            </a:r>
            <a:r>
              <a:rPr lang="en-US" altLang="zh-CN" sz="3200" b="1" i="1" dirty="0">
                <a:solidFill>
                  <a:srgbClr val="FF0000"/>
                </a:solidFill>
                <a:latin typeface="Times New Roman" panose="02020603050405020304" pitchFamily="18" charset="0"/>
                <a:ea typeface="黑体" panose="02010609060101010101" pitchFamily="49" charset="-122"/>
              </a:rPr>
              <a:t>T</a:t>
            </a:r>
            <a:r>
              <a:rPr lang="zh-CN" altLang="en-US" sz="3200" b="1" dirty="0">
                <a:latin typeface="Times New Roman" panose="02020603050405020304" pitchFamily="18" charset="0"/>
                <a:ea typeface="黑体" panose="02010609060101010101" pitchFamily="49" charset="-122"/>
              </a:rPr>
              <a:t>和</a:t>
            </a:r>
            <a:r>
              <a:rPr lang="en-US" altLang="zh-CN" sz="3200" b="1" i="1" dirty="0" err="1">
                <a:solidFill>
                  <a:srgbClr val="FF0000"/>
                </a:solidFill>
                <a:latin typeface="Times New Roman" panose="02020603050405020304" pitchFamily="18" charset="0"/>
                <a:ea typeface="黑体" panose="02010609060101010101" pitchFamily="49" charset="-122"/>
              </a:rPr>
              <a:t>c</a:t>
            </a:r>
            <a:r>
              <a:rPr lang="en-US" altLang="zh-CN" sz="3200" b="1" i="1" baseline="-25000" dirty="0" err="1">
                <a:solidFill>
                  <a:srgbClr val="FF0000"/>
                </a:solidFill>
                <a:latin typeface="Times New Roman" panose="02020603050405020304" pitchFamily="18" charset="0"/>
                <a:ea typeface="黑体" panose="02010609060101010101" pitchFamily="49" charset="-122"/>
              </a:rPr>
              <a:t>p</a:t>
            </a:r>
            <a:r>
              <a:rPr lang="zh-CN" altLang="en-US" sz="3200" b="1" dirty="0">
                <a:latin typeface="Times New Roman" panose="02020603050405020304" pitchFamily="18" charset="0"/>
                <a:ea typeface="黑体" panose="02010609060101010101" pitchFamily="49" charset="-122"/>
              </a:rPr>
              <a:t>等少数状态参数可由实验确定，而</a:t>
            </a:r>
            <a:r>
              <a:rPr lang="en-US" altLang="zh-CN" sz="3200" b="1" i="1" dirty="0">
                <a:solidFill>
                  <a:srgbClr val="FF0000"/>
                </a:solidFill>
                <a:latin typeface="Times New Roman" panose="02020603050405020304" pitchFamily="18" charset="0"/>
                <a:ea typeface="黑体" panose="02010609060101010101" pitchFamily="49" charset="-122"/>
              </a:rPr>
              <a:t>u</a:t>
            </a:r>
            <a:r>
              <a:rPr lang="zh-CN" altLang="en-US" sz="3200" b="1" dirty="0">
                <a:latin typeface="Times New Roman" panose="02020603050405020304" pitchFamily="18" charset="0"/>
                <a:ea typeface="黑体" panose="02010609060101010101" pitchFamily="49" charset="-122"/>
              </a:rPr>
              <a:t>，</a:t>
            </a:r>
            <a:r>
              <a:rPr lang="en-US" altLang="zh-CN" sz="3200" b="1" i="1" dirty="0">
                <a:solidFill>
                  <a:srgbClr val="FF0000"/>
                </a:solidFill>
                <a:latin typeface="Times New Roman" panose="02020603050405020304" pitchFamily="18" charset="0"/>
                <a:ea typeface="黑体" panose="02010609060101010101" pitchFamily="49" charset="-122"/>
              </a:rPr>
              <a:t>h</a:t>
            </a:r>
            <a:r>
              <a:rPr lang="zh-CN" altLang="en-US" sz="3200" b="1" dirty="0">
                <a:latin typeface="Times New Roman" panose="02020603050405020304" pitchFamily="18" charset="0"/>
                <a:ea typeface="黑体" panose="02010609060101010101" pitchFamily="49" charset="-122"/>
              </a:rPr>
              <a:t>，</a:t>
            </a:r>
            <a:r>
              <a:rPr lang="en-US" altLang="zh-CN" sz="3200" b="1" i="1" dirty="0">
                <a:solidFill>
                  <a:srgbClr val="FF0000"/>
                </a:solidFill>
                <a:latin typeface="Times New Roman" panose="02020603050405020304" pitchFamily="18" charset="0"/>
                <a:ea typeface="黑体" panose="02010609060101010101" pitchFamily="49" charset="-122"/>
              </a:rPr>
              <a:t>s</a:t>
            </a:r>
            <a:r>
              <a:rPr lang="zh-CN" altLang="en-US" sz="3200" b="1" dirty="0">
                <a:latin typeface="Times New Roman" panose="02020603050405020304" pitchFamily="18" charset="0"/>
                <a:ea typeface="黑体" panose="02010609060101010101" pitchFamily="49" charset="-122"/>
              </a:rPr>
              <a:t>等无法测量。</a:t>
            </a:r>
          </a:p>
        </p:txBody>
      </p:sp>
    </p:spTree>
    <p:extLst>
      <p:ext uri="{BB962C8B-B14F-4D97-AF65-F5344CB8AC3E}">
        <p14:creationId xmlns:p14="http://schemas.microsoft.com/office/powerpoint/2010/main" val="170304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矩形 98307"/>
          <p:cNvSpPr>
            <a:spLocks noChangeArrowheads="1"/>
          </p:cNvSpPr>
          <p:nvPr/>
        </p:nvSpPr>
        <p:spPr bwMode="auto">
          <a:xfrm>
            <a:off x="723900" y="390525"/>
            <a:ext cx="7696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pPr>
            <a:r>
              <a:rPr lang="zh-CN" altLang="en-US" sz="3200" b="1">
                <a:latin typeface="黑体" panose="02010609060101010101" pitchFamily="49" charset="-122"/>
                <a:ea typeface="黑体" panose="02010609060101010101" pitchFamily="49" charset="-122"/>
              </a:rPr>
              <a:t>对于实际气体，也不能利用理想气体的简单关系式计算。</a:t>
            </a:r>
          </a:p>
        </p:txBody>
      </p:sp>
      <p:sp>
        <p:nvSpPr>
          <p:cNvPr id="27650" name="文本框 98309"/>
          <p:cNvSpPr txBox="1">
            <a:spLocks noChangeArrowheads="1"/>
          </p:cNvSpPr>
          <p:nvPr/>
        </p:nvSpPr>
        <p:spPr bwMode="auto">
          <a:xfrm>
            <a:off x="5508625" y="1735138"/>
            <a:ext cx="3160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FF0000"/>
                </a:solidFill>
                <a:latin typeface="黑体" panose="02010609060101010101" pitchFamily="49" charset="-122"/>
                <a:ea typeface="黑体" panose="02010609060101010101" pitchFamily="49" charset="-122"/>
              </a:rPr>
              <a:t>实际气体</a:t>
            </a:r>
          </a:p>
        </p:txBody>
      </p:sp>
      <p:sp>
        <p:nvSpPr>
          <p:cNvPr id="27651" name="文本框 98308"/>
          <p:cNvSpPr txBox="1">
            <a:spLocks noChangeArrowheads="1"/>
          </p:cNvSpPr>
          <p:nvPr/>
        </p:nvSpPr>
        <p:spPr bwMode="auto">
          <a:xfrm>
            <a:off x="1295400" y="1739900"/>
            <a:ext cx="3132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solidFill>
                  <a:srgbClr val="FF0000"/>
                </a:solidFill>
                <a:latin typeface="黑体" panose="02010609060101010101" pitchFamily="49" charset="-122"/>
                <a:ea typeface="黑体" panose="02010609060101010101" pitchFamily="49" charset="-122"/>
              </a:rPr>
              <a:t>理想气体</a:t>
            </a:r>
          </a:p>
        </p:txBody>
      </p:sp>
      <p:graphicFrame>
        <p:nvGraphicFramePr>
          <p:cNvPr id="27652" name="对象 98310"/>
          <p:cNvGraphicFramePr>
            <a:graphicFrameLocks/>
          </p:cNvGraphicFramePr>
          <p:nvPr/>
        </p:nvGraphicFramePr>
        <p:xfrm>
          <a:off x="1258888" y="2730500"/>
          <a:ext cx="2789237" cy="2070100"/>
        </p:xfrm>
        <a:graphic>
          <a:graphicData uri="http://schemas.openxmlformats.org/presentationml/2006/ole">
            <mc:AlternateContent xmlns:mc="http://schemas.openxmlformats.org/markup-compatibility/2006">
              <mc:Choice xmlns:v="urn:schemas-microsoft-com:vml" Requires="v">
                <p:oleObj spid="_x0000_s20486" r:id="rId3" imgW="1180588" imgH="875920" progId="Equation.DSMT4">
                  <p:embed/>
                </p:oleObj>
              </mc:Choice>
              <mc:Fallback>
                <p:oleObj r:id="rId3" imgW="1180588" imgH="875920" progId="Equation.DSMT4">
                  <p:embed/>
                  <p:pic>
                    <p:nvPicPr>
                      <p:cNvPr id="27652" name="对象 983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730500"/>
                        <a:ext cx="2789237" cy="207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7653" name="对象 98311"/>
          <p:cNvGraphicFramePr>
            <a:graphicFrameLocks/>
          </p:cNvGraphicFramePr>
          <p:nvPr/>
        </p:nvGraphicFramePr>
        <p:xfrm>
          <a:off x="5753100" y="2974975"/>
          <a:ext cx="1044575" cy="1536700"/>
        </p:xfrm>
        <a:graphic>
          <a:graphicData uri="http://schemas.openxmlformats.org/presentationml/2006/ole">
            <mc:AlternateContent xmlns:mc="http://schemas.openxmlformats.org/markup-compatibility/2006">
              <mc:Choice xmlns:v="urn:schemas-microsoft-com:vml" Requires="v">
                <p:oleObj spid="_x0000_s20487" r:id="rId5" imgW="431613" imgH="634725" progId="Equation.DSMT4">
                  <p:embed/>
                </p:oleObj>
              </mc:Choice>
              <mc:Fallback>
                <p:oleObj r:id="rId5" imgW="431613" imgH="634725" progId="Equation.DSMT4">
                  <p:embed/>
                  <p:pic>
                    <p:nvPicPr>
                      <p:cNvPr id="27653" name="对象 983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2974975"/>
                        <a:ext cx="1044575"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54" name="矩形 6149"/>
          <p:cNvSpPr>
            <a:spLocks noChangeArrowheads="1"/>
          </p:cNvSpPr>
          <p:nvPr/>
        </p:nvSpPr>
        <p:spPr bwMode="auto">
          <a:xfrm>
            <a:off x="376238" y="5013325"/>
            <a:ext cx="8391525"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folHlink"/>
              </a:buClr>
              <a:buSzPct val="60000"/>
            </a:pPr>
            <a:r>
              <a:rPr lang="zh-CN" altLang="en-US" sz="3200" b="1">
                <a:latin typeface="黑体" panose="02010609060101010101" pitchFamily="49" charset="-122"/>
                <a:ea typeface="黑体" panose="02010609060101010101" pitchFamily="49" charset="-122"/>
              </a:rPr>
              <a:t>在实际计算中，通常使用物质的</a:t>
            </a:r>
            <a:r>
              <a:rPr lang="zh-CN" altLang="en-US" sz="3200" b="1">
                <a:solidFill>
                  <a:srgbClr val="0070C0"/>
                </a:solidFill>
                <a:latin typeface="黑体" panose="02010609060101010101" pitchFamily="49" charset="-122"/>
                <a:ea typeface="黑体" panose="02010609060101010101" pitchFamily="49" charset="-122"/>
              </a:rPr>
              <a:t>热力性质表和图</a:t>
            </a:r>
            <a:r>
              <a:rPr lang="zh-CN" altLang="en-US" sz="3200" b="1">
                <a:latin typeface="黑体" panose="02010609060101010101" pitchFamily="49" charset="-122"/>
                <a:ea typeface="黑体" panose="02010609060101010101" pitchFamily="49" charset="-122"/>
              </a:rPr>
              <a:t>来查取</a:t>
            </a:r>
            <a:r>
              <a:rPr lang="zh-CN" altLang="en-US" sz="3200" b="1">
                <a:latin typeface="黑体" panose="02010609060101010101" pitchFamily="49" charset="-122"/>
                <a:ea typeface="黑体" panose="02010609060101010101" pitchFamily="49" charset="-122"/>
                <a:sym typeface="宋体" panose="02010600030101010101" pitchFamily="2" charset="-122"/>
              </a:rPr>
              <a:t>水蒸气、氨蒸气</a:t>
            </a:r>
            <a:r>
              <a:rPr lang="zh-CN" altLang="en-US" sz="3200" b="1">
                <a:latin typeface="黑体" panose="02010609060101010101" pitchFamily="49" charset="-122"/>
                <a:ea typeface="黑体" panose="02010609060101010101" pitchFamily="49" charset="-122"/>
              </a:rPr>
              <a:t>等物质的状态参数。</a:t>
            </a:r>
          </a:p>
        </p:txBody>
      </p:sp>
    </p:spTree>
    <p:extLst>
      <p:ext uri="{BB962C8B-B14F-4D97-AF65-F5344CB8AC3E}">
        <p14:creationId xmlns:p14="http://schemas.microsoft.com/office/powerpoint/2010/main" val="118108195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矩形 6149"/>
          <p:cNvSpPr>
            <a:spLocks noChangeArrowheads="1"/>
          </p:cNvSpPr>
          <p:nvPr/>
        </p:nvSpPr>
        <p:spPr bwMode="auto">
          <a:xfrm>
            <a:off x="611188" y="4797425"/>
            <a:ext cx="80010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folHlink"/>
              </a:buClr>
              <a:buSzPct val="60000"/>
            </a:pPr>
            <a:r>
              <a:rPr lang="zh-CN" altLang="en-US" sz="2800" b="1">
                <a:latin typeface="黑体" panose="02010609060101010101" pitchFamily="49" charset="-122"/>
                <a:ea typeface="黑体" panose="02010609060101010101" pitchFamily="49" charset="-122"/>
              </a:rPr>
              <a:t>这些关系式对所有的纯物质均适用。本章的讨论仅限于由</a:t>
            </a:r>
            <a:r>
              <a:rPr lang="en-US" altLang="zh-CN" sz="2800" b="1">
                <a:latin typeface="黑体" panose="02010609060101010101" pitchFamily="49" charset="-122"/>
                <a:ea typeface="黑体" panose="02010609060101010101" pitchFamily="49" charset="-122"/>
              </a:rPr>
              <a:t>2</a:t>
            </a:r>
            <a:r>
              <a:rPr lang="zh-CN" altLang="en-US" sz="2800" b="1">
                <a:latin typeface="黑体" panose="02010609060101010101" pitchFamily="49" charset="-122"/>
                <a:ea typeface="黑体" panose="02010609060101010101" pitchFamily="49" charset="-122"/>
              </a:rPr>
              <a:t>个独立变量确定的</a:t>
            </a:r>
            <a:r>
              <a:rPr lang="zh-CN" altLang="en-US" sz="2800" b="1">
                <a:solidFill>
                  <a:srgbClr val="FF0000"/>
                </a:solidFill>
                <a:latin typeface="黑体" panose="02010609060101010101" pitchFamily="49" charset="-122"/>
                <a:ea typeface="黑体" panose="02010609060101010101" pitchFamily="49" charset="-122"/>
              </a:rPr>
              <a:t>简单可压缩系统</a:t>
            </a:r>
            <a:r>
              <a:rPr lang="zh-CN" altLang="en-US" sz="2800" b="1">
                <a:latin typeface="黑体" panose="02010609060101010101" pitchFamily="49" charset="-122"/>
                <a:ea typeface="黑体" panose="02010609060101010101" pitchFamily="49" charset="-122"/>
              </a:rPr>
              <a:t>。</a:t>
            </a:r>
          </a:p>
        </p:txBody>
      </p:sp>
      <p:sp>
        <p:nvSpPr>
          <p:cNvPr id="28674" name="文本框 3"/>
          <p:cNvSpPr txBox="1">
            <a:spLocks noChangeArrowheads="1"/>
          </p:cNvSpPr>
          <p:nvPr/>
        </p:nvSpPr>
        <p:spPr bwMode="auto">
          <a:xfrm>
            <a:off x="515938" y="423863"/>
            <a:ext cx="7758112" cy="403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Char char="•"/>
            </a:pPr>
            <a:r>
              <a:rPr lang="zh-CN" altLang="en-US" sz="2800" b="1">
                <a:latin typeface="黑体" panose="02010609060101010101" pitchFamily="49" charset="-122"/>
                <a:ea typeface="黑体" panose="02010609060101010101" pitchFamily="49" charset="-122"/>
              </a:rPr>
              <a:t>热力性质图表中的状态参数值是如何通过有限的可测量参数得到的呢？</a:t>
            </a:r>
          </a:p>
          <a:p>
            <a:pPr eaLnBrk="1" hangingPunct="1">
              <a:buFont typeface="Arial" panose="020B0604020202020204" pitchFamily="34" charset="0"/>
              <a:buChar char="•"/>
            </a:pPr>
            <a:r>
              <a:rPr lang="zh-CN" altLang="en-US" sz="2800" b="1">
                <a:latin typeface="黑体" panose="02010609060101010101" pitchFamily="49" charset="-122"/>
                <a:ea typeface="黑体" panose="02010609060101010101" pitchFamily="49" charset="-122"/>
              </a:rPr>
              <a:t>为了确定工程中常用的不可直接测量参数的数值，人们依据热力学基本定律，建立了不可直接测量的状态参数与可直接测量的状态参数间的基本关系式，利用这些基本关系式便可以确定不可直接测量的状态参数</a:t>
            </a:r>
          </a:p>
          <a:p>
            <a:pPr eaLnBrk="1" hangingPunct="1">
              <a:buFont typeface="Arial" panose="020B0604020202020204" pitchFamily="34" charset="0"/>
              <a:buChar char="•"/>
            </a:pPr>
            <a:r>
              <a:rPr lang="zh-CN" altLang="en-US" sz="2800" b="1">
                <a:latin typeface="黑体" panose="02010609060101010101" pitchFamily="49" charset="-122"/>
                <a:ea typeface="黑体" panose="02010609060101010101" pitchFamily="49" charset="-122"/>
              </a:rPr>
              <a:t>这些基本关系式便是本章所要讨论的热力学一般关系式</a:t>
            </a:r>
          </a:p>
        </p:txBody>
      </p:sp>
    </p:spTree>
    <p:extLst>
      <p:ext uri="{BB962C8B-B14F-4D97-AF65-F5344CB8AC3E}">
        <p14:creationId xmlns:p14="http://schemas.microsoft.com/office/powerpoint/2010/main" val="3942480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矩形 94211"/>
          <p:cNvSpPr>
            <a:spLocks noChangeArrowheads="1"/>
          </p:cNvSpPr>
          <p:nvPr/>
        </p:nvSpPr>
        <p:spPr bwMode="auto">
          <a:xfrm>
            <a:off x="1357313" y="1905000"/>
            <a:ext cx="601662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buFontTx/>
              <a:buChar char="§"/>
            </a:pPr>
            <a:r>
              <a:rPr lang="en-US" altLang="zh-CN" sz="4000" b="1">
                <a:latin typeface="黑体" panose="02010609060101010101" pitchFamily="49" charset="-122"/>
                <a:ea typeface="黑体" panose="02010609060101010101" pitchFamily="49" charset="-122"/>
              </a:rPr>
              <a:t>16-2 </a:t>
            </a:r>
            <a:r>
              <a:rPr lang="zh-CN" altLang="en-US" sz="4000" b="1">
                <a:latin typeface="黑体" panose="02010609060101010101" pitchFamily="49" charset="-122"/>
                <a:ea typeface="黑体" panose="02010609060101010101" pitchFamily="49" charset="-122"/>
              </a:rPr>
              <a:t>一些数学知识</a:t>
            </a:r>
          </a:p>
        </p:txBody>
      </p:sp>
    </p:spTree>
    <p:extLst>
      <p:ext uri="{BB962C8B-B14F-4D97-AF65-F5344CB8AC3E}">
        <p14:creationId xmlns:p14="http://schemas.microsoft.com/office/powerpoint/2010/main" val="922435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矩形 96262"/>
          <p:cNvSpPr>
            <a:spLocks noChangeArrowheads="1"/>
          </p:cNvSpPr>
          <p:nvPr/>
        </p:nvSpPr>
        <p:spPr bwMode="auto">
          <a:xfrm>
            <a:off x="938213" y="474663"/>
            <a:ext cx="60198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200" b="1" dirty="0">
                <a:latin typeface="黑体" panose="02010609060101010101" pitchFamily="49" charset="-122"/>
                <a:ea typeface="黑体" panose="02010609060101010101" pitchFamily="49" charset="-122"/>
              </a:rPr>
              <a:t>一、全微分条件</a:t>
            </a:r>
            <a:endParaRPr lang="zh-CN" altLang="en-US" sz="3200" dirty="0">
              <a:latin typeface="黑体" panose="02010609060101010101" pitchFamily="49" charset="-122"/>
              <a:ea typeface="黑体" panose="02010609060101010101" pitchFamily="49" charset="-122"/>
            </a:endParaRPr>
          </a:p>
        </p:txBody>
      </p:sp>
      <p:graphicFrame>
        <p:nvGraphicFramePr>
          <p:cNvPr id="30722" name="对象 96264"/>
          <p:cNvGraphicFramePr>
            <a:graphicFrameLocks/>
          </p:cNvGraphicFramePr>
          <p:nvPr/>
        </p:nvGraphicFramePr>
        <p:xfrm>
          <a:off x="2411413" y="1592263"/>
          <a:ext cx="3803650" cy="1643062"/>
        </p:xfrm>
        <a:graphic>
          <a:graphicData uri="http://schemas.openxmlformats.org/presentationml/2006/ole">
            <mc:AlternateContent xmlns:mc="http://schemas.openxmlformats.org/markup-compatibility/2006">
              <mc:Choice xmlns:v="urn:schemas-microsoft-com:vml" Requires="v">
                <p:oleObj spid="_x0000_s21512" r:id="rId3" imgW="1049760" imgH="447840" progId="Equation.DSMT4">
                  <p:embed/>
                </p:oleObj>
              </mc:Choice>
              <mc:Fallback>
                <p:oleObj r:id="rId3" imgW="1049760" imgH="447840" progId="Equation.DSMT4">
                  <p:embed/>
                  <p:pic>
                    <p:nvPicPr>
                      <p:cNvPr id="30722" name="对象 9626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592263"/>
                        <a:ext cx="3803650"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23" name="对象 96267"/>
          <p:cNvGraphicFramePr>
            <a:graphicFrameLocks/>
          </p:cNvGraphicFramePr>
          <p:nvPr/>
        </p:nvGraphicFramePr>
        <p:xfrm>
          <a:off x="2771775" y="3522663"/>
          <a:ext cx="2008188" cy="487362"/>
        </p:xfrm>
        <a:graphic>
          <a:graphicData uri="http://schemas.openxmlformats.org/presentationml/2006/ole">
            <mc:AlternateContent xmlns:mc="http://schemas.openxmlformats.org/markup-compatibility/2006">
              <mc:Choice xmlns:v="urn:schemas-microsoft-com:vml" Requires="v">
                <p:oleObj spid="_x0000_s21513" r:id="rId5" imgW="838080" imgH="203040" progId="Equation.DSMT4">
                  <p:embed/>
                </p:oleObj>
              </mc:Choice>
              <mc:Fallback>
                <p:oleObj r:id="rId5" imgW="838080" imgH="203040" progId="Equation.DSMT4">
                  <p:embed/>
                  <p:pic>
                    <p:nvPicPr>
                      <p:cNvPr id="30723" name="对象 962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3522663"/>
                        <a:ext cx="2008188"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0724" name="对象 2"/>
          <p:cNvGraphicFramePr>
            <a:graphicFrameLocks/>
          </p:cNvGraphicFramePr>
          <p:nvPr/>
        </p:nvGraphicFramePr>
        <p:xfrm>
          <a:off x="2913063" y="4973638"/>
          <a:ext cx="2586037" cy="1127125"/>
        </p:xfrm>
        <a:graphic>
          <a:graphicData uri="http://schemas.openxmlformats.org/presentationml/2006/ole">
            <mc:AlternateContent xmlns:mc="http://schemas.openxmlformats.org/markup-compatibility/2006">
              <mc:Choice xmlns:v="urn:schemas-microsoft-com:vml" Requires="v">
                <p:oleObj spid="_x0000_s21514" r:id="rId7" imgW="1079280" imgH="469800" progId="Equation.DSMT4">
                  <p:embed/>
                </p:oleObj>
              </mc:Choice>
              <mc:Fallback>
                <p:oleObj r:id="rId7" imgW="1079280" imgH="469800" progId="Equation.DSMT4">
                  <p:embed/>
                  <p:pic>
                    <p:nvPicPr>
                      <p:cNvPr id="30724" name="对象 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063" y="4973638"/>
                        <a:ext cx="2586037"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25" name="文本框 4"/>
          <p:cNvSpPr txBox="1">
            <a:spLocks noChangeArrowheads="1"/>
          </p:cNvSpPr>
          <p:nvPr/>
        </p:nvSpPr>
        <p:spPr bwMode="auto">
          <a:xfrm>
            <a:off x="1114425" y="4297363"/>
            <a:ext cx="56673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若</a:t>
            </a:r>
            <a:r>
              <a:rPr lang="en-US" altLang="zh-CN" sz="2800" b="1" i="1">
                <a:latin typeface="Times New Roman" panose="02020603050405020304" pitchFamily="18" charset="0"/>
                <a:ea typeface="黑体" panose="02010609060101010101" pitchFamily="49" charset="-122"/>
              </a:rPr>
              <a:t>M</a:t>
            </a:r>
            <a:r>
              <a:rPr lang="zh-CN" altLang="en-US" sz="2800" b="1">
                <a:latin typeface="Times New Roman" panose="02020603050405020304" pitchFamily="18" charset="0"/>
                <a:ea typeface="黑体" panose="02010609060101010101" pitchFamily="49" charset="-122"/>
              </a:rPr>
              <a:t>和</a:t>
            </a:r>
            <a:r>
              <a:rPr lang="en-US" altLang="zh-CN" sz="2800" b="1" i="1">
                <a:latin typeface="Times New Roman" panose="02020603050405020304" pitchFamily="18" charset="0"/>
                <a:ea typeface="黑体" panose="02010609060101010101" pitchFamily="49" charset="-122"/>
              </a:rPr>
              <a:t>N</a:t>
            </a:r>
            <a:r>
              <a:rPr lang="zh-CN" altLang="en-US" sz="2800" b="1">
                <a:latin typeface="Times New Roman" panose="02020603050405020304" pitchFamily="18" charset="0"/>
                <a:ea typeface="黑体" panose="02010609060101010101" pitchFamily="49" charset="-122"/>
              </a:rPr>
              <a:t>的一阶偏导数连续，则：</a:t>
            </a:r>
          </a:p>
        </p:txBody>
      </p:sp>
    </p:spTree>
    <p:extLst>
      <p:ext uri="{BB962C8B-B14F-4D97-AF65-F5344CB8AC3E}">
        <p14:creationId xmlns:p14="http://schemas.microsoft.com/office/powerpoint/2010/main" val="140189809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矩形 82945"/>
          <p:cNvSpPr>
            <a:spLocks noChangeArrowheads="1"/>
          </p:cNvSpPr>
          <p:nvPr/>
        </p:nvSpPr>
        <p:spPr bwMode="auto">
          <a:xfrm>
            <a:off x="793750" y="347663"/>
            <a:ext cx="60198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200" b="1" dirty="0">
                <a:latin typeface="黑体" panose="02010609060101010101" pitchFamily="49" charset="-122"/>
                <a:ea typeface="黑体" panose="02010609060101010101" pitchFamily="49" charset="-122"/>
              </a:rPr>
              <a:t>二、倒数关系式</a:t>
            </a:r>
          </a:p>
        </p:txBody>
      </p:sp>
      <p:sp>
        <p:nvSpPr>
          <p:cNvPr id="31746" name="矩形 82952"/>
          <p:cNvSpPr>
            <a:spLocks noChangeArrowheads="1"/>
          </p:cNvSpPr>
          <p:nvPr/>
        </p:nvSpPr>
        <p:spPr bwMode="auto">
          <a:xfrm>
            <a:off x="793750" y="3249613"/>
            <a:ext cx="60198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200" b="1" dirty="0">
                <a:latin typeface="黑体" panose="02010609060101010101" pitchFamily="49" charset="-122"/>
                <a:ea typeface="黑体" panose="02010609060101010101" pitchFamily="49" charset="-122"/>
              </a:rPr>
              <a:t>三、循环关系式</a:t>
            </a:r>
          </a:p>
        </p:txBody>
      </p:sp>
      <p:graphicFrame>
        <p:nvGraphicFramePr>
          <p:cNvPr id="31747" name="对象 82953"/>
          <p:cNvGraphicFramePr>
            <a:graphicFrameLocks/>
          </p:cNvGraphicFramePr>
          <p:nvPr/>
        </p:nvGraphicFramePr>
        <p:xfrm>
          <a:off x="3303588" y="1306513"/>
          <a:ext cx="1858962" cy="538162"/>
        </p:xfrm>
        <a:graphic>
          <a:graphicData uri="http://schemas.openxmlformats.org/presentationml/2006/ole">
            <mc:AlternateContent xmlns:mc="http://schemas.openxmlformats.org/markup-compatibility/2006">
              <mc:Choice xmlns:v="urn:schemas-microsoft-com:vml" Requires="v">
                <p:oleObj spid="_x0000_s22534" r:id="rId3" imgW="710583" imgH="203024" progId="Equation.DSMT4">
                  <p:embed/>
                </p:oleObj>
              </mc:Choice>
              <mc:Fallback>
                <p:oleObj r:id="rId3" imgW="710583" imgH="203024" progId="Equation.DSMT4">
                  <p:embed/>
                  <p:pic>
                    <p:nvPicPr>
                      <p:cNvPr id="31747" name="对象 8295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3588" y="1306513"/>
                        <a:ext cx="1858962"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1748" name="对象 1"/>
          <p:cNvGraphicFramePr>
            <a:graphicFrameLocks noChangeAspect="1"/>
          </p:cNvGraphicFramePr>
          <p:nvPr/>
        </p:nvGraphicFramePr>
        <p:xfrm>
          <a:off x="2930525" y="2071688"/>
          <a:ext cx="2992438" cy="1179512"/>
        </p:xfrm>
        <a:graphic>
          <a:graphicData uri="http://schemas.openxmlformats.org/presentationml/2006/ole">
            <mc:AlternateContent xmlns:mc="http://schemas.openxmlformats.org/markup-compatibility/2006">
              <mc:Choice xmlns:v="urn:schemas-microsoft-com:vml" Requires="v">
                <p:oleObj spid="_x0000_s22535" r:id="rId5" imgW="2685960" imgH="1101600" progId="Equation.DSMT4">
                  <p:embed/>
                </p:oleObj>
              </mc:Choice>
              <mc:Fallback>
                <p:oleObj r:id="rId5" imgW="2685960" imgH="1101600" progId="Equation.DSMT4">
                  <p:embed/>
                  <p:pic>
                    <p:nvPicPr>
                      <p:cNvPr id="31748"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0525" y="2071688"/>
                        <a:ext cx="2992438"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1749" name="图片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81275" y="4349750"/>
            <a:ext cx="36925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266664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矩形 94211"/>
          <p:cNvSpPr>
            <a:spLocks noChangeArrowheads="1"/>
          </p:cNvSpPr>
          <p:nvPr/>
        </p:nvSpPr>
        <p:spPr bwMode="auto">
          <a:xfrm>
            <a:off x="1331913" y="1773238"/>
            <a:ext cx="60166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buFontTx/>
              <a:buChar char="§"/>
            </a:pPr>
            <a:r>
              <a:rPr lang="en-US" altLang="zh-CN" sz="4000" b="1">
                <a:latin typeface="黑体" panose="02010609060101010101" pitchFamily="49" charset="-122"/>
                <a:ea typeface="黑体" panose="02010609060101010101" pitchFamily="49" charset="-122"/>
              </a:rPr>
              <a:t>16-3 </a:t>
            </a:r>
            <a:r>
              <a:rPr lang="zh-CN" altLang="en-US" sz="4000" b="1">
                <a:latin typeface="黑体" panose="02010609060101010101" pitchFamily="49" charset="-122"/>
                <a:ea typeface="黑体" panose="02010609060101010101" pitchFamily="49" charset="-122"/>
              </a:rPr>
              <a:t>麦克斯韦关系式</a:t>
            </a:r>
          </a:p>
        </p:txBody>
      </p:sp>
    </p:spTree>
    <p:extLst>
      <p:ext uri="{BB962C8B-B14F-4D97-AF65-F5344CB8AC3E}">
        <p14:creationId xmlns:p14="http://schemas.microsoft.com/office/powerpoint/2010/main" val="653477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文本框 3"/>
          <p:cNvSpPr txBox="1">
            <a:spLocks noChangeArrowheads="1"/>
          </p:cNvSpPr>
          <p:nvPr/>
        </p:nvSpPr>
        <p:spPr bwMode="auto">
          <a:xfrm>
            <a:off x="666750" y="1485900"/>
            <a:ext cx="78994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Times New Roman" panose="02020603050405020304" pitchFamily="18" charset="0"/>
                <a:ea typeface="黑体" panose="02010609060101010101" pitchFamily="49" charset="-122"/>
              </a:rPr>
              <a:t>把状态参数</a:t>
            </a:r>
            <a:r>
              <a:rPr lang="zh-CN" altLang="en-US" sz="3200" b="1" i="1" dirty="0">
                <a:latin typeface="Times New Roman" panose="02020603050405020304" pitchFamily="18" charset="0"/>
                <a:ea typeface="黑体" panose="02010609060101010101" pitchFamily="49" charset="-122"/>
              </a:rPr>
              <a:t>p、v、T、s</a:t>
            </a:r>
            <a:r>
              <a:rPr lang="zh-CN" altLang="en-US" sz="3200" b="1" dirty="0">
                <a:latin typeface="Times New Roman" panose="02020603050405020304" pitchFamily="18" charset="0"/>
                <a:ea typeface="黑体" panose="02010609060101010101" pitchFamily="49" charset="-122"/>
              </a:rPr>
              <a:t>的全微分联系起来的关系式称为</a:t>
            </a:r>
            <a:r>
              <a:rPr lang="zh-CN" altLang="en-US" sz="3200" b="1" dirty="0">
                <a:solidFill>
                  <a:srgbClr val="FF0000"/>
                </a:solidFill>
                <a:latin typeface="Times New Roman" panose="02020603050405020304" pitchFamily="18" charset="0"/>
                <a:ea typeface="黑体" panose="02010609060101010101" pitchFamily="49" charset="-122"/>
              </a:rPr>
              <a:t>麦克斯韦关系式</a:t>
            </a:r>
            <a:r>
              <a:rPr lang="zh-CN" altLang="en-US" sz="3200" b="1" dirty="0">
                <a:latin typeface="Times New Roman" panose="02020603050405020304" pitchFamily="18" charset="0"/>
                <a:ea typeface="黑体" panose="02010609060101010101" pitchFamily="49" charset="-122"/>
              </a:rPr>
              <a:t>。该关系式可以通过吉布斯方程式并应用全微分条件而获得</a:t>
            </a:r>
          </a:p>
        </p:txBody>
      </p:sp>
    </p:spTree>
    <p:extLst>
      <p:ext uri="{BB962C8B-B14F-4D97-AF65-F5344CB8AC3E}">
        <p14:creationId xmlns:p14="http://schemas.microsoft.com/office/powerpoint/2010/main" val="706787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83969"/>
          <p:cNvSpPr>
            <a:spLocks noChangeArrowheads="1"/>
          </p:cNvSpPr>
          <p:nvPr/>
        </p:nvSpPr>
        <p:spPr bwMode="auto">
          <a:xfrm>
            <a:off x="455613" y="347663"/>
            <a:ext cx="60198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200" b="1" dirty="0">
                <a:latin typeface="黑体" panose="02010609060101010101" pitchFamily="49" charset="-122"/>
                <a:ea typeface="黑体" panose="02010609060101010101" pitchFamily="49" charset="-122"/>
              </a:rPr>
              <a:t>一、吉布斯方程式</a:t>
            </a:r>
          </a:p>
        </p:txBody>
      </p:sp>
      <p:graphicFrame>
        <p:nvGraphicFramePr>
          <p:cNvPr id="34818" name="对象 83971"/>
          <p:cNvGraphicFramePr>
            <a:graphicFrameLocks/>
          </p:cNvGraphicFramePr>
          <p:nvPr/>
        </p:nvGraphicFramePr>
        <p:xfrm>
          <a:off x="3106738" y="1465263"/>
          <a:ext cx="2528887" cy="2128837"/>
        </p:xfrm>
        <a:graphic>
          <a:graphicData uri="http://schemas.openxmlformats.org/presentationml/2006/ole">
            <mc:AlternateContent xmlns:mc="http://schemas.openxmlformats.org/markup-compatibility/2006">
              <mc:Choice xmlns:v="urn:schemas-microsoft-com:vml" Requires="v">
                <p:oleObj spid="_x0000_s23556" r:id="rId3" imgW="1054080" imgH="888840" progId="Equation.3">
                  <p:embed/>
                </p:oleObj>
              </mc:Choice>
              <mc:Fallback>
                <p:oleObj r:id="rId3" imgW="1054080" imgH="888840" progId="Equation.3">
                  <p:embed/>
                  <p:pic>
                    <p:nvPicPr>
                      <p:cNvPr id="34818" name="对象 8397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6738" y="1465263"/>
                        <a:ext cx="2528887" cy="212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19" name="矩形 83975"/>
          <p:cNvSpPr>
            <a:spLocks noChangeArrowheads="1"/>
          </p:cNvSpPr>
          <p:nvPr/>
        </p:nvSpPr>
        <p:spPr bwMode="auto">
          <a:xfrm>
            <a:off x="876300" y="3886200"/>
            <a:ext cx="7391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dirty="0">
                <a:solidFill>
                  <a:schemeClr val="tx2"/>
                </a:solidFill>
              </a:rPr>
              <a:t>　　</a:t>
            </a:r>
            <a:r>
              <a:rPr lang="zh-CN" altLang="en-US" sz="2800" dirty="0">
                <a:latin typeface="黑体" panose="02010609060101010101" pitchFamily="49" charset="-122"/>
                <a:ea typeface="黑体" panose="02010609060101010101" pitchFamily="49" charset="-122"/>
              </a:rPr>
              <a:t>适用于</a:t>
            </a:r>
            <a:r>
              <a:rPr lang="zh-CN" altLang="en-US" sz="2800" b="1" dirty="0">
                <a:solidFill>
                  <a:srgbClr val="FF0000"/>
                </a:solidFill>
                <a:latin typeface="黑体" panose="02010609060101010101" pitchFamily="49" charset="-122"/>
                <a:ea typeface="黑体" panose="02010609060101010101" pitchFamily="49" charset="-122"/>
              </a:rPr>
              <a:t>简单可压缩系统的任意过程</a:t>
            </a:r>
          </a:p>
        </p:txBody>
      </p:sp>
      <p:sp>
        <p:nvSpPr>
          <p:cNvPr id="34820" name="文本框 1"/>
          <p:cNvSpPr txBox="1">
            <a:spLocks noChangeArrowheads="1"/>
          </p:cNvSpPr>
          <p:nvPr/>
        </p:nvSpPr>
        <p:spPr bwMode="auto">
          <a:xfrm>
            <a:off x="1619250" y="4797425"/>
            <a:ext cx="61293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黑体" panose="02010609060101010101" pitchFamily="49" charset="-122"/>
                <a:ea typeface="黑体" panose="02010609060101010101" pitchFamily="49" charset="-122"/>
              </a:rPr>
              <a:t>两个热力学组合状态参数：</a:t>
            </a:r>
          </a:p>
          <a:p>
            <a:r>
              <a:rPr lang="en-US" altLang="zh-CN" sz="2800" b="1">
                <a:latin typeface="Times New Roman" panose="02020603050405020304" pitchFamily="18" charset="0"/>
                <a:ea typeface="黑体" panose="02010609060101010101" pitchFamily="49" charset="-122"/>
              </a:rPr>
              <a:t>1.</a:t>
            </a:r>
            <a:r>
              <a:rPr lang="en-US" altLang="zh-CN" sz="28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亥姆霍兹函数 </a:t>
            </a:r>
            <a:r>
              <a:rPr lang="en-US" altLang="zh-CN" sz="2800" b="1" i="1">
                <a:latin typeface="Times New Roman" panose="02020603050405020304" pitchFamily="18" charset="0"/>
                <a:ea typeface="楷体_GB2312" pitchFamily="49" charset="-122"/>
              </a:rPr>
              <a:t>f </a:t>
            </a:r>
            <a:r>
              <a:rPr lang="en-US" altLang="zh-CN" sz="2800" b="1">
                <a:latin typeface="Times New Roman" panose="02020603050405020304" pitchFamily="18" charset="0"/>
                <a:ea typeface="楷体_GB2312" pitchFamily="49" charset="-122"/>
              </a:rPr>
              <a:t>= </a:t>
            </a:r>
            <a:r>
              <a:rPr lang="en-US" altLang="zh-CN" sz="2800" b="1" i="1">
                <a:latin typeface="Times New Roman" panose="02020603050405020304" pitchFamily="18" charset="0"/>
                <a:ea typeface="楷体_GB2312" pitchFamily="49" charset="-122"/>
              </a:rPr>
              <a:t>u </a:t>
            </a:r>
            <a:r>
              <a:rPr lang="en-US" altLang="zh-CN" sz="2800" b="1">
                <a:latin typeface="Times New Roman" panose="02020603050405020304" pitchFamily="18" charset="0"/>
                <a:ea typeface="楷体_GB2312" pitchFamily="49" charset="-122"/>
              </a:rPr>
              <a:t>– </a:t>
            </a:r>
            <a:r>
              <a:rPr lang="en-US" altLang="zh-CN" sz="2800" b="1" i="1">
                <a:latin typeface="Times New Roman" panose="02020603050405020304" pitchFamily="18" charset="0"/>
                <a:ea typeface="楷体_GB2312" pitchFamily="49" charset="-122"/>
              </a:rPr>
              <a:t>Ts</a:t>
            </a:r>
          </a:p>
          <a:p>
            <a:r>
              <a:rPr lang="en-US" altLang="zh-CN" sz="2800" b="1">
                <a:latin typeface="Times New Roman" panose="02020603050405020304" pitchFamily="18" charset="0"/>
                <a:ea typeface="黑体" panose="02010609060101010101" pitchFamily="49" charset="-122"/>
              </a:rPr>
              <a:t>2.  </a:t>
            </a:r>
            <a:r>
              <a:rPr lang="zh-CN" altLang="en-US" sz="2800" b="1">
                <a:latin typeface="黑体" panose="02010609060101010101" pitchFamily="49" charset="-122"/>
                <a:ea typeface="黑体" panose="02010609060101010101" pitchFamily="49" charset="-122"/>
              </a:rPr>
              <a:t>吉布斯函数</a:t>
            </a:r>
            <a:r>
              <a:rPr lang="en-US" altLang="zh-CN" sz="2800" b="1" i="1">
                <a:latin typeface="Times New Roman" panose="02020603050405020304" pitchFamily="18" charset="0"/>
                <a:ea typeface="楷体_GB2312" pitchFamily="49" charset="-122"/>
              </a:rPr>
              <a:t>g = h </a:t>
            </a:r>
            <a:r>
              <a:rPr lang="en-US" altLang="zh-CN" sz="2800" b="1">
                <a:latin typeface="Times New Roman" panose="02020603050405020304" pitchFamily="18" charset="0"/>
                <a:ea typeface="楷体_GB2312" pitchFamily="49" charset="-122"/>
              </a:rPr>
              <a:t>– </a:t>
            </a:r>
            <a:r>
              <a:rPr lang="en-US" altLang="zh-CN" sz="2800" b="1" i="1">
                <a:latin typeface="Times New Roman" panose="02020603050405020304" pitchFamily="18" charset="0"/>
                <a:ea typeface="楷体_GB2312" pitchFamily="49" charset="-122"/>
              </a:rPr>
              <a:t>Ts</a:t>
            </a:r>
            <a:endParaRPr lang="zh-CN" altLang="en-US" sz="2800" b="1"/>
          </a:p>
        </p:txBody>
      </p:sp>
    </p:spTree>
    <p:extLst>
      <p:ext uri="{BB962C8B-B14F-4D97-AF65-F5344CB8AC3E}">
        <p14:creationId xmlns:p14="http://schemas.microsoft.com/office/powerpoint/2010/main" val="408142946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1" name="对象 86019"/>
          <p:cNvGraphicFramePr>
            <a:graphicFrameLocks/>
          </p:cNvGraphicFramePr>
          <p:nvPr/>
        </p:nvGraphicFramePr>
        <p:xfrm>
          <a:off x="1865313" y="2982913"/>
          <a:ext cx="5257800" cy="2100262"/>
        </p:xfrm>
        <a:graphic>
          <a:graphicData uri="http://schemas.openxmlformats.org/presentationml/2006/ole">
            <mc:AlternateContent xmlns:mc="http://schemas.openxmlformats.org/markup-compatibility/2006">
              <mc:Choice xmlns:v="urn:schemas-microsoft-com:vml" Requires="v">
                <p:oleObj spid="_x0000_s24580" r:id="rId3" imgW="1600200" imgH="633600" progId="Equation.DSMT4">
                  <p:embed/>
                </p:oleObj>
              </mc:Choice>
              <mc:Fallback>
                <p:oleObj r:id="rId3" imgW="1600200" imgH="633600" progId="Equation.DSMT4">
                  <p:embed/>
                  <p:pic>
                    <p:nvPicPr>
                      <p:cNvPr id="35841" name="对象 860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313" y="2982913"/>
                        <a:ext cx="525780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2" name="矩形 86020"/>
          <p:cNvSpPr>
            <a:spLocks noChangeArrowheads="1"/>
          </p:cNvSpPr>
          <p:nvPr/>
        </p:nvSpPr>
        <p:spPr bwMode="auto">
          <a:xfrm>
            <a:off x="685800" y="5432425"/>
            <a:ext cx="77724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这些关系式给出了</a:t>
            </a:r>
            <a:r>
              <a:rPr lang="zh-CN" altLang="en-US" sz="2800" b="1" dirty="0">
                <a:solidFill>
                  <a:srgbClr val="FF0000"/>
                </a:solidFill>
                <a:latin typeface="黑体" panose="02010609060101010101" pitchFamily="49" charset="-122"/>
                <a:ea typeface="黑体" panose="02010609060101010101" pitchFamily="49" charset="-122"/>
              </a:rPr>
              <a:t>不可测的熵参数与可测的</a:t>
            </a:r>
            <a:r>
              <a:rPr lang="en-US" altLang="zh-CN" sz="2800" b="1" i="1" dirty="0">
                <a:solidFill>
                  <a:srgbClr val="FF0000"/>
                </a:solidFill>
                <a:latin typeface="Times New Roman" panose="02020603050405020304" pitchFamily="18" charset="0"/>
              </a:rPr>
              <a:t>p</a:t>
            </a:r>
            <a:r>
              <a:rPr lang="zh-CN" altLang="en-US" sz="2800" b="1" dirty="0">
                <a:solidFill>
                  <a:srgbClr val="FF0000"/>
                </a:solidFill>
              </a:rPr>
              <a:t>、</a:t>
            </a:r>
            <a:r>
              <a:rPr lang="en-US" altLang="zh-CN" sz="2800" b="1" i="1" dirty="0">
                <a:solidFill>
                  <a:srgbClr val="FF0000"/>
                </a:solidFill>
                <a:latin typeface="Times New Roman" panose="02020603050405020304" pitchFamily="18" charset="0"/>
              </a:rPr>
              <a:t>v</a:t>
            </a:r>
            <a:r>
              <a:rPr lang="zh-CN" altLang="en-US" sz="2800" b="1" dirty="0">
                <a:solidFill>
                  <a:srgbClr val="FF0000"/>
                </a:solidFill>
              </a:rPr>
              <a:t>、</a:t>
            </a:r>
            <a:r>
              <a:rPr lang="en-US" altLang="zh-CN" sz="2800" b="1" i="1" dirty="0">
                <a:solidFill>
                  <a:srgbClr val="FF0000"/>
                </a:solidFill>
                <a:latin typeface="Times New Roman" panose="02020603050405020304" pitchFamily="18" charset="0"/>
              </a:rPr>
              <a:t>T</a:t>
            </a:r>
            <a:r>
              <a:rPr lang="zh-CN" altLang="en-US" sz="2800" b="1" dirty="0">
                <a:solidFill>
                  <a:srgbClr val="FF0000"/>
                </a:solidFill>
                <a:latin typeface="黑体" panose="02010609060101010101" pitchFamily="49" charset="-122"/>
                <a:ea typeface="黑体" panose="02010609060101010101" pitchFamily="49" charset="-122"/>
              </a:rPr>
              <a:t>之间的偏导数关系式</a:t>
            </a:r>
            <a:r>
              <a:rPr lang="zh-CN" altLang="en-US" sz="2800" b="1" dirty="0">
                <a:latin typeface="黑体" panose="02010609060101010101" pitchFamily="49" charset="-122"/>
                <a:ea typeface="黑体" panose="02010609060101010101" pitchFamily="49" charset="-122"/>
              </a:rPr>
              <a:t>，在热力学中极其重要。</a:t>
            </a:r>
          </a:p>
        </p:txBody>
      </p:sp>
      <p:sp>
        <p:nvSpPr>
          <p:cNvPr id="35843" name="矩形 86021"/>
          <p:cNvSpPr>
            <a:spLocks noChangeArrowheads="1"/>
          </p:cNvSpPr>
          <p:nvPr/>
        </p:nvSpPr>
        <p:spPr bwMode="auto">
          <a:xfrm>
            <a:off x="1619250" y="2851150"/>
            <a:ext cx="5903913" cy="2303463"/>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35844" name="图片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7450" y="1041400"/>
            <a:ext cx="21463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矩形 83969"/>
          <p:cNvSpPr>
            <a:spLocks noChangeArrowheads="1"/>
          </p:cNvSpPr>
          <p:nvPr/>
        </p:nvSpPr>
        <p:spPr bwMode="auto">
          <a:xfrm>
            <a:off x="468313" y="109538"/>
            <a:ext cx="6019800"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200" b="1" dirty="0">
                <a:latin typeface="黑体" panose="02010609060101010101" pitchFamily="49" charset="-122"/>
                <a:ea typeface="黑体" panose="02010609060101010101" pitchFamily="49" charset="-122"/>
              </a:rPr>
              <a:t>二、麦克斯韦关系式</a:t>
            </a:r>
          </a:p>
        </p:txBody>
      </p:sp>
      <p:sp>
        <p:nvSpPr>
          <p:cNvPr id="35846" name="矩形 2"/>
          <p:cNvSpPr>
            <a:spLocks noChangeArrowheads="1"/>
          </p:cNvSpPr>
          <p:nvPr/>
        </p:nvSpPr>
        <p:spPr bwMode="auto">
          <a:xfrm>
            <a:off x="3451225" y="1217613"/>
            <a:ext cx="47418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应用于四个吉布斯方程式中，</a:t>
            </a:r>
          </a:p>
        </p:txBody>
      </p:sp>
      <p:sp>
        <p:nvSpPr>
          <p:cNvPr id="35847" name="文本框 3"/>
          <p:cNvSpPr txBox="1">
            <a:spLocks noChangeArrowheads="1"/>
          </p:cNvSpPr>
          <p:nvPr/>
        </p:nvSpPr>
        <p:spPr bwMode="auto">
          <a:xfrm>
            <a:off x="568325" y="1978025"/>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黑体" panose="02010609060101010101" pitchFamily="49" charset="-122"/>
                <a:ea typeface="黑体" panose="02010609060101010101" pitchFamily="49" charset="-122"/>
              </a:rPr>
              <a:t>得到</a:t>
            </a:r>
            <a:r>
              <a:rPr lang="zh-CN" altLang="en-US" sz="2800" b="1" dirty="0">
                <a:solidFill>
                  <a:srgbClr val="FF0000"/>
                </a:solidFill>
                <a:latin typeface="黑体" panose="02010609060101010101" pitchFamily="49" charset="-122"/>
                <a:ea typeface="黑体" panose="02010609060101010101" pitchFamily="49" charset="-122"/>
              </a:rPr>
              <a:t>四个麦克斯韦关系式</a:t>
            </a:r>
          </a:p>
        </p:txBody>
      </p:sp>
      <p:sp>
        <p:nvSpPr>
          <p:cNvPr id="35848" name="矩形 2"/>
          <p:cNvSpPr>
            <a:spLocks noChangeArrowheads="1"/>
          </p:cNvSpPr>
          <p:nvPr/>
        </p:nvSpPr>
        <p:spPr bwMode="auto">
          <a:xfrm>
            <a:off x="600075" y="1216025"/>
            <a:ext cx="746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将</a:t>
            </a:r>
          </a:p>
        </p:txBody>
      </p:sp>
    </p:spTree>
    <p:extLst>
      <p:ext uri="{BB962C8B-B14F-4D97-AF65-F5344CB8AC3E}">
        <p14:creationId xmlns:p14="http://schemas.microsoft.com/office/powerpoint/2010/main" val="24713516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87041"/>
          <p:cNvSpPr>
            <a:spLocks noGrp="1" noChangeArrowheads="1"/>
          </p:cNvSpPr>
          <p:nvPr/>
        </p:nvSpPr>
        <p:spPr bwMode="auto">
          <a:xfrm>
            <a:off x="250825" y="1773238"/>
            <a:ext cx="83740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buFontTx/>
              <a:buChar char="§"/>
            </a:pPr>
            <a:r>
              <a:rPr lang="en-US" altLang="zh-CN" sz="4000" b="1" dirty="0">
                <a:latin typeface="+mj-lt"/>
                <a:ea typeface="黑体" panose="02010609060101010101" pitchFamily="49" charset="-122"/>
              </a:rPr>
              <a:t>16-4</a:t>
            </a:r>
            <a:r>
              <a:rPr lang="en-US" altLang="zh-CN" sz="4000" b="1" dirty="0">
                <a:latin typeface="Times New Roman" panose="02020603050405020304" pitchFamily="18" charset="0"/>
                <a:ea typeface="黑体" panose="02010609060101010101" pitchFamily="49" charset="-122"/>
              </a:rPr>
              <a:t>   d</a:t>
            </a:r>
            <a:r>
              <a:rPr lang="en-US" altLang="zh-CN" sz="4000" b="1" i="1" dirty="0">
                <a:latin typeface="Times New Roman" panose="02020603050405020304" pitchFamily="18" charset="0"/>
                <a:ea typeface="黑体" panose="02010609060101010101" pitchFamily="49" charset="-122"/>
              </a:rPr>
              <a:t>u</a:t>
            </a:r>
            <a:r>
              <a:rPr lang="zh-CN" altLang="en-US" sz="4000" b="1" dirty="0">
                <a:latin typeface="Times New Roman" panose="02020603050405020304" pitchFamily="18" charset="0"/>
                <a:ea typeface="黑体" panose="02010609060101010101" pitchFamily="49" charset="-122"/>
              </a:rPr>
              <a:t>、</a:t>
            </a:r>
            <a:r>
              <a:rPr lang="en-US" altLang="zh-CN" sz="4000" b="1" dirty="0">
                <a:latin typeface="Times New Roman" panose="02020603050405020304" pitchFamily="18" charset="0"/>
                <a:ea typeface="黑体" panose="02010609060101010101" pitchFamily="49" charset="-122"/>
              </a:rPr>
              <a:t>d</a:t>
            </a:r>
            <a:r>
              <a:rPr lang="en-US" altLang="zh-CN" sz="4000" b="1" i="1" dirty="0">
                <a:latin typeface="Times New Roman" panose="02020603050405020304" pitchFamily="18" charset="0"/>
                <a:ea typeface="黑体" panose="02010609060101010101" pitchFamily="49" charset="-122"/>
              </a:rPr>
              <a:t>h</a:t>
            </a:r>
            <a:r>
              <a:rPr lang="zh-CN" altLang="en-US" sz="4000" b="1" dirty="0">
                <a:latin typeface="Times New Roman" panose="02020603050405020304" pitchFamily="18" charset="0"/>
                <a:ea typeface="黑体" panose="02010609060101010101" pitchFamily="49" charset="-122"/>
              </a:rPr>
              <a:t>和</a:t>
            </a:r>
            <a:r>
              <a:rPr lang="en-US" altLang="zh-CN" sz="4000" b="1" dirty="0">
                <a:latin typeface="Times New Roman" panose="02020603050405020304" pitchFamily="18" charset="0"/>
                <a:ea typeface="黑体" panose="02010609060101010101" pitchFamily="49" charset="-122"/>
              </a:rPr>
              <a:t>d</a:t>
            </a:r>
            <a:r>
              <a:rPr lang="en-US" altLang="zh-CN" sz="4000" b="1" i="1" dirty="0">
                <a:latin typeface="Times New Roman" panose="02020603050405020304" pitchFamily="18" charset="0"/>
                <a:ea typeface="黑体" panose="02010609060101010101" pitchFamily="49" charset="-122"/>
              </a:rPr>
              <a:t>s</a:t>
            </a:r>
            <a:r>
              <a:rPr lang="zh-CN" altLang="en-US" sz="4000" b="1" dirty="0">
                <a:latin typeface="Times New Roman" panose="02020603050405020304" pitchFamily="18" charset="0"/>
                <a:ea typeface="黑体" panose="02010609060101010101" pitchFamily="49" charset="-122"/>
              </a:rPr>
              <a:t>的一般关系式</a:t>
            </a:r>
          </a:p>
        </p:txBody>
      </p:sp>
    </p:spTree>
    <p:extLst>
      <p:ext uri="{BB962C8B-B14F-4D97-AF65-F5344CB8AC3E}">
        <p14:creationId xmlns:p14="http://schemas.microsoft.com/office/powerpoint/2010/main" val="892683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90118"/>
          <p:cNvSpPr>
            <a:spLocks noChangeArrowheads="1"/>
          </p:cNvSpPr>
          <p:nvPr/>
        </p:nvSpPr>
        <p:spPr bwMode="auto">
          <a:xfrm>
            <a:off x="301625" y="401638"/>
            <a:ext cx="7821613"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zh-CN" altLang="en-US" sz="3200" b="1">
                <a:latin typeface="Times New Roman" panose="02020603050405020304" pitchFamily="18" charset="0"/>
                <a:ea typeface="黑体" panose="02010609060101010101" pitchFamily="49" charset="-122"/>
              </a:rPr>
              <a:t>一、</a:t>
            </a:r>
            <a:r>
              <a:rPr lang="en-US" altLang="zh-CN" sz="3200" b="1">
                <a:latin typeface="Times New Roman" panose="02020603050405020304" pitchFamily="18" charset="0"/>
                <a:ea typeface="黑体" panose="02010609060101010101" pitchFamily="49" charset="-122"/>
              </a:rPr>
              <a:t>d</a:t>
            </a:r>
            <a:r>
              <a:rPr lang="en-US" altLang="zh-CN" sz="3200" b="1" i="1">
                <a:latin typeface="Times New Roman" panose="02020603050405020304" pitchFamily="18" charset="0"/>
                <a:ea typeface="黑体" panose="02010609060101010101" pitchFamily="49" charset="-122"/>
              </a:rPr>
              <a:t>u</a:t>
            </a:r>
            <a:r>
              <a:rPr lang="zh-CN" altLang="en-US" sz="3200" b="1">
                <a:latin typeface="Times New Roman" panose="02020603050405020304" pitchFamily="18" charset="0"/>
                <a:ea typeface="黑体" panose="02010609060101010101" pitchFamily="49" charset="-122"/>
              </a:rPr>
              <a:t>的一般表达式</a:t>
            </a:r>
          </a:p>
        </p:txBody>
      </p:sp>
      <p:pic>
        <p:nvPicPr>
          <p:cNvPr id="3789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1282700"/>
            <a:ext cx="5130800"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文本框 3"/>
          <p:cNvSpPr txBox="1">
            <a:spLocks noChangeArrowheads="1"/>
          </p:cNvSpPr>
          <p:nvPr/>
        </p:nvSpPr>
        <p:spPr bwMode="auto">
          <a:xfrm>
            <a:off x="841375" y="2854325"/>
            <a:ext cx="7662863"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称为用易测量参数表示的d</a:t>
            </a:r>
            <a:r>
              <a:rPr lang="zh-CN" altLang="en-US" sz="2800" b="1" i="1">
                <a:latin typeface="Times New Roman" panose="02020603050405020304" pitchFamily="18" charset="0"/>
                <a:ea typeface="黑体" panose="02010609060101010101" pitchFamily="49" charset="-122"/>
              </a:rPr>
              <a:t>u</a:t>
            </a:r>
            <a:r>
              <a:rPr lang="zh-CN" altLang="en-US" sz="2800" b="1">
                <a:latin typeface="Times New Roman" panose="02020603050405020304" pitchFamily="18" charset="0"/>
                <a:ea typeface="黑体" panose="02010609060101010101" pitchFamily="49" charset="-122"/>
              </a:rPr>
              <a:t>的一般关系式，其中“一般”意味着该关系式不受物质的种类和所处相区的限制，只要是简单可压缩系统，该关系式均适用。</a:t>
            </a:r>
          </a:p>
        </p:txBody>
      </p:sp>
      <p:pic>
        <p:nvPicPr>
          <p:cNvPr id="37892" name="图片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6013" y="4868863"/>
            <a:ext cx="6296025"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836027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矩形 90118"/>
          <p:cNvSpPr>
            <a:spLocks noChangeArrowheads="1"/>
          </p:cNvSpPr>
          <p:nvPr/>
        </p:nvSpPr>
        <p:spPr bwMode="auto">
          <a:xfrm>
            <a:off x="301625" y="401638"/>
            <a:ext cx="7821613"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zh-CN" altLang="en-US" sz="3200" b="1">
                <a:latin typeface="Times New Roman" panose="02020603050405020304" pitchFamily="18" charset="0"/>
                <a:ea typeface="黑体" panose="02010609060101010101" pitchFamily="49" charset="-122"/>
              </a:rPr>
              <a:t>二、</a:t>
            </a:r>
            <a:r>
              <a:rPr lang="en-US" altLang="zh-CN" sz="3200" b="1">
                <a:latin typeface="Times New Roman" panose="02020603050405020304" pitchFamily="18" charset="0"/>
                <a:ea typeface="黑体" panose="02010609060101010101" pitchFamily="49" charset="-122"/>
              </a:rPr>
              <a:t>d</a:t>
            </a:r>
            <a:r>
              <a:rPr lang="en-US" altLang="zh-CN" sz="3200" b="1" i="1">
                <a:latin typeface="Times New Roman" panose="02020603050405020304" pitchFamily="18" charset="0"/>
                <a:ea typeface="黑体" panose="02010609060101010101" pitchFamily="49" charset="-122"/>
              </a:rPr>
              <a:t>h</a:t>
            </a:r>
            <a:r>
              <a:rPr lang="zh-CN" altLang="en-US" sz="3200" b="1">
                <a:latin typeface="Times New Roman" panose="02020603050405020304" pitchFamily="18" charset="0"/>
                <a:ea typeface="黑体" panose="02010609060101010101" pitchFamily="49" charset="-122"/>
              </a:rPr>
              <a:t>的一般表达式</a:t>
            </a:r>
          </a:p>
        </p:txBody>
      </p:sp>
      <p:sp>
        <p:nvSpPr>
          <p:cNvPr id="39938" name="文本框 3"/>
          <p:cNvSpPr txBox="1">
            <a:spLocks noChangeArrowheads="1"/>
          </p:cNvSpPr>
          <p:nvPr/>
        </p:nvSpPr>
        <p:spPr bwMode="auto">
          <a:xfrm>
            <a:off x="841375" y="2854325"/>
            <a:ext cx="766286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称为用易测量参数表示的d</a:t>
            </a:r>
            <a:r>
              <a:rPr lang="en-US" altLang="zh-CN" sz="2800" b="1" i="1">
                <a:latin typeface="Times New Roman" panose="02020603050405020304" pitchFamily="18" charset="0"/>
                <a:ea typeface="黑体" panose="02010609060101010101" pitchFamily="49" charset="-122"/>
              </a:rPr>
              <a:t>h</a:t>
            </a:r>
            <a:r>
              <a:rPr lang="zh-CN" altLang="en-US" sz="2800" b="1">
                <a:latin typeface="Times New Roman" panose="02020603050405020304" pitchFamily="18" charset="0"/>
                <a:ea typeface="黑体" panose="02010609060101010101" pitchFamily="49" charset="-122"/>
              </a:rPr>
              <a:t>的一般关系式</a:t>
            </a:r>
          </a:p>
        </p:txBody>
      </p:sp>
      <p:pic>
        <p:nvPicPr>
          <p:cNvPr id="39939"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7875" y="1266825"/>
            <a:ext cx="4673600"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638" y="3971925"/>
            <a:ext cx="6856412"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964514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90118"/>
          <p:cNvSpPr>
            <a:spLocks noChangeArrowheads="1"/>
          </p:cNvSpPr>
          <p:nvPr/>
        </p:nvSpPr>
        <p:spPr bwMode="auto">
          <a:xfrm>
            <a:off x="301625" y="401638"/>
            <a:ext cx="7821613"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zh-CN" altLang="en-US" sz="3200" b="1">
                <a:latin typeface="Times New Roman" panose="02020603050405020304" pitchFamily="18" charset="0"/>
                <a:ea typeface="黑体" panose="02010609060101010101" pitchFamily="49" charset="-122"/>
              </a:rPr>
              <a:t>三、</a:t>
            </a:r>
            <a:r>
              <a:rPr lang="en-US" altLang="zh-CN" sz="3200" b="1">
                <a:latin typeface="Times New Roman" panose="02020603050405020304" pitchFamily="18" charset="0"/>
                <a:ea typeface="黑体" panose="02010609060101010101" pitchFamily="49" charset="-122"/>
              </a:rPr>
              <a:t>d</a:t>
            </a:r>
            <a:r>
              <a:rPr lang="en-US" altLang="zh-CN" sz="3200" b="1" i="1">
                <a:latin typeface="Times New Roman" panose="02020603050405020304" pitchFamily="18" charset="0"/>
                <a:ea typeface="黑体" panose="02010609060101010101" pitchFamily="49" charset="-122"/>
              </a:rPr>
              <a:t>s</a:t>
            </a:r>
            <a:r>
              <a:rPr lang="zh-CN" altLang="en-US" sz="3200" b="1">
                <a:latin typeface="Times New Roman" panose="02020603050405020304" pitchFamily="18" charset="0"/>
                <a:ea typeface="黑体" panose="02010609060101010101" pitchFamily="49" charset="-122"/>
              </a:rPr>
              <a:t>的一般表达式（两个）</a:t>
            </a:r>
          </a:p>
        </p:txBody>
      </p:sp>
      <p:pic>
        <p:nvPicPr>
          <p:cNvPr id="41986"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2076450"/>
            <a:ext cx="4033838"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7" name="图片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2575" y="3597275"/>
            <a:ext cx="5570538"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矩形 6"/>
          <p:cNvSpPr>
            <a:spLocks noChangeArrowheads="1"/>
          </p:cNvSpPr>
          <p:nvPr/>
        </p:nvSpPr>
        <p:spPr bwMode="auto">
          <a:xfrm>
            <a:off x="673100" y="1211263"/>
            <a:ext cx="6219825"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3200" b="1">
                <a:latin typeface="Times New Roman" panose="02020603050405020304" pitchFamily="18" charset="0"/>
                <a:ea typeface="黑体" panose="02010609060101010101" pitchFamily="49" charset="-122"/>
              </a:rPr>
              <a:t>1. </a:t>
            </a:r>
            <a:r>
              <a:rPr lang="zh-CN" altLang="en-US" sz="3200" b="1">
                <a:latin typeface="Times New Roman" panose="02020603050405020304" pitchFamily="18" charset="0"/>
                <a:ea typeface="黑体" panose="02010609060101010101" pitchFamily="49" charset="-122"/>
              </a:rPr>
              <a:t>以</a:t>
            </a:r>
            <a:r>
              <a:rPr lang="en-US" altLang="zh-CN" sz="3200" b="1" i="1">
                <a:latin typeface="Times New Roman" panose="02020603050405020304" pitchFamily="18" charset="0"/>
                <a:ea typeface="黑体" panose="02010609060101010101" pitchFamily="49" charset="-122"/>
              </a:rPr>
              <a:t>T</a:t>
            </a:r>
            <a:r>
              <a:rPr lang="zh-CN" altLang="en-US" sz="3200" b="1">
                <a:latin typeface="Times New Roman" panose="02020603050405020304" pitchFamily="18" charset="0"/>
                <a:ea typeface="黑体" panose="02010609060101010101" pitchFamily="49" charset="-122"/>
              </a:rPr>
              <a:t>，</a:t>
            </a:r>
            <a:r>
              <a:rPr lang="en-US" altLang="zh-CN" sz="3200" b="1" i="1">
                <a:latin typeface="Times New Roman" panose="02020603050405020304" pitchFamily="18" charset="0"/>
                <a:ea typeface="黑体" panose="02010609060101010101" pitchFamily="49" charset="-122"/>
              </a:rPr>
              <a:t>v</a:t>
            </a:r>
            <a:r>
              <a:rPr lang="zh-CN" altLang="en-US" sz="3200" b="1">
                <a:latin typeface="Times New Roman" panose="02020603050405020304" pitchFamily="18" charset="0"/>
                <a:ea typeface="黑体" panose="02010609060101010101" pitchFamily="49" charset="-122"/>
              </a:rPr>
              <a:t>为独立变量</a:t>
            </a:r>
          </a:p>
        </p:txBody>
      </p:sp>
    </p:spTree>
    <p:extLst>
      <p:ext uri="{BB962C8B-B14F-4D97-AF65-F5344CB8AC3E}">
        <p14:creationId xmlns:p14="http://schemas.microsoft.com/office/powerpoint/2010/main" val="305704815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90118"/>
          <p:cNvSpPr>
            <a:spLocks noChangeArrowheads="1"/>
          </p:cNvSpPr>
          <p:nvPr/>
        </p:nvSpPr>
        <p:spPr bwMode="auto">
          <a:xfrm>
            <a:off x="301625" y="401638"/>
            <a:ext cx="7821613"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zh-CN" altLang="en-US" sz="3200" b="1">
                <a:latin typeface="Times New Roman" panose="02020603050405020304" pitchFamily="18" charset="0"/>
                <a:ea typeface="黑体" panose="02010609060101010101" pitchFamily="49" charset="-122"/>
              </a:rPr>
              <a:t>三、</a:t>
            </a:r>
            <a:r>
              <a:rPr lang="en-US" altLang="zh-CN" sz="3200" b="1">
                <a:latin typeface="Times New Roman" panose="02020603050405020304" pitchFamily="18" charset="0"/>
                <a:ea typeface="黑体" panose="02010609060101010101" pitchFamily="49" charset="-122"/>
              </a:rPr>
              <a:t>d</a:t>
            </a:r>
            <a:r>
              <a:rPr lang="en-US" altLang="zh-CN" sz="3200" b="1" i="1">
                <a:latin typeface="Times New Roman" panose="02020603050405020304" pitchFamily="18" charset="0"/>
                <a:ea typeface="黑体" panose="02010609060101010101" pitchFamily="49" charset="-122"/>
              </a:rPr>
              <a:t>s</a:t>
            </a:r>
            <a:r>
              <a:rPr lang="zh-CN" altLang="en-US" sz="3200" b="1">
                <a:latin typeface="Times New Roman" panose="02020603050405020304" pitchFamily="18" charset="0"/>
                <a:ea typeface="黑体" panose="02010609060101010101" pitchFamily="49" charset="-122"/>
              </a:rPr>
              <a:t>的一般表达式（两个）</a:t>
            </a:r>
          </a:p>
        </p:txBody>
      </p:sp>
      <p:sp>
        <p:nvSpPr>
          <p:cNvPr id="44034" name="矩形 6"/>
          <p:cNvSpPr>
            <a:spLocks noChangeArrowheads="1"/>
          </p:cNvSpPr>
          <p:nvPr/>
        </p:nvSpPr>
        <p:spPr bwMode="auto">
          <a:xfrm>
            <a:off x="673100" y="1211263"/>
            <a:ext cx="6103938"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20000"/>
              </a:spcBef>
            </a:pPr>
            <a:r>
              <a:rPr lang="en-US" altLang="zh-CN" sz="3200" b="1">
                <a:latin typeface="Times New Roman" panose="02020603050405020304" pitchFamily="18" charset="0"/>
                <a:ea typeface="黑体" panose="02010609060101010101" pitchFamily="49" charset="-122"/>
              </a:rPr>
              <a:t>2. </a:t>
            </a:r>
            <a:r>
              <a:rPr lang="zh-CN" altLang="en-US" sz="3200" b="1">
                <a:latin typeface="Times New Roman" panose="02020603050405020304" pitchFamily="18" charset="0"/>
                <a:ea typeface="黑体" panose="02010609060101010101" pitchFamily="49" charset="-122"/>
              </a:rPr>
              <a:t>以</a:t>
            </a:r>
            <a:r>
              <a:rPr lang="en-US" altLang="zh-CN" sz="3200" b="1" i="1">
                <a:latin typeface="Times New Roman" panose="02020603050405020304" pitchFamily="18" charset="0"/>
                <a:ea typeface="黑体" panose="02010609060101010101" pitchFamily="49" charset="-122"/>
              </a:rPr>
              <a:t>T</a:t>
            </a:r>
            <a:r>
              <a:rPr lang="zh-CN" altLang="en-US" sz="3200" b="1">
                <a:latin typeface="Times New Roman" panose="02020603050405020304" pitchFamily="18" charset="0"/>
                <a:ea typeface="黑体" panose="02010609060101010101" pitchFamily="49" charset="-122"/>
              </a:rPr>
              <a:t>，</a:t>
            </a:r>
            <a:r>
              <a:rPr lang="en-US" altLang="zh-CN" sz="3200" b="1" i="1">
                <a:latin typeface="Times New Roman" panose="02020603050405020304" pitchFamily="18" charset="0"/>
                <a:ea typeface="黑体" panose="02010609060101010101" pitchFamily="49" charset="-122"/>
              </a:rPr>
              <a:t>p</a:t>
            </a:r>
            <a:r>
              <a:rPr lang="zh-CN" altLang="en-US" sz="3200" b="1">
                <a:latin typeface="Times New Roman" panose="02020603050405020304" pitchFamily="18" charset="0"/>
                <a:ea typeface="黑体" panose="02010609060101010101" pitchFamily="49" charset="-122"/>
              </a:rPr>
              <a:t>为独立变量</a:t>
            </a:r>
          </a:p>
        </p:txBody>
      </p:sp>
      <p:pic>
        <p:nvPicPr>
          <p:cNvPr id="44035"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4600" y="2022475"/>
            <a:ext cx="362585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6" name="图片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58963" y="3432175"/>
            <a:ext cx="51308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文本框 5"/>
          <p:cNvSpPr txBox="1">
            <a:spLocks noChangeArrowheads="1"/>
          </p:cNvSpPr>
          <p:nvPr/>
        </p:nvSpPr>
        <p:spPr bwMode="auto">
          <a:xfrm>
            <a:off x="611188" y="4941888"/>
            <a:ext cx="77692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黑体" panose="02010609060101010101" pitchFamily="49" charset="-122"/>
                <a:ea typeface="黑体" panose="02010609060101010101" pitchFamily="49" charset="-122"/>
              </a:rPr>
              <a:t>这两个式子均可用来计算简单可压缩系统的熵变，具体选择还要看所掌握的实验数据用于哪个计算式的计算更为方便</a:t>
            </a:r>
          </a:p>
        </p:txBody>
      </p:sp>
    </p:spTree>
    <p:extLst>
      <p:ext uri="{BB962C8B-B14F-4D97-AF65-F5344CB8AC3E}">
        <p14:creationId xmlns:p14="http://schemas.microsoft.com/office/powerpoint/2010/main" val="330514040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87041"/>
          <p:cNvSpPr>
            <a:spLocks noGrp="1" noChangeArrowheads="1"/>
          </p:cNvSpPr>
          <p:nvPr/>
        </p:nvSpPr>
        <p:spPr bwMode="auto">
          <a:xfrm>
            <a:off x="179388" y="2133600"/>
            <a:ext cx="83740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buFontTx/>
              <a:buChar char="§"/>
            </a:pPr>
            <a:r>
              <a:rPr lang="en-US" altLang="zh-CN" sz="4000" b="1">
                <a:latin typeface="黑体" panose="02010609060101010101" pitchFamily="49" charset="-122"/>
                <a:ea typeface="黑体" panose="02010609060101010101" pitchFamily="49" charset="-122"/>
              </a:rPr>
              <a:t>16-5  </a:t>
            </a:r>
            <a:r>
              <a:rPr lang="zh-CN" altLang="en-US" sz="4000" b="1">
                <a:latin typeface="黑体" panose="02010609060101010101" pitchFamily="49" charset="-122"/>
                <a:ea typeface="黑体" panose="02010609060101010101" pitchFamily="49" charset="-122"/>
              </a:rPr>
              <a:t>比热容的一般关系式</a:t>
            </a:r>
          </a:p>
        </p:txBody>
      </p:sp>
    </p:spTree>
    <p:extLst>
      <p:ext uri="{BB962C8B-B14F-4D97-AF65-F5344CB8AC3E}">
        <p14:creationId xmlns:p14="http://schemas.microsoft.com/office/powerpoint/2010/main" val="4198335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1"/>
          <p:cNvSpPr txBox="1">
            <a:spLocks noChangeArrowheads="1"/>
          </p:cNvSpPr>
          <p:nvPr/>
        </p:nvSpPr>
        <p:spPr bwMode="auto">
          <a:xfrm>
            <a:off x="396875" y="954088"/>
            <a:ext cx="7980363"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buFont typeface="Arial" panose="020B0604020202020204" pitchFamily="34" charset="0"/>
              <a:buChar char="•"/>
            </a:pPr>
            <a:r>
              <a:rPr lang="zh-CN" altLang="en-US" sz="2800" b="1">
                <a:latin typeface="Times New Roman" panose="02020603050405020304" pitchFamily="18" charset="0"/>
                <a:ea typeface="黑体" panose="02010609060101010101" pitchFamily="49" charset="-122"/>
              </a:rPr>
              <a:t>上节中</a:t>
            </a:r>
            <a:r>
              <a:rPr lang="en-US" altLang="zh-CN" sz="2800" b="1" i="1">
                <a:latin typeface="Times New Roman" panose="02020603050405020304" pitchFamily="18" charset="0"/>
                <a:ea typeface="黑体" panose="02010609060101010101" pitchFamily="49" charset="-122"/>
              </a:rPr>
              <a:t>u</a:t>
            </a:r>
            <a:r>
              <a:rPr lang="zh-CN" altLang="en-US" sz="2800" b="1" i="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h</a:t>
            </a:r>
            <a:r>
              <a:rPr lang="zh-CN" altLang="en-US" sz="2800" b="1">
                <a:latin typeface="Times New Roman" panose="02020603050405020304" pitchFamily="18" charset="0"/>
                <a:ea typeface="黑体" panose="02010609060101010101" pitchFamily="49" charset="-122"/>
              </a:rPr>
              <a:t>和</a:t>
            </a:r>
            <a:r>
              <a:rPr lang="en-US" altLang="zh-CN" sz="2800" b="1" i="1">
                <a:latin typeface="Times New Roman" panose="02020603050405020304" pitchFamily="18" charset="0"/>
                <a:ea typeface="黑体" panose="02010609060101010101" pitchFamily="49" charset="-122"/>
              </a:rPr>
              <a:t>s</a:t>
            </a:r>
            <a:r>
              <a:rPr lang="zh-CN" altLang="en-US" sz="2800" b="1">
                <a:latin typeface="Times New Roman" panose="02020603050405020304" pitchFamily="18" charset="0"/>
                <a:ea typeface="黑体" panose="02010609060101010101" pitchFamily="49" charset="-122"/>
              </a:rPr>
              <a:t>的微分关系式中均含有</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或</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，为了得到这些微分式的积分值，需导出</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和</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的一般关系式</a:t>
            </a:r>
            <a:endParaRPr lang="en-US" altLang="zh-CN" sz="2800" b="1">
              <a:latin typeface="Times New Roman" panose="02020603050405020304" pitchFamily="18" charset="0"/>
              <a:ea typeface="黑体" panose="02010609060101010101" pitchFamily="49" charset="-122"/>
            </a:endParaRPr>
          </a:p>
          <a:p>
            <a:pPr eaLnBrk="1" hangingPunct="1">
              <a:buFont typeface="Arial" panose="020B0604020202020204" pitchFamily="34" charset="0"/>
              <a:buChar char="•"/>
            </a:pPr>
            <a:r>
              <a:rPr lang="zh-CN" altLang="en-US" sz="2800" b="1">
                <a:latin typeface="Times New Roman" panose="02020603050405020304" pitchFamily="18" charset="0"/>
                <a:ea typeface="黑体" panose="02010609060101010101" pitchFamily="49" charset="-122"/>
              </a:rPr>
              <a:t>且若能导出</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和</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之间的关系，则可由较易测量的</a:t>
            </a:r>
            <a:r>
              <a:rPr lang="en-US" altLang="zh-CN" sz="2800" b="1" i="1">
                <a:latin typeface="Times New Roman" panose="02020603050405020304" pitchFamily="18" charset="0"/>
                <a:ea typeface="黑体" panose="02010609060101010101" pitchFamily="49" charset="-122"/>
                <a:sym typeface="宋体" panose="02010600030101010101" pitchFamily="2" charset="-122"/>
              </a:rPr>
              <a:t>c</a:t>
            </a:r>
            <a:r>
              <a:rPr lang="en-US" altLang="zh-CN" sz="2800" b="1" i="1" baseline="-25000">
                <a:latin typeface="Times New Roman" panose="02020603050405020304" pitchFamily="18" charset="0"/>
                <a:ea typeface="黑体" panose="02010609060101010101" pitchFamily="49" charset="-122"/>
                <a:sym typeface="宋体" panose="02010600030101010101" pitchFamily="2" charset="-122"/>
              </a:rPr>
              <a:t>p</a:t>
            </a:r>
            <a:r>
              <a:rPr lang="zh-CN" altLang="en-US" sz="2800" b="1">
                <a:latin typeface="Times New Roman" panose="02020603050405020304" pitchFamily="18" charset="0"/>
                <a:ea typeface="黑体" panose="02010609060101010101" pitchFamily="49" charset="-122"/>
              </a:rPr>
              <a:t>的实验数据计算</a:t>
            </a:r>
            <a:r>
              <a:rPr lang="en-US" altLang="zh-CN" sz="2800" b="1" i="1">
                <a:latin typeface="Times New Roman" panose="02020603050405020304" pitchFamily="18" charset="0"/>
                <a:ea typeface="黑体" panose="02010609060101010101" pitchFamily="49" charset="-122"/>
                <a:sym typeface="宋体" panose="02010600030101010101" pitchFamily="2" charset="-122"/>
              </a:rPr>
              <a:t>c</a:t>
            </a:r>
            <a:r>
              <a:rPr lang="en-US" altLang="zh-CN" sz="2800" b="1" i="1" baseline="-25000">
                <a:latin typeface="Times New Roman" panose="02020603050405020304" pitchFamily="18" charset="0"/>
                <a:ea typeface="黑体" panose="02010609060101010101" pitchFamily="49" charset="-122"/>
                <a:sym typeface="宋体" panose="02010600030101010101" pitchFamily="2" charset="-122"/>
              </a:rPr>
              <a:t>V</a:t>
            </a:r>
            <a:r>
              <a:rPr lang="zh-CN" altLang="en-US" sz="2800" b="1">
                <a:latin typeface="Times New Roman" panose="02020603050405020304" pitchFamily="18" charset="0"/>
                <a:ea typeface="黑体" panose="02010609060101010101" pitchFamily="49" charset="-122"/>
              </a:rPr>
              <a:t>从而避开实验测量</a:t>
            </a:r>
            <a:r>
              <a:rPr lang="en-US" altLang="zh-CN" sz="2800" b="1" i="1">
                <a:latin typeface="Times New Roman" panose="02020603050405020304" pitchFamily="18" charset="0"/>
                <a:ea typeface="黑体" panose="02010609060101010101" pitchFamily="49" charset="-122"/>
                <a:sym typeface="宋体" panose="02010600030101010101" pitchFamily="2" charset="-122"/>
              </a:rPr>
              <a:t>c</a:t>
            </a:r>
            <a:r>
              <a:rPr lang="en-US" altLang="zh-CN" sz="2800" b="1" i="1" baseline="-25000">
                <a:latin typeface="Times New Roman" panose="02020603050405020304" pitchFamily="18" charset="0"/>
                <a:ea typeface="黑体" panose="02010609060101010101" pitchFamily="49" charset="-122"/>
                <a:sym typeface="宋体" panose="02010600030101010101" pitchFamily="2" charset="-122"/>
              </a:rPr>
              <a:t>V</a:t>
            </a:r>
            <a:r>
              <a:rPr lang="zh-CN" altLang="en-US" sz="2800" b="1">
                <a:latin typeface="Times New Roman" panose="02020603050405020304" pitchFamily="18" charset="0"/>
                <a:ea typeface="黑体" panose="02010609060101010101" pitchFamily="49" charset="-122"/>
              </a:rPr>
              <a:t>的困难</a:t>
            </a:r>
            <a:endParaRPr lang="en-US" altLang="zh-CN" sz="2800" b="1">
              <a:latin typeface="Times New Roman" panose="02020603050405020304" pitchFamily="18" charset="0"/>
              <a:ea typeface="黑体" panose="02010609060101010101" pitchFamily="49" charset="-122"/>
            </a:endParaRPr>
          </a:p>
          <a:p>
            <a:pPr eaLnBrk="1" hangingPunct="1">
              <a:buFont typeface="Arial" panose="020B0604020202020204" pitchFamily="34" charset="0"/>
              <a:buChar char="•"/>
            </a:pPr>
            <a:r>
              <a:rPr lang="zh-CN" altLang="en-US" sz="2800" b="1">
                <a:latin typeface="Times New Roman" panose="02020603050405020304" pitchFamily="18" charset="0"/>
                <a:ea typeface="黑体" panose="02010609060101010101" pitchFamily="49" charset="-122"/>
              </a:rPr>
              <a:t>此外，由实验数据构造</a:t>
            </a:r>
            <a:r>
              <a:rPr lang="en-US" altLang="zh-CN" sz="2800" b="1" i="1">
                <a:latin typeface="Times New Roman" panose="02020603050405020304" pitchFamily="18" charset="0"/>
                <a:ea typeface="黑体" panose="02010609060101010101" pitchFamily="49" charset="-122"/>
                <a:sym typeface="宋体" panose="02010600030101010101" pitchFamily="2" charset="-122"/>
              </a:rPr>
              <a:t>c</a:t>
            </a:r>
            <a:r>
              <a:rPr lang="en-US" altLang="zh-CN" sz="2800" b="1" i="1" baseline="-25000">
                <a:latin typeface="Times New Roman" panose="02020603050405020304" pitchFamily="18" charset="0"/>
                <a:ea typeface="黑体" panose="02010609060101010101" pitchFamily="49" charset="-122"/>
                <a:sym typeface="宋体" panose="02010600030101010101" pitchFamily="2" charset="-122"/>
              </a:rPr>
              <a:t>p</a:t>
            </a:r>
            <a:r>
              <a:rPr lang="zh-CN" altLang="en-US" sz="2800" b="1">
                <a:latin typeface="Times New Roman" panose="02020603050405020304" pitchFamily="18" charset="0"/>
                <a:ea typeface="黑体" panose="02010609060101010101" pitchFamily="49" charset="-122"/>
              </a:rPr>
              <a:t>的一般关系式还可以用来导出工质的状态方程</a:t>
            </a:r>
          </a:p>
        </p:txBody>
      </p:sp>
    </p:spTree>
    <p:extLst>
      <p:ext uri="{BB962C8B-B14F-4D97-AF65-F5344CB8AC3E}">
        <p14:creationId xmlns:p14="http://schemas.microsoft.com/office/powerpoint/2010/main" val="2794538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9" name="文本占位符 92162"/>
          <p:cNvSpPr>
            <a:spLocks noGrp="1" noChangeArrowheads="1"/>
          </p:cNvSpPr>
          <p:nvPr>
            <p:ph idx="1"/>
          </p:nvPr>
        </p:nvSpPr>
        <p:spPr>
          <a:xfrm>
            <a:off x="287338" y="588963"/>
            <a:ext cx="8229600" cy="792162"/>
          </a:xfrm>
        </p:spPr>
        <p:txBody>
          <a:bodyPr>
            <a:normAutofit/>
          </a:bodyPr>
          <a:lstStyle/>
          <a:p>
            <a:pPr eaLnBrk="1" hangingPunct="1">
              <a:buFontTx/>
              <a:buNone/>
            </a:pPr>
            <a:r>
              <a:rPr lang="zh-CN" altLang="en-US" sz="3200" b="1" dirty="0" smtClean="0">
                <a:latin typeface="黑体" panose="02010609060101010101" pitchFamily="49" charset="-122"/>
                <a:ea typeface="黑体" panose="02010609060101010101" pitchFamily="49" charset="-122"/>
              </a:rPr>
              <a:t>一、     和      与状态方程的关系</a:t>
            </a:r>
          </a:p>
        </p:txBody>
      </p:sp>
      <p:graphicFrame>
        <p:nvGraphicFramePr>
          <p:cNvPr id="48130" name="对象 92167"/>
          <p:cNvGraphicFramePr>
            <a:graphicFrameLocks/>
          </p:cNvGraphicFramePr>
          <p:nvPr/>
        </p:nvGraphicFramePr>
        <p:xfrm>
          <a:off x="485775" y="2082800"/>
          <a:ext cx="3006725" cy="985838"/>
        </p:xfrm>
        <a:graphic>
          <a:graphicData uri="http://schemas.openxmlformats.org/presentationml/2006/ole">
            <mc:AlternateContent xmlns:mc="http://schemas.openxmlformats.org/markup-compatibility/2006">
              <mc:Choice xmlns:v="urn:schemas-microsoft-com:vml" Requires="v">
                <p:oleObj spid="_x0000_s25610" r:id="rId3" imgW="1435100" imgH="469900" progId="Equation.DSMT4">
                  <p:embed/>
                </p:oleObj>
              </mc:Choice>
              <mc:Fallback>
                <p:oleObj r:id="rId3" imgW="1435100" imgH="469900" progId="Equation.DSMT4">
                  <p:embed/>
                  <p:pic>
                    <p:nvPicPr>
                      <p:cNvPr id="48130" name="对象 9216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 y="2082800"/>
                        <a:ext cx="300672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69" name="对象 92168"/>
          <p:cNvGraphicFramePr>
            <a:graphicFrameLocks/>
          </p:cNvGraphicFramePr>
          <p:nvPr/>
        </p:nvGraphicFramePr>
        <p:xfrm>
          <a:off x="5087938" y="2066925"/>
          <a:ext cx="3403600" cy="1023938"/>
        </p:xfrm>
        <a:graphic>
          <a:graphicData uri="http://schemas.openxmlformats.org/presentationml/2006/ole">
            <mc:AlternateContent xmlns:mc="http://schemas.openxmlformats.org/markup-compatibility/2006">
              <mc:Choice xmlns:v="urn:schemas-microsoft-com:vml" Requires="v">
                <p:oleObj spid="_x0000_s25611" r:id="rId5" imgW="1688760" imgH="507960" progId="Equation.DSMT4">
                  <p:embed/>
                </p:oleObj>
              </mc:Choice>
              <mc:Fallback>
                <p:oleObj r:id="rId5" imgW="1688760" imgH="507960" progId="Equation.DSMT4">
                  <p:embed/>
                  <p:pic>
                    <p:nvPicPr>
                      <p:cNvPr id="92169" name="对象 9216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7938" y="2066925"/>
                        <a:ext cx="34036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70" name="对象 92169"/>
          <p:cNvGraphicFramePr>
            <a:graphicFrameLocks/>
          </p:cNvGraphicFramePr>
          <p:nvPr/>
        </p:nvGraphicFramePr>
        <p:xfrm>
          <a:off x="5092700" y="3451225"/>
          <a:ext cx="3213100" cy="984250"/>
        </p:xfrm>
        <a:graphic>
          <a:graphicData uri="http://schemas.openxmlformats.org/presentationml/2006/ole">
            <mc:AlternateContent xmlns:mc="http://schemas.openxmlformats.org/markup-compatibility/2006">
              <mc:Choice xmlns:v="urn:schemas-microsoft-com:vml" Requires="v">
                <p:oleObj spid="_x0000_s25612" r:id="rId7" imgW="1574640" imgH="482400" progId="Equation.DSMT4">
                  <p:embed/>
                </p:oleObj>
              </mc:Choice>
              <mc:Fallback>
                <p:oleObj r:id="rId7" imgW="1574640" imgH="482400" progId="Equation.DSMT4">
                  <p:embed/>
                  <p:pic>
                    <p:nvPicPr>
                      <p:cNvPr id="92170" name="对象 9216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2700" y="3451225"/>
                        <a:ext cx="32131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8133" name="对象 92170"/>
          <p:cNvGraphicFramePr>
            <a:graphicFrameLocks/>
          </p:cNvGraphicFramePr>
          <p:nvPr/>
        </p:nvGraphicFramePr>
        <p:xfrm>
          <a:off x="485775" y="3475038"/>
          <a:ext cx="2973388" cy="938212"/>
        </p:xfrm>
        <a:graphic>
          <a:graphicData uri="http://schemas.openxmlformats.org/presentationml/2006/ole">
            <mc:AlternateContent xmlns:mc="http://schemas.openxmlformats.org/markup-compatibility/2006">
              <mc:Choice xmlns:v="urn:schemas-microsoft-com:vml" Requires="v">
                <p:oleObj spid="_x0000_s25613" r:id="rId9" imgW="1409088" imgH="444307" progId="Equation.DSMT4">
                  <p:embed/>
                </p:oleObj>
              </mc:Choice>
              <mc:Fallback>
                <p:oleObj r:id="rId9" imgW="1409088" imgH="444307" progId="Equation.DSMT4">
                  <p:embed/>
                  <p:pic>
                    <p:nvPicPr>
                      <p:cNvPr id="48133" name="对象 9217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775" y="3475038"/>
                        <a:ext cx="2973388"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72" name="直接连接符 92171"/>
          <p:cNvSpPr>
            <a:spLocks noChangeShapeType="1"/>
          </p:cNvSpPr>
          <p:nvPr/>
        </p:nvSpPr>
        <p:spPr bwMode="auto">
          <a:xfrm>
            <a:off x="3365500" y="3163888"/>
            <a:ext cx="1657350" cy="0"/>
          </a:xfrm>
          <a:prstGeom prst="line">
            <a:avLst/>
          </a:prstGeom>
          <a:noFill/>
          <a:ln w="38100">
            <a:solidFill>
              <a:srgbClr val="FF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3" name="文本框 92172"/>
          <p:cNvSpPr txBox="1">
            <a:spLocks noChangeArrowheads="1"/>
          </p:cNvSpPr>
          <p:nvPr/>
        </p:nvSpPr>
        <p:spPr bwMode="auto">
          <a:xfrm>
            <a:off x="3203575" y="2633663"/>
            <a:ext cx="208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dirty="0">
                <a:latin typeface="Times New Roman" panose="02020603050405020304" pitchFamily="18" charset="0"/>
                <a:ea typeface="楷体_GB2312" pitchFamily="49" charset="-122"/>
              </a:rPr>
              <a:t> </a:t>
            </a:r>
            <a:r>
              <a:rPr lang="zh-CN" altLang="en-US" sz="2400" b="1" dirty="0">
                <a:latin typeface="黑体" panose="02010609060101010101" pitchFamily="49" charset="-122"/>
                <a:ea typeface="黑体" panose="02010609060101010101" pitchFamily="49" charset="-122"/>
              </a:rPr>
              <a:t>全微分条件</a:t>
            </a:r>
          </a:p>
        </p:txBody>
      </p:sp>
      <p:pic>
        <p:nvPicPr>
          <p:cNvPr id="48136" name="图片 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39813" y="458788"/>
            <a:ext cx="9271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图片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13063" y="455613"/>
            <a:ext cx="9048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30183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92172"/>
                                        </p:tgtEl>
                                        <p:attrNameLst>
                                          <p:attrName>style.visibility</p:attrName>
                                        </p:attrNameLst>
                                      </p:cBhvr>
                                      <p:to>
                                        <p:strVal val="visible"/>
                                      </p:to>
                                    </p:set>
                                    <p:animEffect transition="in" filter="blinds(vertical)">
                                      <p:cBhvr>
                                        <p:cTn id="7" dur="500"/>
                                        <p:tgtEl>
                                          <p:spTgt spid="921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173"/>
                                        </p:tgtEl>
                                        <p:attrNameLst>
                                          <p:attrName>style.visibility</p:attrName>
                                        </p:attrNameLst>
                                      </p:cBhvr>
                                      <p:to>
                                        <p:strVal val="visible"/>
                                      </p:to>
                                    </p:set>
                                    <p:animEffect transition="in" filter="blinds(horizontal)">
                                      <p:cBhvr>
                                        <p:cTn id="12" dur="500"/>
                                        <p:tgtEl>
                                          <p:spTgt spid="921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2169"/>
                                        </p:tgtEl>
                                        <p:attrNameLst>
                                          <p:attrName>style.visibility</p:attrName>
                                        </p:attrNameLst>
                                      </p:cBhvr>
                                      <p:to>
                                        <p:strVal val="visible"/>
                                      </p:to>
                                    </p:set>
                                    <p:animEffect transition="in" filter="blinds(horizontal)">
                                      <p:cBhvr>
                                        <p:cTn id="17" dur="500"/>
                                        <p:tgtEl>
                                          <p:spTgt spid="921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2170"/>
                                        </p:tgtEl>
                                        <p:attrNameLst>
                                          <p:attrName>style.visibility</p:attrName>
                                        </p:attrNameLst>
                                      </p:cBhvr>
                                      <p:to>
                                        <p:strVal val="visible"/>
                                      </p:to>
                                    </p:set>
                                    <p:animEffect transition="in" filter="blinds(horizontal)">
                                      <p:cBhvr>
                                        <p:cTn id="22" dur="500"/>
                                        <p:tgtEl>
                                          <p:spTgt spid="92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p:cNvGraphicFramePr>
          <p:nvPr/>
        </p:nvGraphicFramePr>
        <p:xfrm>
          <a:off x="684213" y="673100"/>
          <a:ext cx="3403600" cy="1023938"/>
        </p:xfrm>
        <a:graphic>
          <a:graphicData uri="http://schemas.openxmlformats.org/presentationml/2006/ole">
            <mc:AlternateContent xmlns:mc="http://schemas.openxmlformats.org/markup-compatibility/2006">
              <mc:Choice xmlns:v="urn:schemas-microsoft-com:vml" Requires="v">
                <p:oleObj spid="_x0000_s26630" r:id="rId3" imgW="1688760" imgH="507960" progId="Equation.DSMT4">
                  <p:embed/>
                </p:oleObj>
              </mc:Choice>
              <mc:Fallback>
                <p:oleObj r:id="rId3" imgW="1688760" imgH="507960" progId="Equation.DSMT4">
                  <p:embed/>
                  <p:pic>
                    <p:nvPicPr>
                      <p:cNvPr id="4"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73100"/>
                        <a:ext cx="34036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p:cNvGraphicFramePr>
          <p:nvPr/>
        </p:nvGraphicFramePr>
        <p:xfrm>
          <a:off x="5076825" y="682625"/>
          <a:ext cx="3213100" cy="984250"/>
        </p:xfrm>
        <a:graphic>
          <a:graphicData uri="http://schemas.openxmlformats.org/presentationml/2006/ole">
            <mc:AlternateContent xmlns:mc="http://schemas.openxmlformats.org/markup-compatibility/2006">
              <mc:Choice xmlns:v="urn:schemas-microsoft-com:vml" Requires="v">
                <p:oleObj spid="_x0000_s26631" r:id="rId5" imgW="1574640" imgH="482400" progId="Equation.DSMT4">
                  <p:embed/>
                </p:oleObj>
              </mc:Choice>
              <mc:Fallback>
                <p:oleObj r:id="rId5" imgW="1574640" imgH="482400" progId="Equation.DSMT4">
                  <p:embed/>
                  <p:pic>
                    <p:nvPicPr>
                      <p:cNvPr id="5" name="对象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682625"/>
                        <a:ext cx="32131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文本框 6"/>
          <p:cNvSpPr txBox="1">
            <a:spLocks noChangeArrowheads="1"/>
          </p:cNvSpPr>
          <p:nvPr/>
        </p:nvSpPr>
        <p:spPr bwMode="auto">
          <a:xfrm>
            <a:off x="468313" y="3141663"/>
            <a:ext cx="83708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①</a:t>
            </a:r>
            <a:r>
              <a:rPr lang="zh-CN" altLang="zh-CN" sz="2800" b="1">
                <a:latin typeface="Times New Roman" panose="02020603050405020304" pitchFamily="18" charset="0"/>
                <a:ea typeface="黑体" panose="02010609060101010101" pitchFamily="49" charset="-122"/>
              </a:rPr>
              <a:t>对于已有的比热容函数</a:t>
            </a:r>
            <a:r>
              <a:rPr lang="zh-CN"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V</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T</a:t>
            </a:r>
            <a:r>
              <a:rPr lang="en-US"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v</a:t>
            </a:r>
            <a:r>
              <a:rPr lang="zh-CN" altLang="zh-CN" sz="2800" b="1">
                <a:latin typeface="Times New Roman" panose="02020603050405020304" pitchFamily="18" charset="0"/>
                <a:ea typeface="黑体" panose="02010609060101010101" pitchFamily="49" charset="-122"/>
              </a:rPr>
              <a:t>)或</a:t>
            </a:r>
            <a:r>
              <a:rPr lang="zh-CN" altLang="zh-CN" sz="2800" b="1" i="1">
                <a:latin typeface="Times New Roman" panose="02020603050405020304" pitchFamily="18" charset="0"/>
                <a:ea typeface="黑体" panose="02010609060101010101" pitchFamily="49" charset="-122"/>
              </a:rPr>
              <a:t>c</a:t>
            </a:r>
            <a:r>
              <a:rPr lang="zh-CN" altLang="zh-CN" sz="2800" b="1" i="1" baseline="-25000">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)以及状态方程，可以从</a:t>
            </a:r>
            <a:r>
              <a:rPr lang="zh-CN" altLang="en-US" sz="2800" b="1">
                <a:latin typeface="Times New Roman" panose="02020603050405020304" pitchFamily="18" charset="0"/>
                <a:ea typeface="黑体" panose="02010609060101010101" pitchFamily="49" charset="-122"/>
              </a:rPr>
              <a:t>它们</a:t>
            </a:r>
            <a:r>
              <a:rPr lang="zh-CN" altLang="zh-CN" sz="2800" b="1">
                <a:latin typeface="Times New Roman" panose="02020603050405020304" pitchFamily="18" charset="0"/>
                <a:ea typeface="黑体" panose="02010609060101010101" pitchFamily="49" charset="-122"/>
              </a:rPr>
              <a:t>与</a:t>
            </a:r>
            <a:r>
              <a:rPr lang="zh-CN" altLang="en-US" sz="2800" b="1">
                <a:latin typeface="Times New Roman" panose="02020603050405020304" pitchFamily="18" charset="0"/>
                <a:ea typeface="黑体" panose="02010609060101010101" pitchFamily="49" charset="-122"/>
              </a:rPr>
              <a:t>式</a:t>
            </a:r>
            <a:r>
              <a:rPr lang="en-US" altLang="zh-CN" sz="2800" b="1">
                <a:latin typeface="Times New Roman" panose="02020603050405020304" pitchFamily="18" charset="0"/>
                <a:ea typeface="黑体" panose="02010609060101010101" pitchFamily="49" charset="-122"/>
              </a:rPr>
              <a:t>A</a:t>
            </a:r>
            <a:r>
              <a:rPr lang="zh-CN" altLang="en-US" sz="2800" b="1">
                <a:latin typeface="Times New Roman" panose="02020603050405020304" pitchFamily="18" charset="0"/>
                <a:ea typeface="黑体" panose="02010609060101010101" pitchFamily="49" charset="-122"/>
              </a:rPr>
              <a:t>和</a:t>
            </a:r>
            <a:r>
              <a:rPr lang="en-US" altLang="zh-CN" sz="2800" b="1">
                <a:latin typeface="Times New Roman" panose="02020603050405020304" pitchFamily="18" charset="0"/>
                <a:ea typeface="黑体" panose="02010609060101010101" pitchFamily="49" charset="-122"/>
              </a:rPr>
              <a:t>B</a:t>
            </a:r>
            <a:r>
              <a:rPr lang="zh-CN" altLang="zh-CN" sz="2800" b="1">
                <a:latin typeface="Times New Roman" panose="02020603050405020304" pitchFamily="18" charset="0"/>
                <a:ea typeface="黑体" panose="02010609060101010101" pitchFamily="49" charset="-122"/>
              </a:rPr>
              <a:t>的吻合情况来判断它们的精确程度。</a:t>
            </a:r>
          </a:p>
        </p:txBody>
      </p:sp>
      <p:sp>
        <p:nvSpPr>
          <p:cNvPr id="49156" name="矩形 1"/>
          <p:cNvSpPr>
            <a:spLocks noChangeArrowheads="1"/>
          </p:cNvSpPr>
          <p:nvPr/>
        </p:nvSpPr>
        <p:spPr bwMode="auto">
          <a:xfrm>
            <a:off x="395288" y="2157413"/>
            <a:ext cx="3689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latin typeface="Times New Roman" panose="02020603050405020304" pitchFamily="18" charset="0"/>
                <a:ea typeface="黑体" panose="02010609060101010101" pitchFamily="49" charset="-122"/>
              </a:rPr>
              <a:t>A</a:t>
            </a:r>
            <a:r>
              <a:rPr lang="zh-CN" altLang="en-US" sz="2800" b="1">
                <a:latin typeface="Times New Roman" panose="02020603050405020304" pitchFamily="18" charset="0"/>
                <a:ea typeface="黑体" panose="02010609060101010101" pitchFamily="49" charset="-122"/>
              </a:rPr>
              <a:t>、</a:t>
            </a:r>
            <a:r>
              <a:rPr lang="en-US" altLang="zh-CN" sz="2800" b="1">
                <a:latin typeface="Times New Roman" panose="02020603050405020304" pitchFamily="18" charset="0"/>
                <a:ea typeface="黑体" panose="02010609060101010101" pitchFamily="49" charset="-122"/>
              </a:rPr>
              <a:t>B</a:t>
            </a:r>
            <a:r>
              <a:rPr lang="zh-CN" altLang="en-US" sz="2800" b="1">
                <a:latin typeface="黑体" panose="02010609060101010101" pitchFamily="49" charset="-122"/>
                <a:ea typeface="黑体" panose="02010609060101010101" pitchFamily="49" charset="-122"/>
              </a:rPr>
              <a:t>两式的主要用途</a:t>
            </a:r>
            <a:endParaRPr lang="zh-CN" altLang="en-US" sz="28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288506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p:cNvGraphicFramePr>
          <p:nvPr/>
        </p:nvGraphicFramePr>
        <p:xfrm>
          <a:off x="684213" y="673100"/>
          <a:ext cx="3403600" cy="1023938"/>
        </p:xfrm>
        <a:graphic>
          <a:graphicData uri="http://schemas.openxmlformats.org/presentationml/2006/ole">
            <mc:AlternateContent xmlns:mc="http://schemas.openxmlformats.org/markup-compatibility/2006">
              <mc:Choice xmlns:v="urn:schemas-microsoft-com:vml" Requires="v">
                <p:oleObj spid="_x0000_s27654" r:id="rId3" imgW="1688760" imgH="507960" progId="Equation.DSMT4">
                  <p:embed/>
                </p:oleObj>
              </mc:Choice>
              <mc:Fallback>
                <p:oleObj r:id="rId3" imgW="1688760" imgH="507960" progId="Equation.DSMT4">
                  <p:embed/>
                  <p:pic>
                    <p:nvPicPr>
                      <p:cNvPr id="4"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73100"/>
                        <a:ext cx="34036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p:cNvGraphicFramePr>
          <p:nvPr/>
        </p:nvGraphicFramePr>
        <p:xfrm>
          <a:off x="5076825" y="682625"/>
          <a:ext cx="3213100" cy="984250"/>
        </p:xfrm>
        <a:graphic>
          <a:graphicData uri="http://schemas.openxmlformats.org/presentationml/2006/ole">
            <mc:AlternateContent xmlns:mc="http://schemas.openxmlformats.org/markup-compatibility/2006">
              <mc:Choice xmlns:v="urn:schemas-microsoft-com:vml" Requires="v">
                <p:oleObj spid="_x0000_s27655" r:id="rId5" imgW="1574640" imgH="482400" progId="Equation.DSMT4">
                  <p:embed/>
                </p:oleObj>
              </mc:Choice>
              <mc:Fallback>
                <p:oleObj r:id="rId5" imgW="1574640" imgH="482400" progId="Equation.DSMT4">
                  <p:embed/>
                  <p:pic>
                    <p:nvPicPr>
                      <p:cNvPr id="5" name="对象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682625"/>
                        <a:ext cx="32131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79" name="矩形 1"/>
          <p:cNvSpPr>
            <a:spLocks noChangeArrowheads="1"/>
          </p:cNvSpPr>
          <p:nvPr/>
        </p:nvSpPr>
        <p:spPr bwMode="auto">
          <a:xfrm>
            <a:off x="395288" y="2157413"/>
            <a:ext cx="4651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latin typeface="Times New Roman" panose="02020603050405020304" pitchFamily="18" charset="0"/>
                <a:ea typeface="黑体" panose="02010609060101010101" pitchFamily="49" charset="-122"/>
              </a:rPr>
              <a:t>A</a:t>
            </a:r>
            <a:r>
              <a:rPr lang="zh-CN" altLang="en-US" sz="2800" b="1">
                <a:latin typeface="Times New Roman" panose="02020603050405020304" pitchFamily="18" charset="0"/>
                <a:ea typeface="黑体" panose="02010609060101010101" pitchFamily="49" charset="-122"/>
              </a:rPr>
              <a:t>、</a:t>
            </a:r>
            <a:r>
              <a:rPr lang="en-US" altLang="zh-CN" sz="2800" b="1">
                <a:latin typeface="Times New Roman" panose="02020603050405020304" pitchFamily="18" charset="0"/>
                <a:ea typeface="黑体" panose="02010609060101010101" pitchFamily="49" charset="-122"/>
              </a:rPr>
              <a:t>B</a:t>
            </a:r>
            <a:r>
              <a:rPr lang="zh-CN" altLang="en-US" sz="2800" b="1">
                <a:latin typeface="黑体" panose="02010609060101010101" pitchFamily="49" charset="-122"/>
                <a:ea typeface="黑体" panose="02010609060101010101" pitchFamily="49" charset="-122"/>
              </a:rPr>
              <a:t>两式的主要用途（续）</a:t>
            </a:r>
            <a:endParaRPr lang="zh-CN" altLang="en-US" sz="2800">
              <a:latin typeface="黑体" panose="02010609060101010101" pitchFamily="49" charset="-122"/>
              <a:ea typeface="黑体" panose="02010609060101010101" pitchFamily="49" charset="-122"/>
            </a:endParaRPr>
          </a:p>
        </p:txBody>
      </p:sp>
      <p:sp>
        <p:nvSpPr>
          <p:cNvPr id="6" name="文本框 5"/>
          <p:cNvSpPr txBox="1">
            <a:spLocks noChangeArrowheads="1"/>
          </p:cNvSpPr>
          <p:nvPr/>
        </p:nvSpPr>
        <p:spPr bwMode="auto">
          <a:xfrm>
            <a:off x="395288" y="3068638"/>
            <a:ext cx="837088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②</a:t>
            </a:r>
            <a:r>
              <a:rPr lang="zh-CN" altLang="zh-CN" sz="2800" b="1">
                <a:latin typeface="Times New Roman" panose="02020603050405020304" pitchFamily="18" charset="0"/>
                <a:ea typeface="黑体" panose="02010609060101010101" pitchFamily="49" charset="-122"/>
              </a:rPr>
              <a:t>如果有较准确的状态方程（要保证</a:t>
            </a:r>
            <a:r>
              <a:rPr lang="zh-CN" altLang="zh-CN" sz="2800" b="1" i="1">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和</a:t>
            </a:r>
            <a:r>
              <a:rPr lang="zh-CN" altLang="zh-CN" sz="2800" b="1" i="1">
                <a:latin typeface="Times New Roman" panose="02020603050405020304" pitchFamily="18" charset="0"/>
                <a:ea typeface="黑体" panose="02010609060101010101" pitchFamily="49" charset="-122"/>
              </a:rPr>
              <a:t>v</a:t>
            </a:r>
            <a:r>
              <a:rPr lang="zh-CN" altLang="zh-CN" sz="2800" b="1">
                <a:latin typeface="Times New Roman" panose="02020603050405020304" pitchFamily="18" charset="0"/>
                <a:ea typeface="黑体" panose="02010609060101010101" pitchFamily="49" charset="-122"/>
              </a:rPr>
              <a:t>对</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的二阶偏导数的合理性）和某一压力</a:t>
            </a:r>
            <a:r>
              <a:rPr lang="zh-CN" altLang="zh-CN" sz="2800" b="1" i="1">
                <a:latin typeface="Times New Roman" panose="02020603050405020304" pitchFamily="18" charset="0"/>
                <a:ea typeface="黑体" panose="02010609060101010101" pitchFamily="49" charset="-122"/>
              </a:rPr>
              <a:t>p</a:t>
            </a:r>
            <a:r>
              <a:rPr lang="zh-CN" altLang="zh-CN" sz="2800" b="1" baseline="-25000">
                <a:latin typeface="Times New Roman" panose="02020603050405020304" pitchFamily="18" charset="0"/>
                <a:ea typeface="黑体" panose="02010609060101010101" pitchFamily="49" charset="-122"/>
              </a:rPr>
              <a:t>0</a:t>
            </a:r>
            <a:r>
              <a:rPr lang="zh-CN" altLang="zh-CN" sz="2800" b="1">
                <a:latin typeface="Times New Roman" panose="02020603050405020304" pitchFamily="18" charset="0"/>
                <a:ea typeface="黑体" panose="02010609060101010101" pitchFamily="49" charset="-122"/>
              </a:rPr>
              <a:t>下测得的比定压热容数据</a:t>
            </a:r>
            <a:r>
              <a:rPr lang="zh-CN" altLang="zh-CN" sz="2800" b="1" i="1">
                <a:latin typeface="Times New Roman" panose="02020603050405020304" pitchFamily="18" charset="0"/>
                <a:ea typeface="黑体" panose="02010609060101010101" pitchFamily="49" charset="-122"/>
              </a:rPr>
              <a:t>c</a:t>
            </a:r>
            <a:r>
              <a:rPr lang="zh-CN" altLang="zh-CN" sz="2800" b="1" i="1" baseline="-25000">
                <a:latin typeface="Times New Roman" panose="02020603050405020304" pitchFamily="18" charset="0"/>
                <a:ea typeface="黑体" panose="02010609060101010101" pitchFamily="49" charset="-122"/>
              </a:rPr>
              <a:t>p</a:t>
            </a:r>
            <a:r>
              <a:rPr lang="zh-CN" altLang="zh-CN" sz="2800" b="1" baseline="-25000">
                <a:latin typeface="Times New Roman" panose="02020603050405020304" pitchFamily="18" charset="0"/>
                <a:ea typeface="黑体" panose="02010609060101010101" pitchFamily="49" charset="-122"/>
              </a:rPr>
              <a:t>0</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)，就可以对式A积分，得出</a:t>
            </a:r>
            <a:r>
              <a:rPr lang="zh-CN" altLang="zh-CN" sz="2800" b="1" i="1">
                <a:latin typeface="Times New Roman" panose="02020603050405020304" pitchFamily="18" charset="0"/>
                <a:ea typeface="黑体" panose="02010609060101010101" pitchFamily="49" charset="-122"/>
              </a:rPr>
              <a:t>c</a:t>
            </a:r>
            <a:r>
              <a:rPr lang="zh-CN" altLang="zh-CN" sz="2800" b="1" i="1" baseline="-25000">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与</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的完整函数关系式</a:t>
            </a:r>
            <a:r>
              <a:rPr lang="zh-CN" altLang="zh-CN" sz="2800" b="1" i="1">
                <a:latin typeface="Times New Roman" panose="02020603050405020304" pitchFamily="18" charset="0"/>
                <a:ea typeface="黑体" panose="02010609060101010101" pitchFamily="49" charset="-122"/>
              </a:rPr>
              <a:t>c</a:t>
            </a:r>
            <a:r>
              <a:rPr lang="zh-CN" altLang="zh-CN" sz="2800" b="1" i="1" baseline="-25000">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)，即</a:t>
            </a:r>
          </a:p>
        </p:txBody>
      </p:sp>
      <p:pic>
        <p:nvPicPr>
          <p:cNvPr id="50181" name="图片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79613" y="5157788"/>
            <a:ext cx="45339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9923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p:cNvGraphicFramePr>
          <p:nvPr/>
        </p:nvGraphicFramePr>
        <p:xfrm>
          <a:off x="684213" y="673100"/>
          <a:ext cx="3403600" cy="1023938"/>
        </p:xfrm>
        <a:graphic>
          <a:graphicData uri="http://schemas.openxmlformats.org/presentationml/2006/ole">
            <mc:AlternateContent xmlns:mc="http://schemas.openxmlformats.org/markup-compatibility/2006">
              <mc:Choice xmlns:v="urn:schemas-microsoft-com:vml" Requires="v">
                <p:oleObj spid="_x0000_s28678" r:id="rId3" imgW="1688760" imgH="507960" progId="Equation.DSMT4">
                  <p:embed/>
                </p:oleObj>
              </mc:Choice>
              <mc:Fallback>
                <p:oleObj r:id="rId3" imgW="1688760" imgH="507960" progId="Equation.DSMT4">
                  <p:embed/>
                  <p:pic>
                    <p:nvPicPr>
                      <p:cNvPr id="4" name="对象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73100"/>
                        <a:ext cx="34036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p:cNvGraphicFramePr>
          <p:nvPr/>
        </p:nvGraphicFramePr>
        <p:xfrm>
          <a:off x="5076825" y="682625"/>
          <a:ext cx="3213100" cy="984250"/>
        </p:xfrm>
        <a:graphic>
          <a:graphicData uri="http://schemas.openxmlformats.org/presentationml/2006/ole">
            <mc:AlternateContent xmlns:mc="http://schemas.openxmlformats.org/markup-compatibility/2006">
              <mc:Choice xmlns:v="urn:schemas-microsoft-com:vml" Requires="v">
                <p:oleObj spid="_x0000_s28679" r:id="rId5" imgW="1574640" imgH="482400" progId="Equation.DSMT4">
                  <p:embed/>
                </p:oleObj>
              </mc:Choice>
              <mc:Fallback>
                <p:oleObj r:id="rId5" imgW="1574640" imgH="482400" progId="Equation.DSMT4">
                  <p:embed/>
                  <p:pic>
                    <p:nvPicPr>
                      <p:cNvPr id="5" name="对象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682625"/>
                        <a:ext cx="32131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3" name="矩形 1"/>
          <p:cNvSpPr>
            <a:spLocks noChangeArrowheads="1"/>
          </p:cNvSpPr>
          <p:nvPr/>
        </p:nvSpPr>
        <p:spPr bwMode="auto">
          <a:xfrm>
            <a:off x="395288" y="2157413"/>
            <a:ext cx="4651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latin typeface="Times New Roman" panose="02020603050405020304" pitchFamily="18" charset="0"/>
                <a:ea typeface="黑体" panose="02010609060101010101" pitchFamily="49" charset="-122"/>
              </a:rPr>
              <a:t>A</a:t>
            </a:r>
            <a:r>
              <a:rPr lang="zh-CN" altLang="en-US" sz="2800" b="1">
                <a:latin typeface="Times New Roman" panose="02020603050405020304" pitchFamily="18" charset="0"/>
                <a:ea typeface="黑体" panose="02010609060101010101" pitchFamily="49" charset="-122"/>
              </a:rPr>
              <a:t>、</a:t>
            </a:r>
            <a:r>
              <a:rPr lang="en-US" altLang="zh-CN" sz="2800" b="1">
                <a:latin typeface="Times New Roman" panose="02020603050405020304" pitchFamily="18" charset="0"/>
                <a:ea typeface="黑体" panose="02010609060101010101" pitchFamily="49" charset="-122"/>
              </a:rPr>
              <a:t>B</a:t>
            </a:r>
            <a:r>
              <a:rPr lang="zh-CN" altLang="en-US" sz="2800" b="1">
                <a:latin typeface="黑体" panose="02010609060101010101" pitchFamily="49" charset="-122"/>
                <a:ea typeface="黑体" panose="02010609060101010101" pitchFamily="49" charset="-122"/>
              </a:rPr>
              <a:t>两式的主要用途（续）</a:t>
            </a:r>
            <a:endParaRPr lang="zh-CN" altLang="en-US" sz="2800">
              <a:latin typeface="黑体" panose="02010609060101010101" pitchFamily="49" charset="-122"/>
              <a:ea typeface="黑体" panose="02010609060101010101" pitchFamily="49" charset="-122"/>
            </a:endParaRPr>
          </a:p>
        </p:txBody>
      </p:sp>
      <p:sp>
        <p:nvSpPr>
          <p:cNvPr id="7" name="文本框 6"/>
          <p:cNvSpPr txBox="1">
            <a:spLocks noChangeArrowheads="1"/>
          </p:cNvSpPr>
          <p:nvPr/>
        </p:nvSpPr>
        <p:spPr bwMode="auto">
          <a:xfrm>
            <a:off x="395288" y="3070892"/>
            <a:ext cx="83724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黑体" panose="02010609060101010101" pitchFamily="49" charset="-122"/>
                <a:ea typeface="黑体" panose="02010609060101010101" pitchFamily="49" charset="-122"/>
              </a:rPr>
              <a:t>③</a:t>
            </a:r>
            <a:r>
              <a:rPr lang="zh-CN" altLang="zh-CN" sz="2800" b="1">
                <a:latin typeface="黑体" panose="02010609060101010101" pitchFamily="49" charset="-122"/>
                <a:ea typeface="黑体" panose="02010609060101010101" pitchFamily="49" charset="-122"/>
              </a:rPr>
              <a:t>在相反的情况下，</a:t>
            </a:r>
            <a:r>
              <a:rPr lang="zh-CN" altLang="zh-CN" sz="2800" b="1">
                <a:latin typeface="Times New Roman" panose="02020603050405020304" pitchFamily="18" charset="0"/>
                <a:ea typeface="黑体" panose="02010609060101010101" pitchFamily="49" charset="-122"/>
              </a:rPr>
              <a:t>若已有精确测定的</a:t>
            </a:r>
            <a:r>
              <a:rPr lang="zh-CN" altLang="zh-CN" sz="2800" b="1" i="1">
                <a:latin typeface="Times New Roman" panose="02020603050405020304" pitchFamily="18" charset="0"/>
                <a:ea typeface="黑体" panose="02010609060101010101" pitchFamily="49" charset="-122"/>
              </a:rPr>
              <a:t>c</a:t>
            </a:r>
            <a:r>
              <a:rPr lang="zh-CN" altLang="zh-CN" sz="2800" b="1" i="1" baseline="-25000">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)数据，则可依据式A，先求得</a:t>
            </a:r>
            <a:r>
              <a:rPr lang="zh-CN" altLang="zh-CN" sz="2800" b="1" i="1">
                <a:latin typeface="Times New Roman" panose="02020603050405020304" pitchFamily="18" charset="0"/>
                <a:ea typeface="黑体" panose="02010609060101010101" pitchFamily="49" charset="-122"/>
              </a:rPr>
              <a:t>c</a:t>
            </a:r>
            <a:r>
              <a:rPr lang="zh-CN" altLang="zh-CN" sz="2800" b="1" i="1" baseline="-25000">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对压力的一阶偏导数             ，然后对</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进行二重积分，并结合少量</a:t>
            </a:r>
            <a:r>
              <a:rPr lang="zh-CN" altLang="zh-CN" sz="2800" b="1" i="1">
                <a:latin typeface="Times New Roman" panose="02020603050405020304" pitchFamily="18" charset="0"/>
                <a:ea typeface="黑体" panose="02010609060101010101" pitchFamily="49" charset="-122"/>
              </a:rPr>
              <a:t>p</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v</a:t>
            </a:r>
            <a:r>
              <a:rPr lang="zh-CN" altLang="zh-CN" sz="2800" b="1">
                <a:latin typeface="Times New Roman" panose="02020603050405020304" pitchFamily="18" charset="0"/>
                <a:ea typeface="黑体" panose="02010609060101010101" pitchFamily="49" charset="-122"/>
              </a:rPr>
              <a:t>、</a:t>
            </a:r>
            <a:r>
              <a:rPr lang="zh-CN" altLang="zh-CN" sz="2800" b="1" i="1">
                <a:latin typeface="Times New Roman" panose="02020603050405020304" pitchFamily="18" charset="0"/>
                <a:ea typeface="黑体" panose="02010609060101010101" pitchFamily="49" charset="-122"/>
              </a:rPr>
              <a:t>T</a:t>
            </a:r>
            <a:r>
              <a:rPr lang="zh-CN" altLang="zh-CN" sz="2800" b="1">
                <a:latin typeface="Times New Roman" panose="02020603050405020304" pitchFamily="18" charset="0"/>
                <a:ea typeface="黑体" panose="02010609060101010101" pitchFamily="49" charset="-122"/>
              </a:rPr>
              <a:t>实验数据而得到状态方程。这是由实验得出状态方程的途径之一。</a:t>
            </a:r>
          </a:p>
        </p:txBody>
      </p:sp>
      <p:pic>
        <p:nvPicPr>
          <p:cNvPr id="51205" name="图片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53313" y="3574129"/>
            <a:ext cx="1016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7675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93188" name="对象 93187"/>
          <p:cNvGraphicFramePr>
            <a:graphicFrameLocks/>
          </p:cNvGraphicFramePr>
          <p:nvPr/>
        </p:nvGraphicFramePr>
        <p:xfrm>
          <a:off x="2130425" y="2944813"/>
          <a:ext cx="3962400" cy="1187450"/>
        </p:xfrm>
        <a:graphic>
          <a:graphicData uri="http://schemas.openxmlformats.org/presentationml/2006/ole">
            <mc:AlternateContent xmlns:mc="http://schemas.openxmlformats.org/markup-compatibility/2006">
              <mc:Choice xmlns:v="urn:schemas-microsoft-com:vml" Requires="v">
                <p:oleObj spid="_x0000_s29702" r:id="rId3" imgW="1650960" imgH="495000" progId="Equation.DSMT4">
                  <p:embed/>
                </p:oleObj>
              </mc:Choice>
              <mc:Fallback>
                <p:oleObj r:id="rId3" imgW="1650960" imgH="495000" progId="Equation.DSMT4">
                  <p:embed/>
                  <p:pic>
                    <p:nvPicPr>
                      <p:cNvPr id="93188" name="对象 931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0425" y="2944813"/>
                        <a:ext cx="3962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90" name="文本框 93189"/>
          <p:cNvSpPr txBox="1">
            <a:spLocks noChangeArrowheads="1"/>
          </p:cNvSpPr>
          <p:nvPr/>
        </p:nvSpPr>
        <p:spPr bwMode="auto">
          <a:xfrm>
            <a:off x="555625" y="4756150"/>
            <a:ext cx="8316913"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p</a:t>
            </a:r>
            <a:r>
              <a:rPr lang="en-US" altLang="zh-CN"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c</a:t>
            </a:r>
            <a:r>
              <a:rPr lang="en-US" altLang="zh-CN" sz="2800" b="1" i="1" baseline="-25000">
                <a:latin typeface="Times New Roman" panose="02020603050405020304" pitchFamily="18" charset="0"/>
                <a:ea typeface="黑体" panose="02010609060101010101" pitchFamily="49" charset="-122"/>
              </a:rPr>
              <a:t>V</a:t>
            </a:r>
            <a:r>
              <a:rPr lang="zh-CN" altLang="zh-CN" sz="2800" b="1">
                <a:latin typeface="Times New Roman" panose="02020603050405020304" pitchFamily="18" charset="0"/>
                <a:ea typeface="黑体" panose="02010609060101010101" pitchFamily="49" charset="-122"/>
              </a:rPr>
              <a:t>的值完全取决于物质的状态方程，可根据状态方程或热系数求得</a:t>
            </a:r>
          </a:p>
        </p:txBody>
      </p:sp>
      <p:graphicFrame>
        <p:nvGraphicFramePr>
          <p:cNvPr id="93194" name="对象 93193"/>
          <p:cNvGraphicFramePr>
            <a:graphicFrameLocks/>
          </p:cNvGraphicFramePr>
          <p:nvPr/>
        </p:nvGraphicFramePr>
        <p:xfrm>
          <a:off x="2036763" y="1535113"/>
          <a:ext cx="3729037" cy="1090612"/>
        </p:xfrm>
        <a:graphic>
          <a:graphicData uri="http://schemas.openxmlformats.org/presentationml/2006/ole">
            <mc:AlternateContent xmlns:mc="http://schemas.openxmlformats.org/markup-compatibility/2006">
              <mc:Choice xmlns:v="urn:schemas-microsoft-com:vml" Requires="v">
                <p:oleObj spid="_x0000_s29703" r:id="rId5" imgW="1562100" imgH="457200" progId="Equation.DSMT4">
                  <p:embed/>
                </p:oleObj>
              </mc:Choice>
              <mc:Fallback>
                <p:oleObj r:id="rId5" imgW="1562100" imgH="457200" progId="Equation.DSMT4">
                  <p:embed/>
                  <p:pic>
                    <p:nvPicPr>
                      <p:cNvPr id="93194" name="对象 9319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6763" y="1535113"/>
                        <a:ext cx="3729037"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28" name="文本占位符 92162"/>
          <p:cNvSpPr>
            <a:spLocks noGrp="1" noChangeArrowheads="1"/>
          </p:cNvSpPr>
          <p:nvPr>
            <p:ph idx="1"/>
          </p:nvPr>
        </p:nvSpPr>
        <p:spPr>
          <a:xfrm>
            <a:off x="287338" y="588963"/>
            <a:ext cx="8229600" cy="792162"/>
          </a:xfrm>
        </p:spPr>
        <p:txBody>
          <a:bodyPr>
            <a:normAutofit/>
          </a:bodyPr>
          <a:lstStyle/>
          <a:p>
            <a:pPr eaLnBrk="1" hangingPunct="1">
              <a:buFontTx/>
              <a:buNone/>
            </a:pPr>
            <a:r>
              <a:rPr lang="zh-CN" altLang="en-US" sz="3200" b="1" dirty="0" smtClean="0">
                <a:latin typeface="黑体" panose="02010609060101010101" pitchFamily="49" charset="-122"/>
                <a:ea typeface="黑体" panose="02010609060101010101" pitchFamily="49" charset="-122"/>
              </a:rPr>
              <a:t>二、比热容差      与状态方程的关系</a:t>
            </a:r>
          </a:p>
        </p:txBody>
      </p:sp>
      <p:pic>
        <p:nvPicPr>
          <p:cNvPr id="52229" name="图片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43213" y="630238"/>
            <a:ext cx="113823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47923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blinds(horizontal)">
                                      <p:cBhvr>
                                        <p:cTn id="7" dur="500"/>
                                        <p:tgtEl>
                                          <p:spTgt spid="931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93194"/>
                                        </p:tgtEl>
                                        <p:attrNameLst>
                                          <p:attrName>style.visibility</p:attrName>
                                        </p:attrNameLst>
                                      </p:cBhvr>
                                      <p:to>
                                        <p:strVal val="visible"/>
                                      </p:to>
                                    </p:set>
                                    <p:animEffect transition="in" filter="box(out)">
                                      <p:cBhvr>
                                        <p:cTn id="12" dur="500"/>
                                        <p:tgtEl>
                                          <p:spTgt spid="931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blinds(horizontal)">
                                      <p:cBhvr>
                                        <p:cTn id="17" dur="5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49" name="对象 114691"/>
          <p:cNvGraphicFramePr>
            <a:graphicFrameLocks/>
          </p:cNvGraphicFramePr>
          <p:nvPr/>
        </p:nvGraphicFramePr>
        <p:xfrm>
          <a:off x="2833688" y="1311275"/>
          <a:ext cx="3302000" cy="990600"/>
        </p:xfrm>
        <a:graphic>
          <a:graphicData uri="http://schemas.openxmlformats.org/presentationml/2006/ole">
            <mc:AlternateContent xmlns:mc="http://schemas.openxmlformats.org/markup-compatibility/2006">
              <mc:Choice xmlns:v="urn:schemas-microsoft-com:vml" Requires="v">
                <p:oleObj spid="_x0000_s30732" r:id="rId3" imgW="1650960" imgH="495000" progId="Equation.DSMT4">
                  <p:embed/>
                </p:oleObj>
              </mc:Choice>
              <mc:Fallback>
                <p:oleObj r:id="rId3" imgW="1650960" imgH="495000" progId="Equation.DSMT4">
                  <p:embed/>
                  <p:pic>
                    <p:nvPicPr>
                      <p:cNvPr id="53249" name="对象 11469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8" y="1311275"/>
                        <a:ext cx="330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3250" name="对象 114692"/>
          <p:cNvGraphicFramePr>
            <a:graphicFrameLocks/>
          </p:cNvGraphicFramePr>
          <p:nvPr/>
        </p:nvGraphicFramePr>
        <p:xfrm>
          <a:off x="2794000" y="396875"/>
          <a:ext cx="3122613" cy="914400"/>
        </p:xfrm>
        <a:graphic>
          <a:graphicData uri="http://schemas.openxmlformats.org/presentationml/2006/ole">
            <mc:AlternateContent xmlns:mc="http://schemas.openxmlformats.org/markup-compatibility/2006">
              <mc:Choice xmlns:v="urn:schemas-microsoft-com:vml" Requires="v">
                <p:oleObj spid="_x0000_s30733" r:id="rId5" imgW="1562100" imgH="457200" progId="Equation.DSMT4">
                  <p:embed/>
                </p:oleObj>
              </mc:Choice>
              <mc:Fallback>
                <p:oleObj r:id="rId5" imgW="1562100" imgH="457200" progId="Equation.DSMT4">
                  <p:embed/>
                  <p:pic>
                    <p:nvPicPr>
                      <p:cNvPr id="53250" name="对象 11469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4000" y="396875"/>
                        <a:ext cx="31226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1" name="矩形 114693"/>
          <p:cNvSpPr>
            <a:spLocks noChangeArrowheads="1"/>
          </p:cNvSpPr>
          <p:nvPr/>
        </p:nvSpPr>
        <p:spPr bwMode="auto">
          <a:xfrm>
            <a:off x="2725738" y="331788"/>
            <a:ext cx="3671887" cy="2017712"/>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696" name="内容占位符 114695"/>
          <p:cNvSpPr>
            <a:spLocks noGrp="1" noChangeArrowheads="1"/>
          </p:cNvSpPr>
          <p:nvPr>
            <p:ph idx="1"/>
          </p:nvPr>
        </p:nvSpPr>
        <p:spPr>
          <a:xfrm>
            <a:off x="395288" y="2743200"/>
            <a:ext cx="7772400" cy="901700"/>
          </a:xfrm>
        </p:spPr>
        <p:txBody>
          <a:bodyPr/>
          <a:lstStyle/>
          <a:p>
            <a:pPr eaLnBrk="1" hangingPunct="1"/>
            <a:r>
              <a:rPr lang="zh-CN" altLang="en-US" sz="2800" b="1" smtClean="0">
                <a:latin typeface="黑体" panose="02010609060101010101" pitchFamily="49" charset="-122"/>
                <a:ea typeface="黑体" panose="02010609060101010101" pitchFamily="49" charset="-122"/>
              </a:rPr>
              <a:t>对迄今已知的物质，    总是负值，故</a:t>
            </a:r>
          </a:p>
          <a:p>
            <a:pPr eaLnBrk="1" hangingPunct="1"/>
            <a:endParaRPr lang="zh-CN" altLang="en-US" sz="2800" smtClean="0"/>
          </a:p>
        </p:txBody>
      </p:sp>
      <p:grpSp>
        <p:nvGrpSpPr>
          <p:cNvPr id="114711" name="组合 114710"/>
          <p:cNvGrpSpPr>
            <a:grpSpLocks/>
          </p:cNvGrpSpPr>
          <p:nvPr/>
        </p:nvGrpSpPr>
        <p:grpSpPr bwMode="auto">
          <a:xfrm>
            <a:off x="3789362" y="2559844"/>
            <a:ext cx="4459288" cy="889000"/>
            <a:chOff x="2385" y="1598"/>
            <a:chExt cx="2809" cy="560"/>
          </a:xfrm>
        </p:grpSpPr>
        <p:graphicFrame>
          <p:nvGraphicFramePr>
            <p:cNvPr id="53254" name="对象 114699"/>
            <p:cNvGraphicFramePr>
              <a:graphicFrameLocks/>
            </p:cNvGraphicFramePr>
            <p:nvPr/>
          </p:nvGraphicFramePr>
          <p:xfrm>
            <a:off x="2385" y="1598"/>
            <a:ext cx="544" cy="560"/>
          </p:xfrm>
          <a:graphic>
            <a:graphicData uri="http://schemas.openxmlformats.org/presentationml/2006/ole">
              <mc:AlternateContent xmlns:mc="http://schemas.openxmlformats.org/markup-compatibility/2006">
                <mc:Choice xmlns:v="urn:schemas-microsoft-com:vml" Requires="v">
                  <p:oleObj spid="_x0000_s30734" r:id="rId7" imgW="431613" imgH="444307" progId="Equation.DSMT4">
                    <p:embed/>
                  </p:oleObj>
                </mc:Choice>
                <mc:Fallback>
                  <p:oleObj r:id="rId7" imgW="431613" imgH="444307" progId="Equation.DSMT4">
                    <p:embed/>
                    <p:pic>
                      <p:nvPicPr>
                        <p:cNvPr id="53254" name="对象 11469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5" y="1598"/>
                          <a:ext cx="544"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3255" name="对象 114703"/>
            <p:cNvGraphicFramePr>
              <a:graphicFrameLocks/>
            </p:cNvGraphicFramePr>
            <p:nvPr/>
          </p:nvGraphicFramePr>
          <p:xfrm>
            <a:off x="4331" y="1697"/>
            <a:ext cx="863" cy="304"/>
          </p:xfrm>
          <a:graphic>
            <a:graphicData uri="http://schemas.openxmlformats.org/presentationml/2006/ole">
              <mc:AlternateContent xmlns:mc="http://schemas.openxmlformats.org/markup-compatibility/2006">
                <mc:Choice xmlns:v="urn:schemas-microsoft-com:vml" Requires="v">
                  <p:oleObj spid="_x0000_s30735" r:id="rId9" imgW="685502" imgH="241195" progId="Equation.DSMT4">
                    <p:embed/>
                  </p:oleObj>
                </mc:Choice>
                <mc:Fallback>
                  <p:oleObj r:id="rId9" imgW="685502" imgH="241195" progId="Equation.DSMT4">
                    <p:embed/>
                    <p:pic>
                      <p:nvPicPr>
                        <p:cNvPr id="53255" name="对象 11470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1" y="1697"/>
                          <a:ext cx="86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14709" name="矩形 114708"/>
          <p:cNvSpPr>
            <a:spLocks noChangeArrowheads="1"/>
          </p:cNvSpPr>
          <p:nvPr/>
        </p:nvSpPr>
        <p:spPr bwMode="auto">
          <a:xfrm>
            <a:off x="476250" y="5732463"/>
            <a:ext cx="77724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FontTx/>
              <a:buChar char="•"/>
            </a:pPr>
            <a:r>
              <a:rPr lang="zh-CN" altLang="en-US" sz="2800" b="1">
                <a:latin typeface="Times New Roman" panose="02020603050405020304" pitchFamily="18" charset="0"/>
                <a:ea typeface="黑体" panose="02010609060101010101" pitchFamily="49" charset="-122"/>
              </a:rPr>
              <a:t>当</a:t>
            </a:r>
            <a:r>
              <a:rPr lang="en-US" altLang="zh-CN" sz="2800" b="1" i="1">
                <a:latin typeface="Times New Roman" panose="02020603050405020304" pitchFamily="18" charset="0"/>
                <a:ea typeface="黑体" panose="02010609060101010101" pitchFamily="49" charset="-122"/>
              </a:rPr>
              <a:t>T</a:t>
            </a:r>
            <a:r>
              <a:rPr lang="zh-CN" altLang="en-US" sz="2800" b="1">
                <a:latin typeface="Times New Roman" panose="02020603050405020304" pitchFamily="18" charset="0"/>
                <a:ea typeface="黑体" panose="02010609060101010101" pitchFamily="49" charset="-122"/>
              </a:rPr>
              <a:t>趋于</a:t>
            </a:r>
            <a:r>
              <a:rPr lang="en-US" altLang="zh-CN" sz="2800" b="1">
                <a:latin typeface="Times New Roman" panose="02020603050405020304" pitchFamily="18" charset="0"/>
                <a:ea typeface="黑体" panose="02010609060101010101" pitchFamily="49" charset="-122"/>
              </a:rPr>
              <a:t>0</a:t>
            </a:r>
            <a:r>
              <a:rPr lang="zh-CN" altLang="en-US" sz="2800" b="1">
                <a:latin typeface="Times New Roman" panose="02020603050405020304" pitchFamily="18" charset="0"/>
                <a:ea typeface="黑体" panose="02010609060101010101" pitchFamily="49" charset="-122"/>
              </a:rPr>
              <a:t>时，</a:t>
            </a:r>
            <a:r>
              <a:rPr lang="en-US" altLang="zh-CN" sz="2800" i="1">
                <a:latin typeface="Times New Roman" panose="02020603050405020304" pitchFamily="18" charset="0"/>
              </a:rPr>
              <a:t>c</a:t>
            </a:r>
            <a:r>
              <a:rPr lang="en-US" altLang="zh-CN" sz="2800" i="1" baseline="-25000">
                <a:latin typeface="Times New Roman" panose="02020603050405020304" pitchFamily="18" charset="0"/>
              </a:rPr>
              <a:t>p</a:t>
            </a:r>
            <a:r>
              <a:rPr lang="en-US" altLang="zh-CN" sz="2800" i="1">
                <a:latin typeface="Times New Roman" panose="02020603050405020304" pitchFamily="18" charset="0"/>
              </a:rPr>
              <a:t>=c</a:t>
            </a:r>
            <a:r>
              <a:rPr lang="en-US" altLang="zh-CN" sz="2800" i="1" baseline="-25000">
                <a:latin typeface="Times New Roman" panose="02020603050405020304" pitchFamily="18" charset="0"/>
              </a:rPr>
              <a:t>V</a:t>
            </a:r>
          </a:p>
          <a:p>
            <a:pPr eaLnBrk="1" hangingPunct="1">
              <a:lnSpc>
                <a:spcPct val="90000"/>
              </a:lnSpc>
              <a:spcBef>
                <a:spcPct val="20000"/>
              </a:spcBef>
            </a:pPr>
            <a:endParaRPr lang="en-US" altLang="zh-CN" sz="2800">
              <a:latin typeface="Times New Roman" panose="02020603050405020304" pitchFamily="18" charset="0"/>
            </a:endParaRPr>
          </a:p>
        </p:txBody>
      </p:sp>
      <p:grpSp>
        <p:nvGrpSpPr>
          <p:cNvPr id="114712" name="组合 114711"/>
          <p:cNvGrpSpPr>
            <a:grpSpLocks/>
          </p:cNvGrpSpPr>
          <p:nvPr/>
        </p:nvGrpSpPr>
        <p:grpSpPr bwMode="auto">
          <a:xfrm>
            <a:off x="395288" y="3698875"/>
            <a:ext cx="7772400" cy="2033588"/>
            <a:chOff x="249" y="2829"/>
            <a:chExt cx="4896" cy="1281"/>
          </a:xfrm>
        </p:grpSpPr>
        <p:graphicFrame>
          <p:nvGraphicFramePr>
            <p:cNvPr id="53258" name="对象 114707"/>
            <p:cNvGraphicFramePr>
              <a:graphicFrameLocks/>
            </p:cNvGraphicFramePr>
            <p:nvPr/>
          </p:nvGraphicFramePr>
          <p:xfrm>
            <a:off x="2018" y="2829"/>
            <a:ext cx="576" cy="623"/>
          </p:xfrm>
          <a:graphic>
            <a:graphicData uri="http://schemas.openxmlformats.org/presentationml/2006/ole">
              <mc:AlternateContent xmlns:mc="http://schemas.openxmlformats.org/markup-compatibility/2006">
                <mc:Choice xmlns:v="urn:schemas-microsoft-com:vml" Requires="v">
                  <p:oleObj spid="_x0000_s30736" r:id="rId11" imgW="296280" imgH="321120" progId="Equation.DSMT4">
                    <p:embed/>
                  </p:oleObj>
                </mc:Choice>
                <mc:Fallback>
                  <p:oleObj r:id="rId11" imgW="296280" imgH="321120" progId="Equation.DSMT4">
                    <p:embed/>
                    <p:pic>
                      <p:nvPicPr>
                        <p:cNvPr id="53258" name="对象 11470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18" y="2829"/>
                          <a:ext cx="576"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9" name="矩形 114709"/>
            <p:cNvSpPr>
              <a:spLocks noChangeArrowheads="1"/>
            </p:cNvSpPr>
            <p:nvPr/>
          </p:nvSpPr>
          <p:spPr bwMode="auto">
            <a:xfrm>
              <a:off x="249" y="3049"/>
              <a:ext cx="4896" cy="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ea typeface="宋体" panose="02010600030101010101" pitchFamily="2" charset="-122"/>
                </a:defRPr>
              </a:lvl1pPr>
              <a:lvl2pPr eaLnBrk="0" hangingPunct="0">
                <a:defRPr sz="2400">
                  <a:solidFill>
                    <a:schemeClr val="tx1"/>
                  </a:solidFill>
                  <a:latin typeface="Tahoma" panose="020B0604030504040204" pitchFamily="34" charset="0"/>
                  <a:ea typeface="宋体" panose="02010600030101010101" pitchFamily="2" charset="-122"/>
                </a:defRPr>
              </a:lvl2pPr>
              <a:lvl3pPr eaLnBrk="0" hangingPunct="0">
                <a:defRPr sz="2400">
                  <a:solidFill>
                    <a:schemeClr val="tx1"/>
                  </a:solidFill>
                  <a:latin typeface="Tahoma" panose="020B0604030504040204" pitchFamily="34" charset="0"/>
                  <a:ea typeface="宋体" panose="02010600030101010101" pitchFamily="2" charset="-122"/>
                </a:defRPr>
              </a:lvl3pPr>
              <a:lvl4pPr eaLnBrk="0" hangingPunct="0">
                <a:defRPr sz="2400">
                  <a:solidFill>
                    <a:schemeClr val="tx1"/>
                  </a:solidFill>
                  <a:latin typeface="Tahoma" panose="020B0604030504040204" pitchFamily="34" charset="0"/>
                  <a:ea typeface="宋体" panose="02010600030101010101" pitchFamily="2" charset="-122"/>
                </a:defRPr>
              </a:lvl4pPr>
              <a:lvl5pPr eaLnBrk="0" hangingPunct="0">
                <a:defRPr sz="2400">
                  <a:solidFill>
                    <a:schemeClr val="tx1"/>
                  </a:solidFill>
                  <a:latin typeface="Tahoma" panose="020B0604030504040204" pitchFamily="34" charset="0"/>
                  <a:ea typeface="宋体" panose="02010600030101010101" pitchFamily="2" charset="-122"/>
                </a:defRPr>
              </a:lvl5pPr>
              <a:lvl6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20000"/>
                </a:spcBef>
                <a:buFontTx/>
                <a:buChar char="•"/>
              </a:pPr>
              <a:r>
                <a:rPr lang="zh-CN" altLang="en-US" sz="2800" b="1" dirty="0">
                  <a:latin typeface="黑体" panose="02010609060101010101" pitchFamily="49" charset="-122"/>
                  <a:ea typeface="黑体" panose="02010609060101010101" pitchFamily="49" charset="-122"/>
                </a:rPr>
                <a:t>液体和固体的       很小，</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i="1" baseline="-25000" dirty="0" err="1">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i="1" baseline="-25000" dirty="0" err="1">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的</a:t>
              </a:r>
              <a:r>
                <a:rPr lang="zh-CN" altLang="en-US" sz="2800" b="1" dirty="0">
                  <a:latin typeface="黑体" panose="02010609060101010101" pitchFamily="49" charset="-122"/>
                  <a:ea typeface="黑体" panose="02010609060101010101" pitchFamily="49" charset="-122"/>
                </a:rPr>
                <a:t>差别也</a:t>
              </a:r>
            </a:p>
            <a:p>
              <a:pPr eaLnBrk="1" hangingPunct="1">
                <a:lnSpc>
                  <a:spcPct val="90000"/>
                </a:lnSpc>
                <a:spcBef>
                  <a:spcPct val="40000"/>
                </a:spcBef>
              </a:pPr>
              <a:r>
                <a:rPr lang="zh-CN" altLang="en-US" sz="2800" b="1" dirty="0">
                  <a:latin typeface="黑体" panose="02010609060101010101" pitchFamily="49" charset="-122"/>
                  <a:ea typeface="黑体" panose="02010609060101010101" pitchFamily="49" charset="-122"/>
                </a:rPr>
                <a:t>  很小。因此，通常只说液体和固体的比热容，而不区分定压还是定容</a:t>
              </a:r>
            </a:p>
          </p:txBody>
        </p:sp>
      </p:grpSp>
    </p:spTree>
    <p:extLst>
      <p:ext uri="{BB962C8B-B14F-4D97-AF65-F5344CB8AC3E}">
        <p14:creationId xmlns:p14="http://schemas.microsoft.com/office/powerpoint/2010/main" val="19640147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4711"/>
                                        </p:tgtEl>
                                        <p:attrNameLst>
                                          <p:attrName>style.visibility</p:attrName>
                                        </p:attrNameLst>
                                      </p:cBhvr>
                                      <p:to>
                                        <p:strVal val="visible"/>
                                      </p:to>
                                    </p:set>
                                    <p:animEffect transition="in" filter="blinds(horizontal)">
                                      <p:cBhvr>
                                        <p:cTn id="7" dur="500"/>
                                        <p:tgtEl>
                                          <p:spTgt spid="1147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4696">
                                            <p:txEl>
                                              <p:pRg st="0" end="0"/>
                                            </p:txEl>
                                          </p:spTgt>
                                        </p:tgtEl>
                                        <p:attrNameLst>
                                          <p:attrName>style.visibility</p:attrName>
                                        </p:attrNameLst>
                                      </p:cBhvr>
                                      <p:to>
                                        <p:strVal val="visible"/>
                                      </p:to>
                                    </p:set>
                                    <p:animEffect transition="in" filter="blinds(horizontal)">
                                      <p:cBhvr>
                                        <p:cTn id="10" dur="500"/>
                                        <p:tgtEl>
                                          <p:spTgt spid="114696">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4709"/>
                                        </p:tgtEl>
                                        <p:attrNameLst>
                                          <p:attrName>style.visibility</p:attrName>
                                        </p:attrNameLst>
                                      </p:cBhvr>
                                      <p:to>
                                        <p:strVal val="visible"/>
                                      </p:to>
                                    </p:set>
                                    <p:animEffect transition="in" filter="blinds(horizontal)">
                                      <p:cBhvr>
                                        <p:cTn id="15" dur="500"/>
                                        <p:tgtEl>
                                          <p:spTgt spid="11470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14712"/>
                                        </p:tgtEl>
                                        <p:attrNameLst>
                                          <p:attrName>style.visibility</p:attrName>
                                        </p:attrNameLst>
                                      </p:cBhvr>
                                      <p:to>
                                        <p:strVal val="visible"/>
                                      </p:to>
                                    </p:set>
                                    <p:animEffect transition="in" filter="blinds(horizontal)">
                                      <p:cBhvr>
                                        <p:cTn id="20" dur="500"/>
                                        <p:tgtEl>
                                          <p:spTgt spid="114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6" grpId="0" build="p"/>
      <p:bldP spid="11470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p:nvPr>
        </p:nvSpPr>
        <p:spPr/>
        <p:txBody>
          <a:bodyPr/>
          <a:lstStyle/>
          <a:p>
            <a:pPr eaLnBrk="1" hangingPunct="1"/>
            <a:r>
              <a:rPr lang="zh-CN" altLang="en-US" sz="3200" b="1" smtClean="0">
                <a:latin typeface="黑体" panose="02010609060101010101" pitchFamily="49" charset="-122"/>
                <a:ea typeface="黑体" panose="02010609060101010101" pitchFamily="49" charset="-122"/>
              </a:rPr>
              <a:t>比热容差关系式的重要作用</a:t>
            </a:r>
          </a:p>
        </p:txBody>
      </p:sp>
      <p:sp>
        <p:nvSpPr>
          <p:cNvPr id="54274" name="内容占位符 2"/>
          <p:cNvSpPr>
            <a:spLocks noGrp="1" noChangeArrowheads="1"/>
          </p:cNvSpPr>
          <p:nvPr>
            <p:ph idx="1"/>
          </p:nvPr>
        </p:nvSpPr>
        <p:spPr>
          <a:xfrm>
            <a:off x="457200" y="1600200"/>
            <a:ext cx="8229600" cy="3500438"/>
          </a:xfrm>
        </p:spPr>
        <p:txBody>
          <a:bodyPr/>
          <a:lstStyle/>
          <a:p>
            <a:pPr eaLnBrk="1" hangingPunct="1">
              <a:lnSpc>
                <a:spcPct val="100000"/>
              </a:lnSpc>
            </a:pPr>
            <a:r>
              <a:rPr lang="zh-CN" altLang="en-US" sz="2800" b="1" dirty="0" smtClean="0">
                <a:latin typeface="Times New Roman" panose="02020603050405020304" pitchFamily="18" charset="0"/>
                <a:ea typeface="黑体" panose="02010609060101010101" pitchFamily="49" charset="-122"/>
              </a:rPr>
              <a:t>用于</a:t>
            </a:r>
            <a:r>
              <a:rPr lang="en-US" altLang="zh-CN" sz="2800" b="1" i="1" dirty="0" err="1" smtClean="0">
                <a:solidFill>
                  <a:srgbClr val="FF0000"/>
                </a:solidFill>
                <a:latin typeface="Times New Roman" panose="02020603050405020304" pitchFamily="18" charset="0"/>
                <a:ea typeface="黑体" panose="02010609060101010101" pitchFamily="49" charset="-122"/>
                <a:sym typeface="宋体" panose="02010600030101010101" pitchFamily="2" charset="-122"/>
              </a:rPr>
              <a:t>c</a:t>
            </a:r>
            <a:r>
              <a:rPr lang="en-US" altLang="zh-CN" sz="2800" b="1" i="1" baseline="-25000" dirty="0" err="1" smtClean="0">
                <a:solidFill>
                  <a:srgbClr val="FF0000"/>
                </a:solidFill>
                <a:latin typeface="Times New Roman" panose="02020603050405020304" pitchFamily="18" charset="0"/>
                <a:ea typeface="黑体" panose="02010609060101010101" pitchFamily="49" charset="-122"/>
                <a:sym typeface="宋体" panose="02010600030101010101" pitchFamily="2" charset="-122"/>
              </a:rPr>
              <a:t>p</a:t>
            </a:r>
            <a:r>
              <a:rPr lang="zh-CN" altLang="en-US" sz="2800" b="1" dirty="0" smtClean="0">
                <a:solidFill>
                  <a:srgbClr val="FF0000"/>
                </a:solidFill>
                <a:latin typeface="Times New Roman" panose="02020603050405020304" pitchFamily="18" charset="0"/>
                <a:ea typeface="黑体" panose="02010609060101010101" pitchFamily="49" charset="-122"/>
                <a:sym typeface="宋体" panose="02010600030101010101" pitchFamily="2" charset="-122"/>
              </a:rPr>
              <a:t>与</a:t>
            </a:r>
            <a:r>
              <a:rPr lang="en-US" altLang="zh-CN" sz="2800" b="1" i="1" dirty="0" err="1" smtClean="0">
                <a:solidFill>
                  <a:srgbClr val="FF0000"/>
                </a:solidFill>
                <a:latin typeface="Times New Roman" panose="02020603050405020304" pitchFamily="18" charset="0"/>
                <a:ea typeface="黑体" panose="02010609060101010101" pitchFamily="49" charset="-122"/>
                <a:sym typeface="宋体" panose="02010600030101010101" pitchFamily="2" charset="-122"/>
              </a:rPr>
              <a:t>c</a:t>
            </a:r>
            <a:r>
              <a:rPr lang="en-US" altLang="zh-CN" sz="2800" b="1" i="1" baseline="-25000" dirty="0" err="1" smtClean="0">
                <a:solidFill>
                  <a:srgbClr val="FF0000"/>
                </a:solidFill>
                <a:latin typeface="Times New Roman" panose="02020603050405020304" pitchFamily="18" charset="0"/>
                <a:ea typeface="黑体" panose="02010609060101010101" pitchFamily="49" charset="-122"/>
                <a:sym typeface="宋体" panose="02010600030101010101" pitchFamily="2" charset="-122"/>
              </a:rPr>
              <a:t>V</a:t>
            </a:r>
            <a:r>
              <a:rPr lang="zh-CN" altLang="en-US" sz="2800" b="1" dirty="0" smtClean="0">
                <a:solidFill>
                  <a:srgbClr val="FF0000"/>
                </a:solidFill>
                <a:latin typeface="Times New Roman" panose="02020603050405020304" pitchFamily="18" charset="0"/>
                <a:ea typeface="黑体" panose="02010609060101010101" pitchFamily="49" charset="-122"/>
              </a:rPr>
              <a:t>之间的换算</a:t>
            </a:r>
            <a:r>
              <a:rPr lang="zh-CN" altLang="en-US" sz="2800" b="1" dirty="0" smtClean="0">
                <a:latin typeface="Times New Roman" panose="02020603050405020304" pitchFamily="18" charset="0"/>
                <a:ea typeface="黑体" panose="02010609060101010101" pitchFamily="49" charset="-122"/>
              </a:rPr>
              <a:t>。在某些情况下，特别是对于液体和固体，比定容热容的测定是很困难的，而按照该关系式则可以通过测定的比定压热容和状态方程（或热系数）计算物质的比定容热容</a:t>
            </a:r>
          </a:p>
          <a:p>
            <a:pPr eaLnBrk="1" hangingPunct="1">
              <a:lnSpc>
                <a:spcPct val="100000"/>
              </a:lnSpc>
            </a:pPr>
            <a:r>
              <a:rPr lang="zh-CN" altLang="en-US" sz="2800" b="1" dirty="0" smtClean="0">
                <a:latin typeface="Times New Roman" panose="02020603050405020304" pitchFamily="18" charset="0"/>
                <a:ea typeface="黑体" panose="02010609060101010101" pitchFamily="49" charset="-122"/>
              </a:rPr>
              <a:t>依据比热容的一般关系式，可以在少量实验测定的基础上</a:t>
            </a:r>
            <a:r>
              <a:rPr lang="zh-CN" altLang="en-US" sz="2800" b="1" dirty="0" smtClean="0">
                <a:solidFill>
                  <a:srgbClr val="FF0000"/>
                </a:solidFill>
                <a:latin typeface="Times New Roman" panose="02020603050405020304" pitchFamily="18" charset="0"/>
                <a:ea typeface="黑体" panose="02010609060101010101" pitchFamily="49" charset="-122"/>
              </a:rPr>
              <a:t>得到工质的热力学能、焓和熵的积分表达式</a:t>
            </a:r>
          </a:p>
          <a:p>
            <a:pPr eaLnBrk="1" hangingPunct="1"/>
            <a:endParaRPr lang="zh-CN" altLang="en-US" sz="2800" b="1" dirty="0" smtClean="0">
              <a:solidFill>
                <a:srgbClr val="FF0000"/>
              </a:solidFill>
            </a:endParaRPr>
          </a:p>
        </p:txBody>
      </p:sp>
    </p:spTree>
    <p:extLst>
      <p:ext uri="{BB962C8B-B14F-4D97-AF65-F5344CB8AC3E}">
        <p14:creationId xmlns:p14="http://schemas.microsoft.com/office/powerpoint/2010/main" val="459231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122883"/>
          <p:cNvSpPr>
            <a:spLocks noChangeArrowheads="1"/>
          </p:cNvSpPr>
          <p:nvPr/>
        </p:nvSpPr>
        <p:spPr bwMode="auto">
          <a:xfrm>
            <a:off x="323850" y="0"/>
            <a:ext cx="83740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zh-CN" altLang="en-US" sz="3200" b="1">
                <a:latin typeface="黑体" panose="02010609060101010101" pitchFamily="49" charset="-122"/>
                <a:ea typeface="黑体" panose="02010609060101010101" pitchFamily="49" charset="-122"/>
              </a:rPr>
              <a:t>三个热系数</a:t>
            </a:r>
            <a:r>
              <a:rPr lang="zh-CN" altLang="en-US" sz="2600" b="1">
                <a:latin typeface="黑体" panose="02010609060101010101" pitchFamily="49" charset="-122"/>
                <a:ea typeface="黑体" panose="02010609060101010101" pitchFamily="49" charset="-122"/>
              </a:rPr>
              <a:t>（由三个可测的基本状态参数组成）</a:t>
            </a:r>
          </a:p>
        </p:txBody>
      </p:sp>
      <p:graphicFrame>
        <p:nvGraphicFramePr>
          <p:cNvPr id="55298" name="对象 122884"/>
          <p:cNvGraphicFramePr>
            <a:graphicFrameLocks noChangeAspect="1"/>
          </p:cNvGraphicFramePr>
          <p:nvPr/>
        </p:nvGraphicFramePr>
        <p:xfrm>
          <a:off x="3708400" y="1449388"/>
          <a:ext cx="3343275" cy="1028700"/>
        </p:xfrm>
        <a:graphic>
          <a:graphicData uri="http://schemas.openxmlformats.org/presentationml/2006/ole">
            <mc:AlternateContent xmlns:mc="http://schemas.openxmlformats.org/markup-compatibility/2006">
              <mc:Choice xmlns:v="urn:schemas-microsoft-com:vml" Requires="v">
                <p:oleObj spid="_x0000_s31750" r:id="rId3" imgW="1485900" imgH="457200" progId="Equation.DSMT4">
                  <p:embed/>
                </p:oleObj>
              </mc:Choice>
              <mc:Fallback>
                <p:oleObj r:id="rId3" imgW="1485900" imgH="457200" progId="Equation.DSMT4">
                  <p:embed/>
                  <p:pic>
                    <p:nvPicPr>
                      <p:cNvPr id="55298" name="对象 1228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1449388"/>
                        <a:ext cx="334327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01" name="对象 122887"/>
          <p:cNvGraphicFramePr>
            <a:graphicFrameLocks/>
          </p:cNvGraphicFramePr>
          <p:nvPr/>
        </p:nvGraphicFramePr>
        <p:xfrm>
          <a:off x="3636963" y="2703513"/>
          <a:ext cx="3575050" cy="1055687"/>
        </p:xfrm>
        <a:graphic>
          <a:graphicData uri="http://schemas.openxmlformats.org/presentationml/2006/ole">
            <mc:AlternateContent xmlns:mc="http://schemas.openxmlformats.org/markup-compatibility/2006">
              <mc:Choice xmlns:v="urn:schemas-microsoft-com:vml" Requires="v">
                <p:oleObj spid="_x0000_s31751" r:id="rId5" imgW="1587500" imgH="469900" progId="Equation.DSMT4">
                  <p:embed/>
                </p:oleObj>
              </mc:Choice>
              <mc:Fallback>
                <p:oleObj r:id="rId5" imgW="1587500" imgH="469900" progId="Equation.DSMT4">
                  <p:embed/>
                  <p:pic>
                    <p:nvPicPr>
                      <p:cNvPr id="55301" name="对象 12288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6963" y="2703513"/>
                        <a:ext cx="3575050"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5303" name="图片 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09975" y="4208463"/>
            <a:ext cx="1693863"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文本框 2"/>
          <p:cNvSpPr txBox="1">
            <a:spLocks noChangeArrowheads="1"/>
          </p:cNvSpPr>
          <p:nvPr/>
        </p:nvSpPr>
        <p:spPr bwMode="auto">
          <a:xfrm>
            <a:off x="5848350" y="4508500"/>
            <a:ext cx="946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latin typeface="Times New Roman" panose="02020603050405020304" pitchFamily="18" charset="0"/>
                <a:ea typeface="楷体_GB2312" pitchFamily="49" charset="-122"/>
              </a:rPr>
              <a:t>K / Pa</a:t>
            </a:r>
          </a:p>
        </p:txBody>
      </p:sp>
      <p:sp>
        <p:nvSpPr>
          <p:cNvPr id="11" name="矩形 122885"/>
          <p:cNvSpPr>
            <a:spLocks noChangeArrowheads="1"/>
          </p:cNvSpPr>
          <p:nvPr/>
        </p:nvSpPr>
        <p:spPr bwMode="auto">
          <a:xfrm>
            <a:off x="1042988" y="1706562"/>
            <a:ext cx="2566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smtClean="0">
                <a:ln>
                  <a:noFill/>
                </a:ln>
                <a:solidFill>
                  <a:srgbClr val="000000"/>
                </a:solidFill>
                <a:effectLst/>
                <a:uLnTx/>
                <a:uFillTx/>
              </a:rPr>
              <a:t>体积膨胀系数</a:t>
            </a:r>
          </a:p>
        </p:txBody>
      </p:sp>
      <p:sp>
        <p:nvSpPr>
          <p:cNvPr id="14" name="文本框 122886"/>
          <p:cNvSpPr txBox="1">
            <a:spLocks noChangeArrowheads="1"/>
          </p:cNvSpPr>
          <p:nvPr/>
        </p:nvSpPr>
        <p:spPr bwMode="auto">
          <a:xfrm>
            <a:off x="1116012" y="3000375"/>
            <a:ext cx="23531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smtClean="0">
                <a:ln>
                  <a:noFill/>
                </a:ln>
                <a:solidFill>
                  <a:srgbClr val="000000"/>
                </a:solidFill>
                <a:effectLst/>
                <a:uLnTx/>
                <a:uFillTx/>
              </a:rPr>
              <a:t>等温压缩率</a:t>
            </a:r>
          </a:p>
        </p:txBody>
      </p:sp>
      <p:sp>
        <p:nvSpPr>
          <p:cNvPr id="15" name="文本框 122888"/>
          <p:cNvSpPr txBox="1">
            <a:spLocks noChangeArrowheads="1"/>
          </p:cNvSpPr>
          <p:nvPr/>
        </p:nvSpPr>
        <p:spPr bwMode="auto">
          <a:xfrm>
            <a:off x="889000" y="4479925"/>
            <a:ext cx="35433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smtClean="0">
                <a:ln>
                  <a:noFill/>
                </a:ln>
                <a:solidFill>
                  <a:srgbClr val="000000"/>
                </a:solidFill>
                <a:effectLst/>
                <a:uLnTx/>
                <a:uFillTx/>
              </a:rPr>
              <a:t>焦耳-汤姆逊系数</a:t>
            </a:r>
          </a:p>
        </p:txBody>
      </p:sp>
    </p:spTree>
    <p:extLst>
      <p:ext uri="{BB962C8B-B14F-4D97-AF65-F5344CB8AC3E}">
        <p14:creationId xmlns:p14="http://schemas.microsoft.com/office/powerpoint/2010/main" val="2716886682"/>
      </p:ext>
    </p:extLst>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794</TotalTime>
  <Words>985</Words>
  <Application>Microsoft Office PowerPoint</Application>
  <PresentationFormat>全屏显示(4:3)</PresentationFormat>
  <Paragraphs>64</Paragraphs>
  <Slides>27</Slides>
  <Notes>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27</vt:i4>
      </vt:variant>
    </vt:vector>
  </HeadingPairs>
  <TitlesOfParts>
    <vt:vector size="36" baseType="lpstr">
      <vt:lpstr>等线</vt:lpstr>
      <vt:lpstr>黑体</vt:lpstr>
      <vt:lpstr>楷体_GB2312</vt:lpstr>
      <vt:lpstr>宋体</vt:lpstr>
      <vt:lpstr>Arial</vt:lpstr>
      <vt:lpstr>Times New Roman</vt:lpstr>
      <vt:lpstr>Office 主题</vt:lpstr>
      <vt:lpstr>MathType 5.0 Equation</vt:lpstr>
      <vt:lpstr>Microsoft 公式 3.0</vt:lpstr>
      <vt:lpstr>16   热力学一般关系式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比热容差关系式的重要作用</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第15讲  实际气体的性质</dc:title>
  <dc:creator>jing wu</dc:creator>
  <cp:lastModifiedBy>jingwu</cp:lastModifiedBy>
  <cp:revision>46</cp:revision>
  <dcterms:created xsi:type="dcterms:W3CDTF">2020-05-28T02:02:21Z</dcterms:created>
  <dcterms:modified xsi:type="dcterms:W3CDTF">2020-10-01T07:25:31Z</dcterms:modified>
</cp:coreProperties>
</file>